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7"/>
  </p:notesMasterIdLst>
  <p:sldIdLst>
    <p:sldId id="1037" r:id="rId2"/>
    <p:sldId id="256" r:id="rId3"/>
    <p:sldId id="368" r:id="rId4"/>
    <p:sldId id="308" r:id="rId5"/>
    <p:sldId id="257" r:id="rId6"/>
    <p:sldId id="258" r:id="rId7"/>
    <p:sldId id="322" r:id="rId8"/>
    <p:sldId id="363" r:id="rId9"/>
    <p:sldId id="527" r:id="rId10"/>
    <p:sldId id="259" r:id="rId11"/>
    <p:sldId id="556" r:id="rId12"/>
    <p:sldId id="557" r:id="rId13"/>
    <p:sldId id="316" r:id="rId14"/>
    <p:sldId id="348" r:id="rId15"/>
    <p:sldId id="558" r:id="rId16"/>
    <p:sldId id="339" r:id="rId17"/>
    <p:sldId id="559" r:id="rId18"/>
    <p:sldId id="261" r:id="rId19"/>
    <p:sldId id="340" r:id="rId20"/>
    <p:sldId id="444" r:id="rId21"/>
    <p:sldId id="560" r:id="rId22"/>
    <p:sldId id="262" r:id="rId23"/>
    <p:sldId id="324" r:id="rId24"/>
    <p:sldId id="341" r:id="rId25"/>
    <p:sldId id="343" r:id="rId26"/>
    <p:sldId id="342" r:id="rId27"/>
    <p:sldId id="344" r:id="rId28"/>
    <p:sldId id="345" r:id="rId29"/>
    <p:sldId id="346" r:id="rId30"/>
    <p:sldId id="347" r:id="rId31"/>
    <p:sldId id="326" r:id="rId32"/>
    <p:sldId id="537" r:id="rId33"/>
    <p:sldId id="349" r:id="rId34"/>
    <p:sldId id="536" r:id="rId35"/>
    <p:sldId id="332" r:id="rId36"/>
    <p:sldId id="269" r:id="rId37"/>
    <p:sldId id="272" r:id="rId38"/>
    <p:sldId id="271" r:id="rId39"/>
    <p:sldId id="305" r:id="rId40"/>
    <p:sldId id="274" r:id="rId41"/>
    <p:sldId id="273" r:id="rId42"/>
    <p:sldId id="528" r:id="rId43"/>
    <p:sldId id="561" r:id="rId44"/>
    <p:sldId id="319" r:id="rId45"/>
    <p:sldId id="350" r:id="rId46"/>
    <p:sldId id="534" r:id="rId47"/>
    <p:sldId id="351" r:id="rId48"/>
    <p:sldId id="276" r:id="rId49"/>
    <p:sldId id="277" r:id="rId50"/>
    <p:sldId id="352" r:id="rId51"/>
    <p:sldId id="353" r:id="rId52"/>
    <p:sldId id="359" r:id="rId53"/>
    <p:sldId id="355" r:id="rId54"/>
    <p:sldId id="533" r:id="rId55"/>
    <p:sldId id="541" r:id="rId56"/>
    <p:sldId id="358" r:id="rId57"/>
    <p:sldId id="354" r:id="rId58"/>
    <p:sldId id="535" r:id="rId59"/>
    <p:sldId id="282" r:id="rId60"/>
    <p:sldId id="281" r:id="rId61"/>
    <p:sldId id="283" r:id="rId62"/>
    <p:sldId id="285" r:id="rId63"/>
    <p:sldId id="540" r:id="rId64"/>
    <p:sldId id="287" r:id="rId65"/>
    <p:sldId id="529" r:id="rId66"/>
    <p:sldId id="306" r:id="rId67"/>
    <p:sldId id="289" r:id="rId68"/>
    <p:sldId id="288" r:id="rId69"/>
    <p:sldId id="310" r:id="rId70"/>
    <p:sldId id="291" r:id="rId71"/>
    <p:sldId id="311" r:id="rId72"/>
    <p:sldId id="292" r:id="rId73"/>
    <p:sldId id="312" r:id="rId74"/>
    <p:sldId id="303" r:id="rId75"/>
    <p:sldId id="333" r:id="rId76"/>
    <p:sldId id="530" r:id="rId77"/>
    <p:sldId id="334" r:id="rId78"/>
    <p:sldId id="335" r:id="rId79"/>
    <p:sldId id="1046" r:id="rId80"/>
    <p:sldId id="551" r:id="rId81"/>
    <p:sldId id="364" r:id="rId82"/>
    <p:sldId id="1045" r:id="rId83"/>
    <p:sldId id="552" r:id="rId84"/>
    <p:sldId id="1047" r:id="rId85"/>
    <p:sldId id="555" r:id="rId86"/>
    <p:sldId id="1050" r:id="rId87"/>
    <p:sldId id="365" r:id="rId88"/>
    <p:sldId id="336" r:id="rId89"/>
    <p:sldId id="367" r:id="rId90"/>
    <p:sldId id="366" r:id="rId91"/>
    <p:sldId id="553" r:id="rId92"/>
    <p:sldId id="1048" r:id="rId93"/>
    <p:sldId id="337" r:id="rId94"/>
    <p:sldId id="550" r:id="rId95"/>
    <p:sldId id="293" r:id="rId96"/>
    <p:sldId id="531" r:id="rId97"/>
    <p:sldId id="294" r:id="rId98"/>
    <p:sldId id="295" r:id="rId99"/>
    <p:sldId id="361" r:id="rId100"/>
    <p:sldId id="360" r:id="rId101"/>
    <p:sldId id="313" r:id="rId102"/>
    <p:sldId id="543" r:id="rId103"/>
    <p:sldId id="1038" r:id="rId104"/>
    <p:sldId id="362" r:id="rId105"/>
    <p:sldId id="315" r:id="rId106"/>
    <p:sldId id="544" r:id="rId107"/>
    <p:sldId id="1039" r:id="rId108"/>
    <p:sldId id="508" r:id="rId109"/>
    <p:sldId id="509" r:id="rId110"/>
    <p:sldId id="545" r:id="rId111"/>
    <p:sldId id="549" r:id="rId112"/>
    <p:sldId id="1040" r:id="rId113"/>
    <p:sldId id="510" r:id="rId114"/>
    <p:sldId id="546" r:id="rId115"/>
    <p:sldId id="1041" r:id="rId116"/>
    <p:sldId id="512" r:id="rId117"/>
    <p:sldId id="1042" r:id="rId118"/>
    <p:sldId id="548" r:id="rId119"/>
    <p:sldId id="547" r:id="rId120"/>
    <p:sldId id="307" r:id="rId121"/>
    <p:sldId id="328" r:id="rId122"/>
    <p:sldId id="532" r:id="rId123"/>
    <p:sldId id="513" r:id="rId124"/>
    <p:sldId id="514" r:id="rId125"/>
    <p:sldId id="515" r:id="rId126"/>
    <p:sldId id="523" r:id="rId127"/>
    <p:sldId id="524" r:id="rId128"/>
    <p:sldId id="525" r:id="rId129"/>
    <p:sldId id="518" r:id="rId130"/>
    <p:sldId id="1043" r:id="rId131"/>
    <p:sldId id="526" r:id="rId132"/>
    <p:sldId id="1044" r:id="rId133"/>
    <p:sldId id="511" r:id="rId134"/>
    <p:sldId id="329" r:id="rId135"/>
    <p:sldId id="400" r:id="rId136"/>
  </p:sldIdLst>
  <p:sldSz cx="9144000" cy="6858000" type="screen4x3"/>
  <p:notesSz cx="6858000" cy="9144000"/>
  <p:custDataLst>
    <p:tags r:id="rId138"/>
  </p:custDataLst>
  <p:defaultTextStyle>
    <a:defPPr>
      <a:defRPr lang="zh-CN"/>
    </a:defPPr>
    <a:lvl1pPr marL="0" lvl="0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1pPr>
    <a:lvl2pPr marL="457200" lvl="1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2pPr>
    <a:lvl3pPr marL="914400" lvl="2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3pPr>
    <a:lvl4pPr marL="1371600" lvl="3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4pPr>
    <a:lvl5pPr marL="1828800" lvl="4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5pPr>
    <a:lvl6pPr marL="2286000" lvl="5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6pPr>
    <a:lvl7pPr marL="2743200" lvl="6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7pPr>
    <a:lvl8pPr marL="3200400" lvl="7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8pPr>
    <a:lvl9pPr marL="3657600" lvl="8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FFFF"/>
    <a:srgbClr val="FFFF66"/>
    <a:srgbClr val="CCFFFF"/>
    <a:srgbClr val="66FF33"/>
    <a:srgbClr val="AE9EFC"/>
    <a:srgbClr val="800000"/>
    <a:srgbClr val="E6DEC0"/>
    <a:srgbClr val="E6D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86"/>
    <p:restoredTop sz="99630"/>
  </p:normalViewPr>
  <p:slideViewPr>
    <p:cSldViewPr showGuides="1">
      <p:cViewPr>
        <p:scale>
          <a:sx n="71" d="100"/>
          <a:sy n="71" d="100"/>
        </p:scale>
        <p:origin x="549" y="24"/>
      </p:cViewPr>
      <p:guideLst>
        <p:guide orient="horz" pos="2179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9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gs" Target="tags/tag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458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fld id="{1A1A38B4-2F91-43CC-B2FC-B5B94FD4408F}" type="datetime1">
              <a:rPr kumimoji="0" lang="zh-CN" altLang="en-US" i="0" kern="1200" cap="none" spc="0" normalizeH="0" baseline="0" noProof="0"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355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3556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spcBef>
                <a:spcPct val="0"/>
              </a:spcBef>
              <a:defRPr kumimoji="0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85C3A9-F0FA-4DFD-8E7B-7D90C4CEAD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7" Type="http://schemas.openxmlformats.org/officeDocument/2006/relationships/image" Target="../media/image1.jpe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1.xml"/><Relationship Id="rId5" Type="http://schemas.openxmlformats.org/officeDocument/2006/relationships/slide" Target="slide95.xml"/><Relationship Id="rId4" Type="http://schemas.openxmlformats.org/officeDocument/2006/relationships/slide" Target="slide7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.jpeg"/><Relationship Id="rId4" Type="http://schemas.openxmlformats.org/officeDocument/2006/relationships/image" Target="../media/image4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jpeg"/><Relationship Id="rId4" Type="http://schemas.openxmlformats.org/officeDocument/2006/relationships/image" Target="../media/image4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6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.jpeg"/><Relationship Id="rId4" Type="http://schemas.openxmlformats.org/officeDocument/2006/relationships/slide" Target="slide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70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81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8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slide" Target="slide7.xml"/><Relationship Id="rId4" Type="http://schemas.openxmlformats.org/officeDocument/2006/relationships/image" Target="../media/image8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.jpe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3.jpeg"/><Relationship Id="rId4" Type="http://schemas.openxmlformats.org/officeDocument/2006/relationships/image" Target="../media/image1.jpe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5.jpeg"/><Relationship Id="rId4" Type="http://schemas.openxmlformats.org/officeDocument/2006/relationships/image" Target="../media/image13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6.jpe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6.jpe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  <a:t>12/9/2025 3:29 PM</a:t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  <a:t>1</a:t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41770"/>
            <a:ext cx="386080" cy="3168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-214313" y="1484784"/>
            <a:ext cx="9358313" cy="3511847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第六章、有色金属材料</a:t>
            </a:r>
            <a:br>
              <a:rPr kumimoji="1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onferrous Metallic Materials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j-cs"/>
              </a:rPr>
              <a:t> </a:t>
            </a:r>
          </a:p>
        </p:txBody>
      </p:sp>
      <p:sp>
        <p:nvSpPr>
          <p:cNvPr id="2056" name="Rectangle 8"/>
          <p:cNvSpPr/>
          <p:nvPr/>
        </p:nvSpPr>
        <p:spPr>
          <a:xfrm>
            <a:off x="357188" y="1214438"/>
            <a:ext cx="5214937" cy="47291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b="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0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1276350" y="-99695"/>
            <a:ext cx="7867650" cy="11699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第六章、有色金属材料</a:t>
            </a: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056" name="Rectangle 8"/>
          <p:cNvSpPr/>
          <p:nvPr/>
        </p:nvSpPr>
        <p:spPr>
          <a:xfrm>
            <a:off x="357188" y="1214438"/>
            <a:ext cx="5214937" cy="47291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黑色金属：</a:t>
            </a:r>
            <a:r>
              <a:rPr lang="zh-CN" altLang="en-US" sz="3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在工业生产中，通常把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铁及其合金</a:t>
            </a:r>
            <a:r>
              <a:rPr lang="zh-CN" altLang="en-US" sz="3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黑色金属。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3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有色金属</a:t>
            </a:r>
            <a:r>
              <a:rPr lang="zh-CN" altLang="en-US" sz="3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：其他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非铁金属及其合金。</a:t>
            </a:r>
            <a:endParaRPr lang="zh-CN" altLang="en-US" sz="3200" b="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57" name="Picture 9" descr="铜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86438" y="2071688"/>
            <a:ext cx="2868612" cy="2879725"/>
          </a:xfrm>
          <a:prstGeom prst="rect">
            <a:avLst/>
          </a:prstGeom>
          <a:noFill/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0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214313" y="857250"/>
            <a:ext cx="4214812" cy="547846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产量和用量：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有色金属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&lt;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黑色金属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有色金属</a:t>
            </a:r>
            <a:r>
              <a:rPr lang="zh-CN" altLang="en-US" sz="2800" dirty="0">
                <a:ea typeface="华文中宋" panose="02010600040101010101" pitchFamily="2" charset="-122"/>
              </a:rPr>
              <a:t>具有许多优良的特性：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</a:t>
            </a:r>
            <a:r>
              <a:rPr lang="zh-CN" altLang="en-US" sz="2800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电、磁、热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耐蚀性能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比强度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密度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</a:t>
            </a:r>
            <a:r>
              <a:rPr lang="en-US" altLang="zh-CN" sz="2800" dirty="0">
                <a:solidFill>
                  <a:srgbClr val="CCFF99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800" dirty="0">
                <a:ea typeface="华文中宋" panose="02010600040101010101" pitchFamily="2" charset="-122"/>
              </a:rPr>
              <a:t>现代工业中不可缺少的金属材料。</a:t>
            </a:r>
            <a:endParaRPr lang="en-US" altLang="zh-CN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36"/>
          <p:cNvGrpSpPr>
            <a:grpSpLocks noChangeAspect="1"/>
          </p:cNvGrpSpPr>
          <p:nvPr/>
        </p:nvGrpSpPr>
        <p:grpSpPr>
          <a:xfrm>
            <a:off x="4355783" y="1484313"/>
            <a:ext cx="4951412" cy="4083050"/>
            <a:chOff x="2124" y="1023"/>
            <a:chExt cx="3504" cy="2889"/>
          </a:xfrm>
        </p:grpSpPr>
        <p:grpSp>
          <p:nvGrpSpPr>
            <p:cNvPr id="5127" name="Group 34"/>
            <p:cNvGrpSpPr>
              <a:grpSpLocks noChangeAspect="1"/>
            </p:cNvGrpSpPr>
            <p:nvPr/>
          </p:nvGrpSpPr>
          <p:grpSpPr>
            <a:xfrm>
              <a:off x="2254" y="1023"/>
              <a:ext cx="3218" cy="2585"/>
              <a:chOff x="2254" y="1112"/>
              <a:chExt cx="3218" cy="2585"/>
            </a:xfrm>
          </p:grpSpPr>
          <p:grpSp>
            <p:nvGrpSpPr>
              <p:cNvPr id="5129" name="Group 32"/>
              <p:cNvGrpSpPr>
                <a:grpSpLocks noChangeAspect="1"/>
              </p:cNvGrpSpPr>
              <p:nvPr/>
            </p:nvGrpSpPr>
            <p:grpSpPr>
              <a:xfrm>
                <a:off x="2254" y="1112"/>
                <a:ext cx="3218" cy="2585"/>
                <a:chOff x="2254" y="1112"/>
                <a:chExt cx="3218" cy="2585"/>
              </a:xfrm>
            </p:grpSpPr>
            <p:grpSp>
              <p:nvGrpSpPr>
                <p:cNvPr id="5131" name="Group 29"/>
                <p:cNvGrpSpPr>
                  <a:grpSpLocks noChangeAspect="1"/>
                </p:cNvGrpSpPr>
                <p:nvPr/>
              </p:nvGrpSpPr>
              <p:grpSpPr>
                <a:xfrm>
                  <a:off x="2254" y="1112"/>
                  <a:ext cx="3218" cy="2585"/>
                  <a:chOff x="2254" y="1112"/>
                  <a:chExt cx="3218" cy="2585"/>
                </a:xfrm>
              </p:grpSpPr>
              <p:grpSp>
                <p:nvGrpSpPr>
                  <p:cNvPr id="5133" name="Group 27"/>
                  <p:cNvGrpSpPr>
                    <a:grpSpLocks noChangeAspect="1"/>
                  </p:cNvGrpSpPr>
                  <p:nvPr/>
                </p:nvGrpSpPr>
                <p:grpSpPr>
                  <a:xfrm>
                    <a:off x="2254" y="1112"/>
                    <a:ext cx="3218" cy="2585"/>
                    <a:chOff x="2254" y="1112"/>
                    <a:chExt cx="3218" cy="2585"/>
                  </a:xfrm>
                </p:grpSpPr>
                <p:grpSp>
                  <p:nvGrpSpPr>
                    <p:cNvPr id="5135" name="Group 25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2254" y="1112"/>
                      <a:ext cx="3218" cy="2585"/>
                      <a:chOff x="2254" y="1112"/>
                      <a:chExt cx="3218" cy="2585"/>
                    </a:xfrm>
                  </p:grpSpPr>
                  <p:grpSp>
                    <p:nvGrpSpPr>
                      <p:cNvPr id="5137" name="Group 23"/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2254" y="1112"/>
                        <a:ext cx="3218" cy="2585"/>
                        <a:chOff x="2254" y="1112"/>
                        <a:chExt cx="3218" cy="2585"/>
                      </a:xfrm>
                    </p:grpSpPr>
                    <p:grpSp>
                      <p:nvGrpSpPr>
                        <p:cNvPr id="5139" name="Group 21"/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2254" y="1112"/>
                          <a:ext cx="3218" cy="2585"/>
                          <a:chOff x="2254" y="1112"/>
                          <a:chExt cx="3218" cy="2585"/>
                        </a:xfrm>
                      </p:grpSpPr>
                      <p:grpSp>
                        <p:nvGrpSpPr>
                          <p:cNvPr id="5141" name="Group 19"/>
                          <p:cNvGrpSpPr>
                            <a:grpSpLocks noChangeAspect="1"/>
                          </p:cNvGrpSpPr>
                          <p:nvPr/>
                        </p:nvGrpSpPr>
                        <p:grpSpPr>
                          <a:xfrm>
                            <a:off x="2254" y="1112"/>
                            <a:ext cx="3218" cy="2585"/>
                            <a:chOff x="2254" y="1112"/>
                            <a:chExt cx="3218" cy="2585"/>
                          </a:xfrm>
                        </p:grpSpPr>
                        <p:grpSp>
                          <p:nvGrpSpPr>
                            <p:cNvPr id="5143" name="Group 17"/>
                            <p:cNvGrpSpPr>
                              <a:grpSpLocks noChangeAspect="1"/>
                            </p:cNvGrpSpPr>
                            <p:nvPr/>
                          </p:nvGrpSpPr>
                          <p:grpSpPr>
                            <a:xfrm>
                              <a:off x="2254" y="1112"/>
                              <a:ext cx="3218" cy="2585"/>
                              <a:chOff x="2254" y="1112"/>
                              <a:chExt cx="3218" cy="2585"/>
                            </a:xfrm>
                          </p:grpSpPr>
                          <p:grpSp>
                            <p:nvGrpSpPr>
                              <p:cNvPr id="5145" name="Group 15"/>
                              <p:cNvGrpSpPr>
                                <a:grpSpLocks noChangeAspect="1"/>
                              </p:cNvGrpSpPr>
                              <p:nvPr/>
                            </p:nvGrpSpPr>
                            <p:grpSpPr>
                              <a:xfrm>
                                <a:off x="2254" y="1112"/>
                                <a:ext cx="3218" cy="2585"/>
                                <a:chOff x="2254" y="1112"/>
                                <a:chExt cx="3218" cy="2585"/>
                              </a:xfrm>
                            </p:grpSpPr>
                            <p:grpSp>
                              <p:nvGrpSpPr>
                                <p:cNvPr id="5147" name="Group 13"/>
                                <p:cNvGrpSpPr>
                                  <a:grpSpLocks noChangeAspect="1"/>
                                </p:cNvGrpSpPr>
                                <p:nvPr/>
                              </p:nvGrpSpPr>
                              <p:grpSpPr>
                                <a:xfrm>
                                  <a:off x="2254" y="1112"/>
                                  <a:ext cx="3218" cy="2585"/>
                                  <a:chOff x="2254" y="1112"/>
                                  <a:chExt cx="3218" cy="2585"/>
                                </a:xfrm>
                              </p:grpSpPr>
                              <p:grpSp>
                                <p:nvGrpSpPr>
                                  <p:cNvPr id="5149" name="Group 9"/>
                                  <p:cNvGrpSpPr>
                                    <a:grpSpLocks noChangeAspect="1"/>
                                  </p:cNvGrpSpPr>
                                  <p:nvPr/>
                                </p:nvGrpSpPr>
                                <p:grpSpPr>
                                  <a:xfrm>
                                    <a:off x="2254" y="1112"/>
                                    <a:ext cx="3218" cy="2585"/>
                                    <a:chOff x="2254" y="1112"/>
                                    <a:chExt cx="3218" cy="2585"/>
                                  </a:xfrm>
                                </p:grpSpPr>
                                <p:pic>
                                  <p:nvPicPr>
                                    <p:cNvPr id="5152" name="Picture 5" descr="各种材料在先进汽车中占的重量比"/>
                                    <p:cNvPicPr>
                                      <a:picLocks noChangeAspect="1"/>
                                    </p:cNvPicPr>
                                    <p:nvPr/>
                                  </p:nvPicPr>
                                  <p:blipFill>
                                    <a:blip r:embed="rId2" cstate="print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2516" y="1112"/>
                                      <a:ext cx="2956" cy="2585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 w="28575" cap="flat" cmpd="sng">
                                      <a:solidFill>
                                        <a:srgbClr val="FF00FF"/>
                                      </a:solidFill>
                                      <a:prstDash val="solid"/>
                                      <a:miter/>
                                      <a:headEnd type="none" w="med" len="med"/>
                                      <a:tailEnd type="none" w="med" len="med"/>
                                    </a:ln>
                                  </p:spPr>
                                </p:pic>
                                <p:sp>
                                  <p:nvSpPr>
                                    <p:cNvPr id="80903" name="Rectangle 7"/>
                                    <p:cNvSpPr>
                                      <a:spLocks noChangeAspect="1" noChangeArrowheads="1"/>
                                    </p:cNvSpPr>
                                    <p:nvPr/>
                                  </p:nvSpPr>
                                  <p:spPr bwMode="auto">
                                    <a:xfrm>
                                      <a:off x="2475" y="3512"/>
                                      <a:ext cx="2929" cy="146"/>
                                    </a:xfrm>
                                    <a:prstGeom prst="rect">
                                      <a:avLst/>
                                    </a:prstGeom>
                                    <a:solidFill>
                                      <a:srgbClr val="359097"/>
                                    </a:solidFill>
                                    <a:ln w="28575">
                                      <a:solidFill>
                                        <a:srgbClr val="359097"/>
                                      </a:solidFill>
                                      <a:miter lim="800000"/>
                                    </a:ln>
                                    <a:effectLst/>
                                  </p:spPr>
                                  <p:txBody>
                                    <a:bodyPr wrap="none" anchor="ctr"/>
                                    <a:lstStyle/>
                                    <a:p>
                                      <a:pPr marL="0" marR="0" lvl="0" indent="0" algn="ctr" defTabSz="914400" rtl="0" eaLnBrk="1" fontAlgn="base" latinLnBrk="0" hangingPunct="1">
                                        <a:lnSpc>
                                          <a:spcPct val="100000"/>
                                        </a:lnSpc>
                                        <a:spcBef>
                                          <a:spcPct val="50000"/>
                                        </a:spcBef>
                                        <a:spcAft>
                                          <a:spcPct val="0"/>
                                        </a:spcAft>
                                        <a:buClrTx/>
                                        <a:buSzTx/>
                                        <a:buFontTx/>
                                        <a:buNone/>
                                        <a:defRPr/>
                                      </a:pPr>
                                      <a:r>
                                        <a:rPr kumimoji="1" lang="zh-CN" altLang="en-US" sz="2000" b="1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/>
                                            </a:outerShdw>
                                          </a:effectLst>
                                          <a:uLnTx/>
                                          <a:uFillTx/>
                                          <a:latin typeface="Times New Roman" panose="02020603050405020304" pitchFamily="18" charset="0"/>
                                          <a:ea typeface="宋体" panose="02010600030101010101" pitchFamily="2" charset="-122"/>
                                          <a:cs typeface="+mn-cs"/>
                                        </a:rPr>
                                        <a:t>材料</a:t>
                                      </a:r>
                                    </a:p>
                                  </p:txBody>
                                </p:sp>
                                <p:sp>
                                  <p:nvSpPr>
                                    <p:cNvPr id="80904" name="Rectangle 8"/>
                                    <p:cNvSpPr>
                                      <a:spLocks noChangeAspect="1" noChangeArrowheads="1"/>
                                    </p:cNvSpPr>
                                    <p:nvPr/>
                                  </p:nvSpPr>
                                  <p:spPr bwMode="auto">
                                    <a:xfrm rot="-5376531">
                                      <a:off x="1248" y="2304"/>
                                      <a:ext cx="2206" cy="193"/>
                                    </a:xfrm>
                                    <a:prstGeom prst="rect">
                                      <a:avLst/>
                                    </a:prstGeom>
                                    <a:solidFill>
                                      <a:srgbClr val="359097"/>
                                    </a:solidFill>
                                    <a:ln w="28575">
                                      <a:solidFill>
                                        <a:srgbClr val="359097"/>
                                      </a:solidFill>
                                      <a:miter lim="800000"/>
                                    </a:ln>
                                    <a:effectLst/>
                                  </p:spPr>
                                  <p:txBody>
                                    <a:bodyPr wrap="none" anchor="ctr"/>
                                    <a:lstStyle/>
                                    <a:p>
                                      <a:pPr marL="0" marR="0" lvl="0" indent="0" algn="r" defTabSz="914400" rtl="0" eaLnBrk="1" fontAlgn="base" latinLnBrk="0" hangingPunct="1">
                                        <a:lnSpc>
                                          <a:spcPct val="100000"/>
                                        </a:lnSpc>
                                        <a:spcBef>
                                          <a:spcPct val="50000"/>
                                        </a:spcBef>
                                        <a:spcAft>
                                          <a:spcPct val="0"/>
                                        </a:spcAft>
                                        <a:buClrTx/>
                                        <a:buSzTx/>
                                        <a:buFontTx/>
                                        <a:buNone/>
                                        <a:defRPr/>
                                      </a:pPr>
                                      <a:r>
                                        <a:rPr kumimoji="1" lang="zh-CN" altLang="en-US" sz="2000" b="1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/>
                                            </a:outerShdw>
                                          </a:effectLst>
                                          <a:uLnTx/>
                                          <a:uFillTx/>
                                          <a:latin typeface="Times New Roman" panose="02020603050405020304" pitchFamily="18" charset="0"/>
                                          <a:ea typeface="宋体" panose="02010600030101010101" pitchFamily="2" charset="-122"/>
                                          <a:cs typeface="+mn-cs"/>
                                        </a:rPr>
                                        <a:t>占汽车净重比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5150" name="Rectangle 11"/>
                                  <p:cNvSpPr>
                                    <a:spLocks noChangeAspect="1"/>
                                  </p:cNvSpPr>
                                  <p:nvPr/>
                                </p:nvSpPr>
                                <p:spPr>
                                  <a:xfrm>
                                    <a:off x="2592" y="1824"/>
                                    <a:ext cx="96" cy="1584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rgbClr val="E6DBAC">
                                      <a:alpha val="50195"/>
                                    </a:srgbClr>
                                  </a:solidFill>
                                  <a:ln w="28575">
                                    <a:noFill/>
                                  </a:ln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pPr lvl="0" eaLnBrk="1" hangingPunct="1"/>
                                    <a:endParaRPr lang="zh-CN" altLang="en-US" dirty="0">
                                      <a:latin typeface="Times New Roman" panose="02020603050405020304" pitchFamily="18" charset="0"/>
                                      <a:ea typeface="楷体_GB2312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80908" name="Rectangle 12"/>
                                  <p:cNvSpPr>
                                    <a:spLocks noChangeAspect="1"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57" y="3469"/>
                                    <a:ext cx="208" cy="192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chemeClr val="tx1">
                                      <a:alpha val="50000"/>
                                    </a:schemeClr>
                                  </a:solidFill>
                                  <a:ln w="28575">
                                    <a:noFill/>
                                    <a:miter lim="800000"/>
                                  </a:ln>
                                  <a:effectLst/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pPr marL="0" marR="0" lvl="0" indent="0" algn="ctr" defTabSz="914400" rtl="0" eaLnBrk="1" fontAlgn="base" latinLnBrk="0" hangingPunct="1">
                                      <a:lnSpc>
                                        <a:spcPct val="100000"/>
                                      </a:lnSpc>
                                      <a:spcBef>
                                        <a:spcPct val="50000"/>
                                      </a:spcBef>
                                      <a:spcAft>
                                        <a:spcPct val="0"/>
                                      </a:spcAft>
                                      <a:buClrTx/>
                                      <a:buSzTx/>
                                      <a:buFontTx/>
                                      <a:buNone/>
                                      <a:defRPr/>
                                    </a:pPr>
                                    <a:r>
                                      <a:rPr kumimoji="1" lang="en-US" altLang="zh-CN" sz="1800" b="1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schemeClr val="hlink"/>
                                        </a:solidFill>
                                        <a:effectLst>
                                          <a:outerShdw blurRad="38100" dist="38100" dir="2700000" algn="tl">
                                            <a:srgbClr val="000000"/>
                                          </a:outerShdw>
                                        </a:effectLst>
                                        <a:uLnTx/>
                                        <a:uFillTx/>
                                        <a:latin typeface="Times New Roman" panose="02020603050405020304" pitchFamily="18" charset="0"/>
                                        <a:ea typeface="楷体_GB2312" pitchFamily="49" charset="-122"/>
                                        <a:cs typeface="+mn-cs"/>
                                      </a:rPr>
                                      <a:t>Al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148" name="Rectangle 14"/>
                                <p:cNvSpPr>
                                  <a:spLocks noChangeAspect="1"/>
                                </p:cNvSpPr>
                                <p:nvPr/>
                              </p:nvSpPr>
                              <p:spPr>
                                <a:xfrm>
                                  <a:off x="2868" y="2496"/>
                                  <a:ext cx="96" cy="912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E6DBAC">
                                    <a:alpha val="50195"/>
                                  </a:srgbClr>
                                </a:solidFill>
                                <a:ln w="28575">
                                  <a:noFill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pPr lvl="0" eaLnBrk="1" hangingPunct="1"/>
                                  <a:endParaRPr lang="zh-CN" altLang="en-US" dirty="0">
                                    <a:latin typeface="Times New Roman" panose="02020603050405020304" pitchFamily="18" charset="0"/>
                                    <a:ea typeface="楷体_GB2312" pitchFamily="49" charset="-122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80912" name="Text Box 16"/>
                              <p:cNvSpPr txBox="1">
                                <a:spLocks noChangeAspect="1"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010" y="3426"/>
                                <a:ext cx="291" cy="235"/>
                              </a:xfrm>
                              <a:prstGeom prst="rect">
                                <a:avLst/>
                              </a:prstGeom>
                              <a:noFill/>
                              <a:ln w="28575">
                                <a:noFill/>
                                <a:miter lim="800000"/>
                              </a:ln>
                              <a:effectLst/>
                            </p:spPr>
                            <p:txBody>
                              <a:bodyPr>
                                <a:spAutoFit/>
                              </a:bodyPr>
                              <a:lstStyle/>
                              <a:p>
                                <a:pPr marL="0" marR="0" lvl="0" indent="0" algn="ctr" defTabSz="914400" rtl="0" eaLnBrk="1" fontAlgn="base" latinLnBrk="0" hangingPunct="1">
                                  <a:lnSpc>
                                    <a:spcPct val="100000"/>
                                  </a:lnSpc>
                                  <a:spcBef>
                                    <a:spcPct val="50000"/>
                                  </a:spcBef>
                                  <a:spcAft>
                                    <a:spcPct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defRPr/>
                                </a:pPr>
                                <a:r>
                                  <a:rPr kumimoji="1" lang="en-US" altLang="zh-CN" sz="1600" b="1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chemeClr val="hlink"/>
                                    </a:solidFill>
                                    <a:effectLst>
                                      <a:outerShdw blurRad="38100" dist="38100" dir="2700000" algn="tl">
                                        <a:srgbClr val="000000"/>
                                      </a:outerShdw>
                                    </a:effectLst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楷体_GB2312" pitchFamily="49" charset="-122"/>
                                    <a:cs typeface="+mn-cs"/>
                                  </a:rPr>
                                  <a:t>Fe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80914" name="Rectangle 18"/>
                            <p:cNvSpPr>
                              <a:spLocks noChangeAspect="1" noChangeArrowheads="1"/>
                            </p:cNvSpPr>
                            <p:nvPr/>
                          </p:nvSpPr>
                          <p:spPr bwMode="auto">
                            <a:xfrm>
                              <a:off x="3389" y="2939"/>
                              <a:ext cx="95" cy="481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alpha val="50000"/>
                              </a:schemeClr>
                            </a:solidFill>
                            <a:ln w="28575">
                              <a:noFill/>
                              <a:miter lim="800000"/>
                            </a:ln>
                            <a:effectLst/>
                          </p:spPr>
                          <p:txBody>
                            <a:bodyPr vert="eaVert" wrap="none" anchor="ctr"/>
                            <a:lstStyle/>
                            <a:p>
                              <a:pPr marL="0" marR="0" lvl="0" indent="0" algn="r" defTabSz="914400" rtl="0" eaLnBrk="1" fontAlgn="base" latinLnBrk="0" hangingPunct="1">
                                <a:lnSpc>
                                  <a:spcPct val="100000"/>
                                </a:lnSpc>
                                <a:spcBef>
                                  <a:spcPct val="5000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defRPr/>
                              </a:pPr>
                              <a:r>
                                <a:rPr kumimoji="1" lang="zh-CN" altLang="en-US" sz="18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hlink"/>
                                  </a:solidFill>
                                  <a:effectLst>
                                    <a:outerShdw blurRad="38100" dist="38100" dir="2700000" algn="tl">
                                      <a:srgbClr val="000000"/>
                                    </a:outerShdw>
                                  </a:effectLst>
                                  <a:uLnTx/>
                                  <a:uFillTx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a:t>塑料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0916" name="Rectangle 20"/>
                          <p:cNvSpPr>
                            <a:spLocks noChangeAspect="1" noChangeArrowheads="1"/>
                          </p:cNvSpPr>
                          <p:nvPr/>
                        </p:nvSpPr>
                        <p:spPr bwMode="auto">
                          <a:xfrm>
                            <a:off x="3650" y="3360"/>
                            <a:ext cx="92" cy="337"/>
                          </a:xfrm>
                          <a:prstGeom prst="rect">
                            <a:avLst/>
                          </a:prstGeom>
                          <a:solidFill>
                            <a:srgbClr val="E6DEC0">
                              <a:alpha val="50000"/>
                            </a:srgbClr>
                          </a:solidFill>
                          <a:ln w="28575">
                            <a:noFill/>
                            <a:miter lim="800000"/>
                          </a:ln>
                          <a:effectLst/>
                        </p:spPr>
                        <p:txBody>
                          <a:bodyPr vert="eaVert" wrap="none" anchor="ctr"/>
                          <a:lstStyle/>
                          <a:p>
                            <a:pPr marL="0" marR="0" lvl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5000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defRPr/>
                            </a:pPr>
                            <a:r>
                              <a:rPr kumimoji="1" lang="zh-CN" alt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chemeClr val="hlink"/>
                                </a:solidFill>
                                <a:effectLst>
                                  <a:outerShdw blurRad="38100" dist="38100" dir="2700000" algn="tl">
                                    <a:srgbClr val="000000"/>
                                  </a:outerShdw>
                                </a:effectLst>
                                <a:uLnTx/>
                                <a:uFillTx/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  <a:cs typeface="+mn-cs"/>
                              </a:rPr>
                              <a:t>其它</a:t>
                            </a:r>
                          </a:p>
                        </p:txBody>
                      </p:sp>
                    </p:grpSp>
                    <p:sp>
                      <p:nvSpPr>
                        <p:cNvPr id="80918" name="Text Box 22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3799" y="2659"/>
                          <a:ext cx="319" cy="435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 w="28575">
                          <a:noFill/>
                          <a:miter lim="800000"/>
                        </a:ln>
                        <a:effectLst/>
                      </p:spPr>
                      <p:txBody>
                        <a:bodyPr vert="eaVert">
                          <a:spAutoFit/>
                        </a:bodyPr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5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1" lang="zh-CN" alt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>
                                <a:outerShdw blurRad="38100" dist="38100" dir="2700000" algn="tl">
                                  <a:srgbClr val="000000"/>
                                </a:outerShdw>
                              </a:effectLst>
                              <a:uLnTx/>
                              <a:uFillTx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+mn-cs"/>
                            </a:rPr>
                            <a:t>橡胶</a:t>
                          </a:r>
                        </a:p>
                      </p:txBody>
                    </p:sp>
                  </p:grpSp>
                  <p:sp>
                    <p:nvSpPr>
                      <p:cNvPr id="80920" name="Text Box 24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4068" y="2643"/>
                        <a:ext cx="298" cy="53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8575">
                        <a:noFill/>
                        <a:miter lim="800000"/>
                      </a:ln>
                      <a:effectLst/>
                    </p:spPr>
                    <p:txBody>
                      <a:bodyPr vert="eaVert">
                        <a:spAutoFit/>
                      </a:bodyPr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r>
                          <a:rPr kumimoji="1" lang="zh-CN" altLang="en-US" sz="1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磁材料</a:t>
                        </a:r>
                      </a:p>
                    </p:txBody>
                  </p:sp>
                </p:grpSp>
                <p:sp>
                  <p:nvSpPr>
                    <p:cNvPr id="80922" name="Text Box 26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312" y="2747"/>
                      <a:ext cx="325" cy="554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28575">
                      <a:noFill/>
                      <a:miter lim="800000"/>
                    </a:ln>
                    <a:effectLst/>
                  </p:spPr>
                  <p:txBody>
                    <a:bodyPr vert="eaVert" wrap="square">
                      <a:sp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玻璃</a:t>
                      </a:r>
                    </a:p>
                  </p:txBody>
                </p:sp>
              </p:grpSp>
              <p:sp>
                <p:nvSpPr>
                  <p:cNvPr id="80924" name="Text Box 28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4614" y="2611"/>
                    <a:ext cx="275" cy="621"/>
                  </a:xfrm>
                  <a:prstGeom prst="rect">
                    <a:avLst/>
                  </a:prstGeom>
                  <a:solidFill>
                    <a:schemeClr val="tx1">
                      <a:alpha val="50000"/>
                    </a:schemeClr>
                  </a:solidFill>
                  <a:ln w="28575">
                    <a:noFill/>
                    <a:miter lim="800000"/>
                  </a:ln>
                  <a:effectLst/>
                </p:spPr>
                <p:txBody>
                  <a:bodyPr vert="eaVert">
                    <a:spAutoFit/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聚碳酸酯</a:t>
                    </a:r>
                  </a:p>
                </p:txBody>
              </p:sp>
            </p:grpSp>
            <p:sp>
              <p:nvSpPr>
                <p:cNvPr id="80927" name="Text Box 31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4862" y="2897"/>
                  <a:ext cx="289" cy="256"/>
                </a:xfrm>
                <a:prstGeom prst="rect">
                  <a:avLst/>
                </a:prstGeom>
                <a:solidFill>
                  <a:schemeClr val="tx1">
                    <a:alpha val="50000"/>
                  </a:schemeClr>
                </a:solidFill>
                <a:ln w="28575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  <a:cs typeface="+mn-cs"/>
                    </a:rPr>
                    <a:t>Ti</a:t>
                  </a:r>
                </a:p>
              </p:txBody>
            </p:sp>
          </p:grpSp>
          <p:sp>
            <p:nvSpPr>
              <p:cNvPr id="80929" name="Text Box 33"/>
              <p:cNvSpPr txBox="1">
                <a:spLocks noChangeAspect="1" noChangeArrowheads="1"/>
              </p:cNvSpPr>
              <p:nvPr/>
            </p:nvSpPr>
            <p:spPr bwMode="auto">
              <a:xfrm>
                <a:off x="5106" y="2700"/>
                <a:ext cx="298" cy="528"/>
              </a:xfrm>
              <a:prstGeom prst="rect">
                <a:avLst/>
              </a:prstGeom>
              <a:solidFill>
                <a:schemeClr val="tx1">
                  <a:alpha val="50000"/>
                </a:schemeClr>
              </a:solidFill>
              <a:ln w="28575">
                <a:noFill/>
                <a:miter lim="800000"/>
              </a:ln>
              <a:effectLst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碳纤维</a:t>
                </a:r>
              </a:p>
            </p:txBody>
          </p:sp>
        </p:grpSp>
        <p:sp>
          <p:nvSpPr>
            <p:cNvPr id="5128" name="Text Box 35"/>
            <p:cNvSpPr txBox="1">
              <a:spLocks noChangeAspect="1"/>
            </p:cNvSpPr>
            <p:nvPr/>
          </p:nvSpPr>
          <p:spPr>
            <a:xfrm>
              <a:off x="2124" y="3636"/>
              <a:ext cx="3504" cy="2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各种材料在先进汽车中所占的重量百分比</a:t>
              </a:r>
            </a:p>
          </p:txBody>
        </p:sp>
      </p:grpSp>
      <p:sp>
        <p:nvSpPr>
          <p:cNvPr id="3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1276350" y="0"/>
            <a:ext cx="7867650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第六章、有色金属材料</a:t>
            </a: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3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dvAuto="1000"/>
      <p:bldP spid="205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45615" y="225425"/>
            <a:ext cx="7080250" cy="688975"/>
          </a:xfrm>
        </p:spPr>
        <p:txBody>
          <a:bodyPr/>
          <a:lstStyle/>
          <a:p>
            <a:r>
              <a:rPr lang="zh-CN" altLang="en-US" b="1" noProof="0" dirty="0">
                <a:ln>
                  <a:noFill/>
                </a:ln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第六章、有色金属材料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sz="half" idx="1"/>
          </p:nvPr>
        </p:nvSpPr>
        <p:spPr>
          <a:xfrm>
            <a:off x="242570" y="873760"/>
            <a:ext cx="6695440" cy="551053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变形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有色金属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及其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合金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牌号表示方法还不统一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铸造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有色金属及其合金</a:t>
            </a:r>
            <a:r>
              <a:rPr lang="zh-CN" altLang="en-US" sz="3200" b="1" dirty="0">
                <a:ea typeface="华文中宋" panose="02010600040101010101" pitchFamily="2" charset="-122"/>
              </a:rPr>
              <a:t>牌号表示方法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统一如下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① </a:t>
            </a:r>
            <a:r>
              <a:rPr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铸造有色</a:t>
            </a: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纯金属</a:t>
            </a:r>
            <a:r>
              <a:rPr lang="zh-CN" altLang="en-US" sz="3200" b="1" dirty="0">
                <a:ea typeface="华文中宋" panose="02010600040101010101" pitchFamily="2" charset="-122"/>
              </a:rPr>
              <a:t>的牌号</a:t>
            </a:r>
            <a:r>
              <a:rPr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：</a:t>
            </a:r>
            <a:endParaRPr lang="zh-CN" altLang="en-US" sz="32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 +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该金属元素符号 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纯度</a:t>
            </a: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百分含量数字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3200" b="1" dirty="0">
                <a:ea typeface="华文中宋" panose="02010600040101010101" pitchFamily="2" charset="-122"/>
              </a:rPr>
              <a:t>或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用一短横</a:t>
            </a:r>
            <a:r>
              <a:rPr lang="zh-CN" altLang="en-US" sz="3200" b="1" dirty="0">
                <a:ea typeface="华文中宋" panose="02010600040101010101" pitchFamily="2" charset="-122"/>
              </a:rPr>
              <a:t>加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ea typeface="华文中宋" panose="02010600040101010101" pitchFamily="2" charset="-122"/>
              </a:rPr>
              <a:t>牌号示例：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ZAl99.5</a:t>
            </a:r>
            <a:r>
              <a:rPr lang="zh-CN" altLang="en-US" sz="3200" b="1" dirty="0">
                <a:ea typeface="华文中宋" panose="02010600040101010101" pitchFamily="2" charset="-122"/>
              </a:rPr>
              <a:t>、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ZTi-1</a:t>
            </a:r>
            <a:r>
              <a:rPr lang="zh-CN" altLang="en-US" sz="3200" b="1" dirty="0">
                <a:ea typeface="华文中宋" panose="02010600040101010101" pitchFamily="2" charset="-122"/>
              </a:rPr>
              <a:t>。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endParaRPr lang="zh-CN" altLang="en-US" sz="32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>
            <a:grpSpLocks noChangeAspect="1"/>
          </p:cNvGrpSpPr>
          <p:nvPr/>
        </p:nvGrpSpPr>
        <p:grpSpPr>
          <a:xfrm>
            <a:off x="7053580" y="1124585"/>
            <a:ext cx="1998980" cy="2292985"/>
            <a:chOff x="2928" y="864"/>
            <a:chExt cx="2532" cy="2904"/>
          </a:xfrm>
        </p:grpSpPr>
        <p:pic>
          <p:nvPicPr>
            <p:cNvPr id="6152" name="Picture 16" descr="铸造铝合金锭（铝锭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" y="864"/>
              <a:ext cx="2521" cy="2886"/>
            </a:xfrm>
            <a:prstGeom prst="rect">
              <a:avLst/>
            </a:prstGeom>
            <a:noFill/>
            <a:ln w="28575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153" name="Text Box 18"/>
            <p:cNvSpPr txBox="1">
              <a:spLocks noChangeAspect="1"/>
            </p:cNvSpPr>
            <p:nvPr/>
          </p:nvSpPr>
          <p:spPr>
            <a:xfrm>
              <a:off x="4449" y="3289"/>
              <a:ext cx="1011" cy="479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铝锭</a:t>
              </a:r>
            </a:p>
          </p:txBody>
        </p:sp>
      </p:grp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69215" y="6518910"/>
            <a:ext cx="1905000" cy="30607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36965" y="6637655"/>
            <a:ext cx="391795" cy="26225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 descr="铝锭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19925" y="3572510"/>
            <a:ext cx="2071370" cy="2275205"/>
          </a:xfrm>
          <a:prstGeom prst="rect">
            <a:avLst/>
          </a:prstGeom>
        </p:spPr>
      </p:pic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uiExpand="1" build="p" advAuto="100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47710" y="836295"/>
            <a:ext cx="8893115" cy="5857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②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铸造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有色合金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的牌号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Z +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基体元素符号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+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主要合金元素符号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及其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名义百分含量数字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+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其他合金元素符号及其百分含量数字。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牌号示例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ZAlSi7Cu4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ZCuZn31Al2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ZSnSb11Cu6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CC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混合稀土元素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符号：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RE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优质合金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：牌号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+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字母“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”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94005" y="4552950"/>
            <a:ext cx="6196013" cy="2305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有色金属种类很多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，本章仅对机械、仪表等工业中广泛使用的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铝、铜、钛、镁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及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轴承合金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作简要介绍。 </a:t>
            </a:r>
          </a:p>
        </p:txBody>
      </p:sp>
      <p:pic>
        <p:nvPicPr>
          <p:cNvPr id="25608" name="Picture 8" descr="铜离心铸件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7193" y="3516948"/>
            <a:ext cx="2011362" cy="3055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2885"/>
            <a:ext cx="38608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6263" y="60016"/>
            <a:ext cx="7080250" cy="735964"/>
          </a:xfrm>
        </p:spPr>
        <p:txBody>
          <a:bodyPr/>
          <a:lstStyle/>
          <a:p>
            <a:r>
              <a:rPr lang="zh-CN" altLang="en-US" b="1" noProof="0" dirty="0">
                <a:ln>
                  <a:noFill/>
                </a:ln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第六章、有色金属材料</a:t>
            </a:r>
            <a:endParaRPr lang="zh-CN" altLang="en-US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dvAuto="1000"/>
      <p:bldP spid="2560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4189"/>
            <a:ext cx="6408712" cy="1269901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第六章、有色金属材料</a:t>
            </a:r>
            <a:br>
              <a:rPr lang="en-US" altLang="zh-CN" b="1" noProof="0" dirty="0">
                <a:ln>
                  <a:noFill/>
                </a:ln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</a:br>
            <a:r>
              <a:rPr lang="en-US" altLang="zh-CN" b="1" noProof="0" dirty="0">
                <a:ln>
                  <a:noFill/>
                </a:ln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内容提要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685800" y="1285875"/>
            <a:ext cx="7772400" cy="51435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第一节  铝及铝合金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  铜及铜合金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2" action="ppaction://hlinksldjump"/>
              </a:rPr>
              <a:t>.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i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第三节  钛及钛合金</a:t>
            </a:r>
            <a:r>
              <a:rPr lang="en-US" altLang="zh-CN" b="1" i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3" action="ppaction://hlinksldjump"/>
              </a:rPr>
              <a:t>.</a:t>
            </a:r>
            <a:endParaRPr lang="zh-CN" altLang="en-US" b="1" i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i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第四节  镁及镁合金</a:t>
            </a:r>
            <a:r>
              <a:rPr lang="en-US" altLang="zh-CN" b="1" i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4" action="ppaction://hlinksldjump"/>
              </a:rPr>
              <a:t>.</a:t>
            </a:r>
            <a:endParaRPr lang="zh-CN" altLang="en-US" b="1" i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第五节  滑动轴承合金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5" action="ppaction://hlinksldjump"/>
              </a:rPr>
              <a:t>.</a:t>
            </a:r>
            <a:endParaRPr lang="en-US" altLang="zh-CN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第六节  硬质合金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  <a:hlinkClick r:id="rId6" action="ppaction://hlinksldjump"/>
              </a:rPr>
              <a:t>.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49720"/>
            <a:ext cx="386080" cy="2089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830" y="14128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640195"/>
            <a:ext cx="386080" cy="21844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276872"/>
            <a:ext cx="8640960" cy="1800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第一节  铝及铝合金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600" b="1" dirty="0">
                <a:latin typeface="+mn-lt"/>
                <a:ea typeface="华文中宋" panose="02010600040101010101" pitchFamily="2" charset="-122"/>
              </a:rPr>
              <a:t>Aluminum &amp; Its Alloys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</a:p>
        </p:txBody>
      </p:sp>
      <p:sp>
        <p:nvSpPr>
          <p:cNvPr id="9223" name="AutoShape 4">
            <a:hlinkClick r:id="rId2" action="ppaction://hlinksldjump"/>
          </p:cNvPr>
          <p:cNvSpPr/>
          <p:nvPr/>
        </p:nvSpPr>
        <p:spPr>
          <a:xfrm>
            <a:off x="8912860" y="6640830"/>
            <a:ext cx="231140" cy="21717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32848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640195"/>
            <a:ext cx="386080" cy="21844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6454775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铝及铝合金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354965" y="1038225"/>
            <a:ext cx="8471535" cy="24060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全球用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铝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量在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有色金属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中居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第一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每年人均铝消费量：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西方国家至少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12公斤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,美国多达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35公斤（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欧洲铝协会研究发现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http://www.alu.cn/aluNews/NewsDisplay_283.html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903932" y="3644900"/>
            <a:ext cx="7683173" cy="2573020"/>
            <a:chOff x="603" y="2349"/>
            <a:chExt cx="4972" cy="1814"/>
          </a:xfrm>
        </p:grpSpPr>
        <p:grpSp>
          <p:nvGrpSpPr>
            <p:cNvPr id="9225" name="Group 12"/>
            <p:cNvGrpSpPr/>
            <p:nvPr/>
          </p:nvGrpSpPr>
          <p:grpSpPr>
            <a:xfrm>
              <a:off x="603" y="2349"/>
              <a:ext cx="4972" cy="1814"/>
              <a:chOff x="603" y="2349"/>
              <a:chExt cx="4972" cy="1814"/>
            </a:xfrm>
          </p:grpSpPr>
          <p:grpSp>
            <p:nvGrpSpPr>
              <p:cNvPr id="9229" name="Group 10"/>
              <p:cNvGrpSpPr/>
              <p:nvPr/>
            </p:nvGrpSpPr>
            <p:grpSpPr>
              <a:xfrm>
                <a:off x="679" y="2349"/>
                <a:ext cx="4896" cy="1814"/>
                <a:chOff x="679" y="2349"/>
                <a:chExt cx="4896" cy="1814"/>
              </a:xfrm>
            </p:grpSpPr>
            <p:pic>
              <p:nvPicPr>
                <p:cNvPr id="9231" name="Picture 8" descr="铝的用量（全世界）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79" y="2349"/>
                  <a:ext cx="4896" cy="1814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CC99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9232" name="Rectangle 9"/>
                <p:cNvSpPr/>
                <p:nvPr/>
              </p:nvSpPr>
              <p:spPr>
                <a:xfrm>
                  <a:off x="1248" y="2400"/>
                  <a:ext cx="3479" cy="213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r" eaLnBrk="1" hangingPunct="1"/>
                  <a:r>
                    <a:rPr lang="zh-CN" altLang="en-US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全世界铝的用量</a:t>
                  </a:r>
                  <a:r>
                    <a:rPr lang="en-US" altLang="zh-CN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1950-1999</a:t>
                  </a:r>
                </a:p>
              </p:txBody>
            </p:sp>
          </p:grpSp>
          <p:sp>
            <p:nvSpPr>
              <p:cNvPr id="9230" name="Rectangle 11"/>
              <p:cNvSpPr/>
              <p:nvPr/>
            </p:nvSpPr>
            <p:spPr>
              <a:xfrm rot="-5429706">
                <a:off x="399" y="3113"/>
                <a:ext cx="672" cy="26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AE9EF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百万吨</a:t>
                </a:r>
              </a:p>
            </p:txBody>
          </p:sp>
        </p:grpSp>
        <p:sp>
          <p:nvSpPr>
            <p:cNvPr id="9226" name="Rectangle 13"/>
            <p:cNvSpPr/>
            <p:nvPr/>
          </p:nvSpPr>
          <p:spPr>
            <a:xfrm>
              <a:off x="1800" y="3936"/>
              <a:ext cx="984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algn="l" eaLnBrk="1" hangingPunct="1"/>
              <a:r>
                <a:rPr lang="zh-CN" altLang="en-US" sz="12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一次生产量</a:t>
              </a:r>
            </a:p>
          </p:txBody>
        </p:sp>
        <p:sp>
          <p:nvSpPr>
            <p:cNvPr id="9227" name="Rectangle 14"/>
            <p:cNvSpPr/>
            <p:nvPr/>
          </p:nvSpPr>
          <p:spPr>
            <a:xfrm>
              <a:off x="2928" y="3936"/>
              <a:ext cx="816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algn="l" eaLnBrk="1" hangingPunct="1"/>
              <a:r>
                <a:rPr lang="zh-CN" altLang="en-US" sz="12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二次回收量</a:t>
              </a:r>
            </a:p>
          </p:txBody>
        </p:sp>
        <p:sp>
          <p:nvSpPr>
            <p:cNvPr id="9228" name="Rectangle 15"/>
            <p:cNvSpPr/>
            <p:nvPr/>
          </p:nvSpPr>
          <p:spPr>
            <a:xfrm>
              <a:off x="3840" y="3936"/>
              <a:ext cx="576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algn="l" eaLnBrk="1" hangingPunct="1"/>
              <a:r>
                <a:rPr lang="zh-CN" altLang="en-US" sz="12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总用量</a:t>
              </a:r>
            </a:p>
          </p:txBody>
        </p:sp>
      </p:grpSp>
      <p:sp>
        <p:nvSpPr>
          <p:cNvPr id="9223" name="AutoShape 4">
            <a:hlinkClick r:id="rId3" action="ppaction://hlinksldjump"/>
          </p:cNvPr>
          <p:cNvSpPr/>
          <p:nvPr/>
        </p:nvSpPr>
        <p:spPr>
          <a:xfrm>
            <a:off x="8912860" y="6640830"/>
            <a:ext cx="231140" cy="21717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ldLvl="0" animBg="1"/>
      <p:bldP spid="26627" grpId="0" build="p" advAuto="100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6454775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铝及铝合金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393065" y="1326674"/>
            <a:ext cx="8105775" cy="529193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一、铝及铝合金的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性能特点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二、铝合金的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分类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三、铝合金的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热处理 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四、铝合金的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牌号、性能及用途</a:t>
            </a:r>
            <a:r>
              <a:rPr lang="zh-CN" altLang="en-US" sz="2400" b="1" dirty="0">
                <a:solidFill>
                  <a:srgbClr val="FFFF00"/>
                </a:solidFill>
              </a:rPr>
              <a:t> </a:t>
            </a:r>
            <a:endParaRPr lang="zh-CN" altLang="en-US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ldLvl="0" animBg="1"/>
      <p:bldP spid="26627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204864"/>
            <a:ext cx="8496944" cy="2664296"/>
          </a:xfrm>
        </p:spPr>
        <p:txBody>
          <a:bodyPr/>
          <a:lstStyle/>
          <a:p>
            <a:r>
              <a:rPr lang="zh-CN" altLang="en-US" sz="5400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一、铝及铝合金的性能特点</a:t>
            </a:r>
            <a:br>
              <a:rPr lang="en-US" altLang="zh-CN" sz="5400" b="1" dirty="0">
                <a:solidFill>
                  <a:schemeClr val="tx2"/>
                </a:solidFill>
                <a:ea typeface="华文中宋" panose="02010600040101010101" pitchFamily="2" charset="-122"/>
              </a:rPr>
            </a:br>
            <a:r>
              <a:rPr lang="en-US" altLang="zh-CN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Performance characteristics of aluminum and Its alloys</a:t>
            </a:r>
            <a:r>
              <a:rPr lang="zh-CN" altLang="en-US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32124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7072313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b="1" dirty="0">
                <a:ea typeface="华文中宋" panose="02010600040101010101" pitchFamily="2" charset="-122"/>
              </a:rPr>
              <a:t>一、铝及铝合金的性能特点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264795" y="1143635"/>
            <a:ext cx="7258050" cy="54165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纯铝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银白色金属光泽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密度小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(2.72 ),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熔点低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(660.4℃),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导电、导热性能优良。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耐大气腐蚀，易于加工成形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面心立方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无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同素异构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转变，无磁性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铝合金：高强度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纯铝 的优良特性 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rgbClr val="CCFFFF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0"/>
          <p:cNvGrpSpPr/>
          <p:nvPr/>
        </p:nvGrpSpPr>
        <p:grpSpPr>
          <a:xfrm>
            <a:off x="5942312" y="1044380"/>
            <a:ext cx="2958938" cy="1031517"/>
            <a:chOff x="3598" y="6435"/>
            <a:chExt cx="4716" cy="914"/>
          </a:xfrm>
        </p:grpSpPr>
        <p:sp>
          <p:nvSpPr>
            <p:cNvPr id="9" name="左大括号 39"/>
            <p:cNvSpPr/>
            <p:nvPr/>
          </p:nvSpPr>
          <p:spPr>
            <a:xfrm>
              <a:off x="5307" y="6594"/>
              <a:ext cx="418" cy="584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" name="文本框 2"/>
            <p:cNvSpPr txBox="1">
              <a:spLocks noChangeArrowheads="1"/>
            </p:cNvSpPr>
            <p:nvPr/>
          </p:nvSpPr>
          <p:spPr bwMode="auto">
            <a:xfrm>
              <a:off x="3598" y="6594"/>
              <a:ext cx="1643" cy="5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3200" kern="100" dirty="0">
                  <a:solidFill>
                    <a:srgbClr val="FF0000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+mn-ea"/>
                </a:rPr>
                <a:t>纯铝</a:t>
              </a:r>
            </a:p>
          </p:txBody>
        </p:sp>
        <p:sp>
          <p:nvSpPr>
            <p:cNvPr id="12" name="文本框 2"/>
            <p:cNvSpPr txBox="1">
              <a:spLocks noChangeArrowheads="1"/>
            </p:cNvSpPr>
            <p:nvPr/>
          </p:nvSpPr>
          <p:spPr bwMode="auto">
            <a:xfrm>
              <a:off x="5725" y="6435"/>
              <a:ext cx="2589" cy="4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高纯度铝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" name="文本框 2"/>
            <p:cNvSpPr txBox="1">
              <a:spLocks noChangeArrowheads="1"/>
            </p:cNvSpPr>
            <p:nvPr/>
          </p:nvSpPr>
          <p:spPr bwMode="auto">
            <a:xfrm>
              <a:off x="5725" y="6926"/>
              <a:ext cx="2588" cy="4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工业纯铝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ldLvl="0" animBg="1"/>
      <p:bldP spid="26627" grpId="0" build="p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762000" y="911718"/>
            <a:ext cx="8382000" cy="3048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主加元素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Cu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Mg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Zn</a:t>
            </a:r>
            <a:r>
              <a:rPr lang="en-US" altLang="zh-CN" b="1" dirty="0">
                <a:ea typeface="华文中宋" panose="02010600040101010101" pitchFamily="2" charset="-122"/>
              </a:rPr>
              <a:t>…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辅加元素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Zr </a:t>
            </a:r>
            <a:r>
              <a:rPr lang="en-US" altLang="zh-CN" b="1" dirty="0">
                <a:ea typeface="华文中宋" panose="02010600040101010101" pitchFamily="2" charset="-122"/>
              </a:rPr>
              <a:t>…</a:t>
            </a:r>
            <a:endParaRPr lang="zh-CN" altLang="en-US" dirty="0"/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1042988" y="2636203"/>
            <a:ext cx="7286625" cy="3071812"/>
            <a:chOff x="432" y="2064"/>
            <a:chExt cx="4919" cy="2073"/>
          </a:xfrm>
        </p:grpSpPr>
        <p:pic>
          <p:nvPicPr>
            <p:cNvPr id="11271" name="Picture 4" descr="铝合金型材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" y="2064"/>
              <a:ext cx="3167" cy="20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1272" name="Picture 5" descr="铝铸件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4" y="2064"/>
              <a:ext cx="1607" cy="205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273" name="Text Box 6"/>
            <p:cNvSpPr txBox="1">
              <a:spLocks noChangeAspect="1"/>
            </p:cNvSpPr>
            <p:nvPr/>
          </p:nvSpPr>
          <p:spPr>
            <a:xfrm>
              <a:off x="2382" y="3814"/>
              <a:ext cx="1296" cy="29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铝合金型材</a:t>
              </a:r>
            </a:p>
          </p:txBody>
        </p:sp>
        <p:sp>
          <p:nvSpPr>
            <p:cNvPr id="11274" name="Text Box 7"/>
            <p:cNvSpPr txBox="1">
              <a:spLocks noChangeAspect="1"/>
            </p:cNvSpPr>
            <p:nvPr/>
          </p:nvSpPr>
          <p:spPr>
            <a:xfrm>
              <a:off x="3740" y="3840"/>
              <a:ext cx="768" cy="29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铝铸件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7072313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b="1" dirty="0">
                <a:ea typeface="华文中宋" panose="02010600040101010101" pitchFamily="2" charset="-122"/>
              </a:rPr>
              <a:t>铝合金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ffectLst/>
                <a:latin typeface="+mn-lt"/>
              </a:rPr>
              <a:t>Aluminum alloy</a:t>
            </a:r>
            <a:endParaRPr kumimoji="1" lang="zh-CN" altLang="en-US" sz="44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dvAuto="1000"/>
      <p:bldP spid="3" grpId="0" bldLvl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428625" y="1643063"/>
            <a:ext cx="4649644" cy="3445156"/>
            <a:chOff x="0" y="816"/>
            <a:chExt cx="3423" cy="2041"/>
          </a:xfrm>
        </p:grpSpPr>
        <p:pic>
          <p:nvPicPr>
            <p:cNvPr id="12299" name="Picture 5" descr="F117隐身战斗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6"/>
              <a:ext cx="3423" cy="204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300" name="Text Box 6"/>
            <p:cNvSpPr txBox="1">
              <a:spLocks noChangeAspect="1"/>
            </p:cNvSpPr>
            <p:nvPr/>
          </p:nvSpPr>
          <p:spPr>
            <a:xfrm>
              <a:off x="771" y="2420"/>
              <a:ext cx="2646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美</a:t>
              </a:r>
              <a:r>
                <a:rPr lang="en-US" altLang="zh-CN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F-117</a:t>
              </a:r>
              <a:r>
                <a: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隐身战斗机</a:t>
              </a:r>
              <a:br>
                <a:rPr lang="zh-CN" altLang="en-US" sz="36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</a:br>
              <a:r>
                <a:rPr lang="en-US" altLang="zh-CN" sz="1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zh-CN" altLang="en-US" sz="1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所用材料大部分是铝合金</a:t>
              </a:r>
              <a:r>
                <a:rPr lang="en-US" altLang="zh-CN" sz="1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</a:p>
          </p:txBody>
        </p:sp>
      </p:grpSp>
      <p:grpSp>
        <p:nvGrpSpPr>
          <p:cNvPr id="3" name="Group 6"/>
          <p:cNvGrpSpPr>
            <a:grpSpLocks noChangeAspect="1"/>
          </p:cNvGrpSpPr>
          <p:nvPr/>
        </p:nvGrpSpPr>
        <p:grpSpPr>
          <a:xfrm>
            <a:off x="5500688" y="1714500"/>
            <a:ext cx="2698750" cy="3378100"/>
            <a:chOff x="3564" y="1269"/>
            <a:chExt cx="1906" cy="2386"/>
          </a:xfrm>
        </p:grpSpPr>
        <p:pic>
          <p:nvPicPr>
            <p:cNvPr id="12297" name="Picture 4" descr="铝合金机翼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0" y="1296"/>
              <a:ext cx="1870" cy="235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2298" name="Text Box 5"/>
            <p:cNvSpPr txBox="1">
              <a:spLocks noChangeAspect="1"/>
            </p:cNvSpPr>
            <p:nvPr/>
          </p:nvSpPr>
          <p:spPr>
            <a:xfrm>
              <a:off x="3564" y="1269"/>
              <a:ext cx="1344" cy="23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铝合金制造的机翼</a:t>
              </a:r>
            </a:p>
          </p:txBody>
        </p:sp>
      </p:grp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428750" y="0"/>
            <a:ext cx="7072313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kern="0">
                <a:ea typeface="华文中宋" panose="02010600040101010101" pitchFamily="2" charset="-122"/>
              </a:rPr>
              <a:t>铝合金</a:t>
            </a:r>
            <a:r>
              <a:rPr lang="zh-CN" altLang="en-US" b="0" kern="0">
                <a:ea typeface="华文中宋" panose="02010600040101010101" pitchFamily="2" charset="-122"/>
              </a:rPr>
              <a:t> </a:t>
            </a:r>
            <a:r>
              <a:rPr lang="en-US" altLang="zh-CN" b="1" i="1" kern="0">
                <a:solidFill>
                  <a:srgbClr val="FF0000"/>
                </a:solidFill>
                <a:effectLst/>
                <a:latin typeface="+mn-lt"/>
              </a:rPr>
              <a:t>Aluminum alloy</a:t>
            </a:r>
            <a:endParaRPr lang="zh-CN" altLang="en-US" b="1" i="1" kern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204864"/>
            <a:ext cx="8496944" cy="2664296"/>
          </a:xfrm>
        </p:spPr>
        <p:txBody>
          <a:bodyPr/>
          <a:lstStyle/>
          <a:p>
            <a:r>
              <a:rPr lang="zh-CN" altLang="en-US" sz="5400" b="1" dirty="0"/>
              <a:t>二、铝合金的分类</a:t>
            </a:r>
            <a:br>
              <a:rPr lang="en-US" altLang="zh-CN" sz="5400" b="1" dirty="0">
                <a:solidFill>
                  <a:schemeClr val="tx2"/>
                </a:solidFill>
                <a:ea typeface="华文中宋" panose="02010600040101010101" pitchFamily="2" charset="-122"/>
              </a:rPr>
            </a:br>
            <a:r>
              <a:rPr lang="en-US" altLang="zh-CN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Classification of aluminum alloys</a:t>
            </a:r>
            <a:r>
              <a:rPr lang="zh-CN" altLang="en-US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32124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918018" y="0"/>
            <a:ext cx="5811837" cy="1000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二、铝合金的分类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250825" y="1071563"/>
            <a:ext cx="5964238" cy="523716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铝合金</a:t>
            </a:r>
            <a:r>
              <a:rPr lang="zh-CN" altLang="en-US" b="1" dirty="0">
                <a:ea typeface="华文中宋" panose="02010600040101010101" pitchFamily="2" charset="-122"/>
              </a:rPr>
              <a:t>一般具有</a:t>
            </a:r>
            <a:r>
              <a:rPr lang="zh-CN" altLang="en-US" b="1" dirty="0">
                <a:solidFill>
                  <a:schemeClr val="folHlink"/>
                </a:solidFill>
              </a:rPr>
              <a:t>有限固溶</a:t>
            </a:r>
            <a:r>
              <a:rPr lang="zh-CN" altLang="en-US" b="1" dirty="0">
                <a:ea typeface="华文中宋" panose="02010600040101010101" pitchFamily="2" charset="-122"/>
              </a:rPr>
              <a:t>型</a:t>
            </a:r>
            <a:r>
              <a:rPr lang="zh-CN" altLang="en-US" b="1" dirty="0">
                <a:solidFill>
                  <a:schemeClr val="folHlink"/>
                </a:solidFill>
              </a:rPr>
              <a:t>共晶相图。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铝合金分类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13316" name="Group 8"/>
          <p:cNvGrpSpPr/>
          <p:nvPr/>
        </p:nvGrpSpPr>
        <p:grpSpPr>
          <a:xfrm>
            <a:off x="6180378" y="2204864"/>
            <a:ext cx="2838450" cy="3111500"/>
            <a:chOff x="3972" y="1384"/>
            <a:chExt cx="1788" cy="1960"/>
          </a:xfrm>
        </p:grpSpPr>
        <p:pic>
          <p:nvPicPr>
            <p:cNvPr id="13320" name="Picture 5" descr="铝合金强化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2" y="1384"/>
              <a:ext cx="1788" cy="172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321" name="Text Box 6"/>
            <p:cNvSpPr txBox="1">
              <a:spLocks noChangeAspect="1"/>
            </p:cNvSpPr>
            <p:nvPr/>
          </p:nvSpPr>
          <p:spPr>
            <a:xfrm>
              <a:off x="4241" y="3113"/>
              <a:ext cx="1428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铝合金分类示意图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" name="组合 12"/>
          <p:cNvGrpSpPr/>
          <p:nvPr/>
        </p:nvGrpSpPr>
        <p:grpSpPr>
          <a:xfrm>
            <a:off x="467790" y="3284985"/>
            <a:ext cx="5191241" cy="2753930"/>
            <a:chOff x="450274" y="4659688"/>
            <a:chExt cx="5191241" cy="1414875"/>
          </a:xfrm>
        </p:grpSpPr>
        <p:grpSp>
          <p:nvGrpSpPr>
            <p:cNvPr id="14" name="组合 20"/>
            <p:cNvGrpSpPr/>
            <p:nvPr/>
          </p:nvGrpSpPr>
          <p:grpSpPr>
            <a:xfrm>
              <a:off x="450274" y="4951248"/>
              <a:ext cx="3208025" cy="1123315"/>
              <a:chOff x="2804" y="6337"/>
              <a:chExt cx="5113" cy="1769"/>
            </a:xfrm>
          </p:grpSpPr>
          <p:sp>
            <p:nvSpPr>
              <p:cNvPr id="18" name="左大括号 39"/>
              <p:cNvSpPr/>
              <p:nvPr/>
            </p:nvSpPr>
            <p:spPr>
              <a:xfrm>
                <a:off x="5307" y="6594"/>
                <a:ext cx="335" cy="1247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9" name="文本框 2"/>
              <p:cNvSpPr txBox="1">
                <a:spLocks noChangeArrowheads="1"/>
              </p:cNvSpPr>
              <p:nvPr/>
            </p:nvSpPr>
            <p:spPr bwMode="auto">
              <a:xfrm>
                <a:off x="2804" y="6981"/>
                <a:ext cx="2334" cy="5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3200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rPr>
                  <a:t>铝合金</a:t>
                </a:r>
              </a:p>
            </p:txBody>
          </p:sp>
          <p:sp>
            <p:nvSpPr>
              <p:cNvPr id="20" name="文本框 2"/>
              <p:cNvSpPr txBox="1">
                <a:spLocks noChangeArrowheads="1"/>
              </p:cNvSpPr>
              <p:nvPr/>
            </p:nvSpPr>
            <p:spPr bwMode="auto">
              <a:xfrm>
                <a:off x="5725" y="6337"/>
                <a:ext cx="2192" cy="77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变形铝合金</a:t>
                </a:r>
                <a:endParaRPr lang="zh-CN" altLang="en-US" sz="28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1" name="文本框 2"/>
              <p:cNvSpPr txBox="1">
                <a:spLocks noChangeArrowheads="1"/>
              </p:cNvSpPr>
              <p:nvPr/>
            </p:nvSpPr>
            <p:spPr bwMode="auto">
              <a:xfrm>
                <a:off x="5725" y="7334"/>
                <a:ext cx="2192" cy="7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铸造铝合金</a:t>
                </a:r>
                <a:endParaRPr lang="zh-CN" altLang="en-US" sz="28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15" name="文本框 2"/>
            <p:cNvSpPr txBox="1">
              <a:spLocks noChangeArrowheads="1"/>
            </p:cNvSpPr>
            <p:nvPr/>
          </p:nvSpPr>
          <p:spPr bwMode="auto">
            <a:xfrm>
              <a:off x="3946584" y="5177433"/>
              <a:ext cx="1694815" cy="4896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不可热处理强化</a:t>
              </a:r>
              <a:endParaRPr lang="zh-CN" altLang="en-US" sz="28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 useBgFill="1">
          <p:nvSpPr>
            <p:cNvPr id="16" name="左大括号 39"/>
            <p:cNvSpPr/>
            <p:nvPr/>
          </p:nvSpPr>
          <p:spPr>
            <a:xfrm>
              <a:off x="3658300" y="4854410"/>
              <a:ext cx="210187" cy="672465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7" name="文本框 2"/>
            <p:cNvSpPr txBox="1">
              <a:spLocks noChangeArrowheads="1"/>
            </p:cNvSpPr>
            <p:nvPr/>
          </p:nvSpPr>
          <p:spPr bwMode="auto">
            <a:xfrm>
              <a:off x="3952511" y="4659688"/>
              <a:ext cx="1689004" cy="4901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可热处理强化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204864"/>
            <a:ext cx="8496944" cy="2664296"/>
          </a:xfrm>
        </p:spPr>
        <p:txBody>
          <a:bodyPr/>
          <a:lstStyle/>
          <a:p>
            <a:r>
              <a:rPr lang="zh-CN" altLang="en-US" sz="5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三、铝合金的热处理</a:t>
            </a:r>
            <a:r>
              <a:rPr lang="zh-CN" altLang="en-US" sz="4400" b="1" dirty="0">
                <a:ea typeface="楷体_GB2312" pitchFamily="49" charset="-122"/>
              </a:rPr>
              <a:t> </a:t>
            </a:r>
            <a:br>
              <a:rPr lang="en-US" altLang="zh-CN" sz="5400" b="1" dirty="0">
                <a:solidFill>
                  <a:schemeClr val="tx2"/>
                </a:solidFill>
                <a:ea typeface="华文中宋" panose="02010600040101010101" pitchFamily="2" charset="-122"/>
              </a:rPr>
            </a:br>
            <a:r>
              <a:rPr lang="en-US" altLang="zh-CN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Heat treatment of aluminum alloys</a:t>
            </a:r>
            <a:r>
              <a:rPr lang="zh-CN" altLang="en-US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32124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132376" y="36832"/>
            <a:ext cx="7296150" cy="754565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三、铝合金的热处理</a:t>
            </a:r>
            <a:r>
              <a:rPr lang="zh-CN" altLang="en-US" sz="3600" b="1" dirty="0">
                <a:ea typeface="楷体_GB2312" pitchFamily="49" charset="-122"/>
              </a:rPr>
              <a:t> 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295212" y="4272856"/>
            <a:ext cx="8281615" cy="2286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淬火</a:t>
            </a:r>
            <a:r>
              <a:rPr lang="zh-CN" altLang="en-US" b="1" dirty="0">
                <a:ea typeface="华文中宋" panose="02010600040101010101" pitchFamily="2" charset="-122"/>
              </a:rPr>
              <a:t>后获得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过饱和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单相固溶体</a:t>
            </a:r>
            <a:r>
              <a:rPr lang="zh-CN" altLang="en-US" b="1" dirty="0">
                <a:ea typeface="华文中宋" panose="02010600040101010101" pitchFamily="2" charset="-122"/>
              </a:rPr>
              <a:t>组织。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时效：将过饱和的固溶体加热到固溶线以下某温度保温，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以析出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弥散强化相。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28681" name="Rectangle 9"/>
          <p:cNvSpPr/>
          <p:nvPr/>
        </p:nvSpPr>
        <p:spPr>
          <a:xfrm>
            <a:off x="250825" y="908720"/>
            <a:ext cx="4830214" cy="33775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可热处理强化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变形铝合金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的热处理方法：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3200" dirty="0">
                <a:solidFill>
                  <a:srgbClr val="CCFF33"/>
                </a:solidFill>
                <a:ea typeface="华文中宋" panose="02010600040101010101" pitchFamily="2" charset="-122"/>
              </a:rPr>
              <a:t>       </a:t>
            </a:r>
            <a:r>
              <a:rPr lang="zh-CN" altLang="en-US" sz="32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固溶处理  </a:t>
            </a:r>
            <a:r>
              <a:rPr lang="en-US" altLang="zh-CN" sz="32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  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时效</a:t>
            </a: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固溶处理：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将合金加热到</a:t>
            </a:r>
            <a:r>
              <a:rPr lang="zh-CN" altLang="en-US" sz="3200" dirty="0">
                <a:solidFill>
                  <a:srgbClr val="CCFF33"/>
                </a:solidFill>
                <a:ea typeface="华文中宋" panose="02010600040101010101" pitchFamily="2" charset="-122"/>
              </a:rPr>
              <a:t>固溶线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以上，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保温并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8"/>
          <p:cNvGrpSpPr>
            <a:grpSpLocks noChangeAspect="1"/>
          </p:cNvGrpSpPr>
          <p:nvPr/>
        </p:nvGrpSpPr>
        <p:grpSpPr>
          <a:xfrm>
            <a:off x="5580380" y="1060450"/>
            <a:ext cx="3361055" cy="3104515"/>
            <a:chOff x="2928" y="336"/>
            <a:chExt cx="2496" cy="2304"/>
          </a:xfrm>
        </p:grpSpPr>
        <p:pic>
          <p:nvPicPr>
            <p:cNvPr id="14345" name="Picture 10" descr="铝合金的热处理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" y="336"/>
              <a:ext cx="2496" cy="2304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346" name="Line 11"/>
            <p:cNvSpPr>
              <a:spLocks noChangeAspect="1"/>
            </p:cNvSpPr>
            <p:nvPr/>
          </p:nvSpPr>
          <p:spPr>
            <a:xfrm flipH="1" flipV="1">
              <a:off x="4716" y="888"/>
              <a:ext cx="228" cy="120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7" name="Text Box 12"/>
            <p:cNvSpPr txBox="1">
              <a:spLocks noChangeAspect="1"/>
            </p:cNvSpPr>
            <p:nvPr/>
          </p:nvSpPr>
          <p:spPr>
            <a:xfrm>
              <a:off x="4716" y="1025"/>
              <a:ext cx="67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1200" b="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加热固溶</a:t>
              </a:r>
            </a:p>
          </p:txBody>
        </p:sp>
        <p:sp>
          <p:nvSpPr>
            <p:cNvPr id="14348" name="Line 14"/>
            <p:cNvSpPr>
              <a:spLocks noChangeAspect="1"/>
            </p:cNvSpPr>
            <p:nvPr/>
          </p:nvSpPr>
          <p:spPr>
            <a:xfrm>
              <a:off x="4272" y="2016"/>
              <a:ext cx="288" cy="144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9" name="Text Box 15"/>
            <p:cNvSpPr txBox="1">
              <a:spLocks noChangeAspect="1"/>
            </p:cNvSpPr>
            <p:nvPr/>
          </p:nvSpPr>
          <p:spPr>
            <a:xfrm>
              <a:off x="3792" y="1860"/>
              <a:ext cx="720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200" b="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淬火过饱和</a:t>
              </a:r>
            </a:p>
          </p:txBody>
        </p:sp>
        <p:sp>
          <p:nvSpPr>
            <p:cNvPr id="14350" name="Line 16"/>
            <p:cNvSpPr>
              <a:spLocks noChangeAspect="1"/>
            </p:cNvSpPr>
            <p:nvPr/>
          </p:nvSpPr>
          <p:spPr>
            <a:xfrm flipH="1">
              <a:off x="4752" y="1584"/>
              <a:ext cx="96" cy="96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1" name="Text Box 17"/>
            <p:cNvSpPr txBox="1">
              <a:spLocks noChangeAspect="1"/>
            </p:cNvSpPr>
            <p:nvPr/>
          </p:nvSpPr>
          <p:spPr>
            <a:xfrm>
              <a:off x="4655" y="1428"/>
              <a:ext cx="673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1200" b="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时效析出</a:t>
              </a:r>
            </a:p>
          </p:txBody>
        </p:sp>
      </p:grpSp>
      <p:sp>
        <p:nvSpPr>
          <p:cNvPr id="1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ldLvl="0" animBg="1"/>
      <p:bldP spid="28675" grpId="0" build="p" advAuto="1000"/>
      <p:bldP spid="2868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3786188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时  效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251460" y="714375"/>
            <a:ext cx="5955665" cy="59194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时效强化效果  与 加热温度 </a:t>
            </a:r>
            <a:r>
              <a:rPr lang="zh-CN" altLang="en-US" sz="2800" b="1" dirty="0">
                <a:ea typeface="华文中宋" panose="02010600040101010101" pitchFamily="2" charset="-122"/>
              </a:rPr>
              <a:t>和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保温时间 有关（图）：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温度一定时</a:t>
            </a:r>
            <a:r>
              <a:rPr lang="zh-CN" altLang="en-US" sz="2800" b="1" dirty="0">
                <a:ea typeface="华文中宋" panose="02010600040101010101" pitchFamily="2" charset="-122"/>
              </a:rPr>
              <a:t>，随时效时间延长，时效曲线上出现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峰值</a:t>
            </a:r>
            <a:r>
              <a:rPr lang="zh-CN" altLang="en-US" sz="2800" b="1" dirty="0"/>
              <a:t>，超过峰值时间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析出相聚集长大，强度下降，为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过时效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</a:rPr>
              <a:t>）随时效温度提高，峰值强度下降，出现峰值的时间提前。</a:t>
            </a:r>
            <a:endParaRPr lang="en-US" altLang="zh-CN" sz="2800" b="1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800" b="1" dirty="0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372498" y="2780665"/>
            <a:ext cx="2657965" cy="2316866"/>
            <a:chOff x="2934" y="1920"/>
            <a:chExt cx="2130" cy="2297"/>
          </a:xfrm>
        </p:grpSpPr>
        <p:pic>
          <p:nvPicPr>
            <p:cNvPr id="15368" name="Picture 5" descr="时效对性能影响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" y="1920"/>
              <a:ext cx="2130" cy="196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369" name="Rectangle 6"/>
            <p:cNvSpPr>
              <a:spLocks noChangeAspect="1"/>
            </p:cNvSpPr>
            <p:nvPr/>
          </p:nvSpPr>
          <p:spPr>
            <a:xfrm>
              <a:off x="2935" y="3888"/>
              <a:ext cx="2125" cy="329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含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4%Cu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铝合金的时效曲线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370" name="Text Box 7"/>
            <p:cNvSpPr txBox="1">
              <a:spLocks noChangeAspect="1"/>
            </p:cNvSpPr>
            <p:nvPr/>
          </p:nvSpPr>
          <p:spPr>
            <a:xfrm>
              <a:off x="3799" y="3667"/>
              <a:ext cx="941" cy="273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时效时间</a:t>
              </a:r>
              <a:r>
                <a:rPr lang="en-US" altLang="zh-CN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/d</a:t>
              </a:r>
            </a:p>
          </p:txBody>
        </p:sp>
      </p:grp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/>
          <p:nvPr/>
        </p:nvSpPr>
        <p:spPr bwMode="auto">
          <a:xfrm>
            <a:off x="8758555" y="6595745"/>
            <a:ext cx="386080" cy="262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229360" y="1268730"/>
            <a:ext cx="1049020" cy="4337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时效</a:t>
            </a:r>
          </a:p>
        </p:txBody>
      </p:sp>
      <p:sp>
        <p:nvSpPr>
          <p:cNvPr id="4" name="左大括号 39"/>
          <p:cNvSpPr/>
          <p:nvPr/>
        </p:nvSpPr>
        <p:spPr>
          <a:xfrm>
            <a:off x="2366010" y="1195705"/>
            <a:ext cx="173990" cy="617855"/>
          </a:xfrm>
          <a:prstGeom prst="leftBrace">
            <a:avLst>
              <a:gd name="adj1" fmla="val 47157"/>
              <a:gd name="adj2" fmla="val 50000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5" name="文本框 2"/>
          <p:cNvSpPr txBox="1">
            <a:spLocks noChangeArrowheads="1"/>
          </p:cNvSpPr>
          <p:nvPr/>
        </p:nvSpPr>
        <p:spPr bwMode="auto">
          <a:xfrm>
            <a:off x="2627630" y="1009650"/>
            <a:ext cx="4046855" cy="460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自然时效（在室温下进行）</a:t>
            </a:r>
            <a:endParaRPr lang="zh-CN" altLang="en-US" b="1" kern="100" dirty="0">
              <a:solidFill>
                <a:srgbClr val="FF0000"/>
              </a:solidFill>
              <a:latin typeface="微软雅黑" panose="020B0503020204020204" charset="-122"/>
              <a:ea typeface="华文中宋" panose="0201060004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文本框 2"/>
          <p:cNvSpPr txBox="1">
            <a:spLocks noChangeArrowheads="1"/>
          </p:cNvSpPr>
          <p:nvPr/>
        </p:nvSpPr>
        <p:spPr bwMode="auto">
          <a:xfrm>
            <a:off x="2627630" y="1527175"/>
            <a:ext cx="4036695" cy="460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人工时效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（加热条件下进行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86965" y="0"/>
            <a:ext cx="5325745" cy="78613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folHlink"/>
                </a:solidFill>
                <a:uLnTx/>
                <a:uFillTx/>
                <a:ea typeface="华文中宋" panose="02010600040101010101" pitchFamily="2" charset="-122"/>
                <a:sym typeface="+mn-ea"/>
              </a:rPr>
              <a:t>铝合金的热处理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2125345" y="1742440"/>
            <a:ext cx="6031865" cy="40443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sz="2800" b="1" dirty="0">
              <a:solidFill>
                <a:schemeClr val="folHlink"/>
              </a:solidFill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/>
          <p:nvPr/>
        </p:nvSpPr>
        <p:spPr bwMode="auto">
          <a:xfrm>
            <a:off x="8758555" y="6595745"/>
            <a:ext cx="386080" cy="262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388" name="Group 3085"/>
          <p:cNvGrpSpPr>
            <a:grpSpLocks noChangeAspect="1"/>
          </p:cNvGrpSpPr>
          <p:nvPr/>
        </p:nvGrpSpPr>
        <p:grpSpPr>
          <a:xfrm>
            <a:off x="2477770" y="1253490"/>
            <a:ext cx="5679440" cy="5351780"/>
            <a:chOff x="1584" y="96"/>
            <a:chExt cx="4022" cy="4081"/>
          </a:xfrm>
        </p:grpSpPr>
        <p:grpSp>
          <p:nvGrpSpPr>
            <p:cNvPr id="16390" name="Group 3083"/>
            <p:cNvGrpSpPr>
              <a:grpSpLocks noChangeAspect="1"/>
            </p:cNvGrpSpPr>
            <p:nvPr/>
          </p:nvGrpSpPr>
          <p:grpSpPr>
            <a:xfrm>
              <a:off x="1584" y="96"/>
              <a:ext cx="4022" cy="4081"/>
              <a:chOff x="1584" y="96"/>
              <a:chExt cx="4022" cy="4081"/>
            </a:xfrm>
          </p:grpSpPr>
          <p:grpSp>
            <p:nvGrpSpPr>
              <p:cNvPr id="16392" name="Group 3080"/>
              <p:cNvGrpSpPr>
                <a:grpSpLocks noChangeAspect="1"/>
              </p:cNvGrpSpPr>
              <p:nvPr/>
            </p:nvGrpSpPr>
            <p:grpSpPr>
              <a:xfrm>
                <a:off x="1584" y="96"/>
                <a:ext cx="4022" cy="4081"/>
                <a:chOff x="1584" y="96"/>
                <a:chExt cx="4022" cy="4081"/>
              </a:xfrm>
            </p:grpSpPr>
            <p:grpSp>
              <p:nvGrpSpPr>
                <p:cNvPr id="16395" name="Group 3078"/>
                <p:cNvGrpSpPr>
                  <a:grpSpLocks noChangeAspect="1"/>
                </p:cNvGrpSpPr>
                <p:nvPr/>
              </p:nvGrpSpPr>
              <p:grpSpPr>
                <a:xfrm>
                  <a:off x="1584" y="96"/>
                  <a:ext cx="4022" cy="4081"/>
                  <a:chOff x="1584" y="96"/>
                  <a:chExt cx="4022" cy="4081"/>
                </a:xfrm>
              </p:grpSpPr>
              <p:pic>
                <p:nvPicPr>
                  <p:cNvPr id="16397" name="Picture 3076" descr="铝合金的热处理1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1584" y="96"/>
                    <a:ext cx="4022" cy="408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398" name="Rectangle 3077"/>
                  <p:cNvSpPr>
                    <a:spLocks noChangeAspect="1"/>
                  </p:cNvSpPr>
                  <p:nvPr/>
                </p:nvSpPr>
                <p:spPr>
                  <a:xfrm>
                    <a:off x="3264" y="3936"/>
                    <a:ext cx="768" cy="192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lvl="0" eaLnBrk="1" hangingPunct="1"/>
                    <a:r>
                      <a:rPr lang="zh-CN" altLang="en-US" sz="20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时效时间</a:t>
                    </a:r>
                  </a:p>
                </p:txBody>
              </p:sp>
            </p:grpSp>
            <p:sp>
              <p:nvSpPr>
                <p:cNvPr id="16396" name="Rectangle 3079"/>
                <p:cNvSpPr>
                  <a:spLocks noChangeAspect="1"/>
                </p:cNvSpPr>
                <p:nvPr/>
              </p:nvSpPr>
              <p:spPr>
                <a:xfrm rot="-5385575">
                  <a:off x="1224" y="2856"/>
                  <a:ext cx="912" cy="192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r" eaLnBrk="1" hangingPunct="1"/>
                  <a:r>
                    <a:rPr lang="zh-CN" altLang="en-US" sz="20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屈服强度</a:t>
                  </a:r>
                </a:p>
              </p:txBody>
            </p:sp>
          </p:grpSp>
          <p:sp>
            <p:nvSpPr>
              <p:cNvPr id="16393" name="Rectangle 3081"/>
              <p:cNvSpPr>
                <a:spLocks noChangeAspect="1"/>
              </p:cNvSpPr>
              <p:nvPr/>
            </p:nvSpPr>
            <p:spPr>
              <a:xfrm>
                <a:off x="4032" y="3000"/>
                <a:ext cx="336" cy="336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时效峰</a:t>
                </a:r>
              </a:p>
            </p:txBody>
          </p:sp>
          <p:sp>
            <p:nvSpPr>
              <p:cNvPr id="16394" name="Rectangle 3082"/>
              <p:cNvSpPr>
                <a:spLocks noChangeAspect="1"/>
              </p:cNvSpPr>
              <p:nvPr/>
            </p:nvSpPr>
            <p:spPr>
              <a:xfrm>
                <a:off x="4512" y="3432"/>
                <a:ext cx="624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过时效</a:t>
                </a:r>
              </a:p>
            </p:txBody>
          </p:sp>
        </p:grpSp>
        <p:sp>
          <p:nvSpPr>
            <p:cNvPr id="16391" name="Rectangle 3084"/>
            <p:cNvSpPr>
              <a:spLocks noChangeAspect="1"/>
            </p:cNvSpPr>
            <p:nvPr/>
          </p:nvSpPr>
          <p:spPr>
            <a:xfrm>
              <a:off x="3216" y="3432"/>
              <a:ext cx="768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亚时效</a:t>
              </a:r>
            </a:p>
          </p:txBody>
        </p:sp>
      </p:grp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18605"/>
            <a:ext cx="428625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33466" y="2096852"/>
            <a:ext cx="8928992" cy="2664296"/>
          </a:xfrm>
        </p:spPr>
        <p:txBody>
          <a:bodyPr/>
          <a:lstStyle/>
          <a:p>
            <a:r>
              <a:rPr lang="zh-CN" altLang="en-US" sz="4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四、铝合金的牌号、性能及用途</a:t>
            </a:r>
            <a:r>
              <a:rPr lang="zh-CN" altLang="en-US" sz="4800" b="1" dirty="0"/>
              <a:t> </a:t>
            </a:r>
            <a:br>
              <a:rPr lang="en-US" altLang="zh-CN" sz="5400" b="1" dirty="0">
                <a:solidFill>
                  <a:schemeClr val="tx2"/>
                </a:solidFill>
                <a:ea typeface="华文中宋" panose="02010600040101010101" pitchFamily="2" charset="-122"/>
              </a:rPr>
            </a:br>
            <a:r>
              <a:rPr lang="en-US" altLang="zh-CN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Numbering, performance and application of aluminum alloys</a:t>
            </a:r>
            <a:r>
              <a:rPr lang="zh-CN" altLang="en-US" sz="54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26365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042988" y="0"/>
            <a:ext cx="8101012" cy="908050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四、铝合金的牌号、性能及用途</a:t>
            </a:r>
            <a:r>
              <a:rPr lang="zh-CN" altLang="en-US" sz="3600" b="1" dirty="0"/>
              <a:t> 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228600" y="1292478"/>
            <a:ext cx="8534400" cy="364869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、变形铝合金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99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变形铝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铝合金  牌号表示方法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GB/T16474-1996</a:t>
            </a:r>
            <a:r>
              <a:rPr lang="zh-CN" altLang="en-US" b="1" dirty="0">
                <a:ea typeface="华文中宋" panose="02010600040101010101" pitchFamily="2" charset="-122"/>
              </a:rPr>
              <a:t>规定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：变形铝及铝合金</a:t>
            </a:r>
            <a:r>
              <a:rPr lang="zh-CN" altLang="en-US" b="1" dirty="0">
                <a:ea typeface="华文中宋" panose="02010600040101010101" pitchFamily="2" charset="-122"/>
              </a:rPr>
              <a:t>可直接引用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国际四位数字体系牌号 </a:t>
            </a:r>
            <a:r>
              <a:rPr lang="zh-CN" altLang="en-US" b="1" dirty="0">
                <a:ea typeface="华文中宋" panose="02010600040101010101" pitchFamily="2" charset="-122"/>
              </a:rPr>
              <a:t>或 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国标</a:t>
            </a:r>
            <a:r>
              <a:rPr lang="zh-CN" altLang="en-US" b="1" dirty="0">
                <a:ea typeface="华文中宋" panose="02010600040101010101" pitchFamily="2" charset="-122"/>
              </a:rPr>
              <a:t>规定的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四位字符牌号。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28600" y="4851181"/>
            <a:ext cx="8748464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kumimoji="1" lang="en-US" altLang="zh-CN" sz="3200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GB/T 16474-2011  </a:t>
            </a:r>
            <a:r>
              <a:rPr kumimoji="1" lang="zh-CN" altLang="en-US" sz="3200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变形铝及铝合金牌号表示方法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ldLvl="0" animBg="1"/>
      <p:bldP spid="29699" grpId="0" build="p" advAuto="100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260350"/>
            <a:ext cx="75326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变形铝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及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铝合金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牌号表示方法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(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GB/T16474-1996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)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25000"/>
              </a:lnSpc>
            </a:pPr>
            <a:endParaRPr lang="zh-CN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8436" name="Picture 4" descr="《工程材料》T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2969" y="1628775"/>
            <a:ext cx="7718425" cy="473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076190" y="1628775"/>
            <a:ext cx="2249805" cy="3683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GB/T 16474-2011 </a:t>
            </a:r>
            <a:r>
              <a:rPr lang="en-US" altLang="zh-CN" sz="1400" dirty="0">
                <a:solidFill>
                  <a:srgbClr val="FF0000"/>
                </a:solidFill>
              </a:rPr>
              <a:t> 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905707" y="1002776"/>
            <a:ext cx="7605658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kumimoji="1" lang="en-US" altLang="zh-CN" sz="2800" i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GB/T 16474-2011  </a:t>
            </a:r>
            <a:r>
              <a:rPr kumimoji="1" lang="zh-CN" altLang="en-US" sz="2800" i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变形铝及铝合金牌号表示方法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72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变形铝及铝合金牌号表示方法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395605" y="980440"/>
            <a:ext cx="8640763" cy="424021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GB 3190-82</a:t>
            </a:r>
            <a:r>
              <a:rPr lang="zh-CN" altLang="en-US" b="1" dirty="0">
                <a:ea typeface="华文中宋" panose="02010600040101010101" pitchFamily="2" charset="-122"/>
              </a:rPr>
              <a:t>中的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旧牌号仍可继续使用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表示方法为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:</a:t>
            </a:r>
          </a:p>
          <a:p>
            <a:pPr eaLnBrk="1" hangingPunct="1">
              <a:lnSpc>
                <a:spcPct val="115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 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防锈铝合金：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LF 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序号</a:t>
            </a: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硬铝合金</a:t>
            </a:r>
            <a:r>
              <a:rPr lang="zh-CN" altLang="en-US" b="1" dirty="0">
                <a:ea typeface="华文中宋" panose="02010600040101010101" pitchFamily="2" charset="-122"/>
              </a:rPr>
              <a:t>： 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LY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序号</a:t>
            </a: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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超硬铝合金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LC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序号</a:t>
            </a: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 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锻铝合金</a:t>
            </a:r>
            <a:r>
              <a:rPr lang="zh-CN" altLang="en-US" b="1" dirty="0">
                <a:ea typeface="华文中宋" panose="02010600040101010101" pitchFamily="2" charset="-122"/>
              </a:rPr>
              <a:t>： 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LD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序号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2214563" y="2286000"/>
            <a:ext cx="6499225" cy="4424363"/>
            <a:chOff x="380" y="432"/>
            <a:chExt cx="5112" cy="3640"/>
          </a:xfrm>
        </p:grpSpPr>
        <p:grpSp>
          <p:nvGrpSpPr>
            <p:cNvPr id="19464" name="Group 5"/>
            <p:cNvGrpSpPr/>
            <p:nvPr/>
          </p:nvGrpSpPr>
          <p:grpSpPr>
            <a:xfrm>
              <a:off x="3264" y="432"/>
              <a:ext cx="2228" cy="3512"/>
              <a:chOff x="3312" y="432"/>
              <a:chExt cx="2228" cy="3512"/>
            </a:xfrm>
          </p:grpSpPr>
          <p:grpSp>
            <p:nvGrpSpPr>
              <p:cNvPr id="19468" name="Group 6"/>
              <p:cNvGrpSpPr>
                <a:grpSpLocks noChangeAspect="1"/>
              </p:cNvGrpSpPr>
              <p:nvPr/>
            </p:nvGrpSpPr>
            <p:grpSpPr>
              <a:xfrm>
                <a:off x="3312" y="432"/>
                <a:ext cx="2222" cy="3512"/>
                <a:chOff x="3264" y="432"/>
                <a:chExt cx="2354" cy="3721"/>
              </a:xfrm>
            </p:grpSpPr>
            <p:pic>
              <p:nvPicPr>
                <p:cNvPr id="19470" name="Picture 7" descr="铝合金制品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264" y="432"/>
                  <a:ext cx="2269" cy="1985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19471" name="Picture 8" descr="铝合金波纹管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264" y="2544"/>
                  <a:ext cx="2272" cy="1609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43369" name="Text Box 9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973" y="2505"/>
                  <a:ext cx="1645" cy="34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CFF33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铝合金波纹管</a:t>
                  </a:r>
                </a:p>
              </p:txBody>
            </p:sp>
          </p:grpSp>
          <p:sp>
            <p:nvSpPr>
              <p:cNvPr id="143370" name="Text Box 10"/>
              <p:cNvSpPr txBox="1">
                <a:spLocks noChangeArrowheads="1"/>
              </p:cNvSpPr>
              <p:nvPr/>
            </p:nvSpPr>
            <p:spPr bwMode="auto">
              <a:xfrm>
                <a:off x="5177" y="1204"/>
                <a:ext cx="363" cy="1172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铝合金制品</a:t>
                </a:r>
              </a:p>
            </p:txBody>
          </p:sp>
        </p:grpSp>
        <p:grpSp>
          <p:nvGrpSpPr>
            <p:cNvPr id="19465" name="Group 11"/>
            <p:cNvGrpSpPr/>
            <p:nvPr/>
          </p:nvGrpSpPr>
          <p:grpSpPr>
            <a:xfrm>
              <a:off x="380" y="2688"/>
              <a:ext cx="2360" cy="1384"/>
              <a:chOff x="380" y="2736"/>
              <a:chExt cx="2360" cy="1384"/>
            </a:xfrm>
          </p:grpSpPr>
          <p:pic>
            <p:nvPicPr>
              <p:cNvPr id="19466" name="Picture 12" descr="铝是可以回收利用的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28" y="2736"/>
                <a:ext cx="2040" cy="128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43373" name="Text Box 13"/>
              <p:cNvSpPr txBox="1">
                <a:spLocks noChangeArrowheads="1"/>
              </p:cNvSpPr>
              <p:nvPr/>
            </p:nvSpPr>
            <p:spPr bwMode="auto">
              <a:xfrm>
                <a:off x="380" y="3791"/>
                <a:ext cx="2360" cy="329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铝是可以回收利用的金属</a:t>
                </a:r>
              </a:p>
            </p:txBody>
          </p:sp>
        </p:grpSp>
      </p:grpSp>
      <p:sp>
        <p:nvSpPr>
          <p:cNvPr id="1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1615"/>
            <a:ext cx="386080" cy="28638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-32252"/>
            <a:ext cx="64071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常用变形铝合金</a:t>
            </a: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1331913" y="1700213"/>
            <a:ext cx="6980237" cy="4395787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防锈铝合金</a:t>
            </a: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 硬铝合金</a:t>
            </a: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③ 超硬铝合金</a:t>
            </a: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④ 锻铝合金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6925" y="3651"/>
            <a:ext cx="501015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①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防锈铝合金</a:t>
            </a: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178753" y="1003618"/>
            <a:ext cx="8785225" cy="47561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主要是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Al-Mn </a:t>
            </a:r>
            <a:r>
              <a:rPr lang="zh-CN" altLang="en-US" b="1" dirty="0">
                <a:ea typeface="华文中宋" panose="02010600040101010101" pitchFamily="2" charset="-122"/>
              </a:rPr>
              <a:t>和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Al-Mg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系 合金。</a:t>
            </a:r>
          </a:p>
          <a:p>
            <a:pPr eaLnBrk="1" hangingPunct="1"/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Mg</a:t>
            </a:r>
            <a:r>
              <a:rPr lang="zh-CN" altLang="en-US" b="1" dirty="0">
                <a:ea typeface="华文中宋" panose="02010600040101010101" pitchFamily="2" charset="-122"/>
              </a:rPr>
              <a:t>主要作用：</a:t>
            </a:r>
            <a:r>
              <a:rPr lang="zh-CN" altLang="en-US" b="1" dirty="0"/>
              <a:t>提高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抗蚀能力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</a:t>
            </a:r>
            <a:r>
              <a:rPr lang="zh-CN" altLang="en-US" b="1" dirty="0"/>
              <a:t>、起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固溶强化</a:t>
            </a:r>
            <a:r>
              <a:rPr lang="zh-CN" altLang="en-US" b="1" dirty="0"/>
              <a:t>作用。</a:t>
            </a:r>
            <a:endParaRPr lang="zh-CN" altLang="en-US" b="1" dirty="0">
              <a:solidFill>
                <a:srgbClr val="CCFF33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</a:rPr>
              <a:t>锻造退火后组织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单相固溶体</a:t>
            </a:r>
            <a:r>
              <a:rPr lang="zh-CN" altLang="en-US" b="1" dirty="0">
                <a:solidFill>
                  <a:srgbClr val="CCFF33"/>
                </a:solidFill>
              </a:rPr>
              <a:t>，抗蚀性、焊接性能好，易于变形加工，</a:t>
            </a:r>
            <a:r>
              <a:rPr lang="zh-CN" altLang="en-US" b="1" dirty="0"/>
              <a:t>但</a:t>
            </a:r>
            <a:r>
              <a:rPr lang="zh-CN" altLang="en-US" b="1" dirty="0">
                <a:solidFill>
                  <a:srgbClr val="CCFF33"/>
                </a:solidFill>
              </a:rPr>
              <a:t>切削性能差。</a:t>
            </a: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不能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热处理强化</a:t>
            </a:r>
            <a:r>
              <a:rPr lang="zh-CN" altLang="en-US" b="1" dirty="0"/>
              <a:t>，常利用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加工硬化</a:t>
            </a:r>
            <a:r>
              <a:rPr lang="zh-CN" altLang="en-US" b="1" dirty="0"/>
              <a:t>提高其强度。</a:t>
            </a:r>
            <a:r>
              <a:rPr lang="zh-CN" altLang="en-US" dirty="0"/>
              <a:t> 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2286000" y="4364673"/>
            <a:ext cx="4518025" cy="1981200"/>
            <a:chOff x="2762" y="459"/>
            <a:chExt cx="2846" cy="1701"/>
          </a:xfrm>
        </p:grpSpPr>
        <p:pic>
          <p:nvPicPr>
            <p:cNvPr id="21512" name="Picture 5" descr="防锈铝LF2（超小型卫星抛物面天线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2" y="459"/>
              <a:ext cx="2566" cy="170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3" name="Text Box 6"/>
            <p:cNvSpPr txBox="1"/>
            <p:nvPr/>
          </p:nvSpPr>
          <p:spPr>
            <a:xfrm>
              <a:off x="4348" y="1817"/>
              <a:ext cx="1260" cy="34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卫星天线（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LF2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8605"/>
            <a:ext cx="386080" cy="24003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0"/>
            <a:ext cx="691038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①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防锈铝合金</a:t>
            </a: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179512" y="887412"/>
            <a:ext cx="6500813" cy="556592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常用的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Al-Mn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系 合金 有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LF21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3A21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，其抗蚀性和强度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高于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纯铝，应用：油罐、油箱、管道、铆钉等需要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弯曲、冲压加工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零件。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常用的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Al-Mg</a:t>
            </a:r>
            <a:r>
              <a:rPr lang="zh-CN" altLang="en-US" sz="2800" b="1" dirty="0">
                <a:ea typeface="华文中宋" panose="02010600040101010101" pitchFamily="2" charset="-122"/>
              </a:rPr>
              <a:t>系合金 有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LF5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5A05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sz="2800" b="1" dirty="0">
                <a:ea typeface="华文中宋" panose="02010600040101010101" pitchFamily="2" charset="-122"/>
              </a:rPr>
              <a:t>,  </a:t>
            </a:r>
            <a:r>
              <a:rPr lang="zh-CN" altLang="en-US" sz="2800" b="1" dirty="0">
                <a:ea typeface="华文中宋" panose="02010600040101010101" pitchFamily="2" charset="-122"/>
              </a:rPr>
              <a:t>密度比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纯铝</a:t>
            </a:r>
            <a:r>
              <a:rPr lang="zh-CN" altLang="en-US" sz="2800" b="1" dirty="0"/>
              <a:t>小，强度比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Al-Mn</a:t>
            </a:r>
            <a:r>
              <a:rPr lang="zh-CN" altLang="en-US" sz="2800" b="1" dirty="0"/>
              <a:t>合金高，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sz="2800" b="1" dirty="0"/>
              <a:t>广泛应用于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航空</a:t>
            </a:r>
            <a:r>
              <a:rPr lang="zh-CN" altLang="en-US" sz="2800" b="1" dirty="0"/>
              <a:t>工业，如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管道、容器、铆钉</a:t>
            </a:r>
            <a:r>
              <a:rPr lang="zh-CN" altLang="en-US" sz="2800" b="1" dirty="0"/>
              <a:t>及承受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中等载荷</a:t>
            </a:r>
            <a:r>
              <a:rPr lang="zh-CN" altLang="en-US" sz="2800" b="1" dirty="0"/>
              <a:t>的零件。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804025" y="1974850"/>
            <a:ext cx="2339975" cy="3325813"/>
            <a:chOff x="2832" y="1872"/>
            <a:chExt cx="2544" cy="2041"/>
          </a:xfrm>
        </p:grpSpPr>
        <p:pic>
          <p:nvPicPr>
            <p:cNvPr id="22536" name="Picture 5" descr="汽化器（热交换管为LF21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2" y="1872"/>
              <a:ext cx="2519" cy="204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6438" name="Text Box 6"/>
            <p:cNvSpPr txBox="1">
              <a:spLocks noChangeAspect="1" noChangeArrowheads="1"/>
            </p:cNvSpPr>
            <p:nvPr/>
          </p:nvSpPr>
          <p:spPr bwMode="auto">
            <a:xfrm>
              <a:off x="3745" y="3027"/>
              <a:ext cx="1631" cy="359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汽化器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热交换管为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LF21)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4968240" cy="9309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硬铝合金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323850" y="1052513"/>
            <a:ext cx="8569325" cy="50180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主要是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Al-Cu-Mg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系合金，并含少量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强化途径：时效强化、形变强化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特点：强度、硬度高，加工性能好，耐蚀性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低于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防锈铝。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chemeClr val="folHlink"/>
                </a:solidFill>
              </a:rPr>
              <a:t>LY11</a:t>
            </a:r>
            <a:r>
              <a:rPr lang="en-US" altLang="zh-CN" b="1" dirty="0"/>
              <a:t> (</a:t>
            </a:r>
            <a:r>
              <a:rPr lang="en-US" altLang="zh-CN" b="1" dirty="0">
                <a:solidFill>
                  <a:srgbClr val="CCFF33"/>
                </a:solidFill>
              </a:rPr>
              <a:t>2A11</a:t>
            </a:r>
            <a:r>
              <a:rPr lang="en-US" altLang="zh-CN" b="1" dirty="0"/>
              <a:t>)</a:t>
            </a:r>
            <a:r>
              <a:rPr lang="zh-CN" altLang="en-US" b="1" dirty="0"/>
              <a:t>、 </a:t>
            </a:r>
            <a:r>
              <a:rPr lang="en-US" altLang="zh-CN" b="1" dirty="0">
                <a:solidFill>
                  <a:schemeClr val="folHlink"/>
                </a:solidFill>
              </a:rPr>
              <a:t>LY12</a:t>
            </a:r>
            <a:r>
              <a:rPr lang="en-US" altLang="zh-CN" b="1" dirty="0"/>
              <a:t> (</a:t>
            </a:r>
            <a:r>
              <a:rPr lang="en-US" altLang="zh-CN" b="1" dirty="0">
                <a:solidFill>
                  <a:srgbClr val="CCFF33"/>
                </a:solidFill>
              </a:rPr>
              <a:t>2A12</a:t>
            </a:r>
            <a:r>
              <a:rPr lang="en-US" altLang="zh-CN" b="1" dirty="0"/>
              <a:t>)</a:t>
            </a:r>
            <a:r>
              <a:rPr lang="zh-CN" altLang="en-US" b="1" dirty="0"/>
              <a:t>等，应用：</a:t>
            </a:r>
            <a:r>
              <a:rPr lang="zh-CN" altLang="en-US" b="1" dirty="0">
                <a:solidFill>
                  <a:schemeClr val="folHlink"/>
                </a:solidFill>
              </a:rPr>
              <a:t>冲压件、模锻件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铆接件</a:t>
            </a:r>
            <a:r>
              <a:rPr lang="zh-CN" altLang="en-US" b="1" dirty="0"/>
              <a:t>，如</a:t>
            </a:r>
            <a:r>
              <a:rPr lang="zh-CN" altLang="en-US" b="1" dirty="0">
                <a:solidFill>
                  <a:schemeClr val="folHlink"/>
                </a:solidFill>
              </a:rPr>
              <a:t>螺旋桨、梁、铆钉</a:t>
            </a:r>
            <a:r>
              <a:rPr lang="zh-CN" altLang="en-US" b="1" dirty="0"/>
              <a:t>等。</a:t>
            </a:r>
            <a:endParaRPr lang="en-US" altLang="zh-CN" b="1" dirty="0"/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4786313" y="5214938"/>
            <a:ext cx="3211512" cy="1643062"/>
            <a:chOff x="2720" y="2027"/>
            <a:chExt cx="2558" cy="1668"/>
          </a:xfrm>
        </p:grpSpPr>
        <p:pic>
          <p:nvPicPr>
            <p:cNvPr id="23560" name="Picture 6" descr="飞机翼梁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4" y="2064"/>
              <a:ext cx="2494" cy="163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3561" name="Rectangle 7"/>
            <p:cNvSpPr>
              <a:spLocks noChangeAspect="1"/>
            </p:cNvSpPr>
            <p:nvPr/>
          </p:nvSpPr>
          <p:spPr>
            <a:xfrm>
              <a:off x="3840" y="3312"/>
              <a:ext cx="1296" cy="28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62" name="Text Box 8"/>
            <p:cNvSpPr txBox="1">
              <a:spLocks noChangeAspect="1"/>
            </p:cNvSpPr>
            <p:nvPr/>
          </p:nvSpPr>
          <p:spPr>
            <a:xfrm>
              <a:off x="2720" y="2027"/>
              <a:ext cx="1415" cy="7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飞机翼梁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腹板为硬铝合金</a:t>
              </a: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5760169" cy="9442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③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超硬铝合金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216535" y="1071245"/>
            <a:ext cx="6084570" cy="535813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属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Al-Zn-Mg-Cu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系合金，并含有少量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时效强化效果 </a:t>
            </a:r>
            <a:r>
              <a:rPr lang="en-US" altLang="zh-CN" sz="2800" b="1" dirty="0">
                <a:ea typeface="华文中宋" panose="02010600040101010101" pitchFamily="2" charset="-122"/>
              </a:rPr>
              <a:t>&gt; </a:t>
            </a:r>
            <a:r>
              <a:rPr lang="zh-CN" altLang="en-US" sz="2800" b="1" dirty="0">
                <a:ea typeface="华文中宋" panose="02010600040101010101" pitchFamily="2" charset="-122"/>
              </a:rPr>
              <a:t>硬铝合金。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特点：热态塑性好，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耐蚀性差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常用牌号：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LC4</a:t>
            </a:r>
            <a:r>
              <a:rPr lang="en-US" altLang="zh-CN" sz="2800" b="1" dirty="0">
                <a:ea typeface="华文中宋" panose="02010600040101010101" pitchFamily="2" charset="-122"/>
              </a:rPr>
              <a:t> (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7A04</a:t>
            </a:r>
            <a:r>
              <a:rPr lang="en-US" altLang="zh-CN" sz="2800" b="1" dirty="0">
                <a:ea typeface="华文中宋" panose="02010600040101010101" pitchFamily="2" charset="-122"/>
              </a:rPr>
              <a:t> )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LC9</a:t>
            </a:r>
            <a:r>
              <a:rPr lang="en-US" altLang="zh-CN" sz="2800" b="1" dirty="0">
                <a:ea typeface="华文中宋" panose="02010600040101010101" pitchFamily="2" charset="-122"/>
              </a:rPr>
              <a:t> (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7A09 </a:t>
            </a:r>
            <a:r>
              <a:rPr lang="en-US" altLang="zh-CN" sz="2800" b="1" dirty="0"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等，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应用：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工作温度较低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受力较大的结构件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如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飞机大梁</a:t>
            </a:r>
            <a:r>
              <a:rPr lang="zh-CN" altLang="en-US" sz="1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起落架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r>
              <a:rPr lang="en-US" altLang="zh-CN" sz="2800" b="1" dirty="0">
                <a:ea typeface="华文中宋" panose="02010600040101010101" pitchFamily="2" charset="-122"/>
              </a:rPr>
              <a:t>.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6235700" y="1557338"/>
            <a:ext cx="2908300" cy="4745037"/>
            <a:chOff x="3373" y="576"/>
            <a:chExt cx="2082" cy="3216"/>
          </a:xfrm>
        </p:grpSpPr>
        <p:pic>
          <p:nvPicPr>
            <p:cNvPr id="24584" name="Picture 5" descr="右主起落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6" y="576"/>
              <a:ext cx="1999" cy="317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4585" name="Text Box 6"/>
            <p:cNvSpPr txBox="1"/>
            <p:nvPr/>
          </p:nvSpPr>
          <p:spPr>
            <a:xfrm>
              <a:off x="3373" y="2448"/>
              <a:ext cx="394" cy="1344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飞机主起落架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29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1"/>
            <a:ext cx="5235475" cy="90872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④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锻铝合金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399299" y="904950"/>
            <a:ext cx="8497888" cy="541110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Al-Cu-Mg-Si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系</a:t>
            </a:r>
            <a:r>
              <a:rPr lang="zh-CN" altLang="en-US" b="1" dirty="0">
                <a:solidFill>
                  <a:srgbClr val="FFE5B1"/>
                </a:solidFill>
                <a:ea typeface="华文中宋" panose="02010600040101010101" pitchFamily="2" charset="-122"/>
              </a:rPr>
              <a:t>合金</a:t>
            </a:r>
            <a:endParaRPr lang="en-US" altLang="zh-CN" b="1" dirty="0">
              <a:solidFill>
                <a:srgbClr val="FFE5B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FFE5B1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可锻性好，力学性能高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/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形状复杂的锻件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模锻件，</a:t>
            </a:r>
            <a:r>
              <a:rPr lang="zh-CN" altLang="en-US" b="1" dirty="0">
                <a:solidFill>
                  <a:srgbClr val="FFE5B1"/>
                </a:solidFill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喷气发动机压气机叶轮、导风轮</a:t>
            </a:r>
            <a:r>
              <a:rPr lang="zh-CN" altLang="en-US" b="1" dirty="0"/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endParaRPr lang="en-US" altLang="zh-CN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Al-Cu-Mg-Fe-Ni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系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耐热</a:t>
            </a:r>
            <a:r>
              <a:rPr lang="zh-CN" altLang="en-US" b="1" dirty="0">
                <a:solidFill>
                  <a:srgbClr val="FFE5B1"/>
                </a:solidFill>
              </a:rPr>
              <a:t>锻铝合金</a:t>
            </a:r>
            <a:r>
              <a:rPr lang="zh-CN" altLang="en-US" b="1" dirty="0">
                <a:solidFill>
                  <a:srgbClr val="CCFFFF"/>
                </a:solidFill>
              </a:rPr>
              <a:t>   </a:t>
            </a:r>
            <a:r>
              <a:rPr lang="zh-CN" altLang="en-US" b="1" dirty="0"/>
              <a:t>常用牌号有</a:t>
            </a:r>
            <a:r>
              <a:rPr lang="en-US" altLang="zh-CN" b="1" dirty="0">
                <a:solidFill>
                  <a:schemeClr val="folHlink"/>
                </a:solidFill>
              </a:rPr>
              <a:t>LD7 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CFF33"/>
                </a:solidFill>
              </a:rPr>
              <a:t>2A70</a:t>
            </a:r>
            <a:r>
              <a:rPr lang="en-US" altLang="zh-CN" b="1" dirty="0"/>
              <a:t>)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LD8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CFF33"/>
                </a:solidFill>
              </a:rPr>
              <a:t>2A80</a:t>
            </a:r>
            <a:r>
              <a:rPr lang="en-US" altLang="zh-CN" b="1" dirty="0"/>
              <a:t>)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LD9(</a:t>
            </a:r>
            <a:r>
              <a:rPr lang="en-US" altLang="zh-CN" b="1" dirty="0">
                <a:solidFill>
                  <a:srgbClr val="CCFF33"/>
                </a:solidFill>
              </a:rPr>
              <a:t>2A90</a:t>
            </a:r>
            <a:r>
              <a:rPr lang="en-US" altLang="zh-CN" b="1" dirty="0"/>
              <a:t>)</a:t>
            </a:r>
            <a:r>
              <a:rPr lang="zh-CN" altLang="en-US" b="1" dirty="0"/>
              <a:t>等 。</a:t>
            </a:r>
            <a:r>
              <a:rPr lang="zh-CN" altLang="en-US" b="1" dirty="0">
                <a:solidFill>
                  <a:schemeClr val="folHlink"/>
                </a:solidFill>
              </a:rPr>
              <a:t>应用：</a:t>
            </a:r>
            <a:r>
              <a:rPr lang="en-US" altLang="zh-CN" b="1" dirty="0">
                <a:solidFill>
                  <a:schemeClr val="folHlink"/>
                </a:solidFill>
              </a:rPr>
              <a:t>150 ~225℃</a:t>
            </a:r>
            <a:r>
              <a:rPr lang="zh-CN" altLang="en-US" b="1" dirty="0"/>
              <a:t>下工作的零件，如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压气机叶片、超音速飞机蒙皮</a:t>
            </a:r>
            <a:r>
              <a:rPr lang="zh-CN" altLang="en-US" b="1" dirty="0"/>
              <a:t>等。</a:t>
            </a:r>
          </a:p>
        </p:txBody>
      </p:sp>
      <p:grpSp>
        <p:nvGrpSpPr>
          <p:cNvPr id="25605" name="Group 9"/>
          <p:cNvGrpSpPr/>
          <p:nvPr/>
        </p:nvGrpSpPr>
        <p:grpSpPr>
          <a:xfrm>
            <a:off x="5960226" y="5607934"/>
            <a:ext cx="2784475" cy="1160463"/>
            <a:chOff x="3651" y="3492"/>
            <a:chExt cx="1754" cy="731"/>
          </a:xfrm>
        </p:grpSpPr>
        <p:pic>
          <p:nvPicPr>
            <p:cNvPr id="25608" name="Picture 6" descr="压气机叶片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1" y="3492"/>
              <a:ext cx="1754" cy="68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9511" name="Text Box 7"/>
            <p:cNvSpPr txBox="1">
              <a:spLocks noChangeAspect="1" noChangeArrowheads="1"/>
            </p:cNvSpPr>
            <p:nvPr/>
          </p:nvSpPr>
          <p:spPr bwMode="auto">
            <a:xfrm>
              <a:off x="4045" y="3992"/>
              <a:ext cx="1133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压气机叶片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94420" y="6562090"/>
            <a:ext cx="423545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6630" name="Picture 4" descr="《工程材料》T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405" y="994410"/>
            <a:ext cx="7606665" cy="5567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403266" y="426720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GB/T 3190-2020 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变形铝及铝合金化学成分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4606" t="17498" r="22146" b="8749"/>
          <a:stretch>
            <a:fillRect/>
          </a:stretch>
        </p:blipFill>
        <p:spPr bwMode="auto">
          <a:xfrm>
            <a:off x="1475656" y="900000"/>
            <a:ext cx="6492011" cy="50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日期占位符 1"/>
          <p:cNvSpPr txBox="1"/>
          <p:nvPr/>
        </p:nvSpPr>
        <p:spPr bwMode="auto">
          <a:xfrm>
            <a:off x="0" y="6572250"/>
            <a:ext cx="1785938" cy="285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0" sz="1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286000" lvl="5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743200" lvl="6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200400" lvl="7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657600" lvl="8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rtl="0">
              <a:defRPr/>
            </a:pPr>
            <a:fld id="{E50E7A91-AC3B-4C48-9BAF-5E616A1606DD}" type="datetime8">
              <a:rPr lang="en-US" altLang="zh-CN" smtClean="0">
                <a:cs typeface="+mn-cs"/>
              </a:rPr>
              <a:t>12/9/2025 3:29 PM</a:t>
            </a:fld>
            <a:endParaRPr lang="en-US" altLang="zh-CN"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94420" y="6562090"/>
            <a:ext cx="423545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6"/>
          <p:cNvSpPr txBox="1"/>
          <p:nvPr/>
        </p:nvSpPr>
        <p:spPr>
          <a:xfrm>
            <a:off x="1907704" y="3861048"/>
            <a:ext cx="5882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GB/T 3190-2020 </a:t>
            </a:r>
            <a:r>
              <a:rPr lang="zh-CN" altLang="en-US" dirty="0">
                <a:solidFill>
                  <a:srgbClr val="0000FF"/>
                </a:solidFill>
              </a:rPr>
              <a:t>变形铝及铝合金化学成分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885"/>
            <a:ext cx="457200" cy="2851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0245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、铸造铝合金</a:t>
            </a: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357188" y="1285875"/>
            <a:ext cx="8099425" cy="492918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Al- Si</a:t>
            </a:r>
            <a:r>
              <a:rPr lang="zh-CN" altLang="en-US" b="1" dirty="0">
                <a:ea typeface="华文中宋" panose="02010600040101010101" pitchFamily="2" charset="-122"/>
              </a:rPr>
              <a:t>系：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代号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ZL1 +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两位数字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</a:t>
            </a:r>
          </a:p>
          <a:p>
            <a:pPr eaLnBrk="1" hangingPunct="1">
              <a:lnSpc>
                <a:spcPct val="115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Al-Cu</a:t>
            </a:r>
            <a:r>
              <a:rPr lang="zh-CN" altLang="en-US" b="1" dirty="0">
                <a:ea typeface="华文中宋" panose="02010600040101010101" pitchFamily="2" charset="-122"/>
              </a:rPr>
              <a:t>系：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代号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ZL2 +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两位数字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Al-Mg</a:t>
            </a:r>
            <a:r>
              <a:rPr lang="zh-CN" altLang="en-US" b="1" dirty="0">
                <a:ea typeface="华文中宋" panose="02010600040101010101" pitchFamily="2" charset="-122"/>
              </a:rPr>
              <a:t>系：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代号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ZL3 +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两位数字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Al-Zn</a:t>
            </a:r>
            <a:r>
              <a:rPr lang="zh-CN" altLang="en-US" b="1" dirty="0">
                <a:ea typeface="华文中宋" panose="02010600040101010101" pitchFamily="2" charset="-122"/>
              </a:rPr>
              <a:t>系：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代号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ZL4 +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两位数字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3526160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</a:rPr>
              <a:t>GB/T 1173-2013 </a:t>
            </a:r>
            <a:r>
              <a:rPr lang="zh-CN" altLang="en-US" b="1" dirty="0">
                <a:solidFill>
                  <a:srgbClr val="0000FF"/>
                </a:solidFill>
              </a:rPr>
              <a:t>铸造铝合金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/>
          <a:srcRect l="34060" t="10030" r="34908" b="12293"/>
          <a:stretch>
            <a:fillRect/>
          </a:stretch>
        </p:blipFill>
        <p:spPr>
          <a:xfrm>
            <a:off x="2627784" y="476672"/>
            <a:ext cx="4320480" cy="6083160"/>
          </a:xfrm>
          <a:prstGeom prst="rect">
            <a:avLst/>
          </a:prstGeom>
        </p:spPr>
      </p:pic>
      <p:pic>
        <p:nvPicPr>
          <p:cNvPr id="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843808" y="414908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GB/T 1173-2013 </a:t>
            </a:r>
            <a:r>
              <a:rPr lang="zh-CN" altLang="en-US" dirty="0">
                <a:solidFill>
                  <a:srgbClr val="0000FF"/>
                </a:solidFill>
              </a:rPr>
              <a:t>铸造铝合金</a:t>
            </a:r>
            <a:endParaRPr lang="zh-CN" altLang="en-US" dirty="0"/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885"/>
            <a:ext cx="457200" cy="2851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323" y="-99060"/>
            <a:ext cx="66230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Al-Si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系铸造铝合金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766445" y="952500"/>
            <a:ext cx="8243888" cy="4953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/>
              <a:t>又称 </a:t>
            </a:r>
            <a:r>
              <a:rPr lang="zh-CN" altLang="en-US" b="1" dirty="0">
                <a:solidFill>
                  <a:schemeClr val="folHlink"/>
                </a:solidFill>
              </a:rPr>
              <a:t>硅铝明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其中，</a:t>
            </a:r>
            <a:r>
              <a:rPr lang="en-US" altLang="zh-CN" b="1" dirty="0">
                <a:solidFill>
                  <a:schemeClr val="folHlink"/>
                </a:solidFill>
              </a:rPr>
              <a:t>ZL102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CFFFF"/>
                </a:solidFill>
              </a:rPr>
              <a:t>ZAlSi12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r>
              <a:rPr lang="zh-CN" altLang="en-US" b="1" dirty="0"/>
              <a:t>是含</a:t>
            </a:r>
            <a:r>
              <a:rPr lang="en-US" altLang="zh-CN" b="1" dirty="0">
                <a:solidFill>
                  <a:schemeClr val="folHlink"/>
                </a:solidFill>
              </a:rPr>
              <a:t>12%Si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铝硅二元合金</a:t>
            </a:r>
            <a:r>
              <a:rPr lang="zh-CN" altLang="en-US" b="1" dirty="0"/>
              <a:t>，称为 </a:t>
            </a:r>
            <a:r>
              <a:rPr lang="en-US" altLang="zh-CN" b="1" dirty="0">
                <a:solidFill>
                  <a:schemeClr val="folHlink"/>
                </a:solidFill>
              </a:rPr>
              <a:t>简单硅铝明</a:t>
            </a:r>
            <a:r>
              <a:rPr lang="zh-CN" altLang="en-US" b="1" dirty="0"/>
              <a:t>。</a:t>
            </a: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71625" y="2571750"/>
            <a:ext cx="6572250" cy="4000500"/>
            <a:chOff x="2976" y="2208"/>
            <a:chExt cx="2380" cy="1586"/>
          </a:xfrm>
        </p:grpSpPr>
        <p:grpSp>
          <p:nvGrpSpPr>
            <p:cNvPr id="28680" name="Group 5"/>
            <p:cNvGrpSpPr>
              <a:grpSpLocks noChangeAspect="1"/>
            </p:cNvGrpSpPr>
            <p:nvPr/>
          </p:nvGrpSpPr>
          <p:grpSpPr>
            <a:xfrm>
              <a:off x="2976" y="2208"/>
              <a:ext cx="2380" cy="1586"/>
              <a:chOff x="2785" y="2112"/>
              <a:chExt cx="2739" cy="1826"/>
            </a:xfrm>
          </p:grpSpPr>
          <p:pic>
            <p:nvPicPr>
              <p:cNvPr id="28683" name="Picture 6" descr="Al-Si相图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85" y="2112"/>
                <a:ext cx="2739" cy="182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84" name="Text Box 7"/>
              <p:cNvSpPr txBox="1">
                <a:spLocks noChangeAspect="1"/>
              </p:cNvSpPr>
              <p:nvPr/>
            </p:nvSpPr>
            <p:spPr>
              <a:xfrm>
                <a:off x="4128" y="3180"/>
                <a:ext cx="528" cy="22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577℃</a:t>
                </a:r>
              </a:p>
            </p:txBody>
          </p:sp>
        </p:grpSp>
        <p:sp>
          <p:nvSpPr>
            <p:cNvPr id="28681" name="Text Box 8"/>
            <p:cNvSpPr txBox="1">
              <a:spLocks noChangeAspect="1"/>
            </p:cNvSpPr>
            <p:nvPr/>
          </p:nvSpPr>
          <p:spPr>
            <a:xfrm>
              <a:off x="3315" y="2974"/>
              <a:ext cx="461" cy="19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12.7%</a:t>
              </a:r>
            </a:p>
          </p:txBody>
        </p:sp>
        <p:sp>
          <p:nvSpPr>
            <p:cNvPr id="28682" name="Line 9"/>
            <p:cNvSpPr>
              <a:spLocks noChangeAspect="1"/>
            </p:cNvSpPr>
            <p:nvPr/>
          </p:nvSpPr>
          <p:spPr>
            <a:xfrm>
              <a:off x="3529" y="3125"/>
              <a:ext cx="0" cy="1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</p:grp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795969"/>
            <a:ext cx="8820472" cy="266123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在普通铸造条件下，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ZL102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组织几乎全部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共晶体 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=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粗针状的硅晶体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+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固溶体</a:t>
            </a:r>
            <a:r>
              <a:rPr lang="zh-CN" altLang="en-US" sz="3200" b="1" dirty="0">
                <a:solidFill>
                  <a:schemeClr val="folHlink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br>
              <a:rPr lang="en-US" altLang="zh-CN" sz="3200" b="1" dirty="0">
                <a:solidFill>
                  <a:schemeClr val="folHlink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性能特点：强度</a:t>
            </a:r>
            <a:r>
              <a:rPr lang="zh-CN" altLang="en-US" sz="3200" b="1" dirty="0">
                <a:solidFill>
                  <a:schemeClr val="folHlink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塑性 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都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较差。</a:t>
            </a:r>
            <a:b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生产上通常用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钠盐变质剂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进行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变质处理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,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得到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细小均匀的共晶体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+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一次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固溶体组织，以提高性能。</a:t>
            </a: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2916442" y="4775040"/>
            <a:ext cx="5458315" cy="1993913"/>
            <a:chOff x="955" y="2823"/>
            <a:chExt cx="3913" cy="1559"/>
          </a:xfrm>
        </p:grpSpPr>
        <p:pic>
          <p:nvPicPr>
            <p:cNvPr id="29703" name="Picture 4" descr="1b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" y="2823"/>
              <a:ext cx="1754" cy="135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9704" name="Picture 5" descr="2b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9" y="2823"/>
              <a:ext cx="1643" cy="131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9705" name="Rectangle 6"/>
            <p:cNvSpPr>
              <a:spLocks noChangeAspect="1"/>
            </p:cNvSpPr>
            <p:nvPr/>
          </p:nvSpPr>
          <p:spPr>
            <a:xfrm>
              <a:off x="1067" y="4178"/>
              <a:ext cx="828" cy="180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未变质处理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29706" name="Rectangle 7"/>
            <p:cNvSpPr>
              <a:spLocks noChangeAspect="1"/>
            </p:cNvSpPr>
            <p:nvPr/>
          </p:nvSpPr>
          <p:spPr>
            <a:xfrm>
              <a:off x="4004" y="4178"/>
              <a:ext cx="864" cy="16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lvl="0" eaLnBrk="1" hangingPunct="1">
                <a:spcBef>
                  <a:spcPct val="0"/>
                </a:spcBef>
              </a:pPr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经变质处理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29707" name="Rectangle 11"/>
            <p:cNvSpPr>
              <a:spLocks noChangeAspect="1"/>
            </p:cNvSpPr>
            <p:nvPr/>
          </p:nvSpPr>
          <p:spPr>
            <a:xfrm>
              <a:off x="2246" y="4190"/>
              <a:ext cx="1620" cy="19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en-US" altLang="zh-CN" sz="2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ZL102</a:t>
              </a:r>
              <a:r>
                <a:rPr lang="zh-CN" altLang="en-US" sz="2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的铸态组织</a:t>
              </a:r>
            </a:p>
          </p:txBody>
        </p:sp>
      </p:grp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751706" y="-49089"/>
            <a:ext cx="6623050" cy="14165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kern="0" dirty="0">
                <a:ea typeface="华文中宋" panose="02010600040101010101" pitchFamily="2" charset="-122"/>
              </a:rPr>
              <a:t>⑴ Al-Si</a:t>
            </a:r>
            <a:r>
              <a:rPr lang="zh-CN" altLang="en-US" b="1" kern="0" dirty="0">
                <a:ea typeface="华文中宋" panose="02010600040101010101" pitchFamily="2" charset="-122"/>
              </a:rPr>
              <a:t>系铸造铝合金</a:t>
            </a:r>
            <a:endParaRPr lang="en-US" altLang="zh-CN" b="1" kern="0" dirty="0">
              <a:ea typeface="华文中宋" panose="02010600040101010101" pitchFamily="2" charset="-122"/>
            </a:endParaRPr>
          </a:p>
          <a:p>
            <a:pPr eaLnBrk="1" hangingPunct="1">
              <a:defRPr/>
            </a:pPr>
            <a:r>
              <a:rPr lang="en-US" altLang="zh-CN" b="1" kern="0" dirty="0">
                <a:ea typeface="华文中宋" panose="02010600040101010101" pitchFamily="2" charset="-122"/>
              </a:rPr>
              <a:t>——</a:t>
            </a:r>
            <a:r>
              <a:rPr lang="en-US" altLang="zh-CN" b="1" dirty="0">
                <a:solidFill>
                  <a:schemeClr val="folHlink"/>
                </a:solidFill>
              </a:rPr>
              <a:t>ZL102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CFFFF"/>
                </a:solidFill>
              </a:rPr>
              <a:t>ZAlSi12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endParaRPr lang="zh-CN" altLang="en-US" b="1" kern="0" dirty="0"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830" y="13411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5380" y="6607175"/>
            <a:ext cx="389255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93316" y="1143000"/>
            <a:ext cx="5857875" cy="457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加入其他合金元素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铝硅铸造合金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称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复杂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或特殊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硅铝明。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Al-Si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系铸造铝合金的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铸造性能好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，具有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优良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耐蚀性、耐热性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焊接性能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 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kern="12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应用：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飞机、仪表、电动机壳体、汽缸体、风机叶片、发动机活塞等。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>
          <a:xfrm>
            <a:off x="6746875" y="1088390"/>
            <a:ext cx="2197735" cy="2727325"/>
            <a:chOff x="3797" y="240"/>
            <a:chExt cx="1548" cy="2160"/>
          </a:xfrm>
        </p:grpSpPr>
        <p:pic>
          <p:nvPicPr>
            <p:cNvPr id="30729" name="Picture 5" descr="活塞（裙部为铝硅合金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" y="240"/>
              <a:ext cx="1548" cy="21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0730" name="Rectangle 10"/>
            <p:cNvSpPr>
              <a:spLocks noChangeAspect="1"/>
            </p:cNvSpPr>
            <p:nvPr/>
          </p:nvSpPr>
          <p:spPr>
            <a:xfrm>
              <a:off x="3797" y="2208"/>
              <a:ext cx="1536" cy="192"/>
            </a:xfrm>
            <a:prstGeom prst="rect">
              <a:avLst/>
            </a:prstGeom>
            <a:solidFill>
              <a:schemeClr val="tx1"/>
            </a:solidFill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活塞</a:t>
              </a:r>
              <a:r>
                <a:rPr lang="en-US" altLang="zh-CN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裙部为铝硅合金</a:t>
              </a:r>
              <a:r>
                <a:rPr lang="en-US" altLang="zh-CN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800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pic>
        <p:nvPicPr>
          <p:cNvPr id="39948" name="Picture 12" descr="活塞（铸铝合金）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5885" y="4012565"/>
            <a:ext cx="2698750" cy="1842135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9951" name="Rectangle 15"/>
          <p:cNvSpPr/>
          <p:nvPr/>
        </p:nvSpPr>
        <p:spPr>
          <a:xfrm>
            <a:off x="5148064" y="4155440"/>
            <a:ext cx="3895725" cy="289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885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201930"/>
            <a:ext cx="66230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Al-Si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系铸造铝合金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dvAuto="1000"/>
      <p:bldP spid="3995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000125"/>
            <a:ext cx="8643938" cy="3516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特点：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耐热性好，强度较高；密度大，铸造性能、</a:t>
            </a:r>
            <a:r>
              <a:rPr lang="zh-CN" altLang="en-US" b="1" kern="1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耐蚀性能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差，强度低于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Al-Si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系合金。</a:t>
            </a: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5686606" y="2960440"/>
            <a:ext cx="3182508" cy="2698998"/>
            <a:chOff x="2832" y="1632"/>
            <a:chExt cx="2406" cy="2041"/>
          </a:xfrm>
        </p:grpSpPr>
        <p:pic>
          <p:nvPicPr>
            <p:cNvPr id="31753" name="Picture 5" descr="汽缸头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6" y="1632"/>
              <a:ext cx="2262" cy="204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1754" name="Text Box 7"/>
            <p:cNvSpPr txBox="1">
              <a:spLocks noChangeAspect="1"/>
            </p:cNvSpPr>
            <p:nvPr/>
          </p:nvSpPr>
          <p:spPr>
            <a:xfrm>
              <a:off x="2832" y="3408"/>
              <a:ext cx="864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汽缸头</a:t>
              </a:r>
            </a:p>
          </p:txBody>
        </p:sp>
      </p:grpSp>
      <p:sp>
        <p:nvSpPr>
          <p:cNvPr id="38924" name="Rectangle 12"/>
          <p:cNvSpPr/>
          <p:nvPr/>
        </p:nvSpPr>
        <p:spPr>
          <a:xfrm>
            <a:off x="214313" y="2362200"/>
            <a:ext cx="5500687" cy="42814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常用代号：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ZL201 </a:t>
            </a:r>
            <a:r>
              <a:rPr lang="en-US" altLang="zh-CN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(ZAlCu5Mn)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ZL203 </a:t>
            </a:r>
            <a:r>
              <a:rPr lang="en-US" altLang="zh-CN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(ZAlCu4)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等。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应用：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较高温度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下工作的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高强零件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，如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内燃机汽缸头、汽车活塞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等。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-142875"/>
            <a:ext cx="66230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Al-Cu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系 铸造铝合金</a:t>
            </a: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dvAuto="1000"/>
      <p:bldP spid="389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304800" y="928688"/>
            <a:ext cx="8534400" cy="48625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耐蚀性好，强度高，密度小；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铸造性能差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耐热性低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常用代号：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ZL301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(ZAlMg10)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ZL303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(ZAlMg5Si1)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dirty="0">
                <a:ea typeface="华文中宋" panose="02010600040101010101" pitchFamily="2" charset="-122"/>
              </a:rPr>
              <a:t>：主要用于制造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外形简单、承受冲击载荷、在腐蚀性介质下</a:t>
            </a:r>
            <a:r>
              <a:rPr lang="zh-CN" altLang="en-US" dirty="0">
                <a:ea typeface="华文中宋" panose="02010600040101010101" pitchFamily="2" charset="-122"/>
              </a:rPr>
              <a:t>工作的零件</a:t>
            </a:r>
            <a:r>
              <a:rPr lang="en-US" altLang="zh-CN" dirty="0">
                <a:ea typeface="华文中宋" panose="02010600040101010101" pitchFamily="2" charset="-122"/>
              </a:rPr>
              <a:t>,</a:t>
            </a:r>
            <a:r>
              <a:rPr lang="zh-CN" altLang="en-US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舰船配件、氨用泵体</a:t>
            </a:r>
            <a:r>
              <a:rPr lang="zh-CN" altLang="en-US" dirty="0">
                <a:ea typeface="华文中宋" panose="02010600040101010101" pitchFamily="2" charset="-122"/>
              </a:rPr>
              <a:t>等。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4763" name="Rectangle 11"/>
          <p:cNvSpPr/>
          <p:nvPr/>
        </p:nvSpPr>
        <p:spPr>
          <a:xfrm>
            <a:off x="304800" y="2819400"/>
            <a:ext cx="3505200" cy="3524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3810253" y="4970463"/>
            <a:ext cx="4736847" cy="1887537"/>
            <a:chOff x="2042" y="1027"/>
            <a:chExt cx="3470" cy="1382"/>
          </a:xfrm>
        </p:grpSpPr>
        <p:pic>
          <p:nvPicPr>
            <p:cNvPr id="32777" name="Picture 6" descr="鼓风机用密封件（ZL301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5" y="1027"/>
              <a:ext cx="2127" cy="138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2778" name="Text Box 12"/>
            <p:cNvSpPr txBox="1">
              <a:spLocks noChangeAspect="1"/>
            </p:cNvSpPr>
            <p:nvPr/>
          </p:nvSpPr>
          <p:spPr>
            <a:xfrm>
              <a:off x="2042" y="1852"/>
              <a:ext cx="1517" cy="47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鼓风机密封件等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(ZL102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301)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-142875"/>
            <a:ext cx="66230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Al-Mg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系铸造铝合金</a:t>
            </a: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39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dvAuto="1000"/>
      <p:bldP spid="7476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68300" y="857250"/>
            <a:ext cx="8318500" cy="2054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特点：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铸造性能好，强度较高，可自然时效强化；密度大，耐蚀性较差。</a:t>
            </a:r>
          </a:p>
        </p:txBody>
      </p:sp>
      <p:grpSp>
        <p:nvGrpSpPr>
          <p:cNvPr id="2" name="Group 19"/>
          <p:cNvGrpSpPr>
            <a:grpSpLocks noChangeAspect="1"/>
          </p:cNvGrpSpPr>
          <p:nvPr/>
        </p:nvGrpSpPr>
        <p:grpSpPr>
          <a:xfrm>
            <a:off x="5715000" y="3000375"/>
            <a:ext cx="3143250" cy="3009900"/>
            <a:chOff x="3030" y="1725"/>
            <a:chExt cx="2201" cy="2107"/>
          </a:xfrm>
        </p:grpSpPr>
        <p:pic>
          <p:nvPicPr>
            <p:cNvPr id="33801" name="Picture 12" descr="大型空压机活塞(ZL401)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" y="1725"/>
              <a:ext cx="2201" cy="207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1997" name="Text Box 13"/>
            <p:cNvSpPr txBox="1">
              <a:spLocks noChangeAspect="1" noChangeArrowheads="1"/>
            </p:cNvSpPr>
            <p:nvPr/>
          </p:nvSpPr>
          <p:spPr bwMode="auto">
            <a:xfrm>
              <a:off x="3030" y="3576"/>
              <a:ext cx="1920" cy="256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大型空压机活塞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(ZL401)</a:t>
              </a:r>
            </a:p>
          </p:txBody>
        </p:sp>
      </p:grpSp>
      <p:sp>
        <p:nvSpPr>
          <p:cNvPr id="42001" name="Rectangle 17"/>
          <p:cNvSpPr/>
          <p:nvPr/>
        </p:nvSpPr>
        <p:spPr>
          <a:xfrm>
            <a:off x="381000" y="2286000"/>
            <a:ext cx="5191125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常用代号：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ZL401</a:t>
            </a:r>
            <a:r>
              <a:rPr lang="en-US" altLang="zh-CN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(ZAlZn11Si7)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ZL402</a:t>
            </a:r>
            <a:r>
              <a:rPr lang="en-US" altLang="zh-CN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(ZAlZn6Mg)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等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  <a:p>
            <a:pPr marL="342900" lvl="0" indent="-342900" algn="l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应用：形状复杂、受力较小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汽车、飞机、仪器零件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-142875"/>
            <a:ext cx="66230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⑷ Al-Zn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系铸造铝合金</a:t>
            </a: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dvAuto="1000"/>
      <p:bldP spid="4200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96752"/>
            <a:ext cx="8208912" cy="331236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</a:rPr>
              <a:t>第二节  铜及铜合金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</a:rPr>
            </a:br>
            <a:r>
              <a:rPr lang="en-US" altLang="zh-CN" sz="6600" b="1" i="1" dirty="0">
                <a:latin typeface="+mn-lt"/>
                <a:ea typeface="华文中宋" panose="02010600040101010101" pitchFamily="2" charset="-122"/>
              </a:rPr>
              <a:t>Copper &amp; Its Alloys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70485" y="29965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-114300"/>
            <a:ext cx="6049094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第二节  铜及铜合金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1547664" y="1340768"/>
            <a:ext cx="5775325" cy="51161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一、铜及铜合金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性能特点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二、黄铜 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Brass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三、白铜</a:t>
            </a:r>
            <a:r>
              <a:rPr lang="en-US" altLang="zh-CN" b="1" dirty="0"/>
              <a:t> Cupronickel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四、青铜  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Bronze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ldLvl="0" animBg="1"/>
      <p:bldP spid="40963" grpId="0" build="p" advAuto="100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-114300"/>
            <a:ext cx="69484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b="1" dirty="0">
                <a:ea typeface="华文中宋" panose="02010600040101010101" pitchFamily="2" charset="-122"/>
              </a:rPr>
              <a:t>一、铜</a:t>
            </a:r>
            <a:r>
              <a:rPr lang="zh-CN" altLang="en-US" sz="1100" b="1" dirty="0">
                <a:ea typeface="华文中宋" panose="02010600040101010101" pitchFamily="2" charset="-122"/>
              </a:rPr>
              <a:t>及铜合金</a:t>
            </a:r>
            <a:r>
              <a:rPr lang="zh-CN" altLang="en-US" b="1" dirty="0">
                <a:ea typeface="华文中宋" panose="02010600040101010101" pitchFamily="2" charset="-122"/>
              </a:rPr>
              <a:t>的性能特点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154305" y="1376045"/>
            <a:ext cx="5775325" cy="51161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纯铜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紫红色，</a:t>
            </a:r>
            <a:r>
              <a:rPr lang="zh-CN" altLang="en-US" b="1" dirty="0">
                <a:ea typeface="华文中宋" panose="02010600040101010101" pitchFamily="2" charset="-122"/>
              </a:rPr>
              <a:t>故又称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紫铜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面心立方晶格，无同素异构转变，无磁性，塑性好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优良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导电性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导热性</a:t>
            </a:r>
            <a:r>
              <a:rPr lang="zh-CN" altLang="en-US" b="1" dirty="0">
                <a:ea typeface="华文中宋" panose="02010600040101010101" pitchFamily="2" charset="-122"/>
              </a:rPr>
              <a:t>，在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大气、淡水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冷凝水</a:t>
            </a:r>
            <a:r>
              <a:rPr lang="zh-CN" altLang="en-US" b="1" dirty="0">
                <a:ea typeface="华文中宋" panose="02010600040101010101" pitchFamily="2" charset="-122"/>
              </a:rPr>
              <a:t>中有良好的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>
          <a:xfrm>
            <a:off x="6052366" y="2026610"/>
            <a:ext cx="2893198" cy="4180970"/>
            <a:chOff x="3600" y="1422"/>
            <a:chExt cx="1975" cy="2855"/>
          </a:xfrm>
        </p:grpSpPr>
        <p:pic>
          <p:nvPicPr>
            <p:cNvPr id="34824" name="Picture 4" descr="热轧铜合金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" y="1422"/>
              <a:ext cx="1975" cy="256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4825" name="Text Box 5"/>
            <p:cNvSpPr txBox="1">
              <a:spLocks noChangeAspect="1"/>
            </p:cNvSpPr>
            <p:nvPr/>
          </p:nvSpPr>
          <p:spPr>
            <a:xfrm>
              <a:off x="3678" y="3962"/>
              <a:ext cx="1600" cy="31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热轧铜合金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ldLvl="0" animBg="1"/>
      <p:bldP spid="40963" grpId="0" build="p" advAuto="100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/>
          </p:cNvSpPr>
          <p:nvPr>
            <p:ph idx="1"/>
          </p:nvPr>
        </p:nvSpPr>
        <p:spPr>
          <a:xfrm>
            <a:off x="395605" y="962343"/>
            <a:ext cx="8620125" cy="53863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铜合金</a:t>
            </a:r>
            <a:r>
              <a:rPr lang="zh-CN" altLang="en-US" b="1" dirty="0">
                <a:ea typeface="华文中宋" panose="02010600040101010101" pitchFamily="2" charset="-122"/>
              </a:rPr>
              <a:t>常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加元素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等，提高强度，保持纯铜特性。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铜合金分类（</a:t>
            </a:r>
            <a:r>
              <a:rPr lang="zh-CN" altLang="en-US" b="1" dirty="0">
                <a:ea typeface="华文中宋" panose="02010600040101010101" pitchFamily="2" charset="-122"/>
              </a:rPr>
              <a:t>三大类：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1071880" y="4156075"/>
            <a:ext cx="6189345" cy="1607289"/>
            <a:chOff x="528" y="2221"/>
            <a:chExt cx="4570" cy="1692"/>
          </a:xfrm>
        </p:grpSpPr>
        <p:grpSp>
          <p:nvGrpSpPr>
            <p:cNvPr id="35847" name="Group 13"/>
            <p:cNvGrpSpPr/>
            <p:nvPr/>
          </p:nvGrpSpPr>
          <p:grpSpPr>
            <a:xfrm>
              <a:off x="528" y="2221"/>
              <a:ext cx="2472" cy="1614"/>
              <a:chOff x="528" y="2357"/>
              <a:chExt cx="2472" cy="1614"/>
            </a:xfrm>
          </p:grpSpPr>
          <p:pic>
            <p:nvPicPr>
              <p:cNvPr id="35851" name="Picture 4" descr="铜管材"/>
              <p:cNvPicPr preferRelativeResize="0"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28" y="2357"/>
                <a:ext cx="2451" cy="159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2" name="Text Box 6"/>
              <p:cNvSpPr txBox="1"/>
              <p:nvPr/>
            </p:nvSpPr>
            <p:spPr>
              <a:xfrm>
                <a:off x="2368" y="3486"/>
                <a:ext cx="632" cy="48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dirty="0">
                    <a:solidFill>
                      <a:srgbClr val="CCFF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铜管</a:t>
                </a:r>
              </a:p>
            </p:txBody>
          </p:sp>
        </p:grpSp>
        <p:grpSp>
          <p:nvGrpSpPr>
            <p:cNvPr id="35848" name="Group 11"/>
            <p:cNvGrpSpPr>
              <a:grpSpLocks noChangeAspect="1"/>
            </p:cNvGrpSpPr>
            <p:nvPr/>
          </p:nvGrpSpPr>
          <p:grpSpPr>
            <a:xfrm>
              <a:off x="3273" y="2221"/>
              <a:ext cx="1825" cy="1692"/>
              <a:chOff x="3250" y="2073"/>
              <a:chExt cx="2146" cy="1990"/>
            </a:xfrm>
          </p:grpSpPr>
          <p:pic>
            <p:nvPicPr>
              <p:cNvPr id="35849" name="Picture 9" descr="铜与黄铜带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250" y="2073"/>
                <a:ext cx="2146" cy="1975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0" name="Text Box 10"/>
              <p:cNvSpPr txBox="1">
                <a:spLocks noChangeAspect="1"/>
              </p:cNvSpPr>
              <p:nvPr/>
            </p:nvSpPr>
            <p:spPr>
              <a:xfrm>
                <a:off x="4312" y="3607"/>
                <a:ext cx="1056" cy="45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铜与黄铜带</a:t>
                </a:r>
              </a:p>
            </p:txBody>
          </p:sp>
        </p:grpSp>
      </p:grp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-187642"/>
            <a:ext cx="69484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b="1" dirty="0">
                <a:ea typeface="华文中宋" panose="02010600040101010101" pitchFamily="2" charset="-122"/>
              </a:rPr>
              <a:t>一、铜</a:t>
            </a:r>
            <a:r>
              <a:rPr lang="zh-CN" altLang="en-US" sz="1100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ea typeface="华文中宋" panose="02010600040101010101" pitchFamily="2" charset="-122"/>
              </a:rPr>
              <a:t>铜合金的性能特点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645750" y="2493033"/>
            <a:ext cx="2436051" cy="1479381"/>
            <a:chOff x="3177077" y="2014538"/>
            <a:chExt cx="2818243" cy="1479381"/>
          </a:xfrm>
        </p:grpSpPr>
        <p:sp>
          <p:nvSpPr>
            <p:cNvPr id="4" name="左大括号 39"/>
            <p:cNvSpPr/>
            <p:nvPr/>
          </p:nvSpPr>
          <p:spPr>
            <a:xfrm>
              <a:off x="4595066" y="2227242"/>
              <a:ext cx="286497" cy="1039665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" name="文本框 2"/>
            <p:cNvSpPr txBox="1">
              <a:spLocks noChangeArrowheads="1"/>
            </p:cNvSpPr>
            <p:nvPr/>
          </p:nvSpPr>
          <p:spPr bwMode="auto">
            <a:xfrm>
              <a:off x="3177077" y="2502288"/>
              <a:ext cx="1371858" cy="386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铜合金</a:t>
              </a:r>
              <a:endParaRPr lang="en-US" altLang="zh-CN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4904376" y="2014538"/>
              <a:ext cx="1083237" cy="461665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folHlink"/>
                  </a:solidFill>
                  <a:ea typeface="华文中宋" panose="02010600040101010101" pitchFamily="2" charset="-122"/>
                </a:rPr>
                <a:t>黄铜</a:t>
              </a:r>
              <a:endParaRPr lang="en-US" altLang="zh-CN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" name="文本框 2"/>
            <p:cNvSpPr txBox="1">
              <a:spLocks noChangeArrowheads="1"/>
            </p:cNvSpPr>
            <p:nvPr/>
          </p:nvSpPr>
          <p:spPr bwMode="auto">
            <a:xfrm>
              <a:off x="4922618" y="2522876"/>
              <a:ext cx="1064995" cy="461665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2"/>
                  </a:solidFill>
                  <a:ea typeface="华文中宋" panose="02010600040101010101" pitchFamily="2" charset="-122"/>
                </a:rPr>
                <a:t>青铜</a:t>
              </a:r>
              <a:endParaRPr lang="en-US" altLang="zh-CN" kern="1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" name="文本框 2"/>
            <p:cNvSpPr txBox="1">
              <a:spLocks noChangeArrowheads="1"/>
            </p:cNvSpPr>
            <p:nvPr/>
          </p:nvSpPr>
          <p:spPr bwMode="auto">
            <a:xfrm>
              <a:off x="4912084" y="3032254"/>
              <a:ext cx="1083236" cy="46166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ea typeface="华文中宋" panose="02010600040101010101" pitchFamily="2" charset="-122"/>
                </a:rPr>
                <a:t>白铜</a:t>
              </a:r>
              <a:endParaRPr lang="en-US" altLang="zh-CN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0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dvAuto="1000"/>
      <p:bldP spid="3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712" y="747862"/>
            <a:ext cx="4895750" cy="345712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二、黄铜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Brass</a:t>
            </a:r>
          </a:p>
        </p:txBody>
      </p: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25647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8" y="115888"/>
            <a:ext cx="4895750" cy="812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二、黄铜 </a:t>
            </a:r>
            <a:r>
              <a:rPr kumimoji="1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Brass</a:t>
            </a:r>
            <a:endParaRPr kumimoji="1" lang="zh-CN" altLang="en-US" sz="44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251520" y="1071563"/>
            <a:ext cx="8784975" cy="431165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黄铜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以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锌 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主要合金元素 </a:t>
            </a:r>
            <a:r>
              <a:rPr lang="zh-CN" altLang="en-US" b="1" dirty="0">
                <a:ea typeface="华文中宋" panose="02010600040101010101" pitchFamily="2" charset="-122"/>
              </a:rPr>
              <a:t>的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铜合金。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黄铜分类：</a:t>
            </a: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914400" y="3933825"/>
            <a:ext cx="7558088" cy="2268538"/>
            <a:chOff x="384" y="2184"/>
            <a:chExt cx="5063" cy="1858"/>
          </a:xfrm>
        </p:grpSpPr>
        <p:pic>
          <p:nvPicPr>
            <p:cNvPr id="36872" name="Picture 6" descr="黄铜件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" y="2208"/>
              <a:ext cx="2272" cy="1817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36873" name="Picture 7" descr="黄铜型材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6" y="2184"/>
              <a:ext cx="2711" cy="18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2584" name="Text Box 8"/>
            <p:cNvSpPr txBox="1">
              <a:spLocks noChangeAspect="1" noChangeArrowheads="1"/>
            </p:cNvSpPr>
            <p:nvPr/>
          </p:nvSpPr>
          <p:spPr bwMode="auto">
            <a:xfrm>
              <a:off x="1680" y="2207"/>
              <a:ext cx="992" cy="37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黄铜铸件</a:t>
              </a:r>
            </a:p>
          </p:txBody>
        </p:sp>
        <p:sp>
          <p:nvSpPr>
            <p:cNvPr id="36875" name="Text Box 9"/>
            <p:cNvSpPr txBox="1">
              <a:spLocks noChangeAspect="1"/>
            </p:cNvSpPr>
            <p:nvPr/>
          </p:nvSpPr>
          <p:spPr>
            <a:xfrm>
              <a:off x="2784" y="2196"/>
              <a:ext cx="81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黄铜棒</a:t>
              </a:r>
            </a:p>
          </p:txBody>
        </p:sp>
      </p:grp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" name="组合 19"/>
          <p:cNvGrpSpPr/>
          <p:nvPr/>
        </p:nvGrpSpPr>
        <p:grpSpPr>
          <a:xfrm>
            <a:off x="2610230" y="1909254"/>
            <a:ext cx="4627268" cy="1727232"/>
            <a:chOff x="2641748" y="1921748"/>
            <a:chExt cx="4627268" cy="1727232"/>
          </a:xfrm>
        </p:grpSpPr>
        <p:sp>
          <p:nvSpPr>
            <p:cNvPr id="16" name="左大括号 39"/>
            <p:cNvSpPr/>
            <p:nvPr/>
          </p:nvSpPr>
          <p:spPr>
            <a:xfrm>
              <a:off x="5543556" y="2878418"/>
              <a:ext cx="213187" cy="652509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641748" y="1921748"/>
              <a:ext cx="4627268" cy="1727232"/>
              <a:chOff x="4960181" y="2395235"/>
              <a:chExt cx="4627268" cy="1727232"/>
            </a:xfrm>
          </p:grpSpPr>
          <p:sp>
            <p:nvSpPr>
              <p:cNvPr id="5" name="文本框 2"/>
              <p:cNvSpPr txBox="1">
                <a:spLocks noChangeArrowheads="1"/>
              </p:cNvSpPr>
              <p:nvPr/>
            </p:nvSpPr>
            <p:spPr bwMode="auto">
              <a:xfrm>
                <a:off x="4960181" y="3027595"/>
                <a:ext cx="869661" cy="386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黄铜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6" name="左大括号 39"/>
              <p:cNvSpPr/>
              <p:nvPr/>
            </p:nvSpPr>
            <p:spPr>
              <a:xfrm>
                <a:off x="5855164" y="2751286"/>
                <a:ext cx="210124" cy="855670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" name="文本框 2"/>
              <p:cNvSpPr txBox="1">
                <a:spLocks noChangeArrowheads="1"/>
              </p:cNvSpPr>
              <p:nvPr/>
            </p:nvSpPr>
            <p:spPr bwMode="auto">
              <a:xfrm>
                <a:off x="6128150" y="2596934"/>
                <a:ext cx="1729990" cy="386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ea typeface="华文中宋" panose="02010600040101010101" pitchFamily="2" charset="-122"/>
                  </a:rPr>
                  <a:t>按</a:t>
                </a:r>
                <a:r>
                  <a:rPr lang="zh-CN" altLang="en-US" b="1" dirty="0">
                    <a:solidFill>
                      <a:schemeClr val="folHlink"/>
                    </a:solidFill>
                    <a:ea typeface="华文中宋" panose="02010600040101010101" pitchFamily="2" charset="-122"/>
                  </a:rPr>
                  <a:t>化学成分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8" name="左大括号 39"/>
              <p:cNvSpPr/>
              <p:nvPr/>
            </p:nvSpPr>
            <p:spPr>
              <a:xfrm>
                <a:off x="7908783" y="2543533"/>
                <a:ext cx="119601" cy="552458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" name="文本框 2"/>
              <p:cNvSpPr txBox="1">
                <a:spLocks noChangeArrowheads="1"/>
              </p:cNvSpPr>
              <p:nvPr/>
            </p:nvSpPr>
            <p:spPr bwMode="auto">
              <a:xfrm>
                <a:off x="8110325" y="2395235"/>
                <a:ext cx="1430225" cy="386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folHlink"/>
                    </a:solidFill>
                    <a:ea typeface="华文中宋" panose="02010600040101010101" pitchFamily="2" charset="-122"/>
                  </a:rPr>
                  <a:t>普通黄铜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" name="文本框 2"/>
              <p:cNvSpPr txBox="1">
                <a:spLocks noChangeArrowheads="1"/>
              </p:cNvSpPr>
              <p:nvPr/>
            </p:nvSpPr>
            <p:spPr bwMode="auto">
              <a:xfrm>
                <a:off x="8114723" y="2837803"/>
                <a:ext cx="1425827" cy="386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特殊黄铜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1" name="文本框 2"/>
              <p:cNvSpPr txBox="1">
                <a:spLocks noChangeArrowheads="1"/>
              </p:cNvSpPr>
              <p:nvPr/>
            </p:nvSpPr>
            <p:spPr bwMode="auto">
              <a:xfrm>
                <a:off x="8128162" y="3258851"/>
                <a:ext cx="1459283" cy="386240"/>
              </a:xfrm>
              <a:prstGeom prst="rect">
                <a:avLst/>
              </a:prstGeom>
              <a:solidFill>
                <a:schemeClr val="accent4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0000FF"/>
                    </a:solidFill>
                    <a:ea typeface="华文中宋" panose="02010600040101010101" pitchFamily="2" charset="-122"/>
                  </a:rPr>
                  <a:t>加工黄铜</a:t>
                </a:r>
                <a:endParaRPr lang="en-US" altLang="zh-CN" kern="1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5" name="文本框 2"/>
              <p:cNvSpPr txBox="1">
                <a:spLocks noChangeArrowheads="1"/>
              </p:cNvSpPr>
              <p:nvPr/>
            </p:nvSpPr>
            <p:spPr bwMode="auto">
              <a:xfrm>
                <a:off x="6102808" y="3366242"/>
                <a:ext cx="1796886" cy="386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ea typeface="华文中宋" panose="02010600040101010101" pitchFamily="2" charset="-122"/>
                  </a:rPr>
                  <a:t>按加工</a:t>
                </a:r>
                <a:r>
                  <a:rPr lang="zh-CN" altLang="en-US" b="1" dirty="0">
                    <a:solidFill>
                      <a:srgbClr val="CCFF33"/>
                    </a:solidFill>
                    <a:ea typeface="华文中宋" panose="02010600040101010101" pitchFamily="2" charset="-122"/>
                  </a:rPr>
                  <a:t>工艺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" name="文本框 2"/>
              <p:cNvSpPr txBox="1">
                <a:spLocks noChangeArrowheads="1"/>
              </p:cNvSpPr>
              <p:nvPr/>
            </p:nvSpPr>
            <p:spPr bwMode="auto">
              <a:xfrm>
                <a:off x="8161622" y="3736227"/>
                <a:ext cx="1425827" cy="38624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accent4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0000FF"/>
                    </a:solidFill>
                    <a:ea typeface="华文中宋" panose="02010600040101010101" pitchFamily="2" charset="-122"/>
                  </a:rPr>
                  <a:t>铸造黄铜</a:t>
                </a:r>
                <a:endParaRPr lang="en-US" altLang="zh-CN" kern="1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612140" y="1268730"/>
            <a:ext cx="102489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黄铜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516572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、普通黄铜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79512" y="980728"/>
            <a:ext cx="6048796" cy="547260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普通黄铜：铜与锌 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二元合金。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加工普通黄铜 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牌号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 H</a:t>
            </a:r>
            <a:r>
              <a:rPr lang="en-US" altLang="zh-CN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 (</a:t>
            </a:r>
            <a:r>
              <a:rPr lang="zh-CN" altLang="en-US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黄</a:t>
            </a:r>
            <a:r>
              <a:rPr lang="en-US" altLang="zh-CN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) +</a:t>
            </a:r>
            <a:r>
              <a:rPr lang="zh-CN" altLang="en-US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数字（表示铜平均百分含量）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H68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从铜锌合金相图 可以看出 黄铜有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</a:t>
            </a:r>
            <a:r>
              <a:rPr lang="zh-CN" altLang="en-US" b="1" dirty="0">
                <a:solidFill>
                  <a:schemeClr val="folHlink"/>
                </a:solidFill>
              </a:rPr>
              <a:t> 和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folHlink"/>
                </a:solidFill>
              </a:rPr>
              <a:t>+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chemeClr val="folHlink"/>
                </a:solidFill>
              </a:rPr>
              <a:t>’ </a:t>
            </a:r>
            <a:r>
              <a:rPr lang="zh-CN" altLang="en-US" b="1" dirty="0">
                <a:solidFill>
                  <a:schemeClr val="folHlink"/>
                </a:solidFill>
              </a:rPr>
              <a:t>两种组织，</a:t>
            </a:r>
            <a:r>
              <a:rPr lang="zh-CN" altLang="en-US" b="1" dirty="0"/>
              <a:t>分别称</a:t>
            </a:r>
            <a:r>
              <a:rPr lang="zh-CN" altLang="en-US" b="1" dirty="0">
                <a:solidFill>
                  <a:schemeClr val="folHlink"/>
                </a:solidFill>
              </a:rPr>
              <a:t>单相黄铜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两相黄铜。</a:t>
            </a:r>
          </a:p>
        </p:txBody>
      </p:sp>
      <p:pic>
        <p:nvPicPr>
          <p:cNvPr id="153605" name="Picture 5" descr="3a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01521" y="2071689"/>
            <a:ext cx="2742479" cy="2437432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581033" y="4581128"/>
            <a:ext cx="2562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folHlink"/>
                </a:solidFill>
              </a:rPr>
              <a:t>铜锌合金相图</a:t>
            </a:r>
            <a:endParaRPr lang="zh-CN" altLang="en-US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539750" y="1196340"/>
            <a:ext cx="17138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普通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黄铜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467360" y="2616835"/>
            <a:ext cx="5598160" cy="57213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H  + 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数字（表示铜平均百分含量）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8900" y="-98425"/>
            <a:ext cx="6457950" cy="1104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普通黄铜的显微组织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609600" y="2362200"/>
            <a:ext cx="8097838" cy="3543662"/>
            <a:chOff x="144" y="1440"/>
            <a:chExt cx="5513" cy="2413"/>
          </a:xfrm>
        </p:grpSpPr>
        <p:pic>
          <p:nvPicPr>
            <p:cNvPr id="38919" name="Picture 4" descr="3b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" y="1440"/>
              <a:ext cx="2736" cy="203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38920" name="Picture 5" descr="4a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0" y="1440"/>
              <a:ext cx="2657" cy="203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8921" name="Text Box 6"/>
            <p:cNvSpPr txBox="1">
              <a:spLocks noChangeAspect="1"/>
            </p:cNvSpPr>
            <p:nvPr/>
          </p:nvSpPr>
          <p:spPr>
            <a:xfrm>
              <a:off x="768" y="3504"/>
              <a:ext cx="1536" cy="31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单相黄铜（</a:t>
              </a:r>
              <a:r>
                <a:rPr lang="zh-CN" altLang="en-US" b="1" dirty="0">
                  <a:solidFill>
                    <a:schemeClr val="folHlink"/>
                  </a:solidFill>
                  <a:sym typeface="Symbol" panose="05050102010706020507" pitchFamily="18" charset="2"/>
                </a:rPr>
                <a:t> 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38922" name="Text Box 7"/>
            <p:cNvSpPr txBox="1">
              <a:spLocks noChangeAspect="1"/>
            </p:cNvSpPr>
            <p:nvPr/>
          </p:nvSpPr>
          <p:spPr>
            <a:xfrm>
              <a:off x="3430" y="3539"/>
              <a:ext cx="2105" cy="31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两相黄铜（</a:t>
              </a:r>
              <a:r>
                <a:rPr lang="zh-CN" altLang="en-US" b="1" dirty="0">
                  <a:solidFill>
                    <a:schemeClr val="folHlink"/>
                  </a:solidFill>
                  <a:sym typeface="Symbol" panose="05050102010706020507" pitchFamily="18" charset="2"/>
                </a:rPr>
                <a:t> </a:t>
              </a:r>
              <a:r>
                <a:rPr lang="en-US" altLang="zh-CN" b="1" dirty="0">
                  <a:solidFill>
                    <a:schemeClr val="folHlink"/>
                  </a:solidFill>
                </a:rPr>
                <a:t>+</a:t>
              </a:r>
              <a:r>
                <a:rPr lang="en-US" altLang="zh-CN" b="1" dirty="0">
                  <a:solidFill>
                    <a:schemeClr val="folHlink"/>
                  </a:solidFill>
                  <a:sym typeface="Symbol" panose="05050102010706020507" pitchFamily="18" charset="2"/>
                </a:rPr>
                <a:t></a:t>
              </a:r>
              <a:r>
                <a:rPr lang="en-US" altLang="zh-CN" b="1" dirty="0">
                  <a:solidFill>
                    <a:schemeClr val="folHlink"/>
                  </a:solidFill>
                </a:rPr>
                <a:t>’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02980" y="6585585"/>
            <a:ext cx="426720" cy="2730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49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239395" y="930275"/>
            <a:ext cx="6000750" cy="549338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）单相黄铜</a:t>
            </a:r>
            <a:endParaRPr lang="en-US" altLang="zh-CN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b="1" dirty="0">
                <a:ea typeface="华文中宋" panose="02010600040101010101" pitchFamily="2" charset="-122"/>
              </a:rPr>
              <a:t>塑性好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H80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H70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 68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冷变形零件，如弹壳、冷凝器管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）两相黄铜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b="1" dirty="0">
                <a:ea typeface="华文中宋" panose="02010600040101010101" pitchFamily="2" charset="-122"/>
              </a:rPr>
              <a:t>热塑性好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强度高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H59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H62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应用：受力件，</a:t>
            </a:r>
            <a:r>
              <a:rPr lang="zh-CN" altLang="en-US" sz="2800" b="1" dirty="0">
                <a:ea typeface="华文中宋" panose="02010600040101010101" pitchFamily="2" charset="-122"/>
              </a:rPr>
              <a:t>如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垫圈</a:t>
            </a:r>
            <a:r>
              <a:rPr lang="zh-CN" altLang="en-US" sz="1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弹簧、导管、散热器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</a:p>
        </p:txBody>
      </p:sp>
      <p:grpSp>
        <p:nvGrpSpPr>
          <p:cNvPr id="2" name="Group 20"/>
          <p:cNvGrpSpPr>
            <a:grpSpLocks noChangeAspect="1"/>
          </p:cNvGrpSpPr>
          <p:nvPr/>
        </p:nvGrpSpPr>
        <p:grpSpPr>
          <a:xfrm>
            <a:off x="6234113" y="1285875"/>
            <a:ext cx="2909887" cy="5286375"/>
            <a:chOff x="3408" y="236"/>
            <a:chExt cx="2154" cy="3773"/>
          </a:xfrm>
        </p:grpSpPr>
        <p:grpSp>
          <p:nvGrpSpPr>
            <p:cNvPr id="39944" name="Group 19"/>
            <p:cNvGrpSpPr>
              <a:grpSpLocks noChangeAspect="1"/>
            </p:cNvGrpSpPr>
            <p:nvPr/>
          </p:nvGrpSpPr>
          <p:grpSpPr>
            <a:xfrm>
              <a:off x="3408" y="236"/>
              <a:ext cx="2154" cy="1276"/>
              <a:chOff x="3408" y="192"/>
              <a:chExt cx="2154" cy="1276"/>
            </a:xfrm>
          </p:grpSpPr>
          <p:pic>
            <p:nvPicPr>
              <p:cNvPr id="39948" name="Picture 4" descr="冷凝管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408" y="192"/>
                <a:ext cx="2154" cy="1276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9949" name="Text Box 6"/>
              <p:cNvSpPr txBox="1">
                <a:spLocks noChangeAspect="1"/>
              </p:cNvSpPr>
              <p:nvPr/>
            </p:nvSpPr>
            <p:spPr>
              <a:xfrm>
                <a:off x="3408" y="192"/>
                <a:ext cx="1004" cy="29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冷凝器管</a:t>
                </a:r>
              </a:p>
            </p:txBody>
          </p:sp>
        </p:grpSp>
        <p:pic>
          <p:nvPicPr>
            <p:cNvPr id="39945" name="Picture 9" descr="汽车机油泵衬套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8" y="3456"/>
              <a:ext cx="2154" cy="53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9946" name="Text Box 10"/>
            <p:cNvSpPr txBox="1">
              <a:spLocks noChangeAspect="1"/>
            </p:cNvSpPr>
            <p:nvPr/>
          </p:nvSpPr>
          <p:spPr>
            <a:xfrm>
              <a:off x="3948" y="3816"/>
              <a:ext cx="1296" cy="1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汽车机油泵衬套</a:t>
              </a:r>
            </a:p>
          </p:txBody>
        </p:sp>
        <p:pic>
          <p:nvPicPr>
            <p:cNvPr id="39947" name="Picture 18" descr="黄铜子弹壳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8" y="1584"/>
              <a:ext cx="2154" cy="178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15816" y="1"/>
            <a:ext cx="4608512" cy="620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普通黄铜</a:t>
            </a:r>
          </a:p>
        </p:txBody>
      </p:sp>
      <p:sp>
        <p:nvSpPr>
          <p:cNvPr id="1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dvAuto="100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-140762"/>
            <a:ext cx="453660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、特殊黄铜</a:t>
            </a: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280537" y="980331"/>
            <a:ext cx="6600267" cy="5642188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特殊黄铜：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普通黄铜</a:t>
            </a:r>
            <a:r>
              <a:rPr lang="zh-CN" altLang="en-US" b="1" dirty="0">
                <a:ea typeface="华文中宋" panose="02010600040101010101" pitchFamily="2" charset="-122"/>
              </a:rPr>
              <a:t>的基础上加入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Pb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等元素形成。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加工特殊黄铜</a:t>
            </a:r>
            <a:r>
              <a:rPr lang="zh-CN" altLang="en-US" b="1" dirty="0">
                <a:ea typeface="华文中宋" panose="02010600040101010101" pitchFamily="2" charset="-122"/>
              </a:rPr>
              <a:t>的牌号为：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   H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黄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主加元素符号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(Zn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除外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铜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平均百分含量 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主加元素平均百分含量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如 </a:t>
            </a:r>
            <a:r>
              <a:rPr lang="en-US" altLang="zh-CN" b="1" dirty="0">
                <a:ea typeface="华文中宋" panose="02010600040101010101" pitchFamily="2" charset="-122"/>
              </a:rPr>
              <a:t>HPb59-1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Cu59%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Pb1%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b="1" dirty="0">
                <a:ea typeface="华文中宋" panose="02010600040101010101" pitchFamily="2" charset="-122"/>
              </a:rPr>
              <a:t>.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特点：强度、耐蚀性 比普通黄铜好，铸造性能改善。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7033895" y="1143000"/>
            <a:ext cx="1916430" cy="5107940"/>
            <a:chOff x="3264" y="228"/>
            <a:chExt cx="2202" cy="3869"/>
          </a:xfrm>
        </p:grpSpPr>
        <p:grpSp>
          <p:nvGrpSpPr>
            <p:cNvPr id="40968" name="Group 5"/>
            <p:cNvGrpSpPr>
              <a:grpSpLocks noChangeAspect="1"/>
            </p:cNvGrpSpPr>
            <p:nvPr/>
          </p:nvGrpSpPr>
          <p:grpSpPr>
            <a:xfrm>
              <a:off x="3312" y="240"/>
              <a:ext cx="2154" cy="3857"/>
              <a:chOff x="3312" y="240"/>
              <a:chExt cx="2154" cy="3857"/>
            </a:xfrm>
          </p:grpSpPr>
          <p:grpSp>
            <p:nvGrpSpPr>
              <p:cNvPr id="40970" name="Group 6"/>
              <p:cNvGrpSpPr>
                <a:grpSpLocks noChangeAspect="1"/>
              </p:cNvGrpSpPr>
              <p:nvPr/>
            </p:nvGrpSpPr>
            <p:grpSpPr>
              <a:xfrm>
                <a:off x="3312" y="240"/>
                <a:ext cx="2154" cy="3857"/>
                <a:chOff x="3312" y="240"/>
                <a:chExt cx="2154" cy="3857"/>
              </a:xfrm>
            </p:grpSpPr>
            <p:pic>
              <p:nvPicPr>
                <p:cNvPr id="40972" name="Picture 7" descr="黄铜制品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312" y="1440"/>
                  <a:ext cx="2154" cy="1395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40973" name="Picture 8" descr="黄铜棒1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312" y="240"/>
                  <a:ext cx="2154" cy="1132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40974" name="Picture 9" descr="黄铜制品31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312" y="2904"/>
                  <a:ext cx="2154" cy="1193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</p:grpSp>
          <p:sp>
            <p:nvSpPr>
              <p:cNvPr id="40971" name="Text Box 10"/>
              <p:cNvSpPr txBox="1">
                <a:spLocks noChangeAspect="1"/>
              </p:cNvSpPr>
              <p:nvPr/>
            </p:nvSpPr>
            <p:spPr>
              <a:xfrm>
                <a:off x="4967" y="2503"/>
                <a:ext cx="492" cy="72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>
                <a:spAutoFit/>
              </a:bodyPr>
              <a:lstStyle/>
              <a:p>
                <a:pPr lvl="0" eaLnBrk="1" hangingPunct="1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黄铜制品</a:t>
                </a:r>
              </a:p>
            </p:txBody>
          </p:sp>
        </p:grpSp>
        <p:sp>
          <p:nvSpPr>
            <p:cNvPr id="154635" name="Text Box 11"/>
            <p:cNvSpPr txBox="1">
              <a:spLocks noChangeAspect="1" noChangeArrowheads="1"/>
            </p:cNvSpPr>
            <p:nvPr/>
          </p:nvSpPr>
          <p:spPr bwMode="auto">
            <a:xfrm>
              <a:off x="3264" y="228"/>
              <a:ext cx="672" cy="769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黄铜棒</a:t>
              </a:r>
            </a:p>
          </p:txBody>
        </p:sp>
      </p:grpSp>
      <p:sp>
        <p:nvSpPr>
          <p:cNvPr id="1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467360" y="3140710"/>
            <a:ext cx="6510655" cy="124142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H   + 主加元素符号(Zn除外)+铜平均百分含量 + 主加元素平均百分含量,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86855"/>
            <a:ext cx="457200" cy="2717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5328121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、特殊黄铜</a:t>
            </a: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285750" y="1143000"/>
            <a:ext cx="8750746" cy="53117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HPb63-3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HAl60-1-1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HSn62-1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HFe59-1-1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ZCuZn38Mn2Pb2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ZCuZn16Si4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主要应用：船舶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化工</a:t>
            </a:r>
            <a:r>
              <a:rPr lang="zh-CN" altLang="en-US" b="1" dirty="0">
                <a:ea typeface="华文中宋" panose="02010600040101010101" pitchFamily="2" charset="-122"/>
              </a:rPr>
              <a:t>零件，如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冷凝管、齿轮、螺旋桨、轴承、衬套及阀体</a:t>
            </a:r>
            <a:r>
              <a:rPr lang="zh-CN" altLang="en-US" b="1" dirty="0">
                <a:ea typeface="华文中宋" panose="02010600040101010101" pitchFamily="2" charset="-122"/>
              </a:rPr>
              <a:t>等。 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2000250" y="4651375"/>
            <a:ext cx="6429375" cy="2049463"/>
            <a:chOff x="772" y="2260"/>
            <a:chExt cx="4377" cy="1700"/>
          </a:xfrm>
        </p:grpSpPr>
        <p:pic>
          <p:nvPicPr>
            <p:cNvPr id="41992" name="Picture 5" descr="strength_1b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" y="2288"/>
              <a:ext cx="2090" cy="167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41993" name="Picture 6" descr="strength_2b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" y="2260"/>
              <a:ext cx="2125" cy="170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-119381"/>
            <a:ext cx="8207375" cy="9810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常用黄铜牌号、成分、性能、用</a:t>
            </a: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途</a:t>
            </a:r>
          </a:p>
        </p:txBody>
      </p:sp>
      <p:pic>
        <p:nvPicPr>
          <p:cNvPr id="43012" name="Picture 4" descr="T8-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4505" y="1009015"/>
            <a:ext cx="7004050" cy="5388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249336" y="6376571"/>
            <a:ext cx="770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GB</a:t>
            </a:r>
            <a:r>
              <a:rPr lang="en-US" altLang="zh-CN" sz="1600" dirty="0">
                <a:solidFill>
                  <a:srgbClr val="FF0000"/>
                </a:solidFill>
              </a:rPr>
              <a:t>/</a:t>
            </a:r>
            <a:r>
              <a:rPr lang="zh-CN" altLang="en-US" sz="1600" dirty="0">
                <a:solidFill>
                  <a:srgbClr val="FF0000"/>
                </a:solidFill>
              </a:rPr>
              <a:t>T 5231-2022 加工铜及铜合金牌号和化学成分</a:t>
            </a:r>
            <a:r>
              <a:rPr lang="en-US" altLang="zh-CN" sz="1600" dirty="0">
                <a:solidFill>
                  <a:srgbClr val="FF0000"/>
                </a:solidFill>
              </a:rPr>
              <a:t>;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GB/T 1176-2013 </a:t>
            </a:r>
            <a:r>
              <a:rPr lang="zh-CN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铸造铜及铜合金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00252" y="988793"/>
            <a:ext cx="259228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GB/T 2040-2017 </a:t>
            </a:r>
            <a:r>
              <a:rPr lang="zh-CN" altLang="zh-CN" sz="1200" kern="100" dirty="0"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铜及铜合金板材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44640"/>
            <a:ext cx="428625" cy="2133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259632" y="1772816"/>
            <a:ext cx="6192688" cy="2376264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/>
              <a:t>三、白铜</a:t>
            </a:r>
            <a:br>
              <a:rPr lang="en-US" altLang="zh-CN" sz="6600" b="1" dirty="0"/>
            </a:br>
            <a:r>
              <a:rPr lang="en-US" altLang="zh-CN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Cupronickel</a:t>
            </a:r>
            <a:endParaRPr lang="zh-CN" altLang="en-US" sz="6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502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44640"/>
            <a:ext cx="428625" cy="2133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115616" y="0"/>
            <a:ext cx="7488832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/>
              <a:t>三、白铜  </a:t>
            </a:r>
            <a:r>
              <a:rPr lang="en-US" altLang="zh-CN" sz="4400" b="1" dirty="0"/>
              <a:t>Cupronickel</a:t>
            </a:r>
            <a:endParaRPr lang="zh-CN" altLang="en-US" b="1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214313" y="1268760"/>
            <a:ext cx="8715375" cy="537492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白铜</a:t>
            </a:r>
            <a:r>
              <a:rPr lang="en-US" altLang="zh-CN" b="1" dirty="0">
                <a:solidFill>
                  <a:schemeClr val="folHlink"/>
                </a:solidFill>
              </a:rPr>
              <a:t> 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/>
              <a:t>以</a:t>
            </a:r>
            <a:r>
              <a:rPr lang="zh-CN" altLang="en-US" b="1" dirty="0">
                <a:solidFill>
                  <a:srgbClr val="FF0000"/>
                </a:solidFill>
              </a:rPr>
              <a:t>镍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chemeClr val="folHlink"/>
                </a:solidFill>
              </a:rPr>
              <a:t>主要合金元素 的 铜合金。</a:t>
            </a:r>
          </a:p>
          <a:p>
            <a:pPr eaLnBrk="1" hangingPunct="1"/>
            <a:endParaRPr lang="en-US" altLang="zh-CN" b="1" dirty="0">
              <a:solidFill>
                <a:srgbClr val="CCFF33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</a:rPr>
              <a:t>分类：</a:t>
            </a:r>
            <a:endParaRPr lang="en-US" altLang="zh-CN" sz="2800" dirty="0"/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2339752" y="3717032"/>
            <a:ext cx="2079625" cy="1089025"/>
            <a:chOff x="3024" y="240"/>
            <a:chExt cx="2410" cy="1676"/>
          </a:xfrm>
        </p:grpSpPr>
        <p:pic>
          <p:nvPicPr>
            <p:cNvPr id="44040" name="Picture 6" descr="白铜（铸件）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" y="240"/>
              <a:ext cx="2410" cy="167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4041" name="Text Box 7"/>
            <p:cNvSpPr txBox="1">
              <a:spLocks noChangeAspect="1"/>
            </p:cNvSpPr>
            <p:nvPr/>
          </p:nvSpPr>
          <p:spPr>
            <a:xfrm>
              <a:off x="3072" y="288"/>
              <a:ext cx="358" cy="15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白铜件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" name="组合 6"/>
          <p:cNvGrpSpPr/>
          <p:nvPr/>
        </p:nvGrpSpPr>
        <p:grpSpPr>
          <a:xfrm>
            <a:off x="2023626" y="2406617"/>
            <a:ext cx="2648596" cy="867392"/>
            <a:chOff x="1658928" y="2667830"/>
            <a:chExt cx="2648596" cy="867392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1658928" y="2874050"/>
              <a:ext cx="864096" cy="38624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zh-CN" altLang="en-US" b="1" dirty="0">
                  <a:solidFill>
                    <a:schemeClr val="folHlink"/>
                  </a:solidFill>
                </a:rPr>
                <a:t>白铜</a:t>
              </a:r>
              <a:endParaRPr lang="en-US" altLang="zh-CN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AutoShape 189"/>
            <p:cNvSpPr/>
            <p:nvPr/>
          </p:nvSpPr>
          <p:spPr bwMode="auto">
            <a:xfrm>
              <a:off x="2583827" y="2780928"/>
              <a:ext cx="212537" cy="572484"/>
            </a:xfrm>
            <a:prstGeom prst="leftBrace">
              <a:avLst>
                <a:gd name="adj1" fmla="val 30952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</a:ln>
            <a:effectLst/>
          </p:spPr>
        </p:sp>
        <p:sp>
          <p:nvSpPr>
            <p:cNvPr id="5" name="文本框 4"/>
            <p:cNvSpPr txBox="1">
              <a:spLocks noChangeArrowheads="1"/>
            </p:cNvSpPr>
            <p:nvPr/>
          </p:nvSpPr>
          <p:spPr bwMode="auto">
            <a:xfrm>
              <a:off x="2847295" y="2667830"/>
              <a:ext cx="1460229" cy="386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</a:rPr>
                <a:t>普通白铜</a:t>
              </a:r>
              <a:endParaRPr lang="en-US" altLang="zh-CN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2847295" y="3148982"/>
              <a:ext cx="1460229" cy="3862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</a:rPr>
                <a:t>特殊白铜</a:t>
              </a:r>
              <a:endParaRPr lang="en-US" altLang="zh-CN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539750" y="1340485"/>
            <a:ext cx="9759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白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铜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644640"/>
            <a:ext cx="428625" cy="2133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2051050" y="0"/>
            <a:ext cx="4806950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/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普通白铜</a:t>
            </a:r>
            <a:endParaRPr lang="zh-CN" altLang="en-US" b="1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251520" y="1214437"/>
            <a:ext cx="8715375" cy="509488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普通白铜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Cu-Ni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二元合金（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Cu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多、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少）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性能特点</a:t>
            </a:r>
            <a:r>
              <a:rPr lang="zh-CN" altLang="en-US" b="1" dirty="0">
                <a:ea typeface="华文中宋" panose="02010600040101010101" pitchFamily="2" charset="-122"/>
              </a:rPr>
              <a:t>：较高的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</a:t>
            </a:r>
            <a:r>
              <a:rPr lang="zh-CN" altLang="en-US" b="1" dirty="0">
                <a:ea typeface="华文中宋" panose="02010600040101010101" pitchFamily="2" charset="-122"/>
              </a:rPr>
              <a:t>性和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抗腐蚀疲劳</a:t>
            </a:r>
            <a:r>
              <a:rPr lang="zh-CN" altLang="en-US" b="1" dirty="0">
                <a:ea typeface="华文中宋" panose="02010600040101010101" pitchFamily="2" charset="-122"/>
              </a:rPr>
              <a:t>性能、优良的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冷热加工</a:t>
            </a:r>
            <a:r>
              <a:rPr lang="zh-CN" altLang="en-US" b="1" dirty="0">
                <a:ea typeface="华文中宋" panose="02010600040101010101" pitchFamily="2" charset="-122"/>
              </a:rPr>
              <a:t>性能。 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镍的平均百分含量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常用牌号：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B5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B19 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等。</a:t>
            </a:r>
            <a:endParaRPr lang="en-US" altLang="zh-CN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蒸汽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海水环境下工作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精密机械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仪表零件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冷凝器、蒸馏器、热交换器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…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  <a:endParaRPr lang="en-US" altLang="zh-CN" b="1" dirty="0"/>
          </a:p>
          <a:p>
            <a:pPr eaLnBrk="1" hangingPunct="1"/>
            <a:endParaRPr lang="en-US" altLang="zh-CN" sz="2800" dirty="0"/>
          </a:p>
        </p:txBody>
      </p:sp>
      <p:sp>
        <p:nvSpPr>
          <p:cNvPr id="44041" name="Text Box 7"/>
          <p:cNvSpPr txBox="1">
            <a:spLocks noChangeAspect="1"/>
          </p:cNvSpPr>
          <p:nvPr/>
        </p:nvSpPr>
        <p:spPr>
          <a:xfrm>
            <a:off x="7256608" y="959877"/>
            <a:ext cx="308924" cy="1014951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白铜件</a:t>
            </a: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612140" y="1268730"/>
            <a:ext cx="172021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普通白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铜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1908175" y="2996565"/>
            <a:ext cx="3964305" cy="57213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B + 镍的平均百分含量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23268" y="-90005"/>
            <a:ext cx="52355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特殊白铜</a:t>
            </a: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323276" y="930275"/>
            <a:ext cx="8892480" cy="53816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）成分及分类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在普通白铜基础上添加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Zn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等元素，</a:t>
            </a:r>
            <a:r>
              <a:rPr lang="zh-CN" altLang="en-US" b="1" dirty="0">
                <a:ea typeface="华文中宋" panose="02010600040101010101" pitchFamily="2" charset="-122"/>
              </a:rPr>
              <a:t>分别称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锌白铜、锰白铜、铝白铜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）特点：</a:t>
            </a:r>
            <a:r>
              <a:rPr lang="zh-CN" altLang="en-US" b="1" dirty="0">
                <a:ea typeface="华文中宋" panose="02010600040101010101" pitchFamily="2" charset="-122"/>
              </a:rPr>
              <a:t>耐蚀性、强度和塑性高，成本低。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）常用牌号：如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BMn40-1.5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康铜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BMn43-0.5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考铜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）应用：</a:t>
            </a:r>
            <a:r>
              <a:rPr lang="zh-CN" altLang="en-US" b="1" dirty="0"/>
              <a:t>精密机械、仪表零件及医疗器械等。</a:t>
            </a:r>
          </a:p>
        </p:txBody>
      </p:sp>
      <p:grpSp>
        <p:nvGrpSpPr>
          <p:cNvPr id="45061" name="Group 6"/>
          <p:cNvGrpSpPr/>
          <p:nvPr/>
        </p:nvGrpSpPr>
        <p:grpSpPr>
          <a:xfrm>
            <a:off x="2442150" y="6007266"/>
            <a:ext cx="4224338" cy="722313"/>
            <a:chOff x="528" y="3021"/>
            <a:chExt cx="3060" cy="853"/>
          </a:xfrm>
        </p:grpSpPr>
        <p:pic>
          <p:nvPicPr>
            <p:cNvPr id="45067" name="Picture 7" descr="34热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" y="3120"/>
              <a:ext cx="3060" cy="75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5068" name="Text Box 8"/>
            <p:cNvSpPr txBox="1"/>
            <p:nvPr/>
          </p:nvSpPr>
          <p:spPr>
            <a:xfrm>
              <a:off x="1718" y="3021"/>
              <a:ext cx="960" cy="4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康铜热偶</a:t>
              </a:r>
            </a:p>
          </p:txBody>
        </p:sp>
      </p:grpSp>
      <p:grpSp>
        <p:nvGrpSpPr>
          <p:cNvPr id="45062" name="Group 9"/>
          <p:cNvGrpSpPr/>
          <p:nvPr/>
        </p:nvGrpSpPr>
        <p:grpSpPr>
          <a:xfrm>
            <a:off x="6666488" y="5905048"/>
            <a:ext cx="1819776" cy="979622"/>
            <a:chOff x="3435" y="1868"/>
            <a:chExt cx="1914" cy="1928"/>
          </a:xfrm>
        </p:grpSpPr>
        <p:pic>
          <p:nvPicPr>
            <p:cNvPr id="45065" name="Picture 10" descr="白铜（型材）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6" y="1937"/>
              <a:ext cx="1653" cy="185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5066" name="Text Box 11"/>
            <p:cNvSpPr txBox="1"/>
            <p:nvPr/>
          </p:nvSpPr>
          <p:spPr>
            <a:xfrm>
              <a:off x="3435" y="1868"/>
              <a:ext cx="1503" cy="7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白铜型材</a:t>
              </a:r>
            </a:p>
          </p:txBody>
        </p:sp>
      </p:grp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2544217" y="1968123"/>
            <a:ext cx="3002933" cy="1572434"/>
            <a:chOff x="2721195" y="2051331"/>
            <a:chExt cx="3002933" cy="1572434"/>
          </a:xfrm>
        </p:grpSpPr>
        <p:grpSp>
          <p:nvGrpSpPr>
            <p:cNvPr id="2" name="组合 1"/>
            <p:cNvGrpSpPr/>
            <p:nvPr/>
          </p:nvGrpSpPr>
          <p:grpSpPr>
            <a:xfrm>
              <a:off x="2721195" y="2051331"/>
              <a:ext cx="3002933" cy="1341665"/>
              <a:chOff x="970107" y="2514297"/>
              <a:chExt cx="3002933" cy="1341665"/>
            </a:xfrm>
          </p:grpSpPr>
          <p:sp>
            <p:nvSpPr>
              <p:cNvPr id="3" name="文本框 2"/>
              <p:cNvSpPr txBox="1">
                <a:spLocks noChangeArrowheads="1"/>
              </p:cNvSpPr>
              <p:nvPr/>
            </p:nvSpPr>
            <p:spPr bwMode="auto">
              <a:xfrm>
                <a:off x="970107" y="3125167"/>
                <a:ext cx="1558290" cy="38608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dirty="0"/>
                  <a:t>特殊</a:t>
                </a:r>
                <a:r>
                  <a:rPr lang="zh-CN" altLang="en-US" b="1" dirty="0">
                    <a:solidFill>
                      <a:schemeClr val="folHlink"/>
                    </a:solidFill>
                  </a:rPr>
                  <a:t>白铜</a:t>
                </a:r>
                <a:endParaRPr lang="en-US" altLang="zh-CN" kern="1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" name="AutoShape 189"/>
              <p:cNvSpPr/>
              <p:nvPr/>
            </p:nvSpPr>
            <p:spPr bwMode="auto">
              <a:xfrm>
                <a:off x="2583827" y="2780928"/>
                <a:ext cx="126031" cy="1075034"/>
              </a:xfrm>
              <a:prstGeom prst="leftBrace">
                <a:avLst>
                  <a:gd name="adj1" fmla="val 30952"/>
                  <a:gd name="adj2" fmla="val 50000"/>
                </a:avLst>
              </a:prstGeom>
              <a:noFill/>
              <a:ln w="9525">
                <a:solidFill>
                  <a:srgbClr val="FF0000"/>
                </a:solidFill>
                <a:round/>
              </a:ln>
              <a:effectLst/>
            </p:spPr>
          </p:sp>
          <p:sp>
            <p:nvSpPr>
              <p:cNvPr id="5" name="文本框 4"/>
              <p:cNvSpPr txBox="1">
                <a:spLocks noChangeArrowheads="1"/>
              </p:cNvSpPr>
              <p:nvPr/>
            </p:nvSpPr>
            <p:spPr bwMode="auto">
              <a:xfrm>
                <a:off x="2821292" y="2514297"/>
                <a:ext cx="1151748" cy="386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白铜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6" name="文本框 5"/>
              <p:cNvSpPr txBox="1">
                <a:spLocks noChangeArrowheads="1"/>
              </p:cNvSpPr>
              <p:nvPr/>
            </p:nvSpPr>
            <p:spPr bwMode="auto">
              <a:xfrm>
                <a:off x="2821292" y="2900537"/>
                <a:ext cx="1151748" cy="386240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</a:rPr>
                  <a:t>锰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白铜</a:t>
                </a:r>
                <a:endParaRPr lang="en-US" altLang="zh-CN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7" name="文本框 6"/>
            <p:cNvSpPr txBox="1">
              <a:spLocks noChangeArrowheads="1"/>
            </p:cNvSpPr>
            <p:nvPr/>
          </p:nvSpPr>
          <p:spPr bwMode="auto">
            <a:xfrm>
              <a:off x="4572380" y="2837548"/>
              <a:ext cx="1151748" cy="386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铝</a:t>
              </a:r>
              <a:r>
                <a:rPr lang="zh-CN" altLang="en-US" b="1" dirty="0">
                  <a:solidFill>
                    <a:srgbClr val="FF0000"/>
                  </a:solidFill>
                </a:rPr>
                <a:t>白铜</a:t>
              </a:r>
              <a:endParaRPr lang="en-US" altLang="zh-CN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" name="文本框 7"/>
            <p:cNvSpPr txBox="1">
              <a:spLocks noChangeArrowheads="1"/>
            </p:cNvSpPr>
            <p:nvPr/>
          </p:nvSpPr>
          <p:spPr bwMode="auto">
            <a:xfrm>
              <a:off x="4572380" y="3237525"/>
              <a:ext cx="1151748" cy="3862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…</a:t>
              </a:r>
              <a:r>
                <a:rPr lang="zh-CN" altLang="en-US" b="1" dirty="0">
                  <a:solidFill>
                    <a:srgbClr val="FF0000"/>
                  </a:solidFill>
                </a:rPr>
                <a:t>白铜</a:t>
              </a:r>
              <a:endParaRPr lang="en-US" altLang="zh-CN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656" y="1196752"/>
            <a:ext cx="5453211" cy="2736304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四、青铜  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Bronze</a:t>
            </a:r>
          </a:p>
        </p:txBody>
      </p: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26365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41681" y="167065"/>
            <a:ext cx="5453211" cy="836712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四、青铜 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Bronze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142875" y="1124268"/>
            <a:ext cx="7237413" cy="518492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青铜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FFE5B1"/>
                </a:solidFill>
                <a:ea typeface="华文中宋" panose="02010600040101010101" pitchFamily="2" charset="-122"/>
              </a:rPr>
              <a:t>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黄铜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白铜</a:t>
            </a:r>
            <a:r>
              <a:rPr lang="zh-CN" altLang="en-US" b="1" dirty="0">
                <a:ea typeface="华文中宋" panose="02010600040101010101" pitchFamily="2" charset="-122"/>
              </a:rPr>
              <a:t>外的其他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铜合金</a:t>
            </a:r>
            <a:r>
              <a:rPr lang="zh-CN" altLang="en-US" b="1" dirty="0">
                <a:ea typeface="华文中宋" panose="02010600040101010101" pitchFamily="2" charset="-122"/>
              </a:rPr>
              <a:t>统称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）加工青铜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</a:t>
            </a:r>
            <a:r>
              <a:rPr lang="zh-CN" altLang="en-US" b="1" dirty="0">
                <a:solidFill>
                  <a:srgbClr val="FFE5B1"/>
                </a:solidFill>
                <a:ea typeface="华文中宋" panose="02010600040101010101" pitchFamily="2" charset="-122"/>
              </a:rPr>
              <a:t>：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 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主加元素符号及其平均百分含量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其他元素平均百分含量，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QSn4-3(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4%Sn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3%Zn)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）常用青铜：锡青铜、铝青铜、铍青铜、硅青铜、铅青铜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…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7380605" y="1263015"/>
            <a:ext cx="1623695" cy="4734560"/>
            <a:chOff x="3696" y="576"/>
            <a:chExt cx="1700" cy="3115"/>
          </a:xfrm>
        </p:grpSpPr>
        <p:grpSp>
          <p:nvGrpSpPr>
            <p:cNvPr id="46088" name="Group 5"/>
            <p:cNvGrpSpPr>
              <a:grpSpLocks noChangeAspect="1"/>
            </p:cNvGrpSpPr>
            <p:nvPr/>
          </p:nvGrpSpPr>
          <p:grpSpPr>
            <a:xfrm>
              <a:off x="3696" y="576"/>
              <a:ext cx="1700" cy="1872"/>
              <a:chOff x="3840" y="1960"/>
              <a:chExt cx="1750" cy="1927"/>
            </a:xfrm>
          </p:grpSpPr>
          <p:pic>
            <p:nvPicPr>
              <p:cNvPr id="46090" name="Picture 6" descr="青铜制品1"/>
              <p:cNvPicPr preferRelativeResize="0"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40" y="1968"/>
                <a:ext cx="1750" cy="1919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6091" name="Text Box 7"/>
              <p:cNvSpPr txBox="1">
                <a:spLocks noChangeAspect="1"/>
              </p:cNvSpPr>
              <p:nvPr/>
            </p:nvSpPr>
            <p:spPr>
              <a:xfrm>
                <a:off x="3840" y="1960"/>
                <a:ext cx="816" cy="47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青铜制品</a:t>
                </a:r>
              </a:p>
            </p:txBody>
          </p:sp>
        </p:grpSp>
        <p:pic>
          <p:nvPicPr>
            <p:cNvPr id="46089" name="Picture 8" descr="青铜制品2"/>
            <p:cNvPicPr preferRelativeResize="0"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6" y="2592"/>
              <a:ext cx="1700" cy="109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537845" y="1143635"/>
            <a:ext cx="9747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青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铜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539750" y="3065780"/>
            <a:ext cx="6695440" cy="13766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Q  + 主加元素符号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及其平均百分含量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(Zn除外) + 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其他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元素平均百分含量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205740" y="786130"/>
            <a:ext cx="6009640" cy="60718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锡青铜：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锡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主加元素的铜合金，锡含量一般为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3~14%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铸造流动性差，铸件密度低，易渗漏，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体积收缩率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有色金属</a:t>
            </a:r>
            <a:r>
              <a:rPr lang="zh-CN" altLang="en-US" b="1" dirty="0">
                <a:ea typeface="华文中宋" panose="02010600040101010101" pitchFamily="2" charset="-122"/>
              </a:rPr>
              <a:t>中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最小</a:t>
            </a:r>
            <a:r>
              <a:rPr lang="zh-CN" altLang="en-US" b="1" dirty="0">
                <a:ea typeface="华文中宋" panose="02010600040101010101" pitchFamily="2" charset="-122"/>
              </a:rPr>
              <a:t> 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耐蚀性良好，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大气、海水及无机盐溶液</a:t>
            </a:r>
            <a:r>
              <a:rPr lang="zh-CN" altLang="en-US" b="1" dirty="0">
                <a:ea typeface="华文中宋" panose="02010600040101010101" pitchFamily="2" charset="-122"/>
              </a:rPr>
              <a:t>中的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</a:t>
            </a:r>
            <a:r>
              <a:rPr lang="zh-CN" altLang="en-US" b="1" dirty="0">
                <a:ea typeface="华文中宋" panose="02010600040101010101" pitchFamily="2" charset="-122"/>
              </a:rPr>
              <a:t>性比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纯铜和黄铜好，但在硫酸、盐酸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氨水中的耐蚀性较差。</a:t>
            </a:r>
            <a:r>
              <a:rPr lang="zh-CN" altLang="en-US" b="1" dirty="0">
                <a:ea typeface="华文中宋" panose="02010600040101010101" pitchFamily="2" charset="-122"/>
              </a:rPr>
              <a:t>  </a:t>
            </a: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6436266" y="1053615"/>
            <a:ext cx="2537617" cy="5352265"/>
            <a:chOff x="3779" y="240"/>
            <a:chExt cx="1813" cy="3824"/>
          </a:xfrm>
        </p:grpSpPr>
        <p:grpSp>
          <p:nvGrpSpPr>
            <p:cNvPr id="47112" name="Group 10"/>
            <p:cNvGrpSpPr>
              <a:grpSpLocks noChangeAspect="1"/>
            </p:cNvGrpSpPr>
            <p:nvPr/>
          </p:nvGrpSpPr>
          <p:grpSpPr>
            <a:xfrm>
              <a:off x="3818" y="2333"/>
              <a:ext cx="1774" cy="1731"/>
              <a:chOff x="3818" y="2333"/>
              <a:chExt cx="1774" cy="1731"/>
            </a:xfrm>
          </p:grpSpPr>
          <p:pic>
            <p:nvPicPr>
              <p:cNvPr id="47115" name="Picture 5" descr="锡青铜锭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18" y="2333"/>
                <a:ext cx="1774" cy="1731"/>
              </a:xfrm>
              <a:prstGeom prst="rect">
                <a:avLst/>
              </a:prstGeom>
              <a:noFill/>
              <a:ln w="1905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7116" name="Rectangle 7"/>
              <p:cNvSpPr>
                <a:spLocks noChangeAspect="1"/>
              </p:cNvSpPr>
              <p:nvPr/>
            </p:nvSpPr>
            <p:spPr>
              <a:xfrm>
                <a:off x="3818" y="3872"/>
                <a:ext cx="672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锡青铜锭</a:t>
                </a:r>
              </a:p>
            </p:txBody>
          </p:sp>
        </p:grpSp>
        <p:pic>
          <p:nvPicPr>
            <p:cNvPr id="47113" name="Picture 9" descr="Cu-Sn相图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9" y="240"/>
              <a:ext cx="1813" cy="1758"/>
            </a:xfrm>
            <a:prstGeom prst="rect">
              <a:avLst/>
            </a:prstGeom>
            <a:noFill/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7114" name="Text Box 11"/>
            <p:cNvSpPr txBox="1">
              <a:spLocks noChangeAspect="1"/>
            </p:cNvSpPr>
            <p:nvPr/>
          </p:nvSpPr>
          <p:spPr>
            <a:xfrm>
              <a:off x="4145" y="1998"/>
              <a:ext cx="920" cy="24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en-US" altLang="zh-CN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Cu-Sn</a:t>
              </a:r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相图</a:t>
              </a:r>
            </a:p>
          </p:txBody>
        </p:sp>
      </p:grp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2214563" y="0"/>
            <a:ext cx="45720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、锡青铜</a:t>
            </a: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dvAuto="100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428625" y="928688"/>
            <a:ext cx="4500563" cy="2209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QSn4-3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QSn6.5-0.4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ZCuSn10Pb1…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49182" name="Rectangle 30"/>
          <p:cNvSpPr>
            <a:spLocks noChangeArrowheads="1"/>
          </p:cNvSpPr>
          <p:nvPr/>
        </p:nvSpPr>
        <p:spPr bwMode="auto">
          <a:xfrm>
            <a:off x="4857750" y="4500563"/>
            <a:ext cx="4095750" cy="1981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应用：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主要用于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耐蚀承载件</a:t>
            </a:r>
            <a:r>
              <a:rPr kumimoji="1" lang="zh-CN" altLang="en-US" sz="2800" noProof="0" dirty="0">
                <a:solidFill>
                  <a:schemeClr val="tx1"/>
                </a:solidFill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如弹簧、轴承、齿轮轴、蜗轮、垫圈等。 </a:t>
            </a:r>
          </a:p>
        </p:txBody>
      </p:sp>
      <p:grpSp>
        <p:nvGrpSpPr>
          <p:cNvPr id="2" name="Group 36"/>
          <p:cNvGrpSpPr/>
          <p:nvPr/>
        </p:nvGrpSpPr>
        <p:grpSpPr>
          <a:xfrm>
            <a:off x="1403706" y="1181060"/>
            <a:ext cx="7206004" cy="4823410"/>
            <a:chOff x="728" y="629"/>
            <a:chExt cx="4484" cy="3038"/>
          </a:xfrm>
        </p:grpSpPr>
        <p:grpSp>
          <p:nvGrpSpPr>
            <p:cNvPr id="48137" name="Group 32"/>
            <p:cNvGrpSpPr>
              <a:grpSpLocks noChangeAspect="1"/>
            </p:cNvGrpSpPr>
            <p:nvPr/>
          </p:nvGrpSpPr>
          <p:grpSpPr>
            <a:xfrm>
              <a:off x="728" y="2002"/>
              <a:ext cx="2048" cy="1665"/>
              <a:chOff x="601" y="2057"/>
              <a:chExt cx="2169" cy="1763"/>
            </a:xfrm>
          </p:grpSpPr>
          <p:pic>
            <p:nvPicPr>
              <p:cNvPr id="48141" name="Picture 28" descr="锡青铜管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1" y="2057"/>
                <a:ext cx="2169" cy="176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8142" name="Text Box 31"/>
              <p:cNvSpPr txBox="1">
                <a:spLocks noChangeAspect="1"/>
              </p:cNvSpPr>
              <p:nvPr/>
            </p:nvSpPr>
            <p:spPr>
              <a:xfrm>
                <a:off x="601" y="3515"/>
                <a:ext cx="960" cy="30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锡青铜管</a:t>
                </a:r>
              </a:p>
            </p:txBody>
          </p:sp>
        </p:grpSp>
        <p:grpSp>
          <p:nvGrpSpPr>
            <p:cNvPr id="48138" name="Group 34"/>
            <p:cNvGrpSpPr>
              <a:grpSpLocks noChangeAspect="1"/>
            </p:cNvGrpSpPr>
            <p:nvPr/>
          </p:nvGrpSpPr>
          <p:grpSpPr>
            <a:xfrm>
              <a:off x="3343" y="629"/>
              <a:ext cx="1869" cy="1929"/>
              <a:chOff x="3352" y="501"/>
              <a:chExt cx="1967" cy="2031"/>
            </a:xfrm>
          </p:grpSpPr>
          <p:pic>
            <p:nvPicPr>
              <p:cNvPr id="48139" name="Picture 29" descr="船用青铜软管快速接头阀(锡青铜阀体阀盖)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352" y="501"/>
                <a:ext cx="1967" cy="2031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8140" name="Text Box 33"/>
              <p:cNvSpPr txBox="1">
                <a:spLocks noChangeAspect="1"/>
              </p:cNvSpPr>
              <p:nvPr/>
            </p:nvSpPr>
            <p:spPr>
              <a:xfrm>
                <a:off x="3376" y="511"/>
                <a:ext cx="1008" cy="78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船用青铜软管快速接头阀</a:t>
                </a:r>
                <a:r>
                  <a:rPr lang="en-US" altLang="zh-CN" sz="1800" dirty="0">
                    <a:solidFill>
                      <a:srgbClr val="8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1800" dirty="0">
                    <a:solidFill>
                      <a:srgbClr val="8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锡青铜阀体、阀盖</a:t>
                </a:r>
                <a:r>
                  <a:rPr lang="en-US" altLang="zh-CN" sz="1800" dirty="0">
                    <a:solidFill>
                      <a:srgbClr val="8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</p:grp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14880" y="0"/>
            <a:ext cx="4572000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、锡青铜</a:t>
            </a:r>
          </a:p>
        </p:txBody>
      </p:sp>
      <p:sp>
        <p:nvSpPr>
          <p:cNvPr id="1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dvAuto="1000"/>
      <p:bldP spid="4918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501380" y="6565265"/>
            <a:ext cx="528955" cy="29337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42875" y="928688"/>
            <a:ext cx="4071938" cy="26431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铝青铜：</a:t>
            </a:r>
            <a:r>
              <a:rPr lang="zh-CN" altLang="en-US" sz="2800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铝</a:t>
            </a:r>
            <a:r>
              <a:rPr lang="zh-CN" altLang="en-US" sz="2800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主加元素的铜合金，铝含量为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5~11%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特点：强度、硬度、</a:t>
            </a:r>
          </a:p>
        </p:txBody>
      </p:sp>
      <p:sp>
        <p:nvSpPr>
          <p:cNvPr id="51215" name="Rectangle 15"/>
          <p:cNvSpPr/>
          <p:nvPr/>
        </p:nvSpPr>
        <p:spPr>
          <a:xfrm>
            <a:off x="214313" y="3429000"/>
            <a:ext cx="8758237" cy="31575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耐磨性、耐热性及耐蚀性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高于</a:t>
            </a:r>
            <a:r>
              <a:rPr kumimoji="1" lang="zh-CN" altLang="en-US" sz="2800" dirty="0">
                <a:latin typeface="+mn-lt"/>
                <a:ea typeface="华文中宋" panose="02010600040101010101" pitchFamily="2" charset="-122"/>
                <a:cs typeface="+mn-cs"/>
              </a:rPr>
              <a:t>黄铜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kumimoji="1" lang="zh-CN" altLang="en-US" sz="2800" dirty="0">
                <a:latin typeface="+mn-lt"/>
                <a:ea typeface="华文中宋" panose="02010600040101010101" pitchFamily="2" charset="-122"/>
                <a:cs typeface="+mn-cs"/>
              </a:rPr>
              <a:t>锡青铜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，铸造性能好，但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焊接性能差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 </a:t>
            </a: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常用牌号：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QAl5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QAl7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ZCuAl8Mn13Fe3Ni2...</a:t>
            </a:r>
            <a:endParaRPr lang="en-US" altLang="zh-CN" sz="2800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应用：</a:t>
            </a:r>
            <a:r>
              <a:rPr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船舶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飞机及仪器中</a:t>
            </a:r>
            <a:r>
              <a:rPr lang="en-US" altLang="zh-CN" sz="2800" dirty="0">
                <a:solidFill>
                  <a:srgbClr val="CCFFFF"/>
                </a:solidFill>
                <a:ea typeface="华文中宋" panose="02010600040101010101" pitchFamily="2" charset="-122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高强、耐磨、耐蚀件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，如齿轮、轴承、蜗轮、轴套、螺旋桨等</a:t>
            </a:r>
            <a:r>
              <a:rPr lang="en-US" altLang="zh-CN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4143375" y="1071563"/>
            <a:ext cx="4654550" cy="2160587"/>
            <a:chOff x="2400" y="480"/>
            <a:chExt cx="2932" cy="1361"/>
          </a:xfrm>
        </p:grpSpPr>
        <p:pic>
          <p:nvPicPr>
            <p:cNvPr id="49161" name="Picture 9" descr="大型水力发电设备中的抗磨环(ZCuAl9Fe4Ni4Mn2)1"/>
            <p:cNvPicPr preferRelativeResize="0"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0" y="480"/>
              <a:ext cx="2932" cy="136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9162" name="Rectangle 17"/>
            <p:cNvSpPr/>
            <p:nvPr/>
          </p:nvSpPr>
          <p:spPr>
            <a:xfrm>
              <a:off x="3600" y="1696"/>
              <a:ext cx="1728" cy="144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大型水力发电设备中的抗磨环</a:t>
              </a:r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7340" y="0"/>
            <a:ext cx="3956908" cy="8172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、铝青铜</a:t>
            </a: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467360" y="1065530"/>
            <a:ext cx="1182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铝青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铜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dvAuto="1000"/>
      <p:bldP spid="5121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405495" y="6571616"/>
            <a:ext cx="385763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39725" y="928688"/>
            <a:ext cx="8804275" cy="2286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成分：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以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铍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主加元素的铜合金，铍含量为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1.7~2.5%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特点：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高的强度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弹性极限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耐磨性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耐蚀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性，良好的导电性、导热性、冷热加工及铸造性能，但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价格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贵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5632133" y="3215005"/>
            <a:ext cx="3357562" cy="2878138"/>
            <a:chOff x="3168" y="1824"/>
            <a:chExt cx="2378" cy="2039"/>
          </a:xfrm>
        </p:grpSpPr>
        <p:pic>
          <p:nvPicPr>
            <p:cNvPr id="50186" name="Picture 8" descr="铍铜制品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8" y="1824"/>
              <a:ext cx="2378" cy="2039"/>
            </a:xfrm>
            <a:prstGeom prst="rect">
              <a:avLst/>
            </a:prstGeom>
            <a:solidFill>
              <a:srgbClr val="00FFFF"/>
            </a:solidFill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0187" name="Text Box 9"/>
            <p:cNvSpPr txBox="1">
              <a:spLocks noChangeAspect="1"/>
            </p:cNvSpPr>
            <p:nvPr/>
          </p:nvSpPr>
          <p:spPr>
            <a:xfrm>
              <a:off x="4512" y="1824"/>
              <a:ext cx="1008" cy="26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铍青铜制品</a:t>
              </a:r>
            </a:p>
          </p:txBody>
        </p:sp>
      </p:grpSp>
      <p:sp>
        <p:nvSpPr>
          <p:cNvPr id="53260" name="Rectangle 12"/>
          <p:cNvSpPr/>
          <p:nvPr/>
        </p:nvSpPr>
        <p:spPr>
          <a:xfrm>
            <a:off x="357188" y="3214688"/>
            <a:ext cx="5157787" cy="3786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常用牌号：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QBe2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QBe1.7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QBe1.9…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应用：重要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的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弹性件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耐磨件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，如精密弹簧、膜片，高速、高压轴承及防爆工具、航海罗盘等重要机件。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35238" y="-14605"/>
            <a:ext cx="407193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、铍青铜</a:t>
            </a:r>
          </a:p>
        </p:txBody>
      </p:sp>
      <p:sp>
        <p:nvSpPr>
          <p:cNvPr id="50184" name="AutoShape 4">
            <a:hlinkClick r:id="rId4" action="ppaction://hlinksldjump"/>
          </p:cNvPr>
          <p:cNvSpPr/>
          <p:nvPr/>
        </p:nvSpPr>
        <p:spPr>
          <a:xfrm>
            <a:off x="8891905" y="6572250"/>
            <a:ext cx="252095" cy="28575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323850" y="1065530"/>
            <a:ext cx="1182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铍青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铜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dvAuto="1000"/>
      <p:bldP spid="5326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rcRect l="24606" t="17498" r="22146" b="8749"/>
          <a:stretch>
            <a:fillRect/>
          </a:stretch>
        </p:blipFill>
        <p:spPr bwMode="auto">
          <a:xfrm>
            <a:off x="5004048" y="548680"/>
            <a:ext cx="345638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24606" t="17498" r="22146" b="8749"/>
          <a:stretch>
            <a:fillRect/>
          </a:stretch>
        </p:blipFill>
        <p:spPr bwMode="auto">
          <a:xfrm>
            <a:off x="899592" y="548680"/>
            <a:ext cx="3881777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 l="22146" t="17498" r="22146" b="8749"/>
          <a:stretch>
            <a:fillRect/>
          </a:stretch>
        </p:blipFill>
        <p:spPr bwMode="auto">
          <a:xfrm>
            <a:off x="3203848" y="3823200"/>
            <a:ext cx="4075185" cy="303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日期占位符 1"/>
          <p:cNvSpPr txBox="1"/>
          <p:nvPr/>
        </p:nvSpPr>
        <p:spPr bwMode="auto">
          <a:xfrm>
            <a:off x="0" y="6572250"/>
            <a:ext cx="1785938" cy="285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629400"/>
            <a:ext cx="386080" cy="22923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5341" y="1412776"/>
            <a:ext cx="8493318" cy="338437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第三节  钛及钛合金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Titanium &amp; Its Alloys</a:t>
            </a:r>
            <a:r>
              <a:rPr kumimoji="1" lang="zh-CN" altLang="en-US" sz="6000" b="0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07" name="AutoShape 4">
            <a:hlinkClick r:id="rId2" action="ppaction://hlinksldjump"/>
          </p:cNvPr>
          <p:cNvSpPr/>
          <p:nvPr/>
        </p:nvSpPr>
        <p:spPr>
          <a:xfrm>
            <a:off x="8873490" y="665099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35560" y="32124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629400"/>
            <a:ext cx="386080" cy="22923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115888"/>
            <a:ext cx="6753225" cy="884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第三节  钛及钛合金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250824" y="1143000"/>
            <a:ext cx="6337400" cy="54292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一、工业纯钛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密度小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(4.507g/cm</a:t>
            </a:r>
            <a:r>
              <a:rPr lang="en-US" altLang="zh-CN" b="1" baseline="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，熔点高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(1688 ℃)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ea typeface="华文中宋" panose="02010600040101010101" pitchFamily="2" charset="-122"/>
              </a:rPr>
              <a:t>882.5℃</a:t>
            </a:r>
            <a:r>
              <a:rPr lang="zh-CN" altLang="en-US" b="1" dirty="0">
                <a:ea typeface="华文中宋" panose="02010600040101010101" pitchFamily="2" charset="-122"/>
              </a:rPr>
              <a:t>发生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同素异构转变：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-Ti(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体心立方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 </a:t>
            </a:r>
            <a:r>
              <a:rPr lang="en-US" altLang="zh-CN" b="1" dirty="0">
                <a:solidFill>
                  <a:srgbClr val="CCFF33"/>
                </a:solidFill>
                <a:ea typeface="Arial Unicode MS" panose="020B0604020202020204" charset="-122"/>
              </a:rPr>
              <a:t>⇌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-Ti</a:t>
            </a:r>
            <a:r>
              <a:rPr lang="en-US" altLang="zh-CN" b="1" dirty="0">
                <a:ea typeface="华文中宋" panose="02010600040101010101" pitchFamily="2" charset="-122"/>
              </a:rPr>
              <a:t>, 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密排六方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特点：纯钛比强度高，塑性、低温韧性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耐蚀性好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TA0~TA4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共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13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个牌号</a:t>
            </a:r>
            <a:endParaRPr lang="zh-CN" altLang="en-US" b="1" dirty="0">
              <a:solidFill>
                <a:srgbClr val="CCFF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6660907" y="1377036"/>
            <a:ext cx="2370280" cy="2448288"/>
            <a:chOff x="3338" y="690"/>
            <a:chExt cx="2209" cy="2282"/>
          </a:xfrm>
        </p:grpSpPr>
        <p:pic>
          <p:nvPicPr>
            <p:cNvPr id="51209" name="Picture 8" descr="F-2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8" y="690"/>
              <a:ext cx="2209" cy="171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1210" name="Rectangle 11"/>
            <p:cNvSpPr>
              <a:spLocks noChangeAspect="1"/>
            </p:cNvSpPr>
            <p:nvPr/>
          </p:nvSpPr>
          <p:spPr>
            <a:xfrm>
              <a:off x="3484" y="2468"/>
              <a:ext cx="1934" cy="241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美</a:t>
              </a:r>
              <a:r>
                <a:rPr lang="en-US" altLang="zh-CN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F-22</a:t>
              </a:r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战机约</a:t>
              </a:r>
              <a:r>
                <a:rPr lang="en-US" altLang="zh-CN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36%</a:t>
              </a:r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重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211" name="Rectangle 12"/>
            <p:cNvSpPr>
              <a:spLocks noChangeAspect="1"/>
            </p:cNvSpPr>
            <p:nvPr/>
          </p:nvSpPr>
          <p:spPr>
            <a:xfrm>
              <a:off x="3402" y="2725"/>
              <a:ext cx="2081" cy="247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量的零件用钛合金制造</a:t>
              </a:r>
            </a:p>
          </p:txBody>
        </p:sp>
      </p:grpSp>
      <p:sp>
        <p:nvSpPr>
          <p:cNvPr id="51207" name="AutoShape 4">
            <a:hlinkClick r:id="rId3" action="ppaction://hlinksldjump"/>
          </p:cNvPr>
          <p:cNvSpPr/>
          <p:nvPr/>
        </p:nvSpPr>
        <p:spPr>
          <a:xfrm>
            <a:off x="8873490" y="665099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199159" y="5647460"/>
            <a:ext cx="483202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</a:rPr>
              <a:t>GB/T 3620.1-2016  </a:t>
            </a:r>
            <a:r>
              <a:rPr lang="zh-CN" altLang="zh-CN" sz="1800" dirty="0">
                <a:solidFill>
                  <a:srgbClr val="0000FF"/>
                </a:solidFill>
              </a:rPr>
              <a:t>钛及钛合金牌号和化学成分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ldLvl="0" animBg="1"/>
      <p:bldP spid="55299" grpId="0" build="p" advAuto="100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5380" y="6585585"/>
            <a:ext cx="389255" cy="2730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6816" name="Rectangle 16"/>
          <p:cNvSpPr>
            <a:spLocks noGrp="1"/>
          </p:cNvSpPr>
          <p:nvPr>
            <p:ph idx="1"/>
          </p:nvPr>
        </p:nvSpPr>
        <p:spPr>
          <a:xfrm>
            <a:off x="0" y="929005"/>
            <a:ext cx="4965700" cy="48621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纯钛</a:t>
            </a:r>
            <a:r>
              <a:rPr lang="zh-CN" altLang="en-US" sz="2800" b="1" dirty="0">
                <a:ea typeface="华文中宋" panose="02010600040101010101" pitchFamily="2" charset="-122"/>
              </a:rPr>
              <a:t>主要用于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350℃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以下</a:t>
            </a:r>
            <a:r>
              <a:rPr lang="zh-CN" altLang="en-US" sz="2800" b="1" dirty="0">
                <a:ea typeface="华文中宋" panose="02010600040101010101" pitchFamily="2" charset="-122"/>
              </a:rPr>
              <a:t>工作、强度要求不高的零件，如石油化工用</a:t>
            </a:r>
            <a:r>
              <a:rPr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热交换器、反应器，海水净化装置</a:t>
            </a:r>
            <a:r>
              <a:rPr lang="zh-CN" altLang="en-US" sz="2800" b="1" dirty="0">
                <a:ea typeface="华文中宋" panose="02010600040101010101" pitchFamily="2" charset="-122"/>
              </a:rPr>
              <a:t>及舰船零部件。  </a:t>
            </a:r>
            <a:endParaRPr lang="zh-CN" altLang="en-US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27"/>
          <p:cNvGrpSpPr>
            <a:grpSpLocks noChangeAspect="1"/>
          </p:cNvGrpSpPr>
          <p:nvPr/>
        </p:nvGrpSpPr>
        <p:grpSpPr>
          <a:xfrm>
            <a:off x="714375" y="1295733"/>
            <a:ext cx="8146051" cy="5139993"/>
            <a:chOff x="384" y="672"/>
            <a:chExt cx="5209" cy="3376"/>
          </a:xfrm>
        </p:grpSpPr>
        <p:grpSp>
          <p:nvGrpSpPr>
            <p:cNvPr id="52231" name="Group 24"/>
            <p:cNvGrpSpPr>
              <a:grpSpLocks noChangeAspect="1"/>
            </p:cNvGrpSpPr>
            <p:nvPr/>
          </p:nvGrpSpPr>
          <p:grpSpPr>
            <a:xfrm>
              <a:off x="3449" y="672"/>
              <a:ext cx="2072" cy="1358"/>
              <a:chOff x="3449" y="672"/>
              <a:chExt cx="2072" cy="1358"/>
            </a:xfrm>
          </p:grpSpPr>
          <p:pic>
            <p:nvPicPr>
              <p:cNvPr id="52238" name="Picture 4" descr="钛钢复合反应釜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449" y="672"/>
                <a:ext cx="2072" cy="134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2239" name="Text Box 9"/>
              <p:cNvSpPr txBox="1">
                <a:spLocks noChangeAspect="1"/>
              </p:cNvSpPr>
              <p:nvPr/>
            </p:nvSpPr>
            <p:spPr>
              <a:xfrm>
                <a:off x="3449" y="1789"/>
                <a:ext cx="1248" cy="24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钛钢复合反应釜</a:t>
                </a:r>
              </a:p>
            </p:txBody>
          </p:sp>
        </p:grpSp>
        <p:grpSp>
          <p:nvGrpSpPr>
            <p:cNvPr id="52232" name="Group 25"/>
            <p:cNvGrpSpPr>
              <a:grpSpLocks noChangeAspect="1"/>
            </p:cNvGrpSpPr>
            <p:nvPr/>
          </p:nvGrpSpPr>
          <p:grpSpPr>
            <a:xfrm>
              <a:off x="3552" y="2352"/>
              <a:ext cx="2041" cy="1692"/>
              <a:chOff x="3552" y="2352"/>
              <a:chExt cx="2041" cy="1692"/>
            </a:xfrm>
          </p:grpSpPr>
          <p:pic>
            <p:nvPicPr>
              <p:cNvPr id="52236" name="Picture 8" descr="钛管换热器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00" y="2364"/>
                <a:ext cx="1993" cy="168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2237" name="Text Box 11"/>
              <p:cNvSpPr txBox="1">
                <a:spLocks noChangeAspect="1"/>
              </p:cNvSpPr>
              <p:nvPr/>
            </p:nvSpPr>
            <p:spPr>
              <a:xfrm>
                <a:off x="3552" y="2352"/>
                <a:ext cx="912" cy="2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钛管换热器</a:t>
                </a:r>
              </a:p>
            </p:txBody>
          </p:sp>
        </p:grpSp>
        <p:grpSp>
          <p:nvGrpSpPr>
            <p:cNvPr id="52233" name="Group 26"/>
            <p:cNvGrpSpPr>
              <a:grpSpLocks noChangeAspect="1"/>
            </p:cNvGrpSpPr>
            <p:nvPr/>
          </p:nvGrpSpPr>
          <p:grpSpPr>
            <a:xfrm>
              <a:off x="384" y="2688"/>
              <a:ext cx="3126" cy="1360"/>
              <a:chOff x="384" y="2688"/>
              <a:chExt cx="3126" cy="1360"/>
            </a:xfrm>
          </p:grpSpPr>
          <p:pic>
            <p:nvPicPr>
              <p:cNvPr id="52234" name="Picture 6" descr="钛制蒸馏塔(TA2)1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4" y="2688"/>
                <a:ext cx="3126" cy="136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2235" name="Rectangle 18"/>
              <p:cNvSpPr>
                <a:spLocks noChangeAspect="1"/>
              </p:cNvSpPr>
              <p:nvPr/>
            </p:nvSpPr>
            <p:spPr>
              <a:xfrm>
                <a:off x="384" y="3852"/>
                <a:ext cx="829" cy="166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钛制蒸馏塔</a:t>
                </a:r>
              </a:p>
            </p:txBody>
          </p:sp>
        </p:grpSp>
      </p:grpSp>
      <p:sp>
        <p:nvSpPr>
          <p:cNvPr id="1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1331640" y="116632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2"/>
                </a:solidFill>
                <a:ea typeface="华文中宋" panose="02010600040101010101" pitchFamily="2" charset="-122"/>
              </a:rPr>
              <a:t>一、工业纯钛</a:t>
            </a:r>
            <a:r>
              <a:rPr lang="zh-CN" altLang="en-US" sz="4400" dirty="0"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6" grpId="0" build="p" advAuto="100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00125"/>
            <a:ext cx="8686800" cy="4587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纯钛加入合金元素形成钛合金。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钛合金几乎都含有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铝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铝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能提高钛合金的</a:t>
            </a:r>
            <a:r>
              <a:rPr kumimoji="0" lang="zh-CN" altLang="en-US" sz="2800" b="1" i="0" u="none" strike="noStrike" kern="1200" cap="none" spc="0" normalizeH="0" baseline="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强度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比强度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0" lang="zh-CN" altLang="en-US" sz="2800" b="1" i="0" u="none" strike="noStrike" kern="1200" cap="none" spc="0" normalizeH="0" baseline="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再结晶温度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7348" name="Rectangle 4"/>
          <p:cNvSpPr/>
          <p:nvPr/>
        </p:nvSpPr>
        <p:spPr>
          <a:xfrm>
            <a:off x="323528" y="2708920"/>
            <a:ext cx="4572000" cy="4264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分类：</a:t>
            </a:r>
            <a:r>
              <a:rPr kumimoji="1" lang="zh-CN" altLang="en-US" sz="2800" kern="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按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退火组织，钛合金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可分为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型钛合金、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型钛合金</a:t>
            </a:r>
            <a:r>
              <a:rPr kumimoji="1" lang="zh-CN" altLang="en-US" sz="2800" kern="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型钛合金三类，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牌号分别用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TA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TB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TC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加顺序号表示 。如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TA5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TB2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TC4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等。其中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TA0~TA4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为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工业纯钛。  </a:t>
            </a: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5214938" y="2643188"/>
            <a:ext cx="3419475" cy="3360737"/>
            <a:chOff x="3120" y="1584"/>
            <a:chExt cx="2267" cy="2228"/>
          </a:xfrm>
        </p:grpSpPr>
        <p:pic>
          <p:nvPicPr>
            <p:cNvPr id="53257" name="Picture 5" descr="钛泵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0" y="1584"/>
              <a:ext cx="2267" cy="222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3258" name="Text Box 6"/>
            <p:cNvSpPr txBox="1">
              <a:spLocks noChangeAspect="1"/>
            </p:cNvSpPr>
            <p:nvPr/>
          </p:nvSpPr>
          <p:spPr>
            <a:xfrm>
              <a:off x="3120" y="1584"/>
              <a:ext cx="768" cy="24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钛合金泵</a:t>
              </a: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9792" y="0"/>
            <a:ext cx="39290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二、钛合金</a:t>
            </a: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dvAuto="1000"/>
      <p:bldP spid="5734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214630" y="786130"/>
            <a:ext cx="5585460" cy="57384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合金元素：铝（主加元素）、锡、锆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组织：不能热处理强化</a:t>
            </a:r>
            <a:r>
              <a:rPr lang="zh-CN" altLang="en-US" b="1" dirty="0">
                <a:ea typeface="华文中宋" panose="02010600040101010101" pitchFamily="2" charset="-122"/>
              </a:rPr>
              <a:t>，通常在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退火状态</a:t>
            </a:r>
            <a:r>
              <a:rPr lang="zh-CN" altLang="en-US" b="1" dirty="0">
                <a:ea typeface="华文中宋" panose="02010600040101010101" pitchFamily="2" charset="-122"/>
              </a:rPr>
              <a:t>下使用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组织为单相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固溶体；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+mn-ea"/>
              </a:rPr>
              <a:t>性能：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低</a:t>
            </a:r>
            <a:r>
              <a:rPr lang="zh-CN" altLang="en-US" b="1" dirty="0">
                <a:ea typeface="华文中宋" panose="02010600040101010101" pitchFamily="2" charset="-122"/>
              </a:rPr>
              <a:t>于另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两类钛合金，</a:t>
            </a:r>
            <a:r>
              <a:rPr lang="zh-CN" altLang="en-US" b="1" dirty="0"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高温强度、低温韧性及耐蚀性优越。</a:t>
            </a: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5941226" y="1007486"/>
            <a:ext cx="2925981" cy="4870517"/>
            <a:chOff x="3434" y="293"/>
            <a:chExt cx="1988" cy="3308"/>
          </a:xfrm>
        </p:grpSpPr>
        <p:grpSp>
          <p:nvGrpSpPr>
            <p:cNvPr id="54280" name="Group 10"/>
            <p:cNvGrpSpPr>
              <a:grpSpLocks noChangeAspect="1"/>
            </p:cNvGrpSpPr>
            <p:nvPr/>
          </p:nvGrpSpPr>
          <p:grpSpPr>
            <a:xfrm>
              <a:off x="3434" y="336"/>
              <a:ext cx="1988" cy="3265"/>
              <a:chOff x="3434" y="336"/>
              <a:chExt cx="1988" cy="3265"/>
            </a:xfrm>
          </p:grpSpPr>
          <p:pic>
            <p:nvPicPr>
              <p:cNvPr id="54283" name="Picture 4" descr="钛合金氢泵诱导轮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465" y="336"/>
                <a:ext cx="1957" cy="160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4284" name="Picture 5" descr="钛合金氢泵壳体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434" y="2208"/>
                <a:ext cx="1988" cy="139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54281" name="Text Box 6"/>
            <p:cNvSpPr txBox="1">
              <a:spLocks noChangeAspect="1"/>
            </p:cNvSpPr>
            <p:nvPr/>
          </p:nvSpPr>
          <p:spPr>
            <a:xfrm>
              <a:off x="3489" y="293"/>
              <a:ext cx="1471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l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钛合金氢泵诱导轮</a:t>
              </a:r>
            </a:p>
          </p:txBody>
        </p:sp>
        <p:sp>
          <p:nvSpPr>
            <p:cNvPr id="54282" name="Text Box 7"/>
            <p:cNvSpPr txBox="1">
              <a:spLocks noChangeAspect="1"/>
            </p:cNvSpPr>
            <p:nvPr/>
          </p:nvSpPr>
          <p:spPr>
            <a:xfrm>
              <a:off x="4118" y="2208"/>
              <a:ext cx="1272" cy="2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钛合金氢泵壳体</a:t>
              </a: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313" y="0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dvAuto="100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15680" y="6574155"/>
            <a:ext cx="528955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-36830" y="952500"/>
            <a:ext cx="5857875" cy="376301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TA5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TA7</a:t>
            </a:r>
            <a:r>
              <a:rPr lang="zh-CN" altLang="en-US" b="1" dirty="0">
                <a:ea typeface="华文中宋" panose="02010600040101010101" pitchFamily="2" charset="-122"/>
              </a:rPr>
              <a:t>等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主要用于制造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500℃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以下工作的零件，如飞机压气机叶片、导弹的燃料罐、超音速飞机的蜗轮机匣及飞船上的高压低温容器等。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1786144" y="4733869"/>
            <a:ext cx="7015757" cy="2027931"/>
            <a:chOff x="587" y="2685"/>
            <a:chExt cx="4973" cy="1437"/>
          </a:xfrm>
        </p:grpSpPr>
        <p:pic>
          <p:nvPicPr>
            <p:cNvPr id="55306" name="Picture 4" descr="钛合金卫星框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" y="2685"/>
              <a:ext cx="2443" cy="140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5307" name="Picture 5" descr="钛合金液下泵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" y="2685"/>
              <a:ext cx="2345" cy="143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5308" name="Text Box 6"/>
            <p:cNvSpPr txBox="1">
              <a:spLocks noChangeAspect="1"/>
            </p:cNvSpPr>
            <p:nvPr/>
          </p:nvSpPr>
          <p:spPr>
            <a:xfrm>
              <a:off x="1458" y="2703"/>
              <a:ext cx="1488" cy="26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钛合金卫星框架</a:t>
              </a:r>
            </a:p>
          </p:txBody>
        </p:sp>
        <p:sp>
          <p:nvSpPr>
            <p:cNvPr id="55309" name="Text Box 7"/>
            <p:cNvSpPr txBox="1">
              <a:spLocks noChangeAspect="1"/>
            </p:cNvSpPr>
            <p:nvPr/>
          </p:nvSpPr>
          <p:spPr>
            <a:xfrm>
              <a:off x="3099" y="2685"/>
              <a:ext cx="1489" cy="26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钛合金液下泵</a:t>
              </a: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929313" y="1071563"/>
            <a:ext cx="3036887" cy="2897187"/>
            <a:chOff x="3708" y="297"/>
            <a:chExt cx="1913" cy="1825"/>
          </a:xfrm>
        </p:grpSpPr>
        <p:pic>
          <p:nvPicPr>
            <p:cNvPr id="55304" name="Picture 10" descr="αTi合金组织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8" y="297"/>
              <a:ext cx="1913" cy="181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5305" name="Text Box 11"/>
            <p:cNvSpPr txBox="1"/>
            <p:nvPr/>
          </p:nvSpPr>
          <p:spPr>
            <a:xfrm>
              <a:off x="4464" y="1872"/>
              <a:ext cx="1152" cy="250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>
              <a:spAutoFit/>
            </a:bodyPr>
            <a:lstStyle/>
            <a:p>
              <a:pPr lvl="0" algn="r" eaLnBrk="1" hangingPunct="1"/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-Ti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合金组织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630" y="0"/>
            <a:ext cx="4572000" cy="786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dvAuto="100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285750" y="1052830"/>
            <a:ext cx="4929505" cy="5298440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合金元素：钼、铬、钒、铝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组织：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</a:t>
            </a:r>
            <a:r>
              <a:rPr lang="zh-CN" altLang="en-US" b="1" dirty="0">
                <a:ea typeface="华文中宋" panose="02010600040101010101" pitchFamily="2" charset="-122"/>
              </a:rPr>
              <a:t>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时效处理后，组织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相基体</a:t>
            </a:r>
            <a:r>
              <a:rPr lang="zh-CN" altLang="en-US" b="1" dirty="0">
                <a:ea typeface="华文中宋" panose="02010600040101010101" pitchFamily="2" charset="-122"/>
              </a:rPr>
              <a:t>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分布着细小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相粒子。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性能：强度高</a:t>
            </a:r>
            <a:r>
              <a:rPr lang="zh-CN" altLang="en-US" b="1" dirty="0">
                <a:ea typeface="华文中宋" panose="02010600040101010101" pitchFamily="2" charset="-122"/>
              </a:rPr>
              <a:t>，但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冶炼工艺复杂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难于焊接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应用受到限制。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>
          <a:xfrm>
            <a:off x="5357813" y="1000125"/>
            <a:ext cx="3609975" cy="5399088"/>
            <a:chOff x="3024" y="240"/>
            <a:chExt cx="2494" cy="3729"/>
          </a:xfrm>
        </p:grpSpPr>
        <p:grpSp>
          <p:nvGrpSpPr>
            <p:cNvPr id="56328" name="Group 9"/>
            <p:cNvGrpSpPr>
              <a:grpSpLocks noChangeAspect="1"/>
            </p:cNvGrpSpPr>
            <p:nvPr/>
          </p:nvGrpSpPr>
          <p:grpSpPr>
            <a:xfrm>
              <a:off x="3024" y="240"/>
              <a:ext cx="2494" cy="3729"/>
              <a:chOff x="3024" y="336"/>
              <a:chExt cx="2494" cy="3729"/>
            </a:xfrm>
          </p:grpSpPr>
          <p:pic>
            <p:nvPicPr>
              <p:cNvPr id="56331" name="Picture 4" descr="钛合金管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4" y="336"/>
                <a:ext cx="2494" cy="146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6332" name="Picture 5" descr="钛管应用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4" y="1872"/>
                <a:ext cx="2494" cy="219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56329" name="Text Box 6"/>
            <p:cNvSpPr txBox="1">
              <a:spLocks noChangeAspect="1"/>
            </p:cNvSpPr>
            <p:nvPr/>
          </p:nvSpPr>
          <p:spPr>
            <a:xfrm>
              <a:off x="3024" y="240"/>
              <a:ext cx="1152" cy="2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钛合金管</a:t>
              </a:r>
            </a:p>
          </p:txBody>
        </p:sp>
        <p:sp>
          <p:nvSpPr>
            <p:cNvPr id="56330" name="Text Box 7"/>
            <p:cNvSpPr txBox="1">
              <a:spLocks noChangeAspect="1"/>
            </p:cNvSpPr>
            <p:nvPr/>
          </p:nvSpPr>
          <p:spPr>
            <a:xfrm>
              <a:off x="3024" y="1824"/>
              <a:ext cx="1152" cy="25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钛合金管应用</a:t>
              </a: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-83801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dvAuto="100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/>
          </p:cNvSpPr>
          <p:nvPr>
            <p:ph idx="1"/>
          </p:nvPr>
        </p:nvSpPr>
        <p:spPr>
          <a:xfrm>
            <a:off x="68579" y="837005"/>
            <a:ext cx="5797277" cy="4038600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型钛合金牌号有三个：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TB2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TB3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TB4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+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近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型钛合金共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16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个牌号：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TB2~TB17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）。</a:t>
            </a: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en-US" altLang="zh-CN" b="1" dirty="0">
                <a:ea typeface="华文中宋" panose="02010600040101010101" pitchFamily="2" charset="-122"/>
              </a:rPr>
              <a:t>350℃</a:t>
            </a:r>
            <a:r>
              <a:rPr lang="zh-CN" altLang="en-US" b="1" dirty="0">
                <a:ea typeface="华文中宋" panose="02010600040101010101" pitchFamily="2" charset="-122"/>
              </a:rPr>
              <a:t>以下工作的结构件和紧固件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飞机压气机叶片、轴、弹簧、轮盘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</a:p>
        </p:txBody>
      </p:sp>
      <p:grpSp>
        <p:nvGrpSpPr>
          <p:cNvPr id="2" name="Group 13"/>
          <p:cNvGrpSpPr/>
          <p:nvPr/>
        </p:nvGrpSpPr>
        <p:grpSpPr>
          <a:xfrm>
            <a:off x="6560184" y="1053132"/>
            <a:ext cx="2387600" cy="5194027"/>
            <a:chOff x="3871" y="528"/>
            <a:chExt cx="1504" cy="3272"/>
          </a:xfrm>
        </p:grpSpPr>
        <p:pic>
          <p:nvPicPr>
            <p:cNvPr id="57351" name="Picture 4" descr="钛（β钛眼镜架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5" y="1632"/>
              <a:ext cx="1483" cy="111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7352" name="Picture 5" descr="钛棒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1" y="528"/>
              <a:ext cx="1502" cy="1086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7353" name="Text Box 6"/>
            <p:cNvSpPr txBox="1"/>
            <p:nvPr/>
          </p:nvSpPr>
          <p:spPr>
            <a:xfrm>
              <a:off x="4552" y="1350"/>
              <a:ext cx="823" cy="25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钛合金棒</a:t>
              </a:r>
            </a:p>
          </p:txBody>
        </p:sp>
        <p:sp>
          <p:nvSpPr>
            <p:cNvPr id="57354" name="Text Box 7"/>
            <p:cNvSpPr txBox="1"/>
            <p:nvPr/>
          </p:nvSpPr>
          <p:spPr>
            <a:xfrm>
              <a:off x="3966" y="2475"/>
              <a:ext cx="13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en-US" altLang="zh-CN" sz="2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zh-CN" altLang="en-US" sz="2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钛合金眼镜架</a:t>
              </a:r>
            </a:p>
          </p:txBody>
        </p:sp>
        <p:grpSp>
          <p:nvGrpSpPr>
            <p:cNvPr id="57355" name="Group 11"/>
            <p:cNvGrpSpPr>
              <a:grpSpLocks noChangeAspect="1"/>
            </p:cNvGrpSpPr>
            <p:nvPr/>
          </p:nvGrpSpPr>
          <p:grpSpPr>
            <a:xfrm>
              <a:off x="3871" y="2779"/>
              <a:ext cx="1501" cy="1021"/>
              <a:chOff x="3689" y="3021"/>
              <a:chExt cx="1410" cy="959"/>
            </a:xfrm>
          </p:grpSpPr>
          <p:pic>
            <p:nvPicPr>
              <p:cNvPr id="57356" name="Picture 9" descr="钛离心机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89" y="3021"/>
                <a:ext cx="1410" cy="949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7357" name="Text Box 10"/>
              <p:cNvSpPr txBox="1">
                <a:spLocks noChangeAspect="1"/>
              </p:cNvSpPr>
              <p:nvPr/>
            </p:nvSpPr>
            <p:spPr>
              <a:xfrm>
                <a:off x="3692" y="3745"/>
                <a:ext cx="816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钛离心泵</a:t>
                </a:r>
              </a:p>
            </p:txBody>
          </p:sp>
        </p:grpSp>
      </p:grp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49720"/>
            <a:ext cx="386080" cy="2089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323215" y="5302885"/>
            <a:ext cx="5710555" cy="1113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/>
              <a:t>GB/T 3620.1-2016  </a:t>
            </a:r>
            <a:r>
              <a:rPr lang="zh-CN" altLang="zh-CN" sz="2800" dirty="0"/>
              <a:t>钛及钛合金牌号和化学成分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-83801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dvAuto="100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304800" y="928688"/>
            <a:ext cx="8839200" cy="41005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合金元素：铝、钒、 钼、铬 等。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特点：可进行热处理强化，强度高，塑性好，具有良好的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热强性、耐蚀性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低温韧性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1786000" y="3212783"/>
            <a:ext cx="6306940" cy="2906712"/>
            <a:chOff x="972" y="2259"/>
            <a:chExt cx="4065" cy="1833"/>
          </a:xfrm>
        </p:grpSpPr>
        <p:pic>
          <p:nvPicPr>
            <p:cNvPr id="58376" name="Picture 4" descr="钛制列管换热器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" y="2286"/>
              <a:ext cx="2303" cy="168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8377" name="Picture 5" descr="钛制列管换热器2"/>
            <p:cNvPicPr>
              <a:picLocks noChangeAspect="1"/>
            </p:cNvPicPr>
            <p:nvPr/>
          </p:nvPicPr>
          <p:blipFill>
            <a:blip r:embed="rId3" cstate="print"/>
            <a:srcRect l="2405"/>
            <a:stretch>
              <a:fillRect/>
            </a:stretch>
          </p:blipFill>
          <p:spPr>
            <a:xfrm>
              <a:off x="3659" y="2259"/>
              <a:ext cx="1378" cy="172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8378" name="Text Box 6"/>
            <p:cNvSpPr txBox="1"/>
            <p:nvPr/>
          </p:nvSpPr>
          <p:spPr>
            <a:xfrm>
              <a:off x="3300" y="2286"/>
              <a:ext cx="346" cy="1806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钛合金列管式换热器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60357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+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dvAuto="100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1027"/>
          <p:cNvSpPr>
            <a:spLocks noGrp="1"/>
          </p:cNvSpPr>
          <p:nvPr>
            <p:ph idx="1"/>
          </p:nvPr>
        </p:nvSpPr>
        <p:spPr>
          <a:xfrm>
            <a:off x="683186" y="908472"/>
            <a:ext cx="8106097" cy="307010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型</a:t>
            </a:r>
            <a:r>
              <a:rPr lang="zh-CN" altLang="en-US" b="1" dirty="0">
                <a:ea typeface="华文中宋" panose="02010600040101010101" pitchFamily="2" charset="-122"/>
              </a:rPr>
              <a:t>钛合金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共有九个牌号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其中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TC4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应用最广、用量最大，其经过淬火加时效处理后，组织为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时效析出的针状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。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1037"/>
          <p:cNvGrpSpPr/>
          <p:nvPr/>
        </p:nvGrpSpPr>
        <p:grpSpPr>
          <a:xfrm>
            <a:off x="1403524" y="4293175"/>
            <a:ext cx="6492875" cy="2225675"/>
            <a:chOff x="556" y="2455"/>
            <a:chExt cx="4090" cy="1402"/>
          </a:xfrm>
        </p:grpSpPr>
        <p:pic>
          <p:nvPicPr>
            <p:cNvPr id="59399" name="Picture 1028" descr="钛合金（α+β钛合金组织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5" y="2455"/>
              <a:ext cx="1014" cy="122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9400" name="Picture 1029" descr="钛合金（TC11组织）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" y="2455"/>
              <a:ext cx="1334" cy="118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9401" name="Picture 1033" descr="α+βTi合金组织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9" y="2455"/>
              <a:ext cx="1222" cy="122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9402" name="Rectangle 1035"/>
            <p:cNvSpPr/>
            <p:nvPr/>
          </p:nvSpPr>
          <p:spPr>
            <a:xfrm>
              <a:off x="556" y="3681"/>
              <a:ext cx="1536" cy="17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α+β</a:t>
              </a:r>
              <a:r>
                <a:rPr lang="zh-CN" altLang="en-US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钛合金组织</a:t>
              </a:r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zh-CN" altLang="en-US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电镜</a:t>
              </a:r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  <p:sp>
          <p:nvSpPr>
            <p:cNvPr id="59403" name="Rectangle 1036"/>
            <p:cNvSpPr/>
            <p:nvPr/>
          </p:nvSpPr>
          <p:spPr>
            <a:xfrm>
              <a:off x="3550" y="3697"/>
              <a:ext cx="1096" cy="16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α+β</a:t>
              </a:r>
              <a:r>
                <a:rPr lang="zh-CN" altLang="en-US" sz="18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钛合金组织</a:t>
              </a:r>
            </a:p>
          </p:txBody>
        </p:sp>
      </p:grp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2411651" y="3357264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注：“</a:t>
            </a:r>
            <a:r>
              <a:rPr lang="en-US" altLang="zh-CN" dirty="0"/>
              <a:t>GB/T 3620.1-2016  </a:t>
            </a:r>
            <a:r>
              <a:rPr lang="zh-CN" altLang="zh-CN" dirty="0"/>
              <a:t>钛及钛合金牌号和化学成分</a:t>
            </a:r>
            <a:r>
              <a:rPr lang="zh-CN" altLang="en-US" dirty="0"/>
              <a:t>”中列有</a:t>
            </a:r>
            <a:r>
              <a:rPr lang="en-US" altLang="zh-CN" dirty="0"/>
              <a:t>TC1~TC32 </a:t>
            </a:r>
            <a:r>
              <a:rPr lang="zh-CN" altLang="en-US" dirty="0"/>
              <a:t>共</a:t>
            </a:r>
            <a:r>
              <a:rPr lang="en-US" altLang="zh-CN" dirty="0"/>
              <a:t>29</a:t>
            </a:r>
            <a:r>
              <a:rPr lang="zh-CN" altLang="en-US" dirty="0"/>
              <a:t>个牌号。</a:t>
            </a:r>
            <a:endParaRPr lang="zh-CN" altLang="zh-CN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60357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+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 advAuto="100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143875" y="6572250"/>
            <a:ext cx="500063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2718" name="Rectangle 14"/>
          <p:cNvSpPr>
            <a:spLocks noGrp="1"/>
          </p:cNvSpPr>
          <p:nvPr>
            <p:ph idx="1"/>
          </p:nvPr>
        </p:nvSpPr>
        <p:spPr>
          <a:xfrm>
            <a:off x="642938" y="908685"/>
            <a:ext cx="4876800" cy="47053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型钛合金</a:t>
            </a:r>
            <a:r>
              <a:rPr lang="zh-CN" altLang="en-US" b="1" dirty="0">
                <a:ea typeface="华文中宋" panose="02010600040101010101" pitchFamily="2" charset="-122"/>
              </a:rPr>
              <a:t>主要用于制造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400℃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以下工作的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飞机压气机叶片、火箭发动机外壳、火箭和导弹的液氢燃料箱部件及舰船耐压壳体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r>
              <a:rPr lang="en-US" altLang="zh-CN" dirty="0">
                <a:ea typeface="华文中宋" panose="02010600040101010101" pitchFamily="2" charset="-122"/>
              </a:rPr>
              <a:t> </a:t>
            </a:r>
          </a:p>
        </p:txBody>
      </p:sp>
      <p:grpSp>
        <p:nvGrpSpPr>
          <p:cNvPr id="2" name="Group 35"/>
          <p:cNvGrpSpPr/>
          <p:nvPr/>
        </p:nvGrpSpPr>
        <p:grpSpPr>
          <a:xfrm>
            <a:off x="1546903" y="942975"/>
            <a:ext cx="7138987" cy="5592763"/>
            <a:chOff x="822" y="384"/>
            <a:chExt cx="4497" cy="3523"/>
          </a:xfrm>
        </p:grpSpPr>
        <p:grpSp>
          <p:nvGrpSpPr>
            <p:cNvPr id="60424" name="Group 31"/>
            <p:cNvGrpSpPr/>
            <p:nvPr/>
          </p:nvGrpSpPr>
          <p:grpSpPr>
            <a:xfrm>
              <a:off x="822" y="2434"/>
              <a:ext cx="2199" cy="1473"/>
              <a:chOff x="822" y="2434"/>
              <a:chExt cx="2199" cy="1473"/>
            </a:xfrm>
          </p:grpSpPr>
          <p:pic>
            <p:nvPicPr>
              <p:cNvPr id="60431" name="Picture 25" descr="生物医用材料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2" y="2434"/>
                <a:ext cx="2199" cy="147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60432" name="Text Box 26"/>
              <p:cNvSpPr txBox="1"/>
              <p:nvPr/>
            </p:nvSpPr>
            <p:spPr>
              <a:xfrm>
                <a:off x="822" y="3638"/>
                <a:ext cx="1951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生物医用材料（人工关节）</a:t>
                </a:r>
              </a:p>
            </p:txBody>
          </p:sp>
        </p:grpSp>
        <p:grpSp>
          <p:nvGrpSpPr>
            <p:cNvPr id="60425" name="Group 34"/>
            <p:cNvGrpSpPr/>
            <p:nvPr/>
          </p:nvGrpSpPr>
          <p:grpSpPr>
            <a:xfrm>
              <a:off x="3408" y="384"/>
              <a:ext cx="1911" cy="3504"/>
              <a:chOff x="3408" y="384"/>
              <a:chExt cx="1911" cy="3504"/>
            </a:xfrm>
          </p:grpSpPr>
          <p:pic>
            <p:nvPicPr>
              <p:cNvPr id="60426" name="Picture 23" descr="飞机发动机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408" y="2416"/>
                <a:ext cx="1911" cy="147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grpSp>
            <p:nvGrpSpPr>
              <p:cNvPr id="60427" name="Group 32"/>
              <p:cNvGrpSpPr/>
              <p:nvPr/>
            </p:nvGrpSpPr>
            <p:grpSpPr>
              <a:xfrm>
                <a:off x="3408" y="384"/>
                <a:ext cx="1892" cy="1776"/>
                <a:chOff x="3408" y="384"/>
                <a:chExt cx="1892" cy="1776"/>
              </a:xfrm>
            </p:grpSpPr>
            <p:pic>
              <p:nvPicPr>
                <p:cNvPr id="60429" name="Picture 22" descr="飞机发动机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408" y="384"/>
                  <a:ext cx="1892" cy="1702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60430" name="Text Box 29"/>
                <p:cNvSpPr txBox="1"/>
                <p:nvPr/>
              </p:nvSpPr>
              <p:spPr>
                <a:xfrm>
                  <a:off x="3411" y="1056"/>
                  <a:ext cx="289" cy="11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lvl="0" eaLnBrk="1" hangingPunct="1"/>
                  <a:r>
                    <a:rPr lang="zh-CN" altLang="en-US" sz="18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飞机压气机叶片</a:t>
                  </a:r>
                </a:p>
              </p:txBody>
            </p:sp>
          </p:grpSp>
          <p:sp>
            <p:nvSpPr>
              <p:cNvPr id="60428" name="Line 33"/>
              <p:cNvSpPr/>
              <p:nvPr/>
            </p:nvSpPr>
            <p:spPr>
              <a:xfrm flipH="1">
                <a:off x="3984" y="1808"/>
                <a:ext cx="144" cy="672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</p:grpSp>
      <p:sp>
        <p:nvSpPr>
          <p:cNvPr id="60423" name="AutoShape 4">
            <a:hlinkClick r:id="rId5" action="ppaction://hlinksldjump"/>
          </p:cNvPr>
          <p:cNvSpPr/>
          <p:nvPr/>
        </p:nvSpPr>
        <p:spPr>
          <a:xfrm>
            <a:off x="8916670" y="6657975"/>
            <a:ext cx="209550" cy="17907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60357"/>
            <a:ext cx="4572000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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+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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型钛合金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8" grpId="0" build="p" advAuto="100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565265"/>
            <a:ext cx="476250" cy="29337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66" y="980728"/>
            <a:ext cx="8930956" cy="3384376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第四节  镁及镁合金</a:t>
            </a:r>
            <a:br>
              <a:rPr lang="en-US" altLang="zh-CN" sz="6600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Magnesium &amp; Its Alloys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46" name="AutoShape 4">
            <a:hlinkClick r:id="rId2" action="ppaction://hlinksldjump"/>
          </p:cNvPr>
          <p:cNvSpPr/>
          <p:nvPr/>
        </p:nvSpPr>
        <p:spPr>
          <a:xfrm>
            <a:off x="8894445" y="6695440"/>
            <a:ext cx="231140" cy="16256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21590" y="27089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86750" y="6565265"/>
            <a:ext cx="476250" cy="29337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第四节  镁及镁合金</a:t>
            </a: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685800" y="1861820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纯镁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dirty="0">
              <a:solidFill>
                <a:schemeClr val="folHlink"/>
              </a:solidFill>
            </a:endParaRPr>
          </a:p>
          <a:p>
            <a:pPr marL="0" indent="0"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sz="500" dirty="0">
                <a:solidFill>
                  <a:schemeClr val="folHlink"/>
                </a:solidFill>
              </a:rPr>
              <a:t>镁合金</a:t>
            </a:r>
            <a:r>
              <a:rPr lang="zh-CN" altLang="en-US" sz="500" dirty="0"/>
              <a:t>：变形镁合金、铸造镁合金</a:t>
            </a:r>
          </a:p>
        </p:txBody>
      </p:sp>
      <p:sp>
        <p:nvSpPr>
          <p:cNvPr id="61446" name="AutoShape 4">
            <a:hlinkClick r:id="rId2" action="ppaction://hlinksldjump"/>
          </p:cNvPr>
          <p:cNvSpPr/>
          <p:nvPr/>
        </p:nvSpPr>
        <p:spPr>
          <a:xfrm>
            <a:off x="8894445" y="6695440"/>
            <a:ext cx="231140" cy="16256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20"/>
          <p:cNvGrpSpPr/>
          <p:nvPr/>
        </p:nvGrpSpPr>
        <p:grpSpPr>
          <a:xfrm>
            <a:off x="1053732" y="3667667"/>
            <a:ext cx="3816629" cy="1279804"/>
            <a:chOff x="2906" y="6435"/>
            <a:chExt cx="6083" cy="1134"/>
          </a:xfrm>
        </p:grpSpPr>
        <p:sp>
          <p:nvSpPr>
            <p:cNvPr id="3" name="左大括号 39"/>
            <p:cNvSpPr/>
            <p:nvPr/>
          </p:nvSpPr>
          <p:spPr>
            <a:xfrm>
              <a:off x="5307" y="6594"/>
              <a:ext cx="418" cy="734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" name="文本框 2"/>
            <p:cNvSpPr txBox="1">
              <a:spLocks noChangeArrowheads="1"/>
            </p:cNvSpPr>
            <p:nvPr/>
          </p:nvSpPr>
          <p:spPr bwMode="auto">
            <a:xfrm>
              <a:off x="2906" y="6594"/>
              <a:ext cx="2334" cy="5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3200" kern="100" dirty="0">
                  <a:solidFill>
                    <a:srgbClr val="FF0000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+mn-ea"/>
                </a:rPr>
                <a:t>镁合金</a:t>
              </a:r>
            </a:p>
          </p:txBody>
        </p:sp>
        <p:sp>
          <p:nvSpPr>
            <p:cNvPr id="5" name="文本框 2"/>
            <p:cNvSpPr txBox="1">
              <a:spLocks noChangeArrowheads="1"/>
            </p:cNvSpPr>
            <p:nvPr/>
          </p:nvSpPr>
          <p:spPr bwMode="auto">
            <a:xfrm>
              <a:off x="5725" y="6435"/>
              <a:ext cx="3264" cy="4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变形镁合金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5725" y="7105"/>
              <a:ext cx="3264" cy="46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铸造铝合金</a:t>
              </a:r>
              <a:endParaRPr lang="zh-CN" altLang="en-US" sz="2800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0" name="文本框 2"/>
          <p:cNvSpPr txBox="1">
            <a:spLocks noChangeArrowheads="1"/>
          </p:cNvSpPr>
          <p:nvPr/>
        </p:nvSpPr>
        <p:spPr bwMode="auto">
          <a:xfrm>
            <a:off x="1053732" y="1927766"/>
            <a:ext cx="1464411" cy="5913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3200" kern="100" dirty="0">
                <a:solidFill>
                  <a:srgbClr val="0000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纯镁</a:t>
            </a: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543925" y="6650355"/>
            <a:ext cx="600075" cy="2082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59721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纯镁</a:t>
            </a: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4683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性能：</a:t>
            </a:r>
            <a:r>
              <a:rPr lang="zh-CN" altLang="en-US" dirty="0"/>
              <a:t>密度</a:t>
            </a:r>
            <a:r>
              <a:rPr lang="en-US" altLang="zh-CN" dirty="0"/>
              <a:t>1.736g/cm</a:t>
            </a:r>
            <a:r>
              <a:rPr lang="en-US" altLang="zh-CN" baseline="30000" dirty="0"/>
              <a:t>3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dirty="0"/>
              <a:t>熔点</a:t>
            </a:r>
            <a:r>
              <a:rPr lang="en-US" altLang="zh-CN" dirty="0"/>
              <a:t>650℃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密排六方</a:t>
            </a:r>
            <a:r>
              <a:rPr lang="zh-CN" altLang="en-US" dirty="0"/>
              <a:t>结构，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室温塑性较低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耐蚀性很差</a:t>
            </a:r>
            <a:r>
              <a:rPr lang="zh-CN" altLang="en-US" dirty="0"/>
              <a:t>，在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空气中极易氧化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dirty="0"/>
              <a:t>不能用于制造零件，主要用作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镁合金原料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脱氧剂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牌号：Mg + 数字</a:t>
            </a:r>
            <a:r>
              <a:rPr lang="zh-CN" altLang="en-US" dirty="0"/>
              <a:t>，如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Mg99.95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180528" y="2254194"/>
            <a:ext cx="9324528" cy="24709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变形镁合金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sz="6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Wrought magnesium alloys</a:t>
            </a:r>
            <a:endParaRPr kumimoji="1" lang="zh-CN" altLang="en-US" sz="60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35007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79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7318" y="-200343"/>
            <a:ext cx="60436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变形镁合金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-36195" y="980222"/>
            <a:ext cx="8858250" cy="583264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牌号：最主要合金元素的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代号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（英文字母）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这些元素的大致含量（数字）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标识代号（英文字母）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AZ31B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表示含</a:t>
            </a:r>
            <a:r>
              <a:rPr lang="en-US" alt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lang="en-US" alt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Zn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分别约为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3%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1%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的镁合金。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l="18947" t="20583" r="19685" b="8749"/>
          <a:stretch>
            <a:fillRect/>
          </a:stretch>
        </p:blipFill>
        <p:spPr bwMode="auto">
          <a:xfrm>
            <a:off x="185383" y="2497766"/>
            <a:ext cx="8640960" cy="3864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12988" t="10800" r="13775" b="5201"/>
          <a:stretch>
            <a:fillRect/>
          </a:stretch>
        </p:blipFill>
        <p:spPr>
          <a:xfrm>
            <a:off x="155484" y="2497766"/>
            <a:ext cx="8988515" cy="4108421"/>
          </a:xfrm>
          <a:prstGeom prst="rect">
            <a:avLst/>
          </a:prstGeom>
        </p:spPr>
      </p:pic>
      <p:sp>
        <p:nvSpPr>
          <p:cNvPr id="4" name="TextBox 10"/>
          <p:cNvSpPr txBox="1"/>
          <p:nvPr/>
        </p:nvSpPr>
        <p:spPr>
          <a:xfrm>
            <a:off x="5490743" y="3068960"/>
            <a:ext cx="363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</a:rPr>
              <a:t>GB/T 5153-2016  </a:t>
            </a:r>
            <a:r>
              <a:rPr lang="zh-CN" altLang="zh-CN" sz="1800" dirty="0">
                <a:solidFill>
                  <a:srgbClr val="0000FF"/>
                </a:solidFill>
              </a:rPr>
              <a:t>变形镁及镁合金牌号和化学成分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-142875"/>
            <a:ext cx="451824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变形镁合金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858250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AZ31B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表示含</a:t>
            </a:r>
            <a:r>
              <a:rPr lang="en-US" alt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lang="en-US" alt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Zn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分别约为</a:t>
            </a:r>
            <a:r>
              <a:rPr kumimoji="1" lang="en-US" altLang="zh-CN" sz="32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3%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1" lang="en-US" altLang="zh-CN" sz="32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1%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的镁合金，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lang="zh-CN" altLang="en-US" dirty="0"/>
              <a:t>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识别代号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15" t="43000" r="16138" b="8001"/>
          <a:stretch>
            <a:fillRect/>
          </a:stretch>
        </p:blipFill>
        <p:spPr>
          <a:xfrm>
            <a:off x="424262" y="2168860"/>
            <a:ext cx="7648659" cy="25202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1003" t="10800" r="15350" b="5201"/>
          <a:stretch>
            <a:fillRect/>
          </a:stretch>
        </p:blipFill>
        <p:spPr>
          <a:xfrm>
            <a:off x="393065" y="2151396"/>
            <a:ext cx="8067367" cy="4556995"/>
          </a:xfrm>
          <a:prstGeom prst="rect">
            <a:avLst/>
          </a:prstGeom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10"/>
          <p:cNvSpPr txBox="1"/>
          <p:nvPr/>
        </p:nvSpPr>
        <p:spPr>
          <a:xfrm>
            <a:off x="2489200" y="2204720"/>
            <a:ext cx="5287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GB/T 5153-2016  </a:t>
            </a:r>
            <a:r>
              <a:rPr lang="zh-CN" altLang="zh-CN" dirty="0">
                <a:solidFill>
                  <a:srgbClr val="0000FF"/>
                </a:solidFill>
              </a:rPr>
              <a:t>变形镁及镁合金牌号和化学成分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885"/>
            <a:ext cx="457200" cy="2851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-142875"/>
            <a:ext cx="5094312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变形镁合金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928688"/>
            <a:ext cx="8858250" cy="5572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Mg-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系：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ME20M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M2M——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具有良好的耐蚀性和焊接性 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None/>
              <a:defRPr/>
            </a:pPr>
            <a:r>
              <a:rPr lang="en-US" altLang="zh-CN" dirty="0"/>
              <a:t>    </a:t>
            </a:r>
            <a:r>
              <a:rPr kumimoji="1" lang="zh-CN" altLang="en-US" sz="3200" b="1" i="0" u="none" strike="noStrike" kern="0" cap="none" spc="0" normalizeH="0" baseline="0" dirty="0">
                <a:solidFill>
                  <a:schemeClr val="folHlink"/>
                </a:solidFill>
              </a:rPr>
              <a:t>应用：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外形复杂、要求耐蚀的零件。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Mg-Al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-Zn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AZ31B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AZ40M——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不可热处理强化，焊接性良好。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None/>
              <a:defRPr/>
            </a:pPr>
            <a:r>
              <a:rPr lang="en-US" altLang="zh-CN" noProof="0" dirty="0"/>
              <a:t>    </a:t>
            </a:r>
            <a:r>
              <a:rPr kumimoji="1" lang="zh-CN" altLang="en-US" sz="3200" b="1" i="0" u="none" strike="noStrike" kern="0" cap="none" spc="0" normalizeH="0" baseline="0" dirty="0">
                <a:solidFill>
                  <a:schemeClr val="folHlink"/>
                </a:solidFill>
              </a:rPr>
              <a:t>应用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形状复杂的</a:t>
            </a:r>
            <a:r>
              <a:rPr lang="zh-CN" altLang="en-US" b="1" dirty="0">
                <a:solidFill>
                  <a:schemeClr val="folHlink"/>
                </a:solidFill>
              </a:rPr>
              <a:t>锻件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模锻件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Mg-Zn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ZK61M——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高强度合金，切削加工性能良好，焊接性差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None/>
              <a:defRPr/>
            </a:pPr>
            <a:r>
              <a:rPr lang="en-US" altLang="zh-CN" dirty="0"/>
              <a:t>   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锻件、挤压制品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-142875"/>
            <a:ext cx="451824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变形镁合金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858250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 l="18947" t="16185" r="26083" b="4374"/>
          <a:stretch>
            <a:fillRect/>
          </a:stretch>
        </p:blipFill>
        <p:spPr bwMode="auto">
          <a:xfrm>
            <a:off x="196537" y="1000125"/>
            <a:ext cx="8402453" cy="5549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195735" y="1304918"/>
            <a:ext cx="4896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GB/T 5153-2016  </a:t>
            </a:r>
            <a:r>
              <a:rPr lang="zh-CN" altLang="zh-CN" sz="1600" dirty="0">
                <a:solidFill>
                  <a:srgbClr val="0000FF"/>
                </a:solidFill>
              </a:rPr>
              <a:t>变形镁及镁合金牌号和化学成分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885"/>
            <a:ext cx="457200" cy="2851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-142875"/>
            <a:ext cx="5094312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ffectLst/>
                <a:latin typeface="+mn-lt"/>
                <a:ea typeface="+mn-ea"/>
                <a:cs typeface="+mn-cs"/>
              </a:rPr>
              <a:t>变形镁合金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内容占位符 9"/>
          <p:cNvPicPr>
            <a:picLocks noGrp="1"/>
          </p:cNvPicPr>
          <p:nvPr>
            <p:ph idx="1"/>
          </p:nvPr>
        </p:nvPicPr>
        <p:blipFill>
          <a:blip r:embed="rId3" cstate="print"/>
          <a:srcRect l="18455" t="17498" r="19193" b="8749"/>
          <a:stretch>
            <a:fillRect/>
          </a:stretch>
        </p:blipFill>
        <p:spPr bwMode="auto">
          <a:xfrm>
            <a:off x="1030741" y="1124744"/>
            <a:ext cx="7848872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34250" t="13075" r="35038" b="12201"/>
          <a:stretch>
            <a:fillRect/>
          </a:stretch>
        </p:blipFill>
        <p:spPr>
          <a:xfrm>
            <a:off x="107504" y="1290102"/>
            <a:ext cx="2808312" cy="38434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19871" y="3846802"/>
            <a:ext cx="4693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http://c.gb688.cn/bzgk/gb/showGb?type=online&amp;hcno=04801490182D7C3BF9FE081DE1F2F85E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6800" y="6572250"/>
            <a:ext cx="457200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180528" y="2254194"/>
            <a:ext cx="9324528" cy="24709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6600" b="1" dirty="0">
                <a:solidFill>
                  <a:schemeClr val="folHlink"/>
                </a:solidFill>
              </a:rPr>
              <a:t>铸造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镁合金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sz="66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Cast magnesium alloys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35725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680" y="29579"/>
            <a:ext cx="6813550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93958" y="1075368"/>
            <a:ext cx="8742538" cy="29781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表示方法：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示例：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ZMgZn5Zr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(ZM1)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ZMgNd2Zr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(ZM11)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" name="组合 12"/>
          <p:cNvGrpSpPr/>
          <p:nvPr/>
        </p:nvGrpSpPr>
        <p:grpSpPr>
          <a:xfrm>
            <a:off x="370470" y="1610304"/>
            <a:ext cx="8479572" cy="2102788"/>
            <a:chOff x="2542141" y="2137755"/>
            <a:chExt cx="7943761" cy="2102788"/>
          </a:xfrm>
        </p:grpSpPr>
        <p:grpSp>
          <p:nvGrpSpPr>
            <p:cNvPr id="2" name="组合 20"/>
            <p:cNvGrpSpPr/>
            <p:nvPr/>
          </p:nvGrpSpPr>
          <p:grpSpPr>
            <a:xfrm>
              <a:off x="2542141" y="2799353"/>
              <a:ext cx="7710431" cy="1441190"/>
              <a:chOff x="1724" y="6722"/>
              <a:chExt cx="12289" cy="1277"/>
            </a:xfrm>
          </p:grpSpPr>
          <p:sp>
            <p:nvSpPr>
              <p:cNvPr id="3" name="左大括号 39"/>
              <p:cNvSpPr/>
              <p:nvPr/>
            </p:nvSpPr>
            <p:spPr>
              <a:xfrm>
                <a:off x="5307" y="6722"/>
                <a:ext cx="271" cy="1087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4" name="文本框 2"/>
              <p:cNvSpPr txBox="1">
                <a:spLocks noChangeArrowheads="1"/>
              </p:cNvSpPr>
              <p:nvPr/>
            </p:nvSpPr>
            <p:spPr bwMode="auto">
              <a:xfrm>
                <a:off x="1724" y="7003"/>
                <a:ext cx="3440" cy="5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3200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rPr>
                  <a:t>铸造镁合金</a:t>
                </a:r>
              </a:p>
            </p:txBody>
          </p:sp>
          <p:sp>
            <p:nvSpPr>
              <p:cNvPr id="5" name="文本框 2"/>
              <p:cNvSpPr txBox="1">
                <a:spLocks noChangeArrowheads="1"/>
              </p:cNvSpPr>
              <p:nvPr/>
            </p:nvSpPr>
            <p:spPr bwMode="auto">
              <a:xfrm>
                <a:off x="5795" y="7574"/>
                <a:ext cx="8218" cy="42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marR="0" lvl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defRPr/>
                </a:pP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合金代号：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Z+M+</a:t>
                </a:r>
                <a:r>
                  <a:rPr kumimoji="1" lang="zh-CN" altLang="en-US" sz="2800" kern="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ea typeface="+mj-ea"/>
                    <a:cs typeface="+mj-cs"/>
                  </a:rPr>
                  <a:t>数字（顺序号）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</p:grpSp>
        <p:sp>
          <p:nvSpPr>
            <p:cNvPr id="10" name="文本框 2"/>
            <p:cNvSpPr txBox="1">
              <a:spLocks noChangeArrowheads="1"/>
            </p:cNvSpPr>
            <p:nvPr/>
          </p:nvSpPr>
          <p:spPr bwMode="auto">
            <a:xfrm>
              <a:off x="5075622" y="2137755"/>
              <a:ext cx="5410280" cy="9772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合金牌号：</a:t>
              </a: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Z + Mg + </a:t>
              </a: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主要合金元素符号</a:t>
              </a: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 + </a:t>
              </a: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数字（质量</a:t>
              </a: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%</a:t>
              </a: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数）</a:t>
              </a:r>
            </a:p>
          </p:txBody>
        </p:sp>
      </p:grpSp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780" y="44184"/>
            <a:ext cx="6813550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93958" y="1628800"/>
            <a:ext cx="8742538" cy="2424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主要类型：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b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" name="组合 5"/>
          <p:cNvGrpSpPr/>
          <p:nvPr/>
        </p:nvGrpSpPr>
        <p:grpSpPr>
          <a:xfrm>
            <a:off x="2007849" y="2204864"/>
            <a:ext cx="5544559" cy="2137341"/>
            <a:chOff x="2285524" y="1573898"/>
            <a:chExt cx="5544559" cy="2137341"/>
          </a:xfrm>
        </p:grpSpPr>
        <p:grpSp>
          <p:nvGrpSpPr>
            <p:cNvPr id="11" name="组合 20"/>
            <p:cNvGrpSpPr/>
            <p:nvPr/>
          </p:nvGrpSpPr>
          <p:grpSpPr>
            <a:xfrm>
              <a:off x="2285524" y="1827648"/>
              <a:ext cx="5544559" cy="1883591"/>
              <a:chOff x="1315" y="5861"/>
              <a:chExt cx="8837" cy="1669"/>
            </a:xfrm>
          </p:grpSpPr>
          <p:sp>
            <p:nvSpPr>
              <p:cNvPr id="14" name="左大括号 39"/>
              <p:cNvSpPr/>
              <p:nvPr/>
            </p:nvSpPr>
            <p:spPr>
              <a:xfrm>
                <a:off x="5307" y="5861"/>
                <a:ext cx="418" cy="1531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5" name="文本框 2"/>
              <p:cNvSpPr txBox="1">
                <a:spLocks noChangeArrowheads="1"/>
              </p:cNvSpPr>
              <p:nvPr/>
            </p:nvSpPr>
            <p:spPr bwMode="auto">
              <a:xfrm>
                <a:off x="1315" y="6385"/>
                <a:ext cx="3878" cy="5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3200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rPr>
                  <a:t>铸造镁合金</a:t>
                </a:r>
              </a:p>
            </p:txBody>
          </p:sp>
          <p:sp>
            <p:nvSpPr>
              <p:cNvPr id="16" name="文本框 2"/>
              <p:cNvSpPr txBox="1">
                <a:spLocks noChangeArrowheads="1"/>
              </p:cNvSpPr>
              <p:nvPr/>
            </p:nvSpPr>
            <p:spPr bwMode="auto">
              <a:xfrm>
                <a:off x="5725" y="6435"/>
                <a:ext cx="4013" cy="42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marR="0" lvl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Mg-Zn-Zr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系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7" name="文本框 2"/>
              <p:cNvSpPr txBox="1">
                <a:spLocks noChangeArrowheads="1"/>
              </p:cNvSpPr>
              <p:nvPr/>
            </p:nvSpPr>
            <p:spPr bwMode="auto">
              <a:xfrm>
                <a:off x="5725" y="7105"/>
                <a:ext cx="4427" cy="42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marR="0" lvl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Mg-Re-Zn-Zr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+mj-lt"/>
                    <a:ea typeface="+mj-ea"/>
                    <a:cs typeface="+mj-cs"/>
                  </a:rPr>
                  <a:t>系</a:t>
                </a:r>
              </a:p>
            </p:txBody>
          </p:sp>
        </p:grpSp>
        <p:sp>
          <p:nvSpPr>
            <p:cNvPr id="12" name="文本框 2"/>
            <p:cNvSpPr txBox="1">
              <a:spLocks noChangeArrowheads="1"/>
            </p:cNvSpPr>
            <p:nvPr/>
          </p:nvSpPr>
          <p:spPr bwMode="auto">
            <a:xfrm>
              <a:off x="5057804" y="1573898"/>
              <a:ext cx="2260319" cy="48013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Mg-Al-Zn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j-lt"/>
                  <a:ea typeface="+mj-ea"/>
                  <a:cs typeface="+mj-cs"/>
                </a:rPr>
                <a:t>系</a:t>
              </a:r>
            </a:p>
          </p:txBody>
        </p:sp>
      </p:grp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142875"/>
            <a:ext cx="7643813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——Mg-Al-Zn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81075"/>
            <a:ext cx="8713788" cy="52339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常用牌号：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ZM5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lang="en-US" altLang="zh-CN" b="1" dirty="0">
                <a:solidFill>
                  <a:srgbClr val="FFFF00"/>
                </a:solidFill>
              </a:rPr>
              <a:t>ZM10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强度高、流动性和焊接性好、热裂倾向低，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要求高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屈服强度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承力结构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4155"/>
            <a:ext cx="386080" cy="2844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7215188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——Mg-Zn-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81075"/>
            <a:ext cx="8713788" cy="5591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属高强度合金系列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常用牌号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ZM1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疏松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热裂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倾向，不易焊接，只能用于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形状较简单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的零件。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ZM2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铸造性和焊接性明显改善，可用于制造在</a:t>
            </a:r>
            <a:r>
              <a:rPr lang="en-US" altLang="zh-CN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170~200℃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下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长期工作的零件。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ZM7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力学性能提高，但铸造、焊接性差，切削加工性能良好</a:t>
            </a:r>
            <a:r>
              <a:rPr lang="zh-CN" altLang="en-US" dirty="0"/>
              <a:t>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锻件、挤压制品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85585"/>
            <a:ext cx="386080" cy="27305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8072438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——Mg-Re-Zn-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99515"/>
            <a:ext cx="8893175" cy="508698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常用牌号：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ZM3、ZM4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150~250℃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下具有良好的力学性能，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b="1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</a:t>
            </a:r>
            <a:r>
              <a:rPr lang="zh-CN" altLang="en-US" dirty="0"/>
              <a:t>：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适于制造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有温度要求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</a:t>
            </a: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承载不大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的零件。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ZM6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兼有良好的室温、铸造性能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应用</a:t>
            </a:r>
            <a:r>
              <a:rPr lang="zh-CN" altLang="en-US" dirty="0"/>
              <a:t>：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可用于制造常温和</a:t>
            </a: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250℃下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承受</a:t>
            </a: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较高载荷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的零件。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53200"/>
            <a:ext cx="386080" cy="30543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89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6813550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000250" y="1500188"/>
            <a:ext cx="5500688" cy="4214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Mg-Al-Zn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Mg-Re-Zn-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3" cstate="print"/>
          <a:srcRect l="19685" t="17498" r="19685" b="8749"/>
          <a:stretch>
            <a:fillRect/>
          </a:stretch>
        </p:blipFill>
        <p:spPr bwMode="auto">
          <a:xfrm>
            <a:off x="1259632" y="1124744"/>
            <a:ext cx="6984776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339752" y="3933056"/>
            <a:ext cx="4693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http://c.gb688.cn/bzgk/gb/showGb?type=online&amp;hcno=0979580B75002D3E7A15D1AB8E70A447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5449788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000250" y="1500188"/>
            <a:ext cx="5500688" cy="4214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Mg-Al-Zn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Mg-Re-Zn-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3" cstate="print"/>
          <a:srcRect l="14764" t="15748" r="16732" b="6562"/>
          <a:stretch>
            <a:fillRect/>
          </a:stretch>
        </p:blipFill>
        <p:spPr bwMode="auto">
          <a:xfrm>
            <a:off x="552450" y="1025525"/>
            <a:ext cx="7633335" cy="308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/>
          <p:nvPr/>
        </p:nvPicPr>
        <p:blipFill>
          <a:blip r:embed="rId4" cstate="print"/>
          <a:srcRect l="9843" t="28871" r="9843" b="6562"/>
          <a:stretch>
            <a:fillRect/>
          </a:stretch>
        </p:blipFill>
        <p:spPr bwMode="auto">
          <a:xfrm>
            <a:off x="552547" y="4096215"/>
            <a:ext cx="7776864" cy="249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580112" y="1018261"/>
            <a:ext cx="252028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GB/T 1177-2018  </a:t>
            </a:r>
            <a:r>
              <a:rPr lang="zh-CN" altLang="zh-CN" sz="1400" dirty="0">
                <a:solidFill>
                  <a:srgbClr val="FF0000"/>
                </a:solidFill>
              </a:rPr>
              <a:t>铸造镁合金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5449788" cy="9080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铸造镁合金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000250" y="1500188"/>
            <a:ext cx="5500688" cy="4214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Mg-Al-Zn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Mg-Re-Zn-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Zr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3226" t="13601" r="23226" b="10801"/>
          <a:stretch>
            <a:fillRect/>
          </a:stretch>
        </p:blipFill>
        <p:spPr>
          <a:xfrm>
            <a:off x="251520" y="1280522"/>
            <a:ext cx="8640960" cy="5338485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5849889" y="134076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GB/T 1177-2018  </a:t>
            </a:r>
            <a:r>
              <a:rPr lang="zh-CN" altLang="zh-CN" sz="1800" dirty="0">
                <a:solidFill>
                  <a:schemeClr val="bg1"/>
                </a:solidFill>
              </a:rPr>
              <a:t>铸造镁合金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3625" y="6605905"/>
            <a:ext cx="434340" cy="25209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52104"/>
            <a:ext cx="7915228" cy="70989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常用镁合金牌号、成分、性能、用途</a:t>
            </a:r>
          </a:p>
        </p:txBody>
      </p:sp>
      <p:sp>
        <p:nvSpPr>
          <p:cNvPr id="696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69638" name="Picture 10" descr="T8-9(2)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2810" y="1034415"/>
            <a:ext cx="7673340" cy="5380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1"/>
          <p:cNvSpPr txBox="1"/>
          <p:nvPr/>
        </p:nvSpPr>
        <p:spPr>
          <a:xfrm>
            <a:off x="6172835" y="1034415"/>
            <a:ext cx="2719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GB/T 1177-2018  </a:t>
            </a:r>
            <a:r>
              <a:rPr lang="zh-CN" altLang="zh-CN" sz="1600" dirty="0">
                <a:solidFill>
                  <a:srgbClr val="0000FF"/>
                </a:solidFill>
              </a:rPr>
              <a:t>铸造镁合金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3625" y="6605905"/>
            <a:ext cx="434340" cy="25209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52104"/>
            <a:ext cx="7915228" cy="70989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常用镁合金牌号、成分、性能、用途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内容占位符 9"/>
          <p:cNvPicPr>
            <a:picLocks noGrp="1"/>
          </p:cNvPicPr>
          <p:nvPr>
            <p:ph idx="1"/>
          </p:nvPr>
        </p:nvPicPr>
        <p:blipFill>
          <a:blip r:embed="rId3" cstate="print"/>
          <a:srcRect l="19685" t="17498" r="19685" b="8749"/>
          <a:stretch>
            <a:fillRect/>
          </a:stretch>
        </p:blipFill>
        <p:spPr bwMode="auto">
          <a:xfrm>
            <a:off x="953770" y="1097915"/>
            <a:ext cx="369633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 cstate="print"/>
          <a:srcRect l="19685" t="17498" r="19685" b="8749"/>
          <a:stretch>
            <a:fillRect/>
          </a:stretch>
        </p:blipFill>
        <p:spPr bwMode="auto">
          <a:xfrm>
            <a:off x="5074285" y="1112520"/>
            <a:ext cx="3549015" cy="2672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/>
          <p:nvPr/>
        </p:nvPicPr>
        <p:blipFill>
          <a:blip r:embed="rId5" cstate="print"/>
          <a:srcRect l="19685" t="17498" r="19685" b="8749"/>
          <a:stretch>
            <a:fillRect/>
          </a:stretch>
        </p:blipFill>
        <p:spPr bwMode="auto">
          <a:xfrm>
            <a:off x="2483485" y="3860800"/>
            <a:ext cx="4068445" cy="2710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15630" y="6607175"/>
            <a:ext cx="45720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24744"/>
            <a:ext cx="8600256" cy="324036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滑动轴承合金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j-cs"/>
              </a:rPr>
              <a:t> </a:t>
            </a:r>
            <a:b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GB" altLang="zh-CN" sz="6000" i="1" dirty="0">
                <a:effectLst/>
                <a:latin typeface="+mn-lt"/>
              </a:rPr>
              <a:t>Plain Bearing Alloy</a:t>
            </a:r>
            <a:br>
              <a:rPr lang="en-GB" altLang="zh-CN" sz="6600" dirty="0">
                <a:effectLst/>
              </a:rPr>
            </a:br>
            <a:r>
              <a:rPr lang="en-GB" altLang="zh-CN" sz="6600" i="1" dirty="0">
                <a:solidFill>
                  <a:srgbClr val="FF0000"/>
                </a:solidFill>
                <a:effectLst/>
                <a:latin typeface="+mn-lt"/>
              </a:rPr>
              <a:t>Sliding Bearing Alloy</a:t>
            </a:r>
            <a:endParaRPr kumimoji="1" lang="zh-CN" altLang="en-US" sz="66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70663" name="AutoShape 4">
            <a:hlinkClick r:id="rId2" action="ppaction://hlinksldjump"/>
          </p:cNvPr>
          <p:cNvSpPr/>
          <p:nvPr/>
        </p:nvSpPr>
        <p:spPr>
          <a:xfrm>
            <a:off x="8815705" y="661162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635" y="24206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bldLvl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215630" y="6607175"/>
            <a:ext cx="45720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710088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滑动轴承合金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72579" y="1023030"/>
            <a:ext cx="8324160" cy="58317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滑动轴承合金：</a:t>
            </a:r>
            <a:r>
              <a:rPr lang="zh-CN" altLang="en-US" b="1" dirty="0">
                <a:ea typeface="华文中宋" panose="02010600040101010101" pitchFamily="2" charset="-122"/>
              </a:rPr>
              <a:t>制造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滑动轴承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轴瓦</a:t>
            </a:r>
            <a:r>
              <a:rPr lang="zh-CN" altLang="en-US" b="1" dirty="0">
                <a:ea typeface="华文中宋" panose="02010600040101010101" pitchFamily="2" charset="-122"/>
              </a:rPr>
              <a:t>及其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内衬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耐磨合金。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滑动轴承：</a:t>
            </a:r>
            <a:r>
              <a:rPr lang="zh-CN" altLang="en-US" b="1" dirty="0">
                <a:ea typeface="华文中宋" panose="02010600040101010101" pitchFamily="2" charset="-122"/>
              </a:rPr>
              <a:t>机器设备中对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旋转轴</a:t>
            </a:r>
            <a:r>
              <a:rPr lang="zh-CN" altLang="en-US" b="1" dirty="0">
                <a:ea typeface="华文中宋" panose="02010600040101010101" pitchFamily="2" charset="-122"/>
              </a:rPr>
              <a:t>起</a:t>
            </a:r>
            <a:r>
              <a:rPr lang="zh-CN" altLang="en-US" dirty="0">
                <a:ea typeface="华文中宋" panose="02010600040101010101" pitchFamily="2" charset="-122"/>
              </a:rPr>
              <a:t>支撑作用的重要部件</a:t>
            </a:r>
            <a:endParaRPr lang="en-US" altLang="zh-CN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滑动轴承组成：</a:t>
            </a:r>
            <a:r>
              <a:rPr lang="zh-CN" altLang="en-US" dirty="0"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轴承体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轴瓦</a:t>
            </a:r>
            <a:r>
              <a:rPr lang="zh-CN" altLang="en-US" dirty="0">
                <a:ea typeface="华文中宋" panose="02010600040101010101" pitchFamily="2" charset="-122"/>
              </a:rPr>
              <a:t>两部分组成。</a:t>
            </a:r>
            <a:endParaRPr lang="en-US" altLang="zh-CN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滑动轴承优点（</a:t>
            </a:r>
            <a:r>
              <a:rPr lang="zh-CN" altLang="en-US" dirty="0">
                <a:ea typeface="华文中宋" panose="02010600040101010101" pitchFamily="2" charset="-122"/>
              </a:rPr>
              <a:t>与滚动轴承相比）：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承载面积大</a:t>
            </a:r>
            <a:r>
              <a:rPr lang="zh-CN" altLang="en-US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工作平稳</a:t>
            </a:r>
            <a:r>
              <a:rPr lang="zh-CN" altLang="en-US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无噪音</a:t>
            </a:r>
            <a:r>
              <a:rPr lang="zh-CN" altLang="en-US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拆装方便</a:t>
            </a:r>
            <a:r>
              <a:rPr lang="zh-CN" altLang="en-US" dirty="0">
                <a:ea typeface="华文中宋" panose="02010600040101010101" pitchFamily="2" charset="-122"/>
              </a:rPr>
              <a:t>等优点。 </a:t>
            </a:r>
          </a:p>
        </p:txBody>
      </p:sp>
      <p:pic>
        <p:nvPicPr>
          <p:cNvPr id="62469" name="Picture 5" descr="YOUS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9415" y="2925066"/>
            <a:ext cx="2160239" cy="1257044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0663" name="AutoShape 4">
            <a:hlinkClick r:id="rId3" action="ppaction://hlinksldjump"/>
          </p:cNvPr>
          <p:cNvSpPr/>
          <p:nvPr/>
        </p:nvSpPr>
        <p:spPr>
          <a:xfrm>
            <a:off x="8815705" y="661162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37645" t="35000" r="37019" b="22000"/>
          <a:stretch>
            <a:fillRect/>
          </a:stretch>
        </p:blipFill>
        <p:spPr>
          <a:xfrm>
            <a:off x="6299835" y="2924810"/>
            <a:ext cx="1393190" cy="1330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bldLvl="0" animBg="1"/>
      <p:bldP spid="62467" grpId="0" build="p" advAuto="100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251520" y="836712"/>
            <a:ext cx="8624888" cy="5741243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）工作条件：</a:t>
            </a:r>
            <a:r>
              <a:rPr lang="zh-CN" altLang="en-US" sz="2800" b="1" dirty="0">
                <a:ea typeface="华文中宋" panose="02010600040101010101" pitchFamily="2" charset="-122"/>
              </a:rPr>
              <a:t>当轴高速旋转时，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轴瓦</a:t>
            </a:r>
            <a:r>
              <a:rPr lang="zh-CN" altLang="en-US" sz="2800" b="1" dirty="0"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轴颈</a:t>
            </a:r>
            <a:r>
              <a:rPr lang="zh-CN" altLang="en-US" sz="2800" b="1" dirty="0">
                <a:ea typeface="华文中宋" panose="02010600040101010101" pitchFamily="2" charset="-122"/>
              </a:rPr>
              <a:t>发生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强烈摩擦</a:t>
            </a:r>
            <a:r>
              <a:rPr lang="zh-CN" altLang="en-US" sz="2800" b="1" dirty="0">
                <a:ea typeface="华文中宋" panose="02010600040101010101" pitchFamily="2" charset="-122"/>
              </a:rPr>
              <a:t>，承受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轴颈</a:t>
            </a:r>
            <a:r>
              <a:rPr lang="zh-CN" altLang="en-US" sz="2800" b="1" dirty="0">
                <a:ea typeface="华文中宋" panose="02010600040101010101" pitchFamily="2" charset="-122"/>
              </a:rPr>
              <a:t>施加的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交变载荷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冲击力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</a:p>
          <a:p>
            <a:pPr algn="just" eaLnBrk="1" hangingPunct="1">
              <a:lnSpc>
                <a:spcPct val="135000"/>
              </a:lnSpc>
            </a:pP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）对轴承合金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性能要求：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</a:p>
          <a:p>
            <a:pPr algn="just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①足够的强韧性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，以承受轴颈施加的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交变冲击载荷</a:t>
            </a:r>
            <a:r>
              <a:rPr lang="zh-CN" altLang="en-US" sz="2800" b="1" dirty="0">
                <a:ea typeface="华文中宋" panose="02010600040101010101" pitchFamily="2" charset="-122"/>
              </a:rPr>
              <a:t>；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②较小的热膨胀系数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良好的导热性和耐蚀性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，以防止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轴瓦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之间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咬合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；</a:t>
            </a:r>
          </a:p>
          <a:p>
            <a:pPr algn="just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③较小的摩擦系数，良好的耐磨性和磨合性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，以减少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轴颈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磨损，保证轴与轴瓦良好的跑合。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69" y="-200343"/>
            <a:ext cx="79295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轴承合金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——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组织性能要求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63360"/>
            <a:ext cx="386080" cy="32575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dvAuto="1000"/>
      <p:bldP spid="7" grpId="0" bldLvl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128562" y="836712"/>
            <a:ext cx="8912624" cy="5867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为满足性能要求，轴承合金的组织</a:t>
            </a:r>
            <a:r>
              <a:rPr lang="en-US" altLang="zh-CN" sz="2800" b="1" dirty="0">
                <a:ea typeface="华文中宋" panose="02010600040101010101" pitchFamily="2" charset="-122"/>
              </a:rPr>
              <a:t>=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软的基体上  </a:t>
            </a:r>
            <a:r>
              <a:rPr lang="en-US" altLang="zh-CN" sz="2800" b="1" dirty="0">
                <a:ea typeface="华文中宋" panose="02010600040101010101" pitchFamily="2" charset="-122"/>
              </a:rPr>
              <a:t>+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硬的质点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硬的基体 </a:t>
            </a:r>
            <a:r>
              <a:rPr lang="en-US" altLang="zh-CN" sz="2800" b="1" dirty="0"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软的质点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（组织特点：软基体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硬质点；硬基体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软质点）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当轴旋转时，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软的基体</a:t>
            </a:r>
            <a:r>
              <a:rPr lang="en-US" altLang="zh-CN" sz="2800" b="1" dirty="0"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ea typeface="华文中宋" panose="02010600040101010101" pitchFamily="2" charset="-122"/>
              </a:rPr>
              <a:t>或质点</a:t>
            </a:r>
            <a:r>
              <a:rPr lang="en-US" altLang="zh-CN" sz="2800" b="1" dirty="0"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被磨损而凹陷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减少了轴颈与轴瓦的接触面积，有利于储存润滑油</a:t>
            </a:r>
          </a:p>
        </p:txBody>
      </p:sp>
      <p:pic>
        <p:nvPicPr>
          <p:cNvPr id="64516" name="Picture 4" descr="casting04巴氏合金轴瓦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44324" y="3933056"/>
            <a:ext cx="2585363" cy="2639194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179512" y="3715385"/>
            <a:ext cx="5965190" cy="3142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和轴与轴瓦间的磨合，而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硬的质点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基体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则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支撑着轴颈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承载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耐磨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作用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.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软基体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或质点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2800" dirty="0">
                <a:solidFill>
                  <a:schemeClr val="tx1"/>
                </a:solidFill>
                <a:ea typeface="华文中宋" panose="02010600040101010101" pitchFamily="2" charset="-122"/>
                <a:cs typeface="+mn-cs"/>
              </a:rPr>
              <a:t>还能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起嵌藏外来硬杂质颗粒的作用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以避免擦伤轴颈。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710088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滑动轴承合金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/>
          <p:cNvSpPr txBox="1">
            <a:spLocks noChangeArrowheads="1"/>
          </p:cNvSpPr>
          <p:nvPr/>
        </p:nvSpPr>
        <p:spPr bwMode="auto">
          <a:xfrm>
            <a:off x="2555776" y="2071037"/>
            <a:ext cx="3096344" cy="5913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软基体 </a:t>
            </a:r>
            <a:r>
              <a:rPr lang="en-US" altLang="zh-CN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3200" b="1" dirty="0">
                <a:solidFill>
                  <a:srgbClr val="0000FF"/>
                </a:solidFill>
                <a:ea typeface="华文中宋" panose="02010600040101010101" pitchFamily="2" charset="-122"/>
              </a:rPr>
              <a:t>硬质点</a:t>
            </a:r>
            <a:endParaRPr lang="zh-CN" altLang="en-US" sz="3200" kern="100" dirty="0">
              <a:solidFill>
                <a:srgbClr val="0000FF"/>
              </a:solidFill>
              <a:effectLst>
                <a:outerShdw blurRad="38100" dist="25400" dir="5400000" algn="ctr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+mn-ea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5667130" y="2071036"/>
            <a:ext cx="3378975" cy="591373"/>
          </a:xfrm>
          <a:prstGeom prst="rect">
            <a:avLst/>
          </a:prstGeom>
          <a:solidFill>
            <a:schemeClr val="accent4">
              <a:lumMod val="9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硬基体 </a:t>
            </a:r>
            <a:r>
              <a:rPr lang="en-US" altLang="zh-CN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3200" b="1" dirty="0">
                <a:solidFill>
                  <a:srgbClr val="0000FF"/>
                </a:solidFill>
                <a:ea typeface="华文中宋" panose="02010600040101010101" pitchFamily="2" charset="-122"/>
              </a:rPr>
              <a:t>软质点</a:t>
            </a:r>
            <a:endParaRPr lang="zh-CN" altLang="en-US" sz="3200" kern="100" dirty="0">
              <a:solidFill>
                <a:srgbClr val="0000FF"/>
              </a:solidFill>
              <a:effectLst>
                <a:outerShdw blurRad="38100" dist="25400" dir="5400000" algn="ctr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+mn-ea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dvAuto="1000"/>
      <p:bldP spid="64517" grpId="0" bldLvl="0" animBg="1"/>
      <p:bldP spid="62466" grpId="0" bldLvl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xfrm>
            <a:off x="1500188" y="0"/>
            <a:ext cx="6956425" cy="11430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二、常用（滑动）轴承合金</a:t>
            </a: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683260" y="1052830"/>
            <a:ext cx="7959725" cy="51149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工业上常用 </a:t>
            </a:r>
            <a:r>
              <a:rPr lang="zh-CN" altLang="en-US" b="1" dirty="0">
                <a:solidFill>
                  <a:schemeClr val="folHlink"/>
                </a:solidFill>
              </a:rPr>
              <a:t>锡基、铅基 </a:t>
            </a:r>
            <a:r>
              <a:rPr lang="zh-CN" altLang="en-US" b="1" dirty="0">
                <a:solidFill>
                  <a:srgbClr val="FF0000"/>
                </a:solidFill>
              </a:rPr>
              <a:t>轴承合金</a:t>
            </a:r>
            <a:r>
              <a:rPr lang="zh-CN" altLang="en-US" b="1" dirty="0">
                <a:solidFill>
                  <a:schemeClr val="folHlink"/>
                </a:solidFill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巴氏合金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kern="1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软基体、硬质点</a:t>
            </a:r>
            <a:r>
              <a:rPr lang="zh-CN" altLang="en-US" b="1" dirty="0">
                <a:ea typeface="华文中宋" panose="02010600040101010101" pitchFamily="2" charset="-122"/>
              </a:rPr>
              <a:t>型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：巴氏合金（锡基轴承合金、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铅基轴承合金）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硬基体、软质点</a:t>
            </a:r>
            <a:r>
              <a:rPr lang="zh-CN" altLang="en-US" b="1" dirty="0">
                <a:ea typeface="华文中宋" panose="02010600040101010101" pitchFamily="2" charset="-122"/>
              </a:rPr>
              <a:t>型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：铜基轴承合金、铝基轴承合金</a:t>
            </a: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17970"/>
            <a:ext cx="386080" cy="24066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99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031" y="0"/>
            <a:ext cx="5976322" cy="8299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、锡基轴承合金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200660" y="914400"/>
            <a:ext cx="8808720" cy="446913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成分</a:t>
            </a:r>
            <a:r>
              <a:rPr lang="zh-CN" altLang="en-US" sz="2800" b="1" dirty="0">
                <a:ea typeface="华文中宋" panose="02010600040101010101" pitchFamily="2" charset="-122"/>
              </a:rPr>
              <a:t>：以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锡</a:t>
            </a:r>
            <a:r>
              <a:rPr lang="zh-CN" altLang="en-US" sz="2800" b="1" dirty="0">
                <a:ea typeface="华文中宋" panose="02010600040101010101" pitchFamily="2" charset="-122"/>
              </a:rPr>
              <a:t>为主，并加入少量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锑、铜</a:t>
            </a:r>
            <a:r>
              <a:rPr lang="zh-CN" altLang="en-US" sz="2800" b="1" dirty="0">
                <a:ea typeface="华文中宋" panose="02010600040101010101" pitchFamily="2" charset="-122"/>
              </a:rPr>
              <a:t>等元素。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b="1" dirty="0">
                <a:ea typeface="华文中宋" panose="02010600040101010101" pitchFamily="2" charset="-122"/>
              </a:rPr>
              <a:t>熔点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较低</a:t>
            </a:r>
            <a:r>
              <a:rPr lang="zh-CN" altLang="en-US" sz="2800" b="1" dirty="0">
                <a:ea typeface="华文中宋" panose="02010600040101010101" pitchFamily="2" charset="-122"/>
              </a:rPr>
              <a:t>，是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软基体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硬质点 </a:t>
            </a:r>
            <a:r>
              <a:rPr lang="zh-CN" altLang="en-US" sz="2800" b="1" dirty="0">
                <a:ea typeface="华文中宋" panose="02010600040101010101" pitchFamily="2" charset="-122"/>
              </a:rPr>
              <a:t>组织类型。</a:t>
            </a:r>
          </a:p>
          <a:p>
            <a:pPr eaLnBrk="1" hangingPunct="1"/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典型牌号：</a:t>
            </a:r>
            <a:r>
              <a:rPr lang="en-US" altLang="zh-CN" b="1" dirty="0">
                <a:solidFill>
                  <a:schemeClr val="folHlink"/>
                </a:solidFill>
              </a:rPr>
              <a:t>ZSnSb11Cu6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en-US" altLang="zh-CN" b="1" dirty="0"/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dirty="0" err="1">
                <a:solidFill>
                  <a:schemeClr val="folHlink"/>
                </a:solidFill>
                <a:sym typeface="Symbol" panose="05050102010706020507" pitchFamily="18" charset="2"/>
              </a:rPr>
              <a:t>基体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（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锑</a:t>
            </a:r>
            <a:r>
              <a:rPr lang="zh-CN" altLang="en-US" sz="2800" b="1" dirty="0">
                <a:ea typeface="华文中宋" panose="02010600040101010101" pitchFamily="2" charset="-122"/>
              </a:rPr>
              <a:t>溶于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锡</a:t>
            </a:r>
            <a:r>
              <a:rPr lang="zh-CN" altLang="en-US" sz="2800" b="1" dirty="0">
                <a:ea typeface="华文中宋" panose="02010600040101010101" pitchFamily="2" charset="-122"/>
              </a:rPr>
              <a:t>的固溶体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）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+ </a:t>
            </a:r>
            <a:r>
              <a:rPr lang="en-US" altLang="zh-CN" b="1" dirty="0" err="1">
                <a:solidFill>
                  <a:schemeClr val="folHlink"/>
                </a:solidFill>
                <a:sym typeface="Symbol" panose="05050102010706020507" pitchFamily="18" charset="2"/>
              </a:rPr>
              <a:t>白亮块状SnSb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（</a:t>
            </a:r>
            <a:r>
              <a:rPr lang="zh-CN" altLang="en-US" sz="3200" b="1" dirty="0">
                <a:solidFill>
                  <a:srgbClr val="FF0000"/>
                </a:solidFill>
                <a:ea typeface="华文中宋" panose="02010600040101010101" pitchFamily="2" charset="-122"/>
              </a:rPr>
              <a:t>硬质点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，以</a:t>
            </a:r>
            <a:r>
              <a:rPr lang="en-US" altLang="zh-CN" b="1" dirty="0" err="1">
                <a:solidFill>
                  <a:schemeClr val="folHlink"/>
                </a:solidFill>
                <a:sym typeface="Symbol" panose="05050102010706020507" pitchFamily="18" charset="2"/>
              </a:rPr>
              <a:t>SnSb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为基的</a:t>
            </a:r>
            <a:r>
              <a:rPr lang="el-GR" altLang="zh-CN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3200" b="1" dirty="0">
                <a:ea typeface="华文中宋" panose="02010600040101010101" pitchFamily="2" charset="-122"/>
              </a:rPr>
              <a:t>固溶体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）</a:t>
            </a:r>
            <a:r>
              <a:rPr lang="en-US" altLang="zh-CN" b="1" dirty="0">
                <a:sym typeface="Symbol" panose="05050102010706020507" pitchFamily="18" charset="2"/>
              </a:rPr>
              <a:t>+ 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星状Cu</a:t>
            </a:r>
            <a:r>
              <a:rPr lang="en-US" altLang="zh-CN" b="1" baseline="-25000" dirty="0">
                <a:solidFill>
                  <a:schemeClr val="folHlink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sym typeface="Symbol" panose="05050102010706020507" pitchFamily="18" charset="2"/>
              </a:rPr>
              <a:t>Sn</a:t>
            </a:r>
            <a:endParaRPr lang="en-US" altLang="zh-CN" b="1" dirty="0"/>
          </a:p>
          <a:p>
            <a:pPr eaLnBrk="1" hangingPunct="1">
              <a:lnSpc>
                <a:spcPct val="130000"/>
              </a:lnSpc>
            </a:pPr>
            <a:endParaRPr lang="en-US" altLang="zh-CN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003800" y="4498340"/>
            <a:ext cx="2547620" cy="2256790"/>
            <a:chOff x="2640" y="1104"/>
            <a:chExt cx="2832" cy="2751"/>
          </a:xfrm>
        </p:grpSpPr>
        <p:pic>
          <p:nvPicPr>
            <p:cNvPr id="74760" name="Picture 5" descr="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0" y="1104"/>
              <a:ext cx="2827" cy="226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4761" name="Text Box 6"/>
            <p:cNvSpPr txBox="1">
              <a:spLocks noChangeAspect="1"/>
            </p:cNvSpPr>
            <p:nvPr/>
          </p:nvSpPr>
          <p:spPr>
            <a:xfrm>
              <a:off x="2640" y="3144"/>
              <a:ext cx="2832" cy="711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80000"/>
                </a:lnSpc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ZSnSb11Cu6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合金的显微组织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</a:t>
              </a: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558800" y="829945"/>
            <a:ext cx="8472805" cy="56515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性能特点：较高的耐磨性、导热性、耐蚀性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嵌藏性，摩擦系数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热膨胀系数小，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疲劳</a:t>
            </a:r>
            <a:r>
              <a:rPr lang="zh-CN" altLang="en-US" dirty="0">
                <a:ea typeface="华文中宋" panose="02010600040101010101" pitchFamily="2" charset="-122"/>
                <a:sym typeface="+mn-ea"/>
              </a:rPr>
              <a:t>强度较低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，工作温度不超过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150 ℃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价格高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。</a:t>
            </a:r>
          </a:p>
          <a:p>
            <a:pPr eaLnBrk="1" hangingPunct="1">
              <a:lnSpc>
                <a:spcPct val="135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5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应用：重型动力机械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气轮机、涡轮机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内燃机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等大型机器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高速轴瓦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6444079" y="3068707"/>
            <a:ext cx="1979295" cy="1868368"/>
            <a:chOff x="-177" y="20"/>
            <a:chExt cx="2813" cy="2653"/>
          </a:xfrm>
        </p:grpSpPr>
        <p:pic>
          <p:nvPicPr>
            <p:cNvPr id="75784" name="Picture 6" descr="巴氏合金轴瓦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77" y="20"/>
              <a:ext cx="2813" cy="226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5" name="Rectangle 12"/>
            <p:cNvSpPr>
              <a:spLocks noChangeAspect="1"/>
            </p:cNvSpPr>
            <p:nvPr/>
          </p:nvSpPr>
          <p:spPr>
            <a:xfrm>
              <a:off x="-63" y="2284"/>
              <a:ext cx="2355" cy="389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巴氏合金轴瓦</a:t>
              </a:r>
            </a:p>
          </p:txBody>
        </p:sp>
      </p:grp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031" y="0"/>
            <a:ext cx="5688290" cy="8299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、锡基轴承合金</a:t>
            </a: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dvAuto="100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558800" y="829945"/>
            <a:ext cx="8472805" cy="50196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030" y="0"/>
            <a:ext cx="6764655" cy="8299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、锡基轴承合金</a:t>
            </a: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19685" t="15311" r="19685" b="8749"/>
          <a:stretch>
            <a:fillRect/>
          </a:stretch>
        </p:blipFill>
        <p:spPr bwMode="auto">
          <a:xfrm>
            <a:off x="942975" y="1061720"/>
            <a:ext cx="7865110" cy="554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940152" y="1053118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dvAuto="100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558800" y="829945"/>
            <a:ext cx="8472805" cy="50196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5000"/>
              </a:lnSpc>
            </a:pP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28130"/>
            <a:ext cx="386080" cy="23050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030" y="0"/>
            <a:ext cx="6764655" cy="82994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、锡基轴承合金</a:t>
            </a: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4013" t="12200" r="24012" b="5201"/>
          <a:stretch>
            <a:fillRect/>
          </a:stretch>
        </p:blipFill>
        <p:spPr>
          <a:xfrm>
            <a:off x="971600" y="960470"/>
            <a:ext cx="7613600" cy="5278405"/>
          </a:xfrm>
          <a:prstGeom prst="rect">
            <a:avLst/>
          </a:prstGeom>
        </p:spPr>
      </p:pic>
      <p:sp>
        <p:nvSpPr>
          <p:cNvPr id="4" name="TextBox 12"/>
          <p:cNvSpPr txBox="1"/>
          <p:nvPr/>
        </p:nvSpPr>
        <p:spPr>
          <a:xfrm>
            <a:off x="2987824" y="3075057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dvAuto="100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4563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、铅基轴承合金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28625" y="1000125"/>
            <a:ext cx="8286750" cy="440245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合金成分：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铅</a:t>
            </a:r>
            <a:r>
              <a:rPr lang="zh-CN" altLang="en-US" b="1" dirty="0">
                <a:ea typeface="华文中宋" panose="02010600040101010101" pitchFamily="2" charset="-122"/>
              </a:rPr>
              <a:t>为主，加入少量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锑、锡、铜</a:t>
            </a:r>
            <a:r>
              <a:rPr lang="zh-CN" altLang="en-US" b="1" dirty="0">
                <a:ea typeface="华文中宋" panose="02010600040101010101" pitchFamily="2" charset="-122"/>
              </a:rPr>
              <a:t>等元素，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软基体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硬质点 </a:t>
            </a:r>
            <a:r>
              <a:rPr lang="zh-CN" altLang="en-US" b="1" dirty="0">
                <a:ea typeface="华文中宋" panose="02010600040101010101" pitchFamily="2" charset="-122"/>
              </a:rPr>
              <a:t>型。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典型牌号：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ZPbSb16Sn16Cu2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（其组织为</a:t>
            </a:r>
            <a:r>
              <a:rPr lang="en-US" altLang="zh-CN" b="1" dirty="0">
                <a:solidFill>
                  <a:srgbClr val="CCFF33"/>
                </a:solidFill>
              </a:rPr>
              <a:t>(</a:t>
            </a:r>
            <a:r>
              <a:rPr lang="en-US" altLang="zh-CN" b="1" dirty="0">
                <a:solidFill>
                  <a:srgbClr val="CCFF33"/>
                </a:solidFill>
                <a:sym typeface="Symbol" panose="05050102010706020507" pitchFamily="18" charset="2"/>
              </a:rPr>
              <a:t>+</a:t>
            </a:r>
            <a:r>
              <a:rPr lang="en-US" altLang="zh-CN" b="1" dirty="0">
                <a:solidFill>
                  <a:srgbClr val="CCFF33"/>
                </a:solidFill>
              </a:rPr>
              <a:t>)</a:t>
            </a:r>
            <a:r>
              <a:rPr lang="zh-CN" altLang="en-US" b="1" dirty="0">
                <a:solidFill>
                  <a:srgbClr val="CCFF33"/>
                </a:solidFill>
              </a:rPr>
              <a:t>共晶基体 </a:t>
            </a:r>
            <a:r>
              <a:rPr lang="en-US" altLang="zh-CN" b="1" dirty="0">
                <a:solidFill>
                  <a:srgbClr val="CCFF33"/>
                </a:solidFill>
              </a:rPr>
              <a:t>+ </a:t>
            </a:r>
            <a:r>
              <a:rPr lang="zh-CN" altLang="en-US" b="1" dirty="0">
                <a:solidFill>
                  <a:srgbClr val="CCFF33"/>
                </a:solidFill>
              </a:rPr>
              <a:t>方块状</a:t>
            </a:r>
            <a:r>
              <a:rPr lang="en-US" altLang="zh-CN" b="1" dirty="0">
                <a:solidFill>
                  <a:srgbClr val="CCFF33"/>
                </a:solidFill>
              </a:rPr>
              <a:t>SnSb +</a:t>
            </a:r>
            <a:r>
              <a:rPr lang="zh-CN" altLang="en-US" b="1" dirty="0">
                <a:solidFill>
                  <a:srgbClr val="CCFF33"/>
                </a:solidFill>
              </a:rPr>
              <a:t>针状</a:t>
            </a:r>
            <a:r>
              <a:rPr lang="en-US" altLang="zh-CN" b="1" dirty="0">
                <a:solidFill>
                  <a:srgbClr val="CCFF33"/>
                </a:solidFill>
                <a:sym typeface="Symbol" panose="05050102010706020507" pitchFamily="18" charset="2"/>
              </a:rPr>
              <a:t>Cu3Sn</a:t>
            </a:r>
            <a:r>
              <a:rPr lang="zh-CN" altLang="en-US" b="1" dirty="0">
                <a:sym typeface="Symbol" panose="05050102010706020507" pitchFamily="18" charset="2"/>
              </a:rPr>
              <a:t>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441755" y="4818380"/>
            <a:ext cx="4739585" cy="2089760"/>
            <a:chOff x="2264" y="576"/>
            <a:chExt cx="3272" cy="2728"/>
          </a:xfrm>
        </p:grpSpPr>
        <p:sp>
          <p:nvSpPr>
            <p:cNvPr id="76808" name="Text Box 5"/>
            <p:cNvSpPr txBox="1">
              <a:spLocks noChangeAspect="1"/>
            </p:cNvSpPr>
            <p:nvPr/>
          </p:nvSpPr>
          <p:spPr>
            <a:xfrm>
              <a:off x="2264" y="2703"/>
              <a:ext cx="3272" cy="60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en-US" altLang="zh-CN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ZPbSb16Sn16Cu2</a:t>
              </a:r>
              <a:r>
                <a:rPr lang="zh-CN" altLang="en-US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合金的显微组织</a:t>
              </a:r>
            </a:p>
          </p:txBody>
        </p:sp>
        <p:pic>
          <p:nvPicPr>
            <p:cNvPr id="76809" name="Picture 6" descr="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4" y="576"/>
              <a:ext cx="2747" cy="213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179070" y="1170305"/>
            <a:ext cx="8731250" cy="197066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性能特点：强度、硬度、耐蚀性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导热性</a:t>
            </a:r>
            <a:r>
              <a:rPr lang="zh-CN" altLang="en-US" b="1" dirty="0">
                <a:ea typeface="华文中宋" panose="02010600040101010101" pitchFamily="2" charset="-122"/>
              </a:rPr>
              <a:t>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不如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基轴承合金</a:t>
            </a:r>
            <a:r>
              <a:rPr lang="zh-CN" altLang="en-US" b="1" dirty="0">
                <a:ea typeface="华文中宋" panose="02010600040101010101" pitchFamily="2" charset="-122"/>
              </a:rPr>
              <a:t>，但其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成本低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高温强度好</a:t>
            </a:r>
            <a:r>
              <a:rPr lang="zh-CN" altLang="en-US" b="1" dirty="0">
                <a:ea typeface="华文中宋" panose="02010600040101010101" pitchFamily="2" charset="-122"/>
              </a:rPr>
              <a:t>，有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自润滑性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194050" y="3077482"/>
            <a:ext cx="3395345" cy="33038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应用：低速、低载条件下工作的设备</a:t>
            </a:r>
            <a:r>
              <a:rPr kumimoji="1" lang="zh-CN" altLang="en-US" sz="3200" noProof="0" dirty="0"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如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汽车、拖拉机曲轴的轴承等。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4024630" y="2989580"/>
            <a:ext cx="4889705" cy="3714799"/>
            <a:chOff x="2064" y="1536"/>
            <a:chExt cx="3507" cy="2664"/>
          </a:xfrm>
        </p:grpSpPr>
        <p:pic>
          <p:nvPicPr>
            <p:cNvPr id="77833" name="Picture 6" descr="内燃机轴瓦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5" y="1538"/>
              <a:ext cx="1727" cy="2269"/>
            </a:xfrm>
            <a:prstGeom prst="rect">
              <a:avLst/>
            </a:prstGeom>
            <a:noFill/>
            <a:ln w="28575">
              <a:noFill/>
            </a:ln>
          </p:spPr>
        </p:pic>
        <p:pic>
          <p:nvPicPr>
            <p:cNvPr id="77834" name="Picture 7" descr="内燃机轴瓦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2" y="1553"/>
              <a:ext cx="1779" cy="2269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77835" name="Text Box 9"/>
            <p:cNvSpPr txBox="1">
              <a:spLocks noChangeAspect="1"/>
            </p:cNvSpPr>
            <p:nvPr/>
          </p:nvSpPr>
          <p:spPr>
            <a:xfrm>
              <a:off x="3149" y="3869"/>
              <a:ext cx="1528" cy="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内燃机轴瓦</a:t>
              </a:r>
            </a:p>
          </p:txBody>
        </p:sp>
        <p:sp>
          <p:nvSpPr>
            <p:cNvPr id="77836" name="Rectangle 11"/>
            <p:cNvSpPr>
              <a:spLocks noChangeAspect="1"/>
            </p:cNvSpPr>
            <p:nvPr/>
          </p:nvSpPr>
          <p:spPr>
            <a:xfrm>
              <a:off x="2064" y="1536"/>
              <a:ext cx="3504" cy="2256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1" y="0"/>
            <a:ext cx="588411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、铅基轴承合金</a:t>
            </a: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2250"/>
            <a:ext cx="386080" cy="28638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 advAuto="1000"/>
      <p:bldP spid="90117" grpId="0" bldLvl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1" y="0"/>
            <a:ext cx="588411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、铅基轴承合金</a:t>
            </a: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2250"/>
            <a:ext cx="386080" cy="28638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9843" t="30621" r="9843" b="10936"/>
          <a:stretch>
            <a:fillRect/>
          </a:stretch>
        </p:blipFill>
        <p:spPr bwMode="auto">
          <a:xfrm>
            <a:off x="243578" y="1213966"/>
            <a:ext cx="8640960" cy="35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 l="8612" t="49431" r="11319" b="17498"/>
          <a:stretch>
            <a:fillRect/>
          </a:stretch>
        </p:blipFill>
        <p:spPr bwMode="auto">
          <a:xfrm>
            <a:off x="251520" y="4589978"/>
            <a:ext cx="8626000" cy="2268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5878235" y="1213966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1" y="0"/>
            <a:ext cx="588411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、铅基轴承合金</a:t>
            </a: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72250"/>
            <a:ext cx="386080" cy="28638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176" t="24855" r="5900" b="13601"/>
          <a:stretch>
            <a:fillRect/>
          </a:stretch>
        </p:blipFill>
        <p:spPr>
          <a:xfrm>
            <a:off x="454651" y="2072937"/>
            <a:ext cx="8496944" cy="3165516"/>
          </a:xfrm>
          <a:prstGeom prst="rect">
            <a:avLst/>
          </a:prstGeom>
        </p:spPr>
      </p:pic>
      <p:sp>
        <p:nvSpPr>
          <p:cNvPr id="4" name="TextBox 17"/>
          <p:cNvSpPr txBox="1"/>
          <p:nvPr/>
        </p:nvSpPr>
        <p:spPr>
          <a:xfrm>
            <a:off x="2987467" y="1628462"/>
            <a:ext cx="532859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097289" cy="98072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铜基轴承合金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49536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硬基体 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+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软质点 型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ZCuSn10P1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ZCuSn5PbZn5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锡青铜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特点：强度高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应用：中速、承受较大载荷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的轴承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，如电动机、泵、机床上用的轴承；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18933" y="-99695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铜基轴承合金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5800" y="1064577"/>
            <a:ext cx="7772400" cy="51822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ZCu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Pb30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铅青铜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特点：高的耐磨性、疲劳强度、导热性和低的摩擦系数，工作温度可达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350</a:t>
            </a:r>
            <a:r>
              <a:rPr lang="en-US" altLang="zh-CN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℃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应用：高速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重载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条件下工作的轴承，如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航空发动机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高速柴油机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汽轮机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上的轴承。</a:t>
            </a:r>
            <a:endParaRPr lang="zh-CN" altLang="en-US" b="1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109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380" y="0"/>
            <a:ext cx="6529705" cy="99758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铜基轴承合金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7067" t="4476" r="9271" b="34251"/>
          <a:stretch>
            <a:fillRect/>
          </a:stretch>
        </p:blipFill>
        <p:spPr>
          <a:xfrm>
            <a:off x="601676" y="1143000"/>
            <a:ext cx="4138775" cy="53888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6382" t="4709" r="12268" b="33722"/>
          <a:stretch>
            <a:fillRect/>
          </a:stretch>
        </p:blipFill>
        <p:spPr>
          <a:xfrm>
            <a:off x="4718305" y="1127760"/>
            <a:ext cx="4025037" cy="5415562"/>
          </a:xfrm>
          <a:prstGeom prst="rect">
            <a:avLst/>
          </a:prstGeom>
        </p:spPr>
      </p:pic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Box 17"/>
          <p:cNvSpPr txBox="1"/>
          <p:nvPr/>
        </p:nvSpPr>
        <p:spPr>
          <a:xfrm>
            <a:off x="5832083" y="1063377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380" y="0"/>
            <a:ext cx="6529705" cy="9525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铜基轴承合金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3174"/>
          <a:stretch>
            <a:fillRect/>
          </a:stretch>
        </p:blipFill>
        <p:spPr>
          <a:xfrm>
            <a:off x="1115202" y="1106124"/>
            <a:ext cx="7836393" cy="5442222"/>
          </a:xfrm>
          <a:prstGeom prst="rect">
            <a:avLst/>
          </a:prstGeom>
        </p:spPr>
      </p:pic>
      <p:sp>
        <p:nvSpPr>
          <p:cNvPr id="6" name="TextBox 17"/>
          <p:cNvSpPr txBox="1"/>
          <p:nvPr/>
        </p:nvSpPr>
        <p:spPr>
          <a:xfrm>
            <a:off x="5878235" y="1057636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铜基轴承合金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1963" t="17801" r="33463" b="5201"/>
          <a:stretch>
            <a:fillRect/>
          </a:stretch>
        </p:blipFill>
        <p:spPr>
          <a:xfrm>
            <a:off x="611505" y="1556385"/>
            <a:ext cx="4047490" cy="2715260"/>
          </a:xfrm>
          <a:prstGeom prst="rect">
            <a:avLst/>
          </a:prstGeom>
        </p:spPr>
      </p:pic>
      <p:pic>
        <p:nvPicPr>
          <p:cNvPr id="14" name="内容占位符 4"/>
          <p:cNvPicPr>
            <a:picLocks noChangeAspect="1"/>
          </p:cNvPicPr>
          <p:nvPr/>
        </p:nvPicPr>
        <p:blipFill rotWithShape="1">
          <a:blip r:embed="rId4"/>
          <a:srcRect l="2750" t="14000" r="32281" b="5501"/>
          <a:stretch>
            <a:fillRect/>
          </a:stretch>
        </p:blipFill>
        <p:spPr>
          <a:xfrm>
            <a:off x="4853940" y="1550035"/>
            <a:ext cx="3904615" cy="2721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TextBox 17"/>
          <p:cNvSpPr txBox="1"/>
          <p:nvPr/>
        </p:nvSpPr>
        <p:spPr>
          <a:xfrm>
            <a:off x="1475740" y="4364990"/>
            <a:ext cx="689927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GB/T 1174-2022  </a:t>
            </a:r>
            <a:r>
              <a:rPr lang="zh-CN" altLang="zh-CN" sz="3200" dirty="0">
                <a:solidFill>
                  <a:srgbClr val="FF0000"/>
                </a:solidFill>
              </a:rPr>
              <a:t>铸造轴承合金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99392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4.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铝基轴承合金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5800" y="1142365"/>
            <a:ext cx="7772400" cy="49536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硬基体 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+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软质点  型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ZAlSn6CuNi1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特点：密度小、导热性好、疲劳强度高、价格低廉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应用：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高速、重载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条件下工作的轴承，如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重型汽车、拖拉机、内燃机</a:t>
            </a:r>
            <a:r>
              <a:rPr lang="zh-CN" altLang="en-US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的轴承。</a:t>
            </a:r>
            <a:endParaRPr lang="zh-CN" altLang="en-US" b="1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99392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4.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铝基轴承合金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04448" y="6595745"/>
            <a:ext cx="540187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15994" t="15311" r="15994" b="10499"/>
          <a:stretch>
            <a:fillRect/>
          </a:stretch>
        </p:blipFill>
        <p:spPr bwMode="auto">
          <a:xfrm>
            <a:off x="251520" y="1124744"/>
            <a:ext cx="8640960" cy="530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012160" y="1124744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GB/T 1174-2022  </a:t>
            </a:r>
            <a:r>
              <a:rPr lang="zh-CN" altLang="zh-CN" sz="2000" dirty="0">
                <a:solidFill>
                  <a:srgbClr val="FF0000"/>
                </a:solidFill>
              </a:rPr>
              <a:t>铸造轴承合金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99392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4.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铝基轴承合金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04448" y="6595745"/>
            <a:ext cx="540187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1176" t="10800" r="25587" b="31800"/>
          <a:stretch>
            <a:fillRect/>
          </a:stretch>
        </p:blipFill>
        <p:spPr>
          <a:xfrm>
            <a:off x="55204" y="1981200"/>
            <a:ext cx="8928992" cy="3936437"/>
          </a:xfrm>
          <a:prstGeom prst="rect">
            <a:avLst/>
          </a:prstGeom>
        </p:spPr>
      </p:pic>
      <p:sp>
        <p:nvSpPr>
          <p:cNvPr id="6" name="TextBox 9"/>
          <p:cNvSpPr txBox="1"/>
          <p:nvPr/>
        </p:nvSpPr>
        <p:spPr>
          <a:xfrm>
            <a:off x="6014945" y="1931725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7470"/>
            <a:ext cx="4582160" cy="7594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锌基轴承合金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69215" y="6497320"/>
            <a:ext cx="1905000" cy="33845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478520" y="6541135"/>
            <a:ext cx="650240" cy="29464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内容占位符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 l="4921" t="29309" r="3937" b="16623"/>
          <a:stretch>
            <a:fillRect/>
          </a:stretch>
        </p:blipFill>
        <p:spPr bwMode="auto">
          <a:xfrm>
            <a:off x="395536" y="1988840"/>
            <a:ext cx="8568952" cy="370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9"/>
          <p:cNvSpPr txBox="1"/>
          <p:nvPr/>
        </p:nvSpPr>
        <p:spPr>
          <a:xfrm>
            <a:off x="6014945" y="1931725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7470"/>
            <a:ext cx="4582160" cy="7594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锌基轴承合金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69215" y="6497320"/>
            <a:ext cx="1905000" cy="33845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478520" y="6541135"/>
            <a:ext cx="650240" cy="29464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750" t="14049" r="3538" b="12200"/>
          <a:stretch>
            <a:fillRect/>
          </a:stretch>
        </p:blipFill>
        <p:spPr>
          <a:xfrm>
            <a:off x="248735" y="1579880"/>
            <a:ext cx="8568952" cy="3793336"/>
          </a:xfrm>
          <a:prstGeom prst="rect">
            <a:avLst/>
          </a:prstGeom>
        </p:spPr>
      </p:pic>
      <p:sp>
        <p:nvSpPr>
          <p:cNvPr id="4" name="TextBox 9"/>
          <p:cNvSpPr txBox="1"/>
          <p:nvPr/>
        </p:nvSpPr>
        <p:spPr>
          <a:xfrm>
            <a:off x="6014945" y="1580826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GB/T 1174-2022  </a:t>
            </a:r>
            <a:r>
              <a:rPr lang="zh-CN" altLang="zh-CN" sz="2000" dirty="0">
                <a:solidFill>
                  <a:srgbClr val="0000FF"/>
                </a:solidFill>
              </a:rPr>
              <a:t>铸造轴承合金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-99392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轴承合金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5800" y="1142365"/>
            <a:ext cx="7772400" cy="49536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595745"/>
            <a:ext cx="386080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9685" t="17498" r="19685" b="8749"/>
          <a:stretch>
            <a:fillRect/>
          </a:stretch>
        </p:blipFill>
        <p:spPr bwMode="auto">
          <a:xfrm>
            <a:off x="899592" y="1124744"/>
            <a:ext cx="7682184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2445976" y="4005064"/>
            <a:ext cx="4589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http://c.gb688.cn/bzgk/gb/showGb?type=online&amp;hcno=2644235AAB49A98E32E6DC0DF35279CD</a:t>
            </a: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20320"/>
            <a:ext cx="4582160" cy="7594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轴承合金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69215" y="6497320"/>
            <a:ext cx="1905000" cy="33845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478520" y="6541135"/>
            <a:ext cx="650240" cy="29464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119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于永泗》表8-10铸造轴承合金（1） 001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630805" y="854075"/>
            <a:ext cx="4601210" cy="2093595"/>
          </a:xfrm>
          <a:prstGeom prst="rect">
            <a:avLst/>
          </a:prstGeom>
        </p:spPr>
      </p:pic>
      <p:pic>
        <p:nvPicPr>
          <p:cNvPr id="3" name="内容占位符 2" descr="《于永泗》表8-10铸造轴承合金（2） 001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2614930" y="2876550"/>
            <a:ext cx="4618990" cy="3871595"/>
          </a:xfrm>
          <a:prstGeom prst="rect">
            <a:avLst/>
          </a:prstGeom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7391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8" name="Rectangle 20"/>
          <p:cNvSpPr>
            <a:spLocks noGrp="1"/>
          </p:cNvSpPr>
          <p:nvPr>
            <p:ph idx="1"/>
          </p:nvPr>
        </p:nvSpPr>
        <p:spPr>
          <a:xfrm>
            <a:off x="342265" y="1000125"/>
            <a:ext cx="8368665" cy="271970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锡基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铅基轴承合金强度比较低，为提高其承载能力和使用寿命，</a:t>
            </a:r>
            <a:r>
              <a:rPr lang="zh-CN" altLang="en-US" b="1" dirty="0">
                <a:ea typeface="华文中宋" panose="02010600040101010101" pitchFamily="2" charset="-122"/>
              </a:rPr>
              <a:t>生产上常采用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离心浇注法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将它们镶铸在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低碳钢轴瓦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上，形成一层薄而均匀的内衬，成为双金属轴承。</a:t>
            </a:r>
          </a:p>
        </p:txBody>
      </p:sp>
      <p:grpSp>
        <p:nvGrpSpPr>
          <p:cNvPr id="2" name="Group 33"/>
          <p:cNvGrpSpPr/>
          <p:nvPr/>
        </p:nvGrpSpPr>
        <p:grpSpPr>
          <a:xfrm>
            <a:off x="2400618" y="3811588"/>
            <a:ext cx="4910137" cy="3046412"/>
            <a:chOff x="1392" y="2203"/>
            <a:chExt cx="3093" cy="1919"/>
          </a:xfrm>
        </p:grpSpPr>
        <p:grpSp>
          <p:nvGrpSpPr>
            <p:cNvPr id="78856" name="Group 18"/>
            <p:cNvGrpSpPr/>
            <p:nvPr/>
          </p:nvGrpSpPr>
          <p:grpSpPr>
            <a:xfrm>
              <a:off x="1392" y="2203"/>
              <a:ext cx="3093" cy="1919"/>
              <a:chOff x="357" y="768"/>
              <a:chExt cx="3093" cy="1919"/>
            </a:xfrm>
          </p:grpSpPr>
          <p:pic>
            <p:nvPicPr>
              <p:cNvPr id="78866" name="Picture 7" descr="滑动轴承结构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344" y="864"/>
                <a:ext cx="2106" cy="182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8867" name="Text Box 13"/>
              <p:cNvSpPr txBox="1"/>
              <p:nvPr/>
            </p:nvSpPr>
            <p:spPr>
              <a:xfrm>
                <a:off x="357" y="76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表面保护层</a:t>
                </a:r>
                <a:r>
                  <a:rPr lang="zh-CN" altLang="en-US" dirty="0">
                    <a:solidFill>
                      <a:srgbClr val="00008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3" name="Text Box 14"/>
              <p:cNvSpPr txBox="1"/>
              <p:nvPr/>
            </p:nvSpPr>
            <p:spPr>
              <a:xfrm>
                <a:off x="681" y="1104"/>
                <a:ext cx="9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减磨层</a:t>
                </a:r>
                <a:r>
                  <a:rPr lang="zh-CN" altLang="en-US" dirty="0">
                    <a:solidFill>
                      <a:srgbClr val="00008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78869" name="Text Box 15"/>
              <p:cNvSpPr txBox="1"/>
              <p:nvPr/>
            </p:nvSpPr>
            <p:spPr>
              <a:xfrm>
                <a:off x="672" y="1436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镍栅层</a:t>
                </a:r>
                <a:r>
                  <a:rPr lang="zh-CN" altLang="en-US" dirty="0">
                    <a:solidFill>
                      <a:srgbClr val="00008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78870" name="Text Box 16"/>
              <p:cNvSpPr txBox="1"/>
              <p:nvPr/>
            </p:nvSpPr>
            <p:spPr>
              <a:xfrm>
                <a:off x="533" y="1715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轴承合金</a:t>
                </a:r>
                <a:r>
                  <a:rPr lang="zh-CN" altLang="en-US" dirty="0">
                    <a:solidFill>
                      <a:srgbClr val="00008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78871" name="Text Box 17"/>
              <p:cNvSpPr txBox="1"/>
              <p:nvPr/>
            </p:nvSpPr>
            <p:spPr>
              <a:xfrm>
                <a:off x="846" y="1982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衬背</a:t>
                </a:r>
                <a:r>
                  <a:rPr lang="zh-CN" altLang="en-US" dirty="0">
                    <a:solidFill>
                      <a:srgbClr val="00008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</p:grpSp>
        <p:sp>
          <p:nvSpPr>
            <p:cNvPr id="78857" name="Line 22"/>
            <p:cNvSpPr/>
            <p:nvPr/>
          </p:nvSpPr>
          <p:spPr>
            <a:xfrm>
              <a:off x="2256" y="2387"/>
              <a:ext cx="864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58" name="Line 23"/>
            <p:cNvSpPr/>
            <p:nvPr/>
          </p:nvSpPr>
          <p:spPr>
            <a:xfrm>
              <a:off x="3120" y="2387"/>
              <a:ext cx="0" cy="120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59" name="Line 24"/>
            <p:cNvSpPr/>
            <p:nvPr/>
          </p:nvSpPr>
          <p:spPr>
            <a:xfrm>
              <a:off x="2304" y="3334"/>
              <a:ext cx="384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0" name="Line 25"/>
            <p:cNvSpPr/>
            <p:nvPr/>
          </p:nvSpPr>
          <p:spPr>
            <a:xfrm>
              <a:off x="2688" y="3351"/>
              <a:ext cx="0" cy="214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1" name="Line 26"/>
            <p:cNvSpPr/>
            <p:nvPr/>
          </p:nvSpPr>
          <p:spPr>
            <a:xfrm>
              <a:off x="2304" y="3600"/>
              <a:ext cx="336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2" name="Line 27"/>
            <p:cNvSpPr/>
            <p:nvPr/>
          </p:nvSpPr>
          <p:spPr>
            <a:xfrm>
              <a:off x="2304" y="3016"/>
              <a:ext cx="528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3" name="Line 28"/>
            <p:cNvSpPr/>
            <p:nvPr/>
          </p:nvSpPr>
          <p:spPr>
            <a:xfrm>
              <a:off x="2832" y="3024"/>
              <a:ext cx="0" cy="555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4" name="Line 29"/>
            <p:cNvSpPr/>
            <p:nvPr/>
          </p:nvSpPr>
          <p:spPr>
            <a:xfrm>
              <a:off x="2304" y="2715"/>
              <a:ext cx="659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5" name="Line 30"/>
            <p:cNvSpPr/>
            <p:nvPr/>
          </p:nvSpPr>
          <p:spPr>
            <a:xfrm>
              <a:off x="2976" y="2715"/>
              <a:ext cx="0" cy="864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4563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双金属轴承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555" y="6607175"/>
            <a:ext cx="38608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8" grpId="0" build="p" advAuto="100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04495" y="2060575"/>
            <a:ext cx="8347710" cy="286893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第六节、硬质合金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Cemented Carbide</a:t>
            </a:r>
            <a:r>
              <a:rPr kumimoji="1" lang="zh-CN" altLang="en-US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</a:t>
            </a:r>
            <a:b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Hardmetal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100392" y="6595110"/>
            <a:ext cx="458773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AutoShape 4">
            <a:hlinkClick r:id="rId3" action="ppaction://hlinksldjump"/>
          </p:cNvPr>
          <p:cNvSpPr/>
          <p:nvPr/>
        </p:nvSpPr>
        <p:spPr>
          <a:xfrm>
            <a:off x="8815705" y="661162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30689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99160" y="0"/>
            <a:ext cx="8090535" cy="13735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第六节、硬质合金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sz="4000" b="1" i="1" noProof="0" dirty="0">
                <a:ln>
                  <a:noFill/>
                </a:ln>
                <a:uLnTx/>
                <a:uFillTx/>
                <a:sym typeface="+mn-ea"/>
              </a:rPr>
              <a:t>Cemented Carbide</a:t>
            </a:r>
            <a:r>
              <a:rPr lang="zh-CN" altLang="en-US" sz="4000" b="1" i="1" noProof="0" dirty="0">
                <a:ln>
                  <a:noFill/>
                </a:ln>
                <a:uLnTx/>
                <a:uFillTx/>
                <a:sym typeface="+mn-ea"/>
              </a:rPr>
              <a:t>，</a:t>
            </a:r>
            <a:r>
              <a:rPr lang="en-US" altLang="zh-CN" sz="4000" b="1" i="1" noProof="0" dirty="0">
                <a:ln>
                  <a:noFill/>
                </a:ln>
                <a:uLnTx/>
                <a:uFillTx/>
                <a:sym typeface="+mn-ea"/>
              </a:rPr>
              <a:t>Hardmetal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483235" y="1268730"/>
            <a:ext cx="7974965" cy="47053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以一种或几种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高熔点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碳化物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氮化物、硼化物等）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粉末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硬质相，</a:t>
            </a:r>
            <a:r>
              <a:rPr lang="zh-CN" altLang="en-US" b="1" dirty="0">
                <a:ea typeface="华文中宋" panose="02010600040101010101" pitchFamily="2" charset="-122"/>
              </a:rPr>
              <a:t>加入起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粘结作用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金属粉末，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混合加压成型，</a:t>
            </a:r>
            <a:r>
              <a:rPr lang="zh-CN" altLang="en-US" b="1" dirty="0">
                <a:ea typeface="华文中宋" panose="02010600040101010101" pitchFamily="2" charset="-122"/>
              </a:rPr>
              <a:t>再经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烧结</a:t>
            </a:r>
            <a:r>
              <a:rPr lang="zh-CN" altLang="en-US" b="1" dirty="0">
                <a:ea typeface="华文中宋" panose="02010600040101010101" pitchFamily="2" charset="-122"/>
              </a:rPr>
              <a:t>而成的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粉末冶金产品。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典型应用：高速切削刀具、冷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</a:t>
            </a:r>
            <a:r>
              <a:rPr lang="zh-CN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热作模具、量具，不受冲击、振动的高耐磨结构。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100392" y="6595110"/>
            <a:ext cx="458773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AutoShape 4">
            <a:hlinkClick r:id="rId3" action="ppaction://hlinksldjump"/>
          </p:cNvPr>
          <p:cNvSpPr/>
          <p:nvPr/>
        </p:nvSpPr>
        <p:spPr>
          <a:xfrm>
            <a:off x="8815705" y="6611620"/>
            <a:ext cx="252095" cy="20701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175" y="14122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899160" y="1484630"/>
            <a:ext cx="17500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硬质合金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lang="zh-CN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性能特点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5800" y="1218565"/>
            <a:ext cx="7772400" cy="48774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）高硬度（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86-93HRA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，相当于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69-81HRC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）、高热硬性（可达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900-1000</a:t>
            </a:r>
            <a:r>
              <a:rPr lang="en-US" altLang="zh-CN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）、高耐磨性；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）高弹性模量、高抗压强度，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抗弯曲强度较低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）良好的耐蚀性和抗氧化性，较小的膨胀系数，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导热性较差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6456" y="6595745"/>
            <a:ext cx="468179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lang="zh-CN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性能特点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5800" y="1218565"/>
            <a:ext cx="7772400" cy="48774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）脆性大，加工性差；不能进行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锻造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，也不能用一般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切削加工方法加工，</a:t>
            </a:r>
            <a:r>
              <a:rPr lang="zh-CN" altLang="en-US" b="1" dirty="0">
                <a:ea typeface="华文中宋" panose="02010600040101010101" pitchFamily="2" charset="-122"/>
              </a:rPr>
              <a:t>只能采用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电加工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专门的砂轮磨削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一般都是通过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钎焊、粘结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机械装夹</a:t>
            </a:r>
            <a:r>
              <a:rPr lang="zh-CN" altLang="en-US" b="1" dirty="0">
                <a:ea typeface="华文中宋" panose="02010600040101010101" pitchFamily="2" charset="-122"/>
              </a:rPr>
              <a:t>等方法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将已成形的硬质合金制品固定在刀杆或模具上使用。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6456" y="6595745"/>
            <a:ext cx="468179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分类</a:t>
            </a: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1046742" y="3121682"/>
            <a:ext cx="7772400" cy="312690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(1)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钨钴类</a:t>
            </a:r>
            <a:endParaRPr lang="en-US" altLang="zh-CN" sz="800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(2)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钨钴钛类</a:t>
            </a:r>
            <a:endParaRPr lang="en-US" altLang="zh-CN" sz="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(3)</a:t>
            </a:r>
            <a:r>
              <a:rPr lang="zh-CN" altLang="en-US" sz="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钨钛钽（铌）类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6456" y="6595745"/>
            <a:ext cx="468179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125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1302924" y="1809135"/>
            <a:ext cx="6794388" cy="3070154"/>
            <a:chOff x="110836" y="4488968"/>
            <a:chExt cx="6794388" cy="1577340"/>
          </a:xfrm>
        </p:grpSpPr>
        <p:grpSp>
          <p:nvGrpSpPr>
            <p:cNvPr id="5" name="组合 20"/>
            <p:cNvGrpSpPr/>
            <p:nvPr/>
          </p:nvGrpSpPr>
          <p:grpSpPr>
            <a:xfrm>
              <a:off x="110836" y="4488968"/>
              <a:ext cx="6794388" cy="1577340"/>
              <a:chOff x="2263" y="5609"/>
              <a:chExt cx="10829" cy="2484"/>
            </a:xfrm>
          </p:grpSpPr>
          <p:sp>
            <p:nvSpPr>
              <p:cNvPr id="12" name="左大括号 39"/>
              <p:cNvSpPr/>
              <p:nvPr/>
            </p:nvSpPr>
            <p:spPr>
              <a:xfrm>
                <a:off x="5307" y="5871"/>
                <a:ext cx="406" cy="1970"/>
              </a:xfrm>
              <a:prstGeom prst="leftBrace">
                <a:avLst>
                  <a:gd name="adj1" fmla="val 47157"/>
                  <a:gd name="adj2" fmla="val 50000"/>
                </a:avLst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3" name="文本框 2"/>
              <p:cNvSpPr txBox="1">
                <a:spLocks noChangeArrowheads="1"/>
              </p:cNvSpPr>
              <p:nvPr/>
            </p:nvSpPr>
            <p:spPr bwMode="auto">
              <a:xfrm>
                <a:off x="2263" y="6594"/>
                <a:ext cx="2944" cy="5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3200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rPr>
                  <a:t>硬质合金</a:t>
                </a:r>
              </a:p>
            </p:txBody>
          </p:sp>
          <p:sp>
            <p:nvSpPr>
              <p:cNvPr id="14" name="文本框 2"/>
              <p:cNvSpPr txBox="1">
                <a:spLocks noChangeArrowheads="1"/>
              </p:cNvSpPr>
              <p:nvPr/>
            </p:nvSpPr>
            <p:spPr bwMode="auto">
              <a:xfrm>
                <a:off x="5813" y="5609"/>
                <a:ext cx="4185" cy="52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36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钨钴类</a:t>
                </a:r>
                <a:r>
                  <a:rPr lang="en-US" altLang="zh-CN" sz="36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  YG</a:t>
                </a:r>
                <a:endParaRPr lang="zh-CN" altLang="en-US" sz="28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5" name="文本框 2"/>
              <p:cNvSpPr txBox="1">
                <a:spLocks noChangeArrowheads="1"/>
              </p:cNvSpPr>
              <p:nvPr/>
            </p:nvSpPr>
            <p:spPr bwMode="auto">
              <a:xfrm>
                <a:off x="5725" y="7570"/>
                <a:ext cx="7367" cy="52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sz="36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钨钛钽（铌）类  </a:t>
                </a:r>
                <a:r>
                  <a:rPr lang="en-US" altLang="zh-CN" sz="3600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YW</a:t>
                </a:r>
                <a:endParaRPr lang="zh-CN" altLang="en-US" sz="2800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2275453" y="5167175"/>
              <a:ext cx="2976667" cy="332063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0000FF"/>
                  </a:solidFill>
                  <a:ea typeface="华文中宋" panose="02010600040101010101" pitchFamily="2" charset="-122"/>
                  <a:sym typeface="+mn-ea"/>
                </a:rPr>
                <a:t>钨钴钛类  </a:t>
              </a:r>
              <a:r>
                <a:rPr lang="en-US" altLang="zh-CN" sz="3600" b="1" dirty="0">
                  <a:solidFill>
                    <a:srgbClr val="0000FF"/>
                  </a:solidFill>
                  <a:ea typeface="华文中宋" panose="02010600040101010101" pitchFamily="2" charset="-122"/>
                  <a:sym typeface="+mn-ea"/>
                </a:rPr>
                <a:t>YT</a:t>
              </a:r>
              <a:endParaRPr lang="zh-CN" altLang="en-US" sz="2800" kern="1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82420" y="0"/>
            <a:ext cx="7104380" cy="913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(1)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钨钴类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>
          <a:xfrm>
            <a:off x="251520" y="913765"/>
            <a:ext cx="8647370" cy="51822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主要化学成分：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WC  +  Co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YG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（硬钴）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钴的质量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YG3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YG6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73025" y="6487795"/>
            <a:ext cx="1905000" cy="3657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307705" y="6516370"/>
            <a:ext cx="591185" cy="30924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126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6常用硬质合金1 001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/>
          <a:srcRect r="1803"/>
          <a:stretch>
            <a:fillRect/>
          </a:stretch>
        </p:blipFill>
        <p:spPr>
          <a:xfrm>
            <a:off x="152266" y="2163309"/>
            <a:ext cx="9204757" cy="2976188"/>
          </a:xfrm>
          <a:prstGeom prst="rect">
            <a:avLst/>
          </a:prstGeom>
        </p:spPr>
      </p:pic>
      <p:pic>
        <p:nvPicPr>
          <p:cNvPr id="3" name="图片 2" descr="《庞国星》表6-6常用硬质合金（续） 001"/>
          <p:cNvPicPr>
            <a:picLocks noChangeAspect="1"/>
          </p:cNvPicPr>
          <p:nvPr/>
        </p:nvPicPr>
        <p:blipFill rotWithShape="1">
          <a:blip r:embed="rId3" cstate="print"/>
          <a:srcRect t="18126" r="1598" b="49877"/>
          <a:stretch>
            <a:fillRect/>
          </a:stretch>
        </p:blipFill>
        <p:spPr>
          <a:xfrm>
            <a:off x="272760" y="4955044"/>
            <a:ext cx="8979760" cy="951574"/>
          </a:xfrm>
          <a:prstGeom prst="rect">
            <a:avLst/>
          </a:prstGeom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 descr="《庞国星》表6-6常用硬质合金（续） 001"/>
          <p:cNvPicPr>
            <a:picLocks noChangeAspect="1"/>
          </p:cNvPicPr>
          <p:nvPr/>
        </p:nvPicPr>
        <p:blipFill rotWithShape="1">
          <a:blip r:embed="rId5" cstate="print"/>
          <a:srcRect t="90059" r="20316"/>
          <a:stretch>
            <a:fillRect/>
          </a:stretch>
        </p:blipFill>
        <p:spPr>
          <a:xfrm>
            <a:off x="183721" y="5916446"/>
            <a:ext cx="9185488" cy="647220"/>
          </a:xfrm>
          <a:prstGeom prst="rect">
            <a:avLst/>
          </a:prstGeom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82420" y="0"/>
            <a:ext cx="7104380" cy="913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(2)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钨钴钛类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>
          <a:xfrm>
            <a:off x="685800" y="913765"/>
            <a:ext cx="8213090" cy="51822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主要化学成分：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WC + </a:t>
            </a:r>
            <a:r>
              <a:rPr lang="en-US" altLang="zh-CN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TiC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+ Co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YT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（硬钛）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 </a:t>
            </a:r>
            <a:r>
              <a:rPr lang="en-US" altLang="zh-CN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TiC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的质量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YT5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73025" y="6487795"/>
            <a:ext cx="1905000" cy="3657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307705" y="6516370"/>
            <a:ext cx="591185" cy="30924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6常用硬质合金1 001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/>
          <a:srcRect l="1274" r="5317" b="54392"/>
          <a:stretch>
            <a:fillRect/>
          </a:stretch>
        </p:blipFill>
        <p:spPr>
          <a:xfrm>
            <a:off x="525902" y="3087439"/>
            <a:ext cx="7903050" cy="1225165"/>
          </a:xfrm>
          <a:prstGeom prst="rect">
            <a:avLst/>
          </a:prstGeom>
        </p:spPr>
      </p:pic>
      <p:pic>
        <p:nvPicPr>
          <p:cNvPr id="3" name="图片 2" descr="《庞国星》表6-6常用硬质合金（续） 001"/>
          <p:cNvPicPr>
            <a:picLocks noChangeAspect="1"/>
          </p:cNvPicPr>
          <p:nvPr/>
        </p:nvPicPr>
        <p:blipFill rotWithShape="1">
          <a:blip r:embed="rId3" cstate="print"/>
          <a:srcRect t="48607" r="4040" b="25285"/>
          <a:stretch>
            <a:fillRect/>
          </a:stretch>
        </p:blipFill>
        <p:spPr>
          <a:xfrm>
            <a:off x="525902" y="3871845"/>
            <a:ext cx="7903049" cy="1225165"/>
          </a:xfrm>
          <a:prstGeom prst="rect">
            <a:avLst/>
          </a:prstGeom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7905" y="0"/>
            <a:ext cx="8060690" cy="913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(3)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钨钛钽（铌）类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>
          <a:xfrm>
            <a:off x="685800" y="913765"/>
            <a:ext cx="8213090" cy="518223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主要化学成分：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WC + </a:t>
            </a:r>
            <a:r>
              <a:rPr lang="en-US" altLang="zh-CN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TiC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+ </a:t>
            </a:r>
            <a:r>
              <a:rPr lang="en-US" altLang="zh-CN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TaC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碳化钽）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/NbC(</a:t>
            </a:r>
            <a:r>
              <a:rPr lang="zh-CN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碳化铌）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Co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牌号：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YW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（硬万）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顺序号，如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YW1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GB/T2075-2007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73025" y="6487795"/>
            <a:ext cx="1905000" cy="3657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307705" y="6516370"/>
            <a:ext cx="591185" cy="30924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128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6常用硬质合金1 001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/>
          <a:srcRect r="1839" b="68888"/>
          <a:stretch>
            <a:fillRect/>
          </a:stretch>
        </p:blipFill>
        <p:spPr>
          <a:xfrm>
            <a:off x="250045" y="3907334"/>
            <a:ext cx="8563723" cy="861774"/>
          </a:xfrm>
          <a:prstGeom prst="rect">
            <a:avLst/>
          </a:prstGeom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l="23297" t="10917" r="39321" b="3681"/>
          <a:stretch>
            <a:fillRect/>
          </a:stretch>
        </p:blipFill>
        <p:spPr bwMode="auto">
          <a:xfrm>
            <a:off x="7440722" y="1412776"/>
            <a:ext cx="1971675" cy="2533650"/>
          </a:xfrm>
          <a:prstGeom prst="rect">
            <a:avLst/>
          </a:prstGeom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69132" y="5492869"/>
            <a:ext cx="8898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GB/T 2075-2007  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切削加工用硬切削材料的分类和用途 </a:t>
            </a:r>
            <a:endParaRPr lang="en-US" altLang="zh-CN" sz="28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大组和用途小组的分类代号</a:t>
            </a:r>
          </a:p>
        </p:txBody>
      </p:sp>
      <p:pic>
        <p:nvPicPr>
          <p:cNvPr id="6" name="图片 5" descr="《庞国星》表6-6常用硬质合金（续） 001"/>
          <p:cNvPicPr>
            <a:picLocks noChangeAspect="1"/>
          </p:cNvPicPr>
          <p:nvPr/>
        </p:nvPicPr>
        <p:blipFill rotWithShape="1">
          <a:blip r:embed="rId5" cstate="print"/>
          <a:srcRect t="71482" r="4474" b="9078"/>
          <a:stretch>
            <a:fillRect/>
          </a:stretch>
        </p:blipFill>
        <p:spPr>
          <a:xfrm>
            <a:off x="330232" y="4718770"/>
            <a:ext cx="8213090" cy="681288"/>
          </a:xfrm>
          <a:prstGeom prst="rect">
            <a:avLst/>
          </a:prstGeom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24230" y="0"/>
            <a:ext cx="8301990" cy="139763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切削加工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用硬质合金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folHlin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GB/T2075-2007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12932" y="6612138"/>
            <a:ext cx="1905000" cy="2266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945092" y="6626443"/>
            <a:ext cx="545465" cy="22669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129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7硬切削材料的分类和用途1 001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/>
          <a:srcRect r="5957" b="38864"/>
          <a:stretch>
            <a:fillRect/>
          </a:stretch>
        </p:blipFill>
        <p:spPr>
          <a:xfrm>
            <a:off x="467544" y="2852936"/>
            <a:ext cx="8352928" cy="38164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155" y="1527810"/>
            <a:ext cx="88455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分类：六个主要类别：</a:t>
            </a:r>
            <a:r>
              <a:rPr lang="en-US" altLang="zh-CN" sz="3200" dirty="0"/>
              <a:t>P</a:t>
            </a:r>
            <a:r>
              <a:rPr lang="zh-CN" altLang="zh-CN" sz="3200" dirty="0"/>
              <a:t>、</a:t>
            </a:r>
            <a:r>
              <a:rPr lang="en-US" altLang="zh-CN" sz="3200" dirty="0"/>
              <a:t>M</a:t>
            </a:r>
            <a:r>
              <a:rPr lang="zh-CN" altLang="zh-CN" sz="3200" dirty="0"/>
              <a:t>、</a:t>
            </a:r>
            <a:r>
              <a:rPr lang="en-US" altLang="zh-CN" sz="3200" dirty="0"/>
              <a:t>K</a:t>
            </a:r>
            <a:r>
              <a:rPr lang="zh-CN" altLang="en-US" sz="3200" dirty="0"/>
              <a:t>、</a:t>
            </a:r>
            <a:r>
              <a:rPr lang="en-US" altLang="zh-CN" sz="3200" dirty="0"/>
              <a:t>N</a:t>
            </a:r>
            <a:r>
              <a:rPr lang="zh-CN" altLang="en-US" sz="3200" dirty="0"/>
              <a:t>、</a:t>
            </a:r>
            <a:r>
              <a:rPr lang="en-US" altLang="zh-CN" sz="3200" dirty="0"/>
              <a:t>S</a:t>
            </a:r>
            <a:r>
              <a:rPr lang="zh-CN" altLang="en-US" sz="3200" dirty="0"/>
              <a:t>、</a:t>
            </a:r>
            <a:r>
              <a:rPr lang="en-US" altLang="zh-CN" sz="3200" dirty="0"/>
              <a:t>H</a:t>
            </a:r>
          </a:p>
          <a:p>
            <a:r>
              <a:rPr lang="zh-CN" altLang="en-US" sz="3200" dirty="0"/>
              <a:t>同一类别中，数字越大其</a:t>
            </a:r>
            <a:r>
              <a:rPr lang="zh-CN" altLang="en-US" sz="3200" dirty="0">
                <a:solidFill>
                  <a:srgbClr val="FF0000"/>
                </a:solidFill>
              </a:rPr>
              <a:t>耐磨性</a:t>
            </a:r>
            <a:r>
              <a:rPr lang="zh-CN" altLang="en-US" sz="3200" dirty="0"/>
              <a:t>越低而</a:t>
            </a:r>
            <a:r>
              <a:rPr lang="zh-CN" altLang="en-US" sz="3200" dirty="0">
                <a:solidFill>
                  <a:srgbClr val="FF0000"/>
                </a:solidFill>
              </a:rPr>
              <a:t>韧性</a:t>
            </a:r>
            <a:r>
              <a:rPr lang="zh-CN" altLang="en-US" sz="3200" dirty="0"/>
              <a:t>越高</a:t>
            </a: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19685" y="13404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24230" y="0"/>
            <a:ext cx="8301990" cy="139763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切削加工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用硬质合金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folHlin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GB/T2075-2007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12932" y="6612138"/>
            <a:ext cx="1905000" cy="2266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945092" y="6626443"/>
            <a:ext cx="545465" cy="22669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130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7硬切削材料的分类和用途1 001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/>
          <a:srcRect r="5957"/>
          <a:stretch>
            <a:fillRect/>
          </a:stretch>
        </p:blipFill>
        <p:spPr>
          <a:xfrm>
            <a:off x="467544" y="2852936"/>
            <a:ext cx="8352928" cy="377350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155" y="1527810"/>
            <a:ext cx="88455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分类：六个主要类别：</a:t>
            </a:r>
            <a:r>
              <a:rPr lang="en-US" altLang="zh-CN" sz="3200" dirty="0"/>
              <a:t>P</a:t>
            </a:r>
            <a:r>
              <a:rPr lang="zh-CN" altLang="zh-CN" sz="3200" dirty="0"/>
              <a:t>、</a:t>
            </a:r>
            <a:r>
              <a:rPr lang="en-US" altLang="zh-CN" sz="3200" dirty="0"/>
              <a:t>M</a:t>
            </a:r>
            <a:r>
              <a:rPr lang="zh-CN" altLang="zh-CN" sz="3200" dirty="0"/>
              <a:t>、</a:t>
            </a:r>
            <a:r>
              <a:rPr lang="en-US" altLang="zh-CN" sz="3200" dirty="0"/>
              <a:t>K</a:t>
            </a:r>
            <a:r>
              <a:rPr lang="zh-CN" altLang="en-US" sz="3200" dirty="0"/>
              <a:t>、</a:t>
            </a:r>
            <a:r>
              <a:rPr lang="en-US" altLang="zh-CN" sz="3200" dirty="0"/>
              <a:t>N</a:t>
            </a:r>
            <a:r>
              <a:rPr lang="zh-CN" altLang="en-US" sz="3200" dirty="0"/>
              <a:t>、</a:t>
            </a:r>
            <a:r>
              <a:rPr lang="en-US" altLang="zh-CN" sz="3200" dirty="0"/>
              <a:t>S</a:t>
            </a:r>
            <a:r>
              <a:rPr lang="zh-CN" altLang="en-US" sz="3200" dirty="0"/>
              <a:t>、</a:t>
            </a:r>
            <a:r>
              <a:rPr lang="en-US" altLang="zh-CN" sz="3200" dirty="0"/>
              <a:t>H</a:t>
            </a:r>
          </a:p>
          <a:p>
            <a:r>
              <a:rPr lang="zh-CN" altLang="en-US" sz="3200" dirty="0"/>
              <a:t>同一类别中，数字越大其</a:t>
            </a:r>
            <a:r>
              <a:rPr lang="zh-CN" altLang="en-US" sz="3200" dirty="0">
                <a:solidFill>
                  <a:srgbClr val="FF0000"/>
                </a:solidFill>
              </a:rPr>
              <a:t>耐磨性</a:t>
            </a:r>
            <a:r>
              <a:rPr lang="zh-CN" altLang="en-US" sz="3200" dirty="0"/>
              <a:t>越低而</a:t>
            </a:r>
            <a:r>
              <a:rPr lang="zh-CN" altLang="en-US" sz="3200" dirty="0">
                <a:solidFill>
                  <a:srgbClr val="FF0000"/>
                </a:solidFill>
              </a:rPr>
              <a:t>韧性</a:t>
            </a:r>
            <a:r>
              <a:rPr lang="zh-CN" altLang="en-US" sz="3200" dirty="0"/>
              <a:t>越高</a:t>
            </a: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内容占位符 1" descr="《庞国星》表6-7硬切削材料的分类和用途1 001"/>
          <p:cNvPicPr>
            <a:picLocks noChangeAspect="1"/>
          </p:cNvPicPr>
          <p:nvPr/>
        </p:nvPicPr>
        <p:blipFill rotWithShape="1">
          <a:blip r:embed="rId2" cstate="print"/>
          <a:srcRect t="58934" r="5957" b="1435"/>
          <a:stretch>
            <a:fillRect/>
          </a:stretch>
        </p:blipFill>
        <p:spPr>
          <a:xfrm>
            <a:off x="474170" y="3366018"/>
            <a:ext cx="8352928" cy="325736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19685" y="141097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24230" y="0"/>
            <a:ext cx="8301990" cy="145605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切削加工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用硬质合金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folHlin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GB/T2075-2007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86220"/>
            <a:ext cx="1905000" cy="2959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912735" y="6586220"/>
            <a:ext cx="545465" cy="21145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内容占位符 1" descr="《庞国星》表6-7硬切削材料的分类和用途1 001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914400" y="1600200"/>
            <a:ext cx="7912100" cy="3970020"/>
          </a:xfrm>
          <a:prstGeom prst="rect">
            <a:avLst/>
          </a:prstGeom>
        </p:spPr>
      </p:pic>
      <p:pic>
        <p:nvPicPr>
          <p:cNvPr id="3" name="图片 2" descr="《庞国星》表6-7硬切削材料的分类和用途（续） 00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765" y="1727835"/>
            <a:ext cx="7912735" cy="4773295"/>
          </a:xfrm>
          <a:prstGeom prst="rect">
            <a:avLst/>
          </a:prstGeom>
        </p:spPr>
      </p:pic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07315" y="14128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24230" y="1"/>
            <a:ext cx="8301990" cy="1196752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钢结</a:t>
            </a:r>
            <a:r>
              <a:rPr lang="zh-CN" altLang="en-US" b="1" dirty="0">
                <a:solidFill>
                  <a:srgbClr val="FF0000"/>
                </a:solidFill>
              </a:rPr>
              <a:t>硬质合金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+mn-ea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86220"/>
            <a:ext cx="1905000" cy="2959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912735" y="6586220"/>
            <a:ext cx="545465" cy="21145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251520" y="1229360"/>
            <a:ext cx="8712968" cy="4866640"/>
          </a:xfrm>
        </p:spPr>
        <p:txBody>
          <a:bodyPr/>
          <a:lstStyle/>
          <a:p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钢结</a:t>
            </a:r>
            <a:r>
              <a:rPr lang="zh-CN" altLang="en-US" sz="3200" b="1" dirty="0">
                <a:solidFill>
                  <a:srgbClr val="FFFF00"/>
                </a:solidFill>
              </a:rPr>
              <a:t>硬质合金</a:t>
            </a:r>
            <a:r>
              <a:rPr lang="zh-CN" altLang="en-US" sz="3200" b="1" dirty="0"/>
              <a:t>：以</a:t>
            </a:r>
            <a:r>
              <a:rPr lang="zh-CN" altLang="en-US" sz="3200" b="1" dirty="0">
                <a:solidFill>
                  <a:srgbClr val="FFFF00"/>
                </a:solidFill>
              </a:rPr>
              <a:t>钢粉末</a:t>
            </a:r>
            <a:r>
              <a:rPr lang="zh-CN" altLang="en-US" sz="3200" b="1" dirty="0">
                <a:solidFill>
                  <a:srgbClr val="FF0000"/>
                </a:solidFill>
              </a:rPr>
              <a:t>作黏结剂</a:t>
            </a:r>
            <a:r>
              <a:rPr lang="zh-CN" altLang="en-US" sz="3200" b="1" dirty="0"/>
              <a:t>的硬质合金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FFFF00"/>
                </a:solidFill>
              </a:rPr>
              <a:t>钢粉末</a:t>
            </a:r>
            <a:r>
              <a:rPr lang="zh-CN" altLang="en-US" sz="3200" b="1" dirty="0"/>
              <a:t>：碳素钢、合金工具钢、高速工具钢</a:t>
            </a:r>
            <a:r>
              <a:rPr lang="en-US" altLang="zh-CN" sz="3200" b="1" dirty="0"/>
              <a:t>…</a:t>
            </a:r>
          </a:p>
          <a:p>
            <a:r>
              <a:rPr lang="zh-CN" altLang="en-US" sz="3200" b="1" dirty="0"/>
              <a:t>硬质颗粒含量较少（一般</a:t>
            </a:r>
            <a:r>
              <a:rPr lang="en-US" altLang="zh-CN" sz="3200" b="1" dirty="0"/>
              <a:t>30~50%</a:t>
            </a:r>
            <a:r>
              <a:rPr lang="zh-CN" altLang="en-US" sz="3200" b="1" dirty="0"/>
              <a:t>）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FFFF00"/>
                </a:solidFill>
              </a:rPr>
              <a:t>性能特点</a:t>
            </a:r>
            <a:r>
              <a:rPr lang="zh-CN" altLang="en-US" sz="3200" b="1" dirty="0"/>
              <a:t>：韧性较好、便于加工成形，可锻、焊、切削、热处理，淬火 </a:t>
            </a:r>
            <a:r>
              <a:rPr lang="en-US" altLang="zh-CN" sz="3200" b="1" dirty="0"/>
              <a:t>+ </a:t>
            </a:r>
            <a:r>
              <a:rPr lang="zh-CN" altLang="en-US" sz="3200" b="1" dirty="0"/>
              <a:t>低温回火后 可达 </a:t>
            </a:r>
            <a:r>
              <a:rPr lang="en-US" altLang="zh-CN" sz="3200" b="1" dirty="0"/>
              <a:t>66~77HRC</a:t>
            </a:r>
          </a:p>
          <a:p>
            <a:r>
              <a:rPr lang="zh-CN" altLang="en-US" sz="3200" b="1" dirty="0"/>
              <a:t>高耐磨、高刚度、抗氧化、耐腐蚀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应用：</a:t>
            </a:r>
            <a:r>
              <a:rPr lang="zh-CN" altLang="en-US" sz="3200" b="1" dirty="0"/>
              <a:t>形状复杂的刀具、模具，要求刚度大、耐磨性好得机械零件</a:t>
            </a:r>
            <a:endParaRPr lang="zh-CN" altLang="en-US" sz="3200" dirty="0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1"/>
            </p:custDataLst>
          </p:nvPr>
        </p:nvSpPr>
        <p:spPr>
          <a:xfrm>
            <a:off x="685800" y="1268730"/>
            <a:ext cx="23952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钢结硬质合金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5293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P145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539552" y="1052736"/>
            <a:ext cx="8424936" cy="504326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6-4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6-5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6-7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补充题：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什么是轴承合金？其组织有何特点？主要类型及典型应用？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简述钛合金的主要类型、性能特点及典型应用；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简述镁合金的主要类型、性能特点及典型应用；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《于永泗》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P171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8-1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8-4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8-7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8-8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（任选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5</a:t>
            </a:r>
            <a:r>
              <a:rPr lang="zh-CN" altLang="en-US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个）、</a:t>
            </a:r>
            <a:r>
              <a:rPr lang="en-US" altLang="zh-CN" sz="1000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8-10</a:t>
            </a: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388424" y="6595745"/>
            <a:ext cx="756211" cy="26289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214313"/>
            <a:ext cx="6457950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参考文献</a:t>
            </a:r>
            <a:endParaRPr kumimoji="1" lang="zh-CN" altLang="zh-CN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/>
              <a:t>世界有色金属 </a:t>
            </a:r>
            <a:r>
              <a:rPr lang="en-US" altLang="zh-CN" dirty="0"/>
              <a:t>, World Nonferrous Metals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特种铸造及有色合金 </a:t>
            </a:r>
            <a:r>
              <a:rPr lang="en-US" altLang="zh-CN" dirty="0"/>
              <a:t>, Special Casting &amp; Nonferrous Alloys</a:t>
            </a:r>
            <a:br>
              <a:rPr lang="en-US" altLang="zh-CN" dirty="0"/>
            </a:br>
            <a:endParaRPr lang="zh-CN" altLang="zh-CN" dirty="0"/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1785938" cy="285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0E7A91-AC3B-4C48-9BAF-5E616A1606DD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12/9/2025 3:29 PM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58238" y="6510338"/>
            <a:ext cx="385763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134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  <a:t>135</a:t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132856"/>
            <a:ext cx="6529388" cy="14401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Thanks</a:t>
            </a:r>
            <a:endParaRPr kumimoji="1" lang="zh-CN" altLang="en-US" sz="8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  <a:t>12/9/2025 3:29 PM</a:t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9e282492-389c-4cf4-9b3e-2b623c731b3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7,&quot;left&quot;:85.95,&quot;top&quot;:160.3,&quot;width&quot;:794.7}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1</TotalTime>
  <Words>6270</Words>
  <Application>Microsoft Office PowerPoint</Application>
  <PresentationFormat>全屏显示(4:3)</PresentationFormat>
  <Paragraphs>955</Paragraphs>
  <Slides>135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135</vt:i4>
      </vt:variant>
    </vt:vector>
  </HeadingPairs>
  <TitlesOfParts>
    <vt:vector size="146" baseType="lpstr">
      <vt:lpstr>Arial Unicode MS</vt:lpstr>
      <vt:lpstr>华文中宋</vt:lpstr>
      <vt:lpstr>宋体</vt:lpstr>
      <vt:lpstr>微软雅黑</vt:lpstr>
      <vt:lpstr>楷体_GB2312</vt:lpstr>
      <vt:lpstr>等线</vt:lpstr>
      <vt:lpstr>Arial</vt:lpstr>
      <vt:lpstr>Symbol</vt:lpstr>
      <vt:lpstr>Times New Roman</vt:lpstr>
      <vt:lpstr>Wingdings</vt:lpstr>
      <vt:lpstr>Soaring</vt:lpstr>
      <vt:lpstr>U2041170  《工程材料与成型技术》 Engineering Materials and Forming Technology   44+4学时，3学分</vt:lpstr>
      <vt:lpstr>第六章、有色金属材料 Nonferrous Metallic Materials </vt:lpstr>
      <vt:lpstr>第六章、有色金属材料 </vt:lpstr>
      <vt:lpstr>第六章、有色金属材料 </vt:lpstr>
      <vt:lpstr>第六章、有色金属材料</vt:lpstr>
      <vt:lpstr>第六章、有色金属材料</vt:lpstr>
      <vt:lpstr>第六章、有色金属材料 ——内容提要</vt:lpstr>
      <vt:lpstr>第一节  铝及铝合金 Aluminum &amp; Its Alloys </vt:lpstr>
      <vt:lpstr>第一节  铝及铝合金 </vt:lpstr>
      <vt:lpstr>第一节  铝及铝合金 </vt:lpstr>
      <vt:lpstr>一、铝及铝合金的性能特点 Performance characteristics of aluminum and Its alloys </vt:lpstr>
      <vt:lpstr>一、铝及铝合金的性能特点 </vt:lpstr>
      <vt:lpstr>铝合金 Aluminum alloy</vt:lpstr>
      <vt:lpstr>PowerPoint 演示文稿</vt:lpstr>
      <vt:lpstr>二、铝合金的分类 Classification of aluminum alloys </vt:lpstr>
      <vt:lpstr>二、铝合金的分类</vt:lpstr>
      <vt:lpstr>三、铝合金的热处理  Heat treatment of aluminum alloys </vt:lpstr>
      <vt:lpstr>三、铝合金的热处理 </vt:lpstr>
      <vt:lpstr>时  效</vt:lpstr>
      <vt:lpstr>铝合金的热处理</vt:lpstr>
      <vt:lpstr>四、铝合金的牌号、性能及用途  Numbering, performance and application of aluminum alloys </vt:lpstr>
      <vt:lpstr>四、铝合金的牌号、性能及用途 </vt:lpstr>
      <vt:lpstr>变形铝及铝合金牌号表示方法(GB/T16474-1996)</vt:lpstr>
      <vt:lpstr>变形铝及铝合金牌号表示方法</vt:lpstr>
      <vt:lpstr>⑵ 常用变形铝合金</vt:lpstr>
      <vt:lpstr>① 防锈铝合金</vt:lpstr>
      <vt:lpstr>① 防锈铝合金</vt:lpstr>
      <vt:lpstr>② 硬铝合金</vt:lpstr>
      <vt:lpstr>③ 超硬铝合金</vt:lpstr>
      <vt:lpstr>④ 锻铝合金</vt:lpstr>
      <vt:lpstr>PowerPoint 演示文稿</vt:lpstr>
      <vt:lpstr>PowerPoint 演示文稿</vt:lpstr>
      <vt:lpstr>2、铸造铝合金</vt:lpstr>
      <vt:lpstr>PowerPoint 演示文稿</vt:lpstr>
      <vt:lpstr>⑴ Al-Si系铸造铝合金</vt:lpstr>
      <vt:lpstr>在普通铸造条件下， ZL102组织几乎全部为共晶体 （= 粗针状的硅晶体 + 固溶体） 性能特点：强度、塑性 都 较差。 生产上通常用钠盐变质剂进行变质处理, 得到细小均匀的共晶体 + 一次固溶体组织，以提高性能。</vt:lpstr>
      <vt:lpstr>⑴ Al-Si系铸造铝合金</vt:lpstr>
      <vt:lpstr>⑵ Al-Cu系 铸造铝合金</vt:lpstr>
      <vt:lpstr>⑶ Al-Mg系铸造铝合金</vt:lpstr>
      <vt:lpstr>⑷ Al-Zn系铸造铝合金</vt:lpstr>
      <vt:lpstr>第二节  铜及铜合金 Copper &amp; Its Alloys </vt:lpstr>
      <vt:lpstr>第二节  铜及铜合金 </vt:lpstr>
      <vt:lpstr>一、铜及铜合金的性能特点</vt:lpstr>
      <vt:lpstr>一、铜及铜合金的性能特点</vt:lpstr>
      <vt:lpstr>二、黄铜  Brass</vt:lpstr>
      <vt:lpstr>二、黄铜 Brass</vt:lpstr>
      <vt:lpstr>1、普通黄铜</vt:lpstr>
      <vt:lpstr>普通黄铜的显微组织 </vt:lpstr>
      <vt:lpstr>普通黄铜</vt:lpstr>
      <vt:lpstr>2、特殊黄铜</vt:lpstr>
      <vt:lpstr>2、特殊黄铜</vt:lpstr>
      <vt:lpstr>常用黄铜牌号、成分、性能、用途</vt:lpstr>
      <vt:lpstr>三、白铜 Cupronickel</vt:lpstr>
      <vt:lpstr>三、白铜  Cupronickel</vt:lpstr>
      <vt:lpstr>1.普通白铜</vt:lpstr>
      <vt:lpstr>2.特殊白铜</vt:lpstr>
      <vt:lpstr>四、青铜   Bronze</vt:lpstr>
      <vt:lpstr>四、青铜  Bronze</vt:lpstr>
      <vt:lpstr>1、锡青铜</vt:lpstr>
      <vt:lpstr>1、锡青铜</vt:lpstr>
      <vt:lpstr>2、铝青铜</vt:lpstr>
      <vt:lpstr>3、铍青铜</vt:lpstr>
      <vt:lpstr>PowerPoint 演示文稿</vt:lpstr>
      <vt:lpstr>第三节  钛及钛合金 Titanium &amp; Its Alloys </vt:lpstr>
      <vt:lpstr>第三节  钛及钛合金 </vt:lpstr>
      <vt:lpstr>PowerPoint 演示文稿</vt:lpstr>
      <vt:lpstr>二、钛合金</vt:lpstr>
      <vt:lpstr>1、型钛合金</vt:lpstr>
      <vt:lpstr>1、型钛合金</vt:lpstr>
      <vt:lpstr>2、型钛合金</vt:lpstr>
      <vt:lpstr>2、型钛合金</vt:lpstr>
      <vt:lpstr>3、+型钛合金</vt:lpstr>
      <vt:lpstr>3、+型钛合金</vt:lpstr>
      <vt:lpstr>3、+型钛合金</vt:lpstr>
      <vt:lpstr>第四节  镁及镁合金 Magnesium &amp; Its Alloys</vt:lpstr>
      <vt:lpstr>第四节  镁及镁合金</vt:lpstr>
      <vt:lpstr>纯镁</vt:lpstr>
      <vt:lpstr>变形镁合金 Wrought magnesium alloys</vt:lpstr>
      <vt:lpstr>变形镁合金</vt:lpstr>
      <vt:lpstr>变形镁合金</vt:lpstr>
      <vt:lpstr>变形镁合金</vt:lpstr>
      <vt:lpstr>变形镁合金</vt:lpstr>
      <vt:lpstr>变形镁合金</vt:lpstr>
      <vt:lpstr>铸造镁合金 Cast magnesium alloys</vt:lpstr>
      <vt:lpstr>铸造镁合金</vt:lpstr>
      <vt:lpstr>铸造镁合金</vt:lpstr>
      <vt:lpstr>铸造镁合金——Mg-Al-Zn系</vt:lpstr>
      <vt:lpstr>铸造镁合金——Mg-Zn-Zr系</vt:lpstr>
      <vt:lpstr>铸造镁合金——Mg-Re-Zn-Zr系</vt:lpstr>
      <vt:lpstr>铸造镁合金</vt:lpstr>
      <vt:lpstr>铸造镁合金</vt:lpstr>
      <vt:lpstr>铸造镁合金</vt:lpstr>
      <vt:lpstr>常用镁合金牌号、成分、性能、用途</vt:lpstr>
      <vt:lpstr>常用镁合金牌号、成分、性能、用途</vt:lpstr>
      <vt:lpstr>第五节  滑动轴承合金  Plain Bearing Alloy Sliding Bearing Alloy</vt:lpstr>
      <vt:lpstr>第五节  滑动轴承合金 </vt:lpstr>
      <vt:lpstr>轴承合金—— 一、组织性能要求 </vt:lpstr>
      <vt:lpstr>第五节  滑动轴承合金 </vt:lpstr>
      <vt:lpstr>二、常用（滑动）轴承合金</vt:lpstr>
      <vt:lpstr>1、锡基轴承合金</vt:lpstr>
      <vt:lpstr>1、锡基轴承合金</vt:lpstr>
      <vt:lpstr>1、锡基轴承合金</vt:lpstr>
      <vt:lpstr>1、锡基轴承合金</vt:lpstr>
      <vt:lpstr>2、铅基轴承合金</vt:lpstr>
      <vt:lpstr>2、铅基轴承合金</vt:lpstr>
      <vt:lpstr>2、铅基轴承合金</vt:lpstr>
      <vt:lpstr>2、铅基轴承合金</vt:lpstr>
      <vt:lpstr>3.铜基轴承合金</vt:lpstr>
      <vt:lpstr>3.铜基轴承合金</vt:lpstr>
      <vt:lpstr>3.铜基轴承合金</vt:lpstr>
      <vt:lpstr>3.铜基轴承合金</vt:lpstr>
      <vt:lpstr>3.铜基轴承合金</vt:lpstr>
      <vt:lpstr>4.铝基轴承合金</vt:lpstr>
      <vt:lpstr>4.铝基轴承合金</vt:lpstr>
      <vt:lpstr>4.铝基轴承合金</vt:lpstr>
      <vt:lpstr>5.锌基轴承合金</vt:lpstr>
      <vt:lpstr>5.锌基轴承合金</vt:lpstr>
      <vt:lpstr>轴承合金</vt:lpstr>
      <vt:lpstr>轴承合金</vt:lpstr>
      <vt:lpstr>双金属轴承</vt:lpstr>
      <vt:lpstr>第六节、硬质合金 Cemented Carbide， Hardmetal</vt:lpstr>
      <vt:lpstr>第六节、硬质合金 Cemented Carbide，Hardmetal</vt:lpstr>
      <vt:lpstr>硬质合金——性能特点</vt:lpstr>
      <vt:lpstr>硬质合金——性能特点</vt:lpstr>
      <vt:lpstr>硬质合金——分类</vt:lpstr>
      <vt:lpstr>硬质合金——(1)钨钴类</vt:lpstr>
      <vt:lpstr>硬质合金——(2)钨钴钛类</vt:lpstr>
      <vt:lpstr>硬质合金—(3)钨钛钽（铌）类</vt:lpstr>
      <vt:lpstr>硬质合金—切削加工用硬质合金 → GB/T2075-2007</vt:lpstr>
      <vt:lpstr>硬质合金—切削加工用硬质合金 → GB/T2075-2007</vt:lpstr>
      <vt:lpstr>硬质合金—切削加工用硬质合金 → GB/T2075-2007</vt:lpstr>
      <vt:lpstr>硬质合金—钢结硬质合金</vt:lpstr>
      <vt:lpstr>作业（P145）</vt:lpstr>
      <vt:lpstr>参考文献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 有色金属及其合金</dc:title>
  <dc:creator>yys</dc:creator>
  <cp:lastModifiedBy>lin liu</cp:lastModifiedBy>
  <cp:revision>678</cp:revision>
  <dcterms:created xsi:type="dcterms:W3CDTF">2002-06-18T09:01:00Z</dcterms:created>
  <dcterms:modified xsi:type="dcterms:W3CDTF">2025-12-09T07:30:51Z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D8755EEE27EE4479A01A005CD518C628_12</vt:lpwstr>
  </property>
</Properties>
</file>