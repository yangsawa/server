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2"/>
  </p:notesMasterIdLst>
  <p:sldIdLst>
    <p:sldId id="484" r:id="rId2"/>
    <p:sldId id="483" r:id="rId3"/>
    <p:sldId id="310" r:id="rId4"/>
    <p:sldId id="489" r:id="rId5"/>
    <p:sldId id="488" r:id="rId6"/>
    <p:sldId id="358" r:id="rId7"/>
    <p:sldId id="487" r:id="rId8"/>
    <p:sldId id="497" r:id="rId9"/>
    <p:sldId id="496" r:id="rId10"/>
    <p:sldId id="356" r:id="rId11"/>
    <p:sldId id="359" r:id="rId12"/>
    <p:sldId id="357" r:id="rId13"/>
    <p:sldId id="360" r:id="rId14"/>
    <p:sldId id="361" r:id="rId15"/>
    <p:sldId id="362" r:id="rId16"/>
    <p:sldId id="363" r:id="rId17"/>
    <p:sldId id="364" r:id="rId18"/>
    <p:sldId id="365" r:id="rId19"/>
    <p:sldId id="355" r:id="rId20"/>
    <p:sldId id="485" r:id="rId21"/>
    <p:sldId id="490" r:id="rId22"/>
    <p:sldId id="292" r:id="rId23"/>
    <p:sldId id="498" r:id="rId24"/>
    <p:sldId id="420" r:id="rId25"/>
    <p:sldId id="319" r:id="rId26"/>
    <p:sldId id="320" r:id="rId27"/>
    <p:sldId id="321" r:id="rId28"/>
    <p:sldId id="322" r:id="rId29"/>
    <p:sldId id="324" r:id="rId30"/>
    <p:sldId id="325" r:id="rId31"/>
    <p:sldId id="323" r:id="rId32"/>
    <p:sldId id="326" r:id="rId33"/>
    <p:sldId id="342" r:id="rId34"/>
    <p:sldId id="343" r:id="rId35"/>
    <p:sldId id="301" r:id="rId36"/>
    <p:sldId id="474" r:id="rId37"/>
    <p:sldId id="471" r:id="rId38"/>
    <p:sldId id="472" r:id="rId39"/>
    <p:sldId id="302" r:id="rId40"/>
    <p:sldId id="327" r:id="rId41"/>
    <p:sldId id="328" r:id="rId42"/>
    <p:sldId id="330" r:id="rId43"/>
    <p:sldId id="329" r:id="rId44"/>
    <p:sldId id="344" r:id="rId45"/>
    <p:sldId id="331" r:id="rId46"/>
    <p:sldId id="353" r:id="rId47"/>
    <p:sldId id="475" r:id="rId48"/>
    <p:sldId id="306" r:id="rId49"/>
    <p:sldId id="314" r:id="rId50"/>
    <p:sldId id="346" r:id="rId51"/>
    <p:sldId id="347" r:id="rId52"/>
    <p:sldId id="308" r:id="rId53"/>
    <p:sldId id="332" r:id="rId54"/>
    <p:sldId id="312" r:id="rId55"/>
    <p:sldId id="315" r:id="rId56"/>
    <p:sldId id="333" r:id="rId57"/>
    <p:sldId id="477" r:id="rId58"/>
    <p:sldId id="478" r:id="rId59"/>
    <p:sldId id="479" r:id="rId60"/>
    <p:sldId id="480" r:id="rId61"/>
    <p:sldId id="476" r:id="rId62"/>
    <p:sldId id="334" r:id="rId63"/>
    <p:sldId id="335" r:id="rId64"/>
    <p:sldId id="336" r:id="rId65"/>
    <p:sldId id="316" r:id="rId66"/>
    <p:sldId id="279" r:id="rId67"/>
    <p:sldId id="337" r:id="rId68"/>
    <p:sldId id="338" r:id="rId69"/>
    <p:sldId id="266" r:id="rId70"/>
    <p:sldId id="271" r:id="rId71"/>
    <p:sldId id="269" r:id="rId72"/>
    <p:sldId id="339" r:id="rId73"/>
    <p:sldId id="348" r:id="rId74"/>
    <p:sldId id="318" r:id="rId75"/>
    <p:sldId id="481" r:id="rId76"/>
    <p:sldId id="482" r:id="rId77"/>
    <p:sldId id="295" r:id="rId78"/>
    <p:sldId id="499" r:id="rId79"/>
    <p:sldId id="351" r:id="rId80"/>
    <p:sldId id="297" r:id="rId81"/>
    <p:sldId id="500" r:id="rId82"/>
    <p:sldId id="299" r:id="rId83"/>
    <p:sldId id="501" r:id="rId84"/>
    <p:sldId id="494" r:id="rId85"/>
    <p:sldId id="502" r:id="rId86"/>
    <p:sldId id="495" r:id="rId87"/>
    <p:sldId id="503" r:id="rId88"/>
    <p:sldId id="354" r:id="rId89"/>
    <p:sldId id="300" r:id="rId90"/>
    <p:sldId id="340" r:id="rId91"/>
  </p:sldIdLst>
  <p:sldSz cx="9144000" cy="6858000" type="screen4x3"/>
  <p:notesSz cx="6858000" cy="9144000"/>
  <p:custDataLst>
    <p:tags r:id="rId9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0000"/>
    <a:srgbClr val="0000FF"/>
    <a:srgbClr val="00FF00"/>
    <a:srgbClr val="FFFF66"/>
    <a:srgbClr val="0033CC"/>
    <a:srgbClr val="800000"/>
    <a:srgbClr val="CCECFF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6"/>
    <p:restoredTop sz="94636"/>
  </p:normalViewPr>
  <p:slideViewPr>
    <p:cSldViewPr showGuides="1">
      <p:cViewPr varScale="1">
        <p:scale>
          <a:sx n="70" d="100"/>
          <a:sy n="70" d="100"/>
        </p:scale>
        <p:origin x="990" y="45"/>
      </p:cViewPr>
      <p:guideLst>
        <p:guide orient="horz" pos="21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3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  <a:t>‹#›</a:t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03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7176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177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036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036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9A8F8B7-924C-4844-873E-CE73655BF1A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 eaLnBrk="1" hangingPunct="1"/>
            <a:fld id="{9A0DB2DC-4C9A-4742-B13C-FB6460FD3503}" type="slidenum">
              <a:rPr lang="en-US" altLang="zh-CN" dirty="0">
                <a:solidFill>
                  <a:schemeClr val="bg2"/>
                </a:solidFill>
              </a:rPr>
              <a:t>‹#›</a:t>
            </a:fld>
            <a:endParaRPr lang="en-US" altLang="zh-CN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21A28-4712-43A6-8539-8D5FA24A150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21A28-4712-43A6-8539-8D5FA24A150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21A28-4712-43A6-8539-8D5FA24A150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21A28-4712-43A6-8539-8D5FA24A150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21A28-4712-43A6-8539-8D5FA24A150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21A28-4712-43A6-8539-8D5FA24A150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21A28-4712-43A6-8539-8D5FA24A150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21A28-4712-43A6-8539-8D5FA24A150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21A28-4712-43A6-8539-8D5FA24A150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21A28-4712-43A6-8539-8D5FA24A150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21A28-4712-43A6-8539-8D5FA24A150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21A28-4712-43A6-8539-8D5FA24A150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3" name="Rectangle 9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154" name="Rectangle 10"/>
          <p:cNvSpPr>
            <a:spLocks noGrp="1"/>
          </p:cNvSpPr>
          <p:nvPr>
            <p:ph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933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421A28-4712-43A6-8539-8D5FA24A150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2025/11/11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4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buFontTx/>
              <a:buNone/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34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zhidao.baidu.com/search?word=%E5%B1%88%E6%9C%8D%E5%BC%BA%E5%BA%A6&amp;fr=iknow_pc_qb_highlight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&#35838;&#20214;/GBT%20231.1-2018%20&#37329;&#23646;&#26448;&#26009;%20&#24067;&#27663;&#30828;&#24230;&#35797;&#39564;%20&#31532;1&#37096;&#20998;%20&#35797;&#39564;&#26041;&#27861;.pdf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31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43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40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5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55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4.xml"/><Relationship Id="rId7" Type="http://schemas.openxmlformats.org/officeDocument/2006/relationships/image" Target="../media/image1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10" Type="http://schemas.openxmlformats.org/officeDocument/2006/relationships/image" Target="../media/image58.png"/><Relationship Id="rId4" Type="http://schemas.openxmlformats.org/officeDocument/2006/relationships/tags" Target="../tags/tag5.xml"/><Relationship Id="rId9" Type="http://schemas.openxmlformats.org/officeDocument/2006/relationships/image" Target="../media/image57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4.wmf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3.emf"/><Relationship Id="rId4" Type="http://schemas.openxmlformats.org/officeDocument/2006/relationships/oleObject" Target="../embeddings/oleObject4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5.wmf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07315" y="6528435"/>
            <a:ext cx="1905000" cy="32956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8">
              <a:rPr lang="en-US" altLang="zh-CN" sz="1400" dirty="0"/>
              <a:t>11/11/2025 12:13 PM</a:t>
            </a:fld>
            <a:endParaRPr lang="en-US" altLang="zh-CN" sz="1400" dirty="0"/>
          </a:p>
        </p:txBody>
      </p:sp>
      <p:sp>
        <p:nvSpPr>
          <p:cNvPr id="8195" name="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8449945" y="6525260"/>
            <a:ext cx="497205" cy="28638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1</a:t>
            </a:fld>
            <a:endParaRPr lang="en-US" altLang="zh-CN" sz="1400" dirty="0"/>
          </a:p>
        </p:txBody>
      </p:sp>
      <p:sp>
        <p:nvSpPr>
          <p:cNvPr id="8196" name="Rectangle 2"/>
          <p:cNvSpPr>
            <a:spLocks noGrp="1"/>
          </p:cNvSpPr>
          <p:nvPr>
            <p:ph type="title"/>
          </p:nvPr>
        </p:nvSpPr>
        <p:spPr>
          <a:xfrm>
            <a:off x="396875" y="288925"/>
            <a:ext cx="8699500" cy="60198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en-US" altLang="zh-CN" sz="6600" b="1" u="sng" dirty="0">
                <a:solidFill>
                  <a:srgbClr val="FF0000"/>
                </a:solidFill>
              </a:rPr>
              <a:t>U2041170</a:t>
            </a:r>
            <a:br>
              <a:rPr lang="en-US" altLang="zh-CN" b="1" u="sng" dirty="0">
                <a:solidFill>
                  <a:srgbClr val="FF0000"/>
                </a:solidFill>
              </a:rPr>
            </a:br>
            <a:br>
              <a:rPr lang="en-US" altLang="zh-CN" b="1" u="sng" dirty="0">
                <a:solidFill>
                  <a:srgbClr val="FF0000"/>
                </a:solidFill>
              </a:rPr>
            </a:br>
            <a:r>
              <a:rPr lang="en-US" altLang="zh-CN" sz="6600" b="1" u="sng" dirty="0">
                <a:solidFill>
                  <a:srgbClr val="FF0000"/>
                </a:solidFill>
              </a:rPr>
              <a:t>《</a:t>
            </a:r>
            <a:r>
              <a:rPr lang="zh-CN" altLang="en-US" sz="6600" b="1" u="sng" dirty="0">
                <a:solidFill>
                  <a:srgbClr val="FF0000"/>
                </a:solidFill>
              </a:rPr>
              <a:t>工程材料与成型技术</a:t>
            </a:r>
            <a:r>
              <a:rPr lang="en-US" altLang="zh-CN" sz="6600" b="1" u="sng" dirty="0">
                <a:solidFill>
                  <a:srgbClr val="FF0000"/>
                </a:solidFill>
              </a:rPr>
              <a:t>》</a:t>
            </a:r>
            <a:br>
              <a:rPr lang="en-US" altLang="zh-CN" u="sng" dirty="0">
                <a:solidFill>
                  <a:srgbClr val="FF0000"/>
                </a:solidFill>
              </a:rPr>
            </a:br>
            <a:r>
              <a:rPr lang="en-US" altLang="zh-CN" b="1" i="1" u="sng" dirty="0">
                <a:solidFill>
                  <a:srgbClr val="FF0000"/>
                </a:solidFill>
                <a:sym typeface="+mn-ea"/>
              </a:rPr>
              <a:t>Engineering </a:t>
            </a:r>
            <a:r>
              <a:rPr lang="en-US" altLang="zh-CN" b="1" i="1" u="sng" dirty="0">
                <a:solidFill>
                  <a:srgbClr val="FF0000"/>
                </a:solidFill>
              </a:rPr>
              <a:t>Materials and </a:t>
            </a:r>
            <a:r>
              <a:rPr lang="en-US" altLang="zh-CN" b="1" i="1" u="sng" dirty="0">
                <a:solidFill>
                  <a:srgbClr val="FF0000"/>
                </a:solidFill>
                <a:sym typeface="+mn-ea"/>
              </a:rPr>
              <a:t>Forming</a:t>
            </a:r>
            <a:r>
              <a:rPr lang="en-US" altLang="zh-CN" b="1" i="1" u="sng" dirty="0">
                <a:solidFill>
                  <a:srgbClr val="FF0000"/>
                </a:solidFill>
              </a:rPr>
              <a:t> Technology </a:t>
            </a:r>
            <a:br>
              <a:rPr lang="en-US" altLang="zh-CN" u="sng" dirty="0">
                <a:solidFill>
                  <a:schemeClr val="hlink"/>
                </a:solidFill>
              </a:rPr>
            </a:br>
            <a:br>
              <a:rPr lang="en-US" altLang="zh-CN" u="sng" dirty="0">
                <a:solidFill>
                  <a:schemeClr val="hlink"/>
                </a:solidFill>
              </a:rPr>
            </a:br>
            <a:r>
              <a:rPr lang="en-US" altLang="zh-CN" b="1" dirty="0">
                <a:solidFill>
                  <a:schemeClr val="hlink"/>
                </a:solidFill>
              </a:rPr>
              <a:t>44+4</a:t>
            </a:r>
            <a:r>
              <a:rPr lang="zh-CN" altLang="en-US" b="1" dirty="0">
                <a:solidFill>
                  <a:schemeClr val="hlink"/>
                </a:solidFill>
              </a:rPr>
              <a:t>学时，</a:t>
            </a:r>
            <a:r>
              <a:rPr lang="en-US" altLang="zh-CN" b="1" dirty="0">
                <a:solidFill>
                  <a:schemeClr val="hlink"/>
                </a:solidFill>
              </a:rPr>
              <a:t>3</a:t>
            </a:r>
            <a:r>
              <a:rPr lang="zh-CN" altLang="en-US" b="1" dirty="0">
                <a:solidFill>
                  <a:schemeClr val="hlink"/>
                </a:solidFill>
              </a:rPr>
              <a:t>学分</a:t>
            </a:r>
          </a:p>
        </p:txBody>
      </p:sp>
      <p:pic>
        <p:nvPicPr>
          <p:cNvPr id="8197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6"/>
          <p:cNvSpPr txBox="1">
            <a:spLocks noGrp="1"/>
          </p:cNvSpPr>
          <p:nvPr>
            <p:ph type="sldNum" sz="quarter" idx="4"/>
          </p:nvPr>
        </p:nvSpPr>
        <p:spPr>
          <a:xfrm>
            <a:off x="8243888" y="6507163"/>
            <a:ext cx="519112" cy="3429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>
                <a:solidFill>
                  <a:schemeClr val="bg2"/>
                </a:solidFill>
              </a:rPr>
              <a:t>2</a:t>
            </a:fld>
            <a:endParaRPr lang="en-US" altLang="zh-CN" sz="1400" dirty="0">
              <a:solidFill>
                <a:schemeClr val="bg2"/>
              </a:solidFill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ctrTitle"/>
          </p:nvPr>
        </p:nvSpPr>
        <p:spPr>
          <a:xfrm>
            <a:off x="900113" y="188913"/>
            <a:ext cx="7772400" cy="2301875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>
              <a:buClrTx/>
              <a:buSzTx/>
              <a:buFontTx/>
            </a:pPr>
            <a:r>
              <a:rPr lang="zh-CN" altLang="en-US" sz="66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第一章  工程材料的分类及性能</a:t>
            </a:r>
          </a:p>
        </p:txBody>
      </p:sp>
      <p:sp>
        <p:nvSpPr>
          <p:cNvPr id="9220" name="Rectangle 3"/>
          <p:cNvSpPr>
            <a:spLocks noGrp="1"/>
          </p:cNvSpPr>
          <p:nvPr>
            <p:ph type="subTitle" idx="1"/>
          </p:nvPr>
        </p:nvSpPr>
        <p:spPr>
          <a:xfrm>
            <a:off x="0" y="3365500"/>
            <a:ext cx="9144000" cy="28717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SzPct val="60000"/>
            </a:pPr>
            <a:r>
              <a:rPr lang="en-US" altLang="zh-CN" sz="6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Classifications and Properties of Engineering Materials</a:t>
            </a:r>
            <a:endParaRPr lang="zh-CN" altLang="zh-CN" sz="6000" b="1" i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6390" name="日期占位符 1"/>
          <p:cNvSpPr txBox="1">
            <a:spLocks noGrp="1"/>
          </p:cNvSpPr>
          <p:nvPr>
            <p:ph type="dt" sz="half" idx="2"/>
          </p:nvPr>
        </p:nvSpPr>
        <p:spPr bwMode="auto">
          <a:xfrm>
            <a:off x="142875" y="6429375"/>
            <a:ext cx="1981200" cy="342900"/>
          </a:xfrm>
        </p:spPr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22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3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2290763"/>
            <a:ext cx="8496300" cy="42481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工程材料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主要分类方法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仿宋_GB2312"/>
              <a:ea typeface="仿宋_GB2312"/>
              <a:cs typeface="仿宋_GB231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仿宋_GB2312"/>
              <a:ea typeface="仿宋_GB2312"/>
              <a:cs typeface="仿宋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工程材料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主要性能指标及其评测方法</a:t>
            </a:r>
          </a:p>
        </p:txBody>
      </p:sp>
      <p:sp>
        <p:nvSpPr>
          <p:cNvPr id="10244" name="Rectangle 6"/>
          <p:cNvSpPr>
            <a:spLocks noGrp="1"/>
          </p:cNvSpPr>
          <p:nvPr>
            <p:ph type="title"/>
          </p:nvPr>
        </p:nvSpPr>
        <p:spPr>
          <a:xfrm>
            <a:off x="1228725" y="31750"/>
            <a:ext cx="7375525" cy="950913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本章主要教学内容</a:t>
            </a:r>
          </a:p>
        </p:txBody>
      </p:sp>
      <p:sp>
        <p:nvSpPr>
          <p:cNvPr id="174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2055813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46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4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 noChangeArrowheads="1"/>
          </p:cNvSpPr>
          <p:nvPr>
            <p:ph idx="1"/>
          </p:nvPr>
        </p:nvSpPr>
        <p:spPr>
          <a:xfrm>
            <a:off x="288925" y="1844675"/>
            <a:ext cx="8675688" cy="46942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通过本章的学习，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应达到以下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教学目标：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仿宋_GB2312"/>
              <a:ea typeface="仿宋_GB2312"/>
              <a:cs typeface="仿宋_GB2312"/>
            </a:endParaRPr>
          </a:p>
          <a:p>
            <a:pPr marL="360045" marR="0" lvl="0" indent="-342900" algn="l" defTabSz="914400" rtl="0" eaLnBrk="1" fontAlgn="base" latinLnBrk="0" hangingPunct="1">
              <a:lnSpc>
                <a:spcPct val="150000"/>
              </a:lnSpc>
              <a:spcBef>
                <a:spcPts val="18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（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1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）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了解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“工程材料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”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的涵义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仿宋_GB2312"/>
              <a:ea typeface="仿宋_GB2312"/>
              <a:cs typeface="仿宋_GB2312"/>
            </a:endParaRPr>
          </a:p>
          <a:p>
            <a:pPr marL="360045" marR="0" lvl="0" indent="-342900" algn="l" defTabSz="914400" rtl="0" eaLnBrk="1" fontAlgn="base" latinLnBrk="0" hangingPunct="1">
              <a:lnSpc>
                <a:spcPct val="150000"/>
              </a:lnSpc>
              <a:spcBef>
                <a:spcPts val="18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（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2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）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了解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工程材料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的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主要分类方法及常见类型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仿宋_GB2312"/>
              <a:ea typeface="仿宋_GB2312"/>
              <a:cs typeface="仿宋_GB2312"/>
            </a:endParaRPr>
          </a:p>
          <a:p>
            <a:pPr marL="360045" marR="0" lvl="0" indent="-342900" algn="l" defTabSz="914400" rtl="0" eaLnBrk="1" fontAlgn="base" latinLnBrk="0" hangingPunct="1">
              <a:lnSpc>
                <a:spcPct val="150000"/>
              </a:lnSpc>
              <a:spcBef>
                <a:spcPts val="18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（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3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）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初步掌握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工程材料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的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主要性能指标及其评测方法</a:t>
            </a:r>
          </a:p>
        </p:txBody>
      </p:sp>
      <p:sp>
        <p:nvSpPr>
          <p:cNvPr id="11268" name="Rectangle 6"/>
          <p:cNvSpPr>
            <a:spLocks noGrp="1"/>
          </p:cNvSpPr>
          <p:nvPr>
            <p:ph type="title"/>
          </p:nvPr>
        </p:nvSpPr>
        <p:spPr>
          <a:xfrm>
            <a:off x="971550" y="0"/>
            <a:ext cx="7519988" cy="1597025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本章教学目标</a:t>
            </a:r>
            <a:b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Learning Objectives</a:t>
            </a:r>
            <a:endParaRPr lang="zh-CN" altLang="en-US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4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212883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270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5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288925" y="1844675"/>
            <a:ext cx="8820150" cy="46942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70000"/>
              </a:lnSpc>
            </a:pP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工程材料</a:t>
            </a:r>
            <a:r>
              <a:rPr lang="zh-CN" altLang="en-US" b="1" dirty="0">
                <a:latin typeface="仿宋_GB2312"/>
                <a:ea typeface="仿宋_GB2312"/>
              </a:rPr>
              <a:t>：用于制造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工程结构</a:t>
            </a:r>
            <a:r>
              <a:rPr lang="zh-CN" altLang="en-US" b="1" dirty="0">
                <a:latin typeface="仿宋_GB2312"/>
                <a:ea typeface="仿宋_GB2312"/>
              </a:rPr>
              <a:t>、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机械零件</a:t>
            </a:r>
            <a:r>
              <a:rPr lang="zh-CN" altLang="en-US" b="1" dirty="0">
                <a:latin typeface="仿宋_GB2312"/>
                <a:ea typeface="仿宋_GB2312"/>
              </a:rPr>
              <a:t>或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其他有用产品，</a:t>
            </a:r>
            <a:r>
              <a:rPr lang="zh-CN" altLang="en-US" b="1" dirty="0">
                <a:latin typeface="仿宋_GB2312"/>
                <a:ea typeface="仿宋_GB2312"/>
              </a:rPr>
              <a:t>并主要要求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力学性能</a:t>
            </a:r>
            <a:r>
              <a:rPr lang="zh-CN" altLang="en-US" b="1" dirty="0">
                <a:latin typeface="仿宋_GB2312"/>
                <a:ea typeface="仿宋_GB231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结构材料</a:t>
            </a:r>
            <a:r>
              <a:rPr lang="zh-CN" altLang="en-US" b="1" dirty="0">
                <a:latin typeface="仿宋_GB2312"/>
                <a:ea typeface="仿宋_GB2312"/>
              </a:rPr>
              <a:t>。</a:t>
            </a:r>
            <a:endParaRPr lang="en-US" altLang="zh-CN" b="1" dirty="0">
              <a:solidFill>
                <a:srgbClr val="0000FF"/>
              </a:solidFill>
              <a:latin typeface="仿宋_GB2312"/>
              <a:ea typeface="仿宋_GB2312"/>
            </a:endParaRPr>
          </a:p>
          <a:p>
            <a:pPr eaLnBrk="1" hangingPunct="1">
              <a:lnSpc>
                <a:spcPct val="170000"/>
              </a:lnSpc>
            </a:pP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一、工程材料的分类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二、工程材料的性能</a:t>
            </a:r>
          </a:p>
          <a:p>
            <a:pPr eaLnBrk="1" hangingPunct="1">
              <a:lnSpc>
                <a:spcPct val="150000"/>
              </a:lnSpc>
            </a:pPr>
            <a:endParaRPr lang="zh-CN" altLang="en-US" b="1" dirty="0">
              <a:solidFill>
                <a:srgbClr val="0000FF"/>
              </a:solidFill>
              <a:latin typeface="仿宋_GB2312"/>
              <a:ea typeface="仿宋_GB2312"/>
            </a:endParaRPr>
          </a:p>
        </p:txBody>
      </p:sp>
      <p:sp>
        <p:nvSpPr>
          <p:cNvPr id="12292" name="Rectangle 6"/>
          <p:cNvSpPr>
            <a:spLocks noGrp="1"/>
          </p:cNvSpPr>
          <p:nvPr>
            <p:ph type="title"/>
          </p:nvPr>
        </p:nvSpPr>
        <p:spPr>
          <a:xfrm>
            <a:off x="1228725" y="69850"/>
            <a:ext cx="7772400" cy="949325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工程材料的分类及性能</a:t>
            </a:r>
          </a:p>
        </p:txBody>
      </p:sp>
      <p:sp>
        <p:nvSpPr>
          <p:cNvPr id="174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2055813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294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圆角矩形 7" descr="7b0a202020202262756c6c6574223a20227b5c2263617465676f727949645c223a31303032352c5c2274656d706c61746549645c223a32303233313437347d220a7d0a"/>
          <p:cNvSpPr/>
          <p:nvPr/>
        </p:nvSpPr>
        <p:spPr>
          <a:xfrm>
            <a:off x="539750" y="2204720"/>
            <a:ext cx="181610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工程材料</a:t>
            </a:r>
            <a:endParaRPr lang="zh-CN" altLang="en-US" sz="2800" b="1" dirty="0">
              <a:solidFill>
                <a:srgbClr val="0000FF"/>
              </a:solidFill>
              <a:latin typeface="仿宋_GB2312"/>
              <a:ea typeface="仿宋_GB231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6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0" y="1773238"/>
            <a:ext cx="9240838" cy="4738687"/>
          </a:xfrm>
        </p:spPr>
        <p:txBody>
          <a:bodyPr vert="horz" wrap="square" lIns="91440" tIns="45720" rIns="91440" bIns="45720" anchor="t" anchorCtr="0"/>
          <a:lstStyle/>
          <a:p>
            <a:pPr marL="0" indent="0" algn="ctr" eaLnBrk="1" hangingPunct="1">
              <a:buNone/>
            </a:pPr>
            <a:r>
              <a:rPr lang="en-US" altLang="zh-CN" b="1" dirty="0">
                <a:solidFill>
                  <a:schemeClr val="folHlink"/>
                </a:solidFill>
                <a:latin typeface="仿宋_GB2312"/>
                <a:ea typeface="仿宋_GB2312"/>
              </a:rPr>
              <a:t>    </a:t>
            </a:r>
            <a:endParaRPr lang="zh-CN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zh-CN" altLang="en-US" sz="2800" b="1" dirty="0">
              <a:solidFill>
                <a:srgbClr val="0000FF"/>
              </a:solidFill>
              <a:ea typeface="华文中宋" panose="02010600040101010101" pitchFamily="2" charset="-122"/>
            </a:endParaRPr>
          </a:p>
        </p:txBody>
      </p:sp>
      <p:sp>
        <p:nvSpPr>
          <p:cNvPr id="13316" name="Rectangle 6"/>
          <p:cNvSpPr>
            <a:spLocks noGrp="1"/>
          </p:cNvSpPr>
          <p:nvPr>
            <p:ph type="title"/>
          </p:nvPr>
        </p:nvSpPr>
        <p:spPr>
          <a:xfrm>
            <a:off x="0" y="1484630"/>
            <a:ext cx="8912860" cy="323977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>
              <a:buNone/>
            </a:pPr>
            <a:r>
              <a:rPr lang="zh-CN" altLang="en-US" sz="66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一、工程材料的分类</a:t>
            </a:r>
            <a:br>
              <a:rPr lang="en-US" altLang="zh-CN" sz="66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6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Classifications of Engineering Materials</a:t>
            </a:r>
          </a:p>
        </p:txBody>
      </p:sp>
      <p:sp>
        <p:nvSpPr>
          <p:cNvPr id="1843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191135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318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7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 noChangeArrowheads="1"/>
          </p:cNvSpPr>
          <p:nvPr>
            <p:ph idx="1"/>
          </p:nvPr>
        </p:nvSpPr>
        <p:spPr>
          <a:xfrm>
            <a:off x="971550" y="1989138"/>
            <a:ext cx="7704138" cy="44513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7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为什么要进行分类？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7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 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便于管理、应用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7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7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怎样进行分类？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4340" name="Rectangle 6"/>
          <p:cNvSpPr>
            <a:spLocks noGrp="1"/>
          </p:cNvSpPr>
          <p:nvPr>
            <p:ph type="title"/>
          </p:nvPr>
        </p:nvSpPr>
        <p:spPr>
          <a:xfrm>
            <a:off x="1763713" y="168275"/>
            <a:ext cx="5257800" cy="11430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一、工程材料的分类</a:t>
            </a:r>
          </a:p>
        </p:txBody>
      </p:sp>
      <p:sp>
        <p:nvSpPr>
          <p:cNvPr id="1843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212883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42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燕尾形 1"/>
          <p:cNvSpPr/>
          <p:nvPr/>
        </p:nvSpPr>
        <p:spPr>
          <a:xfrm>
            <a:off x="1691640" y="3185795"/>
            <a:ext cx="485775" cy="485775"/>
          </a:xfrm>
          <a:prstGeom prst="chevr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089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089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089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charRg st="11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0898">
                                            <p:txEl>
                                              <p:charRg st="11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0898">
                                            <p:txEl>
                                              <p:charRg st="11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8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 noChangeArrowheads="1"/>
          </p:cNvSpPr>
          <p:nvPr>
            <p:ph idx="1"/>
          </p:nvPr>
        </p:nvSpPr>
        <p:spPr>
          <a:xfrm>
            <a:off x="0" y="1700213"/>
            <a:ext cx="9242425" cy="47402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7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分类角度：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多样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7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来源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天然材料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、人造材料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7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应用性能特点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结构材料（承载为主）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、功能材料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组成与结合键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：金属、无机非、高分子、复合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应用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领域：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机械工程材料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、建筑材料、生物材料、航空航天材料、矿山材料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…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形态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6161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液态、气态、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固态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颗粒、纤维、板、管、棒、异型材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…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5364" name="Rectangle 6"/>
          <p:cNvSpPr>
            <a:spLocks noGrp="1"/>
          </p:cNvSpPr>
          <p:nvPr>
            <p:ph type="title"/>
          </p:nvPr>
        </p:nvSpPr>
        <p:spPr>
          <a:xfrm>
            <a:off x="1330325" y="115888"/>
            <a:ext cx="5257800" cy="11430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一、工程材料的分类</a:t>
            </a:r>
          </a:p>
        </p:txBody>
      </p:sp>
      <p:sp>
        <p:nvSpPr>
          <p:cNvPr id="1843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212883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366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65088" y="6519863"/>
            <a:ext cx="1905000" cy="3429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8">
              <a:rPr lang="en-US" altLang="zh-CN" sz="1400" dirty="0"/>
              <a:t>11/11/2025 12:13 PM</a:t>
            </a:fld>
            <a:endParaRPr lang="en-US" altLang="zh-CN" sz="1400" dirty="0"/>
          </a:p>
        </p:txBody>
      </p:sp>
      <p:sp>
        <p:nvSpPr>
          <p:cNvPr id="16387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99463" y="6519863"/>
            <a:ext cx="547687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9</a:t>
            </a:fld>
            <a:endParaRPr lang="en-US" altLang="zh-CN" sz="1400" dirty="0"/>
          </a:p>
        </p:txBody>
      </p:sp>
      <p:sp>
        <p:nvSpPr>
          <p:cNvPr id="16388" name="Rectangle 2"/>
          <p:cNvSpPr>
            <a:spLocks noGrp="1"/>
          </p:cNvSpPr>
          <p:nvPr>
            <p:ph type="title"/>
          </p:nvPr>
        </p:nvSpPr>
        <p:spPr>
          <a:xfrm>
            <a:off x="746125" y="228600"/>
            <a:ext cx="8101013" cy="10668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</a:rPr>
              <a:t>材料的分类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按应用性能特点</a:t>
            </a: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xfrm>
            <a:off x="685800" y="1981200"/>
            <a:ext cx="8101013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6161FF"/>
                </a:solidFill>
              </a:rPr>
              <a:t>功能材料</a:t>
            </a:r>
            <a:r>
              <a:rPr lang="zh-CN" altLang="en-US" dirty="0"/>
              <a:t>：特殊的性能为主，如传感器材料（声、光、磁、电）、吸波材料（隐形）</a:t>
            </a:r>
            <a:r>
              <a:rPr lang="en-US" altLang="zh-CN" dirty="0"/>
              <a:t>……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6161FF"/>
                </a:solidFill>
              </a:rPr>
              <a:t>结构材料</a:t>
            </a:r>
            <a:r>
              <a:rPr lang="zh-CN" altLang="en-US" dirty="0">
                <a:solidFill>
                  <a:srgbClr val="BD0531"/>
                </a:solidFill>
              </a:rPr>
              <a:t>：</a:t>
            </a:r>
            <a:r>
              <a:rPr lang="zh-CN" altLang="en-US" b="1" dirty="0">
                <a:solidFill>
                  <a:srgbClr val="FF0000"/>
                </a:solidFill>
              </a:rPr>
              <a:t>承载</a:t>
            </a:r>
            <a:r>
              <a:rPr lang="zh-CN" altLang="en-US" dirty="0">
                <a:solidFill>
                  <a:srgbClr val="BD0531"/>
                </a:solidFill>
              </a:rPr>
              <a:t>为主（拉、压、弯、扭</a:t>
            </a:r>
            <a:r>
              <a:rPr lang="en-US" altLang="zh-CN" dirty="0">
                <a:solidFill>
                  <a:srgbClr val="BD0531"/>
                </a:solidFill>
              </a:rPr>
              <a:t>…</a:t>
            </a:r>
            <a:r>
              <a:rPr lang="zh-CN" altLang="en-US" dirty="0">
                <a:solidFill>
                  <a:srgbClr val="BD0531"/>
                </a:solidFill>
              </a:rPr>
              <a:t>）</a:t>
            </a:r>
          </a:p>
          <a:p>
            <a:pPr eaLnBrk="1" hangingPunct="1">
              <a:lnSpc>
                <a:spcPct val="90000"/>
              </a:lnSpc>
              <a:buNone/>
            </a:pPr>
            <a:endParaRPr lang="zh-CN" altLang="en-US" dirty="0">
              <a:solidFill>
                <a:srgbClr val="BD053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6161FF"/>
                </a:solidFill>
              </a:rPr>
              <a:t>没有</a:t>
            </a:r>
            <a:r>
              <a:rPr lang="zh-CN" altLang="en-US" dirty="0">
                <a:solidFill>
                  <a:srgbClr val="FF0000"/>
                </a:solidFill>
              </a:rPr>
              <a:t>工程材料</a:t>
            </a:r>
            <a:r>
              <a:rPr lang="zh-CN" altLang="en-US" dirty="0">
                <a:solidFill>
                  <a:srgbClr val="6161FF"/>
                </a:solidFill>
              </a:rPr>
              <a:t>就没有</a:t>
            </a:r>
            <a:r>
              <a:rPr lang="zh-CN" altLang="en-US" dirty="0">
                <a:solidFill>
                  <a:srgbClr val="FF0000"/>
                </a:solidFill>
              </a:rPr>
              <a:t>结构</a:t>
            </a:r>
            <a:r>
              <a:rPr lang="zh-CN" altLang="en-US" dirty="0">
                <a:solidFill>
                  <a:srgbClr val="BD0531"/>
                </a:solidFill>
              </a:rPr>
              <a:t>：机械设备、房屋建筑</a:t>
            </a:r>
            <a:r>
              <a:rPr lang="en-US" altLang="zh-CN" dirty="0">
                <a:solidFill>
                  <a:srgbClr val="BD0531"/>
                </a:solidFill>
              </a:rPr>
              <a:t>….</a:t>
            </a:r>
          </a:p>
        </p:txBody>
      </p:sp>
      <p:pic>
        <p:nvPicPr>
          <p:cNvPr id="16390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6125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10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288925" y="1700213"/>
            <a:ext cx="8820150" cy="48387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7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按组成与结合键分</a:t>
            </a:r>
            <a:r>
              <a:rPr lang="zh-CN" altLang="en-US" b="1" dirty="0">
                <a:solidFill>
                  <a:schemeClr val="folHlink"/>
                </a:solidFill>
                <a:latin typeface="仿宋_GB2312"/>
                <a:ea typeface="仿宋_GB2312"/>
              </a:rPr>
              <a:t>：</a:t>
            </a:r>
            <a:r>
              <a:rPr lang="zh-CN" altLang="en-US" b="1" dirty="0">
                <a:latin typeface="仿宋_GB2312"/>
                <a:ea typeface="仿宋_GB2312"/>
              </a:rPr>
              <a:t>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仿宋_GB2312"/>
                <a:ea typeface="仿宋_GB231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仿宋_GB2312"/>
                <a:ea typeface="仿宋_GB231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、金属材料（黑色、有色）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仿宋_GB2312"/>
                <a:ea typeface="仿宋_GB231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、高聚物材料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仿宋_GB2312"/>
                <a:ea typeface="仿宋_GB2312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、无机非金属材料（陶瓷、水泥、玻璃、耐火材料）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仿宋_GB2312"/>
                <a:ea typeface="仿宋_GB2312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</a:rPr>
              <a:t>、复合材料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</a:endParaRPr>
          </a:p>
        </p:txBody>
      </p:sp>
      <p:sp>
        <p:nvSpPr>
          <p:cNvPr id="17412" name="Rectangle 6"/>
          <p:cNvSpPr>
            <a:spLocks noGrp="1"/>
          </p:cNvSpPr>
          <p:nvPr>
            <p:ph type="title"/>
          </p:nvPr>
        </p:nvSpPr>
        <p:spPr>
          <a:xfrm>
            <a:off x="766763" y="233363"/>
            <a:ext cx="8264525" cy="11430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材料的分类</a:t>
            </a: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ea typeface="仿宋_GB2312"/>
              </a:rPr>
              <a:t>按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组成与结合键</a:t>
            </a:r>
            <a:endParaRPr lang="zh-CN" altLang="en-US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46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212883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4" name="Picture 4" descr="材料分类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575" y="1700213"/>
            <a:ext cx="3019425" cy="2376487"/>
          </a:xfrm>
          <a:prstGeom prst="rect">
            <a:avLst/>
          </a:prstGeom>
          <a:noFill/>
          <a:ln w="57150">
            <a:noFill/>
          </a:ln>
        </p:spPr>
      </p:pic>
      <p:pic>
        <p:nvPicPr>
          <p:cNvPr id="17415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11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392113" y="1900238"/>
            <a:ext cx="6337300" cy="46974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结合键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：以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金属键（</a:t>
            </a:r>
            <a:r>
              <a:rPr lang="en-US" altLang="zh-CN" dirty="0"/>
              <a:t> metallic bond 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结合为主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特性：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良好的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导电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性、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导热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性、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延展性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金属光泽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应用：用量最大、应用最广泛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分类：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黑色金属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（钢铁材料）、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有色金属</a:t>
            </a:r>
            <a:r>
              <a:rPr lang="zh-CN" altLang="en-US" sz="2800" b="1" dirty="0">
                <a:ea typeface="华文中宋" panose="02010600040101010101" pitchFamily="2" charset="-122"/>
              </a:rPr>
              <a:t>（铜、铝、钛、镁</a:t>
            </a:r>
            <a:r>
              <a:rPr lang="en-US" altLang="zh-CN" sz="2800" b="1" dirty="0">
                <a:ea typeface="华文中宋" panose="02010600040101010101" pitchFamily="2" charset="-122"/>
              </a:rPr>
              <a:t>…</a:t>
            </a:r>
            <a:r>
              <a:rPr lang="zh-CN" altLang="en-US" sz="2800" b="1" dirty="0">
                <a:ea typeface="华文中宋" panose="02010600040101010101" pitchFamily="2" charset="-122"/>
              </a:rPr>
              <a:t>；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轻金属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重金属；稀有金属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贵金属）</a:t>
            </a:r>
            <a:endParaRPr lang="zh-CN" altLang="en-US" sz="2800" b="1" dirty="0">
              <a:solidFill>
                <a:srgbClr val="CCFF33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436" name="Rectangle 6"/>
          <p:cNvSpPr>
            <a:spLocks noGrp="1"/>
          </p:cNvSpPr>
          <p:nvPr>
            <p:ph type="title"/>
          </p:nvPr>
        </p:nvSpPr>
        <p:spPr>
          <a:xfrm>
            <a:off x="971550" y="116840"/>
            <a:ext cx="7272020" cy="149733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工程材料的分类</a:t>
            </a: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金属材料</a:t>
            </a:r>
            <a:b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Metallic Materials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Metals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b="1" i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48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191135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438" name="metallic  bonding.mov">
            <a:hlinkClick r:id="" action="ppaction://media"/>
          </p:cNvPr>
          <p:cNvPicPr>
            <a:picLocks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75" y="2132013"/>
            <a:ext cx="2000250" cy="1500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9" name="文本框 1"/>
          <p:cNvSpPr txBox="1"/>
          <p:nvPr/>
        </p:nvSpPr>
        <p:spPr>
          <a:xfrm>
            <a:off x="8372475" y="2012950"/>
            <a:ext cx="576263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00FF"/>
                </a:solidFill>
                <a:latin typeface="Tahoma" panose="020B0604030504040204" pitchFamily="34" charset="0"/>
              </a:rPr>
              <a:t>金属键</a:t>
            </a:r>
          </a:p>
        </p:txBody>
      </p:sp>
      <p:pic>
        <p:nvPicPr>
          <p:cNvPr id="18440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charRg st="27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charRg st="27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0898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0898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0898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charRg st="82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0898">
                                            <p:txEl>
                                              <p:charRg st="82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0898">
                                            <p:txEl>
                                              <p:charRg st="82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0898">
                                            <p:txEl>
                                              <p:charRg st="82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charRg st="96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0898">
                                            <p:txEl>
                                              <p:charRg st="96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0898">
                                            <p:txEl>
                                              <p:charRg st="96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0898">
                                            <p:txEl>
                                              <p:charRg st="96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12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288925" y="1916113"/>
            <a:ext cx="8459788" cy="4622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其世界年产量已达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10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亿吨，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机械产品</a:t>
            </a: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中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的用量已占整个用材的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60%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以上。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</a:endParaRPr>
          </a:p>
        </p:txBody>
      </p:sp>
      <p:sp>
        <p:nvSpPr>
          <p:cNvPr id="19460" name="Rectangle 6"/>
          <p:cNvSpPr>
            <a:spLocks noGrp="1"/>
          </p:cNvSpPr>
          <p:nvPr>
            <p:ph type="title"/>
          </p:nvPr>
        </p:nvSpPr>
        <p:spPr>
          <a:xfrm>
            <a:off x="1330325" y="115888"/>
            <a:ext cx="7772400" cy="11430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黑色金属（钢铁材料）</a:t>
            </a:r>
          </a:p>
        </p:txBody>
      </p:sp>
      <p:sp>
        <p:nvSpPr>
          <p:cNvPr id="215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19843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9462" name="Picture 4" descr="钢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0" y="3357563"/>
            <a:ext cx="5461000" cy="34528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3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13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288925" y="1844675"/>
            <a:ext cx="8820150" cy="46942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仿宋_GB2312"/>
                <a:ea typeface="仿宋_GB2312"/>
              </a:rPr>
              <a:t> 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</a:endParaRPr>
          </a:p>
        </p:txBody>
      </p:sp>
      <p:sp>
        <p:nvSpPr>
          <p:cNvPr id="20484" name="Rectangle 6"/>
          <p:cNvSpPr>
            <a:spLocks noGrp="1"/>
          </p:cNvSpPr>
          <p:nvPr>
            <p:ph type="title"/>
          </p:nvPr>
        </p:nvSpPr>
        <p:spPr>
          <a:xfrm>
            <a:off x="1330325" y="115888"/>
            <a:ext cx="7273925" cy="11430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金属材料制品</a:t>
            </a:r>
          </a:p>
        </p:txBody>
      </p:sp>
      <p:sp>
        <p:nvSpPr>
          <p:cNvPr id="2253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2271713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486" name="Picture 3" descr="金属制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163" y="1795463"/>
            <a:ext cx="3506787" cy="238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7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8" name="图片 2"/>
          <p:cNvPicPr>
            <a:picLocks noChangeAspect="1"/>
          </p:cNvPicPr>
          <p:nvPr/>
        </p:nvPicPr>
        <p:blipFill>
          <a:blip r:embed="rId4"/>
          <a:srcRect l="5373" t="-130627" r="-150711" b="8859"/>
          <a:stretch>
            <a:fillRect/>
          </a:stretch>
        </p:blipFill>
        <p:spPr>
          <a:xfrm>
            <a:off x="5135563" y="-1419225"/>
            <a:ext cx="8243887" cy="55895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9" name="图片 4"/>
          <p:cNvPicPr>
            <a:picLocks noChangeAspect="1"/>
          </p:cNvPicPr>
          <p:nvPr/>
        </p:nvPicPr>
        <p:blipFill>
          <a:blip r:embed="rId5"/>
          <a:srcRect l="1962" t="30586" r="12199" b="34250"/>
          <a:stretch>
            <a:fillRect/>
          </a:stretch>
        </p:blipFill>
        <p:spPr>
          <a:xfrm>
            <a:off x="2051050" y="4281488"/>
            <a:ext cx="6283325" cy="1930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14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207963" y="1989138"/>
            <a:ext cx="6305550" cy="42291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Ploymeric Materials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结合键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：以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分子键（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r>
              <a:rPr lang="en-US" altLang="zh-CN" b="1" dirty="0">
                <a:solidFill>
                  <a:srgbClr val="FF0000"/>
                </a:solidFill>
              </a:rPr>
              <a:t>molecular bond 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共价键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0000FF"/>
                </a:solidFill>
              </a:rPr>
              <a:t>covalent bond 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）为主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特性：塑性、耐蚀性、电绝缘性、减振性好，密度小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种类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塑料、橡胶、合成纤维、胶粘剂、涂料</a:t>
            </a:r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…</a:t>
            </a:r>
            <a:r>
              <a:rPr lang="zh-CN" altLang="en-US" sz="2800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21508" name="Rectangle 6"/>
          <p:cNvSpPr>
            <a:spLocks noGrp="1"/>
          </p:cNvSpPr>
          <p:nvPr>
            <p:ph type="title"/>
          </p:nvPr>
        </p:nvSpPr>
        <p:spPr>
          <a:xfrm>
            <a:off x="1336675" y="188913"/>
            <a:ext cx="7772400" cy="1439862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工程材料的分类</a:t>
            </a:r>
            <a:b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高聚物材料</a:t>
            </a:r>
            <a:r>
              <a:rPr lang="en-US" altLang="zh-CN" b="1" dirty="0">
                <a:solidFill>
                  <a:srgbClr val="FF0000"/>
                </a:solidFill>
                <a:latin typeface="仿宋_GB2312"/>
                <a:ea typeface="仿宋_GB2312"/>
              </a:rPr>
              <a:t>(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  <a:ea typeface="仿宋_GB2312"/>
                <a:cs typeface="Times New Roman" panose="02020603050405020304" pitchFamily="18" charset="0"/>
              </a:rPr>
              <a:t>Polymer</a:t>
            </a:r>
            <a:r>
              <a:rPr lang="en-US" altLang="zh-CN" b="1" dirty="0">
                <a:solidFill>
                  <a:srgbClr val="FF0000"/>
                </a:solidFill>
                <a:latin typeface="仿宋_GB2312"/>
                <a:ea typeface="仿宋_GB2312"/>
              </a:rPr>
              <a:t>)</a:t>
            </a:r>
            <a:endParaRPr lang="zh-CN" altLang="en-US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55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191135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1510" name="Group 5"/>
          <p:cNvGrpSpPr/>
          <p:nvPr/>
        </p:nvGrpSpPr>
        <p:grpSpPr>
          <a:xfrm>
            <a:off x="6462713" y="2209800"/>
            <a:ext cx="2520950" cy="4037013"/>
            <a:chOff x="3785" y="655"/>
            <a:chExt cx="1745" cy="2849"/>
          </a:xfrm>
        </p:grpSpPr>
        <p:pic>
          <p:nvPicPr>
            <p:cNvPr id="21513" name="Picture 6" descr="共价键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85" y="655"/>
              <a:ext cx="1357" cy="923"/>
            </a:xfrm>
            <a:prstGeom prst="rect">
              <a:avLst/>
            </a:prstGeom>
            <a:noFill/>
            <a:ln w="57150">
              <a:noFill/>
            </a:ln>
          </p:spPr>
        </p:pic>
        <p:sp>
          <p:nvSpPr>
            <p:cNvPr id="21514" name="Text Box 7"/>
            <p:cNvSpPr txBox="1"/>
            <p:nvPr/>
          </p:nvSpPr>
          <p:spPr>
            <a:xfrm>
              <a:off x="5212" y="2448"/>
              <a:ext cx="308" cy="10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algn="ctr" eaLnBrk="1" hangingPunct="1">
                <a:buSzPct val="100000"/>
                <a:buFont typeface="Wingdings" panose="05000000000000000000" pitchFamily="2" charset="2"/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分子键</a:t>
              </a:r>
              <a:endPara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1515" name="Text Box 8"/>
            <p:cNvSpPr txBox="1"/>
            <p:nvPr/>
          </p:nvSpPr>
          <p:spPr>
            <a:xfrm>
              <a:off x="5222" y="816"/>
              <a:ext cx="308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SzPct val="100000"/>
                <a:buFont typeface="Wingdings" panose="05000000000000000000" pitchFamily="2" charset="2"/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共价键</a:t>
              </a:r>
            </a:p>
          </p:txBody>
        </p:sp>
      </p:grpSp>
      <p:pic>
        <p:nvPicPr>
          <p:cNvPr id="21511" name="ver der Waals bonds.mov">
            <a:hlinkClick r:id="" action="ppaction://media"/>
          </p:cNvPr>
          <p:cNvPicPr>
            <a:picLocks noRot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238" y="4751388"/>
            <a:ext cx="1843087" cy="1416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2" name="内容占位符 1" descr="新校徽（3M）弓之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15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171450" y="1962150"/>
            <a:ext cx="4719638" cy="43465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高分子材料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广泛应用：</a:t>
            </a:r>
            <a:r>
              <a:rPr lang="zh-CN" altLang="en-US" b="1" dirty="0">
                <a:latin typeface="宋体" panose="02010600030101010101" pitchFamily="2" charset="-122"/>
                <a:ea typeface="华文中宋" panose="02010600040101010101" pitchFamily="2" charset="-122"/>
              </a:rPr>
              <a:t>在机械、电气、纺织、汽车、飞机、轮船等制造工业和化学、交通运输、航空航天等工业中。</a:t>
            </a:r>
            <a:r>
              <a:rPr lang="zh-CN" altLang="en-US" b="1" dirty="0">
                <a:latin typeface="仿宋_GB2312"/>
                <a:ea typeface="仿宋_GB2312"/>
              </a:rPr>
              <a:t> 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</a:endParaRPr>
          </a:p>
        </p:txBody>
      </p:sp>
      <p:sp>
        <p:nvSpPr>
          <p:cNvPr id="22532" name="Rectangle 6"/>
          <p:cNvSpPr>
            <a:spLocks noGrp="1"/>
          </p:cNvSpPr>
          <p:nvPr>
            <p:ph type="title"/>
          </p:nvPr>
        </p:nvSpPr>
        <p:spPr>
          <a:xfrm>
            <a:off x="1336675" y="188913"/>
            <a:ext cx="6188075" cy="1439862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工程材料的分类</a:t>
            </a:r>
            <a:b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高聚物材料</a:t>
            </a:r>
            <a:endParaRPr lang="zh-CN" altLang="en-US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458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212883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2534" name="Group 4"/>
          <p:cNvGrpSpPr/>
          <p:nvPr/>
        </p:nvGrpSpPr>
        <p:grpSpPr>
          <a:xfrm>
            <a:off x="5651500" y="2060575"/>
            <a:ext cx="2519363" cy="2881313"/>
            <a:chOff x="432" y="1776"/>
            <a:chExt cx="1587" cy="1815"/>
          </a:xfrm>
        </p:grpSpPr>
        <p:pic>
          <p:nvPicPr>
            <p:cNvPr id="22536" name="Picture 5" descr="烯丙酰氯-苯乙烯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2" y="1776"/>
              <a:ext cx="1587" cy="1537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22537" name="Text Box 6"/>
            <p:cNvSpPr txBox="1"/>
            <p:nvPr/>
          </p:nvSpPr>
          <p:spPr>
            <a:xfrm>
              <a:off x="540" y="3360"/>
              <a:ext cx="134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SzPct val="100000"/>
                <a:buFont typeface="Wingdings" panose="05000000000000000000" pitchFamily="2" charset="2"/>
              </a:pPr>
              <a:r>
                <a:rPr lang="zh-CN" altLang="en-US" b="1" dirty="0">
                  <a:solidFill>
                    <a:srgbClr val="A5002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烯丙酰氯</a:t>
              </a:r>
              <a:r>
                <a:rPr lang="en-US" altLang="zh-CN" b="1" dirty="0">
                  <a:solidFill>
                    <a:srgbClr val="A5002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-</a:t>
              </a:r>
              <a:r>
                <a:rPr lang="zh-CN" altLang="en-US" b="1" dirty="0">
                  <a:solidFill>
                    <a:srgbClr val="A5002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苯乙烯</a:t>
              </a:r>
            </a:p>
          </p:txBody>
        </p:sp>
      </p:grpSp>
      <p:pic>
        <p:nvPicPr>
          <p:cNvPr id="22535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16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203200" y="1900238"/>
            <a:ext cx="5376863" cy="46148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结合键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：以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共价键（</a:t>
            </a:r>
            <a:r>
              <a:rPr lang="en-US" altLang="zh-CN" sz="2800" dirty="0"/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covalent bond</a:t>
            </a:r>
            <a:r>
              <a:rPr lang="en-US" altLang="zh-CN" sz="2800" dirty="0"/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离子键（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r>
              <a:rPr lang="en-US" altLang="zh-CN" sz="2800" b="1" dirty="0">
                <a:solidFill>
                  <a:srgbClr val="FF0000"/>
                </a:solidFill>
              </a:rPr>
              <a:t>ionic bond 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特性：熔点高、硬度高、耐腐蚀、脆性大 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种类：传统陶瓷、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特种陶瓷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、金属陶瓷  三类 </a:t>
            </a:r>
          </a:p>
        </p:txBody>
      </p:sp>
      <p:sp>
        <p:nvSpPr>
          <p:cNvPr id="23556" name="Rectangle 6"/>
          <p:cNvSpPr>
            <a:spLocks noGrp="1"/>
          </p:cNvSpPr>
          <p:nvPr>
            <p:ph type="title"/>
          </p:nvPr>
        </p:nvSpPr>
        <p:spPr>
          <a:xfrm>
            <a:off x="203200" y="19050"/>
            <a:ext cx="8858250" cy="1439863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工程材料的分类</a:t>
            </a:r>
            <a:b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仿宋_GB2312"/>
              </a:rPr>
              <a:t>陶瓷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材料</a:t>
            </a:r>
            <a:r>
              <a:rPr lang="en-US" altLang="zh-CN" b="1" dirty="0">
                <a:solidFill>
                  <a:srgbClr val="FF0000"/>
                </a:solidFill>
                <a:latin typeface="仿宋_GB2312"/>
                <a:ea typeface="仿宋_GB2312"/>
              </a:rPr>
              <a:t>(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  <a:ea typeface="仿宋_GB2312"/>
                <a:cs typeface="Times New Roman" panose="02020603050405020304" pitchFamily="18" charset="0"/>
              </a:rPr>
              <a:t>Ceramic Materials</a:t>
            </a:r>
            <a:r>
              <a:rPr lang="en-US" altLang="zh-CN" b="1" dirty="0">
                <a:solidFill>
                  <a:srgbClr val="FF0000"/>
                </a:solidFill>
                <a:latin typeface="仿宋_GB2312"/>
                <a:ea typeface="仿宋_GB2312"/>
              </a:rPr>
              <a:t>)</a:t>
            </a:r>
            <a:endParaRPr lang="zh-CN" altLang="en-US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60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19843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3558" name="Group 4"/>
          <p:cNvGrpSpPr/>
          <p:nvPr/>
        </p:nvGrpSpPr>
        <p:grpSpPr>
          <a:xfrm>
            <a:off x="5580063" y="1657350"/>
            <a:ext cx="3421062" cy="4292600"/>
            <a:chOff x="2976" y="720"/>
            <a:chExt cx="2627" cy="3075"/>
          </a:xfrm>
        </p:grpSpPr>
        <p:pic>
          <p:nvPicPr>
            <p:cNvPr id="23560" name="Picture 5" descr="共价键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6" y="720"/>
              <a:ext cx="2627" cy="1382"/>
            </a:xfrm>
            <a:prstGeom prst="rect">
              <a:avLst/>
            </a:prstGeom>
            <a:noFill/>
            <a:ln w="38100">
              <a:noFill/>
            </a:ln>
          </p:spPr>
        </p:pic>
        <p:pic>
          <p:nvPicPr>
            <p:cNvPr id="23561" name="Picture 6" descr="离子键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6" y="2352"/>
              <a:ext cx="2627" cy="1443"/>
            </a:xfrm>
            <a:prstGeom prst="rect">
              <a:avLst/>
            </a:prstGeom>
            <a:noFill/>
            <a:ln w="38100">
              <a:noFill/>
            </a:ln>
          </p:spPr>
        </p:pic>
      </p:grpSp>
      <p:pic>
        <p:nvPicPr>
          <p:cNvPr id="23559" name="内容占位符 1" descr="新校徽（3M）弓之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17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136525" y="1862138"/>
            <a:ext cx="9004300" cy="48244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传统陶瓷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又称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普通陶瓷</a:t>
            </a:r>
            <a:r>
              <a:rPr lang="en-US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以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天然材料</a:t>
            </a:r>
            <a:r>
              <a:rPr lang="en-US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如黏土、石英、长石等</a:t>
            </a:r>
            <a:r>
              <a:rPr lang="en-US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为原料</a:t>
            </a:r>
            <a:r>
              <a:rPr lang="en-US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主要用作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建筑材料。</a:t>
            </a:r>
            <a:endParaRPr lang="en-US" altLang="zh-CN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20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特种陶瓷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又称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精细陶瓷，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以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人工合成材料为原料，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常用作工程上的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耐热、耐蚀、耐磨零件。</a:t>
            </a:r>
            <a:endParaRPr lang="en-US" altLang="zh-CN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20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金属陶瓷：</a:t>
            </a:r>
            <a:r>
              <a:rPr lang="zh-CN" altLang="en-US" b="1" dirty="0">
                <a:solidFill>
                  <a:srgbClr val="0000FF"/>
                </a:solidFill>
              </a:rPr>
              <a:t>陶瓷 </a:t>
            </a:r>
            <a:r>
              <a:rPr lang="en-US" altLang="zh-CN" dirty="0"/>
              <a:t>+ </a:t>
            </a:r>
            <a:r>
              <a:rPr lang="zh-CN" altLang="en-US" b="1" dirty="0">
                <a:solidFill>
                  <a:srgbClr val="0000FF"/>
                </a:solidFill>
              </a:rPr>
              <a:t>金属</a:t>
            </a:r>
            <a:r>
              <a:rPr lang="en-US" altLang="zh-CN" b="1" dirty="0">
                <a:solidFill>
                  <a:srgbClr val="0000FF"/>
                </a:solidFill>
              </a:rPr>
              <a:t>(</a:t>
            </a:r>
            <a:r>
              <a:rPr lang="zh-CN" altLang="en-US" dirty="0"/>
              <a:t>陶瓷基、金属基</a:t>
            </a:r>
            <a:r>
              <a:rPr lang="en-US" altLang="zh-CN" b="1" dirty="0">
                <a:solidFill>
                  <a:srgbClr val="0000FF"/>
                </a:solidFill>
              </a:rPr>
              <a:t>)</a:t>
            </a:r>
            <a:endParaRPr lang="zh-CN" altLang="en-US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4580" name="Rectangle 6"/>
          <p:cNvSpPr>
            <a:spLocks noGrp="1"/>
          </p:cNvSpPr>
          <p:nvPr>
            <p:ph type="title"/>
          </p:nvPr>
        </p:nvSpPr>
        <p:spPr>
          <a:xfrm>
            <a:off x="139700" y="0"/>
            <a:ext cx="8863013" cy="1439863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常用工程材料的分类</a:t>
            </a:r>
            <a:b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仿宋_GB2312"/>
              </a:rPr>
              <a:t>陶瓷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材料（</a:t>
            </a:r>
            <a:r>
              <a:rPr lang="en-US" altLang="zh-CN" dirty="0"/>
              <a:t> Ceramic Materials </a:t>
            </a: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63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19843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4582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18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144463" y="1844675"/>
            <a:ext cx="9004300" cy="45370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两种</a:t>
            </a:r>
            <a:r>
              <a:rPr lang="zh-CN" altLang="en-US" b="1" dirty="0">
                <a:solidFill>
                  <a:srgbClr val="8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两种以上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不同性质</a:t>
            </a:r>
            <a:r>
              <a:rPr lang="zh-CN" altLang="en-US" b="1" dirty="0">
                <a:solidFill>
                  <a:srgbClr val="8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不同结构</a:t>
            </a:r>
            <a:r>
              <a:rPr lang="zh-CN" altLang="en-US" b="1" dirty="0">
                <a:solidFill>
                  <a:srgbClr val="8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的材料以微观或宏观的形式组合在一起而形成的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多相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固体</a:t>
            </a:r>
            <a:r>
              <a:rPr lang="zh-CN" altLang="en-US" b="1" dirty="0">
                <a:solidFill>
                  <a:srgbClr val="8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材料。</a:t>
            </a:r>
            <a:endParaRPr lang="en-US" altLang="zh-CN" b="1" dirty="0">
              <a:solidFill>
                <a:srgbClr val="8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7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金属基  复合材料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陶瓷基  复合材料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聚合物基 复合材料</a:t>
            </a:r>
          </a:p>
        </p:txBody>
      </p:sp>
      <p:sp>
        <p:nvSpPr>
          <p:cNvPr id="20484" name="Rectangle 6"/>
          <p:cNvSpPr>
            <a:spLocks noGrp="1" noChangeArrowheads="1"/>
          </p:cNvSpPr>
          <p:nvPr>
            <p:ph type="title"/>
          </p:nvPr>
        </p:nvSpPr>
        <p:spPr>
          <a:xfrm>
            <a:off x="139700" y="0"/>
            <a:ext cx="8863013" cy="14398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常用工程材料的分类</a:t>
            </a:r>
            <a:b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——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仿宋_GB2312"/>
                <a:cs typeface="仿宋_GB2312"/>
              </a:rPr>
              <a:t>复合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材料（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Composites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/>
                <a:ea typeface="仿宋_GB2312"/>
                <a:cs typeface="仿宋_GB2312"/>
              </a:rPr>
              <a:t>）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765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2271713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5606" name="Group 5"/>
          <p:cNvGrpSpPr/>
          <p:nvPr/>
        </p:nvGrpSpPr>
        <p:grpSpPr>
          <a:xfrm>
            <a:off x="4427538" y="3152775"/>
            <a:ext cx="3581400" cy="3516313"/>
            <a:chOff x="3487" y="1659"/>
            <a:chExt cx="2256" cy="2215"/>
          </a:xfrm>
        </p:grpSpPr>
        <p:pic>
          <p:nvPicPr>
            <p:cNvPr id="25608" name="Picture 6" descr="玻璃纤维增强高分子材料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28" y="1659"/>
              <a:ext cx="1927" cy="1982"/>
            </a:xfrm>
            <a:prstGeom prst="rect">
              <a:avLst/>
            </a:prstGeom>
            <a:noFill/>
            <a:ln w="38100" cap="flat" cmpd="sng">
              <a:solidFill>
                <a:srgbClr val="CCFFCC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5609" name="Text Box 7"/>
            <p:cNvSpPr txBox="1"/>
            <p:nvPr/>
          </p:nvSpPr>
          <p:spPr>
            <a:xfrm>
              <a:off x="3487" y="3624"/>
              <a:ext cx="2256" cy="250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 w="38100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SzPct val="100000"/>
                <a:buFont typeface="Wingdings" panose="05000000000000000000" pitchFamily="2" charset="2"/>
              </a:pPr>
              <a:r>
                <a:rPr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玻璃纤维增强高分子复合材料</a:t>
              </a:r>
            </a:p>
          </p:txBody>
        </p:sp>
      </p:grpSp>
      <p:pic>
        <p:nvPicPr>
          <p:cNvPr id="25607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19</a:t>
            </a:fld>
            <a:endParaRPr lang="en-US" altLang="zh-CN" sz="1400" dirty="0"/>
          </a:p>
        </p:txBody>
      </p:sp>
      <p:sp>
        <p:nvSpPr>
          <p:cNvPr id="26627" name="Rectangle 6"/>
          <p:cNvSpPr>
            <a:spLocks noGrp="1"/>
          </p:cNvSpPr>
          <p:nvPr>
            <p:ph type="title"/>
          </p:nvPr>
        </p:nvSpPr>
        <p:spPr>
          <a:xfrm>
            <a:off x="233363" y="1484313"/>
            <a:ext cx="8677275" cy="316865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>
              <a:buNone/>
            </a:pPr>
            <a:r>
              <a:rPr lang="zh-CN" altLang="en-US" sz="66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二、材料的性能</a:t>
            </a:r>
            <a:br>
              <a:rPr lang="en-US" altLang="zh-CN" sz="66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66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Properties of Materials</a:t>
            </a:r>
          </a:p>
        </p:txBody>
      </p:sp>
      <p:sp>
        <p:nvSpPr>
          <p:cNvPr id="2867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19843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6629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20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323850" y="1916113"/>
            <a:ext cx="8820150" cy="45370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使用性能</a:t>
            </a: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材料在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使用过程</a:t>
            </a:r>
            <a:r>
              <a:rPr lang="zh-CN" altLang="en-US" b="1" dirty="0">
                <a:ea typeface="华文中宋" panose="02010600040101010101" pitchFamily="2" charset="-122"/>
              </a:rPr>
              <a:t>中所表现出来的性能。包括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力学性能、物理性能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化学性能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。</a:t>
            </a:r>
            <a:endParaRPr lang="zh-CN" altLang="en-US" sz="2000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工艺性能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材料在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加工过程</a:t>
            </a:r>
            <a:r>
              <a:rPr lang="zh-CN" altLang="en-US" b="1" dirty="0">
                <a:ea typeface="华文中宋" panose="02010600040101010101" pitchFamily="2" charset="-122"/>
              </a:rPr>
              <a:t>中所表现出的性能。包括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铸造、锻压、焊接、热处理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切削性能</a:t>
            </a:r>
            <a:r>
              <a:rPr lang="zh-CN" altLang="en-US" b="1" dirty="0">
                <a:ea typeface="华文中宋" panose="02010600040101010101" pitchFamily="2" charset="-122"/>
              </a:rPr>
              <a:t>等。</a:t>
            </a:r>
            <a:endParaRPr lang="en-US" altLang="zh-CN" sz="20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经济性能</a:t>
            </a:r>
            <a:r>
              <a:rPr lang="zh-CN" altLang="en-US" b="1" dirty="0">
                <a:ea typeface="华文中宋" panose="02010600040101010101" pitchFamily="2" charset="-122"/>
              </a:rPr>
              <a:t>：价格、使用成本费用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环保性能：生产、使用、报废阶段对环境的危害性</a:t>
            </a:r>
            <a:endParaRPr lang="en-US" altLang="zh-CN" b="1" dirty="0">
              <a:solidFill>
                <a:srgbClr val="0000FF"/>
              </a:solidFill>
              <a:ea typeface="华文中宋" panose="02010600040101010101" pitchFamily="2" charset="-122"/>
            </a:endParaRPr>
          </a:p>
        </p:txBody>
      </p:sp>
      <p:sp>
        <p:nvSpPr>
          <p:cNvPr id="27652" name="Rectangle 6"/>
          <p:cNvSpPr>
            <a:spLocks noGrp="1"/>
          </p:cNvSpPr>
          <p:nvPr>
            <p:ph type="title"/>
          </p:nvPr>
        </p:nvSpPr>
        <p:spPr>
          <a:xfrm>
            <a:off x="1371600" y="476250"/>
            <a:ext cx="6224588" cy="11430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sz="5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二、材料的性能</a:t>
            </a:r>
          </a:p>
        </p:txBody>
      </p:sp>
      <p:sp>
        <p:nvSpPr>
          <p:cNvPr id="2867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19843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7654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38913"/>
            <a:ext cx="558800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21</a:t>
            </a:fld>
            <a:endParaRPr lang="en-US" altLang="zh-CN" sz="1400" dirty="0"/>
          </a:p>
        </p:txBody>
      </p:sp>
      <p:sp>
        <p:nvSpPr>
          <p:cNvPr id="80898" name="Rectangle 2"/>
          <p:cNvSpPr>
            <a:spLocks noGrp="1" noChangeArrowheads="1"/>
          </p:cNvSpPr>
          <p:nvPr>
            <p:ph idx="1"/>
          </p:nvPr>
        </p:nvSpPr>
        <p:spPr>
          <a:xfrm>
            <a:off x="684213" y="1871663"/>
            <a:ext cx="8142288" cy="4845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使用性能：材料对应用环境的适应性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/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表现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材料的三大失效方式：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磨损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、疲劳、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腐蚀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失效致因：力、电、光、磁、声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…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（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物理、化学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）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1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）力学性能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Mechanical properties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）物理性能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Physical properties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3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）化学性能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Chemical properties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8676" name="Rectangle 6"/>
          <p:cNvSpPr>
            <a:spLocks noGrp="1"/>
          </p:cNvSpPr>
          <p:nvPr>
            <p:ph type="title"/>
          </p:nvPr>
        </p:nvSpPr>
        <p:spPr>
          <a:xfrm>
            <a:off x="1116013" y="260350"/>
            <a:ext cx="7772400" cy="11430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二、材料的性能</a:t>
            </a: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使用性能</a:t>
            </a:r>
          </a:p>
        </p:txBody>
      </p:sp>
      <p:sp>
        <p:nvSpPr>
          <p:cNvPr id="2867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9700" y="6515100"/>
            <a:ext cx="191135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08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dvAuto="100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64550" y="6550025"/>
            <a:ext cx="479425" cy="265113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22</a:t>
            </a:fld>
            <a:endParaRPr lang="en-US" altLang="zh-CN" sz="1400" dirty="0"/>
          </a:p>
        </p:txBody>
      </p:sp>
      <p:sp>
        <p:nvSpPr>
          <p:cNvPr id="60420" name="Rectangle 4"/>
          <p:cNvSpPr>
            <a:spLocks noGrp="1"/>
          </p:cNvSpPr>
          <p:nvPr>
            <p:ph type="title"/>
          </p:nvPr>
        </p:nvSpPr>
        <p:spPr>
          <a:xfrm>
            <a:off x="539750" y="2133600"/>
            <a:ext cx="8424863" cy="3024188"/>
          </a:xfrm>
        </p:spPr>
        <p:txBody>
          <a:bodyPr vert="horz" wrap="square" lIns="92075" tIns="46038" rIns="92075" bIns="46038" anchor="ctr" anchorCtr="0"/>
          <a:lstStyle/>
          <a:p>
            <a:pPr algn="ctr" eaLnBrk="1" hangingPunct="1">
              <a:buNone/>
            </a:pPr>
            <a:r>
              <a:rPr lang="zh-CN" altLang="en-US" sz="6000" b="1" dirty="0">
                <a:solidFill>
                  <a:srgbClr val="FF0000"/>
                </a:solidFill>
              </a:rPr>
              <a:t>（一）使用性能</a:t>
            </a:r>
            <a:br>
              <a:rPr lang="en-US" altLang="zh-CN" sz="6000" b="1" dirty="0">
                <a:solidFill>
                  <a:srgbClr val="FF0000"/>
                </a:solidFill>
              </a:rPr>
            </a:br>
            <a:r>
              <a:rPr lang="en-US" altLang="zh-CN" sz="6000" b="1" dirty="0">
                <a:solidFill>
                  <a:srgbClr val="FF0000"/>
                </a:solidFill>
              </a:rPr>
              <a:t>—— </a:t>
            </a:r>
            <a:r>
              <a:rPr lang="en-US" altLang="zh-CN" sz="60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1.</a:t>
            </a:r>
            <a:r>
              <a:rPr lang="zh-CN" altLang="en-US" sz="60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力学性能</a:t>
            </a:r>
            <a:br>
              <a:rPr lang="en-US" altLang="zh-CN" sz="60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60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Mechanical Performance</a:t>
            </a:r>
          </a:p>
        </p:txBody>
      </p:sp>
      <p:sp>
        <p:nvSpPr>
          <p:cNvPr id="2970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50025"/>
            <a:ext cx="1905000" cy="2762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9701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64550" y="6550025"/>
            <a:ext cx="479425" cy="265113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23</a:t>
            </a:fld>
            <a:endParaRPr lang="en-US" altLang="zh-CN" sz="1400" dirty="0"/>
          </a:p>
        </p:txBody>
      </p:sp>
      <p:sp>
        <p:nvSpPr>
          <p:cNvPr id="60419" name="Rectangle 3"/>
          <p:cNvSpPr>
            <a:spLocks noGrp="1"/>
          </p:cNvSpPr>
          <p:nvPr>
            <p:ph sz="half" idx="1"/>
          </p:nvPr>
        </p:nvSpPr>
        <p:spPr>
          <a:xfrm>
            <a:off x="469900" y="1812925"/>
            <a:ext cx="8143875" cy="43195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  <a:buSzPct val="60000"/>
            </a:pPr>
            <a:r>
              <a:rPr lang="zh-CN" altLang="en-US" sz="3200" b="1" dirty="0">
                <a:solidFill>
                  <a:srgbClr val="0000FF"/>
                </a:solidFill>
                <a:latin typeface="+mn-lt"/>
                <a:ea typeface="华文中宋" panose="02010600040101010101" pitchFamily="2" charset="-122"/>
                <a:cs typeface="+mn-cs"/>
              </a:rPr>
              <a:t>力学性能</a:t>
            </a:r>
            <a:r>
              <a:rPr lang="zh-CN" altLang="en-US" sz="3200" b="1" dirty="0">
                <a:solidFill>
                  <a:srgbClr val="0033CC"/>
                </a:solidFill>
                <a:latin typeface="+mn-lt"/>
                <a:ea typeface="华文中宋" panose="02010600040101010101" pitchFamily="2" charset="-122"/>
                <a:cs typeface="+mn-cs"/>
              </a:rPr>
              <a:t>：</a:t>
            </a:r>
            <a:r>
              <a:rPr lang="zh-CN" altLang="en-US" sz="3200" b="1" dirty="0">
                <a:latin typeface="+mn-lt"/>
                <a:ea typeface="华文中宋" panose="02010600040101010101" pitchFamily="2" charset="-122"/>
                <a:cs typeface="+mn-cs"/>
              </a:rPr>
              <a:t>材料</a:t>
            </a:r>
            <a:r>
              <a:rPr lang="zh-CN" altLang="en-US" sz="3200" b="1" dirty="0">
                <a:solidFill>
                  <a:srgbClr val="0000FF"/>
                </a:solidFill>
                <a:latin typeface="+mn-lt"/>
                <a:ea typeface="华文中宋" panose="02010600040101010101" pitchFamily="2" charset="-122"/>
                <a:cs typeface="+mn-cs"/>
              </a:rPr>
              <a:t>受外力作用时</a:t>
            </a:r>
            <a:r>
              <a:rPr lang="zh-CN" altLang="en-US" sz="3200" b="1" dirty="0">
                <a:latin typeface="+mn-lt"/>
                <a:ea typeface="华文中宋" panose="02010600040101010101" pitchFamily="2" charset="-122"/>
                <a:cs typeface="+mn-cs"/>
              </a:rPr>
              <a:t>所表现的性能，又称</a:t>
            </a:r>
            <a:r>
              <a:rPr lang="zh-CN" altLang="en-US" sz="3200" b="1" dirty="0">
                <a:solidFill>
                  <a:srgbClr val="0000FF"/>
                </a:solidFill>
                <a:latin typeface="+mn-lt"/>
                <a:ea typeface="华文中宋" panose="02010600040101010101" pitchFamily="2" charset="-122"/>
                <a:cs typeface="+mn-cs"/>
              </a:rPr>
              <a:t>机械性能</a:t>
            </a:r>
            <a:r>
              <a:rPr lang="en-US" altLang="zh-CN" sz="3200" b="1" dirty="0">
                <a:solidFill>
                  <a:srgbClr val="0000FF"/>
                </a:solidFill>
                <a:latin typeface="+mn-lt"/>
                <a:ea typeface="华文中宋" panose="02010600040101010101" pitchFamily="2" charset="-122"/>
                <a:cs typeface="+mn-cs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cs"/>
              </a:rPr>
              <a:t>。</a:t>
            </a:r>
          </a:p>
          <a:p>
            <a:pPr eaLnBrk="1" hangingPunct="1">
              <a:lnSpc>
                <a:spcPct val="140000"/>
              </a:lnSpc>
              <a:buSzPct val="60000"/>
            </a:pPr>
            <a:endParaRPr lang="zh-CN" altLang="en-US" b="1" dirty="0">
              <a:solidFill>
                <a:srgbClr val="FF0000"/>
              </a:solidFill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60420" name="Rectangle 4"/>
          <p:cNvSpPr>
            <a:spLocks noGrp="1"/>
          </p:cNvSpPr>
          <p:nvPr>
            <p:ph type="title"/>
          </p:nvPr>
        </p:nvSpPr>
        <p:spPr>
          <a:xfrm>
            <a:off x="788988" y="214313"/>
            <a:ext cx="8154987" cy="1462087"/>
          </a:xfrm>
        </p:spPr>
        <p:txBody>
          <a:bodyPr vert="horz" wrap="square" lIns="92075" tIns="46038" rIns="92075" bIns="46038" anchor="ctr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（一）使用性能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——1.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力学性能</a:t>
            </a:r>
          </a:p>
        </p:txBody>
      </p:sp>
      <p:sp>
        <p:nvSpPr>
          <p:cNvPr id="2970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50025"/>
            <a:ext cx="1905000" cy="2762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26" name="Picture 4" descr="载荷类型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587500" y="3152775"/>
            <a:ext cx="6694488" cy="3260725"/>
          </a:xfrm>
        </p:spPr>
      </p:pic>
      <p:pic>
        <p:nvPicPr>
          <p:cNvPr id="30727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圆角矩形 7" descr="7b0a202020202262756c6c6574223a20227b5c2263617465676f727949645c223a31303032352c5c2274656d706c61746549645c223a32303233313437347d220a7d0a"/>
          <p:cNvSpPr/>
          <p:nvPr/>
        </p:nvSpPr>
        <p:spPr>
          <a:xfrm>
            <a:off x="828040" y="2061210"/>
            <a:ext cx="171640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力学性能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/>
        </p:nvSpPr>
        <p:spPr>
          <a:xfrm>
            <a:off x="2555875" y="2708910"/>
            <a:ext cx="171640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机械性能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41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1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 advAuto="1000"/>
      <p:bldP spid="604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15350" y="6535738"/>
            <a:ext cx="452438" cy="277812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24</a:t>
            </a:fld>
            <a:endParaRPr lang="en-US" altLang="zh-CN" sz="1400" dirty="0"/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176213" y="1916113"/>
            <a:ext cx="8791575" cy="44751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外力类型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：静载荷、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冲击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载荷、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循环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载荷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（外力作用的特点：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速度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、次数、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方向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…)</a:t>
            </a: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力学性能指标：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弹性与刚度、 强度与塑性、  硬度、 冲击韧性、  疲劳强度、  断裂韧性</a:t>
            </a: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依据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(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评价工具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)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应力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-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应变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曲线、疲劳曲线</a:t>
            </a: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60420" name="Rectangle 4"/>
          <p:cNvSpPr>
            <a:spLocks noGrp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 vert="horz" wrap="square" lIns="92075" tIns="46038" rIns="92075" bIns="46038" anchor="ctr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（一）使用性能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力学性能</a:t>
            </a:r>
          </a:p>
        </p:txBody>
      </p:sp>
      <p:sp>
        <p:nvSpPr>
          <p:cNvPr id="2970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35738"/>
            <a:ext cx="1908175" cy="3095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1750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 advAuto="1000"/>
      <p:bldP spid="604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39175" y="6597650"/>
            <a:ext cx="403225" cy="29845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25</a:t>
            </a:fld>
            <a:endParaRPr lang="en-US" altLang="zh-CN" sz="1400" dirty="0"/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1403350" y="320675"/>
            <a:ext cx="6245225" cy="985838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力学性能</a:t>
            </a: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变形</a:t>
            </a:r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>
          <a:xfrm>
            <a:off x="539750" y="1700213"/>
            <a:ext cx="8275638" cy="28813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变形</a:t>
            </a:r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材料（在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外力作用下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发生的）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形状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尺寸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变化。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弹性变形：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外力去除后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能够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恢复原状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的变形。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塑性变形：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外力去除后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不能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恢复原状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的变形。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1403350" y="4387850"/>
            <a:ext cx="6708775" cy="2347913"/>
            <a:chOff x="528" y="2016"/>
            <a:chExt cx="4797" cy="2470"/>
          </a:xfrm>
        </p:grpSpPr>
        <p:pic>
          <p:nvPicPr>
            <p:cNvPr id="32776" name="Picture 5" descr="变形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" y="2016"/>
              <a:ext cx="2614" cy="2039"/>
            </a:xfrm>
            <a:prstGeom prst="rect">
              <a:avLst/>
            </a:prstGeom>
            <a:noFill/>
            <a:ln w="38100">
              <a:noFill/>
            </a:ln>
          </p:spPr>
        </p:pic>
        <p:grpSp>
          <p:nvGrpSpPr>
            <p:cNvPr id="32777" name="Group 6"/>
            <p:cNvGrpSpPr/>
            <p:nvPr/>
          </p:nvGrpSpPr>
          <p:grpSpPr>
            <a:xfrm>
              <a:off x="3264" y="2016"/>
              <a:ext cx="2061" cy="2470"/>
              <a:chOff x="3264" y="2016"/>
              <a:chExt cx="2061" cy="2470"/>
            </a:xfrm>
          </p:grpSpPr>
          <p:pic>
            <p:nvPicPr>
              <p:cNvPr id="32778" name="Picture 7" descr="image02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4" y="2016"/>
                <a:ext cx="2061" cy="2038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32779" name="Text Box 8"/>
              <p:cNvSpPr txBox="1"/>
              <p:nvPr/>
            </p:nvSpPr>
            <p:spPr>
              <a:xfrm>
                <a:off x="3412" y="4065"/>
                <a:ext cx="1586" cy="421"/>
              </a:xfrm>
              <a:prstGeom prst="rect">
                <a:avLst/>
              </a:prstGeom>
              <a:solidFill>
                <a:schemeClr val="bg2">
                  <a:alpha val="50195"/>
                </a:schemeClr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buSzPct val="100000"/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五万吨水压机</a:t>
                </a:r>
              </a:p>
            </p:txBody>
          </p:sp>
        </p:grpSp>
      </p:grpSp>
      <p:sp>
        <p:nvSpPr>
          <p:cNvPr id="3072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1600" y="6542088"/>
            <a:ext cx="20224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2775" name="内容占位符 1" descr="新校徽（3M）弓之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圆角矩形 7" descr="7b0a202020202262756c6c6574223a20227b5c2263617465676f727949645c223a31303032352c5c2274656d706c61746549645c223a32303233313437347d220a7d0a"/>
          <p:cNvSpPr/>
          <p:nvPr/>
        </p:nvSpPr>
        <p:spPr>
          <a:xfrm>
            <a:off x="827405" y="1917065"/>
            <a:ext cx="96774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变形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57235" y="6453505"/>
            <a:ext cx="559435" cy="33528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26</a:t>
            </a:fld>
            <a:endParaRPr lang="en-US" altLang="zh-CN" sz="1400" dirty="0"/>
          </a:p>
        </p:txBody>
      </p:sp>
      <p:sp>
        <p:nvSpPr>
          <p:cNvPr id="33795" name="Rectangle 2"/>
          <p:cNvSpPr>
            <a:spLocks noGrp="1"/>
          </p:cNvSpPr>
          <p:nvPr>
            <p:ph type="title"/>
          </p:nvPr>
        </p:nvSpPr>
        <p:spPr>
          <a:xfrm>
            <a:off x="971550" y="214630"/>
            <a:ext cx="5424805" cy="146177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应力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-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应变曲线</a:t>
            </a:r>
            <a:b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Stree-Strain curve</a:t>
            </a:r>
          </a:p>
        </p:txBody>
      </p:sp>
      <p:sp>
        <p:nvSpPr>
          <p:cNvPr id="33796" name="Text Box 5"/>
          <p:cNvSpPr txBox="1"/>
          <p:nvPr/>
        </p:nvSpPr>
        <p:spPr>
          <a:xfrm>
            <a:off x="3529013" y="2000250"/>
            <a:ext cx="492125" cy="2808288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algn="ctr" eaLnBrk="1" hangingPunct="1">
              <a:spcBef>
                <a:spcPct val="50000"/>
              </a:spcBef>
              <a:buSzPct val="100000"/>
            </a:pPr>
            <a:r>
              <a:rPr lang="zh-CN" altLang="en-US" sz="2000" b="1" dirty="0">
                <a:solidFill>
                  <a:schemeClr val="folHlink"/>
                </a:solidFill>
                <a:latin typeface="宋体" panose="02010600030101010101" pitchFamily="2" charset="-122"/>
              </a:rPr>
              <a:t>低碳钢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zh-CN" altLang="en-US" sz="2000" b="1" dirty="0">
                <a:solidFill>
                  <a:schemeClr val="folHlink"/>
                </a:solidFill>
                <a:latin typeface="宋体" panose="02010600030101010101" pitchFamily="2" charset="-122"/>
              </a:rPr>
              <a:t>应力</a:t>
            </a:r>
            <a:r>
              <a:rPr lang="en-US" altLang="zh-CN" sz="2000" b="1" dirty="0">
                <a:solidFill>
                  <a:schemeClr val="folHlink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000" b="1" dirty="0">
                <a:solidFill>
                  <a:schemeClr val="folHlink"/>
                </a:solidFill>
                <a:latin typeface="宋体" panose="02010600030101010101" pitchFamily="2" charset="-122"/>
              </a:rPr>
              <a:t>应变曲线</a:t>
            </a:r>
          </a:p>
        </p:txBody>
      </p:sp>
      <p:pic>
        <p:nvPicPr>
          <p:cNvPr id="33797" name="Picture 6" descr="拉伸曲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" y="2000250"/>
            <a:ext cx="3367087" cy="2706688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103431" name="Text Box 7"/>
          <p:cNvSpPr txBox="1"/>
          <p:nvPr/>
        </p:nvSpPr>
        <p:spPr>
          <a:xfrm>
            <a:off x="6464300" y="557213"/>
            <a:ext cx="2447925" cy="990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SzPct val="100000"/>
            </a:pP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应力</a:t>
            </a:r>
            <a:r>
              <a:rPr lang="zh-CN" altLang="en-US" sz="2800" b="1" i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800" b="1" i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/</a:t>
            </a:r>
            <a:r>
              <a:rPr lang="en-US" altLang="zh-CN" sz="2800" b="1" i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0</a:t>
            </a:r>
            <a:endParaRPr lang="en-US" altLang="zh-CN" sz="2800" b="1" dirty="0">
              <a:solidFill>
                <a:srgbClr val="800000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SzPct val="100000"/>
            </a:pP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应变</a:t>
            </a:r>
            <a:r>
              <a:rPr lang="zh-CN" altLang="en-US" sz="2800" b="1" i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</a:t>
            </a: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= (</a:t>
            </a:r>
            <a:r>
              <a:rPr lang="en-US" altLang="zh-CN" sz="2800" b="1" i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z="2800" b="1" i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sz="28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)/</a:t>
            </a:r>
            <a:r>
              <a:rPr lang="en-US" altLang="zh-CN" sz="2800" b="1" i="1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sz="28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0</a:t>
            </a:r>
            <a:endParaRPr lang="en-US" altLang="zh-CN" sz="2800" b="1" dirty="0">
              <a:solidFill>
                <a:srgbClr val="80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33799" name="Group 8"/>
          <p:cNvGrpSpPr/>
          <p:nvPr/>
        </p:nvGrpSpPr>
        <p:grpSpPr>
          <a:xfrm>
            <a:off x="6804025" y="1628775"/>
            <a:ext cx="2266950" cy="4860925"/>
            <a:chOff x="3840" y="1008"/>
            <a:chExt cx="1428" cy="3062"/>
          </a:xfrm>
        </p:grpSpPr>
        <p:pic>
          <p:nvPicPr>
            <p:cNvPr id="33807" name="Picture 9" descr="拉伸试验机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0" y="1008"/>
              <a:ext cx="1362" cy="3062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33808" name="Text Box 10"/>
            <p:cNvSpPr txBox="1"/>
            <p:nvPr/>
          </p:nvSpPr>
          <p:spPr>
            <a:xfrm>
              <a:off x="4960" y="1008"/>
              <a:ext cx="308" cy="91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SzPct val="100000"/>
              </a:pPr>
              <a:r>
                <a:rPr lang="zh-CN" altLang="en-US" sz="2000" b="1" dirty="0">
                  <a:solidFill>
                    <a:srgbClr val="3333FF"/>
                  </a:solidFill>
                  <a:latin typeface="Times New Roman" panose="02020603050405020304" pitchFamily="18" charset="0"/>
                </a:rPr>
                <a:t>拉伸试验机</a:t>
              </a:r>
            </a:p>
          </p:txBody>
        </p:sp>
      </p:grpSp>
      <p:pic>
        <p:nvPicPr>
          <p:cNvPr id="33800" name="Picture 13" descr="拉伸试样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488" y="4706938"/>
            <a:ext cx="3749675" cy="1831975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33801" name="Rectangle 14"/>
          <p:cNvSpPr>
            <a:spLocks noChangeAspect="1"/>
          </p:cNvSpPr>
          <p:nvPr/>
        </p:nvSpPr>
        <p:spPr>
          <a:xfrm>
            <a:off x="2339975" y="5381625"/>
            <a:ext cx="812800" cy="2587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 hangingPunct="1">
              <a:buSzPct val="100000"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拉伸前</a:t>
            </a:r>
          </a:p>
        </p:txBody>
      </p:sp>
      <p:sp>
        <p:nvSpPr>
          <p:cNvPr id="33802" name="Rectangle 15"/>
          <p:cNvSpPr>
            <a:spLocks noChangeAspect="1"/>
          </p:cNvSpPr>
          <p:nvPr/>
        </p:nvSpPr>
        <p:spPr>
          <a:xfrm>
            <a:off x="2339975" y="6365875"/>
            <a:ext cx="812800" cy="2587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 hangingPunct="1">
              <a:buSzPct val="100000"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断裂后</a:t>
            </a:r>
          </a:p>
        </p:txBody>
      </p:sp>
      <p:sp>
        <p:nvSpPr>
          <p:cNvPr id="33803" name="Text Box 16"/>
          <p:cNvSpPr txBox="1">
            <a:spLocks noChangeAspect="1"/>
          </p:cNvSpPr>
          <p:nvPr/>
        </p:nvSpPr>
        <p:spPr>
          <a:xfrm>
            <a:off x="827088" y="5589588"/>
            <a:ext cx="1436687" cy="39687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SzPct val="100000"/>
            </a:pPr>
            <a:r>
              <a:rPr lang="zh-CN" altLang="en-US" sz="20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拉伸试样</a:t>
            </a:r>
          </a:p>
        </p:txBody>
      </p:sp>
      <p:sp>
        <p:nvSpPr>
          <p:cNvPr id="3175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7950" y="6381750"/>
            <a:ext cx="1905000" cy="3905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3805" name="内容占位符 1" descr="《于泳泗（9）》图1-2应力-应变曲线 001"/>
          <p:cNvPicPr>
            <a:picLocks noGrp="1" noChangeAspect="1"/>
          </p:cNvPicPr>
          <p:nvPr>
            <p:ph idx="1"/>
          </p:nvPr>
        </p:nvPicPr>
        <p:blipFill>
          <a:blip r:embed="rId5"/>
          <a:srcRect/>
          <a:stretch>
            <a:fillRect/>
          </a:stretch>
        </p:blipFill>
        <p:spPr>
          <a:xfrm>
            <a:off x="4257675" y="1981200"/>
            <a:ext cx="2525713" cy="2401888"/>
          </a:xfrm>
        </p:spPr>
      </p:pic>
      <p:pic>
        <p:nvPicPr>
          <p:cNvPr id="33806" name="内容占位符 1" descr="新校徽（3M）弓之乐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32813" y="6683375"/>
            <a:ext cx="414337" cy="21272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27</a:t>
            </a:fld>
            <a:endParaRPr lang="en-US" altLang="zh-CN" sz="1400" dirty="0"/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xfrm>
            <a:off x="1350963" y="260350"/>
            <a:ext cx="6750050" cy="1393825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>
              <a:buNone/>
            </a:pP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）弹性和刚度</a:t>
            </a:r>
            <a:b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Elasticity </a:t>
            </a:r>
            <a:r>
              <a:rPr lang="en-US" altLang="zh-CN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&amp;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Stiffness</a:t>
            </a:r>
            <a:r>
              <a:rPr lang="en-US" altLang="zh-CN" b="1" i="1" u="sng" dirty="0">
                <a:solidFill>
                  <a:srgbClr val="1890FF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 </a:t>
            </a:r>
            <a:endParaRPr lang="zh-CN" altLang="en-US" b="1" i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250825" y="1984375"/>
            <a:ext cx="6637655" cy="4613275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1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弹性：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材料承受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最大弹性变形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时的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应力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eaLnBrk="1" latinLnBrk="0" hangingPunct="1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弹性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指标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</a:p>
          <a:p>
            <a:pPr eaLnBrk="1" latinLnBrk="0" hangingPunct="1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①弹性极限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e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lastic limit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：材料发生弹性变形所能承受的最大应力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。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elastic limit</a:t>
            </a:r>
          </a:p>
          <a:p>
            <a:pPr eaLnBrk="1" latinLnBrk="0" hangingPunct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alibri" panose="020F0502020204030204" charset="0"/>
                <a:ea typeface="华文中宋" panose="02010600040101010101" pitchFamily="2" charset="-122"/>
                <a:sym typeface="Symbol" panose="05050102010706020507" pitchFamily="18" charset="2"/>
              </a:rPr>
              <a:t>  </a:t>
            </a:r>
            <a:r>
              <a:rPr lang="zh-CN" altLang="en-US" sz="2800" b="1" dirty="0">
                <a:solidFill>
                  <a:srgbClr val="0000FF"/>
                </a:solidFill>
                <a:latin typeface="Calibri" panose="020F0502020204030204" charset="0"/>
                <a:ea typeface="华文中宋" panose="02010600040101010101" pitchFamily="2" charset="-122"/>
                <a:sym typeface="Symbol" panose="05050102010706020507" pitchFamily="18" charset="2"/>
              </a:rPr>
              <a:t>②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比例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极限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p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Proportional limit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：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材料在不偏离应力与应变</a:t>
            </a:r>
            <a:r>
              <a:rPr lang="zh-CN" altLang="en-US" sz="2800" b="1" dirty="0">
                <a:solidFill>
                  <a:srgbClr val="3333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正比关系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(胡克定律)条件下所能承受的最大应力。</a:t>
            </a:r>
            <a:endParaRPr lang="en-US" altLang="zh-CN" sz="2800" b="1" baseline="-25000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1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刚度：材料受力时抵抗弹性变形的能力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eaLnBrk="1" latinLnBrk="0" hangingPunct="1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指标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弹性模量</a:t>
            </a:r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</a:p>
        </p:txBody>
      </p:sp>
      <p:pic>
        <p:nvPicPr>
          <p:cNvPr id="104454" name="Picture 6" descr="拉伸曲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160" y="2205355"/>
            <a:ext cx="2275840" cy="2175510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3277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63513" y="6553200"/>
            <a:ext cx="1960563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4824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圆角矩形 7" descr="7b0a202020202262756c6c6574223a20227b5c2263617465676f727949645c223a31303032352c5c2274656d706c61746549645c223a32303233313437347d220a7d0a"/>
          <p:cNvSpPr/>
          <p:nvPr/>
        </p:nvSpPr>
        <p:spPr>
          <a:xfrm>
            <a:off x="971550" y="2997200"/>
            <a:ext cx="435673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latinLnBrk="0" hangingPunct="1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弹性极限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e</a:t>
            </a:r>
            <a:r>
              <a:rPr lang="zh-CN" altLang="en-US" sz="2800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（</a:t>
            </a:r>
            <a:r>
              <a:rPr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Elastic limit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/>
        </p:nvSpPr>
        <p:spPr>
          <a:xfrm>
            <a:off x="899795" y="4380865"/>
            <a:ext cx="535559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latinLnBrk="0" hangingPunct="1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比例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极限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p</a:t>
            </a:r>
            <a:r>
              <a:rPr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（Proportional limit）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50263" y="6583363"/>
            <a:ext cx="493712" cy="277812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28</a:t>
            </a:fld>
            <a:endParaRPr lang="en-US" altLang="zh-CN" sz="1400" dirty="0"/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xfrm>
            <a:off x="1403350" y="214313"/>
            <a:ext cx="7540625" cy="1462087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弹性和刚度</a:t>
            </a:r>
            <a:r>
              <a:rPr lang="en-US" altLang="zh-CN" b="1" dirty="0">
                <a:latin typeface="Arial" panose="020B0604020202020204" pitchFamily="34" charset="0"/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说明</a:t>
            </a:r>
          </a:p>
        </p:txBody>
      </p:sp>
      <p:sp>
        <p:nvSpPr>
          <p:cNvPr id="33796" name="Rectangle 3"/>
          <p:cNvSpPr>
            <a:spLocks noGrp="1"/>
          </p:cNvSpPr>
          <p:nvPr>
            <p:ph idx="1"/>
          </p:nvPr>
        </p:nvSpPr>
        <p:spPr>
          <a:xfrm>
            <a:off x="539750" y="2017713"/>
            <a:ext cx="8064500" cy="4291012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弹性模量</a:t>
            </a:r>
            <a:r>
              <a:rPr lang="zh-CN" altLang="en-US" b="1" dirty="0">
                <a:solidFill>
                  <a:srgbClr val="0033CC"/>
                </a:solidFill>
              </a:rPr>
              <a:t>（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Elastic Modulus</a:t>
            </a:r>
            <a:r>
              <a:rPr lang="en-US" altLang="zh-CN" b="1" dirty="0">
                <a:solidFill>
                  <a:srgbClr val="0033CC"/>
                </a:solidFill>
              </a:rPr>
              <a:t>)</a:t>
            </a:r>
            <a:r>
              <a:rPr lang="zh-CN" altLang="en-US" b="1" dirty="0"/>
              <a:t>是</a:t>
            </a:r>
            <a:r>
              <a:rPr lang="zh-CN" altLang="en-US" b="1" dirty="0">
                <a:solidFill>
                  <a:srgbClr val="0033CC"/>
                </a:solidFill>
              </a:rPr>
              <a:t>材料</a:t>
            </a:r>
            <a:r>
              <a:rPr lang="zh-CN" altLang="en-US" b="1" dirty="0">
                <a:solidFill>
                  <a:srgbClr val="0000FF"/>
                </a:solidFill>
              </a:rPr>
              <a:t>最稳定</a:t>
            </a:r>
            <a:r>
              <a:rPr lang="zh-CN" altLang="en-US" b="1" dirty="0">
                <a:solidFill>
                  <a:srgbClr val="0033CC"/>
                </a:solidFill>
              </a:rPr>
              <a:t>的性能之一，其</a:t>
            </a:r>
            <a:r>
              <a:rPr lang="zh-CN" altLang="en-US" b="1" dirty="0">
                <a:solidFill>
                  <a:srgbClr val="800000"/>
                </a:solidFill>
              </a:rPr>
              <a:t>大小主要取决于</a:t>
            </a:r>
            <a:r>
              <a:rPr lang="zh-CN" altLang="en-US" b="1" dirty="0">
                <a:solidFill>
                  <a:srgbClr val="0033CC"/>
                </a:solidFill>
              </a:rPr>
              <a:t>材料的本性</a:t>
            </a:r>
            <a:r>
              <a:rPr lang="zh-CN" altLang="en-US" b="1" dirty="0">
                <a:solidFill>
                  <a:srgbClr val="800000"/>
                </a:solidFill>
              </a:rPr>
              <a:t>，除</a:t>
            </a:r>
            <a:r>
              <a:rPr lang="zh-CN" altLang="en-US" b="1" dirty="0">
                <a:solidFill>
                  <a:srgbClr val="0000FF"/>
                </a:solidFill>
              </a:rPr>
              <a:t>随温度升高</a:t>
            </a:r>
            <a:r>
              <a:rPr lang="zh-CN" altLang="en-US" b="1" dirty="0">
                <a:solidFill>
                  <a:srgbClr val="800000"/>
                </a:solidFill>
              </a:rPr>
              <a:t>而</a:t>
            </a:r>
            <a:r>
              <a:rPr lang="zh-CN" altLang="en-US" b="1" dirty="0">
                <a:solidFill>
                  <a:srgbClr val="0000FF"/>
                </a:solidFill>
              </a:rPr>
              <a:t>逐渐降低</a:t>
            </a:r>
            <a:r>
              <a:rPr lang="zh-CN" altLang="en-US" b="1" dirty="0">
                <a:solidFill>
                  <a:srgbClr val="800000"/>
                </a:solidFill>
              </a:rPr>
              <a:t>外，其他强化材料的手段如</a:t>
            </a:r>
            <a:r>
              <a:rPr lang="zh-CN" altLang="en-US" b="1" dirty="0">
                <a:solidFill>
                  <a:srgbClr val="FF0000"/>
                </a:solidFill>
              </a:rPr>
              <a:t>热处理、冷热加工、合金化等</a:t>
            </a:r>
            <a:r>
              <a:rPr lang="zh-CN" altLang="en-US" b="1" dirty="0">
                <a:solidFill>
                  <a:srgbClr val="0033CC"/>
                </a:solidFill>
              </a:rPr>
              <a:t>对弹性模量的</a:t>
            </a:r>
            <a:r>
              <a:rPr lang="zh-CN" altLang="en-US" b="1" dirty="0">
                <a:solidFill>
                  <a:srgbClr val="0000FF"/>
                </a:solidFill>
              </a:rPr>
              <a:t>影响很小</a:t>
            </a:r>
            <a:r>
              <a:rPr lang="zh-CN" altLang="en-US" b="1" dirty="0">
                <a:solidFill>
                  <a:srgbClr val="800000"/>
                </a:solidFill>
              </a:rPr>
              <a:t>。</a:t>
            </a:r>
          </a:p>
          <a:p>
            <a:pPr eaLnBrk="1" hangingPunct="1">
              <a:buNone/>
            </a:pPr>
            <a:endParaRPr lang="zh-CN" altLang="en-US" b="1" dirty="0">
              <a:solidFill>
                <a:srgbClr val="800000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800000"/>
                </a:solidFill>
              </a:rPr>
              <a:t>提高零件的刚度的途径：</a:t>
            </a:r>
            <a:r>
              <a:rPr lang="zh-CN" altLang="en-US" b="1" dirty="0">
                <a:solidFill>
                  <a:srgbClr val="0000FF"/>
                </a:solidFill>
              </a:rPr>
              <a:t>增加横截面积</a:t>
            </a:r>
            <a:r>
              <a:rPr lang="zh-CN" altLang="en-US" b="1" dirty="0">
                <a:solidFill>
                  <a:srgbClr val="800000"/>
                </a:solidFill>
              </a:rPr>
              <a:t>、</a:t>
            </a:r>
            <a:r>
              <a:rPr lang="zh-CN" altLang="en-US" b="1" dirty="0">
                <a:solidFill>
                  <a:srgbClr val="0000FF"/>
                </a:solidFill>
              </a:rPr>
              <a:t>改变截面形状</a:t>
            </a:r>
            <a:r>
              <a:rPr lang="en-US" altLang="zh-CN" b="1" dirty="0">
                <a:solidFill>
                  <a:srgbClr val="0033CC"/>
                </a:solidFill>
              </a:rPr>
              <a:t>…</a:t>
            </a:r>
            <a:endParaRPr lang="zh-CN" altLang="en-US" b="1" dirty="0">
              <a:solidFill>
                <a:srgbClr val="800000"/>
              </a:solidFill>
            </a:endParaRPr>
          </a:p>
        </p:txBody>
      </p:sp>
      <p:sp>
        <p:nvSpPr>
          <p:cNvPr id="3379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50025"/>
            <a:ext cx="205105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5846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0750" y="6535738"/>
            <a:ext cx="403225" cy="3063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29</a:t>
            </a:fld>
            <a:endParaRPr lang="en-US" altLang="zh-CN" sz="1400" dirty="0"/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1151255" y="214630"/>
            <a:ext cx="7396480" cy="146177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）强度</a:t>
            </a:r>
            <a:r>
              <a:rPr lang="zh-CN" altLang="en-US" b="1" dirty="0">
                <a:ea typeface="华文中宋" panose="02010600040101010101" pitchFamily="2" charset="-122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塑性</a:t>
            </a:r>
            <a:b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Strength </a:t>
            </a:r>
            <a:r>
              <a:rPr lang="en-US" altLang="zh-CN" b="1" i="1" dirty="0">
                <a:ea typeface="华文中宋" panose="02010600040101010101" pitchFamily="2" charset="-122"/>
              </a:rPr>
              <a:t>&amp;</a:t>
            </a:r>
            <a:r>
              <a:rPr lang="en-US" altLang="zh-CN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 Ductility</a:t>
            </a:r>
            <a:endParaRPr lang="zh-CN" altLang="en-US" b="1" i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39688" y="1909763"/>
            <a:ext cx="8961437" cy="47339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强度</a:t>
            </a:r>
            <a:r>
              <a:rPr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材料</a:t>
            </a:r>
            <a:r>
              <a:rPr lang="zh-CN" altLang="en-US" sz="24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抵抗</a:t>
            </a:r>
            <a:r>
              <a:rPr lang="zh-CN" altLang="en-US" sz="2400" b="1" dirty="0">
                <a:ea typeface="华文中宋" panose="02010600040101010101" pitchFamily="2" charset="-122"/>
              </a:rPr>
              <a:t>在</a:t>
            </a:r>
            <a:r>
              <a:rPr lang="zh-CN" altLang="en-US" sz="24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外力作用</a:t>
            </a:r>
            <a:r>
              <a:rPr lang="zh-CN" altLang="en-US" sz="2400" b="1" dirty="0">
                <a:ea typeface="华文中宋" panose="02010600040101010101" pitchFamily="2" charset="-122"/>
              </a:rPr>
              <a:t>下的</a:t>
            </a:r>
            <a:r>
              <a:rPr lang="zh-CN" altLang="en-US" sz="24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变形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和</a:t>
            </a:r>
            <a:r>
              <a:rPr lang="zh-CN" altLang="en-US" sz="24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破坏</a:t>
            </a:r>
            <a:r>
              <a:rPr lang="zh-CN" altLang="en-US" sz="2400" b="1" dirty="0">
                <a:ea typeface="华文中宋" panose="02010600040101010101" pitchFamily="2" charset="-122"/>
              </a:rPr>
              <a:t>的能力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sz="24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拉、压、弯、剪、扭</a:t>
            </a:r>
            <a:endParaRPr lang="zh-CN" altLang="en-US" sz="24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屈服强度（</a:t>
            </a:r>
            <a:r>
              <a:rPr lang="en-US" altLang="zh-CN" sz="2400" dirty="0"/>
              <a:t> </a:t>
            </a:r>
            <a:r>
              <a:rPr lang="en-US" altLang="zh-CN" sz="2400" b="1" i="1" dirty="0">
                <a:solidFill>
                  <a:srgbClr val="0000FF"/>
                </a:solidFill>
              </a:rPr>
              <a:t>Yield strength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sz="2400" b="1" dirty="0">
                <a:ea typeface="华文中宋" panose="02010600040101010101" pitchFamily="2" charset="-122"/>
                <a:sym typeface="Symbol" panose="05050102010706020507" pitchFamily="18" charset="2"/>
              </a:rPr>
              <a:t>：材料发生</a:t>
            </a: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微量</a:t>
            </a:r>
            <a:r>
              <a:rPr lang="zh-CN" altLang="en-US" sz="24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塑性变形</a:t>
            </a:r>
            <a:r>
              <a:rPr lang="zh-CN" altLang="en-US" sz="2400" b="1" dirty="0">
                <a:ea typeface="华文中宋" panose="02010600040101010101" pitchFamily="2" charset="-122"/>
                <a:sym typeface="Symbol" panose="05050102010706020507" pitchFamily="18" charset="2"/>
              </a:rPr>
              <a:t>时的</a:t>
            </a:r>
            <a:r>
              <a:rPr lang="zh-CN" altLang="en-US" sz="2400" b="1" kern="12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应力值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条件屈服强度</a:t>
            </a:r>
            <a:r>
              <a:rPr lang="zh-CN" altLang="en-US" sz="2400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0.2</a:t>
            </a:r>
            <a:r>
              <a:rPr lang="zh-CN" altLang="en-US" sz="2400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：</a:t>
            </a:r>
            <a:r>
              <a:rPr lang="zh-CN" altLang="en-US" sz="2400" b="1" dirty="0">
                <a:solidFill>
                  <a:schemeClr val="folHlink"/>
                </a:solidFill>
                <a:sym typeface="Symbol" panose="05050102010706020507" pitchFamily="18" charset="2"/>
              </a:rPr>
              <a:t>残余变形量</a:t>
            </a:r>
            <a:r>
              <a:rPr lang="zh-CN" altLang="en-US" sz="2400" b="1" dirty="0">
                <a:ea typeface="华文中宋" panose="02010600040101010101" pitchFamily="2" charset="-122"/>
                <a:sym typeface="Symbol" panose="05050102010706020507" pitchFamily="18" charset="2"/>
              </a:rPr>
              <a:t>为</a:t>
            </a:r>
            <a:r>
              <a:rPr lang="en-US" altLang="zh-CN" sz="2400" b="1" dirty="0">
                <a:solidFill>
                  <a:schemeClr val="folHlink"/>
                </a:solidFill>
                <a:sym typeface="Symbol" panose="05050102010706020507" pitchFamily="18" charset="2"/>
              </a:rPr>
              <a:t>0.2%</a:t>
            </a:r>
            <a:r>
              <a:rPr lang="zh-CN" altLang="en-US" sz="2400" b="1" dirty="0">
                <a:solidFill>
                  <a:schemeClr val="folHlink"/>
                </a:solidFill>
                <a:sym typeface="Symbol" panose="05050102010706020507" pitchFamily="18" charset="2"/>
              </a:rPr>
              <a:t>时的应力值。（</a:t>
            </a:r>
            <a:r>
              <a:rPr lang="en-US" altLang="zh-CN" sz="2400" b="1" dirty="0">
                <a:solidFill>
                  <a:schemeClr val="folHlink"/>
                </a:solidFill>
                <a:sym typeface="Symbol" panose="05050102010706020507" pitchFamily="18" charset="2"/>
              </a:rPr>
              <a:t>R</a:t>
            </a:r>
            <a:r>
              <a:rPr lang="en-US" altLang="zh-CN" sz="2400" b="1" baseline="-25000" dirty="0">
                <a:solidFill>
                  <a:schemeClr val="folHlink"/>
                </a:solidFill>
                <a:sym typeface="Symbol" panose="05050102010706020507" pitchFamily="18" charset="2"/>
              </a:rPr>
              <a:t>P0.2</a:t>
            </a:r>
            <a:r>
              <a:rPr lang="zh-CN" altLang="en-US" sz="2400" b="1" dirty="0">
                <a:solidFill>
                  <a:schemeClr val="folHlink"/>
                </a:solidFill>
                <a:sym typeface="Symbol" panose="05050102010706020507" pitchFamily="18" charset="2"/>
              </a:rPr>
              <a:t>） </a:t>
            </a:r>
            <a:r>
              <a:rPr lang="zh-CN" altLang="en-US" sz="2400" b="1" dirty="0">
                <a:solidFill>
                  <a:schemeClr val="folHlink"/>
                </a:solidFill>
              </a:rPr>
              <a:t>（</a:t>
            </a:r>
            <a:r>
              <a:rPr lang="en-US" altLang="zh-CN" sz="2400" b="1" dirty="0">
                <a:solidFill>
                  <a:schemeClr val="folHlink"/>
                </a:solidFill>
              </a:rPr>
              <a:t>GB/T228-2002</a:t>
            </a:r>
            <a:r>
              <a:rPr lang="zh-CN" altLang="en-US" sz="2400" b="1" dirty="0">
                <a:solidFill>
                  <a:schemeClr val="folHlink"/>
                </a:solidFill>
              </a:rPr>
              <a:t>；</a:t>
            </a:r>
            <a:r>
              <a:rPr lang="en-US" altLang="zh-CN" sz="2400" b="1" dirty="0">
                <a:solidFill>
                  <a:srgbClr val="FF0000"/>
                </a:solidFill>
              </a:rPr>
              <a:t>GB/T228.1-2021 </a:t>
            </a:r>
            <a:r>
              <a:rPr lang="zh-CN" altLang="en-US" sz="2400" b="1" dirty="0">
                <a:solidFill>
                  <a:schemeClr val="folHlink"/>
                </a:solidFill>
              </a:rPr>
              <a:t>金属材料拉伸试验 第</a:t>
            </a:r>
            <a:r>
              <a:rPr lang="en-US" altLang="zh-CN" sz="2400" b="1" dirty="0">
                <a:solidFill>
                  <a:schemeClr val="folHlink"/>
                </a:solidFill>
              </a:rPr>
              <a:t>1</a:t>
            </a:r>
            <a:r>
              <a:rPr lang="zh-CN" altLang="en-US" sz="2400" b="1" dirty="0">
                <a:solidFill>
                  <a:schemeClr val="folHlink"/>
                </a:solidFill>
              </a:rPr>
              <a:t>部分 室温试验方法）（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Yield Strength</a:t>
            </a:r>
            <a:r>
              <a:rPr lang="zh-CN" altLang="en-US" sz="2400" b="1" dirty="0">
                <a:solidFill>
                  <a:schemeClr val="folHlink"/>
                </a:solidFill>
              </a:rPr>
              <a:t>）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抗拉强度（</a:t>
            </a:r>
            <a:r>
              <a:rPr lang="en-US" altLang="zh-CN" dirty="0"/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Tensile strength</a:t>
            </a:r>
            <a:r>
              <a:rPr lang="en-US" altLang="zh-CN" sz="2800" b="1" dirty="0">
                <a:solidFill>
                  <a:srgbClr val="0000FF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sz="2400" b="1" dirty="0">
                <a:ea typeface="华文中宋" panose="02010600040101010101" pitchFamily="2" charset="-122"/>
              </a:rPr>
              <a:t>：</a:t>
            </a:r>
            <a:r>
              <a:rPr lang="zh-CN" altLang="en-US" sz="2400" b="1" dirty="0">
                <a:solidFill>
                  <a:schemeClr val="folHlink"/>
                </a:solidFill>
              </a:rPr>
              <a:t>材料被</a:t>
            </a: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拉断前</a:t>
            </a:r>
            <a:r>
              <a:rPr lang="zh-CN" altLang="en-US" sz="2400" b="1" dirty="0">
                <a:solidFill>
                  <a:schemeClr val="folHlink"/>
                </a:solidFill>
              </a:rPr>
              <a:t>所能承受的</a:t>
            </a: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最大应力值</a:t>
            </a:r>
            <a:r>
              <a:rPr lang="zh-CN" altLang="en-US" sz="2400" b="1" dirty="0">
                <a:solidFill>
                  <a:schemeClr val="folHlink"/>
                </a:solidFill>
              </a:rPr>
              <a:t>。</a:t>
            </a:r>
            <a:r>
              <a:rPr lang="en-US" altLang="zh-CN" sz="2400" b="1" dirty="0">
                <a:solidFill>
                  <a:schemeClr val="folHlink"/>
                </a:solidFill>
              </a:rPr>
              <a:t>R</a:t>
            </a:r>
            <a:r>
              <a:rPr lang="en-US" altLang="zh-CN" sz="2400" b="1" baseline="-25000" dirty="0">
                <a:solidFill>
                  <a:schemeClr val="folHlink"/>
                </a:solidFill>
              </a:rPr>
              <a:t>m</a:t>
            </a:r>
            <a:r>
              <a:rPr lang="zh-CN" altLang="en-US" sz="2400" b="1" dirty="0">
                <a:solidFill>
                  <a:schemeClr val="folHlink"/>
                </a:solidFill>
              </a:rPr>
              <a:t>（</a:t>
            </a:r>
            <a:r>
              <a:rPr lang="en-US" altLang="zh-CN" sz="2400" b="1" dirty="0">
                <a:solidFill>
                  <a:schemeClr val="folHlink"/>
                </a:solidFill>
              </a:rPr>
              <a:t>GB/T228-2002</a:t>
            </a:r>
            <a:r>
              <a:rPr lang="zh-CN" altLang="en-US" sz="2400" b="1" dirty="0">
                <a:solidFill>
                  <a:schemeClr val="folHlink"/>
                </a:solidFill>
              </a:rPr>
              <a:t>）（</a:t>
            </a:r>
            <a:r>
              <a:rPr lang="en-US" altLang="zh-CN" sz="2400" b="1" dirty="0">
                <a:solidFill>
                  <a:srgbClr val="FF0000"/>
                </a:solidFill>
              </a:rPr>
              <a:t>Tensile Strength</a:t>
            </a:r>
            <a:r>
              <a:rPr lang="zh-CN" altLang="en-US" sz="2400" b="1" dirty="0">
                <a:solidFill>
                  <a:schemeClr val="folHlink"/>
                </a:solidFill>
              </a:rPr>
              <a:t>）</a:t>
            </a:r>
            <a:endParaRPr lang="en-US" altLang="zh-CN" sz="2400" b="1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屈强比（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tensile ratio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sz="2400" b="1" dirty="0">
                <a:solidFill>
                  <a:srgbClr val="FF0000"/>
                </a:solidFill>
                <a:hlinkClick r:id="rId2"/>
              </a:rPr>
              <a:t>屈服强度</a:t>
            </a:r>
            <a:r>
              <a:rPr lang="en-US" altLang="zh-CN" sz="2400" dirty="0"/>
              <a:t>/</a:t>
            </a:r>
            <a:r>
              <a:rPr lang="zh-CN" altLang="en-US" sz="2400" dirty="0"/>
              <a:t>抗拉强度</a:t>
            </a:r>
            <a:endParaRPr lang="zh-CN" altLang="en-US" sz="2400" b="1" dirty="0">
              <a:ea typeface="华文中宋" panose="02010600040101010101" pitchFamily="2" charset="-122"/>
            </a:endParaRPr>
          </a:p>
        </p:txBody>
      </p:sp>
      <p:sp>
        <p:nvSpPr>
          <p:cNvPr id="3482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597333"/>
            <a:ext cx="1981200" cy="2365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6870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圆角矩形 7" descr="7b0a202020202262756c6c6574223a20227b5c2263617465676f727949645c223a31303032352c5c2274656d706c61746549645c223a32303233313437347d220a7d0a"/>
          <p:cNvSpPr/>
          <p:nvPr/>
        </p:nvSpPr>
        <p:spPr>
          <a:xfrm>
            <a:off x="285115" y="1988820"/>
            <a:ext cx="86614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强度</a:t>
            </a:r>
            <a:endParaRPr lang="zh-CN" altLang="en-US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/>
        </p:nvSpPr>
        <p:spPr>
          <a:xfrm>
            <a:off x="395605" y="2948940"/>
            <a:ext cx="147891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屈服强度</a:t>
            </a:r>
            <a:endParaRPr lang="zh-CN" altLang="en-US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/>
        </p:nvSpPr>
        <p:spPr>
          <a:xfrm>
            <a:off x="323850" y="3850640"/>
            <a:ext cx="2461895" cy="41846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条件屈服强度</a:t>
            </a:r>
            <a:r>
              <a:rPr lang="zh-CN" altLang="en-US" sz="2000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000" b="1" baseline="-25000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0.2</a:t>
            </a:r>
            <a:endParaRPr lang="zh-CN" altLang="en-US" sz="20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圆角矩形 3" descr="7b0a202020202262756c6c6574223a20227b5c2263617465676f727949645c223a31303032352c5c2274656d706c61746549645c223a32303233313437347d220a7d0a"/>
          <p:cNvSpPr/>
          <p:nvPr/>
        </p:nvSpPr>
        <p:spPr>
          <a:xfrm>
            <a:off x="323850" y="5013325"/>
            <a:ext cx="1478915" cy="44831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抗拉强度</a:t>
            </a:r>
            <a:endParaRPr lang="zh-CN" altLang="en-US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33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20">
                                            <p:txEl>
                                              <p:charRg st="33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20">
                                            <p:txEl>
                                              <p:charRg st="33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20">
                                            <p:txEl>
                                              <p:charRg st="33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75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820">
                                            <p:txEl>
                                              <p:charRg st="75" end="1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820">
                                            <p:txEl>
                                              <p:charRg st="75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820">
                                            <p:txEl>
                                              <p:charRg st="75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177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4820">
                                            <p:txEl>
                                              <p:charRg st="177" end="2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820">
                                            <p:txEl>
                                              <p:charRg st="177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820">
                                            <p:txEl>
                                              <p:charRg st="177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256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4820">
                                            <p:txEl>
                                              <p:charRg st="256" end="2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820">
                                            <p:txEl>
                                              <p:charRg st="256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820">
                                            <p:txEl>
                                              <p:charRg st="256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13763" y="6557963"/>
            <a:ext cx="441325" cy="277812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30</a:t>
            </a:fld>
            <a:endParaRPr lang="en-US" altLang="zh-CN" sz="1400" dirty="0"/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xfrm>
            <a:off x="1452563" y="123825"/>
            <a:ext cx="6896100" cy="15113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条件屈服强度的确定</a:t>
            </a:r>
            <a:b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（规定残余延伸强度）</a:t>
            </a:r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规定残余延伸强度</a:t>
            </a:r>
            <a:endParaRPr lang="zh-CN" altLang="zh-CN" dirty="0"/>
          </a:p>
        </p:txBody>
      </p:sp>
      <p:sp>
        <p:nvSpPr>
          <p:cNvPr id="37893" name="Rectangle 7"/>
          <p:cNvSpPr/>
          <p:nvPr/>
        </p:nvSpPr>
        <p:spPr>
          <a:xfrm>
            <a:off x="4643438" y="5300663"/>
            <a:ext cx="269875" cy="3460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>
              <a:buSzPct val="100000"/>
            </a:pPr>
            <a:r>
              <a:rPr lang="en-US" altLang="zh-CN" sz="1600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1600" baseline="-25000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0.2</a:t>
            </a:r>
          </a:p>
        </p:txBody>
      </p:sp>
      <p:sp>
        <p:nvSpPr>
          <p:cNvPr id="37894" name="Rectangle 9"/>
          <p:cNvSpPr/>
          <p:nvPr/>
        </p:nvSpPr>
        <p:spPr>
          <a:xfrm rot="-5429842">
            <a:off x="4533900" y="6138863"/>
            <a:ext cx="500063" cy="1619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>
              <a:buSzPct val="100000"/>
            </a:pPr>
            <a:r>
              <a:rPr lang="en-US" altLang="zh-CN" sz="1600" i="1" dirty="0">
                <a:solidFill>
                  <a:schemeClr val="bg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endParaRPr lang="en-US" altLang="zh-CN" sz="1600" i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7895" name="Picture 10" descr="拉伸曲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13" y="1773238"/>
            <a:ext cx="5472112" cy="4814887"/>
          </a:xfrm>
          <a:prstGeom prst="rect">
            <a:avLst/>
          </a:prstGeom>
          <a:noFill/>
          <a:ln w="28575">
            <a:noFill/>
          </a:ln>
        </p:spPr>
      </p:pic>
      <p:pic>
        <p:nvPicPr>
          <p:cNvPr id="37896" name="Picture 11" descr="《于、齐》fi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613" y="1758950"/>
            <a:ext cx="3967162" cy="4221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5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22238" y="6557963"/>
            <a:ext cx="200183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7898" name="内容占位符 1" descr="新校徽（3M）弓之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3" y="0"/>
            <a:ext cx="746125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39150" y="6591300"/>
            <a:ext cx="504825" cy="29845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31</a:t>
            </a:fld>
            <a:endParaRPr lang="en-US" altLang="zh-CN" sz="1400" dirty="0"/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强度</a:t>
            </a:r>
            <a:r>
              <a:rPr lang="zh-CN" altLang="en-US" b="1" dirty="0">
                <a:ea typeface="华文中宋" panose="02010600040101010101" pitchFamily="2" charset="-122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塑性</a:t>
            </a:r>
            <a:b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Strength </a:t>
            </a:r>
            <a:r>
              <a:rPr lang="en-US" altLang="zh-CN" b="1" i="1" dirty="0">
                <a:ea typeface="华文中宋" panose="02010600040101010101" pitchFamily="2" charset="-122"/>
              </a:rPr>
              <a:t>&amp;</a:t>
            </a:r>
            <a:r>
              <a:rPr lang="en-US" altLang="zh-CN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 Ductility</a:t>
            </a:r>
            <a:endParaRPr lang="zh-CN" altLang="en-US" b="1" i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idx="1"/>
          </p:nvPr>
        </p:nvSpPr>
        <p:spPr>
          <a:xfrm>
            <a:off x="133350" y="2017713"/>
            <a:ext cx="8821738" cy="4525962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塑性：</a:t>
            </a:r>
            <a:r>
              <a:rPr lang="zh-CN" altLang="en-US" b="1" dirty="0">
                <a:ea typeface="华文中宋" panose="02010600040101010101" pitchFamily="2" charset="-122"/>
              </a:rPr>
              <a:t>材料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受力破坏前</a:t>
            </a:r>
            <a:r>
              <a:rPr lang="zh-CN" altLang="en-US" b="1" dirty="0">
                <a:ea typeface="华文中宋" panose="02010600040101010101" pitchFamily="2" charset="-122"/>
              </a:rPr>
              <a:t>可承受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最大塑性变形</a:t>
            </a:r>
            <a:r>
              <a:rPr lang="zh-CN" altLang="en-US" b="1" dirty="0">
                <a:ea typeface="华文中宋" panose="02010600040101010101" pitchFamily="2" charset="-122"/>
              </a:rPr>
              <a:t>的能力。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指标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en-US" altLang="zh-CN" b="1" dirty="0">
                <a:solidFill>
                  <a:srgbClr val="CCECFF"/>
                </a:solidFill>
                <a:ea typeface="华文中宋" panose="02010600040101010101" pitchFamily="2" charset="-122"/>
              </a:rPr>
              <a:t>:</a:t>
            </a:r>
            <a:endParaRPr lang="zh-CN" altLang="en-US" b="1" dirty="0">
              <a:solidFill>
                <a:srgbClr val="CCECFF"/>
              </a:solidFill>
              <a:ea typeface="华文中宋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None/>
            </a:pPr>
            <a:r>
              <a:rPr lang="zh-CN" altLang="en-US" b="1" dirty="0">
                <a:solidFill>
                  <a:srgbClr val="0033CC"/>
                </a:solidFill>
              </a:rPr>
              <a:t>（</a:t>
            </a:r>
            <a:r>
              <a:rPr lang="en-US" altLang="zh-CN" b="1" dirty="0">
                <a:solidFill>
                  <a:srgbClr val="0033CC"/>
                </a:solidFill>
              </a:rPr>
              <a:t>1</a:t>
            </a:r>
            <a:r>
              <a:rPr lang="zh-CN" altLang="en-US" b="1" dirty="0">
                <a:solidFill>
                  <a:srgbClr val="0033CC"/>
                </a:solidFill>
              </a:rPr>
              <a:t>）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断后伸长率 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（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b="1" dirty="0">
                <a:solidFill>
                  <a:srgbClr val="0033CC"/>
                </a:solidFill>
              </a:rPr>
              <a:t>：</a:t>
            </a:r>
          </a:p>
          <a:p>
            <a:pPr eaLnBrk="1" hangingPunct="1">
              <a:spcBef>
                <a:spcPct val="50000"/>
              </a:spcBef>
              <a:buClrTx/>
              <a:buNone/>
            </a:pPr>
            <a:r>
              <a:rPr lang="zh-CN" altLang="en-US" b="1" dirty="0">
                <a:solidFill>
                  <a:srgbClr val="0033CC"/>
                </a:solidFill>
              </a:rPr>
              <a:t>（</a:t>
            </a:r>
            <a:r>
              <a:rPr lang="en-US" altLang="zh-CN" b="1" dirty="0">
                <a:solidFill>
                  <a:srgbClr val="0033CC"/>
                </a:solidFill>
              </a:rPr>
              <a:t>2</a:t>
            </a:r>
            <a:r>
              <a:rPr lang="zh-CN" altLang="en-US" b="1" dirty="0">
                <a:solidFill>
                  <a:srgbClr val="0033CC"/>
                </a:solidFill>
              </a:rPr>
              <a:t>）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断面收缩率 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（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Z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b="1" dirty="0">
                <a:solidFill>
                  <a:srgbClr val="0033CC"/>
                </a:solidFill>
              </a:rPr>
              <a:t>：</a:t>
            </a:r>
          </a:p>
          <a:p>
            <a:pPr eaLnBrk="1" hangingPunct="1"/>
            <a:endParaRPr lang="zh-CN" altLang="en-US" b="1" dirty="0">
              <a:solidFill>
                <a:srgbClr val="CCECFF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sz="2000" b="1" dirty="0">
              <a:solidFill>
                <a:srgbClr val="CCECFF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sz="2000" b="1" dirty="0">
              <a:solidFill>
                <a:srgbClr val="CCECFF"/>
              </a:solidFill>
              <a:ea typeface="华文中宋" panose="02010600040101010101" pitchFamily="2" charset="-122"/>
            </a:endParaRPr>
          </a:p>
        </p:txBody>
      </p:sp>
      <p:sp>
        <p:nvSpPr>
          <p:cNvPr id="38917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>
              <a:buSzPct val="100000"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38918" name="Rectangle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>
              <a:buSzPct val="100000"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38919" name="Rectangle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>
              <a:buSzPct val="100000"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pic>
        <p:nvPicPr>
          <p:cNvPr id="38920" name="Picture 13" descr="拉伸试样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4452938"/>
            <a:ext cx="4214813" cy="2162175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38921" name="Rectangle 14"/>
          <p:cNvSpPr/>
          <p:nvPr/>
        </p:nvSpPr>
        <p:spPr>
          <a:xfrm>
            <a:off x="933450" y="5381625"/>
            <a:ext cx="914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 hangingPunct="1">
              <a:buSzPct val="100000"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拉伸前</a:t>
            </a:r>
          </a:p>
        </p:txBody>
      </p:sp>
      <p:sp>
        <p:nvSpPr>
          <p:cNvPr id="38922" name="Rectangle 15"/>
          <p:cNvSpPr/>
          <p:nvPr/>
        </p:nvSpPr>
        <p:spPr>
          <a:xfrm>
            <a:off x="933450" y="6543675"/>
            <a:ext cx="9144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 hangingPunct="1">
              <a:buSzPct val="100000"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断裂后</a:t>
            </a:r>
          </a:p>
        </p:txBody>
      </p:sp>
      <p:grpSp>
        <p:nvGrpSpPr>
          <p:cNvPr id="2" name="Group 16"/>
          <p:cNvGrpSpPr/>
          <p:nvPr/>
        </p:nvGrpSpPr>
        <p:grpSpPr>
          <a:xfrm>
            <a:off x="6746875" y="3067050"/>
            <a:ext cx="1962150" cy="3241675"/>
            <a:chOff x="4032" y="480"/>
            <a:chExt cx="1236" cy="2042"/>
          </a:xfrm>
        </p:grpSpPr>
        <p:pic>
          <p:nvPicPr>
            <p:cNvPr id="38928" name="Picture 17" descr="拉伸试样颈缩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32" y="480"/>
              <a:ext cx="1229" cy="2042"/>
            </a:xfrm>
            <a:prstGeom prst="rect">
              <a:avLst/>
            </a:prstGeom>
            <a:noFill/>
            <a:ln w="28575">
              <a:noFill/>
            </a:ln>
          </p:spPr>
        </p:pic>
        <p:sp>
          <p:nvSpPr>
            <p:cNvPr id="38929" name="Text Box 18"/>
            <p:cNvSpPr txBox="1"/>
            <p:nvPr/>
          </p:nvSpPr>
          <p:spPr>
            <a:xfrm>
              <a:off x="4960" y="672"/>
              <a:ext cx="308" cy="15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SzPct val="100000"/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</a:rPr>
                <a:t>拉伸试样的颈缩现象</a:t>
              </a:r>
            </a:p>
          </p:txBody>
        </p:sp>
      </p:grpSp>
      <p:sp>
        <p:nvSpPr>
          <p:cNvPr id="3688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1763" y="6505575"/>
            <a:ext cx="1992313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925" name="文本框 3"/>
          <p:cNvSpPr txBox="1"/>
          <p:nvPr/>
        </p:nvSpPr>
        <p:spPr>
          <a:xfrm>
            <a:off x="247650" y="4687888"/>
            <a:ext cx="10382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Tahoma" panose="020B0604030504040204" pitchFamily="34" charset="0"/>
              </a:rPr>
              <a:t>拉伸前</a:t>
            </a:r>
          </a:p>
        </p:txBody>
      </p:sp>
      <p:sp>
        <p:nvSpPr>
          <p:cNvPr id="38926" name="文本框 4"/>
          <p:cNvSpPr txBox="1"/>
          <p:nvPr/>
        </p:nvSpPr>
        <p:spPr>
          <a:xfrm>
            <a:off x="247650" y="5764213"/>
            <a:ext cx="10382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Tahoma" panose="020B0604030504040204" pitchFamily="34" charset="0"/>
              </a:rPr>
              <a:t>拉断后</a:t>
            </a:r>
          </a:p>
        </p:txBody>
      </p:sp>
      <p:pic>
        <p:nvPicPr>
          <p:cNvPr id="38927" name="内容占位符 1" descr="新校徽（3M）弓之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78825" y="6586538"/>
            <a:ext cx="622300" cy="309562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32</a:t>
            </a:fld>
            <a:endParaRPr lang="en-US" altLang="zh-CN" sz="1400" dirty="0"/>
          </a:p>
        </p:txBody>
      </p:sp>
      <p:sp>
        <p:nvSpPr>
          <p:cNvPr id="399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材料塑性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说明</a:t>
            </a:r>
          </a:p>
        </p:txBody>
      </p:sp>
      <p:sp>
        <p:nvSpPr>
          <p:cNvPr id="39940" name="Rectangle 3"/>
          <p:cNvSpPr>
            <a:spLocks noGrp="1"/>
          </p:cNvSpPr>
          <p:nvPr>
            <p:ph idx="1"/>
          </p:nvPr>
        </p:nvSpPr>
        <p:spPr>
          <a:xfrm>
            <a:off x="357188" y="2349500"/>
            <a:ext cx="8462962" cy="399891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ea typeface="华文中宋" panose="02010600040101010101" pitchFamily="2" charset="-122"/>
              </a:rPr>
              <a:t>）塑性指标值越大，材料的塑性越好；</a:t>
            </a:r>
          </a:p>
          <a:p>
            <a:pPr eaLnBrk="1" hangingPunct="1">
              <a:lnSpc>
                <a:spcPct val="135000"/>
              </a:lnSpc>
            </a:pP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ea typeface="华文中宋" panose="02010600040101010101" pitchFamily="2" charset="-122"/>
              </a:rPr>
              <a:t>）用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断面收缩率</a:t>
            </a:r>
            <a:r>
              <a:rPr lang="zh-CN" altLang="en-US" b="1" dirty="0">
                <a:ea typeface="华文中宋" panose="02010600040101010101" pitchFamily="2" charset="-122"/>
              </a:rPr>
              <a:t>表示塑性比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伸长率</a:t>
            </a:r>
            <a:r>
              <a:rPr lang="zh-CN" altLang="en-US" b="1" dirty="0">
                <a:ea typeface="华文中宋" panose="02010600040101010101" pitchFamily="2" charset="-122"/>
              </a:rPr>
              <a:t>更合理（接近真实应变）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3789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35560" y="6525260"/>
            <a:ext cx="2124075" cy="27813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9942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40725" y="6484938"/>
            <a:ext cx="568325" cy="3429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33</a:t>
            </a:fld>
            <a:endParaRPr lang="en-US" altLang="zh-CN" sz="1400" dirty="0"/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xfrm>
            <a:off x="1133475" y="371475"/>
            <a:ext cx="7127875" cy="1031875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材料塑性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说明</a:t>
            </a:r>
          </a:p>
        </p:txBody>
      </p:sp>
      <p:sp>
        <p:nvSpPr>
          <p:cNvPr id="38916" name="Rectangle 3"/>
          <p:cNvSpPr>
            <a:spLocks noGrp="1"/>
          </p:cNvSpPr>
          <p:nvPr>
            <p:ph idx="1"/>
          </p:nvPr>
        </p:nvSpPr>
        <p:spPr>
          <a:xfrm>
            <a:off x="468313" y="2060575"/>
            <a:ext cx="8486775" cy="42259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ea typeface="华文中宋" panose="02010600040101010101" pitchFamily="2" charset="-122"/>
              </a:rPr>
              <a:t>） 直径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d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0 </a:t>
            </a:r>
            <a:r>
              <a:rPr lang="zh-CN" altLang="en-US" b="1" dirty="0">
                <a:ea typeface="华文中宋" panose="02010600040101010101" pitchFamily="2" charset="-122"/>
              </a:rPr>
              <a:t>相同时，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l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0</a:t>
            </a:r>
            <a:r>
              <a:rPr lang="en-US" altLang="zh-CN" b="1" dirty="0">
                <a:ea typeface="华文中宋" panose="02010600040101010101" pitchFamily="2" charset="-122"/>
                <a:sym typeface="Symbol" panose="05050102010706020507" pitchFamily="18" charset="2"/>
              </a:rPr>
              <a:t>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 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。只有当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0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/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0 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为常数时，塑性值才有可比性。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当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0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=10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0 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时，伸长率用</a:t>
            </a:r>
            <a:r>
              <a:rPr lang="zh-CN" altLang="en-US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10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11.3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表示；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当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0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=5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0 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时，伸长率用</a:t>
            </a:r>
            <a:r>
              <a:rPr lang="zh-CN" altLang="en-US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5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A)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表示。</a:t>
            </a:r>
            <a:endParaRPr lang="en-US" altLang="zh-CN" b="1" dirty="0">
              <a:ea typeface="华文中宋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一般有</a:t>
            </a:r>
            <a:r>
              <a:rPr lang="zh-CN" altLang="en-US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  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5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&gt; 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b="1" i="1" baseline="-25000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3891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484620"/>
            <a:ext cx="1981200" cy="28765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0966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07400" y="6538913"/>
            <a:ext cx="536575" cy="328612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34</a:t>
            </a:fld>
            <a:endParaRPr lang="en-US" altLang="zh-CN" sz="1400" dirty="0"/>
          </a:p>
        </p:txBody>
      </p:sp>
      <p:sp>
        <p:nvSpPr>
          <p:cNvPr id="41987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715962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材料塑性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说明</a:t>
            </a:r>
          </a:p>
        </p:txBody>
      </p:sp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xfrm>
            <a:off x="323850" y="2133600"/>
            <a:ext cx="8486775" cy="39274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r>
              <a:rPr lang="zh-CN" altLang="en-US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 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时，无颈缩，为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脆性材料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表征</a:t>
            </a: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            </a:t>
            </a: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&lt;</a:t>
            </a:r>
            <a:r>
              <a:rPr lang="en-US" altLang="zh-CN" b="1" dirty="0"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时，有颈缩，为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塑性材料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表征</a:t>
            </a:r>
          </a:p>
        </p:txBody>
      </p:sp>
      <p:pic>
        <p:nvPicPr>
          <p:cNvPr id="41989" name="Picture 5" descr="拉断试样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663" y="5373688"/>
            <a:ext cx="3598862" cy="10461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90" name="Picture 6" descr="拉断试样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200" y="4005263"/>
            <a:ext cx="4048125" cy="1046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1" name="Text Box 7"/>
          <p:cNvSpPr txBox="1"/>
          <p:nvPr/>
        </p:nvSpPr>
        <p:spPr>
          <a:xfrm>
            <a:off x="1258888" y="4221163"/>
            <a:ext cx="261937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SzPct val="100000"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无颈缩试样：</a:t>
            </a:r>
          </a:p>
        </p:txBody>
      </p:sp>
      <p:sp>
        <p:nvSpPr>
          <p:cNvPr id="41992" name="Text Box 8"/>
          <p:cNvSpPr txBox="1"/>
          <p:nvPr/>
        </p:nvSpPr>
        <p:spPr>
          <a:xfrm>
            <a:off x="1331913" y="5589588"/>
            <a:ext cx="25749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SzPct val="100000"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有颈缩试样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3994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7950" y="6539230"/>
            <a:ext cx="1901190" cy="27432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994" name="内容占位符 1" descr="新校徽（3M）弓之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56613" y="6615113"/>
            <a:ext cx="490537" cy="2667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35</a:t>
            </a:fld>
            <a:endParaRPr lang="en-US" altLang="zh-CN" sz="1400" dirty="0"/>
          </a:p>
        </p:txBody>
      </p:sp>
      <p:sp>
        <p:nvSpPr>
          <p:cNvPr id="43011" name="Rectangle 2"/>
          <p:cNvSpPr>
            <a:spLocks noGrp="1"/>
          </p:cNvSpPr>
          <p:nvPr>
            <p:ph type="title"/>
          </p:nvPr>
        </p:nvSpPr>
        <p:spPr>
          <a:xfrm>
            <a:off x="1968500" y="0"/>
            <a:ext cx="6172200" cy="9144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）强度与塑性</a:t>
            </a:r>
          </a:p>
        </p:txBody>
      </p:sp>
      <p:sp>
        <p:nvSpPr>
          <p:cNvPr id="4096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0013" y="6538913"/>
            <a:ext cx="195103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3013" name="Picture 3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928813" y="981075"/>
            <a:ext cx="5895975" cy="5308600"/>
          </a:xfrm>
        </p:spPr>
      </p:pic>
      <p:pic>
        <p:nvPicPr>
          <p:cNvPr id="43014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119313" y="6356350"/>
            <a:ext cx="633730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00" cap="none" spc="0" normalizeH="0" baseline="0" noProof="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GB/T 228.1-2021 </a:t>
            </a:r>
            <a:r>
              <a:rPr kumimoji="0" lang="zh-CN" altLang="zh-CN" kern="100" cap="none" spc="0" normalizeH="0" baseline="0" noProof="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金属材料 拉伸试验 第</a:t>
            </a:r>
            <a:r>
              <a:rPr kumimoji="0" lang="en-US" altLang="zh-CN" kern="100" cap="none" spc="0" normalizeH="0" baseline="0" noProof="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zh-CN" kern="100" cap="none" spc="0" normalizeH="0" baseline="0" noProof="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部分</a:t>
            </a:r>
            <a:r>
              <a:rPr kumimoji="0" lang="en-US" altLang="zh-CN" kern="100" cap="none" spc="0" normalizeH="0" baseline="0" noProof="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kern="100" cap="none" spc="0" normalizeH="0" baseline="0" noProof="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室温试验方法</a:t>
            </a: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zh-CN" altLang="en-US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56613" y="6615113"/>
            <a:ext cx="490537" cy="2667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36</a:t>
            </a:fld>
            <a:endParaRPr lang="en-US" altLang="zh-CN" sz="1400" dirty="0"/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2286000" y="260350"/>
            <a:ext cx="5454650" cy="136525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>
              <a:buNone/>
            </a:pP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）硬度 </a:t>
            </a:r>
            <a:b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Hardness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322263" y="1957388"/>
            <a:ext cx="8497888" cy="4752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硬度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：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材料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抵抗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表面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局部塑性变形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的能力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  <a:sym typeface="+mn-ea"/>
              </a:rPr>
              <a:t>实验特点</a:t>
            </a: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：</a:t>
            </a: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 </a:t>
            </a:r>
            <a:endParaRPr kumimoji="0" lang="zh-CN" altLang="en-GB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1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）设备简单、操作迅速方便、直接、非破坏性试验。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  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）可近似估计抗拉强度和耐磨性。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  3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）硬度与切削加工性、焊接性、冷成型性能间联系，加工工艺参考。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  4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）检验材料和热处理质量、热处理工艺合理性及评定工艺性能参考。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4096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0013" y="6538913"/>
            <a:ext cx="2024063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4038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56613" y="6615113"/>
            <a:ext cx="490537" cy="2667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37</a:t>
            </a:fld>
            <a:endParaRPr lang="en-US" altLang="zh-CN" sz="1400" dirty="0"/>
          </a:p>
        </p:txBody>
      </p:sp>
      <p:sp>
        <p:nvSpPr>
          <p:cNvPr id="45059" name="Rectangle 2"/>
          <p:cNvSpPr>
            <a:spLocks noGrp="1"/>
          </p:cNvSpPr>
          <p:nvPr>
            <p:ph type="title"/>
          </p:nvPr>
        </p:nvSpPr>
        <p:spPr>
          <a:xfrm>
            <a:off x="2286000" y="260350"/>
            <a:ext cx="5815330" cy="137414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>
              <a:buNone/>
            </a:pP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）硬度 </a:t>
            </a:r>
            <a:b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Hardness</a:t>
            </a:r>
            <a:endParaRPr lang="zh-CN" altLang="en-US" b="1" i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635000" y="1844675"/>
            <a:ext cx="8497888" cy="4752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硬度试验方法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——</a:t>
            </a: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三类：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  </a:t>
            </a: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★压力法</a:t>
            </a: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：</a:t>
            </a: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布</a:t>
            </a: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氏硬度、</a:t>
            </a: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洛</a:t>
            </a: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氏硬度、</a:t>
            </a: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维</a:t>
            </a: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氏硬度、显微硬度、超声波硬度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  ★划痕法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：莫氏硬度、锉刀硬度；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GB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  ★回跳法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：肖氏硬度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.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机械制造中应用最广泛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的是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布氏硬度、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洛氏硬度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和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维氏硬度。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_GB2312" pitchFamily="49" charset="-122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4096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0013" y="6538913"/>
            <a:ext cx="2024063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5062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56613" y="6615113"/>
            <a:ext cx="490537" cy="2667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38</a:t>
            </a:fld>
            <a:endParaRPr lang="en-US" altLang="zh-CN" sz="1400" dirty="0"/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xfrm>
            <a:off x="1764030" y="260350"/>
            <a:ext cx="5526088" cy="11430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>
              <a:buNone/>
            </a:pP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）硬度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Hardness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646113" y="1773238"/>
            <a:ext cx="8497888" cy="4752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布氏硬度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（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Brinell hardness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）：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HB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洛氏硬度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Rockwell hardness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）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HR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C……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维氏硬度（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Vickers hardness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）：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HV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……(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显微硬度、邵氏硬度、普氏硬度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4096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0013" y="6538913"/>
            <a:ext cx="2024063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6086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614362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39</a:t>
            </a:fld>
            <a:endParaRPr lang="en-US" altLang="zh-CN" sz="1400" dirty="0"/>
          </a:p>
        </p:txBody>
      </p:sp>
      <p:sp>
        <p:nvSpPr>
          <p:cNvPr id="72706" name="Rectangle 2"/>
          <p:cNvSpPr>
            <a:spLocks noGrp="1"/>
          </p:cNvSpPr>
          <p:nvPr>
            <p:ph type="title"/>
          </p:nvPr>
        </p:nvSpPr>
        <p:spPr>
          <a:xfrm>
            <a:off x="630555" y="-248920"/>
            <a:ext cx="8656320" cy="1657985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布氏硬度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HB</a:t>
            </a:r>
            <a:b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i="1" dirty="0">
                <a:solidFill>
                  <a:srgbClr val="FF0000"/>
                </a:solidFill>
                <a:ea typeface="华文中宋" panose="02010600040101010101" pitchFamily="2" charset="-122"/>
              </a:rPr>
              <a:t>Brinell hardness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)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09700"/>
            <a:ext cx="4953000" cy="19431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47109" name="Picture 7" descr="布氏硬度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613" y="1846263"/>
            <a:ext cx="2530475" cy="2700337"/>
          </a:xfrm>
          <a:prstGeom prst="rect">
            <a:avLst/>
          </a:prstGeom>
          <a:noFill/>
          <a:ln w="57150">
            <a:noFill/>
          </a:ln>
        </p:spPr>
      </p:pic>
      <p:pic>
        <p:nvPicPr>
          <p:cNvPr id="47110" name="Picture 9" descr="布氏硬度计"/>
          <p:cNvPicPr preferRelativeResize="0">
            <a:picLocks noChangeAspect="1"/>
          </p:cNvPicPr>
          <p:nvPr/>
        </p:nvPicPr>
        <p:blipFill>
          <a:blip r:embed="rId3"/>
          <a:srcRect b="12296"/>
          <a:stretch>
            <a:fillRect/>
          </a:stretch>
        </p:blipFill>
        <p:spPr>
          <a:xfrm>
            <a:off x="6592888" y="2516188"/>
            <a:ext cx="2065337" cy="3465512"/>
          </a:xfrm>
          <a:prstGeom prst="rect">
            <a:avLst/>
          </a:prstGeom>
          <a:noFill/>
          <a:ln w="57150">
            <a:noFill/>
          </a:ln>
        </p:spPr>
      </p:pic>
      <p:sp>
        <p:nvSpPr>
          <p:cNvPr id="47111" name="Text Box 10"/>
          <p:cNvSpPr txBox="1"/>
          <p:nvPr/>
        </p:nvSpPr>
        <p:spPr>
          <a:xfrm>
            <a:off x="6111875" y="2557463"/>
            <a:ext cx="492125" cy="2133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algn="ctr" eaLnBrk="1" hangingPunct="1">
              <a:buSzPct val="100000"/>
            </a:pP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布氏硬度计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7112" name="Picture 12" descr="布氏硬度原理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38" y="3443288"/>
            <a:ext cx="2692400" cy="2517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13" name="Text Box 13"/>
          <p:cNvSpPr txBox="1"/>
          <p:nvPr/>
        </p:nvSpPr>
        <p:spPr>
          <a:xfrm>
            <a:off x="630238" y="5981700"/>
            <a:ext cx="2438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SzPct val="100000"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布氏硬度测试原理</a:t>
            </a:r>
          </a:p>
        </p:txBody>
      </p:sp>
      <p:sp>
        <p:nvSpPr>
          <p:cNvPr id="47114" name="Rectangle 15"/>
          <p:cNvSpPr/>
          <p:nvPr/>
        </p:nvSpPr>
        <p:spPr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>
              <a:buSzPct val="100000"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47115" name="Rectangle 17"/>
          <p:cNvSpPr/>
          <p:nvPr/>
        </p:nvSpPr>
        <p:spPr>
          <a:xfrm>
            <a:off x="0" y="3195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>
              <a:buSzPct val="100000"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grpSp>
        <p:nvGrpSpPr>
          <p:cNvPr id="47116" name="Group 22"/>
          <p:cNvGrpSpPr/>
          <p:nvPr/>
        </p:nvGrpSpPr>
        <p:grpSpPr>
          <a:xfrm>
            <a:off x="3582988" y="4813300"/>
            <a:ext cx="2513012" cy="1958975"/>
            <a:chOff x="2626" y="3334"/>
            <a:chExt cx="1342" cy="1089"/>
          </a:xfrm>
        </p:grpSpPr>
        <p:pic>
          <p:nvPicPr>
            <p:cNvPr id="47120" name="Picture 19" descr="brinellimp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25" y="3367"/>
              <a:ext cx="1043" cy="953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47121" name="Text Box 20"/>
            <p:cNvSpPr txBox="1"/>
            <p:nvPr/>
          </p:nvSpPr>
          <p:spPr>
            <a:xfrm>
              <a:off x="2626" y="3334"/>
              <a:ext cx="310" cy="108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SzPct val="100000"/>
              </a:pPr>
              <a:r>
                <a:rPr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布氏硬度压痕</a:t>
              </a:r>
            </a:p>
          </p:txBody>
        </p:sp>
      </p:grpSp>
      <p:sp>
        <p:nvSpPr>
          <p:cNvPr id="41999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483350"/>
            <a:ext cx="1908175" cy="2889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7118" name="内容占位符 1" descr="新校徽（3M）弓之乐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19" name="文本框 1"/>
          <p:cNvSpPr txBox="1"/>
          <p:nvPr/>
        </p:nvSpPr>
        <p:spPr>
          <a:xfrm>
            <a:off x="539750" y="2205038"/>
            <a:ext cx="2528888" cy="1076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Tahoma" panose="020B0604030504040204" pitchFamily="34" charset="0"/>
              </a:rPr>
              <a:t>表征方法：压力</a:t>
            </a:r>
            <a:r>
              <a:rPr lang="en-US" altLang="zh-CN" sz="3200" b="1" dirty="0">
                <a:latin typeface="Tahoma" panose="020B0604030504040204" pitchFamily="34" charset="0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表面积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289925" y="6462713"/>
            <a:ext cx="654050" cy="309562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40</a:t>
            </a:fld>
            <a:endParaRPr lang="en-US" altLang="zh-CN" sz="1400" dirty="0"/>
          </a:p>
        </p:txBody>
      </p:sp>
      <p:sp>
        <p:nvSpPr>
          <p:cNvPr id="481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布氏硬度</a:t>
            </a:r>
            <a:r>
              <a:rPr lang="en-US" altLang="zh-CN" b="1" dirty="0">
                <a:latin typeface="Arial" panose="020B0604020202020204" pitchFamily="34" charset="0"/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说明</a:t>
            </a:r>
          </a:p>
        </p:txBody>
      </p:sp>
      <p:sp>
        <p:nvSpPr>
          <p:cNvPr id="48132" name="Rectangle 3"/>
          <p:cNvSpPr>
            <a:spLocks noGrp="1"/>
          </p:cNvSpPr>
          <p:nvPr>
            <p:ph idx="1"/>
          </p:nvPr>
        </p:nvSpPr>
        <p:spPr>
          <a:xfrm>
            <a:off x="323850" y="1844675"/>
            <a:ext cx="8631238" cy="4513263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chemeClr val="tx2"/>
                </a:solidFill>
                <a:ea typeface="华文中宋" panose="02010600040101010101" pitchFamily="2" charset="-122"/>
              </a:rPr>
              <a:t>压头为</a:t>
            </a: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钢球</a:t>
            </a:r>
            <a:r>
              <a:rPr lang="zh-CN" altLang="en-US" sz="2400" b="1" dirty="0">
                <a:solidFill>
                  <a:schemeClr val="tx2"/>
                </a:solidFill>
                <a:ea typeface="华文中宋" panose="02010600040101010101" pitchFamily="2" charset="-122"/>
              </a:rPr>
              <a:t>时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，用符号</a:t>
            </a:r>
            <a:r>
              <a:rPr lang="en-US" altLang="zh-CN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HBS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表示，适用于布氏硬度值在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450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以下的材料。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chemeClr val="tx2"/>
                </a:solidFill>
                <a:ea typeface="华文中宋" panose="02010600040101010101" pitchFamily="2" charset="-122"/>
              </a:rPr>
              <a:t>压头为</a:t>
            </a: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硬质合金球</a:t>
            </a:r>
            <a:r>
              <a:rPr lang="zh-CN" altLang="en-US" sz="2400" b="1" dirty="0">
                <a:solidFill>
                  <a:schemeClr val="tx2"/>
                </a:solidFill>
                <a:ea typeface="华文中宋" panose="02010600040101010101" pitchFamily="2" charset="-122"/>
              </a:rPr>
              <a:t>时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，用符号</a:t>
            </a:r>
            <a:r>
              <a:rPr lang="en-US" altLang="zh-CN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HBW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表示，适用于布氏硬度在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650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以下的材料。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400" b="1" dirty="0"/>
              <a:t>符号</a:t>
            </a:r>
            <a:r>
              <a:rPr lang="en-US" altLang="zh-CN" sz="2400" b="1" dirty="0"/>
              <a:t>HBS</a:t>
            </a:r>
            <a:r>
              <a:rPr lang="zh-CN" altLang="en-US" sz="2400" b="1" dirty="0"/>
              <a:t>或</a:t>
            </a:r>
            <a:r>
              <a:rPr lang="en-US" altLang="zh-CN" sz="2400" b="1" dirty="0"/>
              <a:t>HBW</a:t>
            </a:r>
            <a:r>
              <a:rPr lang="zh-CN" altLang="en-US" sz="2400" b="1" dirty="0"/>
              <a:t>之前的数字表示硬度值，之后的数字按顺序分别表示</a:t>
            </a: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球体直径</a:t>
            </a:r>
            <a:r>
              <a:rPr lang="zh-CN" altLang="en-US" sz="2400" b="1" dirty="0"/>
              <a:t>、</a:t>
            </a: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载荷</a:t>
            </a:r>
            <a:r>
              <a:rPr lang="zh-CN" altLang="en-US" sz="2400" b="1" dirty="0"/>
              <a:t>及</a:t>
            </a: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载荷保持时间</a:t>
            </a:r>
            <a:r>
              <a:rPr lang="en-US" altLang="zh-CN" sz="2400" b="1" dirty="0"/>
              <a:t>,</a:t>
            </a:r>
            <a:r>
              <a:rPr lang="en-US" altLang="zh-CN" sz="2400" b="1" dirty="0">
                <a:solidFill>
                  <a:srgbClr val="CCFF33"/>
                </a:solidFill>
              </a:rPr>
              <a:t> </a:t>
            </a:r>
            <a:r>
              <a:rPr lang="zh-CN" altLang="en-US" sz="2400" b="1" dirty="0"/>
              <a:t>如</a:t>
            </a:r>
            <a:r>
              <a:rPr lang="en-US" altLang="zh-CN" sz="2400" b="1" dirty="0">
                <a:solidFill>
                  <a:schemeClr val="folHlink"/>
                </a:solidFill>
              </a:rPr>
              <a:t>120HBS10/1000/30</a:t>
            </a:r>
            <a:r>
              <a:rPr lang="zh-CN" altLang="en-US" sz="2400" b="1" dirty="0"/>
              <a:t>表示直径为</a:t>
            </a:r>
            <a:r>
              <a:rPr lang="en-US" altLang="zh-CN" sz="2400" b="1" dirty="0"/>
              <a:t>10mm</a:t>
            </a:r>
            <a:r>
              <a:rPr lang="zh-CN" altLang="en-US" sz="2400" b="1" dirty="0"/>
              <a:t>的钢球在</a:t>
            </a:r>
            <a:r>
              <a:rPr lang="en-US" altLang="zh-CN" sz="2400" b="1" dirty="0"/>
              <a:t>1000kgf(9.807kN)</a:t>
            </a:r>
            <a:r>
              <a:rPr lang="zh-CN" altLang="en-US" sz="2400" b="1" dirty="0"/>
              <a:t>载荷作用下保持</a:t>
            </a:r>
            <a:r>
              <a:rPr lang="en-US" altLang="zh-CN" sz="2400" b="1" dirty="0"/>
              <a:t>30s</a:t>
            </a:r>
            <a:r>
              <a:rPr lang="zh-CN" altLang="en-US" sz="2400" b="1" dirty="0"/>
              <a:t>测得的布氏硬度值为</a:t>
            </a:r>
            <a:r>
              <a:rPr lang="en-US" altLang="zh-CN" sz="2400" b="1" dirty="0"/>
              <a:t>120</a:t>
            </a:r>
            <a:r>
              <a:rPr lang="zh-CN" altLang="en-US" sz="2400" dirty="0"/>
              <a:t>。     </a:t>
            </a:r>
            <a:r>
              <a:rPr lang="en-US" altLang="zh-CN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560HBW1/30/20 </a:t>
            </a:r>
            <a:r>
              <a:rPr lang="zh-CN" altLang="en-US" sz="2400" b="1" dirty="0">
                <a:solidFill>
                  <a:srgbClr val="FF0000"/>
                </a:solidFill>
                <a:ea typeface="华文中宋" panose="02010600040101010101" pitchFamily="2" charset="-122"/>
              </a:rPr>
              <a:t>？</a:t>
            </a:r>
            <a:endParaRPr lang="zh-CN" altLang="en-US" sz="2400" b="1" dirty="0">
              <a:solidFill>
                <a:schemeClr val="folHlink"/>
              </a:solidFill>
            </a:endParaRPr>
          </a:p>
        </p:txBody>
      </p:sp>
      <p:sp>
        <p:nvSpPr>
          <p:cNvPr id="430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35560" y="6526530"/>
            <a:ext cx="1981200" cy="29781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8134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21675" y="6505575"/>
            <a:ext cx="622300" cy="2667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41</a:t>
            </a:fld>
            <a:endParaRPr lang="en-US" altLang="zh-CN" sz="1400" dirty="0"/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>
          <a:xfrm>
            <a:off x="1151255" y="214630"/>
            <a:ext cx="7792720" cy="12446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布氏硬度</a:t>
            </a:r>
            <a:b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Brinell hardness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)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idx="1"/>
          </p:nvPr>
        </p:nvSpPr>
        <p:spPr>
          <a:xfrm>
            <a:off x="323850" y="1947545"/>
            <a:ext cx="8644255" cy="434213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优点：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数据稳定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缺点：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压痕大</a:t>
            </a:r>
            <a:r>
              <a:rPr lang="zh-CN" altLang="en-US" b="1" dirty="0">
                <a:ea typeface="华文中宋" panose="02010600040101010101" pitchFamily="2" charset="-122"/>
              </a:rPr>
              <a:t>，不能用于太薄件、成 </a:t>
            </a:r>
          </a:p>
          <a:p>
            <a:pPr eaLnBrk="1" hangingPunct="1">
              <a:lnSpc>
                <a:spcPct val="135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             品件、比压头还硬的材料。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退火、正火、调质钢，</a:t>
            </a:r>
            <a:endParaRPr lang="en-US" altLang="zh-CN" b="1" dirty="0">
              <a:solidFill>
                <a:srgbClr val="FF0000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           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铸铁、有色金属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ea typeface="华文中宋" panose="02010600040101010101" pitchFamily="2" charset="-122"/>
                <a:hlinkClick r:id="rId2" action="ppaction://hlinkfile"/>
              </a:rPr>
              <a:t>GB/T 231.1-2018</a:t>
            </a:r>
            <a:r>
              <a:rPr lang="en-US" altLang="zh-CN" sz="2400" b="1" dirty="0">
                <a:solidFill>
                  <a:srgbClr val="0000FF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400" b="1" dirty="0">
                <a:ea typeface="华文中宋" panose="02010600040101010101" pitchFamily="2" charset="-122"/>
              </a:rPr>
              <a:t>金属材料</a:t>
            </a:r>
            <a:r>
              <a:rPr lang="zh-CN" altLang="en-US" sz="2400" b="1" dirty="0">
                <a:solidFill>
                  <a:srgbClr val="0000FF"/>
                </a:solidFill>
                <a:ea typeface="华文中宋" panose="02010600040101010101" pitchFamily="2" charset="-122"/>
              </a:rPr>
              <a:t>布氏硬度试验</a:t>
            </a:r>
            <a:r>
              <a:rPr lang="zh-CN" altLang="en-US" sz="2400" b="1" dirty="0">
                <a:ea typeface="华文中宋" panose="02010600040101010101" pitchFamily="2" charset="-122"/>
              </a:rPr>
              <a:t> 第</a:t>
            </a:r>
            <a:r>
              <a:rPr lang="en-US" altLang="zh-CN" sz="2400" b="1" dirty="0">
                <a:ea typeface="华文中宋" panose="02010600040101010101" pitchFamily="2" charset="-122"/>
              </a:rPr>
              <a:t>1</a:t>
            </a:r>
            <a:r>
              <a:rPr lang="zh-CN" altLang="en-US" sz="2400" b="1" dirty="0">
                <a:ea typeface="华文中宋" panose="02010600040101010101" pitchFamily="2" charset="-122"/>
              </a:rPr>
              <a:t>部分 试验方法</a:t>
            </a:r>
          </a:p>
        </p:txBody>
      </p:sp>
      <p:sp>
        <p:nvSpPr>
          <p:cNvPr id="4403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429375"/>
            <a:ext cx="19081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9158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56613" y="6615113"/>
            <a:ext cx="490537" cy="23495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42</a:t>
            </a:fld>
            <a:endParaRPr lang="en-US" altLang="zh-CN" sz="1400" dirty="0"/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862012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材料的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25000" dirty="0">
                <a:solidFill>
                  <a:srgbClr val="FF0000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与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HB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之间经验关系</a:t>
            </a:r>
          </a:p>
        </p:txBody>
      </p:sp>
      <p:sp>
        <p:nvSpPr>
          <p:cNvPr id="50180" name="Rectangle 3"/>
          <p:cNvSpPr>
            <a:spLocks noGrp="1"/>
          </p:cNvSpPr>
          <p:nvPr>
            <p:ph idx="1"/>
          </p:nvPr>
        </p:nvSpPr>
        <p:spPr>
          <a:xfrm>
            <a:off x="685800" y="2297113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低碳钢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Wingdings" panose="05000000000000000000" pitchFamily="2" charset="2"/>
              </a:rPr>
              <a:t>(MPa)≈3.6HBW</a:t>
            </a: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Wingdings" panose="05000000000000000000" pitchFamily="2" charset="2"/>
              </a:rPr>
              <a:t>高碳钢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Wingdings" panose="05000000000000000000" pitchFamily="2" charset="2"/>
              </a:rPr>
              <a:t>: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Wingdings" panose="05000000000000000000" pitchFamily="2" charset="2"/>
              </a:rPr>
              <a:t>(MPa)≈3.4HBW</a:t>
            </a: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Wingdings" panose="05000000000000000000" pitchFamily="2" charset="2"/>
              </a:rPr>
              <a:t>铸铁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Wingdings" panose="05000000000000000000" pitchFamily="2" charset="2"/>
              </a:rPr>
              <a:t>: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Wingdings" panose="05000000000000000000" pitchFamily="2" charset="2"/>
              </a:rPr>
              <a:t>(MPa)≈1HB</a:t>
            </a:r>
            <a:r>
              <a:rPr lang="zh-CN" altLang="en-US" b="1" dirty="0">
                <a:ea typeface="华文中宋" panose="02010600040101010101" pitchFamily="2" charset="-122"/>
                <a:sym typeface="Wingdings" panose="05000000000000000000" pitchFamily="2" charset="2"/>
              </a:rPr>
              <a:t>或    </a:t>
            </a:r>
          </a:p>
          <a:p>
            <a:pPr eaLnBrk="1" hangingPunct="1"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                    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Wingdings" panose="05000000000000000000" pitchFamily="2" charset="2"/>
              </a:rPr>
              <a:t>(MPa)≈0.6(HB-40)</a:t>
            </a: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4506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35560" y="6481763"/>
            <a:ext cx="1981200" cy="2905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0182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43</a:t>
            </a:fld>
            <a:endParaRPr lang="en-US" altLang="zh-CN" sz="1400" dirty="0"/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xfrm>
            <a:off x="539750" y="65088"/>
            <a:ext cx="8686800" cy="14684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洛氏硬度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HR</a:t>
            </a:r>
            <a:b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0" lang="en-US" altLang="zh-CN" sz="4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Rockwell hardness</a:t>
            </a:r>
          </a:p>
        </p:txBody>
      </p:sp>
      <p:sp>
        <p:nvSpPr>
          <p:cNvPr id="1030" name="Rectangle 3"/>
          <p:cNvSpPr>
            <a:spLocks noGrp="1"/>
          </p:cNvSpPr>
          <p:nvPr>
            <p:ph type="body" sz="half" idx="1"/>
          </p:nvPr>
        </p:nvSpPr>
        <p:spPr>
          <a:xfrm>
            <a:off x="0" y="1857375"/>
            <a:ext cx="6732270" cy="464375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S.P.Rockwell</a:t>
            </a:r>
            <a:r>
              <a:rPr lang="zh-CN" altLang="en-US" sz="2800" dirty="0"/>
              <a:t>、</a:t>
            </a:r>
            <a:r>
              <a:rPr lang="en-US" altLang="zh-CN" sz="2800" dirty="0"/>
              <a:t>M.Rockwell,</a:t>
            </a:r>
            <a:r>
              <a:rPr lang="zh-CN" altLang="en-US" sz="2800" b="1" dirty="0">
                <a:solidFill>
                  <a:srgbClr val="0000FF"/>
                </a:solidFill>
              </a:rPr>
              <a:t>1919年</a:t>
            </a:r>
            <a:r>
              <a:rPr lang="zh-CN" altLang="en-US" sz="2800" dirty="0"/>
              <a:t>提出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0000FF"/>
                </a:solidFill>
              </a:rPr>
              <a:t>测试：</a:t>
            </a:r>
            <a:r>
              <a:rPr lang="zh-CN" altLang="en-US" sz="2800" dirty="0"/>
              <a:t>压头</a:t>
            </a:r>
            <a:r>
              <a:rPr lang="zh-CN" altLang="en-US" sz="2800" b="1" dirty="0">
                <a:solidFill>
                  <a:srgbClr val="0000FF"/>
                </a:solidFill>
              </a:rPr>
              <a:t>分两次压入</a:t>
            </a:r>
            <a:r>
              <a:rPr lang="zh-CN" altLang="en-US" sz="2800" dirty="0"/>
              <a:t>试样表面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/>
              <a:t>硬度</a:t>
            </a:r>
            <a:r>
              <a:rPr lang="zh-CN" altLang="en-US" sz="2800" b="1" dirty="0">
                <a:solidFill>
                  <a:srgbClr val="0000FF"/>
                </a:solidFill>
              </a:rPr>
              <a:t>表征方法：</a:t>
            </a:r>
            <a:r>
              <a:rPr lang="zh-CN" altLang="en-US" sz="2800" dirty="0"/>
              <a:t>用</a:t>
            </a:r>
            <a:r>
              <a:rPr lang="zh-CN" altLang="en-US" sz="2800" b="1" dirty="0">
                <a:solidFill>
                  <a:srgbClr val="0000FF"/>
                </a:solidFill>
              </a:rPr>
              <a:t>残余压痕深度</a:t>
            </a:r>
            <a:r>
              <a:rPr lang="zh-CN" altLang="en-US" sz="2800" dirty="0"/>
              <a:t>表征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sz="2800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sz="2800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h</a:t>
            </a:r>
            <a:r>
              <a:rPr lang="en-US" altLang="zh-CN" sz="2800" b="1" dirty="0">
                <a:latin typeface="Arial" panose="020B0604020202020204" pitchFamily="34" charset="0"/>
              </a:rPr>
              <a:t>——</a:t>
            </a:r>
            <a:r>
              <a:rPr lang="zh-CN" altLang="en-US" sz="2800" b="1" dirty="0"/>
              <a:t>残余压痕深度（</a:t>
            </a:r>
            <a:r>
              <a:rPr lang="en-US" altLang="zh-CN" sz="2800" b="1" dirty="0"/>
              <a:t>mm</a:t>
            </a:r>
            <a:r>
              <a:rPr lang="zh-CN" altLang="en-US" sz="2800" b="1" dirty="0"/>
              <a:t>）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K</a:t>
            </a:r>
            <a:r>
              <a:rPr lang="en-US" altLang="zh-CN" sz="2800" b="1" dirty="0">
                <a:latin typeface="Arial" panose="020B0604020202020204" pitchFamily="34" charset="0"/>
              </a:rPr>
              <a:t>——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常数，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/>
              <a:t>   </a:t>
            </a:r>
            <a:r>
              <a:rPr lang="zh-CN" altLang="en-US" sz="2800" b="1" dirty="0">
                <a:solidFill>
                  <a:srgbClr val="0000FF"/>
                </a:solidFill>
              </a:rPr>
              <a:t>金刚石圆锥压头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k=0.2mm;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>
                <a:solidFill>
                  <a:srgbClr val="FF0000"/>
                </a:solidFill>
              </a:rPr>
              <a:t>钢球</a:t>
            </a:r>
            <a:r>
              <a:rPr lang="zh-CN" altLang="en-US" sz="2800" b="1" dirty="0"/>
              <a:t>（                ）</a:t>
            </a:r>
            <a:r>
              <a:rPr lang="en-US" altLang="zh-CN" sz="2800" b="1" dirty="0"/>
              <a:t>K=0.26mm</a:t>
            </a:r>
            <a:r>
              <a:rPr lang="en-US" altLang="zh-CN" sz="2800" dirty="0"/>
              <a:t> </a:t>
            </a:r>
          </a:p>
        </p:txBody>
      </p:sp>
      <p:pic>
        <p:nvPicPr>
          <p:cNvPr id="1031" name="Picture 15" descr="《于、齐》fi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763" y="4005263"/>
            <a:ext cx="2725737" cy="28527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16"/>
          <p:cNvGrpSpPr/>
          <p:nvPr/>
        </p:nvGrpSpPr>
        <p:grpSpPr>
          <a:xfrm>
            <a:off x="6588125" y="1628775"/>
            <a:ext cx="2555875" cy="2160588"/>
            <a:chOff x="672" y="1872"/>
            <a:chExt cx="2618" cy="2160"/>
          </a:xfrm>
        </p:grpSpPr>
        <p:pic>
          <p:nvPicPr>
            <p:cNvPr id="1036" name="Picture 17" descr="洛氏硬度原理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" y="1993"/>
              <a:ext cx="2618" cy="20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37" name="Rectangle 18"/>
            <p:cNvSpPr/>
            <p:nvPr/>
          </p:nvSpPr>
          <p:spPr>
            <a:xfrm>
              <a:off x="860" y="1872"/>
              <a:ext cx="230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/>
            <a:p>
              <a:pPr algn="ctr" eaLnBrk="1" hangingPunct="1">
                <a:buSzPct val="100000"/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</a:rPr>
                <a:t>洛氏硬度测试示意图</a:t>
              </a:r>
            </a:p>
          </p:txBody>
        </p:sp>
      </p:grpSp>
      <p:sp>
        <p:nvSpPr>
          <p:cNvPr id="1033" name="Rectangle 20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>
              <a:buSzPct val="100000"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4609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501765"/>
            <a:ext cx="1917065" cy="27051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35" name="内容占位符 1" descr="新校徽（3M）弓之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026" name="Object 19"/>
          <p:cNvGraphicFramePr>
            <a:graphicFrameLocks noChangeAspect="1"/>
          </p:cNvGraphicFramePr>
          <p:nvPr/>
        </p:nvGraphicFramePr>
        <p:xfrm>
          <a:off x="1355725" y="3497263"/>
          <a:ext cx="18716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99465" imgH="393700" progId="Equation.3">
                  <p:embed/>
                </p:oleObj>
              </mc:Choice>
              <mc:Fallback>
                <p:oleObj r:id="rId5" imgW="799465" imgH="3937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55725" y="3497263"/>
                        <a:ext cx="1871663" cy="9144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2"/>
          <p:cNvGraphicFramePr>
            <a:graphicFrameLocks noChangeAspect="1"/>
          </p:cNvGraphicFramePr>
          <p:nvPr/>
        </p:nvGraphicFramePr>
        <p:xfrm>
          <a:off x="1571625" y="6000750"/>
          <a:ext cx="143986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837565" imgH="203200" progId="Equation.3">
                  <p:embed/>
                </p:oleObj>
              </mc:Choice>
              <mc:Fallback>
                <p:oleObj r:id="rId7" imgW="837565" imgH="2032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71625" y="6000750"/>
                        <a:ext cx="1439863" cy="342900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灯片编号占位符 6"/>
          <p:cNvSpPr txBox="1">
            <a:spLocks noGrp="1"/>
          </p:cNvSpPr>
          <p:nvPr>
            <p:ph type="sldNum" sz="quarter" idx="12"/>
          </p:nvPr>
        </p:nvSpPr>
        <p:spPr>
          <a:xfrm>
            <a:off x="8369300" y="6586538"/>
            <a:ext cx="574675" cy="271462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44</a:t>
            </a:fld>
            <a:endParaRPr lang="en-US" altLang="zh-CN" sz="1400" dirty="0"/>
          </a:p>
        </p:txBody>
      </p:sp>
      <p:sp>
        <p:nvSpPr>
          <p:cNvPr id="2052" name="Rectangle 2"/>
          <p:cNvSpPr>
            <a:spLocks noGrp="1"/>
          </p:cNvSpPr>
          <p:nvPr>
            <p:ph type="title"/>
          </p:nvPr>
        </p:nvSpPr>
        <p:spPr>
          <a:xfrm>
            <a:off x="1116013" y="115888"/>
            <a:ext cx="7793037" cy="936625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洛氏硬度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HR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标尺</a:t>
            </a:r>
          </a:p>
        </p:txBody>
      </p:sp>
      <p:sp>
        <p:nvSpPr>
          <p:cNvPr id="2053" name="Rectangle 3"/>
          <p:cNvSpPr>
            <a:spLocks noGrp="1"/>
          </p:cNvSpPr>
          <p:nvPr>
            <p:ph type="body" sz="half" idx="1"/>
          </p:nvPr>
        </p:nvSpPr>
        <p:spPr>
          <a:xfrm>
            <a:off x="755650" y="1341438"/>
            <a:ext cx="5832475" cy="496728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压头类型（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种）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:</a:t>
            </a:r>
            <a:endParaRPr lang="zh-CN" altLang="en-US" sz="2800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/>
              <a:t>  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</a:t>
            </a:r>
            <a:r>
              <a:rPr lang="en-US" altLang="zh-CN" sz="2800" b="1" dirty="0"/>
              <a:t>120</a:t>
            </a:r>
            <a:r>
              <a:rPr lang="en-US" altLang="zh-CN" sz="2800" b="1" dirty="0">
                <a:latin typeface="Arial" panose="020B0604020202020204" pitchFamily="34" charset="0"/>
              </a:rPr>
              <a:t>º</a:t>
            </a:r>
            <a:r>
              <a:rPr lang="zh-CN" altLang="en-US" sz="2800" b="1" dirty="0"/>
              <a:t>金刚石圆锥、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/>
              <a:t>  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）淬火钢球（              ）、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/>
              <a:t>  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）硬质合金球</a:t>
            </a:r>
            <a:endParaRPr lang="zh-CN" altLang="en-US" sz="2800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主载荷（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种）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:490.3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882.6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1373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）</a:t>
            </a:r>
            <a:endParaRPr lang="zh-CN" altLang="en-US" sz="2800" b="1" dirty="0"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标尺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11/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15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个（</a:t>
            </a:r>
            <a:r>
              <a:rPr lang="en-US" altLang="zh-CN" sz="2800" b="1" dirty="0">
                <a:solidFill>
                  <a:schemeClr val="folHlink"/>
                </a:solidFill>
                <a:ea typeface="仿宋_GB2312"/>
                <a:sym typeface="+mn-ea"/>
              </a:rPr>
              <a:t>A</a:t>
            </a:r>
            <a:r>
              <a:rPr lang="zh-CN" altLang="en-US" sz="28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仿宋_GB2312"/>
                <a:sym typeface="+mn-ea"/>
              </a:rPr>
              <a:t>B</a:t>
            </a:r>
            <a:r>
              <a:rPr lang="zh-CN" altLang="en-US" sz="28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仿宋_GB2312"/>
                <a:sym typeface="+mn-ea"/>
              </a:rPr>
              <a:t>C</a:t>
            </a:r>
            <a:r>
              <a:rPr lang="zh-CN" altLang="en-US" sz="28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仿宋_GB2312"/>
                <a:sym typeface="+mn-ea"/>
              </a:rPr>
              <a:t>D</a:t>
            </a:r>
            <a:r>
              <a:rPr lang="zh-CN" altLang="en-US" sz="28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仿宋_GB2312"/>
                <a:sym typeface="+mn-ea"/>
              </a:rPr>
              <a:t>E</a:t>
            </a:r>
            <a:r>
              <a:rPr lang="zh-CN" altLang="en-US" sz="28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仿宋_GB2312"/>
                <a:sym typeface="+mn-ea"/>
              </a:rPr>
              <a:t>F</a:t>
            </a:r>
            <a:r>
              <a:rPr lang="zh-CN" altLang="en-US" sz="28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仿宋_GB2312"/>
                <a:sym typeface="+mn-ea"/>
              </a:rPr>
              <a:t>G</a:t>
            </a:r>
            <a:r>
              <a:rPr lang="zh-CN" altLang="en-US" sz="28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仿宋_GB2312"/>
                <a:sym typeface="+mn-ea"/>
              </a:rPr>
              <a:t>H</a:t>
            </a:r>
            <a:r>
              <a:rPr lang="zh-CN" altLang="en-US" sz="28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仿宋_GB2312"/>
                <a:sym typeface="+mn-ea"/>
              </a:rPr>
              <a:t>K</a:t>
            </a:r>
            <a:r>
              <a:rPr lang="zh-CN" altLang="en-US" sz="28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仿宋_GB2312"/>
                <a:sym typeface="+mn-ea"/>
              </a:rPr>
              <a:t>N</a:t>
            </a:r>
            <a:r>
              <a:rPr lang="zh-CN" altLang="en-US" sz="28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ea typeface="仿宋_GB2312"/>
                <a:sym typeface="+mn-ea"/>
              </a:rPr>
              <a:t>T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)(A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B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C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D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E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F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G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H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K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15N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30N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45N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15T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、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30T </a:t>
            </a:r>
            <a:r>
              <a:rPr lang="zh-CN" altLang="en-US" sz="1000" b="1" dirty="0">
                <a:solidFill>
                  <a:schemeClr val="folHlink"/>
                </a:solidFill>
                <a:ea typeface="仿宋_GB2312"/>
                <a:sym typeface="+mn-ea"/>
              </a:rPr>
              <a:t>和 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45T)(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ea typeface="等线" panose="02010600030101010101" pitchFamily="2" charset="-122"/>
              </a:rPr>
              <a:t>GB/T 230.1-2018</a:t>
            </a:r>
            <a:r>
              <a:rPr lang="zh-CN" altLang="zh-CN" sz="1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金属材料</a:t>
            </a:r>
            <a:r>
              <a:rPr lang="zh-CN" altLang="zh-CN" sz="1800" b="1" dirty="0">
                <a:solidFill>
                  <a:srgbClr val="0000FF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1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洛氏硬度试验</a:t>
            </a:r>
            <a:r>
              <a:rPr lang="zh-CN" altLang="zh-CN" sz="1800" b="1" dirty="0">
                <a:solidFill>
                  <a:srgbClr val="0000FF"/>
                </a:solidFill>
                <a:latin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1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1</a:t>
            </a:r>
            <a:r>
              <a:rPr lang="zh-CN" altLang="zh-CN" sz="1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部分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zh-CN" altLang="zh-CN" sz="1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试验方法</a:t>
            </a:r>
            <a:r>
              <a:rPr lang="en-US" altLang="zh-CN" sz="1000" b="1" dirty="0">
                <a:solidFill>
                  <a:schemeClr val="folHlink"/>
                </a:solidFill>
                <a:ea typeface="仿宋_GB2312"/>
                <a:sym typeface="+mn-ea"/>
              </a:rPr>
              <a:t>)</a:t>
            </a:r>
            <a:endParaRPr lang="en-US" altLang="zh-CN" b="1" dirty="0">
              <a:solidFill>
                <a:schemeClr val="folHlink"/>
              </a:solidFill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常用的标尺：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B</a:t>
            </a:r>
            <a:r>
              <a: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C</a:t>
            </a:r>
          </a:p>
        </p:txBody>
      </p:sp>
      <p:grpSp>
        <p:nvGrpSpPr>
          <p:cNvPr id="2054" name="Group 16"/>
          <p:cNvGrpSpPr/>
          <p:nvPr/>
        </p:nvGrpSpPr>
        <p:grpSpPr>
          <a:xfrm>
            <a:off x="6588125" y="3762375"/>
            <a:ext cx="2000250" cy="3095625"/>
            <a:chOff x="4241" y="2370"/>
            <a:chExt cx="1260" cy="1950"/>
          </a:xfrm>
        </p:grpSpPr>
        <p:sp>
          <p:nvSpPr>
            <p:cNvPr id="2060" name="Text Box 7"/>
            <p:cNvSpPr txBox="1"/>
            <p:nvPr/>
          </p:nvSpPr>
          <p:spPr>
            <a:xfrm>
              <a:off x="5193" y="2704"/>
              <a:ext cx="308" cy="107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algn="ctr" eaLnBrk="1" hangingPunct="1">
                <a:spcBef>
                  <a:spcPct val="50000"/>
                </a:spcBef>
                <a:buSzPct val="100000"/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</a:rPr>
                <a:t>洛氏硬度计</a:t>
              </a:r>
              <a:endParaRPr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</a:endParaRPr>
            </a:p>
          </p:txBody>
        </p:sp>
        <p:pic>
          <p:nvPicPr>
            <p:cNvPr id="2061" name="Picture 14" descr="洛氏硬度计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41" y="2370"/>
              <a:ext cx="900" cy="195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055" name="Group 18"/>
          <p:cNvGrpSpPr/>
          <p:nvPr/>
        </p:nvGrpSpPr>
        <p:grpSpPr>
          <a:xfrm>
            <a:off x="6011863" y="1557338"/>
            <a:ext cx="2698750" cy="2270125"/>
            <a:chOff x="3923" y="935"/>
            <a:chExt cx="1700" cy="1430"/>
          </a:xfrm>
        </p:grpSpPr>
        <p:pic>
          <p:nvPicPr>
            <p:cNvPr id="2058" name="Picture 15" descr="钢球压头与金刚石压头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3" y="935"/>
              <a:ext cx="1700" cy="1430"/>
            </a:xfrm>
            <a:prstGeom prst="rect">
              <a:avLst/>
            </a:prstGeom>
            <a:noFill/>
            <a:ln w="28575">
              <a:noFill/>
            </a:ln>
          </p:spPr>
        </p:pic>
        <p:sp>
          <p:nvSpPr>
            <p:cNvPr id="2059" name="Text Box 17"/>
            <p:cNvSpPr txBox="1"/>
            <p:nvPr/>
          </p:nvSpPr>
          <p:spPr>
            <a:xfrm>
              <a:off x="3956" y="935"/>
              <a:ext cx="1068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SzPct val="100000"/>
              </a:pPr>
              <a:r>
                <a:rPr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钢球压头与金刚石压头</a:t>
              </a:r>
            </a:p>
          </p:txBody>
        </p:sp>
      </p:grpSp>
      <p:sp>
        <p:nvSpPr>
          <p:cNvPr id="47113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517005"/>
            <a:ext cx="1908175" cy="25527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7" name="内容占位符 1" descr="新校徽（3M）弓之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050" name="Object 13"/>
          <p:cNvGraphicFramePr>
            <a:graphicFrameLocks noGrp="1"/>
          </p:cNvGraphicFramePr>
          <p:nvPr>
            <p:ph sz="half" idx="2"/>
          </p:nvPr>
        </p:nvGraphicFramePr>
        <p:xfrm>
          <a:off x="3779520" y="2421255"/>
          <a:ext cx="158273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37565" imgH="203200" progId="Equation.3">
                  <p:embed/>
                </p:oleObj>
              </mc:Choice>
              <mc:Fallback>
                <p:oleObj r:id="rId5" imgW="837565" imgH="2032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>
                      <a:xfrm>
                        <a:off x="3779520" y="2421255"/>
                        <a:ext cx="1582738" cy="384175"/>
                      </a:xfrm>
                      <a:prstGeom prst="rect">
                        <a:avLst/>
                      </a:prstGeom>
                      <a:solidFill>
                        <a:srgbClr val="FF99CC">
                          <a:alpha val="100000"/>
                        </a:srgb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96288" y="6626225"/>
            <a:ext cx="547687" cy="255588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45</a:t>
            </a:fld>
            <a:endParaRPr lang="en-US" altLang="zh-CN" sz="1400" dirty="0"/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洛氏硬度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常用标尺的应用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(GB/T230.1-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2009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/2018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版）</a:t>
            </a:r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>
          <a:xfrm>
            <a:off x="393700" y="2205038"/>
            <a:ext cx="8277225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b="1" dirty="0">
                <a:solidFill>
                  <a:schemeClr val="folHlink"/>
                </a:solidFill>
              </a:rPr>
              <a:t>HRA</a:t>
            </a:r>
            <a:r>
              <a:rPr lang="zh-CN" altLang="en-US" b="1" dirty="0">
                <a:solidFill>
                  <a:schemeClr val="folHlink"/>
                </a:solidFill>
              </a:rPr>
              <a:t>：</a:t>
            </a:r>
            <a:r>
              <a:rPr lang="zh-CN" altLang="en-US" b="1" dirty="0"/>
              <a:t>测量</a:t>
            </a:r>
            <a:r>
              <a:rPr lang="zh-CN" altLang="en-US" b="1" dirty="0">
                <a:solidFill>
                  <a:srgbClr val="0000FF"/>
                </a:solidFill>
              </a:rPr>
              <a:t>高硬度</a:t>
            </a:r>
            <a:r>
              <a:rPr lang="zh-CN" altLang="en-US" b="1" dirty="0"/>
              <a:t>材料</a:t>
            </a:r>
            <a:r>
              <a:rPr lang="en-US" altLang="zh-CN" b="1" dirty="0"/>
              <a:t>, </a:t>
            </a:r>
            <a:r>
              <a:rPr lang="zh-CN" altLang="en-US" b="1" dirty="0"/>
              <a:t>如</a:t>
            </a:r>
            <a:r>
              <a:rPr lang="zh-CN" altLang="en-US" b="1" dirty="0">
                <a:solidFill>
                  <a:srgbClr val="0000FF"/>
                </a:solidFill>
              </a:rPr>
              <a:t>硬质合金、表淬层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0000FF"/>
                </a:solidFill>
              </a:rPr>
              <a:t>渗碳层</a:t>
            </a:r>
            <a:r>
              <a:rPr lang="zh-CN" altLang="en-US" b="1" dirty="0"/>
              <a:t>。有效测量范围：</a:t>
            </a:r>
            <a:r>
              <a:rPr lang="en-US" altLang="zh-CN" b="1" dirty="0">
                <a:solidFill>
                  <a:srgbClr val="FF0000"/>
                </a:solidFill>
              </a:rPr>
              <a:t>20~88</a:t>
            </a:r>
          </a:p>
          <a:p>
            <a:pPr eaLnBrk="1" hangingPunct="1"/>
            <a:endParaRPr lang="en-US" altLang="zh-CN" sz="1600" b="1" dirty="0">
              <a:solidFill>
                <a:schemeClr val="folHlink"/>
              </a:solidFill>
            </a:endParaRPr>
          </a:p>
          <a:p>
            <a:pPr eaLnBrk="1" hangingPunct="1"/>
            <a:r>
              <a:rPr lang="en-US" altLang="zh-CN" b="1" dirty="0">
                <a:solidFill>
                  <a:schemeClr val="folHlink"/>
                </a:solidFill>
              </a:rPr>
              <a:t>HRB</a:t>
            </a:r>
            <a:r>
              <a:rPr lang="zh-CN" altLang="en-US" b="1" dirty="0">
                <a:solidFill>
                  <a:schemeClr val="folHlink"/>
                </a:solidFill>
              </a:rPr>
              <a:t>：</a:t>
            </a:r>
            <a:r>
              <a:rPr lang="zh-CN" altLang="en-US" b="1" dirty="0"/>
              <a:t>测量</a:t>
            </a:r>
            <a:r>
              <a:rPr lang="zh-CN" altLang="en-US" b="1" dirty="0">
                <a:solidFill>
                  <a:schemeClr val="folHlink"/>
                </a:solidFill>
              </a:rPr>
              <a:t>低硬度</a:t>
            </a:r>
            <a:r>
              <a:rPr lang="zh-CN" altLang="en-US" b="1" dirty="0"/>
              <a:t>材料</a:t>
            </a:r>
            <a:r>
              <a:rPr lang="en-US" altLang="zh-CN" b="1" dirty="0"/>
              <a:t>, </a:t>
            </a:r>
            <a:r>
              <a:rPr lang="zh-CN" altLang="en-US" b="1" dirty="0"/>
              <a:t>如</a:t>
            </a:r>
            <a:r>
              <a:rPr lang="zh-CN" altLang="en-US" b="1" dirty="0">
                <a:solidFill>
                  <a:srgbClr val="0000FF"/>
                </a:solidFill>
              </a:rPr>
              <a:t>有色金属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0000FF"/>
                </a:solidFill>
              </a:rPr>
              <a:t>退火、正火钢</a:t>
            </a:r>
            <a:r>
              <a:rPr lang="zh-CN" altLang="en-US" b="1" dirty="0"/>
              <a:t>等。有效测量范围： </a:t>
            </a:r>
            <a:r>
              <a:rPr lang="en-US" altLang="zh-CN" b="1" dirty="0">
                <a:solidFill>
                  <a:srgbClr val="FF0000"/>
                </a:solidFill>
              </a:rPr>
              <a:t>20~100</a:t>
            </a:r>
          </a:p>
          <a:p>
            <a:pPr eaLnBrk="1" hangingPunct="1"/>
            <a:endParaRPr lang="en-US" altLang="zh-CN" sz="1600" b="1" dirty="0">
              <a:solidFill>
                <a:schemeClr val="folHlink"/>
              </a:solidFill>
            </a:endParaRPr>
          </a:p>
          <a:p>
            <a:pPr eaLnBrk="1" hangingPunct="1"/>
            <a:r>
              <a:rPr lang="en-US" altLang="zh-CN" b="1" dirty="0">
                <a:solidFill>
                  <a:schemeClr val="folHlink"/>
                </a:solidFill>
              </a:rPr>
              <a:t>HRC</a:t>
            </a:r>
            <a:r>
              <a:rPr lang="zh-CN" altLang="en-US" b="1" dirty="0"/>
              <a:t>：测量</a:t>
            </a:r>
            <a:r>
              <a:rPr lang="zh-CN" altLang="en-US" b="1" dirty="0">
                <a:solidFill>
                  <a:schemeClr val="folHlink"/>
                </a:solidFill>
              </a:rPr>
              <a:t>中等硬度</a:t>
            </a:r>
            <a:r>
              <a:rPr lang="zh-CN" altLang="en-US" b="1" dirty="0"/>
              <a:t>材料，如</a:t>
            </a:r>
            <a:r>
              <a:rPr lang="zh-CN" altLang="en-US" b="1" dirty="0">
                <a:solidFill>
                  <a:srgbClr val="0000FF"/>
                </a:solidFill>
              </a:rPr>
              <a:t>调质钢、淬火钢</a:t>
            </a:r>
            <a:r>
              <a:rPr lang="zh-CN" altLang="en-US" b="1" dirty="0"/>
              <a:t>等。有效测量范围：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20~70</a:t>
            </a:r>
          </a:p>
        </p:txBody>
      </p:sp>
      <p:sp>
        <p:nvSpPr>
          <p:cNvPr id="4813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9050" y="6496050"/>
            <a:ext cx="1979930" cy="36195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06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46</a:t>
            </a:fld>
            <a:endParaRPr lang="en-US" altLang="zh-CN" sz="1400" dirty="0"/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endParaRPr lang="zh-CN" altLang="zh-CN" dirty="0"/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endParaRPr lang="zh-CN" altLang="zh-CN" dirty="0"/>
          </a:p>
        </p:txBody>
      </p:sp>
      <p:pic>
        <p:nvPicPr>
          <p:cNvPr id="52229" name="Picture 4" descr="表1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16840"/>
            <a:ext cx="7710170" cy="28086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59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7315" y="6474460"/>
            <a:ext cx="205263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2231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2"/>
          <p:cNvGrpSpPr/>
          <p:nvPr/>
        </p:nvGrpSpPr>
        <p:grpSpPr>
          <a:xfrm>
            <a:off x="899795" y="2853055"/>
            <a:ext cx="7560945" cy="3672840"/>
            <a:chOff x="1524" y="3926"/>
            <a:chExt cx="11907" cy="5784"/>
          </a:xfrm>
        </p:grpSpPr>
        <p:pic>
          <p:nvPicPr>
            <p:cNvPr id="19477950" name="图片 1"/>
            <p:cNvPicPr>
              <a:picLocks noChangeAspect="1"/>
            </p:cNvPicPr>
            <p:nvPr/>
          </p:nvPicPr>
          <p:blipFill>
            <a:blip r:embed="rId4"/>
            <a:srcRect l="21671" t="35706" r="38406" b="23815"/>
            <a:stretch>
              <a:fillRect/>
            </a:stretch>
          </p:blipFill>
          <p:spPr>
            <a:xfrm>
              <a:off x="1524" y="3926"/>
              <a:ext cx="11907" cy="5784"/>
            </a:xfrm>
            <a:prstGeom prst="rect">
              <a:avLst/>
            </a:prstGeom>
            <a:ln>
              <a:noFill/>
            </a:ln>
          </p:spPr>
        </p:pic>
        <p:sp>
          <p:nvSpPr>
            <p:cNvPr id="2" name="文本框 1"/>
            <p:cNvSpPr txBox="1"/>
            <p:nvPr/>
          </p:nvSpPr>
          <p:spPr>
            <a:xfrm>
              <a:off x="9014" y="3926"/>
              <a:ext cx="35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00FF"/>
                  </a:solidFill>
                  <a:latin typeface="Arial" panose="020B0604020202020204" pitchFamily="34" charset="0"/>
                  <a:ea typeface="华文中宋" panose="02010600040101010101" pitchFamily="2" charset="-122"/>
                  <a:sym typeface="+mn-ea"/>
                </a:rPr>
                <a:t>GB/T230.1-2018</a:t>
              </a:r>
              <a:r>
                <a:rPr lang="zh-CN" altLang="en-US" b="1" dirty="0">
                  <a:solidFill>
                    <a:srgbClr val="0000FF"/>
                  </a:solidFill>
                  <a:latin typeface="Arial" panose="020B0604020202020204" pitchFamily="34" charset="0"/>
                  <a:ea typeface="华文中宋" panose="02010600040101010101" pitchFamily="2" charset="-122"/>
                  <a:sym typeface="+mn-ea"/>
                </a:rPr>
                <a:t>版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30275"/>
          </a:xfrm>
        </p:spPr>
        <p:txBody>
          <a:bodyPr vert="horz" wrap="square" lIns="91440" tIns="45720" rIns="91440" bIns="45720" anchor="b" anchorCtr="0"/>
          <a:lstStyle/>
          <a:p>
            <a:r>
              <a:rPr lang="zh-CN" altLang="zh-CN" dirty="0"/>
              <a:t>《庞</a:t>
            </a:r>
            <a:r>
              <a:rPr lang="en-US" altLang="zh-CN" dirty="0"/>
              <a:t>p9</a:t>
            </a:r>
            <a:r>
              <a:rPr lang="zh-CN" altLang="zh-CN" dirty="0"/>
              <a:t>》</a:t>
            </a:r>
          </a:p>
        </p:txBody>
      </p:sp>
      <p:sp>
        <p:nvSpPr>
          <p:cNvPr id="5325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47</a:t>
            </a:fld>
            <a:endParaRPr lang="en-US" altLang="zh-CN" sz="1400" dirty="0"/>
          </a:p>
        </p:txBody>
      </p:sp>
      <p:sp>
        <p:nvSpPr>
          <p:cNvPr id="49159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79388" y="6381750"/>
            <a:ext cx="1905000" cy="31908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3253" name="内容占位符 1" descr="《庞国星》表1-2 001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47638" y="2684463"/>
            <a:ext cx="8472487" cy="2268537"/>
          </a:xfrm>
        </p:spPr>
      </p:pic>
      <p:pic>
        <p:nvPicPr>
          <p:cNvPr id="53254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15100"/>
            <a:ext cx="558800" cy="3429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48</a:t>
            </a:fld>
            <a:endParaRPr lang="en-US" altLang="zh-CN" sz="1400" dirty="0"/>
          </a:p>
        </p:txBody>
      </p:sp>
      <p:sp>
        <p:nvSpPr>
          <p:cNvPr id="76802" name="Rectangle 2"/>
          <p:cNvSpPr>
            <a:spLocks noGrp="1"/>
          </p:cNvSpPr>
          <p:nvPr>
            <p:ph idx="1"/>
          </p:nvPr>
        </p:nvSpPr>
        <p:spPr>
          <a:xfrm>
            <a:off x="1714500" y="457200"/>
            <a:ext cx="5826760" cy="990600"/>
          </a:xfrm>
        </p:spPr>
        <p:txBody>
          <a:bodyPr vert="horz" wrap="square" lIns="91440" tIns="45720" rIns="91440" bIns="45720" anchor="t" anchorCtr="0"/>
          <a:lstStyle/>
          <a:p>
            <a:pPr algn="ctr" eaLnBrk="1" hangingPunct="1">
              <a:buNone/>
            </a:pPr>
            <a:r>
              <a:rPr lang="zh-CN" altLang="en-US" sz="4400" b="1" dirty="0">
                <a:solidFill>
                  <a:srgbClr val="FF0000"/>
                </a:solidFill>
                <a:ea typeface="华文中宋" panose="02010600040101010101" pitchFamily="2" charset="-122"/>
              </a:rPr>
              <a:t>洛氏硬度</a:t>
            </a:r>
            <a:r>
              <a:rPr lang="en-US" altLang="zh-CN" sz="4400" b="1" dirty="0">
                <a:solidFill>
                  <a:srgbClr val="FF0000"/>
                </a:solidFill>
                <a:ea typeface="华文中宋" panose="02010600040101010101" pitchFamily="2" charset="-122"/>
              </a:rPr>
              <a:t>——</a:t>
            </a:r>
            <a:r>
              <a:rPr lang="zh-CN" altLang="en-US" sz="4400" b="1" dirty="0">
                <a:solidFill>
                  <a:srgbClr val="FF0000"/>
                </a:solidFill>
                <a:ea typeface="华文中宋" panose="02010600040101010101" pitchFamily="2" charset="-122"/>
              </a:rPr>
              <a:t>特点</a:t>
            </a:r>
          </a:p>
        </p:txBody>
      </p:sp>
      <p:sp>
        <p:nvSpPr>
          <p:cNvPr id="76803" name="Rectangle 3"/>
          <p:cNvSpPr/>
          <p:nvPr/>
        </p:nvSpPr>
        <p:spPr>
          <a:xfrm>
            <a:off x="381000" y="1844358"/>
            <a:ext cx="5830888" cy="46370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优点：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操作简便，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压痕小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，适用范围广。</a:t>
            </a:r>
            <a:endParaRPr lang="zh-CN" altLang="en-US" sz="3200" b="1" dirty="0">
              <a:solidFill>
                <a:srgbClr val="66FF33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缺点：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测量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结果分散度大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重复性差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lang="en-US" altLang="zh-CN" sz="32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不同标尺的洛氏硬度值不能相互比较！</a:t>
            </a:r>
          </a:p>
        </p:txBody>
      </p:sp>
      <p:grpSp>
        <p:nvGrpSpPr>
          <p:cNvPr id="54277" name="Group 12"/>
          <p:cNvGrpSpPr/>
          <p:nvPr/>
        </p:nvGrpSpPr>
        <p:grpSpPr>
          <a:xfrm>
            <a:off x="6302375" y="2066925"/>
            <a:ext cx="2698750" cy="2433638"/>
            <a:chOff x="3742" y="1480"/>
            <a:chExt cx="1700" cy="1533"/>
          </a:xfrm>
        </p:grpSpPr>
        <p:pic>
          <p:nvPicPr>
            <p:cNvPr id="54280" name="Picture 9" descr="rockimpressio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42" y="1480"/>
              <a:ext cx="1700" cy="1533"/>
            </a:xfrm>
            <a:prstGeom prst="rect">
              <a:avLst/>
            </a:prstGeom>
            <a:noFill/>
            <a:ln w="28575">
              <a:noFill/>
            </a:ln>
          </p:spPr>
        </p:pic>
        <p:sp>
          <p:nvSpPr>
            <p:cNvPr id="54281" name="Text Box 10"/>
            <p:cNvSpPr txBox="1"/>
            <p:nvPr/>
          </p:nvSpPr>
          <p:spPr>
            <a:xfrm>
              <a:off x="3923" y="2704"/>
              <a:ext cx="120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SzPct val="100000"/>
              </a:pPr>
              <a:r>
                <a:rPr lang="zh-CN" altLang="en-US" sz="2000" b="1" dirty="0">
                  <a:solidFill>
                    <a:srgbClr val="FFFF66"/>
                  </a:solidFill>
                  <a:latin typeface="Times New Roman" panose="02020603050405020304" pitchFamily="18" charset="0"/>
                </a:rPr>
                <a:t>洛氏硬度压痕</a:t>
              </a:r>
            </a:p>
          </p:txBody>
        </p:sp>
      </p:grpSp>
      <p:sp>
        <p:nvSpPr>
          <p:cNvPr id="50183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515100"/>
            <a:ext cx="205263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4279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build="p" advAuto="1000"/>
      <p:bldP spid="76803" grpId="0" build="p" advAuto="100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293100" y="6510338"/>
            <a:ext cx="701675" cy="3429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49</a:t>
            </a:fld>
            <a:endParaRPr lang="en-US" altLang="zh-CN" sz="1400" dirty="0"/>
          </a:p>
        </p:txBody>
      </p:sp>
      <p:sp>
        <p:nvSpPr>
          <p:cNvPr id="55299" name="Rectangle 2"/>
          <p:cNvSpPr>
            <a:spLocks noGrp="1"/>
          </p:cNvSpPr>
          <p:nvPr>
            <p:ph type="title"/>
          </p:nvPr>
        </p:nvSpPr>
        <p:spPr>
          <a:xfrm>
            <a:off x="2143125" y="214313"/>
            <a:ext cx="4445000" cy="7493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洛氏硬度值举例</a:t>
            </a:r>
          </a:p>
        </p:txBody>
      </p:sp>
      <p:sp>
        <p:nvSpPr>
          <p:cNvPr id="55300" name="Rectangle 3"/>
          <p:cNvSpPr>
            <a:spLocks noGrp="1"/>
          </p:cNvSpPr>
          <p:nvPr>
            <p:ph idx="1"/>
          </p:nvPr>
        </p:nvSpPr>
        <p:spPr>
          <a:xfrm>
            <a:off x="684213" y="2017713"/>
            <a:ext cx="8270875" cy="4579937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示值方法：</a:t>
            </a:r>
            <a:r>
              <a:rPr lang="zh-CN" altLang="en-US" b="1" dirty="0">
                <a:ea typeface="华文中宋" panose="02010600040101010101" pitchFamily="2" charset="-122"/>
              </a:rPr>
              <a:t>符号</a:t>
            </a:r>
            <a:r>
              <a:rPr lang="en-US" altLang="zh-CN" b="1" dirty="0">
                <a:ea typeface="华文中宋" panose="02010600040101010101" pitchFamily="2" charset="-122"/>
              </a:rPr>
              <a:t>HR</a:t>
            </a:r>
            <a:r>
              <a:rPr lang="zh-CN" altLang="en-US" b="1" dirty="0">
                <a:ea typeface="华文中宋" panose="02010600040101010101" pitchFamily="2" charset="-122"/>
              </a:rPr>
              <a:t>前面的数字为硬度值，后面为使用的标尺。</a:t>
            </a:r>
          </a:p>
          <a:p>
            <a:pPr eaLnBrk="1" hangingPunct="1"/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60HR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B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硬质合金球压头</a:t>
            </a:r>
            <a:r>
              <a:rPr lang="zh-CN" altLang="en-US" b="1" dirty="0">
                <a:ea typeface="华文中宋" panose="02010600040101010101" pitchFamily="2" charset="-122"/>
              </a:rPr>
              <a:t>在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标尺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上测得的洛氏硬度值为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60</a:t>
            </a: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59HRC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标尺</a:t>
            </a:r>
            <a:r>
              <a:rPr lang="zh-CN" altLang="en-US" b="1" dirty="0">
                <a:ea typeface="华文中宋" panose="02010600040101010101" pitchFamily="2" charset="-122"/>
              </a:rPr>
              <a:t>上测得的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洛氏硬度值为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59</a:t>
            </a:r>
          </a:p>
        </p:txBody>
      </p:sp>
      <p:sp>
        <p:nvSpPr>
          <p:cNvPr id="5120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429375"/>
            <a:ext cx="198120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5302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50288" y="6548438"/>
            <a:ext cx="446087" cy="309562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50</a:t>
            </a:fld>
            <a:endParaRPr lang="en-US" altLang="zh-CN" sz="1400" dirty="0"/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xfrm>
            <a:off x="725488" y="90488"/>
            <a:ext cx="8413750" cy="1500187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维氏硬度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HV</a:t>
            </a:r>
            <a:b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</a:b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Vickers hardness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>
          <a:xfrm>
            <a:off x="539750" y="2205038"/>
            <a:ext cx="511175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英国人</a:t>
            </a:r>
            <a:r>
              <a:rPr lang="en-US" altLang="zh-CN" dirty="0"/>
              <a:t>R.L.Smith</a:t>
            </a:r>
            <a:r>
              <a:rPr lang="zh-CN" altLang="en-US" dirty="0"/>
              <a:t>和</a:t>
            </a:r>
            <a:r>
              <a:rPr lang="en-US" altLang="zh-CN" dirty="0"/>
              <a:t>G.E. Sandland</a:t>
            </a:r>
            <a:r>
              <a:rPr lang="zh-CN" altLang="en-US" dirty="0"/>
              <a:t>于</a:t>
            </a:r>
            <a:r>
              <a:rPr lang="en-US" altLang="zh-CN" dirty="0"/>
              <a:t>1925</a:t>
            </a:r>
            <a:r>
              <a:rPr lang="zh-CN" altLang="en-US" dirty="0"/>
              <a:t>年提出</a:t>
            </a:r>
          </a:p>
          <a:p>
            <a:pPr eaLnBrk="1" hangingPunct="1">
              <a:buNone/>
            </a:pPr>
            <a:endParaRPr lang="zh-CN" altLang="en-US" dirty="0"/>
          </a:p>
          <a:p>
            <a:pPr eaLnBrk="1" hangingPunct="1"/>
            <a:r>
              <a:rPr lang="zh-CN" altLang="en-US" dirty="0"/>
              <a:t>第一台</a:t>
            </a:r>
            <a:r>
              <a:rPr lang="zh-CN" altLang="en-US" b="1" dirty="0"/>
              <a:t>维氏硬度计由</a:t>
            </a:r>
            <a:r>
              <a:rPr lang="zh-CN" altLang="en-US" b="1" dirty="0">
                <a:solidFill>
                  <a:srgbClr val="0033CC"/>
                </a:solidFill>
              </a:rPr>
              <a:t>英国</a:t>
            </a:r>
            <a:r>
              <a:rPr lang="en-US" altLang="zh-CN" b="1" dirty="0">
                <a:solidFill>
                  <a:srgbClr val="0033CC"/>
                </a:solidFill>
              </a:rPr>
              <a:t>Vickers </a:t>
            </a:r>
            <a:r>
              <a:rPr lang="zh-CN" altLang="en-US" b="1" dirty="0">
                <a:solidFill>
                  <a:srgbClr val="0033CC"/>
                </a:solidFill>
              </a:rPr>
              <a:t>公司</a:t>
            </a:r>
            <a:r>
              <a:rPr lang="zh-CN" altLang="en-US" b="1" dirty="0"/>
              <a:t>研制成功。</a:t>
            </a:r>
          </a:p>
        </p:txBody>
      </p:sp>
      <p:grpSp>
        <p:nvGrpSpPr>
          <p:cNvPr id="56325" name="Group 8"/>
          <p:cNvGrpSpPr/>
          <p:nvPr/>
        </p:nvGrpSpPr>
        <p:grpSpPr>
          <a:xfrm>
            <a:off x="5795963" y="1700213"/>
            <a:ext cx="3170237" cy="5157787"/>
            <a:chOff x="3606" y="1071"/>
            <a:chExt cx="1997" cy="3249"/>
          </a:xfrm>
        </p:grpSpPr>
        <p:pic>
          <p:nvPicPr>
            <p:cNvPr id="56328" name="Picture 6" descr="hvs-50维氏硬度计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6" y="1071"/>
              <a:ext cx="1997" cy="2946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56329" name="Text Box 7"/>
            <p:cNvSpPr txBox="1"/>
            <p:nvPr/>
          </p:nvSpPr>
          <p:spPr>
            <a:xfrm>
              <a:off x="4014" y="4032"/>
              <a:ext cx="129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SzPct val="100000"/>
              </a:pPr>
              <a:r>
                <a:rPr lang="zh-CN" altLang="en-US" sz="24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维氏硬度计</a:t>
              </a:r>
            </a:p>
          </p:txBody>
        </p:sp>
      </p:grpSp>
      <p:sp>
        <p:nvSpPr>
          <p:cNvPr id="5223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452870"/>
            <a:ext cx="1908175" cy="31940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6327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67713" y="6570663"/>
            <a:ext cx="547687" cy="28733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51</a:t>
            </a:fld>
            <a:endParaRPr lang="en-US" altLang="zh-CN" sz="1400" dirty="0"/>
          </a:p>
        </p:txBody>
      </p:sp>
      <p:sp>
        <p:nvSpPr>
          <p:cNvPr id="57347" name="Rectangle 2"/>
          <p:cNvSpPr>
            <a:spLocks noGrp="1"/>
          </p:cNvSpPr>
          <p:nvPr>
            <p:ph type="title"/>
          </p:nvPr>
        </p:nvSpPr>
        <p:spPr>
          <a:xfrm>
            <a:off x="766763" y="9525"/>
            <a:ext cx="5676900" cy="147955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维氏硬度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HV</a:t>
            </a:r>
            <a:b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</a:b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Vickers hardness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7348" name="Rectangle 3"/>
          <p:cNvSpPr>
            <a:spLocks noGrp="1"/>
          </p:cNvSpPr>
          <p:nvPr>
            <p:ph idx="1"/>
          </p:nvPr>
        </p:nvSpPr>
        <p:spPr>
          <a:xfrm>
            <a:off x="250825" y="2017713"/>
            <a:ext cx="6121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solidFill>
                  <a:srgbClr val="0033CC"/>
                </a:solidFill>
              </a:rPr>
              <a:t>压头：</a:t>
            </a:r>
            <a:r>
              <a:rPr lang="en-US" altLang="zh-CN" dirty="0"/>
              <a:t>136</a:t>
            </a:r>
            <a:r>
              <a:rPr lang="en-US" altLang="zh-CN" dirty="0">
                <a:latin typeface="Arial" panose="020B0604020202020204" pitchFamily="34" charset="0"/>
              </a:rPr>
              <a:t>º</a:t>
            </a:r>
            <a:r>
              <a:rPr lang="zh-CN" altLang="en-US" dirty="0"/>
              <a:t>金刚石正四棱锥</a:t>
            </a:r>
          </a:p>
          <a:p>
            <a:pPr eaLnBrk="1" hangingPunct="1"/>
            <a:r>
              <a:rPr lang="zh-CN" altLang="en-US" b="1" dirty="0">
                <a:solidFill>
                  <a:srgbClr val="0033CC"/>
                </a:solidFill>
              </a:rPr>
              <a:t>表征方法：</a:t>
            </a:r>
            <a:r>
              <a:rPr lang="zh-CN" altLang="en-US" b="1" dirty="0">
                <a:solidFill>
                  <a:srgbClr val="0000FF"/>
                </a:solidFill>
              </a:rPr>
              <a:t>压力</a:t>
            </a:r>
            <a:r>
              <a:rPr lang="en-US" altLang="zh-CN" b="1" dirty="0">
                <a:solidFill>
                  <a:srgbClr val="0000FF"/>
                </a:solidFill>
              </a:rPr>
              <a:t>/</a:t>
            </a:r>
            <a:r>
              <a:rPr lang="zh-CN" altLang="en-US" b="1" dirty="0">
                <a:solidFill>
                  <a:srgbClr val="FF0000"/>
                </a:solidFill>
              </a:rPr>
              <a:t>表面积</a:t>
            </a:r>
          </a:p>
        </p:txBody>
      </p:sp>
      <p:grpSp>
        <p:nvGrpSpPr>
          <p:cNvPr id="57349" name="Group 5"/>
          <p:cNvGrpSpPr/>
          <p:nvPr/>
        </p:nvGrpSpPr>
        <p:grpSpPr>
          <a:xfrm>
            <a:off x="2339975" y="3159125"/>
            <a:ext cx="2840038" cy="3698875"/>
            <a:chOff x="48" y="890"/>
            <a:chExt cx="1789" cy="3126"/>
          </a:xfrm>
        </p:grpSpPr>
        <p:sp>
          <p:nvSpPr>
            <p:cNvPr id="57356" name="Text Box 6"/>
            <p:cNvSpPr txBox="1"/>
            <p:nvPr/>
          </p:nvSpPr>
          <p:spPr>
            <a:xfrm>
              <a:off x="48" y="3630"/>
              <a:ext cx="1789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SzPct val="100000"/>
              </a:pP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维氏硬度测试原理</a:t>
              </a:r>
            </a:p>
          </p:txBody>
        </p:sp>
        <p:pic>
          <p:nvPicPr>
            <p:cNvPr id="57357" name="Picture 7" descr="维氏硬度原理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" y="890"/>
              <a:ext cx="1449" cy="272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57350" name="Group 8"/>
          <p:cNvGrpSpPr/>
          <p:nvPr/>
        </p:nvGrpSpPr>
        <p:grpSpPr>
          <a:xfrm>
            <a:off x="6227763" y="765175"/>
            <a:ext cx="2687637" cy="5210175"/>
            <a:chOff x="2018" y="663"/>
            <a:chExt cx="1693" cy="3282"/>
          </a:xfrm>
        </p:grpSpPr>
        <p:pic>
          <p:nvPicPr>
            <p:cNvPr id="57353" name="Picture 9" descr="vicker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8" y="663"/>
              <a:ext cx="1693" cy="158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54" name="Picture 10" descr="msimpressio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18" y="2205"/>
              <a:ext cx="1514" cy="13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55" name="Text Box 11"/>
            <p:cNvSpPr txBox="1"/>
            <p:nvPr/>
          </p:nvSpPr>
          <p:spPr>
            <a:xfrm>
              <a:off x="2290" y="3657"/>
              <a:ext cx="129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SzPct val="100000"/>
              </a:pP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维氏硬度压痕</a:t>
              </a:r>
            </a:p>
          </p:txBody>
        </p:sp>
      </p:grpSp>
      <p:sp>
        <p:nvSpPr>
          <p:cNvPr id="5325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429375"/>
            <a:ext cx="198120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7352" name="内容占位符 1" descr="新校徽（3M）弓之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180330" y="5949315"/>
            <a:ext cx="37261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</a:rPr>
              <a:t>GB</a:t>
            </a:r>
            <a:r>
              <a:rPr lang="en-US" altLang="zh-CN" b="1">
                <a:solidFill>
                  <a:srgbClr val="0000FF"/>
                </a:solidFill>
              </a:rPr>
              <a:t>/</a:t>
            </a:r>
            <a:r>
              <a:rPr lang="zh-CN" altLang="en-US" b="1">
                <a:solidFill>
                  <a:srgbClr val="0000FF"/>
                </a:solidFill>
              </a:rPr>
              <a:t>T 4340.1-</a:t>
            </a:r>
            <a:r>
              <a:rPr lang="zh-CN" altLang="en-US" b="1">
                <a:solidFill>
                  <a:srgbClr val="FF0000"/>
                </a:solidFill>
              </a:rPr>
              <a:t>2009</a:t>
            </a:r>
            <a:r>
              <a:rPr lang="en-US" altLang="zh-CN" b="1">
                <a:solidFill>
                  <a:srgbClr val="0000FF"/>
                </a:solidFill>
              </a:rPr>
              <a:t>/2024</a:t>
            </a:r>
            <a:r>
              <a:rPr lang="zh-CN" altLang="en-US" b="1">
                <a:solidFill>
                  <a:srgbClr val="0000FF"/>
                </a:solidFill>
              </a:rPr>
              <a:t>  金属材料 维氏硬度试验 第1部分：试验方法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42325" y="6589713"/>
            <a:ext cx="495300" cy="2682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52</a:t>
            </a:fld>
            <a:endParaRPr lang="en-US" altLang="zh-CN" sz="1400" dirty="0"/>
          </a:p>
        </p:txBody>
      </p:sp>
      <p:sp>
        <p:nvSpPr>
          <p:cNvPr id="78850" name="Rectangle 2"/>
          <p:cNvSpPr>
            <a:spLocks noGrp="1"/>
          </p:cNvSpPr>
          <p:nvPr>
            <p:ph idx="1"/>
          </p:nvPr>
        </p:nvSpPr>
        <p:spPr>
          <a:xfrm>
            <a:off x="457200" y="2000250"/>
            <a:ext cx="8147050" cy="421481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维氏硬度符号：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</a:rPr>
              <a:t>HV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符号前的数字为硬度值，后面的数字按顺序分别表示</a:t>
            </a: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载荷值</a:t>
            </a:r>
            <a:r>
              <a:rPr lang="zh-CN" altLang="en-US" b="1" dirty="0"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载荷保持时间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例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</a:rPr>
              <a:t>640HV30/20</a:t>
            </a:r>
            <a:r>
              <a:rPr lang="zh-CN" altLang="en-US" b="1" dirty="0">
                <a:ea typeface="华文中宋" panose="02010600040101010101" pitchFamily="2" charset="-122"/>
              </a:rPr>
              <a:t>：在</a:t>
            </a:r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试验力</a:t>
            </a:r>
            <a:r>
              <a:rPr lang="en-US" altLang="zh-CN" b="1" dirty="0">
                <a:ea typeface="华文中宋" panose="02010600040101010101" pitchFamily="2" charset="-122"/>
              </a:rPr>
              <a:t>=294.2N(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</a:rPr>
              <a:t>30kgf)</a:t>
            </a:r>
            <a:r>
              <a:rPr lang="zh-CN" altLang="en-US" b="1" dirty="0">
                <a:ea typeface="华文中宋" panose="02010600040101010101" pitchFamily="2" charset="-122"/>
              </a:rPr>
              <a:t>、保持时间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</a:rPr>
              <a:t>20s</a:t>
            </a:r>
            <a:r>
              <a:rPr lang="zh-CN" altLang="en-US" b="1" dirty="0">
                <a:ea typeface="华文中宋" panose="02010600040101010101" pitchFamily="2" charset="-122"/>
              </a:rPr>
              <a:t>测得的维氏硬度值为</a:t>
            </a:r>
            <a:r>
              <a:rPr lang="en-US" altLang="zh-CN" b="1" dirty="0">
                <a:solidFill>
                  <a:srgbClr val="0033CC"/>
                </a:solidFill>
                <a:ea typeface="华文中宋" panose="02010600040101010101" pitchFamily="2" charset="-122"/>
              </a:rPr>
              <a:t>640</a:t>
            </a:r>
          </a:p>
        </p:txBody>
      </p:sp>
      <p:sp>
        <p:nvSpPr>
          <p:cNvPr id="78856" name="Rectangle 8"/>
          <p:cNvSpPr/>
          <p:nvPr/>
        </p:nvSpPr>
        <p:spPr>
          <a:xfrm>
            <a:off x="468313" y="4076700"/>
            <a:ext cx="5915025" cy="30670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</a:p>
        </p:txBody>
      </p:sp>
      <p:sp>
        <p:nvSpPr>
          <p:cNvPr id="78857" name="Rectangle 9"/>
          <p:cNvSpPr>
            <a:spLocks noGrp="1"/>
          </p:cNvSpPr>
          <p:nvPr>
            <p:ph type="title"/>
          </p:nvPr>
        </p:nvSpPr>
        <p:spPr>
          <a:xfrm>
            <a:off x="914400" y="285750"/>
            <a:ext cx="8193088" cy="1152525"/>
          </a:xfrm>
        </p:spPr>
        <p:txBody>
          <a:bodyPr vert="horz" wrap="square" lIns="92075" tIns="46038" rIns="92075" bIns="46038" anchor="ctr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</a:rPr>
              <a:t>维氏硬度</a:t>
            </a:r>
            <a:r>
              <a:rPr lang="en-US" altLang="zh-CN" b="1" dirty="0">
                <a:solidFill>
                  <a:srgbClr val="FF0000"/>
                </a:solidFill>
              </a:rPr>
              <a:t>HV</a:t>
            </a:r>
            <a:r>
              <a:rPr lang="en-US" altLang="zh-CN" b="1" dirty="0">
                <a:latin typeface="Arial" panose="020B0604020202020204" pitchFamily="34" charset="0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表示方法</a:t>
            </a:r>
          </a:p>
        </p:txBody>
      </p:sp>
      <p:sp>
        <p:nvSpPr>
          <p:cNvPr id="54279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88900" y="6553200"/>
            <a:ext cx="196215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8375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8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build="p" advAuto="1000"/>
      <p:bldP spid="78856" grpId="0" build="p" advAuto="1000"/>
      <p:bldP spid="7885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69300" y="6578600"/>
            <a:ext cx="585788" cy="27305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53</a:t>
            </a:fld>
            <a:endParaRPr lang="en-US" altLang="zh-CN" sz="1400" dirty="0"/>
          </a:p>
        </p:txBody>
      </p:sp>
      <p:sp>
        <p:nvSpPr>
          <p:cNvPr id="59395" name="Rectangle 2"/>
          <p:cNvSpPr>
            <a:spLocks noGrp="1"/>
          </p:cNvSpPr>
          <p:nvPr>
            <p:ph type="title"/>
          </p:nvPr>
        </p:nvSpPr>
        <p:spPr>
          <a:xfrm>
            <a:off x="1177925" y="93663"/>
            <a:ext cx="7327900" cy="820737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</a:rPr>
              <a:t>维氏硬度</a:t>
            </a:r>
            <a:r>
              <a:rPr lang="en-US" altLang="zh-CN" b="1" dirty="0">
                <a:solidFill>
                  <a:srgbClr val="FF0000"/>
                </a:solidFill>
              </a:rPr>
              <a:t>HV</a:t>
            </a:r>
            <a:r>
              <a:rPr lang="en-US" altLang="zh-CN" b="1" dirty="0">
                <a:latin typeface="Arial" panose="020B0604020202020204" pitchFamily="34" charset="0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特点</a:t>
            </a:r>
          </a:p>
        </p:txBody>
      </p:sp>
      <p:sp>
        <p:nvSpPr>
          <p:cNvPr id="59396" name="Rectangle 3"/>
          <p:cNvSpPr>
            <a:spLocks noGrp="1"/>
          </p:cNvSpPr>
          <p:nvPr>
            <p:ph idx="1"/>
          </p:nvPr>
        </p:nvSpPr>
        <p:spPr>
          <a:xfrm>
            <a:off x="323850" y="2017713"/>
            <a:ext cx="8631238" cy="42910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33CC"/>
                </a:solidFill>
              </a:rPr>
              <a:t>优点：</a:t>
            </a:r>
            <a:r>
              <a:rPr lang="zh-CN" altLang="en-US" b="1" dirty="0">
                <a:solidFill>
                  <a:srgbClr val="FF0000"/>
                </a:solidFill>
              </a:rPr>
              <a:t>测量范围宽</a:t>
            </a:r>
            <a:r>
              <a:rPr lang="zh-CN" altLang="en-US" b="1" dirty="0"/>
              <a:t>（</a:t>
            </a:r>
            <a:r>
              <a:rPr lang="zh-CN" altLang="en-US" b="1" dirty="0">
                <a:solidFill>
                  <a:srgbClr val="0000FF"/>
                </a:solidFill>
              </a:rPr>
              <a:t>极软</a:t>
            </a:r>
            <a:r>
              <a:rPr lang="zh-CN" altLang="en-US" b="1" dirty="0"/>
              <a:t> </a:t>
            </a:r>
            <a:r>
              <a:rPr lang="en-US" altLang="zh-CN" b="1" dirty="0"/>
              <a:t>~</a:t>
            </a:r>
            <a:r>
              <a:rPr lang="zh-CN" altLang="en-US" b="1" dirty="0"/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极硬</a:t>
            </a:r>
            <a:r>
              <a:rPr lang="zh-CN" altLang="en-US" b="1" dirty="0"/>
              <a:t>）；</a:t>
            </a:r>
            <a:r>
              <a:rPr lang="zh-CN" altLang="en-US" b="1" dirty="0">
                <a:solidFill>
                  <a:srgbClr val="0000FF"/>
                </a:solidFill>
              </a:rPr>
              <a:t>适应对象广</a:t>
            </a:r>
            <a:r>
              <a:rPr lang="en-US" altLang="zh-CN" b="1" dirty="0"/>
              <a:t>[</a:t>
            </a:r>
            <a:r>
              <a:rPr lang="zh-CN" altLang="en-US" b="1" dirty="0"/>
              <a:t>块体材料、薄件（</a:t>
            </a:r>
            <a:r>
              <a:rPr lang="en-US" altLang="zh-CN" b="1" dirty="0"/>
              <a:t>0.3~0.5mm</a:t>
            </a:r>
            <a:r>
              <a:rPr lang="zh-CN" altLang="en-US" b="1" dirty="0"/>
              <a:t>）、薄层（</a:t>
            </a:r>
            <a:r>
              <a:rPr lang="en-US" altLang="zh-CN" b="1" dirty="0"/>
              <a:t>0.03~0.05mm</a:t>
            </a:r>
            <a:r>
              <a:rPr lang="zh-CN" altLang="en-US" b="1" dirty="0"/>
              <a:t>）（表面硬化层）、</a:t>
            </a:r>
            <a:r>
              <a:rPr lang="zh-CN" altLang="en-US" b="1" dirty="0">
                <a:solidFill>
                  <a:srgbClr val="0033CC"/>
                </a:solidFill>
              </a:rPr>
              <a:t>相</a:t>
            </a:r>
            <a:r>
              <a:rPr lang="en-US" altLang="zh-CN" b="1" dirty="0"/>
              <a:t>]</a:t>
            </a:r>
            <a:r>
              <a:rPr lang="zh-CN" altLang="en-US" b="1" dirty="0"/>
              <a:t>；</a:t>
            </a:r>
            <a:r>
              <a:rPr lang="zh-CN" altLang="en-US" b="1" dirty="0">
                <a:solidFill>
                  <a:srgbClr val="FF0000"/>
                </a:solidFill>
              </a:rPr>
              <a:t>压痕小</a:t>
            </a:r>
            <a:r>
              <a:rPr lang="zh-CN" altLang="en-US" b="1" dirty="0"/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33CC"/>
                </a:solidFill>
              </a:rPr>
              <a:t>缺点：</a:t>
            </a:r>
            <a:r>
              <a:rPr lang="zh-CN" altLang="en-US" b="1" dirty="0"/>
              <a:t>需在</a:t>
            </a:r>
            <a:r>
              <a:rPr lang="zh-CN" altLang="en-US" b="1" dirty="0">
                <a:solidFill>
                  <a:srgbClr val="0000FF"/>
                </a:solidFill>
              </a:rPr>
              <a:t>显微镜下</a:t>
            </a:r>
            <a:r>
              <a:rPr lang="zh-CN" altLang="en-US" b="1" dirty="0"/>
              <a:t>测量，操作不够简便，被测表面部位需</a:t>
            </a:r>
            <a:r>
              <a:rPr lang="zh-CN" altLang="en-US" b="1" dirty="0">
                <a:solidFill>
                  <a:srgbClr val="0000FF"/>
                </a:solidFill>
              </a:rPr>
              <a:t>细磨</a:t>
            </a:r>
            <a:r>
              <a:rPr lang="zh-CN" altLang="en-US" b="1" dirty="0"/>
              <a:t>或</a:t>
            </a:r>
            <a:r>
              <a:rPr lang="zh-CN" altLang="en-US" b="1" dirty="0">
                <a:solidFill>
                  <a:srgbClr val="0000FF"/>
                </a:solidFill>
              </a:rPr>
              <a:t>抛光</a:t>
            </a:r>
            <a:r>
              <a:rPr lang="zh-CN" altLang="en-US" b="1" dirty="0"/>
              <a:t> 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33CC"/>
                </a:solidFill>
              </a:rPr>
              <a:t>应用：有色金属、黑色金属</a:t>
            </a:r>
            <a:r>
              <a:rPr lang="zh-CN" altLang="en-US" b="1" dirty="0">
                <a:solidFill>
                  <a:srgbClr val="FF0000"/>
                </a:solidFill>
              </a:rPr>
              <a:t>块体材料、薄件</a:t>
            </a:r>
            <a:r>
              <a:rPr lang="zh-CN" altLang="en-US" b="1" dirty="0"/>
              <a:t>（</a:t>
            </a:r>
            <a:r>
              <a:rPr lang="en-US" altLang="zh-CN" b="1" dirty="0"/>
              <a:t>0.3~0.5mm</a:t>
            </a:r>
            <a:r>
              <a:rPr lang="zh-CN" altLang="en-US" b="1" dirty="0"/>
              <a:t>）、</a:t>
            </a:r>
            <a:r>
              <a:rPr lang="zh-CN" altLang="en-US" b="1" dirty="0">
                <a:solidFill>
                  <a:srgbClr val="FF0000"/>
                </a:solidFill>
              </a:rPr>
              <a:t>薄层</a:t>
            </a:r>
            <a:r>
              <a:rPr lang="zh-CN" altLang="en-US" b="1" dirty="0"/>
              <a:t>（</a:t>
            </a:r>
            <a:r>
              <a:rPr lang="en-US" altLang="zh-CN" b="1" dirty="0"/>
              <a:t>0.03~0.05mm</a:t>
            </a:r>
            <a:r>
              <a:rPr lang="zh-CN" altLang="en-US" b="1" dirty="0"/>
              <a:t>）表面硬化层、</a:t>
            </a:r>
            <a:r>
              <a:rPr lang="zh-CN" altLang="en-US" b="1" dirty="0">
                <a:solidFill>
                  <a:srgbClr val="0000FF"/>
                </a:solidFill>
              </a:rPr>
              <a:t>金相组织</a:t>
            </a:r>
            <a:r>
              <a:rPr lang="zh-CN" altLang="en-US" b="1" dirty="0"/>
              <a:t>中的不同</a:t>
            </a:r>
            <a:r>
              <a:rPr lang="zh-CN" altLang="en-US" b="1" dirty="0">
                <a:solidFill>
                  <a:srgbClr val="0000FF"/>
                </a:solidFill>
              </a:rPr>
              <a:t>相</a:t>
            </a:r>
            <a:endParaRPr lang="zh-CN" altLang="en-US" dirty="0"/>
          </a:p>
        </p:txBody>
      </p:sp>
      <p:sp>
        <p:nvSpPr>
          <p:cNvPr id="5530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71438" y="6515100"/>
            <a:ext cx="205263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9398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69325" y="6494463"/>
            <a:ext cx="525463" cy="277812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54</a:t>
            </a:fld>
            <a:endParaRPr lang="en-US" altLang="zh-CN" sz="1400" dirty="0"/>
          </a:p>
        </p:txBody>
      </p:sp>
      <p:sp>
        <p:nvSpPr>
          <p:cNvPr id="60419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862012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）维氏硬度</a:t>
            </a:r>
            <a:r>
              <a:rPr lang="en-US" altLang="zh-CN" b="1" dirty="0">
                <a:solidFill>
                  <a:srgbClr val="FF0000"/>
                </a:solidFill>
              </a:rPr>
              <a:t>HV</a:t>
            </a:r>
            <a:r>
              <a:rPr lang="en-US" altLang="zh-CN" b="1" dirty="0">
                <a:latin typeface="Arial" panose="020B0604020202020204" pitchFamily="34" charset="0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分类</a:t>
            </a:r>
          </a:p>
        </p:txBody>
      </p:sp>
      <p:sp>
        <p:nvSpPr>
          <p:cNvPr id="60420" name="Rectangle 3"/>
          <p:cNvSpPr>
            <a:spLocks noGrp="1"/>
          </p:cNvSpPr>
          <p:nvPr>
            <p:ph idx="1"/>
          </p:nvPr>
        </p:nvSpPr>
        <p:spPr>
          <a:xfrm>
            <a:off x="323850" y="1916113"/>
            <a:ext cx="7416800" cy="2376487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根据</a:t>
            </a:r>
            <a:r>
              <a:rPr lang="zh-CN" altLang="en-US" b="1" dirty="0">
                <a:solidFill>
                  <a:srgbClr val="0033CC"/>
                </a:solidFill>
              </a:rPr>
              <a:t>载荷范围</a:t>
            </a:r>
            <a:r>
              <a:rPr lang="zh-CN" altLang="en-US" b="1" dirty="0">
                <a:ea typeface="华文中宋" panose="02010600040101010101" pitchFamily="2" charset="-122"/>
              </a:rPr>
              <a:t>不同，规定</a:t>
            </a:r>
            <a:r>
              <a:rPr lang="zh-CN" altLang="en-US" b="1" dirty="0"/>
              <a:t>了</a:t>
            </a:r>
            <a:r>
              <a:rPr lang="zh-CN" altLang="en-US" b="1" dirty="0">
                <a:solidFill>
                  <a:srgbClr val="0033CC"/>
                </a:solidFill>
              </a:rPr>
              <a:t>三种</a:t>
            </a:r>
            <a:r>
              <a:rPr lang="zh-CN" altLang="en-US" b="1" dirty="0"/>
              <a:t>测定方法 </a:t>
            </a:r>
            <a:r>
              <a:rPr lang="en-US" altLang="zh-CN" b="1" dirty="0">
                <a:latin typeface="Arial" panose="020B0604020202020204" pitchFamily="34" charset="0"/>
              </a:rPr>
              <a:t>—</a:t>
            </a:r>
            <a:r>
              <a:rPr lang="zh-CN" altLang="en-US" b="1" dirty="0">
                <a:solidFill>
                  <a:srgbClr val="0033CC"/>
                </a:solidFill>
              </a:rPr>
              <a:t>维氏硬度试验 、</a:t>
            </a:r>
            <a:r>
              <a:rPr lang="zh-CN" altLang="en-US" b="1" dirty="0">
                <a:solidFill>
                  <a:srgbClr val="FF0000"/>
                </a:solidFill>
              </a:rPr>
              <a:t>小负荷</a:t>
            </a:r>
            <a:r>
              <a:rPr lang="zh-CN" altLang="en-US" b="1" dirty="0">
                <a:solidFill>
                  <a:srgbClr val="0033CC"/>
                </a:solidFill>
              </a:rPr>
              <a:t>维氏硬度试验、</a:t>
            </a:r>
            <a:r>
              <a:rPr lang="zh-CN" altLang="en-US" b="1" dirty="0">
                <a:solidFill>
                  <a:srgbClr val="FF0000"/>
                </a:solidFill>
              </a:rPr>
              <a:t>显微</a:t>
            </a:r>
            <a:r>
              <a:rPr lang="zh-CN" altLang="en-US" b="1" dirty="0">
                <a:solidFill>
                  <a:srgbClr val="0033CC"/>
                </a:solidFill>
              </a:rPr>
              <a:t>维氏硬度</a:t>
            </a:r>
            <a:r>
              <a:rPr lang="zh-CN" altLang="en-US" b="1" dirty="0"/>
              <a:t>试验。</a:t>
            </a:r>
            <a:endParaRPr lang="en-US" altLang="zh-CN" b="1" dirty="0"/>
          </a:p>
        </p:txBody>
      </p:sp>
      <p:grpSp>
        <p:nvGrpSpPr>
          <p:cNvPr id="60421" name="Group 16"/>
          <p:cNvGrpSpPr/>
          <p:nvPr/>
        </p:nvGrpSpPr>
        <p:grpSpPr>
          <a:xfrm>
            <a:off x="3571875" y="3617913"/>
            <a:ext cx="2274888" cy="3240087"/>
            <a:chOff x="4327" y="2432"/>
            <a:chExt cx="1433" cy="2041"/>
          </a:xfrm>
        </p:grpSpPr>
        <p:pic>
          <p:nvPicPr>
            <p:cNvPr id="60430" name="Picture 6" descr="小负荷维氏硬度计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27" y="2432"/>
              <a:ext cx="1433" cy="2041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60431" name="Text Box 7"/>
            <p:cNvSpPr txBox="1"/>
            <p:nvPr/>
          </p:nvSpPr>
          <p:spPr>
            <a:xfrm>
              <a:off x="5452" y="2453"/>
              <a:ext cx="308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SzPct val="100000"/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小负荷维氏硬度计</a:t>
              </a:r>
            </a:p>
          </p:txBody>
        </p:sp>
      </p:grpSp>
      <p:grpSp>
        <p:nvGrpSpPr>
          <p:cNvPr id="60422" name="Group 15"/>
          <p:cNvGrpSpPr/>
          <p:nvPr/>
        </p:nvGrpSpPr>
        <p:grpSpPr>
          <a:xfrm>
            <a:off x="214313" y="3643313"/>
            <a:ext cx="3278187" cy="2338387"/>
            <a:chOff x="1927" y="2847"/>
            <a:chExt cx="2065" cy="1473"/>
          </a:xfrm>
        </p:grpSpPr>
        <p:pic>
          <p:nvPicPr>
            <p:cNvPr id="60428" name="Picture 8" descr="显微硬度计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7" y="2847"/>
              <a:ext cx="2065" cy="1473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60429" name="Text Box 9"/>
            <p:cNvSpPr txBox="1"/>
            <p:nvPr/>
          </p:nvSpPr>
          <p:spPr>
            <a:xfrm>
              <a:off x="2018" y="2886"/>
              <a:ext cx="12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SzPct val="100000"/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显微维氏硬度计</a:t>
              </a:r>
            </a:p>
          </p:txBody>
        </p:sp>
      </p:grpSp>
      <p:grpSp>
        <p:nvGrpSpPr>
          <p:cNvPr id="60423" name="Group 17"/>
          <p:cNvGrpSpPr/>
          <p:nvPr/>
        </p:nvGrpSpPr>
        <p:grpSpPr>
          <a:xfrm>
            <a:off x="6156325" y="3716338"/>
            <a:ext cx="2492375" cy="3179743"/>
            <a:chOff x="204" y="2463"/>
            <a:chExt cx="1706" cy="2171"/>
          </a:xfrm>
        </p:grpSpPr>
        <p:pic>
          <p:nvPicPr>
            <p:cNvPr id="60426" name="Picture 13" descr="hvs-50维氏硬度计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4" y="2463"/>
              <a:ext cx="1706" cy="1857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60427" name="Text Box 14"/>
            <p:cNvSpPr txBox="1"/>
            <p:nvPr/>
          </p:nvSpPr>
          <p:spPr>
            <a:xfrm>
              <a:off x="428" y="4320"/>
              <a:ext cx="1251" cy="31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lstStyle/>
            <a:p>
              <a:pPr algn="r" eaLnBrk="1" hangingPunct="1">
                <a:spcBef>
                  <a:spcPct val="50000"/>
                </a:spcBef>
                <a:buSzPct val="100000"/>
              </a:pPr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维氏硬度计</a:t>
              </a:r>
            </a:p>
          </p:txBody>
        </p:sp>
      </p:grpSp>
      <p:sp>
        <p:nvSpPr>
          <p:cNvPr id="56329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429375"/>
            <a:ext cx="19081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0425" name="内容占位符 1" descr="新校徽（3M）弓之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237538" y="6515100"/>
            <a:ext cx="703262" cy="3429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55</a:t>
            </a:fld>
            <a:endParaRPr lang="en-US" altLang="zh-CN" sz="1400" dirty="0"/>
          </a:p>
        </p:txBody>
      </p:sp>
      <p:sp>
        <p:nvSpPr>
          <p:cNvPr id="61443" name="Rectangle 2"/>
          <p:cNvSpPr>
            <a:spLocks noGrp="1"/>
          </p:cNvSpPr>
          <p:nvPr>
            <p:ph type="title"/>
          </p:nvPr>
        </p:nvSpPr>
        <p:spPr>
          <a:xfrm>
            <a:off x="1116013" y="0"/>
            <a:ext cx="8040687" cy="9144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）维氏硬度的三种测定方法 </a:t>
            </a:r>
          </a:p>
        </p:txBody>
      </p:sp>
      <p:pic>
        <p:nvPicPr>
          <p:cNvPr id="61444" name="Picture 4" descr="表1-2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85800" y="1628775"/>
            <a:ext cx="7772400" cy="4679950"/>
          </a:xfrm>
        </p:spPr>
      </p:pic>
      <p:sp>
        <p:nvSpPr>
          <p:cNvPr id="5735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429375"/>
            <a:ext cx="19081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46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7" name="文本框 1"/>
          <p:cNvSpPr txBox="1"/>
          <p:nvPr/>
        </p:nvSpPr>
        <p:spPr>
          <a:xfrm>
            <a:off x="1692275" y="6237288"/>
            <a:ext cx="66611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b="1" dirty="0">
                <a:solidFill>
                  <a:srgbClr val="0000FF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GBT/ 4340.1-2009</a:t>
            </a:r>
            <a:r>
              <a:rPr lang="zh-CN" altLang="zh-CN" dirty="0">
                <a:latin typeface="Tahoma" panose="020B0604030504040204" pitchFamily="34" charset="0"/>
                <a:ea typeface="等线" panose="02010600030101010101" pitchFamily="2" charset="-122"/>
              </a:rPr>
              <a:t>金属材料 维氏硬度试验 第</a:t>
            </a:r>
            <a:r>
              <a:rPr lang="en-US" altLang="zh-CN" dirty="0">
                <a:latin typeface="Tahoma" panose="020B0604030504040204" pitchFamily="34" charset="0"/>
                <a:ea typeface="等线" panose="02010600030101010101" pitchFamily="2" charset="-122"/>
              </a:rPr>
              <a:t>1</a:t>
            </a:r>
            <a:r>
              <a:rPr lang="zh-CN" altLang="zh-CN" dirty="0">
                <a:latin typeface="Tahoma" panose="020B0604030504040204" pitchFamily="34" charset="0"/>
                <a:ea typeface="等线" panose="02010600030101010101" pitchFamily="2" charset="-122"/>
              </a:rPr>
              <a:t>部分：试验方法</a:t>
            </a:r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5513" y="6527800"/>
            <a:ext cx="409575" cy="3302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56</a:t>
            </a:fld>
            <a:endParaRPr lang="en-US" altLang="zh-CN" sz="1400" dirty="0"/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8" cy="13430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j-cs"/>
                <a:sym typeface="+mn-ea"/>
              </a:rPr>
              <a:t>肖氏硬度（回跳硬度）</a:t>
            </a:r>
            <a:br>
              <a:rPr kumimoji="0" lang="en-US" altLang="zh-CN" sz="4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j-cs"/>
                <a:sym typeface="+mn-ea"/>
              </a:rPr>
            </a:b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仿宋_GB2312" pitchFamily="49" charset="-122"/>
                <a:cs typeface="+mn-cs"/>
              </a:rPr>
              <a:t> 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仿宋_GB2312" pitchFamily="49" charset="-122"/>
                <a:cs typeface="+mn-cs"/>
              </a:rPr>
              <a:t>Shore hardness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j-lt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62468" name="Rectangle 3"/>
          <p:cNvSpPr>
            <a:spLocks noGrp="1"/>
          </p:cNvSpPr>
          <p:nvPr>
            <p:ph idx="1"/>
          </p:nvPr>
        </p:nvSpPr>
        <p:spPr>
          <a:xfrm>
            <a:off x="323850" y="1989138"/>
            <a:ext cx="8716963" cy="453548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测试方法：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把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规定形状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和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重量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金刚石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或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钢球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冲头从初始高度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h</a:t>
            </a:r>
            <a:r>
              <a:rPr lang="en-US" altLang="zh-CN" sz="2800" b="1" baseline="-25000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0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落在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试样表面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上，冲头弹起一定高度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h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，测</a:t>
            </a:r>
            <a:r>
              <a:rPr lang="en-US" altLang="zh-CN" sz="2800" b="1" dirty="0">
                <a:latin typeface="仿宋_GB2312"/>
                <a:ea typeface="仿宋_GB2312"/>
                <a:sym typeface="+mn-ea"/>
              </a:rPr>
              <a:t>h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与</a:t>
            </a:r>
            <a:r>
              <a:rPr lang="en-US" altLang="zh-CN" sz="2800" b="1" dirty="0">
                <a:latin typeface="仿宋_GB2312"/>
                <a:ea typeface="仿宋_GB2312"/>
                <a:sym typeface="+mn-ea"/>
              </a:rPr>
              <a:t>h</a:t>
            </a:r>
            <a:r>
              <a:rPr lang="en-US" altLang="zh-CN" sz="2800" b="1" baseline="-25000" dirty="0">
                <a:latin typeface="仿宋_GB2312"/>
                <a:ea typeface="仿宋_GB2312"/>
                <a:sym typeface="+mn-ea"/>
              </a:rPr>
              <a:t>0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的比值与肖氏硬度系数的乘积就是肖氏硬度值。用符号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HS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表示。</a:t>
            </a:r>
            <a:endParaRPr lang="zh-CN" altLang="en-US" sz="2800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HS = R</a:t>
            </a:r>
            <a:r>
              <a:rPr lang="en-GB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×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h/h</a:t>
            </a:r>
            <a:r>
              <a:rPr lang="en-US" altLang="zh-CN" sz="2800" b="1" baseline="-25000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0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，式中，</a:t>
            </a:r>
            <a:r>
              <a:rPr lang="en-US" altLang="zh-CN" sz="2800" b="1" dirty="0">
                <a:latin typeface="仿宋_GB2312"/>
                <a:ea typeface="仿宋_GB2312"/>
                <a:sym typeface="+mn-ea"/>
              </a:rPr>
              <a:t>R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：肖氏硬度系数</a:t>
            </a:r>
            <a:endParaRPr lang="zh-CN" altLang="en-US" sz="2800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肖氏硬度主要取决于材料弹性变形能力的大小。</a:t>
            </a:r>
            <a:endParaRPr lang="en-US" altLang="zh-CN" sz="2800" b="1" dirty="0">
              <a:solidFill>
                <a:srgbClr val="0000FF"/>
              </a:solidFill>
              <a:latin typeface="仿宋_GB2312"/>
              <a:ea typeface="仿宋_GB2312"/>
              <a:sym typeface="+mn-ea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材料愈硬其弹性极限愈高，冲头回跳高度越高。</a:t>
            </a:r>
            <a:endParaRPr lang="en-US" altLang="zh-CN" sz="2800" b="1" dirty="0">
              <a:solidFill>
                <a:srgbClr val="0000FF"/>
              </a:solidFill>
              <a:latin typeface="仿宋_GB2312"/>
              <a:ea typeface="仿宋_GB2312"/>
              <a:sym typeface="+mn-ea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肖氏硬度值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是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无量纲的值，可在硬度计上直接读取。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应用：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适用于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测量大型表面光滑的工件，如大型冷扎辊的验收就采用肖氏硬度。</a:t>
            </a:r>
          </a:p>
        </p:txBody>
      </p:sp>
      <p:sp>
        <p:nvSpPr>
          <p:cNvPr id="5837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-69850" y="6588125"/>
            <a:ext cx="1978025" cy="26987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2470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5513" y="6527800"/>
            <a:ext cx="409575" cy="3302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57</a:t>
            </a:fld>
            <a:endParaRPr lang="en-US" altLang="zh-CN" sz="1400" dirty="0"/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>
          <a:xfrm>
            <a:off x="1150303" y="476568"/>
            <a:ext cx="7793038" cy="7826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j-cs"/>
                <a:sym typeface="+mn-ea"/>
              </a:rPr>
              <a:t>努氏硬度</a:t>
            </a:r>
            <a:r>
              <a:rPr kumimoji="0" lang="en-US" altLang="zh-CN" sz="4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j-cs"/>
                <a:sym typeface="+mn-ea"/>
              </a:rPr>
              <a:t>(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仿宋_GB2312" pitchFamily="49" charset="-122"/>
                <a:cs typeface="+mn-cs"/>
              </a:rPr>
              <a:t>Knoop hardness)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j-lt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274638" y="1916113"/>
            <a:ext cx="8594725" cy="5427662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测试方法：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将两相对棱边夹角分别为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172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Symbol" panose="05050102010706020507" pitchFamily="18" charset="2"/>
              </a:rPr>
              <a:t>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30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Symbol" panose="05050102010706020507" pitchFamily="18" charset="2"/>
              </a:rPr>
              <a:t>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130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Symbol" panose="05050102010706020507" pitchFamily="18" charset="2"/>
              </a:rPr>
              <a:t>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的菱形锥体金刚石压头以规定的试验力压入试样表面，以规定的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保持时间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后卸除试验力，测量其压痕的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长对角线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，计算出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压痕投影面积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，则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压痕投影单位面积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所承受的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平均压力值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就是努氏硬度值。</a:t>
            </a:r>
            <a:endParaRPr lang="en-US" altLang="zh-CN" sz="2800" b="1" dirty="0">
              <a:latin typeface="仿宋_GB2312"/>
              <a:ea typeface="仿宋_GB2312"/>
              <a:sym typeface="+mn-ea"/>
            </a:endParaRPr>
          </a:p>
          <a:p>
            <a:pPr eaLnBrk="1" hangingPunct="1"/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符号：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HK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。</a:t>
            </a:r>
            <a:endParaRPr lang="zh-CN" altLang="en-US" sz="2800" b="1" dirty="0">
              <a:latin typeface="仿宋_GB2312"/>
              <a:ea typeface="仿宋_GB2312"/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应用：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可以测量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极薄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、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极细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小试样，又可测量如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玻璃、玛瑙、矿石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等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脆性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材料的硬度。</a:t>
            </a:r>
            <a:endParaRPr lang="en-US" altLang="zh-CN" sz="2800" b="1" dirty="0">
              <a:latin typeface="仿宋_GB2312"/>
              <a:ea typeface="仿宋_GB2312"/>
              <a:sym typeface="+mn-ea"/>
            </a:endParaRPr>
          </a:p>
          <a:p>
            <a:pPr eaLnBrk="1" hangingPunct="1"/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特别适用于对经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表面热处理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或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化学热处理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的工件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硬度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和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硬度梯度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的测定。</a:t>
            </a:r>
          </a:p>
          <a:p>
            <a:pPr eaLnBrk="1" hangingPunct="1">
              <a:lnSpc>
                <a:spcPct val="90000"/>
              </a:lnSpc>
            </a:pPr>
            <a:endParaRPr lang="zh-CN" altLang="en-US" b="1" dirty="0">
              <a:latin typeface="仿宋_GB2312"/>
              <a:ea typeface="仿宋_GB2312"/>
              <a:sym typeface="+mn-ea"/>
            </a:endParaRPr>
          </a:p>
        </p:txBody>
      </p:sp>
      <p:sp>
        <p:nvSpPr>
          <p:cNvPr id="5837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-69850" y="6588125"/>
            <a:ext cx="1978025" cy="26987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3494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5513" y="6527800"/>
            <a:ext cx="409575" cy="3302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58</a:t>
            </a:fld>
            <a:endParaRPr lang="en-US" altLang="zh-CN" sz="1400" dirty="0"/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>
          <a:xfrm>
            <a:off x="1190625" y="332740"/>
            <a:ext cx="7286625" cy="85407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j-cs"/>
                <a:sym typeface="+mn-ea"/>
              </a:rPr>
              <a:t>莫氏硬度</a:t>
            </a:r>
            <a:r>
              <a:rPr kumimoji="0" lang="en-US" altLang="zh-CN" sz="4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j-cs"/>
                <a:sym typeface="+mn-ea"/>
              </a:rPr>
              <a:t>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  <a:cs typeface="+mn-cs"/>
              </a:rPr>
              <a:t>Moh's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  <a:cs typeface="+mn-cs"/>
              </a:rPr>
              <a:t> hardness</a:t>
            </a:r>
            <a:r>
              <a:rPr kumimoji="0" lang="en-US" altLang="zh-CN" sz="4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j-cs"/>
                <a:sym typeface="+mn-ea"/>
              </a:rPr>
              <a:t>)</a:t>
            </a:r>
            <a:endParaRPr kumimoji="0" lang="zh-CN" altLang="en-US" sz="44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j-cs"/>
              <a:sym typeface="+mn-ea"/>
            </a:endParaRPr>
          </a:p>
        </p:txBody>
      </p:sp>
      <p:sp>
        <p:nvSpPr>
          <p:cNvPr id="64516" name="Rectangle 3"/>
          <p:cNvSpPr>
            <a:spLocks noGrp="1"/>
          </p:cNvSpPr>
          <p:nvPr>
            <p:ph idx="1"/>
          </p:nvPr>
        </p:nvSpPr>
        <p:spPr>
          <a:xfrm>
            <a:off x="277813" y="1989138"/>
            <a:ext cx="8472487" cy="44640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是一种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划痕硬度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。</a:t>
            </a:r>
            <a:endParaRPr lang="en-US" altLang="zh-CN" sz="2800" b="1" dirty="0">
              <a:latin typeface="仿宋_GB2312"/>
              <a:ea typeface="仿宋_GB2312"/>
              <a:sym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硬度可以定义为材料抵抗划痕的能力。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将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十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种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矿物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按硬度逐渐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增高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的次序排列，得到了莫氏硬度的等级如下：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(1)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滑石；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(2)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石膏；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(3)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方解石；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(4)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氟石；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(5)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磷灰石；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(6)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长石；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(7)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石英；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(8)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黄石；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(9)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蓝宝石或刚玉；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(10)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金刚石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。</a:t>
            </a:r>
            <a:endParaRPr lang="zh-CN" altLang="en-US" sz="2800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如果被测材料能划伤某一级莫氏等级的材料，而不能划伤相邻高级的莫氏等级材料，则就此可以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近似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确定此材料的莫氏硬度值。</a:t>
            </a:r>
            <a:endParaRPr lang="en-US" altLang="zh-CN" sz="2800" b="1" dirty="0">
              <a:latin typeface="仿宋_GB2312"/>
              <a:ea typeface="仿宋_GB2312"/>
              <a:sym typeface="+mn-ea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示例：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普通玻璃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大约是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5.5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级，</a:t>
            </a: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淬硬钢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大约是</a:t>
            </a:r>
            <a:r>
              <a:rPr lang="en-US" altLang="zh-CN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6.5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级。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特点、应用：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很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粗略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，适合于</a:t>
            </a:r>
            <a:r>
              <a:rPr lang="zh-CN" altLang="en-US" sz="2800" b="1" dirty="0">
                <a:solidFill>
                  <a:srgbClr val="0000FF"/>
                </a:solidFill>
                <a:ea typeface="仿宋_GB2312"/>
                <a:sym typeface="+mn-ea"/>
              </a:rPr>
              <a:t>矿物</a:t>
            </a:r>
            <a:r>
              <a:rPr lang="zh-CN" altLang="en-US" sz="2800" b="1" dirty="0">
                <a:latin typeface="仿宋_GB2312"/>
                <a:ea typeface="仿宋_GB2312"/>
                <a:sym typeface="+mn-ea"/>
              </a:rPr>
              <a:t>识别。</a:t>
            </a:r>
          </a:p>
        </p:txBody>
      </p:sp>
      <p:sp>
        <p:nvSpPr>
          <p:cNvPr id="5837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-69850" y="6588125"/>
            <a:ext cx="1978025" cy="26987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4518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5513" y="6527800"/>
            <a:ext cx="409575" cy="3302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59</a:t>
            </a:fld>
            <a:endParaRPr lang="en-US" altLang="zh-CN" sz="1400" dirty="0"/>
          </a:p>
        </p:txBody>
      </p:sp>
      <p:sp>
        <p:nvSpPr>
          <p:cNvPr id="65539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782637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  <a:latin typeface="仿宋_GB2312"/>
                <a:ea typeface="仿宋_GB2312"/>
                <a:sym typeface="+mn-ea"/>
              </a:rPr>
              <a:t>锉刀硬度</a:t>
            </a:r>
          </a:p>
        </p:txBody>
      </p:sp>
      <p:sp>
        <p:nvSpPr>
          <p:cNvPr id="65540" name="Rectangle 3"/>
          <p:cNvSpPr>
            <a:spLocks noGrp="1"/>
          </p:cNvSpPr>
          <p:nvPr>
            <p:ph idx="1"/>
          </p:nvPr>
        </p:nvSpPr>
        <p:spPr>
          <a:xfrm>
            <a:off x="539750" y="1989138"/>
            <a:ext cx="7916863" cy="4392612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latin typeface="仿宋_GB2312"/>
                <a:ea typeface="仿宋_GB2312"/>
                <a:sym typeface="+mn-ea"/>
              </a:rPr>
              <a:t>是一种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划痕硬度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，是利用</a:t>
            </a:r>
            <a:r>
              <a:rPr lang="zh-CN" altLang="en-US" b="1" dirty="0">
                <a:solidFill>
                  <a:srgbClr val="0000FF"/>
                </a:solidFill>
                <a:ea typeface="仿宋_GB2312"/>
                <a:sym typeface="+mn-ea"/>
              </a:rPr>
              <a:t>经过标定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的硬度不同的几把锉刀，通过锉削试样或工件，可以确定被测物的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硬度范围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。</a:t>
            </a:r>
            <a:endParaRPr lang="zh-CN" altLang="en-US" b="1" dirty="0">
              <a:latin typeface="仿宋_GB2312"/>
              <a:ea typeface="仿宋_GB2312"/>
            </a:endParaRP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标准锉刀：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其形状、大小、刀纹都应当一致，每两把锉刀相差</a:t>
            </a:r>
            <a:r>
              <a:rPr lang="en-US" altLang="zh-CN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5HRC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。</a:t>
            </a:r>
          </a:p>
          <a:p>
            <a:pPr eaLnBrk="1" hangingPunct="1"/>
            <a:r>
              <a:rPr lang="zh-CN" altLang="en-US" b="1" dirty="0">
                <a:latin typeface="仿宋_GB2312"/>
                <a:ea typeface="仿宋_GB2312"/>
                <a:sym typeface="+mn-ea"/>
              </a:rPr>
              <a:t>如果工件能被</a:t>
            </a:r>
            <a:r>
              <a:rPr lang="en-US" altLang="zh-CN" b="1" dirty="0">
                <a:latin typeface="仿宋_GB2312"/>
                <a:ea typeface="仿宋_GB2312"/>
                <a:sym typeface="+mn-ea"/>
              </a:rPr>
              <a:t>55HRC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的锉刀锉削，而不能被</a:t>
            </a:r>
            <a:r>
              <a:rPr lang="en-US" altLang="zh-CN" b="1" dirty="0">
                <a:latin typeface="仿宋_GB2312"/>
                <a:ea typeface="仿宋_GB2312"/>
                <a:sym typeface="+mn-ea"/>
              </a:rPr>
              <a:t>50HRC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的锉刀锉削，便可确定该工件的硬度在</a:t>
            </a:r>
            <a:r>
              <a:rPr lang="en-US" altLang="zh-CN" b="1" dirty="0">
                <a:latin typeface="仿宋_GB2312"/>
                <a:ea typeface="仿宋_GB2312"/>
                <a:sym typeface="+mn-ea"/>
              </a:rPr>
              <a:t>50HRC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～</a:t>
            </a:r>
            <a:r>
              <a:rPr lang="en-US" altLang="zh-CN" b="1" dirty="0">
                <a:latin typeface="仿宋_GB2312"/>
                <a:ea typeface="仿宋_GB2312"/>
                <a:sym typeface="+mn-ea"/>
              </a:rPr>
              <a:t>55HRC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之间。</a:t>
            </a:r>
          </a:p>
          <a:p>
            <a:pPr eaLnBrk="1" hangingPunct="1">
              <a:lnSpc>
                <a:spcPct val="80000"/>
              </a:lnSpc>
            </a:pPr>
            <a:endParaRPr lang="zh-CN" altLang="en-US" b="1" dirty="0">
              <a:latin typeface="仿宋_GB2312"/>
              <a:ea typeface="仿宋_GB2312"/>
              <a:sym typeface="+mn-ea"/>
            </a:endParaRPr>
          </a:p>
          <a:p>
            <a:pPr eaLnBrk="1" hangingPunct="1">
              <a:lnSpc>
                <a:spcPct val="90000"/>
              </a:lnSpc>
            </a:pPr>
            <a:endParaRPr lang="zh-CN" altLang="en-US" b="1" dirty="0">
              <a:latin typeface="仿宋_GB2312"/>
              <a:ea typeface="仿宋_GB2312"/>
              <a:sym typeface="+mn-ea"/>
            </a:endParaRPr>
          </a:p>
        </p:txBody>
      </p:sp>
      <p:sp>
        <p:nvSpPr>
          <p:cNvPr id="5837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-69850" y="6588125"/>
            <a:ext cx="2120900" cy="26987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5542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5513" y="6527800"/>
            <a:ext cx="409575" cy="3302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60</a:t>
            </a:fld>
            <a:endParaRPr lang="en-US" altLang="zh-CN" sz="1400" dirty="0"/>
          </a:p>
        </p:txBody>
      </p:sp>
      <p:sp>
        <p:nvSpPr>
          <p:cNvPr id="66563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782637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  <a:latin typeface="仿宋_GB2312"/>
                <a:ea typeface="仿宋_GB2312"/>
                <a:sym typeface="+mn-ea"/>
              </a:rPr>
              <a:t>超声波硬度</a:t>
            </a:r>
          </a:p>
        </p:txBody>
      </p:sp>
      <p:sp>
        <p:nvSpPr>
          <p:cNvPr id="66564" name="Rectangle 3"/>
          <p:cNvSpPr>
            <a:spLocks noGrp="1"/>
          </p:cNvSpPr>
          <p:nvPr>
            <p:ph idx="1"/>
          </p:nvPr>
        </p:nvSpPr>
        <p:spPr>
          <a:xfrm>
            <a:off x="766763" y="2170113"/>
            <a:ext cx="7916862" cy="428307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仿宋_GB2312"/>
                <a:sym typeface="+mn-ea"/>
              </a:rPr>
              <a:t>超声波硬度</a:t>
            </a:r>
            <a:r>
              <a:rPr lang="zh-CN" altLang="en-US" b="1" dirty="0">
                <a:solidFill>
                  <a:schemeClr val="folHlink"/>
                </a:solidFill>
                <a:latin typeface="仿宋_GB2312"/>
                <a:ea typeface="仿宋_GB2312"/>
                <a:sym typeface="+mn-ea"/>
              </a:rPr>
              <a:t>：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用一根镶有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金刚石锥体压头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超声波传感器杆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，在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固定试验力作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用下与试件接触，压头压入试件后，杆的谐振频率发生改变，通过测量传感器杆</a:t>
            </a:r>
            <a:r>
              <a:rPr lang="zh-CN" altLang="en-US" b="1" dirty="0">
                <a:solidFill>
                  <a:srgbClr val="0000FF"/>
                </a:solidFill>
                <a:latin typeface="仿宋_GB2312"/>
                <a:ea typeface="仿宋_GB2312"/>
                <a:sym typeface="+mn-ea"/>
              </a:rPr>
              <a:t>谐振频率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ea typeface="仿宋_GB2312"/>
                <a:sym typeface="+mn-ea"/>
              </a:rPr>
              <a:t>变化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即可测定试样硬度。</a:t>
            </a:r>
            <a:endParaRPr lang="zh-CN" altLang="en-US" b="1" dirty="0">
              <a:latin typeface="仿宋_GB2312"/>
              <a:ea typeface="仿宋_GB2312"/>
            </a:endParaRPr>
          </a:p>
          <a:p>
            <a:pPr eaLnBrk="1" hangingPunct="1"/>
            <a:endParaRPr lang="en-US" altLang="zh-CN" b="1" dirty="0">
              <a:latin typeface="仿宋_GB2312"/>
              <a:ea typeface="仿宋_GB2312"/>
              <a:sym typeface="+mn-ea"/>
            </a:endParaRPr>
          </a:p>
          <a:p>
            <a:pPr eaLnBrk="1" hangingPunct="1"/>
            <a:r>
              <a:rPr lang="zh-CN" altLang="en-US" b="1" dirty="0">
                <a:latin typeface="仿宋_GB2312"/>
                <a:ea typeface="仿宋_GB2312"/>
                <a:sym typeface="+mn-ea"/>
              </a:rPr>
              <a:t>在试验中，其值可直接在刻度盘上读出，一般用</a:t>
            </a:r>
            <a:r>
              <a:rPr lang="zh-CN" altLang="en-US" b="1" dirty="0">
                <a:solidFill>
                  <a:srgbClr val="0000FF"/>
                </a:solidFill>
                <a:ea typeface="仿宋_GB2312"/>
                <a:sym typeface="+mn-ea"/>
              </a:rPr>
              <a:t>洛氏硬度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或</a:t>
            </a:r>
            <a:r>
              <a:rPr lang="zh-CN" altLang="en-US" b="1" dirty="0">
                <a:solidFill>
                  <a:srgbClr val="0000FF"/>
                </a:solidFill>
                <a:ea typeface="仿宋_GB2312"/>
                <a:sym typeface="+mn-ea"/>
              </a:rPr>
              <a:t>维氏硬度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来表示。</a:t>
            </a:r>
          </a:p>
          <a:p>
            <a:pPr eaLnBrk="1" hangingPunct="1">
              <a:lnSpc>
                <a:spcPct val="80000"/>
              </a:lnSpc>
            </a:pPr>
            <a:endParaRPr lang="zh-CN" altLang="en-US" b="1" dirty="0">
              <a:latin typeface="仿宋_GB2312"/>
              <a:ea typeface="仿宋_GB2312"/>
              <a:sym typeface="+mn-ea"/>
            </a:endParaRPr>
          </a:p>
          <a:p>
            <a:pPr eaLnBrk="1" hangingPunct="1">
              <a:lnSpc>
                <a:spcPct val="90000"/>
              </a:lnSpc>
            </a:pPr>
            <a:endParaRPr lang="zh-CN" altLang="en-US" b="1" dirty="0">
              <a:latin typeface="仿宋_GB2312"/>
              <a:ea typeface="仿宋_GB2312"/>
              <a:sym typeface="+mn-ea"/>
            </a:endParaRPr>
          </a:p>
        </p:txBody>
      </p:sp>
      <p:sp>
        <p:nvSpPr>
          <p:cNvPr id="5837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-69850" y="6588125"/>
            <a:ext cx="1978025" cy="26987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6566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5513" y="6527800"/>
            <a:ext cx="409575" cy="3302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61</a:t>
            </a:fld>
            <a:endParaRPr lang="en-US" altLang="zh-CN" sz="1400" dirty="0"/>
          </a:p>
        </p:txBody>
      </p:sp>
      <p:sp>
        <p:nvSpPr>
          <p:cNvPr id="67587" name="Rectangle 2"/>
          <p:cNvSpPr>
            <a:spLocks noGrp="1"/>
          </p:cNvSpPr>
          <p:nvPr>
            <p:ph type="title"/>
          </p:nvPr>
        </p:nvSpPr>
        <p:spPr>
          <a:xfrm>
            <a:off x="1116013" y="-7937"/>
            <a:ext cx="6732587" cy="1495425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4.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冲击韧性</a:t>
            </a:r>
            <a:b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zh-CN" altLang="en-US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Impact toughness</a:t>
            </a:r>
            <a:r>
              <a:rPr lang="zh-CN" altLang="en-US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7588" name="Rectangle 3"/>
          <p:cNvSpPr>
            <a:spLocks noGrp="1"/>
          </p:cNvSpPr>
          <p:nvPr>
            <p:ph idx="1"/>
          </p:nvPr>
        </p:nvSpPr>
        <p:spPr>
          <a:xfrm>
            <a:off x="234950" y="1844675"/>
            <a:ext cx="8801735" cy="460883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仿宋_GB2312"/>
              </a:rPr>
              <a:t>冲击韧性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材料抵抗</a:t>
            </a:r>
            <a:r>
              <a:rPr lang="zh-CN" altLang="en-US" b="1" dirty="0">
                <a:solidFill>
                  <a:srgbClr val="0000FF"/>
                </a:solidFill>
                <a:ea typeface="仿宋_GB2312"/>
              </a:rPr>
              <a:t>冲击载荷</a:t>
            </a:r>
            <a:r>
              <a:rPr lang="zh-CN" altLang="en-US" b="1" dirty="0">
                <a:ea typeface="华文中宋" panose="02010600040101010101" pitchFamily="2" charset="-122"/>
              </a:rPr>
              <a:t>作用而不破坏的能力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buNone/>
            </a:pPr>
            <a:endParaRPr lang="zh-CN" altLang="en-US" sz="12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冲击韧性</a:t>
            </a:r>
            <a:r>
              <a:rPr lang="zh-CN" altLang="en-US" b="1" dirty="0"/>
              <a:t>指标：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冲击韧度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k</a:t>
            </a:r>
            <a:r>
              <a:rPr lang="en-US" altLang="zh-CN" b="1" dirty="0"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ea typeface="华文中宋" panose="02010600040101010101" pitchFamily="2" charset="-122"/>
              </a:rPr>
              <a:t>通过冲击实验测得</a:t>
            </a:r>
            <a:r>
              <a:rPr lang="en-US" altLang="zh-CN" b="1" dirty="0"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en-US" altLang="zh-CN" sz="1200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b="1" dirty="0">
                <a:ea typeface="华文中宋" panose="02010600040101010101" pitchFamily="2" charset="-122"/>
              </a:rPr>
              <a:t>对缺陷很敏感，能灵敏地反映出材料品质、宏观缺陷和显微组织的微小变化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033CC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b="1" dirty="0">
                <a:ea typeface="华文中宋" panose="02010600040101010101" pitchFamily="2" charset="-122"/>
              </a:rPr>
              <a:t>常用来检验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冶炼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</a:rPr>
              <a:t>热加工</a:t>
            </a:r>
            <a:r>
              <a:rPr lang="zh-CN" altLang="en-US" b="1" dirty="0">
                <a:ea typeface="华文中宋" panose="02010600040101010101" pitchFamily="2" charset="-122"/>
              </a:rPr>
              <a:t>得到的半成品和成品质量。</a:t>
            </a:r>
          </a:p>
        </p:txBody>
      </p:sp>
      <p:sp>
        <p:nvSpPr>
          <p:cNvPr id="5837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-69850" y="6588125"/>
            <a:ext cx="1978025" cy="26987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7590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0913" y="6570663"/>
            <a:ext cx="493712" cy="28733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62</a:t>
            </a:fld>
            <a:endParaRPr lang="en-US" altLang="zh-CN" sz="1400" dirty="0"/>
          </a:p>
        </p:txBody>
      </p:sp>
      <p:sp>
        <p:nvSpPr>
          <p:cNvPr id="68611" name="Rectangle 2"/>
          <p:cNvSpPr>
            <a:spLocks noGrp="1"/>
          </p:cNvSpPr>
          <p:nvPr>
            <p:ph type="title"/>
          </p:nvPr>
        </p:nvSpPr>
        <p:spPr>
          <a:xfrm>
            <a:off x="1171575" y="214630"/>
            <a:ext cx="7772400" cy="1482725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  4.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冲击韧性</a:t>
            </a:r>
            <a:r>
              <a:rPr lang="en-US" altLang="zh-CN" b="1" dirty="0">
                <a:latin typeface="Arial" panose="020B0604020202020204" pitchFamily="34" charset="0"/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测试</a:t>
            </a:r>
            <a:b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ea typeface="仿宋_GB2312"/>
              </a:rPr>
              <a:t>(GB/T 229-2020 </a:t>
            </a:r>
            <a:r>
              <a:rPr lang="zh-CN" altLang="zh-CN" sz="2400" b="1" dirty="0">
                <a:solidFill>
                  <a:srgbClr val="0000FF"/>
                </a:solidFill>
                <a:ea typeface="仿宋_GB2312"/>
              </a:rPr>
              <a:t>金属材料 夏比摆锤冲击试验方法</a:t>
            </a:r>
            <a:r>
              <a:rPr lang="en-US" altLang="zh-CN" sz="2400" b="1" dirty="0">
                <a:solidFill>
                  <a:srgbClr val="0000FF"/>
                </a:solidFill>
                <a:ea typeface="仿宋_GB2312"/>
              </a:rPr>
              <a:t>)</a:t>
            </a:r>
            <a:endParaRPr lang="zh-CN" altLang="en-US" sz="2400" b="1" dirty="0">
              <a:solidFill>
                <a:srgbClr val="0000FF"/>
              </a:solidFill>
              <a:ea typeface="华文中宋" panose="02010600040101010101" pitchFamily="2" charset="-122"/>
            </a:endParaRPr>
          </a:p>
        </p:txBody>
      </p:sp>
      <p:sp>
        <p:nvSpPr>
          <p:cNvPr id="6861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endParaRPr lang="zh-CN" altLang="zh-CN" dirty="0"/>
          </a:p>
        </p:txBody>
      </p:sp>
      <p:pic>
        <p:nvPicPr>
          <p:cNvPr id="68613" name="Picture 4" descr="冲击试验机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2781300"/>
            <a:ext cx="5397500" cy="3527425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68614" name="Picture 5" descr="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638" y="2176463"/>
            <a:ext cx="3190875" cy="3975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40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68263" y="6578600"/>
            <a:ext cx="191135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8616" name="内容占位符 1" descr="新校徽（3M）弓之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13763" y="6527800"/>
            <a:ext cx="441325" cy="3302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63</a:t>
            </a:fld>
            <a:endParaRPr lang="en-US" altLang="zh-CN" sz="1400" dirty="0"/>
          </a:p>
        </p:txBody>
      </p:sp>
      <p:sp>
        <p:nvSpPr>
          <p:cNvPr id="69635" name="Rectangle 2"/>
          <p:cNvSpPr>
            <a:spLocks noGrp="1"/>
          </p:cNvSpPr>
          <p:nvPr>
            <p:ph type="title"/>
          </p:nvPr>
        </p:nvSpPr>
        <p:spPr>
          <a:xfrm>
            <a:off x="2214563" y="206375"/>
            <a:ext cx="5214937" cy="962025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韧脆转变</a:t>
            </a:r>
          </a:p>
        </p:txBody>
      </p:sp>
      <p:sp>
        <p:nvSpPr>
          <p:cNvPr id="69636" name="Rectangle 3"/>
          <p:cNvSpPr>
            <a:spLocks noGrp="1"/>
          </p:cNvSpPr>
          <p:nvPr>
            <p:ph idx="1"/>
          </p:nvPr>
        </p:nvSpPr>
        <p:spPr>
          <a:xfrm>
            <a:off x="353695" y="2012950"/>
            <a:ext cx="8601710" cy="439928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0000FF"/>
                </a:solidFill>
                <a:ea typeface="仿宋_GB2312"/>
              </a:rPr>
              <a:t>韧脆转变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  <a:sym typeface="Wingdings" panose="05000000000000000000" pitchFamily="2" charset="2"/>
              </a:rPr>
              <a:t>：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冲击韧性值急剧下降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的现象。</a:t>
            </a:r>
            <a:endParaRPr lang="en-US" altLang="zh-CN" b="1" dirty="0">
              <a:solidFill>
                <a:schemeClr val="tx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韧脆转变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温度：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发生韧脆转变的温度范围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材料的使用温度应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高于</a:t>
            </a:r>
            <a:r>
              <a:rPr lang="zh-CN" altLang="en-US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韧脆转变温度。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0033CC"/>
                </a:solidFill>
              </a:rPr>
              <a:t>体心立方、密排六方</a:t>
            </a:r>
            <a:r>
              <a:rPr lang="zh-CN" altLang="en-US" b="1" dirty="0">
                <a:solidFill>
                  <a:srgbClr val="800000"/>
                </a:solidFill>
              </a:rPr>
              <a:t>金属具</a:t>
            </a:r>
            <a:r>
              <a:rPr lang="zh-CN" altLang="en-US" b="1" dirty="0">
                <a:solidFill>
                  <a:srgbClr val="0033CC"/>
                </a:solidFill>
              </a:rPr>
              <a:t>有</a:t>
            </a:r>
            <a:r>
              <a:rPr lang="zh-CN" altLang="en-US" b="1" dirty="0">
                <a:solidFill>
                  <a:srgbClr val="800000"/>
                </a:solidFill>
              </a:rPr>
              <a:t>韧脆转变温度，而大多数</a:t>
            </a:r>
            <a:r>
              <a:rPr lang="zh-CN" altLang="en-US" b="1" dirty="0">
                <a:solidFill>
                  <a:srgbClr val="0000FF"/>
                </a:solidFill>
                <a:ea typeface="仿宋_GB2312"/>
              </a:rPr>
              <a:t>面心立方</a:t>
            </a:r>
            <a:r>
              <a:rPr lang="zh-CN" altLang="en-US" b="1" dirty="0">
                <a:solidFill>
                  <a:srgbClr val="800000"/>
                </a:solidFill>
              </a:rPr>
              <a:t>金属</a:t>
            </a:r>
            <a:r>
              <a:rPr lang="zh-CN" altLang="en-US" b="1" dirty="0">
                <a:solidFill>
                  <a:srgbClr val="FF0000"/>
                </a:solidFill>
              </a:rPr>
              <a:t>没有。</a:t>
            </a:r>
            <a:endParaRPr lang="en-US" altLang="zh-CN" b="1" dirty="0">
              <a:solidFill>
                <a:srgbClr val="0033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042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527800"/>
            <a:ext cx="1981200" cy="24447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9638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59788" y="6491288"/>
            <a:ext cx="495300" cy="3429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64</a:t>
            </a:fld>
            <a:endParaRPr lang="en-US" altLang="zh-CN" sz="1400" dirty="0"/>
          </a:p>
        </p:txBody>
      </p:sp>
      <p:sp>
        <p:nvSpPr>
          <p:cNvPr id="70659" name="Rectangle 2"/>
          <p:cNvSpPr>
            <a:spLocks noGrp="1"/>
          </p:cNvSpPr>
          <p:nvPr>
            <p:ph type="title"/>
          </p:nvPr>
        </p:nvSpPr>
        <p:spPr>
          <a:xfrm>
            <a:off x="3000375" y="307975"/>
            <a:ext cx="4143375" cy="67945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韧脆转变</a:t>
            </a:r>
          </a:p>
        </p:txBody>
      </p:sp>
      <p:sp>
        <p:nvSpPr>
          <p:cNvPr id="7066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endParaRPr lang="zh-CN" altLang="zh-CN" dirty="0"/>
          </a:p>
        </p:txBody>
      </p:sp>
      <p:pic>
        <p:nvPicPr>
          <p:cNvPr id="70661" name="Picture 5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8" y="3357563"/>
            <a:ext cx="4678362" cy="2614612"/>
          </a:xfrm>
          <a:prstGeom prst="rect">
            <a:avLst/>
          </a:prstGeom>
          <a:noFill/>
          <a:ln w="28575">
            <a:noFill/>
          </a:ln>
        </p:spPr>
      </p:pic>
      <p:pic>
        <p:nvPicPr>
          <p:cNvPr id="70662" name="Picture 6" descr="解理断口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3571875"/>
            <a:ext cx="1965325" cy="1981200"/>
          </a:xfrm>
          <a:prstGeom prst="rect">
            <a:avLst/>
          </a:prstGeom>
          <a:noFill/>
          <a:ln w="19050">
            <a:noFill/>
          </a:ln>
        </p:spPr>
      </p:pic>
      <p:pic>
        <p:nvPicPr>
          <p:cNvPr id="70663" name="Picture 7" descr="韧窝断口0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3" y="3571875"/>
            <a:ext cx="1971675" cy="1979613"/>
          </a:xfrm>
          <a:prstGeom prst="rect">
            <a:avLst/>
          </a:prstGeom>
          <a:noFill/>
          <a:ln w="19050">
            <a:noFill/>
          </a:ln>
        </p:spPr>
      </p:pic>
      <p:sp>
        <p:nvSpPr>
          <p:cNvPr id="70664" name="Text Box 8"/>
          <p:cNvSpPr txBox="1"/>
          <p:nvPr/>
        </p:nvSpPr>
        <p:spPr>
          <a:xfrm>
            <a:off x="500063" y="5643563"/>
            <a:ext cx="1447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SzPct val="100000"/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解理断口</a:t>
            </a:r>
          </a:p>
        </p:txBody>
      </p:sp>
      <p:sp>
        <p:nvSpPr>
          <p:cNvPr id="70665" name="Text Box 9"/>
          <p:cNvSpPr txBox="1"/>
          <p:nvPr/>
        </p:nvSpPr>
        <p:spPr>
          <a:xfrm>
            <a:off x="7143750" y="5643563"/>
            <a:ext cx="1447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SzPct val="100000"/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韧窝断口</a:t>
            </a:r>
          </a:p>
        </p:txBody>
      </p:sp>
      <p:sp>
        <p:nvSpPr>
          <p:cNvPr id="6145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429375"/>
            <a:ext cx="19081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0667" name="内容占位符 1" descr="新校徽（3M）弓之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13763" y="6515100"/>
            <a:ext cx="630237" cy="3429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65</a:t>
            </a:fld>
            <a:endParaRPr lang="en-US" altLang="zh-CN" sz="1400" dirty="0"/>
          </a:p>
        </p:txBody>
      </p:sp>
      <p:sp>
        <p:nvSpPr>
          <p:cNvPr id="71683" name="Rectangle 2"/>
          <p:cNvSpPr>
            <a:spLocks noGrp="1"/>
          </p:cNvSpPr>
          <p:nvPr>
            <p:ph type="title"/>
          </p:nvPr>
        </p:nvSpPr>
        <p:spPr>
          <a:xfrm>
            <a:off x="1152525" y="119063"/>
            <a:ext cx="7991475" cy="795337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  <a:ea typeface="华文中宋" panose="02010600040101010101" pitchFamily="2" charset="-122"/>
              </a:rPr>
              <a:t>含碳量对钢的韧脆转变温度的影响</a:t>
            </a:r>
          </a:p>
        </p:txBody>
      </p:sp>
      <p:sp>
        <p:nvSpPr>
          <p:cNvPr id="7168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endParaRPr lang="zh-CN" altLang="zh-CN" dirty="0"/>
          </a:p>
        </p:txBody>
      </p:sp>
      <p:pic>
        <p:nvPicPr>
          <p:cNvPr id="71685" name="Picture 4" descr="《于、齐》fi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50" y="1214438"/>
            <a:ext cx="7305675" cy="53006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7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429375"/>
            <a:ext cx="198120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687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91550" y="6626225"/>
            <a:ext cx="557213" cy="255588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66</a:t>
            </a:fld>
            <a:endParaRPr lang="en-US" altLang="zh-CN" sz="1400" dirty="0"/>
          </a:p>
        </p:txBody>
      </p:sp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395288" y="2133600"/>
            <a:ext cx="2971800" cy="9144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TITANIC</a:t>
            </a:r>
          </a:p>
        </p:txBody>
      </p:sp>
      <p:grpSp>
        <p:nvGrpSpPr>
          <p:cNvPr id="2" name="Group 11"/>
          <p:cNvGrpSpPr/>
          <p:nvPr/>
        </p:nvGrpSpPr>
        <p:grpSpPr>
          <a:xfrm>
            <a:off x="539750" y="476250"/>
            <a:ext cx="8031163" cy="5715000"/>
            <a:chOff x="336" y="384"/>
            <a:chExt cx="5059" cy="3600"/>
          </a:xfrm>
        </p:grpSpPr>
        <p:pic>
          <p:nvPicPr>
            <p:cNvPr id="72713" name="Picture 4" descr="image0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8" y="384"/>
              <a:ext cx="2947" cy="2313"/>
            </a:xfrm>
            <a:prstGeom prst="rect">
              <a:avLst/>
            </a:prstGeom>
            <a:noFill/>
            <a:ln w="38100">
              <a:noFill/>
            </a:ln>
          </p:spPr>
        </p:pic>
        <p:pic>
          <p:nvPicPr>
            <p:cNvPr id="72714" name="Picture 5" descr="t_c364_35ar[1]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" y="2208"/>
              <a:ext cx="2720" cy="1776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72715" name="Text Box 7"/>
            <p:cNvSpPr txBox="1"/>
            <p:nvPr/>
          </p:nvSpPr>
          <p:spPr>
            <a:xfrm>
              <a:off x="2448" y="480"/>
              <a:ext cx="15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SzPct val="100000"/>
              </a:pPr>
              <a:r>
                <a:rPr lang="zh-CN" altLang="en-US" sz="2000" b="1" dirty="0">
                  <a:solidFill>
                    <a:srgbClr val="FFFF66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建造中的</a:t>
              </a:r>
              <a:r>
                <a:rPr lang="en-US" altLang="zh-CN" sz="2000" b="1" dirty="0">
                  <a:solidFill>
                    <a:srgbClr val="FFFF66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Titanic</a:t>
              </a:r>
            </a:p>
          </p:txBody>
        </p:sp>
      </p:grpSp>
      <p:sp>
        <p:nvSpPr>
          <p:cNvPr id="39945" name="Text Box 9"/>
          <p:cNvSpPr txBox="1"/>
          <p:nvPr/>
        </p:nvSpPr>
        <p:spPr>
          <a:xfrm>
            <a:off x="5543550" y="4572000"/>
            <a:ext cx="3048000" cy="1758950"/>
          </a:xfrm>
          <a:prstGeom prst="rect">
            <a:avLst/>
          </a:prstGeom>
          <a:solidFill>
            <a:srgbClr val="CCFF33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buSzPct val="100000"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TITANIC  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的沉没与船体材料的质量直接有关</a:t>
            </a:r>
          </a:p>
        </p:txBody>
      </p:sp>
      <p:pic>
        <p:nvPicPr>
          <p:cNvPr id="72710" name="Picture 13" descr="泰坦尼克号照片207ea60e7ef731d536d122e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888" y="0"/>
            <a:ext cx="2540000" cy="209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38913"/>
            <a:ext cx="19081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2712" name="内容占位符 1" descr="新校徽（3M）弓之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3994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02650" y="6562725"/>
            <a:ext cx="441325" cy="276225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67</a:t>
            </a:fld>
            <a:endParaRPr lang="en-US" altLang="zh-CN" sz="1400" dirty="0"/>
          </a:p>
        </p:txBody>
      </p:sp>
      <p:sp>
        <p:nvSpPr>
          <p:cNvPr id="737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冲击试验结果对比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——</a:t>
            </a:r>
            <a:b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lang="en-US" altLang="zh-CN" sz="3600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Titanic </a:t>
            </a:r>
            <a:r>
              <a:rPr lang="zh-CN" altLang="en-US" sz="3600" b="1" dirty="0">
                <a:solidFill>
                  <a:srgbClr val="3333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号钢板</a:t>
            </a:r>
            <a:r>
              <a:rPr lang="zh-CN" altLang="en-US" sz="3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VS</a:t>
            </a:r>
            <a:r>
              <a:rPr lang="en-US" altLang="zh-CN" sz="3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lang="zh-CN" altLang="en-US" sz="36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近代船用钢板</a:t>
            </a:r>
          </a:p>
        </p:txBody>
      </p:sp>
      <p:sp>
        <p:nvSpPr>
          <p:cNvPr id="7373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endParaRPr lang="zh-CN" altLang="zh-CN" dirty="0"/>
          </a:p>
        </p:txBody>
      </p:sp>
      <p:grpSp>
        <p:nvGrpSpPr>
          <p:cNvPr id="2" name="Group 4"/>
          <p:cNvGrpSpPr/>
          <p:nvPr/>
        </p:nvGrpSpPr>
        <p:grpSpPr>
          <a:xfrm>
            <a:off x="76200" y="3028950"/>
            <a:ext cx="9010650" cy="3124200"/>
            <a:chOff x="48" y="1908"/>
            <a:chExt cx="5676" cy="1968"/>
          </a:xfrm>
        </p:grpSpPr>
        <p:pic>
          <p:nvPicPr>
            <p:cNvPr id="73736" name="Picture 5" descr="image0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" y="1920"/>
              <a:ext cx="5663" cy="1951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73737" name="Text Box 6"/>
            <p:cNvSpPr txBox="1"/>
            <p:nvPr/>
          </p:nvSpPr>
          <p:spPr>
            <a:xfrm>
              <a:off x="1812" y="1908"/>
              <a:ext cx="9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SzPct val="100000"/>
              </a:pPr>
              <a:r>
                <a:rPr lang="en-US" altLang="zh-CN" sz="2400" b="1" dirty="0">
                  <a:solidFill>
                    <a:srgbClr val="FFFF66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Titanic</a:t>
              </a:r>
            </a:p>
          </p:txBody>
        </p:sp>
        <p:sp>
          <p:nvSpPr>
            <p:cNvPr id="73738" name="Text Box 7"/>
            <p:cNvSpPr txBox="1"/>
            <p:nvPr/>
          </p:nvSpPr>
          <p:spPr>
            <a:xfrm>
              <a:off x="4188" y="1920"/>
              <a:ext cx="15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SzPct val="100000"/>
              </a:pPr>
              <a:r>
                <a:rPr lang="zh-CN" altLang="en-US" sz="2400" b="1" dirty="0">
                  <a:solidFill>
                    <a:srgbClr val="FFFF66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近代船用钢板</a:t>
              </a:r>
            </a:p>
          </p:txBody>
        </p:sp>
        <p:sp>
          <p:nvSpPr>
            <p:cNvPr id="73739" name="Rectangle 8"/>
            <p:cNvSpPr/>
            <p:nvPr/>
          </p:nvSpPr>
          <p:spPr>
            <a:xfrm>
              <a:off x="2736" y="1908"/>
              <a:ext cx="192" cy="1968"/>
            </a:xfrm>
            <a:prstGeom prst="rect">
              <a:avLst/>
            </a:prstGeom>
            <a:solidFill>
              <a:srgbClr val="000080"/>
            </a:solidFill>
            <a:ln w="38100">
              <a:noFill/>
            </a:ln>
          </p:spPr>
          <p:txBody>
            <a:bodyPr wrap="none" anchor="ctr" anchorCtr="0"/>
            <a:lstStyle/>
            <a:p>
              <a:pPr eaLnBrk="1" hangingPunct="1">
                <a:buSzPct val="100000"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sp>
        <p:nvSpPr>
          <p:cNvPr id="64519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496050"/>
            <a:ext cx="1979613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3735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64538" y="6580188"/>
            <a:ext cx="579437" cy="277812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68</a:t>
            </a:fld>
            <a:endParaRPr lang="en-US" altLang="zh-CN" sz="1400" dirty="0"/>
          </a:p>
        </p:txBody>
      </p:sp>
      <p:sp>
        <p:nvSpPr>
          <p:cNvPr id="74755" name="Rectangle 2"/>
          <p:cNvSpPr>
            <a:spLocks noGrp="1"/>
          </p:cNvSpPr>
          <p:nvPr>
            <p:ph type="title"/>
          </p:nvPr>
        </p:nvSpPr>
        <p:spPr>
          <a:xfrm>
            <a:off x="2640330" y="197485"/>
            <a:ext cx="4572000" cy="148336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5.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疲劳 </a:t>
            </a:r>
            <a:b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fatigue</a:t>
            </a:r>
          </a:p>
        </p:txBody>
      </p:sp>
      <p:sp>
        <p:nvSpPr>
          <p:cNvPr id="65540" name="Rectangle 3"/>
          <p:cNvSpPr>
            <a:spLocks noGrp="1"/>
          </p:cNvSpPr>
          <p:nvPr>
            <p:ph idx="1"/>
          </p:nvPr>
        </p:nvSpPr>
        <p:spPr>
          <a:xfrm>
            <a:off x="395288" y="2017713"/>
            <a:ext cx="85598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疲劳：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材料在低于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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s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的重复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交变应力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作用下发生断裂的现象。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疲劳极限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材料经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无限次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（实际：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规定次数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）应力循环后仍不发生断裂时的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最大应力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一般用</a:t>
            </a:r>
            <a:r>
              <a:rPr kumimoji="0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</a:t>
            </a:r>
            <a:r>
              <a:rPr kumimoji="0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r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表示，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华文中宋" panose="02010600040101010101" pitchFamily="2" charset="-122"/>
                <a:cs typeface="+mj-cs"/>
                <a:sym typeface="Symbol" panose="05050102010706020507" pitchFamily="18" charset="2"/>
              </a:rPr>
              <a:t>对称循环载荷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用</a:t>
            </a:r>
            <a:r>
              <a:rPr kumimoji="0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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表示。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规定的应力循环次数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：钢铁材料为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10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7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，有色金属合金为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10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8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6554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23813" y="6594475"/>
            <a:ext cx="1955800" cy="24765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4758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91538" y="6600825"/>
            <a:ext cx="455612" cy="2413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69</a:t>
            </a:fld>
            <a:endParaRPr lang="en-US" altLang="zh-CN" sz="1400" dirty="0"/>
          </a:p>
        </p:txBody>
      </p:sp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2628900" y="284163"/>
            <a:ext cx="5257800" cy="7620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5.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疲劳</a:t>
            </a:r>
          </a:p>
        </p:txBody>
      </p:sp>
      <p:sp>
        <p:nvSpPr>
          <p:cNvPr id="6656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0013" y="6550025"/>
            <a:ext cx="209550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9" name="内容占位符 1" descr="新校徽（3M）弓之乐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44"/>
          <p:cNvGrpSpPr/>
          <p:nvPr>
            <p:custDataLst>
              <p:tags r:id="rId1"/>
            </p:custDataLst>
          </p:nvPr>
        </p:nvGrpSpPr>
        <p:grpSpPr>
          <a:xfrm>
            <a:off x="708025" y="2782888"/>
            <a:ext cx="7727950" cy="2555875"/>
            <a:chOff x="487" y="2438"/>
            <a:chExt cx="4913" cy="1610"/>
          </a:xfrm>
        </p:grpSpPr>
        <p:grpSp>
          <p:nvGrpSpPr>
            <p:cNvPr id="3081" name="Group 43"/>
            <p:cNvGrpSpPr/>
            <p:nvPr/>
          </p:nvGrpSpPr>
          <p:grpSpPr>
            <a:xfrm>
              <a:off x="487" y="2438"/>
              <a:ext cx="2406" cy="1610"/>
              <a:chOff x="487" y="2438"/>
              <a:chExt cx="2406" cy="1610"/>
            </a:xfrm>
          </p:grpSpPr>
          <p:graphicFrame>
            <p:nvGraphicFramePr>
              <p:cNvPr id="3074" name="Object 25"/>
              <p:cNvGraphicFramePr>
                <a:graphicFrameLocks noChangeAspect="1"/>
              </p:cNvGraphicFramePr>
              <p:nvPr>
                <p:custDataLst>
                  <p:tags r:id="rId4"/>
                </p:custDataLst>
              </p:nvPr>
            </p:nvGraphicFramePr>
            <p:xfrm>
              <a:off x="487" y="2575"/>
              <a:ext cx="2260" cy="14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5934075" imgH="3219450" progId="AutoCAD.Drawing.14">
                      <p:embed/>
                    </p:oleObj>
                  </mc:Choice>
                  <mc:Fallback>
                    <p:oleObj r:id="rId8" imgW="5934075" imgH="3219450" progId="AutoCAD.Drawing.14">
                      <p:embed/>
                      <p:pic>
                        <p:nvPicPr>
                          <p:cNvPr id="0" name="图片 3079"/>
                          <p:cNvPicPr/>
                          <p:nvPr/>
                        </p:nvPicPr>
                        <p:blipFill>
                          <a:blip r:embed="rId9"/>
                          <a:srcRect l="6976" t="8386" r="21657" b="12300"/>
                          <a:stretch>
                            <a:fillRect/>
                          </a:stretch>
                        </p:blipFill>
                        <p:spPr>
                          <a:xfrm>
                            <a:off x="487" y="2575"/>
                            <a:ext cx="2260" cy="14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85" name="Text Box 3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376" y="2438"/>
                <a:ext cx="151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buSzPct val="100000"/>
                </a:pPr>
                <a:r>
                  <a:rPr lang="zh-CN" altLang="en-US" sz="2000" b="1" dirty="0">
                    <a:solidFill>
                      <a:srgbClr val="800000"/>
                    </a:solidFill>
                    <a:latin typeface="Times New Roman" panose="02020603050405020304" pitchFamily="18" charset="0"/>
                  </a:rPr>
                  <a:t>疲劳应力示意图</a:t>
                </a:r>
              </a:p>
            </p:txBody>
          </p:sp>
        </p:grpSp>
        <p:grpSp>
          <p:nvGrpSpPr>
            <p:cNvPr id="3082" name="Group 42"/>
            <p:cNvGrpSpPr/>
            <p:nvPr/>
          </p:nvGrpSpPr>
          <p:grpSpPr>
            <a:xfrm>
              <a:off x="3216" y="2448"/>
              <a:ext cx="2184" cy="1474"/>
              <a:chOff x="3216" y="2448"/>
              <a:chExt cx="2184" cy="1474"/>
            </a:xfrm>
          </p:grpSpPr>
          <p:pic>
            <p:nvPicPr>
              <p:cNvPr id="3083" name="Picture 40" descr="疲劳曲线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10"/>
              <a:stretch>
                <a:fillRect/>
              </a:stretch>
            </p:blipFill>
            <p:spPr>
              <a:xfrm>
                <a:off x="3216" y="2448"/>
                <a:ext cx="2120" cy="1474"/>
              </a:xfrm>
              <a:prstGeom prst="rect">
                <a:avLst/>
              </a:prstGeom>
              <a:noFill/>
              <a:ln w="28575">
                <a:noFill/>
              </a:ln>
            </p:spPr>
          </p:pic>
          <p:sp>
            <p:nvSpPr>
              <p:cNvPr id="3084" name="Text Box 41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4112" y="2450"/>
                <a:ext cx="128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SzPct val="100000"/>
                </a:pPr>
                <a:r>
                  <a:rPr lang="zh-CN" altLang="en-US" sz="2000" b="1" dirty="0">
                    <a:solidFill>
                      <a:srgbClr val="800000"/>
                    </a:solidFill>
                    <a:latin typeface="Times New Roman" panose="02020603050405020304" pitchFamily="18" charset="0"/>
                  </a:rPr>
                  <a:t>疲劳曲线示意图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70925" y="6591300"/>
            <a:ext cx="473075" cy="287338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70</a:t>
            </a:fld>
            <a:endParaRPr lang="en-US" altLang="zh-CN" sz="1400" dirty="0"/>
          </a:p>
        </p:txBody>
      </p:sp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1928813" y="333375"/>
            <a:ext cx="6950075" cy="6858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疲劳断口</a:t>
            </a:r>
          </a:p>
        </p:txBody>
      </p:sp>
      <p:sp>
        <p:nvSpPr>
          <p:cNvPr id="28686" name="Text Box 14"/>
          <p:cNvSpPr txBox="1"/>
          <p:nvPr/>
        </p:nvSpPr>
        <p:spPr>
          <a:xfrm>
            <a:off x="533400" y="4970463"/>
            <a:ext cx="8610600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spcBef>
                <a:spcPct val="50000"/>
              </a:spcBef>
              <a:buSzPct val="100000"/>
            </a:pPr>
            <a:r>
              <a:rPr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提高材料</a:t>
            </a:r>
            <a:r>
              <a:rPr lang="zh-CN" altLang="en-US" sz="3200" b="1" dirty="0">
                <a:solidFill>
                  <a:srgbClr val="0000FF"/>
                </a:solidFill>
                <a:latin typeface="Tahoma" panose="020B0604030504040204" pitchFamily="34" charset="0"/>
              </a:rPr>
              <a:t>疲劳抗力</a:t>
            </a:r>
            <a:r>
              <a:rPr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的途径：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改善材料形状结构，减少表面缺陷，提高表面光洁度，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进行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表面强化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…...</a:t>
            </a:r>
          </a:p>
        </p:txBody>
      </p:sp>
      <p:grpSp>
        <p:nvGrpSpPr>
          <p:cNvPr id="2" name="Group 22"/>
          <p:cNvGrpSpPr/>
          <p:nvPr/>
        </p:nvGrpSpPr>
        <p:grpSpPr>
          <a:xfrm>
            <a:off x="838200" y="1333500"/>
            <a:ext cx="7791450" cy="3559175"/>
            <a:chOff x="528" y="1032"/>
            <a:chExt cx="4908" cy="2242"/>
          </a:xfrm>
        </p:grpSpPr>
        <p:sp>
          <p:nvSpPr>
            <p:cNvPr id="75784" name="Text Box 12"/>
            <p:cNvSpPr txBox="1"/>
            <p:nvPr/>
          </p:nvSpPr>
          <p:spPr>
            <a:xfrm>
              <a:off x="660" y="3024"/>
              <a:ext cx="182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SzPct val="100000"/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轴的疲劳断口</a:t>
              </a:r>
            </a:p>
          </p:txBody>
        </p:sp>
        <p:sp>
          <p:nvSpPr>
            <p:cNvPr id="75785" name="Text Box 13"/>
            <p:cNvSpPr txBox="1"/>
            <p:nvPr/>
          </p:nvSpPr>
          <p:spPr>
            <a:xfrm>
              <a:off x="2556" y="3024"/>
              <a:ext cx="28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SzPct val="100000"/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疲劳辉纹（扫描电镜照片）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pic>
          <p:nvPicPr>
            <p:cNvPr id="75786" name="Picture 18" descr="疲劳断口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" y="1056"/>
              <a:ext cx="4754" cy="1933"/>
            </a:xfrm>
            <a:prstGeom prst="rect">
              <a:avLst/>
            </a:prstGeom>
            <a:noFill/>
            <a:ln w="57150">
              <a:noFill/>
            </a:ln>
          </p:spPr>
        </p:pic>
        <p:sp>
          <p:nvSpPr>
            <p:cNvPr id="75787" name="Line 21"/>
            <p:cNvSpPr/>
            <p:nvPr/>
          </p:nvSpPr>
          <p:spPr>
            <a:xfrm>
              <a:off x="2544" y="1032"/>
              <a:ext cx="0" cy="1968"/>
            </a:xfrm>
            <a:prstGeom prst="line">
              <a:avLst/>
            </a:prstGeom>
            <a:ln w="57150">
              <a:noFill/>
            </a:ln>
          </p:spPr>
        </p:sp>
      </p:grpSp>
      <p:sp>
        <p:nvSpPr>
          <p:cNvPr id="6759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33350" y="6591300"/>
            <a:ext cx="1917700" cy="24765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5783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  <p:bldP spid="2868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53438" y="6524625"/>
            <a:ext cx="493712" cy="29845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71</a:t>
            </a:fld>
            <a:endParaRPr lang="en-US" altLang="zh-CN" sz="1400" dirty="0"/>
          </a:p>
        </p:txBody>
      </p:sp>
      <p:sp>
        <p:nvSpPr>
          <p:cNvPr id="25624" name="Rectangle 24"/>
          <p:cNvSpPr>
            <a:spLocks noGrp="1"/>
          </p:cNvSpPr>
          <p:nvPr>
            <p:ph type="title"/>
          </p:nvPr>
        </p:nvSpPr>
        <p:spPr>
          <a:xfrm>
            <a:off x="1480185" y="405130"/>
            <a:ext cx="5934075" cy="1325245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6.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断裂韧性</a:t>
            </a:r>
            <a:b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</a:b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fracture toughness</a:t>
            </a:r>
          </a:p>
        </p:txBody>
      </p:sp>
      <p:sp>
        <p:nvSpPr>
          <p:cNvPr id="25668" name="Text Box 68"/>
          <p:cNvSpPr txBox="1"/>
          <p:nvPr/>
        </p:nvSpPr>
        <p:spPr>
          <a:xfrm>
            <a:off x="928688" y="2028825"/>
            <a:ext cx="7621587" cy="603250"/>
          </a:xfrm>
          <a:prstGeom prst="rect">
            <a:avLst/>
          </a:prstGeom>
          <a:solidFill>
            <a:srgbClr val="00FFFF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SzPct val="100000"/>
            </a:pPr>
            <a:r>
              <a:rPr lang="zh-CN" altLang="en-US" sz="2800" b="1" dirty="0">
                <a:solidFill>
                  <a:srgbClr val="8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油轮断裂与材料中存在</a:t>
            </a:r>
            <a:r>
              <a:rPr lang="zh-CN" altLang="en-US" sz="2800" b="1" dirty="0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缺陷</a:t>
            </a:r>
            <a:r>
              <a:rPr lang="zh-CN" altLang="en-US" sz="2800" b="1" dirty="0">
                <a:solidFill>
                  <a:srgbClr val="8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有关</a:t>
            </a:r>
            <a:r>
              <a:rPr lang="zh-CN" altLang="en-US" sz="2800" dirty="0">
                <a:solidFill>
                  <a:srgbClr val="8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76805" name="Rectangle 27"/>
          <p:cNvSpPr/>
          <p:nvPr/>
        </p:nvSpPr>
        <p:spPr>
          <a:xfrm>
            <a:off x="5364163" y="5661025"/>
            <a:ext cx="3675062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/>
          <a:lstStyle/>
          <a:p>
            <a:pPr algn="ctr" eaLnBrk="1" hangingPunct="1">
              <a:buSzPct val="100000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裂纹扩展的基本形式</a:t>
            </a:r>
          </a:p>
        </p:txBody>
      </p:sp>
      <p:pic>
        <p:nvPicPr>
          <p:cNvPr id="76806" name="Picture 70" descr="裂纹扩展类型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413" y="3860800"/>
            <a:ext cx="3684587" cy="1620838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76807" name="Picture 85" descr="美国T-2油轮发生断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8" y="3286125"/>
            <a:ext cx="4456112" cy="3238500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76808" name="Text Box 86"/>
          <p:cNvSpPr txBox="1">
            <a:spLocks noChangeAspect="1"/>
          </p:cNvSpPr>
          <p:nvPr/>
        </p:nvSpPr>
        <p:spPr>
          <a:xfrm>
            <a:off x="1219200" y="3148013"/>
            <a:ext cx="35480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SzPct val="100000"/>
            </a:pP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1943</a:t>
            </a: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年美国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T-2</a:t>
            </a: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油轮发生断裂</a:t>
            </a:r>
          </a:p>
        </p:txBody>
      </p:sp>
      <p:sp>
        <p:nvSpPr>
          <p:cNvPr id="6861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524625"/>
            <a:ext cx="2124075" cy="29845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6810" name="内容占位符 1" descr="新校徽（3M）弓之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24" grpId="0"/>
      <p:bldP spid="25668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灯片编号占位符 7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72</a:t>
            </a:fld>
            <a:endParaRPr lang="en-US" altLang="zh-CN" sz="1400" dirty="0"/>
          </a:p>
        </p:txBody>
      </p:sp>
      <p:sp>
        <p:nvSpPr>
          <p:cNvPr id="4101" name="Rectangle 14"/>
          <p:cNvSpPr>
            <a:spLocks noGrp="1"/>
          </p:cNvSpPr>
          <p:nvPr>
            <p:ph type="title"/>
          </p:nvPr>
        </p:nvSpPr>
        <p:spPr>
          <a:xfrm>
            <a:off x="2143125" y="214313"/>
            <a:ext cx="5500688" cy="911225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en-US" altLang="zh-CN" sz="4800" b="1" dirty="0">
                <a:solidFill>
                  <a:srgbClr val="FF0000"/>
                </a:solidFill>
                <a:ea typeface="华文中宋" panose="02010600040101010101" pitchFamily="2" charset="-122"/>
              </a:rPr>
              <a:t>6.</a:t>
            </a:r>
            <a:r>
              <a:rPr lang="zh-CN" altLang="en-US" sz="4800" b="1" dirty="0">
                <a:solidFill>
                  <a:srgbClr val="FF0000"/>
                </a:solidFill>
                <a:ea typeface="华文中宋" panose="02010600040101010101" pitchFamily="2" charset="-122"/>
              </a:rPr>
              <a:t>断裂韧性</a:t>
            </a:r>
          </a:p>
        </p:txBody>
      </p:sp>
      <p:sp>
        <p:nvSpPr>
          <p:cNvPr id="4102" name="Rectangle 3"/>
          <p:cNvSpPr>
            <a:spLocks noGrp="1"/>
          </p:cNvSpPr>
          <p:nvPr>
            <p:ph type="body" sz="half" idx="1"/>
          </p:nvPr>
        </p:nvSpPr>
        <p:spPr>
          <a:xfrm>
            <a:off x="0" y="1844675"/>
            <a:ext cx="8893175" cy="47529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b="1" dirty="0">
                <a:solidFill>
                  <a:srgbClr val="0000FF"/>
                </a:solidFill>
              </a:rPr>
              <a:t>断裂韧性：</a:t>
            </a:r>
            <a:r>
              <a:rPr lang="zh-CN" altLang="en-US" b="1" dirty="0"/>
              <a:t>材料抵抗</a:t>
            </a:r>
            <a:r>
              <a:rPr lang="zh-CN" altLang="en-US" b="1" dirty="0">
                <a:solidFill>
                  <a:schemeClr val="folHlink"/>
                </a:solidFill>
              </a:rPr>
              <a:t>内部裂纹</a:t>
            </a:r>
            <a:r>
              <a:rPr lang="zh-CN" altLang="en-US" b="1" dirty="0">
                <a:solidFill>
                  <a:srgbClr val="FF0000"/>
                </a:solidFill>
              </a:rPr>
              <a:t>失稳扩展</a:t>
            </a:r>
            <a:r>
              <a:rPr lang="zh-CN" altLang="en-US" b="1" dirty="0"/>
              <a:t>的能力。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b="1" dirty="0">
                <a:solidFill>
                  <a:schemeClr val="folHlink"/>
                </a:solidFill>
              </a:rPr>
              <a:t>应力强度因子    ：</a:t>
            </a:r>
            <a:r>
              <a:rPr lang="zh-CN" altLang="en-US" b="1" dirty="0"/>
              <a:t>描述裂纹尖端附近</a:t>
            </a:r>
            <a:r>
              <a:rPr lang="zh-CN" altLang="en-US" b="1" dirty="0">
                <a:solidFill>
                  <a:srgbClr val="0000FF"/>
                </a:solidFill>
              </a:rPr>
              <a:t>应力场</a:t>
            </a:r>
            <a:r>
              <a:rPr lang="zh-CN" altLang="en-US" b="1" dirty="0"/>
              <a:t>强度的指标。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 dirty="0"/>
              <a:t>    </a:t>
            </a:r>
            <a:r>
              <a:rPr lang="en-US" altLang="zh-CN" b="1" dirty="0">
                <a:solidFill>
                  <a:schemeClr val="folHlink"/>
                </a:solidFill>
              </a:rPr>
              <a:t>Y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</a:rPr>
              <a:t>——</a:t>
            </a:r>
            <a:r>
              <a:rPr lang="zh-CN" altLang="en-US" b="1" dirty="0">
                <a:solidFill>
                  <a:schemeClr val="folHlink"/>
                </a:solidFill>
              </a:rPr>
              <a:t>系数</a:t>
            </a:r>
            <a:r>
              <a:rPr lang="zh-CN" altLang="en-US" b="1" dirty="0"/>
              <a:t>，与裂纹形状、应力加载方式、试样几何尺寸有关</a:t>
            </a:r>
            <a:r>
              <a:rPr lang="en-US" altLang="zh-CN" b="1" dirty="0"/>
              <a:t>(</a:t>
            </a:r>
            <a:r>
              <a:rPr lang="zh-CN" altLang="en-US" b="1" dirty="0"/>
              <a:t>查手册</a:t>
            </a:r>
            <a:r>
              <a:rPr lang="en-US" altLang="zh-CN" b="1" dirty="0"/>
              <a:t>)</a:t>
            </a:r>
            <a:r>
              <a:rPr lang="zh-CN" altLang="en-US" b="1" dirty="0"/>
              <a:t>；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1" dirty="0"/>
              <a:t>    </a:t>
            </a:r>
            <a:r>
              <a:rPr lang="en-US" altLang="zh-CN" b="1" dirty="0">
                <a:solidFill>
                  <a:schemeClr val="folHlink"/>
                </a:solidFill>
              </a:rPr>
              <a:t>a</a:t>
            </a:r>
            <a:r>
              <a:rPr lang="en-US" altLang="zh-CN" b="1" dirty="0">
                <a:latin typeface="Arial" panose="020B0604020202020204" pitchFamily="34" charset="0"/>
              </a:rPr>
              <a:t>——</a:t>
            </a:r>
            <a:r>
              <a:rPr lang="zh-CN" altLang="en-US" b="1" dirty="0">
                <a:solidFill>
                  <a:schemeClr val="folHlink"/>
                </a:solidFill>
              </a:rPr>
              <a:t>裂纹半长度</a:t>
            </a:r>
            <a:r>
              <a:rPr lang="zh-CN" altLang="en-US" b="1" dirty="0"/>
              <a:t>，</a:t>
            </a:r>
            <a:r>
              <a:rPr lang="en-US" altLang="zh-CN" b="1" dirty="0"/>
              <a:t>m;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 dirty="0"/>
              <a:t>   </a:t>
            </a:r>
            <a:r>
              <a:rPr lang="en-US" altLang="zh-CN" b="1" dirty="0">
                <a:solidFill>
                  <a:schemeClr val="folHlink"/>
                </a:solidFill>
              </a:rPr>
              <a:t>σ</a:t>
            </a:r>
            <a:r>
              <a:rPr lang="en-US" altLang="zh-CN" b="1" dirty="0">
                <a:latin typeface="Arial" panose="020B0604020202020204" pitchFamily="34" charset="0"/>
              </a:rPr>
              <a:t>——</a:t>
            </a:r>
            <a:r>
              <a:rPr lang="zh-CN" altLang="en-US" b="1" dirty="0">
                <a:solidFill>
                  <a:schemeClr val="folHlink"/>
                </a:solidFill>
              </a:rPr>
              <a:t>名义外加应力</a:t>
            </a:r>
            <a:r>
              <a:rPr lang="zh-CN" altLang="en-US" b="1" dirty="0"/>
              <a:t>，</a:t>
            </a:r>
            <a:r>
              <a:rPr lang="en-US" altLang="zh-CN" b="1" dirty="0"/>
              <a:t>MPa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b="1" dirty="0">
                <a:solidFill>
                  <a:schemeClr val="folHlink"/>
                </a:solidFill>
              </a:rPr>
              <a:t>断裂韧度：裂纹失稳扩展</a:t>
            </a:r>
            <a:r>
              <a:rPr lang="zh-CN" altLang="en-US" b="1" dirty="0"/>
              <a:t>的</a:t>
            </a:r>
            <a:r>
              <a:rPr lang="en-US" altLang="zh-CN" b="1" dirty="0">
                <a:solidFill>
                  <a:schemeClr val="folHlink"/>
                </a:solidFill>
              </a:rPr>
              <a:t>K</a:t>
            </a:r>
            <a:r>
              <a:rPr lang="en-US" altLang="zh-CN" b="1" baseline="-25000" dirty="0">
                <a:solidFill>
                  <a:schemeClr val="folHlink"/>
                </a:solidFill>
              </a:rPr>
              <a:t>I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folHlink"/>
                </a:solidFill>
              </a:rPr>
              <a:t>                    </a:t>
            </a:r>
            <a:r>
              <a:rPr lang="zh-CN" altLang="en-US" b="1" dirty="0">
                <a:solidFill>
                  <a:schemeClr val="folHlink"/>
                </a:solidFill>
              </a:rPr>
              <a:t>临界值。</a:t>
            </a:r>
          </a:p>
        </p:txBody>
      </p:sp>
      <p:pic>
        <p:nvPicPr>
          <p:cNvPr id="126995" name="Picture 19" descr="fig217[1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763" y="4048125"/>
            <a:ext cx="2555875" cy="2262188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6964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429375"/>
            <a:ext cx="19081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05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098" name="Object 7"/>
          <p:cNvGraphicFramePr>
            <a:graphicFrameLocks noGrp="1"/>
          </p:cNvGraphicFramePr>
          <p:nvPr>
            <p:ph sz="quarter" idx="2"/>
          </p:nvPr>
        </p:nvGraphicFramePr>
        <p:xfrm>
          <a:off x="2843213" y="2997200"/>
          <a:ext cx="17272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37540" imgH="199390" progId="Equation.3">
                  <p:embed/>
                </p:oleObj>
              </mc:Choice>
              <mc:Fallback>
                <p:oleObj r:id="rId4" imgW="637540" imgH="19939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2843213" y="2997200"/>
                        <a:ext cx="1727200" cy="547688"/>
                      </a:xfrm>
                      <a:prstGeom prst="rect">
                        <a:avLst/>
                      </a:prstGeom>
                      <a:solidFill>
                        <a:schemeClr val="accent2">
                          <a:alpha val="100000"/>
                        </a:scheme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6"/>
          <p:cNvGraphicFramePr>
            <a:graphicFrameLocks noChangeAspect="1"/>
          </p:cNvGraphicFramePr>
          <p:nvPr/>
        </p:nvGraphicFramePr>
        <p:xfrm>
          <a:off x="5580063" y="3068638"/>
          <a:ext cx="11509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47700" imgH="203200" progId="Equation.3">
                  <p:embed/>
                </p:oleObj>
              </mc:Choice>
              <mc:Fallback>
                <p:oleObj r:id="rId6" imgW="647700" imgH="203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80063" y="3068638"/>
                        <a:ext cx="1150937" cy="355600"/>
                      </a:xfrm>
                      <a:prstGeom prst="rect">
                        <a:avLst/>
                      </a:prstGeom>
                      <a:solidFill>
                        <a:srgbClr val="FF00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灯片编号占位符 7"/>
          <p:cNvSpPr txBox="1">
            <a:spLocks noGrp="1"/>
          </p:cNvSpPr>
          <p:nvPr>
            <p:ph type="sldNum" sz="quarter" idx="12"/>
          </p:nvPr>
        </p:nvSpPr>
        <p:spPr>
          <a:xfrm>
            <a:off x="8439150" y="6572250"/>
            <a:ext cx="504825" cy="277813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73</a:t>
            </a:fld>
            <a:endParaRPr lang="en-US" altLang="zh-CN" sz="1400" dirty="0"/>
          </a:p>
        </p:txBody>
      </p:sp>
      <p:sp>
        <p:nvSpPr>
          <p:cNvPr id="5125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874712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en-US" altLang="zh-CN" sz="4800" b="1" dirty="0">
                <a:solidFill>
                  <a:srgbClr val="FF0000"/>
                </a:solidFill>
                <a:ea typeface="华文中宋" panose="02010600040101010101" pitchFamily="2" charset="-122"/>
              </a:rPr>
              <a:t>6.</a:t>
            </a:r>
            <a:r>
              <a:rPr lang="zh-CN" altLang="en-US" sz="4800" b="1" dirty="0">
                <a:solidFill>
                  <a:srgbClr val="FF0000"/>
                </a:solidFill>
                <a:ea typeface="华文中宋" panose="02010600040101010101" pitchFamily="2" charset="-122"/>
              </a:rPr>
              <a:t>断裂韧性</a:t>
            </a:r>
          </a:p>
        </p:txBody>
      </p:sp>
      <p:sp>
        <p:nvSpPr>
          <p:cNvPr id="5126" name="Rectangle 3"/>
          <p:cNvSpPr>
            <a:spLocks noGrp="1"/>
          </p:cNvSpPr>
          <p:nvPr>
            <p:ph type="body" sz="half" idx="1"/>
          </p:nvPr>
        </p:nvSpPr>
        <p:spPr>
          <a:xfrm>
            <a:off x="468313" y="2017713"/>
            <a:ext cx="8135937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b="1" dirty="0">
                <a:solidFill>
                  <a:srgbClr val="0000FF"/>
                </a:solidFill>
              </a:rPr>
              <a:t>平面应变</a:t>
            </a:r>
            <a:r>
              <a:rPr lang="zh-CN" altLang="en-US" b="1" dirty="0">
                <a:solidFill>
                  <a:srgbClr val="FF0000"/>
                </a:solidFill>
              </a:rPr>
              <a:t>断裂韧度</a:t>
            </a:r>
            <a:r>
              <a:rPr lang="zh-CN" altLang="en-US" b="1" dirty="0">
                <a:solidFill>
                  <a:srgbClr val="0000FF"/>
                </a:solidFill>
              </a:rPr>
              <a:t>：</a:t>
            </a:r>
            <a:r>
              <a:rPr lang="zh-CN" altLang="en-US" b="1" dirty="0"/>
              <a:t>在裂纹尖端平面应变条件下的</a:t>
            </a:r>
            <a:r>
              <a:rPr lang="zh-CN" altLang="en-US" b="1" dirty="0">
                <a:solidFill>
                  <a:srgbClr val="0000FF"/>
                </a:solidFill>
              </a:rPr>
              <a:t>裂纹扩展阻力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b="1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b="1" i="1" dirty="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b="1" i="1" dirty="0">
                <a:solidFill>
                  <a:schemeClr val="folHlink"/>
                </a:solidFill>
                <a:sym typeface="Symbol" panose="05050102010706020507" pitchFamily="18" charset="2"/>
              </a:rPr>
              <a:t></a:t>
            </a:r>
            <a:r>
              <a:rPr lang="en-US" altLang="zh-CN" b="1" i="1" baseline="-25000" dirty="0">
                <a:solidFill>
                  <a:schemeClr val="folHlink"/>
                </a:solidFill>
                <a:sym typeface="Symbol" panose="05050102010706020507" pitchFamily="18" charset="2"/>
              </a:rPr>
              <a:t>C</a:t>
            </a:r>
            <a:r>
              <a:rPr lang="zh-CN" altLang="en-US" b="1" dirty="0"/>
              <a:t>为断裂应力， </a:t>
            </a:r>
            <a:r>
              <a:rPr lang="en-US" altLang="zh-CN" b="1" dirty="0"/>
              <a:t>MPa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b="1" i="1" dirty="0">
                <a:solidFill>
                  <a:schemeClr val="folHlink"/>
                </a:solidFill>
              </a:rPr>
              <a:t>a</a:t>
            </a:r>
            <a:r>
              <a:rPr lang="en-US" altLang="zh-CN" b="1" i="1" baseline="-25000" dirty="0">
                <a:solidFill>
                  <a:schemeClr val="folHlink"/>
                </a:solidFill>
              </a:rPr>
              <a:t>C</a:t>
            </a:r>
            <a:r>
              <a:rPr lang="zh-CN" altLang="en-US" b="1" dirty="0"/>
              <a:t>为临界裂纹半长，单位为</a:t>
            </a:r>
            <a:r>
              <a:rPr lang="en-US" altLang="zh-CN" b="1" dirty="0"/>
              <a:t>m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b="1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b="1" dirty="0"/>
          </a:p>
        </p:txBody>
      </p:sp>
      <p:sp>
        <p:nvSpPr>
          <p:cNvPr id="7066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572250"/>
            <a:ext cx="1908175" cy="2778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8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122" name="Object 5"/>
          <p:cNvGraphicFramePr/>
          <p:nvPr/>
        </p:nvGraphicFramePr>
        <p:xfrm>
          <a:off x="1979613" y="3141663"/>
          <a:ext cx="2643187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25830" imgH="266065" progId="Equation.3">
                  <p:embed/>
                </p:oleObj>
              </mc:Choice>
              <mc:Fallback>
                <p:oleObj r:id="rId3" imgW="925830" imgH="26606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613" y="3141663"/>
                        <a:ext cx="2643187" cy="760412"/>
                      </a:xfrm>
                      <a:prstGeom prst="rect">
                        <a:avLst/>
                      </a:prstGeom>
                      <a:solidFill>
                        <a:srgbClr val="FF00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6"/>
          <p:cNvGraphicFramePr>
            <a:graphicFrameLocks noChangeAspect="1"/>
          </p:cNvGraphicFramePr>
          <p:nvPr/>
        </p:nvGraphicFramePr>
        <p:xfrm>
          <a:off x="5795963" y="3141663"/>
          <a:ext cx="2376487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47700" imgH="203200" progId="Equation.3">
                  <p:embed/>
                </p:oleObj>
              </mc:Choice>
              <mc:Fallback>
                <p:oleObj r:id="rId5" imgW="647700" imgH="2032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95963" y="3141663"/>
                        <a:ext cx="2376487" cy="735012"/>
                      </a:xfrm>
                      <a:prstGeom prst="rect">
                        <a:avLst/>
                      </a:prstGeom>
                      <a:solidFill>
                        <a:srgbClr val="FF00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53425" y="6529388"/>
            <a:ext cx="590550" cy="309562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74</a:t>
            </a:fld>
            <a:endParaRPr lang="en-US" altLang="zh-CN" sz="1400" dirty="0"/>
          </a:p>
        </p:txBody>
      </p:sp>
      <p:sp>
        <p:nvSpPr>
          <p:cNvPr id="77827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795337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en-US" altLang="zh-CN" b="1" dirty="0">
                <a:solidFill>
                  <a:srgbClr val="FF0000"/>
                </a:solidFill>
              </a:rPr>
              <a:t>7.</a:t>
            </a:r>
            <a:r>
              <a:rPr lang="zh-CN" altLang="en-US" b="1" dirty="0">
                <a:solidFill>
                  <a:srgbClr val="FF0000"/>
                </a:solidFill>
              </a:rPr>
              <a:t>热疲劳</a:t>
            </a:r>
          </a:p>
        </p:txBody>
      </p:sp>
      <p:sp>
        <p:nvSpPr>
          <p:cNvPr id="7782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热疲劳：</a:t>
            </a:r>
            <a:r>
              <a:rPr lang="zh-CN" altLang="en-US" dirty="0"/>
              <a:t>承受</a:t>
            </a:r>
            <a:r>
              <a:rPr lang="zh-CN" altLang="en-US" b="1" dirty="0">
                <a:solidFill>
                  <a:srgbClr val="FF0000"/>
                </a:solidFill>
              </a:rPr>
              <a:t>热循环</a:t>
            </a:r>
            <a:r>
              <a:rPr lang="zh-CN" altLang="en-US" dirty="0"/>
              <a:t>引起</a:t>
            </a:r>
            <a:r>
              <a:rPr lang="zh-CN" altLang="en-US" b="1" dirty="0">
                <a:solidFill>
                  <a:srgbClr val="0000FF"/>
                </a:solidFill>
              </a:rPr>
              <a:t>热应力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rgbClr val="0000FF"/>
                </a:solidFill>
              </a:rPr>
              <a:t>热应变</a:t>
            </a:r>
            <a:r>
              <a:rPr lang="zh-CN" altLang="en-US" dirty="0"/>
              <a:t>，使材料受到疲劳损伤而破坏的现象。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b="1" dirty="0">
                <a:solidFill>
                  <a:srgbClr val="0033CC"/>
                </a:solidFill>
              </a:rPr>
              <a:t>实例：</a:t>
            </a:r>
            <a:r>
              <a:rPr lang="zh-CN" altLang="en-US" b="1" dirty="0">
                <a:solidFill>
                  <a:srgbClr val="FF0000"/>
                </a:solidFill>
              </a:rPr>
              <a:t>温度急剧变化</a:t>
            </a:r>
            <a:r>
              <a:rPr lang="zh-CN" altLang="en-US" dirty="0"/>
              <a:t>条件下工作的零件，如</a:t>
            </a:r>
            <a:r>
              <a:rPr lang="zh-CN" altLang="en-US" b="1" dirty="0">
                <a:solidFill>
                  <a:srgbClr val="0033CC"/>
                </a:solidFill>
              </a:rPr>
              <a:t>发动机导向叶片、热锻模</a:t>
            </a:r>
            <a:r>
              <a:rPr lang="zh-CN" altLang="en-US" dirty="0"/>
              <a:t>等。</a:t>
            </a:r>
          </a:p>
        </p:txBody>
      </p:sp>
      <p:sp>
        <p:nvSpPr>
          <p:cNvPr id="7168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93675" y="6496050"/>
            <a:ext cx="193040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7830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77250" y="6550025"/>
            <a:ext cx="466725" cy="309563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75</a:t>
            </a:fld>
            <a:endParaRPr lang="en-US" altLang="zh-CN" sz="1400" dirty="0"/>
          </a:p>
        </p:txBody>
      </p:sp>
      <p:sp>
        <p:nvSpPr>
          <p:cNvPr id="78851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0805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  <a:sym typeface="+mn-ea"/>
              </a:rPr>
              <a:t>材料的高温力学性能</a:t>
            </a:r>
          </a:p>
        </p:txBody>
      </p:sp>
      <p:sp>
        <p:nvSpPr>
          <p:cNvPr id="78852" name="Rectangle 3"/>
          <p:cNvSpPr>
            <a:spLocks noGrp="1"/>
          </p:cNvSpPr>
          <p:nvPr>
            <p:ph sz="half" idx="1"/>
          </p:nvPr>
        </p:nvSpPr>
        <p:spPr>
          <a:xfrm>
            <a:off x="119063" y="2017713"/>
            <a:ext cx="8743950" cy="45434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  <a:buSzPct val="60000"/>
            </a:pPr>
            <a:r>
              <a:rPr lang="zh-CN" altLang="en-US" b="1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蠕变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：</a:t>
            </a: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金属材料在较高温度和应力作用下产生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缓慢塑性变形</a:t>
            </a: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的现象。（一般300℃～400℃以上有显著蠕变现象）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60000"/>
            </a:pPr>
            <a:r>
              <a:rPr lang="zh-CN" altLang="en-US" b="1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（1）蠕变变形</a:t>
            </a: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：蠕变产生的塑性变形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60000"/>
            </a:pP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	蠕变规律用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蠕变曲线</a:t>
            </a: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表示。分为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三个阶段</a:t>
            </a: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：</a:t>
            </a:r>
            <a:endParaRPr lang="en-US" altLang="zh-CN" dirty="0">
              <a:latin typeface="+mn-lt"/>
              <a:ea typeface="+mn-ea"/>
              <a:cs typeface="+mn-cs"/>
              <a:sym typeface="+mn-ea"/>
            </a:endParaRPr>
          </a:p>
          <a:p>
            <a:pPr eaLnBrk="1" hangingPunct="1">
              <a:lnSpc>
                <a:spcPct val="80000"/>
              </a:lnSpc>
              <a:buSzPct val="60000"/>
            </a:pP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        蠕变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第一阶段</a:t>
            </a: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，也称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减速蠕变</a:t>
            </a: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阶段；</a:t>
            </a:r>
            <a:endParaRPr lang="en-US" altLang="zh-CN" dirty="0">
              <a:latin typeface="+mn-lt"/>
              <a:ea typeface="+mn-ea"/>
              <a:cs typeface="+mn-cs"/>
              <a:sym typeface="+mn-ea"/>
            </a:endParaRPr>
          </a:p>
          <a:p>
            <a:pPr eaLnBrk="1" hangingPunct="1">
              <a:lnSpc>
                <a:spcPct val="80000"/>
              </a:lnSpc>
              <a:buSzPct val="60000"/>
            </a:pP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        蠕变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第二阶段</a:t>
            </a: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，也称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稳定蠕变</a:t>
            </a: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阶段；</a:t>
            </a:r>
            <a:endParaRPr lang="en-US" altLang="zh-CN" dirty="0">
              <a:latin typeface="+mn-lt"/>
              <a:ea typeface="+mn-ea"/>
              <a:cs typeface="+mn-cs"/>
              <a:sym typeface="+mn-ea"/>
            </a:endParaRPr>
          </a:p>
          <a:p>
            <a:pPr eaLnBrk="1" hangingPunct="1">
              <a:lnSpc>
                <a:spcPct val="80000"/>
              </a:lnSpc>
              <a:buSzPct val="60000"/>
            </a:pP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        蠕变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第三阶段</a:t>
            </a: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也称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加速蠕变</a:t>
            </a: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阶段。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80000"/>
              </a:lnSpc>
              <a:buSzPct val="60000"/>
            </a:pP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（2）蠕变极限</a:t>
            </a: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：在规定温度下，引起试样在规定时间内的</a:t>
            </a:r>
            <a:r>
              <a:rPr lang="zh-CN" altLang="en-US" b="1" dirty="0">
                <a:solidFill>
                  <a:srgbClr val="0000FF"/>
                </a:solidFill>
                <a:latin typeface="+mn-lt"/>
                <a:ea typeface="+mn-ea"/>
                <a:cs typeface="+mn-cs"/>
                <a:sym typeface="+mn-ea"/>
              </a:rPr>
              <a:t>蠕变伸长率</a:t>
            </a:r>
            <a:r>
              <a:rPr lang="zh-CN" altLang="en-US" dirty="0">
                <a:latin typeface="+mn-lt"/>
                <a:ea typeface="+mn-ea"/>
                <a:cs typeface="+mn-cs"/>
                <a:sym typeface="+mn-ea"/>
              </a:rPr>
              <a:t>（总伸长率或塑性伸长率）或稳态蠕变速度不超过某规定值的最大应力。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7168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61138"/>
            <a:ext cx="1905000" cy="29845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8854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77250" y="6550025"/>
            <a:ext cx="466725" cy="309563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76</a:t>
            </a:fld>
            <a:endParaRPr lang="en-US" altLang="zh-CN" sz="1400" dirty="0"/>
          </a:p>
        </p:txBody>
      </p:sp>
      <p:sp>
        <p:nvSpPr>
          <p:cNvPr id="79875" name="Rectangle 2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0805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i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金属的典型蠕变示意图</a:t>
            </a:r>
          </a:p>
        </p:txBody>
      </p:sp>
      <p:sp>
        <p:nvSpPr>
          <p:cNvPr id="79876" name="Rectangle 3"/>
          <p:cNvSpPr>
            <a:spLocks noGrp="1"/>
          </p:cNvSpPr>
          <p:nvPr>
            <p:ph sz="half" idx="1"/>
          </p:nvPr>
        </p:nvSpPr>
        <p:spPr>
          <a:xfrm>
            <a:off x="119063" y="2017713"/>
            <a:ext cx="8743950" cy="45434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  <a:buSzPct val="60000"/>
            </a:pP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7168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61138"/>
            <a:ext cx="1905000" cy="29845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9878" name="Picture 4" descr="金属蠕变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450975" y="1825625"/>
            <a:ext cx="6515100" cy="4419600"/>
          </a:xfrm>
        </p:spPr>
      </p:pic>
      <p:pic>
        <p:nvPicPr>
          <p:cNvPr id="79879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56613" y="6559550"/>
            <a:ext cx="490537" cy="287338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77</a:t>
            </a:fld>
            <a:endParaRPr lang="en-US" altLang="zh-CN" sz="1400" dirty="0"/>
          </a:p>
        </p:txBody>
      </p:sp>
      <p:sp>
        <p:nvSpPr>
          <p:cNvPr id="80899" name="Rectangle 2"/>
          <p:cNvSpPr>
            <a:spLocks noGrp="1"/>
          </p:cNvSpPr>
          <p:nvPr>
            <p:ph type="title"/>
          </p:nvPr>
        </p:nvSpPr>
        <p:spPr>
          <a:xfrm>
            <a:off x="827088" y="2205038"/>
            <a:ext cx="8032750" cy="316865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sz="6000" b="1" dirty="0">
                <a:solidFill>
                  <a:srgbClr val="FF0000"/>
                </a:solidFill>
              </a:rPr>
              <a:t>（一）使用性能</a:t>
            </a:r>
            <a:br>
              <a:rPr lang="en-US" altLang="zh-CN" sz="6000" b="1" dirty="0">
                <a:solidFill>
                  <a:srgbClr val="FF0000"/>
                </a:solidFill>
              </a:rPr>
            </a:br>
            <a:r>
              <a:rPr lang="en-US" altLang="zh-CN" sz="6000" b="1" dirty="0">
                <a:solidFill>
                  <a:srgbClr val="FF0000"/>
                </a:solidFill>
              </a:rPr>
              <a:t>—— 2.</a:t>
            </a:r>
            <a:r>
              <a:rPr lang="zh-CN" altLang="en-US" sz="6000" b="1" dirty="0">
                <a:solidFill>
                  <a:srgbClr val="FF0000"/>
                </a:solidFill>
              </a:rPr>
              <a:t>物理性能</a:t>
            </a:r>
            <a:br>
              <a:rPr lang="en-US" altLang="zh-CN" sz="6000" b="1" dirty="0">
                <a:solidFill>
                  <a:srgbClr val="FF0000"/>
                </a:solidFill>
              </a:rPr>
            </a:br>
            <a:r>
              <a:rPr lang="en-US" altLang="zh-CN" sz="6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Properties</a:t>
            </a:r>
            <a:endParaRPr lang="en-US" altLang="zh-CN" sz="6000" b="1" i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22238" y="6503988"/>
            <a:ext cx="200183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0901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56613" y="6559550"/>
            <a:ext cx="490537" cy="287338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78</a:t>
            </a:fld>
            <a:endParaRPr lang="en-US" altLang="zh-CN" sz="1400" dirty="0"/>
          </a:p>
        </p:txBody>
      </p:sp>
      <p:sp>
        <p:nvSpPr>
          <p:cNvPr id="81923" name="Rectangle 2"/>
          <p:cNvSpPr>
            <a:spLocks noGrp="1"/>
          </p:cNvSpPr>
          <p:nvPr>
            <p:ph type="title"/>
          </p:nvPr>
        </p:nvSpPr>
        <p:spPr>
          <a:xfrm>
            <a:off x="914400" y="333375"/>
            <a:ext cx="8032750" cy="871538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（一）使用性能</a:t>
            </a:r>
            <a:r>
              <a:rPr lang="en-US" altLang="zh-CN" b="1" dirty="0">
                <a:solidFill>
                  <a:srgbClr val="FF0000"/>
                </a:solidFill>
              </a:rPr>
              <a:t>——2.</a:t>
            </a:r>
            <a:r>
              <a:rPr lang="zh-CN" altLang="en-US" b="1" dirty="0">
                <a:solidFill>
                  <a:srgbClr val="FF0000"/>
                </a:solidFill>
              </a:rPr>
              <a:t>物理性能</a:t>
            </a:r>
          </a:p>
        </p:txBody>
      </p:sp>
      <p:sp>
        <p:nvSpPr>
          <p:cNvPr id="72708" name="Rectangle 3"/>
          <p:cNvSpPr>
            <a:spLocks noGrp="1"/>
          </p:cNvSpPr>
          <p:nvPr>
            <p:ph idx="1"/>
          </p:nvPr>
        </p:nvSpPr>
        <p:spPr>
          <a:xfrm>
            <a:off x="25400" y="1989138"/>
            <a:ext cx="9118600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密度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轻金属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（密度小于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4.5g/cm3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）和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重金属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（密度大于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4.5g/cm3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）。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  <a:cs typeface="+mn-cs"/>
              </a:rPr>
              <a:t>比强度：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强度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密度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  <a:cs typeface="+mn-cs"/>
              </a:rPr>
              <a:t>熔点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：熔点越高，高温下保持高强度的能力越强。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  按照熔点的高低，金属材料可分为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易熔金属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（熔点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&lt;1700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Symbol" panose="05050102010706020507" pitchFamily="18" charset="2"/>
              </a:rPr>
              <a:t>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C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）和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难熔金属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（熔点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&gt;1700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Symbol" panose="05050102010706020507" pitchFamily="18" charset="2"/>
              </a:rPr>
              <a:t>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C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）。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热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热膨胀性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常见金属：（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5~25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x10</a:t>
            </a:r>
            <a:r>
              <a:rPr kumimoji="0" lang="en-US" altLang="zh-CN" sz="3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-6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℃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导热性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（银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铜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铝）、（比）热熔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：声速、声阻抗、声衰减系数</a:t>
            </a:r>
          </a:p>
        </p:txBody>
      </p:sp>
      <p:sp>
        <p:nvSpPr>
          <p:cNvPr id="727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22238" y="6503988"/>
            <a:ext cx="200183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1926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56613" y="6500813"/>
            <a:ext cx="481012" cy="3190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79</a:t>
            </a:fld>
            <a:endParaRPr lang="en-US" altLang="zh-CN" sz="1400" dirty="0"/>
          </a:p>
        </p:txBody>
      </p:sp>
      <p:sp>
        <p:nvSpPr>
          <p:cNvPr id="82947" name="Rectangle 2"/>
          <p:cNvSpPr>
            <a:spLocks noGrp="1"/>
          </p:cNvSpPr>
          <p:nvPr>
            <p:ph type="title"/>
          </p:nvPr>
        </p:nvSpPr>
        <p:spPr>
          <a:xfrm>
            <a:off x="2411413" y="333375"/>
            <a:ext cx="6045200" cy="11430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材料的物理性能</a:t>
            </a:r>
          </a:p>
        </p:txBody>
      </p:sp>
      <p:sp>
        <p:nvSpPr>
          <p:cNvPr id="82948" name="Rectangle 3"/>
          <p:cNvSpPr>
            <a:spLocks noGrp="1"/>
          </p:cNvSpPr>
          <p:nvPr>
            <p:ph idx="1"/>
          </p:nvPr>
        </p:nvSpPr>
        <p:spPr>
          <a:xfrm>
            <a:off x="685800" y="1844675"/>
            <a:ext cx="8062913" cy="4608513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solidFill>
                  <a:srgbClr val="0033CC"/>
                </a:solidFill>
              </a:rPr>
              <a:t>电</a:t>
            </a:r>
            <a:r>
              <a:rPr lang="zh-CN" altLang="en-US" dirty="0">
                <a:solidFill>
                  <a:srgbClr val="0033CC"/>
                </a:solidFill>
              </a:rPr>
              <a:t>：</a:t>
            </a:r>
            <a:r>
              <a:rPr lang="zh-CN" altLang="en-US" dirty="0"/>
              <a:t>导电性（电阻率、电导率）、（相对）介电常数、铁电性、超导电性</a:t>
            </a:r>
          </a:p>
          <a:p>
            <a:pPr eaLnBrk="1" hangingPunct="1">
              <a:buNone/>
            </a:pPr>
            <a:r>
              <a:rPr lang="zh-CN" altLang="en-US" dirty="0"/>
              <a:t>   导电性：与导热性基本一致，</a:t>
            </a:r>
          </a:p>
          <a:p>
            <a:pPr eaLnBrk="1" hangingPunct="1">
              <a:buNone/>
            </a:pPr>
            <a:r>
              <a:rPr lang="zh-CN" altLang="en-US" dirty="0"/>
              <a:t>               </a:t>
            </a:r>
            <a:r>
              <a:rPr lang="zh-CN" altLang="en-US" dirty="0">
                <a:solidFill>
                  <a:srgbClr val="0033CC"/>
                </a:solidFill>
              </a:rPr>
              <a:t>银</a:t>
            </a:r>
            <a:r>
              <a:rPr lang="en-US" altLang="zh-CN" dirty="0">
                <a:solidFill>
                  <a:srgbClr val="0033CC"/>
                </a:solidFill>
              </a:rPr>
              <a:t>&gt;</a:t>
            </a:r>
            <a:r>
              <a:rPr lang="zh-CN" altLang="en-US" dirty="0">
                <a:solidFill>
                  <a:srgbClr val="0033CC"/>
                </a:solidFill>
              </a:rPr>
              <a:t>铜</a:t>
            </a:r>
            <a:r>
              <a:rPr lang="en-US" altLang="zh-CN" dirty="0">
                <a:solidFill>
                  <a:srgbClr val="0033CC"/>
                </a:solidFill>
              </a:rPr>
              <a:t>&gt;</a:t>
            </a:r>
            <a:r>
              <a:rPr lang="zh-CN" altLang="en-US" dirty="0">
                <a:solidFill>
                  <a:srgbClr val="0033CC"/>
                </a:solidFill>
              </a:rPr>
              <a:t>铝</a:t>
            </a:r>
          </a:p>
          <a:p>
            <a:pPr eaLnBrk="1" hangingPunct="1"/>
            <a:r>
              <a:rPr lang="zh-CN" altLang="en-US" b="1" dirty="0">
                <a:solidFill>
                  <a:srgbClr val="0033CC"/>
                </a:solidFill>
              </a:rPr>
              <a:t>磁</a:t>
            </a:r>
            <a:r>
              <a:rPr lang="zh-CN" altLang="en-US" dirty="0">
                <a:solidFill>
                  <a:srgbClr val="0033CC"/>
                </a:solidFill>
              </a:rPr>
              <a:t>：</a:t>
            </a:r>
            <a:r>
              <a:rPr lang="zh-CN" altLang="en-US" dirty="0"/>
              <a:t>磁性（铁磁性、顺磁性、抗磁性）</a:t>
            </a:r>
          </a:p>
          <a:p>
            <a:pPr eaLnBrk="1" hangingPunct="1">
              <a:buNone/>
            </a:pPr>
            <a:r>
              <a:rPr lang="zh-CN" altLang="en-US" dirty="0">
                <a:solidFill>
                  <a:srgbClr val="FF0000"/>
                </a:solidFill>
              </a:rPr>
              <a:t>   铁磁性材料</a:t>
            </a:r>
            <a:r>
              <a:rPr lang="zh-CN" altLang="en-US" dirty="0"/>
              <a:t>：变压器、电动机、仪器仪表</a:t>
            </a:r>
          </a:p>
          <a:p>
            <a:pPr eaLnBrk="1" hangingPunct="1">
              <a:buNone/>
            </a:pPr>
            <a:r>
              <a:rPr lang="zh-CN" altLang="en-US" dirty="0"/>
              <a:t>   </a:t>
            </a:r>
            <a:r>
              <a:rPr lang="zh-CN" altLang="en-US" dirty="0">
                <a:solidFill>
                  <a:srgbClr val="0033CC"/>
                </a:solidFill>
              </a:rPr>
              <a:t>抗磁性材料</a:t>
            </a:r>
            <a:r>
              <a:rPr lang="zh-CN" altLang="en-US" dirty="0"/>
              <a:t>：磁屏蔽材料、抗磁干扰材料</a:t>
            </a: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光</a:t>
            </a:r>
            <a:r>
              <a:rPr lang="zh-CN" altLang="en-US" dirty="0"/>
              <a:t>：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7373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429375"/>
            <a:ext cx="219710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2950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91538" y="6572250"/>
            <a:ext cx="452437" cy="277813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80</a:t>
            </a:fld>
            <a:endParaRPr lang="en-US" altLang="zh-CN" sz="1400" dirty="0"/>
          </a:p>
        </p:txBody>
      </p:sp>
      <p:sp>
        <p:nvSpPr>
          <p:cNvPr id="83971" name="Rectangle 2"/>
          <p:cNvSpPr>
            <a:spLocks noGrp="1"/>
          </p:cNvSpPr>
          <p:nvPr>
            <p:ph type="title"/>
          </p:nvPr>
        </p:nvSpPr>
        <p:spPr>
          <a:xfrm>
            <a:off x="611188" y="2060575"/>
            <a:ext cx="8137525" cy="3671888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sz="6000" b="1" dirty="0">
                <a:solidFill>
                  <a:srgbClr val="FF0000"/>
                </a:solidFill>
              </a:rPr>
              <a:t>（一）使用性能</a:t>
            </a:r>
            <a:br>
              <a:rPr lang="en-US" altLang="zh-CN" sz="6000" b="1" dirty="0">
                <a:solidFill>
                  <a:srgbClr val="FF0000"/>
                </a:solidFill>
              </a:rPr>
            </a:br>
            <a:r>
              <a:rPr lang="en-US" altLang="zh-CN" sz="6000" b="1" dirty="0">
                <a:solidFill>
                  <a:srgbClr val="FF0000"/>
                </a:solidFill>
              </a:rPr>
              <a:t>——</a:t>
            </a:r>
            <a:r>
              <a:rPr lang="zh-CN" altLang="en-US" sz="6000" b="1" dirty="0">
                <a:solidFill>
                  <a:srgbClr val="FF0000"/>
                </a:solidFill>
              </a:rPr>
              <a:t>化学性能</a:t>
            </a:r>
            <a:br>
              <a:rPr lang="en-US" altLang="zh-CN" sz="6000" b="1" dirty="0">
                <a:solidFill>
                  <a:srgbClr val="FF0000"/>
                </a:solidFill>
              </a:rPr>
            </a:br>
            <a:r>
              <a:rPr lang="en-US" altLang="zh-CN" sz="6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Chemical Properties</a:t>
            </a:r>
          </a:p>
        </p:txBody>
      </p:sp>
      <p:sp>
        <p:nvSpPr>
          <p:cNvPr id="7475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40500"/>
            <a:ext cx="19081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3973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491538" y="6572250"/>
            <a:ext cx="452437" cy="277813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81</a:t>
            </a:fld>
            <a:endParaRPr lang="en-US" altLang="zh-CN" sz="1400" dirty="0"/>
          </a:p>
        </p:txBody>
      </p:sp>
      <p:sp>
        <p:nvSpPr>
          <p:cNvPr id="84995" name="Rectangle 2"/>
          <p:cNvSpPr>
            <a:spLocks noGrp="1"/>
          </p:cNvSpPr>
          <p:nvPr>
            <p:ph type="title"/>
          </p:nvPr>
        </p:nvSpPr>
        <p:spPr>
          <a:xfrm>
            <a:off x="1042988" y="290513"/>
            <a:ext cx="7850187" cy="873125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（一）使用性能</a:t>
            </a:r>
            <a:r>
              <a:rPr lang="en-US" altLang="zh-CN" b="1" dirty="0">
                <a:solidFill>
                  <a:srgbClr val="FF0000"/>
                </a:solidFill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</a:rPr>
              <a:t>化学性能</a:t>
            </a:r>
          </a:p>
        </p:txBody>
      </p:sp>
      <p:sp>
        <p:nvSpPr>
          <p:cNvPr id="84996" name="Rectangle 3"/>
          <p:cNvSpPr>
            <a:spLocks noGrp="1"/>
          </p:cNvSpPr>
          <p:nvPr>
            <p:ph idx="1"/>
          </p:nvPr>
        </p:nvSpPr>
        <p:spPr>
          <a:xfrm>
            <a:off x="323850" y="2017713"/>
            <a:ext cx="8631238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>
                <a:solidFill>
                  <a:srgbClr val="0033CC"/>
                </a:solidFill>
              </a:rPr>
              <a:t>化学性能：化学稳定性</a:t>
            </a:r>
          </a:p>
          <a:p>
            <a:pPr eaLnBrk="1" hangingPunct="1"/>
            <a:r>
              <a:rPr lang="zh-CN" altLang="en-US" dirty="0">
                <a:solidFill>
                  <a:srgbClr val="0033CC"/>
                </a:solidFill>
              </a:rPr>
              <a:t>耐腐蚀性：</a:t>
            </a:r>
            <a:r>
              <a:rPr lang="zh-CN" altLang="en-US" dirty="0"/>
              <a:t>腐蚀介质环境，如制药、石化</a:t>
            </a:r>
          </a:p>
          <a:p>
            <a:pPr eaLnBrk="1" hangingPunct="1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）碳钢、铸铁的耐蚀性较差，不锈钢、铝合金、铜合金、钛及其合金耐蚀性较好</a:t>
            </a:r>
          </a:p>
          <a:p>
            <a:pPr eaLnBrk="1" hangingPunct="1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）材料的耐蚀性受环境（介质）影响</a:t>
            </a:r>
          </a:p>
          <a:p>
            <a:pPr eaLnBrk="1" hangingPunct="1"/>
            <a:r>
              <a:rPr lang="zh-CN" altLang="en-US" b="1" dirty="0">
                <a:solidFill>
                  <a:srgbClr val="0033CC"/>
                </a:solidFill>
              </a:rPr>
              <a:t>抗氧化性</a:t>
            </a:r>
            <a:r>
              <a:rPr lang="zh-CN" altLang="en-US" dirty="0">
                <a:solidFill>
                  <a:srgbClr val="0033CC"/>
                </a:solidFill>
              </a:rPr>
              <a:t>：</a:t>
            </a:r>
            <a:r>
              <a:rPr lang="zh-CN" altLang="en-US" dirty="0"/>
              <a:t>高温环境（锅炉、汽轮机、飞机发动机）</a:t>
            </a:r>
          </a:p>
        </p:txBody>
      </p:sp>
      <p:sp>
        <p:nvSpPr>
          <p:cNvPr id="7475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40500"/>
            <a:ext cx="190817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4998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45488" y="6615113"/>
            <a:ext cx="547687" cy="2555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82</a:t>
            </a:fld>
            <a:endParaRPr lang="en-US" altLang="zh-CN" sz="1400" dirty="0"/>
          </a:p>
        </p:txBody>
      </p:sp>
      <p:sp>
        <p:nvSpPr>
          <p:cNvPr id="86019" name="Rectangle 2"/>
          <p:cNvSpPr>
            <a:spLocks noGrp="1"/>
          </p:cNvSpPr>
          <p:nvPr>
            <p:ph type="title"/>
          </p:nvPr>
        </p:nvSpPr>
        <p:spPr>
          <a:xfrm>
            <a:off x="611188" y="2133600"/>
            <a:ext cx="8208962" cy="2879725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>
              <a:buNone/>
            </a:pPr>
            <a:r>
              <a:rPr lang="zh-CN" altLang="en-US" sz="6000" b="1" dirty="0">
                <a:solidFill>
                  <a:srgbClr val="FF0000"/>
                </a:solidFill>
              </a:rPr>
              <a:t>（二）材料的工艺性能</a:t>
            </a:r>
            <a:br>
              <a:rPr lang="en-US" altLang="zh-CN" sz="6000" b="1" dirty="0">
                <a:solidFill>
                  <a:srgbClr val="FF0000"/>
                </a:solidFill>
              </a:rPr>
            </a:br>
            <a:r>
              <a:rPr lang="en-US" altLang="zh-CN" sz="60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Process performance of the materials</a:t>
            </a:r>
            <a:endParaRPr lang="zh-CN" altLang="en-US" sz="6000" b="1" i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578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7950" y="6505575"/>
            <a:ext cx="216058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6021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45488" y="6615113"/>
            <a:ext cx="547687" cy="2555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83</a:t>
            </a:fld>
            <a:endParaRPr lang="en-US" altLang="zh-CN" sz="1400" dirty="0"/>
          </a:p>
        </p:txBody>
      </p:sp>
      <p:sp>
        <p:nvSpPr>
          <p:cNvPr id="87043" name="Rectangle 2"/>
          <p:cNvSpPr>
            <a:spLocks noGrp="1"/>
          </p:cNvSpPr>
          <p:nvPr>
            <p:ph type="title"/>
          </p:nvPr>
        </p:nvSpPr>
        <p:spPr>
          <a:xfrm>
            <a:off x="684213" y="260350"/>
            <a:ext cx="8208962" cy="1152525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</a:rPr>
              <a:t>（二）材料的工艺性能</a:t>
            </a:r>
            <a:br>
              <a:rPr lang="en-US" altLang="zh-CN" b="1" dirty="0">
                <a:solidFill>
                  <a:srgbClr val="FF0000"/>
                </a:solidFill>
              </a:rPr>
            </a:br>
            <a:r>
              <a:rPr lang="en-US" altLang="zh-CN" sz="4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performance of the materials</a:t>
            </a:r>
            <a:endParaRPr lang="en-US" altLang="zh-CN" sz="4000" b="1" i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7044" name="Rectangle 3"/>
          <p:cNvSpPr>
            <a:spLocks noGrp="1"/>
          </p:cNvSpPr>
          <p:nvPr>
            <p:ph idx="1"/>
          </p:nvPr>
        </p:nvSpPr>
        <p:spPr>
          <a:xfrm>
            <a:off x="125413" y="2133600"/>
            <a:ext cx="8893175" cy="470217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800" b="1" dirty="0">
                <a:solidFill>
                  <a:srgbClr val="0033CC"/>
                </a:solidFill>
              </a:rPr>
              <a:t>铸造</a:t>
            </a:r>
            <a:r>
              <a:rPr lang="zh-CN" altLang="en-US" sz="2800" b="1" dirty="0"/>
              <a:t>性能</a:t>
            </a:r>
            <a:r>
              <a:rPr lang="zh-CN" altLang="en-US" sz="2800" dirty="0"/>
              <a:t>：流动性、收缩性、偏析等（共晶成分最好）</a:t>
            </a:r>
          </a:p>
          <a:p>
            <a:pPr eaLnBrk="1" hangingPunct="1"/>
            <a:r>
              <a:rPr lang="zh-CN" altLang="en-US" sz="2800" b="1" dirty="0">
                <a:solidFill>
                  <a:srgbClr val="0033CC"/>
                </a:solidFill>
              </a:rPr>
              <a:t>锻造</a:t>
            </a:r>
            <a:r>
              <a:rPr lang="zh-CN" altLang="en-US" sz="2800" b="1" dirty="0"/>
              <a:t>性能</a:t>
            </a:r>
            <a:r>
              <a:rPr lang="zh-CN" altLang="en-US" sz="2800" dirty="0"/>
              <a:t>：可塑性变形的温度范围（宽）、变形抗力（小）</a:t>
            </a:r>
          </a:p>
          <a:p>
            <a:pPr eaLnBrk="1" hangingPunct="1"/>
            <a:r>
              <a:rPr lang="zh-CN" altLang="en-US" sz="2800" b="1" dirty="0">
                <a:solidFill>
                  <a:srgbClr val="0033CC"/>
                </a:solidFill>
              </a:rPr>
              <a:t>焊接</a:t>
            </a:r>
            <a:r>
              <a:rPr lang="zh-CN" altLang="en-US" sz="2800" dirty="0"/>
              <a:t>性能：变形、开裂等。含碳量越低，焊接性越好。</a:t>
            </a:r>
          </a:p>
          <a:p>
            <a:pPr eaLnBrk="1" hangingPunct="1"/>
            <a:r>
              <a:rPr lang="zh-CN" altLang="en-US" sz="2800" b="1" dirty="0">
                <a:solidFill>
                  <a:srgbClr val="0033CC"/>
                </a:solidFill>
              </a:rPr>
              <a:t>切削加工性</a:t>
            </a:r>
            <a:r>
              <a:rPr lang="zh-CN" altLang="en-US" sz="2800" dirty="0"/>
              <a:t>：切削力（热）、表面质量。硬度（适中，</a:t>
            </a:r>
            <a:r>
              <a:rPr lang="en-US" altLang="zh-CN" sz="2800" dirty="0"/>
              <a:t>~HB200</a:t>
            </a:r>
            <a:r>
              <a:rPr lang="zh-CN" altLang="en-US" sz="2800" dirty="0"/>
              <a:t>）、韧性</a:t>
            </a:r>
          </a:p>
          <a:p>
            <a:pPr eaLnBrk="1" hangingPunct="1"/>
            <a:r>
              <a:rPr lang="zh-CN" altLang="en-US" sz="2800" b="1" dirty="0">
                <a:solidFill>
                  <a:srgbClr val="0033CC"/>
                </a:solidFill>
              </a:rPr>
              <a:t>热处理</a:t>
            </a:r>
            <a:r>
              <a:rPr lang="zh-CN" altLang="en-US" sz="2800" dirty="0"/>
              <a:t>性能：淬透性、氧化、热处理变形、开裂等。</a:t>
            </a:r>
          </a:p>
        </p:txBody>
      </p:sp>
      <p:sp>
        <p:nvSpPr>
          <p:cNvPr id="7578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7950" y="6505575"/>
            <a:ext cx="216058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7046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45488" y="6615113"/>
            <a:ext cx="547687" cy="2555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84</a:t>
            </a:fld>
            <a:endParaRPr lang="en-US" altLang="zh-CN" sz="1400" dirty="0"/>
          </a:p>
        </p:txBody>
      </p:sp>
      <p:sp>
        <p:nvSpPr>
          <p:cNvPr id="88067" name="Rectangle 2"/>
          <p:cNvSpPr>
            <a:spLocks noGrp="1"/>
          </p:cNvSpPr>
          <p:nvPr>
            <p:ph type="title"/>
          </p:nvPr>
        </p:nvSpPr>
        <p:spPr>
          <a:xfrm>
            <a:off x="395288" y="2708275"/>
            <a:ext cx="8208962" cy="2808288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>
              <a:buNone/>
            </a:pPr>
            <a:r>
              <a:rPr lang="zh-CN" altLang="en-US" sz="6000" b="1" dirty="0">
                <a:solidFill>
                  <a:srgbClr val="FF0000"/>
                </a:solidFill>
              </a:rPr>
              <a:t>（三）材料的经济性能</a:t>
            </a:r>
            <a:br>
              <a:rPr lang="en-US" altLang="zh-CN" sz="6000" b="1" dirty="0">
                <a:solidFill>
                  <a:srgbClr val="FF0000"/>
                </a:solidFill>
              </a:rPr>
            </a:br>
            <a:r>
              <a:rPr lang="en-US" altLang="zh-CN" sz="6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  <a:r>
              <a:rPr lang="en-US" altLang="zh-CN" sz="60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 performance of the materials</a:t>
            </a:r>
            <a:endParaRPr lang="zh-CN" altLang="en-US" sz="6000" b="1" i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578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7950" y="6505575"/>
            <a:ext cx="194310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8069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45488" y="6615113"/>
            <a:ext cx="547687" cy="2555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85</a:t>
            </a:fld>
            <a:endParaRPr lang="en-US" altLang="zh-CN" sz="1400" dirty="0"/>
          </a:p>
        </p:txBody>
      </p:sp>
      <p:sp>
        <p:nvSpPr>
          <p:cNvPr id="89091" name="Rectangle 2"/>
          <p:cNvSpPr>
            <a:spLocks noGrp="1"/>
          </p:cNvSpPr>
          <p:nvPr>
            <p:ph type="title"/>
          </p:nvPr>
        </p:nvSpPr>
        <p:spPr>
          <a:xfrm>
            <a:off x="684213" y="115888"/>
            <a:ext cx="8208962" cy="122555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</a:rPr>
              <a:t>（三）材料的经济性能</a:t>
            </a:r>
            <a:br>
              <a:rPr lang="en-US" altLang="zh-CN" b="1" dirty="0">
                <a:solidFill>
                  <a:srgbClr val="FF0000"/>
                </a:solidFill>
              </a:rPr>
            </a:br>
            <a:r>
              <a:rPr lang="en-US" altLang="zh-CN" sz="3200" dirty="0">
                <a:solidFill>
                  <a:srgbClr val="0000FF"/>
                </a:solidFill>
              </a:rPr>
              <a:t>Economic</a:t>
            </a:r>
            <a:r>
              <a:rPr lang="en-US" altLang="zh-CN" sz="32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performance of the materials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sp>
        <p:nvSpPr>
          <p:cNvPr id="89092" name="Rectangle 3"/>
          <p:cNvSpPr>
            <a:spLocks noGrp="1"/>
          </p:cNvSpPr>
          <p:nvPr>
            <p:ph idx="1"/>
          </p:nvPr>
        </p:nvSpPr>
        <p:spPr>
          <a:xfrm>
            <a:off x="563245" y="2219960"/>
            <a:ext cx="8455660" cy="461581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800" b="1" dirty="0">
                <a:solidFill>
                  <a:srgbClr val="3333FF"/>
                </a:solidFill>
              </a:rPr>
              <a:t>成本、费用（全生命周期）</a:t>
            </a:r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marL="0" indent="0" eaLnBrk="1" hangingPunct="1">
              <a:buNone/>
            </a:pPr>
            <a:r>
              <a:rPr lang="zh-CN" altLang="en-US" sz="2800" b="1" dirty="0">
                <a:solidFill>
                  <a:srgbClr val="3333FF"/>
                </a:solidFill>
              </a:rPr>
              <a:t>（</a:t>
            </a:r>
            <a:r>
              <a:rPr lang="en-US" altLang="zh-CN" sz="2800" b="1" dirty="0">
                <a:solidFill>
                  <a:srgbClr val="3333FF"/>
                </a:solidFill>
              </a:rPr>
              <a:t>1</a:t>
            </a:r>
            <a:r>
              <a:rPr lang="zh-CN" altLang="en-US" sz="2800" b="1" dirty="0">
                <a:solidFill>
                  <a:srgbClr val="3333FF"/>
                </a:solidFill>
              </a:rPr>
              <a:t>）生产（加工、制造）、购置</a:t>
            </a:r>
            <a:r>
              <a:rPr lang="zh-CN" altLang="en-US" sz="2800" dirty="0"/>
              <a:t>成本、费用</a:t>
            </a:r>
            <a:endParaRPr lang="en-US" altLang="zh-CN" sz="2800" dirty="0"/>
          </a:p>
          <a:p>
            <a:pPr marL="0" indent="0" eaLnBrk="1" hangingPunct="1">
              <a:buNone/>
            </a:pPr>
            <a:r>
              <a:rPr lang="zh-CN" altLang="en-US" sz="2800" b="1" dirty="0">
                <a:solidFill>
                  <a:srgbClr val="3333FF"/>
                </a:solidFill>
              </a:rPr>
              <a:t>（</a:t>
            </a:r>
            <a:r>
              <a:rPr lang="en-US" altLang="zh-CN" sz="2800" b="1" dirty="0">
                <a:solidFill>
                  <a:srgbClr val="3333FF"/>
                </a:solidFill>
              </a:rPr>
              <a:t>2</a:t>
            </a:r>
            <a:r>
              <a:rPr lang="zh-CN" altLang="en-US" sz="2800" b="1" dirty="0">
                <a:solidFill>
                  <a:srgbClr val="3333FF"/>
                </a:solidFill>
              </a:rPr>
              <a:t>）使用</a:t>
            </a:r>
            <a:r>
              <a:rPr lang="zh-CN" altLang="en-US" sz="2800" dirty="0"/>
              <a:t>成本（加工、制造）</a:t>
            </a:r>
            <a:endParaRPr lang="en-US" altLang="zh-CN" sz="2800" dirty="0"/>
          </a:p>
          <a:p>
            <a:pPr marL="0" indent="0" eaLnBrk="1" hangingPunct="1">
              <a:buNone/>
            </a:pPr>
            <a:r>
              <a:rPr lang="zh-CN" altLang="en-US" sz="2800" b="1" dirty="0">
                <a:solidFill>
                  <a:srgbClr val="3333FF"/>
                </a:solidFill>
              </a:rPr>
              <a:t>（</a:t>
            </a:r>
            <a:r>
              <a:rPr lang="en-US" altLang="zh-CN" sz="2800" b="1" dirty="0">
                <a:solidFill>
                  <a:srgbClr val="3333FF"/>
                </a:solidFill>
              </a:rPr>
              <a:t>3</a:t>
            </a:r>
            <a:r>
              <a:rPr lang="zh-CN" altLang="en-US" sz="2800" b="1" dirty="0">
                <a:solidFill>
                  <a:srgbClr val="3333FF"/>
                </a:solidFill>
              </a:rPr>
              <a:t>）维护</a:t>
            </a:r>
            <a:r>
              <a:rPr lang="zh-CN" altLang="en-US" sz="2800" dirty="0"/>
              <a:t>成本、费用</a:t>
            </a:r>
            <a:endParaRPr lang="en-US" altLang="zh-CN" sz="2800" dirty="0"/>
          </a:p>
          <a:p>
            <a:pPr marL="0" indent="0" eaLnBrk="1" hangingPunct="1">
              <a:buNone/>
            </a:pPr>
            <a:r>
              <a:rPr lang="zh-CN" altLang="en-US" sz="2800" b="1" dirty="0">
                <a:solidFill>
                  <a:srgbClr val="3333FF"/>
                </a:solidFill>
              </a:rPr>
              <a:t>（</a:t>
            </a:r>
            <a:r>
              <a:rPr lang="en-US" altLang="zh-CN" sz="2800" b="1" dirty="0">
                <a:solidFill>
                  <a:srgbClr val="3333FF"/>
                </a:solidFill>
              </a:rPr>
              <a:t>4</a:t>
            </a:r>
            <a:r>
              <a:rPr lang="zh-CN" altLang="en-US" sz="2800" b="1" dirty="0">
                <a:solidFill>
                  <a:srgbClr val="3333FF"/>
                </a:solidFill>
              </a:rPr>
              <a:t>）处置</a:t>
            </a:r>
            <a:r>
              <a:rPr lang="zh-CN" altLang="en-US" sz="2800" dirty="0"/>
              <a:t>成本、费用</a:t>
            </a:r>
          </a:p>
          <a:p>
            <a:pPr eaLnBrk="1" hangingPunct="1"/>
            <a:endParaRPr lang="en-US" altLang="zh-CN" sz="2800" dirty="0"/>
          </a:p>
          <a:p>
            <a:pPr eaLnBrk="1" hangingPunct="1"/>
            <a:endParaRPr lang="zh-CN" altLang="en-US" sz="2800" dirty="0"/>
          </a:p>
        </p:txBody>
      </p:sp>
      <p:sp>
        <p:nvSpPr>
          <p:cNvPr id="7578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7950" y="6505575"/>
            <a:ext cx="1943100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9094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45488" y="6615113"/>
            <a:ext cx="547687" cy="2555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86</a:t>
            </a:fld>
            <a:endParaRPr lang="en-US" altLang="zh-CN" sz="1400" dirty="0"/>
          </a:p>
        </p:txBody>
      </p:sp>
      <p:sp>
        <p:nvSpPr>
          <p:cNvPr id="90115" name="Rectangle 2"/>
          <p:cNvSpPr>
            <a:spLocks noGrp="1"/>
          </p:cNvSpPr>
          <p:nvPr>
            <p:ph type="title"/>
          </p:nvPr>
        </p:nvSpPr>
        <p:spPr>
          <a:xfrm>
            <a:off x="467043" y="1412875"/>
            <a:ext cx="8208962" cy="3743325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sz="6000" b="1" dirty="0">
                <a:solidFill>
                  <a:srgbClr val="FF0000"/>
                </a:solidFill>
              </a:rPr>
              <a:t>（四）材料的环保性能</a:t>
            </a:r>
            <a:br>
              <a:rPr lang="en-US" altLang="zh-CN" sz="6000" b="1" dirty="0">
                <a:solidFill>
                  <a:srgbClr val="FF0000"/>
                </a:solidFill>
              </a:rPr>
            </a:br>
            <a:r>
              <a:rPr lang="en-US" altLang="zh-CN" sz="6000" dirty="0"/>
              <a:t> </a:t>
            </a:r>
            <a:r>
              <a:rPr lang="en-US" altLang="zh-CN" sz="5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protection properties of materials</a:t>
            </a:r>
            <a:endParaRPr lang="zh-CN" altLang="en-US" sz="5400" b="1" i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578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7950" y="6505575"/>
            <a:ext cx="201612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0117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45488" y="6615113"/>
            <a:ext cx="547687" cy="255587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87</a:t>
            </a:fld>
            <a:endParaRPr lang="en-US" altLang="zh-CN" sz="1400" dirty="0"/>
          </a:p>
        </p:txBody>
      </p:sp>
      <p:sp>
        <p:nvSpPr>
          <p:cNvPr id="91139" name="Rectangle 2"/>
          <p:cNvSpPr>
            <a:spLocks noGrp="1"/>
          </p:cNvSpPr>
          <p:nvPr>
            <p:ph type="title"/>
          </p:nvPr>
        </p:nvSpPr>
        <p:spPr>
          <a:xfrm>
            <a:off x="611505" y="-99060"/>
            <a:ext cx="8489950" cy="167005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</a:rPr>
              <a:t>（四）材料的环保性能</a:t>
            </a:r>
            <a:br>
              <a:rPr lang="en-US" altLang="zh-CN" b="1" dirty="0">
                <a:solidFill>
                  <a:srgbClr val="FF0000"/>
                </a:solidFill>
              </a:rPr>
            </a:br>
            <a:r>
              <a:rPr lang="en-US" altLang="zh-CN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Environmental protection properties of materials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91140" name="Rectangle 3"/>
          <p:cNvSpPr>
            <a:spLocks noGrp="1"/>
          </p:cNvSpPr>
          <p:nvPr>
            <p:ph idx="1"/>
          </p:nvPr>
        </p:nvSpPr>
        <p:spPr>
          <a:xfrm>
            <a:off x="125413" y="2368550"/>
            <a:ext cx="8893175" cy="4467225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对环境（可能的）危害性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全生命周期：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生产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、运行、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报废</a:t>
            </a:r>
            <a:r>
              <a:rPr lang="zh-CN" altLang="en-US" sz="2800" b="1" dirty="0">
                <a:solidFill>
                  <a:srgbClr val="0000FF"/>
                </a:solidFill>
                <a:ea typeface="华文中宋" panose="02010600040101010101" pitchFamily="2" charset="-122"/>
              </a:rPr>
              <a:t>    阶段</a:t>
            </a:r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环保意识</a:t>
            </a:r>
            <a:r>
              <a:rPr lang="zh-CN" altLang="en-US" sz="2800" dirty="0"/>
              <a:t>：青山、绿水 </a:t>
            </a:r>
            <a:r>
              <a:rPr lang="en-US" altLang="zh-CN" sz="2800" dirty="0"/>
              <a:t>= </a:t>
            </a:r>
            <a:r>
              <a:rPr lang="zh-CN" altLang="en-US" sz="2800" dirty="0"/>
              <a:t>金山、银山（美丽中国建设）</a:t>
            </a:r>
            <a:endParaRPr lang="en-US" altLang="zh-CN" sz="2800" dirty="0"/>
          </a:p>
        </p:txBody>
      </p:sp>
      <p:sp>
        <p:nvSpPr>
          <p:cNvPr id="7578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07950" y="6505575"/>
            <a:ext cx="2016125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1142" name="内容占位符 1" descr="新校徽（3M）弓之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67713" y="6572250"/>
            <a:ext cx="579437" cy="2667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88</a:t>
            </a:fld>
            <a:endParaRPr lang="en-US" altLang="zh-CN" sz="1400" dirty="0"/>
          </a:p>
        </p:txBody>
      </p:sp>
      <p:sp>
        <p:nvSpPr>
          <p:cNvPr id="92163" name="Rectangle 2"/>
          <p:cNvSpPr>
            <a:spLocks noGrp="1"/>
          </p:cNvSpPr>
          <p:nvPr>
            <p:ph type="title"/>
          </p:nvPr>
        </p:nvSpPr>
        <p:spPr>
          <a:xfrm>
            <a:off x="2124075" y="642938"/>
            <a:ext cx="4662488" cy="1033462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本章小结</a:t>
            </a:r>
          </a:p>
        </p:txBody>
      </p:sp>
      <p:sp>
        <p:nvSpPr>
          <p:cNvPr id="92164" name="Rectangle 3"/>
          <p:cNvSpPr>
            <a:spLocks noGrp="1"/>
          </p:cNvSpPr>
          <p:nvPr>
            <p:ph idx="1"/>
          </p:nvPr>
        </p:nvSpPr>
        <p:spPr>
          <a:xfrm>
            <a:off x="539750" y="1763395"/>
            <a:ext cx="8288655" cy="4743450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spcBef>
                <a:spcPts val="0"/>
              </a:spcBef>
            </a:pPr>
            <a:r>
              <a:rPr lang="zh-CN" altLang="en-US" sz="2800" dirty="0">
                <a:solidFill>
                  <a:srgbClr val="0000FF"/>
                </a:solidFill>
              </a:rPr>
              <a:t>材料的分类：</a:t>
            </a: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      </a:t>
            </a:r>
            <a:r>
              <a:rPr lang="zh-CN" altLang="en-US" sz="2800" dirty="0">
                <a:solidFill>
                  <a:srgbClr val="0000FF"/>
                </a:solidFill>
              </a:rPr>
              <a:t>分类目的：方便管理和应用</a:t>
            </a:r>
          </a:p>
          <a:p>
            <a:pPr marL="0" indent="0" eaLnBrk="1" latinLnBrk="0" hangingPunct="1">
              <a:spcBef>
                <a:spcPts val="0"/>
              </a:spcBef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      </a:t>
            </a:r>
            <a:r>
              <a:rPr lang="zh-CN" altLang="en-US" sz="2800" dirty="0">
                <a:solidFill>
                  <a:srgbClr val="0000FF"/>
                </a:solidFill>
              </a:rPr>
              <a:t>分类方法：来源、性能、结合键、应用领域</a:t>
            </a:r>
            <a:endParaRPr lang="en-US" altLang="zh-CN" sz="2800" dirty="0">
              <a:solidFill>
                <a:srgbClr val="0000FF"/>
              </a:solidFill>
            </a:endParaRPr>
          </a:p>
          <a:p>
            <a:pPr eaLnBrk="1" latinLnBrk="0" hangingPunct="1">
              <a:spcBef>
                <a:spcPts val="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材料的性能：</a:t>
            </a:r>
            <a:r>
              <a:rPr lang="zh-CN" altLang="en-US" sz="2800" dirty="0">
                <a:solidFill>
                  <a:srgbClr val="0000FF"/>
                </a:solidFill>
              </a:rPr>
              <a:t>使用性能、工艺性能、经济性能、环保性能</a:t>
            </a:r>
            <a:endParaRPr lang="en-US" altLang="zh-CN" sz="2800" dirty="0">
              <a:solidFill>
                <a:srgbClr val="0000FF"/>
              </a:solidFill>
            </a:endParaRPr>
          </a:p>
          <a:p>
            <a:pPr eaLnBrk="1" latinLnBrk="0" hangingPunct="1">
              <a:spcBef>
                <a:spcPts val="0"/>
              </a:spcBef>
            </a:pPr>
            <a:r>
              <a:rPr lang="zh-CN" altLang="en-US" sz="2800" dirty="0">
                <a:solidFill>
                  <a:srgbClr val="0000FF"/>
                </a:solidFill>
              </a:rPr>
              <a:t>力学性能</a:t>
            </a:r>
            <a:r>
              <a:rPr lang="zh-CN" altLang="en-US" sz="2800" dirty="0"/>
              <a:t>是工程材料</a:t>
            </a:r>
            <a:r>
              <a:rPr lang="zh-CN" altLang="en-US" sz="2800" dirty="0">
                <a:solidFill>
                  <a:srgbClr val="0000FF"/>
                </a:solidFill>
              </a:rPr>
              <a:t>最主要</a:t>
            </a:r>
            <a:r>
              <a:rPr lang="zh-CN" altLang="en-US" sz="2800" dirty="0"/>
              <a:t>的性能</a:t>
            </a:r>
            <a:endParaRPr lang="en-US" altLang="zh-CN" sz="2800" dirty="0"/>
          </a:p>
          <a:p>
            <a:pPr eaLnBrk="1" latinLnBrk="0" hangingPunct="1">
              <a:spcBef>
                <a:spcPts val="0"/>
              </a:spcBef>
            </a:pPr>
            <a:r>
              <a:rPr lang="zh-CN" altLang="en-US" sz="2800" dirty="0">
                <a:solidFill>
                  <a:srgbClr val="0000FF"/>
                </a:solidFill>
              </a:rPr>
              <a:t>材料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性能指标</a:t>
            </a:r>
            <a:r>
              <a:rPr lang="zh-CN" altLang="en-US" sz="2800" dirty="0"/>
              <a:t>是</a:t>
            </a:r>
            <a:r>
              <a:rPr lang="zh-CN" altLang="en-US" sz="2800" dirty="0">
                <a:solidFill>
                  <a:srgbClr val="0000FF"/>
                </a:solidFill>
              </a:rPr>
              <a:t>应材料的评价、应用的需要</a:t>
            </a:r>
            <a:r>
              <a:rPr lang="zh-CN" altLang="en-US" sz="2800" dirty="0"/>
              <a:t>而提出的</a:t>
            </a:r>
            <a:endParaRPr lang="en-US" altLang="zh-CN" sz="2800" dirty="0"/>
          </a:p>
          <a:p>
            <a:pPr eaLnBrk="1" latinLnBrk="0" hangingPunct="1">
              <a:spcBef>
                <a:spcPts val="0"/>
              </a:spcBef>
            </a:pPr>
            <a:r>
              <a:rPr lang="zh-CN" altLang="en-US" sz="2800" dirty="0">
                <a:solidFill>
                  <a:srgbClr val="0000FF"/>
                </a:solidFill>
              </a:rPr>
              <a:t>不同的指标描述了材料的不同侧面</a:t>
            </a:r>
            <a:r>
              <a:rPr lang="zh-CN" altLang="en-US" sz="2800" dirty="0"/>
              <a:t>（强度、塑性、硬度、韧性、疲劳、断裂</a:t>
            </a:r>
            <a:r>
              <a:rPr lang="en-US" altLang="zh-CN" sz="2800" dirty="0"/>
              <a:t>…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eaLnBrk="1" latinLnBrk="0" hangingPunct="1">
              <a:spcBef>
                <a:spcPts val="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现有指标还有改进、提高的余地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7680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72250"/>
            <a:ext cx="2051050" cy="28575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166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47100" y="6540500"/>
            <a:ext cx="468313" cy="300038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89</a:t>
            </a:fld>
            <a:endParaRPr lang="en-US" altLang="zh-CN" sz="1400" dirty="0"/>
          </a:p>
        </p:txBody>
      </p:sp>
      <p:sp>
        <p:nvSpPr>
          <p:cNvPr id="93187" name="Rectangle 2"/>
          <p:cNvSpPr>
            <a:spLocks noGrp="1"/>
          </p:cNvSpPr>
          <p:nvPr>
            <p:ph type="title"/>
          </p:nvPr>
        </p:nvSpPr>
        <p:spPr>
          <a:xfrm>
            <a:off x="1693863" y="247650"/>
            <a:ext cx="6361112" cy="1031875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作业（</a:t>
            </a:r>
            <a:r>
              <a:rPr lang="en-US" altLang="zh-CN" b="1" dirty="0">
                <a:solidFill>
                  <a:srgbClr val="FF0000"/>
                </a:solidFill>
              </a:rPr>
              <a:t>2024.11.04</a:t>
            </a:r>
            <a:r>
              <a:rPr lang="zh-CN" altLang="en-US" b="1" dirty="0">
                <a:solidFill>
                  <a:srgbClr val="FF0000"/>
                </a:solidFill>
              </a:rPr>
              <a:t>交）</a:t>
            </a:r>
          </a:p>
        </p:txBody>
      </p:sp>
      <p:sp>
        <p:nvSpPr>
          <p:cNvPr id="93188" name="Rectangle 3"/>
          <p:cNvSpPr>
            <a:spLocks noGrp="1"/>
          </p:cNvSpPr>
          <p:nvPr>
            <p:ph idx="1"/>
          </p:nvPr>
        </p:nvSpPr>
        <p:spPr>
          <a:xfrm>
            <a:off x="142875" y="2071688"/>
            <a:ext cx="8804275" cy="417195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zh-CN" dirty="0"/>
              <a:t>教材</a:t>
            </a:r>
            <a:r>
              <a:rPr lang="en-US" altLang="zh-CN" dirty="0"/>
              <a:t>P15</a:t>
            </a:r>
            <a:r>
              <a:rPr lang="zh-CN" altLang="en-US" dirty="0"/>
              <a:t>：</a:t>
            </a:r>
            <a:r>
              <a:rPr lang="en-US" altLang="zh-CN" dirty="0"/>
              <a:t>1-1</a:t>
            </a:r>
            <a:r>
              <a:rPr lang="zh-CN" altLang="en-US" dirty="0"/>
              <a:t>、</a:t>
            </a:r>
            <a:r>
              <a:rPr lang="en-US" altLang="zh-CN" dirty="0"/>
              <a:t>1-2</a:t>
            </a:r>
            <a:r>
              <a:rPr lang="zh-CN" altLang="en-US" dirty="0"/>
              <a:t>、</a:t>
            </a:r>
            <a:r>
              <a:rPr lang="en-US" altLang="zh-CN" dirty="0"/>
              <a:t>1-3</a:t>
            </a:r>
          </a:p>
          <a:p>
            <a:pPr eaLnBrk="1" hangingPunct="1"/>
            <a:r>
              <a:rPr lang="zh-CN" altLang="en-US" dirty="0"/>
              <a:t>补充：</a:t>
            </a:r>
            <a:r>
              <a:rPr lang="en-US" altLang="zh-CN" dirty="0"/>
              <a:t>(1)</a:t>
            </a:r>
            <a:r>
              <a:rPr lang="zh-CN" altLang="en-US" dirty="0"/>
              <a:t>材料常用的四大力学性能指标是什么？它们之间有什么关系？为什么零件图纸上通常只标注硬度要求？影响材料硬度的主要因素有哪些？</a:t>
            </a: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思考题（选做）：</a:t>
            </a:r>
            <a:r>
              <a:rPr lang="zh-CN" altLang="en-US" dirty="0"/>
              <a:t>镗床的镗杆刚度不足，镗出的零件内孔会出现什么现象?采用淬火方法提高其强度能否将刚度提高?为什么?</a:t>
            </a:r>
            <a:endParaRPr lang="en-US" altLang="zh-CN" dirty="0"/>
          </a:p>
        </p:txBody>
      </p:sp>
      <p:sp>
        <p:nvSpPr>
          <p:cNvPr id="7783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429375"/>
            <a:ext cx="2124075" cy="4111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3190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7038975" y="6340475"/>
            <a:ext cx="1905000" cy="457200"/>
          </a:xfrm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  <a:t>90</a:t>
            </a:fld>
            <a:endParaRPr lang="en-US" altLang="zh-CN" sz="1400" dirty="0"/>
          </a:p>
        </p:txBody>
      </p:sp>
      <p:sp>
        <p:nvSpPr>
          <p:cNvPr id="942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endParaRPr lang="zh-CN" altLang="zh-CN" dirty="0"/>
          </a:p>
        </p:txBody>
      </p:sp>
      <p:sp>
        <p:nvSpPr>
          <p:cNvPr id="94212" name="Rectangle 3"/>
          <p:cNvSpPr>
            <a:spLocks noGrp="1"/>
          </p:cNvSpPr>
          <p:nvPr>
            <p:ph idx="1"/>
          </p:nvPr>
        </p:nvSpPr>
        <p:spPr>
          <a:xfrm>
            <a:off x="1182688" y="2017713"/>
            <a:ext cx="7277100" cy="3282950"/>
          </a:xfrm>
        </p:spPr>
        <p:txBody>
          <a:bodyPr vert="horz" wrap="square" lIns="91440" tIns="45720" rIns="91440" bIns="45720" anchor="t" anchorCtr="0"/>
          <a:lstStyle/>
          <a:p>
            <a:pPr algn="ctr" eaLnBrk="1" hangingPunct="1">
              <a:buNone/>
            </a:pPr>
            <a:r>
              <a:rPr lang="zh-CN" altLang="en-US" sz="9600" b="1" dirty="0">
                <a:solidFill>
                  <a:srgbClr val="FF0000"/>
                </a:solidFill>
              </a:rPr>
              <a:t>谢谢大家！</a:t>
            </a:r>
            <a:endParaRPr lang="en-US" altLang="zh-CN" sz="9600" b="1" dirty="0">
              <a:solidFill>
                <a:srgbClr val="FF0000"/>
              </a:solidFill>
            </a:endParaRPr>
          </a:p>
          <a:p>
            <a:pPr algn="ctr" eaLnBrk="1" hangingPunct="1">
              <a:buNone/>
            </a:pPr>
            <a:r>
              <a:rPr lang="en-US" altLang="zh-CN" sz="9600" dirty="0">
                <a:solidFill>
                  <a:srgbClr val="FF0000"/>
                </a:solidFill>
              </a:rPr>
              <a:t>Thanks</a:t>
            </a:r>
            <a:endParaRPr lang="zh-CN" altLang="en-US" sz="9600" dirty="0">
              <a:solidFill>
                <a:srgbClr val="FF0000"/>
              </a:solidFill>
            </a:endParaRPr>
          </a:p>
        </p:txBody>
      </p:sp>
      <p:sp>
        <p:nvSpPr>
          <p:cNvPr id="7885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142875" y="6429375"/>
            <a:ext cx="1836738" cy="3429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fld id="{BB962C8B-B14F-4D97-AF65-F5344CB8AC3E}" type="datetime8"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11/11/2025 12:13 PM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4214" name="内容占位符 1" descr="新校徽（3M）弓之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175"/>
            <a:ext cx="747713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IxMGZkODRmZWFlMmJiZTRiODUwYmQ0N2UxMzdiOT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25000000000006,&quot;left&quot;:55.75,&quot;top&quot;:219.12503937007872,&quot;width&quot;:608.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25000000000006,&quot;left&quot;:55.75,&quot;top&quot;:219.12503937007872,&quot;width&quot;:608.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25000000000006,&quot;left&quot;:55.75,&quot;top&quot;:219.12503937007872,&quot;width&quot;:608.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25000000000006,&quot;left&quot;:55.75,&quot;top&quot;:219.12503937007872,&quot;width&quot;:608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25000000000006,&quot;left&quot;:55.75,&quot;top&quot;:219.12503937007872,&quot;width&quot;:608.5}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</TotalTime>
  <Words>4787</Words>
  <Application>Microsoft Office PowerPoint</Application>
  <PresentationFormat>全屏显示(4:3)</PresentationFormat>
  <Paragraphs>618</Paragraphs>
  <Slides>90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90</vt:i4>
      </vt:variant>
    </vt:vector>
  </HeadingPairs>
  <TitlesOfParts>
    <vt:vector size="105" baseType="lpstr">
      <vt:lpstr>仿宋_GB2312</vt:lpstr>
      <vt:lpstr>华文中宋</vt:lpstr>
      <vt:lpstr>宋体</vt:lpstr>
      <vt:lpstr>微软雅黑</vt:lpstr>
      <vt:lpstr>楷体_GB2312</vt:lpstr>
      <vt:lpstr>等线</vt:lpstr>
      <vt:lpstr>Arial</vt:lpstr>
      <vt:lpstr>Calibri</vt:lpstr>
      <vt:lpstr>Symbol</vt:lpstr>
      <vt:lpstr>Tahoma</vt:lpstr>
      <vt:lpstr>Times New Roman</vt:lpstr>
      <vt:lpstr>Wingdings</vt:lpstr>
      <vt:lpstr>Blends</vt:lpstr>
      <vt:lpstr>Equation.3</vt:lpstr>
      <vt:lpstr>AutoCAD.Drawing.14</vt:lpstr>
      <vt:lpstr>U2041170  《工程材料与成型技术》 Engineering Materials and Forming Technology   44+4学时，3学分</vt:lpstr>
      <vt:lpstr>第一章  工程材料的分类及性能</vt:lpstr>
      <vt:lpstr>本章主要教学内容</vt:lpstr>
      <vt:lpstr>本章教学目标  Learning Objectives</vt:lpstr>
      <vt:lpstr>工程材料的分类及性能</vt:lpstr>
      <vt:lpstr>一、工程材料的分类 Classifications of Engineering Materials</vt:lpstr>
      <vt:lpstr>一、工程材料的分类</vt:lpstr>
      <vt:lpstr>一、工程材料的分类</vt:lpstr>
      <vt:lpstr>材料的分类——按应用性能特点</vt:lpstr>
      <vt:lpstr>材料的分类——按组成与结合键</vt:lpstr>
      <vt:lpstr>工程材料的分类—金属材料 Metallic Materials(Metals)</vt:lpstr>
      <vt:lpstr>黑色金属（钢铁材料）</vt:lpstr>
      <vt:lpstr>金属材料制品</vt:lpstr>
      <vt:lpstr>工程材料的分类 ——高聚物材料(Polymer)</vt:lpstr>
      <vt:lpstr>工程材料的分类 ——高聚物材料</vt:lpstr>
      <vt:lpstr>工程材料的分类 ——陶瓷材料(Ceramic Materials)</vt:lpstr>
      <vt:lpstr>常用工程材料的分类 ——陶瓷材料（ Ceramic Materials ）</vt:lpstr>
      <vt:lpstr>常用工程材料的分类 ——复合材料（ Composites ）</vt:lpstr>
      <vt:lpstr>二、材料的性能 Properties of Materials</vt:lpstr>
      <vt:lpstr>二、材料的性能</vt:lpstr>
      <vt:lpstr>二、材料的性能——使用性能</vt:lpstr>
      <vt:lpstr>（一）使用性能 —— 1.力学性能 Mechanical Performance</vt:lpstr>
      <vt:lpstr>（一）使用性能——1.力学性能</vt:lpstr>
      <vt:lpstr>（一）使用性能——力学性能</vt:lpstr>
      <vt:lpstr>力学性能——变形</vt:lpstr>
      <vt:lpstr>应力-应变曲线 Stree-Strain curve</vt:lpstr>
      <vt:lpstr>（1）弹性和刚度 Elasticity &amp; Stiffness </vt:lpstr>
      <vt:lpstr>弹性和刚度——说明</vt:lpstr>
      <vt:lpstr>（2）强度与塑性 Strength &amp; Ductility</vt:lpstr>
      <vt:lpstr>条件屈服强度的确定 （规定残余延伸强度）</vt:lpstr>
      <vt:lpstr>强度与塑性 Strength &amp; Ductility</vt:lpstr>
      <vt:lpstr>材料塑性的说明</vt:lpstr>
      <vt:lpstr>材料塑性的说明</vt:lpstr>
      <vt:lpstr>材料塑性的说明</vt:lpstr>
      <vt:lpstr>（2）强度与塑性</vt:lpstr>
      <vt:lpstr>（3）硬度  Hardness</vt:lpstr>
      <vt:lpstr>（3）硬度  Hardness</vt:lpstr>
      <vt:lpstr>（3）硬度 Hardness</vt:lpstr>
      <vt:lpstr>布氏硬度HB (Brinell hardness)</vt:lpstr>
      <vt:lpstr>布氏硬度——说明</vt:lpstr>
      <vt:lpstr>布氏硬度 (Brinell hardness)</vt:lpstr>
      <vt:lpstr>材料的b与HB之间经验关系</vt:lpstr>
      <vt:lpstr>洛氏硬度HR Rockwell hardness</vt:lpstr>
      <vt:lpstr>洛氏硬度HR——标尺</vt:lpstr>
      <vt:lpstr>  洛氏硬度常用标尺的应用(GB/T230.1-2009/2018版）</vt:lpstr>
      <vt:lpstr>PowerPoint 演示文稿</vt:lpstr>
      <vt:lpstr>《庞p9》</vt:lpstr>
      <vt:lpstr>PowerPoint 演示文稿</vt:lpstr>
      <vt:lpstr>洛氏硬度值举例</vt:lpstr>
      <vt:lpstr>维氏硬度HV (Vickers hardness)</vt:lpstr>
      <vt:lpstr>维氏硬度HV (Vickers hardness)</vt:lpstr>
      <vt:lpstr>维氏硬度HV——表示方法</vt:lpstr>
      <vt:lpstr>维氏硬度HV——特点</vt:lpstr>
      <vt:lpstr>（3）维氏硬度HV——分类</vt:lpstr>
      <vt:lpstr>（3）维氏硬度的三种测定方法 </vt:lpstr>
      <vt:lpstr>肖氏硬度（回跳硬度）  Shore hardness</vt:lpstr>
      <vt:lpstr>努氏硬度(Knoop hardness)</vt:lpstr>
      <vt:lpstr>莫氏硬度(Moh's hardness)</vt:lpstr>
      <vt:lpstr>锉刀硬度</vt:lpstr>
      <vt:lpstr>超声波硬度</vt:lpstr>
      <vt:lpstr>4.冲击韧性 （Impact toughness）</vt:lpstr>
      <vt:lpstr>  4.冲击韧性——测试 (GB/T 229-2020 金属材料 夏比摆锤冲击试验方法)</vt:lpstr>
      <vt:lpstr>韧脆转变</vt:lpstr>
      <vt:lpstr>韧脆转变</vt:lpstr>
      <vt:lpstr>含碳量对钢的韧脆转变温度的影响</vt:lpstr>
      <vt:lpstr>TITANIC</vt:lpstr>
      <vt:lpstr>冲击试验结果对比——     Titanic 号钢板  VS  近代船用钢板</vt:lpstr>
      <vt:lpstr>5.疲劳  fatigue</vt:lpstr>
      <vt:lpstr>5.疲劳</vt:lpstr>
      <vt:lpstr>疲劳断口</vt:lpstr>
      <vt:lpstr>6.断裂韧性 fracture toughness</vt:lpstr>
      <vt:lpstr>6.断裂韧性</vt:lpstr>
      <vt:lpstr>6.断裂韧性</vt:lpstr>
      <vt:lpstr>7.热疲劳</vt:lpstr>
      <vt:lpstr>材料的高温力学性能</vt:lpstr>
      <vt:lpstr>金属的典型蠕变示意图</vt:lpstr>
      <vt:lpstr>（一）使用性能 —— 2.物理性能 Physical Properties</vt:lpstr>
      <vt:lpstr>（一）使用性能——2.物理性能</vt:lpstr>
      <vt:lpstr>材料的物理性能</vt:lpstr>
      <vt:lpstr>（一）使用性能 ——化学性能 Chemical Properties</vt:lpstr>
      <vt:lpstr>（一）使用性能——化学性能</vt:lpstr>
      <vt:lpstr>（二）材料的工艺性能 Process performance of the materials</vt:lpstr>
      <vt:lpstr>（二）材料的工艺性能 Process performance of the materials</vt:lpstr>
      <vt:lpstr>（三）材料的经济性能 Economic performance of the materials</vt:lpstr>
      <vt:lpstr>（三）材料的经济性能 Economic performance of the materials</vt:lpstr>
      <vt:lpstr>（四）材料的环保性能  Environmental protection properties of materials</vt:lpstr>
      <vt:lpstr>（四）材料的环保性能  Environmental protection properties of materials</vt:lpstr>
      <vt:lpstr>本章小结</vt:lpstr>
      <vt:lpstr>作业（2024.11.04交）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材料的性能</dc:title>
  <dc:creator>yys</dc:creator>
  <cp:lastModifiedBy>lin liu</cp:lastModifiedBy>
  <cp:revision>496</cp:revision>
  <dcterms:created xsi:type="dcterms:W3CDTF">2002-05-11T12:00:00Z</dcterms:created>
  <dcterms:modified xsi:type="dcterms:W3CDTF">2025-11-11T04:15:47Z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1855DB99B0604463821C52624B370C18_13</vt:lpwstr>
  </property>
</Properties>
</file>