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18.xml" ContentType="application/vnd.openxmlformats-officedocument.presentationml.notesSlide+xml"/>
  <Override PartName="/ppt/tags/tag8.xml" ContentType="application/vnd.openxmlformats-officedocument.presentationml.tags+xml"/>
  <Override PartName="/ppt/notesSlides/notesSlide19.xml" ContentType="application/vnd.openxmlformats-officedocument.presentationml.notesSlide+xml"/>
  <Override PartName="/ppt/tags/tag9.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1"/>
  </p:notesMasterIdLst>
  <p:sldIdLst>
    <p:sldId id="577" r:id="rId2"/>
    <p:sldId id="578" r:id="rId3"/>
    <p:sldId id="585" r:id="rId4"/>
    <p:sldId id="584" r:id="rId5"/>
    <p:sldId id="879" r:id="rId6"/>
    <p:sldId id="579" r:id="rId7"/>
    <p:sldId id="880" r:id="rId8"/>
    <p:sldId id="639" r:id="rId9"/>
    <p:sldId id="581" r:id="rId10"/>
    <p:sldId id="357" r:id="rId11"/>
    <p:sldId id="881" r:id="rId12"/>
    <p:sldId id="358" r:id="rId13"/>
    <p:sldId id="359" r:id="rId14"/>
    <p:sldId id="360" r:id="rId15"/>
    <p:sldId id="361" r:id="rId16"/>
    <p:sldId id="1044" r:id="rId17"/>
    <p:sldId id="588" r:id="rId18"/>
    <p:sldId id="363" r:id="rId19"/>
    <p:sldId id="364" r:id="rId20"/>
    <p:sldId id="284" r:id="rId21"/>
    <p:sldId id="502" r:id="rId22"/>
    <p:sldId id="503" r:id="rId23"/>
    <p:sldId id="641" r:id="rId24"/>
    <p:sldId id="504" r:id="rId25"/>
    <p:sldId id="642" r:id="rId26"/>
    <p:sldId id="643" r:id="rId27"/>
    <p:sldId id="261" r:id="rId28"/>
    <p:sldId id="1045" r:id="rId29"/>
    <p:sldId id="645" r:id="rId30"/>
    <p:sldId id="270" r:id="rId31"/>
    <p:sldId id="272" r:id="rId32"/>
    <p:sldId id="646" r:id="rId33"/>
    <p:sldId id="569" r:id="rId34"/>
    <p:sldId id="367" r:id="rId35"/>
    <p:sldId id="368" r:id="rId36"/>
    <p:sldId id="369" r:id="rId37"/>
    <p:sldId id="370" r:id="rId38"/>
    <p:sldId id="647" r:id="rId39"/>
    <p:sldId id="371" r:id="rId40"/>
    <p:sldId id="372" r:id="rId41"/>
    <p:sldId id="373" r:id="rId42"/>
    <p:sldId id="648" r:id="rId43"/>
    <p:sldId id="374" r:id="rId44"/>
    <p:sldId id="1046" r:id="rId45"/>
    <p:sldId id="376" r:id="rId46"/>
    <p:sldId id="656" r:id="rId47"/>
    <p:sldId id="377" r:id="rId48"/>
    <p:sldId id="649" r:id="rId49"/>
    <p:sldId id="650" r:id="rId50"/>
    <p:sldId id="298" r:id="rId51"/>
    <p:sldId id="651" r:id="rId52"/>
    <p:sldId id="652" r:id="rId53"/>
    <p:sldId id="301" r:id="rId54"/>
    <p:sldId id="302" r:id="rId55"/>
    <p:sldId id="303" r:id="rId56"/>
    <p:sldId id="653" r:id="rId57"/>
    <p:sldId id="654" r:id="rId58"/>
    <p:sldId id="506" r:id="rId59"/>
    <p:sldId id="657" r:id="rId60"/>
    <p:sldId id="306" r:id="rId61"/>
    <p:sldId id="658" r:id="rId62"/>
    <p:sldId id="659" r:id="rId63"/>
    <p:sldId id="660" r:id="rId64"/>
    <p:sldId id="487" r:id="rId65"/>
    <p:sldId id="311" r:id="rId66"/>
    <p:sldId id="488" r:id="rId67"/>
    <p:sldId id="489" r:id="rId68"/>
    <p:sldId id="314" r:id="rId69"/>
    <p:sldId id="661" r:id="rId70"/>
    <p:sldId id="490" r:id="rId71"/>
    <p:sldId id="662" r:id="rId72"/>
    <p:sldId id="316" r:id="rId73"/>
    <p:sldId id="663" r:id="rId74"/>
    <p:sldId id="317" r:id="rId75"/>
    <p:sldId id="318" r:id="rId76"/>
    <p:sldId id="507" r:id="rId77"/>
    <p:sldId id="508" r:id="rId78"/>
    <p:sldId id="320" r:id="rId79"/>
    <p:sldId id="321" r:id="rId80"/>
    <p:sldId id="491" r:id="rId81"/>
    <p:sldId id="492" r:id="rId82"/>
    <p:sldId id="493" r:id="rId83"/>
    <p:sldId id="792" r:id="rId84"/>
    <p:sldId id="793" r:id="rId85"/>
    <p:sldId id="325" r:id="rId86"/>
    <p:sldId id="494" r:id="rId87"/>
    <p:sldId id="496" r:id="rId88"/>
    <p:sldId id="497" r:id="rId89"/>
    <p:sldId id="794" r:id="rId90"/>
    <p:sldId id="328" r:id="rId91"/>
    <p:sldId id="795" r:id="rId92"/>
    <p:sldId id="498" r:id="rId93"/>
    <p:sldId id="499" r:id="rId94"/>
    <p:sldId id="500" r:id="rId95"/>
    <p:sldId id="332" r:id="rId96"/>
    <p:sldId id="333" r:id="rId97"/>
    <p:sldId id="334" r:id="rId98"/>
    <p:sldId id="335" r:id="rId99"/>
    <p:sldId id="336" r:id="rId100"/>
    <p:sldId id="337" r:id="rId101"/>
    <p:sldId id="338" r:id="rId102"/>
    <p:sldId id="339" r:id="rId103"/>
    <p:sldId id="340" r:id="rId104"/>
    <p:sldId id="341" r:id="rId105"/>
    <p:sldId id="509" r:id="rId106"/>
    <p:sldId id="797" r:id="rId107"/>
    <p:sldId id="343" r:id="rId108"/>
    <p:sldId id="798" r:id="rId109"/>
    <p:sldId id="344" r:id="rId110"/>
    <p:sldId id="799" r:id="rId111"/>
    <p:sldId id="801" r:id="rId112"/>
    <p:sldId id="346" r:id="rId113"/>
    <p:sldId id="802" r:id="rId114"/>
    <p:sldId id="803" r:id="rId115"/>
    <p:sldId id="349" r:id="rId116"/>
    <p:sldId id="804" r:id="rId117"/>
    <p:sldId id="805" r:id="rId118"/>
    <p:sldId id="806" r:id="rId119"/>
    <p:sldId id="807" r:id="rId120"/>
    <p:sldId id="808" r:id="rId121"/>
    <p:sldId id="354" r:id="rId122"/>
    <p:sldId id="809" r:id="rId123"/>
    <p:sldId id="810" r:id="rId124"/>
    <p:sldId id="811" r:id="rId125"/>
    <p:sldId id="466" r:id="rId126"/>
    <p:sldId id="812" r:id="rId127"/>
    <p:sldId id="813" r:id="rId128"/>
    <p:sldId id="467" r:id="rId129"/>
    <p:sldId id="814" r:id="rId130"/>
    <p:sldId id="815" r:id="rId131"/>
    <p:sldId id="816" r:id="rId132"/>
    <p:sldId id="468" r:id="rId133"/>
    <p:sldId id="510" r:id="rId134"/>
    <p:sldId id="817" r:id="rId135"/>
    <p:sldId id="818" r:id="rId136"/>
    <p:sldId id="469" r:id="rId137"/>
    <p:sldId id="819" r:id="rId138"/>
    <p:sldId id="366" r:id="rId139"/>
    <p:sldId id="820" r:id="rId140"/>
    <p:sldId id="470" r:id="rId141"/>
    <p:sldId id="821" r:id="rId142"/>
    <p:sldId id="471" r:id="rId143"/>
    <p:sldId id="472" r:id="rId144"/>
    <p:sldId id="822" r:id="rId145"/>
    <p:sldId id="474" r:id="rId146"/>
    <p:sldId id="473" r:id="rId147"/>
    <p:sldId id="475" r:id="rId148"/>
    <p:sldId id="476" r:id="rId149"/>
    <p:sldId id="378" r:id="rId150"/>
    <p:sldId id="823" r:id="rId151"/>
    <p:sldId id="824" r:id="rId152"/>
    <p:sldId id="825" r:id="rId153"/>
    <p:sldId id="826" r:id="rId154"/>
    <p:sldId id="827" r:id="rId155"/>
    <p:sldId id="828" r:id="rId156"/>
    <p:sldId id="829" r:id="rId157"/>
    <p:sldId id="432" r:id="rId158"/>
    <p:sldId id="830" r:id="rId159"/>
    <p:sldId id="267" r:id="rId160"/>
    <p:sldId id="477" r:id="rId161"/>
    <p:sldId id="831" r:id="rId162"/>
    <p:sldId id="832" r:id="rId163"/>
    <p:sldId id="833" r:id="rId164"/>
    <p:sldId id="834" r:id="rId165"/>
    <p:sldId id="835" r:id="rId166"/>
    <p:sldId id="501" r:id="rId167"/>
    <p:sldId id="836" r:id="rId168"/>
    <p:sldId id="464" r:id="rId169"/>
    <p:sldId id="465" r:id="rId170"/>
  </p:sldIdLst>
  <p:sldSz cx="9144000" cy="6858000" type="screen4x3"/>
  <p:notesSz cx="6858000" cy="9144000"/>
  <p:custDataLst>
    <p:tags r:id="rId172"/>
  </p:custDataLst>
  <p:defaultTex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19" userDrawn="1">
          <p15:clr>
            <a:srgbClr val="A4A3A4"/>
          </p15:clr>
        </p15:guide>
        <p15:guide id="2" pos="287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00"/>
    <a:srgbClr val="0066FF"/>
    <a:srgbClr val="FF9900"/>
    <a:srgbClr val="FFFF66"/>
    <a:srgbClr val="0033CC"/>
    <a:srgbClr val="800000"/>
    <a:srgbClr val="CCECFF"/>
    <a:srgbClr val="CCFF33"/>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68"/>
    <p:restoredTop sz="85232" autoAdjust="0"/>
  </p:normalViewPr>
  <p:slideViewPr>
    <p:cSldViewPr showGuides="1">
      <p:cViewPr varScale="1">
        <p:scale>
          <a:sx n="63" d="100"/>
          <a:sy n="63" d="100"/>
        </p:scale>
        <p:origin x="1140" y="48"/>
      </p:cViewPr>
      <p:guideLst>
        <p:guide orient="horz" pos="2119"/>
        <p:guide pos="2879"/>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notesMaster" Target="notesMasters/notesMaster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2" Type="http://schemas.openxmlformats.org/officeDocument/2006/relationships/tags" Target="tags/tag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theme" Target="theme/theme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tableStyles" Target="tableStyle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kumimoji="1" sz="120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3491"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6"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63493"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63494"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kumimoji="1" sz="120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3495"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fontAlgn="base" hangingPunct="1"/>
            <a:fld id="{9A0DB2DC-4C9A-4742-B13C-FB6460FD3503}" type="slidenum">
              <a:rPr lang="en-US" altLang="zh-CN" sz="1200" strike="noStrike" noProof="1" dirty="0">
                <a:latin typeface="Times New Roman" panose="02020603050405020304" pitchFamily="18" charset="0"/>
                <a:ea typeface="宋体" panose="02010600030101010101" pitchFamily="2" charset="-122"/>
                <a:cs typeface="+mn-ea"/>
              </a:rPr>
              <a:t>‹#›</a:t>
            </a:fld>
            <a:endParaRPr lang="en-US" altLang="zh-CN" sz="1200" strike="noStrike" noProof="1">
              <a:latin typeface="Times New Roman" panose="02020603050405020304" pitchFamily="18"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7"/>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lstStyle/>
          <a:p>
            <a:pPr lvl="0" indent="0" algn="r"/>
            <a:fld id="{9A0DB2DC-4C9A-4742-B13C-FB6460FD3503}" type="slidenum">
              <a:rPr lang="en-US" altLang="zh-CN" sz="1200" dirty="0">
                <a:latin typeface="Times New Roman" panose="02020603050405020304" pitchFamily="18" charset="0"/>
              </a:rPr>
              <a:t>9</a:t>
            </a:fld>
            <a:endParaRPr lang="en-US" altLang="zh-CN" sz="1200" dirty="0">
              <a:latin typeface="Times New Roman" panose="02020603050405020304" pitchFamily="18" charset="0"/>
            </a:endParaRPr>
          </a:p>
        </p:txBody>
      </p:sp>
      <p:sp>
        <p:nvSpPr>
          <p:cNvPr id="7170" name="Rectangle 2"/>
          <p:cNvSpPr>
            <a:spLocks noGrp="1" noRot="1" noChangeAspect="1" noTextEdit="1"/>
          </p:cNvSpPr>
          <p:nvPr>
            <p:ph type="sldImg"/>
          </p:nvPr>
        </p:nvSpPr>
        <p:spPr/>
      </p:sp>
      <p:sp>
        <p:nvSpPr>
          <p:cNvPr id="7171" name="Rectangle 3"/>
          <p:cNvSpPr>
            <a:spLocks noGrp="1"/>
          </p:cNvSpPr>
          <p:nvPr>
            <p:ph type="body"/>
          </p:nvPr>
        </p:nvSpPr>
        <p:spPr>
          <a:xfrm>
            <a:off x="914400" y="4343400"/>
            <a:ext cx="5029200" cy="4114800"/>
          </a:xfrm>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sz="1200" b="1" dirty="0">
                <a:solidFill>
                  <a:schemeClr val="bg1"/>
                </a:solidFill>
                <a:latin typeface="Times New Roman" panose="02020603050405020304" pitchFamily="18" charset="0"/>
                <a:ea typeface="Arial Unicode MS" panose="020B0604020202020204" charset="-122"/>
              </a:rPr>
              <a:t>⇄</a:t>
            </a:r>
            <a:endParaRPr lang="en-US" altLang="zh-CN" sz="1200" b="1" dirty="0">
              <a:solidFill>
                <a:schemeClr val="bg1"/>
              </a:solidFill>
              <a:latin typeface="Times New Roman" panose="02020603050405020304" pitchFamily="18" charset="0"/>
              <a:ea typeface="宋体" panose="02010600030101010101" pitchFamily="2" charset="-122"/>
            </a:endParaRPr>
          </a:p>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2"/>
          <p:cNvGrpSpPr/>
          <p:nvPr/>
        </p:nvGrpSpPr>
        <p:grpSpPr>
          <a:xfrm>
            <a:off x="0" y="2438400"/>
            <a:ext cx="9009063" cy="1052513"/>
            <a:chOff x="0" y="1536"/>
            <a:chExt cx="5675" cy="663"/>
          </a:xfrm>
        </p:grpSpPr>
        <p:grpSp>
          <p:nvGrpSpPr>
            <p:cNvPr id="2051" name="Group 3"/>
            <p:cNvGrpSpPr/>
            <p:nvPr/>
          </p:nvGrpSpPr>
          <p:grpSpPr>
            <a:xfrm>
              <a:off x="185" y="1604"/>
              <a:ext cx="449" cy="299"/>
              <a:chOff x="720" y="336"/>
              <a:chExt cx="624" cy="432"/>
            </a:xfrm>
          </p:grpSpPr>
          <p:sp>
            <p:nvSpPr>
              <p:cNvPr id="22" name="Rectangle 4"/>
              <p:cNvSpPr>
                <a:spLocks noChangeArrowheads="1"/>
              </p:cNvSpPr>
              <p:nvPr/>
            </p:nvSpPr>
            <p:spPr bwMode="auto">
              <a:xfrm>
                <a:off x="720" y="336"/>
                <a:ext cx="384" cy="432"/>
              </a:xfrm>
              <a:prstGeom prst="rect">
                <a:avLst/>
              </a:prstGeom>
              <a:solidFill>
                <a:schemeClr val="folHlink"/>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grpSp>
          <p:nvGrpSpPr>
            <p:cNvPr id="2054" name="Group 6"/>
            <p:cNvGrpSpPr/>
            <p:nvPr/>
          </p:nvGrpSpPr>
          <p:grpSpPr>
            <a:xfrm>
              <a:off x="263" y="1870"/>
              <a:ext cx="466" cy="299"/>
              <a:chOff x="912" y="2640"/>
              <a:chExt cx="672" cy="432"/>
            </a:xfrm>
          </p:grpSpPr>
          <p:sp>
            <p:nvSpPr>
              <p:cNvPr id="20" name="Rectangle 7"/>
              <p:cNvSpPr>
                <a:spLocks noChangeArrowheads="1"/>
              </p:cNvSpPr>
              <p:nvPr/>
            </p:nvSpPr>
            <p:spPr bwMode="auto">
              <a:xfrm>
                <a:off x="912" y="2640"/>
                <a:ext cx="384" cy="432"/>
              </a:xfrm>
              <a:prstGeom prst="rect">
                <a:avLst/>
              </a:prstGeom>
              <a:solidFill>
                <a:schemeClr val="accent2"/>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1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8" name="Rectangle 10"/>
            <p:cNvSpPr>
              <a:spLocks noChangeArrowheads="1"/>
            </p:cNvSpPr>
            <p:nvPr/>
          </p:nvSpPr>
          <p:spPr bwMode="auto">
            <a:xfrm>
              <a:off x="400" y="1536"/>
              <a:ext cx="20" cy="663"/>
            </a:xfrm>
            <a:prstGeom prst="rect">
              <a:avLst/>
            </a:prstGeom>
            <a:solidFill>
              <a:schemeClr val="bg2"/>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100364" name="Rectangle 12"/>
          <p:cNvSpPr>
            <a:spLocks noGrp="1" noChangeArrowheads="1"/>
          </p:cNvSpPr>
          <p:nvPr>
            <p:ph type="ctrTitle"/>
          </p:nvPr>
        </p:nvSpPr>
        <p:spPr>
          <a:xfrm>
            <a:off x="990600" y="1676400"/>
            <a:ext cx="7772400" cy="1462088"/>
          </a:xfrm>
        </p:spPr>
        <p:txBody>
          <a:bodyPr/>
          <a:lstStyle>
            <a:lvl1pPr>
              <a:defRPr/>
            </a:lvl1pPr>
          </a:lstStyle>
          <a:p>
            <a:pPr fontAlgn="base"/>
            <a:r>
              <a:rPr lang="zh-CN" altLang="en-US" strike="noStrike" noProof="1"/>
              <a:t>单击此处编辑母版标题样式</a:t>
            </a:r>
          </a:p>
        </p:txBody>
      </p:sp>
      <p:sp>
        <p:nvSpPr>
          <p:cNvPr id="100365" name="Rectangle 13"/>
          <p:cNvSpPr>
            <a:spLocks noGrp="1" noChangeArrowheads="1"/>
          </p:cNvSpPr>
          <p:nvPr>
            <p:ph type="subTitle" idx="1"/>
          </p:nvPr>
        </p:nvSpPr>
        <p:spPr>
          <a:xfrm>
            <a:off x="1371600" y="3886201"/>
            <a:ext cx="6400800" cy="1752600"/>
          </a:xfrm>
        </p:spPr>
        <p:txBody>
          <a:bodyPr/>
          <a:lstStyle>
            <a:lvl1pPr marL="0" indent="0" algn="ctr">
              <a:buFont typeface="Wingdings" panose="05000000000000000000" pitchFamily="2" charset="2"/>
              <a:buNone/>
              <a:defRPr/>
            </a:lvl1pPr>
          </a:lstStyle>
          <a:p>
            <a:pPr fontAlgn="base"/>
            <a:r>
              <a:rPr lang="zh-CN" altLang="en-US" strike="noStrike" noProof="1"/>
              <a:t>单击此处编辑母版副标题样式</a:t>
            </a:r>
          </a:p>
        </p:txBody>
      </p:sp>
      <p:sp>
        <p:nvSpPr>
          <p:cNvPr id="24" name="Rectangle 14"/>
          <p:cNvSpPr>
            <a:spLocks noGrp="1" noChangeArrowheads="1"/>
          </p:cNvSpPr>
          <p:nvPr>
            <p:ph type="dt" sz="half" idx="2"/>
          </p:nvPr>
        </p:nvSpPr>
        <p:spPr bwMode="auto">
          <a:xfrm>
            <a:off x="990600" y="6248400"/>
            <a:ext cx="1905000" cy="457200"/>
          </a:xfrm>
          <a:prstGeom prst="rect">
            <a:avLst/>
          </a:prstGeom>
          <a:noFill/>
          <a:ln w="9525">
            <a:noFill/>
            <a:miter lim="800000"/>
          </a:ln>
          <a:effectLst/>
        </p:spPr>
        <p:txBody>
          <a:bodyPr vert="horz" wrap="square" lIns="91440" tIns="45720" rIns="91440" bIns="45720" numCol="1" anchor="b" anchorCtr="0" compatLnSpc="1"/>
          <a:lstStyle>
            <a:lvl1pPr>
              <a:defRPr>
                <a:solidFill>
                  <a:schemeClr val="bg2"/>
                </a:solidFill>
              </a:defRPr>
            </a:lvl1pPr>
          </a:lstStyle>
          <a:p>
            <a:pPr marL="0" marR="0" indent="0" algn="l" defTabSz="914400" rtl="0" eaLnBrk="1" fontAlgn="base" latinLnBrk="0" hangingPunct="1">
              <a:lnSpc>
                <a:spcPct val="100000"/>
              </a:lnSpc>
              <a:spcBef>
                <a:spcPct val="0"/>
              </a:spcBef>
              <a:spcAft>
                <a:spcPct val="0"/>
              </a:spcAft>
              <a:buClrTx/>
              <a:buSzTx/>
              <a:buFontTx/>
              <a:buNone/>
              <a:defRPr/>
            </a:pPr>
            <a:fld id="{E3CB9796-DA0B-4771-AFB1-4DDFDF6CB993}" type="datetime1">
              <a:rPr kumimoji="0" lang="zh-CN" altLang="en-US" b="0" i="0" strike="noStrike" kern="1200" cap="none" spc="0" normalizeH="0" baseline="0" noProof="0">
                <a:latin typeface="Tahoma" panose="020B0604030504040204" pitchFamily="34" charset="0"/>
                <a:ea typeface="宋体" panose="02010600030101010101" pitchFamily="2" charset="-122"/>
                <a:cs typeface="+mn-cs"/>
              </a:rPr>
              <a:t>2025/11/20</a:t>
            </a:fld>
            <a:endParaRPr kumimoji="0" lang="en-US" altLang="zh-CN" b="0" i="0" strike="noStrike" kern="1200" cap="none" spc="0" normalizeH="0" baseline="0" noProof="0">
              <a:latin typeface="Tahoma" panose="020B0604030504040204" pitchFamily="34" charset="0"/>
              <a:ea typeface="宋体" panose="02010600030101010101" pitchFamily="2" charset="-122"/>
              <a:cs typeface="+mn-cs"/>
            </a:endParaRPr>
          </a:p>
        </p:txBody>
      </p:sp>
      <p:sp>
        <p:nvSpPr>
          <p:cNvPr id="25" name="Rectangle 15"/>
          <p:cNvSpPr>
            <a:spLocks noGrp="1" noChangeArrowheads="1"/>
          </p:cNvSpPr>
          <p:nvPr>
            <p:ph type="ftr" sz="quarter" idx="3"/>
          </p:nvPr>
        </p:nvSpPr>
        <p:spPr bwMode="auto">
          <a:xfrm>
            <a:off x="3429000" y="6248400"/>
            <a:ext cx="2895600" cy="457200"/>
          </a:xfrm>
          <a:prstGeom prst="rect">
            <a:avLst/>
          </a:prstGeom>
          <a:noFill/>
          <a:ln w="9525">
            <a:noFill/>
            <a:miter lim="800000"/>
          </a:ln>
          <a:effectLst/>
        </p:spPr>
        <p:txBody>
          <a:bodyPr vert="horz" wrap="square" lIns="91440" tIns="45720" rIns="91440" bIns="45720" numCol="1" anchor="b" anchorCtr="0" compatLnSpc="1"/>
          <a:lstStyle>
            <a:lvl1pPr>
              <a:defRPr>
                <a:solidFill>
                  <a:schemeClr val="bg2"/>
                </a:solidFill>
              </a:defRPr>
            </a:lvl1pPr>
          </a:lstStyle>
          <a:p>
            <a:pPr marL="0" marR="0" indent="0" defTabSz="914400" rtl="0" eaLnBrk="1" fontAlgn="base" latinLnBrk="0" hangingPunct="1">
              <a:lnSpc>
                <a:spcPct val="100000"/>
              </a:lnSpc>
              <a:spcBef>
                <a:spcPct val="0"/>
              </a:spcBef>
              <a:spcAft>
                <a:spcPct val="0"/>
              </a:spcAft>
              <a:buClrTx/>
              <a:buSzTx/>
              <a:buFontTx/>
              <a:buNone/>
              <a:defRPr/>
            </a:pPr>
            <a:endParaRPr kumimoji="0" lang="en-US" altLang="zh-CN" b="0" i="0" strike="noStrike" kern="1200" cap="none" spc="0" normalizeH="0" baseline="0" noProof="0">
              <a:latin typeface="Tahoma" panose="020B0604030504040204" pitchFamily="34" charset="0"/>
              <a:ea typeface="宋体" panose="02010600030101010101" pitchFamily="2" charset="-122"/>
              <a:cs typeface="+mn-cs"/>
            </a:endParaRPr>
          </a:p>
        </p:txBody>
      </p:sp>
      <p:sp>
        <p:nvSpPr>
          <p:cNvPr id="26" name="Rectangle 16"/>
          <p:cNvSpPr>
            <a:spLocks noGrp="1" noChangeArrowheads="1"/>
          </p:cNvSpPr>
          <p:nvPr>
            <p:ph type="sldNum" sz="quarter" idx="4"/>
          </p:nvPr>
        </p:nvSpPr>
        <p:spPr bwMode="auto">
          <a:xfrm>
            <a:off x="6858000" y="6248400"/>
            <a:ext cx="1905000" cy="457200"/>
          </a:xfrm>
          <a:prstGeom prst="rect">
            <a:avLst/>
          </a:prstGeom>
          <a:noFill/>
          <a:ln w="9525">
            <a:noFill/>
            <a:miter lim="800000"/>
          </a:ln>
          <a:effectLst/>
        </p:spPr>
        <p:txBody>
          <a:bodyPr vert="horz" wrap="square" lIns="91440" tIns="45720" rIns="91440" bIns="45720" numCol="1" anchor="b" anchorCtr="0" compatLnSpc="1"/>
          <a:lstStyle/>
          <a:p>
            <a:pPr algn="r" eaLnBrk="1" fontAlgn="base" hangingPunct="1"/>
            <a:fld id="{9A0DB2DC-4C9A-4742-B13C-FB6460FD3503}" type="slidenum">
              <a:rPr lang="en-US" altLang="zh-CN" sz="1400" strike="noStrike" noProof="1" dirty="0">
                <a:solidFill>
                  <a:schemeClr val="bg2"/>
                </a:solidFill>
                <a:latin typeface="Tahoma" panose="020B0604030504040204" pitchFamily="34" charset="0"/>
                <a:ea typeface="宋体" panose="02010600030101010101" pitchFamily="2" charset="-122"/>
                <a:cs typeface="+mn-ea"/>
              </a:rPr>
              <a:t>‹#›</a:t>
            </a:fld>
            <a:endParaRPr lang="en-US" altLang="zh-CN" sz="1400" strike="noStrike" noProof="1">
              <a:solidFill>
                <a:schemeClr val="bg2"/>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8F3C6F33-D61B-48EE-94BB-2321412BAAE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2025/11/20</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fld id="{9A0DB2DC-4C9A-4742-B13C-FB6460FD3503}" type="slidenum">
              <a:rPr lang="en-US" altLang="zh-CN" sz="1400" strike="noStrike" noProof="1" dirty="0">
                <a:latin typeface="Tahoma" panose="020B0604030504040204" pitchFamily="34" charset="0"/>
                <a:ea typeface="宋体" panose="02010600030101010101" pitchFamily="2" charset="-122"/>
                <a:cs typeface="+mn-ea"/>
              </a:rPr>
              <a:t>‹#›</a:t>
            </a:fld>
            <a:endParaRPr lang="en-US" altLang="zh-CN" sz="1400"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1"/>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8F3C6F33-D61B-48EE-94BB-2321412BAAE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2025/11/20</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fld id="{9A0DB2DC-4C9A-4742-B13C-FB6460FD3503}" type="slidenum">
              <a:rPr lang="en-US" altLang="zh-CN" sz="1400" strike="noStrike" noProof="1" dirty="0">
                <a:latin typeface="Tahoma" panose="020B0604030504040204" pitchFamily="34" charset="0"/>
                <a:ea typeface="宋体" panose="02010600030101010101" pitchFamily="2" charset="-122"/>
                <a:cs typeface="+mn-ea"/>
              </a:rPr>
              <a:t>‹#›</a:t>
            </a:fld>
            <a:endParaRPr lang="en-US" altLang="zh-CN" sz="1400"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8F3C6F33-D61B-48EE-94BB-2321412BAAE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2025/11/20</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fontAlgn="base" hangingPunct="1"/>
            <a:fld id="{9A0DB2DC-4C9A-4742-B13C-FB6460FD3503}" type="slidenum">
              <a:rPr lang="en-US" altLang="zh-CN" sz="1400" strike="noStrike" noProof="1" dirty="0">
                <a:latin typeface="Tahoma" panose="020B0604030504040204" pitchFamily="34" charset="0"/>
                <a:ea typeface="宋体" panose="02010600030101010101" pitchFamily="2" charset="-122"/>
                <a:cs typeface="+mn-ea"/>
              </a:rPr>
              <a:t>‹#›</a:t>
            </a:fld>
            <a:endParaRPr lang="en-US" altLang="zh-CN" sz="1400"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9"/>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8F3C6F33-D61B-48EE-94BB-2321412BAAE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2025/11/20</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algn="r" eaLnBrk="1" fontAlgn="base" hangingPunct="1"/>
            <a:fld id="{9A0DB2DC-4C9A-4742-B13C-FB6460FD3503}" type="slidenum">
              <a:rPr lang="en-US" altLang="zh-CN" sz="1400" strike="noStrike" noProof="1" dirty="0">
                <a:latin typeface="Tahoma" panose="020B0604030504040204" pitchFamily="34" charset="0"/>
                <a:ea typeface="宋体" panose="02010600030101010101" pitchFamily="2" charset="-122"/>
                <a:cs typeface="+mn-ea"/>
              </a:rPr>
              <a:t>‹#›</a:t>
            </a:fld>
            <a:endParaRPr lang="en-US" altLang="zh-CN" sz="1400"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8F3C6F33-D61B-48EE-94BB-2321412BAAE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2025/11/20</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algn="r" eaLnBrk="1" fontAlgn="base" hangingPunct="1"/>
            <a:fld id="{9A0DB2DC-4C9A-4742-B13C-FB6460FD3503}" type="slidenum">
              <a:rPr lang="en-US" altLang="zh-CN" sz="1400" strike="noStrike" noProof="1" dirty="0">
                <a:latin typeface="Tahoma" panose="020B0604030504040204" pitchFamily="34" charset="0"/>
                <a:ea typeface="宋体" panose="02010600030101010101" pitchFamily="2" charset="-122"/>
                <a:cs typeface="+mn-ea"/>
              </a:rPr>
              <a:t>‹#›</a:t>
            </a:fld>
            <a:endParaRPr lang="en-US" altLang="zh-CN" sz="1400"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8F3C6F33-D61B-48EE-94BB-2321412BAAE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2025/11/20</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fontAlgn="base" hangingPunct="1"/>
            <a:fld id="{9A0DB2DC-4C9A-4742-B13C-FB6460FD3503}" type="slidenum">
              <a:rPr lang="en-US" altLang="zh-CN" sz="1400" strike="noStrike" noProof="1" dirty="0">
                <a:latin typeface="Tahoma" panose="020B0604030504040204" pitchFamily="34" charset="0"/>
                <a:ea typeface="宋体" panose="02010600030101010101" pitchFamily="2" charset="-122"/>
                <a:cs typeface="+mn-ea"/>
              </a:rPr>
              <a:t>‹#›</a:t>
            </a:fld>
            <a:endParaRPr lang="en-US" altLang="zh-CN" sz="1400" strike="noStrike" noProof="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2"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8F3C6F33-D61B-48EE-94BB-2321412BAAE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2025/11/20</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fontAlgn="base" hangingPunct="1"/>
            <a:fld id="{9A0DB2DC-4C9A-4742-B13C-FB6460FD3503}" type="slidenum">
              <a:rPr lang="en-US" altLang="zh-CN" sz="1400" strike="noStrike" noProof="1" dirty="0">
                <a:latin typeface="Tahoma" panose="020B0604030504040204" pitchFamily="34" charset="0"/>
                <a:ea typeface="宋体" panose="02010600030101010101" pitchFamily="2" charset="-122"/>
                <a:cs typeface="+mn-ea"/>
              </a:rPr>
              <a:t>‹#›</a:t>
            </a:fld>
            <a:endParaRPr lang="en-US" altLang="zh-CN" sz="1400"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8F3C6F33-D61B-48EE-94BB-2321412BAAE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2025/11/20</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fontAlgn="base" hangingPunct="1"/>
            <a:fld id="{9A0DB2DC-4C9A-4742-B13C-FB6460FD3503}" type="slidenum">
              <a:rPr lang="en-US" altLang="zh-CN" sz="1400" strike="noStrike" noProof="1" dirty="0">
                <a:latin typeface="Tahoma" panose="020B0604030504040204" pitchFamily="34" charset="0"/>
                <a:ea typeface="宋体" panose="02010600030101010101" pitchFamily="2" charset="-122"/>
                <a:cs typeface="+mn-ea"/>
              </a:rPr>
              <a:t>‹#›</a:t>
            </a:fld>
            <a:endParaRPr lang="en-US" altLang="zh-CN" sz="1400"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8F3C6F33-D61B-48EE-94BB-2321412BAAE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2025/11/20</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fld id="{9A0DB2DC-4C9A-4742-B13C-FB6460FD3503}" type="slidenum">
              <a:rPr lang="en-US" altLang="zh-CN" sz="1400" strike="noStrike" noProof="1" dirty="0">
                <a:latin typeface="Tahoma" panose="020B0604030504040204" pitchFamily="34" charset="0"/>
                <a:ea typeface="宋体" panose="02010600030101010101" pitchFamily="2" charset="-122"/>
                <a:cs typeface="+mn-ea"/>
              </a:rPr>
              <a:t>‹#›</a:t>
            </a:fld>
            <a:endParaRPr lang="en-US" altLang="zh-CN" sz="1400"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214313"/>
            <a:ext cx="1951038" cy="59182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1150938" y="214313"/>
            <a:ext cx="5700712" cy="59182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8F3C6F33-D61B-48EE-94BB-2321412BAAE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2025/11/20</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fld id="{9A0DB2DC-4C9A-4742-B13C-FB6460FD3503}" type="slidenum">
              <a:rPr lang="en-US" altLang="zh-CN" sz="1400" strike="noStrike" noProof="1" dirty="0">
                <a:latin typeface="Tahoma" panose="020B0604030504040204" pitchFamily="34" charset="0"/>
                <a:ea typeface="宋体" panose="02010600030101010101" pitchFamily="2" charset="-122"/>
                <a:cs typeface="+mn-ea"/>
              </a:rPr>
              <a:t>‹#›</a:t>
            </a:fld>
            <a:endParaRPr lang="en-US" altLang="zh-CN" sz="1400"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Media" preserve="1">
  <p:cSld name="标题，文本与媒体剪辑">
    <p:spTree>
      <p:nvGrpSpPr>
        <p:cNvPr id="1" name=""/>
        <p:cNvGrpSpPr/>
        <p:nvPr/>
      </p:nvGrpSpPr>
      <p:grpSpPr>
        <a:xfrm>
          <a:off x="0" y="0"/>
          <a:ext cx="0" cy="0"/>
          <a:chOff x="0" y="0"/>
          <a:chExt cx="0" cy="0"/>
        </a:xfrm>
      </p:grpSpPr>
      <p:sp>
        <p:nvSpPr>
          <p:cNvPr id="2" name="标题 1"/>
          <p:cNvSpPr>
            <a:spLocks noGrp="1"/>
          </p:cNvSpPr>
          <p:nvPr>
            <p:ph type="title"/>
          </p:nvPr>
        </p:nvSpPr>
        <p:spPr>
          <a:xfrm>
            <a:off x="1150940" y="214314"/>
            <a:ext cx="7793037" cy="1462087"/>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媒体占位符 3"/>
          <p:cNvSpPr>
            <a:spLocks noGrp="1"/>
          </p:cNvSpPr>
          <p:nvPr>
            <p:ph type="media" sz="half" idx="2"/>
          </p:nvPr>
        </p:nvSpPr>
        <p:spPr>
          <a:xfrm>
            <a:off x="5145088" y="2017713"/>
            <a:ext cx="3810000"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8F3C6F33-D61B-48EE-94BB-2321412BAAE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2025/11/20</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fontAlgn="base" hangingPunct="1"/>
            <a:fld id="{9A0DB2DC-4C9A-4742-B13C-FB6460FD3503}" type="slidenum">
              <a:rPr lang="en-US" altLang="zh-CN" sz="1400" strike="noStrike" noProof="1" dirty="0">
                <a:latin typeface="Tahoma" panose="020B0604030504040204" pitchFamily="34" charset="0"/>
                <a:ea typeface="宋体" panose="02010600030101010101" pitchFamily="2" charset="-122"/>
                <a:cs typeface="+mn-ea"/>
              </a:rPr>
              <a:t>‹#›</a:t>
            </a:fld>
            <a:endParaRPr lang="en-US" altLang="zh-CN" sz="1400"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40" y="214314"/>
            <a:ext cx="7793037" cy="1462087"/>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5145088" y="2017713"/>
            <a:ext cx="3810000"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8F3C6F33-D61B-48EE-94BB-2321412BAAE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2025/11/20</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fontAlgn="base" hangingPunct="1"/>
            <a:fld id="{9A0DB2DC-4C9A-4742-B13C-FB6460FD3503}" type="slidenum">
              <a:rPr lang="en-US" altLang="zh-CN" sz="1400" strike="noStrike" noProof="1" dirty="0">
                <a:latin typeface="Tahoma" panose="020B0604030504040204" pitchFamily="34" charset="0"/>
                <a:ea typeface="宋体" panose="02010600030101010101" pitchFamily="2" charset="-122"/>
                <a:cs typeface="+mn-ea"/>
              </a:rPr>
              <a:t>‹#›</a:t>
            </a:fld>
            <a:endParaRPr lang="en-US" altLang="zh-CN" sz="1400"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1150940" y="214314"/>
            <a:ext cx="7793037" cy="1462087"/>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剪贴画占位符 3"/>
          <p:cNvSpPr>
            <a:spLocks noGrp="1"/>
          </p:cNvSpPr>
          <p:nvPr>
            <p:ph type="clipArt" sz="half" idx="2"/>
          </p:nvPr>
        </p:nvSpPr>
        <p:spPr>
          <a:xfrm>
            <a:off x="5145088" y="2017713"/>
            <a:ext cx="3810000"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8F3C6F33-D61B-48EE-94BB-2321412BAAE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2025/11/20</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fontAlgn="base" hangingPunct="1"/>
            <a:fld id="{9A0DB2DC-4C9A-4742-B13C-FB6460FD3503}" type="slidenum">
              <a:rPr lang="en-US" altLang="zh-CN" sz="1400" strike="noStrike" noProof="1" dirty="0">
                <a:latin typeface="Tahoma" panose="020B0604030504040204" pitchFamily="34" charset="0"/>
                <a:ea typeface="宋体" panose="02010600030101010101" pitchFamily="2" charset="-122"/>
                <a:cs typeface="+mn-ea"/>
              </a:rPr>
              <a:t>‹#›</a:t>
            </a:fld>
            <a:endParaRPr lang="en-US" altLang="zh-CN" sz="1400" strike="noStrike"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150940" y="214314"/>
            <a:ext cx="7793037" cy="1462087"/>
          </a:xfrm>
        </p:spPr>
        <p:txBody>
          <a:bodyPr/>
          <a:lstStyle/>
          <a:p>
            <a:pPr fontAlgn="base"/>
            <a:r>
              <a:rPr lang="zh-CN" altLang="en-US" strike="noStrike" noProof="1"/>
              <a:t>单击此处编辑母版标题样式</a:t>
            </a:r>
          </a:p>
        </p:txBody>
      </p:sp>
      <p:sp>
        <p:nvSpPr>
          <p:cNvPr id="3" name="表格占位符 2"/>
          <p:cNvSpPr>
            <a:spLocks noGrp="1"/>
          </p:cNvSpPr>
          <p:nvPr>
            <p:ph type="tbl" idx="1"/>
          </p:nvPr>
        </p:nvSpPr>
        <p:spPr>
          <a:xfrm>
            <a:off x="1182688" y="2017713"/>
            <a:ext cx="7772400"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8F3C6F33-D61B-48EE-94BB-2321412BAAE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2025/11/20</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fld id="{9A0DB2DC-4C9A-4742-B13C-FB6460FD3503}" type="slidenum">
              <a:rPr lang="en-US" altLang="zh-CN" sz="1400" strike="noStrike" noProof="1" dirty="0">
                <a:latin typeface="Tahoma" panose="020B0604030504040204" pitchFamily="34" charset="0"/>
                <a:ea typeface="宋体" panose="02010600030101010101" pitchFamily="2" charset="-122"/>
                <a:cs typeface="+mn-ea"/>
              </a:rPr>
              <a:t>‹#›</a:t>
            </a:fld>
            <a:endParaRPr lang="en-US" altLang="zh-CN" sz="1400"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330" name="Rectangle 2"/>
          <p:cNvSpPr>
            <a:spLocks noChangeArrowheads="1"/>
          </p:cNvSpPr>
          <p:nvPr/>
        </p:nvSpPr>
        <p:spPr bwMode="ltGray">
          <a:xfrm>
            <a:off x="417513" y="1098550"/>
            <a:ext cx="438150" cy="474663"/>
          </a:xfrm>
          <a:prstGeom prst="rect">
            <a:avLst/>
          </a:prstGeom>
          <a:solidFill>
            <a:schemeClr val="accent2"/>
          </a:soli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9331"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9332" name="Rectangle 4"/>
          <p:cNvSpPr>
            <a:spLocks noChangeArrowheads="1"/>
          </p:cNvSpPr>
          <p:nvPr/>
        </p:nvSpPr>
        <p:spPr bwMode="ltGray">
          <a:xfrm>
            <a:off x="541338" y="1520825"/>
            <a:ext cx="422275" cy="474663"/>
          </a:xfrm>
          <a:prstGeom prst="rect">
            <a:avLst/>
          </a:prstGeom>
          <a:solidFill>
            <a:schemeClr val="folHlink"/>
          </a:soli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9333"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9334"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9335" name="Rectangle 7"/>
          <p:cNvSpPr>
            <a:spLocks noChangeArrowheads="1"/>
          </p:cNvSpPr>
          <p:nvPr/>
        </p:nvSpPr>
        <p:spPr bwMode="gray">
          <a:xfrm>
            <a:off x="762000" y="990600"/>
            <a:ext cx="31750" cy="1052513"/>
          </a:xfrm>
          <a:prstGeom prst="rect">
            <a:avLst/>
          </a:prstGeom>
          <a:solidFill>
            <a:schemeClr val="bg2"/>
          </a:soli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9336"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3" name="Rectangle 9"/>
          <p:cNvSpPr>
            <a:spLocks noGrp="1"/>
          </p:cNvSpPr>
          <p:nvPr>
            <p:ph type="title"/>
          </p:nvPr>
        </p:nvSpPr>
        <p:spPr>
          <a:xfrm>
            <a:off x="1150938" y="214313"/>
            <a:ext cx="7793037" cy="1462087"/>
          </a:xfrm>
          <a:prstGeom prst="rect">
            <a:avLst/>
          </a:prstGeom>
          <a:noFill/>
          <a:ln w="9525">
            <a:noFill/>
          </a:ln>
        </p:spPr>
        <p:txBody>
          <a:bodyPr anchor="b"/>
          <a:lstStyle/>
          <a:p>
            <a:pPr lvl="0"/>
            <a:r>
              <a:rPr lang="zh-CN" altLang="en-US" dirty="0"/>
              <a:t>单击此处编辑母版标题样式</a:t>
            </a:r>
          </a:p>
        </p:txBody>
      </p:sp>
      <p:sp>
        <p:nvSpPr>
          <p:cNvPr id="1034" name="Rectangle 10"/>
          <p:cNvSpPr>
            <a:spLocks noGrp="1"/>
          </p:cNvSpPr>
          <p:nvPr>
            <p:ph type="body"/>
          </p:nvPr>
        </p:nvSpPr>
        <p:spPr>
          <a:xfrm>
            <a:off x="1182688" y="2017713"/>
            <a:ext cx="7772400" cy="4114800"/>
          </a:xfrm>
          <a:prstGeom prst="rect">
            <a:avLst/>
          </a:prstGeom>
          <a:noFill/>
          <a:ln w="9525">
            <a:noFill/>
          </a:ln>
        </p:spPr>
        <p:txBody>
          <a:bodyPr anchor="t"/>
          <a:lstStyle/>
          <a:p>
            <a:pPr lvl="0" indent="-34290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99339" name="Rectangle 11"/>
          <p:cNvSpPr>
            <a:spLocks noGrp="1" noChangeArrowheads="1"/>
          </p:cNvSpPr>
          <p:nvPr>
            <p:ph type="dt" sz="half" idx="2"/>
          </p:nvPr>
        </p:nvSpPr>
        <p:spPr bwMode="auto">
          <a:xfrm>
            <a:off x="1162050" y="6243638"/>
            <a:ext cx="1905000" cy="457200"/>
          </a:xfrm>
          <a:prstGeom prst="rect">
            <a:avLst/>
          </a:prstGeom>
          <a:noFill/>
          <a:ln w="9525">
            <a:noFill/>
            <a:miter lim="800000"/>
          </a:ln>
          <a:effectLst/>
        </p:spPr>
        <p:txBody>
          <a:bodyPr vert="horz" wrap="square" lIns="91440" tIns="45720" rIns="91440" bIns="45720" numCol="1" anchor="b" anchorCtr="0" compatLnSpc="1"/>
          <a:lstStyle>
            <a:lvl1pPr>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fld id="{8F3C6F33-D61B-48EE-94BB-2321412BAAE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2025/11/20</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9340" name="Rectangle 12"/>
          <p:cNvSpPr>
            <a:spLocks noGrp="1" noChangeArrowheads="1"/>
          </p:cNvSpPr>
          <p:nvPr>
            <p:ph type="ftr" sz="quarter" idx="3"/>
          </p:nvPr>
        </p:nvSpPr>
        <p:spPr bwMode="auto">
          <a:xfrm>
            <a:off x="3657600" y="6243638"/>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9341" name="Rectangle 13"/>
          <p:cNvSpPr>
            <a:spLocks noGrp="1" noChangeArrowheads="1"/>
          </p:cNvSpPr>
          <p:nvPr>
            <p:ph type="sldNum" sz="quarter" idx="4"/>
          </p:nvPr>
        </p:nvSpPr>
        <p:spPr bwMode="auto">
          <a:xfrm>
            <a:off x="7042150" y="6243638"/>
            <a:ext cx="1905000" cy="457200"/>
          </a:xfrm>
          <a:prstGeom prst="rect">
            <a:avLst/>
          </a:prstGeom>
          <a:noFill/>
          <a:ln w="9525">
            <a:noFill/>
            <a:miter lim="800000"/>
          </a:ln>
          <a:effectLst/>
        </p:spPr>
        <p:txBody>
          <a:bodyPr vert="horz" wrap="square" lIns="91440" tIns="45720" rIns="91440" bIns="45720" numCol="1" anchor="b" anchorCtr="0" compatLnSpc="1"/>
          <a:lstStyle/>
          <a:p>
            <a:pPr lvl="0" algn="r" eaLnBrk="1" fontAlgn="base" hangingPunct="1"/>
            <a:fld id="{9A0DB2DC-4C9A-4742-B13C-FB6460FD3503}" type="slidenum">
              <a:rPr lang="en-US" altLang="zh-CN" sz="1400" strike="noStrike" noProof="1" dirty="0">
                <a:latin typeface="Tahoma" panose="020B0604030504040204" pitchFamily="34" charset="0"/>
                <a:ea typeface="宋体" panose="02010600030101010101" pitchFamily="2" charset="-122"/>
                <a:cs typeface="+mn-ea"/>
              </a:rPr>
              <a:t>‹#›</a:t>
            </a:fld>
            <a:endParaRPr lang="en-US" altLang="zh-CN" sz="1400" strike="noStrike" noProof="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 Target="slide4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2.jpeg"/><Relationship Id="rId5" Type="http://schemas.openxmlformats.org/officeDocument/2006/relationships/notesSlide" Target="../notesSlides/notesSlide2.xml"/><Relationship Id="rId4"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9.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 Target="slide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image" Target="../media/image16.png"/><Relationship Id="rId1" Type="http://schemas.openxmlformats.org/officeDocument/2006/relationships/slideLayout" Target="../slideLayouts/slideLayout4.xml"/><Relationship Id="rId6" Type="http://schemas.openxmlformats.org/officeDocument/2006/relationships/image" Target="../media/image2.jpeg"/><Relationship Id="rId5" Type="http://schemas.openxmlformats.org/officeDocument/2006/relationships/image" Target="../media/image18.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GIF"/><Relationship Id="rId1" Type="http://schemas.openxmlformats.org/officeDocument/2006/relationships/slideLayout" Target="../slideLayouts/slideLayout4.xml"/><Relationship Id="rId4" Type="http://schemas.openxmlformats.org/officeDocument/2006/relationships/image" Target="../media/image2.jpeg"/></Relationships>
</file>

<file path=ppt/slides/_rels/slide2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file:///D:\video\3&#32467;&#26230;\&#26641;&#26525;&#29366;&#38271;&#22823;.avi" TargetMode="External"/><Relationship Id="rId1" Type="http://schemas.microsoft.com/office/2007/relationships/media" Target="file:///D:\video\3&#32467;&#26230;\&#26641;&#26525;&#29366;&#38271;&#22823;.avi" TargetMode="External"/><Relationship Id="rId6" Type="http://schemas.openxmlformats.org/officeDocument/2006/relationships/image" Target="../media/image2.jpeg"/><Relationship Id="rId5" Type="http://schemas.openxmlformats.org/officeDocument/2006/relationships/image" Target="../media/image23.png"/><Relationship Id="rId4" Type="http://schemas.openxmlformats.org/officeDocument/2006/relationships/image" Target="../media/image22.jpe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file:///D:\video\3&#32467;&#26230;\fig0607%5b1%5d.avi" TargetMode="External"/><Relationship Id="rId1" Type="http://schemas.microsoft.com/office/2007/relationships/media" Target="file:///D:\video\3&#32467;&#26230;\fig0607%5b1%5d.avi" TargetMode="External"/><Relationship Id="rId5" Type="http://schemas.openxmlformats.org/officeDocument/2006/relationships/image" Target="../media/image2.jpeg"/><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file:///D:\video\3&#32467;&#26230;\KONKURRE.mpeg" TargetMode="External"/><Relationship Id="rId1" Type="http://schemas.microsoft.com/office/2007/relationships/media" Target="file:///D:\video\3&#32467;&#26230;\KONKURRE.mpeg" TargetMode="External"/><Relationship Id="rId5" Type="http://schemas.openxmlformats.org/officeDocument/2006/relationships/image" Target="../media/image2.jpeg"/><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image" Target="../media/image29.jpeg"/><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image" Target="../media/image36.jpeg"/><Relationship Id="rId4" Type="http://schemas.openxmlformats.org/officeDocument/2006/relationships/image" Target="../media/image35.jpeg"/></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0.jpeg"/></Relationships>
</file>

<file path=ppt/slides/_rels/slide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5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5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54.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image" Target="../media/image52.png"/><Relationship Id="rId7" Type="http://schemas.openxmlformats.org/officeDocument/2006/relationships/image" Target="../media/image54.wm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oleObject" Target="../embeddings/oleObject2.bin"/><Relationship Id="rId5" Type="http://schemas.openxmlformats.org/officeDocument/2006/relationships/image" Target="../media/image53.wmf"/><Relationship Id="rId4" Type="http://schemas.openxmlformats.org/officeDocument/2006/relationships/oleObject" Target="../embeddings/oleObject1.bin"/></Relationships>
</file>

<file path=ppt/slides/_rels/slide55.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oleObject" Target="../embeddings/oleObject3.bin"/><Relationship Id="rId7" Type="http://schemas.openxmlformats.org/officeDocument/2006/relationships/image" Target="../media/image5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6.wmf"/><Relationship Id="rId5" Type="http://schemas.openxmlformats.org/officeDocument/2006/relationships/oleObject" Target="../embeddings/oleObject4.bin"/><Relationship Id="rId4" Type="http://schemas.openxmlformats.org/officeDocument/2006/relationships/image" Target="../media/image55.wmf"/></Relationships>
</file>

<file path=ppt/slides/_rels/slide5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jpe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6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6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6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jpe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6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6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6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oleObject" Target="../embeddings/oleObject5.bin"/><Relationship Id="rId7" Type="http://schemas.openxmlformats.org/officeDocument/2006/relationships/image" Target="../media/image70.wmf"/><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69.jpeg"/><Relationship Id="rId10" Type="http://schemas.openxmlformats.org/officeDocument/2006/relationships/image" Target="../media/image2.jpeg"/><Relationship Id="rId4" Type="http://schemas.openxmlformats.org/officeDocument/2006/relationships/image" Target="../media/image68.wmf"/><Relationship Id="rId9" Type="http://schemas.openxmlformats.org/officeDocument/2006/relationships/image" Target="../media/image71.wmf"/></Relationships>
</file>

<file path=ppt/slides/_rels/slide69.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image" Target="../media/image2.jpeg"/><Relationship Id="rId4" Type="http://schemas.openxmlformats.org/officeDocument/2006/relationships/image" Target="../media/image73.jpeg"/></Relationships>
</file>

<file path=ppt/slides/_rels/slide7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75.png"/></Relationships>
</file>

<file path=ppt/slides/_rels/slide7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image" Target="../media/image77.png"/><Relationship Id="rId7" Type="http://schemas.openxmlformats.org/officeDocument/2006/relationships/image" Target="../media/image81.jpe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80.jpeg"/><Relationship Id="rId5" Type="http://schemas.openxmlformats.org/officeDocument/2006/relationships/image" Target="../media/image79.png"/><Relationship Id="rId4" Type="http://schemas.openxmlformats.org/officeDocument/2006/relationships/image" Target="../media/image78.png"/></Relationships>
</file>

<file path=ppt/slides/_rels/slide73.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image" Target="../media/image82.jpeg"/><Relationship Id="rId1"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image" Target="../media/image85.jpeg"/><Relationship Id="rId4" Type="http://schemas.openxmlformats.org/officeDocument/2006/relationships/image" Target="../media/image84.jpeg"/></Relationships>
</file>

<file path=ppt/slides/_rels/slide74.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61.png"/></Relationships>
</file>

<file path=ppt/slides/_rels/slide75.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88.png"/></Relationships>
</file>

<file path=ppt/slides/_rels/slide76.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7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image" Target="../media/image91.png"/><Relationship Id="rId4" Type="http://schemas.openxmlformats.org/officeDocument/2006/relationships/image" Target="../media/image89.png"/></Relationships>
</file>

<file path=ppt/slides/_rels/slide7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92.png"/><Relationship Id="rId1"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image" Target="../media/image95.png"/><Relationship Id="rId4" Type="http://schemas.openxmlformats.org/officeDocument/2006/relationships/image" Target="../media/image93.png"/></Relationships>
</file>

<file path=ppt/slides/_rels/slide79.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image" Target="../media/image94.pn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80.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image" Target="../media/image97.png"/><Relationship Id="rId4" Type="http://schemas.openxmlformats.org/officeDocument/2006/relationships/image" Target="../media/image65.png"/></Relationships>
</file>

<file path=ppt/slides/_rels/slide8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83.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101.png"/><Relationship Id="rId7" Type="http://schemas.openxmlformats.org/officeDocument/2006/relationships/image" Target="../media/image104.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103.png"/><Relationship Id="rId4" Type="http://schemas.openxmlformats.org/officeDocument/2006/relationships/image" Target="../media/image102.png"/><Relationship Id="rId9" Type="http://schemas.openxmlformats.org/officeDocument/2006/relationships/image" Target="../media/image73.jpeg"/></Relationships>
</file>

<file path=ppt/slides/_rels/slide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jpeg"/></Relationships>
</file>

<file path=ppt/slides/_rels/slide86.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8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7.xml"/><Relationship Id="rId5" Type="http://schemas.openxmlformats.org/officeDocument/2006/relationships/image" Target="../media/image2.jpeg"/><Relationship Id="rId4" Type="http://schemas.openxmlformats.org/officeDocument/2006/relationships/image" Target="../media/image108.jpeg"/></Relationships>
</file>

<file path=ppt/slides/_rels/slide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slideLayout" Target="../slideLayouts/slideLayout2.xml"/><Relationship Id="rId1" Type="http://schemas.openxmlformats.org/officeDocument/2006/relationships/tags" Target="../tags/tag8.xml"/><Relationship Id="rId5" Type="http://schemas.openxmlformats.org/officeDocument/2006/relationships/image" Target="../media/image2.jpeg"/><Relationship Id="rId4" Type="http://schemas.openxmlformats.org/officeDocument/2006/relationships/image" Target="../media/image110.png"/></Relationships>
</file>

<file path=ppt/slides/_rels/slide9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11.jpe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12.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13.jpe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11.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image" Target="../media/image115.jpeg"/><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117.jpeg"/></Relationships>
</file>

<file path=ppt/slides/_rels/slide9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18.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19.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19.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2.jpeg"/></Relationships>
</file>

<file path=ppt/slides/_rels/slide10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image" Target="../media/image125.jpe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13.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image" Target="../media/image127.pn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14.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jpe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15.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132.jpeg"/></Relationships>
</file>

<file path=ppt/slides/_rels/slide116.xml.rels><?xml version="1.0" encoding="UTF-8" standalone="yes"?>
<Relationships xmlns="http://schemas.openxmlformats.org/package/2006/relationships"><Relationship Id="rId3" Type="http://schemas.openxmlformats.org/officeDocument/2006/relationships/image" Target="../media/image134.jpeg"/><Relationship Id="rId2" Type="http://schemas.openxmlformats.org/officeDocument/2006/relationships/image" Target="../media/image133.jpe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17.xml.rels><?xml version="1.0" encoding="UTF-8" standalone="yes"?>
<Relationships xmlns="http://schemas.openxmlformats.org/package/2006/relationships"><Relationship Id="rId3" Type="http://schemas.openxmlformats.org/officeDocument/2006/relationships/image" Target="../media/image135.jpeg"/><Relationship Id="rId2" Type="http://schemas.openxmlformats.org/officeDocument/2006/relationships/image" Target="../media/image132.jpeg"/><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136.jpeg"/></Relationships>
</file>

<file path=ppt/slides/_rels/slide118.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11.jpe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39.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24.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notesSlide" Target="../notesSlides/notesSlide23.xml"/><Relationship Id="rId1" Type="http://schemas.openxmlformats.org/officeDocument/2006/relationships/slideLayout" Target="../slideLayouts/slideLayout13.xml"/><Relationship Id="rId5" Type="http://schemas.openxmlformats.org/officeDocument/2006/relationships/image" Target="../media/image2.jpeg"/><Relationship Id="rId4" Type="http://schemas.openxmlformats.org/officeDocument/2006/relationships/image" Target="../media/image145.png"/></Relationships>
</file>

<file path=ppt/slides/_rels/slide1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43.jpeg"/><Relationship Id="rId1" Type="http://schemas.openxmlformats.org/officeDocument/2006/relationships/slideLayout" Target="../slideLayouts/slideLayout2.xml"/><Relationship Id="rId4" Type="http://schemas.openxmlformats.org/officeDocument/2006/relationships/image" Target="../media/image112.jpeg"/></Relationships>
</file>

<file path=ppt/slides/_rels/slide126.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143.jpeg"/></Relationships>
</file>

<file path=ppt/slides/_rels/slide127.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144.png"/></Relationships>
</file>

<file path=ppt/slides/_rels/slide1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45.jpe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image" Target="../media/image146.wmf"/><Relationship Id="rId7" Type="http://schemas.openxmlformats.org/officeDocument/2006/relationships/image" Target="../media/image150.png"/><Relationship Id="rId2" Type="http://schemas.openxmlformats.org/officeDocument/2006/relationships/oleObject" Target="../embeddings/oleObject8.bin"/><Relationship Id="rId1" Type="http://schemas.openxmlformats.org/officeDocument/2006/relationships/slideLayout" Target="../slideLayouts/slideLayout2.xml"/><Relationship Id="rId6" Type="http://schemas.openxmlformats.org/officeDocument/2006/relationships/image" Target="../media/image149.png"/><Relationship Id="rId5" Type="http://schemas.openxmlformats.org/officeDocument/2006/relationships/image" Target="../media/image147.wmf"/><Relationship Id="rId4" Type="http://schemas.openxmlformats.org/officeDocument/2006/relationships/oleObject" Target="../embeddings/oleObject9.bin"/></Relationships>
</file>

<file path=ppt/slides/_rels/slide130.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image" Target="../media/image155.png"/><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150.png"/></Relationships>
</file>

<file path=ppt/slides/_rels/slide131.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12.xml"/><Relationship Id="rId7" Type="http://schemas.openxmlformats.org/officeDocument/2006/relationships/tags" Target="../tags/tag16.xml"/><Relationship Id="rId12" Type="http://schemas.openxmlformats.org/officeDocument/2006/relationships/image" Target="../media/image2.jpe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image" Target="../media/image153.png"/><Relationship Id="rId5" Type="http://schemas.openxmlformats.org/officeDocument/2006/relationships/tags" Target="../tags/tag14.xml"/><Relationship Id="rId10" Type="http://schemas.openxmlformats.org/officeDocument/2006/relationships/image" Target="../media/image152.png"/><Relationship Id="rId4" Type="http://schemas.openxmlformats.org/officeDocument/2006/relationships/tags" Target="../tags/tag13.xml"/><Relationship Id="rId9" Type="http://schemas.openxmlformats.org/officeDocument/2006/relationships/image" Target="../media/image151.png"/></Relationships>
</file>

<file path=ppt/slides/_rels/slide1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54.jpe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image" Target="../media/image154.jpeg"/><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158.jpeg"/></Relationships>
</file>

<file path=ppt/slides/_rels/slide134.xml.rels><?xml version="1.0" encoding="UTF-8" standalone="yes"?>
<Relationships xmlns="http://schemas.openxmlformats.org/package/2006/relationships"><Relationship Id="rId3" Type="http://schemas.openxmlformats.org/officeDocument/2006/relationships/image" Target="../media/image159.wmf"/><Relationship Id="rId2" Type="http://schemas.openxmlformats.org/officeDocument/2006/relationships/oleObject" Target="../embeddings/oleObject10.bin"/><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160.png"/></Relationships>
</file>

<file path=ppt/slides/_rels/slide135.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65.png"/><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166.png"/></Relationships>
</file>

<file path=ppt/slides/_rels/slide136.xml.rels><?xml version="1.0" encoding="UTF-8" standalone="yes"?>
<Relationships xmlns="http://schemas.openxmlformats.org/package/2006/relationships"><Relationship Id="rId3" Type="http://schemas.openxmlformats.org/officeDocument/2006/relationships/image" Target="../media/image161.jpe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162.png"/></Relationships>
</file>

<file path=ppt/slides/_rels/slide137.xml.rels><?xml version="1.0" encoding="UTF-8" standalone="yes"?>
<Relationships xmlns="http://schemas.openxmlformats.org/package/2006/relationships"><Relationship Id="rId3" Type="http://schemas.openxmlformats.org/officeDocument/2006/relationships/image" Target="../media/image163.wmf"/><Relationship Id="rId2" Type="http://schemas.openxmlformats.org/officeDocument/2006/relationships/oleObject" Target="../embeddings/oleObject11.bin"/><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161.jpeg"/></Relationships>
</file>

<file path=ppt/slides/_rels/slide138.xml.rels><?xml version="1.0" encoding="UTF-8" standalone="yes"?>
<Relationships xmlns="http://schemas.openxmlformats.org/package/2006/relationships"><Relationship Id="rId3" Type="http://schemas.openxmlformats.org/officeDocument/2006/relationships/image" Target="../media/image164.wmf"/><Relationship Id="rId2" Type="http://schemas.openxmlformats.org/officeDocument/2006/relationships/oleObject" Target="../embeddings/oleObject12.bin"/><Relationship Id="rId1"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image" Target="../media/image165.jpeg"/><Relationship Id="rId4" Type="http://schemas.openxmlformats.org/officeDocument/2006/relationships/image" Target="../media/image161.jpeg"/></Relationships>
</file>

<file path=ppt/slides/_rels/slide139.xml.rels><?xml version="1.0" encoding="UTF-8" standalone="yes"?>
<Relationships xmlns="http://schemas.openxmlformats.org/package/2006/relationships"><Relationship Id="rId3" Type="http://schemas.openxmlformats.org/officeDocument/2006/relationships/image" Target="../media/image166.wmf"/><Relationship Id="rId2" Type="http://schemas.openxmlformats.org/officeDocument/2006/relationships/oleObject" Target="../embeddings/oleObject13.bin"/><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167.jpeg"/></Relationships>
</file>

<file path=ppt/slides/_rels/slide14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68.jpe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69.wmf"/><Relationship Id="rId2" Type="http://schemas.openxmlformats.org/officeDocument/2006/relationships/oleObject" Target="../embeddings/oleObject14.bin"/><Relationship Id="rId1"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image" Target="../media/image150.png"/><Relationship Id="rId4" Type="http://schemas.openxmlformats.org/officeDocument/2006/relationships/image" Target="../media/image170.jpeg"/></Relationships>
</file>

<file path=ppt/slides/_rels/slide142.xml.rels><?xml version="1.0" encoding="UTF-8" standalone="yes"?>
<Relationships xmlns="http://schemas.openxmlformats.org/package/2006/relationships"><Relationship Id="rId3" Type="http://schemas.openxmlformats.org/officeDocument/2006/relationships/image" Target="../media/image172.jpeg"/><Relationship Id="rId2" Type="http://schemas.openxmlformats.org/officeDocument/2006/relationships/image" Target="../media/image171.jpe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4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73.jpe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8" Type="http://schemas.openxmlformats.org/officeDocument/2006/relationships/image" Target="../media/image180.jpeg"/><Relationship Id="rId3" Type="http://schemas.openxmlformats.org/officeDocument/2006/relationships/image" Target="../media/image175.png"/><Relationship Id="rId7" Type="http://schemas.openxmlformats.org/officeDocument/2006/relationships/image" Target="../media/image179.png"/><Relationship Id="rId2" Type="http://schemas.openxmlformats.org/officeDocument/2006/relationships/image" Target="../media/image174.png"/><Relationship Id="rId1" Type="http://schemas.openxmlformats.org/officeDocument/2006/relationships/slideLayout" Target="../slideLayouts/slideLayout2.xml"/><Relationship Id="rId6" Type="http://schemas.openxmlformats.org/officeDocument/2006/relationships/image" Target="../media/image178.jpeg"/><Relationship Id="rId11" Type="http://schemas.openxmlformats.org/officeDocument/2006/relationships/image" Target="../media/image2.jpeg"/><Relationship Id="rId5" Type="http://schemas.openxmlformats.org/officeDocument/2006/relationships/image" Target="../media/image177.png"/><Relationship Id="rId10" Type="http://schemas.openxmlformats.org/officeDocument/2006/relationships/image" Target="../media/image182.jpeg"/><Relationship Id="rId4" Type="http://schemas.openxmlformats.org/officeDocument/2006/relationships/image" Target="../media/image176.jpeg"/><Relationship Id="rId9" Type="http://schemas.openxmlformats.org/officeDocument/2006/relationships/image" Target="../media/image181.png"/></Relationships>
</file>

<file path=ppt/slides/_rels/slide14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83.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84.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86.png"/><Relationship Id="rId2" Type="http://schemas.openxmlformats.org/officeDocument/2006/relationships/image" Target="../media/image185.jpeg"/><Relationship Id="rId1"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image" Target="../media/image188.png"/><Relationship Id="rId4" Type="http://schemas.openxmlformats.org/officeDocument/2006/relationships/image" Target="../media/image187.jpeg"/></Relationships>
</file>

<file path=ppt/slides/_rels/slide1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89.jpe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hyperlink" Target="https://std.samr.gov.cn/gb/search/gbDetailed?id=71F772D815A3D3A7E05397BE0A0AB82A" TargetMode="External"/><Relationship Id="rId4" Type="http://schemas.openxmlformats.org/officeDocument/2006/relationships/image" Target="../media/image2.jpeg"/></Relationships>
</file>

<file path=ppt/slides/_rels/slide15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90.jpe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91.jpe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192.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image" Target="../media/image194.png"/><Relationship Id="rId4" Type="http://schemas.openxmlformats.org/officeDocument/2006/relationships/image" Target="../media/image193.png"/></Relationships>
</file>

<file path=ppt/slides/_rels/slide156.xml.rels><?xml version="1.0" encoding="UTF-8" standalone="yes"?>
<Relationships xmlns="http://schemas.openxmlformats.org/package/2006/relationships"><Relationship Id="rId3" Type="http://schemas.openxmlformats.org/officeDocument/2006/relationships/image" Target="../media/image196.jpeg"/><Relationship Id="rId2" Type="http://schemas.openxmlformats.org/officeDocument/2006/relationships/image" Target="../media/image195.jpe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5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97.png"/><Relationship Id="rId1" Type="http://schemas.openxmlformats.org/officeDocument/2006/relationships/slideLayout" Target="../slideLayouts/slideLayout2.xml"/><Relationship Id="rId4" Type="http://schemas.openxmlformats.org/officeDocument/2006/relationships/image" Target="../media/image198.png"/></Relationships>
</file>

<file path=ppt/slides/_rels/slide158.xml.rels><?xml version="1.0" encoding="UTF-8" standalone="yes"?>
<Relationships xmlns="http://schemas.openxmlformats.org/package/2006/relationships"><Relationship Id="rId3" Type="http://schemas.openxmlformats.org/officeDocument/2006/relationships/image" Target="../media/image200.jpeg"/><Relationship Id="rId2" Type="http://schemas.openxmlformats.org/officeDocument/2006/relationships/image" Target="../media/image199.pn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5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201.jpe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202.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204.jpeg"/><Relationship Id="rId2" Type="http://schemas.openxmlformats.org/officeDocument/2006/relationships/image" Target="../media/image203.jpe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6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203.jpe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203.jpe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205.jpe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206.jpeg"/><Relationship Id="rId1" Type="http://schemas.openxmlformats.org/officeDocument/2006/relationships/slideLayout" Target="../slideLayouts/slideLayout2.xml"/><Relationship Id="rId4" Type="http://schemas.openxmlformats.org/officeDocument/2006/relationships/image" Target="../media/image207.jpeg"/></Relationships>
</file>

<file path=ppt/slides/_rels/slide16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208.pn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209.jpe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6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3"/>
          <p:cNvSpPr>
            <a:spLocks noGrp="1"/>
          </p:cNvSpPr>
          <p:nvPr>
            <p:ph type="sldNum" sz="quarter" idx="4294967295"/>
          </p:nvPr>
        </p:nvSpPr>
        <p:spPr bwMode="auto">
          <a:xfrm>
            <a:off x="8316416" y="6529928"/>
            <a:ext cx="630734" cy="328072"/>
          </a:xfrm>
          <a:prstGeom prst="rect">
            <a:avLst/>
          </a:prstGeom>
          <a:noFill/>
          <a:ln w="9525">
            <a:noFill/>
            <a:miter lim="800000"/>
          </a:ln>
          <a:effectLst/>
        </p:spPr>
        <p:txBody>
          <a:bodyPr vert="horz" wrap="square" lIns="91440" tIns="45720" rIns="91440" bIns="45720" numCol="1" anchor="b" anchorCtr="0" compatLnSpc="1"/>
          <a:ls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9pPr>
          </a:lstStyle>
          <a:p>
            <a:pPr algn="r"/>
            <a:fld id="{9A0DB2DC-4C9A-4742-B13C-FB6460FD3503}" type="slidenum">
              <a:rPr lang="en-US" altLang="zh-CN" sz="1400" noProof="1" smtClean="0">
                <a:cs typeface="+mn-ea"/>
              </a:rPr>
              <a:t>1</a:t>
            </a:fld>
            <a:endParaRPr lang="en-US" altLang="zh-CN" sz="1400" dirty="0"/>
          </a:p>
        </p:txBody>
      </p:sp>
      <p:sp>
        <p:nvSpPr>
          <p:cNvPr id="4099" name="Rectangle 2"/>
          <p:cNvSpPr>
            <a:spLocks noGrp="1"/>
          </p:cNvSpPr>
          <p:nvPr>
            <p:ph type="title" idx="4294967295"/>
          </p:nvPr>
        </p:nvSpPr>
        <p:spPr>
          <a:xfrm>
            <a:off x="368475" y="116632"/>
            <a:ext cx="8699500" cy="6021070"/>
          </a:xfrm>
        </p:spPr>
        <p:txBody>
          <a:bodyPr wrap="square" lIns="91440" tIns="45720" rIns="91440" bIns="45720" anchor="b"/>
          <a:lstStyle/>
          <a:p>
            <a:pPr algn="ctr" eaLnBrk="1" hangingPunct="1"/>
            <a:r>
              <a:rPr lang="en-US" altLang="zh-CN" sz="6600" b="1" u="sng" dirty="0">
                <a:solidFill>
                  <a:srgbClr val="FF0000"/>
                </a:solidFill>
              </a:rPr>
              <a:t>U2041170</a:t>
            </a:r>
            <a:br>
              <a:rPr lang="en-US" altLang="zh-CN" b="1" u="sng" dirty="0">
                <a:solidFill>
                  <a:srgbClr val="FF0000"/>
                </a:solidFill>
              </a:rPr>
            </a:br>
            <a:br>
              <a:rPr lang="en-US" altLang="zh-CN" b="1" u="sng" dirty="0">
                <a:solidFill>
                  <a:srgbClr val="FF0000"/>
                </a:solidFill>
              </a:rPr>
            </a:br>
            <a:r>
              <a:rPr lang="en-US" altLang="zh-CN" sz="6000" b="1" u="sng" dirty="0">
                <a:solidFill>
                  <a:srgbClr val="FF0000"/>
                </a:solidFill>
              </a:rPr>
              <a:t>《</a:t>
            </a:r>
            <a:r>
              <a:rPr lang="zh-CN" altLang="en-US" sz="6000" b="1" u="sng" dirty="0">
                <a:solidFill>
                  <a:srgbClr val="FF0000"/>
                </a:solidFill>
              </a:rPr>
              <a:t>工程材料与成型技术</a:t>
            </a:r>
            <a:r>
              <a:rPr lang="en-US" altLang="zh-CN" sz="6000" b="1" u="sng" dirty="0">
                <a:solidFill>
                  <a:srgbClr val="FF0000"/>
                </a:solidFill>
              </a:rPr>
              <a:t>》</a:t>
            </a:r>
            <a:br>
              <a:rPr lang="en-US" altLang="zh-CN" u="sng" dirty="0">
                <a:solidFill>
                  <a:srgbClr val="FF0000"/>
                </a:solidFill>
              </a:rPr>
            </a:br>
            <a:r>
              <a:rPr lang="en-US" altLang="zh-CN" b="1" i="1" u="sng" dirty="0">
                <a:solidFill>
                  <a:srgbClr val="FF0000"/>
                </a:solidFill>
                <a:latin typeface="Times New Roman" panose="02020603050405020304" pitchFamily="18" charset="0"/>
                <a:cs typeface="Times New Roman" panose="02020603050405020304" pitchFamily="18" charset="0"/>
                <a:sym typeface="+mn-ea"/>
              </a:rPr>
              <a:t>Engineering </a:t>
            </a:r>
            <a:r>
              <a:rPr lang="en-US" altLang="zh-CN" b="1" i="1" u="sng" dirty="0">
                <a:solidFill>
                  <a:srgbClr val="FF0000"/>
                </a:solidFill>
                <a:latin typeface="Times New Roman" panose="02020603050405020304" pitchFamily="18" charset="0"/>
                <a:cs typeface="Times New Roman" panose="02020603050405020304" pitchFamily="18" charset="0"/>
              </a:rPr>
              <a:t>Materials and </a:t>
            </a:r>
            <a:r>
              <a:rPr lang="en-US" altLang="zh-CN" b="1" i="1" u="sng" dirty="0">
                <a:solidFill>
                  <a:srgbClr val="FF0000"/>
                </a:solidFill>
                <a:latin typeface="Times New Roman" panose="02020603050405020304" pitchFamily="18" charset="0"/>
                <a:cs typeface="Times New Roman" panose="02020603050405020304" pitchFamily="18" charset="0"/>
                <a:sym typeface="+mn-ea"/>
              </a:rPr>
              <a:t>Forming</a:t>
            </a:r>
            <a:r>
              <a:rPr lang="en-US" altLang="zh-CN" b="1" i="1" u="sng" dirty="0">
                <a:solidFill>
                  <a:srgbClr val="FF0000"/>
                </a:solidFill>
                <a:latin typeface="Times New Roman" panose="02020603050405020304" pitchFamily="18" charset="0"/>
                <a:cs typeface="Times New Roman" panose="02020603050405020304" pitchFamily="18" charset="0"/>
              </a:rPr>
              <a:t> Technology </a:t>
            </a:r>
            <a:br>
              <a:rPr lang="en-US" altLang="zh-CN" b="1" i="1" u="sng" dirty="0">
                <a:solidFill>
                  <a:schemeClr val="hlink"/>
                </a:solidFill>
                <a:latin typeface="Times New Roman" panose="02020603050405020304" pitchFamily="18" charset="0"/>
                <a:cs typeface="Times New Roman" panose="02020603050405020304" pitchFamily="18" charset="0"/>
              </a:rPr>
            </a:br>
            <a:br>
              <a:rPr lang="en-US" altLang="zh-CN" u="sng" dirty="0">
                <a:solidFill>
                  <a:schemeClr val="hlink"/>
                </a:solidFill>
              </a:rPr>
            </a:br>
            <a:r>
              <a:rPr lang="en-US" altLang="zh-CN" b="1" dirty="0">
                <a:solidFill>
                  <a:schemeClr val="hlink"/>
                </a:solidFill>
              </a:rPr>
              <a:t>44+4</a:t>
            </a:r>
            <a:r>
              <a:rPr lang="zh-CN" altLang="en-US" b="1" dirty="0">
                <a:solidFill>
                  <a:schemeClr val="hlink"/>
                </a:solidFill>
              </a:rPr>
              <a:t>学时，</a:t>
            </a:r>
            <a:r>
              <a:rPr lang="en-US" altLang="zh-CN" b="1" dirty="0">
                <a:solidFill>
                  <a:schemeClr val="hlink"/>
                </a:solidFill>
              </a:rPr>
              <a:t>3</a:t>
            </a:r>
            <a:r>
              <a:rPr lang="zh-CN" altLang="en-US" b="1" dirty="0">
                <a:solidFill>
                  <a:schemeClr val="hlink"/>
                </a:solidFill>
              </a:rPr>
              <a:t>学分</a:t>
            </a:r>
          </a:p>
        </p:txBody>
      </p:sp>
      <p:sp>
        <p:nvSpPr>
          <p:cNvPr id="3" name="日期占位符 1"/>
          <p:cNvSpPr>
            <a:spLocks noGrp="1"/>
          </p:cNvSpPr>
          <p:nvPr>
            <p:ph type="dt" sz="half" idx="10"/>
          </p:nvPr>
        </p:nvSpPr>
        <p:spPr>
          <a:xfrm>
            <a:off x="19685" y="6529929"/>
            <a:ext cx="1905000" cy="342900"/>
          </a:xfrm>
        </p:spPr>
        <p:txBody>
          <a:bodyPr wrap="square" lIns="91440" tIns="45720" rIns="91440" bIns="45720" anchor="b"/>
          <a:lst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stStyle>
          <a:p>
            <a:pPr lvl="0" indent="0"/>
            <a:fld id="{BB962C8B-B14F-4D97-AF65-F5344CB8AC3E}" type="datetime8">
              <a:rPr lang="en-US" altLang="zh-CN" sz="1400" dirty="0"/>
              <a:t>11/20/2025 5:38 PM</a:t>
            </a:fld>
            <a:endParaRPr lang="en-US" altLang="zh-CN" sz="1400" dirty="0"/>
          </a:p>
        </p:txBody>
      </p:sp>
      <p:pic>
        <p:nvPicPr>
          <p:cNvPr id="4"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264" t="15784" r="3206" b="19580"/>
          <a:stretch>
            <a:fillRect/>
          </a:stretch>
        </p:blipFill>
        <p:spPr bwMode="auto">
          <a:xfrm>
            <a:off x="0" y="0"/>
            <a:ext cx="2372995" cy="582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7569200" y="295910"/>
            <a:ext cx="3048000" cy="368300"/>
          </a:xfrm>
          <a:prstGeom prst="rect">
            <a:avLst/>
          </a:prstGeom>
          <a:noFill/>
        </p:spPr>
        <p:txBody>
          <a:bodyPr wrap="square" rtlCol="0">
            <a:spAutoFit/>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ctrTitle"/>
          </p:nvPr>
        </p:nvSpPr>
        <p:spPr>
          <a:xfrm>
            <a:off x="990600" y="1268760"/>
            <a:ext cx="7772400" cy="1869728"/>
          </a:xfrm>
        </p:spPr>
        <p:txBody>
          <a:bodyPr wrap="square" lIns="91440" tIns="45720" rIns="91440" bIns="45720" anchor="b"/>
          <a:lstStyle/>
          <a:p>
            <a:pPr algn="ctr" eaLnBrk="1" hangingPunct="1"/>
            <a:r>
              <a:rPr lang="zh-CN" altLang="en-US" sz="5400" b="1" dirty="0">
                <a:solidFill>
                  <a:srgbClr val="FF0000"/>
                </a:solidFill>
                <a:latin typeface="华文中宋" panose="02010600040101010101" pitchFamily="2" charset="-122"/>
                <a:ea typeface="华文中宋" panose="02010600040101010101" pitchFamily="2" charset="-122"/>
                <a:cs typeface="+mj-cs"/>
              </a:rPr>
              <a:t>第二章 </a:t>
            </a:r>
            <a:r>
              <a:rPr lang="zh-CN" altLang="zh-CN" sz="5400" b="1" dirty="0">
                <a:solidFill>
                  <a:srgbClr val="FF0000"/>
                </a:solidFill>
                <a:latin typeface="华文中宋" panose="02010600040101010101" pitchFamily="2" charset="-122"/>
                <a:ea typeface="华文中宋" panose="02010600040101010101" pitchFamily="2" charset="-122"/>
              </a:rPr>
              <a:t>金属材料的结构及二元合金相图</a:t>
            </a:r>
            <a:endParaRPr lang="zh-CN" altLang="en-US" sz="5400" b="1" dirty="0">
              <a:solidFill>
                <a:srgbClr val="FF0000"/>
              </a:solidFill>
              <a:latin typeface="华文中宋" panose="02010600040101010101" pitchFamily="2" charset="-122"/>
              <a:ea typeface="华文中宋" panose="02010600040101010101" pitchFamily="2" charset="-122"/>
            </a:endParaRPr>
          </a:p>
        </p:txBody>
      </p:sp>
      <p:sp>
        <p:nvSpPr>
          <p:cNvPr id="4099" name="Rectangle 3"/>
          <p:cNvSpPr>
            <a:spLocks noGrp="1"/>
          </p:cNvSpPr>
          <p:nvPr>
            <p:ph type="subTitle" idx="1"/>
          </p:nvPr>
        </p:nvSpPr>
        <p:spPr>
          <a:xfrm>
            <a:off x="611560" y="3429000"/>
            <a:ext cx="8280920" cy="2808312"/>
          </a:xfrm>
        </p:spPr>
        <p:txBody>
          <a:bodyPr wrap="square" lIns="91440" tIns="45720" rIns="91440" bIns="45720" anchor="t"/>
          <a:lstStyle/>
          <a:p>
            <a:pPr eaLnBrk="1" hangingPunct="1"/>
            <a:r>
              <a:rPr lang="en-US" altLang="zh-CN" sz="5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Structure of Metallic Materials and  Phase Diagram of Binary Alloy</a:t>
            </a:r>
          </a:p>
        </p:txBody>
      </p:sp>
      <p:sp>
        <p:nvSpPr>
          <p:cNvPr id="2" name="日期占位符 1"/>
          <p:cNvSpPr txBox="1"/>
          <p:nvPr/>
        </p:nvSpPr>
        <p:spPr>
          <a:xfrm>
            <a:off x="19685" y="6529929"/>
            <a:ext cx="1905000" cy="342900"/>
          </a:xfrm>
          <a:prstGeom prst="rect">
            <a:avLst/>
          </a:prstGeom>
        </p:spPr>
        <p:txBody>
          <a:bodyPr wrap="square" lIns="91440" tIns="45720" rIns="91440" bIns="45720" anchor="b"/>
          <a:lstStyle>
            <a:defPPr>
              <a:defRPr lang="zh-CN"/>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9pPr>
          </a:lstStyle>
          <a:p>
            <a:fld id="{BB962C8B-B14F-4D97-AF65-F5344CB8AC3E}" type="datetime8">
              <a:rPr lang="en-US" altLang="zh-CN" sz="1400" smtClean="0"/>
              <a:t>11/20/2025 5:38 PM</a:t>
            </a:fld>
            <a:endParaRPr lang="en-US" altLang="zh-CN" sz="1400" dirty="0"/>
          </a:p>
        </p:txBody>
      </p:sp>
      <p:sp>
        <p:nvSpPr>
          <p:cNvPr id="3" name="灯片编号占位符 3"/>
          <p:cNvSpPr txBox="1"/>
          <p:nvPr/>
        </p:nvSpPr>
        <p:spPr bwMode="auto">
          <a:xfrm>
            <a:off x="8316416" y="6529928"/>
            <a:ext cx="630734" cy="328072"/>
          </a:xfrm>
          <a:prstGeom prst="rect">
            <a:avLst/>
          </a:prstGeom>
          <a:noFill/>
          <a:ln w="9525">
            <a:noFill/>
            <a:miter lim="800000"/>
          </a:ln>
          <a:effectLst/>
        </p:spPr>
        <p:txBody>
          <a:bodyPr vert="horz" wrap="square" lIns="91440" tIns="45720" rIns="91440" bIns="45720" numCol="1" anchor="b" anchorCtr="0" compatLnSpc="1"/>
          <a:ls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9pPr>
          </a:lstStyle>
          <a:p>
            <a:pPr algn="r"/>
            <a:fld id="{9A0DB2DC-4C9A-4742-B13C-FB6460FD3503}" type="slidenum">
              <a:rPr lang="en-US" altLang="zh-CN" sz="1400" noProof="1" smtClean="0">
                <a:cs typeface="+mn-ea"/>
              </a:rPr>
              <a:t>2</a:t>
            </a:fld>
            <a:endParaRPr lang="en-US" altLang="zh-CN" sz="1400" dirty="0"/>
          </a:p>
        </p:txBody>
      </p:sp>
      <p:pic>
        <p:nvPicPr>
          <p:cNvPr id="4"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264" t="15784" r="3206" b="19580"/>
          <a:stretch>
            <a:fillRect/>
          </a:stretch>
        </p:blipFill>
        <p:spPr bwMode="auto">
          <a:xfrm>
            <a:off x="0" y="0"/>
            <a:ext cx="2372995" cy="582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p:cNvSpPr>
          <p:nvPr>
            <p:ph idx="1"/>
          </p:nvPr>
        </p:nvSpPr>
        <p:spPr>
          <a:xfrm>
            <a:off x="323850" y="1772920"/>
            <a:ext cx="8820150" cy="4469765"/>
          </a:xfrm>
        </p:spPr>
        <p:txBody>
          <a:bodyPr vert="horz" wrap="square" lIns="91440" tIns="45720" rIns="91440" bIns="45720" anchor="t"/>
          <a:lstStyle/>
          <a:p>
            <a:pPr eaLnBrk="1" hangingPunct="1">
              <a:lnSpc>
                <a:spcPct val="150000"/>
              </a:lnSpc>
            </a:pPr>
            <a:r>
              <a:rPr lang="zh-CN" altLang="en-US" sz="2400" b="1" dirty="0">
                <a:solidFill>
                  <a:srgbClr val="0000FF"/>
                </a:solidFill>
                <a:latin typeface="仿宋_GB2312"/>
                <a:ea typeface="仿宋_GB2312"/>
              </a:rPr>
              <a:t>了解</a:t>
            </a:r>
            <a:r>
              <a:rPr lang="zh-CN" altLang="en-US" sz="2400" b="1" dirty="0">
                <a:solidFill>
                  <a:srgbClr val="FF0000"/>
                </a:solidFill>
                <a:latin typeface="仿宋_GB2312"/>
                <a:ea typeface="仿宋_GB2312"/>
              </a:rPr>
              <a:t>结合键</a:t>
            </a:r>
            <a:r>
              <a:rPr lang="zh-CN" altLang="en-US" sz="2400" b="1" dirty="0">
                <a:latin typeface="仿宋_GB2312"/>
                <a:ea typeface="仿宋_GB2312"/>
              </a:rPr>
              <a:t>及其</a:t>
            </a:r>
            <a:r>
              <a:rPr lang="zh-CN" altLang="en-US" sz="2400" b="1" dirty="0">
                <a:solidFill>
                  <a:srgbClr val="FF0000"/>
                </a:solidFill>
                <a:latin typeface="仿宋_GB2312"/>
                <a:ea typeface="仿宋_GB2312"/>
              </a:rPr>
              <a:t>主要类型</a:t>
            </a:r>
          </a:p>
          <a:p>
            <a:pPr eaLnBrk="1" latinLnBrk="0" hangingPunct="1">
              <a:lnSpc>
                <a:spcPct val="140000"/>
              </a:lnSpc>
              <a:spcBef>
                <a:spcPts val="0"/>
              </a:spcBef>
            </a:pPr>
            <a:r>
              <a:rPr lang="zh-CN" altLang="en-US" sz="2400" b="1" dirty="0">
                <a:solidFill>
                  <a:srgbClr val="0000FF"/>
                </a:solidFill>
                <a:latin typeface="仿宋_GB2312"/>
                <a:ea typeface="仿宋_GB2312"/>
                <a:sym typeface="+mn-ea"/>
              </a:rPr>
              <a:t>了解</a:t>
            </a:r>
            <a:r>
              <a:rPr lang="zh-CN" altLang="en-US" sz="2400" b="1" dirty="0">
                <a:solidFill>
                  <a:srgbClr val="FF0000"/>
                </a:solidFill>
                <a:latin typeface="仿宋_GB2312"/>
                <a:ea typeface="仿宋_GB2312"/>
                <a:sym typeface="+mn-ea"/>
              </a:rPr>
              <a:t>晶体结构</a:t>
            </a:r>
            <a:r>
              <a:rPr lang="zh-CN" altLang="en-US" sz="2400" b="1" dirty="0">
                <a:latin typeface="仿宋_GB2312"/>
                <a:ea typeface="仿宋_GB2312"/>
                <a:sym typeface="+mn-ea"/>
              </a:rPr>
              <a:t>的</a:t>
            </a:r>
            <a:r>
              <a:rPr lang="zh-CN" altLang="en-US" sz="2400" b="1" dirty="0">
                <a:solidFill>
                  <a:srgbClr val="FF0000"/>
                </a:solidFill>
                <a:latin typeface="仿宋_GB2312"/>
                <a:ea typeface="仿宋_GB2312"/>
                <a:sym typeface="+mn-ea"/>
              </a:rPr>
              <a:t>基本概念</a:t>
            </a:r>
            <a:endParaRPr lang="en-US" altLang="zh-CN" sz="2400" b="1" dirty="0">
              <a:solidFill>
                <a:srgbClr val="FF0000"/>
              </a:solidFill>
              <a:latin typeface="仿宋_GB2312"/>
              <a:ea typeface="仿宋_GB2312"/>
            </a:endParaRPr>
          </a:p>
          <a:p>
            <a:pPr eaLnBrk="1" latinLnBrk="0" hangingPunct="1">
              <a:lnSpc>
                <a:spcPct val="140000"/>
              </a:lnSpc>
              <a:spcBef>
                <a:spcPts val="0"/>
              </a:spcBef>
            </a:pPr>
            <a:r>
              <a:rPr lang="zh-CN" altLang="en-US" sz="2400" b="1" dirty="0">
                <a:solidFill>
                  <a:srgbClr val="0000FF"/>
                </a:solidFill>
                <a:latin typeface="仿宋_GB2312"/>
                <a:ea typeface="仿宋_GB2312"/>
                <a:sym typeface="+mn-ea"/>
              </a:rPr>
              <a:t>了解</a:t>
            </a:r>
            <a:r>
              <a:rPr lang="zh-CN" altLang="en-US" sz="2400" b="1" dirty="0">
                <a:solidFill>
                  <a:srgbClr val="FF0000"/>
                </a:solidFill>
                <a:latin typeface="仿宋_GB2312"/>
                <a:ea typeface="仿宋_GB2312"/>
                <a:sym typeface="+mn-ea"/>
              </a:rPr>
              <a:t>三种常见</a:t>
            </a:r>
            <a:r>
              <a:rPr lang="zh-CN" altLang="en-US" sz="2400" b="1" dirty="0">
                <a:latin typeface="仿宋_GB2312"/>
                <a:ea typeface="仿宋_GB2312"/>
                <a:sym typeface="+mn-ea"/>
              </a:rPr>
              <a:t>的</a:t>
            </a:r>
            <a:r>
              <a:rPr lang="zh-CN" altLang="en-US" sz="2400" b="1" dirty="0">
                <a:solidFill>
                  <a:srgbClr val="FF0000"/>
                </a:solidFill>
                <a:latin typeface="仿宋_GB2312"/>
                <a:ea typeface="仿宋_GB2312"/>
                <a:sym typeface="+mn-ea"/>
              </a:rPr>
              <a:t>金属晶体结构</a:t>
            </a:r>
            <a:endParaRPr lang="en-US" altLang="zh-CN" sz="2400" b="1" dirty="0">
              <a:solidFill>
                <a:srgbClr val="FF0000"/>
              </a:solidFill>
              <a:latin typeface="仿宋_GB2312"/>
              <a:ea typeface="仿宋_GB2312"/>
            </a:endParaRPr>
          </a:p>
          <a:p>
            <a:pPr eaLnBrk="1" latinLnBrk="0" hangingPunct="1">
              <a:lnSpc>
                <a:spcPct val="140000"/>
              </a:lnSpc>
              <a:spcBef>
                <a:spcPts val="0"/>
              </a:spcBef>
            </a:pPr>
            <a:endParaRPr lang="zh-CN" altLang="en-US" b="1">
              <a:solidFill>
                <a:srgbClr val="0000FF"/>
              </a:solidFill>
              <a:latin typeface="仿宋_GB2312"/>
              <a:ea typeface="仿宋_GB2312"/>
              <a:sym typeface="+mn-ea"/>
            </a:endParaRPr>
          </a:p>
          <a:p>
            <a:pPr eaLnBrk="1" latinLnBrk="0" hangingPunct="1">
              <a:lnSpc>
                <a:spcPct val="140000"/>
              </a:lnSpc>
              <a:spcBef>
                <a:spcPts val="0"/>
              </a:spcBef>
            </a:pPr>
            <a:r>
              <a:rPr lang="zh-CN" altLang="en-US" b="1">
                <a:solidFill>
                  <a:srgbClr val="0000FF"/>
                </a:solidFill>
                <a:latin typeface="仿宋_GB2312"/>
                <a:ea typeface="仿宋_GB2312"/>
                <a:sym typeface="+mn-ea"/>
              </a:rPr>
              <a:t>初步掌握</a:t>
            </a:r>
            <a:r>
              <a:rPr lang="zh-CN" altLang="en-US" b="1">
                <a:solidFill>
                  <a:srgbClr val="FF0000"/>
                </a:solidFill>
                <a:latin typeface="仿宋_GB2312"/>
                <a:ea typeface="仿宋_GB2312"/>
                <a:sym typeface="+mn-ea"/>
              </a:rPr>
              <a:t>合金</a:t>
            </a:r>
            <a:r>
              <a:rPr lang="zh-CN" altLang="en-US" b="1" dirty="0">
                <a:solidFill>
                  <a:srgbClr val="FF0000"/>
                </a:solidFill>
                <a:latin typeface="仿宋_GB2312"/>
                <a:ea typeface="仿宋_GB2312"/>
                <a:sym typeface="+mn-ea"/>
              </a:rPr>
              <a:t>相图</a:t>
            </a:r>
            <a:r>
              <a:rPr lang="zh-CN" altLang="en-US" b="1" dirty="0">
                <a:latin typeface="仿宋_GB2312"/>
                <a:ea typeface="仿宋_GB2312"/>
                <a:sym typeface="+mn-ea"/>
              </a:rPr>
              <a:t>的</a:t>
            </a:r>
            <a:r>
              <a:rPr lang="zh-CN" altLang="en-US" b="1" dirty="0">
                <a:solidFill>
                  <a:srgbClr val="FF0000"/>
                </a:solidFill>
                <a:latin typeface="仿宋_GB2312"/>
                <a:ea typeface="仿宋_GB2312"/>
                <a:sym typeface="+mn-ea"/>
              </a:rPr>
              <a:t>基本概念、主要类型</a:t>
            </a:r>
            <a:r>
              <a:rPr lang="zh-CN" altLang="en-US" b="1" dirty="0">
                <a:latin typeface="仿宋_GB2312"/>
                <a:ea typeface="仿宋_GB2312"/>
                <a:sym typeface="+mn-ea"/>
              </a:rPr>
              <a:t>及</a:t>
            </a:r>
            <a:r>
              <a:rPr lang="zh-CN" altLang="en-US" b="1" dirty="0">
                <a:solidFill>
                  <a:srgbClr val="FF0000"/>
                </a:solidFill>
                <a:latin typeface="仿宋_GB2312"/>
                <a:ea typeface="仿宋_GB2312"/>
                <a:sym typeface="+mn-ea"/>
              </a:rPr>
              <a:t>基本分析方法</a:t>
            </a:r>
            <a:endParaRPr lang="en-US" altLang="zh-CN" b="1" dirty="0">
              <a:solidFill>
                <a:srgbClr val="FF0000"/>
              </a:solidFill>
              <a:latin typeface="仿宋_GB2312"/>
              <a:ea typeface="仿宋_GB2312"/>
            </a:endParaRPr>
          </a:p>
          <a:p>
            <a:pPr eaLnBrk="1" latinLnBrk="0" hangingPunct="1">
              <a:lnSpc>
                <a:spcPct val="140000"/>
              </a:lnSpc>
              <a:spcBef>
                <a:spcPts val="0"/>
              </a:spcBef>
            </a:pPr>
            <a:r>
              <a:rPr lang="zh-CN" altLang="en-US" b="1" dirty="0">
                <a:solidFill>
                  <a:srgbClr val="0000FF"/>
                </a:solidFill>
                <a:latin typeface="仿宋_GB2312"/>
                <a:ea typeface="仿宋_GB2312"/>
                <a:sym typeface="+mn-ea"/>
              </a:rPr>
              <a:t>初步掌握</a:t>
            </a:r>
            <a:r>
              <a:rPr lang="zh-CN" altLang="en-US" b="1" dirty="0">
                <a:solidFill>
                  <a:srgbClr val="FF0000"/>
                </a:solidFill>
                <a:latin typeface="仿宋_GB2312"/>
                <a:ea typeface="仿宋_GB2312"/>
                <a:sym typeface="+mn-ea"/>
              </a:rPr>
              <a:t>铁碳合金相图</a:t>
            </a:r>
            <a:r>
              <a:rPr lang="zh-CN" altLang="en-US" b="1" dirty="0">
                <a:latin typeface="仿宋_GB2312"/>
                <a:ea typeface="仿宋_GB2312"/>
                <a:sym typeface="+mn-ea"/>
              </a:rPr>
              <a:t>及其</a:t>
            </a:r>
            <a:r>
              <a:rPr lang="zh-CN" altLang="en-US" b="1" dirty="0">
                <a:solidFill>
                  <a:srgbClr val="FF0000"/>
                </a:solidFill>
                <a:latin typeface="仿宋_GB2312"/>
                <a:ea typeface="仿宋_GB2312"/>
                <a:sym typeface="+mn-ea"/>
              </a:rPr>
              <a:t>应用</a:t>
            </a:r>
            <a:endParaRPr lang="zh-CN" altLang="en-US" b="1" dirty="0">
              <a:solidFill>
                <a:srgbClr val="FF0000"/>
              </a:solidFill>
              <a:latin typeface="仿宋_GB2312"/>
              <a:ea typeface="仿宋_GB2312"/>
            </a:endParaRPr>
          </a:p>
          <a:p>
            <a:pPr eaLnBrk="1" hangingPunct="1">
              <a:lnSpc>
                <a:spcPct val="150000"/>
              </a:lnSpc>
            </a:pPr>
            <a:endParaRPr lang="en-US" altLang="zh-CN"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a:p>
            <a:pPr eaLnBrk="1" hangingPunct="1">
              <a:lnSpc>
                <a:spcPct val="150000"/>
              </a:lnSpc>
            </a:pPr>
            <a:endParaRPr lang="zh-CN" altLang="en-US" b="1" dirty="0">
              <a:solidFill>
                <a:srgbClr val="FF0000"/>
              </a:solidFill>
              <a:latin typeface="仿宋_GB2312"/>
              <a:ea typeface="仿宋_GB2312"/>
            </a:endParaRPr>
          </a:p>
        </p:txBody>
      </p:sp>
      <p:sp>
        <p:nvSpPr>
          <p:cNvPr id="17412" name="Rectangle 6"/>
          <p:cNvSpPr>
            <a:spLocks noGrp="1"/>
          </p:cNvSpPr>
          <p:nvPr>
            <p:ph type="title"/>
          </p:nvPr>
        </p:nvSpPr>
        <p:spPr>
          <a:xfrm>
            <a:off x="1187624" y="0"/>
            <a:ext cx="7519739" cy="1556792"/>
          </a:xfrm>
        </p:spPr>
        <p:txBody>
          <a:bodyPr vert="horz" wrap="square" lIns="91440" tIns="45720" rIns="91440" bIns="45720" anchor="b"/>
          <a:lstStyle/>
          <a:p>
            <a:pPr algn="ctr" eaLnBrk="1" hangingPunct="1"/>
            <a:r>
              <a:rPr lang="zh-CN" altLang="en-US" b="1" dirty="0">
                <a:solidFill>
                  <a:srgbClr val="FF0000"/>
                </a:solidFill>
                <a:latin typeface="华文中宋" panose="02010600040101010101" pitchFamily="2" charset="-122"/>
                <a:ea typeface="华文中宋" panose="02010600040101010101" pitchFamily="2" charset="-122"/>
              </a:rPr>
              <a:t>本章主要教学目标</a:t>
            </a:r>
            <a:br>
              <a:rPr lang="en-US" altLang="zh-CN" b="1" dirty="0">
                <a:solidFill>
                  <a:srgbClr val="FF0000"/>
                </a:solidFill>
                <a:latin typeface="华文中宋" panose="02010600040101010101" pitchFamily="2" charset="-122"/>
                <a:ea typeface="华文中宋" panose="02010600040101010101" pitchFamily="2" charset="-122"/>
              </a:rPr>
            </a:br>
            <a:r>
              <a:rPr lang="en-US" altLang="zh-CN" b="1" dirty="0">
                <a:solidFill>
                  <a:srgbClr val="FF0000"/>
                </a:solidFill>
                <a:latin typeface="华文中宋" panose="02010600040101010101" pitchFamily="2" charset="-122"/>
                <a:ea typeface="华文中宋" panose="02010600040101010101" pitchFamily="2" charset="-122"/>
              </a:rPr>
              <a:t>Learning Objectives</a:t>
            </a:r>
            <a:endParaRPr lang="zh-CN" altLang="en-US" b="1" dirty="0">
              <a:solidFill>
                <a:srgbClr val="FF0000"/>
              </a:solidFill>
              <a:latin typeface="华文中宋" panose="02010600040101010101" pitchFamily="2" charset="-122"/>
              <a:ea typeface="华文中宋" panose="02010600040101010101" pitchFamily="2" charset="-122"/>
            </a:endParaRPr>
          </a:p>
        </p:txBody>
      </p:sp>
      <p:pic>
        <p:nvPicPr>
          <p:cNvPr id="7" name="内容占位符 1" descr="新校徽（3M）弓之乐"/>
          <p:cNvPicPr>
            <a:picLocks noChangeAspect="1"/>
          </p:cNvPicPr>
          <p:nvPr/>
        </p:nvPicPr>
        <p:blipFill>
          <a:blip r:embed="rId2" cstate="print"/>
          <a:stretch>
            <a:fillRect/>
          </a:stretch>
        </p:blipFill>
        <p:spPr>
          <a:xfrm>
            <a:off x="19685" y="3175"/>
            <a:ext cx="746760" cy="735965"/>
          </a:xfrm>
          <a:prstGeom prst="rect">
            <a:avLst/>
          </a:prstGeom>
          <a:noFill/>
          <a:ln w="9525">
            <a:noFill/>
          </a:ln>
        </p:spPr>
      </p:pic>
      <p:sp>
        <p:nvSpPr>
          <p:cNvPr id="2" name="日期占位符 1"/>
          <p:cNvSpPr>
            <a:spLocks noGrp="1"/>
          </p:cNvSpPr>
          <p:nvPr>
            <p:ph type="dt" sz="half" idx="10"/>
          </p:nvPr>
        </p:nvSpPr>
        <p:spPr>
          <a:xfrm>
            <a:off x="19685" y="6529929"/>
            <a:ext cx="1905000" cy="342900"/>
          </a:xfrm>
        </p:spPr>
        <p:txBody>
          <a:bodyPr wrap="square" lIns="91440" tIns="45720" rIns="91440" bIns="45720" anchor="b"/>
          <a:lst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stStyle>
          <a:p>
            <a:pPr lvl="0" indent="0"/>
            <a:fld id="{BB962C8B-B14F-4D97-AF65-F5344CB8AC3E}" type="datetime8">
              <a:rPr lang="en-US" altLang="zh-CN" sz="1400" dirty="0"/>
              <a:t>11/20/2025 5:38 PM</a:t>
            </a:fld>
            <a:endParaRPr lang="en-US" altLang="zh-CN" sz="1400" dirty="0"/>
          </a:p>
        </p:txBody>
      </p:sp>
      <p:sp>
        <p:nvSpPr>
          <p:cNvPr id="3" name="灯片编号占位符 3"/>
          <p:cNvSpPr txBox="1"/>
          <p:nvPr/>
        </p:nvSpPr>
        <p:spPr bwMode="auto">
          <a:xfrm>
            <a:off x="8316416" y="6529928"/>
            <a:ext cx="630734" cy="328072"/>
          </a:xfrm>
          <a:prstGeom prst="rect">
            <a:avLst/>
          </a:prstGeom>
          <a:noFill/>
          <a:ln w="9525">
            <a:noFill/>
            <a:miter lim="800000"/>
          </a:ln>
          <a:effectLst/>
        </p:spPr>
        <p:txBody>
          <a:bodyPr vert="horz" wrap="square" lIns="91440" tIns="45720" rIns="91440" bIns="45720" numCol="1" anchor="b" anchorCtr="0" compatLnSpc="1"/>
          <a:ls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9pPr>
          </a:lstStyle>
          <a:p>
            <a:pPr algn="r"/>
            <a:fld id="{9A0DB2DC-4C9A-4742-B13C-FB6460FD3503}" type="slidenum">
              <a:rPr lang="en-US" altLang="zh-CN" sz="1400" noProof="1" smtClean="0">
                <a:cs typeface="+mn-ea"/>
              </a:rPr>
              <a:t>3</a:t>
            </a:fld>
            <a:endParaRPr lang="en-US" altLang="zh-CN" sz="1400" dirty="0"/>
          </a:p>
        </p:txBody>
      </p:sp>
      <p:pic>
        <p:nvPicPr>
          <p:cNvPr id="6" name="图片 5" descr="中国矿业大学-北京校标红字红标"/>
          <p:cNvPicPr>
            <a:picLocks noChangeAspect="1"/>
          </p:cNvPicPr>
          <p:nvPr/>
        </p:nvPicPr>
        <p:blipFill>
          <a:blip r:embed="rId3"/>
          <a:srcRect l="23173" r="-386"/>
          <a:stretch>
            <a:fillRect/>
          </a:stretch>
        </p:blipFill>
        <p:spPr>
          <a:xfrm>
            <a:off x="6722745" y="6364605"/>
            <a:ext cx="1953895" cy="5226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80898">
                                            <p:txEl>
                                              <p:pRg st="0" end="0"/>
                                            </p:txEl>
                                          </p:spTgt>
                                        </p:tgtEl>
                                        <p:attrNameLst>
                                          <p:attrName>style.visibility</p:attrName>
                                        </p:attrNameLst>
                                      </p:cBhvr>
                                      <p:to>
                                        <p:strVal val="visible"/>
                                      </p:to>
                                    </p:set>
                                    <p:animEffect transition="in" filter="wipe(left)">
                                      <p:cBhvr>
                                        <p:cTn id="7" dur="500"/>
                                        <p:tgtEl>
                                          <p:spTgt spid="808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1000"/>
                                  </p:stCondLst>
                                  <p:childTnLst>
                                    <p:set>
                                      <p:cBhvr>
                                        <p:cTn id="11" dur="1" fill="hold">
                                          <p:stCondLst>
                                            <p:cond delay="0"/>
                                          </p:stCondLst>
                                        </p:cTn>
                                        <p:tgtEl>
                                          <p:spTgt spid="80898">
                                            <p:txEl>
                                              <p:pRg st="1" end="1"/>
                                            </p:txEl>
                                          </p:spTgt>
                                        </p:tgtEl>
                                        <p:attrNameLst>
                                          <p:attrName>style.visibility</p:attrName>
                                        </p:attrNameLst>
                                      </p:cBhvr>
                                      <p:to>
                                        <p:strVal val="visible"/>
                                      </p:to>
                                    </p:set>
                                    <p:animEffect transition="in" filter="wipe(left)">
                                      <p:cBhvr>
                                        <p:cTn id="12" dur="500"/>
                                        <p:tgtEl>
                                          <p:spTgt spid="8089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1000"/>
                                  </p:stCondLst>
                                  <p:childTnLst>
                                    <p:set>
                                      <p:cBhvr>
                                        <p:cTn id="16" dur="1" fill="hold">
                                          <p:stCondLst>
                                            <p:cond delay="0"/>
                                          </p:stCondLst>
                                        </p:cTn>
                                        <p:tgtEl>
                                          <p:spTgt spid="80898">
                                            <p:txEl>
                                              <p:pRg st="2" end="2"/>
                                            </p:txEl>
                                          </p:spTgt>
                                        </p:tgtEl>
                                        <p:attrNameLst>
                                          <p:attrName>style.visibility</p:attrName>
                                        </p:attrNameLst>
                                      </p:cBhvr>
                                      <p:to>
                                        <p:strVal val="visible"/>
                                      </p:to>
                                    </p:set>
                                    <p:animEffect transition="in" filter="wipe(left)">
                                      <p:cBhvr>
                                        <p:cTn id="17" dur="500"/>
                                        <p:tgtEl>
                                          <p:spTgt spid="8089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1000"/>
                                  </p:stCondLst>
                                  <p:childTnLst>
                                    <p:set>
                                      <p:cBhvr>
                                        <p:cTn id="21" dur="1" fill="hold">
                                          <p:stCondLst>
                                            <p:cond delay="0"/>
                                          </p:stCondLst>
                                        </p:cTn>
                                        <p:tgtEl>
                                          <p:spTgt spid="80898">
                                            <p:txEl>
                                              <p:pRg st="4" end="4"/>
                                            </p:txEl>
                                          </p:spTgt>
                                        </p:tgtEl>
                                        <p:attrNameLst>
                                          <p:attrName>style.visibility</p:attrName>
                                        </p:attrNameLst>
                                      </p:cBhvr>
                                      <p:to>
                                        <p:strVal val="visible"/>
                                      </p:to>
                                    </p:set>
                                    <p:animEffect transition="in" filter="wipe(left)">
                                      <p:cBhvr>
                                        <p:cTn id="22" dur="500"/>
                                        <p:tgtEl>
                                          <p:spTgt spid="80898">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1000"/>
                                  </p:stCondLst>
                                  <p:childTnLst>
                                    <p:set>
                                      <p:cBhvr>
                                        <p:cTn id="26" dur="1" fill="hold">
                                          <p:stCondLst>
                                            <p:cond delay="0"/>
                                          </p:stCondLst>
                                        </p:cTn>
                                        <p:tgtEl>
                                          <p:spTgt spid="80898">
                                            <p:txEl>
                                              <p:pRg st="5" end="5"/>
                                            </p:txEl>
                                          </p:spTgt>
                                        </p:tgtEl>
                                        <p:attrNameLst>
                                          <p:attrName>style.visibility</p:attrName>
                                        </p:attrNameLst>
                                      </p:cBhvr>
                                      <p:to>
                                        <p:strVal val="visible"/>
                                      </p:to>
                                    </p:set>
                                    <p:animEffect transition="in" filter="wipe(left)">
                                      <p:cBhvr>
                                        <p:cTn id="27" dur="500"/>
                                        <p:tgtEl>
                                          <p:spTgt spid="8089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8" grpId="0" build="p" advAuto="100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p:cNvSpPr>
          <p:nvPr>
            <p:ph idx="1"/>
          </p:nvPr>
        </p:nvSpPr>
        <p:spPr>
          <a:xfrm>
            <a:off x="467544" y="2290441"/>
            <a:ext cx="8352928" cy="4248472"/>
          </a:xfrm>
        </p:spPr>
        <p:txBody>
          <a:bodyPr vert="horz" wrap="square" lIns="91440" tIns="45720" rIns="91440" bIns="45720" anchor="t"/>
          <a:lstStyle/>
          <a:p>
            <a:pPr eaLnBrk="1" hangingPunct="1">
              <a:lnSpc>
                <a:spcPct val="150000"/>
              </a:lnSpc>
            </a:pPr>
            <a:r>
              <a:rPr lang="zh-CN" altLang="zh-CN" b="1" dirty="0">
                <a:solidFill>
                  <a:srgbClr val="0000FF"/>
                </a:solidFill>
                <a:latin typeface="仿宋_GB2312"/>
                <a:ea typeface="仿宋_GB2312"/>
              </a:rPr>
              <a:t>金属材料的结构</a:t>
            </a:r>
            <a:endParaRPr lang="en-US" altLang="zh-CN" b="1" dirty="0">
              <a:solidFill>
                <a:srgbClr val="0000FF"/>
              </a:solidFill>
              <a:latin typeface="仿宋_GB2312"/>
              <a:ea typeface="仿宋_GB2312"/>
            </a:endParaRPr>
          </a:p>
          <a:p>
            <a:pPr eaLnBrk="1" hangingPunct="1">
              <a:lnSpc>
                <a:spcPct val="150000"/>
              </a:lnSpc>
            </a:pPr>
            <a:r>
              <a:rPr lang="zh-CN" altLang="zh-CN" b="1" dirty="0">
                <a:solidFill>
                  <a:srgbClr val="0000FF"/>
                </a:solidFill>
                <a:latin typeface="仿宋_GB2312"/>
                <a:ea typeface="仿宋_GB2312"/>
              </a:rPr>
              <a:t>二元合金相图</a:t>
            </a:r>
            <a:endParaRPr lang="zh-CN" altLang="en-US" b="1" dirty="0">
              <a:solidFill>
                <a:srgbClr val="0000FF"/>
              </a:solidFill>
              <a:latin typeface="仿宋_GB2312"/>
              <a:ea typeface="仿宋_GB2312"/>
            </a:endParaRPr>
          </a:p>
        </p:txBody>
      </p:sp>
      <p:sp>
        <p:nvSpPr>
          <p:cNvPr id="17412" name="Rectangle 6"/>
          <p:cNvSpPr>
            <a:spLocks noGrp="1"/>
          </p:cNvSpPr>
          <p:nvPr>
            <p:ph type="title"/>
          </p:nvPr>
        </p:nvSpPr>
        <p:spPr>
          <a:xfrm>
            <a:off x="1228725" y="31804"/>
            <a:ext cx="7375723" cy="950595"/>
          </a:xfrm>
        </p:spPr>
        <p:txBody>
          <a:bodyPr vert="horz" wrap="square" lIns="91440" tIns="45720" rIns="91440" bIns="45720" anchor="b"/>
          <a:lstStyle/>
          <a:p>
            <a:pPr algn="ctr" eaLnBrk="1" hangingPunct="1"/>
            <a:r>
              <a:rPr lang="zh-CN" altLang="en-US" b="1" dirty="0">
                <a:solidFill>
                  <a:srgbClr val="FF0000"/>
                </a:solidFill>
                <a:latin typeface="华文中宋" panose="02010600040101010101" pitchFamily="2" charset="-122"/>
                <a:ea typeface="华文中宋" panose="02010600040101010101" pitchFamily="2" charset="-122"/>
              </a:rPr>
              <a:t>本章主要教学内容</a:t>
            </a:r>
          </a:p>
        </p:txBody>
      </p:sp>
      <p:sp>
        <p:nvSpPr>
          <p:cNvPr id="17414" name="日期占位符 1"/>
          <p:cNvSpPr txBox="1">
            <a:spLocks noGrp="1"/>
          </p:cNvSpPr>
          <p:nvPr>
            <p:ph type="dt" sz="half" idx="4294967295"/>
          </p:nvPr>
        </p:nvSpPr>
        <p:spPr>
          <a:xfrm>
            <a:off x="139700" y="6515100"/>
            <a:ext cx="1984028" cy="342900"/>
          </a:xfrm>
          <a:prstGeom prst="rect">
            <a:avLst/>
          </a:prstGeom>
        </p:spPr>
        <p:txBody>
          <a:bodyPr anchor="b"/>
          <a:lstStyle/>
          <a:p>
            <a:pPr marL="0" indent="0" eaLnBrk="1" hangingPunct="1">
              <a:spcBef>
                <a:spcPct val="0"/>
              </a:spcBef>
              <a:buClrTx/>
              <a:buSzPct val="100000"/>
              <a:buFont typeface="Arial" panose="020B0604020202020204" pitchFamily="34" charset="0"/>
              <a:buNone/>
            </a:pPr>
            <a:fld id="{BB962C8B-B14F-4D97-AF65-F5344CB8AC3E}" type="datetime8">
              <a:rPr lang="en-US" altLang="zh-CN" sz="1400" dirty="0">
                <a:latin typeface="+mn-lt"/>
                <a:ea typeface="+mn-ea"/>
                <a:cs typeface="+mn-cs"/>
              </a:rPr>
              <a:t>11/20/2025 5:38 PM</a:t>
            </a:fld>
            <a:endParaRPr lang="en-US" altLang="zh-CN" sz="1400" dirty="0">
              <a:latin typeface="+mn-lt"/>
              <a:ea typeface="+mn-ea"/>
              <a:cs typeface="+mn-cs"/>
            </a:endParaRPr>
          </a:p>
        </p:txBody>
      </p:sp>
      <p:pic>
        <p:nvPicPr>
          <p:cNvPr id="7" name="内容占位符 1" descr="新校徽（3M）弓之乐"/>
          <p:cNvPicPr>
            <a:picLocks noChangeAspect="1"/>
          </p:cNvPicPr>
          <p:nvPr/>
        </p:nvPicPr>
        <p:blipFill>
          <a:blip r:embed="rId2" cstate="print"/>
          <a:stretch>
            <a:fillRect/>
          </a:stretch>
        </p:blipFill>
        <p:spPr>
          <a:xfrm>
            <a:off x="19685" y="3175"/>
            <a:ext cx="746760" cy="735965"/>
          </a:xfrm>
          <a:prstGeom prst="rect">
            <a:avLst/>
          </a:prstGeom>
          <a:noFill/>
          <a:ln w="9525">
            <a:noFill/>
          </a:ln>
        </p:spPr>
      </p:pic>
      <p:sp>
        <p:nvSpPr>
          <p:cNvPr id="2" name="灯片编号占位符 3"/>
          <p:cNvSpPr txBox="1"/>
          <p:nvPr/>
        </p:nvSpPr>
        <p:spPr bwMode="auto">
          <a:xfrm>
            <a:off x="8316416" y="6529928"/>
            <a:ext cx="630734" cy="328072"/>
          </a:xfrm>
          <a:prstGeom prst="rect">
            <a:avLst/>
          </a:prstGeom>
          <a:noFill/>
          <a:ln w="9525">
            <a:noFill/>
            <a:miter lim="800000"/>
          </a:ln>
          <a:effectLst/>
        </p:spPr>
        <p:txBody>
          <a:bodyPr vert="horz" wrap="square" lIns="91440" tIns="45720" rIns="91440" bIns="45720" numCol="1" anchor="b" anchorCtr="0" compatLnSpc="1"/>
          <a:ls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9pPr>
          </a:lstStyle>
          <a:p>
            <a:pPr algn="r"/>
            <a:fld id="{9A0DB2DC-4C9A-4742-B13C-FB6460FD3503}" type="slidenum">
              <a:rPr lang="en-US" altLang="zh-CN" sz="1400" noProof="1" smtClean="0">
                <a:cs typeface="+mn-ea"/>
              </a:rPr>
              <a:t>4</a:t>
            </a:fld>
            <a:endParaRPr lang="en-US" altLang="zh-CN" sz="1400" dirty="0"/>
          </a:p>
        </p:txBody>
      </p:sp>
      <p:pic>
        <p:nvPicPr>
          <p:cNvPr id="3" name="图片 2" descr="中国矿业大学-北京校标红字红标"/>
          <p:cNvPicPr>
            <a:picLocks noChangeAspect="1"/>
          </p:cNvPicPr>
          <p:nvPr/>
        </p:nvPicPr>
        <p:blipFill>
          <a:blip r:embed="rId3"/>
          <a:srcRect l="23173" r="-386"/>
          <a:stretch>
            <a:fillRect/>
          </a:stretch>
        </p:blipFill>
        <p:spPr>
          <a:xfrm>
            <a:off x="6722745" y="6364605"/>
            <a:ext cx="1953895" cy="5226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2000"/>
                                  </p:stCondLst>
                                  <p:childTnLst>
                                    <p:set>
                                      <p:cBhvr>
                                        <p:cTn id="6" dur="1" fill="hold">
                                          <p:stCondLst>
                                            <p:cond delay="0"/>
                                          </p:stCondLst>
                                        </p:cTn>
                                        <p:tgtEl>
                                          <p:spTgt spid="80898">
                                            <p:txEl>
                                              <p:pRg st="0" end="0"/>
                                            </p:txEl>
                                          </p:spTgt>
                                        </p:tgtEl>
                                        <p:attrNameLst>
                                          <p:attrName>style.visibility</p:attrName>
                                        </p:attrNameLst>
                                      </p:cBhvr>
                                      <p:to>
                                        <p:strVal val="visible"/>
                                      </p:to>
                                    </p:set>
                                    <p:anim calcmode="lin" valueType="num">
                                      <p:cBhvr additive="base">
                                        <p:cTn id="7" dur="500" fill="hold"/>
                                        <p:tgtEl>
                                          <p:spTgt spid="808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089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0898">
                                            <p:txEl>
                                              <p:pRg st="1" end="1"/>
                                            </p:txEl>
                                          </p:spTgt>
                                        </p:tgtEl>
                                        <p:attrNameLst>
                                          <p:attrName>style.visibility</p:attrName>
                                        </p:attrNameLst>
                                      </p:cBhvr>
                                      <p:to>
                                        <p:strVal val="visible"/>
                                      </p:to>
                                    </p:set>
                                    <p:anim calcmode="lin" valueType="num">
                                      <p:cBhvr additive="base">
                                        <p:cTn id="11" dur="500" fill="hold"/>
                                        <p:tgtEl>
                                          <p:spTgt spid="8089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0898">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8" grpId="0" build="p" advAuto="100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763688" y="1676400"/>
            <a:ext cx="6999312" cy="1462088"/>
          </a:xfrm>
        </p:spPr>
        <p:txBody>
          <a:bodyPr/>
          <a:lstStyle/>
          <a:p>
            <a:r>
              <a:rPr lang="zh-CN" altLang="zh-CN" sz="6000" b="1" dirty="0">
                <a:solidFill>
                  <a:srgbClr val="FF0000"/>
                </a:solidFill>
                <a:latin typeface="华文中宋" panose="02010600040101010101" pitchFamily="2" charset="-122"/>
                <a:ea typeface="华文中宋" panose="02010600040101010101" pitchFamily="2" charset="-122"/>
                <a:sym typeface="+mn-ea"/>
              </a:rPr>
              <a:t>二元合金相图</a:t>
            </a:r>
            <a:endParaRPr lang="zh-CN" altLang="en-US" sz="6000" dirty="0"/>
          </a:p>
        </p:txBody>
      </p:sp>
      <p:sp>
        <p:nvSpPr>
          <p:cNvPr id="5" name="日期占位符 1"/>
          <p:cNvSpPr txBox="1"/>
          <p:nvPr/>
        </p:nvSpPr>
        <p:spPr>
          <a:xfrm>
            <a:off x="19685" y="6529929"/>
            <a:ext cx="1905000" cy="342900"/>
          </a:xfrm>
          <a:prstGeom prst="rect">
            <a:avLst/>
          </a:prstGeom>
        </p:spPr>
        <p:txBody>
          <a:bodyPr wrap="square" lIns="91440" tIns="45720" rIns="91440" bIns="45720" anchor="b"/>
          <a:lstStyle>
            <a:defPPr>
              <a:defRPr lang="zh-CN"/>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9pPr>
          </a:lstStyle>
          <a:p>
            <a:fld id="{BB962C8B-B14F-4D97-AF65-F5344CB8AC3E}" type="datetime8">
              <a:rPr lang="en-US" altLang="zh-CN" sz="1400" smtClean="0"/>
              <a:t>11/20/2025 5:38 PM</a:t>
            </a:fld>
            <a:endParaRPr lang="en-US" altLang="zh-CN" sz="1400" dirty="0"/>
          </a:p>
        </p:txBody>
      </p:sp>
      <p:sp>
        <p:nvSpPr>
          <p:cNvPr id="6" name="灯片编号占位符 3"/>
          <p:cNvSpPr txBox="1"/>
          <p:nvPr/>
        </p:nvSpPr>
        <p:spPr bwMode="auto">
          <a:xfrm>
            <a:off x="8316416" y="6529928"/>
            <a:ext cx="630734" cy="328072"/>
          </a:xfrm>
          <a:prstGeom prst="rect">
            <a:avLst/>
          </a:prstGeom>
          <a:noFill/>
          <a:ln w="9525">
            <a:noFill/>
            <a:miter lim="800000"/>
          </a:ln>
          <a:effectLst/>
        </p:spPr>
        <p:txBody>
          <a:bodyPr vert="horz" wrap="square" lIns="91440" tIns="45720" rIns="91440" bIns="45720" numCol="1" anchor="b" anchorCtr="0" compatLnSpc="1"/>
          <a:ls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9pPr>
          </a:lstStyle>
          <a:p>
            <a:pPr algn="r"/>
            <a:fld id="{9A0DB2DC-4C9A-4742-B13C-FB6460FD3503}" type="slidenum">
              <a:rPr lang="en-US" altLang="zh-CN" sz="1400" noProof="1" smtClean="0">
                <a:cs typeface="+mn-ea"/>
              </a:rPr>
              <a:t>5</a:t>
            </a:fld>
            <a:endParaRPr lang="en-US" altLang="zh-CN" sz="1400" dirty="0"/>
          </a:p>
        </p:txBody>
      </p:sp>
      <p:sp>
        <p:nvSpPr>
          <p:cNvPr id="3" name="文本框 2"/>
          <p:cNvSpPr txBox="1"/>
          <p:nvPr/>
        </p:nvSpPr>
        <p:spPr>
          <a:xfrm>
            <a:off x="354330" y="3429000"/>
            <a:ext cx="8033385" cy="922020"/>
          </a:xfrm>
          <a:prstGeom prst="rect">
            <a:avLst/>
          </a:prstGeom>
        </p:spPr>
        <p:txBody>
          <a:bodyPr wrap="square">
            <a:spAutoFit/>
          </a:bodyPr>
          <a:lstStyle/>
          <a:p>
            <a:pPr marL="0" indent="0" algn="ctr"/>
            <a:r>
              <a:rPr lang="en-GB" altLang="zh-CN" sz="5400" b="1" i="1" kern="0" dirty="0">
                <a:solidFill>
                  <a:srgbClr val="FF0000"/>
                </a:solidFill>
                <a:latin typeface="Times New Roman" panose="02020603050405020304" pitchFamily="18" charset="0"/>
                <a:ea typeface="+mj-ea"/>
                <a:cs typeface="Times New Roman" panose="02020603050405020304" pitchFamily="18" charset="0"/>
              </a:rPr>
              <a:t>Binary </a:t>
            </a:r>
            <a:r>
              <a:rPr lang="en-US" altLang="en-GB" sz="5400" b="1" i="1" kern="0" dirty="0">
                <a:solidFill>
                  <a:srgbClr val="FF0000"/>
                </a:solidFill>
                <a:latin typeface="Times New Roman" panose="02020603050405020304" pitchFamily="18" charset="0"/>
                <a:ea typeface="+mj-ea"/>
                <a:cs typeface="Times New Roman" panose="02020603050405020304" pitchFamily="18" charset="0"/>
              </a:rPr>
              <a:t>alloy</a:t>
            </a:r>
            <a:r>
              <a:rPr lang="en-GB" altLang="zh-CN" sz="5400" b="1" i="1" kern="0" dirty="0">
                <a:solidFill>
                  <a:srgbClr val="FF0000"/>
                </a:solidFill>
                <a:latin typeface="Times New Roman" panose="02020603050405020304" pitchFamily="18" charset="0"/>
                <a:ea typeface="+mj-ea"/>
                <a:cs typeface="Times New Roman" panose="02020603050405020304" pitchFamily="18" charset="0"/>
              </a:rPr>
              <a:t> phase diagram</a:t>
            </a:r>
          </a:p>
        </p:txBody>
      </p:sp>
      <p:pic>
        <p:nvPicPr>
          <p:cNvPr id="4"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264" t="15784" r="3206" b="19580"/>
          <a:stretch>
            <a:fillRect/>
          </a:stretch>
        </p:blipFill>
        <p:spPr bwMode="auto">
          <a:xfrm>
            <a:off x="0" y="0"/>
            <a:ext cx="2372995" cy="582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p:cNvSpPr>
          <p:nvPr>
            <p:ph idx="1"/>
          </p:nvPr>
        </p:nvSpPr>
        <p:spPr>
          <a:xfrm>
            <a:off x="611560" y="1988840"/>
            <a:ext cx="8424936" cy="4411960"/>
          </a:xfrm>
        </p:spPr>
        <p:txBody>
          <a:bodyPr wrap="square" lIns="91440" tIns="45720" rIns="91440" bIns="45720" anchor="t"/>
          <a:lstStyle/>
          <a:p>
            <a:pPr eaLnBrk="1" hangingPunct="1">
              <a:lnSpc>
                <a:spcPct val="170000"/>
              </a:lnSpc>
            </a:pPr>
            <a:r>
              <a:rPr lang="zh-CN" altLang="en-US" b="1" dirty="0">
                <a:solidFill>
                  <a:schemeClr val="tx2"/>
                </a:solidFill>
                <a:latin typeface="华文中宋" panose="02010600040101010101" pitchFamily="2" charset="-122"/>
                <a:ea typeface="华文中宋" panose="02010600040101010101" pitchFamily="2" charset="-122"/>
              </a:rPr>
              <a:t>第一节</a:t>
            </a:r>
            <a:r>
              <a:rPr lang="zh-CN" altLang="en-US" b="1" dirty="0">
                <a:latin typeface="华文中宋" panose="02010600040101010101" pitchFamily="2" charset="-122"/>
                <a:ea typeface="华文中宋" panose="02010600040101010101" pitchFamily="2" charset="-122"/>
              </a:rPr>
              <a:t>  </a:t>
            </a:r>
            <a:r>
              <a:rPr lang="zh-CN" altLang="en-US" b="1" dirty="0">
                <a:solidFill>
                  <a:schemeClr val="folHlink"/>
                </a:solidFill>
                <a:latin typeface="华文中宋" panose="02010600040101010101" pitchFamily="2" charset="-122"/>
                <a:ea typeface="华文中宋" panose="02010600040101010101" pitchFamily="2" charset="-122"/>
              </a:rPr>
              <a:t>纯金属的结晶</a:t>
            </a:r>
          </a:p>
          <a:p>
            <a:pPr eaLnBrk="1" hangingPunct="1">
              <a:lnSpc>
                <a:spcPct val="170000"/>
              </a:lnSpc>
            </a:pPr>
            <a:r>
              <a:rPr lang="zh-CN" altLang="en-US" b="1" dirty="0">
                <a:solidFill>
                  <a:schemeClr val="tx2"/>
                </a:solidFill>
                <a:latin typeface="华文中宋" panose="02010600040101010101" pitchFamily="2" charset="-122"/>
                <a:ea typeface="华文中宋" panose="02010600040101010101" pitchFamily="2" charset="-122"/>
                <a:hlinkClick r:id="rId2" action="ppaction://hlinksldjump"/>
              </a:rPr>
              <a:t>第二节</a:t>
            </a:r>
            <a:r>
              <a:rPr lang="zh-CN" altLang="en-US" b="1" dirty="0">
                <a:latin typeface="华文中宋" panose="02010600040101010101" pitchFamily="2" charset="-122"/>
                <a:ea typeface="华文中宋" panose="02010600040101010101" pitchFamily="2" charset="-122"/>
                <a:hlinkClick r:id="rId2" action="ppaction://hlinksldjump"/>
              </a:rPr>
              <a:t>  </a:t>
            </a:r>
            <a:r>
              <a:rPr lang="zh-CN" altLang="en-US" b="1" dirty="0">
                <a:solidFill>
                  <a:schemeClr val="folHlink"/>
                </a:solidFill>
                <a:latin typeface="华文中宋" panose="02010600040101010101" pitchFamily="2" charset="-122"/>
                <a:ea typeface="华文中宋" panose="02010600040101010101" pitchFamily="2" charset="-122"/>
              </a:rPr>
              <a:t>合金的结晶</a:t>
            </a:r>
          </a:p>
          <a:p>
            <a:pPr eaLnBrk="1" hangingPunct="1">
              <a:lnSpc>
                <a:spcPct val="170000"/>
              </a:lnSpc>
            </a:pPr>
            <a:r>
              <a:rPr lang="zh-CN" altLang="en-US" b="1" dirty="0">
                <a:solidFill>
                  <a:schemeClr val="tx2"/>
                </a:solidFill>
                <a:latin typeface="华文中宋" panose="02010600040101010101" pitchFamily="2" charset="-122"/>
                <a:ea typeface="华文中宋" panose="02010600040101010101" pitchFamily="2" charset="-122"/>
              </a:rPr>
              <a:t>第三节</a:t>
            </a:r>
            <a:r>
              <a:rPr lang="zh-CN" altLang="en-US" b="1" dirty="0">
                <a:latin typeface="华文中宋" panose="02010600040101010101" pitchFamily="2" charset="-122"/>
                <a:ea typeface="华文中宋" panose="02010600040101010101" pitchFamily="2" charset="-122"/>
              </a:rPr>
              <a:t>  </a:t>
            </a:r>
            <a:r>
              <a:rPr lang="zh-CN" altLang="en-US" b="1" dirty="0">
                <a:solidFill>
                  <a:schemeClr val="folHlink"/>
                </a:solidFill>
                <a:latin typeface="华文中宋" panose="02010600040101010101" pitchFamily="2" charset="-122"/>
                <a:ea typeface="华文中宋" panose="02010600040101010101" pitchFamily="2" charset="-122"/>
              </a:rPr>
              <a:t>铁碳合金相图</a:t>
            </a:r>
          </a:p>
          <a:p>
            <a:pPr eaLnBrk="1" hangingPunct="1">
              <a:lnSpc>
                <a:spcPct val="170000"/>
              </a:lnSpc>
            </a:pPr>
            <a:r>
              <a:rPr lang="zh-CN" altLang="en-US" b="1" dirty="0">
                <a:solidFill>
                  <a:schemeClr val="tx2"/>
                </a:solidFill>
                <a:latin typeface="华文中宋" panose="02010600040101010101" pitchFamily="2" charset="-122"/>
                <a:ea typeface="华文中宋" panose="02010600040101010101" pitchFamily="2" charset="-122"/>
              </a:rPr>
              <a:t>第四节  </a:t>
            </a:r>
            <a:r>
              <a:rPr lang="zh-CN" altLang="en-US" b="1" dirty="0">
                <a:solidFill>
                  <a:schemeClr val="folHlink"/>
                </a:solidFill>
                <a:latin typeface="华文中宋" panose="02010600040101010101" pitchFamily="2" charset="-122"/>
                <a:ea typeface="华文中宋" panose="02010600040101010101" pitchFamily="2" charset="-122"/>
              </a:rPr>
              <a:t>凝固组织及其控制</a:t>
            </a:r>
            <a:r>
              <a:rPr lang="zh-CN" altLang="en-US" b="1" dirty="0">
                <a:solidFill>
                  <a:schemeClr val="folHlink"/>
                </a:solidFill>
                <a:ea typeface="仿宋_GB2312" pitchFamily="49" charset="-122"/>
                <a:sym typeface="+mn-ea"/>
              </a:rPr>
              <a:t>。</a:t>
            </a:r>
          </a:p>
        </p:txBody>
      </p:sp>
      <p:sp>
        <p:nvSpPr>
          <p:cNvPr id="150531" name="Rectangle 3"/>
          <p:cNvSpPr>
            <a:spLocks noGrp="1"/>
          </p:cNvSpPr>
          <p:nvPr>
            <p:ph type="title"/>
          </p:nvPr>
        </p:nvSpPr>
        <p:spPr>
          <a:xfrm>
            <a:off x="1216025" y="214630"/>
            <a:ext cx="7741920" cy="1549400"/>
          </a:xfrm>
        </p:spPr>
        <p:txBody>
          <a:bodyPr wrap="square" lIns="92075" tIns="46038" rIns="92075" bIns="46038" anchor="ctr"/>
          <a:lstStyle/>
          <a:p>
            <a:pPr algn="ctr" eaLnBrk="1" hangingPunct="1"/>
            <a:r>
              <a:rPr lang="zh-CN" altLang="zh-CN" b="1" dirty="0">
                <a:solidFill>
                  <a:srgbClr val="FF0000"/>
                </a:solidFill>
                <a:latin typeface="华文中宋" panose="02010600040101010101" pitchFamily="2" charset="-122"/>
                <a:ea typeface="华文中宋" panose="02010600040101010101" pitchFamily="2" charset="-122"/>
              </a:rPr>
              <a:t>二元合金相图</a:t>
            </a:r>
            <a:br>
              <a:rPr lang="zh-CN" altLang="zh-CN" sz="5400" b="1" dirty="0">
                <a:solidFill>
                  <a:srgbClr val="FF0000"/>
                </a:solidFill>
                <a:latin typeface="华文中宋" panose="02010600040101010101" pitchFamily="2" charset="-122"/>
                <a:ea typeface="华文中宋" panose="02010600040101010101" pitchFamily="2" charset="-122"/>
              </a:rPr>
            </a:br>
            <a:r>
              <a:rPr lang="en-GB" altLang="zh-CN" b="1" i="1" dirty="0">
                <a:solidFill>
                  <a:srgbClr val="FF0000"/>
                </a:solidFill>
                <a:latin typeface="Times New Roman" panose="02020603050405020304" pitchFamily="18" charset="0"/>
                <a:cs typeface="Times New Roman" panose="02020603050405020304" pitchFamily="18" charset="0"/>
                <a:sym typeface="+mn-ea"/>
              </a:rPr>
              <a:t>Binary </a:t>
            </a:r>
            <a:r>
              <a:rPr lang="en-US" altLang="en-GB" b="1" i="1" dirty="0">
                <a:solidFill>
                  <a:srgbClr val="FF0000"/>
                </a:solidFill>
                <a:latin typeface="Times New Roman" panose="02020603050405020304" pitchFamily="18" charset="0"/>
                <a:cs typeface="Times New Roman" panose="02020603050405020304" pitchFamily="18" charset="0"/>
                <a:sym typeface="+mn-ea"/>
              </a:rPr>
              <a:t>alloy</a:t>
            </a:r>
            <a:r>
              <a:rPr lang="en-GB" altLang="zh-CN" b="1" i="1" dirty="0">
                <a:solidFill>
                  <a:srgbClr val="FF0000"/>
                </a:solidFill>
                <a:latin typeface="Times New Roman" panose="02020603050405020304" pitchFamily="18" charset="0"/>
                <a:cs typeface="Times New Roman" panose="02020603050405020304" pitchFamily="18" charset="0"/>
                <a:sym typeface="+mn-ea"/>
              </a:rPr>
              <a:t> phase diagram</a:t>
            </a:r>
            <a:endParaRPr lang="zh-CN" altLang="en-US" b="1" dirty="0">
              <a:solidFill>
                <a:srgbClr val="FF0000"/>
              </a:solidFill>
              <a:latin typeface="华文中宋" panose="02010600040101010101" pitchFamily="2" charset="-122"/>
              <a:ea typeface="华文中宋" panose="02010600040101010101" pitchFamily="2" charset="-122"/>
            </a:endParaRPr>
          </a:p>
        </p:txBody>
      </p:sp>
      <p:sp>
        <p:nvSpPr>
          <p:cNvPr id="5125" name="日期占位符 1"/>
          <p:cNvSpPr>
            <a:spLocks noGrp="1"/>
          </p:cNvSpPr>
          <p:nvPr>
            <p:ph type="dt" sz="half" idx="10"/>
          </p:nvPr>
        </p:nvSpPr>
        <p:spPr>
          <a:xfrm>
            <a:off x="0" y="6554788"/>
            <a:ext cx="1905000" cy="342900"/>
          </a:xfrm>
        </p:spPr>
        <p:txBody>
          <a:bodyPr wrap="square" lIns="91440" tIns="45720" rIns="91440" bIns="45720" anchor="b"/>
          <a:lst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stStyle>
          <a:p>
            <a:pPr lvl="0" indent="0"/>
            <a:fld id="{BB962C8B-B14F-4D97-AF65-F5344CB8AC3E}" type="datetime8">
              <a:rPr lang="en-US" altLang="zh-CN" sz="1400" dirty="0"/>
              <a:t>11/20/2025 5:38 PM</a:t>
            </a:fld>
            <a:endParaRPr lang="en-US" altLang="zh-CN" sz="1400" dirty="0"/>
          </a:p>
        </p:txBody>
      </p:sp>
      <p:pic>
        <p:nvPicPr>
          <p:cNvPr id="7" name="内容占位符 1" descr="新校徽（3M）弓之乐"/>
          <p:cNvPicPr>
            <a:picLocks noChangeAspect="1"/>
          </p:cNvPicPr>
          <p:nvPr/>
        </p:nvPicPr>
        <p:blipFill>
          <a:blip r:embed="rId3" cstate="print"/>
          <a:stretch>
            <a:fillRect/>
          </a:stretch>
        </p:blipFill>
        <p:spPr>
          <a:xfrm>
            <a:off x="19685" y="3175"/>
            <a:ext cx="746760" cy="735965"/>
          </a:xfrm>
          <a:prstGeom prst="rect">
            <a:avLst/>
          </a:prstGeom>
          <a:noFill/>
          <a:ln w="9525">
            <a:noFill/>
          </a:ln>
        </p:spPr>
      </p:pic>
      <p:sp>
        <p:nvSpPr>
          <p:cNvPr id="2" name="灯片编号占位符 3"/>
          <p:cNvSpPr txBox="1"/>
          <p:nvPr/>
        </p:nvSpPr>
        <p:spPr bwMode="auto">
          <a:xfrm>
            <a:off x="8316416" y="6529928"/>
            <a:ext cx="630734" cy="328072"/>
          </a:xfrm>
          <a:prstGeom prst="rect">
            <a:avLst/>
          </a:prstGeom>
          <a:noFill/>
          <a:ln w="9525">
            <a:noFill/>
            <a:miter lim="800000"/>
          </a:ln>
          <a:effectLst/>
        </p:spPr>
        <p:txBody>
          <a:bodyPr vert="horz" wrap="square" lIns="91440" tIns="45720" rIns="91440" bIns="45720" numCol="1" anchor="b" anchorCtr="0" compatLnSpc="1"/>
          <a:ls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9pPr>
          </a:lstStyle>
          <a:p>
            <a:pPr algn="r"/>
            <a:fld id="{9A0DB2DC-4C9A-4742-B13C-FB6460FD3503}" type="slidenum">
              <a:rPr lang="en-US" altLang="zh-CN" sz="1400" noProof="1" smtClean="0">
                <a:cs typeface="+mn-ea"/>
              </a:rPr>
              <a:t>6</a:t>
            </a:fld>
            <a:endParaRPr lang="en-US" altLang="zh-CN" sz="1400" dirty="0"/>
          </a:p>
        </p:txBody>
      </p:sp>
      <p:pic>
        <p:nvPicPr>
          <p:cNvPr id="3" name="图片 2" descr="中国矿业大学-北京校标红字红标"/>
          <p:cNvPicPr>
            <a:picLocks noChangeAspect="1"/>
          </p:cNvPicPr>
          <p:nvPr/>
        </p:nvPicPr>
        <p:blipFill>
          <a:blip r:embed="rId4"/>
          <a:srcRect l="23173" r="-386"/>
          <a:stretch>
            <a:fillRect/>
          </a:stretch>
        </p:blipFill>
        <p:spPr>
          <a:xfrm>
            <a:off x="6722745" y="6364605"/>
            <a:ext cx="1953895" cy="5226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0531"/>
                                        </p:tgtEl>
                                        <p:attrNameLst>
                                          <p:attrName>style.visibility</p:attrName>
                                        </p:attrNameLst>
                                      </p:cBhvr>
                                      <p:to>
                                        <p:strVal val="visible"/>
                                      </p:to>
                                    </p:set>
                                    <p:animEffect transition="in" filter="wipe(left)">
                                      <p:cBhvr>
                                        <p:cTn id="7" dur="500"/>
                                        <p:tgtEl>
                                          <p:spTgt spid="15053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50530">
                                            <p:txEl>
                                              <p:pRg st="0" end="0"/>
                                            </p:txEl>
                                          </p:spTgt>
                                        </p:tgtEl>
                                        <p:attrNameLst>
                                          <p:attrName>style.visibility</p:attrName>
                                        </p:attrNameLst>
                                      </p:cBhvr>
                                      <p:to>
                                        <p:strVal val="visible"/>
                                      </p:to>
                                    </p:set>
                                    <p:animEffect transition="in" filter="wipe(left)">
                                      <p:cBhvr>
                                        <p:cTn id="11" dur="500"/>
                                        <p:tgtEl>
                                          <p:spTgt spid="150530">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50530">
                                            <p:txEl>
                                              <p:pRg st="1" end="1"/>
                                            </p:txEl>
                                          </p:spTgt>
                                        </p:tgtEl>
                                        <p:attrNameLst>
                                          <p:attrName>style.visibility</p:attrName>
                                        </p:attrNameLst>
                                      </p:cBhvr>
                                      <p:to>
                                        <p:strVal val="visible"/>
                                      </p:to>
                                    </p:set>
                                    <p:animEffect transition="in" filter="wipe(left)">
                                      <p:cBhvr>
                                        <p:cTn id="15" dur="500"/>
                                        <p:tgtEl>
                                          <p:spTgt spid="150530">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50530">
                                            <p:txEl>
                                              <p:pRg st="2" end="2"/>
                                            </p:txEl>
                                          </p:spTgt>
                                        </p:tgtEl>
                                        <p:attrNameLst>
                                          <p:attrName>style.visibility</p:attrName>
                                        </p:attrNameLst>
                                      </p:cBhvr>
                                      <p:to>
                                        <p:strVal val="visible"/>
                                      </p:to>
                                    </p:set>
                                    <p:animEffect transition="in" filter="wipe(left)">
                                      <p:cBhvr>
                                        <p:cTn id="19" dur="500"/>
                                        <p:tgtEl>
                                          <p:spTgt spid="150530">
                                            <p:txEl>
                                              <p:pRg st="2" end="2"/>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50530">
                                            <p:txEl>
                                              <p:pRg st="3" end="3"/>
                                            </p:txEl>
                                          </p:spTgt>
                                        </p:tgtEl>
                                        <p:attrNameLst>
                                          <p:attrName>style.visibility</p:attrName>
                                        </p:attrNameLst>
                                      </p:cBhvr>
                                      <p:to>
                                        <p:strVal val="visible"/>
                                      </p:to>
                                    </p:set>
                                    <p:animEffect transition="in" filter="wipe(left)">
                                      <p:cBhvr>
                                        <p:cTn id="23" dur="500"/>
                                        <p:tgtEl>
                                          <p:spTgt spid="15053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0" grpId="0" build="p" advAuto="1000"/>
      <p:bldP spid="15053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267460" y="1676400"/>
            <a:ext cx="7495540" cy="1462405"/>
          </a:xfrm>
        </p:spPr>
        <p:txBody>
          <a:bodyPr/>
          <a:lstStyle/>
          <a:p>
            <a:r>
              <a:rPr lang="zh-CN" altLang="en-US" sz="6000" b="1" dirty="0">
                <a:solidFill>
                  <a:srgbClr val="FF0000"/>
                </a:solidFill>
                <a:latin typeface="华文中宋" panose="02010600040101010101" pitchFamily="2" charset="-122"/>
                <a:ea typeface="华文中宋" panose="02010600040101010101" pitchFamily="2" charset="-122"/>
                <a:sym typeface="+mn-ea"/>
              </a:rPr>
              <a:t>第一节 纯金属的结晶</a:t>
            </a:r>
            <a:endParaRPr lang="zh-CN" altLang="en-US" sz="6000" dirty="0"/>
          </a:p>
        </p:txBody>
      </p:sp>
      <p:sp>
        <p:nvSpPr>
          <p:cNvPr id="5" name="日期占位符 1"/>
          <p:cNvSpPr txBox="1"/>
          <p:nvPr/>
        </p:nvSpPr>
        <p:spPr>
          <a:xfrm>
            <a:off x="19685" y="6529929"/>
            <a:ext cx="1905000" cy="342900"/>
          </a:xfrm>
          <a:prstGeom prst="rect">
            <a:avLst/>
          </a:prstGeom>
        </p:spPr>
        <p:txBody>
          <a:bodyPr wrap="square" lIns="91440" tIns="45720" rIns="91440" bIns="45720" anchor="b"/>
          <a:lstStyle>
            <a:defPPr>
              <a:defRPr lang="zh-CN"/>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9pPr>
          </a:lstStyle>
          <a:p>
            <a:fld id="{BB962C8B-B14F-4D97-AF65-F5344CB8AC3E}" type="datetime8">
              <a:rPr lang="en-US" altLang="zh-CN" sz="1400" smtClean="0"/>
              <a:t>11/20/2025 5:38 PM</a:t>
            </a:fld>
            <a:endParaRPr lang="en-US" altLang="zh-CN" sz="1400" dirty="0"/>
          </a:p>
        </p:txBody>
      </p:sp>
      <p:sp>
        <p:nvSpPr>
          <p:cNvPr id="6" name="灯片编号占位符 3"/>
          <p:cNvSpPr txBox="1"/>
          <p:nvPr/>
        </p:nvSpPr>
        <p:spPr bwMode="auto">
          <a:xfrm>
            <a:off x="8316416" y="6529928"/>
            <a:ext cx="630734" cy="328072"/>
          </a:xfrm>
          <a:prstGeom prst="rect">
            <a:avLst/>
          </a:prstGeom>
          <a:noFill/>
          <a:ln w="9525">
            <a:noFill/>
            <a:miter lim="800000"/>
          </a:ln>
          <a:effectLst/>
        </p:spPr>
        <p:txBody>
          <a:bodyPr vert="horz" wrap="square" lIns="91440" tIns="45720" rIns="91440" bIns="45720" numCol="1" anchor="b" anchorCtr="0" compatLnSpc="1"/>
          <a:ls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9pPr>
          </a:lstStyle>
          <a:p>
            <a:pPr algn="r"/>
            <a:fld id="{9A0DB2DC-4C9A-4742-B13C-FB6460FD3503}" type="slidenum">
              <a:rPr lang="en-US" altLang="zh-CN" sz="1400" noProof="1" smtClean="0">
                <a:cs typeface="+mn-ea"/>
              </a:rPr>
              <a:t>7</a:t>
            </a:fld>
            <a:endParaRPr lang="en-US" altLang="zh-CN" sz="1400" dirty="0"/>
          </a:p>
        </p:txBody>
      </p:sp>
      <p:sp>
        <p:nvSpPr>
          <p:cNvPr id="3" name="文本框 2"/>
          <p:cNvSpPr txBox="1"/>
          <p:nvPr/>
        </p:nvSpPr>
        <p:spPr>
          <a:xfrm>
            <a:off x="434975" y="3429000"/>
            <a:ext cx="8328025" cy="922020"/>
          </a:xfrm>
          <a:prstGeom prst="rect">
            <a:avLst/>
          </a:prstGeom>
        </p:spPr>
        <p:txBody>
          <a:bodyPr wrap="square">
            <a:spAutoFit/>
          </a:bodyPr>
          <a:lstStyle/>
          <a:p>
            <a:pPr marL="0" indent="0" algn="ctr"/>
            <a:r>
              <a:rPr lang="en-GB" altLang="zh-CN" sz="5400" b="1" i="1" dirty="0">
                <a:solidFill>
                  <a:srgbClr val="FF0000"/>
                </a:solidFill>
                <a:latin typeface="Times New Roman" panose="02020603050405020304" pitchFamily="18" charset="0"/>
                <a:cs typeface="Times New Roman" panose="02020603050405020304" pitchFamily="18" charset="0"/>
                <a:sym typeface="+mn-ea"/>
              </a:rPr>
              <a:t>Crystallization of pure metal</a:t>
            </a:r>
            <a:endParaRPr lang="en-GB" altLang="zh-CN" sz="5400" b="1" i="1" kern="0" dirty="0">
              <a:solidFill>
                <a:srgbClr val="FF0000"/>
              </a:solidFill>
              <a:latin typeface="Times New Roman" panose="02020603050405020304" pitchFamily="18" charset="0"/>
              <a:ea typeface="+mj-ea"/>
              <a:cs typeface="Times New Roman" panose="02020603050405020304" pitchFamily="18" charset="0"/>
            </a:endParaRPr>
          </a:p>
        </p:txBody>
      </p:sp>
      <p:pic>
        <p:nvPicPr>
          <p:cNvPr id="4"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264" t="15784" r="3206" b="19580"/>
          <a:stretch>
            <a:fillRect/>
          </a:stretch>
        </p:blipFill>
        <p:spPr bwMode="auto">
          <a:xfrm>
            <a:off x="0" y="0"/>
            <a:ext cx="2372995" cy="582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日期占位符 3"/>
          <p:cNvSpPr txBox="1">
            <a:spLocks noGrp="1"/>
          </p:cNvSpPr>
          <p:nvPr>
            <p:ph type="dt" sz="half" idx="10"/>
          </p:nvPr>
        </p:nvSpPr>
        <p:spPr>
          <a:xfrm>
            <a:off x="0" y="6506210"/>
            <a:ext cx="2282825" cy="34734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21507" name="灯片编号占位符 5"/>
          <p:cNvSpPr txBox="1">
            <a:spLocks noGrp="1"/>
          </p:cNvSpPr>
          <p:nvPr>
            <p:ph type="sldNum" sz="quarter" idx="12"/>
          </p:nvPr>
        </p:nvSpPr>
        <p:spPr>
          <a:xfrm>
            <a:off x="8729980" y="6553200"/>
            <a:ext cx="403225" cy="276225"/>
          </a:xfrm>
        </p:spPr>
        <p:txBody>
          <a:bodyPr lIns="92075" tIns="46038" rIns="92075" bIns="46038" anchor="ctr"/>
          <a:lstStyle/>
          <a:p>
            <a:pPr algn="r" eaLnBrk="1" hangingPunct="1"/>
            <a:fld id="{9A0DB2DC-4C9A-4742-B13C-FB6460FD3503}" type="slidenum">
              <a:rPr lang="en-US" altLang="zh-CN" sz="1400" dirty="0"/>
              <a:t>8</a:t>
            </a:fld>
            <a:endParaRPr lang="en-US" altLang="zh-CN" sz="1400" dirty="0"/>
          </a:p>
        </p:txBody>
      </p:sp>
      <p:sp>
        <p:nvSpPr>
          <p:cNvPr id="217090" name="Rectangle 2"/>
          <p:cNvSpPr>
            <a:spLocks noGrp="1" noChangeArrowheads="1"/>
          </p:cNvSpPr>
          <p:nvPr>
            <p:ph type="title"/>
          </p:nvPr>
        </p:nvSpPr>
        <p:spPr>
          <a:xfrm>
            <a:off x="642620" y="214630"/>
            <a:ext cx="8490585"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b="1" i="0" u="none" strike="noStrike" kern="0" cap="none" spc="0" normalizeH="0" baseline="0" noProof="0" dirty="0">
              <a:ln>
                <a:noFill/>
              </a:ln>
              <a:solidFill>
                <a:schemeClr val="tx2"/>
              </a:solidFill>
              <a:effectLst>
                <a:outerShdw blurRad="38100" dist="38100" dir="2700000" algn="tl">
                  <a:srgbClr val="000000"/>
                </a:outerShdw>
              </a:effectLst>
              <a:uLnTx/>
              <a:uFillTx/>
              <a:latin typeface="华文中宋" panose="02010600040101010101" pitchFamily="2" charset="-122"/>
              <a:ea typeface="华文中宋" panose="02010600040101010101" pitchFamily="2" charset="-122"/>
              <a:cs typeface="+mj-cs"/>
            </a:endParaRPr>
          </a:p>
        </p:txBody>
      </p:sp>
      <p:grpSp>
        <p:nvGrpSpPr>
          <p:cNvPr id="21510" name="Group 33"/>
          <p:cNvGrpSpPr/>
          <p:nvPr/>
        </p:nvGrpSpPr>
        <p:grpSpPr>
          <a:xfrm>
            <a:off x="949980" y="2210912"/>
            <a:ext cx="8172450" cy="4084638"/>
            <a:chOff x="612" y="1525"/>
            <a:chExt cx="5148" cy="2573"/>
          </a:xfrm>
        </p:grpSpPr>
        <p:pic>
          <p:nvPicPr>
            <p:cNvPr id="21519" name="Picture 8" descr="晶体"/>
            <p:cNvPicPr>
              <a:picLocks noChangeAspect="1"/>
            </p:cNvPicPr>
            <p:nvPr/>
          </p:nvPicPr>
          <p:blipFill>
            <a:blip r:embed="rId3"/>
            <a:stretch>
              <a:fillRect/>
            </a:stretch>
          </p:blipFill>
          <p:spPr>
            <a:xfrm>
              <a:off x="2880" y="2886"/>
              <a:ext cx="1224" cy="1167"/>
            </a:xfrm>
            <a:prstGeom prst="rect">
              <a:avLst/>
            </a:prstGeom>
            <a:noFill/>
            <a:ln w="28575" cap="flat" cmpd="sng">
              <a:solidFill>
                <a:srgbClr val="CC99FF"/>
              </a:solidFill>
              <a:prstDash val="solid"/>
              <a:miter/>
              <a:headEnd type="none" w="med" len="med"/>
              <a:tailEnd type="none" w="med" len="med"/>
            </a:ln>
          </p:spPr>
        </p:pic>
        <p:grpSp>
          <p:nvGrpSpPr>
            <p:cNvPr id="21520" name="Group 32"/>
            <p:cNvGrpSpPr/>
            <p:nvPr/>
          </p:nvGrpSpPr>
          <p:grpSpPr>
            <a:xfrm>
              <a:off x="612" y="1525"/>
              <a:ext cx="5148" cy="2573"/>
              <a:chOff x="612" y="1525"/>
              <a:chExt cx="5148" cy="2573"/>
            </a:xfrm>
          </p:grpSpPr>
          <p:sp>
            <p:nvSpPr>
              <p:cNvPr id="21521" name="Text Box 10"/>
              <p:cNvSpPr txBox="1"/>
              <p:nvPr/>
            </p:nvSpPr>
            <p:spPr>
              <a:xfrm>
                <a:off x="1791" y="2568"/>
                <a:ext cx="480" cy="250"/>
              </a:xfrm>
              <a:prstGeom prst="rect">
                <a:avLst/>
              </a:prstGeom>
              <a:noFill/>
              <a:ln w="9525">
                <a:noFill/>
              </a:ln>
            </p:spPr>
            <p:txBody>
              <a:bodyPr>
                <a:spAutoFit/>
              </a:bodyPr>
              <a:lstStyle/>
              <a:p>
                <a:pPr lvl="0" eaLnBrk="1" hangingPunct="1">
                  <a:spcBef>
                    <a:spcPct val="50000"/>
                  </a:spcBef>
                </a:pPr>
                <a:r>
                  <a:rPr lang="zh-CN" altLang="en-US" sz="2000" b="1" dirty="0">
                    <a:solidFill>
                      <a:schemeClr val="folHlink"/>
                    </a:solidFill>
                    <a:latin typeface="Times New Roman" panose="02020603050405020304" pitchFamily="18" charset="0"/>
                    <a:ea typeface="宋体" panose="02010600030101010101" pitchFamily="2" charset="-122"/>
                  </a:rPr>
                  <a:t>凝固</a:t>
                </a:r>
              </a:p>
            </p:txBody>
          </p:sp>
          <p:sp>
            <p:nvSpPr>
              <p:cNvPr id="21522" name="Text Box 11"/>
              <p:cNvSpPr txBox="1"/>
              <p:nvPr/>
            </p:nvSpPr>
            <p:spPr>
              <a:xfrm>
                <a:off x="3877" y="3747"/>
                <a:ext cx="250" cy="336"/>
              </a:xfrm>
              <a:prstGeom prst="rect">
                <a:avLst/>
              </a:prstGeom>
              <a:noFill/>
              <a:ln w="9525">
                <a:noFill/>
              </a:ln>
            </p:spPr>
            <p:txBody>
              <a:bodyPr vert="eaVert">
                <a:spAutoFit/>
              </a:bodyPr>
              <a:lstStyle/>
              <a:p>
                <a:pPr lvl="0" algn="ctr" eaLnBrk="1" hangingPunct="1">
                  <a:spcBef>
                    <a:spcPct val="50000"/>
                  </a:spcBef>
                </a:pPr>
                <a:r>
                  <a:rPr lang="zh-CN" altLang="en-US" sz="1400" b="1" dirty="0">
                    <a:solidFill>
                      <a:srgbClr val="FF0000"/>
                    </a:solidFill>
                    <a:latin typeface="Times New Roman" panose="02020603050405020304" pitchFamily="18" charset="0"/>
                    <a:ea typeface="宋体" panose="02010600030101010101" pitchFamily="2" charset="-122"/>
                  </a:rPr>
                  <a:t>晶体</a:t>
                </a:r>
              </a:p>
            </p:txBody>
          </p:sp>
          <p:sp>
            <p:nvSpPr>
              <p:cNvPr id="21523" name="Text Box 12"/>
              <p:cNvSpPr txBox="1"/>
              <p:nvPr/>
            </p:nvSpPr>
            <p:spPr>
              <a:xfrm>
                <a:off x="1020" y="3430"/>
                <a:ext cx="480" cy="250"/>
              </a:xfrm>
              <a:prstGeom prst="rect">
                <a:avLst/>
              </a:prstGeom>
              <a:noFill/>
              <a:ln w="9525">
                <a:noFill/>
              </a:ln>
            </p:spPr>
            <p:txBody>
              <a:bodyPr>
                <a:spAutoFit/>
              </a:bodyPr>
              <a:lstStyle/>
              <a:p>
                <a:pPr lvl="0" eaLnBrk="1" hangingPunct="1">
                  <a:spcBef>
                    <a:spcPct val="50000"/>
                  </a:spcBef>
                </a:pPr>
                <a:r>
                  <a:rPr lang="zh-CN" altLang="en-US" sz="2000" b="1" dirty="0">
                    <a:solidFill>
                      <a:schemeClr val="folHlink"/>
                    </a:solidFill>
                    <a:latin typeface="Times New Roman" panose="02020603050405020304" pitchFamily="18" charset="0"/>
                    <a:ea typeface="宋体" panose="02010600030101010101" pitchFamily="2" charset="-122"/>
                  </a:rPr>
                  <a:t>液体</a:t>
                </a:r>
              </a:p>
            </p:txBody>
          </p:sp>
          <p:grpSp>
            <p:nvGrpSpPr>
              <p:cNvPr id="21524" name="Group 31"/>
              <p:cNvGrpSpPr/>
              <p:nvPr/>
            </p:nvGrpSpPr>
            <p:grpSpPr>
              <a:xfrm>
                <a:off x="612" y="1525"/>
                <a:ext cx="5148" cy="2573"/>
                <a:chOff x="612" y="1525"/>
                <a:chExt cx="5148" cy="2573"/>
              </a:xfrm>
            </p:grpSpPr>
            <p:pic>
              <p:nvPicPr>
                <p:cNvPr id="21525" name="Picture 14" descr="非晶体"/>
                <p:cNvPicPr>
                  <a:picLocks noChangeAspect="1"/>
                </p:cNvPicPr>
                <p:nvPr/>
              </p:nvPicPr>
              <p:blipFill>
                <a:blip r:embed="rId4"/>
                <a:stretch>
                  <a:fillRect/>
                </a:stretch>
              </p:blipFill>
              <p:spPr>
                <a:xfrm>
                  <a:off x="2880" y="1676"/>
                  <a:ext cx="1224" cy="1174"/>
                </a:xfrm>
                <a:prstGeom prst="rect">
                  <a:avLst/>
                </a:prstGeom>
                <a:noFill/>
                <a:ln w="28575" cap="flat" cmpd="sng">
                  <a:solidFill>
                    <a:schemeClr val="tx1"/>
                  </a:solidFill>
                  <a:prstDash val="solid"/>
                  <a:miter/>
                  <a:headEnd type="none" w="med" len="med"/>
                  <a:tailEnd type="none" w="med" len="med"/>
                </a:ln>
              </p:spPr>
            </p:pic>
            <p:grpSp>
              <p:nvGrpSpPr>
                <p:cNvPr id="21526" name="Group 15"/>
                <p:cNvGrpSpPr/>
                <p:nvPr/>
              </p:nvGrpSpPr>
              <p:grpSpPr>
                <a:xfrm>
                  <a:off x="4261" y="1525"/>
                  <a:ext cx="1499" cy="2573"/>
                  <a:chOff x="4128" y="1603"/>
                  <a:chExt cx="1499" cy="2573"/>
                </a:xfrm>
              </p:grpSpPr>
              <p:pic>
                <p:nvPicPr>
                  <p:cNvPr id="21528" name="Picture 16" descr="水"/>
                  <p:cNvPicPr>
                    <a:picLocks noChangeAspect="1"/>
                  </p:cNvPicPr>
                  <p:nvPr/>
                </p:nvPicPr>
                <p:blipFill>
                  <a:blip r:embed="rId5"/>
                  <a:stretch>
                    <a:fillRect/>
                  </a:stretch>
                </p:blipFill>
                <p:spPr>
                  <a:xfrm>
                    <a:off x="4368" y="1810"/>
                    <a:ext cx="968" cy="1022"/>
                  </a:xfrm>
                  <a:prstGeom prst="rect">
                    <a:avLst/>
                  </a:prstGeom>
                  <a:noFill/>
                  <a:ln w="9525" cap="flat" cmpd="sng">
                    <a:solidFill>
                      <a:srgbClr val="FF99CC"/>
                    </a:solidFill>
                    <a:prstDash val="solid"/>
                    <a:miter/>
                    <a:headEnd type="none" w="med" len="med"/>
                    <a:tailEnd type="none" w="med" len="med"/>
                  </a:ln>
                </p:spPr>
              </p:pic>
              <p:sp>
                <p:nvSpPr>
                  <p:cNvPr id="21529" name="Text Box 17"/>
                  <p:cNvSpPr txBox="1"/>
                  <p:nvPr/>
                </p:nvSpPr>
                <p:spPr>
                  <a:xfrm>
                    <a:off x="4608" y="1603"/>
                    <a:ext cx="432" cy="231"/>
                  </a:xfrm>
                  <a:prstGeom prst="rect">
                    <a:avLst/>
                  </a:prstGeom>
                  <a:noFill/>
                  <a:ln w="9525">
                    <a:noFill/>
                  </a:ln>
                </p:spPr>
                <p:txBody>
                  <a:bodyPr>
                    <a:spAutoFit/>
                  </a:bodyPr>
                  <a:lstStyle/>
                  <a:p>
                    <a:pPr lvl="0" algn="ctr" eaLnBrk="1" hangingPunct="1">
                      <a:spcBef>
                        <a:spcPct val="50000"/>
                      </a:spcBef>
                    </a:pPr>
                    <a:r>
                      <a:rPr lang="zh-CN" altLang="en-US" sz="1800" b="1" dirty="0">
                        <a:solidFill>
                          <a:schemeClr val="folHlink"/>
                        </a:solidFill>
                        <a:latin typeface="Times New Roman" panose="02020603050405020304" pitchFamily="18" charset="0"/>
                        <a:ea typeface="宋体" panose="02010600030101010101" pitchFamily="2" charset="-122"/>
                      </a:rPr>
                      <a:t>水</a:t>
                    </a:r>
                  </a:p>
                </p:txBody>
              </p:sp>
              <p:pic>
                <p:nvPicPr>
                  <p:cNvPr id="21530" name="Picture 18" descr="冰"/>
                  <p:cNvPicPr>
                    <a:picLocks noChangeAspect="1"/>
                  </p:cNvPicPr>
                  <p:nvPr/>
                </p:nvPicPr>
                <p:blipFill>
                  <a:blip r:embed="rId6"/>
                  <a:stretch>
                    <a:fillRect/>
                  </a:stretch>
                </p:blipFill>
                <p:spPr>
                  <a:xfrm>
                    <a:off x="4346" y="3120"/>
                    <a:ext cx="1020" cy="828"/>
                  </a:xfrm>
                  <a:prstGeom prst="rect">
                    <a:avLst/>
                  </a:prstGeom>
                  <a:noFill/>
                  <a:ln w="9525" cap="flat" cmpd="sng">
                    <a:solidFill>
                      <a:srgbClr val="FF99CC"/>
                    </a:solidFill>
                    <a:prstDash val="solid"/>
                    <a:miter/>
                    <a:headEnd type="none" w="med" len="med"/>
                    <a:tailEnd type="none" w="med" len="med"/>
                  </a:ln>
                </p:spPr>
              </p:pic>
              <p:sp>
                <p:nvSpPr>
                  <p:cNvPr id="21531" name="AutoShape 19"/>
                  <p:cNvSpPr/>
                  <p:nvPr/>
                </p:nvSpPr>
                <p:spPr>
                  <a:xfrm>
                    <a:off x="5328" y="2400"/>
                    <a:ext cx="240" cy="1152"/>
                  </a:xfrm>
                  <a:prstGeom prst="curvedLeftArrow">
                    <a:avLst>
                      <a:gd name="adj1" fmla="val 96000"/>
                      <a:gd name="adj2" fmla="val 192000"/>
                      <a:gd name="adj3" fmla="val 33333"/>
                    </a:avLst>
                  </a:prstGeom>
                  <a:solidFill>
                    <a:srgbClr val="C0C0C0"/>
                  </a:solidFill>
                  <a:ln w="9525" cap="flat" cmpd="sng">
                    <a:solidFill>
                      <a:schemeClr val="tx1"/>
                    </a:solidFill>
                    <a:prstDash val="solid"/>
                    <a:miter/>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21532" name="AutoShape 20"/>
                  <p:cNvSpPr/>
                  <p:nvPr/>
                </p:nvSpPr>
                <p:spPr>
                  <a:xfrm>
                    <a:off x="4128" y="2400"/>
                    <a:ext cx="240" cy="1152"/>
                  </a:xfrm>
                  <a:prstGeom prst="curvedRightArrow">
                    <a:avLst>
                      <a:gd name="adj1" fmla="val 96000"/>
                      <a:gd name="adj2" fmla="val 192000"/>
                      <a:gd name="adj3" fmla="val 33333"/>
                    </a:avLst>
                  </a:prstGeom>
                  <a:solidFill>
                    <a:srgbClr val="C0C0C0"/>
                  </a:solidFill>
                  <a:ln w="9525" cap="flat" cmpd="sng">
                    <a:solidFill>
                      <a:schemeClr val="tx1"/>
                    </a:solidFill>
                    <a:prstDash val="solid"/>
                    <a:miter/>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21533" name="Text Box 21"/>
                  <p:cNvSpPr txBox="1"/>
                  <p:nvPr/>
                </p:nvSpPr>
                <p:spPr>
                  <a:xfrm>
                    <a:off x="4139" y="2832"/>
                    <a:ext cx="1488" cy="231"/>
                  </a:xfrm>
                  <a:prstGeom prst="rect">
                    <a:avLst/>
                  </a:prstGeom>
                  <a:noFill/>
                  <a:ln w="9525">
                    <a:noFill/>
                  </a:ln>
                </p:spPr>
                <p:txBody>
                  <a:bodyPr>
                    <a:spAutoFit/>
                  </a:bodyPr>
                  <a:lstStyle/>
                  <a:p>
                    <a:pPr lvl="0" eaLnBrk="1" hangingPunct="1">
                      <a:spcBef>
                        <a:spcPct val="50000"/>
                      </a:spcBef>
                    </a:pPr>
                    <a:r>
                      <a:rPr lang="zh-CN" altLang="en-US" sz="1800" b="1" dirty="0">
                        <a:solidFill>
                          <a:schemeClr val="folHlink"/>
                        </a:solidFill>
                        <a:latin typeface="Times New Roman" panose="02020603050405020304" pitchFamily="18" charset="0"/>
                        <a:ea typeface="宋体" panose="02010600030101010101" pitchFamily="2" charset="-122"/>
                      </a:rPr>
                      <a:t>结晶</a:t>
                    </a:r>
                    <a:r>
                      <a:rPr lang="zh-CN" altLang="en-US" sz="1800" dirty="0">
                        <a:latin typeface="Times New Roman" panose="02020603050405020304" pitchFamily="18" charset="0"/>
                        <a:ea typeface="宋体" panose="02010600030101010101" pitchFamily="2" charset="-122"/>
                      </a:rPr>
                      <a:t>        </a:t>
                    </a:r>
                    <a:r>
                      <a:rPr lang="en-US" altLang="zh-CN" sz="1800" b="1" dirty="0">
                        <a:solidFill>
                          <a:schemeClr val="folHlink"/>
                        </a:solidFill>
                        <a:latin typeface="Times New Roman" panose="02020603050405020304" pitchFamily="18" charset="0"/>
                        <a:ea typeface="宋体" panose="02010600030101010101" pitchFamily="2" charset="-122"/>
                      </a:rPr>
                      <a:t>= </a:t>
                    </a:r>
                    <a:r>
                      <a:rPr lang="en-US" altLang="zh-CN" sz="1800" dirty="0">
                        <a:latin typeface="Times New Roman" panose="02020603050405020304" pitchFamily="18" charset="0"/>
                        <a:ea typeface="宋体" panose="02010600030101010101" pitchFamily="2" charset="-122"/>
                      </a:rPr>
                      <a:t>         </a:t>
                    </a:r>
                    <a:r>
                      <a:rPr lang="zh-CN" altLang="en-US" sz="1800" b="1" dirty="0">
                        <a:solidFill>
                          <a:schemeClr val="folHlink"/>
                        </a:solidFill>
                        <a:latin typeface="Times New Roman" panose="02020603050405020304" pitchFamily="18" charset="0"/>
                        <a:ea typeface="宋体" panose="02010600030101010101" pitchFamily="2" charset="-122"/>
                      </a:rPr>
                      <a:t>相变</a:t>
                    </a:r>
                    <a:r>
                      <a:rPr lang="zh-CN" altLang="en-US" sz="1800" dirty="0">
                        <a:latin typeface="Times New Roman" panose="02020603050405020304" pitchFamily="18" charset="0"/>
                        <a:ea typeface="宋体" panose="02010600030101010101" pitchFamily="2" charset="-122"/>
                      </a:rPr>
                      <a:t>  </a:t>
                    </a:r>
                  </a:p>
                </p:txBody>
              </p:sp>
              <p:sp>
                <p:nvSpPr>
                  <p:cNvPr id="21534" name="Text Box 22"/>
                  <p:cNvSpPr txBox="1"/>
                  <p:nvPr/>
                </p:nvSpPr>
                <p:spPr>
                  <a:xfrm>
                    <a:off x="4656" y="3945"/>
                    <a:ext cx="432" cy="231"/>
                  </a:xfrm>
                  <a:prstGeom prst="rect">
                    <a:avLst/>
                  </a:prstGeom>
                  <a:noFill/>
                  <a:ln w="9525">
                    <a:noFill/>
                  </a:ln>
                </p:spPr>
                <p:txBody>
                  <a:bodyPr>
                    <a:spAutoFit/>
                  </a:bodyPr>
                  <a:lstStyle/>
                  <a:p>
                    <a:pPr lvl="0" algn="ctr" eaLnBrk="1" hangingPunct="1">
                      <a:spcBef>
                        <a:spcPct val="50000"/>
                      </a:spcBef>
                    </a:pPr>
                    <a:r>
                      <a:rPr lang="zh-CN" altLang="en-US" sz="1800" b="1" dirty="0">
                        <a:solidFill>
                          <a:schemeClr val="folHlink"/>
                        </a:solidFill>
                        <a:latin typeface="Times New Roman" panose="02020603050405020304" pitchFamily="18" charset="0"/>
                        <a:ea typeface="宋体" panose="02010600030101010101" pitchFamily="2" charset="-122"/>
                      </a:rPr>
                      <a:t>冰</a:t>
                    </a:r>
                  </a:p>
                </p:txBody>
              </p:sp>
            </p:grpSp>
            <p:pic>
              <p:nvPicPr>
                <p:cNvPr id="21527" name="Picture 23" descr="液态金属"/>
                <p:cNvPicPr>
                  <a:picLocks noChangeAspect="1"/>
                </p:cNvPicPr>
                <p:nvPr/>
              </p:nvPicPr>
              <p:blipFill>
                <a:blip r:embed="rId7"/>
                <a:stretch>
                  <a:fillRect/>
                </a:stretch>
              </p:blipFill>
              <p:spPr>
                <a:xfrm>
                  <a:off x="612" y="2432"/>
                  <a:ext cx="1225" cy="965"/>
                </a:xfrm>
                <a:prstGeom prst="rect">
                  <a:avLst/>
                </a:prstGeom>
                <a:noFill/>
                <a:ln w="9525">
                  <a:noFill/>
                </a:ln>
              </p:spPr>
            </p:pic>
          </p:grpSp>
        </p:grpSp>
      </p:grpSp>
      <p:sp>
        <p:nvSpPr>
          <p:cNvPr id="21511" name="Line 24"/>
          <p:cNvSpPr/>
          <p:nvPr/>
        </p:nvSpPr>
        <p:spPr>
          <a:xfrm>
            <a:off x="3635375" y="5373688"/>
            <a:ext cx="936625" cy="0"/>
          </a:xfrm>
          <a:prstGeom prst="line">
            <a:avLst/>
          </a:prstGeom>
          <a:ln w="38100" cap="flat" cmpd="sng">
            <a:solidFill>
              <a:schemeClr val="folHlink"/>
            </a:solidFill>
            <a:prstDash val="solid"/>
            <a:headEnd type="none" w="med" len="med"/>
            <a:tailEnd type="triangle" w="med" len="med"/>
          </a:ln>
        </p:spPr>
      </p:sp>
      <p:sp>
        <p:nvSpPr>
          <p:cNvPr id="21512" name="Line 25"/>
          <p:cNvSpPr/>
          <p:nvPr/>
        </p:nvSpPr>
        <p:spPr>
          <a:xfrm>
            <a:off x="3635375" y="3789363"/>
            <a:ext cx="936625" cy="0"/>
          </a:xfrm>
          <a:prstGeom prst="line">
            <a:avLst/>
          </a:prstGeom>
          <a:ln w="38100" cap="flat" cmpd="sng">
            <a:solidFill>
              <a:schemeClr val="folHlink"/>
            </a:solidFill>
            <a:prstDash val="solid"/>
            <a:headEnd type="none" w="med" len="med"/>
            <a:tailEnd type="triangle" w="med" len="med"/>
          </a:ln>
        </p:spPr>
      </p:sp>
      <p:sp>
        <p:nvSpPr>
          <p:cNvPr id="21513" name="Line 27"/>
          <p:cNvSpPr/>
          <p:nvPr/>
        </p:nvSpPr>
        <p:spPr>
          <a:xfrm>
            <a:off x="3635375" y="3789363"/>
            <a:ext cx="0" cy="1584325"/>
          </a:xfrm>
          <a:prstGeom prst="line">
            <a:avLst/>
          </a:prstGeom>
          <a:ln w="38100" cap="flat" cmpd="sng">
            <a:solidFill>
              <a:schemeClr val="folHlink"/>
            </a:solidFill>
            <a:prstDash val="solid"/>
            <a:headEnd type="none" w="med" len="med"/>
            <a:tailEnd type="none" w="med" len="med"/>
          </a:ln>
        </p:spPr>
      </p:sp>
      <p:sp>
        <p:nvSpPr>
          <p:cNvPr id="21514" name="Line 28"/>
          <p:cNvSpPr/>
          <p:nvPr/>
        </p:nvSpPr>
        <p:spPr>
          <a:xfrm>
            <a:off x="2916238" y="4652963"/>
            <a:ext cx="719137" cy="0"/>
          </a:xfrm>
          <a:prstGeom prst="line">
            <a:avLst/>
          </a:prstGeom>
          <a:ln w="38100" cap="flat" cmpd="sng">
            <a:solidFill>
              <a:schemeClr val="tx1"/>
            </a:solidFill>
            <a:prstDash val="solid"/>
            <a:headEnd type="none" w="med" len="med"/>
            <a:tailEnd type="none" w="med" len="med"/>
          </a:ln>
        </p:spPr>
      </p:sp>
      <p:sp>
        <p:nvSpPr>
          <p:cNvPr id="21515" name="Line 29"/>
          <p:cNvSpPr/>
          <p:nvPr/>
        </p:nvSpPr>
        <p:spPr>
          <a:xfrm>
            <a:off x="3708400" y="5373688"/>
            <a:ext cx="863600" cy="0"/>
          </a:xfrm>
          <a:prstGeom prst="line">
            <a:avLst/>
          </a:prstGeom>
          <a:ln w="38100" cap="flat" cmpd="sng">
            <a:solidFill>
              <a:schemeClr val="folHlink"/>
            </a:solidFill>
            <a:prstDash val="solid"/>
            <a:headEnd type="none" w="med" len="med"/>
            <a:tailEnd type="triangle" w="med" len="med"/>
          </a:ln>
        </p:spPr>
      </p:sp>
      <p:sp>
        <p:nvSpPr>
          <p:cNvPr id="21516" name="Text Box 30"/>
          <p:cNvSpPr txBox="1"/>
          <p:nvPr/>
        </p:nvSpPr>
        <p:spPr>
          <a:xfrm>
            <a:off x="3708400" y="5516563"/>
            <a:ext cx="790575" cy="396875"/>
          </a:xfrm>
          <a:prstGeom prst="rect">
            <a:avLst/>
          </a:prstGeom>
          <a:noFill/>
          <a:ln w="9525">
            <a:noFill/>
          </a:ln>
        </p:spPr>
        <p:txBody>
          <a:bodyPr>
            <a:spAutoFit/>
          </a:bodyPr>
          <a:lstStyle/>
          <a:p>
            <a:pPr lvl="0" eaLnBrk="1" hangingPunct="1">
              <a:spcBef>
                <a:spcPct val="50000"/>
              </a:spcBef>
            </a:pPr>
            <a:r>
              <a:rPr lang="zh-CN" altLang="en-US" sz="2000" b="1" dirty="0">
                <a:solidFill>
                  <a:schemeClr val="folHlink"/>
                </a:solidFill>
                <a:latin typeface="Times New Roman" panose="02020603050405020304" pitchFamily="18" charset="0"/>
                <a:ea typeface="宋体" panose="02010600030101010101" pitchFamily="2" charset="-122"/>
              </a:rPr>
              <a:t>结晶</a:t>
            </a:r>
          </a:p>
        </p:txBody>
      </p:sp>
      <p:sp>
        <p:nvSpPr>
          <p:cNvPr id="21517" name="Text Box 34"/>
          <p:cNvSpPr txBox="1"/>
          <p:nvPr/>
        </p:nvSpPr>
        <p:spPr>
          <a:xfrm>
            <a:off x="4067175" y="2708275"/>
            <a:ext cx="431800" cy="915988"/>
          </a:xfrm>
          <a:prstGeom prst="rect">
            <a:avLst/>
          </a:prstGeom>
          <a:noFill/>
          <a:ln w="9525">
            <a:noFill/>
          </a:ln>
        </p:spPr>
        <p:txBody>
          <a:bodyPr>
            <a:spAutoFit/>
          </a:bodyPr>
          <a:lstStyle/>
          <a:p>
            <a:pPr lvl="0" eaLnBrk="1" hangingPunct="1">
              <a:spcBef>
                <a:spcPct val="50000"/>
              </a:spcBef>
            </a:pPr>
            <a:r>
              <a:rPr lang="zh-CN" altLang="en-US" sz="1800" dirty="0">
                <a:solidFill>
                  <a:schemeClr val="folHlink"/>
                </a:solidFill>
                <a:latin typeface="Times New Roman" panose="02020603050405020304" pitchFamily="18" charset="0"/>
                <a:ea typeface="宋体" panose="02010600030101010101" pitchFamily="2" charset="-122"/>
              </a:rPr>
              <a:t>非晶体</a:t>
            </a:r>
          </a:p>
        </p:txBody>
      </p:sp>
      <p:pic>
        <p:nvPicPr>
          <p:cNvPr id="31" name="内容占位符 1" descr="新校徽（3M）弓之乐"/>
          <p:cNvPicPr>
            <a:picLocks noChangeAspect="1"/>
          </p:cNvPicPr>
          <p:nvPr/>
        </p:nvPicPr>
        <p:blipFill>
          <a:blip r:embed="rId8"/>
          <a:stretch>
            <a:fillRect/>
          </a:stretch>
        </p:blipFill>
        <p:spPr>
          <a:xfrm>
            <a:off x="19685" y="3175"/>
            <a:ext cx="746760" cy="735965"/>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p:cNvSpPr>
          <p:nvPr>
            <p:ph type="title"/>
          </p:nvPr>
        </p:nvSpPr>
        <p:spPr>
          <a:xfrm>
            <a:off x="1116013" y="333375"/>
            <a:ext cx="7772400" cy="935038"/>
          </a:xfrm>
        </p:spPr>
        <p:txBody>
          <a:bodyPr wrap="square" lIns="91440" tIns="45720" rIns="91440" bIns="45720" anchor="b"/>
          <a:lstStyle/>
          <a:p>
            <a:pPr algn="ctr" eaLnBrk="1" hangingPunct="1"/>
            <a:r>
              <a:rPr lang="zh-CN" altLang="en-US" b="1" dirty="0">
                <a:solidFill>
                  <a:srgbClr val="FF0000"/>
                </a:solidFill>
                <a:latin typeface="华文中宋" panose="02010600040101010101" pitchFamily="2" charset="-122"/>
                <a:ea typeface="华文中宋" panose="02010600040101010101" pitchFamily="2" charset="-122"/>
              </a:rPr>
              <a:t>纯金属的结晶</a:t>
            </a:r>
            <a:endParaRPr lang="zh-CN" altLang="en-US" b="1" dirty="0">
              <a:solidFill>
                <a:srgbClr val="FF0000"/>
              </a:solidFill>
              <a:ea typeface="华文中宋" panose="02010600040101010101" pitchFamily="2" charset="-122"/>
            </a:endParaRPr>
          </a:p>
        </p:txBody>
      </p:sp>
      <p:sp>
        <p:nvSpPr>
          <p:cNvPr id="153603" name="Rectangle 3"/>
          <p:cNvSpPr>
            <a:spLocks noGrp="1"/>
          </p:cNvSpPr>
          <p:nvPr>
            <p:ph type="body" sz="half" idx="1"/>
          </p:nvPr>
        </p:nvSpPr>
        <p:spPr>
          <a:xfrm>
            <a:off x="531391" y="2118317"/>
            <a:ext cx="8357022" cy="4397375"/>
          </a:xfrm>
        </p:spPr>
        <p:txBody>
          <a:bodyPr wrap="square" lIns="91440" tIns="45720" rIns="91440" bIns="45720" anchor="t"/>
          <a:lstStyle/>
          <a:p>
            <a:pPr eaLnBrk="1" hangingPunct="1">
              <a:lnSpc>
                <a:spcPct val="140000"/>
              </a:lnSpc>
            </a:pPr>
            <a:r>
              <a:rPr lang="zh-CN" altLang="en-US" b="1" dirty="0">
                <a:solidFill>
                  <a:schemeClr val="tx2"/>
                </a:solidFill>
                <a:ea typeface="华文中宋" panose="02010600040101010101" pitchFamily="2" charset="-122"/>
              </a:rPr>
              <a:t>凝固</a:t>
            </a:r>
            <a:r>
              <a:rPr lang="en-US" altLang="zh-CN" b="1" dirty="0">
                <a:solidFill>
                  <a:schemeClr val="tx2"/>
                </a:solidFill>
                <a:ea typeface="华文中宋" panose="02010600040101010101" pitchFamily="2" charset="-122"/>
              </a:rPr>
              <a:t> </a:t>
            </a:r>
            <a:r>
              <a:rPr lang="zh-CN" altLang="en-US" b="1" dirty="0">
                <a:solidFill>
                  <a:schemeClr val="tx2"/>
                </a:solidFill>
                <a:ea typeface="华文中宋" panose="02010600040101010101" pitchFamily="2" charset="-122"/>
              </a:rPr>
              <a:t>：</a:t>
            </a:r>
            <a:r>
              <a:rPr lang="zh-CN" altLang="en-US" b="1" dirty="0">
                <a:solidFill>
                  <a:schemeClr val="folHlink"/>
                </a:solidFill>
                <a:ea typeface="华文中宋" panose="02010600040101010101" pitchFamily="2" charset="-122"/>
              </a:rPr>
              <a:t>物质由</a:t>
            </a:r>
            <a:r>
              <a:rPr lang="zh-CN" altLang="en-US" b="1" dirty="0">
                <a:solidFill>
                  <a:srgbClr val="FF0000"/>
                </a:solidFill>
                <a:ea typeface="华文中宋" panose="02010600040101010101" pitchFamily="2" charset="-122"/>
              </a:rPr>
              <a:t>液态</a:t>
            </a:r>
            <a:r>
              <a:rPr lang="zh-CN" altLang="en-US" b="1" dirty="0">
                <a:solidFill>
                  <a:schemeClr val="folHlink"/>
                </a:solidFill>
                <a:ea typeface="华文中宋" panose="02010600040101010101" pitchFamily="2" charset="-122"/>
              </a:rPr>
              <a:t>转变为</a:t>
            </a:r>
            <a:r>
              <a:rPr lang="zh-CN" altLang="en-US" b="1" dirty="0">
                <a:solidFill>
                  <a:srgbClr val="FF0000"/>
                </a:solidFill>
                <a:ea typeface="华文中宋" panose="02010600040101010101" pitchFamily="2" charset="-122"/>
              </a:rPr>
              <a:t>固态</a:t>
            </a:r>
            <a:r>
              <a:rPr lang="zh-CN" altLang="en-US" b="1" dirty="0">
                <a:solidFill>
                  <a:schemeClr val="folHlink"/>
                </a:solidFill>
                <a:ea typeface="华文中宋" panose="02010600040101010101" pitchFamily="2" charset="-122"/>
              </a:rPr>
              <a:t>的过程</a:t>
            </a:r>
            <a:r>
              <a:rPr lang="zh-CN" altLang="en-US" b="1" dirty="0">
                <a:ea typeface="华文中宋" panose="02010600040101010101" pitchFamily="2" charset="-122"/>
              </a:rPr>
              <a:t>。</a:t>
            </a:r>
            <a:endParaRPr lang="zh-CN" altLang="en-US" dirty="0"/>
          </a:p>
          <a:p>
            <a:pPr eaLnBrk="1" hangingPunct="1">
              <a:lnSpc>
                <a:spcPct val="140000"/>
              </a:lnSpc>
            </a:pPr>
            <a:r>
              <a:rPr lang="zh-CN" altLang="en-US" b="1" dirty="0">
                <a:solidFill>
                  <a:schemeClr val="tx2"/>
                </a:solidFill>
                <a:ea typeface="华文中宋" panose="02010600040101010101" pitchFamily="2" charset="-122"/>
              </a:rPr>
              <a:t>结晶</a:t>
            </a:r>
            <a:r>
              <a:rPr lang="en-US" altLang="zh-CN" b="1" dirty="0">
                <a:solidFill>
                  <a:schemeClr val="tx2"/>
                </a:solidFill>
                <a:ea typeface="华文中宋" panose="02010600040101010101" pitchFamily="2" charset="-122"/>
              </a:rPr>
              <a:t> </a:t>
            </a:r>
            <a:r>
              <a:rPr lang="zh-CN" altLang="en-US" b="1" dirty="0">
                <a:solidFill>
                  <a:schemeClr val="tx2"/>
                </a:solidFill>
                <a:ea typeface="华文中宋" panose="02010600040101010101" pitchFamily="2" charset="-122"/>
              </a:rPr>
              <a:t>：</a:t>
            </a:r>
            <a:r>
              <a:rPr lang="zh-CN" altLang="en-US" b="1" dirty="0">
                <a:solidFill>
                  <a:schemeClr val="folHlink"/>
                </a:solidFill>
                <a:ea typeface="华文中宋" panose="02010600040101010101" pitchFamily="2" charset="-122"/>
              </a:rPr>
              <a:t>物质由</a:t>
            </a:r>
            <a:r>
              <a:rPr lang="zh-CN" altLang="en-US" b="1" dirty="0">
                <a:solidFill>
                  <a:srgbClr val="FF0000"/>
                </a:solidFill>
                <a:ea typeface="华文中宋" panose="02010600040101010101" pitchFamily="2" charset="-122"/>
              </a:rPr>
              <a:t>液态</a:t>
            </a:r>
            <a:r>
              <a:rPr lang="zh-CN" altLang="en-US" b="1" dirty="0">
                <a:solidFill>
                  <a:schemeClr val="folHlink"/>
                </a:solidFill>
                <a:ea typeface="华文中宋" panose="02010600040101010101" pitchFamily="2" charset="-122"/>
              </a:rPr>
              <a:t>转变为</a:t>
            </a:r>
            <a:r>
              <a:rPr lang="zh-CN" altLang="en-US" b="1" dirty="0">
                <a:solidFill>
                  <a:srgbClr val="FF0000"/>
                </a:solidFill>
                <a:ea typeface="华文中宋" panose="02010600040101010101" pitchFamily="2" charset="-122"/>
              </a:rPr>
              <a:t>晶态</a:t>
            </a:r>
            <a:r>
              <a:rPr lang="zh-CN" altLang="en-US" b="1" dirty="0">
                <a:solidFill>
                  <a:schemeClr val="folHlink"/>
                </a:solidFill>
                <a:ea typeface="华文中宋" panose="02010600040101010101" pitchFamily="2" charset="-122"/>
              </a:rPr>
              <a:t>的过程</a:t>
            </a:r>
            <a:r>
              <a:rPr lang="zh-CN" altLang="en-US" b="1" dirty="0">
                <a:ea typeface="华文中宋" panose="02010600040101010101" pitchFamily="2" charset="-122"/>
              </a:rPr>
              <a:t>。</a:t>
            </a:r>
          </a:p>
          <a:p>
            <a:pPr eaLnBrk="1" hangingPunct="1">
              <a:lnSpc>
                <a:spcPct val="140000"/>
              </a:lnSpc>
            </a:pPr>
            <a:r>
              <a:rPr lang="zh-CN" altLang="en-US" b="1" dirty="0">
                <a:solidFill>
                  <a:schemeClr val="tx2"/>
                </a:solidFill>
                <a:ea typeface="华文中宋" panose="02010600040101010101" pitchFamily="2" charset="-122"/>
              </a:rPr>
              <a:t>相变</a:t>
            </a:r>
            <a:r>
              <a:rPr lang="en-US" altLang="zh-CN" b="1" dirty="0">
                <a:solidFill>
                  <a:schemeClr val="tx2"/>
                </a:solidFill>
                <a:ea typeface="华文中宋" panose="02010600040101010101" pitchFamily="2" charset="-122"/>
              </a:rPr>
              <a:t> </a:t>
            </a:r>
            <a:r>
              <a:rPr lang="zh-CN" altLang="en-US" b="1" dirty="0">
                <a:solidFill>
                  <a:schemeClr val="tx2"/>
                </a:solidFill>
                <a:ea typeface="华文中宋" panose="02010600040101010101" pitchFamily="2" charset="-122"/>
              </a:rPr>
              <a:t>：</a:t>
            </a:r>
            <a:r>
              <a:rPr lang="zh-CN" altLang="en-US" b="1" dirty="0">
                <a:solidFill>
                  <a:schemeClr val="folHlink"/>
                </a:solidFill>
                <a:ea typeface="华文中宋" panose="02010600040101010101" pitchFamily="2" charset="-122"/>
              </a:rPr>
              <a:t>物质由一个</a:t>
            </a:r>
            <a:r>
              <a:rPr lang="zh-CN" altLang="en-US" b="1" dirty="0">
                <a:solidFill>
                  <a:srgbClr val="FF0000"/>
                </a:solidFill>
                <a:ea typeface="华文中宋" panose="02010600040101010101" pitchFamily="2" charset="-122"/>
              </a:rPr>
              <a:t>相</a:t>
            </a:r>
            <a:r>
              <a:rPr lang="zh-CN" altLang="en-US" b="1" dirty="0">
                <a:solidFill>
                  <a:schemeClr val="folHlink"/>
                </a:solidFill>
                <a:ea typeface="华文中宋" panose="02010600040101010101" pitchFamily="2" charset="-122"/>
              </a:rPr>
              <a:t>转变为另一个</a:t>
            </a:r>
            <a:r>
              <a:rPr lang="zh-CN" altLang="en-US" b="1" dirty="0">
                <a:solidFill>
                  <a:srgbClr val="FF0000"/>
                </a:solidFill>
                <a:ea typeface="华文中宋" panose="02010600040101010101" pitchFamily="2" charset="-122"/>
              </a:rPr>
              <a:t>相</a:t>
            </a:r>
            <a:r>
              <a:rPr lang="zh-CN" altLang="en-US" b="1" dirty="0">
                <a:solidFill>
                  <a:schemeClr val="folHlink"/>
                </a:solidFill>
                <a:ea typeface="华文中宋" panose="02010600040101010101" pitchFamily="2" charset="-122"/>
              </a:rPr>
              <a:t>的过程</a:t>
            </a:r>
            <a:r>
              <a:rPr lang="zh-CN" altLang="en-US" b="1" dirty="0">
                <a:ea typeface="华文中宋" panose="02010600040101010101" pitchFamily="2" charset="-122"/>
              </a:rPr>
              <a:t>。</a:t>
            </a:r>
          </a:p>
          <a:p>
            <a:pPr eaLnBrk="1" hangingPunct="1">
              <a:lnSpc>
                <a:spcPct val="140000"/>
              </a:lnSpc>
            </a:pPr>
            <a:r>
              <a:rPr lang="zh-CN" altLang="en-US" b="1" dirty="0">
                <a:solidFill>
                  <a:schemeClr val="folHlink"/>
                </a:solidFill>
                <a:ea typeface="华文中宋" panose="02010600040101010101" pitchFamily="2" charset="-122"/>
              </a:rPr>
              <a:t>结晶</a:t>
            </a:r>
            <a:r>
              <a:rPr lang="zh-CN" altLang="en-US" b="1" dirty="0">
                <a:ea typeface="华文中宋" panose="02010600040101010101" pitchFamily="2" charset="-122"/>
              </a:rPr>
              <a:t>过程是</a:t>
            </a:r>
            <a:r>
              <a:rPr lang="zh-CN" altLang="en-US" b="1" dirty="0">
                <a:solidFill>
                  <a:schemeClr val="folHlink"/>
                </a:solidFill>
                <a:ea typeface="华文中宋" panose="02010600040101010101" pitchFamily="2" charset="-122"/>
              </a:rPr>
              <a:t>相变</a:t>
            </a:r>
            <a:r>
              <a:rPr lang="zh-CN" altLang="en-US" b="1" dirty="0">
                <a:ea typeface="华文中宋" panose="02010600040101010101" pitchFamily="2" charset="-122"/>
              </a:rPr>
              <a:t>过程</a:t>
            </a:r>
            <a:r>
              <a:rPr lang="zh-CN" altLang="en-US" b="1" dirty="0">
                <a:solidFill>
                  <a:schemeClr val="folHlink"/>
                </a:solidFill>
                <a:ea typeface="华文中宋" panose="02010600040101010101" pitchFamily="2" charset="-122"/>
              </a:rPr>
              <a:t>。</a:t>
            </a:r>
            <a:endParaRPr lang="zh-CN" altLang="en-US" b="1" dirty="0"/>
          </a:p>
        </p:txBody>
      </p:sp>
      <p:sp>
        <p:nvSpPr>
          <p:cNvPr id="6152" name="日期占位符 1"/>
          <p:cNvSpPr>
            <a:spLocks noGrp="1"/>
          </p:cNvSpPr>
          <p:nvPr>
            <p:ph type="dt" sz="half" idx="10"/>
          </p:nvPr>
        </p:nvSpPr>
        <p:spPr>
          <a:xfrm>
            <a:off x="79375" y="6529388"/>
            <a:ext cx="1905000" cy="342900"/>
          </a:xfrm>
        </p:spPr>
        <p:txBody>
          <a:bodyPr wrap="square" lIns="91440" tIns="45720" rIns="91440" bIns="45720" anchor="b"/>
          <a:lst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stStyle>
          <a:p>
            <a:pPr lvl="0" indent="0"/>
            <a:fld id="{BB962C8B-B14F-4D97-AF65-F5344CB8AC3E}" type="datetime8">
              <a:rPr lang="en-US" altLang="zh-CN" sz="1400" dirty="0"/>
              <a:t>11/20/2025 5:38 PM</a:t>
            </a:fld>
            <a:endParaRPr lang="en-US" altLang="zh-CN" sz="1400" dirty="0"/>
          </a:p>
        </p:txBody>
      </p:sp>
      <p:pic>
        <p:nvPicPr>
          <p:cNvPr id="10" name="内容占位符 1" descr="新校徽（3M）弓之乐"/>
          <p:cNvPicPr>
            <a:picLocks noChangeAspect="1"/>
          </p:cNvPicPr>
          <p:nvPr/>
        </p:nvPicPr>
        <p:blipFill>
          <a:blip r:embed="rId6" cstate="print"/>
          <a:stretch>
            <a:fillRect/>
          </a:stretch>
        </p:blipFill>
        <p:spPr>
          <a:xfrm>
            <a:off x="19685" y="3175"/>
            <a:ext cx="746760" cy="735965"/>
          </a:xfrm>
          <a:prstGeom prst="rect">
            <a:avLst/>
          </a:prstGeom>
          <a:noFill/>
          <a:ln w="9525">
            <a:noFill/>
          </a:ln>
        </p:spPr>
      </p:pic>
      <p:sp>
        <p:nvSpPr>
          <p:cNvPr id="3" name="灯片编号占位符 3"/>
          <p:cNvSpPr txBox="1"/>
          <p:nvPr/>
        </p:nvSpPr>
        <p:spPr bwMode="auto">
          <a:xfrm>
            <a:off x="8316416" y="6529928"/>
            <a:ext cx="630734" cy="328072"/>
          </a:xfrm>
          <a:prstGeom prst="rect">
            <a:avLst/>
          </a:prstGeom>
          <a:noFill/>
          <a:ln w="9525">
            <a:noFill/>
            <a:miter lim="800000"/>
          </a:ln>
          <a:effectLst/>
        </p:spPr>
        <p:txBody>
          <a:bodyPr vert="horz" wrap="square" lIns="91440" tIns="45720" rIns="91440" bIns="45720" numCol="1" anchor="b" anchorCtr="0" compatLnSpc="1"/>
          <a:ls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9pPr>
          </a:lstStyle>
          <a:p>
            <a:pPr algn="r"/>
            <a:fld id="{9A0DB2DC-4C9A-4742-B13C-FB6460FD3503}" type="slidenum">
              <a:rPr lang="en-US" altLang="zh-CN" sz="1400" noProof="1" smtClean="0">
                <a:cs typeface="+mn-ea"/>
              </a:rPr>
              <a:t>9</a:t>
            </a:fld>
            <a:endParaRPr lang="en-US" altLang="zh-CN" sz="1400" dirty="0"/>
          </a:p>
        </p:txBody>
      </p:sp>
      <p:sp>
        <p:nvSpPr>
          <p:cNvPr id="8" name="圆角矩形 7" descr="7b0a202020202262756c6c6574223a20227b5c2263617465676f727949645c223a31303032352c5c2274656d706c61746549645c223a32303233313437347d220a7d0a"/>
          <p:cNvSpPr/>
          <p:nvPr>
            <p:custDataLst>
              <p:tags r:id="rId1"/>
            </p:custDataLst>
          </p:nvPr>
        </p:nvSpPr>
        <p:spPr>
          <a:xfrm>
            <a:off x="827405" y="2348865"/>
            <a:ext cx="1035050" cy="480060"/>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28575" cmpd="dbl">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2000" dirty="0">
                <a:solidFill>
                  <a:schemeClr val="tx1"/>
                </a:solidFill>
                <a:latin typeface="微软雅黑" panose="020B0503020204020204" charset="-122"/>
                <a:ea typeface="微软雅黑" panose="020B0503020204020204" charset="-122"/>
                <a:cs typeface="微软雅黑" panose="020B0503020204020204" charset="-122"/>
                <a:sym typeface="+mn-ea"/>
              </a:rPr>
              <a:t> </a:t>
            </a:r>
            <a:r>
              <a:rPr lang="zh-CN" altLang="en-US" sz="2800" b="1" dirty="0">
                <a:solidFill>
                  <a:srgbClr val="0000FF"/>
                </a:solidFill>
                <a:ea typeface="华文中宋" panose="02010600040101010101" pitchFamily="2" charset="-122"/>
                <a:sym typeface="+mn-ea"/>
              </a:rPr>
              <a:t>凝固</a:t>
            </a:r>
            <a:endParaRPr lang="zh-CN" altLang="en-US" sz="2800" b="1" dirty="0">
              <a:solidFill>
                <a:srgbClr val="0000FF"/>
              </a:solidFill>
              <a:latin typeface="微软雅黑" panose="020B0503020204020204" charset="-122"/>
              <a:ea typeface="华文中宋" panose="02010600040101010101" pitchFamily="2" charset="-122"/>
              <a:cs typeface="微软雅黑" panose="020B0503020204020204" charset="-122"/>
              <a:sym typeface="+mn-ea"/>
            </a:endParaRPr>
          </a:p>
        </p:txBody>
      </p:sp>
      <p:sp>
        <p:nvSpPr>
          <p:cNvPr id="2" name="圆角矩形 1" descr="7b0a202020202262756c6c6574223a20227b5c2263617465676f727949645c223a31303032352c5c2274656d706c61746549645c223a32303233313437347d220a7d0a"/>
          <p:cNvSpPr/>
          <p:nvPr>
            <p:custDataLst>
              <p:tags r:id="rId2"/>
            </p:custDataLst>
          </p:nvPr>
        </p:nvSpPr>
        <p:spPr>
          <a:xfrm>
            <a:off x="827405" y="3141345"/>
            <a:ext cx="1035050" cy="480060"/>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28575" cmpd="dbl">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2000" dirty="0">
                <a:solidFill>
                  <a:schemeClr val="tx1"/>
                </a:solidFill>
                <a:latin typeface="微软雅黑" panose="020B0503020204020204" charset="-122"/>
                <a:ea typeface="微软雅黑" panose="020B0503020204020204" charset="-122"/>
                <a:cs typeface="微软雅黑" panose="020B0503020204020204" charset="-122"/>
                <a:sym typeface="+mn-ea"/>
              </a:rPr>
              <a:t> </a:t>
            </a:r>
            <a:r>
              <a:rPr lang="zh-CN" altLang="en-US" sz="2800" b="1" dirty="0">
                <a:solidFill>
                  <a:srgbClr val="0000FF"/>
                </a:solidFill>
                <a:ea typeface="华文中宋" panose="02010600040101010101" pitchFamily="2" charset="-122"/>
                <a:sym typeface="+mn-ea"/>
              </a:rPr>
              <a:t>结晶</a:t>
            </a:r>
          </a:p>
        </p:txBody>
      </p:sp>
      <p:sp>
        <p:nvSpPr>
          <p:cNvPr id="4" name="圆角矩形 3" descr="7b0a202020202262756c6c6574223a20227b5c2263617465676f727949645c223a31303032352c5c2274656d706c61746549645c223a32303233313437347d220a7d0a"/>
          <p:cNvSpPr/>
          <p:nvPr>
            <p:custDataLst>
              <p:tags r:id="rId3"/>
            </p:custDataLst>
          </p:nvPr>
        </p:nvSpPr>
        <p:spPr>
          <a:xfrm>
            <a:off x="827405" y="3933825"/>
            <a:ext cx="1035050" cy="480060"/>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28575" cmpd="dbl">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2000" dirty="0">
                <a:solidFill>
                  <a:schemeClr val="tx1"/>
                </a:solidFill>
                <a:latin typeface="微软雅黑" panose="020B0503020204020204" charset="-122"/>
                <a:ea typeface="微软雅黑" panose="020B0503020204020204" charset="-122"/>
                <a:cs typeface="微软雅黑" panose="020B0503020204020204" charset="-122"/>
                <a:sym typeface="+mn-ea"/>
              </a:rPr>
              <a:t> </a:t>
            </a:r>
            <a:r>
              <a:rPr lang="zh-CN" altLang="en-US" sz="2800" b="1" dirty="0">
                <a:solidFill>
                  <a:srgbClr val="0000FF"/>
                </a:solidFill>
                <a:ea typeface="华文中宋" panose="02010600040101010101" pitchFamily="2" charset="-122"/>
                <a:sym typeface="+mn-ea"/>
              </a:rPr>
              <a:t>相变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3602"/>
                                        </p:tgtEl>
                                        <p:attrNameLst>
                                          <p:attrName>style.visibility</p:attrName>
                                        </p:attrNameLst>
                                      </p:cBhvr>
                                      <p:to>
                                        <p:strVal val="visible"/>
                                      </p:to>
                                    </p:set>
                                    <p:animEffect transition="in" filter="wipe(left)">
                                      <p:cBhvr>
                                        <p:cTn id="7" dur="500"/>
                                        <p:tgtEl>
                                          <p:spTgt spid="15360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53603">
                                            <p:txEl>
                                              <p:pRg st="0" end="0"/>
                                            </p:txEl>
                                          </p:spTgt>
                                        </p:tgtEl>
                                        <p:attrNameLst>
                                          <p:attrName>style.visibility</p:attrName>
                                        </p:attrNameLst>
                                      </p:cBhvr>
                                      <p:to>
                                        <p:strVal val="visible"/>
                                      </p:to>
                                    </p:set>
                                    <p:animEffect transition="in" filter="wipe(left)">
                                      <p:cBhvr>
                                        <p:cTn id="11" dur="500"/>
                                        <p:tgtEl>
                                          <p:spTgt spid="153603">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53603">
                                            <p:txEl>
                                              <p:pRg st="1" end="1"/>
                                            </p:txEl>
                                          </p:spTgt>
                                        </p:tgtEl>
                                        <p:attrNameLst>
                                          <p:attrName>style.visibility</p:attrName>
                                        </p:attrNameLst>
                                      </p:cBhvr>
                                      <p:to>
                                        <p:strVal val="visible"/>
                                      </p:to>
                                    </p:set>
                                    <p:animEffect transition="in" filter="wipe(left)">
                                      <p:cBhvr>
                                        <p:cTn id="15" dur="500"/>
                                        <p:tgtEl>
                                          <p:spTgt spid="153603">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53603">
                                            <p:txEl>
                                              <p:pRg st="2" end="2"/>
                                            </p:txEl>
                                          </p:spTgt>
                                        </p:tgtEl>
                                        <p:attrNameLst>
                                          <p:attrName>style.visibility</p:attrName>
                                        </p:attrNameLst>
                                      </p:cBhvr>
                                      <p:to>
                                        <p:strVal val="visible"/>
                                      </p:to>
                                    </p:set>
                                    <p:animEffect transition="in" filter="wipe(left)">
                                      <p:cBhvr>
                                        <p:cTn id="19" dur="500"/>
                                        <p:tgtEl>
                                          <p:spTgt spid="153603">
                                            <p:txEl>
                                              <p:pRg st="2" end="2"/>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53603">
                                            <p:txEl>
                                              <p:pRg st="3" end="3"/>
                                            </p:txEl>
                                          </p:spTgt>
                                        </p:tgtEl>
                                        <p:attrNameLst>
                                          <p:attrName>style.visibility</p:attrName>
                                        </p:attrNameLst>
                                      </p:cBhvr>
                                      <p:to>
                                        <p:strVal val="visible"/>
                                      </p:to>
                                    </p:set>
                                    <p:animEffect transition="in" filter="wipe(left)">
                                      <p:cBhvr>
                                        <p:cTn id="23" dur="500"/>
                                        <p:tgtEl>
                                          <p:spTgt spid="15360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2" grpId="0"/>
      <p:bldP spid="153603" grpId="0" build="p" advAuto="100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type="title"/>
          </p:nvPr>
        </p:nvSpPr>
        <p:spPr>
          <a:xfrm>
            <a:off x="1908175" y="476250"/>
            <a:ext cx="6768281" cy="1143000"/>
          </a:xfrm>
        </p:spPr>
        <p:txBody>
          <a:bodyPr wrap="square" lIns="91440" tIns="45720" rIns="91440" bIns="45720" anchor="b"/>
          <a:lstStyle/>
          <a:p>
            <a:pPr eaLnBrk="1" hangingPunct="1"/>
            <a:r>
              <a:rPr lang="zh-CN" altLang="en-US" b="1" dirty="0">
                <a:solidFill>
                  <a:srgbClr val="FF0000"/>
                </a:solidFill>
                <a:latin typeface="华文中宋" panose="02010600040101010101" pitchFamily="2" charset="-122"/>
                <a:ea typeface="华文中宋" panose="02010600040101010101" pitchFamily="2" charset="-122"/>
              </a:rPr>
              <a:t>第一节 纯金属的结晶</a:t>
            </a:r>
            <a:endParaRPr lang="zh-CN" altLang="en-US" b="1" dirty="0">
              <a:solidFill>
                <a:srgbClr val="FF0000"/>
              </a:solidFill>
            </a:endParaRPr>
          </a:p>
        </p:txBody>
      </p:sp>
      <p:sp>
        <p:nvSpPr>
          <p:cNvPr id="155651" name="Rectangle 3"/>
          <p:cNvSpPr>
            <a:spLocks noGrp="1" noChangeArrowheads="1"/>
          </p:cNvSpPr>
          <p:nvPr>
            <p:ph idx="1"/>
          </p:nvPr>
        </p:nvSpPr>
        <p:spPr>
          <a:xfrm>
            <a:off x="971600" y="2132856"/>
            <a:ext cx="7848228" cy="3415283"/>
          </a:xfrm>
        </p:spPr>
        <p:txBody>
          <a:bodyPr vert="horz" wrap="square" lIns="91440" tIns="45720" rIns="91440" bIns="45720" numCol="1" anchor="t" anchorCtr="0" compatLnSpc="1"/>
          <a:lstStyle/>
          <a:p>
            <a:pPr eaLnBrk="1" hangingPunct="1">
              <a:lnSpc>
                <a:spcPct val="160000"/>
              </a:lnSpc>
            </a:pPr>
            <a:r>
              <a:rPr lang="zh-CN" altLang="en-US" b="1" dirty="0">
                <a:solidFill>
                  <a:schemeClr val="folHlink"/>
                </a:solidFill>
                <a:ea typeface="华文中宋" panose="02010600040101010101" pitchFamily="2" charset="-122"/>
              </a:rPr>
              <a:t>一、结晶的热力学条件</a:t>
            </a:r>
            <a:endParaRPr lang="en-US" altLang="zh-CN" b="1" dirty="0">
              <a:solidFill>
                <a:schemeClr val="folHlink"/>
              </a:solidFill>
              <a:ea typeface="华文中宋" panose="02010600040101010101" pitchFamily="2" charset="-122"/>
            </a:endParaRPr>
          </a:p>
          <a:p>
            <a:pPr eaLnBrk="1" hangingPunct="1">
              <a:lnSpc>
                <a:spcPct val="160000"/>
              </a:lnSpc>
            </a:pPr>
            <a:r>
              <a:rPr lang="zh-CN" altLang="en-US" b="1" dirty="0">
                <a:solidFill>
                  <a:schemeClr val="folHlink"/>
                </a:solidFill>
                <a:ea typeface="华文中宋" panose="02010600040101010101" pitchFamily="2" charset="-122"/>
              </a:rPr>
              <a:t>二、结晶过程</a:t>
            </a:r>
            <a:endParaRPr lang="en-US" altLang="zh-CN" b="1" dirty="0">
              <a:solidFill>
                <a:schemeClr val="folHlink"/>
              </a:solidFill>
              <a:latin typeface="华文中宋" panose="02010600040101010101" pitchFamily="2" charset="-122"/>
              <a:ea typeface="华文中宋" panose="02010600040101010101" pitchFamily="2" charset="-122"/>
            </a:endParaRPr>
          </a:p>
          <a:p>
            <a:pPr eaLnBrk="1" hangingPunct="1">
              <a:lnSpc>
                <a:spcPct val="160000"/>
              </a:lnSpc>
            </a:pPr>
            <a:r>
              <a:rPr lang="zh-CN" altLang="en-US" b="1" dirty="0">
                <a:solidFill>
                  <a:schemeClr val="folHlink"/>
                </a:solidFill>
                <a:latin typeface="华文中宋" panose="02010600040101010101" pitchFamily="2" charset="-122"/>
                <a:ea typeface="华文中宋" panose="02010600040101010101" pitchFamily="2" charset="-122"/>
              </a:rPr>
              <a:t>三、同素异构转变</a:t>
            </a:r>
          </a:p>
        </p:txBody>
      </p:sp>
      <p:pic>
        <p:nvPicPr>
          <p:cNvPr id="7" name="内容占位符 1" descr="新校徽（3M）弓之乐"/>
          <p:cNvPicPr>
            <a:picLocks noChangeAspect="1"/>
          </p:cNvPicPr>
          <p:nvPr/>
        </p:nvPicPr>
        <p:blipFill>
          <a:blip r:embed="rId2" cstate="print"/>
          <a:stretch>
            <a:fillRect/>
          </a:stretch>
        </p:blipFill>
        <p:spPr>
          <a:xfrm>
            <a:off x="19685" y="3175"/>
            <a:ext cx="746760" cy="735965"/>
          </a:xfrm>
          <a:prstGeom prst="rect">
            <a:avLst/>
          </a:prstGeom>
          <a:noFill/>
          <a:ln w="9525">
            <a:noFill/>
          </a:ln>
        </p:spPr>
      </p:pic>
      <p:sp>
        <p:nvSpPr>
          <p:cNvPr id="2" name="灯片编号占位符 3"/>
          <p:cNvSpPr txBox="1"/>
          <p:nvPr/>
        </p:nvSpPr>
        <p:spPr bwMode="auto">
          <a:xfrm>
            <a:off x="8316416" y="6529928"/>
            <a:ext cx="630734" cy="328072"/>
          </a:xfrm>
          <a:prstGeom prst="rect">
            <a:avLst/>
          </a:prstGeom>
          <a:noFill/>
          <a:ln w="9525">
            <a:noFill/>
            <a:miter lim="800000"/>
          </a:ln>
          <a:effectLst/>
        </p:spPr>
        <p:txBody>
          <a:bodyPr vert="horz" wrap="square" lIns="91440" tIns="45720" rIns="91440" bIns="45720" numCol="1" anchor="b" anchorCtr="0" compatLnSpc="1"/>
          <a:ls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9pPr>
          </a:lstStyle>
          <a:p>
            <a:pPr algn="r"/>
            <a:fld id="{9A0DB2DC-4C9A-4742-B13C-FB6460FD3503}" type="slidenum">
              <a:rPr lang="en-US" altLang="zh-CN" sz="1400" noProof="1" smtClean="0">
                <a:cs typeface="+mn-ea"/>
              </a:rPr>
              <a:t>10</a:t>
            </a:fld>
            <a:endParaRPr lang="en-US" altLang="zh-CN" sz="1400" dirty="0"/>
          </a:p>
        </p:txBody>
      </p:sp>
      <p:sp>
        <p:nvSpPr>
          <p:cNvPr id="3" name="日期占位符 1"/>
          <p:cNvSpPr>
            <a:spLocks noGrp="1"/>
          </p:cNvSpPr>
          <p:nvPr>
            <p:ph type="dt" sz="half" idx="10"/>
          </p:nvPr>
        </p:nvSpPr>
        <p:spPr>
          <a:xfrm>
            <a:off x="79375" y="6529388"/>
            <a:ext cx="1905000" cy="342900"/>
          </a:xfrm>
        </p:spPr>
        <p:txBody>
          <a:bodyPr wrap="square" lIns="91440" tIns="45720" rIns="91440" bIns="45720" anchor="b"/>
          <a:lst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stStyle>
          <a:p>
            <a:pPr lvl="0" indent="0"/>
            <a:fld id="{BB962C8B-B14F-4D97-AF65-F5344CB8AC3E}" type="datetime8">
              <a:rPr lang="en-US" altLang="zh-CN" sz="1400" dirty="0"/>
              <a:t>11/20/2025 5:38 PM</a:t>
            </a:fld>
            <a:endParaRPr lang="en-US" altLang="zh-CN"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267460" y="1676400"/>
            <a:ext cx="7495540" cy="1462405"/>
          </a:xfrm>
        </p:spPr>
        <p:txBody>
          <a:bodyPr/>
          <a:lstStyle/>
          <a:p>
            <a:r>
              <a:rPr lang="zh-CN" altLang="en-US" sz="6000" b="1" dirty="0">
                <a:solidFill>
                  <a:srgbClr val="FF0000"/>
                </a:solidFill>
                <a:ea typeface="华文中宋" panose="02010600040101010101" pitchFamily="2" charset="-122"/>
                <a:sym typeface="+mn-ea"/>
              </a:rPr>
              <a:t>结晶的热力学条件</a:t>
            </a:r>
            <a:endParaRPr lang="zh-CN" altLang="en-US" sz="6000" dirty="0"/>
          </a:p>
        </p:txBody>
      </p:sp>
      <p:sp>
        <p:nvSpPr>
          <p:cNvPr id="5" name="日期占位符 1"/>
          <p:cNvSpPr txBox="1"/>
          <p:nvPr/>
        </p:nvSpPr>
        <p:spPr>
          <a:xfrm>
            <a:off x="19685" y="6529929"/>
            <a:ext cx="1905000" cy="342900"/>
          </a:xfrm>
          <a:prstGeom prst="rect">
            <a:avLst/>
          </a:prstGeom>
        </p:spPr>
        <p:txBody>
          <a:bodyPr wrap="square" lIns="91440" tIns="45720" rIns="91440" bIns="45720" anchor="b"/>
          <a:lstStyle>
            <a:defPPr>
              <a:defRPr lang="zh-CN"/>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9pPr>
          </a:lstStyle>
          <a:p>
            <a:fld id="{BB962C8B-B14F-4D97-AF65-F5344CB8AC3E}" type="datetime8">
              <a:rPr lang="en-US" altLang="zh-CN" sz="1400" smtClean="0"/>
              <a:t>11/20/2025 5:38 PM</a:t>
            </a:fld>
            <a:endParaRPr lang="en-US" altLang="zh-CN" sz="1400" dirty="0"/>
          </a:p>
        </p:txBody>
      </p:sp>
      <p:sp>
        <p:nvSpPr>
          <p:cNvPr id="6" name="灯片编号占位符 3"/>
          <p:cNvSpPr txBox="1"/>
          <p:nvPr/>
        </p:nvSpPr>
        <p:spPr bwMode="auto">
          <a:xfrm>
            <a:off x="8316416" y="6529928"/>
            <a:ext cx="630734" cy="328072"/>
          </a:xfrm>
          <a:prstGeom prst="rect">
            <a:avLst/>
          </a:prstGeom>
          <a:noFill/>
          <a:ln w="9525">
            <a:noFill/>
            <a:miter lim="800000"/>
          </a:ln>
          <a:effectLst/>
        </p:spPr>
        <p:txBody>
          <a:bodyPr vert="horz" wrap="square" lIns="91440" tIns="45720" rIns="91440" bIns="45720" numCol="1" anchor="b" anchorCtr="0" compatLnSpc="1"/>
          <a:ls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9pPr>
          </a:lstStyle>
          <a:p>
            <a:pPr algn="r"/>
            <a:fld id="{9A0DB2DC-4C9A-4742-B13C-FB6460FD3503}" type="slidenum">
              <a:rPr lang="en-US" altLang="zh-CN" sz="1400" noProof="1" smtClean="0">
                <a:cs typeface="+mn-ea"/>
              </a:rPr>
              <a:t>11</a:t>
            </a:fld>
            <a:endParaRPr lang="en-US" altLang="zh-CN" sz="1400" dirty="0"/>
          </a:p>
        </p:txBody>
      </p:sp>
      <p:sp>
        <p:nvSpPr>
          <p:cNvPr id="3" name="文本框 2"/>
          <p:cNvSpPr txBox="1"/>
          <p:nvPr/>
        </p:nvSpPr>
        <p:spPr>
          <a:xfrm>
            <a:off x="434975" y="3429000"/>
            <a:ext cx="8328025" cy="1753235"/>
          </a:xfrm>
          <a:prstGeom prst="rect">
            <a:avLst/>
          </a:prstGeom>
        </p:spPr>
        <p:txBody>
          <a:bodyPr wrap="square">
            <a:spAutoFit/>
          </a:bodyPr>
          <a:lstStyle/>
          <a:p>
            <a:pPr marL="0" indent="0" algn="ctr"/>
            <a:r>
              <a:rPr lang="en-GB" altLang="zh-CN" sz="5400" b="1" i="1" dirty="0">
                <a:solidFill>
                  <a:srgbClr val="FF0000"/>
                </a:solidFill>
                <a:latin typeface="Times New Roman" panose="02020603050405020304" pitchFamily="18" charset="0"/>
                <a:cs typeface="Times New Roman" panose="02020603050405020304" pitchFamily="18" charset="0"/>
                <a:sym typeface="+mn-ea"/>
              </a:rPr>
              <a:t>Thermodynamic conditions of the crystallization</a:t>
            </a:r>
            <a:endParaRPr lang="en-GB" altLang="zh-CN" sz="5400" b="1" i="1" kern="0" dirty="0">
              <a:solidFill>
                <a:srgbClr val="FF0000"/>
              </a:solidFill>
              <a:latin typeface="Times New Roman" panose="02020603050405020304" pitchFamily="18" charset="0"/>
              <a:ea typeface="+mj-ea"/>
              <a:cs typeface="Times New Roman" panose="02020603050405020304" pitchFamily="18" charset="0"/>
            </a:endParaRPr>
          </a:p>
        </p:txBody>
      </p:sp>
      <p:pic>
        <p:nvPicPr>
          <p:cNvPr id="4"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264" t="15784" r="3206" b="19580"/>
          <a:stretch>
            <a:fillRect/>
          </a:stretch>
        </p:blipFill>
        <p:spPr bwMode="auto">
          <a:xfrm>
            <a:off x="0" y="0"/>
            <a:ext cx="2372995" cy="582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p:nvPr>
        </p:nvSpPr>
        <p:spPr>
          <a:xfrm>
            <a:off x="1619672" y="116632"/>
            <a:ext cx="6298009" cy="1143000"/>
          </a:xfrm>
        </p:spPr>
        <p:txBody>
          <a:bodyPr wrap="square" lIns="91440" tIns="45720" rIns="91440" bIns="45720" anchor="b"/>
          <a:lstStyle/>
          <a:p>
            <a:pPr eaLnBrk="1" hangingPunct="1">
              <a:lnSpc>
                <a:spcPct val="160000"/>
              </a:lnSpc>
            </a:pPr>
            <a:r>
              <a:rPr lang="zh-CN" altLang="en-US" b="1" dirty="0">
                <a:solidFill>
                  <a:srgbClr val="FF0000"/>
                </a:solidFill>
                <a:ea typeface="华文中宋" panose="02010600040101010101" pitchFamily="2" charset="-122"/>
              </a:rPr>
              <a:t>一、结晶的热力学条件</a:t>
            </a:r>
            <a:endParaRPr lang="en-US" altLang="zh-CN" b="1" dirty="0">
              <a:solidFill>
                <a:srgbClr val="FF0000"/>
              </a:solidFill>
              <a:ea typeface="华文中宋" panose="02010600040101010101" pitchFamily="2" charset="-122"/>
            </a:endParaRPr>
          </a:p>
        </p:txBody>
      </p:sp>
      <p:sp>
        <p:nvSpPr>
          <p:cNvPr id="9219" name="Rectangle 3"/>
          <p:cNvSpPr>
            <a:spLocks noGrp="1"/>
          </p:cNvSpPr>
          <p:nvPr>
            <p:ph idx="1"/>
          </p:nvPr>
        </p:nvSpPr>
        <p:spPr>
          <a:xfrm>
            <a:off x="393065" y="2100263"/>
            <a:ext cx="4860031" cy="4429125"/>
          </a:xfrm>
        </p:spPr>
        <p:txBody>
          <a:bodyPr wrap="square" lIns="91440" tIns="45720" rIns="91440" bIns="45720" anchor="t"/>
          <a:lstStyle/>
          <a:p>
            <a:pPr eaLnBrk="1" hangingPunct="1">
              <a:lnSpc>
                <a:spcPct val="90000"/>
              </a:lnSpc>
            </a:pPr>
            <a:r>
              <a:rPr lang="zh-CN" altLang="en-US" b="1" dirty="0">
                <a:solidFill>
                  <a:srgbClr val="0000FF"/>
                </a:solidFill>
                <a:latin typeface="华文中宋" panose="02010600040101010101" pitchFamily="2" charset="-122"/>
                <a:ea typeface="华文中宋" panose="02010600040101010101" pitchFamily="2" charset="-122"/>
              </a:rPr>
              <a:t>热力学定律</a:t>
            </a:r>
            <a:r>
              <a:rPr lang="zh-CN" altLang="en-US" dirty="0"/>
              <a:t>指出：在</a:t>
            </a:r>
            <a:r>
              <a:rPr lang="zh-CN" altLang="en-US" b="1" dirty="0">
                <a:solidFill>
                  <a:schemeClr val="folHlink"/>
                </a:solidFill>
                <a:ea typeface="华文中宋" panose="02010600040101010101" pitchFamily="2" charset="-122"/>
              </a:rPr>
              <a:t>等压</a:t>
            </a:r>
            <a:r>
              <a:rPr lang="zh-CN" altLang="en-US" dirty="0"/>
              <a:t>条件下，一切</a:t>
            </a:r>
            <a:r>
              <a:rPr lang="zh-CN" altLang="en-US" b="1" dirty="0">
                <a:solidFill>
                  <a:srgbClr val="0000FF"/>
                </a:solidFill>
              </a:rPr>
              <a:t>自发过程</a:t>
            </a:r>
            <a:r>
              <a:rPr lang="zh-CN" altLang="en-US" dirty="0"/>
              <a:t>都朝</a:t>
            </a:r>
            <a:r>
              <a:rPr lang="zh-CN" altLang="en-US" b="1" dirty="0">
                <a:solidFill>
                  <a:schemeClr val="folHlink"/>
                </a:solidFill>
                <a:ea typeface="华文中宋" panose="02010600040101010101" pitchFamily="2" charset="-122"/>
              </a:rPr>
              <a:t>体系自由能</a:t>
            </a:r>
            <a:r>
              <a:rPr lang="zh-CN" altLang="en-US" dirty="0"/>
              <a:t>（即能对外做功的那部分能量）</a:t>
            </a:r>
            <a:r>
              <a:rPr lang="zh-CN" altLang="en-US" b="1" dirty="0">
                <a:solidFill>
                  <a:schemeClr val="folHlink"/>
                </a:solidFill>
                <a:ea typeface="华文中宋" panose="02010600040101010101" pitchFamily="2" charset="-122"/>
              </a:rPr>
              <a:t>降低</a:t>
            </a:r>
            <a:r>
              <a:rPr lang="zh-CN" altLang="en-US" dirty="0"/>
              <a:t>的方向进行。</a:t>
            </a:r>
          </a:p>
          <a:p>
            <a:pPr eaLnBrk="1" hangingPunct="1">
              <a:lnSpc>
                <a:spcPct val="90000"/>
              </a:lnSpc>
              <a:buNone/>
            </a:pPr>
            <a:endParaRPr lang="zh-CN" altLang="en-US" dirty="0"/>
          </a:p>
          <a:p>
            <a:pPr eaLnBrk="1" hangingPunct="1">
              <a:lnSpc>
                <a:spcPct val="90000"/>
              </a:lnSpc>
            </a:pPr>
            <a:r>
              <a:rPr lang="zh-CN" altLang="en-US" b="1" dirty="0">
                <a:solidFill>
                  <a:schemeClr val="folHlink"/>
                </a:solidFill>
                <a:ea typeface="华文中宋" panose="02010600040101010101" pitchFamily="2" charset="-122"/>
              </a:rPr>
              <a:t>结晶</a:t>
            </a:r>
            <a:r>
              <a:rPr lang="zh-CN" altLang="en-US" b="1" dirty="0">
                <a:solidFill>
                  <a:schemeClr val="tx1"/>
                </a:solidFill>
                <a:ea typeface="华文中宋" panose="02010600040101010101" pitchFamily="2" charset="-122"/>
              </a:rPr>
              <a:t>的</a:t>
            </a:r>
            <a:r>
              <a:rPr lang="zh-CN" altLang="en-US" b="1" dirty="0">
                <a:solidFill>
                  <a:schemeClr val="folHlink"/>
                </a:solidFill>
                <a:ea typeface="华文中宋" panose="02010600040101010101" pitchFamily="2" charset="-122"/>
              </a:rPr>
              <a:t>驱动力：</a:t>
            </a:r>
            <a:r>
              <a:rPr lang="zh-CN" altLang="en-US" b="1" dirty="0">
                <a:solidFill>
                  <a:srgbClr val="FF0000"/>
                </a:solidFill>
                <a:ea typeface="华文中宋" panose="02010600040101010101" pitchFamily="2" charset="-122"/>
              </a:rPr>
              <a:t>液体</a:t>
            </a:r>
            <a:r>
              <a:rPr lang="en-US" altLang="zh-CN" b="1" dirty="0">
                <a:solidFill>
                  <a:schemeClr val="folHlink"/>
                </a:solidFill>
                <a:ea typeface="华文中宋" panose="02010600040101010101" pitchFamily="2" charset="-122"/>
              </a:rPr>
              <a:t>—</a:t>
            </a:r>
            <a:r>
              <a:rPr lang="zh-CN" altLang="en-US" b="1" dirty="0">
                <a:solidFill>
                  <a:schemeClr val="folHlink"/>
                </a:solidFill>
                <a:ea typeface="华文中宋" panose="02010600040101010101" pitchFamily="2" charset="-122"/>
              </a:rPr>
              <a:t>晶体</a:t>
            </a:r>
            <a:r>
              <a:rPr lang="zh-CN" altLang="en-US" b="1" dirty="0">
                <a:solidFill>
                  <a:srgbClr val="FF0000"/>
                </a:solidFill>
                <a:ea typeface="华文中宋" panose="02010600040101010101" pitchFamily="2" charset="-122"/>
              </a:rPr>
              <a:t>自由能</a:t>
            </a:r>
            <a:r>
              <a:rPr lang="zh-CN" altLang="en-US" b="1" dirty="0">
                <a:solidFill>
                  <a:schemeClr val="folHlink"/>
                </a:solidFill>
                <a:ea typeface="华文中宋" panose="02010600040101010101" pitchFamily="2" charset="-122"/>
              </a:rPr>
              <a:t>之差。</a:t>
            </a:r>
            <a:endParaRPr lang="zh-CN" altLang="en-US" dirty="0"/>
          </a:p>
          <a:p>
            <a:pPr marL="0" indent="0" eaLnBrk="1" hangingPunct="1">
              <a:buNone/>
            </a:pPr>
            <a:endParaRPr lang="zh-CN" altLang="en-US" dirty="0"/>
          </a:p>
        </p:txBody>
      </p:sp>
      <p:pic>
        <p:nvPicPr>
          <p:cNvPr id="9" name="内容占位符 1" descr="新校徽（3M）弓之乐"/>
          <p:cNvPicPr>
            <a:picLocks noChangeAspect="1"/>
          </p:cNvPicPr>
          <p:nvPr/>
        </p:nvPicPr>
        <p:blipFill>
          <a:blip r:embed="rId3" cstate="print"/>
          <a:stretch>
            <a:fillRect/>
          </a:stretch>
        </p:blipFill>
        <p:spPr>
          <a:xfrm>
            <a:off x="19685" y="3175"/>
            <a:ext cx="746760" cy="735965"/>
          </a:xfrm>
          <a:prstGeom prst="rect">
            <a:avLst/>
          </a:prstGeom>
          <a:noFill/>
          <a:ln w="9525">
            <a:noFill/>
          </a:ln>
        </p:spPr>
      </p:pic>
      <p:sp>
        <p:nvSpPr>
          <p:cNvPr id="2" name="灯片编号占位符 3"/>
          <p:cNvSpPr txBox="1"/>
          <p:nvPr/>
        </p:nvSpPr>
        <p:spPr bwMode="auto">
          <a:xfrm>
            <a:off x="8316416" y="6529928"/>
            <a:ext cx="630734" cy="328072"/>
          </a:xfrm>
          <a:prstGeom prst="rect">
            <a:avLst/>
          </a:prstGeom>
          <a:noFill/>
          <a:ln w="9525">
            <a:noFill/>
            <a:miter lim="800000"/>
          </a:ln>
          <a:effectLst/>
        </p:spPr>
        <p:txBody>
          <a:bodyPr vert="horz" wrap="square" lIns="91440" tIns="45720" rIns="91440" bIns="45720" numCol="1" anchor="b" anchorCtr="0" compatLnSpc="1"/>
          <a:ls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9pPr>
          </a:lstStyle>
          <a:p>
            <a:pPr algn="r"/>
            <a:fld id="{9A0DB2DC-4C9A-4742-B13C-FB6460FD3503}" type="slidenum">
              <a:rPr lang="en-US" altLang="zh-CN" sz="1400" noProof="1" smtClean="0">
                <a:cs typeface="+mn-ea"/>
              </a:rPr>
              <a:t>12</a:t>
            </a:fld>
            <a:endParaRPr lang="en-US" altLang="zh-CN" sz="1400" dirty="0"/>
          </a:p>
        </p:txBody>
      </p:sp>
      <p:pic>
        <p:nvPicPr>
          <p:cNvPr id="3" name="Picture 4" descr="〈工程材料〉图"/>
          <p:cNvPicPr>
            <a:picLocks noChangeAspect="1"/>
          </p:cNvPicPr>
          <p:nvPr/>
        </p:nvPicPr>
        <p:blipFill>
          <a:blip r:embed="rId4"/>
          <a:stretch>
            <a:fillRect/>
          </a:stretch>
        </p:blipFill>
        <p:spPr>
          <a:xfrm>
            <a:off x="5436096" y="2276872"/>
            <a:ext cx="3419475" cy="2832100"/>
          </a:xfrm>
          <a:prstGeom prst="rect">
            <a:avLst/>
          </a:prstGeom>
          <a:noFill/>
          <a:ln w="9525">
            <a:noFill/>
          </a:ln>
        </p:spPr>
      </p:pic>
      <p:sp>
        <p:nvSpPr>
          <p:cNvPr id="4" name="日期占位符 1"/>
          <p:cNvSpPr>
            <a:spLocks noGrp="1"/>
          </p:cNvSpPr>
          <p:nvPr>
            <p:ph type="dt" sz="half" idx="10"/>
          </p:nvPr>
        </p:nvSpPr>
        <p:spPr>
          <a:xfrm>
            <a:off x="79375" y="6529388"/>
            <a:ext cx="1905000" cy="342900"/>
          </a:xfrm>
        </p:spPr>
        <p:txBody>
          <a:bodyPr wrap="square" lIns="91440" tIns="45720" rIns="91440" bIns="45720" anchor="b"/>
          <a:lst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stStyle>
          <a:p>
            <a:pPr lvl="0" indent="0"/>
            <a:fld id="{BB962C8B-B14F-4D97-AF65-F5344CB8AC3E}" type="datetime8">
              <a:rPr lang="en-US" altLang="zh-CN" sz="1400" dirty="0"/>
              <a:t>11/20/2025 5:38 PM</a:t>
            </a:fld>
            <a:endParaRPr lang="en-US" altLang="zh-CN"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a:xfrm>
            <a:off x="1835785" y="0"/>
            <a:ext cx="6480810" cy="1549400"/>
          </a:xfrm>
        </p:spPr>
        <p:txBody>
          <a:bodyPr wrap="square" lIns="91440" tIns="45720" rIns="91440" bIns="45720" anchor="b"/>
          <a:lstStyle/>
          <a:p>
            <a:pPr eaLnBrk="1" hangingPunct="1"/>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1</a:t>
            </a:r>
            <a:r>
              <a:rPr kumimoji="1" lang="zh-CN" altLang="en-US" sz="4400" b="1" i="0" u="none" strike="noStrike" kern="0" cap="none" spc="0" normalizeH="0" baseline="0" noProof="0" dirty="0">
                <a:ln>
                  <a:noFill/>
                </a:ln>
                <a:solidFill>
                  <a:srgbClr val="FF0000"/>
                </a:solidFill>
                <a:uLnTx/>
                <a:uFillTx/>
                <a:ea typeface="华文中宋" panose="02010600040101010101" pitchFamily="2" charset="-122"/>
              </a:rPr>
              <a:t>、冷却曲线</a:t>
            </a:r>
            <a:r>
              <a:rPr kumimoji="1" lang="en-US" altLang="zh-CN" sz="4400" b="1" i="0" u="none" strike="noStrike" kern="0" cap="none" spc="0" normalizeH="0" baseline="0" noProof="0" dirty="0">
                <a:ln>
                  <a:noFill/>
                </a:ln>
                <a:solidFill>
                  <a:srgbClr val="FF0000"/>
                </a:solidFill>
                <a:uLnTx/>
                <a:uFillTx/>
                <a:ea typeface="华文中宋" panose="02010600040101010101" pitchFamily="2" charset="-122"/>
              </a:rPr>
              <a:t> </a:t>
            </a:r>
            <a:br>
              <a:rPr kumimoji="1" lang="en-US" altLang="zh-CN" sz="4400" b="1" i="0" u="none" strike="noStrike" kern="0" cap="none" spc="0" normalizeH="0" baseline="0" noProof="0" dirty="0">
                <a:ln>
                  <a:noFill/>
                </a:ln>
                <a:solidFill>
                  <a:srgbClr val="FF0000"/>
                </a:solidFill>
                <a:uLnTx/>
                <a:uFillTx/>
                <a:ea typeface="华文中宋" panose="02010600040101010101" pitchFamily="2" charset="-122"/>
              </a:rPr>
            </a:br>
            <a:r>
              <a:rPr kumimoji="1" lang="en-US" altLang="zh-CN" sz="4400" b="1" i="1" u="none" strike="noStrike" kern="0" cap="none" spc="0" normalizeH="0" baseline="0" noProof="0" dirty="0">
                <a:ln>
                  <a:noFill/>
                </a:ln>
                <a:solidFill>
                  <a:srgbClr val="FF0000"/>
                </a:solidFill>
                <a:uLnTx/>
                <a:uFillTx/>
                <a:latin typeface="Times New Roman" panose="02020603050405020304" pitchFamily="18" charset="0"/>
                <a:ea typeface="华文中宋" panose="02010600040101010101" pitchFamily="2" charset="-122"/>
                <a:cs typeface="Times New Roman" panose="02020603050405020304" pitchFamily="18" charset="0"/>
              </a:rPr>
              <a:t>Cooling curve</a:t>
            </a:r>
          </a:p>
        </p:txBody>
      </p:sp>
      <p:sp>
        <p:nvSpPr>
          <p:cNvPr id="10243" name="Rectangle 3"/>
          <p:cNvSpPr>
            <a:spLocks noGrp="1"/>
          </p:cNvSpPr>
          <p:nvPr>
            <p:ph idx="1"/>
          </p:nvPr>
        </p:nvSpPr>
        <p:spPr>
          <a:xfrm>
            <a:off x="468630" y="1945005"/>
            <a:ext cx="5400040" cy="4334510"/>
          </a:xfrm>
        </p:spPr>
        <p:txBody>
          <a:bodyPr wrap="square" lIns="91440" tIns="45720" rIns="91440" bIns="45720" anchor="t"/>
          <a:lstStyle/>
          <a:p>
            <a:pPr eaLnBrk="1" hangingPunct="1"/>
            <a:r>
              <a:rPr lang="zh-CN" altLang="en-US" b="1" dirty="0">
                <a:solidFill>
                  <a:schemeClr val="tx2"/>
                </a:solidFill>
                <a:ea typeface="华文中宋" panose="02010600040101010101" pitchFamily="2" charset="-122"/>
              </a:rPr>
              <a:t>冷却曲线：</a:t>
            </a:r>
            <a:r>
              <a:rPr lang="zh-CN" altLang="en-US" b="1" dirty="0">
                <a:solidFill>
                  <a:schemeClr val="tx1"/>
                </a:solidFill>
                <a:ea typeface="华文中宋" panose="02010600040101010101" pitchFamily="2" charset="-122"/>
              </a:rPr>
              <a:t>金属</a:t>
            </a:r>
            <a:r>
              <a:rPr lang="zh-CN" altLang="en-US" b="1" dirty="0">
                <a:solidFill>
                  <a:schemeClr val="folHlink"/>
                </a:solidFill>
                <a:ea typeface="华文中宋" panose="02010600040101010101" pitchFamily="2" charset="-122"/>
              </a:rPr>
              <a:t>结晶时</a:t>
            </a:r>
            <a:r>
              <a:rPr lang="zh-CN" altLang="en-US" b="1" dirty="0">
                <a:solidFill>
                  <a:srgbClr val="FF0000"/>
                </a:solidFill>
                <a:ea typeface="华文中宋" panose="02010600040101010101" pitchFamily="2" charset="-122"/>
              </a:rPr>
              <a:t>温度</a:t>
            </a:r>
            <a:r>
              <a:rPr lang="en-US" altLang="zh-CN" b="1" dirty="0">
                <a:solidFill>
                  <a:schemeClr val="folHlink"/>
                </a:solidFill>
                <a:ea typeface="华文中宋" panose="02010600040101010101" pitchFamily="2" charset="-122"/>
              </a:rPr>
              <a:t>——</a:t>
            </a:r>
            <a:r>
              <a:rPr lang="zh-CN" altLang="en-US" b="1" dirty="0">
                <a:solidFill>
                  <a:srgbClr val="0000FF"/>
                </a:solidFill>
                <a:ea typeface="华文中宋" panose="02010600040101010101" pitchFamily="2" charset="-122"/>
              </a:rPr>
              <a:t>时间</a:t>
            </a:r>
            <a:r>
              <a:rPr lang="zh-CN" altLang="en-US" b="1" dirty="0">
                <a:solidFill>
                  <a:schemeClr val="tx1"/>
                </a:solidFill>
                <a:ea typeface="华文中宋" panose="02010600040101010101" pitchFamily="2" charset="-122"/>
              </a:rPr>
              <a:t>的</a:t>
            </a:r>
            <a:r>
              <a:rPr lang="zh-CN" altLang="en-US" b="1" dirty="0">
                <a:solidFill>
                  <a:schemeClr val="folHlink"/>
                </a:solidFill>
                <a:ea typeface="华文中宋" panose="02010600040101010101" pitchFamily="2" charset="-122"/>
              </a:rPr>
              <a:t>关系曲线</a:t>
            </a:r>
            <a:r>
              <a:rPr lang="zh-CN" altLang="en-US" b="1" dirty="0">
                <a:solidFill>
                  <a:schemeClr val="tx2"/>
                </a:solidFill>
                <a:ea typeface="华文中宋" panose="02010600040101010101" pitchFamily="2" charset="-122"/>
              </a:rPr>
              <a:t>。</a:t>
            </a:r>
          </a:p>
          <a:p>
            <a:pPr eaLnBrk="1" hangingPunct="1">
              <a:lnSpc>
                <a:spcPct val="160000"/>
              </a:lnSpc>
            </a:pPr>
            <a:r>
              <a:rPr lang="en-US" altLang="zh-CN" b="1" dirty="0">
                <a:solidFill>
                  <a:schemeClr val="folHlink"/>
                </a:solidFill>
                <a:ea typeface="华文中宋" panose="02010600040101010101" pitchFamily="2" charset="-122"/>
              </a:rPr>
              <a:t>T</a:t>
            </a:r>
            <a:r>
              <a:rPr lang="en-US" altLang="zh-CN" b="1" baseline="-25000" dirty="0">
                <a:solidFill>
                  <a:schemeClr val="folHlink"/>
                </a:solidFill>
                <a:ea typeface="华文中宋" panose="02010600040101010101" pitchFamily="2" charset="-122"/>
              </a:rPr>
              <a:t>1</a:t>
            </a:r>
            <a:r>
              <a:rPr lang="zh-CN" altLang="en-US" b="1" dirty="0">
                <a:solidFill>
                  <a:schemeClr val="tx2"/>
                </a:solidFill>
                <a:ea typeface="华文中宋" panose="02010600040101010101" pitchFamily="2" charset="-122"/>
              </a:rPr>
              <a:t>为</a:t>
            </a:r>
            <a:r>
              <a:rPr lang="zh-CN" altLang="en-US" b="1" dirty="0">
                <a:solidFill>
                  <a:srgbClr val="0000FF"/>
                </a:solidFill>
                <a:ea typeface="华文中宋" panose="02010600040101010101" pitchFamily="2" charset="-122"/>
              </a:rPr>
              <a:t>实际结晶温度</a:t>
            </a:r>
            <a:endParaRPr lang="zh-CN" altLang="en-US" b="1" dirty="0">
              <a:ea typeface="华文中宋" panose="02010600040101010101" pitchFamily="2" charset="-122"/>
            </a:endParaRPr>
          </a:p>
          <a:p>
            <a:pPr eaLnBrk="1" hangingPunct="1">
              <a:lnSpc>
                <a:spcPct val="160000"/>
              </a:lnSpc>
            </a:pPr>
            <a:r>
              <a:rPr lang="zh-CN" altLang="en-US" b="1" dirty="0">
                <a:ea typeface="华文中宋" panose="02010600040101010101" pitchFamily="2" charset="-122"/>
              </a:rPr>
              <a:t>曲线上的</a:t>
            </a:r>
            <a:r>
              <a:rPr lang="zh-CN" altLang="en-US" b="1" dirty="0">
                <a:solidFill>
                  <a:srgbClr val="0000FF"/>
                </a:solidFill>
                <a:ea typeface="华文中宋" panose="02010600040101010101" pitchFamily="2" charset="-122"/>
              </a:rPr>
              <a:t>水平阶段</a:t>
            </a:r>
            <a:r>
              <a:rPr lang="zh-CN" altLang="en-US" b="1" dirty="0">
                <a:ea typeface="华文中宋" panose="02010600040101010101" pitchFamily="2" charset="-122"/>
              </a:rPr>
              <a:t>是由于结晶时放出</a:t>
            </a:r>
            <a:r>
              <a:rPr lang="zh-CN" altLang="en-US" b="1" dirty="0">
                <a:solidFill>
                  <a:srgbClr val="0000FF"/>
                </a:solidFill>
                <a:ea typeface="华文中宋" panose="02010600040101010101" pitchFamily="2" charset="-122"/>
              </a:rPr>
              <a:t>结晶潜热</a:t>
            </a:r>
            <a:r>
              <a:rPr lang="zh-CN" altLang="en-US" b="1" dirty="0">
                <a:ea typeface="华文中宋" panose="02010600040101010101" pitchFamily="2" charset="-122"/>
              </a:rPr>
              <a:t>引起的</a:t>
            </a:r>
            <a:endParaRPr lang="en-US" altLang="zh-CN" dirty="0"/>
          </a:p>
        </p:txBody>
      </p:sp>
      <p:sp>
        <p:nvSpPr>
          <p:cNvPr id="10246" name="日期占位符 1"/>
          <p:cNvSpPr>
            <a:spLocks noGrp="1"/>
          </p:cNvSpPr>
          <p:nvPr>
            <p:ph type="dt" sz="half" idx="10"/>
          </p:nvPr>
        </p:nvSpPr>
        <p:spPr>
          <a:xfrm>
            <a:off x="251460" y="6453505"/>
            <a:ext cx="1905000" cy="342900"/>
          </a:xfrm>
        </p:spPr>
        <p:txBody>
          <a:bodyPr wrap="square" lIns="91440" tIns="45720" rIns="91440" bIns="45720" anchor="b"/>
          <a:lst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stStyle>
          <a:p>
            <a:pPr lvl="0" indent="0"/>
            <a:fld id="{BB962C8B-B14F-4D97-AF65-F5344CB8AC3E}" type="datetime8">
              <a:rPr lang="en-US" altLang="zh-CN" sz="1400" dirty="0"/>
              <a:t>11/20/2025 5:38 PM</a:t>
            </a:fld>
            <a:endParaRPr lang="en-US" altLang="zh-CN" sz="1400" dirty="0"/>
          </a:p>
        </p:txBody>
      </p:sp>
      <p:pic>
        <p:nvPicPr>
          <p:cNvPr id="8" name="内容占位符 1" descr="新校徽（3M）弓之乐"/>
          <p:cNvPicPr>
            <a:picLocks noChangeAspect="1"/>
          </p:cNvPicPr>
          <p:nvPr/>
        </p:nvPicPr>
        <p:blipFill>
          <a:blip r:embed="rId3" cstate="print"/>
          <a:stretch>
            <a:fillRect/>
          </a:stretch>
        </p:blipFill>
        <p:spPr>
          <a:xfrm>
            <a:off x="19685" y="3175"/>
            <a:ext cx="746760" cy="735965"/>
          </a:xfrm>
          <a:prstGeom prst="rect">
            <a:avLst/>
          </a:prstGeom>
          <a:noFill/>
          <a:ln w="9525">
            <a:noFill/>
          </a:ln>
        </p:spPr>
      </p:pic>
      <p:sp>
        <p:nvSpPr>
          <p:cNvPr id="2" name="灯片编号占位符 3"/>
          <p:cNvSpPr txBox="1"/>
          <p:nvPr/>
        </p:nvSpPr>
        <p:spPr bwMode="auto">
          <a:xfrm>
            <a:off x="8316416" y="6529928"/>
            <a:ext cx="630734" cy="328072"/>
          </a:xfrm>
          <a:prstGeom prst="rect">
            <a:avLst/>
          </a:prstGeom>
          <a:noFill/>
          <a:ln w="9525">
            <a:noFill/>
            <a:miter lim="800000"/>
          </a:ln>
          <a:effectLst/>
        </p:spPr>
        <p:txBody>
          <a:bodyPr vert="horz" wrap="square" lIns="91440" tIns="45720" rIns="91440" bIns="45720" numCol="1" anchor="b" anchorCtr="0" compatLnSpc="1"/>
          <a:ls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9pPr>
          </a:lstStyle>
          <a:p>
            <a:pPr algn="r"/>
            <a:fld id="{9A0DB2DC-4C9A-4742-B13C-FB6460FD3503}" type="slidenum">
              <a:rPr lang="en-US" altLang="zh-CN" sz="1400" noProof="1" smtClean="0">
                <a:cs typeface="+mn-ea"/>
              </a:rPr>
              <a:t>13</a:t>
            </a:fld>
            <a:endParaRPr lang="en-US" altLang="zh-CN" sz="1400" dirty="0"/>
          </a:p>
        </p:txBody>
      </p:sp>
      <p:grpSp>
        <p:nvGrpSpPr>
          <p:cNvPr id="3" name="Group 4"/>
          <p:cNvGrpSpPr/>
          <p:nvPr/>
        </p:nvGrpSpPr>
        <p:grpSpPr>
          <a:xfrm>
            <a:off x="6435860" y="4124325"/>
            <a:ext cx="2446941" cy="2466846"/>
            <a:chOff x="3204" y="1248"/>
            <a:chExt cx="2317" cy="3153"/>
          </a:xfrm>
        </p:grpSpPr>
        <p:pic>
          <p:nvPicPr>
            <p:cNvPr id="4" name="Picture 5" descr="冷却曲线"/>
            <p:cNvPicPr>
              <a:picLocks noChangeAspect="1"/>
            </p:cNvPicPr>
            <p:nvPr/>
          </p:nvPicPr>
          <p:blipFill>
            <a:blip r:embed="rId4"/>
            <a:stretch>
              <a:fillRect/>
            </a:stretch>
          </p:blipFill>
          <p:spPr>
            <a:xfrm>
              <a:off x="3264" y="1248"/>
              <a:ext cx="2256" cy="2720"/>
            </a:xfrm>
            <a:prstGeom prst="rect">
              <a:avLst/>
            </a:prstGeom>
            <a:noFill/>
            <a:ln w="38100" cap="flat" cmpd="sng">
              <a:solidFill>
                <a:srgbClr val="99CCFF"/>
              </a:solidFill>
              <a:prstDash val="solid"/>
              <a:miter/>
              <a:headEnd type="none" w="med" len="med"/>
              <a:tailEnd type="none" w="med" len="med"/>
            </a:ln>
          </p:spPr>
        </p:pic>
        <p:sp>
          <p:nvSpPr>
            <p:cNvPr id="5" name="Text Box 6"/>
            <p:cNvSpPr txBox="1"/>
            <p:nvPr/>
          </p:nvSpPr>
          <p:spPr>
            <a:xfrm>
              <a:off x="3204" y="4011"/>
              <a:ext cx="2317" cy="390"/>
            </a:xfrm>
            <a:prstGeom prst="rect">
              <a:avLst/>
            </a:prstGeom>
            <a:noFill/>
            <a:ln w="9525">
              <a:noFill/>
            </a:ln>
          </p:spPr>
          <p:txBody>
            <a:bodyPr/>
            <a:lstStyle>
              <a:defPPr>
                <a:defRPr lang="zh-CN"/>
              </a:defPPr>
              <a:lvl1pPr marL="0" lvl="0"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9pPr>
            </a:lstStyle>
            <a:p>
              <a:pPr lvl="0" algn="ctr" eaLnBrk="1" hangingPunct="1">
                <a:spcBef>
                  <a:spcPct val="50000"/>
                </a:spcBef>
              </a:pPr>
              <a:r>
                <a:rPr lang="zh-CN" altLang="en-US" sz="2000" b="1" dirty="0">
                  <a:solidFill>
                    <a:srgbClr val="0000FF"/>
                  </a:solidFill>
                  <a:latin typeface="宋体" panose="02010600030101010101" pitchFamily="2" charset="-122"/>
                  <a:ea typeface="宋体" panose="02010600030101010101" pitchFamily="2" charset="-122"/>
                </a:rPr>
                <a:t>纯金属的冷却曲线</a:t>
              </a:r>
            </a:p>
          </p:txBody>
        </p:sp>
      </p:grpSp>
      <p:sp>
        <p:nvSpPr>
          <p:cNvPr id="6" name="圆角矩形 5" descr="7b0a202020202262756c6c6574223a20227b5c2263617465676f727949645c223a31303032352c5c2274656d706c61746549645c223a32303233313437347d220a7d0a"/>
          <p:cNvSpPr/>
          <p:nvPr>
            <p:custDataLst>
              <p:tags r:id="rId1"/>
            </p:custDataLst>
          </p:nvPr>
        </p:nvSpPr>
        <p:spPr>
          <a:xfrm>
            <a:off x="755650" y="1988820"/>
            <a:ext cx="1781175" cy="480060"/>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28575" cmpd="dbl">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2000" dirty="0">
                <a:solidFill>
                  <a:schemeClr val="tx1"/>
                </a:solidFill>
                <a:latin typeface="微软雅黑" panose="020B0503020204020204" charset="-122"/>
                <a:ea typeface="微软雅黑" panose="020B0503020204020204" charset="-122"/>
                <a:cs typeface="微软雅黑" panose="020B0503020204020204" charset="-122"/>
                <a:sym typeface="+mn-ea"/>
              </a:rPr>
              <a:t> </a:t>
            </a:r>
            <a:r>
              <a:rPr lang="zh-CN" altLang="en-US" sz="2800" b="1" dirty="0">
                <a:solidFill>
                  <a:srgbClr val="0000FF"/>
                </a:solidFill>
                <a:ea typeface="华文中宋" panose="02010600040101010101" pitchFamily="2" charset="-122"/>
                <a:sym typeface="+mn-ea"/>
              </a:rPr>
              <a:t>冷却曲线</a:t>
            </a:r>
            <a:endParaRPr lang="zh-CN" altLang="en-US" sz="2800" b="1" dirty="0">
              <a:solidFill>
                <a:srgbClr val="0000FF"/>
              </a:solidFill>
              <a:latin typeface="微软雅黑" panose="020B0503020204020204" charset="-122"/>
              <a:ea typeface="华文中宋" panose="02010600040101010101" pitchFamily="2" charset="-122"/>
              <a:cs typeface="微软雅黑" panose="020B0503020204020204" charset="-122"/>
              <a:sym typeface="+mn-ea"/>
            </a:endParaRPr>
          </a:p>
        </p:txBody>
      </p:sp>
      <p:pic>
        <p:nvPicPr>
          <p:cNvPr id="7" name="Picture 4" descr="〈工程材料〉图"/>
          <p:cNvPicPr>
            <a:picLocks noChangeAspect="1"/>
          </p:cNvPicPr>
          <p:nvPr/>
        </p:nvPicPr>
        <p:blipFill>
          <a:blip r:embed="rId5"/>
          <a:stretch>
            <a:fillRect/>
          </a:stretch>
        </p:blipFill>
        <p:spPr>
          <a:xfrm>
            <a:off x="6267450" y="1833880"/>
            <a:ext cx="2588260" cy="2143760"/>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p:nvPr>
        </p:nvSpPr>
        <p:spPr>
          <a:xfrm>
            <a:off x="1547664" y="0"/>
            <a:ext cx="6908949" cy="1143000"/>
          </a:xfrm>
        </p:spPr>
        <p:txBody>
          <a:bodyPr wrap="square" lIns="91440" tIns="45720" rIns="91440" bIns="45720" anchor="b"/>
          <a:lstStyle/>
          <a:p>
            <a:pPr eaLnBrk="1" hangingPunct="1"/>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2</a:t>
            </a:r>
            <a:r>
              <a:rPr kumimoji="1" lang="zh-CN" altLang="en-US" sz="4400" b="1" i="0" u="none" strike="noStrike" kern="0" cap="none" spc="0" normalizeH="0" baseline="0" noProof="0" dirty="0">
                <a:ln>
                  <a:noFill/>
                </a:ln>
                <a:solidFill>
                  <a:srgbClr val="FF0000"/>
                </a:solidFill>
                <a:uLnTx/>
                <a:uFillTx/>
                <a:ea typeface="华文中宋" panose="02010600040101010101" pitchFamily="2" charset="-122"/>
              </a:rPr>
              <a:t>、过冷与过冷度</a:t>
            </a:r>
            <a:endParaRPr lang="zh-CN" altLang="en-US" b="1" dirty="0">
              <a:solidFill>
                <a:srgbClr val="FF0000"/>
              </a:solidFill>
              <a:latin typeface="Times New Roman" panose="02020603050405020304" pitchFamily="18" charset="0"/>
              <a:ea typeface="华文中宋" panose="02010600040101010101" pitchFamily="2" charset="-122"/>
            </a:endParaRPr>
          </a:p>
        </p:txBody>
      </p:sp>
      <p:sp>
        <p:nvSpPr>
          <p:cNvPr id="11267" name="Rectangle 3"/>
          <p:cNvSpPr>
            <a:spLocks noGrp="1"/>
          </p:cNvSpPr>
          <p:nvPr>
            <p:ph type="body" sz="half" idx="1"/>
          </p:nvPr>
        </p:nvSpPr>
        <p:spPr>
          <a:xfrm>
            <a:off x="214313" y="2133600"/>
            <a:ext cx="5870575" cy="4175125"/>
          </a:xfrm>
        </p:spPr>
        <p:txBody>
          <a:bodyPr wrap="square" lIns="91440" tIns="45720" rIns="91440" bIns="45720" anchor="t"/>
          <a:lstStyle/>
          <a:p>
            <a:pPr eaLnBrk="1" hangingPunct="1">
              <a:lnSpc>
                <a:spcPct val="140000"/>
              </a:lnSpc>
            </a:pPr>
            <a:r>
              <a:rPr lang="zh-CN" altLang="en-US" b="1" dirty="0">
                <a:solidFill>
                  <a:schemeClr val="folHlink"/>
                </a:solidFill>
                <a:ea typeface="华文中宋" panose="02010600040101010101" pitchFamily="2" charset="-122"/>
              </a:rPr>
              <a:t>纯金属</a:t>
            </a:r>
            <a:r>
              <a:rPr lang="zh-CN" altLang="en-US" b="1" dirty="0">
                <a:ea typeface="华文中宋" panose="02010600040101010101" pitchFamily="2" charset="-122"/>
              </a:rPr>
              <a:t>都有一个</a:t>
            </a:r>
            <a:r>
              <a:rPr lang="zh-CN" altLang="en-US" b="1" dirty="0">
                <a:solidFill>
                  <a:schemeClr val="tx2"/>
                </a:solidFill>
                <a:ea typeface="华文中宋" panose="02010600040101010101" pitchFamily="2" charset="-122"/>
              </a:rPr>
              <a:t>理论结晶温度</a:t>
            </a:r>
            <a:r>
              <a:rPr lang="en-US" altLang="zh-CN" b="1" dirty="0">
                <a:solidFill>
                  <a:schemeClr val="folHlink"/>
                </a:solidFill>
                <a:ea typeface="华文中宋" panose="02010600040101010101" pitchFamily="2" charset="-122"/>
              </a:rPr>
              <a:t>T</a:t>
            </a:r>
            <a:r>
              <a:rPr lang="en-US" altLang="zh-CN" b="1" baseline="-25000" dirty="0">
                <a:solidFill>
                  <a:schemeClr val="folHlink"/>
                </a:solidFill>
                <a:ea typeface="华文中宋" panose="02010600040101010101" pitchFamily="2" charset="-122"/>
              </a:rPr>
              <a:t>0</a:t>
            </a:r>
            <a:r>
              <a:rPr lang="en-US" altLang="zh-CN" b="1" dirty="0">
                <a:ea typeface="华文中宋" panose="02010600040101010101" pitchFamily="2" charset="-122"/>
              </a:rPr>
              <a:t>(</a:t>
            </a:r>
            <a:r>
              <a:rPr lang="zh-CN" altLang="en-US" b="1" dirty="0">
                <a:solidFill>
                  <a:schemeClr val="folHlink"/>
                </a:solidFill>
                <a:ea typeface="华文中宋" panose="02010600040101010101" pitchFamily="2" charset="-122"/>
              </a:rPr>
              <a:t>熔点</a:t>
            </a:r>
            <a:r>
              <a:rPr lang="zh-CN" altLang="en-US" b="1" dirty="0">
                <a:ea typeface="华文中宋" panose="02010600040101010101" pitchFamily="2" charset="-122"/>
              </a:rPr>
              <a:t>或</a:t>
            </a:r>
            <a:r>
              <a:rPr lang="zh-CN" altLang="en-US" b="1" dirty="0">
                <a:solidFill>
                  <a:schemeClr val="tx2"/>
                </a:solidFill>
                <a:ea typeface="华文中宋" panose="02010600040101010101" pitchFamily="2" charset="-122"/>
              </a:rPr>
              <a:t>平衡结晶温度</a:t>
            </a:r>
            <a:r>
              <a:rPr lang="en-US" altLang="zh-CN" b="1" dirty="0">
                <a:ea typeface="华文中宋" panose="02010600040101010101" pitchFamily="2" charset="-122"/>
              </a:rPr>
              <a:t>)</a:t>
            </a:r>
            <a:r>
              <a:rPr lang="zh-CN" altLang="en-US" b="1" dirty="0">
                <a:ea typeface="华文中宋" panose="02010600040101010101" pitchFamily="2" charset="-122"/>
              </a:rPr>
              <a:t>。在该温度下</a:t>
            </a:r>
            <a:r>
              <a:rPr lang="en-US" altLang="zh-CN" b="1" dirty="0">
                <a:ea typeface="华文中宋" panose="02010600040101010101" pitchFamily="2" charset="-122"/>
              </a:rPr>
              <a:t>, </a:t>
            </a:r>
            <a:r>
              <a:rPr lang="zh-CN" altLang="en-US" b="1" dirty="0">
                <a:ea typeface="华文中宋" panose="02010600040101010101" pitchFamily="2" charset="-122"/>
              </a:rPr>
              <a:t>液体和晶体处于</a:t>
            </a:r>
            <a:r>
              <a:rPr lang="zh-CN" altLang="en-US" b="1" dirty="0">
                <a:solidFill>
                  <a:schemeClr val="folHlink"/>
                </a:solidFill>
                <a:ea typeface="华文中宋" panose="02010600040101010101" pitchFamily="2" charset="-122"/>
              </a:rPr>
              <a:t>动平衡状态</a:t>
            </a:r>
            <a:r>
              <a:rPr lang="zh-CN" altLang="en-US" b="1" dirty="0">
                <a:ea typeface="华文中宋" panose="02010600040101010101" pitchFamily="2" charset="-122"/>
              </a:rPr>
              <a:t>。</a:t>
            </a:r>
          </a:p>
          <a:p>
            <a:pPr eaLnBrk="1" hangingPunct="1">
              <a:lnSpc>
                <a:spcPct val="140000"/>
              </a:lnSpc>
            </a:pPr>
            <a:r>
              <a:rPr lang="zh-CN" altLang="en-US" b="1" dirty="0">
                <a:solidFill>
                  <a:schemeClr val="folHlink"/>
                </a:solidFill>
                <a:ea typeface="华文中宋" panose="02010600040101010101" pitchFamily="2" charset="-122"/>
              </a:rPr>
              <a:t>结晶只有在</a:t>
            </a:r>
            <a:r>
              <a:rPr lang="en-US" altLang="zh-CN" b="1" dirty="0">
                <a:solidFill>
                  <a:schemeClr val="folHlink"/>
                </a:solidFill>
                <a:ea typeface="华文中宋" panose="02010600040101010101" pitchFamily="2" charset="-122"/>
              </a:rPr>
              <a:t>T</a:t>
            </a:r>
            <a:r>
              <a:rPr lang="en-US" altLang="zh-CN" b="1" baseline="-25000" dirty="0">
                <a:solidFill>
                  <a:schemeClr val="folHlink"/>
                </a:solidFill>
                <a:ea typeface="华文中宋" panose="02010600040101010101" pitchFamily="2" charset="-122"/>
              </a:rPr>
              <a:t>0</a:t>
            </a:r>
            <a:r>
              <a:rPr lang="zh-CN" altLang="en-US" b="1" dirty="0">
                <a:solidFill>
                  <a:schemeClr val="folHlink"/>
                </a:solidFill>
                <a:ea typeface="华文中宋" panose="02010600040101010101" pitchFamily="2" charset="-122"/>
              </a:rPr>
              <a:t>以下</a:t>
            </a:r>
            <a:r>
              <a:rPr lang="zh-CN" altLang="en-US" b="1" dirty="0">
                <a:ea typeface="华文中宋" panose="02010600040101010101" pitchFamily="2" charset="-122"/>
              </a:rPr>
              <a:t>的</a:t>
            </a:r>
            <a:r>
              <a:rPr lang="zh-CN" altLang="en-US" b="1" dirty="0">
                <a:solidFill>
                  <a:schemeClr val="folHlink"/>
                </a:solidFill>
                <a:ea typeface="华文中宋" panose="02010600040101010101" pitchFamily="2" charset="-122"/>
              </a:rPr>
              <a:t>实际结晶温度</a:t>
            </a:r>
            <a:r>
              <a:rPr lang="zh-CN" altLang="en-US" b="1" dirty="0">
                <a:ea typeface="华文中宋" panose="02010600040101010101" pitchFamily="2" charset="-122"/>
              </a:rPr>
              <a:t>下</a:t>
            </a:r>
            <a:r>
              <a:rPr lang="zh-CN" altLang="en-US" b="1" dirty="0">
                <a:solidFill>
                  <a:schemeClr val="folHlink"/>
                </a:solidFill>
                <a:ea typeface="华文中宋" panose="02010600040101010101" pitchFamily="2" charset="-122"/>
              </a:rPr>
              <a:t>才能进行</a:t>
            </a:r>
            <a:r>
              <a:rPr lang="zh-CN" altLang="en-US" b="1" dirty="0">
                <a:solidFill>
                  <a:srgbClr val="66FF99"/>
                </a:solidFill>
                <a:ea typeface="华文中宋" panose="02010600040101010101" pitchFamily="2" charset="-122"/>
              </a:rPr>
              <a:t>。</a:t>
            </a:r>
            <a:endParaRPr lang="zh-CN" altLang="en-US" b="1" dirty="0">
              <a:ea typeface="华文中宋" panose="02010600040101010101" pitchFamily="2" charset="-122"/>
            </a:endParaRPr>
          </a:p>
        </p:txBody>
      </p:sp>
      <p:sp>
        <p:nvSpPr>
          <p:cNvPr id="11270" name="日期占位符 1"/>
          <p:cNvSpPr>
            <a:spLocks noGrp="1"/>
          </p:cNvSpPr>
          <p:nvPr>
            <p:ph type="dt" sz="half" idx="10"/>
          </p:nvPr>
        </p:nvSpPr>
        <p:spPr>
          <a:xfrm>
            <a:off x="0" y="6492875"/>
            <a:ext cx="1905000" cy="342900"/>
          </a:xfrm>
        </p:spPr>
        <p:txBody>
          <a:bodyPr wrap="square" lIns="91440" tIns="45720" rIns="91440" bIns="45720" anchor="b"/>
          <a:lst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stStyle>
          <a:p>
            <a:pPr lvl="0" indent="0"/>
            <a:fld id="{BB962C8B-B14F-4D97-AF65-F5344CB8AC3E}" type="datetime8">
              <a:rPr lang="en-US" altLang="zh-CN" sz="1400" dirty="0"/>
              <a:t>11/20/2025 5:38 PM</a:t>
            </a:fld>
            <a:endParaRPr lang="en-US" altLang="zh-CN" sz="1400" dirty="0"/>
          </a:p>
        </p:txBody>
      </p:sp>
      <p:pic>
        <p:nvPicPr>
          <p:cNvPr id="8" name="内容占位符 1" descr="新校徽（3M）弓之乐"/>
          <p:cNvPicPr>
            <a:picLocks noChangeAspect="1"/>
          </p:cNvPicPr>
          <p:nvPr/>
        </p:nvPicPr>
        <p:blipFill>
          <a:blip r:embed="rId2" cstate="print"/>
          <a:stretch>
            <a:fillRect/>
          </a:stretch>
        </p:blipFill>
        <p:spPr>
          <a:xfrm>
            <a:off x="19685" y="3175"/>
            <a:ext cx="746760" cy="735965"/>
          </a:xfrm>
          <a:prstGeom prst="rect">
            <a:avLst/>
          </a:prstGeom>
          <a:noFill/>
          <a:ln w="9525">
            <a:noFill/>
          </a:ln>
        </p:spPr>
      </p:pic>
      <p:sp>
        <p:nvSpPr>
          <p:cNvPr id="2" name="灯片编号占位符 3"/>
          <p:cNvSpPr txBox="1"/>
          <p:nvPr/>
        </p:nvSpPr>
        <p:spPr bwMode="auto">
          <a:xfrm>
            <a:off x="8316416" y="6529928"/>
            <a:ext cx="630734" cy="328072"/>
          </a:xfrm>
          <a:prstGeom prst="rect">
            <a:avLst/>
          </a:prstGeom>
          <a:noFill/>
          <a:ln w="9525">
            <a:noFill/>
            <a:miter lim="800000"/>
          </a:ln>
          <a:effectLst/>
        </p:spPr>
        <p:txBody>
          <a:bodyPr vert="horz" wrap="square" lIns="91440" tIns="45720" rIns="91440" bIns="45720" numCol="1" anchor="b" anchorCtr="0" compatLnSpc="1"/>
          <a:ls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9pPr>
          </a:lstStyle>
          <a:p>
            <a:pPr algn="r"/>
            <a:fld id="{9A0DB2DC-4C9A-4742-B13C-FB6460FD3503}" type="slidenum">
              <a:rPr lang="en-US" altLang="zh-CN" sz="1400" noProof="1" smtClean="0">
                <a:cs typeface="+mn-ea"/>
              </a:rPr>
              <a:t>14</a:t>
            </a:fld>
            <a:endParaRPr lang="en-US" altLang="zh-CN" sz="1400" dirty="0"/>
          </a:p>
        </p:txBody>
      </p:sp>
      <p:grpSp>
        <p:nvGrpSpPr>
          <p:cNvPr id="5" name="Group 12"/>
          <p:cNvGrpSpPr/>
          <p:nvPr/>
        </p:nvGrpSpPr>
        <p:grpSpPr>
          <a:xfrm>
            <a:off x="6228185" y="2112946"/>
            <a:ext cx="2808311" cy="3962607"/>
            <a:chOff x="3448" y="1805"/>
            <a:chExt cx="1859" cy="2723"/>
          </a:xfrm>
        </p:grpSpPr>
        <p:pic>
          <p:nvPicPr>
            <p:cNvPr id="6" name="Picture 10" descr="冷却曲线"/>
            <p:cNvPicPr>
              <a:picLocks noChangeAspect="1"/>
            </p:cNvPicPr>
            <p:nvPr/>
          </p:nvPicPr>
          <p:blipFill>
            <a:blip r:embed="rId3"/>
            <a:stretch>
              <a:fillRect/>
            </a:stretch>
          </p:blipFill>
          <p:spPr>
            <a:xfrm>
              <a:off x="3448" y="1805"/>
              <a:ext cx="1859" cy="2491"/>
            </a:xfrm>
            <a:prstGeom prst="rect">
              <a:avLst/>
            </a:prstGeom>
            <a:noFill/>
            <a:ln w="38100" cap="flat" cmpd="sng">
              <a:noFill/>
              <a:prstDash val="solid"/>
              <a:miter/>
              <a:headEnd type="none" w="med" len="med"/>
              <a:tailEnd type="none" w="med" len="med"/>
            </a:ln>
          </p:spPr>
        </p:pic>
        <p:sp>
          <p:nvSpPr>
            <p:cNvPr id="7" name="Text Box 11"/>
            <p:cNvSpPr txBox="1">
              <a:spLocks noChangeAspect="1"/>
            </p:cNvSpPr>
            <p:nvPr/>
          </p:nvSpPr>
          <p:spPr>
            <a:xfrm>
              <a:off x="3581" y="4296"/>
              <a:ext cx="1535" cy="232"/>
            </a:xfrm>
            <a:prstGeom prst="rect">
              <a:avLst/>
            </a:prstGeom>
            <a:noFill/>
            <a:ln w="9525">
              <a:noFill/>
            </a:ln>
          </p:spPr>
          <p:txBody>
            <a:bodyPr/>
            <a:lstStyle>
              <a:defPPr>
                <a:defRPr lang="zh-CN"/>
              </a:defPPr>
              <a:lvl1pPr marL="0" lvl="0"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9pPr>
            </a:lstStyle>
            <a:p>
              <a:pPr lvl="0" eaLnBrk="1" hangingPunct="1">
                <a:spcBef>
                  <a:spcPct val="50000"/>
                </a:spcBef>
              </a:pPr>
              <a:r>
                <a:rPr lang="zh-CN" altLang="en-US" sz="2000" b="1" dirty="0">
                  <a:solidFill>
                    <a:schemeClr val="folHlink"/>
                  </a:solidFill>
                  <a:latin typeface="宋体" panose="02010600030101010101" pitchFamily="2" charset="-122"/>
                  <a:ea typeface="宋体" panose="02010600030101010101" pitchFamily="2" charset="-122"/>
                </a:rPr>
                <a:t>纯金属的冷却曲线</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type="title"/>
          </p:nvPr>
        </p:nvSpPr>
        <p:spPr>
          <a:xfrm>
            <a:off x="1619672" y="0"/>
            <a:ext cx="6836941" cy="1143000"/>
          </a:xfrm>
        </p:spPr>
        <p:txBody>
          <a:bodyPr wrap="square" lIns="91440" tIns="45720" rIns="91440" bIns="45720" anchor="b"/>
          <a:lstStyle/>
          <a:p>
            <a:pPr eaLnBrk="1" hangingPunct="1"/>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2</a:t>
            </a:r>
            <a:r>
              <a:rPr kumimoji="1" lang="zh-CN" altLang="en-US" sz="4400" b="1" i="0" u="none" strike="noStrike" kern="0" cap="none" spc="0" normalizeH="0" baseline="0" noProof="0" dirty="0">
                <a:ln>
                  <a:noFill/>
                </a:ln>
                <a:solidFill>
                  <a:srgbClr val="FF0000"/>
                </a:solidFill>
                <a:uLnTx/>
                <a:uFillTx/>
                <a:ea typeface="华文中宋" panose="02010600040101010101" pitchFamily="2" charset="-122"/>
              </a:rPr>
              <a:t>、过冷与过冷度</a:t>
            </a:r>
            <a:endParaRPr lang="zh-CN" altLang="en-US" b="1" dirty="0">
              <a:solidFill>
                <a:srgbClr val="FF0000"/>
              </a:solidFill>
              <a:latin typeface="Times New Roman" panose="02020603050405020304" pitchFamily="18" charset="0"/>
              <a:ea typeface="华文中宋" panose="02010600040101010101" pitchFamily="2" charset="-122"/>
            </a:endParaRPr>
          </a:p>
        </p:txBody>
      </p:sp>
      <p:sp>
        <p:nvSpPr>
          <p:cNvPr id="12291" name="Rectangle 3"/>
          <p:cNvSpPr>
            <a:spLocks noGrp="1"/>
          </p:cNvSpPr>
          <p:nvPr>
            <p:ph idx="1"/>
          </p:nvPr>
        </p:nvSpPr>
        <p:spPr>
          <a:xfrm>
            <a:off x="100742" y="1916832"/>
            <a:ext cx="5689600" cy="4513263"/>
          </a:xfrm>
        </p:spPr>
        <p:txBody>
          <a:bodyPr wrap="square" lIns="91440" tIns="45720" rIns="91440" bIns="45720" anchor="t"/>
          <a:lstStyle/>
          <a:p>
            <a:pPr eaLnBrk="1" hangingPunct="1">
              <a:lnSpc>
                <a:spcPct val="120000"/>
              </a:lnSpc>
            </a:pPr>
            <a:r>
              <a:rPr lang="zh-CN" altLang="en-US" b="1" dirty="0">
                <a:solidFill>
                  <a:schemeClr val="tx2"/>
                </a:solidFill>
                <a:ea typeface="华文中宋" panose="02010600040101010101" pitchFamily="2" charset="-122"/>
              </a:rPr>
              <a:t>过冷：</a:t>
            </a:r>
            <a:r>
              <a:rPr lang="zh-CN" altLang="en-US" b="1" dirty="0">
                <a:solidFill>
                  <a:schemeClr val="folHlink"/>
                </a:solidFill>
                <a:ea typeface="华文中宋" panose="02010600040101010101" pitchFamily="2" charset="-122"/>
              </a:rPr>
              <a:t>液态金属</a:t>
            </a:r>
            <a:r>
              <a:rPr lang="zh-CN" altLang="en-US" b="1" dirty="0"/>
              <a:t>在</a:t>
            </a:r>
            <a:r>
              <a:rPr lang="zh-CN" altLang="en-US" b="1" dirty="0">
                <a:solidFill>
                  <a:schemeClr val="folHlink"/>
                </a:solidFill>
                <a:ea typeface="华文中宋" panose="02010600040101010101" pitchFamily="2" charset="-122"/>
              </a:rPr>
              <a:t>理论结晶温度以下</a:t>
            </a:r>
            <a:r>
              <a:rPr lang="zh-CN" altLang="en-US" b="1" dirty="0"/>
              <a:t>才开始</a:t>
            </a:r>
            <a:r>
              <a:rPr lang="zh-CN" altLang="en-US" b="1" dirty="0">
                <a:solidFill>
                  <a:schemeClr val="folHlink"/>
                </a:solidFill>
                <a:ea typeface="华文中宋" panose="02010600040101010101" pitchFamily="2" charset="-122"/>
              </a:rPr>
              <a:t>结晶</a:t>
            </a:r>
            <a:r>
              <a:rPr lang="zh-CN" altLang="en-US" b="1" dirty="0"/>
              <a:t>的现象</a:t>
            </a:r>
            <a:r>
              <a:rPr lang="zh-CN" altLang="en-US" b="1" dirty="0">
                <a:ea typeface="华文中宋" panose="02010600040101010101" pitchFamily="2" charset="-122"/>
              </a:rPr>
              <a:t>。</a:t>
            </a:r>
          </a:p>
          <a:p>
            <a:pPr eaLnBrk="1" hangingPunct="1">
              <a:lnSpc>
                <a:spcPct val="120000"/>
              </a:lnSpc>
            </a:pPr>
            <a:r>
              <a:rPr lang="zh-CN" altLang="en-US" b="1" dirty="0">
                <a:solidFill>
                  <a:schemeClr val="tx2"/>
                </a:solidFill>
                <a:ea typeface="华文中宋" panose="02010600040101010101" pitchFamily="2" charset="-122"/>
                <a:sym typeface="Symbol" panose="05050102010706020507" pitchFamily="18" charset="2"/>
              </a:rPr>
              <a:t>过冷度：</a:t>
            </a:r>
            <a:r>
              <a:rPr lang="zh-CN" altLang="en-US" b="1" dirty="0">
                <a:solidFill>
                  <a:schemeClr val="folHlink"/>
                </a:solidFill>
                <a:ea typeface="华文中宋" panose="02010600040101010101" pitchFamily="2" charset="-122"/>
              </a:rPr>
              <a:t>理论结晶温度与实际结晶温度的</a:t>
            </a:r>
            <a:r>
              <a:rPr lang="zh-CN" altLang="en-US" b="1" dirty="0">
                <a:solidFill>
                  <a:srgbClr val="FF0000"/>
                </a:solidFill>
                <a:ea typeface="华文中宋" panose="02010600040101010101" pitchFamily="2" charset="-122"/>
              </a:rPr>
              <a:t>差</a:t>
            </a:r>
            <a:r>
              <a:rPr lang="zh-CN" altLang="en-US" b="1" dirty="0">
                <a:solidFill>
                  <a:srgbClr val="FF0000"/>
                </a:solidFill>
                <a:ea typeface="华文中宋" panose="02010600040101010101" pitchFamily="2" charset="-122"/>
                <a:sym typeface="Symbol" panose="05050102010706020507" pitchFamily="18" charset="2"/>
              </a:rPr>
              <a:t></a:t>
            </a:r>
            <a:r>
              <a:rPr lang="en-US" altLang="zh-CN" b="1" dirty="0">
                <a:solidFill>
                  <a:srgbClr val="FF0000"/>
                </a:solidFill>
                <a:ea typeface="华文中宋" panose="02010600040101010101" pitchFamily="2" charset="-122"/>
                <a:sym typeface="Symbol" panose="05050102010706020507" pitchFamily="18" charset="2"/>
              </a:rPr>
              <a:t>T:</a:t>
            </a:r>
            <a:endParaRPr lang="en-US" altLang="zh-CN" b="1" dirty="0">
              <a:solidFill>
                <a:srgbClr val="CCFFFF"/>
              </a:solidFill>
              <a:ea typeface="华文中宋" panose="02010600040101010101" pitchFamily="2" charset="-122"/>
              <a:sym typeface="Symbol" panose="05050102010706020507" pitchFamily="18" charset="2"/>
            </a:endParaRPr>
          </a:p>
          <a:p>
            <a:pPr eaLnBrk="1" hangingPunct="1">
              <a:lnSpc>
                <a:spcPct val="140000"/>
              </a:lnSpc>
              <a:buNone/>
            </a:pPr>
            <a:r>
              <a:rPr lang="en-US" altLang="zh-CN" b="1" dirty="0">
                <a:ea typeface="华文中宋" panose="02010600040101010101" pitchFamily="2" charset="-122"/>
                <a:sym typeface="Symbol" panose="05050102010706020507" pitchFamily="18" charset="2"/>
              </a:rPr>
              <a:t>            T= </a:t>
            </a:r>
            <a:r>
              <a:rPr lang="en-US" altLang="zh-CN" b="1" dirty="0">
                <a:ea typeface="华文中宋" panose="02010600040101010101" pitchFamily="2" charset="-122"/>
              </a:rPr>
              <a:t>T</a:t>
            </a:r>
            <a:r>
              <a:rPr lang="en-US" altLang="zh-CN" b="1" baseline="-25000" dirty="0">
                <a:ea typeface="华文中宋" panose="02010600040101010101" pitchFamily="2" charset="-122"/>
              </a:rPr>
              <a:t>0</a:t>
            </a:r>
            <a:r>
              <a:rPr lang="en-US" altLang="zh-CN" b="1" dirty="0">
                <a:ea typeface="华文中宋" panose="02010600040101010101" pitchFamily="2" charset="-122"/>
              </a:rPr>
              <a:t> –T</a:t>
            </a:r>
            <a:r>
              <a:rPr lang="en-US" altLang="zh-CN" b="1" baseline="-25000" dirty="0">
                <a:ea typeface="华文中宋" panose="02010600040101010101" pitchFamily="2" charset="-122"/>
              </a:rPr>
              <a:t>1</a:t>
            </a:r>
            <a:endParaRPr lang="zh-CN" altLang="en-US" b="1" dirty="0">
              <a:solidFill>
                <a:srgbClr val="0000FF"/>
              </a:solidFill>
              <a:ea typeface="华文中宋" panose="02010600040101010101" pitchFamily="2" charset="-122"/>
              <a:sym typeface="Symbol" panose="05050102010706020507" pitchFamily="18" charset="2"/>
            </a:endParaRPr>
          </a:p>
          <a:p>
            <a:pPr eaLnBrk="1" hangingPunct="1">
              <a:lnSpc>
                <a:spcPct val="120000"/>
              </a:lnSpc>
            </a:pPr>
            <a:r>
              <a:rPr lang="zh-CN" altLang="en-US" b="1" dirty="0">
                <a:solidFill>
                  <a:srgbClr val="0000FF"/>
                </a:solidFill>
              </a:rPr>
              <a:t>过冷度</a:t>
            </a:r>
            <a:r>
              <a:rPr lang="zh-CN" altLang="en-US" b="1" dirty="0"/>
              <a:t>大小与</a:t>
            </a:r>
            <a:r>
              <a:rPr lang="zh-CN" altLang="en-US" b="1" dirty="0">
                <a:solidFill>
                  <a:srgbClr val="0000FF"/>
                </a:solidFill>
              </a:rPr>
              <a:t>冷却速度</a:t>
            </a:r>
            <a:r>
              <a:rPr lang="zh-CN" altLang="en-US" b="1" dirty="0"/>
              <a:t>有关，冷速越大，过冷度越大。</a:t>
            </a:r>
            <a:endParaRPr lang="zh-CN" altLang="en-US" b="1" dirty="0">
              <a:solidFill>
                <a:schemeClr val="accent1"/>
              </a:solidFill>
              <a:ea typeface="华文中宋" panose="02010600040101010101" pitchFamily="2" charset="-122"/>
              <a:sym typeface="Symbol" panose="05050102010706020507" pitchFamily="18" charset="2"/>
            </a:endParaRPr>
          </a:p>
        </p:txBody>
      </p:sp>
      <p:sp>
        <p:nvSpPr>
          <p:cNvPr id="12293" name="AutoShape 5"/>
          <p:cNvSpPr/>
          <p:nvPr/>
        </p:nvSpPr>
        <p:spPr>
          <a:xfrm>
            <a:off x="8855075" y="6597650"/>
            <a:ext cx="288925" cy="260350"/>
          </a:xfrm>
          <a:prstGeom prst="actionButtonBackPrevious">
            <a:avLst/>
          </a:prstGeom>
          <a:solidFill>
            <a:schemeClr val="accent1"/>
          </a:solidFill>
          <a:ln w="9525">
            <a:noFill/>
          </a:ln>
        </p:spPr>
        <p:txBody>
          <a:bodyPr wrap="none" anchor="ctr"/>
          <a:lstStyle/>
          <a:p>
            <a:endParaRPr lang="zh-CN" altLang="en-US" dirty="0">
              <a:latin typeface="Tahoma" panose="020B0604030504040204" pitchFamily="34" charset="0"/>
              <a:ea typeface="宋体" panose="02010600030101010101" pitchFamily="2" charset="-122"/>
            </a:endParaRPr>
          </a:p>
        </p:txBody>
      </p:sp>
      <p:sp>
        <p:nvSpPr>
          <p:cNvPr id="12295" name="日期占位符 1"/>
          <p:cNvSpPr>
            <a:spLocks noGrp="1"/>
          </p:cNvSpPr>
          <p:nvPr>
            <p:ph type="dt" sz="half" idx="10"/>
          </p:nvPr>
        </p:nvSpPr>
        <p:spPr>
          <a:xfrm>
            <a:off x="68263" y="6515100"/>
            <a:ext cx="1905000" cy="342900"/>
          </a:xfrm>
        </p:spPr>
        <p:txBody>
          <a:bodyPr wrap="square" lIns="91440" tIns="45720" rIns="91440" bIns="45720" anchor="b"/>
          <a:lst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stStyle>
          <a:p>
            <a:pPr lvl="0" indent="0"/>
            <a:fld id="{BB962C8B-B14F-4D97-AF65-F5344CB8AC3E}" type="datetime8">
              <a:rPr lang="en-US" altLang="zh-CN" sz="1400" dirty="0"/>
              <a:t>11/20/2025 5:38 PM</a:t>
            </a:fld>
            <a:endParaRPr lang="en-US" altLang="zh-CN" sz="1400" dirty="0"/>
          </a:p>
        </p:txBody>
      </p:sp>
      <p:pic>
        <p:nvPicPr>
          <p:cNvPr id="9" name="内容占位符 1" descr="新校徽（3M）弓之乐"/>
          <p:cNvPicPr>
            <a:picLocks noChangeAspect="1"/>
          </p:cNvPicPr>
          <p:nvPr/>
        </p:nvPicPr>
        <p:blipFill>
          <a:blip r:embed="rId2" cstate="print"/>
          <a:stretch>
            <a:fillRect/>
          </a:stretch>
        </p:blipFill>
        <p:spPr>
          <a:xfrm>
            <a:off x="19685" y="3175"/>
            <a:ext cx="746760" cy="735965"/>
          </a:xfrm>
          <a:prstGeom prst="rect">
            <a:avLst/>
          </a:prstGeom>
          <a:noFill/>
          <a:ln w="9525">
            <a:noFill/>
          </a:ln>
        </p:spPr>
      </p:pic>
      <p:sp>
        <p:nvSpPr>
          <p:cNvPr id="2" name="灯片编号占位符 3"/>
          <p:cNvSpPr txBox="1"/>
          <p:nvPr/>
        </p:nvSpPr>
        <p:spPr bwMode="auto">
          <a:xfrm>
            <a:off x="8215684" y="6570548"/>
            <a:ext cx="630734" cy="328072"/>
          </a:xfrm>
          <a:prstGeom prst="rect">
            <a:avLst/>
          </a:prstGeom>
          <a:noFill/>
          <a:ln w="9525">
            <a:noFill/>
            <a:miter lim="800000"/>
          </a:ln>
          <a:effectLst/>
        </p:spPr>
        <p:txBody>
          <a:bodyPr vert="horz" wrap="square" lIns="91440" tIns="45720" rIns="91440" bIns="45720" numCol="1" anchor="b" anchorCtr="0" compatLnSpc="1"/>
          <a:ls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9pPr>
          </a:lstStyle>
          <a:p>
            <a:pPr algn="r"/>
            <a:fld id="{9A0DB2DC-4C9A-4742-B13C-FB6460FD3503}" type="slidenum">
              <a:rPr lang="en-US" altLang="zh-CN" sz="1400" noProof="1" smtClean="0">
                <a:cs typeface="+mn-ea"/>
              </a:rPr>
              <a:t>15</a:t>
            </a:fld>
            <a:endParaRPr lang="en-US" altLang="zh-CN" sz="1400" dirty="0"/>
          </a:p>
        </p:txBody>
      </p:sp>
      <p:pic>
        <p:nvPicPr>
          <p:cNvPr id="3" name="Picture 4" descr="过冷度与冷却速度"/>
          <p:cNvPicPr preferRelativeResize="0"/>
          <p:nvPr/>
        </p:nvPicPr>
        <p:blipFill>
          <a:blip r:embed="rId3"/>
          <a:stretch>
            <a:fillRect/>
          </a:stretch>
        </p:blipFill>
        <p:spPr>
          <a:xfrm>
            <a:off x="5721562" y="2728531"/>
            <a:ext cx="2997775" cy="2448550"/>
          </a:xfrm>
          <a:prstGeom prst="rect">
            <a:avLst/>
          </a:prstGeom>
          <a:noFill/>
          <a:ln w="38100" cap="flat" cmpd="sng">
            <a:noFill/>
            <a:prstDash val="solid"/>
            <a:miter/>
            <a:headEnd type="none" w="med" len="med"/>
            <a:tailEnd type="none" w="med" len="med"/>
          </a:ln>
        </p:spPr>
      </p:pic>
      <p:sp>
        <p:nvSpPr>
          <p:cNvPr id="4" name="圆角矩形 6" descr="7b0a202020202262756c6c6574223a20227b5c2263617465676f727949645c223a31303032352c5c2274656d706c61746549645c223a32303233313437347d220a7d0a"/>
          <p:cNvSpPr/>
          <p:nvPr/>
        </p:nvSpPr>
        <p:spPr>
          <a:xfrm>
            <a:off x="395605" y="2061210"/>
            <a:ext cx="1004570" cy="480060"/>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28575" cmpd="dbl">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800" b="1" dirty="0">
                <a:solidFill>
                  <a:srgbClr val="0066FF"/>
                </a:solidFill>
                <a:latin typeface="华文中宋" panose="02010600040101010101" pitchFamily="2" charset="-122"/>
                <a:ea typeface="华文中宋" panose="02010600040101010101" pitchFamily="2" charset="-122"/>
                <a:sym typeface="+mn-ea"/>
              </a:rPr>
              <a:t>过冷</a:t>
            </a:r>
            <a:endParaRPr lang="zh-CN" altLang="en-US" sz="2800" b="1" dirty="0">
              <a:solidFill>
                <a:srgbClr val="0066FF"/>
              </a:solidFill>
              <a:latin typeface="华文中宋" panose="02010600040101010101" pitchFamily="2" charset="-122"/>
              <a:ea typeface="华文中宋" panose="02010600040101010101" pitchFamily="2" charset="-122"/>
              <a:cs typeface="微软雅黑" panose="020B0503020204020204" charset="-122"/>
              <a:sym typeface="+mn-ea"/>
            </a:endParaRPr>
          </a:p>
        </p:txBody>
      </p:sp>
      <p:sp>
        <p:nvSpPr>
          <p:cNvPr id="5" name="圆角矩形 6" descr="7b0a202020202262756c6c6574223a20227b5c2263617465676f727949645c223a31303032352c5c2274656d706c61746549645c223a32303233313437347d220a7d0a"/>
          <p:cNvSpPr/>
          <p:nvPr/>
        </p:nvSpPr>
        <p:spPr>
          <a:xfrm>
            <a:off x="467360" y="3357245"/>
            <a:ext cx="1299845" cy="480060"/>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28575" cmpd="dbl">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800" b="1" dirty="0">
                <a:solidFill>
                  <a:srgbClr val="0066FF"/>
                </a:solidFill>
                <a:latin typeface="华文中宋" panose="02010600040101010101" pitchFamily="2" charset="-122"/>
                <a:ea typeface="华文中宋" panose="02010600040101010101" pitchFamily="2" charset="-122"/>
                <a:sym typeface="+mn-ea"/>
              </a:rPr>
              <a:t>过冷度</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267460" y="1676400"/>
            <a:ext cx="7495540" cy="1462405"/>
          </a:xfrm>
        </p:spPr>
        <p:txBody>
          <a:bodyPr/>
          <a:lstStyle/>
          <a:p>
            <a:pPr algn="ctr"/>
            <a:r>
              <a:rPr lang="zh-CN" altLang="en-US" sz="6000" b="1" dirty="0">
                <a:solidFill>
                  <a:srgbClr val="FF0000"/>
                </a:solidFill>
                <a:ea typeface="华文中宋" panose="02010600040101010101" pitchFamily="2" charset="-122"/>
                <a:sym typeface="+mn-ea"/>
              </a:rPr>
              <a:t>二</a:t>
            </a:r>
            <a:r>
              <a:rPr lang="en-US" altLang="zh-CN" sz="6000" b="1" dirty="0">
                <a:solidFill>
                  <a:srgbClr val="FF0000"/>
                </a:solidFill>
                <a:ea typeface="华文中宋" panose="02010600040101010101" pitchFamily="2" charset="-122"/>
                <a:sym typeface="+mn-ea"/>
              </a:rPr>
              <a:t>. </a:t>
            </a:r>
            <a:r>
              <a:rPr lang="zh-CN" altLang="en-US" sz="6000" b="1" dirty="0">
                <a:solidFill>
                  <a:srgbClr val="FF0000"/>
                </a:solidFill>
                <a:ea typeface="华文中宋" panose="02010600040101010101" pitchFamily="2" charset="-122"/>
                <a:sym typeface="+mn-ea"/>
              </a:rPr>
              <a:t>结晶过程</a:t>
            </a:r>
            <a:endParaRPr lang="zh-CN" altLang="en-US" sz="6000" dirty="0"/>
          </a:p>
        </p:txBody>
      </p:sp>
      <p:sp>
        <p:nvSpPr>
          <p:cNvPr id="5" name="日期占位符 1"/>
          <p:cNvSpPr txBox="1"/>
          <p:nvPr/>
        </p:nvSpPr>
        <p:spPr>
          <a:xfrm>
            <a:off x="19685" y="6529929"/>
            <a:ext cx="1905000" cy="342900"/>
          </a:xfrm>
          <a:prstGeom prst="rect">
            <a:avLst/>
          </a:prstGeom>
        </p:spPr>
        <p:txBody>
          <a:bodyPr wrap="square" lIns="91440" tIns="45720" rIns="91440" bIns="45720" anchor="b"/>
          <a:lstStyle>
            <a:defPPr>
              <a:defRPr lang="zh-CN"/>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9pPr>
          </a:lstStyle>
          <a:p>
            <a:fld id="{BB962C8B-B14F-4D97-AF65-F5344CB8AC3E}" type="datetime8">
              <a:rPr lang="en-US" altLang="zh-CN" sz="1400" smtClean="0"/>
              <a:t>11/20/2025 5:38 PM</a:t>
            </a:fld>
            <a:endParaRPr lang="en-US" altLang="zh-CN" sz="1400" dirty="0"/>
          </a:p>
        </p:txBody>
      </p:sp>
      <p:sp>
        <p:nvSpPr>
          <p:cNvPr id="6" name="灯片编号占位符 3"/>
          <p:cNvSpPr txBox="1"/>
          <p:nvPr/>
        </p:nvSpPr>
        <p:spPr bwMode="auto">
          <a:xfrm>
            <a:off x="8316416" y="6529928"/>
            <a:ext cx="630734" cy="328072"/>
          </a:xfrm>
          <a:prstGeom prst="rect">
            <a:avLst/>
          </a:prstGeom>
          <a:noFill/>
          <a:ln w="9525">
            <a:noFill/>
            <a:miter lim="800000"/>
          </a:ln>
          <a:effectLst/>
        </p:spPr>
        <p:txBody>
          <a:bodyPr vert="horz" wrap="square" lIns="91440" tIns="45720" rIns="91440" bIns="45720" numCol="1" anchor="b" anchorCtr="0" compatLnSpc="1"/>
          <a:ls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9pPr>
          </a:lstStyle>
          <a:p>
            <a:pPr algn="r"/>
            <a:fld id="{9A0DB2DC-4C9A-4742-B13C-FB6460FD3503}" type="slidenum">
              <a:rPr lang="en-US" altLang="zh-CN" sz="1400" noProof="1" smtClean="0">
                <a:cs typeface="+mn-ea"/>
              </a:rPr>
              <a:t>16</a:t>
            </a:fld>
            <a:endParaRPr lang="en-US" altLang="zh-CN" sz="1400" dirty="0"/>
          </a:p>
        </p:txBody>
      </p:sp>
      <p:sp>
        <p:nvSpPr>
          <p:cNvPr id="3" name="文本框 2"/>
          <p:cNvSpPr txBox="1"/>
          <p:nvPr/>
        </p:nvSpPr>
        <p:spPr>
          <a:xfrm>
            <a:off x="434975" y="3429000"/>
            <a:ext cx="8328025" cy="922020"/>
          </a:xfrm>
          <a:prstGeom prst="rect">
            <a:avLst/>
          </a:prstGeom>
        </p:spPr>
        <p:txBody>
          <a:bodyPr wrap="square">
            <a:spAutoFit/>
          </a:bodyPr>
          <a:lstStyle/>
          <a:p>
            <a:pPr marL="0" indent="0" algn="ctr"/>
            <a:r>
              <a:rPr lang="en-GB" altLang="zh-CN" sz="5400" b="1" i="1" dirty="0">
                <a:solidFill>
                  <a:srgbClr val="FF0000"/>
                </a:solidFill>
                <a:latin typeface="Times New Roman" panose="02020603050405020304" pitchFamily="18" charset="0"/>
                <a:cs typeface="Times New Roman" panose="02020603050405020304" pitchFamily="18" charset="0"/>
                <a:sym typeface="+mn-ea"/>
              </a:rPr>
              <a:t>Course of crystallization</a:t>
            </a:r>
            <a:endParaRPr lang="en-GB" altLang="zh-CN" sz="5400" b="1" i="1" kern="0" dirty="0">
              <a:solidFill>
                <a:srgbClr val="FF0000"/>
              </a:solidFill>
              <a:latin typeface="Times New Roman" panose="02020603050405020304" pitchFamily="18" charset="0"/>
              <a:ea typeface="+mj-ea"/>
              <a:cs typeface="Times New Roman" panose="02020603050405020304" pitchFamily="18" charset="0"/>
            </a:endParaRPr>
          </a:p>
        </p:txBody>
      </p:sp>
      <p:pic>
        <p:nvPicPr>
          <p:cNvPr id="4"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264" t="15784" r="3206" b="19580"/>
          <a:stretch>
            <a:fillRect/>
          </a:stretch>
        </p:blipFill>
        <p:spPr bwMode="auto">
          <a:xfrm>
            <a:off x="0" y="0"/>
            <a:ext cx="2372995" cy="582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p:nvPr>
        </p:nvSpPr>
        <p:spPr>
          <a:xfrm>
            <a:off x="1258888" y="0"/>
            <a:ext cx="7053262" cy="1645940"/>
          </a:xfrm>
        </p:spPr>
        <p:txBody>
          <a:bodyPr wrap="square" lIns="91440" tIns="45720" rIns="91440" bIns="45720" anchor="b"/>
          <a:lstStyle/>
          <a:p>
            <a:pPr eaLnBrk="1" hangingPunct="1"/>
            <a:r>
              <a:rPr lang="zh-CN" altLang="en-US" sz="4400" b="1" dirty="0">
                <a:solidFill>
                  <a:srgbClr val="FF0000"/>
                </a:solidFill>
                <a:ea typeface="华文中宋" panose="02010600040101010101" pitchFamily="2" charset="-122"/>
              </a:rPr>
              <a:t>二</a:t>
            </a:r>
            <a:r>
              <a:rPr lang="en-US" altLang="zh-CN" sz="4400" b="1" dirty="0">
                <a:solidFill>
                  <a:srgbClr val="FF0000"/>
                </a:solidFill>
                <a:ea typeface="华文中宋" panose="02010600040101010101" pitchFamily="2" charset="-122"/>
              </a:rPr>
              <a:t>. </a:t>
            </a:r>
            <a:r>
              <a:rPr lang="zh-CN" altLang="en-US" sz="4400" b="1" dirty="0">
                <a:solidFill>
                  <a:srgbClr val="FF0000"/>
                </a:solidFill>
                <a:ea typeface="华文中宋" panose="02010600040101010101" pitchFamily="2" charset="-122"/>
              </a:rPr>
              <a:t>结晶过程</a:t>
            </a:r>
            <a:br>
              <a:rPr lang="en-US" altLang="zh-CN" sz="4400" b="1" dirty="0">
                <a:solidFill>
                  <a:srgbClr val="FF0000"/>
                </a:solidFill>
                <a:ea typeface="华文中宋" panose="02010600040101010101" pitchFamily="2" charset="-122"/>
              </a:rPr>
            </a:br>
            <a:r>
              <a:rPr lang="en-US" altLang="zh-CN" sz="4400" b="1" dirty="0">
                <a:solidFill>
                  <a:srgbClr val="FF0000"/>
                </a:solidFill>
                <a:ea typeface="华文中宋" panose="02010600040101010101" pitchFamily="2" charset="-122"/>
              </a:rPr>
              <a:t>——</a:t>
            </a:r>
            <a:r>
              <a:rPr lang="en-US" altLang="zh-CN" b="1" dirty="0">
                <a:solidFill>
                  <a:srgbClr val="FF0000"/>
                </a:solidFill>
                <a:ea typeface="华文中宋" panose="02010600040101010101" pitchFamily="2" charset="-122"/>
              </a:rPr>
              <a:t>1</a:t>
            </a:r>
            <a:r>
              <a:rPr lang="zh-CN" altLang="en-US" b="1" dirty="0">
                <a:solidFill>
                  <a:srgbClr val="FF0000"/>
                </a:solidFill>
                <a:ea typeface="华文中宋" panose="02010600040101010101" pitchFamily="2" charset="-122"/>
              </a:rPr>
              <a:t>、结晶的基本过程</a:t>
            </a:r>
          </a:p>
        </p:txBody>
      </p:sp>
      <p:sp>
        <p:nvSpPr>
          <p:cNvPr id="13315" name="Rectangle 3"/>
          <p:cNvSpPr>
            <a:spLocks noGrp="1"/>
          </p:cNvSpPr>
          <p:nvPr>
            <p:ph idx="1"/>
          </p:nvPr>
        </p:nvSpPr>
        <p:spPr>
          <a:xfrm>
            <a:off x="1187624" y="1988840"/>
            <a:ext cx="7758732" cy="4511973"/>
          </a:xfrm>
        </p:spPr>
        <p:txBody>
          <a:bodyPr wrap="square" lIns="91440" tIns="45720" rIns="91440" bIns="45720" anchor="t"/>
          <a:lstStyle/>
          <a:p>
            <a:pPr eaLnBrk="1" hangingPunct="1">
              <a:lnSpc>
                <a:spcPct val="140000"/>
              </a:lnSpc>
            </a:pPr>
            <a:r>
              <a:rPr lang="zh-CN" altLang="en-US" b="1" dirty="0">
                <a:solidFill>
                  <a:srgbClr val="0000FF"/>
                </a:solidFill>
                <a:ea typeface="华文中宋" panose="02010600040101010101" pitchFamily="2" charset="-122"/>
              </a:rPr>
              <a:t>结晶 </a:t>
            </a:r>
            <a:r>
              <a:rPr lang="en-US" altLang="zh-CN" b="1" dirty="0">
                <a:solidFill>
                  <a:srgbClr val="0000FF"/>
                </a:solidFill>
                <a:ea typeface="华文中宋" panose="02010600040101010101" pitchFamily="2" charset="-122"/>
              </a:rPr>
              <a:t>= </a:t>
            </a:r>
            <a:r>
              <a:rPr lang="zh-CN" altLang="en-US" b="1" dirty="0">
                <a:solidFill>
                  <a:srgbClr val="0000FF"/>
                </a:solidFill>
                <a:ea typeface="华文中宋" panose="02010600040101010101" pitchFamily="2" charset="-122"/>
              </a:rPr>
              <a:t>晶核形成   </a:t>
            </a:r>
            <a:r>
              <a:rPr lang="en-US" altLang="zh-CN" b="1" dirty="0">
                <a:solidFill>
                  <a:srgbClr val="0000FF"/>
                </a:solidFill>
                <a:ea typeface="华文中宋" panose="02010600040101010101" pitchFamily="2" charset="-122"/>
              </a:rPr>
              <a:t>+   </a:t>
            </a:r>
            <a:r>
              <a:rPr lang="zh-CN" altLang="en-US" b="1" dirty="0">
                <a:solidFill>
                  <a:srgbClr val="0000FF"/>
                </a:solidFill>
                <a:ea typeface="华文中宋" panose="02010600040101010101" pitchFamily="2" charset="-122"/>
              </a:rPr>
              <a:t>晶核长大</a:t>
            </a:r>
          </a:p>
          <a:p>
            <a:pPr eaLnBrk="1" hangingPunct="1">
              <a:spcBef>
                <a:spcPts val="300"/>
              </a:spcBef>
            </a:pPr>
            <a:endParaRPr lang="zh-CN" altLang="en-US" b="1" dirty="0">
              <a:solidFill>
                <a:schemeClr val="folHlink"/>
              </a:solidFill>
              <a:latin typeface="宋体" panose="02010600030101010101" pitchFamily="2" charset="-122"/>
            </a:endParaRPr>
          </a:p>
        </p:txBody>
      </p:sp>
      <p:sp>
        <p:nvSpPr>
          <p:cNvPr id="13317" name="AutoShape 7">
            <a:hlinkClick r:id="rId2" action="ppaction://hlinksldjump"/>
          </p:cNvPr>
          <p:cNvSpPr/>
          <p:nvPr/>
        </p:nvSpPr>
        <p:spPr>
          <a:xfrm>
            <a:off x="8921750" y="6588125"/>
            <a:ext cx="222250" cy="269875"/>
          </a:xfrm>
          <a:prstGeom prst="actionButtonBackPrevious">
            <a:avLst/>
          </a:prstGeom>
          <a:solidFill>
            <a:schemeClr val="accent1"/>
          </a:solidFill>
          <a:ln w="9525">
            <a:noFill/>
          </a:ln>
        </p:spPr>
        <p:txBody>
          <a:bodyPr wrap="none" anchor="ctr"/>
          <a:lstStyle/>
          <a:p>
            <a:endParaRPr lang="zh-CN" altLang="en-US" dirty="0">
              <a:latin typeface="Tahoma" panose="020B0604030504040204" pitchFamily="34" charset="0"/>
              <a:ea typeface="宋体" panose="02010600030101010101" pitchFamily="2" charset="-122"/>
            </a:endParaRPr>
          </a:p>
        </p:txBody>
      </p:sp>
      <p:sp>
        <p:nvSpPr>
          <p:cNvPr id="13318" name="日期占位符 1"/>
          <p:cNvSpPr>
            <a:spLocks noGrp="1"/>
          </p:cNvSpPr>
          <p:nvPr>
            <p:ph type="dt" sz="half" idx="10"/>
          </p:nvPr>
        </p:nvSpPr>
        <p:spPr>
          <a:xfrm>
            <a:off x="0" y="6500813"/>
            <a:ext cx="1905000" cy="342900"/>
          </a:xfrm>
        </p:spPr>
        <p:txBody>
          <a:bodyPr wrap="square" lIns="91440" tIns="45720" rIns="91440" bIns="45720" anchor="b"/>
          <a:lst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stStyle>
          <a:p>
            <a:pPr lvl="0" indent="0"/>
            <a:fld id="{BB962C8B-B14F-4D97-AF65-F5344CB8AC3E}" type="datetime8">
              <a:rPr lang="en-US" altLang="zh-CN" sz="1400" dirty="0"/>
              <a:t>11/20/2025 5:38 PM</a:t>
            </a:fld>
            <a:endParaRPr lang="en-US" altLang="zh-CN" sz="1400" dirty="0"/>
          </a:p>
        </p:txBody>
      </p:sp>
      <p:pic>
        <p:nvPicPr>
          <p:cNvPr id="8" name="内容占位符 1" descr="新校徽（3M）弓之乐"/>
          <p:cNvPicPr>
            <a:picLocks noChangeAspect="1"/>
          </p:cNvPicPr>
          <p:nvPr/>
        </p:nvPicPr>
        <p:blipFill>
          <a:blip r:embed="rId3" cstate="print"/>
          <a:stretch>
            <a:fillRect/>
          </a:stretch>
        </p:blipFill>
        <p:spPr>
          <a:xfrm>
            <a:off x="19685" y="3175"/>
            <a:ext cx="746760" cy="735965"/>
          </a:xfrm>
          <a:prstGeom prst="rect">
            <a:avLst/>
          </a:prstGeom>
          <a:noFill/>
          <a:ln w="9525">
            <a:noFill/>
          </a:ln>
        </p:spPr>
      </p:pic>
      <p:sp>
        <p:nvSpPr>
          <p:cNvPr id="2" name="灯片编号占位符 3"/>
          <p:cNvSpPr txBox="1"/>
          <p:nvPr/>
        </p:nvSpPr>
        <p:spPr bwMode="auto">
          <a:xfrm>
            <a:off x="8316416" y="6529928"/>
            <a:ext cx="630734" cy="328072"/>
          </a:xfrm>
          <a:prstGeom prst="rect">
            <a:avLst/>
          </a:prstGeom>
          <a:noFill/>
          <a:ln w="9525">
            <a:noFill/>
            <a:miter lim="800000"/>
          </a:ln>
          <a:effectLst/>
        </p:spPr>
        <p:txBody>
          <a:bodyPr vert="horz" wrap="square" lIns="91440" tIns="45720" rIns="91440" bIns="45720" numCol="1" anchor="b" anchorCtr="0" compatLnSpc="1"/>
          <a:ls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9pPr>
          </a:lstStyle>
          <a:p>
            <a:pPr algn="r"/>
            <a:fld id="{9A0DB2DC-4C9A-4742-B13C-FB6460FD3503}" type="slidenum">
              <a:rPr lang="en-US" altLang="zh-CN" sz="1400" noProof="1" smtClean="0">
                <a:cs typeface="+mn-ea"/>
              </a:rPr>
              <a:t>17</a:t>
            </a:fld>
            <a:endParaRPr lang="en-US" altLang="zh-CN" sz="1400" dirty="0"/>
          </a:p>
        </p:txBody>
      </p:sp>
      <p:pic>
        <p:nvPicPr>
          <p:cNvPr id="3" name="Picture 84" descr="〈工程材料〉图3-4"/>
          <p:cNvPicPr>
            <a:picLocks noChangeAspect="1"/>
          </p:cNvPicPr>
          <p:nvPr/>
        </p:nvPicPr>
        <p:blipFill>
          <a:blip r:embed="rId4"/>
          <a:stretch>
            <a:fillRect/>
          </a:stretch>
        </p:blipFill>
        <p:spPr>
          <a:xfrm>
            <a:off x="393065" y="3361954"/>
            <a:ext cx="8205787" cy="1916112"/>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p:nvPr>
        </p:nvSpPr>
        <p:spPr>
          <a:xfrm>
            <a:off x="1691680" y="0"/>
            <a:ext cx="6692900" cy="1628800"/>
          </a:xfrm>
        </p:spPr>
        <p:txBody>
          <a:bodyPr wrap="square" lIns="91440" tIns="45720" rIns="91440" bIns="45720" anchor="b"/>
          <a:lstStyle/>
          <a:p>
            <a:pPr eaLnBrk="1" hangingPunct="1"/>
            <a:r>
              <a:rPr lang="zh-CN" altLang="en-US" b="1" dirty="0">
                <a:solidFill>
                  <a:schemeClr val="hlink"/>
                </a:solidFill>
                <a:latin typeface="宋体" panose="02010600030101010101" pitchFamily="2" charset="-122"/>
              </a:rPr>
              <a:t>形核</a:t>
            </a:r>
            <a:endParaRPr lang="zh-CN" altLang="en-US" b="1" dirty="0">
              <a:solidFill>
                <a:srgbClr val="0000FF"/>
              </a:solidFill>
              <a:latin typeface="宋体" panose="02010600030101010101" pitchFamily="2" charset="-122"/>
            </a:endParaRPr>
          </a:p>
        </p:txBody>
      </p:sp>
      <p:sp>
        <p:nvSpPr>
          <p:cNvPr id="14339" name="Rectangle 3"/>
          <p:cNvSpPr>
            <a:spLocks noGrp="1"/>
          </p:cNvSpPr>
          <p:nvPr>
            <p:ph idx="1"/>
          </p:nvPr>
        </p:nvSpPr>
        <p:spPr>
          <a:xfrm>
            <a:off x="-44714" y="2051621"/>
            <a:ext cx="6376864" cy="4027958"/>
          </a:xfrm>
        </p:spPr>
        <p:txBody>
          <a:bodyPr wrap="square" lIns="91440" tIns="45720" rIns="91440" bIns="45720" anchor="t"/>
          <a:lstStyle/>
          <a:p>
            <a:pPr marL="342900" marR="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a:pPr>
            <a:r>
              <a:rPr kumimoji="1" lang="zh-CN" altLang="en-US" sz="2800" b="1" i="0" u="none" strike="noStrike" kern="0" cap="none" spc="0" normalizeH="0" baseline="0" noProof="0" dirty="0">
                <a:ln>
                  <a:noFill/>
                </a:ln>
                <a:solidFill>
                  <a:srgbClr val="0000FF"/>
                </a:solidFill>
                <a:effectLst>
                  <a:outerShdw blurRad="38100" dist="38100" dir="2700000" algn="tl">
                    <a:srgbClr val="000000">
                      <a:alpha val="43137"/>
                    </a:srgbClr>
                  </a:outerShdw>
                </a:effectLst>
                <a:uLnTx/>
                <a:uFillTx/>
                <a:latin typeface="+mn-lt"/>
                <a:ea typeface="华文中宋" panose="02010600040101010101" pitchFamily="2" charset="-122"/>
                <a:cs typeface="+mn-cs"/>
              </a:rPr>
              <a:t>晶胚：</a:t>
            </a:r>
            <a:r>
              <a:rPr kumimoji="1" lang="zh-CN" altLang="en-US" sz="2800" i="0" u="none" strike="noStrike" kern="0" cap="none" spc="0" normalizeH="0" baseline="0" noProof="0" dirty="0">
                <a:ln>
                  <a:noFill/>
                </a:ln>
                <a:effectLst>
                  <a:outerShdw blurRad="38100" dist="38100" dir="2700000" algn="tl">
                    <a:srgbClr val="000000">
                      <a:alpha val="43137"/>
                    </a:srgbClr>
                  </a:outerShdw>
                </a:effectLst>
                <a:uLnTx/>
                <a:uFillTx/>
                <a:latin typeface="+mn-lt"/>
                <a:ea typeface="华文中宋" panose="02010600040101010101" pitchFamily="2" charset="-122"/>
                <a:cs typeface="+mn-cs"/>
              </a:rPr>
              <a:t>液态金属中存在着原子排列规则的、</a:t>
            </a:r>
            <a:r>
              <a:rPr lang="zh-CN" altLang="en-US" sz="2800" noProof="0" dirty="0">
                <a:ln>
                  <a:noFill/>
                </a:ln>
                <a:effectLst>
                  <a:outerShdw blurRad="38100" dist="38100" dir="2700000" algn="tl">
                    <a:srgbClr val="000000">
                      <a:alpha val="43137"/>
                    </a:srgbClr>
                  </a:outerShdw>
                </a:effectLst>
                <a:uLnTx/>
                <a:uFillTx/>
                <a:ea typeface="华文中宋" panose="02010600040101010101" pitchFamily="2" charset="-122"/>
                <a:sym typeface="+mn-ea"/>
              </a:rPr>
              <a:t>时聚时散的</a:t>
            </a:r>
            <a:r>
              <a:rPr kumimoji="1" lang="zh-CN" altLang="en-US" sz="2800" b="1" i="0" u="none" strike="noStrike" kern="0" cap="none" spc="0" normalizeH="0" baseline="0" noProof="0" dirty="0">
                <a:ln>
                  <a:noFill/>
                </a:ln>
                <a:solidFill>
                  <a:srgbClr val="0000FF"/>
                </a:solidFill>
                <a:effectLst>
                  <a:outerShdw blurRad="38100" dist="38100" dir="2700000" algn="tl">
                    <a:srgbClr val="000000">
                      <a:alpha val="43137"/>
                    </a:srgbClr>
                  </a:outerShdw>
                </a:effectLst>
                <a:uLnTx/>
                <a:uFillTx/>
                <a:latin typeface="+mn-lt"/>
                <a:ea typeface="华文中宋" panose="02010600040101010101" pitchFamily="2" charset="-122"/>
                <a:cs typeface="+mn-cs"/>
              </a:rPr>
              <a:t>小原子团</a:t>
            </a:r>
            <a:r>
              <a:rPr kumimoji="1" lang="zh-CN" altLang="en-US" sz="2800" i="0" u="none" strike="noStrike" kern="0" cap="none" spc="0" normalizeH="0" baseline="0" noProof="0" dirty="0">
                <a:ln>
                  <a:noFill/>
                </a:ln>
                <a:effectLst>
                  <a:outerShdw blurRad="38100" dist="38100" dir="2700000" algn="tl">
                    <a:srgbClr val="000000">
                      <a:alpha val="43137"/>
                    </a:srgbClr>
                  </a:outerShdw>
                </a:effectLst>
                <a:uLnTx/>
                <a:uFillTx/>
                <a:latin typeface="+mn-lt"/>
                <a:ea typeface="华文中宋" panose="02010600040101010101" pitchFamily="2" charset="-122"/>
                <a:cs typeface="+mn-cs"/>
              </a:rPr>
              <a:t>。</a:t>
            </a:r>
          </a:p>
          <a:p>
            <a:pPr marL="342900" marR="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a:pPr>
            <a:r>
              <a:rPr kumimoji="1" lang="zh-CN" altLang="en-US" sz="2800" b="1" dirty="0">
                <a:solidFill>
                  <a:srgbClr val="0000FF"/>
                </a:solidFill>
                <a:effectLst>
                  <a:outerShdw blurRad="38100" dist="38100" dir="2700000" algn="tl">
                    <a:srgbClr val="000000">
                      <a:alpha val="43137"/>
                    </a:srgbClr>
                  </a:outerShdw>
                </a:effectLst>
                <a:ea typeface="华文中宋" panose="02010600040101010101" pitchFamily="2" charset="-122"/>
              </a:rPr>
              <a:t>晶核：</a:t>
            </a:r>
            <a:r>
              <a:rPr kumimoji="1" lang="zh-CN" altLang="en-US" sz="2800" i="0" u="none" strike="noStrike" kern="0" cap="none" spc="0" normalizeH="0" baseline="0" noProof="0" dirty="0">
                <a:ln>
                  <a:noFill/>
                </a:ln>
                <a:effectLst>
                  <a:outerShdw blurRad="38100" dist="38100" dir="2700000" algn="tl">
                    <a:srgbClr val="000000">
                      <a:alpha val="43137"/>
                    </a:srgbClr>
                  </a:outerShdw>
                </a:effectLst>
                <a:uLnTx/>
                <a:uFillTx/>
                <a:latin typeface="+mn-lt"/>
                <a:ea typeface="华文中宋" panose="02010600040101010101" pitchFamily="2" charset="-122"/>
                <a:cs typeface="+mn-cs"/>
              </a:rPr>
              <a:t>在</a:t>
            </a:r>
            <a:r>
              <a:rPr kumimoji="1" lang="en-US" altLang="zh-CN" sz="2800" i="0" u="none" strike="noStrike" kern="0" cap="none" spc="0" normalizeH="0" baseline="0" noProof="0" dirty="0">
                <a:ln>
                  <a:noFill/>
                </a:ln>
                <a:effectLst>
                  <a:outerShdw blurRad="38100" dist="38100" dir="2700000" algn="tl">
                    <a:srgbClr val="000000">
                      <a:alpha val="43137"/>
                    </a:srgbClr>
                  </a:outerShdw>
                </a:effectLst>
                <a:uLnTx/>
                <a:uFillTx/>
                <a:latin typeface="+mn-lt"/>
                <a:ea typeface="华文中宋" panose="02010600040101010101" pitchFamily="2" charset="-122"/>
                <a:cs typeface="+mn-cs"/>
              </a:rPr>
              <a:t>T</a:t>
            </a:r>
            <a:r>
              <a:rPr kumimoji="1" lang="en-US" altLang="zh-CN" sz="2800" i="0" u="none" strike="noStrike" kern="0" cap="none" spc="0" normalizeH="0" baseline="-25000" noProof="0" dirty="0">
                <a:ln>
                  <a:noFill/>
                </a:ln>
                <a:effectLst>
                  <a:outerShdw blurRad="38100" dist="38100" dir="2700000" algn="tl">
                    <a:srgbClr val="000000">
                      <a:alpha val="43137"/>
                    </a:srgbClr>
                  </a:outerShdw>
                </a:effectLst>
                <a:uLnTx/>
                <a:uFillTx/>
                <a:latin typeface="+mn-lt"/>
                <a:ea typeface="华文中宋" panose="02010600040101010101" pitchFamily="2" charset="-122"/>
                <a:cs typeface="+mn-cs"/>
              </a:rPr>
              <a:t>0</a:t>
            </a:r>
            <a:r>
              <a:rPr kumimoji="1" lang="zh-CN" altLang="en-US" sz="2800" i="0" u="none" strike="noStrike" kern="0" cap="none" spc="0" normalizeH="0" baseline="0" noProof="0" dirty="0">
                <a:ln>
                  <a:noFill/>
                </a:ln>
                <a:effectLst>
                  <a:outerShdw blurRad="38100" dist="38100" dir="2700000" algn="tl">
                    <a:srgbClr val="000000">
                      <a:alpha val="43137"/>
                    </a:srgbClr>
                  </a:outerShdw>
                </a:effectLst>
                <a:uLnTx/>
                <a:uFillTx/>
                <a:latin typeface="+mn-lt"/>
                <a:ea typeface="华文中宋" panose="02010600040101010101" pitchFamily="2" charset="-122"/>
                <a:cs typeface="+mn-cs"/>
              </a:rPr>
              <a:t>以下</a:t>
            </a:r>
            <a:r>
              <a:rPr kumimoji="1" lang="en-US" altLang="zh-CN" sz="2800" i="0" u="none" strike="noStrike" kern="0" cap="none" spc="0" normalizeH="0" baseline="0" noProof="0" dirty="0">
                <a:ln>
                  <a:noFill/>
                </a:ln>
                <a:effectLst>
                  <a:outerShdw blurRad="38100" dist="38100" dir="2700000" algn="tl">
                    <a:srgbClr val="000000">
                      <a:alpha val="43137"/>
                    </a:srgbClr>
                  </a:outerShdw>
                </a:effectLst>
                <a:uLnTx/>
                <a:uFillTx/>
                <a:latin typeface="+mn-lt"/>
                <a:ea typeface="华文中宋" panose="02010600040101010101" pitchFamily="2" charset="-122"/>
                <a:cs typeface="+mn-cs"/>
              </a:rPr>
              <a:t>,  </a:t>
            </a:r>
            <a:r>
              <a:rPr kumimoji="1" lang="zh-CN" altLang="en-US" sz="2800" i="0" u="none" strike="noStrike" kern="0" cap="none" spc="0" normalizeH="0" baseline="0" noProof="0" dirty="0">
                <a:ln>
                  <a:noFill/>
                </a:ln>
                <a:effectLst>
                  <a:outerShdw blurRad="38100" dist="38100" dir="2700000" algn="tl">
                    <a:srgbClr val="000000">
                      <a:alpha val="43137"/>
                    </a:srgbClr>
                  </a:outerShdw>
                </a:effectLst>
                <a:uLnTx/>
                <a:uFillTx/>
                <a:latin typeface="+mn-lt"/>
                <a:ea typeface="华文中宋" panose="02010600040101010101" pitchFamily="2" charset="-122"/>
                <a:cs typeface="+mn-cs"/>
              </a:rPr>
              <a:t>经一段时间后</a:t>
            </a:r>
            <a:r>
              <a:rPr kumimoji="1" lang="en-US" altLang="zh-CN" sz="2800" i="0" u="none" strike="noStrike" kern="0" cap="none" spc="0" normalizeH="0" baseline="0" noProof="0" dirty="0">
                <a:ln>
                  <a:noFill/>
                </a:ln>
                <a:effectLst>
                  <a:outerShdw blurRad="38100" dist="38100" dir="2700000" algn="tl">
                    <a:srgbClr val="000000">
                      <a:alpha val="43137"/>
                    </a:srgbClr>
                  </a:outerShdw>
                </a:effectLst>
                <a:uLnTx/>
                <a:uFillTx/>
                <a:latin typeface="+mn-lt"/>
                <a:ea typeface="华文中宋" panose="02010600040101010101" pitchFamily="2" charset="-122"/>
                <a:cs typeface="+mn-cs"/>
              </a:rPr>
              <a:t>(</a:t>
            </a:r>
            <a:r>
              <a:rPr kumimoji="1" lang="zh-CN" altLang="en-US" sz="2800" i="0" u="none" strike="noStrike" kern="0" cap="none" spc="0" normalizeH="0" baseline="0" noProof="0" dirty="0">
                <a:ln>
                  <a:noFill/>
                </a:ln>
                <a:effectLst>
                  <a:outerShdw blurRad="38100" dist="38100" dir="2700000" algn="tl">
                    <a:srgbClr val="000000">
                      <a:alpha val="43137"/>
                    </a:srgbClr>
                  </a:outerShdw>
                </a:effectLst>
                <a:uLnTx/>
                <a:uFillTx/>
                <a:latin typeface="+mn-lt"/>
                <a:ea typeface="华文中宋" panose="02010600040101010101" pitchFamily="2" charset="-122"/>
                <a:cs typeface="+mn-cs"/>
              </a:rPr>
              <a:t>即孕育期</a:t>
            </a:r>
            <a:r>
              <a:rPr kumimoji="1" lang="en-US" altLang="zh-CN" sz="2800" i="0" u="none" strike="noStrike" kern="0" cap="none" spc="0" normalizeH="0" baseline="0" noProof="0" dirty="0">
                <a:ln>
                  <a:noFill/>
                </a:ln>
                <a:effectLst>
                  <a:outerShdw blurRad="38100" dist="38100" dir="2700000" algn="tl">
                    <a:srgbClr val="000000">
                      <a:alpha val="43137"/>
                    </a:srgbClr>
                  </a:outerShdw>
                </a:effectLst>
                <a:uLnTx/>
                <a:uFillTx/>
                <a:latin typeface="+mn-lt"/>
                <a:ea typeface="华文中宋" panose="02010600040101010101" pitchFamily="2" charset="-122"/>
                <a:cs typeface="+mn-cs"/>
              </a:rPr>
              <a:t>),  </a:t>
            </a:r>
            <a:r>
              <a:rPr kumimoji="1" lang="zh-CN" altLang="en-US" sz="2800" i="0" u="none" strike="noStrike" kern="0" cap="none" spc="0" normalizeH="0" baseline="0" noProof="0" dirty="0">
                <a:ln>
                  <a:noFill/>
                </a:ln>
                <a:effectLst>
                  <a:outerShdw blurRad="38100" dist="38100" dir="2700000" algn="tl">
                    <a:srgbClr val="000000">
                      <a:alpha val="43137"/>
                    </a:srgbClr>
                  </a:outerShdw>
                </a:effectLst>
                <a:uLnTx/>
                <a:uFillTx/>
                <a:latin typeface="+mn-lt"/>
                <a:ea typeface="华文中宋" panose="02010600040101010101" pitchFamily="2" charset="-122"/>
                <a:cs typeface="+mn-cs"/>
              </a:rPr>
              <a:t>一些大尺寸（</a:t>
            </a:r>
            <a:r>
              <a:rPr kumimoji="1" lang="en-US" altLang="zh-CN" sz="2800" i="0" u="none" strike="noStrike" kern="0" cap="none" spc="0" normalizeH="0" baseline="0" noProof="0" dirty="0">
                <a:ln>
                  <a:noFill/>
                </a:ln>
                <a:effectLst>
                  <a:outerShdw blurRad="38100" dist="38100" dir="2700000" algn="tl">
                    <a:srgbClr val="000000">
                      <a:alpha val="43137"/>
                    </a:srgbClr>
                  </a:outerShdw>
                </a:effectLst>
                <a:uLnTx/>
                <a:uFillTx/>
                <a:latin typeface="+mn-lt"/>
                <a:ea typeface="华文中宋" panose="02010600040101010101" pitchFamily="2" charset="-122"/>
                <a:cs typeface="+mn-cs"/>
              </a:rPr>
              <a:t>&gt;</a:t>
            </a:r>
            <a:r>
              <a:rPr kumimoji="1" lang="zh-CN" altLang="en-US" sz="2800" b="1" i="0" u="none" strike="noStrike" kern="0" cap="none" spc="0" normalizeH="0" baseline="0" noProof="0" dirty="0">
                <a:ln>
                  <a:noFill/>
                </a:ln>
                <a:solidFill>
                  <a:srgbClr val="0000FF"/>
                </a:solidFill>
                <a:effectLst>
                  <a:outerShdw blurRad="38100" dist="38100" dir="2700000" algn="tl">
                    <a:srgbClr val="000000">
                      <a:alpha val="43137"/>
                    </a:srgbClr>
                  </a:outerShdw>
                </a:effectLst>
                <a:uLnTx/>
                <a:uFillTx/>
                <a:latin typeface="+mn-lt"/>
                <a:ea typeface="华文中宋" panose="02010600040101010101" pitchFamily="2" charset="-122"/>
                <a:cs typeface="+mn-cs"/>
              </a:rPr>
              <a:t>临界尺寸</a:t>
            </a:r>
            <a:r>
              <a:rPr kumimoji="1" lang="en-US" altLang="zh-CN" sz="2800" i="0" u="none" strike="noStrike" kern="0" cap="none" spc="0" normalizeH="0" baseline="0" noProof="0" dirty="0" err="1">
                <a:ln>
                  <a:noFill/>
                </a:ln>
                <a:effectLst>
                  <a:outerShdw blurRad="38100" dist="38100" dir="2700000" algn="tl">
                    <a:srgbClr val="000000">
                      <a:alpha val="43137"/>
                    </a:srgbClr>
                  </a:outerShdw>
                </a:effectLst>
                <a:uLnTx/>
                <a:uFillTx/>
                <a:latin typeface="+mn-lt"/>
                <a:ea typeface="华文中宋" panose="02010600040101010101" pitchFamily="2" charset="-122"/>
                <a:cs typeface="+mn-cs"/>
              </a:rPr>
              <a:t>r</a:t>
            </a:r>
            <a:r>
              <a:rPr kumimoji="1" lang="en-US" altLang="zh-CN" sz="2800" i="0" u="none" strike="noStrike" kern="0" cap="none" spc="0" normalizeH="0" baseline="-25000" noProof="0" dirty="0" err="1">
                <a:ln>
                  <a:noFill/>
                </a:ln>
                <a:effectLst>
                  <a:outerShdw blurRad="38100" dist="38100" dir="2700000" algn="tl">
                    <a:srgbClr val="000000">
                      <a:alpha val="43137"/>
                    </a:srgbClr>
                  </a:outerShdw>
                </a:effectLst>
                <a:uLnTx/>
                <a:uFillTx/>
                <a:latin typeface="+mn-lt"/>
                <a:ea typeface="华文中宋" panose="02010600040101010101" pitchFamily="2" charset="-122"/>
                <a:cs typeface="+mn-cs"/>
              </a:rPr>
              <a:t>c</a:t>
            </a:r>
            <a:r>
              <a:rPr kumimoji="1" lang="zh-CN" altLang="en-US" sz="2800" i="0" u="none" strike="noStrike" kern="0" cap="none" spc="0" normalizeH="0" baseline="0" noProof="0" dirty="0">
                <a:ln>
                  <a:noFill/>
                </a:ln>
                <a:effectLst>
                  <a:outerShdw blurRad="38100" dist="38100" dir="2700000" algn="tl">
                    <a:srgbClr val="000000">
                      <a:alpha val="43137"/>
                    </a:srgbClr>
                  </a:outerShdw>
                </a:effectLst>
                <a:uLnTx/>
                <a:uFillTx/>
                <a:latin typeface="+mn-lt"/>
                <a:ea typeface="华文中宋" panose="02010600040101010101" pitchFamily="2" charset="-122"/>
                <a:cs typeface="+mn-cs"/>
              </a:rPr>
              <a:t>）的晶胚将会长大。</a:t>
            </a:r>
            <a:endParaRPr kumimoji="1" lang="en-US" altLang="zh-CN" sz="2800" i="0" u="none" strike="noStrike" kern="0" cap="none" spc="0" normalizeH="0" baseline="0" noProof="0" dirty="0">
              <a:ln>
                <a:noFill/>
              </a:ln>
              <a:effectLst>
                <a:outerShdw blurRad="38100" dist="38100" dir="2700000" algn="tl">
                  <a:srgbClr val="000000">
                    <a:alpha val="43137"/>
                  </a:srgbClr>
                </a:outerShdw>
              </a:effectLst>
              <a:uLnTx/>
              <a:uFillTx/>
              <a:latin typeface="+mn-lt"/>
              <a:ea typeface="华文中宋"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a:pPr>
            <a:r>
              <a:rPr kumimoji="1" lang="zh-CN" altLang="en-US" sz="2800" b="1" dirty="0">
                <a:solidFill>
                  <a:srgbClr val="0000FF"/>
                </a:solidFill>
                <a:effectLst>
                  <a:outerShdw blurRad="38100" dist="38100" dir="2700000" algn="tl">
                    <a:srgbClr val="000000">
                      <a:alpha val="43137"/>
                    </a:srgbClr>
                  </a:outerShdw>
                </a:effectLst>
                <a:ea typeface="华文中宋" panose="02010600040101010101" pitchFamily="2" charset="-122"/>
              </a:rPr>
              <a:t>能垒：</a:t>
            </a:r>
            <a:r>
              <a:rPr kumimoji="1" lang="zh-CN" altLang="en-US" sz="2800" b="1" i="0" u="none" strike="noStrike" kern="0" cap="none" spc="0" normalizeH="0" baseline="0" dirty="0">
                <a:solidFill>
                  <a:srgbClr val="0000FF"/>
                </a:solidFill>
                <a:effectLst>
                  <a:outerShdw blurRad="38100" dist="38100" dir="2700000" algn="tl">
                    <a:srgbClr val="000000">
                      <a:alpha val="43137"/>
                    </a:srgbClr>
                  </a:outerShdw>
                </a:effectLst>
                <a:ea typeface="华文中宋" panose="02010600040101010101" pitchFamily="2" charset="-122"/>
              </a:rPr>
              <a:t>体系自由能</a:t>
            </a:r>
            <a:r>
              <a:rPr kumimoji="1" lang="zh-CN" altLang="en-US" sz="2800" i="0" u="none" strike="noStrike" kern="0" cap="none" spc="0" normalizeH="0" baseline="0" noProof="0" dirty="0">
                <a:ln>
                  <a:noFill/>
                </a:ln>
                <a:effectLst>
                  <a:outerShdw blurRad="38100" dist="38100" dir="2700000" algn="tl">
                    <a:srgbClr val="000000">
                      <a:alpha val="43137"/>
                    </a:srgbClr>
                  </a:outerShdw>
                </a:effectLst>
                <a:uLnTx/>
                <a:uFillTx/>
                <a:latin typeface="+mj-lt"/>
                <a:ea typeface="华文中宋" panose="02010600040101010101" pitchFamily="2" charset="-122"/>
                <a:cs typeface="+mj-cs"/>
              </a:rPr>
              <a:t>变化的</a:t>
            </a:r>
            <a:r>
              <a:rPr kumimoji="1" lang="zh-CN" altLang="en-US" sz="2800" b="1" i="0" u="none" strike="noStrike" kern="0" cap="none" spc="0" normalizeH="0" baseline="0" dirty="0">
                <a:solidFill>
                  <a:srgbClr val="0000FF"/>
                </a:solidFill>
                <a:effectLst>
                  <a:outerShdw blurRad="38100" dist="38100" dir="2700000" algn="tl">
                    <a:srgbClr val="000000">
                      <a:alpha val="43137"/>
                    </a:srgbClr>
                  </a:outerShdw>
                </a:effectLst>
                <a:ea typeface="华文中宋" panose="02010600040101010101" pitchFamily="2" charset="-122"/>
              </a:rPr>
              <a:t>最大值</a:t>
            </a:r>
            <a:endParaRPr kumimoji="1" lang="en-US" altLang="zh-CN" sz="2800" i="0" u="none" strike="noStrike" kern="0" cap="none" spc="0" normalizeH="0" baseline="0" noProof="0" dirty="0">
              <a:ln>
                <a:noFill/>
              </a:ln>
              <a:effectLst>
                <a:outerShdw blurRad="38100" dist="38100" dir="2700000" algn="tl">
                  <a:srgbClr val="000000">
                    <a:alpha val="43137"/>
                  </a:srgbClr>
                </a:outerShdw>
              </a:effectLst>
              <a:uLnTx/>
              <a:uFillTx/>
              <a:latin typeface="+mj-lt"/>
              <a:ea typeface="华文中宋" panose="02010600040101010101" pitchFamily="2" charset="-122"/>
              <a:cs typeface="+mj-cs"/>
            </a:endParaRPr>
          </a:p>
          <a:p>
            <a:pPr marL="342900" marR="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a:pPr>
            <a:r>
              <a:rPr kumimoji="1" lang="zh-CN" altLang="en-US" sz="2800" i="0" u="none" strike="noStrike" kern="0" cap="none" spc="0" normalizeH="0" baseline="0" noProof="0" dirty="0">
                <a:ln>
                  <a:noFill/>
                </a:ln>
                <a:effectLst>
                  <a:outerShdw blurRad="38100" dist="38100" dir="2700000" algn="tl">
                    <a:srgbClr val="000000">
                      <a:alpha val="43137"/>
                    </a:srgbClr>
                  </a:outerShdw>
                </a:effectLst>
                <a:uLnTx/>
                <a:uFillTx/>
                <a:latin typeface="+mj-lt"/>
                <a:ea typeface="华文中宋" panose="02010600040101010101" pitchFamily="2" charset="-122"/>
                <a:cs typeface="+mj-cs"/>
              </a:rPr>
              <a:t>只有大于</a:t>
            </a:r>
            <a:r>
              <a:rPr kumimoji="1" lang="zh-CN" altLang="en-US" sz="2800" b="1" dirty="0">
                <a:solidFill>
                  <a:srgbClr val="0000FF"/>
                </a:solidFill>
                <a:effectLst>
                  <a:outerShdw blurRad="38100" dist="38100" dir="2700000" algn="tl">
                    <a:srgbClr val="000000">
                      <a:alpha val="43137"/>
                    </a:srgbClr>
                  </a:outerShdw>
                </a:effectLst>
                <a:ea typeface="华文中宋" panose="02010600040101010101" pitchFamily="2" charset="-122"/>
              </a:rPr>
              <a:t>临界尺寸</a:t>
            </a:r>
            <a:r>
              <a:rPr kumimoji="1" lang="en-US" altLang="zh-CN" sz="2800" i="0" u="none" strike="noStrike" kern="0" cap="none" spc="0" normalizeH="0" baseline="0" noProof="0" dirty="0" err="1">
                <a:ln>
                  <a:noFill/>
                </a:ln>
                <a:solidFill>
                  <a:srgbClr val="0000FF"/>
                </a:solidFill>
                <a:effectLst>
                  <a:outerShdw blurRad="38100" dist="38100" dir="2700000" algn="tl">
                    <a:srgbClr val="000000">
                      <a:alpha val="43137"/>
                    </a:srgbClr>
                  </a:outerShdw>
                </a:effectLst>
                <a:uLnTx/>
                <a:uFillTx/>
                <a:latin typeface="+mn-lt"/>
                <a:ea typeface="华文中宋" panose="02010600040101010101" pitchFamily="2" charset="-122"/>
                <a:cs typeface="+mn-cs"/>
              </a:rPr>
              <a:t>r</a:t>
            </a:r>
            <a:r>
              <a:rPr kumimoji="1" lang="en-US" altLang="zh-CN" sz="2800" i="0" u="none" strike="noStrike" kern="0" cap="none" spc="0" normalizeH="0" baseline="-25000" noProof="0" dirty="0" err="1">
                <a:ln>
                  <a:noFill/>
                </a:ln>
                <a:solidFill>
                  <a:srgbClr val="0000FF"/>
                </a:solidFill>
                <a:effectLst>
                  <a:outerShdw blurRad="38100" dist="38100" dir="2700000" algn="tl">
                    <a:srgbClr val="000000">
                      <a:alpha val="43137"/>
                    </a:srgbClr>
                  </a:outerShdw>
                </a:effectLst>
                <a:uLnTx/>
                <a:uFillTx/>
                <a:latin typeface="+mn-lt"/>
                <a:ea typeface="华文中宋" panose="02010600040101010101" pitchFamily="2" charset="-122"/>
                <a:cs typeface="+mn-cs"/>
              </a:rPr>
              <a:t>c</a:t>
            </a:r>
            <a:r>
              <a:rPr kumimoji="1" lang="zh-CN" altLang="en-US" sz="2800" i="0" u="none" strike="noStrike" kern="0" cap="none" spc="0" normalizeH="0" baseline="0" noProof="0" dirty="0">
                <a:ln>
                  <a:noFill/>
                </a:ln>
                <a:effectLst>
                  <a:outerShdw blurRad="38100" dist="38100" dir="2700000" algn="tl">
                    <a:srgbClr val="000000">
                      <a:alpha val="43137"/>
                    </a:srgbClr>
                  </a:outerShdw>
                </a:effectLst>
                <a:uLnTx/>
                <a:uFillTx/>
                <a:ea typeface="华文中宋" panose="02010600040101010101" pitchFamily="2" charset="-122"/>
              </a:rPr>
              <a:t>的晶胚才会形成晶核。</a:t>
            </a:r>
            <a:endParaRPr kumimoji="1" lang="en-US" altLang="zh-CN" sz="2800" i="0" u="none" strike="noStrike" kern="0" cap="none" spc="0" normalizeH="0" baseline="0" noProof="0" dirty="0">
              <a:ln>
                <a:noFill/>
              </a:ln>
              <a:effectLst>
                <a:outerShdw blurRad="38100" dist="38100" dir="2700000" algn="tl">
                  <a:srgbClr val="000000">
                    <a:alpha val="43137"/>
                  </a:srgbClr>
                </a:outerShdw>
              </a:effectLst>
              <a:uLnTx/>
              <a:uFillTx/>
              <a:latin typeface="+mj-lt"/>
              <a:ea typeface="华文中宋" panose="02010600040101010101" pitchFamily="2" charset="-122"/>
              <a:cs typeface="+mj-cs"/>
            </a:endParaRPr>
          </a:p>
        </p:txBody>
      </p:sp>
      <p:sp>
        <p:nvSpPr>
          <p:cNvPr id="14348" name="日期占位符 1"/>
          <p:cNvSpPr>
            <a:spLocks noGrp="1"/>
          </p:cNvSpPr>
          <p:nvPr>
            <p:ph type="dt" sz="half" idx="10"/>
          </p:nvPr>
        </p:nvSpPr>
        <p:spPr>
          <a:xfrm>
            <a:off x="639" y="6502400"/>
            <a:ext cx="1905000" cy="342900"/>
          </a:xfrm>
        </p:spPr>
        <p:txBody>
          <a:bodyPr wrap="square" lIns="91440" tIns="45720" rIns="91440" bIns="45720" anchor="b"/>
          <a:lst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stStyle>
          <a:p>
            <a:pPr lvl="0" indent="0"/>
            <a:fld id="{BB962C8B-B14F-4D97-AF65-F5344CB8AC3E}" type="datetime8">
              <a:rPr lang="en-US" altLang="zh-CN" sz="1400" dirty="0"/>
              <a:t>11/20/2025 5:38 PM</a:t>
            </a:fld>
            <a:endParaRPr lang="en-US" altLang="zh-CN" sz="1400" dirty="0"/>
          </a:p>
        </p:txBody>
      </p:sp>
      <p:pic>
        <p:nvPicPr>
          <p:cNvPr id="14" name="内容占位符 1" descr="新校徽（3M）弓之乐"/>
          <p:cNvPicPr>
            <a:picLocks noChangeAspect="1"/>
          </p:cNvPicPr>
          <p:nvPr/>
        </p:nvPicPr>
        <p:blipFill>
          <a:blip r:embed="rId2" cstate="print"/>
          <a:stretch>
            <a:fillRect/>
          </a:stretch>
        </p:blipFill>
        <p:spPr>
          <a:xfrm>
            <a:off x="19685" y="3175"/>
            <a:ext cx="746760" cy="735965"/>
          </a:xfrm>
          <a:prstGeom prst="rect">
            <a:avLst/>
          </a:prstGeom>
          <a:noFill/>
          <a:ln w="9525">
            <a:noFill/>
          </a:ln>
        </p:spPr>
      </p:pic>
      <p:sp>
        <p:nvSpPr>
          <p:cNvPr id="3" name="灯片编号占位符 3"/>
          <p:cNvSpPr txBox="1"/>
          <p:nvPr/>
        </p:nvSpPr>
        <p:spPr bwMode="auto">
          <a:xfrm>
            <a:off x="8316416" y="6529928"/>
            <a:ext cx="630734" cy="328072"/>
          </a:xfrm>
          <a:prstGeom prst="rect">
            <a:avLst/>
          </a:prstGeom>
          <a:noFill/>
          <a:ln w="9525">
            <a:noFill/>
            <a:miter lim="800000"/>
          </a:ln>
          <a:effectLst/>
        </p:spPr>
        <p:txBody>
          <a:bodyPr vert="horz" wrap="square" lIns="91440" tIns="45720" rIns="91440" bIns="45720" numCol="1" anchor="b" anchorCtr="0" compatLnSpc="1"/>
          <a:ls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9pPr>
          </a:lstStyle>
          <a:p>
            <a:pPr algn="r"/>
            <a:fld id="{9A0DB2DC-4C9A-4742-B13C-FB6460FD3503}" type="slidenum">
              <a:rPr lang="en-US" altLang="zh-CN" sz="1400" noProof="1" smtClean="0">
                <a:cs typeface="+mn-ea"/>
              </a:rPr>
              <a:t>18</a:t>
            </a:fld>
            <a:endParaRPr lang="en-US" altLang="zh-CN" sz="1400" dirty="0"/>
          </a:p>
        </p:txBody>
      </p:sp>
      <p:grpSp>
        <p:nvGrpSpPr>
          <p:cNvPr id="4" name="Group 5"/>
          <p:cNvGrpSpPr/>
          <p:nvPr/>
        </p:nvGrpSpPr>
        <p:grpSpPr>
          <a:xfrm>
            <a:off x="6375400" y="1700808"/>
            <a:ext cx="2571750" cy="2000250"/>
            <a:chOff x="3351" y="228"/>
            <a:chExt cx="2121" cy="1608"/>
          </a:xfrm>
        </p:grpSpPr>
        <p:sp>
          <p:nvSpPr>
            <p:cNvPr id="5" name="Rectangle 6"/>
            <p:cNvSpPr/>
            <p:nvPr/>
          </p:nvSpPr>
          <p:spPr>
            <a:xfrm>
              <a:off x="3351" y="228"/>
              <a:ext cx="2073" cy="1608"/>
            </a:xfrm>
            <a:prstGeom prst="rect">
              <a:avLst/>
            </a:prstGeom>
            <a:noFill/>
            <a:ln w="38100" cap="flat" cmpd="sng">
              <a:solidFill>
                <a:srgbClr val="FF9900"/>
              </a:solidFill>
              <a:prstDash val="solid"/>
              <a:miter/>
              <a:headEnd type="none" w="med" len="med"/>
              <a:tailEnd type="none" w="med" len="med"/>
            </a:ln>
          </p:spPr>
          <p:txBody>
            <a:bodyPr wrap="none" anchor="ctr"/>
            <a:lstStyle>
              <a:defPPr>
                <a:defRPr lang="zh-CN"/>
              </a:defPPr>
              <a:lvl1pPr marL="0" lvl="0"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9pPr>
            </a:lstStyle>
            <a:p>
              <a:pPr lvl="0" eaLnBrk="1" hangingPunct="1"/>
              <a:endParaRPr lang="zh-CN" altLang="en-US" dirty="0">
                <a:latin typeface="Times New Roman" panose="02020603050405020304" pitchFamily="18" charset="0"/>
                <a:ea typeface="宋体" panose="02010600030101010101" pitchFamily="2" charset="-122"/>
              </a:endParaRPr>
            </a:p>
          </p:txBody>
        </p:sp>
        <p:grpSp>
          <p:nvGrpSpPr>
            <p:cNvPr id="6" name="Group 7"/>
            <p:cNvGrpSpPr/>
            <p:nvPr/>
          </p:nvGrpSpPr>
          <p:grpSpPr>
            <a:xfrm>
              <a:off x="3360" y="242"/>
              <a:ext cx="2112" cy="1582"/>
              <a:chOff x="3360" y="332"/>
              <a:chExt cx="2090" cy="1582"/>
            </a:xfrm>
          </p:grpSpPr>
          <p:grpSp>
            <p:nvGrpSpPr>
              <p:cNvPr id="7" name="Group 8"/>
              <p:cNvGrpSpPr/>
              <p:nvPr/>
            </p:nvGrpSpPr>
            <p:grpSpPr>
              <a:xfrm>
                <a:off x="3360" y="336"/>
                <a:ext cx="2040" cy="1578"/>
                <a:chOff x="3360" y="336"/>
                <a:chExt cx="2040" cy="1578"/>
              </a:xfrm>
            </p:grpSpPr>
            <p:grpSp>
              <p:nvGrpSpPr>
                <p:cNvPr id="9" name="Group 9"/>
                <p:cNvGrpSpPr/>
                <p:nvPr/>
              </p:nvGrpSpPr>
              <p:grpSpPr>
                <a:xfrm>
                  <a:off x="3360" y="336"/>
                  <a:ext cx="2040" cy="1578"/>
                  <a:chOff x="3360" y="336"/>
                  <a:chExt cx="2040" cy="1578"/>
                </a:xfrm>
              </p:grpSpPr>
              <p:grpSp>
                <p:nvGrpSpPr>
                  <p:cNvPr id="11" name="Group 10"/>
                  <p:cNvGrpSpPr/>
                  <p:nvPr/>
                </p:nvGrpSpPr>
                <p:grpSpPr>
                  <a:xfrm>
                    <a:off x="3360" y="336"/>
                    <a:ext cx="2040" cy="1578"/>
                    <a:chOff x="3360" y="336"/>
                    <a:chExt cx="2040" cy="1578"/>
                  </a:xfrm>
                </p:grpSpPr>
                <p:pic>
                  <p:nvPicPr>
                    <p:cNvPr id="13" name="Picture 11" descr="LS energe"/>
                    <p:cNvPicPr>
                      <a:picLocks noChangeAspect="1"/>
                    </p:cNvPicPr>
                    <p:nvPr/>
                  </p:nvPicPr>
                  <p:blipFill>
                    <a:blip r:embed="rId3"/>
                    <a:stretch>
                      <a:fillRect/>
                    </a:stretch>
                  </p:blipFill>
                  <p:spPr>
                    <a:xfrm>
                      <a:off x="3360" y="336"/>
                      <a:ext cx="2040" cy="1578"/>
                    </a:xfrm>
                    <a:prstGeom prst="rect">
                      <a:avLst/>
                    </a:prstGeom>
                    <a:noFill/>
                    <a:ln w="9525">
                      <a:noFill/>
                    </a:ln>
                  </p:spPr>
                </p:pic>
                <p:sp>
                  <p:nvSpPr>
                    <p:cNvPr id="15" name="Rectangle 12"/>
                    <p:cNvSpPr/>
                    <p:nvPr/>
                  </p:nvSpPr>
                  <p:spPr>
                    <a:xfrm>
                      <a:off x="4368" y="1641"/>
                      <a:ext cx="192" cy="19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defPPr>
                        <a:defRPr lang="zh-CN"/>
                      </a:defPPr>
                      <a:lvl1pPr marL="0" lvl="0"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9pPr>
                    </a:lstStyle>
                    <a:p>
                      <a:pPr lvl="0" algn="ctr" eaLnBrk="1" hangingPunct="1"/>
                      <a:r>
                        <a:rPr lang="en-US" altLang="zh-CN" sz="1800" i="1" dirty="0">
                          <a:solidFill>
                            <a:srgbClr val="0000FF"/>
                          </a:solidFill>
                          <a:latin typeface="Times New Roman" panose="02020603050405020304" pitchFamily="18" charset="0"/>
                          <a:ea typeface="宋体" panose="02010600030101010101" pitchFamily="2" charset="-122"/>
                        </a:rPr>
                        <a:t>T</a:t>
                      </a:r>
                      <a:r>
                        <a:rPr lang="en-US" altLang="zh-CN" sz="1800" baseline="-25000" dirty="0">
                          <a:solidFill>
                            <a:srgbClr val="0000FF"/>
                          </a:solidFill>
                          <a:latin typeface="Times New Roman" panose="02020603050405020304" pitchFamily="18" charset="0"/>
                          <a:ea typeface="宋体" panose="02010600030101010101" pitchFamily="2" charset="-122"/>
                        </a:rPr>
                        <a:t>0</a:t>
                      </a:r>
                      <a:endParaRPr lang="en-US" altLang="zh-CN" sz="1800" dirty="0">
                        <a:solidFill>
                          <a:srgbClr val="0000FF"/>
                        </a:solidFill>
                        <a:latin typeface="Times New Roman" panose="02020603050405020304" pitchFamily="18" charset="0"/>
                        <a:ea typeface="宋体" panose="02010600030101010101" pitchFamily="2" charset="-122"/>
                      </a:endParaRPr>
                    </a:p>
                  </p:txBody>
                </p:sp>
                <p:sp>
                  <p:nvSpPr>
                    <p:cNvPr id="16" name="Rectangle 13"/>
                    <p:cNvSpPr/>
                    <p:nvPr/>
                  </p:nvSpPr>
                  <p:spPr>
                    <a:xfrm>
                      <a:off x="4106" y="1645"/>
                      <a:ext cx="192" cy="19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defPPr>
                        <a:defRPr lang="zh-CN"/>
                      </a:defPPr>
                      <a:lvl1pPr marL="0" lvl="0"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9pPr>
                    </a:lstStyle>
                    <a:p>
                      <a:pPr lvl="0" algn="ctr" eaLnBrk="1" hangingPunct="1"/>
                      <a:r>
                        <a:rPr lang="en-US" altLang="zh-CN" sz="1800" i="1" dirty="0">
                          <a:solidFill>
                            <a:schemeClr val="hlink"/>
                          </a:solidFill>
                          <a:latin typeface="Times New Roman" panose="02020603050405020304" pitchFamily="18" charset="0"/>
                          <a:ea typeface="宋体" panose="02010600030101010101" pitchFamily="2" charset="-122"/>
                        </a:rPr>
                        <a:t>T</a:t>
                      </a:r>
                      <a:r>
                        <a:rPr lang="en-US" altLang="zh-CN" sz="1800" baseline="-25000" dirty="0">
                          <a:solidFill>
                            <a:schemeClr val="hlink"/>
                          </a:solidFill>
                          <a:latin typeface="Times New Roman" panose="02020603050405020304" pitchFamily="18" charset="0"/>
                          <a:ea typeface="宋体" panose="02010600030101010101" pitchFamily="2" charset="-122"/>
                        </a:rPr>
                        <a:t>1</a:t>
                      </a:r>
                      <a:endParaRPr lang="en-US" altLang="zh-CN" sz="1800" dirty="0">
                        <a:solidFill>
                          <a:schemeClr val="hlink"/>
                        </a:solidFill>
                        <a:latin typeface="Times New Roman" panose="02020603050405020304" pitchFamily="18" charset="0"/>
                        <a:ea typeface="宋体" panose="02010600030101010101" pitchFamily="2" charset="-122"/>
                      </a:endParaRPr>
                    </a:p>
                  </p:txBody>
                </p:sp>
              </p:grpSp>
              <p:sp>
                <p:nvSpPr>
                  <p:cNvPr id="12" name="Rectangle 14"/>
                  <p:cNvSpPr/>
                  <p:nvPr/>
                </p:nvSpPr>
                <p:spPr>
                  <a:xfrm>
                    <a:off x="4274" y="1215"/>
                    <a:ext cx="203" cy="219"/>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defPPr>
                      <a:defRPr lang="zh-CN"/>
                    </a:defPPr>
                    <a:lvl1pPr marL="0" lvl="0"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9pPr>
                  </a:lstStyle>
                  <a:p>
                    <a:pPr lvl="0" algn="ctr" eaLnBrk="1" hangingPunct="1"/>
                    <a:r>
                      <a:rPr lang="en-US" altLang="zh-CN" sz="1600" dirty="0">
                        <a:solidFill>
                          <a:schemeClr val="bg2"/>
                        </a:solidFill>
                        <a:latin typeface="Times New Roman" panose="02020603050405020304" pitchFamily="18" charset="0"/>
                        <a:ea typeface="宋体" panose="02010600030101010101" pitchFamily="2" charset="-122"/>
                      </a:rPr>
                      <a:t>ΔT</a:t>
                    </a:r>
                  </a:p>
                </p:txBody>
              </p:sp>
            </p:grpSp>
            <p:sp>
              <p:nvSpPr>
                <p:cNvPr id="10" name="Line 15"/>
                <p:cNvSpPr/>
                <p:nvPr/>
              </p:nvSpPr>
              <p:spPr>
                <a:xfrm flipV="1">
                  <a:off x="4189" y="1440"/>
                  <a:ext cx="288" cy="0"/>
                </a:xfrm>
                <a:prstGeom prst="line">
                  <a:avLst/>
                </a:prstGeom>
                <a:ln w="9525" cap="flat" cmpd="sng">
                  <a:solidFill>
                    <a:schemeClr val="bg2"/>
                  </a:solidFill>
                  <a:prstDash val="solid"/>
                  <a:headEnd type="triangle" w="med" len="med"/>
                  <a:tailEnd type="triangle" w="med" len="med"/>
                </a:ln>
              </p:spPr>
              <p:txBody>
                <a:bodyPr/>
                <a:lstStyle/>
                <a:p>
                  <a:endParaRPr lang="zh-CN" altLang="en-US"/>
                </a:p>
              </p:txBody>
            </p:sp>
          </p:grpSp>
          <p:sp>
            <p:nvSpPr>
              <p:cNvPr id="8" name="Text Box 16"/>
              <p:cNvSpPr txBox="1"/>
              <p:nvPr/>
            </p:nvSpPr>
            <p:spPr>
              <a:xfrm>
                <a:off x="3626" y="332"/>
                <a:ext cx="1824" cy="212"/>
              </a:xfrm>
              <a:prstGeom prst="rect">
                <a:avLst/>
              </a:prstGeom>
              <a:noFill/>
              <a:ln w="9525">
                <a:noFill/>
              </a:ln>
            </p:spPr>
            <p:txBody>
              <a:bodyPr>
                <a:spAutoFit/>
              </a:bodyPr>
              <a:lstStyle>
                <a:defPPr>
                  <a:defRPr lang="zh-CN"/>
                </a:defPPr>
                <a:lvl1pPr marL="0" lvl="0"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9pPr>
              </a:lstStyle>
              <a:p>
                <a:pPr lvl="0" eaLnBrk="1" hangingPunct="1">
                  <a:spcBef>
                    <a:spcPct val="50000"/>
                  </a:spcBef>
                </a:pPr>
                <a:r>
                  <a:rPr lang="zh-CN" altLang="en-US" sz="1600" b="1" dirty="0">
                    <a:solidFill>
                      <a:srgbClr val="990099"/>
                    </a:solidFill>
                    <a:latin typeface="Times New Roman" panose="02020603050405020304" pitchFamily="18" charset="0"/>
                    <a:ea typeface="宋体" panose="02010600030101010101" pitchFamily="2" charset="-122"/>
                  </a:rPr>
                  <a:t>液体和晶体自由能随温度变化</a:t>
                </a:r>
              </a:p>
            </p:txBody>
          </p:sp>
        </p:grpSp>
      </p:grpSp>
      <p:pic>
        <p:nvPicPr>
          <p:cNvPr id="17" name="Picture 17" descr="〈工程材料〉图"/>
          <p:cNvPicPr>
            <a:picLocks noChangeAspect="1"/>
          </p:cNvPicPr>
          <p:nvPr/>
        </p:nvPicPr>
        <p:blipFill>
          <a:blip r:embed="rId4"/>
          <a:stretch>
            <a:fillRect/>
          </a:stretch>
        </p:blipFill>
        <p:spPr>
          <a:xfrm>
            <a:off x="6318471" y="3950869"/>
            <a:ext cx="2499995" cy="2644775"/>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灯片编号占位符 5"/>
          <p:cNvSpPr>
            <a:spLocks noGrp="1"/>
          </p:cNvSpPr>
          <p:nvPr>
            <p:ph type="sldNum" sz="quarter" idx="12"/>
          </p:nvPr>
        </p:nvSpPr>
        <p:spPr>
          <a:xfrm>
            <a:off x="8686800" y="6537325"/>
            <a:ext cx="419100" cy="309563"/>
          </a:xfrm>
        </p:spPr>
        <p:txBody>
          <a:bodyPr wrap="square" lIns="91440" tIns="45720" rIns="91440" bIns="45720" anchor="b"/>
          <a:lstStyle/>
          <a:p>
            <a:pPr algn="r"/>
            <a:fld id="{9A0DB2DC-4C9A-4742-B13C-FB6460FD3503}" type="slidenum">
              <a:rPr lang="en-US" altLang="zh-CN" sz="1400" dirty="0"/>
              <a:t>19</a:t>
            </a:fld>
            <a:endParaRPr lang="en-US" altLang="zh-CN" sz="1400" dirty="0"/>
          </a:p>
        </p:txBody>
      </p:sp>
      <p:sp>
        <p:nvSpPr>
          <p:cNvPr id="15362" name="Rectangle 2"/>
          <p:cNvSpPr>
            <a:spLocks noGrp="1"/>
          </p:cNvSpPr>
          <p:nvPr>
            <p:ph type="title"/>
          </p:nvPr>
        </p:nvSpPr>
        <p:spPr>
          <a:xfrm>
            <a:off x="1763713" y="0"/>
            <a:ext cx="7124700" cy="1143000"/>
          </a:xfrm>
        </p:spPr>
        <p:txBody>
          <a:bodyPr wrap="square" lIns="91440" tIns="45720" rIns="91440" bIns="45720" anchor="b"/>
          <a:lstStyle/>
          <a:p>
            <a:pPr eaLnBrk="1" hangingPunct="1"/>
            <a:r>
              <a:rPr kumimoji="1" lang="zh-CN" altLang="en-US" sz="4800" b="1" i="0" u="none" strike="noStrike" kern="0" cap="none" spc="0" normalizeH="0" baseline="0" noProof="0" dirty="0">
                <a:ln>
                  <a:noFill/>
                </a:ln>
                <a:solidFill>
                  <a:srgbClr val="FF0000"/>
                </a:solidFill>
                <a:uLnTx/>
                <a:uFillTx/>
                <a:ea typeface="华文中宋" panose="02010600040101010101" pitchFamily="2" charset="-122"/>
              </a:rPr>
              <a:t>晶核长大</a:t>
            </a:r>
            <a:endParaRPr lang="zh-CN" altLang="en-US" sz="4800" b="1" dirty="0">
              <a:solidFill>
                <a:srgbClr val="FF0000"/>
              </a:solidFill>
              <a:latin typeface="宋体" panose="02010600030101010101" pitchFamily="2" charset="-122"/>
            </a:endParaRPr>
          </a:p>
        </p:txBody>
      </p:sp>
      <p:sp>
        <p:nvSpPr>
          <p:cNvPr id="15363" name="Rectangle 3"/>
          <p:cNvSpPr>
            <a:spLocks noGrp="1"/>
          </p:cNvSpPr>
          <p:nvPr>
            <p:ph idx="1"/>
          </p:nvPr>
        </p:nvSpPr>
        <p:spPr>
          <a:xfrm>
            <a:off x="250825" y="1988841"/>
            <a:ext cx="8277225" cy="4320480"/>
          </a:xfrm>
        </p:spPr>
        <p:txBody>
          <a:bodyPr wrap="square" lIns="91440" tIns="45720" rIns="91440" bIns="45720" anchor="t"/>
          <a:lstStyle/>
          <a:p>
            <a:pPr eaLnBrk="1" hangingPunct="1">
              <a:lnSpc>
                <a:spcPct val="140000"/>
              </a:lnSpc>
            </a:pPr>
            <a:r>
              <a:rPr lang="zh-CN" altLang="en-US" sz="2800" b="1" dirty="0">
                <a:ea typeface="华文中宋" panose="02010600040101010101" pitchFamily="2" charset="-122"/>
              </a:rPr>
              <a:t>晶核形成后便向各方向</a:t>
            </a:r>
            <a:r>
              <a:rPr lang="zh-CN" altLang="en-US" sz="2800" b="1" noProof="0" dirty="0">
                <a:ln>
                  <a:noFill/>
                </a:ln>
                <a:solidFill>
                  <a:srgbClr val="0000FF"/>
                </a:solidFill>
                <a:uLnTx/>
                <a:uFillTx/>
                <a:latin typeface="+mj-lt"/>
                <a:ea typeface="华文中宋" panose="02010600040101010101" pitchFamily="2" charset="-122"/>
                <a:cs typeface="+mj-cs"/>
              </a:rPr>
              <a:t>生长</a:t>
            </a:r>
            <a:r>
              <a:rPr lang="zh-CN" altLang="en-US" sz="2800" b="1" dirty="0">
                <a:ea typeface="华文中宋" panose="02010600040101010101" pitchFamily="2" charset="-122"/>
              </a:rPr>
              <a:t>，同时又有</a:t>
            </a:r>
            <a:r>
              <a:rPr lang="zh-CN" altLang="en-US" sz="2800" b="1" noProof="0" dirty="0">
                <a:ln>
                  <a:noFill/>
                </a:ln>
                <a:solidFill>
                  <a:srgbClr val="0000FF"/>
                </a:solidFill>
                <a:uLnTx/>
                <a:uFillTx/>
                <a:latin typeface="+mj-lt"/>
                <a:ea typeface="华文中宋" panose="02010600040101010101" pitchFamily="2" charset="-122"/>
                <a:cs typeface="+mj-cs"/>
              </a:rPr>
              <a:t>新的晶核</a:t>
            </a:r>
            <a:r>
              <a:rPr lang="zh-CN" altLang="en-US" sz="2800" b="1" dirty="0">
                <a:ea typeface="华文中宋" panose="02010600040101010101" pitchFamily="2" charset="-122"/>
              </a:rPr>
              <a:t>产生。</a:t>
            </a:r>
          </a:p>
          <a:p>
            <a:pPr eaLnBrk="1" hangingPunct="1">
              <a:lnSpc>
                <a:spcPct val="140000"/>
              </a:lnSpc>
            </a:pPr>
            <a:r>
              <a:rPr lang="zh-CN" altLang="en-US" sz="2800" b="1" dirty="0">
                <a:ea typeface="华文中宋" panose="02010600040101010101" pitchFamily="2" charset="-122"/>
              </a:rPr>
              <a:t>晶核不断形成，不断长大，直到液体完全消失。</a:t>
            </a:r>
          </a:p>
          <a:p>
            <a:pPr marL="0" indent="0" eaLnBrk="1" hangingPunct="1">
              <a:lnSpc>
                <a:spcPct val="140000"/>
              </a:lnSpc>
              <a:buNone/>
            </a:pPr>
            <a:endParaRPr lang="zh-CN" altLang="en-US" sz="2800" b="1" dirty="0">
              <a:ea typeface="华文中宋" panose="02010600040101010101" pitchFamily="2" charset="-122"/>
            </a:endParaRPr>
          </a:p>
          <a:p>
            <a:pPr eaLnBrk="1" hangingPunct="1">
              <a:lnSpc>
                <a:spcPct val="140000"/>
              </a:lnSpc>
            </a:pPr>
            <a:r>
              <a:rPr lang="zh-CN" altLang="en-US" sz="2800" b="1" dirty="0">
                <a:ea typeface="华文中宋" panose="02010600040101010101" pitchFamily="2" charset="-122"/>
              </a:rPr>
              <a:t>每个晶核最终长成一个</a:t>
            </a:r>
            <a:r>
              <a:rPr lang="zh-CN" altLang="en-US" sz="2800" b="1" noProof="0" dirty="0">
                <a:ln>
                  <a:noFill/>
                </a:ln>
                <a:solidFill>
                  <a:srgbClr val="0000FF"/>
                </a:solidFill>
                <a:uLnTx/>
                <a:uFillTx/>
                <a:latin typeface="+mj-lt"/>
                <a:ea typeface="华文中宋" panose="02010600040101010101" pitchFamily="2" charset="-122"/>
                <a:cs typeface="+mj-cs"/>
              </a:rPr>
              <a:t>晶粒</a:t>
            </a:r>
            <a:r>
              <a:rPr lang="zh-CN" altLang="en-US" sz="2800" b="1" dirty="0">
                <a:ea typeface="华文中宋" panose="02010600040101010101" pitchFamily="2" charset="-122"/>
              </a:rPr>
              <a:t>，两晶粒接触后形成</a:t>
            </a:r>
            <a:r>
              <a:rPr lang="zh-CN" altLang="en-US" sz="2800" b="1" dirty="0">
                <a:solidFill>
                  <a:srgbClr val="0000FF"/>
                </a:solidFill>
                <a:latin typeface="+mj-lt"/>
                <a:ea typeface="华文中宋" panose="02010600040101010101" pitchFamily="2" charset="-122"/>
                <a:cs typeface="+mj-cs"/>
              </a:rPr>
              <a:t>晶界</a:t>
            </a:r>
            <a:r>
              <a:rPr lang="zh-CN" altLang="en-US" sz="2800" b="1" dirty="0">
                <a:ea typeface="华文中宋" panose="02010600040101010101" pitchFamily="2" charset="-122"/>
              </a:rPr>
              <a:t>。</a:t>
            </a:r>
          </a:p>
          <a:p>
            <a:pPr eaLnBrk="1" hangingPunct="1"/>
            <a:endParaRPr lang="zh-CN" altLang="en-US" sz="2800" b="1" dirty="0">
              <a:solidFill>
                <a:schemeClr val="folHlink"/>
              </a:solidFill>
              <a:latin typeface="宋体" panose="02010600030101010101" pitchFamily="2" charset="-122"/>
            </a:endParaRPr>
          </a:p>
        </p:txBody>
      </p:sp>
      <p:sp>
        <p:nvSpPr>
          <p:cNvPr id="15365" name="日期占位符 1"/>
          <p:cNvSpPr>
            <a:spLocks noGrp="1"/>
          </p:cNvSpPr>
          <p:nvPr>
            <p:ph type="dt" sz="half" idx="10"/>
          </p:nvPr>
        </p:nvSpPr>
        <p:spPr>
          <a:xfrm>
            <a:off x="131763" y="6521450"/>
            <a:ext cx="1905000" cy="342900"/>
          </a:xfrm>
        </p:spPr>
        <p:txBody>
          <a:bodyPr wrap="square" lIns="91440" tIns="45720" rIns="91440" bIns="45720" anchor="b"/>
          <a:lst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stStyle>
          <a:p>
            <a:pPr lvl="0" indent="0"/>
            <a:fld id="{BB962C8B-B14F-4D97-AF65-F5344CB8AC3E}" type="datetime8">
              <a:rPr lang="en-US" altLang="zh-CN" sz="1400" dirty="0"/>
              <a:t>11/20/2025 5:38 PM</a:t>
            </a:fld>
            <a:endParaRPr lang="en-US" altLang="zh-CN" sz="1400" dirty="0"/>
          </a:p>
        </p:txBody>
      </p:sp>
      <p:pic>
        <p:nvPicPr>
          <p:cNvPr id="7" name="内容占位符 1" descr="新校徽（3M）弓之乐"/>
          <p:cNvPicPr>
            <a:picLocks noChangeAspect="1"/>
          </p:cNvPicPr>
          <p:nvPr/>
        </p:nvPicPr>
        <p:blipFill>
          <a:blip r:embed="rId2" cstate="print"/>
          <a:stretch>
            <a:fillRect/>
          </a:stretch>
        </p:blipFill>
        <p:spPr>
          <a:xfrm>
            <a:off x="19685" y="3175"/>
            <a:ext cx="746760" cy="735965"/>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日期占位符 3"/>
          <p:cNvSpPr txBox="1">
            <a:spLocks noGrp="1"/>
          </p:cNvSpPr>
          <p:nvPr>
            <p:ph type="dt" sz="half" idx="10"/>
          </p:nvPr>
        </p:nvSpPr>
        <p:spPr>
          <a:xfrm>
            <a:off x="0" y="6554470"/>
            <a:ext cx="2457450" cy="303530"/>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32771" name="灯片编号占位符 5"/>
          <p:cNvSpPr txBox="1">
            <a:spLocks noGrp="1"/>
          </p:cNvSpPr>
          <p:nvPr>
            <p:ph type="sldNum" sz="quarter" idx="12"/>
          </p:nvPr>
        </p:nvSpPr>
        <p:spPr>
          <a:xfrm>
            <a:off x="8758555" y="6554470"/>
            <a:ext cx="385445" cy="303530"/>
          </a:xfrm>
        </p:spPr>
        <p:txBody>
          <a:bodyPr lIns="92075" tIns="46038" rIns="92075" bIns="46038" anchor="ctr"/>
          <a:lstStyle/>
          <a:p>
            <a:pPr algn="r" eaLnBrk="1" hangingPunct="1"/>
            <a:fld id="{9A0DB2DC-4C9A-4742-B13C-FB6460FD3503}" type="slidenum">
              <a:rPr lang="en-US" altLang="zh-CN" sz="1400" dirty="0"/>
              <a:t>20</a:t>
            </a:fld>
            <a:endParaRPr lang="en-US" altLang="zh-CN" sz="1400" dirty="0"/>
          </a:p>
        </p:txBody>
      </p:sp>
      <p:sp>
        <p:nvSpPr>
          <p:cNvPr id="43010" name="Rectangle 2"/>
          <p:cNvSpPr>
            <a:spLocks noGrp="1"/>
          </p:cNvSpPr>
          <p:nvPr>
            <p:ph idx="1"/>
          </p:nvPr>
        </p:nvSpPr>
        <p:spPr>
          <a:xfrm>
            <a:off x="132515" y="1784294"/>
            <a:ext cx="5683935" cy="3599606"/>
          </a:xfrm>
        </p:spPr>
        <p:txBody>
          <a:bodyPr vert="horz" wrap="square" lIns="91440" tIns="45720" rIns="91440" bIns="45720" anchor="t"/>
          <a:lstStyle/>
          <a:p>
            <a:pPr eaLnBrk="1" hangingPunct="1">
              <a:lnSpc>
                <a:spcPct val="135000"/>
              </a:lnSpc>
            </a:pPr>
            <a:r>
              <a:rPr lang="zh-CN" altLang="en-US" b="1" dirty="0">
                <a:ea typeface="华文中宋" panose="02010600040101010101" pitchFamily="2" charset="-122"/>
              </a:rPr>
              <a:t>形核方式：</a:t>
            </a:r>
          </a:p>
          <a:p>
            <a:pPr eaLnBrk="1" hangingPunct="1">
              <a:lnSpc>
                <a:spcPct val="135000"/>
              </a:lnSpc>
            </a:pPr>
            <a:r>
              <a:rPr lang="zh-CN" altLang="en-US" b="1" dirty="0">
                <a:ea typeface="华文中宋" panose="02010600040101010101" pitchFamily="2" charset="-122"/>
              </a:rPr>
              <a:t>（</a:t>
            </a:r>
            <a:r>
              <a:rPr lang="en-US" altLang="zh-CN" b="1" dirty="0">
                <a:ea typeface="华文中宋" panose="02010600040101010101" pitchFamily="2" charset="-122"/>
              </a:rPr>
              <a:t>1</a:t>
            </a:r>
            <a:r>
              <a:rPr lang="zh-CN" altLang="en-US" b="1" dirty="0">
                <a:ea typeface="华文中宋" panose="02010600040101010101" pitchFamily="2" charset="-122"/>
              </a:rPr>
              <a:t>）</a:t>
            </a:r>
            <a:r>
              <a:rPr lang="zh-CN" altLang="en-US" b="1" dirty="0">
                <a:solidFill>
                  <a:srgbClr val="0000FF"/>
                </a:solidFill>
                <a:ea typeface="华文中宋" panose="02010600040101010101" pitchFamily="2" charset="-122"/>
              </a:rPr>
              <a:t>均匀形核</a:t>
            </a:r>
            <a:r>
              <a:rPr lang="zh-CN" altLang="en-US" b="1" dirty="0">
                <a:ea typeface="华文中宋" panose="02010600040101010101" pitchFamily="2" charset="-122"/>
              </a:rPr>
              <a:t>：由液体中排列规则的</a:t>
            </a:r>
            <a:r>
              <a:rPr lang="zh-CN" altLang="en-US" b="1" dirty="0">
                <a:solidFill>
                  <a:srgbClr val="0000FF"/>
                </a:solidFill>
                <a:ea typeface="华文中宋" panose="02010600040101010101" pitchFamily="2" charset="-122"/>
              </a:rPr>
              <a:t>原子团</a:t>
            </a:r>
            <a:r>
              <a:rPr lang="zh-CN" altLang="en-US" b="1" dirty="0">
                <a:ea typeface="华文中宋" panose="02010600040101010101" pitchFamily="2" charset="-122"/>
              </a:rPr>
              <a:t>形成晶核</a:t>
            </a:r>
          </a:p>
          <a:p>
            <a:pPr eaLnBrk="1" hangingPunct="1">
              <a:lnSpc>
                <a:spcPct val="135000"/>
              </a:lnSpc>
            </a:pPr>
            <a:r>
              <a:rPr lang="zh-CN" altLang="en-US" b="1" dirty="0">
                <a:ea typeface="华文中宋" panose="02010600040101010101" pitchFamily="2" charset="-122"/>
              </a:rPr>
              <a:t>（</a:t>
            </a:r>
            <a:r>
              <a:rPr lang="en-US" altLang="zh-CN" b="1" dirty="0">
                <a:ea typeface="华文中宋" panose="02010600040101010101" pitchFamily="2" charset="-122"/>
              </a:rPr>
              <a:t>2</a:t>
            </a:r>
            <a:r>
              <a:rPr lang="zh-CN" altLang="en-US" b="1" dirty="0">
                <a:ea typeface="华文中宋" panose="02010600040101010101" pitchFamily="2" charset="-122"/>
              </a:rPr>
              <a:t>）</a:t>
            </a:r>
            <a:r>
              <a:rPr lang="zh-CN" altLang="en-US" b="1" dirty="0">
                <a:solidFill>
                  <a:srgbClr val="0000FF"/>
                </a:solidFill>
                <a:ea typeface="华文中宋" panose="02010600040101010101" pitchFamily="2" charset="-122"/>
              </a:rPr>
              <a:t>非均匀形核</a:t>
            </a:r>
            <a:r>
              <a:rPr lang="zh-CN" altLang="en-US" b="1" dirty="0">
                <a:ea typeface="华文中宋" panose="02010600040101010101" pitchFamily="2" charset="-122"/>
              </a:rPr>
              <a:t>：以液体中存在的</a:t>
            </a:r>
            <a:r>
              <a:rPr lang="zh-CN" altLang="en-US" b="1" dirty="0">
                <a:solidFill>
                  <a:srgbClr val="0000FF"/>
                </a:solidFill>
                <a:ea typeface="华文中宋" panose="02010600040101010101" pitchFamily="2" charset="-122"/>
              </a:rPr>
              <a:t>固态杂质</a:t>
            </a:r>
            <a:r>
              <a:rPr lang="zh-CN" altLang="en-US" b="1" dirty="0">
                <a:ea typeface="华文中宋" panose="02010600040101010101" pitchFamily="2" charset="-122"/>
              </a:rPr>
              <a:t>为</a:t>
            </a:r>
            <a:r>
              <a:rPr lang="zh-CN" altLang="en-US" b="1" dirty="0">
                <a:solidFill>
                  <a:srgbClr val="0000FF"/>
                </a:solidFill>
                <a:ea typeface="华文中宋" panose="02010600040101010101" pitchFamily="2" charset="-122"/>
              </a:rPr>
              <a:t>核心</a:t>
            </a:r>
            <a:r>
              <a:rPr lang="zh-CN" altLang="en-US" b="1" dirty="0">
                <a:ea typeface="华文中宋" panose="02010600040101010101" pitchFamily="2" charset="-122"/>
              </a:rPr>
              <a:t>形核</a:t>
            </a:r>
            <a:endParaRPr lang="en-US" altLang="zh-CN" b="1" dirty="0">
              <a:ea typeface="华文中宋" panose="02010600040101010101" pitchFamily="2" charset="-122"/>
            </a:endParaRPr>
          </a:p>
          <a:p>
            <a:pPr eaLnBrk="1" hangingPunct="1">
              <a:lnSpc>
                <a:spcPct val="135000"/>
              </a:lnSpc>
            </a:pPr>
            <a:r>
              <a:rPr lang="zh-CN" altLang="en-US" b="1" dirty="0">
                <a:ea typeface="华文中宋" panose="02010600040101010101" pitchFamily="2" charset="-122"/>
              </a:rPr>
              <a:t>非均匀形核更为普遍。</a:t>
            </a:r>
          </a:p>
        </p:txBody>
      </p:sp>
      <p:grpSp>
        <p:nvGrpSpPr>
          <p:cNvPr id="32773" name="Group 12"/>
          <p:cNvGrpSpPr>
            <a:grpSpLocks noChangeAspect="1"/>
          </p:cNvGrpSpPr>
          <p:nvPr/>
        </p:nvGrpSpPr>
        <p:grpSpPr>
          <a:xfrm>
            <a:off x="5840403" y="2345053"/>
            <a:ext cx="3194050" cy="2478087"/>
            <a:chOff x="432" y="2304"/>
            <a:chExt cx="2267" cy="1759"/>
          </a:xfrm>
        </p:grpSpPr>
        <p:pic>
          <p:nvPicPr>
            <p:cNvPr id="32777" name="Picture 8" descr="JIEJING"/>
            <p:cNvPicPr>
              <a:picLocks noChangeAspect="1"/>
            </p:cNvPicPr>
            <p:nvPr/>
          </p:nvPicPr>
          <p:blipFill>
            <a:blip r:embed="rId2"/>
            <a:stretch>
              <a:fillRect/>
            </a:stretch>
          </p:blipFill>
          <p:spPr>
            <a:xfrm>
              <a:off x="445" y="2304"/>
              <a:ext cx="2237" cy="1751"/>
            </a:xfrm>
            <a:prstGeom prst="rect">
              <a:avLst/>
            </a:prstGeom>
            <a:noFill/>
            <a:ln w="9525">
              <a:noFill/>
            </a:ln>
          </p:spPr>
        </p:pic>
        <p:sp>
          <p:nvSpPr>
            <p:cNvPr id="32778" name="Rectangle 9"/>
            <p:cNvSpPr>
              <a:spLocks noChangeAspect="1"/>
            </p:cNvSpPr>
            <p:nvPr/>
          </p:nvSpPr>
          <p:spPr>
            <a:xfrm>
              <a:off x="432" y="2304"/>
              <a:ext cx="2267" cy="1759"/>
            </a:xfrm>
            <a:prstGeom prst="rect">
              <a:avLst/>
            </a:prstGeom>
            <a:noFill/>
            <a:ln w="38100" cap="flat" cmpd="sng">
              <a:solidFill>
                <a:srgbClr val="FF9900"/>
              </a:solidFill>
              <a:prstDash val="solid"/>
              <a:miter/>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grpSp>
      <p:sp>
        <p:nvSpPr>
          <p:cNvPr id="32774" name="Text Box 14"/>
          <p:cNvSpPr txBox="1"/>
          <p:nvPr/>
        </p:nvSpPr>
        <p:spPr>
          <a:xfrm>
            <a:off x="6948264" y="5093492"/>
            <a:ext cx="1219200" cy="396875"/>
          </a:xfrm>
          <a:prstGeom prst="rect">
            <a:avLst/>
          </a:prstGeom>
          <a:noFill/>
          <a:ln w="9525">
            <a:noFill/>
          </a:ln>
        </p:spPr>
        <p:txBody>
          <a:bodyPr>
            <a:spAutoFit/>
          </a:bodyPr>
          <a:lstStyle/>
          <a:p>
            <a:pPr lvl="0" eaLnBrk="1" hangingPunct="1">
              <a:spcBef>
                <a:spcPct val="50000"/>
              </a:spcBef>
            </a:pPr>
            <a:r>
              <a:rPr lang="zh-CN" altLang="en-US" sz="2000" b="1" dirty="0">
                <a:solidFill>
                  <a:srgbClr val="0000FF"/>
                </a:solidFill>
                <a:latin typeface="Times New Roman" panose="02020603050405020304" pitchFamily="18" charset="0"/>
                <a:ea typeface="宋体" panose="02010600030101010101" pitchFamily="2" charset="-122"/>
              </a:rPr>
              <a:t>均匀形核</a:t>
            </a:r>
          </a:p>
        </p:txBody>
      </p:sp>
      <p:sp>
        <p:nvSpPr>
          <p:cNvPr id="43032" name="Rectangle 24"/>
          <p:cNvSpPr>
            <a:spLocks noGrp="1" noChangeArrowheads="1"/>
          </p:cNvSpPr>
          <p:nvPr>
            <p:ph type="title"/>
          </p:nvPr>
        </p:nvSpPr>
        <p:spPr>
          <a:xfrm>
            <a:off x="1230630" y="0"/>
            <a:ext cx="7226300"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2</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、晶核的形成方式</a:t>
            </a:r>
          </a:p>
        </p:txBody>
      </p:sp>
      <p:pic>
        <p:nvPicPr>
          <p:cNvPr id="11" name="内容占位符 1" descr="新校徽（3M）弓之乐"/>
          <p:cNvPicPr>
            <a:picLocks noChangeAspect="1"/>
          </p:cNvPicPr>
          <p:nvPr/>
        </p:nvPicPr>
        <p:blipFill>
          <a:blip r:embed="rId3"/>
          <a:stretch>
            <a:fillRect/>
          </a:stretch>
        </p:blipFill>
        <p:spPr>
          <a:xfrm>
            <a:off x="19685" y="3175"/>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3010">
                                            <p:txEl>
                                              <p:pRg st="0" end="0"/>
                                            </p:txEl>
                                          </p:spTgt>
                                        </p:tgtEl>
                                        <p:attrNameLst>
                                          <p:attrName>style.visibility</p:attrName>
                                        </p:attrNameLst>
                                      </p:cBhvr>
                                      <p:to>
                                        <p:strVal val="visible"/>
                                      </p:to>
                                    </p:set>
                                    <p:animEffect transition="in" filter="wipe(left)">
                                      <p:cBhvr>
                                        <p:cTn id="7" dur="500"/>
                                        <p:tgtEl>
                                          <p:spTgt spid="43010">
                                            <p:txEl>
                                              <p:pRg st="0" end="0"/>
                                            </p:txEl>
                                          </p:spTgt>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43010">
                                            <p:txEl>
                                              <p:pRg st="1" end="1"/>
                                            </p:txEl>
                                          </p:spTgt>
                                        </p:tgtEl>
                                        <p:attrNameLst>
                                          <p:attrName>style.visibility</p:attrName>
                                        </p:attrNameLst>
                                      </p:cBhvr>
                                      <p:to>
                                        <p:strVal val="visible"/>
                                      </p:to>
                                    </p:set>
                                    <p:animEffect transition="in" filter="fade">
                                      <p:cBhvr>
                                        <p:cTn id="11" dur="1000"/>
                                        <p:tgtEl>
                                          <p:spTgt spid="43010">
                                            <p:txEl>
                                              <p:pRg st="1" end="1"/>
                                            </p:txEl>
                                          </p:spTgt>
                                        </p:tgtEl>
                                      </p:cBhvr>
                                    </p:animEffect>
                                    <p:anim calcmode="lin" valueType="num">
                                      <p:cBhvr>
                                        <p:cTn id="12" dur="1000" fill="hold"/>
                                        <p:tgtEl>
                                          <p:spTgt spid="43010">
                                            <p:txEl>
                                              <p:pRg st="1" end="1"/>
                                            </p:txEl>
                                          </p:spTgt>
                                        </p:tgtEl>
                                        <p:attrNameLst>
                                          <p:attrName>ppt_x</p:attrName>
                                        </p:attrNameLst>
                                      </p:cBhvr>
                                      <p:tavLst>
                                        <p:tav tm="0">
                                          <p:val>
                                            <p:strVal val="#ppt_x"/>
                                          </p:val>
                                        </p:tav>
                                        <p:tav tm="100000">
                                          <p:val>
                                            <p:strVal val="#ppt_x"/>
                                          </p:val>
                                        </p:tav>
                                      </p:tavLst>
                                    </p:anim>
                                    <p:anim calcmode="lin" valueType="num">
                                      <p:cBhvr>
                                        <p:cTn id="13" dur="1000" fill="hold"/>
                                        <p:tgtEl>
                                          <p:spTgt spid="43010">
                                            <p:txEl>
                                              <p:pRg st="1" end="1"/>
                                            </p:txEl>
                                          </p:spTgt>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2" presetClass="entr" presetSubtype="0" fill="hold" grpId="0" nodeType="afterEffect">
                                  <p:stCondLst>
                                    <p:cond delay="0"/>
                                  </p:stCondLst>
                                  <p:childTnLst>
                                    <p:set>
                                      <p:cBhvr>
                                        <p:cTn id="16" dur="1" fill="hold">
                                          <p:stCondLst>
                                            <p:cond delay="0"/>
                                          </p:stCondLst>
                                        </p:cTn>
                                        <p:tgtEl>
                                          <p:spTgt spid="43010">
                                            <p:txEl>
                                              <p:pRg st="2" end="2"/>
                                            </p:txEl>
                                          </p:spTgt>
                                        </p:tgtEl>
                                        <p:attrNameLst>
                                          <p:attrName>style.visibility</p:attrName>
                                        </p:attrNameLst>
                                      </p:cBhvr>
                                      <p:to>
                                        <p:strVal val="visible"/>
                                      </p:to>
                                    </p:set>
                                    <p:animEffect transition="in" filter="fade">
                                      <p:cBhvr>
                                        <p:cTn id="17" dur="1000"/>
                                        <p:tgtEl>
                                          <p:spTgt spid="43010">
                                            <p:txEl>
                                              <p:pRg st="2" end="2"/>
                                            </p:txEl>
                                          </p:spTgt>
                                        </p:tgtEl>
                                      </p:cBhvr>
                                    </p:animEffect>
                                    <p:anim calcmode="lin" valueType="num">
                                      <p:cBhvr>
                                        <p:cTn id="18" dur="1000" fill="hold"/>
                                        <p:tgtEl>
                                          <p:spTgt spid="43010">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43010">
                                            <p:txEl>
                                              <p:pRg st="2" end="2"/>
                                            </p:txEl>
                                          </p:spTgt>
                                        </p:tgtEl>
                                        <p:attrNameLst>
                                          <p:attrName>ppt_y</p:attrName>
                                        </p:attrNameLst>
                                      </p:cBhvr>
                                      <p:tavLst>
                                        <p:tav tm="0">
                                          <p:val>
                                            <p:strVal val="#ppt_y+.1"/>
                                          </p:val>
                                        </p:tav>
                                        <p:tav tm="100000">
                                          <p:val>
                                            <p:strVal val="#ppt_y"/>
                                          </p:val>
                                        </p:tav>
                                      </p:tavLst>
                                    </p:anim>
                                  </p:childTnLst>
                                </p:cTn>
                              </p:par>
                            </p:childTnLst>
                          </p:cTn>
                        </p:par>
                        <p:par>
                          <p:cTn id="20" fill="hold">
                            <p:stCondLst>
                              <p:cond delay="2500"/>
                            </p:stCondLst>
                            <p:childTnLst>
                              <p:par>
                                <p:cTn id="21" presetID="2" presetClass="entr" presetSubtype="4" fill="hold" grpId="0" nodeType="afterEffect">
                                  <p:stCondLst>
                                    <p:cond delay="0"/>
                                  </p:stCondLst>
                                  <p:childTnLst>
                                    <p:set>
                                      <p:cBhvr>
                                        <p:cTn id="22" dur="1" fill="hold">
                                          <p:stCondLst>
                                            <p:cond delay="0"/>
                                          </p:stCondLst>
                                        </p:cTn>
                                        <p:tgtEl>
                                          <p:spTgt spid="43010">
                                            <p:txEl>
                                              <p:pRg st="3" end="3"/>
                                            </p:txEl>
                                          </p:spTgt>
                                        </p:tgtEl>
                                        <p:attrNameLst>
                                          <p:attrName>style.visibility</p:attrName>
                                        </p:attrNameLst>
                                      </p:cBhvr>
                                      <p:to>
                                        <p:strVal val="visible"/>
                                      </p:to>
                                    </p:set>
                                    <p:anim calcmode="lin" valueType="num">
                                      <p:cBhvr additive="base">
                                        <p:cTn id="23" dur="500" fill="hold"/>
                                        <p:tgtEl>
                                          <p:spTgt spid="43010">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3010">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build="p" advAuto="100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日期占位符 3"/>
          <p:cNvSpPr txBox="1">
            <a:spLocks noGrp="1"/>
          </p:cNvSpPr>
          <p:nvPr>
            <p:ph type="dt" sz="half" idx="10"/>
          </p:nvPr>
        </p:nvSpPr>
        <p:spPr>
          <a:xfrm>
            <a:off x="0" y="6534150"/>
            <a:ext cx="2233930" cy="325120"/>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33795" name="灯片编号占位符 5"/>
          <p:cNvSpPr txBox="1">
            <a:spLocks noGrp="1"/>
          </p:cNvSpPr>
          <p:nvPr>
            <p:ph type="sldNum" sz="quarter" idx="12"/>
          </p:nvPr>
        </p:nvSpPr>
        <p:spPr>
          <a:xfrm>
            <a:off x="8757920" y="6522720"/>
            <a:ext cx="391795" cy="336550"/>
          </a:xfrm>
        </p:spPr>
        <p:txBody>
          <a:bodyPr lIns="92075" tIns="46038" rIns="92075" bIns="46038" anchor="ctr"/>
          <a:lstStyle/>
          <a:p>
            <a:pPr algn="ctr" eaLnBrk="1" hangingPunct="1"/>
            <a:fld id="{9A0DB2DC-4C9A-4742-B13C-FB6460FD3503}" type="slidenum">
              <a:rPr lang="en-US" altLang="zh-CN" sz="1400" dirty="0"/>
              <a:t>21</a:t>
            </a:fld>
            <a:endParaRPr lang="en-US" altLang="zh-CN" sz="1400" dirty="0"/>
          </a:p>
        </p:txBody>
      </p:sp>
      <p:sp>
        <p:nvSpPr>
          <p:cNvPr id="225282" name="Rectangle 2"/>
          <p:cNvSpPr>
            <a:spLocks noGrp="1" noChangeArrowheads="1"/>
          </p:cNvSpPr>
          <p:nvPr>
            <p:ph type="title"/>
          </p:nvPr>
        </p:nvSpPr>
        <p:spPr>
          <a:xfrm>
            <a:off x="1638935" y="-102235"/>
            <a:ext cx="6818630"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3</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、晶核的长大方式</a:t>
            </a:r>
          </a:p>
        </p:txBody>
      </p:sp>
      <p:sp>
        <p:nvSpPr>
          <p:cNvPr id="225283" name="Rectangle 3"/>
          <p:cNvSpPr>
            <a:spLocks noGrp="1" noChangeArrowheads="1"/>
          </p:cNvSpPr>
          <p:nvPr>
            <p:ph sz="half" idx="1"/>
          </p:nvPr>
        </p:nvSpPr>
        <p:spPr>
          <a:xfrm>
            <a:off x="1331639" y="1143000"/>
            <a:ext cx="7125925" cy="852805"/>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a:pPr>
            <a:r>
              <a:rPr kumimoji="1" lang="zh-CN" altLang="en-US" sz="3200" b="1" i="0" u="none" strike="noStrike" kern="0" cap="none" spc="0" normalizeH="0" baseline="0" noProof="0" dirty="0">
                <a:ln>
                  <a:noFill/>
                </a:ln>
                <a:solidFill>
                  <a:schemeClr val="tx1"/>
                </a:solidFill>
                <a:effectLst/>
                <a:uLnTx/>
                <a:uFillTx/>
                <a:latin typeface="+mn-lt"/>
                <a:ea typeface="华文中宋" panose="02010600040101010101" pitchFamily="2" charset="-122"/>
                <a:cs typeface="+mn-cs"/>
              </a:rPr>
              <a:t>有两种：</a:t>
            </a:r>
            <a:r>
              <a:rPr kumimoji="1" lang="zh-CN" altLang="en-US" sz="3200" b="1" i="0" u="none" strike="noStrike" kern="0" cap="none" spc="0" normalizeH="0" baseline="0" noProof="0" dirty="0">
                <a:ln>
                  <a:noFill/>
                </a:ln>
                <a:solidFill>
                  <a:srgbClr val="0000FF"/>
                </a:solidFill>
                <a:uLnTx/>
                <a:uFillTx/>
                <a:latin typeface="+mj-lt"/>
                <a:ea typeface="华文中宋" panose="02010600040101010101" pitchFamily="2" charset="-122"/>
                <a:cs typeface="+mj-cs"/>
              </a:rPr>
              <a:t>均匀长大、树枝状长大</a:t>
            </a:r>
            <a:r>
              <a:rPr kumimoji="1" lang="zh-CN" altLang="en-US" sz="3200" b="1" i="0" u="none" strike="noStrike" kern="0" cap="none" spc="0" normalizeH="0" baseline="0" noProof="0" dirty="0">
                <a:ln>
                  <a:noFill/>
                </a:ln>
                <a:solidFill>
                  <a:srgbClr val="FFFF00"/>
                </a:solidFill>
                <a:effectLst>
                  <a:outerShdw blurRad="38100" dist="38100" dir="2700000" algn="tl">
                    <a:srgbClr val="000000"/>
                  </a:outerShdw>
                </a:effectLst>
                <a:uLnTx/>
                <a:uFillTx/>
                <a:latin typeface="+mj-lt"/>
                <a:ea typeface="华文中宋" panose="02010600040101010101" pitchFamily="2" charset="-122"/>
                <a:cs typeface="+mj-cs"/>
              </a:rPr>
              <a:t>。</a:t>
            </a:r>
            <a:endParaRPr kumimoji="1" lang="en-US" altLang="zh-CN" sz="3200" b="1" i="0" u="none" strike="noStrike" kern="0" cap="none" spc="0" normalizeH="0" baseline="0" noProof="0" dirty="0">
              <a:ln>
                <a:noFill/>
              </a:ln>
              <a:solidFill>
                <a:srgbClr val="FFFF00"/>
              </a:solidFill>
              <a:effectLst>
                <a:outerShdw blurRad="38100" dist="38100" dir="2700000" algn="tl">
                  <a:srgbClr val="000000"/>
                </a:outerShdw>
              </a:effectLst>
              <a:uLnTx/>
              <a:uFillTx/>
              <a:latin typeface="+mj-lt"/>
              <a:ea typeface="华文中宋" panose="02010600040101010101" pitchFamily="2" charset="-122"/>
              <a:cs typeface="+mj-cs"/>
            </a:endParaRPr>
          </a:p>
        </p:txBody>
      </p:sp>
      <p:pic>
        <p:nvPicPr>
          <p:cNvPr id="33798" name="Picture 34" descr="〈工程材料〉图3-6"/>
          <p:cNvPicPr>
            <a:picLocks noChangeAspect="1"/>
          </p:cNvPicPr>
          <p:nvPr/>
        </p:nvPicPr>
        <p:blipFill>
          <a:blip r:embed="rId2"/>
          <a:stretch>
            <a:fillRect/>
          </a:stretch>
        </p:blipFill>
        <p:spPr>
          <a:xfrm>
            <a:off x="753110" y="1995805"/>
            <a:ext cx="2834005" cy="2600960"/>
          </a:xfrm>
          <a:prstGeom prst="rect">
            <a:avLst/>
          </a:prstGeom>
          <a:noFill/>
          <a:ln w="9525">
            <a:noFill/>
          </a:ln>
        </p:spPr>
      </p:pic>
      <p:pic>
        <p:nvPicPr>
          <p:cNvPr id="33799" name="Picture 8" descr="JIEJING"/>
          <p:cNvPicPr>
            <a:picLocks noChangeAspect="1"/>
          </p:cNvPicPr>
          <p:nvPr/>
        </p:nvPicPr>
        <p:blipFill>
          <a:blip r:embed="rId3"/>
          <a:stretch>
            <a:fillRect/>
          </a:stretch>
        </p:blipFill>
        <p:spPr>
          <a:xfrm>
            <a:off x="4910455" y="1995488"/>
            <a:ext cx="3238500" cy="2535237"/>
          </a:xfrm>
          <a:prstGeom prst="rect">
            <a:avLst/>
          </a:prstGeom>
          <a:noFill/>
          <a:ln w="9525">
            <a:noFill/>
          </a:ln>
        </p:spPr>
      </p:pic>
      <p:pic>
        <p:nvPicPr>
          <p:cNvPr id="10254" name="Picture 4" descr="image002"/>
          <p:cNvPicPr>
            <a:picLocks noGrp="1" noChangeAspect="1"/>
          </p:cNvPicPr>
          <p:nvPr>
            <p:ph sz="half" idx="2"/>
          </p:nvPr>
        </p:nvPicPr>
        <p:blipFill>
          <a:blip r:embed="rId4"/>
          <a:stretch>
            <a:fillRect/>
          </a:stretch>
        </p:blipFill>
        <p:spPr>
          <a:xfrm>
            <a:off x="3264535" y="4681855"/>
            <a:ext cx="1943100" cy="1695450"/>
          </a:xfrm>
          <a:prstGeom prst="rect">
            <a:avLst/>
          </a:prstGeom>
          <a:noFill/>
          <a:ln w="57150" cap="flat" cmpd="sng">
            <a:solidFill>
              <a:srgbClr val="00FF00"/>
            </a:solidFill>
            <a:prstDash val="solid"/>
            <a:miter/>
            <a:headEnd type="none" w="med" len="med"/>
            <a:tailEnd type="none" w="med" len="med"/>
          </a:ln>
        </p:spPr>
      </p:pic>
      <p:pic>
        <p:nvPicPr>
          <p:cNvPr id="10252" name="Picture 5" descr="image004"/>
          <p:cNvPicPr>
            <a:picLocks noChangeAspect="1"/>
          </p:cNvPicPr>
          <p:nvPr/>
        </p:nvPicPr>
        <p:blipFill>
          <a:blip r:embed="rId5"/>
          <a:stretch>
            <a:fillRect/>
          </a:stretch>
        </p:blipFill>
        <p:spPr>
          <a:xfrm>
            <a:off x="5659120" y="4681855"/>
            <a:ext cx="1900555" cy="1720215"/>
          </a:xfrm>
          <a:prstGeom prst="rect">
            <a:avLst/>
          </a:prstGeom>
          <a:noFill/>
          <a:ln w="57150" cap="flat" cmpd="sng">
            <a:solidFill>
              <a:srgbClr val="00FF00"/>
            </a:solidFill>
            <a:prstDash val="solid"/>
            <a:miter/>
            <a:headEnd type="none" w="med" len="med"/>
            <a:tailEnd type="none" w="med" len="med"/>
          </a:ln>
        </p:spPr>
      </p:pic>
      <p:sp>
        <p:nvSpPr>
          <p:cNvPr id="10255" name="Text Box 7"/>
          <p:cNvSpPr txBox="1"/>
          <p:nvPr/>
        </p:nvSpPr>
        <p:spPr>
          <a:xfrm>
            <a:off x="3731895" y="6462078"/>
            <a:ext cx="1295400" cy="396875"/>
          </a:xfrm>
          <a:prstGeom prst="rect">
            <a:avLst/>
          </a:prstGeom>
          <a:noFill/>
          <a:ln w="9525">
            <a:noFill/>
          </a:ln>
        </p:spPr>
        <p:txBody>
          <a:bodyPr>
            <a:spAutoFit/>
          </a:bodyPr>
          <a:lstStyle/>
          <a:p>
            <a:pPr eaLnBrk="1" hangingPunct="1">
              <a:spcBef>
                <a:spcPct val="50000"/>
              </a:spcBef>
            </a:pPr>
            <a:r>
              <a:rPr lang="zh-CN" altLang="en-US" sz="2000" b="1" dirty="0">
                <a:solidFill>
                  <a:srgbClr val="0000FF"/>
                </a:solidFill>
                <a:latin typeface="宋体" panose="02010600030101010101" pitchFamily="2" charset="-122"/>
              </a:rPr>
              <a:t>光滑界面</a:t>
            </a:r>
          </a:p>
        </p:txBody>
      </p:sp>
      <p:sp>
        <p:nvSpPr>
          <p:cNvPr id="10253" name="Text Box 8"/>
          <p:cNvSpPr txBox="1"/>
          <p:nvPr/>
        </p:nvSpPr>
        <p:spPr>
          <a:xfrm>
            <a:off x="6067425" y="6462395"/>
            <a:ext cx="1295400" cy="396875"/>
          </a:xfrm>
          <a:prstGeom prst="rect">
            <a:avLst/>
          </a:prstGeom>
          <a:noFill/>
          <a:ln w="9525">
            <a:noFill/>
          </a:ln>
        </p:spPr>
        <p:txBody>
          <a:bodyPr>
            <a:spAutoFit/>
          </a:bodyPr>
          <a:lstStyle/>
          <a:p>
            <a:pPr eaLnBrk="1" hangingPunct="1">
              <a:spcBef>
                <a:spcPct val="50000"/>
              </a:spcBef>
            </a:pPr>
            <a:r>
              <a:rPr lang="zh-CN" altLang="en-US" sz="2000" b="1" dirty="0">
                <a:solidFill>
                  <a:srgbClr val="0000FF"/>
                </a:solidFill>
                <a:latin typeface="宋体" panose="02010600030101010101" pitchFamily="2" charset="-122"/>
              </a:rPr>
              <a:t>粗糙界面</a:t>
            </a:r>
          </a:p>
        </p:txBody>
      </p:sp>
      <p:pic>
        <p:nvPicPr>
          <p:cNvPr id="13" name="内容占位符 1" descr="新校徽（3M）弓之乐"/>
          <p:cNvPicPr>
            <a:picLocks noChangeAspect="1"/>
          </p:cNvPicPr>
          <p:nvPr/>
        </p:nvPicPr>
        <p:blipFill>
          <a:blip r:embed="rId6"/>
          <a:stretch>
            <a:fillRect/>
          </a:stretch>
        </p:blipFill>
        <p:spPr>
          <a:xfrm>
            <a:off x="19685" y="3175"/>
            <a:ext cx="746760" cy="735965"/>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灯片编号占位符 5"/>
          <p:cNvSpPr txBox="1">
            <a:spLocks noGrp="1"/>
          </p:cNvSpPr>
          <p:nvPr>
            <p:ph type="sldNum" sz="quarter" idx="12"/>
          </p:nvPr>
        </p:nvSpPr>
        <p:spPr/>
        <p:txBody>
          <a:bodyPr lIns="92075" tIns="46038" rIns="92075" bIns="46038" anchor="ctr"/>
          <a:lstStyle/>
          <a:p>
            <a:pPr algn="r" eaLnBrk="1" hangingPunct="1"/>
            <a:fld id="{9A0DB2DC-4C9A-4742-B13C-FB6460FD3503}" type="slidenum">
              <a:rPr lang="en-US" altLang="zh-CN" sz="1400" dirty="0"/>
              <a:t>22</a:t>
            </a:fld>
            <a:endParaRPr lang="en-US" altLang="zh-CN" sz="1400" dirty="0"/>
          </a:p>
        </p:txBody>
      </p:sp>
      <p:sp>
        <p:nvSpPr>
          <p:cNvPr id="225282" name="Rectangle 2"/>
          <p:cNvSpPr>
            <a:spLocks noGrp="1" noChangeArrowheads="1"/>
          </p:cNvSpPr>
          <p:nvPr>
            <p:ph type="title"/>
          </p:nvPr>
        </p:nvSpPr>
        <p:spPr>
          <a:xfrm>
            <a:off x="1574801" y="104775"/>
            <a:ext cx="5589488"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均匀长大</a:t>
            </a:r>
          </a:p>
        </p:txBody>
      </p:sp>
      <p:sp>
        <p:nvSpPr>
          <p:cNvPr id="34821" name="Rectangle 3"/>
          <p:cNvSpPr>
            <a:spLocks noGrp="1"/>
          </p:cNvSpPr>
          <p:nvPr>
            <p:ph sz="half" idx="1"/>
          </p:nvPr>
        </p:nvSpPr>
        <p:spPr>
          <a:xfrm>
            <a:off x="499111" y="2105978"/>
            <a:ext cx="3810000" cy="3843302"/>
          </a:xfrm>
        </p:spPr>
        <p:txBody>
          <a:bodyPr vert="horz" wrap="square" lIns="91440" tIns="45720" rIns="91440" bIns="45720" anchor="t"/>
          <a:lstStyle/>
          <a:p>
            <a:pPr eaLnBrk="1" hangingPunct="1"/>
            <a:r>
              <a:rPr lang="zh-CN" altLang="en-US" sz="3200" b="1" dirty="0">
                <a:ea typeface="华文中宋" panose="02010600040101010101" pitchFamily="2" charset="-122"/>
              </a:rPr>
              <a:t>在</a:t>
            </a:r>
            <a:r>
              <a:rPr lang="zh-CN" altLang="en-US" sz="3200" b="1" noProof="0" dirty="0">
                <a:ln>
                  <a:noFill/>
                </a:ln>
                <a:solidFill>
                  <a:srgbClr val="0000FF"/>
                </a:solidFill>
                <a:uLnTx/>
                <a:uFillTx/>
                <a:latin typeface="+mj-lt"/>
                <a:ea typeface="华文中宋" panose="02010600040101010101" pitchFamily="2" charset="-122"/>
                <a:cs typeface="+mj-cs"/>
              </a:rPr>
              <a:t>过冷度</a:t>
            </a:r>
            <a:r>
              <a:rPr lang="zh-CN" altLang="en-US" sz="3200" b="1" noProof="0" dirty="0">
                <a:ln>
                  <a:noFill/>
                </a:ln>
                <a:solidFill>
                  <a:srgbClr val="FF0000"/>
                </a:solidFill>
                <a:uLnTx/>
                <a:uFillTx/>
                <a:latin typeface="+mj-lt"/>
                <a:ea typeface="华文中宋" panose="02010600040101010101" pitchFamily="2" charset="-122"/>
                <a:cs typeface="+mj-cs"/>
              </a:rPr>
              <a:t>很小</a:t>
            </a:r>
            <a:r>
              <a:rPr lang="zh-CN" altLang="en-US" sz="3200" b="1" dirty="0">
                <a:solidFill>
                  <a:srgbClr val="0000FF"/>
                </a:solidFill>
                <a:ea typeface="华文中宋" panose="02010600040101010101" pitchFamily="2" charset="-122"/>
              </a:rPr>
              <a:t>时</a:t>
            </a:r>
            <a:r>
              <a:rPr lang="zh-CN" altLang="en-US" sz="3200" b="1" dirty="0">
                <a:ea typeface="华文中宋" panose="02010600040101010101" pitchFamily="2" charset="-122"/>
              </a:rPr>
              <a:t>（</a:t>
            </a:r>
            <a:r>
              <a:rPr lang="zh-CN" altLang="en-US" sz="3200" b="1" dirty="0">
                <a:solidFill>
                  <a:srgbClr val="FF0000"/>
                </a:solidFill>
                <a:ea typeface="华文中宋" panose="02010600040101010101" pitchFamily="2" charset="-122"/>
              </a:rPr>
              <a:t>正</a:t>
            </a:r>
            <a:r>
              <a:rPr lang="zh-CN" altLang="en-US" sz="3200" b="1" dirty="0">
                <a:ea typeface="华文中宋" panose="02010600040101010101" pitchFamily="2" charset="-122"/>
              </a:rPr>
              <a:t>温度梯度下），晶体生长以</a:t>
            </a:r>
            <a:r>
              <a:rPr lang="zh-CN" altLang="en-US" sz="3200" b="1" noProof="0" dirty="0">
                <a:ln>
                  <a:noFill/>
                </a:ln>
                <a:solidFill>
                  <a:srgbClr val="0000FF"/>
                </a:solidFill>
                <a:uLnTx/>
                <a:uFillTx/>
                <a:latin typeface="+mj-lt"/>
                <a:ea typeface="华文中宋" panose="02010600040101010101" pitchFamily="2" charset="-122"/>
                <a:cs typeface="+mj-cs"/>
              </a:rPr>
              <a:t>平面状态</a:t>
            </a:r>
            <a:r>
              <a:rPr lang="zh-CN" altLang="en-US" sz="3200" b="1" dirty="0">
                <a:ea typeface="华文中宋" panose="02010600040101010101" pitchFamily="2" charset="-122"/>
              </a:rPr>
              <a:t>向前推进，结晶以</a:t>
            </a:r>
            <a:r>
              <a:rPr lang="zh-CN" altLang="en-US" sz="3200" b="1" dirty="0">
                <a:solidFill>
                  <a:srgbClr val="0000FF"/>
                </a:solidFill>
                <a:latin typeface="+mj-lt"/>
                <a:ea typeface="华文中宋" panose="02010600040101010101" pitchFamily="2" charset="-122"/>
                <a:cs typeface="+mj-cs"/>
              </a:rPr>
              <a:t>均匀长大</a:t>
            </a:r>
            <a:r>
              <a:rPr lang="zh-CN" altLang="en-US" sz="3200" b="1" dirty="0">
                <a:ea typeface="华文中宋" panose="02010600040101010101" pitchFamily="2" charset="-122"/>
              </a:rPr>
              <a:t>方式进行。</a:t>
            </a:r>
          </a:p>
        </p:txBody>
      </p:sp>
      <p:grpSp>
        <p:nvGrpSpPr>
          <p:cNvPr id="34822" name="Group 11"/>
          <p:cNvGrpSpPr>
            <a:grpSpLocks noChangeAspect="1"/>
          </p:cNvGrpSpPr>
          <p:nvPr/>
        </p:nvGrpSpPr>
        <p:grpSpPr>
          <a:xfrm>
            <a:off x="4568747" y="3771901"/>
            <a:ext cx="3479800" cy="2700337"/>
            <a:chOff x="432" y="2304"/>
            <a:chExt cx="2267" cy="1759"/>
          </a:xfrm>
        </p:grpSpPr>
        <p:pic>
          <p:nvPicPr>
            <p:cNvPr id="34824" name="Picture 12" descr="JIEJING"/>
            <p:cNvPicPr>
              <a:picLocks noChangeAspect="1"/>
            </p:cNvPicPr>
            <p:nvPr/>
          </p:nvPicPr>
          <p:blipFill>
            <a:blip r:embed="rId2"/>
            <a:stretch>
              <a:fillRect/>
            </a:stretch>
          </p:blipFill>
          <p:spPr>
            <a:xfrm>
              <a:off x="445" y="2304"/>
              <a:ext cx="2237" cy="1751"/>
            </a:xfrm>
            <a:prstGeom prst="rect">
              <a:avLst/>
            </a:prstGeom>
            <a:noFill/>
            <a:ln w="9525">
              <a:noFill/>
            </a:ln>
          </p:spPr>
        </p:pic>
        <p:sp>
          <p:nvSpPr>
            <p:cNvPr id="34825" name="Rectangle 13"/>
            <p:cNvSpPr>
              <a:spLocks noChangeAspect="1"/>
            </p:cNvSpPr>
            <p:nvPr/>
          </p:nvSpPr>
          <p:spPr>
            <a:xfrm>
              <a:off x="432" y="2304"/>
              <a:ext cx="2267" cy="1759"/>
            </a:xfrm>
            <a:prstGeom prst="rect">
              <a:avLst/>
            </a:prstGeom>
            <a:noFill/>
            <a:ln w="38100" cap="flat" cmpd="sng">
              <a:solidFill>
                <a:srgbClr val="FF9900"/>
              </a:solidFill>
              <a:prstDash val="solid"/>
              <a:miter/>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grpSp>
      <p:pic>
        <p:nvPicPr>
          <p:cNvPr id="10254" name="Picture 4" descr="image002"/>
          <p:cNvPicPr>
            <a:picLocks noGrp="1" noChangeAspect="1"/>
          </p:cNvPicPr>
          <p:nvPr>
            <p:ph sz="half" idx="2"/>
          </p:nvPr>
        </p:nvPicPr>
        <p:blipFill>
          <a:blip r:embed="rId3"/>
          <a:stretch>
            <a:fillRect/>
          </a:stretch>
        </p:blipFill>
        <p:spPr>
          <a:xfrm>
            <a:off x="5580112" y="1847851"/>
            <a:ext cx="1943100" cy="1695450"/>
          </a:xfrm>
          <a:prstGeom prst="rect">
            <a:avLst/>
          </a:prstGeom>
          <a:noFill/>
          <a:ln w="57150" cap="flat" cmpd="sng">
            <a:solidFill>
              <a:srgbClr val="00FF00"/>
            </a:solidFill>
            <a:prstDash val="solid"/>
            <a:miter/>
            <a:headEnd type="none" w="med" len="med"/>
            <a:tailEnd type="none" w="med" len="med"/>
          </a:ln>
        </p:spPr>
      </p:pic>
      <p:pic>
        <p:nvPicPr>
          <p:cNvPr id="11" name="内容占位符 1" descr="新校徽（3M）弓之乐"/>
          <p:cNvPicPr>
            <a:picLocks noChangeAspect="1"/>
          </p:cNvPicPr>
          <p:nvPr/>
        </p:nvPicPr>
        <p:blipFill>
          <a:blip r:embed="rId4"/>
          <a:stretch>
            <a:fillRect/>
          </a:stretch>
        </p:blipFill>
        <p:spPr>
          <a:xfrm>
            <a:off x="19685" y="3175"/>
            <a:ext cx="746760" cy="735965"/>
          </a:xfrm>
          <a:prstGeom prst="rect">
            <a:avLst/>
          </a:prstGeom>
          <a:noFill/>
          <a:ln w="9525">
            <a:noFill/>
          </a:ln>
        </p:spPr>
      </p:pic>
      <p:sp>
        <p:nvSpPr>
          <p:cNvPr id="2" name="日期占位符 3"/>
          <p:cNvSpPr txBox="1">
            <a:spLocks noGrp="1"/>
          </p:cNvSpPr>
          <p:nvPr>
            <p:ph type="dt" sz="half" idx="10"/>
          </p:nvPr>
        </p:nvSpPr>
        <p:spPr>
          <a:xfrm>
            <a:off x="0" y="6554470"/>
            <a:ext cx="2457450" cy="303530"/>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日期占位符 3"/>
          <p:cNvSpPr txBox="1">
            <a:spLocks noGrp="1"/>
          </p:cNvSpPr>
          <p:nvPr>
            <p:ph type="dt" sz="half" idx="10"/>
          </p:nvPr>
        </p:nvSpPr>
        <p:spPr>
          <a:xfrm>
            <a:off x="0" y="6510338"/>
            <a:ext cx="2162175"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35843" name="灯片编号占位符 5"/>
          <p:cNvSpPr txBox="1">
            <a:spLocks noGrp="1"/>
          </p:cNvSpPr>
          <p:nvPr>
            <p:ph type="sldNum" sz="quarter" idx="12"/>
          </p:nvPr>
        </p:nvSpPr>
        <p:spPr/>
        <p:txBody>
          <a:bodyPr lIns="92075" tIns="46038" rIns="92075" bIns="46038" anchor="ctr"/>
          <a:lstStyle/>
          <a:p>
            <a:pPr algn="r" eaLnBrk="1" hangingPunct="1"/>
            <a:fld id="{9A0DB2DC-4C9A-4742-B13C-FB6460FD3503}" type="slidenum">
              <a:rPr lang="en-US" altLang="zh-CN" sz="1400" dirty="0"/>
              <a:t>23</a:t>
            </a:fld>
            <a:endParaRPr lang="en-US" altLang="zh-CN" sz="1400" dirty="0"/>
          </a:p>
        </p:txBody>
      </p:sp>
      <p:sp>
        <p:nvSpPr>
          <p:cNvPr id="277506" name="Rectangle 2"/>
          <p:cNvSpPr>
            <a:spLocks noGrp="1" noChangeArrowheads="1"/>
          </p:cNvSpPr>
          <p:nvPr>
            <p:ph type="title"/>
          </p:nvPr>
        </p:nvSpPr>
        <p:spPr>
          <a:xfrm>
            <a:off x="1364512" y="223654"/>
            <a:ext cx="7772400" cy="1143000"/>
          </a:xfrm>
        </p:spPr>
        <p:txBody>
          <a:bodyPr vert="horz" wrap="square" lIns="92075" tIns="46038" rIns="92075" bIns="46038" numCol="1" anchor="ctr" anchorCtr="0" compatLnSpc="1"/>
          <a:lstStyle/>
          <a:p>
            <a:pPr lvl="0" eaLnBrk="1" hangingPunct="1">
              <a:defRPr/>
            </a:pPr>
            <a:r>
              <a:rPr lang="zh-CN" altLang="en-US" b="1" dirty="0">
                <a:solidFill>
                  <a:srgbClr val="FF0000"/>
                </a:solidFill>
                <a:ea typeface="华文中宋" panose="02010600040101010101" pitchFamily="2" charset="-122"/>
              </a:rPr>
              <a:t>树枝状长大</a:t>
            </a:r>
            <a:endParaRPr kumimoji="1" lang="zh-CN" altLang="zh-CN" sz="4400" b="0"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mj-ea"/>
              <a:cs typeface="+mj-cs"/>
            </a:endParaRPr>
          </a:p>
        </p:txBody>
      </p:sp>
      <p:sp>
        <p:nvSpPr>
          <p:cNvPr id="35845" name="Rectangle 3"/>
          <p:cNvSpPr>
            <a:spLocks noGrp="1"/>
          </p:cNvSpPr>
          <p:nvPr>
            <p:ph idx="1"/>
          </p:nvPr>
        </p:nvSpPr>
        <p:spPr>
          <a:xfrm>
            <a:off x="197266" y="1806902"/>
            <a:ext cx="5759450" cy="4114800"/>
          </a:xfrm>
        </p:spPr>
        <p:txBody>
          <a:bodyPr vert="horz" wrap="square" lIns="91440" tIns="45720" rIns="91440" bIns="45720" anchor="t"/>
          <a:lstStyle/>
          <a:p>
            <a:pPr eaLnBrk="1" hangingPunct="1">
              <a:lnSpc>
                <a:spcPct val="140000"/>
              </a:lnSpc>
            </a:pPr>
            <a:r>
              <a:rPr lang="zh-CN" altLang="en-US" sz="2800" b="1" dirty="0">
                <a:solidFill>
                  <a:schemeClr val="folHlink"/>
                </a:solidFill>
                <a:ea typeface="华文中宋" panose="02010600040101010101" pitchFamily="2" charset="-122"/>
              </a:rPr>
              <a:t>实际金属结晶</a:t>
            </a:r>
            <a:r>
              <a:rPr lang="zh-CN" altLang="en-US" sz="2800" b="1" dirty="0">
                <a:ea typeface="华文中宋" panose="02010600040101010101" pitchFamily="2" charset="-122"/>
              </a:rPr>
              <a:t>主要以</a:t>
            </a:r>
            <a:r>
              <a:rPr lang="zh-CN" altLang="en-US" sz="2800" b="1" dirty="0">
                <a:solidFill>
                  <a:srgbClr val="0000FF"/>
                </a:solidFill>
                <a:ea typeface="华文中宋" panose="02010600040101010101" pitchFamily="2" charset="-122"/>
              </a:rPr>
              <a:t>树枝状长大</a:t>
            </a:r>
            <a:r>
              <a:rPr lang="zh-CN" altLang="en-US" sz="2800" b="1" dirty="0">
                <a:solidFill>
                  <a:schemeClr val="folHlink"/>
                </a:solidFill>
                <a:ea typeface="华文中宋" panose="02010600040101010101" pitchFamily="2" charset="-122"/>
              </a:rPr>
              <a:t>。</a:t>
            </a:r>
            <a:endParaRPr lang="en-US" altLang="zh-CN" sz="2800" b="1" dirty="0">
              <a:solidFill>
                <a:schemeClr val="folHlink"/>
              </a:solidFill>
              <a:ea typeface="华文中宋" panose="02010600040101010101" pitchFamily="2" charset="-122"/>
            </a:endParaRPr>
          </a:p>
          <a:p>
            <a:pPr eaLnBrk="1" hangingPunct="1">
              <a:lnSpc>
                <a:spcPct val="140000"/>
              </a:lnSpc>
            </a:pPr>
            <a:r>
              <a:rPr lang="zh-CN" altLang="en-US" sz="2800" b="1" dirty="0">
                <a:solidFill>
                  <a:schemeClr val="folHlink"/>
                </a:solidFill>
                <a:ea typeface="华文中宋" panose="02010600040101010101" pitchFamily="2" charset="-122"/>
              </a:rPr>
              <a:t>原因：</a:t>
            </a:r>
            <a:r>
              <a:rPr lang="zh-CN" altLang="en-US" sz="2800" b="1" dirty="0">
                <a:ea typeface="华文中宋" panose="02010600040101010101" pitchFamily="2" charset="-122"/>
              </a:rPr>
              <a:t>存在</a:t>
            </a:r>
            <a:r>
              <a:rPr lang="zh-CN" altLang="en-US" sz="2800" b="1" dirty="0">
                <a:solidFill>
                  <a:srgbClr val="0000FF"/>
                </a:solidFill>
                <a:ea typeface="华文中宋" panose="02010600040101010101" pitchFamily="2" charset="-122"/>
              </a:rPr>
              <a:t>负温度梯度</a:t>
            </a:r>
            <a:r>
              <a:rPr lang="zh-CN" altLang="en-US" sz="2800" b="1" dirty="0">
                <a:ea typeface="华文中宋" panose="02010600040101010101" pitchFamily="2" charset="-122"/>
              </a:rPr>
              <a:t>，且</a:t>
            </a:r>
            <a:r>
              <a:rPr lang="zh-CN" altLang="en-US" sz="2800" b="1" dirty="0">
                <a:solidFill>
                  <a:srgbClr val="0000FF"/>
                </a:solidFill>
                <a:ea typeface="华文中宋" panose="02010600040101010101" pitchFamily="2" charset="-122"/>
              </a:rPr>
              <a:t>晶核棱角处散热好</a:t>
            </a:r>
            <a:r>
              <a:rPr lang="zh-CN" altLang="en-US" sz="2800" b="1" dirty="0">
                <a:ea typeface="华文中宋" panose="02010600040101010101" pitchFamily="2" charset="-122"/>
              </a:rPr>
              <a:t>，生长快，先形成</a:t>
            </a:r>
            <a:r>
              <a:rPr lang="zh-CN" altLang="en-US" sz="2800" b="1" dirty="0">
                <a:solidFill>
                  <a:schemeClr val="folHlink"/>
                </a:solidFill>
                <a:ea typeface="华文中宋" panose="02010600040101010101" pitchFamily="2" charset="-122"/>
              </a:rPr>
              <a:t>一次轴</a:t>
            </a:r>
            <a:r>
              <a:rPr lang="zh-CN" altLang="en-US" sz="2800" b="1" dirty="0">
                <a:ea typeface="华文中宋" panose="02010600040101010101" pitchFamily="2" charset="-122"/>
              </a:rPr>
              <a:t>，一次轴产生</a:t>
            </a:r>
            <a:r>
              <a:rPr lang="zh-CN" altLang="en-US" sz="2800" b="1" dirty="0">
                <a:solidFill>
                  <a:schemeClr val="folHlink"/>
                </a:solidFill>
                <a:ea typeface="华文中宋" panose="02010600040101010101" pitchFamily="2" charset="-122"/>
              </a:rPr>
              <a:t>二次轴</a:t>
            </a:r>
            <a:r>
              <a:rPr lang="en-US" altLang="zh-CN" sz="2800" b="1" dirty="0">
                <a:ea typeface="华文中宋" panose="02010600040101010101" pitchFamily="2" charset="-122"/>
              </a:rPr>
              <a:t>…</a:t>
            </a:r>
            <a:r>
              <a:rPr lang="zh-CN" altLang="en-US" sz="2800" b="1" dirty="0">
                <a:ea typeface="华文中宋" panose="02010600040101010101" pitchFamily="2" charset="-122"/>
              </a:rPr>
              <a:t>，树枝间最后被填充。</a:t>
            </a:r>
          </a:p>
        </p:txBody>
      </p:sp>
      <p:grpSp>
        <p:nvGrpSpPr>
          <p:cNvPr id="2" name="Group 4"/>
          <p:cNvGrpSpPr/>
          <p:nvPr/>
        </p:nvGrpSpPr>
        <p:grpSpPr>
          <a:xfrm>
            <a:off x="2556027" y="1700857"/>
            <a:ext cx="6373522" cy="5099667"/>
            <a:chOff x="1164" y="435"/>
            <a:chExt cx="4308" cy="3589"/>
          </a:xfrm>
        </p:grpSpPr>
        <p:pic>
          <p:nvPicPr>
            <p:cNvPr id="35848" name="Picture 5" descr="在人工引入气泡周围的树枝状长大1"/>
            <p:cNvPicPr>
              <a:picLocks noChangeAspect="1"/>
            </p:cNvPicPr>
            <p:nvPr/>
          </p:nvPicPr>
          <p:blipFill>
            <a:blip r:embed="rId2"/>
            <a:stretch>
              <a:fillRect/>
            </a:stretch>
          </p:blipFill>
          <p:spPr>
            <a:xfrm>
              <a:off x="3234" y="2208"/>
              <a:ext cx="2235" cy="1812"/>
            </a:xfrm>
            <a:prstGeom prst="rect">
              <a:avLst/>
            </a:prstGeom>
            <a:noFill/>
            <a:ln w="38100" cap="flat" cmpd="sng">
              <a:solidFill>
                <a:srgbClr val="CC99FF"/>
              </a:solidFill>
              <a:prstDash val="solid"/>
              <a:miter/>
              <a:headEnd type="none" w="med" len="med"/>
              <a:tailEnd type="none" w="med" len="med"/>
            </a:ln>
          </p:spPr>
        </p:pic>
        <p:pic>
          <p:nvPicPr>
            <p:cNvPr id="35849" name="Picture 6" descr="树枝晶"/>
            <p:cNvPicPr>
              <a:picLocks noChangeAspect="1"/>
            </p:cNvPicPr>
            <p:nvPr/>
          </p:nvPicPr>
          <p:blipFill>
            <a:blip r:embed="rId3"/>
            <a:stretch>
              <a:fillRect/>
            </a:stretch>
          </p:blipFill>
          <p:spPr>
            <a:xfrm>
              <a:off x="1164" y="2772"/>
              <a:ext cx="1775" cy="1252"/>
            </a:xfrm>
            <a:prstGeom prst="rect">
              <a:avLst/>
            </a:prstGeom>
            <a:noFill/>
            <a:ln w="38100" cap="flat" cmpd="sng">
              <a:solidFill>
                <a:srgbClr val="CC99FF"/>
              </a:solidFill>
              <a:prstDash val="solid"/>
              <a:miter/>
              <a:headEnd type="none" w="med" len="med"/>
              <a:tailEnd type="none" w="med" len="med"/>
            </a:ln>
          </p:spPr>
        </p:pic>
        <p:grpSp>
          <p:nvGrpSpPr>
            <p:cNvPr id="35850" name="Group 7"/>
            <p:cNvGrpSpPr/>
            <p:nvPr/>
          </p:nvGrpSpPr>
          <p:grpSpPr>
            <a:xfrm>
              <a:off x="3705" y="435"/>
              <a:ext cx="1767" cy="1517"/>
              <a:chOff x="3621" y="531"/>
              <a:chExt cx="1767" cy="1517"/>
            </a:xfrm>
          </p:grpSpPr>
          <p:pic>
            <p:nvPicPr>
              <p:cNvPr id="35851" name="Picture 8" descr="tidu-"/>
              <p:cNvPicPr>
                <a:picLocks noChangeAspect="1"/>
              </p:cNvPicPr>
              <p:nvPr/>
            </p:nvPicPr>
            <p:blipFill>
              <a:blip r:embed="rId4"/>
              <a:stretch>
                <a:fillRect/>
              </a:stretch>
            </p:blipFill>
            <p:spPr>
              <a:xfrm>
                <a:off x="3621" y="531"/>
                <a:ext cx="1767" cy="1489"/>
              </a:xfrm>
              <a:prstGeom prst="rect">
                <a:avLst/>
              </a:prstGeom>
              <a:noFill/>
              <a:ln w="28575" cap="flat" cmpd="sng">
                <a:solidFill>
                  <a:srgbClr val="FF00FF"/>
                </a:solidFill>
                <a:prstDash val="solid"/>
                <a:miter/>
                <a:headEnd type="none" w="med" len="med"/>
                <a:tailEnd type="none" w="med" len="med"/>
              </a:ln>
            </p:spPr>
          </p:pic>
          <p:sp>
            <p:nvSpPr>
              <p:cNvPr id="35852" name="Text Box 9"/>
              <p:cNvSpPr txBox="1"/>
              <p:nvPr/>
            </p:nvSpPr>
            <p:spPr>
              <a:xfrm>
                <a:off x="3621" y="1788"/>
                <a:ext cx="963" cy="260"/>
              </a:xfrm>
              <a:prstGeom prst="rect">
                <a:avLst/>
              </a:prstGeom>
              <a:noFill/>
              <a:ln w="9525">
                <a:noFill/>
              </a:ln>
            </p:spPr>
            <p:txBody>
              <a:bodyPr wrap="square">
                <a:spAutoFit/>
              </a:bodyPr>
              <a:lstStyle/>
              <a:p>
                <a:pPr lvl="0" eaLnBrk="1" hangingPunct="1">
                  <a:spcBef>
                    <a:spcPct val="50000"/>
                  </a:spcBef>
                </a:pPr>
                <a:r>
                  <a:rPr lang="zh-CN" altLang="en-US" sz="1800" b="1" dirty="0">
                    <a:solidFill>
                      <a:srgbClr val="800000"/>
                    </a:solidFill>
                    <a:latin typeface="宋体" panose="02010600030101010101" pitchFamily="2" charset="-122"/>
                    <a:ea typeface="宋体" panose="02010600030101010101" pitchFamily="2" charset="-122"/>
                  </a:rPr>
                  <a:t>负温度梯度</a:t>
                </a:r>
              </a:p>
            </p:txBody>
          </p:sp>
        </p:grpSp>
      </p:grpSp>
      <p:pic>
        <p:nvPicPr>
          <p:cNvPr id="13" name="内容占位符 1" descr="新校徽（3M）弓之乐"/>
          <p:cNvPicPr>
            <a:picLocks noChangeAspect="1"/>
          </p:cNvPicPr>
          <p:nvPr/>
        </p:nvPicPr>
        <p:blipFill>
          <a:blip r:embed="rId5"/>
          <a:stretch>
            <a:fillRect/>
          </a:stretch>
        </p:blipFill>
        <p:spPr>
          <a:xfrm>
            <a:off x="19685" y="3175"/>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日期占位符 3"/>
          <p:cNvSpPr txBox="1">
            <a:spLocks noGrp="1"/>
          </p:cNvSpPr>
          <p:nvPr>
            <p:ph type="dt" sz="half" idx="10"/>
          </p:nvPr>
        </p:nvSpPr>
        <p:spPr>
          <a:xfrm>
            <a:off x="0" y="6525895"/>
            <a:ext cx="2426335" cy="34734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36867" name="灯片编号占位符 5"/>
          <p:cNvSpPr txBox="1">
            <a:spLocks noGrp="1"/>
          </p:cNvSpPr>
          <p:nvPr>
            <p:ph type="sldNum" sz="quarter" idx="12"/>
          </p:nvPr>
        </p:nvSpPr>
        <p:spPr>
          <a:xfrm>
            <a:off x="8717915" y="6573520"/>
            <a:ext cx="403225" cy="299720"/>
          </a:xfrm>
        </p:spPr>
        <p:txBody>
          <a:bodyPr lIns="92075" tIns="46038" rIns="92075" bIns="46038" anchor="ctr"/>
          <a:lstStyle/>
          <a:p>
            <a:pPr algn="r" eaLnBrk="1" hangingPunct="1"/>
            <a:fld id="{9A0DB2DC-4C9A-4742-B13C-FB6460FD3503}" type="slidenum">
              <a:rPr lang="en-US" altLang="zh-CN" sz="1400" dirty="0"/>
              <a:t>24</a:t>
            </a:fld>
            <a:endParaRPr lang="en-US" altLang="zh-CN" sz="1400" dirty="0"/>
          </a:p>
        </p:txBody>
      </p:sp>
      <p:sp>
        <p:nvSpPr>
          <p:cNvPr id="177154" name="Rectangle 2"/>
          <p:cNvSpPr>
            <a:spLocks noGrp="1" noChangeArrowheads="1"/>
          </p:cNvSpPr>
          <p:nvPr>
            <p:ph type="title"/>
          </p:nvPr>
        </p:nvSpPr>
        <p:spPr>
          <a:xfrm>
            <a:off x="2286000" y="285750"/>
            <a:ext cx="4818380" cy="9144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树枝状长大</a:t>
            </a:r>
          </a:p>
        </p:txBody>
      </p:sp>
      <p:sp>
        <p:nvSpPr>
          <p:cNvPr id="177155" name="Rectangle 3"/>
          <p:cNvSpPr>
            <a:spLocks noGrp="1"/>
          </p:cNvSpPr>
          <p:nvPr>
            <p:ph idx="1"/>
          </p:nvPr>
        </p:nvSpPr>
        <p:spPr>
          <a:xfrm>
            <a:off x="457200" y="1857375"/>
            <a:ext cx="8186738" cy="3629025"/>
          </a:xfrm>
        </p:spPr>
        <p:txBody>
          <a:bodyPr vert="horz" wrap="square" lIns="91440" tIns="45720" rIns="91440" bIns="45720" anchor="t"/>
          <a:lstStyle/>
          <a:p>
            <a:pPr eaLnBrk="1" hangingPunct="1">
              <a:lnSpc>
                <a:spcPct val="160000"/>
              </a:lnSpc>
            </a:pPr>
            <a:r>
              <a:rPr lang="zh-CN" altLang="en-US" b="1" dirty="0">
                <a:solidFill>
                  <a:schemeClr val="folHlink"/>
                </a:solidFill>
                <a:ea typeface="华文中宋" panose="02010600040101010101" pitchFamily="2" charset="-122"/>
              </a:rPr>
              <a:t>一</a:t>
            </a:r>
            <a:r>
              <a:rPr lang="en-US" altLang="zh-CN" b="1" dirty="0">
                <a:solidFill>
                  <a:schemeClr val="folHlink"/>
                </a:solidFill>
                <a:ea typeface="华文中宋" panose="02010600040101010101" pitchFamily="2" charset="-122"/>
              </a:rPr>
              <a:t>.</a:t>
            </a:r>
            <a:endParaRPr lang="zh-CN" altLang="en-US" b="1" dirty="0">
              <a:solidFill>
                <a:schemeClr val="folHlink"/>
              </a:solidFill>
              <a:latin typeface="华文中宋" panose="02010600040101010101" pitchFamily="2" charset="-122"/>
              <a:ea typeface="华文中宋" panose="02010600040101010101" pitchFamily="2" charset="-122"/>
            </a:endParaRPr>
          </a:p>
        </p:txBody>
      </p:sp>
      <p:pic>
        <p:nvPicPr>
          <p:cNvPr id="8" name="Picture 7" descr="dendriteformation-j1"/>
          <p:cNvPicPr>
            <a:picLocks noChangeAspect="1"/>
          </p:cNvPicPr>
          <p:nvPr/>
        </p:nvPicPr>
        <p:blipFill>
          <a:blip r:embed="rId4"/>
          <a:stretch>
            <a:fillRect/>
          </a:stretch>
        </p:blipFill>
        <p:spPr>
          <a:xfrm>
            <a:off x="285750" y="1928813"/>
            <a:ext cx="4343400" cy="4216400"/>
          </a:xfrm>
          <a:prstGeom prst="rect">
            <a:avLst/>
          </a:prstGeom>
          <a:noFill/>
          <a:ln w="38100">
            <a:noFill/>
          </a:ln>
        </p:spPr>
      </p:pic>
      <p:pic>
        <p:nvPicPr>
          <p:cNvPr id="9" name="树枝状长大.avi">
            <a:hlinkClick r:id="" action="ppaction://media"/>
          </p:cNvPr>
          <p:cNvPicPr>
            <a:picLocks noRot="1" noChangeAspect="1"/>
          </p:cNvPicPr>
          <p:nvPr>
            <a:videoFile r:link="rId2"/>
            <p:extLst>
              <p:ext uri="{DAA4B4D4-6D71-4841-9C94-3DE7FCFB9230}">
                <p14:media xmlns:p14="http://schemas.microsoft.com/office/powerpoint/2010/main" r:link="rId1"/>
              </p:ext>
            </p:extLst>
          </p:nvPr>
        </p:nvPicPr>
        <p:blipFill>
          <a:blip r:embed="rId5"/>
          <a:stretch>
            <a:fillRect/>
          </a:stretch>
        </p:blipFill>
        <p:spPr>
          <a:xfrm>
            <a:off x="4800600" y="1917222"/>
            <a:ext cx="4103688" cy="4103687"/>
          </a:xfrm>
          <a:prstGeom prst="rect">
            <a:avLst/>
          </a:prstGeom>
          <a:noFill/>
          <a:ln w="38100" cap="flat" cmpd="sng">
            <a:solidFill>
              <a:srgbClr val="FFCC00"/>
            </a:solidFill>
            <a:prstDash val="solid"/>
            <a:miter/>
            <a:headEnd type="none" w="med" len="med"/>
            <a:tailEnd type="none" w="med" len="med"/>
          </a:ln>
        </p:spPr>
      </p:pic>
      <p:pic>
        <p:nvPicPr>
          <p:cNvPr id="10" name="内容占位符 1" descr="新校徽（3M）弓之乐"/>
          <p:cNvPicPr>
            <a:picLocks noChangeAspect="1"/>
          </p:cNvPicPr>
          <p:nvPr/>
        </p:nvPicPr>
        <p:blipFill>
          <a:blip r:embed="rId6"/>
          <a:stretch>
            <a:fillRect/>
          </a:stretch>
        </p:blipFill>
        <p:spPr>
          <a:xfrm>
            <a:off x="19685" y="3175"/>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77154"/>
                                        </p:tgtEl>
                                        <p:attrNameLst>
                                          <p:attrName>style.visibility</p:attrName>
                                        </p:attrNameLst>
                                      </p:cBhvr>
                                      <p:to>
                                        <p:strVal val="visible"/>
                                      </p:to>
                                    </p:set>
                                    <p:animEffect transition="in" filter="wipe(left)">
                                      <p:cBhvr>
                                        <p:cTn id="7" dur="500"/>
                                        <p:tgtEl>
                                          <p:spTgt spid="17715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77155">
                                            <p:txEl>
                                              <p:pRg st="0" end="0"/>
                                            </p:txEl>
                                          </p:spTgt>
                                        </p:tgtEl>
                                        <p:attrNameLst>
                                          <p:attrName>style.visibility</p:attrName>
                                        </p:attrNameLst>
                                      </p:cBhvr>
                                      <p:to>
                                        <p:strVal val="visible"/>
                                      </p:to>
                                    </p:set>
                                    <p:animEffect transition="in" filter="wipe(left)">
                                      <p:cBhvr>
                                        <p:cTn id="11" dur="500"/>
                                        <p:tgtEl>
                                          <p:spTgt spid="177155">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2000"/>
                            </p:stCondLst>
                            <p:childTnLst>
                              <p:par>
                                <p:cTn id="21" presetID="1" presetClass="mediacall" presetSubtype="0" fill="hold" nodeType="afterEffect">
                                  <p:stCondLst>
                                    <p:cond delay="0"/>
                                  </p:stCondLst>
                                  <p:childTnLst>
                                    <p:cmd type="call" cmd="playFrom(0.0)">
                                      <p:cBhvr>
                                        <p:cTn id="22"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9"/>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9"/>
                                        </p:tgtEl>
                                      </p:cBhvr>
                                    </p:cmd>
                                  </p:childTnLst>
                                </p:cTn>
                              </p:par>
                            </p:childTnLst>
                          </p:cTn>
                        </p:par>
                      </p:childTnLst>
                    </p:cTn>
                  </p:par>
                </p:childTnLst>
              </p:cTn>
              <p:nextCondLst>
                <p:cond evt="onClick" delay="0">
                  <p:tgtEl>
                    <p:spTgt spid="9"/>
                  </p:tgtEl>
                </p:cond>
              </p:nextCondLst>
            </p:seq>
            <p:video>
              <p:cMediaNode>
                <p:cTn id="28" repeatCount="indefinite" fill="hold" display="0">
                  <p:stCondLst>
                    <p:cond delay="indefinite"/>
                  </p:stCondLst>
                  <p:endCondLst>
                    <p:cond evt="onNext" delay="0">
                      <p:tgtEl>
                        <p:sldTgt/>
                      </p:tgtEl>
                    </p:cond>
                    <p:cond evt="onPrev" delay="0">
                      <p:tgtEl>
                        <p:sldTgt/>
                      </p:tgtEl>
                    </p:cond>
                  </p:endCondLst>
                </p:cTn>
                <p:tgtEl>
                  <p:spTgt spid="9"/>
                </p:tgtEl>
              </p:cMediaNode>
            </p:video>
          </p:childTnLst>
        </p:cTn>
      </p:par>
    </p:tnLst>
    <p:bldLst>
      <p:bldP spid="177154" grpId="0"/>
      <p:bldP spid="177155" grpId="0" build="p" advAuto="100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a:xfrm>
            <a:off x="1331640" y="228600"/>
            <a:ext cx="7126560" cy="1112168"/>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树枝状长大的实际观察</a:t>
            </a:r>
          </a:p>
        </p:txBody>
      </p:sp>
      <p:pic>
        <p:nvPicPr>
          <p:cNvPr id="142340" name="fig0607[1].avi">
            <a:hlinkClick r:id="" action="ppaction://media"/>
          </p:cNvPr>
          <p:cNvPicPr>
            <a:picLocks noRot="1" noChangeAspect="1"/>
          </p:cNvPicPr>
          <p:nvPr>
            <a:videoFile r:link="rId2"/>
            <p:extLst>
              <p:ext uri="{DAA4B4D4-6D71-4841-9C94-3DE7FCFB9230}">
                <p14:media xmlns:p14="http://schemas.microsoft.com/office/powerpoint/2010/main" r:link="rId1"/>
              </p:ext>
            </p:extLst>
          </p:nvPr>
        </p:nvPicPr>
        <p:blipFill>
          <a:blip r:embed="rId4"/>
          <a:stretch>
            <a:fillRect/>
          </a:stretch>
        </p:blipFill>
        <p:spPr>
          <a:xfrm>
            <a:off x="2052955" y="1891030"/>
            <a:ext cx="5901055" cy="4425950"/>
          </a:xfrm>
          <a:prstGeom prst="rect">
            <a:avLst/>
          </a:prstGeom>
          <a:noFill/>
          <a:ln w="9525">
            <a:noFill/>
          </a:ln>
        </p:spPr>
      </p:pic>
      <p:pic>
        <p:nvPicPr>
          <p:cNvPr id="5" name="内容占位符 1" descr="新校徽（3M）弓之乐"/>
          <p:cNvPicPr>
            <a:picLocks noChangeAspect="1"/>
          </p:cNvPicPr>
          <p:nvPr/>
        </p:nvPicPr>
        <p:blipFill>
          <a:blip r:embed="rId5"/>
          <a:stretch>
            <a:fillRect/>
          </a:stretch>
        </p:blipFill>
        <p:spPr>
          <a:xfrm>
            <a:off x="19685" y="3175"/>
            <a:ext cx="746760" cy="735965"/>
          </a:xfrm>
          <a:prstGeom prst="rect">
            <a:avLst/>
          </a:prstGeom>
          <a:noFill/>
          <a:ln w="9525">
            <a:noFill/>
          </a:ln>
        </p:spPr>
      </p:pic>
      <p:sp>
        <p:nvSpPr>
          <p:cNvPr id="36867" name="灯片编号占位符 5"/>
          <p:cNvSpPr txBox="1">
            <a:spLocks noGrp="1"/>
          </p:cNvSpPr>
          <p:nvPr>
            <p:ph type="sldNum" sz="quarter" idx="12"/>
          </p:nvPr>
        </p:nvSpPr>
        <p:spPr>
          <a:xfrm>
            <a:off x="8717915" y="6573520"/>
            <a:ext cx="403225" cy="299720"/>
          </a:xfrm>
        </p:spPr>
        <p:txBody>
          <a:bodyPr lIns="92075" tIns="46038" rIns="92075" bIns="46038" anchor="ctr"/>
          <a:lstStyle/>
          <a:p>
            <a:pPr algn="r" eaLnBrk="1" hangingPunct="1"/>
            <a:fld id="{9A0DB2DC-4C9A-4742-B13C-FB6460FD3503}" type="slidenum">
              <a:rPr lang="en-US" altLang="zh-CN" sz="1400" dirty="0"/>
              <a:t>25</a:t>
            </a:fld>
            <a:endParaRPr lang="en-US" altLang="zh-CN" sz="1400" dirty="0"/>
          </a:p>
        </p:txBody>
      </p:sp>
      <p:sp>
        <p:nvSpPr>
          <p:cNvPr id="39938" name="日期占位符 3"/>
          <p:cNvSpPr txBox="1">
            <a:spLocks noGrp="1"/>
          </p:cNvSpPr>
          <p:nvPr>
            <p:ph type="dt" sz="half" idx="10"/>
          </p:nvPr>
        </p:nvSpPr>
        <p:spPr>
          <a:xfrm>
            <a:off x="170180" y="6581775"/>
            <a:ext cx="2420620" cy="27622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2338"/>
                                        </p:tgtEl>
                                        <p:attrNameLst>
                                          <p:attrName>style.visibility</p:attrName>
                                        </p:attrNameLst>
                                      </p:cBhvr>
                                      <p:to>
                                        <p:strVal val="visible"/>
                                      </p:to>
                                    </p:set>
                                    <p:animEffect transition="in" filter="wipe(left)">
                                      <p:cBhvr>
                                        <p:cTn id="7" dur="500"/>
                                        <p:tgtEl>
                                          <p:spTgt spid="142338"/>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42340"/>
                                        </p:tgtEl>
                                        <p:attrNameLst>
                                          <p:attrName>style.visibility</p:attrName>
                                        </p:attrNameLst>
                                      </p:cBhvr>
                                      <p:to>
                                        <p:strVal val="visible"/>
                                      </p:to>
                                    </p:set>
                                    <p:animEffect transition="in" filter="wipe(up)">
                                      <p:cBhvr>
                                        <p:cTn id="11" dur="500"/>
                                        <p:tgtEl>
                                          <p:spTgt spid="142340"/>
                                        </p:tgtEl>
                                      </p:cBhvr>
                                    </p:animEffect>
                                  </p:childTnLst>
                                </p:cTn>
                              </p:par>
                            </p:childTnLst>
                          </p:cTn>
                        </p:par>
                        <p:par>
                          <p:cTn id="12" fill="hold">
                            <p:stCondLst>
                              <p:cond delay="1000"/>
                            </p:stCondLst>
                            <p:childTnLst>
                              <p:par>
                                <p:cTn id="13" presetID="1" presetClass="mediacall" presetSubtype="0" fill="hold" nodeType="afterEffect">
                                  <p:stCondLst>
                                    <p:cond delay="0"/>
                                  </p:stCondLst>
                                  <p:childTnLst>
                                    <p:cmd type="call" cmd="playFrom(0.0)">
                                      <p:cBhvr>
                                        <p:cTn id="14" dur="1" fill="hold"/>
                                        <p:tgtEl>
                                          <p:spTgt spid="14234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15" fill="remove" display="0">
                  <p:stCondLst>
                    <p:cond delay="indefinite"/>
                  </p:stCondLst>
                  <p:endCondLst>
                    <p:cond evt="onNext" delay="0">
                      <p:tgtEl>
                        <p:sldTgt/>
                      </p:tgtEl>
                    </p:cond>
                    <p:cond evt="onPrev" delay="0">
                      <p:tgtEl>
                        <p:sldTgt/>
                      </p:tgtEl>
                    </p:cond>
                  </p:endCondLst>
                </p:cTn>
                <p:tgtEl>
                  <p:spTgt spid="142340"/>
                </p:tgtEl>
              </p:cMediaNode>
            </p:video>
            <p:seq concurrent="1" nextAc="seek">
              <p:cTn id="16" restart="whenNotActive" fill="hold" evtFilter="cancelBubble" nodeType="interactiveSeq">
                <p:stCondLst>
                  <p:cond evt="onClick" delay="0">
                    <p:tgtEl>
                      <p:spTgt spid="142340"/>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142340"/>
                                        </p:tgtEl>
                                      </p:cBhvr>
                                    </p:cmd>
                                  </p:childTnLst>
                                </p:cTn>
                              </p:par>
                            </p:childTnLst>
                          </p:cTn>
                        </p:par>
                      </p:childTnLst>
                    </p:cTn>
                  </p:par>
                </p:childTnLst>
              </p:cTn>
              <p:nextCondLst>
                <p:cond evt="onClick" delay="0">
                  <p:tgtEl>
                    <p:spTgt spid="142340"/>
                  </p:tgtEl>
                </p:cond>
              </p:nextCondLst>
            </p:seq>
          </p:childTnLst>
        </p:cTn>
      </p:par>
    </p:tnLst>
    <p:bldLst>
      <p:bldP spid="14233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p:cNvSpPr>
          <p:nvPr>
            <p:ph type="title"/>
          </p:nvPr>
        </p:nvSpPr>
        <p:spPr>
          <a:xfrm>
            <a:off x="685800" y="190500"/>
            <a:ext cx="8350696" cy="1078260"/>
          </a:xfrm>
        </p:spPr>
        <p:txBody>
          <a:bodyPr vert="horz" wrap="square" lIns="92075" tIns="46038" rIns="92075" bIns="46038" anchor="ctr"/>
          <a:lstStyle/>
          <a:p>
            <a:pPr eaLnBrk="1" hangingPunct="1"/>
            <a:r>
              <a:rPr lang="zh-CN" altLang="en-US" b="1" dirty="0">
                <a:solidFill>
                  <a:srgbClr val="FF0000"/>
                </a:solidFill>
                <a:ea typeface="华文中宋" panose="02010600040101010101" pitchFamily="2" charset="-122"/>
              </a:rPr>
              <a:t>树枝状长大的实际观察</a:t>
            </a:r>
            <a:r>
              <a:rPr lang="en-US" altLang="zh-CN" b="1" dirty="0">
                <a:solidFill>
                  <a:srgbClr val="FF0000"/>
                </a:solidFill>
                <a:latin typeface="宋体" panose="02010600030101010101" pitchFamily="2" charset="-122"/>
              </a:rPr>
              <a:t>(</a:t>
            </a:r>
            <a:r>
              <a:rPr lang="zh-CN" altLang="en-US" b="1" dirty="0">
                <a:solidFill>
                  <a:srgbClr val="FF0000"/>
                </a:solidFill>
                <a:latin typeface="华文中宋" panose="02010600040101010101" pitchFamily="2" charset="-122"/>
                <a:ea typeface="华文中宋" panose="02010600040101010101" pitchFamily="2" charset="-122"/>
              </a:rPr>
              <a:t>定向凝固</a:t>
            </a:r>
            <a:r>
              <a:rPr lang="en-US" altLang="zh-CN" b="1" dirty="0">
                <a:solidFill>
                  <a:srgbClr val="FF0000"/>
                </a:solidFill>
                <a:latin typeface="宋体" panose="02010600030101010101" pitchFamily="2" charset="-122"/>
              </a:rPr>
              <a:t>)</a:t>
            </a:r>
          </a:p>
        </p:txBody>
      </p:sp>
      <p:pic>
        <p:nvPicPr>
          <p:cNvPr id="143364" name="KONKURRE.mpeg">
            <a:hlinkClick r:id="" action="ppaction://media"/>
          </p:cNvPr>
          <p:cNvPicPr>
            <a:picLocks noRot="1" noChangeAspect="1"/>
          </p:cNvPicPr>
          <p:nvPr>
            <a:videoFile r:link="rId2"/>
            <p:extLst>
              <p:ext uri="{DAA4B4D4-6D71-4841-9C94-3DE7FCFB9230}">
                <p14:media xmlns:p14="http://schemas.microsoft.com/office/powerpoint/2010/main" r:link="rId1"/>
              </p:ext>
            </p:extLst>
          </p:nvPr>
        </p:nvPicPr>
        <p:blipFill>
          <a:blip r:embed="rId4"/>
          <a:stretch>
            <a:fillRect/>
          </a:stretch>
        </p:blipFill>
        <p:spPr>
          <a:xfrm>
            <a:off x="1944370" y="2027555"/>
            <a:ext cx="6377305" cy="4348480"/>
          </a:xfrm>
          <a:prstGeom prst="rect">
            <a:avLst/>
          </a:prstGeom>
          <a:noFill/>
          <a:ln w="9525">
            <a:noFill/>
          </a:ln>
        </p:spPr>
      </p:pic>
      <p:pic>
        <p:nvPicPr>
          <p:cNvPr id="5" name="内容占位符 1" descr="新校徽（3M）弓之乐"/>
          <p:cNvPicPr>
            <a:picLocks noChangeAspect="1"/>
          </p:cNvPicPr>
          <p:nvPr/>
        </p:nvPicPr>
        <p:blipFill>
          <a:blip r:embed="rId5"/>
          <a:stretch>
            <a:fillRect/>
          </a:stretch>
        </p:blipFill>
        <p:spPr>
          <a:xfrm>
            <a:off x="19685" y="3175"/>
            <a:ext cx="746760" cy="735965"/>
          </a:xfrm>
          <a:prstGeom prst="rect">
            <a:avLst/>
          </a:prstGeom>
          <a:noFill/>
          <a:ln w="9525">
            <a:noFill/>
          </a:ln>
        </p:spPr>
      </p:pic>
      <p:sp>
        <p:nvSpPr>
          <p:cNvPr id="36867" name="灯片编号占位符 5"/>
          <p:cNvSpPr txBox="1">
            <a:spLocks noGrp="1"/>
          </p:cNvSpPr>
          <p:nvPr>
            <p:ph type="sldNum" sz="quarter" idx="12"/>
          </p:nvPr>
        </p:nvSpPr>
        <p:spPr>
          <a:xfrm>
            <a:off x="8717915" y="6573520"/>
            <a:ext cx="403225" cy="299720"/>
          </a:xfrm>
        </p:spPr>
        <p:txBody>
          <a:bodyPr lIns="92075" tIns="46038" rIns="92075" bIns="46038" anchor="ctr"/>
          <a:lstStyle/>
          <a:p>
            <a:pPr algn="r" eaLnBrk="1" hangingPunct="1"/>
            <a:fld id="{9A0DB2DC-4C9A-4742-B13C-FB6460FD3503}" type="slidenum">
              <a:rPr lang="en-US" altLang="zh-CN" sz="1400" dirty="0"/>
              <a:t>26</a:t>
            </a:fld>
            <a:endParaRPr lang="en-US" altLang="zh-CN" sz="1400" dirty="0"/>
          </a:p>
        </p:txBody>
      </p:sp>
      <p:sp>
        <p:nvSpPr>
          <p:cNvPr id="39938" name="日期占位符 3"/>
          <p:cNvSpPr txBox="1">
            <a:spLocks noGrp="1"/>
          </p:cNvSpPr>
          <p:nvPr>
            <p:ph type="dt" sz="half" idx="10"/>
          </p:nvPr>
        </p:nvSpPr>
        <p:spPr>
          <a:xfrm>
            <a:off x="170180" y="6581775"/>
            <a:ext cx="2420620" cy="27622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3362"/>
                                        </p:tgtEl>
                                        <p:attrNameLst>
                                          <p:attrName>style.visibility</p:attrName>
                                        </p:attrNameLst>
                                      </p:cBhvr>
                                      <p:to>
                                        <p:strVal val="visible"/>
                                      </p:to>
                                    </p:set>
                                    <p:animEffect transition="in" filter="wipe(left)">
                                      <p:cBhvr>
                                        <p:cTn id="7" dur="500"/>
                                        <p:tgtEl>
                                          <p:spTgt spid="14336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43364"/>
                                        </p:tgtEl>
                                        <p:attrNameLst>
                                          <p:attrName>style.visibility</p:attrName>
                                        </p:attrNameLst>
                                      </p:cBhvr>
                                      <p:to>
                                        <p:strVal val="visible"/>
                                      </p:to>
                                    </p:set>
                                    <p:animEffect transition="in" filter="wipe(left)">
                                      <p:cBhvr>
                                        <p:cTn id="11" dur="500"/>
                                        <p:tgtEl>
                                          <p:spTgt spid="143364"/>
                                        </p:tgtEl>
                                      </p:cBhvr>
                                    </p:animEffect>
                                  </p:childTnLst>
                                </p:cTn>
                              </p:par>
                            </p:childTnLst>
                          </p:cTn>
                        </p:par>
                        <p:par>
                          <p:cTn id="12" fill="hold">
                            <p:stCondLst>
                              <p:cond delay="1000"/>
                            </p:stCondLst>
                            <p:childTnLst>
                              <p:par>
                                <p:cTn id="13" presetID="1" presetClass="mediacall" presetSubtype="0" fill="hold" nodeType="afterEffect">
                                  <p:stCondLst>
                                    <p:cond delay="0"/>
                                  </p:stCondLst>
                                  <p:childTnLst>
                                    <p:cmd type="call" cmd="playFrom(0.0)">
                                      <p:cBhvr>
                                        <p:cTn id="14" dur="1" fill="hold"/>
                                        <p:tgtEl>
                                          <p:spTgt spid="14336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15" fill="remove" display="0">
                  <p:stCondLst>
                    <p:cond delay="indefinite"/>
                  </p:stCondLst>
                  <p:endCondLst>
                    <p:cond evt="onNext" delay="0">
                      <p:tgtEl>
                        <p:sldTgt/>
                      </p:tgtEl>
                    </p:cond>
                    <p:cond evt="onPrev" delay="0">
                      <p:tgtEl>
                        <p:sldTgt/>
                      </p:tgtEl>
                    </p:cond>
                  </p:endCondLst>
                </p:cTn>
                <p:tgtEl>
                  <p:spTgt spid="143364"/>
                </p:tgtEl>
              </p:cMediaNode>
            </p:video>
            <p:seq concurrent="1" nextAc="seek">
              <p:cTn id="16" restart="whenNotActive" fill="hold" evtFilter="cancelBubble" nodeType="interactiveSeq">
                <p:stCondLst>
                  <p:cond evt="onClick" delay="0">
                    <p:tgtEl>
                      <p:spTgt spid="143364"/>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143364"/>
                                        </p:tgtEl>
                                      </p:cBhvr>
                                    </p:cmd>
                                  </p:childTnLst>
                                </p:cTn>
                              </p:par>
                            </p:childTnLst>
                          </p:cTn>
                        </p:par>
                      </p:childTnLst>
                    </p:cTn>
                  </p:par>
                </p:childTnLst>
              </p:cTn>
              <p:nextCondLst>
                <p:cond evt="onClick" delay="0">
                  <p:tgtEl>
                    <p:spTgt spid="143364"/>
                  </p:tgtEl>
                </p:cond>
              </p:nextCondLst>
            </p:seq>
          </p:childTnLst>
        </p:cTn>
      </p:par>
    </p:tnLst>
    <p:bldLst>
      <p:bldP spid="14336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日期占位符 3"/>
          <p:cNvSpPr txBox="1">
            <a:spLocks noGrp="1"/>
          </p:cNvSpPr>
          <p:nvPr>
            <p:ph type="dt" sz="half" idx="10"/>
          </p:nvPr>
        </p:nvSpPr>
        <p:spPr>
          <a:xfrm>
            <a:off x="170180" y="6581775"/>
            <a:ext cx="2420620" cy="27622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39939" name="灯片编号占位符 5"/>
          <p:cNvSpPr txBox="1">
            <a:spLocks noGrp="1"/>
          </p:cNvSpPr>
          <p:nvPr>
            <p:ph type="sldNum" sz="quarter" idx="12"/>
          </p:nvPr>
        </p:nvSpPr>
        <p:spPr>
          <a:xfrm>
            <a:off x="8695690" y="6619240"/>
            <a:ext cx="445135" cy="238760"/>
          </a:xfrm>
        </p:spPr>
        <p:txBody>
          <a:bodyPr lIns="92075" tIns="46038" rIns="92075" bIns="46038" anchor="ctr"/>
          <a:lstStyle/>
          <a:p>
            <a:pPr algn="r" eaLnBrk="1" hangingPunct="1"/>
            <a:fld id="{9A0DB2DC-4C9A-4742-B13C-FB6460FD3503}" type="slidenum">
              <a:rPr lang="en-US" altLang="zh-CN" sz="1400" dirty="0"/>
              <a:t>27</a:t>
            </a:fld>
            <a:endParaRPr lang="en-US" altLang="zh-CN" sz="1400" dirty="0"/>
          </a:p>
        </p:txBody>
      </p:sp>
      <p:sp>
        <p:nvSpPr>
          <p:cNvPr id="9218" name="Rectangle 2"/>
          <p:cNvSpPr>
            <a:spLocks noGrp="1" noChangeArrowheads="1"/>
          </p:cNvSpPr>
          <p:nvPr>
            <p:ph type="title"/>
          </p:nvPr>
        </p:nvSpPr>
        <p:spPr>
          <a:xfrm>
            <a:off x="1482090" y="176624"/>
            <a:ext cx="6179820" cy="1020128"/>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金属的树枝状结晶</a:t>
            </a:r>
          </a:p>
        </p:txBody>
      </p:sp>
      <p:grpSp>
        <p:nvGrpSpPr>
          <p:cNvPr id="2" name="Group 16"/>
          <p:cNvGrpSpPr/>
          <p:nvPr/>
        </p:nvGrpSpPr>
        <p:grpSpPr>
          <a:xfrm>
            <a:off x="1482089" y="1916832"/>
            <a:ext cx="6976745" cy="4419198"/>
            <a:chOff x="576" y="864"/>
            <a:chExt cx="4800" cy="3220"/>
          </a:xfrm>
        </p:grpSpPr>
        <p:pic>
          <p:nvPicPr>
            <p:cNvPr id="39943" name="Picture 4" descr="树枝晶1"/>
            <p:cNvPicPr>
              <a:picLocks noChangeAspect="1"/>
            </p:cNvPicPr>
            <p:nvPr/>
          </p:nvPicPr>
          <p:blipFill>
            <a:blip r:embed="rId2"/>
            <a:stretch>
              <a:fillRect/>
            </a:stretch>
          </p:blipFill>
          <p:spPr>
            <a:xfrm>
              <a:off x="3216" y="864"/>
              <a:ext cx="2115" cy="1482"/>
            </a:xfrm>
            <a:prstGeom prst="rect">
              <a:avLst/>
            </a:prstGeom>
            <a:noFill/>
            <a:ln w="28575" cap="flat" cmpd="sng">
              <a:solidFill>
                <a:srgbClr val="FFCC00"/>
              </a:solidFill>
              <a:prstDash val="solid"/>
              <a:miter/>
              <a:headEnd type="none" w="med" len="med"/>
              <a:tailEnd type="none" w="med" len="med"/>
            </a:ln>
          </p:spPr>
        </p:pic>
        <p:pic>
          <p:nvPicPr>
            <p:cNvPr id="39944" name="Picture 5" descr="树枝晶2"/>
            <p:cNvPicPr>
              <a:picLocks noChangeAspect="1"/>
            </p:cNvPicPr>
            <p:nvPr/>
          </p:nvPicPr>
          <p:blipFill>
            <a:blip r:embed="rId3"/>
            <a:stretch>
              <a:fillRect/>
            </a:stretch>
          </p:blipFill>
          <p:spPr>
            <a:xfrm>
              <a:off x="576" y="864"/>
              <a:ext cx="1628" cy="1587"/>
            </a:xfrm>
            <a:prstGeom prst="rect">
              <a:avLst/>
            </a:prstGeom>
            <a:noFill/>
            <a:ln w="28575" cap="flat" cmpd="sng">
              <a:solidFill>
                <a:srgbClr val="FFCC00"/>
              </a:solidFill>
              <a:prstDash val="solid"/>
              <a:miter/>
              <a:headEnd type="none" w="med" len="med"/>
              <a:tailEnd type="none" w="med" len="med"/>
            </a:ln>
          </p:spPr>
        </p:pic>
        <p:pic>
          <p:nvPicPr>
            <p:cNvPr id="39945" name="Picture 6" descr="2-5"/>
            <p:cNvPicPr>
              <a:picLocks noChangeAspect="1"/>
            </p:cNvPicPr>
            <p:nvPr/>
          </p:nvPicPr>
          <p:blipFill>
            <a:blip r:embed="rId4"/>
            <a:stretch>
              <a:fillRect/>
            </a:stretch>
          </p:blipFill>
          <p:spPr>
            <a:xfrm>
              <a:off x="576" y="2592"/>
              <a:ext cx="1950" cy="1481"/>
            </a:xfrm>
            <a:prstGeom prst="rect">
              <a:avLst/>
            </a:prstGeom>
            <a:noFill/>
            <a:ln w="28575" cap="flat" cmpd="sng">
              <a:solidFill>
                <a:srgbClr val="FFCC00"/>
              </a:solidFill>
              <a:prstDash val="solid"/>
              <a:miter/>
              <a:headEnd type="none" w="med" len="med"/>
              <a:tailEnd type="none" w="med" len="med"/>
            </a:ln>
          </p:spPr>
        </p:pic>
        <p:pic>
          <p:nvPicPr>
            <p:cNvPr id="39946" name="Picture 14" descr="树枝状结晶"/>
            <p:cNvPicPr>
              <a:picLocks noChangeAspect="1"/>
            </p:cNvPicPr>
            <p:nvPr/>
          </p:nvPicPr>
          <p:blipFill>
            <a:blip r:embed="rId5"/>
            <a:stretch>
              <a:fillRect/>
            </a:stretch>
          </p:blipFill>
          <p:spPr>
            <a:xfrm>
              <a:off x="2880" y="2496"/>
              <a:ext cx="2496" cy="1588"/>
            </a:xfrm>
            <a:prstGeom prst="rect">
              <a:avLst/>
            </a:prstGeom>
            <a:noFill/>
            <a:ln w="28575" cap="flat" cmpd="sng">
              <a:solidFill>
                <a:srgbClr val="99CCFF"/>
              </a:solidFill>
              <a:prstDash val="solid"/>
              <a:miter/>
              <a:headEnd type="none" w="med" len="med"/>
              <a:tailEnd type="none" w="med" len="med"/>
            </a:ln>
          </p:spPr>
        </p:pic>
      </p:grpSp>
      <p:pic>
        <p:nvPicPr>
          <p:cNvPr id="11" name="内容占位符 1" descr="新校徽（3M）弓之乐"/>
          <p:cNvPicPr>
            <a:picLocks noChangeAspect="1"/>
          </p:cNvPicPr>
          <p:nvPr/>
        </p:nvPicPr>
        <p:blipFill>
          <a:blip r:embed="rId6"/>
          <a:stretch>
            <a:fillRect/>
          </a:stretch>
        </p:blipFill>
        <p:spPr>
          <a:xfrm>
            <a:off x="19685" y="3175"/>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wipe(left)">
                                      <p:cBhvr>
                                        <p:cTn id="7" dur="500"/>
                                        <p:tgtEl>
                                          <p:spTgt spid="921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267460" y="1676400"/>
            <a:ext cx="7495540" cy="1462405"/>
          </a:xfrm>
        </p:spPr>
        <p:txBody>
          <a:bodyPr/>
          <a:lstStyle/>
          <a:p>
            <a:pPr algn="ctr"/>
            <a:r>
              <a:rPr kumimoji="1" lang="zh-CN" altLang="en-US" sz="6000" b="1" noProof="0" dirty="0">
                <a:ln>
                  <a:noFill/>
                </a:ln>
                <a:solidFill>
                  <a:srgbClr val="FF0000"/>
                </a:solidFill>
                <a:uLnTx/>
                <a:uFillTx/>
                <a:ea typeface="华文中宋" panose="02010600040101010101" pitchFamily="2" charset="-122"/>
                <a:sym typeface="+mn-ea"/>
              </a:rPr>
              <a:t>三、同素异构转变</a:t>
            </a:r>
            <a:endParaRPr lang="zh-CN" altLang="en-US" sz="6000" dirty="0"/>
          </a:p>
        </p:txBody>
      </p:sp>
      <p:sp>
        <p:nvSpPr>
          <p:cNvPr id="5" name="日期占位符 1"/>
          <p:cNvSpPr txBox="1"/>
          <p:nvPr/>
        </p:nvSpPr>
        <p:spPr>
          <a:xfrm>
            <a:off x="19685" y="6529929"/>
            <a:ext cx="1905000" cy="342900"/>
          </a:xfrm>
          <a:prstGeom prst="rect">
            <a:avLst/>
          </a:prstGeom>
        </p:spPr>
        <p:txBody>
          <a:bodyPr wrap="square" lIns="91440" tIns="45720" rIns="91440" bIns="45720" anchor="b"/>
          <a:lstStyle>
            <a:defPPr>
              <a:defRPr lang="zh-CN"/>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9pPr>
          </a:lstStyle>
          <a:p>
            <a:fld id="{BB962C8B-B14F-4D97-AF65-F5344CB8AC3E}" type="datetime8">
              <a:rPr lang="en-US" altLang="zh-CN" sz="1400" smtClean="0"/>
              <a:t>11/20/2025 5:38 PM</a:t>
            </a:fld>
            <a:endParaRPr lang="en-US" altLang="zh-CN" sz="1400" dirty="0"/>
          </a:p>
        </p:txBody>
      </p:sp>
      <p:sp>
        <p:nvSpPr>
          <p:cNvPr id="6" name="灯片编号占位符 3"/>
          <p:cNvSpPr txBox="1"/>
          <p:nvPr/>
        </p:nvSpPr>
        <p:spPr bwMode="auto">
          <a:xfrm>
            <a:off x="8316416" y="6529928"/>
            <a:ext cx="630734" cy="328072"/>
          </a:xfrm>
          <a:prstGeom prst="rect">
            <a:avLst/>
          </a:prstGeom>
          <a:noFill/>
          <a:ln w="9525">
            <a:noFill/>
            <a:miter lim="800000"/>
          </a:ln>
          <a:effectLst/>
        </p:spPr>
        <p:txBody>
          <a:bodyPr vert="horz" wrap="square" lIns="91440" tIns="45720" rIns="91440" bIns="45720" numCol="1" anchor="b" anchorCtr="0" compatLnSpc="1"/>
          <a:ls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9pPr>
          </a:lstStyle>
          <a:p>
            <a:pPr algn="r"/>
            <a:fld id="{9A0DB2DC-4C9A-4742-B13C-FB6460FD3503}" type="slidenum">
              <a:rPr lang="en-US" altLang="zh-CN" sz="1400" noProof="1" smtClean="0">
                <a:cs typeface="+mn-ea"/>
              </a:rPr>
              <a:t>28</a:t>
            </a:fld>
            <a:endParaRPr lang="en-US" altLang="zh-CN" sz="1400" dirty="0"/>
          </a:p>
        </p:txBody>
      </p:sp>
      <p:sp>
        <p:nvSpPr>
          <p:cNvPr id="3" name="文本框 2"/>
          <p:cNvSpPr txBox="1"/>
          <p:nvPr/>
        </p:nvSpPr>
        <p:spPr>
          <a:xfrm>
            <a:off x="434975" y="3429000"/>
            <a:ext cx="8328025" cy="922020"/>
          </a:xfrm>
          <a:prstGeom prst="rect">
            <a:avLst/>
          </a:prstGeom>
        </p:spPr>
        <p:txBody>
          <a:bodyPr wrap="square">
            <a:spAutoFit/>
          </a:bodyPr>
          <a:lstStyle/>
          <a:p>
            <a:pPr marL="0" indent="0" algn="ctr"/>
            <a:r>
              <a:rPr lang="en-GB" altLang="zh-CN" sz="5400" b="1" i="1" kern="0" dirty="0">
                <a:solidFill>
                  <a:srgbClr val="FF0000"/>
                </a:solidFill>
                <a:effectLst/>
                <a:latin typeface="Times New Roman" panose="02020603050405020304" pitchFamily="18" charset="0"/>
                <a:ea typeface="微软雅黑" panose="020B0503020204020204" charset="-122"/>
                <a:cs typeface="Times New Roman" panose="02020603050405020304" pitchFamily="18" charset="0"/>
                <a:sym typeface="+mn-ea"/>
              </a:rPr>
              <a:t>I</a:t>
            </a:r>
            <a:r>
              <a:rPr lang="en-GB" altLang="zh-CN" sz="5400" b="1" i="1" dirty="0">
                <a:solidFill>
                  <a:srgbClr val="FF0000"/>
                </a:solidFill>
                <a:effectLst/>
                <a:latin typeface="Times New Roman" panose="02020603050405020304" pitchFamily="18" charset="0"/>
                <a:ea typeface="微软雅黑" panose="020B0503020204020204" charset="-122"/>
                <a:cs typeface="Times New Roman" panose="02020603050405020304" pitchFamily="18" charset="0"/>
                <a:sym typeface="+mn-ea"/>
              </a:rPr>
              <a:t>someric transition</a:t>
            </a:r>
            <a:endParaRPr lang="en-GB" altLang="zh-CN" sz="5400" b="1" i="1" kern="0" dirty="0">
              <a:solidFill>
                <a:srgbClr val="FF0000"/>
              </a:solidFill>
              <a:latin typeface="Times New Roman" panose="02020603050405020304" pitchFamily="18" charset="0"/>
              <a:ea typeface="+mj-ea"/>
              <a:cs typeface="Times New Roman" panose="02020603050405020304" pitchFamily="18" charset="0"/>
            </a:endParaRPr>
          </a:p>
        </p:txBody>
      </p:sp>
      <p:pic>
        <p:nvPicPr>
          <p:cNvPr id="4"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264" t="15784" r="3206" b="19580"/>
          <a:stretch>
            <a:fillRect/>
          </a:stretch>
        </p:blipFill>
        <p:spPr bwMode="auto">
          <a:xfrm>
            <a:off x="0" y="0"/>
            <a:ext cx="2372995" cy="582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日期占位符 3"/>
          <p:cNvSpPr txBox="1">
            <a:spLocks noGrp="1"/>
          </p:cNvSpPr>
          <p:nvPr>
            <p:ph type="dt" sz="half" idx="10"/>
          </p:nvPr>
        </p:nvSpPr>
        <p:spPr>
          <a:xfrm>
            <a:off x="0" y="6510655"/>
            <a:ext cx="2308860" cy="34734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40963" name="灯片编号占位符 5"/>
          <p:cNvSpPr txBox="1">
            <a:spLocks noGrp="1"/>
          </p:cNvSpPr>
          <p:nvPr>
            <p:ph type="sldNum" sz="quarter" idx="12"/>
          </p:nvPr>
        </p:nvSpPr>
        <p:spPr/>
        <p:txBody>
          <a:bodyPr lIns="92075" tIns="46038" rIns="92075" bIns="46038" anchor="ctr"/>
          <a:lstStyle/>
          <a:p>
            <a:pPr algn="r" eaLnBrk="1" hangingPunct="1"/>
            <a:fld id="{9A0DB2DC-4C9A-4742-B13C-FB6460FD3503}" type="slidenum">
              <a:rPr lang="en-US" altLang="zh-CN" sz="1400" dirty="0"/>
              <a:t>29</a:t>
            </a:fld>
            <a:endParaRPr lang="en-US" altLang="zh-CN" sz="1400" dirty="0"/>
          </a:p>
        </p:txBody>
      </p:sp>
      <p:sp>
        <p:nvSpPr>
          <p:cNvPr id="181250" name="Rectangle 2"/>
          <p:cNvSpPr>
            <a:spLocks noGrp="1" noChangeArrowheads="1"/>
          </p:cNvSpPr>
          <p:nvPr>
            <p:ph type="title"/>
          </p:nvPr>
        </p:nvSpPr>
        <p:spPr>
          <a:xfrm>
            <a:off x="1497330" y="116205"/>
            <a:ext cx="6885305" cy="144272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三、同素异构转变</a:t>
            </a:r>
            <a:b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br>
            <a:r>
              <a:rPr lang="en-GB" altLang="zh-CN" b="1" i="1" dirty="0">
                <a:solidFill>
                  <a:srgbClr val="FF0000"/>
                </a:solidFill>
                <a:effectLst/>
                <a:latin typeface="Times New Roman" panose="02020603050405020304" pitchFamily="18" charset="0"/>
                <a:ea typeface="微软雅黑" panose="020B0503020204020204" charset="-122"/>
                <a:cs typeface="Times New Roman" panose="02020603050405020304" pitchFamily="18" charset="0"/>
                <a:sym typeface="+mn-ea"/>
              </a:rPr>
              <a:t>Isomeric transition</a:t>
            </a:r>
            <a:endPar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endParaRPr>
          </a:p>
        </p:txBody>
      </p:sp>
      <p:sp>
        <p:nvSpPr>
          <p:cNvPr id="40965" name="Rectangle 3"/>
          <p:cNvSpPr>
            <a:spLocks noGrp="1"/>
          </p:cNvSpPr>
          <p:nvPr>
            <p:ph idx="1"/>
          </p:nvPr>
        </p:nvSpPr>
        <p:spPr>
          <a:xfrm>
            <a:off x="540543" y="1819276"/>
            <a:ext cx="8062913" cy="4881562"/>
          </a:xfrm>
        </p:spPr>
        <p:txBody>
          <a:bodyPr vert="horz" wrap="square" lIns="91440" tIns="45720" rIns="91440" bIns="45720" anchor="t"/>
          <a:lstStyle/>
          <a:p>
            <a:pPr eaLnBrk="1" hangingPunct="1"/>
            <a:r>
              <a:rPr lang="zh-CN" altLang="en-US" b="1" dirty="0">
                <a:solidFill>
                  <a:schemeClr val="tx2"/>
                </a:solidFill>
              </a:rPr>
              <a:t>同素异</a:t>
            </a:r>
            <a:r>
              <a:rPr lang="zh-CN" altLang="en-US" b="1" dirty="0">
                <a:solidFill>
                  <a:schemeClr val="tx2"/>
                </a:solidFill>
                <a:ea typeface="华文中宋" panose="02010600040101010101" pitchFamily="2" charset="-122"/>
              </a:rPr>
              <a:t>构转变：</a:t>
            </a:r>
            <a:r>
              <a:rPr lang="zh-CN" altLang="en-US" b="1" dirty="0">
                <a:solidFill>
                  <a:schemeClr val="folHlink"/>
                </a:solidFill>
              </a:rPr>
              <a:t>物质在</a:t>
            </a:r>
            <a:r>
              <a:rPr lang="zh-CN" altLang="en-US" b="1" dirty="0">
                <a:solidFill>
                  <a:srgbClr val="FF0000"/>
                </a:solidFill>
              </a:rPr>
              <a:t>固态下</a:t>
            </a:r>
            <a:r>
              <a:rPr lang="zh-CN" altLang="en-US" b="1" kern="1200" dirty="0">
                <a:solidFill>
                  <a:srgbClr val="0066FF"/>
                </a:solidFill>
                <a:latin typeface="华文中宋" panose="02010600040101010101" pitchFamily="2" charset="-122"/>
                <a:ea typeface="华文中宋" panose="02010600040101010101" pitchFamily="2" charset="-122"/>
              </a:rPr>
              <a:t>晶体结构</a:t>
            </a:r>
            <a:r>
              <a:rPr lang="zh-CN" altLang="en-US" b="1" dirty="0">
                <a:solidFill>
                  <a:schemeClr val="folHlink"/>
                </a:solidFill>
              </a:rPr>
              <a:t>随</a:t>
            </a:r>
            <a:r>
              <a:rPr lang="zh-CN" altLang="en-US" b="1" dirty="0">
                <a:solidFill>
                  <a:srgbClr val="FF0000"/>
                </a:solidFill>
              </a:rPr>
              <a:t>温度</a:t>
            </a:r>
            <a:r>
              <a:rPr lang="zh-CN" altLang="en-US" b="1" dirty="0">
                <a:solidFill>
                  <a:schemeClr val="folHlink"/>
                </a:solidFill>
              </a:rPr>
              <a:t>变化的现象</a:t>
            </a:r>
            <a:r>
              <a:rPr lang="zh-CN" altLang="en-US" b="1" dirty="0">
                <a:solidFill>
                  <a:schemeClr val="folHlink"/>
                </a:solidFill>
                <a:ea typeface="华文中宋" panose="02010600040101010101" pitchFamily="2" charset="-122"/>
              </a:rPr>
              <a:t>。</a:t>
            </a:r>
            <a:endParaRPr lang="zh-CN" altLang="en-US" b="1" dirty="0">
              <a:solidFill>
                <a:srgbClr val="FF0000"/>
              </a:solidFill>
            </a:endParaRPr>
          </a:p>
          <a:p>
            <a:pPr eaLnBrk="1" hangingPunct="1"/>
            <a:r>
              <a:rPr lang="zh-CN" altLang="en-US" b="1" dirty="0">
                <a:ea typeface="华文中宋" panose="02010600040101010101" pitchFamily="2" charset="-122"/>
              </a:rPr>
              <a:t>同素异构转变也</a:t>
            </a:r>
            <a:r>
              <a:rPr lang="zh-CN" altLang="en-US" b="1" dirty="0">
                <a:solidFill>
                  <a:schemeClr val="folHlink"/>
                </a:solidFill>
              </a:rPr>
              <a:t>遵循形核、长大的规律</a:t>
            </a:r>
            <a:r>
              <a:rPr lang="zh-CN" altLang="en-US" b="1" dirty="0">
                <a:ea typeface="华文中宋" panose="02010600040101010101" pitchFamily="2" charset="-122"/>
              </a:rPr>
              <a:t>。</a:t>
            </a:r>
            <a:endParaRPr lang="en-US" altLang="zh-CN" b="1" dirty="0">
              <a:ea typeface="华文中宋" panose="02010600040101010101" pitchFamily="2" charset="-122"/>
            </a:endParaRPr>
          </a:p>
          <a:p>
            <a:pPr eaLnBrk="1" hangingPunct="1"/>
            <a:r>
              <a:rPr lang="zh-CN" altLang="en-US" b="1" dirty="0">
                <a:ea typeface="华文中宋" panose="02010600040101010101" pitchFamily="2" charset="-122"/>
              </a:rPr>
              <a:t>同素异构转变属于</a:t>
            </a:r>
            <a:r>
              <a:rPr lang="zh-CN" altLang="en-US" b="1" dirty="0">
                <a:solidFill>
                  <a:schemeClr val="folHlink"/>
                </a:solidFill>
              </a:rPr>
              <a:t>固态相变</a:t>
            </a:r>
            <a:r>
              <a:rPr lang="zh-CN" altLang="en-US" b="1" dirty="0">
                <a:solidFill>
                  <a:srgbClr val="66FF99"/>
                </a:solidFill>
                <a:ea typeface="华文中宋" panose="02010600040101010101" pitchFamily="2" charset="-122"/>
              </a:rPr>
              <a:t>（</a:t>
            </a:r>
            <a:r>
              <a:rPr lang="zh-CN" altLang="en-US" b="1" dirty="0">
                <a:ea typeface="华文中宋" panose="02010600040101010101" pitchFamily="2" charset="-122"/>
              </a:rPr>
              <a:t>相变之一</a:t>
            </a:r>
            <a:r>
              <a:rPr lang="zh-CN" altLang="en-US" b="1" dirty="0">
                <a:solidFill>
                  <a:srgbClr val="66FF99"/>
                </a:solidFill>
                <a:ea typeface="华文中宋" panose="02010600040101010101" pitchFamily="2" charset="-122"/>
              </a:rPr>
              <a:t>）</a:t>
            </a:r>
            <a:r>
              <a:rPr lang="zh-CN" altLang="en-US" b="1" dirty="0">
                <a:ea typeface="华文中宋" panose="02010600040101010101" pitchFamily="2" charset="-122"/>
              </a:rPr>
              <a:t>。</a:t>
            </a:r>
          </a:p>
          <a:p>
            <a:pPr eaLnBrk="1" hangingPunct="1"/>
            <a:r>
              <a:rPr lang="zh-CN" altLang="en-US" b="1" dirty="0">
                <a:ea typeface="华文中宋" panose="02010600040101010101" pitchFamily="2" charset="-122"/>
              </a:rPr>
              <a:t>存在同素异构转变的金属：</a:t>
            </a:r>
            <a:r>
              <a:rPr lang="zh-CN" altLang="en-US" b="1" dirty="0">
                <a:solidFill>
                  <a:schemeClr val="folHlink"/>
                </a:solidFill>
              </a:rPr>
              <a:t>锡、铁、钛、钴、锰</a:t>
            </a:r>
            <a:r>
              <a:rPr lang="en-US" altLang="zh-CN" b="1" dirty="0">
                <a:ea typeface="华文中宋" panose="02010600040101010101" pitchFamily="2" charset="-122"/>
              </a:rPr>
              <a:t>……</a:t>
            </a:r>
          </a:p>
        </p:txBody>
      </p:sp>
      <p:grpSp>
        <p:nvGrpSpPr>
          <p:cNvPr id="2" name="Group 4"/>
          <p:cNvGrpSpPr/>
          <p:nvPr/>
        </p:nvGrpSpPr>
        <p:grpSpPr>
          <a:xfrm>
            <a:off x="773258" y="5257800"/>
            <a:ext cx="3657600" cy="609600"/>
            <a:chOff x="432" y="1750"/>
            <a:chExt cx="2304" cy="384"/>
          </a:xfrm>
        </p:grpSpPr>
        <p:sp>
          <p:nvSpPr>
            <p:cNvPr id="40971" name="Rectangle 5"/>
            <p:cNvSpPr/>
            <p:nvPr/>
          </p:nvSpPr>
          <p:spPr>
            <a:xfrm>
              <a:off x="432" y="1798"/>
              <a:ext cx="2304" cy="336"/>
            </a:xfrm>
            <a:prstGeom prst="rect">
              <a:avLst/>
            </a:prstGeom>
            <a:solidFill>
              <a:srgbClr val="FF0000"/>
            </a:solidFill>
            <a:ln w="9525">
              <a:noFill/>
            </a:ln>
          </p:spPr>
          <p:txBody>
            <a:bodyPr wrap="none" anchor="ctr"/>
            <a:lstStyle/>
            <a:p>
              <a:pPr lvl="0" algn="ctr" eaLnBrk="1" hangingPunct="1"/>
              <a:r>
                <a:rPr lang="zh-CN" altLang="en-US" sz="2800" b="1" dirty="0">
                  <a:solidFill>
                    <a:schemeClr val="bg1"/>
                  </a:solidFill>
                  <a:latin typeface="Times New Roman" panose="02020603050405020304" pitchFamily="18" charset="0"/>
                  <a:ea typeface="华文中宋" panose="02010600040101010101" pitchFamily="2" charset="-122"/>
                </a:rPr>
                <a:t>白锡</a:t>
              </a:r>
              <a:r>
                <a:rPr lang="zh-CN" altLang="en-US" sz="2800" b="1" baseline="-25000" dirty="0">
                  <a:solidFill>
                    <a:schemeClr val="bg1"/>
                  </a:solidFill>
                  <a:latin typeface="Times New Roman" panose="02020603050405020304" pitchFamily="18" charset="0"/>
                  <a:ea typeface="华文中宋" panose="02010600040101010101" pitchFamily="2" charset="-122"/>
                </a:rPr>
                <a:t>四方  </a:t>
              </a:r>
              <a:r>
                <a:rPr lang="zh-CN" altLang="en-US" sz="2800" b="1" dirty="0">
                  <a:solidFill>
                    <a:schemeClr val="bg1"/>
                  </a:solidFill>
                  <a:latin typeface="Times New Roman" panose="02020603050405020304" pitchFamily="18" charset="0"/>
                  <a:ea typeface="Arial Unicode MS" panose="020B0604020202020204" charset="-122"/>
                </a:rPr>
                <a:t>⇌  </a:t>
              </a:r>
              <a:r>
                <a:rPr lang="zh-CN" altLang="en-US" sz="2800" b="1" dirty="0">
                  <a:solidFill>
                    <a:schemeClr val="bg1"/>
                  </a:solidFill>
                  <a:latin typeface="Times New Roman" panose="02020603050405020304" pitchFamily="18" charset="0"/>
                  <a:ea typeface="华文中宋" panose="02010600040101010101" pitchFamily="2" charset="-122"/>
                </a:rPr>
                <a:t>灰锡</a:t>
              </a:r>
              <a:r>
                <a:rPr lang="zh-CN" altLang="en-US" sz="2800" b="1" baseline="-25000" dirty="0">
                  <a:solidFill>
                    <a:schemeClr val="bg1"/>
                  </a:solidFill>
                  <a:latin typeface="Times New Roman" panose="02020603050405020304" pitchFamily="18" charset="0"/>
                  <a:ea typeface="华文中宋" panose="02010600040101010101" pitchFamily="2" charset="-122"/>
                </a:rPr>
                <a:t>金刚石立方</a:t>
              </a:r>
            </a:p>
          </p:txBody>
        </p:sp>
        <p:sp>
          <p:nvSpPr>
            <p:cNvPr id="40972" name="Text Box 6"/>
            <p:cNvSpPr txBox="1"/>
            <p:nvPr/>
          </p:nvSpPr>
          <p:spPr>
            <a:xfrm>
              <a:off x="1141" y="1750"/>
              <a:ext cx="432" cy="231"/>
            </a:xfrm>
            <a:prstGeom prst="rect">
              <a:avLst/>
            </a:prstGeom>
            <a:noFill/>
            <a:ln w="9525">
              <a:noFill/>
            </a:ln>
          </p:spPr>
          <p:txBody>
            <a:bodyPr>
              <a:spAutoFit/>
            </a:bodyPr>
            <a:lstStyle/>
            <a:p>
              <a:pPr lvl="0" eaLnBrk="1" hangingPunct="1">
                <a:spcBef>
                  <a:spcPct val="50000"/>
                </a:spcBef>
              </a:pPr>
              <a:r>
                <a:rPr lang="en-US" altLang="zh-CN" sz="1800" b="1" dirty="0">
                  <a:solidFill>
                    <a:schemeClr val="bg1"/>
                  </a:solidFill>
                  <a:latin typeface="Times New Roman" panose="02020603050405020304" pitchFamily="18" charset="0"/>
                  <a:ea typeface="宋体" panose="02010600030101010101" pitchFamily="2" charset="-122"/>
                </a:rPr>
                <a:t>13℃</a:t>
              </a:r>
            </a:p>
          </p:txBody>
        </p:sp>
      </p:grpSp>
      <p:grpSp>
        <p:nvGrpSpPr>
          <p:cNvPr id="40967" name="Group 9"/>
          <p:cNvGrpSpPr/>
          <p:nvPr/>
        </p:nvGrpSpPr>
        <p:grpSpPr>
          <a:xfrm>
            <a:off x="5646464" y="4581525"/>
            <a:ext cx="2811736" cy="2247360"/>
            <a:chOff x="479" y="1888"/>
            <a:chExt cx="2184" cy="2040"/>
          </a:xfrm>
        </p:grpSpPr>
        <p:pic>
          <p:nvPicPr>
            <p:cNvPr id="40969" name="Picture 10" descr="Appearance of Sn-0"/>
            <p:cNvPicPr>
              <a:picLocks noChangeAspect="1"/>
            </p:cNvPicPr>
            <p:nvPr/>
          </p:nvPicPr>
          <p:blipFill>
            <a:blip r:embed="rId2"/>
            <a:stretch>
              <a:fillRect/>
            </a:stretch>
          </p:blipFill>
          <p:spPr>
            <a:xfrm>
              <a:off x="479" y="1888"/>
              <a:ext cx="2120" cy="2040"/>
            </a:xfrm>
            <a:prstGeom prst="rect">
              <a:avLst/>
            </a:prstGeom>
            <a:noFill/>
            <a:ln w="38100">
              <a:noFill/>
            </a:ln>
          </p:spPr>
        </p:pic>
        <p:sp>
          <p:nvSpPr>
            <p:cNvPr id="40970" name="Text Box 11"/>
            <p:cNvSpPr txBox="1"/>
            <p:nvPr/>
          </p:nvSpPr>
          <p:spPr>
            <a:xfrm>
              <a:off x="2335" y="1900"/>
              <a:ext cx="328" cy="480"/>
            </a:xfrm>
            <a:prstGeom prst="rect">
              <a:avLst/>
            </a:prstGeom>
            <a:noFill/>
            <a:ln w="9525">
              <a:noFill/>
            </a:ln>
          </p:spPr>
          <p:txBody>
            <a:bodyPr vert="eaVert">
              <a:spAutoFit/>
            </a:bodyPr>
            <a:lstStyle/>
            <a:p>
              <a:pPr lvl="0" eaLnBrk="1" hangingPunct="1">
                <a:spcBef>
                  <a:spcPct val="50000"/>
                </a:spcBef>
              </a:pPr>
              <a:r>
                <a:rPr lang="zh-CN" altLang="en-US" sz="2000" b="1" dirty="0">
                  <a:solidFill>
                    <a:srgbClr val="663300"/>
                  </a:solidFill>
                  <a:latin typeface="Times New Roman" panose="02020603050405020304" pitchFamily="18" charset="0"/>
                  <a:ea typeface="宋体" panose="02010600030101010101" pitchFamily="2" charset="-122"/>
                </a:rPr>
                <a:t>锡疫</a:t>
              </a:r>
            </a:p>
          </p:txBody>
        </p:sp>
      </p:grpSp>
      <p:pic>
        <p:nvPicPr>
          <p:cNvPr id="13" name="内容占位符 1" descr="新校徽（3M）弓之乐"/>
          <p:cNvPicPr>
            <a:picLocks noChangeAspect="1"/>
          </p:cNvPicPr>
          <p:nvPr/>
        </p:nvPicPr>
        <p:blipFill>
          <a:blip r:embed="rId3"/>
          <a:stretch>
            <a:fillRect/>
          </a:stretch>
        </p:blipFill>
        <p:spPr>
          <a:xfrm>
            <a:off x="19685" y="3175"/>
            <a:ext cx="746760" cy="735965"/>
          </a:xfrm>
          <a:prstGeom prst="rect">
            <a:avLst/>
          </a:prstGeom>
          <a:noFill/>
          <a:ln w="9525">
            <a:noFill/>
          </a:ln>
        </p:spPr>
      </p:pic>
      <p:sp>
        <p:nvSpPr>
          <p:cNvPr id="5" name="圆角矩形 6" descr="7b0a202020202262756c6c6574223a20227b5c2263617465676f727949645c223a31303032352c5c2274656d706c61746549645c223a32303233313437347d220a7d0a"/>
          <p:cNvSpPr/>
          <p:nvPr/>
        </p:nvSpPr>
        <p:spPr>
          <a:xfrm>
            <a:off x="971550" y="1855470"/>
            <a:ext cx="2403475" cy="480060"/>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28575" cmpd="dbl">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800" b="1" dirty="0">
                <a:solidFill>
                  <a:srgbClr val="0066FF"/>
                </a:solidFill>
                <a:latin typeface="华文中宋" panose="02010600040101010101" pitchFamily="2" charset="-122"/>
                <a:ea typeface="华文中宋" panose="02010600040101010101" pitchFamily="2" charset="-122"/>
                <a:sym typeface="+mn-ea"/>
              </a:rPr>
              <a:t>同素异构转变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日期占位符 3"/>
          <p:cNvSpPr txBox="1">
            <a:spLocks noGrp="1"/>
          </p:cNvSpPr>
          <p:nvPr>
            <p:ph type="dt" sz="half" idx="10"/>
          </p:nvPr>
        </p:nvSpPr>
        <p:spPr>
          <a:xfrm>
            <a:off x="0" y="6536690"/>
            <a:ext cx="2274570" cy="34734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41987" name="灯片编号占位符 5"/>
          <p:cNvSpPr txBox="1">
            <a:spLocks noGrp="1"/>
          </p:cNvSpPr>
          <p:nvPr>
            <p:ph type="sldNum" sz="quarter" idx="12"/>
          </p:nvPr>
        </p:nvSpPr>
        <p:spPr>
          <a:xfrm>
            <a:off x="8585835" y="6562725"/>
            <a:ext cx="561340" cy="321310"/>
          </a:xfrm>
        </p:spPr>
        <p:txBody>
          <a:bodyPr lIns="92075" tIns="46038" rIns="92075" bIns="46038" anchor="ctr"/>
          <a:lstStyle/>
          <a:p>
            <a:pPr algn="r" eaLnBrk="1" hangingPunct="1"/>
            <a:fld id="{9A0DB2DC-4C9A-4742-B13C-FB6460FD3503}" type="slidenum">
              <a:rPr lang="en-US" altLang="zh-CN" sz="1400" dirty="0"/>
              <a:t>30</a:t>
            </a:fld>
            <a:endParaRPr lang="en-US" altLang="zh-CN" sz="1400" dirty="0"/>
          </a:p>
        </p:txBody>
      </p:sp>
      <p:sp>
        <p:nvSpPr>
          <p:cNvPr id="18434" name="Rectangle 2"/>
          <p:cNvSpPr>
            <a:spLocks noGrp="1" noChangeArrowheads="1"/>
          </p:cNvSpPr>
          <p:nvPr>
            <p:ph type="title"/>
          </p:nvPr>
        </p:nvSpPr>
        <p:spPr>
          <a:xfrm>
            <a:off x="2195513" y="101600"/>
            <a:ext cx="6626225" cy="739775"/>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1</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、铁的同素异构转变</a:t>
            </a:r>
          </a:p>
        </p:txBody>
      </p:sp>
      <p:grpSp>
        <p:nvGrpSpPr>
          <p:cNvPr id="2" name="Group 13"/>
          <p:cNvGrpSpPr/>
          <p:nvPr/>
        </p:nvGrpSpPr>
        <p:grpSpPr>
          <a:xfrm>
            <a:off x="252377" y="3776662"/>
            <a:ext cx="4495800" cy="747713"/>
            <a:chOff x="576" y="2496"/>
            <a:chExt cx="2832" cy="471"/>
          </a:xfrm>
        </p:grpSpPr>
        <p:grpSp>
          <p:nvGrpSpPr>
            <p:cNvPr id="41998" name="Group 10"/>
            <p:cNvGrpSpPr/>
            <p:nvPr/>
          </p:nvGrpSpPr>
          <p:grpSpPr>
            <a:xfrm>
              <a:off x="1056" y="2496"/>
              <a:ext cx="1488" cy="260"/>
              <a:chOff x="1056" y="2496"/>
              <a:chExt cx="1488" cy="260"/>
            </a:xfrm>
          </p:grpSpPr>
          <p:sp>
            <p:nvSpPr>
              <p:cNvPr id="42000" name="Text Box 6"/>
              <p:cNvSpPr txBox="1"/>
              <p:nvPr/>
            </p:nvSpPr>
            <p:spPr>
              <a:xfrm>
                <a:off x="1056" y="2506"/>
                <a:ext cx="720" cy="250"/>
              </a:xfrm>
              <a:prstGeom prst="rect">
                <a:avLst/>
              </a:prstGeom>
              <a:noFill/>
              <a:ln w="9525">
                <a:noFill/>
              </a:ln>
            </p:spPr>
            <p:txBody>
              <a:bodyPr>
                <a:spAutoFit/>
              </a:bodyPr>
              <a:lstStyle/>
              <a:p>
                <a:pPr lvl="0" eaLnBrk="1" hangingPunct="1">
                  <a:spcBef>
                    <a:spcPct val="50000"/>
                  </a:spcBef>
                </a:pPr>
                <a:r>
                  <a:rPr lang="en-US" altLang="zh-CN" sz="2000" b="1" dirty="0">
                    <a:solidFill>
                      <a:schemeClr val="folHlink"/>
                    </a:solidFill>
                    <a:latin typeface="Times New Roman" panose="02020603050405020304" pitchFamily="18" charset="0"/>
                    <a:ea typeface="宋体" panose="02010600030101010101" pitchFamily="2" charset="-122"/>
                  </a:rPr>
                  <a:t>1394</a:t>
                </a:r>
                <a:r>
                  <a:rPr lang="en-US" altLang="zh-CN" sz="2000" b="1" dirty="0">
                    <a:solidFill>
                      <a:schemeClr val="folHlink"/>
                    </a:solidFill>
                    <a:latin typeface="Times New Roman" panose="02020603050405020304" pitchFamily="18" charset="0"/>
                    <a:ea typeface="MingLiU" panose="02020509000000000000" pitchFamily="49" charset="-120"/>
                  </a:rPr>
                  <a:t>℃</a:t>
                </a:r>
                <a:endParaRPr lang="en-US" altLang="zh-CN" sz="2000" b="1" dirty="0">
                  <a:solidFill>
                    <a:schemeClr val="folHlink"/>
                  </a:solidFill>
                  <a:latin typeface="Times New Roman" panose="02020603050405020304" pitchFamily="18" charset="0"/>
                  <a:ea typeface="宋体" panose="02010600030101010101" pitchFamily="2" charset="-122"/>
                </a:endParaRPr>
              </a:p>
            </p:txBody>
          </p:sp>
          <p:sp>
            <p:nvSpPr>
              <p:cNvPr id="42001" name="Text Box 7"/>
              <p:cNvSpPr txBox="1"/>
              <p:nvPr/>
            </p:nvSpPr>
            <p:spPr>
              <a:xfrm>
                <a:off x="1968" y="2496"/>
                <a:ext cx="576" cy="250"/>
              </a:xfrm>
              <a:prstGeom prst="rect">
                <a:avLst/>
              </a:prstGeom>
              <a:noFill/>
              <a:ln w="9525">
                <a:noFill/>
              </a:ln>
            </p:spPr>
            <p:txBody>
              <a:bodyPr>
                <a:spAutoFit/>
              </a:bodyPr>
              <a:lstStyle/>
              <a:p>
                <a:pPr lvl="0" eaLnBrk="1" hangingPunct="1">
                  <a:spcBef>
                    <a:spcPct val="50000"/>
                  </a:spcBef>
                </a:pPr>
                <a:r>
                  <a:rPr lang="en-US" altLang="zh-CN" sz="2000" b="1" dirty="0">
                    <a:solidFill>
                      <a:schemeClr val="folHlink"/>
                    </a:solidFill>
                    <a:latin typeface="Times New Roman" panose="02020603050405020304" pitchFamily="18" charset="0"/>
                    <a:ea typeface="宋体" panose="02010600030101010101" pitchFamily="2" charset="-122"/>
                  </a:rPr>
                  <a:t>912</a:t>
                </a:r>
                <a:r>
                  <a:rPr lang="en-US" altLang="zh-CN" sz="2000" b="1" dirty="0">
                    <a:solidFill>
                      <a:schemeClr val="folHlink"/>
                    </a:solidFill>
                    <a:latin typeface="Times New Roman" panose="02020603050405020304" pitchFamily="18" charset="0"/>
                    <a:ea typeface="MingLiU" panose="02020509000000000000" pitchFamily="49" charset="-120"/>
                  </a:rPr>
                  <a:t>℃</a:t>
                </a:r>
                <a:endParaRPr lang="en-US" altLang="zh-CN" sz="2000" b="1" dirty="0">
                  <a:solidFill>
                    <a:schemeClr val="folHlink"/>
                  </a:solidFill>
                  <a:latin typeface="Times New Roman" panose="02020603050405020304" pitchFamily="18" charset="0"/>
                  <a:ea typeface="宋体" panose="02010600030101010101" pitchFamily="2" charset="-122"/>
                </a:endParaRPr>
              </a:p>
            </p:txBody>
          </p:sp>
        </p:grpSp>
        <p:sp>
          <p:nvSpPr>
            <p:cNvPr id="41999" name="Text Box 12"/>
            <p:cNvSpPr txBox="1"/>
            <p:nvPr/>
          </p:nvSpPr>
          <p:spPr>
            <a:xfrm>
              <a:off x="576" y="2640"/>
              <a:ext cx="2832" cy="327"/>
            </a:xfrm>
            <a:prstGeom prst="rect">
              <a:avLst/>
            </a:prstGeom>
            <a:noFill/>
            <a:ln w="9525">
              <a:noFill/>
            </a:ln>
          </p:spPr>
          <p:txBody>
            <a:bodyPr>
              <a:spAutoFit/>
            </a:bodyPr>
            <a:lstStyle/>
            <a:p>
              <a:pPr lvl="0" eaLnBrk="1" hangingPunct="1">
                <a:spcBef>
                  <a:spcPct val="50000"/>
                </a:spcBef>
              </a:pPr>
              <a:r>
                <a:rPr lang="en-US" altLang="zh-CN" sz="2800" b="1" dirty="0">
                  <a:solidFill>
                    <a:schemeClr val="folHlink"/>
                  </a:solidFill>
                  <a:latin typeface="Times New Roman" panose="02020603050405020304" pitchFamily="18" charset="0"/>
                  <a:ea typeface="楷体_GB2312" pitchFamily="49" charset="-122"/>
                  <a:sym typeface="Symbol" panose="05050102010706020507" pitchFamily="18" charset="2"/>
                </a:rPr>
                <a:t>-Fe   </a:t>
              </a:r>
              <a:r>
                <a:rPr lang="en-US" altLang="zh-CN" sz="2800" b="1" dirty="0">
                  <a:solidFill>
                    <a:schemeClr val="folHlink"/>
                  </a:solidFill>
                  <a:latin typeface="Times New Roman" panose="02020603050405020304" pitchFamily="18" charset="0"/>
                  <a:ea typeface="Arial Unicode MS" panose="020B0604020202020204" charset="-122"/>
                </a:rPr>
                <a:t>⇌</a:t>
              </a:r>
              <a:r>
                <a:rPr lang="en-US" altLang="zh-CN" sz="2800" b="1" dirty="0">
                  <a:solidFill>
                    <a:schemeClr val="folHlink"/>
                  </a:solidFill>
                  <a:latin typeface="Times New Roman" panose="02020603050405020304" pitchFamily="18" charset="0"/>
                  <a:ea typeface="Arial Unicode MS" panose="020B0604020202020204" charset="-122"/>
                  <a:sym typeface="Symbol" panose="05050102010706020507" pitchFamily="18" charset="2"/>
                </a:rPr>
                <a:t>   </a:t>
              </a:r>
              <a:r>
                <a:rPr lang="en-US" altLang="zh-CN" sz="2800" b="1" dirty="0">
                  <a:solidFill>
                    <a:schemeClr val="folHlink"/>
                  </a:solidFill>
                  <a:latin typeface="Times New Roman" panose="02020603050405020304" pitchFamily="18" charset="0"/>
                  <a:ea typeface="楷体_GB2312" pitchFamily="49" charset="-122"/>
                  <a:sym typeface="Symbol" panose="05050102010706020507" pitchFamily="18" charset="2"/>
                </a:rPr>
                <a:t>-Fe   </a:t>
              </a:r>
              <a:r>
                <a:rPr lang="en-US" altLang="zh-CN" sz="2800" b="1" dirty="0">
                  <a:solidFill>
                    <a:schemeClr val="folHlink"/>
                  </a:solidFill>
                  <a:latin typeface="Times New Roman" panose="02020603050405020304" pitchFamily="18" charset="0"/>
                  <a:ea typeface="Arial Unicode MS" panose="020B0604020202020204" charset="-122"/>
                </a:rPr>
                <a:t>⇌  </a:t>
              </a:r>
              <a:r>
                <a:rPr lang="en-US" altLang="zh-CN" sz="2800" b="1" dirty="0">
                  <a:solidFill>
                    <a:schemeClr val="folHlink"/>
                  </a:solidFill>
                  <a:latin typeface="Times New Roman" panose="02020603050405020304" pitchFamily="18" charset="0"/>
                  <a:ea typeface="楷体_GB2312" pitchFamily="49" charset="-122"/>
                  <a:sym typeface="Symbol" panose="05050102010706020507" pitchFamily="18" charset="2"/>
                </a:rPr>
                <a:t> -Fe</a:t>
              </a:r>
            </a:p>
          </p:txBody>
        </p:sp>
      </p:grpSp>
      <p:sp>
        <p:nvSpPr>
          <p:cNvPr id="18449" name="Rectangle 17"/>
          <p:cNvSpPr/>
          <p:nvPr/>
        </p:nvSpPr>
        <p:spPr>
          <a:xfrm>
            <a:off x="127635" y="1113790"/>
            <a:ext cx="8458200" cy="1143000"/>
          </a:xfrm>
          <a:prstGeom prst="rect">
            <a:avLst/>
          </a:prstGeom>
          <a:noFill/>
          <a:ln w="9525">
            <a:noFill/>
          </a:ln>
        </p:spPr>
        <p:txBody>
          <a:bodyPr/>
          <a:lstStyle/>
          <a:p>
            <a:pPr marL="342900" lvl="0" indent="-342900" eaLnBrk="1" hangingPunct="1">
              <a:spcBef>
                <a:spcPct val="20000"/>
              </a:spcBef>
              <a:buClr>
                <a:schemeClr val="accent2"/>
              </a:buClr>
              <a:buSzPct val="80000"/>
              <a:buFont typeface="Wingdings" panose="05000000000000000000" pitchFamily="2" charset="2"/>
              <a:buChar char="l"/>
            </a:pPr>
            <a:endParaRPr lang="zh-CN" altLang="zh-CN" sz="2800" b="1" dirty="0">
              <a:solidFill>
                <a:schemeClr val="tx2"/>
              </a:solidFill>
              <a:latin typeface="Times New Roman" panose="02020603050405020304" pitchFamily="18" charset="0"/>
              <a:ea typeface="华文中宋" panose="02010600040101010101" pitchFamily="2" charset="-122"/>
            </a:endParaRPr>
          </a:p>
        </p:txBody>
      </p:sp>
      <p:grpSp>
        <p:nvGrpSpPr>
          <p:cNvPr id="4" name="Group 19"/>
          <p:cNvGrpSpPr>
            <a:grpSpLocks noChangeAspect="1"/>
          </p:cNvGrpSpPr>
          <p:nvPr/>
        </p:nvGrpSpPr>
        <p:grpSpPr>
          <a:xfrm>
            <a:off x="6732270" y="2924810"/>
            <a:ext cx="2340492" cy="3515899"/>
            <a:chOff x="3600" y="1668"/>
            <a:chExt cx="1855" cy="2786"/>
          </a:xfrm>
        </p:grpSpPr>
        <p:pic>
          <p:nvPicPr>
            <p:cNvPr id="41996" name="Picture 9" descr="纯铁固态转变"/>
            <p:cNvPicPr>
              <a:picLocks noChangeAspect="1"/>
            </p:cNvPicPr>
            <p:nvPr/>
          </p:nvPicPr>
          <p:blipFill>
            <a:blip r:embed="rId2"/>
            <a:stretch>
              <a:fillRect/>
            </a:stretch>
          </p:blipFill>
          <p:spPr>
            <a:xfrm>
              <a:off x="3600" y="1668"/>
              <a:ext cx="1764" cy="2494"/>
            </a:xfrm>
            <a:prstGeom prst="rect">
              <a:avLst/>
            </a:prstGeom>
            <a:noFill/>
            <a:ln w="28575" cap="flat" cmpd="sng">
              <a:solidFill>
                <a:srgbClr val="FF9900"/>
              </a:solidFill>
              <a:prstDash val="solid"/>
              <a:miter/>
              <a:headEnd type="none" w="med" len="med"/>
              <a:tailEnd type="none" w="med" len="med"/>
            </a:ln>
          </p:spPr>
        </p:pic>
        <p:sp>
          <p:nvSpPr>
            <p:cNvPr id="41997" name="Text Box 18"/>
            <p:cNvSpPr txBox="1">
              <a:spLocks noChangeAspect="1"/>
            </p:cNvSpPr>
            <p:nvPr/>
          </p:nvSpPr>
          <p:spPr>
            <a:xfrm>
              <a:off x="3600" y="4162"/>
              <a:ext cx="1855" cy="292"/>
            </a:xfrm>
            <a:prstGeom prst="rect">
              <a:avLst/>
            </a:prstGeom>
            <a:noFill/>
            <a:ln w="28575">
              <a:noFill/>
            </a:ln>
          </p:spPr>
          <p:txBody>
            <a:bodyPr wrap="square">
              <a:spAutoFit/>
            </a:bodyPr>
            <a:lstStyle/>
            <a:p>
              <a:pPr lvl="0" algn="r" eaLnBrk="1" hangingPunct="1">
                <a:spcBef>
                  <a:spcPct val="50000"/>
                </a:spcBef>
              </a:pPr>
              <a:r>
                <a:rPr lang="zh-CN" altLang="en-US" sz="1800" b="1" dirty="0">
                  <a:solidFill>
                    <a:srgbClr val="0000FF"/>
                  </a:solidFill>
                  <a:latin typeface="Times New Roman" panose="02020603050405020304" pitchFamily="18" charset="0"/>
                  <a:ea typeface="华文中宋" panose="02010600040101010101" pitchFamily="2" charset="-122"/>
                </a:rPr>
                <a:t>纯铁的同素异构转变</a:t>
              </a:r>
            </a:p>
          </p:txBody>
        </p:sp>
      </p:grpSp>
      <p:sp>
        <p:nvSpPr>
          <p:cNvPr id="18452" name="Rectangle 20"/>
          <p:cNvSpPr/>
          <p:nvPr/>
        </p:nvSpPr>
        <p:spPr>
          <a:xfrm>
            <a:off x="538803" y="1917346"/>
            <a:ext cx="7073690" cy="1303140"/>
          </a:xfrm>
          <a:prstGeom prst="rect">
            <a:avLst/>
          </a:prstGeom>
          <a:noFill/>
          <a:ln w="9525">
            <a:noFill/>
          </a:ln>
        </p:spPr>
        <p:txBody>
          <a:bodyPr/>
          <a:lstStyle/>
          <a:p>
            <a:pPr marL="342900" lvl="0" indent="-342900" eaLnBrk="1" hangingPunct="1">
              <a:lnSpc>
                <a:spcPct val="130000"/>
              </a:lnSpc>
              <a:spcBef>
                <a:spcPct val="20000"/>
              </a:spcBef>
              <a:buClr>
                <a:schemeClr val="accent2"/>
              </a:buClr>
              <a:buSzPct val="80000"/>
              <a:buFont typeface="Wingdings" panose="05000000000000000000" pitchFamily="2" charset="2"/>
              <a:buChar char="l"/>
            </a:pPr>
            <a:r>
              <a:rPr lang="zh-CN" altLang="en-US" sz="3200" b="1" dirty="0">
                <a:latin typeface="Times New Roman" panose="02020603050405020304" pitchFamily="18" charset="0"/>
                <a:ea typeface="华文中宋" panose="02010600040101010101" pitchFamily="2" charset="-122"/>
              </a:rPr>
              <a:t>铁在固态冷却过程中有两次晶体结构变化，其变化为：</a:t>
            </a:r>
          </a:p>
        </p:txBody>
      </p:sp>
      <p:pic>
        <p:nvPicPr>
          <p:cNvPr id="41994" name="Picture 24" descr="〈工程材料〉图3-9"/>
          <p:cNvPicPr>
            <a:picLocks noChangeAspect="1"/>
          </p:cNvPicPr>
          <p:nvPr/>
        </p:nvPicPr>
        <p:blipFill>
          <a:blip r:embed="rId3"/>
          <a:stretch>
            <a:fillRect/>
          </a:stretch>
        </p:blipFill>
        <p:spPr>
          <a:xfrm>
            <a:off x="4428490" y="2997200"/>
            <a:ext cx="2188845" cy="3507105"/>
          </a:xfrm>
          <a:prstGeom prst="rect">
            <a:avLst/>
          </a:prstGeom>
          <a:noFill/>
          <a:ln w="9525">
            <a:noFill/>
          </a:ln>
        </p:spPr>
      </p:pic>
      <p:pic>
        <p:nvPicPr>
          <p:cNvPr id="18" name="内容占位符 1" descr="新校徽（3M）弓之乐"/>
          <p:cNvPicPr>
            <a:picLocks noChangeAspect="1"/>
          </p:cNvPicPr>
          <p:nvPr/>
        </p:nvPicPr>
        <p:blipFill>
          <a:blip r:embed="rId4"/>
          <a:stretch>
            <a:fillRect/>
          </a:stretch>
        </p:blipFill>
        <p:spPr>
          <a:xfrm>
            <a:off x="19685" y="3175"/>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434"/>
                                        </p:tgtEl>
                                        <p:attrNameLst>
                                          <p:attrName>style.visibility</p:attrName>
                                        </p:attrNameLst>
                                      </p:cBhvr>
                                      <p:to>
                                        <p:strVal val="visible"/>
                                      </p:to>
                                    </p:set>
                                    <p:animEffect transition="in" filter="wipe(left)">
                                      <p:cBhvr>
                                        <p:cTn id="7" dur="500"/>
                                        <p:tgtEl>
                                          <p:spTgt spid="18434"/>
                                        </p:tgtEl>
                                      </p:cBhvr>
                                    </p:animEffect>
                                  </p:childTnLst>
                                </p:cTn>
                              </p:par>
                            </p:childTnLst>
                          </p:cTn>
                        </p:par>
                        <p:par>
                          <p:cTn id="8" fill="hold">
                            <p:stCondLst>
                              <p:cond delay="500"/>
                            </p:stCondLst>
                            <p:childTnLst>
                              <p:par>
                                <p:cTn id="9" presetID="22" presetClass="entr" presetSubtype="8" fill="hold" grpId="0" nodeType="afterEffect" nodePh="1">
                                  <p:stCondLst>
                                    <p:cond delay="0"/>
                                  </p:stCondLst>
                                  <p:endCondLst>
                                    <p:cond evt="begin" delay="0">
                                      <p:tn val="9"/>
                                    </p:cond>
                                  </p:endCondLst>
                                  <p:childTnLst>
                                    <p:set>
                                      <p:cBhvr>
                                        <p:cTn id="10" dur="1" fill="hold">
                                          <p:stCondLst>
                                            <p:cond delay="0"/>
                                          </p:stCondLst>
                                        </p:cTn>
                                        <p:tgtEl>
                                          <p:spTgt spid="18449"/>
                                        </p:tgtEl>
                                        <p:attrNameLst>
                                          <p:attrName>style.visibility</p:attrName>
                                        </p:attrNameLst>
                                      </p:cBhvr>
                                      <p:to>
                                        <p:strVal val="visible"/>
                                      </p:to>
                                    </p:set>
                                    <p:animEffect transition="in" filter="wipe(left)">
                                      <p:cBhvr>
                                        <p:cTn id="11" dur="500"/>
                                        <p:tgtEl>
                                          <p:spTgt spid="18449"/>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8452">
                                            <p:txEl>
                                              <p:pRg st="0" end="0"/>
                                            </p:txEl>
                                          </p:spTgt>
                                        </p:tgtEl>
                                        <p:attrNameLst>
                                          <p:attrName>style.visibility</p:attrName>
                                        </p:attrNameLst>
                                      </p:cBhvr>
                                      <p:to>
                                        <p:strVal val="visible"/>
                                      </p:to>
                                    </p:set>
                                    <p:animEffect transition="in" filter="wipe(left)">
                                      <p:cBhvr>
                                        <p:cTn id="15" dur="500"/>
                                        <p:tgtEl>
                                          <p:spTgt spid="18452">
                                            <p:txEl>
                                              <p:pRg st="0" end="0"/>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
                                        <p:tgtEl>
                                          <p:spTgt spid="2"/>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up)">
                                      <p:cBhvr>
                                        <p:cTn id="2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p:bldP spid="18449" grpId="0"/>
      <p:bldP spid="18452" grpId="0" build="p" advAuto="100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日期占位符 3"/>
          <p:cNvSpPr txBox="1">
            <a:spLocks noGrp="1"/>
          </p:cNvSpPr>
          <p:nvPr>
            <p:ph type="dt" sz="half" idx="10"/>
          </p:nvPr>
        </p:nvSpPr>
        <p:spPr>
          <a:xfrm>
            <a:off x="0" y="6543675"/>
            <a:ext cx="2338070" cy="36258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43011" name="灯片编号占位符 5"/>
          <p:cNvSpPr txBox="1">
            <a:spLocks noGrp="1"/>
          </p:cNvSpPr>
          <p:nvPr>
            <p:ph type="sldNum" sz="quarter" idx="12"/>
          </p:nvPr>
        </p:nvSpPr>
        <p:spPr>
          <a:xfrm>
            <a:off x="8686800" y="6649085"/>
            <a:ext cx="466725" cy="257175"/>
          </a:xfrm>
        </p:spPr>
        <p:txBody>
          <a:bodyPr lIns="92075" tIns="46038" rIns="92075" bIns="46038" anchor="ctr"/>
          <a:lstStyle/>
          <a:p>
            <a:pPr algn="r" eaLnBrk="1" hangingPunct="1"/>
            <a:fld id="{9A0DB2DC-4C9A-4742-B13C-FB6460FD3503}" type="slidenum">
              <a:rPr lang="en-US" altLang="zh-CN" sz="1400" dirty="0"/>
              <a:t>31</a:t>
            </a:fld>
            <a:endParaRPr lang="en-US" altLang="zh-CN" sz="1400" dirty="0"/>
          </a:p>
        </p:txBody>
      </p:sp>
      <p:sp>
        <p:nvSpPr>
          <p:cNvPr id="20483" name="Rectangle 3"/>
          <p:cNvSpPr>
            <a:spLocks noGrp="1"/>
          </p:cNvSpPr>
          <p:nvPr>
            <p:ph idx="1"/>
          </p:nvPr>
        </p:nvSpPr>
        <p:spPr>
          <a:xfrm>
            <a:off x="250825" y="1700808"/>
            <a:ext cx="5970905" cy="2760067"/>
          </a:xfrm>
        </p:spPr>
        <p:txBody>
          <a:bodyPr vert="horz" wrap="square" lIns="91440" tIns="45720" rIns="91440" bIns="45720" anchor="t"/>
          <a:lstStyle/>
          <a:p>
            <a:pPr eaLnBrk="1" hangingPunct="1">
              <a:lnSpc>
                <a:spcPct val="140000"/>
              </a:lnSpc>
            </a:pPr>
            <a:r>
              <a:rPr lang="en-US" altLang="zh-CN" b="1" dirty="0">
                <a:solidFill>
                  <a:schemeClr val="folHlink"/>
                </a:solidFill>
                <a:ea typeface="华文中宋" panose="02010600040101010101" pitchFamily="2" charset="-122"/>
                <a:sym typeface="Symbol" panose="05050102010706020507" pitchFamily="18" charset="2"/>
              </a:rPr>
              <a:t> -Fe</a:t>
            </a:r>
            <a:r>
              <a:rPr lang="zh-CN" altLang="en-US" b="1" dirty="0">
                <a:solidFill>
                  <a:schemeClr val="folHlink"/>
                </a:solidFill>
                <a:ea typeface="华文中宋" panose="02010600040101010101" pitchFamily="2" charset="-122"/>
                <a:sym typeface="Symbol" panose="05050102010706020507" pitchFamily="18" charset="2"/>
              </a:rPr>
              <a:t>、 </a:t>
            </a:r>
            <a:r>
              <a:rPr lang="en-US" altLang="zh-CN" b="1" dirty="0">
                <a:solidFill>
                  <a:schemeClr val="folHlink"/>
                </a:solidFill>
                <a:ea typeface="华文中宋" panose="02010600040101010101" pitchFamily="2" charset="-122"/>
                <a:sym typeface="Symbol" panose="05050102010706020507" pitchFamily="18" charset="2"/>
              </a:rPr>
              <a:t>-Fe </a:t>
            </a:r>
            <a:r>
              <a:rPr lang="zh-CN" altLang="en-US" b="1" dirty="0">
                <a:ea typeface="华文中宋" panose="02010600040101010101" pitchFamily="2" charset="-122"/>
                <a:sym typeface="Symbol" panose="05050102010706020507" pitchFamily="18" charset="2"/>
              </a:rPr>
              <a:t>为</a:t>
            </a:r>
            <a:r>
              <a:rPr lang="zh-CN" altLang="en-US" b="1" dirty="0">
                <a:solidFill>
                  <a:srgbClr val="0000FF"/>
                </a:solidFill>
                <a:ea typeface="华文中宋" panose="02010600040101010101" pitchFamily="2" charset="-122"/>
                <a:sym typeface="Symbol" panose="05050102010706020507" pitchFamily="18" charset="2"/>
              </a:rPr>
              <a:t>体心立方结构</a:t>
            </a:r>
            <a:r>
              <a:rPr lang="en-US" altLang="zh-CN" b="1" dirty="0">
                <a:ea typeface="华文中宋" panose="02010600040101010101" pitchFamily="2" charset="-122"/>
                <a:sym typeface="Symbol" panose="05050102010706020507" pitchFamily="18" charset="2"/>
              </a:rPr>
              <a:t>(</a:t>
            </a:r>
            <a:r>
              <a:rPr lang="en-US" altLang="zh-CN" b="1" dirty="0">
                <a:solidFill>
                  <a:schemeClr val="folHlink"/>
                </a:solidFill>
                <a:ea typeface="华文中宋" panose="02010600040101010101" pitchFamily="2" charset="-122"/>
                <a:sym typeface="Symbol" panose="05050102010706020507" pitchFamily="18" charset="2"/>
              </a:rPr>
              <a:t>BCC)</a:t>
            </a:r>
            <a:r>
              <a:rPr lang="zh-CN" altLang="en-US" b="1" dirty="0">
                <a:ea typeface="华文中宋" panose="02010600040101010101" pitchFamily="2" charset="-122"/>
                <a:sym typeface="Symbol" panose="05050102010706020507" pitchFamily="18" charset="2"/>
              </a:rPr>
              <a:t>，</a:t>
            </a:r>
            <a:r>
              <a:rPr lang="zh-CN" altLang="en-US" b="1" dirty="0">
                <a:solidFill>
                  <a:schemeClr val="folHlink"/>
                </a:solidFill>
                <a:ea typeface="华文中宋" panose="02010600040101010101" pitchFamily="2" charset="-122"/>
                <a:sym typeface="Symbol" panose="05050102010706020507" pitchFamily="18" charset="2"/>
              </a:rPr>
              <a:t></a:t>
            </a:r>
            <a:r>
              <a:rPr lang="en-US" altLang="zh-CN" b="1" dirty="0">
                <a:solidFill>
                  <a:schemeClr val="folHlink"/>
                </a:solidFill>
                <a:ea typeface="华文中宋" panose="02010600040101010101" pitchFamily="2" charset="-122"/>
                <a:sym typeface="Symbol" panose="05050102010706020507" pitchFamily="18" charset="2"/>
              </a:rPr>
              <a:t>-Fe</a:t>
            </a:r>
            <a:r>
              <a:rPr lang="zh-CN" altLang="en-US" b="1" dirty="0">
                <a:ea typeface="华文中宋" panose="02010600040101010101" pitchFamily="2" charset="-122"/>
                <a:sym typeface="Symbol" panose="05050102010706020507" pitchFamily="18" charset="2"/>
              </a:rPr>
              <a:t>为</a:t>
            </a:r>
            <a:r>
              <a:rPr lang="zh-CN" altLang="en-US" b="1" dirty="0">
                <a:solidFill>
                  <a:srgbClr val="0000FF"/>
                </a:solidFill>
                <a:ea typeface="华文中宋" panose="02010600040101010101" pitchFamily="2" charset="-122"/>
                <a:sym typeface="Symbol" panose="05050102010706020507" pitchFamily="18" charset="2"/>
              </a:rPr>
              <a:t>面心立方结构</a:t>
            </a:r>
            <a:r>
              <a:rPr lang="en-US" altLang="zh-CN" b="1" dirty="0">
                <a:ea typeface="华文中宋" panose="02010600040101010101" pitchFamily="2" charset="-122"/>
                <a:sym typeface="Symbol" panose="05050102010706020507" pitchFamily="18" charset="2"/>
              </a:rPr>
              <a:t>(</a:t>
            </a:r>
            <a:r>
              <a:rPr lang="en-US" altLang="zh-CN" b="1" dirty="0">
                <a:solidFill>
                  <a:schemeClr val="folHlink"/>
                </a:solidFill>
                <a:ea typeface="华文中宋" panose="02010600040101010101" pitchFamily="2" charset="-122"/>
                <a:sym typeface="Symbol" panose="05050102010706020507" pitchFamily="18" charset="2"/>
              </a:rPr>
              <a:t>FCC)</a:t>
            </a:r>
            <a:r>
              <a:rPr lang="zh-CN" altLang="en-US" b="1" dirty="0">
                <a:ea typeface="华文中宋" panose="02010600040101010101" pitchFamily="2" charset="-122"/>
                <a:sym typeface="Symbol" panose="05050102010706020507" pitchFamily="18" charset="2"/>
              </a:rPr>
              <a:t>。都是铁的</a:t>
            </a:r>
            <a:r>
              <a:rPr lang="zh-CN" altLang="en-US" b="1" dirty="0">
                <a:solidFill>
                  <a:schemeClr val="folHlink"/>
                </a:solidFill>
                <a:ea typeface="华文中宋" panose="02010600040101010101" pitchFamily="2" charset="-122"/>
                <a:sym typeface="Symbol" panose="05050102010706020507" pitchFamily="18" charset="2"/>
              </a:rPr>
              <a:t>同素异构体</a:t>
            </a:r>
            <a:r>
              <a:rPr lang="en-US" altLang="zh-CN" b="1" dirty="0">
                <a:ea typeface="华文中宋" panose="02010600040101010101" pitchFamily="2" charset="-122"/>
                <a:sym typeface="Symbol" panose="05050102010706020507" pitchFamily="18" charset="2"/>
              </a:rPr>
              <a:t>.</a:t>
            </a:r>
          </a:p>
        </p:txBody>
      </p:sp>
      <p:grpSp>
        <p:nvGrpSpPr>
          <p:cNvPr id="2" name="Group 20"/>
          <p:cNvGrpSpPr/>
          <p:nvPr/>
        </p:nvGrpSpPr>
        <p:grpSpPr>
          <a:xfrm>
            <a:off x="6331675" y="1282318"/>
            <a:ext cx="2564764" cy="5339217"/>
            <a:chOff x="3648" y="336"/>
            <a:chExt cx="1771" cy="3686"/>
          </a:xfrm>
        </p:grpSpPr>
        <p:pic>
          <p:nvPicPr>
            <p:cNvPr id="43026" name="Picture 4" descr="austenite奥氏体组织2"/>
            <p:cNvPicPr>
              <a:picLocks noChangeAspect="1"/>
            </p:cNvPicPr>
            <p:nvPr/>
          </p:nvPicPr>
          <p:blipFill>
            <a:blip r:embed="rId2"/>
            <a:stretch>
              <a:fillRect/>
            </a:stretch>
          </p:blipFill>
          <p:spPr>
            <a:xfrm>
              <a:off x="3696" y="2208"/>
              <a:ext cx="1723" cy="1768"/>
            </a:xfrm>
            <a:prstGeom prst="rect">
              <a:avLst/>
            </a:prstGeom>
            <a:noFill/>
            <a:ln w="38100" cap="flat" cmpd="sng">
              <a:solidFill>
                <a:srgbClr val="FF9900"/>
              </a:solidFill>
              <a:prstDash val="solid"/>
              <a:miter/>
              <a:headEnd type="none" w="med" len="med"/>
              <a:tailEnd type="none" w="med" len="med"/>
            </a:ln>
          </p:spPr>
        </p:pic>
        <p:pic>
          <p:nvPicPr>
            <p:cNvPr id="43027" name="Picture 5" descr="ferrite1铁素体组织"/>
            <p:cNvPicPr>
              <a:picLocks noChangeAspect="1"/>
            </p:cNvPicPr>
            <p:nvPr/>
          </p:nvPicPr>
          <p:blipFill>
            <a:blip r:embed="rId3"/>
            <a:stretch>
              <a:fillRect/>
            </a:stretch>
          </p:blipFill>
          <p:spPr>
            <a:xfrm>
              <a:off x="3696" y="336"/>
              <a:ext cx="1723" cy="1795"/>
            </a:xfrm>
            <a:prstGeom prst="rect">
              <a:avLst/>
            </a:prstGeom>
            <a:noFill/>
            <a:ln w="38100" cap="flat" cmpd="sng">
              <a:solidFill>
                <a:srgbClr val="FF9900"/>
              </a:solidFill>
              <a:prstDash val="solid"/>
              <a:miter/>
              <a:headEnd type="none" w="med" len="med"/>
              <a:tailEnd type="none" w="med" len="med"/>
            </a:ln>
          </p:spPr>
        </p:pic>
        <p:sp>
          <p:nvSpPr>
            <p:cNvPr id="43028" name="Text Box 6"/>
            <p:cNvSpPr txBox="1"/>
            <p:nvPr/>
          </p:nvSpPr>
          <p:spPr>
            <a:xfrm>
              <a:off x="3648" y="1894"/>
              <a:ext cx="705" cy="319"/>
            </a:xfrm>
            <a:prstGeom prst="rect">
              <a:avLst/>
            </a:prstGeom>
            <a:noFill/>
            <a:ln w="38100">
              <a:noFill/>
            </a:ln>
          </p:spPr>
          <p:txBody>
            <a:bodyPr wrap="square">
              <a:spAutoFit/>
            </a:bodyPr>
            <a:lstStyle/>
            <a:p>
              <a:pPr lvl="0" eaLnBrk="1" hangingPunct="1">
                <a:spcBef>
                  <a:spcPct val="50000"/>
                </a:spcBef>
              </a:pPr>
              <a:r>
                <a:rPr lang="en-US" altLang="zh-CN" sz="2400" b="1" dirty="0">
                  <a:solidFill>
                    <a:srgbClr val="990033"/>
                  </a:solidFill>
                  <a:latin typeface="Times New Roman" panose="02020603050405020304" pitchFamily="18" charset="0"/>
                  <a:ea typeface="仿宋_GB2312" pitchFamily="49" charset="-122"/>
                  <a:sym typeface="Symbol" panose="05050102010706020507" pitchFamily="18" charset="2"/>
                </a:rPr>
                <a:t>-Fe</a:t>
              </a:r>
            </a:p>
          </p:txBody>
        </p:sp>
        <p:sp>
          <p:nvSpPr>
            <p:cNvPr id="43029" name="Text Box 7"/>
            <p:cNvSpPr txBox="1"/>
            <p:nvPr/>
          </p:nvSpPr>
          <p:spPr>
            <a:xfrm>
              <a:off x="3648" y="3703"/>
              <a:ext cx="601" cy="319"/>
            </a:xfrm>
            <a:prstGeom prst="rect">
              <a:avLst/>
            </a:prstGeom>
            <a:noFill/>
            <a:ln w="38100">
              <a:noFill/>
            </a:ln>
          </p:spPr>
          <p:txBody>
            <a:bodyPr wrap="square">
              <a:spAutoFit/>
            </a:bodyPr>
            <a:lstStyle/>
            <a:p>
              <a:pPr lvl="0" eaLnBrk="1" hangingPunct="1">
                <a:spcBef>
                  <a:spcPct val="50000"/>
                </a:spcBef>
              </a:pPr>
              <a:r>
                <a:rPr lang="en-US" altLang="zh-CN" sz="2400" b="1" dirty="0">
                  <a:solidFill>
                    <a:srgbClr val="990033"/>
                  </a:solidFill>
                  <a:latin typeface="Times New Roman" panose="02020603050405020304" pitchFamily="18" charset="0"/>
                  <a:ea typeface="仿宋_GB2312" pitchFamily="49" charset="-122"/>
                  <a:sym typeface="Symbol" panose="05050102010706020507" pitchFamily="18" charset="2"/>
                </a:rPr>
                <a:t>-Fe</a:t>
              </a:r>
            </a:p>
          </p:txBody>
        </p:sp>
      </p:grpSp>
      <p:grpSp>
        <p:nvGrpSpPr>
          <p:cNvPr id="3" name="Group 21"/>
          <p:cNvGrpSpPr/>
          <p:nvPr/>
        </p:nvGrpSpPr>
        <p:grpSpPr>
          <a:xfrm>
            <a:off x="1259632" y="3729085"/>
            <a:ext cx="4886846" cy="3135902"/>
            <a:chOff x="197" y="1680"/>
            <a:chExt cx="3271" cy="2323"/>
          </a:xfrm>
        </p:grpSpPr>
        <p:pic>
          <p:nvPicPr>
            <p:cNvPr id="43017" name="Picture 10" descr="bcc"/>
            <p:cNvPicPr>
              <a:picLocks noChangeAspect="1"/>
            </p:cNvPicPr>
            <p:nvPr/>
          </p:nvPicPr>
          <p:blipFill>
            <a:blip r:embed="rId4"/>
            <a:stretch>
              <a:fillRect/>
            </a:stretch>
          </p:blipFill>
          <p:spPr>
            <a:xfrm>
              <a:off x="1925" y="2208"/>
              <a:ext cx="1543" cy="1383"/>
            </a:xfrm>
            <a:prstGeom prst="rect">
              <a:avLst/>
            </a:prstGeom>
            <a:noFill/>
            <a:ln w="28575" cap="flat" cmpd="sng">
              <a:solidFill>
                <a:srgbClr val="FF00FF"/>
              </a:solidFill>
              <a:prstDash val="solid"/>
              <a:miter/>
              <a:headEnd type="none" w="med" len="med"/>
              <a:tailEnd type="none" w="med" len="med"/>
            </a:ln>
          </p:spPr>
        </p:pic>
        <p:pic>
          <p:nvPicPr>
            <p:cNvPr id="43018" name="Picture 11" descr="fcc"/>
            <p:cNvPicPr>
              <a:picLocks noChangeAspect="1"/>
            </p:cNvPicPr>
            <p:nvPr/>
          </p:nvPicPr>
          <p:blipFill>
            <a:blip r:embed="rId5"/>
            <a:stretch>
              <a:fillRect/>
            </a:stretch>
          </p:blipFill>
          <p:spPr>
            <a:xfrm>
              <a:off x="197" y="2208"/>
              <a:ext cx="1509" cy="1383"/>
            </a:xfrm>
            <a:prstGeom prst="rect">
              <a:avLst/>
            </a:prstGeom>
            <a:noFill/>
            <a:ln w="28575" cap="flat" cmpd="sng">
              <a:solidFill>
                <a:srgbClr val="FF00FF"/>
              </a:solidFill>
              <a:prstDash val="solid"/>
              <a:miter/>
              <a:headEnd type="none" w="med" len="med"/>
              <a:tailEnd type="none" w="med" len="med"/>
            </a:ln>
          </p:spPr>
        </p:pic>
        <p:sp>
          <p:nvSpPr>
            <p:cNvPr id="43019" name="Text Box 12"/>
            <p:cNvSpPr txBox="1"/>
            <p:nvPr/>
          </p:nvSpPr>
          <p:spPr>
            <a:xfrm>
              <a:off x="773" y="1824"/>
              <a:ext cx="576" cy="327"/>
            </a:xfrm>
            <a:prstGeom prst="rect">
              <a:avLst/>
            </a:prstGeom>
            <a:noFill/>
            <a:ln w="9525">
              <a:noFill/>
            </a:ln>
          </p:spPr>
          <p:txBody>
            <a:bodyPr>
              <a:spAutoFit/>
            </a:bodyPr>
            <a:lstStyle/>
            <a:p>
              <a:pPr lvl="0" algn="ctr" eaLnBrk="1" hangingPunct="1">
                <a:spcBef>
                  <a:spcPct val="50000"/>
                </a:spcBef>
              </a:pPr>
              <a:r>
                <a:rPr lang="en-US" altLang="zh-CN" sz="2800" b="1" dirty="0">
                  <a:solidFill>
                    <a:schemeClr val="folHlink"/>
                  </a:solidFill>
                  <a:latin typeface="Times New Roman" panose="02020603050405020304" pitchFamily="18" charset="0"/>
                  <a:ea typeface="仿宋_GB2312" pitchFamily="49" charset="-122"/>
                  <a:sym typeface="Symbol" panose="05050102010706020507" pitchFamily="18" charset="2"/>
                </a:rPr>
                <a:t>-Fe</a:t>
              </a:r>
            </a:p>
          </p:txBody>
        </p:sp>
        <p:sp>
          <p:nvSpPr>
            <p:cNvPr id="43020" name="Text Box 13"/>
            <p:cNvSpPr txBox="1"/>
            <p:nvPr/>
          </p:nvSpPr>
          <p:spPr>
            <a:xfrm>
              <a:off x="2453" y="1861"/>
              <a:ext cx="624" cy="327"/>
            </a:xfrm>
            <a:prstGeom prst="rect">
              <a:avLst/>
            </a:prstGeom>
            <a:noFill/>
            <a:ln w="38100">
              <a:noFill/>
            </a:ln>
          </p:spPr>
          <p:txBody>
            <a:bodyPr>
              <a:spAutoFit/>
            </a:bodyPr>
            <a:lstStyle/>
            <a:p>
              <a:pPr lvl="0" algn="ctr" eaLnBrk="1" hangingPunct="1">
                <a:spcBef>
                  <a:spcPct val="50000"/>
                </a:spcBef>
              </a:pPr>
              <a:r>
                <a:rPr lang="en-US" altLang="zh-CN" sz="2800" b="1" dirty="0">
                  <a:solidFill>
                    <a:schemeClr val="folHlink"/>
                  </a:solidFill>
                  <a:latin typeface="Times New Roman" panose="02020603050405020304" pitchFamily="18" charset="0"/>
                  <a:ea typeface="仿宋_GB2312" pitchFamily="49" charset="-122"/>
                  <a:sym typeface="Symbol" panose="05050102010706020507" pitchFamily="18" charset="2"/>
                </a:rPr>
                <a:t>-Fe</a:t>
              </a:r>
            </a:p>
          </p:txBody>
        </p:sp>
        <p:sp>
          <p:nvSpPr>
            <p:cNvPr id="43021" name="Line 14"/>
            <p:cNvSpPr/>
            <p:nvPr/>
          </p:nvSpPr>
          <p:spPr>
            <a:xfrm>
              <a:off x="1445" y="2001"/>
              <a:ext cx="945" cy="0"/>
            </a:xfrm>
            <a:prstGeom prst="line">
              <a:avLst/>
            </a:prstGeom>
            <a:ln w="19050" cap="flat" cmpd="sng">
              <a:solidFill>
                <a:schemeClr val="folHlink"/>
              </a:solidFill>
              <a:prstDash val="solid"/>
              <a:headEnd type="none" w="med" len="med"/>
              <a:tailEnd type="triangle" w="med" len="lg"/>
            </a:ln>
          </p:spPr>
        </p:sp>
        <p:sp>
          <p:nvSpPr>
            <p:cNvPr id="43022" name="Line 15"/>
            <p:cNvSpPr/>
            <p:nvPr/>
          </p:nvSpPr>
          <p:spPr>
            <a:xfrm flipH="1">
              <a:off x="1445" y="2075"/>
              <a:ext cx="945" cy="0"/>
            </a:xfrm>
            <a:prstGeom prst="line">
              <a:avLst/>
            </a:prstGeom>
            <a:ln w="19050" cap="flat" cmpd="sng">
              <a:solidFill>
                <a:schemeClr val="folHlink"/>
              </a:solidFill>
              <a:prstDash val="solid"/>
              <a:headEnd type="none" w="med" len="med"/>
              <a:tailEnd type="triangle" w="med" len="lg"/>
            </a:ln>
          </p:spPr>
        </p:sp>
        <p:sp>
          <p:nvSpPr>
            <p:cNvPr id="43023" name="Text Box 16"/>
            <p:cNvSpPr txBox="1"/>
            <p:nvPr/>
          </p:nvSpPr>
          <p:spPr>
            <a:xfrm>
              <a:off x="1589" y="1680"/>
              <a:ext cx="768" cy="327"/>
            </a:xfrm>
            <a:prstGeom prst="rect">
              <a:avLst/>
            </a:prstGeom>
            <a:noFill/>
            <a:ln w="9525">
              <a:noFill/>
            </a:ln>
          </p:spPr>
          <p:txBody>
            <a:bodyPr>
              <a:spAutoFit/>
            </a:bodyPr>
            <a:lstStyle/>
            <a:p>
              <a:pPr lvl="0" eaLnBrk="1" hangingPunct="1">
                <a:spcBef>
                  <a:spcPct val="50000"/>
                </a:spcBef>
              </a:pPr>
              <a:r>
                <a:rPr lang="en-US" altLang="zh-CN" sz="2800" b="1" dirty="0">
                  <a:solidFill>
                    <a:schemeClr val="folHlink"/>
                  </a:solidFill>
                  <a:latin typeface="Times New Roman" panose="02020603050405020304" pitchFamily="18" charset="0"/>
                  <a:ea typeface="宋体" panose="02010600030101010101" pitchFamily="2" charset="-122"/>
                </a:rPr>
                <a:t>912</a:t>
              </a:r>
              <a:r>
                <a:rPr lang="en-US" altLang="zh-CN" sz="2800" b="1" dirty="0">
                  <a:solidFill>
                    <a:schemeClr val="folHlink"/>
                  </a:solidFill>
                  <a:latin typeface="Times New Roman" panose="02020603050405020304" pitchFamily="18" charset="0"/>
                  <a:ea typeface="MingLiU" panose="02020509000000000000" pitchFamily="49" charset="-120"/>
                </a:rPr>
                <a:t>℃</a:t>
              </a:r>
            </a:p>
          </p:txBody>
        </p:sp>
        <p:sp>
          <p:nvSpPr>
            <p:cNvPr id="43024" name="Text Box 17"/>
            <p:cNvSpPr txBox="1"/>
            <p:nvPr/>
          </p:nvSpPr>
          <p:spPr>
            <a:xfrm>
              <a:off x="782" y="3615"/>
              <a:ext cx="624" cy="327"/>
            </a:xfrm>
            <a:prstGeom prst="rect">
              <a:avLst/>
            </a:prstGeom>
            <a:noFill/>
            <a:ln w="9525">
              <a:noFill/>
            </a:ln>
          </p:spPr>
          <p:txBody>
            <a:bodyPr>
              <a:spAutoFit/>
            </a:bodyPr>
            <a:lstStyle/>
            <a:p>
              <a:pPr lvl="0" algn="ctr" eaLnBrk="1" hangingPunct="1">
                <a:spcBef>
                  <a:spcPct val="50000"/>
                </a:spcBef>
              </a:pPr>
              <a:r>
                <a:rPr lang="en-US" altLang="zh-CN" sz="2800" b="1" dirty="0">
                  <a:latin typeface="Times New Roman" panose="02020603050405020304" pitchFamily="18" charset="0"/>
                  <a:ea typeface="宋体" panose="02010600030101010101" pitchFamily="2" charset="-122"/>
                </a:rPr>
                <a:t>FCC</a:t>
              </a:r>
            </a:p>
          </p:txBody>
        </p:sp>
        <p:sp>
          <p:nvSpPr>
            <p:cNvPr id="43025" name="Text Box 18"/>
            <p:cNvSpPr txBox="1"/>
            <p:nvPr/>
          </p:nvSpPr>
          <p:spPr>
            <a:xfrm>
              <a:off x="2453" y="3615"/>
              <a:ext cx="708" cy="388"/>
            </a:xfrm>
            <a:prstGeom prst="rect">
              <a:avLst/>
            </a:prstGeom>
            <a:noFill/>
            <a:ln w="9525">
              <a:noFill/>
            </a:ln>
          </p:spPr>
          <p:txBody>
            <a:bodyPr wrap="square">
              <a:spAutoFit/>
            </a:bodyPr>
            <a:lstStyle/>
            <a:p>
              <a:pPr lvl="0" algn="ctr" eaLnBrk="1" hangingPunct="1">
                <a:spcBef>
                  <a:spcPct val="50000"/>
                </a:spcBef>
              </a:pPr>
              <a:r>
                <a:rPr lang="en-US" altLang="zh-CN" sz="2800" b="1" dirty="0">
                  <a:latin typeface="Times New Roman" panose="02020603050405020304" pitchFamily="18" charset="0"/>
                  <a:ea typeface="宋体" panose="02010600030101010101" pitchFamily="2" charset="-122"/>
                </a:rPr>
                <a:t>BCC</a:t>
              </a:r>
            </a:p>
          </p:txBody>
        </p:sp>
      </p:grpSp>
      <p:sp>
        <p:nvSpPr>
          <p:cNvPr id="20503" name="Rectangle 23"/>
          <p:cNvSpPr>
            <a:spLocks noGrp="1" noChangeArrowheads="1"/>
          </p:cNvSpPr>
          <p:nvPr>
            <p:ph type="title"/>
          </p:nvPr>
        </p:nvSpPr>
        <p:spPr>
          <a:xfrm>
            <a:off x="971550" y="0"/>
            <a:ext cx="4814888"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铁的同素异构转变</a:t>
            </a:r>
          </a:p>
        </p:txBody>
      </p:sp>
      <p:pic>
        <p:nvPicPr>
          <p:cNvPr id="22" name="内容占位符 1" descr="新校徽（3M）弓之乐"/>
          <p:cNvPicPr>
            <a:picLocks noChangeAspect="1"/>
          </p:cNvPicPr>
          <p:nvPr/>
        </p:nvPicPr>
        <p:blipFill>
          <a:blip r:embed="rId6"/>
          <a:stretch>
            <a:fillRect/>
          </a:stretch>
        </p:blipFill>
        <p:spPr>
          <a:xfrm>
            <a:off x="19685" y="3175"/>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wipe(left)">
                                      <p:cBhvr>
                                        <p:cTn id="7" dur="500"/>
                                        <p:tgtEl>
                                          <p:spTgt spid="20483">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up)">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advAuto="100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日期占位符 3"/>
          <p:cNvSpPr txBox="1">
            <a:spLocks noGrp="1"/>
          </p:cNvSpPr>
          <p:nvPr>
            <p:ph type="dt" sz="half" idx="10"/>
          </p:nvPr>
        </p:nvSpPr>
        <p:spPr>
          <a:xfrm>
            <a:off x="0" y="6524625"/>
            <a:ext cx="2277745" cy="34734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44035" name="灯片编号占位符 5"/>
          <p:cNvSpPr txBox="1">
            <a:spLocks noGrp="1"/>
          </p:cNvSpPr>
          <p:nvPr>
            <p:ph type="sldNum" sz="quarter" idx="12"/>
          </p:nvPr>
        </p:nvSpPr>
        <p:spPr>
          <a:xfrm>
            <a:off x="8022590" y="6652895"/>
            <a:ext cx="572135" cy="257810"/>
          </a:xfrm>
        </p:spPr>
        <p:txBody>
          <a:bodyPr lIns="92075" tIns="46038" rIns="92075" bIns="46038" anchor="ctr"/>
          <a:lstStyle/>
          <a:p>
            <a:pPr algn="r" eaLnBrk="1" hangingPunct="1"/>
            <a:fld id="{9A0DB2DC-4C9A-4742-B13C-FB6460FD3503}" type="slidenum">
              <a:rPr lang="en-US" altLang="zh-CN" sz="1400" dirty="0"/>
              <a:t>32</a:t>
            </a:fld>
            <a:endParaRPr lang="en-US" altLang="zh-CN" sz="1400" dirty="0"/>
          </a:p>
        </p:txBody>
      </p:sp>
      <p:sp>
        <p:nvSpPr>
          <p:cNvPr id="276482" name="Rectangle 2"/>
          <p:cNvSpPr>
            <a:spLocks noGrp="1" noChangeArrowheads="1"/>
          </p:cNvSpPr>
          <p:nvPr>
            <p:ph type="title"/>
          </p:nvPr>
        </p:nvSpPr>
        <p:spPr>
          <a:xfrm>
            <a:off x="1043305" y="188595"/>
            <a:ext cx="6529705"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2</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、固态转变的特点</a:t>
            </a:r>
          </a:p>
        </p:txBody>
      </p:sp>
      <p:sp>
        <p:nvSpPr>
          <p:cNvPr id="44037" name="Rectangle 3"/>
          <p:cNvSpPr>
            <a:spLocks noGrp="1"/>
          </p:cNvSpPr>
          <p:nvPr>
            <p:ph idx="1"/>
          </p:nvPr>
        </p:nvSpPr>
        <p:spPr>
          <a:xfrm>
            <a:off x="153035" y="2072640"/>
            <a:ext cx="6286500" cy="4301490"/>
          </a:xfrm>
        </p:spPr>
        <p:txBody>
          <a:bodyPr vert="horz" wrap="square" lIns="91440" tIns="45720" rIns="91440" bIns="45720" anchor="t"/>
          <a:lstStyle/>
          <a:p>
            <a:pPr eaLnBrk="1" hangingPunct="1"/>
            <a:r>
              <a:rPr lang="zh-CN" altLang="en-US" b="1" dirty="0">
                <a:solidFill>
                  <a:srgbClr val="0000FF"/>
                </a:solidFill>
                <a:ea typeface="华文中宋" panose="02010600040101010101" pitchFamily="2" charset="-122"/>
              </a:rPr>
              <a:t>固态转变</a:t>
            </a:r>
            <a:r>
              <a:rPr lang="zh-CN" altLang="en-US" b="1" dirty="0">
                <a:ea typeface="华文中宋" panose="02010600040101010101" pitchFamily="2" charset="-122"/>
              </a:rPr>
              <a:t>又称</a:t>
            </a:r>
            <a:r>
              <a:rPr lang="zh-CN" altLang="en-US" b="1" dirty="0">
                <a:solidFill>
                  <a:srgbClr val="0000FF"/>
                </a:solidFill>
                <a:ea typeface="华文中宋" panose="02010600040101010101" pitchFamily="2" charset="-122"/>
              </a:rPr>
              <a:t>二次结晶</a:t>
            </a:r>
            <a:r>
              <a:rPr lang="zh-CN" altLang="en-US" b="1" dirty="0">
                <a:ea typeface="华文中宋" panose="02010600040101010101" pitchFamily="2" charset="-122"/>
              </a:rPr>
              <a:t>或</a:t>
            </a:r>
            <a:r>
              <a:rPr lang="zh-CN" altLang="en-US" b="1" dirty="0">
                <a:solidFill>
                  <a:srgbClr val="0000FF"/>
                </a:solidFill>
                <a:ea typeface="华文中宋" panose="02010600040101010101" pitchFamily="2" charset="-122"/>
              </a:rPr>
              <a:t>重结晶</a:t>
            </a:r>
            <a:endParaRPr lang="en-US" altLang="zh-CN" b="1" dirty="0">
              <a:solidFill>
                <a:srgbClr val="0000FF"/>
              </a:solidFill>
              <a:ea typeface="华文中宋" panose="02010600040101010101" pitchFamily="2" charset="-122"/>
            </a:endParaRPr>
          </a:p>
          <a:p>
            <a:pPr eaLnBrk="1" hangingPunct="1"/>
            <a:r>
              <a:rPr lang="en-US" altLang="zh-CN" b="1" dirty="0">
                <a:ea typeface="华文中宋" panose="02010600040101010101" pitchFamily="2" charset="-122"/>
              </a:rPr>
              <a:t>⑴ </a:t>
            </a:r>
            <a:r>
              <a:rPr lang="zh-CN" altLang="en-US" b="1" dirty="0">
                <a:solidFill>
                  <a:srgbClr val="0000FF"/>
                </a:solidFill>
                <a:ea typeface="华文中宋" panose="02010600040101010101" pitchFamily="2" charset="-122"/>
              </a:rPr>
              <a:t>形核</a:t>
            </a:r>
            <a:r>
              <a:rPr lang="zh-CN" altLang="en-US" b="1" dirty="0">
                <a:ea typeface="华文中宋" panose="02010600040101010101" pitchFamily="2" charset="-122"/>
              </a:rPr>
              <a:t>一般在某些</a:t>
            </a:r>
            <a:r>
              <a:rPr lang="zh-CN" altLang="en-US" b="1" dirty="0">
                <a:solidFill>
                  <a:srgbClr val="0000FF"/>
                </a:solidFill>
                <a:ea typeface="华文中宋" panose="02010600040101010101" pitchFamily="2" charset="-122"/>
              </a:rPr>
              <a:t>特定部位</a:t>
            </a:r>
            <a:r>
              <a:rPr lang="zh-CN" altLang="en-US" b="1" dirty="0">
                <a:ea typeface="华文中宋" panose="02010600040101010101" pitchFamily="2" charset="-122"/>
              </a:rPr>
              <a:t>发生</a:t>
            </a:r>
            <a:r>
              <a:rPr lang="en-US" altLang="zh-CN" b="1" dirty="0">
                <a:ea typeface="华文中宋" panose="02010600040101010101" pitchFamily="2" charset="-122"/>
              </a:rPr>
              <a:t>(</a:t>
            </a:r>
            <a:r>
              <a:rPr lang="zh-CN" altLang="en-US" b="1" dirty="0">
                <a:ea typeface="华文中宋" panose="02010600040101010101" pitchFamily="2" charset="-122"/>
              </a:rPr>
              <a:t>如</a:t>
            </a:r>
            <a:r>
              <a:rPr lang="zh-CN" altLang="en-US" b="1" dirty="0">
                <a:solidFill>
                  <a:srgbClr val="0000FF"/>
                </a:solidFill>
                <a:ea typeface="华文中宋" panose="02010600040101010101" pitchFamily="2" charset="-122"/>
              </a:rPr>
              <a:t>晶界</a:t>
            </a:r>
            <a:r>
              <a:rPr lang="zh-CN" altLang="en-US" b="1" dirty="0">
                <a:ea typeface="华文中宋" panose="02010600040101010101" pitchFamily="2" charset="-122"/>
              </a:rPr>
              <a:t>、</a:t>
            </a:r>
            <a:r>
              <a:rPr lang="zh-CN" altLang="en-US" b="1" dirty="0">
                <a:solidFill>
                  <a:srgbClr val="0000FF"/>
                </a:solidFill>
                <a:ea typeface="华文中宋" panose="02010600040101010101" pitchFamily="2" charset="-122"/>
              </a:rPr>
              <a:t>晶内缺陷</a:t>
            </a:r>
            <a:r>
              <a:rPr lang="zh-CN" altLang="en-US" b="1" dirty="0">
                <a:ea typeface="华文中宋" panose="02010600040101010101" pitchFamily="2" charset="-122"/>
              </a:rPr>
              <a:t>、</a:t>
            </a:r>
            <a:r>
              <a:rPr lang="zh-CN" altLang="en-US" b="1" dirty="0">
                <a:solidFill>
                  <a:srgbClr val="0000FF"/>
                </a:solidFill>
                <a:ea typeface="华文中宋" panose="02010600040101010101" pitchFamily="2" charset="-122"/>
              </a:rPr>
              <a:t>特定晶面</a:t>
            </a:r>
            <a:r>
              <a:rPr lang="zh-CN" altLang="en-US" b="1" dirty="0">
                <a:ea typeface="华文中宋" panose="02010600040101010101" pitchFamily="2" charset="-122"/>
              </a:rPr>
              <a:t>等</a:t>
            </a:r>
            <a:r>
              <a:rPr lang="en-US" altLang="zh-CN" b="1" dirty="0">
                <a:ea typeface="华文中宋" panose="02010600040101010101" pitchFamily="2" charset="-122"/>
              </a:rPr>
              <a:t>)</a:t>
            </a:r>
            <a:r>
              <a:rPr lang="zh-CN" altLang="en-US" b="1" dirty="0">
                <a:ea typeface="华文中宋" panose="02010600040101010101" pitchFamily="2" charset="-122"/>
              </a:rPr>
              <a:t>。</a:t>
            </a:r>
          </a:p>
          <a:p>
            <a:pPr eaLnBrk="1" hangingPunct="1"/>
            <a:r>
              <a:rPr lang="zh-CN" altLang="en-US" b="1" dirty="0"/>
              <a:t>⑵ 由于固态下扩散困难，因而</a:t>
            </a:r>
            <a:r>
              <a:rPr lang="zh-CN" altLang="en-US" b="1" dirty="0">
                <a:solidFill>
                  <a:srgbClr val="0000FF"/>
                </a:solidFill>
                <a:ea typeface="华文中宋" panose="02010600040101010101" pitchFamily="2" charset="-122"/>
              </a:rPr>
              <a:t>过冷倾向大</a:t>
            </a:r>
            <a:r>
              <a:rPr lang="zh-CN" altLang="en-US" b="1" dirty="0"/>
              <a:t>，</a:t>
            </a:r>
            <a:r>
              <a:rPr lang="zh-CN" altLang="en-US" b="1" dirty="0">
                <a:solidFill>
                  <a:srgbClr val="FF0000"/>
                </a:solidFill>
              </a:rPr>
              <a:t>组织较细</a:t>
            </a:r>
            <a:r>
              <a:rPr lang="zh-CN" altLang="en-US" b="1" dirty="0"/>
              <a:t>。</a:t>
            </a:r>
          </a:p>
          <a:p>
            <a:pPr eaLnBrk="1" hangingPunct="1"/>
            <a:r>
              <a:rPr lang="zh-CN" altLang="en-US" b="1" dirty="0"/>
              <a:t>⑶ 固态转变伴随着</a:t>
            </a:r>
            <a:r>
              <a:rPr lang="zh-CN" altLang="en-US" b="1" dirty="0">
                <a:solidFill>
                  <a:srgbClr val="FF0000"/>
                </a:solidFill>
              </a:rPr>
              <a:t>体积变化</a:t>
            </a:r>
            <a:r>
              <a:rPr lang="zh-CN" altLang="en-US" b="1" dirty="0"/>
              <a:t>，易造成很大</a:t>
            </a:r>
            <a:r>
              <a:rPr lang="zh-CN" altLang="en-US" b="1" dirty="0">
                <a:solidFill>
                  <a:srgbClr val="0000FF"/>
                </a:solidFill>
              </a:rPr>
              <a:t>内应力</a:t>
            </a:r>
            <a:r>
              <a:rPr lang="zh-CN" altLang="en-US" b="1" dirty="0"/>
              <a:t>。</a:t>
            </a:r>
            <a:endParaRPr lang="en-US" altLang="zh-CN" b="1" dirty="0">
              <a:solidFill>
                <a:schemeClr val="tx2"/>
              </a:solidFill>
              <a:ea typeface="华文中宋" panose="02010600040101010101" pitchFamily="2" charset="-122"/>
            </a:endParaRPr>
          </a:p>
        </p:txBody>
      </p:sp>
      <p:grpSp>
        <p:nvGrpSpPr>
          <p:cNvPr id="44038" name="Group 5"/>
          <p:cNvGrpSpPr/>
          <p:nvPr/>
        </p:nvGrpSpPr>
        <p:grpSpPr>
          <a:xfrm>
            <a:off x="6573860" y="2420888"/>
            <a:ext cx="2348230" cy="2635250"/>
            <a:chOff x="3379" y="255"/>
            <a:chExt cx="2040" cy="2040"/>
          </a:xfrm>
        </p:grpSpPr>
        <p:pic>
          <p:nvPicPr>
            <p:cNvPr id="44044" name="Picture 6" descr="0"/>
            <p:cNvPicPr>
              <a:picLocks noChangeAspect="1"/>
            </p:cNvPicPr>
            <p:nvPr/>
          </p:nvPicPr>
          <p:blipFill>
            <a:blip r:embed="rId2"/>
            <a:stretch>
              <a:fillRect/>
            </a:stretch>
          </p:blipFill>
          <p:spPr>
            <a:xfrm>
              <a:off x="3379" y="255"/>
              <a:ext cx="2040" cy="2040"/>
            </a:xfrm>
            <a:prstGeom prst="rect">
              <a:avLst/>
            </a:prstGeom>
            <a:noFill/>
            <a:ln w="38100" cap="flat" cmpd="sng">
              <a:solidFill>
                <a:srgbClr val="FF99CC"/>
              </a:solidFill>
              <a:prstDash val="solid"/>
              <a:miter/>
              <a:headEnd type="none" w="med" len="med"/>
              <a:tailEnd type="none" w="med" len="med"/>
            </a:ln>
          </p:spPr>
        </p:pic>
        <p:sp>
          <p:nvSpPr>
            <p:cNvPr id="44045" name="Text Box 7"/>
            <p:cNvSpPr txBox="1"/>
            <p:nvPr/>
          </p:nvSpPr>
          <p:spPr>
            <a:xfrm>
              <a:off x="3379" y="255"/>
              <a:ext cx="1439" cy="479"/>
            </a:xfrm>
            <a:prstGeom prst="rect">
              <a:avLst/>
            </a:prstGeom>
            <a:solidFill>
              <a:schemeClr val="bg2">
                <a:alpha val="50195"/>
              </a:schemeClr>
            </a:solidFill>
            <a:ln w="9525">
              <a:noFill/>
            </a:ln>
          </p:spPr>
          <p:txBody>
            <a:bodyPr>
              <a:spAutoFit/>
            </a:bodyPr>
            <a:lstStyle/>
            <a:p>
              <a:pPr lvl="0" eaLnBrk="1" hangingPunct="1">
                <a:spcBef>
                  <a:spcPct val="50000"/>
                </a:spcBef>
              </a:pPr>
              <a:r>
                <a:rPr lang="zh-CN" altLang="en-US" sz="1800" b="1" dirty="0">
                  <a:solidFill>
                    <a:srgbClr val="FFFF00"/>
                  </a:solidFill>
                  <a:latin typeface="Times New Roman" panose="02020603050405020304" pitchFamily="18" charset="0"/>
                  <a:ea typeface="宋体" panose="02010600030101010101" pitchFamily="2" charset="-122"/>
                </a:rPr>
                <a:t>固态相变的晶界形核</a:t>
              </a:r>
            </a:p>
          </p:txBody>
        </p:sp>
      </p:grpSp>
      <p:sp>
        <p:nvSpPr>
          <p:cNvPr id="44040" name="AutoShape 11">
            <a:hlinkClick r:id="" action="ppaction://noaction"/>
          </p:cNvPr>
          <p:cNvSpPr/>
          <p:nvPr/>
        </p:nvSpPr>
        <p:spPr>
          <a:xfrm>
            <a:off x="8936355" y="6704965"/>
            <a:ext cx="207645" cy="153035"/>
          </a:xfrm>
          <a:prstGeom prst="actionButtonBackPrevious">
            <a:avLst/>
          </a:prstGeom>
          <a:solidFill>
            <a:schemeClr val="accent1"/>
          </a:solidFill>
          <a:ln w="9525">
            <a:noFill/>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pic>
        <p:nvPicPr>
          <p:cNvPr id="14" name="内容占位符 1" descr="新校徽（3M）弓之乐"/>
          <p:cNvPicPr>
            <a:picLocks noChangeAspect="1"/>
          </p:cNvPicPr>
          <p:nvPr/>
        </p:nvPicPr>
        <p:blipFill>
          <a:blip r:embed="rId3"/>
          <a:stretch>
            <a:fillRect/>
          </a:stretch>
        </p:blipFill>
        <p:spPr>
          <a:xfrm>
            <a:off x="19685" y="3175"/>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4037">
                                            <p:txEl>
                                              <p:pRg st="0" end="0"/>
                                            </p:txEl>
                                          </p:spTgt>
                                        </p:tgtEl>
                                        <p:attrNameLst>
                                          <p:attrName>style.visibility</p:attrName>
                                        </p:attrNameLst>
                                      </p:cBhvr>
                                      <p:to>
                                        <p:strVal val="visible"/>
                                      </p:to>
                                    </p:set>
                                    <p:animEffect transition="in" filter="fade">
                                      <p:cBhvr>
                                        <p:cTn id="7" dur="1000"/>
                                        <p:tgtEl>
                                          <p:spTgt spid="44037">
                                            <p:txEl>
                                              <p:pRg st="0" end="0"/>
                                            </p:txEl>
                                          </p:spTgt>
                                        </p:tgtEl>
                                      </p:cBhvr>
                                    </p:animEffect>
                                    <p:anim calcmode="lin" valueType="num">
                                      <p:cBhvr>
                                        <p:cTn id="8" dur="1000" fill="hold"/>
                                        <p:tgtEl>
                                          <p:spTgt spid="4403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403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4037">
                                            <p:txEl>
                                              <p:pRg st="1" end="1"/>
                                            </p:txEl>
                                          </p:spTgt>
                                        </p:tgtEl>
                                        <p:attrNameLst>
                                          <p:attrName>style.visibility</p:attrName>
                                        </p:attrNameLst>
                                      </p:cBhvr>
                                      <p:to>
                                        <p:strVal val="visible"/>
                                      </p:to>
                                    </p:set>
                                    <p:animEffect transition="in" filter="fade">
                                      <p:cBhvr>
                                        <p:cTn id="14" dur="1000"/>
                                        <p:tgtEl>
                                          <p:spTgt spid="44037">
                                            <p:txEl>
                                              <p:pRg st="1" end="1"/>
                                            </p:txEl>
                                          </p:spTgt>
                                        </p:tgtEl>
                                      </p:cBhvr>
                                    </p:animEffect>
                                    <p:anim calcmode="lin" valueType="num">
                                      <p:cBhvr>
                                        <p:cTn id="15" dur="1000" fill="hold"/>
                                        <p:tgtEl>
                                          <p:spTgt spid="4403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403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4037">
                                            <p:txEl>
                                              <p:pRg st="2" end="2"/>
                                            </p:txEl>
                                          </p:spTgt>
                                        </p:tgtEl>
                                        <p:attrNameLst>
                                          <p:attrName>style.visibility</p:attrName>
                                        </p:attrNameLst>
                                      </p:cBhvr>
                                      <p:to>
                                        <p:strVal val="visible"/>
                                      </p:to>
                                    </p:set>
                                    <p:animEffect transition="in" filter="fade">
                                      <p:cBhvr>
                                        <p:cTn id="21" dur="1000"/>
                                        <p:tgtEl>
                                          <p:spTgt spid="44037">
                                            <p:txEl>
                                              <p:pRg st="2" end="2"/>
                                            </p:txEl>
                                          </p:spTgt>
                                        </p:tgtEl>
                                      </p:cBhvr>
                                    </p:animEffect>
                                    <p:anim calcmode="lin" valueType="num">
                                      <p:cBhvr>
                                        <p:cTn id="22" dur="1000" fill="hold"/>
                                        <p:tgtEl>
                                          <p:spTgt spid="4403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403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4037">
                                            <p:txEl>
                                              <p:pRg st="3" end="3"/>
                                            </p:txEl>
                                          </p:spTgt>
                                        </p:tgtEl>
                                        <p:attrNameLst>
                                          <p:attrName>style.visibility</p:attrName>
                                        </p:attrNameLst>
                                      </p:cBhvr>
                                      <p:to>
                                        <p:strVal val="visible"/>
                                      </p:to>
                                    </p:set>
                                    <p:animEffect transition="in" filter="fade">
                                      <p:cBhvr>
                                        <p:cTn id="28" dur="1000"/>
                                        <p:tgtEl>
                                          <p:spTgt spid="44037">
                                            <p:txEl>
                                              <p:pRg st="3" end="3"/>
                                            </p:txEl>
                                          </p:spTgt>
                                        </p:tgtEl>
                                      </p:cBhvr>
                                    </p:animEffect>
                                    <p:anim calcmode="lin" valueType="num">
                                      <p:cBhvr>
                                        <p:cTn id="29" dur="1000" fill="hold"/>
                                        <p:tgtEl>
                                          <p:spTgt spid="4403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403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灯片编号占位符 5"/>
          <p:cNvSpPr>
            <a:spLocks noGrp="1"/>
          </p:cNvSpPr>
          <p:nvPr>
            <p:ph type="sldNum" sz="quarter" idx="12"/>
          </p:nvPr>
        </p:nvSpPr>
        <p:spPr/>
        <p:txBody>
          <a:bodyPr wrap="square" lIns="91440" tIns="45720" rIns="91440" bIns="45720" anchor="b"/>
          <a:lstStyle/>
          <a:p>
            <a:pPr algn="r"/>
            <a:fld id="{9A0DB2DC-4C9A-4742-B13C-FB6460FD3503}" type="slidenum">
              <a:rPr lang="en-US" altLang="zh-CN" sz="1400" dirty="0"/>
              <a:t>33</a:t>
            </a:fld>
            <a:endParaRPr lang="en-US" altLang="zh-CN" sz="1400" dirty="0"/>
          </a:p>
        </p:txBody>
      </p:sp>
      <p:sp>
        <p:nvSpPr>
          <p:cNvPr id="18434" name="Rectangle 2"/>
          <p:cNvSpPr>
            <a:spLocks noGrp="1"/>
          </p:cNvSpPr>
          <p:nvPr>
            <p:ph type="title"/>
          </p:nvPr>
        </p:nvSpPr>
        <p:spPr>
          <a:xfrm>
            <a:off x="539551" y="858020"/>
            <a:ext cx="8064896" cy="1944216"/>
          </a:xfrm>
        </p:spPr>
        <p:txBody>
          <a:bodyPr wrap="square" lIns="91440" tIns="45720" rIns="91440" bIns="45720" anchor="b"/>
          <a:lstStyle/>
          <a:p>
            <a:pPr algn="ctr" eaLnBrk="1" hangingPunct="1"/>
            <a:r>
              <a:rPr kumimoji="1" lang="zh-CN" altLang="en-US" sz="60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第二节 合金的结晶</a:t>
            </a:r>
            <a:br>
              <a:rPr kumimoji="1" lang="en-US" altLang="zh-CN" sz="6000" b="1" i="0" u="none" strike="noStrike" kern="0" cap="none" spc="0" normalizeH="0" baseline="0" noProof="0" dirty="0">
                <a:ln>
                  <a:noFill/>
                </a:ln>
                <a:solidFill>
                  <a:srgbClr val="FF0000"/>
                </a:solidFill>
                <a:uLnTx/>
                <a:uFillTx/>
                <a:latin typeface="+mj-lt"/>
                <a:ea typeface="华文中宋" panose="02010600040101010101" pitchFamily="2" charset="-122"/>
                <a:cs typeface="+mj-cs"/>
              </a:rPr>
            </a:br>
            <a:r>
              <a:rPr lang="en-US" altLang="zh-CN" sz="60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Crystallization of Alloys</a:t>
            </a:r>
          </a:p>
        </p:txBody>
      </p:sp>
      <p:sp>
        <p:nvSpPr>
          <p:cNvPr id="18447" name="日期占位符 1"/>
          <p:cNvSpPr>
            <a:spLocks noGrp="1"/>
          </p:cNvSpPr>
          <p:nvPr>
            <p:ph type="dt" sz="half" idx="10"/>
          </p:nvPr>
        </p:nvSpPr>
        <p:spPr>
          <a:xfrm>
            <a:off x="0" y="6515100"/>
            <a:ext cx="1905000" cy="342900"/>
          </a:xfrm>
        </p:spPr>
        <p:txBody>
          <a:bodyPr wrap="square" lIns="91440" tIns="45720" rIns="91440" bIns="45720" anchor="b"/>
          <a:lst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stStyle>
          <a:p>
            <a:pPr lvl="0" indent="0"/>
            <a:fld id="{BB962C8B-B14F-4D97-AF65-F5344CB8AC3E}" type="datetime8">
              <a:rPr lang="en-US" altLang="zh-CN" sz="1400" dirty="0"/>
              <a:t>11/20/2025 5:38 PM</a:t>
            </a:fld>
            <a:endParaRPr lang="en-US" altLang="zh-CN" sz="1400" dirty="0"/>
          </a:p>
        </p:txBody>
      </p:sp>
      <p:grpSp>
        <p:nvGrpSpPr>
          <p:cNvPr id="5" name="Group 22"/>
          <p:cNvGrpSpPr/>
          <p:nvPr/>
        </p:nvGrpSpPr>
        <p:grpSpPr>
          <a:xfrm>
            <a:off x="2733816" y="2977165"/>
            <a:ext cx="3676365" cy="3054351"/>
            <a:chOff x="3396" y="2016"/>
            <a:chExt cx="2135" cy="1924"/>
          </a:xfrm>
        </p:grpSpPr>
        <p:grpSp>
          <p:nvGrpSpPr>
            <p:cNvPr id="6" name="Group 20"/>
            <p:cNvGrpSpPr/>
            <p:nvPr/>
          </p:nvGrpSpPr>
          <p:grpSpPr>
            <a:xfrm>
              <a:off x="3396" y="2016"/>
              <a:ext cx="2135" cy="1813"/>
              <a:chOff x="3396" y="2016"/>
              <a:chExt cx="2135" cy="1813"/>
            </a:xfrm>
          </p:grpSpPr>
          <p:pic>
            <p:nvPicPr>
              <p:cNvPr id="8" name="Picture 17" descr="Phase Diagram of the Iron-Chromium Sys"/>
              <p:cNvPicPr>
                <a:picLocks noChangeAspect="1"/>
              </p:cNvPicPr>
              <p:nvPr/>
            </p:nvPicPr>
            <p:blipFill>
              <a:blip r:embed="rId2"/>
              <a:stretch>
                <a:fillRect/>
              </a:stretch>
            </p:blipFill>
            <p:spPr>
              <a:xfrm>
                <a:off x="3396" y="2016"/>
                <a:ext cx="2135" cy="1813"/>
              </a:xfrm>
              <a:prstGeom prst="rect">
                <a:avLst/>
              </a:prstGeom>
              <a:noFill/>
              <a:ln w="9525">
                <a:noFill/>
              </a:ln>
            </p:spPr>
          </p:pic>
          <p:sp>
            <p:nvSpPr>
              <p:cNvPr id="9" name="Rectangle 18"/>
              <p:cNvSpPr/>
              <p:nvPr/>
            </p:nvSpPr>
            <p:spPr>
              <a:xfrm>
                <a:off x="4896" y="2016"/>
                <a:ext cx="480" cy="240"/>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defPPr>
                  <a:defRPr lang="zh-CN"/>
                </a:defPPr>
                <a:lvl1pPr marL="0" lvl="0"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9pP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0" name="Line 19"/>
              <p:cNvSpPr/>
              <p:nvPr/>
            </p:nvSpPr>
            <p:spPr>
              <a:xfrm>
                <a:off x="4896" y="2134"/>
                <a:ext cx="528" cy="0"/>
              </a:xfrm>
              <a:prstGeom prst="line">
                <a:avLst/>
              </a:prstGeom>
              <a:ln w="57150" cap="flat" cmpd="sng">
                <a:solidFill>
                  <a:schemeClr val="bg1"/>
                </a:solidFill>
                <a:prstDash val="solid"/>
                <a:headEnd type="none" w="med" len="med"/>
                <a:tailEnd type="none" w="med" len="med"/>
              </a:ln>
            </p:spPr>
            <p:txBody>
              <a:bodyPr/>
              <a:lstStyle/>
              <a:p>
                <a:endParaRPr lang="zh-CN" altLang="en-US"/>
              </a:p>
            </p:txBody>
          </p:sp>
        </p:grpSp>
        <p:sp>
          <p:nvSpPr>
            <p:cNvPr id="7" name="Rectangle 21"/>
            <p:cNvSpPr/>
            <p:nvPr/>
          </p:nvSpPr>
          <p:spPr>
            <a:xfrm>
              <a:off x="3536" y="3796"/>
              <a:ext cx="1728" cy="144"/>
            </a:xfrm>
            <a:prstGeom prst="rect">
              <a:avLst/>
            </a:prstGeom>
            <a:solidFill>
              <a:schemeClr val="tx1"/>
            </a:solidFill>
            <a:ln w="9525">
              <a:noFill/>
            </a:ln>
          </p:spPr>
          <p:txBody>
            <a:bodyPr wrap="none" anchor="ctr"/>
            <a:lstStyle>
              <a:defPPr>
                <a:defRPr lang="zh-CN"/>
              </a:defPPr>
              <a:lvl1pPr marL="0" lvl="0"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9pPr>
            </a:lstStyle>
            <a:p>
              <a:pPr lvl="0" algn="ctr" eaLnBrk="1" hangingPunct="1"/>
              <a:r>
                <a:rPr lang="en-US" altLang="zh-CN" sz="1800" b="1" dirty="0">
                  <a:solidFill>
                    <a:srgbClr val="FF0000"/>
                  </a:solidFill>
                  <a:latin typeface="Times New Roman" panose="02020603050405020304" pitchFamily="18" charset="0"/>
                  <a:ea typeface="宋体" panose="02010600030101010101" pitchFamily="2" charset="-122"/>
                </a:rPr>
                <a:t>Fe-Cr</a:t>
              </a:r>
              <a:r>
                <a:rPr lang="zh-CN" altLang="en-US" sz="1800" b="1" dirty="0">
                  <a:solidFill>
                    <a:srgbClr val="FF0000"/>
                  </a:solidFill>
                  <a:latin typeface="Times New Roman" panose="02020603050405020304" pitchFamily="18" charset="0"/>
                  <a:ea typeface="宋体" panose="02010600030101010101" pitchFamily="2" charset="-122"/>
                </a:rPr>
                <a:t>合金相图</a:t>
              </a:r>
            </a:p>
          </p:txBody>
        </p:sp>
      </p:grpSp>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264" t="15784" r="3206" b="19580"/>
          <a:stretch>
            <a:fillRect/>
          </a:stretch>
        </p:blipFill>
        <p:spPr bwMode="auto">
          <a:xfrm>
            <a:off x="0" y="0"/>
            <a:ext cx="2372995" cy="582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灯片编号占位符 5"/>
          <p:cNvSpPr>
            <a:spLocks noGrp="1"/>
          </p:cNvSpPr>
          <p:nvPr>
            <p:ph type="sldNum" sz="quarter" idx="12"/>
          </p:nvPr>
        </p:nvSpPr>
        <p:spPr>
          <a:xfrm>
            <a:off x="8382000" y="6583363"/>
            <a:ext cx="631825" cy="255587"/>
          </a:xfrm>
        </p:spPr>
        <p:txBody>
          <a:bodyPr wrap="square" lIns="91440" tIns="45720" rIns="91440" bIns="45720" anchor="b"/>
          <a:lstStyle/>
          <a:p>
            <a:pPr algn="r"/>
            <a:fld id="{9A0DB2DC-4C9A-4742-B13C-FB6460FD3503}" type="slidenum">
              <a:rPr lang="en-US" altLang="zh-CN" sz="1400" dirty="0"/>
              <a:t>34</a:t>
            </a:fld>
            <a:endParaRPr lang="en-US" altLang="zh-CN" sz="1400" dirty="0"/>
          </a:p>
        </p:txBody>
      </p:sp>
      <p:sp>
        <p:nvSpPr>
          <p:cNvPr id="19458" name="Rectangle 2"/>
          <p:cNvSpPr>
            <a:spLocks noGrp="1"/>
          </p:cNvSpPr>
          <p:nvPr>
            <p:ph type="title"/>
          </p:nvPr>
        </p:nvSpPr>
        <p:spPr>
          <a:xfrm>
            <a:off x="1475740" y="116840"/>
            <a:ext cx="7252335" cy="1589405"/>
          </a:xfrm>
        </p:spPr>
        <p:txBody>
          <a:bodyPr wrap="square" lIns="91440" tIns="45720" rIns="91440" bIns="45720" anchor="b"/>
          <a:lstStyle/>
          <a:p>
            <a:pPr algn="ctr" eaLnBrk="1" hangingPunct="1"/>
            <a:r>
              <a:rPr kumimoji="1" lang="zh-CN" altLang="en-US" sz="48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第二节 合金的结晶</a:t>
            </a:r>
            <a:br>
              <a:rPr kumimoji="1" lang="zh-CN" altLang="en-US" sz="4800" b="1" i="0" u="none" strike="noStrike" kern="0" cap="none" spc="0" normalizeH="0" baseline="0" noProof="0" dirty="0">
                <a:ln>
                  <a:noFill/>
                </a:ln>
                <a:solidFill>
                  <a:srgbClr val="FF0000"/>
                </a:solidFill>
                <a:uLnTx/>
                <a:uFillTx/>
                <a:latin typeface="+mj-lt"/>
                <a:ea typeface="华文中宋" panose="02010600040101010101" pitchFamily="2" charset="-122"/>
                <a:cs typeface="+mj-cs"/>
              </a:rPr>
            </a:br>
            <a:r>
              <a:rPr lang="en-US" altLang="zh-CN" sz="48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sym typeface="+mn-ea"/>
              </a:rPr>
              <a:t>Crystallization of Alloys</a:t>
            </a:r>
          </a:p>
        </p:txBody>
      </p:sp>
      <p:sp>
        <p:nvSpPr>
          <p:cNvPr id="165891" name="Rectangle 3"/>
          <p:cNvSpPr>
            <a:spLocks noGrp="1" noChangeArrowheads="1"/>
          </p:cNvSpPr>
          <p:nvPr>
            <p:ph idx="1"/>
          </p:nvPr>
        </p:nvSpPr>
        <p:spPr>
          <a:xfrm>
            <a:off x="1547788" y="1916842"/>
            <a:ext cx="7772400" cy="5736232"/>
          </a:xfrm>
        </p:spPr>
        <p:txBody>
          <a:bodyPr vert="horz" wrap="square" lIns="91440" tIns="45720" rIns="91440" bIns="45720" numCol="1" anchor="t" anchorCtr="0" compatLnSpc="1"/>
          <a:lstStyle/>
          <a:p>
            <a:pPr eaLnBrk="1" hangingPunct="1"/>
            <a:r>
              <a:rPr lang="zh-CN" altLang="en-US" sz="2800" b="1" dirty="0">
                <a:solidFill>
                  <a:schemeClr val="folHlink"/>
                </a:solidFill>
                <a:latin typeface="华文中宋" panose="02010600040101010101" pitchFamily="2" charset="-122"/>
                <a:ea typeface="华文中宋" panose="02010600040101010101" pitchFamily="2" charset="-122"/>
              </a:rPr>
              <a:t>一、二元相图的建立</a:t>
            </a:r>
          </a:p>
          <a:p>
            <a:pPr eaLnBrk="1" hangingPunct="1"/>
            <a:r>
              <a:rPr lang="zh-CN" altLang="en-US" sz="2800" b="1" dirty="0">
                <a:solidFill>
                  <a:schemeClr val="folHlink"/>
                </a:solidFill>
                <a:latin typeface="华文中宋" panose="02010600040101010101" pitchFamily="2" charset="-122"/>
                <a:ea typeface="华文中宋" panose="02010600040101010101" pitchFamily="2" charset="-122"/>
              </a:rPr>
              <a:t>二、二元相图的基本类型与分析</a:t>
            </a:r>
          </a:p>
          <a:p>
            <a:pPr eaLnBrk="1" hangingPunct="1"/>
            <a:r>
              <a:rPr lang="en-US" altLang="zh-CN" sz="2800" b="1" dirty="0">
                <a:ea typeface="华文中宋" panose="02010600040101010101" pitchFamily="2" charset="-122"/>
              </a:rPr>
              <a:t>1</a:t>
            </a:r>
            <a:r>
              <a:rPr lang="zh-CN" altLang="en-US" sz="2800" b="1" dirty="0">
                <a:ea typeface="华文中宋" panose="02010600040101010101" pitchFamily="2" charset="-122"/>
              </a:rPr>
              <a:t>、二元匀晶相图</a:t>
            </a:r>
          </a:p>
          <a:p>
            <a:pPr eaLnBrk="1" hangingPunct="1"/>
            <a:r>
              <a:rPr lang="en-US" altLang="zh-CN" sz="2800" b="1" dirty="0">
                <a:ea typeface="华文中宋" panose="02010600040101010101" pitchFamily="2" charset="-122"/>
              </a:rPr>
              <a:t>2</a:t>
            </a:r>
            <a:r>
              <a:rPr lang="zh-CN" altLang="en-US" sz="2800" b="1" dirty="0">
                <a:ea typeface="华文中宋" panose="02010600040101010101" pitchFamily="2" charset="-122"/>
              </a:rPr>
              <a:t>、二元共晶相图</a:t>
            </a:r>
          </a:p>
          <a:p>
            <a:pPr eaLnBrk="1" hangingPunct="1"/>
            <a:r>
              <a:rPr lang="en-US" altLang="zh-CN" sz="2800" b="1" dirty="0">
                <a:ea typeface="华文中宋" panose="02010600040101010101" pitchFamily="2" charset="-122"/>
              </a:rPr>
              <a:t>3</a:t>
            </a:r>
            <a:r>
              <a:rPr lang="zh-CN" altLang="en-US" sz="2800" b="1" dirty="0">
                <a:ea typeface="华文中宋" panose="02010600040101010101" pitchFamily="2" charset="-122"/>
              </a:rPr>
              <a:t>、二元包晶相图</a:t>
            </a:r>
          </a:p>
          <a:p>
            <a:pPr eaLnBrk="1" hangingPunct="1"/>
            <a:r>
              <a:rPr lang="en-US" altLang="zh-CN" sz="2800" b="1" dirty="0">
                <a:ea typeface="华文中宋" panose="02010600040101010101" pitchFamily="2" charset="-122"/>
              </a:rPr>
              <a:t>4</a:t>
            </a:r>
            <a:r>
              <a:rPr lang="zh-CN" altLang="en-US" sz="2800" b="1" dirty="0">
                <a:ea typeface="华文中宋" panose="02010600040101010101" pitchFamily="2" charset="-122"/>
              </a:rPr>
              <a:t>、形成稳定化合物的二元相图</a:t>
            </a:r>
          </a:p>
          <a:p>
            <a:pPr eaLnBrk="1" hangingPunct="1"/>
            <a:r>
              <a:rPr lang="en-US" altLang="zh-CN" sz="2800" b="1" dirty="0">
                <a:ea typeface="华文中宋" panose="02010600040101010101" pitchFamily="2" charset="-122"/>
              </a:rPr>
              <a:t>5</a:t>
            </a:r>
            <a:r>
              <a:rPr lang="zh-CN" altLang="en-US" sz="2800" b="1" dirty="0">
                <a:ea typeface="华文中宋" panose="02010600040101010101" pitchFamily="2" charset="-122"/>
              </a:rPr>
              <a:t>、具有共析反应的二元相图</a:t>
            </a:r>
          </a:p>
          <a:p>
            <a:pPr eaLnBrk="1" hangingPunct="1"/>
            <a:r>
              <a:rPr lang="en-US" altLang="zh-CN" sz="2800" b="1" dirty="0">
                <a:ea typeface="华文中宋" panose="02010600040101010101" pitchFamily="2" charset="-122"/>
              </a:rPr>
              <a:t>6</a:t>
            </a:r>
            <a:r>
              <a:rPr lang="zh-CN" altLang="en-US" sz="2800" b="1" dirty="0">
                <a:ea typeface="华文中宋" panose="02010600040101010101" pitchFamily="2" charset="-122"/>
              </a:rPr>
              <a:t>、二元相图的分析步骤</a:t>
            </a:r>
          </a:p>
          <a:p>
            <a:pPr eaLnBrk="1" hangingPunct="1"/>
            <a:r>
              <a:rPr lang="en-US" altLang="zh-CN" sz="2800" b="1" dirty="0">
                <a:ea typeface="华文中宋" panose="02010600040101010101" pitchFamily="2" charset="-122"/>
              </a:rPr>
              <a:t>7</a:t>
            </a:r>
            <a:r>
              <a:rPr lang="zh-CN" altLang="en-US" sz="2800" b="1" dirty="0">
                <a:ea typeface="华文中宋" panose="02010600040101010101" pitchFamily="2" charset="-122"/>
              </a:rPr>
              <a:t>、相图与合金性能之间的关系</a:t>
            </a:r>
          </a:p>
        </p:txBody>
      </p:sp>
      <p:sp>
        <p:nvSpPr>
          <p:cNvPr id="19461" name="日期占位符 1"/>
          <p:cNvSpPr>
            <a:spLocks noGrp="1"/>
          </p:cNvSpPr>
          <p:nvPr>
            <p:ph type="dt" sz="half" idx="10"/>
          </p:nvPr>
        </p:nvSpPr>
        <p:spPr>
          <a:xfrm>
            <a:off x="101600" y="6477000"/>
            <a:ext cx="1905000" cy="342900"/>
          </a:xfrm>
        </p:spPr>
        <p:txBody>
          <a:bodyPr wrap="square" lIns="91440" tIns="45720" rIns="91440" bIns="45720" anchor="b"/>
          <a:lst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stStyle>
          <a:p>
            <a:pPr lvl="0" indent="0"/>
            <a:fld id="{BB962C8B-B14F-4D97-AF65-F5344CB8AC3E}" type="datetime8">
              <a:rPr lang="en-US" altLang="zh-CN" sz="1400" dirty="0"/>
              <a:t>11/20/2025 5:38 PM</a:t>
            </a:fld>
            <a:endParaRPr lang="en-US" altLang="zh-CN" sz="1400" dirty="0"/>
          </a:p>
        </p:txBody>
      </p:sp>
      <p:pic>
        <p:nvPicPr>
          <p:cNvPr id="7" name="内容占位符 1" descr="新校徽（3M）弓之乐"/>
          <p:cNvPicPr>
            <a:picLocks noChangeAspect="1"/>
          </p:cNvPicPr>
          <p:nvPr/>
        </p:nvPicPr>
        <p:blipFill>
          <a:blip r:embed="rId2" cstate="print"/>
          <a:stretch>
            <a:fillRect/>
          </a:stretch>
        </p:blipFill>
        <p:spPr>
          <a:xfrm>
            <a:off x="19685" y="3175"/>
            <a:ext cx="746760" cy="735965"/>
          </a:xfrm>
          <a:prstGeom prst="rect">
            <a:avLst/>
          </a:prstGeom>
          <a:noFill/>
          <a:ln w="9525">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灯片编号占位符 5"/>
          <p:cNvSpPr>
            <a:spLocks noGrp="1"/>
          </p:cNvSpPr>
          <p:nvPr>
            <p:ph type="sldNum" sz="quarter" idx="12"/>
          </p:nvPr>
        </p:nvSpPr>
        <p:spPr>
          <a:xfrm>
            <a:off x="8407400" y="6537325"/>
            <a:ext cx="557213" cy="309563"/>
          </a:xfrm>
        </p:spPr>
        <p:txBody>
          <a:bodyPr wrap="square" lIns="91440" tIns="45720" rIns="91440" bIns="45720" anchor="b"/>
          <a:lstStyle/>
          <a:p>
            <a:pPr algn="r"/>
            <a:fld id="{9A0DB2DC-4C9A-4742-B13C-FB6460FD3503}" type="slidenum">
              <a:rPr lang="en-US" altLang="zh-CN" sz="1400" dirty="0"/>
              <a:t>35</a:t>
            </a:fld>
            <a:endParaRPr lang="en-US" altLang="zh-CN" sz="1400" dirty="0"/>
          </a:p>
        </p:txBody>
      </p:sp>
      <p:sp>
        <p:nvSpPr>
          <p:cNvPr id="20482" name="Rectangle 2"/>
          <p:cNvSpPr>
            <a:spLocks noGrp="1"/>
          </p:cNvSpPr>
          <p:nvPr>
            <p:ph type="title"/>
          </p:nvPr>
        </p:nvSpPr>
        <p:spPr>
          <a:xfrm>
            <a:off x="1503680" y="120650"/>
            <a:ext cx="7030720" cy="1581785"/>
          </a:xfrm>
        </p:spPr>
        <p:txBody>
          <a:bodyPr wrap="square" lIns="91440" tIns="45720" rIns="91440" bIns="45720" anchor="b"/>
          <a:lstStyle/>
          <a:p>
            <a:pPr algn="ctr" eaLnBrk="1" hangingPunct="1"/>
            <a:r>
              <a:rPr kumimoji="1" lang="zh-CN" altLang="en-US" sz="48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合金的结晶</a:t>
            </a:r>
            <a:br>
              <a:rPr kumimoji="1" lang="zh-CN" altLang="en-US" sz="4800" b="1" i="0" u="none" strike="noStrike" kern="0" cap="none" spc="0" normalizeH="0" baseline="0" noProof="0" dirty="0">
                <a:ln>
                  <a:noFill/>
                </a:ln>
                <a:solidFill>
                  <a:srgbClr val="FF0000"/>
                </a:solidFill>
                <a:uLnTx/>
                <a:uFillTx/>
                <a:latin typeface="+mj-lt"/>
                <a:ea typeface="华文中宋" panose="02010600040101010101" pitchFamily="2" charset="-122"/>
                <a:cs typeface="+mj-cs"/>
              </a:rPr>
            </a:br>
            <a:r>
              <a:rPr lang="en-US" altLang="zh-CN" sz="48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sym typeface="+mn-ea"/>
              </a:rPr>
              <a:t>Crystallization of Alloys</a:t>
            </a:r>
            <a:endParaRPr lang="zh-CN" altLang="en-US" sz="4800" b="1" dirty="0">
              <a:solidFill>
                <a:srgbClr val="FF0000"/>
              </a:solidFill>
              <a:latin typeface="宋体" panose="02010600030101010101" pitchFamily="2" charset="-122"/>
            </a:endParaRPr>
          </a:p>
        </p:txBody>
      </p:sp>
      <p:sp>
        <p:nvSpPr>
          <p:cNvPr id="166915" name="Rectangle 3"/>
          <p:cNvSpPr>
            <a:spLocks noGrp="1" noChangeArrowheads="1"/>
          </p:cNvSpPr>
          <p:nvPr>
            <p:ph idx="1"/>
          </p:nvPr>
        </p:nvSpPr>
        <p:spPr>
          <a:xfrm>
            <a:off x="179388" y="1826718"/>
            <a:ext cx="8785225" cy="4261489"/>
          </a:xfrm>
        </p:spPr>
        <p:txBody>
          <a:bodyPr vert="horz" wrap="square" lIns="91440" tIns="45720" rIns="91440" bIns="45720" numCol="1" anchor="t" anchorCtr="0" compatLnSpc="1"/>
          <a:lstStyle/>
          <a:p>
            <a:pPr eaLnBrk="1" hangingPunct="1">
              <a:lnSpc>
                <a:spcPct val="120000"/>
              </a:lnSpc>
            </a:pPr>
            <a:r>
              <a:rPr lang="zh-CN" altLang="en-US" b="1" dirty="0">
                <a:solidFill>
                  <a:srgbClr val="0000FF"/>
                </a:solidFill>
                <a:ea typeface="华文中宋" panose="02010600040101010101" pitchFamily="2" charset="-122"/>
              </a:rPr>
              <a:t>合金</a:t>
            </a:r>
            <a:r>
              <a:rPr lang="zh-CN" altLang="en-US" b="1" dirty="0">
                <a:ea typeface="华文中宋" panose="02010600040101010101" pitchFamily="2" charset="-122"/>
              </a:rPr>
              <a:t>的</a:t>
            </a:r>
            <a:r>
              <a:rPr lang="zh-CN" altLang="en-US" b="1" dirty="0">
                <a:solidFill>
                  <a:srgbClr val="0000FF"/>
                </a:solidFill>
                <a:ea typeface="华文中宋" panose="02010600040101010101" pitchFamily="2" charset="-122"/>
              </a:rPr>
              <a:t>结晶</a:t>
            </a:r>
            <a:r>
              <a:rPr lang="zh-CN" altLang="en-US" b="1" dirty="0">
                <a:ea typeface="华文中宋" panose="02010600040101010101" pitchFamily="2" charset="-122"/>
              </a:rPr>
              <a:t>过程</a:t>
            </a:r>
            <a:r>
              <a:rPr lang="zh-CN" altLang="en-US" b="1" dirty="0">
                <a:solidFill>
                  <a:srgbClr val="0000FF"/>
                </a:solidFill>
                <a:ea typeface="华文中宋" panose="02010600040101010101" pitchFamily="2" charset="-122"/>
              </a:rPr>
              <a:t>比纯金属复杂</a:t>
            </a:r>
            <a:r>
              <a:rPr lang="zh-CN" altLang="en-US" b="1" dirty="0">
                <a:ea typeface="华文中宋" panose="02010600040101010101" pitchFamily="2" charset="-122"/>
              </a:rPr>
              <a:t>，常用</a:t>
            </a:r>
            <a:r>
              <a:rPr lang="zh-CN" altLang="en-US" b="1" dirty="0">
                <a:solidFill>
                  <a:srgbClr val="0000FF"/>
                </a:solidFill>
                <a:ea typeface="华文中宋" panose="02010600040101010101" pitchFamily="2" charset="-122"/>
              </a:rPr>
              <a:t>相图</a:t>
            </a:r>
            <a:r>
              <a:rPr lang="zh-CN" altLang="en-US" b="1" dirty="0">
                <a:ea typeface="华文中宋" panose="02010600040101010101" pitchFamily="2" charset="-122"/>
              </a:rPr>
              <a:t>进行分析。</a:t>
            </a:r>
            <a:endParaRPr lang="zh-CN" altLang="en-US" b="1" dirty="0">
              <a:solidFill>
                <a:schemeClr val="folHlink"/>
              </a:solidFill>
              <a:ea typeface="华文中宋" panose="02010600040101010101" pitchFamily="2" charset="-122"/>
            </a:endParaRPr>
          </a:p>
          <a:p>
            <a:pPr eaLnBrk="1" hangingPunct="1">
              <a:lnSpc>
                <a:spcPct val="120000"/>
              </a:lnSpc>
            </a:pPr>
            <a:r>
              <a:rPr lang="zh-CN" altLang="en-US" b="1" dirty="0">
                <a:solidFill>
                  <a:schemeClr val="folHlink"/>
                </a:solidFill>
                <a:ea typeface="华文中宋" panose="02010600040101010101" pitchFamily="2" charset="-122"/>
              </a:rPr>
              <a:t>相图：</a:t>
            </a:r>
            <a:r>
              <a:rPr lang="zh-CN" altLang="en-US" b="1" dirty="0">
                <a:ea typeface="华文中宋" panose="02010600040101010101" pitchFamily="2" charset="-122"/>
              </a:rPr>
              <a:t>用来</a:t>
            </a:r>
            <a:r>
              <a:rPr lang="zh-CN" altLang="en-US" b="1" dirty="0">
                <a:solidFill>
                  <a:schemeClr val="folHlink"/>
                </a:solidFill>
                <a:ea typeface="华文中宋" panose="02010600040101010101" pitchFamily="2" charset="-122"/>
              </a:rPr>
              <a:t>表示合金系</a:t>
            </a:r>
            <a:r>
              <a:rPr lang="zh-CN" altLang="en-US" b="1" dirty="0">
                <a:ea typeface="华文中宋" panose="02010600040101010101" pitchFamily="2" charset="-122"/>
              </a:rPr>
              <a:t>中</a:t>
            </a:r>
            <a:r>
              <a:rPr lang="zh-CN" altLang="en-US" b="1" dirty="0">
                <a:solidFill>
                  <a:schemeClr val="folHlink"/>
                </a:solidFill>
                <a:ea typeface="华文中宋" panose="02010600040101010101" pitchFamily="2" charset="-122"/>
              </a:rPr>
              <a:t>各合金</a:t>
            </a:r>
            <a:r>
              <a:rPr lang="zh-CN" altLang="en-US" b="1" dirty="0">
                <a:ea typeface="华文中宋" panose="02010600040101010101" pitchFamily="2" charset="-122"/>
              </a:rPr>
              <a:t>在</a:t>
            </a:r>
            <a:r>
              <a:rPr lang="zh-CN" altLang="en-US" b="1" dirty="0">
                <a:solidFill>
                  <a:schemeClr val="folHlink"/>
                </a:solidFill>
                <a:ea typeface="华文中宋" panose="02010600040101010101" pitchFamily="2" charset="-122"/>
              </a:rPr>
              <a:t>缓冷</a:t>
            </a:r>
            <a:r>
              <a:rPr lang="zh-CN" altLang="en-US" b="1" dirty="0">
                <a:ea typeface="华文中宋" panose="02010600040101010101" pitchFamily="2" charset="-122"/>
              </a:rPr>
              <a:t>条件下</a:t>
            </a:r>
            <a:r>
              <a:rPr lang="zh-CN" altLang="en-US" b="1" dirty="0">
                <a:solidFill>
                  <a:schemeClr val="folHlink"/>
                </a:solidFill>
                <a:ea typeface="华文中宋" panose="02010600040101010101" pitchFamily="2" charset="-122"/>
              </a:rPr>
              <a:t>结晶过程</a:t>
            </a:r>
            <a:r>
              <a:rPr lang="zh-CN" altLang="en-US" b="1" dirty="0">
                <a:ea typeface="华文中宋" panose="02010600040101010101" pitchFamily="2" charset="-122"/>
              </a:rPr>
              <a:t>的</a:t>
            </a:r>
            <a:r>
              <a:rPr lang="zh-CN" altLang="en-US" b="1" dirty="0">
                <a:solidFill>
                  <a:schemeClr val="folHlink"/>
                </a:solidFill>
                <a:ea typeface="华文中宋" panose="02010600040101010101" pitchFamily="2" charset="-122"/>
              </a:rPr>
              <a:t>简明图解。</a:t>
            </a:r>
            <a:r>
              <a:rPr lang="zh-CN" altLang="en-US" b="1" dirty="0">
                <a:ea typeface="华文中宋" panose="02010600040101010101" pitchFamily="2" charset="-122"/>
              </a:rPr>
              <a:t>又称</a:t>
            </a:r>
            <a:r>
              <a:rPr lang="en-US" altLang="zh-CN" b="1" dirty="0">
                <a:ea typeface="华文中宋" panose="02010600040101010101" pitchFamily="2" charset="-122"/>
              </a:rPr>
              <a:t> </a:t>
            </a:r>
            <a:r>
              <a:rPr lang="zh-CN" altLang="en-US" b="1" dirty="0">
                <a:solidFill>
                  <a:schemeClr val="folHlink"/>
                </a:solidFill>
                <a:ea typeface="华文中宋" panose="02010600040101010101" pitchFamily="2" charset="-122"/>
              </a:rPr>
              <a:t>状态图</a:t>
            </a:r>
            <a:r>
              <a:rPr lang="zh-CN" altLang="en-US" b="1" dirty="0">
                <a:ea typeface="华文中宋" panose="02010600040101010101" pitchFamily="2" charset="-122"/>
              </a:rPr>
              <a:t>或</a:t>
            </a:r>
            <a:r>
              <a:rPr lang="zh-CN" altLang="en-US" b="1" dirty="0">
                <a:solidFill>
                  <a:schemeClr val="folHlink"/>
                </a:solidFill>
                <a:ea typeface="华文中宋" panose="02010600040101010101" pitchFamily="2" charset="-122"/>
              </a:rPr>
              <a:t>平衡图</a:t>
            </a:r>
            <a:r>
              <a:rPr lang="en-US" altLang="zh-CN" b="1" dirty="0">
                <a:solidFill>
                  <a:schemeClr val="folHlink"/>
                </a:solidFill>
                <a:ea typeface="华文中宋" panose="02010600040101010101" pitchFamily="2" charset="-122"/>
              </a:rPr>
              <a:t> </a:t>
            </a:r>
            <a:r>
              <a:rPr lang="zh-CN" altLang="en-US" b="1" dirty="0">
                <a:ea typeface="华文中宋" panose="02010600040101010101" pitchFamily="2" charset="-122"/>
              </a:rPr>
              <a:t>。</a:t>
            </a:r>
          </a:p>
        </p:txBody>
      </p:sp>
      <p:sp>
        <p:nvSpPr>
          <p:cNvPr id="20485" name="日期占位符 1"/>
          <p:cNvSpPr>
            <a:spLocks noGrp="1"/>
          </p:cNvSpPr>
          <p:nvPr>
            <p:ph type="dt" sz="half" idx="10"/>
          </p:nvPr>
        </p:nvSpPr>
        <p:spPr>
          <a:xfrm>
            <a:off x="68263" y="6503988"/>
            <a:ext cx="1905000" cy="342900"/>
          </a:xfrm>
        </p:spPr>
        <p:txBody>
          <a:bodyPr wrap="square" lIns="91440" tIns="45720" rIns="91440" bIns="45720" anchor="b"/>
          <a:lst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stStyle>
          <a:p>
            <a:pPr lvl="0" indent="0"/>
            <a:fld id="{BB962C8B-B14F-4D97-AF65-F5344CB8AC3E}" type="datetime8">
              <a:rPr lang="en-US" altLang="zh-CN" sz="1400" dirty="0"/>
              <a:t>11/20/2025 5:38 PM</a:t>
            </a:fld>
            <a:endParaRPr lang="en-US" altLang="zh-CN" sz="1400" dirty="0"/>
          </a:p>
        </p:txBody>
      </p:sp>
      <p:pic>
        <p:nvPicPr>
          <p:cNvPr id="7" name="内容占位符 1" descr="新校徽（3M）弓之乐"/>
          <p:cNvPicPr>
            <a:picLocks noChangeAspect="1"/>
          </p:cNvPicPr>
          <p:nvPr/>
        </p:nvPicPr>
        <p:blipFill>
          <a:blip r:embed="rId2" cstate="print"/>
          <a:stretch>
            <a:fillRect/>
          </a:stretch>
        </p:blipFill>
        <p:spPr>
          <a:xfrm>
            <a:off x="19685" y="28739"/>
            <a:ext cx="746760" cy="735965"/>
          </a:xfrm>
          <a:prstGeom prst="rect">
            <a:avLst/>
          </a:prstGeom>
          <a:noFill/>
          <a:ln w="9525">
            <a:noFill/>
          </a:ln>
        </p:spPr>
      </p:pic>
      <p:grpSp>
        <p:nvGrpSpPr>
          <p:cNvPr id="2" name="Group 7"/>
          <p:cNvGrpSpPr/>
          <p:nvPr/>
        </p:nvGrpSpPr>
        <p:grpSpPr>
          <a:xfrm>
            <a:off x="1973263" y="4446754"/>
            <a:ext cx="6434137" cy="2222606"/>
            <a:chOff x="528" y="1920"/>
            <a:chExt cx="4923" cy="1928"/>
          </a:xfrm>
        </p:grpSpPr>
        <p:pic>
          <p:nvPicPr>
            <p:cNvPr id="3" name="Picture 5" descr="Pb-Sn过共晶组织"/>
            <p:cNvPicPr>
              <a:picLocks noChangeAspect="1"/>
            </p:cNvPicPr>
            <p:nvPr/>
          </p:nvPicPr>
          <p:blipFill>
            <a:blip r:embed="rId3"/>
            <a:stretch>
              <a:fillRect/>
            </a:stretch>
          </p:blipFill>
          <p:spPr>
            <a:xfrm>
              <a:off x="528" y="1920"/>
              <a:ext cx="2505" cy="1928"/>
            </a:xfrm>
            <a:prstGeom prst="rect">
              <a:avLst/>
            </a:prstGeom>
            <a:noFill/>
            <a:ln w="28575" cap="flat" cmpd="sng">
              <a:solidFill>
                <a:srgbClr val="FF9900"/>
              </a:solidFill>
              <a:prstDash val="solid"/>
              <a:miter/>
              <a:headEnd type="none" w="med" len="med"/>
              <a:tailEnd type="none" w="med" len="med"/>
            </a:ln>
          </p:spPr>
        </p:pic>
        <p:pic>
          <p:nvPicPr>
            <p:cNvPr id="4" name="Picture 6" descr="cu_ni[1]"/>
            <p:cNvPicPr>
              <a:picLocks noChangeAspect="1"/>
            </p:cNvPicPr>
            <p:nvPr/>
          </p:nvPicPr>
          <p:blipFill>
            <a:blip r:embed="rId4"/>
            <a:stretch>
              <a:fillRect/>
            </a:stretch>
          </p:blipFill>
          <p:spPr>
            <a:xfrm>
              <a:off x="3168" y="1920"/>
              <a:ext cx="2283" cy="1926"/>
            </a:xfrm>
            <a:prstGeom prst="rect">
              <a:avLst/>
            </a:prstGeom>
            <a:noFill/>
            <a:ln w="28575" cap="flat" cmpd="sng">
              <a:solidFill>
                <a:srgbClr val="FF9900"/>
              </a:solidFill>
              <a:prstDash val="solid"/>
              <a:miter/>
              <a:headEnd type="none" w="med" len="med"/>
              <a:tailEnd type="none" w="med" len="med"/>
            </a:ln>
          </p:spPr>
        </p:pic>
      </p:grpSp>
      <p:sp>
        <p:nvSpPr>
          <p:cNvPr id="5" name="圆角矩形 6" descr="7b0a202020202262756c6c6574223a20227b5c2263617465676f727949645c223a31303032352c5c2274656d706c61746549645c223a32303233313437347d220a7d0a"/>
          <p:cNvSpPr/>
          <p:nvPr/>
        </p:nvSpPr>
        <p:spPr>
          <a:xfrm>
            <a:off x="467995" y="3213100"/>
            <a:ext cx="946150" cy="480060"/>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28575" cmpd="dbl">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800" b="1" dirty="0">
                <a:solidFill>
                  <a:srgbClr val="0066FF"/>
                </a:solidFill>
                <a:latin typeface="华文中宋" panose="02010600040101010101" pitchFamily="2" charset="-122"/>
                <a:ea typeface="华文中宋" panose="02010600040101010101" pitchFamily="2" charset="-122"/>
                <a:sym typeface="+mn-ea"/>
              </a:rPr>
              <a:t>相图</a:t>
            </a:r>
          </a:p>
        </p:txBody>
      </p:sp>
      <p:sp>
        <p:nvSpPr>
          <p:cNvPr id="6" name="圆角矩形 6" descr="7b0a202020202262756c6c6574223a20227b5c2263617465676f727949645c223a31303032352c5c2274656d706c61746549645c223a32303233313437347d220a7d0a"/>
          <p:cNvSpPr/>
          <p:nvPr/>
        </p:nvSpPr>
        <p:spPr>
          <a:xfrm>
            <a:off x="5507990" y="3861435"/>
            <a:ext cx="1311910" cy="480060"/>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28575" cmpd="dbl">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800" b="1" dirty="0">
                <a:solidFill>
                  <a:srgbClr val="0066FF"/>
                </a:solidFill>
                <a:latin typeface="华文中宋" panose="02010600040101010101" pitchFamily="2" charset="-122"/>
                <a:ea typeface="华文中宋" panose="02010600040101010101" pitchFamily="2" charset="-122"/>
                <a:sym typeface="+mn-ea"/>
              </a:rPr>
              <a:t>状态图</a:t>
            </a:r>
          </a:p>
        </p:txBody>
      </p:sp>
      <p:sp>
        <p:nvSpPr>
          <p:cNvPr id="8" name="圆角矩形 6" descr="7b0a202020202262756c6c6574223a20227b5c2263617465676f727949645c223a31303032352c5c2274656d706c61746549645c223a32303233313437347d220a7d0a"/>
          <p:cNvSpPr/>
          <p:nvPr/>
        </p:nvSpPr>
        <p:spPr>
          <a:xfrm>
            <a:off x="7308215" y="3861435"/>
            <a:ext cx="1311910" cy="480060"/>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28575" cmpd="dbl">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800" b="1" dirty="0">
                <a:solidFill>
                  <a:srgbClr val="0066FF"/>
                </a:solidFill>
                <a:latin typeface="华文中宋" panose="02010600040101010101" pitchFamily="2" charset="-122"/>
                <a:ea typeface="华文中宋" panose="02010600040101010101" pitchFamily="2" charset="-122"/>
                <a:sym typeface="+mn-ea"/>
              </a:rPr>
              <a:t>平衡图</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灯片编号占位符 5"/>
          <p:cNvSpPr>
            <a:spLocks noGrp="1"/>
          </p:cNvSpPr>
          <p:nvPr>
            <p:ph type="sldNum" sz="quarter" idx="12"/>
          </p:nvPr>
        </p:nvSpPr>
        <p:spPr>
          <a:xfrm>
            <a:off x="8474075" y="6551613"/>
            <a:ext cx="490538" cy="298450"/>
          </a:xfrm>
        </p:spPr>
        <p:txBody>
          <a:bodyPr wrap="square" lIns="91440" tIns="45720" rIns="91440" bIns="45720" anchor="b"/>
          <a:lstStyle/>
          <a:p>
            <a:pPr algn="r"/>
            <a:fld id="{9A0DB2DC-4C9A-4742-B13C-FB6460FD3503}" type="slidenum">
              <a:rPr lang="en-US" altLang="zh-CN" sz="1400" dirty="0"/>
              <a:t>36</a:t>
            </a:fld>
            <a:endParaRPr lang="en-US" altLang="zh-CN" sz="1400" dirty="0"/>
          </a:p>
        </p:txBody>
      </p:sp>
      <p:sp>
        <p:nvSpPr>
          <p:cNvPr id="21506" name="Rectangle 2"/>
          <p:cNvSpPr>
            <a:spLocks noGrp="1"/>
          </p:cNvSpPr>
          <p:nvPr>
            <p:ph type="title"/>
          </p:nvPr>
        </p:nvSpPr>
        <p:spPr>
          <a:xfrm>
            <a:off x="1331640" y="115888"/>
            <a:ext cx="7124973" cy="1081087"/>
          </a:xfrm>
        </p:spPr>
        <p:txBody>
          <a:bodyPr wrap="square" lIns="91440" tIns="45720" rIns="91440" bIns="45720" anchor="b"/>
          <a:lstStyle/>
          <a:p>
            <a:pPr algn="ctr" eaLnBrk="1" hangingPunct="1"/>
            <a:r>
              <a:rPr kumimoji="1" lang="zh-CN" altLang="en-US" sz="48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合金的结晶</a:t>
            </a:r>
            <a:endParaRPr lang="zh-CN" altLang="en-US" sz="4800" b="1" dirty="0">
              <a:solidFill>
                <a:srgbClr val="FF0000"/>
              </a:solidFill>
              <a:latin typeface="Times New Roman" panose="02020603050405020304" pitchFamily="18" charset="0"/>
              <a:cs typeface="Times New Roman" panose="02020603050405020304" pitchFamily="18" charset="0"/>
            </a:endParaRPr>
          </a:p>
        </p:txBody>
      </p:sp>
      <p:sp>
        <p:nvSpPr>
          <p:cNvPr id="167939" name="Rectangle 3"/>
          <p:cNvSpPr>
            <a:spLocks noGrp="1" noChangeArrowheads="1"/>
          </p:cNvSpPr>
          <p:nvPr>
            <p:ph idx="1"/>
          </p:nvPr>
        </p:nvSpPr>
        <p:spPr>
          <a:xfrm>
            <a:off x="684213" y="1844824"/>
            <a:ext cx="7772400" cy="4536504"/>
          </a:xfrm>
        </p:spPr>
        <p:txBody>
          <a:bodyPr vert="horz" wrap="square" lIns="91440" tIns="45720" rIns="91440" bIns="45720" numCol="1" anchor="t" anchorCtr="0" compatLnSpc="1"/>
          <a:lstStyle/>
          <a:p>
            <a:pPr marL="342900" marR="0" lvl="0" indent="-342900" algn="l" defTabSz="914400" rtl="0" eaLnBrk="1" fontAlgn="base" latinLnBrk="0" hangingPunct="1">
              <a:lnSpc>
                <a:spcPct val="110000"/>
              </a:lnSpc>
              <a:spcBef>
                <a:spcPct val="20000"/>
              </a:spcBef>
              <a:spcAft>
                <a:spcPct val="0"/>
              </a:spcAft>
              <a:buClr>
                <a:schemeClr val="accent2"/>
              </a:buClr>
              <a:buSzPct val="80000"/>
              <a:buFont typeface="Wingdings" panose="05000000000000000000" pitchFamily="2" charset="2"/>
              <a:buChar char="l"/>
              <a:defRPr/>
            </a:pPr>
            <a:r>
              <a:rPr kumimoji="1" lang="zh-CN" altLang="en-US" sz="3200" b="1" i="0" u="none" strike="noStrike" kern="0" cap="none" spc="0" normalizeH="0" baseline="0" noProof="0" dirty="0">
                <a:ln>
                  <a:noFill/>
                </a:ln>
                <a:solidFill>
                  <a:schemeClr val="tx2"/>
                </a:solidFill>
                <a:effectLst/>
                <a:uLnTx/>
                <a:uFillTx/>
                <a:latin typeface="+mn-lt"/>
                <a:ea typeface="华文中宋" panose="02010600040101010101" pitchFamily="2" charset="-122"/>
                <a:cs typeface="+mn-cs"/>
              </a:rPr>
              <a:t>合金系：</a:t>
            </a:r>
            <a:r>
              <a:rPr kumimoji="1" lang="zh-CN" altLang="en-US" sz="3200" b="1" i="0" u="none" strike="noStrike" kern="1200" cap="none" spc="0" normalizeH="0" baseline="0" noProof="0" dirty="0">
                <a:ln>
                  <a:noFill/>
                </a:ln>
                <a:effectLst/>
                <a:uLnTx/>
                <a:uFillTx/>
                <a:latin typeface="+mn-lt"/>
                <a:ea typeface="华文中宋" panose="02010600040101010101" pitchFamily="2" charset="-122"/>
                <a:cs typeface="+mn-cs"/>
              </a:rPr>
              <a:t>由</a:t>
            </a:r>
            <a:r>
              <a:rPr kumimoji="1" lang="zh-CN" altLang="en-US" sz="3200" b="1" i="0" u="none" strike="noStrike" kern="0" cap="none" spc="0" normalizeH="0" baseline="0" noProof="0" dirty="0">
                <a:ln>
                  <a:noFill/>
                </a:ln>
                <a:solidFill>
                  <a:schemeClr val="folHlink"/>
                </a:solidFill>
                <a:effectLst/>
                <a:uLnTx/>
                <a:uFillTx/>
                <a:latin typeface="+mn-lt"/>
                <a:ea typeface="华文中宋" panose="02010600040101010101" pitchFamily="2" charset="-122"/>
                <a:cs typeface="+mn-cs"/>
              </a:rPr>
              <a:t>两个或两个以上元素</a:t>
            </a:r>
            <a:r>
              <a:rPr kumimoji="1" lang="zh-CN" altLang="en-US" sz="3200" b="1" i="0" u="none" strike="noStrike" kern="1200" cap="none" spc="0" normalizeH="0" baseline="0" noProof="0" dirty="0">
                <a:ln>
                  <a:noFill/>
                </a:ln>
                <a:effectLst/>
                <a:uLnTx/>
                <a:uFillTx/>
                <a:latin typeface="+mn-lt"/>
                <a:ea typeface="华文中宋" panose="02010600040101010101" pitchFamily="2" charset="-122"/>
                <a:cs typeface="+mn-cs"/>
              </a:rPr>
              <a:t>按</a:t>
            </a:r>
            <a:r>
              <a:rPr kumimoji="1" lang="zh-CN" altLang="en-US" sz="3200" b="1" i="0" u="none" strike="noStrike" kern="0" cap="none" spc="0" normalizeH="0" baseline="0" noProof="0" dirty="0">
                <a:ln>
                  <a:noFill/>
                </a:ln>
                <a:solidFill>
                  <a:schemeClr val="folHlink"/>
                </a:solidFill>
                <a:effectLst/>
                <a:uLnTx/>
                <a:uFillTx/>
                <a:latin typeface="+mn-lt"/>
                <a:ea typeface="华文中宋" panose="02010600040101010101" pitchFamily="2" charset="-122"/>
                <a:cs typeface="+mn-cs"/>
              </a:rPr>
              <a:t>不同比例配制</a:t>
            </a:r>
            <a:r>
              <a:rPr kumimoji="1" lang="zh-CN" altLang="en-US" sz="3200" b="1" i="0" u="none" strike="noStrike" kern="1200" cap="none" spc="0" normalizeH="0" baseline="0" noProof="0" dirty="0">
                <a:ln>
                  <a:noFill/>
                </a:ln>
                <a:effectLst/>
                <a:uLnTx/>
                <a:uFillTx/>
                <a:latin typeface="+mn-lt"/>
                <a:ea typeface="华文中宋" panose="02010600040101010101" pitchFamily="2" charset="-122"/>
                <a:cs typeface="+mn-cs"/>
              </a:rPr>
              <a:t>的</a:t>
            </a:r>
            <a:r>
              <a:rPr kumimoji="1" lang="zh-CN" altLang="en-US" sz="3200" b="1" i="0" u="none" strike="noStrike" kern="0" cap="none" spc="0" normalizeH="0" baseline="0" noProof="0" dirty="0">
                <a:ln>
                  <a:noFill/>
                </a:ln>
                <a:solidFill>
                  <a:schemeClr val="folHlink"/>
                </a:solidFill>
                <a:effectLst/>
                <a:uLnTx/>
                <a:uFillTx/>
                <a:latin typeface="+mn-lt"/>
                <a:ea typeface="华文中宋" panose="02010600040101010101" pitchFamily="2" charset="-122"/>
                <a:cs typeface="+mn-cs"/>
              </a:rPr>
              <a:t>一系列不同成分</a:t>
            </a:r>
            <a:r>
              <a:rPr kumimoji="1" lang="zh-CN" altLang="en-US" sz="3200" b="1" i="0" u="none" strike="noStrike" kern="1200" cap="none" spc="0" normalizeH="0" baseline="0" noProof="0" dirty="0">
                <a:ln>
                  <a:noFill/>
                </a:ln>
                <a:effectLst/>
                <a:uLnTx/>
                <a:uFillTx/>
                <a:latin typeface="+mn-lt"/>
                <a:ea typeface="华文中宋" panose="02010600040101010101" pitchFamily="2" charset="-122"/>
                <a:cs typeface="+mn-cs"/>
              </a:rPr>
              <a:t>的</a:t>
            </a:r>
            <a:r>
              <a:rPr kumimoji="1" lang="zh-CN" altLang="en-US" sz="3200" b="1" i="0" u="none" strike="noStrike" kern="0" cap="none" spc="0" normalizeH="0" baseline="0" noProof="0" dirty="0">
                <a:ln>
                  <a:noFill/>
                </a:ln>
                <a:solidFill>
                  <a:schemeClr val="folHlink"/>
                </a:solidFill>
                <a:effectLst/>
                <a:uLnTx/>
                <a:uFillTx/>
                <a:latin typeface="+mn-lt"/>
                <a:ea typeface="华文中宋" panose="02010600040101010101" pitchFamily="2" charset="-122"/>
                <a:cs typeface="+mn-cs"/>
              </a:rPr>
              <a:t>合金。</a:t>
            </a:r>
            <a:endParaRPr kumimoji="1" lang="en-US" altLang="zh-CN" sz="3200" b="1" i="0" u="none" strike="noStrike" kern="0" cap="none" spc="0" normalizeH="0" baseline="0" noProof="0" dirty="0">
              <a:ln>
                <a:noFill/>
              </a:ln>
              <a:solidFill>
                <a:schemeClr val="folHlink"/>
              </a:solidFill>
              <a:effectLst/>
              <a:uLnTx/>
              <a:uFillTx/>
              <a:latin typeface="+mn-lt"/>
              <a:ea typeface="华文中宋" panose="02010600040101010101" pitchFamily="2" charset="-122"/>
              <a:cs typeface="+mn-cs"/>
            </a:endParaRPr>
          </a:p>
          <a:p>
            <a:pPr marL="342900" lvl="0" indent="-342900" eaLnBrk="1" hangingPunct="1">
              <a:lnSpc>
                <a:spcPct val="110000"/>
              </a:lnSpc>
              <a:spcBef>
                <a:spcPct val="20000"/>
              </a:spcBef>
              <a:buClr>
                <a:schemeClr val="accent2"/>
              </a:buClr>
              <a:buSzPct val="80000"/>
              <a:buFont typeface="Wingdings" panose="05000000000000000000" pitchFamily="2" charset="2"/>
              <a:buChar char="l"/>
            </a:pPr>
            <a:r>
              <a:rPr lang="zh-CN" altLang="en-US" sz="3200" b="1" dirty="0">
                <a:solidFill>
                  <a:schemeClr val="tx2"/>
                </a:solidFill>
                <a:latin typeface="Times New Roman" panose="02020603050405020304" pitchFamily="18" charset="0"/>
                <a:ea typeface="华文中宋" panose="02010600040101010101" pitchFamily="2" charset="-122"/>
              </a:rPr>
              <a:t>组元：</a:t>
            </a:r>
            <a:r>
              <a:rPr lang="zh-CN" altLang="en-US" sz="3200" b="1" dirty="0">
                <a:latin typeface="Times New Roman" panose="02020603050405020304" pitchFamily="18" charset="0"/>
                <a:ea typeface="华文中宋" panose="02010600040101010101" pitchFamily="2" charset="-122"/>
              </a:rPr>
              <a:t>组成合金的最简单、最基本、能够独立存在的物质。</a:t>
            </a:r>
          </a:p>
          <a:p>
            <a:pPr marL="342900" lvl="0" indent="-342900" eaLnBrk="1" hangingPunct="1">
              <a:lnSpc>
                <a:spcPct val="110000"/>
              </a:lnSpc>
              <a:spcBef>
                <a:spcPct val="20000"/>
              </a:spcBef>
              <a:buClr>
                <a:schemeClr val="accent2"/>
              </a:buClr>
              <a:buSzPct val="80000"/>
              <a:buFont typeface="Wingdings" panose="05000000000000000000" pitchFamily="2" charset="2"/>
              <a:buChar char="l"/>
            </a:pPr>
            <a:r>
              <a:rPr lang="zh-CN" altLang="en-US" sz="3200" b="1" dirty="0">
                <a:latin typeface="Times New Roman" panose="02020603050405020304" pitchFamily="18" charset="0"/>
                <a:ea typeface="华文中宋" panose="02010600040101010101" pitchFamily="2" charset="-122"/>
              </a:rPr>
              <a:t>多数情况下</a:t>
            </a:r>
            <a:r>
              <a:rPr lang="zh-CN" altLang="en-US" sz="3200" b="1" dirty="0">
                <a:solidFill>
                  <a:srgbClr val="0000FF"/>
                </a:solidFill>
                <a:latin typeface="Times New Roman" panose="02020603050405020304" pitchFamily="18" charset="0"/>
                <a:ea typeface="华文中宋" panose="02010600040101010101" pitchFamily="2" charset="-122"/>
                <a:cs typeface="+mn-ea"/>
              </a:rPr>
              <a:t>组元</a:t>
            </a:r>
            <a:r>
              <a:rPr lang="zh-CN" altLang="en-US" sz="3200" b="1" dirty="0">
                <a:latin typeface="Times New Roman" panose="02020603050405020304" pitchFamily="18" charset="0"/>
                <a:ea typeface="华文中宋" panose="02010600040101010101" pitchFamily="2" charset="-122"/>
                <a:cs typeface="+mn-ea"/>
              </a:rPr>
              <a:t>是指</a:t>
            </a:r>
            <a:r>
              <a:rPr lang="zh-CN" altLang="en-US" sz="3200" b="1" dirty="0">
                <a:latin typeface="Times New Roman" panose="02020603050405020304" pitchFamily="18" charset="0"/>
                <a:ea typeface="华文中宋" panose="02010600040101010101" pitchFamily="2" charset="-122"/>
              </a:rPr>
              <a:t>组成合金</a:t>
            </a:r>
            <a:r>
              <a:rPr lang="zh-CN" altLang="en-US" sz="3200" b="1" dirty="0">
                <a:latin typeface="Times New Roman" panose="02020603050405020304" pitchFamily="18" charset="0"/>
                <a:ea typeface="华文中宋" panose="02010600040101010101" pitchFamily="2" charset="-122"/>
                <a:cs typeface="+mn-ea"/>
              </a:rPr>
              <a:t>的</a:t>
            </a:r>
            <a:r>
              <a:rPr lang="zh-CN" altLang="en-US" sz="3200" b="1" dirty="0">
                <a:solidFill>
                  <a:srgbClr val="0000FF"/>
                </a:solidFill>
                <a:latin typeface="Times New Roman" panose="02020603050405020304" pitchFamily="18" charset="0"/>
                <a:ea typeface="华文中宋" panose="02010600040101010101" pitchFamily="2" charset="-122"/>
                <a:cs typeface="+mn-ea"/>
              </a:rPr>
              <a:t>元素</a:t>
            </a:r>
            <a:r>
              <a:rPr lang="zh-CN" altLang="en-US" sz="3200" b="1" dirty="0">
                <a:latin typeface="Times New Roman" panose="02020603050405020304" pitchFamily="18" charset="0"/>
                <a:ea typeface="华文中宋" panose="02010600040101010101" pitchFamily="2" charset="-122"/>
              </a:rPr>
              <a:t>。但对于既不发生分解、又不发生任何反应的</a:t>
            </a:r>
            <a:r>
              <a:rPr lang="zh-CN" altLang="en-US" sz="3200" b="1" dirty="0">
                <a:solidFill>
                  <a:srgbClr val="0000FF"/>
                </a:solidFill>
                <a:latin typeface="Times New Roman" panose="02020603050405020304" pitchFamily="18" charset="0"/>
                <a:ea typeface="华文中宋" panose="02010600040101010101" pitchFamily="2" charset="-122"/>
                <a:cs typeface="+mn-ea"/>
              </a:rPr>
              <a:t>化合物</a:t>
            </a:r>
            <a:r>
              <a:rPr lang="zh-CN" altLang="en-US" sz="3200" b="1" dirty="0">
                <a:latin typeface="Times New Roman" panose="02020603050405020304" pitchFamily="18" charset="0"/>
                <a:ea typeface="华文中宋" panose="02010600040101010101" pitchFamily="2" charset="-122"/>
              </a:rPr>
              <a:t>也可看作组元</a:t>
            </a:r>
            <a:r>
              <a:rPr lang="en-US" altLang="zh-CN" sz="3200" b="1" dirty="0">
                <a:latin typeface="Times New Roman" panose="02020603050405020304" pitchFamily="18" charset="0"/>
                <a:ea typeface="华文中宋" panose="02010600040101010101" pitchFamily="2" charset="-122"/>
              </a:rPr>
              <a:t>, </a:t>
            </a:r>
            <a:r>
              <a:rPr lang="zh-CN" altLang="en-US" sz="3200" b="1" dirty="0">
                <a:latin typeface="Times New Roman" panose="02020603050405020304" pitchFamily="18" charset="0"/>
                <a:ea typeface="华文中宋" panose="02010600040101010101" pitchFamily="2" charset="-122"/>
              </a:rPr>
              <a:t>如</a:t>
            </a:r>
            <a:r>
              <a:rPr lang="en-US" altLang="zh-CN" sz="3200" b="1" dirty="0">
                <a:latin typeface="Times New Roman" panose="02020603050405020304" pitchFamily="18" charset="0"/>
                <a:ea typeface="华文中宋" panose="02010600040101010101" pitchFamily="2" charset="-122"/>
              </a:rPr>
              <a:t>Fe-C</a:t>
            </a:r>
            <a:r>
              <a:rPr lang="zh-CN" altLang="en-US" sz="3200" b="1" dirty="0">
                <a:latin typeface="Times New Roman" panose="02020603050405020304" pitchFamily="18" charset="0"/>
                <a:ea typeface="华文中宋" panose="02010600040101010101" pitchFamily="2" charset="-122"/>
              </a:rPr>
              <a:t>合金中的</a:t>
            </a:r>
            <a:r>
              <a:rPr lang="en-US" altLang="zh-CN" sz="3200" b="1" dirty="0">
                <a:solidFill>
                  <a:schemeClr val="folHlink"/>
                </a:solidFill>
                <a:latin typeface="Times New Roman" panose="02020603050405020304" pitchFamily="18" charset="0"/>
                <a:ea typeface="华文中宋" panose="02010600040101010101" pitchFamily="2" charset="-122"/>
              </a:rPr>
              <a:t>Fe</a:t>
            </a:r>
            <a:r>
              <a:rPr lang="en-US" altLang="zh-CN" sz="3200" b="1" baseline="-25000" dirty="0">
                <a:solidFill>
                  <a:schemeClr val="folHlink"/>
                </a:solidFill>
                <a:latin typeface="Times New Roman" panose="02020603050405020304" pitchFamily="18" charset="0"/>
                <a:ea typeface="华文中宋" panose="02010600040101010101" pitchFamily="2" charset="-122"/>
              </a:rPr>
              <a:t>3</a:t>
            </a:r>
            <a:r>
              <a:rPr lang="en-US" altLang="zh-CN" sz="3200" b="1" dirty="0">
                <a:solidFill>
                  <a:schemeClr val="folHlink"/>
                </a:solidFill>
                <a:latin typeface="Times New Roman" panose="02020603050405020304" pitchFamily="18" charset="0"/>
                <a:ea typeface="华文中宋" panose="02010600040101010101" pitchFamily="2" charset="-122"/>
              </a:rPr>
              <a:t>C</a:t>
            </a:r>
            <a:r>
              <a:rPr lang="en-US" altLang="zh-CN" sz="3200" b="1" dirty="0">
                <a:latin typeface="Times New Roman" panose="02020603050405020304" pitchFamily="18" charset="0"/>
                <a:ea typeface="华文中宋" panose="02010600040101010101" pitchFamily="2" charset="-122"/>
              </a:rPr>
              <a:t>.</a:t>
            </a:r>
          </a:p>
          <a:p>
            <a:pPr marL="342900" marR="0" lvl="0" indent="-342900" algn="l" defTabSz="914400" rtl="0" eaLnBrk="1" fontAlgn="base" latinLnBrk="0" hangingPunct="1">
              <a:lnSpc>
                <a:spcPct val="140000"/>
              </a:lnSpc>
              <a:spcBef>
                <a:spcPct val="20000"/>
              </a:spcBef>
              <a:spcAft>
                <a:spcPct val="0"/>
              </a:spcAft>
              <a:buClr>
                <a:schemeClr val="accent2"/>
              </a:buClr>
              <a:buSzPct val="80000"/>
              <a:buFont typeface="Wingdings" panose="05000000000000000000" pitchFamily="2" charset="2"/>
              <a:buChar char="l"/>
              <a:defRPr/>
            </a:pPr>
            <a:endParaRPr kumimoji="1" lang="zh-CN" altLang="en-US" sz="3200" b="1" i="0" u="none" strike="noStrike" kern="0" cap="none" spc="0" normalizeH="0" baseline="0" noProof="0" dirty="0">
              <a:ln>
                <a:noFill/>
              </a:ln>
              <a:solidFill>
                <a:schemeClr val="tx2"/>
              </a:solidFill>
              <a:effectLst/>
              <a:uLnTx/>
              <a:uFillTx/>
              <a:latin typeface="+mn-lt"/>
              <a:ea typeface="华文中宋"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endParaRPr kumimoji="0" lang="en-US" altLang="zh-CN" sz="3200" b="0" i="0" u="none" strike="noStrike" kern="0" cap="none" spc="0" normalizeH="0" baseline="0" noProof="0" dirty="0">
              <a:ln>
                <a:noFill/>
              </a:ln>
              <a:solidFill>
                <a:schemeClr val="tx1"/>
              </a:solidFill>
              <a:effectLst/>
              <a:uLnTx/>
              <a:uFillTx/>
              <a:latin typeface="+mn-lt"/>
              <a:ea typeface="+mn-ea"/>
              <a:cs typeface="+mn-cs"/>
            </a:endParaRPr>
          </a:p>
        </p:txBody>
      </p:sp>
      <p:sp>
        <p:nvSpPr>
          <p:cNvPr id="21510" name="日期占位符 1"/>
          <p:cNvSpPr>
            <a:spLocks noGrp="1"/>
          </p:cNvSpPr>
          <p:nvPr>
            <p:ph type="dt" sz="half" idx="10"/>
          </p:nvPr>
        </p:nvSpPr>
        <p:spPr>
          <a:xfrm>
            <a:off x="0" y="6529388"/>
            <a:ext cx="1905000" cy="342900"/>
          </a:xfrm>
        </p:spPr>
        <p:txBody>
          <a:bodyPr wrap="square" lIns="91440" tIns="45720" rIns="91440" bIns="45720" anchor="b"/>
          <a:lst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stStyle>
          <a:p>
            <a:pPr lvl="0" indent="0"/>
            <a:fld id="{BB962C8B-B14F-4D97-AF65-F5344CB8AC3E}" type="datetime8">
              <a:rPr lang="en-US" altLang="zh-CN" sz="1400" dirty="0"/>
              <a:t>11/20/2025 5:38 PM</a:t>
            </a:fld>
            <a:endParaRPr lang="en-US" altLang="zh-CN" sz="1400" dirty="0"/>
          </a:p>
        </p:txBody>
      </p:sp>
      <p:pic>
        <p:nvPicPr>
          <p:cNvPr id="8" name="内容占位符 1" descr="新校徽（3M）弓之乐"/>
          <p:cNvPicPr>
            <a:picLocks noChangeAspect="1"/>
          </p:cNvPicPr>
          <p:nvPr/>
        </p:nvPicPr>
        <p:blipFill>
          <a:blip r:embed="rId2" cstate="print"/>
          <a:stretch>
            <a:fillRect/>
          </a:stretch>
        </p:blipFill>
        <p:spPr>
          <a:xfrm>
            <a:off x="19685" y="3175"/>
            <a:ext cx="746760" cy="735965"/>
          </a:xfrm>
          <a:prstGeom prst="rect">
            <a:avLst/>
          </a:prstGeom>
          <a:noFill/>
          <a:ln w="9525">
            <a:noFill/>
          </a:ln>
        </p:spPr>
      </p:pic>
      <p:sp>
        <p:nvSpPr>
          <p:cNvPr id="6" name="圆角矩形 6" descr="7b0a202020202262756c6c6574223a20227b5c2263617465676f727949645c223a31303032352c5c2274656d706c61746549645c223a32303233313437347d220a7d0a"/>
          <p:cNvSpPr/>
          <p:nvPr/>
        </p:nvSpPr>
        <p:spPr>
          <a:xfrm>
            <a:off x="1043940" y="1988820"/>
            <a:ext cx="1311910" cy="480060"/>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28575" cmpd="dbl">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800" b="1" dirty="0">
                <a:solidFill>
                  <a:srgbClr val="0066FF"/>
                </a:solidFill>
                <a:latin typeface="华文中宋" panose="02010600040101010101" pitchFamily="2" charset="-122"/>
                <a:ea typeface="华文中宋" panose="02010600040101010101" pitchFamily="2" charset="-122"/>
                <a:sym typeface="+mn-ea"/>
              </a:rPr>
              <a:t>合金系</a:t>
            </a:r>
          </a:p>
        </p:txBody>
      </p:sp>
      <p:sp>
        <p:nvSpPr>
          <p:cNvPr id="2" name="圆角矩形 6" descr="7b0a202020202262756c6c6574223a20227b5c2263617465676f727949645c223a31303032352c5c2274656d706c61746549645c223a32303233313437347d220a7d0a"/>
          <p:cNvSpPr/>
          <p:nvPr/>
        </p:nvSpPr>
        <p:spPr>
          <a:xfrm>
            <a:off x="1043940" y="3141345"/>
            <a:ext cx="943610" cy="480060"/>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28575" cmpd="dbl">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800" b="1" dirty="0">
                <a:solidFill>
                  <a:srgbClr val="0066FF"/>
                </a:solidFill>
                <a:latin typeface="华文中宋" panose="02010600040101010101" pitchFamily="2" charset="-122"/>
                <a:ea typeface="华文中宋" panose="02010600040101010101" pitchFamily="2" charset="-122"/>
                <a:sym typeface="+mn-ea"/>
              </a:rPr>
              <a:t>组元</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5"/>
          <p:cNvSpPr>
            <a:spLocks noGrp="1"/>
          </p:cNvSpPr>
          <p:nvPr>
            <p:ph type="sldNum" sz="quarter" idx="12"/>
          </p:nvPr>
        </p:nvSpPr>
        <p:spPr>
          <a:xfrm>
            <a:off x="8456613" y="6546850"/>
            <a:ext cx="490537" cy="298450"/>
          </a:xfrm>
        </p:spPr>
        <p:txBody>
          <a:bodyPr wrap="square" lIns="91440" tIns="45720" rIns="91440" bIns="45720" anchor="b"/>
          <a:lstStyle/>
          <a:p>
            <a:pPr algn="r"/>
            <a:fld id="{9A0DB2DC-4C9A-4742-B13C-FB6460FD3503}" type="slidenum">
              <a:rPr lang="en-US" altLang="zh-CN" sz="1400" dirty="0"/>
              <a:t>37</a:t>
            </a:fld>
            <a:endParaRPr lang="en-US" altLang="zh-CN" sz="1400" dirty="0"/>
          </a:p>
        </p:txBody>
      </p:sp>
      <p:sp>
        <p:nvSpPr>
          <p:cNvPr id="22530" name="Rectangle 2"/>
          <p:cNvSpPr>
            <a:spLocks noGrp="1"/>
          </p:cNvSpPr>
          <p:nvPr>
            <p:ph type="title"/>
          </p:nvPr>
        </p:nvSpPr>
        <p:spPr>
          <a:xfrm>
            <a:off x="899592" y="333375"/>
            <a:ext cx="8064896" cy="1143000"/>
          </a:xfrm>
        </p:spPr>
        <p:txBody>
          <a:bodyPr wrap="square" lIns="91440" tIns="45720" rIns="91440" bIns="45720" anchor="b"/>
          <a:lstStyle/>
          <a:p>
            <a:pPr algn="ctr" eaLnBrk="1" hangingPunct="1"/>
            <a:r>
              <a:rPr kumimoji="1" lang="zh-CN" altLang="en-US" sz="48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合金的结晶</a:t>
            </a:r>
            <a:r>
              <a:rPr kumimoji="1" lang="en-US" altLang="zh-CN" sz="48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a:t>
            </a:r>
            <a:r>
              <a:rPr kumimoji="1" lang="zh-CN" altLang="en-US" sz="48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相图</a:t>
            </a:r>
            <a:endParaRPr lang="zh-CN" altLang="en-US" sz="4800" b="1" dirty="0">
              <a:solidFill>
                <a:srgbClr val="FF0000"/>
              </a:solidFill>
              <a:latin typeface="Times New Roman" panose="02020603050405020304" pitchFamily="18" charset="0"/>
              <a:cs typeface="Times New Roman" panose="02020603050405020304" pitchFamily="18" charset="0"/>
            </a:endParaRPr>
          </a:p>
        </p:txBody>
      </p:sp>
      <p:sp>
        <p:nvSpPr>
          <p:cNvPr id="168963" name="Rectangle 3"/>
          <p:cNvSpPr>
            <a:spLocks noGrp="1" noChangeArrowheads="1"/>
          </p:cNvSpPr>
          <p:nvPr>
            <p:ph idx="1"/>
          </p:nvPr>
        </p:nvSpPr>
        <p:spPr>
          <a:xfrm>
            <a:off x="685800" y="1844675"/>
            <a:ext cx="8207375" cy="4679950"/>
          </a:xfrm>
        </p:spPr>
        <p:txBody>
          <a:bodyPr vert="horz" wrap="square" lIns="91440" tIns="45720" rIns="91440" bIns="45720" numCol="1" anchor="t" anchorCtr="0" compatLnSpc="1"/>
          <a:lstStyle/>
          <a:p>
            <a:pPr eaLnBrk="1" hangingPunct="1">
              <a:lnSpc>
                <a:spcPct val="140000"/>
              </a:lnSpc>
            </a:pPr>
            <a:r>
              <a:rPr lang="zh-CN" altLang="en-US" b="1" dirty="0">
                <a:solidFill>
                  <a:schemeClr val="tx2"/>
                </a:solidFill>
                <a:latin typeface="华文中宋" panose="02010600040101010101" pitchFamily="2" charset="-122"/>
                <a:ea typeface="华文中宋" panose="02010600040101010101" pitchFamily="2" charset="-122"/>
              </a:rPr>
              <a:t>相图</a:t>
            </a:r>
            <a:r>
              <a:rPr lang="zh-CN" altLang="en-US" b="1" dirty="0">
                <a:latin typeface="华文中宋" panose="02010600040101010101" pitchFamily="2" charset="-122"/>
                <a:ea typeface="华文中宋" panose="02010600040101010101" pitchFamily="2" charset="-122"/>
              </a:rPr>
              <a:t>表示了</a:t>
            </a:r>
            <a:r>
              <a:rPr lang="zh-CN" altLang="en-US" b="1" dirty="0">
                <a:solidFill>
                  <a:schemeClr val="folHlink"/>
                </a:solidFill>
                <a:latin typeface="华文中宋" panose="02010600040101010101" pitchFamily="2" charset="-122"/>
                <a:ea typeface="华文中宋" panose="02010600040101010101" pitchFamily="2" charset="-122"/>
              </a:rPr>
              <a:t>在</a:t>
            </a:r>
            <a:r>
              <a:rPr lang="zh-CN" altLang="en-US" b="1" dirty="0">
                <a:solidFill>
                  <a:srgbClr val="FF0000"/>
                </a:solidFill>
                <a:latin typeface="华文中宋" panose="02010600040101010101" pitchFamily="2" charset="-122"/>
                <a:ea typeface="华文中宋" panose="02010600040101010101" pitchFamily="2" charset="-122"/>
              </a:rPr>
              <a:t>缓冷条件下</a:t>
            </a:r>
            <a:r>
              <a:rPr lang="zh-CN" altLang="en-US" b="1" dirty="0">
                <a:solidFill>
                  <a:schemeClr val="folHlink"/>
                </a:solidFill>
                <a:latin typeface="华文中宋" panose="02010600040101010101" pitchFamily="2" charset="-122"/>
                <a:ea typeface="华文中宋" panose="02010600040101010101" pitchFamily="2" charset="-122"/>
              </a:rPr>
              <a:t>不同成分合金的组织随温度变化的规律，</a:t>
            </a:r>
            <a:r>
              <a:rPr lang="zh-CN" altLang="en-US" b="1" dirty="0">
                <a:latin typeface="华文中宋" panose="02010600040101010101" pitchFamily="2" charset="-122"/>
                <a:ea typeface="华文中宋" panose="02010600040101010101" pitchFamily="2" charset="-122"/>
              </a:rPr>
              <a:t>是制订</a:t>
            </a:r>
            <a:r>
              <a:rPr lang="zh-CN" altLang="en-US" b="1" dirty="0">
                <a:solidFill>
                  <a:schemeClr val="folHlink"/>
                </a:solidFill>
                <a:latin typeface="华文中宋" panose="02010600040101010101" pitchFamily="2" charset="-122"/>
                <a:ea typeface="华文中宋" panose="02010600040101010101" pitchFamily="2" charset="-122"/>
              </a:rPr>
              <a:t>熔炼、铸造、热加工及热处理</a:t>
            </a:r>
            <a:r>
              <a:rPr lang="zh-CN" altLang="en-US" b="1" dirty="0">
                <a:latin typeface="华文中宋" panose="02010600040101010101" pitchFamily="2" charset="-122"/>
                <a:ea typeface="华文中宋" panose="02010600040101010101" pitchFamily="2" charset="-122"/>
              </a:rPr>
              <a:t>工艺的重要依据。</a:t>
            </a:r>
          </a:p>
          <a:p>
            <a:pPr eaLnBrk="1" hangingPunct="1">
              <a:lnSpc>
                <a:spcPct val="140000"/>
              </a:lnSpc>
            </a:pPr>
            <a:r>
              <a:rPr lang="zh-CN" altLang="en-US" b="1" dirty="0">
                <a:solidFill>
                  <a:schemeClr val="folHlink"/>
                </a:solidFill>
                <a:latin typeface="华文中宋" panose="02010600040101010101" pitchFamily="2" charset="-122"/>
                <a:ea typeface="华文中宋" panose="02010600040101010101" pitchFamily="2" charset="-122"/>
              </a:rPr>
              <a:t>类型：</a:t>
            </a:r>
            <a:r>
              <a:rPr lang="zh-CN" altLang="en-US" b="1" dirty="0">
                <a:latin typeface="华文中宋" panose="02010600040101010101" pitchFamily="2" charset="-122"/>
                <a:ea typeface="华文中宋" panose="02010600040101010101" pitchFamily="2" charset="-122"/>
              </a:rPr>
              <a:t>根据</a:t>
            </a:r>
            <a:r>
              <a:rPr lang="zh-CN" altLang="en-US" b="1" dirty="0">
                <a:solidFill>
                  <a:schemeClr val="folHlink"/>
                </a:solidFill>
                <a:latin typeface="华文中宋" panose="02010600040101010101" pitchFamily="2" charset="-122"/>
                <a:ea typeface="华文中宋" panose="02010600040101010101" pitchFamily="2" charset="-122"/>
              </a:rPr>
              <a:t>组元数</a:t>
            </a:r>
            <a:r>
              <a:rPr lang="en-US" altLang="zh-CN" b="1" dirty="0">
                <a:latin typeface="华文中宋" panose="02010600040101010101" pitchFamily="2" charset="-122"/>
                <a:ea typeface="华文中宋" panose="02010600040101010101" pitchFamily="2" charset="-122"/>
              </a:rPr>
              <a:t>, </a:t>
            </a:r>
            <a:r>
              <a:rPr lang="zh-CN" altLang="en-US" b="1" dirty="0">
                <a:latin typeface="华文中宋" panose="02010600040101010101" pitchFamily="2" charset="-122"/>
                <a:ea typeface="华文中宋" panose="02010600040101010101" pitchFamily="2" charset="-122"/>
              </a:rPr>
              <a:t>分为</a:t>
            </a:r>
            <a:r>
              <a:rPr lang="zh-CN" altLang="en-US" b="1" dirty="0">
                <a:solidFill>
                  <a:schemeClr val="folHlink"/>
                </a:solidFill>
                <a:latin typeface="华文中宋" panose="02010600040101010101" pitchFamily="2" charset="-122"/>
                <a:ea typeface="华文中宋" panose="02010600040101010101" pitchFamily="2" charset="-122"/>
              </a:rPr>
              <a:t>二元相图</a:t>
            </a:r>
            <a:r>
              <a:rPr lang="zh-CN" altLang="en-US" b="1" dirty="0">
                <a:latin typeface="华文中宋" panose="02010600040101010101" pitchFamily="2" charset="-122"/>
                <a:ea typeface="华文中宋" panose="02010600040101010101" pitchFamily="2" charset="-122"/>
              </a:rPr>
              <a:t>、</a:t>
            </a:r>
            <a:r>
              <a:rPr lang="zh-CN" altLang="en-US" b="1" dirty="0">
                <a:solidFill>
                  <a:srgbClr val="FF0000"/>
                </a:solidFill>
                <a:latin typeface="华文中宋" panose="02010600040101010101" pitchFamily="2" charset="-122"/>
                <a:ea typeface="华文中宋" panose="02010600040101010101" pitchFamily="2" charset="-122"/>
              </a:rPr>
              <a:t>三元相图</a:t>
            </a:r>
            <a:r>
              <a:rPr lang="zh-CN" altLang="en-US" b="1" dirty="0">
                <a:latin typeface="华文中宋" panose="02010600040101010101" pitchFamily="2" charset="-122"/>
                <a:ea typeface="华文中宋" panose="02010600040101010101" pitchFamily="2" charset="-122"/>
              </a:rPr>
              <a:t>和</a:t>
            </a:r>
            <a:r>
              <a:rPr lang="zh-CN" altLang="en-US" b="1" dirty="0">
                <a:solidFill>
                  <a:schemeClr val="folHlink"/>
                </a:solidFill>
                <a:latin typeface="华文中宋" panose="02010600040101010101" pitchFamily="2" charset="-122"/>
                <a:ea typeface="华文中宋" panose="02010600040101010101" pitchFamily="2" charset="-122"/>
              </a:rPr>
              <a:t>多元相图。</a:t>
            </a:r>
            <a:endParaRPr lang="en-US" altLang="zh-CN" b="1" dirty="0">
              <a:solidFill>
                <a:schemeClr val="folHlink"/>
              </a:solidFill>
              <a:latin typeface="华文中宋" panose="02010600040101010101" pitchFamily="2" charset="-122"/>
              <a:ea typeface="华文中宋" panose="02010600040101010101" pitchFamily="2" charset="-122"/>
            </a:endParaRPr>
          </a:p>
        </p:txBody>
      </p:sp>
      <p:sp>
        <p:nvSpPr>
          <p:cNvPr id="22533" name="日期占位符 1"/>
          <p:cNvSpPr>
            <a:spLocks noGrp="1"/>
          </p:cNvSpPr>
          <p:nvPr>
            <p:ph type="dt" sz="half" idx="10"/>
          </p:nvPr>
        </p:nvSpPr>
        <p:spPr>
          <a:xfrm>
            <a:off x="88900" y="6502400"/>
            <a:ext cx="1905000" cy="342900"/>
          </a:xfrm>
        </p:spPr>
        <p:txBody>
          <a:bodyPr wrap="square" lIns="91440" tIns="45720" rIns="91440" bIns="45720" anchor="b"/>
          <a:lst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stStyle>
          <a:p>
            <a:pPr lvl="0" indent="0"/>
            <a:fld id="{BB962C8B-B14F-4D97-AF65-F5344CB8AC3E}" type="datetime8">
              <a:rPr lang="en-US" altLang="zh-CN" sz="1400" dirty="0"/>
              <a:t>11/20/2025 5:38 PM</a:t>
            </a:fld>
            <a:endParaRPr lang="en-US" altLang="zh-CN" sz="1400" dirty="0"/>
          </a:p>
        </p:txBody>
      </p:sp>
      <p:pic>
        <p:nvPicPr>
          <p:cNvPr id="7" name="内容占位符 1" descr="新校徽（3M）弓之乐"/>
          <p:cNvPicPr>
            <a:picLocks noChangeAspect="1"/>
          </p:cNvPicPr>
          <p:nvPr/>
        </p:nvPicPr>
        <p:blipFill>
          <a:blip r:embed="rId2" cstate="print"/>
          <a:stretch>
            <a:fillRect/>
          </a:stretch>
        </p:blipFill>
        <p:spPr>
          <a:xfrm>
            <a:off x="19685" y="3175"/>
            <a:ext cx="746760" cy="735965"/>
          </a:xfrm>
          <a:prstGeom prst="rect">
            <a:avLst/>
          </a:prstGeom>
          <a:noFill/>
          <a:ln w="9525">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5"/>
          <p:cNvSpPr>
            <a:spLocks noGrp="1"/>
          </p:cNvSpPr>
          <p:nvPr>
            <p:ph type="sldNum" sz="quarter" idx="12"/>
          </p:nvPr>
        </p:nvSpPr>
        <p:spPr>
          <a:xfrm>
            <a:off x="8456613" y="6546850"/>
            <a:ext cx="490537" cy="298450"/>
          </a:xfrm>
        </p:spPr>
        <p:txBody>
          <a:bodyPr wrap="square" lIns="91440" tIns="45720" rIns="91440" bIns="45720" anchor="b"/>
          <a:lstStyle/>
          <a:p>
            <a:pPr algn="r"/>
            <a:fld id="{9A0DB2DC-4C9A-4742-B13C-FB6460FD3503}" type="slidenum">
              <a:rPr lang="en-US" altLang="zh-CN" sz="1400" dirty="0"/>
              <a:t>38</a:t>
            </a:fld>
            <a:endParaRPr lang="en-US" altLang="zh-CN" sz="1400" dirty="0"/>
          </a:p>
        </p:txBody>
      </p:sp>
      <p:sp>
        <p:nvSpPr>
          <p:cNvPr id="22530" name="Rectangle 2"/>
          <p:cNvSpPr>
            <a:spLocks noGrp="1"/>
          </p:cNvSpPr>
          <p:nvPr>
            <p:ph type="title"/>
          </p:nvPr>
        </p:nvSpPr>
        <p:spPr>
          <a:xfrm>
            <a:off x="899592" y="333375"/>
            <a:ext cx="8064896" cy="1143000"/>
          </a:xfrm>
        </p:spPr>
        <p:txBody>
          <a:bodyPr wrap="square" lIns="91440" tIns="45720" rIns="91440" bIns="45720" anchor="b"/>
          <a:lstStyle/>
          <a:p>
            <a:pPr algn="ctr" eaLnBrk="1" hangingPunct="1"/>
            <a:r>
              <a:rPr kumimoji="1" lang="zh-CN" altLang="en-US" sz="48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合金的结晶</a:t>
            </a:r>
            <a:r>
              <a:rPr kumimoji="1" lang="en-US" altLang="zh-CN" sz="48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a:t>
            </a:r>
            <a:r>
              <a:rPr kumimoji="1" lang="zh-CN" altLang="en-US" sz="48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相图</a:t>
            </a:r>
            <a:endParaRPr lang="zh-CN" altLang="en-US" sz="4800" b="1" dirty="0">
              <a:solidFill>
                <a:srgbClr val="FF0000"/>
              </a:solidFill>
              <a:latin typeface="Times New Roman" panose="02020603050405020304" pitchFamily="18" charset="0"/>
              <a:cs typeface="Times New Roman" panose="02020603050405020304" pitchFamily="18" charset="0"/>
            </a:endParaRPr>
          </a:p>
        </p:txBody>
      </p:sp>
      <p:sp>
        <p:nvSpPr>
          <p:cNvPr id="22533" name="日期占位符 1"/>
          <p:cNvSpPr>
            <a:spLocks noGrp="1"/>
          </p:cNvSpPr>
          <p:nvPr>
            <p:ph type="dt" sz="half" idx="10"/>
          </p:nvPr>
        </p:nvSpPr>
        <p:spPr>
          <a:xfrm>
            <a:off x="88900" y="6502400"/>
            <a:ext cx="1905000" cy="342900"/>
          </a:xfrm>
        </p:spPr>
        <p:txBody>
          <a:bodyPr wrap="square" lIns="91440" tIns="45720" rIns="91440" bIns="45720" anchor="b"/>
          <a:lst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stStyle>
          <a:p>
            <a:pPr lvl="0" indent="0"/>
            <a:fld id="{BB962C8B-B14F-4D97-AF65-F5344CB8AC3E}" type="datetime8">
              <a:rPr lang="en-US" altLang="zh-CN" sz="1400" dirty="0"/>
              <a:t>11/20/2025 5:38 PM</a:t>
            </a:fld>
            <a:endParaRPr lang="en-US" altLang="zh-CN" sz="1400" dirty="0"/>
          </a:p>
        </p:txBody>
      </p:sp>
      <p:pic>
        <p:nvPicPr>
          <p:cNvPr id="7" name="内容占位符 1" descr="新校徽（3M）弓之乐"/>
          <p:cNvPicPr>
            <a:picLocks noChangeAspect="1"/>
          </p:cNvPicPr>
          <p:nvPr/>
        </p:nvPicPr>
        <p:blipFill>
          <a:blip r:embed="rId2" cstate="print"/>
          <a:stretch>
            <a:fillRect/>
          </a:stretch>
        </p:blipFill>
        <p:spPr>
          <a:xfrm>
            <a:off x="19685" y="3175"/>
            <a:ext cx="746760" cy="735965"/>
          </a:xfrm>
          <a:prstGeom prst="rect">
            <a:avLst/>
          </a:prstGeom>
          <a:noFill/>
          <a:ln w="9525">
            <a:noFill/>
          </a:ln>
        </p:spPr>
      </p:pic>
      <p:grpSp>
        <p:nvGrpSpPr>
          <p:cNvPr id="2" name="Group 19"/>
          <p:cNvGrpSpPr/>
          <p:nvPr/>
        </p:nvGrpSpPr>
        <p:grpSpPr>
          <a:xfrm>
            <a:off x="1259632" y="1988840"/>
            <a:ext cx="2879551" cy="4445551"/>
            <a:chOff x="3120" y="816"/>
            <a:chExt cx="2267" cy="3053"/>
          </a:xfrm>
        </p:grpSpPr>
        <p:sp>
          <p:nvSpPr>
            <p:cNvPr id="3" name="Text Box 8"/>
            <p:cNvSpPr txBox="1"/>
            <p:nvPr/>
          </p:nvSpPr>
          <p:spPr>
            <a:xfrm>
              <a:off x="3144" y="3552"/>
              <a:ext cx="1896" cy="317"/>
            </a:xfrm>
            <a:prstGeom prst="rect">
              <a:avLst/>
            </a:prstGeom>
            <a:noFill/>
            <a:ln w="9525">
              <a:noFill/>
            </a:ln>
          </p:spPr>
          <p:txBody>
            <a:bodyPr wrap="square">
              <a:spAutoFit/>
            </a:bodyPr>
            <a:lstStyle>
              <a:defPPr>
                <a:defRPr lang="zh-CN"/>
              </a:defPPr>
              <a:lvl1pPr marL="0" lvl="0"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9pPr>
            </a:lstStyle>
            <a:p>
              <a:pPr lvl="0" algn="ctr" eaLnBrk="1" hangingPunct="1">
                <a:spcBef>
                  <a:spcPct val="50000"/>
                </a:spcBef>
              </a:pPr>
              <a:r>
                <a:rPr lang="en-US" altLang="zh-CN" sz="2400" b="1" dirty="0">
                  <a:solidFill>
                    <a:schemeClr val="folHlink"/>
                  </a:solidFill>
                  <a:latin typeface="Times New Roman" panose="02020603050405020304" pitchFamily="18" charset="0"/>
                  <a:ea typeface="华文中宋" panose="02010600040101010101" pitchFamily="2" charset="-122"/>
                </a:rPr>
                <a:t>Cu-Ni</a:t>
              </a:r>
              <a:r>
                <a:rPr lang="zh-CN" altLang="en-US" sz="2400" b="1" dirty="0">
                  <a:solidFill>
                    <a:schemeClr val="folHlink"/>
                  </a:solidFill>
                  <a:latin typeface="Times New Roman" panose="02020603050405020304" pitchFamily="18" charset="0"/>
                  <a:ea typeface="华文中宋" panose="02010600040101010101" pitchFamily="2" charset="-122"/>
                </a:rPr>
                <a:t>合金相图</a:t>
              </a:r>
            </a:p>
          </p:txBody>
        </p:sp>
        <p:grpSp>
          <p:nvGrpSpPr>
            <p:cNvPr id="4" name="Group 18"/>
            <p:cNvGrpSpPr/>
            <p:nvPr/>
          </p:nvGrpSpPr>
          <p:grpSpPr>
            <a:xfrm>
              <a:off x="3120" y="816"/>
              <a:ext cx="2267" cy="2756"/>
              <a:chOff x="3072" y="768"/>
              <a:chExt cx="2267" cy="2756"/>
            </a:xfrm>
          </p:grpSpPr>
          <p:pic>
            <p:nvPicPr>
              <p:cNvPr id="5" name="Picture 7" descr="Cu-Ni相图"/>
              <p:cNvPicPr>
                <a:picLocks noChangeAspect="1"/>
              </p:cNvPicPr>
              <p:nvPr/>
            </p:nvPicPr>
            <p:blipFill>
              <a:blip r:embed="rId3"/>
              <a:stretch>
                <a:fillRect/>
              </a:stretch>
            </p:blipFill>
            <p:spPr>
              <a:xfrm>
                <a:off x="3072" y="768"/>
                <a:ext cx="2267" cy="2756"/>
              </a:xfrm>
              <a:prstGeom prst="rect">
                <a:avLst/>
              </a:prstGeom>
              <a:noFill/>
              <a:ln w="38100" cap="flat" cmpd="sng">
                <a:solidFill>
                  <a:srgbClr val="FF00FF"/>
                </a:solidFill>
                <a:prstDash val="solid"/>
                <a:miter/>
                <a:headEnd type="none" w="med" len="med"/>
                <a:tailEnd type="none" w="med" len="med"/>
              </a:ln>
            </p:spPr>
          </p:pic>
          <p:sp>
            <p:nvSpPr>
              <p:cNvPr id="6" name="Rectangle 10"/>
              <p:cNvSpPr/>
              <p:nvPr/>
            </p:nvSpPr>
            <p:spPr>
              <a:xfrm>
                <a:off x="3840" y="1392"/>
                <a:ext cx="336" cy="28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defPPr>
                  <a:defRPr lang="zh-CN"/>
                </a:defPPr>
                <a:lvl1pPr marL="0" lvl="0"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9pPr>
              </a:lstStyle>
              <a:p>
                <a:pPr lvl="0" algn="ctr" eaLnBrk="1" hangingPunct="1"/>
                <a:r>
                  <a:rPr lang="en-US" altLang="zh-CN" sz="2000" b="1" dirty="0">
                    <a:solidFill>
                      <a:schemeClr val="bg2"/>
                    </a:solidFill>
                    <a:latin typeface="Times New Roman" panose="02020603050405020304" pitchFamily="18" charset="0"/>
                    <a:ea typeface="宋体" panose="02010600030101010101" pitchFamily="2" charset="-122"/>
                  </a:rPr>
                  <a:t>L</a:t>
                </a:r>
              </a:p>
            </p:txBody>
          </p:sp>
          <p:sp>
            <p:nvSpPr>
              <p:cNvPr id="8" name="Rectangle 11"/>
              <p:cNvSpPr/>
              <p:nvPr/>
            </p:nvSpPr>
            <p:spPr>
              <a:xfrm>
                <a:off x="4368" y="2352"/>
                <a:ext cx="240" cy="28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defPPr>
                  <a:defRPr lang="zh-CN"/>
                </a:defPPr>
                <a:lvl1pPr marL="0" lvl="0"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9pPr>
              </a:lstStyle>
              <a:p>
                <a:pPr lvl="0" algn="ctr" eaLnBrk="1" hangingPunct="1"/>
                <a:r>
                  <a:rPr lang="en-US" altLang="zh-CN" sz="2000" b="1" i="1" dirty="0">
                    <a:solidFill>
                      <a:schemeClr val="bg2"/>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000" b="1" i="1" dirty="0">
                  <a:solidFill>
                    <a:schemeClr val="bg2"/>
                  </a:solidFill>
                  <a:latin typeface="Times New Roman" panose="02020603050405020304" pitchFamily="18" charset="0"/>
                  <a:ea typeface="宋体" panose="02010600030101010101" pitchFamily="2" charset="-122"/>
                </a:endParaRPr>
              </a:p>
            </p:txBody>
          </p:sp>
          <p:sp>
            <p:nvSpPr>
              <p:cNvPr id="9" name="Rectangle 12"/>
              <p:cNvSpPr/>
              <p:nvPr/>
            </p:nvSpPr>
            <p:spPr>
              <a:xfrm>
                <a:off x="3900" y="3384"/>
                <a:ext cx="720" cy="9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defPPr>
                  <a:defRPr lang="zh-CN"/>
                </a:defPPr>
                <a:lvl1pPr marL="0" lvl="0"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9pPr>
              </a:lstStyle>
              <a:p>
                <a:pPr lvl="0" algn="ctr" eaLnBrk="1" hangingPunct="1"/>
                <a:r>
                  <a:rPr lang="zh-CN" altLang="en-US" sz="1600" b="1" dirty="0">
                    <a:solidFill>
                      <a:schemeClr val="bg2"/>
                    </a:solidFill>
                    <a:latin typeface="Times New Roman" panose="02020603050405020304" pitchFamily="18" charset="0"/>
                    <a:ea typeface="宋体" panose="02010600030101010101" pitchFamily="2" charset="-122"/>
                  </a:rPr>
                  <a:t>成分（</a:t>
                </a:r>
                <a:r>
                  <a:rPr lang="en-US" altLang="zh-CN" sz="1600" b="1" dirty="0">
                    <a:solidFill>
                      <a:schemeClr val="bg2"/>
                    </a:solidFill>
                    <a:latin typeface="Times New Roman" panose="02020603050405020304" pitchFamily="18" charset="0"/>
                    <a:ea typeface="宋体" panose="02010600030101010101" pitchFamily="2" charset="-122"/>
                  </a:rPr>
                  <a:t>wt %Ni</a:t>
                </a:r>
                <a:r>
                  <a:rPr lang="zh-CN" altLang="en-US" sz="1600" b="1" dirty="0">
                    <a:solidFill>
                      <a:schemeClr val="bg2"/>
                    </a:solidFill>
                    <a:latin typeface="Times New Roman" panose="02020603050405020304" pitchFamily="18" charset="0"/>
                    <a:ea typeface="宋体" panose="02010600030101010101" pitchFamily="2" charset="-122"/>
                  </a:rPr>
                  <a:t>）</a:t>
                </a:r>
              </a:p>
            </p:txBody>
          </p:sp>
          <p:sp>
            <p:nvSpPr>
              <p:cNvPr id="10" name="Rectangle 13"/>
              <p:cNvSpPr/>
              <p:nvPr/>
            </p:nvSpPr>
            <p:spPr>
              <a:xfrm rot="-5400000">
                <a:off x="2760" y="2064"/>
                <a:ext cx="768" cy="9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defPPr>
                  <a:defRPr lang="zh-CN"/>
                </a:defPPr>
                <a:lvl1pPr marL="0" lvl="0"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9pPr>
              </a:lstStyle>
              <a:p>
                <a:pPr lvl="0" algn="ctr" eaLnBrk="1" hangingPunct="1"/>
                <a:r>
                  <a:rPr lang="zh-CN" altLang="en-US" sz="1600" b="1" dirty="0">
                    <a:solidFill>
                      <a:schemeClr val="bg2"/>
                    </a:solidFill>
                    <a:latin typeface="Times New Roman" panose="02020603050405020304" pitchFamily="18" charset="0"/>
                    <a:ea typeface="宋体" panose="02010600030101010101" pitchFamily="2" charset="-122"/>
                  </a:rPr>
                  <a:t>温度（℃）</a:t>
                </a:r>
              </a:p>
            </p:txBody>
          </p:sp>
          <p:sp>
            <p:nvSpPr>
              <p:cNvPr id="11" name="Rectangle 15"/>
              <p:cNvSpPr/>
              <p:nvPr/>
            </p:nvSpPr>
            <p:spPr>
              <a:xfrm>
                <a:off x="3360" y="3360"/>
                <a:ext cx="192" cy="14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defPPr>
                  <a:defRPr lang="zh-CN"/>
                </a:defPPr>
                <a:lvl1pPr marL="0" lvl="0"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9pPr>
              </a:lstStyle>
              <a:p>
                <a:pPr lvl="0" algn="ctr" eaLnBrk="1" hangingPunct="1"/>
                <a:r>
                  <a:rPr lang="en-US" altLang="zh-CN" sz="1600" b="1" dirty="0">
                    <a:solidFill>
                      <a:schemeClr val="bg2"/>
                    </a:solidFill>
                    <a:latin typeface="Times New Roman" panose="02020603050405020304" pitchFamily="18" charset="0"/>
                    <a:ea typeface="宋体" panose="02010600030101010101" pitchFamily="2" charset="-122"/>
                  </a:rPr>
                  <a:t>Cu</a:t>
                </a:r>
              </a:p>
            </p:txBody>
          </p:sp>
          <p:sp>
            <p:nvSpPr>
              <p:cNvPr id="12" name="Rectangle 16"/>
              <p:cNvSpPr/>
              <p:nvPr/>
            </p:nvSpPr>
            <p:spPr>
              <a:xfrm>
                <a:off x="5040" y="3360"/>
                <a:ext cx="192" cy="14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defPPr>
                  <a:defRPr lang="zh-CN"/>
                </a:defPPr>
                <a:lvl1pPr marL="0" lvl="0"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9pPr>
              </a:lstStyle>
              <a:p>
                <a:pPr lvl="0" algn="ctr" eaLnBrk="1" hangingPunct="1"/>
                <a:r>
                  <a:rPr lang="en-US" altLang="zh-CN" sz="1600" b="1" dirty="0">
                    <a:latin typeface="Times New Roman" panose="02020603050405020304" pitchFamily="18" charset="0"/>
                    <a:ea typeface="宋体" panose="02010600030101010101" pitchFamily="2" charset="-122"/>
                  </a:rPr>
                  <a:t>Ni</a:t>
                </a:r>
              </a:p>
            </p:txBody>
          </p:sp>
        </p:grpSp>
      </p:grpSp>
      <p:pic>
        <p:nvPicPr>
          <p:cNvPr id="13" name="Picture 4" descr="Fe-C相图6"/>
          <p:cNvPicPr>
            <a:picLocks noChangeAspect="1"/>
          </p:cNvPicPr>
          <p:nvPr/>
        </p:nvPicPr>
        <p:blipFill>
          <a:blip r:embed="rId4"/>
          <a:stretch>
            <a:fillRect/>
          </a:stretch>
        </p:blipFill>
        <p:spPr>
          <a:xfrm>
            <a:off x="4704424" y="1843240"/>
            <a:ext cx="3716474" cy="2527808"/>
          </a:xfrm>
          <a:prstGeom prst="rect">
            <a:avLst/>
          </a:prstGeom>
          <a:noFill/>
          <a:ln w="38100" cap="flat" cmpd="sng">
            <a:solidFill>
              <a:srgbClr val="FF9900"/>
            </a:solidFill>
            <a:prstDash val="solid"/>
            <a:miter/>
            <a:headEnd type="none" w="med" len="med"/>
            <a:tailEnd type="none" w="med" len="med"/>
          </a:ln>
        </p:spPr>
      </p:pic>
      <p:pic>
        <p:nvPicPr>
          <p:cNvPr id="14" name="Picture 5" descr="三元相图"/>
          <p:cNvPicPr>
            <a:picLocks noChangeAspect="1"/>
          </p:cNvPicPr>
          <p:nvPr/>
        </p:nvPicPr>
        <p:blipFill>
          <a:blip r:embed="rId5"/>
          <a:stretch>
            <a:fillRect/>
          </a:stretch>
        </p:blipFill>
        <p:spPr>
          <a:xfrm>
            <a:off x="5440504" y="4519762"/>
            <a:ext cx="2624384" cy="2209349"/>
          </a:xfrm>
          <a:prstGeom prst="rect">
            <a:avLst/>
          </a:prstGeom>
          <a:noFill/>
          <a:ln w="38100" cap="flat" cmpd="sng">
            <a:solidFill>
              <a:srgbClr val="FF9900"/>
            </a:solidFill>
            <a:prstDash val="solid"/>
            <a:miter/>
            <a:headEnd type="none" w="med" len="med"/>
            <a:tailEnd type="none" w="med" len="me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187624" y="1844824"/>
            <a:ext cx="7488832" cy="3312368"/>
          </a:xfrm>
        </p:spPr>
        <p:txBody>
          <a:bodyPr/>
          <a:lstStyle/>
          <a:p>
            <a:r>
              <a:rPr kumimoji="1" lang="zh-CN" altLang="en-US" sz="6000" b="1" i="0" u="none" strike="noStrike" kern="0" cap="none" spc="0" normalizeH="0" baseline="0" noProof="0" dirty="0">
                <a:ln>
                  <a:noFill/>
                </a:ln>
                <a:solidFill>
                  <a:srgbClr val="FF0000"/>
                </a:solidFill>
                <a:uLnTx/>
                <a:uFillTx/>
                <a:latin typeface="华文中宋" panose="02010600040101010101" pitchFamily="2" charset="-122"/>
                <a:ea typeface="华文中宋" panose="02010600040101010101" pitchFamily="2" charset="-122"/>
              </a:rPr>
              <a:t>一、二元相图的建立</a:t>
            </a:r>
            <a:br>
              <a:rPr kumimoji="1" lang="en-US" altLang="zh-CN" sz="6000" b="1" i="0" u="none" strike="noStrike" kern="0" cap="none" spc="0" normalizeH="0" baseline="0" noProof="0" dirty="0">
                <a:ln>
                  <a:noFill/>
                </a:ln>
                <a:solidFill>
                  <a:srgbClr val="FF0000"/>
                </a:solidFill>
                <a:uLnTx/>
                <a:uFillTx/>
                <a:latin typeface="华文中宋" panose="02010600040101010101" pitchFamily="2" charset="-122"/>
                <a:ea typeface="华文中宋" panose="02010600040101010101" pitchFamily="2" charset="-122"/>
              </a:rPr>
            </a:br>
            <a:r>
              <a:rPr lang="en-US" altLang="zh-CN" sz="6000" b="1" i="1" dirty="0">
                <a:solidFill>
                  <a:srgbClr val="FF0000"/>
                </a:solidFill>
                <a:effectLst/>
                <a:latin typeface="Times New Roman" panose="02020603050405020304" pitchFamily="18" charset="0"/>
                <a:ea typeface="微软雅黑" panose="020B0503020204020204" charset="-122"/>
                <a:cs typeface="Times New Roman" panose="02020603050405020304" pitchFamily="18" charset="0"/>
              </a:rPr>
              <a:t>Establishment of the binary phase diagram</a:t>
            </a:r>
          </a:p>
        </p:txBody>
      </p:sp>
      <p:sp>
        <p:nvSpPr>
          <p:cNvPr id="5" name="日期占位符 1"/>
          <p:cNvSpPr txBox="1"/>
          <p:nvPr/>
        </p:nvSpPr>
        <p:spPr>
          <a:xfrm>
            <a:off x="19685" y="6529929"/>
            <a:ext cx="1905000" cy="342900"/>
          </a:xfrm>
          <a:prstGeom prst="rect">
            <a:avLst/>
          </a:prstGeom>
        </p:spPr>
        <p:txBody>
          <a:bodyPr wrap="square" lIns="91440" tIns="45720" rIns="91440" bIns="45720" anchor="b"/>
          <a:lstStyle>
            <a:defPPr>
              <a:defRPr lang="zh-CN"/>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9pPr>
          </a:lstStyle>
          <a:p>
            <a:fld id="{BB962C8B-B14F-4D97-AF65-F5344CB8AC3E}" type="datetime8">
              <a:rPr lang="en-US" altLang="zh-CN" sz="1400" smtClean="0"/>
              <a:t>11/20/2025 5:38 PM</a:t>
            </a:fld>
            <a:endParaRPr lang="en-US" altLang="zh-CN" sz="1400" dirty="0"/>
          </a:p>
        </p:txBody>
      </p:sp>
      <p:sp>
        <p:nvSpPr>
          <p:cNvPr id="6" name="灯片编号占位符 3"/>
          <p:cNvSpPr txBox="1"/>
          <p:nvPr/>
        </p:nvSpPr>
        <p:spPr bwMode="auto">
          <a:xfrm>
            <a:off x="8316416" y="6529928"/>
            <a:ext cx="630734" cy="328072"/>
          </a:xfrm>
          <a:prstGeom prst="rect">
            <a:avLst/>
          </a:prstGeom>
          <a:noFill/>
          <a:ln w="9525">
            <a:noFill/>
            <a:miter lim="800000"/>
          </a:ln>
          <a:effectLst/>
        </p:spPr>
        <p:txBody>
          <a:bodyPr vert="horz" wrap="square" lIns="91440" tIns="45720" rIns="91440" bIns="45720" numCol="1" anchor="b" anchorCtr="0" compatLnSpc="1"/>
          <a:ls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9pPr>
          </a:lstStyle>
          <a:p>
            <a:pPr algn="r"/>
            <a:fld id="{9A0DB2DC-4C9A-4742-B13C-FB6460FD3503}" type="slidenum">
              <a:rPr lang="en-US" altLang="zh-CN" sz="1400" noProof="1" smtClean="0">
                <a:cs typeface="+mn-ea"/>
              </a:rPr>
              <a:t>39</a:t>
            </a:fld>
            <a:endParaRPr lang="en-US" altLang="zh-CN" sz="1400" dirty="0"/>
          </a:p>
        </p:txBody>
      </p:sp>
      <p:pic>
        <p:nvPicPr>
          <p:cNvPr id="4"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264" t="15784" r="3206" b="19580"/>
          <a:stretch>
            <a:fillRect/>
          </a:stretch>
        </p:blipFill>
        <p:spPr bwMode="auto">
          <a:xfrm>
            <a:off x="0" y="0"/>
            <a:ext cx="2372995" cy="582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灯片编号占位符 5"/>
          <p:cNvSpPr>
            <a:spLocks noGrp="1"/>
          </p:cNvSpPr>
          <p:nvPr>
            <p:ph type="sldNum" sz="quarter" idx="12"/>
          </p:nvPr>
        </p:nvSpPr>
        <p:spPr>
          <a:xfrm>
            <a:off x="8458200" y="6581775"/>
            <a:ext cx="488950" cy="277813"/>
          </a:xfrm>
        </p:spPr>
        <p:txBody>
          <a:bodyPr wrap="square" lIns="91440" tIns="45720" rIns="91440" bIns="45720" anchor="b"/>
          <a:lstStyle/>
          <a:p>
            <a:pPr algn="r"/>
            <a:fld id="{9A0DB2DC-4C9A-4742-B13C-FB6460FD3503}" type="slidenum">
              <a:rPr lang="en-US" altLang="zh-CN" sz="1400" dirty="0"/>
              <a:t>40</a:t>
            </a:fld>
            <a:endParaRPr lang="en-US" altLang="zh-CN" sz="1400" dirty="0"/>
          </a:p>
        </p:txBody>
      </p:sp>
      <p:sp>
        <p:nvSpPr>
          <p:cNvPr id="24578" name="Rectangle 2"/>
          <p:cNvSpPr>
            <a:spLocks noGrp="1"/>
          </p:cNvSpPr>
          <p:nvPr>
            <p:ph type="title"/>
          </p:nvPr>
        </p:nvSpPr>
        <p:spPr>
          <a:xfrm>
            <a:off x="1258888" y="381000"/>
            <a:ext cx="7199312" cy="960438"/>
          </a:xfrm>
        </p:spPr>
        <p:txBody>
          <a:bodyPr wrap="square" lIns="91440" tIns="45720" rIns="91440" bIns="45720" anchor="b"/>
          <a:lstStyle/>
          <a:p>
            <a:pPr eaLnBrk="1" hangingPunct="1"/>
            <a:r>
              <a:rPr kumimoji="1" lang="zh-CN" altLang="en-US" sz="4800" b="1" i="0" u="none" strike="noStrike" kern="0" cap="none" spc="0" normalizeH="0" baseline="0" noProof="0" dirty="0">
                <a:ln>
                  <a:noFill/>
                </a:ln>
                <a:solidFill>
                  <a:srgbClr val="FF0000"/>
                </a:solidFill>
                <a:uLnTx/>
                <a:uFillTx/>
                <a:latin typeface="华文中宋" panose="02010600040101010101" pitchFamily="2" charset="-122"/>
                <a:ea typeface="华文中宋" panose="02010600040101010101" pitchFamily="2" charset="-122"/>
              </a:rPr>
              <a:t>二元相图的建立</a:t>
            </a:r>
            <a:endParaRPr lang="en-US" altLang="zh-CN" sz="4800" b="1" dirty="0">
              <a:solidFill>
                <a:srgbClr val="FF0000"/>
              </a:solidFill>
              <a:latin typeface="宋体" panose="02010600030101010101" pitchFamily="2" charset="-122"/>
            </a:endParaRPr>
          </a:p>
        </p:txBody>
      </p:sp>
      <p:sp>
        <p:nvSpPr>
          <p:cNvPr id="171011" name="Rectangle 3"/>
          <p:cNvSpPr>
            <a:spLocks noGrp="1" noChangeArrowheads="1"/>
          </p:cNvSpPr>
          <p:nvPr>
            <p:ph idx="1"/>
          </p:nvPr>
        </p:nvSpPr>
        <p:spPr>
          <a:xfrm>
            <a:off x="611505" y="1728470"/>
            <a:ext cx="8229600" cy="4583430"/>
          </a:xfrm>
        </p:spPr>
        <p:txBody>
          <a:bodyPr vert="horz" wrap="square" lIns="91440" tIns="45720" rIns="91440" bIns="45720" numCol="1" anchor="t" anchorCtr="0" compatLnSpc="1"/>
          <a:lstStyle/>
          <a:p>
            <a:pPr eaLnBrk="1" hangingPunct="1">
              <a:lnSpc>
                <a:spcPct val="140000"/>
              </a:lnSpc>
            </a:pPr>
            <a:r>
              <a:rPr lang="zh-CN" altLang="en-US" b="1" dirty="0">
                <a:ea typeface="华文中宋" panose="02010600040101010101" pitchFamily="2" charset="-122"/>
              </a:rPr>
              <a:t>几乎所有的相图都是通过</a:t>
            </a:r>
            <a:r>
              <a:rPr lang="zh-CN" altLang="en-US" b="1" dirty="0">
                <a:solidFill>
                  <a:srgbClr val="0000FF"/>
                </a:solidFill>
                <a:ea typeface="华文中宋" panose="02010600040101010101" pitchFamily="2" charset="-122"/>
              </a:rPr>
              <a:t>实验得到</a:t>
            </a:r>
            <a:r>
              <a:rPr lang="zh-CN" altLang="en-US" b="1" dirty="0">
                <a:ea typeface="华文中宋" panose="02010600040101010101" pitchFamily="2" charset="-122"/>
              </a:rPr>
              <a:t>的，最常用的是</a:t>
            </a:r>
            <a:r>
              <a:rPr lang="zh-CN" altLang="en-US" b="1" dirty="0">
                <a:solidFill>
                  <a:schemeClr val="folHlink"/>
                </a:solidFill>
                <a:ea typeface="华文中宋" panose="02010600040101010101" pitchFamily="2" charset="-122"/>
              </a:rPr>
              <a:t>热分析法</a:t>
            </a:r>
            <a:r>
              <a:rPr lang="zh-CN" altLang="en-US" b="1" dirty="0">
                <a:ea typeface="华文中宋" panose="02010600040101010101" pitchFamily="2" charset="-122"/>
              </a:rPr>
              <a:t>。</a:t>
            </a:r>
          </a:p>
        </p:txBody>
      </p:sp>
      <p:sp>
        <p:nvSpPr>
          <p:cNvPr id="24581" name="日期占位符 1"/>
          <p:cNvSpPr>
            <a:spLocks noGrp="1"/>
          </p:cNvSpPr>
          <p:nvPr>
            <p:ph type="dt" sz="half" idx="10"/>
          </p:nvPr>
        </p:nvSpPr>
        <p:spPr>
          <a:xfrm>
            <a:off x="122238" y="6516688"/>
            <a:ext cx="1905000" cy="342900"/>
          </a:xfrm>
        </p:spPr>
        <p:txBody>
          <a:bodyPr wrap="square" lIns="91440" tIns="45720" rIns="91440" bIns="45720" anchor="b"/>
          <a:lst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stStyle>
          <a:p>
            <a:pPr lvl="0" indent="0"/>
            <a:fld id="{BB962C8B-B14F-4D97-AF65-F5344CB8AC3E}" type="datetime8">
              <a:rPr lang="en-US" altLang="zh-CN" sz="1400" dirty="0"/>
              <a:t>11/20/2025 5:38 PM</a:t>
            </a:fld>
            <a:endParaRPr lang="en-US" altLang="zh-CN" sz="1400" dirty="0"/>
          </a:p>
        </p:txBody>
      </p:sp>
      <p:pic>
        <p:nvPicPr>
          <p:cNvPr id="7" name="内容占位符 1" descr="新校徽（3M）弓之乐"/>
          <p:cNvPicPr>
            <a:picLocks noChangeAspect="1"/>
          </p:cNvPicPr>
          <p:nvPr/>
        </p:nvPicPr>
        <p:blipFill>
          <a:blip r:embed="rId2" cstate="print"/>
          <a:stretch>
            <a:fillRect/>
          </a:stretch>
        </p:blipFill>
        <p:spPr>
          <a:xfrm>
            <a:off x="19685" y="3175"/>
            <a:ext cx="746760" cy="735965"/>
          </a:xfrm>
          <a:prstGeom prst="rect">
            <a:avLst/>
          </a:prstGeom>
          <a:noFill/>
          <a:ln w="9525">
            <a:noFill/>
          </a:ln>
        </p:spPr>
      </p:pic>
      <p:pic>
        <p:nvPicPr>
          <p:cNvPr id="2" name="Picture 4" descr="2-1"/>
          <p:cNvPicPr>
            <a:picLocks noGrp="1" noChangeAspect="1"/>
          </p:cNvPicPr>
          <p:nvPr/>
        </p:nvPicPr>
        <p:blipFill>
          <a:blip r:embed="rId3"/>
          <a:stretch>
            <a:fillRect/>
          </a:stretch>
        </p:blipFill>
        <p:spPr>
          <a:xfrm>
            <a:off x="982345" y="3330893"/>
            <a:ext cx="7475855" cy="3185795"/>
          </a:xfrm>
          <a:prstGeom prst="rect">
            <a:avLst/>
          </a:prstGeom>
          <a:noFill/>
          <a:ln w="57150" cap="flat" cmpd="sng">
            <a:solidFill>
              <a:srgbClr val="FF9900"/>
            </a:solidFill>
            <a:prstDash val="solid"/>
            <a:miter/>
            <a:headEnd type="none" w="med" len="med"/>
            <a:tailEnd type="none" w="med" len="me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灯片编号占位符 5"/>
          <p:cNvSpPr>
            <a:spLocks noGrp="1"/>
          </p:cNvSpPr>
          <p:nvPr>
            <p:ph type="sldNum" sz="quarter" idx="12"/>
          </p:nvPr>
        </p:nvSpPr>
        <p:spPr>
          <a:xfrm>
            <a:off x="8485188" y="6562725"/>
            <a:ext cx="493712" cy="298450"/>
          </a:xfrm>
        </p:spPr>
        <p:txBody>
          <a:bodyPr wrap="square" lIns="91440" tIns="45720" rIns="91440" bIns="45720" anchor="b"/>
          <a:lstStyle/>
          <a:p>
            <a:pPr algn="r"/>
            <a:fld id="{9A0DB2DC-4C9A-4742-B13C-FB6460FD3503}" type="slidenum">
              <a:rPr lang="en-US" altLang="zh-CN" sz="1400" dirty="0"/>
              <a:t>41</a:t>
            </a:fld>
            <a:endParaRPr lang="en-US" altLang="zh-CN" sz="1400" dirty="0"/>
          </a:p>
        </p:txBody>
      </p:sp>
      <p:sp>
        <p:nvSpPr>
          <p:cNvPr id="25602" name="Rectangle 2"/>
          <p:cNvSpPr>
            <a:spLocks noGrp="1"/>
          </p:cNvSpPr>
          <p:nvPr>
            <p:ph type="title"/>
          </p:nvPr>
        </p:nvSpPr>
        <p:spPr>
          <a:xfrm>
            <a:off x="1331640" y="0"/>
            <a:ext cx="7812360" cy="1371600"/>
          </a:xfrm>
        </p:spPr>
        <p:txBody>
          <a:bodyPr wrap="square" lIns="91440" tIns="45720" rIns="91440" bIns="45720" anchor="b"/>
          <a:lstStyle/>
          <a:p>
            <a:pPr eaLnBrk="1" hangingPunct="1"/>
            <a:r>
              <a:rPr kumimoji="1" lang="zh-CN" altLang="en-US" b="1" i="0" u="none" strike="noStrike" kern="0" cap="none" spc="0" normalizeH="0" baseline="0" noProof="0" dirty="0">
                <a:ln>
                  <a:noFill/>
                </a:ln>
                <a:solidFill>
                  <a:srgbClr val="FF0000"/>
                </a:solidFill>
                <a:uLnTx/>
                <a:uFillTx/>
                <a:ea typeface="华文中宋" panose="02010600040101010101" pitchFamily="2" charset="-122"/>
              </a:rPr>
              <a:t>二元相图的建立步骤</a:t>
            </a:r>
            <a:endParaRPr lang="zh-CN" altLang="en-US" b="1" dirty="0">
              <a:solidFill>
                <a:srgbClr val="FF0000"/>
              </a:solidFill>
              <a:latin typeface="宋体" panose="02010600030101010101" pitchFamily="2" charset="-122"/>
            </a:endParaRPr>
          </a:p>
        </p:txBody>
      </p:sp>
      <p:sp>
        <p:nvSpPr>
          <p:cNvPr id="172035" name="Rectangle 3"/>
          <p:cNvSpPr>
            <a:spLocks noGrp="1" noChangeArrowheads="1"/>
          </p:cNvSpPr>
          <p:nvPr>
            <p:ph idx="1"/>
          </p:nvPr>
        </p:nvSpPr>
        <p:spPr>
          <a:xfrm>
            <a:off x="468313" y="1700808"/>
            <a:ext cx="8229600" cy="4861917"/>
          </a:xfrm>
        </p:spPr>
        <p:txBody>
          <a:bodyPr vert="horz" wrap="square" lIns="91440" tIns="45720" rIns="91440" bIns="45720" numCol="1" anchor="t" anchorCtr="0" compatLnSpc="1"/>
          <a:lstStyle/>
          <a:p>
            <a:pPr eaLnBrk="1" hangingPunct="1">
              <a:lnSpc>
                <a:spcPct val="140000"/>
              </a:lnSpc>
            </a:pPr>
            <a:r>
              <a:rPr lang="zh-CN" altLang="en-US" sz="3200" b="1" dirty="0">
                <a:solidFill>
                  <a:schemeClr val="folHlink"/>
                </a:solidFill>
                <a:ea typeface="华文中宋" panose="02010600040101010101" pitchFamily="2" charset="-122"/>
              </a:rPr>
              <a:t>二元相图的建立步骤为：</a:t>
            </a:r>
            <a:r>
              <a:rPr lang="en-US" altLang="zh-CN" sz="3200" b="1" dirty="0">
                <a:ea typeface="华文中宋" panose="02010600040101010101" pitchFamily="2" charset="-122"/>
              </a:rPr>
              <a:t>[</a:t>
            </a:r>
            <a:r>
              <a:rPr lang="zh-CN" altLang="en-US" sz="3200" b="1" dirty="0">
                <a:ea typeface="华文中宋" panose="02010600040101010101" pitchFamily="2" charset="-122"/>
              </a:rPr>
              <a:t>以</a:t>
            </a:r>
            <a:r>
              <a:rPr lang="en-US" altLang="zh-CN" sz="3200" b="1" dirty="0">
                <a:ea typeface="华文中宋" panose="02010600040101010101" pitchFamily="2" charset="-122"/>
              </a:rPr>
              <a:t>Cu-Ni</a:t>
            </a:r>
            <a:r>
              <a:rPr lang="zh-CN" altLang="en-US" sz="3200" b="1" dirty="0">
                <a:ea typeface="华文中宋" panose="02010600040101010101" pitchFamily="2" charset="-122"/>
              </a:rPr>
              <a:t>合金</a:t>
            </a:r>
            <a:r>
              <a:rPr lang="en-US" altLang="zh-CN" sz="3200" b="1" dirty="0">
                <a:ea typeface="华文中宋" panose="02010600040101010101" pitchFamily="2" charset="-122"/>
              </a:rPr>
              <a:t>(</a:t>
            </a:r>
            <a:r>
              <a:rPr lang="zh-CN" altLang="en-US" sz="3200" b="1" dirty="0">
                <a:ea typeface="华文中宋" panose="02010600040101010101" pitchFamily="2" charset="-122"/>
              </a:rPr>
              <a:t>白铜</a:t>
            </a:r>
            <a:r>
              <a:rPr lang="en-US" altLang="zh-CN" sz="3200" b="1" dirty="0">
                <a:ea typeface="华文中宋" panose="02010600040101010101" pitchFamily="2" charset="-122"/>
              </a:rPr>
              <a:t>)</a:t>
            </a:r>
            <a:r>
              <a:rPr lang="zh-CN" altLang="en-US" sz="3200" b="1" dirty="0">
                <a:ea typeface="华文中宋" panose="02010600040101010101" pitchFamily="2" charset="-122"/>
              </a:rPr>
              <a:t>为例</a:t>
            </a:r>
            <a:r>
              <a:rPr lang="en-US" altLang="zh-CN" sz="3200" b="1" dirty="0">
                <a:ea typeface="华文中宋" panose="02010600040101010101" pitchFamily="2" charset="-122"/>
              </a:rPr>
              <a:t>]</a:t>
            </a:r>
          </a:p>
          <a:p>
            <a:pPr eaLnBrk="1" latinLnBrk="0" hangingPunct="1">
              <a:lnSpc>
                <a:spcPct val="120000"/>
              </a:lnSpc>
              <a:spcBef>
                <a:spcPts val="0"/>
              </a:spcBef>
            </a:pPr>
            <a:r>
              <a:rPr lang="en-US" altLang="zh-CN" b="1" dirty="0">
                <a:latin typeface="Times New Roman" panose="02020603050405020304" pitchFamily="18" charset="0"/>
                <a:ea typeface="华文中宋" panose="02010600040101010101" pitchFamily="2" charset="-122"/>
              </a:rPr>
              <a:t>1.</a:t>
            </a:r>
            <a:r>
              <a:rPr lang="en-US" altLang="zh-CN" sz="3200" b="1" dirty="0">
                <a:solidFill>
                  <a:srgbClr val="00FF00"/>
                </a:solidFill>
                <a:ea typeface="华文中宋" panose="02010600040101010101" pitchFamily="2" charset="-122"/>
              </a:rPr>
              <a:t> </a:t>
            </a:r>
            <a:r>
              <a:rPr lang="zh-CN" altLang="en-US" sz="3200" b="1" dirty="0">
                <a:solidFill>
                  <a:schemeClr val="folHlink"/>
                </a:solidFill>
                <a:ea typeface="华文中宋" panose="02010600040101010101" pitchFamily="2" charset="-122"/>
              </a:rPr>
              <a:t>配制不同成分的合金</a:t>
            </a:r>
            <a:r>
              <a:rPr lang="zh-CN" altLang="en-US" sz="3200" b="1" dirty="0">
                <a:ea typeface="华文中宋" panose="02010600040101010101" pitchFamily="2" charset="-122"/>
              </a:rPr>
              <a:t>，测出各合金的冷却曲线，找出曲线上的</a:t>
            </a:r>
            <a:r>
              <a:rPr lang="zh-CN" altLang="en-US" sz="3200" b="1" dirty="0">
                <a:solidFill>
                  <a:schemeClr val="folHlink"/>
                </a:solidFill>
                <a:ea typeface="华文中宋" panose="02010600040101010101" pitchFamily="2" charset="-122"/>
              </a:rPr>
              <a:t>临界点</a:t>
            </a:r>
            <a:r>
              <a:rPr lang="zh-CN" altLang="en-US" sz="3200" b="1" dirty="0">
                <a:ea typeface="华文中宋" panose="02010600040101010101" pitchFamily="2" charset="-122"/>
              </a:rPr>
              <a:t>（停歇点或转折点）。</a:t>
            </a:r>
          </a:p>
          <a:p>
            <a:pPr eaLnBrk="1" hangingPunct="1">
              <a:lnSpc>
                <a:spcPct val="140000"/>
              </a:lnSpc>
            </a:pPr>
            <a:r>
              <a:rPr lang="en-US" altLang="zh-CN" b="1" dirty="0">
                <a:latin typeface="Times New Roman" panose="02020603050405020304" pitchFamily="18" charset="0"/>
                <a:ea typeface="华文中宋" panose="02010600040101010101" pitchFamily="2" charset="-122"/>
              </a:rPr>
              <a:t>2. </a:t>
            </a:r>
            <a:r>
              <a:rPr lang="zh-CN" altLang="en-US" sz="3200" b="1" dirty="0">
                <a:ea typeface="华文中宋" panose="02010600040101010101" pitchFamily="2" charset="-122"/>
              </a:rPr>
              <a:t>将临界点标在</a:t>
            </a:r>
            <a:r>
              <a:rPr lang="zh-CN" altLang="en-US" sz="3200" b="1" dirty="0">
                <a:solidFill>
                  <a:schemeClr val="folHlink"/>
                </a:solidFill>
                <a:ea typeface="华文中宋" panose="02010600040101010101" pitchFamily="2" charset="-122"/>
              </a:rPr>
              <a:t>温度</a:t>
            </a:r>
            <a:r>
              <a:rPr lang="en-US" altLang="zh-CN" sz="3200" b="1" dirty="0">
                <a:solidFill>
                  <a:schemeClr val="folHlink"/>
                </a:solidFill>
                <a:ea typeface="华文中宋" panose="02010600040101010101" pitchFamily="2" charset="-122"/>
              </a:rPr>
              <a:t>-</a:t>
            </a:r>
            <a:r>
              <a:rPr lang="zh-CN" altLang="en-US" sz="3200" b="1" dirty="0">
                <a:solidFill>
                  <a:schemeClr val="folHlink"/>
                </a:solidFill>
                <a:ea typeface="华文中宋" panose="02010600040101010101" pitchFamily="2" charset="-122"/>
              </a:rPr>
              <a:t>成分</a:t>
            </a:r>
            <a:r>
              <a:rPr lang="zh-CN" altLang="en-US" sz="3200" b="1" dirty="0">
                <a:ea typeface="华文中宋" panose="02010600040101010101" pitchFamily="2" charset="-122"/>
              </a:rPr>
              <a:t>坐标中的成分垂线上</a:t>
            </a:r>
            <a:r>
              <a:rPr lang="zh-CN" altLang="en-US" sz="3200" b="1" dirty="0">
                <a:solidFill>
                  <a:schemeClr val="accent1"/>
                </a:solidFill>
                <a:ea typeface="华文中宋" panose="02010600040101010101" pitchFamily="2" charset="-122"/>
              </a:rPr>
              <a:t>。</a:t>
            </a:r>
          </a:p>
        </p:txBody>
      </p:sp>
      <p:sp>
        <p:nvSpPr>
          <p:cNvPr id="25605" name="日期占位符 1"/>
          <p:cNvSpPr>
            <a:spLocks noGrp="1"/>
          </p:cNvSpPr>
          <p:nvPr>
            <p:ph type="dt" sz="half" idx="10"/>
          </p:nvPr>
        </p:nvSpPr>
        <p:spPr>
          <a:xfrm>
            <a:off x="0" y="6562090"/>
            <a:ext cx="1905000" cy="299085"/>
          </a:xfrm>
        </p:spPr>
        <p:txBody>
          <a:bodyPr wrap="square" lIns="91440" tIns="45720" rIns="91440" bIns="45720" anchor="b"/>
          <a:lst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stStyle>
          <a:p>
            <a:pPr lvl="0" indent="0"/>
            <a:fld id="{BB962C8B-B14F-4D97-AF65-F5344CB8AC3E}" type="datetime8">
              <a:rPr lang="en-US" altLang="zh-CN" sz="1400" dirty="0"/>
              <a:t>11/20/2025 5:38 PM</a:t>
            </a:fld>
            <a:endParaRPr lang="en-US" altLang="zh-CN" sz="1400" dirty="0"/>
          </a:p>
        </p:txBody>
      </p:sp>
      <p:pic>
        <p:nvPicPr>
          <p:cNvPr id="7" name="内容占位符 1" descr="新校徽（3M）弓之乐"/>
          <p:cNvPicPr>
            <a:picLocks noChangeAspect="1"/>
          </p:cNvPicPr>
          <p:nvPr/>
        </p:nvPicPr>
        <p:blipFill>
          <a:blip r:embed="rId2" cstate="print"/>
          <a:stretch>
            <a:fillRect/>
          </a:stretch>
        </p:blipFill>
        <p:spPr>
          <a:xfrm>
            <a:off x="19685" y="3175"/>
            <a:ext cx="746760" cy="735965"/>
          </a:xfrm>
          <a:prstGeom prst="rect">
            <a:avLst/>
          </a:prstGeom>
          <a:noFill/>
          <a:ln w="9525">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灯片编号占位符 5"/>
          <p:cNvSpPr>
            <a:spLocks noGrp="1"/>
          </p:cNvSpPr>
          <p:nvPr>
            <p:ph type="sldNum" sz="quarter" idx="12"/>
          </p:nvPr>
        </p:nvSpPr>
        <p:spPr>
          <a:xfrm>
            <a:off x="8485188" y="6562725"/>
            <a:ext cx="493712" cy="298450"/>
          </a:xfrm>
        </p:spPr>
        <p:txBody>
          <a:bodyPr wrap="square" lIns="91440" tIns="45720" rIns="91440" bIns="45720" anchor="b"/>
          <a:lstStyle/>
          <a:p>
            <a:pPr algn="r"/>
            <a:fld id="{9A0DB2DC-4C9A-4742-B13C-FB6460FD3503}" type="slidenum">
              <a:rPr lang="en-US" altLang="zh-CN" sz="1400" dirty="0"/>
              <a:t>42</a:t>
            </a:fld>
            <a:endParaRPr lang="en-US" altLang="zh-CN" sz="1400" dirty="0"/>
          </a:p>
        </p:txBody>
      </p:sp>
      <p:sp>
        <p:nvSpPr>
          <p:cNvPr id="25602" name="Rectangle 2"/>
          <p:cNvSpPr>
            <a:spLocks noGrp="1"/>
          </p:cNvSpPr>
          <p:nvPr>
            <p:ph type="title"/>
          </p:nvPr>
        </p:nvSpPr>
        <p:spPr>
          <a:xfrm>
            <a:off x="1331640" y="0"/>
            <a:ext cx="7812360" cy="1371600"/>
          </a:xfrm>
        </p:spPr>
        <p:txBody>
          <a:bodyPr wrap="square" lIns="91440" tIns="45720" rIns="91440" bIns="45720" anchor="b"/>
          <a:lstStyle/>
          <a:p>
            <a:pPr eaLnBrk="1" hangingPunct="1"/>
            <a:r>
              <a:rPr kumimoji="1" lang="zh-CN" altLang="en-US" b="1" i="0" u="none" strike="noStrike" kern="0" cap="none" spc="0" normalizeH="0" baseline="0" noProof="0" dirty="0">
                <a:ln>
                  <a:noFill/>
                </a:ln>
                <a:solidFill>
                  <a:srgbClr val="FF0000"/>
                </a:solidFill>
                <a:uLnTx/>
                <a:uFillTx/>
                <a:ea typeface="华文中宋" panose="02010600040101010101" pitchFamily="2" charset="-122"/>
              </a:rPr>
              <a:t>二元相图的建立步骤</a:t>
            </a:r>
            <a:endParaRPr lang="zh-CN" altLang="en-US" b="1" dirty="0">
              <a:solidFill>
                <a:srgbClr val="FF0000"/>
              </a:solidFill>
              <a:latin typeface="宋体" panose="02010600030101010101" pitchFamily="2" charset="-122"/>
            </a:endParaRPr>
          </a:p>
        </p:txBody>
      </p:sp>
      <p:sp>
        <p:nvSpPr>
          <p:cNvPr id="172035" name="Rectangle 3"/>
          <p:cNvSpPr>
            <a:spLocks noGrp="1" noChangeArrowheads="1"/>
          </p:cNvSpPr>
          <p:nvPr>
            <p:ph idx="1"/>
          </p:nvPr>
        </p:nvSpPr>
        <p:spPr>
          <a:xfrm>
            <a:off x="468313" y="1844824"/>
            <a:ext cx="8229600" cy="4717901"/>
          </a:xfrm>
        </p:spPr>
        <p:txBody>
          <a:bodyPr vert="horz" wrap="square" lIns="91440" tIns="45720" rIns="91440" bIns="45720" numCol="1" anchor="t" anchorCtr="0" compatLnSpc="1"/>
          <a:lstStyle/>
          <a:p>
            <a:pPr marL="342900" lvl="0" indent="-342900" eaLnBrk="1" hangingPunct="1">
              <a:lnSpc>
                <a:spcPct val="140000"/>
              </a:lnSpc>
              <a:spcBef>
                <a:spcPct val="20000"/>
              </a:spcBef>
              <a:buClr>
                <a:schemeClr val="accent2"/>
              </a:buClr>
              <a:buSzPct val="80000"/>
              <a:buFont typeface="Wingdings" panose="05000000000000000000" pitchFamily="2" charset="2"/>
              <a:buChar char="l"/>
            </a:pPr>
            <a:r>
              <a:rPr lang="en-US" altLang="zh-CN" b="1" dirty="0">
                <a:latin typeface="Times New Roman" panose="02020603050405020304" pitchFamily="18" charset="0"/>
                <a:ea typeface="华文中宋" panose="02010600040101010101" pitchFamily="2" charset="-122"/>
              </a:rPr>
              <a:t>3. </a:t>
            </a:r>
            <a:r>
              <a:rPr lang="zh-CN" altLang="en-US" sz="3200" b="1" dirty="0">
                <a:latin typeface="Times New Roman" panose="02020603050405020304" pitchFamily="18" charset="0"/>
                <a:ea typeface="华文中宋" panose="02010600040101010101" pitchFamily="2" charset="-122"/>
              </a:rPr>
              <a:t>将垂线上</a:t>
            </a:r>
            <a:r>
              <a:rPr kumimoji="1" lang="zh-CN" altLang="en-US" sz="3200" b="1" kern="0" dirty="0">
                <a:solidFill>
                  <a:schemeClr val="folHlink"/>
                </a:solidFill>
                <a:latin typeface="+mn-lt"/>
                <a:ea typeface="华文中宋" panose="02010600040101010101" pitchFamily="2" charset="-122"/>
                <a:cs typeface="+mn-cs"/>
              </a:rPr>
              <a:t>相同意义的点</a:t>
            </a:r>
            <a:r>
              <a:rPr lang="zh-CN" altLang="en-US" sz="3200" b="1" dirty="0">
                <a:latin typeface="Times New Roman" panose="02020603050405020304" pitchFamily="18" charset="0"/>
                <a:ea typeface="华文中宋" panose="02010600040101010101" pitchFamily="2" charset="-122"/>
              </a:rPr>
              <a:t>连接起来，并标上相应的数字和字母。</a:t>
            </a:r>
          </a:p>
        </p:txBody>
      </p:sp>
      <p:sp>
        <p:nvSpPr>
          <p:cNvPr id="25605" name="日期占位符 1"/>
          <p:cNvSpPr>
            <a:spLocks noGrp="1"/>
          </p:cNvSpPr>
          <p:nvPr>
            <p:ph type="dt" sz="half" idx="10"/>
          </p:nvPr>
        </p:nvSpPr>
        <p:spPr>
          <a:xfrm>
            <a:off x="0" y="6562090"/>
            <a:ext cx="1905000" cy="299085"/>
          </a:xfrm>
        </p:spPr>
        <p:txBody>
          <a:bodyPr wrap="square" lIns="91440" tIns="45720" rIns="91440" bIns="45720" anchor="b"/>
          <a:lst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stStyle>
          <a:p>
            <a:pPr lvl="0" indent="0"/>
            <a:fld id="{BB962C8B-B14F-4D97-AF65-F5344CB8AC3E}" type="datetime8">
              <a:rPr lang="en-US" altLang="zh-CN" sz="1400" dirty="0"/>
              <a:t>11/20/2025 5:38 PM</a:t>
            </a:fld>
            <a:endParaRPr lang="en-US" altLang="zh-CN" sz="1400" dirty="0"/>
          </a:p>
        </p:txBody>
      </p:sp>
      <p:pic>
        <p:nvPicPr>
          <p:cNvPr id="7" name="内容占位符 1" descr="新校徽（3M）弓之乐"/>
          <p:cNvPicPr>
            <a:picLocks noChangeAspect="1"/>
          </p:cNvPicPr>
          <p:nvPr/>
        </p:nvPicPr>
        <p:blipFill>
          <a:blip r:embed="rId2" cstate="print"/>
          <a:stretch>
            <a:fillRect/>
          </a:stretch>
        </p:blipFill>
        <p:spPr>
          <a:xfrm>
            <a:off x="19685" y="3175"/>
            <a:ext cx="746760" cy="735965"/>
          </a:xfrm>
          <a:prstGeom prst="rect">
            <a:avLst/>
          </a:prstGeom>
          <a:noFill/>
          <a:ln w="9525">
            <a:noFill/>
          </a:ln>
        </p:spPr>
      </p:pic>
      <p:pic>
        <p:nvPicPr>
          <p:cNvPr id="2" name="Picture 11" descr="〈工程材料〉图3-10"/>
          <p:cNvPicPr>
            <a:picLocks noChangeAspect="1"/>
          </p:cNvPicPr>
          <p:nvPr/>
        </p:nvPicPr>
        <p:blipFill>
          <a:blip r:embed="rId3"/>
          <a:stretch>
            <a:fillRect/>
          </a:stretch>
        </p:blipFill>
        <p:spPr>
          <a:xfrm>
            <a:off x="2082650" y="3296075"/>
            <a:ext cx="6156325" cy="3260725"/>
          </a:xfrm>
          <a:prstGeom prst="rect">
            <a:avLst/>
          </a:prstGeom>
          <a:noFill/>
          <a:ln w="9525">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p:cNvSpPr>
          <p:nvPr>
            <p:ph type="title"/>
          </p:nvPr>
        </p:nvSpPr>
        <p:spPr>
          <a:xfrm>
            <a:off x="1908175" y="549275"/>
            <a:ext cx="5184775" cy="1143000"/>
          </a:xfrm>
        </p:spPr>
        <p:txBody>
          <a:bodyPr wrap="square" lIns="91440" tIns="45720" rIns="91440" bIns="45720" anchor="b"/>
          <a:lstStyle/>
          <a:p>
            <a:pPr eaLnBrk="1" hangingPunct="1"/>
            <a:r>
              <a:rPr kumimoji="1" lang="zh-CN" altLang="en-US" b="1" i="0" u="none" strike="noStrike" kern="0" cap="none" spc="0" normalizeH="0" baseline="0" noProof="0" dirty="0">
                <a:ln>
                  <a:noFill/>
                </a:ln>
                <a:solidFill>
                  <a:srgbClr val="FF0000"/>
                </a:solidFill>
                <a:uLnTx/>
                <a:uFillTx/>
                <a:ea typeface="华文中宋" panose="02010600040101010101" pitchFamily="2" charset="-122"/>
              </a:rPr>
              <a:t>二元相图的建立</a:t>
            </a:r>
            <a:endParaRPr lang="zh-CN" altLang="en-US" b="1" dirty="0">
              <a:solidFill>
                <a:srgbClr val="0000FF"/>
              </a:solidFill>
              <a:latin typeface="宋体" panose="02010600030101010101" pitchFamily="2" charset="-122"/>
            </a:endParaRPr>
          </a:p>
        </p:txBody>
      </p:sp>
      <p:sp>
        <p:nvSpPr>
          <p:cNvPr id="173059" name="Rectangle 3"/>
          <p:cNvSpPr>
            <a:spLocks noGrp="1" noChangeArrowheads="1"/>
          </p:cNvSpPr>
          <p:nvPr>
            <p:ph idx="1"/>
          </p:nvPr>
        </p:nvSpPr>
        <p:spPr>
          <a:xfrm>
            <a:off x="468313" y="1916113"/>
            <a:ext cx="8278813" cy="4324350"/>
          </a:xfrm>
        </p:spPr>
        <p:txBody>
          <a:bodyPr vert="horz" wrap="square" lIns="91440" tIns="45720" rIns="91440" bIns="45720" numCol="1" anchor="t" anchorCtr="0" compatLnSpc="1"/>
          <a:lstStyle/>
          <a:p>
            <a:pPr eaLnBrk="1" hangingPunct="1">
              <a:lnSpc>
                <a:spcPct val="110000"/>
              </a:lnSpc>
            </a:pPr>
            <a:r>
              <a:rPr lang="zh-CN" altLang="en-US" sz="3600" b="1" dirty="0">
                <a:solidFill>
                  <a:schemeClr val="folHlink"/>
                </a:solidFill>
                <a:ea typeface="华文中宋" panose="02010600040101010101" pitchFamily="2" charset="-122"/>
              </a:rPr>
              <a:t>液相线：</a:t>
            </a:r>
            <a:r>
              <a:rPr lang="zh-CN" altLang="en-US" sz="3600" b="1" dirty="0">
                <a:ea typeface="华文中宋" panose="02010600040101010101" pitchFamily="2" charset="-122"/>
              </a:rPr>
              <a:t>相图中，结晶</a:t>
            </a:r>
            <a:r>
              <a:rPr lang="zh-CN" altLang="en-US" sz="3600" b="1" dirty="0">
                <a:solidFill>
                  <a:schemeClr val="folHlink"/>
                </a:solidFill>
                <a:ea typeface="华文中宋" panose="02010600040101010101" pitchFamily="2" charset="-122"/>
              </a:rPr>
              <a:t>开始点</a:t>
            </a:r>
            <a:r>
              <a:rPr lang="zh-CN" altLang="en-US" sz="3600" b="1" dirty="0">
                <a:ea typeface="华文中宋" panose="02010600040101010101" pitchFamily="2" charset="-122"/>
              </a:rPr>
              <a:t>的</a:t>
            </a:r>
            <a:r>
              <a:rPr lang="zh-CN" altLang="en-US" sz="3600" b="1" dirty="0">
                <a:solidFill>
                  <a:schemeClr val="folHlink"/>
                </a:solidFill>
                <a:ea typeface="华文中宋" panose="02010600040101010101" pitchFamily="2" charset="-122"/>
              </a:rPr>
              <a:t>连线</a:t>
            </a:r>
            <a:r>
              <a:rPr lang="zh-CN" altLang="en-US" sz="3600" b="1" dirty="0">
                <a:ea typeface="华文中宋" panose="02010600040101010101" pitchFamily="2" charset="-122"/>
              </a:rPr>
              <a:t>。</a:t>
            </a:r>
          </a:p>
          <a:p>
            <a:pPr eaLnBrk="1" hangingPunct="1">
              <a:lnSpc>
                <a:spcPct val="110000"/>
              </a:lnSpc>
            </a:pPr>
            <a:r>
              <a:rPr lang="zh-CN" altLang="en-US" sz="3600" b="1" dirty="0">
                <a:solidFill>
                  <a:schemeClr val="folHlink"/>
                </a:solidFill>
                <a:ea typeface="华文中宋" panose="02010600040101010101" pitchFamily="2" charset="-122"/>
              </a:rPr>
              <a:t>固相线：</a:t>
            </a:r>
            <a:r>
              <a:rPr lang="zh-CN" altLang="en-US" sz="3600" b="1" dirty="0">
                <a:ea typeface="华文中宋" panose="02010600040101010101" pitchFamily="2" charset="-122"/>
              </a:rPr>
              <a:t>结晶</a:t>
            </a:r>
            <a:r>
              <a:rPr lang="zh-CN" altLang="en-US" sz="3600" b="1" dirty="0">
                <a:solidFill>
                  <a:schemeClr val="folHlink"/>
                </a:solidFill>
                <a:ea typeface="华文中宋" panose="02010600040101010101" pitchFamily="2" charset="-122"/>
              </a:rPr>
              <a:t>终了点</a:t>
            </a:r>
            <a:r>
              <a:rPr lang="zh-CN" altLang="en-US" sz="3600" b="1" dirty="0">
                <a:ea typeface="华文中宋" panose="02010600040101010101" pitchFamily="2" charset="-122"/>
              </a:rPr>
              <a:t>的</a:t>
            </a:r>
            <a:r>
              <a:rPr lang="zh-CN" altLang="en-US" sz="3600" b="1" dirty="0">
                <a:solidFill>
                  <a:schemeClr val="folHlink"/>
                </a:solidFill>
                <a:ea typeface="华文中宋" panose="02010600040101010101" pitchFamily="2" charset="-122"/>
              </a:rPr>
              <a:t>连线</a:t>
            </a:r>
            <a:r>
              <a:rPr lang="zh-CN" altLang="en-US" sz="3600" b="1" dirty="0">
                <a:ea typeface="华文中宋" panose="02010600040101010101" pitchFamily="2" charset="-122"/>
              </a:rPr>
              <a:t>。</a:t>
            </a: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endParaRPr kumimoji="0" lang="zh-CN" altLang="en-US" sz="3200" b="0" i="0" u="none" strike="noStrike" kern="0" cap="none" spc="0" normalizeH="0" baseline="0" noProof="0" dirty="0">
              <a:ln>
                <a:noFill/>
              </a:ln>
              <a:solidFill>
                <a:schemeClr val="tx1"/>
              </a:solidFill>
              <a:effectLst/>
              <a:uLnTx/>
              <a:uFillTx/>
              <a:latin typeface="宋体" panose="02010600030101010101" pitchFamily="2" charset="-122"/>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endParaRPr kumimoji="0" lang="zh-CN" altLang="en-US" sz="32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endParaRPr kumimoji="0" lang="en-US" altLang="zh-CN" sz="3200" b="0" i="0" u="none" strike="noStrike" kern="0" cap="none" spc="0" normalizeH="0" baseline="0" noProof="0" dirty="0">
              <a:ln>
                <a:noFill/>
              </a:ln>
              <a:solidFill>
                <a:schemeClr val="tx1"/>
              </a:solidFill>
              <a:effectLst/>
              <a:uLnTx/>
              <a:uFillTx/>
              <a:latin typeface="+mn-lt"/>
              <a:ea typeface="+mn-ea"/>
              <a:cs typeface="+mn-cs"/>
            </a:endParaRPr>
          </a:p>
        </p:txBody>
      </p:sp>
      <p:sp>
        <p:nvSpPr>
          <p:cNvPr id="26629" name="Rectangle 5"/>
          <p:cNvSpPr/>
          <p:nvPr/>
        </p:nvSpPr>
        <p:spPr>
          <a:xfrm>
            <a:off x="0" y="3252788"/>
            <a:ext cx="184150" cy="369887"/>
          </a:xfrm>
          <a:prstGeom prst="rect">
            <a:avLst/>
          </a:prstGeom>
          <a:noFill/>
          <a:ln w="9525">
            <a:noFill/>
          </a:ln>
        </p:spPr>
        <p:txBody>
          <a:bodyPr wrap="none" anchor="ctr">
            <a:spAutoFit/>
          </a:bodyPr>
          <a:lstStyle/>
          <a:p>
            <a:endParaRPr lang="zh-CN" altLang="en-US" dirty="0">
              <a:latin typeface="Tahoma" panose="020B0604030504040204" pitchFamily="34" charset="0"/>
              <a:ea typeface="宋体" panose="02010600030101010101" pitchFamily="2" charset="-122"/>
            </a:endParaRPr>
          </a:p>
        </p:txBody>
      </p:sp>
      <p:sp>
        <p:nvSpPr>
          <p:cNvPr id="26630" name="Rectangle 6"/>
          <p:cNvSpPr/>
          <p:nvPr/>
        </p:nvSpPr>
        <p:spPr>
          <a:xfrm>
            <a:off x="0" y="3252788"/>
            <a:ext cx="184150" cy="369887"/>
          </a:xfrm>
          <a:prstGeom prst="rect">
            <a:avLst/>
          </a:prstGeom>
          <a:noFill/>
          <a:ln w="9525">
            <a:noFill/>
          </a:ln>
        </p:spPr>
        <p:txBody>
          <a:bodyPr wrap="none" anchor="ctr">
            <a:spAutoFit/>
          </a:bodyPr>
          <a:lstStyle/>
          <a:p>
            <a:endParaRPr lang="zh-CN" altLang="en-US" dirty="0">
              <a:latin typeface="Tahoma" panose="020B0604030504040204" pitchFamily="34" charset="0"/>
              <a:ea typeface="宋体" panose="02010600030101010101" pitchFamily="2" charset="-122"/>
            </a:endParaRPr>
          </a:p>
        </p:txBody>
      </p:sp>
      <p:sp>
        <p:nvSpPr>
          <p:cNvPr id="26632" name="Rectangle 8"/>
          <p:cNvSpPr/>
          <p:nvPr/>
        </p:nvSpPr>
        <p:spPr>
          <a:xfrm>
            <a:off x="0" y="0"/>
            <a:ext cx="184150" cy="369888"/>
          </a:xfrm>
          <a:prstGeom prst="rect">
            <a:avLst/>
          </a:prstGeom>
          <a:noFill/>
          <a:ln w="9525">
            <a:noFill/>
          </a:ln>
        </p:spPr>
        <p:txBody>
          <a:bodyPr wrap="none" anchor="ctr">
            <a:spAutoFit/>
          </a:bodyPr>
          <a:lstStyle/>
          <a:p>
            <a:endParaRPr lang="zh-CN" altLang="en-US" dirty="0">
              <a:latin typeface="Tahoma" panose="020B0604030504040204" pitchFamily="34" charset="0"/>
              <a:ea typeface="宋体" panose="02010600030101010101" pitchFamily="2" charset="-122"/>
            </a:endParaRPr>
          </a:p>
        </p:txBody>
      </p:sp>
      <p:sp>
        <p:nvSpPr>
          <p:cNvPr id="26636" name="日期占位符 1"/>
          <p:cNvSpPr>
            <a:spLocks noGrp="1"/>
          </p:cNvSpPr>
          <p:nvPr>
            <p:ph type="dt" sz="half" idx="10"/>
          </p:nvPr>
        </p:nvSpPr>
        <p:spPr>
          <a:xfrm>
            <a:off x="3175" y="6484938"/>
            <a:ext cx="1905000" cy="342900"/>
          </a:xfrm>
        </p:spPr>
        <p:txBody>
          <a:bodyPr wrap="square" lIns="91440" tIns="45720" rIns="91440" bIns="45720" anchor="b"/>
          <a:lst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stStyle>
          <a:p>
            <a:pPr lvl="0" indent="0"/>
            <a:fld id="{BB962C8B-B14F-4D97-AF65-F5344CB8AC3E}" type="datetime8">
              <a:rPr lang="en-US" altLang="zh-CN" sz="1400" dirty="0"/>
              <a:t>11/20/2025 5:38 PM</a:t>
            </a:fld>
            <a:endParaRPr lang="en-US" altLang="zh-CN" sz="1400" dirty="0"/>
          </a:p>
        </p:txBody>
      </p:sp>
      <p:pic>
        <p:nvPicPr>
          <p:cNvPr id="14" name="内容占位符 1" descr="新校徽（3M）弓之乐"/>
          <p:cNvPicPr>
            <a:picLocks noChangeAspect="1"/>
          </p:cNvPicPr>
          <p:nvPr/>
        </p:nvPicPr>
        <p:blipFill>
          <a:blip r:embed="rId2" cstate="print"/>
          <a:stretch>
            <a:fillRect/>
          </a:stretch>
        </p:blipFill>
        <p:spPr>
          <a:xfrm>
            <a:off x="19685" y="-27384"/>
            <a:ext cx="746760" cy="735965"/>
          </a:xfrm>
          <a:prstGeom prst="rect">
            <a:avLst/>
          </a:prstGeom>
          <a:noFill/>
          <a:ln w="9525">
            <a:noFill/>
          </a:ln>
        </p:spPr>
      </p:pic>
      <p:sp>
        <p:nvSpPr>
          <p:cNvPr id="2" name="灯片编号占位符 3"/>
          <p:cNvSpPr txBox="1"/>
          <p:nvPr/>
        </p:nvSpPr>
        <p:spPr bwMode="auto">
          <a:xfrm>
            <a:off x="8316416" y="6529928"/>
            <a:ext cx="630734" cy="328072"/>
          </a:xfrm>
          <a:prstGeom prst="rect">
            <a:avLst/>
          </a:prstGeom>
          <a:noFill/>
          <a:ln w="9525">
            <a:noFill/>
            <a:miter lim="800000"/>
          </a:ln>
          <a:effectLst/>
        </p:spPr>
        <p:txBody>
          <a:bodyPr vert="horz" wrap="square" lIns="91440" tIns="45720" rIns="91440" bIns="45720" numCol="1" anchor="b" anchorCtr="0" compatLnSpc="1"/>
          <a:ls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9pPr>
          </a:lstStyle>
          <a:p>
            <a:pPr algn="r"/>
            <a:fld id="{9A0DB2DC-4C9A-4742-B13C-FB6460FD3503}" type="slidenum">
              <a:rPr lang="en-US" altLang="zh-CN" sz="1400" noProof="1" smtClean="0">
                <a:cs typeface="+mn-ea"/>
              </a:rPr>
              <a:t>43</a:t>
            </a:fld>
            <a:endParaRPr lang="en-US" altLang="zh-CN" sz="1400" dirty="0"/>
          </a:p>
        </p:txBody>
      </p:sp>
      <p:pic>
        <p:nvPicPr>
          <p:cNvPr id="3" name="Picture 5" descr="〈工程材料〉图3-10"/>
          <p:cNvPicPr>
            <a:picLocks noChangeAspect="1"/>
          </p:cNvPicPr>
          <p:nvPr/>
        </p:nvPicPr>
        <p:blipFill>
          <a:blip r:embed="rId3"/>
          <a:stretch>
            <a:fillRect/>
          </a:stretch>
        </p:blipFill>
        <p:spPr>
          <a:xfrm>
            <a:off x="1508781" y="3252788"/>
            <a:ext cx="7105650" cy="3763962"/>
          </a:xfrm>
          <a:prstGeom prst="rect">
            <a:avLst/>
          </a:prstGeom>
          <a:noFill/>
          <a:ln w="9525">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187450" y="1435100"/>
            <a:ext cx="7488555" cy="3292475"/>
          </a:xfrm>
        </p:spPr>
        <p:txBody>
          <a:bodyPr/>
          <a:lstStyle/>
          <a:p>
            <a:pPr algn="ctr"/>
            <a:r>
              <a:rPr kumimoji="1" lang="zh-CN" altLang="en-US" sz="6000" b="1" dirty="0">
                <a:solidFill>
                  <a:srgbClr val="FF0000"/>
                </a:solidFill>
                <a:latin typeface="华文中宋" panose="02010600040101010101" pitchFamily="2" charset="-122"/>
                <a:ea typeface="华文中宋" panose="02010600040101010101" pitchFamily="2" charset="-122"/>
                <a:sym typeface="+mn-ea"/>
              </a:rPr>
              <a:t>二、二元相图的基本类型与分析</a:t>
            </a:r>
            <a:br>
              <a:rPr kumimoji="1" lang="en-US" altLang="zh-CN" sz="6000" b="1" i="0" u="none" strike="noStrike" kern="0" cap="none" spc="0" normalizeH="0" baseline="0" noProof="0" dirty="0">
                <a:ln>
                  <a:noFill/>
                </a:ln>
                <a:solidFill>
                  <a:srgbClr val="FF0000"/>
                </a:solidFill>
                <a:uLnTx/>
                <a:uFillTx/>
                <a:latin typeface="华文中宋" panose="02010600040101010101" pitchFamily="2" charset="-122"/>
                <a:ea typeface="华文中宋" panose="02010600040101010101" pitchFamily="2" charset="-122"/>
              </a:rPr>
            </a:br>
            <a:r>
              <a:rPr lang="en-GB" altLang="zh-CN" sz="4800" b="1" i="1" dirty="0">
                <a:solidFill>
                  <a:srgbClr val="FF0000"/>
                </a:solidFill>
                <a:latin typeface="Times New Roman" panose="02020603050405020304" pitchFamily="18" charset="0"/>
                <a:cs typeface="Times New Roman" panose="02020603050405020304" pitchFamily="18" charset="0"/>
                <a:sym typeface="+mn-ea"/>
              </a:rPr>
              <a:t>Basic types and </a:t>
            </a:r>
            <a:r>
              <a:rPr lang="en-US" altLang="en-GB" sz="4800" b="1" i="1" dirty="0">
                <a:solidFill>
                  <a:srgbClr val="FF0000"/>
                </a:solidFill>
                <a:latin typeface="Times New Roman" panose="02020603050405020304" pitchFamily="18" charset="0"/>
                <a:cs typeface="Times New Roman" panose="02020603050405020304" pitchFamily="18" charset="0"/>
                <a:sym typeface="+mn-ea"/>
              </a:rPr>
              <a:t>ana</a:t>
            </a:r>
            <a:r>
              <a:rPr lang="en-GB" altLang="zh-CN" sz="4800" b="1" i="1" dirty="0">
                <a:solidFill>
                  <a:srgbClr val="FF0000"/>
                </a:solidFill>
                <a:latin typeface="Times New Roman" panose="02020603050405020304" pitchFamily="18" charset="0"/>
                <a:cs typeface="Times New Roman" panose="02020603050405020304" pitchFamily="18" charset="0"/>
                <a:sym typeface="+mn-ea"/>
              </a:rPr>
              <a:t>lysis of</a:t>
            </a:r>
            <a:r>
              <a:rPr kumimoji="1" lang="en-US" altLang="zh-CN" sz="4800" b="1" dirty="0">
                <a:solidFill>
                  <a:srgbClr val="FF0000"/>
                </a:solidFill>
                <a:latin typeface="华文中宋" panose="02010600040101010101" pitchFamily="2" charset="-122"/>
                <a:ea typeface="华文中宋" panose="02010600040101010101" pitchFamily="2" charset="-122"/>
                <a:sym typeface="+mn-ea"/>
              </a:rPr>
              <a:t> </a:t>
            </a:r>
            <a:r>
              <a:rPr lang="en-GB" altLang="zh-CN" sz="4800" b="1" i="1" dirty="0">
                <a:solidFill>
                  <a:srgbClr val="FF0000"/>
                </a:solidFill>
                <a:latin typeface="Times New Roman" panose="02020603050405020304" pitchFamily="18" charset="0"/>
                <a:cs typeface="Times New Roman" panose="02020603050405020304" pitchFamily="18" charset="0"/>
                <a:sym typeface="+mn-ea"/>
              </a:rPr>
              <a:t>binary alloy phase diagram</a:t>
            </a:r>
            <a:endParaRPr lang="en-US" altLang="zh-CN" sz="4800" b="1" i="1" dirty="0">
              <a:solidFill>
                <a:srgbClr val="FF0000"/>
              </a:solidFill>
              <a:effectLst/>
              <a:latin typeface="Times New Roman" panose="02020603050405020304" pitchFamily="18" charset="0"/>
              <a:ea typeface="微软雅黑" panose="020B0503020204020204" charset="-122"/>
              <a:cs typeface="Times New Roman" panose="02020603050405020304" pitchFamily="18" charset="0"/>
            </a:endParaRPr>
          </a:p>
        </p:txBody>
      </p:sp>
      <p:sp>
        <p:nvSpPr>
          <p:cNvPr id="5" name="日期占位符 1"/>
          <p:cNvSpPr txBox="1"/>
          <p:nvPr/>
        </p:nvSpPr>
        <p:spPr>
          <a:xfrm>
            <a:off x="19685" y="6529929"/>
            <a:ext cx="1905000" cy="342900"/>
          </a:xfrm>
          <a:prstGeom prst="rect">
            <a:avLst/>
          </a:prstGeom>
        </p:spPr>
        <p:txBody>
          <a:bodyPr wrap="square" lIns="91440" tIns="45720" rIns="91440" bIns="45720" anchor="b"/>
          <a:lstStyle>
            <a:defPPr>
              <a:defRPr lang="zh-CN"/>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9pPr>
          </a:lstStyle>
          <a:p>
            <a:fld id="{BB962C8B-B14F-4D97-AF65-F5344CB8AC3E}" type="datetime8">
              <a:rPr lang="en-US" altLang="zh-CN" sz="1400" smtClean="0"/>
              <a:t>11/20/2025 5:38 PM</a:t>
            </a:fld>
            <a:endParaRPr lang="en-US" altLang="zh-CN" sz="1400" dirty="0"/>
          </a:p>
        </p:txBody>
      </p:sp>
      <p:sp>
        <p:nvSpPr>
          <p:cNvPr id="6" name="灯片编号占位符 3"/>
          <p:cNvSpPr txBox="1"/>
          <p:nvPr/>
        </p:nvSpPr>
        <p:spPr bwMode="auto">
          <a:xfrm>
            <a:off x="8316416" y="6529928"/>
            <a:ext cx="630734" cy="328072"/>
          </a:xfrm>
          <a:prstGeom prst="rect">
            <a:avLst/>
          </a:prstGeom>
          <a:noFill/>
          <a:ln w="9525">
            <a:noFill/>
            <a:miter lim="800000"/>
          </a:ln>
          <a:effectLst/>
        </p:spPr>
        <p:txBody>
          <a:bodyPr vert="horz" wrap="square" lIns="91440" tIns="45720" rIns="91440" bIns="45720" numCol="1" anchor="b" anchorCtr="0" compatLnSpc="1"/>
          <a:ls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9pPr>
          </a:lstStyle>
          <a:p>
            <a:pPr algn="r"/>
            <a:fld id="{9A0DB2DC-4C9A-4742-B13C-FB6460FD3503}" type="slidenum">
              <a:rPr lang="en-US" altLang="zh-CN" sz="1400" noProof="1" smtClean="0">
                <a:cs typeface="+mn-ea"/>
              </a:rPr>
              <a:t>44</a:t>
            </a:fld>
            <a:endParaRPr lang="en-US" altLang="zh-CN" sz="1400" dirty="0"/>
          </a:p>
        </p:txBody>
      </p:sp>
      <p:pic>
        <p:nvPicPr>
          <p:cNvPr id="4"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264" t="15784" r="3206" b="19580"/>
          <a:stretch>
            <a:fillRect/>
          </a:stretch>
        </p:blipFill>
        <p:spPr bwMode="auto">
          <a:xfrm>
            <a:off x="0" y="0"/>
            <a:ext cx="2372995" cy="582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灯片编号占位符 5"/>
          <p:cNvSpPr>
            <a:spLocks noGrp="1"/>
          </p:cNvSpPr>
          <p:nvPr>
            <p:ph type="sldNum" sz="quarter" idx="12"/>
          </p:nvPr>
        </p:nvSpPr>
        <p:spPr>
          <a:xfrm>
            <a:off x="8403590" y="6617970"/>
            <a:ext cx="543560" cy="233680"/>
          </a:xfrm>
        </p:spPr>
        <p:txBody>
          <a:bodyPr wrap="square" lIns="91440" tIns="45720" rIns="91440" bIns="45720" anchor="b"/>
          <a:lstStyle/>
          <a:p>
            <a:pPr algn="r"/>
            <a:fld id="{9A0DB2DC-4C9A-4742-B13C-FB6460FD3503}" type="slidenum">
              <a:rPr lang="en-US" altLang="zh-CN" sz="1400" dirty="0"/>
              <a:t>45</a:t>
            </a:fld>
            <a:endParaRPr lang="en-US" altLang="zh-CN" sz="1400" dirty="0"/>
          </a:p>
        </p:txBody>
      </p:sp>
      <p:sp>
        <p:nvSpPr>
          <p:cNvPr id="28674" name="Rectangle 2"/>
          <p:cNvSpPr>
            <a:spLocks noGrp="1"/>
          </p:cNvSpPr>
          <p:nvPr>
            <p:ph type="title"/>
          </p:nvPr>
        </p:nvSpPr>
        <p:spPr>
          <a:xfrm>
            <a:off x="857250" y="0"/>
            <a:ext cx="8534400" cy="1143000"/>
          </a:xfrm>
        </p:spPr>
        <p:txBody>
          <a:bodyPr wrap="square" lIns="91440" tIns="45720" rIns="91440" bIns="45720" anchor="b"/>
          <a:lstStyle/>
          <a:p>
            <a:pPr eaLnBrk="1" hangingPunct="1"/>
            <a:r>
              <a:rPr kumimoji="1" lang="zh-CN" altLang="en-US" sz="4400" b="1" dirty="0">
                <a:solidFill>
                  <a:srgbClr val="FF0000"/>
                </a:solidFill>
                <a:latin typeface="华文中宋" panose="02010600040101010101" pitchFamily="2" charset="-122"/>
                <a:ea typeface="华文中宋" panose="02010600040101010101" pitchFamily="2" charset="-122"/>
              </a:rPr>
              <a:t>二、二元相图的基本类型与分析</a:t>
            </a:r>
            <a:endParaRPr lang="zh-CN" altLang="en-US" b="1" dirty="0">
              <a:solidFill>
                <a:schemeClr val="folHlink"/>
              </a:solidFill>
              <a:latin typeface="宋体" panose="02010600030101010101" pitchFamily="2" charset="-122"/>
            </a:endParaRPr>
          </a:p>
        </p:txBody>
      </p:sp>
      <p:sp>
        <p:nvSpPr>
          <p:cNvPr id="175107" name="Rectangle 3"/>
          <p:cNvSpPr>
            <a:spLocks noGrp="1" noChangeArrowheads="1"/>
          </p:cNvSpPr>
          <p:nvPr>
            <p:ph idx="1"/>
          </p:nvPr>
        </p:nvSpPr>
        <p:spPr>
          <a:xfrm>
            <a:off x="1115616" y="2071688"/>
            <a:ext cx="7739459" cy="4324350"/>
          </a:xfrm>
        </p:spPr>
        <p:txBody>
          <a:bodyPr vert="horz" wrap="square" lIns="91440" tIns="45720" rIns="91440" bIns="45720" numCol="1" anchor="t" anchorCtr="0" compatLnSpc="1"/>
          <a:lstStyle/>
          <a:p>
            <a:pPr eaLnBrk="1" latinLnBrk="0" hangingPunct="1">
              <a:lnSpc>
                <a:spcPct val="130000"/>
              </a:lnSpc>
            </a:pPr>
            <a:r>
              <a:rPr kumimoji="1" lang="zh-CN" altLang="en-US" b="1" dirty="0">
                <a:solidFill>
                  <a:schemeClr val="folHlink"/>
                </a:solidFill>
                <a:ea typeface="华文中宋" panose="02010600040101010101" pitchFamily="2" charset="-122"/>
              </a:rPr>
              <a:t>二元</a:t>
            </a:r>
            <a:r>
              <a:rPr kumimoji="1" lang="en-US" altLang="zh-CN" b="1" dirty="0">
                <a:solidFill>
                  <a:schemeClr val="folHlink"/>
                </a:solidFill>
                <a:ea typeface="华文中宋" panose="02010600040101010101" pitchFamily="2" charset="-122"/>
              </a:rPr>
              <a:t> </a:t>
            </a:r>
            <a:r>
              <a:rPr kumimoji="1" lang="zh-CN" altLang="en-US" b="1" dirty="0">
                <a:solidFill>
                  <a:schemeClr val="folHlink"/>
                </a:solidFill>
                <a:ea typeface="华文中宋" panose="02010600040101010101" pitchFamily="2" charset="-122"/>
              </a:rPr>
              <a:t>匀晶相图</a:t>
            </a:r>
          </a:p>
          <a:p>
            <a:pPr eaLnBrk="1" latinLnBrk="0" hangingPunct="1">
              <a:lnSpc>
                <a:spcPct val="130000"/>
              </a:lnSpc>
            </a:pPr>
            <a:r>
              <a:rPr kumimoji="1" lang="zh-CN" altLang="en-US" b="1" dirty="0">
                <a:solidFill>
                  <a:schemeClr val="folHlink"/>
                </a:solidFill>
                <a:ea typeface="华文中宋" panose="02010600040101010101" pitchFamily="2" charset="-122"/>
              </a:rPr>
              <a:t>二元</a:t>
            </a:r>
            <a:r>
              <a:rPr kumimoji="1" lang="en-US" altLang="zh-CN" b="1" dirty="0">
                <a:solidFill>
                  <a:schemeClr val="folHlink"/>
                </a:solidFill>
                <a:ea typeface="华文中宋" panose="02010600040101010101" pitchFamily="2" charset="-122"/>
              </a:rPr>
              <a:t> </a:t>
            </a:r>
            <a:r>
              <a:rPr kumimoji="1" lang="zh-CN" altLang="en-US" b="1" dirty="0">
                <a:solidFill>
                  <a:schemeClr val="folHlink"/>
                </a:solidFill>
                <a:ea typeface="华文中宋" panose="02010600040101010101" pitchFamily="2" charset="-122"/>
              </a:rPr>
              <a:t>共晶相图</a:t>
            </a:r>
          </a:p>
          <a:p>
            <a:pPr eaLnBrk="1" latinLnBrk="0" hangingPunct="1">
              <a:lnSpc>
                <a:spcPct val="130000"/>
              </a:lnSpc>
              <a:spcBef>
                <a:spcPts val="0"/>
              </a:spcBef>
            </a:pPr>
            <a:r>
              <a:rPr kumimoji="1" lang="zh-CN" altLang="en-US" b="1" dirty="0">
                <a:solidFill>
                  <a:schemeClr val="folHlink"/>
                </a:solidFill>
                <a:ea typeface="华文中宋" panose="02010600040101010101" pitchFamily="2" charset="-122"/>
              </a:rPr>
              <a:t>二元</a:t>
            </a:r>
            <a:r>
              <a:rPr kumimoji="1" lang="en-US" altLang="zh-CN" b="1" dirty="0">
                <a:solidFill>
                  <a:schemeClr val="folHlink"/>
                </a:solidFill>
                <a:ea typeface="华文中宋" panose="02010600040101010101" pitchFamily="2" charset="-122"/>
              </a:rPr>
              <a:t> </a:t>
            </a:r>
            <a:r>
              <a:rPr kumimoji="1" lang="zh-CN" altLang="en-US" b="1" dirty="0">
                <a:solidFill>
                  <a:schemeClr val="folHlink"/>
                </a:solidFill>
                <a:ea typeface="华文中宋" panose="02010600040101010101" pitchFamily="2" charset="-122"/>
              </a:rPr>
              <a:t>包晶相图</a:t>
            </a:r>
          </a:p>
          <a:p>
            <a:pPr eaLnBrk="1" latinLnBrk="0" hangingPunct="1">
              <a:lnSpc>
                <a:spcPct val="130000"/>
              </a:lnSpc>
            </a:pPr>
            <a:r>
              <a:rPr kumimoji="1" lang="zh-CN" altLang="en-US" b="1" dirty="0">
                <a:solidFill>
                  <a:schemeClr val="folHlink"/>
                </a:solidFill>
                <a:ea typeface="华文中宋" panose="02010600040101010101" pitchFamily="2" charset="-122"/>
              </a:rPr>
              <a:t>形成稳定化合物的二元相图</a:t>
            </a:r>
            <a:endParaRPr lang="zh-CN" altLang="en-US" b="1" dirty="0">
              <a:solidFill>
                <a:schemeClr val="tx2"/>
              </a:solidFill>
            </a:endParaRPr>
          </a:p>
          <a:p>
            <a:pPr eaLnBrk="1" latinLnBrk="0" hangingPunct="1">
              <a:lnSpc>
                <a:spcPct val="130000"/>
              </a:lnSpc>
            </a:pPr>
            <a:r>
              <a:rPr lang="zh-CN" altLang="en-US" b="1" dirty="0">
                <a:ea typeface="华文中宋" panose="02010600040101010101" pitchFamily="2" charset="-122"/>
              </a:rPr>
              <a:t>具有</a:t>
            </a:r>
            <a:r>
              <a:rPr kumimoji="1" lang="zh-CN" altLang="en-US" b="1" dirty="0">
                <a:solidFill>
                  <a:schemeClr val="folHlink"/>
                </a:solidFill>
                <a:ea typeface="华文中宋" panose="02010600040101010101" pitchFamily="2" charset="-122"/>
              </a:rPr>
              <a:t>共析反应</a:t>
            </a:r>
            <a:r>
              <a:rPr lang="zh-CN" altLang="en-US" b="1" dirty="0">
                <a:ea typeface="华文中宋" panose="02010600040101010101" pitchFamily="2" charset="-122"/>
              </a:rPr>
              <a:t>的</a:t>
            </a:r>
            <a:r>
              <a:rPr kumimoji="1" lang="zh-CN" altLang="en-US" b="1" dirty="0">
                <a:solidFill>
                  <a:schemeClr val="folHlink"/>
                </a:solidFill>
                <a:ea typeface="华文中宋" panose="02010600040101010101" pitchFamily="2" charset="-122"/>
              </a:rPr>
              <a:t>二元相图</a:t>
            </a:r>
          </a:p>
        </p:txBody>
      </p:sp>
      <p:sp>
        <p:nvSpPr>
          <p:cNvPr id="28677" name="日期占位符 1"/>
          <p:cNvSpPr>
            <a:spLocks noGrp="1"/>
          </p:cNvSpPr>
          <p:nvPr>
            <p:ph type="dt" sz="half" idx="10"/>
          </p:nvPr>
        </p:nvSpPr>
        <p:spPr>
          <a:xfrm>
            <a:off x="0" y="6541770"/>
            <a:ext cx="1905000" cy="309880"/>
          </a:xfrm>
        </p:spPr>
        <p:txBody>
          <a:bodyPr wrap="square" lIns="91440" tIns="45720" rIns="91440" bIns="45720" anchor="b"/>
          <a:lst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stStyle>
          <a:p>
            <a:pPr lvl="0" indent="0"/>
            <a:fld id="{BB962C8B-B14F-4D97-AF65-F5344CB8AC3E}" type="datetime8">
              <a:rPr lang="en-US" altLang="zh-CN" sz="1400" dirty="0"/>
              <a:t>11/20/2025 5:38 PM</a:t>
            </a:fld>
            <a:endParaRPr lang="en-US" altLang="zh-CN" sz="1400" dirty="0"/>
          </a:p>
        </p:txBody>
      </p:sp>
      <p:pic>
        <p:nvPicPr>
          <p:cNvPr id="7" name="内容占位符 1" descr="新校徽（3M）弓之乐"/>
          <p:cNvPicPr>
            <a:picLocks noChangeAspect="1"/>
          </p:cNvPicPr>
          <p:nvPr/>
        </p:nvPicPr>
        <p:blipFill>
          <a:blip r:embed="rId2" cstate="print"/>
          <a:stretch>
            <a:fillRect/>
          </a:stretch>
        </p:blipFill>
        <p:spPr>
          <a:xfrm>
            <a:off x="19685" y="3175"/>
            <a:ext cx="746760" cy="735965"/>
          </a:xfrm>
          <a:prstGeom prst="rect">
            <a:avLst/>
          </a:prstGeom>
          <a:noFill/>
          <a:ln w="9525">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763688" y="1676400"/>
            <a:ext cx="6999312" cy="1462088"/>
          </a:xfrm>
        </p:spPr>
        <p:txBody>
          <a:bodyPr/>
          <a:lstStyle/>
          <a:p>
            <a:r>
              <a:rPr kumimoji="1" lang="en-US" altLang="zh-CN" sz="6000" b="1" dirty="0">
                <a:solidFill>
                  <a:srgbClr val="FF0000"/>
                </a:solidFill>
                <a:latin typeface="华文中宋" panose="02010600040101010101" pitchFamily="2" charset="-122"/>
                <a:ea typeface="华文中宋" panose="02010600040101010101" pitchFamily="2" charset="-122"/>
              </a:rPr>
              <a:t>1.</a:t>
            </a:r>
            <a:r>
              <a:rPr kumimoji="1" lang="zh-CN" altLang="en-US" sz="6000" b="1" dirty="0">
                <a:solidFill>
                  <a:srgbClr val="FF0000"/>
                </a:solidFill>
                <a:latin typeface="华文中宋" panose="02010600040101010101" pitchFamily="2" charset="-122"/>
                <a:ea typeface="华文中宋" panose="02010600040101010101" pitchFamily="2" charset="-122"/>
              </a:rPr>
              <a:t>二元匀晶相图</a:t>
            </a:r>
            <a:endParaRPr lang="zh-CN" altLang="en-US" sz="6000" dirty="0"/>
          </a:p>
        </p:txBody>
      </p:sp>
      <p:sp>
        <p:nvSpPr>
          <p:cNvPr id="5" name="日期占位符 1"/>
          <p:cNvSpPr txBox="1"/>
          <p:nvPr/>
        </p:nvSpPr>
        <p:spPr>
          <a:xfrm>
            <a:off x="19685" y="6529929"/>
            <a:ext cx="1905000" cy="342900"/>
          </a:xfrm>
          <a:prstGeom prst="rect">
            <a:avLst/>
          </a:prstGeom>
        </p:spPr>
        <p:txBody>
          <a:bodyPr wrap="square" lIns="91440" tIns="45720" rIns="91440" bIns="45720" anchor="b"/>
          <a:lstStyle>
            <a:defPPr>
              <a:defRPr lang="zh-CN"/>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9pPr>
          </a:lstStyle>
          <a:p>
            <a:fld id="{BB962C8B-B14F-4D97-AF65-F5344CB8AC3E}" type="datetime8">
              <a:rPr lang="en-US" altLang="zh-CN" sz="1400" smtClean="0"/>
              <a:t>11/20/2025 5:38 PM</a:t>
            </a:fld>
            <a:endParaRPr lang="en-US" altLang="zh-CN" sz="1400" dirty="0"/>
          </a:p>
        </p:txBody>
      </p:sp>
      <p:sp>
        <p:nvSpPr>
          <p:cNvPr id="6" name="灯片编号占位符 3"/>
          <p:cNvSpPr txBox="1"/>
          <p:nvPr/>
        </p:nvSpPr>
        <p:spPr bwMode="auto">
          <a:xfrm>
            <a:off x="8316416" y="6529928"/>
            <a:ext cx="630734" cy="328072"/>
          </a:xfrm>
          <a:prstGeom prst="rect">
            <a:avLst/>
          </a:prstGeom>
          <a:noFill/>
          <a:ln w="9525">
            <a:noFill/>
            <a:miter lim="800000"/>
          </a:ln>
          <a:effectLst/>
        </p:spPr>
        <p:txBody>
          <a:bodyPr vert="horz" wrap="square" lIns="91440" tIns="45720" rIns="91440" bIns="45720" numCol="1" anchor="b" anchorCtr="0" compatLnSpc="1"/>
          <a:ls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9pPr>
          </a:lstStyle>
          <a:p>
            <a:pPr algn="r"/>
            <a:fld id="{9A0DB2DC-4C9A-4742-B13C-FB6460FD3503}" type="slidenum">
              <a:rPr lang="en-US" altLang="zh-CN" sz="1400" noProof="1" smtClean="0">
                <a:cs typeface="+mn-ea"/>
              </a:rPr>
              <a:t>46</a:t>
            </a:fld>
            <a:endParaRPr lang="en-US" altLang="zh-CN" sz="1400" dirty="0"/>
          </a:p>
        </p:txBody>
      </p:sp>
      <p:sp>
        <p:nvSpPr>
          <p:cNvPr id="3" name="文本框 2"/>
          <p:cNvSpPr txBox="1"/>
          <p:nvPr/>
        </p:nvSpPr>
        <p:spPr>
          <a:xfrm>
            <a:off x="354330" y="3429000"/>
            <a:ext cx="8033385" cy="1753235"/>
          </a:xfrm>
          <a:prstGeom prst="rect">
            <a:avLst/>
          </a:prstGeom>
        </p:spPr>
        <p:txBody>
          <a:bodyPr wrap="square">
            <a:spAutoFit/>
          </a:bodyPr>
          <a:lstStyle/>
          <a:p>
            <a:pPr marL="0" indent="0" algn="ctr"/>
            <a:r>
              <a:rPr lang="en-GB" altLang="zh-CN" sz="5400" b="1" i="1" kern="0" dirty="0">
                <a:solidFill>
                  <a:srgbClr val="FF0000"/>
                </a:solidFill>
                <a:latin typeface="Times New Roman" panose="02020603050405020304" pitchFamily="18" charset="0"/>
                <a:ea typeface="+mj-ea"/>
                <a:cs typeface="Times New Roman" panose="02020603050405020304" pitchFamily="18" charset="0"/>
              </a:rPr>
              <a:t>Binary isomorphous phase diagram</a:t>
            </a:r>
          </a:p>
        </p:txBody>
      </p:sp>
      <p:pic>
        <p:nvPicPr>
          <p:cNvPr id="4"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264" t="15784" r="3206" b="19580"/>
          <a:stretch>
            <a:fillRect/>
          </a:stretch>
        </p:blipFill>
        <p:spPr bwMode="auto">
          <a:xfrm>
            <a:off x="0" y="0"/>
            <a:ext cx="2372995" cy="582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1" name="Rectangle 3"/>
          <p:cNvSpPr/>
          <p:nvPr/>
        </p:nvSpPr>
        <p:spPr>
          <a:xfrm>
            <a:off x="378460" y="2061210"/>
            <a:ext cx="4830445" cy="4433570"/>
          </a:xfrm>
          <a:prstGeom prst="rect">
            <a:avLst/>
          </a:prstGeom>
          <a:noFill/>
          <a:ln w="9525">
            <a:noFill/>
          </a:ln>
        </p:spPr>
        <p:txBody>
          <a:bodyPr anchor="t"/>
          <a:lstStyle/>
          <a:p>
            <a:pPr marL="342900" lvl="0" indent="-342900">
              <a:lnSpc>
                <a:spcPct val="140000"/>
              </a:lnSpc>
              <a:spcBef>
                <a:spcPct val="20000"/>
              </a:spcBef>
              <a:buClr>
                <a:schemeClr val="accent2"/>
              </a:buClr>
              <a:buSzPct val="80000"/>
              <a:buFont typeface="Wingdings" panose="05000000000000000000" pitchFamily="2" charset="2"/>
              <a:buChar char="l"/>
            </a:pPr>
            <a:r>
              <a:rPr lang="zh-CN" altLang="en-US" sz="2800" b="1" dirty="0">
                <a:solidFill>
                  <a:schemeClr val="folHlink"/>
                </a:solidFill>
                <a:latin typeface="Times New Roman" panose="02020603050405020304" pitchFamily="18" charset="0"/>
                <a:ea typeface="华文中宋" panose="02010600040101010101" pitchFamily="2" charset="-122"/>
              </a:rPr>
              <a:t>二元匀晶相图：两组元在</a:t>
            </a:r>
            <a:r>
              <a:rPr lang="zh-CN" altLang="en-US" sz="2800" b="1" dirty="0">
                <a:solidFill>
                  <a:srgbClr val="FF0000"/>
                </a:solidFill>
                <a:latin typeface="Times New Roman" panose="02020603050405020304" pitchFamily="18" charset="0"/>
                <a:ea typeface="华文中宋" panose="02010600040101010101" pitchFamily="2" charset="-122"/>
              </a:rPr>
              <a:t>液态</a:t>
            </a:r>
            <a:r>
              <a:rPr lang="zh-CN" altLang="en-US" sz="2800" b="1" dirty="0">
                <a:solidFill>
                  <a:schemeClr val="folHlink"/>
                </a:solidFill>
                <a:latin typeface="Times New Roman" panose="02020603050405020304" pitchFamily="18" charset="0"/>
                <a:ea typeface="华文中宋" panose="02010600040101010101" pitchFamily="2" charset="-122"/>
              </a:rPr>
              <a:t>和</a:t>
            </a:r>
            <a:r>
              <a:rPr lang="zh-CN" altLang="en-US" sz="2800" b="1" dirty="0">
                <a:solidFill>
                  <a:srgbClr val="FF0000"/>
                </a:solidFill>
                <a:latin typeface="Times New Roman" panose="02020603050405020304" pitchFamily="18" charset="0"/>
                <a:ea typeface="华文中宋" panose="02010600040101010101" pitchFamily="2" charset="-122"/>
              </a:rPr>
              <a:t>固态</a:t>
            </a:r>
            <a:r>
              <a:rPr lang="zh-CN" altLang="en-US" sz="2800" b="1" dirty="0">
                <a:solidFill>
                  <a:schemeClr val="folHlink"/>
                </a:solidFill>
                <a:latin typeface="Times New Roman" panose="02020603050405020304" pitchFamily="18" charset="0"/>
                <a:ea typeface="华文中宋" panose="02010600040101010101" pitchFamily="2" charset="-122"/>
              </a:rPr>
              <a:t>下均</a:t>
            </a:r>
            <a:r>
              <a:rPr lang="zh-CN" altLang="en-US" sz="2800" b="1" dirty="0">
                <a:solidFill>
                  <a:srgbClr val="FF0000"/>
                </a:solidFill>
                <a:latin typeface="Times New Roman" panose="02020603050405020304" pitchFamily="18" charset="0"/>
                <a:ea typeface="华文中宋" panose="02010600040101010101" pitchFamily="2" charset="-122"/>
              </a:rPr>
              <a:t>无限互溶</a:t>
            </a:r>
            <a:r>
              <a:rPr lang="zh-CN" altLang="en-US" sz="2800" b="1" dirty="0">
                <a:solidFill>
                  <a:schemeClr val="folHlink"/>
                </a:solidFill>
                <a:latin typeface="Times New Roman" panose="02020603050405020304" pitchFamily="18" charset="0"/>
                <a:ea typeface="华文中宋" panose="02010600040101010101" pitchFamily="2" charset="-122"/>
              </a:rPr>
              <a:t>时所构成的相图。</a:t>
            </a:r>
          </a:p>
          <a:p>
            <a:pPr marL="342900" lvl="0" indent="-342900">
              <a:lnSpc>
                <a:spcPct val="140000"/>
              </a:lnSpc>
              <a:spcBef>
                <a:spcPct val="20000"/>
              </a:spcBef>
              <a:buClr>
                <a:schemeClr val="accent2"/>
              </a:buClr>
              <a:buSzPct val="80000"/>
              <a:buFont typeface="Wingdings" panose="05000000000000000000" pitchFamily="2" charset="2"/>
              <a:buChar char="l"/>
            </a:pPr>
            <a:r>
              <a:rPr lang="zh-CN" altLang="en-US" sz="2800" b="1" dirty="0">
                <a:solidFill>
                  <a:schemeClr val="folHlink"/>
                </a:solidFill>
                <a:latin typeface="Times New Roman" panose="02020603050405020304" pitchFamily="18" charset="0"/>
                <a:ea typeface="华文中宋" panose="02010600040101010101" pitchFamily="2" charset="-122"/>
              </a:rPr>
              <a:t>匀晶转变（匀晶反应）</a:t>
            </a:r>
            <a:r>
              <a:rPr lang="zh-CN" altLang="en-US" sz="2800" b="1" dirty="0">
                <a:solidFill>
                  <a:schemeClr val="folHlink"/>
                </a:solidFill>
                <a:latin typeface="Times New Roman" panose="02020603050405020304" pitchFamily="18" charset="0"/>
              </a:rPr>
              <a:t>：</a:t>
            </a:r>
            <a:r>
              <a:rPr lang="zh-CN" altLang="en-US" sz="2800" b="1" dirty="0">
                <a:latin typeface="Times New Roman" panose="02020603050405020304" pitchFamily="18" charset="0"/>
                <a:ea typeface="华文中宋" panose="02010600040101010101" pitchFamily="2" charset="-122"/>
              </a:rPr>
              <a:t>从</a:t>
            </a:r>
            <a:r>
              <a:rPr lang="zh-CN" altLang="en-US" sz="2800" b="1" dirty="0">
                <a:solidFill>
                  <a:schemeClr val="folHlink"/>
                </a:solidFill>
                <a:latin typeface="Times New Roman" panose="02020603050405020304" pitchFamily="18" charset="0"/>
              </a:rPr>
              <a:t>液相中</a:t>
            </a:r>
            <a:r>
              <a:rPr lang="zh-CN" altLang="en-US" sz="2800" b="1" dirty="0">
                <a:latin typeface="Times New Roman" panose="02020603050405020304" pitchFamily="18" charset="0"/>
                <a:ea typeface="华文中宋" panose="02010600040101010101" pitchFamily="2" charset="-122"/>
              </a:rPr>
              <a:t>结晶出</a:t>
            </a:r>
            <a:r>
              <a:rPr lang="zh-CN" altLang="en-US" sz="2800" b="1" dirty="0">
                <a:solidFill>
                  <a:schemeClr val="folHlink"/>
                </a:solidFill>
                <a:latin typeface="Times New Roman" panose="02020603050405020304" pitchFamily="18" charset="0"/>
              </a:rPr>
              <a:t>单一固相</a:t>
            </a:r>
            <a:r>
              <a:rPr lang="zh-CN" altLang="en-US" sz="2800" b="1" dirty="0">
                <a:latin typeface="Times New Roman" panose="02020603050405020304" pitchFamily="18" charset="0"/>
                <a:ea typeface="华文中宋" panose="02010600040101010101" pitchFamily="2" charset="-122"/>
              </a:rPr>
              <a:t>的转变</a:t>
            </a:r>
            <a:r>
              <a:rPr lang="zh-CN" altLang="en-US" sz="2800" b="1" dirty="0">
                <a:latin typeface="Times New Roman" panose="02020603050405020304" pitchFamily="18" charset="0"/>
              </a:rPr>
              <a:t>。</a:t>
            </a:r>
            <a:endParaRPr lang="zh-CN" altLang="en-US" sz="2800" b="1" dirty="0">
              <a:latin typeface="Times New Roman" panose="02020603050405020304" pitchFamily="18" charset="0"/>
              <a:ea typeface="华文中宋" panose="02010600040101010101" pitchFamily="2" charset="-122"/>
            </a:endParaRPr>
          </a:p>
          <a:p>
            <a:pPr marL="342900" lvl="0" indent="-342900">
              <a:lnSpc>
                <a:spcPct val="140000"/>
              </a:lnSpc>
              <a:spcBef>
                <a:spcPct val="20000"/>
              </a:spcBef>
              <a:buClr>
                <a:schemeClr val="accent2"/>
              </a:buClr>
              <a:buSzPct val="80000"/>
              <a:buFont typeface="Wingdings" panose="05000000000000000000" pitchFamily="2" charset="2"/>
              <a:buChar char="l"/>
            </a:pPr>
            <a:r>
              <a:rPr lang="zh-CN" altLang="en-US" sz="2800" b="1" dirty="0">
                <a:latin typeface="Times New Roman" panose="02020603050405020304" pitchFamily="18" charset="0"/>
                <a:ea typeface="华文中宋" panose="02010600040101010101" pitchFamily="2" charset="-122"/>
              </a:rPr>
              <a:t>以</a:t>
            </a:r>
            <a:r>
              <a:rPr lang="zh-CN" altLang="en-US" sz="2800" b="1" dirty="0">
                <a:solidFill>
                  <a:schemeClr val="folHlink"/>
                </a:solidFill>
                <a:latin typeface="Times New Roman" panose="02020603050405020304" pitchFamily="18" charset="0"/>
                <a:ea typeface="华文中宋" panose="02010600040101010101" pitchFamily="2" charset="-122"/>
              </a:rPr>
              <a:t>Cu-Ni</a:t>
            </a:r>
            <a:r>
              <a:rPr lang="zh-CN" altLang="en-US" sz="2800" b="1" dirty="0">
                <a:latin typeface="Times New Roman" panose="02020603050405020304" pitchFamily="18" charset="0"/>
                <a:ea typeface="华文中宋" panose="02010600040101010101" pitchFamily="2" charset="-122"/>
              </a:rPr>
              <a:t>合金为例进行分析。</a:t>
            </a:r>
          </a:p>
        </p:txBody>
      </p:sp>
      <p:sp>
        <p:nvSpPr>
          <p:cNvPr id="29711" name="日期占位符 1"/>
          <p:cNvSpPr>
            <a:spLocks noGrp="1"/>
          </p:cNvSpPr>
          <p:nvPr>
            <p:ph type="dt" sz="half" idx="10"/>
          </p:nvPr>
        </p:nvSpPr>
        <p:spPr>
          <a:xfrm>
            <a:off x="79375" y="6513513"/>
            <a:ext cx="1905000" cy="342900"/>
          </a:xfrm>
        </p:spPr>
        <p:txBody>
          <a:bodyPr wrap="square" lIns="91440" tIns="45720" rIns="91440" bIns="45720" anchor="b"/>
          <a:lst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stStyle>
          <a:p>
            <a:pPr lvl="0" indent="0"/>
            <a:fld id="{BB962C8B-B14F-4D97-AF65-F5344CB8AC3E}" type="datetime8">
              <a:rPr lang="en-US" altLang="zh-CN" sz="1400" dirty="0"/>
              <a:t>11/20/2025 5:38 PM</a:t>
            </a:fld>
            <a:endParaRPr lang="en-US" altLang="zh-CN" sz="1400" dirty="0"/>
          </a:p>
        </p:txBody>
      </p:sp>
      <p:pic>
        <p:nvPicPr>
          <p:cNvPr id="17" name="内容占位符 1" descr="新校徽（3M）弓之乐"/>
          <p:cNvPicPr>
            <a:picLocks noChangeAspect="1"/>
          </p:cNvPicPr>
          <p:nvPr/>
        </p:nvPicPr>
        <p:blipFill>
          <a:blip r:embed="rId2" cstate="print"/>
          <a:stretch>
            <a:fillRect/>
          </a:stretch>
        </p:blipFill>
        <p:spPr>
          <a:xfrm>
            <a:off x="19685" y="3175"/>
            <a:ext cx="746760" cy="735965"/>
          </a:xfrm>
          <a:prstGeom prst="rect">
            <a:avLst/>
          </a:prstGeom>
          <a:noFill/>
          <a:ln w="9525">
            <a:noFill/>
          </a:ln>
        </p:spPr>
      </p:pic>
      <p:sp>
        <p:nvSpPr>
          <p:cNvPr id="3" name="Rectangle 2"/>
          <p:cNvSpPr>
            <a:spLocks noGrp="1"/>
          </p:cNvSpPr>
          <p:nvPr>
            <p:ph type="title"/>
          </p:nvPr>
        </p:nvSpPr>
        <p:spPr>
          <a:xfrm>
            <a:off x="1033145" y="-99060"/>
            <a:ext cx="7903845" cy="1756410"/>
          </a:xfrm>
        </p:spPr>
        <p:txBody>
          <a:bodyPr wrap="square" lIns="91440" tIns="45720" rIns="91440" bIns="45720" anchor="b"/>
          <a:lstStyle/>
          <a:p>
            <a:pPr algn="ctr" eaLnBrk="1" hangingPunct="1"/>
            <a:r>
              <a:rPr lang="en-US" altLang="zh-CN" b="1" dirty="0">
                <a:solidFill>
                  <a:srgbClr val="FF0000"/>
                </a:solidFill>
              </a:rPr>
              <a:t>1. </a:t>
            </a:r>
            <a:r>
              <a:rPr lang="zh-CN" altLang="en-US" b="1" dirty="0">
                <a:solidFill>
                  <a:srgbClr val="FF0000"/>
                </a:solidFill>
              </a:rPr>
              <a:t>二元匀晶相图</a:t>
            </a:r>
            <a:br>
              <a:rPr lang="zh-CN" altLang="en-US" b="1" dirty="0">
                <a:solidFill>
                  <a:srgbClr val="FF0000"/>
                </a:solidFill>
              </a:rPr>
            </a:br>
            <a:r>
              <a:rPr lang="en-GB" altLang="zh-CN" sz="4000" b="1" i="1" dirty="0">
                <a:solidFill>
                  <a:srgbClr val="FF0000"/>
                </a:solidFill>
                <a:latin typeface="Times New Roman" panose="02020603050405020304" pitchFamily="18" charset="0"/>
                <a:cs typeface="Times New Roman" panose="02020603050405020304" pitchFamily="18" charset="0"/>
                <a:sym typeface="+mn-ea"/>
              </a:rPr>
              <a:t>Binary isomorphous phase diagram</a:t>
            </a:r>
            <a:endParaRPr lang="zh-CN" altLang="en-US" sz="4000" b="1" dirty="0">
              <a:solidFill>
                <a:srgbClr val="FF0000"/>
              </a:solidFill>
              <a:latin typeface="宋体" panose="02010600030101010101" pitchFamily="2" charset="-122"/>
            </a:endParaRPr>
          </a:p>
        </p:txBody>
      </p:sp>
      <p:sp>
        <p:nvSpPr>
          <p:cNvPr id="4" name="灯片编号占位符 3"/>
          <p:cNvSpPr txBox="1"/>
          <p:nvPr/>
        </p:nvSpPr>
        <p:spPr bwMode="auto">
          <a:xfrm>
            <a:off x="8316416" y="6529928"/>
            <a:ext cx="630734" cy="328072"/>
          </a:xfrm>
          <a:prstGeom prst="rect">
            <a:avLst/>
          </a:prstGeom>
          <a:noFill/>
          <a:ln w="9525">
            <a:noFill/>
            <a:miter lim="800000"/>
          </a:ln>
          <a:effectLst/>
        </p:spPr>
        <p:txBody>
          <a:bodyPr vert="horz" wrap="square" lIns="91440" tIns="45720" rIns="91440" bIns="45720" numCol="1" anchor="b" anchorCtr="0" compatLnSpc="1"/>
          <a:ls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9pPr>
          </a:lstStyle>
          <a:p>
            <a:pPr algn="r"/>
            <a:fld id="{9A0DB2DC-4C9A-4742-B13C-FB6460FD3503}" type="slidenum">
              <a:rPr lang="en-US" altLang="zh-CN" sz="1400" noProof="1" smtClean="0">
                <a:cs typeface="+mn-ea"/>
              </a:rPr>
              <a:t>47</a:t>
            </a:fld>
            <a:endParaRPr lang="en-US" altLang="zh-CN" sz="1400" dirty="0"/>
          </a:p>
        </p:txBody>
      </p:sp>
      <p:grpSp>
        <p:nvGrpSpPr>
          <p:cNvPr id="5" name="Group 10"/>
          <p:cNvGrpSpPr/>
          <p:nvPr/>
        </p:nvGrpSpPr>
        <p:grpSpPr>
          <a:xfrm>
            <a:off x="5414645" y="1905000"/>
            <a:ext cx="3532505" cy="3706495"/>
            <a:chOff x="2640" y="1056"/>
            <a:chExt cx="2736" cy="2706"/>
          </a:xfrm>
        </p:grpSpPr>
        <p:pic>
          <p:nvPicPr>
            <p:cNvPr id="6" name="Picture 6" descr="Cu-Ni相图"/>
            <p:cNvPicPr>
              <a:picLocks noChangeAspect="1"/>
            </p:cNvPicPr>
            <p:nvPr/>
          </p:nvPicPr>
          <p:blipFill>
            <a:blip r:embed="rId3"/>
            <a:stretch>
              <a:fillRect/>
            </a:stretch>
          </p:blipFill>
          <p:spPr>
            <a:xfrm>
              <a:off x="2640" y="1056"/>
              <a:ext cx="2729" cy="2440"/>
            </a:xfrm>
            <a:prstGeom prst="rect">
              <a:avLst/>
            </a:prstGeom>
            <a:noFill/>
            <a:ln w="38100">
              <a:noFill/>
            </a:ln>
          </p:spPr>
        </p:pic>
        <p:sp>
          <p:nvSpPr>
            <p:cNvPr id="7" name="Text Box 7"/>
            <p:cNvSpPr txBox="1">
              <a:spLocks noChangeAspect="1" noChangeArrowheads="1"/>
            </p:cNvSpPr>
            <p:nvPr/>
          </p:nvSpPr>
          <p:spPr bwMode="auto">
            <a:xfrm>
              <a:off x="2640" y="3480"/>
              <a:ext cx="2736" cy="282"/>
            </a:xfrm>
            <a:prstGeom prst="rect">
              <a:avLst/>
            </a:prstGeom>
            <a:solidFill>
              <a:schemeClr val="bg1"/>
            </a:solidFill>
            <a:ln w="38100">
              <a:noFill/>
              <a:miter lim="800000"/>
            </a:ln>
            <a:effectLst/>
          </p:spPr>
          <p:txBody>
            <a:bodyPr>
              <a:spAutoFit/>
            </a:bodyPr>
            <a:lstStyle>
              <a:defPPr>
                <a:defRPr lang="zh-CN"/>
              </a:defPPr>
              <a:lvl1pPr marL="0" lvl="0"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80000"/>
                </a:lnSpc>
                <a:spcBef>
                  <a:spcPct val="50000"/>
                </a:spcBef>
                <a:spcAft>
                  <a:spcPct val="0"/>
                </a:spcAft>
                <a:buClrTx/>
                <a:buSzTx/>
                <a:buFontTx/>
                <a:buNone/>
                <a:defRPr/>
              </a:pPr>
              <a:r>
                <a:rPr kumimoji="1" lang="en-US" altLang="zh-CN" sz="2400" b="1" i="0" u="none" strike="noStrike" kern="1200" cap="none" spc="0" normalizeH="0" baseline="0" noProof="0">
                  <a:ln>
                    <a:noFill/>
                  </a:ln>
                  <a:solidFill>
                    <a:schemeClr val="hlink"/>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80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Cu-Ni</a:t>
              </a:r>
              <a:r>
                <a:rPr kumimoji="1" lang="zh-CN" altLang="en-US" sz="2000" b="1" i="0" u="none" strike="noStrike" kern="1200" cap="none" spc="0" normalizeH="0" baseline="0" noProof="0">
                  <a:ln>
                    <a:noFill/>
                  </a:ln>
                  <a:solidFill>
                    <a:srgbClr val="80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合金相图</a:t>
              </a:r>
            </a:p>
          </p:txBody>
        </p:sp>
        <p:sp>
          <p:nvSpPr>
            <p:cNvPr id="8" name="Rectangle 8"/>
            <p:cNvSpPr/>
            <p:nvPr/>
          </p:nvSpPr>
          <p:spPr>
            <a:xfrm>
              <a:off x="2640" y="1067"/>
              <a:ext cx="2736" cy="2666"/>
            </a:xfrm>
            <a:prstGeom prst="rect">
              <a:avLst/>
            </a:prstGeom>
            <a:noFill/>
            <a:ln w="38100" cap="flat" cmpd="sng">
              <a:solidFill>
                <a:srgbClr val="FF9900"/>
              </a:solidFill>
              <a:prstDash val="solid"/>
              <a:miter/>
              <a:headEnd type="none" w="med" len="med"/>
              <a:tailEnd type="none" w="med" len="med"/>
            </a:ln>
          </p:spPr>
          <p:txBody>
            <a:bodyPr wrap="none" anchor="ctr"/>
            <a:lstStyle>
              <a:defPPr>
                <a:defRPr lang="zh-CN"/>
              </a:defPPr>
              <a:lvl1pPr marL="0" lvl="0"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9pPr>
            </a:lstStyle>
            <a:p>
              <a:pPr lvl="0" eaLnBrk="1" hangingPunct="1"/>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76131"/>
                                        </p:tgtEl>
                                        <p:attrNameLst>
                                          <p:attrName>style.visibility</p:attrName>
                                        </p:attrNameLst>
                                      </p:cBhvr>
                                      <p:to>
                                        <p:strVal val="visible"/>
                                      </p:to>
                                    </p:set>
                                    <p:animEffect transition="in" filter="wipe(left)">
                                      <p:cBhvr>
                                        <p:cTn id="7" dur="500"/>
                                        <p:tgtEl>
                                          <p:spTgt spid="176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1"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1" name="Rectangle 3"/>
          <p:cNvSpPr/>
          <p:nvPr/>
        </p:nvSpPr>
        <p:spPr>
          <a:xfrm>
            <a:off x="196850" y="1891742"/>
            <a:ext cx="4595204" cy="4596681"/>
          </a:xfrm>
          <a:prstGeom prst="rect">
            <a:avLst/>
          </a:prstGeom>
          <a:noFill/>
          <a:ln w="9525">
            <a:noFill/>
          </a:ln>
        </p:spPr>
        <p:txBody>
          <a:bodyPr anchor="t"/>
          <a:lstStyle/>
          <a:p>
            <a:pPr marL="457200" indent="-457200">
              <a:lnSpc>
                <a:spcPct val="130000"/>
              </a:lnSpc>
              <a:buFont typeface="Wingdings" panose="05000000000000000000" pitchFamily="2" charset="2"/>
              <a:buChar char="u"/>
            </a:pPr>
            <a:r>
              <a:rPr lang="zh-CN" altLang="en-US" sz="2800" b="1" dirty="0">
                <a:solidFill>
                  <a:schemeClr val="folHlink"/>
                </a:solidFill>
                <a:latin typeface="华文中宋" panose="02010600040101010101" pitchFamily="2" charset="-122"/>
                <a:ea typeface="华文中宋" panose="02010600040101010101" pitchFamily="2" charset="-122"/>
              </a:rPr>
              <a:t>两点：</a:t>
            </a:r>
            <a:r>
              <a:rPr lang="en-US" altLang="zh-CN" sz="2800" dirty="0">
                <a:latin typeface="华文中宋" panose="02010600040101010101" pitchFamily="2" charset="-122"/>
                <a:ea typeface="华文中宋" panose="02010600040101010101" pitchFamily="2" charset="-122"/>
              </a:rPr>
              <a:t>A</a:t>
            </a:r>
            <a:r>
              <a:rPr lang="zh-CN" altLang="en-US" sz="2800" dirty="0">
                <a:latin typeface="华文中宋" panose="02010600040101010101" pitchFamily="2" charset="-122"/>
                <a:ea typeface="华文中宋" panose="02010600040101010101" pitchFamily="2" charset="-122"/>
              </a:rPr>
              <a:t>（纯</a:t>
            </a:r>
            <a:r>
              <a:rPr lang="en-US" altLang="zh-CN" sz="2800" dirty="0">
                <a:latin typeface="华文中宋" panose="02010600040101010101" pitchFamily="2" charset="-122"/>
                <a:ea typeface="华文中宋" panose="02010600040101010101" pitchFamily="2" charset="-122"/>
              </a:rPr>
              <a:t>Cu</a:t>
            </a:r>
            <a:r>
              <a:rPr lang="zh-CN" altLang="en-US" sz="2800" dirty="0">
                <a:latin typeface="华文中宋" panose="02010600040101010101" pitchFamily="2" charset="-122"/>
                <a:ea typeface="华文中宋" panose="02010600040101010101" pitchFamily="2" charset="-122"/>
              </a:rPr>
              <a:t>的熔点）、</a:t>
            </a:r>
            <a:r>
              <a:rPr lang="en-US" altLang="zh-CN" sz="2800" dirty="0">
                <a:latin typeface="华文中宋" panose="02010600040101010101" pitchFamily="2" charset="-122"/>
                <a:ea typeface="华文中宋" panose="02010600040101010101" pitchFamily="2" charset="-122"/>
              </a:rPr>
              <a:t>B</a:t>
            </a:r>
            <a:r>
              <a:rPr lang="zh-CN" altLang="en-US" sz="2800" dirty="0">
                <a:latin typeface="华文中宋" panose="02010600040101010101" pitchFamily="2" charset="-122"/>
                <a:ea typeface="华文中宋" panose="02010600040101010101" pitchFamily="2" charset="-122"/>
              </a:rPr>
              <a:t>（纯</a:t>
            </a:r>
            <a:r>
              <a:rPr lang="en-US" altLang="zh-CN" sz="2800" dirty="0">
                <a:latin typeface="华文中宋" panose="02010600040101010101" pitchFamily="2" charset="-122"/>
                <a:ea typeface="华文中宋" panose="02010600040101010101" pitchFamily="2" charset="-122"/>
              </a:rPr>
              <a:t>Ni</a:t>
            </a:r>
            <a:r>
              <a:rPr lang="zh-CN" altLang="en-US" sz="2800" dirty="0">
                <a:latin typeface="华文中宋" panose="02010600040101010101" pitchFamily="2" charset="-122"/>
                <a:ea typeface="华文中宋" panose="02010600040101010101" pitchFamily="2" charset="-122"/>
              </a:rPr>
              <a:t>的熔点）</a:t>
            </a:r>
            <a:endParaRPr lang="zh-CN" altLang="en-US" sz="2800" b="1" dirty="0">
              <a:solidFill>
                <a:srgbClr val="FFCCFF"/>
              </a:solidFill>
              <a:ea typeface="华文中宋" panose="02010600040101010101" pitchFamily="2" charset="-122"/>
            </a:endParaRPr>
          </a:p>
          <a:p>
            <a:pPr marL="457200" indent="-457200">
              <a:lnSpc>
                <a:spcPct val="130000"/>
              </a:lnSpc>
              <a:buFont typeface="Wingdings" panose="05000000000000000000" pitchFamily="2" charset="2"/>
              <a:buChar char="u"/>
            </a:pPr>
            <a:r>
              <a:rPr lang="zh-CN" altLang="en-US" sz="2800" b="1" dirty="0">
                <a:solidFill>
                  <a:schemeClr val="folHlink"/>
                </a:solidFill>
                <a:latin typeface="华文中宋" panose="02010600040101010101" pitchFamily="2" charset="-122"/>
                <a:ea typeface="华文中宋" panose="02010600040101010101" pitchFamily="2" charset="-122"/>
              </a:rPr>
              <a:t>两线：</a:t>
            </a:r>
            <a:r>
              <a:rPr lang="zh-CN" altLang="en-US" sz="2800" b="1" dirty="0">
                <a:ea typeface="华文中宋" panose="02010600040101010101" pitchFamily="2" charset="-122"/>
              </a:rPr>
              <a:t>液相线、固相线。</a:t>
            </a:r>
          </a:p>
          <a:p>
            <a:pPr marL="457200" indent="-457200">
              <a:lnSpc>
                <a:spcPct val="130000"/>
              </a:lnSpc>
              <a:buFont typeface="Wingdings" panose="05000000000000000000" pitchFamily="2" charset="2"/>
              <a:buChar char="u"/>
            </a:pPr>
            <a:r>
              <a:rPr lang="zh-CN" altLang="en-US" sz="2800" b="1" dirty="0">
                <a:solidFill>
                  <a:schemeClr val="folHlink"/>
                </a:solidFill>
                <a:latin typeface="华文中宋" panose="02010600040101010101" pitchFamily="2" charset="-122"/>
                <a:ea typeface="华文中宋" panose="02010600040101010101" pitchFamily="2" charset="-122"/>
              </a:rPr>
              <a:t>三个相区：</a:t>
            </a:r>
            <a:r>
              <a:rPr lang="zh-CN" altLang="en-US" sz="2800" b="1" dirty="0">
                <a:latin typeface="华文中宋" panose="02010600040101010101" pitchFamily="2" charset="-122"/>
                <a:ea typeface="华文中宋" panose="02010600040101010101" pitchFamily="2" charset="-122"/>
              </a:rPr>
              <a:t>液相线以上为</a:t>
            </a:r>
            <a:r>
              <a:rPr lang="zh-CN" altLang="en-US" sz="2800" b="1" dirty="0">
                <a:solidFill>
                  <a:schemeClr val="folHlink"/>
                </a:solidFill>
                <a:latin typeface="华文中宋" panose="02010600040101010101" pitchFamily="2" charset="-122"/>
                <a:ea typeface="华文中宋" panose="02010600040101010101" pitchFamily="2" charset="-122"/>
              </a:rPr>
              <a:t>液相区</a:t>
            </a:r>
            <a:r>
              <a:rPr lang="en-US" altLang="zh-CN" sz="2800" b="1" dirty="0">
                <a:latin typeface="华文中宋" panose="02010600040101010101" pitchFamily="2" charset="-122"/>
                <a:ea typeface="华文中宋" panose="02010600040101010101" pitchFamily="2" charset="-122"/>
              </a:rPr>
              <a:t>L </a:t>
            </a:r>
            <a:r>
              <a:rPr lang="zh-CN" altLang="en-US" sz="2800" b="1" dirty="0">
                <a:latin typeface="华文中宋" panose="02010600040101010101" pitchFamily="2" charset="-122"/>
                <a:ea typeface="华文中宋" panose="02010600040101010101" pitchFamily="2" charset="-122"/>
              </a:rPr>
              <a:t>，固相线以下为</a:t>
            </a:r>
            <a:r>
              <a:rPr lang="zh-CN" altLang="en-US" sz="2800" b="1" dirty="0">
                <a:latin typeface="华文中宋" panose="02010600040101010101" pitchFamily="2" charset="-122"/>
                <a:ea typeface="华文中宋" panose="02010600040101010101" pitchFamily="2" charset="-122"/>
                <a:sym typeface="Symbol" panose="05050102010706020507" pitchFamily="18" charset="2"/>
              </a:rPr>
              <a:t> </a:t>
            </a:r>
            <a:r>
              <a:rPr lang="zh-CN" altLang="en-US" sz="2800" b="1" dirty="0">
                <a:solidFill>
                  <a:schemeClr val="folHlink"/>
                </a:solidFill>
                <a:latin typeface="华文中宋" panose="02010600040101010101" pitchFamily="2" charset="-122"/>
                <a:ea typeface="华文中宋" panose="02010600040101010101" pitchFamily="2" charset="-122"/>
                <a:sym typeface="Symbol" panose="05050102010706020507" pitchFamily="18" charset="2"/>
              </a:rPr>
              <a:t>固溶体区</a:t>
            </a:r>
            <a:r>
              <a:rPr lang="zh-CN" altLang="en-US" sz="2800" b="1" dirty="0">
                <a:latin typeface="华文中宋" panose="02010600040101010101" pitchFamily="2" charset="-122"/>
                <a:ea typeface="华文中宋" panose="02010600040101010101" pitchFamily="2" charset="-122"/>
                <a:sym typeface="Symbol" panose="05050102010706020507" pitchFamily="18" charset="2"/>
              </a:rPr>
              <a:t>，两条线之间为两相共存的</a:t>
            </a:r>
            <a:r>
              <a:rPr lang="zh-CN" altLang="en-US" sz="2800" b="1" dirty="0">
                <a:solidFill>
                  <a:schemeClr val="folHlink"/>
                </a:solidFill>
                <a:latin typeface="华文中宋" panose="02010600040101010101" pitchFamily="2" charset="-122"/>
                <a:ea typeface="华文中宋" panose="02010600040101010101" pitchFamily="2" charset="-122"/>
                <a:sym typeface="Symbol" panose="05050102010706020507" pitchFamily="18" charset="2"/>
              </a:rPr>
              <a:t>两相区</a:t>
            </a:r>
            <a:r>
              <a:rPr lang="zh-CN" altLang="en-US" sz="2800" b="1" dirty="0">
                <a:solidFill>
                  <a:srgbClr val="0000FF"/>
                </a:solidFill>
                <a:latin typeface="华文中宋" panose="02010600040101010101" pitchFamily="2" charset="-122"/>
                <a:ea typeface="华文中宋" panose="02010600040101010101" pitchFamily="2" charset="-122"/>
                <a:sym typeface="Symbol" panose="05050102010706020507" pitchFamily="18" charset="2"/>
              </a:rPr>
              <a:t>（</a:t>
            </a:r>
            <a:r>
              <a:rPr lang="en-US" altLang="zh-CN" sz="2800" b="1" dirty="0">
                <a:solidFill>
                  <a:srgbClr val="0000FF"/>
                </a:solidFill>
                <a:latin typeface="华文中宋" panose="02010600040101010101" pitchFamily="2" charset="-122"/>
                <a:ea typeface="华文中宋" panose="02010600040101010101" pitchFamily="2" charset="-122"/>
                <a:sym typeface="Symbol" panose="05050102010706020507" pitchFamily="18" charset="2"/>
              </a:rPr>
              <a:t>L +  </a:t>
            </a:r>
            <a:r>
              <a:rPr lang="zh-CN" altLang="en-US" sz="2800" b="1" dirty="0">
                <a:solidFill>
                  <a:srgbClr val="0000FF"/>
                </a:solidFill>
                <a:latin typeface="华文中宋" panose="02010600040101010101" pitchFamily="2" charset="-122"/>
                <a:ea typeface="华文中宋" panose="02010600040101010101" pitchFamily="2" charset="-122"/>
                <a:sym typeface="Symbol" panose="05050102010706020507" pitchFamily="18" charset="2"/>
              </a:rPr>
              <a:t>）</a:t>
            </a:r>
            <a:r>
              <a:rPr lang="zh-CN" altLang="en-US" sz="2800" b="1" dirty="0">
                <a:latin typeface="华文中宋" panose="02010600040101010101" pitchFamily="2" charset="-122"/>
                <a:ea typeface="华文中宋" panose="02010600040101010101" pitchFamily="2" charset="-122"/>
                <a:sym typeface="Symbol" panose="05050102010706020507" pitchFamily="18" charset="2"/>
              </a:rPr>
              <a:t>。</a:t>
            </a:r>
            <a:r>
              <a:rPr lang="zh-CN" altLang="en-US" sz="2800" dirty="0">
                <a:latin typeface="华文中宋" panose="02010600040101010101" pitchFamily="2" charset="-122"/>
                <a:ea typeface="华文中宋" panose="02010600040101010101" pitchFamily="2" charset="-122"/>
              </a:rPr>
              <a:t> </a:t>
            </a:r>
          </a:p>
        </p:txBody>
      </p:sp>
      <p:sp>
        <p:nvSpPr>
          <p:cNvPr id="29711" name="日期占位符 1"/>
          <p:cNvSpPr>
            <a:spLocks noGrp="1"/>
          </p:cNvSpPr>
          <p:nvPr>
            <p:ph type="dt" sz="half" idx="10"/>
          </p:nvPr>
        </p:nvSpPr>
        <p:spPr>
          <a:xfrm>
            <a:off x="79375" y="6513513"/>
            <a:ext cx="1905000" cy="342900"/>
          </a:xfrm>
        </p:spPr>
        <p:txBody>
          <a:bodyPr wrap="square" lIns="91440" tIns="45720" rIns="91440" bIns="45720" anchor="b"/>
          <a:lst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stStyle>
          <a:p>
            <a:pPr lvl="0" indent="0"/>
            <a:fld id="{BB962C8B-B14F-4D97-AF65-F5344CB8AC3E}" type="datetime8">
              <a:rPr lang="en-US" altLang="zh-CN" sz="1400" dirty="0"/>
              <a:t>11/20/2025 5:38 PM</a:t>
            </a:fld>
            <a:endParaRPr lang="en-US" altLang="zh-CN" sz="1400" dirty="0"/>
          </a:p>
        </p:txBody>
      </p:sp>
      <p:pic>
        <p:nvPicPr>
          <p:cNvPr id="17" name="内容占位符 1" descr="新校徽（3M）弓之乐"/>
          <p:cNvPicPr>
            <a:picLocks noChangeAspect="1"/>
          </p:cNvPicPr>
          <p:nvPr/>
        </p:nvPicPr>
        <p:blipFill>
          <a:blip r:embed="rId2" cstate="print"/>
          <a:stretch>
            <a:fillRect/>
          </a:stretch>
        </p:blipFill>
        <p:spPr>
          <a:xfrm>
            <a:off x="19685" y="3175"/>
            <a:ext cx="746760" cy="735965"/>
          </a:xfrm>
          <a:prstGeom prst="rect">
            <a:avLst/>
          </a:prstGeom>
          <a:noFill/>
          <a:ln w="9525">
            <a:noFill/>
          </a:ln>
        </p:spPr>
      </p:pic>
      <p:sp>
        <p:nvSpPr>
          <p:cNvPr id="3" name="Rectangle 2"/>
          <p:cNvSpPr>
            <a:spLocks noGrp="1"/>
          </p:cNvSpPr>
          <p:nvPr>
            <p:ph type="title"/>
          </p:nvPr>
        </p:nvSpPr>
        <p:spPr>
          <a:xfrm>
            <a:off x="1043608" y="0"/>
            <a:ext cx="7541765" cy="1143000"/>
          </a:xfrm>
        </p:spPr>
        <p:txBody>
          <a:bodyPr wrap="square" lIns="91440" tIns="45720" rIns="91440" bIns="45720" anchor="b"/>
          <a:lstStyle/>
          <a:p>
            <a:pPr algn="ctr" eaLnBrk="1" hangingPunct="1"/>
            <a:r>
              <a:rPr lang="zh-CN" altLang="en-US" b="1" dirty="0">
                <a:solidFill>
                  <a:srgbClr val="FF0000"/>
                </a:solidFill>
              </a:rPr>
              <a:t>相图分析</a:t>
            </a:r>
            <a:endParaRPr lang="zh-CN" altLang="en-US" b="1" dirty="0">
              <a:solidFill>
                <a:srgbClr val="FF0000"/>
              </a:solidFill>
              <a:latin typeface="宋体" panose="02010600030101010101" pitchFamily="2" charset="-122"/>
            </a:endParaRPr>
          </a:p>
        </p:txBody>
      </p:sp>
      <p:sp>
        <p:nvSpPr>
          <p:cNvPr id="4" name="灯片编号占位符 3"/>
          <p:cNvSpPr txBox="1"/>
          <p:nvPr/>
        </p:nvSpPr>
        <p:spPr bwMode="auto">
          <a:xfrm>
            <a:off x="8316416" y="6529928"/>
            <a:ext cx="630734" cy="328072"/>
          </a:xfrm>
          <a:prstGeom prst="rect">
            <a:avLst/>
          </a:prstGeom>
          <a:noFill/>
          <a:ln w="9525">
            <a:noFill/>
            <a:miter lim="800000"/>
          </a:ln>
          <a:effectLst/>
        </p:spPr>
        <p:txBody>
          <a:bodyPr vert="horz" wrap="square" lIns="91440" tIns="45720" rIns="91440" bIns="45720" numCol="1" anchor="b" anchorCtr="0" compatLnSpc="1"/>
          <a:ls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9pPr>
          </a:lstStyle>
          <a:p>
            <a:pPr algn="r"/>
            <a:fld id="{9A0DB2DC-4C9A-4742-B13C-FB6460FD3503}" type="slidenum">
              <a:rPr lang="en-US" altLang="zh-CN" sz="1400" noProof="1" smtClean="0">
                <a:cs typeface="+mn-ea"/>
              </a:rPr>
              <a:t>48</a:t>
            </a:fld>
            <a:endParaRPr lang="en-US" altLang="zh-CN" sz="1400" dirty="0"/>
          </a:p>
        </p:txBody>
      </p:sp>
      <p:grpSp>
        <p:nvGrpSpPr>
          <p:cNvPr id="5" name="Group 10"/>
          <p:cNvGrpSpPr/>
          <p:nvPr/>
        </p:nvGrpSpPr>
        <p:grpSpPr>
          <a:xfrm>
            <a:off x="4986337" y="2170905"/>
            <a:ext cx="3960813" cy="4035425"/>
            <a:chOff x="2640" y="1056"/>
            <a:chExt cx="2736" cy="2679"/>
          </a:xfrm>
        </p:grpSpPr>
        <p:pic>
          <p:nvPicPr>
            <p:cNvPr id="6" name="Picture 6" descr="Cu-Ni相图"/>
            <p:cNvPicPr>
              <a:picLocks noChangeAspect="1"/>
            </p:cNvPicPr>
            <p:nvPr/>
          </p:nvPicPr>
          <p:blipFill>
            <a:blip r:embed="rId3"/>
            <a:stretch>
              <a:fillRect/>
            </a:stretch>
          </p:blipFill>
          <p:spPr>
            <a:xfrm>
              <a:off x="2640" y="1056"/>
              <a:ext cx="2729" cy="2440"/>
            </a:xfrm>
            <a:prstGeom prst="rect">
              <a:avLst/>
            </a:prstGeom>
            <a:noFill/>
            <a:ln w="38100">
              <a:noFill/>
            </a:ln>
          </p:spPr>
        </p:pic>
        <p:sp>
          <p:nvSpPr>
            <p:cNvPr id="7" name="Text Box 7"/>
            <p:cNvSpPr txBox="1">
              <a:spLocks noChangeAspect="1" noChangeArrowheads="1"/>
            </p:cNvSpPr>
            <p:nvPr/>
          </p:nvSpPr>
          <p:spPr bwMode="auto">
            <a:xfrm>
              <a:off x="2640" y="3480"/>
              <a:ext cx="2736" cy="255"/>
            </a:xfrm>
            <a:prstGeom prst="rect">
              <a:avLst/>
            </a:prstGeom>
            <a:solidFill>
              <a:schemeClr val="bg1"/>
            </a:solidFill>
            <a:ln w="38100">
              <a:noFill/>
              <a:miter lim="800000"/>
            </a:ln>
            <a:effectLst/>
          </p:spPr>
          <p:txBody>
            <a:bodyPr>
              <a:spAutoFit/>
            </a:bodyPr>
            <a:lstStyle>
              <a:defPPr>
                <a:defRPr lang="zh-CN"/>
              </a:defPPr>
              <a:lvl1pPr marL="0" lvl="0"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80000"/>
                </a:lnSpc>
                <a:spcBef>
                  <a:spcPct val="50000"/>
                </a:spcBef>
                <a:spcAft>
                  <a:spcPct val="0"/>
                </a:spcAft>
                <a:buClrTx/>
                <a:buSzTx/>
                <a:buFontTx/>
                <a:buNone/>
                <a:defRPr/>
              </a:pPr>
              <a:r>
                <a:rPr kumimoji="1" lang="en-US" altLang="zh-CN" sz="2400" b="1" i="0" u="none" strike="noStrike" kern="1200" cap="none" spc="0" normalizeH="0" baseline="0" noProof="0">
                  <a:ln>
                    <a:noFill/>
                  </a:ln>
                  <a:solidFill>
                    <a:schemeClr val="hlink"/>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80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Cu-Ni</a:t>
              </a:r>
              <a:r>
                <a:rPr kumimoji="1" lang="zh-CN" altLang="en-US" sz="2000" b="1" i="0" u="none" strike="noStrike" kern="1200" cap="none" spc="0" normalizeH="0" baseline="0" noProof="0">
                  <a:ln>
                    <a:noFill/>
                  </a:ln>
                  <a:solidFill>
                    <a:srgbClr val="80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合金相图</a:t>
              </a:r>
            </a:p>
          </p:txBody>
        </p:sp>
        <p:sp>
          <p:nvSpPr>
            <p:cNvPr id="8" name="Rectangle 8"/>
            <p:cNvSpPr/>
            <p:nvPr/>
          </p:nvSpPr>
          <p:spPr>
            <a:xfrm>
              <a:off x="2640" y="1067"/>
              <a:ext cx="2736" cy="2666"/>
            </a:xfrm>
            <a:prstGeom prst="rect">
              <a:avLst/>
            </a:prstGeom>
            <a:noFill/>
            <a:ln w="38100" cap="flat" cmpd="sng">
              <a:solidFill>
                <a:srgbClr val="FF9900"/>
              </a:solidFill>
              <a:prstDash val="solid"/>
              <a:miter/>
              <a:headEnd type="none" w="med" len="med"/>
              <a:tailEnd type="none" w="med" len="med"/>
            </a:ln>
          </p:spPr>
          <p:txBody>
            <a:bodyPr wrap="none" anchor="ctr"/>
            <a:lstStyle>
              <a:defPPr>
                <a:defRPr lang="zh-CN"/>
              </a:defPPr>
              <a:lvl1pPr marL="0" lvl="0"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9pPr>
            </a:lstStyle>
            <a:p>
              <a:pPr lvl="0" eaLnBrk="1" hangingPunct="1"/>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76131"/>
                                        </p:tgtEl>
                                        <p:attrNameLst>
                                          <p:attrName>style.visibility</p:attrName>
                                        </p:attrNameLst>
                                      </p:cBhvr>
                                      <p:to>
                                        <p:strVal val="visible"/>
                                      </p:to>
                                    </p:set>
                                    <p:animEffect transition="in" filter="wipe(left)">
                                      <p:cBhvr>
                                        <p:cTn id="7" dur="500"/>
                                        <p:tgtEl>
                                          <p:spTgt spid="176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1"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1" name="Rectangle 3"/>
          <p:cNvSpPr/>
          <p:nvPr/>
        </p:nvSpPr>
        <p:spPr>
          <a:xfrm>
            <a:off x="378385" y="2060848"/>
            <a:ext cx="4595204" cy="4452665"/>
          </a:xfrm>
          <a:prstGeom prst="rect">
            <a:avLst/>
          </a:prstGeom>
          <a:noFill/>
          <a:ln w="9525">
            <a:noFill/>
          </a:ln>
        </p:spPr>
        <p:txBody>
          <a:bodyPr anchor="t"/>
          <a:lstStyle/>
          <a:p>
            <a:pPr marL="457200" indent="-457200">
              <a:buFont typeface="Wingdings" panose="05000000000000000000" pitchFamily="2" charset="2"/>
              <a:buChar char="u"/>
            </a:pPr>
            <a:r>
              <a:rPr lang="zh-CN" altLang="en-US" sz="2800" b="1" dirty="0">
                <a:ea typeface="华文中宋" panose="02010600040101010101" pitchFamily="2" charset="-122"/>
              </a:rPr>
              <a:t>除纯组元外，其它成分合金结晶过程相似，以</a:t>
            </a:r>
            <a:r>
              <a:rPr lang="en-US" altLang="zh-CN" sz="2800" b="1" dirty="0">
                <a:solidFill>
                  <a:srgbClr val="0000FF"/>
                </a:solidFill>
                <a:ea typeface="华文中宋" panose="02010600040101010101" pitchFamily="2" charset="-122"/>
              </a:rPr>
              <a:t>Ⅰ</a:t>
            </a:r>
            <a:r>
              <a:rPr lang="zh-CN" altLang="en-US" sz="2800" b="1" dirty="0">
                <a:solidFill>
                  <a:srgbClr val="0000FF"/>
                </a:solidFill>
                <a:ea typeface="华文中宋" panose="02010600040101010101" pitchFamily="2" charset="-122"/>
              </a:rPr>
              <a:t>合金</a:t>
            </a:r>
            <a:r>
              <a:rPr lang="zh-CN" altLang="en-US" sz="2800" b="1" dirty="0">
                <a:ea typeface="华文中宋" panose="02010600040101010101" pitchFamily="2" charset="-122"/>
              </a:rPr>
              <a:t>为例说明。</a:t>
            </a:r>
          </a:p>
          <a:p>
            <a:pPr marL="457200" indent="-457200">
              <a:lnSpc>
                <a:spcPct val="140000"/>
              </a:lnSpc>
              <a:buFont typeface="Wingdings" panose="05000000000000000000" pitchFamily="2" charset="2"/>
              <a:buChar char="u"/>
            </a:pPr>
            <a:endParaRPr lang="en-US" altLang="zh-CN" sz="2800" b="1" dirty="0">
              <a:solidFill>
                <a:srgbClr val="0000FF"/>
              </a:solidFill>
              <a:ea typeface="华文中宋" panose="02010600040101010101" pitchFamily="2" charset="-122"/>
            </a:endParaRPr>
          </a:p>
          <a:p>
            <a:pPr marL="457200" indent="-457200">
              <a:lnSpc>
                <a:spcPct val="140000"/>
              </a:lnSpc>
              <a:buFont typeface="Wingdings" panose="05000000000000000000" pitchFamily="2" charset="2"/>
              <a:buChar char="u"/>
            </a:pPr>
            <a:r>
              <a:rPr lang="zh-CN" altLang="en-US" sz="2800" b="1" dirty="0">
                <a:ea typeface="华文中宋" panose="02010600040101010101" pitchFamily="2" charset="-122"/>
              </a:rPr>
              <a:t>当</a:t>
            </a:r>
            <a:r>
              <a:rPr lang="zh-CN" altLang="en-US" sz="2800" b="1" dirty="0">
                <a:solidFill>
                  <a:schemeClr val="folHlink"/>
                </a:solidFill>
              </a:rPr>
              <a:t>液态金属</a:t>
            </a:r>
            <a:r>
              <a:rPr lang="zh-CN" altLang="en-US" sz="2800" b="1" dirty="0">
                <a:ea typeface="华文中宋" panose="02010600040101010101" pitchFamily="2" charset="-122"/>
              </a:rPr>
              <a:t>自</a:t>
            </a:r>
            <a:r>
              <a:rPr lang="zh-CN" altLang="en-US" sz="2800" b="1" dirty="0">
                <a:solidFill>
                  <a:schemeClr val="folHlink"/>
                </a:solidFill>
              </a:rPr>
              <a:t>高温冷却到 </a:t>
            </a:r>
            <a:r>
              <a:rPr lang="en-US" altLang="zh-CN" sz="2800" b="1" dirty="0">
                <a:solidFill>
                  <a:schemeClr val="folHlink"/>
                </a:solidFill>
              </a:rPr>
              <a:t>t</a:t>
            </a:r>
            <a:r>
              <a:rPr lang="en-US" altLang="zh-CN" sz="2800" b="1" baseline="-25000" dirty="0">
                <a:solidFill>
                  <a:schemeClr val="folHlink"/>
                </a:solidFill>
              </a:rPr>
              <a:t>1</a:t>
            </a:r>
            <a:r>
              <a:rPr lang="zh-CN" altLang="en-US" sz="2800" b="1" dirty="0">
                <a:solidFill>
                  <a:schemeClr val="folHlink"/>
                </a:solidFill>
              </a:rPr>
              <a:t>温度时，</a:t>
            </a:r>
            <a:r>
              <a:rPr lang="zh-CN" altLang="en-US" sz="2800" b="1" dirty="0">
                <a:ea typeface="华文中宋" panose="02010600040101010101" pitchFamily="2" charset="-122"/>
              </a:rPr>
              <a:t>开始</a:t>
            </a:r>
            <a:r>
              <a:rPr lang="zh-CN" altLang="en-US" sz="2800" b="1" dirty="0">
                <a:solidFill>
                  <a:schemeClr val="folHlink"/>
                </a:solidFill>
              </a:rPr>
              <a:t>结晶</a:t>
            </a:r>
            <a:r>
              <a:rPr lang="zh-CN" altLang="en-US" sz="2800" b="1" dirty="0">
                <a:ea typeface="华文中宋" panose="02010600040101010101" pitchFamily="2" charset="-122"/>
              </a:rPr>
              <a:t>出成分</a:t>
            </a:r>
            <a:r>
              <a:rPr lang="zh-CN" altLang="en-US" sz="2800" b="1" dirty="0">
                <a:solidFill>
                  <a:schemeClr val="folHlink"/>
                </a:solidFill>
              </a:rPr>
              <a:t>为</a:t>
            </a:r>
            <a:r>
              <a:rPr lang="zh-CN" altLang="en-US" sz="2800" b="1" dirty="0">
                <a:solidFill>
                  <a:schemeClr val="folHlink"/>
                </a:solidFill>
                <a:sym typeface="Symbol" panose="05050102010706020507" pitchFamily="18" charset="2"/>
              </a:rPr>
              <a:t></a:t>
            </a:r>
            <a:r>
              <a:rPr lang="en-US" altLang="zh-CN" sz="2800" b="1" baseline="-25000" dirty="0">
                <a:solidFill>
                  <a:schemeClr val="folHlink"/>
                </a:solidFill>
                <a:sym typeface="Symbol" panose="05050102010706020507" pitchFamily="18" charset="2"/>
              </a:rPr>
              <a:t>1</a:t>
            </a:r>
            <a:r>
              <a:rPr lang="zh-CN" altLang="en-US" sz="2800" b="1" dirty="0">
                <a:solidFill>
                  <a:schemeClr val="folHlink"/>
                </a:solidFill>
              </a:rPr>
              <a:t>的固溶体，其</a:t>
            </a:r>
            <a:r>
              <a:rPr lang="en-US" altLang="zh-CN" sz="2800" b="1" dirty="0">
                <a:solidFill>
                  <a:schemeClr val="folHlink"/>
                </a:solidFill>
              </a:rPr>
              <a:t>Ni</a:t>
            </a:r>
            <a:r>
              <a:rPr lang="zh-CN" altLang="en-US" sz="2800" b="1" dirty="0">
                <a:solidFill>
                  <a:schemeClr val="folHlink"/>
                </a:solidFill>
              </a:rPr>
              <a:t>含量高于合金平均成分。</a:t>
            </a:r>
            <a:endParaRPr lang="en-US" altLang="zh-CN" sz="2800" b="1" dirty="0">
              <a:solidFill>
                <a:schemeClr val="folHlink"/>
              </a:solidFill>
            </a:endParaRPr>
          </a:p>
        </p:txBody>
      </p:sp>
      <p:sp>
        <p:nvSpPr>
          <p:cNvPr id="29711" name="日期占位符 1"/>
          <p:cNvSpPr>
            <a:spLocks noGrp="1"/>
          </p:cNvSpPr>
          <p:nvPr>
            <p:ph type="dt" sz="half" idx="10"/>
          </p:nvPr>
        </p:nvSpPr>
        <p:spPr>
          <a:xfrm>
            <a:off x="79375" y="6513513"/>
            <a:ext cx="1905000" cy="342900"/>
          </a:xfrm>
        </p:spPr>
        <p:txBody>
          <a:bodyPr wrap="square" lIns="91440" tIns="45720" rIns="91440" bIns="45720" anchor="b"/>
          <a:lst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stStyle>
          <a:p>
            <a:pPr lvl="0" indent="0"/>
            <a:fld id="{BB962C8B-B14F-4D97-AF65-F5344CB8AC3E}" type="datetime8">
              <a:rPr lang="en-US" altLang="zh-CN" sz="1400" dirty="0"/>
              <a:t>11/20/2025 5:38 PM</a:t>
            </a:fld>
            <a:endParaRPr lang="en-US" altLang="zh-CN" sz="1400" dirty="0"/>
          </a:p>
        </p:txBody>
      </p:sp>
      <p:pic>
        <p:nvPicPr>
          <p:cNvPr id="17" name="内容占位符 1" descr="新校徽（3M）弓之乐"/>
          <p:cNvPicPr>
            <a:picLocks noChangeAspect="1"/>
          </p:cNvPicPr>
          <p:nvPr/>
        </p:nvPicPr>
        <p:blipFill>
          <a:blip r:embed="rId2" cstate="print"/>
          <a:stretch>
            <a:fillRect/>
          </a:stretch>
        </p:blipFill>
        <p:spPr>
          <a:xfrm>
            <a:off x="19685" y="3175"/>
            <a:ext cx="746760" cy="735965"/>
          </a:xfrm>
          <a:prstGeom prst="rect">
            <a:avLst/>
          </a:prstGeom>
          <a:noFill/>
          <a:ln w="9525">
            <a:noFill/>
          </a:ln>
        </p:spPr>
      </p:pic>
      <p:sp>
        <p:nvSpPr>
          <p:cNvPr id="3" name="Rectangle 2"/>
          <p:cNvSpPr>
            <a:spLocks noGrp="1"/>
          </p:cNvSpPr>
          <p:nvPr>
            <p:ph type="title"/>
          </p:nvPr>
        </p:nvSpPr>
        <p:spPr>
          <a:xfrm>
            <a:off x="1043608" y="0"/>
            <a:ext cx="7541765" cy="1143000"/>
          </a:xfrm>
        </p:spPr>
        <p:txBody>
          <a:bodyPr wrap="square" lIns="91440" tIns="45720" rIns="91440" bIns="45720" anchor="b"/>
          <a:lstStyle/>
          <a:p>
            <a:pPr eaLnBrk="1" hangingPunct="1"/>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(2) </a:t>
            </a:r>
            <a:r>
              <a:rPr kumimoji="1" lang="zh-CN" altLang="en-US" sz="4400" b="1" i="0" u="none" strike="noStrike" kern="0" cap="none" spc="0" normalizeH="0" baseline="0" noProof="0" dirty="0">
                <a:ln>
                  <a:noFill/>
                </a:ln>
                <a:solidFill>
                  <a:srgbClr val="FF0000"/>
                </a:solidFill>
                <a:uLnTx/>
                <a:uFillTx/>
                <a:ea typeface="华文中宋" panose="02010600040101010101" pitchFamily="2" charset="-122"/>
              </a:rPr>
              <a:t>合金的结晶过程</a:t>
            </a:r>
            <a:endParaRPr lang="zh-CN" altLang="en-US" b="1" dirty="0">
              <a:solidFill>
                <a:srgbClr val="FF0000"/>
              </a:solidFill>
              <a:latin typeface="宋体" panose="02010600030101010101" pitchFamily="2" charset="-122"/>
            </a:endParaRPr>
          </a:p>
        </p:txBody>
      </p:sp>
      <p:sp>
        <p:nvSpPr>
          <p:cNvPr id="4" name="灯片编号占位符 3"/>
          <p:cNvSpPr txBox="1"/>
          <p:nvPr/>
        </p:nvSpPr>
        <p:spPr bwMode="auto">
          <a:xfrm>
            <a:off x="8316416" y="6529928"/>
            <a:ext cx="630734" cy="328072"/>
          </a:xfrm>
          <a:prstGeom prst="rect">
            <a:avLst/>
          </a:prstGeom>
          <a:noFill/>
          <a:ln w="9525">
            <a:noFill/>
            <a:miter lim="800000"/>
          </a:ln>
          <a:effectLst/>
        </p:spPr>
        <p:txBody>
          <a:bodyPr vert="horz" wrap="square" lIns="91440" tIns="45720" rIns="91440" bIns="45720" numCol="1" anchor="b" anchorCtr="0" compatLnSpc="1"/>
          <a:ls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9pPr>
          </a:lstStyle>
          <a:p>
            <a:pPr algn="r"/>
            <a:fld id="{9A0DB2DC-4C9A-4742-B13C-FB6460FD3503}" type="slidenum">
              <a:rPr lang="en-US" altLang="zh-CN" sz="1400" noProof="1" smtClean="0">
                <a:cs typeface="+mn-ea"/>
              </a:rPr>
              <a:t>49</a:t>
            </a:fld>
            <a:endParaRPr lang="en-US" altLang="zh-CN" sz="1400" dirty="0"/>
          </a:p>
        </p:txBody>
      </p:sp>
      <p:grpSp>
        <p:nvGrpSpPr>
          <p:cNvPr id="2" name="Group 4"/>
          <p:cNvGrpSpPr/>
          <p:nvPr/>
        </p:nvGrpSpPr>
        <p:grpSpPr>
          <a:xfrm>
            <a:off x="5127032" y="2348880"/>
            <a:ext cx="3818805" cy="3270684"/>
            <a:chOff x="1968" y="1164"/>
            <a:chExt cx="3360" cy="2724"/>
          </a:xfrm>
        </p:grpSpPr>
        <p:grpSp>
          <p:nvGrpSpPr>
            <p:cNvPr id="9" name="Group 5"/>
            <p:cNvGrpSpPr/>
            <p:nvPr/>
          </p:nvGrpSpPr>
          <p:grpSpPr>
            <a:xfrm>
              <a:off x="1968" y="1164"/>
              <a:ext cx="3360" cy="2724"/>
              <a:chOff x="1968" y="1164"/>
              <a:chExt cx="3360" cy="2724"/>
            </a:xfrm>
          </p:grpSpPr>
          <p:pic>
            <p:nvPicPr>
              <p:cNvPr id="13" name="Picture 6" descr="未命名1"/>
              <p:cNvPicPr>
                <a:picLocks noChangeAspect="1"/>
              </p:cNvPicPr>
              <p:nvPr/>
            </p:nvPicPr>
            <p:blipFill>
              <a:blip r:embed="rId3"/>
              <a:stretch>
                <a:fillRect/>
              </a:stretch>
            </p:blipFill>
            <p:spPr>
              <a:xfrm>
                <a:off x="1981" y="1164"/>
                <a:ext cx="2292" cy="2723"/>
              </a:xfrm>
              <a:prstGeom prst="rect">
                <a:avLst/>
              </a:prstGeom>
              <a:noFill/>
              <a:ln w="9525">
                <a:noFill/>
              </a:ln>
            </p:spPr>
          </p:pic>
          <p:pic>
            <p:nvPicPr>
              <p:cNvPr id="14" name="Picture 7" descr="CuNi冷却曲线"/>
              <p:cNvPicPr>
                <a:picLocks noChangeAspect="1"/>
              </p:cNvPicPr>
              <p:nvPr/>
            </p:nvPicPr>
            <p:blipFill>
              <a:blip r:embed="rId4"/>
              <a:stretch>
                <a:fillRect/>
              </a:stretch>
            </p:blipFill>
            <p:spPr>
              <a:xfrm>
                <a:off x="4270" y="1170"/>
                <a:ext cx="1058" cy="2718"/>
              </a:xfrm>
              <a:prstGeom prst="rect">
                <a:avLst/>
              </a:prstGeom>
              <a:noFill/>
              <a:ln w="9525">
                <a:noFill/>
              </a:ln>
            </p:spPr>
          </p:pic>
          <p:sp>
            <p:nvSpPr>
              <p:cNvPr id="15" name="Rectangle 8"/>
              <p:cNvSpPr/>
              <p:nvPr/>
            </p:nvSpPr>
            <p:spPr>
              <a:xfrm>
                <a:off x="1968" y="1164"/>
                <a:ext cx="3360" cy="2709"/>
              </a:xfrm>
              <a:prstGeom prst="rect">
                <a:avLst/>
              </a:prstGeom>
              <a:noFill/>
              <a:ln w="57150" cap="flat" cmpd="sng">
                <a:solidFill>
                  <a:srgbClr val="FF9900"/>
                </a:solidFill>
                <a:prstDash val="solid"/>
                <a:miter/>
                <a:headEnd type="none" w="med" len="med"/>
                <a:tailEnd type="none" w="med" len="med"/>
              </a:ln>
            </p:spPr>
            <p:txBody>
              <a:bodyPr wrap="none" anchor="ctr"/>
              <a:lstStyle>
                <a:defPPr>
                  <a:defRPr lang="zh-CN"/>
                </a:defPPr>
                <a:lvl1pPr marL="0" lvl="0"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9pPr>
              </a:lstStyle>
              <a:p>
                <a:pPr lvl="0" eaLnBrk="1" hangingPunct="1"/>
                <a:endParaRPr lang="zh-CN" altLang="en-US" dirty="0">
                  <a:latin typeface="Times New Roman" panose="02020603050405020304" pitchFamily="18" charset="0"/>
                  <a:ea typeface="宋体" panose="02010600030101010101" pitchFamily="2" charset="-122"/>
                </a:endParaRPr>
              </a:p>
            </p:txBody>
          </p:sp>
        </p:grpSp>
        <p:sp>
          <p:nvSpPr>
            <p:cNvPr id="10" name="Text Box 9"/>
            <p:cNvSpPr txBox="1"/>
            <p:nvPr/>
          </p:nvSpPr>
          <p:spPr>
            <a:xfrm>
              <a:off x="3359" y="1457"/>
              <a:ext cx="249" cy="276"/>
            </a:xfrm>
            <a:prstGeom prst="rect">
              <a:avLst/>
            </a:prstGeom>
            <a:noFill/>
            <a:ln w="9525">
              <a:noFill/>
            </a:ln>
          </p:spPr>
          <p:txBody>
            <a:bodyPr>
              <a:spAutoFit/>
            </a:bodyPr>
            <a:lstStyle>
              <a:defPPr>
                <a:defRPr lang="zh-CN"/>
              </a:defPPr>
              <a:lvl1pPr marL="0" lvl="0"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9pPr>
            </a:lstStyle>
            <a:p>
              <a:pPr lvl="0" eaLnBrk="1" hangingPunct="1">
                <a:spcBef>
                  <a:spcPct val="50000"/>
                </a:spcBef>
              </a:pPr>
              <a:r>
                <a:rPr lang="en-US" altLang="zh-CN" sz="1800" b="1" i="1" dirty="0">
                  <a:solidFill>
                    <a:srgbClr val="003300"/>
                  </a:solidFill>
                  <a:latin typeface="Times New Roman" panose="02020603050405020304" pitchFamily="18" charset="0"/>
                  <a:ea typeface="宋体" panose="02010600030101010101" pitchFamily="2" charset="-122"/>
                </a:rPr>
                <a:t>L</a:t>
              </a:r>
            </a:p>
          </p:txBody>
        </p:sp>
        <p:sp>
          <p:nvSpPr>
            <p:cNvPr id="11" name="Text Box 10"/>
            <p:cNvSpPr txBox="1"/>
            <p:nvPr/>
          </p:nvSpPr>
          <p:spPr>
            <a:xfrm>
              <a:off x="3509" y="2776"/>
              <a:ext cx="349" cy="301"/>
            </a:xfrm>
            <a:prstGeom prst="rect">
              <a:avLst/>
            </a:prstGeom>
            <a:noFill/>
            <a:ln w="9525">
              <a:noFill/>
            </a:ln>
          </p:spPr>
          <p:txBody>
            <a:bodyPr>
              <a:spAutoFit/>
            </a:bodyPr>
            <a:lstStyle>
              <a:defPPr>
                <a:defRPr lang="zh-CN"/>
              </a:defPPr>
              <a:lvl1pPr marL="0" lvl="0"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9pPr>
            </a:lstStyle>
            <a:p>
              <a:pPr lvl="0" eaLnBrk="1" hangingPunct="1">
                <a:spcBef>
                  <a:spcPct val="50000"/>
                </a:spcBef>
              </a:pPr>
              <a:r>
                <a:rPr lang="en-US" altLang="zh-CN" sz="2000" b="1" i="1" dirty="0">
                  <a:solidFill>
                    <a:srgbClr val="0033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000" b="1" i="1" dirty="0">
                <a:solidFill>
                  <a:srgbClr val="003300"/>
                </a:solidFill>
                <a:latin typeface="Times New Roman" panose="02020603050405020304" pitchFamily="18" charset="0"/>
                <a:ea typeface="宋体" panose="02010600030101010101" pitchFamily="2" charset="-122"/>
              </a:endParaRPr>
            </a:p>
          </p:txBody>
        </p:sp>
        <p:sp>
          <p:nvSpPr>
            <p:cNvPr id="12" name="Text Box 11"/>
            <p:cNvSpPr txBox="1"/>
            <p:nvPr/>
          </p:nvSpPr>
          <p:spPr>
            <a:xfrm rot="-2020318">
              <a:off x="3409" y="1763"/>
              <a:ext cx="399" cy="483"/>
            </a:xfrm>
            <a:prstGeom prst="rect">
              <a:avLst/>
            </a:prstGeom>
            <a:noFill/>
            <a:ln w="9525">
              <a:noFill/>
            </a:ln>
          </p:spPr>
          <p:txBody>
            <a:bodyPr>
              <a:spAutoFit/>
            </a:bodyPr>
            <a:lstStyle>
              <a:defPPr>
                <a:defRPr lang="zh-CN"/>
              </a:defPPr>
              <a:lvl1pPr marL="0" lvl="0"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9pPr>
            </a:lstStyle>
            <a:p>
              <a:pPr lvl="0" eaLnBrk="1" hangingPunct="1">
                <a:spcBef>
                  <a:spcPct val="50000"/>
                </a:spcBef>
              </a:pPr>
              <a:r>
                <a:rPr lang="en-US" altLang="zh-CN" sz="1800" b="1" i="1" dirty="0">
                  <a:solidFill>
                    <a:srgbClr val="003300"/>
                  </a:solidFill>
                  <a:latin typeface="Times New Roman" panose="02020603050405020304" pitchFamily="18" charset="0"/>
                  <a:ea typeface="宋体" panose="02010600030101010101" pitchFamily="2" charset="-122"/>
                  <a:sym typeface="Symbol" panose="05050102010706020507" pitchFamily="18" charset="2"/>
                </a:rPr>
                <a:t>L+</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76131"/>
                                        </p:tgtEl>
                                        <p:attrNameLst>
                                          <p:attrName>style.visibility</p:attrName>
                                        </p:attrNameLst>
                                      </p:cBhvr>
                                      <p:to>
                                        <p:strVal val="visible"/>
                                      </p:to>
                                    </p:set>
                                    <p:animEffect transition="in" filter="wipe(left)">
                                      <p:cBhvr>
                                        <p:cTn id="7" dur="500"/>
                                        <p:tgtEl>
                                          <p:spTgt spid="176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1"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日期占位符 3"/>
          <p:cNvSpPr txBox="1">
            <a:spLocks noGrp="1"/>
          </p:cNvSpPr>
          <p:nvPr>
            <p:ph type="dt" sz="half" idx="10"/>
          </p:nvPr>
        </p:nvSpPr>
        <p:spPr>
          <a:xfrm>
            <a:off x="0" y="6510655"/>
            <a:ext cx="2413000" cy="331470"/>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56323" name="灯片编号占位符 5"/>
          <p:cNvSpPr txBox="1">
            <a:spLocks noGrp="1"/>
          </p:cNvSpPr>
          <p:nvPr>
            <p:ph type="sldNum" sz="quarter" idx="12"/>
          </p:nvPr>
        </p:nvSpPr>
        <p:spPr>
          <a:xfrm>
            <a:off x="8621395" y="6605270"/>
            <a:ext cx="561340" cy="299720"/>
          </a:xfrm>
        </p:spPr>
        <p:txBody>
          <a:bodyPr lIns="92075" tIns="46038" rIns="92075" bIns="46038" anchor="ctr"/>
          <a:lstStyle/>
          <a:p>
            <a:pPr algn="r" eaLnBrk="1" hangingPunct="1"/>
            <a:fld id="{9A0DB2DC-4C9A-4742-B13C-FB6460FD3503}" type="slidenum">
              <a:rPr lang="en-US" altLang="zh-CN" sz="1400" dirty="0"/>
              <a:t>50</a:t>
            </a:fld>
            <a:endParaRPr lang="en-US" altLang="zh-CN" sz="1400" dirty="0"/>
          </a:p>
        </p:txBody>
      </p:sp>
      <p:sp>
        <p:nvSpPr>
          <p:cNvPr id="61442" name="Rectangle 2"/>
          <p:cNvSpPr>
            <a:spLocks noGrp="1"/>
          </p:cNvSpPr>
          <p:nvPr>
            <p:ph idx="1"/>
          </p:nvPr>
        </p:nvSpPr>
        <p:spPr>
          <a:xfrm>
            <a:off x="0" y="1938655"/>
            <a:ext cx="3810635" cy="4224655"/>
          </a:xfrm>
        </p:spPr>
        <p:txBody>
          <a:bodyPr vert="horz" wrap="square" lIns="91440" tIns="45720" rIns="91440" bIns="45720" anchor="t"/>
          <a:lstStyle/>
          <a:p>
            <a:pPr eaLnBrk="1" hangingPunct="1">
              <a:lnSpc>
                <a:spcPct val="140000"/>
              </a:lnSpc>
            </a:pPr>
            <a:r>
              <a:rPr lang="zh-CN" altLang="en-US" b="1" dirty="0">
                <a:ea typeface="华文中宋" panose="02010600040101010101" pitchFamily="2" charset="-122"/>
              </a:rPr>
              <a:t>随温度下降，固溶体重量增加，液相重量减少。同时，</a:t>
            </a:r>
            <a:r>
              <a:rPr lang="zh-CN" altLang="en-US" b="1" dirty="0">
                <a:solidFill>
                  <a:srgbClr val="0000FF"/>
                </a:solidFill>
                <a:ea typeface="华文中宋" panose="02010600040101010101" pitchFamily="2" charset="-122"/>
              </a:rPr>
              <a:t>液相成分</a:t>
            </a:r>
            <a:r>
              <a:rPr lang="zh-CN" altLang="en-US" b="1" dirty="0">
                <a:ea typeface="华文中宋" panose="02010600040101010101" pitchFamily="2" charset="-122"/>
              </a:rPr>
              <a:t>沿</a:t>
            </a:r>
            <a:r>
              <a:rPr lang="zh-CN" altLang="en-US" b="1" dirty="0">
                <a:solidFill>
                  <a:srgbClr val="0000FF"/>
                </a:solidFill>
                <a:ea typeface="华文中宋" panose="02010600040101010101" pitchFamily="2" charset="-122"/>
              </a:rPr>
              <a:t>液相线</a:t>
            </a:r>
            <a:r>
              <a:rPr lang="zh-CN" altLang="en-US" b="1" dirty="0">
                <a:ea typeface="华文中宋" panose="02010600040101010101" pitchFamily="2" charset="-122"/>
              </a:rPr>
              <a:t>变化，</a:t>
            </a:r>
            <a:r>
              <a:rPr lang="zh-CN" altLang="en-US" b="1" dirty="0">
                <a:solidFill>
                  <a:srgbClr val="0000FF"/>
                </a:solidFill>
                <a:ea typeface="华文中宋" panose="02010600040101010101" pitchFamily="2" charset="-122"/>
              </a:rPr>
              <a:t>固相成分</a:t>
            </a:r>
            <a:r>
              <a:rPr lang="zh-CN" altLang="en-US" b="1" dirty="0">
                <a:ea typeface="华文中宋" panose="02010600040101010101" pitchFamily="2" charset="-122"/>
              </a:rPr>
              <a:t>沿</a:t>
            </a:r>
            <a:r>
              <a:rPr lang="zh-CN" altLang="en-US" b="1" dirty="0">
                <a:solidFill>
                  <a:srgbClr val="0000FF"/>
                </a:solidFill>
                <a:ea typeface="华文中宋" panose="02010600040101010101" pitchFamily="2" charset="-122"/>
              </a:rPr>
              <a:t>固相线</a:t>
            </a:r>
            <a:r>
              <a:rPr lang="zh-CN" altLang="en-US" b="1" dirty="0">
                <a:ea typeface="华文中宋" panose="02010600040101010101" pitchFamily="2" charset="-122"/>
              </a:rPr>
              <a:t>变化。</a:t>
            </a:r>
          </a:p>
        </p:txBody>
      </p:sp>
      <p:pic>
        <p:nvPicPr>
          <p:cNvPr id="61443" name="Picture 3" descr="Cu-Ni结晶"/>
          <p:cNvPicPr>
            <a:picLocks noChangeAspect="1"/>
          </p:cNvPicPr>
          <p:nvPr/>
        </p:nvPicPr>
        <p:blipFill>
          <a:blip r:embed="rId2"/>
          <a:stretch>
            <a:fillRect/>
          </a:stretch>
        </p:blipFill>
        <p:spPr>
          <a:xfrm>
            <a:off x="3923928" y="1805940"/>
            <a:ext cx="5066030" cy="4704715"/>
          </a:xfrm>
          <a:prstGeom prst="rect">
            <a:avLst/>
          </a:prstGeom>
          <a:noFill/>
          <a:ln w="38100" cap="flat" cmpd="sng">
            <a:solidFill>
              <a:srgbClr val="FF9900"/>
            </a:solidFill>
            <a:prstDash val="solid"/>
            <a:miter/>
            <a:headEnd type="none" w="med" len="med"/>
            <a:tailEnd type="none" w="med" len="med"/>
          </a:ln>
        </p:spPr>
      </p:pic>
      <p:sp>
        <p:nvSpPr>
          <p:cNvPr id="61444" name="Rectangle 4"/>
          <p:cNvSpPr/>
          <p:nvPr/>
        </p:nvSpPr>
        <p:spPr>
          <a:xfrm>
            <a:off x="304800" y="228600"/>
            <a:ext cx="8610600" cy="1471613"/>
          </a:xfrm>
          <a:prstGeom prst="rect">
            <a:avLst/>
          </a:prstGeom>
          <a:noFill/>
          <a:ln w="9525">
            <a:noFill/>
          </a:ln>
        </p:spPr>
        <p:txBody>
          <a:bodyPr/>
          <a:lstStyle/>
          <a:p>
            <a:pPr marL="342900" lvl="0" indent="-342900" eaLnBrk="1" hangingPunct="1">
              <a:lnSpc>
                <a:spcPct val="140000"/>
              </a:lnSpc>
              <a:spcBef>
                <a:spcPct val="20000"/>
              </a:spcBef>
              <a:buClr>
                <a:schemeClr val="accent2"/>
              </a:buClr>
              <a:buSzPct val="80000"/>
              <a:buFont typeface="Wingdings" panose="05000000000000000000" pitchFamily="2" charset="2"/>
              <a:buChar char="l"/>
            </a:pPr>
            <a:endParaRPr lang="zh-CN" altLang="zh-CN" sz="2800" b="1" dirty="0">
              <a:latin typeface="Times New Roman" panose="02020603050405020304" pitchFamily="18" charset="0"/>
              <a:ea typeface="华文中宋" panose="02010600040101010101" pitchFamily="2" charset="-122"/>
            </a:endParaRPr>
          </a:p>
        </p:txBody>
      </p:sp>
      <p:sp>
        <p:nvSpPr>
          <p:cNvPr id="61445" name="Line 5"/>
          <p:cNvSpPr/>
          <p:nvPr/>
        </p:nvSpPr>
        <p:spPr>
          <a:xfrm flipH="1">
            <a:off x="5234027" y="3573016"/>
            <a:ext cx="304800" cy="361950"/>
          </a:xfrm>
          <a:prstGeom prst="line">
            <a:avLst/>
          </a:prstGeom>
          <a:ln w="38100" cap="flat" cmpd="sng">
            <a:solidFill>
              <a:schemeClr val="hlink"/>
            </a:solidFill>
            <a:prstDash val="solid"/>
            <a:miter/>
            <a:headEnd type="none" w="med" len="med"/>
            <a:tailEnd type="triangle" w="sm" len="med"/>
          </a:ln>
        </p:spPr>
      </p:sp>
      <p:sp>
        <p:nvSpPr>
          <p:cNvPr id="61446" name="Line 6"/>
          <p:cNvSpPr/>
          <p:nvPr/>
        </p:nvSpPr>
        <p:spPr>
          <a:xfrm flipH="1">
            <a:off x="5538827" y="3652586"/>
            <a:ext cx="438150" cy="361950"/>
          </a:xfrm>
          <a:prstGeom prst="line">
            <a:avLst/>
          </a:prstGeom>
          <a:ln w="38100" cap="flat" cmpd="sng">
            <a:solidFill>
              <a:schemeClr val="hlink"/>
            </a:solidFill>
            <a:prstDash val="solid"/>
            <a:miter/>
            <a:headEnd type="none" w="med" len="med"/>
            <a:tailEnd type="triangle" w="sm" len="med"/>
          </a:ln>
        </p:spPr>
      </p:sp>
      <p:pic>
        <p:nvPicPr>
          <p:cNvPr id="10" name="内容占位符 1" descr="新校徽（3M）弓之乐"/>
          <p:cNvPicPr>
            <a:picLocks noChangeAspect="1"/>
          </p:cNvPicPr>
          <p:nvPr/>
        </p:nvPicPr>
        <p:blipFill>
          <a:blip r:embed="rId3"/>
          <a:stretch>
            <a:fillRect/>
          </a:stretch>
        </p:blipFill>
        <p:spPr>
          <a:xfrm>
            <a:off x="0" y="0"/>
            <a:ext cx="746760" cy="735965"/>
          </a:xfrm>
          <a:prstGeom prst="rect">
            <a:avLst/>
          </a:prstGeom>
          <a:noFill/>
          <a:ln w="9525">
            <a:noFill/>
          </a:ln>
        </p:spPr>
      </p:pic>
      <p:sp>
        <p:nvSpPr>
          <p:cNvPr id="11" name="Rectangle 2"/>
          <p:cNvSpPr>
            <a:spLocks noGrp="1" noChangeArrowheads="1"/>
          </p:cNvSpPr>
          <p:nvPr>
            <p:ph type="title"/>
          </p:nvPr>
        </p:nvSpPr>
        <p:spPr>
          <a:xfrm>
            <a:off x="1346993" y="-9525"/>
            <a:ext cx="7113439"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(2) </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合金的结晶过程</a:t>
            </a: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(Cont.)</a:t>
            </a:r>
            <a:endPar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nodePh="1">
                                  <p:stCondLst>
                                    <p:cond delay="0"/>
                                  </p:stCondLst>
                                  <p:endCondLst>
                                    <p:cond evt="begin" delay="0">
                                      <p:tn val="5"/>
                                    </p:cond>
                                  </p:endCondLst>
                                  <p:childTnLst>
                                    <p:set>
                                      <p:cBhvr>
                                        <p:cTn id="6" dur="1" fill="hold">
                                          <p:stCondLst>
                                            <p:cond delay="0"/>
                                          </p:stCondLst>
                                        </p:cTn>
                                        <p:tgtEl>
                                          <p:spTgt spid="61444"/>
                                        </p:tgtEl>
                                        <p:attrNameLst>
                                          <p:attrName>style.visibility</p:attrName>
                                        </p:attrNameLst>
                                      </p:cBhvr>
                                      <p:to>
                                        <p:strVal val="visible"/>
                                      </p:to>
                                    </p:set>
                                    <p:animEffect transition="in" filter="wipe(left)">
                                      <p:cBhvr>
                                        <p:cTn id="7" dur="500"/>
                                        <p:tgtEl>
                                          <p:spTgt spid="6144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1442">
                                            <p:txEl>
                                              <p:pRg st="0" end="0"/>
                                            </p:txEl>
                                          </p:spTgt>
                                        </p:tgtEl>
                                        <p:attrNameLst>
                                          <p:attrName>style.visibility</p:attrName>
                                        </p:attrNameLst>
                                      </p:cBhvr>
                                      <p:to>
                                        <p:strVal val="visible"/>
                                      </p:to>
                                    </p:set>
                                    <p:animEffect transition="in" filter="wipe(left)">
                                      <p:cBhvr>
                                        <p:cTn id="11" dur="500"/>
                                        <p:tgtEl>
                                          <p:spTgt spid="61442">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61443"/>
                                        </p:tgtEl>
                                        <p:attrNameLst>
                                          <p:attrName>style.visibility</p:attrName>
                                        </p:attrNameLst>
                                      </p:cBhvr>
                                      <p:to>
                                        <p:strVal val="visible"/>
                                      </p:to>
                                    </p:set>
                                    <p:animEffect transition="in" filter="wipe(left)">
                                      <p:cBhvr>
                                        <p:cTn id="15" dur="500"/>
                                        <p:tgtEl>
                                          <p:spTgt spid="6144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61445"/>
                                        </p:tgtEl>
                                        <p:attrNameLst>
                                          <p:attrName>style.visibility</p:attrName>
                                        </p:attrNameLst>
                                      </p:cBhvr>
                                      <p:to>
                                        <p:strVal val="visible"/>
                                      </p:to>
                                    </p:set>
                                    <p:animEffect transition="in" filter="wipe(up)">
                                      <p:cBhvr>
                                        <p:cTn id="20" dur="500"/>
                                        <p:tgtEl>
                                          <p:spTgt spid="6144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61446"/>
                                        </p:tgtEl>
                                        <p:attrNameLst>
                                          <p:attrName>style.visibility</p:attrName>
                                        </p:attrNameLst>
                                      </p:cBhvr>
                                      <p:to>
                                        <p:strVal val="visible"/>
                                      </p:to>
                                    </p:set>
                                    <p:animEffect transition="in" filter="wipe(up)">
                                      <p:cBhvr>
                                        <p:cTn id="25" dur="500"/>
                                        <p:tgtEl>
                                          <p:spTgt spid="614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2" grpId="0" build="p" advAuto="1000"/>
      <p:bldP spid="61444"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日期占位符 3"/>
          <p:cNvSpPr txBox="1">
            <a:spLocks noGrp="1"/>
          </p:cNvSpPr>
          <p:nvPr>
            <p:ph type="dt" sz="half" idx="10"/>
          </p:nvPr>
        </p:nvSpPr>
        <p:spPr>
          <a:xfrm>
            <a:off x="0" y="6510655"/>
            <a:ext cx="2315210" cy="331470"/>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56323" name="灯片编号占位符 5"/>
          <p:cNvSpPr txBox="1">
            <a:spLocks noGrp="1"/>
          </p:cNvSpPr>
          <p:nvPr>
            <p:ph type="sldNum" sz="quarter" idx="12"/>
          </p:nvPr>
        </p:nvSpPr>
        <p:spPr>
          <a:xfrm>
            <a:off x="8621395" y="6605270"/>
            <a:ext cx="561340" cy="299720"/>
          </a:xfrm>
        </p:spPr>
        <p:txBody>
          <a:bodyPr lIns="92075" tIns="46038" rIns="92075" bIns="46038" anchor="ctr"/>
          <a:lstStyle/>
          <a:p>
            <a:pPr algn="r" eaLnBrk="1" hangingPunct="1"/>
            <a:fld id="{9A0DB2DC-4C9A-4742-B13C-FB6460FD3503}" type="slidenum">
              <a:rPr lang="en-US" altLang="zh-CN" sz="1400" dirty="0"/>
              <a:t>51</a:t>
            </a:fld>
            <a:endParaRPr lang="en-US" altLang="zh-CN" sz="1400" dirty="0"/>
          </a:p>
        </p:txBody>
      </p:sp>
      <p:sp>
        <p:nvSpPr>
          <p:cNvPr id="61442" name="Rectangle 2"/>
          <p:cNvSpPr>
            <a:spLocks noGrp="1"/>
          </p:cNvSpPr>
          <p:nvPr>
            <p:ph idx="1"/>
          </p:nvPr>
        </p:nvSpPr>
        <p:spPr>
          <a:xfrm>
            <a:off x="107504" y="1903723"/>
            <a:ext cx="8807896" cy="4928870"/>
          </a:xfrm>
        </p:spPr>
        <p:txBody>
          <a:bodyPr vert="horz" wrap="square" lIns="91440" tIns="45720" rIns="91440" bIns="45720" anchor="t"/>
          <a:lstStyle/>
          <a:p>
            <a:pPr eaLnBrk="1" hangingPunct="1">
              <a:lnSpc>
                <a:spcPct val="110000"/>
              </a:lnSpc>
            </a:pPr>
            <a:r>
              <a:rPr lang="zh-CN" altLang="en-US" b="1" dirty="0">
                <a:ea typeface="华文中宋" panose="02010600040101010101" pitchFamily="2" charset="-122"/>
              </a:rPr>
              <a:t>成分变化是通过</a:t>
            </a:r>
            <a:r>
              <a:rPr lang="zh-CN" altLang="en-US" b="1" dirty="0">
                <a:solidFill>
                  <a:srgbClr val="0000FF"/>
                </a:solidFill>
                <a:ea typeface="华文中宋" panose="02010600040101010101" pitchFamily="2" charset="-122"/>
              </a:rPr>
              <a:t>原子扩散</a:t>
            </a:r>
            <a:r>
              <a:rPr lang="zh-CN" altLang="en-US" b="1" dirty="0">
                <a:ea typeface="华文中宋" panose="02010600040101010101" pitchFamily="2" charset="-122"/>
              </a:rPr>
              <a:t>完成的。当合金冷却到</a:t>
            </a:r>
            <a:r>
              <a:rPr lang="en-US" altLang="zh-CN" b="1" dirty="0">
                <a:solidFill>
                  <a:srgbClr val="0000FF"/>
                </a:solidFill>
                <a:ea typeface="华文中宋" panose="02010600040101010101" pitchFamily="2" charset="-122"/>
              </a:rPr>
              <a:t>t</a:t>
            </a:r>
            <a:r>
              <a:rPr lang="en-US" altLang="zh-CN" b="1" baseline="-25000" dirty="0">
                <a:solidFill>
                  <a:srgbClr val="0000FF"/>
                </a:solidFill>
                <a:ea typeface="华文中宋" panose="02010600040101010101" pitchFamily="2" charset="-122"/>
              </a:rPr>
              <a:t>3</a:t>
            </a:r>
            <a:r>
              <a:rPr lang="zh-CN" altLang="en-US" b="1" dirty="0">
                <a:ea typeface="华文中宋" panose="02010600040101010101" pitchFamily="2" charset="-122"/>
              </a:rPr>
              <a:t>时</a:t>
            </a:r>
            <a:r>
              <a:rPr lang="en-US" altLang="zh-CN" b="1" dirty="0">
                <a:ea typeface="华文中宋" panose="02010600040101010101" pitchFamily="2" charset="-122"/>
              </a:rPr>
              <a:t>,</a:t>
            </a:r>
            <a:r>
              <a:rPr lang="zh-CN" altLang="en-US" b="1" dirty="0">
                <a:ea typeface="华文中宋" panose="02010600040101010101" pitchFamily="2" charset="-122"/>
              </a:rPr>
              <a:t>最后一滴</a:t>
            </a:r>
            <a:r>
              <a:rPr lang="en-US" altLang="zh-CN" b="1" dirty="0">
                <a:solidFill>
                  <a:srgbClr val="0000FF"/>
                </a:solidFill>
                <a:ea typeface="华文中宋" panose="02010600040101010101" pitchFamily="2" charset="-122"/>
                <a:sym typeface="Symbol" panose="05050102010706020507" pitchFamily="18" charset="2"/>
              </a:rPr>
              <a:t>L</a:t>
            </a:r>
            <a:r>
              <a:rPr lang="en-US" altLang="zh-CN" b="1" baseline="-25000" dirty="0">
                <a:solidFill>
                  <a:srgbClr val="0000FF"/>
                </a:solidFill>
                <a:ea typeface="华文中宋" panose="02010600040101010101" pitchFamily="2" charset="-122"/>
                <a:sym typeface="Symbol" panose="05050102010706020507" pitchFamily="18" charset="2"/>
              </a:rPr>
              <a:t>3</a:t>
            </a:r>
            <a:r>
              <a:rPr lang="zh-CN" altLang="en-US" b="1" dirty="0">
                <a:ea typeface="华文中宋" panose="02010600040101010101" pitchFamily="2" charset="-122"/>
              </a:rPr>
              <a:t>成分的液体也转变为固溶体，此时固溶体的成分又变回到合金成分</a:t>
            </a:r>
            <a:r>
              <a:rPr lang="zh-CN" altLang="en-US" b="1" dirty="0">
                <a:solidFill>
                  <a:srgbClr val="0000FF"/>
                </a:solidFill>
                <a:ea typeface="华文中宋" panose="02010600040101010101" pitchFamily="2" charset="-122"/>
                <a:sym typeface="Symbol" panose="05050102010706020507" pitchFamily="18" charset="2"/>
              </a:rPr>
              <a:t></a:t>
            </a:r>
            <a:r>
              <a:rPr lang="en-US" altLang="zh-CN" b="1" baseline="-25000" dirty="0">
                <a:solidFill>
                  <a:srgbClr val="0000FF"/>
                </a:solidFill>
                <a:ea typeface="华文中宋" panose="02010600040101010101" pitchFamily="2" charset="-122"/>
                <a:sym typeface="Symbol" panose="05050102010706020507" pitchFamily="18" charset="2"/>
              </a:rPr>
              <a:t>3</a:t>
            </a:r>
            <a:r>
              <a:rPr lang="zh-CN" altLang="en-US" b="1" dirty="0">
                <a:ea typeface="华文中宋" panose="02010600040101010101" pitchFamily="2" charset="-122"/>
              </a:rPr>
              <a:t>上来。</a:t>
            </a:r>
          </a:p>
          <a:p>
            <a:pPr eaLnBrk="1" hangingPunct="1">
              <a:lnSpc>
                <a:spcPct val="110000"/>
              </a:lnSpc>
            </a:pPr>
            <a:r>
              <a:rPr lang="zh-CN" altLang="en-US" b="1" dirty="0">
                <a:solidFill>
                  <a:srgbClr val="0000FF"/>
                </a:solidFill>
                <a:ea typeface="华文中宋" panose="02010600040101010101" pitchFamily="2" charset="-122"/>
              </a:rPr>
              <a:t>液固相线</a:t>
            </a:r>
            <a:r>
              <a:rPr lang="zh-CN" altLang="en-US" b="1" dirty="0">
                <a:ea typeface="华文中宋" panose="02010600040101010101" pitchFamily="2" charset="-122"/>
              </a:rPr>
              <a:t>不仅是</a:t>
            </a:r>
            <a:r>
              <a:rPr lang="zh-CN" altLang="en-US" b="1" dirty="0">
                <a:solidFill>
                  <a:srgbClr val="0000FF"/>
                </a:solidFill>
                <a:ea typeface="华文中宋" panose="02010600040101010101" pitchFamily="2" charset="-122"/>
              </a:rPr>
              <a:t>相区分界线</a:t>
            </a:r>
            <a:r>
              <a:rPr lang="en-US" altLang="zh-CN" b="1" dirty="0">
                <a:ea typeface="华文中宋" panose="02010600040101010101" pitchFamily="2" charset="-122"/>
              </a:rPr>
              <a:t>, </a:t>
            </a:r>
            <a:r>
              <a:rPr lang="zh-CN" altLang="en-US" b="1" dirty="0">
                <a:ea typeface="华文中宋" panose="02010600040101010101" pitchFamily="2" charset="-122"/>
              </a:rPr>
              <a:t>也是结晶时</a:t>
            </a:r>
            <a:r>
              <a:rPr lang="zh-CN" altLang="en-US" b="1" dirty="0">
                <a:solidFill>
                  <a:srgbClr val="0000FF"/>
                </a:solidFill>
                <a:ea typeface="华文中宋" panose="02010600040101010101" pitchFamily="2" charset="-122"/>
              </a:rPr>
              <a:t>两相的成分变化线</a:t>
            </a:r>
            <a:r>
              <a:rPr lang="zh-CN" altLang="en-US" b="1" dirty="0">
                <a:ea typeface="华文中宋" panose="02010600040101010101" pitchFamily="2" charset="-122"/>
              </a:rPr>
              <a:t>；</a:t>
            </a:r>
          </a:p>
          <a:p>
            <a:pPr eaLnBrk="1" hangingPunct="1">
              <a:lnSpc>
                <a:spcPct val="110000"/>
              </a:lnSpc>
            </a:pPr>
            <a:r>
              <a:rPr lang="zh-CN" altLang="en-US" b="1" dirty="0">
                <a:ea typeface="华文中宋" panose="02010600040101010101" pitchFamily="2" charset="-122"/>
              </a:rPr>
              <a:t>匀晶转变是变温转变。</a:t>
            </a:r>
            <a:endParaRPr lang="zh-CN" altLang="en-US" b="1" dirty="0">
              <a:solidFill>
                <a:srgbClr val="CCFFFF"/>
              </a:solidFill>
              <a:ea typeface="华文中宋" panose="02010600040101010101" pitchFamily="2" charset="-122"/>
            </a:endParaRPr>
          </a:p>
        </p:txBody>
      </p:sp>
      <p:sp>
        <p:nvSpPr>
          <p:cNvPr id="61444" name="Rectangle 4"/>
          <p:cNvSpPr/>
          <p:nvPr/>
        </p:nvSpPr>
        <p:spPr>
          <a:xfrm>
            <a:off x="304800" y="228600"/>
            <a:ext cx="8610600" cy="1471613"/>
          </a:xfrm>
          <a:prstGeom prst="rect">
            <a:avLst/>
          </a:prstGeom>
          <a:noFill/>
          <a:ln w="9525">
            <a:noFill/>
          </a:ln>
        </p:spPr>
        <p:txBody>
          <a:bodyPr/>
          <a:lstStyle/>
          <a:p>
            <a:pPr marL="342900" lvl="0" indent="-342900" eaLnBrk="1" hangingPunct="1">
              <a:lnSpc>
                <a:spcPct val="140000"/>
              </a:lnSpc>
              <a:spcBef>
                <a:spcPct val="20000"/>
              </a:spcBef>
              <a:buClr>
                <a:schemeClr val="accent2"/>
              </a:buClr>
              <a:buSzPct val="80000"/>
              <a:buFont typeface="Wingdings" panose="05000000000000000000" pitchFamily="2" charset="2"/>
              <a:buChar char="l"/>
            </a:pPr>
            <a:endParaRPr lang="zh-CN" altLang="zh-CN" sz="2800" b="1" dirty="0">
              <a:latin typeface="Times New Roman" panose="02020603050405020304" pitchFamily="18" charset="0"/>
              <a:ea typeface="华文中宋" panose="02010600040101010101" pitchFamily="2" charset="-122"/>
            </a:endParaRPr>
          </a:p>
        </p:txBody>
      </p:sp>
      <p:pic>
        <p:nvPicPr>
          <p:cNvPr id="10" name="内容占位符 1" descr="新校徽（3M）弓之乐"/>
          <p:cNvPicPr>
            <a:picLocks noChangeAspect="1"/>
          </p:cNvPicPr>
          <p:nvPr/>
        </p:nvPicPr>
        <p:blipFill>
          <a:blip r:embed="rId2"/>
          <a:stretch>
            <a:fillRect/>
          </a:stretch>
        </p:blipFill>
        <p:spPr>
          <a:xfrm>
            <a:off x="0" y="0"/>
            <a:ext cx="746760" cy="735965"/>
          </a:xfrm>
          <a:prstGeom prst="rect">
            <a:avLst/>
          </a:prstGeom>
          <a:noFill/>
          <a:ln w="9525">
            <a:noFill/>
          </a:ln>
        </p:spPr>
      </p:pic>
      <p:sp>
        <p:nvSpPr>
          <p:cNvPr id="11" name="Rectangle 2"/>
          <p:cNvSpPr>
            <a:spLocks noGrp="1" noChangeArrowheads="1"/>
          </p:cNvSpPr>
          <p:nvPr>
            <p:ph type="title"/>
          </p:nvPr>
        </p:nvSpPr>
        <p:spPr>
          <a:xfrm>
            <a:off x="1346993" y="-9525"/>
            <a:ext cx="7113439"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(2) </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合金的结晶过程</a:t>
            </a: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(Cont.)</a:t>
            </a:r>
            <a:endPar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endParaRPr>
          </a:p>
        </p:txBody>
      </p:sp>
      <p:grpSp>
        <p:nvGrpSpPr>
          <p:cNvPr id="2" name="Group 14"/>
          <p:cNvGrpSpPr/>
          <p:nvPr/>
        </p:nvGrpSpPr>
        <p:grpSpPr>
          <a:xfrm>
            <a:off x="4585970" y="4272915"/>
            <a:ext cx="3956685" cy="2492375"/>
            <a:chOff x="384" y="2208"/>
            <a:chExt cx="2688" cy="1920"/>
          </a:xfrm>
        </p:grpSpPr>
        <p:grpSp>
          <p:nvGrpSpPr>
            <p:cNvPr id="3" name="Group 7"/>
            <p:cNvGrpSpPr/>
            <p:nvPr/>
          </p:nvGrpSpPr>
          <p:grpSpPr>
            <a:xfrm>
              <a:off x="384" y="2208"/>
              <a:ext cx="2688" cy="1920"/>
              <a:chOff x="1968" y="1164"/>
              <a:chExt cx="3360" cy="2724"/>
            </a:xfrm>
          </p:grpSpPr>
          <p:pic>
            <p:nvPicPr>
              <p:cNvPr id="7" name="Picture 8" descr="未命名1"/>
              <p:cNvPicPr>
                <a:picLocks noChangeAspect="1"/>
              </p:cNvPicPr>
              <p:nvPr/>
            </p:nvPicPr>
            <p:blipFill>
              <a:blip r:embed="rId3"/>
              <a:stretch>
                <a:fillRect/>
              </a:stretch>
            </p:blipFill>
            <p:spPr>
              <a:xfrm>
                <a:off x="1981" y="1164"/>
                <a:ext cx="2292" cy="2723"/>
              </a:xfrm>
              <a:prstGeom prst="rect">
                <a:avLst/>
              </a:prstGeom>
              <a:noFill/>
              <a:ln w="38100">
                <a:noFill/>
              </a:ln>
            </p:spPr>
          </p:pic>
          <p:pic>
            <p:nvPicPr>
              <p:cNvPr id="8" name="Picture 9" descr="CuNi冷却曲线"/>
              <p:cNvPicPr>
                <a:picLocks noChangeAspect="1"/>
              </p:cNvPicPr>
              <p:nvPr/>
            </p:nvPicPr>
            <p:blipFill>
              <a:blip r:embed="rId4"/>
              <a:stretch>
                <a:fillRect/>
              </a:stretch>
            </p:blipFill>
            <p:spPr>
              <a:xfrm>
                <a:off x="4270" y="1170"/>
                <a:ext cx="1058" cy="2718"/>
              </a:xfrm>
              <a:prstGeom prst="rect">
                <a:avLst/>
              </a:prstGeom>
              <a:noFill/>
              <a:ln w="38100">
                <a:noFill/>
              </a:ln>
            </p:spPr>
          </p:pic>
          <p:sp>
            <p:nvSpPr>
              <p:cNvPr id="9" name="Rectangle 10"/>
              <p:cNvSpPr/>
              <p:nvPr/>
            </p:nvSpPr>
            <p:spPr>
              <a:xfrm>
                <a:off x="1968" y="1164"/>
                <a:ext cx="3360" cy="2709"/>
              </a:xfrm>
              <a:prstGeom prst="rect">
                <a:avLst/>
              </a:prstGeom>
              <a:noFill/>
              <a:ln w="38100" cap="flat" cmpd="sng">
                <a:solidFill>
                  <a:srgbClr val="FF9900"/>
                </a:solidFill>
                <a:prstDash val="solid"/>
                <a:miter/>
                <a:headEnd type="none" w="med" len="med"/>
                <a:tailEnd type="none" w="med" len="med"/>
              </a:ln>
            </p:spPr>
            <p:txBody>
              <a:bodyPr wrap="none" anchor="ctr"/>
              <a:lstStyle>
                <a:defPPr>
                  <a:defRPr lang="zh-CN"/>
                </a:defPPr>
                <a:lvl1pPr marL="0" lvl="0"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9pPr>
              </a:lstStyle>
              <a:p>
                <a:pPr lvl="0" eaLnBrk="1" hangingPunct="1"/>
                <a:endParaRPr lang="zh-CN" altLang="en-US" dirty="0">
                  <a:latin typeface="Times New Roman" panose="02020603050405020304" pitchFamily="18" charset="0"/>
                  <a:ea typeface="宋体" panose="02010600030101010101" pitchFamily="2" charset="-122"/>
                </a:endParaRPr>
              </a:p>
            </p:txBody>
          </p:sp>
        </p:grpSp>
        <p:sp>
          <p:nvSpPr>
            <p:cNvPr id="4" name="Text Box 11"/>
            <p:cNvSpPr txBox="1"/>
            <p:nvPr/>
          </p:nvSpPr>
          <p:spPr>
            <a:xfrm>
              <a:off x="1497" y="2415"/>
              <a:ext cx="199" cy="284"/>
            </a:xfrm>
            <a:prstGeom prst="rect">
              <a:avLst/>
            </a:prstGeom>
            <a:noFill/>
            <a:ln w="38100">
              <a:noFill/>
            </a:ln>
          </p:spPr>
          <p:txBody>
            <a:bodyPr>
              <a:spAutoFit/>
            </a:bodyPr>
            <a:lstStyle>
              <a:defPPr>
                <a:defRPr lang="zh-CN"/>
              </a:defPPr>
              <a:lvl1pPr marL="0" lvl="0"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9pPr>
            </a:lstStyle>
            <a:p>
              <a:pPr lvl="0" eaLnBrk="1" hangingPunct="1">
                <a:spcBef>
                  <a:spcPct val="50000"/>
                </a:spcBef>
              </a:pPr>
              <a:r>
                <a:rPr lang="en-US" altLang="zh-CN" sz="1800" b="1" i="1" dirty="0">
                  <a:solidFill>
                    <a:srgbClr val="990033"/>
                  </a:solidFill>
                  <a:latin typeface="Times New Roman" panose="02020603050405020304" pitchFamily="18" charset="0"/>
                  <a:ea typeface="宋体" panose="02010600030101010101" pitchFamily="2" charset="-122"/>
                </a:rPr>
                <a:t>L</a:t>
              </a:r>
            </a:p>
          </p:txBody>
        </p:sp>
        <p:sp>
          <p:nvSpPr>
            <p:cNvPr id="5" name="Text Box 12"/>
            <p:cNvSpPr txBox="1"/>
            <p:nvPr/>
          </p:nvSpPr>
          <p:spPr>
            <a:xfrm>
              <a:off x="1617" y="3344"/>
              <a:ext cx="279" cy="307"/>
            </a:xfrm>
            <a:prstGeom prst="rect">
              <a:avLst/>
            </a:prstGeom>
            <a:noFill/>
            <a:ln w="38100">
              <a:noFill/>
            </a:ln>
          </p:spPr>
          <p:txBody>
            <a:bodyPr>
              <a:spAutoFit/>
            </a:bodyPr>
            <a:lstStyle>
              <a:defPPr>
                <a:defRPr lang="zh-CN"/>
              </a:defPPr>
              <a:lvl1pPr marL="0" lvl="0"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9pPr>
            </a:lstStyle>
            <a:p>
              <a:pPr lvl="0" eaLnBrk="1" hangingPunct="1">
                <a:spcBef>
                  <a:spcPct val="50000"/>
                </a:spcBef>
              </a:pPr>
              <a:r>
                <a:rPr lang="en-US" altLang="zh-CN" sz="2000" b="1" i="1" dirty="0">
                  <a:solidFill>
                    <a:srgbClr val="990033"/>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000" b="1" i="1" dirty="0">
                <a:solidFill>
                  <a:srgbClr val="990033"/>
                </a:solidFill>
                <a:latin typeface="Times New Roman" panose="02020603050405020304" pitchFamily="18" charset="0"/>
                <a:ea typeface="宋体" panose="02010600030101010101" pitchFamily="2" charset="-122"/>
              </a:endParaRPr>
            </a:p>
          </p:txBody>
        </p:sp>
        <p:sp>
          <p:nvSpPr>
            <p:cNvPr id="6" name="Text Box 13"/>
            <p:cNvSpPr txBox="1"/>
            <p:nvPr/>
          </p:nvSpPr>
          <p:spPr>
            <a:xfrm rot="-2020318">
              <a:off x="1387" y="2650"/>
              <a:ext cx="458" cy="236"/>
            </a:xfrm>
            <a:prstGeom prst="rect">
              <a:avLst/>
            </a:prstGeom>
            <a:noFill/>
            <a:ln w="38100">
              <a:noFill/>
            </a:ln>
          </p:spPr>
          <p:txBody>
            <a:bodyPr>
              <a:spAutoFit/>
            </a:bodyPr>
            <a:lstStyle>
              <a:defPPr>
                <a:defRPr lang="zh-CN"/>
              </a:defPPr>
              <a:lvl1pPr marL="0" lvl="0"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defRPr>
              </a:lvl9pPr>
            </a:lstStyle>
            <a:p>
              <a:pPr lvl="0" eaLnBrk="1" hangingPunct="1">
                <a:spcBef>
                  <a:spcPct val="50000"/>
                </a:spcBef>
              </a:pPr>
              <a:r>
                <a:rPr lang="en-US" altLang="zh-CN" sz="1400" b="1" i="1" dirty="0">
                  <a:solidFill>
                    <a:srgbClr val="990033"/>
                  </a:solidFill>
                  <a:latin typeface="Times New Roman" panose="02020603050405020304" pitchFamily="18" charset="0"/>
                  <a:ea typeface="宋体" panose="02010600030101010101" pitchFamily="2" charset="-122"/>
                  <a:sym typeface="Symbol" panose="05050102010706020507" pitchFamily="18" charset="2"/>
                </a:rPr>
                <a:t>L+</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nodePh="1">
                                  <p:stCondLst>
                                    <p:cond delay="0"/>
                                  </p:stCondLst>
                                  <p:endCondLst>
                                    <p:cond evt="begin" delay="0">
                                      <p:tn val="5"/>
                                    </p:cond>
                                  </p:endCondLst>
                                  <p:childTnLst>
                                    <p:set>
                                      <p:cBhvr>
                                        <p:cTn id="6" dur="1" fill="hold">
                                          <p:stCondLst>
                                            <p:cond delay="0"/>
                                          </p:stCondLst>
                                        </p:cTn>
                                        <p:tgtEl>
                                          <p:spTgt spid="61444"/>
                                        </p:tgtEl>
                                        <p:attrNameLst>
                                          <p:attrName>style.visibility</p:attrName>
                                        </p:attrNameLst>
                                      </p:cBhvr>
                                      <p:to>
                                        <p:strVal val="visible"/>
                                      </p:to>
                                    </p:set>
                                    <p:animEffect transition="in" filter="wipe(left)">
                                      <p:cBhvr>
                                        <p:cTn id="7" dur="500"/>
                                        <p:tgtEl>
                                          <p:spTgt spid="6144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1442">
                                            <p:txEl>
                                              <p:pRg st="0" end="0"/>
                                            </p:txEl>
                                          </p:spTgt>
                                        </p:tgtEl>
                                        <p:attrNameLst>
                                          <p:attrName>style.visibility</p:attrName>
                                        </p:attrNameLst>
                                      </p:cBhvr>
                                      <p:to>
                                        <p:strVal val="visible"/>
                                      </p:to>
                                    </p:set>
                                    <p:animEffect transition="in" filter="wipe(left)">
                                      <p:cBhvr>
                                        <p:cTn id="11" dur="500"/>
                                        <p:tgtEl>
                                          <p:spTgt spid="61442">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1442">
                                            <p:txEl>
                                              <p:pRg st="1" end="1"/>
                                            </p:txEl>
                                          </p:spTgt>
                                        </p:tgtEl>
                                        <p:attrNameLst>
                                          <p:attrName>style.visibility</p:attrName>
                                        </p:attrNameLst>
                                      </p:cBhvr>
                                      <p:to>
                                        <p:strVal val="visible"/>
                                      </p:to>
                                    </p:set>
                                    <p:animEffect transition="in" filter="wipe(left)">
                                      <p:cBhvr>
                                        <p:cTn id="15" dur="500"/>
                                        <p:tgtEl>
                                          <p:spTgt spid="61442">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61442">
                                            <p:txEl>
                                              <p:pRg st="2" end="2"/>
                                            </p:txEl>
                                          </p:spTgt>
                                        </p:tgtEl>
                                        <p:attrNameLst>
                                          <p:attrName>style.visibility</p:attrName>
                                        </p:attrNameLst>
                                      </p:cBhvr>
                                      <p:to>
                                        <p:strVal val="visible"/>
                                      </p:to>
                                    </p:set>
                                    <p:animEffect transition="in" filter="wipe(left)">
                                      <p:cBhvr>
                                        <p:cTn id="20" dur="500"/>
                                        <p:tgtEl>
                                          <p:spTgt spid="6144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2" grpId="0" build="p" advAuto="1000"/>
      <p:bldP spid="61444"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日期占位符 3"/>
          <p:cNvSpPr txBox="1">
            <a:spLocks noGrp="1"/>
          </p:cNvSpPr>
          <p:nvPr>
            <p:ph type="dt" sz="half" idx="10"/>
          </p:nvPr>
        </p:nvSpPr>
        <p:spPr>
          <a:xfrm>
            <a:off x="0" y="6523355"/>
            <a:ext cx="2342515" cy="33464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58371" name="灯片编号占位符 5"/>
          <p:cNvSpPr txBox="1">
            <a:spLocks noGrp="1"/>
          </p:cNvSpPr>
          <p:nvPr>
            <p:ph type="sldNum" sz="quarter" idx="12"/>
          </p:nvPr>
        </p:nvSpPr>
        <p:spPr>
          <a:xfrm>
            <a:off x="7885113" y="6534150"/>
            <a:ext cx="573087" cy="323850"/>
          </a:xfrm>
        </p:spPr>
        <p:txBody>
          <a:bodyPr lIns="92075" tIns="46038" rIns="92075" bIns="46038" anchor="ctr"/>
          <a:lstStyle/>
          <a:p>
            <a:pPr algn="r" eaLnBrk="1" hangingPunct="1"/>
            <a:fld id="{9A0DB2DC-4C9A-4742-B13C-FB6460FD3503}" type="slidenum">
              <a:rPr lang="en-US" altLang="zh-CN" sz="1400" dirty="0"/>
              <a:t>52</a:t>
            </a:fld>
            <a:endParaRPr lang="en-US" altLang="zh-CN" sz="1400" dirty="0"/>
          </a:p>
        </p:txBody>
      </p:sp>
      <p:sp>
        <p:nvSpPr>
          <p:cNvPr id="233474" name="Rectangle 2"/>
          <p:cNvSpPr>
            <a:spLocks noGrp="1" noChangeArrowheads="1"/>
          </p:cNvSpPr>
          <p:nvPr>
            <p:ph type="title"/>
          </p:nvPr>
        </p:nvSpPr>
        <p:spPr>
          <a:xfrm>
            <a:off x="1946910" y="271145"/>
            <a:ext cx="5526405" cy="1310005"/>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a:t>
            </a: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3</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 杠杆定律</a:t>
            </a:r>
            <a:b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br>
            <a:r>
              <a:rPr kumimoji="1" lang="zh-CN" altLang="en-US" sz="4400" b="1" i="1" u="none" strike="noStrike" kern="0" cap="none" spc="0" normalizeH="0" baseline="0" noProof="0" dirty="0">
                <a:ln>
                  <a:noFill/>
                </a:ln>
                <a:solidFill>
                  <a:srgbClr val="FF0000"/>
                </a:solidFill>
                <a:uLnTx/>
                <a:uFillTx/>
                <a:latin typeface="Times New Roman" panose="02020603050405020304" pitchFamily="18" charset="0"/>
                <a:ea typeface="华文中宋" panose="02010600040101010101" pitchFamily="2" charset="-122"/>
                <a:cs typeface="Times New Roman" panose="02020603050405020304" pitchFamily="18" charset="0"/>
              </a:rPr>
              <a:t>lever </a:t>
            </a:r>
            <a:r>
              <a:rPr kumimoji="1" lang="en-US" altLang="zh-CN" sz="4400" b="1" i="1" u="none" strike="noStrike" kern="0" cap="none" spc="0" normalizeH="0" baseline="0" noProof="0" dirty="0">
                <a:ln>
                  <a:noFill/>
                </a:ln>
                <a:solidFill>
                  <a:srgbClr val="FF0000"/>
                </a:solidFill>
                <a:uLnTx/>
                <a:uFillTx/>
                <a:latin typeface="Times New Roman" panose="02020603050405020304" pitchFamily="18" charset="0"/>
                <a:ea typeface="华文中宋" panose="02010600040101010101" pitchFamily="2" charset="-122"/>
                <a:cs typeface="Times New Roman" panose="02020603050405020304" pitchFamily="18" charset="0"/>
              </a:rPr>
              <a:t>rule</a:t>
            </a:r>
          </a:p>
        </p:txBody>
      </p:sp>
      <p:sp>
        <p:nvSpPr>
          <p:cNvPr id="58373" name="Rectangle 3"/>
          <p:cNvSpPr>
            <a:spLocks noGrp="1"/>
          </p:cNvSpPr>
          <p:nvPr>
            <p:ph idx="1"/>
          </p:nvPr>
        </p:nvSpPr>
        <p:spPr>
          <a:xfrm>
            <a:off x="-46598" y="1844824"/>
            <a:ext cx="6882130" cy="5819775"/>
          </a:xfrm>
        </p:spPr>
        <p:txBody>
          <a:bodyPr vert="horz" wrap="square" lIns="91440" tIns="45720" rIns="91440" bIns="45720" anchor="t"/>
          <a:lstStyle/>
          <a:p>
            <a:pPr eaLnBrk="1" latinLnBrk="0" hangingPunct="1">
              <a:lnSpc>
                <a:spcPct val="120000"/>
              </a:lnSpc>
              <a:spcBef>
                <a:spcPts val="0"/>
              </a:spcBef>
            </a:pPr>
            <a:r>
              <a:rPr lang="zh-CN" altLang="en-US" sz="2800" b="1" dirty="0">
                <a:ea typeface="华文中宋" panose="02010600040101010101" pitchFamily="2" charset="-122"/>
              </a:rPr>
              <a:t>处于</a:t>
            </a:r>
            <a:r>
              <a:rPr lang="zh-CN" altLang="en-US" sz="2800" b="1" dirty="0">
                <a:solidFill>
                  <a:srgbClr val="0000FF"/>
                </a:solidFill>
                <a:ea typeface="华文中宋" panose="02010600040101010101" pitchFamily="2" charset="-122"/>
              </a:rPr>
              <a:t>两相区</a:t>
            </a:r>
            <a:r>
              <a:rPr lang="zh-CN" altLang="en-US" sz="2800" b="1" dirty="0">
                <a:ea typeface="华文中宋" panose="02010600040101010101" pitchFamily="2" charset="-122"/>
              </a:rPr>
              <a:t>的合金，由相图可知道两平衡相的成分，可用杠杆定律求出两平衡相的</a:t>
            </a:r>
            <a:r>
              <a:rPr lang="zh-CN" altLang="en-US" sz="2800" b="1" dirty="0">
                <a:solidFill>
                  <a:srgbClr val="0000FF"/>
                </a:solidFill>
                <a:ea typeface="华文中宋" panose="02010600040101010101" pitchFamily="2" charset="-122"/>
              </a:rPr>
              <a:t>相对重量</a:t>
            </a:r>
            <a:r>
              <a:rPr lang="zh-CN" altLang="en-US" sz="2800" b="1" dirty="0">
                <a:ea typeface="华文中宋" panose="02010600040101010101" pitchFamily="2" charset="-122"/>
              </a:rPr>
              <a:t>。</a:t>
            </a:r>
          </a:p>
          <a:p>
            <a:pPr eaLnBrk="1" latinLnBrk="0" hangingPunct="1">
              <a:lnSpc>
                <a:spcPct val="120000"/>
              </a:lnSpc>
              <a:spcBef>
                <a:spcPts val="0"/>
              </a:spcBef>
            </a:pPr>
            <a:r>
              <a:rPr lang="zh-CN" altLang="en-US" sz="2800" b="1" dirty="0">
                <a:ea typeface="华文中宋" panose="02010600040101010101" pitchFamily="2" charset="-122"/>
              </a:rPr>
              <a:t>以</a:t>
            </a:r>
            <a:r>
              <a:rPr lang="en-US" altLang="zh-CN" sz="2800" b="1" dirty="0">
                <a:ea typeface="华文中宋" panose="02010600040101010101" pitchFamily="2" charset="-122"/>
              </a:rPr>
              <a:t>Cu-Ni</a:t>
            </a:r>
            <a:r>
              <a:rPr lang="zh-CN" altLang="en-US" sz="2800" b="1" dirty="0">
                <a:ea typeface="华文中宋" panose="02010600040101010101" pitchFamily="2" charset="-122"/>
              </a:rPr>
              <a:t>合金为例推导杠杆定律：</a:t>
            </a:r>
          </a:p>
          <a:p>
            <a:pPr eaLnBrk="1" latinLnBrk="0" hangingPunct="1">
              <a:lnSpc>
                <a:spcPct val="120000"/>
              </a:lnSpc>
              <a:spcBef>
                <a:spcPts val="0"/>
              </a:spcBef>
            </a:pPr>
            <a:r>
              <a:rPr lang="zh-CN" altLang="en-US" sz="2800" b="1" dirty="0">
                <a:solidFill>
                  <a:srgbClr val="0000FF"/>
                </a:solidFill>
                <a:ea typeface="华文中宋" panose="02010600040101010101" pitchFamily="2" charset="-122"/>
              </a:rPr>
              <a:t>① 确定两平衡相的成分：</a:t>
            </a:r>
            <a:r>
              <a:rPr lang="zh-CN" altLang="en-US" sz="2800" b="1" dirty="0">
                <a:ea typeface="华文中宋" panose="02010600040101010101" pitchFamily="2" charset="-122"/>
              </a:rPr>
              <a:t>设合金成分为</a:t>
            </a:r>
            <a:r>
              <a:rPr lang="en-US" altLang="zh-CN" sz="2800" b="1" i="1" dirty="0">
                <a:ea typeface="华文中宋" panose="02010600040101010101" pitchFamily="2" charset="-122"/>
              </a:rPr>
              <a:t>x</a:t>
            </a:r>
            <a:r>
              <a:rPr lang="zh-CN" altLang="en-US" sz="2800" b="1" dirty="0">
                <a:ea typeface="华文中宋" panose="02010600040101010101" pitchFamily="2" charset="-122"/>
              </a:rPr>
              <a:t>，过</a:t>
            </a:r>
            <a:r>
              <a:rPr lang="en-US" altLang="zh-CN" sz="2800" b="1" i="1" dirty="0">
                <a:ea typeface="华文中宋" panose="02010600040101010101" pitchFamily="2" charset="-122"/>
              </a:rPr>
              <a:t>x</a:t>
            </a:r>
            <a:r>
              <a:rPr lang="zh-CN" altLang="en-US" sz="2800" b="1" dirty="0">
                <a:ea typeface="华文中宋" panose="02010600040101010101" pitchFamily="2" charset="-122"/>
              </a:rPr>
              <a:t>作成</a:t>
            </a:r>
            <a:r>
              <a:rPr lang="zh-CN" altLang="en-US" sz="2800" b="1" dirty="0"/>
              <a:t>分垂线。在成分垂线相当于温度</a:t>
            </a:r>
            <a:r>
              <a:rPr lang="en-US" altLang="zh-CN" sz="2800" b="1" i="1" dirty="0"/>
              <a:t>t</a:t>
            </a:r>
            <a:r>
              <a:rPr lang="en-US" altLang="zh-CN" sz="2800" b="1" dirty="0"/>
              <a:t> </a:t>
            </a:r>
            <a:r>
              <a:rPr lang="zh-CN" altLang="en-US" sz="2800" b="1" dirty="0"/>
              <a:t>的</a:t>
            </a:r>
            <a:r>
              <a:rPr lang="en-US" altLang="zh-CN" sz="2800" b="1" dirty="0"/>
              <a:t>o</a:t>
            </a:r>
            <a:r>
              <a:rPr lang="zh-CN" altLang="en-US" sz="2800" b="1" dirty="0"/>
              <a:t>点</a:t>
            </a:r>
            <a:r>
              <a:rPr lang="zh-CN" altLang="en-US" sz="2800" b="1" dirty="0">
                <a:ea typeface="华文中宋" panose="02010600040101010101" pitchFamily="2" charset="-122"/>
              </a:rPr>
              <a:t>作</a:t>
            </a:r>
            <a:r>
              <a:rPr lang="zh-CN" altLang="en-US" sz="2800" b="1" dirty="0"/>
              <a:t>水平线，其与液固相线交点</a:t>
            </a:r>
            <a:r>
              <a:rPr lang="en-US" altLang="zh-CN" sz="2800" b="1" i="1" dirty="0"/>
              <a:t>a</a:t>
            </a:r>
            <a:r>
              <a:rPr lang="zh-CN" altLang="en-US" sz="2800" b="1" dirty="0"/>
              <a:t>、</a:t>
            </a:r>
            <a:r>
              <a:rPr lang="en-US" altLang="zh-CN" sz="2800" b="1" i="1" dirty="0"/>
              <a:t>b</a:t>
            </a:r>
            <a:r>
              <a:rPr lang="zh-CN" altLang="en-US" sz="2800" b="1" dirty="0"/>
              <a:t>所对应的成分</a:t>
            </a:r>
            <a:r>
              <a:rPr lang="en-US" altLang="zh-CN" sz="2800" b="1" i="1" dirty="0"/>
              <a:t>x</a:t>
            </a:r>
            <a:r>
              <a:rPr lang="en-US" altLang="zh-CN" sz="2800" b="1" baseline="-25000" dirty="0">
                <a:sym typeface="Symbol" panose="05050102010706020507" pitchFamily="18" charset="2"/>
              </a:rPr>
              <a:t>1</a:t>
            </a:r>
            <a:r>
              <a:rPr lang="zh-CN" altLang="en-US" sz="2800" b="1" dirty="0"/>
              <a:t>、</a:t>
            </a:r>
            <a:r>
              <a:rPr lang="en-US" altLang="zh-CN" sz="2800" b="1" i="1" dirty="0"/>
              <a:t>x</a:t>
            </a:r>
            <a:r>
              <a:rPr lang="en-US" altLang="zh-CN" sz="2800" b="1" baseline="-25000" dirty="0">
                <a:sym typeface="Symbol" panose="05050102010706020507" pitchFamily="18" charset="2"/>
              </a:rPr>
              <a:t>2</a:t>
            </a:r>
            <a:r>
              <a:rPr lang="zh-CN" altLang="en-US" sz="2800" b="1" dirty="0"/>
              <a:t>即分别</a:t>
            </a:r>
            <a:r>
              <a:rPr lang="zh-CN" altLang="en-US" sz="2800" b="1" dirty="0">
                <a:ea typeface="华文中宋" panose="02010600040101010101" pitchFamily="2" charset="-122"/>
              </a:rPr>
              <a:t>为</a:t>
            </a:r>
            <a:r>
              <a:rPr lang="zh-CN" altLang="en-US" sz="2800" b="1" dirty="0"/>
              <a:t>液相</a:t>
            </a:r>
            <a:r>
              <a:rPr lang="zh-CN" altLang="en-US" sz="2800" b="1" dirty="0">
                <a:ea typeface="华文中宋" panose="02010600040101010101" pitchFamily="2" charset="-122"/>
              </a:rPr>
              <a:t>和</a:t>
            </a:r>
            <a:r>
              <a:rPr lang="zh-CN" altLang="en-US" sz="2800" b="1" dirty="0"/>
              <a:t>固相</a:t>
            </a:r>
            <a:r>
              <a:rPr lang="zh-CN" altLang="en-US" sz="2800" b="1" dirty="0">
                <a:ea typeface="华文中宋" panose="02010600040101010101" pitchFamily="2" charset="-122"/>
              </a:rPr>
              <a:t>的</a:t>
            </a:r>
            <a:r>
              <a:rPr lang="zh-CN" altLang="en-US" sz="2800" b="1" dirty="0"/>
              <a:t>成分。</a:t>
            </a:r>
          </a:p>
        </p:txBody>
      </p:sp>
      <p:grpSp>
        <p:nvGrpSpPr>
          <p:cNvPr id="2" name="Group 4"/>
          <p:cNvGrpSpPr/>
          <p:nvPr/>
        </p:nvGrpSpPr>
        <p:grpSpPr>
          <a:xfrm>
            <a:off x="6637020" y="2132965"/>
            <a:ext cx="2457450" cy="2106930"/>
            <a:chOff x="3168" y="2303"/>
            <a:chExt cx="2154" cy="1681"/>
          </a:xfrm>
        </p:grpSpPr>
        <p:grpSp>
          <p:nvGrpSpPr>
            <p:cNvPr id="58376" name="Group 5"/>
            <p:cNvGrpSpPr/>
            <p:nvPr/>
          </p:nvGrpSpPr>
          <p:grpSpPr>
            <a:xfrm>
              <a:off x="3168" y="2303"/>
              <a:ext cx="2154" cy="1681"/>
              <a:chOff x="3168" y="2303"/>
              <a:chExt cx="2154" cy="1681"/>
            </a:xfrm>
          </p:grpSpPr>
          <p:grpSp>
            <p:nvGrpSpPr>
              <p:cNvPr id="58379" name="Group 6"/>
              <p:cNvGrpSpPr/>
              <p:nvPr/>
            </p:nvGrpSpPr>
            <p:grpSpPr>
              <a:xfrm>
                <a:off x="3168" y="2303"/>
                <a:ext cx="2154" cy="1681"/>
                <a:chOff x="3210" y="2208"/>
                <a:chExt cx="2154" cy="1681"/>
              </a:xfrm>
            </p:grpSpPr>
            <p:pic>
              <p:nvPicPr>
                <p:cNvPr id="58388" name="Picture 7" descr="image019"/>
                <p:cNvPicPr>
                  <a:picLocks noChangeAspect="1"/>
                </p:cNvPicPr>
                <p:nvPr/>
              </p:nvPicPr>
              <p:blipFill>
                <a:blip r:embed="rId2"/>
                <a:stretch>
                  <a:fillRect/>
                </a:stretch>
              </p:blipFill>
              <p:spPr>
                <a:xfrm>
                  <a:off x="3210" y="2208"/>
                  <a:ext cx="2154" cy="1681"/>
                </a:xfrm>
                <a:prstGeom prst="rect">
                  <a:avLst/>
                </a:prstGeom>
                <a:noFill/>
                <a:ln w="28575" cap="flat" cmpd="sng">
                  <a:solidFill>
                    <a:srgbClr val="FF00FF"/>
                  </a:solidFill>
                  <a:prstDash val="solid"/>
                  <a:miter/>
                  <a:headEnd type="none" w="med" len="med"/>
                  <a:tailEnd type="none" w="med" len="med"/>
                </a:ln>
              </p:spPr>
            </p:pic>
            <p:sp>
              <p:nvSpPr>
                <p:cNvPr id="58389" name="Rectangle 8"/>
                <p:cNvSpPr/>
                <p:nvPr/>
              </p:nvSpPr>
              <p:spPr>
                <a:xfrm>
                  <a:off x="4068" y="3720"/>
                  <a:ext cx="84" cy="99"/>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lvl="0" algn="ctr" eaLnBrk="1" hangingPunct="1"/>
                  <a:r>
                    <a:rPr lang="en-US" altLang="zh-CN" sz="1200" b="1" dirty="0">
                      <a:solidFill>
                        <a:srgbClr val="669900"/>
                      </a:solidFill>
                      <a:latin typeface="Times New Roman" panose="02020603050405020304" pitchFamily="18" charset="0"/>
                      <a:ea typeface="宋体" panose="02010600030101010101" pitchFamily="2" charset="-122"/>
                    </a:rPr>
                    <a:t>1</a:t>
                  </a:r>
                </a:p>
              </p:txBody>
            </p:sp>
            <p:sp>
              <p:nvSpPr>
                <p:cNvPr id="58390" name="Rectangle 9"/>
                <p:cNvSpPr/>
                <p:nvPr/>
              </p:nvSpPr>
              <p:spPr>
                <a:xfrm>
                  <a:off x="4920" y="3720"/>
                  <a:ext cx="84" cy="99"/>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lvl="0" algn="ctr" eaLnBrk="1" hangingPunct="1"/>
                  <a:r>
                    <a:rPr lang="en-US" altLang="zh-CN" sz="1200" b="1" dirty="0">
                      <a:solidFill>
                        <a:srgbClr val="669900"/>
                      </a:solidFill>
                      <a:latin typeface="Times New Roman" panose="02020603050405020304" pitchFamily="18" charset="0"/>
                      <a:ea typeface="宋体" panose="02010600030101010101" pitchFamily="2" charset="-122"/>
                    </a:rPr>
                    <a:t>2</a:t>
                  </a:r>
                </a:p>
              </p:txBody>
            </p:sp>
            <p:sp>
              <p:nvSpPr>
                <p:cNvPr id="58391" name="Rectangle 10"/>
                <p:cNvSpPr/>
                <p:nvPr/>
              </p:nvSpPr>
              <p:spPr>
                <a:xfrm>
                  <a:off x="3600" y="3216"/>
                  <a:ext cx="240" cy="24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lvl="0" algn="ctr" eaLnBrk="1" hangingPunct="1"/>
                  <a:r>
                    <a:rPr lang="en-US" altLang="zh-CN" sz="2400" b="1" dirty="0">
                      <a:solidFill>
                        <a:srgbClr val="6666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b="1" dirty="0">
                    <a:solidFill>
                      <a:srgbClr val="6666FF"/>
                    </a:solidFill>
                    <a:latin typeface="Times New Roman" panose="02020603050405020304" pitchFamily="18" charset="0"/>
                    <a:ea typeface="宋体" panose="02010600030101010101" pitchFamily="2" charset="-122"/>
                  </a:endParaRPr>
                </a:p>
              </p:txBody>
            </p:sp>
            <p:sp>
              <p:nvSpPr>
                <p:cNvPr id="58392" name="Rectangle 11"/>
                <p:cNvSpPr/>
                <p:nvPr/>
              </p:nvSpPr>
              <p:spPr>
                <a:xfrm>
                  <a:off x="4200" y="2736"/>
                  <a:ext cx="168" cy="213"/>
                </a:xfrm>
                <a:prstGeom prst="rect">
                  <a:avLst/>
                </a:prstGeom>
                <a:solidFill>
                  <a:srgbClr val="FBD2FE"/>
                </a:solidFill>
                <a:ln w="9525">
                  <a:noFill/>
                </a:ln>
              </p:spPr>
              <p:txBody>
                <a:bodyPr wrap="none" anchor="ctr"/>
                <a:lstStyle/>
                <a:p>
                  <a:pPr lvl="0" algn="ctr" eaLnBrk="1" hangingPunct="1"/>
                  <a:r>
                    <a:rPr lang="en-US" altLang="zh-CN" sz="2400" b="1" dirty="0">
                      <a:solidFill>
                        <a:srgbClr val="6666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b="1" dirty="0">
                    <a:solidFill>
                      <a:srgbClr val="6666FF"/>
                    </a:solidFill>
                    <a:latin typeface="Times New Roman" panose="02020603050405020304" pitchFamily="18" charset="0"/>
                    <a:ea typeface="宋体" panose="02010600030101010101" pitchFamily="2" charset="-122"/>
                  </a:endParaRPr>
                </a:p>
              </p:txBody>
            </p:sp>
            <p:sp>
              <p:nvSpPr>
                <p:cNvPr id="58393" name="Rectangle 12"/>
                <p:cNvSpPr/>
                <p:nvPr/>
              </p:nvSpPr>
              <p:spPr>
                <a:xfrm>
                  <a:off x="3312" y="2592"/>
                  <a:ext cx="96" cy="24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lvl="0" algn="ctr" eaLnBrk="1" hangingPunct="1"/>
                  <a:r>
                    <a:rPr lang="en-US" altLang="zh-CN" sz="2400" b="1" i="1" dirty="0">
                      <a:solidFill>
                        <a:schemeClr val="bg2"/>
                      </a:solidFill>
                      <a:latin typeface="Times New Roman" panose="02020603050405020304" pitchFamily="18" charset="0"/>
                      <a:ea typeface="宋体" panose="02010600030101010101" pitchFamily="2" charset="-122"/>
                    </a:rPr>
                    <a:t>t</a:t>
                  </a:r>
                </a:p>
              </p:txBody>
            </p:sp>
          </p:grpSp>
          <p:sp>
            <p:nvSpPr>
              <p:cNvPr id="58380" name="Rectangle 13"/>
              <p:cNvSpPr/>
              <p:nvPr/>
            </p:nvSpPr>
            <p:spPr>
              <a:xfrm>
                <a:off x="3552" y="2496"/>
                <a:ext cx="240" cy="24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lvl="0" algn="ctr" eaLnBrk="1" hangingPunct="1"/>
                <a:r>
                  <a:rPr lang="en-US" altLang="zh-CN" sz="2400" b="1" i="1" dirty="0">
                    <a:solidFill>
                      <a:schemeClr val="hlink"/>
                    </a:solidFill>
                    <a:latin typeface="Times New Roman" panose="02020603050405020304" pitchFamily="18" charset="0"/>
                    <a:ea typeface="宋体" panose="02010600030101010101" pitchFamily="2" charset="-122"/>
                  </a:rPr>
                  <a:t>L</a:t>
                </a:r>
              </a:p>
            </p:txBody>
          </p:sp>
          <p:sp>
            <p:nvSpPr>
              <p:cNvPr id="58381" name="Rectangle 14"/>
              <p:cNvSpPr/>
              <p:nvPr/>
            </p:nvSpPr>
            <p:spPr>
              <a:xfrm>
                <a:off x="3927" y="2862"/>
                <a:ext cx="48" cy="195"/>
              </a:xfrm>
              <a:prstGeom prst="rect">
                <a:avLst/>
              </a:prstGeom>
              <a:solidFill>
                <a:srgbClr val="EFC6FE"/>
              </a:solidFill>
              <a:ln w="9525">
                <a:noFill/>
              </a:ln>
            </p:spPr>
            <p:txBody>
              <a:bodyPr wrap="none" anchor="ctr"/>
              <a:lstStyle/>
              <a:p>
                <a:pPr lvl="0" algn="ctr" eaLnBrk="1" hangingPunct="1"/>
                <a:r>
                  <a:rPr lang="en-US" altLang="zh-CN" sz="2000" b="1" i="1" dirty="0">
                    <a:solidFill>
                      <a:schemeClr val="hlink"/>
                    </a:solidFill>
                    <a:latin typeface="Times New Roman" panose="02020603050405020304" pitchFamily="18" charset="0"/>
                    <a:ea typeface="宋体" panose="02010600030101010101" pitchFamily="2" charset="-122"/>
                  </a:rPr>
                  <a:t>L</a:t>
                </a:r>
              </a:p>
            </p:txBody>
          </p:sp>
          <p:sp>
            <p:nvSpPr>
              <p:cNvPr id="58382" name="Rectangle 15"/>
              <p:cNvSpPr/>
              <p:nvPr/>
            </p:nvSpPr>
            <p:spPr>
              <a:xfrm>
                <a:off x="4446" y="2694"/>
                <a:ext cx="48" cy="96"/>
              </a:xfrm>
              <a:prstGeom prst="rect">
                <a:avLst/>
              </a:prstGeom>
              <a:solidFill>
                <a:srgbClr val="EFC6FE"/>
              </a:solidFill>
              <a:ln w="9525">
                <a:noFill/>
              </a:ln>
            </p:spPr>
            <p:txBody>
              <a:bodyPr wrap="none" anchor="ctr"/>
              <a:lstStyle/>
              <a:p>
                <a:pPr lvl="0" algn="ctr" eaLnBrk="1" hangingPunct="1"/>
                <a:r>
                  <a:rPr lang="en-US" altLang="zh-CN" sz="1800" b="1" i="1" dirty="0">
                    <a:solidFill>
                      <a:srgbClr val="008000"/>
                    </a:solidFill>
                    <a:latin typeface="Times New Roman" panose="02020603050405020304" pitchFamily="18" charset="0"/>
                    <a:ea typeface="宋体" panose="02010600030101010101" pitchFamily="2" charset="-122"/>
                  </a:rPr>
                  <a:t>O</a:t>
                </a:r>
              </a:p>
            </p:txBody>
          </p:sp>
          <p:sp>
            <p:nvSpPr>
              <p:cNvPr id="58383" name="Rectangle 16"/>
              <p:cNvSpPr/>
              <p:nvPr/>
            </p:nvSpPr>
            <p:spPr>
              <a:xfrm>
                <a:off x="4821" y="2640"/>
                <a:ext cx="123" cy="132"/>
              </a:xfrm>
              <a:prstGeom prst="rect">
                <a:avLst/>
              </a:prstGeom>
              <a:solidFill>
                <a:srgbClr val="EFC6FE"/>
              </a:solidFill>
              <a:ln w="9525">
                <a:noFill/>
              </a:ln>
            </p:spPr>
            <p:txBody>
              <a:bodyPr wrap="none" anchor="ctr"/>
              <a:lstStyle/>
              <a:p>
                <a:pPr lvl="0" algn="ctr" eaLnBrk="1" hangingPunct="1"/>
                <a:r>
                  <a:rPr lang="en-US" altLang="zh-CN" sz="2000" b="1" i="1" dirty="0">
                    <a:solidFill>
                      <a:srgbClr val="008000"/>
                    </a:solidFill>
                    <a:latin typeface="Times New Roman" panose="02020603050405020304" pitchFamily="18" charset="0"/>
                    <a:ea typeface="宋体" panose="02010600030101010101" pitchFamily="2" charset="-122"/>
                  </a:rPr>
                  <a:t>b</a:t>
                </a:r>
              </a:p>
            </p:txBody>
          </p:sp>
          <p:sp>
            <p:nvSpPr>
              <p:cNvPr id="58384" name="Rectangle 17"/>
              <p:cNvSpPr/>
              <p:nvPr/>
            </p:nvSpPr>
            <p:spPr>
              <a:xfrm>
                <a:off x="3936" y="2610"/>
                <a:ext cx="144" cy="171"/>
              </a:xfrm>
              <a:prstGeom prst="rect">
                <a:avLst/>
              </a:prstGeom>
              <a:solidFill>
                <a:schemeClr val="bg1"/>
              </a:solidFill>
              <a:ln w="9525">
                <a:noFill/>
              </a:ln>
            </p:spPr>
            <p:txBody>
              <a:bodyPr wrap="none" anchor="ctr"/>
              <a:lstStyle/>
              <a:p>
                <a:pPr lvl="0" algn="ctr" eaLnBrk="1" hangingPunct="1"/>
                <a:r>
                  <a:rPr lang="en-US" altLang="zh-CN" sz="2000" b="1" i="1" dirty="0">
                    <a:solidFill>
                      <a:srgbClr val="008000"/>
                    </a:solidFill>
                    <a:latin typeface="Times New Roman" panose="02020603050405020304" pitchFamily="18" charset="0"/>
                    <a:ea typeface="宋体" panose="02010600030101010101" pitchFamily="2" charset="-122"/>
                  </a:rPr>
                  <a:t>a</a:t>
                </a:r>
              </a:p>
            </p:txBody>
          </p:sp>
          <p:sp>
            <p:nvSpPr>
              <p:cNvPr id="58385" name="Rectangle 18"/>
              <p:cNvSpPr/>
              <p:nvPr/>
            </p:nvSpPr>
            <p:spPr>
              <a:xfrm>
                <a:off x="4320" y="3753"/>
                <a:ext cx="192" cy="183"/>
              </a:xfrm>
              <a:prstGeom prst="rect">
                <a:avLst/>
              </a:prstGeom>
              <a:solidFill>
                <a:schemeClr val="bg1"/>
              </a:solidFill>
              <a:ln w="9525">
                <a:noFill/>
              </a:ln>
            </p:spPr>
            <p:txBody>
              <a:bodyPr wrap="none" anchor="ctr"/>
              <a:lstStyle/>
              <a:p>
                <a:pPr lvl="0" algn="ctr" eaLnBrk="1" hangingPunct="1"/>
                <a:r>
                  <a:rPr lang="en-US" altLang="zh-CN" sz="2000" b="1" i="1" dirty="0">
                    <a:solidFill>
                      <a:srgbClr val="008000"/>
                    </a:solidFill>
                    <a:latin typeface="Times New Roman" panose="02020603050405020304" pitchFamily="18" charset="0"/>
                    <a:ea typeface="宋体" panose="02010600030101010101" pitchFamily="2" charset="-122"/>
                  </a:rPr>
                  <a:t>x</a:t>
                </a:r>
              </a:p>
            </p:txBody>
          </p:sp>
          <p:sp>
            <p:nvSpPr>
              <p:cNvPr id="58386" name="Rectangle 19"/>
              <p:cNvSpPr/>
              <p:nvPr/>
            </p:nvSpPr>
            <p:spPr>
              <a:xfrm>
                <a:off x="3936" y="3753"/>
                <a:ext cx="240" cy="183"/>
              </a:xfrm>
              <a:prstGeom prst="rect">
                <a:avLst/>
              </a:prstGeom>
              <a:solidFill>
                <a:schemeClr val="bg1"/>
              </a:solidFill>
              <a:ln w="9525">
                <a:noFill/>
              </a:ln>
            </p:spPr>
            <p:txBody>
              <a:bodyPr wrap="none" anchor="ctr"/>
              <a:lstStyle/>
              <a:p>
                <a:pPr lvl="0" algn="ctr" eaLnBrk="1" hangingPunct="1"/>
                <a:r>
                  <a:rPr lang="en-US" altLang="zh-CN" sz="2000" b="1" i="1" dirty="0">
                    <a:solidFill>
                      <a:srgbClr val="008000"/>
                    </a:solidFill>
                    <a:latin typeface="Times New Roman" panose="02020603050405020304" pitchFamily="18" charset="0"/>
                    <a:ea typeface="宋体" panose="02010600030101010101" pitchFamily="2" charset="-122"/>
                  </a:rPr>
                  <a:t>x</a:t>
                </a:r>
                <a:r>
                  <a:rPr lang="en-US" altLang="zh-CN" sz="2000" b="1" i="1" baseline="-25000" dirty="0">
                    <a:solidFill>
                      <a:srgbClr val="008000"/>
                    </a:solidFill>
                    <a:latin typeface="Times New Roman" panose="02020603050405020304" pitchFamily="18" charset="0"/>
                    <a:ea typeface="宋体" panose="02010600030101010101" pitchFamily="2" charset="-122"/>
                  </a:rPr>
                  <a:t>1</a:t>
                </a:r>
                <a:endParaRPr lang="en-US" altLang="zh-CN" sz="2000" b="1" i="1" dirty="0">
                  <a:solidFill>
                    <a:srgbClr val="008000"/>
                  </a:solidFill>
                  <a:latin typeface="Times New Roman" panose="02020603050405020304" pitchFamily="18" charset="0"/>
                  <a:ea typeface="宋体" panose="02010600030101010101" pitchFamily="2" charset="-122"/>
                </a:endParaRPr>
              </a:p>
            </p:txBody>
          </p:sp>
          <p:sp>
            <p:nvSpPr>
              <p:cNvPr id="58387" name="Rectangle 20"/>
              <p:cNvSpPr/>
              <p:nvPr/>
            </p:nvSpPr>
            <p:spPr>
              <a:xfrm>
                <a:off x="4752" y="3753"/>
                <a:ext cx="288" cy="174"/>
              </a:xfrm>
              <a:prstGeom prst="rect">
                <a:avLst/>
              </a:prstGeom>
              <a:solidFill>
                <a:schemeClr val="bg1"/>
              </a:solidFill>
              <a:ln w="9525">
                <a:noFill/>
              </a:ln>
            </p:spPr>
            <p:txBody>
              <a:bodyPr wrap="none" anchor="ctr"/>
              <a:lstStyle/>
              <a:p>
                <a:pPr lvl="0" algn="ctr" eaLnBrk="1" hangingPunct="1"/>
                <a:r>
                  <a:rPr lang="en-US" altLang="zh-CN" sz="2000" b="1" i="1" dirty="0">
                    <a:solidFill>
                      <a:srgbClr val="008000"/>
                    </a:solidFill>
                    <a:latin typeface="Times New Roman" panose="02020603050405020304" pitchFamily="18" charset="0"/>
                    <a:ea typeface="宋体" panose="02010600030101010101" pitchFamily="2" charset="-122"/>
                  </a:rPr>
                  <a:t>x</a:t>
                </a:r>
                <a:r>
                  <a:rPr lang="en-US" altLang="zh-CN" sz="2000" b="1" i="1" baseline="-25000" dirty="0">
                    <a:solidFill>
                      <a:srgbClr val="008000"/>
                    </a:solidFill>
                    <a:latin typeface="Times New Roman" panose="02020603050405020304" pitchFamily="18" charset="0"/>
                    <a:ea typeface="宋体" panose="02010600030101010101" pitchFamily="2" charset="-122"/>
                  </a:rPr>
                  <a:t>2</a:t>
                </a:r>
                <a:endParaRPr lang="en-US" altLang="zh-CN" sz="2000" b="1" i="1" dirty="0">
                  <a:solidFill>
                    <a:srgbClr val="008000"/>
                  </a:solidFill>
                  <a:latin typeface="Times New Roman" panose="02020603050405020304" pitchFamily="18" charset="0"/>
                  <a:ea typeface="宋体" panose="02010600030101010101" pitchFamily="2" charset="-122"/>
                </a:endParaRPr>
              </a:p>
            </p:txBody>
          </p:sp>
        </p:grpSp>
        <p:sp>
          <p:nvSpPr>
            <p:cNvPr id="58377" name="Rectangle 21"/>
            <p:cNvSpPr/>
            <p:nvPr/>
          </p:nvSpPr>
          <p:spPr>
            <a:xfrm>
              <a:off x="3312" y="3744"/>
              <a:ext cx="192" cy="183"/>
            </a:xfrm>
            <a:prstGeom prst="rect">
              <a:avLst/>
            </a:prstGeom>
            <a:solidFill>
              <a:schemeClr val="bg1"/>
            </a:solidFill>
            <a:ln w="9525">
              <a:noFill/>
            </a:ln>
          </p:spPr>
          <p:txBody>
            <a:bodyPr wrap="none" anchor="ctr"/>
            <a:lstStyle/>
            <a:p>
              <a:pPr lvl="0" algn="ctr" eaLnBrk="1" hangingPunct="1"/>
              <a:r>
                <a:rPr lang="en-US" altLang="zh-CN" sz="2000" b="1" i="1" dirty="0">
                  <a:solidFill>
                    <a:schemeClr val="bg2"/>
                  </a:solidFill>
                  <a:latin typeface="Times New Roman" panose="02020603050405020304" pitchFamily="18" charset="0"/>
                  <a:ea typeface="宋体" panose="02010600030101010101" pitchFamily="2" charset="-122"/>
                </a:rPr>
                <a:t>A</a:t>
              </a:r>
            </a:p>
          </p:txBody>
        </p:sp>
        <p:sp>
          <p:nvSpPr>
            <p:cNvPr id="58378" name="Rectangle 22"/>
            <p:cNvSpPr/>
            <p:nvPr/>
          </p:nvSpPr>
          <p:spPr>
            <a:xfrm>
              <a:off x="5088" y="3744"/>
              <a:ext cx="192" cy="183"/>
            </a:xfrm>
            <a:prstGeom prst="rect">
              <a:avLst/>
            </a:prstGeom>
            <a:solidFill>
              <a:schemeClr val="bg1"/>
            </a:solidFill>
            <a:ln w="9525">
              <a:noFill/>
            </a:ln>
          </p:spPr>
          <p:txBody>
            <a:bodyPr wrap="none" anchor="ctr"/>
            <a:lstStyle/>
            <a:p>
              <a:pPr lvl="0" algn="ctr" eaLnBrk="1" hangingPunct="1"/>
              <a:r>
                <a:rPr lang="en-US" altLang="zh-CN" sz="2000" b="1" i="1" dirty="0">
                  <a:solidFill>
                    <a:schemeClr val="bg2"/>
                  </a:solidFill>
                  <a:latin typeface="Times New Roman" panose="02020603050405020304" pitchFamily="18" charset="0"/>
                  <a:ea typeface="宋体" panose="02010600030101010101" pitchFamily="2" charset="-122"/>
                </a:rPr>
                <a:t>B</a:t>
              </a:r>
            </a:p>
          </p:txBody>
        </p:sp>
      </p:grpSp>
      <p:pic>
        <p:nvPicPr>
          <p:cNvPr id="26" name="内容占位符 1" descr="新校徽（3M）弓之乐"/>
          <p:cNvPicPr>
            <a:picLocks noChangeAspect="1"/>
          </p:cNvPicPr>
          <p:nvPr/>
        </p:nvPicPr>
        <p:blipFill>
          <a:blip r:embed="rId3"/>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日期占位符 3"/>
          <p:cNvSpPr txBox="1">
            <a:spLocks noGrp="1"/>
          </p:cNvSpPr>
          <p:nvPr>
            <p:ph type="dt" sz="half" idx="10"/>
          </p:nvPr>
        </p:nvSpPr>
        <p:spPr>
          <a:xfrm>
            <a:off x="0" y="6560820"/>
            <a:ext cx="2301240" cy="297180"/>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028" name="灯片编号占位符 5"/>
          <p:cNvSpPr txBox="1">
            <a:spLocks noGrp="1"/>
          </p:cNvSpPr>
          <p:nvPr>
            <p:ph type="sldNum" sz="quarter" idx="12"/>
          </p:nvPr>
        </p:nvSpPr>
        <p:spPr>
          <a:xfrm>
            <a:off x="7885113" y="6605588"/>
            <a:ext cx="644525" cy="252412"/>
          </a:xfrm>
        </p:spPr>
        <p:txBody>
          <a:bodyPr lIns="92075" tIns="46038" rIns="92075" bIns="46038" anchor="ctr"/>
          <a:lstStyle/>
          <a:p>
            <a:pPr algn="r" eaLnBrk="1" hangingPunct="1"/>
            <a:fld id="{9A0DB2DC-4C9A-4742-B13C-FB6460FD3503}" type="slidenum">
              <a:rPr lang="en-US" altLang="zh-CN" sz="1400" dirty="0"/>
              <a:t>53</a:t>
            </a:fld>
            <a:endParaRPr lang="en-US" altLang="zh-CN" sz="1400" dirty="0"/>
          </a:p>
        </p:txBody>
      </p:sp>
      <p:sp>
        <p:nvSpPr>
          <p:cNvPr id="64514" name="Rectangle 2"/>
          <p:cNvSpPr>
            <a:spLocks noGrp="1"/>
          </p:cNvSpPr>
          <p:nvPr>
            <p:ph idx="1"/>
          </p:nvPr>
        </p:nvSpPr>
        <p:spPr>
          <a:xfrm>
            <a:off x="150084" y="2670501"/>
            <a:ext cx="4343400" cy="2133600"/>
          </a:xfrm>
        </p:spPr>
        <p:txBody>
          <a:bodyPr vert="horz" wrap="square" lIns="91440" tIns="45720" rIns="91440" bIns="45720" anchor="t"/>
          <a:lstStyle/>
          <a:p>
            <a:pPr eaLnBrk="1" hangingPunct="1">
              <a:lnSpc>
                <a:spcPct val="110000"/>
              </a:lnSpc>
            </a:pPr>
            <a:r>
              <a:rPr lang="zh-CN" altLang="en-US" sz="2800" b="1" dirty="0">
                <a:solidFill>
                  <a:schemeClr val="folHlink"/>
                </a:solidFill>
                <a:latin typeface="华文中宋" panose="02010600040101010101" pitchFamily="2" charset="-122"/>
                <a:ea typeface="华文中宋" panose="02010600040101010101" pitchFamily="2" charset="-122"/>
              </a:rPr>
              <a:t>则</a:t>
            </a:r>
            <a:r>
              <a:rPr lang="zh-CN" altLang="en-US" sz="2800" b="1" dirty="0">
                <a:latin typeface="华文中宋" panose="02010600040101010101" pitchFamily="2" charset="-122"/>
                <a:ea typeface="华文中宋" panose="02010600040101010101" pitchFamily="2" charset="-122"/>
              </a:rPr>
              <a:t>  </a:t>
            </a:r>
            <a:r>
              <a:rPr lang="en-US" altLang="zh-CN" sz="2800" b="1" i="1" dirty="0">
                <a:solidFill>
                  <a:schemeClr val="folHlink"/>
                </a:solidFill>
                <a:ea typeface="华文中宋" panose="02010600040101010101" pitchFamily="2" charset="-122"/>
              </a:rPr>
              <a:t>Q</a:t>
            </a:r>
            <a:r>
              <a:rPr lang="en-US" altLang="zh-CN" sz="2800" b="1" i="1" baseline="-25000" dirty="0">
                <a:solidFill>
                  <a:schemeClr val="folHlink"/>
                </a:solidFill>
                <a:ea typeface="华文中宋" panose="02010600040101010101" pitchFamily="2" charset="-122"/>
              </a:rPr>
              <a:t>L</a:t>
            </a:r>
            <a:r>
              <a:rPr lang="en-US" altLang="zh-CN" sz="2800" b="1" i="1" dirty="0">
                <a:solidFill>
                  <a:schemeClr val="folHlink"/>
                </a:solidFill>
                <a:ea typeface="华文中宋" panose="02010600040101010101" pitchFamily="2" charset="-122"/>
              </a:rPr>
              <a:t> </a:t>
            </a:r>
            <a:r>
              <a:rPr lang="en-US" altLang="zh-CN" sz="2800" b="1" dirty="0">
                <a:solidFill>
                  <a:schemeClr val="folHlink"/>
                </a:solidFill>
                <a:ea typeface="华文中宋" panose="02010600040101010101" pitchFamily="2" charset="-122"/>
              </a:rPr>
              <a:t>+ </a:t>
            </a:r>
            <a:r>
              <a:rPr lang="en-US" altLang="zh-CN" sz="2800" b="1" i="1" dirty="0">
                <a:solidFill>
                  <a:schemeClr val="folHlink"/>
                </a:solidFill>
                <a:ea typeface="华文中宋" panose="02010600040101010101" pitchFamily="2" charset="-122"/>
              </a:rPr>
              <a:t>Q</a:t>
            </a:r>
            <a:r>
              <a:rPr lang="en-US" altLang="zh-CN" sz="2800" b="1" i="1" baseline="-25000" dirty="0">
                <a:solidFill>
                  <a:schemeClr val="folHlink"/>
                </a:solidFill>
                <a:ea typeface="华文中宋" panose="02010600040101010101" pitchFamily="2" charset="-122"/>
                <a:sym typeface="Symbol" panose="05050102010706020507" pitchFamily="18" charset="2"/>
              </a:rPr>
              <a:t></a:t>
            </a:r>
            <a:r>
              <a:rPr lang="en-US" altLang="zh-CN" sz="2800" b="1" dirty="0">
                <a:solidFill>
                  <a:schemeClr val="folHlink"/>
                </a:solidFill>
                <a:ea typeface="华文中宋" panose="02010600040101010101" pitchFamily="2" charset="-122"/>
              </a:rPr>
              <a:t> =1</a:t>
            </a:r>
          </a:p>
          <a:p>
            <a:pPr eaLnBrk="1" hangingPunct="1">
              <a:lnSpc>
                <a:spcPct val="110000"/>
              </a:lnSpc>
              <a:buNone/>
            </a:pPr>
            <a:r>
              <a:rPr lang="en-US" altLang="zh-CN" sz="2800" b="1" dirty="0">
                <a:solidFill>
                  <a:schemeClr val="folHlink"/>
                </a:solidFill>
                <a:ea typeface="华文中宋" panose="02010600040101010101" pitchFamily="2" charset="-122"/>
              </a:rPr>
              <a:t>          </a:t>
            </a:r>
            <a:r>
              <a:rPr lang="en-US" altLang="zh-CN" sz="2800" b="1" i="1" dirty="0">
                <a:solidFill>
                  <a:schemeClr val="folHlink"/>
                </a:solidFill>
                <a:ea typeface="华文中宋" panose="02010600040101010101" pitchFamily="2" charset="-122"/>
              </a:rPr>
              <a:t>Q</a:t>
            </a:r>
            <a:r>
              <a:rPr lang="en-US" altLang="zh-CN" sz="2800" b="1" i="1" baseline="-25000" dirty="0">
                <a:solidFill>
                  <a:schemeClr val="folHlink"/>
                </a:solidFill>
                <a:ea typeface="华文中宋" panose="02010600040101010101" pitchFamily="2" charset="-122"/>
              </a:rPr>
              <a:t>L</a:t>
            </a:r>
            <a:r>
              <a:rPr lang="en-US" altLang="zh-CN" sz="2800" b="1" baseline="-25000" dirty="0">
                <a:solidFill>
                  <a:schemeClr val="folHlink"/>
                </a:solidFill>
                <a:ea typeface="华文中宋" panose="02010600040101010101" pitchFamily="2" charset="-122"/>
              </a:rPr>
              <a:t> </a:t>
            </a:r>
            <a:r>
              <a:rPr lang="en-US" altLang="zh-CN" sz="2800" b="1" i="1" dirty="0">
                <a:solidFill>
                  <a:schemeClr val="folHlink"/>
                </a:solidFill>
                <a:ea typeface="华文中宋" panose="02010600040101010101" pitchFamily="2" charset="-122"/>
              </a:rPr>
              <a:t>x</a:t>
            </a:r>
            <a:r>
              <a:rPr lang="en-US" altLang="zh-CN" sz="2800" b="1" baseline="-25000" dirty="0">
                <a:solidFill>
                  <a:schemeClr val="folHlink"/>
                </a:solidFill>
                <a:ea typeface="华文中宋" panose="02010600040101010101" pitchFamily="2" charset="-122"/>
              </a:rPr>
              <a:t>1</a:t>
            </a:r>
            <a:r>
              <a:rPr lang="en-US" altLang="zh-CN" sz="2800" b="1" dirty="0">
                <a:solidFill>
                  <a:schemeClr val="folHlink"/>
                </a:solidFill>
                <a:ea typeface="华文中宋" panose="02010600040101010101" pitchFamily="2" charset="-122"/>
              </a:rPr>
              <a:t> + </a:t>
            </a:r>
            <a:r>
              <a:rPr lang="en-US" altLang="zh-CN" sz="2800" b="1" i="1" dirty="0">
                <a:solidFill>
                  <a:schemeClr val="folHlink"/>
                </a:solidFill>
                <a:ea typeface="华文中宋" panose="02010600040101010101" pitchFamily="2" charset="-122"/>
              </a:rPr>
              <a:t>Q</a:t>
            </a:r>
            <a:r>
              <a:rPr lang="en-US" altLang="zh-CN" sz="2800" b="1" i="1" baseline="-25000" dirty="0">
                <a:solidFill>
                  <a:schemeClr val="folHlink"/>
                </a:solidFill>
                <a:ea typeface="华文中宋" panose="02010600040101010101" pitchFamily="2" charset="-122"/>
                <a:sym typeface="Symbol" panose="05050102010706020507" pitchFamily="18" charset="2"/>
              </a:rPr>
              <a:t></a:t>
            </a:r>
            <a:r>
              <a:rPr lang="en-US" altLang="zh-CN" sz="2800" b="1" dirty="0">
                <a:solidFill>
                  <a:schemeClr val="folHlink"/>
                </a:solidFill>
                <a:ea typeface="华文中宋" panose="02010600040101010101" pitchFamily="2" charset="-122"/>
              </a:rPr>
              <a:t> </a:t>
            </a:r>
            <a:r>
              <a:rPr lang="en-US" altLang="zh-CN" sz="2800" b="1" i="1" dirty="0">
                <a:solidFill>
                  <a:schemeClr val="folHlink"/>
                </a:solidFill>
                <a:ea typeface="华文中宋" panose="02010600040101010101" pitchFamily="2" charset="-122"/>
              </a:rPr>
              <a:t>x</a:t>
            </a:r>
            <a:r>
              <a:rPr lang="en-US" altLang="zh-CN" sz="2800" b="1" baseline="-25000" dirty="0">
                <a:solidFill>
                  <a:schemeClr val="folHlink"/>
                </a:solidFill>
                <a:ea typeface="华文中宋" panose="02010600040101010101" pitchFamily="2" charset="-122"/>
                <a:sym typeface="Symbol" panose="05050102010706020507" pitchFamily="18" charset="2"/>
              </a:rPr>
              <a:t>2</a:t>
            </a:r>
            <a:r>
              <a:rPr lang="en-US" altLang="zh-CN" sz="2800" b="1" dirty="0">
                <a:solidFill>
                  <a:schemeClr val="folHlink"/>
                </a:solidFill>
                <a:ea typeface="华文中宋" panose="02010600040101010101" pitchFamily="2" charset="-122"/>
              </a:rPr>
              <a:t>=</a:t>
            </a:r>
            <a:r>
              <a:rPr lang="en-US" altLang="zh-CN" sz="2800" b="1" i="1" dirty="0">
                <a:solidFill>
                  <a:schemeClr val="folHlink"/>
                </a:solidFill>
                <a:ea typeface="华文中宋" panose="02010600040101010101" pitchFamily="2" charset="-122"/>
              </a:rPr>
              <a:t>x</a:t>
            </a:r>
          </a:p>
          <a:p>
            <a:pPr eaLnBrk="1" hangingPunct="1">
              <a:lnSpc>
                <a:spcPct val="110000"/>
              </a:lnSpc>
              <a:buNone/>
            </a:pPr>
            <a:r>
              <a:rPr lang="en-US" altLang="zh-CN" sz="2800" b="1" dirty="0">
                <a:solidFill>
                  <a:schemeClr val="folHlink"/>
                </a:solidFill>
                <a:ea typeface="华文中宋" panose="02010600040101010101" pitchFamily="2" charset="-122"/>
              </a:rPr>
              <a:t>    </a:t>
            </a:r>
            <a:r>
              <a:rPr lang="zh-CN" altLang="en-US" sz="2800" b="1" dirty="0">
                <a:solidFill>
                  <a:schemeClr val="folHlink"/>
                </a:solidFill>
                <a:ea typeface="华文中宋" panose="02010600040101010101" pitchFamily="2" charset="-122"/>
              </a:rPr>
              <a:t>解方程组得</a:t>
            </a:r>
          </a:p>
        </p:txBody>
      </p:sp>
      <mc:AlternateContent xmlns:mc="http://schemas.openxmlformats.org/markup-compatibility/2006" xmlns:a14="http://schemas.microsoft.com/office/drawing/2010/main">
        <mc:Choice Requires="a14">
          <p:sp>
            <p:nvSpPr>
              <p:cNvPr id="64515" name="Object 3"/>
              <p:cNvSpPr txBox="1"/>
              <p:nvPr/>
            </p:nvSpPr>
            <p:spPr>
              <a:xfrm>
                <a:off x="3268663" y="3856038"/>
                <a:ext cx="2449512" cy="1447800"/>
              </a:xfrm>
              <a:prstGeom prst="rect">
                <a:avLst/>
              </a:prstGeom>
              <a:solidFill>
                <a:schemeClr val="accent2">
                  <a:alpha val="70000"/>
                </a:schemeClr>
              </a:solidFill>
              <a:ln w="38100">
                <a:noFill/>
                <a:miter/>
              </a:ln>
            </p:spPr>
            <p:txBody>
              <a:bodyPr>
                <a:normAutofit fontScale="92500"/>
              </a:bodyPr>
              <a:lstStyle/>
              <a:p>
                <a:pPr/>
                <a14:m>
                  <m:oMathPara xmlns:m="http://schemas.openxmlformats.org/officeDocument/2006/math">
                    <m:oMathParaPr>
                      <m:jc m:val="left"/>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𝑄</m:t>
                          </m:r>
                        </m:e>
                        <m:sub>
                          <m:r>
                            <a:rPr lang="zh-CN" altLang="en-US" sz="2400" i="1">
                              <a:solidFill>
                                <a:srgbClr val="000000"/>
                              </a:solidFill>
                              <a:latin typeface="Cambria Math" panose="02040503050406030204" pitchFamily="18" charset="0"/>
                            </a:rPr>
                            <m:t>𝐿</m:t>
                          </m:r>
                        </m:sub>
                      </m:sSub>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2</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num>
                        <m:den>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2</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1</m:t>
                              </m:r>
                            </m:sub>
                          </m:sSub>
                        </m:den>
                      </m:f>
                    </m:oMath>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𝑄</m:t>
                          </m:r>
                        </m:e>
                        <m:sub>
                          <m:r>
                            <m:rPr>
                              <m:sty m:val="p"/>
                            </m:rPr>
                            <a:rPr lang="zh-CN" altLang="en-US" sz="2400" i="1">
                              <a:solidFill>
                                <a:srgbClr val="000000"/>
                              </a:solidFill>
                              <a:latin typeface="Cambria Math" panose="02040503050406030204" pitchFamily="18" charset="0"/>
                            </a:rPr>
                            <m:t>α</m:t>
                          </m:r>
                        </m:sub>
                      </m:sSub>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1</m:t>
                              </m:r>
                            </m:sub>
                          </m:sSub>
                        </m:num>
                        <m:den>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2</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1</m:t>
                              </m:r>
                            </m:sub>
                          </m:sSub>
                        </m:den>
                      </m:f>
                    </m:oMath>
                  </m:oMathPara>
                </a14:m>
                <a:endParaRPr lang="zh-CN" altLang="en-US" sz="2400" dirty="0"/>
              </a:p>
            </p:txBody>
          </p:sp>
        </mc:Choice>
        <mc:Fallback xmlns="">
          <p:sp>
            <p:nvSpPr>
              <p:cNvPr id="64515" name="Object 3"/>
              <p:cNvSpPr txBox="1">
                <a:spLocks noRot="1" noChangeAspect="1" noMove="1" noResize="1" noEditPoints="1" noAdjustHandles="1" noChangeArrowheads="1" noChangeShapeType="1" noTextEdit="1"/>
              </p:cNvSpPr>
              <p:nvPr/>
            </p:nvSpPr>
            <p:spPr>
              <a:xfrm>
                <a:off x="3268663" y="3856038"/>
                <a:ext cx="2449512" cy="1447800"/>
              </a:xfrm>
              <a:prstGeom prst="rect">
                <a:avLst/>
              </a:prstGeom>
              <a:blipFill rotWithShape="1">
                <a:blip r:embed="rId2"/>
                <a:stretch>
                  <a:fillRect l="-13" t="-22" b="22"/>
                </a:stretch>
              </a:blipFill>
              <a:ln w="38100">
                <a:noFill/>
                <a:miter/>
              </a:ln>
            </p:spPr>
            <p:txBody>
              <a:bodyPr/>
              <a:lstStyle/>
              <a:p>
                <a:r>
                  <a:rPr lang="zh-CN" altLang="en-US">
                    <a:noFill/>
                  </a:rPr>
                  <a:t> </a:t>
                </a:r>
              </a:p>
            </p:txBody>
          </p:sp>
        </mc:Fallback>
      </mc:AlternateContent>
      <p:pic>
        <p:nvPicPr>
          <p:cNvPr id="64516" name="Picture 4" descr="杠杆定律"/>
          <p:cNvPicPr>
            <a:picLocks noChangeAspect="1"/>
          </p:cNvPicPr>
          <p:nvPr/>
        </p:nvPicPr>
        <p:blipFill>
          <a:blip r:embed="rId3"/>
          <a:stretch>
            <a:fillRect/>
          </a:stretch>
        </p:blipFill>
        <p:spPr>
          <a:xfrm>
            <a:off x="6237675" y="2662421"/>
            <a:ext cx="2881534" cy="2385814"/>
          </a:xfrm>
          <a:prstGeom prst="rect">
            <a:avLst/>
          </a:prstGeom>
          <a:noFill/>
          <a:ln w="38100">
            <a:noFill/>
          </a:ln>
        </p:spPr>
      </p:pic>
      <p:sp>
        <p:nvSpPr>
          <p:cNvPr id="64517" name="Rectangle 5"/>
          <p:cNvSpPr/>
          <p:nvPr/>
        </p:nvSpPr>
        <p:spPr>
          <a:xfrm>
            <a:off x="385657" y="5488755"/>
            <a:ext cx="8534400" cy="1096985"/>
          </a:xfrm>
          <a:prstGeom prst="rect">
            <a:avLst/>
          </a:prstGeom>
          <a:noFill/>
          <a:ln w="9525">
            <a:noFill/>
          </a:ln>
        </p:spPr>
        <p:txBody>
          <a:bodyPr/>
          <a:lstStyle/>
          <a:p>
            <a:pPr marL="342900" lvl="0" indent="-342900" eaLnBrk="1" hangingPunct="1">
              <a:lnSpc>
                <a:spcPct val="110000"/>
              </a:lnSpc>
              <a:spcBef>
                <a:spcPct val="20000"/>
              </a:spcBef>
              <a:buClr>
                <a:schemeClr val="accent2"/>
              </a:buClr>
              <a:buSzPct val="80000"/>
              <a:buFont typeface="Wingdings" panose="05000000000000000000" pitchFamily="2" charset="2"/>
              <a:buChar char="l"/>
            </a:pPr>
            <a:r>
              <a:rPr lang="zh-CN" altLang="en-US" sz="2800" b="1" dirty="0">
                <a:latin typeface="Times New Roman" panose="02020603050405020304" pitchFamily="18" charset="0"/>
                <a:ea typeface="华文中宋" panose="02010600040101010101" pitchFamily="2" charset="-122"/>
              </a:rPr>
              <a:t>式中的</a:t>
            </a:r>
            <a:r>
              <a:rPr lang="en-US" altLang="zh-CN" sz="2800" b="1" i="1" dirty="0">
                <a:solidFill>
                  <a:schemeClr val="folHlink"/>
                </a:solidFill>
                <a:latin typeface="Times New Roman" panose="02020603050405020304" pitchFamily="18" charset="0"/>
                <a:ea typeface="华文中宋" panose="02010600040101010101" pitchFamily="2" charset="-122"/>
              </a:rPr>
              <a:t>x</a:t>
            </a:r>
            <a:r>
              <a:rPr lang="en-US" altLang="zh-CN" sz="2800" b="1" baseline="-25000" dirty="0">
                <a:solidFill>
                  <a:schemeClr val="folHlink"/>
                </a:solidFill>
                <a:latin typeface="Times New Roman" panose="02020603050405020304" pitchFamily="18" charset="0"/>
                <a:ea typeface="华文中宋" panose="02010600040101010101" pitchFamily="2" charset="-122"/>
                <a:sym typeface="Symbol" panose="05050102010706020507" pitchFamily="18" charset="2"/>
              </a:rPr>
              <a:t>2</a:t>
            </a:r>
            <a:r>
              <a:rPr lang="en-US" altLang="zh-CN" sz="2800" b="1" dirty="0">
                <a:solidFill>
                  <a:schemeClr val="folHlink"/>
                </a:solidFill>
                <a:latin typeface="Times New Roman" panose="02020603050405020304" pitchFamily="18" charset="0"/>
                <a:ea typeface="华文中宋" panose="02010600040101010101" pitchFamily="2" charset="-122"/>
              </a:rPr>
              <a:t>-</a:t>
            </a:r>
            <a:r>
              <a:rPr lang="en-US" altLang="zh-CN" sz="2800" b="1" i="1" dirty="0">
                <a:solidFill>
                  <a:schemeClr val="folHlink"/>
                </a:solidFill>
                <a:latin typeface="Times New Roman" panose="02020603050405020304" pitchFamily="18" charset="0"/>
                <a:ea typeface="华文中宋" panose="02010600040101010101" pitchFamily="2" charset="-122"/>
              </a:rPr>
              <a:t>x</a:t>
            </a:r>
            <a:r>
              <a:rPr lang="zh-CN" altLang="en-US" sz="2800" b="1" dirty="0">
                <a:latin typeface="Times New Roman" panose="02020603050405020304" pitchFamily="18" charset="0"/>
                <a:ea typeface="华文中宋" panose="02010600040101010101" pitchFamily="2" charset="-122"/>
              </a:rPr>
              <a:t>、</a:t>
            </a:r>
            <a:r>
              <a:rPr lang="en-US" altLang="zh-CN" sz="2800" b="1" i="1" dirty="0">
                <a:solidFill>
                  <a:schemeClr val="folHlink"/>
                </a:solidFill>
                <a:latin typeface="Times New Roman" panose="02020603050405020304" pitchFamily="18" charset="0"/>
                <a:ea typeface="华文中宋" panose="02010600040101010101" pitchFamily="2" charset="-122"/>
              </a:rPr>
              <a:t>x</a:t>
            </a:r>
            <a:r>
              <a:rPr lang="en-US" altLang="zh-CN" sz="2800" b="1" baseline="-25000" dirty="0">
                <a:solidFill>
                  <a:schemeClr val="folHlink"/>
                </a:solidFill>
                <a:latin typeface="Times New Roman" panose="02020603050405020304" pitchFamily="18" charset="0"/>
                <a:ea typeface="华文中宋" panose="02010600040101010101" pitchFamily="2" charset="-122"/>
                <a:sym typeface="Symbol" panose="05050102010706020507" pitchFamily="18" charset="2"/>
              </a:rPr>
              <a:t>2</a:t>
            </a:r>
            <a:r>
              <a:rPr lang="en-US" altLang="zh-CN" sz="2800" b="1" dirty="0">
                <a:solidFill>
                  <a:schemeClr val="folHlink"/>
                </a:solidFill>
                <a:latin typeface="Times New Roman" panose="02020603050405020304" pitchFamily="18" charset="0"/>
                <a:ea typeface="华文中宋" panose="02010600040101010101" pitchFamily="2" charset="-122"/>
              </a:rPr>
              <a:t>-</a:t>
            </a:r>
            <a:r>
              <a:rPr lang="en-US" altLang="zh-CN" sz="2800" b="1" i="1" dirty="0">
                <a:solidFill>
                  <a:schemeClr val="folHlink"/>
                </a:solidFill>
                <a:latin typeface="Times New Roman" panose="02020603050405020304" pitchFamily="18" charset="0"/>
                <a:ea typeface="华文中宋" panose="02010600040101010101" pitchFamily="2" charset="-122"/>
              </a:rPr>
              <a:t>x</a:t>
            </a:r>
            <a:r>
              <a:rPr lang="en-US" altLang="zh-CN" sz="2800" b="1" baseline="-25000" dirty="0">
                <a:solidFill>
                  <a:schemeClr val="folHlink"/>
                </a:solidFill>
                <a:latin typeface="Times New Roman" panose="02020603050405020304" pitchFamily="18" charset="0"/>
                <a:ea typeface="华文中宋" panose="02010600040101010101" pitchFamily="2" charset="-122"/>
                <a:sym typeface="Symbol" panose="05050102010706020507" pitchFamily="18" charset="2"/>
              </a:rPr>
              <a:t>1</a:t>
            </a:r>
            <a:r>
              <a:rPr lang="zh-CN" altLang="en-US" sz="2800" b="1" dirty="0">
                <a:latin typeface="Times New Roman" panose="02020603050405020304" pitchFamily="18" charset="0"/>
                <a:ea typeface="华文中宋" panose="02010600040101010101" pitchFamily="2" charset="-122"/>
              </a:rPr>
              <a:t>、</a:t>
            </a:r>
            <a:r>
              <a:rPr lang="en-US" altLang="zh-CN" sz="2800" b="1" i="1" dirty="0">
                <a:solidFill>
                  <a:schemeClr val="folHlink"/>
                </a:solidFill>
                <a:latin typeface="Times New Roman" panose="02020603050405020304" pitchFamily="18" charset="0"/>
                <a:ea typeface="华文中宋" panose="02010600040101010101" pitchFamily="2" charset="-122"/>
              </a:rPr>
              <a:t>x</a:t>
            </a:r>
            <a:r>
              <a:rPr lang="en-US" altLang="zh-CN" sz="2800" b="1" dirty="0">
                <a:solidFill>
                  <a:schemeClr val="folHlink"/>
                </a:solidFill>
                <a:latin typeface="Times New Roman" panose="02020603050405020304" pitchFamily="18" charset="0"/>
                <a:ea typeface="华文中宋" panose="02010600040101010101" pitchFamily="2" charset="-122"/>
              </a:rPr>
              <a:t>-</a:t>
            </a:r>
            <a:r>
              <a:rPr lang="en-US" altLang="zh-CN" sz="2800" b="1" i="1" dirty="0">
                <a:solidFill>
                  <a:schemeClr val="folHlink"/>
                </a:solidFill>
                <a:latin typeface="Times New Roman" panose="02020603050405020304" pitchFamily="18" charset="0"/>
                <a:ea typeface="华文中宋" panose="02010600040101010101" pitchFamily="2" charset="-122"/>
              </a:rPr>
              <a:t>x</a:t>
            </a:r>
            <a:r>
              <a:rPr lang="en-US" altLang="zh-CN" sz="2800" b="1" baseline="-25000" dirty="0">
                <a:solidFill>
                  <a:schemeClr val="folHlink"/>
                </a:solidFill>
                <a:latin typeface="Times New Roman" panose="02020603050405020304" pitchFamily="18" charset="0"/>
                <a:ea typeface="华文中宋" panose="02010600040101010101" pitchFamily="2" charset="-122"/>
                <a:sym typeface="Symbol" panose="05050102010706020507" pitchFamily="18" charset="2"/>
              </a:rPr>
              <a:t>1</a:t>
            </a:r>
            <a:r>
              <a:rPr lang="zh-CN" altLang="en-US" sz="2800" b="1" dirty="0">
                <a:latin typeface="Times New Roman" panose="02020603050405020304" pitchFamily="18" charset="0"/>
                <a:ea typeface="华文中宋" panose="02010600040101010101" pitchFamily="2" charset="-122"/>
              </a:rPr>
              <a:t>即为相图中线段</a:t>
            </a:r>
            <a:r>
              <a:rPr lang="en-US" altLang="zh-CN" sz="2800" b="1" i="1" dirty="0">
                <a:solidFill>
                  <a:schemeClr val="folHlink"/>
                </a:solidFill>
                <a:latin typeface="Times New Roman" panose="02020603050405020304" pitchFamily="18" charset="0"/>
                <a:ea typeface="华文中宋" panose="02010600040101010101" pitchFamily="2" charset="-122"/>
              </a:rPr>
              <a:t>xx</a:t>
            </a:r>
            <a:r>
              <a:rPr lang="en-US" altLang="zh-CN" sz="2800" b="1" baseline="-25000" dirty="0">
                <a:solidFill>
                  <a:schemeClr val="folHlink"/>
                </a:solidFill>
                <a:latin typeface="Times New Roman" panose="02020603050405020304" pitchFamily="18" charset="0"/>
                <a:ea typeface="华文中宋" panose="02010600040101010101" pitchFamily="2" charset="-122"/>
                <a:sym typeface="Symbol" panose="05050102010706020507" pitchFamily="18" charset="2"/>
              </a:rPr>
              <a:t>2</a:t>
            </a:r>
            <a:r>
              <a:rPr lang="en-US" altLang="zh-CN" sz="2800" b="1" dirty="0">
                <a:latin typeface="Times New Roman" panose="02020603050405020304" pitchFamily="18" charset="0"/>
                <a:ea typeface="华文中宋" panose="02010600040101010101" pitchFamily="2" charset="-122"/>
              </a:rPr>
              <a:t> (</a:t>
            </a:r>
            <a:r>
              <a:rPr lang="en-US" altLang="zh-CN" sz="2800" b="1" i="1" dirty="0">
                <a:solidFill>
                  <a:schemeClr val="folHlink"/>
                </a:solidFill>
                <a:latin typeface="Times New Roman" panose="02020603050405020304" pitchFamily="18" charset="0"/>
                <a:ea typeface="华文中宋" panose="02010600040101010101" pitchFamily="2" charset="-122"/>
              </a:rPr>
              <a:t>ob</a:t>
            </a:r>
            <a:r>
              <a:rPr lang="en-US" altLang="zh-CN" sz="2800" b="1" dirty="0">
                <a:latin typeface="Times New Roman" panose="02020603050405020304" pitchFamily="18" charset="0"/>
                <a:ea typeface="华文中宋" panose="02010600040101010101" pitchFamily="2" charset="-122"/>
              </a:rPr>
              <a:t>)</a:t>
            </a:r>
            <a:r>
              <a:rPr lang="zh-CN" altLang="en-US" sz="2800" b="1" dirty="0">
                <a:latin typeface="Times New Roman" panose="02020603050405020304" pitchFamily="18" charset="0"/>
                <a:ea typeface="华文中宋" panose="02010600040101010101" pitchFamily="2" charset="-122"/>
              </a:rPr>
              <a:t>、</a:t>
            </a:r>
            <a:r>
              <a:rPr lang="en-US" altLang="zh-CN" sz="2800" b="1" i="1" dirty="0">
                <a:solidFill>
                  <a:schemeClr val="folHlink"/>
                </a:solidFill>
                <a:latin typeface="Times New Roman" panose="02020603050405020304" pitchFamily="18" charset="0"/>
                <a:ea typeface="华文中宋" panose="02010600040101010101" pitchFamily="2" charset="-122"/>
              </a:rPr>
              <a:t>x</a:t>
            </a:r>
            <a:r>
              <a:rPr lang="en-US" altLang="zh-CN" sz="2800" b="1" baseline="-25000" dirty="0">
                <a:solidFill>
                  <a:schemeClr val="folHlink"/>
                </a:solidFill>
                <a:latin typeface="Times New Roman" panose="02020603050405020304" pitchFamily="18" charset="0"/>
                <a:ea typeface="华文中宋" panose="02010600040101010101" pitchFamily="2" charset="-122"/>
                <a:sym typeface="Symbol" panose="05050102010706020507" pitchFamily="18" charset="2"/>
              </a:rPr>
              <a:t>1</a:t>
            </a:r>
            <a:r>
              <a:rPr lang="en-US" altLang="zh-CN" sz="2800" b="1" i="1" dirty="0">
                <a:solidFill>
                  <a:schemeClr val="folHlink"/>
                </a:solidFill>
                <a:latin typeface="Times New Roman" panose="02020603050405020304" pitchFamily="18" charset="0"/>
                <a:ea typeface="华文中宋" panose="02010600040101010101" pitchFamily="2" charset="-122"/>
              </a:rPr>
              <a:t>x</a:t>
            </a:r>
            <a:r>
              <a:rPr lang="en-US" altLang="zh-CN" sz="2800" b="1" baseline="-25000" dirty="0">
                <a:solidFill>
                  <a:schemeClr val="folHlink"/>
                </a:solidFill>
                <a:latin typeface="Times New Roman" panose="02020603050405020304" pitchFamily="18" charset="0"/>
                <a:ea typeface="华文中宋" panose="02010600040101010101" pitchFamily="2" charset="-122"/>
                <a:sym typeface="Symbol" panose="05050102010706020507" pitchFamily="18" charset="2"/>
              </a:rPr>
              <a:t>2</a:t>
            </a:r>
            <a:r>
              <a:rPr lang="en-US" altLang="zh-CN" sz="2800" b="1" dirty="0">
                <a:latin typeface="Times New Roman" panose="02020603050405020304" pitchFamily="18" charset="0"/>
                <a:ea typeface="华文中宋" panose="02010600040101010101" pitchFamily="2" charset="-122"/>
              </a:rPr>
              <a:t> (</a:t>
            </a:r>
            <a:r>
              <a:rPr lang="en-US" altLang="zh-CN" sz="2800" b="1" i="1" dirty="0">
                <a:solidFill>
                  <a:schemeClr val="folHlink"/>
                </a:solidFill>
                <a:latin typeface="Times New Roman" panose="02020603050405020304" pitchFamily="18" charset="0"/>
                <a:ea typeface="华文中宋" panose="02010600040101010101" pitchFamily="2" charset="-122"/>
              </a:rPr>
              <a:t>ab</a:t>
            </a:r>
            <a:r>
              <a:rPr lang="en-US" altLang="zh-CN" sz="2800" b="1" dirty="0">
                <a:latin typeface="Times New Roman" panose="02020603050405020304" pitchFamily="18" charset="0"/>
                <a:ea typeface="华文中宋" panose="02010600040101010101" pitchFamily="2" charset="-122"/>
              </a:rPr>
              <a:t>)</a:t>
            </a:r>
            <a:r>
              <a:rPr lang="zh-CN" altLang="en-US" sz="2800" b="1" dirty="0">
                <a:latin typeface="Times New Roman" panose="02020603050405020304" pitchFamily="18" charset="0"/>
                <a:ea typeface="华文中宋" panose="02010600040101010101" pitchFamily="2" charset="-122"/>
              </a:rPr>
              <a:t>、  </a:t>
            </a:r>
            <a:r>
              <a:rPr lang="en-US" altLang="zh-CN" sz="2800" b="1" i="1" dirty="0">
                <a:solidFill>
                  <a:schemeClr val="folHlink"/>
                </a:solidFill>
                <a:latin typeface="Times New Roman" panose="02020603050405020304" pitchFamily="18" charset="0"/>
                <a:ea typeface="华文中宋" panose="02010600040101010101" pitchFamily="2" charset="-122"/>
              </a:rPr>
              <a:t>x</a:t>
            </a:r>
            <a:r>
              <a:rPr lang="en-US" altLang="zh-CN" sz="2800" b="1" baseline="-25000" dirty="0">
                <a:solidFill>
                  <a:schemeClr val="folHlink"/>
                </a:solidFill>
                <a:latin typeface="Times New Roman" panose="02020603050405020304" pitchFamily="18" charset="0"/>
                <a:ea typeface="华文中宋" panose="02010600040101010101" pitchFamily="2" charset="-122"/>
                <a:sym typeface="Symbol" panose="05050102010706020507" pitchFamily="18" charset="2"/>
              </a:rPr>
              <a:t>1</a:t>
            </a:r>
            <a:r>
              <a:rPr lang="en-US" altLang="zh-CN" sz="2800" b="1" i="1" dirty="0">
                <a:solidFill>
                  <a:schemeClr val="folHlink"/>
                </a:solidFill>
                <a:latin typeface="Times New Roman" panose="02020603050405020304" pitchFamily="18" charset="0"/>
                <a:ea typeface="华文中宋" panose="02010600040101010101" pitchFamily="2" charset="-122"/>
              </a:rPr>
              <a:t>x</a:t>
            </a:r>
            <a:r>
              <a:rPr lang="en-US" altLang="zh-CN" sz="2800" b="1" dirty="0">
                <a:latin typeface="Times New Roman" panose="02020603050405020304" pitchFamily="18" charset="0"/>
                <a:ea typeface="华文中宋" panose="02010600040101010101" pitchFamily="2" charset="-122"/>
              </a:rPr>
              <a:t>(</a:t>
            </a:r>
            <a:r>
              <a:rPr lang="en-US" altLang="zh-CN" sz="2800" b="1" i="1" dirty="0">
                <a:solidFill>
                  <a:schemeClr val="folHlink"/>
                </a:solidFill>
                <a:latin typeface="Times New Roman" panose="02020603050405020304" pitchFamily="18" charset="0"/>
                <a:ea typeface="华文中宋" panose="02010600040101010101" pitchFamily="2" charset="-122"/>
              </a:rPr>
              <a:t>ao</a:t>
            </a:r>
            <a:r>
              <a:rPr lang="en-US" altLang="zh-CN" sz="2800" b="1" dirty="0">
                <a:latin typeface="Times New Roman" panose="02020603050405020304" pitchFamily="18" charset="0"/>
                <a:ea typeface="华文中宋" panose="02010600040101010101" pitchFamily="2" charset="-122"/>
              </a:rPr>
              <a:t>)</a:t>
            </a:r>
            <a:r>
              <a:rPr lang="zh-CN" altLang="en-US" sz="2800" b="1" dirty="0">
                <a:latin typeface="Times New Roman" panose="02020603050405020304" pitchFamily="18" charset="0"/>
                <a:ea typeface="华文中宋" panose="02010600040101010101" pitchFamily="2" charset="-122"/>
              </a:rPr>
              <a:t>的长度。</a:t>
            </a:r>
            <a:endParaRPr lang="zh-CN" altLang="en-US" sz="2800" b="1" dirty="0">
              <a:solidFill>
                <a:schemeClr val="tx2"/>
              </a:solidFill>
              <a:latin typeface="Times New Roman" panose="02020603050405020304" pitchFamily="18" charset="0"/>
              <a:ea typeface="华文中宋" panose="02010600040101010101" pitchFamily="2" charset="-122"/>
            </a:endParaRPr>
          </a:p>
        </p:txBody>
      </p:sp>
      <p:sp>
        <p:nvSpPr>
          <p:cNvPr id="64518" name="Rectangle 6"/>
          <p:cNvSpPr>
            <a:spLocks noChangeArrowheads="1"/>
          </p:cNvSpPr>
          <p:nvPr/>
        </p:nvSpPr>
        <p:spPr bwMode="auto">
          <a:xfrm>
            <a:off x="721995" y="1700808"/>
            <a:ext cx="8460105" cy="4738092"/>
          </a:xfrm>
          <a:prstGeom prst="rect">
            <a:avLst/>
          </a:prstGeom>
          <a:noFill/>
          <a:ln w="9525">
            <a:noFill/>
            <a:miter lim="800000"/>
          </a:ln>
        </p:spPr>
        <p:txBody>
          <a:bodyPr/>
          <a:lstStyle/>
          <a:p>
            <a:pPr marL="342900" marR="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a:pPr>
            <a:r>
              <a:rPr kumimoji="1" lang="en-US" altLang="zh-CN" sz="2800" b="1" i="0" u="none" strike="noStrike" kern="1200" cap="none" spc="0" normalizeH="0" baseline="0" noProof="0" dirty="0">
                <a:ln>
                  <a:noFill/>
                </a:ln>
                <a:solidFill>
                  <a:srgbClr val="0000FF"/>
                </a:solidFill>
                <a:effectLst/>
                <a:uLnTx/>
                <a:uFillTx/>
                <a:latin typeface="+mn-lt"/>
                <a:ea typeface="华文中宋" panose="02010600040101010101" pitchFamily="2" charset="-122"/>
                <a:cs typeface="+mn-cs"/>
              </a:rPr>
              <a:t>② </a:t>
            </a:r>
            <a:r>
              <a:rPr kumimoji="1" lang="zh-CN" altLang="en-US" sz="2800" b="1" i="0" u="none" strike="noStrike" kern="1200" cap="none" spc="0" normalizeH="0" baseline="0" noProof="0" dirty="0">
                <a:ln>
                  <a:noFill/>
                </a:ln>
                <a:solidFill>
                  <a:srgbClr val="0000FF"/>
                </a:solidFill>
                <a:effectLst/>
                <a:uLnTx/>
                <a:uFillTx/>
                <a:latin typeface="+mn-lt"/>
                <a:ea typeface="华文中宋" panose="02010600040101010101" pitchFamily="2" charset="-122"/>
                <a:cs typeface="+mn-cs"/>
              </a:rPr>
              <a:t>确定两平衡相的相对重量</a:t>
            </a:r>
          </a:p>
          <a:p>
            <a:pPr marL="342900" marR="0" lvl="0" indent="-342900" algn="l" defTabSz="914400" rtl="0" eaLnBrk="1" fontAlgn="base" latinLnBrk="0" hangingPunct="1">
              <a:lnSpc>
                <a:spcPct val="110000"/>
              </a:lnSpc>
              <a:spcBef>
                <a:spcPct val="20000"/>
              </a:spcBef>
              <a:spcAft>
                <a:spcPct val="0"/>
              </a:spcAft>
              <a:buClr>
                <a:schemeClr val="accent2"/>
              </a:buClr>
              <a:buSzPct val="80000"/>
              <a:buFont typeface="Wingdings" panose="05000000000000000000" pitchFamily="2" charset="2"/>
              <a:buChar char="l"/>
              <a:defRPr/>
            </a:pPr>
            <a:r>
              <a:rPr kumimoji="1" lang="zh-CN" altLang="en-US" sz="2800" b="1" i="0" u="none" strike="noStrike" kern="1200" cap="none" spc="0" normalizeH="0" baseline="0" noProof="0" dirty="0">
                <a:ln>
                  <a:noFill/>
                </a:ln>
                <a:effectLst/>
                <a:uLnTx/>
                <a:uFillTx/>
                <a:latin typeface="Times New Roman" panose="02020603050405020304" pitchFamily="18" charset="0"/>
                <a:ea typeface="华文中宋" panose="02010600040101010101" pitchFamily="2" charset="-122"/>
                <a:cs typeface="+mn-cs"/>
              </a:rPr>
              <a:t>设合金的重量为</a:t>
            </a:r>
            <a:r>
              <a:rPr kumimoji="1" lang="en-US" altLang="zh-CN" sz="2800" b="1" i="0" u="none" strike="noStrike" kern="1200" cap="none" spc="0" normalizeH="0" baseline="0" noProof="0" dirty="0">
                <a:ln>
                  <a:noFill/>
                </a:ln>
                <a:effectLst/>
                <a:uLnTx/>
                <a:uFillTx/>
                <a:latin typeface="Times New Roman" panose="02020603050405020304" pitchFamily="18" charset="0"/>
                <a:ea typeface="华文中宋" panose="02010600040101010101" pitchFamily="2" charset="-122"/>
                <a:cs typeface="+mn-cs"/>
              </a:rPr>
              <a:t>1</a:t>
            </a:r>
            <a:r>
              <a:rPr kumimoji="1" lang="zh-CN" altLang="en-US" sz="2800" b="1" i="0" u="none" strike="noStrike" kern="1200" cap="none" spc="0" normalizeH="0" baseline="0" noProof="0" dirty="0">
                <a:ln>
                  <a:noFill/>
                </a:ln>
                <a:effectLst/>
                <a:uLnTx/>
                <a:uFillTx/>
                <a:latin typeface="Times New Roman" panose="02020603050405020304" pitchFamily="18" charset="0"/>
                <a:ea typeface="华文中宋" panose="02010600040101010101" pitchFamily="2" charset="-122"/>
                <a:cs typeface="+mn-cs"/>
              </a:rPr>
              <a:t>，液相重量为</a:t>
            </a:r>
            <a:r>
              <a:rPr kumimoji="1" lang="en-US" altLang="zh-CN" sz="2800" b="1" i="1" u="none" strike="noStrike" kern="1200" cap="none" spc="0" normalizeH="0" baseline="0" noProof="0" dirty="0">
                <a:ln>
                  <a:noFill/>
                </a:ln>
                <a:effectLst/>
                <a:uLnTx/>
                <a:uFillTx/>
                <a:latin typeface="Times New Roman" panose="02020603050405020304" pitchFamily="18" charset="0"/>
                <a:ea typeface="华文中宋" panose="02010600040101010101" pitchFamily="2" charset="-122"/>
                <a:cs typeface="+mn-cs"/>
              </a:rPr>
              <a:t>Q</a:t>
            </a:r>
            <a:r>
              <a:rPr kumimoji="1" lang="en-US" altLang="zh-CN" sz="2800" b="1" i="1" u="none" strike="noStrike" kern="1200" cap="none" spc="0" normalizeH="0" baseline="-25000" noProof="0" dirty="0">
                <a:ln>
                  <a:noFill/>
                </a:ln>
                <a:effectLst/>
                <a:uLnTx/>
                <a:uFillTx/>
                <a:latin typeface="Times New Roman" panose="02020603050405020304" pitchFamily="18" charset="0"/>
                <a:ea typeface="华文中宋" panose="02010600040101010101" pitchFamily="2" charset="-122"/>
                <a:cs typeface="+mn-cs"/>
              </a:rPr>
              <a:t>L</a:t>
            </a:r>
            <a:r>
              <a:rPr kumimoji="1" lang="zh-CN" altLang="en-US" sz="2800" b="1" i="0" u="none" strike="noStrike" kern="1200" cap="none" spc="0" normalizeH="0" baseline="0" noProof="0" dirty="0">
                <a:ln>
                  <a:noFill/>
                </a:ln>
                <a:effectLst/>
                <a:uLnTx/>
                <a:uFillTx/>
                <a:latin typeface="Times New Roman" panose="02020603050405020304" pitchFamily="18" charset="0"/>
                <a:ea typeface="华文中宋" panose="02010600040101010101" pitchFamily="2" charset="-122"/>
                <a:cs typeface="+mn-cs"/>
              </a:rPr>
              <a:t>，固相重量为</a:t>
            </a:r>
            <a:r>
              <a:rPr kumimoji="1" lang="en-US" altLang="zh-CN" sz="2800" b="1" i="1" u="none" strike="noStrike" kern="1200" cap="none" spc="0" normalizeH="0" baseline="0" noProof="0" dirty="0">
                <a:ln>
                  <a:noFill/>
                </a:ln>
                <a:effectLst/>
                <a:uLnTx/>
                <a:uFillTx/>
                <a:latin typeface="Times New Roman" panose="02020603050405020304" pitchFamily="18" charset="0"/>
                <a:ea typeface="华文中宋" panose="02010600040101010101" pitchFamily="2" charset="-122"/>
                <a:cs typeface="+mn-cs"/>
              </a:rPr>
              <a:t>Q</a:t>
            </a:r>
            <a:r>
              <a:rPr kumimoji="1" lang="en-US" altLang="zh-CN" sz="2800" b="1" i="1" u="none" strike="noStrike" kern="1200" cap="none" spc="0" normalizeH="0" baseline="-25000" noProof="0" dirty="0">
                <a:ln>
                  <a:noFill/>
                </a:ln>
                <a:effectLst/>
                <a:uLnTx/>
                <a:uFillTx/>
                <a:latin typeface="Times New Roman" panose="02020603050405020304" pitchFamily="18" charset="0"/>
                <a:ea typeface="华文中宋" panose="02010600040101010101" pitchFamily="2" charset="-122"/>
                <a:cs typeface="+mn-cs"/>
                <a:sym typeface="Symbol" panose="05050102010706020507" pitchFamily="18" charset="2"/>
              </a:rPr>
              <a:t></a:t>
            </a:r>
            <a:endParaRPr kumimoji="1" lang="en-US" altLang="zh-CN" sz="2800" b="0" i="0" u="none" strike="noStrike" kern="1200" cap="none" spc="0" normalizeH="0" baseline="0" noProof="0" dirty="0">
              <a:ln>
                <a:noFill/>
              </a:ln>
              <a:effectLst/>
              <a:uLnTx/>
              <a:uFillTx/>
              <a:latin typeface="Times New Roman" panose="02020603050405020304" pitchFamily="18" charset="0"/>
              <a:ea typeface="华文中宋" panose="02010600040101010101" pitchFamily="2" charset="-122"/>
              <a:cs typeface="+mn-cs"/>
            </a:endParaRPr>
          </a:p>
        </p:txBody>
      </p:sp>
      <p:pic>
        <p:nvPicPr>
          <p:cNvPr id="10" name="内容占位符 1" descr="新校徽（3M）弓之乐"/>
          <p:cNvPicPr>
            <a:picLocks noChangeAspect="1"/>
          </p:cNvPicPr>
          <p:nvPr/>
        </p:nvPicPr>
        <p:blipFill>
          <a:blip r:embed="rId4"/>
          <a:stretch>
            <a:fillRect/>
          </a:stretch>
        </p:blipFill>
        <p:spPr>
          <a:xfrm>
            <a:off x="0" y="0"/>
            <a:ext cx="746760" cy="735965"/>
          </a:xfrm>
          <a:prstGeom prst="rect">
            <a:avLst/>
          </a:prstGeom>
          <a:noFill/>
          <a:ln w="9525">
            <a:noFill/>
          </a:ln>
        </p:spPr>
      </p:pic>
      <p:sp>
        <p:nvSpPr>
          <p:cNvPr id="2" name="Rectangle 2"/>
          <p:cNvSpPr>
            <a:spLocks noGrp="1" noChangeArrowheads="1"/>
          </p:cNvSpPr>
          <p:nvPr>
            <p:ph type="title"/>
          </p:nvPr>
        </p:nvSpPr>
        <p:spPr>
          <a:xfrm>
            <a:off x="1946910" y="271145"/>
            <a:ext cx="5526405" cy="1307465"/>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a:t>
            </a: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3</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 杠杆定律</a:t>
            </a:r>
            <a:b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br>
            <a:r>
              <a:rPr kumimoji="1" lang="zh-CN" altLang="en-US" b="1" i="1" noProof="0" dirty="0">
                <a:ln>
                  <a:noFill/>
                </a:ln>
                <a:solidFill>
                  <a:srgbClr val="FF0000"/>
                </a:solidFill>
                <a:uLnTx/>
                <a:uFillTx/>
                <a:latin typeface="Times New Roman" panose="02020603050405020304" pitchFamily="18" charset="0"/>
                <a:ea typeface="华文中宋" panose="02010600040101010101" pitchFamily="2" charset="-122"/>
                <a:cs typeface="Times New Roman" panose="02020603050405020304" pitchFamily="18" charset="0"/>
                <a:sym typeface="+mn-ea"/>
              </a:rPr>
              <a:t>lever </a:t>
            </a:r>
            <a:r>
              <a:rPr kumimoji="1" lang="en-US" altLang="zh-CN" b="1" i="1" noProof="0" dirty="0">
                <a:ln>
                  <a:noFill/>
                </a:ln>
                <a:solidFill>
                  <a:srgbClr val="FF0000"/>
                </a:solidFill>
                <a:uLnTx/>
                <a:uFillTx/>
                <a:latin typeface="Times New Roman" panose="02020603050405020304" pitchFamily="18" charset="0"/>
                <a:ea typeface="华文中宋" panose="02010600040101010101" pitchFamily="2" charset="-122"/>
                <a:cs typeface="Times New Roman" panose="02020603050405020304" pitchFamily="18" charset="0"/>
                <a:sym typeface="+mn-ea"/>
              </a:rPr>
              <a:t>rule</a:t>
            </a:r>
            <a:endPar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4518"/>
                                        </p:tgtEl>
                                        <p:attrNameLst>
                                          <p:attrName>style.visibility</p:attrName>
                                        </p:attrNameLst>
                                      </p:cBhvr>
                                      <p:to>
                                        <p:strVal val="visible"/>
                                      </p:to>
                                    </p:set>
                                    <p:animEffect transition="in" filter="wipe(left)">
                                      <p:cBhvr>
                                        <p:cTn id="7" dur="500"/>
                                        <p:tgtEl>
                                          <p:spTgt spid="6451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4514">
                                            <p:txEl>
                                              <p:pRg st="0" end="0"/>
                                            </p:txEl>
                                          </p:spTgt>
                                        </p:tgtEl>
                                        <p:attrNameLst>
                                          <p:attrName>style.visibility</p:attrName>
                                        </p:attrNameLst>
                                      </p:cBhvr>
                                      <p:to>
                                        <p:strVal val="visible"/>
                                      </p:to>
                                    </p:set>
                                    <p:animEffect transition="in" filter="wipe(left)">
                                      <p:cBhvr>
                                        <p:cTn id="11" dur="500"/>
                                        <p:tgtEl>
                                          <p:spTgt spid="64514">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4514">
                                            <p:txEl>
                                              <p:pRg st="1" end="1"/>
                                            </p:txEl>
                                          </p:spTgt>
                                        </p:tgtEl>
                                        <p:attrNameLst>
                                          <p:attrName>style.visibility</p:attrName>
                                        </p:attrNameLst>
                                      </p:cBhvr>
                                      <p:to>
                                        <p:strVal val="visible"/>
                                      </p:to>
                                    </p:set>
                                    <p:animEffect transition="in" filter="wipe(left)">
                                      <p:cBhvr>
                                        <p:cTn id="15" dur="500"/>
                                        <p:tgtEl>
                                          <p:spTgt spid="64514">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4514">
                                            <p:txEl>
                                              <p:pRg st="2" end="2"/>
                                            </p:txEl>
                                          </p:spTgt>
                                        </p:tgtEl>
                                        <p:attrNameLst>
                                          <p:attrName>style.visibility</p:attrName>
                                        </p:attrNameLst>
                                      </p:cBhvr>
                                      <p:to>
                                        <p:strVal val="visible"/>
                                      </p:to>
                                    </p:set>
                                    <p:animEffect transition="in" filter="wipe(left)">
                                      <p:cBhvr>
                                        <p:cTn id="19" dur="500"/>
                                        <p:tgtEl>
                                          <p:spTgt spid="64514">
                                            <p:txEl>
                                              <p:pRg st="2" end="2"/>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4517"/>
                                        </p:tgtEl>
                                        <p:attrNameLst>
                                          <p:attrName>style.visibility</p:attrName>
                                        </p:attrNameLst>
                                      </p:cBhvr>
                                      <p:to>
                                        <p:strVal val="visible"/>
                                      </p:to>
                                    </p:set>
                                    <p:animEffect transition="in" filter="wipe(left)">
                                      <p:cBhvr>
                                        <p:cTn id="23" dur="500"/>
                                        <p:tgtEl>
                                          <p:spTgt spid="64517"/>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64516"/>
                                        </p:tgtEl>
                                        <p:attrNameLst>
                                          <p:attrName>style.visibility</p:attrName>
                                        </p:attrNameLst>
                                      </p:cBhvr>
                                      <p:to>
                                        <p:strVal val="visible"/>
                                      </p:to>
                                    </p:set>
                                    <p:animEffect transition="in" filter="wipe(left)">
                                      <p:cBhvr>
                                        <p:cTn id="27" dur="500"/>
                                        <p:tgtEl>
                                          <p:spTgt spid="64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4" grpId="0" build="p" advAuto="1000"/>
      <p:bldP spid="64517" grpId="0"/>
      <p:bldP spid="64518"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日期占位符 3"/>
          <p:cNvSpPr txBox="1">
            <a:spLocks noGrp="1"/>
          </p:cNvSpPr>
          <p:nvPr>
            <p:ph type="dt" sz="half" idx="10"/>
          </p:nvPr>
        </p:nvSpPr>
        <p:spPr>
          <a:xfrm>
            <a:off x="0" y="6503035"/>
            <a:ext cx="2344420" cy="35496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2053" name="灯片编号占位符 5"/>
          <p:cNvSpPr txBox="1">
            <a:spLocks noGrp="1"/>
          </p:cNvSpPr>
          <p:nvPr>
            <p:ph type="sldNum" sz="quarter" idx="12"/>
          </p:nvPr>
        </p:nvSpPr>
        <p:spPr>
          <a:xfrm>
            <a:off x="7956550" y="6534150"/>
            <a:ext cx="501650" cy="323850"/>
          </a:xfrm>
        </p:spPr>
        <p:txBody>
          <a:bodyPr lIns="92075" tIns="46038" rIns="92075" bIns="46038" anchor="ctr"/>
          <a:lstStyle/>
          <a:p>
            <a:pPr algn="r" eaLnBrk="1" hangingPunct="1"/>
            <a:fld id="{9A0DB2DC-4C9A-4742-B13C-FB6460FD3503}" type="slidenum">
              <a:rPr lang="en-US" altLang="zh-CN" sz="1400" dirty="0"/>
              <a:t>54</a:t>
            </a:fld>
            <a:endParaRPr lang="en-US" altLang="zh-CN" sz="1400" dirty="0"/>
          </a:p>
        </p:txBody>
      </p:sp>
      <p:sp>
        <p:nvSpPr>
          <p:cNvPr id="65540" name="Text Box 4"/>
          <p:cNvSpPr txBox="1">
            <a:spLocks noChangeArrowheads="1"/>
          </p:cNvSpPr>
          <p:nvPr/>
        </p:nvSpPr>
        <p:spPr bwMode="auto">
          <a:xfrm>
            <a:off x="550890" y="2442269"/>
            <a:ext cx="3733800" cy="583565"/>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3200" b="1"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华文中宋" panose="02010600040101010101" pitchFamily="2" charset="-122"/>
                <a:cs typeface="+mn-cs"/>
              </a:rPr>
              <a:t>两相的</a:t>
            </a:r>
            <a:r>
              <a:rPr kumimoji="1" lang="zh-CN" altLang="en-US" sz="3200" b="1" i="0" u="none" strike="noStrike" kern="0" cap="none" spc="0" normalizeH="0" baseline="0" noProof="0" dirty="0">
                <a:ln>
                  <a:noFill/>
                </a:ln>
                <a:solidFill>
                  <a:schemeClr val="tx2"/>
                </a:solidFill>
                <a:effectLst/>
                <a:uLnTx/>
                <a:uFillTx/>
                <a:latin typeface="+mn-lt"/>
                <a:ea typeface="华文中宋" panose="02010600040101010101" pitchFamily="2" charset="-122"/>
                <a:cs typeface="+mn-cs"/>
              </a:rPr>
              <a:t>质量比</a:t>
            </a:r>
            <a:r>
              <a:rPr kumimoji="1" lang="zh-CN" altLang="en-US" sz="3200" b="1"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华文中宋" panose="02010600040101010101" pitchFamily="2" charset="-122"/>
                <a:cs typeface="+mn-cs"/>
              </a:rPr>
              <a:t>为：</a:t>
            </a:r>
          </a:p>
        </p:txBody>
      </p:sp>
      <p:pic>
        <p:nvPicPr>
          <p:cNvPr id="2056" name="Picture 30" descr="〈工程材料〉图3-12"/>
          <p:cNvPicPr>
            <a:picLocks noChangeAspect="1"/>
          </p:cNvPicPr>
          <p:nvPr/>
        </p:nvPicPr>
        <p:blipFill>
          <a:blip r:embed="rId3"/>
          <a:stretch>
            <a:fillRect/>
          </a:stretch>
        </p:blipFill>
        <p:spPr>
          <a:xfrm>
            <a:off x="4773640" y="2290032"/>
            <a:ext cx="4192984" cy="3526445"/>
          </a:xfrm>
          <a:prstGeom prst="rect">
            <a:avLst/>
          </a:prstGeom>
          <a:noFill/>
          <a:ln w="9525">
            <a:noFill/>
          </a:ln>
        </p:spPr>
      </p:pic>
      <p:graphicFrame>
        <p:nvGraphicFramePr>
          <p:cNvPr id="11" name="对象 -2147482619"/>
          <p:cNvGraphicFramePr>
            <a:graphicFrameLocks noChangeAspect="1"/>
          </p:cNvGraphicFramePr>
          <p:nvPr/>
        </p:nvGraphicFramePr>
        <p:xfrm>
          <a:off x="683568" y="3423503"/>
          <a:ext cx="2399030" cy="886460"/>
        </p:xfrm>
        <a:graphic>
          <a:graphicData uri="http://schemas.openxmlformats.org/presentationml/2006/ole">
            <mc:AlternateContent xmlns:mc="http://schemas.openxmlformats.org/markup-compatibility/2006">
              <mc:Choice xmlns:v="urn:schemas-microsoft-com:vml" Requires="v">
                <p:oleObj r:id="rId4" imgW="1854200" imgH="685800" progId="Equation.3">
                  <p:embed/>
                </p:oleObj>
              </mc:Choice>
              <mc:Fallback>
                <p:oleObj r:id="rId4" imgW="1854200" imgH="685800" progId="Equation.3">
                  <p:embed/>
                  <p:pic>
                    <p:nvPicPr>
                      <p:cNvPr id="0" name="对象 -2147482619"/>
                      <p:cNvPicPr/>
                      <p:nvPr/>
                    </p:nvPicPr>
                    <p:blipFill>
                      <a:blip r:embed="rId5"/>
                      <a:stretch>
                        <a:fillRect/>
                      </a:stretch>
                    </p:blipFill>
                    <p:spPr>
                      <a:xfrm>
                        <a:off x="683568" y="3423503"/>
                        <a:ext cx="2399030" cy="886460"/>
                      </a:xfrm>
                      <a:prstGeom prst="rect">
                        <a:avLst/>
                      </a:prstGeom>
                      <a:solidFill>
                        <a:schemeClr val="accent1">
                          <a:lumMod val="20000"/>
                          <a:lumOff val="80000"/>
                        </a:schemeClr>
                      </a:solidFill>
                      <a:ln w="38100">
                        <a:noFill/>
                        <a:miter/>
                      </a:ln>
                    </p:spPr>
                  </p:pic>
                </p:oleObj>
              </mc:Fallback>
            </mc:AlternateContent>
          </a:graphicData>
        </a:graphic>
      </p:graphicFrame>
      <p:graphicFrame>
        <p:nvGraphicFramePr>
          <p:cNvPr id="13" name="对象 -2147482618"/>
          <p:cNvGraphicFramePr>
            <a:graphicFrameLocks noChangeAspect="1"/>
          </p:cNvGraphicFramePr>
          <p:nvPr/>
        </p:nvGraphicFramePr>
        <p:xfrm>
          <a:off x="467544" y="5356026"/>
          <a:ext cx="3538855" cy="685800"/>
        </p:xfrm>
        <a:graphic>
          <a:graphicData uri="http://schemas.openxmlformats.org/presentationml/2006/ole">
            <mc:AlternateContent xmlns:mc="http://schemas.openxmlformats.org/markup-compatibility/2006">
              <mc:Choice xmlns:v="urn:schemas-microsoft-com:vml" Requires="v">
                <p:oleObj r:id="rId6" imgW="1701800" imgH="330200" progId="Equation.3">
                  <p:embed/>
                </p:oleObj>
              </mc:Choice>
              <mc:Fallback>
                <p:oleObj r:id="rId6" imgW="1701800" imgH="330200" progId="Equation.3">
                  <p:embed/>
                  <p:pic>
                    <p:nvPicPr>
                      <p:cNvPr id="0" name="对象 -2147482618"/>
                      <p:cNvPicPr/>
                      <p:nvPr/>
                    </p:nvPicPr>
                    <p:blipFill>
                      <a:blip r:embed="rId7"/>
                      <a:stretch>
                        <a:fillRect/>
                      </a:stretch>
                    </p:blipFill>
                    <p:spPr>
                      <a:xfrm>
                        <a:off x="467544" y="5356026"/>
                        <a:ext cx="3538855" cy="685800"/>
                      </a:xfrm>
                      <a:prstGeom prst="rect">
                        <a:avLst/>
                      </a:prstGeom>
                      <a:solidFill>
                        <a:schemeClr val="accent3">
                          <a:lumMod val="95000"/>
                        </a:schemeClr>
                      </a:solidFill>
                      <a:ln w="38100">
                        <a:noFill/>
                        <a:miter/>
                      </a:ln>
                    </p:spPr>
                  </p:pic>
                </p:oleObj>
              </mc:Fallback>
            </mc:AlternateContent>
          </a:graphicData>
        </a:graphic>
      </p:graphicFrame>
      <p:sp>
        <p:nvSpPr>
          <p:cNvPr id="15" name="Text Box 4"/>
          <p:cNvSpPr txBox="1">
            <a:spLocks noChangeArrowheads="1"/>
          </p:cNvSpPr>
          <p:nvPr/>
        </p:nvSpPr>
        <p:spPr bwMode="auto">
          <a:xfrm>
            <a:off x="1705624" y="4440355"/>
            <a:ext cx="848360" cy="58356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3200" b="1" i="0" u="none" strike="noStrike" kern="1200" cap="none" spc="0" normalizeH="0" baseline="0" noProof="0" dirty="0">
                <a:ln>
                  <a:noFill/>
                </a:ln>
                <a:solidFill>
                  <a:schemeClr val="tx1"/>
                </a:solidFill>
                <a:uLnTx/>
                <a:uFillTx/>
                <a:latin typeface="Arial" panose="020B0604020202020204" pitchFamily="34" charset="0"/>
                <a:ea typeface="华文中宋" panose="02010600040101010101" pitchFamily="2" charset="-122"/>
                <a:cs typeface="+mn-cs"/>
              </a:rPr>
              <a:t>或</a:t>
            </a:r>
          </a:p>
        </p:txBody>
      </p:sp>
      <p:pic>
        <p:nvPicPr>
          <p:cNvPr id="12" name="内容占位符 1" descr="新校徽（3M）弓之乐"/>
          <p:cNvPicPr>
            <a:picLocks noChangeAspect="1"/>
          </p:cNvPicPr>
          <p:nvPr/>
        </p:nvPicPr>
        <p:blipFill>
          <a:blip r:embed="rId8"/>
          <a:stretch>
            <a:fillRect/>
          </a:stretch>
        </p:blipFill>
        <p:spPr>
          <a:xfrm>
            <a:off x="0" y="0"/>
            <a:ext cx="746760" cy="735965"/>
          </a:xfrm>
          <a:prstGeom prst="rect">
            <a:avLst/>
          </a:prstGeom>
          <a:noFill/>
          <a:ln w="9525">
            <a:noFill/>
          </a:ln>
        </p:spPr>
      </p:pic>
      <p:sp>
        <p:nvSpPr>
          <p:cNvPr id="5" name="Rectangle 2"/>
          <p:cNvSpPr>
            <a:spLocks noGrp="1" noChangeArrowheads="1"/>
          </p:cNvSpPr>
          <p:nvPr>
            <p:ph type="title"/>
          </p:nvPr>
        </p:nvSpPr>
        <p:spPr>
          <a:xfrm>
            <a:off x="1946910" y="271145"/>
            <a:ext cx="5526405" cy="1367155"/>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a:t>
            </a: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3</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 杠杆定律</a:t>
            </a:r>
            <a:b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br>
            <a:r>
              <a:rPr kumimoji="1" lang="zh-CN" altLang="en-US" b="1" i="1" noProof="0" dirty="0">
                <a:ln>
                  <a:noFill/>
                </a:ln>
                <a:solidFill>
                  <a:srgbClr val="FF0000"/>
                </a:solidFill>
                <a:uLnTx/>
                <a:uFillTx/>
                <a:latin typeface="Times New Roman" panose="02020603050405020304" pitchFamily="18" charset="0"/>
                <a:ea typeface="华文中宋" panose="02010600040101010101" pitchFamily="2" charset="-122"/>
                <a:cs typeface="Times New Roman" panose="02020603050405020304" pitchFamily="18" charset="0"/>
                <a:sym typeface="+mn-ea"/>
              </a:rPr>
              <a:t>lever </a:t>
            </a:r>
            <a:r>
              <a:rPr kumimoji="1" lang="en-US" altLang="zh-CN" b="1" i="1" noProof="0" dirty="0">
                <a:ln>
                  <a:noFill/>
                </a:ln>
                <a:solidFill>
                  <a:srgbClr val="FF0000"/>
                </a:solidFill>
                <a:uLnTx/>
                <a:uFillTx/>
                <a:latin typeface="Times New Roman" panose="02020603050405020304" pitchFamily="18" charset="0"/>
                <a:ea typeface="华文中宋" panose="02010600040101010101" pitchFamily="2" charset="-122"/>
                <a:cs typeface="Times New Roman" panose="02020603050405020304" pitchFamily="18" charset="0"/>
                <a:sym typeface="+mn-ea"/>
              </a:rPr>
              <a:t>rule</a:t>
            </a:r>
            <a:endPar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endParaRPr>
          </a:p>
        </p:txBody>
      </p:sp>
      <p:sp>
        <p:nvSpPr>
          <p:cNvPr id="4" name="内容占位符 3"/>
          <p:cNvSpPr>
            <a:spLocks noGrp="1"/>
          </p:cNvSpPr>
          <p:nvPr>
            <p:ph idx="1"/>
          </p:nvPr>
        </p:nvSpPr>
        <p:spPr/>
        <p:txBody>
          <a:bodyPr/>
          <a:lstStyle/>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5540"/>
                                        </p:tgtEl>
                                        <p:attrNameLst>
                                          <p:attrName>style.visibility</p:attrName>
                                        </p:attrNameLst>
                                      </p:cBhvr>
                                      <p:to>
                                        <p:strVal val="visible"/>
                                      </p:to>
                                    </p:set>
                                    <p:animEffect transition="in" filter="wipe(left)">
                                      <p:cBhvr>
                                        <p:cTn id="7" dur="500"/>
                                        <p:tgtEl>
                                          <p:spTgt spid="6554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0" grpId="0" bldLvl="0" animBg="1"/>
      <p:bldP spid="15" grpId="0" bldLvl="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日期占位符 3"/>
          <p:cNvSpPr txBox="1">
            <a:spLocks noGrp="1"/>
          </p:cNvSpPr>
          <p:nvPr>
            <p:ph type="dt" sz="half" idx="10"/>
          </p:nvPr>
        </p:nvSpPr>
        <p:spPr>
          <a:xfrm>
            <a:off x="357505" y="6510655"/>
            <a:ext cx="2388235" cy="34734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3077" name="灯片编号占位符 5"/>
          <p:cNvSpPr txBox="1">
            <a:spLocks noGrp="1"/>
          </p:cNvSpPr>
          <p:nvPr>
            <p:ph type="sldNum" sz="quarter" idx="12"/>
          </p:nvPr>
        </p:nvSpPr>
        <p:spPr>
          <a:xfrm>
            <a:off x="8243888" y="6461180"/>
            <a:ext cx="789856" cy="347662"/>
          </a:xfrm>
        </p:spPr>
        <p:txBody>
          <a:bodyPr lIns="92075" tIns="46038" rIns="92075" bIns="46038" anchor="ctr"/>
          <a:lstStyle/>
          <a:p>
            <a:pPr algn="r" eaLnBrk="1" hangingPunct="1"/>
            <a:fld id="{9A0DB2DC-4C9A-4742-B13C-FB6460FD3503}" type="slidenum">
              <a:rPr lang="en-US" altLang="zh-CN" sz="1400" dirty="0"/>
              <a:t>55</a:t>
            </a:fld>
            <a:endParaRPr lang="en-US" altLang="zh-CN" sz="1400" dirty="0"/>
          </a:p>
        </p:txBody>
      </p:sp>
      <p:sp>
        <p:nvSpPr>
          <p:cNvPr id="66562" name="Rectangle 2"/>
          <p:cNvSpPr>
            <a:spLocks noGrp="1"/>
          </p:cNvSpPr>
          <p:nvPr>
            <p:ph idx="1"/>
          </p:nvPr>
        </p:nvSpPr>
        <p:spPr>
          <a:xfrm>
            <a:off x="251520" y="1844824"/>
            <a:ext cx="8892480" cy="4814534"/>
          </a:xfrm>
        </p:spPr>
        <p:txBody>
          <a:bodyPr vert="horz" wrap="square" lIns="91440" tIns="45720" rIns="91440" bIns="45720" anchor="t"/>
          <a:lstStyle/>
          <a:p>
            <a:pPr eaLnBrk="1" hangingPunct="1"/>
            <a:r>
              <a:rPr lang="zh-CN" altLang="en-US" sz="2800" b="1" dirty="0">
                <a:ea typeface="华文中宋" panose="02010600040101010101" pitchFamily="2" charset="-122"/>
              </a:rPr>
              <a:t>上式与力学中的杠杆定律完全相似，因此称之为</a:t>
            </a:r>
            <a:r>
              <a:rPr lang="zh-CN" altLang="en-US" sz="2800" b="1" dirty="0">
                <a:solidFill>
                  <a:srgbClr val="0000FF"/>
                </a:solidFill>
                <a:ea typeface="华文中宋" panose="02010600040101010101" pitchFamily="2" charset="-122"/>
              </a:rPr>
              <a:t>杠杆定律</a:t>
            </a:r>
            <a:r>
              <a:rPr lang="zh-CN" altLang="en-US" sz="2800" b="1" dirty="0">
                <a:ea typeface="华文中宋" panose="02010600040101010101" pitchFamily="2" charset="-122"/>
              </a:rPr>
              <a:t>。</a:t>
            </a:r>
            <a:r>
              <a:rPr lang="zh-CN" altLang="en-US" sz="2400" b="1" dirty="0">
                <a:ea typeface="华文中宋" panose="02010600040101010101" pitchFamily="2" charset="-122"/>
              </a:rPr>
              <a:t>即</a:t>
            </a:r>
            <a:r>
              <a:rPr lang="zh-CN" altLang="en-US" sz="2400" b="1" dirty="0">
                <a:solidFill>
                  <a:schemeClr val="folHlink"/>
                </a:solidFill>
                <a:ea typeface="华文中宋" panose="02010600040101010101" pitchFamily="2" charset="-122"/>
              </a:rPr>
              <a:t>合金在</a:t>
            </a:r>
            <a:r>
              <a:rPr lang="zh-CN" altLang="en-US" sz="2400" b="1" dirty="0">
                <a:ea typeface="华文中宋" panose="02010600040101010101" pitchFamily="2" charset="-122"/>
              </a:rPr>
              <a:t>某温度下</a:t>
            </a:r>
            <a:r>
              <a:rPr lang="zh-CN" altLang="en-US" sz="2400" b="1" dirty="0">
                <a:solidFill>
                  <a:schemeClr val="folHlink"/>
                </a:solidFill>
                <a:ea typeface="华文中宋" panose="02010600040101010101" pitchFamily="2" charset="-122"/>
              </a:rPr>
              <a:t>两平衡相</a:t>
            </a:r>
            <a:r>
              <a:rPr lang="zh-CN" altLang="en-US" sz="2400" b="1" dirty="0">
                <a:ea typeface="华文中宋" panose="02010600040101010101" pitchFamily="2" charset="-122"/>
              </a:rPr>
              <a:t>的</a:t>
            </a:r>
            <a:r>
              <a:rPr lang="zh-CN" altLang="en-US" sz="2400" b="1" dirty="0">
                <a:solidFill>
                  <a:schemeClr val="folHlink"/>
                </a:solidFill>
                <a:ea typeface="华文中宋" panose="02010600040101010101" pitchFamily="2" charset="-122"/>
              </a:rPr>
              <a:t>质量比</a:t>
            </a:r>
            <a:r>
              <a:rPr lang="zh-CN" altLang="en-US" sz="2400" b="1" dirty="0">
                <a:ea typeface="华文中宋" panose="02010600040101010101" pitchFamily="2" charset="-122"/>
              </a:rPr>
              <a:t>等于</a:t>
            </a:r>
            <a:r>
              <a:rPr lang="zh-CN" altLang="en-US" sz="2400" b="1" dirty="0">
                <a:solidFill>
                  <a:schemeClr val="folHlink"/>
                </a:solidFill>
                <a:ea typeface="华文中宋" panose="02010600040101010101" pitchFamily="2" charset="-122"/>
              </a:rPr>
              <a:t>该温度下</a:t>
            </a:r>
            <a:r>
              <a:rPr lang="zh-CN" altLang="en-US" sz="2400" b="1" dirty="0">
                <a:ea typeface="华文中宋" panose="02010600040101010101" pitchFamily="2" charset="-122"/>
              </a:rPr>
              <a:t>与</a:t>
            </a:r>
            <a:r>
              <a:rPr lang="zh-CN" altLang="en-US" sz="2400" b="1" dirty="0">
                <a:solidFill>
                  <a:schemeClr val="folHlink"/>
                </a:solidFill>
                <a:ea typeface="华文中宋" panose="02010600040101010101" pitchFamily="2" charset="-122"/>
              </a:rPr>
              <a:t>各自相区距离较远的成分线段之比。</a:t>
            </a:r>
          </a:p>
          <a:p>
            <a:pPr eaLnBrk="1" hangingPunct="1"/>
            <a:r>
              <a:rPr lang="zh-CN" altLang="en-US" sz="2800" b="1" dirty="0">
                <a:ea typeface="华文中宋" panose="02010600040101010101" pitchFamily="2" charset="-122"/>
              </a:rPr>
              <a:t>在杠杆定律中，杠杆的支点是合金的成分，杠杆的端点是所求的两平衡相（或两组织组成物）的成分。</a:t>
            </a:r>
          </a:p>
          <a:p>
            <a:pPr eaLnBrk="1" hangingPunct="1"/>
            <a:r>
              <a:rPr lang="zh-CN" altLang="en-US" b="1" dirty="0">
                <a:solidFill>
                  <a:srgbClr val="0000FF"/>
                </a:solidFill>
                <a:ea typeface="华文中宋" panose="02010600040101010101" pitchFamily="2" charset="-122"/>
              </a:rPr>
              <a:t>杠杆定律</a:t>
            </a:r>
            <a:r>
              <a:rPr lang="zh-CN" altLang="en-US" b="1" dirty="0">
                <a:ea typeface="华文中宋" panose="02010600040101010101" pitchFamily="2" charset="-122"/>
              </a:rPr>
              <a:t>只适用</a:t>
            </a:r>
            <a:r>
              <a:rPr lang="zh-CN" altLang="en-US" b="1" dirty="0">
                <a:solidFill>
                  <a:schemeClr val="tx2"/>
                </a:solidFill>
                <a:ea typeface="华文中宋" panose="02010600040101010101" pitchFamily="2" charset="-122"/>
              </a:rPr>
              <a:t>于</a:t>
            </a:r>
            <a:r>
              <a:rPr lang="zh-CN" altLang="en-US" b="1" dirty="0">
                <a:solidFill>
                  <a:srgbClr val="FF0000"/>
                </a:solidFill>
                <a:ea typeface="华文中宋" panose="02010600040101010101" pitchFamily="2" charset="-122"/>
              </a:rPr>
              <a:t>两相区</a:t>
            </a:r>
            <a:r>
              <a:rPr lang="zh-CN" altLang="en-US" b="1" dirty="0">
                <a:solidFill>
                  <a:schemeClr val="folHlink"/>
                </a:solidFill>
                <a:ea typeface="华文中宋" panose="02010600040101010101" pitchFamily="2" charset="-122"/>
              </a:rPr>
              <a:t>。</a:t>
            </a:r>
          </a:p>
          <a:p>
            <a:pPr eaLnBrk="1" hangingPunct="1"/>
            <a:r>
              <a:rPr lang="zh-CN" altLang="en-US" sz="2800" b="1" dirty="0">
                <a:solidFill>
                  <a:schemeClr val="tx2"/>
                </a:solidFill>
                <a:ea typeface="华文中宋" panose="02010600040101010101" pitchFamily="2" charset="-122"/>
              </a:rPr>
              <a:t>例题</a:t>
            </a:r>
            <a:r>
              <a:rPr lang="zh-CN" altLang="en-US" sz="2800" b="1" dirty="0">
                <a:solidFill>
                  <a:schemeClr val="tx2"/>
                </a:solidFill>
                <a:ea typeface="华文中宋" panose="02010600040101010101" pitchFamily="2" charset="-122"/>
                <a:sym typeface="Wingdings" panose="05000000000000000000" pitchFamily="2" charset="2"/>
              </a:rPr>
              <a:t>（如图）</a:t>
            </a:r>
            <a:endParaRPr lang="zh-CN" altLang="en-US" sz="2800" b="1" i="1" dirty="0">
              <a:solidFill>
                <a:schemeClr val="tx2"/>
              </a:solidFill>
              <a:ea typeface="华文中宋" panose="02010600040101010101" pitchFamily="2" charset="-122"/>
            </a:endParaRPr>
          </a:p>
        </p:txBody>
      </p:sp>
      <p:graphicFrame>
        <p:nvGraphicFramePr>
          <p:cNvPr id="66564" name="Object 4"/>
          <p:cNvGraphicFramePr/>
          <p:nvPr/>
        </p:nvGraphicFramePr>
        <p:xfrm>
          <a:off x="462450" y="4853237"/>
          <a:ext cx="4394200" cy="749300"/>
        </p:xfrm>
        <a:graphic>
          <a:graphicData uri="http://schemas.openxmlformats.org/presentationml/2006/ole">
            <mc:AlternateContent xmlns:mc="http://schemas.openxmlformats.org/markup-compatibility/2006">
              <mc:Choice xmlns:v="urn:schemas-microsoft-com:vml" Requires="v">
                <p:oleObj r:id="rId3" imgW="4394200" imgH="749300" progId="Equation.3">
                  <p:embed/>
                </p:oleObj>
              </mc:Choice>
              <mc:Fallback>
                <p:oleObj r:id="rId3" imgW="4394200" imgH="749300" progId="Equation.3">
                  <p:embed/>
                  <p:pic>
                    <p:nvPicPr>
                      <p:cNvPr id="0" name="Object 4"/>
                      <p:cNvPicPr/>
                      <p:nvPr/>
                    </p:nvPicPr>
                    <p:blipFill>
                      <a:blip r:embed="rId4">
                        <a:clrChange>
                          <a:clrFrom>
                            <a:srgbClr val="000000"/>
                          </a:clrFrom>
                          <a:clrTo>
                            <a:srgbClr val="FFFF00"/>
                          </a:clrTo>
                        </a:clrChange>
                      </a:blip>
                      <a:stretch>
                        <a:fillRect/>
                      </a:stretch>
                    </p:blipFill>
                    <p:spPr>
                      <a:xfrm>
                        <a:off x="462450" y="4853237"/>
                        <a:ext cx="4394200" cy="749300"/>
                      </a:xfrm>
                      <a:prstGeom prst="rect">
                        <a:avLst/>
                      </a:prstGeom>
                      <a:solidFill>
                        <a:srgbClr val="FF9900"/>
                      </a:solidFill>
                      <a:ln w="38100">
                        <a:noFill/>
                        <a:miter/>
                      </a:ln>
                    </p:spPr>
                  </p:pic>
                </p:oleObj>
              </mc:Fallback>
            </mc:AlternateContent>
          </a:graphicData>
        </a:graphic>
      </p:graphicFrame>
      <p:graphicFrame>
        <p:nvGraphicFramePr>
          <p:cNvPr id="66565" name="Object 5"/>
          <p:cNvGraphicFramePr/>
          <p:nvPr/>
        </p:nvGraphicFramePr>
        <p:xfrm>
          <a:off x="462450" y="5752021"/>
          <a:ext cx="4394200" cy="749300"/>
        </p:xfrm>
        <a:graphic>
          <a:graphicData uri="http://schemas.openxmlformats.org/presentationml/2006/ole">
            <mc:AlternateContent xmlns:mc="http://schemas.openxmlformats.org/markup-compatibility/2006">
              <mc:Choice xmlns:v="urn:schemas-microsoft-com:vml" Requires="v">
                <p:oleObj r:id="rId5" imgW="4394200" imgH="749300" progId="Equation.3">
                  <p:embed/>
                </p:oleObj>
              </mc:Choice>
              <mc:Fallback>
                <p:oleObj r:id="rId5" imgW="4394200" imgH="749300" progId="Equation.3">
                  <p:embed/>
                  <p:pic>
                    <p:nvPicPr>
                      <p:cNvPr id="0" name="Object 5"/>
                      <p:cNvPicPr/>
                      <p:nvPr/>
                    </p:nvPicPr>
                    <p:blipFill>
                      <a:blip r:embed="rId6">
                        <a:clrChange>
                          <a:clrFrom>
                            <a:srgbClr val="000000"/>
                          </a:clrFrom>
                          <a:clrTo>
                            <a:srgbClr val="FFFF00"/>
                          </a:clrTo>
                        </a:clrChange>
                      </a:blip>
                      <a:stretch>
                        <a:fillRect/>
                      </a:stretch>
                    </p:blipFill>
                    <p:spPr>
                      <a:xfrm>
                        <a:off x="462450" y="5752021"/>
                        <a:ext cx="4394200" cy="749300"/>
                      </a:xfrm>
                      <a:prstGeom prst="rect">
                        <a:avLst/>
                      </a:prstGeom>
                      <a:solidFill>
                        <a:srgbClr val="CCFF33"/>
                      </a:solidFill>
                      <a:ln w="38100">
                        <a:noFill/>
                        <a:miter/>
                      </a:ln>
                    </p:spPr>
                  </p:pic>
                </p:oleObj>
              </mc:Fallback>
            </mc:AlternateContent>
          </a:graphicData>
        </a:graphic>
      </p:graphicFrame>
      <p:grpSp>
        <p:nvGrpSpPr>
          <p:cNvPr id="4" name="Group 22"/>
          <p:cNvGrpSpPr/>
          <p:nvPr/>
        </p:nvGrpSpPr>
        <p:grpSpPr>
          <a:xfrm>
            <a:off x="5580112" y="4108505"/>
            <a:ext cx="3382963" cy="2700337"/>
            <a:chOff x="3286" y="2346"/>
            <a:chExt cx="2131" cy="1701"/>
          </a:xfrm>
        </p:grpSpPr>
        <p:pic>
          <p:nvPicPr>
            <p:cNvPr id="3081" name="Picture 6" descr="image027"/>
            <p:cNvPicPr>
              <a:picLocks noChangeAspect="1"/>
            </p:cNvPicPr>
            <p:nvPr/>
          </p:nvPicPr>
          <p:blipFill>
            <a:blip r:embed="rId7"/>
            <a:stretch>
              <a:fillRect/>
            </a:stretch>
          </p:blipFill>
          <p:spPr>
            <a:xfrm>
              <a:off x="3286" y="2346"/>
              <a:ext cx="2131" cy="1701"/>
            </a:xfrm>
            <a:prstGeom prst="rect">
              <a:avLst/>
            </a:prstGeom>
            <a:noFill/>
            <a:ln w="28575" cap="flat" cmpd="sng">
              <a:solidFill>
                <a:srgbClr val="CC99FF"/>
              </a:solidFill>
              <a:prstDash val="solid"/>
              <a:miter/>
              <a:headEnd type="none" w="med" len="med"/>
              <a:tailEnd type="none" w="med" len="med"/>
            </a:ln>
          </p:spPr>
        </p:pic>
        <p:sp>
          <p:nvSpPr>
            <p:cNvPr id="3082" name="Oval 8"/>
            <p:cNvSpPr/>
            <p:nvPr/>
          </p:nvSpPr>
          <p:spPr>
            <a:xfrm>
              <a:off x="5040" y="2596"/>
              <a:ext cx="144" cy="140"/>
            </a:xfrm>
            <a:prstGeom prst="ellipse">
              <a:avLst/>
            </a:prstGeom>
            <a:solidFill>
              <a:schemeClr val="tx1"/>
            </a:solidFill>
            <a:ln w="9525">
              <a:noFill/>
            </a:ln>
          </p:spPr>
          <p:txBody>
            <a:bodyPr wrap="none" anchor="ctr"/>
            <a:lstStyle/>
            <a:p>
              <a:pPr lvl="0" algn="ctr" eaLnBrk="1" hangingPunct="1">
                <a:lnSpc>
                  <a:spcPct val="80000"/>
                </a:lnSpc>
              </a:pPr>
              <a:r>
                <a:rPr lang="en-US" altLang="zh-CN" sz="1600" b="1" i="1" dirty="0">
                  <a:solidFill>
                    <a:srgbClr val="CC0000"/>
                  </a:solidFill>
                  <a:latin typeface="Times New Roman" panose="02020603050405020304" pitchFamily="18" charset="0"/>
                  <a:ea typeface="宋体" panose="02010600030101010101" pitchFamily="2" charset="-122"/>
                  <a:sym typeface="Symbol" panose="05050102010706020507" pitchFamily="18" charset="2"/>
                </a:rPr>
                <a:t></a:t>
              </a:r>
              <a:r>
                <a:rPr lang="en-US" altLang="zh-CN" sz="1600" b="1" baseline="-25000" dirty="0">
                  <a:solidFill>
                    <a:srgbClr val="CC0000"/>
                  </a:solidFill>
                  <a:latin typeface="Times New Roman" panose="02020603050405020304" pitchFamily="18" charset="0"/>
                  <a:ea typeface="宋体" panose="02010600030101010101" pitchFamily="2" charset="-122"/>
                  <a:sym typeface="Symbol" panose="05050102010706020507" pitchFamily="18" charset="2"/>
                </a:rPr>
                <a:t>1</a:t>
              </a:r>
            </a:p>
          </p:txBody>
        </p:sp>
        <p:sp>
          <p:nvSpPr>
            <p:cNvPr id="3083" name="Oval 9"/>
            <p:cNvSpPr/>
            <p:nvPr/>
          </p:nvSpPr>
          <p:spPr>
            <a:xfrm>
              <a:off x="3911" y="2908"/>
              <a:ext cx="144" cy="140"/>
            </a:xfrm>
            <a:prstGeom prst="ellipse">
              <a:avLst/>
            </a:prstGeom>
            <a:solidFill>
              <a:schemeClr val="tx1"/>
            </a:solidFill>
            <a:ln w="9525">
              <a:noFill/>
            </a:ln>
          </p:spPr>
          <p:txBody>
            <a:bodyPr wrap="none" anchor="ctr"/>
            <a:lstStyle/>
            <a:p>
              <a:pPr lvl="0" algn="ctr" eaLnBrk="1" hangingPunct="1">
                <a:lnSpc>
                  <a:spcPct val="80000"/>
                </a:lnSpc>
              </a:pPr>
              <a:r>
                <a:rPr lang="en-US" altLang="zh-CN" sz="1600" b="1" i="1" dirty="0">
                  <a:solidFill>
                    <a:srgbClr val="CC0000"/>
                  </a:solidFill>
                  <a:latin typeface="Times New Roman" panose="02020603050405020304" pitchFamily="18" charset="0"/>
                  <a:ea typeface="宋体" panose="02010600030101010101" pitchFamily="2" charset="-122"/>
                  <a:sym typeface="Symbol" panose="05050102010706020507" pitchFamily="18" charset="2"/>
                </a:rPr>
                <a:t>L</a:t>
              </a:r>
              <a:r>
                <a:rPr lang="en-US" altLang="zh-CN" sz="1600" b="1" baseline="-25000" dirty="0">
                  <a:solidFill>
                    <a:srgbClr val="CC0000"/>
                  </a:solidFill>
                  <a:latin typeface="Times New Roman" panose="02020603050405020304" pitchFamily="18" charset="0"/>
                  <a:ea typeface="宋体" panose="02010600030101010101" pitchFamily="2" charset="-122"/>
                  <a:sym typeface="Symbol" panose="05050102010706020507" pitchFamily="18" charset="2"/>
                </a:rPr>
                <a:t>2</a:t>
              </a:r>
            </a:p>
          </p:txBody>
        </p:sp>
        <p:sp>
          <p:nvSpPr>
            <p:cNvPr id="3084" name="Oval 10"/>
            <p:cNvSpPr/>
            <p:nvPr/>
          </p:nvSpPr>
          <p:spPr>
            <a:xfrm>
              <a:off x="3920" y="2662"/>
              <a:ext cx="491" cy="173"/>
            </a:xfrm>
            <a:prstGeom prst="ellipse">
              <a:avLst/>
            </a:prstGeom>
            <a:solidFill>
              <a:schemeClr val="tx1"/>
            </a:solidFill>
            <a:ln w="9525">
              <a:noFill/>
            </a:ln>
          </p:spPr>
          <p:txBody>
            <a:bodyPr wrap="none" anchor="ctr"/>
            <a:lstStyle/>
            <a:p>
              <a:pPr lvl="0" algn="ctr" eaLnBrk="1" hangingPunct="1"/>
              <a:r>
                <a:rPr lang="en-US" altLang="zh-CN" sz="1600" b="1" dirty="0">
                  <a:solidFill>
                    <a:schemeClr val="hlink"/>
                  </a:solidFill>
                  <a:latin typeface="Times New Roman" panose="02020603050405020304" pitchFamily="18" charset="0"/>
                  <a:ea typeface="宋体" panose="02010600030101010101" pitchFamily="2" charset="-122"/>
                  <a:sym typeface="Symbol" panose="05050102010706020507" pitchFamily="18" charset="2"/>
                </a:rPr>
                <a:t>45%Ni</a:t>
              </a:r>
              <a:endParaRPr lang="en-US" altLang="zh-CN" sz="1600" b="1" baseline="-25000" dirty="0">
                <a:solidFill>
                  <a:schemeClr val="hlink"/>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085" name="Oval 11"/>
            <p:cNvSpPr/>
            <p:nvPr/>
          </p:nvSpPr>
          <p:spPr>
            <a:xfrm>
              <a:off x="4746" y="2865"/>
              <a:ext cx="491" cy="173"/>
            </a:xfrm>
            <a:prstGeom prst="ellipse">
              <a:avLst/>
            </a:prstGeom>
            <a:solidFill>
              <a:schemeClr val="tx1"/>
            </a:solidFill>
            <a:ln w="9525">
              <a:noFill/>
            </a:ln>
          </p:spPr>
          <p:txBody>
            <a:bodyPr wrap="none" anchor="ctr"/>
            <a:lstStyle/>
            <a:p>
              <a:pPr lvl="0" algn="ctr" eaLnBrk="1" hangingPunct="1"/>
              <a:r>
                <a:rPr lang="en-US" altLang="zh-CN" sz="1600" b="1" dirty="0">
                  <a:solidFill>
                    <a:schemeClr val="hlink"/>
                  </a:solidFill>
                  <a:latin typeface="Times New Roman" panose="02020603050405020304" pitchFamily="18" charset="0"/>
                  <a:ea typeface="宋体" panose="02010600030101010101" pitchFamily="2" charset="-122"/>
                  <a:sym typeface="Symbol" panose="05050102010706020507" pitchFamily="18" charset="2"/>
                </a:rPr>
                <a:t>58%Ni</a:t>
              </a:r>
              <a:endParaRPr lang="en-US" altLang="zh-CN" sz="1600" b="1" baseline="-25000" dirty="0">
                <a:solidFill>
                  <a:schemeClr val="hlink"/>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086" name="Oval 12"/>
            <p:cNvSpPr/>
            <p:nvPr/>
          </p:nvSpPr>
          <p:spPr>
            <a:xfrm>
              <a:off x="4322" y="3696"/>
              <a:ext cx="491" cy="140"/>
            </a:xfrm>
            <a:prstGeom prst="ellipse">
              <a:avLst/>
            </a:prstGeom>
            <a:solidFill>
              <a:schemeClr val="bg1"/>
            </a:solidFill>
            <a:ln w="9525">
              <a:noFill/>
            </a:ln>
          </p:spPr>
          <p:txBody>
            <a:bodyPr wrap="none" anchor="ctr"/>
            <a:lstStyle/>
            <a:p>
              <a:pPr lvl="0" algn="ctr" eaLnBrk="1" hangingPunct="1"/>
              <a:r>
                <a:rPr lang="en-US" altLang="zh-CN" sz="1600" b="1" dirty="0">
                  <a:solidFill>
                    <a:srgbClr val="008000"/>
                  </a:solidFill>
                  <a:latin typeface="Times New Roman" panose="02020603050405020304" pitchFamily="18" charset="0"/>
                  <a:ea typeface="宋体" panose="02010600030101010101" pitchFamily="2" charset="-122"/>
                  <a:sym typeface="Symbol" panose="05050102010706020507" pitchFamily="18" charset="2"/>
                </a:rPr>
                <a:t>53%Ni</a:t>
              </a:r>
              <a:endParaRPr lang="en-US" altLang="zh-CN" sz="1600" b="1" baseline="-25000" dirty="0">
                <a:solidFill>
                  <a:srgbClr val="008000"/>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087" name="Oval 13"/>
            <p:cNvSpPr/>
            <p:nvPr/>
          </p:nvSpPr>
          <p:spPr>
            <a:xfrm>
              <a:off x="4919" y="3279"/>
              <a:ext cx="144" cy="140"/>
            </a:xfrm>
            <a:prstGeom prst="ellipse">
              <a:avLst/>
            </a:prstGeom>
            <a:solidFill>
              <a:schemeClr val="tx1"/>
            </a:solidFill>
            <a:ln w="9525">
              <a:noFill/>
            </a:ln>
          </p:spPr>
          <p:txBody>
            <a:bodyPr wrap="none" anchor="ctr"/>
            <a:lstStyle/>
            <a:p>
              <a:pPr lvl="0" algn="ctr" eaLnBrk="1" hangingPunct="1">
                <a:lnSpc>
                  <a:spcPct val="80000"/>
                </a:lnSpc>
              </a:pPr>
              <a:r>
                <a:rPr lang="en-US" altLang="zh-CN" sz="1800" b="1"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088" name="Oval 14"/>
            <p:cNvSpPr/>
            <p:nvPr/>
          </p:nvSpPr>
          <p:spPr>
            <a:xfrm>
              <a:off x="3796" y="2592"/>
              <a:ext cx="144" cy="140"/>
            </a:xfrm>
            <a:prstGeom prst="ellipse">
              <a:avLst/>
            </a:prstGeom>
            <a:solidFill>
              <a:schemeClr val="tx1"/>
            </a:solidFill>
            <a:ln w="9525">
              <a:noFill/>
            </a:ln>
          </p:spPr>
          <p:txBody>
            <a:bodyPr wrap="none" anchor="ctr"/>
            <a:lstStyle/>
            <a:p>
              <a:pPr lvl="0" algn="ctr" eaLnBrk="1" hangingPunct="1">
                <a:lnSpc>
                  <a:spcPct val="80000"/>
                </a:lnSpc>
              </a:pPr>
              <a:r>
                <a:rPr lang="en-US" altLang="zh-CN" sz="1800" b="1" i="1" dirty="0">
                  <a:solidFill>
                    <a:srgbClr val="CC0000"/>
                  </a:solidFill>
                  <a:latin typeface="Times New Roman" panose="02020603050405020304" pitchFamily="18" charset="0"/>
                  <a:ea typeface="宋体" panose="02010600030101010101" pitchFamily="2" charset="-122"/>
                  <a:sym typeface="Symbol" panose="05050102010706020507" pitchFamily="18" charset="2"/>
                </a:rPr>
                <a:t>L</a:t>
              </a:r>
              <a:endParaRPr lang="en-US" altLang="zh-CN" sz="1800" b="1" baseline="-25000" dirty="0">
                <a:solidFill>
                  <a:srgbClr val="CC0000"/>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089" name="Oval 15"/>
            <p:cNvSpPr/>
            <p:nvPr/>
          </p:nvSpPr>
          <p:spPr>
            <a:xfrm>
              <a:off x="4530" y="2540"/>
              <a:ext cx="74" cy="96"/>
            </a:xfrm>
            <a:prstGeom prst="ellipse">
              <a:avLst/>
            </a:prstGeom>
            <a:solidFill>
              <a:schemeClr val="tx1"/>
            </a:solidFill>
            <a:ln w="9525">
              <a:noFill/>
            </a:ln>
          </p:spPr>
          <p:txBody>
            <a:bodyPr wrap="none" anchor="ctr"/>
            <a:lstStyle/>
            <a:p>
              <a:pPr lvl="0" algn="ctr" eaLnBrk="1" hangingPunct="1">
                <a:lnSpc>
                  <a:spcPct val="80000"/>
                </a:lnSpc>
              </a:pPr>
              <a:r>
                <a:rPr lang="en-US" altLang="zh-CN" sz="1600" b="1" dirty="0">
                  <a:solidFill>
                    <a:srgbClr val="CC0000"/>
                  </a:solidFill>
                  <a:latin typeface="Times New Roman" panose="02020603050405020304" pitchFamily="18" charset="0"/>
                  <a:ea typeface="宋体" panose="02010600030101010101" pitchFamily="2" charset="-122"/>
                  <a:sym typeface="Symbol" panose="05050102010706020507" pitchFamily="18" charset="2"/>
                </a:rPr>
                <a:t>1</a:t>
              </a:r>
              <a:endParaRPr lang="en-US" altLang="zh-CN" sz="1600" b="1" baseline="-25000" dirty="0">
                <a:solidFill>
                  <a:srgbClr val="CC0000"/>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090" name="Oval 16"/>
            <p:cNvSpPr/>
            <p:nvPr/>
          </p:nvSpPr>
          <p:spPr>
            <a:xfrm>
              <a:off x="4645" y="2869"/>
              <a:ext cx="70" cy="144"/>
            </a:xfrm>
            <a:prstGeom prst="ellipse">
              <a:avLst/>
            </a:prstGeom>
            <a:solidFill>
              <a:schemeClr val="tx1"/>
            </a:solidFill>
            <a:ln w="9525">
              <a:noFill/>
            </a:ln>
          </p:spPr>
          <p:txBody>
            <a:bodyPr wrap="none" anchor="ctr"/>
            <a:lstStyle/>
            <a:p>
              <a:pPr lvl="0" algn="ctr" eaLnBrk="1" hangingPunct="1">
                <a:lnSpc>
                  <a:spcPct val="80000"/>
                </a:lnSpc>
              </a:pPr>
              <a:r>
                <a:rPr lang="en-US" altLang="zh-CN" sz="1600" b="1" dirty="0">
                  <a:solidFill>
                    <a:srgbClr val="CC0000"/>
                  </a:solidFill>
                  <a:latin typeface="Times New Roman" panose="02020603050405020304" pitchFamily="18" charset="0"/>
                  <a:ea typeface="宋体" panose="02010600030101010101" pitchFamily="2" charset="-122"/>
                  <a:sym typeface="Symbol" panose="05050102010706020507" pitchFamily="18" charset="2"/>
                </a:rPr>
                <a:t>2</a:t>
              </a:r>
              <a:endParaRPr lang="en-US" altLang="zh-CN" sz="1600" b="1" baseline="-25000" dirty="0">
                <a:solidFill>
                  <a:srgbClr val="CC0000"/>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091" name="Oval 17"/>
            <p:cNvSpPr/>
            <p:nvPr/>
          </p:nvSpPr>
          <p:spPr>
            <a:xfrm>
              <a:off x="3302" y="2806"/>
              <a:ext cx="336" cy="192"/>
            </a:xfrm>
            <a:prstGeom prst="ellipse">
              <a:avLst/>
            </a:prstGeom>
            <a:solidFill>
              <a:schemeClr val="tx1"/>
            </a:solidFill>
            <a:ln w="9525">
              <a:noFill/>
            </a:ln>
          </p:spPr>
          <p:txBody>
            <a:bodyPr wrap="none" anchor="ctr"/>
            <a:lstStyle/>
            <a:p>
              <a:pPr lvl="0" algn="ctr" eaLnBrk="1" hangingPunct="1"/>
              <a:r>
                <a:rPr lang="en-US" altLang="zh-CN" sz="1600" b="1" dirty="0">
                  <a:solidFill>
                    <a:schemeClr val="hlink"/>
                  </a:solidFill>
                  <a:latin typeface="Times New Roman" panose="02020603050405020304" pitchFamily="18" charset="0"/>
                  <a:ea typeface="宋体" panose="02010600030101010101" pitchFamily="2" charset="-122"/>
                  <a:sym typeface="Symbol" panose="05050102010706020507" pitchFamily="18" charset="2"/>
                </a:rPr>
                <a:t>1300</a:t>
              </a:r>
              <a:endParaRPr lang="en-US" altLang="zh-CN" sz="1600" b="1" baseline="-25000" dirty="0">
                <a:solidFill>
                  <a:schemeClr val="hlink"/>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092" name="Oval 18"/>
            <p:cNvSpPr/>
            <p:nvPr/>
          </p:nvSpPr>
          <p:spPr>
            <a:xfrm>
              <a:off x="3552" y="2400"/>
              <a:ext cx="144" cy="140"/>
            </a:xfrm>
            <a:prstGeom prst="ellipse">
              <a:avLst/>
            </a:prstGeom>
            <a:solidFill>
              <a:schemeClr val="tx1"/>
            </a:solidFill>
            <a:ln w="9525">
              <a:noFill/>
            </a:ln>
          </p:spPr>
          <p:txBody>
            <a:bodyPr wrap="none" anchor="ctr"/>
            <a:lstStyle/>
            <a:p>
              <a:pPr lvl="0" algn="ctr" eaLnBrk="1" hangingPunct="1">
                <a:lnSpc>
                  <a:spcPct val="80000"/>
                </a:lnSpc>
              </a:pPr>
              <a:r>
                <a:rPr lang="en-US" altLang="zh-CN" sz="1800" b="1" i="1" dirty="0">
                  <a:solidFill>
                    <a:schemeClr val="bg2"/>
                  </a:solidFill>
                  <a:latin typeface="Times New Roman" panose="02020603050405020304" pitchFamily="18" charset="0"/>
                  <a:ea typeface="宋体" panose="02010600030101010101" pitchFamily="2" charset="-122"/>
                  <a:sym typeface="Symbol" panose="05050102010706020507" pitchFamily="18" charset="2"/>
                </a:rPr>
                <a:t>T</a:t>
              </a:r>
              <a:endParaRPr lang="en-US" altLang="zh-CN" sz="1800" b="1" baseline="-25000" dirty="0">
                <a:solidFill>
                  <a:schemeClr val="bg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093" name="Rectangle 19"/>
            <p:cNvSpPr/>
            <p:nvPr/>
          </p:nvSpPr>
          <p:spPr>
            <a:xfrm>
              <a:off x="3503" y="3689"/>
              <a:ext cx="480" cy="288"/>
            </a:xfrm>
            <a:prstGeom prst="rect">
              <a:avLst/>
            </a:prstGeom>
            <a:solidFill>
              <a:schemeClr val="bg1"/>
            </a:solidFill>
            <a:ln w="9525">
              <a:noFill/>
            </a:ln>
          </p:spPr>
          <p:txBody>
            <a:bodyPr wrap="none" anchor="ctr"/>
            <a:lstStyle/>
            <a:p>
              <a:pPr lvl="0" algn="ctr" eaLnBrk="1" hangingPunct="1"/>
              <a:r>
                <a:rPr lang="en-US" altLang="zh-CN" sz="1600" b="1" dirty="0">
                  <a:solidFill>
                    <a:schemeClr val="bg2"/>
                  </a:solidFill>
                  <a:latin typeface="Times New Roman" panose="02020603050405020304" pitchFamily="18" charset="0"/>
                  <a:ea typeface="宋体" panose="02010600030101010101" pitchFamily="2" charset="-122"/>
                </a:rPr>
                <a:t>0</a:t>
              </a:r>
            </a:p>
            <a:p>
              <a:pPr lvl="0" algn="ctr" eaLnBrk="1" hangingPunct="1"/>
              <a:r>
                <a:rPr lang="en-US" altLang="zh-CN" sz="1600" b="1" dirty="0">
                  <a:solidFill>
                    <a:schemeClr val="bg2"/>
                  </a:solidFill>
                  <a:latin typeface="Times New Roman" panose="02020603050405020304" pitchFamily="18" charset="0"/>
                  <a:ea typeface="宋体" panose="02010600030101010101" pitchFamily="2" charset="-122"/>
                </a:rPr>
                <a:t>100%Cu</a:t>
              </a:r>
            </a:p>
          </p:txBody>
        </p:sp>
        <p:sp>
          <p:nvSpPr>
            <p:cNvPr id="3094" name="Rectangle 20"/>
            <p:cNvSpPr/>
            <p:nvPr/>
          </p:nvSpPr>
          <p:spPr>
            <a:xfrm>
              <a:off x="4992" y="3696"/>
              <a:ext cx="425" cy="288"/>
            </a:xfrm>
            <a:prstGeom prst="rect">
              <a:avLst/>
            </a:prstGeom>
            <a:solidFill>
              <a:schemeClr val="bg1"/>
            </a:solidFill>
            <a:ln w="9525">
              <a:noFill/>
            </a:ln>
          </p:spPr>
          <p:txBody>
            <a:bodyPr wrap="none" anchor="ctr"/>
            <a:lstStyle/>
            <a:p>
              <a:pPr lvl="0" algn="ctr" eaLnBrk="1" hangingPunct="1"/>
              <a:r>
                <a:rPr lang="en-US" altLang="zh-CN" sz="1600" b="1" dirty="0">
                  <a:solidFill>
                    <a:schemeClr val="bg2"/>
                  </a:solidFill>
                  <a:latin typeface="Times New Roman" panose="02020603050405020304" pitchFamily="18" charset="0"/>
                  <a:ea typeface="宋体" panose="02010600030101010101" pitchFamily="2" charset="-122"/>
                </a:rPr>
                <a:t>100%</a:t>
              </a:r>
            </a:p>
            <a:p>
              <a:pPr lvl="0" algn="ctr" eaLnBrk="1" hangingPunct="1"/>
              <a:r>
                <a:rPr lang="en-US" altLang="zh-CN" sz="1600" b="1" dirty="0">
                  <a:solidFill>
                    <a:schemeClr val="bg2"/>
                  </a:solidFill>
                  <a:latin typeface="Times New Roman" panose="02020603050405020304" pitchFamily="18" charset="0"/>
                  <a:ea typeface="宋体" panose="02010600030101010101" pitchFamily="2" charset="-122"/>
                </a:rPr>
                <a:t>Ni</a:t>
              </a:r>
            </a:p>
          </p:txBody>
        </p:sp>
      </p:grpSp>
      <p:pic>
        <p:nvPicPr>
          <p:cNvPr id="23" name="内容占位符 1" descr="新校徽（3M）弓之乐"/>
          <p:cNvPicPr>
            <a:picLocks noChangeAspect="1"/>
          </p:cNvPicPr>
          <p:nvPr/>
        </p:nvPicPr>
        <p:blipFill>
          <a:blip r:embed="rId8"/>
          <a:stretch>
            <a:fillRect/>
          </a:stretch>
        </p:blipFill>
        <p:spPr>
          <a:xfrm>
            <a:off x="0" y="0"/>
            <a:ext cx="746760" cy="735965"/>
          </a:xfrm>
          <a:prstGeom prst="rect">
            <a:avLst/>
          </a:prstGeom>
          <a:noFill/>
          <a:ln w="9525">
            <a:noFill/>
          </a:ln>
        </p:spPr>
      </p:pic>
      <p:sp>
        <p:nvSpPr>
          <p:cNvPr id="5" name="Rectangle 2"/>
          <p:cNvSpPr>
            <a:spLocks noGrp="1" noChangeArrowheads="1"/>
          </p:cNvSpPr>
          <p:nvPr>
            <p:ph type="title"/>
          </p:nvPr>
        </p:nvSpPr>
        <p:spPr>
          <a:xfrm>
            <a:off x="1946910" y="271145"/>
            <a:ext cx="5526405" cy="1232535"/>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a:t>
            </a: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3</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 杠杆定律</a:t>
            </a:r>
            <a:b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br>
            <a:r>
              <a:rPr kumimoji="1" lang="zh-CN" altLang="en-US" b="1" i="1" noProof="0" dirty="0">
                <a:ln>
                  <a:noFill/>
                </a:ln>
                <a:solidFill>
                  <a:srgbClr val="FF0000"/>
                </a:solidFill>
                <a:uLnTx/>
                <a:uFillTx/>
                <a:latin typeface="Times New Roman" panose="02020603050405020304" pitchFamily="18" charset="0"/>
                <a:ea typeface="华文中宋" panose="02010600040101010101" pitchFamily="2" charset="-122"/>
                <a:cs typeface="Times New Roman" panose="02020603050405020304" pitchFamily="18" charset="0"/>
                <a:sym typeface="+mn-ea"/>
              </a:rPr>
              <a:t>lever </a:t>
            </a:r>
            <a:r>
              <a:rPr kumimoji="1" lang="en-US" altLang="zh-CN" b="1" i="1" noProof="0" dirty="0">
                <a:ln>
                  <a:noFill/>
                </a:ln>
                <a:solidFill>
                  <a:srgbClr val="FF0000"/>
                </a:solidFill>
                <a:uLnTx/>
                <a:uFillTx/>
                <a:latin typeface="Times New Roman" panose="02020603050405020304" pitchFamily="18" charset="0"/>
                <a:ea typeface="华文中宋" panose="02010600040101010101" pitchFamily="2" charset="-122"/>
                <a:cs typeface="Times New Roman" panose="02020603050405020304" pitchFamily="18" charset="0"/>
                <a:sym typeface="+mn-ea"/>
              </a:rPr>
              <a:t>rule</a:t>
            </a:r>
            <a:endPar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6562">
                                            <p:txEl>
                                              <p:pRg st="0" end="0"/>
                                            </p:txEl>
                                          </p:spTgt>
                                        </p:tgtEl>
                                        <p:attrNameLst>
                                          <p:attrName>style.visibility</p:attrName>
                                        </p:attrNameLst>
                                      </p:cBhvr>
                                      <p:to>
                                        <p:strVal val="visible"/>
                                      </p:to>
                                    </p:set>
                                    <p:animEffect transition="in" filter="wipe(left)">
                                      <p:cBhvr>
                                        <p:cTn id="7" dur="500"/>
                                        <p:tgtEl>
                                          <p:spTgt spid="66562">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6562">
                                            <p:txEl>
                                              <p:pRg st="1" end="1"/>
                                            </p:txEl>
                                          </p:spTgt>
                                        </p:tgtEl>
                                        <p:attrNameLst>
                                          <p:attrName>style.visibility</p:attrName>
                                        </p:attrNameLst>
                                      </p:cBhvr>
                                      <p:to>
                                        <p:strVal val="visible"/>
                                      </p:to>
                                    </p:set>
                                    <p:animEffect transition="in" filter="wipe(left)">
                                      <p:cBhvr>
                                        <p:cTn id="11" dur="500"/>
                                        <p:tgtEl>
                                          <p:spTgt spid="66562">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6562">
                                            <p:txEl>
                                              <p:pRg st="2" end="2"/>
                                            </p:txEl>
                                          </p:spTgt>
                                        </p:tgtEl>
                                        <p:attrNameLst>
                                          <p:attrName>style.visibility</p:attrName>
                                        </p:attrNameLst>
                                      </p:cBhvr>
                                      <p:to>
                                        <p:strVal val="visible"/>
                                      </p:to>
                                    </p:set>
                                    <p:animEffect transition="in" filter="wipe(left)">
                                      <p:cBhvr>
                                        <p:cTn id="15" dur="500"/>
                                        <p:tgtEl>
                                          <p:spTgt spid="66562">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6562">
                                            <p:txEl>
                                              <p:pRg st="3" end="3"/>
                                            </p:txEl>
                                          </p:spTgt>
                                        </p:tgtEl>
                                        <p:attrNameLst>
                                          <p:attrName>style.visibility</p:attrName>
                                        </p:attrNameLst>
                                      </p:cBhvr>
                                      <p:to>
                                        <p:strVal val="visible"/>
                                      </p:to>
                                    </p:set>
                                    <p:animEffect transition="in" filter="wipe(left)">
                                      <p:cBhvr>
                                        <p:cTn id="19" dur="500"/>
                                        <p:tgtEl>
                                          <p:spTgt spid="66562">
                                            <p:txEl>
                                              <p:pRg st="3" end="3"/>
                                            </p:txEl>
                                          </p:spTgt>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66564"/>
                                        </p:tgtEl>
                                        <p:attrNameLst>
                                          <p:attrName>style.visibility</p:attrName>
                                        </p:attrNameLst>
                                      </p:cBhvr>
                                      <p:to>
                                        <p:strVal val="visible"/>
                                      </p:to>
                                    </p:set>
                                    <p:animEffect transition="in" filter="wipe(left)">
                                      <p:cBhvr>
                                        <p:cTn id="23" dur="500"/>
                                        <p:tgtEl>
                                          <p:spTgt spid="66564"/>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66565"/>
                                        </p:tgtEl>
                                        <p:attrNameLst>
                                          <p:attrName>style.visibility</p:attrName>
                                        </p:attrNameLst>
                                      </p:cBhvr>
                                      <p:to>
                                        <p:strVal val="visible"/>
                                      </p:to>
                                    </p:set>
                                    <p:animEffect transition="in" filter="wipe(left)">
                                      <p:cBhvr>
                                        <p:cTn id="27" dur="500"/>
                                        <p:tgtEl>
                                          <p:spTgt spid="665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2" grpId="0" build="p" advAuto="100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日期占位符 3"/>
          <p:cNvSpPr txBox="1">
            <a:spLocks noGrp="1"/>
          </p:cNvSpPr>
          <p:nvPr>
            <p:ph type="dt" sz="half" idx="10"/>
          </p:nvPr>
        </p:nvSpPr>
        <p:spPr>
          <a:xfrm>
            <a:off x="428625" y="6510655"/>
            <a:ext cx="2384425" cy="34734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59395" name="灯片编号占位符 5"/>
          <p:cNvSpPr txBox="1">
            <a:spLocks noGrp="1"/>
          </p:cNvSpPr>
          <p:nvPr>
            <p:ph type="sldNum" sz="quarter" idx="12"/>
          </p:nvPr>
        </p:nvSpPr>
        <p:spPr>
          <a:xfrm>
            <a:off x="8539480" y="6534785"/>
            <a:ext cx="615950" cy="299085"/>
          </a:xfrm>
        </p:spPr>
        <p:txBody>
          <a:bodyPr lIns="92075" tIns="46038" rIns="92075" bIns="46038" anchor="ctr"/>
          <a:lstStyle/>
          <a:p>
            <a:pPr algn="r" eaLnBrk="1" hangingPunct="1"/>
            <a:fld id="{9A0DB2DC-4C9A-4742-B13C-FB6460FD3503}" type="slidenum">
              <a:rPr lang="en-US" altLang="zh-CN" sz="1400" dirty="0"/>
              <a:t>56</a:t>
            </a:fld>
            <a:endParaRPr lang="en-US" altLang="zh-CN" sz="1400" dirty="0"/>
          </a:p>
        </p:txBody>
      </p:sp>
      <p:sp>
        <p:nvSpPr>
          <p:cNvPr id="278530" name="Rectangle 2"/>
          <p:cNvSpPr>
            <a:spLocks noGrp="1" noChangeArrowheads="1"/>
          </p:cNvSpPr>
          <p:nvPr>
            <p:ph type="title"/>
          </p:nvPr>
        </p:nvSpPr>
        <p:spPr>
          <a:xfrm>
            <a:off x="1510030" y="331470"/>
            <a:ext cx="6500495" cy="138176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a:t>
            </a: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4</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 枝晶偏析</a:t>
            </a:r>
            <a:b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br>
            <a:r>
              <a:rPr kumimoji="1" lang="en-US" altLang="zh-CN" sz="4400" b="1" i="1" u="none" strike="noStrike" kern="0" cap="none" spc="0" normalizeH="0" baseline="0" noProof="0" dirty="0">
                <a:ln>
                  <a:noFill/>
                </a:ln>
                <a:solidFill>
                  <a:srgbClr val="FF0000"/>
                </a:solidFill>
                <a:uLnTx/>
                <a:uFillTx/>
                <a:latin typeface="Times New Roman" panose="02020603050405020304" pitchFamily="18" charset="0"/>
                <a:ea typeface="华文中宋" panose="02010600040101010101" pitchFamily="2" charset="-122"/>
                <a:cs typeface="Times New Roman" panose="02020603050405020304" pitchFamily="18" charset="0"/>
              </a:rPr>
              <a:t>Dendritic segregation</a:t>
            </a:r>
          </a:p>
        </p:txBody>
      </p:sp>
      <p:sp>
        <p:nvSpPr>
          <p:cNvPr id="59397" name="Rectangle 3"/>
          <p:cNvSpPr>
            <a:spLocks noGrp="1"/>
          </p:cNvSpPr>
          <p:nvPr>
            <p:ph idx="1"/>
          </p:nvPr>
        </p:nvSpPr>
        <p:spPr>
          <a:xfrm>
            <a:off x="107315" y="1917065"/>
            <a:ext cx="6383020" cy="4419600"/>
          </a:xfrm>
        </p:spPr>
        <p:txBody>
          <a:bodyPr vert="horz" wrap="square" lIns="91440" tIns="45720" rIns="91440" bIns="45720" anchor="t"/>
          <a:lstStyle/>
          <a:p>
            <a:pPr eaLnBrk="1" latinLnBrk="0" hangingPunct="1">
              <a:lnSpc>
                <a:spcPct val="130000"/>
              </a:lnSpc>
              <a:spcBef>
                <a:spcPts val="0"/>
              </a:spcBef>
            </a:pPr>
            <a:r>
              <a:rPr lang="zh-CN" altLang="en-US" sz="2800" b="1" dirty="0">
                <a:ea typeface="华文中宋" panose="02010600040101010101" pitchFamily="2" charset="-122"/>
              </a:rPr>
              <a:t>合金的结晶只有在缓慢冷却条件下才能得到成分均匀的固溶体。</a:t>
            </a:r>
          </a:p>
          <a:p>
            <a:pPr eaLnBrk="1" latinLnBrk="0" hangingPunct="1">
              <a:lnSpc>
                <a:spcPct val="130000"/>
              </a:lnSpc>
              <a:spcBef>
                <a:spcPts val="0"/>
              </a:spcBef>
            </a:pPr>
            <a:r>
              <a:rPr lang="zh-CN" altLang="en-US" sz="2800" b="1" dirty="0">
                <a:ea typeface="华文中宋" panose="02010600040101010101" pitchFamily="2" charset="-122"/>
              </a:rPr>
              <a:t>实际冷速较快，结晶时固相中的原子</a:t>
            </a:r>
            <a:r>
              <a:rPr lang="zh-CN" altLang="en-US" sz="2800" b="1" dirty="0">
                <a:solidFill>
                  <a:schemeClr val="folHlink"/>
                </a:solidFill>
                <a:ea typeface="华文中宋" panose="02010600040101010101" pitchFamily="2" charset="-122"/>
              </a:rPr>
              <a:t>来不及扩散</a:t>
            </a:r>
            <a:r>
              <a:rPr lang="zh-CN" altLang="en-US" sz="2800" b="1" dirty="0">
                <a:ea typeface="华文中宋" panose="02010600040101010101" pitchFamily="2" charset="-122"/>
              </a:rPr>
              <a:t>，使</a:t>
            </a:r>
            <a:r>
              <a:rPr lang="zh-CN" altLang="en-US" sz="2800" b="1" dirty="0">
                <a:solidFill>
                  <a:schemeClr val="folHlink"/>
                </a:solidFill>
                <a:ea typeface="华文中宋" panose="02010600040101010101" pitchFamily="2" charset="-122"/>
              </a:rPr>
              <a:t>先结晶出的枝晶轴含有较多</a:t>
            </a:r>
            <a:r>
              <a:rPr lang="zh-CN" altLang="en-US" sz="2800" b="1" dirty="0">
                <a:ea typeface="华文中宋" panose="02010600040101010101" pitchFamily="2" charset="-122"/>
              </a:rPr>
              <a:t>的</a:t>
            </a:r>
            <a:r>
              <a:rPr lang="zh-CN" altLang="en-US" sz="2800" b="1" dirty="0">
                <a:solidFill>
                  <a:schemeClr val="folHlink"/>
                </a:solidFill>
                <a:ea typeface="华文中宋" panose="02010600040101010101" pitchFamily="2" charset="-122"/>
              </a:rPr>
              <a:t>高熔点元素</a:t>
            </a:r>
            <a:r>
              <a:rPr lang="zh-CN" altLang="en-US" sz="2800" b="1" dirty="0">
                <a:ea typeface="华文中宋" panose="02010600040101010101" pitchFamily="2" charset="-122"/>
              </a:rPr>
              <a:t>（如</a:t>
            </a:r>
            <a:r>
              <a:rPr lang="en-US" altLang="zh-CN" sz="2800" b="1" dirty="0">
                <a:ea typeface="华文中宋" panose="02010600040101010101" pitchFamily="2" charset="-122"/>
              </a:rPr>
              <a:t>Cu-Ni</a:t>
            </a:r>
            <a:r>
              <a:rPr lang="zh-CN" altLang="en-US" sz="2800" b="1" dirty="0">
                <a:ea typeface="华文中宋" panose="02010600040101010101" pitchFamily="2" charset="-122"/>
              </a:rPr>
              <a:t>合金中的</a:t>
            </a:r>
            <a:r>
              <a:rPr lang="en-US" altLang="zh-CN" sz="2800" b="1" dirty="0">
                <a:solidFill>
                  <a:schemeClr val="folHlink"/>
                </a:solidFill>
                <a:ea typeface="华文中宋" panose="02010600040101010101" pitchFamily="2" charset="-122"/>
              </a:rPr>
              <a:t>Ni</a:t>
            </a:r>
            <a:r>
              <a:rPr lang="zh-CN" altLang="en-US" sz="2800" b="1" dirty="0">
                <a:ea typeface="华文中宋" panose="02010600040101010101" pitchFamily="2" charset="-122"/>
              </a:rPr>
              <a:t>）</a:t>
            </a:r>
            <a:r>
              <a:rPr lang="en-US" altLang="zh-CN" sz="2800" b="1" dirty="0">
                <a:ea typeface="华文中宋" panose="02010600040101010101" pitchFamily="2" charset="-122"/>
              </a:rPr>
              <a:t>, </a:t>
            </a:r>
            <a:r>
              <a:rPr lang="zh-CN" altLang="en-US" sz="2800" b="1" dirty="0">
                <a:solidFill>
                  <a:schemeClr val="folHlink"/>
                </a:solidFill>
                <a:ea typeface="华文中宋" panose="02010600040101010101" pitchFamily="2" charset="-122"/>
              </a:rPr>
              <a:t>后结晶</a:t>
            </a:r>
            <a:r>
              <a:rPr lang="zh-CN" altLang="en-US" sz="2800" b="1" dirty="0">
                <a:ea typeface="华文中宋" panose="02010600040101010101" pitchFamily="2" charset="-122"/>
              </a:rPr>
              <a:t>的</a:t>
            </a:r>
            <a:r>
              <a:rPr lang="zh-CN" altLang="en-US" sz="2800" b="1" dirty="0">
                <a:solidFill>
                  <a:schemeClr val="folHlink"/>
                </a:solidFill>
                <a:ea typeface="华文中宋" panose="02010600040101010101" pitchFamily="2" charset="-122"/>
              </a:rPr>
              <a:t>枝晶间含有较多</a:t>
            </a:r>
            <a:r>
              <a:rPr lang="zh-CN" altLang="en-US" sz="2800" b="1" dirty="0">
                <a:ea typeface="华文中宋" panose="02010600040101010101" pitchFamily="2" charset="-122"/>
              </a:rPr>
              <a:t>的</a:t>
            </a:r>
            <a:r>
              <a:rPr lang="zh-CN" altLang="en-US" sz="2800" b="1" dirty="0">
                <a:solidFill>
                  <a:schemeClr val="folHlink"/>
                </a:solidFill>
                <a:ea typeface="华文中宋" panose="02010600040101010101" pitchFamily="2" charset="-122"/>
              </a:rPr>
              <a:t>低熔点元素</a:t>
            </a:r>
            <a:r>
              <a:rPr lang="en-US" altLang="zh-CN" sz="2800" b="1" dirty="0">
                <a:ea typeface="华文中宋" panose="02010600040101010101" pitchFamily="2" charset="-122"/>
              </a:rPr>
              <a:t>(</a:t>
            </a:r>
            <a:r>
              <a:rPr lang="zh-CN" altLang="en-US" sz="2800" b="1" dirty="0">
                <a:ea typeface="华文中宋" panose="02010600040101010101" pitchFamily="2" charset="-122"/>
              </a:rPr>
              <a:t>如</a:t>
            </a:r>
            <a:r>
              <a:rPr lang="en-US" altLang="zh-CN" sz="2800" b="1" dirty="0">
                <a:ea typeface="华文中宋" panose="02010600040101010101" pitchFamily="2" charset="-122"/>
              </a:rPr>
              <a:t>Cu-Ni</a:t>
            </a:r>
            <a:r>
              <a:rPr lang="zh-CN" altLang="en-US" sz="2800" b="1" dirty="0">
                <a:ea typeface="华文中宋" panose="02010600040101010101" pitchFamily="2" charset="-122"/>
              </a:rPr>
              <a:t>合金中的</a:t>
            </a:r>
            <a:r>
              <a:rPr lang="en-US" altLang="zh-CN" sz="2800" b="1" dirty="0">
                <a:solidFill>
                  <a:schemeClr val="folHlink"/>
                </a:solidFill>
                <a:ea typeface="华文中宋" panose="02010600040101010101" pitchFamily="2" charset="-122"/>
              </a:rPr>
              <a:t>Cu</a:t>
            </a:r>
            <a:r>
              <a:rPr lang="en-US" altLang="zh-CN" sz="2800" b="1" dirty="0">
                <a:ea typeface="华文中宋" panose="02010600040101010101" pitchFamily="2" charset="-122"/>
              </a:rPr>
              <a:t>).</a:t>
            </a:r>
          </a:p>
        </p:txBody>
      </p:sp>
      <p:pic>
        <p:nvPicPr>
          <p:cNvPr id="278533" name="Picture 5" descr="枝晶偏析示意图"/>
          <p:cNvPicPr>
            <a:picLocks noChangeAspect="1"/>
          </p:cNvPicPr>
          <p:nvPr/>
        </p:nvPicPr>
        <p:blipFill>
          <a:blip r:embed="rId2"/>
          <a:stretch>
            <a:fillRect/>
          </a:stretch>
        </p:blipFill>
        <p:spPr>
          <a:xfrm>
            <a:off x="6339264" y="2276872"/>
            <a:ext cx="2665095" cy="3420745"/>
          </a:xfrm>
          <a:prstGeom prst="rect">
            <a:avLst/>
          </a:prstGeom>
          <a:noFill/>
          <a:ln w="38100" cap="flat" cmpd="sng">
            <a:solidFill>
              <a:srgbClr val="FF9900"/>
            </a:solidFill>
            <a:prstDash val="solid"/>
            <a:miter/>
            <a:headEnd type="none" w="med" len="med"/>
            <a:tailEnd type="none" w="med" len="med"/>
          </a:ln>
        </p:spPr>
      </p:pic>
      <p:pic>
        <p:nvPicPr>
          <p:cNvPr id="9" name="内容占位符 1" descr="新校徽（3M）弓之乐"/>
          <p:cNvPicPr>
            <a:picLocks noChangeAspect="1"/>
          </p:cNvPicPr>
          <p:nvPr/>
        </p:nvPicPr>
        <p:blipFill>
          <a:blip r:embed="rId3"/>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78533"/>
                                        </p:tgtEl>
                                        <p:attrNameLst>
                                          <p:attrName>style.visibility</p:attrName>
                                        </p:attrNameLst>
                                      </p:cBhvr>
                                      <p:to>
                                        <p:strVal val="visible"/>
                                      </p:to>
                                    </p:set>
                                    <p:animEffect transition="in" filter="wipe(up)">
                                      <p:cBhvr>
                                        <p:cTn id="7" dur="500"/>
                                        <p:tgtEl>
                                          <p:spTgt spid="2785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日期占位符 3"/>
          <p:cNvSpPr txBox="1">
            <a:spLocks noGrp="1"/>
          </p:cNvSpPr>
          <p:nvPr>
            <p:ph type="dt" sz="half" idx="10"/>
          </p:nvPr>
        </p:nvSpPr>
        <p:spPr>
          <a:xfrm>
            <a:off x="428625" y="6510655"/>
            <a:ext cx="2416175" cy="34734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59395" name="灯片编号占位符 5"/>
          <p:cNvSpPr txBox="1">
            <a:spLocks noGrp="1"/>
          </p:cNvSpPr>
          <p:nvPr>
            <p:ph type="sldNum" sz="quarter" idx="12"/>
          </p:nvPr>
        </p:nvSpPr>
        <p:spPr>
          <a:xfrm>
            <a:off x="8539480" y="6534785"/>
            <a:ext cx="615950" cy="299085"/>
          </a:xfrm>
        </p:spPr>
        <p:txBody>
          <a:bodyPr lIns="92075" tIns="46038" rIns="92075" bIns="46038" anchor="ctr"/>
          <a:lstStyle/>
          <a:p>
            <a:pPr algn="r" eaLnBrk="1" hangingPunct="1"/>
            <a:fld id="{9A0DB2DC-4C9A-4742-B13C-FB6460FD3503}" type="slidenum">
              <a:rPr lang="en-US" altLang="zh-CN" sz="1400" dirty="0"/>
              <a:t>57</a:t>
            </a:fld>
            <a:endParaRPr lang="en-US" altLang="zh-CN" sz="1400" dirty="0"/>
          </a:p>
        </p:txBody>
      </p:sp>
      <p:sp>
        <p:nvSpPr>
          <p:cNvPr id="278530" name="Rectangle 2"/>
          <p:cNvSpPr>
            <a:spLocks noGrp="1" noChangeArrowheads="1"/>
          </p:cNvSpPr>
          <p:nvPr>
            <p:ph type="title"/>
          </p:nvPr>
        </p:nvSpPr>
        <p:spPr>
          <a:xfrm>
            <a:off x="1390015" y="151130"/>
            <a:ext cx="7037070" cy="1508125"/>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a:t>
            </a: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4</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 枝晶偏析</a:t>
            </a:r>
            <a:b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br>
            <a:r>
              <a:rPr kumimoji="1" lang="en-US" altLang="zh-CN" b="1" i="1" noProof="0" dirty="0">
                <a:ln>
                  <a:noFill/>
                </a:ln>
                <a:solidFill>
                  <a:srgbClr val="FF0000"/>
                </a:solidFill>
                <a:uLnTx/>
                <a:uFillTx/>
                <a:latin typeface="Times New Roman" panose="02020603050405020304" pitchFamily="18" charset="0"/>
                <a:ea typeface="华文中宋" panose="02010600040101010101" pitchFamily="2" charset="-122"/>
                <a:cs typeface="Times New Roman" panose="02020603050405020304" pitchFamily="18" charset="0"/>
                <a:sym typeface="+mn-ea"/>
              </a:rPr>
              <a:t>Dendritic segregation</a:t>
            </a:r>
            <a:endPar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endParaRPr>
          </a:p>
        </p:txBody>
      </p:sp>
      <p:sp>
        <p:nvSpPr>
          <p:cNvPr id="59397" name="Rectangle 3"/>
          <p:cNvSpPr>
            <a:spLocks noGrp="1"/>
          </p:cNvSpPr>
          <p:nvPr>
            <p:ph idx="1"/>
          </p:nvPr>
        </p:nvSpPr>
        <p:spPr>
          <a:xfrm>
            <a:off x="323528" y="2132856"/>
            <a:ext cx="8929182" cy="5142359"/>
          </a:xfrm>
        </p:spPr>
        <p:txBody>
          <a:bodyPr vert="horz" wrap="square" lIns="91440" tIns="45720" rIns="91440" bIns="45720" anchor="t"/>
          <a:lstStyle/>
          <a:p>
            <a:pPr eaLnBrk="1" hangingPunct="1"/>
            <a:r>
              <a:rPr lang="zh-CN" altLang="en-US" sz="2800" b="1" dirty="0">
                <a:solidFill>
                  <a:srgbClr val="0000FF"/>
                </a:solidFill>
                <a:ea typeface="华文中宋" panose="02010600040101010101" pitchFamily="2" charset="-122"/>
              </a:rPr>
              <a:t>枝晶偏析：</a:t>
            </a:r>
            <a:r>
              <a:rPr lang="zh-CN" altLang="en-US" sz="2800" b="1" dirty="0">
                <a:ea typeface="华文中宋" panose="02010600040101010101" pitchFamily="2" charset="-122"/>
              </a:rPr>
              <a:t>在一个</a:t>
            </a:r>
            <a:r>
              <a:rPr lang="zh-CN" altLang="en-US" sz="2800" b="1" dirty="0">
                <a:solidFill>
                  <a:srgbClr val="0000FF"/>
                </a:solidFill>
                <a:ea typeface="华文中宋" panose="02010600040101010101" pitchFamily="2" charset="-122"/>
              </a:rPr>
              <a:t>枝晶范围</a:t>
            </a:r>
            <a:r>
              <a:rPr lang="zh-CN" altLang="en-US" sz="2800" b="1" dirty="0">
                <a:ea typeface="华文中宋" panose="02010600040101010101" pitchFamily="2" charset="-122"/>
              </a:rPr>
              <a:t>内或一个</a:t>
            </a:r>
            <a:r>
              <a:rPr lang="zh-CN" altLang="en-US" sz="2800" b="1" dirty="0">
                <a:solidFill>
                  <a:srgbClr val="0000FF"/>
                </a:solidFill>
                <a:ea typeface="华文中宋" panose="02010600040101010101" pitchFamily="2" charset="-122"/>
              </a:rPr>
              <a:t>晶粒范围</a:t>
            </a:r>
            <a:r>
              <a:rPr lang="zh-CN" altLang="en-US" sz="2800" b="1" dirty="0">
                <a:ea typeface="华文中宋" panose="02010600040101010101" pitchFamily="2" charset="-122"/>
              </a:rPr>
              <a:t>内</a:t>
            </a:r>
            <a:r>
              <a:rPr lang="zh-CN" altLang="en-US" sz="2800" b="1" dirty="0">
                <a:solidFill>
                  <a:srgbClr val="0000FF"/>
                </a:solidFill>
                <a:ea typeface="华文中宋" panose="02010600040101010101" pitchFamily="2" charset="-122"/>
              </a:rPr>
              <a:t>成分不均匀</a:t>
            </a:r>
            <a:r>
              <a:rPr lang="zh-CN" altLang="en-US" sz="2800" b="1" dirty="0">
                <a:ea typeface="华文中宋" panose="02010600040101010101" pitchFamily="2" charset="-122"/>
              </a:rPr>
              <a:t>的现象。</a:t>
            </a:r>
          </a:p>
          <a:p>
            <a:pPr eaLnBrk="1" hangingPunct="1"/>
            <a:r>
              <a:rPr lang="zh-CN" altLang="en-US" sz="2800" b="1" dirty="0">
                <a:solidFill>
                  <a:srgbClr val="0000FF"/>
                </a:solidFill>
                <a:ea typeface="华文中宋" panose="02010600040101010101" pitchFamily="2" charset="-122"/>
              </a:rPr>
              <a:t>影响因素</a:t>
            </a:r>
            <a:r>
              <a:rPr lang="zh-CN" altLang="en-US" sz="2800" b="1" dirty="0">
                <a:ea typeface="华文中宋" panose="02010600040101010101" pitchFamily="2" charset="-122"/>
              </a:rPr>
              <a:t>：冷速、液固相线的间距。</a:t>
            </a:r>
          </a:p>
          <a:p>
            <a:pPr eaLnBrk="1" hangingPunct="1"/>
            <a:r>
              <a:rPr lang="zh-CN" altLang="en-US" sz="2800" b="1" dirty="0">
                <a:ea typeface="华文中宋" panose="02010600040101010101" pitchFamily="2" charset="-122"/>
              </a:rPr>
              <a:t>冷速越大，液固相线间距越大，枝晶偏析越严重。</a:t>
            </a:r>
          </a:p>
          <a:p>
            <a:pPr eaLnBrk="1" hangingPunct="1"/>
            <a:r>
              <a:rPr lang="zh-CN" altLang="en-US" sz="2800" b="1" dirty="0">
                <a:solidFill>
                  <a:srgbClr val="0000FF"/>
                </a:solidFill>
              </a:rPr>
              <a:t>影响：</a:t>
            </a:r>
            <a:r>
              <a:rPr lang="zh-CN" altLang="en-US" sz="2800" b="1" dirty="0">
                <a:ea typeface="华文中宋" panose="02010600040101010101" pitchFamily="2" charset="-122"/>
              </a:rPr>
              <a:t>枝晶偏析会影响合金的力学、耐蚀、加工等性能。</a:t>
            </a:r>
          </a:p>
          <a:p>
            <a:pPr eaLnBrk="1" hangingPunct="1"/>
            <a:r>
              <a:rPr lang="zh-CN" altLang="en-US" sz="2800" b="1" dirty="0">
                <a:solidFill>
                  <a:srgbClr val="0000FF"/>
                </a:solidFill>
              </a:rPr>
              <a:t>消除方法</a:t>
            </a:r>
            <a:r>
              <a:rPr lang="zh-CN" altLang="en-US" sz="2800" b="1" dirty="0"/>
              <a:t>：</a:t>
            </a:r>
            <a:r>
              <a:rPr lang="zh-CN" altLang="en-US" sz="2800" b="1" dirty="0">
                <a:solidFill>
                  <a:srgbClr val="0000FF"/>
                </a:solidFill>
                <a:ea typeface="华文中宋" panose="02010600040101010101" pitchFamily="2" charset="-122"/>
              </a:rPr>
              <a:t>扩散退火</a:t>
            </a:r>
            <a:r>
              <a:rPr lang="zh-CN" altLang="en-US" sz="2800" b="1" dirty="0"/>
              <a:t>（将铸件加热到固相线以下  </a:t>
            </a:r>
            <a:r>
              <a:rPr lang="en-US" altLang="zh-CN" sz="2800" b="1" dirty="0"/>
              <a:t>100-200℃ </a:t>
            </a:r>
            <a:r>
              <a:rPr lang="zh-CN" altLang="en-US" sz="2800" b="1" dirty="0"/>
              <a:t>长时间保温，以使原子充分扩散、成分均匀，消除枝晶偏析）。</a:t>
            </a:r>
            <a:endParaRPr lang="en-US" altLang="zh-CN" sz="2800" b="1" dirty="0"/>
          </a:p>
        </p:txBody>
      </p:sp>
      <p:pic>
        <p:nvPicPr>
          <p:cNvPr id="9" name="内容占位符 1" descr="新校徽（3M）弓之乐"/>
          <p:cNvPicPr>
            <a:picLocks noChangeAspect="1"/>
          </p:cNvPicPr>
          <p:nvPr/>
        </p:nvPicPr>
        <p:blipFill>
          <a:blip r:embed="rId2"/>
          <a:stretch>
            <a:fillRect/>
          </a:stretch>
        </p:blipFill>
        <p:spPr>
          <a:xfrm>
            <a:off x="0" y="0"/>
            <a:ext cx="746760" cy="735965"/>
          </a:xfrm>
          <a:prstGeom prst="rect">
            <a:avLst/>
          </a:prstGeom>
          <a:noFill/>
          <a:ln w="9525">
            <a:noFill/>
          </a:ln>
        </p:spPr>
      </p:pic>
      <p:sp>
        <p:nvSpPr>
          <p:cNvPr id="3" name="圆角矩形 6" descr="7b0a202020202262756c6c6574223a20227b5c2263617465676f727949645c223a31303032352c5c2274656d706c61746549645c223a32303233313437347d220a7d0a"/>
          <p:cNvSpPr/>
          <p:nvPr/>
        </p:nvSpPr>
        <p:spPr>
          <a:xfrm>
            <a:off x="539750" y="2132965"/>
            <a:ext cx="1671955" cy="480060"/>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28575" cmpd="dbl">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800" b="1" dirty="0">
                <a:solidFill>
                  <a:srgbClr val="0000FF"/>
                </a:solidFill>
                <a:ea typeface="华文中宋" panose="02010600040101010101" pitchFamily="2" charset="-122"/>
                <a:sym typeface="+mn-ea"/>
              </a:rPr>
              <a:t>枝晶偏析</a:t>
            </a:r>
            <a:endParaRPr lang="zh-CN" altLang="en-US" sz="2800" b="1" dirty="0">
              <a:solidFill>
                <a:srgbClr val="0066FF"/>
              </a:solidFill>
              <a:latin typeface="宋体" panose="02010600030101010101" pitchFamily="2" charset="-122"/>
              <a:ea typeface="微软雅黑" panose="020B0503020204020204" charset="-122"/>
              <a:cs typeface="微软雅黑" panose="020B0503020204020204" charset="-122"/>
              <a:sym typeface="+mn-ea"/>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日期占位符 3"/>
          <p:cNvSpPr txBox="1">
            <a:spLocks noGrp="1"/>
          </p:cNvSpPr>
          <p:nvPr>
            <p:ph type="dt" sz="half" idx="10"/>
          </p:nvPr>
        </p:nvSpPr>
        <p:spPr>
          <a:xfrm>
            <a:off x="0" y="6557963"/>
            <a:ext cx="2305050"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61443" name="灯片编号占位符 5"/>
          <p:cNvSpPr txBox="1">
            <a:spLocks noGrp="1"/>
          </p:cNvSpPr>
          <p:nvPr>
            <p:ph type="sldNum" sz="quarter" idx="12"/>
          </p:nvPr>
        </p:nvSpPr>
        <p:spPr>
          <a:xfrm>
            <a:off x="7885113" y="6605588"/>
            <a:ext cx="573087" cy="252412"/>
          </a:xfrm>
        </p:spPr>
        <p:txBody>
          <a:bodyPr lIns="92075" tIns="46038" rIns="92075" bIns="46038" anchor="ctr"/>
          <a:lstStyle/>
          <a:p>
            <a:pPr algn="r" eaLnBrk="1" hangingPunct="1"/>
            <a:fld id="{9A0DB2DC-4C9A-4742-B13C-FB6460FD3503}" type="slidenum">
              <a:rPr lang="en-US" altLang="zh-CN" sz="1400" dirty="0"/>
              <a:t>58</a:t>
            </a:fld>
            <a:endParaRPr lang="en-US" altLang="zh-CN" sz="1400" dirty="0"/>
          </a:p>
        </p:txBody>
      </p:sp>
      <p:sp>
        <p:nvSpPr>
          <p:cNvPr id="280578" name="Rectangle 2"/>
          <p:cNvSpPr>
            <a:spLocks noGrp="1" noChangeArrowheads="1"/>
          </p:cNvSpPr>
          <p:nvPr>
            <p:ph type="title"/>
          </p:nvPr>
        </p:nvSpPr>
        <p:spPr>
          <a:xfrm>
            <a:off x="1196809" y="205371"/>
            <a:ext cx="7268294" cy="1347787"/>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Cu-Ni</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合金的平衡组织与枝晶偏析组织</a:t>
            </a:r>
          </a:p>
        </p:txBody>
      </p:sp>
      <p:pic>
        <p:nvPicPr>
          <p:cNvPr id="61446" name="Picture 12" descr="Cu-Ni合金的平衡组织"/>
          <p:cNvPicPr>
            <a:picLocks noChangeAspect="1"/>
          </p:cNvPicPr>
          <p:nvPr/>
        </p:nvPicPr>
        <p:blipFill>
          <a:blip r:embed="rId2"/>
          <a:stretch>
            <a:fillRect/>
          </a:stretch>
        </p:blipFill>
        <p:spPr>
          <a:xfrm>
            <a:off x="473599" y="2201768"/>
            <a:ext cx="4191000" cy="3429000"/>
          </a:xfrm>
          <a:prstGeom prst="rect">
            <a:avLst/>
          </a:prstGeom>
          <a:noFill/>
          <a:ln w="9525">
            <a:noFill/>
          </a:ln>
        </p:spPr>
      </p:pic>
      <p:pic>
        <p:nvPicPr>
          <p:cNvPr id="61447" name="Picture 8" descr="〈工程材料〉图3-13"/>
          <p:cNvPicPr>
            <a:picLocks noChangeAspect="1"/>
          </p:cNvPicPr>
          <p:nvPr/>
        </p:nvPicPr>
        <p:blipFill>
          <a:blip r:embed="rId3"/>
          <a:stretch>
            <a:fillRect/>
          </a:stretch>
        </p:blipFill>
        <p:spPr>
          <a:xfrm>
            <a:off x="5109803" y="2217419"/>
            <a:ext cx="3584575" cy="3518535"/>
          </a:xfrm>
          <a:prstGeom prst="rect">
            <a:avLst/>
          </a:prstGeom>
          <a:noFill/>
          <a:ln w="9525">
            <a:noFill/>
          </a:ln>
        </p:spPr>
      </p:pic>
      <p:sp>
        <p:nvSpPr>
          <p:cNvPr id="10" name="Text Box 6"/>
          <p:cNvSpPr txBox="1">
            <a:spLocks noChangeArrowheads="1"/>
          </p:cNvSpPr>
          <p:nvPr/>
        </p:nvSpPr>
        <p:spPr bwMode="auto">
          <a:xfrm>
            <a:off x="1176134" y="5885657"/>
            <a:ext cx="1828800" cy="584200"/>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3200" b="1" i="0" u="none" strike="noStrike" kern="1200" cap="none" spc="0" normalizeH="0" baseline="0" noProof="0" dirty="0">
                <a:ln>
                  <a:noFill/>
                </a:ln>
                <a:solidFill>
                  <a:srgbClr val="0066FF"/>
                </a:solidFill>
                <a:effectLst>
                  <a:outerShdw blurRad="38100" dist="38100" dir="2700000" algn="tl">
                    <a:srgbClr val="000000"/>
                  </a:outerShdw>
                </a:effectLst>
                <a:uLnTx/>
                <a:uFillTx/>
                <a:latin typeface="+mj-lt"/>
                <a:ea typeface="华文中宋" panose="02010600040101010101" pitchFamily="2" charset="-122"/>
                <a:cs typeface="+mj-cs"/>
              </a:rPr>
              <a:t>平衡组织</a:t>
            </a:r>
          </a:p>
        </p:txBody>
      </p:sp>
      <p:sp>
        <p:nvSpPr>
          <p:cNvPr id="11" name="Text Box 7"/>
          <p:cNvSpPr txBox="1">
            <a:spLocks noChangeArrowheads="1"/>
          </p:cNvSpPr>
          <p:nvPr/>
        </p:nvSpPr>
        <p:spPr bwMode="auto">
          <a:xfrm>
            <a:off x="5431744" y="5802630"/>
            <a:ext cx="3312206" cy="579120"/>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3200" b="1" i="0" u="none" strike="noStrike" kern="1200" cap="none" spc="0" normalizeH="0" baseline="0" noProof="0" dirty="0">
                <a:ln>
                  <a:noFill/>
                </a:ln>
                <a:solidFill>
                  <a:srgbClr val="0066FF"/>
                </a:solidFill>
                <a:effectLst>
                  <a:outerShdw blurRad="38100" dist="38100" dir="2700000" algn="tl">
                    <a:srgbClr val="000000"/>
                  </a:outerShdw>
                </a:effectLst>
                <a:uLnTx/>
                <a:uFillTx/>
                <a:latin typeface="+mj-lt"/>
                <a:ea typeface="华文中宋" panose="02010600040101010101" pitchFamily="2" charset="-122"/>
                <a:cs typeface="+mj-cs"/>
              </a:rPr>
              <a:t>枝晶偏析组织</a:t>
            </a:r>
          </a:p>
        </p:txBody>
      </p:sp>
      <p:pic>
        <p:nvPicPr>
          <p:cNvPr id="12" name="内容占位符 1" descr="新校徽（3M）弓之乐"/>
          <p:cNvPicPr>
            <a:picLocks noChangeAspect="1"/>
          </p:cNvPicPr>
          <p:nvPr/>
        </p:nvPicPr>
        <p:blipFill>
          <a:blip r:embed="rId4"/>
          <a:stretch>
            <a:fillRect/>
          </a:stretch>
        </p:blipFill>
        <p:spPr>
          <a:xfrm>
            <a:off x="0" y="0"/>
            <a:ext cx="746760" cy="735965"/>
          </a:xfrm>
          <a:prstGeom prst="rect">
            <a:avLst/>
          </a:prstGeom>
          <a:noFill/>
          <a:ln w="9525">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763688" y="1676400"/>
            <a:ext cx="6999312" cy="1462088"/>
          </a:xfrm>
        </p:spPr>
        <p:txBody>
          <a:bodyPr/>
          <a:lstStyle/>
          <a:p>
            <a:r>
              <a:rPr kumimoji="1" lang="en-US" altLang="zh-CN" sz="6000" b="1" dirty="0">
                <a:solidFill>
                  <a:srgbClr val="FF0000"/>
                </a:solidFill>
                <a:latin typeface="华文中宋" panose="02010600040101010101" pitchFamily="2" charset="-122"/>
                <a:ea typeface="华文中宋" panose="02010600040101010101" pitchFamily="2" charset="-122"/>
              </a:rPr>
              <a:t>2.</a:t>
            </a:r>
            <a:r>
              <a:rPr kumimoji="1" lang="zh-CN" altLang="en-US" sz="6000" b="1" dirty="0">
                <a:solidFill>
                  <a:srgbClr val="FF0000"/>
                </a:solidFill>
                <a:latin typeface="华文中宋" panose="02010600040101010101" pitchFamily="2" charset="-122"/>
                <a:ea typeface="华文中宋" panose="02010600040101010101" pitchFamily="2" charset="-122"/>
              </a:rPr>
              <a:t>二元共晶相图</a:t>
            </a:r>
            <a:endParaRPr lang="zh-CN" altLang="en-US" sz="6000" dirty="0"/>
          </a:p>
        </p:txBody>
      </p:sp>
      <p:sp>
        <p:nvSpPr>
          <p:cNvPr id="5" name="日期占位符 1"/>
          <p:cNvSpPr txBox="1"/>
          <p:nvPr/>
        </p:nvSpPr>
        <p:spPr>
          <a:xfrm>
            <a:off x="19685" y="6529929"/>
            <a:ext cx="1905000" cy="342900"/>
          </a:xfrm>
          <a:prstGeom prst="rect">
            <a:avLst/>
          </a:prstGeom>
        </p:spPr>
        <p:txBody>
          <a:bodyPr wrap="square" lIns="91440" tIns="45720" rIns="91440" bIns="45720" anchor="b"/>
          <a:lstStyle>
            <a:defPPr>
              <a:defRPr lang="zh-CN"/>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9pPr>
          </a:lstStyle>
          <a:p>
            <a:fld id="{BB962C8B-B14F-4D97-AF65-F5344CB8AC3E}" type="datetime8">
              <a:rPr lang="en-US" altLang="zh-CN" sz="1400" smtClean="0"/>
              <a:t>11/20/2025 5:38 PM</a:t>
            </a:fld>
            <a:endParaRPr lang="en-US" altLang="zh-CN" sz="1400" dirty="0"/>
          </a:p>
        </p:txBody>
      </p:sp>
      <p:sp>
        <p:nvSpPr>
          <p:cNvPr id="6" name="灯片编号占位符 3"/>
          <p:cNvSpPr txBox="1"/>
          <p:nvPr/>
        </p:nvSpPr>
        <p:spPr bwMode="auto">
          <a:xfrm>
            <a:off x="8316416" y="6529928"/>
            <a:ext cx="630734" cy="328072"/>
          </a:xfrm>
          <a:prstGeom prst="rect">
            <a:avLst/>
          </a:prstGeom>
          <a:noFill/>
          <a:ln w="9525">
            <a:noFill/>
            <a:miter lim="800000"/>
          </a:ln>
          <a:effectLst/>
        </p:spPr>
        <p:txBody>
          <a:bodyPr vert="horz" wrap="square" lIns="91440" tIns="45720" rIns="91440" bIns="45720" numCol="1" anchor="b" anchorCtr="0" compatLnSpc="1"/>
          <a:ls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9pPr>
          </a:lstStyle>
          <a:p>
            <a:pPr algn="r"/>
            <a:fld id="{9A0DB2DC-4C9A-4742-B13C-FB6460FD3503}" type="slidenum">
              <a:rPr lang="en-US" altLang="zh-CN" sz="1400" noProof="1" smtClean="0">
                <a:cs typeface="+mn-ea"/>
              </a:rPr>
              <a:t>59</a:t>
            </a:fld>
            <a:endParaRPr lang="en-US" altLang="zh-CN" sz="1400" dirty="0"/>
          </a:p>
        </p:txBody>
      </p:sp>
      <p:sp>
        <p:nvSpPr>
          <p:cNvPr id="3" name="文本框 2"/>
          <p:cNvSpPr txBox="1"/>
          <p:nvPr/>
        </p:nvSpPr>
        <p:spPr>
          <a:xfrm>
            <a:off x="266700" y="3573145"/>
            <a:ext cx="8679815" cy="829945"/>
          </a:xfrm>
          <a:prstGeom prst="rect">
            <a:avLst/>
          </a:prstGeom>
        </p:spPr>
        <p:txBody>
          <a:bodyPr wrap="square">
            <a:spAutoFit/>
          </a:bodyPr>
          <a:lstStyle/>
          <a:p>
            <a:pPr marL="0" indent="0" algn="ctr"/>
            <a:r>
              <a:rPr lang="en-GB" altLang="zh-CN" sz="4800" b="1" i="1" kern="0" dirty="0">
                <a:solidFill>
                  <a:srgbClr val="FF0000"/>
                </a:solidFill>
                <a:latin typeface="Times New Roman" panose="02020603050405020304" pitchFamily="18" charset="0"/>
                <a:ea typeface="+mj-ea"/>
                <a:cs typeface="Times New Roman" panose="02020603050405020304" pitchFamily="18" charset="0"/>
              </a:rPr>
              <a:t>Binary eutectic phase diagram</a:t>
            </a:r>
          </a:p>
        </p:txBody>
      </p:sp>
      <p:pic>
        <p:nvPicPr>
          <p:cNvPr id="4"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264" t="15784" r="3206" b="19580"/>
          <a:stretch>
            <a:fillRect/>
          </a:stretch>
        </p:blipFill>
        <p:spPr bwMode="auto">
          <a:xfrm>
            <a:off x="0" y="0"/>
            <a:ext cx="2372995" cy="582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日期占位符 3"/>
          <p:cNvSpPr txBox="1">
            <a:spLocks noGrp="1"/>
          </p:cNvSpPr>
          <p:nvPr>
            <p:ph type="dt" sz="half" idx="10"/>
          </p:nvPr>
        </p:nvSpPr>
        <p:spPr>
          <a:xfrm>
            <a:off x="0" y="6558280"/>
            <a:ext cx="2308225" cy="34734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62467" name="灯片编号占位符 5"/>
          <p:cNvSpPr txBox="1">
            <a:spLocks noGrp="1"/>
          </p:cNvSpPr>
          <p:nvPr>
            <p:ph type="sldNum" sz="quarter" idx="12"/>
          </p:nvPr>
        </p:nvSpPr>
        <p:spPr>
          <a:xfrm>
            <a:off x="7956550" y="6605588"/>
            <a:ext cx="501650" cy="252412"/>
          </a:xfrm>
        </p:spPr>
        <p:txBody>
          <a:bodyPr lIns="92075" tIns="46038" rIns="92075" bIns="46038" anchor="ctr"/>
          <a:lstStyle/>
          <a:p>
            <a:pPr algn="r" eaLnBrk="1" hangingPunct="1"/>
            <a:fld id="{9A0DB2DC-4C9A-4742-B13C-FB6460FD3503}" type="slidenum">
              <a:rPr lang="en-US" altLang="zh-CN" sz="1400" dirty="0"/>
              <a:t>60</a:t>
            </a:fld>
            <a:endParaRPr lang="en-US" altLang="zh-CN" sz="1400" dirty="0"/>
          </a:p>
        </p:txBody>
      </p:sp>
      <p:sp>
        <p:nvSpPr>
          <p:cNvPr id="69634" name="Rectangle 2"/>
          <p:cNvSpPr>
            <a:spLocks noGrp="1" noChangeArrowheads="1"/>
          </p:cNvSpPr>
          <p:nvPr>
            <p:ph type="title"/>
          </p:nvPr>
        </p:nvSpPr>
        <p:spPr>
          <a:xfrm>
            <a:off x="1056005" y="135890"/>
            <a:ext cx="7390765" cy="1443355"/>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Times New Roman" panose="02020603050405020304" pitchFamily="18" charset="0"/>
                <a:ea typeface="华文中宋" panose="02010600040101010101" pitchFamily="2" charset="-122"/>
                <a:cs typeface="+mj-cs"/>
              </a:rPr>
              <a:t>2</a:t>
            </a:r>
            <a:r>
              <a:rPr kumimoji="1" lang="zh-CN" altLang="en-US" sz="4400" b="1" i="0" u="none" strike="noStrike" kern="0" cap="none" spc="0" normalizeH="0" baseline="0" noProof="0" dirty="0">
                <a:ln>
                  <a:noFill/>
                </a:ln>
                <a:solidFill>
                  <a:srgbClr val="FF0000"/>
                </a:solidFill>
                <a:uLnTx/>
                <a:uFillTx/>
                <a:latin typeface="Times New Roman" panose="02020603050405020304" pitchFamily="18" charset="0"/>
                <a:ea typeface="华文中宋" panose="02010600040101010101" pitchFamily="2" charset="-122"/>
                <a:cs typeface="+mj-cs"/>
              </a:rPr>
              <a:t>、二元共晶相图</a:t>
            </a:r>
            <a:br>
              <a:rPr kumimoji="1" lang="zh-CN" altLang="en-US" sz="4400" b="1" i="0" u="none" strike="noStrike" kern="0" cap="none" spc="0" normalizeH="0" baseline="0" noProof="0" dirty="0">
                <a:ln>
                  <a:noFill/>
                </a:ln>
                <a:solidFill>
                  <a:srgbClr val="FF0000"/>
                </a:solidFill>
                <a:uLnTx/>
                <a:uFillTx/>
                <a:latin typeface="Times New Roman" panose="02020603050405020304" pitchFamily="18" charset="0"/>
                <a:ea typeface="华文中宋" panose="02010600040101010101" pitchFamily="2" charset="-122"/>
                <a:cs typeface="+mj-cs"/>
              </a:rPr>
            </a:br>
            <a:r>
              <a:rPr lang="en-GB" altLang="zh-CN" b="1" i="1" dirty="0">
                <a:solidFill>
                  <a:srgbClr val="FF0000"/>
                </a:solidFill>
                <a:latin typeface="Times New Roman" panose="02020603050405020304" pitchFamily="18" charset="0"/>
                <a:cs typeface="Times New Roman" panose="02020603050405020304" pitchFamily="18" charset="0"/>
                <a:sym typeface="+mn-ea"/>
              </a:rPr>
              <a:t>Binary eutectic phase diagram</a:t>
            </a:r>
            <a:endParaRPr kumimoji="1" lang="zh-CN" altLang="en-US" sz="4400" b="1" i="0" u="none" strike="noStrike" kern="0" cap="none" spc="0" normalizeH="0" baseline="0" noProof="0" dirty="0">
              <a:ln>
                <a:noFill/>
              </a:ln>
              <a:solidFill>
                <a:srgbClr val="FF0000"/>
              </a:solidFill>
              <a:uLnTx/>
              <a:uFillTx/>
              <a:latin typeface="Times New Roman" panose="02020603050405020304" pitchFamily="18" charset="0"/>
              <a:ea typeface="华文中宋" panose="02010600040101010101" pitchFamily="2" charset="-122"/>
              <a:cs typeface="+mj-cs"/>
            </a:endParaRPr>
          </a:p>
        </p:txBody>
      </p:sp>
      <p:sp>
        <p:nvSpPr>
          <p:cNvPr id="69635" name="Rectangle 3"/>
          <p:cNvSpPr>
            <a:spLocks noGrp="1"/>
          </p:cNvSpPr>
          <p:nvPr>
            <p:ph idx="1"/>
          </p:nvPr>
        </p:nvSpPr>
        <p:spPr>
          <a:xfrm>
            <a:off x="112237" y="2057636"/>
            <a:ext cx="4683125" cy="4969557"/>
          </a:xfrm>
        </p:spPr>
        <p:txBody>
          <a:bodyPr vert="horz" wrap="square" lIns="91440" tIns="45720" rIns="91440" bIns="45720" anchor="t"/>
          <a:lstStyle/>
          <a:p>
            <a:pPr eaLnBrk="1" hangingPunct="1">
              <a:lnSpc>
                <a:spcPct val="110000"/>
              </a:lnSpc>
            </a:pPr>
            <a:r>
              <a:rPr lang="zh-CN" altLang="en-US" b="1" dirty="0">
                <a:solidFill>
                  <a:srgbClr val="0000FF"/>
                </a:solidFill>
                <a:ea typeface="华文中宋" panose="02010600040101010101" pitchFamily="2" charset="-122"/>
              </a:rPr>
              <a:t>共晶相图</a:t>
            </a:r>
            <a:r>
              <a:rPr lang="zh-CN" altLang="en-US" b="1" dirty="0">
                <a:ea typeface="华文中宋" panose="02010600040101010101" pitchFamily="2" charset="-122"/>
              </a:rPr>
              <a:t>：当两组元在</a:t>
            </a:r>
            <a:r>
              <a:rPr lang="zh-CN" altLang="en-US" b="1" dirty="0">
                <a:solidFill>
                  <a:srgbClr val="0000FF"/>
                </a:solidFill>
                <a:ea typeface="华文中宋" panose="02010600040101010101" pitchFamily="2" charset="-122"/>
              </a:rPr>
              <a:t>液态下</a:t>
            </a:r>
            <a:r>
              <a:rPr lang="zh-CN" altLang="en-US" b="1" dirty="0">
                <a:solidFill>
                  <a:srgbClr val="FF0000"/>
                </a:solidFill>
                <a:ea typeface="华文中宋" panose="02010600040101010101" pitchFamily="2" charset="-122"/>
              </a:rPr>
              <a:t>完全互溶</a:t>
            </a:r>
            <a:r>
              <a:rPr lang="zh-CN" altLang="en-US" b="1" dirty="0">
                <a:ea typeface="华文中宋" panose="02010600040101010101" pitchFamily="2" charset="-122"/>
              </a:rPr>
              <a:t>，在</a:t>
            </a:r>
            <a:r>
              <a:rPr lang="zh-CN" altLang="en-US" b="1" dirty="0">
                <a:solidFill>
                  <a:srgbClr val="0000FF"/>
                </a:solidFill>
                <a:ea typeface="华文中宋" panose="02010600040101010101" pitchFamily="2" charset="-122"/>
              </a:rPr>
              <a:t>固态下</a:t>
            </a:r>
            <a:r>
              <a:rPr lang="zh-CN" altLang="en-US" b="1" dirty="0">
                <a:solidFill>
                  <a:srgbClr val="FF0000"/>
                </a:solidFill>
                <a:ea typeface="华文中宋" panose="02010600040101010101" pitchFamily="2" charset="-122"/>
              </a:rPr>
              <a:t>有限互溶</a:t>
            </a:r>
            <a:r>
              <a:rPr lang="en-US" altLang="zh-CN" b="1" dirty="0">
                <a:ea typeface="华文中宋" panose="02010600040101010101" pitchFamily="2" charset="-122"/>
              </a:rPr>
              <a:t>,</a:t>
            </a:r>
            <a:r>
              <a:rPr lang="zh-CN" altLang="en-US" b="1" dirty="0">
                <a:ea typeface="华文中宋" panose="02010600040101010101" pitchFamily="2" charset="-122"/>
              </a:rPr>
              <a:t>并发生</a:t>
            </a:r>
            <a:r>
              <a:rPr lang="zh-CN" altLang="en-US" b="1" dirty="0">
                <a:solidFill>
                  <a:srgbClr val="0000FF"/>
                </a:solidFill>
                <a:ea typeface="华文中宋" panose="02010600040101010101" pitchFamily="2" charset="-122"/>
              </a:rPr>
              <a:t>共晶反应</a:t>
            </a:r>
            <a:r>
              <a:rPr lang="zh-CN" altLang="en-US" b="1" dirty="0">
                <a:ea typeface="华文中宋" panose="02010600040101010101" pitchFamily="2" charset="-122"/>
              </a:rPr>
              <a:t>时所构成的相图。</a:t>
            </a:r>
          </a:p>
          <a:p>
            <a:pPr eaLnBrk="1" hangingPunct="1">
              <a:lnSpc>
                <a:spcPct val="110000"/>
              </a:lnSpc>
            </a:pPr>
            <a:r>
              <a:rPr lang="zh-CN" altLang="en-US" b="1" dirty="0">
                <a:solidFill>
                  <a:srgbClr val="0000FF"/>
                </a:solidFill>
                <a:ea typeface="华文中宋" panose="02010600040101010101" pitchFamily="2" charset="-122"/>
              </a:rPr>
              <a:t>共晶反应</a:t>
            </a:r>
            <a:r>
              <a:rPr lang="en-US" altLang="zh-CN" b="1" dirty="0">
                <a:solidFill>
                  <a:srgbClr val="0000FF"/>
                </a:solidFill>
                <a:ea typeface="华文中宋" panose="02010600040101010101" pitchFamily="2" charset="-122"/>
              </a:rPr>
              <a:t>(</a:t>
            </a:r>
            <a:r>
              <a:rPr lang="zh-CN" altLang="en-US" b="1" dirty="0">
                <a:solidFill>
                  <a:srgbClr val="0000FF"/>
                </a:solidFill>
                <a:sym typeface="Symbol" panose="05050102010706020507" pitchFamily="18" charset="2"/>
              </a:rPr>
              <a:t>共晶转变</a:t>
            </a:r>
            <a:r>
              <a:rPr lang="en-US" altLang="zh-CN" b="1" dirty="0">
                <a:solidFill>
                  <a:srgbClr val="0000FF"/>
                </a:solidFill>
                <a:ea typeface="华文中宋" panose="02010600040101010101" pitchFamily="2" charset="-122"/>
              </a:rPr>
              <a:t>)</a:t>
            </a:r>
            <a:r>
              <a:rPr lang="zh-CN" altLang="en-US" b="1" dirty="0">
                <a:solidFill>
                  <a:srgbClr val="0000FF"/>
                </a:solidFill>
                <a:ea typeface="华文中宋" panose="02010600040101010101" pitchFamily="2" charset="-122"/>
              </a:rPr>
              <a:t>：</a:t>
            </a:r>
            <a:r>
              <a:rPr lang="zh-CN" altLang="en-US" b="1" dirty="0">
                <a:ea typeface="华文中宋" panose="02010600040101010101" pitchFamily="2" charset="-122"/>
              </a:rPr>
              <a:t>从</a:t>
            </a:r>
            <a:r>
              <a:rPr lang="zh-CN" altLang="en-US" b="1" dirty="0">
                <a:solidFill>
                  <a:srgbClr val="0000FF"/>
                </a:solidFill>
                <a:ea typeface="华文中宋" panose="02010600040101010101" pitchFamily="2" charset="-122"/>
              </a:rPr>
              <a:t>一种液相</a:t>
            </a:r>
            <a:r>
              <a:rPr lang="zh-CN" altLang="en-US" b="1" dirty="0">
                <a:ea typeface="华文中宋" panose="02010600040101010101" pitchFamily="2" charset="-122"/>
              </a:rPr>
              <a:t>中同时结晶出</a:t>
            </a:r>
            <a:r>
              <a:rPr lang="zh-CN" altLang="en-US" b="1" dirty="0">
                <a:solidFill>
                  <a:srgbClr val="0000FF"/>
                </a:solidFill>
                <a:ea typeface="华文中宋" panose="02010600040101010101" pitchFamily="2" charset="-122"/>
              </a:rPr>
              <a:t>两种晶体</a:t>
            </a:r>
            <a:r>
              <a:rPr lang="zh-CN" altLang="en-US" b="1" dirty="0">
                <a:ea typeface="华文中宋" panose="02010600040101010101" pitchFamily="2" charset="-122"/>
              </a:rPr>
              <a:t>。</a:t>
            </a:r>
          </a:p>
        </p:txBody>
      </p:sp>
      <p:grpSp>
        <p:nvGrpSpPr>
          <p:cNvPr id="2" name="Group 11"/>
          <p:cNvGrpSpPr/>
          <p:nvPr/>
        </p:nvGrpSpPr>
        <p:grpSpPr>
          <a:xfrm>
            <a:off x="4860191" y="1917302"/>
            <a:ext cx="4061180" cy="4146735"/>
            <a:chOff x="2316" y="818"/>
            <a:chExt cx="3452" cy="3184"/>
          </a:xfrm>
        </p:grpSpPr>
        <p:grpSp>
          <p:nvGrpSpPr>
            <p:cNvPr id="62474" name="Group 4"/>
            <p:cNvGrpSpPr/>
            <p:nvPr/>
          </p:nvGrpSpPr>
          <p:grpSpPr>
            <a:xfrm>
              <a:off x="2465" y="818"/>
              <a:ext cx="3303" cy="3184"/>
              <a:chOff x="2329" y="818"/>
              <a:chExt cx="3448" cy="3184"/>
            </a:xfrm>
          </p:grpSpPr>
          <p:sp>
            <p:nvSpPr>
              <p:cNvPr id="62479" name="Text Box 5"/>
              <p:cNvSpPr txBox="1"/>
              <p:nvPr/>
            </p:nvSpPr>
            <p:spPr>
              <a:xfrm>
                <a:off x="3054" y="3648"/>
                <a:ext cx="2210" cy="354"/>
              </a:xfrm>
              <a:prstGeom prst="rect">
                <a:avLst/>
              </a:prstGeom>
              <a:noFill/>
              <a:ln w="38100">
                <a:noFill/>
              </a:ln>
            </p:spPr>
            <p:txBody>
              <a:bodyPr wrap="square">
                <a:spAutoFit/>
              </a:bodyPr>
              <a:lstStyle/>
              <a:p>
                <a:pPr lvl="0" algn="ctr" eaLnBrk="1" hangingPunct="1">
                  <a:spcBef>
                    <a:spcPct val="50000"/>
                  </a:spcBef>
                </a:pPr>
                <a:r>
                  <a:rPr lang="en-US" altLang="zh-CN" sz="2400" b="1" dirty="0">
                    <a:solidFill>
                      <a:schemeClr val="folHlink"/>
                    </a:solidFill>
                    <a:latin typeface="Times New Roman" panose="02020603050405020304" pitchFamily="18" charset="0"/>
                    <a:ea typeface="宋体" panose="02010600030101010101" pitchFamily="2" charset="-122"/>
                  </a:rPr>
                  <a:t>Pb-Sn</a:t>
                </a:r>
                <a:r>
                  <a:rPr lang="zh-CN" altLang="en-US" sz="2400" b="1" dirty="0">
                    <a:solidFill>
                      <a:schemeClr val="folHlink"/>
                    </a:solidFill>
                    <a:latin typeface="Times New Roman" panose="02020603050405020304" pitchFamily="18" charset="0"/>
                    <a:ea typeface="宋体" panose="02010600030101010101" pitchFamily="2" charset="-122"/>
                  </a:rPr>
                  <a:t>合金相图</a:t>
                </a:r>
              </a:p>
            </p:txBody>
          </p:sp>
          <p:pic>
            <p:nvPicPr>
              <p:cNvPr id="62480" name="Picture 6" descr="Pb-Sn相图2"/>
              <p:cNvPicPr>
                <a:picLocks noChangeAspect="1"/>
              </p:cNvPicPr>
              <p:nvPr/>
            </p:nvPicPr>
            <p:blipFill>
              <a:blip r:embed="rId3"/>
              <a:stretch>
                <a:fillRect/>
              </a:stretch>
            </p:blipFill>
            <p:spPr>
              <a:xfrm>
                <a:off x="2329" y="818"/>
                <a:ext cx="3448" cy="2722"/>
              </a:xfrm>
              <a:prstGeom prst="rect">
                <a:avLst/>
              </a:prstGeom>
              <a:noFill/>
              <a:ln w="38100" cap="flat" cmpd="sng">
                <a:solidFill>
                  <a:srgbClr val="FF9900"/>
                </a:solidFill>
                <a:prstDash val="solid"/>
                <a:miter/>
                <a:headEnd type="none" w="med" len="med"/>
                <a:tailEnd type="none" w="med" len="med"/>
              </a:ln>
            </p:spPr>
          </p:pic>
        </p:grpSp>
        <p:sp>
          <p:nvSpPr>
            <p:cNvPr id="62475" name="Rectangle 7"/>
            <p:cNvSpPr/>
            <p:nvPr/>
          </p:nvSpPr>
          <p:spPr>
            <a:xfrm>
              <a:off x="3397" y="3378"/>
              <a:ext cx="1194" cy="216"/>
            </a:xfrm>
            <a:prstGeom prst="rect">
              <a:avLst/>
            </a:prstGeom>
            <a:solidFill>
              <a:schemeClr val="bg1"/>
            </a:solidFill>
            <a:ln w="38100" cap="flat" cmpd="sng">
              <a:noFill/>
              <a:prstDash val="solid"/>
              <a:miter/>
              <a:headEnd type="none" w="med" len="med"/>
              <a:tailEnd type="none" w="med" len="med"/>
            </a:ln>
          </p:spPr>
          <p:txBody>
            <a:bodyPr wrap="none" anchor="ctr"/>
            <a:lstStyle/>
            <a:p>
              <a:pPr lvl="0" algn="ctr" eaLnBrk="1" hangingPunct="1"/>
              <a:r>
                <a:rPr lang="zh-CN" altLang="en-US" sz="1800" b="1" dirty="0">
                  <a:solidFill>
                    <a:schemeClr val="bg2"/>
                  </a:solidFill>
                  <a:latin typeface="Times New Roman" panose="02020603050405020304" pitchFamily="18" charset="0"/>
                  <a:ea typeface="宋体" panose="02010600030101010101" pitchFamily="2" charset="-122"/>
                </a:rPr>
                <a:t>成分（</a:t>
              </a:r>
              <a:r>
                <a:rPr lang="en-US" altLang="zh-CN" sz="1800" b="1" dirty="0">
                  <a:solidFill>
                    <a:schemeClr val="bg2"/>
                  </a:solidFill>
                  <a:latin typeface="Times New Roman" panose="02020603050405020304" pitchFamily="18" charset="0"/>
                  <a:ea typeface="宋体" panose="02010600030101010101" pitchFamily="2" charset="-122"/>
                </a:rPr>
                <a:t>wt%Sn</a:t>
              </a:r>
              <a:r>
                <a:rPr lang="zh-CN" altLang="en-US" b="1" dirty="0">
                  <a:solidFill>
                    <a:schemeClr val="bg2"/>
                  </a:solidFill>
                  <a:latin typeface="Times New Roman" panose="02020603050405020304" pitchFamily="18" charset="0"/>
                </a:rPr>
                <a:t>）</a:t>
              </a:r>
            </a:p>
          </p:txBody>
        </p:sp>
        <p:sp>
          <p:nvSpPr>
            <p:cNvPr id="62476" name="Rectangle 8"/>
            <p:cNvSpPr/>
            <p:nvPr/>
          </p:nvSpPr>
          <p:spPr>
            <a:xfrm rot="16218779">
              <a:off x="2142" y="1963"/>
              <a:ext cx="720" cy="372"/>
            </a:xfrm>
            <a:prstGeom prst="rect">
              <a:avLst/>
            </a:prstGeom>
            <a:solidFill>
              <a:schemeClr val="bg1"/>
            </a:solidFill>
            <a:ln w="38100" cap="flat" cmpd="sng">
              <a:noFill/>
              <a:prstDash val="solid"/>
              <a:miter/>
              <a:headEnd type="none" w="med" len="med"/>
              <a:tailEnd type="none" w="med" len="med"/>
            </a:ln>
          </p:spPr>
          <p:txBody>
            <a:bodyPr wrap="none" anchor="ctr"/>
            <a:lstStyle/>
            <a:p>
              <a:pPr lvl="0" algn="ctr" eaLnBrk="1" hangingPunct="1"/>
              <a:r>
                <a:rPr lang="zh-CN" altLang="en-US" sz="1600" b="1" dirty="0">
                  <a:solidFill>
                    <a:schemeClr val="bg2"/>
                  </a:solidFill>
                  <a:latin typeface="Times New Roman" panose="02020603050405020304" pitchFamily="18" charset="0"/>
                  <a:ea typeface="宋体" panose="02010600030101010101" pitchFamily="2" charset="-122"/>
                </a:rPr>
                <a:t>温度（℃</a:t>
              </a:r>
              <a:r>
                <a:rPr lang="zh-CN" altLang="en-US" sz="1800" b="1" dirty="0">
                  <a:solidFill>
                    <a:schemeClr val="bg2"/>
                  </a:solidFill>
                  <a:latin typeface="Times New Roman" panose="02020603050405020304" pitchFamily="18" charset="0"/>
                  <a:ea typeface="宋体" panose="02010600030101010101" pitchFamily="2" charset="-122"/>
                </a:rPr>
                <a:t>）</a:t>
              </a:r>
              <a:endParaRPr lang="zh-CN" altLang="en-US" sz="2400" b="1" dirty="0">
                <a:solidFill>
                  <a:schemeClr val="bg2"/>
                </a:solidFill>
                <a:latin typeface="Times New Roman" panose="02020603050405020304" pitchFamily="18" charset="0"/>
                <a:ea typeface="宋体" panose="02010600030101010101" pitchFamily="2" charset="-122"/>
              </a:endParaRPr>
            </a:p>
          </p:txBody>
        </p:sp>
        <p:sp>
          <p:nvSpPr>
            <p:cNvPr id="62477" name="Rectangle 9"/>
            <p:cNvSpPr/>
            <p:nvPr/>
          </p:nvSpPr>
          <p:spPr>
            <a:xfrm>
              <a:off x="2496" y="3444"/>
              <a:ext cx="192" cy="96"/>
            </a:xfrm>
            <a:prstGeom prst="rect">
              <a:avLst/>
            </a:prstGeom>
            <a:solidFill>
              <a:schemeClr val="bg1">
                <a:lumMod val="95000"/>
              </a:schemeClr>
            </a:solidFill>
            <a:ln w="38100" cap="flat" cmpd="sng">
              <a:noFill/>
              <a:prstDash val="solid"/>
              <a:miter/>
              <a:headEnd type="none" w="med" len="med"/>
              <a:tailEnd type="none" w="med" len="med"/>
            </a:ln>
          </p:spPr>
          <p:txBody>
            <a:bodyPr wrap="none" anchor="ctr"/>
            <a:lstStyle/>
            <a:p>
              <a:pPr lvl="0" algn="ctr" eaLnBrk="1" hangingPunct="1"/>
              <a:r>
                <a:rPr lang="en-US" altLang="zh-CN" sz="1800" dirty="0">
                  <a:solidFill>
                    <a:schemeClr val="bg2"/>
                  </a:solidFill>
                  <a:latin typeface="Times New Roman" panose="02020603050405020304" pitchFamily="18" charset="0"/>
                  <a:ea typeface="宋体" panose="02010600030101010101" pitchFamily="2" charset="-122"/>
                </a:rPr>
                <a:t>Pb</a:t>
              </a:r>
            </a:p>
          </p:txBody>
        </p:sp>
        <p:sp>
          <p:nvSpPr>
            <p:cNvPr id="62478" name="Rectangle 10"/>
            <p:cNvSpPr/>
            <p:nvPr/>
          </p:nvSpPr>
          <p:spPr>
            <a:xfrm>
              <a:off x="5220" y="3444"/>
              <a:ext cx="192" cy="96"/>
            </a:xfrm>
            <a:prstGeom prst="rect">
              <a:avLst/>
            </a:prstGeom>
            <a:solidFill>
              <a:schemeClr val="bg1"/>
            </a:solidFill>
            <a:ln w="38100" cap="flat" cmpd="sng">
              <a:noFill/>
              <a:prstDash val="solid"/>
              <a:miter/>
              <a:headEnd type="none" w="med" len="med"/>
              <a:tailEnd type="none" w="med" len="med"/>
            </a:ln>
          </p:spPr>
          <p:txBody>
            <a:bodyPr wrap="none" anchor="ctr"/>
            <a:lstStyle/>
            <a:p>
              <a:pPr lvl="0" algn="ctr" eaLnBrk="1" hangingPunct="1"/>
              <a:r>
                <a:rPr lang="en-US" altLang="zh-CN" sz="1800" dirty="0">
                  <a:solidFill>
                    <a:schemeClr val="bg2"/>
                  </a:solidFill>
                  <a:latin typeface="Times New Roman" panose="02020603050405020304" pitchFamily="18" charset="0"/>
                  <a:ea typeface="宋体" panose="02010600030101010101" pitchFamily="2" charset="-122"/>
                </a:rPr>
                <a:t>Sn</a:t>
              </a:r>
            </a:p>
          </p:txBody>
        </p:sp>
      </p:grpSp>
      <p:sp>
        <p:nvSpPr>
          <p:cNvPr id="62471" name="Rectangle 13"/>
          <p:cNvSpPr/>
          <p:nvPr/>
        </p:nvSpPr>
        <p:spPr>
          <a:xfrm>
            <a:off x="0" y="3328988"/>
            <a:ext cx="9144000" cy="0"/>
          </a:xfrm>
          <a:prstGeom prst="rect">
            <a:avLst/>
          </a:prstGeom>
          <a:noFill/>
          <a:ln w="9525">
            <a:noFill/>
          </a:ln>
        </p:spPr>
        <p:txBody>
          <a:bodyPr wrap="none" anchor="ctr">
            <a:spAutoFit/>
          </a:bodyP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62472" name="Rectangle 14"/>
          <p:cNvSpPr/>
          <p:nvPr/>
        </p:nvSpPr>
        <p:spPr>
          <a:xfrm>
            <a:off x="2978783" y="5922499"/>
            <a:ext cx="2956259" cy="667106"/>
          </a:xfrm>
          <a:prstGeom prst="rect">
            <a:avLst/>
          </a:prstGeom>
          <a:solidFill>
            <a:srgbClr val="FFFF66"/>
          </a:solidFill>
          <a:ln w="9525">
            <a:noFill/>
          </a:ln>
        </p:spPr>
        <p:txBody>
          <a:bodyPr wrap="none">
            <a:spAutoFit/>
          </a:bodyPr>
          <a:lstStyle/>
          <a:p>
            <a:pPr lvl="0" eaLnBrk="1" hangingPunct="1">
              <a:lnSpc>
                <a:spcPct val="130000"/>
              </a:lnSpc>
              <a:spcBef>
                <a:spcPct val="20000"/>
              </a:spcBef>
              <a:buClr>
                <a:schemeClr val="accent2"/>
              </a:buClr>
              <a:buSzPct val="80000"/>
              <a:buFont typeface="Wingdings" panose="05000000000000000000" pitchFamily="2" charset="2"/>
              <a:buNone/>
            </a:pPr>
            <a:r>
              <a:rPr lang="en-US" altLang="zh-CN" sz="3200" b="1" i="1" dirty="0">
                <a:solidFill>
                  <a:schemeClr val="folHlink"/>
                </a:solidFill>
                <a:latin typeface="Times New Roman" panose="02020603050405020304" pitchFamily="18" charset="0"/>
                <a:ea typeface="宋体" panose="02010600030101010101" pitchFamily="2" charset="-122"/>
              </a:rPr>
              <a:t>L</a:t>
            </a:r>
            <a:r>
              <a:rPr lang="en-US" altLang="zh-CN" sz="3200" b="1" baseline="-25000" dirty="0">
                <a:solidFill>
                  <a:schemeClr val="folHlink"/>
                </a:solidFill>
                <a:latin typeface="Times New Roman" panose="02020603050405020304" pitchFamily="18" charset="0"/>
                <a:ea typeface="宋体" panose="02010600030101010101" pitchFamily="2" charset="-122"/>
              </a:rPr>
              <a:t>E</a:t>
            </a:r>
            <a:r>
              <a:rPr lang="en-US" altLang="zh-CN" sz="3200" b="1" dirty="0">
                <a:solidFill>
                  <a:schemeClr val="folHlink"/>
                </a:solidFill>
                <a:latin typeface="Times New Roman" panose="02020603050405020304" pitchFamily="18" charset="0"/>
                <a:ea typeface="宋体" panose="02010600030101010101" pitchFamily="2" charset="-122"/>
              </a:rPr>
              <a:t> ⇄ ( </a:t>
            </a:r>
            <a:r>
              <a:rPr lang="en-US" altLang="zh-CN" sz="3200" b="1" i="1" dirty="0">
                <a:solidFill>
                  <a:schemeClr val="folHlink"/>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1" baseline="-25000" dirty="0">
                <a:solidFill>
                  <a:schemeClr val="folHlink"/>
                </a:solidFill>
                <a:latin typeface="Times New Roman" panose="02020603050405020304" pitchFamily="18" charset="0"/>
                <a:ea typeface="宋体" panose="02010600030101010101" pitchFamily="2" charset="-122"/>
                <a:sym typeface="Symbol" panose="05050102010706020507" pitchFamily="18" charset="2"/>
              </a:rPr>
              <a:t>C</a:t>
            </a:r>
            <a:r>
              <a:rPr lang="en-US" altLang="zh-CN" sz="3200" b="1" dirty="0">
                <a:solidFill>
                  <a:schemeClr val="folHlink"/>
                </a:solidFill>
                <a:latin typeface="Times New Roman" panose="02020603050405020304" pitchFamily="18" charset="0"/>
                <a:ea typeface="宋体" panose="02010600030101010101" pitchFamily="2" charset="-122"/>
                <a:sym typeface="Symbol" panose="05050102010706020507" pitchFamily="18" charset="2"/>
              </a:rPr>
              <a:t> + </a:t>
            </a:r>
            <a:r>
              <a:rPr lang="en-US" altLang="zh-CN" sz="3200" b="1" i="1" dirty="0">
                <a:solidFill>
                  <a:schemeClr val="folHlink"/>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1" baseline="-25000" dirty="0">
                <a:solidFill>
                  <a:schemeClr val="folHlink"/>
                </a:solidFill>
                <a:latin typeface="Times New Roman" panose="02020603050405020304" pitchFamily="18" charset="0"/>
                <a:ea typeface="宋体" panose="02010600030101010101" pitchFamily="2" charset="-122"/>
                <a:sym typeface="Symbol" panose="05050102010706020507" pitchFamily="18" charset="2"/>
              </a:rPr>
              <a:t>D</a:t>
            </a:r>
            <a:r>
              <a:rPr lang="en-US" altLang="zh-CN" sz="3200" b="1" dirty="0">
                <a:solidFill>
                  <a:schemeClr val="folHlink"/>
                </a:solidFill>
                <a:latin typeface="Times New Roman" panose="02020603050405020304" pitchFamily="18" charset="0"/>
                <a:ea typeface="宋体" panose="02010600030101010101" pitchFamily="2" charset="-122"/>
                <a:sym typeface="Symbol" panose="05050102010706020507" pitchFamily="18" charset="2"/>
              </a:rPr>
              <a:t> )</a:t>
            </a:r>
          </a:p>
        </p:txBody>
      </p:sp>
      <p:pic>
        <p:nvPicPr>
          <p:cNvPr id="17" name="内容占位符 1" descr="新校徽（3M）弓之乐"/>
          <p:cNvPicPr>
            <a:picLocks noChangeAspect="1"/>
          </p:cNvPicPr>
          <p:nvPr/>
        </p:nvPicPr>
        <p:blipFill>
          <a:blip r:embed="rId4"/>
          <a:stretch>
            <a:fillRect/>
          </a:stretch>
        </p:blipFill>
        <p:spPr>
          <a:xfrm>
            <a:off x="0" y="0"/>
            <a:ext cx="746760" cy="735965"/>
          </a:xfrm>
          <a:prstGeom prst="rect">
            <a:avLst/>
          </a:prstGeom>
          <a:noFill/>
          <a:ln w="9525">
            <a:noFill/>
          </a:ln>
        </p:spPr>
      </p:pic>
      <p:sp>
        <p:nvSpPr>
          <p:cNvPr id="3" name="圆角矩形 6" descr="7b0a202020202262756c6c6574223a20227b5c2263617465676f727949645c223a31303032352c5c2274656d706c61746549645c223a32303233313437347d220a7d0a"/>
          <p:cNvSpPr/>
          <p:nvPr/>
        </p:nvSpPr>
        <p:spPr>
          <a:xfrm>
            <a:off x="467360" y="2132965"/>
            <a:ext cx="1671955" cy="480060"/>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28575" cmpd="dbl">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800" b="1" dirty="0">
                <a:solidFill>
                  <a:srgbClr val="0000FF"/>
                </a:solidFill>
                <a:ea typeface="华文中宋" panose="02010600040101010101" pitchFamily="2" charset="-122"/>
                <a:sym typeface="+mn-ea"/>
              </a:rPr>
              <a:t>共晶相图</a:t>
            </a:r>
            <a:endParaRPr lang="zh-CN" altLang="en-US" sz="2800" b="1" dirty="0">
              <a:solidFill>
                <a:srgbClr val="0066FF"/>
              </a:solidFill>
              <a:latin typeface="宋体" panose="02010600030101010101" pitchFamily="2" charset="-122"/>
              <a:ea typeface="微软雅黑" panose="020B0503020204020204" charset="-122"/>
              <a:cs typeface="微软雅黑" panose="020B0503020204020204" charset="-122"/>
              <a:sym typeface="+mn-ea"/>
            </a:endParaRPr>
          </a:p>
        </p:txBody>
      </p:sp>
      <p:sp>
        <p:nvSpPr>
          <p:cNvPr id="4" name="圆角矩形 6" descr="7b0a202020202262756c6c6574223a20227b5c2263617465676f727949645c223a31303032352c5c2274656d706c61746549645c223a32303233313437347d220a7d0a"/>
          <p:cNvSpPr/>
          <p:nvPr/>
        </p:nvSpPr>
        <p:spPr>
          <a:xfrm>
            <a:off x="569802" y="4931199"/>
            <a:ext cx="3631565" cy="480060"/>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28575" cmpd="dbl">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800" b="1" dirty="0">
                <a:solidFill>
                  <a:srgbClr val="0000FF"/>
                </a:solidFill>
                <a:ea typeface="华文中宋" panose="02010600040101010101" pitchFamily="2" charset="-122"/>
                <a:sym typeface="+mn-ea"/>
              </a:rPr>
              <a:t>共晶反应</a:t>
            </a:r>
            <a:r>
              <a:rPr lang="en-US" altLang="zh-CN" sz="2800" b="1" dirty="0">
                <a:solidFill>
                  <a:srgbClr val="0000FF"/>
                </a:solidFill>
                <a:ea typeface="华文中宋" panose="02010600040101010101" pitchFamily="2" charset="-122"/>
                <a:sym typeface="+mn-ea"/>
              </a:rPr>
              <a:t>(</a:t>
            </a:r>
            <a:r>
              <a:rPr lang="zh-CN" altLang="en-US" sz="2800" b="1" dirty="0">
                <a:solidFill>
                  <a:srgbClr val="0000FF"/>
                </a:solidFill>
                <a:sym typeface="Symbol" panose="05050102010706020507" pitchFamily="18" charset="2"/>
              </a:rPr>
              <a:t>共晶转变</a:t>
            </a:r>
            <a:r>
              <a:rPr lang="en-US" altLang="zh-CN" sz="2800" b="1" dirty="0">
                <a:solidFill>
                  <a:srgbClr val="0000FF"/>
                </a:solidFill>
                <a:ea typeface="华文中宋" panose="02010600040101010101" pitchFamily="2" charset="-122"/>
                <a:sym typeface="+mn-ea"/>
              </a:rPr>
              <a:t>)</a:t>
            </a:r>
            <a:endParaRPr lang="en-US" altLang="zh-CN" sz="2800" b="1" dirty="0">
              <a:solidFill>
                <a:srgbClr val="0000FF"/>
              </a:solidFill>
              <a:latin typeface="宋体" panose="02010600030101010101" pitchFamily="2" charset="-122"/>
              <a:ea typeface="华文中宋" panose="02010600040101010101" pitchFamily="2" charset="-122"/>
              <a:cs typeface="微软雅黑" panose="020B050302020402020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9634"/>
                                        </p:tgtEl>
                                        <p:attrNameLst>
                                          <p:attrName>style.visibility</p:attrName>
                                        </p:attrNameLst>
                                      </p:cBhvr>
                                      <p:to>
                                        <p:strVal val="visible"/>
                                      </p:to>
                                    </p:set>
                                    <p:animEffect transition="in" filter="wipe(left)">
                                      <p:cBhvr>
                                        <p:cTn id="7" dur="500"/>
                                        <p:tgtEl>
                                          <p:spTgt spid="69634"/>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69635">
                                            <p:txEl>
                                              <p:pRg st="0" end="0"/>
                                            </p:txEl>
                                          </p:spTgt>
                                        </p:tgtEl>
                                        <p:attrNameLst>
                                          <p:attrName>style.visibility</p:attrName>
                                        </p:attrNameLst>
                                      </p:cBhvr>
                                      <p:to>
                                        <p:strVal val="visible"/>
                                      </p:to>
                                    </p:set>
                                    <p:animEffect transition="in" filter="fade">
                                      <p:cBhvr>
                                        <p:cTn id="11" dur="1000"/>
                                        <p:tgtEl>
                                          <p:spTgt spid="69635">
                                            <p:txEl>
                                              <p:pRg st="0" end="0"/>
                                            </p:txEl>
                                          </p:spTgt>
                                        </p:tgtEl>
                                      </p:cBhvr>
                                    </p:animEffect>
                                    <p:anim calcmode="lin" valueType="num">
                                      <p:cBhvr>
                                        <p:cTn id="12" dur="1000" fill="hold"/>
                                        <p:tgtEl>
                                          <p:spTgt spid="69635">
                                            <p:txEl>
                                              <p:pRg st="0" end="0"/>
                                            </p:txEl>
                                          </p:spTgt>
                                        </p:tgtEl>
                                        <p:attrNameLst>
                                          <p:attrName>ppt_x</p:attrName>
                                        </p:attrNameLst>
                                      </p:cBhvr>
                                      <p:tavLst>
                                        <p:tav tm="0">
                                          <p:val>
                                            <p:strVal val="#ppt_x"/>
                                          </p:val>
                                        </p:tav>
                                        <p:tav tm="100000">
                                          <p:val>
                                            <p:strVal val="#ppt_x"/>
                                          </p:val>
                                        </p:tav>
                                      </p:tavLst>
                                    </p:anim>
                                    <p:anim calcmode="lin" valueType="num">
                                      <p:cBhvr>
                                        <p:cTn id="13" dur="1000" fill="hold"/>
                                        <p:tgtEl>
                                          <p:spTgt spid="69635">
                                            <p:txEl>
                                              <p:pRg st="0" end="0"/>
                                            </p:txEl>
                                          </p:spTgt>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69635">
                                            <p:txEl>
                                              <p:pRg st="1" end="1"/>
                                            </p:txEl>
                                          </p:spTgt>
                                        </p:tgtEl>
                                        <p:attrNameLst>
                                          <p:attrName>style.visibility</p:attrName>
                                        </p:attrNameLst>
                                      </p:cBhvr>
                                      <p:to>
                                        <p:strVal val="visible"/>
                                      </p:to>
                                    </p:set>
                                    <p:animEffect transition="in" filter="fade">
                                      <p:cBhvr>
                                        <p:cTn id="16" dur="1000"/>
                                        <p:tgtEl>
                                          <p:spTgt spid="69635">
                                            <p:txEl>
                                              <p:pRg st="1" end="1"/>
                                            </p:txEl>
                                          </p:spTgt>
                                        </p:tgtEl>
                                      </p:cBhvr>
                                    </p:animEffect>
                                    <p:anim calcmode="lin" valueType="num">
                                      <p:cBhvr>
                                        <p:cTn id="17" dur="1000" fill="hold"/>
                                        <p:tgtEl>
                                          <p:spTgt spid="69635">
                                            <p:txEl>
                                              <p:pRg st="1" end="1"/>
                                            </p:txEl>
                                          </p:spTgt>
                                        </p:tgtEl>
                                        <p:attrNameLst>
                                          <p:attrName>ppt_x</p:attrName>
                                        </p:attrNameLst>
                                      </p:cBhvr>
                                      <p:tavLst>
                                        <p:tav tm="0">
                                          <p:val>
                                            <p:strVal val="#ppt_x"/>
                                          </p:val>
                                        </p:tav>
                                        <p:tav tm="100000">
                                          <p:val>
                                            <p:strVal val="#ppt_x"/>
                                          </p:val>
                                        </p:tav>
                                      </p:tavLst>
                                    </p:anim>
                                    <p:anim calcmode="lin" valueType="num">
                                      <p:cBhvr>
                                        <p:cTn id="18" dur="1000" fill="hold"/>
                                        <p:tgtEl>
                                          <p:spTgt spid="69635">
                                            <p:txEl>
                                              <p:pRg st="1" end="1"/>
                                            </p:txEl>
                                          </p:spTgt>
                                        </p:tgtEl>
                                        <p:attrNameLst>
                                          <p:attrName>ppt_y</p:attrName>
                                        </p:attrNameLst>
                                      </p:cBhvr>
                                      <p:tavLst>
                                        <p:tav tm="0">
                                          <p:val>
                                            <p:strVal val="#ppt_y+.1"/>
                                          </p:val>
                                        </p:tav>
                                        <p:tav tm="100000">
                                          <p:val>
                                            <p:strVal val="#ppt_y"/>
                                          </p:val>
                                        </p:tav>
                                      </p:tavLst>
                                    </p:anim>
                                  </p:childTnLst>
                                </p:cTn>
                              </p:par>
                            </p:childTnLst>
                          </p:cTn>
                        </p:par>
                        <p:par>
                          <p:cTn id="19" fill="hold">
                            <p:stCondLst>
                              <p:cond delay="1500"/>
                            </p:stCondLst>
                            <p:childTnLst>
                              <p:par>
                                <p:cTn id="20" presetID="22" presetClass="entr" presetSubtype="8" fill="hold" nodeType="after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62472"/>
                                        </p:tgtEl>
                                        <p:attrNameLst>
                                          <p:attrName>style.visibility</p:attrName>
                                        </p:attrNameLst>
                                      </p:cBhvr>
                                      <p:to>
                                        <p:strVal val="visible"/>
                                      </p:to>
                                    </p:set>
                                    <p:anim calcmode="lin" valueType="num">
                                      <p:cBhvr additive="base">
                                        <p:cTn id="27" dur="500" fill="hold"/>
                                        <p:tgtEl>
                                          <p:spTgt spid="62472"/>
                                        </p:tgtEl>
                                        <p:attrNameLst>
                                          <p:attrName>ppt_x</p:attrName>
                                        </p:attrNameLst>
                                      </p:cBhvr>
                                      <p:tavLst>
                                        <p:tav tm="0">
                                          <p:val>
                                            <p:strVal val="#ppt_x"/>
                                          </p:val>
                                        </p:tav>
                                        <p:tav tm="100000">
                                          <p:val>
                                            <p:strVal val="#ppt_x"/>
                                          </p:val>
                                        </p:tav>
                                      </p:tavLst>
                                    </p:anim>
                                    <p:anim calcmode="lin" valueType="num">
                                      <p:cBhvr additive="base">
                                        <p:cTn id="28" dur="500" fill="hold"/>
                                        <p:tgtEl>
                                          <p:spTgt spid="624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4" grpId="0"/>
      <p:bldP spid="69635" grpId="0" build="p" advAuto="1000"/>
      <p:bldP spid="62472" grpId="0" bldLvl="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日期占位符 3"/>
          <p:cNvSpPr txBox="1">
            <a:spLocks noGrp="1"/>
          </p:cNvSpPr>
          <p:nvPr>
            <p:ph type="dt" sz="half" idx="10"/>
          </p:nvPr>
        </p:nvSpPr>
        <p:spPr>
          <a:xfrm>
            <a:off x="0" y="6531293"/>
            <a:ext cx="2447925"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63491" name="灯片编号占位符 5"/>
          <p:cNvSpPr txBox="1">
            <a:spLocks noGrp="1"/>
          </p:cNvSpPr>
          <p:nvPr>
            <p:ph type="sldNum" sz="quarter" idx="12"/>
          </p:nvPr>
        </p:nvSpPr>
        <p:spPr>
          <a:xfrm>
            <a:off x="8651875" y="6620510"/>
            <a:ext cx="455930" cy="258445"/>
          </a:xfrm>
        </p:spPr>
        <p:txBody>
          <a:bodyPr lIns="92075" tIns="46038" rIns="92075" bIns="46038" anchor="ctr"/>
          <a:lstStyle/>
          <a:p>
            <a:pPr algn="r" eaLnBrk="1" hangingPunct="1"/>
            <a:fld id="{9A0DB2DC-4C9A-4742-B13C-FB6460FD3503}" type="slidenum">
              <a:rPr lang="en-US" altLang="zh-CN" sz="1400" dirty="0"/>
              <a:t>61</a:t>
            </a:fld>
            <a:endParaRPr lang="en-US" altLang="zh-CN" sz="1400" dirty="0"/>
          </a:p>
        </p:txBody>
      </p:sp>
      <p:sp>
        <p:nvSpPr>
          <p:cNvPr id="239618" name="Rectangle 2"/>
          <p:cNvSpPr>
            <a:spLocks noGrp="1" noChangeArrowheads="1"/>
          </p:cNvSpPr>
          <p:nvPr>
            <p:ph type="title"/>
          </p:nvPr>
        </p:nvSpPr>
        <p:spPr>
          <a:xfrm>
            <a:off x="1120028" y="0"/>
            <a:ext cx="7772400" cy="1556792"/>
          </a:xfrm>
        </p:spPr>
        <p:txBody>
          <a:bodyPr vert="horz" wrap="square" lIns="92075" tIns="46038" rIns="92075" bIns="46038" numCol="1" anchor="ctr" anchorCtr="0" compatLnSpc="1"/>
          <a:lstStyle/>
          <a:p>
            <a:pPr algn="ctr" eaLnBrk="1" hangingPunct="1"/>
            <a:r>
              <a:rPr lang="en-US" altLang="zh-CN" b="1" dirty="0">
                <a:solidFill>
                  <a:srgbClr val="FF0000"/>
                </a:solidFill>
                <a:ea typeface="仿宋_GB2312" pitchFamily="49" charset="-122"/>
              </a:rPr>
              <a:t>⑴ </a:t>
            </a:r>
            <a:r>
              <a:rPr lang="zh-CN" altLang="en-US" b="1" dirty="0">
                <a:solidFill>
                  <a:srgbClr val="FF0000"/>
                </a:solidFill>
                <a:ea typeface="华文中宋" panose="02010600040101010101" pitchFamily="2" charset="-122"/>
              </a:rPr>
              <a:t>相图分析</a:t>
            </a:r>
            <a:br>
              <a:rPr lang="zh-CN" altLang="en-US" b="1" dirty="0">
                <a:solidFill>
                  <a:srgbClr val="FF0000"/>
                </a:solidFill>
                <a:ea typeface="华文中宋" panose="02010600040101010101" pitchFamily="2" charset="-122"/>
              </a:rPr>
            </a:br>
            <a:r>
              <a:rPr lang="zh-CN" altLang="en-US" b="1" dirty="0">
                <a:solidFill>
                  <a:srgbClr val="FF0000"/>
                </a:solidFill>
                <a:ea typeface="华文中宋" panose="02010600040101010101" pitchFamily="2" charset="-122"/>
              </a:rPr>
              <a:t>（以 </a:t>
            </a:r>
            <a:r>
              <a:rPr lang="en-US" altLang="zh-CN" b="1" dirty="0">
                <a:solidFill>
                  <a:srgbClr val="FF0000"/>
                </a:solidFill>
                <a:ea typeface="华文中宋" panose="02010600040101010101" pitchFamily="2" charset="-122"/>
              </a:rPr>
              <a:t>Pb-Sn </a:t>
            </a:r>
            <a:r>
              <a:rPr lang="zh-CN" altLang="en-US" b="1" dirty="0">
                <a:solidFill>
                  <a:srgbClr val="FF0000"/>
                </a:solidFill>
                <a:ea typeface="华文中宋" panose="02010600040101010101" pitchFamily="2" charset="-122"/>
              </a:rPr>
              <a:t>相图为例）</a:t>
            </a:r>
          </a:p>
        </p:txBody>
      </p:sp>
      <p:sp>
        <p:nvSpPr>
          <p:cNvPr id="239619" name="Rectangle 3"/>
          <p:cNvSpPr>
            <a:spLocks noGrp="1" noChangeArrowheads="1"/>
          </p:cNvSpPr>
          <p:nvPr>
            <p:ph idx="1"/>
          </p:nvPr>
        </p:nvSpPr>
        <p:spPr>
          <a:xfrm>
            <a:off x="257049" y="2132856"/>
            <a:ext cx="5400675" cy="4398437"/>
          </a:xfrm>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
                <a:schemeClr val="accent2"/>
              </a:buClr>
              <a:buSzPct val="80000"/>
              <a:buFont typeface="Wingdings" panose="05000000000000000000" pitchFamily="2" charset="2"/>
              <a:buChar char="l"/>
              <a:defRPr/>
            </a:pPr>
            <a:r>
              <a:rPr kumimoji="1" lang="zh-CN" altLang="en-US" sz="2800" b="1" i="0" u="none" strike="noStrike" kern="0" cap="none" spc="0" normalizeH="0" baseline="0" noProof="0" dirty="0">
                <a:ln>
                  <a:noFill/>
                </a:ln>
                <a:solidFill>
                  <a:schemeClr val="folHlink"/>
                </a:solidFill>
                <a:effectLst>
                  <a:outerShdw blurRad="38100" dist="38100" dir="2700000" algn="tl">
                    <a:srgbClr val="000000"/>
                  </a:outerShdw>
                </a:effectLst>
                <a:uLnTx/>
                <a:uFillTx/>
                <a:latin typeface="Arial" panose="020B0604020202020204" pitchFamily="34" charset="0"/>
                <a:ea typeface="华文中宋" panose="02010600040101010101" pitchFamily="2" charset="-122"/>
                <a:cs typeface="+mn-cs"/>
              </a:rPr>
              <a:t>特征点：</a:t>
            </a:r>
          </a:p>
          <a:p>
            <a:pPr marL="342900" marR="0" lvl="0" indent="-342900" algn="l" defTabSz="914400" rtl="0" eaLnBrk="1" fontAlgn="base" latinLnBrk="0" hangingPunct="1">
              <a:lnSpc>
                <a:spcPct val="80000"/>
              </a:lnSpc>
              <a:spcBef>
                <a:spcPct val="20000"/>
              </a:spcBef>
              <a:spcAft>
                <a:spcPct val="0"/>
              </a:spcAft>
              <a:buClr>
                <a:schemeClr val="accent2"/>
              </a:buClr>
              <a:buSzPct val="80000"/>
              <a:buFont typeface="Wingdings" panose="05000000000000000000" pitchFamily="2" charset="2"/>
              <a:buNone/>
              <a:defRPr/>
            </a:pPr>
            <a:r>
              <a:rPr kumimoji="1" lang="zh-CN" altLang="en-US" sz="2800" b="0" i="0" u="none" strike="noStrike" kern="0" cap="none" spc="0" normalizeH="0" baseline="0" noProof="0" dirty="0">
                <a:ln>
                  <a:noFill/>
                </a:ln>
                <a:solidFill>
                  <a:schemeClr val="tx1"/>
                </a:solidFill>
                <a:effectLst/>
                <a:uLnTx/>
                <a:uFillTx/>
                <a:latin typeface="+mn-lt"/>
                <a:ea typeface="+mn-ea"/>
                <a:cs typeface="+mn-cs"/>
              </a:rPr>
              <a:t>  </a:t>
            </a:r>
            <a:r>
              <a:rPr kumimoji="1" lang="en-US" altLang="zh-CN" sz="2800" b="1" i="0" u="none" strike="noStrike" kern="0" cap="none" spc="0" normalizeH="0" baseline="0" noProof="0" dirty="0">
                <a:ln>
                  <a:noFill/>
                </a:ln>
                <a:solidFill>
                  <a:schemeClr val="folHlink"/>
                </a:solidFill>
                <a:effectLst>
                  <a:outerShdw blurRad="38100" dist="38100" dir="2700000" algn="tl">
                    <a:srgbClr val="000000"/>
                  </a:outerShdw>
                </a:effectLst>
                <a:uLnTx/>
                <a:uFillTx/>
                <a:latin typeface="Arial" panose="020B0604020202020204" pitchFamily="34" charset="0"/>
                <a:ea typeface="华文中宋" panose="02010600040101010101" pitchFamily="2" charset="-122"/>
                <a:cs typeface="+mn-cs"/>
              </a:rPr>
              <a:t>A</a:t>
            </a:r>
            <a:r>
              <a:rPr kumimoji="1" lang="zh-CN" altLang="en-US" sz="2800" b="1" i="0" u="none" strike="noStrike" kern="0" cap="none" spc="0" normalizeH="0" baseline="0" noProof="0" dirty="0">
                <a:ln>
                  <a:noFill/>
                </a:ln>
                <a:solidFill>
                  <a:schemeClr val="folHlink"/>
                </a:solidFill>
                <a:effectLst>
                  <a:outerShdw blurRad="38100" dist="38100" dir="2700000" algn="tl">
                    <a:srgbClr val="000000"/>
                  </a:outerShdw>
                </a:effectLst>
                <a:uLnTx/>
                <a:uFillTx/>
                <a:latin typeface="Arial" panose="020B0604020202020204" pitchFamily="34" charset="0"/>
                <a:ea typeface="华文中宋" panose="02010600040101010101" pitchFamily="2" charset="-122"/>
                <a:cs typeface="+mn-cs"/>
              </a:rPr>
              <a:t>：</a:t>
            </a:r>
            <a:r>
              <a:rPr kumimoji="1" lang="zh-CN" altLang="en-US" sz="2800" b="0" i="0" u="none" strike="noStrike" kern="0" cap="none" spc="0" normalizeH="0" baseline="0" noProof="0" dirty="0">
                <a:ln>
                  <a:noFill/>
                </a:ln>
                <a:solidFill>
                  <a:schemeClr val="tx1"/>
                </a:solidFill>
                <a:effectLst/>
                <a:uLnTx/>
                <a:uFillTx/>
                <a:latin typeface="+mn-lt"/>
                <a:ea typeface="+mn-ea"/>
                <a:cs typeface="+mn-cs"/>
              </a:rPr>
              <a:t>纯</a:t>
            </a:r>
            <a:r>
              <a:rPr kumimoji="1" lang="en-US" altLang="zh-CN" sz="2800" b="0" i="0" u="none" strike="noStrike" kern="0" cap="none" spc="0" normalizeH="0" baseline="0" noProof="0" dirty="0">
                <a:ln>
                  <a:noFill/>
                </a:ln>
                <a:solidFill>
                  <a:schemeClr val="tx1"/>
                </a:solidFill>
                <a:effectLst/>
                <a:uLnTx/>
                <a:uFillTx/>
                <a:latin typeface="+mn-lt"/>
                <a:ea typeface="+mn-ea"/>
                <a:cs typeface="+mn-cs"/>
              </a:rPr>
              <a:t>Pb </a:t>
            </a:r>
            <a:r>
              <a:rPr kumimoji="1" lang="zh-CN" altLang="en-US" sz="2800" b="0" i="0" u="none" strike="noStrike" kern="0" cap="none" spc="0" normalizeH="0" baseline="0" noProof="0" dirty="0">
                <a:ln>
                  <a:noFill/>
                </a:ln>
                <a:solidFill>
                  <a:schemeClr val="tx1"/>
                </a:solidFill>
                <a:effectLst/>
                <a:uLnTx/>
                <a:uFillTx/>
                <a:latin typeface="+mn-lt"/>
                <a:ea typeface="+mn-ea"/>
                <a:cs typeface="+mn-cs"/>
              </a:rPr>
              <a:t>的熔点（</a:t>
            </a:r>
            <a:r>
              <a:rPr kumimoji="1" lang="en-US" altLang="zh-CN" sz="2800" b="0" i="0" u="none" strike="noStrike" kern="0" cap="none" spc="0" normalizeH="0" baseline="0" noProof="0" dirty="0">
                <a:ln>
                  <a:noFill/>
                </a:ln>
                <a:solidFill>
                  <a:schemeClr val="tx1"/>
                </a:solidFill>
                <a:effectLst/>
                <a:uLnTx/>
                <a:uFillTx/>
                <a:latin typeface="+mn-lt"/>
                <a:ea typeface="+mn-ea"/>
                <a:cs typeface="+mn-cs"/>
              </a:rPr>
              <a:t>327.5</a:t>
            </a:r>
            <a:r>
              <a:rPr kumimoji="1" lang="en-US" altLang="zh-CN" sz="28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a:t>
            </a:r>
            <a:r>
              <a:rPr kumimoji="1" lang="en-US" altLang="zh-CN" sz="2800" b="0" i="0" u="none" strike="noStrike" kern="0" cap="none" spc="0" normalizeH="0" baseline="0" noProof="0" dirty="0">
                <a:ln>
                  <a:noFill/>
                </a:ln>
                <a:solidFill>
                  <a:schemeClr val="tx1"/>
                </a:solidFill>
                <a:effectLst/>
                <a:uLnTx/>
                <a:uFillTx/>
                <a:latin typeface="+mn-lt"/>
                <a:ea typeface="+mn-ea"/>
                <a:cs typeface="+mn-cs"/>
              </a:rPr>
              <a:t> </a:t>
            </a:r>
            <a:r>
              <a:rPr kumimoji="1" lang="zh-CN" altLang="en-US" sz="2800" b="0" i="0" u="none" strike="noStrike" kern="0" cap="none" spc="0" normalizeH="0" baseline="0" noProof="0" dirty="0">
                <a:ln>
                  <a:noFill/>
                </a:ln>
                <a:solidFill>
                  <a:schemeClr val="tx1"/>
                </a:solidFill>
                <a:effectLst/>
                <a:uLnTx/>
                <a:uFillTx/>
                <a:latin typeface="+mn-lt"/>
                <a:ea typeface="+mn-ea"/>
                <a:cs typeface="+mn-cs"/>
              </a:rPr>
              <a:t>）</a:t>
            </a:r>
          </a:p>
          <a:p>
            <a:pPr marL="342900" marR="0" lvl="0" indent="-342900" algn="l" defTabSz="914400" rtl="0" eaLnBrk="1" fontAlgn="base" latinLnBrk="0" hangingPunct="1">
              <a:lnSpc>
                <a:spcPct val="80000"/>
              </a:lnSpc>
              <a:spcBef>
                <a:spcPct val="20000"/>
              </a:spcBef>
              <a:spcAft>
                <a:spcPct val="0"/>
              </a:spcAft>
              <a:buClr>
                <a:schemeClr val="accent2"/>
              </a:buClr>
              <a:buSzPct val="80000"/>
              <a:buFont typeface="Wingdings" panose="05000000000000000000" pitchFamily="2" charset="2"/>
              <a:buNone/>
              <a:defRPr/>
            </a:pPr>
            <a:r>
              <a:rPr kumimoji="1" lang="zh-CN" altLang="en-US" sz="2800" b="0" i="0" u="none" strike="noStrike" kern="0" cap="none" spc="0" normalizeH="0" baseline="0" noProof="0" dirty="0">
                <a:ln>
                  <a:noFill/>
                </a:ln>
                <a:solidFill>
                  <a:schemeClr val="tx1"/>
                </a:solidFill>
                <a:effectLst/>
                <a:uLnTx/>
                <a:uFillTx/>
                <a:latin typeface="+mn-lt"/>
                <a:ea typeface="+mn-ea"/>
                <a:cs typeface="+mn-cs"/>
              </a:rPr>
              <a:t>  </a:t>
            </a:r>
            <a:r>
              <a:rPr kumimoji="1" lang="en-US" altLang="zh-CN" sz="2800" b="1" i="0" u="none" strike="noStrike" kern="0" cap="none" spc="0" normalizeH="0" baseline="0" noProof="0" dirty="0">
                <a:ln>
                  <a:noFill/>
                </a:ln>
                <a:solidFill>
                  <a:schemeClr val="folHlink"/>
                </a:solidFill>
                <a:effectLst>
                  <a:outerShdw blurRad="38100" dist="38100" dir="2700000" algn="tl">
                    <a:srgbClr val="000000"/>
                  </a:outerShdw>
                </a:effectLst>
                <a:uLnTx/>
                <a:uFillTx/>
                <a:latin typeface="Arial" panose="020B0604020202020204" pitchFamily="34" charset="0"/>
                <a:ea typeface="华文中宋" panose="02010600040101010101" pitchFamily="2" charset="-122"/>
                <a:cs typeface="+mn-cs"/>
              </a:rPr>
              <a:t>B</a:t>
            </a:r>
            <a:r>
              <a:rPr kumimoji="1" lang="zh-CN" altLang="en-US" sz="2800" b="1" dirty="0">
                <a:solidFill>
                  <a:schemeClr val="folHlink"/>
                </a:solidFill>
                <a:effectLst>
                  <a:outerShdw blurRad="38100" dist="38100" dir="2700000" algn="tl">
                    <a:srgbClr val="000000"/>
                  </a:outerShdw>
                </a:effectLst>
                <a:latin typeface="Arial" panose="020B0604020202020204" pitchFamily="34" charset="0"/>
                <a:ea typeface="华文中宋" panose="02010600040101010101" pitchFamily="2" charset="-122"/>
              </a:rPr>
              <a:t>：</a:t>
            </a:r>
            <a:r>
              <a:rPr kumimoji="1" lang="zh-CN" altLang="en-US" sz="2800" b="0" i="0" u="none" strike="noStrike" kern="0" cap="none" spc="0" normalizeH="0" baseline="0" noProof="0" dirty="0">
                <a:ln>
                  <a:noFill/>
                </a:ln>
                <a:solidFill>
                  <a:schemeClr val="tx1"/>
                </a:solidFill>
                <a:effectLst/>
                <a:uLnTx/>
                <a:uFillTx/>
                <a:latin typeface="+mn-lt"/>
                <a:ea typeface="+mn-ea"/>
                <a:cs typeface="+mn-cs"/>
              </a:rPr>
              <a:t>纯</a:t>
            </a:r>
            <a:r>
              <a:rPr kumimoji="1" lang="en-US" altLang="zh-CN" sz="2800" b="0" i="0" u="none" strike="noStrike" kern="0" cap="none" spc="0" normalizeH="0" baseline="0" noProof="0" dirty="0">
                <a:ln>
                  <a:noFill/>
                </a:ln>
                <a:solidFill>
                  <a:schemeClr val="tx1"/>
                </a:solidFill>
                <a:effectLst/>
                <a:uLnTx/>
                <a:uFillTx/>
                <a:latin typeface="+mn-lt"/>
                <a:ea typeface="+mn-ea"/>
                <a:cs typeface="+mn-cs"/>
              </a:rPr>
              <a:t>Sn </a:t>
            </a:r>
            <a:r>
              <a:rPr kumimoji="1" lang="zh-CN" altLang="en-US" sz="2800" b="0" i="0" u="none" strike="noStrike" kern="0" cap="none" spc="0" normalizeH="0" baseline="0" noProof="0" dirty="0">
                <a:ln>
                  <a:noFill/>
                </a:ln>
                <a:solidFill>
                  <a:schemeClr val="tx1"/>
                </a:solidFill>
                <a:effectLst/>
                <a:uLnTx/>
                <a:uFillTx/>
                <a:latin typeface="+mn-lt"/>
                <a:ea typeface="+mn-ea"/>
                <a:cs typeface="+mn-cs"/>
              </a:rPr>
              <a:t>的熔点（</a:t>
            </a:r>
            <a:r>
              <a:rPr kumimoji="1" lang="en-US" altLang="zh-CN" sz="2800" b="0" i="0" u="none" strike="noStrike" kern="0" cap="none" spc="0" normalizeH="0" baseline="0" noProof="0" dirty="0">
                <a:ln>
                  <a:noFill/>
                </a:ln>
                <a:solidFill>
                  <a:schemeClr val="tx1"/>
                </a:solidFill>
                <a:effectLst/>
                <a:uLnTx/>
                <a:uFillTx/>
                <a:latin typeface="+mn-lt"/>
                <a:ea typeface="+mn-ea"/>
                <a:cs typeface="+mn-cs"/>
              </a:rPr>
              <a:t>231.9</a:t>
            </a:r>
            <a:r>
              <a:rPr kumimoji="1" lang="en-US" altLang="zh-CN" sz="28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a:t>
            </a:r>
            <a:r>
              <a:rPr kumimoji="1" lang="en-US" altLang="zh-CN" sz="2800" b="0" i="0" u="none" strike="noStrike" kern="0" cap="none" spc="0" normalizeH="0" baseline="0" noProof="0" dirty="0">
                <a:ln>
                  <a:noFill/>
                </a:ln>
                <a:solidFill>
                  <a:schemeClr val="tx1"/>
                </a:solidFill>
                <a:effectLst/>
                <a:uLnTx/>
                <a:uFillTx/>
                <a:latin typeface="+mn-lt"/>
                <a:ea typeface="+mn-ea"/>
                <a:cs typeface="+mn-cs"/>
              </a:rPr>
              <a:t> </a:t>
            </a:r>
            <a:r>
              <a:rPr kumimoji="1" lang="zh-CN" altLang="en-US" sz="2800" b="0" i="0" u="none" strike="noStrike" kern="0" cap="none" spc="0" normalizeH="0" baseline="0" noProof="0" dirty="0">
                <a:ln>
                  <a:noFill/>
                </a:ln>
                <a:solidFill>
                  <a:schemeClr val="tx1"/>
                </a:solidFill>
                <a:effectLst/>
                <a:uLnTx/>
                <a:uFillTx/>
                <a:latin typeface="+mn-lt"/>
                <a:ea typeface="+mn-ea"/>
                <a:cs typeface="+mn-cs"/>
              </a:rPr>
              <a:t>）</a:t>
            </a:r>
          </a:p>
          <a:p>
            <a:pPr marL="342900" marR="0" lvl="0" indent="-342900" algn="l" defTabSz="914400" rtl="0" eaLnBrk="1" fontAlgn="base" latinLnBrk="0" hangingPunct="1">
              <a:lnSpc>
                <a:spcPct val="80000"/>
              </a:lnSpc>
              <a:spcBef>
                <a:spcPct val="20000"/>
              </a:spcBef>
              <a:spcAft>
                <a:spcPct val="0"/>
              </a:spcAft>
              <a:buClr>
                <a:schemeClr val="accent2"/>
              </a:buClr>
              <a:buSzPct val="80000"/>
              <a:buFont typeface="Wingdings" panose="05000000000000000000" pitchFamily="2" charset="2"/>
              <a:buNone/>
              <a:defRPr/>
            </a:pPr>
            <a:r>
              <a:rPr kumimoji="1" lang="zh-CN" altLang="en-US" sz="2800" b="0" i="0" u="none" strike="noStrike" kern="0" cap="none" spc="0" normalizeH="0" baseline="0" noProof="0" dirty="0">
                <a:ln>
                  <a:noFill/>
                </a:ln>
                <a:solidFill>
                  <a:schemeClr val="tx1"/>
                </a:solidFill>
                <a:effectLst/>
                <a:uLnTx/>
                <a:uFillTx/>
                <a:latin typeface="+mn-lt"/>
                <a:ea typeface="+mn-ea"/>
                <a:cs typeface="+mn-cs"/>
              </a:rPr>
              <a:t> </a:t>
            </a:r>
            <a:r>
              <a:rPr kumimoji="1" lang="en-US" altLang="zh-CN" sz="2800" b="1" i="0" u="none" strike="noStrike" kern="0" cap="none" spc="0" normalizeH="0" baseline="0" noProof="0" dirty="0">
                <a:ln>
                  <a:noFill/>
                </a:ln>
                <a:solidFill>
                  <a:schemeClr val="folHlink"/>
                </a:solidFill>
                <a:effectLst>
                  <a:outerShdw blurRad="38100" dist="38100" dir="2700000" algn="tl">
                    <a:srgbClr val="000000"/>
                  </a:outerShdw>
                </a:effectLst>
                <a:uLnTx/>
                <a:uFillTx/>
                <a:latin typeface="Arial" panose="020B0604020202020204" pitchFamily="34" charset="0"/>
                <a:ea typeface="华文中宋" panose="02010600040101010101" pitchFamily="2" charset="-122"/>
                <a:cs typeface="+mn-cs"/>
              </a:rPr>
              <a:t>C:</a:t>
            </a:r>
            <a:r>
              <a:rPr kumimoji="1" lang="en-US" altLang="zh-CN" sz="2800" b="0" i="0" u="none" strike="noStrike" kern="0" cap="none" spc="0" normalizeH="0" baseline="0" noProof="0" dirty="0">
                <a:ln>
                  <a:noFill/>
                </a:ln>
                <a:solidFill>
                  <a:schemeClr val="tx1"/>
                </a:solidFill>
                <a:effectLst/>
                <a:uLnTx/>
                <a:uFillTx/>
                <a:latin typeface="+mn-lt"/>
                <a:ea typeface="+mn-ea"/>
                <a:cs typeface="+mn-cs"/>
              </a:rPr>
              <a:t> Sn</a:t>
            </a:r>
            <a:r>
              <a:rPr kumimoji="1" lang="zh-CN" altLang="en-US" sz="2800" b="0" i="0" u="none" strike="noStrike" kern="0" cap="none" spc="0" normalizeH="0" baseline="0" noProof="0" dirty="0">
                <a:ln>
                  <a:noFill/>
                </a:ln>
                <a:solidFill>
                  <a:schemeClr val="tx1"/>
                </a:solidFill>
                <a:effectLst/>
                <a:uLnTx/>
                <a:uFillTx/>
                <a:latin typeface="+mn-lt"/>
                <a:ea typeface="+mn-ea"/>
                <a:cs typeface="+mn-cs"/>
              </a:rPr>
              <a:t>在</a:t>
            </a:r>
            <a:r>
              <a:rPr kumimoji="1" lang="en-US" altLang="zh-CN" sz="2800" b="0" i="0" u="none" strike="noStrike" kern="0" cap="none" spc="0" normalizeH="0" baseline="0" noProof="0" dirty="0">
                <a:ln>
                  <a:noFill/>
                </a:ln>
                <a:solidFill>
                  <a:schemeClr val="tx1"/>
                </a:solidFill>
                <a:effectLst/>
                <a:uLnTx/>
                <a:uFillTx/>
                <a:latin typeface="+mn-lt"/>
                <a:ea typeface="+mn-ea"/>
                <a:cs typeface="+mn-cs"/>
              </a:rPr>
              <a:t>Pb </a:t>
            </a:r>
            <a:r>
              <a:rPr kumimoji="1" lang="zh-CN" altLang="en-US" sz="2800" b="0" i="0" u="none" strike="noStrike" kern="0" cap="none" spc="0" normalizeH="0" baseline="0" noProof="0" dirty="0">
                <a:ln>
                  <a:noFill/>
                </a:ln>
                <a:solidFill>
                  <a:schemeClr val="tx1"/>
                </a:solidFill>
                <a:effectLst/>
                <a:uLnTx/>
                <a:uFillTx/>
                <a:latin typeface="+mn-lt"/>
                <a:ea typeface="+mn-ea"/>
                <a:cs typeface="+mn-cs"/>
              </a:rPr>
              <a:t>中的最大溶解度（</a:t>
            </a:r>
            <a:r>
              <a:rPr kumimoji="1" lang="en-US" altLang="zh-CN" sz="2800" b="0" i="0" u="none" strike="noStrike" kern="0" cap="none" spc="0" normalizeH="0" baseline="0" noProof="0" dirty="0">
                <a:ln>
                  <a:noFill/>
                </a:ln>
                <a:solidFill>
                  <a:schemeClr val="tx1"/>
                </a:solidFill>
                <a:effectLst/>
                <a:uLnTx/>
                <a:uFillTx/>
                <a:latin typeface="+mn-lt"/>
                <a:ea typeface="+mn-ea"/>
                <a:cs typeface="+mn-cs"/>
              </a:rPr>
              <a:t>19.2%</a:t>
            </a:r>
            <a:r>
              <a:rPr kumimoji="1" lang="zh-CN" altLang="en-US" sz="2800" b="0" i="0" u="none" strike="noStrike" kern="0" cap="none" spc="0" normalizeH="0" baseline="0" noProof="0" dirty="0">
                <a:ln>
                  <a:noFill/>
                </a:ln>
                <a:solidFill>
                  <a:schemeClr val="tx1"/>
                </a:solidFill>
                <a:effectLst/>
                <a:uLnTx/>
                <a:uFillTx/>
                <a:latin typeface="+mn-lt"/>
                <a:ea typeface="+mn-ea"/>
                <a:cs typeface="+mn-cs"/>
              </a:rPr>
              <a:t>、</a:t>
            </a:r>
            <a:r>
              <a:rPr kumimoji="1" lang="en-US" altLang="zh-CN" sz="2800" b="0" i="0" u="none" strike="noStrike" kern="0" cap="none" spc="0" normalizeH="0" baseline="0" noProof="0" dirty="0">
                <a:ln>
                  <a:noFill/>
                </a:ln>
                <a:solidFill>
                  <a:schemeClr val="tx1"/>
                </a:solidFill>
                <a:effectLst/>
                <a:uLnTx/>
                <a:uFillTx/>
                <a:latin typeface="+mn-lt"/>
                <a:ea typeface="+mn-ea"/>
                <a:cs typeface="+mn-cs"/>
              </a:rPr>
              <a:t>183</a:t>
            </a:r>
            <a:r>
              <a:rPr kumimoji="1" lang="en-US" altLang="zh-CN" sz="28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a:t>
            </a:r>
            <a:r>
              <a:rPr kumimoji="1" lang="en-US" altLang="zh-CN" sz="2800" b="0" i="0" u="none" strike="noStrike" kern="0" cap="none" spc="0" normalizeH="0" baseline="0" noProof="0" dirty="0">
                <a:ln>
                  <a:noFill/>
                </a:ln>
                <a:solidFill>
                  <a:schemeClr val="tx1"/>
                </a:solidFill>
                <a:effectLst/>
                <a:uLnTx/>
                <a:uFillTx/>
                <a:latin typeface="+mn-lt"/>
                <a:ea typeface="+mn-ea"/>
                <a:cs typeface="+mn-cs"/>
              </a:rPr>
              <a:t> </a:t>
            </a:r>
            <a:r>
              <a:rPr kumimoji="1" lang="zh-CN" altLang="en-US" sz="2800" b="0" i="0" u="none" strike="noStrike" kern="0" cap="none" spc="0" normalizeH="0" baseline="0" noProof="0" dirty="0">
                <a:ln>
                  <a:noFill/>
                </a:ln>
                <a:solidFill>
                  <a:schemeClr val="tx1"/>
                </a:solidFill>
                <a:effectLst/>
                <a:uLnTx/>
                <a:uFillTx/>
                <a:latin typeface="+mn-lt"/>
                <a:ea typeface="+mn-ea"/>
                <a:cs typeface="+mn-cs"/>
              </a:rPr>
              <a:t>）</a:t>
            </a:r>
          </a:p>
          <a:p>
            <a:pPr marL="342900" marR="0" lvl="0" indent="-342900" algn="l" defTabSz="914400" rtl="0" eaLnBrk="1" fontAlgn="base" latinLnBrk="0" hangingPunct="1">
              <a:lnSpc>
                <a:spcPct val="80000"/>
              </a:lnSpc>
              <a:spcBef>
                <a:spcPct val="20000"/>
              </a:spcBef>
              <a:spcAft>
                <a:spcPct val="0"/>
              </a:spcAft>
              <a:buClr>
                <a:schemeClr val="accent2"/>
              </a:buClr>
              <a:buSzPct val="80000"/>
              <a:buFont typeface="Wingdings" panose="05000000000000000000" pitchFamily="2" charset="2"/>
              <a:buNone/>
              <a:defRPr/>
            </a:pPr>
            <a:r>
              <a:rPr kumimoji="1" lang="zh-CN" altLang="en-US" sz="2800" b="0" i="0" u="none" strike="noStrike" kern="0" cap="none" spc="0" normalizeH="0" baseline="0" noProof="0" dirty="0">
                <a:ln>
                  <a:noFill/>
                </a:ln>
                <a:solidFill>
                  <a:schemeClr val="tx1"/>
                </a:solidFill>
                <a:effectLst/>
                <a:uLnTx/>
                <a:uFillTx/>
                <a:latin typeface="+mn-lt"/>
                <a:ea typeface="+mn-ea"/>
                <a:cs typeface="+mn-cs"/>
              </a:rPr>
              <a:t> </a:t>
            </a:r>
            <a:r>
              <a:rPr kumimoji="1" lang="en-US" altLang="zh-CN" sz="2800" b="1" i="0" u="none" strike="noStrike" kern="0" cap="none" spc="0" normalizeH="0" baseline="0" noProof="0" dirty="0">
                <a:ln>
                  <a:noFill/>
                </a:ln>
                <a:solidFill>
                  <a:schemeClr val="folHlink"/>
                </a:solidFill>
                <a:effectLst>
                  <a:outerShdw blurRad="38100" dist="38100" dir="2700000" algn="tl">
                    <a:srgbClr val="000000"/>
                  </a:outerShdw>
                </a:effectLst>
                <a:uLnTx/>
                <a:uFillTx/>
                <a:latin typeface="Arial" panose="020B0604020202020204" pitchFamily="34" charset="0"/>
                <a:ea typeface="华文中宋" panose="02010600040101010101" pitchFamily="2" charset="-122"/>
                <a:cs typeface="+mn-cs"/>
              </a:rPr>
              <a:t>D:</a:t>
            </a:r>
            <a:r>
              <a:rPr kumimoji="1" lang="en-US" altLang="zh-CN" sz="2800" b="0" i="0" u="none" strike="noStrike" kern="0" cap="none" spc="0" normalizeH="0" baseline="0" noProof="0" dirty="0">
                <a:ln>
                  <a:noFill/>
                </a:ln>
                <a:solidFill>
                  <a:schemeClr val="tx1"/>
                </a:solidFill>
                <a:effectLst/>
                <a:uLnTx/>
                <a:uFillTx/>
                <a:latin typeface="+mn-lt"/>
                <a:ea typeface="+mn-ea"/>
                <a:cs typeface="+mn-cs"/>
              </a:rPr>
              <a:t> Pb</a:t>
            </a:r>
            <a:r>
              <a:rPr kumimoji="1" lang="zh-CN" altLang="en-US" sz="2800" b="0" i="0" u="none" strike="noStrike" kern="0" cap="none" spc="0" normalizeH="0" baseline="0" noProof="0" dirty="0">
                <a:ln>
                  <a:noFill/>
                </a:ln>
                <a:solidFill>
                  <a:schemeClr val="tx1"/>
                </a:solidFill>
                <a:effectLst/>
                <a:uLnTx/>
                <a:uFillTx/>
                <a:latin typeface="+mn-lt"/>
                <a:ea typeface="+mn-ea"/>
                <a:cs typeface="+mn-cs"/>
              </a:rPr>
              <a:t>在</a:t>
            </a:r>
            <a:r>
              <a:rPr kumimoji="1" lang="en-US" altLang="zh-CN" sz="2800" b="0" i="0" u="none" strike="noStrike" kern="0" cap="none" spc="0" normalizeH="0" baseline="0" noProof="0" dirty="0">
                <a:ln>
                  <a:noFill/>
                </a:ln>
                <a:solidFill>
                  <a:schemeClr val="tx1"/>
                </a:solidFill>
                <a:effectLst/>
                <a:uLnTx/>
                <a:uFillTx/>
                <a:latin typeface="+mn-lt"/>
                <a:ea typeface="+mn-ea"/>
                <a:cs typeface="+mn-cs"/>
              </a:rPr>
              <a:t>Sn</a:t>
            </a:r>
            <a:r>
              <a:rPr kumimoji="1" lang="zh-CN" altLang="en-US" sz="2800" b="0" i="0" u="none" strike="noStrike" kern="0" cap="none" spc="0" normalizeH="0" baseline="0" noProof="0" dirty="0">
                <a:ln>
                  <a:noFill/>
                </a:ln>
                <a:solidFill>
                  <a:schemeClr val="tx1"/>
                </a:solidFill>
                <a:effectLst/>
                <a:uLnTx/>
                <a:uFillTx/>
                <a:latin typeface="+mn-lt"/>
                <a:ea typeface="+mn-ea"/>
                <a:cs typeface="+mn-cs"/>
              </a:rPr>
              <a:t>中的最大溶解度（</a:t>
            </a:r>
            <a:r>
              <a:rPr kumimoji="1" lang="en-US" altLang="zh-CN" sz="2800" b="0" i="0" u="none" strike="noStrike" kern="0" cap="none" spc="0" normalizeH="0" baseline="0" noProof="0" dirty="0">
                <a:ln>
                  <a:noFill/>
                </a:ln>
                <a:solidFill>
                  <a:schemeClr val="tx1"/>
                </a:solidFill>
                <a:effectLst/>
                <a:uLnTx/>
                <a:uFillTx/>
                <a:latin typeface="+mn-lt"/>
                <a:ea typeface="+mn-ea"/>
                <a:cs typeface="+mn-cs"/>
              </a:rPr>
              <a:t>2.5%</a:t>
            </a:r>
            <a:r>
              <a:rPr kumimoji="1" lang="zh-CN" altLang="en-US" sz="2800" b="0" i="0" u="none" strike="noStrike" kern="0" cap="none" spc="0" normalizeH="0" baseline="0" noProof="0" dirty="0">
                <a:ln>
                  <a:noFill/>
                </a:ln>
                <a:solidFill>
                  <a:schemeClr val="tx1"/>
                </a:solidFill>
                <a:effectLst/>
                <a:uLnTx/>
                <a:uFillTx/>
                <a:latin typeface="+mn-lt"/>
                <a:ea typeface="+mn-ea"/>
                <a:cs typeface="+mn-cs"/>
              </a:rPr>
              <a:t>、</a:t>
            </a:r>
            <a:r>
              <a:rPr kumimoji="1" lang="en-US" altLang="zh-CN" sz="2800" b="0" i="0" u="none" strike="noStrike" kern="0" cap="none" spc="0" normalizeH="0" baseline="0" noProof="0" dirty="0">
                <a:ln>
                  <a:noFill/>
                </a:ln>
                <a:solidFill>
                  <a:schemeClr val="tx1"/>
                </a:solidFill>
                <a:effectLst/>
                <a:uLnTx/>
                <a:uFillTx/>
                <a:latin typeface="+mn-lt"/>
                <a:ea typeface="+mn-ea"/>
                <a:cs typeface="+mn-cs"/>
              </a:rPr>
              <a:t>183</a:t>
            </a:r>
            <a:r>
              <a:rPr kumimoji="1" lang="en-US" altLang="zh-CN" sz="28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a:t>
            </a:r>
            <a:r>
              <a:rPr kumimoji="1" lang="en-US" altLang="zh-CN" sz="2800" b="0" i="0" u="none" strike="noStrike" kern="0" cap="none" spc="0" normalizeH="0" baseline="0" noProof="0" dirty="0">
                <a:ln>
                  <a:noFill/>
                </a:ln>
                <a:solidFill>
                  <a:schemeClr val="tx1"/>
                </a:solidFill>
                <a:effectLst/>
                <a:uLnTx/>
                <a:uFillTx/>
                <a:latin typeface="+mn-lt"/>
                <a:ea typeface="+mn-ea"/>
                <a:cs typeface="+mn-cs"/>
              </a:rPr>
              <a:t> </a:t>
            </a:r>
            <a:r>
              <a:rPr kumimoji="1" lang="zh-CN" altLang="en-US" sz="2800" b="0" i="0" u="none" strike="noStrike" kern="0" cap="none" spc="0" normalizeH="0" baseline="0" noProof="0" dirty="0">
                <a:ln>
                  <a:noFill/>
                </a:ln>
                <a:solidFill>
                  <a:schemeClr val="tx1"/>
                </a:solidFill>
                <a:effectLst/>
                <a:uLnTx/>
                <a:uFillTx/>
                <a:latin typeface="+mn-lt"/>
                <a:ea typeface="+mn-ea"/>
                <a:cs typeface="+mn-cs"/>
              </a:rPr>
              <a:t>）</a:t>
            </a:r>
          </a:p>
          <a:p>
            <a:pPr marL="342900" marR="0" lvl="0" indent="-342900" algn="l" defTabSz="914400" rtl="0" eaLnBrk="1" fontAlgn="base" latinLnBrk="0" hangingPunct="1">
              <a:lnSpc>
                <a:spcPct val="80000"/>
              </a:lnSpc>
              <a:spcBef>
                <a:spcPct val="20000"/>
              </a:spcBef>
              <a:spcAft>
                <a:spcPct val="0"/>
              </a:spcAft>
              <a:buClr>
                <a:schemeClr val="accent2"/>
              </a:buClr>
              <a:buSzPct val="80000"/>
              <a:buFont typeface="Wingdings" panose="05000000000000000000" pitchFamily="2" charset="2"/>
              <a:buNone/>
              <a:defRPr/>
            </a:pPr>
            <a:r>
              <a:rPr kumimoji="1" lang="zh-CN" altLang="en-US" sz="2800" b="0" i="0" u="none" strike="noStrike" kern="0" cap="none" spc="0" normalizeH="0" baseline="0" noProof="0" dirty="0">
                <a:ln>
                  <a:noFill/>
                </a:ln>
                <a:solidFill>
                  <a:schemeClr val="tx1"/>
                </a:solidFill>
                <a:effectLst/>
                <a:uLnTx/>
                <a:uFillTx/>
                <a:latin typeface="+mn-lt"/>
                <a:ea typeface="+mn-ea"/>
                <a:cs typeface="+mn-cs"/>
              </a:rPr>
              <a:t> </a:t>
            </a:r>
            <a:r>
              <a:rPr kumimoji="1" lang="en-US" altLang="zh-CN" sz="2800" b="1" i="0" u="none" strike="noStrike" kern="0" cap="none" spc="0" normalizeH="0" baseline="0" noProof="0" dirty="0">
                <a:ln>
                  <a:noFill/>
                </a:ln>
                <a:solidFill>
                  <a:schemeClr val="folHlink"/>
                </a:solidFill>
                <a:effectLst>
                  <a:outerShdw blurRad="38100" dist="38100" dir="2700000" algn="tl">
                    <a:srgbClr val="000000"/>
                  </a:outerShdw>
                </a:effectLst>
                <a:uLnTx/>
                <a:uFillTx/>
                <a:latin typeface="Arial" panose="020B0604020202020204" pitchFamily="34" charset="0"/>
                <a:ea typeface="华文中宋" panose="02010600040101010101" pitchFamily="2" charset="-122"/>
                <a:cs typeface="+mn-cs"/>
              </a:rPr>
              <a:t>E</a:t>
            </a:r>
            <a:r>
              <a:rPr kumimoji="1" lang="zh-CN" altLang="en-US" sz="2800" b="0" i="0" u="none" strike="noStrike" kern="0" cap="none" spc="0" normalizeH="0" baseline="0" noProof="0" dirty="0">
                <a:ln>
                  <a:noFill/>
                </a:ln>
                <a:solidFill>
                  <a:schemeClr val="tx1"/>
                </a:solidFill>
                <a:effectLst/>
                <a:uLnTx/>
                <a:uFillTx/>
                <a:latin typeface="+mn-lt"/>
                <a:ea typeface="+mn-ea"/>
                <a:cs typeface="+mn-cs"/>
              </a:rPr>
              <a:t>：共晶点</a:t>
            </a:r>
            <a:endParaRPr kumimoji="1" lang="zh-CN" altLang="en-US" sz="28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accent2"/>
              </a:buClr>
              <a:buSzPct val="80000"/>
              <a:buFont typeface="Wingdings" panose="05000000000000000000" pitchFamily="2" charset="2"/>
              <a:buChar char="l"/>
              <a:defRPr/>
            </a:pPr>
            <a:r>
              <a:rPr kumimoji="1" lang="zh-CN" altLang="en-US" sz="2800" b="0" i="0" u="none" strike="noStrike" kern="0" cap="none" spc="0" normalizeH="0" baseline="0" noProof="0" dirty="0">
                <a:ln>
                  <a:noFill/>
                </a:ln>
                <a:solidFill>
                  <a:schemeClr val="tx1"/>
                </a:solidFill>
                <a:effectLst/>
                <a:uLnTx/>
                <a:uFillTx/>
                <a:latin typeface="+mn-lt"/>
                <a:ea typeface="+mn-ea"/>
                <a:cs typeface="+mn-cs"/>
              </a:rPr>
              <a:t>含 </a:t>
            </a:r>
            <a:r>
              <a:rPr kumimoji="1" lang="en-US" altLang="zh-CN" sz="2800" b="0" i="0" u="none" strike="noStrike" kern="0" cap="none" spc="0" normalizeH="0" baseline="0" noProof="0" dirty="0">
                <a:ln>
                  <a:noFill/>
                </a:ln>
                <a:solidFill>
                  <a:schemeClr val="tx1"/>
                </a:solidFill>
                <a:effectLst/>
                <a:uLnTx/>
                <a:uFillTx/>
                <a:latin typeface="+mn-lt"/>
                <a:ea typeface="+mn-ea"/>
                <a:cs typeface="+mn-cs"/>
              </a:rPr>
              <a:t>Sn 19.2%</a:t>
            </a:r>
            <a:r>
              <a:rPr kumimoji="1" lang="zh-CN" altLang="en-US" sz="2800" b="0" i="0" u="none" strike="noStrike" kern="0" cap="none" spc="0" normalizeH="0" baseline="0" noProof="0" dirty="0">
                <a:ln>
                  <a:noFill/>
                </a:ln>
                <a:solidFill>
                  <a:schemeClr val="tx1"/>
                </a:solidFill>
                <a:effectLst/>
                <a:uLnTx/>
                <a:uFillTx/>
                <a:latin typeface="+mn-lt"/>
                <a:ea typeface="+mn-ea"/>
                <a:cs typeface="+mn-cs"/>
              </a:rPr>
              <a:t>以下、</a:t>
            </a:r>
            <a:r>
              <a:rPr kumimoji="1" lang="en-US" altLang="zh-CN" sz="2800" b="0" i="0" u="none" strike="noStrike" kern="0" cap="none" spc="0" normalizeH="0" baseline="0" noProof="0" dirty="0">
                <a:ln>
                  <a:noFill/>
                </a:ln>
                <a:solidFill>
                  <a:schemeClr val="tx1"/>
                </a:solidFill>
                <a:effectLst/>
                <a:uLnTx/>
                <a:uFillTx/>
                <a:latin typeface="+mn-lt"/>
                <a:ea typeface="+mn-ea"/>
                <a:cs typeface="+mn-cs"/>
              </a:rPr>
              <a:t>Pb 2.5%</a:t>
            </a:r>
            <a:r>
              <a:rPr kumimoji="1" lang="zh-CN" altLang="en-US" sz="2800" b="0" i="0" u="none" strike="noStrike" kern="0" cap="none" spc="0" normalizeH="0" baseline="0" noProof="0" dirty="0">
                <a:ln>
                  <a:noFill/>
                </a:ln>
                <a:solidFill>
                  <a:schemeClr val="tx1"/>
                </a:solidFill>
                <a:effectLst/>
                <a:uLnTx/>
                <a:uFillTx/>
                <a:latin typeface="+mn-lt"/>
                <a:ea typeface="+mn-ea"/>
                <a:cs typeface="+mn-cs"/>
              </a:rPr>
              <a:t>以下合金均形成</a:t>
            </a:r>
            <a:r>
              <a:rPr kumimoji="1" lang="zh-CN" altLang="en-US" sz="2800" b="1" i="0" u="none" strike="noStrike" kern="0" cap="none" spc="0" normalizeH="0" baseline="0" noProof="0" dirty="0">
                <a:ln>
                  <a:noFill/>
                </a:ln>
                <a:solidFill>
                  <a:schemeClr val="folHlink"/>
                </a:solidFill>
                <a:effectLst>
                  <a:outerShdw blurRad="38100" dist="38100" dir="2700000" algn="tl">
                    <a:srgbClr val="000000"/>
                  </a:outerShdw>
                </a:effectLst>
                <a:uLnTx/>
                <a:uFillTx/>
                <a:latin typeface="Arial" panose="020B0604020202020204" pitchFamily="34" charset="0"/>
                <a:ea typeface="华文中宋" panose="02010600040101010101" pitchFamily="2" charset="-122"/>
                <a:cs typeface="+mn-cs"/>
              </a:rPr>
              <a:t>固溶体</a:t>
            </a:r>
            <a:r>
              <a:rPr kumimoji="1" lang="zh-CN" altLang="en-US" sz="2800" b="0" i="0" u="none" strike="noStrike" kern="0" cap="none" spc="0" normalizeH="0" baseline="0" noProof="0" dirty="0">
                <a:ln>
                  <a:noFill/>
                </a:ln>
                <a:solidFill>
                  <a:schemeClr val="tx1"/>
                </a:solidFill>
                <a:effectLst/>
                <a:uLnTx/>
                <a:uFillTx/>
                <a:latin typeface="+mn-lt"/>
                <a:ea typeface="+mn-ea"/>
                <a:cs typeface="+mn-cs"/>
              </a:rPr>
              <a:t>，分别称为</a:t>
            </a:r>
            <a:r>
              <a:rPr kumimoji="1" lang="zh-CN" altLang="en-US" sz="2800" b="1" i="0" u="none" strike="noStrike" kern="0" cap="none" spc="0" normalizeH="0" baseline="0" noProof="0" dirty="0">
                <a:ln>
                  <a:noFill/>
                </a:ln>
                <a:solidFill>
                  <a:schemeClr val="folHlink"/>
                </a:solidFill>
                <a:effectLst>
                  <a:outerShdw blurRad="38100" dist="38100" dir="2700000" algn="tl">
                    <a:srgbClr val="000000"/>
                  </a:outerShdw>
                </a:effectLst>
                <a:uLnTx/>
                <a:uFillTx/>
                <a:latin typeface="Arial" panose="020B0604020202020204" pitchFamily="34" charset="0"/>
                <a:ea typeface="华文中宋" panose="02010600040101010101" pitchFamily="2" charset="-122"/>
                <a:cs typeface="+mn-cs"/>
              </a:rPr>
              <a:t>α和β</a:t>
            </a:r>
            <a:r>
              <a:rPr kumimoji="1" lang="en-US" altLang="zh-CN" sz="2800" b="0" i="0" u="none" strike="noStrike" kern="0" cap="none" spc="0" normalizeH="0" baseline="0" noProof="0" dirty="0">
                <a:ln>
                  <a:noFill/>
                </a:ln>
                <a:solidFill>
                  <a:schemeClr val="tx1"/>
                </a:solidFill>
                <a:effectLst/>
                <a:uLnTx/>
                <a:uFillTx/>
                <a:latin typeface="+mn-lt"/>
                <a:ea typeface="+mn-ea"/>
                <a:cs typeface="+mn-cs"/>
              </a:rPr>
              <a:t> </a:t>
            </a:r>
          </a:p>
        </p:txBody>
      </p:sp>
      <p:grpSp>
        <p:nvGrpSpPr>
          <p:cNvPr id="2" name="Group 4"/>
          <p:cNvGrpSpPr>
            <a:grpSpLocks noChangeAspect="1"/>
          </p:cNvGrpSpPr>
          <p:nvPr/>
        </p:nvGrpSpPr>
        <p:grpSpPr>
          <a:xfrm>
            <a:off x="5629796" y="2780928"/>
            <a:ext cx="3361543" cy="2863205"/>
            <a:chOff x="2928" y="768"/>
            <a:chExt cx="2544" cy="3073"/>
          </a:xfrm>
        </p:grpSpPr>
        <p:pic>
          <p:nvPicPr>
            <p:cNvPr id="63496" name="Picture 5" descr="Pb-Sn相图"/>
            <p:cNvPicPr>
              <a:picLocks noChangeAspect="1"/>
            </p:cNvPicPr>
            <p:nvPr/>
          </p:nvPicPr>
          <p:blipFill>
            <a:blip r:embed="rId3"/>
            <a:stretch>
              <a:fillRect/>
            </a:stretch>
          </p:blipFill>
          <p:spPr>
            <a:xfrm>
              <a:off x="2928" y="768"/>
              <a:ext cx="2544" cy="3073"/>
            </a:xfrm>
            <a:prstGeom prst="rect">
              <a:avLst/>
            </a:prstGeom>
            <a:noFill/>
            <a:ln w="38100" cap="flat" cmpd="sng">
              <a:solidFill>
                <a:srgbClr val="FF9900"/>
              </a:solidFill>
              <a:prstDash val="solid"/>
              <a:miter/>
              <a:headEnd type="none" w="med" len="med"/>
              <a:tailEnd type="none" w="med" len="med"/>
            </a:ln>
          </p:spPr>
        </p:pic>
        <p:sp>
          <p:nvSpPr>
            <p:cNvPr id="63497" name="Rectangle 6"/>
            <p:cNvSpPr>
              <a:spLocks noChangeAspect="1"/>
            </p:cNvSpPr>
            <p:nvPr/>
          </p:nvSpPr>
          <p:spPr>
            <a:xfrm>
              <a:off x="3096" y="912"/>
              <a:ext cx="174" cy="281"/>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lvl="0" algn="ctr" eaLnBrk="1" hangingPunct="1"/>
              <a:r>
                <a:rPr lang="en-US" altLang="zh-CN" sz="2400" b="1" i="1" dirty="0">
                  <a:solidFill>
                    <a:srgbClr val="CC0000"/>
                  </a:solidFill>
                  <a:latin typeface="Times New Roman" panose="02020603050405020304" pitchFamily="18" charset="0"/>
                  <a:ea typeface="宋体" panose="02010600030101010101" pitchFamily="2" charset="-122"/>
                </a:rPr>
                <a:t>A</a:t>
              </a:r>
            </a:p>
          </p:txBody>
        </p:sp>
        <p:sp>
          <p:nvSpPr>
            <p:cNvPr id="63498" name="Rectangle 7"/>
            <p:cNvSpPr>
              <a:spLocks noChangeAspect="1"/>
            </p:cNvSpPr>
            <p:nvPr/>
          </p:nvSpPr>
          <p:spPr>
            <a:xfrm>
              <a:off x="5220" y="1416"/>
              <a:ext cx="173" cy="281"/>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lvl="0" algn="ctr" eaLnBrk="1" hangingPunct="1"/>
              <a:r>
                <a:rPr lang="en-US" altLang="zh-CN" sz="2400" b="1" i="1" dirty="0">
                  <a:solidFill>
                    <a:srgbClr val="CC0000"/>
                  </a:solidFill>
                  <a:latin typeface="Times New Roman" panose="02020603050405020304" pitchFamily="18" charset="0"/>
                  <a:ea typeface="宋体" panose="02010600030101010101" pitchFamily="2" charset="-122"/>
                </a:rPr>
                <a:t>B</a:t>
              </a:r>
            </a:p>
          </p:txBody>
        </p:sp>
      </p:grpSp>
      <p:pic>
        <p:nvPicPr>
          <p:cNvPr id="11" name="内容占位符 1" descr="新校徽（3M）弓之乐"/>
          <p:cNvPicPr>
            <a:picLocks noChangeAspect="1"/>
          </p:cNvPicPr>
          <p:nvPr/>
        </p:nvPicPr>
        <p:blipFill>
          <a:blip r:embed="rId4"/>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日期占位符 3"/>
          <p:cNvSpPr txBox="1">
            <a:spLocks noGrp="1"/>
          </p:cNvSpPr>
          <p:nvPr>
            <p:ph type="dt" sz="half" idx="10"/>
          </p:nvPr>
        </p:nvSpPr>
        <p:spPr>
          <a:xfrm>
            <a:off x="285750" y="6500813"/>
            <a:ext cx="2305050" cy="357187"/>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64515" name="灯片编号占位符 5"/>
          <p:cNvSpPr txBox="1">
            <a:spLocks noGrp="1"/>
          </p:cNvSpPr>
          <p:nvPr>
            <p:ph type="sldNum" sz="quarter" idx="12"/>
          </p:nvPr>
        </p:nvSpPr>
        <p:spPr>
          <a:xfrm>
            <a:off x="8644890" y="6543040"/>
            <a:ext cx="476885" cy="273050"/>
          </a:xfrm>
        </p:spPr>
        <p:txBody>
          <a:bodyPr lIns="92075" tIns="46038" rIns="92075" bIns="46038" anchor="ctr"/>
          <a:lstStyle/>
          <a:p>
            <a:pPr algn="r" eaLnBrk="1" hangingPunct="1"/>
            <a:fld id="{9A0DB2DC-4C9A-4742-B13C-FB6460FD3503}" type="slidenum">
              <a:rPr lang="en-US" altLang="zh-CN" sz="1400" dirty="0"/>
              <a:t>62</a:t>
            </a:fld>
            <a:endParaRPr lang="en-US" altLang="zh-CN" sz="1400" dirty="0"/>
          </a:p>
        </p:txBody>
      </p:sp>
      <p:sp>
        <p:nvSpPr>
          <p:cNvPr id="240642" name="Rectangle 2"/>
          <p:cNvSpPr>
            <a:spLocks noGrp="1" noChangeArrowheads="1"/>
          </p:cNvSpPr>
          <p:nvPr>
            <p:ph type="title"/>
          </p:nvPr>
        </p:nvSpPr>
        <p:spPr>
          <a:xfrm>
            <a:off x="1438275" y="233819"/>
            <a:ext cx="6548438" cy="1000125"/>
          </a:xfrm>
        </p:spPr>
        <p:txBody>
          <a:bodyPr vert="horz" wrap="square" lIns="92075" tIns="46038" rIns="92075" bIns="46038" numCol="1" anchor="ctr" anchorCtr="0" compatLnSpc="1"/>
          <a:lstStyle/>
          <a:p>
            <a:pPr eaLnBrk="1" hangingPunct="1"/>
            <a:r>
              <a:rPr lang="en-US" altLang="zh-CN" b="1" dirty="0">
                <a:solidFill>
                  <a:srgbClr val="FF0000"/>
                </a:solidFill>
                <a:ea typeface="仿宋_GB2312" pitchFamily="49" charset="-122"/>
              </a:rPr>
              <a:t>⑴ </a:t>
            </a:r>
            <a:r>
              <a:rPr lang="zh-CN" altLang="en-US" b="1" dirty="0">
                <a:solidFill>
                  <a:srgbClr val="FF0000"/>
                </a:solidFill>
                <a:ea typeface="华文中宋" panose="02010600040101010101" pitchFamily="2" charset="-122"/>
              </a:rPr>
              <a:t>相图分析</a:t>
            </a:r>
            <a:r>
              <a:rPr lang="en-US" altLang="zh-CN" b="1" dirty="0">
                <a:solidFill>
                  <a:srgbClr val="FF0000"/>
                </a:solidFill>
                <a:latin typeface="Times New Roman" panose="02020603050405020304" pitchFamily="18" charset="0"/>
                <a:ea typeface="华文中宋" panose="02010600040101010101" pitchFamily="2" charset="-122"/>
              </a:rPr>
              <a:t>——</a:t>
            </a:r>
            <a:r>
              <a:rPr lang="zh-CN" altLang="en-US" b="1" dirty="0">
                <a:solidFill>
                  <a:srgbClr val="FF0000"/>
                </a:solidFill>
                <a:ea typeface="华文中宋" panose="02010600040101010101" pitchFamily="2" charset="-122"/>
              </a:rPr>
              <a:t>特征线</a:t>
            </a:r>
          </a:p>
        </p:txBody>
      </p:sp>
      <p:sp>
        <p:nvSpPr>
          <p:cNvPr id="64517" name="Rectangle 3"/>
          <p:cNvSpPr>
            <a:spLocks noGrp="1"/>
          </p:cNvSpPr>
          <p:nvPr>
            <p:ph idx="1"/>
          </p:nvPr>
        </p:nvSpPr>
        <p:spPr>
          <a:xfrm>
            <a:off x="151130" y="2200910"/>
            <a:ext cx="5896610" cy="4164330"/>
          </a:xfrm>
        </p:spPr>
        <p:txBody>
          <a:bodyPr vert="horz" wrap="square" lIns="91440" tIns="45720" rIns="91440" bIns="45720" anchor="t"/>
          <a:lstStyle/>
          <a:p>
            <a:pPr eaLnBrk="1" hangingPunct="1">
              <a:lnSpc>
                <a:spcPct val="80000"/>
              </a:lnSpc>
            </a:pPr>
            <a:r>
              <a:rPr lang="zh-CN" altLang="en-US" sz="2800" b="1" dirty="0">
                <a:solidFill>
                  <a:srgbClr val="0000FF"/>
                </a:solidFill>
                <a:ea typeface="华文中宋" panose="02010600040101010101" pitchFamily="2" charset="-122"/>
              </a:rPr>
              <a:t>AEB</a:t>
            </a:r>
            <a:r>
              <a:rPr lang="en-US" altLang="zh-CN" b="1" dirty="0">
                <a:solidFill>
                  <a:schemeClr val="folHlink"/>
                </a:solidFill>
              </a:rPr>
              <a:t> </a:t>
            </a:r>
            <a:r>
              <a:rPr lang="zh-CN" altLang="en-US" b="1" dirty="0">
                <a:solidFill>
                  <a:schemeClr val="folHlink"/>
                </a:solidFill>
              </a:rPr>
              <a:t>：</a:t>
            </a:r>
            <a:r>
              <a:rPr lang="zh-CN" altLang="en-US" sz="2800" b="1" dirty="0">
                <a:solidFill>
                  <a:srgbClr val="0000FF"/>
                </a:solidFill>
                <a:ea typeface="华文中宋" panose="02010600040101010101" pitchFamily="2" charset="-122"/>
              </a:rPr>
              <a:t>液相线</a:t>
            </a:r>
            <a:r>
              <a:rPr lang="zh-CN" altLang="en-US" sz="2800" dirty="0"/>
              <a:t>（此线以上为液相）</a:t>
            </a:r>
          </a:p>
          <a:p>
            <a:pPr eaLnBrk="1" hangingPunct="1">
              <a:lnSpc>
                <a:spcPct val="80000"/>
              </a:lnSpc>
            </a:pPr>
            <a:r>
              <a:rPr lang="zh-CN" altLang="en-US" sz="2800" b="1" dirty="0">
                <a:solidFill>
                  <a:srgbClr val="0000FF"/>
                </a:solidFill>
                <a:ea typeface="华文中宋" panose="02010600040101010101" pitchFamily="2" charset="-122"/>
              </a:rPr>
              <a:t>ACEDB</a:t>
            </a:r>
            <a:r>
              <a:rPr lang="zh-CN" altLang="en-US" b="1" dirty="0">
                <a:solidFill>
                  <a:schemeClr val="folHlink"/>
                </a:solidFill>
              </a:rPr>
              <a:t>：</a:t>
            </a:r>
            <a:r>
              <a:rPr lang="zh-CN" altLang="en-US" sz="2800" b="1" dirty="0">
                <a:solidFill>
                  <a:srgbClr val="0000FF"/>
                </a:solidFill>
                <a:ea typeface="华文中宋" panose="02010600040101010101" pitchFamily="2" charset="-122"/>
              </a:rPr>
              <a:t>固相线</a:t>
            </a:r>
            <a:r>
              <a:rPr lang="zh-CN" altLang="en-US" sz="2800" dirty="0"/>
              <a:t>（此线以下为固相）</a:t>
            </a:r>
          </a:p>
          <a:p>
            <a:pPr eaLnBrk="1" hangingPunct="1">
              <a:lnSpc>
                <a:spcPct val="80000"/>
              </a:lnSpc>
            </a:pPr>
            <a:r>
              <a:rPr lang="en-US" altLang="zh-CN" sz="2800" b="1" dirty="0">
                <a:solidFill>
                  <a:schemeClr val="folHlink"/>
                </a:solidFill>
              </a:rPr>
              <a:t>CF</a:t>
            </a:r>
            <a:r>
              <a:rPr lang="zh-CN" altLang="en-US" sz="2800" b="1" dirty="0">
                <a:solidFill>
                  <a:schemeClr val="folHlink"/>
                </a:solidFill>
              </a:rPr>
              <a:t>：</a:t>
            </a:r>
            <a:r>
              <a:rPr lang="en-US" altLang="zh-CN" sz="2800" dirty="0"/>
              <a:t>Sn</a:t>
            </a:r>
            <a:r>
              <a:rPr lang="zh-CN" altLang="en-US" sz="2800" dirty="0"/>
              <a:t>在</a:t>
            </a:r>
            <a:r>
              <a:rPr lang="en-US" altLang="zh-CN" sz="2800" dirty="0"/>
              <a:t>Pb </a:t>
            </a:r>
            <a:r>
              <a:rPr lang="zh-CN" altLang="en-US" sz="2800" dirty="0"/>
              <a:t>中的溶解度曲线</a:t>
            </a:r>
          </a:p>
          <a:p>
            <a:pPr eaLnBrk="1" hangingPunct="1">
              <a:lnSpc>
                <a:spcPct val="80000"/>
              </a:lnSpc>
            </a:pPr>
            <a:r>
              <a:rPr lang="en-US" altLang="zh-CN" sz="2800" b="1" dirty="0">
                <a:solidFill>
                  <a:schemeClr val="folHlink"/>
                </a:solidFill>
              </a:rPr>
              <a:t>DG</a:t>
            </a:r>
            <a:r>
              <a:rPr lang="zh-CN" altLang="en-US" sz="2800" b="1" dirty="0">
                <a:solidFill>
                  <a:schemeClr val="folHlink"/>
                </a:solidFill>
              </a:rPr>
              <a:t>：</a:t>
            </a:r>
            <a:r>
              <a:rPr lang="en-US" altLang="zh-CN" sz="2800" dirty="0"/>
              <a:t>Pb</a:t>
            </a:r>
            <a:r>
              <a:rPr lang="zh-CN" altLang="en-US" sz="2800" dirty="0"/>
              <a:t>在 </a:t>
            </a:r>
            <a:r>
              <a:rPr lang="en-US" altLang="zh-CN" sz="2800" dirty="0"/>
              <a:t>Sn</a:t>
            </a:r>
            <a:r>
              <a:rPr lang="zh-CN" altLang="en-US" sz="2800" dirty="0"/>
              <a:t>中的溶解度曲线</a:t>
            </a:r>
          </a:p>
          <a:p>
            <a:pPr eaLnBrk="1" hangingPunct="1">
              <a:lnSpc>
                <a:spcPct val="80000"/>
              </a:lnSpc>
            </a:pPr>
            <a:r>
              <a:rPr lang="en-US" altLang="zh-CN" sz="2800" b="1" dirty="0">
                <a:solidFill>
                  <a:schemeClr val="folHlink"/>
                </a:solidFill>
                <a:ea typeface="华文中宋" panose="02010600040101010101" pitchFamily="2" charset="-122"/>
              </a:rPr>
              <a:t>CED </a:t>
            </a:r>
            <a:r>
              <a:rPr lang="zh-CN" altLang="en-US" sz="2800" b="1" dirty="0">
                <a:solidFill>
                  <a:schemeClr val="folHlink"/>
                </a:solidFill>
                <a:ea typeface="华文中宋" panose="02010600040101010101" pitchFamily="2" charset="-122"/>
              </a:rPr>
              <a:t>：</a:t>
            </a:r>
            <a:r>
              <a:rPr lang="zh-CN" altLang="en-US" sz="2800" b="1" dirty="0">
                <a:solidFill>
                  <a:srgbClr val="0000FF"/>
                </a:solidFill>
                <a:ea typeface="华文中宋" panose="02010600040101010101" pitchFamily="2" charset="-122"/>
              </a:rPr>
              <a:t>水平线</a:t>
            </a:r>
            <a:r>
              <a:rPr lang="zh-CN" altLang="en-US" sz="2800" dirty="0"/>
              <a:t>叫做</a:t>
            </a:r>
            <a:r>
              <a:rPr lang="zh-CN" altLang="en-US" sz="2800" b="1" dirty="0">
                <a:solidFill>
                  <a:srgbClr val="0000FF"/>
                </a:solidFill>
                <a:ea typeface="华文中宋" panose="02010600040101010101" pitchFamily="2" charset="-122"/>
              </a:rPr>
              <a:t>共晶线</a:t>
            </a:r>
            <a:r>
              <a:rPr lang="zh-CN" altLang="en-US" sz="2800" b="1" dirty="0">
                <a:solidFill>
                  <a:srgbClr val="CCFF33"/>
                </a:solidFill>
                <a:ea typeface="华文中宋" panose="02010600040101010101" pitchFamily="2" charset="-122"/>
              </a:rPr>
              <a:t>。</a:t>
            </a:r>
            <a:endParaRPr lang="zh-CN" altLang="en-US" sz="2800" dirty="0"/>
          </a:p>
          <a:p>
            <a:pPr eaLnBrk="1" hangingPunct="1">
              <a:lnSpc>
                <a:spcPct val="130000"/>
              </a:lnSpc>
              <a:buNone/>
            </a:pPr>
            <a:r>
              <a:rPr lang="zh-CN" altLang="en-US" sz="2800" b="1" i="1" dirty="0">
                <a:solidFill>
                  <a:schemeClr val="folHlink"/>
                </a:solidFill>
                <a:ea typeface="华文中宋" panose="02010600040101010101" pitchFamily="2" charset="-122"/>
              </a:rPr>
              <a:t>                 </a:t>
            </a:r>
            <a:r>
              <a:rPr lang="en-US" altLang="zh-CN" sz="2800" b="1" i="1" dirty="0">
                <a:solidFill>
                  <a:schemeClr val="folHlink"/>
                </a:solidFill>
                <a:ea typeface="华文中宋" panose="02010600040101010101" pitchFamily="2" charset="-122"/>
              </a:rPr>
              <a:t>L</a:t>
            </a:r>
            <a:r>
              <a:rPr lang="en-US" altLang="zh-CN" sz="2800" b="1" baseline="-25000" dirty="0">
                <a:solidFill>
                  <a:schemeClr val="folHlink"/>
                </a:solidFill>
                <a:ea typeface="华文中宋" panose="02010600040101010101" pitchFamily="2" charset="-122"/>
              </a:rPr>
              <a:t>E</a:t>
            </a:r>
            <a:r>
              <a:rPr lang="en-US" altLang="zh-CN" sz="2800" b="1" dirty="0">
                <a:solidFill>
                  <a:schemeClr val="folHlink"/>
                </a:solidFill>
                <a:ea typeface="华文中宋" panose="02010600040101010101" pitchFamily="2" charset="-122"/>
              </a:rPr>
              <a:t> </a:t>
            </a:r>
            <a:r>
              <a:rPr lang="en-US" altLang="zh-CN" sz="2800" b="1" dirty="0">
                <a:solidFill>
                  <a:schemeClr val="folHlink"/>
                </a:solidFill>
                <a:ea typeface="Arial Unicode MS" panose="020B0604020202020204" charset="-122"/>
              </a:rPr>
              <a:t>⇄ </a:t>
            </a:r>
            <a:r>
              <a:rPr lang="en-US" altLang="zh-CN" sz="2800" b="1" dirty="0">
                <a:solidFill>
                  <a:schemeClr val="folHlink"/>
                </a:solidFill>
                <a:ea typeface="华文中宋" panose="02010600040101010101" pitchFamily="2" charset="-122"/>
              </a:rPr>
              <a:t>( </a:t>
            </a:r>
            <a:r>
              <a:rPr lang="en-US" altLang="zh-CN" sz="2800" b="1" i="1" dirty="0">
                <a:solidFill>
                  <a:schemeClr val="folHlink"/>
                </a:solidFill>
                <a:ea typeface="华文中宋" panose="02010600040101010101" pitchFamily="2" charset="-122"/>
                <a:sym typeface="Symbol" panose="05050102010706020507" pitchFamily="18" charset="2"/>
              </a:rPr>
              <a:t></a:t>
            </a:r>
            <a:r>
              <a:rPr lang="en-US" altLang="zh-CN" sz="2800" b="1" baseline="-25000" dirty="0">
                <a:solidFill>
                  <a:schemeClr val="folHlink"/>
                </a:solidFill>
                <a:ea typeface="华文中宋" panose="02010600040101010101" pitchFamily="2" charset="-122"/>
                <a:sym typeface="Symbol" panose="05050102010706020507" pitchFamily="18" charset="2"/>
              </a:rPr>
              <a:t>C</a:t>
            </a:r>
            <a:r>
              <a:rPr lang="en-US" altLang="zh-CN" sz="2800" b="1" dirty="0">
                <a:solidFill>
                  <a:schemeClr val="folHlink"/>
                </a:solidFill>
                <a:ea typeface="华文中宋" panose="02010600040101010101" pitchFamily="2" charset="-122"/>
                <a:sym typeface="Symbol" panose="05050102010706020507" pitchFamily="18" charset="2"/>
              </a:rPr>
              <a:t> + </a:t>
            </a:r>
            <a:r>
              <a:rPr lang="en-US" altLang="zh-CN" sz="2800" b="1" i="1" dirty="0">
                <a:solidFill>
                  <a:schemeClr val="folHlink"/>
                </a:solidFill>
                <a:ea typeface="华文中宋" panose="02010600040101010101" pitchFamily="2" charset="-122"/>
                <a:sym typeface="Symbol" panose="05050102010706020507" pitchFamily="18" charset="2"/>
              </a:rPr>
              <a:t></a:t>
            </a:r>
            <a:r>
              <a:rPr lang="en-US" altLang="zh-CN" sz="2800" b="1" baseline="-25000" dirty="0">
                <a:solidFill>
                  <a:schemeClr val="folHlink"/>
                </a:solidFill>
                <a:ea typeface="华文中宋" panose="02010600040101010101" pitchFamily="2" charset="-122"/>
                <a:sym typeface="Symbol" panose="05050102010706020507" pitchFamily="18" charset="2"/>
              </a:rPr>
              <a:t>D </a:t>
            </a:r>
            <a:r>
              <a:rPr lang="en-US" altLang="zh-CN" sz="2800" b="1" dirty="0">
                <a:solidFill>
                  <a:schemeClr val="folHlink"/>
                </a:solidFill>
                <a:ea typeface="华文中宋" panose="02010600040101010101" pitchFamily="2" charset="-122"/>
                <a:sym typeface="Symbol" panose="05050102010706020507" pitchFamily="18" charset="2"/>
              </a:rPr>
              <a:t>)</a:t>
            </a:r>
            <a:endParaRPr lang="en-US" altLang="zh-CN" sz="2800" b="1" dirty="0">
              <a:solidFill>
                <a:schemeClr val="folHlink"/>
              </a:solidFill>
            </a:endParaRPr>
          </a:p>
          <a:p>
            <a:pPr eaLnBrk="1" hangingPunct="1">
              <a:lnSpc>
                <a:spcPct val="80000"/>
              </a:lnSpc>
            </a:pPr>
            <a:r>
              <a:rPr lang="zh-CN" altLang="en-US" sz="2800" b="1" dirty="0">
                <a:solidFill>
                  <a:srgbClr val="0000FF"/>
                </a:solidFill>
                <a:ea typeface="华文中宋" panose="02010600040101010101" pitchFamily="2" charset="-122"/>
                <a:sym typeface="Symbol" panose="05050102010706020507" pitchFamily="18" charset="2"/>
              </a:rPr>
              <a:t> 和  </a:t>
            </a:r>
            <a:r>
              <a:rPr lang="zh-CN" altLang="en-US" sz="2800" b="1" dirty="0">
                <a:solidFill>
                  <a:srgbClr val="0000FF"/>
                </a:solidFill>
                <a:ea typeface="华文中宋" panose="02010600040101010101" pitchFamily="2" charset="-122"/>
              </a:rPr>
              <a:t>固溶体的溶解度随温度降低而下降。</a:t>
            </a:r>
            <a:endParaRPr lang="zh-CN" altLang="en-US" sz="2800" b="1" dirty="0">
              <a:solidFill>
                <a:schemeClr val="folHlink"/>
              </a:solidFill>
            </a:endParaRPr>
          </a:p>
        </p:txBody>
      </p:sp>
      <p:grpSp>
        <p:nvGrpSpPr>
          <p:cNvPr id="2" name="Group 4"/>
          <p:cNvGrpSpPr>
            <a:grpSpLocks noChangeAspect="1"/>
          </p:cNvGrpSpPr>
          <p:nvPr/>
        </p:nvGrpSpPr>
        <p:grpSpPr>
          <a:xfrm>
            <a:off x="6033463" y="2564904"/>
            <a:ext cx="3146425" cy="2679700"/>
            <a:chOff x="2928" y="768"/>
            <a:chExt cx="2544" cy="3073"/>
          </a:xfrm>
        </p:grpSpPr>
        <p:pic>
          <p:nvPicPr>
            <p:cNvPr id="64520" name="Picture 5" descr="Pb-Sn相图"/>
            <p:cNvPicPr>
              <a:picLocks noChangeAspect="1"/>
            </p:cNvPicPr>
            <p:nvPr/>
          </p:nvPicPr>
          <p:blipFill>
            <a:blip r:embed="rId2"/>
            <a:stretch>
              <a:fillRect/>
            </a:stretch>
          </p:blipFill>
          <p:spPr>
            <a:xfrm>
              <a:off x="2928" y="768"/>
              <a:ext cx="2544" cy="3073"/>
            </a:xfrm>
            <a:prstGeom prst="rect">
              <a:avLst/>
            </a:prstGeom>
            <a:noFill/>
            <a:ln w="38100" cap="flat" cmpd="sng">
              <a:solidFill>
                <a:srgbClr val="FF9900"/>
              </a:solidFill>
              <a:prstDash val="solid"/>
              <a:miter/>
              <a:headEnd type="none" w="med" len="med"/>
              <a:tailEnd type="none" w="med" len="med"/>
            </a:ln>
          </p:spPr>
        </p:pic>
        <p:sp>
          <p:nvSpPr>
            <p:cNvPr id="64521" name="Rectangle 6"/>
            <p:cNvSpPr>
              <a:spLocks noChangeAspect="1"/>
            </p:cNvSpPr>
            <p:nvPr/>
          </p:nvSpPr>
          <p:spPr>
            <a:xfrm>
              <a:off x="3096" y="912"/>
              <a:ext cx="174" cy="281"/>
            </a:xfrm>
            <a:prstGeom prst="rect">
              <a:avLst/>
            </a:prstGeom>
            <a:solidFill>
              <a:schemeClr val="bg1"/>
            </a:solidFill>
            <a:ln w="9525" cap="flat" cmpd="sng">
              <a:noFill/>
              <a:prstDash val="solid"/>
              <a:miter/>
              <a:headEnd type="none" w="med" len="med"/>
              <a:tailEnd type="none" w="med" len="med"/>
            </a:ln>
          </p:spPr>
          <p:txBody>
            <a:bodyPr wrap="none" anchor="ctr"/>
            <a:lstStyle/>
            <a:p>
              <a:pPr lvl="0" algn="ctr" eaLnBrk="1" hangingPunct="1"/>
              <a:r>
                <a:rPr lang="en-US" altLang="zh-CN" sz="2400" b="1" i="1" dirty="0">
                  <a:solidFill>
                    <a:srgbClr val="CC0000"/>
                  </a:solidFill>
                  <a:latin typeface="Times New Roman" panose="02020603050405020304" pitchFamily="18" charset="0"/>
                  <a:ea typeface="宋体" panose="02010600030101010101" pitchFamily="2" charset="-122"/>
                </a:rPr>
                <a:t>A</a:t>
              </a:r>
            </a:p>
          </p:txBody>
        </p:sp>
        <p:sp>
          <p:nvSpPr>
            <p:cNvPr id="64522" name="Rectangle 7"/>
            <p:cNvSpPr>
              <a:spLocks noChangeAspect="1"/>
            </p:cNvSpPr>
            <p:nvPr/>
          </p:nvSpPr>
          <p:spPr>
            <a:xfrm>
              <a:off x="5220" y="1416"/>
              <a:ext cx="173" cy="281"/>
            </a:xfrm>
            <a:prstGeom prst="rect">
              <a:avLst/>
            </a:prstGeom>
            <a:solidFill>
              <a:schemeClr val="bg1"/>
            </a:solidFill>
            <a:ln w="9525" cap="flat" cmpd="sng">
              <a:noFill/>
              <a:prstDash val="solid"/>
              <a:miter/>
              <a:headEnd type="none" w="med" len="med"/>
              <a:tailEnd type="none" w="med" len="med"/>
            </a:ln>
          </p:spPr>
          <p:txBody>
            <a:bodyPr wrap="none" anchor="ctr"/>
            <a:lstStyle/>
            <a:p>
              <a:pPr lvl="0" algn="ctr" eaLnBrk="1" hangingPunct="1"/>
              <a:r>
                <a:rPr lang="en-US" altLang="zh-CN" sz="2400" b="1" i="1" dirty="0">
                  <a:solidFill>
                    <a:srgbClr val="CC0000"/>
                  </a:solidFill>
                  <a:latin typeface="Times New Roman" panose="02020603050405020304" pitchFamily="18" charset="0"/>
                  <a:ea typeface="宋体" panose="02010600030101010101" pitchFamily="2" charset="-122"/>
                </a:rPr>
                <a:t>B</a:t>
              </a:r>
            </a:p>
          </p:txBody>
        </p:sp>
      </p:grpSp>
      <p:pic>
        <p:nvPicPr>
          <p:cNvPr id="11" name="内容占位符 1" descr="新校徽（3M）弓之乐"/>
          <p:cNvPicPr>
            <a:picLocks noChangeAspect="1"/>
          </p:cNvPicPr>
          <p:nvPr/>
        </p:nvPicPr>
        <p:blipFill>
          <a:blip r:embed="rId3"/>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日期占位符 3"/>
          <p:cNvSpPr txBox="1">
            <a:spLocks noGrp="1"/>
          </p:cNvSpPr>
          <p:nvPr>
            <p:ph type="dt" sz="half" idx="10"/>
          </p:nvPr>
        </p:nvSpPr>
        <p:spPr>
          <a:xfrm>
            <a:off x="0" y="6510020"/>
            <a:ext cx="2298065" cy="34734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65539" name="灯片编号占位符 5"/>
          <p:cNvSpPr txBox="1">
            <a:spLocks noGrp="1"/>
          </p:cNvSpPr>
          <p:nvPr>
            <p:ph type="sldNum" sz="quarter" idx="12"/>
          </p:nvPr>
        </p:nvSpPr>
        <p:spPr>
          <a:xfrm>
            <a:off x="8644255" y="6574790"/>
            <a:ext cx="531495" cy="282575"/>
          </a:xfrm>
        </p:spPr>
        <p:txBody>
          <a:bodyPr lIns="92075" tIns="46038" rIns="92075" bIns="46038" anchor="ctr"/>
          <a:lstStyle/>
          <a:p>
            <a:pPr algn="r" eaLnBrk="1" hangingPunct="1"/>
            <a:fld id="{9A0DB2DC-4C9A-4742-B13C-FB6460FD3503}" type="slidenum">
              <a:rPr lang="en-US" altLang="zh-CN" sz="1400" dirty="0"/>
              <a:t>63</a:t>
            </a:fld>
            <a:endParaRPr lang="en-US" altLang="zh-CN" sz="1400" dirty="0"/>
          </a:p>
        </p:txBody>
      </p:sp>
      <p:sp>
        <p:nvSpPr>
          <p:cNvPr id="238594" name="Rectangle 2"/>
          <p:cNvSpPr>
            <a:spLocks noGrp="1" noChangeArrowheads="1"/>
          </p:cNvSpPr>
          <p:nvPr>
            <p:ph type="title"/>
          </p:nvPr>
        </p:nvSpPr>
        <p:spPr>
          <a:xfrm>
            <a:off x="1375092" y="310005"/>
            <a:ext cx="7269163" cy="882650"/>
          </a:xfrm>
        </p:spPr>
        <p:txBody>
          <a:bodyPr vert="horz" wrap="square" lIns="92075" tIns="46038" rIns="92075" bIns="46038" numCol="1" anchor="ctr" anchorCtr="0" compatLnSpc="1"/>
          <a:lstStyle/>
          <a:p>
            <a:pPr eaLnBrk="1" hangingPunct="1"/>
            <a:r>
              <a:rPr lang="en-US" altLang="zh-CN" b="1" dirty="0">
                <a:solidFill>
                  <a:srgbClr val="FF0000"/>
                </a:solidFill>
                <a:ea typeface="仿宋_GB2312" pitchFamily="49" charset="-122"/>
              </a:rPr>
              <a:t>⑴ </a:t>
            </a:r>
            <a:r>
              <a:rPr lang="zh-CN" altLang="en-US" b="1" dirty="0">
                <a:solidFill>
                  <a:srgbClr val="FF0000"/>
                </a:solidFill>
                <a:ea typeface="华文中宋" panose="02010600040101010101" pitchFamily="2" charset="-122"/>
              </a:rPr>
              <a:t>相图分析</a:t>
            </a:r>
            <a:r>
              <a:rPr lang="en-US" altLang="zh-CN" b="1" dirty="0">
                <a:solidFill>
                  <a:srgbClr val="FF0000"/>
                </a:solidFill>
                <a:latin typeface="Times New Roman" panose="02020603050405020304" pitchFamily="18" charset="0"/>
                <a:ea typeface="华文中宋" panose="02010600040101010101" pitchFamily="2" charset="-122"/>
              </a:rPr>
              <a:t>——</a:t>
            </a:r>
            <a:r>
              <a:rPr lang="zh-CN" altLang="en-US" b="1" dirty="0">
                <a:solidFill>
                  <a:srgbClr val="FF0000"/>
                </a:solidFill>
                <a:ea typeface="华文中宋" panose="02010600040101010101" pitchFamily="2" charset="-122"/>
              </a:rPr>
              <a:t>相、相区</a:t>
            </a:r>
          </a:p>
        </p:txBody>
      </p:sp>
      <p:sp>
        <p:nvSpPr>
          <p:cNvPr id="65541" name="Rectangle 3"/>
          <p:cNvSpPr>
            <a:spLocks noGrp="1"/>
          </p:cNvSpPr>
          <p:nvPr>
            <p:ph idx="1"/>
          </p:nvPr>
        </p:nvSpPr>
        <p:spPr>
          <a:xfrm>
            <a:off x="181610" y="1988820"/>
            <a:ext cx="5833110" cy="4330065"/>
          </a:xfrm>
        </p:spPr>
        <p:txBody>
          <a:bodyPr vert="horz" wrap="square" lIns="91440" tIns="45720" rIns="91440" bIns="45720" anchor="t"/>
          <a:lstStyle/>
          <a:p>
            <a:pPr eaLnBrk="1" hangingPunct="1">
              <a:lnSpc>
                <a:spcPct val="90000"/>
              </a:lnSpc>
            </a:pPr>
            <a:r>
              <a:rPr lang="en-US" altLang="zh-CN" sz="2800" b="1" dirty="0">
                <a:solidFill>
                  <a:schemeClr val="folHlink"/>
                </a:solidFill>
                <a:ea typeface="华文中宋" panose="02010600040101010101" pitchFamily="2" charset="-122"/>
              </a:rPr>
              <a:t>① </a:t>
            </a:r>
            <a:r>
              <a:rPr lang="zh-CN" altLang="en-US" sz="2800" b="1" dirty="0">
                <a:solidFill>
                  <a:schemeClr val="folHlink"/>
                </a:solidFill>
                <a:ea typeface="华文中宋" panose="02010600040101010101" pitchFamily="2" charset="-122"/>
              </a:rPr>
              <a:t>相：</a:t>
            </a:r>
            <a:r>
              <a:rPr lang="zh-CN" altLang="en-US" sz="2800" b="1" dirty="0">
                <a:ea typeface="华文中宋" panose="02010600040101010101" pitchFamily="2" charset="-122"/>
              </a:rPr>
              <a:t>有</a:t>
            </a:r>
            <a:r>
              <a:rPr lang="zh-CN" altLang="en-US" sz="2800" b="1" dirty="0">
                <a:solidFill>
                  <a:schemeClr val="folHlink"/>
                </a:solidFill>
                <a:ea typeface="华文中宋" panose="02010600040101010101" pitchFamily="2" charset="-122"/>
                <a:sym typeface="Symbol" panose="05050102010706020507" pitchFamily="18" charset="2"/>
              </a:rPr>
              <a:t>三种</a:t>
            </a:r>
            <a:r>
              <a:rPr lang="zh-CN" altLang="en-US" sz="2800" b="1" dirty="0">
                <a:ea typeface="华文中宋" panose="02010600040101010101" pitchFamily="2" charset="-122"/>
                <a:sym typeface="Symbol" panose="05050102010706020507" pitchFamily="18" charset="2"/>
              </a:rPr>
              <a:t>相</a:t>
            </a:r>
            <a:endParaRPr lang="zh-CN" altLang="en-US" sz="2800" b="1" dirty="0">
              <a:ea typeface="华文中宋" panose="02010600040101010101" pitchFamily="2" charset="-122"/>
            </a:endParaRPr>
          </a:p>
          <a:p>
            <a:pPr eaLnBrk="1" hangingPunct="1">
              <a:lnSpc>
                <a:spcPct val="90000"/>
              </a:lnSpc>
              <a:buNone/>
            </a:pPr>
            <a:r>
              <a:rPr lang="zh-CN" altLang="en-US" sz="2800" b="1" i="1" dirty="0">
                <a:solidFill>
                  <a:schemeClr val="folHlink"/>
                </a:solidFill>
                <a:ea typeface="华文中宋" panose="02010600040101010101" pitchFamily="2" charset="-122"/>
              </a:rPr>
              <a:t>    </a:t>
            </a:r>
            <a:r>
              <a:rPr lang="en-US" altLang="zh-CN" sz="2800" b="1" i="1" dirty="0">
                <a:solidFill>
                  <a:schemeClr val="folHlink"/>
                </a:solidFill>
                <a:ea typeface="华文中宋" panose="02010600040101010101" pitchFamily="2" charset="-122"/>
              </a:rPr>
              <a:t>L</a:t>
            </a:r>
            <a:r>
              <a:rPr lang="zh-CN" altLang="en-US" sz="2800" b="1" i="1" dirty="0">
                <a:solidFill>
                  <a:schemeClr val="folHlink"/>
                </a:solidFill>
                <a:ea typeface="华文中宋" panose="02010600040101010101" pitchFamily="2" charset="-122"/>
              </a:rPr>
              <a:t>：液相</a:t>
            </a:r>
            <a:endParaRPr lang="zh-CN" altLang="en-US" sz="2800" b="1" dirty="0">
              <a:ea typeface="华文中宋" panose="02010600040101010101" pitchFamily="2" charset="-122"/>
              <a:sym typeface="Symbol" panose="05050102010706020507" pitchFamily="18" charset="2"/>
            </a:endParaRPr>
          </a:p>
          <a:p>
            <a:pPr eaLnBrk="1" hangingPunct="1">
              <a:lnSpc>
                <a:spcPct val="90000"/>
              </a:lnSpc>
              <a:buNone/>
            </a:pPr>
            <a:r>
              <a:rPr lang="zh-CN" altLang="en-US" sz="2800" b="1" i="1" dirty="0">
                <a:solidFill>
                  <a:schemeClr val="folHlink"/>
                </a:solidFill>
                <a:ea typeface="华文中宋" panose="02010600040101010101" pitchFamily="2" charset="-122"/>
                <a:sym typeface="Symbol" panose="05050102010706020507" pitchFamily="18" charset="2"/>
              </a:rPr>
              <a:t>  </a:t>
            </a:r>
            <a:r>
              <a:rPr lang="zh-CN" altLang="en-US" sz="2800" b="1" i="1" dirty="0">
                <a:solidFill>
                  <a:srgbClr val="0000FF"/>
                </a:solidFill>
                <a:ea typeface="华文中宋" panose="02010600040101010101" pitchFamily="2" charset="-122"/>
                <a:sym typeface="Symbol" panose="05050102010706020507" pitchFamily="18" charset="2"/>
              </a:rPr>
              <a:t> </a:t>
            </a:r>
            <a:r>
              <a:rPr lang="zh-CN" altLang="en-US" sz="2800" b="1" i="1" dirty="0">
                <a:ea typeface="华文中宋" panose="02010600040101010101" pitchFamily="2" charset="-122"/>
                <a:sym typeface="Symbol" panose="05050102010706020507" pitchFamily="18" charset="2"/>
              </a:rPr>
              <a:t>：</a:t>
            </a:r>
            <a:r>
              <a:rPr lang="zh-CN" altLang="en-US" sz="2800" b="1" dirty="0">
                <a:ea typeface="华文中宋" panose="02010600040101010101" pitchFamily="2" charset="-122"/>
                <a:sym typeface="Symbol" panose="05050102010706020507" pitchFamily="18" charset="2"/>
              </a:rPr>
              <a:t>溶质</a:t>
            </a:r>
            <a:r>
              <a:rPr lang="en-US" altLang="zh-CN" sz="2800" b="1" dirty="0">
                <a:ea typeface="华文中宋" panose="02010600040101010101" pitchFamily="2" charset="-122"/>
                <a:sym typeface="Symbol" panose="05050102010706020507" pitchFamily="18" charset="2"/>
              </a:rPr>
              <a:t>S</a:t>
            </a:r>
            <a:r>
              <a:rPr lang="en-US" altLang="zh-CN" sz="2800" b="1" baseline="-25000" dirty="0">
                <a:ea typeface="华文中宋" panose="02010600040101010101" pitchFamily="2" charset="-122"/>
                <a:sym typeface="Symbol" panose="05050102010706020507" pitchFamily="18" charset="2"/>
              </a:rPr>
              <a:t>n</a:t>
            </a:r>
            <a:r>
              <a:rPr lang="en-US" altLang="zh-CN" sz="2800" b="1" dirty="0">
                <a:ea typeface="华文中宋" panose="02010600040101010101" pitchFamily="2" charset="-122"/>
                <a:sym typeface="Symbol" panose="05050102010706020507" pitchFamily="18" charset="2"/>
              </a:rPr>
              <a:t> </a:t>
            </a:r>
            <a:r>
              <a:rPr lang="zh-CN" altLang="en-US" sz="2800" b="1" dirty="0">
                <a:ea typeface="华文中宋" panose="02010600040101010101" pitchFamily="2" charset="-122"/>
                <a:sym typeface="Symbol" panose="05050102010706020507" pitchFamily="18" charset="2"/>
              </a:rPr>
              <a:t>在 </a:t>
            </a:r>
            <a:r>
              <a:rPr lang="en-US" altLang="zh-CN" sz="2800" b="1" dirty="0">
                <a:ea typeface="华文中宋" panose="02010600040101010101" pitchFamily="2" charset="-122"/>
                <a:sym typeface="Symbol" panose="05050102010706020507" pitchFamily="18" charset="2"/>
              </a:rPr>
              <a:t>Pb</a:t>
            </a:r>
            <a:r>
              <a:rPr lang="zh-CN" altLang="en-US" sz="2800" b="1" dirty="0">
                <a:ea typeface="华文中宋" panose="02010600040101010101" pitchFamily="2" charset="-122"/>
                <a:sym typeface="Symbol" panose="05050102010706020507" pitchFamily="18" charset="2"/>
              </a:rPr>
              <a:t>中的固溶体， </a:t>
            </a:r>
          </a:p>
          <a:p>
            <a:pPr eaLnBrk="1" hangingPunct="1">
              <a:lnSpc>
                <a:spcPct val="90000"/>
              </a:lnSpc>
              <a:buNone/>
            </a:pPr>
            <a:r>
              <a:rPr lang="zh-CN" altLang="en-US" sz="2800" b="1" i="1" dirty="0">
                <a:ea typeface="华文中宋" panose="02010600040101010101" pitchFamily="2" charset="-122"/>
                <a:sym typeface="Symbol" panose="05050102010706020507" pitchFamily="18" charset="2"/>
              </a:rPr>
              <a:t>  </a:t>
            </a:r>
            <a:r>
              <a:rPr lang="zh-CN" altLang="en-US" sz="2800" b="1" i="1" dirty="0">
                <a:solidFill>
                  <a:srgbClr val="0000FF"/>
                </a:solidFill>
                <a:ea typeface="华文中宋" panose="02010600040101010101" pitchFamily="2" charset="-122"/>
                <a:sym typeface="Symbol" panose="05050102010706020507" pitchFamily="18" charset="2"/>
              </a:rPr>
              <a:t> </a:t>
            </a:r>
            <a:r>
              <a:rPr lang="zh-CN" altLang="en-US" sz="2800" b="1" i="1" dirty="0">
                <a:ea typeface="华文中宋" panose="02010600040101010101" pitchFamily="2" charset="-122"/>
                <a:sym typeface="Symbol" panose="05050102010706020507" pitchFamily="18" charset="2"/>
              </a:rPr>
              <a:t>：</a:t>
            </a:r>
            <a:r>
              <a:rPr lang="zh-CN" altLang="en-US" sz="2800" b="1" dirty="0">
                <a:ea typeface="华文中宋" panose="02010600040101010101" pitchFamily="2" charset="-122"/>
                <a:sym typeface="Symbol" panose="05050102010706020507" pitchFamily="18" charset="2"/>
              </a:rPr>
              <a:t>溶质</a:t>
            </a:r>
            <a:r>
              <a:rPr lang="en-US" altLang="zh-CN" sz="2800" b="1" dirty="0">
                <a:ea typeface="华文中宋" panose="02010600040101010101" pitchFamily="2" charset="-122"/>
                <a:sym typeface="Symbol" panose="05050102010706020507" pitchFamily="18" charset="2"/>
              </a:rPr>
              <a:t>Pb</a:t>
            </a:r>
            <a:r>
              <a:rPr lang="zh-CN" altLang="en-US" sz="2800" b="1" dirty="0">
                <a:ea typeface="华文中宋" panose="02010600040101010101" pitchFamily="2" charset="-122"/>
                <a:sym typeface="Symbol" panose="05050102010706020507" pitchFamily="18" charset="2"/>
              </a:rPr>
              <a:t>在</a:t>
            </a:r>
            <a:r>
              <a:rPr lang="en-US" altLang="zh-CN" sz="2800" b="1" dirty="0">
                <a:ea typeface="华文中宋" panose="02010600040101010101" pitchFamily="2" charset="-122"/>
                <a:sym typeface="Symbol" panose="05050102010706020507" pitchFamily="18" charset="2"/>
              </a:rPr>
              <a:t>Sn</a:t>
            </a:r>
            <a:r>
              <a:rPr lang="zh-CN" altLang="en-US" sz="2800" b="1" dirty="0">
                <a:ea typeface="华文中宋" panose="02010600040101010101" pitchFamily="2" charset="-122"/>
                <a:sym typeface="Symbol" panose="05050102010706020507" pitchFamily="18" charset="2"/>
              </a:rPr>
              <a:t>中的固溶体。</a:t>
            </a:r>
            <a:endParaRPr lang="zh-CN" altLang="en-US" sz="2800" b="1" dirty="0">
              <a:sym typeface="Symbol" panose="05050102010706020507" pitchFamily="18" charset="2"/>
            </a:endParaRPr>
          </a:p>
          <a:p>
            <a:pPr eaLnBrk="1" hangingPunct="1">
              <a:lnSpc>
                <a:spcPct val="90000"/>
              </a:lnSpc>
            </a:pPr>
            <a:r>
              <a:rPr lang="zh-CN" altLang="en-US" sz="2800" b="1" dirty="0">
                <a:sym typeface="Symbol" panose="05050102010706020507" pitchFamily="18" charset="2"/>
              </a:rPr>
              <a:t>② 相区：</a:t>
            </a:r>
          </a:p>
          <a:p>
            <a:pPr eaLnBrk="1" hangingPunct="1">
              <a:lnSpc>
                <a:spcPct val="90000"/>
              </a:lnSpc>
              <a:buNone/>
            </a:pPr>
            <a:r>
              <a:rPr lang="zh-CN" altLang="en-US" sz="2800" b="1" dirty="0">
                <a:sym typeface="Symbol" panose="05050102010706020507" pitchFamily="18" charset="2"/>
              </a:rPr>
              <a:t>    </a:t>
            </a:r>
            <a:r>
              <a:rPr lang="en-US" altLang="zh-CN" sz="2800" b="1" dirty="0">
                <a:sym typeface="Symbol" panose="05050102010706020507" pitchFamily="18" charset="2"/>
              </a:rPr>
              <a:t>3</a:t>
            </a:r>
            <a:r>
              <a:rPr lang="zh-CN" altLang="en-US" sz="2800" b="1" dirty="0">
                <a:sym typeface="Symbol" panose="05050102010706020507" pitchFamily="18" charset="2"/>
              </a:rPr>
              <a:t>个</a:t>
            </a:r>
            <a:r>
              <a:rPr lang="zh-CN" altLang="en-US" sz="2800" b="1" dirty="0">
                <a:solidFill>
                  <a:srgbClr val="0000FF"/>
                </a:solidFill>
                <a:ea typeface="华文中宋" panose="02010600040101010101" pitchFamily="2" charset="-122"/>
                <a:sym typeface="Symbol" panose="05050102010706020507" pitchFamily="18" charset="2"/>
              </a:rPr>
              <a:t>单相区</a:t>
            </a:r>
            <a:r>
              <a:rPr lang="zh-CN" altLang="en-US" sz="2800" b="1" dirty="0">
                <a:sym typeface="Symbol" panose="05050102010706020507" pitchFamily="18" charset="2"/>
              </a:rPr>
              <a:t>：</a:t>
            </a:r>
            <a:r>
              <a:rPr lang="zh-CN" altLang="en-US" sz="2800" b="1" i="1" dirty="0">
                <a:sym typeface="Symbol" panose="05050102010706020507" pitchFamily="18" charset="2"/>
              </a:rPr>
              <a:t> </a:t>
            </a:r>
            <a:r>
              <a:rPr lang="en-US" altLang="zh-CN" sz="2800" b="1" i="1" dirty="0"/>
              <a:t>L </a:t>
            </a:r>
            <a:r>
              <a:rPr lang="zh-CN" altLang="en-US" sz="2800" b="1" dirty="0"/>
              <a:t>、</a:t>
            </a:r>
            <a:r>
              <a:rPr lang="zh-CN" altLang="en-US" sz="2800" b="1" i="1" dirty="0">
                <a:sym typeface="Symbol" panose="05050102010706020507" pitchFamily="18" charset="2"/>
              </a:rPr>
              <a:t> </a:t>
            </a:r>
            <a:r>
              <a:rPr lang="zh-CN" altLang="en-US" sz="2800" b="1" dirty="0">
                <a:sym typeface="Symbol" panose="05050102010706020507" pitchFamily="18" charset="2"/>
              </a:rPr>
              <a:t>、</a:t>
            </a:r>
            <a:r>
              <a:rPr lang="zh-CN" altLang="en-US" sz="2800" b="1" i="1" dirty="0">
                <a:sym typeface="Symbol" panose="05050102010706020507" pitchFamily="18" charset="2"/>
              </a:rPr>
              <a:t> </a:t>
            </a:r>
            <a:r>
              <a:rPr lang="zh-CN" altLang="en-US" sz="2800" b="1" dirty="0">
                <a:sym typeface="Symbol" panose="05050102010706020507" pitchFamily="18" charset="2"/>
              </a:rPr>
              <a:t>；</a:t>
            </a:r>
          </a:p>
          <a:p>
            <a:pPr eaLnBrk="1" hangingPunct="1">
              <a:lnSpc>
                <a:spcPct val="90000"/>
              </a:lnSpc>
              <a:buNone/>
            </a:pPr>
            <a:r>
              <a:rPr lang="zh-CN" altLang="en-US" sz="2800" b="1" dirty="0">
                <a:sym typeface="Symbol" panose="05050102010706020507" pitchFamily="18" charset="2"/>
              </a:rPr>
              <a:t>    </a:t>
            </a:r>
            <a:r>
              <a:rPr lang="en-US" altLang="zh-CN" sz="2800" b="1" dirty="0">
                <a:sym typeface="Symbol" panose="05050102010706020507" pitchFamily="18" charset="2"/>
              </a:rPr>
              <a:t>3</a:t>
            </a:r>
            <a:r>
              <a:rPr lang="zh-CN" altLang="en-US" sz="2800" b="1" dirty="0">
                <a:sym typeface="Symbol" panose="05050102010706020507" pitchFamily="18" charset="2"/>
              </a:rPr>
              <a:t>个</a:t>
            </a:r>
            <a:r>
              <a:rPr lang="zh-CN" altLang="en-US" sz="2800" b="1" dirty="0">
                <a:solidFill>
                  <a:srgbClr val="0000FF"/>
                </a:solidFill>
                <a:ea typeface="华文中宋" panose="02010600040101010101" pitchFamily="2" charset="-122"/>
                <a:sym typeface="Symbol" panose="05050102010706020507" pitchFamily="18" charset="2"/>
              </a:rPr>
              <a:t>两相区</a:t>
            </a:r>
            <a:r>
              <a:rPr lang="zh-CN" altLang="en-US" sz="2800" b="1" dirty="0">
                <a:sym typeface="Symbol" panose="05050102010706020507" pitchFamily="18" charset="2"/>
              </a:rPr>
              <a:t>：</a:t>
            </a:r>
            <a:r>
              <a:rPr lang="en-US" altLang="zh-CN" sz="2800" b="1" i="1" dirty="0"/>
              <a:t>L+</a:t>
            </a:r>
            <a:r>
              <a:rPr lang="en-US" altLang="zh-CN" sz="2800" b="1" i="1" dirty="0">
                <a:sym typeface="Symbol" panose="05050102010706020507" pitchFamily="18" charset="2"/>
              </a:rPr>
              <a:t> </a:t>
            </a:r>
            <a:r>
              <a:rPr lang="zh-CN" altLang="en-US" sz="2800" b="1" dirty="0">
                <a:sym typeface="Symbol" panose="05050102010706020507" pitchFamily="18" charset="2"/>
              </a:rPr>
              <a:t>、</a:t>
            </a:r>
            <a:r>
              <a:rPr lang="en-US" altLang="zh-CN" sz="2800" b="1" i="1" dirty="0"/>
              <a:t>L+</a:t>
            </a:r>
            <a:r>
              <a:rPr lang="en-US" altLang="zh-CN" sz="2800" b="1" i="1" dirty="0">
                <a:sym typeface="Symbol" panose="05050102010706020507" pitchFamily="18" charset="2"/>
              </a:rPr>
              <a:t> </a:t>
            </a:r>
            <a:r>
              <a:rPr lang="zh-CN" altLang="en-US" sz="2800" b="1" dirty="0">
                <a:sym typeface="Symbol" panose="05050102010706020507" pitchFamily="18" charset="2"/>
              </a:rPr>
              <a:t>、</a:t>
            </a:r>
            <a:r>
              <a:rPr lang="zh-CN" altLang="en-US" sz="2800" b="1" i="1" dirty="0">
                <a:sym typeface="Symbol" panose="05050102010706020507" pitchFamily="18" charset="2"/>
              </a:rPr>
              <a:t> </a:t>
            </a:r>
            <a:r>
              <a:rPr lang="en-US" altLang="zh-CN" sz="2800" b="1" i="1" dirty="0">
                <a:sym typeface="Symbol" panose="05050102010706020507" pitchFamily="18" charset="2"/>
              </a:rPr>
              <a:t>+  </a:t>
            </a:r>
            <a:r>
              <a:rPr lang="zh-CN" altLang="en-US" sz="2800" b="1" dirty="0">
                <a:sym typeface="Symbol" panose="05050102010706020507" pitchFamily="18" charset="2"/>
              </a:rPr>
              <a:t>；</a:t>
            </a:r>
          </a:p>
          <a:p>
            <a:pPr eaLnBrk="1" hangingPunct="1">
              <a:lnSpc>
                <a:spcPct val="90000"/>
              </a:lnSpc>
              <a:buNone/>
            </a:pPr>
            <a:r>
              <a:rPr lang="zh-CN" altLang="en-US" sz="2800" b="1" dirty="0">
                <a:sym typeface="Symbol" panose="05050102010706020507" pitchFamily="18" charset="2"/>
              </a:rPr>
              <a:t>   </a:t>
            </a:r>
            <a:r>
              <a:rPr lang="en-US" altLang="zh-CN" sz="2800" b="1" dirty="0">
                <a:sym typeface="Symbol" panose="05050102010706020507" pitchFamily="18" charset="2"/>
              </a:rPr>
              <a:t>1</a:t>
            </a:r>
            <a:r>
              <a:rPr lang="zh-CN" altLang="en-US" sz="2800" b="1" dirty="0">
                <a:sym typeface="Symbol" panose="05050102010706020507" pitchFamily="18" charset="2"/>
              </a:rPr>
              <a:t>个</a:t>
            </a:r>
            <a:r>
              <a:rPr lang="zh-CN" altLang="en-US" sz="2800" b="1" dirty="0">
                <a:solidFill>
                  <a:srgbClr val="0000FF"/>
                </a:solidFill>
                <a:ea typeface="华文中宋" panose="02010600040101010101" pitchFamily="2" charset="-122"/>
                <a:sym typeface="Symbol" panose="05050102010706020507" pitchFamily="18" charset="2"/>
              </a:rPr>
              <a:t>三相区</a:t>
            </a:r>
            <a:r>
              <a:rPr lang="zh-CN" altLang="en-US" sz="2800" b="1" dirty="0">
                <a:sym typeface="Symbol" panose="05050102010706020507" pitchFamily="18" charset="2"/>
              </a:rPr>
              <a:t>：即水平线</a:t>
            </a:r>
            <a:r>
              <a:rPr lang="en-US" altLang="zh-CN" sz="2800" b="1" i="1" dirty="0">
                <a:sym typeface="Symbol" panose="05050102010706020507" pitchFamily="18" charset="2"/>
              </a:rPr>
              <a:t>CED</a:t>
            </a:r>
            <a:r>
              <a:rPr lang="zh-CN" altLang="en-US" sz="2800" b="1" dirty="0">
                <a:solidFill>
                  <a:srgbClr val="FFCCFF"/>
                </a:solidFill>
                <a:sym typeface="Symbol" panose="05050102010706020507" pitchFamily="18" charset="2"/>
              </a:rPr>
              <a:t>。</a:t>
            </a:r>
            <a:endParaRPr lang="en-US" altLang="zh-CN" sz="2800" b="1" dirty="0">
              <a:ea typeface="华文中宋" panose="02010600040101010101" pitchFamily="2" charset="-122"/>
              <a:sym typeface="Symbol" panose="05050102010706020507" pitchFamily="18" charset="2"/>
            </a:endParaRPr>
          </a:p>
        </p:txBody>
      </p:sp>
      <p:grpSp>
        <p:nvGrpSpPr>
          <p:cNvPr id="2" name="Group 4"/>
          <p:cNvGrpSpPr>
            <a:grpSpLocks noChangeAspect="1"/>
          </p:cNvGrpSpPr>
          <p:nvPr/>
        </p:nvGrpSpPr>
        <p:grpSpPr>
          <a:xfrm>
            <a:off x="6115685" y="2996952"/>
            <a:ext cx="3060065" cy="2606040"/>
            <a:chOff x="2928" y="768"/>
            <a:chExt cx="2544" cy="3073"/>
          </a:xfrm>
        </p:grpSpPr>
        <p:pic>
          <p:nvPicPr>
            <p:cNvPr id="65544" name="Picture 5" descr="Pb-Sn相图"/>
            <p:cNvPicPr>
              <a:picLocks noChangeAspect="1"/>
            </p:cNvPicPr>
            <p:nvPr/>
          </p:nvPicPr>
          <p:blipFill>
            <a:blip r:embed="rId3"/>
            <a:stretch>
              <a:fillRect/>
            </a:stretch>
          </p:blipFill>
          <p:spPr>
            <a:xfrm>
              <a:off x="2928" y="768"/>
              <a:ext cx="2544" cy="3073"/>
            </a:xfrm>
            <a:prstGeom prst="rect">
              <a:avLst/>
            </a:prstGeom>
            <a:noFill/>
            <a:ln w="38100" cap="flat" cmpd="sng">
              <a:solidFill>
                <a:srgbClr val="FF9900"/>
              </a:solidFill>
              <a:prstDash val="solid"/>
              <a:miter/>
              <a:headEnd type="none" w="med" len="med"/>
              <a:tailEnd type="none" w="med" len="med"/>
            </a:ln>
          </p:spPr>
        </p:pic>
        <p:sp>
          <p:nvSpPr>
            <p:cNvPr id="65545" name="Rectangle 6"/>
            <p:cNvSpPr>
              <a:spLocks noChangeAspect="1"/>
            </p:cNvSpPr>
            <p:nvPr/>
          </p:nvSpPr>
          <p:spPr>
            <a:xfrm>
              <a:off x="3096" y="912"/>
              <a:ext cx="174" cy="281"/>
            </a:xfrm>
            <a:prstGeom prst="rect">
              <a:avLst/>
            </a:prstGeom>
            <a:solidFill>
              <a:schemeClr val="bg1"/>
            </a:solidFill>
            <a:ln w="9525" cap="flat" cmpd="sng">
              <a:noFill/>
              <a:prstDash val="solid"/>
              <a:miter/>
              <a:headEnd type="none" w="med" len="med"/>
              <a:tailEnd type="none" w="med" len="med"/>
            </a:ln>
          </p:spPr>
          <p:txBody>
            <a:bodyPr wrap="none" anchor="ctr"/>
            <a:lstStyle/>
            <a:p>
              <a:pPr lvl="0" algn="ctr" eaLnBrk="1" hangingPunct="1"/>
              <a:r>
                <a:rPr lang="en-US" altLang="zh-CN" sz="2400" b="1" i="1" dirty="0">
                  <a:solidFill>
                    <a:srgbClr val="CC0000"/>
                  </a:solidFill>
                  <a:latin typeface="Times New Roman" panose="02020603050405020304" pitchFamily="18" charset="0"/>
                  <a:ea typeface="宋体" panose="02010600030101010101" pitchFamily="2" charset="-122"/>
                </a:rPr>
                <a:t>A</a:t>
              </a:r>
            </a:p>
          </p:txBody>
        </p:sp>
        <p:sp>
          <p:nvSpPr>
            <p:cNvPr id="65546" name="Rectangle 7"/>
            <p:cNvSpPr>
              <a:spLocks noChangeAspect="1"/>
            </p:cNvSpPr>
            <p:nvPr/>
          </p:nvSpPr>
          <p:spPr>
            <a:xfrm>
              <a:off x="5220" y="1416"/>
              <a:ext cx="173" cy="281"/>
            </a:xfrm>
            <a:prstGeom prst="rect">
              <a:avLst/>
            </a:prstGeom>
            <a:solidFill>
              <a:schemeClr val="bg1">
                <a:lumMod val="95000"/>
              </a:schemeClr>
            </a:solidFill>
            <a:ln w="9525" cap="flat" cmpd="sng">
              <a:noFill/>
              <a:prstDash val="solid"/>
              <a:miter/>
              <a:headEnd type="none" w="med" len="med"/>
              <a:tailEnd type="none" w="med" len="med"/>
            </a:ln>
          </p:spPr>
          <p:txBody>
            <a:bodyPr wrap="none" anchor="ctr"/>
            <a:lstStyle/>
            <a:p>
              <a:pPr lvl="0" algn="ctr" eaLnBrk="1" hangingPunct="1"/>
              <a:r>
                <a:rPr lang="en-US" altLang="zh-CN" sz="2400" b="1" i="1" dirty="0">
                  <a:solidFill>
                    <a:srgbClr val="CC0000"/>
                  </a:solidFill>
                  <a:latin typeface="Times New Roman" panose="02020603050405020304" pitchFamily="18" charset="0"/>
                  <a:ea typeface="宋体" panose="02010600030101010101" pitchFamily="2" charset="-122"/>
                </a:rPr>
                <a:t>B</a:t>
              </a:r>
            </a:p>
          </p:txBody>
        </p:sp>
      </p:grpSp>
      <p:pic>
        <p:nvPicPr>
          <p:cNvPr id="11" name="内容占位符 1" descr="新校徽（3M）弓之乐"/>
          <p:cNvPicPr>
            <a:picLocks noChangeAspect="1"/>
          </p:cNvPicPr>
          <p:nvPr/>
        </p:nvPicPr>
        <p:blipFill>
          <a:blip r:embed="rId4"/>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日期占位符 3"/>
          <p:cNvSpPr txBox="1">
            <a:spLocks noGrp="1"/>
          </p:cNvSpPr>
          <p:nvPr>
            <p:ph type="dt" sz="half" idx="10"/>
          </p:nvPr>
        </p:nvSpPr>
        <p:spPr>
          <a:xfrm>
            <a:off x="142875" y="6581775"/>
            <a:ext cx="2376488" cy="27622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66563" name="灯片编号占位符 5"/>
          <p:cNvSpPr txBox="1">
            <a:spLocks noGrp="1"/>
          </p:cNvSpPr>
          <p:nvPr>
            <p:ph type="sldNum" sz="quarter" idx="12"/>
          </p:nvPr>
        </p:nvSpPr>
        <p:spPr>
          <a:xfrm>
            <a:off x="8585200" y="6581775"/>
            <a:ext cx="446405" cy="306070"/>
          </a:xfrm>
        </p:spPr>
        <p:txBody>
          <a:bodyPr lIns="92075" tIns="46038" rIns="92075" bIns="46038" anchor="ctr"/>
          <a:lstStyle/>
          <a:p>
            <a:pPr algn="r" eaLnBrk="1" hangingPunct="1"/>
            <a:fld id="{9A0DB2DC-4C9A-4742-B13C-FB6460FD3503}" type="slidenum">
              <a:rPr lang="en-US" altLang="zh-CN" sz="1400" dirty="0"/>
              <a:t>64</a:t>
            </a:fld>
            <a:endParaRPr lang="en-US" altLang="zh-CN" sz="1400" dirty="0"/>
          </a:p>
        </p:txBody>
      </p:sp>
      <p:sp>
        <p:nvSpPr>
          <p:cNvPr id="281602" name="Rectangle 2"/>
          <p:cNvSpPr>
            <a:spLocks noGrp="1" noChangeArrowheads="1"/>
          </p:cNvSpPr>
          <p:nvPr>
            <p:ph type="title"/>
          </p:nvPr>
        </p:nvSpPr>
        <p:spPr>
          <a:xfrm>
            <a:off x="1116330" y="-1"/>
            <a:ext cx="7772400" cy="977613"/>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66565" name="Rectangle 3"/>
          <p:cNvSpPr>
            <a:spLocks noGrp="1"/>
          </p:cNvSpPr>
          <p:nvPr>
            <p:ph idx="1"/>
          </p:nvPr>
        </p:nvSpPr>
        <p:spPr>
          <a:xfrm>
            <a:off x="252095" y="1988969"/>
            <a:ext cx="8642350" cy="3754606"/>
          </a:xfrm>
        </p:spPr>
        <p:txBody>
          <a:bodyPr vert="horz" wrap="square" lIns="91440" tIns="45720" rIns="91440" bIns="45720" anchor="t"/>
          <a:lstStyle/>
          <a:p>
            <a:pPr eaLnBrk="1" hangingPunct="1">
              <a:lnSpc>
                <a:spcPct val="110000"/>
              </a:lnSpc>
            </a:pPr>
            <a:r>
              <a:rPr lang="zh-CN" altLang="en-US" sz="2800" b="1" dirty="0">
                <a:solidFill>
                  <a:srgbClr val="0000FF"/>
                </a:solidFill>
                <a:ea typeface="华文中宋" panose="02010600040101010101" pitchFamily="2" charset="-122"/>
                <a:sym typeface="Symbol" panose="05050102010706020507" pitchFamily="18" charset="2"/>
              </a:rPr>
              <a:t>共晶体</a:t>
            </a:r>
            <a:r>
              <a:rPr lang="en-US" altLang="zh-CN" sz="2800" b="1" dirty="0">
                <a:solidFill>
                  <a:srgbClr val="0000FF"/>
                </a:solidFill>
                <a:ea typeface="华文中宋" panose="02010600040101010101" pitchFamily="2" charset="-122"/>
                <a:sym typeface="Symbol" panose="05050102010706020507" pitchFamily="18" charset="2"/>
              </a:rPr>
              <a:t> </a:t>
            </a:r>
            <a:r>
              <a:rPr lang="zh-CN" altLang="en-US" sz="2800" b="1" dirty="0">
                <a:ea typeface="华文中宋" panose="02010600040101010101" pitchFamily="2" charset="-122"/>
                <a:sym typeface="Symbol" panose="05050102010706020507" pitchFamily="18" charset="2"/>
              </a:rPr>
              <a:t>或</a:t>
            </a:r>
            <a:r>
              <a:rPr lang="zh-CN" altLang="en-US" sz="2800" b="1" dirty="0">
                <a:solidFill>
                  <a:srgbClr val="0000FF"/>
                </a:solidFill>
                <a:ea typeface="华文中宋" panose="02010600040101010101" pitchFamily="2" charset="-122"/>
                <a:sym typeface="Symbol" panose="05050102010706020507" pitchFamily="18" charset="2"/>
              </a:rPr>
              <a:t>共晶组织</a:t>
            </a:r>
            <a:r>
              <a:rPr lang="en-US" altLang="zh-CN" sz="2800" b="1" dirty="0">
                <a:solidFill>
                  <a:srgbClr val="0000FF"/>
                </a:solidFill>
                <a:ea typeface="华文中宋" panose="02010600040101010101" pitchFamily="2" charset="-122"/>
                <a:sym typeface="Symbol" panose="05050102010706020507" pitchFamily="18" charset="2"/>
              </a:rPr>
              <a:t>   </a:t>
            </a:r>
            <a:r>
              <a:rPr lang="zh-CN" altLang="en-US" sz="2800" b="1" dirty="0">
                <a:solidFill>
                  <a:schemeClr val="tx2"/>
                </a:solidFill>
                <a:ea typeface="华文中宋" panose="02010600040101010101" pitchFamily="2" charset="-122"/>
                <a:sym typeface="Symbol" panose="05050102010706020507" pitchFamily="18" charset="2"/>
              </a:rPr>
              <a:t>：</a:t>
            </a:r>
            <a:r>
              <a:rPr lang="zh-CN" altLang="en-US" sz="2800" b="1" dirty="0">
                <a:solidFill>
                  <a:schemeClr val="folHlink"/>
                </a:solidFill>
                <a:ea typeface="华文中宋" panose="02010600040101010101" pitchFamily="2" charset="-122"/>
                <a:sym typeface="Symbol" panose="05050102010706020507" pitchFamily="18" charset="2"/>
              </a:rPr>
              <a:t>共晶反应的产物，</a:t>
            </a:r>
            <a:r>
              <a:rPr lang="zh-CN" altLang="en-US" sz="2800" b="1" dirty="0">
                <a:ea typeface="华文中宋" panose="02010600040101010101" pitchFamily="2" charset="-122"/>
                <a:sym typeface="Symbol" panose="05050102010706020507" pitchFamily="18" charset="2"/>
              </a:rPr>
              <a:t>即两相的</a:t>
            </a:r>
            <a:r>
              <a:rPr lang="zh-CN" altLang="en-US" sz="2800" b="1" dirty="0">
                <a:solidFill>
                  <a:srgbClr val="0000FF"/>
                </a:solidFill>
                <a:ea typeface="华文中宋" panose="02010600040101010101" pitchFamily="2" charset="-122"/>
                <a:sym typeface="Symbol" panose="05050102010706020507" pitchFamily="18" charset="2"/>
              </a:rPr>
              <a:t>机械混合物</a:t>
            </a:r>
            <a:r>
              <a:rPr lang="zh-CN" altLang="en-US" sz="2800" b="1" dirty="0">
                <a:ea typeface="华文中宋" panose="02010600040101010101" pitchFamily="2" charset="-122"/>
                <a:sym typeface="Symbol" panose="05050102010706020507" pitchFamily="18" charset="2"/>
              </a:rPr>
              <a:t>。</a:t>
            </a:r>
          </a:p>
          <a:p>
            <a:pPr eaLnBrk="1" hangingPunct="1">
              <a:lnSpc>
                <a:spcPct val="110000"/>
              </a:lnSpc>
            </a:pPr>
            <a:r>
              <a:rPr lang="zh-CN" altLang="en-US" sz="2800" b="1" dirty="0">
                <a:solidFill>
                  <a:srgbClr val="0000FF"/>
                </a:solidFill>
                <a:ea typeface="华文中宋" panose="02010600040101010101" pitchFamily="2" charset="-122"/>
                <a:sym typeface="Symbol" panose="05050102010706020507" pitchFamily="18" charset="2"/>
              </a:rPr>
              <a:t>共晶温度</a:t>
            </a:r>
            <a:r>
              <a:rPr lang="en-US" altLang="zh-CN" sz="2800" b="1" dirty="0">
                <a:solidFill>
                  <a:srgbClr val="0000FF"/>
                </a:solidFill>
                <a:ea typeface="华文中宋" panose="02010600040101010101" pitchFamily="2" charset="-122"/>
                <a:sym typeface="Symbol" panose="05050102010706020507" pitchFamily="18" charset="2"/>
              </a:rPr>
              <a:t> </a:t>
            </a:r>
            <a:r>
              <a:rPr lang="zh-CN" altLang="en-US" sz="2800" b="1" dirty="0">
                <a:solidFill>
                  <a:schemeClr val="folHlink"/>
                </a:solidFill>
                <a:ea typeface="华文中宋" panose="02010600040101010101" pitchFamily="2" charset="-122"/>
                <a:sym typeface="Symbol" panose="05050102010706020507" pitchFamily="18" charset="2"/>
              </a:rPr>
              <a:t>：</a:t>
            </a:r>
            <a:r>
              <a:rPr lang="zh-CN" altLang="en-US" sz="2800" b="1" dirty="0">
                <a:ea typeface="华文中宋" panose="02010600040101010101" pitchFamily="2" charset="-122"/>
                <a:sym typeface="Symbol" panose="05050102010706020507" pitchFamily="18" charset="2"/>
              </a:rPr>
              <a:t>发生共晶反应的温度</a:t>
            </a:r>
            <a:r>
              <a:rPr lang="zh-CN" altLang="en-US" sz="2800" b="1" dirty="0">
                <a:solidFill>
                  <a:schemeClr val="tx2"/>
                </a:solidFill>
                <a:ea typeface="华文中宋" panose="02010600040101010101" pitchFamily="2" charset="-122"/>
                <a:sym typeface="Symbol" panose="05050102010706020507" pitchFamily="18" charset="2"/>
              </a:rPr>
              <a:t>。</a:t>
            </a:r>
          </a:p>
          <a:p>
            <a:pPr eaLnBrk="1" hangingPunct="1">
              <a:lnSpc>
                <a:spcPct val="110000"/>
              </a:lnSpc>
            </a:pPr>
            <a:r>
              <a:rPr lang="zh-CN" altLang="en-US" sz="2800" b="1" dirty="0">
                <a:solidFill>
                  <a:srgbClr val="0000FF"/>
                </a:solidFill>
                <a:ea typeface="华文中宋" panose="02010600040101010101" pitchFamily="2" charset="-122"/>
                <a:sym typeface="Symbol" panose="05050102010706020507" pitchFamily="18" charset="2"/>
              </a:rPr>
              <a:t>共晶点</a:t>
            </a:r>
            <a:r>
              <a:rPr lang="en-US" altLang="zh-CN" sz="2800" b="1" dirty="0">
                <a:solidFill>
                  <a:srgbClr val="0000FF"/>
                </a:solidFill>
                <a:ea typeface="华文中宋" panose="02010600040101010101" pitchFamily="2" charset="-122"/>
                <a:sym typeface="Symbol" panose="05050102010706020507" pitchFamily="18" charset="2"/>
              </a:rPr>
              <a:t> </a:t>
            </a:r>
            <a:r>
              <a:rPr lang="zh-CN" altLang="en-US" sz="2800" b="1" dirty="0">
                <a:solidFill>
                  <a:schemeClr val="folHlink"/>
                </a:solidFill>
                <a:ea typeface="华文中宋" panose="02010600040101010101" pitchFamily="2" charset="-122"/>
                <a:sym typeface="Symbol" panose="05050102010706020507" pitchFamily="18" charset="2"/>
              </a:rPr>
              <a:t>：</a:t>
            </a:r>
            <a:r>
              <a:rPr lang="zh-CN" altLang="en-US" sz="2800" b="1" dirty="0">
                <a:ea typeface="华文中宋" panose="02010600040101010101" pitchFamily="2" charset="-122"/>
                <a:sym typeface="Symbol" panose="05050102010706020507" pitchFamily="18" charset="2"/>
              </a:rPr>
              <a:t>代表</a:t>
            </a:r>
            <a:r>
              <a:rPr lang="zh-CN" altLang="en-US" sz="2800" b="1" dirty="0">
                <a:solidFill>
                  <a:schemeClr val="folHlink"/>
                </a:solidFill>
                <a:ea typeface="华文中宋" panose="02010600040101010101" pitchFamily="2" charset="-122"/>
                <a:sym typeface="Symbol" panose="05050102010706020507" pitchFamily="18" charset="2"/>
              </a:rPr>
              <a:t>共晶温度</a:t>
            </a:r>
            <a:r>
              <a:rPr lang="zh-CN" altLang="en-US" sz="2800" b="1" dirty="0">
                <a:ea typeface="华文中宋" panose="02010600040101010101" pitchFamily="2" charset="-122"/>
                <a:sym typeface="Symbol" panose="05050102010706020507" pitchFamily="18" charset="2"/>
              </a:rPr>
              <a:t>和</a:t>
            </a:r>
            <a:r>
              <a:rPr lang="zh-CN" altLang="en-US" sz="2800" b="1" dirty="0">
                <a:solidFill>
                  <a:schemeClr val="folHlink"/>
                </a:solidFill>
                <a:ea typeface="华文中宋" panose="02010600040101010101" pitchFamily="2" charset="-122"/>
                <a:sym typeface="Symbol" panose="05050102010706020507" pitchFamily="18" charset="2"/>
              </a:rPr>
              <a:t>共晶成分</a:t>
            </a:r>
            <a:r>
              <a:rPr lang="zh-CN" altLang="en-US" sz="2800" b="1" dirty="0">
                <a:ea typeface="华文中宋" panose="02010600040101010101" pitchFamily="2" charset="-122"/>
                <a:sym typeface="Symbol" panose="05050102010706020507" pitchFamily="18" charset="2"/>
              </a:rPr>
              <a:t>的点</a:t>
            </a:r>
            <a:r>
              <a:rPr lang="zh-CN" altLang="en-US" sz="2800" b="1" dirty="0">
                <a:solidFill>
                  <a:schemeClr val="tx2"/>
                </a:solidFill>
                <a:ea typeface="华文中宋" panose="02010600040101010101" pitchFamily="2" charset="-122"/>
                <a:sym typeface="Symbol" panose="05050102010706020507" pitchFamily="18" charset="2"/>
              </a:rPr>
              <a:t>。</a:t>
            </a:r>
          </a:p>
        </p:txBody>
      </p:sp>
      <p:grpSp>
        <p:nvGrpSpPr>
          <p:cNvPr id="2" name="Group 4"/>
          <p:cNvGrpSpPr/>
          <p:nvPr/>
        </p:nvGrpSpPr>
        <p:grpSpPr>
          <a:xfrm>
            <a:off x="1116330" y="4318343"/>
            <a:ext cx="7312687" cy="2263432"/>
            <a:chOff x="432" y="1537"/>
            <a:chExt cx="4867" cy="2637"/>
          </a:xfrm>
        </p:grpSpPr>
        <p:grpSp>
          <p:nvGrpSpPr>
            <p:cNvPr id="66568" name="Group 5"/>
            <p:cNvGrpSpPr/>
            <p:nvPr/>
          </p:nvGrpSpPr>
          <p:grpSpPr>
            <a:xfrm>
              <a:off x="432" y="1537"/>
              <a:ext cx="4867" cy="2637"/>
              <a:chOff x="432" y="1537"/>
              <a:chExt cx="4867" cy="2637"/>
            </a:xfrm>
          </p:grpSpPr>
          <p:grpSp>
            <p:nvGrpSpPr>
              <p:cNvPr id="66570" name="Group 6"/>
              <p:cNvGrpSpPr/>
              <p:nvPr/>
            </p:nvGrpSpPr>
            <p:grpSpPr>
              <a:xfrm>
                <a:off x="432" y="1537"/>
                <a:ext cx="1725" cy="2637"/>
                <a:chOff x="432" y="1488"/>
                <a:chExt cx="1725" cy="2637"/>
              </a:xfrm>
            </p:grpSpPr>
            <p:pic>
              <p:nvPicPr>
                <p:cNvPr id="66583" name="Picture 7" descr="Pb-Sn共晶组织1"/>
                <p:cNvPicPr>
                  <a:picLocks noChangeAspect="1"/>
                </p:cNvPicPr>
                <p:nvPr/>
              </p:nvPicPr>
              <p:blipFill>
                <a:blip r:embed="rId2"/>
                <a:stretch>
                  <a:fillRect/>
                </a:stretch>
              </p:blipFill>
              <p:spPr>
                <a:xfrm>
                  <a:off x="432" y="1488"/>
                  <a:ext cx="1725" cy="2494"/>
                </a:xfrm>
                <a:prstGeom prst="rect">
                  <a:avLst/>
                </a:prstGeom>
                <a:noFill/>
                <a:ln w="38100" cap="flat" cmpd="sng">
                  <a:solidFill>
                    <a:srgbClr val="00FFFF"/>
                  </a:solidFill>
                  <a:prstDash val="solid"/>
                  <a:miter/>
                  <a:headEnd type="none" w="med" len="med"/>
                  <a:tailEnd type="none" w="med" len="med"/>
                </a:ln>
              </p:spPr>
            </p:pic>
            <p:sp>
              <p:nvSpPr>
                <p:cNvPr id="66584" name="Rectangle 8"/>
                <p:cNvSpPr/>
                <p:nvPr/>
              </p:nvSpPr>
              <p:spPr>
                <a:xfrm>
                  <a:off x="432" y="3803"/>
                  <a:ext cx="982" cy="322"/>
                </a:xfrm>
                <a:prstGeom prst="rect">
                  <a:avLst/>
                </a:prstGeom>
                <a:solidFill>
                  <a:schemeClr val="bg1"/>
                </a:solidFill>
                <a:ln w="9525" cap="flat" cmpd="sng">
                  <a:noFill/>
                  <a:prstDash val="solid"/>
                  <a:miter/>
                  <a:headEnd type="none" w="med" len="med"/>
                  <a:tailEnd type="none" w="med" len="med"/>
                </a:ln>
              </p:spPr>
              <p:txBody>
                <a:bodyPr wrap="none" anchor="ctr"/>
                <a:lstStyle/>
                <a:p>
                  <a:pPr lvl="0" algn="ctr" eaLnBrk="1" hangingPunct="1"/>
                  <a:r>
                    <a:rPr lang="en-US" altLang="zh-CN" sz="1800" b="1" dirty="0">
                      <a:solidFill>
                        <a:srgbClr val="800000"/>
                      </a:solidFill>
                      <a:latin typeface="Times New Roman" panose="02020603050405020304" pitchFamily="18" charset="0"/>
                      <a:ea typeface="宋体" panose="02010600030101010101" pitchFamily="2" charset="-122"/>
                    </a:rPr>
                    <a:t>Pb-Sn</a:t>
                  </a:r>
                  <a:r>
                    <a:rPr lang="zh-CN" altLang="en-US" sz="1800" b="1" dirty="0">
                      <a:solidFill>
                        <a:srgbClr val="800000"/>
                      </a:solidFill>
                      <a:latin typeface="Times New Roman" panose="02020603050405020304" pitchFamily="18" charset="0"/>
                      <a:ea typeface="宋体" panose="02010600030101010101" pitchFamily="2" charset="-122"/>
                    </a:rPr>
                    <a:t>共晶组织</a:t>
                  </a:r>
                </a:p>
              </p:txBody>
            </p:sp>
          </p:grpSp>
          <p:grpSp>
            <p:nvGrpSpPr>
              <p:cNvPr id="66571" name="Group 9"/>
              <p:cNvGrpSpPr>
                <a:grpSpLocks noChangeAspect="1"/>
              </p:cNvGrpSpPr>
              <p:nvPr/>
            </p:nvGrpSpPr>
            <p:grpSpPr>
              <a:xfrm>
                <a:off x="2252" y="1557"/>
                <a:ext cx="3047" cy="2493"/>
                <a:chOff x="2044" y="1222"/>
                <a:chExt cx="3168" cy="2592"/>
              </a:xfrm>
            </p:grpSpPr>
            <p:pic>
              <p:nvPicPr>
                <p:cNvPr id="66572" name="Picture 10" descr="Pb-Sn相图h_phas"/>
                <p:cNvPicPr>
                  <a:picLocks noChangeAspect="1"/>
                </p:cNvPicPr>
                <p:nvPr/>
              </p:nvPicPr>
              <p:blipFill>
                <a:blip r:embed="rId3"/>
                <a:stretch>
                  <a:fillRect/>
                </a:stretch>
              </p:blipFill>
              <p:spPr>
                <a:xfrm>
                  <a:off x="2044" y="1222"/>
                  <a:ext cx="3168" cy="2592"/>
                </a:xfrm>
                <a:prstGeom prst="rect">
                  <a:avLst/>
                </a:prstGeom>
                <a:noFill/>
                <a:ln w="38100" cap="flat" cmpd="sng">
                  <a:solidFill>
                    <a:srgbClr val="FF9900"/>
                  </a:solidFill>
                  <a:prstDash val="solid"/>
                  <a:miter/>
                  <a:headEnd type="none" w="med" len="med"/>
                  <a:tailEnd type="none" w="med" len="med"/>
                </a:ln>
              </p:spPr>
            </p:pic>
            <p:sp>
              <p:nvSpPr>
                <p:cNvPr id="66573" name="Text Box 11"/>
                <p:cNvSpPr txBox="1">
                  <a:spLocks noChangeAspect="1"/>
                </p:cNvSpPr>
                <p:nvPr/>
              </p:nvSpPr>
              <p:spPr>
                <a:xfrm>
                  <a:off x="3264" y="1771"/>
                  <a:ext cx="581" cy="481"/>
                </a:xfrm>
                <a:prstGeom prst="rect">
                  <a:avLst/>
                </a:prstGeom>
                <a:noFill/>
                <a:ln w="38100">
                  <a:noFill/>
                </a:ln>
              </p:spPr>
              <p:txBody>
                <a:bodyPr>
                  <a:spAutoFit/>
                </a:bodyPr>
                <a:lstStyle/>
                <a:p>
                  <a:pPr lvl="0" eaLnBrk="1" hangingPunct="1">
                    <a:spcBef>
                      <a:spcPct val="50000"/>
                    </a:spcBef>
                  </a:pPr>
                  <a:r>
                    <a:rPr lang="en-US" altLang="zh-CN" sz="2400" b="1" dirty="0">
                      <a:solidFill>
                        <a:schemeClr val="bg2"/>
                      </a:solidFill>
                      <a:latin typeface="Times New Roman" panose="02020603050405020304" pitchFamily="18" charset="0"/>
                      <a:ea typeface="宋体" panose="02010600030101010101" pitchFamily="2" charset="-122"/>
                    </a:rPr>
                    <a:t>L+</a:t>
                  </a:r>
                  <a:r>
                    <a:rPr lang="en-US" altLang="zh-CN" sz="2400" b="1" dirty="0">
                      <a:solidFill>
                        <a:schemeClr val="bg2"/>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b="1" dirty="0">
                    <a:solidFill>
                      <a:schemeClr val="bg2"/>
                    </a:solidFill>
                    <a:latin typeface="Times New Roman" panose="02020603050405020304" pitchFamily="18" charset="0"/>
                    <a:ea typeface="宋体" panose="02010600030101010101" pitchFamily="2" charset="-122"/>
                  </a:endParaRPr>
                </a:p>
              </p:txBody>
            </p:sp>
            <p:sp>
              <p:nvSpPr>
                <p:cNvPr id="66574" name="Rectangle 12"/>
                <p:cNvSpPr>
                  <a:spLocks noChangeAspect="1"/>
                </p:cNvSpPr>
                <p:nvPr/>
              </p:nvSpPr>
              <p:spPr>
                <a:xfrm>
                  <a:off x="4972" y="2122"/>
                  <a:ext cx="240" cy="176"/>
                </a:xfrm>
                <a:prstGeom prst="rect">
                  <a:avLst/>
                </a:prstGeom>
                <a:solidFill>
                  <a:schemeClr val="bg1"/>
                </a:solidFill>
                <a:ln w="38100" cap="flat" cmpd="sng">
                  <a:noFill/>
                  <a:prstDash val="solid"/>
                  <a:miter/>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66575" name="Rectangle 13"/>
                <p:cNvSpPr>
                  <a:spLocks noChangeAspect="1"/>
                </p:cNvSpPr>
                <p:nvPr/>
              </p:nvSpPr>
              <p:spPr>
                <a:xfrm>
                  <a:off x="2586" y="1946"/>
                  <a:ext cx="306" cy="220"/>
                </a:xfrm>
                <a:prstGeom prst="rect">
                  <a:avLst/>
                </a:prstGeom>
                <a:solidFill>
                  <a:srgbClr val="FD8D8D"/>
                </a:solidFill>
                <a:ln w="38100">
                  <a:noFill/>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66576" name="Text Box 14"/>
                <p:cNvSpPr txBox="1">
                  <a:spLocks noChangeAspect="1"/>
                </p:cNvSpPr>
                <p:nvPr/>
              </p:nvSpPr>
              <p:spPr>
                <a:xfrm>
                  <a:off x="3196" y="2212"/>
                  <a:ext cx="208" cy="418"/>
                </a:xfrm>
                <a:prstGeom prst="rect">
                  <a:avLst/>
                </a:prstGeom>
                <a:noFill/>
                <a:ln w="38100">
                  <a:noFill/>
                </a:ln>
              </p:spPr>
              <p:txBody>
                <a:bodyPr>
                  <a:spAutoFit/>
                </a:bodyPr>
                <a:lstStyle/>
                <a:p>
                  <a:pPr lvl="0" eaLnBrk="1" hangingPunct="1">
                    <a:spcBef>
                      <a:spcPct val="50000"/>
                    </a:spcBef>
                  </a:pPr>
                  <a:r>
                    <a:rPr lang="en-US" altLang="zh-CN" sz="2000" b="1" dirty="0">
                      <a:solidFill>
                        <a:schemeClr val="bg2"/>
                      </a:solidFill>
                      <a:latin typeface="Times New Roman" panose="02020603050405020304" pitchFamily="18" charset="0"/>
                      <a:ea typeface="宋体" panose="02010600030101010101" pitchFamily="2" charset="-122"/>
                    </a:rPr>
                    <a:t>C</a:t>
                  </a:r>
                </a:p>
              </p:txBody>
            </p:sp>
            <p:sp>
              <p:nvSpPr>
                <p:cNvPr id="66577" name="Text Box 15"/>
                <p:cNvSpPr txBox="1">
                  <a:spLocks noChangeAspect="1"/>
                </p:cNvSpPr>
                <p:nvPr/>
              </p:nvSpPr>
              <p:spPr>
                <a:xfrm>
                  <a:off x="4743" y="2242"/>
                  <a:ext cx="207" cy="418"/>
                </a:xfrm>
                <a:prstGeom prst="rect">
                  <a:avLst/>
                </a:prstGeom>
                <a:noFill/>
                <a:ln w="38100">
                  <a:noFill/>
                </a:ln>
              </p:spPr>
              <p:txBody>
                <a:bodyPr>
                  <a:spAutoFit/>
                </a:bodyPr>
                <a:lstStyle/>
                <a:p>
                  <a:pPr lvl="0" eaLnBrk="1" hangingPunct="1">
                    <a:spcBef>
                      <a:spcPct val="50000"/>
                    </a:spcBef>
                  </a:pPr>
                  <a:r>
                    <a:rPr lang="en-US" altLang="zh-CN" sz="2000" b="1" dirty="0">
                      <a:solidFill>
                        <a:schemeClr val="bg2"/>
                      </a:solidFill>
                      <a:latin typeface="Times New Roman" panose="02020603050405020304" pitchFamily="18" charset="0"/>
                      <a:ea typeface="宋体" panose="02010600030101010101" pitchFamily="2" charset="-122"/>
                    </a:rPr>
                    <a:t>D</a:t>
                  </a:r>
                </a:p>
              </p:txBody>
            </p:sp>
            <p:sp>
              <p:nvSpPr>
                <p:cNvPr id="66579" name="Line 17"/>
                <p:cNvSpPr>
                  <a:spLocks noChangeAspect="1"/>
                </p:cNvSpPr>
                <p:nvPr/>
              </p:nvSpPr>
              <p:spPr>
                <a:xfrm>
                  <a:off x="2770" y="1902"/>
                  <a:ext cx="0" cy="220"/>
                </a:xfrm>
                <a:prstGeom prst="line">
                  <a:avLst/>
                </a:prstGeom>
                <a:ln w="19050" cap="flat" cmpd="sng">
                  <a:solidFill>
                    <a:schemeClr val="bg2"/>
                  </a:solidFill>
                  <a:prstDash val="solid"/>
                  <a:miter/>
                  <a:headEnd type="none" w="med" len="med"/>
                  <a:tailEnd type="none" w="med" len="med"/>
                </a:ln>
              </p:spPr>
            </p:sp>
            <p:sp>
              <p:nvSpPr>
                <p:cNvPr id="66581" name="Rectangle 19"/>
                <p:cNvSpPr>
                  <a:spLocks noChangeAspect="1"/>
                </p:cNvSpPr>
                <p:nvPr/>
              </p:nvSpPr>
              <p:spPr>
                <a:xfrm>
                  <a:off x="2369" y="1332"/>
                  <a:ext cx="131" cy="219"/>
                </a:xfrm>
                <a:prstGeom prst="rect">
                  <a:avLst/>
                </a:prstGeom>
                <a:solidFill>
                  <a:schemeClr val="bg1"/>
                </a:solidFill>
                <a:ln w="38100" cap="flat" cmpd="sng">
                  <a:noFill/>
                  <a:prstDash val="solid"/>
                  <a:miter/>
                  <a:headEnd type="none" w="med" len="med"/>
                  <a:tailEnd type="none" w="med" len="med"/>
                </a:ln>
              </p:spPr>
              <p:txBody>
                <a:bodyPr wrap="none" anchor="ctr"/>
                <a:lstStyle/>
                <a:p>
                  <a:pPr lvl="0" algn="ctr" eaLnBrk="1" hangingPunct="1"/>
                  <a:r>
                    <a:rPr lang="en-US" altLang="zh-CN" sz="2000" b="1" dirty="0">
                      <a:solidFill>
                        <a:schemeClr val="bg2"/>
                      </a:solidFill>
                      <a:latin typeface="Times New Roman" panose="02020603050405020304" pitchFamily="18" charset="0"/>
                      <a:ea typeface="宋体" panose="02010600030101010101" pitchFamily="2" charset="-122"/>
                    </a:rPr>
                    <a:t>A</a:t>
                  </a:r>
                </a:p>
              </p:txBody>
            </p:sp>
            <p:sp>
              <p:nvSpPr>
                <p:cNvPr id="66582" name="Rectangle 20"/>
                <p:cNvSpPr>
                  <a:spLocks noChangeAspect="1"/>
                </p:cNvSpPr>
                <p:nvPr/>
              </p:nvSpPr>
              <p:spPr>
                <a:xfrm>
                  <a:off x="4982" y="1902"/>
                  <a:ext cx="131" cy="220"/>
                </a:xfrm>
                <a:prstGeom prst="rect">
                  <a:avLst/>
                </a:prstGeom>
                <a:solidFill>
                  <a:schemeClr val="bg1"/>
                </a:solidFill>
                <a:ln w="38100" cap="flat" cmpd="sng">
                  <a:noFill/>
                  <a:prstDash val="solid"/>
                  <a:miter/>
                  <a:headEnd type="none" w="med" len="med"/>
                  <a:tailEnd type="none" w="med" len="med"/>
                </a:ln>
              </p:spPr>
              <p:txBody>
                <a:bodyPr wrap="none" anchor="ctr"/>
                <a:lstStyle/>
                <a:p>
                  <a:pPr lvl="0" algn="ctr" eaLnBrk="1" hangingPunct="1"/>
                  <a:r>
                    <a:rPr lang="en-US" altLang="zh-CN" sz="2000" b="1" dirty="0">
                      <a:solidFill>
                        <a:schemeClr val="bg2"/>
                      </a:solidFill>
                      <a:latin typeface="Times New Roman" panose="02020603050405020304" pitchFamily="18" charset="0"/>
                      <a:ea typeface="宋体" panose="02010600030101010101" pitchFamily="2" charset="-122"/>
                    </a:rPr>
                    <a:t>B</a:t>
                  </a:r>
                </a:p>
              </p:txBody>
            </p:sp>
          </p:grpSp>
        </p:grpSp>
        <p:sp>
          <p:nvSpPr>
            <p:cNvPr id="66569" name="Line 21"/>
            <p:cNvSpPr/>
            <p:nvPr/>
          </p:nvSpPr>
          <p:spPr>
            <a:xfrm>
              <a:off x="5031" y="2574"/>
              <a:ext cx="96" cy="96"/>
            </a:xfrm>
            <a:prstGeom prst="line">
              <a:avLst/>
            </a:prstGeom>
            <a:ln w="19050" cap="flat" cmpd="sng">
              <a:solidFill>
                <a:schemeClr val="bg2"/>
              </a:solidFill>
              <a:prstDash val="solid"/>
              <a:headEnd type="none" w="med" len="med"/>
              <a:tailEnd type="none" w="med" len="med"/>
            </a:ln>
          </p:spPr>
        </p:sp>
      </p:grpSp>
      <p:pic>
        <p:nvPicPr>
          <p:cNvPr id="26" name="内容占位符 1" descr="新校徽（3M）弓之乐"/>
          <p:cNvPicPr>
            <a:picLocks noChangeAspect="1"/>
          </p:cNvPicPr>
          <p:nvPr/>
        </p:nvPicPr>
        <p:blipFill>
          <a:blip r:embed="rId4"/>
          <a:stretch>
            <a:fillRect/>
          </a:stretch>
        </p:blipFill>
        <p:spPr>
          <a:xfrm>
            <a:off x="0" y="0"/>
            <a:ext cx="746760" cy="735965"/>
          </a:xfrm>
          <a:prstGeom prst="rect">
            <a:avLst/>
          </a:prstGeom>
          <a:noFill/>
          <a:ln w="9525">
            <a:noFill/>
          </a:ln>
        </p:spPr>
      </p:pic>
      <p:sp>
        <p:nvSpPr>
          <p:cNvPr id="3" name="圆角矩形 6" descr="7b0a202020202262756c6c6574223a20227b5c2263617465676f727949645c223a31303032352c5c2274656d706c61746549645c223a32303233313437347d220a7d0a"/>
          <p:cNvSpPr/>
          <p:nvPr/>
        </p:nvSpPr>
        <p:spPr>
          <a:xfrm>
            <a:off x="467995" y="2061210"/>
            <a:ext cx="1365885" cy="480060"/>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28575" cmpd="dbl">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800" b="1" dirty="0">
                <a:solidFill>
                  <a:srgbClr val="0000FF"/>
                </a:solidFill>
                <a:ea typeface="华文中宋" panose="02010600040101010101" pitchFamily="2" charset="-122"/>
                <a:sym typeface="+mn-ea"/>
              </a:rPr>
              <a:t>共晶体</a:t>
            </a:r>
          </a:p>
        </p:txBody>
      </p:sp>
      <p:sp>
        <p:nvSpPr>
          <p:cNvPr id="4" name="圆角矩形 6" descr="7b0a202020202262756c6c6574223a20227b5c2263617465676f727949645c223a31303032352c5c2274656d706c61746549645c223a32303233313437347d220a7d0a"/>
          <p:cNvSpPr/>
          <p:nvPr/>
        </p:nvSpPr>
        <p:spPr>
          <a:xfrm>
            <a:off x="2268220" y="2061210"/>
            <a:ext cx="1663065" cy="480060"/>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28575" cmpd="dbl">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800" b="1" dirty="0">
                <a:solidFill>
                  <a:srgbClr val="0000FF"/>
                </a:solidFill>
                <a:ea typeface="华文中宋" panose="02010600040101010101" pitchFamily="2" charset="-122"/>
                <a:sym typeface="+mn-ea"/>
              </a:rPr>
              <a:t>共晶</a:t>
            </a:r>
            <a:r>
              <a:rPr lang="zh-CN" altLang="en-US" sz="2800" b="1" dirty="0">
                <a:solidFill>
                  <a:srgbClr val="0000FF"/>
                </a:solidFill>
                <a:ea typeface="华文中宋" panose="02010600040101010101" pitchFamily="2" charset="-122"/>
                <a:sym typeface="Symbol" panose="05050102010706020507" pitchFamily="18" charset="2"/>
              </a:rPr>
              <a:t>组织</a:t>
            </a:r>
            <a:endParaRPr lang="zh-CN" altLang="en-US" sz="2800" b="1" dirty="0">
              <a:solidFill>
                <a:srgbClr val="0000FF"/>
              </a:solidFill>
              <a:ea typeface="华文中宋" panose="02010600040101010101" pitchFamily="2" charset="-122"/>
              <a:sym typeface="+mn-ea"/>
            </a:endParaRPr>
          </a:p>
        </p:txBody>
      </p:sp>
      <p:sp>
        <p:nvSpPr>
          <p:cNvPr id="5" name="圆角矩形 6" descr="7b0a202020202262756c6c6574223a20227b5c2263617465676f727949645c223a31303032352c5c2274656d706c61746549645c223a32303233313437347d220a7d0a"/>
          <p:cNvSpPr/>
          <p:nvPr/>
        </p:nvSpPr>
        <p:spPr>
          <a:xfrm>
            <a:off x="539750" y="3068955"/>
            <a:ext cx="1663065" cy="480060"/>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28575" cmpd="dbl">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800" b="1" dirty="0">
                <a:solidFill>
                  <a:srgbClr val="0000FF"/>
                </a:solidFill>
                <a:ea typeface="华文中宋" panose="02010600040101010101" pitchFamily="2" charset="-122"/>
                <a:sym typeface="+mn-ea"/>
              </a:rPr>
              <a:t>共晶</a:t>
            </a:r>
            <a:r>
              <a:rPr lang="zh-CN" altLang="en-US" sz="2800" b="1" dirty="0">
                <a:solidFill>
                  <a:srgbClr val="0000FF"/>
                </a:solidFill>
                <a:ea typeface="华文中宋" panose="02010600040101010101" pitchFamily="2" charset="-122"/>
                <a:sym typeface="Symbol" panose="05050102010706020507" pitchFamily="18" charset="2"/>
              </a:rPr>
              <a:t>温度</a:t>
            </a:r>
            <a:endParaRPr lang="zh-CN" altLang="en-US" sz="2800" b="1" dirty="0">
              <a:solidFill>
                <a:srgbClr val="0000FF"/>
              </a:solidFill>
              <a:ea typeface="华文中宋" panose="02010600040101010101" pitchFamily="2" charset="-122"/>
              <a:sym typeface="+mn-ea"/>
            </a:endParaRPr>
          </a:p>
        </p:txBody>
      </p:sp>
      <p:sp>
        <p:nvSpPr>
          <p:cNvPr id="6" name="圆角矩形 6" descr="7b0a202020202262756c6c6574223a20227b5c2263617465676f727949645c223a31303032352c5c2274656d706c61746549645c223a32303233313437347d220a7d0a"/>
          <p:cNvSpPr/>
          <p:nvPr/>
        </p:nvSpPr>
        <p:spPr>
          <a:xfrm>
            <a:off x="539750" y="3693795"/>
            <a:ext cx="1365885" cy="480060"/>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28575" cmpd="dbl">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800" b="1" dirty="0">
                <a:solidFill>
                  <a:srgbClr val="0000FF"/>
                </a:solidFill>
                <a:ea typeface="华文中宋" panose="02010600040101010101" pitchFamily="2" charset="-122"/>
                <a:sym typeface="+mn-ea"/>
              </a:rPr>
              <a:t>共晶点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日期占位符 3"/>
          <p:cNvSpPr txBox="1">
            <a:spLocks noGrp="1"/>
          </p:cNvSpPr>
          <p:nvPr>
            <p:ph type="dt" sz="half" idx="10"/>
          </p:nvPr>
        </p:nvSpPr>
        <p:spPr>
          <a:xfrm>
            <a:off x="0" y="6510655"/>
            <a:ext cx="2477135" cy="34734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67587" name="灯片编号占位符 5"/>
          <p:cNvSpPr txBox="1">
            <a:spLocks noGrp="1"/>
          </p:cNvSpPr>
          <p:nvPr>
            <p:ph type="sldNum" sz="quarter" idx="12"/>
          </p:nvPr>
        </p:nvSpPr>
        <p:spPr>
          <a:xfrm>
            <a:off x="8522805" y="6522244"/>
            <a:ext cx="573087" cy="323850"/>
          </a:xfrm>
        </p:spPr>
        <p:txBody>
          <a:bodyPr lIns="92075" tIns="46038" rIns="92075" bIns="46038" anchor="ctr"/>
          <a:lstStyle/>
          <a:p>
            <a:pPr algn="r" eaLnBrk="1" hangingPunct="1"/>
            <a:fld id="{9A0DB2DC-4C9A-4742-B13C-FB6460FD3503}" type="slidenum">
              <a:rPr lang="en-US" altLang="zh-CN" sz="1400" dirty="0"/>
              <a:t>65</a:t>
            </a:fld>
            <a:endParaRPr lang="en-US" altLang="zh-CN" sz="1400" dirty="0"/>
          </a:p>
        </p:txBody>
      </p:sp>
      <p:sp>
        <p:nvSpPr>
          <p:cNvPr id="74754" name="Rectangle 2"/>
          <p:cNvSpPr>
            <a:spLocks noGrp="1"/>
          </p:cNvSpPr>
          <p:nvPr>
            <p:ph idx="1"/>
          </p:nvPr>
        </p:nvSpPr>
        <p:spPr>
          <a:xfrm>
            <a:off x="316230" y="1972945"/>
            <a:ext cx="8286750" cy="1677670"/>
          </a:xfrm>
        </p:spPr>
        <p:txBody>
          <a:bodyPr vert="horz" wrap="square" lIns="91440" tIns="45720" rIns="91440" bIns="45720" anchor="t"/>
          <a:lstStyle/>
          <a:p>
            <a:pPr eaLnBrk="1" hangingPunct="1">
              <a:lnSpc>
                <a:spcPct val="110000"/>
              </a:lnSpc>
            </a:pPr>
            <a:r>
              <a:rPr lang="zh-CN" altLang="en-US" sz="2800" b="1" dirty="0">
                <a:solidFill>
                  <a:srgbClr val="0000FF"/>
                </a:solidFill>
                <a:ea typeface="华文中宋" panose="02010600040101010101" pitchFamily="2" charset="-122"/>
                <a:sym typeface="+mn-ea"/>
              </a:rPr>
              <a:t>共晶合金</a:t>
            </a:r>
            <a:r>
              <a:rPr lang="en-US" altLang="zh-CN" sz="2800" b="1" dirty="0">
                <a:solidFill>
                  <a:srgbClr val="0000FF"/>
                </a:solidFill>
                <a:ea typeface="华文中宋" panose="02010600040101010101" pitchFamily="2" charset="-122"/>
                <a:sym typeface="+mn-ea"/>
              </a:rPr>
              <a:t> </a:t>
            </a:r>
            <a:r>
              <a:rPr lang="zh-CN" altLang="en-US" sz="2800" b="1" dirty="0">
                <a:solidFill>
                  <a:schemeClr val="tx2"/>
                </a:solidFill>
                <a:ea typeface="华文中宋" panose="02010600040101010101" pitchFamily="2" charset="-122"/>
                <a:sym typeface="+mn-ea"/>
              </a:rPr>
              <a:t>：</a:t>
            </a:r>
            <a:r>
              <a:rPr lang="zh-CN" altLang="en-US" sz="2800" b="1" dirty="0">
                <a:solidFill>
                  <a:schemeClr val="folHlink"/>
                </a:solidFill>
                <a:ea typeface="华文中宋" panose="02010600040101010101" pitchFamily="2" charset="-122"/>
              </a:rPr>
              <a:t>具有共晶成分的合金</a:t>
            </a:r>
            <a:r>
              <a:rPr lang="zh-CN" altLang="en-US" sz="2800" b="1" dirty="0">
                <a:ea typeface="华文中宋" panose="02010600040101010101" pitchFamily="2" charset="-122"/>
              </a:rPr>
              <a:t>。</a:t>
            </a:r>
          </a:p>
          <a:p>
            <a:pPr eaLnBrk="1" hangingPunct="1">
              <a:lnSpc>
                <a:spcPct val="110000"/>
              </a:lnSpc>
            </a:pPr>
            <a:r>
              <a:rPr lang="zh-CN" altLang="en-US" sz="2800" b="1" dirty="0">
                <a:solidFill>
                  <a:schemeClr val="tx2"/>
                </a:solidFill>
                <a:ea typeface="华文中宋" panose="02010600040101010101" pitchFamily="2" charset="-122"/>
                <a:sym typeface="+mn-ea"/>
              </a:rPr>
              <a:t>亚共晶合金</a:t>
            </a:r>
            <a:r>
              <a:rPr lang="en-US" altLang="zh-CN" sz="2800" b="1" dirty="0">
                <a:solidFill>
                  <a:schemeClr val="tx2"/>
                </a:solidFill>
                <a:ea typeface="华文中宋" panose="02010600040101010101" pitchFamily="2" charset="-122"/>
                <a:sym typeface="+mn-ea"/>
              </a:rPr>
              <a:t> </a:t>
            </a:r>
            <a:r>
              <a:rPr lang="zh-CN" altLang="en-US" sz="2800" b="1" dirty="0">
                <a:solidFill>
                  <a:schemeClr val="tx2"/>
                </a:solidFill>
                <a:ea typeface="华文中宋" panose="02010600040101010101" pitchFamily="2" charset="-122"/>
                <a:sym typeface="+mn-ea"/>
              </a:rPr>
              <a:t>：</a:t>
            </a:r>
            <a:r>
              <a:rPr lang="zh-CN" altLang="en-US" sz="2800" b="1" dirty="0">
                <a:ea typeface="华文中宋" panose="02010600040101010101" pitchFamily="2" charset="-122"/>
              </a:rPr>
              <a:t>共晶线上，</a:t>
            </a:r>
            <a:r>
              <a:rPr lang="zh-CN" altLang="en-US" sz="2800" b="1" dirty="0">
                <a:solidFill>
                  <a:schemeClr val="folHlink"/>
                </a:solidFill>
                <a:ea typeface="华文中宋" panose="02010600040101010101" pitchFamily="2" charset="-122"/>
              </a:rPr>
              <a:t>凡成分位于共晶点以</a:t>
            </a:r>
            <a:r>
              <a:rPr lang="zh-CN" altLang="en-US" sz="2800" b="1" dirty="0">
                <a:solidFill>
                  <a:srgbClr val="FF0000"/>
                </a:solidFill>
                <a:ea typeface="华文中宋" panose="02010600040101010101" pitchFamily="2" charset="-122"/>
              </a:rPr>
              <a:t>左</a:t>
            </a:r>
            <a:r>
              <a:rPr lang="zh-CN" altLang="en-US" sz="2800" b="1" dirty="0">
                <a:solidFill>
                  <a:schemeClr val="folHlink"/>
                </a:solidFill>
                <a:ea typeface="华文中宋" panose="02010600040101010101" pitchFamily="2" charset="-122"/>
              </a:rPr>
              <a:t>的合金。</a:t>
            </a:r>
          </a:p>
        </p:txBody>
      </p:sp>
      <p:sp>
        <p:nvSpPr>
          <p:cNvPr id="74755" name="Rectangle 3"/>
          <p:cNvSpPr/>
          <p:nvPr/>
        </p:nvSpPr>
        <p:spPr>
          <a:xfrm>
            <a:off x="374594" y="3573453"/>
            <a:ext cx="4431665" cy="4230370"/>
          </a:xfrm>
          <a:prstGeom prst="rect">
            <a:avLst/>
          </a:prstGeom>
          <a:noFill/>
          <a:ln w="9525">
            <a:noFill/>
          </a:ln>
        </p:spPr>
        <p:txBody>
          <a:bodyPr/>
          <a:lstStyle/>
          <a:p>
            <a:pPr marL="342900" indent="-342900">
              <a:lnSpc>
                <a:spcPct val="110000"/>
              </a:lnSpc>
              <a:spcBef>
                <a:spcPct val="20000"/>
              </a:spcBef>
              <a:buClr>
                <a:schemeClr val="accent2"/>
              </a:buClr>
              <a:buSzPct val="80000"/>
              <a:buFont typeface="Wingdings" panose="05000000000000000000" pitchFamily="2" charset="2"/>
              <a:buChar char="l"/>
            </a:pPr>
            <a:r>
              <a:rPr lang="zh-CN" altLang="en-US" sz="2800" b="1" kern="0" dirty="0">
                <a:solidFill>
                  <a:srgbClr val="0000FF"/>
                </a:solidFill>
                <a:latin typeface="+mn-lt"/>
                <a:ea typeface="华文中宋" panose="02010600040101010101" pitchFamily="2" charset="-122"/>
                <a:sym typeface="+mn-ea"/>
              </a:rPr>
              <a:t>过共晶合金</a:t>
            </a:r>
            <a:r>
              <a:rPr lang="en-US" altLang="zh-CN" sz="2800" b="1" kern="0" dirty="0">
                <a:solidFill>
                  <a:srgbClr val="0000FF"/>
                </a:solidFill>
                <a:latin typeface="+mn-lt"/>
                <a:ea typeface="华文中宋" panose="02010600040101010101" pitchFamily="2" charset="-122"/>
                <a:sym typeface="+mn-ea"/>
              </a:rPr>
              <a:t>   </a:t>
            </a:r>
            <a:r>
              <a:rPr lang="zh-CN" altLang="en-US" sz="2800" b="1" dirty="0">
                <a:solidFill>
                  <a:schemeClr val="tx2"/>
                </a:solidFill>
                <a:ea typeface="华文中宋" panose="02010600040101010101" pitchFamily="2" charset="-122"/>
                <a:sym typeface="+mn-ea"/>
              </a:rPr>
              <a:t>：</a:t>
            </a:r>
            <a:r>
              <a:rPr lang="zh-CN" altLang="en-US" sz="2800" b="1" dirty="0">
                <a:solidFill>
                  <a:schemeClr val="folHlink"/>
                </a:solidFill>
                <a:ea typeface="华文中宋" panose="02010600040101010101" pitchFamily="2" charset="-122"/>
                <a:sym typeface="+mn-ea"/>
              </a:rPr>
              <a:t>位于共晶点以</a:t>
            </a:r>
            <a:r>
              <a:rPr kumimoji="1" lang="zh-CN" altLang="en-US" sz="2800" b="1" kern="0" dirty="0">
                <a:solidFill>
                  <a:srgbClr val="FF0000"/>
                </a:solidFill>
                <a:ea typeface="华文中宋" panose="02010600040101010101" pitchFamily="2" charset="-122"/>
                <a:sym typeface="+mn-ea"/>
              </a:rPr>
              <a:t>右</a:t>
            </a:r>
            <a:r>
              <a:rPr lang="zh-CN" altLang="en-US" sz="2800" b="1" dirty="0">
                <a:solidFill>
                  <a:schemeClr val="folHlink"/>
                </a:solidFill>
                <a:ea typeface="华文中宋" panose="02010600040101010101" pitchFamily="2" charset="-122"/>
                <a:sym typeface="+mn-ea"/>
              </a:rPr>
              <a:t>的合</a:t>
            </a:r>
            <a:r>
              <a:rPr lang="zh-CN" altLang="en-US" sz="2800" b="1" dirty="0">
                <a:solidFill>
                  <a:schemeClr val="folHlink"/>
                </a:solidFill>
                <a:ea typeface="华文中宋" panose="02010600040101010101" pitchFamily="2" charset="-122"/>
              </a:rPr>
              <a:t>金</a:t>
            </a:r>
            <a:r>
              <a:rPr lang="zh-CN" altLang="en-US" sz="2800" b="1" dirty="0">
                <a:ea typeface="华文中宋" panose="02010600040101010101" pitchFamily="2" charset="-122"/>
              </a:rPr>
              <a:t>。</a:t>
            </a:r>
            <a:endParaRPr lang="en-US" altLang="zh-CN" sz="2800" b="1" dirty="0">
              <a:latin typeface="Times New Roman" panose="02020603050405020304" pitchFamily="18" charset="0"/>
              <a:ea typeface="华文中宋" panose="02010600040101010101" pitchFamily="2" charset="-122"/>
            </a:endParaRPr>
          </a:p>
          <a:p>
            <a:pPr marL="342900" lvl="0" indent="-342900" eaLnBrk="1" hangingPunct="1">
              <a:lnSpc>
                <a:spcPct val="110000"/>
              </a:lnSpc>
              <a:spcBef>
                <a:spcPct val="20000"/>
              </a:spcBef>
              <a:buClr>
                <a:schemeClr val="accent2"/>
              </a:buClr>
              <a:buSzPct val="80000"/>
              <a:buFont typeface="Wingdings" panose="05000000000000000000" pitchFamily="2" charset="2"/>
              <a:buChar char="l"/>
            </a:pPr>
            <a:r>
              <a:rPr lang="zh-CN" altLang="en-US" sz="2800" b="1" dirty="0">
                <a:latin typeface="Times New Roman" panose="02020603050405020304" pitchFamily="18" charset="0"/>
                <a:ea typeface="华文中宋" panose="02010600040101010101" pitchFamily="2" charset="-122"/>
              </a:rPr>
              <a:t>凡具有</a:t>
            </a:r>
            <a:r>
              <a:rPr lang="zh-CN" altLang="en-US" sz="2800" b="1" dirty="0">
                <a:solidFill>
                  <a:srgbClr val="0000FF"/>
                </a:solidFill>
                <a:latin typeface="+mn-lt"/>
                <a:ea typeface="华文中宋" panose="02010600040101010101" pitchFamily="2" charset="-122"/>
              </a:rPr>
              <a:t>共晶线成分</a:t>
            </a:r>
            <a:r>
              <a:rPr lang="zh-CN" altLang="en-US" sz="2800" b="1" dirty="0">
                <a:latin typeface="Times New Roman" panose="02020603050405020304" pitchFamily="18" charset="0"/>
                <a:ea typeface="华文中宋" panose="02010600040101010101" pitchFamily="2" charset="-122"/>
              </a:rPr>
              <a:t>的合金液体冷却到共晶温度时都将发生</a:t>
            </a:r>
            <a:r>
              <a:rPr lang="zh-CN" altLang="en-US" sz="2800" b="1" dirty="0">
                <a:solidFill>
                  <a:srgbClr val="0000FF"/>
                </a:solidFill>
                <a:latin typeface="+mn-lt"/>
                <a:ea typeface="华文中宋" panose="02010600040101010101" pitchFamily="2" charset="-122"/>
              </a:rPr>
              <a:t>共晶反应</a:t>
            </a:r>
            <a:r>
              <a:rPr lang="zh-CN" altLang="en-US" sz="2800" b="1" dirty="0">
                <a:latin typeface="Times New Roman" panose="02020603050405020304" pitchFamily="18" charset="0"/>
                <a:ea typeface="华文中宋" panose="02010600040101010101" pitchFamily="2" charset="-122"/>
              </a:rPr>
              <a:t>。</a:t>
            </a:r>
          </a:p>
        </p:txBody>
      </p:sp>
      <p:grpSp>
        <p:nvGrpSpPr>
          <p:cNvPr id="2" name="Group 22"/>
          <p:cNvGrpSpPr/>
          <p:nvPr/>
        </p:nvGrpSpPr>
        <p:grpSpPr>
          <a:xfrm>
            <a:off x="4938675" y="3199337"/>
            <a:ext cx="3747707" cy="3331792"/>
            <a:chOff x="2064" y="1200"/>
            <a:chExt cx="3168" cy="2592"/>
          </a:xfrm>
        </p:grpSpPr>
        <p:pic>
          <p:nvPicPr>
            <p:cNvPr id="67592" name="Picture 8" descr="Pb-Sn相图h_phas"/>
            <p:cNvPicPr>
              <a:picLocks noChangeAspect="1"/>
            </p:cNvPicPr>
            <p:nvPr/>
          </p:nvPicPr>
          <p:blipFill>
            <a:blip r:embed="rId3"/>
            <a:stretch>
              <a:fillRect/>
            </a:stretch>
          </p:blipFill>
          <p:spPr>
            <a:xfrm>
              <a:off x="2064" y="1200"/>
              <a:ext cx="3168" cy="2592"/>
            </a:xfrm>
            <a:prstGeom prst="rect">
              <a:avLst/>
            </a:prstGeom>
            <a:noFill/>
            <a:ln w="38100" cap="flat" cmpd="sng">
              <a:solidFill>
                <a:srgbClr val="FF9900"/>
              </a:solidFill>
              <a:prstDash val="solid"/>
              <a:miter/>
              <a:headEnd type="none" w="med" len="med"/>
              <a:tailEnd type="none" w="med" len="med"/>
            </a:ln>
          </p:spPr>
        </p:pic>
        <p:sp>
          <p:nvSpPr>
            <p:cNvPr id="67593" name="Text Box 9"/>
            <p:cNvSpPr txBox="1"/>
            <p:nvPr/>
          </p:nvSpPr>
          <p:spPr>
            <a:xfrm>
              <a:off x="3317" y="1902"/>
              <a:ext cx="649" cy="335"/>
            </a:xfrm>
            <a:prstGeom prst="rect">
              <a:avLst/>
            </a:prstGeom>
            <a:noFill/>
            <a:ln w="38100">
              <a:noFill/>
            </a:ln>
          </p:spPr>
          <p:txBody>
            <a:bodyPr wrap="square">
              <a:spAutoFit/>
            </a:bodyPr>
            <a:lstStyle/>
            <a:p>
              <a:pPr lvl="0" eaLnBrk="1" hangingPunct="1">
                <a:spcBef>
                  <a:spcPct val="50000"/>
                </a:spcBef>
              </a:pPr>
              <a:r>
                <a:rPr lang="en-US" altLang="zh-CN" sz="2400" b="1" dirty="0">
                  <a:solidFill>
                    <a:schemeClr val="bg2"/>
                  </a:solidFill>
                  <a:latin typeface="Times New Roman" panose="02020603050405020304" pitchFamily="18" charset="0"/>
                  <a:ea typeface="宋体" panose="02010600030101010101" pitchFamily="2" charset="-122"/>
                </a:rPr>
                <a:t>L+</a:t>
              </a:r>
              <a:r>
                <a:rPr lang="en-US" altLang="zh-CN" sz="2400" b="1" dirty="0">
                  <a:solidFill>
                    <a:schemeClr val="bg2"/>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b="1" dirty="0">
                <a:solidFill>
                  <a:schemeClr val="bg2"/>
                </a:solidFill>
                <a:latin typeface="Times New Roman" panose="02020603050405020304" pitchFamily="18" charset="0"/>
                <a:ea typeface="宋体" panose="02010600030101010101" pitchFamily="2" charset="-122"/>
              </a:endParaRPr>
            </a:p>
          </p:txBody>
        </p:sp>
        <p:sp>
          <p:nvSpPr>
            <p:cNvPr id="67594" name="Rectangle 10"/>
            <p:cNvSpPr/>
            <p:nvPr/>
          </p:nvSpPr>
          <p:spPr>
            <a:xfrm>
              <a:off x="4972" y="2122"/>
              <a:ext cx="240" cy="176"/>
            </a:xfrm>
            <a:prstGeom prst="rect">
              <a:avLst/>
            </a:prstGeom>
            <a:solidFill>
              <a:schemeClr val="bg1">
                <a:lumMod val="95000"/>
              </a:schemeClr>
            </a:solidFill>
            <a:ln w="38100" cap="flat" cmpd="sng">
              <a:noFill/>
              <a:prstDash val="solid"/>
              <a:miter/>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67595" name="Rectangle 11"/>
            <p:cNvSpPr/>
            <p:nvPr/>
          </p:nvSpPr>
          <p:spPr>
            <a:xfrm>
              <a:off x="2586" y="1946"/>
              <a:ext cx="306" cy="220"/>
            </a:xfrm>
            <a:prstGeom prst="rect">
              <a:avLst/>
            </a:prstGeom>
            <a:solidFill>
              <a:srgbClr val="FD8D8D"/>
            </a:solidFill>
            <a:ln w="38100">
              <a:noFill/>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67596" name="Text Box 12"/>
            <p:cNvSpPr txBox="1"/>
            <p:nvPr/>
          </p:nvSpPr>
          <p:spPr>
            <a:xfrm>
              <a:off x="3196" y="2212"/>
              <a:ext cx="208" cy="287"/>
            </a:xfrm>
            <a:prstGeom prst="rect">
              <a:avLst/>
            </a:prstGeom>
            <a:noFill/>
            <a:ln w="38100">
              <a:noFill/>
            </a:ln>
          </p:spPr>
          <p:txBody>
            <a:bodyPr>
              <a:spAutoFit/>
            </a:bodyPr>
            <a:lstStyle/>
            <a:p>
              <a:pPr lvl="0" eaLnBrk="1" hangingPunct="1">
                <a:spcBef>
                  <a:spcPct val="50000"/>
                </a:spcBef>
              </a:pPr>
              <a:r>
                <a:rPr lang="en-US" altLang="zh-CN" sz="2000" b="1" dirty="0">
                  <a:solidFill>
                    <a:schemeClr val="bg2"/>
                  </a:solidFill>
                  <a:latin typeface="Times New Roman" panose="02020603050405020304" pitchFamily="18" charset="0"/>
                  <a:ea typeface="宋体" panose="02010600030101010101" pitchFamily="2" charset="-122"/>
                </a:rPr>
                <a:t>C</a:t>
              </a:r>
            </a:p>
          </p:txBody>
        </p:sp>
        <p:sp>
          <p:nvSpPr>
            <p:cNvPr id="67597" name="Text Box 13"/>
            <p:cNvSpPr txBox="1"/>
            <p:nvPr/>
          </p:nvSpPr>
          <p:spPr>
            <a:xfrm>
              <a:off x="4682" y="2244"/>
              <a:ext cx="207" cy="287"/>
            </a:xfrm>
            <a:prstGeom prst="rect">
              <a:avLst/>
            </a:prstGeom>
            <a:noFill/>
            <a:ln w="38100">
              <a:noFill/>
            </a:ln>
          </p:spPr>
          <p:txBody>
            <a:bodyPr>
              <a:spAutoFit/>
            </a:bodyPr>
            <a:lstStyle/>
            <a:p>
              <a:pPr lvl="0" eaLnBrk="1" hangingPunct="1">
                <a:spcBef>
                  <a:spcPct val="50000"/>
                </a:spcBef>
              </a:pPr>
              <a:r>
                <a:rPr lang="en-US" altLang="zh-CN" sz="2000" b="1" dirty="0">
                  <a:solidFill>
                    <a:schemeClr val="bg2"/>
                  </a:solidFill>
                  <a:latin typeface="Times New Roman" panose="02020603050405020304" pitchFamily="18" charset="0"/>
                  <a:ea typeface="宋体" panose="02010600030101010101" pitchFamily="2" charset="-122"/>
                </a:rPr>
                <a:t>D</a:t>
              </a:r>
            </a:p>
          </p:txBody>
        </p:sp>
        <p:sp>
          <p:nvSpPr>
            <p:cNvPr id="67599" name="Line 15"/>
            <p:cNvSpPr/>
            <p:nvPr/>
          </p:nvSpPr>
          <p:spPr>
            <a:xfrm>
              <a:off x="2770" y="1902"/>
              <a:ext cx="0" cy="220"/>
            </a:xfrm>
            <a:prstGeom prst="line">
              <a:avLst/>
            </a:prstGeom>
            <a:ln w="19050" cap="flat" cmpd="sng">
              <a:solidFill>
                <a:schemeClr val="bg2"/>
              </a:solidFill>
              <a:prstDash val="solid"/>
              <a:miter/>
              <a:headEnd type="none" w="med" len="med"/>
              <a:tailEnd type="none" w="med" len="med"/>
            </a:ln>
          </p:spPr>
        </p:sp>
        <p:sp>
          <p:nvSpPr>
            <p:cNvPr id="67601" name="Rectangle 17"/>
            <p:cNvSpPr/>
            <p:nvPr/>
          </p:nvSpPr>
          <p:spPr>
            <a:xfrm>
              <a:off x="2369" y="1332"/>
              <a:ext cx="131" cy="219"/>
            </a:xfrm>
            <a:prstGeom prst="rect">
              <a:avLst/>
            </a:prstGeom>
            <a:solidFill>
              <a:schemeClr val="bg1"/>
            </a:solidFill>
            <a:ln w="38100" cap="flat" cmpd="sng">
              <a:noFill/>
              <a:prstDash val="solid"/>
              <a:miter/>
              <a:headEnd type="none" w="med" len="med"/>
              <a:tailEnd type="none" w="med" len="med"/>
            </a:ln>
          </p:spPr>
          <p:txBody>
            <a:bodyPr wrap="none" anchor="ctr"/>
            <a:lstStyle/>
            <a:p>
              <a:pPr lvl="0" algn="ctr" eaLnBrk="1" hangingPunct="1"/>
              <a:r>
                <a:rPr lang="en-US" altLang="zh-CN" sz="2000" b="1" dirty="0">
                  <a:solidFill>
                    <a:schemeClr val="bg2"/>
                  </a:solidFill>
                  <a:latin typeface="Times New Roman" panose="02020603050405020304" pitchFamily="18" charset="0"/>
                  <a:ea typeface="宋体" panose="02010600030101010101" pitchFamily="2" charset="-122"/>
                </a:rPr>
                <a:t>A</a:t>
              </a:r>
            </a:p>
          </p:txBody>
        </p:sp>
        <p:sp>
          <p:nvSpPr>
            <p:cNvPr id="67602" name="Rectangle 18"/>
            <p:cNvSpPr/>
            <p:nvPr/>
          </p:nvSpPr>
          <p:spPr>
            <a:xfrm>
              <a:off x="4982" y="1902"/>
              <a:ext cx="131" cy="220"/>
            </a:xfrm>
            <a:prstGeom prst="rect">
              <a:avLst/>
            </a:prstGeom>
            <a:solidFill>
              <a:schemeClr val="bg1"/>
            </a:solidFill>
            <a:ln w="38100" cap="flat" cmpd="sng">
              <a:noFill/>
              <a:prstDash val="solid"/>
              <a:miter/>
              <a:headEnd type="none" w="med" len="med"/>
              <a:tailEnd type="none" w="med" len="med"/>
            </a:ln>
          </p:spPr>
          <p:txBody>
            <a:bodyPr wrap="none" anchor="ctr"/>
            <a:lstStyle/>
            <a:p>
              <a:pPr lvl="0" algn="ctr" eaLnBrk="1" hangingPunct="1"/>
              <a:r>
                <a:rPr lang="en-US" altLang="zh-CN" sz="2000" b="1" dirty="0">
                  <a:solidFill>
                    <a:schemeClr val="bg2"/>
                  </a:solidFill>
                  <a:latin typeface="Times New Roman" panose="02020603050405020304" pitchFamily="18" charset="0"/>
                  <a:ea typeface="宋体" panose="02010600030101010101" pitchFamily="2" charset="-122"/>
                </a:rPr>
                <a:t>B</a:t>
              </a:r>
            </a:p>
          </p:txBody>
        </p:sp>
      </p:grpSp>
      <p:pic>
        <p:nvPicPr>
          <p:cNvPr id="19" name="内容占位符 1" descr="新校徽（3M）弓之乐"/>
          <p:cNvPicPr>
            <a:picLocks noChangeAspect="1"/>
          </p:cNvPicPr>
          <p:nvPr/>
        </p:nvPicPr>
        <p:blipFill>
          <a:blip r:embed="rId4"/>
          <a:stretch>
            <a:fillRect/>
          </a:stretch>
        </p:blipFill>
        <p:spPr>
          <a:xfrm>
            <a:off x="0" y="0"/>
            <a:ext cx="746760" cy="735965"/>
          </a:xfrm>
          <a:prstGeom prst="rect">
            <a:avLst/>
          </a:prstGeom>
          <a:noFill/>
          <a:ln w="9525">
            <a:noFill/>
          </a:ln>
        </p:spPr>
      </p:pic>
      <p:sp>
        <p:nvSpPr>
          <p:cNvPr id="5" name="圆角矩形 6" descr="7b0a202020202262756c6c6574223a20227b5c2263617465676f727949645c223a31303032352c5c2274656d706c61746549645c223a32303233313437347d220a7d0a"/>
          <p:cNvSpPr/>
          <p:nvPr/>
        </p:nvSpPr>
        <p:spPr>
          <a:xfrm>
            <a:off x="611505" y="2061210"/>
            <a:ext cx="1663065" cy="480060"/>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28575" cmpd="dbl">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800" b="1" dirty="0">
                <a:solidFill>
                  <a:srgbClr val="0000FF"/>
                </a:solidFill>
                <a:ea typeface="华文中宋" panose="02010600040101010101" pitchFamily="2" charset="-122"/>
                <a:sym typeface="+mn-ea"/>
              </a:rPr>
              <a:t>共晶合金</a:t>
            </a:r>
          </a:p>
        </p:txBody>
      </p:sp>
      <p:sp>
        <p:nvSpPr>
          <p:cNvPr id="3" name="圆角矩形 6" descr="7b0a202020202262756c6c6574223a20227b5c2263617465676f727949645c223a31303032352c5c2274656d706c61746549645c223a32303233313437347d220a7d0a"/>
          <p:cNvSpPr/>
          <p:nvPr/>
        </p:nvSpPr>
        <p:spPr>
          <a:xfrm>
            <a:off x="597535" y="2637155"/>
            <a:ext cx="2030095" cy="480060"/>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28575" cmpd="dbl">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800" b="1" dirty="0">
                <a:solidFill>
                  <a:srgbClr val="0000FF"/>
                </a:solidFill>
                <a:ea typeface="华文中宋" panose="02010600040101010101" pitchFamily="2" charset="-122"/>
                <a:sym typeface="+mn-ea"/>
              </a:rPr>
              <a:t>亚共晶合金</a:t>
            </a:r>
          </a:p>
        </p:txBody>
      </p:sp>
      <p:sp>
        <p:nvSpPr>
          <p:cNvPr id="4" name="圆角矩形 6" descr="7b0a202020202262756c6c6574223a20227b5c2263617465676f727949645c223a31303032352c5c2274656d706c61746549645c223a32303233313437347d220a7d0a"/>
          <p:cNvSpPr/>
          <p:nvPr/>
        </p:nvSpPr>
        <p:spPr>
          <a:xfrm>
            <a:off x="746760" y="3677920"/>
            <a:ext cx="2030095" cy="480060"/>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28575" cmpd="dbl">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800" b="1" dirty="0">
                <a:solidFill>
                  <a:srgbClr val="0000FF"/>
                </a:solidFill>
                <a:ea typeface="华文中宋" panose="02010600040101010101" pitchFamily="2" charset="-122"/>
                <a:sym typeface="+mn-ea"/>
              </a:rPr>
              <a:t>过共晶合金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4754">
                                            <p:txEl>
                                              <p:pRg st="0" end="0"/>
                                            </p:txEl>
                                          </p:spTgt>
                                        </p:tgtEl>
                                        <p:attrNameLst>
                                          <p:attrName>style.visibility</p:attrName>
                                        </p:attrNameLst>
                                      </p:cBhvr>
                                      <p:to>
                                        <p:strVal val="visible"/>
                                      </p:to>
                                    </p:set>
                                    <p:animEffect transition="in" filter="wipe(left)">
                                      <p:cBhvr>
                                        <p:cTn id="7" dur="500"/>
                                        <p:tgtEl>
                                          <p:spTgt spid="74754">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1000"/>
                                  </p:stCondLst>
                                  <p:childTnLst>
                                    <p:set>
                                      <p:cBhvr>
                                        <p:cTn id="10" dur="1" fill="hold">
                                          <p:stCondLst>
                                            <p:cond delay="0"/>
                                          </p:stCondLst>
                                        </p:cTn>
                                        <p:tgtEl>
                                          <p:spTgt spid="74754">
                                            <p:txEl>
                                              <p:pRg st="1" end="1"/>
                                            </p:txEl>
                                          </p:spTgt>
                                        </p:tgtEl>
                                        <p:attrNameLst>
                                          <p:attrName>style.visibility</p:attrName>
                                        </p:attrNameLst>
                                      </p:cBhvr>
                                      <p:to>
                                        <p:strVal val="visible"/>
                                      </p:to>
                                    </p:set>
                                    <p:animEffect transition="in" filter="wipe(left)">
                                      <p:cBhvr>
                                        <p:cTn id="11" dur="500"/>
                                        <p:tgtEl>
                                          <p:spTgt spid="74754">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4755"/>
                                        </p:tgtEl>
                                        <p:attrNameLst>
                                          <p:attrName>style.visibility</p:attrName>
                                        </p:attrNameLst>
                                      </p:cBhvr>
                                      <p:to>
                                        <p:strVal val="visible"/>
                                      </p:to>
                                    </p:set>
                                    <p:animEffect transition="in" filter="wipe(left)">
                                      <p:cBhvr>
                                        <p:cTn id="16" dur="500"/>
                                        <p:tgtEl>
                                          <p:spTgt spid="74755"/>
                                        </p:tgtEl>
                                      </p:cBhvr>
                                    </p:animEffect>
                                  </p:childTnLst>
                                </p:cTn>
                              </p:par>
                            </p:childTnLst>
                          </p:cTn>
                        </p:par>
                        <p:par>
                          <p:cTn id="17" fill="hold">
                            <p:stCondLst>
                              <p:cond delay="500"/>
                            </p:stCondLst>
                            <p:childTnLst>
                              <p:par>
                                <p:cTn id="18" presetID="22" presetClass="entr" presetSubtype="1"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up)">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4" grpId="0" build="p" advAuto="1000"/>
      <p:bldP spid="74755"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日期占位符 3"/>
          <p:cNvSpPr txBox="1">
            <a:spLocks noGrp="1"/>
          </p:cNvSpPr>
          <p:nvPr>
            <p:ph type="dt" sz="half" idx="10"/>
          </p:nvPr>
        </p:nvSpPr>
        <p:spPr>
          <a:xfrm>
            <a:off x="0" y="6510338"/>
            <a:ext cx="2305050"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68611" name="灯片编号占位符 5"/>
          <p:cNvSpPr txBox="1">
            <a:spLocks noGrp="1"/>
          </p:cNvSpPr>
          <p:nvPr>
            <p:ph type="sldNum" sz="quarter" idx="12"/>
          </p:nvPr>
        </p:nvSpPr>
        <p:spPr>
          <a:xfrm>
            <a:off x="8640445" y="6598920"/>
            <a:ext cx="455930" cy="259080"/>
          </a:xfrm>
        </p:spPr>
        <p:txBody>
          <a:bodyPr lIns="92075" tIns="46038" rIns="92075" bIns="46038" anchor="ctr"/>
          <a:lstStyle/>
          <a:p>
            <a:pPr algn="r" eaLnBrk="1" hangingPunct="1"/>
            <a:fld id="{9A0DB2DC-4C9A-4742-B13C-FB6460FD3503}" type="slidenum">
              <a:rPr lang="en-US" altLang="zh-CN" sz="1400" dirty="0"/>
              <a:t>66</a:t>
            </a:fld>
            <a:endParaRPr lang="en-US" altLang="zh-CN" sz="1400" dirty="0"/>
          </a:p>
        </p:txBody>
      </p:sp>
      <p:sp>
        <p:nvSpPr>
          <p:cNvPr id="282626" name="Rectangle 2"/>
          <p:cNvSpPr>
            <a:spLocks noGrp="1" noChangeArrowheads="1"/>
          </p:cNvSpPr>
          <p:nvPr>
            <p:ph type="title"/>
          </p:nvPr>
        </p:nvSpPr>
        <p:spPr>
          <a:xfrm>
            <a:off x="1096010" y="219592"/>
            <a:ext cx="7772400" cy="928688"/>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⑵</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典型合金的结晶过程</a:t>
            </a:r>
          </a:p>
        </p:txBody>
      </p:sp>
      <p:sp>
        <p:nvSpPr>
          <p:cNvPr id="68613" name="Rectangle 3"/>
          <p:cNvSpPr>
            <a:spLocks noGrp="1"/>
          </p:cNvSpPr>
          <p:nvPr>
            <p:ph idx="1"/>
          </p:nvPr>
        </p:nvSpPr>
        <p:spPr>
          <a:xfrm>
            <a:off x="295157" y="1924958"/>
            <a:ext cx="8771890" cy="4311650"/>
          </a:xfrm>
        </p:spPr>
        <p:txBody>
          <a:bodyPr vert="horz" wrap="square" lIns="91440" tIns="45720" rIns="91440" bIns="45720" anchor="t"/>
          <a:lstStyle/>
          <a:p>
            <a:pPr eaLnBrk="1" hangingPunct="1"/>
            <a:r>
              <a:rPr lang="en-US" altLang="zh-CN" sz="2800" b="1" dirty="0">
                <a:solidFill>
                  <a:schemeClr val="folHlink"/>
                </a:solidFill>
                <a:ea typeface="华文中宋" panose="02010600040101010101" pitchFamily="2" charset="-122"/>
              </a:rPr>
              <a:t>① </a:t>
            </a:r>
            <a:r>
              <a:rPr lang="zh-CN" altLang="en-US" sz="2800" b="1" dirty="0">
                <a:solidFill>
                  <a:schemeClr val="folHlink"/>
                </a:solidFill>
                <a:ea typeface="华文中宋" panose="02010600040101010101" pitchFamily="2" charset="-122"/>
              </a:rPr>
              <a:t>含</a:t>
            </a:r>
            <a:r>
              <a:rPr lang="en-US" altLang="zh-CN" sz="2800" b="1" dirty="0">
                <a:solidFill>
                  <a:schemeClr val="folHlink"/>
                </a:solidFill>
                <a:ea typeface="华文中宋" panose="02010600040101010101" pitchFamily="2" charset="-122"/>
              </a:rPr>
              <a:t>Sn</a:t>
            </a:r>
            <a:r>
              <a:rPr lang="zh-CN" altLang="en-US" sz="2800" b="1" dirty="0">
                <a:solidFill>
                  <a:schemeClr val="folHlink"/>
                </a:solidFill>
                <a:ea typeface="华文中宋" panose="02010600040101010101" pitchFamily="2" charset="-122"/>
              </a:rPr>
              <a:t>量小于</a:t>
            </a:r>
            <a:r>
              <a:rPr lang="en-US" altLang="zh-CN" sz="2800" b="1" dirty="0">
                <a:solidFill>
                  <a:schemeClr val="folHlink"/>
                </a:solidFill>
                <a:ea typeface="华文中宋" panose="02010600040101010101" pitchFamily="2" charset="-122"/>
              </a:rPr>
              <a:t>C</a:t>
            </a:r>
            <a:r>
              <a:rPr lang="zh-CN" altLang="en-US" sz="2800" b="1" dirty="0">
                <a:solidFill>
                  <a:schemeClr val="folHlink"/>
                </a:solidFill>
                <a:ea typeface="华文中宋" panose="02010600040101010101" pitchFamily="2" charset="-122"/>
              </a:rPr>
              <a:t>点合金</a:t>
            </a:r>
            <a:r>
              <a:rPr lang="en-US" altLang="zh-CN" sz="2800" b="1" dirty="0">
                <a:solidFill>
                  <a:schemeClr val="folHlink"/>
                </a:solidFill>
                <a:ea typeface="华文中宋" panose="02010600040101010101" pitchFamily="2" charset="-122"/>
              </a:rPr>
              <a:t>(Ⅰ</a:t>
            </a:r>
            <a:r>
              <a:rPr lang="zh-CN" altLang="en-US" sz="2800" b="1" dirty="0">
                <a:solidFill>
                  <a:schemeClr val="folHlink"/>
                </a:solidFill>
                <a:ea typeface="华文中宋" panose="02010600040101010101" pitchFamily="2" charset="-122"/>
              </a:rPr>
              <a:t>合金</a:t>
            </a:r>
            <a:r>
              <a:rPr lang="en-US" altLang="zh-CN" sz="2800" b="1" dirty="0">
                <a:solidFill>
                  <a:schemeClr val="folHlink"/>
                </a:solidFill>
                <a:ea typeface="华文中宋" panose="02010600040101010101" pitchFamily="2" charset="-122"/>
              </a:rPr>
              <a:t>)</a:t>
            </a:r>
            <a:r>
              <a:rPr lang="zh-CN" altLang="en-US" sz="2800" b="1" dirty="0">
                <a:solidFill>
                  <a:schemeClr val="folHlink"/>
                </a:solidFill>
                <a:ea typeface="华文中宋" panose="02010600040101010101" pitchFamily="2" charset="-122"/>
              </a:rPr>
              <a:t>的结晶过程</a:t>
            </a:r>
          </a:p>
          <a:p>
            <a:pPr eaLnBrk="1" hangingPunct="1">
              <a:lnSpc>
                <a:spcPct val="110000"/>
              </a:lnSpc>
            </a:pPr>
            <a:r>
              <a:rPr lang="zh-CN" altLang="en-US" sz="2800" b="1" dirty="0">
                <a:ea typeface="华文中宋" panose="02010600040101010101" pitchFamily="2" charset="-122"/>
              </a:rPr>
              <a:t>在</a:t>
            </a:r>
            <a:r>
              <a:rPr lang="en-US" altLang="zh-CN" sz="2800" b="1" dirty="0">
                <a:solidFill>
                  <a:schemeClr val="folHlink"/>
                </a:solidFill>
                <a:ea typeface="华文中宋" panose="02010600040101010101" pitchFamily="2" charset="-122"/>
                <a:sym typeface="Symbol" panose="05050102010706020507" pitchFamily="18" charset="2"/>
              </a:rPr>
              <a:t>2</a:t>
            </a:r>
            <a:r>
              <a:rPr lang="zh-CN" altLang="en-US" sz="2800" b="1" dirty="0">
                <a:solidFill>
                  <a:schemeClr val="folHlink"/>
                </a:solidFill>
                <a:ea typeface="华文中宋" panose="02010600040101010101" pitchFamily="2" charset="-122"/>
                <a:sym typeface="Symbol" panose="05050102010706020507" pitchFamily="18" charset="2"/>
              </a:rPr>
              <a:t>点以前</a:t>
            </a:r>
            <a:r>
              <a:rPr lang="zh-CN" altLang="en-US" sz="2800" b="1" dirty="0">
                <a:ea typeface="华文中宋" panose="02010600040101010101" pitchFamily="2" charset="-122"/>
              </a:rPr>
              <a:t>为匀晶转变，结晶出</a:t>
            </a:r>
            <a:r>
              <a:rPr lang="zh-CN" altLang="en-US" sz="2800" b="1" dirty="0">
                <a:solidFill>
                  <a:schemeClr val="folHlink"/>
                </a:solidFill>
                <a:ea typeface="华文中宋" panose="02010600040101010101" pitchFamily="2" charset="-122"/>
                <a:sym typeface="Symbol" panose="05050102010706020507" pitchFamily="18" charset="2"/>
              </a:rPr>
              <a:t>单相 固溶体</a:t>
            </a:r>
            <a:r>
              <a:rPr lang="en-US" altLang="zh-CN" sz="2800" b="1" dirty="0">
                <a:ea typeface="华文中宋" panose="02010600040101010101" pitchFamily="2" charset="-122"/>
                <a:sym typeface="Symbol" panose="05050102010706020507" pitchFamily="18" charset="2"/>
              </a:rPr>
              <a:t>,  </a:t>
            </a:r>
          </a:p>
          <a:p>
            <a:pPr eaLnBrk="1" hangingPunct="1">
              <a:lnSpc>
                <a:spcPct val="110000"/>
              </a:lnSpc>
            </a:pPr>
            <a:r>
              <a:rPr lang="zh-CN" altLang="en-US" sz="2800" b="1" dirty="0">
                <a:solidFill>
                  <a:srgbClr val="0000FF"/>
                </a:solidFill>
                <a:ea typeface="华文中宋" panose="02010600040101010101" pitchFamily="2" charset="-122"/>
                <a:sym typeface="Symbol" panose="05050102010706020507" pitchFamily="18" charset="2"/>
              </a:rPr>
              <a:t>一次相</a:t>
            </a:r>
            <a:r>
              <a:rPr lang="zh-CN" altLang="en-US" sz="2800" b="1" dirty="0">
                <a:ea typeface="华文中宋" panose="02010600040101010101" pitchFamily="2" charset="-122"/>
                <a:sym typeface="Symbol" panose="05050102010706020507" pitchFamily="18" charset="2"/>
              </a:rPr>
              <a:t>或</a:t>
            </a:r>
            <a:r>
              <a:rPr lang="zh-CN" altLang="en-US" sz="2800" b="1" dirty="0">
                <a:solidFill>
                  <a:srgbClr val="0000FF"/>
                </a:solidFill>
                <a:ea typeface="华文中宋" panose="02010600040101010101" pitchFamily="2" charset="-122"/>
                <a:sym typeface="Symbol" panose="05050102010706020507" pitchFamily="18" charset="2"/>
              </a:rPr>
              <a:t>初生相</a:t>
            </a:r>
            <a:r>
              <a:rPr lang="zh-CN" altLang="en-US" sz="2800" b="1" dirty="0">
                <a:solidFill>
                  <a:schemeClr val="folHlink"/>
                </a:solidFill>
                <a:ea typeface="华文中宋" panose="02010600040101010101" pitchFamily="2" charset="-122"/>
                <a:sym typeface="Symbol" panose="05050102010706020507" pitchFamily="18" charset="2"/>
              </a:rPr>
              <a:t>：</a:t>
            </a:r>
            <a:r>
              <a:rPr lang="zh-CN" altLang="en-US" sz="2800" b="1" dirty="0">
                <a:ea typeface="华文中宋" panose="02010600040101010101" pitchFamily="2" charset="-122"/>
                <a:sym typeface="Symbol" panose="05050102010706020507" pitchFamily="18" charset="2"/>
              </a:rPr>
              <a:t>直接</a:t>
            </a:r>
            <a:r>
              <a:rPr lang="zh-CN" altLang="en-US" sz="2800" b="1" dirty="0">
                <a:solidFill>
                  <a:schemeClr val="folHlink"/>
                </a:solidFill>
                <a:ea typeface="华文中宋" panose="02010600040101010101" pitchFamily="2" charset="-122"/>
                <a:sym typeface="Symbol" panose="05050102010706020507" pitchFamily="18" charset="2"/>
              </a:rPr>
              <a:t>从液相中</a:t>
            </a:r>
            <a:r>
              <a:rPr lang="zh-CN" altLang="en-US" sz="2800" b="1" dirty="0">
                <a:ea typeface="华文中宋" panose="02010600040101010101" pitchFamily="2" charset="-122"/>
                <a:sym typeface="Symbol" panose="05050102010706020507" pitchFamily="18" charset="2"/>
              </a:rPr>
              <a:t>结晶出的固相</a:t>
            </a:r>
          </a:p>
          <a:p>
            <a:pPr eaLnBrk="1" hangingPunct="1">
              <a:lnSpc>
                <a:spcPct val="110000"/>
              </a:lnSpc>
            </a:pPr>
            <a:r>
              <a:rPr lang="en-US" altLang="zh-CN" sz="2800" b="1" dirty="0">
                <a:solidFill>
                  <a:schemeClr val="folHlink"/>
                </a:solidFill>
                <a:ea typeface="华文中宋" panose="02010600040101010101" pitchFamily="2" charset="-122"/>
                <a:sym typeface="Symbol" panose="05050102010706020507" pitchFamily="18" charset="2"/>
              </a:rPr>
              <a:t>2-3</a:t>
            </a:r>
            <a:r>
              <a:rPr lang="zh-CN" altLang="en-US" sz="2800" b="1" dirty="0">
                <a:solidFill>
                  <a:schemeClr val="folHlink"/>
                </a:solidFill>
                <a:ea typeface="华文中宋" panose="02010600040101010101" pitchFamily="2" charset="-122"/>
                <a:sym typeface="Symbol" panose="05050102010706020507" pitchFamily="18" charset="2"/>
              </a:rPr>
              <a:t>：</a:t>
            </a:r>
            <a:r>
              <a:rPr lang="zh-CN" altLang="en-US" sz="2800" b="1" dirty="0">
                <a:ea typeface="华文中宋" panose="02010600040101010101" pitchFamily="2" charset="-122"/>
                <a:sym typeface="Symbol" panose="05050102010706020507" pitchFamily="18" charset="2"/>
              </a:rPr>
              <a:t>单相</a:t>
            </a:r>
            <a:r>
              <a:rPr lang="zh-CN" altLang="en-US" sz="2800" b="1" dirty="0">
                <a:solidFill>
                  <a:schemeClr val="folHlink"/>
                </a:solidFill>
                <a:ea typeface="华文中宋" panose="02010600040101010101" pitchFamily="2" charset="-122"/>
                <a:sym typeface="Symbol" panose="05050102010706020507" pitchFamily="18" charset="2"/>
              </a:rPr>
              <a:t> 固溶体</a:t>
            </a:r>
            <a:r>
              <a:rPr lang="zh-CN" altLang="en-US" sz="2800" b="1" dirty="0">
                <a:ea typeface="华文中宋" panose="02010600040101010101" pitchFamily="2" charset="-122"/>
                <a:sym typeface="Symbol" panose="05050102010706020507" pitchFamily="18" charset="2"/>
              </a:rPr>
              <a:t>冷却，合金组织不发生变化</a:t>
            </a:r>
          </a:p>
        </p:txBody>
      </p:sp>
      <p:grpSp>
        <p:nvGrpSpPr>
          <p:cNvPr id="2" name="Group 5"/>
          <p:cNvGrpSpPr/>
          <p:nvPr/>
        </p:nvGrpSpPr>
        <p:grpSpPr>
          <a:xfrm>
            <a:off x="2628419" y="4221663"/>
            <a:ext cx="5872480" cy="2430145"/>
            <a:chOff x="480" y="1920"/>
            <a:chExt cx="4800" cy="2267"/>
          </a:xfrm>
        </p:grpSpPr>
        <p:grpSp>
          <p:nvGrpSpPr>
            <p:cNvPr id="68616" name="Group 6"/>
            <p:cNvGrpSpPr/>
            <p:nvPr/>
          </p:nvGrpSpPr>
          <p:grpSpPr>
            <a:xfrm>
              <a:off x="480" y="1920"/>
              <a:ext cx="4800" cy="2267"/>
              <a:chOff x="480" y="1920"/>
              <a:chExt cx="4800" cy="2267"/>
            </a:xfrm>
          </p:grpSpPr>
          <p:grpSp>
            <p:nvGrpSpPr>
              <p:cNvPr id="68619" name="Group 7"/>
              <p:cNvGrpSpPr>
                <a:grpSpLocks noChangeAspect="1"/>
              </p:cNvGrpSpPr>
              <p:nvPr/>
            </p:nvGrpSpPr>
            <p:grpSpPr>
              <a:xfrm>
                <a:off x="2016" y="1920"/>
                <a:ext cx="3264" cy="2256"/>
                <a:chOff x="2688" y="2400"/>
                <a:chExt cx="2811" cy="1577"/>
              </a:xfrm>
            </p:grpSpPr>
            <p:pic>
              <p:nvPicPr>
                <p:cNvPr id="68622" name="Picture 8" descr="Pb-Sn"/>
                <p:cNvPicPr>
                  <a:picLocks noChangeAspect="1"/>
                </p:cNvPicPr>
                <p:nvPr/>
              </p:nvPicPr>
              <p:blipFill>
                <a:blip r:embed="rId2"/>
                <a:stretch>
                  <a:fillRect/>
                </a:stretch>
              </p:blipFill>
              <p:spPr>
                <a:xfrm>
                  <a:off x="2688" y="2400"/>
                  <a:ext cx="2811" cy="1577"/>
                </a:xfrm>
                <a:prstGeom prst="rect">
                  <a:avLst/>
                </a:prstGeom>
                <a:noFill/>
                <a:ln w="28575">
                  <a:noFill/>
                </a:ln>
              </p:spPr>
            </p:pic>
            <p:sp>
              <p:nvSpPr>
                <p:cNvPr id="68623" name="Text Box 9"/>
                <p:cNvSpPr txBox="1">
                  <a:spLocks noChangeAspect="1"/>
                </p:cNvSpPr>
                <p:nvPr/>
              </p:nvSpPr>
              <p:spPr>
                <a:xfrm>
                  <a:off x="3445" y="3192"/>
                  <a:ext cx="332" cy="149"/>
                </a:xfrm>
                <a:prstGeom prst="rect">
                  <a:avLst/>
                </a:prstGeom>
                <a:noFill/>
                <a:ln w="28575">
                  <a:noFill/>
                </a:ln>
              </p:spPr>
              <p:txBody>
                <a:bodyPr>
                  <a:spAutoFit/>
                </a:bodyPr>
                <a:lstStyle/>
                <a:p>
                  <a:pPr lvl="0" eaLnBrk="1" hangingPunct="1">
                    <a:spcBef>
                      <a:spcPct val="50000"/>
                    </a:spcBef>
                  </a:pPr>
                  <a:r>
                    <a:rPr lang="en-US" altLang="zh-CN" sz="900" b="1" dirty="0">
                      <a:solidFill>
                        <a:schemeClr val="bg2"/>
                      </a:solidFill>
                      <a:latin typeface="Times New Roman" panose="02020603050405020304" pitchFamily="18" charset="0"/>
                      <a:ea typeface="宋体" panose="02010600030101010101" pitchFamily="2" charset="-122"/>
                    </a:rPr>
                    <a:t>.2</a:t>
                  </a:r>
                </a:p>
              </p:txBody>
            </p:sp>
          </p:grpSp>
          <p:pic>
            <p:nvPicPr>
              <p:cNvPr id="68620" name="Picture 10" descr="Pb-Sn小于C结晶"/>
              <p:cNvPicPr preferRelativeResize="0"/>
              <p:nvPr/>
            </p:nvPicPr>
            <p:blipFill>
              <a:blip r:embed="rId3"/>
              <a:stretch>
                <a:fillRect/>
              </a:stretch>
            </p:blipFill>
            <p:spPr>
              <a:xfrm>
                <a:off x="480" y="1920"/>
                <a:ext cx="1536" cy="2267"/>
              </a:xfrm>
              <a:prstGeom prst="rect">
                <a:avLst/>
              </a:prstGeom>
              <a:noFill/>
              <a:ln w="28575">
                <a:noFill/>
              </a:ln>
            </p:spPr>
          </p:pic>
          <p:sp>
            <p:nvSpPr>
              <p:cNvPr id="68621" name="Rectangle 11"/>
              <p:cNvSpPr/>
              <p:nvPr/>
            </p:nvSpPr>
            <p:spPr>
              <a:xfrm>
                <a:off x="480" y="1920"/>
                <a:ext cx="4790" cy="2256"/>
              </a:xfrm>
              <a:prstGeom prst="rect">
                <a:avLst/>
              </a:prstGeom>
              <a:noFill/>
              <a:ln w="28575" cap="flat" cmpd="sng">
                <a:solidFill>
                  <a:srgbClr val="FF9900"/>
                </a:solidFill>
                <a:prstDash val="solid"/>
                <a:miter/>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grpSp>
        <p:sp>
          <p:nvSpPr>
            <p:cNvPr id="68617" name="Line 12"/>
            <p:cNvSpPr/>
            <p:nvPr/>
          </p:nvSpPr>
          <p:spPr>
            <a:xfrm>
              <a:off x="4594" y="2614"/>
              <a:ext cx="0" cy="1157"/>
            </a:xfrm>
            <a:prstGeom prst="line">
              <a:avLst/>
            </a:prstGeom>
            <a:ln w="28575" cap="flat" cmpd="sng">
              <a:solidFill>
                <a:schemeClr val="bg2"/>
              </a:solidFill>
              <a:prstDash val="solid"/>
              <a:miter/>
              <a:headEnd type="none" w="med" len="med"/>
              <a:tailEnd type="none" w="med" len="med"/>
            </a:ln>
          </p:spPr>
        </p:sp>
        <p:sp>
          <p:nvSpPr>
            <p:cNvPr id="68618" name="Line 13"/>
            <p:cNvSpPr/>
            <p:nvPr/>
          </p:nvSpPr>
          <p:spPr>
            <a:xfrm>
              <a:off x="5039" y="2730"/>
              <a:ext cx="0" cy="1041"/>
            </a:xfrm>
            <a:prstGeom prst="line">
              <a:avLst/>
            </a:prstGeom>
            <a:ln w="28575" cap="flat" cmpd="sng">
              <a:solidFill>
                <a:schemeClr val="bg2"/>
              </a:solidFill>
              <a:prstDash val="solid"/>
              <a:miter/>
              <a:headEnd type="none" w="med" len="med"/>
              <a:tailEnd type="none" w="med" len="med"/>
            </a:ln>
          </p:spPr>
        </p:sp>
      </p:grpSp>
      <p:pic>
        <p:nvPicPr>
          <p:cNvPr id="16" name="内容占位符 1" descr="新校徽（3M）弓之乐"/>
          <p:cNvPicPr>
            <a:picLocks noChangeAspect="1"/>
          </p:cNvPicPr>
          <p:nvPr/>
        </p:nvPicPr>
        <p:blipFill>
          <a:blip r:embed="rId4"/>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日期占位符 3"/>
          <p:cNvSpPr txBox="1">
            <a:spLocks noGrp="1"/>
          </p:cNvSpPr>
          <p:nvPr>
            <p:ph type="dt" sz="half" idx="10"/>
          </p:nvPr>
        </p:nvSpPr>
        <p:spPr>
          <a:xfrm>
            <a:off x="0" y="6516688"/>
            <a:ext cx="2305050"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69635" name="灯片编号占位符 5"/>
          <p:cNvSpPr txBox="1">
            <a:spLocks noGrp="1"/>
          </p:cNvSpPr>
          <p:nvPr>
            <p:ph type="sldNum" sz="quarter" idx="12"/>
          </p:nvPr>
        </p:nvSpPr>
        <p:spPr>
          <a:xfrm>
            <a:off x="8324850" y="6551801"/>
            <a:ext cx="645840" cy="286231"/>
          </a:xfrm>
        </p:spPr>
        <p:txBody>
          <a:bodyPr lIns="92075" tIns="46038" rIns="92075" bIns="46038" anchor="ctr"/>
          <a:lstStyle/>
          <a:p>
            <a:pPr algn="r" eaLnBrk="1" hangingPunct="1"/>
            <a:fld id="{9A0DB2DC-4C9A-4742-B13C-FB6460FD3503}" type="slidenum">
              <a:rPr lang="en-US" altLang="zh-CN" sz="1400" dirty="0"/>
              <a:t>67</a:t>
            </a:fld>
            <a:endParaRPr lang="en-US" altLang="zh-CN" sz="1400" dirty="0"/>
          </a:p>
        </p:txBody>
      </p:sp>
      <p:sp>
        <p:nvSpPr>
          <p:cNvPr id="283650" name="Rectangle 2"/>
          <p:cNvSpPr>
            <a:spLocks noGrp="1" noChangeArrowheads="1"/>
          </p:cNvSpPr>
          <p:nvPr>
            <p:ph type="title"/>
          </p:nvPr>
        </p:nvSpPr>
        <p:spPr>
          <a:xfrm>
            <a:off x="1357313" y="164465"/>
            <a:ext cx="7412038"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Ⅰ</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合金的结晶过程（续）</a:t>
            </a:r>
          </a:p>
        </p:txBody>
      </p:sp>
      <p:sp>
        <p:nvSpPr>
          <p:cNvPr id="69637" name="Rectangle 3"/>
          <p:cNvSpPr>
            <a:spLocks noGrp="1"/>
          </p:cNvSpPr>
          <p:nvPr>
            <p:ph idx="1"/>
          </p:nvPr>
        </p:nvSpPr>
        <p:spPr>
          <a:xfrm>
            <a:off x="468630" y="1826260"/>
            <a:ext cx="8675370" cy="4331335"/>
          </a:xfrm>
        </p:spPr>
        <p:txBody>
          <a:bodyPr vert="horz" wrap="square" lIns="91440" tIns="45720" rIns="91440" bIns="45720" anchor="t"/>
          <a:lstStyle/>
          <a:p>
            <a:pPr eaLnBrk="1" latinLnBrk="0" hangingPunct="1">
              <a:lnSpc>
                <a:spcPct val="120000"/>
              </a:lnSpc>
              <a:spcBef>
                <a:spcPts val="0"/>
              </a:spcBef>
            </a:pPr>
            <a:r>
              <a:rPr lang="zh-CN" altLang="en-US" sz="2800" b="1" dirty="0">
                <a:ea typeface="华文中宋" panose="02010600040101010101" pitchFamily="2" charset="-122"/>
                <a:sym typeface="Symbol" panose="05050102010706020507" pitchFamily="18" charset="2"/>
              </a:rPr>
              <a:t>温度降到</a:t>
            </a:r>
            <a:r>
              <a:rPr lang="en-US" altLang="zh-CN" sz="2800" b="1" dirty="0">
                <a:ea typeface="华文中宋" panose="02010600040101010101" pitchFamily="2" charset="-122"/>
                <a:sym typeface="Symbol" panose="05050102010706020507" pitchFamily="18" charset="2"/>
              </a:rPr>
              <a:t>3</a:t>
            </a:r>
            <a:r>
              <a:rPr lang="zh-CN" altLang="en-US" sz="2800" b="1" dirty="0">
                <a:ea typeface="华文中宋" panose="02010600040101010101" pitchFamily="2" charset="-122"/>
                <a:sym typeface="Symbol" panose="05050102010706020507" pitchFamily="18" charset="2"/>
              </a:rPr>
              <a:t>点以下， </a:t>
            </a:r>
            <a:r>
              <a:rPr lang="zh-CN" altLang="en-US" sz="2800" b="1" i="1" dirty="0">
                <a:ea typeface="华文中宋" panose="02010600040101010101" pitchFamily="2" charset="-122"/>
                <a:sym typeface="Symbol" panose="05050102010706020507" pitchFamily="18" charset="2"/>
              </a:rPr>
              <a:t></a:t>
            </a:r>
            <a:r>
              <a:rPr lang="zh-CN" altLang="en-US" sz="2800" b="1" dirty="0">
                <a:ea typeface="华文中宋" panose="02010600040101010101" pitchFamily="2" charset="-122"/>
                <a:sym typeface="Symbol" panose="05050102010706020507" pitchFamily="18" charset="2"/>
              </a:rPr>
              <a:t> 固溶体被</a:t>
            </a:r>
            <a:r>
              <a:rPr lang="en-US" altLang="zh-CN" sz="2800" b="1" dirty="0">
                <a:ea typeface="华文中宋" panose="02010600040101010101" pitchFamily="2" charset="-122"/>
                <a:sym typeface="Symbol" panose="05050102010706020507" pitchFamily="18" charset="2"/>
              </a:rPr>
              <a:t>Sn</a:t>
            </a:r>
            <a:r>
              <a:rPr lang="zh-CN" altLang="en-US" sz="2800" b="1" dirty="0">
                <a:solidFill>
                  <a:schemeClr val="folHlink"/>
                </a:solidFill>
                <a:ea typeface="华文中宋" panose="02010600040101010101" pitchFamily="2" charset="-122"/>
                <a:sym typeface="Symbol" panose="05050102010706020507" pitchFamily="18" charset="2"/>
              </a:rPr>
              <a:t>过饱和</a:t>
            </a:r>
            <a:r>
              <a:rPr lang="zh-CN" altLang="en-US" sz="2800" b="1" dirty="0">
                <a:ea typeface="华文中宋" panose="02010600040101010101" pitchFamily="2" charset="-122"/>
                <a:sym typeface="Symbol" panose="05050102010706020507" pitchFamily="18" charset="2"/>
              </a:rPr>
              <a:t>，由于晶格不稳，开始</a:t>
            </a:r>
            <a:r>
              <a:rPr lang="zh-CN" altLang="en-US" sz="2800" b="1" dirty="0">
                <a:solidFill>
                  <a:schemeClr val="folHlink"/>
                </a:solidFill>
                <a:ea typeface="华文中宋" panose="02010600040101010101" pitchFamily="2" charset="-122"/>
                <a:sym typeface="Symbol" panose="05050102010706020507" pitchFamily="18" charset="2"/>
              </a:rPr>
              <a:t>析出</a:t>
            </a:r>
            <a:r>
              <a:rPr lang="zh-CN" altLang="en-US" sz="2800" b="1" dirty="0">
                <a:solidFill>
                  <a:schemeClr val="tx1"/>
                </a:solidFill>
                <a:ea typeface="华文中宋" panose="02010600040101010101" pitchFamily="2" charset="-122"/>
                <a:sym typeface="Symbol" panose="05050102010706020507" pitchFamily="18" charset="2"/>
              </a:rPr>
              <a:t>（</a:t>
            </a:r>
            <a:r>
              <a:rPr lang="zh-CN" altLang="en-US" sz="2800" b="1" dirty="0">
                <a:solidFill>
                  <a:schemeClr val="folHlink"/>
                </a:solidFill>
                <a:ea typeface="华文中宋" panose="02010600040101010101" pitchFamily="2" charset="-122"/>
                <a:sym typeface="Symbol" panose="05050102010706020507" pitchFamily="18" charset="2"/>
              </a:rPr>
              <a:t>相变过程也称</a:t>
            </a:r>
            <a:r>
              <a:rPr lang="zh-CN" altLang="en-US" sz="2800" b="1" dirty="0">
                <a:solidFill>
                  <a:srgbClr val="FF0000"/>
                </a:solidFill>
                <a:ea typeface="华文中宋" panose="02010600040101010101" pitchFamily="2" charset="-122"/>
                <a:sym typeface="Symbol" panose="05050102010706020507" pitchFamily="18" charset="2"/>
              </a:rPr>
              <a:t>析出</a:t>
            </a:r>
            <a:r>
              <a:rPr lang="zh-CN" altLang="en-US" sz="2800" b="1" dirty="0">
                <a:solidFill>
                  <a:schemeClr val="tx1"/>
                </a:solidFill>
                <a:ea typeface="华文中宋" panose="02010600040101010101" pitchFamily="2" charset="-122"/>
                <a:sym typeface="Symbol" panose="05050102010706020507" pitchFamily="18" charset="2"/>
              </a:rPr>
              <a:t>）</a:t>
            </a:r>
            <a:r>
              <a:rPr lang="zh-CN" altLang="en-US" sz="2800" b="1" dirty="0">
                <a:ea typeface="华文中宋" panose="02010600040101010101" pitchFamily="2" charset="-122"/>
                <a:sym typeface="Symbol" panose="05050102010706020507" pitchFamily="18" charset="2"/>
              </a:rPr>
              <a:t>新相</a:t>
            </a:r>
            <a:r>
              <a:rPr lang="en-US" altLang="zh-CN" sz="2800" b="1" dirty="0">
                <a:ea typeface="华文中宋" panose="02010600040101010101" pitchFamily="2" charset="-122"/>
                <a:sym typeface="Symbol" panose="05050102010706020507" pitchFamily="18" charset="2"/>
              </a:rPr>
              <a:t>—</a:t>
            </a:r>
            <a:r>
              <a:rPr lang="en-US" altLang="zh-CN" sz="2800" b="1" i="1" dirty="0">
                <a:ea typeface="华文中宋" panose="02010600040101010101" pitchFamily="2" charset="-122"/>
                <a:sym typeface="Symbol" panose="05050102010706020507" pitchFamily="18" charset="2"/>
              </a:rPr>
              <a:t> </a:t>
            </a:r>
            <a:r>
              <a:rPr lang="zh-CN" altLang="en-US" sz="2800" b="1" dirty="0">
                <a:ea typeface="华文中宋" panose="02010600040101010101" pitchFamily="2" charset="-122"/>
                <a:sym typeface="Symbol" panose="05050102010706020507" pitchFamily="18" charset="2"/>
              </a:rPr>
              <a:t>相。</a:t>
            </a:r>
            <a:endParaRPr lang="en-US" altLang="zh-CN" sz="2800" b="1" dirty="0">
              <a:ea typeface="华文中宋" panose="02010600040101010101" pitchFamily="2" charset="-122"/>
              <a:sym typeface="Symbol" panose="05050102010706020507" pitchFamily="18" charset="2"/>
            </a:endParaRPr>
          </a:p>
          <a:p>
            <a:pPr eaLnBrk="1" latinLnBrk="0" hangingPunct="1">
              <a:lnSpc>
                <a:spcPct val="120000"/>
              </a:lnSpc>
              <a:spcBef>
                <a:spcPts val="0"/>
              </a:spcBef>
            </a:pPr>
            <a:r>
              <a:rPr lang="zh-CN" altLang="en-US" sz="2800" b="1" dirty="0">
                <a:solidFill>
                  <a:srgbClr val="0000FF"/>
                </a:solidFill>
                <a:ea typeface="华文中宋" panose="02010600040101010101" pitchFamily="2" charset="-122"/>
                <a:sym typeface="Symbol" panose="05050102010706020507" pitchFamily="18" charset="2"/>
              </a:rPr>
              <a:t>二次相</a:t>
            </a:r>
            <a:r>
              <a:rPr lang="zh-CN" altLang="en-US" sz="2800" b="1" dirty="0">
                <a:ea typeface="华文中宋" panose="02010600040101010101" pitchFamily="2" charset="-122"/>
                <a:sym typeface="Symbol" panose="05050102010706020507" pitchFamily="18" charset="2"/>
              </a:rPr>
              <a:t>或</a:t>
            </a:r>
            <a:r>
              <a:rPr lang="zh-CN" altLang="en-US" sz="2800" b="1" dirty="0">
                <a:solidFill>
                  <a:srgbClr val="0000FF"/>
                </a:solidFill>
                <a:ea typeface="华文中宋" panose="02010600040101010101" pitchFamily="2" charset="-122"/>
                <a:sym typeface="Symbol" panose="05050102010706020507" pitchFamily="18" charset="2"/>
              </a:rPr>
              <a:t>次生相</a:t>
            </a:r>
            <a:r>
              <a:rPr lang="zh-CN" altLang="en-US" sz="2800" b="1" dirty="0">
                <a:solidFill>
                  <a:schemeClr val="folHlink"/>
                </a:solidFill>
                <a:ea typeface="华文中宋" panose="02010600040101010101" pitchFamily="2" charset="-122"/>
                <a:sym typeface="Symbol" panose="05050102010706020507" pitchFamily="18" charset="2"/>
              </a:rPr>
              <a:t>：</a:t>
            </a:r>
            <a:r>
              <a:rPr lang="zh-CN" altLang="en-US" sz="2800" b="1" dirty="0">
                <a:ea typeface="华文中宋" panose="02010600040101010101" pitchFamily="2" charset="-122"/>
                <a:sym typeface="Symbol" panose="05050102010706020507" pitchFamily="18" charset="2"/>
              </a:rPr>
              <a:t>由</a:t>
            </a:r>
            <a:r>
              <a:rPr lang="zh-CN" altLang="en-US" sz="2800" b="1" dirty="0">
                <a:solidFill>
                  <a:schemeClr val="folHlink"/>
                </a:solidFill>
                <a:ea typeface="华文中宋" panose="02010600040101010101" pitchFamily="2" charset="-122"/>
                <a:sym typeface="Symbol" panose="05050102010706020507" pitchFamily="18" charset="2"/>
              </a:rPr>
              <a:t>已有固相</a:t>
            </a:r>
            <a:r>
              <a:rPr lang="zh-CN" altLang="en-US" sz="2800" b="1" dirty="0">
                <a:ea typeface="华文中宋" panose="02010600040101010101" pitchFamily="2" charset="-122"/>
                <a:sym typeface="Symbol" panose="05050102010706020507" pitchFamily="18" charset="2"/>
              </a:rPr>
              <a:t>析出的</a:t>
            </a:r>
            <a:r>
              <a:rPr lang="zh-CN" altLang="en-US" sz="2800" b="1" dirty="0">
                <a:solidFill>
                  <a:schemeClr val="folHlink"/>
                </a:solidFill>
                <a:ea typeface="华文中宋" panose="02010600040101010101" pitchFamily="2" charset="-122"/>
                <a:sym typeface="Symbol" panose="05050102010706020507" pitchFamily="18" charset="2"/>
              </a:rPr>
              <a:t>新固相</a:t>
            </a:r>
            <a:r>
              <a:rPr lang="zh-CN" altLang="en-US" sz="2800" b="1" dirty="0">
                <a:ea typeface="华文中宋" panose="02010600040101010101" pitchFamily="2" charset="-122"/>
                <a:sym typeface="Symbol" panose="05050102010706020507" pitchFamily="18" charset="2"/>
              </a:rPr>
              <a:t>。</a:t>
            </a:r>
            <a:endParaRPr lang="zh-CN" altLang="en-US" sz="2800" b="1" dirty="0">
              <a:solidFill>
                <a:schemeClr val="folHlink"/>
              </a:solidFill>
              <a:ea typeface="华文中宋" panose="02010600040101010101" pitchFamily="2" charset="-122"/>
              <a:sym typeface="Symbol" panose="05050102010706020507" pitchFamily="18" charset="2"/>
            </a:endParaRPr>
          </a:p>
          <a:p>
            <a:pPr eaLnBrk="1" latinLnBrk="0" hangingPunct="1">
              <a:lnSpc>
                <a:spcPct val="120000"/>
              </a:lnSpc>
              <a:spcBef>
                <a:spcPts val="0"/>
              </a:spcBef>
            </a:pPr>
            <a:r>
              <a:rPr lang="zh-CN" altLang="en-US" sz="2800" b="1" dirty="0">
                <a:solidFill>
                  <a:schemeClr val="folHlink"/>
                </a:solidFill>
                <a:ea typeface="华文中宋" panose="02010600040101010101" pitchFamily="2" charset="-122"/>
                <a:sym typeface="Symbol" panose="05050102010706020507" pitchFamily="18" charset="2"/>
              </a:rPr>
              <a:t>形成二次相</a:t>
            </a:r>
            <a:r>
              <a:rPr lang="zh-CN" altLang="en-US" sz="2800" b="1" dirty="0">
                <a:ea typeface="华文中宋" panose="02010600040101010101" pitchFamily="2" charset="-122"/>
                <a:sym typeface="Symbol" panose="05050102010706020507" pitchFamily="18" charset="2"/>
              </a:rPr>
              <a:t>的过程称</a:t>
            </a:r>
            <a:r>
              <a:rPr lang="zh-CN" altLang="en-US" sz="2800" b="1" dirty="0">
                <a:solidFill>
                  <a:schemeClr val="folHlink"/>
                </a:solidFill>
                <a:ea typeface="华文中宋" panose="02010600040101010101" pitchFamily="2" charset="-122"/>
                <a:sym typeface="Symbol" panose="05050102010706020507" pitchFamily="18" charset="2"/>
              </a:rPr>
              <a:t>二次析出</a:t>
            </a:r>
            <a:r>
              <a:rPr lang="en-US" altLang="zh-CN" sz="2800" b="1" dirty="0">
                <a:ea typeface="华文中宋" panose="02010600040101010101" pitchFamily="2" charset="-122"/>
                <a:sym typeface="Symbol" panose="05050102010706020507" pitchFamily="18" charset="2"/>
              </a:rPr>
              <a:t>, </a:t>
            </a:r>
            <a:r>
              <a:rPr lang="zh-CN" altLang="en-US" sz="2800" b="1" dirty="0">
                <a:ea typeface="华文中宋" panose="02010600040101010101" pitchFamily="2" charset="-122"/>
                <a:sym typeface="Symbol" panose="05050102010706020507" pitchFamily="18" charset="2"/>
              </a:rPr>
              <a:t>是固态相变的一种。</a:t>
            </a:r>
            <a:endParaRPr lang="en-US" altLang="zh-CN" sz="2800" b="1" dirty="0">
              <a:ea typeface="华文中宋" panose="02010600040101010101" pitchFamily="2" charset="-122"/>
              <a:sym typeface="Symbol" panose="05050102010706020507" pitchFamily="18" charset="2"/>
            </a:endParaRPr>
          </a:p>
        </p:txBody>
      </p:sp>
      <p:pic>
        <p:nvPicPr>
          <p:cNvPr id="283653" name="Picture 5" descr="Pb-Sn1合金结晶过程"/>
          <p:cNvPicPr>
            <a:picLocks noChangeAspect="1"/>
          </p:cNvPicPr>
          <p:nvPr/>
        </p:nvPicPr>
        <p:blipFill>
          <a:blip r:embed="rId2"/>
          <a:stretch>
            <a:fillRect/>
          </a:stretch>
        </p:blipFill>
        <p:spPr>
          <a:xfrm>
            <a:off x="1619251" y="4021614"/>
            <a:ext cx="6824662" cy="2530475"/>
          </a:xfrm>
          <a:prstGeom prst="rect">
            <a:avLst/>
          </a:prstGeom>
          <a:noFill/>
          <a:ln w="9525">
            <a:noFill/>
          </a:ln>
        </p:spPr>
      </p:pic>
      <p:pic>
        <p:nvPicPr>
          <p:cNvPr id="8" name="内容占位符 1" descr="新校徽（3M）弓之乐"/>
          <p:cNvPicPr>
            <a:picLocks noChangeAspect="1"/>
          </p:cNvPicPr>
          <p:nvPr/>
        </p:nvPicPr>
        <p:blipFill>
          <a:blip r:embed="rId3"/>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83653"/>
                                        </p:tgtEl>
                                        <p:attrNameLst>
                                          <p:attrName>style.visibility</p:attrName>
                                        </p:attrNameLst>
                                      </p:cBhvr>
                                      <p:to>
                                        <p:strVal val="visible"/>
                                      </p:to>
                                    </p:set>
                                    <p:animEffect transition="in" filter="wipe(left)">
                                      <p:cBhvr>
                                        <p:cTn id="7" dur="500"/>
                                        <p:tgtEl>
                                          <p:spTgt spid="283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日期占位符 3"/>
          <p:cNvSpPr txBox="1">
            <a:spLocks noGrp="1"/>
          </p:cNvSpPr>
          <p:nvPr>
            <p:ph type="dt" sz="half" idx="10"/>
          </p:nvPr>
        </p:nvSpPr>
        <p:spPr>
          <a:xfrm>
            <a:off x="-317" y="6519863"/>
            <a:ext cx="2376487"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4102" name="灯片编号占位符 5"/>
          <p:cNvSpPr txBox="1">
            <a:spLocks noGrp="1"/>
          </p:cNvSpPr>
          <p:nvPr>
            <p:ph type="sldNum" sz="quarter" idx="12"/>
          </p:nvPr>
        </p:nvSpPr>
        <p:spPr>
          <a:xfrm>
            <a:off x="8688070" y="6594475"/>
            <a:ext cx="455930" cy="273050"/>
          </a:xfrm>
        </p:spPr>
        <p:txBody>
          <a:bodyPr lIns="92075" tIns="46038" rIns="92075" bIns="46038" anchor="ctr"/>
          <a:lstStyle/>
          <a:p>
            <a:pPr algn="r" eaLnBrk="1" hangingPunct="1"/>
            <a:fld id="{9A0DB2DC-4C9A-4742-B13C-FB6460FD3503}" type="slidenum">
              <a:rPr lang="en-US" altLang="zh-CN" sz="1400" dirty="0"/>
              <a:t>68</a:t>
            </a:fld>
            <a:endParaRPr lang="en-US" altLang="zh-CN" sz="1400" dirty="0"/>
          </a:p>
        </p:txBody>
      </p:sp>
      <p:sp>
        <p:nvSpPr>
          <p:cNvPr id="77826" name="Rectangle 2"/>
          <p:cNvSpPr>
            <a:spLocks noGrp="1"/>
          </p:cNvSpPr>
          <p:nvPr>
            <p:ph idx="1"/>
          </p:nvPr>
        </p:nvSpPr>
        <p:spPr>
          <a:xfrm>
            <a:off x="194944" y="3998597"/>
            <a:ext cx="2209800" cy="2382732"/>
          </a:xfrm>
        </p:spPr>
        <p:txBody>
          <a:bodyPr vert="horz" wrap="square" lIns="91440" tIns="45720" rIns="91440" bIns="45720" anchor="t"/>
          <a:lstStyle/>
          <a:p>
            <a:pPr eaLnBrk="1" hangingPunct="1"/>
            <a:r>
              <a:rPr lang="zh-CN" altLang="en-US" sz="2800" b="1" dirty="0">
                <a:solidFill>
                  <a:schemeClr val="folHlink"/>
                </a:solidFill>
                <a:ea typeface="华文中宋" panose="02010600040101010101" pitchFamily="2" charset="-122"/>
                <a:sym typeface="Symbol" panose="05050102010706020507" pitchFamily="18" charset="2"/>
              </a:rPr>
              <a:t>由于二次相析出温度较低，</a:t>
            </a:r>
            <a:r>
              <a:rPr kumimoji="0" lang="zh-CN" altLang="en-US" sz="2800" b="1" kern="1200" dirty="0">
                <a:latin typeface="Times New Roman" panose="02020603050405020304" pitchFamily="18" charset="0"/>
                <a:ea typeface="华文中宋" panose="02010600040101010101" pitchFamily="2" charset="-122"/>
                <a:cs typeface="+mn-ea"/>
                <a:sym typeface="Symbol" panose="05050102010706020507" pitchFamily="18" charset="2"/>
              </a:rPr>
              <a:t>一般</a:t>
            </a:r>
            <a:r>
              <a:rPr lang="zh-CN" altLang="en-US" sz="2800" b="1" dirty="0">
                <a:solidFill>
                  <a:schemeClr val="folHlink"/>
                </a:solidFill>
                <a:ea typeface="华文中宋" panose="02010600040101010101" pitchFamily="2" charset="-122"/>
                <a:sym typeface="Symbol" panose="05050102010706020507" pitchFamily="18" charset="2"/>
              </a:rPr>
              <a:t>十分细小。</a:t>
            </a:r>
          </a:p>
        </p:txBody>
      </p:sp>
      <p:graphicFrame>
        <p:nvGraphicFramePr>
          <p:cNvPr id="77828" name="Object 4"/>
          <p:cNvGraphicFramePr/>
          <p:nvPr/>
        </p:nvGraphicFramePr>
        <p:xfrm>
          <a:off x="6032183" y="2898070"/>
          <a:ext cx="2684462" cy="887412"/>
        </p:xfrm>
        <a:graphic>
          <a:graphicData uri="http://schemas.openxmlformats.org/presentationml/2006/ole">
            <mc:AlternateContent xmlns:mc="http://schemas.openxmlformats.org/markup-compatibility/2006">
              <mc:Choice xmlns:v="urn:schemas-microsoft-com:vml" Requires="v">
                <p:oleObj r:id="rId3" imgW="1193165" imgH="393700" progId="Equation.3">
                  <p:embed/>
                </p:oleObj>
              </mc:Choice>
              <mc:Fallback>
                <p:oleObj r:id="rId3" imgW="1193165" imgH="393700" progId="Equation.3">
                  <p:embed/>
                  <p:pic>
                    <p:nvPicPr>
                      <p:cNvPr id="0" name="Object 4"/>
                      <p:cNvPicPr/>
                      <p:nvPr/>
                    </p:nvPicPr>
                    <p:blipFill>
                      <a:blip r:embed="rId4">
                        <a:clrChange>
                          <a:clrFrom>
                            <a:srgbClr val="000000"/>
                          </a:clrFrom>
                          <a:clrTo>
                            <a:srgbClr val="FFFF00"/>
                          </a:clrTo>
                        </a:clrChange>
                      </a:blip>
                      <a:stretch>
                        <a:fillRect/>
                      </a:stretch>
                    </p:blipFill>
                    <p:spPr>
                      <a:xfrm>
                        <a:off x="6032183" y="2898070"/>
                        <a:ext cx="2684462" cy="887412"/>
                      </a:xfrm>
                      <a:prstGeom prst="rect">
                        <a:avLst/>
                      </a:prstGeom>
                      <a:solidFill>
                        <a:schemeClr val="tx1">
                          <a:lumMod val="50000"/>
                          <a:lumOff val="50000"/>
                        </a:schemeClr>
                      </a:solidFill>
                      <a:ln w="38100">
                        <a:noFill/>
                        <a:miter/>
                      </a:ln>
                    </p:spPr>
                  </p:pic>
                </p:oleObj>
              </mc:Fallback>
            </mc:AlternateContent>
          </a:graphicData>
        </a:graphic>
      </p:graphicFrame>
      <p:sp>
        <p:nvSpPr>
          <p:cNvPr id="77830" name="Rectangle 6"/>
          <p:cNvSpPr/>
          <p:nvPr/>
        </p:nvSpPr>
        <p:spPr>
          <a:xfrm>
            <a:off x="741680" y="1772920"/>
            <a:ext cx="8288020" cy="1086485"/>
          </a:xfrm>
          <a:prstGeom prst="rect">
            <a:avLst/>
          </a:prstGeom>
          <a:noFill/>
          <a:ln w="9525">
            <a:noFill/>
          </a:ln>
        </p:spPr>
        <p:txBody>
          <a:bodyPr/>
          <a:lstStyle/>
          <a:p>
            <a:pPr marL="342900" lvl="0" indent="-342900" eaLnBrk="1" hangingPunct="1">
              <a:spcBef>
                <a:spcPct val="20000"/>
              </a:spcBef>
              <a:buClr>
                <a:schemeClr val="accent2"/>
              </a:buClr>
              <a:buSzPct val="80000"/>
              <a:buFont typeface="Wingdings" panose="05000000000000000000" pitchFamily="2" charset="2"/>
              <a:buChar char="l"/>
            </a:pPr>
            <a:r>
              <a:rPr lang="zh-CN" altLang="en-US" sz="2800" b="1" dirty="0">
                <a:latin typeface="Times New Roman" panose="02020603050405020304" pitchFamily="18" charset="0"/>
                <a:ea typeface="华文中宋" panose="02010600040101010101" pitchFamily="2" charset="-122"/>
                <a:sym typeface="Symbol" panose="05050102010706020507" pitchFamily="18" charset="2"/>
              </a:rPr>
              <a:t>由 析出的</a:t>
            </a:r>
            <a:r>
              <a:rPr lang="en-US" altLang="zh-CN" sz="2800" b="1" dirty="0">
                <a:solidFill>
                  <a:srgbClr val="0000FF"/>
                </a:solidFill>
                <a:latin typeface="Times New Roman" panose="02020603050405020304" pitchFamily="18" charset="0"/>
                <a:ea typeface="华文中宋" panose="02010600040101010101" pitchFamily="2" charset="-122"/>
                <a:sym typeface="Symbol" panose="05050102010706020507" pitchFamily="18" charset="2"/>
              </a:rPr>
              <a:t>二次</a:t>
            </a:r>
            <a:r>
              <a:rPr lang="zh-CN" altLang="en-US" sz="2800" b="1" dirty="0">
                <a:latin typeface="Times New Roman" panose="02020603050405020304" pitchFamily="18" charset="0"/>
                <a:ea typeface="华文中宋" panose="02010600040101010101" pitchFamily="2" charset="-122"/>
                <a:sym typeface="Symbol" panose="05050102010706020507" pitchFamily="18" charset="2"/>
              </a:rPr>
              <a:t> 用</a:t>
            </a:r>
            <a:r>
              <a:rPr lang="zh-CN" altLang="en-US" sz="2800" b="1" i="1" dirty="0">
                <a:solidFill>
                  <a:srgbClr val="0000FF"/>
                </a:solidFill>
                <a:latin typeface="Times New Roman" panose="02020603050405020304" pitchFamily="18" charset="0"/>
                <a:ea typeface="华文中宋" panose="02010600040101010101" pitchFamily="2" charset="-122"/>
                <a:sym typeface="Symbol" panose="05050102010706020507" pitchFamily="18" charset="2"/>
              </a:rPr>
              <a:t></a:t>
            </a:r>
            <a:r>
              <a:rPr lang="en-US" altLang="zh-CN" sz="2800" b="1" baseline="-25000" dirty="0">
                <a:solidFill>
                  <a:srgbClr val="0000FF"/>
                </a:solidFill>
                <a:latin typeface="Times New Roman" panose="02020603050405020304" pitchFamily="18" charset="0"/>
                <a:ea typeface="华文中宋" panose="02010600040101010101" pitchFamily="2" charset="-122"/>
                <a:sym typeface="Symbol" panose="05050102010706020507" pitchFamily="18" charset="2"/>
              </a:rPr>
              <a:t>Ⅱ</a:t>
            </a:r>
            <a:r>
              <a:rPr lang="en-US" altLang="zh-CN" sz="2800" b="1" dirty="0">
                <a:latin typeface="Times New Roman" panose="02020603050405020304" pitchFamily="18" charset="0"/>
                <a:ea typeface="华文中宋" panose="02010600040101010101" pitchFamily="2" charset="-122"/>
                <a:sym typeface="Symbol" panose="05050102010706020507" pitchFamily="18" charset="2"/>
              </a:rPr>
              <a:t> </a:t>
            </a:r>
            <a:r>
              <a:rPr lang="zh-CN" altLang="en-US" sz="2800" b="1" dirty="0">
                <a:latin typeface="Times New Roman" panose="02020603050405020304" pitchFamily="18" charset="0"/>
                <a:ea typeface="华文中宋" panose="02010600040101010101" pitchFamily="2" charset="-122"/>
                <a:sym typeface="Symbol" panose="05050102010706020507" pitchFamily="18" charset="2"/>
              </a:rPr>
              <a:t>表示。</a:t>
            </a:r>
          </a:p>
          <a:p>
            <a:pPr marL="342900" lvl="0" indent="-342900" eaLnBrk="1" hangingPunct="1">
              <a:lnSpc>
                <a:spcPct val="110000"/>
              </a:lnSpc>
              <a:spcBef>
                <a:spcPct val="20000"/>
              </a:spcBef>
              <a:buClr>
                <a:schemeClr val="accent2"/>
              </a:buClr>
              <a:buSzPct val="80000"/>
              <a:buFont typeface="Wingdings" panose="05000000000000000000" pitchFamily="2" charset="2"/>
              <a:buChar char="l"/>
            </a:pPr>
            <a:r>
              <a:rPr lang="zh-CN" altLang="en-US" sz="2800" b="1" dirty="0">
                <a:latin typeface="Times New Roman" panose="02020603050405020304" pitchFamily="18" charset="0"/>
                <a:ea typeface="华文中宋" panose="02010600040101010101" pitchFamily="2" charset="-122"/>
                <a:sym typeface="Symbol" panose="05050102010706020507" pitchFamily="18" charset="2"/>
              </a:rPr>
              <a:t>随温度下降，</a:t>
            </a:r>
            <a:r>
              <a:rPr lang="zh-CN" altLang="en-US" sz="2800" b="1" i="1" dirty="0">
                <a:latin typeface="Times New Roman" panose="02020603050405020304" pitchFamily="18" charset="0"/>
                <a:ea typeface="华文中宋" panose="02010600040101010101" pitchFamily="2" charset="-122"/>
                <a:sym typeface="Symbol" panose="05050102010706020507" pitchFamily="18" charset="2"/>
              </a:rPr>
              <a:t> </a:t>
            </a:r>
            <a:r>
              <a:rPr lang="zh-CN" altLang="en-US" sz="2800" b="1" dirty="0">
                <a:latin typeface="Times New Roman" panose="02020603050405020304" pitchFamily="18" charset="0"/>
                <a:ea typeface="华文中宋" panose="02010600040101010101" pitchFamily="2" charset="-122"/>
                <a:sym typeface="Symbol" panose="05050102010706020507" pitchFamily="18" charset="2"/>
              </a:rPr>
              <a:t>和</a:t>
            </a:r>
            <a:r>
              <a:rPr lang="zh-CN" altLang="en-US" sz="2800" b="1" i="1" dirty="0">
                <a:latin typeface="Times New Roman" panose="02020603050405020304" pitchFamily="18" charset="0"/>
                <a:ea typeface="华文中宋" panose="02010600040101010101" pitchFamily="2" charset="-122"/>
                <a:sym typeface="Symbol" panose="05050102010706020507" pitchFamily="18" charset="2"/>
              </a:rPr>
              <a:t> </a:t>
            </a:r>
            <a:r>
              <a:rPr lang="zh-CN" altLang="en-US" sz="2800" b="1" dirty="0">
                <a:latin typeface="Times New Roman" panose="02020603050405020304" pitchFamily="18" charset="0"/>
                <a:ea typeface="华文中宋" panose="02010600040101010101" pitchFamily="2" charset="-122"/>
                <a:sym typeface="Symbol" panose="05050102010706020507" pitchFamily="18" charset="2"/>
              </a:rPr>
              <a:t>相的成分分别沿</a:t>
            </a:r>
            <a:r>
              <a:rPr lang="en-US" altLang="zh-CN" sz="2800" b="1" dirty="0">
                <a:solidFill>
                  <a:srgbClr val="0000FF"/>
                </a:solidFill>
                <a:latin typeface="Times New Roman" panose="02020603050405020304" pitchFamily="18" charset="0"/>
                <a:ea typeface="华文中宋" panose="02010600040101010101" pitchFamily="2" charset="-122"/>
                <a:sym typeface="Symbol" panose="05050102010706020507" pitchFamily="18" charset="2"/>
              </a:rPr>
              <a:t>CF</a:t>
            </a:r>
            <a:r>
              <a:rPr lang="zh-CN" altLang="en-US" sz="2800" b="1" dirty="0">
                <a:latin typeface="Times New Roman" panose="02020603050405020304" pitchFamily="18" charset="0"/>
                <a:ea typeface="华文中宋" panose="02010600040101010101" pitchFamily="2" charset="-122"/>
                <a:sym typeface="Symbol" panose="05050102010706020507" pitchFamily="18" charset="2"/>
              </a:rPr>
              <a:t>线和</a:t>
            </a:r>
            <a:r>
              <a:rPr lang="en-US" altLang="zh-CN" sz="2800" b="1" dirty="0">
                <a:solidFill>
                  <a:srgbClr val="0000FF"/>
                </a:solidFill>
                <a:latin typeface="Times New Roman" panose="02020603050405020304" pitchFamily="18" charset="0"/>
                <a:ea typeface="华文中宋" panose="02010600040101010101" pitchFamily="2" charset="-122"/>
                <a:sym typeface="Symbol" panose="05050102010706020507" pitchFamily="18" charset="2"/>
              </a:rPr>
              <a:t>DG</a:t>
            </a:r>
            <a:r>
              <a:rPr lang="zh-CN" altLang="en-US" sz="2800" b="1" dirty="0">
                <a:latin typeface="Times New Roman" panose="02020603050405020304" pitchFamily="18" charset="0"/>
                <a:ea typeface="华文中宋" panose="02010600040101010101" pitchFamily="2" charset="-122"/>
                <a:sym typeface="Symbol" panose="05050102010706020507" pitchFamily="18" charset="2"/>
              </a:rPr>
              <a:t>线变化， </a:t>
            </a:r>
            <a:r>
              <a:rPr lang="zh-CN" altLang="en-US" sz="2800" b="1" i="1" dirty="0">
                <a:latin typeface="Times New Roman" panose="02020603050405020304" pitchFamily="18" charset="0"/>
                <a:ea typeface="华文中宋" panose="02010600040101010101" pitchFamily="2" charset="-122"/>
                <a:sym typeface="Symbol" panose="05050102010706020507" pitchFamily="18" charset="2"/>
              </a:rPr>
              <a:t></a:t>
            </a:r>
            <a:r>
              <a:rPr lang="en-US" altLang="zh-CN" sz="2800" b="1" baseline="-25000" dirty="0">
                <a:latin typeface="Times New Roman" panose="02020603050405020304" pitchFamily="18" charset="0"/>
                <a:ea typeface="华文中宋" panose="02010600040101010101" pitchFamily="2" charset="-122"/>
                <a:sym typeface="Symbol" panose="05050102010706020507" pitchFamily="18" charset="2"/>
              </a:rPr>
              <a:t>Ⅱ</a:t>
            </a:r>
            <a:r>
              <a:rPr lang="zh-CN" altLang="en-US" sz="2800" b="1" dirty="0">
                <a:latin typeface="Times New Roman" panose="02020603050405020304" pitchFamily="18" charset="0"/>
                <a:ea typeface="华文中宋" panose="02010600040101010101" pitchFamily="2" charset="-122"/>
                <a:sym typeface="Symbol" panose="05050102010706020507" pitchFamily="18" charset="2"/>
              </a:rPr>
              <a:t>的质量增加。</a:t>
            </a:r>
          </a:p>
          <a:p>
            <a:pPr marL="342900" lvl="0" indent="-342900" eaLnBrk="1" hangingPunct="1">
              <a:lnSpc>
                <a:spcPct val="110000"/>
              </a:lnSpc>
              <a:spcBef>
                <a:spcPct val="20000"/>
              </a:spcBef>
              <a:buClr>
                <a:schemeClr val="accent2"/>
              </a:buClr>
              <a:buSzPct val="80000"/>
              <a:buFont typeface="Wingdings" panose="05000000000000000000" pitchFamily="2" charset="2"/>
              <a:buChar char="l"/>
            </a:pPr>
            <a:r>
              <a:rPr lang="zh-CN" altLang="en-US" sz="2800" b="1" dirty="0">
                <a:latin typeface="Times New Roman" panose="02020603050405020304" pitchFamily="18" charset="0"/>
                <a:ea typeface="华文中宋" panose="02010600040101010101" pitchFamily="2" charset="-122"/>
                <a:sym typeface="Symbol" panose="05050102010706020507" pitchFamily="18" charset="2"/>
              </a:rPr>
              <a:t>室温下</a:t>
            </a:r>
            <a:r>
              <a:rPr lang="zh-CN" altLang="en-US" sz="2800" b="1" i="1" dirty="0">
                <a:latin typeface="Times New Roman" panose="02020603050405020304" pitchFamily="18" charset="0"/>
                <a:ea typeface="华文中宋" panose="02010600040101010101" pitchFamily="2" charset="-122"/>
                <a:sym typeface="Symbol" panose="05050102010706020507" pitchFamily="18" charset="2"/>
              </a:rPr>
              <a:t></a:t>
            </a:r>
            <a:r>
              <a:rPr lang="en-US" altLang="zh-CN" sz="2800" b="1" baseline="-25000" dirty="0">
                <a:latin typeface="Times New Roman" panose="02020603050405020304" pitchFamily="18" charset="0"/>
                <a:ea typeface="华文中宋" panose="02010600040101010101" pitchFamily="2" charset="-122"/>
                <a:sym typeface="Symbol" panose="05050102010706020507" pitchFamily="18" charset="2"/>
              </a:rPr>
              <a:t>Ⅱ</a:t>
            </a:r>
            <a:r>
              <a:rPr lang="zh-CN" altLang="en-US" sz="2800" b="1" dirty="0">
                <a:latin typeface="Times New Roman" panose="02020603050405020304" pitchFamily="18" charset="0"/>
                <a:ea typeface="华文中宋" panose="02010600040101010101" pitchFamily="2" charset="-122"/>
                <a:sym typeface="Symbol" panose="05050102010706020507" pitchFamily="18" charset="2"/>
              </a:rPr>
              <a:t>的相对质量百分比为：</a:t>
            </a:r>
          </a:p>
        </p:txBody>
      </p:sp>
      <p:grpSp>
        <p:nvGrpSpPr>
          <p:cNvPr id="3" name="Group 7"/>
          <p:cNvGrpSpPr/>
          <p:nvPr/>
        </p:nvGrpSpPr>
        <p:grpSpPr>
          <a:xfrm>
            <a:off x="2638703" y="4056855"/>
            <a:ext cx="6077942" cy="2636839"/>
            <a:chOff x="3216" y="2448"/>
            <a:chExt cx="2334" cy="1586"/>
          </a:xfrm>
        </p:grpSpPr>
        <p:pic>
          <p:nvPicPr>
            <p:cNvPr id="4114" name="Picture 8" descr="Pb-SnⅠ合金结晶1"/>
            <p:cNvPicPr>
              <a:picLocks noChangeAspect="1"/>
            </p:cNvPicPr>
            <p:nvPr/>
          </p:nvPicPr>
          <p:blipFill>
            <a:blip r:embed="rId5"/>
            <a:stretch>
              <a:fillRect/>
            </a:stretch>
          </p:blipFill>
          <p:spPr>
            <a:xfrm>
              <a:off x="3216" y="2448"/>
              <a:ext cx="2334" cy="1586"/>
            </a:xfrm>
            <a:prstGeom prst="rect">
              <a:avLst/>
            </a:prstGeom>
            <a:noFill/>
            <a:ln w="38100" cap="flat" cmpd="sng">
              <a:solidFill>
                <a:srgbClr val="FF9900"/>
              </a:solidFill>
              <a:prstDash val="solid"/>
              <a:miter/>
              <a:headEnd type="none" w="med" len="med"/>
              <a:tailEnd type="none" w="med" len="med"/>
            </a:ln>
          </p:spPr>
        </p:pic>
        <p:sp>
          <p:nvSpPr>
            <p:cNvPr id="4115" name="Line 9"/>
            <p:cNvSpPr/>
            <p:nvPr/>
          </p:nvSpPr>
          <p:spPr>
            <a:xfrm>
              <a:off x="4320" y="3360"/>
              <a:ext cx="1080" cy="0"/>
            </a:xfrm>
            <a:prstGeom prst="line">
              <a:avLst/>
            </a:prstGeom>
            <a:ln w="38100" cap="flat" cmpd="sng">
              <a:solidFill>
                <a:schemeClr val="hlink"/>
              </a:solidFill>
              <a:prstDash val="sysDot"/>
              <a:miter/>
              <a:headEnd type="none" w="med" len="med"/>
              <a:tailEnd type="none" w="med" len="med"/>
            </a:ln>
          </p:spPr>
        </p:sp>
      </p:grpSp>
      <p:sp>
        <p:nvSpPr>
          <p:cNvPr id="77835" name="Freeform 11"/>
          <p:cNvSpPr/>
          <p:nvPr/>
        </p:nvSpPr>
        <p:spPr>
          <a:xfrm>
            <a:off x="5200651" y="5535213"/>
            <a:ext cx="304800" cy="685800"/>
          </a:xfrm>
          <a:custGeom>
            <a:avLst/>
            <a:gdLst>
              <a:gd name="txL" fmla="*/ 0 w 240"/>
              <a:gd name="txT" fmla="*/ 0 h 576"/>
              <a:gd name="txR" fmla="*/ 240 w 240"/>
              <a:gd name="txB" fmla="*/ 576 h 576"/>
            </a:gdLst>
            <a:ahLst/>
            <a:cxnLst>
              <a:cxn ang="0">
                <a:pos x="2147483647" y="0"/>
              </a:cxn>
              <a:cxn ang="0">
                <a:pos x="2147483647" y="2147483647"/>
              </a:cxn>
              <a:cxn ang="0">
                <a:pos x="0" y="2147483647"/>
              </a:cxn>
            </a:cxnLst>
            <a:rect l="txL" t="txT" r="txR" b="txB"/>
            <a:pathLst>
              <a:path w="240" h="576">
                <a:moveTo>
                  <a:pt x="240" y="0"/>
                </a:moveTo>
                <a:cubicBezTo>
                  <a:pt x="212" y="48"/>
                  <a:pt x="184" y="96"/>
                  <a:pt x="144" y="192"/>
                </a:cubicBezTo>
                <a:cubicBezTo>
                  <a:pt x="104" y="288"/>
                  <a:pt x="52" y="432"/>
                  <a:pt x="0" y="576"/>
                </a:cubicBezTo>
              </a:path>
            </a:pathLst>
          </a:custGeom>
          <a:noFill/>
          <a:ln w="28575" cap="flat" cmpd="sng">
            <a:solidFill>
              <a:schemeClr val="hlink">
                <a:alpha val="100000"/>
              </a:schemeClr>
            </a:solidFill>
            <a:prstDash val="solid"/>
            <a:round/>
            <a:headEnd type="none" w="med" len="med"/>
            <a:tailEnd type="stealth" w="med" len="med"/>
          </a:ln>
        </p:spPr>
        <p:txBody>
          <a:bodyPr/>
          <a:lstStyle/>
          <a:p>
            <a:endParaRPr lang="zh-CN" altLang="en-US"/>
          </a:p>
        </p:txBody>
      </p:sp>
      <p:sp>
        <p:nvSpPr>
          <p:cNvPr id="77836" name="Line 12"/>
          <p:cNvSpPr/>
          <p:nvPr/>
        </p:nvSpPr>
        <p:spPr>
          <a:xfrm>
            <a:off x="8346611" y="5426466"/>
            <a:ext cx="95250" cy="647700"/>
          </a:xfrm>
          <a:prstGeom prst="line">
            <a:avLst/>
          </a:prstGeom>
          <a:ln w="28575" cap="flat" cmpd="sng">
            <a:solidFill>
              <a:schemeClr val="hlink"/>
            </a:solidFill>
            <a:prstDash val="solid"/>
            <a:headEnd type="none" w="med" len="med"/>
            <a:tailEnd type="stealth" w="med" len="med"/>
          </a:ln>
        </p:spPr>
      </p:sp>
      <p:sp>
        <p:nvSpPr>
          <p:cNvPr id="77837" name="Line 13"/>
          <p:cNvSpPr/>
          <p:nvPr/>
        </p:nvSpPr>
        <p:spPr>
          <a:xfrm flipV="1">
            <a:off x="5229225" y="6211887"/>
            <a:ext cx="3286125" cy="56353"/>
          </a:xfrm>
          <a:prstGeom prst="line">
            <a:avLst/>
          </a:prstGeom>
          <a:ln w="76200" cap="flat" cmpd="sng">
            <a:solidFill>
              <a:schemeClr val="hlink"/>
            </a:solidFill>
            <a:prstDash val="solid"/>
            <a:headEnd type="none" w="med" len="med"/>
            <a:tailEnd type="none" w="med" len="med"/>
          </a:ln>
        </p:spPr>
      </p:sp>
      <p:sp>
        <p:nvSpPr>
          <p:cNvPr id="77838" name="Line 14"/>
          <p:cNvSpPr/>
          <p:nvPr/>
        </p:nvSpPr>
        <p:spPr>
          <a:xfrm>
            <a:off x="5229225" y="6268240"/>
            <a:ext cx="304800" cy="0"/>
          </a:xfrm>
          <a:prstGeom prst="line">
            <a:avLst/>
          </a:prstGeom>
          <a:ln w="76200" cap="flat" cmpd="sng">
            <a:solidFill>
              <a:srgbClr val="00CC00"/>
            </a:solidFill>
            <a:prstDash val="solid"/>
            <a:headEnd type="none" w="med" len="med"/>
            <a:tailEnd type="none" w="med" len="med"/>
          </a:ln>
        </p:spPr>
      </p:sp>
      <p:sp>
        <p:nvSpPr>
          <p:cNvPr id="77839" name="AutoShape 15"/>
          <p:cNvSpPr/>
          <p:nvPr/>
        </p:nvSpPr>
        <p:spPr>
          <a:xfrm>
            <a:off x="5476875" y="6277566"/>
            <a:ext cx="152400" cy="304800"/>
          </a:xfrm>
          <a:prstGeom prst="triangle">
            <a:avLst>
              <a:gd name="adj" fmla="val 50000"/>
            </a:avLst>
          </a:prstGeom>
          <a:solidFill>
            <a:schemeClr val="hlink"/>
          </a:solidFill>
          <a:ln w="9525" cap="flat" cmpd="sng">
            <a:solidFill>
              <a:schemeClr val="hlink"/>
            </a:solidFill>
            <a:prstDash val="solid"/>
            <a:miter/>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77840" name="Line 16"/>
          <p:cNvSpPr/>
          <p:nvPr/>
        </p:nvSpPr>
        <p:spPr>
          <a:xfrm>
            <a:off x="5223641" y="6367463"/>
            <a:ext cx="5583" cy="227011"/>
          </a:xfrm>
          <a:prstGeom prst="line">
            <a:avLst/>
          </a:prstGeom>
          <a:ln w="9525" cap="flat" cmpd="sng">
            <a:solidFill>
              <a:schemeClr val="hlink"/>
            </a:solidFill>
            <a:prstDash val="solid"/>
            <a:headEnd type="none" w="med" len="med"/>
            <a:tailEnd type="triangle" w="med" len="med"/>
          </a:ln>
        </p:spPr>
      </p:sp>
      <p:sp>
        <p:nvSpPr>
          <p:cNvPr id="77841" name="Line 17"/>
          <p:cNvSpPr/>
          <p:nvPr/>
        </p:nvSpPr>
        <p:spPr>
          <a:xfrm>
            <a:off x="8458200" y="6184260"/>
            <a:ext cx="0" cy="304800"/>
          </a:xfrm>
          <a:prstGeom prst="line">
            <a:avLst/>
          </a:prstGeom>
          <a:ln w="9525" cap="flat" cmpd="sng">
            <a:solidFill>
              <a:schemeClr val="hlink"/>
            </a:solidFill>
            <a:prstDash val="solid"/>
            <a:headEnd type="none" w="med" len="med"/>
            <a:tailEnd type="triangle" w="med" len="med"/>
          </a:ln>
        </p:spPr>
      </p:sp>
      <p:graphicFrame>
        <p:nvGraphicFramePr>
          <p:cNvPr id="77843" name="Object 19"/>
          <p:cNvGraphicFramePr/>
          <p:nvPr/>
        </p:nvGraphicFramePr>
        <p:xfrm>
          <a:off x="8363317" y="6448827"/>
          <a:ext cx="463550" cy="382588"/>
        </p:xfrm>
        <a:graphic>
          <a:graphicData uri="http://schemas.openxmlformats.org/presentationml/2006/ole">
            <mc:AlternateContent xmlns:mc="http://schemas.openxmlformats.org/markup-compatibility/2006">
              <mc:Choice xmlns:v="urn:schemas-microsoft-com:vml" Requires="v">
                <p:oleObj r:id="rId6" imgW="292100" imgH="241300" progId="Equation.3">
                  <p:embed/>
                </p:oleObj>
              </mc:Choice>
              <mc:Fallback>
                <p:oleObj r:id="rId6" imgW="292100" imgH="241300" progId="Equation.3">
                  <p:embed/>
                  <p:pic>
                    <p:nvPicPr>
                      <p:cNvPr id="0" name="Object 19"/>
                      <p:cNvPicPr/>
                      <p:nvPr/>
                    </p:nvPicPr>
                    <p:blipFill>
                      <a:blip r:embed="rId7">
                        <a:clrChange>
                          <a:clrFrom>
                            <a:srgbClr val="000000"/>
                          </a:clrFrom>
                          <a:clrTo>
                            <a:srgbClr val="FF0033"/>
                          </a:clrTo>
                        </a:clrChange>
                      </a:blip>
                      <a:stretch>
                        <a:fillRect/>
                      </a:stretch>
                    </p:blipFill>
                    <p:spPr>
                      <a:xfrm>
                        <a:off x="8363317" y="6448827"/>
                        <a:ext cx="463550" cy="382588"/>
                      </a:xfrm>
                      <a:prstGeom prst="rect">
                        <a:avLst/>
                      </a:prstGeom>
                      <a:noFill/>
                      <a:ln w="38100">
                        <a:noFill/>
                        <a:miter/>
                      </a:ln>
                    </p:spPr>
                  </p:pic>
                </p:oleObj>
              </mc:Fallback>
            </mc:AlternateContent>
          </a:graphicData>
        </a:graphic>
      </p:graphicFrame>
      <p:graphicFrame>
        <p:nvGraphicFramePr>
          <p:cNvPr id="77844" name="Object 20"/>
          <p:cNvGraphicFramePr/>
          <p:nvPr/>
        </p:nvGraphicFramePr>
        <p:xfrm>
          <a:off x="5049520" y="6523228"/>
          <a:ext cx="352425" cy="373063"/>
        </p:xfrm>
        <a:graphic>
          <a:graphicData uri="http://schemas.openxmlformats.org/presentationml/2006/ole">
            <mc:AlternateContent xmlns:mc="http://schemas.openxmlformats.org/markup-compatibility/2006">
              <mc:Choice xmlns:v="urn:schemas-microsoft-com:vml" Requires="v">
                <p:oleObj r:id="rId8" imgW="215900" imgH="228600" progId="Equation.3">
                  <p:embed/>
                </p:oleObj>
              </mc:Choice>
              <mc:Fallback>
                <p:oleObj r:id="rId8" imgW="215900" imgH="228600" progId="Equation.3">
                  <p:embed/>
                  <p:pic>
                    <p:nvPicPr>
                      <p:cNvPr id="0" name="Object 20"/>
                      <p:cNvPicPr/>
                      <p:nvPr/>
                    </p:nvPicPr>
                    <p:blipFill>
                      <a:blip r:embed="rId9">
                        <a:clrChange>
                          <a:clrFrom>
                            <a:srgbClr val="000000"/>
                          </a:clrFrom>
                          <a:clrTo>
                            <a:srgbClr val="FF0033"/>
                          </a:clrTo>
                        </a:clrChange>
                      </a:blip>
                      <a:stretch>
                        <a:fillRect/>
                      </a:stretch>
                    </p:blipFill>
                    <p:spPr>
                      <a:xfrm>
                        <a:off x="5049520" y="6523228"/>
                        <a:ext cx="352425" cy="373063"/>
                      </a:xfrm>
                      <a:prstGeom prst="rect">
                        <a:avLst/>
                      </a:prstGeom>
                      <a:noFill/>
                      <a:ln w="38100">
                        <a:noFill/>
                        <a:miter/>
                      </a:ln>
                    </p:spPr>
                  </p:pic>
                </p:oleObj>
              </mc:Fallback>
            </mc:AlternateContent>
          </a:graphicData>
        </a:graphic>
      </p:graphicFrame>
      <p:pic>
        <p:nvPicPr>
          <p:cNvPr id="20" name="内容占位符 1" descr="新校徽（3M）弓之乐"/>
          <p:cNvPicPr>
            <a:picLocks noChangeAspect="1"/>
          </p:cNvPicPr>
          <p:nvPr/>
        </p:nvPicPr>
        <p:blipFill>
          <a:blip r:embed="rId10"/>
          <a:stretch>
            <a:fillRect/>
          </a:stretch>
        </p:blipFill>
        <p:spPr>
          <a:xfrm>
            <a:off x="0" y="0"/>
            <a:ext cx="746760" cy="735965"/>
          </a:xfrm>
          <a:prstGeom prst="rect">
            <a:avLst/>
          </a:prstGeom>
          <a:noFill/>
          <a:ln w="9525">
            <a:noFill/>
          </a:ln>
        </p:spPr>
      </p:pic>
      <p:sp>
        <p:nvSpPr>
          <p:cNvPr id="6" name="文本框 5"/>
          <p:cNvSpPr txBox="1"/>
          <p:nvPr/>
        </p:nvSpPr>
        <p:spPr>
          <a:xfrm>
            <a:off x="1979930" y="188595"/>
            <a:ext cx="6158230" cy="768350"/>
          </a:xfrm>
          <a:prstGeom prst="rect">
            <a:avLst/>
          </a:prstGeom>
          <a:noFill/>
        </p:spPr>
        <p:txBody>
          <a:bodyPr wrap="square" rtlCol="0" anchor="t">
            <a:spAutoFit/>
          </a:bodyPr>
          <a:lstStyle/>
          <a:p>
            <a:r>
              <a:rPr kumimoji="1" lang="en-US" altLang="zh-CN" sz="4400" b="1" kern="0" noProof="0" dirty="0">
                <a:ln>
                  <a:noFill/>
                </a:ln>
                <a:solidFill>
                  <a:srgbClr val="FF0000"/>
                </a:solidFill>
                <a:uLnTx/>
                <a:uFillTx/>
                <a:latin typeface="+mj-lt"/>
                <a:ea typeface="华文中宋" panose="02010600040101010101" pitchFamily="2" charset="-122"/>
                <a:cs typeface="+mj-cs"/>
                <a:sym typeface="+mn-ea"/>
              </a:rPr>
              <a:t>Ⅰ</a:t>
            </a:r>
            <a:r>
              <a:rPr kumimoji="1" lang="zh-CN" altLang="en-US" sz="4400" b="1" kern="0" noProof="0" dirty="0">
                <a:ln>
                  <a:noFill/>
                </a:ln>
                <a:solidFill>
                  <a:srgbClr val="FF0000"/>
                </a:solidFill>
                <a:uLnTx/>
                <a:uFillTx/>
                <a:latin typeface="+mj-lt"/>
                <a:ea typeface="华文中宋" panose="02010600040101010101" pitchFamily="2" charset="-122"/>
                <a:cs typeface="+mj-cs"/>
                <a:sym typeface="+mn-ea"/>
              </a:rPr>
              <a:t>合金的结晶过程（续）</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7830"/>
                                        </p:tgtEl>
                                        <p:attrNameLst>
                                          <p:attrName>style.visibility</p:attrName>
                                        </p:attrNameLst>
                                      </p:cBhvr>
                                      <p:to>
                                        <p:strVal val="visible"/>
                                      </p:to>
                                    </p:set>
                                    <p:animEffect transition="in" filter="wipe(left)">
                                      <p:cBhvr>
                                        <p:cTn id="7" dur="500"/>
                                        <p:tgtEl>
                                          <p:spTgt spid="7783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7826">
                                            <p:txEl>
                                              <p:pRg st="0" end="0"/>
                                            </p:txEl>
                                          </p:spTgt>
                                        </p:tgtEl>
                                        <p:attrNameLst>
                                          <p:attrName>style.visibility</p:attrName>
                                        </p:attrNameLst>
                                      </p:cBhvr>
                                      <p:to>
                                        <p:strVal val="visible"/>
                                      </p:to>
                                    </p:set>
                                    <p:animEffect transition="in" filter="wipe(left)">
                                      <p:cBhvr>
                                        <p:cTn id="11" dur="500"/>
                                        <p:tgtEl>
                                          <p:spTgt spid="77826">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77835"/>
                                        </p:tgtEl>
                                        <p:attrNameLst>
                                          <p:attrName>style.visibility</p:attrName>
                                        </p:attrNameLst>
                                      </p:cBhvr>
                                      <p:to>
                                        <p:strVal val="visible"/>
                                      </p:to>
                                    </p:set>
                                    <p:animEffect transition="in" filter="wipe(up)">
                                      <p:cBhvr>
                                        <p:cTn id="16" dur="500"/>
                                        <p:tgtEl>
                                          <p:spTgt spid="77835"/>
                                        </p:tgtEl>
                                      </p:cBhvr>
                                    </p:animEffect>
                                  </p:childTnLst>
                                </p:cTn>
                              </p:par>
                            </p:childTnLst>
                          </p:cTn>
                        </p:par>
                        <p:par>
                          <p:cTn id="17" fill="hold">
                            <p:stCondLst>
                              <p:cond delay="500"/>
                            </p:stCondLst>
                            <p:childTnLst>
                              <p:par>
                                <p:cTn id="18" presetID="22" presetClass="entr" presetSubtype="1" fill="hold" nodeType="afterEffect">
                                  <p:stCondLst>
                                    <p:cond delay="0"/>
                                  </p:stCondLst>
                                  <p:childTnLst>
                                    <p:set>
                                      <p:cBhvr>
                                        <p:cTn id="19" dur="1" fill="hold">
                                          <p:stCondLst>
                                            <p:cond delay="0"/>
                                          </p:stCondLst>
                                        </p:cTn>
                                        <p:tgtEl>
                                          <p:spTgt spid="77836"/>
                                        </p:tgtEl>
                                        <p:attrNameLst>
                                          <p:attrName>style.visibility</p:attrName>
                                        </p:attrNameLst>
                                      </p:cBhvr>
                                      <p:to>
                                        <p:strVal val="visible"/>
                                      </p:to>
                                    </p:set>
                                    <p:animEffect transition="in" filter="wipe(up)">
                                      <p:cBhvr>
                                        <p:cTn id="20" dur="500"/>
                                        <p:tgtEl>
                                          <p:spTgt spid="7783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77837"/>
                                        </p:tgtEl>
                                        <p:attrNameLst>
                                          <p:attrName>style.visibility</p:attrName>
                                        </p:attrNameLst>
                                      </p:cBhvr>
                                      <p:to>
                                        <p:strVal val="visible"/>
                                      </p:to>
                                    </p:set>
                                    <p:animEffect transition="in" filter="wipe(left)">
                                      <p:cBhvr>
                                        <p:cTn id="25" dur="500"/>
                                        <p:tgtEl>
                                          <p:spTgt spid="77837"/>
                                        </p:tgtEl>
                                      </p:cBhvr>
                                    </p:animEffect>
                                  </p:childTnLst>
                                </p:cTn>
                              </p:par>
                            </p:childTnLst>
                          </p:cTn>
                        </p:par>
                        <p:par>
                          <p:cTn id="26" fill="hold">
                            <p:stCondLst>
                              <p:cond delay="500"/>
                            </p:stCondLst>
                            <p:childTnLst>
                              <p:par>
                                <p:cTn id="27" presetID="22" presetClass="entr" presetSubtype="1" fill="hold" grpId="0" nodeType="afterEffect">
                                  <p:stCondLst>
                                    <p:cond delay="0"/>
                                  </p:stCondLst>
                                  <p:childTnLst>
                                    <p:set>
                                      <p:cBhvr>
                                        <p:cTn id="28" dur="1" fill="hold">
                                          <p:stCondLst>
                                            <p:cond delay="0"/>
                                          </p:stCondLst>
                                        </p:cTn>
                                        <p:tgtEl>
                                          <p:spTgt spid="77839"/>
                                        </p:tgtEl>
                                        <p:attrNameLst>
                                          <p:attrName>style.visibility</p:attrName>
                                        </p:attrNameLst>
                                      </p:cBhvr>
                                      <p:to>
                                        <p:strVal val="visible"/>
                                      </p:to>
                                    </p:set>
                                    <p:animEffect transition="in" filter="wipe(up)">
                                      <p:cBhvr>
                                        <p:cTn id="29" dur="500"/>
                                        <p:tgtEl>
                                          <p:spTgt spid="77839"/>
                                        </p:tgtEl>
                                      </p:cBhvr>
                                    </p:animEffect>
                                  </p:childTnLst>
                                </p:cTn>
                              </p:par>
                            </p:childTnLst>
                          </p:cTn>
                        </p:par>
                        <p:par>
                          <p:cTn id="30" fill="hold">
                            <p:stCondLst>
                              <p:cond delay="1000"/>
                            </p:stCondLst>
                            <p:childTnLst>
                              <p:par>
                                <p:cTn id="31" presetID="22" presetClass="entr" presetSubtype="1" fill="hold" nodeType="afterEffect">
                                  <p:stCondLst>
                                    <p:cond delay="0"/>
                                  </p:stCondLst>
                                  <p:childTnLst>
                                    <p:set>
                                      <p:cBhvr>
                                        <p:cTn id="32" dur="1" fill="hold">
                                          <p:stCondLst>
                                            <p:cond delay="0"/>
                                          </p:stCondLst>
                                        </p:cTn>
                                        <p:tgtEl>
                                          <p:spTgt spid="77840"/>
                                        </p:tgtEl>
                                        <p:attrNameLst>
                                          <p:attrName>style.visibility</p:attrName>
                                        </p:attrNameLst>
                                      </p:cBhvr>
                                      <p:to>
                                        <p:strVal val="visible"/>
                                      </p:to>
                                    </p:set>
                                    <p:animEffect transition="in" filter="wipe(up)">
                                      <p:cBhvr>
                                        <p:cTn id="33" dur="500"/>
                                        <p:tgtEl>
                                          <p:spTgt spid="77840"/>
                                        </p:tgtEl>
                                      </p:cBhvr>
                                    </p:animEffect>
                                  </p:childTnLst>
                                </p:cTn>
                              </p:par>
                            </p:childTnLst>
                          </p:cTn>
                        </p:par>
                        <p:par>
                          <p:cTn id="34" fill="hold">
                            <p:stCondLst>
                              <p:cond delay="1500"/>
                            </p:stCondLst>
                            <p:childTnLst>
                              <p:par>
                                <p:cTn id="35" presetID="1" presetClass="entr" presetSubtype="0" fill="hold" nodeType="afterEffect">
                                  <p:stCondLst>
                                    <p:cond delay="0"/>
                                  </p:stCondLst>
                                  <p:childTnLst>
                                    <p:set>
                                      <p:cBhvr>
                                        <p:cTn id="36" dur="1" fill="hold">
                                          <p:stCondLst>
                                            <p:cond delay="499"/>
                                          </p:stCondLst>
                                        </p:cTn>
                                        <p:tgtEl>
                                          <p:spTgt spid="77844"/>
                                        </p:tgtEl>
                                        <p:attrNameLst>
                                          <p:attrName>style.visibility</p:attrName>
                                        </p:attrNameLst>
                                      </p:cBhvr>
                                      <p:to>
                                        <p:strVal val="visible"/>
                                      </p:to>
                                    </p:set>
                                  </p:childTnLst>
                                </p:cTn>
                              </p:par>
                            </p:childTnLst>
                          </p:cTn>
                        </p:par>
                        <p:par>
                          <p:cTn id="37" fill="hold">
                            <p:stCondLst>
                              <p:cond delay="2000"/>
                            </p:stCondLst>
                            <p:childTnLst>
                              <p:par>
                                <p:cTn id="38" presetID="22" presetClass="entr" presetSubtype="1" fill="hold" nodeType="afterEffect">
                                  <p:stCondLst>
                                    <p:cond delay="0"/>
                                  </p:stCondLst>
                                  <p:childTnLst>
                                    <p:set>
                                      <p:cBhvr>
                                        <p:cTn id="39" dur="1" fill="hold">
                                          <p:stCondLst>
                                            <p:cond delay="0"/>
                                          </p:stCondLst>
                                        </p:cTn>
                                        <p:tgtEl>
                                          <p:spTgt spid="77841"/>
                                        </p:tgtEl>
                                        <p:attrNameLst>
                                          <p:attrName>style.visibility</p:attrName>
                                        </p:attrNameLst>
                                      </p:cBhvr>
                                      <p:to>
                                        <p:strVal val="visible"/>
                                      </p:to>
                                    </p:set>
                                    <p:animEffect transition="in" filter="wipe(up)">
                                      <p:cBhvr>
                                        <p:cTn id="40" dur="500"/>
                                        <p:tgtEl>
                                          <p:spTgt spid="77841"/>
                                        </p:tgtEl>
                                      </p:cBhvr>
                                    </p:animEffect>
                                  </p:childTnLst>
                                </p:cTn>
                              </p:par>
                            </p:childTnLst>
                          </p:cTn>
                        </p:par>
                        <p:par>
                          <p:cTn id="41" fill="hold">
                            <p:stCondLst>
                              <p:cond delay="2500"/>
                            </p:stCondLst>
                            <p:childTnLst>
                              <p:par>
                                <p:cTn id="42" presetID="1" presetClass="entr" presetSubtype="0" fill="hold" nodeType="afterEffect">
                                  <p:stCondLst>
                                    <p:cond delay="0"/>
                                  </p:stCondLst>
                                  <p:childTnLst>
                                    <p:set>
                                      <p:cBhvr>
                                        <p:cTn id="43" dur="1" fill="hold">
                                          <p:stCondLst>
                                            <p:cond delay="499"/>
                                          </p:stCondLst>
                                        </p:cTn>
                                        <p:tgtEl>
                                          <p:spTgt spid="77843"/>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77838"/>
                                        </p:tgtEl>
                                        <p:attrNameLst>
                                          <p:attrName>style.visibility</p:attrName>
                                        </p:attrNameLst>
                                      </p:cBhvr>
                                      <p:to>
                                        <p:strVal val="visible"/>
                                      </p:to>
                                    </p:set>
                                    <p:animEffect transition="in" filter="wipe(left)">
                                      <p:cBhvr>
                                        <p:cTn id="48" dur="500"/>
                                        <p:tgtEl>
                                          <p:spTgt spid="77838"/>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77828"/>
                                        </p:tgtEl>
                                        <p:attrNameLst>
                                          <p:attrName>style.visibility</p:attrName>
                                        </p:attrNameLst>
                                      </p:cBhvr>
                                      <p:to>
                                        <p:strVal val="visible"/>
                                      </p:to>
                                    </p:set>
                                    <p:animEffect transition="in" filter="wipe(left)">
                                      <p:cBhvr>
                                        <p:cTn id="53" dur="500"/>
                                        <p:tgtEl>
                                          <p:spTgt spid="778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6" grpId="0" build="p" advAuto="1000"/>
      <p:bldP spid="77830" grpId="0"/>
      <p:bldP spid="77839"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日期占位符 4"/>
          <p:cNvSpPr txBox="1">
            <a:spLocks noGrp="1"/>
          </p:cNvSpPr>
          <p:nvPr>
            <p:ph type="dt" sz="half" idx="10"/>
          </p:nvPr>
        </p:nvSpPr>
        <p:spPr>
          <a:xfrm>
            <a:off x="0" y="6510338"/>
            <a:ext cx="2305050"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70659" name="灯片编号占位符 6"/>
          <p:cNvSpPr txBox="1">
            <a:spLocks noGrp="1"/>
          </p:cNvSpPr>
          <p:nvPr>
            <p:ph type="sldNum" sz="quarter" idx="12"/>
          </p:nvPr>
        </p:nvSpPr>
        <p:spPr>
          <a:xfrm>
            <a:off x="8531860" y="6548120"/>
            <a:ext cx="639445" cy="309880"/>
          </a:xfrm>
        </p:spPr>
        <p:txBody>
          <a:bodyPr lIns="92075" tIns="46038" rIns="92075" bIns="46038" anchor="ctr"/>
          <a:lstStyle/>
          <a:p>
            <a:pPr algn="r" eaLnBrk="1" hangingPunct="1"/>
            <a:fld id="{9A0DB2DC-4C9A-4742-B13C-FB6460FD3503}" type="slidenum">
              <a:rPr lang="en-US" altLang="zh-CN" sz="1400" dirty="0"/>
              <a:t>69</a:t>
            </a:fld>
            <a:endParaRPr lang="en-US" altLang="zh-CN" sz="1400" dirty="0"/>
          </a:p>
        </p:txBody>
      </p:sp>
      <p:sp>
        <p:nvSpPr>
          <p:cNvPr id="146466" name="Rectangle 34"/>
          <p:cNvSpPr>
            <a:spLocks noGrp="1" noChangeArrowheads="1"/>
          </p:cNvSpPr>
          <p:nvPr>
            <p:ph type="title"/>
          </p:nvPr>
        </p:nvSpPr>
        <p:spPr>
          <a:xfrm>
            <a:off x="1151255" y="214630"/>
            <a:ext cx="7792720" cy="136017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b="1" noProof="0" dirty="0">
                <a:ln>
                  <a:noFill/>
                </a:ln>
                <a:solidFill>
                  <a:srgbClr val="FF0000"/>
                </a:solidFill>
                <a:uLnTx/>
                <a:uFillTx/>
                <a:ea typeface="华文中宋" panose="02010600040101010101" pitchFamily="2" charset="-122"/>
                <a:sym typeface="+mn-ea"/>
              </a:rPr>
              <a:t>Ⅰ</a:t>
            </a:r>
            <a:r>
              <a:rPr kumimoji="1" lang="zh-CN" altLang="en-US" b="1" noProof="0" dirty="0">
                <a:ln>
                  <a:noFill/>
                </a:ln>
                <a:solidFill>
                  <a:srgbClr val="FF0000"/>
                </a:solidFill>
                <a:uLnTx/>
                <a:uFillTx/>
                <a:ea typeface="华文中宋" panose="02010600040101010101" pitchFamily="2" charset="-122"/>
                <a:sym typeface="+mn-ea"/>
              </a:rPr>
              <a:t>合金的结晶过程（续）</a:t>
            </a:r>
            <a:endParaRPr kumimoji="1" lang="zh-CN" altLang="zh-CN"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146437" name="Rectangle 5"/>
          <p:cNvSpPr>
            <a:spLocks noGrp="1"/>
          </p:cNvSpPr>
          <p:nvPr>
            <p:ph type="body" sz="half" idx="1"/>
          </p:nvPr>
        </p:nvSpPr>
        <p:spPr>
          <a:xfrm>
            <a:off x="0" y="2348880"/>
            <a:ext cx="5074404" cy="3816969"/>
          </a:xfrm>
        </p:spPr>
        <p:txBody>
          <a:bodyPr vert="horz" wrap="square" lIns="91440" tIns="45720" rIns="91440" bIns="45720" anchor="t"/>
          <a:lstStyle/>
          <a:p>
            <a:pPr eaLnBrk="1" hangingPunct="1">
              <a:lnSpc>
                <a:spcPct val="140000"/>
              </a:lnSpc>
            </a:pPr>
            <a:r>
              <a:rPr lang="en-US" altLang="zh-CN" b="1" dirty="0">
                <a:ea typeface="华文中宋" panose="02010600040101010101" pitchFamily="2" charset="-122"/>
              </a:rPr>
              <a:t>Ⅰ</a:t>
            </a:r>
            <a:r>
              <a:rPr lang="zh-CN" altLang="en-US" b="1" dirty="0">
                <a:ea typeface="华文中宋" panose="02010600040101010101" pitchFamily="2" charset="-122"/>
              </a:rPr>
              <a:t>合金</a:t>
            </a:r>
            <a:r>
              <a:rPr lang="zh-CN" altLang="en-US" b="1" dirty="0">
                <a:solidFill>
                  <a:srgbClr val="0000FF"/>
                </a:solidFill>
                <a:ea typeface="华文中宋" panose="02010600040101010101" pitchFamily="2" charset="-122"/>
              </a:rPr>
              <a:t>室温组织</a:t>
            </a:r>
            <a:r>
              <a:rPr lang="zh-CN" altLang="en-US" b="1" dirty="0">
                <a:ea typeface="华文中宋" panose="02010600040101010101" pitchFamily="2" charset="-122"/>
              </a:rPr>
              <a:t>为</a:t>
            </a:r>
            <a:r>
              <a:rPr lang="zh-CN" altLang="en-US" b="1" i="1" dirty="0">
                <a:solidFill>
                  <a:srgbClr val="0000FF"/>
                </a:solidFill>
                <a:ea typeface="华文中宋" panose="02010600040101010101" pitchFamily="2" charset="-122"/>
                <a:sym typeface="Symbol" panose="05050102010706020507" pitchFamily="18" charset="2"/>
              </a:rPr>
              <a:t></a:t>
            </a:r>
            <a:r>
              <a:rPr lang="zh-CN" altLang="en-US" b="1" dirty="0">
                <a:solidFill>
                  <a:srgbClr val="0000FF"/>
                </a:solidFill>
                <a:ea typeface="华文中宋" panose="02010600040101010101" pitchFamily="2" charset="-122"/>
                <a:sym typeface="Symbol" panose="05050102010706020507" pitchFamily="18" charset="2"/>
              </a:rPr>
              <a:t> </a:t>
            </a:r>
            <a:r>
              <a:rPr lang="en-US" altLang="zh-CN" b="1" dirty="0">
                <a:solidFill>
                  <a:srgbClr val="0000FF"/>
                </a:solidFill>
                <a:ea typeface="华文中宋" panose="02010600040101010101" pitchFamily="2" charset="-122"/>
                <a:sym typeface="Symbol" panose="05050102010706020507" pitchFamily="18" charset="2"/>
              </a:rPr>
              <a:t>+</a:t>
            </a:r>
            <a:r>
              <a:rPr lang="en-US" altLang="zh-CN" b="1" i="1" dirty="0">
                <a:solidFill>
                  <a:srgbClr val="0000FF"/>
                </a:solidFill>
                <a:ea typeface="华文中宋" panose="02010600040101010101" pitchFamily="2" charset="-122"/>
                <a:sym typeface="Symbol" panose="05050102010706020507" pitchFamily="18" charset="2"/>
              </a:rPr>
              <a:t> </a:t>
            </a:r>
            <a:r>
              <a:rPr lang="en-US" altLang="zh-CN" b="1" baseline="-25000" dirty="0">
                <a:solidFill>
                  <a:srgbClr val="0000FF"/>
                </a:solidFill>
                <a:ea typeface="华文中宋" panose="02010600040101010101" pitchFamily="2" charset="-122"/>
                <a:sym typeface="Symbol" panose="05050102010706020507" pitchFamily="18" charset="2"/>
              </a:rPr>
              <a:t>Ⅱ</a:t>
            </a:r>
            <a:r>
              <a:rPr lang="en-US" altLang="zh-CN" b="1" dirty="0">
                <a:solidFill>
                  <a:srgbClr val="0000FF"/>
                </a:solidFill>
                <a:ea typeface="华文中宋" panose="02010600040101010101" pitchFamily="2" charset="-122"/>
                <a:sym typeface="Symbol" panose="05050102010706020507" pitchFamily="18" charset="2"/>
              </a:rPr>
              <a:t> </a:t>
            </a:r>
            <a:r>
              <a:rPr lang="zh-CN" altLang="en-US" b="1" dirty="0">
                <a:ea typeface="华文中宋" panose="02010600040101010101" pitchFamily="2" charset="-122"/>
              </a:rPr>
              <a:t>。</a:t>
            </a:r>
            <a:endParaRPr lang="zh-CN" altLang="en-US" b="1" dirty="0"/>
          </a:p>
          <a:p>
            <a:pPr eaLnBrk="1" hangingPunct="1">
              <a:lnSpc>
                <a:spcPct val="140000"/>
              </a:lnSpc>
            </a:pPr>
            <a:r>
              <a:rPr lang="zh-CN" altLang="en-US" b="1" dirty="0"/>
              <a:t>成分大于 </a:t>
            </a:r>
            <a:r>
              <a:rPr lang="en-US" altLang="zh-CN" b="1" dirty="0"/>
              <a:t>D</a:t>
            </a:r>
            <a:r>
              <a:rPr lang="zh-CN" altLang="en-US" b="1" dirty="0"/>
              <a:t>点的合金，其结晶过程与</a:t>
            </a:r>
            <a:r>
              <a:rPr lang="en-US" altLang="zh-CN" b="1" dirty="0"/>
              <a:t>Ⅰ</a:t>
            </a:r>
            <a:r>
              <a:rPr lang="zh-CN" altLang="en-US" b="1" dirty="0"/>
              <a:t>合金相似</a:t>
            </a:r>
            <a:r>
              <a:rPr lang="en-US" altLang="zh-CN" b="1" dirty="0"/>
              <a:t>,</a:t>
            </a:r>
            <a:r>
              <a:rPr lang="zh-CN" altLang="en-US" b="1" dirty="0"/>
              <a:t>室温组织为</a:t>
            </a:r>
            <a:r>
              <a:rPr lang="zh-CN" altLang="en-US" b="1" i="1" dirty="0">
                <a:solidFill>
                  <a:srgbClr val="0000FF"/>
                </a:solidFill>
                <a:sym typeface="Symbol" panose="05050102010706020507" pitchFamily="18" charset="2"/>
              </a:rPr>
              <a:t></a:t>
            </a:r>
            <a:r>
              <a:rPr lang="zh-CN" altLang="en-US" b="1" dirty="0">
                <a:solidFill>
                  <a:srgbClr val="0000FF"/>
                </a:solidFill>
              </a:rPr>
              <a:t> </a:t>
            </a:r>
            <a:r>
              <a:rPr lang="en-US" altLang="zh-CN" b="1" dirty="0">
                <a:solidFill>
                  <a:srgbClr val="0000FF"/>
                </a:solidFill>
                <a:sym typeface="Symbol" panose="05050102010706020507" pitchFamily="18" charset="2"/>
              </a:rPr>
              <a:t>+ </a:t>
            </a:r>
            <a:r>
              <a:rPr lang="en-US" altLang="zh-CN" b="1" i="1" dirty="0">
                <a:solidFill>
                  <a:srgbClr val="0000FF"/>
                </a:solidFill>
                <a:sym typeface="Symbol" panose="05050102010706020507" pitchFamily="18" charset="2"/>
              </a:rPr>
              <a:t></a:t>
            </a:r>
            <a:r>
              <a:rPr lang="en-US" altLang="zh-CN" b="1" baseline="-25000" dirty="0">
                <a:solidFill>
                  <a:srgbClr val="0000FF"/>
                </a:solidFill>
                <a:sym typeface="Symbol" panose="05050102010706020507" pitchFamily="18" charset="2"/>
              </a:rPr>
              <a:t>Ⅱ</a:t>
            </a:r>
            <a:r>
              <a:rPr lang="zh-CN" altLang="en-US" b="1" dirty="0"/>
              <a:t>。</a:t>
            </a:r>
          </a:p>
        </p:txBody>
      </p:sp>
      <p:sp>
        <p:nvSpPr>
          <p:cNvPr id="146439" name="Rectangle 7"/>
          <p:cNvSpPr/>
          <p:nvPr/>
        </p:nvSpPr>
        <p:spPr>
          <a:xfrm>
            <a:off x="4876800" y="4038600"/>
            <a:ext cx="3962400" cy="2133600"/>
          </a:xfrm>
          <a:prstGeom prst="rect">
            <a:avLst/>
          </a:prstGeom>
          <a:noFill/>
          <a:ln w="9525">
            <a:noFill/>
          </a:ln>
        </p:spPr>
        <p:txBody>
          <a:bodyPr/>
          <a:lstStyle/>
          <a:p>
            <a:pPr marL="342900" lvl="0" indent="-342900" eaLnBrk="1" hangingPunct="1">
              <a:lnSpc>
                <a:spcPct val="140000"/>
              </a:lnSpc>
              <a:spcBef>
                <a:spcPct val="20000"/>
              </a:spcBef>
              <a:buClr>
                <a:schemeClr val="accent2"/>
              </a:buClr>
              <a:buSzPct val="80000"/>
              <a:buFont typeface="Wingdings" panose="05000000000000000000" pitchFamily="2" charset="2"/>
              <a:buChar char="l"/>
            </a:pPr>
            <a:endParaRPr lang="zh-CN" altLang="zh-CN" sz="2800" b="1" dirty="0">
              <a:latin typeface="Times New Roman" panose="02020603050405020304" pitchFamily="18" charset="0"/>
              <a:ea typeface="华文中宋" panose="02010600040101010101" pitchFamily="2" charset="-122"/>
            </a:endParaRPr>
          </a:p>
        </p:txBody>
      </p:sp>
      <p:grpSp>
        <p:nvGrpSpPr>
          <p:cNvPr id="2" name="Group 22"/>
          <p:cNvGrpSpPr/>
          <p:nvPr/>
        </p:nvGrpSpPr>
        <p:grpSpPr>
          <a:xfrm>
            <a:off x="5086786" y="3789673"/>
            <a:ext cx="3764796" cy="2758445"/>
            <a:chOff x="288" y="1968"/>
            <a:chExt cx="2779" cy="2016"/>
          </a:xfrm>
        </p:grpSpPr>
        <p:grpSp>
          <p:nvGrpSpPr>
            <p:cNvPr id="70666" name="Group 23"/>
            <p:cNvGrpSpPr/>
            <p:nvPr/>
          </p:nvGrpSpPr>
          <p:grpSpPr>
            <a:xfrm>
              <a:off x="288" y="1968"/>
              <a:ext cx="2779" cy="2016"/>
              <a:chOff x="53" y="2256"/>
              <a:chExt cx="2779" cy="2016"/>
            </a:xfrm>
          </p:grpSpPr>
          <p:pic>
            <p:nvPicPr>
              <p:cNvPr id="70668" name="Picture 24" descr="Pb-Sn合金相图"/>
              <p:cNvPicPr>
                <a:picLocks noChangeAspect="1"/>
              </p:cNvPicPr>
              <p:nvPr/>
            </p:nvPicPr>
            <p:blipFill>
              <a:blip r:embed="rId3"/>
              <a:stretch>
                <a:fillRect/>
              </a:stretch>
            </p:blipFill>
            <p:spPr>
              <a:xfrm>
                <a:off x="53" y="2256"/>
                <a:ext cx="2779" cy="2016"/>
              </a:xfrm>
              <a:prstGeom prst="rect">
                <a:avLst/>
              </a:prstGeom>
              <a:noFill/>
              <a:ln w="9525">
                <a:noFill/>
              </a:ln>
            </p:spPr>
          </p:pic>
          <p:sp>
            <p:nvSpPr>
              <p:cNvPr id="70669" name="Rectangle 25"/>
              <p:cNvSpPr/>
              <p:nvPr/>
            </p:nvSpPr>
            <p:spPr>
              <a:xfrm>
                <a:off x="288" y="2520"/>
                <a:ext cx="48" cy="96"/>
              </a:xfrm>
              <a:prstGeom prst="rect">
                <a:avLst/>
              </a:prstGeom>
              <a:solidFill>
                <a:schemeClr val="bg1"/>
              </a:solidFill>
              <a:ln w="9525">
                <a:noFill/>
              </a:ln>
            </p:spPr>
            <p:txBody>
              <a:bodyPr wrap="none" anchor="ctr"/>
              <a:lstStyle/>
              <a:p>
                <a:pPr lvl="0" algn="ctr" eaLnBrk="1" hangingPunct="1"/>
                <a:r>
                  <a:rPr lang="en-US" altLang="zh-CN" sz="1400" dirty="0">
                    <a:solidFill>
                      <a:schemeClr val="bg2"/>
                    </a:solidFill>
                    <a:latin typeface="Times New Roman" panose="02020603050405020304" pitchFamily="18" charset="0"/>
                    <a:ea typeface="宋体" panose="02010600030101010101" pitchFamily="2" charset="-122"/>
                  </a:rPr>
                  <a:t>A</a:t>
                </a:r>
              </a:p>
            </p:txBody>
          </p:sp>
          <p:sp>
            <p:nvSpPr>
              <p:cNvPr id="70670" name="Rectangle 26"/>
              <p:cNvSpPr/>
              <p:nvPr/>
            </p:nvSpPr>
            <p:spPr>
              <a:xfrm>
                <a:off x="2544" y="2772"/>
                <a:ext cx="48" cy="96"/>
              </a:xfrm>
              <a:prstGeom prst="rect">
                <a:avLst/>
              </a:prstGeom>
              <a:solidFill>
                <a:schemeClr val="bg1"/>
              </a:solidFill>
              <a:ln w="9525">
                <a:noFill/>
              </a:ln>
            </p:spPr>
            <p:txBody>
              <a:bodyPr wrap="none" anchor="ctr"/>
              <a:lstStyle/>
              <a:p>
                <a:pPr lvl="0" algn="ctr" eaLnBrk="1" hangingPunct="1"/>
                <a:r>
                  <a:rPr lang="en-US" altLang="zh-CN" sz="1400" dirty="0">
                    <a:solidFill>
                      <a:schemeClr val="bg2"/>
                    </a:solidFill>
                    <a:latin typeface="Times New Roman" panose="02020603050405020304" pitchFamily="18" charset="0"/>
                    <a:ea typeface="宋体" panose="02010600030101010101" pitchFamily="2" charset="-122"/>
                  </a:rPr>
                  <a:t>B</a:t>
                </a:r>
              </a:p>
            </p:txBody>
          </p:sp>
          <p:sp>
            <p:nvSpPr>
              <p:cNvPr id="70671" name="Rectangle 27"/>
              <p:cNvSpPr/>
              <p:nvPr/>
            </p:nvSpPr>
            <p:spPr>
              <a:xfrm>
                <a:off x="768" y="3252"/>
                <a:ext cx="48" cy="96"/>
              </a:xfrm>
              <a:prstGeom prst="rect">
                <a:avLst/>
              </a:prstGeom>
              <a:solidFill>
                <a:schemeClr val="bg1"/>
              </a:solidFill>
              <a:ln w="9525">
                <a:noFill/>
              </a:ln>
            </p:spPr>
            <p:txBody>
              <a:bodyPr wrap="none" anchor="ctr"/>
              <a:lstStyle/>
              <a:p>
                <a:pPr lvl="0" algn="ctr" eaLnBrk="1" hangingPunct="1"/>
                <a:r>
                  <a:rPr lang="en-US" altLang="zh-CN" sz="1400" dirty="0">
                    <a:solidFill>
                      <a:schemeClr val="bg2"/>
                    </a:solidFill>
                    <a:latin typeface="Times New Roman" panose="02020603050405020304" pitchFamily="18" charset="0"/>
                    <a:ea typeface="宋体" panose="02010600030101010101" pitchFamily="2" charset="-122"/>
                  </a:rPr>
                  <a:t>C</a:t>
                </a:r>
              </a:p>
            </p:txBody>
          </p:sp>
          <p:sp>
            <p:nvSpPr>
              <p:cNvPr id="70672" name="Rectangle 28"/>
              <p:cNvSpPr/>
              <p:nvPr/>
            </p:nvSpPr>
            <p:spPr>
              <a:xfrm>
                <a:off x="2376" y="3264"/>
                <a:ext cx="48" cy="96"/>
              </a:xfrm>
              <a:prstGeom prst="rect">
                <a:avLst/>
              </a:prstGeom>
              <a:solidFill>
                <a:schemeClr val="bg1"/>
              </a:solidFill>
              <a:ln w="9525">
                <a:noFill/>
              </a:ln>
            </p:spPr>
            <p:txBody>
              <a:bodyPr wrap="none" anchor="ctr"/>
              <a:lstStyle/>
              <a:p>
                <a:pPr lvl="0" algn="ctr" eaLnBrk="1" hangingPunct="1"/>
                <a:r>
                  <a:rPr lang="en-US" altLang="zh-CN" sz="1400" dirty="0">
                    <a:solidFill>
                      <a:schemeClr val="bg2"/>
                    </a:solidFill>
                    <a:latin typeface="Times New Roman" panose="02020603050405020304" pitchFamily="18" charset="0"/>
                    <a:ea typeface="宋体" panose="02010600030101010101" pitchFamily="2" charset="-122"/>
                  </a:rPr>
                  <a:t>D</a:t>
                </a:r>
              </a:p>
            </p:txBody>
          </p:sp>
          <p:sp>
            <p:nvSpPr>
              <p:cNvPr id="70673" name="Rectangle 29"/>
              <p:cNvSpPr/>
              <p:nvPr/>
            </p:nvSpPr>
            <p:spPr>
              <a:xfrm>
                <a:off x="1788" y="3264"/>
                <a:ext cx="48" cy="96"/>
              </a:xfrm>
              <a:prstGeom prst="rect">
                <a:avLst/>
              </a:prstGeom>
              <a:solidFill>
                <a:schemeClr val="bg1"/>
              </a:solidFill>
              <a:ln w="9525">
                <a:noFill/>
              </a:ln>
            </p:spPr>
            <p:txBody>
              <a:bodyPr wrap="none" anchor="ctr"/>
              <a:lstStyle/>
              <a:p>
                <a:pPr lvl="0" algn="ctr" eaLnBrk="1" hangingPunct="1"/>
                <a:r>
                  <a:rPr lang="en-US" altLang="zh-CN" sz="1400" dirty="0">
                    <a:solidFill>
                      <a:schemeClr val="bg2"/>
                    </a:solidFill>
                    <a:latin typeface="Times New Roman" panose="02020603050405020304" pitchFamily="18" charset="0"/>
                    <a:ea typeface="宋体" panose="02010600030101010101" pitchFamily="2" charset="-122"/>
                  </a:rPr>
                  <a:t>E</a:t>
                </a:r>
              </a:p>
            </p:txBody>
          </p:sp>
          <p:sp>
            <p:nvSpPr>
              <p:cNvPr id="70674" name="Rectangle 30"/>
              <p:cNvSpPr/>
              <p:nvPr/>
            </p:nvSpPr>
            <p:spPr>
              <a:xfrm>
                <a:off x="432" y="3888"/>
                <a:ext cx="48" cy="96"/>
              </a:xfrm>
              <a:prstGeom prst="rect">
                <a:avLst/>
              </a:prstGeom>
              <a:solidFill>
                <a:schemeClr val="bg1"/>
              </a:solidFill>
              <a:ln w="9525">
                <a:noFill/>
              </a:ln>
            </p:spPr>
            <p:txBody>
              <a:bodyPr wrap="none" anchor="ctr"/>
              <a:lstStyle/>
              <a:p>
                <a:pPr lvl="0" algn="ctr" eaLnBrk="1" hangingPunct="1"/>
                <a:r>
                  <a:rPr lang="en-US" altLang="zh-CN" sz="1400" dirty="0">
                    <a:solidFill>
                      <a:schemeClr val="bg2"/>
                    </a:solidFill>
                    <a:latin typeface="Times New Roman" panose="02020603050405020304" pitchFamily="18" charset="0"/>
                    <a:ea typeface="宋体" panose="02010600030101010101" pitchFamily="2" charset="-122"/>
                  </a:rPr>
                  <a:t>F</a:t>
                </a:r>
              </a:p>
            </p:txBody>
          </p:sp>
          <p:sp>
            <p:nvSpPr>
              <p:cNvPr id="70675" name="Rectangle 31"/>
              <p:cNvSpPr/>
              <p:nvPr/>
            </p:nvSpPr>
            <p:spPr>
              <a:xfrm>
                <a:off x="2544" y="3864"/>
                <a:ext cx="48" cy="96"/>
              </a:xfrm>
              <a:prstGeom prst="rect">
                <a:avLst/>
              </a:prstGeom>
              <a:solidFill>
                <a:schemeClr val="bg1"/>
              </a:solidFill>
              <a:ln w="9525">
                <a:noFill/>
              </a:ln>
            </p:spPr>
            <p:txBody>
              <a:bodyPr wrap="none" anchor="ctr"/>
              <a:lstStyle/>
              <a:p>
                <a:pPr lvl="0" algn="ctr" eaLnBrk="1" hangingPunct="1"/>
                <a:r>
                  <a:rPr lang="en-US" altLang="zh-CN" sz="1400" dirty="0">
                    <a:solidFill>
                      <a:schemeClr val="bg2"/>
                    </a:solidFill>
                    <a:latin typeface="Times New Roman" panose="02020603050405020304" pitchFamily="18" charset="0"/>
                    <a:ea typeface="宋体" panose="02010600030101010101" pitchFamily="2" charset="-122"/>
                  </a:rPr>
                  <a:t>G</a:t>
                </a:r>
              </a:p>
            </p:txBody>
          </p:sp>
        </p:grpSp>
        <p:sp>
          <p:nvSpPr>
            <p:cNvPr id="70667" name="Line 32"/>
            <p:cNvSpPr/>
            <p:nvPr/>
          </p:nvSpPr>
          <p:spPr>
            <a:xfrm>
              <a:off x="2803" y="2136"/>
              <a:ext cx="0" cy="1536"/>
            </a:xfrm>
            <a:prstGeom prst="line">
              <a:avLst/>
            </a:prstGeom>
            <a:ln w="9525" cap="flat" cmpd="sng">
              <a:solidFill>
                <a:schemeClr val="hlink"/>
              </a:solidFill>
              <a:prstDash val="solid"/>
              <a:headEnd type="none" w="med" len="med"/>
              <a:tailEnd type="none" w="med" len="med"/>
            </a:ln>
          </p:spPr>
          <p:txBody>
            <a:bodyPr/>
            <a:lstStyle/>
            <a:p>
              <a:endParaRPr lang="zh-CN" altLang="en-US" dirty="0"/>
            </a:p>
          </p:txBody>
        </p:sp>
      </p:grpSp>
      <p:pic>
        <p:nvPicPr>
          <p:cNvPr id="70664" name="Picture 37" descr="Ⅰ合金室温组织为 + Ⅱ"/>
          <p:cNvPicPr>
            <a:picLocks noChangeAspect="1"/>
          </p:cNvPicPr>
          <p:nvPr/>
        </p:nvPicPr>
        <p:blipFill>
          <a:blip r:embed="rId4"/>
          <a:stretch>
            <a:fillRect/>
          </a:stretch>
        </p:blipFill>
        <p:spPr>
          <a:xfrm>
            <a:off x="5999956" y="1835175"/>
            <a:ext cx="2555255" cy="1902246"/>
          </a:xfrm>
          <a:prstGeom prst="rect">
            <a:avLst/>
          </a:prstGeom>
          <a:noFill/>
          <a:ln w="9525">
            <a:noFill/>
          </a:ln>
        </p:spPr>
      </p:pic>
      <p:pic>
        <p:nvPicPr>
          <p:cNvPr id="20" name="内容占位符 1" descr="新校徽（3M）弓之乐"/>
          <p:cNvPicPr>
            <a:picLocks noChangeAspect="1"/>
          </p:cNvPicPr>
          <p:nvPr/>
        </p:nvPicPr>
        <p:blipFill>
          <a:blip r:embed="rId5"/>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6437"/>
                                        </p:tgtEl>
                                        <p:attrNameLst>
                                          <p:attrName>style.visibility</p:attrName>
                                        </p:attrNameLst>
                                      </p:cBhvr>
                                      <p:to>
                                        <p:strVal val="visible"/>
                                      </p:to>
                                    </p:set>
                                    <p:animEffect transition="in" filter="wipe(left)">
                                      <p:cBhvr>
                                        <p:cTn id="7" dur="500"/>
                                        <p:tgtEl>
                                          <p:spTgt spid="146437"/>
                                        </p:tgtEl>
                                      </p:cBhvr>
                                    </p:animEffect>
                                  </p:childTnLst>
                                </p:cTn>
                              </p:par>
                            </p:childTnLst>
                          </p:cTn>
                        </p:par>
                        <p:par>
                          <p:cTn id="8" fill="hold">
                            <p:stCondLst>
                              <p:cond delay="500"/>
                            </p:stCondLst>
                            <p:childTnLst>
                              <p:par>
                                <p:cTn id="9" presetID="22" presetClass="entr" presetSubtype="8" fill="hold" grpId="0" nodeType="afterEffect" nodePh="1">
                                  <p:stCondLst>
                                    <p:cond delay="0"/>
                                  </p:stCondLst>
                                  <p:endCondLst>
                                    <p:cond evt="begin" delay="0">
                                      <p:tn val="9"/>
                                    </p:cond>
                                  </p:endCondLst>
                                  <p:childTnLst>
                                    <p:set>
                                      <p:cBhvr>
                                        <p:cTn id="10" dur="1" fill="hold">
                                          <p:stCondLst>
                                            <p:cond delay="0"/>
                                          </p:stCondLst>
                                        </p:cTn>
                                        <p:tgtEl>
                                          <p:spTgt spid="146439"/>
                                        </p:tgtEl>
                                        <p:attrNameLst>
                                          <p:attrName>style.visibility</p:attrName>
                                        </p:attrNameLst>
                                      </p:cBhvr>
                                      <p:to>
                                        <p:strVal val="visible"/>
                                      </p:to>
                                    </p:set>
                                    <p:animEffect transition="in" filter="wipe(left)">
                                      <p:cBhvr>
                                        <p:cTn id="11" dur="500"/>
                                        <p:tgtEl>
                                          <p:spTgt spid="146439"/>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7" grpId="0"/>
      <p:bldP spid="146439"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日期占位符 3"/>
          <p:cNvSpPr txBox="1">
            <a:spLocks noGrp="1"/>
          </p:cNvSpPr>
          <p:nvPr>
            <p:ph type="dt" sz="half" idx="10"/>
          </p:nvPr>
        </p:nvSpPr>
        <p:spPr>
          <a:xfrm>
            <a:off x="142875" y="6510338"/>
            <a:ext cx="2447925"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71683" name="灯片编号占位符 5"/>
          <p:cNvSpPr txBox="1">
            <a:spLocks noGrp="1"/>
          </p:cNvSpPr>
          <p:nvPr>
            <p:ph type="sldNum" sz="quarter" idx="12"/>
          </p:nvPr>
        </p:nvSpPr>
        <p:spPr>
          <a:xfrm>
            <a:off x="8580755" y="6636385"/>
            <a:ext cx="563880" cy="221615"/>
          </a:xfrm>
        </p:spPr>
        <p:txBody>
          <a:bodyPr lIns="92075" tIns="46038" rIns="92075" bIns="46038" anchor="ctr"/>
          <a:lstStyle/>
          <a:p>
            <a:pPr algn="r" eaLnBrk="1" hangingPunct="1"/>
            <a:fld id="{9A0DB2DC-4C9A-4742-B13C-FB6460FD3503}" type="slidenum">
              <a:rPr lang="en-US" altLang="zh-CN" sz="1400" dirty="0"/>
              <a:t>70</a:t>
            </a:fld>
            <a:endParaRPr lang="en-US" altLang="zh-CN" sz="1400" dirty="0"/>
          </a:p>
        </p:txBody>
      </p:sp>
      <p:sp>
        <p:nvSpPr>
          <p:cNvPr id="284674" name="Rectangle 2"/>
          <p:cNvSpPr>
            <a:spLocks noGrp="1" noChangeArrowheads="1"/>
          </p:cNvSpPr>
          <p:nvPr>
            <p:ph type="title"/>
          </p:nvPr>
        </p:nvSpPr>
        <p:spPr>
          <a:xfrm>
            <a:off x="1042988" y="0"/>
            <a:ext cx="8101013"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② </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共晶合金</a:t>
            </a: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(Ⅱ</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合金</a:t>
            </a: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的结晶过程</a:t>
            </a:r>
          </a:p>
        </p:txBody>
      </p:sp>
      <p:sp>
        <p:nvSpPr>
          <p:cNvPr id="73733" name="Rectangle 3"/>
          <p:cNvSpPr>
            <a:spLocks noGrp="1" noChangeArrowheads="1"/>
          </p:cNvSpPr>
          <p:nvPr>
            <p:ph idx="1"/>
          </p:nvPr>
        </p:nvSpPr>
        <p:spPr>
          <a:xfrm>
            <a:off x="373380" y="1922145"/>
            <a:ext cx="7772400" cy="3936365"/>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a:pPr>
            <a:r>
              <a:rPr kumimoji="1" lang="zh-CN" altLang="en-US" sz="3200" b="1" i="0" u="none" strike="noStrike" kern="0" cap="none" spc="0" normalizeH="0" baseline="0" noProof="0" dirty="0">
                <a:ln>
                  <a:noFill/>
                </a:ln>
                <a:solidFill>
                  <a:schemeClr val="tx1"/>
                </a:solidFill>
                <a:effectLst/>
                <a:uLnTx/>
                <a:uFillTx/>
                <a:latin typeface="+mn-lt"/>
                <a:ea typeface="华文中宋" panose="02010600040101010101" pitchFamily="2" charset="-122"/>
                <a:cs typeface="+mn-cs"/>
              </a:rPr>
              <a:t>液态合金冷却到</a:t>
            </a:r>
            <a:r>
              <a:rPr kumimoji="1" lang="en-US" altLang="zh-CN" sz="3200" b="1" i="0" u="none" strike="noStrike" kern="0" cap="none" spc="0" normalizeH="0" baseline="0" noProof="0" dirty="0">
                <a:ln>
                  <a:noFill/>
                </a:ln>
                <a:solidFill>
                  <a:schemeClr val="tx1"/>
                </a:solidFill>
                <a:effectLst/>
                <a:uLnTx/>
                <a:uFillTx/>
                <a:latin typeface="+mn-lt"/>
                <a:ea typeface="华文中宋" panose="02010600040101010101" pitchFamily="2" charset="-122"/>
                <a:cs typeface="+mn-cs"/>
              </a:rPr>
              <a:t>E </a:t>
            </a:r>
            <a:r>
              <a:rPr kumimoji="1" lang="zh-CN" altLang="en-US" sz="3200" b="1" i="0" u="none" strike="noStrike" kern="0" cap="none" spc="0" normalizeH="0" baseline="0" noProof="0" dirty="0">
                <a:ln>
                  <a:noFill/>
                </a:ln>
                <a:solidFill>
                  <a:schemeClr val="tx1"/>
                </a:solidFill>
                <a:effectLst/>
                <a:uLnTx/>
                <a:uFillTx/>
                <a:latin typeface="+mn-lt"/>
                <a:ea typeface="华文中宋" panose="02010600040101010101" pitchFamily="2" charset="-122"/>
                <a:cs typeface="+mn-cs"/>
              </a:rPr>
              <a:t>点时同时被</a:t>
            </a:r>
            <a:r>
              <a:rPr kumimoji="1" lang="en-US" altLang="zh-CN" sz="3200" b="1" i="0" u="none" strike="noStrike" kern="0" cap="none" spc="0" normalizeH="0" baseline="0" noProof="0" dirty="0" err="1">
                <a:ln>
                  <a:noFill/>
                </a:ln>
                <a:solidFill>
                  <a:schemeClr val="tx1"/>
                </a:solidFill>
                <a:effectLst/>
                <a:uLnTx/>
                <a:uFillTx/>
                <a:latin typeface="+mn-lt"/>
                <a:ea typeface="华文中宋" panose="02010600040101010101" pitchFamily="2" charset="-122"/>
                <a:cs typeface="+mn-cs"/>
              </a:rPr>
              <a:t>Pb</a:t>
            </a:r>
            <a:r>
              <a:rPr kumimoji="1" lang="zh-CN" altLang="en-US" sz="3200" b="1" i="0" u="none" strike="noStrike" kern="0" cap="none" spc="0" normalizeH="0" baseline="0" noProof="0" dirty="0">
                <a:ln>
                  <a:noFill/>
                </a:ln>
                <a:solidFill>
                  <a:schemeClr val="tx1"/>
                </a:solidFill>
                <a:effectLst/>
                <a:uLnTx/>
                <a:uFillTx/>
                <a:latin typeface="+mn-lt"/>
                <a:ea typeface="华文中宋" panose="02010600040101010101" pitchFamily="2" charset="-122"/>
                <a:cs typeface="+mn-cs"/>
              </a:rPr>
              <a:t>和</a:t>
            </a:r>
            <a:r>
              <a:rPr kumimoji="1" lang="en-US" altLang="zh-CN" sz="3200" b="1" i="0" u="none" strike="noStrike" kern="0" cap="none" spc="0" normalizeH="0" baseline="0" noProof="0" dirty="0" err="1">
                <a:ln>
                  <a:noFill/>
                </a:ln>
                <a:solidFill>
                  <a:schemeClr val="tx1"/>
                </a:solidFill>
                <a:effectLst/>
                <a:uLnTx/>
                <a:uFillTx/>
                <a:latin typeface="+mn-lt"/>
                <a:ea typeface="华文中宋" panose="02010600040101010101" pitchFamily="2" charset="-122"/>
                <a:cs typeface="+mn-cs"/>
              </a:rPr>
              <a:t>Sn</a:t>
            </a:r>
            <a:r>
              <a:rPr kumimoji="1" lang="zh-CN" altLang="en-US" sz="3200" b="1" i="0" u="none" strike="noStrike" kern="0" cap="none" spc="0" normalizeH="0" baseline="0" noProof="0" dirty="0">
                <a:ln>
                  <a:noFill/>
                </a:ln>
                <a:solidFill>
                  <a:schemeClr val="tx1"/>
                </a:solidFill>
                <a:effectLst/>
                <a:uLnTx/>
                <a:uFillTx/>
                <a:latin typeface="+mn-lt"/>
                <a:ea typeface="华文中宋" panose="02010600040101010101" pitchFamily="2" charset="-122"/>
                <a:cs typeface="+mn-cs"/>
              </a:rPr>
              <a:t>饱和</a:t>
            </a:r>
            <a:r>
              <a:rPr kumimoji="1" lang="en-US" altLang="zh-CN" sz="3200" b="1" i="0" u="none" strike="noStrike" kern="0" cap="none" spc="0" normalizeH="0" baseline="0" noProof="0" dirty="0">
                <a:ln>
                  <a:noFill/>
                </a:ln>
                <a:solidFill>
                  <a:schemeClr val="tx1"/>
                </a:solidFill>
                <a:effectLst/>
                <a:uLnTx/>
                <a:uFillTx/>
                <a:latin typeface="+mn-lt"/>
                <a:ea typeface="华文中宋" panose="02010600040101010101" pitchFamily="2" charset="-122"/>
                <a:cs typeface="+mn-cs"/>
              </a:rPr>
              <a:t>, </a:t>
            </a:r>
            <a:r>
              <a:rPr kumimoji="1" lang="zh-CN" altLang="en-US" sz="3200" b="1" i="0" u="none" strike="noStrike" kern="0" cap="none" spc="0" normalizeH="0" baseline="0" noProof="0" dirty="0">
                <a:ln>
                  <a:noFill/>
                </a:ln>
                <a:solidFill>
                  <a:schemeClr val="tx1"/>
                </a:solidFill>
                <a:effectLst/>
                <a:uLnTx/>
                <a:uFillTx/>
                <a:latin typeface="+mn-lt"/>
                <a:ea typeface="华文中宋" panose="02010600040101010101" pitchFamily="2" charset="-122"/>
                <a:cs typeface="+mn-cs"/>
              </a:rPr>
              <a:t>发生</a:t>
            </a:r>
            <a:r>
              <a:rPr kumimoji="1" lang="zh-CN" altLang="en-US" sz="3200" b="1" i="0" u="none" strike="noStrike" kern="0" cap="none" spc="0" normalizeH="0" baseline="0" noProof="0" dirty="0">
                <a:ln>
                  <a:noFill/>
                </a:ln>
                <a:solidFill>
                  <a:srgbClr val="0000FF"/>
                </a:solidFill>
                <a:effectLst/>
                <a:uLnTx/>
                <a:uFillTx/>
                <a:latin typeface="+mn-lt"/>
                <a:ea typeface="华文中宋" panose="02010600040101010101" pitchFamily="2" charset="-122"/>
                <a:cs typeface="+mn-cs"/>
              </a:rPr>
              <a:t>共晶反应</a:t>
            </a:r>
            <a:r>
              <a:rPr kumimoji="1" lang="zh-CN" altLang="en-US" sz="3200" b="1" i="0" u="none" strike="noStrike" kern="0" cap="none" spc="0" normalizeH="0" baseline="0" noProof="0" dirty="0">
                <a:ln>
                  <a:noFill/>
                </a:ln>
                <a:solidFill>
                  <a:schemeClr val="tx1"/>
                </a:solidFill>
                <a:effectLst/>
                <a:uLnTx/>
                <a:uFillTx/>
                <a:latin typeface="+mn-lt"/>
                <a:ea typeface="华文中宋" panose="02010600040101010101" pitchFamily="2" charset="-122"/>
                <a:cs typeface="+mn-cs"/>
              </a:rPr>
              <a:t>：</a:t>
            </a:r>
          </a:p>
          <a:p>
            <a:pPr marL="342900" marR="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a:pPr>
            <a:r>
              <a:rPr kumimoji="1" lang="zh-CN" altLang="en-US" sz="3200" b="1" i="0" u="none" strike="noStrike" kern="0" cap="none" spc="0" normalizeH="0" baseline="0" noProof="0" dirty="0">
                <a:ln>
                  <a:noFill/>
                </a:ln>
                <a:solidFill>
                  <a:schemeClr val="tx1"/>
                </a:solidFill>
                <a:effectLst/>
                <a:uLnTx/>
                <a:uFillTx/>
                <a:latin typeface="+mn-lt"/>
                <a:ea typeface="华文中宋" panose="02010600040101010101" pitchFamily="2" charset="-122"/>
                <a:cs typeface="+mn-cs"/>
              </a:rPr>
              <a:t>                       </a:t>
            </a:r>
            <a:r>
              <a:rPr kumimoji="1" lang="en-US" altLang="zh-CN" sz="2800" b="1" i="0" u="none" strike="noStrike" kern="1200" cap="none" spc="0" normalizeH="0" baseline="0" noProof="0" dirty="0">
                <a:ln>
                  <a:noFill/>
                </a:ln>
                <a:solidFill>
                  <a:srgbClr val="0000FF"/>
                </a:solidFill>
                <a:effectLst/>
                <a:uLnTx/>
                <a:uFillTx/>
                <a:latin typeface="+mn-lt"/>
                <a:ea typeface="华文中宋" panose="02010600040101010101" pitchFamily="2" charset="-122"/>
                <a:cs typeface="+mn-cs"/>
                <a:sym typeface="Symbol" panose="05050102010706020507" pitchFamily="18" charset="2"/>
              </a:rPr>
              <a:t>L</a:t>
            </a:r>
            <a:r>
              <a:rPr kumimoji="1" lang="en-US" altLang="zh-CN" sz="2800" b="1" i="0" u="none" strike="noStrike" kern="1200" cap="none" spc="0" normalizeH="0" baseline="-25000" noProof="0" dirty="0">
                <a:ln>
                  <a:noFill/>
                </a:ln>
                <a:solidFill>
                  <a:srgbClr val="0000FF"/>
                </a:solidFill>
                <a:effectLst/>
                <a:uLnTx/>
                <a:uFillTx/>
                <a:latin typeface="+mn-lt"/>
                <a:ea typeface="华文中宋" panose="02010600040101010101" pitchFamily="2" charset="-122"/>
                <a:cs typeface="+mn-cs"/>
                <a:sym typeface="Symbol" panose="05050102010706020507" pitchFamily="18" charset="2"/>
              </a:rPr>
              <a:t>E</a:t>
            </a:r>
            <a:r>
              <a:rPr kumimoji="1" lang="en-US" altLang="zh-CN" sz="2800" b="1" i="0" u="none" strike="noStrike" kern="1200" cap="none" spc="0" normalizeH="0" baseline="0" noProof="0" dirty="0">
                <a:ln>
                  <a:noFill/>
                </a:ln>
                <a:solidFill>
                  <a:srgbClr val="0000FF"/>
                </a:solidFill>
                <a:effectLst/>
                <a:uLnTx/>
                <a:uFillTx/>
                <a:latin typeface="+mn-lt"/>
                <a:ea typeface="华文中宋" panose="02010600040101010101" pitchFamily="2" charset="-122"/>
                <a:cs typeface="+mn-cs"/>
                <a:sym typeface="Symbol" panose="05050102010706020507" pitchFamily="18" charset="2"/>
              </a:rPr>
              <a:t> ⇄(</a:t>
            </a:r>
            <a:r>
              <a:rPr kumimoji="1" lang="en-US" altLang="zh-CN" sz="2800" b="1" i="0" u="none" strike="noStrike" kern="1200" cap="none" spc="0" normalizeH="0" baseline="-25000" noProof="0" dirty="0">
                <a:ln>
                  <a:noFill/>
                </a:ln>
                <a:solidFill>
                  <a:srgbClr val="0000FF"/>
                </a:solidFill>
                <a:effectLst/>
                <a:uLnTx/>
                <a:uFillTx/>
                <a:latin typeface="+mn-lt"/>
                <a:ea typeface="华文中宋" panose="02010600040101010101" pitchFamily="2" charset="-122"/>
                <a:cs typeface="+mn-cs"/>
                <a:sym typeface="Symbol" panose="05050102010706020507" pitchFamily="18" charset="2"/>
              </a:rPr>
              <a:t>C</a:t>
            </a:r>
            <a:r>
              <a:rPr kumimoji="1" lang="en-US" altLang="zh-CN" sz="2800" b="1" i="0" u="none" strike="noStrike" kern="1200" cap="none" spc="0" normalizeH="0" baseline="0" noProof="0" dirty="0">
                <a:ln>
                  <a:noFill/>
                </a:ln>
                <a:solidFill>
                  <a:srgbClr val="0000FF"/>
                </a:solidFill>
                <a:effectLst/>
                <a:uLnTx/>
                <a:uFillTx/>
                <a:latin typeface="+mn-lt"/>
                <a:ea typeface="华文中宋" panose="02010600040101010101" pitchFamily="2" charset="-122"/>
                <a:cs typeface="+mn-cs"/>
                <a:sym typeface="Symbol" panose="05050102010706020507" pitchFamily="18" charset="2"/>
              </a:rPr>
              <a:t>+</a:t>
            </a:r>
            <a:r>
              <a:rPr kumimoji="1" lang="en-US" altLang="zh-CN" sz="2800" b="1" i="0" u="none" strike="noStrike" kern="1200" cap="none" spc="0" normalizeH="0" baseline="-25000" noProof="0" dirty="0">
                <a:ln>
                  <a:noFill/>
                </a:ln>
                <a:solidFill>
                  <a:srgbClr val="0000FF"/>
                </a:solidFill>
                <a:effectLst/>
                <a:uLnTx/>
                <a:uFillTx/>
                <a:latin typeface="+mn-lt"/>
                <a:ea typeface="华文中宋" panose="02010600040101010101" pitchFamily="2" charset="-122"/>
                <a:cs typeface="+mn-cs"/>
                <a:sym typeface="Symbol" panose="05050102010706020507" pitchFamily="18" charset="2"/>
              </a:rPr>
              <a:t>D</a:t>
            </a:r>
            <a:r>
              <a:rPr kumimoji="1" lang="en-US" altLang="zh-CN" sz="2800" b="1" i="0" u="none" strike="noStrike" kern="1200" cap="none" spc="0" normalizeH="0" baseline="0" noProof="0" dirty="0">
                <a:ln>
                  <a:noFill/>
                </a:ln>
                <a:solidFill>
                  <a:srgbClr val="0000FF"/>
                </a:solidFill>
                <a:effectLst/>
                <a:uLnTx/>
                <a:uFillTx/>
                <a:latin typeface="+mn-lt"/>
                <a:ea typeface="华文中宋" panose="02010600040101010101" pitchFamily="2" charset="-122"/>
                <a:cs typeface="+mn-cs"/>
                <a:sym typeface="Symbol" panose="05050102010706020507" pitchFamily="18" charset="2"/>
              </a:rPr>
              <a:t>)</a:t>
            </a:r>
            <a:r>
              <a:rPr kumimoji="1" lang="en-US" altLang="zh-CN" sz="2800" b="1" i="0" u="none" strike="noStrike" kern="1200" cap="none" spc="0" normalizeH="0" baseline="0" noProof="0" dirty="0">
                <a:ln>
                  <a:noFill/>
                </a:ln>
                <a:solidFill>
                  <a:srgbClr val="CCFF33"/>
                </a:solidFill>
                <a:effectLst/>
                <a:uLnTx/>
                <a:uFillTx/>
                <a:latin typeface="+mn-lt"/>
                <a:ea typeface="华文中宋" panose="02010600040101010101" pitchFamily="2" charset="-122"/>
                <a:cs typeface="+mn-cs"/>
                <a:sym typeface="Symbol" panose="05050102010706020507" pitchFamily="18" charset="2"/>
              </a:rPr>
              <a:t> </a:t>
            </a:r>
            <a:r>
              <a:rPr kumimoji="1" lang="zh-CN" altLang="en-US" sz="3200" b="1" i="0" u="none" strike="noStrike" kern="0" cap="none" spc="0" normalizeH="0" baseline="0" noProof="0" dirty="0">
                <a:ln>
                  <a:noFill/>
                </a:ln>
                <a:solidFill>
                  <a:schemeClr val="bg2"/>
                </a:solidFill>
                <a:effectLst/>
                <a:uLnTx/>
                <a:uFillTx/>
                <a:latin typeface="+mn-lt"/>
                <a:ea typeface="华文中宋" panose="02010600040101010101" pitchFamily="2" charset="-122"/>
                <a:cs typeface="+mn-cs"/>
                <a:sym typeface="Symbol" panose="05050102010706020507" pitchFamily="18" charset="2"/>
              </a:rPr>
              <a:t>。</a:t>
            </a:r>
          </a:p>
        </p:txBody>
      </p:sp>
      <p:grpSp>
        <p:nvGrpSpPr>
          <p:cNvPr id="2" name="Group 4"/>
          <p:cNvGrpSpPr/>
          <p:nvPr/>
        </p:nvGrpSpPr>
        <p:grpSpPr>
          <a:xfrm>
            <a:off x="1329109" y="3539833"/>
            <a:ext cx="7233285" cy="3148330"/>
            <a:chOff x="480" y="1728"/>
            <a:chExt cx="4944" cy="2208"/>
          </a:xfrm>
        </p:grpSpPr>
        <p:pic>
          <p:nvPicPr>
            <p:cNvPr id="71688" name="Picture 5" descr="Pb-Sn共晶结晶"/>
            <p:cNvPicPr>
              <a:picLocks noChangeAspect="1"/>
            </p:cNvPicPr>
            <p:nvPr/>
          </p:nvPicPr>
          <p:blipFill>
            <a:blip r:embed="rId3"/>
            <a:stretch>
              <a:fillRect/>
            </a:stretch>
          </p:blipFill>
          <p:spPr>
            <a:xfrm>
              <a:off x="480" y="1728"/>
              <a:ext cx="2101" cy="2208"/>
            </a:xfrm>
            <a:prstGeom prst="rect">
              <a:avLst/>
            </a:prstGeom>
            <a:noFill/>
            <a:ln w="38100">
              <a:noFill/>
            </a:ln>
          </p:spPr>
        </p:pic>
        <p:pic>
          <p:nvPicPr>
            <p:cNvPr id="71689" name="Picture 6" descr="Pb-Sn相图1"/>
            <p:cNvPicPr>
              <a:picLocks noChangeAspect="1"/>
            </p:cNvPicPr>
            <p:nvPr/>
          </p:nvPicPr>
          <p:blipFill>
            <a:blip r:embed="rId4"/>
            <a:stretch>
              <a:fillRect/>
            </a:stretch>
          </p:blipFill>
          <p:spPr>
            <a:xfrm>
              <a:off x="2588" y="1728"/>
              <a:ext cx="2836" cy="2196"/>
            </a:xfrm>
            <a:prstGeom prst="rect">
              <a:avLst/>
            </a:prstGeom>
            <a:solidFill>
              <a:schemeClr val="tx1"/>
            </a:solidFill>
            <a:ln w="38100">
              <a:noFill/>
            </a:ln>
          </p:spPr>
        </p:pic>
        <p:sp>
          <p:nvSpPr>
            <p:cNvPr id="71690" name="Rectangle 7"/>
            <p:cNvSpPr/>
            <p:nvPr/>
          </p:nvSpPr>
          <p:spPr>
            <a:xfrm>
              <a:off x="3888" y="3744"/>
              <a:ext cx="336" cy="192"/>
            </a:xfrm>
            <a:prstGeom prst="rect">
              <a:avLst/>
            </a:prstGeom>
            <a:solidFill>
              <a:schemeClr val="bg1"/>
            </a:solidFill>
            <a:ln w="9525" cap="flat" cmpd="sng">
              <a:noFill/>
              <a:prstDash val="solid"/>
              <a:miter/>
              <a:headEnd type="none" w="med" len="med"/>
              <a:tailEnd type="none" w="med" len="med"/>
            </a:ln>
          </p:spPr>
          <p:txBody>
            <a:bodyPr wrap="none" anchor="ctr"/>
            <a:lstStyle/>
            <a:p>
              <a:pPr lvl="0" algn="ctr" eaLnBrk="1" hangingPunct="1"/>
              <a:r>
                <a:rPr lang="en-US" altLang="zh-CN" sz="1800" dirty="0">
                  <a:solidFill>
                    <a:schemeClr val="bg2"/>
                  </a:solidFill>
                  <a:latin typeface="Times New Roman" panose="02020603050405020304" pitchFamily="18" charset="0"/>
                  <a:ea typeface="宋体" panose="02010600030101010101" pitchFamily="2" charset="-122"/>
                </a:rPr>
                <a:t>wt%Sn</a:t>
              </a:r>
            </a:p>
          </p:txBody>
        </p:sp>
        <p:sp>
          <p:nvSpPr>
            <p:cNvPr id="71691" name="Rectangle 8"/>
            <p:cNvSpPr/>
            <p:nvPr/>
          </p:nvSpPr>
          <p:spPr>
            <a:xfrm rot="-5329082">
              <a:off x="2472" y="2520"/>
              <a:ext cx="336" cy="192"/>
            </a:xfrm>
            <a:prstGeom prst="rect">
              <a:avLst/>
            </a:prstGeom>
            <a:solidFill>
              <a:schemeClr val="bg1"/>
            </a:solidFill>
            <a:ln w="9525" cap="flat" cmpd="sng">
              <a:noFill/>
              <a:prstDash val="solid"/>
              <a:miter/>
              <a:headEnd type="none" w="med" len="med"/>
              <a:tailEnd type="none" w="med" len="med"/>
            </a:ln>
          </p:spPr>
          <p:txBody>
            <a:bodyPr wrap="none" anchor="ctr"/>
            <a:lstStyle/>
            <a:p>
              <a:pPr lvl="0" algn="ctr" eaLnBrk="1" hangingPunct="1"/>
              <a:r>
                <a:rPr lang="zh-CN" altLang="en-US" sz="1800" dirty="0">
                  <a:solidFill>
                    <a:schemeClr val="bg2"/>
                  </a:solidFill>
                  <a:latin typeface="Times New Roman" panose="02020603050405020304" pitchFamily="18" charset="0"/>
                  <a:ea typeface="华文中宋" panose="02010600040101010101" pitchFamily="2" charset="-122"/>
                </a:rPr>
                <a:t>温度</a:t>
              </a:r>
              <a:r>
                <a:rPr lang="en-US" altLang="zh-CN" sz="1800" dirty="0">
                  <a:solidFill>
                    <a:schemeClr val="bg2"/>
                  </a:solidFill>
                  <a:latin typeface="Times New Roman" panose="02020603050405020304" pitchFamily="18" charset="0"/>
                  <a:ea typeface="华文中宋" panose="02010600040101010101" pitchFamily="2" charset="-122"/>
                </a:rPr>
                <a:t>, ℃</a:t>
              </a:r>
            </a:p>
          </p:txBody>
        </p:sp>
        <p:sp>
          <p:nvSpPr>
            <p:cNvPr id="71692" name="Rectangle 9"/>
            <p:cNvSpPr/>
            <p:nvPr/>
          </p:nvSpPr>
          <p:spPr>
            <a:xfrm>
              <a:off x="1371" y="2694"/>
              <a:ext cx="135" cy="99"/>
            </a:xfrm>
            <a:prstGeom prst="rect">
              <a:avLst/>
            </a:prstGeom>
            <a:solidFill>
              <a:schemeClr val="bg1"/>
            </a:solidFill>
            <a:ln w="9525" cap="flat" cmpd="sng">
              <a:noFill/>
              <a:prstDash val="solid"/>
              <a:miter/>
              <a:headEnd type="none" w="med" len="med"/>
              <a:tailEnd type="none" w="med" len="med"/>
            </a:ln>
          </p:spPr>
          <p:txBody>
            <a:bodyPr wrap="none" anchor="ctr"/>
            <a:lstStyle/>
            <a:p>
              <a:pPr lvl="0" algn="ctr" eaLnBrk="1" hangingPunct="1"/>
              <a:r>
                <a:rPr lang="en-US" altLang="zh-CN" sz="1400" b="1" dirty="0">
                  <a:solidFill>
                    <a:schemeClr val="bg2"/>
                  </a:solidFill>
                  <a:latin typeface="Times New Roman" panose="02020603050405020304" pitchFamily="18" charset="0"/>
                  <a:ea typeface="宋体" panose="02010600030101010101" pitchFamily="2" charset="-122"/>
                </a:rPr>
                <a:t>1’</a:t>
              </a:r>
            </a:p>
          </p:txBody>
        </p:sp>
        <p:sp>
          <p:nvSpPr>
            <p:cNvPr id="71693" name="Oval 10"/>
            <p:cNvSpPr/>
            <p:nvPr/>
          </p:nvSpPr>
          <p:spPr>
            <a:xfrm>
              <a:off x="3264" y="2880"/>
              <a:ext cx="240" cy="144"/>
            </a:xfrm>
            <a:prstGeom prst="ellipse">
              <a:avLst/>
            </a:prstGeom>
            <a:solidFill>
              <a:schemeClr val="bg1"/>
            </a:solidFill>
            <a:ln w="9525">
              <a:noFill/>
            </a:ln>
          </p:spPr>
          <p:txBody>
            <a:bodyPr wrap="none" anchor="ctr"/>
            <a:lstStyle/>
            <a:p>
              <a:pPr lvl="0" algn="ctr" eaLnBrk="1" hangingPunct="1"/>
              <a:r>
                <a:rPr lang="en-US" altLang="zh-CN" sz="1000" b="1" dirty="0">
                  <a:solidFill>
                    <a:schemeClr val="bg2"/>
                  </a:solidFill>
                  <a:latin typeface="Times New Roman" panose="02020603050405020304" pitchFamily="18" charset="0"/>
                  <a:ea typeface="宋体" panose="02010600030101010101" pitchFamily="2" charset="-122"/>
                </a:rPr>
                <a:t>19.2</a:t>
              </a:r>
            </a:p>
          </p:txBody>
        </p:sp>
      </p:grpSp>
      <p:pic>
        <p:nvPicPr>
          <p:cNvPr id="14" name="内容占位符 1" descr="新校徽（3M）弓之乐"/>
          <p:cNvPicPr>
            <a:picLocks noChangeAspect="1"/>
          </p:cNvPicPr>
          <p:nvPr/>
        </p:nvPicPr>
        <p:blipFill>
          <a:blip r:embed="rId5"/>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日期占位符 3"/>
          <p:cNvSpPr txBox="1">
            <a:spLocks noGrp="1"/>
          </p:cNvSpPr>
          <p:nvPr>
            <p:ph type="dt" sz="half" idx="10"/>
          </p:nvPr>
        </p:nvSpPr>
        <p:spPr>
          <a:xfrm>
            <a:off x="-317" y="6515735"/>
            <a:ext cx="2376487" cy="419100"/>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72707" name="灯片编号占位符 5"/>
          <p:cNvSpPr txBox="1">
            <a:spLocks noGrp="1"/>
          </p:cNvSpPr>
          <p:nvPr>
            <p:ph type="sldNum" sz="quarter" idx="12"/>
          </p:nvPr>
        </p:nvSpPr>
        <p:spPr>
          <a:xfrm>
            <a:off x="8593455" y="6591935"/>
            <a:ext cx="509270" cy="266065"/>
          </a:xfrm>
        </p:spPr>
        <p:txBody>
          <a:bodyPr lIns="92075" tIns="46038" rIns="92075" bIns="46038" anchor="ctr"/>
          <a:lstStyle/>
          <a:p>
            <a:pPr algn="r" eaLnBrk="1" hangingPunct="1"/>
            <a:fld id="{9A0DB2DC-4C9A-4742-B13C-FB6460FD3503}" type="slidenum">
              <a:rPr lang="en-US" altLang="zh-CN" sz="1400" dirty="0"/>
              <a:t>71</a:t>
            </a:fld>
            <a:endParaRPr lang="en-US" altLang="zh-CN" sz="1400" dirty="0"/>
          </a:p>
        </p:txBody>
      </p:sp>
      <p:sp>
        <p:nvSpPr>
          <p:cNvPr id="147459" name="Rectangle 3"/>
          <p:cNvSpPr>
            <a:spLocks noGrp="1"/>
          </p:cNvSpPr>
          <p:nvPr>
            <p:ph idx="1"/>
          </p:nvPr>
        </p:nvSpPr>
        <p:spPr>
          <a:xfrm>
            <a:off x="232093" y="2127250"/>
            <a:ext cx="4272280" cy="4464685"/>
          </a:xfrm>
        </p:spPr>
        <p:txBody>
          <a:bodyPr vert="horz" wrap="square" lIns="91440" tIns="45720" rIns="91440" bIns="45720" anchor="t"/>
          <a:lstStyle/>
          <a:p>
            <a:pPr eaLnBrk="1" hangingPunct="1">
              <a:lnSpc>
                <a:spcPct val="140000"/>
              </a:lnSpc>
            </a:pPr>
            <a:r>
              <a:rPr lang="zh-CN" altLang="en-US" b="1" dirty="0">
                <a:ea typeface="华文中宋" panose="02010600040101010101" pitchFamily="2" charset="-122"/>
                <a:sym typeface="Symbol" panose="05050102010706020507" pitchFamily="18" charset="2"/>
              </a:rPr>
              <a:t>共晶过程中，两相相间形核、互相促进、共同长大，因而</a:t>
            </a:r>
            <a:r>
              <a:rPr lang="zh-CN" altLang="en-US" b="1" dirty="0">
                <a:solidFill>
                  <a:srgbClr val="0000FF"/>
                </a:solidFill>
                <a:ea typeface="华文中宋" panose="02010600040101010101" pitchFamily="2" charset="-122"/>
                <a:sym typeface="Symbol" panose="05050102010706020507" pitchFamily="18" charset="2"/>
              </a:rPr>
              <a:t>共晶组织较细</a:t>
            </a:r>
            <a:r>
              <a:rPr lang="zh-CN" altLang="en-US" b="1" dirty="0">
                <a:ea typeface="华文中宋" panose="02010600040101010101" pitchFamily="2" charset="-122"/>
                <a:sym typeface="Symbol" panose="05050102010706020507" pitchFamily="18" charset="2"/>
              </a:rPr>
              <a:t>，呈</a:t>
            </a:r>
            <a:r>
              <a:rPr lang="zh-CN" altLang="en-US" b="1" dirty="0">
                <a:solidFill>
                  <a:srgbClr val="0000FF"/>
                </a:solidFill>
                <a:ea typeface="华文中宋" panose="02010600040101010101" pitchFamily="2" charset="-122"/>
                <a:sym typeface="Symbol" panose="05050102010706020507" pitchFamily="18" charset="2"/>
              </a:rPr>
              <a:t>片、棒、点球</a:t>
            </a:r>
            <a:r>
              <a:rPr lang="zh-CN" altLang="en-US" b="1" dirty="0">
                <a:ea typeface="华文中宋" panose="02010600040101010101" pitchFamily="2" charset="-122"/>
                <a:sym typeface="Symbol" panose="05050102010706020507" pitchFamily="18" charset="2"/>
              </a:rPr>
              <a:t>等形状。</a:t>
            </a:r>
            <a:endParaRPr lang="en-US" altLang="zh-CN" dirty="0"/>
          </a:p>
        </p:txBody>
      </p:sp>
      <p:grpSp>
        <p:nvGrpSpPr>
          <p:cNvPr id="2" name="Group 26"/>
          <p:cNvGrpSpPr/>
          <p:nvPr/>
        </p:nvGrpSpPr>
        <p:grpSpPr>
          <a:xfrm>
            <a:off x="4814030" y="2564904"/>
            <a:ext cx="4005262" cy="2946400"/>
            <a:chOff x="2880" y="2080"/>
            <a:chExt cx="2523" cy="1856"/>
          </a:xfrm>
        </p:grpSpPr>
        <p:pic>
          <p:nvPicPr>
            <p:cNvPr id="72711" name="Picture 8" descr="共晶体长大示意图"/>
            <p:cNvPicPr>
              <a:picLocks noChangeAspect="1"/>
            </p:cNvPicPr>
            <p:nvPr/>
          </p:nvPicPr>
          <p:blipFill>
            <a:blip r:embed="rId2"/>
            <a:stretch>
              <a:fillRect/>
            </a:stretch>
          </p:blipFill>
          <p:spPr>
            <a:xfrm>
              <a:off x="2880" y="2080"/>
              <a:ext cx="2523" cy="1856"/>
            </a:xfrm>
            <a:prstGeom prst="rect">
              <a:avLst/>
            </a:prstGeom>
            <a:noFill/>
            <a:ln w="38100" cap="flat" cmpd="sng">
              <a:solidFill>
                <a:srgbClr val="FF00FF"/>
              </a:solidFill>
              <a:prstDash val="solid"/>
              <a:miter/>
              <a:headEnd type="none" w="med" len="med"/>
              <a:tailEnd type="none" w="med" len="med"/>
            </a:ln>
          </p:spPr>
        </p:pic>
        <p:sp>
          <p:nvSpPr>
            <p:cNvPr id="72712" name="Text Box 10"/>
            <p:cNvSpPr txBox="1"/>
            <p:nvPr/>
          </p:nvSpPr>
          <p:spPr>
            <a:xfrm>
              <a:off x="3276" y="3282"/>
              <a:ext cx="240" cy="288"/>
            </a:xfrm>
            <a:prstGeom prst="rect">
              <a:avLst/>
            </a:prstGeom>
            <a:noFill/>
            <a:ln w="9525">
              <a:noFill/>
            </a:ln>
          </p:spPr>
          <p:txBody>
            <a:bodyPr>
              <a:spAutoFit/>
            </a:bodyPr>
            <a:lstStyle/>
            <a:p>
              <a:pPr lvl="0" eaLnBrk="1" hangingPunct="1">
                <a:spcBef>
                  <a:spcPct val="50000"/>
                </a:spcBef>
              </a:pPr>
              <a:r>
                <a:rPr lang="en-US" altLang="zh-CN" sz="2400" b="1" i="1" dirty="0">
                  <a:solidFill>
                    <a:srgbClr val="8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b="1" i="1" dirty="0">
                <a:solidFill>
                  <a:srgbClr val="800000"/>
                </a:solidFill>
                <a:latin typeface="Times New Roman" panose="02020603050405020304" pitchFamily="18" charset="0"/>
                <a:ea typeface="宋体" panose="02010600030101010101" pitchFamily="2" charset="-122"/>
              </a:endParaRPr>
            </a:p>
          </p:txBody>
        </p:sp>
        <p:sp>
          <p:nvSpPr>
            <p:cNvPr id="72713" name="Text Box 11"/>
            <p:cNvSpPr txBox="1"/>
            <p:nvPr/>
          </p:nvSpPr>
          <p:spPr>
            <a:xfrm>
              <a:off x="3744" y="3282"/>
              <a:ext cx="240" cy="288"/>
            </a:xfrm>
            <a:prstGeom prst="rect">
              <a:avLst/>
            </a:prstGeom>
            <a:noFill/>
            <a:ln w="9525">
              <a:noFill/>
            </a:ln>
          </p:spPr>
          <p:txBody>
            <a:bodyPr>
              <a:spAutoFit/>
            </a:bodyPr>
            <a:lstStyle/>
            <a:p>
              <a:pPr lvl="0" eaLnBrk="1" hangingPunct="1">
                <a:spcBef>
                  <a:spcPct val="50000"/>
                </a:spcBef>
              </a:pPr>
              <a:r>
                <a:rPr lang="en-US" altLang="zh-CN" sz="2400" b="1" i="1" dirty="0">
                  <a:solidFill>
                    <a:srgbClr val="8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b="1" i="1" dirty="0">
                <a:solidFill>
                  <a:srgbClr val="800000"/>
                </a:solidFill>
                <a:latin typeface="Times New Roman" panose="02020603050405020304" pitchFamily="18" charset="0"/>
                <a:ea typeface="宋体" panose="02010600030101010101" pitchFamily="2" charset="-122"/>
              </a:endParaRPr>
            </a:p>
          </p:txBody>
        </p:sp>
        <p:sp>
          <p:nvSpPr>
            <p:cNvPr id="72714" name="Text Box 12"/>
            <p:cNvSpPr txBox="1"/>
            <p:nvPr/>
          </p:nvSpPr>
          <p:spPr>
            <a:xfrm>
              <a:off x="4236" y="3282"/>
              <a:ext cx="240" cy="288"/>
            </a:xfrm>
            <a:prstGeom prst="rect">
              <a:avLst/>
            </a:prstGeom>
            <a:noFill/>
            <a:ln w="9525">
              <a:noFill/>
            </a:ln>
          </p:spPr>
          <p:txBody>
            <a:bodyPr>
              <a:spAutoFit/>
            </a:bodyPr>
            <a:lstStyle/>
            <a:p>
              <a:pPr lvl="0" eaLnBrk="1" hangingPunct="1">
                <a:spcBef>
                  <a:spcPct val="50000"/>
                </a:spcBef>
              </a:pPr>
              <a:r>
                <a:rPr lang="en-US" altLang="zh-CN" sz="2400" b="1" i="1" dirty="0">
                  <a:solidFill>
                    <a:srgbClr val="8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b="1" i="1" dirty="0">
                <a:solidFill>
                  <a:srgbClr val="800000"/>
                </a:solidFill>
                <a:latin typeface="Times New Roman" panose="02020603050405020304" pitchFamily="18" charset="0"/>
                <a:ea typeface="宋体" panose="02010600030101010101" pitchFamily="2" charset="-122"/>
              </a:endParaRPr>
            </a:p>
          </p:txBody>
        </p:sp>
        <p:sp>
          <p:nvSpPr>
            <p:cNvPr id="72715" name="Text Box 13"/>
            <p:cNvSpPr txBox="1"/>
            <p:nvPr/>
          </p:nvSpPr>
          <p:spPr>
            <a:xfrm>
              <a:off x="4704" y="3282"/>
              <a:ext cx="240" cy="288"/>
            </a:xfrm>
            <a:prstGeom prst="rect">
              <a:avLst/>
            </a:prstGeom>
            <a:noFill/>
            <a:ln w="9525">
              <a:noFill/>
            </a:ln>
          </p:spPr>
          <p:txBody>
            <a:bodyPr>
              <a:spAutoFit/>
            </a:bodyPr>
            <a:lstStyle/>
            <a:p>
              <a:pPr lvl="0" eaLnBrk="1" hangingPunct="1">
                <a:spcBef>
                  <a:spcPct val="50000"/>
                </a:spcBef>
              </a:pPr>
              <a:r>
                <a:rPr lang="en-US" altLang="zh-CN" sz="2400" b="1" i="1" dirty="0">
                  <a:solidFill>
                    <a:srgbClr val="8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b="1" i="1" dirty="0">
                <a:solidFill>
                  <a:srgbClr val="800000"/>
                </a:solidFill>
                <a:latin typeface="Times New Roman" panose="02020603050405020304" pitchFamily="18" charset="0"/>
                <a:ea typeface="宋体" panose="02010600030101010101" pitchFamily="2" charset="-122"/>
              </a:endParaRPr>
            </a:p>
          </p:txBody>
        </p:sp>
        <p:sp>
          <p:nvSpPr>
            <p:cNvPr id="72716" name="Text Box 14"/>
            <p:cNvSpPr txBox="1"/>
            <p:nvPr/>
          </p:nvSpPr>
          <p:spPr>
            <a:xfrm>
              <a:off x="3048" y="3282"/>
              <a:ext cx="288" cy="288"/>
            </a:xfrm>
            <a:prstGeom prst="rect">
              <a:avLst/>
            </a:prstGeom>
            <a:noFill/>
            <a:ln w="9525">
              <a:noFill/>
            </a:ln>
          </p:spPr>
          <p:txBody>
            <a:bodyPr>
              <a:spAutoFit/>
            </a:bodyPr>
            <a:lstStyle/>
            <a:p>
              <a:pPr lvl="0" eaLnBrk="1" hangingPunct="1">
                <a:spcBef>
                  <a:spcPct val="50000"/>
                </a:spcBef>
              </a:pPr>
              <a:r>
                <a:rPr lang="en-US" altLang="zh-CN" sz="2400" b="1" i="1" dirty="0">
                  <a:solidFill>
                    <a:schemeClr val="folHlink"/>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72717" name="Text Box 15"/>
            <p:cNvSpPr txBox="1"/>
            <p:nvPr/>
          </p:nvSpPr>
          <p:spPr>
            <a:xfrm>
              <a:off x="3504" y="3282"/>
              <a:ext cx="288" cy="288"/>
            </a:xfrm>
            <a:prstGeom prst="rect">
              <a:avLst/>
            </a:prstGeom>
            <a:noFill/>
            <a:ln w="9525">
              <a:noFill/>
            </a:ln>
          </p:spPr>
          <p:txBody>
            <a:bodyPr>
              <a:spAutoFit/>
            </a:bodyPr>
            <a:lstStyle/>
            <a:p>
              <a:pPr lvl="0" eaLnBrk="1" hangingPunct="1">
                <a:spcBef>
                  <a:spcPct val="50000"/>
                </a:spcBef>
              </a:pPr>
              <a:r>
                <a:rPr lang="en-US" altLang="zh-CN" sz="2400" b="1" i="1" dirty="0">
                  <a:solidFill>
                    <a:schemeClr val="folHlink"/>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72718" name="Text Box 16"/>
            <p:cNvSpPr txBox="1"/>
            <p:nvPr/>
          </p:nvSpPr>
          <p:spPr>
            <a:xfrm>
              <a:off x="3984" y="3282"/>
              <a:ext cx="288" cy="288"/>
            </a:xfrm>
            <a:prstGeom prst="rect">
              <a:avLst/>
            </a:prstGeom>
            <a:noFill/>
            <a:ln w="9525">
              <a:noFill/>
            </a:ln>
          </p:spPr>
          <p:txBody>
            <a:bodyPr>
              <a:spAutoFit/>
            </a:bodyPr>
            <a:lstStyle/>
            <a:p>
              <a:pPr lvl="0" eaLnBrk="1" hangingPunct="1">
                <a:spcBef>
                  <a:spcPct val="50000"/>
                </a:spcBef>
              </a:pPr>
              <a:r>
                <a:rPr lang="en-US" altLang="zh-CN" sz="2400" b="1" i="1" dirty="0">
                  <a:solidFill>
                    <a:schemeClr val="folHlink"/>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72719" name="Text Box 17"/>
            <p:cNvSpPr txBox="1"/>
            <p:nvPr/>
          </p:nvSpPr>
          <p:spPr>
            <a:xfrm>
              <a:off x="4464" y="3282"/>
              <a:ext cx="288" cy="288"/>
            </a:xfrm>
            <a:prstGeom prst="rect">
              <a:avLst/>
            </a:prstGeom>
            <a:noFill/>
            <a:ln w="9525">
              <a:noFill/>
            </a:ln>
          </p:spPr>
          <p:txBody>
            <a:bodyPr>
              <a:spAutoFit/>
            </a:bodyPr>
            <a:lstStyle/>
            <a:p>
              <a:pPr lvl="0" eaLnBrk="1" hangingPunct="1">
                <a:spcBef>
                  <a:spcPct val="50000"/>
                </a:spcBef>
              </a:pPr>
              <a:r>
                <a:rPr lang="en-US" altLang="zh-CN" sz="2400" b="1" i="1" dirty="0">
                  <a:solidFill>
                    <a:schemeClr val="folHlink"/>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72720" name="Text Box 18"/>
            <p:cNvSpPr txBox="1"/>
            <p:nvPr/>
          </p:nvSpPr>
          <p:spPr>
            <a:xfrm>
              <a:off x="4944" y="3282"/>
              <a:ext cx="288" cy="288"/>
            </a:xfrm>
            <a:prstGeom prst="rect">
              <a:avLst/>
            </a:prstGeom>
            <a:noFill/>
            <a:ln w="9525">
              <a:noFill/>
            </a:ln>
          </p:spPr>
          <p:txBody>
            <a:bodyPr>
              <a:spAutoFit/>
            </a:bodyPr>
            <a:lstStyle/>
            <a:p>
              <a:pPr lvl="0" eaLnBrk="1" hangingPunct="1">
                <a:spcBef>
                  <a:spcPct val="50000"/>
                </a:spcBef>
              </a:pPr>
              <a:r>
                <a:rPr lang="en-US" altLang="zh-CN" sz="2400" b="1" i="1" dirty="0">
                  <a:solidFill>
                    <a:schemeClr val="folHlink"/>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72721" name="Rectangle 19"/>
            <p:cNvSpPr/>
            <p:nvPr/>
          </p:nvSpPr>
          <p:spPr>
            <a:xfrm>
              <a:off x="4116" y="2203"/>
              <a:ext cx="528" cy="392"/>
            </a:xfrm>
            <a:prstGeom prst="rect">
              <a:avLst/>
            </a:prstGeom>
            <a:solidFill>
              <a:srgbClr val="D0CAFE"/>
            </a:solidFill>
            <a:ln w="9525">
              <a:noFill/>
            </a:ln>
          </p:spPr>
          <p:txBody>
            <a:bodyPr wrap="none" anchor="ctr"/>
            <a:lstStyle/>
            <a:p>
              <a:pPr lvl="0" algn="ctr" eaLnBrk="1" hangingPunct="1">
                <a:lnSpc>
                  <a:spcPct val="80000"/>
                </a:lnSpc>
              </a:pPr>
              <a:r>
                <a:rPr lang="en-US" altLang="zh-CN" sz="1800" b="1" dirty="0">
                  <a:solidFill>
                    <a:srgbClr val="800000"/>
                  </a:solidFill>
                  <a:latin typeface="Times New Roman" panose="02020603050405020304" pitchFamily="18" charset="0"/>
                  <a:ea typeface="宋体" panose="02010600030101010101" pitchFamily="2" charset="-122"/>
                </a:rPr>
                <a:t>Sn</a:t>
              </a:r>
              <a:r>
                <a:rPr lang="zh-CN" altLang="en-US" sz="1800" b="1" dirty="0">
                  <a:solidFill>
                    <a:srgbClr val="800000"/>
                  </a:solidFill>
                  <a:latin typeface="Times New Roman" panose="02020603050405020304" pitchFamily="18" charset="0"/>
                  <a:ea typeface="宋体" panose="02010600030101010101" pitchFamily="2" charset="-122"/>
                </a:rPr>
                <a:t>原子</a:t>
              </a:r>
            </a:p>
            <a:p>
              <a:pPr lvl="0" algn="ctr" eaLnBrk="1" hangingPunct="1">
                <a:lnSpc>
                  <a:spcPct val="80000"/>
                </a:lnSpc>
              </a:pPr>
              <a:r>
                <a:rPr lang="zh-CN" altLang="en-US" sz="1800" b="1" dirty="0">
                  <a:solidFill>
                    <a:srgbClr val="800000"/>
                  </a:solidFill>
                  <a:latin typeface="Times New Roman" panose="02020603050405020304" pitchFamily="18" charset="0"/>
                  <a:ea typeface="宋体" panose="02010600030101010101" pitchFamily="2" charset="-122"/>
                </a:rPr>
                <a:t>扩散</a:t>
              </a:r>
            </a:p>
          </p:txBody>
        </p:sp>
        <p:sp>
          <p:nvSpPr>
            <p:cNvPr id="72722" name="Rectangle 20"/>
            <p:cNvSpPr/>
            <p:nvPr/>
          </p:nvSpPr>
          <p:spPr>
            <a:xfrm>
              <a:off x="3408" y="2187"/>
              <a:ext cx="528" cy="392"/>
            </a:xfrm>
            <a:prstGeom prst="rect">
              <a:avLst/>
            </a:prstGeom>
            <a:solidFill>
              <a:srgbClr val="D0CAFE"/>
            </a:solidFill>
            <a:ln w="9525">
              <a:noFill/>
            </a:ln>
          </p:spPr>
          <p:txBody>
            <a:bodyPr wrap="none" anchor="ctr"/>
            <a:lstStyle/>
            <a:p>
              <a:pPr lvl="0" algn="ctr" eaLnBrk="1" hangingPunct="1">
                <a:lnSpc>
                  <a:spcPct val="80000"/>
                </a:lnSpc>
              </a:pPr>
              <a:r>
                <a:rPr lang="en-US" altLang="zh-CN" sz="1800" b="1" dirty="0">
                  <a:solidFill>
                    <a:srgbClr val="800000"/>
                  </a:solidFill>
                  <a:latin typeface="Times New Roman" panose="02020603050405020304" pitchFamily="18" charset="0"/>
                  <a:ea typeface="宋体" panose="02010600030101010101" pitchFamily="2" charset="-122"/>
                </a:rPr>
                <a:t>Pb</a:t>
              </a:r>
              <a:r>
                <a:rPr lang="zh-CN" altLang="en-US" sz="1800" b="1" dirty="0">
                  <a:solidFill>
                    <a:srgbClr val="800000"/>
                  </a:solidFill>
                  <a:latin typeface="Times New Roman" panose="02020603050405020304" pitchFamily="18" charset="0"/>
                  <a:ea typeface="宋体" panose="02010600030101010101" pitchFamily="2" charset="-122"/>
                </a:rPr>
                <a:t>原子</a:t>
              </a:r>
            </a:p>
            <a:p>
              <a:pPr lvl="0" algn="ctr" eaLnBrk="1" hangingPunct="1">
                <a:lnSpc>
                  <a:spcPct val="80000"/>
                </a:lnSpc>
              </a:pPr>
              <a:r>
                <a:rPr lang="zh-CN" altLang="en-US" sz="1800" b="1" dirty="0">
                  <a:solidFill>
                    <a:srgbClr val="800000"/>
                  </a:solidFill>
                  <a:latin typeface="Times New Roman" panose="02020603050405020304" pitchFamily="18" charset="0"/>
                  <a:ea typeface="宋体" panose="02010600030101010101" pitchFamily="2" charset="-122"/>
                </a:rPr>
                <a:t>扩散</a:t>
              </a:r>
            </a:p>
          </p:txBody>
        </p:sp>
        <p:sp>
          <p:nvSpPr>
            <p:cNvPr id="72723" name="Rectangle 24"/>
            <p:cNvSpPr/>
            <p:nvPr/>
          </p:nvSpPr>
          <p:spPr>
            <a:xfrm>
              <a:off x="3360" y="3729"/>
              <a:ext cx="1584" cy="19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algn="ctr" eaLnBrk="1" hangingPunct="1"/>
              <a:r>
                <a:rPr lang="en-US" altLang="zh-CN" sz="1800" b="1" dirty="0">
                  <a:solidFill>
                    <a:srgbClr val="FF0000"/>
                  </a:solidFill>
                  <a:latin typeface="Times New Roman" panose="02020603050405020304" pitchFamily="18" charset="0"/>
                  <a:ea typeface="华文中宋" panose="02010600040101010101" pitchFamily="2" charset="-122"/>
                </a:rPr>
                <a:t>Pb-Sn</a:t>
              </a:r>
              <a:r>
                <a:rPr lang="zh-CN" altLang="en-US" sz="1800" b="1" dirty="0">
                  <a:solidFill>
                    <a:srgbClr val="FF0000"/>
                  </a:solidFill>
                  <a:latin typeface="Times New Roman" panose="02020603050405020304" pitchFamily="18" charset="0"/>
                  <a:ea typeface="华文中宋" panose="02010600040101010101" pitchFamily="2" charset="-122"/>
                </a:rPr>
                <a:t>共晶体长大示意图</a:t>
              </a:r>
            </a:p>
          </p:txBody>
        </p:sp>
      </p:grpSp>
      <p:pic>
        <p:nvPicPr>
          <p:cNvPr id="20" name="内容占位符 1" descr="新校徽（3M）弓之乐"/>
          <p:cNvPicPr>
            <a:picLocks noChangeAspect="1"/>
          </p:cNvPicPr>
          <p:nvPr/>
        </p:nvPicPr>
        <p:blipFill>
          <a:blip r:embed="rId3"/>
          <a:stretch>
            <a:fillRect/>
          </a:stretch>
        </p:blipFill>
        <p:spPr>
          <a:xfrm>
            <a:off x="0" y="0"/>
            <a:ext cx="746760" cy="735965"/>
          </a:xfrm>
          <a:prstGeom prst="rect">
            <a:avLst/>
          </a:prstGeom>
          <a:noFill/>
          <a:ln w="9525">
            <a:noFill/>
          </a:ln>
        </p:spPr>
      </p:pic>
      <p:sp>
        <p:nvSpPr>
          <p:cNvPr id="284674" name="Rectangle 2"/>
          <p:cNvSpPr>
            <a:spLocks noGrp="1" noChangeArrowheads="1"/>
          </p:cNvSpPr>
          <p:nvPr>
            <p:ph type="title"/>
          </p:nvPr>
        </p:nvSpPr>
        <p:spPr>
          <a:xfrm>
            <a:off x="899478" y="44450"/>
            <a:ext cx="8101013"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② </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共晶合金</a:t>
            </a: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(Ⅱ</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合金</a:t>
            </a: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的结晶过程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7459">
                                            <p:txEl>
                                              <p:pRg st="0" end="0"/>
                                            </p:txEl>
                                          </p:spTgt>
                                        </p:tgtEl>
                                        <p:attrNameLst>
                                          <p:attrName>style.visibility</p:attrName>
                                        </p:attrNameLst>
                                      </p:cBhvr>
                                      <p:to>
                                        <p:strVal val="visible"/>
                                      </p:to>
                                    </p:set>
                                    <p:animEffect transition="in" filter="wipe(left)">
                                      <p:cBhvr>
                                        <p:cTn id="7" dur="500"/>
                                        <p:tgtEl>
                                          <p:spTgt spid="147459">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9" grpId="0" build="p" advAuto="100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日期占位符 3"/>
          <p:cNvSpPr txBox="1">
            <a:spLocks noGrp="1"/>
          </p:cNvSpPr>
          <p:nvPr>
            <p:ph type="dt" sz="half" idx="10"/>
          </p:nvPr>
        </p:nvSpPr>
        <p:spPr>
          <a:xfrm>
            <a:off x="35243" y="6590983"/>
            <a:ext cx="2376487"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73731" name="灯片编号占位符 5"/>
          <p:cNvSpPr txBox="1">
            <a:spLocks noGrp="1"/>
          </p:cNvSpPr>
          <p:nvPr>
            <p:ph type="sldNum" sz="quarter" idx="12"/>
          </p:nvPr>
        </p:nvSpPr>
        <p:spPr>
          <a:xfrm>
            <a:off x="7796530" y="6591300"/>
            <a:ext cx="661670" cy="347345"/>
          </a:xfrm>
        </p:spPr>
        <p:txBody>
          <a:bodyPr lIns="92075" tIns="46038" rIns="92075" bIns="46038" anchor="ctr"/>
          <a:lstStyle/>
          <a:p>
            <a:pPr algn="r" eaLnBrk="1" hangingPunct="1"/>
            <a:fld id="{9A0DB2DC-4C9A-4742-B13C-FB6460FD3503}" type="slidenum">
              <a:rPr lang="en-US" altLang="zh-CN" sz="1400" dirty="0"/>
              <a:t>72</a:t>
            </a:fld>
            <a:endParaRPr lang="en-US" altLang="zh-CN" sz="1400" dirty="0"/>
          </a:p>
        </p:txBody>
      </p:sp>
      <p:sp>
        <p:nvSpPr>
          <p:cNvPr id="79874" name="Rectangle 2"/>
          <p:cNvSpPr>
            <a:spLocks noGrp="1" noChangeArrowheads="1"/>
          </p:cNvSpPr>
          <p:nvPr>
            <p:ph type="title"/>
          </p:nvPr>
        </p:nvSpPr>
        <p:spPr>
          <a:xfrm>
            <a:off x="2079179" y="556118"/>
            <a:ext cx="3959671" cy="735965"/>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b="1" i="0" u="none" strike="noStrike" kern="0" cap="none" spc="0" normalizeH="0" baseline="0" noProof="0" dirty="0">
                <a:ln>
                  <a:noFill/>
                </a:ln>
                <a:solidFill>
                  <a:srgbClr val="FF0000"/>
                </a:solidFill>
                <a:uLnTx/>
                <a:uFillTx/>
                <a:ea typeface="华文中宋" panose="02010600040101010101" pitchFamily="2" charset="-122"/>
                <a:cs typeface="+mj-cs"/>
              </a:rPr>
              <a:t>共晶组织形态</a:t>
            </a:r>
            <a:endParaRPr kumimoji="1" lang="zh-CN" altLang="en-US" b="1" i="0" u="none" strike="noStrike" kern="0" cap="none" spc="0" normalizeH="0" baseline="0" noProof="0" dirty="0">
              <a:ln>
                <a:noFill/>
              </a:ln>
              <a:solidFill>
                <a:srgbClr val="FF0000"/>
              </a:solidFill>
              <a:uLnTx/>
              <a:uFillTx/>
              <a:latin typeface="Times New Roman" panose="02020603050405020304" pitchFamily="18" charset="0"/>
              <a:cs typeface="+mj-cs"/>
            </a:endParaRPr>
          </a:p>
        </p:txBody>
      </p:sp>
      <p:grpSp>
        <p:nvGrpSpPr>
          <p:cNvPr id="2" name="Group 3"/>
          <p:cNvGrpSpPr/>
          <p:nvPr/>
        </p:nvGrpSpPr>
        <p:grpSpPr>
          <a:xfrm>
            <a:off x="457200" y="4495800"/>
            <a:ext cx="2795588" cy="2120900"/>
            <a:chOff x="288" y="2832"/>
            <a:chExt cx="1761" cy="1336"/>
          </a:xfrm>
        </p:grpSpPr>
        <p:pic>
          <p:nvPicPr>
            <p:cNvPr id="73746" name="Picture 4" descr="image023"/>
            <p:cNvPicPr>
              <a:picLocks noChangeAspect="1"/>
            </p:cNvPicPr>
            <p:nvPr/>
          </p:nvPicPr>
          <p:blipFill>
            <a:blip r:embed="rId3"/>
            <a:stretch>
              <a:fillRect/>
            </a:stretch>
          </p:blipFill>
          <p:spPr>
            <a:xfrm>
              <a:off x="288" y="2832"/>
              <a:ext cx="1761" cy="1336"/>
            </a:xfrm>
            <a:prstGeom prst="rect">
              <a:avLst/>
            </a:prstGeom>
            <a:noFill/>
            <a:ln w="28575" cap="flat" cmpd="sng">
              <a:solidFill>
                <a:srgbClr val="99CCFF"/>
              </a:solidFill>
              <a:prstDash val="solid"/>
              <a:miter/>
              <a:headEnd type="none" w="med" len="med"/>
              <a:tailEnd type="none" w="med" len="med"/>
            </a:ln>
          </p:spPr>
        </p:pic>
        <p:sp>
          <p:nvSpPr>
            <p:cNvPr id="73747" name="Rectangle 5"/>
            <p:cNvSpPr/>
            <p:nvPr/>
          </p:nvSpPr>
          <p:spPr>
            <a:xfrm>
              <a:off x="312" y="3972"/>
              <a:ext cx="1704" cy="18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lvl="0" algn="ctr" eaLnBrk="1" hangingPunct="1">
                <a:lnSpc>
                  <a:spcPct val="80000"/>
                </a:lnSpc>
                <a:spcBef>
                  <a:spcPct val="50000"/>
                </a:spcBef>
              </a:pPr>
              <a:r>
                <a:rPr lang="zh-CN" altLang="en-US" sz="1800" b="1" dirty="0">
                  <a:solidFill>
                    <a:srgbClr val="800000"/>
                  </a:solidFill>
                  <a:latin typeface="Times New Roman" panose="02020603050405020304" pitchFamily="18" charset="0"/>
                  <a:ea typeface="宋体" panose="02010600030101010101" pitchFamily="2" charset="-122"/>
                </a:rPr>
                <a:t>层片状</a:t>
              </a:r>
              <a:r>
                <a:rPr lang="en-US" altLang="zh-CN" sz="1800" b="1" dirty="0">
                  <a:solidFill>
                    <a:srgbClr val="800000"/>
                  </a:solidFill>
                  <a:latin typeface="Times New Roman" panose="02020603050405020304" pitchFamily="18" charset="0"/>
                  <a:ea typeface="宋体" panose="02010600030101010101" pitchFamily="2" charset="-122"/>
                </a:rPr>
                <a:t>(Al-CuAl</a:t>
              </a:r>
              <a:r>
                <a:rPr lang="en-US" altLang="zh-CN" sz="1800" b="1" baseline="-30000" dirty="0">
                  <a:solidFill>
                    <a:srgbClr val="800000"/>
                  </a:solidFill>
                  <a:latin typeface="Times New Roman" panose="02020603050405020304" pitchFamily="18" charset="0"/>
                  <a:ea typeface="宋体" panose="02010600030101010101" pitchFamily="2" charset="-122"/>
                </a:rPr>
                <a:t>2</a:t>
              </a:r>
              <a:r>
                <a:rPr lang="zh-CN" altLang="en-US" sz="1800" b="1" dirty="0">
                  <a:solidFill>
                    <a:srgbClr val="800000"/>
                  </a:solidFill>
                  <a:latin typeface="Times New Roman" panose="02020603050405020304" pitchFamily="18" charset="0"/>
                  <a:ea typeface="宋体" panose="02010600030101010101" pitchFamily="2" charset="-122"/>
                </a:rPr>
                <a:t>定向凝固</a:t>
              </a:r>
              <a:r>
                <a:rPr lang="en-US" altLang="zh-CN" sz="1800" b="1" dirty="0">
                  <a:solidFill>
                    <a:srgbClr val="800000"/>
                  </a:solidFill>
                  <a:latin typeface="Times New Roman" panose="02020603050405020304" pitchFamily="18" charset="0"/>
                  <a:ea typeface="宋体" panose="02010600030101010101" pitchFamily="2" charset="-122"/>
                </a:rPr>
                <a:t>)</a:t>
              </a:r>
              <a:endParaRPr lang="en-US" altLang="zh-CN" sz="2400" dirty="0">
                <a:solidFill>
                  <a:srgbClr val="800000"/>
                </a:solidFill>
                <a:latin typeface="Times New Roman" panose="02020603050405020304" pitchFamily="18" charset="0"/>
                <a:ea typeface="宋体" panose="02010600030101010101" pitchFamily="2" charset="-122"/>
              </a:endParaRPr>
            </a:p>
          </p:txBody>
        </p:sp>
      </p:grpSp>
      <p:grpSp>
        <p:nvGrpSpPr>
          <p:cNvPr id="3" name="Group 6"/>
          <p:cNvGrpSpPr/>
          <p:nvPr/>
        </p:nvGrpSpPr>
        <p:grpSpPr>
          <a:xfrm>
            <a:off x="3276600" y="4495800"/>
            <a:ext cx="2795588" cy="2120900"/>
            <a:chOff x="2064" y="2832"/>
            <a:chExt cx="1761" cy="1336"/>
          </a:xfrm>
        </p:grpSpPr>
        <p:pic>
          <p:nvPicPr>
            <p:cNvPr id="73744" name="Picture 7" descr="image025"/>
            <p:cNvPicPr>
              <a:picLocks noChangeAspect="1"/>
            </p:cNvPicPr>
            <p:nvPr/>
          </p:nvPicPr>
          <p:blipFill>
            <a:blip r:embed="rId4"/>
            <a:stretch>
              <a:fillRect/>
            </a:stretch>
          </p:blipFill>
          <p:spPr>
            <a:xfrm>
              <a:off x="2064" y="2832"/>
              <a:ext cx="1761" cy="1336"/>
            </a:xfrm>
            <a:prstGeom prst="rect">
              <a:avLst/>
            </a:prstGeom>
            <a:noFill/>
            <a:ln w="28575" cap="flat" cmpd="sng">
              <a:solidFill>
                <a:srgbClr val="99CCFF"/>
              </a:solidFill>
              <a:prstDash val="solid"/>
              <a:miter/>
              <a:headEnd type="none" w="med" len="med"/>
              <a:tailEnd type="none" w="med" len="med"/>
            </a:ln>
          </p:spPr>
        </p:pic>
        <p:sp>
          <p:nvSpPr>
            <p:cNvPr id="73745" name="Rectangle 8"/>
            <p:cNvSpPr/>
            <p:nvPr/>
          </p:nvSpPr>
          <p:spPr>
            <a:xfrm>
              <a:off x="2100" y="3972"/>
              <a:ext cx="1704" cy="18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lvl="0" algn="ctr" eaLnBrk="1" hangingPunct="1">
                <a:lnSpc>
                  <a:spcPct val="80000"/>
                </a:lnSpc>
                <a:spcBef>
                  <a:spcPct val="50000"/>
                </a:spcBef>
              </a:pPr>
              <a:r>
                <a:rPr lang="zh-CN" altLang="en-US" sz="1800" b="1" dirty="0">
                  <a:solidFill>
                    <a:srgbClr val="800000"/>
                  </a:solidFill>
                  <a:latin typeface="Times New Roman" panose="02020603050405020304" pitchFamily="18" charset="0"/>
                  <a:ea typeface="宋体" panose="02010600030101010101" pitchFamily="2" charset="-122"/>
                </a:rPr>
                <a:t>条棒状</a:t>
              </a:r>
              <a:r>
                <a:rPr lang="en-US" altLang="zh-CN" sz="1800" b="1" dirty="0">
                  <a:solidFill>
                    <a:srgbClr val="800000"/>
                  </a:solidFill>
                  <a:latin typeface="Times New Roman" panose="02020603050405020304" pitchFamily="18" charset="0"/>
                  <a:ea typeface="宋体" panose="02010600030101010101" pitchFamily="2" charset="-122"/>
                </a:rPr>
                <a:t>(Sb-MnSb</a:t>
              </a:r>
              <a:r>
                <a:rPr lang="zh-CN" altLang="en-US" sz="1800" b="1" dirty="0">
                  <a:solidFill>
                    <a:srgbClr val="800000"/>
                  </a:solidFill>
                  <a:latin typeface="Times New Roman" panose="02020603050405020304" pitchFamily="18" charset="0"/>
                  <a:ea typeface="宋体" panose="02010600030101010101" pitchFamily="2" charset="-122"/>
                </a:rPr>
                <a:t>横截面</a:t>
              </a:r>
              <a:r>
                <a:rPr lang="en-US" altLang="zh-CN" sz="1800" b="1" dirty="0">
                  <a:solidFill>
                    <a:srgbClr val="800000"/>
                  </a:solidFill>
                  <a:latin typeface="Times New Roman" panose="02020603050405020304" pitchFamily="18" charset="0"/>
                  <a:ea typeface="宋体" panose="02010600030101010101" pitchFamily="2" charset="-122"/>
                </a:rPr>
                <a:t>)</a:t>
              </a:r>
            </a:p>
          </p:txBody>
        </p:sp>
      </p:grpSp>
      <p:grpSp>
        <p:nvGrpSpPr>
          <p:cNvPr id="4" name="Group 9"/>
          <p:cNvGrpSpPr/>
          <p:nvPr/>
        </p:nvGrpSpPr>
        <p:grpSpPr>
          <a:xfrm>
            <a:off x="6089650" y="4495800"/>
            <a:ext cx="2795588" cy="2120900"/>
            <a:chOff x="3840" y="2832"/>
            <a:chExt cx="1761" cy="1336"/>
          </a:xfrm>
        </p:grpSpPr>
        <p:pic>
          <p:nvPicPr>
            <p:cNvPr id="73742" name="Picture 10" descr="image031"/>
            <p:cNvPicPr>
              <a:picLocks noChangeAspect="1"/>
            </p:cNvPicPr>
            <p:nvPr/>
          </p:nvPicPr>
          <p:blipFill>
            <a:blip r:embed="rId5"/>
            <a:stretch>
              <a:fillRect/>
            </a:stretch>
          </p:blipFill>
          <p:spPr>
            <a:xfrm>
              <a:off x="3840" y="2832"/>
              <a:ext cx="1761" cy="1336"/>
            </a:xfrm>
            <a:prstGeom prst="rect">
              <a:avLst/>
            </a:prstGeom>
            <a:noFill/>
            <a:ln w="28575" cap="flat" cmpd="sng">
              <a:solidFill>
                <a:srgbClr val="99CCFF"/>
              </a:solidFill>
              <a:prstDash val="solid"/>
              <a:miter/>
              <a:headEnd type="none" w="med" len="med"/>
              <a:tailEnd type="none" w="med" len="med"/>
            </a:ln>
          </p:spPr>
        </p:pic>
        <p:sp>
          <p:nvSpPr>
            <p:cNvPr id="73743" name="Rectangle 11"/>
            <p:cNvSpPr/>
            <p:nvPr/>
          </p:nvSpPr>
          <p:spPr>
            <a:xfrm>
              <a:off x="3876" y="3972"/>
              <a:ext cx="1704" cy="18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lvl="0" algn="ctr" eaLnBrk="1" hangingPunct="1">
                <a:spcBef>
                  <a:spcPct val="50000"/>
                </a:spcBef>
              </a:pPr>
              <a:r>
                <a:rPr lang="zh-CN" altLang="en-US" sz="1800" b="1" dirty="0">
                  <a:solidFill>
                    <a:srgbClr val="800000"/>
                  </a:solidFill>
                  <a:latin typeface="Times New Roman" panose="02020603050405020304" pitchFamily="18" charset="0"/>
                  <a:ea typeface="宋体" panose="02010600030101010101" pitchFamily="2" charset="-122"/>
                </a:rPr>
                <a:t>螺旋状（</a:t>
              </a:r>
              <a:r>
                <a:rPr lang="en-US" altLang="zh-CN" sz="1800" b="1" dirty="0">
                  <a:solidFill>
                    <a:srgbClr val="800000"/>
                  </a:solidFill>
                  <a:latin typeface="Times New Roman" panose="02020603050405020304" pitchFamily="18" charset="0"/>
                  <a:ea typeface="宋体" panose="02010600030101010101" pitchFamily="2" charset="-122"/>
                </a:rPr>
                <a:t>Zn-Mg</a:t>
              </a:r>
              <a:r>
                <a:rPr lang="zh-CN" altLang="en-US" sz="1800" b="1" dirty="0">
                  <a:solidFill>
                    <a:srgbClr val="800000"/>
                  </a:solidFill>
                  <a:latin typeface="Times New Roman" panose="02020603050405020304" pitchFamily="18" charset="0"/>
                  <a:ea typeface="宋体" panose="02010600030101010101" pitchFamily="2" charset="-122"/>
                </a:rPr>
                <a:t>）</a:t>
              </a:r>
              <a:endParaRPr lang="zh-CN" altLang="en-US" sz="2400" dirty="0">
                <a:solidFill>
                  <a:srgbClr val="800000"/>
                </a:solidFill>
                <a:latin typeface="Times New Roman" panose="02020603050405020304" pitchFamily="18" charset="0"/>
                <a:ea typeface="宋体" panose="02010600030101010101" pitchFamily="2" charset="-122"/>
              </a:endParaRPr>
            </a:p>
          </p:txBody>
        </p:sp>
      </p:grpSp>
      <p:grpSp>
        <p:nvGrpSpPr>
          <p:cNvPr id="5" name="Group 22"/>
          <p:cNvGrpSpPr/>
          <p:nvPr/>
        </p:nvGrpSpPr>
        <p:grpSpPr>
          <a:xfrm>
            <a:off x="1547664" y="1628800"/>
            <a:ext cx="7350773" cy="2874117"/>
            <a:chOff x="295" y="240"/>
            <a:chExt cx="5302" cy="2558"/>
          </a:xfrm>
        </p:grpSpPr>
        <p:grpSp>
          <p:nvGrpSpPr>
            <p:cNvPr id="73738" name="Group 21"/>
            <p:cNvGrpSpPr/>
            <p:nvPr/>
          </p:nvGrpSpPr>
          <p:grpSpPr>
            <a:xfrm>
              <a:off x="295" y="240"/>
              <a:ext cx="5302" cy="2558"/>
              <a:chOff x="295" y="251"/>
              <a:chExt cx="5302" cy="2558"/>
            </a:xfrm>
          </p:grpSpPr>
          <p:pic>
            <p:nvPicPr>
              <p:cNvPr id="73740" name="Picture 13" descr="image021"/>
              <p:cNvPicPr>
                <a:picLocks noChangeAspect="1"/>
              </p:cNvPicPr>
              <p:nvPr/>
            </p:nvPicPr>
            <p:blipFill>
              <a:blip r:embed="rId6"/>
              <a:stretch>
                <a:fillRect/>
              </a:stretch>
            </p:blipFill>
            <p:spPr>
              <a:xfrm>
                <a:off x="2208" y="251"/>
                <a:ext cx="3389" cy="2558"/>
              </a:xfrm>
              <a:prstGeom prst="rect">
                <a:avLst/>
              </a:prstGeom>
              <a:noFill/>
              <a:ln w="38100" cap="flat" cmpd="sng">
                <a:solidFill>
                  <a:srgbClr val="FFCC00"/>
                </a:solidFill>
                <a:prstDash val="solid"/>
                <a:miter/>
                <a:headEnd type="none" w="med" len="med"/>
                <a:tailEnd type="none" w="med" len="med"/>
              </a:ln>
            </p:spPr>
          </p:pic>
          <p:pic>
            <p:nvPicPr>
              <p:cNvPr id="73741" name="Picture 18" descr="Pb-Sn共晶组织"/>
              <p:cNvPicPr>
                <a:picLocks noChangeAspect="1"/>
              </p:cNvPicPr>
              <p:nvPr/>
            </p:nvPicPr>
            <p:blipFill>
              <a:blip r:embed="rId7"/>
              <a:stretch>
                <a:fillRect/>
              </a:stretch>
            </p:blipFill>
            <p:spPr>
              <a:xfrm>
                <a:off x="295" y="1126"/>
                <a:ext cx="1875" cy="1679"/>
              </a:xfrm>
              <a:prstGeom prst="rect">
                <a:avLst/>
              </a:prstGeom>
              <a:noFill/>
              <a:ln w="38100" cap="flat" cmpd="sng">
                <a:solidFill>
                  <a:srgbClr val="FFCC00"/>
                </a:solidFill>
                <a:prstDash val="solid"/>
                <a:miter/>
                <a:headEnd type="none" w="med" len="med"/>
                <a:tailEnd type="none" w="med" len="med"/>
              </a:ln>
            </p:spPr>
          </p:pic>
        </p:grpSp>
        <p:sp>
          <p:nvSpPr>
            <p:cNvPr id="73739" name="Rectangle 19"/>
            <p:cNvSpPr/>
            <p:nvPr/>
          </p:nvSpPr>
          <p:spPr>
            <a:xfrm>
              <a:off x="1519" y="2556"/>
              <a:ext cx="1440" cy="24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lvl="0" algn="ctr" eaLnBrk="1" hangingPunct="1"/>
              <a:r>
                <a:rPr lang="en-US" altLang="zh-CN" sz="2400" b="1" dirty="0">
                  <a:solidFill>
                    <a:srgbClr val="660033"/>
                  </a:solidFill>
                  <a:latin typeface="Times New Roman" panose="02020603050405020304" pitchFamily="18" charset="0"/>
                  <a:ea typeface="宋体" panose="02010600030101010101" pitchFamily="2" charset="-122"/>
                </a:rPr>
                <a:t>Pb-Sn</a:t>
              </a:r>
              <a:r>
                <a:rPr lang="zh-CN" altLang="en-US" sz="2400" b="1" dirty="0">
                  <a:solidFill>
                    <a:srgbClr val="660033"/>
                  </a:solidFill>
                  <a:latin typeface="Times New Roman" panose="02020603050405020304" pitchFamily="18" charset="0"/>
                  <a:ea typeface="宋体" panose="02010600030101010101" pitchFamily="2" charset="-122"/>
                </a:rPr>
                <a:t>共晶组织</a:t>
              </a:r>
            </a:p>
          </p:txBody>
        </p:sp>
      </p:grpSp>
      <p:pic>
        <p:nvPicPr>
          <p:cNvPr id="20" name="内容占位符 1" descr="新校徽（3M）弓之乐"/>
          <p:cNvPicPr>
            <a:picLocks noChangeAspect="1"/>
          </p:cNvPicPr>
          <p:nvPr/>
        </p:nvPicPr>
        <p:blipFill>
          <a:blip r:embed="rId8"/>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9874"/>
                                        </p:tgtEl>
                                        <p:attrNameLst>
                                          <p:attrName>style.visibility</p:attrName>
                                        </p:attrNameLst>
                                      </p:cBhvr>
                                      <p:to>
                                        <p:strVal val="visible"/>
                                      </p:to>
                                    </p:set>
                                    <p:animEffect transition="in" filter="wipe(left)">
                                      <p:cBhvr>
                                        <p:cTn id="7" dur="500"/>
                                        <p:tgtEl>
                                          <p:spTgt spid="7987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par>
                          <p:cTn id="12" fill="hold">
                            <p:stCondLst>
                              <p:cond delay="1000"/>
                            </p:stCondLst>
                            <p:childTnLst>
                              <p:par>
                                <p:cTn id="13" presetID="23" presetClass="entr" presetSubtype="52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p:cTn id="15" dur="500" fill="hold"/>
                                        <p:tgtEl>
                                          <p:spTgt spid="2"/>
                                        </p:tgtEl>
                                        <p:attrNameLst>
                                          <p:attrName>ppt_w</p:attrName>
                                        </p:attrNameLst>
                                      </p:cBhvr>
                                      <p:tavLst>
                                        <p:tav tm="0">
                                          <p:val>
                                            <p:fltVal val="0"/>
                                          </p:val>
                                        </p:tav>
                                        <p:tav tm="100000">
                                          <p:val>
                                            <p:strVal val="#ppt_w"/>
                                          </p:val>
                                        </p:tav>
                                      </p:tavLst>
                                    </p:anim>
                                    <p:anim calcmode="lin" valueType="num">
                                      <p:cBhvr>
                                        <p:cTn id="16" dur="500" fill="hold"/>
                                        <p:tgtEl>
                                          <p:spTgt spid="2"/>
                                        </p:tgtEl>
                                        <p:attrNameLst>
                                          <p:attrName>ppt_h</p:attrName>
                                        </p:attrNameLst>
                                      </p:cBhvr>
                                      <p:tavLst>
                                        <p:tav tm="0">
                                          <p:val>
                                            <p:fltVal val="0"/>
                                          </p:val>
                                        </p:tav>
                                        <p:tav tm="100000">
                                          <p:val>
                                            <p:strVal val="#ppt_h"/>
                                          </p:val>
                                        </p:tav>
                                      </p:tavLst>
                                    </p:anim>
                                    <p:anim calcmode="lin" valueType="num">
                                      <p:cBhvr>
                                        <p:cTn id="17" dur="500" fill="hold"/>
                                        <p:tgtEl>
                                          <p:spTgt spid="2"/>
                                        </p:tgtEl>
                                        <p:attrNameLst>
                                          <p:attrName>ppt_x</p:attrName>
                                        </p:attrNameLst>
                                      </p:cBhvr>
                                      <p:tavLst>
                                        <p:tav tm="0">
                                          <p:val>
                                            <p:fltVal val="0.5"/>
                                          </p:val>
                                        </p:tav>
                                        <p:tav tm="100000">
                                          <p:val>
                                            <p:strVal val="#ppt_x"/>
                                          </p:val>
                                        </p:tav>
                                      </p:tavLst>
                                    </p:anim>
                                    <p:anim calcmode="lin" valueType="num">
                                      <p:cBhvr>
                                        <p:cTn id="18" dur="500" fill="hold"/>
                                        <p:tgtEl>
                                          <p:spTgt spid="2"/>
                                        </p:tgtEl>
                                        <p:attrNameLst>
                                          <p:attrName>ppt_y</p:attrName>
                                        </p:attrNameLst>
                                      </p:cBhvr>
                                      <p:tavLst>
                                        <p:tav tm="0">
                                          <p:val>
                                            <p:fltVal val="0.5"/>
                                          </p:val>
                                        </p:tav>
                                        <p:tav tm="100000">
                                          <p:val>
                                            <p:strVal val="#ppt_y"/>
                                          </p:val>
                                        </p:tav>
                                      </p:tavLst>
                                    </p:anim>
                                  </p:childTnLst>
                                </p:cTn>
                              </p:par>
                            </p:childTnLst>
                          </p:cTn>
                        </p:par>
                        <p:par>
                          <p:cTn id="19" fill="hold">
                            <p:stCondLst>
                              <p:cond delay="1500"/>
                            </p:stCondLst>
                            <p:childTnLst>
                              <p:par>
                                <p:cTn id="20" presetID="23" presetClass="entr" presetSubtype="528" fill="hold" nodeType="after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p:cTn id="22" dur="500" fill="hold"/>
                                        <p:tgtEl>
                                          <p:spTgt spid="3"/>
                                        </p:tgtEl>
                                        <p:attrNameLst>
                                          <p:attrName>ppt_w</p:attrName>
                                        </p:attrNameLst>
                                      </p:cBhvr>
                                      <p:tavLst>
                                        <p:tav tm="0">
                                          <p:val>
                                            <p:fltVal val="0"/>
                                          </p:val>
                                        </p:tav>
                                        <p:tav tm="100000">
                                          <p:val>
                                            <p:strVal val="#ppt_w"/>
                                          </p:val>
                                        </p:tav>
                                      </p:tavLst>
                                    </p:anim>
                                    <p:anim calcmode="lin" valueType="num">
                                      <p:cBhvr>
                                        <p:cTn id="23" dur="500" fill="hold"/>
                                        <p:tgtEl>
                                          <p:spTgt spid="3"/>
                                        </p:tgtEl>
                                        <p:attrNameLst>
                                          <p:attrName>ppt_h</p:attrName>
                                        </p:attrNameLst>
                                      </p:cBhvr>
                                      <p:tavLst>
                                        <p:tav tm="0">
                                          <p:val>
                                            <p:fltVal val="0"/>
                                          </p:val>
                                        </p:tav>
                                        <p:tav tm="100000">
                                          <p:val>
                                            <p:strVal val="#ppt_h"/>
                                          </p:val>
                                        </p:tav>
                                      </p:tavLst>
                                    </p:anim>
                                    <p:anim calcmode="lin" valueType="num">
                                      <p:cBhvr>
                                        <p:cTn id="24" dur="500" fill="hold"/>
                                        <p:tgtEl>
                                          <p:spTgt spid="3"/>
                                        </p:tgtEl>
                                        <p:attrNameLst>
                                          <p:attrName>ppt_x</p:attrName>
                                        </p:attrNameLst>
                                      </p:cBhvr>
                                      <p:tavLst>
                                        <p:tav tm="0">
                                          <p:val>
                                            <p:fltVal val="0.5"/>
                                          </p:val>
                                        </p:tav>
                                        <p:tav tm="100000">
                                          <p:val>
                                            <p:strVal val="#ppt_x"/>
                                          </p:val>
                                        </p:tav>
                                      </p:tavLst>
                                    </p:anim>
                                    <p:anim calcmode="lin" valueType="num">
                                      <p:cBhvr>
                                        <p:cTn id="25" dur="500" fill="hold"/>
                                        <p:tgtEl>
                                          <p:spTgt spid="3"/>
                                        </p:tgtEl>
                                        <p:attrNameLst>
                                          <p:attrName>ppt_y</p:attrName>
                                        </p:attrNameLst>
                                      </p:cBhvr>
                                      <p:tavLst>
                                        <p:tav tm="0">
                                          <p:val>
                                            <p:fltVal val="0.5"/>
                                          </p:val>
                                        </p:tav>
                                        <p:tav tm="100000">
                                          <p:val>
                                            <p:strVal val="#ppt_y"/>
                                          </p:val>
                                        </p:tav>
                                      </p:tavLst>
                                    </p:anim>
                                  </p:childTnLst>
                                </p:cTn>
                              </p:par>
                            </p:childTnLst>
                          </p:cTn>
                        </p:par>
                        <p:par>
                          <p:cTn id="26" fill="hold">
                            <p:stCondLst>
                              <p:cond delay="2000"/>
                            </p:stCondLst>
                            <p:childTnLst>
                              <p:par>
                                <p:cTn id="27" presetID="23" presetClass="entr" presetSubtype="528"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p:cTn id="29" dur="500" fill="hold"/>
                                        <p:tgtEl>
                                          <p:spTgt spid="4"/>
                                        </p:tgtEl>
                                        <p:attrNameLst>
                                          <p:attrName>ppt_w</p:attrName>
                                        </p:attrNameLst>
                                      </p:cBhvr>
                                      <p:tavLst>
                                        <p:tav tm="0">
                                          <p:val>
                                            <p:fltVal val="0"/>
                                          </p:val>
                                        </p:tav>
                                        <p:tav tm="100000">
                                          <p:val>
                                            <p:strVal val="#ppt_w"/>
                                          </p:val>
                                        </p:tav>
                                      </p:tavLst>
                                    </p:anim>
                                    <p:anim calcmode="lin" valueType="num">
                                      <p:cBhvr>
                                        <p:cTn id="30" dur="500" fill="hold"/>
                                        <p:tgtEl>
                                          <p:spTgt spid="4"/>
                                        </p:tgtEl>
                                        <p:attrNameLst>
                                          <p:attrName>ppt_h</p:attrName>
                                        </p:attrNameLst>
                                      </p:cBhvr>
                                      <p:tavLst>
                                        <p:tav tm="0">
                                          <p:val>
                                            <p:fltVal val="0"/>
                                          </p:val>
                                        </p:tav>
                                        <p:tav tm="100000">
                                          <p:val>
                                            <p:strVal val="#ppt_h"/>
                                          </p:val>
                                        </p:tav>
                                      </p:tavLst>
                                    </p:anim>
                                    <p:anim calcmode="lin" valueType="num">
                                      <p:cBhvr>
                                        <p:cTn id="31" dur="500" fill="hold"/>
                                        <p:tgtEl>
                                          <p:spTgt spid="4"/>
                                        </p:tgtEl>
                                        <p:attrNameLst>
                                          <p:attrName>ppt_x</p:attrName>
                                        </p:attrNameLst>
                                      </p:cBhvr>
                                      <p:tavLst>
                                        <p:tav tm="0">
                                          <p:val>
                                            <p:fltVal val="0.5"/>
                                          </p:val>
                                        </p:tav>
                                        <p:tav tm="100000">
                                          <p:val>
                                            <p:strVal val="#ppt_x"/>
                                          </p:val>
                                        </p:tav>
                                      </p:tavLst>
                                    </p:anim>
                                    <p:anim calcmode="lin" valueType="num">
                                      <p:cBhvr>
                                        <p:cTn id="32" dur="500" fill="hold"/>
                                        <p:tgtEl>
                                          <p:spTgt spid="4"/>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日期占位符 3"/>
          <p:cNvSpPr txBox="1">
            <a:spLocks noGrp="1"/>
          </p:cNvSpPr>
          <p:nvPr>
            <p:ph type="dt" sz="half" idx="10"/>
          </p:nvPr>
        </p:nvSpPr>
        <p:spPr>
          <a:xfrm>
            <a:off x="142875" y="6510338"/>
            <a:ext cx="2376488"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74755" name="灯片编号占位符 5"/>
          <p:cNvSpPr txBox="1">
            <a:spLocks noGrp="1"/>
          </p:cNvSpPr>
          <p:nvPr>
            <p:ph type="sldNum" sz="quarter" idx="12"/>
          </p:nvPr>
        </p:nvSpPr>
        <p:spPr>
          <a:xfrm>
            <a:off x="8694420" y="6560185"/>
            <a:ext cx="445135" cy="297815"/>
          </a:xfrm>
        </p:spPr>
        <p:txBody>
          <a:bodyPr lIns="92075" tIns="46038" rIns="92075" bIns="46038" anchor="ctr"/>
          <a:lstStyle/>
          <a:p>
            <a:pPr algn="r" eaLnBrk="1" hangingPunct="1"/>
            <a:fld id="{9A0DB2DC-4C9A-4742-B13C-FB6460FD3503}" type="slidenum">
              <a:rPr lang="en-US" altLang="zh-CN" sz="1400" dirty="0"/>
              <a:t>73</a:t>
            </a:fld>
            <a:endParaRPr lang="en-US" altLang="zh-CN" sz="1400" dirty="0"/>
          </a:p>
        </p:txBody>
      </p:sp>
      <p:sp>
        <p:nvSpPr>
          <p:cNvPr id="148482" name="Rectangle 2"/>
          <p:cNvSpPr>
            <a:spLocks noGrp="1" noChangeArrowheads="1"/>
          </p:cNvSpPr>
          <p:nvPr>
            <p:ph type="title"/>
          </p:nvPr>
        </p:nvSpPr>
        <p:spPr>
          <a:xfrm>
            <a:off x="1619672" y="95364"/>
            <a:ext cx="6048375" cy="1101387"/>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共晶组织形态</a:t>
            </a:r>
          </a:p>
        </p:txBody>
      </p:sp>
      <p:grpSp>
        <p:nvGrpSpPr>
          <p:cNvPr id="2" name="Group 12"/>
          <p:cNvGrpSpPr/>
          <p:nvPr/>
        </p:nvGrpSpPr>
        <p:grpSpPr>
          <a:xfrm>
            <a:off x="1012825" y="1916112"/>
            <a:ext cx="7553325" cy="4792663"/>
            <a:chOff x="638" y="1207"/>
            <a:chExt cx="4758" cy="3019"/>
          </a:xfrm>
        </p:grpSpPr>
        <p:sp>
          <p:nvSpPr>
            <p:cNvPr id="74763" name="Text Box 8"/>
            <p:cNvSpPr txBox="1"/>
            <p:nvPr/>
          </p:nvSpPr>
          <p:spPr>
            <a:xfrm>
              <a:off x="638" y="1432"/>
              <a:ext cx="349" cy="1200"/>
            </a:xfrm>
            <a:prstGeom prst="rect">
              <a:avLst/>
            </a:prstGeom>
            <a:noFill/>
            <a:ln w="9525">
              <a:noFill/>
            </a:ln>
          </p:spPr>
          <p:txBody>
            <a:bodyPr vert="eaVert">
              <a:spAutoFit/>
            </a:bodyPr>
            <a:lstStyle/>
            <a:p>
              <a:pPr lvl="0" eaLnBrk="1" hangingPunct="1">
                <a:spcBef>
                  <a:spcPct val="50000"/>
                </a:spcBef>
              </a:pPr>
              <a:r>
                <a:rPr lang="zh-CN" altLang="en-US" sz="2400" b="1" dirty="0">
                  <a:solidFill>
                    <a:srgbClr val="0000FF"/>
                  </a:solidFill>
                  <a:latin typeface="Times New Roman" panose="02020603050405020304" pitchFamily="18" charset="0"/>
                  <a:ea typeface="华文中宋" panose="02010600040101010101" pitchFamily="2" charset="-122"/>
                </a:rPr>
                <a:t>针状共晶</a:t>
              </a:r>
            </a:p>
          </p:txBody>
        </p:sp>
        <p:sp>
          <p:nvSpPr>
            <p:cNvPr id="74764" name="Text Box 9"/>
            <p:cNvSpPr txBox="1"/>
            <p:nvPr/>
          </p:nvSpPr>
          <p:spPr>
            <a:xfrm>
              <a:off x="4987" y="1207"/>
              <a:ext cx="349" cy="1440"/>
            </a:xfrm>
            <a:prstGeom prst="rect">
              <a:avLst/>
            </a:prstGeom>
            <a:noFill/>
            <a:ln w="9525">
              <a:noFill/>
            </a:ln>
          </p:spPr>
          <p:txBody>
            <a:bodyPr vert="eaVert">
              <a:spAutoFit/>
            </a:bodyPr>
            <a:lstStyle/>
            <a:p>
              <a:pPr lvl="0" eaLnBrk="1" hangingPunct="1">
                <a:spcBef>
                  <a:spcPct val="50000"/>
                </a:spcBef>
              </a:pPr>
              <a:r>
                <a:rPr lang="zh-CN" altLang="en-US" sz="2400" b="1" dirty="0">
                  <a:solidFill>
                    <a:srgbClr val="0000FF"/>
                  </a:solidFill>
                  <a:latin typeface="Times New Roman" panose="02020603050405020304" pitchFamily="18" charset="0"/>
                  <a:ea typeface="华文中宋" panose="02010600040101010101" pitchFamily="2" charset="-122"/>
                </a:rPr>
                <a:t>树枝状共晶</a:t>
              </a:r>
            </a:p>
          </p:txBody>
        </p:sp>
        <p:sp>
          <p:nvSpPr>
            <p:cNvPr id="74765" name="Text Box 10"/>
            <p:cNvSpPr txBox="1"/>
            <p:nvPr/>
          </p:nvSpPr>
          <p:spPr>
            <a:xfrm>
              <a:off x="664" y="2786"/>
              <a:ext cx="349" cy="1440"/>
            </a:xfrm>
            <a:prstGeom prst="rect">
              <a:avLst/>
            </a:prstGeom>
            <a:noFill/>
            <a:ln w="9525">
              <a:noFill/>
            </a:ln>
          </p:spPr>
          <p:txBody>
            <a:bodyPr vert="eaVert" wrap="square">
              <a:spAutoFit/>
            </a:bodyPr>
            <a:lstStyle/>
            <a:p>
              <a:pPr lvl="0" eaLnBrk="1" hangingPunct="1">
                <a:spcBef>
                  <a:spcPct val="50000"/>
                </a:spcBef>
              </a:pPr>
              <a:r>
                <a:rPr lang="zh-CN" altLang="en-US" sz="2400" b="1" dirty="0">
                  <a:solidFill>
                    <a:srgbClr val="0000FF"/>
                  </a:solidFill>
                  <a:latin typeface="Times New Roman" panose="02020603050405020304" pitchFamily="18" charset="0"/>
                  <a:ea typeface="华文中宋" panose="02010600040101010101" pitchFamily="2" charset="-122"/>
                </a:rPr>
                <a:t>放射状共晶</a:t>
              </a:r>
            </a:p>
          </p:txBody>
        </p:sp>
        <p:sp>
          <p:nvSpPr>
            <p:cNvPr id="74766" name="Text Box 11"/>
            <p:cNvSpPr txBox="1"/>
            <p:nvPr/>
          </p:nvSpPr>
          <p:spPr>
            <a:xfrm>
              <a:off x="5047" y="2771"/>
              <a:ext cx="349" cy="1440"/>
            </a:xfrm>
            <a:prstGeom prst="rect">
              <a:avLst/>
            </a:prstGeom>
            <a:noFill/>
            <a:ln w="9525">
              <a:noFill/>
            </a:ln>
          </p:spPr>
          <p:txBody>
            <a:bodyPr vert="eaVert">
              <a:spAutoFit/>
            </a:bodyPr>
            <a:lstStyle/>
            <a:p>
              <a:pPr lvl="0" eaLnBrk="1" hangingPunct="1">
                <a:spcBef>
                  <a:spcPct val="50000"/>
                </a:spcBef>
              </a:pPr>
              <a:r>
                <a:rPr lang="zh-CN" altLang="en-US" sz="2400" b="1" dirty="0">
                  <a:solidFill>
                    <a:srgbClr val="0000FF"/>
                  </a:solidFill>
                  <a:latin typeface="Times New Roman" panose="02020603050405020304" pitchFamily="18" charset="0"/>
                  <a:ea typeface="华文中宋" panose="02010600040101010101" pitchFamily="2" charset="-122"/>
                </a:rPr>
                <a:t>螺旋状共晶</a:t>
              </a:r>
            </a:p>
          </p:txBody>
        </p:sp>
      </p:grpSp>
      <p:pic>
        <p:nvPicPr>
          <p:cNvPr id="74758" name="Picture 13" descr="针状共晶（2）"/>
          <p:cNvPicPr>
            <a:picLocks noChangeAspect="1"/>
          </p:cNvPicPr>
          <p:nvPr/>
        </p:nvPicPr>
        <p:blipFill>
          <a:blip r:embed="rId2"/>
          <a:stretch>
            <a:fillRect/>
          </a:stretch>
        </p:blipFill>
        <p:spPr>
          <a:xfrm>
            <a:off x="1671732" y="1957134"/>
            <a:ext cx="2924175" cy="2339615"/>
          </a:xfrm>
          <a:prstGeom prst="rect">
            <a:avLst/>
          </a:prstGeom>
          <a:noFill/>
          <a:ln w="9525">
            <a:noFill/>
          </a:ln>
        </p:spPr>
      </p:pic>
      <p:pic>
        <p:nvPicPr>
          <p:cNvPr id="74759" name="Picture 14" descr="树枝状共晶"/>
          <p:cNvPicPr>
            <a:picLocks noChangeAspect="1"/>
          </p:cNvPicPr>
          <p:nvPr/>
        </p:nvPicPr>
        <p:blipFill>
          <a:blip r:embed="rId3"/>
          <a:stretch>
            <a:fillRect/>
          </a:stretch>
        </p:blipFill>
        <p:spPr>
          <a:xfrm>
            <a:off x="4932363" y="1857420"/>
            <a:ext cx="2879998" cy="2279998"/>
          </a:xfrm>
          <a:prstGeom prst="rect">
            <a:avLst/>
          </a:prstGeom>
          <a:noFill/>
          <a:ln w="9525">
            <a:noFill/>
          </a:ln>
        </p:spPr>
      </p:pic>
      <p:pic>
        <p:nvPicPr>
          <p:cNvPr id="74760" name="Picture 15" descr="放射状共晶"/>
          <p:cNvPicPr>
            <a:picLocks noChangeAspect="1"/>
          </p:cNvPicPr>
          <p:nvPr/>
        </p:nvPicPr>
        <p:blipFill>
          <a:blip r:embed="rId4"/>
          <a:srcRect t="6749"/>
          <a:stretch>
            <a:fillRect/>
          </a:stretch>
        </p:blipFill>
        <p:spPr>
          <a:xfrm>
            <a:off x="1646680" y="4342483"/>
            <a:ext cx="3024891" cy="2194446"/>
          </a:xfrm>
          <a:prstGeom prst="rect">
            <a:avLst/>
          </a:prstGeom>
          <a:noFill/>
          <a:ln w="9525">
            <a:noFill/>
          </a:ln>
        </p:spPr>
      </p:pic>
      <p:pic>
        <p:nvPicPr>
          <p:cNvPr id="74761" name="Picture 16" descr="螺旋状共晶"/>
          <p:cNvPicPr>
            <a:picLocks noChangeAspect="1"/>
          </p:cNvPicPr>
          <p:nvPr/>
        </p:nvPicPr>
        <p:blipFill>
          <a:blip r:embed="rId5"/>
          <a:stretch>
            <a:fillRect/>
          </a:stretch>
        </p:blipFill>
        <p:spPr>
          <a:xfrm>
            <a:off x="4932363" y="4319862"/>
            <a:ext cx="2879997" cy="2239688"/>
          </a:xfrm>
          <a:prstGeom prst="rect">
            <a:avLst/>
          </a:prstGeom>
          <a:noFill/>
          <a:ln w="9525">
            <a:noFill/>
          </a:ln>
        </p:spPr>
      </p:pic>
      <p:pic>
        <p:nvPicPr>
          <p:cNvPr id="15" name="内容占位符 1" descr="新校徽（3M）弓之乐"/>
          <p:cNvPicPr>
            <a:picLocks noChangeAspect="1"/>
          </p:cNvPicPr>
          <p:nvPr/>
        </p:nvPicPr>
        <p:blipFill>
          <a:blip r:embed="rId6"/>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8482"/>
                                        </p:tgtEl>
                                        <p:attrNameLst>
                                          <p:attrName>style.visibility</p:attrName>
                                        </p:attrNameLst>
                                      </p:cBhvr>
                                      <p:to>
                                        <p:strVal val="visible"/>
                                      </p:to>
                                    </p:set>
                                    <p:animEffect transition="in" filter="wipe(left)">
                                      <p:cBhvr>
                                        <p:cTn id="7" dur="500"/>
                                        <p:tgtEl>
                                          <p:spTgt spid="148482"/>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2"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日期占位符 3"/>
          <p:cNvSpPr txBox="1">
            <a:spLocks noGrp="1"/>
          </p:cNvSpPr>
          <p:nvPr>
            <p:ph type="dt" sz="half" idx="10"/>
          </p:nvPr>
        </p:nvSpPr>
        <p:spPr>
          <a:xfrm>
            <a:off x="142875" y="6581775"/>
            <a:ext cx="2376488" cy="27622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5124" name="灯片编号占位符 5"/>
          <p:cNvSpPr txBox="1">
            <a:spLocks noGrp="1"/>
          </p:cNvSpPr>
          <p:nvPr>
            <p:ph type="sldNum" sz="quarter" idx="12"/>
          </p:nvPr>
        </p:nvSpPr>
        <p:spPr>
          <a:xfrm>
            <a:off x="8610600" y="6487795"/>
            <a:ext cx="533400" cy="370205"/>
          </a:xfrm>
        </p:spPr>
        <p:txBody>
          <a:bodyPr lIns="92075" tIns="46038" rIns="92075" bIns="46038" anchor="ctr"/>
          <a:lstStyle/>
          <a:p>
            <a:pPr algn="r" eaLnBrk="1" hangingPunct="1"/>
            <a:fld id="{9A0DB2DC-4C9A-4742-B13C-FB6460FD3503}" type="slidenum">
              <a:rPr lang="en-US" altLang="zh-CN" sz="1400" dirty="0"/>
              <a:t>74</a:t>
            </a:fld>
            <a:endParaRPr lang="en-US" altLang="zh-CN" sz="1400" dirty="0"/>
          </a:p>
        </p:txBody>
      </p:sp>
      <p:sp>
        <p:nvSpPr>
          <p:cNvPr id="80898" name="Rectangle 2"/>
          <p:cNvSpPr>
            <a:spLocks noGrp="1"/>
          </p:cNvSpPr>
          <p:nvPr>
            <p:ph idx="1"/>
          </p:nvPr>
        </p:nvSpPr>
        <p:spPr>
          <a:xfrm>
            <a:off x="697356" y="1838322"/>
            <a:ext cx="4495800" cy="3502391"/>
          </a:xfrm>
        </p:spPr>
        <p:txBody>
          <a:bodyPr vert="horz" wrap="square" lIns="91440" tIns="45720" rIns="91440" bIns="45720" anchor="t"/>
          <a:lstStyle/>
          <a:p>
            <a:pPr eaLnBrk="1" hangingPunct="1">
              <a:lnSpc>
                <a:spcPct val="110000"/>
              </a:lnSpc>
            </a:pPr>
            <a:r>
              <a:rPr lang="zh-CN" altLang="en-US" sz="2800" b="1" dirty="0">
                <a:ea typeface="华文中宋" panose="02010600040101010101" pitchFamily="2" charset="-122"/>
                <a:sym typeface="Symbol" panose="05050102010706020507" pitchFamily="18" charset="2"/>
              </a:rPr>
              <a:t>在共晶转变过程中，</a:t>
            </a:r>
            <a:r>
              <a:rPr lang="en-US" altLang="zh-CN" sz="2800" b="1" dirty="0">
                <a:solidFill>
                  <a:srgbClr val="0000FF"/>
                </a:solidFill>
                <a:ea typeface="华文中宋" panose="02010600040101010101" pitchFamily="2" charset="-122"/>
                <a:sym typeface="Symbol" panose="05050102010706020507" pitchFamily="18" charset="2"/>
              </a:rPr>
              <a:t>L</a:t>
            </a:r>
            <a:r>
              <a:rPr lang="zh-CN" altLang="en-US" sz="2800" b="1" dirty="0">
                <a:solidFill>
                  <a:srgbClr val="0000FF"/>
                </a:solidFill>
                <a:ea typeface="华文中宋" panose="02010600040101010101" pitchFamily="2" charset="-122"/>
                <a:sym typeface="Symbol" panose="05050102010706020507" pitchFamily="18" charset="2"/>
              </a:rPr>
              <a:t>、 </a:t>
            </a:r>
            <a:r>
              <a:rPr lang="zh-CN" altLang="en-US" sz="2800" b="1" i="1" dirty="0">
                <a:solidFill>
                  <a:srgbClr val="0000FF"/>
                </a:solidFill>
                <a:ea typeface="华文中宋" panose="02010600040101010101" pitchFamily="2" charset="-122"/>
                <a:sym typeface="Symbol" panose="05050102010706020507" pitchFamily="18" charset="2"/>
              </a:rPr>
              <a:t></a:t>
            </a:r>
            <a:r>
              <a:rPr lang="zh-CN" altLang="en-US" sz="2800" b="1" dirty="0">
                <a:solidFill>
                  <a:srgbClr val="0000FF"/>
                </a:solidFill>
                <a:ea typeface="华文中宋" panose="02010600040101010101" pitchFamily="2" charset="-122"/>
                <a:sym typeface="Symbol" panose="05050102010706020507" pitchFamily="18" charset="2"/>
              </a:rPr>
              <a:t>、 </a:t>
            </a:r>
            <a:r>
              <a:rPr lang="zh-CN" altLang="en-US" sz="2800" b="1" i="1" dirty="0">
                <a:solidFill>
                  <a:srgbClr val="0000FF"/>
                </a:solidFill>
                <a:ea typeface="华文中宋" panose="02010600040101010101" pitchFamily="2" charset="-122"/>
                <a:sym typeface="Symbol" panose="05050102010706020507" pitchFamily="18" charset="2"/>
              </a:rPr>
              <a:t></a:t>
            </a:r>
            <a:r>
              <a:rPr lang="zh-CN" altLang="en-US" sz="2800" b="1" dirty="0">
                <a:solidFill>
                  <a:srgbClr val="0000FF"/>
                </a:solidFill>
                <a:ea typeface="华文中宋" panose="02010600040101010101" pitchFamily="2" charset="-122"/>
                <a:sym typeface="Symbol" panose="05050102010706020507" pitchFamily="18" charset="2"/>
              </a:rPr>
              <a:t>  三相共存</a:t>
            </a:r>
            <a:r>
              <a:rPr lang="zh-CN" altLang="en-US" sz="2800" b="1" dirty="0">
                <a:ea typeface="华文中宋" panose="02010600040101010101" pitchFamily="2" charset="-122"/>
                <a:sym typeface="Symbol" panose="05050102010706020507" pitchFamily="18" charset="2"/>
              </a:rPr>
              <a:t>，三个相的量在不断变化，但它们各自成分是固定的。</a:t>
            </a:r>
          </a:p>
          <a:p>
            <a:pPr eaLnBrk="1" hangingPunct="1">
              <a:lnSpc>
                <a:spcPct val="110000"/>
              </a:lnSpc>
            </a:pPr>
            <a:r>
              <a:rPr lang="zh-CN" altLang="en-US" sz="2800" b="1" dirty="0">
                <a:ea typeface="华文中宋" panose="02010600040101010101" pitchFamily="2" charset="-122"/>
                <a:sym typeface="Symbol" panose="05050102010706020507" pitchFamily="18" charset="2"/>
              </a:rPr>
              <a:t>共晶组织中的相称</a:t>
            </a:r>
            <a:r>
              <a:rPr lang="zh-CN" altLang="en-US" sz="2800" b="1" dirty="0">
                <a:solidFill>
                  <a:srgbClr val="0000FF"/>
                </a:solidFill>
                <a:ea typeface="华文中宋" panose="02010600040101010101" pitchFamily="2" charset="-122"/>
                <a:sym typeface="Symbol" panose="05050102010706020507" pitchFamily="18" charset="2"/>
              </a:rPr>
              <a:t>共晶相</a:t>
            </a:r>
            <a:r>
              <a:rPr lang="zh-CN" altLang="en-US" sz="2800" b="1" dirty="0">
                <a:ea typeface="华文中宋" panose="02010600040101010101" pitchFamily="2" charset="-122"/>
                <a:sym typeface="Symbol" panose="05050102010706020507" pitchFamily="18" charset="2"/>
              </a:rPr>
              <a:t>。共晶转变结束时，</a:t>
            </a:r>
            <a:r>
              <a:rPr lang="zh-CN" altLang="en-US" sz="2800" b="1" i="1" dirty="0">
                <a:ea typeface="华文中宋" panose="02010600040101010101" pitchFamily="2" charset="-122"/>
                <a:sym typeface="Symbol" panose="05050102010706020507" pitchFamily="18" charset="2"/>
              </a:rPr>
              <a:t></a:t>
            </a:r>
            <a:r>
              <a:rPr lang="zh-CN" altLang="en-US" sz="2800" b="1" dirty="0">
                <a:ea typeface="华文中宋" panose="02010600040101010101" pitchFamily="2" charset="-122"/>
                <a:sym typeface="Symbol" panose="05050102010706020507" pitchFamily="18" charset="2"/>
              </a:rPr>
              <a:t> 和</a:t>
            </a:r>
            <a:r>
              <a:rPr lang="zh-CN" altLang="en-US" sz="2800" b="1" i="1" dirty="0">
                <a:ea typeface="华文中宋" panose="02010600040101010101" pitchFamily="2" charset="-122"/>
                <a:sym typeface="Symbol" panose="05050102010706020507" pitchFamily="18" charset="2"/>
              </a:rPr>
              <a:t> </a:t>
            </a:r>
            <a:r>
              <a:rPr lang="zh-CN" altLang="en-US" sz="2800" b="1" dirty="0">
                <a:ea typeface="华文中宋" panose="02010600040101010101" pitchFamily="2" charset="-122"/>
                <a:sym typeface="Symbol" panose="05050102010706020507" pitchFamily="18" charset="2"/>
              </a:rPr>
              <a:t> 相的相对质量百分比为：</a:t>
            </a:r>
          </a:p>
        </p:txBody>
      </p:sp>
      <mc:AlternateContent xmlns:mc="http://schemas.openxmlformats.org/markup-compatibility/2006" xmlns:a14="http://schemas.microsoft.com/office/drawing/2010/main">
        <mc:Choice Requires="a14">
          <p:sp>
            <p:nvSpPr>
              <p:cNvPr id="80899" name="Object 3"/>
              <p:cNvSpPr txBox="1"/>
              <p:nvPr/>
            </p:nvSpPr>
            <p:spPr>
              <a:xfrm>
                <a:off x="1547495" y="5301615"/>
                <a:ext cx="7063105" cy="1250315"/>
              </a:xfrm>
              <a:prstGeom prst="rect">
                <a:avLst/>
              </a:prstGeom>
              <a:solidFill>
                <a:schemeClr val="accent2"/>
              </a:solidFill>
              <a:ln w="38100">
                <a:noFill/>
                <a:miter/>
              </a:ln>
            </p:spPr>
            <p:txBody>
              <a:bodyPr>
                <a:normAutofit fontScale="85000"/>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𝛼</m:t>
                          </m:r>
                        </m:sub>
                      </m:sSub>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𝐸𝐷</m:t>
                          </m:r>
                        </m:num>
                        <m:den>
                          <m:r>
                            <a:rPr lang="zh-CN" altLang="en-US" sz="2800" i="1">
                              <a:solidFill>
                                <a:srgbClr val="000000"/>
                              </a:solidFill>
                              <a:latin typeface="Cambria Math" panose="02040503050406030204" pitchFamily="18" charset="0"/>
                            </a:rPr>
                            <m:t>𝐶𝐷</m:t>
                          </m:r>
                        </m:den>
                      </m:f>
                      <m:r>
                        <a:rPr lang="zh-CN" altLang="en-US" sz="2800" i="1">
                          <a:solidFill>
                            <a:srgbClr val="000000"/>
                          </a:solidFill>
                          <a:latin typeface="Cambria Math" panose="02040503050406030204" pitchFamily="18" charset="0"/>
                        </a:rPr>
                        <m:t>×100%=</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97.5−61.9</m:t>
                          </m:r>
                        </m:num>
                        <m:den>
                          <m:r>
                            <a:rPr lang="zh-CN" altLang="en-US" sz="2800" i="1">
                              <a:solidFill>
                                <a:srgbClr val="000000"/>
                              </a:solidFill>
                              <a:latin typeface="Cambria Math" panose="02040503050406030204" pitchFamily="18" charset="0"/>
                            </a:rPr>
                            <m:t>97.5−19.2</m:t>
                          </m:r>
                        </m:den>
                      </m:f>
                      <m:r>
                        <a:rPr lang="zh-CN" altLang="en-US" sz="2800" i="1">
                          <a:solidFill>
                            <a:srgbClr val="000000"/>
                          </a:solidFill>
                          <a:latin typeface="Cambria Math" panose="02040503050406030204" pitchFamily="18" charset="0"/>
                        </a:rPr>
                        <m:t>×100%=45.4%</m:t>
                      </m:r>
                    </m:oMath>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𝛽</m:t>
                          </m:r>
                        </m:sub>
                      </m:sSub>
                      <m:r>
                        <a:rPr lang="zh-CN" altLang="en-US" sz="2800" i="1">
                          <a:solidFill>
                            <a:srgbClr val="000000"/>
                          </a:solidFill>
                          <a:latin typeface="Cambria Math" panose="02040503050406030204" pitchFamily="18" charset="0"/>
                        </a:rPr>
                        <m:t>=100%−</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𝛼</m:t>
                          </m:r>
                        </m:sub>
                      </m:sSub>
                      <m:r>
                        <a:rPr lang="zh-CN" altLang="en-US" sz="2800" i="1">
                          <a:solidFill>
                            <a:srgbClr val="000000"/>
                          </a:solidFill>
                          <a:latin typeface="Cambria Math" panose="02040503050406030204" pitchFamily="18" charset="0"/>
                        </a:rPr>
                        <m:t>=54.6%</m:t>
                      </m:r>
                    </m:oMath>
                  </m:oMathPara>
                </a14:m>
                <a:endParaRPr lang="zh-CN" altLang="en-US" sz="2800" dirty="0"/>
              </a:p>
            </p:txBody>
          </p:sp>
        </mc:Choice>
        <mc:Fallback xmlns="">
          <p:sp>
            <p:nvSpPr>
              <p:cNvPr id="80899" name="Object 3"/>
              <p:cNvSpPr txBox="1">
                <a:spLocks noRot="1" noChangeAspect="1" noMove="1" noResize="1" noEditPoints="1" noAdjustHandles="1" noChangeArrowheads="1" noChangeShapeType="1" noTextEdit="1"/>
              </p:cNvSpPr>
              <p:nvPr/>
            </p:nvSpPr>
            <p:spPr>
              <a:xfrm>
                <a:off x="1547495" y="5301615"/>
                <a:ext cx="7063105" cy="1250315"/>
              </a:xfrm>
              <a:prstGeom prst="rect">
                <a:avLst/>
              </a:prstGeom>
              <a:blipFill rotWithShape="1">
                <a:blip r:embed="rId3"/>
                <a:stretch>
                  <a:fillRect/>
                </a:stretch>
              </a:blipFill>
              <a:ln w="38100">
                <a:noFill/>
                <a:miter/>
              </a:ln>
            </p:spPr>
            <p:txBody>
              <a:bodyPr/>
              <a:lstStyle/>
              <a:p>
                <a:r>
                  <a:rPr lang="zh-CN" altLang="en-US">
                    <a:noFill/>
                  </a:rPr>
                  <a:t> </a:t>
                </a:r>
              </a:p>
            </p:txBody>
          </p:sp>
        </mc:Fallback>
      </mc:AlternateContent>
      <p:grpSp>
        <p:nvGrpSpPr>
          <p:cNvPr id="2" name="Group 4"/>
          <p:cNvGrpSpPr/>
          <p:nvPr/>
        </p:nvGrpSpPr>
        <p:grpSpPr>
          <a:xfrm>
            <a:off x="5668167" y="2138074"/>
            <a:ext cx="2997612" cy="2902885"/>
            <a:chOff x="2976" y="336"/>
            <a:chExt cx="2448" cy="2544"/>
          </a:xfrm>
        </p:grpSpPr>
        <p:grpSp>
          <p:nvGrpSpPr>
            <p:cNvPr id="5128" name="Group 5"/>
            <p:cNvGrpSpPr>
              <a:grpSpLocks noChangeAspect="1"/>
            </p:cNvGrpSpPr>
            <p:nvPr/>
          </p:nvGrpSpPr>
          <p:grpSpPr>
            <a:xfrm>
              <a:off x="2976" y="336"/>
              <a:ext cx="2448" cy="2544"/>
              <a:chOff x="3360" y="2256"/>
              <a:chExt cx="2016" cy="1814"/>
            </a:xfrm>
          </p:grpSpPr>
          <p:pic>
            <p:nvPicPr>
              <p:cNvPr id="5132" name="Picture 6" descr="Pb-Sn相图2"/>
              <p:cNvPicPr>
                <a:picLocks noChangeAspect="1"/>
              </p:cNvPicPr>
              <p:nvPr/>
            </p:nvPicPr>
            <p:blipFill>
              <a:blip r:embed="rId4"/>
              <a:stretch>
                <a:fillRect/>
              </a:stretch>
            </p:blipFill>
            <p:spPr>
              <a:xfrm>
                <a:off x="3360" y="2256"/>
                <a:ext cx="2016" cy="1814"/>
              </a:xfrm>
              <a:prstGeom prst="rect">
                <a:avLst/>
              </a:prstGeom>
              <a:noFill/>
              <a:ln w="38100" cap="flat" cmpd="sng">
                <a:solidFill>
                  <a:srgbClr val="FF9900"/>
                </a:solidFill>
                <a:prstDash val="solid"/>
                <a:miter/>
                <a:headEnd type="none" w="med" len="med"/>
                <a:tailEnd type="none" w="med" len="med"/>
              </a:ln>
            </p:spPr>
          </p:pic>
          <p:sp>
            <p:nvSpPr>
              <p:cNvPr id="5133" name="Line 7"/>
              <p:cNvSpPr>
                <a:spLocks noChangeAspect="1"/>
              </p:cNvSpPr>
              <p:nvPr/>
            </p:nvSpPr>
            <p:spPr>
              <a:xfrm>
                <a:off x="4560" y="2496"/>
                <a:ext cx="0" cy="1344"/>
              </a:xfrm>
              <a:prstGeom prst="line">
                <a:avLst/>
              </a:prstGeom>
              <a:ln w="9525" cap="flat" cmpd="sng">
                <a:solidFill>
                  <a:schemeClr val="hlink"/>
                </a:solidFill>
                <a:prstDash val="solid"/>
                <a:miter/>
                <a:headEnd type="none" w="med" len="med"/>
                <a:tailEnd type="none" w="med" len="med"/>
              </a:ln>
            </p:spPr>
          </p:sp>
        </p:grpSp>
        <p:sp>
          <p:nvSpPr>
            <p:cNvPr id="5129" name="Rectangle 8"/>
            <p:cNvSpPr/>
            <p:nvPr/>
          </p:nvSpPr>
          <p:spPr>
            <a:xfrm>
              <a:off x="4224" y="1584"/>
              <a:ext cx="432" cy="144"/>
            </a:xfrm>
            <a:prstGeom prst="rect">
              <a:avLst/>
            </a:prstGeom>
            <a:solidFill>
              <a:schemeClr val="bg1"/>
            </a:solidFill>
            <a:ln w="9525" cap="flat" cmpd="sng">
              <a:noFill/>
              <a:prstDash val="solid"/>
              <a:miter/>
              <a:headEnd type="none" w="med" len="med"/>
              <a:tailEnd type="none" w="med" len="med"/>
            </a:ln>
          </p:spPr>
          <p:txBody>
            <a:bodyPr wrap="none" anchor="ctr"/>
            <a:lstStyle/>
            <a:p>
              <a:pPr lvl="0" algn="ctr" eaLnBrk="1" hangingPunct="1">
                <a:spcBef>
                  <a:spcPct val="50000"/>
                </a:spcBef>
              </a:pPr>
              <a:r>
                <a:rPr lang="en-US" altLang="zh-CN" sz="1200" b="1" dirty="0">
                  <a:solidFill>
                    <a:srgbClr val="003300"/>
                  </a:solidFill>
                  <a:latin typeface="Times New Roman" panose="02020603050405020304" pitchFamily="18" charset="0"/>
                  <a:ea typeface="宋体" panose="02010600030101010101" pitchFamily="2" charset="-122"/>
                </a:rPr>
                <a:t>E(61.9)</a:t>
              </a:r>
              <a:endParaRPr lang="en-US" altLang="zh-CN" sz="2400" dirty="0">
                <a:latin typeface="Times New Roman" panose="02020603050405020304" pitchFamily="18" charset="0"/>
                <a:ea typeface="宋体" panose="02010600030101010101" pitchFamily="2" charset="-122"/>
              </a:endParaRPr>
            </a:p>
          </p:txBody>
        </p:sp>
        <p:sp>
          <p:nvSpPr>
            <p:cNvPr id="5130" name="Rectangle 9"/>
            <p:cNvSpPr/>
            <p:nvPr/>
          </p:nvSpPr>
          <p:spPr>
            <a:xfrm>
              <a:off x="4776" y="1584"/>
              <a:ext cx="336" cy="144"/>
            </a:xfrm>
            <a:prstGeom prst="rect">
              <a:avLst/>
            </a:prstGeom>
            <a:solidFill>
              <a:schemeClr val="bg1"/>
            </a:solidFill>
            <a:ln w="9525" cap="flat" cmpd="sng">
              <a:noFill/>
              <a:prstDash val="solid"/>
              <a:miter/>
              <a:headEnd type="none" w="med" len="med"/>
              <a:tailEnd type="none" w="med" len="med"/>
            </a:ln>
          </p:spPr>
          <p:txBody>
            <a:bodyPr wrap="none" anchor="ctr"/>
            <a:lstStyle/>
            <a:p>
              <a:pPr lvl="0" algn="ctr" eaLnBrk="1" hangingPunct="1">
                <a:spcBef>
                  <a:spcPct val="50000"/>
                </a:spcBef>
              </a:pPr>
              <a:r>
                <a:rPr lang="en-US" altLang="zh-CN" sz="1200" b="1" dirty="0">
                  <a:solidFill>
                    <a:srgbClr val="003300"/>
                  </a:solidFill>
                  <a:latin typeface="Times New Roman" panose="02020603050405020304" pitchFamily="18" charset="0"/>
                  <a:ea typeface="宋体" panose="02010600030101010101" pitchFamily="2" charset="-122"/>
                </a:rPr>
                <a:t>D(97.5)</a:t>
              </a:r>
            </a:p>
          </p:txBody>
        </p:sp>
        <p:sp>
          <p:nvSpPr>
            <p:cNvPr id="5131" name="Rectangle 10"/>
            <p:cNvSpPr/>
            <p:nvPr/>
          </p:nvSpPr>
          <p:spPr>
            <a:xfrm>
              <a:off x="3528" y="1584"/>
              <a:ext cx="384" cy="144"/>
            </a:xfrm>
            <a:prstGeom prst="rect">
              <a:avLst/>
            </a:prstGeom>
            <a:solidFill>
              <a:schemeClr val="bg1"/>
            </a:solidFill>
            <a:ln w="9525" cap="flat" cmpd="sng">
              <a:noFill/>
              <a:prstDash val="solid"/>
              <a:miter/>
              <a:headEnd type="none" w="med" len="med"/>
              <a:tailEnd type="none" w="med" len="med"/>
            </a:ln>
          </p:spPr>
          <p:txBody>
            <a:bodyPr wrap="none" anchor="ctr"/>
            <a:lstStyle/>
            <a:p>
              <a:pPr lvl="0" algn="ctr" eaLnBrk="1" hangingPunct="1">
                <a:spcBef>
                  <a:spcPct val="50000"/>
                </a:spcBef>
              </a:pPr>
              <a:r>
                <a:rPr lang="en-US" altLang="zh-CN" sz="1200" b="1" dirty="0">
                  <a:solidFill>
                    <a:srgbClr val="003300"/>
                  </a:solidFill>
                  <a:latin typeface="Times New Roman" panose="02020603050405020304" pitchFamily="18" charset="0"/>
                  <a:ea typeface="宋体" panose="02010600030101010101" pitchFamily="2" charset="-122"/>
                </a:rPr>
                <a:t>C(19.2)</a:t>
              </a:r>
            </a:p>
          </p:txBody>
        </p:sp>
      </p:grpSp>
      <p:pic>
        <p:nvPicPr>
          <p:cNvPr id="14" name="内容占位符 1" descr="新校徽（3M）弓之乐"/>
          <p:cNvPicPr>
            <a:picLocks noChangeAspect="1"/>
          </p:cNvPicPr>
          <p:nvPr/>
        </p:nvPicPr>
        <p:blipFill>
          <a:blip r:embed="rId5"/>
          <a:stretch>
            <a:fillRect/>
          </a:stretch>
        </p:blipFill>
        <p:spPr>
          <a:xfrm>
            <a:off x="0" y="0"/>
            <a:ext cx="746760" cy="735965"/>
          </a:xfrm>
          <a:prstGeom prst="rect">
            <a:avLst/>
          </a:prstGeom>
          <a:noFill/>
          <a:ln w="9525">
            <a:noFill/>
          </a:ln>
        </p:spPr>
      </p:pic>
      <p:sp>
        <p:nvSpPr>
          <p:cNvPr id="284674" name="Rectangle 2"/>
          <p:cNvSpPr>
            <a:spLocks noGrp="1" noChangeArrowheads="1"/>
          </p:cNvSpPr>
          <p:nvPr>
            <p:ph type="title"/>
          </p:nvPr>
        </p:nvSpPr>
        <p:spPr>
          <a:xfrm>
            <a:off x="1042988" y="0"/>
            <a:ext cx="8101013"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② </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共晶合金</a:t>
            </a: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(Ⅱ</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合金</a:t>
            </a: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的结晶过程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0898">
                                            <p:txEl>
                                              <p:pRg st="0" end="0"/>
                                            </p:txEl>
                                          </p:spTgt>
                                        </p:tgtEl>
                                        <p:attrNameLst>
                                          <p:attrName>style.visibility</p:attrName>
                                        </p:attrNameLst>
                                      </p:cBhvr>
                                      <p:to>
                                        <p:strVal val="visible"/>
                                      </p:to>
                                    </p:set>
                                    <p:animEffect transition="in" filter="wipe(left)">
                                      <p:cBhvr>
                                        <p:cTn id="7" dur="500"/>
                                        <p:tgtEl>
                                          <p:spTgt spid="80898">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0898">
                                            <p:txEl>
                                              <p:pRg st="1" end="1"/>
                                            </p:txEl>
                                          </p:spTgt>
                                        </p:tgtEl>
                                        <p:attrNameLst>
                                          <p:attrName>style.visibility</p:attrName>
                                        </p:attrNameLst>
                                      </p:cBhvr>
                                      <p:to>
                                        <p:strVal val="visible"/>
                                      </p:to>
                                    </p:set>
                                    <p:animEffect transition="in" filter="wipe(left)">
                                      <p:cBhvr>
                                        <p:cTn id="11" dur="500"/>
                                        <p:tgtEl>
                                          <p:spTgt spid="80898">
                                            <p:txEl>
                                              <p:pRg st="1" end="1"/>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up)">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8" grpId="0" uiExpand="1" build="p" advAuto="100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日期占位符 3"/>
          <p:cNvSpPr txBox="1">
            <a:spLocks noGrp="1"/>
          </p:cNvSpPr>
          <p:nvPr>
            <p:ph type="dt" sz="half" idx="10"/>
          </p:nvPr>
        </p:nvSpPr>
        <p:spPr>
          <a:xfrm>
            <a:off x="0" y="6510338"/>
            <a:ext cx="2590800"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75779" name="灯片编号占位符 5"/>
          <p:cNvSpPr txBox="1">
            <a:spLocks noGrp="1"/>
          </p:cNvSpPr>
          <p:nvPr>
            <p:ph type="sldNum" sz="quarter" idx="12"/>
          </p:nvPr>
        </p:nvSpPr>
        <p:spPr>
          <a:xfrm>
            <a:off x="8460740" y="6548120"/>
            <a:ext cx="683260" cy="309880"/>
          </a:xfrm>
        </p:spPr>
        <p:txBody>
          <a:bodyPr lIns="92075" tIns="46038" rIns="92075" bIns="46038" anchor="ctr"/>
          <a:lstStyle/>
          <a:p>
            <a:pPr algn="r" eaLnBrk="1" hangingPunct="1"/>
            <a:fld id="{9A0DB2DC-4C9A-4742-B13C-FB6460FD3503}" type="slidenum">
              <a:rPr lang="en-US" altLang="zh-CN" sz="1400" dirty="0"/>
              <a:t>75</a:t>
            </a:fld>
            <a:endParaRPr lang="en-US" altLang="zh-CN" sz="1400" dirty="0"/>
          </a:p>
        </p:txBody>
      </p:sp>
      <p:sp>
        <p:nvSpPr>
          <p:cNvPr id="81922" name="Rectangle 2"/>
          <p:cNvSpPr>
            <a:spLocks noGrp="1"/>
          </p:cNvSpPr>
          <p:nvPr>
            <p:ph idx="1"/>
          </p:nvPr>
        </p:nvSpPr>
        <p:spPr>
          <a:xfrm>
            <a:off x="755650" y="1628775"/>
            <a:ext cx="8439150" cy="3966210"/>
          </a:xfrm>
        </p:spPr>
        <p:txBody>
          <a:bodyPr vert="horz" wrap="square" lIns="91440" tIns="45720" rIns="91440" bIns="45720" anchor="t"/>
          <a:lstStyle/>
          <a:p>
            <a:pPr eaLnBrk="1" hangingPunct="1">
              <a:lnSpc>
                <a:spcPct val="110000"/>
              </a:lnSpc>
            </a:pPr>
            <a:r>
              <a:rPr lang="zh-CN" altLang="en-US" sz="2800" b="1" dirty="0">
                <a:ea typeface="华文中宋" panose="02010600040101010101" pitchFamily="2" charset="-122"/>
              </a:rPr>
              <a:t>共晶结束后，随温度下降， </a:t>
            </a:r>
            <a:r>
              <a:rPr lang="zh-CN" altLang="en-US" sz="2800" b="1" i="1" dirty="0">
                <a:ea typeface="华文中宋" panose="02010600040101010101" pitchFamily="2" charset="-122"/>
                <a:sym typeface="Symbol" panose="05050102010706020507" pitchFamily="18" charset="2"/>
              </a:rPr>
              <a:t></a:t>
            </a:r>
            <a:r>
              <a:rPr lang="zh-CN" altLang="en-US" sz="2800" b="1" dirty="0">
                <a:ea typeface="华文中宋" panose="02010600040101010101" pitchFamily="2" charset="-122"/>
                <a:sym typeface="Symbol" panose="05050102010706020507" pitchFamily="18" charset="2"/>
              </a:rPr>
              <a:t> 和 </a:t>
            </a:r>
            <a:r>
              <a:rPr lang="zh-CN" altLang="en-US" sz="2800" b="1" i="1" dirty="0">
                <a:ea typeface="华文中宋" panose="02010600040101010101" pitchFamily="2" charset="-122"/>
                <a:sym typeface="Symbol" panose="05050102010706020507" pitchFamily="18" charset="2"/>
              </a:rPr>
              <a:t></a:t>
            </a:r>
            <a:r>
              <a:rPr lang="zh-CN" altLang="en-US" sz="2800" b="1" dirty="0">
                <a:ea typeface="华文中宋" panose="02010600040101010101" pitchFamily="2" charset="-122"/>
                <a:sym typeface="Symbol" panose="05050102010706020507" pitchFamily="18" charset="2"/>
              </a:rPr>
              <a:t>  的成分分别沿</a:t>
            </a:r>
            <a:r>
              <a:rPr lang="en-US" altLang="zh-CN" sz="2800" b="1" dirty="0">
                <a:ea typeface="华文中宋" panose="02010600040101010101" pitchFamily="2" charset="-122"/>
                <a:sym typeface="Symbol" panose="05050102010706020507" pitchFamily="18" charset="2"/>
              </a:rPr>
              <a:t>CF</a:t>
            </a:r>
            <a:r>
              <a:rPr lang="zh-CN" altLang="en-US" sz="2800" b="1" dirty="0">
                <a:ea typeface="华文中宋" panose="02010600040101010101" pitchFamily="2" charset="-122"/>
                <a:sym typeface="Symbol" panose="05050102010706020507" pitchFamily="18" charset="2"/>
              </a:rPr>
              <a:t>线和</a:t>
            </a:r>
            <a:r>
              <a:rPr lang="en-US" altLang="zh-CN" sz="2800" b="1" dirty="0">
                <a:ea typeface="华文中宋" panose="02010600040101010101" pitchFamily="2" charset="-122"/>
                <a:sym typeface="Symbol" panose="05050102010706020507" pitchFamily="18" charset="2"/>
              </a:rPr>
              <a:t>DG</a:t>
            </a:r>
            <a:r>
              <a:rPr lang="zh-CN" altLang="en-US" sz="2800" b="1" dirty="0">
                <a:ea typeface="华文中宋" panose="02010600040101010101" pitchFamily="2" charset="-122"/>
                <a:sym typeface="Symbol" panose="05050102010706020507" pitchFamily="18" charset="2"/>
              </a:rPr>
              <a:t>线变化，并从共晶 </a:t>
            </a:r>
            <a:r>
              <a:rPr lang="zh-CN" altLang="en-US" sz="2800" b="1" i="1" dirty="0">
                <a:solidFill>
                  <a:srgbClr val="0000FF"/>
                </a:solidFill>
                <a:ea typeface="华文中宋" panose="02010600040101010101" pitchFamily="2" charset="-122"/>
                <a:sym typeface="Symbol" panose="05050102010706020507" pitchFamily="18" charset="2"/>
              </a:rPr>
              <a:t></a:t>
            </a:r>
            <a:r>
              <a:rPr lang="zh-CN" altLang="en-US" sz="2800" b="1" dirty="0">
                <a:ea typeface="华文中宋" panose="02010600040101010101" pitchFamily="2" charset="-122"/>
                <a:sym typeface="Symbol" panose="05050102010706020507" pitchFamily="18" charset="2"/>
              </a:rPr>
              <a:t> 中析出</a:t>
            </a:r>
            <a:r>
              <a:rPr lang="zh-CN" altLang="en-US" sz="2800" b="1" i="1" dirty="0">
                <a:solidFill>
                  <a:srgbClr val="0000FF"/>
                </a:solidFill>
                <a:ea typeface="华文中宋" panose="02010600040101010101" pitchFamily="2" charset="-122"/>
                <a:sym typeface="Symbol" panose="05050102010706020507" pitchFamily="18" charset="2"/>
              </a:rPr>
              <a:t></a:t>
            </a:r>
            <a:r>
              <a:rPr lang="en-US" altLang="zh-CN" sz="2800" b="1" baseline="-25000" dirty="0">
                <a:solidFill>
                  <a:srgbClr val="0000FF"/>
                </a:solidFill>
                <a:ea typeface="华文中宋" panose="02010600040101010101" pitchFamily="2" charset="-122"/>
                <a:sym typeface="Symbol" panose="05050102010706020507" pitchFamily="18" charset="2"/>
              </a:rPr>
              <a:t>Ⅱ</a:t>
            </a:r>
            <a:r>
              <a:rPr lang="en-US" altLang="zh-CN" sz="2800" b="1" dirty="0">
                <a:ea typeface="华文中宋" panose="02010600040101010101" pitchFamily="2" charset="-122"/>
                <a:sym typeface="Symbol" panose="05050102010706020507" pitchFamily="18" charset="2"/>
              </a:rPr>
              <a:t> </a:t>
            </a:r>
            <a:r>
              <a:rPr lang="zh-CN" altLang="en-US" sz="2800" b="1" dirty="0">
                <a:ea typeface="华文中宋" panose="02010600040101010101" pitchFamily="2" charset="-122"/>
                <a:sym typeface="Symbol" panose="05050102010706020507" pitchFamily="18" charset="2"/>
              </a:rPr>
              <a:t>，从共晶 </a:t>
            </a:r>
            <a:r>
              <a:rPr lang="zh-CN" altLang="en-US" sz="2800" b="1" i="1" dirty="0">
                <a:solidFill>
                  <a:srgbClr val="0000FF"/>
                </a:solidFill>
                <a:ea typeface="华文中宋" panose="02010600040101010101" pitchFamily="2" charset="-122"/>
                <a:sym typeface="Symbol" panose="05050102010706020507" pitchFamily="18" charset="2"/>
              </a:rPr>
              <a:t></a:t>
            </a:r>
            <a:r>
              <a:rPr lang="zh-CN" altLang="en-US" sz="2800" b="1" dirty="0">
                <a:ea typeface="华文中宋" panose="02010600040101010101" pitchFamily="2" charset="-122"/>
                <a:sym typeface="Symbol" panose="05050102010706020507" pitchFamily="18" charset="2"/>
              </a:rPr>
              <a:t> 中析出</a:t>
            </a:r>
            <a:r>
              <a:rPr lang="zh-CN" altLang="en-US" sz="2800" b="1" i="1" dirty="0">
                <a:solidFill>
                  <a:srgbClr val="0000FF"/>
                </a:solidFill>
                <a:ea typeface="华文中宋" panose="02010600040101010101" pitchFamily="2" charset="-122"/>
                <a:sym typeface="Symbol" panose="05050102010706020507" pitchFamily="18" charset="2"/>
              </a:rPr>
              <a:t></a:t>
            </a:r>
            <a:r>
              <a:rPr lang="en-US" altLang="zh-CN" sz="2800" b="1" baseline="-25000" dirty="0">
                <a:solidFill>
                  <a:srgbClr val="0000FF"/>
                </a:solidFill>
                <a:ea typeface="华文中宋" panose="02010600040101010101" pitchFamily="2" charset="-122"/>
                <a:sym typeface="Symbol" panose="05050102010706020507" pitchFamily="18" charset="2"/>
              </a:rPr>
              <a:t>Ⅱ</a:t>
            </a:r>
            <a:r>
              <a:rPr lang="en-US" altLang="zh-CN" sz="2800" b="1" dirty="0">
                <a:ea typeface="华文中宋" panose="02010600040101010101" pitchFamily="2" charset="-122"/>
                <a:sym typeface="Symbol" panose="05050102010706020507" pitchFamily="18" charset="2"/>
              </a:rPr>
              <a:t> </a:t>
            </a:r>
            <a:r>
              <a:rPr lang="zh-CN" altLang="en-US" sz="2800" b="1" dirty="0">
                <a:ea typeface="华文中宋" panose="02010600040101010101" pitchFamily="2" charset="-122"/>
                <a:sym typeface="Symbol" panose="05050102010706020507" pitchFamily="18" charset="2"/>
              </a:rPr>
              <a:t>，由于共晶组织细</a:t>
            </a:r>
            <a:r>
              <a:rPr lang="en-US" altLang="zh-CN" sz="2800" b="1" dirty="0">
                <a:ea typeface="华文中宋" panose="02010600040101010101" pitchFamily="2" charset="-122"/>
                <a:sym typeface="Symbol" panose="05050102010706020507" pitchFamily="18" charset="2"/>
              </a:rPr>
              <a:t>,  </a:t>
            </a:r>
            <a:r>
              <a:rPr lang="en-US" altLang="zh-CN" sz="2800" b="1" i="1" dirty="0">
                <a:ea typeface="华文中宋" panose="02010600040101010101" pitchFamily="2" charset="-122"/>
                <a:sym typeface="Symbol" panose="05050102010706020507" pitchFamily="18" charset="2"/>
              </a:rPr>
              <a:t></a:t>
            </a:r>
            <a:r>
              <a:rPr lang="en-US" altLang="zh-CN" sz="2800" b="1" baseline="-25000" dirty="0">
                <a:ea typeface="华文中宋" panose="02010600040101010101" pitchFamily="2" charset="-122"/>
                <a:sym typeface="Symbol" panose="05050102010706020507" pitchFamily="18" charset="2"/>
              </a:rPr>
              <a:t>Ⅱ </a:t>
            </a:r>
            <a:r>
              <a:rPr lang="zh-CN" altLang="en-US" sz="2800" b="1" dirty="0">
                <a:ea typeface="华文中宋" panose="02010600040101010101" pitchFamily="2" charset="-122"/>
                <a:sym typeface="Symbol" panose="05050102010706020507" pitchFamily="18" charset="2"/>
              </a:rPr>
              <a:t>与共晶结合，</a:t>
            </a:r>
            <a:r>
              <a:rPr lang="zh-CN" altLang="en-US" sz="2800" b="1" i="1" dirty="0">
                <a:ea typeface="华文中宋" panose="02010600040101010101" pitchFamily="2" charset="-122"/>
                <a:sym typeface="Symbol" panose="05050102010706020507" pitchFamily="18" charset="2"/>
              </a:rPr>
              <a:t> </a:t>
            </a:r>
            <a:r>
              <a:rPr lang="en-US" altLang="zh-CN" sz="2800" b="1" baseline="-25000" dirty="0">
                <a:ea typeface="华文中宋" panose="02010600040101010101" pitchFamily="2" charset="-122"/>
                <a:sym typeface="Symbol" panose="05050102010706020507" pitchFamily="18" charset="2"/>
              </a:rPr>
              <a:t>Ⅱ </a:t>
            </a:r>
            <a:r>
              <a:rPr lang="zh-CN" altLang="en-US" sz="2800" b="1" dirty="0">
                <a:ea typeface="华文中宋" panose="02010600040101010101" pitchFamily="2" charset="-122"/>
                <a:sym typeface="Symbol" panose="05050102010706020507" pitchFamily="18" charset="2"/>
              </a:rPr>
              <a:t>与共晶</a:t>
            </a:r>
            <a:r>
              <a:rPr lang="zh-CN" altLang="en-US" sz="2800" b="1" i="1" dirty="0">
                <a:ea typeface="华文中宋" panose="02010600040101010101" pitchFamily="2" charset="-122"/>
                <a:sym typeface="Symbol" panose="05050102010706020507" pitchFamily="18" charset="2"/>
              </a:rPr>
              <a:t></a:t>
            </a:r>
            <a:r>
              <a:rPr lang="zh-CN" altLang="en-US" sz="2800" b="1" baseline="-25000" dirty="0">
                <a:ea typeface="华文中宋" panose="02010600040101010101" pitchFamily="2" charset="-122"/>
                <a:sym typeface="Symbol" panose="05050102010706020507" pitchFamily="18" charset="2"/>
              </a:rPr>
              <a:t>  </a:t>
            </a:r>
            <a:r>
              <a:rPr lang="zh-CN" altLang="en-US" sz="2800" b="1" dirty="0">
                <a:ea typeface="华文中宋" panose="02010600040101010101" pitchFamily="2" charset="-122"/>
                <a:sym typeface="Symbol" panose="05050102010706020507" pitchFamily="18" charset="2"/>
              </a:rPr>
              <a:t>结合，二次相不易分辨，故共晶合金的室温组织仍为 </a:t>
            </a:r>
            <a:r>
              <a:rPr lang="en-US" altLang="zh-CN" sz="2800" b="1" dirty="0">
                <a:ea typeface="华文中宋" panose="02010600040101010101" pitchFamily="2" charset="-122"/>
                <a:sym typeface="Symbol" panose="05050102010706020507" pitchFamily="18" charset="2"/>
              </a:rPr>
              <a:t>( </a:t>
            </a:r>
            <a:r>
              <a:rPr lang="en-US" altLang="zh-CN" sz="2800" b="1" i="1" dirty="0">
                <a:solidFill>
                  <a:srgbClr val="0000FF"/>
                </a:solidFill>
                <a:ea typeface="华文中宋" panose="02010600040101010101" pitchFamily="2" charset="-122"/>
                <a:sym typeface="Symbol" panose="05050102010706020507" pitchFamily="18" charset="2"/>
              </a:rPr>
              <a:t></a:t>
            </a:r>
            <a:r>
              <a:rPr lang="en-US" altLang="zh-CN" sz="2800" b="1" dirty="0">
                <a:solidFill>
                  <a:srgbClr val="0000FF"/>
                </a:solidFill>
                <a:ea typeface="华文中宋" panose="02010600040101010101" pitchFamily="2" charset="-122"/>
                <a:sym typeface="Symbol" panose="05050102010706020507" pitchFamily="18" charset="2"/>
              </a:rPr>
              <a:t>+</a:t>
            </a:r>
            <a:r>
              <a:rPr lang="en-US" altLang="zh-CN" sz="2800" b="1" i="1" dirty="0">
                <a:solidFill>
                  <a:srgbClr val="0000FF"/>
                </a:solidFill>
                <a:ea typeface="华文中宋" panose="02010600040101010101" pitchFamily="2" charset="-122"/>
                <a:sym typeface="Symbol" panose="05050102010706020507" pitchFamily="18" charset="2"/>
              </a:rPr>
              <a:t></a:t>
            </a:r>
            <a:r>
              <a:rPr lang="en-US" altLang="zh-CN" sz="2800" b="1" dirty="0">
                <a:solidFill>
                  <a:srgbClr val="0000FF"/>
                </a:solidFill>
                <a:ea typeface="华文中宋" panose="02010600040101010101" pitchFamily="2" charset="-122"/>
                <a:sym typeface="Symbol" panose="05050102010706020507" pitchFamily="18" charset="2"/>
              </a:rPr>
              <a:t> </a:t>
            </a:r>
            <a:r>
              <a:rPr lang="en-US" altLang="zh-CN" sz="2800" b="1" dirty="0">
                <a:ea typeface="华文中宋" panose="02010600040101010101" pitchFamily="2" charset="-122"/>
                <a:sym typeface="Symbol" panose="05050102010706020507" pitchFamily="18" charset="2"/>
              </a:rPr>
              <a:t>) </a:t>
            </a:r>
            <a:r>
              <a:rPr lang="zh-CN" altLang="en-US" sz="2800" b="1" dirty="0">
                <a:ea typeface="华文中宋" panose="02010600040101010101" pitchFamily="2" charset="-122"/>
                <a:sym typeface="Symbol" panose="05050102010706020507" pitchFamily="18" charset="2"/>
              </a:rPr>
              <a:t>共晶体。</a:t>
            </a:r>
          </a:p>
        </p:txBody>
      </p:sp>
      <p:sp>
        <p:nvSpPr>
          <p:cNvPr id="81927" name="Text Box 7"/>
          <p:cNvSpPr txBox="1"/>
          <p:nvPr/>
        </p:nvSpPr>
        <p:spPr>
          <a:xfrm>
            <a:off x="573509" y="4065905"/>
            <a:ext cx="4681538" cy="406400"/>
          </a:xfrm>
          <a:prstGeom prst="rect">
            <a:avLst/>
          </a:prstGeom>
          <a:noFill/>
          <a:ln w="9525" cap="flat" cmpd="sng">
            <a:solidFill>
              <a:srgbClr val="FF6600"/>
            </a:solidFill>
            <a:prstDash val="solid"/>
            <a:miter/>
            <a:headEnd type="none" w="med" len="med"/>
            <a:tailEnd type="none" w="med" len="med"/>
          </a:ln>
        </p:spPr>
        <p:txBody>
          <a:bodyPr>
            <a:spAutoFit/>
          </a:bodyPr>
          <a:lstStyle/>
          <a:p>
            <a:pPr lvl="0" eaLnBrk="1" hangingPunct="1">
              <a:spcBef>
                <a:spcPct val="50000"/>
              </a:spcBef>
            </a:pPr>
            <a:r>
              <a:rPr lang="zh-CN" altLang="en-US" sz="2000" b="1" dirty="0">
                <a:solidFill>
                  <a:srgbClr val="FF0000"/>
                </a:solidFill>
                <a:latin typeface="Times New Roman" panose="02020603050405020304" pitchFamily="18" charset="0"/>
                <a:ea typeface="华文中宋" panose="02010600040101010101" pitchFamily="2" charset="-122"/>
              </a:rPr>
              <a:t>室温下两相的相对重量百分比是多少？</a:t>
            </a:r>
          </a:p>
        </p:txBody>
      </p:sp>
      <p:grpSp>
        <p:nvGrpSpPr>
          <p:cNvPr id="75782" name="Group 16"/>
          <p:cNvGrpSpPr/>
          <p:nvPr/>
        </p:nvGrpSpPr>
        <p:grpSpPr>
          <a:xfrm>
            <a:off x="2299335" y="4556125"/>
            <a:ext cx="2233295" cy="2182495"/>
            <a:chOff x="432" y="2112"/>
            <a:chExt cx="1687" cy="2132"/>
          </a:xfrm>
        </p:grpSpPr>
        <p:pic>
          <p:nvPicPr>
            <p:cNvPr id="75785" name="Picture 9" descr="旋转 Pb-Sn共晶合金组织"/>
            <p:cNvPicPr>
              <a:picLocks noChangeAspect="1"/>
            </p:cNvPicPr>
            <p:nvPr/>
          </p:nvPicPr>
          <p:blipFill>
            <a:blip r:embed="rId3"/>
            <a:stretch>
              <a:fillRect/>
            </a:stretch>
          </p:blipFill>
          <p:spPr>
            <a:xfrm>
              <a:off x="432" y="2112"/>
              <a:ext cx="1687" cy="1929"/>
            </a:xfrm>
            <a:prstGeom prst="rect">
              <a:avLst/>
            </a:prstGeom>
            <a:noFill/>
            <a:ln w="28575" cap="flat" cmpd="sng">
              <a:solidFill>
                <a:srgbClr val="FF00FF"/>
              </a:solidFill>
              <a:prstDash val="solid"/>
              <a:miter/>
              <a:headEnd type="none" w="med" len="med"/>
              <a:tailEnd type="none" w="med" len="med"/>
            </a:ln>
          </p:spPr>
        </p:pic>
        <p:sp>
          <p:nvSpPr>
            <p:cNvPr id="75786" name="Rectangle 10"/>
            <p:cNvSpPr/>
            <p:nvPr/>
          </p:nvSpPr>
          <p:spPr>
            <a:xfrm>
              <a:off x="712" y="4123"/>
              <a:ext cx="1177" cy="121"/>
            </a:xfrm>
            <a:prstGeom prst="rect">
              <a:avLst/>
            </a:prstGeom>
            <a:solidFill>
              <a:schemeClr val="bg1"/>
            </a:solidFill>
            <a:ln w="28575" cap="flat" cmpd="sng">
              <a:noFill/>
              <a:prstDash val="solid"/>
              <a:miter/>
              <a:headEnd type="none" w="med" len="med"/>
              <a:tailEnd type="none" w="med" len="med"/>
            </a:ln>
          </p:spPr>
          <p:txBody>
            <a:bodyPr wrap="none" anchor="ctr"/>
            <a:lstStyle/>
            <a:p>
              <a:pPr lvl="0" algn="ctr" eaLnBrk="1" hangingPunct="1"/>
              <a:r>
                <a:rPr lang="en-US" altLang="zh-CN" sz="1600" b="1" dirty="0">
                  <a:solidFill>
                    <a:srgbClr val="800000"/>
                  </a:solidFill>
                  <a:latin typeface="Times New Roman" panose="02020603050405020304" pitchFamily="18" charset="0"/>
                  <a:ea typeface="宋体" panose="02010600030101010101" pitchFamily="2" charset="-122"/>
                </a:rPr>
                <a:t>Pb-Sn</a:t>
              </a:r>
              <a:r>
                <a:rPr lang="zh-CN" altLang="en-US" sz="1600" b="1" dirty="0">
                  <a:solidFill>
                    <a:srgbClr val="800000"/>
                  </a:solidFill>
                  <a:latin typeface="Times New Roman" panose="02020603050405020304" pitchFamily="18" charset="0"/>
                  <a:ea typeface="宋体" panose="02010600030101010101" pitchFamily="2" charset="-122"/>
                </a:rPr>
                <a:t>共晶合金组织</a:t>
              </a:r>
            </a:p>
          </p:txBody>
        </p:sp>
      </p:grpSp>
      <p:pic>
        <p:nvPicPr>
          <p:cNvPr id="75783" name="Picture 21" descr="〈工程材料〉图3-17"/>
          <p:cNvPicPr>
            <a:picLocks noChangeAspect="1"/>
          </p:cNvPicPr>
          <p:nvPr/>
        </p:nvPicPr>
        <p:blipFill>
          <a:blip r:embed="rId4"/>
          <a:stretch>
            <a:fillRect/>
          </a:stretch>
        </p:blipFill>
        <p:spPr>
          <a:xfrm>
            <a:off x="5255260" y="4006215"/>
            <a:ext cx="2729865" cy="2696845"/>
          </a:xfrm>
          <a:prstGeom prst="rect">
            <a:avLst/>
          </a:prstGeom>
          <a:noFill/>
          <a:ln w="9525">
            <a:noFill/>
          </a:ln>
        </p:spPr>
      </p:pic>
      <p:pic>
        <p:nvPicPr>
          <p:cNvPr id="11" name="内容占位符 1" descr="新校徽（3M）弓之乐"/>
          <p:cNvPicPr>
            <a:picLocks noChangeAspect="1"/>
          </p:cNvPicPr>
          <p:nvPr/>
        </p:nvPicPr>
        <p:blipFill>
          <a:blip r:embed="rId5"/>
          <a:stretch>
            <a:fillRect/>
          </a:stretch>
        </p:blipFill>
        <p:spPr>
          <a:xfrm>
            <a:off x="0" y="0"/>
            <a:ext cx="746760" cy="735965"/>
          </a:xfrm>
          <a:prstGeom prst="rect">
            <a:avLst/>
          </a:prstGeom>
          <a:noFill/>
          <a:ln w="9525">
            <a:noFill/>
          </a:ln>
        </p:spPr>
      </p:pic>
      <p:sp>
        <p:nvSpPr>
          <p:cNvPr id="284674" name="Rectangle 2"/>
          <p:cNvSpPr>
            <a:spLocks noGrp="1" noChangeArrowheads="1"/>
          </p:cNvSpPr>
          <p:nvPr>
            <p:ph type="title"/>
          </p:nvPr>
        </p:nvSpPr>
        <p:spPr>
          <a:xfrm>
            <a:off x="915353" y="-99060"/>
            <a:ext cx="8101013"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② </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共晶合金</a:t>
            </a: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(Ⅱ</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合金</a:t>
            </a: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的结晶过程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1922">
                                            <p:txEl>
                                              <p:pRg st="0" end="0"/>
                                            </p:txEl>
                                          </p:spTgt>
                                        </p:tgtEl>
                                        <p:attrNameLst>
                                          <p:attrName>style.visibility</p:attrName>
                                        </p:attrNameLst>
                                      </p:cBhvr>
                                      <p:to>
                                        <p:strVal val="visible"/>
                                      </p:to>
                                    </p:set>
                                    <p:animEffect transition="in" filter="wipe(left)">
                                      <p:cBhvr>
                                        <p:cTn id="7" dur="500"/>
                                        <p:tgtEl>
                                          <p:spTgt spid="819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927"/>
                                        </p:tgtEl>
                                        <p:attrNameLst>
                                          <p:attrName>style.visibility</p:attrName>
                                        </p:attrNameLst>
                                      </p:cBhvr>
                                      <p:to>
                                        <p:strVal val="visible"/>
                                      </p:to>
                                    </p:set>
                                    <p:animEffect transition="in" filter="wipe(left)">
                                      <p:cBhvr>
                                        <p:cTn id="12" dur="500"/>
                                        <p:tgtEl>
                                          <p:spTgt spid="819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2" grpId="0" build="p" advAuto="1000"/>
      <p:bldP spid="81927" grpId="0" bldLvl="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日期占位符 3"/>
          <p:cNvSpPr txBox="1">
            <a:spLocks noGrp="1"/>
          </p:cNvSpPr>
          <p:nvPr>
            <p:ph type="dt" sz="half" idx="10"/>
          </p:nvPr>
        </p:nvSpPr>
        <p:spPr>
          <a:xfrm>
            <a:off x="357505" y="6510655"/>
            <a:ext cx="2337435" cy="34734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76803" name="灯片编号占位符 5"/>
          <p:cNvSpPr txBox="1">
            <a:spLocks noGrp="1"/>
          </p:cNvSpPr>
          <p:nvPr>
            <p:ph type="sldNum" sz="quarter" idx="12"/>
          </p:nvPr>
        </p:nvSpPr>
        <p:spPr>
          <a:xfrm>
            <a:off x="8709660" y="6583045"/>
            <a:ext cx="434340" cy="284480"/>
          </a:xfrm>
        </p:spPr>
        <p:txBody>
          <a:bodyPr lIns="92075" tIns="46038" rIns="92075" bIns="46038" anchor="ctr"/>
          <a:lstStyle/>
          <a:p>
            <a:pPr algn="r" eaLnBrk="1" hangingPunct="1"/>
            <a:fld id="{9A0DB2DC-4C9A-4742-B13C-FB6460FD3503}" type="slidenum">
              <a:rPr lang="en-US" altLang="zh-CN" sz="1400" dirty="0"/>
              <a:t>76</a:t>
            </a:fld>
            <a:endParaRPr lang="en-US" altLang="zh-CN" sz="1400" dirty="0"/>
          </a:p>
        </p:txBody>
      </p:sp>
      <p:sp>
        <p:nvSpPr>
          <p:cNvPr id="284674" name="Rectangle 2"/>
          <p:cNvSpPr>
            <a:spLocks noGrp="1" noChangeArrowheads="1"/>
          </p:cNvSpPr>
          <p:nvPr>
            <p:ph type="title"/>
          </p:nvPr>
        </p:nvSpPr>
        <p:spPr>
          <a:xfrm>
            <a:off x="763771" y="178983"/>
            <a:ext cx="8429625" cy="928688"/>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③亚共晶合金</a:t>
            </a:r>
            <a:r>
              <a:rPr kumimoji="1" lang="en-US" altLang="zh-CN" sz="40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(Ⅲ</a:t>
            </a:r>
            <a:r>
              <a:rPr kumimoji="1" lang="zh-CN" altLang="en-US" sz="40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合金</a:t>
            </a:r>
            <a:r>
              <a:rPr kumimoji="1" lang="en-US" altLang="zh-CN" sz="40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a:t>
            </a:r>
            <a:r>
              <a:rPr kumimoji="1" lang="zh-CN" altLang="en-US" sz="40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的结晶过程</a:t>
            </a:r>
          </a:p>
        </p:txBody>
      </p:sp>
      <p:sp>
        <p:nvSpPr>
          <p:cNvPr id="76805" name="Rectangle 3"/>
          <p:cNvSpPr>
            <a:spLocks noGrp="1"/>
          </p:cNvSpPr>
          <p:nvPr>
            <p:ph idx="1"/>
          </p:nvPr>
        </p:nvSpPr>
        <p:spPr>
          <a:xfrm>
            <a:off x="285750" y="1772816"/>
            <a:ext cx="8858250" cy="4727997"/>
          </a:xfrm>
        </p:spPr>
        <p:txBody>
          <a:bodyPr vert="horz" wrap="square" lIns="91440" tIns="45720" rIns="91440" bIns="45720" anchor="t"/>
          <a:lstStyle/>
          <a:p>
            <a:pPr eaLnBrk="1" hangingPunct="1"/>
            <a:r>
              <a:rPr lang="zh-CN" altLang="en-US" b="1" dirty="0">
                <a:ea typeface="华文中宋" panose="02010600040101010101" pitchFamily="2" charset="-122"/>
              </a:rPr>
              <a:t>合金液体在</a:t>
            </a:r>
            <a:r>
              <a:rPr lang="en-US" altLang="zh-CN" b="1" dirty="0">
                <a:solidFill>
                  <a:schemeClr val="folHlink"/>
                </a:solidFill>
                <a:ea typeface="华文中宋" panose="02010600040101010101" pitchFamily="2" charset="-122"/>
              </a:rPr>
              <a:t>2</a:t>
            </a:r>
            <a:r>
              <a:rPr lang="zh-CN" altLang="en-US" b="1" dirty="0">
                <a:ea typeface="华文中宋" panose="02010600040101010101" pitchFamily="2" charset="-122"/>
              </a:rPr>
              <a:t>点以前为</a:t>
            </a:r>
            <a:r>
              <a:rPr lang="zh-CN" altLang="en-US" b="1" dirty="0">
                <a:solidFill>
                  <a:srgbClr val="0000FF"/>
                </a:solidFill>
                <a:ea typeface="华文中宋" panose="02010600040101010101" pitchFamily="2" charset="-122"/>
              </a:rPr>
              <a:t>匀晶转变</a:t>
            </a:r>
            <a:r>
              <a:rPr lang="zh-CN" altLang="en-US" b="1" dirty="0">
                <a:ea typeface="华文中宋" panose="02010600040101010101" pitchFamily="2" charset="-122"/>
              </a:rPr>
              <a:t>，结晶出一次</a:t>
            </a:r>
            <a:r>
              <a:rPr lang="en-US" altLang="zh-CN" b="1" i="1" dirty="0">
                <a:solidFill>
                  <a:schemeClr val="folHlink"/>
                </a:solidFill>
                <a:ea typeface="华文中宋" panose="02010600040101010101" pitchFamily="2" charset="-122"/>
                <a:sym typeface="Symbol" panose="05050102010706020507" pitchFamily="18" charset="2"/>
              </a:rPr>
              <a:t></a:t>
            </a:r>
            <a:r>
              <a:rPr lang="zh-CN" altLang="en-US" b="1" dirty="0">
                <a:solidFill>
                  <a:schemeClr val="folHlink"/>
                </a:solidFill>
                <a:ea typeface="华文中宋" panose="02010600040101010101" pitchFamily="2" charset="-122"/>
                <a:sym typeface="Symbol" panose="05050102010706020507" pitchFamily="18" charset="2"/>
              </a:rPr>
              <a:t>相</a:t>
            </a:r>
            <a:r>
              <a:rPr lang="zh-CN" altLang="en-US" b="1" i="1" dirty="0">
                <a:solidFill>
                  <a:schemeClr val="folHlink"/>
                </a:solidFill>
                <a:ea typeface="华文中宋" panose="02010600040101010101" pitchFamily="2" charset="-122"/>
                <a:sym typeface="Symbol" panose="05050102010706020507" pitchFamily="18" charset="2"/>
              </a:rPr>
              <a:t>。</a:t>
            </a:r>
          </a:p>
          <a:p>
            <a:pPr eaLnBrk="1" hangingPunct="1"/>
            <a:r>
              <a:rPr lang="zh-CN" altLang="en-US" b="1" dirty="0">
                <a:ea typeface="华文中宋" panose="02010600040101010101" pitchFamily="2" charset="-122"/>
                <a:sym typeface="Symbol" panose="05050102010706020507" pitchFamily="18" charset="2"/>
              </a:rPr>
              <a:t>在</a:t>
            </a:r>
            <a:r>
              <a:rPr lang="en-US" altLang="zh-CN" b="1" dirty="0">
                <a:ea typeface="华文中宋" panose="02010600040101010101" pitchFamily="2" charset="-122"/>
                <a:sym typeface="Symbol" panose="05050102010706020507" pitchFamily="18" charset="2"/>
              </a:rPr>
              <a:t>1</a:t>
            </a:r>
            <a:r>
              <a:rPr lang="zh-CN" altLang="en-US" b="1" dirty="0">
                <a:ea typeface="华文中宋" panose="02010600040101010101" pitchFamily="2" charset="-122"/>
                <a:sym typeface="Symbol" panose="05050102010706020507" pitchFamily="18" charset="2"/>
              </a:rPr>
              <a:t>点到</a:t>
            </a:r>
            <a:r>
              <a:rPr lang="en-US" altLang="zh-CN" b="1" dirty="0">
                <a:ea typeface="华文中宋" panose="02010600040101010101" pitchFamily="2" charset="-122"/>
                <a:sym typeface="Symbol" panose="05050102010706020507" pitchFamily="18" charset="2"/>
              </a:rPr>
              <a:t>2</a:t>
            </a:r>
            <a:r>
              <a:rPr lang="zh-CN" altLang="en-US" b="1" dirty="0">
                <a:ea typeface="华文中宋" panose="02010600040101010101" pitchFamily="2" charset="-122"/>
                <a:sym typeface="Symbol" panose="05050102010706020507" pitchFamily="18" charset="2"/>
              </a:rPr>
              <a:t>点的冷却过程中，</a:t>
            </a:r>
            <a:r>
              <a:rPr lang="zh-CN" altLang="en-US" b="1" dirty="0">
                <a:solidFill>
                  <a:schemeClr val="folHlink"/>
                </a:solidFill>
                <a:ea typeface="华文中宋" panose="02010600040101010101" pitchFamily="2" charset="-122"/>
                <a:sym typeface="Symbol" panose="05050102010706020507" pitchFamily="18" charset="2"/>
              </a:rPr>
              <a:t>一次</a:t>
            </a:r>
            <a:r>
              <a:rPr lang="en-US" altLang="zh-CN" b="1" dirty="0">
                <a:solidFill>
                  <a:schemeClr val="folHlink"/>
                </a:solidFill>
                <a:ea typeface="华文中宋" panose="02010600040101010101" pitchFamily="2" charset="-122"/>
                <a:sym typeface="Symbol" panose="05050102010706020507" pitchFamily="18" charset="2"/>
              </a:rPr>
              <a:t></a:t>
            </a:r>
            <a:r>
              <a:rPr lang="zh-CN" altLang="en-US" b="1" dirty="0">
                <a:ea typeface="华文中宋" panose="02010600040101010101" pitchFamily="2" charset="-122"/>
                <a:sym typeface="Symbol" panose="05050102010706020507" pitchFamily="18" charset="2"/>
              </a:rPr>
              <a:t>的成分沿</a:t>
            </a:r>
            <a:r>
              <a:rPr lang="en-US" altLang="zh-CN" b="1" dirty="0">
                <a:ea typeface="华文中宋" panose="02010600040101010101" pitchFamily="2" charset="-122"/>
                <a:sym typeface="Symbol" panose="05050102010706020507" pitchFamily="18" charset="2"/>
              </a:rPr>
              <a:t>AC</a:t>
            </a:r>
            <a:r>
              <a:rPr lang="zh-CN" altLang="en-US" b="1" dirty="0">
                <a:ea typeface="华文中宋" panose="02010600040101010101" pitchFamily="2" charset="-122"/>
                <a:sym typeface="Symbol" panose="05050102010706020507" pitchFamily="18" charset="2"/>
              </a:rPr>
              <a:t>线变化到</a:t>
            </a:r>
            <a:r>
              <a:rPr lang="en-US" altLang="zh-CN" b="1" dirty="0">
                <a:solidFill>
                  <a:schemeClr val="folHlink"/>
                </a:solidFill>
                <a:ea typeface="华文中宋" panose="02010600040101010101" pitchFamily="2" charset="-122"/>
                <a:sym typeface="Symbol" panose="05050102010706020507" pitchFamily="18" charset="2"/>
              </a:rPr>
              <a:t>C</a:t>
            </a:r>
            <a:r>
              <a:rPr lang="zh-CN" altLang="en-US" b="1" dirty="0">
                <a:solidFill>
                  <a:schemeClr val="folHlink"/>
                </a:solidFill>
                <a:ea typeface="华文中宋" panose="02010600040101010101" pitchFamily="2" charset="-122"/>
                <a:sym typeface="Symbol" panose="05050102010706020507" pitchFamily="18" charset="2"/>
              </a:rPr>
              <a:t>点</a:t>
            </a:r>
            <a:r>
              <a:rPr lang="zh-CN" altLang="en-US" b="1" dirty="0">
                <a:ea typeface="华文中宋" panose="02010600040101010101" pitchFamily="2" charset="-122"/>
                <a:sym typeface="Symbol" panose="05050102010706020507" pitchFamily="18" charset="2"/>
              </a:rPr>
              <a:t>，液相成分沿</a:t>
            </a:r>
            <a:r>
              <a:rPr lang="en-US" altLang="zh-CN" b="1" dirty="0">
                <a:ea typeface="华文中宋" panose="02010600040101010101" pitchFamily="2" charset="-122"/>
                <a:sym typeface="Symbol" panose="05050102010706020507" pitchFamily="18" charset="2"/>
              </a:rPr>
              <a:t>AE</a:t>
            </a:r>
            <a:r>
              <a:rPr lang="zh-CN" altLang="en-US" b="1" dirty="0">
                <a:ea typeface="华文中宋" panose="02010600040101010101" pitchFamily="2" charset="-122"/>
                <a:sym typeface="Symbol" panose="05050102010706020507" pitchFamily="18" charset="2"/>
              </a:rPr>
              <a:t>线变化到</a:t>
            </a:r>
            <a:r>
              <a:rPr lang="en-US" altLang="zh-CN" b="1" dirty="0">
                <a:solidFill>
                  <a:schemeClr val="folHlink"/>
                </a:solidFill>
                <a:ea typeface="华文中宋" panose="02010600040101010101" pitchFamily="2" charset="-122"/>
                <a:sym typeface="Symbol" panose="05050102010706020507" pitchFamily="18" charset="2"/>
              </a:rPr>
              <a:t>E</a:t>
            </a:r>
            <a:r>
              <a:rPr lang="zh-CN" altLang="en-US" b="1" dirty="0">
                <a:solidFill>
                  <a:schemeClr val="folHlink"/>
                </a:solidFill>
                <a:ea typeface="华文中宋" panose="02010600040101010101" pitchFamily="2" charset="-122"/>
                <a:sym typeface="Symbol" panose="05050102010706020507" pitchFamily="18" charset="2"/>
              </a:rPr>
              <a:t>点</a:t>
            </a:r>
            <a:r>
              <a:rPr lang="zh-CN" altLang="en-US" b="1" dirty="0">
                <a:ea typeface="华文中宋" panose="02010600040101010101" pitchFamily="2" charset="-122"/>
                <a:sym typeface="Symbol" panose="05050102010706020507" pitchFamily="18" charset="2"/>
              </a:rPr>
              <a:t>。</a:t>
            </a:r>
          </a:p>
        </p:txBody>
      </p:sp>
      <p:grpSp>
        <p:nvGrpSpPr>
          <p:cNvPr id="2" name="Group 10"/>
          <p:cNvGrpSpPr/>
          <p:nvPr/>
        </p:nvGrpSpPr>
        <p:grpSpPr>
          <a:xfrm>
            <a:off x="1597284" y="4031794"/>
            <a:ext cx="7070764" cy="2510135"/>
            <a:chOff x="384" y="2022"/>
            <a:chExt cx="5088" cy="2163"/>
          </a:xfrm>
        </p:grpSpPr>
        <p:pic>
          <p:nvPicPr>
            <p:cNvPr id="76808" name="Picture 6" descr="Pb-Sn"/>
            <p:cNvPicPr preferRelativeResize="0"/>
            <p:nvPr/>
          </p:nvPicPr>
          <p:blipFill>
            <a:blip r:embed="rId2"/>
            <a:stretch>
              <a:fillRect/>
            </a:stretch>
          </p:blipFill>
          <p:spPr>
            <a:xfrm>
              <a:off x="2448" y="2022"/>
              <a:ext cx="3024" cy="2163"/>
            </a:xfrm>
            <a:prstGeom prst="rect">
              <a:avLst/>
            </a:prstGeom>
            <a:noFill/>
            <a:ln w="38100">
              <a:noFill/>
            </a:ln>
          </p:spPr>
        </p:pic>
        <p:pic>
          <p:nvPicPr>
            <p:cNvPr id="76809" name="Picture 7" descr="Pb-Sn亚共晶结晶"/>
            <p:cNvPicPr>
              <a:picLocks noChangeAspect="1"/>
            </p:cNvPicPr>
            <p:nvPr/>
          </p:nvPicPr>
          <p:blipFill>
            <a:blip r:embed="rId3"/>
            <a:stretch>
              <a:fillRect/>
            </a:stretch>
          </p:blipFill>
          <p:spPr>
            <a:xfrm>
              <a:off x="384" y="2022"/>
              <a:ext cx="2064" cy="2146"/>
            </a:xfrm>
            <a:prstGeom prst="rect">
              <a:avLst/>
            </a:prstGeom>
            <a:noFill/>
            <a:ln w="38100">
              <a:noFill/>
            </a:ln>
          </p:spPr>
        </p:pic>
        <p:sp>
          <p:nvSpPr>
            <p:cNvPr id="76810" name="Rectangle 8"/>
            <p:cNvSpPr>
              <a:spLocks noChangeAspect="1"/>
            </p:cNvSpPr>
            <p:nvPr/>
          </p:nvSpPr>
          <p:spPr>
            <a:xfrm>
              <a:off x="384" y="2022"/>
              <a:ext cx="5088" cy="2154"/>
            </a:xfrm>
            <a:prstGeom prst="rect">
              <a:avLst/>
            </a:prstGeom>
            <a:noFill/>
            <a:ln w="38100" cap="flat" cmpd="sng">
              <a:solidFill>
                <a:srgbClr val="FF9900"/>
              </a:solidFill>
              <a:prstDash val="solid"/>
              <a:miter/>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grpSp>
      <p:pic>
        <p:nvPicPr>
          <p:cNvPr id="11" name="内容占位符 1" descr="新校徽（3M）弓之乐"/>
          <p:cNvPicPr>
            <a:picLocks noChangeAspect="1"/>
          </p:cNvPicPr>
          <p:nvPr/>
        </p:nvPicPr>
        <p:blipFill>
          <a:blip r:embed="rId4"/>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日期占位符 3"/>
          <p:cNvSpPr txBox="1">
            <a:spLocks noGrp="1"/>
          </p:cNvSpPr>
          <p:nvPr>
            <p:ph type="dt" sz="half" idx="10"/>
          </p:nvPr>
        </p:nvSpPr>
        <p:spPr>
          <a:xfrm>
            <a:off x="0" y="6510338"/>
            <a:ext cx="2447925"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6148" name="灯片编号占位符 5"/>
          <p:cNvSpPr txBox="1">
            <a:spLocks noGrp="1"/>
          </p:cNvSpPr>
          <p:nvPr>
            <p:ph type="sldNum" sz="quarter" idx="12"/>
          </p:nvPr>
        </p:nvSpPr>
        <p:spPr>
          <a:xfrm>
            <a:off x="8813165" y="6616065"/>
            <a:ext cx="391795" cy="241935"/>
          </a:xfrm>
        </p:spPr>
        <p:txBody>
          <a:bodyPr lIns="92075" tIns="46038" rIns="92075" bIns="46038" anchor="ctr"/>
          <a:lstStyle/>
          <a:p>
            <a:pPr algn="r" eaLnBrk="1" hangingPunct="1"/>
            <a:fld id="{9A0DB2DC-4C9A-4742-B13C-FB6460FD3503}" type="slidenum">
              <a:rPr lang="en-US" altLang="zh-CN" sz="1400" dirty="0"/>
              <a:t>77</a:t>
            </a:fld>
            <a:endParaRPr lang="en-US" altLang="zh-CN" sz="1400" dirty="0"/>
          </a:p>
        </p:txBody>
      </p:sp>
      <p:sp>
        <p:nvSpPr>
          <p:cNvPr id="284674" name="Rectangle 2"/>
          <p:cNvSpPr>
            <a:spLocks noGrp="1" noChangeArrowheads="1"/>
          </p:cNvSpPr>
          <p:nvPr>
            <p:ph type="title"/>
          </p:nvPr>
        </p:nvSpPr>
        <p:spPr>
          <a:xfrm>
            <a:off x="775335" y="204779"/>
            <a:ext cx="8429625"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③亚共晶合金</a:t>
            </a:r>
            <a:r>
              <a:rPr kumimoji="1" lang="en-US" altLang="zh-CN" sz="40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(Ⅲ</a:t>
            </a:r>
            <a:r>
              <a:rPr kumimoji="1" lang="zh-CN" altLang="en-US" sz="40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合金</a:t>
            </a:r>
            <a:r>
              <a:rPr kumimoji="1" lang="en-US" altLang="zh-CN" sz="40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a:t>
            </a:r>
            <a:r>
              <a:rPr kumimoji="1" lang="zh-CN" altLang="en-US" sz="40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的结晶过程</a:t>
            </a:r>
          </a:p>
        </p:txBody>
      </p:sp>
      <p:sp>
        <p:nvSpPr>
          <p:cNvPr id="6150" name="Rectangle 3"/>
          <p:cNvSpPr>
            <a:spLocks noGrp="1"/>
          </p:cNvSpPr>
          <p:nvPr>
            <p:ph idx="1"/>
          </p:nvPr>
        </p:nvSpPr>
        <p:spPr>
          <a:xfrm>
            <a:off x="165735" y="2069465"/>
            <a:ext cx="8644255" cy="4428490"/>
          </a:xfrm>
        </p:spPr>
        <p:txBody>
          <a:bodyPr vert="horz" wrap="square" lIns="91440" tIns="45720" rIns="91440" bIns="45720" anchor="t"/>
          <a:lstStyle/>
          <a:p>
            <a:pPr eaLnBrk="1" hangingPunct="1"/>
            <a:r>
              <a:rPr lang="zh-CN" altLang="en-US" b="1" dirty="0">
                <a:ea typeface="华文中宋" panose="02010600040101010101" pitchFamily="2" charset="-122"/>
              </a:rPr>
              <a:t>此时</a:t>
            </a:r>
            <a:r>
              <a:rPr lang="zh-CN" altLang="en-US" b="1" dirty="0">
                <a:solidFill>
                  <a:schemeClr val="folHlink"/>
                </a:solidFill>
                <a:ea typeface="华文中宋" panose="02010600040101010101" pitchFamily="2" charset="-122"/>
              </a:rPr>
              <a:t>两相的相对质量为：</a:t>
            </a:r>
          </a:p>
          <a:p>
            <a:pPr eaLnBrk="1" hangingPunct="1"/>
            <a:endParaRPr lang="zh-CN" altLang="en-US" b="1" dirty="0">
              <a:ea typeface="华文中宋" panose="02010600040101010101" pitchFamily="2" charset="-122"/>
              <a:sym typeface="Symbol" panose="05050102010706020507" pitchFamily="18" charset="2"/>
            </a:endParaRPr>
          </a:p>
        </p:txBody>
      </p:sp>
      <p:grpSp>
        <p:nvGrpSpPr>
          <p:cNvPr id="2" name="Group 10"/>
          <p:cNvGrpSpPr/>
          <p:nvPr/>
        </p:nvGrpSpPr>
        <p:grpSpPr>
          <a:xfrm>
            <a:off x="1235075" y="3843020"/>
            <a:ext cx="7225030" cy="2667000"/>
            <a:chOff x="384" y="2022"/>
            <a:chExt cx="5088" cy="2163"/>
          </a:xfrm>
        </p:grpSpPr>
        <p:pic>
          <p:nvPicPr>
            <p:cNvPr id="6153" name="Picture 6" descr="Pb-Sn"/>
            <p:cNvPicPr preferRelativeResize="0"/>
            <p:nvPr/>
          </p:nvPicPr>
          <p:blipFill>
            <a:blip r:embed="rId3"/>
            <a:stretch>
              <a:fillRect/>
            </a:stretch>
          </p:blipFill>
          <p:spPr>
            <a:xfrm>
              <a:off x="2448" y="2022"/>
              <a:ext cx="3024" cy="2163"/>
            </a:xfrm>
            <a:prstGeom prst="rect">
              <a:avLst/>
            </a:prstGeom>
            <a:noFill/>
            <a:ln w="38100">
              <a:noFill/>
            </a:ln>
          </p:spPr>
        </p:pic>
        <p:pic>
          <p:nvPicPr>
            <p:cNvPr id="6154" name="Picture 7" descr="Pb-Sn亚共晶结晶"/>
            <p:cNvPicPr>
              <a:picLocks noChangeAspect="1"/>
            </p:cNvPicPr>
            <p:nvPr/>
          </p:nvPicPr>
          <p:blipFill>
            <a:blip r:embed="rId4"/>
            <a:stretch>
              <a:fillRect/>
            </a:stretch>
          </p:blipFill>
          <p:spPr>
            <a:xfrm>
              <a:off x="384" y="2022"/>
              <a:ext cx="2064" cy="2146"/>
            </a:xfrm>
            <a:prstGeom prst="rect">
              <a:avLst/>
            </a:prstGeom>
            <a:noFill/>
            <a:ln w="38100">
              <a:noFill/>
            </a:ln>
          </p:spPr>
        </p:pic>
        <p:sp>
          <p:nvSpPr>
            <p:cNvPr id="6155" name="Rectangle 8"/>
            <p:cNvSpPr>
              <a:spLocks noChangeAspect="1"/>
            </p:cNvSpPr>
            <p:nvPr/>
          </p:nvSpPr>
          <p:spPr>
            <a:xfrm>
              <a:off x="384" y="2022"/>
              <a:ext cx="5088" cy="2154"/>
            </a:xfrm>
            <a:prstGeom prst="rect">
              <a:avLst/>
            </a:prstGeom>
            <a:noFill/>
            <a:ln w="38100" cap="flat" cmpd="sng">
              <a:solidFill>
                <a:srgbClr val="FF9900"/>
              </a:solidFill>
              <a:prstDash val="solid"/>
              <a:miter/>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grpSp>
      <mc:AlternateContent xmlns:mc="http://schemas.openxmlformats.org/markup-compatibility/2006" xmlns:a14="http://schemas.microsoft.com/office/drawing/2010/main">
        <mc:Choice Requires="a14">
          <p:sp>
            <p:nvSpPr>
              <p:cNvPr id="82947" name="Object 3"/>
              <p:cNvSpPr txBox="1"/>
              <p:nvPr/>
            </p:nvSpPr>
            <p:spPr>
              <a:xfrm>
                <a:off x="1448435" y="2708910"/>
                <a:ext cx="6461760" cy="741680"/>
              </a:xfrm>
              <a:prstGeom prst="rect">
                <a:avLst/>
              </a:prstGeom>
              <a:solidFill>
                <a:schemeClr val="tx2">
                  <a:lumMod val="20000"/>
                  <a:lumOff val="80000"/>
                </a:schemeClr>
              </a:solidFill>
              <a:ln w="38100">
                <a:noFill/>
                <a:miter/>
              </a:ln>
            </p:spPr>
            <p:txBody>
              <a:bodyPr>
                <a:normAutofit fontScale="75000" lnSpcReduction="10000"/>
              </a:bodyPr>
              <a:lstStyle/>
              <a:p>
                <a:pPr/>
                <a14:m>
                  <m:oMathPara xmlns:m="http://schemas.openxmlformats.org/officeDocument/2006/math">
                    <m:oMathParaPr>
                      <m:jc m:val="left"/>
                    </m:oMathParaPr>
                    <m:oMath xmlns:m="http://schemas.openxmlformats.org/officeDocument/2006/math">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𝑄</m:t>
                          </m:r>
                        </m:e>
                        <m:sub>
                          <m:r>
                            <a:rPr lang="zh-CN" altLang="en-US" sz="3200" i="1">
                              <a:solidFill>
                                <a:srgbClr val="000000"/>
                              </a:solidFill>
                              <a:latin typeface="Cambria Math" panose="02040503050406030204" pitchFamily="18" charset="0"/>
                            </a:rPr>
                            <m:t>𝐿</m:t>
                          </m:r>
                        </m:sub>
                      </m:sSub>
                      <m:r>
                        <a:rPr lang="zh-CN" altLang="en-US" sz="3200" i="1">
                          <a:solidFill>
                            <a:srgbClr val="000000"/>
                          </a:solidFill>
                          <a:latin typeface="Cambria Math" panose="02040503050406030204" pitchFamily="18" charset="0"/>
                        </a:rPr>
                        <m:t>(=</m:t>
                      </m:r>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𝑄</m:t>
                          </m:r>
                        </m:e>
                        <m:sub>
                          <m:r>
                            <a:rPr lang="zh-CN" altLang="en-US" sz="3200" i="1">
                              <a:solidFill>
                                <a:srgbClr val="000000"/>
                              </a:solidFill>
                              <a:latin typeface="Cambria Math" panose="02040503050406030204" pitchFamily="18" charset="0"/>
                            </a:rPr>
                            <m:t>𝐸</m:t>
                          </m:r>
                        </m:sub>
                      </m:sSub>
                      <m:r>
                        <a:rPr lang="zh-CN" altLang="en-US" sz="3200" i="1">
                          <a:solidFill>
                            <a:srgbClr val="000000"/>
                          </a:solidFill>
                          <a:latin typeface="Cambria Math" panose="02040503050406030204" pitchFamily="18" charset="0"/>
                        </a:rPr>
                        <m:t>)=</m:t>
                      </m:r>
                      <m:f>
                        <m:fPr>
                          <m:ctrlPr>
                            <a:rPr lang="zh-CN" altLang="en-US" sz="3200" i="1">
                              <a:solidFill>
                                <a:srgbClr val="000000"/>
                              </a:solidFill>
                              <a:latin typeface="Cambria Math" panose="02040503050406030204" pitchFamily="18" charset="0"/>
                            </a:rPr>
                          </m:ctrlPr>
                        </m:fPr>
                        <m:num>
                          <m:r>
                            <a:rPr lang="zh-CN" altLang="en-US" sz="3200" i="1">
                              <a:solidFill>
                                <a:srgbClr val="000000"/>
                              </a:solidFill>
                              <a:latin typeface="Cambria Math" panose="02040503050406030204" pitchFamily="18" charset="0"/>
                            </a:rPr>
                            <m:t>𝐶</m:t>
                          </m:r>
                          <m:r>
                            <a:rPr lang="zh-CN" altLang="en-US" sz="3200" i="1">
                              <a:solidFill>
                                <a:srgbClr val="000000"/>
                              </a:solidFill>
                              <a:latin typeface="Cambria Math" panose="02040503050406030204" pitchFamily="18" charset="0"/>
                            </a:rPr>
                            <m:t>2</m:t>
                          </m:r>
                        </m:num>
                        <m:den>
                          <m:r>
                            <a:rPr lang="zh-CN" altLang="en-US" sz="3200" i="1">
                              <a:solidFill>
                                <a:srgbClr val="000000"/>
                              </a:solidFill>
                              <a:latin typeface="Cambria Math" panose="02040503050406030204" pitchFamily="18" charset="0"/>
                            </a:rPr>
                            <m:t>𝐶𝐸</m:t>
                          </m:r>
                        </m:den>
                      </m:f>
                      <m:r>
                        <a:rPr lang="zh-CN" altLang="en-US" sz="3200" i="1">
                          <a:solidFill>
                            <a:srgbClr val="000000"/>
                          </a:solidFill>
                          <a:latin typeface="Cambria Math" panose="02040503050406030204" pitchFamily="18" charset="0"/>
                        </a:rPr>
                        <m:t>×100%,</m:t>
                      </m:r>
                      <m:r>
                        <a:rPr lang="zh-CN" altLang="en-US" sz="3200" i="1" smtClean="0">
                          <a:solidFill>
                            <a:srgbClr val="000000"/>
                          </a:solidFill>
                          <a:latin typeface="Cambria Math" panose="02040503050406030204" pitchFamily="18" charset="0"/>
                        </a:rPr>
                        <m:t> </m:t>
                      </m:r>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𝑄</m:t>
                          </m:r>
                        </m:e>
                        <m:sub>
                          <m:r>
                            <a:rPr lang="zh-CN" altLang="en-US" sz="3200" i="1">
                              <a:solidFill>
                                <a:srgbClr val="000000"/>
                              </a:solidFill>
                              <a:latin typeface="Cambria Math" panose="02040503050406030204" pitchFamily="18" charset="0"/>
                            </a:rPr>
                            <m:t>𝛼</m:t>
                          </m:r>
                        </m:sub>
                      </m:sSub>
                      <m:r>
                        <a:rPr lang="zh-CN" altLang="en-US" sz="3200" i="1">
                          <a:solidFill>
                            <a:srgbClr val="000000"/>
                          </a:solidFill>
                          <a:latin typeface="Cambria Math" panose="02040503050406030204" pitchFamily="18" charset="0"/>
                        </a:rPr>
                        <m:t>=</m:t>
                      </m:r>
                      <m:f>
                        <m:fPr>
                          <m:ctrlPr>
                            <a:rPr lang="zh-CN" altLang="en-US" sz="3200" i="1">
                              <a:solidFill>
                                <a:srgbClr val="000000"/>
                              </a:solidFill>
                              <a:latin typeface="Cambria Math" panose="02040503050406030204" pitchFamily="18" charset="0"/>
                            </a:rPr>
                          </m:ctrlPr>
                        </m:fPr>
                        <m:num>
                          <m:r>
                            <a:rPr lang="zh-CN" altLang="en-US" sz="3200" i="1">
                              <a:solidFill>
                                <a:srgbClr val="000000"/>
                              </a:solidFill>
                              <a:latin typeface="Cambria Math" panose="02040503050406030204" pitchFamily="18" charset="0"/>
                            </a:rPr>
                            <m:t>2</m:t>
                          </m:r>
                          <m:r>
                            <a:rPr lang="zh-CN" altLang="en-US" sz="3200" i="1">
                              <a:solidFill>
                                <a:srgbClr val="000000"/>
                              </a:solidFill>
                              <a:latin typeface="Cambria Math" panose="02040503050406030204" pitchFamily="18" charset="0"/>
                            </a:rPr>
                            <m:t>𝐸</m:t>
                          </m:r>
                        </m:num>
                        <m:den>
                          <m:r>
                            <a:rPr lang="zh-CN" altLang="en-US" sz="3200" i="1">
                              <a:solidFill>
                                <a:srgbClr val="000000"/>
                              </a:solidFill>
                              <a:latin typeface="Cambria Math" panose="02040503050406030204" pitchFamily="18" charset="0"/>
                            </a:rPr>
                            <m:t>𝐶𝐸</m:t>
                          </m:r>
                        </m:den>
                      </m:f>
                      <m:r>
                        <a:rPr lang="zh-CN" altLang="en-US" sz="3200" i="1">
                          <a:solidFill>
                            <a:srgbClr val="000000"/>
                          </a:solidFill>
                          <a:latin typeface="Cambria Math" panose="02040503050406030204" pitchFamily="18" charset="0"/>
                        </a:rPr>
                        <m:t>×100%</m:t>
                      </m:r>
                    </m:oMath>
                  </m:oMathPara>
                </a14:m>
                <a:endParaRPr lang="zh-CN" altLang="en-US" sz="3200" dirty="0"/>
              </a:p>
            </p:txBody>
          </p:sp>
        </mc:Choice>
        <mc:Fallback xmlns="">
          <p:sp>
            <p:nvSpPr>
              <p:cNvPr id="82947" name="Object 3"/>
              <p:cNvSpPr txBox="1">
                <a:spLocks noRot="1" noChangeAspect="1" noMove="1" noResize="1" noEditPoints="1" noAdjustHandles="1" noChangeArrowheads="1" noChangeShapeType="1" noTextEdit="1"/>
              </p:cNvSpPr>
              <p:nvPr/>
            </p:nvSpPr>
            <p:spPr>
              <a:xfrm>
                <a:off x="1448435" y="2708910"/>
                <a:ext cx="6461760" cy="741680"/>
              </a:xfrm>
              <a:prstGeom prst="rect">
                <a:avLst/>
              </a:prstGeom>
              <a:blipFill rotWithShape="1">
                <a:blip r:embed="rId5"/>
                <a:stretch>
                  <a:fillRect/>
                </a:stretch>
              </a:blipFill>
              <a:ln w="38100">
                <a:noFill/>
                <a:miter/>
              </a:ln>
            </p:spPr>
            <p:txBody>
              <a:bodyPr/>
              <a:lstStyle/>
              <a:p>
                <a:r>
                  <a:rPr lang="zh-CN" altLang="en-US">
                    <a:noFill/>
                  </a:rPr>
                  <a:t> </a:t>
                </a:r>
              </a:p>
            </p:txBody>
          </p:sp>
        </mc:Fallback>
      </mc:AlternateContent>
      <p:pic>
        <p:nvPicPr>
          <p:cNvPr id="12" name="内容占位符 1" descr="新校徽（3M）弓之乐"/>
          <p:cNvPicPr>
            <a:picLocks noChangeAspect="1"/>
          </p:cNvPicPr>
          <p:nvPr/>
        </p:nvPicPr>
        <p:blipFill>
          <a:blip r:embed="rId6"/>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日期占位符 3"/>
          <p:cNvSpPr txBox="1">
            <a:spLocks noGrp="1"/>
          </p:cNvSpPr>
          <p:nvPr>
            <p:ph type="dt" sz="half" idx="10"/>
          </p:nvPr>
        </p:nvSpPr>
        <p:spPr>
          <a:xfrm>
            <a:off x="0" y="6510338"/>
            <a:ext cx="2376488"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7173" name="灯片编号占位符 5"/>
          <p:cNvSpPr txBox="1">
            <a:spLocks noGrp="1"/>
          </p:cNvSpPr>
          <p:nvPr>
            <p:ph type="sldNum" sz="quarter" idx="12"/>
          </p:nvPr>
        </p:nvSpPr>
        <p:spPr>
          <a:xfrm>
            <a:off x="8709660" y="6663055"/>
            <a:ext cx="434340" cy="194945"/>
          </a:xfrm>
        </p:spPr>
        <p:txBody>
          <a:bodyPr lIns="92075" tIns="46038" rIns="92075" bIns="46038" anchor="ctr"/>
          <a:lstStyle/>
          <a:p>
            <a:pPr algn="r" eaLnBrk="1" hangingPunct="1"/>
            <a:fld id="{9A0DB2DC-4C9A-4742-B13C-FB6460FD3503}" type="slidenum">
              <a:rPr lang="en-US" altLang="zh-CN" sz="1400" dirty="0"/>
              <a:t>78</a:t>
            </a:fld>
            <a:endParaRPr lang="en-US" altLang="zh-CN" sz="1400" dirty="0"/>
          </a:p>
        </p:txBody>
      </p:sp>
      <p:sp>
        <p:nvSpPr>
          <p:cNvPr id="83970" name="Rectangle 2"/>
          <p:cNvSpPr>
            <a:spLocks noGrp="1"/>
          </p:cNvSpPr>
          <p:nvPr>
            <p:ph idx="1"/>
          </p:nvPr>
        </p:nvSpPr>
        <p:spPr>
          <a:xfrm>
            <a:off x="539750" y="1871980"/>
            <a:ext cx="8604250" cy="4031615"/>
          </a:xfrm>
        </p:spPr>
        <p:txBody>
          <a:bodyPr vert="horz" wrap="square" lIns="91440" tIns="45720" rIns="91440" bIns="45720" anchor="t"/>
          <a:lstStyle/>
          <a:p>
            <a:pPr eaLnBrk="1" hangingPunct="1">
              <a:lnSpc>
                <a:spcPct val="110000"/>
              </a:lnSpc>
            </a:pPr>
            <a:r>
              <a:rPr lang="zh-CN" altLang="en-US" sz="2800" b="1" dirty="0">
                <a:ea typeface="华文中宋" panose="02010600040101010101" pitchFamily="2" charset="-122"/>
              </a:rPr>
              <a:t>在</a:t>
            </a:r>
            <a:r>
              <a:rPr lang="en-US" altLang="zh-CN" sz="2800" b="1" dirty="0">
                <a:ea typeface="华文中宋" panose="02010600040101010101" pitchFamily="2" charset="-122"/>
              </a:rPr>
              <a:t>2</a:t>
            </a:r>
            <a:r>
              <a:rPr lang="zh-CN" altLang="en-US" sz="2800" b="1" dirty="0">
                <a:ea typeface="华文中宋" panose="02010600040101010101" pitchFamily="2" charset="-122"/>
              </a:rPr>
              <a:t>点，具有</a:t>
            </a:r>
            <a:r>
              <a:rPr lang="en-US" altLang="zh-CN" sz="2800" b="1" dirty="0">
                <a:ea typeface="华文中宋" panose="02010600040101010101" pitchFamily="2" charset="-122"/>
              </a:rPr>
              <a:t>E</a:t>
            </a:r>
            <a:r>
              <a:rPr lang="zh-CN" altLang="en-US" sz="2800" b="1" dirty="0">
                <a:ea typeface="华文中宋" panose="02010600040101010101" pitchFamily="2" charset="-122"/>
              </a:rPr>
              <a:t>点成分的剩余液体发生</a:t>
            </a:r>
            <a:r>
              <a:rPr lang="zh-CN" altLang="en-US" sz="2800" b="1" dirty="0">
                <a:solidFill>
                  <a:srgbClr val="0000FF"/>
                </a:solidFill>
                <a:ea typeface="华文中宋" panose="02010600040101010101" pitchFamily="2" charset="-122"/>
              </a:rPr>
              <a:t>共晶反应</a:t>
            </a:r>
            <a:r>
              <a:rPr lang="zh-CN" altLang="en-US" sz="2800" b="1" dirty="0">
                <a:ea typeface="华文中宋" panose="02010600040101010101" pitchFamily="2" charset="-122"/>
              </a:rPr>
              <a:t>：</a:t>
            </a:r>
          </a:p>
          <a:p>
            <a:pPr eaLnBrk="1" hangingPunct="1">
              <a:lnSpc>
                <a:spcPct val="110000"/>
              </a:lnSpc>
              <a:buNone/>
            </a:pPr>
            <a:r>
              <a:rPr lang="zh-CN" altLang="en-US" sz="2800" b="1" dirty="0">
                <a:ea typeface="华文中宋" panose="02010600040101010101" pitchFamily="2" charset="-122"/>
              </a:rPr>
              <a:t>    </a:t>
            </a:r>
            <a:r>
              <a:rPr lang="en-US" altLang="zh-CN" sz="2800" b="1" dirty="0">
                <a:solidFill>
                  <a:srgbClr val="0000FF"/>
                </a:solidFill>
                <a:ea typeface="华文中宋" panose="02010600040101010101" pitchFamily="2" charset="-122"/>
              </a:rPr>
              <a:t>L</a:t>
            </a:r>
            <a:r>
              <a:rPr lang="en-US" altLang="zh-CN" sz="2800" b="1" dirty="0">
                <a:solidFill>
                  <a:srgbClr val="0000FF"/>
                </a:solidFill>
                <a:ea typeface="Arial Unicode MS" panose="020B0604020202020204" charset="-122"/>
              </a:rPr>
              <a:t>⇄</a:t>
            </a:r>
            <a:r>
              <a:rPr lang="en-US" altLang="zh-CN" sz="2800" b="1" dirty="0">
                <a:solidFill>
                  <a:srgbClr val="0000FF"/>
                </a:solidFill>
                <a:ea typeface="华文中宋" panose="02010600040101010101" pitchFamily="2" charset="-122"/>
              </a:rPr>
              <a:t>(</a:t>
            </a:r>
            <a:r>
              <a:rPr lang="en-US" altLang="zh-CN" sz="2800" b="1" i="1" dirty="0">
                <a:solidFill>
                  <a:srgbClr val="0000FF"/>
                </a:solidFill>
                <a:ea typeface="华文中宋" panose="02010600040101010101" pitchFamily="2" charset="-122"/>
                <a:sym typeface="Symbol" panose="05050102010706020507" pitchFamily="18" charset="2"/>
              </a:rPr>
              <a:t></a:t>
            </a:r>
            <a:r>
              <a:rPr lang="en-US" altLang="zh-CN" sz="2800" b="1" dirty="0">
                <a:solidFill>
                  <a:srgbClr val="0000FF"/>
                </a:solidFill>
                <a:ea typeface="华文中宋" panose="02010600040101010101" pitchFamily="2" charset="-122"/>
                <a:sym typeface="Symbol" panose="05050102010706020507" pitchFamily="18" charset="2"/>
              </a:rPr>
              <a:t>+</a:t>
            </a:r>
            <a:r>
              <a:rPr lang="en-US" altLang="zh-CN" sz="2800" b="1" i="1" dirty="0">
                <a:solidFill>
                  <a:srgbClr val="0000FF"/>
                </a:solidFill>
                <a:ea typeface="华文中宋" panose="02010600040101010101" pitchFamily="2" charset="-122"/>
                <a:sym typeface="Symbol" panose="05050102010706020507" pitchFamily="18" charset="2"/>
              </a:rPr>
              <a:t></a:t>
            </a:r>
            <a:r>
              <a:rPr lang="en-US" altLang="zh-CN" sz="2800" b="1" dirty="0">
                <a:solidFill>
                  <a:srgbClr val="0000FF"/>
                </a:solidFill>
                <a:ea typeface="华文中宋" panose="02010600040101010101" pitchFamily="2" charset="-122"/>
                <a:sym typeface="Symbol" panose="05050102010706020507" pitchFamily="18" charset="2"/>
              </a:rPr>
              <a:t>)</a:t>
            </a:r>
            <a:r>
              <a:rPr lang="zh-CN" altLang="en-US" sz="2800" b="1" dirty="0">
                <a:ea typeface="华文中宋" panose="02010600040101010101" pitchFamily="2" charset="-122"/>
              </a:rPr>
              <a:t>，转变为共晶组织</a:t>
            </a:r>
            <a:r>
              <a:rPr lang="en-US" altLang="zh-CN" sz="2800" b="1" dirty="0">
                <a:ea typeface="华文中宋" panose="02010600040101010101" pitchFamily="2" charset="-122"/>
              </a:rPr>
              <a:t>,  </a:t>
            </a:r>
            <a:r>
              <a:rPr lang="zh-CN" altLang="en-US" sz="2800" b="1" dirty="0">
                <a:ea typeface="华文中宋" panose="02010600040101010101" pitchFamily="2" charset="-122"/>
              </a:rPr>
              <a:t>共晶体的质量与转变前的液相质量相等</a:t>
            </a:r>
            <a:r>
              <a:rPr lang="en-US" altLang="zh-CN" sz="2800" b="1" dirty="0">
                <a:ea typeface="华文中宋" panose="02010600040101010101" pitchFamily="2" charset="-122"/>
              </a:rPr>
              <a:t>,  </a:t>
            </a:r>
            <a:r>
              <a:rPr lang="zh-CN" altLang="en-US" sz="2800" b="1" dirty="0">
                <a:ea typeface="华文中宋" panose="02010600040101010101" pitchFamily="2" charset="-122"/>
              </a:rPr>
              <a:t>即 </a:t>
            </a:r>
            <a:r>
              <a:rPr lang="en-US" altLang="zh-CN" sz="2800" b="1" i="1" dirty="0">
                <a:ea typeface="华文中宋" panose="02010600040101010101" pitchFamily="2" charset="-122"/>
              </a:rPr>
              <a:t>Q</a:t>
            </a:r>
            <a:r>
              <a:rPr lang="en-US" altLang="zh-CN" sz="2800" b="1" i="1" baseline="-25000" dirty="0">
                <a:ea typeface="华文中宋" panose="02010600040101010101" pitchFamily="2" charset="-122"/>
              </a:rPr>
              <a:t>E</a:t>
            </a:r>
            <a:r>
              <a:rPr lang="en-US" altLang="zh-CN" sz="2800" b="1" i="1" dirty="0">
                <a:ea typeface="华文中宋" panose="02010600040101010101" pitchFamily="2" charset="-122"/>
              </a:rPr>
              <a:t> = Q</a:t>
            </a:r>
            <a:r>
              <a:rPr lang="en-US" altLang="zh-CN" sz="2800" b="1" i="1" baseline="-25000" dirty="0">
                <a:ea typeface="华文中宋" panose="02010600040101010101" pitchFamily="2" charset="-122"/>
              </a:rPr>
              <a:t>L</a:t>
            </a:r>
            <a:endParaRPr lang="en-US" altLang="zh-CN" sz="2800" b="1" dirty="0">
              <a:ea typeface="华文中宋" panose="02010600040101010101" pitchFamily="2" charset="-122"/>
            </a:endParaRPr>
          </a:p>
          <a:p>
            <a:pPr eaLnBrk="1" hangingPunct="1">
              <a:lnSpc>
                <a:spcPct val="110000"/>
              </a:lnSpc>
            </a:pPr>
            <a:r>
              <a:rPr lang="zh-CN" altLang="en-US" sz="2800" b="1" dirty="0">
                <a:ea typeface="华文中宋" panose="02010600040101010101" pitchFamily="2" charset="-122"/>
              </a:rPr>
              <a:t>反应结束后，在共晶温度下</a:t>
            </a:r>
            <a:r>
              <a:rPr lang="zh-CN" altLang="en-US" sz="2800" b="1" i="1" dirty="0">
                <a:ea typeface="华文中宋" panose="02010600040101010101" pitchFamily="2" charset="-122"/>
                <a:sym typeface="Symbol" panose="05050102010706020507" pitchFamily="18" charset="2"/>
              </a:rPr>
              <a:t></a:t>
            </a:r>
            <a:r>
              <a:rPr lang="zh-CN" altLang="en-US" sz="2800" b="1" dirty="0">
                <a:ea typeface="华文中宋" panose="02010600040101010101" pitchFamily="2" charset="-122"/>
                <a:sym typeface="Symbol" panose="05050102010706020507" pitchFamily="18" charset="2"/>
              </a:rPr>
              <a:t>、 </a:t>
            </a:r>
            <a:r>
              <a:rPr lang="zh-CN" altLang="en-US" sz="2800" b="1" i="1" dirty="0">
                <a:ea typeface="华文中宋" panose="02010600040101010101" pitchFamily="2" charset="-122"/>
                <a:sym typeface="Symbol" panose="05050102010706020507" pitchFamily="18" charset="2"/>
              </a:rPr>
              <a:t></a:t>
            </a:r>
            <a:r>
              <a:rPr lang="zh-CN" altLang="en-US" sz="2800" b="1" dirty="0">
                <a:ea typeface="华文中宋" panose="02010600040101010101" pitchFamily="2" charset="-122"/>
                <a:sym typeface="Symbol" panose="05050102010706020507" pitchFamily="18" charset="2"/>
              </a:rPr>
              <a:t> </a:t>
            </a:r>
            <a:r>
              <a:rPr lang="zh-CN" altLang="en-US" sz="2800" b="1" dirty="0">
                <a:ea typeface="华文中宋" panose="02010600040101010101" pitchFamily="2" charset="-122"/>
              </a:rPr>
              <a:t>两相的相对重量百分比为：</a:t>
            </a:r>
          </a:p>
        </p:txBody>
      </p:sp>
      <mc:AlternateContent xmlns:mc="http://schemas.openxmlformats.org/markup-compatibility/2006" xmlns:a14="http://schemas.microsoft.com/office/drawing/2010/main">
        <mc:Choice Requires="a14">
          <p:sp>
            <p:nvSpPr>
              <p:cNvPr id="83971" name="Object 3"/>
              <p:cNvSpPr txBox="1"/>
              <p:nvPr/>
            </p:nvSpPr>
            <p:spPr>
              <a:xfrm>
                <a:off x="2987566" y="3991928"/>
                <a:ext cx="3362325" cy="558800"/>
              </a:xfrm>
              <a:prstGeom prst="rect">
                <a:avLst/>
              </a:prstGeom>
              <a:solidFill>
                <a:schemeClr val="tx2">
                  <a:lumMod val="20000"/>
                  <a:lumOff val="80000"/>
                </a:schemeClr>
              </a:solidFill>
              <a:ln w="38100">
                <a:noFill/>
                <a:miter/>
              </a:ln>
            </p:spPr>
            <p:txBody>
              <a:bodyPr>
                <a:normAutofit fontScale="77500" lnSpcReduction="20000"/>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𝑄</m:t>
                          </m:r>
                        </m:e>
                        <m:sub>
                          <m:r>
                            <a:rPr lang="zh-CN" altLang="en-US" i="1">
                              <a:solidFill>
                                <a:srgbClr val="000000"/>
                              </a:solidFill>
                              <a:latin typeface="Cambria Math" panose="02040503050406030204" pitchFamily="18" charset="0"/>
                            </a:rPr>
                            <m:t>𝛼</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𝐷</m:t>
                          </m:r>
                        </m:num>
                        <m:den>
                          <m:r>
                            <a:rPr lang="zh-CN" altLang="en-US" i="1">
                              <a:solidFill>
                                <a:srgbClr val="000000"/>
                              </a:solidFill>
                              <a:latin typeface="Cambria Math" panose="02040503050406030204" pitchFamily="18" charset="0"/>
                            </a:rPr>
                            <m:t>𝐶𝐷</m:t>
                          </m:r>
                        </m:den>
                      </m:f>
                      <m:r>
                        <a:rPr lang="zh-CN" altLang="en-US" i="1">
                          <a:solidFill>
                            <a:srgbClr val="000000"/>
                          </a:solidFill>
                          <a:latin typeface="Cambria Math" panose="02040503050406030204" pitchFamily="18" charset="0"/>
                        </a:rPr>
                        <m:t>×100%,</m:t>
                      </m:r>
                      <m:nary>
                        <m:naryPr>
                          <m:chr m:val=","/>
                          <m:subHide m:val="on"/>
                          <m:ctrlPr>
                            <a:rPr lang="zh-CN" altLang="en-US" i="1">
                              <a:solidFill>
                                <a:srgbClr val="000000"/>
                              </a:solidFill>
                              <a:latin typeface="Cambria Math" panose="02040503050406030204" pitchFamily="18" charset="0"/>
                            </a:rPr>
                          </m:ctrlPr>
                        </m:naryPr>
                        <m:sub/>
                        <m:sup/>
                        <m:e/>
                      </m:nary>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𝑄</m:t>
                          </m:r>
                        </m:e>
                        <m:sub>
                          <m:r>
                            <a:rPr lang="zh-CN" altLang="en-US" i="1">
                              <a:solidFill>
                                <a:srgbClr val="000000"/>
                              </a:solidFill>
                              <a:latin typeface="Cambria Math" panose="02040503050406030204" pitchFamily="18" charset="0"/>
                            </a:rPr>
                            <m:t>𝛽</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2</m:t>
                          </m:r>
                        </m:num>
                        <m:den>
                          <m:r>
                            <a:rPr lang="zh-CN" altLang="en-US" i="1">
                              <a:solidFill>
                                <a:srgbClr val="000000"/>
                              </a:solidFill>
                              <a:latin typeface="Cambria Math" panose="02040503050406030204" pitchFamily="18" charset="0"/>
                            </a:rPr>
                            <m:t>𝐶𝐷</m:t>
                          </m:r>
                        </m:den>
                      </m:f>
                      <m:r>
                        <a:rPr lang="zh-CN" altLang="en-US" i="1">
                          <a:solidFill>
                            <a:srgbClr val="000000"/>
                          </a:solidFill>
                          <a:latin typeface="Cambria Math" panose="02040503050406030204" pitchFamily="18" charset="0"/>
                        </a:rPr>
                        <m:t>×100%</m:t>
                      </m:r>
                    </m:oMath>
                  </m:oMathPara>
                </a14:m>
                <a:endParaRPr lang="zh-CN" altLang="en-US" dirty="0"/>
              </a:p>
            </p:txBody>
          </p:sp>
        </mc:Choice>
        <mc:Fallback xmlns="">
          <p:sp>
            <p:nvSpPr>
              <p:cNvPr id="83971" name="Object 3"/>
              <p:cNvSpPr txBox="1">
                <a:spLocks noRot="1" noChangeAspect="1" noMove="1" noResize="1" noEditPoints="1" noAdjustHandles="1" noChangeArrowheads="1" noChangeShapeType="1" noTextEdit="1"/>
              </p:cNvSpPr>
              <p:nvPr/>
            </p:nvSpPr>
            <p:spPr>
              <a:xfrm>
                <a:off x="2987566" y="3991928"/>
                <a:ext cx="3362325" cy="558800"/>
              </a:xfrm>
              <a:prstGeom prst="rect">
                <a:avLst/>
              </a:prstGeom>
              <a:blipFill rotWithShape="1">
                <a:blip r:embed="rId2"/>
                <a:stretch>
                  <a:fillRect l="-16" t="-57" r="16" b="57"/>
                </a:stretch>
              </a:blipFill>
              <a:ln w="38100">
                <a:noFill/>
                <a:miter/>
              </a:ln>
            </p:spPr>
            <p:txBody>
              <a:bodyPr/>
              <a:lstStyle/>
              <a:p>
                <a:r>
                  <a:rPr lang="zh-CN" altLang="en-US">
                    <a:noFill/>
                  </a:rPr>
                  <a:t> </a:t>
                </a:r>
              </a:p>
            </p:txBody>
          </p:sp>
        </mc:Fallback>
      </mc:AlternateContent>
      <p:grpSp>
        <p:nvGrpSpPr>
          <p:cNvPr id="2" name="Group 9"/>
          <p:cNvGrpSpPr/>
          <p:nvPr/>
        </p:nvGrpSpPr>
        <p:grpSpPr>
          <a:xfrm>
            <a:off x="1460500" y="4662805"/>
            <a:ext cx="6856095" cy="1724025"/>
            <a:chOff x="432" y="2400"/>
            <a:chExt cx="4992" cy="1824"/>
          </a:xfrm>
        </p:grpSpPr>
        <p:pic>
          <p:nvPicPr>
            <p:cNvPr id="7177" name="Picture 5" descr="Pb-Sn亚共晶合金结晶过程-1"/>
            <p:cNvPicPr>
              <a:picLocks noChangeAspect="1"/>
            </p:cNvPicPr>
            <p:nvPr/>
          </p:nvPicPr>
          <p:blipFill>
            <a:blip r:embed="rId3"/>
            <a:stretch>
              <a:fillRect/>
            </a:stretch>
          </p:blipFill>
          <p:spPr>
            <a:xfrm>
              <a:off x="432" y="2413"/>
              <a:ext cx="1843" cy="1811"/>
            </a:xfrm>
            <a:prstGeom prst="rect">
              <a:avLst/>
            </a:prstGeom>
            <a:noFill/>
            <a:ln w="9525">
              <a:noFill/>
            </a:ln>
          </p:spPr>
        </p:pic>
        <p:pic>
          <p:nvPicPr>
            <p:cNvPr id="7178" name="Picture 6" descr="Pb-Sn亚共晶合金结晶过程-2"/>
            <p:cNvPicPr preferRelativeResize="0"/>
            <p:nvPr/>
          </p:nvPicPr>
          <p:blipFill>
            <a:blip r:embed="rId4"/>
            <a:stretch>
              <a:fillRect/>
            </a:stretch>
          </p:blipFill>
          <p:spPr>
            <a:xfrm>
              <a:off x="2256" y="2412"/>
              <a:ext cx="3168" cy="1811"/>
            </a:xfrm>
            <a:prstGeom prst="rect">
              <a:avLst/>
            </a:prstGeom>
            <a:noFill/>
            <a:ln w="9525">
              <a:noFill/>
            </a:ln>
          </p:spPr>
        </p:pic>
        <p:sp>
          <p:nvSpPr>
            <p:cNvPr id="7179" name="Rectangle 7"/>
            <p:cNvSpPr/>
            <p:nvPr/>
          </p:nvSpPr>
          <p:spPr>
            <a:xfrm>
              <a:off x="432" y="2400"/>
              <a:ext cx="4992" cy="1824"/>
            </a:xfrm>
            <a:prstGeom prst="rect">
              <a:avLst/>
            </a:prstGeom>
            <a:noFill/>
            <a:ln w="38100" cap="flat" cmpd="sng">
              <a:solidFill>
                <a:srgbClr val="FF9900"/>
              </a:solidFill>
              <a:prstDash val="solid"/>
              <a:miter/>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grpSp>
      <mc:AlternateContent xmlns:mc="http://schemas.openxmlformats.org/markup-compatibility/2006" xmlns:a14="http://schemas.microsoft.com/office/drawing/2010/main">
        <mc:Choice Requires="a14">
          <p:sp>
            <p:nvSpPr>
              <p:cNvPr id="83978" name="Object 10"/>
              <p:cNvSpPr txBox="1"/>
              <p:nvPr/>
            </p:nvSpPr>
            <p:spPr>
              <a:xfrm>
                <a:off x="6012180" y="2997200"/>
                <a:ext cx="3018790" cy="542290"/>
              </a:xfrm>
              <a:prstGeom prst="rect">
                <a:avLst/>
              </a:prstGeom>
              <a:solidFill>
                <a:schemeClr val="tx2">
                  <a:lumMod val="20000"/>
                  <a:lumOff val="80000"/>
                </a:schemeClr>
              </a:solidFill>
              <a:ln w="38100">
                <a:noFill/>
                <a:miter/>
              </a:ln>
            </p:spPr>
            <p:txBody>
              <a:bodyPr>
                <a:normAutofit fontScale="8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2</m:t>
                          </m:r>
                        </m:num>
                        <m:den>
                          <m:r>
                            <a:rPr lang="zh-CN" altLang="en-US" i="1">
                              <a:solidFill>
                                <a:srgbClr val="000000"/>
                              </a:solidFill>
                              <a:latin typeface="Cambria Math" panose="02040503050406030204" pitchFamily="18" charset="0"/>
                            </a:rPr>
                            <m:t>𝐶𝐸</m:t>
                          </m:r>
                        </m:den>
                      </m:f>
                      <m:r>
                        <a:rPr lang="zh-CN" altLang="en-US" i="1">
                          <a:solidFill>
                            <a:srgbClr val="000000"/>
                          </a:solidFill>
                          <a:latin typeface="Cambria Math" panose="02040503050406030204" pitchFamily="18" charset="0"/>
                        </a:rPr>
                        <m:t>×100%,</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𝑄</m:t>
                          </m:r>
                        </m:e>
                        <m:sub>
                          <m:r>
                            <a:rPr lang="zh-CN" altLang="en-US" i="1">
                              <a:solidFill>
                                <a:srgbClr val="000000"/>
                              </a:solidFill>
                              <a:latin typeface="Cambria Math" panose="02040503050406030204" pitchFamily="18" charset="0"/>
                            </a:rPr>
                            <m:t>𝛼</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𝐸</m:t>
                          </m:r>
                        </m:num>
                        <m:den>
                          <m:r>
                            <a:rPr lang="zh-CN" altLang="en-US" i="1">
                              <a:solidFill>
                                <a:srgbClr val="000000"/>
                              </a:solidFill>
                              <a:latin typeface="Cambria Math" panose="02040503050406030204" pitchFamily="18" charset="0"/>
                            </a:rPr>
                            <m:t>𝐶𝐸</m:t>
                          </m:r>
                        </m:den>
                      </m:f>
                      <m:r>
                        <a:rPr lang="zh-CN" altLang="en-US" i="1">
                          <a:solidFill>
                            <a:srgbClr val="000000"/>
                          </a:solidFill>
                          <a:latin typeface="Cambria Math" panose="02040503050406030204" pitchFamily="18" charset="0"/>
                        </a:rPr>
                        <m:t>×100%</m:t>
                      </m:r>
                    </m:oMath>
                  </m:oMathPara>
                </a14:m>
                <a:endParaRPr lang="zh-CN" altLang="en-US" dirty="0"/>
              </a:p>
            </p:txBody>
          </p:sp>
        </mc:Choice>
        <mc:Fallback xmlns="">
          <p:sp>
            <p:nvSpPr>
              <p:cNvPr id="83978" name="Object 10"/>
              <p:cNvSpPr txBox="1">
                <a:spLocks noRot="1" noChangeAspect="1" noMove="1" noResize="1" noEditPoints="1" noAdjustHandles="1" noChangeArrowheads="1" noChangeShapeType="1" noTextEdit="1"/>
              </p:cNvSpPr>
              <p:nvPr/>
            </p:nvSpPr>
            <p:spPr>
              <a:xfrm>
                <a:off x="6012180" y="2997200"/>
                <a:ext cx="3018790" cy="542290"/>
              </a:xfrm>
              <a:prstGeom prst="rect">
                <a:avLst/>
              </a:prstGeom>
              <a:blipFill rotWithShape="1">
                <a:blip r:embed="rId5"/>
                <a:stretch>
                  <a:fillRect/>
                </a:stretch>
              </a:blipFill>
              <a:ln w="38100">
                <a:noFill/>
                <a:miter/>
              </a:ln>
            </p:spPr>
            <p:txBody>
              <a:bodyPr/>
              <a:lstStyle/>
              <a:p>
                <a:r>
                  <a:rPr lang="zh-CN" altLang="en-US">
                    <a:noFill/>
                  </a:rPr>
                  <a:t> </a:t>
                </a:r>
              </a:p>
            </p:txBody>
          </p:sp>
        </mc:Fallback>
      </mc:AlternateContent>
      <p:pic>
        <p:nvPicPr>
          <p:cNvPr id="12" name="内容占位符 1" descr="新校徽（3M）弓之乐"/>
          <p:cNvPicPr>
            <a:picLocks noChangeAspect="1"/>
          </p:cNvPicPr>
          <p:nvPr/>
        </p:nvPicPr>
        <p:blipFill>
          <a:blip r:embed="rId6"/>
          <a:stretch>
            <a:fillRect/>
          </a:stretch>
        </p:blipFill>
        <p:spPr>
          <a:xfrm>
            <a:off x="0" y="0"/>
            <a:ext cx="746760" cy="735965"/>
          </a:xfrm>
          <a:prstGeom prst="rect">
            <a:avLst/>
          </a:prstGeom>
          <a:noFill/>
          <a:ln w="9525">
            <a:noFill/>
          </a:ln>
        </p:spPr>
      </p:pic>
      <p:sp>
        <p:nvSpPr>
          <p:cNvPr id="284674" name="Rectangle 2"/>
          <p:cNvSpPr>
            <a:spLocks noGrp="1" noChangeArrowheads="1"/>
          </p:cNvSpPr>
          <p:nvPr>
            <p:ph type="title"/>
          </p:nvPr>
        </p:nvSpPr>
        <p:spPr>
          <a:xfrm>
            <a:off x="775335" y="204779"/>
            <a:ext cx="8429625"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③亚共晶合金</a:t>
            </a:r>
            <a:r>
              <a:rPr kumimoji="1" lang="en-US" altLang="zh-CN" sz="40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(Ⅲ</a:t>
            </a:r>
            <a:r>
              <a:rPr kumimoji="1" lang="zh-CN" altLang="en-US" sz="40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合金</a:t>
            </a:r>
            <a:r>
              <a:rPr kumimoji="1" lang="en-US" altLang="zh-CN" sz="40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a:t>
            </a:r>
            <a:r>
              <a:rPr kumimoji="1" lang="zh-CN" altLang="en-US" sz="40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的结晶过程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3970">
                                            <p:txEl>
                                              <p:pRg st="0" end="0"/>
                                            </p:txEl>
                                          </p:spTgt>
                                        </p:tgtEl>
                                        <p:attrNameLst>
                                          <p:attrName>style.visibility</p:attrName>
                                        </p:attrNameLst>
                                      </p:cBhvr>
                                      <p:to>
                                        <p:strVal val="visible"/>
                                      </p:to>
                                    </p:set>
                                    <p:animEffect transition="in" filter="wipe(left)">
                                      <p:cBhvr>
                                        <p:cTn id="7" dur="500"/>
                                        <p:tgtEl>
                                          <p:spTgt spid="83970">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3970">
                                            <p:txEl>
                                              <p:pRg st="1" end="1"/>
                                            </p:txEl>
                                          </p:spTgt>
                                        </p:tgtEl>
                                        <p:attrNameLst>
                                          <p:attrName>style.visibility</p:attrName>
                                        </p:attrNameLst>
                                      </p:cBhvr>
                                      <p:to>
                                        <p:strVal val="visible"/>
                                      </p:to>
                                    </p:set>
                                    <p:animEffect transition="in" filter="wipe(left)">
                                      <p:cBhvr>
                                        <p:cTn id="11" dur="500"/>
                                        <p:tgtEl>
                                          <p:spTgt spid="83970">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83970">
                                            <p:txEl>
                                              <p:pRg st="2" end="2"/>
                                            </p:txEl>
                                          </p:spTgt>
                                        </p:tgtEl>
                                        <p:attrNameLst>
                                          <p:attrName>style.visibility</p:attrName>
                                        </p:attrNameLst>
                                      </p:cBhvr>
                                      <p:to>
                                        <p:strVal val="visible"/>
                                      </p:to>
                                    </p:set>
                                    <p:animEffect transition="in" filter="wipe(left)">
                                      <p:cBhvr>
                                        <p:cTn id="15" dur="500"/>
                                        <p:tgtEl>
                                          <p:spTgt spid="83970">
                                            <p:txEl>
                                              <p:pRg st="2" end="2"/>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0" grpId="0" build="p" advAuto="100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日期占位符 3"/>
          <p:cNvSpPr txBox="1">
            <a:spLocks noGrp="1"/>
          </p:cNvSpPr>
          <p:nvPr>
            <p:ph type="dt" sz="half" idx="10"/>
          </p:nvPr>
        </p:nvSpPr>
        <p:spPr>
          <a:xfrm>
            <a:off x="214313" y="6581775"/>
            <a:ext cx="2376487" cy="27622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77827" name="灯片编号占位符 5"/>
          <p:cNvSpPr txBox="1">
            <a:spLocks noGrp="1"/>
          </p:cNvSpPr>
          <p:nvPr>
            <p:ph type="sldNum" sz="quarter" idx="12"/>
          </p:nvPr>
        </p:nvSpPr>
        <p:spPr>
          <a:xfrm>
            <a:off x="8661400" y="6581775"/>
            <a:ext cx="488950" cy="276225"/>
          </a:xfrm>
        </p:spPr>
        <p:txBody>
          <a:bodyPr lIns="92075" tIns="46038" rIns="92075" bIns="46038" anchor="ctr"/>
          <a:lstStyle/>
          <a:p>
            <a:pPr algn="r" eaLnBrk="1" hangingPunct="1"/>
            <a:fld id="{9A0DB2DC-4C9A-4742-B13C-FB6460FD3503}" type="slidenum">
              <a:rPr lang="en-US" altLang="zh-CN" sz="1400" dirty="0"/>
              <a:t>79</a:t>
            </a:fld>
            <a:endParaRPr lang="en-US" altLang="zh-CN" sz="1400" dirty="0"/>
          </a:p>
        </p:txBody>
      </p:sp>
      <p:sp>
        <p:nvSpPr>
          <p:cNvPr id="84994" name="Rectangle 2"/>
          <p:cNvSpPr>
            <a:spLocks noGrp="1"/>
          </p:cNvSpPr>
          <p:nvPr>
            <p:ph idx="1"/>
          </p:nvPr>
        </p:nvSpPr>
        <p:spPr>
          <a:xfrm>
            <a:off x="731116" y="1735766"/>
            <a:ext cx="8496944" cy="1507207"/>
          </a:xfrm>
        </p:spPr>
        <p:txBody>
          <a:bodyPr vert="horz" wrap="square" lIns="91440" tIns="45720" rIns="91440" bIns="45720" anchor="t"/>
          <a:lstStyle/>
          <a:p>
            <a:pPr eaLnBrk="1" hangingPunct="1">
              <a:lnSpc>
                <a:spcPct val="140000"/>
              </a:lnSpc>
            </a:pPr>
            <a:r>
              <a:rPr lang="zh-CN" altLang="en-US" sz="2800" b="1" dirty="0">
                <a:ea typeface="华文中宋" panose="02010600040101010101" pitchFamily="2" charset="-122"/>
              </a:rPr>
              <a:t>温度继续下降，将从一次</a:t>
            </a:r>
            <a:r>
              <a:rPr lang="zh-CN" altLang="en-US" sz="2800" b="1" i="1" dirty="0">
                <a:ea typeface="华文中宋" panose="02010600040101010101" pitchFamily="2" charset="-122"/>
                <a:sym typeface="Symbol" panose="05050102010706020507" pitchFamily="18" charset="2"/>
              </a:rPr>
              <a:t></a:t>
            </a:r>
            <a:r>
              <a:rPr lang="zh-CN" altLang="en-US" sz="2800" b="1" dirty="0">
                <a:ea typeface="华文中宋" panose="02010600040101010101" pitchFamily="2" charset="-122"/>
                <a:sym typeface="Symbol" panose="05050102010706020507" pitchFamily="18" charset="2"/>
              </a:rPr>
              <a:t> </a:t>
            </a:r>
            <a:r>
              <a:rPr lang="zh-CN" altLang="en-US" sz="2800" b="1" dirty="0">
                <a:ea typeface="华文中宋" panose="02010600040101010101" pitchFamily="2" charset="-122"/>
              </a:rPr>
              <a:t>和共晶</a:t>
            </a:r>
            <a:r>
              <a:rPr lang="zh-CN" altLang="en-US" sz="2800" b="1" i="1" dirty="0">
                <a:ea typeface="华文中宋" panose="02010600040101010101" pitchFamily="2" charset="-122"/>
                <a:sym typeface="Symbol" panose="05050102010706020507" pitchFamily="18" charset="2"/>
              </a:rPr>
              <a:t></a:t>
            </a:r>
            <a:r>
              <a:rPr lang="zh-CN" altLang="en-US" sz="2800" b="1" dirty="0">
                <a:ea typeface="华文中宋" panose="02010600040101010101" pitchFamily="2" charset="-122"/>
                <a:sym typeface="Symbol" panose="05050102010706020507" pitchFamily="18" charset="2"/>
              </a:rPr>
              <a:t> </a:t>
            </a:r>
            <a:r>
              <a:rPr lang="zh-CN" altLang="en-US" sz="2800" b="1" dirty="0">
                <a:ea typeface="华文中宋" panose="02010600040101010101" pitchFamily="2" charset="-122"/>
              </a:rPr>
              <a:t>中析出</a:t>
            </a:r>
            <a:r>
              <a:rPr lang="en-US" altLang="zh-CN" sz="2800" b="1" i="1" dirty="0">
                <a:solidFill>
                  <a:srgbClr val="0000FF"/>
                </a:solidFill>
                <a:ea typeface="华文中宋" panose="02010600040101010101" pitchFamily="2" charset="-122"/>
                <a:sym typeface="Symbol" panose="05050102010706020507" pitchFamily="18" charset="2"/>
              </a:rPr>
              <a:t></a:t>
            </a:r>
            <a:r>
              <a:rPr lang="en-US" altLang="zh-CN" sz="2800" b="1" i="1" baseline="-25000" dirty="0">
                <a:solidFill>
                  <a:srgbClr val="0000FF"/>
                </a:solidFill>
                <a:ea typeface="华文中宋" panose="02010600040101010101" pitchFamily="2" charset="-122"/>
                <a:sym typeface="Symbol" panose="05050102010706020507" pitchFamily="18" charset="2"/>
              </a:rPr>
              <a:t>Ⅱ</a:t>
            </a:r>
            <a:r>
              <a:rPr lang="zh-CN" altLang="en-US" sz="2800" b="1" dirty="0">
                <a:ea typeface="华文中宋" panose="02010600040101010101" pitchFamily="2" charset="-122"/>
              </a:rPr>
              <a:t>，从共晶</a:t>
            </a:r>
            <a:r>
              <a:rPr lang="zh-CN" altLang="en-US" sz="2800" b="1" i="1" dirty="0">
                <a:ea typeface="华文中宋" panose="02010600040101010101" pitchFamily="2" charset="-122"/>
                <a:sym typeface="Symbol" panose="05050102010706020507" pitchFamily="18" charset="2"/>
              </a:rPr>
              <a:t></a:t>
            </a:r>
            <a:r>
              <a:rPr lang="zh-CN" altLang="en-US" sz="2800" b="1" dirty="0">
                <a:ea typeface="华文中宋" panose="02010600040101010101" pitchFamily="2" charset="-122"/>
                <a:sym typeface="Symbol" panose="05050102010706020507" pitchFamily="18" charset="2"/>
              </a:rPr>
              <a:t> </a:t>
            </a:r>
            <a:r>
              <a:rPr lang="zh-CN" altLang="en-US" sz="2800" b="1" dirty="0">
                <a:ea typeface="华文中宋" panose="02010600040101010101" pitchFamily="2" charset="-122"/>
              </a:rPr>
              <a:t>中析出</a:t>
            </a:r>
            <a:r>
              <a:rPr lang="zh-CN" altLang="en-US" sz="2800" b="1" i="1" dirty="0">
                <a:ea typeface="华文中宋" panose="02010600040101010101" pitchFamily="2" charset="-122"/>
                <a:sym typeface="Symbol" panose="05050102010706020507" pitchFamily="18" charset="2"/>
              </a:rPr>
              <a:t></a:t>
            </a:r>
            <a:r>
              <a:rPr lang="en-US" altLang="zh-CN" sz="2800" b="1" baseline="-25000" dirty="0">
                <a:ea typeface="华文中宋" panose="02010600040101010101" pitchFamily="2" charset="-122"/>
                <a:sym typeface="Symbol" panose="05050102010706020507" pitchFamily="18" charset="2"/>
              </a:rPr>
              <a:t>Ⅱ</a:t>
            </a:r>
            <a:r>
              <a:rPr lang="zh-CN" altLang="en-US" sz="2800" b="1" dirty="0">
                <a:ea typeface="华文中宋" panose="02010600040101010101" pitchFamily="2" charset="-122"/>
              </a:rPr>
              <a:t>。其</a:t>
            </a:r>
            <a:r>
              <a:rPr lang="zh-CN" altLang="en-US" sz="2800" b="1" dirty="0">
                <a:solidFill>
                  <a:srgbClr val="0000FF"/>
                </a:solidFill>
                <a:ea typeface="华文中宋" panose="02010600040101010101" pitchFamily="2" charset="-122"/>
              </a:rPr>
              <a:t>室温组织</a:t>
            </a:r>
            <a:r>
              <a:rPr lang="zh-CN" altLang="en-US" sz="2800" b="1" dirty="0">
                <a:ea typeface="华文中宋" panose="02010600040101010101" pitchFamily="2" charset="-122"/>
              </a:rPr>
              <a:t>为</a:t>
            </a:r>
            <a:r>
              <a:rPr lang="zh-CN" altLang="en-US" sz="2800" b="1" i="1" dirty="0">
                <a:solidFill>
                  <a:srgbClr val="0000FF"/>
                </a:solidFill>
                <a:ea typeface="华文中宋" panose="02010600040101010101" pitchFamily="2" charset="-122"/>
                <a:sym typeface="Symbol" panose="05050102010706020507" pitchFamily="18" charset="2"/>
              </a:rPr>
              <a:t></a:t>
            </a:r>
            <a:r>
              <a:rPr lang="en-US" altLang="zh-CN" sz="2800" b="1" baseline="-25000" dirty="0">
                <a:solidFill>
                  <a:srgbClr val="0000FF"/>
                </a:solidFill>
                <a:ea typeface="华文中宋" panose="02010600040101010101" pitchFamily="2" charset="-122"/>
                <a:sym typeface="Symbol" panose="05050102010706020507" pitchFamily="18" charset="2"/>
              </a:rPr>
              <a:t>Ⅰ</a:t>
            </a:r>
            <a:r>
              <a:rPr lang="en-US" altLang="zh-CN" sz="2800" b="1" dirty="0">
                <a:solidFill>
                  <a:srgbClr val="0000FF"/>
                </a:solidFill>
                <a:ea typeface="华文中宋" panose="02010600040101010101" pitchFamily="2" charset="-122"/>
                <a:sym typeface="Symbol" panose="05050102010706020507" pitchFamily="18" charset="2"/>
              </a:rPr>
              <a:t>+ (</a:t>
            </a:r>
            <a:r>
              <a:rPr lang="en-US" altLang="zh-CN" sz="2800" b="1" i="1" dirty="0">
                <a:solidFill>
                  <a:srgbClr val="0000FF"/>
                </a:solidFill>
                <a:ea typeface="华文中宋" panose="02010600040101010101" pitchFamily="2" charset="-122"/>
                <a:sym typeface="Symbol" panose="05050102010706020507" pitchFamily="18" charset="2"/>
              </a:rPr>
              <a:t></a:t>
            </a:r>
            <a:r>
              <a:rPr lang="en-US" altLang="zh-CN" sz="2800" b="1" dirty="0">
                <a:solidFill>
                  <a:srgbClr val="0000FF"/>
                </a:solidFill>
                <a:ea typeface="华文中宋" panose="02010600040101010101" pitchFamily="2" charset="-122"/>
                <a:sym typeface="Symbol" panose="05050102010706020507" pitchFamily="18" charset="2"/>
              </a:rPr>
              <a:t>+</a:t>
            </a:r>
            <a:r>
              <a:rPr lang="en-US" altLang="zh-CN" sz="2800" b="1" i="1" dirty="0">
                <a:solidFill>
                  <a:srgbClr val="0000FF"/>
                </a:solidFill>
                <a:ea typeface="华文中宋" panose="02010600040101010101" pitchFamily="2" charset="-122"/>
                <a:sym typeface="Symbol" panose="05050102010706020507" pitchFamily="18" charset="2"/>
              </a:rPr>
              <a:t></a:t>
            </a:r>
            <a:r>
              <a:rPr lang="en-US" altLang="zh-CN" sz="2800" b="1" dirty="0">
                <a:solidFill>
                  <a:srgbClr val="0000FF"/>
                </a:solidFill>
                <a:ea typeface="华文中宋" panose="02010600040101010101" pitchFamily="2" charset="-122"/>
                <a:sym typeface="Symbol" panose="05050102010706020507" pitchFamily="18" charset="2"/>
              </a:rPr>
              <a:t>) + </a:t>
            </a:r>
            <a:r>
              <a:rPr lang="en-US" altLang="zh-CN" sz="2800" b="1" i="1" dirty="0">
                <a:solidFill>
                  <a:srgbClr val="0000FF"/>
                </a:solidFill>
                <a:ea typeface="华文中宋" panose="02010600040101010101" pitchFamily="2" charset="-122"/>
                <a:sym typeface="Symbol" panose="05050102010706020507" pitchFamily="18" charset="2"/>
              </a:rPr>
              <a:t></a:t>
            </a:r>
            <a:r>
              <a:rPr lang="en-US" altLang="zh-CN" sz="2800" b="1" baseline="-25000" dirty="0">
                <a:solidFill>
                  <a:srgbClr val="0000FF"/>
                </a:solidFill>
                <a:ea typeface="华文中宋" panose="02010600040101010101" pitchFamily="2" charset="-122"/>
                <a:sym typeface="Symbol" panose="05050102010706020507" pitchFamily="18" charset="2"/>
              </a:rPr>
              <a:t>Ⅱ</a:t>
            </a:r>
            <a:r>
              <a:rPr lang="zh-CN" altLang="en-US" sz="2800" b="1" dirty="0">
                <a:ea typeface="华文中宋" panose="02010600040101010101" pitchFamily="2" charset="-122"/>
              </a:rPr>
              <a:t>。</a:t>
            </a:r>
          </a:p>
        </p:txBody>
      </p:sp>
      <p:sp>
        <p:nvSpPr>
          <p:cNvPr id="85004" name="Text Box 12"/>
          <p:cNvSpPr txBox="1"/>
          <p:nvPr/>
        </p:nvSpPr>
        <p:spPr>
          <a:xfrm>
            <a:off x="2786380" y="6215380"/>
            <a:ext cx="5245735" cy="396240"/>
          </a:xfrm>
          <a:prstGeom prst="rect">
            <a:avLst/>
          </a:prstGeom>
          <a:noFill/>
          <a:ln w="9525" cap="flat" cmpd="sng">
            <a:solidFill>
              <a:schemeClr val="tx1"/>
            </a:solidFill>
            <a:prstDash val="solid"/>
            <a:miter/>
            <a:headEnd type="none" w="med" len="med"/>
            <a:tailEnd type="none" w="med" len="med"/>
          </a:ln>
        </p:spPr>
        <p:txBody>
          <a:bodyPr wrap="square">
            <a:spAutoFit/>
          </a:bodyPr>
          <a:lstStyle/>
          <a:p>
            <a:pPr lvl="0" eaLnBrk="1" hangingPunct="1">
              <a:spcBef>
                <a:spcPct val="50000"/>
              </a:spcBef>
            </a:pPr>
            <a:r>
              <a:rPr lang="zh-CN" altLang="en-US" sz="2000" b="1" dirty="0">
                <a:latin typeface="Times New Roman" panose="02020603050405020304" pitchFamily="18" charset="0"/>
                <a:ea typeface="宋体" panose="02010600030101010101" pitchFamily="2" charset="-122"/>
              </a:rPr>
              <a:t>如何求室温下三种</a:t>
            </a:r>
            <a:r>
              <a:rPr lang="zh-CN" altLang="en-US" sz="2000" b="1" dirty="0">
                <a:solidFill>
                  <a:schemeClr val="tx2"/>
                </a:solidFill>
                <a:latin typeface="Times New Roman" panose="02020603050405020304" pitchFamily="18" charset="0"/>
                <a:ea typeface="宋体" panose="02010600030101010101" pitchFamily="2" charset="-122"/>
              </a:rPr>
              <a:t>组织组成物</a:t>
            </a:r>
            <a:r>
              <a:rPr lang="zh-CN" altLang="en-US" sz="2000" b="1" dirty="0">
                <a:latin typeface="Times New Roman" panose="02020603050405020304" pitchFamily="18" charset="0"/>
                <a:ea typeface="宋体" panose="02010600030101010101" pitchFamily="2" charset="-122"/>
              </a:rPr>
              <a:t>的相对重量？    </a:t>
            </a:r>
          </a:p>
        </p:txBody>
      </p:sp>
      <p:pic>
        <p:nvPicPr>
          <p:cNvPr id="77830" name="Picture 3" descr="image036"/>
          <p:cNvPicPr>
            <a:picLocks noChangeAspect="1"/>
          </p:cNvPicPr>
          <p:nvPr/>
        </p:nvPicPr>
        <p:blipFill>
          <a:blip r:embed="rId2"/>
          <a:stretch>
            <a:fillRect/>
          </a:stretch>
        </p:blipFill>
        <p:spPr>
          <a:xfrm>
            <a:off x="5007200" y="3615028"/>
            <a:ext cx="3060650" cy="2321672"/>
          </a:xfrm>
          <a:prstGeom prst="rect">
            <a:avLst/>
          </a:prstGeom>
          <a:noFill/>
          <a:ln w="12700" cap="flat" cmpd="sng">
            <a:solidFill>
              <a:schemeClr val="accent1"/>
            </a:solidFill>
            <a:prstDash val="solid"/>
            <a:miter/>
            <a:headEnd type="none" w="med" len="med"/>
            <a:tailEnd type="none" w="med" len="med"/>
          </a:ln>
        </p:spPr>
      </p:pic>
      <p:grpSp>
        <p:nvGrpSpPr>
          <p:cNvPr id="77831" name="Group 17"/>
          <p:cNvGrpSpPr/>
          <p:nvPr/>
        </p:nvGrpSpPr>
        <p:grpSpPr>
          <a:xfrm>
            <a:off x="1076150" y="3521652"/>
            <a:ext cx="3495850" cy="2605713"/>
            <a:chOff x="480" y="1968"/>
            <a:chExt cx="2352" cy="1927"/>
          </a:xfrm>
        </p:grpSpPr>
        <p:pic>
          <p:nvPicPr>
            <p:cNvPr id="77833" name="Picture 13" descr="亚共晶结晶"/>
            <p:cNvPicPr>
              <a:picLocks noChangeAspect="1"/>
            </p:cNvPicPr>
            <p:nvPr/>
          </p:nvPicPr>
          <p:blipFill>
            <a:blip r:embed="rId3"/>
            <a:stretch>
              <a:fillRect/>
            </a:stretch>
          </p:blipFill>
          <p:spPr>
            <a:xfrm>
              <a:off x="480" y="1968"/>
              <a:ext cx="2244" cy="1927"/>
            </a:xfrm>
            <a:prstGeom prst="rect">
              <a:avLst/>
            </a:prstGeom>
            <a:noFill/>
            <a:ln w="38100" cap="flat" cmpd="sng">
              <a:solidFill>
                <a:srgbClr val="CC99FF"/>
              </a:solidFill>
              <a:prstDash val="solid"/>
              <a:miter/>
              <a:headEnd type="none" w="med" len="med"/>
              <a:tailEnd type="none" w="med" len="med"/>
            </a:ln>
          </p:spPr>
        </p:pic>
        <p:sp>
          <p:nvSpPr>
            <p:cNvPr id="77834" name="Text Box 14"/>
            <p:cNvSpPr txBox="1"/>
            <p:nvPr/>
          </p:nvSpPr>
          <p:spPr>
            <a:xfrm>
              <a:off x="1872" y="1968"/>
              <a:ext cx="960" cy="403"/>
            </a:xfrm>
            <a:prstGeom prst="rect">
              <a:avLst/>
            </a:prstGeom>
            <a:noFill/>
            <a:ln w="9525">
              <a:noFill/>
            </a:ln>
          </p:spPr>
          <p:txBody>
            <a:bodyPr>
              <a:spAutoFit/>
            </a:bodyPr>
            <a:lstStyle/>
            <a:p>
              <a:pPr lvl="0" eaLnBrk="1" hangingPunct="1">
                <a:spcBef>
                  <a:spcPct val="50000"/>
                </a:spcBef>
              </a:pPr>
              <a:r>
                <a:rPr lang="zh-CN" altLang="en-US" sz="1800" b="1" dirty="0">
                  <a:solidFill>
                    <a:srgbClr val="800000"/>
                  </a:solidFill>
                  <a:latin typeface="Times New Roman" panose="02020603050405020304" pitchFamily="18" charset="0"/>
                  <a:ea typeface="宋体" panose="02010600030101010101" pitchFamily="2" charset="-122"/>
                </a:rPr>
                <a:t>亚共晶合金的结晶过程</a:t>
              </a:r>
            </a:p>
          </p:txBody>
        </p:sp>
      </p:grpSp>
      <p:pic>
        <p:nvPicPr>
          <p:cNvPr id="11" name="内容占位符 1" descr="新校徽（3M）弓之乐"/>
          <p:cNvPicPr>
            <a:picLocks noChangeAspect="1"/>
          </p:cNvPicPr>
          <p:nvPr/>
        </p:nvPicPr>
        <p:blipFill>
          <a:blip r:embed="rId4"/>
          <a:stretch>
            <a:fillRect/>
          </a:stretch>
        </p:blipFill>
        <p:spPr>
          <a:xfrm>
            <a:off x="0" y="0"/>
            <a:ext cx="746760" cy="735965"/>
          </a:xfrm>
          <a:prstGeom prst="rect">
            <a:avLst/>
          </a:prstGeom>
          <a:noFill/>
          <a:ln w="9525">
            <a:noFill/>
          </a:ln>
        </p:spPr>
      </p:pic>
      <p:sp>
        <p:nvSpPr>
          <p:cNvPr id="284674" name="Rectangle 2"/>
          <p:cNvSpPr>
            <a:spLocks noGrp="1" noChangeArrowheads="1"/>
          </p:cNvSpPr>
          <p:nvPr>
            <p:ph type="title"/>
          </p:nvPr>
        </p:nvSpPr>
        <p:spPr>
          <a:xfrm>
            <a:off x="775335" y="204779"/>
            <a:ext cx="8429625"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③亚共晶合金</a:t>
            </a:r>
            <a:r>
              <a:rPr kumimoji="1" lang="en-US" altLang="zh-CN" sz="40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(Ⅲ</a:t>
            </a:r>
            <a:r>
              <a:rPr kumimoji="1" lang="zh-CN" altLang="en-US" sz="40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合金</a:t>
            </a:r>
            <a:r>
              <a:rPr kumimoji="1" lang="en-US" altLang="zh-CN" sz="40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a:t>
            </a:r>
            <a:r>
              <a:rPr kumimoji="1" lang="zh-CN" altLang="en-US" sz="40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的结晶过程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4994">
                                            <p:txEl>
                                              <p:pRg st="0" end="0"/>
                                            </p:txEl>
                                          </p:spTgt>
                                        </p:tgtEl>
                                        <p:attrNameLst>
                                          <p:attrName>style.visibility</p:attrName>
                                        </p:attrNameLst>
                                      </p:cBhvr>
                                      <p:to>
                                        <p:strVal val="visible"/>
                                      </p:to>
                                    </p:set>
                                    <p:animEffect transition="in" filter="wipe(left)">
                                      <p:cBhvr>
                                        <p:cTn id="7" dur="500"/>
                                        <p:tgtEl>
                                          <p:spTgt spid="8499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5004"/>
                                        </p:tgtEl>
                                        <p:attrNameLst>
                                          <p:attrName>style.visibility</p:attrName>
                                        </p:attrNameLst>
                                      </p:cBhvr>
                                      <p:to>
                                        <p:strVal val="visible"/>
                                      </p:to>
                                    </p:set>
                                    <p:animEffect transition="in" filter="wipe(left)">
                                      <p:cBhvr>
                                        <p:cTn id="12" dur="500"/>
                                        <p:tgtEl>
                                          <p:spTgt spid="850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4" grpId="0" build="p" advAuto="1000"/>
      <p:bldP spid="85004" grpId="0" bldLvl="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日期占位符 3"/>
          <p:cNvSpPr txBox="1">
            <a:spLocks noGrp="1"/>
          </p:cNvSpPr>
          <p:nvPr>
            <p:ph type="dt" sz="half" idx="10"/>
          </p:nvPr>
        </p:nvSpPr>
        <p:spPr>
          <a:xfrm>
            <a:off x="214313" y="6510338"/>
            <a:ext cx="2376487"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78851" name="灯片编号占位符 5"/>
          <p:cNvSpPr txBox="1">
            <a:spLocks noGrp="1"/>
          </p:cNvSpPr>
          <p:nvPr>
            <p:ph type="sldNum" sz="quarter" idx="12"/>
          </p:nvPr>
        </p:nvSpPr>
        <p:spPr>
          <a:xfrm>
            <a:off x="8650605" y="6663055"/>
            <a:ext cx="456565" cy="194945"/>
          </a:xfrm>
        </p:spPr>
        <p:txBody>
          <a:bodyPr lIns="92075" tIns="46038" rIns="92075" bIns="46038" anchor="ctr"/>
          <a:lstStyle/>
          <a:p>
            <a:pPr algn="r" eaLnBrk="1" hangingPunct="1"/>
            <a:fld id="{9A0DB2DC-4C9A-4742-B13C-FB6460FD3503}" type="slidenum">
              <a:rPr lang="en-US" altLang="zh-CN" sz="1400" dirty="0"/>
              <a:t>80</a:t>
            </a:fld>
            <a:endParaRPr lang="en-US" altLang="zh-CN" sz="1400" dirty="0"/>
          </a:p>
        </p:txBody>
      </p:sp>
      <p:sp>
        <p:nvSpPr>
          <p:cNvPr id="288770" name="Rectangle 2"/>
          <p:cNvSpPr>
            <a:spLocks noGrp="1" noChangeArrowheads="1"/>
          </p:cNvSpPr>
          <p:nvPr>
            <p:ph type="title"/>
          </p:nvPr>
        </p:nvSpPr>
        <p:spPr>
          <a:xfrm>
            <a:off x="1038521" y="85194"/>
            <a:ext cx="7772400"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④ </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过共晶合金结晶过程</a:t>
            </a:r>
          </a:p>
        </p:txBody>
      </p:sp>
      <p:sp>
        <p:nvSpPr>
          <p:cNvPr id="78853" name="Rectangle 3"/>
          <p:cNvSpPr>
            <a:spLocks noGrp="1"/>
          </p:cNvSpPr>
          <p:nvPr>
            <p:ph idx="1"/>
          </p:nvPr>
        </p:nvSpPr>
        <p:spPr>
          <a:xfrm>
            <a:off x="550151" y="1811337"/>
            <a:ext cx="4895850" cy="4611688"/>
          </a:xfrm>
        </p:spPr>
        <p:txBody>
          <a:bodyPr vert="horz" wrap="square" lIns="91440" tIns="45720" rIns="91440" bIns="45720" anchor="t"/>
          <a:lstStyle/>
          <a:p>
            <a:pPr eaLnBrk="1" hangingPunct="1"/>
            <a:r>
              <a:rPr lang="zh-CN" altLang="en-US" sz="2800" b="1" dirty="0">
                <a:ea typeface="华文中宋" panose="02010600040101010101" pitchFamily="2" charset="-122"/>
              </a:rPr>
              <a:t>与亚共晶合金相似</a:t>
            </a:r>
            <a:r>
              <a:rPr lang="en-US" altLang="zh-CN" sz="2800" b="1" dirty="0">
                <a:ea typeface="华文中宋" panose="02010600040101010101" pitchFamily="2" charset="-122"/>
              </a:rPr>
              <a:t>, </a:t>
            </a:r>
            <a:r>
              <a:rPr lang="zh-CN" altLang="en-US" sz="2800" b="1" dirty="0">
                <a:ea typeface="华文中宋" panose="02010600040101010101" pitchFamily="2" charset="-122"/>
              </a:rPr>
              <a:t>不同的是一次相为 </a:t>
            </a:r>
            <a:r>
              <a:rPr lang="zh-CN" altLang="en-US" sz="2800" b="1" i="1" dirty="0">
                <a:ea typeface="华文中宋" panose="02010600040101010101" pitchFamily="2" charset="-122"/>
                <a:sym typeface="Symbol" panose="05050102010706020507" pitchFamily="18" charset="2"/>
              </a:rPr>
              <a:t></a:t>
            </a:r>
            <a:r>
              <a:rPr lang="zh-CN" altLang="en-US" sz="2800" b="1" dirty="0">
                <a:ea typeface="华文中宋" panose="02010600040101010101" pitchFamily="2" charset="-122"/>
                <a:sym typeface="Symbol" panose="05050102010706020507" pitchFamily="18" charset="2"/>
              </a:rPr>
              <a:t> </a:t>
            </a:r>
            <a:r>
              <a:rPr lang="en-US" altLang="zh-CN" sz="2800" b="1" dirty="0">
                <a:ea typeface="华文中宋" panose="02010600040101010101" pitchFamily="2" charset="-122"/>
                <a:sym typeface="Symbol" panose="05050102010706020507" pitchFamily="18" charset="2"/>
              </a:rPr>
              <a:t>, </a:t>
            </a:r>
            <a:r>
              <a:rPr lang="zh-CN" altLang="en-US" sz="2800" b="1" dirty="0">
                <a:ea typeface="华文中宋" panose="02010600040101010101" pitchFamily="2" charset="-122"/>
              </a:rPr>
              <a:t>二次相为</a:t>
            </a:r>
            <a:r>
              <a:rPr lang="zh-CN" altLang="en-US" sz="2800" b="1" i="1" dirty="0">
                <a:ea typeface="华文中宋" panose="02010600040101010101" pitchFamily="2" charset="-122"/>
                <a:sym typeface="Symbol" panose="05050102010706020507" pitchFamily="18" charset="2"/>
              </a:rPr>
              <a:t></a:t>
            </a:r>
            <a:r>
              <a:rPr lang="en-US" altLang="zh-CN" sz="2800" b="1" baseline="-25000" dirty="0">
                <a:ea typeface="华文中宋" panose="02010600040101010101" pitchFamily="2" charset="-122"/>
                <a:sym typeface="Symbol" panose="05050102010706020507" pitchFamily="18" charset="2"/>
              </a:rPr>
              <a:t>Ⅱ</a:t>
            </a:r>
            <a:endParaRPr lang="en-US" altLang="zh-CN" sz="2800" b="1" dirty="0">
              <a:ea typeface="华文中宋" panose="02010600040101010101" pitchFamily="2" charset="-122"/>
              <a:sym typeface="Symbol" panose="05050102010706020507" pitchFamily="18" charset="2"/>
            </a:endParaRPr>
          </a:p>
          <a:p>
            <a:pPr eaLnBrk="1" hangingPunct="1">
              <a:lnSpc>
                <a:spcPct val="140000"/>
              </a:lnSpc>
            </a:pPr>
            <a:r>
              <a:rPr lang="zh-CN" altLang="en-US" sz="2800" b="1" dirty="0">
                <a:solidFill>
                  <a:srgbClr val="0000FF"/>
                </a:solidFill>
                <a:ea typeface="华文中宋" panose="02010600040101010101" pitchFamily="2" charset="-122"/>
                <a:sym typeface="Symbol" panose="05050102010706020507" pitchFamily="18" charset="2"/>
              </a:rPr>
              <a:t>室温组织</a:t>
            </a:r>
            <a:r>
              <a:rPr lang="zh-CN" altLang="en-US" sz="2800" b="1" dirty="0">
                <a:ea typeface="华文中宋" panose="02010600040101010101" pitchFamily="2" charset="-122"/>
                <a:sym typeface="Symbol" panose="05050102010706020507" pitchFamily="18" charset="2"/>
              </a:rPr>
              <a:t>为</a:t>
            </a:r>
            <a:r>
              <a:rPr lang="zh-CN" altLang="en-US" sz="2800" b="1" i="1" dirty="0">
                <a:solidFill>
                  <a:srgbClr val="0000FF"/>
                </a:solidFill>
                <a:ea typeface="华文中宋" panose="02010600040101010101" pitchFamily="2" charset="-122"/>
                <a:sym typeface="Symbol" panose="05050102010706020507" pitchFamily="18" charset="2"/>
              </a:rPr>
              <a:t></a:t>
            </a:r>
            <a:r>
              <a:rPr lang="en-US" altLang="zh-CN" sz="2800" b="1" baseline="-25000" dirty="0">
                <a:solidFill>
                  <a:srgbClr val="0000FF"/>
                </a:solidFill>
                <a:ea typeface="华文中宋" panose="02010600040101010101" pitchFamily="2" charset="-122"/>
                <a:sym typeface="Symbol" panose="05050102010706020507" pitchFamily="18" charset="2"/>
              </a:rPr>
              <a:t>Ⅰ</a:t>
            </a:r>
            <a:r>
              <a:rPr lang="en-US" altLang="zh-CN" sz="2800" b="1" dirty="0">
                <a:solidFill>
                  <a:srgbClr val="0000FF"/>
                </a:solidFill>
                <a:ea typeface="华文中宋" panose="02010600040101010101" pitchFamily="2" charset="-122"/>
                <a:sym typeface="Symbol" panose="05050102010706020507" pitchFamily="18" charset="2"/>
              </a:rPr>
              <a:t>+(</a:t>
            </a:r>
            <a:r>
              <a:rPr lang="en-US" altLang="zh-CN" sz="2800" b="1" i="1" dirty="0">
                <a:solidFill>
                  <a:srgbClr val="0000FF"/>
                </a:solidFill>
                <a:ea typeface="华文中宋" panose="02010600040101010101" pitchFamily="2" charset="-122"/>
                <a:sym typeface="Symbol" panose="05050102010706020507" pitchFamily="18" charset="2"/>
              </a:rPr>
              <a:t></a:t>
            </a:r>
            <a:r>
              <a:rPr lang="en-US" altLang="zh-CN" sz="2800" b="1" dirty="0">
                <a:solidFill>
                  <a:srgbClr val="0000FF"/>
                </a:solidFill>
                <a:ea typeface="华文中宋" panose="02010600040101010101" pitchFamily="2" charset="-122"/>
                <a:sym typeface="Symbol" panose="05050102010706020507" pitchFamily="18" charset="2"/>
              </a:rPr>
              <a:t>+</a:t>
            </a:r>
            <a:r>
              <a:rPr lang="en-US" altLang="zh-CN" sz="2800" b="1" i="1" dirty="0">
                <a:solidFill>
                  <a:srgbClr val="0000FF"/>
                </a:solidFill>
                <a:ea typeface="华文中宋" panose="02010600040101010101" pitchFamily="2" charset="-122"/>
                <a:sym typeface="Symbol" panose="05050102010706020507" pitchFamily="18" charset="2"/>
              </a:rPr>
              <a:t> </a:t>
            </a:r>
            <a:r>
              <a:rPr lang="en-US" altLang="zh-CN" sz="2800" b="1" dirty="0">
                <a:solidFill>
                  <a:srgbClr val="0000FF"/>
                </a:solidFill>
                <a:ea typeface="华文中宋" panose="02010600040101010101" pitchFamily="2" charset="-122"/>
                <a:sym typeface="Symbol" panose="05050102010706020507" pitchFamily="18" charset="2"/>
              </a:rPr>
              <a:t>)+</a:t>
            </a:r>
            <a:r>
              <a:rPr lang="en-US" altLang="zh-CN" sz="2800" b="1" i="1" dirty="0">
                <a:solidFill>
                  <a:srgbClr val="0000FF"/>
                </a:solidFill>
                <a:ea typeface="华文中宋" panose="02010600040101010101" pitchFamily="2" charset="-122"/>
                <a:sym typeface="Symbol" panose="05050102010706020507" pitchFamily="18" charset="2"/>
              </a:rPr>
              <a:t></a:t>
            </a:r>
            <a:r>
              <a:rPr lang="en-US" altLang="zh-CN" sz="2800" b="1" baseline="-25000" dirty="0">
                <a:solidFill>
                  <a:srgbClr val="0000FF"/>
                </a:solidFill>
                <a:ea typeface="华文中宋" panose="02010600040101010101" pitchFamily="2" charset="-122"/>
                <a:sym typeface="Symbol" panose="05050102010706020507" pitchFamily="18" charset="2"/>
              </a:rPr>
              <a:t>Ⅱ</a:t>
            </a:r>
            <a:r>
              <a:rPr lang="en-US" altLang="zh-CN" sz="2800" b="1" dirty="0">
                <a:solidFill>
                  <a:schemeClr val="folHlink"/>
                </a:solidFill>
                <a:ea typeface="华文中宋" panose="02010600040101010101" pitchFamily="2" charset="-122"/>
                <a:sym typeface="Symbol" panose="05050102010706020507" pitchFamily="18" charset="2"/>
              </a:rPr>
              <a:t>.</a:t>
            </a:r>
          </a:p>
        </p:txBody>
      </p:sp>
      <p:grpSp>
        <p:nvGrpSpPr>
          <p:cNvPr id="2" name="Group 5"/>
          <p:cNvGrpSpPr/>
          <p:nvPr/>
        </p:nvGrpSpPr>
        <p:grpSpPr>
          <a:xfrm>
            <a:off x="1737732" y="1900521"/>
            <a:ext cx="7113588" cy="4627705"/>
            <a:chOff x="796" y="806"/>
            <a:chExt cx="4481" cy="3313"/>
          </a:xfrm>
        </p:grpSpPr>
        <p:pic>
          <p:nvPicPr>
            <p:cNvPr id="78856" name="Picture 6" descr="image041"/>
            <p:cNvPicPr>
              <a:picLocks noChangeAspect="1"/>
            </p:cNvPicPr>
            <p:nvPr/>
          </p:nvPicPr>
          <p:blipFill>
            <a:blip r:embed="rId3"/>
            <a:stretch>
              <a:fillRect/>
            </a:stretch>
          </p:blipFill>
          <p:spPr>
            <a:xfrm>
              <a:off x="3216" y="806"/>
              <a:ext cx="1899" cy="1424"/>
            </a:xfrm>
            <a:prstGeom prst="rect">
              <a:avLst/>
            </a:prstGeom>
            <a:noFill/>
            <a:ln w="38100" cap="flat" cmpd="sng">
              <a:solidFill>
                <a:schemeClr val="accent1"/>
              </a:solidFill>
              <a:prstDash val="solid"/>
              <a:miter/>
              <a:headEnd type="none" w="med" len="med"/>
              <a:tailEnd type="none" w="med" len="med"/>
            </a:ln>
          </p:spPr>
        </p:pic>
        <p:grpSp>
          <p:nvGrpSpPr>
            <p:cNvPr id="78857" name="Group 7"/>
            <p:cNvGrpSpPr/>
            <p:nvPr/>
          </p:nvGrpSpPr>
          <p:grpSpPr>
            <a:xfrm>
              <a:off x="796" y="2284"/>
              <a:ext cx="4481" cy="1835"/>
              <a:chOff x="778" y="2284"/>
              <a:chExt cx="4481" cy="1835"/>
            </a:xfrm>
          </p:grpSpPr>
          <p:pic>
            <p:nvPicPr>
              <p:cNvPr id="78858" name="Picture 8" descr="Pb-Sn"/>
              <p:cNvPicPr>
                <a:picLocks noChangeAspect="1"/>
              </p:cNvPicPr>
              <p:nvPr/>
            </p:nvPicPr>
            <p:blipFill>
              <a:blip r:embed="rId4"/>
              <a:stretch>
                <a:fillRect/>
              </a:stretch>
            </p:blipFill>
            <p:spPr>
              <a:xfrm>
                <a:off x="2779" y="2284"/>
                <a:ext cx="2480" cy="1835"/>
              </a:xfrm>
              <a:prstGeom prst="rect">
                <a:avLst/>
              </a:prstGeom>
              <a:noFill/>
              <a:ln w="38100">
                <a:noFill/>
              </a:ln>
            </p:spPr>
          </p:pic>
          <p:pic>
            <p:nvPicPr>
              <p:cNvPr id="78859" name="Picture 9" descr="Pb-Sn过共晶结晶"/>
              <p:cNvPicPr preferRelativeResize="0"/>
              <p:nvPr/>
            </p:nvPicPr>
            <p:blipFill>
              <a:blip r:embed="rId5"/>
              <a:stretch>
                <a:fillRect/>
              </a:stretch>
            </p:blipFill>
            <p:spPr>
              <a:xfrm>
                <a:off x="778" y="2336"/>
                <a:ext cx="1790" cy="1732"/>
              </a:xfrm>
              <a:prstGeom prst="rect">
                <a:avLst/>
              </a:prstGeom>
              <a:noFill/>
              <a:ln w="38100">
                <a:noFill/>
              </a:ln>
            </p:spPr>
          </p:pic>
          <p:sp>
            <p:nvSpPr>
              <p:cNvPr id="78861" name="Line 11"/>
              <p:cNvSpPr/>
              <p:nvPr/>
            </p:nvSpPr>
            <p:spPr>
              <a:xfrm>
                <a:off x="4786" y="2607"/>
                <a:ext cx="0" cy="1189"/>
              </a:xfrm>
              <a:prstGeom prst="line">
                <a:avLst/>
              </a:prstGeom>
              <a:ln w="38100" cap="flat" cmpd="sng">
                <a:solidFill>
                  <a:schemeClr val="hlink"/>
                </a:solidFill>
                <a:prstDash val="solid"/>
                <a:miter/>
                <a:headEnd type="none" w="med" len="med"/>
                <a:tailEnd type="none" w="med" len="med"/>
              </a:ln>
            </p:spPr>
          </p:sp>
        </p:grpSp>
      </p:grpSp>
      <p:pic>
        <p:nvPicPr>
          <p:cNvPr id="14" name="内容占位符 1" descr="新校徽（3M）弓之乐"/>
          <p:cNvPicPr>
            <a:picLocks noChangeAspect="1"/>
          </p:cNvPicPr>
          <p:nvPr/>
        </p:nvPicPr>
        <p:blipFill>
          <a:blip r:embed="rId6"/>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日期占位符 3"/>
          <p:cNvSpPr txBox="1">
            <a:spLocks noGrp="1"/>
          </p:cNvSpPr>
          <p:nvPr>
            <p:ph type="dt" sz="half" idx="10"/>
          </p:nvPr>
        </p:nvSpPr>
        <p:spPr>
          <a:xfrm>
            <a:off x="357505" y="6510655"/>
            <a:ext cx="2384425" cy="34734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79875" name="灯片编号占位符 5"/>
          <p:cNvSpPr txBox="1">
            <a:spLocks noGrp="1"/>
          </p:cNvSpPr>
          <p:nvPr>
            <p:ph type="sldNum" sz="quarter" idx="12"/>
          </p:nvPr>
        </p:nvSpPr>
        <p:spPr>
          <a:xfrm>
            <a:off x="8569960" y="6584950"/>
            <a:ext cx="595630" cy="273050"/>
          </a:xfrm>
        </p:spPr>
        <p:txBody>
          <a:bodyPr lIns="92075" tIns="46038" rIns="92075" bIns="46038" anchor="ctr"/>
          <a:lstStyle/>
          <a:p>
            <a:pPr algn="r" eaLnBrk="1" hangingPunct="1"/>
            <a:fld id="{9A0DB2DC-4C9A-4742-B13C-FB6460FD3503}" type="slidenum">
              <a:rPr lang="en-US" altLang="zh-CN" sz="1400" dirty="0"/>
              <a:t>81</a:t>
            </a:fld>
            <a:endParaRPr lang="en-US" altLang="zh-CN" sz="1400" dirty="0"/>
          </a:p>
        </p:txBody>
      </p:sp>
      <p:sp>
        <p:nvSpPr>
          <p:cNvPr id="289794" name="Rectangle 2"/>
          <p:cNvSpPr>
            <a:spLocks noGrp="1" noChangeArrowheads="1"/>
          </p:cNvSpPr>
          <p:nvPr>
            <p:ph type="title"/>
          </p:nvPr>
        </p:nvSpPr>
        <p:spPr>
          <a:xfrm>
            <a:off x="1078364" y="267370"/>
            <a:ext cx="7772400" cy="88265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⑶ </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组织组成物在相图上的标注</a:t>
            </a:r>
          </a:p>
        </p:txBody>
      </p:sp>
      <p:sp>
        <p:nvSpPr>
          <p:cNvPr id="79877" name="Rectangle 3"/>
          <p:cNvSpPr>
            <a:spLocks noGrp="1"/>
          </p:cNvSpPr>
          <p:nvPr>
            <p:ph idx="1"/>
          </p:nvPr>
        </p:nvSpPr>
        <p:spPr>
          <a:xfrm>
            <a:off x="468313" y="2132857"/>
            <a:ext cx="4319587" cy="4391768"/>
          </a:xfrm>
        </p:spPr>
        <p:txBody>
          <a:bodyPr vert="horz" wrap="square" lIns="91440" tIns="45720" rIns="91440" bIns="45720" anchor="t"/>
          <a:lstStyle/>
          <a:p>
            <a:pPr eaLnBrk="1" hangingPunct="1"/>
            <a:r>
              <a:rPr lang="zh-CN" altLang="en-US" b="1" dirty="0">
                <a:solidFill>
                  <a:schemeClr val="folHlink"/>
                </a:solidFill>
                <a:ea typeface="华文中宋" panose="02010600040101010101" pitchFamily="2" charset="-122"/>
              </a:rPr>
              <a:t>组织组成物：</a:t>
            </a:r>
            <a:r>
              <a:rPr lang="zh-CN" altLang="en-US" sz="2800" b="1" dirty="0">
                <a:ea typeface="华文中宋" panose="02010600040101010101" pitchFamily="2" charset="-122"/>
              </a:rPr>
              <a:t>组成合金</a:t>
            </a:r>
            <a:r>
              <a:rPr lang="zh-CN" altLang="en-US" sz="2800" b="1" kern="1200" dirty="0">
                <a:solidFill>
                  <a:srgbClr val="0000FF"/>
                </a:solidFill>
                <a:ea typeface="华文中宋" panose="02010600040101010101" pitchFamily="2" charset="-122"/>
              </a:rPr>
              <a:t>显微组织</a:t>
            </a:r>
            <a:r>
              <a:rPr lang="zh-CN" altLang="en-US" sz="2800" b="1" dirty="0">
                <a:ea typeface="华文中宋" panose="02010600040101010101" pitchFamily="2" charset="-122"/>
              </a:rPr>
              <a:t>的</a:t>
            </a:r>
            <a:r>
              <a:rPr lang="zh-CN" altLang="en-US" sz="2800" b="1" kern="1200" dirty="0">
                <a:solidFill>
                  <a:srgbClr val="0000FF"/>
                </a:solidFill>
                <a:ea typeface="华文中宋" panose="02010600040101010101" pitchFamily="2" charset="-122"/>
              </a:rPr>
              <a:t>独立部分</a:t>
            </a:r>
            <a:r>
              <a:rPr lang="zh-CN" altLang="en-US" sz="2800" b="1" dirty="0">
                <a:ea typeface="华文中宋" panose="02010600040101010101" pitchFamily="2" charset="-122"/>
              </a:rPr>
              <a:t>。</a:t>
            </a:r>
          </a:p>
          <a:p>
            <a:pPr eaLnBrk="1" hangingPunct="1"/>
            <a:endParaRPr lang="zh-CN" altLang="en-US" sz="2800" b="1" i="1" dirty="0">
              <a:sym typeface="Symbol" panose="05050102010706020507" pitchFamily="18" charset="2"/>
            </a:endParaRPr>
          </a:p>
          <a:p>
            <a:pPr eaLnBrk="1" hangingPunct="1"/>
            <a:r>
              <a:rPr lang="zh-CN" altLang="en-US" sz="2800" b="1" i="1" dirty="0">
                <a:sym typeface="Symbol" panose="05050102010706020507" pitchFamily="18" charset="2"/>
              </a:rPr>
              <a:t></a:t>
            </a:r>
            <a:r>
              <a:rPr lang="en-US" altLang="zh-CN" sz="2800" b="1" baseline="-25000" dirty="0">
                <a:sym typeface="Symbol" panose="05050102010706020507" pitchFamily="18" charset="2"/>
              </a:rPr>
              <a:t>Ⅰ</a:t>
            </a:r>
            <a:r>
              <a:rPr lang="zh-CN" altLang="en-US" sz="2800" b="1" dirty="0">
                <a:sym typeface="Symbol" panose="05050102010706020507" pitchFamily="18" charset="2"/>
              </a:rPr>
              <a:t>和 </a:t>
            </a:r>
            <a:r>
              <a:rPr lang="zh-CN" altLang="en-US" sz="2800" b="1" i="1" dirty="0">
                <a:sym typeface="Symbol" panose="05050102010706020507" pitchFamily="18" charset="2"/>
              </a:rPr>
              <a:t></a:t>
            </a:r>
            <a:r>
              <a:rPr lang="en-US" altLang="zh-CN" sz="2800" b="1" baseline="-25000" dirty="0">
                <a:sym typeface="Symbol" panose="05050102010706020507" pitchFamily="18" charset="2"/>
              </a:rPr>
              <a:t>Ⅰ</a:t>
            </a:r>
            <a:r>
              <a:rPr lang="zh-CN" altLang="en-US" sz="2800" b="1" dirty="0">
                <a:sym typeface="Symbol" panose="05050102010706020507" pitchFamily="18" charset="2"/>
              </a:rPr>
              <a:t>，</a:t>
            </a:r>
            <a:r>
              <a:rPr lang="zh-CN" altLang="en-US" sz="2800" b="1" i="1" dirty="0">
                <a:sym typeface="Symbol" panose="05050102010706020507" pitchFamily="18" charset="2"/>
              </a:rPr>
              <a:t></a:t>
            </a:r>
            <a:r>
              <a:rPr lang="en-US" altLang="zh-CN" sz="2800" b="1" baseline="-25000" dirty="0">
                <a:sym typeface="Symbol" panose="05050102010706020507" pitchFamily="18" charset="2"/>
              </a:rPr>
              <a:t>Ⅱ</a:t>
            </a:r>
            <a:r>
              <a:rPr lang="zh-CN" altLang="en-US" sz="2800" b="1" dirty="0">
                <a:sym typeface="Symbol" panose="05050102010706020507" pitchFamily="18" charset="2"/>
              </a:rPr>
              <a:t>和</a:t>
            </a:r>
            <a:r>
              <a:rPr lang="zh-CN" altLang="en-US" sz="2800" b="1" i="1" dirty="0">
                <a:sym typeface="Symbol" panose="05050102010706020507" pitchFamily="18" charset="2"/>
              </a:rPr>
              <a:t></a:t>
            </a:r>
            <a:r>
              <a:rPr lang="en-US" altLang="zh-CN" sz="2800" b="1" baseline="-25000" dirty="0">
                <a:sym typeface="Symbol" panose="05050102010706020507" pitchFamily="18" charset="2"/>
              </a:rPr>
              <a:t>Ⅱ</a:t>
            </a:r>
            <a:r>
              <a:rPr lang="zh-CN" altLang="en-US" sz="2800" b="1" dirty="0">
                <a:sym typeface="Symbol" panose="05050102010706020507" pitchFamily="18" charset="2"/>
              </a:rPr>
              <a:t>，共晶体</a:t>
            </a:r>
            <a:r>
              <a:rPr lang="en-US" altLang="zh-CN" sz="2800" b="1" dirty="0">
                <a:sym typeface="Symbol" panose="05050102010706020507" pitchFamily="18" charset="2"/>
              </a:rPr>
              <a:t>(</a:t>
            </a:r>
            <a:r>
              <a:rPr lang="en-US" altLang="zh-CN" sz="2800" b="1" i="1" dirty="0">
                <a:sym typeface="Symbol" panose="05050102010706020507" pitchFamily="18" charset="2"/>
              </a:rPr>
              <a:t> </a:t>
            </a:r>
            <a:r>
              <a:rPr lang="en-US" altLang="zh-CN" sz="2800" b="1" dirty="0">
                <a:sym typeface="Symbol" panose="05050102010706020507" pitchFamily="18" charset="2"/>
              </a:rPr>
              <a:t>+</a:t>
            </a:r>
            <a:r>
              <a:rPr lang="en-US" altLang="zh-CN" sz="2800" b="1" i="1" dirty="0">
                <a:sym typeface="Symbol" panose="05050102010706020507" pitchFamily="18" charset="2"/>
              </a:rPr>
              <a:t> </a:t>
            </a:r>
            <a:r>
              <a:rPr lang="en-US" altLang="zh-CN" sz="2800" b="1" dirty="0">
                <a:sym typeface="Symbol" panose="05050102010706020507" pitchFamily="18" charset="2"/>
              </a:rPr>
              <a:t>) </a:t>
            </a:r>
            <a:r>
              <a:rPr lang="zh-CN" altLang="en-US" sz="2800" b="1" dirty="0">
                <a:sym typeface="Symbol" panose="05050102010706020507" pitchFamily="18" charset="2"/>
              </a:rPr>
              <a:t>都是组织组成物。</a:t>
            </a:r>
            <a:endParaRPr lang="zh-CN" altLang="en-US" sz="2800" b="1" dirty="0"/>
          </a:p>
          <a:p>
            <a:pPr eaLnBrk="1" hangingPunct="1"/>
            <a:endParaRPr lang="zh-CN" altLang="en-US" sz="2800" b="1" kern="1200" dirty="0">
              <a:solidFill>
                <a:srgbClr val="0000FF"/>
              </a:solidFill>
              <a:ea typeface="华文中宋" panose="02010600040101010101" pitchFamily="2" charset="-122"/>
              <a:sym typeface="Symbol" panose="05050102010706020507" pitchFamily="18" charset="2"/>
            </a:endParaRPr>
          </a:p>
          <a:p>
            <a:pPr eaLnBrk="1" hangingPunct="1"/>
            <a:r>
              <a:rPr lang="zh-CN" altLang="en-US" sz="2800" b="1" kern="1200" dirty="0">
                <a:solidFill>
                  <a:srgbClr val="0000FF"/>
                </a:solidFill>
                <a:ea typeface="华文中宋" panose="02010600040101010101" pitchFamily="2" charset="-122"/>
                <a:sym typeface="Symbol" panose="05050102010706020507" pitchFamily="18" charset="2"/>
              </a:rPr>
              <a:t>相</a:t>
            </a:r>
            <a:r>
              <a:rPr lang="zh-CN" altLang="en-US" sz="2800" b="1" dirty="0">
                <a:solidFill>
                  <a:schemeClr val="folHlink"/>
                </a:solidFill>
                <a:sym typeface="Symbol" panose="05050102010706020507" pitchFamily="18" charset="2"/>
              </a:rPr>
              <a:t>与</a:t>
            </a:r>
            <a:r>
              <a:rPr lang="zh-CN" altLang="en-US" sz="2800" b="1" kern="1200" dirty="0">
                <a:solidFill>
                  <a:srgbClr val="0000FF"/>
                </a:solidFill>
                <a:ea typeface="华文中宋" panose="02010600040101010101" pitchFamily="2" charset="-122"/>
                <a:sym typeface="Symbol" panose="05050102010706020507" pitchFamily="18" charset="2"/>
              </a:rPr>
              <a:t>相</a:t>
            </a:r>
            <a:r>
              <a:rPr lang="zh-CN" altLang="en-US" sz="2800" b="1" dirty="0">
                <a:solidFill>
                  <a:schemeClr val="folHlink"/>
                </a:solidFill>
                <a:sym typeface="Symbol" panose="05050102010706020507" pitchFamily="18" charset="2"/>
              </a:rPr>
              <a:t>之间的差别主要</a:t>
            </a:r>
            <a:r>
              <a:rPr lang="zh-CN" altLang="en-US" sz="2800" b="1" dirty="0">
                <a:sym typeface="Symbol" panose="05050102010706020507" pitchFamily="18" charset="2"/>
              </a:rPr>
              <a:t>在</a:t>
            </a:r>
            <a:r>
              <a:rPr lang="zh-CN" altLang="en-US" sz="2800" b="1" kern="1200" dirty="0">
                <a:solidFill>
                  <a:srgbClr val="0000FF"/>
                </a:solidFill>
                <a:ea typeface="华文中宋" panose="02010600040101010101" pitchFamily="2" charset="-122"/>
                <a:sym typeface="Symbol" panose="05050102010706020507" pitchFamily="18" charset="2"/>
              </a:rPr>
              <a:t>结构</a:t>
            </a:r>
            <a:r>
              <a:rPr lang="zh-CN" altLang="en-US" sz="2800" dirty="0">
                <a:sym typeface="Symbol" panose="05050102010706020507" pitchFamily="18" charset="2"/>
              </a:rPr>
              <a:t>和</a:t>
            </a:r>
            <a:r>
              <a:rPr lang="zh-CN" altLang="en-US" sz="2800" b="1" kern="1200" dirty="0">
                <a:solidFill>
                  <a:srgbClr val="0000FF"/>
                </a:solidFill>
                <a:ea typeface="华文中宋" panose="02010600040101010101" pitchFamily="2" charset="-122"/>
                <a:sym typeface="Symbol" panose="05050102010706020507" pitchFamily="18" charset="2"/>
              </a:rPr>
              <a:t>成分</a:t>
            </a:r>
            <a:r>
              <a:rPr lang="zh-CN" altLang="en-US" sz="2800" b="1" dirty="0">
                <a:sym typeface="Symbol" panose="05050102010706020507" pitchFamily="18" charset="2"/>
              </a:rPr>
              <a:t>上。</a:t>
            </a:r>
            <a:endParaRPr lang="en-US" altLang="zh-CN" sz="2800" b="1" dirty="0">
              <a:sym typeface="Symbol" panose="05050102010706020507" pitchFamily="18" charset="2"/>
            </a:endParaRPr>
          </a:p>
        </p:txBody>
      </p:sp>
      <p:pic>
        <p:nvPicPr>
          <p:cNvPr id="79878" name="Picture 4" descr="〈工程材料〉图3-20"/>
          <p:cNvPicPr>
            <a:picLocks noChangeAspect="1"/>
          </p:cNvPicPr>
          <p:nvPr/>
        </p:nvPicPr>
        <p:blipFill>
          <a:blip r:embed="rId2"/>
          <a:stretch>
            <a:fillRect/>
          </a:stretch>
        </p:blipFill>
        <p:spPr>
          <a:xfrm>
            <a:off x="4787900" y="2003425"/>
            <a:ext cx="4122737" cy="4581525"/>
          </a:xfrm>
          <a:prstGeom prst="rect">
            <a:avLst/>
          </a:prstGeom>
          <a:noFill/>
          <a:ln w="9525">
            <a:noFill/>
          </a:ln>
        </p:spPr>
      </p:pic>
      <p:pic>
        <p:nvPicPr>
          <p:cNvPr id="8" name="内容占位符 1" descr="新校徽（3M）弓之乐"/>
          <p:cNvPicPr>
            <a:picLocks noChangeAspect="1"/>
          </p:cNvPicPr>
          <p:nvPr/>
        </p:nvPicPr>
        <p:blipFill>
          <a:blip r:embed="rId3"/>
          <a:stretch>
            <a:fillRect/>
          </a:stretch>
        </p:blipFill>
        <p:spPr>
          <a:xfrm>
            <a:off x="0" y="0"/>
            <a:ext cx="746760" cy="735965"/>
          </a:xfrm>
          <a:prstGeom prst="rect">
            <a:avLst/>
          </a:prstGeom>
          <a:noFill/>
          <a:ln w="9525">
            <a:noFill/>
          </a:ln>
        </p:spPr>
      </p:pic>
      <p:sp>
        <p:nvSpPr>
          <p:cNvPr id="3" name="圆角矩形 6" descr="7b0a202020202262756c6c6574223a20227b5c2263617465676f727949645c223a31303032352c5c2274656d706c61746549645c223a32303233313437347d220a7d0a"/>
          <p:cNvSpPr/>
          <p:nvPr/>
        </p:nvSpPr>
        <p:spPr>
          <a:xfrm>
            <a:off x="899795" y="2204720"/>
            <a:ext cx="2030095" cy="480060"/>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28575" cmpd="dbl">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800" b="1" dirty="0">
                <a:solidFill>
                  <a:srgbClr val="0000FF"/>
                </a:solidFill>
                <a:ea typeface="华文中宋" panose="02010600040101010101" pitchFamily="2" charset="-122"/>
                <a:sym typeface="+mn-ea"/>
              </a:rPr>
              <a:t>组织组成物</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日期占位符 3"/>
          <p:cNvSpPr txBox="1">
            <a:spLocks noGrp="1"/>
          </p:cNvSpPr>
          <p:nvPr>
            <p:ph type="dt" sz="half" idx="10"/>
          </p:nvPr>
        </p:nvSpPr>
        <p:spPr>
          <a:xfrm>
            <a:off x="0" y="6510338"/>
            <a:ext cx="2305050"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80899" name="灯片编号占位符 5"/>
          <p:cNvSpPr txBox="1">
            <a:spLocks noGrp="1"/>
          </p:cNvSpPr>
          <p:nvPr>
            <p:ph type="sldNum" sz="quarter" idx="12"/>
          </p:nvPr>
        </p:nvSpPr>
        <p:spPr>
          <a:xfrm>
            <a:off x="8641715" y="6604000"/>
            <a:ext cx="476885" cy="254000"/>
          </a:xfrm>
        </p:spPr>
        <p:txBody>
          <a:bodyPr lIns="92075" tIns="46038" rIns="92075" bIns="46038" anchor="ctr"/>
          <a:lstStyle/>
          <a:p>
            <a:pPr algn="r" eaLnBrk="1" hangingPunct="1"/>
            <a:fld id="{9A0DB2DC-4C9A-4742-B13C-FB6460FD3503}" type="slidenum">
              <a:rPr lang="en-US" altLang="zh-CN" sz="1400" dirty="0"/>
              <a:t>82</a:t>
            </a:fld>
            <a:endParaRPr lang="en-US" altLang="zh-CN" sz="1400" dirty="0"/>
          </a:p>
        </p:txBody>
      </p:sp>
      <p:sp>
        <p:nvSpPr>
          <p:cNvPr id="290818" name="Rectangle 2"/>
          <p:cNvSpPr>
            <a:spLocks noGrp="1" noChangeArrowheads="1"/>
          </p:cNvSpPr>
          <p:nvPr>
            <p:ph type="title"/>
          </p:nvPr>
        </p:nvSpPr>
        <p:spPr>
          <a:xfrm>
            <a:off x="1107757" y="248213"/>
            <a:ext cx="7772400"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⑶ </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组织组成物在相图上的标注</a:t>
            </a:r>
            <a:endParaRPr kumimoji="1" lang="zh-CN" altLang="zh-CN"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80901" name="Rectangle 3"/>
          <p:cNvSpPr>
            <a:spLocks noGrp="1"/>
          </p:cNvSpPr>
          <p:nvPr>
            <p:ph idx="1"/>
          </p:nvPr>
        </p:nvSpPr>
        <p:spPr>
          <a:xfrm>
            <a:off x="425932" y="1836107"/>
            <a:ext cx="8642350" cy="4322862"/>
          </a:xfrm>
        </p:spPr>
        <p:txBody>
          <a:bodyPr vert="horz" wrap="square" lIns="91440" tIns="45720" rIns="91440" bIns="45720" anchor="t"/>
          <a:lstStyle/>
          <a:p>
            <a:pPr eaLnBrk="1" hangingPunct="1">
              <a:lnSpc>
                <a:spcPct val="140000"/>
              </a:lnSpc>
            </a:pPr>
            <a:r>
              <a:rPr lang="zh-CN" altLang="en-US" sz="2800" b="1" dirty="0">
                <a:solidFill>
                  <a:srgbClr val="0000FF"/>
                </a:solidFill>
                <a:ea typeface="华文中宋" panose="02010600040101010101" pitchFamily="2" charset="-122"/>
                <a:sym typeface="Symbol" panose="05050102010706020507" pitchFamily="18" charset="2"/>
              </a:rPr>
              <a:t>组织组成物</a:t>
            </a:r>
            <a:r>
              <a:rPr lang="zh-CN" altLang="en-US" sz="2800" b="1" dirty="0">
                <a:ea typeface="华文中宋" panose="02010600040101010101" pitchFamily="2" charset="-122"/>
                <a:sym typeface="Symbol" panose="05050102010706020507" pitchFamily="18" charset="2"/>
              </a:rPr>
              <a:t>之间的</a:t>
            </a:r>
            <a:r>
              <a:rPr lang="zh-CN" altLang="en-US" sz="2800" b="1" dirty="0">
                <a:solidFill>
                  <a:srgbClr val="0000FF"/>
                </a:solidFill>
                <a:ea typeface="华文中宋" panose="02010600040101010101" pitchFamily="2" charset="-122"/>
                <a:sym typeface="Symbol" panose="05050102010706020507" pitchFamily="18" charset="2"/>
              </a:rPr>
              <a:t>差别</a:t>
            </a:r>
            <a:r>
              <a:rPr lang="zh-CN" altLang="en-US" sz="2800" b="1" dirty="0">
                <a:ea typeface="华文中宋" panose="02010600040101010101" pitchFamily="2" charset="-122"/>
                <a:sym typeface="Symbol" panose="05050102010706020507" pitchFamily="18" charset="2"/>
              </a:rPr>
              <a:t>主要在</a:t>
            </a:r>
            <a:r>
              <a:rPr lang="zh-CN" altLang="en-US" sz="2800" b="1" dirty="0">
                <a:solidFill>
                  <a:srgbClr val="0000FF"/>
                </a:solidFill>
                <a:ea typeface="华文中宋" panose="02010600040101010101" pitchFamily="2" charset="-122"/>
                <a:sym typeface="Symbol" panose="05050102010706020507" pitchFamily="18" charset="2"/>
              </a:rPr>
              <a:t>形态</a:t>
            </a:r>
            <a:r>
              <a:rPr lang="zh-CN" altLang="en-US" sz="2800" b="1" dirty="0">
                <a:ea typeface="华文中宋" panose="02010600040101010101" pitchFamily="2" charset="-122"/>
                <a:sym typeface="Symbol" panose="05050102010706020507" pitchFamily="18" charset="2"/>
              </a:rPr>
              <a:t>上。如</a:t>
            </a:r>
            <a:r>
              <a:rPr lang="zh-CN" altLang="en-US" sz="2800" b="1" i="1" dirty="0">
                <a:solidFill>
                  <a:srgbClr val="0000FF"/>
                </a:solidFill>
                <a:ea typeface="华文中宋" panose="02010600040101010101" pitchFamily="2" charset="-122"/>
                <a:sym typeface="Symbol" panose="05050102010706020507" pitchFamily="18" charset="2"/>
              </a:rPr>
              <a:t></a:t>
            </a:r>
            <a:r>
              <a:rPr lang="en-US" altLang="zh-CN" sz="2800" b="1" baseline="-25000" dirty="0">
                <a:solidFill>
                  <a:srgbClr val="0000FF"/>
                </a:solidFill>
                <a:ea typeface="华文中宋" panose="02010600040101010101" pitchFamily="2" charset="-122"/>
                <a:sym typeface="Symbol" panose="05050102010706020507" pitchFamily="18" charset="2"/>
              </a:rPr>
              <a:t>Ⅰ</a:t>
            </a:r>
            <a:r>
              <a:rPr lang="en-US" altLang="zh-CN" sz="2800" b="1" dirty="0">
                <a:solidFill>
                  <a:srgbClr val="0000FF"/>
                </a:solidFill>
                <a:ea typeface="华文中宋" panose="02010600040101010101" pitchFamily="2" charset="-122"/>
                <a:sym typeface="Symbol" panose="05050102010706020507" pitchFamily="18" charset="2"/>
              </a:rPr>
              <a:t> </a:t>
            </a:r>
            <a:r>
              <a:rPr lang="zh-CN" altLang="en-US" sz="2800" b="1" dirty="0">
                <a:solidFill>
                  <a:srgbClr val="0000FF"/>
                </a:solidFill>
                <a:ea typeface="华文中宋" panose="02010600040101010101" pitchFamily="2" charset="-122"/>
                <a:sym typeface="Symbol" panose="05050102010706020507" pitchFamily="18" charset="2"/>
              </a:rPr>
              <a:t>、 </a:t>
            </a:r>
            <a:r>
              <a:rPr lang="zh-CN" altLang="en-US" sz="2800" b="1" i="1" dirty="0">
                <a:solidFill>
                  <a:srgbClr val="0000FF"/>
                </a:solidFill>
                <a:ea typeface="华文中宋" panose="02010600040101010101" pitchFamily="2" charset="-122"/>
                <a:sym typeface="Symbol" panose="05050102010706020507" pitchFamily="18" charset="2"/>
              </a:rPr>
              <a:t></a:t>
            </a:r>
            <a:r>
              <a:rPr lang="en-US" altLang="zh-CN" sz="2800" b="1" baseline="-25000" dirty="0">
                <a:solidFill>
                  <a:srgbClr val="0000FF"/>
                </a:solidFill>
                <a:ea typeface="华文中宋" panose="02010600040101010101" pitchFamily="2" charset="-122"/>
                <a:sym typeface="Symbol" panose="05050102010706020507" pitchFamily="18" charset="2"/>
              </a:rPr>
              <a:t>Ⅱ</a:t>
            </a:r>
            <a:r>
              <a:rPr lang="zh-CN" altLang="en-US" sz="2800" b="1" dirty="0">
                <a:ea typeface="华文中宋" panose="02010600040101010101" pitchFamily="2" charset="-122"/>
                <a:sym typeface="Symbol" panose="05050102010706020507" pitchFamily="18" charset="2"/>
              </a:rPr>
              <a:t>和共晶 </a:t>
            </a:r>
            <a:r>
              <a:rPr lang="zh-CN" altLang="en-US" sz="2800" b="1" i="1" dirty="0">
                <a:ea typeface="华文中宋" panose="02010600040101010101" pitchFamily="2" charset="-122"/>
                <a:sym typeface="Symbol" panose="05050102010706020507" pitchFamily="18" charset="2"/>
              </a:rPr>
              <a:t></a:t>
            </a:r>
            <a:r>
              <a:rPr lang="zh-CN" altLang="en-US" sz="2800" b="1" dirty="0">
                <a:ea typeface="华文中宋" panose="02010600040101010101" pitchFamily="2" charset="-122"/>
                <a:sym typeface="Symbol" panose="05050102010706020507" pitchFamily="18" charset="2"/>
              </a:rPr>
              <a:t> 的结构成分相同，属同一个相，但它们的形态不同，分属不同的组织组成物。</a:t>
            </a:r>
            <a:endParaRPr lang="zh-CN" altLang="en-US" sz="2800" dirty="0">
              <a:ea typeface="华文中宋" panose="02010600040101010101" pitchFamily="2" charset="-122"/>
            </a:endParaRPr>
          </a:p>
        </p:txBody>
      </p:sp>
      <p:grpSp>
        <p:nvGrpSpPr>
          <p:cNvPr id="2" name="Group 5"/>
          <p:cNvGrpSpPr/>
          <p:nvPr/>
        </p:nvGrpSpPr>
        <p:grpSpPr>
          <a:xfrm>
            <a:off x="746760" y="4151047"/>
            <a:ext cx="7737475" cy="2230437"/>
            <a:chOff x="480" y="2208"/>
            <a:chExt cx="4874" cy="1813"/>
          </a:xfrm>
        </p:grpSpPr>
        <p:grpSp>
          <p:nvGrpSpPr>
            <p:cNvPr id="80904" name="Group 6"/>
            <p:cNvGrpSpPr/>
            <p:nvPr/>
          </p:nvGrpSpPr>
          <p:grpSpPr>
            <a:xfrm>
              <a:off x="480" y="2208"/>
              <a:ext cx="1469" cy="1813"/>
              <a:chOff x="480" y="2208"/>
              <a:chExt cx="1469" cy="1813"/>
            </a:xfrm>
          </p:grpSpPr>
          <p:pic>
            <p:nvPicPr>
              <p:cNvPr id="80906" name="Picture 7" descr="pb-sn40[1]"/>
              <p:cNvPicPr>
                <a:picLocks noChangeAspect="1"/>
              </p:cNvPicPr>
              <p:nvPr/>
            </p:nvPicPr>
            <p:blipFill>
              <a:blip r:embed="rId2"/>
              <a:stretch>
                <a:fillRect/>
              </a:stretch>
            </p:blipFill>
            <p:spPr>
              <a:xfrm>
                <a:off x="480" y="2208"/>
                <a:ext cx="1469" cy="1813"/>
              </a:xfrm>
              <a:prstGeom prst="rect">
                <a:avLst/>
              </a:prstGeom>
              <a:noFill/>
              <a:ln w="38100" cap="flat" cmpd="sng">
                <a:solidFill>
                  <a:srgbClr val="00FF00"/>
                </a:solidFill>
                <a:prstDash val="solid"/>
                <a:miter/>
                <a:headEnd type="none" w="med" len="med"/>
                <a:tailEnd type="none" w="med" len="med"/>
              </a:ln>
            </p:spPr>
          </p:pic>
          <p:sp>
            <p:nvSpPr>
              <p:cNvPr id="80907" name="Rectangle 8"/>
              <p:cNvSpPr/>
              <p:nvPr/>
            </p:nvSpPr>
            <p:spPr>
              <a:xfrm>
                <a:off x="480" y="3870"/>
                <a:ext cx="1008" cy="14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lvl="0" algn="ctr" eaLnBrk="1" hangingPunct="1">
                  <a:spcBef>
                    <a:spcPct val="50000"/>
                  </a:spcBef>
                </a:pPr>
                <a:r>
                  <a:rPr lang="en-US" altLang="zh-CN" sz="1600" b="1" dirty="0">
                    <a:solidFill>
                      <a:srgbClr val="800000"/>
                    </a:solidFill>
                    <a:latin typeface="Times New Roman" panose="02020603050405020304" pitchFamily="18" charset="0"/>
                    <a:ea typeface="宋体" panose="02010600030101010101" pitchFamily="2" charset="-122"/>
                  </a:rPr>
                  <a:t>Pb-Sn</a:t>
                </a:r>
                <a:r>
                  <a:rPr lang="zh-CN" altLang="en-US" sz="1600" b="1" dirty="0">
                    <a:solidFill>
                      <a:srgbClr val="800000"/>
                    </a:solidFill>
                    <a:latin typeface="Times New Roman" panose="02020603050405020304" pitchFamily="18" charset="0"/>
                    <a:ea typeface="宋体" panose="02010600030101010101" pitchFamily="2" charset="-122"/>
                  </a:rPr>
                  <a:t>亚共晶组织</a:t>
                </a:r>
                <a:endParaRPr lang="zh-CN" altLang="en-US" sz="1600" dirty="0">
                  <a:solidFill>
                    <a:srgbClr val="800000"/>
                  </a:solidFill>
                  <a:latin typeface="Times New Roman" panose="02020603050405020304" pitchFamily="18" charset="0"/>
                  <a:ea typeface="宋体" panose="02010600030101010101" pitchFamily="2" charset="-122"/>
                </a:endParaRPr>
              </a:p>
            </p:txBody>
          </p:sp>
        </p:grpSp>
        <p:pic>
          <p:nvPicPr>
            <p:cNvPr id="80905" name="Picture 9" descr="Pb-Sn组织组成物标注1"/>
            <p:cNvPicPr>
              <a:picLocks noChangeAspect="1"/>
            </p:cNvPicPr>
            <p:nvPr/>
          </p:nvPicPr>
          <p:blipFill>
            <a:blip r:embed="rId3"/>
            <a:stretch>
              <a:fillRect/>
            </a:stretch>
          </p:blipFill>
          <p:spPr>
            <a:xfrm>
              <a:off x="2160" y="2208"/>
              <a:ext cx="3194" cy="1812"/>
            </a:xfrm>
            <a:prstGeom prst="rect">
              <a:avLst/>
            </a:prstGeom>
            <a:noFill/>
            <a:ln w="38100" cap="flat" cmpd="sng">
              <a:solidFill>
                <a:srgbClr val="FF00FF"/>
              </a:solidFill>
              <a:prstDash val="solid"/>
              <a:miter/>
              <a:headEnd type="none" w="med" len="med"/>
              <a:tailEnd type="none" w="med" len="med"/>
            </a:ln>
          </p:spPr>
        </p:pic>
      </p:grpSp>
      <p:pic>
        <p:nvPicPr>
          <p:cNvPr id="12" name="内容占位符 1" descr="新校徽（3M）弓之乐"/>
          <p:cNvPicPr>
            <a:picLocks noChangeAspect="1"/>
          </p:cNvPicPr>
          <p:nvPr/>
        </p:nvPicPr>
        <p:blipFill>
          <a:blip r:embed="rId4"/>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日期占位符 3"/>
          <p:cNvSpPr txBox="1">
            <a:spLocks noGrp="1"/>
          </p:cNvSpPr>
          <p:nvPr>
            <p:ph type="dt" sz="half" idx="10"/>
          </p:nvPr>
        </p:nvSpPr>
        <p:spPr>
          <a:xfrm>
            <a:off x="0" y="6510338"/>
            <a:ext cx="2305050"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80899" name="灯片编号占位符 5"/>
          <p:cNvSpPr txBox="1">
            <a:spLocks noGrp="1"/>
          </p:cNvSpPr>
          <p:nvPr>
            <p:ph type="sldNum" sz="quarter" idx="12"/>
          </p:nvPr>
        </p:nvSpPr>
        <p:spPr>
          <a:xfrm>
            <a:off x="8641715" y="6604000"/>
            <a:ext cx="476885" cy="254000"/>
          </a:xfrm>
        </p:spPr>
        <p:txBody>
          <a:bodyPr lIns="92075" tIns="46038" rIns="92075" bIns="46038" anchor="ctr"/>
          <a:lstStyle/>
          <a:p>
            <a:pPr algn="r" eaLnBrk="1" hangingPunct="1"/>
            <a:fld id="{9A0DB2DC-4C9A-4742-B13C-FB6460FD3503}" type="slidenum">
              <a:rPr lang="en-US" altLang="zh-CN" sz="1400" dirty="0"/>
              <a:t>83</a:t>
            </a:fld>
            <a:endParaRPr lang="en-US" altLang="zh-CN" sz="1400" dirty="0"/>
          </a:p>
        </p:txBody>
      </p:sp>
      <p:sp>
        <p:nvSpPr>
          <p:cNvPr id="290818" name="Rectangle 2"/>
          <p:cNvSpPr>
            <a:spLocks noGrp="1" noChangeArrowheads="1"/>
          </p:cNvSpPr>
          <p:nvPr>
            <p:ph type="title"/>
          </p:nvPr>
        </p:nvSpPr>
        <p:spPr>
          <a:xfrm>
            <a:off x="971550" y="0"/>
            <a:ext cx="7772400" cy="1143000"/>
          </a:xfrm>
        </p:spPr>
        <p:txBody>
          <a:bodyPr vert="horz" wrap="square" lIns="92075" tIns="46038" rIns="92075" bIns="46038" numCol="1" anchor="ctr" anchorCtr="0" compatLnSpc="1"/>
          <a:lstStyle/>
          <a:p>
            <a:pPr eaLnBrk="1" hangingPunct="1">
              <a:defRPr/>
            </a:pPr>
            <a:r>
              <a:rPr lang="zh-CN" altLang="en-US" b="1" dirty="0">
                <a:solidFill>
                  <a:srgbClr val="FF0000"/>
                </a:solidFill>
                <a:ea typeface="华文中宋" panose="02010600040101010101" pitchFamily="2" charset="-122"/>
              </a:rPr>
              <a:t>组织组成物在相图上的标注</a:t>
            </a:r>
            <a:endParaRPr lang="zh-CN" altLang="zh-CN" b="1" dirty="0">
              <a:solidFill>
                <a:srgbClr val="FF0000"/>
              </a:solidFill>
              <a:ea typeface="华文中宋" panose="02010600040101010101" pitchFamily="2" charset="-122"/>
            </a:endParaRPr>
          </a:p>
        </p:txBody>
      </p:sp>
      <p:pic>
        <p:nvPicPr>
          <p:cNvPr id="12" name="内容占位符 1" descr="新校徽（3M）弓之乐"/>
          <p:cNvPicPr>
            <a:picLocks noChangeAspect="1"/>
          </p:cNvPicPr>
          <p:nvPr/>
        </p:nvPicPr>
        <p:blipFill>
          <a:blip r:embed="rId2"/>
          <a:stretch>
            <a:fillRect/>
          </a:stretch>
        </p:blipFill>
        <p:spPr>
          <a:xfrm>
            <a:off x="0" y="0"/>
            <a:ext cx="746760" cy="735965"/>
          </a:xfrm>
          <a:prstGeom prst="rect">
            <a:avLst/>
          </a:prstGeom>
          <a:noFill/>
          <a:ln w="9525">
            <a:noFill/>
          </a:ln>
        </p:spPr>
      </p:pic>
      <p:grpSp>
        <p:nvGrpSpPr>
          <p:cNvPr id="13" name="Group 26"/>
          <p:cNvGrpSpPr/>
          <p:nvPr/>
        </p:nvGrpSpPr>
        <p:grpSpPr>
          <a:xfrm>
            <a:off x="648703" y="1597288"/>
            <a:ext cx="7993012" cy="5069522"/>
            <a:chOff x="0" y="355"/>
            <a:chExt cx="5628" cy="3791"/>
          </a:xfrm>
        </p:grpSpPr>
        <p:pic>
          <p:nvPicPr>
            <p:cNvPr id="14" name="Picture 8" descr="Pb-40Sn共晶合金组织"/>
            <p:cNvPicPr>
              <a:picLocks noChangeAspect="1"/>
            </p:cNvPicPr>
            <p:nvPr/>
          </p:nvPicPr>
          <p:blipFill>
            <a:blip r:embed="rId3"/>
            <a:stretch>
              <a:fillRect/>
            </a:stretch>
          </p:blipFill>
          <p:spPr>
            <a:xfrm>
              <a:off x="1296" y="2899"/>
              <a:ext cx="1075" cy="1246"/>
            </a:xfrm>
            <a:prstGeom prst="rect">
              <a:avLst/>
            </a:prstGeom>
            <a:noFill/>
            <a:ln w="38100" cap="flat" cmpd="sng">
              <a:solidFill>
                <a:srgbClr val="CC99FF"/>
              </a:solidFill>
              <a:prstDash val="solid"/>
              <a:miter/>
              <a:headEnd type="none" w="med" len="med"/>
              <a:tailEnd type="none" w="med" len="med"/>
            </a:ln>
          </p:spPr>
        </p:pic>
        <p:grpSp>
          <p:nvGrpSpPr>
            <p:cNvPr id="15" name="Group 25"/>
            <p:cNvGrpSpPr/>
            <p:nvPr/>
          </p:nvGrpSpPr>
          <p:grpSpPr>
            <a:xfrm>
              <a:off x="0" y="355"/>
              <a:ext cx="5628" cy="3791"/>
              <a:chOff x="0" y="355"/>
              <a:chExt cx="5628" cy="3791"/>
            </a:xfrm>
          </p:grpSpPr>
          <p:pic>
            <p:nvPicPr>
              <p:cNvPr id="16" name="Picture 5" descr="旋转 Sn的组织"/>
              <p:cNvPicPr>
                <a:picLocks noChangeAspect="1"/>
              </p:cNvPicPr>
              <p:nvPr/>
            </p:nvPicPr>
            <p:blipFill>
              <a:blip r:embed="rId4"/>
              <a:stretch>
                <a:fillRect/>
              </a:stretch>
            </p:blipFill>
            <p:spPr>
              <a:xfrm>
                <a:off x="4563" y="2899"/>
                <a:ext cx="1065" cy="1246"/>
              </a:xfrm>
              <a:prstGeom prst="rect">
                <a:avLst/>
              </a:prstGeom>
              <a:noFill/>
              <a:ln w="38100" cap="flat" cmpd="sng">
                <a:solidFill>
                  <a:srgbClr val="CC99FF"/>
                </a:solidFill>
                <a:prstDash val="solid"/>
                <a:miter/>
                <a:headEnd type="none" w="med" len="med"/>
                <a:tailEnd type="none" w="med" len="med"/>
              </a:ln>
            </p:spPr>
          </p:pic>
          <p:pic>
            <p:nvPicPr>
              <p:cNvPr id="17" name="Picture 6" descr="旋转 Pb-70%Sn合金组织"/>
              <p:cNvPicPr>
                <a:picLocks noChangeAspect="1"/>
              </p:cNvPicPr>
              <p:nvPr/>
            </p:nvPicPr>
            <p:blipFill>
              <a:blip r:embed="rId5"/>
              <a:stretch>
                <a:fillRect/>
              </a:stretch>
            </p:blipFill>
            <p:spPr>
              <a:xfrm>
                <a:off x="3480" y="2899"/>
                <a:ext cx="1084" cy="1247"/>
              </a:xfrm>
              <a:prstGeom prst="rect">
                <a:avLst/>
              </a:prstGeom>
              <a:noFill/>
              <a:ln w="38100" cap="flat" cmpd="sng">
                <a:solidFill>
                  <a:srgbClr val="CC99FF"/>
                </a:solidFill>
                <a:prstDash val="solid"/>
                <a:miter/>
                <a:headEnd type="none" w="med" len="med"/>
                <a:tailEnd type="none" w="med" len="med"/>
              </a:ln>
            </p:spPr>
          </p:pic>
          <p:pic>
            <p:nvPicPr>
              <p:cNvPr id="18" name="Picture 7" descr="旋转 Pb-Sn共晶合金组织"/>
              <p:cNvPicPr>
                <a:picLocks noChangeAspect="1"/>
              </p:cNvPicPr>
              <p:nvPr/>
            </p:nvPicPr>
            <p:blipFill>
              <a:blip r:embed="rId6"/>
              <a:stretch>
                <a:fillRect/>
              </a:stretch>
            </p:blipFill>
            <p:spPr>
              <a:xfrm>
                <a:off x="2376" y="2899"/>
                <a:ext cx="1090" cy="1247"/>
              </a:xfrm>
              <a:prstGeom prst="rect">
                <a:avLst/>
              </a:prstGeom>
              <a:noFill/>
              <a:ln w="38100" cap="flat" cmpd="sng">
                <a:solidFill>
                  <a:srgbClr val="CC99FF"/>
                </a:solidFill>
                <a:prstDash val="solid"/>
                <a:miter/>
                <a:headEnd type="none" w="med" len="med"/>
                <a:tailEnd type="none" w="med" len="med"/>
              </a:ln>
            </p:spPr>
          </p:pic>
          <p:pic>
            <p:nvPicPr>
              <p:cNvPr id="19" name="Picture 11" descr="Pb的组织"/>
              <p:cNvPicPr>
                <a:picLocks noChangeAspect="1"/>
              </p:cNvPicPr>
              <p:nvPr/>
            </p:nvPicPr>
            <p:blipFill>
              <a:blip r:embed="rId7"/>
              <a:stretch>
                <a:fillRect/>
              </a:stretch>
            </p:blipFill>
            <p:spPr>
              <a:xfrm>
                <a:off x="12" y="1459"/>
                <a:ext cx="1247" cy="1095"/>
              </a:xfrm>
              <a:prstGeom prst="rect">
                <a:avLst/>
              </a:prstGeom>
              <a:noFill/>
              <a:ln w="38100" cap="flat" cmpd="sng">
                <a:solidFill>
                  <a:srgbClr val="CC99FF"/>
                </a:solidFill>
                <a:prstDash val="solid"/>
                <a:miter/>
                <a:headEnd type="none" w="med" len="med"/>
                <a:tailEnd type="none" w="med" len="med"/>
              </a:ln>
            </p:spPr>
          </p:pic>
          <p:pic>
            <p:nvPicPr>
              <p:cNvPr id="20" name="Picture 12" descr="Pb-Sn组织组成物标注1"/>
              <p:cNvPicPr>
                <a:picLocks noChangeAspect="1"/>
              </p:cNvPicPr>
              <p:nvPr/>
            </p:nvPicPr>
            <p:blipFill>
              <a:blip r:embed="rId8"/>
              <a:stretch>
                <a:fillRect/>
              </a:stretch>
            </p:blipFill>
            <p:spPr>
              <a:xfrm>
                <a:off x="1344" y="355"/>
                <a:ext cx="4196" cy="2448"/>
              </a:xfrm>
              <a:prstGeom prst="rect">
                <a:avLst/>
              </a:prstGeom>
              <a:noFill/>
              <a:ln w="9525">
                <a:noFill/>
              </a:ln>
            </p:spPr>
          </p:pic>
          <p:sp>
            <p:nvSpPr>
              <p:cNvPr id="21" name="Line 14"/>
              <p:cNvSpPr/>
              <p:nvPr/>
            </p:nvSpPr>
            <p:spPr>
              <a:xfrm>
                <a:off x="1200" y="1824"/>
                <a:ext cx="528" cy="0"/>
              </a:xfrm>
              <a:prstGeom prst="line">
                <a:avLst/>
              </a:prstGeom>
              <a:ln w="28575" cap="flat" cmpd="sng">
                <a:solidFill>
                  <a:schemeClr val="hlink"/>
                </a:solidFill>
                <a:prstDash val="solid"/>
                <a:headEnd type="none" w="med" len="med"/>
                <a:tailEnd type="triangle" w="med" len="med"/>
              </a:ln>
            </p:spPr>
          </p:sp>
          <p:sp>
            <p:nvSpPr>
              <p:cNvPr id="22" name="Line 15"/>
              <p:cNvSpPr/>
              <p:nvPr/>
            </p:nvSpPr>
            <p:spPr>
              <a:xfrm flipV="1">
                <a:off x="1200" y="2304"/>
                <a:ext cx="960" cy="384"/>
              </a:xfrm>
              <a:prstGeom prst="line">
                <a:avLst/>
              </a:prstGeom>
              <a:ln w="28575" cap="flat" cmpd="sng">
                <a:solidFill>
                  <a:schemeClr val="hlink"/>
                </a:solidFill>
                <a:prstDash val="solid"/>
                <a:headEnd type="none" w="med" len="med"/>
                <a:tailEnd type="triangle" w="med" len="med"/>
              </a:ln>
            </p:spPr>
          </p:sp>
          <p:sp>
            <p:nvSpPr>
              <p:cNvPr id="23" name="Line 16"/>
              <p:cNvSpPr/>
              <p:nvPr/>
            </p:nvSpPr>
            <p:spPr>
              <a:xfrm flipV="1">
                <a:off x="2256" y="2256"/>
                <a:ext cx="624" cy="768"/>
              </a:xfrm>
              <a:prstGeom prst="line">
                <a:avLst/>
              </a:prstGeom>
              <a:ln w="28575" cap="flat" cmpd="sng">
                <a:solidFill>
                  <a:schemeClr val="hlink"/>
                </a:solidFill>
                <a:prstDash val="solid"/>
                <a:headEnd type="none" w="med" len="med"/>
                <a:tailEnd type="triangle" w="med" len="med"/>
              </a:ln>
            </p:spPr>
          </p:sp>
          <p:sp>
            <p:nvSpPr>
              <p:cNvPr id="24" name="Line 17"/>
              <p:cNvSpPr/>
              <p:nvPr/>
            </p:nvSpPr>
            <p:spPr>
              <a:xfrm flipV="1">
                <a:off x="3360" y="2208"/>
                <a:ext cx="240" cy="768"/>
              </a:xfrm>
              <a:prstGeom prst="line">
                <a:avLst/>
              </a:prstGeom>
              <a:ln w="28575" cap="flat" cmpd="sng">
                <a:solidFill>
                  <a:schemeClr val="hlink"/>
                </a:solidFill>
                <a:prstDash val="solid"/>
                <a:headEnd type="none" w="med" len="med"/>
                <a:tailEnd type="triangle" w="med" len="med"/>
              </a:ln>
            </p:spPr>
          </p:sp>
          <p:sp>
            <p:nvSpPr>
              <p:cNvPr id="25" name="Line 18"/>
              <p:cNvSpPr/>
              <p:nvPr/>
            </p:nvSpPr>
            <p:spPr>
              <a:xfrm flipV="1">
                <a:off x="4464" y="2208"/>
                <a:ext cx="0" cy="768"/>
              </a:xfrm>
              <a:prstGeom prst="line">
                <a:avLst/>
              </a:prstGeom>
              <a:ln w="28575" cap="flat" cmpd="sng">
                <a:solidFill>
                  <a:schemeClr val="hlink"/>
                </a:solidFill>
                <a:prstDash val="solid"/>
                <a:headEnd type="none" w="med" len="med"/>
                <a:tailEnd type="triangle" w="med" len="med"/>
              </a:ln>
            </p:spPr>
          </p:sp>
          <p:sp>
            <p:nvSpPr>
              <p:cNvPr id="26" name="Line 19"/>
              <p:cNvSpPr/>
              <p:nvPr/>
            </p:nvSpPr>
            <p:spPr>
              <a:xfrm flipV="1">
                <a:off x="5376" y="1584"/>
                <a:ext cx="0" cy="1440"/>
              </a:xfrm>
              <a:prstGeom prst="line">
                <a:avLst/>
              </a:prstGeom>
              <a:ln w="28575" cap="flat" cmpd="sng">
                <a:solidFill>
                  <a:schemeClr val="hlink"/>
                </a:solidFill>
                <a:prstDash val="solid"/>
                <a:headEnd type="none" w="med" len="med"/>
                <a:tailEnd type="triangle" w="med" len="med"/>
              </a:ln>
            </p:spPr>
          </p:sp>
          <p:pic>
            <p:nvPicPr>
              <p:cNvPr id="27" name="Picture 22" descr="Ⅰ合金室温组织为 + Ⅱ"/>
              <p:cNvPicPr>
                <a:picLocks noChangeAspect="1"/>
              </p:cNvPicPr>
              <p:nvPr/>
            </p:nvPicPr>
            <p:blipFill>
              <a:blip r:embed="rId9"/>
              <a:stretch>
                <a:fillRect/>
              </a:stretch>
            </p:blipFill>
            <p:spPr>
              <a:xfrm>
                <a:off x="0" y="2659"/>
                <a:ext cx="1270" cy="945"/>
              </a:xfrm>
              <a:prstGeom prst="rect">
                <a:avLst/>
              </a:prstGeom>
              <a:noFill/>
              <a:ln w="9525">
                <a:noFill/>
              </a:ln>
            </p:spPr>
          </p:pic>
        </p:grpSp>
      </p:gr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763688" y="1676400"/>
            <a:ext cx="6999312" cy="1462088"/>
          </a:xfrm>
        </p:spPr>
        <p:txBody>
          <a:bodyPr/>
          <a:lstStyle/>
          <a:p>
            <a:r>
              <a:rPr kumimoji="1" lang="en-US" altLang="zh-CN" sz="6000" b="1" dirty="0">
                <a:solidFill>
                  <a:srgbClr val="FF0000"/>
                </a:solidFill>
                <a:latin typeface="华文中宋" panose="02010600040101010101" pitchFamily="2" charset="-122"/>
                <a:ea typeface="华文中宋" panose="02010600040101010101" pitchFamily="2" charset="-122"/>
              </a:rPr>
              <a:t>3.</a:t>
            </a:r>
            <a:r>
              <a:rPr kumimoji="1" lang="zh-CN" altLang="en-US" sz="6000" b="1" dirty="0">
                <a:solidFill>
                  <a:srgbClr val="FF0000"/>
                </a:solidFill>
                <a:latin typeface="华文中宋" panose="02010600040101010101" pitchFamily="2" charset="-122"/>
                <a:ea typeface="华文中宋" panose="02010600040101010101" pitchFamily="2" charset="-122"/>
              </a:rPr>
              <a:t>二元包晶相图</a:t>
            </a:r>
            <a:endParaRPr lang="zh-CN" altLang="en-US" sz="6000" dirty="0"/>
          </a:p>
        </p:txBody>
      </p:sp>
      <p:sp>
        <p:nvSpPr>
          <p:cNvPr id="5" name="日期占位符 1"/>
          <p:cNvSpPr txBox="1"/>
          <p:nvPr/>
        </p:nvSpPr>
        <p:spPr>
          <a:xfrm>
            <a:off x="19685" y="6529929"/>
            <a:ext cx="1905000" cy="342900"/>
          </a:xfrm>
          <a:prstGeom prst="rect">
            <a:avLst/>
          </a:prstGeom>
        </p:spPr>
        <p:txBody>
          <a:bodyPr wrap="square" lIns="91440" tIns="45720" rIns="91440" bIns="45720" anchor="b"/>
          <a:lstStyle>
            <a:defPPr>
              <a:defRPr lang="zh-CN"/>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9pPr>
          </a:lstStyle>
          <a:p>
            <a:fld id="{BB962C8B-B14F-4D97-AF65-F5344CB8AC3E}" type="datetime8">
              <a:rPr lang="en-US" altLang="zh-CN" sz="1400" smtClean="0"/>
              <a:t>11/20/2025 5:38 PM</a:t>
            </a:fld>
            <a:endParaRPr lang="en-US" altLang="zh-CN" sz="1400" dirty="0"/>
          </a:p>
        </p:txBody>
      </p:sp>
      <p:sp>
        <p:nvSpPr>
          <p:cNvPr id="6" name="灯片编号占位符 3"/>
          <p:cNvSpPr txBox="1"/>
          <p:nvPr/>
        </p:nvSpPr>
        <p:spPr bwMode="auto">
          <a:xfrm>
            <a:off x="8316416" y="6529928"/>
            <a:ext cx="630734" cy="328072"/>
          </a:xfrm>
          <a:prstGeom prst="rect">
            <a:avLst/>
          </a:prstGeom>
          <a:noFill/>
          <a:ln w="9525">
            <a:noFill/>
            <a:miter lim="800000"/>
          </a:ln>
          <a:effectLst/>
        </p:spPr>
        <p:txBody>
          <a:bodyPr vert="horz" wrap="square" lIns="91440" tIns="45720" rIns="91440" bIns="45720" numCol="1" anchor="b" anchorCtr="0" compatLnSpc="1"/>
          <a:ls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9pPr>
          </a:lstStyle>
          <a:p>
            <a:pPr algn="r"/>
            <a:fld id="{9A0DB2DC-4C9A-4742-B13C-FB6460FD3503}" type="slidenum">
              <a:rPr lang="en-US" altLang="zh-CN" sz="1400" noProof="1" smtClean="0">
                <a:cs typeface="+mn-ea"/>
              </a:rPr>
              <a:t>84</a:t>
            </a:fld>
            <a:endParaRPr lang="en-US" altLang="zh-CN" sz="1400" dirty="0"/>
          </a:p>
        </p:txBody>
      </p:sp>
      <p:sp>
        <p:nvSpPr>
          <p:cNvPr id="3" name="文本框 2"/>
          <p:cNvSpPr txBox="1"/>
          <p:nvPr/>
        </p:nvSpPr>
        <p:spPr>
          <a:xfrm>
            <a:off x="118745" y="3573145"/>
            <a:ext cx="8907145" cy="829945"/>
          </a:xfrm>
          <a:prstGeom prst="rect">
            <a:avLst/>
          </a:prstGeom>
        </p:spPr>
        <p:txBody>
          <a:bodyPr wrap="square">
            <a:spAutoFit/>
          </a:bodyPr>
          <a:lstStyle/>
          <a:p>
            <a:pPr marL="0" indent="0" algn="ctr"/>
            <a:r>
              <a:rPr lang="en-GB" altLang="zh-CN" sz="4800" b="1" i="1" kern="0" dirty="0">
                <a:solidFill>
                  <a:srgbClr val="FF0000"/>
                </a:solidFill>
                <a:latin typeface="Times New Roman" panose="02020603050405020304" pitchFamily="18" charset="0"/>
                <a:ea typeface="+mj-ea"/>
                <a:cs typeface="Times New Roman" panose="02020603050405020304" pitchFamily="18" charset="0"/>
              </a:rPr>
              <a:t>Binary </a:t>
            </a:r>
            <a:r>
              <a:rPr lang="en-US" altLang="en-GB" sz="4800" b="1" i="1" kern="0" dirty="0">
                <a:solidFill>
                  <a:srgbClr val="FF0000"/>
                </a:solidFill>
                <a:latin typeface="Times New Roman" panose="02020603050405020304" pitchFamily="18" charset="0"/>
                <a:ea typeface="+mj-ea"/>
                <a:cs typeface="Times New Roman" panose="02020603050405020304" pitchFamily="18" charset="0"/>
              </a:rPr>
              <a:t>peri</a:t>
            </a:r>
            <a:r>
              <a:rPr lang="en-GB" altLang="zh-CN" sz="4800" b="1" i="1" kern="0" dirty="0">
                <a:solidFill>
                  <a:srgbClr val="FF0000"/>
                </a:solidFill>
                <a:latin typeface="Times New Roman" panose="02020603050405020304" pitchFamily="18" charset="0"/>
                <a:ea typeface="+mj-ea"/>
                <a:cs typeface="Times New Roman" panose="02020603050405020304" pitchFamily="18" charset="0"/>
              </a:rPr>
              <a:t>tectic phase diagram</a:t>
            </a:r>
          </a:p>
        </p:txBody>
      </p:sp>
      <p:pic>
        <p:nvPicPr>
          <p:cNvPr id="4"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264" t="15784" r="3206" b="19580"/>
          <a:stretch>
            <a:fillRect/>
          </a:stretch>
        </p:blipFill>
        <p:spPr bwMode="auto">
          <a:xfrm>
            <a:off x="0" y="0"/>
            <a:ext cx="2372995" cy="582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日期占位符 3"/>
          <p:cNvSpPr txBox="1">
            <a:spLocks noGrp="1"/>
          </p:cNvSpPr>
          <p:nvPr>
            <p:ph type="dt" sz="half" idx="10"/>
          </p:nvPr>
        </p:nvSpPr>
        <p:spPr>
          <a:xfrm>
            <a:off x="0" y="6581775"/>
            <a:ext cx="2357438" cy="27622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82947" name="灯片编号占位符 5"/>
          <p:cNvSpPr txBox="1">
            <a:spLocks noGrp="1"/>
          </p:cNvSpPr>
          <p:nvPr>
            <p:ph type="sldNum" sz="quarter" idx="12"/>
          </p:nvPr>
        </p:nvSpPr>
        <p:spPr>
          <a:xfrm>
            <a:off x="8654415" y="6610350"/>
            <a:ext cx="420370" cy="219710"/>
          </a:xfrm>
        </p:spPr>
        <p:txBody>
          <a:bodyPr lIns="92075" tIns="46038" rIns="92075" bIns="46038" anchor="ctr"/>
          <a:lstStyle/>
          <a:p>
            <a:pPr algn="r" eaLnBrk="1" hangingPunct="1"/>
            <a:fld id="{9A0DB2DC-4C9A-4742-B13C-FB6460FD3503}" type="slidenum">
              <a:rPr lang="en-US" altLang="zh-CN" sz="1400" dirty="0"/>
              <a:t>85</a:t>
            </a:fld>
            <a:endParaRPr lang="en-US" altLang="zh-CN" sz="1400" dirty="0"/>
          </a:p>
        </p:txBody>
      </p:sp>
      <p:sp>
        <p:nvSpPr>
          <p:cNvPr id="89090" name="Rectangle 2"/>
          <p:cNvSpPr>
            <a:spLocks noGrp="1" noChangeArrowheads="1"/>
          </p:cNvSpPr>
          <p:nvPr>
            <p:ph type="title"/>
          </p:nvPr>
        </p:nvSpPr>
        <p:spPr>
          <a:xfrm>
            <a:off x="1029335" y="102870"/>
            <a:ext cx="7863840" cy="150114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Times New Roman" panose="02020603050405020304" pitchFamily="18" charset="0"/>
                <a:ea typeface="华文中宋" panose="02010600040101010101" pitchFamily="2" charset="-122"/>
                <a:cs typeface="+mj-cs"/>
              </a:rPr>
              <a:t>3</a:t>
            </a:r>
            <a:r>
              <a:rPr kumimoji="1" lang="zh-CN" altLang="en-US" sz="4400" b="1" i="0" u="none" strike="noStrike" kern="0" cap="none" spc="0" normalizeH="0" baseline="0" noProof="0" dirty="0">
                <a:ln>
                  <a:noFill/>
                </a:ln>
                <a:solidFill>
                  <a:srgbClr val="FF0000"/>
                </a:solidFill>
                <a:uLnTx/>
                <a:uFillTx/>
                <a:latin typeface="Times New Roman" panose="02020603050405020304" pitchFamily="18" charset="0"/>
                <a:ea typeface="华文中宋" panose="02010600040101010101" pitchFamily="2" charset="-122"/>
                <a:cs typeface="+mj-cs"/>
              </a:rPr>
              <a:t>、二元包晶相图</a:t>
            </a:r>
            <a:br>
              <a:rPr kumimoji="1" lang="zh-CN" altLang="en-US" sz="4400" b="1" i="0" u="none" strike="noStrike" kern="0" cap="none" spc="0" normalizeH="0" baseline="0" noProof="0" dirty="0">
                <a:ln>
                  <a:noFill/>
                </a:ln>
                <a:solidFill>
                  <a:srgbClr val="FF0000"/>
                </a:solidFill>
                <a:uLnTx/>
                <a:uFillTx/>
                <a:latin typeface="Times New Roman" panose="02020603050405020304" pitchFamily="18" charset="0"/>
                <a:ea typeface="华文中宋" panose="02010600040101010101" pitchFamily="2" charset="-122"/>
                <a:cs typeface="+mj-cs"/>
              </a:rPr>
            </a:br>
            <a:r>
              <a:rPr lang="en-GB" altLang="zh-CN" b="1" i="1" dirty="0">
                <a:solidFill>
                  <a:srgbClr val="FF0000"/>
                </a:solidFill>
                <a:latin typeface="Times New Roman" panose="02020603050405020304" pitchFamily="18" charset="0"/>
                <a:cs typeface="Times New Roman" panose="02020603050405020304" pitchFamily="18" charset="0"/>
                <a:sym typeface="+mn-ea"/>
              </a:rPr>
              <a:t>Binary </a:t>
            </a:r>
            <a:r>
              <a:rPr lang="en-US" altLang="en-GB" b="1" i="1" dirty="0">
                <a:solidFill>
                  <a:srgbClr val="FF0000"/>
                </a:solidFill>
                <a:latin typeface="Times New Roman" panose="02020603050405020304" pitchFamily="18" charset="0"/>
                <a:cs typeface="Times New Roman" panose="02020603050405020304" pitchFamily="18" charset="0"/>
                <a:sym typeface="+mn-ea"/>
              </a:rPr>
              <a:t>peri</a:t>
            </a:r>
            <a:r>
              <a:rPr lang="en-GB" altLang="zh-CN" b="1" i="1" dirty="0">
                <a:solidFill>
                  <a:srgbClr val="FF0000"/>
                </a:solidFill>
                <a:latin typeface="Times New Roman" panose="02020603050405020304" pitchFamily="18" charset="0"/>
                <a:cs typeface="Times New Roman" panose="02020603050405020304" pitchFamily="18" charset="0"/>
                <a:sym typeface="+mn-ea"/>
              </a:rPr>
              <a:t>tectic phase diagram</a:t>
            </a:r>
            <a:endParaRPr kumimoji="1" lang="zh-CN" altLang="en-US" sz="4400" b="1" i="0" u="none" strike="noStrike" kern="0" cap="none" spc="0" normalizeH="0" baseline="0" noProof="0" dirty="0">
              <a:ln>
                <a:noFill/>
              </a:ln>
              <a:solidFill>
                <a:srgbClr val="FF0000"/>
              </a:solidFill>
              <a:uLnTx/>
              <a:uFillTx/>
              <a:latin typeface="Times New Roman" panose="02020603050405020304" pitchFamily="18" charset="0"/>
              <a:ea typeface="华文中宋" panose="02010600040101010101" pitchFamily="2" charset="-122"/>
              <a:cs typeface="+mj-cs"/>
            </a:endParaRPr>
          </a:p>
        </p:txBody>
      </p:sp>
      <p:sp>
        <p:nvSpPr>
          <p:cNvPr id="89091" name="Rectangle 3"/>
          <p:cNvSpPr>
            <a:spLocks noGrp="1"/>
          </p:cNvSpPr>
          <p:nvPr>
            <p:ph idx="1"/>
          </p:nvPr>
        </p:nvSpPr>
        <p:spPr>
          <a:xfrm>
            <a:off x="550347" y="1786229"/>
            <a:ext cx="8442756" cy="2909749"/>
          </a:xfrm>
        </p:spPr>
        <p:txBody>
          <a:bodyPr vert="horz" wrap="square" lIns="91440" tIns="45720" rIns="91440" bIns="45720" anchor="t"/>
          <a:lstStyle/>
          <a:p>
            <a:pPr eaLnBrk="1" hangingPunct="1">
              <a:lnSpc>
                <a:spcPct val="110000"/>
              </a:lnSpc>
            </a:pPr>
            <a:r>
              <a:rPr lang="en-US" altLang="zh-CN" sz="2800" b="1" dirty="0">
                <a:solidFill>
                  <a:srgbClr val="0000FF"/>
                </a:solidFill>
                <a:ea typeface="华文中宋" panose="02010600040101010101" pitchFamily="2" charset="-122"/>
              </a:rPr>
              <a:t>包晶相图</a:t>
            </a:r>
            <a:r>
              <a:rPr lang="zh-CN" altLang="en-US" sz="2800" b="1" dirty="0">
                <a:solidFill>
                  <a:schemeClr val="folHlink"/>
                </a:solidFill>
                <a:ea typeface="华文中宋" panose="02010600040101010101" pitchFamily="2" charset="-122"/>
              </a:rPr>
              <a:t>：当两组元</a:t>
            </a:r>
            <a:r>
              <a:rPr lang="zh-CN" altLang="en-US" sz="2800" b="1" dirty="0">
                <a:ea typeface="华文中宋" panose="02010600040101010101" pitchFamily="2" charset="-122"/>
              </a:rPr>
              <a:t>在</a:t>
            </a:r>
            <a:r>
              <a:rPr lang="zh-CN" altLang="en-US" sz="2800" b="1" dirty="0">
                <a:solidFill>
                  <a:schemeClr val="folHlink"/>
                </a:solidFill>
                <a:ea typeface="华文中宋" panose="02010600040101010101" pitchFamily="2" charset="-122"/>
              </a:rPr>
              <a:t>液态下完全互溶，在固态下有限互溶，</a:t>
            </a:r>
            <a:r>
              <a:rPr lang="zh-CN" altLang="en-US" sz="2800" b="1" dirty="0">
                <a:ea typeface="华文中宋" panose="02010600040101010101" pitchFamily="2" charset="-122"/>
              </a:rPr>
              <a:t>并发生</a:t>
            </a:r>
            <a:r>
              <a:rPr lang="en-US" altLang="zh-CN" sz="2800" b="1" dirty="0">
                <a:solidFill>
                  <a:srgbClr val="0000FF"/>
                </a:solidFill>
                <a:ea typeface="华文中宋" panose="02010600040101010101" pitchFamily="2" charset="-122"/>
              </a:rPr>
              <a:t>包晶反应</a:t>
            </a:r>
            <a:r>
              <a:rPr lang="zh-CN" altLang="en-US" sz="2800" b="1" dirty="0">
                <a:solidFill>
                  <a:schemeClr val="folHlink"/>
                </a:solidFill>
                <a:ea typeface="华文中宋" panose="02010600040101010101" pitchFamily="2" charset="-122"/>
              </a:rPr>
              <a:t>（</a:t>
            </a:r>
            <a:r>
              <a:rPr lang="en-US" altLang="zh-CN" sz="2800" b="1" dirty="0">
                <a:solidFill>
                  <a:schemeClr val="folHlink"/>
                </a:solidFill>
                <a:ea typeface="华文中宋" panose="02010600040101010101" pitchFamily="2" charset="-122"/>
              </a:rPr>
              <a:t>L</a:t>
            </a:r>
            <a:r>
              <a:rPr lang="en-US" altLang="zh-CN" sz="2800" b="1" baseline="-25000" dirty="0">
                <a:solidFill>
                  <a:schemeClr val="folHlink"/>
                </a:solidFill>
                <a:ea typeface="华文中宋" panose="02010600040101010101" pitchFamily="2" charset="-122"/>
              </a:rPr>
              <a:t>C</a:t>
            </a:r>
            <a:r>
              <a:rPr lang="en-US" altLang="zh-CN" sz="2800" b="1" dirty="0">
                <a:solidFill>
                  <a:schemeClr val="folHlink"/>
                </a:solidFill>
                <a:ea typeface="华文中宋" panose="02010600040101010101" pitchFamily="2" charset="-122"/>
              </a:rPr>
              <a:t>+</a:t>
            </a:r>
            <a:r>
              <a:rPr lang="zh-CN" altLang="en-US" sz="2800" b="1" i="1" dirty="0">
                <a:solidFill>
                  <a:srgbClr val="0000FF"/>
                </a:solidFill>
                <a:latin typeface="Times New Roman" panose="02020603050405020304" pitchFamily="18" charset="0"/>
                <a:ea typeface="华文中宋" panose="02010600040101010101" pitchFamily="2" charset="-122"/>
                <a:sym typeface="Symbol" panose="05050102010706020507" pitchFamily="18" charset="2"/>
              </a:rPr>
              <a:t>  </a:t>
            </a:r>
            <a:r>
              <a:rPr lang="en-US" altLang="zh-CN" sz="2800" b="1" baseline="-25000" dirty="0">
                <a:solidFill>
                  <a:schemeClr val="folHlink"/>
                </a:solidFill>
                <a:ea typeface="华文中宋" panose="02010600040101010101" pitchFamily="2" charset="-122"/>
                <a:sym typeface="Symbol" panose="05050102010706020507" pitchFamily="18" charset="2"/>
              </a:rPr>
              <a:t>P</a:t>
            </a:r>
            <a:r>
              <a:rPr lang="en-US" altLang="zh-CN" sz="2800" b="1" dirty="0">
                <a:solidFill>
                  <a:srgbClr val="800000"/>
                </a:solidFill>
                <a:latin typeface="Lucida Sans Unicode" panose="020B0602030504020204" pitchFamily="34" charset="0"/>
                <a:ea typeface="宋体" panose="02010600030101010101" pitchFamily="2" charset="-122"/>
              </a:rPr>
              <a:t> ⇄</a:t>
            </a:r>
            <a:r>
              <a:rPr lang="en-US" altLang="zh-CN" sz="2800" b="1" i="1" dirty="0">
                <a:solidFill>
                  <a:srgbClr val="0000FF"/>
                </a:solidFill>
                <a:latin typeface="Times New Roman" panose="02020603050405020304" pitchFamily="18" charset="0"/>
                <a:ea typeface="华文中宋" panose="02010600040101010101" pitchFamily="2" charset="-122"/>
              </a:rPr>
              <a:t> β </a:t>
            </a:r>
            <a:r>
              <a:rPr lang="en-US" altLang="zh-CN" sz="2800" b="1" baseline="-25000" dirty="0">
                <a:solidFill>
                  <a:schemeClr val="folHlink"/>
                </a:solidFill>
                <a:ea typeface="华文中宋" panose="02010600040101010101" pitchFamily="2" charset="-122"/>
              </a:rPr>
              <a:t>D</a:t>
            </a:r>
            <a:r>
              <a:rPr lang="zh-CN" altLang="en-US" sz="2800" b="1" dirty="0">
                <a:solidFill>
                  <a:schemeClr val="folHlink"/>
                </a:solidFill>
                <a:ea typeface="华文中宋" panose="02010600040101010101" pitchFamily="2" charset="-122"/>
              </a:rPr>
              <a:t>）</a:t>
            </a:r>
            <a:r>
              <a:rPr lang="zh-CN" altLang="en-US" sz="2800" b="1" dirty="0">
                <a:ea typeface="华文中宋" panose="02010600040101010101" pitchFamily="2" charset="-122"/>
              </a:rPr>
              <a:t>时所构成的</a:t>
            </a:r>
            <a:r>
              <a:rPr lang="zh-CN" altLang="en-US" sz="2800" b="1" dirty="0">
                <a:solidFill>
                  <a:schemeClr val="folHlink"/>
                </a:solidFill>
                <a:ea typeface="华文中宋" panose="02010600040101010101" pitchFamily="2" charset="-122"/>
              </a:rPr>
              <a:t>相图</a:t>
            </a:r>
            <a:r>
              <a:rPr lang="zh-CN" altLang="en-US" sz="2800" b="1" dirty="0">
                <a:solidFill>
                  <a:srgbClr val="00FF99"/>
                </a:solidFill>
                <a:ea typeface="华文中宋" panose="02010600040101010101" pitchFamily="2" charset="-122"/>
              </a:rPr>
              <a:t>。</a:t>
            </a:r>
          </a:p>
          <a:p>
            <a:pPr eaLnBrk="1" hangingPunct="1">
              <a:lnSpc>
                <a:spcPct val="110000"/>
              </a:lnSpc>
            </a:pPr>
            <a:r>
              <a:rPr lang="zh-CN" altLang="en-US" sz="2800" b="1" dirty="0">
                <a:solidFill>
                  <a:schemeClr val="tx2"/>
                </a:solidFill>
                <a:ea typeface="华文中宋" panose="02010600040101010101" pitchFamily="2" charset="-122"/>
              </a:rPr>
              <a:t>包晶相图例：</a:t>
            </a:r>
            <a:r>
              <a:rPr lang="en-US" altLang="zh-CN" sz="2800" b="1" dirty="0">
                <a:solidFill>
                  <a:schemeClr val="tx2"/>
                </a:solidFill>
                <a:ea typeface="华文中宋" panose="02010600040101010101" pitchFamily="2" charset="-122"/>
              </a:rPr>
              <a:t>Pt-Ag</a:t>
            </a:r>
            <a:r>
              <a:rPr lang="zh-CN" altLang="en-US" sz="2800" b="1" dirty="0">
                <a:solidFill>
                  <a:schemeClr val="tx2"/>
                </a:solidFill>
                <a:ea typeface="华文中宋" panose="02010600040101010101" pitchFamily="2" charset="-122"/>
              </a:rPr>
              <a:t>、</a:t>
            </a:r>
            <a:r>
              <a:rPr lang="en-US" altLang="zh-CN" sz="2800" b="1" dirty="0">
                <a:solidFill>
                  <a:schemeClr val="tx2"/>
                </a:solidFill>
                <a:ea typeface="华文中宋" panose="02010600040101010101" pitchFamily="2" charset="-122"/>
              </a:rPr>
              <a:t>Ag-Sn</a:t>
            </a:r>
            <a:endParaRPr lang="en-US" altLang="zh-CN" sz="2800" b="1" dirty="0">
              <a:ea typeface="华文中宋" panose="02010600040101010101" pitchFamily="2" charset="-122"/>
            </a:endParaRPr>
          </a:p>
          <a:p>
            <a:pPr eaLnBrk="1" hangingPunct="1">
              <a:lnSpc>
                <a:spcPct val="120000"/>
              </a:lnSpc>
            </a:pPr>
            <a:r>
              <a:rPr lang="zh-CN" altLang="en-US" sz="2800" b="1" dirty="0">
                <a:ea typeface="华文中宋" panose="02010600040101010101" pitchFamily="2" charset="-122"/>
              </a:rPr>
              <a:t>以</a:t>
            </a:r>
            <a:r>
              <a:rPr lang="en-US" altLang="zh-CN" sz="2800" b="1" dirty="0">
                <a:solidFill>
                  <a:srgbClr val="0000FF"/>
                </a:solidFill>
                <a:ea typeface="华文中宋" panose="02010600040101010101" pitchFamily="2" charset="-122"/>
              </a:rPr>
              <a:t>Pt-Ag</a:t>
            </a:r>
            <a:r>
              <a:rPr lang="zh-CN" altLang="en-US" sz="2800" b="1" dirty="0">
                <a:ea typeface="华文中宋" panose="02010600040101010101" pitchFamily="2" charset="-122"/>
              </a:rPr>
              <a:t>相图为例简要分析</a:t>
            </a:r>
          </a:p>
        </p:txBody>
      </p:sp>
      <p:grpSp>
        <p:nvGrpSpPr>
          <p:cNvPr id="2" name="Group 16"/>
          <p:cNvGrpSpPr/>
          <p:nvPr/>
        </p:nvGrpSpPr>
        <p:grpSpPr>
          <a:xfrm>
            <a:off x="5768975" y="3068955"/>
            <a:ext cx="3305810" cy="2682240"/>
            <a:chOff x="2834" y="1785"/>
            <a:chExt cx="2494" cy="2055"/>
          </a:xfrm>
        </p:grpSpPr>
        <p:pic>
          <p:nvPicPr>
            <p:cNvPr id="82953" name="Picture 6" descr="包晶相图"/>
            <p:cNvPicPr>
              <a:picLocks noChangeAspect="1"/>
            </p:cNvPicPr>
            <p:nvPr/>
          </p:nvPicPr>
          <p:blipFill>
            <a:blip r:embed="rId3"/>
            <a:stretch>
              <a:fillRect/>
            </a:stretch>
          </p:blipFill>
          <p:spPr>
            <a:xfrm>
              <a:off x="2834" y="1785"/>
              <a:ext cx="2494" cy="2055"/>
            </a:xfrm>
            <a:prstGeom prst="rect">
              <a:avLst/>
            </a:prstGeom>
            <a:noFill/>
            <a:ln w="38100">
              <a:noFill/>
            </a:ln>
          </p:spPr>
        </p:pic>
        <p:sp>
          <p:nvSpPr>
            <p:cNvPr id="82954" name="Text Box 7"/>
            <p:cNvSpPr txBox="1">
              <a:spLocks noChangeAspect="1"/>
            </p:cNvSpPr>
            <p:nvPr/>
          </p:nvSpPr>
          <p:spPr>
            <a:xfrm>
              <a:off x="3569" y="2253"/>
              <a:ext cx="479" cy="282"/>
            </a:xfrm>
            <a:prstGeom prst="rect">
              <a:avLst/>
            </a:prstGeom>
            <a:noFill/>
            <a:ln w="38100">
              <a:noFill/>
            </a:ln>
          </p:spPr>
          <p:txBody>
            <a:bodyPr>
              <a:spAutoFit/>
            </a:bodyPr>
            <a:lstStyle/>
            <a:p>
              <a:pPr lvl="0" algn="ctr" eaLnBrk="1" hangingPunct="1">
                <a:spcBef>
                  <a:spcPct val="50000"/>
                </a:spcBef>
              </a:pPr>
              <a:r>
                <a:rPr lang="en-US" altLang="zh-CN" sz="1800" b="1" i="1" dirty="0">
                  <a:solidFill>
                    <a:srgbClr val="990033"/>
                  </a:solidFill>
                  <a:latin typeface="Times New Roman" panose="02020603050405020304" pitchFamily="18" charset="0"/>
                  <a:ea typeface="宋体" panose="02010600030101010101" pitchFamily="2" charset="-122"/>
                </a:rPr>
                <a:t>L+</a:t>
              </a:r>
              <a:r>
                <a:rPr lang="en-US" altLang="zh-CN" sz="1800" b="1" i="1" dirty="0">
                  <a:solidFill>
                    <a:srgbClr val="990033"/>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i="1" dirty="0">
                <a:solidFill>
                  <a:srgbClr val="990033"/>
                </a:solidFill>
                <a:latin typeface="Times New Roman" panose="02020603050405020304" pitchFamily="18" charset="0"/>
                <a:ea typeface="宋体" panose="02010600030101010101" pitchFamily="2" charset="-122"/>
              </a:endParaRPr>
            </a:p>
          </p:txBody>
        </p:sp>
        <p:sp>
          <p:nvSpPr>
            <p:cNvPr id="82955" name="Rectangle 8"/>
            <p:cNvSpPr>
              <a:spLocks noChangeAspect="1"/>
            </p:cNvSpPr>
            <p:nvPr/>
          </p:nvSpPr>
          <p:spPr>
            <a:xfrm>
              <a:off x="4471" y="2556"/>
              <a:ext cx="720" cy="283"/>
            </a:xfrm>
            <a:prstGeom prst="rect">
              <a:avLst/>
            </a:prstGeom>
            <a:noFill/>
            <a:ln w="38100">
              <a:noFill/>
            </a:ln>
          </p:spPr>
          <p:txBody>
            <a:bodyPr wrap="square">
              <a:spAutoFit/>
            </a:bodyPr>
            <a:lstStyle/>
            <a:p>
              <a:pPr lvl="0" eaLnBrk="1" hangingPunct="1"/>
              <a:r>
                <a:rPr lang="en-US" altLang="zh-CN" sz="1800" b="1" i="1" dirty="0">
                  <a:solidFill>
                    <a:srgbClr val="990033"/>
                  </a:solidFill>
                  <a:latin typeface="Times New Roman" panose="02020603050405020304" pitchFamily="18" charset="0"/>
                  <a:ea typeface="宋体" panose="02010600030101010101" pitchFamily="2" charset="-122"/>
                  <a:sym typeface="Symbol" panose="05050102010706020507" pitchFamily="18" charset="2"/>
                </a:rPr>
                <a:t>L+</a:t>
              </a:r>
            </a:p>
          </p:txBody>
        </p:sp>
        <p:sp>
          <p:nvSpPr>
            <p:cNvPr id="82956" name="Text Box 9"/>
            <p:cNvSpPr txBox="1">
              <a:spLocks noChangeAspect="1"/>
            </p:cNvSpPr>
            <p:nvPr/>
          </p:nvSpPr>
          <p:spPr>
            <a:xfrm>
              <a:off x="4376" y="2038"/>
              <a:ext cx="255" cy="282"/>
            </a:xfrm>
            <a:prstGeom prst="rect">
              <a:avLst/>
            </a:prstGeom>
            <a:solidFill>
              <a:schemeClr val="bg1"/>
            </a:solidFill>
            <a:ln w="38100">
              <a:noFill/>
            </a:ln>
          </p:spPr>
          <p:txBody>
            <a:bodyPr>
              <a:spAutoFit/>
            </a:bodyPr>
            <a:lstStyle/>
            <a:p>
              <a:pPr lvl="0" eaLnBrk="1" hangingPunct="1">
                <a:spcBef>
                  <a:spcPct val="50000"/>
                </a:spcBef>
              </a:pPr>
              <a:r>
                <a:rPr lang="en-US" altLang="zh-CN" sz="1800" b="1" i="1" dirty="0">
                  <a:solidFill>
                    <a:srgbClr val="990033"/>
                  </a:solidFill>
                  <a:latin typeface="Times New Roman" panose="02020603050405020304" pitchFamily="18" charset="0"/>
                  <a:ea typeface="宋体" panose="02010600030101010101" pitchFamily="2" charset="-122"/>
                </a:rPr>
                <a:t>L</a:t>
              </a:r>
            </a:p>
          </p:txBody>
        </p:sp>
        <p:sp>
          <p:nvSpPr>
            <p:cNvPr id="82957" name="Text Box 10"/>
            <p:cNvSpPr txBox="1">
              <a:spLocks noChangeAspect="1"/>
            </p:cNvSpPr>
            <p:nvPr/>
          </p:nvSpPr>
          <p:spPr>
            <a:xfrm>
              <a:off x="3183" y="2401"/>
              <a:ext cx="183" cy="282"/>
            </a:xfrm>
            <a:prstGeom prst="rect">
              <a:avLst/>
            </a:prstGeom>
            <a:noFill/>
            <a:ln w="38100">
              <a:noFill/>
            </a:ln>
          </p:spPr>
          <p:txBody>
            <a:bodyPr>
              <a:spAutoFit/>
            </a:bodyPr>
            <a:lstStyle/>
            <a:p>
              <a:pPr lvl="0" eaLnBrk="1" hangingPunct="1">
                <a:spcBef>
                  <a:spcPct val="50000"/>
                </a:spcBef>
              </a:pPr>
              <a:r>
                <a:rPr lang="en-US" altLang="zh-CN" sz="1800" b="1" i="1" dirty="0">
                  <a:solidFill>
                    <a:srgbClr val="990033"/>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82958" name="Text Box 11"/>
            <p:cNvSpPr txBox="1">
              <a:spLocks noChangeAspect="1"/>
            </p:cNvSpPr>
            <p:nvPr/>
          </p:nvSpPr>
          <p:spPr>
            <a:xfrm>
              <a:off x="4892" y="2931"/>
              <a:ext cx="219" cy="282"/>
            </a:xfrm>
            <a:prstGeom prst="rect">
              <a:avLst/>
            </a:prstGeom>
            <a:solidFill>
              <a:schemeClr val="bg1"/>
            </a:solidFill>
            <a:ln w="38100">
              <a:noFill/>
            </a:ln>
          </p:spPr>
          <p:txBody>
            <a:bodyPr>
              <a:spAutoFit/>
            </a:bodyPr>
            <a:lstStyle/>
            <a:p>
              <a:pPr lvl="0" eaLnBrk="1" hangingPunct="1">
                <a:spcBef>
                  <a:spcPct val="50000"/>
                </a:spcBef>
              </a:pPr>
              <a:r>
                <a:rPr lang="en-US" altLang="zh-CN" sz="1800" b="1" i="1" dirty="0">
                  <a:solidFill>
                    <a:srgbClr val="990033"/>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82959" name="Text Box 12"/>
            <p:cNvSpPr txBox="1">
              <a:spLocks noChangeAspect="1"/>
            </p:cNvSpPr>
            <p:nvPr/>
          </p:nvSpPr>
          <p:spPr>
            <a:xfrm>
              <a:off x="3679" y="2891"/>
              <a:ext cx="497" cy="282"/>
            </a:xfrm>
            <a:prstGeom prst="rect">
              <a:avLst/>
            </a:prstGeom>
            <a:solidFill>
              <a:schemeClr val="bg1"/>
            </a:solidFill>
            <a:ln w="38100">
              <a:noFill/>
            </a:ln>
          </p:spPr>
          <p:txBody>
            <a:bodyPr>
              <a:spAutoFit/>
            </a:bodyPr>
            <a:lstStyle/>
            <a:p>
              <a:pPr lvl="0" eaLnBrk="1" hangingPunct="1">
                <a:spcBef>
                  <a:spcPct val="50000"/>
                </a:spcBef>
              </a:pPr>
              <a:r>
                <a:rPr lang="en-US" altLang="zh-CN" sz="1800" b="1" i="1" dirty="0">
                  <a:solidFill>
                    <a:srgbClr val="990033"/>
                  </a:solidFill>
                  <a:latin typeface="Times New Roman" panose="02020603050405020304" pitchFamily="18" charset="0"/>
                  <a:ea typeface="宋体" panose="02010600030101010101" pitchFamily="2" charset="-122"/>
                  <a:sym typeface="Symbol" panose="05050102010706020507" pitchFamily="18" charset="2"/>
                </a:rPr>
                <a:t> +</a:t>
              </a:r>
            </a:p>
          </p:txBody>
        </p:sp>
        <p:sp>
          <p:nvSpPr>
            <p:cNvPr id="82960" name="Rectangle 13"/>
            <p:cNvSpPr>
              <a:spLocks noChangeAspect="1"/>
            </p:cNvSpPr>
            <p:nvPr/>
          </p:nvSpPr>
          <p:spPr>
            <a:xfrm>
              <a:off x="2834" y="1785"/>
              <a:ext cx="2494" cy="2055"/>
            </a:xfrm>
            <a:prstGeom prst="rect">
              <a:avLst/>
            </a:prstGeom>
            <a:noFill/>
            <a:ln w="38100" cap="flat" cmpd="sng">
              <a:solidFill>
                <a:srgbClr val="FF9900"/>
              </a:solidFill>
              <a:prstDash val="solid"/>
              <a:miter/>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grpSp>
      <p:sp>
        <p:nvSpPr>
          <p:cNvPr id="89102" name="Rectangle 14"/>
          <p:cNvSpPr/>
          <p:nvPr/>
        </p:nvSpPr>
        <p:spPr>
          <a:xfrm>
            <a:off x="467995" y="4364990"/>
            <a:ext cx="5550535" cy="3058160"/>
          </a:xfrm>
          <a:prstGeom prst="rect">
            <a:avLst/>
          </a:prstGeom>
          <a:noFill/>
          <a:ln w="9525">
            <a:noFill/>
          </a:ln>
        </p:spPr>
        <p:txBody>
          <a:bodyPr/>
          <a:lstStyle/>
          <a:p>
            <a:pPr marL="342900" lvl="0" indent="-342900" eaLnBrk="1" hangingPunct="1">
              <a:lnSpc>
                <a:spcPct val="110000"/>
              </a:lnSpc>
              <a:spcBef>
                <a:spcPct val="20000"/>
              </a:spcBef>
              <a:buClr>
                <a:schemeClr val="accent2"/>
              </a:buClr>
              <a:buSzPct val="80000"/>
              <a:buFont typeface="Wingdings" panose="05000000000000000000" pitchFamily="2" charset="2"/>
              <a:buChar char="l"/>
            </a:pPr>
            <a:r>
              <a:rPr lang="en-US" altLang="zh-CN" sz="2800" b="1" dirty="0">
                <a:solidFill>
                  <a:schemeClr val="tx2"/>
                </a:solidFill>
                <a:latin typeface="Times New Roman" panose="02020603050405020304" pitchFamily="18" charset="0"/>
                <a:ea typeface="华文中宋" panose="02010600040101010101" pitchFamily="2" charset="-122"/>
              </a:rPr>
              <a:t>⑴ </a:t>
            </a:r>
            <a:r>
              <a:rPr lang="zh-CN" altLang="en-US" sz="2800" b="1" dirty="0">
                <a:solidFill>
                  <a:schemeClr val="tx2"/>
                </a:solidFill>
                <a:latin typeface="Times New Roman" panose="02020603050405020304" pitchFamily="18" charset="0"/>
                <a:ea typeface="华文中宋" panose="02010600040101010101" pitchFamily="2" charset="-122"/>
              </a:rPr>
              <a:t>相图分析</a:t>
            </a:r>
          </a:p>
          <a:p>
            <a:pPr marL="342900" lvl="0" indent="-342900" eaLnBrk="1" hangingPunct="1">
              <a:lnSpc>
                <a:spcPct val="110000"/>
              </a:lnSpc>
              <a:spcBef>
                <a:spcPct val="20000"/>
              </a:spcBef>
              <a:buClr>
                <a:schemeClr val="accent2"/>
              </a:buClr>
              <a:buSzPct val="80000"/>
              <a:buFont typeface="Wingdings" panose="05000000000000000000" pitchFamily="2" charset="2"/>
              <a:buChar char="l"/>
            </a:pPr>
            <a:r>
              <a:rPr lang="zh-CN" altLang="en-US" sz="2800" b="1" dirty="0">
                <a:solidFill>
                  <a:schemeClr val="folHlink"/>
                </a:solidFill>
                <a:latin typeface="Times New Roman" panose="02020603050405020304" pitchFamily="18" charset="0"/>
                <a:ea typeface="华文中宋" panose="02010600040101010101" pitchFamily="2" charset="-122"/>
              </a:rPr>
              <a:t>单相区：</a:t>
            </a:r>
            <a:r>
              <a:rPr lang="en-US" altLang="zh-CN" sz="2800" b="1" i="1" dirty="0">
                <a:solidFill>
                  <a:srgbClr val="0000FF"/>
                </a:solidFill>
                <a:latin typeface="Times New Roman" panose="02020603050405020304" pitchFamily="18" charset="0"/>
                <a:ea typeface="华文中宋" panose="02010600040101010101" pitchFamily="2" charset="-122"/>
              </a:rPr>
              <a:t>L</a:t>
            </a:r>
            <a:r>
              <a:rPr lang="zh-CN" altLang="en-US" sz="2800" b="1" dirty="0">
                <a:solidFill>
                  <a:srgbClr val="0000FF"/>
                </a:solidFill>
                <a:latin typeface="Times New Roman" panose="02020603050405020304" pitchFamily="18" charset="0"/>
                <a:ea typeface="华文中宋" panose="02010600040101010101" pitchFamily="2" charset="-122"/>
              </a:rPr>
              <a:t>、</a:t>
            </a:r>
            <a:r>
              <a:rPr lang="zh-CN" altLang="en-US" sz="2800" b="1" i="1" dirty="0">
                <a:solidFill>
                  <a:srgbClr val="0000FF"/>
                </a:solidFill>
                <a:latin typeface="Times New Roman" panose="02020603050405020304" pitchFamily="18" charset="0"/>
                <a:ea typeface="华文中宋" panose="02010600040101010101" pitchFamily="2" charset="-122"/>
                <a:sym typeface="Symbol" panose="05050102010706020507" pitchFamily="18" charset="2"/>
              </a:rPr>
              <a:t></a:t>
            </a:r>
            <a:r>
              <a:rPr lang="zh-CN" altLang="en-US" sz="2800" b="1" dirty="0">
                <a:solidFill>
                  <a:srgbClr val="0000FF"/>
                </a:solidFill>
                <a:latin typeface="Times New Roman" panose="02020603050405020304" pitchFamily="18" charset="0"/>
                <a:ea typeface="华文中宋" panose="02010600040101010101" pitchFamily="2" charset="-122"/>
              </a:rPr>
              <a:t>、</a:t>
            </a:r>
            <a:r>
              <a:rPr lang="en-US" altLang="zh-CN" sz="2800" b="1" i="1" dirty="0">
                <a:solidFill>
                  <a:srgbClr val="0000FF"/>
                </a:solidFill>
                <a:latin typeface="Times New Roman" panose="02020603050405020304" pitchFamily="18" charset="0"/>
                <a:ea typeface="华文中宋" panose="02010600040101010101" pitchFamily="2" charset="-122"/>
              </a:rPr>
              <a:t>β</a:t>
            </a:r>
          </a:p>
          <a:p>
            <a:pPr marL="342900" lvl="0" indent="-342900" eaLnBrk="1" hangingPunct="1">
              <a:lnSpc>
                <a:spcPct val="110000"/>
              </a:lnSpc>
              <a:spcBef>
                <a:spcPct val="20000"/>
              </a:spcBef>
              <a:buClr>
                <a:schemeClr val="accent2"/>
              </a:buClr>
              <a:buSzPct val="80000"/>
              <a:buFont typeface="Wingdings" panose="05000000000000000000" pitchFamily="2" charset="2"/>
              <a:buChar char="l"/>
            </a:pPr>
            <a:r>
              <a:rPr lang="zh-CN" altLang="en-US" sz="2800" b="1" dirty="0">
                <a:solidFill>
                  <a:srgbClr val="0000FF"/>
                </a:solidFill>
                <a:latin typeface="Times New Roman" panose="02020603050405020304" pitchFamily="18" charset="0"/>
                <a:ea typeface="华文中宋" panose="02010600040101010101" pitchFamily="2" charset="-122"/>
              </a:rPr>
              <a:t>二相区：</a:t>
            </a:r>
            <a:r>
              <a:rPr lang="en-US" altLang="zh-CN" sz="2800" b="1" i="1" dirty="0">
                <a:solidFill>
                  <a:srgbClr val="0000FF"/>
                </a:solidFill>
                <a:latin typeface="Times New Roman" panose="02020603050405020304" pitchFamily="18" charset="0"/>
                <a:ea typeface="华文中宋" panose="02010600040101010101" pitchFamily="2" charset="-122"/>
              </a:rPr>
              <a:t>L+</a:t>
            </a:r>
            <a:r>
              <a:rPr lang="en-US" altLang="zh-CN" sz="2800" b="1" i="1" dirty="0">
                <a:solidFill>
                  <a:srgbClr val="0000FF"/>
                </a:solidFill>
                <a:latin typeface="Times New Roman" panose="02020603050405020304" pitchFamily="18" charset="0"/>
                <a:ea typeface="华文中宋" panose="02010600040101010101" pitchFamily="2" charset="-122"/>
                <a:sym typeface="Symbol" panose="05050102010706020507" pitchFamily="18" charset="2"/>
              </a:rPr>
              <a:t></a:t>
            </a:r>
            <a:r>
              <a:rPr lang="zh-CN" altLang="en-US" sz="2800" b="1" i="1" dirty="0">
                <a:solidFill>
                  <a:srgbClr val="0000FF"/>
                </a:solidFill>
                <a:latin typeface="Times New Roman" panose="02020603050405020304" pitchFamily="18" charset="0"/>
                <a:ea typeface="华文中宋" panose="02010600040101010101" pitchFamily="2" charset="-122"/>
              </a:rPr>
              <a:t>、 </a:t>
            </a:r>
            <a:r>
              <a:rPr lang="en-US" altLang="zh-CN" sz="2800" b="1" i="1" dirty="0">
                <a:solidFill>
                  <a:srgbClr val="0000FF"/>
                </a:solidFill>
                <a:latin typeface="Times New Roman" panose="02020603050405020304" pitchFamily="18" charset="0"/>
                <a:ea typeface="华文中宋" panose="02010600040101010101" pitchFamily="2" charset="-122"/>
              </a:rPr>
              <a:t>L+</a:t>
            </a:r>
            <a:r>
              <a:rPr lang="en-US" altLang="zh-CN" sz="2800" b="1" i="1" dirty="0">
                <a:solidFill>
                  <a:srgbClr val="0000FF"/>
                </a:solidFill>
                <a:latin typeface="Times New Roman" panose="02020603050405020304" pitchFamily="18" charset="0"/>
                <a:ea typeface="华文中宋" panose="02010600040101010101" pitchFamily="2" charset="-122"/>
                <a:sym typeface="Symbol" panose="05050102010706020507" pitchFamily="18" charset="2"/>
              </a:rPr>
              <a:t></a:t>
            </a:r>
            <a:r>
              <a:rPr lang="zh-CN" altLang="en-US" sz="2800" b="1" i="1" dirty="0">
                <a:solidFill>
                  <a:srgbClr val="0000FF"/>
                </a:solidFill>
                <a:latin typeface="Times New Roman" panose="02020603050405020304" pitchFamily="18" charset="0"/>
                <a:ea typeface="华文中宋" panose="02010600040101010101" pitchFamily="2" charset="-122"/>
              </a:rPr>
              <a:t>、</a:t>
            </a:r>
            <a:r>
              <a:rPr lang="zh-CN" altLang="en-US" sz="2800" b="1" i="1" dirty="0">
                <a:solidFill>
                  <a:srgbClr val="0000FF"/>
                </a:solidFill>
                <a:latin typeface="Times New Roman" panose="02020603050405020304" pitchFamily="18" charset="0"/>
                <a:ea typeface="华文中宋" panose="02010600040101010101" pitchFamily="2" charset="-122"/>
                <a:sym typeface="Symbol" panose="05050102010706020507" pitchFamily="18" charset="2"/>
              </a:rPr>
              <a:t></a:t>
            </a:r>
            <a:r>
              <a:rPr lang="en-US" altLang="zh-CN" sz="2800" b="1" i="1" dirty="0">
                <a:solidFill>
                  <a:srgbClr val="0000FF"/>
                </a:solidFill>
                <a:latin typeface="Times New Roman" panose="02020603050405020304" pitchFamily="18" charset="0"/>
                <a:ea typeface="华文中宋" panose="02010600040101010101" pitchFamily="2" charset="-122"/>
              </a:rPr>
              <a:t>+</a:t>
            </a:r>
            <a:r>
              <a:rPr lang="en-US" altLang="zh-CN" sz="2800" b="1" i="1" dirty="0">
                <a:solidFill>
                  <a:srgbClr val="0000FF"/>
                </a:solidFill>
                <a:latin typeface="Times New Roman" panose="02020603050405020304" pitchFamily="18" charset="0"/>
                <a:ea typeface="华文中宋" panose="02010600040101010101" pitchFamily="2" charset="-122"/>
                <a:sym typeface="Symbol" panose="05050102010706020507" pitchFamily="18" charset="2"/>
              </a:rPr>
              <a:t></a:t>
            </a:r>
            <a:endParaRPr lang="en-US" altLang="zh-CN" sz="2800" b="1" dirty="0">
              <a:solidFill>
                <a:srgbClr val="0000FF"/>
              </a:solidFill>
              <a:latin typeface="Times New Roman" panose="02020603050405020304" pitchFamily="18" charset="0"/>
              <a:ea typeface="华文中宋" panose="02010600040101010101" pitchFamily="2" charset="-122"/>
            </a:endParaRPr>
          </a:p>
          <a:p>
            <a:pPr marL="342900" lvl="0" indent="-342900" eaLnBrk="1" hangingPunct="1">
              <a:lnSpc>
                <a:spcPct val="110000"/>
              </a:lnSpc>
              <a:spcBef>
                <a:spcPct val="20000"/>
              </a:spcBef>
              <a:buClr>
                <a:schemeClr val="accent2"/>
              </a:buClr>
              <a:buSzPct val="80000"/>
              <a:buFont typeface="Wingdings" panose="05000000000000000000" pitchFamily="2" charset="2"/>
              <a:buChar char="l"/>
            </a:pPr>
            <a:r>
              <a:rPr lang="zh-CN" altLang="en-US" sz="2800" b="1" dirty="0">
                <a:solidFill>
                  <a:srgbClr val="0000FF"/>
                </a:solidFill>
                <a:latin typeface="Times New Roman" panose="02020603050405020304" pitchFamily="18" charset="0"/>
                <a:ea typeface="华文中宋" panose="02010600040101010101" pitchFamily="2" charset="-122"/>
              </a:rPr>
              <a:t>三相区：</a:t>
            </a:r>
            <a:r>
              <a:rPr lang="en-US" altLang="zh-CN" sz="2800" b="1" i="1" dirty="0">
                <a:solidFill>
                  <a:srgbClr val="0000FF"/>
                </a:solidFill>
                <a:latin typeface="Times New Roman" panose="02020603050405020304" pitchFamily="18" charset="0"/>
                <a:ea typeface="华文中宋" panose="02010600040101010101" pitchFamily="2" charset="-122"/>
              </a:rPr>
              <a:t>L</a:t>
            </a:r>
            <a:r>
              <a:rPr lang="en-US" altLang="zh-CN" sz="2800" b="1" dirty="0">
                <a:solidFill>
                  <a:srgbClr val="0000FF"/>
                </a:solidFill>
                <a:latin typeface="Times New Roman" panose="02020603050405020304" pitchFamily="18" charset="0"/>
                <a:ea typeface="华文中宋" panose="02010600040101010101" pitchFamily="2" charset="-122"/>
              </a:rPr>
              <a:t>+</a:t>
            </a:r>
            <a:r>
              <a:rPr lang="en-US" altLang="zh-CN" sz="2800" b="1" i="1" dirty="0">
                <a:solidFill>
                  <a:srgbClr val="0000FF"/>
                </a:solidFill>
                <a:latin typeface="Times New Roman" panose="02020603050405020304" pitchFamily="18" charset="0"/>
                <a:ea typeface="华文中宋" panose="02010600040101010101" pitchFamily="2" charset="-122"/>
                <a:sym typeface="Symbol" panose="05050102010706020507" pitchFamily="18" charset="2"/>
              </a:rPr>
              <a:t></a:t>
            </a:r>
            <a:r>
              <a:rPr lang="en-US" altLang="zh-CN" sz="2800" b="1" dirty="0">
                <a:solidFill>
                  <a:srgbClr val="0000FF"/>
                </a:solidFill>
                <a:latin typeface="Times New Roman" panose="02020603050405020304" pitchFamily="18" charset="0"/>
                <a:ea typeface="华文中宋" panose="02010600040101010101" pitchFamily="2" charset="-122"/>
              </a:rPr>
              <a:t>+</a:t>
            </a:r>
            <a:r>
              <a:rPr lang="en-US" altLang="zh-CN" sz="2800" b="1" i="1" dirty="0">
                <a:solidFill>
                  <a:srgbClr val="0000FF"/>
                </a:solidFill>
                <a:latin typeface="Times New Roman" panose="02020603050405020304" pitchFamily="18" charset="0"/>
                <a:ea typeface="华文中宋" panose="02010600040101010101" pitchFamily="2" charset="-122"/>
                <a:sym typeface="Symbol" panose="05050102010706020507" pitchFamily="18" charset="2"/>
              </a:rPr>
              <a:t></a:t>
            </a:r>
            <a:r>
              <a:rPr lang="en-US" altLang="zh-CN" sz="2800" b="1" dirty="0">
                <a:solidFill>
                  <a:srgbClr val="0000FF"/>
                </a:solidFill>
                <a:latin typeface="Times New Roman" panose="02020603050405020304" pitchFamily="18" charset="0"/>
                <a:ea typeface="华文中宋" panose="02010600040101010101" pitchFamily="2" charset="-122"/>
              </a:rPr>
              <a:t> </a:t>
            </a:r>
            <a:r>
              <a:rPr lang="zh-CN" altLang="en-US" sz="2800" b="1" dirty="0">
                <a:solidFill>
                  <a:srgbClr val="0000FF"/>
                </a:solidFill>
                <a:latin typeface="Times New Roman" panose="02020603050405020304" pitchFamily="18" charset="0"/>
                <a:ea typeface="华文中宋" panose="02010600040101010101" pitchFamily="2" charset="-122"/>
              </a:rPr>
              <a:t>（水平线</a:t>
            </a:r>
            <a:r>
              <a:rPr lang="en-US" altLang="zh-CN" sz="2800" b="1" i="1" dirty="0">
                <a:solidFill>
                  <a:srgbClr val="0000FF"/>
                </a:solidFill>
                <a:latin typeface="Times New Roman" panose="02020603050405020304" pitchFamily="18" charset="0"/>
                <a:ea typeface="华文中宋" panose="02010600040101010101" pitchFamily="2" charset="-122"/>
              </a:rPr>
              <a:t>PDC</a:t>
            </a:r>
            <a:r>
              <a:rPr lang="zh-CN" altLang="en-US" sz="2800" b="1" dirty="0">
                <a:solidFill>
                  <a:srgbClr val="0000FF"/>
                </a:solidFill>
                <a:latin typeface="Times New Roman" panose="02020603050405020304" pitchFamily="18" charset="0"/>
                <a:ea typeface="华文中宋" panose="02010600040101010101" pitchFamily="2" charset="-122"/>
              </a:rPr>
              <a:t>）</a:t>
            </a:r>
          </a:p>
        </p:txBody>
      </p:sp>
      <p:pic>
        <p:nvPicPr>
          <p:cNvPr id="17" name="内容占位符 1" descr="新校徽（3M）弓之乐"/>
          <p:cNvPicPr>
            <a:picLocks noChangeAspect="1"/>
          </p:cNvPicPr>
          <p:nvPr/>
        </p:nvPicPr>
        <p:blipFill>
          <a:blip r:embed="rId4"/>
          <a:stretch>
            <a:fillRect/>
          </a:stretch>
        </p:blipFill>
        <p:spPr>
          <a:xfrm>
            <a:off x="0" y="0"/>
            <a:ext cx="746760" cy="735965"/>
          </a:xfrm>
          <a:prstGeom prst="rect">
            <a:avLst/>
          </a:prstGeom>
          <a:noFill/>
          <a:ln w="9525">
            <a:noFill/>
          </a:ln>
        </p:spPr>
      </p:pic>
      <p:sp>
        <p:nvSpPr>
          <p:cNvPr id="8" name="圆角矩形 7" descr="7b0a202020202262756c6c6574223a20227b5c2263617465676f727949645c223a31303032352c5c2274656d706c61746549645c223a32303233313437347d220a7d0a"/>
          <p:cNvSpPr/>
          <p:nvPr>
            <p:custDataLst>
              <p:tags r:id="rId1"/>
            </p:custDataLst>
          </p:nvPr>
        </p:nvSpPr>
        <p:spPr>
          <a:xfrm>
            <a:off x="899160" y="1844675"/>
            <a:ext cx="1529080" cy="480060"/>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28575" cmpd="dbl">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2400" b="1" dirty="0">
                <a:solidFill>
                  <a:srgbClr val="0000FF"/>
                </a:solidFill>
                <a:ea typeface="华文中宋" panose="02010600040101010101" pitchFamily="2" charset="-122"/>
                <a:sym typeface="+mn-ea"/>
              </a:rPr>
              <a:t>包晶相图</a:t>
            </a:r>
            <a:endParaRPr lang="zh-CN" altLang="en-US" sz="2400"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9090"/>
                                        </p:tgtEl>
                                        <p:attrNameLst>
                                          <p:attrName>style.visibility</p:attrName>
                                        </p:attrNameLst>
                                      </p:cBhvr>
                                      <p:to>
                                        <p:strVal val="visible"/>
                                      </p:to>
                                    </p:set>
                                    <p:animEffect transition="in" filter="wipe(left)">
                                      <p:cBhvr>
                                        <p:cTn id="7" dur="500"/>
                                        <p:tgtEl>
                                          <p:spTgt spid="8909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9091">
                                            <p:txEl>
                                              <p:pRg st="0" end="0"/>
                                            </p:txEl>
                                          </p:spTgt>
                                        </p:tgtEl>
                                        <p:attrNameLst>
                                          <p:attrName>style.visibility</p:attrName>
                                        </p:attrNameLst>
                                      </p:cBhvr>
                                      <p:to>
                                        <p:strVal val="visible"/>
                                      </p:to>
                                    </p:set>
                                    <p:animEffect transition="in" filter="wipe(left)">
                                      <p:cBhvr>
                                        <p:cTn id="11" dur="500"/>
                                        <p:tgtEl>
                                          <p:spTgt spid="89091">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89091">
                                            <p:txEl>
                                              <p:pRg st="1" end="1"/>
                                            </p:txEl>
                                          </p:spTgt>
                                        </p:tgtEl>
                                        <p:attrNameLst>
                                          <p:attrName>style.visibility</p:attrName>
                                        </p:attrNameLst>
                                      </p:cBhvr>
                                      <p:to>
                                        <p:strVal val="visible"/>
                                      </p:to>
                                    </p:set>
                                    <p:animEffect transition="in" filter="wipe(left)">
                                      <p:cBhvr>
                                        <p:cTn id="15" dur="500"/>
                                        <p:tgtEl>
                                          <p:spTgt spid="89091">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89091">
                                            <p:txEl>
                                              <p:pRg st="2" end="2"/>
                                            </p:txEl>
                                          </p:spTgt>
                                        </p:tgtEl>
                                        <p:attrNameLst>
                                          <p:attrName>style.visibility</p:attrName>
                                        </p:attrNameLst>
                                      </p:cBhvr>
                                      <p:to>
                                        <p:strVal val="visible"/>
                                      </p:to>
                                    </p:set>
                                    <p:animEffect transition="in" filter="wipe(left)">
                                      <p:cBhvr>
                                        <p:cTn id="19" dur="500"/>
                                        <p:tgtEl>
                                          <p:spTgt spid="89091">
                                            <p:txEl>
                                              <p:pRg st="2" end="2"/>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89102"/>
                                        </p:tgtEl>
                                        <p:attrNameLst>
                                          <p:attrName>style.visibility</p:attrName>
                                        </p:attrNameLst>
                                      </p:cBhvr>
                                      <p:to>
                                        <p:strVal val="visible"/>
                                      </p:to>
                                    </p:set>
                                    <p:animEffect transition="in" filter="wipe(left)">
                                      <p:cBhvr>
                                        <p:cTn id="23" dur="500"/>
                                        <p:tgtEl>
                                          <p:spTgt spid="89102"/>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up)">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0" grpId="0"/>
      <p:bldP spid="89091" grpId="0" build="p" advAuto="1000"/>
      <p:bldP spid="89102"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日期占位符 3"/>
          <p:cNvSpPr txBox="1">
            <a:spLocks noGrp="1"/>
          </p:cNvSpPr>
          <p:nvPr>
            <p:ph type="dt" sz="half" idx="10"/>
          </p:nvPr>
        </p:nvSpPr>
        <p:spPr>
          <a:xfrm>
            <a:off x="0" y="6528435"/>
            <a:ext cx="2294255" cy="317500"/>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84995" name="灯片编号占位符 5"/>
          <p:cNvSpPr txBox="1">
            <a:spLocks noGrp="1"/>
          </p:cNvSpPr>
          <p:nvPr>
            <p:ph type="sldNum" sz="quarter" idx="12"/>
          </p:nvPr>
        </p:nvSpPr>
        <p:spPr>
          <a:xfrm>
            <a:off x="8575675" y="6561455"/>
            <a:ext cx="520700" cy="284480"/>
          </a:xfrm>
        </p:spPr>
        <p:txBody>
          <a:bodyPr lIns="92075" tIns="46038" rIns="92075" bIns="46038" anchor="ctr"/>
          <a:lstStyle/>
          <a:p>
            <a:pPr algn="r" eaLnBrk="1" hangingPunct="1"/>
            <a:fld id="{9A0DB2DC-4C9A-4742-B13C-FB6460FD3503}" type="slidenum">
              <a:rPr lang="en-US" altLang="zh-CN" sz="1400" dirty="0"/>
              <a:t>86</a:t>
            </a:fld>
            <a:endParaRPr lang="en-US" altLang="zh-CN" sz="1400" dirty="0"/>
          </a:p>
        </p:txBody>
      </p:sp>
      <p:sp>
        <p:nvSpPr>
          <p:cNvPr id="292866" name="Rectangle 2"/>
          <p:cNvSpPr>
            <a:spLocks noGrp="1" noChangeArrowheads="1"/>
          </p:cNvSpPr>
          <p:nvPr>
            <p:ph type="title"/>
          </p:nvPr>
        </p:nvSpPr>
        <p:spPr>
          <a:xfrm>
            <a:off x="971550" y="0"/>
            <a:ext cx="7772400" cy="1546226"/>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华文中宋" panose="02010600040101010101" pitchFamily="2" charset="-122"/>
                <a:ea typeface="华文中宋" panose="02010600040101010101" pitchFamily="2" charset="-122"/>
                <a:cs typeface="+mj-cs"/>
              </a:rPr>
              <a:t>⑵ </a:t>
            </a:r>
            <a:r>
              <a:rPr kumimoji="1" lang="zh-CN" altLang="en-US" sz="4400" b="1" i="0" u="none" strike="noStrike" kern="0" cap="none" spc="0" normalizeH="0" baseline="0" noProof="0" dirty="0">
                <a:ln>
                  <a:noFill/>
                </a:ln>
                <a:solidFill>
                  <a:srgbClr val="FF0000"/>
                </a:solidFill>
                <a:uLnTx/>
                <a:uFillTx/>
                <a:latin typeface="华文中宋" panose="02010600040101010101" pitchFamily="2" charset="-122"/>
                <a:ea typeface="华文中宋" panose="02010600040101010101" pitchFamily="2" charset="-122"/>
                <a:cs typeface="+mj-cs"/>
              </a:rPr>
              <a:t>合金的结晶过程</a:t>
            </a:r>
            <a:br>
              <a:rPr kumimoji="1" lang="zh-CN" altLang="en-US" sz="4400" b="1" i="0" u="none" strike="noStrike" kern="0" cap="none" spc="0" normalizeH="0" baseline="0" noProof="0" dirty="0">
                <a:ln>
                  <a:noFill/>
                </a:ln>
                <a:solidFill>
                  <a:srgbClr val="FF0000"/>
                </a:solidFill>
                <a:uLnTx/>
                <a:uFillTx/>
                <a:latin typeface="华文中宋" panose="02010600040101010101" pitchFamily="2" charset="-122"/>
                <a:ea typeface="华文中宋" panose="02010600040101010101" pitchFamily="2" charset="-122"/>
                <a:cs typeface="+mj-cs"/>
              </a:rPr>
            </a:br>
            <a:r>
              <a:rPr kumimoji="1" lang="en-US" altLang="zh-CN" sz="4400" b="1" i="0" u="none" strike="noStrike" kern="0" cap="none" spc="0" normalizeH="0" baseline="0" noProof="0" dirty="0">
                <a:ln>
                  <a:noFill/>
                </a:ln>
                <a:solidFill>
                  <a:srgbClr val="FF0000"/>
                </a:solidFill>
                <a:uLnTx/>
                <a:uFillTx/>
                <a:latin typeface="Times New Roman" panose="02020603050405020304"/>
                <a:ea typeface="华文中宋" panose="02010600040101010101" pitchFamily="2" charset="-122"/>
                <a:cs typeface="+mj-cs"/>
              </a:rPr>
              <a:t>——</a:t>
            </a: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① </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包晶成分合金（</a:t>
            </a: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I</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a:t>
            </a:r>
          </a:p>
        </p:txBody>
      </p:sp>
      <p:sp>
        <p:nvSpPr>
          <p:cNvPr id="84997" name="Rectangle 3"/>
          <p:cNvSpPr>
            <a:spLocks noGrp="1"/>
          </p:cNvSpPr>
          <p:nvPr>
            <p:ph idx="1"/>
          </p:nvPr>
        </p:nvSpPr>
        <p:spPr>
          <a:xfrm>
            <a:off x="468313" y="2104389"/>
            <a:ext cx="8280400" cy="3207385"/>
          </a:xfrm>
        </p:spPr>
        <p:txBody>
          <a:bodyPr vert="horz" wrap="square" lIns="91440" tIns="45720" rIns="91440" bIns="45720" anchor="t"/>
          <a:lstStyle/>
          <a:p>
            <a:pPr eaLnBrk="1" hangingPunct="1"/>
            <a:r>
              <a:rPr lang="zh-CN" altLang="en-US" b="1" dirty="0">
                <a:solidFill>
                  <a:schemeClr val="folHlink"/>
                </a:solidFill>
                <a:latin typeface="华文中宋" panose="02010600040101010101" pitchFamily="2" charset="-122"/>
                <a:ea typeface="华文中宋" panose="02010600040101010101" pitchFamily="2" charset="-122"/>
              </a:rPr>
              <a:t>结晶过程</a:t>
            </a:r>
            <a:r>
              <a:rPr lang="zh-CN" altLang="en-US" b="1" dirty="0">
                <a:ea typeface="华文中宋" panose="02010600040101010101" pitchFamily="2" charset="-122"/>
              </a:rPr>
              <a:t>：匀晶</a:t>
            </a:r>
            <a:r>
              <a:rPr lang="zh-CN" altLang="en-US" b="1" dirty="0">
                <a:ea typeface="华文中宋" panose="02010600040101010101" pitchFamily="2" charset="-122"/>
                <a:sym typeface="Symbol" panose="05050102010706020507" pitchFamily="18" charset="2"/>
              </a:rPr>
              <a:t>包晶二次析出。</a:t>
            </a:r>
          </a:p>
          <a:p>
            <a:pPr eaLnBrk="1" hangingPunct="1">
              <a:lnSpc>
                <a:spcPct val="140000"/>
              </a:lnSpc>
            </a:pPr>
            <a:r>
              <a:rPr lang="zh-CN" altLang="en-US" b="1" dirty="0">
                <a:ea typeface="华文中宋" panose="02010600040101010101" pitchFamily="2" charset="-122"/>
                <a:sym typeface="Symbol" panose="05050102010706020507" pitchFamily="18" charset="2"/>
              </a:rPr>
              <a:t>室温组织：</a:t>
            </a:r>
            <a:r>
              <a:rPr lang="en-US" altLang="zh-CN" b="1" i="1" dirty="0">
                <a:solidFill>
                  <a:schemeClr val="folHlink"/>
                </a:solidFill>
                <a:ea typeface="华文中宋" panose="02010600040101010101" pitchFamily="2" charset="-122"/>
                <a:sym typeface="Symbol" panose="05050102010706020507" pitchFamily="18" charset="2"/>
              </a:rPr>
              <a:t>β </a:t>
            </a:r>
            <a:r>
              <a:rPr lang="en-US" altLang="zh-CN" b="1" dirty="0">
                <a:solidFill>
                  <a:schemeClr val="folHlink"/>
                </a:solidFill>
                <a:ea typeface="华文中宋" panose="02010600040101010101" pitchFamily="2" charset="-122"/>
                <a:sym typeface="Symbol" panose="05050102010706020507" pitchFamily="18" charset="2"/>
              </a:rPr>
              <a:t>+ </a:t>
            </a:r>
            <a:r>
              <a:rPr lang="en-US" altLang="zh-CN" b="1" i="1" dirty="0">
                <a:solidFill>
                  <a:schemeClr val="folHlink"/>
                </a:solidFill>
                <a:ea typeface="华文中宋" panose="02010600040101010101" pitchFamily="2" charset="-122"/>
                <a:sym typeface="Symbol" panose="05050102010706020507" pitchFamily="18" charset="2"/>
              </a:rPr>
              <a:t></a:t>
            </a:r>
            <a:r>
              <a:rPr lang="en-US" altLang="zh-CN" b="1" baseline="-30000" dirty="0">
                <a:solidFill>
                  <a:schemeClr val="folHlink"/>
                </a:solidFill>
                <a:ea typeface="华文中宋" panose="02010600040101010101" pitchFamily="2" charset="-122"/>
                <a:sym typeface="Symbol" panose="05050102010706020507" pitchFamily="18" charset="2"/>
              </a:rPr>
              <a:t>II</a:t>
            </a:r>
          </a:p>
        </p:txBody>
      </p:sp>
      <p:pic>
        <p:nvPicPr>
          <p:cNvPr id="84998" name="Picture 5" descr="图3-21"/>
          <p:cNvPicPr>
            <a:picLocks noChangeAspect="1"/>
          </p:cNvPicPr>
          <p:nvPr/>
        </p:nvPicPr>
        <p:blipFill>
          <a:blip r:embed="rId2"/>
          <a:stretch>
            <a:fillRect/>
          </a:stretch>
        </p:blipFill>
        <p:spPr>
          <a:xfrm>
            <a:off x="1305255" y="3496310"/>
            <a:ext cx="3319145" cy="3207385"/>
          </a:xfrm>
          <a:prstGeom prst="rect">
            <a:avLst/>
          </a:prstGeom>
          <a:noFill/>
          <a:ln w="9525">
            <a:noFill/>
          </a:ln>
        </p:spPr>
      </p:pic>
      <p:pic>
        <p:nvPicPr>
          <p:cNvPr id="84999" name="Picture 6" descr="图3-22"/>
          <p:cNvPicPr>
            <a:picLocks noChangeAspect="1"/>
          </p:cNvPicPr>
          <p:nvPr/>
        </p:nvPicPr>
        <p:blipFill>
          <a:blip r:embed="rId3"/>
          <a:stretch>
            <a:fillRect/>
          </a:stretch>
        </p:blipFill>
        <p:spPr>
          <a:xfrm>
            <a:off x="5039997" y="3215784"/>
            <a:ext cx="3535678" cy="3372691"/>
          </a:xfrm>
          <a:prstGeom prst="rect">
            <a:avLst/>
          </a:prstGeom>
          <a:noFill/>
          <a:ln w="9525">
            <a:noFill/>
          </a:ln>
        </p:spPr>
      </p:pic>
      <p:pic>
        <p:nvPicPr>
          <p:cNvPr id="9" name="内容占位符 1" descr="新校徽（3M）弓之乐"/>
          <p:cNvPicPr>
            <a:picLocks noChangeAspect="1"/>
          </p:cNvPicPr>
          <p:nvPr/>
        </p:nvPicPr>
        <p:blipFill>
          <a:blip r:embed="rId4"/>
          <a:stretch>
            <a:fillRect/>
          </a:stretch>
        </p:blipFill>
        <p:spPr>
          <a:xfrm>
            <a:off x="0" y="0"/>
            <a:ext cx="746760" cy="735965"/>
          </a:xfrm>
          <a:prstGeom prst="rect">
            <a:avLst/>
          </a:prstGeom>
          <a:noFill/>
          <a:ln w="9525">
            <a:noFill/>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日期占位符 3"/>
          <p:cNvSpPr txBox="1">
            <a:spLocks noGrp="1"/>
          </p:cNvSpPr>
          <p:nvPr>
            <p:ph type="dt" sz="half" idx="10"/>
          </p:nvPr>
        </p:nvSpPr>
        <p:spPr>
          <a:xfrm>
            <a:off x="-317" y="6520498"/>
            <a:ext cx="2233612"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86019" name="灯片编号占位符 5"/>
          <p:cNvSpPr txBox="1">
            <a:spLocks noGrp="1"/>
          </p:cNvSpPr>
          <p:nvPr>
            <p:ph type="sldNum" sz="quarter" idx="12"/>
          </p:nvPr>
        </p:nvSpPr>
        <p:spPr>
          <a:xfrm>
            <a:off x="8641080" y="6520815"/>
            <a:ext cx="476885" cy="347345"/>
          </a:xfrm>
        </p:spPr>
        <p:txBody>
          <a:bodyPr lIns="92075" tIns="46038" rIns="92075" bIns="46038" anchor="ctr"/>
          <a:lstStyle/>
          <a:p>
            <a:pPr algn="r" eaLnBrk="1" hangingPunct="1"/>
            <a:fld id="{9A0DB2DC-4C9A-4742-B13C-FB6460FD3503}" type="slidenum">
              <a:rPr lang="en-US" altLang="zh-CN" sz="1400" dirty="0"/>
              <a:t>87</a:t>
            </a:fld>
            <a:endParaRPr lang="en-US" altLang="zh-CN" sz="1400" dirty="0"/>
          </a:p>
        </p:txBody>
      </p:sp>
      <p:sp>
        <p:nvSpPr>
          <p:cNvPr id="294914" name="Rectangle 2"/>
          <p:cNvSpPr>
            <a:spLocks noGrp="1" noChangeArrowheads="1"/>
          </p:cNvSpPr>
          <p:nvPr>
            <p:ph type="title"/>
          </p:nvPr>
        </p:nvSpPr>
        <p:spPr>
          <a:xfrm>
            <a:off x="755650" y="260350"/>
            <a:ext cx="8208963" cy="1311275"/>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400" b="1" i="0" u="none" strike="noStrike" kern="0" cap="none" spc="0" normalizeH="0" baseline="0" noProof="0" dirty="0">
                <a:ln>
                  <a:noFill/>
                </a:ln>
                <a:solidFill>
                  <a:srgbClr val="FF0000"/>
                </a:solidFill>
                <a:uLnTx/>
                <a:uFillTx/>
                <a:latin typeface="华文中宋" panose="02010600040101010101" pitchFamily="2" charset="-122"/>
                <a:ea typeface="华文中宋" panose="02010600040101010101" pitchFamily="2" charset="-122"/>
                <a:cs typeface="+mj-cs"/>
              </a:rPr>
              <a:t>（</a:t>
            </a:r>
            <a:r>
              <a:rPr kumimoji="1" lang="en-US" altLang="zh-CN" sz="4400" b="1" i="0" u="none" strike="noStrike" kern="0" cap="none" spc="0" normalizeH="0" baseline="0" noProof="0" dirty="0">
                <a:ln>
                  <a:noFill/>
                </a:ln>
                <a:solidFill>
                  <a:srgbClr val="FF0000"/>
                </a:solidFill>
                <a:uLnTx/>
                <a:uFillTx/>
                <a:latin typeface="华文中宋" panose="02010600040101010101" pitchFamily="2" charset="-122"/>
                <a:ea typeface="华文中宋" panose="02010600040101010101" pitchFamily="2" charset="-122"/>
                <a:cs typeface="+mj-cs"/>
              </a:rPr>
              <a:t>2</a:t>
            </a:r>
            <a:r>
              <a:rPr kumimoji="1" lang="zh-CN" altLang="en-US" sz="4400" b="1" i="0" u="none" strike="noStrike" kern="0" cap="none" spc="0" normalizeH="0" baseline="0" noProof="0" dirty="0">
                <a:ln>
                  <a:noFill/>
                </a:ln>
                <a:solidFill>
                  <a:srgbClr val="FF0000"/>
                </a:solidFill>
                <a:uLnTx/>
                <a:uFillTx/>
                <a:latin typeface="华文中宋" panose="02010600040101010101" pitchFamily="2" charset="-122"/>
                <a:ea typeface="华文中宋" panose="02010600040101010101" pitchFamily="2" charset="-122"/>
                <a:cs typeface="+mj-cs"/>
              </a:rPr>
              <a:t>）合金的结晶过程</a:t>
            </a:r>
            <a:br>
              <a:rPr kumimoji="1" lang="zh-CN" altLang="en-US" sz="4400" b="1" i="0" u="none" strike="noStrike" kern="0" cap="none" spc="0" normalizeH="0" baseline="0" noProof="0" dirty="0">
                <a:ln>
                  <a:noFill/>
                </a:ln>
                <a:solidFill>
                  <a:srgbClr val="FF0000"/>
                </a:solidFill>
                <a:uLnTx/>
                <a:uFillTx/>
                <a:latin typeface="华文中宋" panose="02010600040101010101" pitchFamily="2" charset="-122"/>
                <a:ea typeface="华文中宋" panose="02010600040101010101" pitchFamily="2" charset="-122"/>
                <a:cs typeface="+mj-cs"/>
              </a:rPr>
            </a:br>
            <a:r>
              <a:rPr kumimoji="1" lang="en-US" altLang="zh-CN" sz="4400" b="1" i="0" u="none" strike="noStrike" kern="0" cap="none" spc="0" normalizeH="0" baseline="0" noProof="0" dirty="0">
                <a:ln>
                  <a:noFill/>
                </a:ln>
                <a:solidFill>
                  <a:srgbClr val="FF0000"/>
                </a:solidFill>
                <a:uLnTx/>
                <a:uFillTx/>
                <a:latin typeface="Times New Roman" panose="02020603050405020304"/>
                <a:ea typeface="华文中宋" panose="02010600040101010101" pitchFamily="2" charset="-122"/>
                <a:cs typeface="+mj-cs"/>
              </a:rPr>
              <a:t>——</a:t>
            </a: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sym typeface="Symbol" panose="05050102010706020507" pitchFamily="18" charset="2"/>
              </a:rPr>
              <a:t>②  PD</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sym typeface="Symbol" panose="05050102010706020507" pitchFamily="18" charset="2"/>
              </a:rPr>
              <a:t>成分</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合金</a:t>
            </a: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(II)</a:t>
            </a:r>
            <a:endPar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endParaRPr>
          </a:p>
        </p:txBody>
      </p:sp>
      <p:sp>
        <p:nvSpPr>
          <p:cNvPr id="86021" name="Rectangle 3"/>
          <p:cNvSpPr>
            <a:spLocks noGrp="1"/>
          </p:cNvSpPr>
          <p:nvPr>
            <p:ph idx="1"/>
          </p:nvPr>
        </p:nvSpPr>
        <p:spPr>
          <a:xfrm>
            <a:off x="-317" y="2507820"/>
            <a:ext cx="5572125" cy="3816350"/>
          </a:xfrm>
        </p:spPr>
        <p:txBody>
          <a:bodyPr vert="horz" wrap="square" lIns="91440" tIns="45720" rIns="91440" bIns="45720" anchor="t"/>
          <a:lstStyle/>
          <a:p>
            <a:pPr eaLnBrk="1" hangingPunct="1">
              <a:lnSpc>
                <a:spcPct val="140000"/>
              </a:lnSpc>
            </a:pPr>
            <a:r>
              <a:rPr lang="zh-CN" altLang="en-US" b="1" dirty="0">
                <a:solidFill>
                  <a:schemeClr val="folHlink"/>
                </a:solidFill>
                <a:latin typeface="华文中宋" panose="02010600040101010101" pitchFamily="2" charset="-122"/>
                <a:ea typeface="华文中宋" panose="02010600040101010101" pitchFamily="2" charset="-122"/>
              </a:rPr>
              <a:t>结晶过程</a:t>
            </a:r>
            <a:r>
              <a:rPr lang="zh-CN" altLang="en-US" b="1" dirty="0">
                <a:ea typeface="华文中宋" panose="02010600040101010101" pitchFamily="2" charset="-122"/>
              </a:rPr>
              <a:t>： 匀晶（</a:t>
            </a:r>
            <a:r>
              <a:rPr lang="en-US" altLang="zh-CN" b="1" dirty="0">
                <a:ea typeface="华文中宋" panose="02010600040101010101" pitchFamily="2" charset="-122"/>
              </a:rPr>
              <a:t>1</a:t>
            </a:r>
            <a:r>
              <a:rPr lang="zh-CN" altLang="en-US" b="1" dirty="0">
                <a:ea typeface="华文中宋" panose="02010600040101010101" pitchFamily="2" charset="-122"/>
                <a:sym typeface="Symbol" panose="05050102010706020507" pitchFamily="18" charset="2"/>
              </a:rPr>
              <a:t>  </a:t>
            </a:r>
            <a:r>
              <a:rPr lang="en-US" altLang="zh-CN" b="1" dirty="0">
                <a:ea typeface="华文中宋" panose="02010600040101010101" pitchFamily="2" charset="-122"/>
                <a:sym typeface="Symbol" panose="05050102010706020507" pitchFamily="18" charset="2"/>
              </a:rPr>
              <a:t>2</a:t>
            </a:r>
            <a:r>
              <a:rPr lang="zh-CN" altLang="en-US" b="1" dirty="0">
                <a:ea typeface="华文中宋" panose="02010600040101010101" pitchFamily="2" charset="-122"/>
                <a:sym typeface="Symbol" panose="05050102010706020507" pitchFamily="18" charset="2"/>
              </a:rPr>
              <a:t>：</a:t>
            </a:r>
            <a:r>
              <a:rPr lang="en-US" altLang="zh-CN" b="1" i="1" dirty="0">
                <a:solidFill>
                  <a:schemeClr val="folHlink"/>
                </a:solidFill>
                <a:ea typeface="华文中宋" panose="02010600040101010101" pitchFamily="2" charset="-122"/>
                <a:sym typeface="Symbol" panose="05050102010706020507" pitchFamily="18" charset="2"/>
              </a:rPr>
              <a:t>  </a:t>
            </a:r>
            <a:r>
              <a:rPr lang="zh-CN" altLang="en-US" b="1" dirty="0">
                <a:ea typeface="华文中宋" panose="02010600040101010101" pitchFamily="2" charset="-122"/>
                <a:sym typeface="Symbol" panose="05050102010706020507" pitchFamily="18" charset="2"/>
              </a:rPr>
              <a:t>） 包晶（</a:t>
            </a:r>
            <a:r>
              <a:rPr lang="en-US" altLang="zh-CN" b="1" dirty="0">
                <a:ea typeface="华文中宋" panose="02010600040101010101" pitchFamily="2" charset="-122"/>
                <a:sym typeface="Symbol" panose="05050102010706020507" pitchFamily="18" charset="2"/>
              </a:rPr>
              <a:t>2</a:t>
            </a:r>
            <a:r>
              <a:rPr lang="zh-CN" altLang="en-US" b="1" dirty="0">
                <a:ea typeface="华文中宋" panose="02010600040101010101" pitchFamily="2" charset="-122"/>
                <a:sym typeface="Symbol" panose="05050102010706020507" pitchFamily="18" charset="2"/>
              </a:rPr>
              <a:t>点） 二次析出（</a:t>
            </a:r>
            <a:r>
              <a:rPr lang="en-US" altLang="zh-CN" b="1" dirty="0">
                <a:ea typeface="华文中宋" panose="02010600040101010101" pitchFamily="2" charset="-122"/>
                <a:sym typeface="Symbol" panose="05050102010706020507" pitchFamily="18" charset="2"/>
              </a:rPr>
              <a:t>2</a:t>
            </a:r>
            <a:r>
              <a:rPr lang="zh-CN" altLang="en-US" b="1" dirty="0">
                <a:ea typeface="华文中宋" panose="02010600040101010101" pitchFamily="2" charset="-122"/>
                <a:sym typeface="Symbol" panose="05050102010706020507" pitchFamily="18" charset="2"/>
              </a:rPr>
              <a:t>点以下：</a:t>
            </a:r>
            <a:r>
              <a:rPr lang="en-US" altLang="zh-CN" b="1" i="1" dirty="0">
                <a:solidFill>
                  <a:schemeClr val="folHlink"/>
                </a:solidFill>
                <a:ea typeface="华文中宋" panose="02010600040101010101" pitchFamily="2" charset="-122"/>
                <a:sym typeface="Symbol" panose="05050102010706020507" pitchFamily="18" charset="2"/>
              </a:rPr>
              <a:t> </a:t>
            </a:r>
            <a:r>
              <a:rPr lang="en-US" altLang="zh-CN" b="1" baseline="-30000" dirty="0">
                <a:solidFill>
                  <a:schemeClr val="folHlink"/>
                </a:solidFill>
                <a:ea typeface="华文中宋" panose="02010600040101010101" pitchFamily="2" charset="-122"/>
                <a:sym typeface="Symbol" panose="05050102010706020507" pitchFamily="18" charset="2"/>
              </a:rPr>
              <a:t>II</a:t>
            </a:r>
            <a:r>
              <a:rPr lang="en-US" altLang="zh-CN" b="1" i="1" dirty="0">
                <a:solidFill>
                  <a:schemeClr val="folHlink"/>
                </a:solidFill>
                <a:ea typeface="华文中宋" panose="02010600040101010101" pitchFamily="2" charset="-122"/>
                <a:sym typeface="Symbol" panose="05050102010706020507" pitchFamily="18" charset="2"/>
              </a:rPr>
              <a:t> </a:t>
            </a:r>
            <a:r>
              <a:rPr lang="zh-CN" altLang="en-US" b="1" i="1" dirty="0">
                <a:solidFill>
                  <a:schemeClr val="folHlink"/>
                </a:solidFill>
                <a:ea typeface="华文中宋" panose="02010600040101010101" pitchFamily="2" charset="-122"/>
                <a:sym typeface="Symbol" panose="05050102010706020507" pitchFamily="18" charset="2"/>
              </a:rPr>
              <a:t>、</a:t>
            </a:r>
            <a:r>
              <a:rPr lang="en-US" altLang="zh-CN" b="1" i="1" dirty="0">
                <a:solidFill>
                  <a:schemeClr val="folHlink"/>
                </a:solidFill>
                <a:ea typeface="华文中宋" panose="02010600040101010101" pitchFamily="2" charset="-122"/>
                <a:sym typeface="Symbol" panose="05050102010706020507" pitchFamily="18" charset="2"/>
              </a:rPr>
              <a:t>β</a:t>
            </a:r>
            <a:r>
              <a:rPr lang="en-US" altLang="zh-CN" b="1" baseline="-30000" dirty="0">
                <a:solidFill>
                  <a:schemeClr val="folHlink"/>
                </a:solidFill>
                <a:ea typeface="华文中宋" panose="02010600040101010101" pitchFamily="2" charset="-122"/>
                <a:sym typeface="Symbol" panose="05050102010706020507" pitchFamily="18" charset="2"/>
              </a:rPr>
              <a:t>II</a:t>
            </a:r>
            <a:r>
              <a:rPr lang="zh-CN" altLang="en-US" b="1" dirty="0">
                <a:ea typeface="华文中宋" panose="02010600040101010101" pitchFamily="2" charset="-122"/>
                <a:sym typeface="Symbol" panose="05050102010706020507" pitchFamily="18" charset="2"/>
              </a:rPr>
              <a:t>） 。</a:t>
            </a:r>
          </a:p>
          <a:p>
            <a:pPr eaLnBrk="1" hangingPunct="1">
              <a:lnSpc>
                <a:spcPct val="140000"/>
              </a:lnSpc>
            </a:pPr>
            <a:r>
              <a:rPr lang="zh-CN" altLang="en-US" b="1" dirty="0">
                <a:solidFill>
                  <a:schemeClr val="folHlink"/>
                </a:solidFill>
                <a:latin typeface="华文中宋" panose="02010600040101010101" pitchFamily="2" charset="-122"/>
                <a:ea typeface="华文中宋" panose="02010600040101010101" pitchFamily="2" charset="-122"/>
                <a:sym typeface="Symbol" panose="05050102010706020507" pitchFamily="18" charset="2"/>
              </a:rPr>
              <a:t>室温组织：</a:t>
            </a:r>
            <a:r>
              <a:rPr lang="zh-CN" altLang="en-US" b="1" i="1" dirty="0">
                <a:ea typeface="华文中宋" panose="02010600040101010101" pitchFamily="2" charset="-122"/>
                <a:sym typeface="Symbol" panose="05050102010706020507" pitchFamily="18" charset="2"/>
              </a:rPr>
              <a:t> </a:t>
            </a:r>
            <a:r>
              <a:rPr lang="en-US" altLang="zh-CN" b="1" dirty="0">
                <a:ea typeface="华文中宋" panose="02010600040101010101" pitchFamily="2" charset="-122"/>
                <a:sym typeface="Symbol" panose="05050102010706020507" pitchFamily="18" charset="2"/>
              </a:rPr>
              <a:t>+</a:t>
            </a:r>
            <a:r>
              <a:rPr lang="en-US" altLang="zh-CN" b="1" i="1" dirty="0">
                <a:ea typeface="华文中宋" panose="02010600040101010101" pitchFamily="2" charset="-122"/>
                <a:sym typeface="Symbol" panose="05050102010706020507" pitchFamily="18" charset="2"/>
              </a:rPr>
              <a:t>β</a:t>
            </a:r>
            <a:r>
              <a:rPr lang="en-US" altLang="zh-CN" b="1" baseline="-30000" dirty="0">
                <a:ea typeface="华文中宋" panose="02010600040101010101" pitchFamily="2" charset="-122"/>
                <a:sym typeface="Symbol" panose="05050102010706020507" pitchFamily="18" charset="2"/>
              </a:rPr>
              <a:t>II</a:t>
            </a:r>
            <a:r>
              <a:rPr lang="en-US" altLang="zh-CN" b="1" dirty="0">
                <a:ea typeface="华文中宋" panose="02010600040101010101" pitchFamily="2" charset="-122"/>
                <a:sym typeface="Symbol" panose="05050102010706020507" pitchFamily="18" charset="2"/>
              </a:rPr>
              <a:t>+</a:t>
            </a:r>
            <a:r>
              <a:rPr lang="en-US" altLang="zh-CN" b="1" i="1" dirty="0">
                <a:ea typeface="华文中宋" panose="02010600040101010101" pitchFamily="2" charset="-122"/>
                <a:sym typeface="Symbol" panose="05050102010706020507" pitchFamily="18" charset="2"/>
              </a:rPr>
              <a:t>β </a:t>
            </a:r>
            <a:r>
              <a:rPr lang="en-US" altLang="zh-CN" b="1" dirty="0">
                <a:ea typeface="华文中宋" panose="02010600040101010101" pitchFamily="2" charset="-122"/>
                <a:sym typeface="Symbol" panose="05050102010706020507" pitchFamily="18" charset="2"/>
              </a:rPr>
              <a:t>+ </a:t>
            </a:r>
            <a:r>
              <a:rPr lang="en-US" altLang="zh-CN" b="1" i="1" dirty="0">
                <a:ea typeface="华文中宋" panose="02010600040101010101" pitchFamily="2" charset="-122"/>
                <a:sym typeface="Symbol" panose="05050102010706020507" pitchFamily="18" charset="2"/>
              </a:rPr>
              <a:t></a:t>
            </a:r>
            <a:r>
              <a:rPr lang="en-US" altLang="zh-CN" b="1" baseline="-30000" dirty="0">
                <a:ea typeface="华文中宋" panose="02010600040101010101" pitchFamily="2" charset="-122"/>
                <a:sym typeface="Symbol" panose="05050102010706020507" pitchFamily="18" charset="2"/>
              </a:rPr>
              <a:t>II</a:t>
            </a:r>
          </a:p>
        </p:txBody>
      </p:sp>
      <p:pic>
        <p:nvPicPr>
          <p:cNvPr id="86022" name="Picture 5" descr="图3-21"/>
          <p:cNvPicPr>
            <a:picLocks noChangeAspect="1"/>
          </p:cNvPicPr>
          <p:nvPr/>
        </p:nvPicPr>
        <p:blipFill>
          <a:blip r:embed="rId2"/>
          <a:stretch>
            <a:fillRect/>
          </a:stretch>
        </p:blipFill>
        <p:spPr>
          <a:xfrm>
            <a:off x="5792290" y="2704148"/>
            <a:ext cx="3319462" cy="3816350"/>
          </a:xfrm>
          <a:prstGeom prst="rect">
            <a:avLst/>
          </a:prstGeom>
          <a:noFill/>
          <a:ln w="9525">
            <a:noFill/>
          </a:ln>
        </p:spPr>
      </p:pic>
      <p:pic>
        <p:nvPicPr>
          <p:cNvPr id="8" name="内容占位符 1" descr="新校徽（3M）弓之乐"/>
          <p:cNvPicPr>
            <a:picLocks noChangeAspect="1"/>
          </p:cNvPicPr>
          <p:nvPr/>
        </p:nvPicPr>
        <p:blipFill>
          <a:blip r:embed="rId3"/>
          <a:stretch>
            <a:fillRect/>
          </a:stretch>
        </p:blipFill>
        <p:spPr>
          <a:xfrm>
            <a:off x="0" y="0"/>
            <a:ext cx="746760" cy="735965"/>
          </a:xfrm>
          <a:prstGeom prst="rect">
            <a:avLst/>
          </a:prstGeom>
          <a:noFill/>
          <a:ln w="9525">
            <a:noFill/>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日期占位符 3"/>
          <p:cNvSpPr txBox="1">
            <a:spLocks noGrp="1"/>
          </p:cNvSpPr>
          <p:nvPr>
            <p:ph type="dt" sz="half" idx="10"/>
          </p:nvPr>
        </p:nvSpPr>
        <p:spPr>
          <a:xfrm>
            <a:off x="0" y="6529705"/>
            <a:ext cx="2305050" cy="419100"/>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87043" name="灯片编号占位符 5"/>
          <p:cNvSpPr txBox="1">
            <a:spLocks noGrp="1"/>
          </p:cNvSpPr>
          <p:nvPr>
            <p:ph type="sldNum" sz="quarter" idx="12"/>
          </p:nvPr>
        </p:nvSpPr>
        <p:spPr>
          <a:xfrm>
            <a:off x="8606155" y="6529705"/>
            <a:ext cx="468630" cy="328295"/>
          </a:xfrm>
        </p:spPr>
        <p:txBody>
          <a:bodyPr lIns="92075" tIns="46038" rIns="92075" bIns="46038" anchor="ctr"/>
          <a:lstStyle/>
          <a:p>
            <a:pPr algn="r" eaLnBrk="1" hangingPunct="1"/>
            <a:fld id="{9A0DB2DC-4C9A-4742-B13C-FB6460FD3503}" type="slidenum">
              <a:rPr lang="en-US" altLang="zh-CN" sz="1400" dirty="0"/>
              <a:t>88</a:t>
            </a:fld>
            <a:endParaRPr lang="en-US" altLang="zh-CN" sz="1400" dirty="0"/>
          </a:p>
        </p:txBody>
      </p:sp>
      <p:sp>
        <p:nvSpPr>
          <p:cNvPr id="295938" name="Rectangle 2"/>
          <p:cNvSpPr>
            <a:spLocks noGrp="1" noChangeArrowheads="1"/>
          </p:cNvSpPr>
          <p:nvPr>
            <p:ph type="title"/>
          </p:nvPr>
        </p:nvSpPr>
        <p:spPr>
          <a:xfrm>
            <a:off x="1116013" y="188913"/>
            <a:ext cx="7772400" cy="1311275"/>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400" b="1" i="0" u="none" strike="noStrike" kern="0" cap="none" spc="0" normalizeH="0" baseline="0" noProof="0" dirty="0">
                <a:ln>
                  <a:noFill/>
                </a:ln>
                <a:solidFill>
                  <a:srgbClr val="FF0000"/>
                </a:solidFill>
                <a:uLnTx/>
                <a:uFillTx/>
                <a:latin typeface="华文中宋" panose="02010600040101010101" pitchFamily="2" charset="-122"/>
                <a:ea typeface="华文中宋" panose="02010600040101010101" pitchFamily="2" charset="-122"/>
                <a:cs typeface="+mj-cs"/>
              </a:rPr>
              <a:t>（</a:t>
            </a:r>
            <a:r>
              <a:rPr kumimoji="1" lang="en-US" altLang="zh-CN" sz="4400" b="1" i="0" u="none" strike="noStrike" kern="0" cap="none" spc="0" normalizeH="0" baseline="0" noProof="0" dirty="0">
                <a:ln>
                  <a:noFill/>
                </a:ln>
                <a:solidFill>
                  <a:srgbClr val="FF0000"/>
                </a:solidFill>
                <a:uLnTx/>
                <a:uFillTx/>
                <a:latin typeface="华文中宋" panose="02010600040101010101" pitchFamily="2" charset="-122"/>
                <a:ea typeface="华文中宋" panose="02010600040101010101" pitchFamily="2" charset="-122"/>
                <a:cs typeface="+mj-cs"/>
              </a:rPr>
              <a:t>2</a:t>
            </a:r>
            <a:r>
              <a:rPr kumimoji="1" lang="zh-CN" altLang="en-US" sz="4400" b="1" i="0" u="none" strike="noStrike" kern="0" cap="none" spc="0" normalizeH="0" baseline="0" noProof="0" dirty="0">
                <a:ln>
                  <a:noFill/>
                </a:ln>
                <a:solidFill>
                  <a:srgbClr val="FF0000"/>
                </a:solidFill>
                <a:uLnTx/>
                <a:uFillTx/>
                <a:latin typeface="华文中宋" panose="02010600040101010101" pitchFamily="2" charset="-122"/>
                <a:ea typeface="华文中宋" panose="02010600040101010101" pitchFamily="2" charset="-122"/>
                <a:cs typeface="+mj-cs"/>
              </a:rPr>
              <a:t>）合金的结晶过程</a:t>
            </a:r>
            <a:br>
              <a:rPr kumimoji="1" lang="zh-CN" altLang="en-US" sz="4400" b="1" i="0" u="none" strike="noStrike" kern="0" cap="none" spc="0" normalizeH="0" baseline="0" noProof="0" dirty="0">
                <a:ln>
                  <a:noFill/>
                </a:ln>
                <a:solidFill>
                  <a:srgbClr val="FF0000"/>
                </a:solidFill>
                <a:uLnTx/>
                <a:uFillTx/>
                <a:latin typeface="华文中宋" panose="02010600040101010101" pitchFamily="2" charset="-122"/>
                <a:ea typeface="华文中宋" panose="02010600040101010101" pitchFamily="2" charset="-122"/>
                <a:cs typeface="+mj-cs"/>
              </a:rPr>
            </a:br>
            <a:r>
              <a:rPr kumimoji="1" lang="en-US" altLang="zh-CN" sz="4400" b="1" i="0" u="none" strike="noStrike" kern="0" cap="none" spc="0" normalizeH="0" baseline="0" noProof="0" dirty="0">
                <a:ln>
                  <a:noFill/>
                </a:ln>
                <a:solidFill>
                  <a:srgbClr val="FF0000"/>
                </a:solidFill>
                <a:uLnTx/>
                <a:uFillTx/>
                <a:latin typeface="Times New Roman" panose="02020603050405020304"/>
                <a:ea typeface="华文中宋" panose="02010600040101010101" pitchFamily="2" charset="-122"/>
                <a:cs typeface="+mj-cs"/>
              </a:rPr>
              <a:t>——</a:t>
            </a: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sym typeface="Symbol" panose="05050102010706020507" pitchFamily="18" charset="2"/>
              </a:rPr>
              <a:t>③  DC</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sym typeface="Symbol" panose="05050102010706020507" pitchFamily="18" charset="2"/>
              </a:rPr>
              <a:t>成分</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合金</a:t>
            </a: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(III)</a:t>
            </a:r>
            <a:endPar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endParaRPr>
          </a:p>
        </p:txBody>
      </p:sp>
      <p:sp>
        <p:nvSpPr>
          <p:cNvPr id="87045" name="Rectangle 3"/>
          <p:cNvSpPr>
            <a:spLocks noGrp="1"/>
          </p:cNvSpPr>
          <p:nvPr>
            <p:ph idx="1"/>
          </p:nvPr>
        </p:nvSpPr>
        <p:spPr>
          <a:xfrm>
            <a:off x="537845" y="1844824"/>
            <a:ext cx="8029575" cy="4238625"/>
          </a:xfrm>
        </p:spPr>
        <p:txBody>
          <a:bodyPr vert="horz" wrap="square" lIns="91440" tIns="45720" rIns="91440" bIns="45720" anchor="t"/>
          <a:lstStyle/>
          <a:p>
            <a:pPr eaLnBrk="1" hangingPunct="1">
              <a:lnSpc>
                <a:spcPct val="140000"/>
              </a:lnSpc>
            </a:pPr>
            <a:r>
              <a:rPr lang="zh-CN" altLang="en-US" b="1" dirty="0">
                <a:solidFill>
                  <a:schemeClr val="folHlink"/>
                </a:solidFill>
                <a:latin typeface="华文中宋" panose="02010600040101010101" pitchFamily="2" charset="-122"/>
                <a:ea typeface="华文中宋" panose="02010600040101010101" pitchFamily="2" charset="-122"/>
              </a:rPr>
              <a:t>结晶过程</a:t>
            </a:r>
            <a:r>
              <a:rPr lang="zh-CN" altLang="en-US" b="1" dirty="0">
                <a:ea typeface="华文中宋" panose="02010600040101010101" pitchFamily="2" charset="-122"/>
              </a:rPr>
              <a:t>：</a:t>
            </a:r>
            <a:r>
              <a:rPr lang="zh-CN" altLang="en-US" b="1" dirty="0">
                <a:solidFill>
                  <a:srgbClr val="CC0000"/>
                </a:solidFill>
                <a:ea typeface="华文中宋" panose="02010600040101010101" pitchFamily="2" charset="-122"/>
                <a:sym typeface="Symbol" panose="05050102010706020507" pitchFamily="18" charset="2"/>
              </a:rPr>
              <a:t> </a:t>
            </a:r>
            <a:r>
              <a:rPr lang="zh-CN" altLang="en-US" b="1" dirty="0">
                <a:ea typeface="华文中宋" panose="02010600040101010101" pitchFamily="2" charset="-122"/>
              </a:rPr>
              <a:t>匀晶（</a:t>
            </a:r>
            <a:r>
              <a:rPr lang="en-US" altLang="zh-CN" b="1" dirty="0">
                <a:ea typeface="华文中宋" panose="02010600040101010101" pitchFamily="2" charset="-122"/>
              </a:rPr>
              <a:t>1</a:t>
            </a:r>
            <a:r>
              <a:rPr lang="zh-CN" altLang="en-US" b="1" dirty="0">
                <a:ea typeface="华文中宋" panose="02010600040101010101" pitchFamily="2" charset="-122"/>
                <a:sym typeface="Symbol" panose="05050102010706020507" pitchFamily="18" charset="2"/>
              </a:rPr>
              <a:t>  </a:t>
            </a:r>
            <a:r>
              <a:rPr lang="en-US" altLang="zh-CN" b="1" dirty="0">
                <a:ea typeface="华文中宋" panose="02010600040101010101" pitchFamily="2" charset="-122"/>
                <a:sym typeface="Symbol" panose="05050102010706020507" pitchFamily="18" charset="2"/>
              </a:rPr>
              <a:t>2</a:t>
            </a:r>
            <a:r>
              <a:rPr lang="zh-CN" altLang="en-US" b="1" dirty="0">
                <a:ea typeface="华文中宋" panose="02010600040101010101" pitchFamily="2" charset="-122"/>
                <a:sym typeface="Symbol" panose="05050102010706020507" pitchFamily="18" charset="2"/>
              </a:rPr>
              <a:t>：</a:t>
            </a:r>
            <a:r>
              <a:rPr lang="en-US" altLang="zh-CN" b="1" i="1" dirty="0">
                <a:solidFill>
                  <a:schemeClr val="folHlink"/>
                </a:solidFill>
                <a:ea typeface="华文中宋" panose="02010600040101010101" pitchFamily="2" charset="-122"/>
                <a:sym typeface="Symbol" panose="05050102010706020507" pitchFamily="18" charset="2"/>
              </a:rPr>
              <a:t>  </a:t>
            </a:r>
            <a:r>
              <a:rPr lang="zh-CN" altLang="en-US" b="1" dirty="0">
                <a:ea typeface="华文中宋" panose="02010600040101010101" pitchFamily="2" charset="-122"/>
                <a:sym typeface="Symbol" panose="05050102010706020507" pitchFamily="18" charset="2"/>
              </a:rPr>
              <a:t>）包晶（</a:t>
            </a:r>
            <a:r>
              <a:rPr lang="en-US" altLang="zh-CN" b="1" dirty="0">
                <a:ea typeface="华文中宋" panose="02010600040101010101" pitchFamily="2" charset="-122"/>
                <a:sym typeface="Symbol" panose="05050102010706020507" pitchFamily="18" charset="2"/>
              </a:rPr>
              <a:t>2</a:t>
            </a:r>
            <a:r>
              <a:rPr lang="zh-CN" altLang="en-US" b="1" dirty="0">
                <a:ea typeface="华文中宋" panose="02010600040101010101" pitchFamily="2" charset="-122"/>
                <a:sym typeface="Symbol" panose="05050102010706020507" pitchFamily="18" charset="2"/>
              </a:rPr>
              <a:t>点）</a:t>
            </a:r>
            <a:r>
              <a:rPr lang="zh-CN" altLang="en-US" b="1" dirty="0">
                <a:ea typeface="华文中宋" panose="02010600040101010101" pitchFamily="2" charset="-122"/>
              </a:rPr>
              <a:t>匀晶（</a:t>
            </a:r>
            <a:r>
              <a:rPr lang="en-US" altLang="zh-CN" b="1" dirty="0">
                <a:ea typeface="华文中宋" panose="02010600040101010101" pitchFamily="2" charset="-122"/>
              </a:rPr>
              <a:t>2</a:t>
            </a:r>
            <a:r>
              <a:rPr lang="zh-CN" altLang="en-US" b="1" dirty="0">
                <a:ea typeface="华文中宋" panose="02010600040101010101" pitchFamily="2" charset="-122"/>
                <a:sym typeface="Symbol" panose="05050102010706020507" pitchFamily="18" charset="2"/>
              </a:rPr>
              <a:t>  </a:t>
            </a:r>
            <a:r>
              <a:rPr lang="en-US" altLang="zh-CN" b="1" dirty="0">
                <a:ea typeface="华文中宋" panose="02010600040101010101" pitchFamily="2" charset="-122"/>
                <a:sym typeface="Symbol" panose="05050102010706020507" pitchFamily="18" charset="2"/>
              </a:rPr>
              <a:t>3</a:t>
            </a:r>
            <a:r>
              <a:rPr lang="zh-CN" altLang="en-US" b="1" dirty="0">
                <a:ea typeface="华文中宋" panose="02010600040101010101" pitchFamily="2" charset="-122"/>
                <a:sym typeface="Symbol" panose="05050102010706020507" pitchFamily="18" charset="2"/>
              </a:rPr>
              <a:t>：</a:t>
            </a:r>
            <a:r>
              <a:rPr lang="en-US" altLang="zh-CN" b="1" i="1" dirty="0">
                <a:solidFill>
                  <a:schemeClr val="folHlink"/>
                </a:solidFill>
                <a:ea typeface="华文中宋" panose="02010600040101010101" pitchFamily="2" charset="-122"/>
                <a:sym typeface="Symbol" panose="05050102010706020507" pitchFamily="18" charset="2"/>
              </a:rPr>
              <a:t> β </a:t>
            </a:r>
            <a:r>
              <a:rPr lang="zh-CN" altLang="en-US" b="1" dirty="0">
                <a:ea typeface="华文中宋" panose="02010600040101010101" pitchFamily="2" charset="-122"/>
              </a:rPr>
              <a:t>）</a:t>
            </a:r>
            <a:r>
              <a:rPr lang="zh-CN" altLang="en-US" b="1" dirty="0">
                <a:ea typeface="华文中宋" panose="02010600040101010101" pitchFamily="2" charset="-122"/>
                <a:sym typeface="Symbol" panose="05050102010706020507" pitchFamily="18" charset="2"/>
              </a:rPr>
              <a:t>二次析出（</a:t>
            </a:r>
            <a:r>
              <a:rPr lang="en-US" altLang="zh-CN" b="1" dirty="0">
                <a:ea typeface="华文中宋" panose="02010600040101010101" pitchFamily="2" charset="-122"/>
                <a:sym typeface="Symbol" panose="05050102010706020507" pitchFamily="18" charset="2"/>
              </a:rPr>
              <a:t>3</a:t>
            </a:r>
            <a:r>
              <a:rPr lang="zh-CN" altLang="en-US" b="1" dirty="0">
                <a:ea typeface="华文中宋" panose="02010600040101010101" pitchFamily="2" charset="-122"/>
                <a:sym typeface="Symbol" panose="05050102010706020507" pitchFamily="18" charset="2"/>
              </a:rPr>
              <a:t>点以下：</a:t>
            </a:r>
            <a:r>
              <a:rPr lang="en-US" altLang="zh-CN" b="1" i="1" dirty="0">
                <a:solidFill>
                  <a:schemeClr val="folHlink"/>
                </a:solidFill>
                <a:ea typeface="华文中宋" panose="02010600040101010101" pitchFamily="2" charset="-122"/>
                <a:sym typeface="Symbol" panose="05050102010706020507" pitchFamily="18" charset="2"/>
              </a:rPr>
              <a:t> </a:t>
            </a:r>
            <a:r>
              <a:rPr lang="en-US" altLang="zh-CN" b="1" baseline="-30000" dirty="0">
                <a:solidFill>
                  <a:schemeClr val="folHlink"/>
                </a:solidFill>
                <a:ea typeface="华文中宋" panose="02010600040101010101" pitchFamily="2" charset="-122"/>
                <a:sym typeface="Symbol" panose="05050102010706020507" pitchFamily="18" charset="2"/>
              </a:rPr>
              <a:t>II</a:t>
            </a:r>
            <a:r>
              <a:rPr lang="en-US" altLang="zh-CN" b="1" i="1" dirty="0">
                <a:solidFill>
                  <a:schemeClr val="folHlink"/>
                </a:solidFill>
                <a:ea typeface="华文中宋" panose="02010600040101010101" pitchFamily="2" charset="-122"/>
                <a:sym typeface="Symbol" panose="05050102010706020507" pitchFamily="18" charset="2"/>
              </a:rPr>
              <a:t> </a:t>
            </a:r>
            <a:r>
              <a:rPr lang="zh-CN" altLang="en-US" b="1" dirty="0">
                <a:ea typeface="华文中宋" panose="02010600040101010101" pitchFamily="2" charset="-122"/>
                <a:sym typeface="Symbol" panose="05050102010706020507" pitchFamily="18" charset="2"/>
              </a:rPr>
              <a:t>）</a:t>
            </a:r>
          </a:p>
          <a:p>
            <a:pPr eaLnBrk="1" hangingPunct="1">
              <a:lnSpc>
                <a:spcPct val="140000"/>
              </a:lnSpc>
            </a:pPr>
            <a:r>
              <a:rPr lang="zh-CN" altLang="en-US" b="1" dirty="0">
                <a:solidFill>
                  <a:schemeClr val="folHlink"/>
                </a:solidFill>
                <a:ea typeface="华文中宋" panose="02010600040101010101" pitchFamily="2" charset="-122"/>
                <a:sym typeface="Symbol" panose="05050102010706020507" pitchFamily="18" charset="2"/>
              </a:rPr>
              <a:t>室温组织</a:t>
            </a:r>
            <a:r>
              <a:rPr lang="zh-CN" altLang="en-US" b="1" dirty="0">
                <a:ea typeface="华文中宋" panose="02010600040101010101" pitchFamily="2" charset="-122"/>
                <a:sym typeface="Symbol" panose="05050102010706020507" pitchFamily="18" charset="2"/>
              </a:rPr>
              <a:t>：</a:t>
            </a:r>
            <a:r>
              <a:rPr lang="en-US" altLang="zh-CN" b="1" i="1" dirty="0">
                <a:solidFill>
                  <a:schemeClr val="folHlink"/>
                </a:solidFill>
                <a:ea typeface="华文中宋" panose="02010600040101010101" pitchFamily="2" charset="-122"/>
                <a:sym typeface="Symbol" panose="05050102010706020507" pitchFamily="18" charset="2"/>
              </a:rPr>
              <a:t>β </a:t>
            </a:r>
            <a:r>
              <a:rPr lang="en-US" altLang="zh-CN" b="1" dirty="0">
                <a:solidFill>
                  <a:schemeClr val="folHlink"/>
                </a:solidFill>
                <a:ea typeface="华文中宋" panose="02010600040101010101" pitchFamily="2" charset="-122"/>
                <a:sym typeface="Symbol" panose="05050102010706020507" pitchFamily="18" charset="2"/>
              </a:rPr>
              <a:t>+</a:t>
            </a:r>
            <a:r>
              <a:rPr lang="en-US" altLang="zh-CN" b="1" i="1" dirty="0">
                <a:solidFill>
                  <a:schemeClr val="folHlink"/>
                </a:solidFill>
                <a:ea typeface="华文中宋" panose="02010600040101010101" pitchFamily="2" charset="-122"/>
                <a:sym typeface="Symbol" panose="05050102010706020507" pitchFamily="18" charset="2"/>
              </a:rPr>
              <a:t></a:t>
            </a:r>
            <a:r>
              <a:rPr lang="en-US" altLang="zh-CN" b="1" baseline="-30000" dirty="0">
                <a:solidFill>
                  <a:schemeClr val="folHlink"/>
                </a:solidFill>
                <a:ea typeface="华文中宋" panose="02010600040101010101" pitchFamily="2" charset="-122"/>
                <a:sym typeface="Symbol" panose="05050102010706020507" pitchFamily="18" charset="2"/>
              </a:rPr>
              <a:t>II</a:t>
            </a:r>
            <a:r>
              <a:rPr lang="zh-CN" altLang="en-US" b="1" dirty="0">
                <a:ea typeface="华文中宋" panose="02010600040101010101" pitchFamily="2" charset="-122"/>
                <a:sym typeface="Symbol" panose="05050102010706020507" pitchFamily="18" charset="2"/>
              </a:rPr>
              <a:t>。</a:t>
            </a:r>
          </a:p>
        </p:txBody>
      </p:sp>
      <p:pic>
        <p:nvPicPr>
          <p:cNvPr id="87046" name="Picture 4" descr="图3-21"/>
          <p:cNvPicPr>
            <a:picLocks noChangeAspect="1"/>
          </p:cNvPicPr>
          <p:nvPr/>
        </p:nvPicPr>
        <p:blipFill>
          <a:blip r:embed="rId2"/>
          <a:stretch>
            <a:fillRect/>
          </a:stretch>
        </p:blipFill>
        <p:spPr>
          <a:xfrm>
            <a:off x="5260641" y="3429000"/>
            <a:ext cx="3319780" cy="3227705"/>
          </a:xfrm>
          <a:prstGeom prst="rect">
            <a:avLst/>
          </a:prstGeom>
          <a:noFill/>
          <a:ln w="9525">
            <a:noFill/>
          </a:ln>
        </p:spPr>
      </p:pic>
      <p:pic>
        <p:nvPicPr>
          <p:cNvPr id="8" name="内容占位符 1" descr="新校徽（3M）弓之乐"/>
          <p:cNvPicPr>
            <a:picLocks noChangeAspect="1"/>
          </p:cNvPicPr>
          <p:nvPr/>
        </p:nvPicPr>
        <p:blipFill>
          <a:blip r:embed="rId3"/>
          <a:stretch>
            <a:fillRect/>
          </a:stretch>
        </p:blipFill>
        <p:spPr>
          <a:xfrm>
            <a:off x="0" y="0"/>
            <a:ext cx="746760" cy="735965"/>
          </a:xfrm>
          <a:prstGeom prst="rect">
            <a:avLst/>
          </a:prstGeom>
          <a:noFill/>
          <a:ln w="9525">
            <a:noFill/>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331888" y="1269395"/>
            <a:ext cx="6999312" cy="1869728"/>
          </a:xfrm>
        </p:spPr>
        <p:txBody>
          <a:bodyPr/>
          <a:lstStyle/>
          <a:p>
            <a:pPr algn="ctr"/>
            <a:r>
              <a:rPr kumimoji="1" lang="en-US" altLang="zh-CN" sz="6000" b="1" i="0" u="none" strike="noStrike" kern="0" cap="none" spc="0" normalizeH="0" baseline="0" noProof="0" dirty="0">
                <a:ln>
                  <a:noFill/>
                </a:ln>
                <a:solidFill>
                  <a:srgbClr val="FF0000"/>
                </a:solidFill>
                <a:uLnTx/>
                <a:uFillTx/>
                <a:latin typeface="华文中宋" panose="02010600040101010101" pitchFamily="2" charset="-122"/>
                <a:ea typeface="华文中宋" panose="02010600040101010101" pitchFamily="2" charset="-122"/>
                <a:cs typeface="+mj-cs"/>
              </a:rPr>
              <a:t>4</a:t>
            </a:r>
            <a:r>
              <a:rPr kumimoji="1" lang="zh-CN" altLang="en-US" sz="6000" b="1" i="0" u="none" strike="noStrike" kern="0" cap="none" spc="0" normalizeH="0" baseline="0" noProof="0" dirty="0">
                <a:ln>
                  <a:noFill/>
                </a:ln>
                <a:solidFill>
                  <a:srgbClr val="FF0000"/>
                </a:solidFill>
                <a:uLnTx/>
                <a:uFillTx/>
                <a:latin typeface="华文中宋" panose="02010600040101010101" pitchFamily="2" charset="-122"/>
                <a:ea typeface="华文中宋" panose="02010600040101010101" pitchFamily="2" charset="-122"/>
              </a:rPr>
              <a:t>、形成稳定化合物的二元相图</a:t>
            </a:r>
            <a:endParaRPr lang="zh-CN" altLang="en-US" sz="6000" dirty="0">
              <a:solidFill>
                <a:srgbClr val="FF0000"/>
              </a:solidFill>
            </a:endParaRPr>
          </a:p>
        </p:txBody>
      </p:sp>
      <p:sp>
        <p:nvSpPr>
          <p:cNvPr id="5" name="日期占位符 1"/>
          <p:cNvSpPr txBox="1"/>
          <p:nvPr/>
        </p:nvSpPr>
        <p:spPr>
          <a:xfrm>
            <a:off x="19685" y="6529929"/>
            <a:ext cx="1905000" cy="342900"/>
          </a:xfrm>
          <a:prstGeom prst="rect">
            <a:avLst/>
          </a:prstGeom>
        </p:spPr>
        <p:txBody>
          <a:bodyPr wrap="square" lIns="91440" tIns="45720" rIns="91440" bIns="45720" anchor="b"/>
          <a:lstStyle>
            <a:defPPr>
              <a:defRPr lang="zh-CN"/>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9pPr>
          </a:lstStyle>
          <a:p>
            <a:fld id="{BB962C8B-B14F-4D97-AF65-F5344CB8AC3E}" type="datetime8">
              <a:rPr lang="en-US" altLang="zh-CN" sz="1400" smtClean="0"/>
              <a:t>11/20/2025 5:38 PM</a:t>
            </a:fld>
            <a:endParaRPr lang="en-US" altLang="zh-CN" sz="1400" dirty="0"/>
          </a:p>
        </p:txBody>
      </p:sp>
      <p:sp>
        <p:nvSpPr>
          <p:cNvPr id="6" name="灯片编号占位符 3"/>
          <p:cNvSpPr txBox="1"/>
          <p:nvPr/>
        </p:nvSpPr>
        <p:spPr bwMode="auto">
          <a:xfrm>
            <a:off x="8316416" y="6529928"/>
            <a:ext cx="630734" cy="328072"/>
          </a:xfrm>
          <a:prstGeom prst="rect">
            <a:avLst/>
          </a:prstGeom>
          <a:noFill/>
          <a:ln w="9525">
            <a:noFill/>
            <a:miter lim="800000"/>
          </a:ln>
          <a:effectLst/>
        </p:spPr>
        <p:txBody>
          <a:bodyPr vert="horz" wrap="square" lIns="91440" tIns="45720" rIns="91440" bIns="45720" numCol="1" anchor="b" anchorCtr="0" compatLnSpc="1"/>
          <a:ls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9pPr>
          </a:lstStyle>
          <a:p>
            <a:pPr algn="r"/>
            <a:fld id="{9A0DB2DC-4C9A-4742-B13C-FB6460FD3503}" type="slidenum">
              <a:rPr lang="en-US" altLang="zh-CN" sz="1400" noProof="1" smtClean="0">
                <a:cs typeface="+mn-ea"/>
              </a:rPr>
              <a:t>89</a:t>
            </a:fld>
            <a:endParaRPr lang="en-US" altLang="zh-CN" sz="1400" dirty="0"/>
          </a:p>
        </p:txBody>
      </p:sp>
      <p:sp>
        <p:nvSpPr>
          <p:cNvPr id="3" name="文本框 2"/>
          <p:cNvSpPr txBox="1"/>
          <p:nvPr/>
        </p:nvSpPr>
        <p:spPr>
          <a:xfrm>
            <a:off x="264160" y="3260725"/>
            <a:ext cx="8260715" cy="1980565"/>
          </a:xfrm>
          <a:prstGeom prst="rect">
            <a:avLst/>
          </a:prstGeom>
        </p:spPr>
        <p:txBody>
          <a:bodyPr wrap="square">
            <a:noAutofit/>
          </a:bodyPr>
          <a:lstStyle/>
          <a:p>
            <a:pPr marL="0" indent="0" algn="ctr"/>
            <a:r>
              <a:rPr lang="en-US" altLang="zh-CN" sz="5400" b="1" i="1">
                <a:solidFill>
                  <a:srgbClr val="FF0000"/>
                </a:solidFill>
                <a:latin typeface="Times New Roman" panose="02020603050405020304" pitchFamily="18" charset="0"/>
                <a:ea typeface="微软雅黑" panose="020B0503020204020204" charset="-122"/>
                <a:cs typeface="Times New Roman" panose="02020603050405020304" pitchFamily="18" charset="0"/>
              </a:rPr>
              <a:t>Binary phase diagram forming a stable compound</a:t>
            </a:r>
          </a:p>
        </p:txBody>
      </p:sp>
      <p:pic>
        <p:nvPicPr>
          <p:cNvPr id="4"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264" t="15784" r="3206" b="19580"/>
          <a:stretch>
            <a:fillRect/>
          </a:stretch>
        </p:blipFill>
        <p:spPr bwMode="auto">
          <a:xfrm>
            <a:off x="0" y="0"/>
            <a:ext cx="2372995" cy="582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日期占位符 3"/>
          <p:cNvSpPr txBox="1">
            <a:spLocks noGrp="1"/>
          </p:cNvSpPr>
          <p:nvPr>
            <p:ph type="dt" sz="half" idx="10"/>
          </p:nvPr>
        </p:nvSpPr>
        <p:spPr>
          <a:xfrm>
            <a:off x="0" y="6510338"/>
            <a:ext cx="2376488"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88067" name="灯片编号占位符 5"/>
          <p:cNvSpPr txBox="1">
            <a:spLocks noGrp="1"/>
          </p:cNvSpPr>
          <p:nvPr>
            <p:ph type="sldNum" sz="quarter" idx="12"/>
          </p:nvPr>
        </p:nvSpPr>
        <p:spPr>
          <a:xfrm>
            <a:off x="8653780" y="6597015"/>
            <a:ext cx="490855" cy="260985"/>
          </a:xfrm>
        </p:spPr>
        <p:txBody>
          <a:bodyPr lIns="92075" tIns="46038" rIns="92075" bIns="46038" anchor="ctr"/>
          <a:lstStyle/>
          <a:p>
            <a:pPr algn="r" eaLnBrk="1" hangingPunct="1"/>
            <a:fld id="{9A0DB2DC-4C9A-4742-B13C-FB6460FD3503}" type="slidenum">
              <a:rPr lang="en-US" altLang="zh-CN" sz="1400" dirty="0"/>
              <a:t>90</a:t>
            </a:fld>
            <a:endParaRPr lang="en-US" altLang="zh-CN" sz="1400" dirty="0"/>
          </a:p>
        </p:txBody>
      </p:sp>
      <p:sp>
        <p:nvSpPr>
          <p:cNvPr id="92162" name="Rectangle 2"/>
          <p:cNvSpPr>
            <a:spLocks noGrp="1" noChangeArrowheads="1"/>
          </p:cNvSpPr>
          <p:nvPr>
            <p:ph type="title"/>
          </p:nvPr>
        </p:nvSpPr>
        <p:spPr>
          <a:xfrm>
            <a:off x="1103312" y="188574"/>
            <a:ext cx="7812088" cy="1101566"/>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华文中宋" panose="02010600040101010101" pitchFamily="2" charset="-122"/>
                <a:ea typeface="华文中宋" panose="02010600040101010101" pitchFamily="2" charset="-122"/>
                <a:cs typeface="+mj-cs"/>
              </a:rPr>
              <a:t>4</a:t>
            </a:r>
            <a:r>
              <a:rPr kumimoji="1" lang="zh-CN" altLang="en-US" sz="4400" b="1" i="0" u="none" strike="noStrike" kern="0" cap="none" spc="0" normalizeH="0" baseline="0" noProof="0" dirty="0">
                <a:ln>
                  <a:noFill/>
                </a:ln>
                <a:solidFill>
                  <a:srgbClr val="FF0000"/>
                </a:solidFill>
                <a:uLnTx/>
                <a:uFillTx/>
                <a:latin typeface="华文中宋" panose="02010600040101010101" pitchFamily="2" charset="-122"/>
                <a:ea typeface="华文中宋" panose="02010600040101010101" pitchFamily="2" charset="-122"/>
                <a:cs typeface="+mj-cs"/>
              </a:rPr>
              <a:t>、形成稳定化合物的二元相图</a:t>
            </a:r>
          </a:p>
        </p:txBody>
      </p:sp>
      <p:sp>
        <p:nvSpPr>
          <p:cNvPr id="92163" name="Rectangle 3"/>
          <p:cNvSpPr>
            <a:spLocks noGrp="1"/>
          </p:cNvSpPr>
          <p:nvPr>
            <p:ph idx="1"/>
          </p:nvPr>
        </p:nvSpPr>
        <p:spPr>
          <a:xfrm>
            <a:off x="304800" y="1925421"/>
            <a:ext cx="8610600" cy="2189377"/>
          </a:xfrm>
        </p:spPr>
        <p:txBody>
          <a:bodyPr vert="horz" wrap="square" lIns="91440" tIns="45720" rIns="91440" bIns="45720" anchor="t"/>
          <a:lstStyle/>
          <a:p>
            <a:pPr eaLnBrk="1" hangingPunct="1">
              <a:lnSpc>
                <a:spcPct val="110000"/>
              </a:lnSpc>
            </a:pPr>
            <a:r>
              <a:rPr lang="zh-CN" altLang="en-US" sz="2800" b="1" dirty="0">
                <a:solidFill>
                  <a:srgbClr val="0000FF"/>
                </a:solidFill>
                <a:ea typeface="华文中宋" panose="02010600040101010101" pitchFamily="2" charset="-122"/>
              </a:rPr>
              <a:t>稳定化合物</a:t>
            </a:r>
            <a:r>
              <a:rPr lang="zh-CN" altLang="en-US" sz="2800" b="1" dirty="0">
                <a:ea typeface="华文中宋" panose="02010600040101010101" pitchFamily="2" charset="-122"/>
              </a:rPr>
              <a:t>：在</a:t>
            </a:r>
            <a:r>
              <a:rPr lang="zh-CN" altLang="en-US" sz="2800" b="1" dirty="0">
                <a:solidFill>
                  <a:srgbClr val="0000FF"/>
                </a:solidFill>
                <a:ea typeface="华文中宋" panose="02010600040101010101" pitchFamily="2" charset="-122"/>
              </a:rPr>
              <a:t>熔化前不发生分解</a:t>
            </a:r>
            <a:r>
              <a:rPr lang="zh-CN" altLang="en-US" sz="2800" b="1" dirty="0">
                <a:ea typeface="华文中宋" panose="02010600040101010101" pitchFamily="2" charset="-122"/>
              </a:rPr>
              <a:t>的化合物</a:t>
            </a:r>
            <a:r>
              <a:rPr lang="en-US" altLang="zh-CN" sz="2800" b="1" dirty="0">
                <a:ea typeface="华文中宋" panose="02010600040101010101" pitchFamily="2" charset="-122"/>
              </a:rPr>
              <a:t>(</a:t>
            </a:r>
            <a:r>
              <a:rPr lang="zh-CN" altLang="en-US" sz="2800" b="1" dirty="0">
                <a:ea typeface="华文中宋" panose="02010600040101010101" pitchFamily="2" charset="-122"/>
              </a:rPr>
              <a:t>如</a:t>
            </a:r>
            <a:r>
              <a:rPr lang="en-US" altLang="zh-CN" sz="2800" b="1" dirty="0">
                <a:ea typeface="华文中宋" panose="02010600040101010101" pitchFamily="2" charset="-122"/>
              </a:rPr>
              <a:t>Mg-Si</a:t>
            </a:r>
            <a:r>
              <a:rPr lang="zh-CN" altLang="en-US" sz="2800" b="1" dirty="0">
                <a:ea typeface="华文中宋" panose="02010600040101010101" pitchFamily="2" charset="-122"/>
              </a:rPr>
              <a:t>系的</a:t>
            </a:r>
            <a:r>
              <a:rPr lang="en-US" altLang="zh-CN" sz="2800" b="1" dirty="0">
                <a:ea typeface="华文中宋" panose="02010600040101010101" pitchFamily="2" charset="-122"/>
              </a:rPr>
              <a:t>Mg</a:t>
            </a:r>
            <a:r>
              <a:rPr lang="en-US" altLang="zh-CN" sz="2800" b="1" baseline="-25000" dirty="0">
                <a:ea typeface="华文中宋" panose="02010600040101010101" pitchFamily="2" charset="-122"/>
              </a:rPr>
              <a:t>2</a:t>
            </a:r>
            <a:r>
              <a:rPr lang="en-US" altLang="zh-CN" sz="2800" b="1" dirty="0">
                <a:ea typeface="华文中宋" panose="02010600040101010101" pitchFamily="2" charset="-122"/>
              </a:rPr>
              <a:t>Si</a:t>
            </a:r>
            <a:r>
              <a:rPr lang="zh-CN" altLang="en-US" sz="2800" b="1" dirty="0">
                <a:ea typeface="华文中宋" panose="02010600040101010101" pitchFamily="2" charset="-122"/>
              </a:rPr>
              <a:t>和</a:t>
            </a:r>
            <a:r>
              <a:rPr lang="en-US" altLang="zh-CN" sz="2800" b="1" dirty="0">
                <a:ea typeface="华文中宋" panose="02010600040101010101" pitchFamily="2" charset="-122"/>
              </a:rPr>
              <a:t>Fe-C</a:t>
            </a:r>
            <a:r>
              <a:rPr lang="zh-CN" altLang="en-US" sz="2800" b="1" dirty="0">
                <a:ea typeface="华文中宋" panose="02010600040101010101" pitchFamily="2" charset="-122"/>
              </a:rPr>
              <a:t>系的</a:t>
            </a:r>
            <a:r>
              <a:rPr lang="en-US" altLang="zh-CN" sz="2800" b="1" dirty="0">
                <a:ea typeface="华文中宋" panose="02010600040101010101" pitchFamily="2" charset="-122"/>
              </a:rPr>
              <a:t>Fe</a:t>
            </a:r>
            <a:r>
              <a:rPr lang="en-US" altLang="zh-CN" sz="2800" b="1" baseline="-25000" dirty="0">
                <a:ea typeface="华文中宋" panose="02010600040101010101" pitchFamily="2" charset="-122"/>
              </a:rPr>
              <a:t>3</a:t>
            </a:r>
            <a:r>
              <a:rPr lang="en-US" altLang="zh-CN" sz="2800" b="1" dirty="0">
                <a:ea typeface="华文中宋" panose="02010600040101010101" pitchFamily="2" charset="-122"/>
              </a:rPr>
              <a:t>C) </a:t>
            </a:r>
            <a:r>
              <a:rPr lang="zh-CN" altLang="en-US" sz="2800" b="1" dirty="0">
                <a:ea typeface="华文中宋" panose="02010600040101010101" pitchFamily="2" charset="-122"/>
              </a:rPr>
              <a:t>。其</a:t>
            </a:r>
            <a:r>
              <a:rPr lang="zh-CN" altLang="en-US" sz="2800" b="1" dirty="0">
                <a:solidFill>
                  <a:srgbClr val="0000FF"/>
                </a:solidFill>
                <a:ea typeface="华文中宋" panose="02010600040101010101" pitchFamily="2" charset="-122"/>
              </a:rPr>
              <a:t>成分固定</a:t>
            </a:r>
            <a:r>
              <a:rPr lang="zh-CN" altLang="en-US" sz="2800" b="1" dirty="0">
                <a:ea typeface="华文中宋" panose="02010600040101010101" pitchFamily="2" charset="-122"/>
              </a:rPr>
              <a:t>，在相图中是一条</a:t>
            </a:r>
            <a:r>
              <a:rPr lang="zh-CN" altLang="en-US" sz="2800" b="1" dirty="0">
                <a:solidFill>
                  <a:srgbClr val="0000FF"/>
                </a:solidFill>
                <a:ea typeface="华文中宋" panose="02010600040101010101" pitchFamily="2" charset="-122"/>
              </a:rPr>
              <a:t>垂线</a:t>
            </a:r>
            <a:r>
              <a:rPr lang="en-US" altLang="zh-CN" sz="2800" b="1" dirty="0">
                <a:ea typeface="华文中宋" panose="02010600040101010101" pitchFamily="2" charset="-122"/>
              </a:rPr>
              <a:t>(</a:t>
            </a:r>
            <a:r>
              <a:rPr lang="zh-CN" altLang="en-US" sz="2800" b="1" dirty="0">
                <a:ea typeface="华文中宋" panose="02010600040101010101" pitchFamily="2" charset="-122"/>
              </a:rPr>
              <a:t>代表一个</a:t>
            </a:r>
            <a:r>
              <a:rPr lang="zh-CN" altLang="en-US" sz="2800" b="1" dirty="0">
                <a:solidFill>
                  <a:srgbClr val="0000FF"/>
                </a:solidFill>
                <a:ea typeface="华文中宋" panose="02010600040101010101" pitchFamily="2" charset="-122"/>
              </a:rPr>
              <a:t>单相区</a:t>
            </a:r>
            <a:r>
              <a:rPr lang="en-US" altLang="zh-CN" sz="2800" b="1" dirty="0">
                <a:ea typeface="华文中宋" panose="02010600040101010101" pitchFamily="2" charset="-122"/>
              </a:rPr>
              <a:t>)</a:t>
            </a:r>
            <a:r>
              <a:rPr lang="zh-CN" altLang="en-US" sz="2800" b="1" dirty="0">
                <a:ea typeface="华文中宋" panose="02010600040101010101" pitchFamily="2" charset="-122"/>
              </a:rPr>
              <a:t>。</a:t>
            </a:r>
            <a:r>
              <a:rPr lang="zh-CN" altLang="en-US" sz="2800" b="1" dirty="0">
                <a:solidFill>
                  <a:srgbClr val="0000FF"/>
                </a:solidFill>
                <a:ea typeface="华文中宋" panose="02010600040101010101" pitchFamily="2" charset="-122"/>
              </a:rPr>
              <a:t>垂足</a:t>
            </a:r>
            <a:r>
              <a:rPr lang="zh-CN" altLang="en-US" sz="2800" b="1" dirty="0">
                <a:ea typeface="华文中宋" panose="02010600040101010101" pitchFamily="2" charset="-122"/>
              </a:rPr>
              <a:t>是其</a:t>
            </a:r>
          </a:p>
        </p:txBody>
      </p:sp>
      <p:sp>
        <p:nvSpPr>
          <p:cNvPr id="92164" name="Rectangle 4"/>
          <p:cNvSpPr/>
          <p:nvPr/>
        </p:nvSpPr>
        <p:spPr>
          <a:xfrm>
            <a:off x="357123" y="3339954"/>
            <a:ext cx="4649967" cy="3312968"/>
          </a:xfrm>
          <a:prstGeom prst="rect">
            <a:avLst/>
          </a:prstGeom>
          <a:noFill/>
          <a:ln w="9525">
            <a:noFill/>
          </a:ln>
        </p:spPr>
        <p:txBody>
          <a:bodyPr/>
          <a:lstStyle/>
          <a:p>
            <a:pPr marL="342900" lvl="0" indent="-342900" eaLnBrk="1" hangingPunct="1">
              <a:lnSpc>
                <a:spcPct val="140000"/>
              </a:lnSpc>
              <a:spcBef>
                <a:spcPct val="20000"/>
              </a:spcBef>
              <a:buClr>
                <a:schemeClr val="accent2"/>
              </a:buClr>
              <a:buSzPct val="80000"/>
              <a:buFont typeface="Wingdings" panose="05000000000000000000" pitchFamily="2" charset="2"/>
              <a:buNone/>
            </a:pPr>
            <a:r>
              <a:rPr lang="en-US" altLang="zh-CN" sz="2800" b="1" dirty="0">
                <a:solidFill>
                  <a:srgbClr val="CCFF33"/>
                </a:solidFill>
                <a:latin typeface="Times New Roman" panose="02020603050405020304" pitchFamily="18" charset="0"/>
                <a:ea typeface="华文中宋" panose="02010600040101010101" pitchFamily="2" charset="-122"/>
              </a:rPr>
              <a:t>    </a:t>
            </a:r>
            <a:r>
              <a:rPr lang="zh-CN" altLang="en-US" sz="2800" b="1" kern="0" dirty="0">
                <a:solidFill>
                  <a:srgbClr val="0000FF"/>
                </a:solidFill>
                <a:latin typeface="+mn-lt"/>
                <a:ea typeface="华文中宋" panose="02010600040101010101" pitchFamily="2" charset="-122"/>
              </a:rPr>
              <a:t>成分</a:t>
            </a:r>
            <a:r>
              <a:rPr lang="en-US" altLang="zh-CN" sz="2800" b="1" dirty="0">
                <a:latin typeface="Times New Roman" panose="02020603050405020304" pitchFamily="18" charset="0"/>
                <a:ea typeface="华文中宋" panose="02010600040101010101" pitchFamily="2" charset="-122"/>
              </a:rPr>
              <a:t>, </a:t>
            </a:r>
            <a:r>
              <a:rPr lang="zh-CN" altLang="en-US" sz="2800" b="1" kern="0" dirty="0">
                <a:solidFill>
                  <a:srgbClr val="0000FF"/>
                </a:solidFill>
                <a:latin typeface="+mn-lt"/>
                <a:ea typeface="华文中宋" panose="02010600040101010101" pitchFamily="2" charset="-122"/>
              </a:rPr>
              <a:t>顶点</a:t>
            </a:r>
            <a:r>
              <a:rPr lang="zh-CN" altLang="en-US" sz="2800" b="1" dirty="0">
                <a:latin typeface="Times New Roman" panose="02020603050405020304" pitchFamily="18" charset="0"/>
                <a:ea typeface="华文中宋" panose="02010600040101010101" pitchFamily="2" charset="-122"/>
              </a:rPr>
              <a:t>是其</a:t>
            </a:r>
            <a:r>
              <a:rPr lang="zh-CN" altLang="en-US" sz="2800" b="1" kern="0" dirty="0">
                <a:solidFill>
                  <a:srgbClr val="0000FF"/>
                </a:solidFill>
                <a:latin typeface="+mn-lt"/>
                <a:ea typeface="华文中宋" panose="02010600040101010101" pitchFamily="2" charset="-122"/>
              </a:rPr>
              <a:t>熔点</a:t>
            </a:r>
            <a:r>
              <a:rPr lang="en-US" altLang="zh-CN" sz="2800" b="1" dirty="0">
                <a:latin typeface="Times New Roman" panose="02020603050405020304" pitchFamily="18" charset="0"/>
                <a:ea typeface="华文中宋" panose="02010600040101010101" pitchFamily="2" charset="-122"/>
              </a:rPr>
              <a:t>, </a:t>
            </a:r>
            <a:r>
              <a:rPr lang="zh-CN" altLang="en-US" sz="2800" b="1" dirty="0">
                <a:latin typeface="Times New Roman" panose="02020603050405020304" pitchFamily="18" charset="0"/>
                <a:ea typeface="华文中宋" panose="02010600040101010101" pitchFamily="2" charset="-122"/>
              </a:rPr>
              <a:t>结晶过程同纯金属。</a:t>
            </a:r>
          </a:p>
          <a:p>
            <a:pPr marL="342900" lvl="0" indent="-342900" eaLnBrk="1" hangingPunct="1">
              <a:lnSpc>
                <a:spcPct val="110000"/>
              </a:lnSpc>
              <a:spcBef>
                <a:spcPct val="20000"/>
              </a:spcBef>
              <a:buClr>
                <a:schemeClr val="accent2"/>
              </a:buClr>
              <a:buSzPct val="80000"/>
              <a:buFont typeface="Wingdings" panose="05000000000000000000" pitchFamily="2" charset="2"/>
              <a:buChar char="l"/>
            </a:pPr>
            <a:r>
              <a:rPr lang="zh-CN" altLang="en-US" sz="2800" b="1" dirty="0">
                <a:latin typeface="Times New Roman" panose="02020603050405020304" pitchFamily="18" charset="0"/>
                <a:ea typeface="华文中宋" panose="02010600040101010101" pitchFamily="2" charset="-122"/>
              </a:rPr>
              <a:t>分析这类相图时，可把</a:t>
            </a:r>
            <a:r>
              <a:rPr lang="zh-CN" altLang="en-US" sz="2800" b="1" kern="0" dirty="0">
                <a:solidFill>
                  <a:srgbClr val="0000FF"/>
                </a:solidFill>
                <a:latin typeface="+mn-lt"/>
                <a:ea typeface="华文中宋" panose="02010600040101010101" pitchFamily="2" charset="-122"/>
              </a:rPr>
              <a:t>稳定化合物</a:t>
            </a:r>
            <a:r>
              <a:rPr lang="zh-CN" altLang="en-US" sz="2800" b="1" dirty="0">
                <a:latin typeface="Times New Roman" panose="02020603050405020304" pitchFamily="18" charset="0"/>
                <a:ea typeface="华文中宋" panose="02010600040101010101" pitchFamily="2" charset="-122"/>
              </a:rPr>
              <a:t>当作</a:t>
            </a:r>
            <a:r>
              <a:rPr lang="zh-CN" altLang="en-US" sz="2800" b="1" kern="0" dirty="0">
                <a:solidFill>
                  <a:srgbClr val="0000FF"/>
                </a:solidFill>
                <a:latin typeface="+mn-lt"/>
                <a:ea typeface="华文中宋" panose="02010600040101010101" pitchFamily="2" charset="-122"/>
              </a:rPr>
              <a:t>纯组元</a:t>
            </a:r>
            <a:r>
              <a:rPr lang="zh-CN" altLang="en-US" sz="2800" b="1" dirty="0">
                <a:latin typeface="Times New Roman" panose="02020603050405020304" pitchFamily="18" charset="0"/>
                <a:ea typeface="华文中宋" panose="02010600040101010101" pitchFamily="2" charset="-122"/>
              </a:rPr>
              <a:t>看待，将相图分成几个部分进行分析。</a:t>
            </a:r>
            <a:endParaRPr lang="en-US" altLang="zh-CN" sz="2800" b="1" dirty="0">
              <a:latin typeface="Times New Roman" panose="02020603050405020304" pitchFamily="18" charset="0"/>
              <a:ea typeface="华文中宋" panose="02010600040101010101" pitchFamily="2" charset="-122"/>
            </a:endParaRPr>
          </a:p>
        </p:txBody>
      </p:sp>
      <p:grpSp>
        <p:nvGrpSpPr>
          <p:cNvPr id="2" name="Group 25"/>
          <p:cNvGrpSpPr/>
          <p:nvPr/>
        </p:nvGrpSpPr>
        <p:grpSpPr>
          <a:xfrm>
            <a:off x="5220335" y="3500755"/>
            <a:ext cx="3384550" cy="2791230"/>
            <a:chOff x="2736" y="1824"/>
            <a:chExt cx="2514" cy="2180"/>
          </a:xfrm>
        </p:grpSpPr>
        <p:grpSp>
          <p:nvGrpSpPr>
            <p:cNvPr id="88073" name="Group 5"/>
            <p:cNvGrpSpPr/>
            <p:nvPr/>
          </p:nvGrpSpPr>
          <p:grpSpPr>
            <a:xfrm>
              <a:off x="2784" y="1824"/>
              <a:ext cx="2448" cy="2112"/>
              <a:chOff x="2736" y="1920"/>
              <a:chExt cx="2448" cy="2112"/>
            </a:xfrm>
          </p:grpSpPr>
          <p:grpSp>
            <p:nvGrpSpPr>
              <p:cNvPr id="88085" name="Group 6"/>
              <p:cNvGrpSpPr/>
              <p:nvPr/>
            </p:nvGrpSpPr>
            <p:grpSpPr>
              <a:xfrm>
                <a:off x="2736" y="1920"/>
                <a:ext cx="2448" cy="2112"/>
                <a:chOff x="2736" y="1920"/>
                <a:chExt cx="2448" cy="2112"/>
              </a:xfrm>
            </p:grpSpPr>
            <p:pic>
              <p:nvPicPr>
                <p:cNvPr id="88088" name="Picture 7" descr="Mg-Si相图3"/>
                <p:cNvPicPr>
                  <a:picLocks noChangeAspect="1"/>
                </p:cNvPicPr>
                <p:nvPr/>
              </p:nvPicPr>
              <p:blipFill>
                <a:blip r:embed="rId4"/>
                <a:stretch>
                  <a:fillRect/>
                </a:stretch>
              </p:blipFill>
              <p:spPr>
                <a:xfrm>
                  <a:off x="2736" y="1920"/>
                  <a:ext cx="2448" cy="2112"/>
                </a:xfrm>
                <a:prstGeom prst="rect">
                  <a:avLst/>
                </a:prstGeom>
                <a:noFill/>
                <a:ln w="38100" cap="flat" cmpd="sng">
                  <a:solidFill>
                    <a:srgbClr val="FF9900"/>
                  </a:solidFill>
                  <a:prstDash val="solid"/>
                  <a:miter/>
                  <a:headEnd type="none" w="med" len="med"/>
                  <a:tailEnd type="none" w="med" len="med"/>
                </a:ln>
              </p:spPr>
            </p:pic>
            <p:sp>
              <p:nvSpPr>
                <p:cNvPr id="88089" name="Rectangle 8"/>
                <p:cNvSpPr/>
                <p:nvPr/>
              </p:nvSpPr>
              <p:spPr>
                <a:xfrm>
                  <a:off x="2736" y="3744"/>
                  <a:ext cx="240" cy="240"/>
                </a:xfrm>
                <a:prstGeom prst="rect">
                  <a:avLst/>
                </a:prstGeom>
                <a:solidFill>
                  <a:schemeClr val="bg1"/>
                </a:solidFill>
                <a:ln w="38100" cap="flat" cmpd="sng">
                  <a:noFill/>
                  <a:prstDash val="solid"/>
                  <a:miter/>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grpSp>
          <p:sp>
            <p:nvSpPr>
              <p:cNvPr id="88086" name="Text Box 9"/>
              <p:cNvSpPr txBox="1"/>
              <p:nvPr/>
            </p:nvSpPr>
            <p:spPr>
              <a:xfrm>
                <a:off x="3564" y="2316"/>
                <a:ext cx="675" cy="288"/>
              </a:xfrm>
              <a:prstGeom prst="rect">
                <a:avLst/>
              </a:prstGeom>
              <a:noFill/>
              <a:ln w="38100">
                <a:noFill/>
              </a:ln>
            </p:spPr>
            <p:txBody>
              <a:bodyPr wrap="square">
                <a:spAutoFit/>
              </a:bodyPr>
              <a:lstStyle/>
              <a:p>
                <a:pPr lvl="0" eaLnBrk="1" hangingPunct="1">
                  <a:spcBef>
                    <a:spcPct val="50000"/>
                  </a:spcBef>
                </a:pPr>
                <a:r>
                  <a:rPr lang="en-US" altLang="zh-CN" sz="1800" b="1" dirty="0">
                    <a:solidFill>
                      <a:srgbClr val="800000"/>
                    </a:solidFill>
                    <a:latin typeface="Times New Roman" panose="02020603050405020304" pitchFamily="18" charset="0"/>
                    <a:ea typeface="宋体" panose="02010600030101010101" pitchFamily="2" charset="-122"/>
                  </a:rPr>
                  <a:t>Mg</a:t>
                </a:r>
                <a:r>
                  <a:rPr lang="en-US" altLang="zh-CN" sz="1800" b="1" baseline="-25000" dirty="0">
                    <a:solidFill>
                      <a:srgbClr val="800000"/>
                    </a:solidFill>
                    <a:latin typeface="Times New Roman" panose="02020603050405020304" pitchFamily="18" charset="0"/>
                    <a:ea typeface="宋体" panose="02010600030101010101" pitchFamily="2" charset="-122"/>
                  </a:rPr>
                  <a:t>2</a:t>
                </a:r>
                <a:r>
                  <a:rPr lang="en-US" altLang="zh-CN" sz="1800" b="1" dirty="0">
                    <a:solidFill>
                      <a:srgbClr val="800000"/>
                    </a:solidFill>
                    <a:latin typeface="Times New Roman" panose="02020603050405020304" pitchFamily="18" charset="0"/>
                    <a:ea typeface="宋体" panose="02010600030101010101" pitchFamily="2" charset="-122"/>
                  </a:rPr>
                  <a:t>Si</a:t>
                </a:r>
              </a:p>
            </p:txBody>
          </p:sp>
          <p:sp>
            <p:nvSpPr>
              <p:cNvPr id="88087" name="Line 10"/>
              <p:cNvSpPr/>
              <p:nvPr/>
            </p:nvSpPr>
            <p:spPr>
              <a:xfrm flipH="1">
                <a:off x="3864" y="2532"/>
                <a:ext cx="0" cy="144"/>
              </a:xfrm>
              <a:prstGeom prst="line">
                <a:avLst/>
              </a:prstGeom>
              <a:ln w="38100" cap="flat" cmpd="sng">
                <a:solidFill>
                  <a:schemeClr val="hlink"/>
                </a:solidFill>
                <a:prstDash val="solid"/>
                <a:miter/>
                <a:headEnd type="none" w="med" len="med"/>
                <a:tailEnd type="triangle" w="med" len="med"/>
              </a:ln>
            </p:spPr>
          </p:sp>
        </p:grpSp>
        <p:sp>
          <p:nvSpPr>
            <p:cNvPr id="88074" name="Text Box 11"/>
            <p:cNvSpPr txBox="1"/>
            <p:nvPr/>
          </p:nvSpPr>
          <p:spPr>
            <a:xfrm>
              <a:off x="4224" y="3168"/>
              <a:ext cx="768" cy="263"/>
            </a:xfrm>
            <a:prstGeom prst="rect">
              <a:avLst/>
            </a:prstGeom>
            <a:noFill/>
            <a:ln w="38100">
              <a:noFill/>
            </a:ln>
          </p:spPr>
          <p:txBody>
            <a:bodyPr>
              <a:spAutoFit/>
            </a:bodyPr>
            <a:lstStyle/>
            <a:p>
              <a:pPr lvl="0" eaLnBrk="1" hangingPunct="1">
                <a:spcBef>
                  <a:spcPct val="50000"/>
                </a:spcBef>
              </a:pPr>
              <a:r>
                <a:rPr lang="en-US" altLang="zh-CN" sz="1600" b="1" dirty="0">
                  <a:solidFill>
                    <a:schemeClr val="bg2"/>
                  </a:solidFill>
                  <a:latin typeface="Times New Roman" panose="02020603050405020304" pitchFamily="18" charset="0"/>
                  <a:ea typeface="宋体" panose="02010600030101010101" pitchFamily="2" charset="-122"/>
                </a:rPr>
                <a:t>Mg</a:t>
              </a:r>
              <a:r>
                <a:rPr lang="en-US" altLang="zh-CN" sz="1600" b="1" baseline="-25000" dirty="0">
                  <a:solidFill>
                    <a:schemeClr val="bg2"/>
                  </a:solidFill>
                  <a:latin typeface="Times New Roman" panose="02020603050405020304" pitchFamily="18" charset="0"/>
                  <a:ea typeface="宋体" panose="02010600030101010101" pitchFamily="2" charset="-122"/>
                </a:rPr>
                <a:t>2</a:t>
              </a:r>
              <a:r>
                <a:rPr lang="en-US" altLang="zh-CN" sz="1600" b="1" dirty="0">
                  <a:solidFill>
                    <a:schemeClr val="bg2"/>
                  </a:solidFill>
                  <a:latin typeface="Times New Roman" panose="02020603050405020304" pitchFamily="18" charset="0"/>
                  <a:ea typeface="宋体" panose="02010600030101010101" pitchFamily="2" charset="-122"/>
                </a:rPr>
                <a:t>Si+Si</a:t>
              </a:r>
            </a:p>
          </p:txBody>
        </p:sp>
        <p:sp>
          <p:nvSpPr>
            <p:cNvPr id="88075" name="Rectangle 13"/>
            <p:cNvSpPr/>
            <p:nvPr/>
          </p:nvSpPr>
          <p:spPr>
            <a:xfrm>
              <a:off x="3237" y="3408"/>
              <a:ext cx="288" cy="96"/>
            </a:xfrm>
            <a:prstGeom prst="rect">
              <a:avLst/>
            </a:prstGeom>
            <a:solidFill>
              <a:schemeClr val="bg1"/>
            </a:solidFill>
            <a:ln w="38100" cap="flat" cmpd="sng">
              <a:noFill/>
              <a:prstDash val="solid"/>
              <a:miter/>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88076" name="Text Box 15"/>
            <p:cNvSpPr txBox="1"/>
            <p:nvPr/>
          </p:nvSpPr>
          <p:spPr>
            <a:xfrm>
              <a:off x="3264" y="3409"/>
              <a:ext cx="624" cy="360"/>
            </a:xfrm>
            <a:prstGeom prst="rect">
              <a:avLst/>
            </a:prstGeom>
            <a:noFill/>
            <a:ln w="38100">
              <a:noFill/>
            </a:ln>
          </p:spPr>
          <p:txBody>
            <a:bodyPr>
              <a:spAutoFit/>
            </a:bodyPr>
            <a:lstStyle/>
            <a:p>
              <a:pPr lvl="0" eaLnBrk="1" hangingPunct="1">
                <a:spcBef>
                  <a:spcPct val="50000"/>
                </a:spcBef>
              </a:pPr>
              <a:r>
                <a:rPr lang="en-US" altLang="zh-CN" sz="1200" b="1" dirty="0">
                  <a:solidFill>
                    <a:schemeClr val="bg2"/>
                  </a:solidFill>
                  <a:latin typeface="Times New Roman" panose="02020603050405020304" pitchFamily="18" charset="0"/>
                  <a:ea typeface="宋体" panose="02010600030101010101" pitchFamily="2" charset="-122"/>
                </a:rPr>
                <a:t>Mg+ Mg</a:t>
              </a:r>
              <a:r>
                <a:rPr lang="en-US" altLang="zh-CN" sz="1200" b="1" baseline="-25000" dirty="0">
                  <a:solidFill>
                    <a:schemeClr val="bg2"/>
                  </a:solidFill>
                  <a:latin typeface="Times New Roman" panose="02020603050405020304" pitchFamily="18" charset="0"/>
                  <a:ea typeface="宋体" panose="02010600030101010101" pitchFamily="2" charset="-122"/>
                </a:rPr>
                <a:t>2</a:t>
              </a:r>
              <a:r>
                <a:rPr lang="en-US" altLang="zh-CN" sz="1200" b="1" dirty="0">
                  <a:solidFill>
                    <a:schemeClr val="bg2"/>
                  </a:solidFill>
                  <a:latin typeface="Times New Roman" panose="02020603050405020304" pitchFamily="18" charset="0"/>
                  <a:ea typeface="宋体" panose="02010600030101010101" pitchFamily="2" charset="-122"/>
                </a:rPr>
                <a:t>Si</a:t>
              </a:r>
            </a:p>
          </p:txBody>
        </p:sp>
        <p:sp>
          <p:nvSpPr>
            <p:cNvPr id="88077" name="Rectangle 16"/>
            <p:cNvSpPr/>
            <p:nvPr/>
          </p:nvSpPr>
          <p:spPr>
            <a:xfrm>
              <a:off x="4866" y="3408"/>
              <a:ext cx="240" cy="96"/>
            </a:xfrm>
            <a:prstGeom prst="rect">
              <a:avLst/>
            </a:prstGeom>
            <a:solidFill>
              <a:schemeClr val="bg1"/>
            </a:solidFill>
            <a:ln w="38100" cap="flat" cmpd="sng">
              <a:noFill/>
              <a:prstDash val="solid"/>
              <a:miter/>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88078" name="Text Box 17"/>
            <p:cNvSpPr txBox="1"/>
            <p:nvPr/>
          </p:nvSpPr>
          <p:spPr>
            <a:xfrm>
              <a:off x="5010" y="3741"/>
              <a:ext cx="240" cy="263"/>
            </a:xfrm>
            <a:prstGeom prst="rect">
              <a:avLst/>
            </a:prstGeom>
            <a:noFill/>
            <a:ln w="38100">
              <a:noFill/>
            </a:ln>
          </p:spPr>
          <p:txBody>
            <a:bodyPr>
              <a:spAutoFit/>
            </a:bodyPr>
            <a:lstStyle/>
            <a:p>
              <a:pPr lvl="0" eaLnBrk="1" hangingPunct="1">
                <a:spcBef>
                  <a:spcPct val="50000"/>
                </a:spcBef>
              </a:pPr>
              <a:r>
                <a:rPr lang="en-US" altLang="zh-CN" sz="1600" b="1" dirty="0">
                  <a:solidFill>
                    <a:schemeClr val="bg2"/>
                  </a:solidFill>
                  <a:latin typeface="Times New Roman" panose="02020603050405020304" pitchFamily="18" charset="0"/>
                  <a:ea typeface="宋体" panose="02010600030101010101" pitchFamily="2" charset="-122"/>
                </a:rPr>
                <a:t>Si</a:t>
              </a:r>
            </a:p>
          </p:txBody>
        </p:sp>
        <p:sp>
          <p:nvSpPr>
            <p:cNvPr id="88079" name="Rectangle 19"/>
            <p:cNvSpPr/>
            <p:nvPr/>
          </p:nvSpPr>
          <p:spPr>
            <a:xfrm>
              <a:off x="3810" y="3024"/>
              <a:ext cx="96" cy="240"/>
            </a:xfrm>
            <a:prstGeom prst="rect">
              <a:avLst/>
            </a:prstGeom>
            <a:solidFill>
              <a:schemeClr val="bg1"/>
            </a:solidFill>
            <a:ln w="38100" cap="flat" cmpd="sng">
              <a:noFill/>
              <a:prstDash val="solid"/>
              <a:miter/>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88080" name="Text Box 20"/>
            <p:cNvSpPr txBox="1"/>
            <p:nvPr/>
          </p:nvSpPr>
          <p:spPr>
            <a:xfrm>
              <a:off x="3408" y="3021"/>
              <a:ext cx="527" cy="360"/>
            </a:xfrm>
            <a:prstGeom prst="rect">
              <a:avLst/>
            </a:prstGeom>
            <a:noFill/>
            <a:ln w="38100">
              <a:noFill/>
            </a:ln>
          </p:spPr>
          <p:txBody>
            <a:bodyPr>
              <a:spAutoFit/>
            </a:bodyPr>
            <a:lstStyle/>
            <a:p>
              <a:pPr lvl="0" eaLnBrk="1" hangingPunct="1">
                <a:spcBef>
                  <a:spcPct val="50000"/>
                </a:spcBef>
              </a:pPr>
              <a:r>
                <a:rPr lang="en-US" altLang="zh-CN" sz="1200" b="1" dirty="0">
                  <a:solidFill>
                    <a:schemeClr val="bg2"/>
                  </a:solidFill>
                  <a:latin typeface="Times New Roman" panose="02020603050405020304" pitchFamily="18" charset="0"/>
                  <a:ea typeface="宋体" panose="02010600030101010101" pitchFamily="2" charset="-122"/>
                </a:rPr>
                <a:t>L+ Mg</a:t>
              </a:r>
              <a:r>
                <a:rPr lang="en-US" altLang="zh-CN" sz="1200" b="1" baseline="-25000" dirty="0">
                  <a:solidFill>
                    <a:schemeClr val="bg2"/>
                  </a:solidFill>
                  <a:latin typeface="Times New Roman" panose="02020603050405020304" pitchFamily="18" charset="0"/>
                  <a:ea typeface="宋体" panose="02010600030101010101" pitchFamily="2" charset="-122"/>
                </a:rPr>
                <a:t>2</a:t>
              </a:r>
              <a:r>
                <a:rPr lang="en-US" altLang="zh-CN" sz="1200" b="1" dirty="0">
                  <a:solidFill>
                    <a:schemeClr val="bg2"/>
                  </a:solidFill>
                  <a:latin typeface="Times New Roman" panose="02020603050405020304" pitchFamily="18" charset="0"/>
                  <a:ea typeface="宋体" panose="02010600030101010101" pitchFamily="2" charset="-122"/>
                </a:rPr>
                <a:t>Si</a:t>
              </a:r>
            </a:p>
          </p:txBody>
        </p:sp>
        <p:sp>
          <p:nvSpPr>
            <p:cNvPr id="88081" name="Text Box 21"/>
            <p:cNvSpPr txBox="1"/>
            <p:nvPr/>
          </p:nvSpPr>
          <p:spPr>
            <a:xfrm>
              <a:off x="4656" y="2544"/>
              <a:ext cx="385" cy="215"/>
            </a:xfrm>
            <a:prstGeom prst="rect">
              <a:avLst/>
            </a:prstGeom>
            <a:noFill/>
            <a:ln w="38100">
              <a:noFill/>
            </a:ln>
          </p:spPr>
          <p:txBody>
            <a:bodyPr>
              <a:spAutoFit/>
            </a:bodyPr>
            <a:lstStyle/>
            <a:p>
              <a:pPr lvl="0" eaLnBrk="1" hangingPunct="1">
                <a:spcBef>
                  <a:spcPct val="50000"/>
                </a:spcBef>
              </a:pPr>
              <a:r>
                <a:rPr lang="en-US" altLang="zh-CN" sz="1200" b="1" dirty="0">
                  <a:solidFill>
                    <a:schemeClr val="bg2"/>
                  </a:solidFill>
                  <a:latin typeface="Times New Roman" panose="02020603050405020304" pitchFamily="18" charset="0"/>
                  <a:ea typeface="宋体" panose="02010600030101010101" pitchFamily="2" charset="-122"/>
                </a:rPr>
                <a:t>L+ Si</a:t>
              </a:r>
            </a:p>
          </p:txBody>
        </p:sp>
        <p:sp>
          <p:nvSpPr>
            <p:cNvPr id="88082" name="Text Box 22"/>
            <p:cNvSpPr txBox="1"/>
            <p:nvPr/>
          </p:nvSpPr>
          <p:spPr>
            <a:xfrm>
              <a:off x="3879" y="2724"/>
              <a:ext cx="450" cy="180"/>
            </a:xfrm>
            <a:prstGeom prst="rect">
              <a:avLst/>
            </a:prstGeom>
            <a:noFill/>
            <a:ln w="38100">
              <a:noFill/>
            </a:ln>
          </p:spPr>
          <p:txBody>
            <a:bodyPr>
              <a:spAutoFit/>
            </a:bodyPr>
            <a:lstStyle/>
            <a:p>
              <a:pPr lvl="0" eaLnBrk="1" hangingPunct="1">
                <a:spcBef>
                  <a:spcPct val="50000"/>
                </a:spcBef>
              </a:pPr>
              <a:r>
                <a:rPr lang="en-US" altLang="zh-CN" sz="900" b="1" dirty="0">
                  <a:solidFill>
                    <a:schemeClr val="bg2"/>
                  </a:solidFill>
                  <a:latin typeface="Times New Roman" panose="02020603050405020304" pitchFamily="18" charset="0"/>
                  <a:ea typeface="宋体" panose="02010600030101010101" pitchFamily="2" charset="-122"/>
                </a:rPr>
                <a:t>L+ Mg</a:t>
              </a:r>
              <a:r>
                <a:rPr lang="en-US" altLang="zh-CN" sz="900" b="1" baseline="-25000" dirty="0">
                  <a:solidFill>
                    <a:schemeClr val="bg2"/>
                  </a:solidFill>
                  <a:latin typeface="Times New Roman" panose="02020603050405020304" pitchFamily="18" charset="0"/>
                  <a:ea typeface="宋体" panose="02010600030101010101" pitchFamily="2" charset="-122"/>
                </a:rPr>
                <a:t>2</a:t>
              </a:r>
              <a:r>
                <a:rPr lang="en-US" altLang="zh-CN" sz="900" b="1" dirty="0">
                  <a:solidFill>
                    <a:schemeClr val="bg2"/>
                  </a:solidFill>
                  <a:latin typeface="Times New Roman" panose="02020603050405020304" pitchFamily="18" charset="0"/>
                  <a:ea typeface="宋体" panose="02010600030101010101" pitchFamily="2" charset="-122"/>
                </a:rPr>
                <a:t>Si</a:t>
              </a:r>
            </a:p>
          </p:txBody>
        </p:sp>
        <p:sp>
          <p:nvSpPr>
            <p:cNvPr id="88083" name="Text Box 23"/>
            <p:cNvSpPr txBox="1"/>
            <p:nvPr/>
          </p:nvSpPr>
          <p:spPr>
            <a:xfrm>
              <a:off x="2736" y="3264"/>
              <a:ext cx="384" cy="191"/>
            </a:xfrm>
            <a:prstGeom prst="rect">
              <a:avLst/>
            </a:prstGeom>
            <a:noFill/>
            <a:ln w="38100">
              <a:noFill/>
            </a:ln>
          </p:spPr>
          <p:txBody>
            <a:bodyPr>
              <a:spAutoFit/>
            </a:bodyPr>
            <a:lstStyle/>
            <a:p>
              <a:pPr lvl="0" eaLnBrk="1" hangingPunct="1">
                <a:spcBef>
                  <a:spcPct val="50000"/>
                </a:spcBef>
              </a:pPr>
              <a:r>
                <a:rPr lang="en-US" altLang="zh-CN" sz="1000" b="1" dirty="0">
                  <a:solidFill>
                    <a:schemeClr val="bg2"/>
                  </a:solidFill>
                  <a:latin typeface="Times New Roman" panose="02020603050405020304" pitchFamily="18" charset="0"/>
                  <a:ea typeface="宋体" panose="02010600030101010101" pitchFamily="2" charset="-122"/>
                </a:rPr>
                <a:t>L+ Mg</a:t>
              </a:r>
            </a:p>
          </p:txBody>
        </p:sp>
        <p:sp>
          <p:nvSpPr>
            <p:cNvPr id="88084" name="Line 24"/>
            <p:cNvSpPr/>
            <p:nvPr/>
          </p:nvSpPr>
          <p:spPr>
            <a:xfrm>
              <a:off x="3051" y="3351"/>
              <a:ext cx="192" cy="0"/>
            </a:xfrm>
            <a:prstGeom prst="line">
              <a:avLst/>
            </a:prstGeom>
            <a:ln w="38100" cap="flat" cmpd="sng">
              <a:solidFill>
                <a:srgbClr val="A50021"/>
              </a:solidFill>
              <a:prstDash val="solid"/>
              <a:headEnd type="none" w="med" len="med"/>
              <a:tailEnd type="stealth" w="med" len="med"/>
            </a:ln>
          </p:spPr>
        </p:sp>
      </p:grpSp>
      <p:pic>
        <p:nvPicPr>
          <p:cNvPr id="26" name="内容占位符 1" descr="新校徽（3M）弓之乐"/>
          <p:cNvPicPr>
            <a:picLocks noChangeAspect="1"/>
          </p:cNvPicPr>
          <p:nvPr/>
        </p:nvPicPr>
        <p:blipFill>
          <a:blip r:embed="rId5"/>
          <a:stretch>
            <a:fillRect/>
          </a:stretch>
        </p:blipFill>
        <p:spPr>
          <a:xfrm>
            <a:off x="0" y="0"/>
            <a:ext cx="746760" cy="735965"/>
          </a:xfrm>
          <a:prstGeom prst="rect">
            <a:avLst/>
          </a:prstGeom>
          <a:noFill/>
          <a:ln w="9525">
            <a:noFill/>
          </a:ln>
        </p:spPr>
      </p:pic>
      <p:sp>
        <p:nvSpPr>
          <p:cNvPr id="8" name="圆角矩形 7" descr="7b0a202020202262756c6c6574223a20227b5c2263617465676f727949645c223a31303032352c5c2274656d706c61746549645c223a32303233313437347d220a7d0a"/>
          <p:cNvSpPr/>
          <p:nvPr>
            <p:custDataLst>
              <p:tags r:id="rId1"/>
            </p:custDataLst>
          </p:nvPr>
        </p:nvSpPr>
        <p:spPr>
          <a:xfrm>
            <a:off x="683895" y="2002790"/>
            <a:ext cx="1805305" cy="480060"/>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28575" cmpd="dbl">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400" b="1" dirty="0">
                <a:solidFill>
                  <a:srgbClr val="0000FF"/>
                </a:solidFill>
                <a:ea typeface="华文中宋" panose="02010600040101010101" pitchFamily="2" charset="-122"/>
                <a:sym typeface="+mn-ea"/>
              </a:rPr>
              <a:t>稳定化合物</a:t>
            </a:r>
            <a:endParaRPr lang="zh-CN" altLang="en-US" sz="2400"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2162"/>
                                        </p:tgtEl>
                                        <p:attrNameLst>
                                          <p:attrName>style.visibility</p:attrName>
                                        </p:attrNameLst>
                                      </p:cBhvr>
                                      <p:to>
                                        <p:strVal val="visible"/>
                                      </p:to>
                                    </p:set>
                                    <p:animEffect transition="in" filter="wipe(left)">
                                      <p:cBhvr>
                                        <p:cTn id="7" dur="500"/>
                                        <p:tgtEl>
                                          <p:spTgt spid="9216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2163">
                                            <p:txEl>
                                              <p:pRg st="0" end="0"/>
                                            </p:txEl>
                                          </p:spTgt>
                                        </p:tgtEl>
                                        <p:attrNameLst>
                                          <p:attrName>style.visibility</p:attrName>
                                        </p:attrNameLst>
                                      </p:cBhvr>
                                      <p:to>
                                        <p:strVal val="visible"/>
                                      </p:to>
                                    </p:set>
                                    <p:animEffect transition="in" filter="wipe(left)">
                                      <p:cBhvr>
                                        <p:cTn id="11" dur="500"/>
                                        <p:tgtEl>
                                          <p:spTgt spid="92163">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92164"/>
                                        </p:tgtEl>
                                        <p:attrNameLst>
                                          <p:attrName>style.visibility</p:attrName>
                                        </p:attrNameLst>
                                      </p:cBhvr>
                                      <p:to>
                                        <p:strVal val="visible"/>
                                      </p:to>
                                    </p:set>
                                    <p:animEffect transition="in" filter="wipe(left)">
                                      <p:cBhvr>
                                        <p:cTn id="15" dur="500"/>
                                        <p:tgtEl>
                                          <p:spTgt spid="92164"/>
                                        </p:tgtEl>
                                      </p:cBhvr>
                                    </p:animEffect>
                                  </p:childTnLst>
                                </p:cTn>
                              </p:par>
                            </p:childTnLst>
                          </p:cTn>
                        </p:par>
                        <p:par>
                          <p:cTn id="16" fill="hold">
                            <p:stCondLst>
                              <p:cond delay="1500"/>
                            </p:stCondLst>
                            <p:childTnLst>
                              <p:par>
                                <p:cTn id="17" presetID="23" presetClass="entr" presetSubtype="16"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fltVal val="0"/>
                                          </p:val>
                                        </p:tav>
                                        <p:tav tm="100000">
                                          <p:val>
                                            <p:strVal val="#ppt_w"/>
                                          </p:val>
                                        </p:tav>
                                      </p:tavLst>
                                    </p:anim>
                                    <p:anim calcmode="lin" valueType="num">
                                      <p:cBhvr>
                                        <p:cTn id="20"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2" grpId="0"/>
      <p:bldP spid="92163" grpId="0" build="p" advAuto="1000"/>
      <p:bldP spid="92164"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971550" y="1268730"/>
            <a:ext cx="7284085" cy="1869440"/>
          </a:xfrm>
        </p:spPr>
        <p:txBody>
          <a:bodyPr/>
          <a:lstStyle/>
          <a:p>
            <a:pPr algn="ctr"/>
            <a:r>
              <a:rPr lang="en-US" altLang="zh-CN" sz="6000" b="1" dirty="0">
                <a:solidFill>
                  <a:srgbClr val="FF0000"/>
                </a:solidFill>
              </a:rPr>
              <a:t>5</a:t>
            </a:r>
            <a:r>
              <a:rPr lang="zh-CN" altLang="en-US" sz="6000" b="1" dirty="0">
                <a:solidFill>
                  <a:srgbClr val="FF0000"/>
                </a:solidFill>
              </a:rPr>
              <a:t>、具有共析反应的二元相图</a:t>
            </a:r>
            <a:endParaRPr lang="zh-CN" altLang="en-US" sz="6000" dirty="0">
              <a:solidFill>
                <a:srgbClr val="FF0000"/>
              </a:solidFill>
            </a:endParaRPr>
          </a:p>
        </p:txBody>
      </p:sp>
      <p:sp>
        <p:nvSpPr>
          <p:cNvPr id="5" name="日期占位符 1"/>
          <p:cNvSpPr txBox="1"/>
          <p:nvPr/>
        </p:nvSpPr>
        <p:spPr>
          <a:xfrm>
            <a:off x="19685" y="6529929"/>
            <a:ext cx="1905000" cy="342900"/>
          </a:xfrm>
          <a:prstGeom prst="rect">
            <a:avLst/>
          </a:prstGeom>
        </p:spPr>
        <p:txBody>
          <a:bodyPr wrap="square" lIns="91440" tIns="45720" rIns="91440" bIns="45720" anchor="b"/>
          <a:lstStyle>
            <a:defPPr>
              <a:defRPr lang="zh-CN"/>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9pPr>
          </a:lstStyle>
          <a:p>
            <a:fld id="{BB962C8B-B14F-4D97-AF65-F5344CB8AC3E}" type="datetime8">
              <a:rPr lang="en-US" altLang="zh-CN" sz="1400" smtClean="0"/>
              <a:t>11/20/2025 5:38 PM</a:t>
            </a:fld>
            <a:endParaRPr lang="en-US" altLang="zh-CN" sz="1400" dirty="0"/>
          </a:p>
        </p:txBody>
      </p:sp>
      <p:sp>
        <p:nvSpPr>
          <p:cNvPr id="6" name="灯片编号占位符 3"/>
          <p:cNvSpPr txBox="1"/>
          <p:nvPr/>
        </p:nvSpPr>
        <p:spPr bwMode="auto">
          <a:xfrm>
            <a:off x="8316416" y="6529928"/>
            <a:ext cx="630734" cy="328072"/>
          </a:xfrm>
          <a:prstGeom prst="rect">
            <a:avLst/>
          </a:prstGeom>
          <a:noFill/>
          <a:ln w="9525">
            <a:noFill/>
            <a:miter lim="800000"/>
          </a:ln>
          <a:effectLst/>
        </p:spPr>
        <p:txBody>
          <a:bodyPr vert="horz" wrap="square" lIns="91440" tIns="45720" rIns="91440" bIns="45720" numCol="1" anchor="b" anchorCtr="0" compatLnSpc="1"/>
          <a:ls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9pPr>
          </a:lstStyle>
          <a:p>
            <a:pPr algn="r"/>
            <a:fld id="{9A0DB2DC-4C9A-4742-B13C-FB6460FD3503}" type="slidenum">
              <a:rPr lang="en-US" altLang="zh-CN" sz="1400" noProof="1" smtClean="0">
                <a:cs typeface="+mn-ea"/>
              </a:rPr>
              <a:t>91</a:t>
            </a:fld>
            <a:endParaRPr lang="en-US" altLang="zh-CN" sz="1400" dirty="0"/>
          </a:p>
        </p:txBody>
      </p:sp>
      <p:sp>
        <p:nvSpPr>
          <p:cNvPr id="3" name="文本框 2"/>
          <p:cNvSpPr txBox="1"/>
          <p:nvPr/>
        </p:nvSpPr>
        <p:spPr>
          <a:xfrm>
            <a:off x="824230" y="3260725"/>
            <a:ext cx="7895590" cy="1938020"/>
          </a:xfrm>
          <a:prstGeom prst="rect">
            <a:avLst/>
          </a:prstGeom>
        </p:spPr>
        <p:txBody>
          <a:bodyPr wrap="square">
            <a:spAutoFit/>
          </a:bodyPr>
          <a:lstStyle/>
          <a:p>
            <a:pPr marL="0" indent="0" algn="ctr"/>
            <a:r>
              <a:rPr lang="en-US" altLang="zh-CN" sz="6000" b="1" i="1">
                <a:solidFill>
                  <a:srgbClr val="FF0000"/>
                </a:solidFill>
                <a:latin typeface="Times New Roman" panose="02020603050405020304" pitchFamily="18" charset="0"/>
                <a:ea typeface="微软雅黑" panose="020B0503020204020204" charset="-122"/>
                <a:cs typeface="Times New Roman" panose="02020603050405020304" pitchFamily="18" charset="0"/>
              </a:rPr>
              <a:t>Binary phase diagram with eutectoid reaction</a:t>
            </a:r>
          </a:p>
        </p:txBody>
      </p:sp>
      <p:pic>
        <p:nvPicPr>
          <p:cNvPr id="4"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264" t="15784" r="3206" b="19580"/>
          <a:stretch>
            <a:fillRect/>
          </a:stretch>
        </p:blipFill>
        <p:spPr bwMode="auto">
          <a:xfrm>
            <a:off x="0" y="0"/>
            <a:ext cx="2372995" cy="582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日期占位符 3"/>
          <p:cNvSpPr txBox="1">
            <a:spLocks noGrp="1"/>
          </p:cNvSpPr>
          <p:nvPr>
            <p:ph type="dt" sz="half" idx="10"/>
          </p:nvPr>
        </p:nvSpPr>
        <p:spPr>
          <a:xfrm>
            <a:off x="0" y="6529705"/>
            <a:ext cx="2153920" cy="294640"/>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89091" name="灯片编号占位符 5"/>
          <p:cNvSpPr txBox="1">
            <a:spLocks noGrp="1"/>
          </p:cNvSpPr>
          <p:nvPr>
            <p:ph type="sldNum" sz="quarter" idx="12"/>
          </p:nvPr>
        </p:nvSpPr>
        <p:spPr>
          <a:xfrm>
            <a:off x="8709660" y="6529705"/>
            <a:ext cx="434340" cy="294640"/>
          </a:xfrm>
        </p:spPr>
        <p:txBody>
          <a:bodyPr lIns="92075" tIns="46038" rIns="92075" bIns="46038" anchor="ctr"/>
          <a:lstStyle/>
          <a:p>
            <a:pPr algn="r" eaLnBrk="1" hangingPunct="1"/>
            <a:fld id="{9A0DB2DC-4C9A-4742-B13C-FB6460FD3503}" type="slidenum">
              <a:rPr lang="en-US" altLang="zh-CN" sz="1400" dirty="0"/>
              <a:t>92</a:t>
            </a:fld>
            <a:endParaRPr lang="en-US" altLang="zh-CN" sz="1400" dirty="0"/>
          </a:p>
        </p:txBody>
      </p:sp>
      <p:sp>
        <p:nvSpPr>
          <p:cNvPr id="89092" name="Rectangle 2"/>
          <p:cNvSpPr>
            <a:spLocks noGrp="1"/>
          </p:cNvSpPr>
          <p:nvPr>
            <p:ph type="title"/>
          </p:nvPr>
        </p:nvSpPr>
        <p:spPr>
          <a:xfrm>
            <a:off x="1043305" y="0"/>
            <a:ext cx="7943215" cy="1741805"/>
          </a:xfrm>
        </p:spPr>
        <p:txBody>
          <a:bodyPr vert="horz" wrap="square" lIns="92075" tIns="46038" rIns="92075" bIns="46038" anchor="ctr"/>
          <a:lstStyle/>
          <a:p>
            <a:pPr eaLnBrk="1" hangingPunct="1"/>
            <a:r>
              <a:rPr lang="en-US" altLang="zh-CN" b="1" dirty="0">
                <a:solidFill>
                  <a:srgbClr val="FF0000"/>
                </a:solidFill>
              </a:rPr>
              <a:t>5</a:t>
            </a:r>
            <a:r>
              <a:rPr lang="zh-CN" altLang="en-US" b="1" dirty="0">
                <a:solidFill>
                  <a:srgbClr val="FF0000"/>
                </a:solidFill>
              </a:rPr>
              <a:t>、具有共析反应的二元相图</a:t>
            </a:r>
            <a:br>
              <a:rPr lang="zh-CN" altLang="en-US" b="1" dirty="0">
                <a:solidFill>
                  <a:srgbClr val="FF0000"/>
                </a:solidFill>
              </a:rPr>
            </a:br>
            <a:r>
              <a:rPr lang="en-US" altLang="zh-CN" sz="3200" b="1" i="1">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Binary phase diagram with eutectoid reaction</a:t>
            </a:r>
            <a:endParaRPr lang="zh-CN" altLang="en-US" sz="3200" b="1" dirty="0">
              <a:solidFill>
                <a:srgbClr val="FF0000"/>
              </a:solidFill>
            </a:endParaRPr>
          </a:p>
        </p:txBody>
      </p:sp>
      <p:sp>
        <p:nvSpPr>
          <p:cNvPr id="89093" name="Rectangle 3"/>
          <p:cNvSpPr>
            <a:spLocks noGrp="1"/>
          </p:cNvSpPr>
          <p:nvPr>
            <p:ph idx="1"/>
          </p:nvPr>
        </p:nvSpPr>
        <p:spPr>
          <a:xfrm>
            <a:off x="179550" y="1845077"/>
            <a:ext cx="5724525" cy="4437057"/>
          </a:xfrm>
        </p:spPr>
        <p:txBody>
          <a:bodyPr vert="horz" wrap="square" lIns="91440" tIns="45720" rIns="91440" bIns="45720" anchor="t"/>
          <a:lstStyle/>
          <a:p>
            <a:pPr algn="just" eaLnBrk="1" hangingPunct="1">
              <a:lnSpc>
                <a:spcPct val="130000"/>
              </a:lnSpc>
            </a:pPr>
            <a:r>
              <a:rPr lang="zh-CN" altLang="en-US" sz="2400" b="1" dirty="0">
                <a:solidFill>
                  <a:srgbClr val="0000FF"/>
                </a:solidFill>
              </a:rPr>
              <a:t>共析反应</a:t>
            </a:r>
            <a:r>
              <a:rPr lang="en-US" altLang="zh-CN" sz="2400" b="1" dirty="0">
                <a:solidFill>
                  <a:srgbClr val="0000FF"/>
                </a:solidFill>
              </a:rPr>
              <a:t>(</a:t>
            </a:r>
            <a:r>
              <a:rPr lang="zh-CN" altLang="en-US" sz="2400" b="1" dirty="0">
                <a:solidFill>
                  <a:srgbClr val="0000FF"/>
                </a:solidFill>
              </a:rPr>
              <a:t>转变</a:t>
            </a:r>
            <a:r>
              <a:rPr lang="en-US" altLang="zh-CN" sz="2400" b="1" dirty="0">
                <a:solidFill>
                  <a:srgbClr val="0000FF"/>
                </a:solidFill>
              </a:rPr>
              <a:t>) </a:t>
            </a:r>
            <a:r>
              <a:rPr lang="zh-CN" altLang="en-US" sz="2400" b="1" dirty="0">
                <a:solidFill>
                  <a:srgbClr val="0000FF"/>
                </a:solidFill>
              </a:rPr>
              <a:t>：</a:t>
            </a:r>
            <a:r>
              <a:rPr lang="zh-CN" altLang="en-US" sz="2400" b="1" dirty="0"/>
              <a:t>在一定温度下，由一定成分的</a:t>
            </a:r>
            <a:r>
              <a:rPr lang="zh-CN" altLang="en-US" sz="2400" b="1" dirty="0">
                <a:solidFill>
                  <a:srgbClr val="0000FF"/>
                </a:solidFill>
              </a:rPr>
              <a:t>固相</a:t>
            </a:r>
            <a:r>
              <a:rPr lang="zh-CN" altLang="en-US" sz="2400" b="1" dirty="0">
                <a:solidFill>
                  <a:srgbClr val="FF0000"/>
                </a:solidFill>
              </a:rPr>
              <a:t>同时析出</a:t>
            </a:r>
            <a:r>
              <a:rPr lang="zh-CN" altLang="en-US" sz="2400" b="1" dirty="0">
                <a:solidFill>
                  <a:srgbClr val="0000FF"/>
                </a:solidFill>
              </a:rPr>
              <a:t>两个</a:t>
            </a:r>
            <a:r>
              <a:rPr lang="zh-CN" altLang="en-US" sz="2400" b="1" dirty="0"/>
              <a:t>成分和结构完全不同</a:t>
            </a:r>
            <a:r>
              <a:rPr lang="zh-CN" altLang="en-US" sz="2400" b="1" dirty="0">
                <a:solidFill>
                  <a:srgbClr val="0000FF"/>
                </a:solidFill>
              </a:rPr>
              <a:t>新固相</a:t>
            </a:r>
            <a:r>
              <a:rPr lang="zh-CN" altLang="en-US" sz="2400" b="1" dirty="0"/>
              <a:t>的过程。</a:t>
            </a:r>
          </a:p>
          <a:p>
            <a:pPr algn="just" eaLnBrk="1" hangingPunct="1">
              <a:lnSpc>
                <a:spcPct val="130000"/>
              </a:lnSpc>
            </a:pPr>
            <a:r>
              <a:rPr lang="zh-CN" altLang="en-US" sz="2400" b="1" dirty="0">
                <a:solidFill>
                  <a:schemeClr val="folHlink"/>
                </a:solidFill>
              </a:rPr>
              <a:t>共析转变</a:t>
            </a:r>
            <a:r>
              <a:rPr lang="zh-CN" altLang="en-US" sz="2400" b="1" dirty="0"/>
              <a:t>也是</a:t>
            </a:r>
            <a:r>
              <a:rPr lang="zh-CN" altLang="en-US" sz="2400" b="1" dirty="0">
                <a:solidFill>
                  <a:schemeClr val="folHlink"/>
                </a:solidFill>
              </a:rPr>
              <a:t>固态相变。</a:t>
            </a:r>
            <a:endParaRPr lang="zh-CN" altLang="en-US" sz="2400" b="1" dirty="0">
              <a:solidFill>
                <a:schemeClr val="folHlink"/>
              </a:solidFill>
              <a:ea typeface="华文中宋" panose="02010600040101010101" pitchFamily="2" charset="-122"/>
            </a:endParaRPr>
          </a:p>
          <a:p>
            <a:pPr algn="just" eaLnBrk="1" hangingPunct="1">
              <a:lnSpc>
                <a:spcPct val="130000"/>
              </a:lnSpc>
            </a:pPr>
            <a:r>
              <a:rPr lang="zh-CN" altLang="en-US" sz="2400" b="1" dirty="0">
                <a:ea typeface="华文中宋" panose="02010600040101010101" pitchFamily="2" charset="-122"/>
              </a:rPr>
              <a:t>最常见的共析转变是铁碳合金中的</a:t>
            </a:r>
            <a:r>
              <a:rPr lang="zh-CN" altLang="en-US" sz="2400" b="1" dirty="0">
                <a:solidFill>
                  <a:srgbClr val="0000FF"/>
                </a:solidFill>
              </a:rPr>
              <a:t>珠光体转变</a:t>
            </a:r>
            <a:r>
              <a:rPr lang="zh-CN" altLang="en-US" sz="2400" b="1" dirty="0">
                <a:solidFill>
                  <a:schemeClr val="folHlink"/>
                </a:solidFill>
              </a:rPr>
              <a:t>:</a:t>
            </a:r>
            <a:r>
              <a:rPr lang="en-US" altLang="zh-CN" sz="2400" b="1" dirty="0">
                <a:ea typeface="华文中宋" panose="02010600040101010101" pitchFamily="2" charset="-122"/>
              </a:rPr>
              <a:t> </a:t>
            </a:r>
          </a:p>
          <a:p>
            <a:pPr algn="just" eaLnBrk="1" hangingPunct="1">
              <a:lnSpc>
                <a:spcPct val="90000"/>
              </a:lnSpc>
              <a:buNone/>
            </a:pPr>
            <a:r>
              <a:rPr lang="en-US" altLang="zh-CN" sz="2400" b="1" i="1" dirty="0">
                <a:ea typeface="华文中宋" panose="02010600040101010101" pitchFamily="2" charset="-122"/>
                <a:sym typeface="Symbol" panose="05050102010706020507" pitchFamily="18" charset="2"/>
              </a:rPr>
              <a:t>   </a:t>
            </a:r>
            <a:r>
              <a:rPr lang="en-US" altLang="zh-CN" sz="2400" b="1" i="1" dirty="0">
                <a:solidFill>
                  <a:srgbClr val="FFFF66"/>
                </a:solidFill>
                <a:ea typeface="华文中宋" panose="02010600040101010101" pitchFamily="2" charset="-122"/>
                <a:sym typeface="Symbol" panose="05050102010706020507" pitchFamily="18" charset="2"/>
              </a:rPr>
              <a:t> </a:t>
            </a:r>
            <a:r>
              <a:rPr lang="en-US" altLang="zh-CN" sz="2400" b="1" i="1" dirty="0">
                <a:solidFill>
                  <a:srgbClr val="0000FF"/>
                </a:solidFill>
                <a:ea typeface="华文中宋" panose="02010600040101010101" pitchFamily="2" charset="-122"/>
                <a:sym typeface="Symbol" panose="05050102010706020507" pitchFamily="18" charset="2"/>
              </a:rPr>
              <a:t></a:t>
            </a:r>
            <a:r>
              <a:rPr lang="en-US" altLang="zh-CN" sz="2400" b="1" baseline="-30000" dirty="0">
                <a:solidFill>
                  <a:srgbClr val="0000FF"/>
                </a:solidFill>
                <a:ea typeface="华文中宋" panose="02010600040101010101" pitchFamily="2" charset="-122"/>
              </a:rPr>
              <a:t>S </a:t>
            </a:r>
            <a:r>
              <a:rPr lang="en-US" altLang="zh-CN" sz="2400" b="1" dirty="0">
                <a:solidFill>
                  <a:srgbClr val="0000FF"/>
                </a:solidFill>
                <a:ea typeface="Arial Unicode MS" panose="020B0604020202020204" charset="-122"/>
              </a:rPr>
              <a:t>⇄</a:t>
            </a:r>
            <a:r>
              <a:rPr lang="en-US" altLang="zh-CN" sz="2400" b="1" dirty="0">
                <a:solidFill>
                  <a:srgbClr val="0000FF"/>
                </a:solidFill>
                <a:ea typeface="华文中宋" panose="02010600040101010101" pitchFamily="2" charset="-122"/>
              </a:rPr>
              <a:t> </a:t>
            </a:r>
            <a:r>
              <a:rPr lang="en-US" altLang="zh-CN" sz="2400" b="1" i="1" dirty="0">
                <a:solidFill>
                  <a:srgbClr val="0000FF"/>
                </a:solidFill>
                <a:ea typeface="华文中宋" panose="02010600040101010101" pitchFamily="2" charset="-122"/>
                <a:sym typeface="Symbol" panose="05050102010706020507" pitchFamily="18" charset="2"/>
              </a:rPr>
              <a:t></a:t>
            </a:r>
            <a:r>
              <a:rPr lang="en-US" altLang="zh-CN" sz="2400" b="1" baseline="-30000" dirty="0">
                <a:solidFill>
                  <a:srgbClr val="0000FF"/>
                </a:solidFill>
                <a:ea typeface="华文中宋" panose="02010600040101010101" pitchFamily="2" charset="-122"/>
              </a:rPr>
              <a:t>P</a:t>
            </a:r>
            <a:r>
              <a:rPr lang="en-US" altLang="zh-CN" sz="2400" b="1" dirty="0">
                <a:solidFill>
                  <a:srgbClr val="0000FF"/>
                </a:solidFill>
                <a:ea typeface="华文中宋" panose="02010600040101010101" pitchFamily="2" charset="-122"/>
              </a:rPr>
              <a:t>+ Fe</a:t>
            </a:r>
            <a:r>
              <a:rPr lang="en-US" altLang="zh-CN" sz="2400" b="1" baseline="-30000" dirty="0">
                <a:solidFill>
                  <a:srgbClr val="0000FF"/>
                </a:solidFill>
                <a:ea typeface="华文中宋" panose="02010600040101010101" pitchFamily="2" charset="-122"/>
              </a:rPr>
              <a:t>3</a:t>
            </a:r>
            <a:r>
              <a:rPr lang="en-US" altLang="zh-CN" sz="2400" b="1" dirty="0">
                <a:solidFill>
                  <a:srgbClr val="0000FF"/>
                </a:solidFill>
                <a:ea typeface="华文中宋" panose="02010600040101010101" pitchFamily="2" charset="-122"/>
              </a:rPr>
              <a:t>C </a:t>
            </a:r>
            <a:r>
              <a:rPr lang="zh-CN" altLang="en-US" sz="2400" b="1" dirty="0">
                <a:ea typeface="华文中宋" panose="02010600040101010101" pitchFamily="2" charset="-122"/>
              </a:rPr>
              <a:t>。 </a:t>
            </a:r>
            <a:r>
              <a:rPr lang="en-US" altLang="zh-CN" sz="2400" b="1" dirty="0"/>
              <a:t>(</a:t>
            </a:r>
            <a:r>
              <a:rPr lang="en-US" altLang="zh-CN" sz="2400" b="1" i="1" dirty="0">
                <a:ea typeface="华文中宋" panose="02010600040101010101" pitchFamily="2" charset="-122"/>
                <a:sym typeface="Symbol" panose="05050102010706020507" pitchFamily="18" charset="2"/>
              </a:rPr>
              <a:t></a:t>
            </a:r>
            <a:r>
              <a:rPr lang="en-US" altLang="zh-CN" sz="2400" b="1" dirty="0">
                <a:ea typeface="华文中宋" panose="02010600040101010101" pitchFamily="2" charset="-122"/>
                <a:sym typeface="Symbol" panose="05050102010706020507" pitchFamily="18" charset="2"/>
              </a:rPr>
              <a:t>—</a:t>
            </a:r>
            <a:r>
              <a:rPr lang="zh-CN" altLang="en-US" sz="2400" b="1" dirty="0">
                <a:ea typeface="华文中宋" panose="02010600040101010101" pitchFamily="2" charset="-122"/>
                <a:sym typeface="Symbol" panose="05050102010706020507" pitchFamily="18" charset="2"/>
              </a:rPr>
              <a:t>奥氏体，</a:t>
            </a:r>
            <a:r>
              <a:rPr lang="zh-CN" altLang="en-US" sz="2400" b="1" i="1" dirty="0">
                <a:ea typeface="华文中宋" panose="02010600040101010101" pitchFamily="2" charset="-122"/>
                <a:sym typeface="Symbol" panose="05050102010706020507" pitchFamily="18" charset="2"/>
              </a:rPr>
              <a:t></a:t>
            </a:r>
            <a:r>
              <a:rPr lang="en-US" altLang="zh-CN" sz="2400" b="1" dirty="0">
                <a:ea typeface="华文中宋" panose="02010600040101010101" pitchFamily="2" charset="-122"/>
                <a:sym typeface="Symbol" panose="05050102010706020507" pitchFamily="18" charset="2"/>
              </a:rPr>
              <a:t>—</a:t>
            </a:r>
            <a:r>
              <a:rPr lang="zh-CN" altLang="en-US" sz="2400" b="1" dirty="0">
                <a:ea typeface="华文中宋" panose="02010600040101010101" pitchFamily="2" charset="-122"/>
                <a:sym typeface="Symbol" panose="05050102010706020507" pitchFamily="18" charset="2"/>
              </a:rPr>
              <a:t>铁素体，</a:t>
            </a:r>
            <a:r>
              <a:rPr lang="en-US" altLang="zh-CN" sz="2400" b="1" dirty="0">
                <a:ea typeface="华文中宋" panose="02010600040101010101" pitchFamily="2" charset="-122"/>
              </a:rPr>
              <a:t>Fe</a:t>
            </a:r>
            <a:r>
              <a:rPr lang="en-US" altLang="zh-CN" sz="2400" b="1" baseline="-30000" dirty="0">
                <a:ea typeface="华文中宋" panose="02010600040101010101" pitchFamily="2" charset="-122"/>
              </a:rPr>
              <a:t>3</a:t>
            </a:r>
            <a:r>
              <a:rPr lang="en-US" altLang="zh-CN" sz="2400" b="1" dirty="0">
                <a:ea typeface="华文中宋" panose="02010600040101010101" pitchFamily="2" charset="-122"/>
              </a:rPr>
              <a:t>C—</a:t>
            </a:r>
            <a:r>
              <a:rPr lang="zh-CN" altLang="en-US" sz="2400" b="1" dirty="0">
                <a:ea typeface="华文中宋" panose="02010600040101010101" pitchFamily="2" charset="-122"/>
              </a:rPr>
              <a:t>渗碳体</a:t>
            </a:r>
            <a:r>
              <a:rPr lang="en-US" altLang="zh-CN" sz="2400" b="1" dirty="0"/>
              <a:t>)</a:t>
            </a:r>
          </a:p>
        </p:txBody>
      </p:sp>
      <p:grpSp>
        <p:nvGrpSpPr>
          <p:cNvPr id="2" name="Group 5"/>
          <p:cNvGrpSpPr/>
          <p:nvPr/>
        </p:nvGrpSpPr>
        <p:grpSpPr>
          <a:xfrm>
            <a:off x="2411760" y="5590570"/>
            <a:ext cx="6297900" cy="1219517"/>
            <a:chOff x="624" y="3120"/>
            <a:chExt cx="4266" cy="1019"/>
          </a:xfrm>
        </p:grpSpPr>
        <p:pic>
          <p:nvPicPr>
            <p:cNvPr id="89102" name="Picture 6" descr="A→C+F"/>
            <p:cNvPicPr>
              <a:picLocks noChangeAspect="1"/>
            </p:cNvPicPr>
            <p:nvPr/>
          </p:nvPicPr>
          <p:blipFill>
            <a:blip r:embed="rId3"/>
            <a:stretch>
              <a:fillRect/>
            </a:stretch>
          </p:blipFill>
          <p:spPr>
            <a:xfrm>
              <a:off x="624" y="3120"/>
              <a:ext cx="4266" cy="1019"/>
            </a:xfrm>
            <a:prstGeom prst="rect">
              <a:avLst/>
            </a:prstGeom>
            <a:noFill/>
            <a:ln w="9525">
              <a:noFill/>
            </a:ln>
          </p:spPr>
        </p:pic>
        <p:sp>
          <p:nvSpPr>
            <p:cNvPr id="89103" name="Rectangle 7"/>
            <p:cNvSpPr/>
            <p:nvPr/>
          </p:nvSpPr>
          <p:spPr>
            <a:xfrm>
              <a:off x="2145" y="3434"/>
              <a:ext cx="192" cy="192"/>
            </a:xfrm>
            <a:prstGeom prst="rect">
              <a:avLst/>
            </a:prstGeom>
            <a:solidFill>
              <a:schemeClr val="bg1"/>
            </a:solidFill>
            <a:ln w="9525" cap="flat" cmpd="sng">
              <a:noFill/>
              <a:prstDash val="solid"/>
              <a:miter/>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grpSp>
      <p:grpSp>
        <p:nvGrpSpPr>
          <p:cNvPr id="89095" name="Group 8"/>
          <p:cNvGrpSpPr/>
          <p:nvPr/>
        </p:nvGrpSpPr>
        <p:grpSpPr>
          <a:xfrm>
            <a:off x="6072188" y="2132856"/>
            <a:ext cx="3071812" cy="2865437"/>
            <a:chOff x="3115" y="192"/>
            <a:chExt cx="2501" cy="2267"/>
          </a:xfrm>
        </p:grpSpPr>
        <p:grpSp>
          <p:nvGrpSpPr>
            <p:cNvPr id="89097" name="Group 9"/>
            <p:cNvGrpSpPr/>
            <p:nvPr/>
          </p:nvGrpSpPr>
          <p:grpSpPr>
            <a:xfrm>
              <a:off x="3115" y="192"/>
              <a:ext cx="2501" cy="2267"/>
              <a:chOff x="3072" y="192"/>
              <a:chExt cx="2501" cy="2267"/>
            </a:xfrm>
          </p:grpSpPr>
          <p:pic>
            <p:nvPicPr>
              <p:cNvPr id="89099" name="Picture 10" descr="Fe-C相图0"/>
              <p:cNvPicPr>
                <a:picLocks noChangeAspect="1"/>
              </p:cNvPicPr>
              <p:nvPr/>
            </p:nvPicPr>
            <p:blipFill>
              <a:blip r:embed="rId4"/>
              <a:stretch>
                <a:fillRect/>
              </a:stretch>
            </p:blipFill>
            <p:spPr>
              <a:xfrm>
                <a:off x="3072" y="192"/>
                <a:ext cx="2501" cy="2267"/>
              </a:xfrm>
              <a:prstGeom prst="rect">
                <a:avLst/>
              </a:prstGeom>
              <a:noFill/>
              <a:ln w="9525">
                <a:noFill/>
              </a:ln>
            </p:spPr>
          </p:pic>
          <p:sp>
            <p:nvSpPr>
              <p:cNvPr id="89100" name="Text Box 11"/>
              <p:cNvSpPr txBox="1"/>
              <p:nvPr/>
            </p:nvSpPr>
            <p:spPr>
              <a:xfrm>
                <a:off x="3467" y="1328"/>
                <a:ext cx="193" cy="229"/>
              </a:xfrm>
              <a:prstGeom prst="rect">
                <a:avLst/>
              </a:prstGeom>
              <a:noFill/>
              <a:ln w="9525">
                <a:noFill/>
              </a:ln>
            </p:spPr>
            <p:txBody>
              <a:bodyPr>
                <a:spAutoFit/>
              </a:bodyPr>
              <a:lstStyle/>
              <a:p>
                <a:pPr lvl="0" eaLnBrk="1" hangingPunct="1">
                  <a:spcBef>
                    <a:spcPct val="50000"/>
                  </a:spcBef>
                </a:pPr>
                <a:r>
                  <a:rPr lang="en-US" altLang="zh-CN" sz="1400" b="1" dirty="0">
                    <a:solidFill>
                      <a:srgbClr val="663300"/>
                    </a:solidFill>
                    <a:latin typeface="Times New Roman" panose="02020603050405020304" pitchFamily="18" charset="0"/>
                    <a:ea typeface="宋体" panose="02010600030101010101" pitchFamily="2" charset="-122"/>
                  </a:rPr>
                  <a:t>S</a:t>
                </a:r>
              </a:p>
            </p:txBody>
          </p:sp>
          <p:sp>
            <p:nvSpPr>
              <p:cNvPr id="89101" name="Text Box 12"/>
              <p:cNvSpPr txBox="1"/>
              <p:nvPr/>
            </p:nvSpPr>
            <p:spPr>
              <a:xfrm>
                <a:off x="3275" y="1488"/>
                <a:ext cx="192" cy="228"/>
              </a:xfrm>
              <a:prstGeom prst="rect">
                <a:avLst/>
              </a:prstGeom>
              <a:noFill/>
              <a:ln w="9525">
                <a:noFill/>
              </a:ln>
            </p:spPr>
            <p:txBody>
              <a:bodyPr>
                <a:spAutoFit/>
              </a:bodyPr>
              <a:lstStyle/>
              <a:p>
                <a:pPr lvl="0" eaLnBrk="1" hangingPunct="1">
                  <a:spcBef>
                    <a:spcPct val="50000"/>
                  </a:spcBef>
                </a:pPr>
                <a:r>
                  <a:rPr lang="en-US" altLang="zh-CN" sz="1400" b="1" dirty="0">
                    <a:solidFill>
                      <a:srgbClr val="663300"/>
                    </a:solidFill>
                    <a:latin typeface="Times New Roman" panose="02020603050405020304" pitchFamily="18" charset="0"/>
                    <a:ea typeface="宋体" panose="02010600030101010101" pitchFamily="2" charset="-122"/>
                  </a:rPr>
                  <a:t>P</a:t>
                </a:r>
              </a:p>
            </p:txBody>
          </p:sp>
        </p:grpSp>
        <p:sp>
          <p:nvSpPr>
            <p:cNvPr id="89098" name="Oval 13"/>
            <p:cNvSpPr>
              <a:spLocks noChangeAspect="1"/>
            </p:cNvSpPr>
            <p:nvPr/>
          </p:nvSpPr>
          <p:spPr>
            <a:xfrm>
              <a:off x="3259" y="1008"/>
              <a:ext cx="2256" cy="924"/>
            </a:xfrm>
            <a:prstGeom prst="ellipse">
              <a:avLst/>
            </a:prstGeom>
            <a:noFill/>
            <a:ln w="12700" cap="flat" cmpd="sng">
              <a:solidFill>
                <a:srgbClr val="000080"/>
              </a:solidFill>
              <a:prstDash val="solid"/>
              <a:miter/>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grpSp>
      <p:pic>
        <p:nvPicPr>
          <p:cNvPr id="16" name="内容占位符 1" descr="新校徽（3M）弓之乐"/>
          <p:cNvPicPr>
            <a:picLocks noChangeAspect="1"/>
          </p:cNvPicPr>
          <p:nvPr/>
        </p:nvPicPr>
        <p:blipFill>
          <a:blip r:embed="rId5"/>
          <a:stretch>
            <a:fillRect/>
          </a:stretch>
        </p:blipFill>
        <p:spPr>
          <a:xfrm>
            <a:off x="0" y="0"/>
            <a:ext cx="746760" cy="735965"/>
          </a:xfrm>
          <a:prstGeom prst="rect">
            <a:avLst/>
          </a:prstGeom>
          <a:noFill/>
          <a:ln w="9525">
            <a:noFill/>
          </a:ln>
        </p:spPr>
      </p:pic>
      <p:sp>
        <p:nvSpPr>
          <p:cNvPr id="8" name="圆角矩形 7" descr="7b0a202020202262756c6c6574223a20227b5c2263617465676f727949645c223a31303032352c5c2274656d706c61746549645c223a32303233313437347d220a7d0a"/>
          <p:cNvSpPr/>
          <p:nvPr>
            <p:custDataLst>
              <p:tags r:id="rId1"/>
            </p:custDataLst>
          </p:nvPr>
        </p:nvSpPr>
        <p:spPr>
          <a:xfrm>
            <a:off x="467360" y="1917065"/>
            <a:ext cx="2414270" cy="480060"/>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28575" cmpd="dbl">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400" b="1" dirty="0">
                <a:solidFill>
                  <a:srgbClr val="0000FF"/>
                </a:solidFill>
                <a:ea typeface="华文中宋" panose="02010600040101010101" pitchFamily="2" charset="-122"/>
                <a:sym typeface="+mn-ea"/>
              </a:rPr>
              <a:t>共析反应(转变)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日期占位符 3"/>
          <p:cNvSpPr txBox="1">
            <a:spLocks noGrp="1"/>
          </p:cNvSpPr>
          <p:nvPr>
            <p:ph type="dt" sz="half" idx="10"/>
          </p:nvPr>
        </p:nvSpPr>
        <p:spPr>
          <a:xfrm>
            <a:off x="0" y="6510338"/>
            <a:ext cx="2305050"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90115" name="灯片编号占位符 5"/>
          <p:cNvSpPr txBox="1">
            <a:spLocks noGrp="1"/>
          </p:cNvSpPr>
          <p:nvPr>
            <p:ph type="sldNum" sz="quarter" idx="12"/>
          </p:nvPr>
        </p:nvSpPr>
        <p:spPr>
          <a:xfrm>
            <a:off x="8645525" y="6605905"/>
            <a:ext cx="498475" cy="252095"/>
          </a:xfrm>
        </p:spPr>
        <p:txBody>
          <a:bodyPr lIns="92075" tIns="46038" rIns="92075" bIns="46038" anchor="ctr"/>
          <a:lstStyle/>
          <a:p>
            <a:pPr algn="r" eaLnBrk="1" hangingPunct="1"/>
            <a:fld id="{9A0DB2DC-4C9A-4742-B13C-FB6460FD3503}" type="slidenum">
              <a:rPr lang="en-US" altLang="zh-CN" sz="1400" dirty="0"/>
              <a:t>93</a:t>
            </a:fld>
            <a:endParaRPr lang="en-US" altLang="zh-CN" sz="1400" dirty="0"/>
          </a:p>
        </p:txBody>
      </p:sp>
      <p:sp>
        <p:nvSpPr>
          <p:cNvPr id="90116" name="Rectangle 2"/>
          <p:cNvSpPr>
            <a:spLocks noGrp="1"/>
          </p:cNvSpPr>
          <p:nvPr>
            <p:ph type="title"/>
          </p:nvPr>
        </p:nvSpPr>
        <p:spPr>
          <a:xfrm>
            <a:off x="1026477" y="242887"/>
            <a:ext cx="8117523" cy="1143000"/>
          </a:xfrm>
        </p:spPr>
        <p:txBody>
          <a:bodyPr vert="horz" wrap="square" lIns="92075" tIns="46038" rIns="92075" bIns="46038" anchor="ctr"/>
          <a:lstStyle/>
          <a:p>
            <a:pPr eaLnBrk="1" hangingPunct="1"/>
            <a:r>
              <a:rPr lang="en-US" altLang="zh-CN" b="1" dirty="0">
                <a:solidFill>
                  <a:srgbClr val="FF0000"/>
                </a:solidFill>
              </a:rPr>
              <a:t>5</a:t>
            </a:r>
            <a:r>
              <a:rPr lang="zh-CN" altLang="en-US" b="1" dirty="0">
                <a:solidFill>
                  <a:srgbClr val="FF0000"/>
                </a:solidFill>
              </a:rPr>
              <a:t>、具有共析反应二元相图（续）</a:t>
            </a:r>
          </a:p>
        </p:txBody>
      </p:sp>
      <p:sp>
        <p:nvSpPr>
          <p:cNvPr id="297987" name="Rectangle 3"/>
          <p:cNvSpPr>
            <a:spLocks noGrp="1" noChangeArrowheads="1"/>
          </p:cNvSpPr>
          <p:nvPr>
            <p:ph idx="1"/>
          </p:nvPr>
        </p:nvSpPr>
        <p:spPr>
          <a:xfrm>
            <a:off x="179705" y="1960880"/>
            <a:ext cx="5688330" cy="4521200"/>
          </a:xfrm>
        </p:spPr>
        <p:txBody>
          <a:bodyPr vert="horz" wrap="square" lIns="91440" tIns="45720" rIns="91440" bIns="45720" numCol="1" anchor="t" anchorCtr="0" compatLnSpc="1"/>
          <a:lstStyle/>
          <a:p>
            <a:pPr marL="342900" marR="0" lvl="0" indent="-342900" algn="just" defTabSz="914400" rtl="0" eaLnBrk="1" latinLnBrk="0" hangingPunct="1">
              <a:lnSpc>
                <a:spcPct val="130000"/>
              </a:lnSpc>
              <a:spcBef>
                <a:spcPts val="0"/>
              </a:spcBef>
              <a:spcAft>
                <a:spcPct val="0"/>
              </a:spcAft>
              <a:buClr>
                <a:schemeClr val="accent2"/>
              </a:buClr>
              <a:buSzPct val="80000"/>
              <a:buFont typeface="Wingdings" panose="05000000000000000000" pitchFamily="2" charset="2"/>
              <a:buChar char="l"/>
              <a:defRPr/>
            </a:pPr>
            <a:r>
              <a:rPr kumimoji="1" lang="zh-CN" altLang="en-US" sz="3200" b="1" i="0" u="none" strike="noStrike" kern="0" cap="none" spc="0" normalizeH="0" baseline="0" noProof="0" dirty="0">
                <a:ln>
                  <a:noFill/>
                </a:ln>
                <a:solidFill>
                  <a:schemeClr val="tx1"/>
                </a:solidFill>
                <a:effectLst/>
                <a:uLnTx/>
                <a:uFillTx/>
                <a:latin typeface="+mn-lt"/>
                <a:ea typeface="华文中宋" panose="02010600040101010101" pitchFamily="2" charset="-122"/>
                <a:cs typeface="+mn-cs"/>
              </a:rPr>
              <a:t>共析相图与共晶相图相似，对应的有</a:t>
            </a:r>
            <a:r>
              <a:rPr kumimoji="1" lang="zh-CN" altLang="en-US" sz="3200" b="1" i="0" u="none" strike="noStrike" kern="0" cap="none" spc="0" normalizeH="0" baseline="0" noProof="0" dirty="0">
                <a:ln>
                  <a:noFill/>
                </a:ln>
                <a:solidFill>
                  <a:srgbClr val="0000FF"/>
                </a:solidFill>
                <a:effectLst/>
                <a:uLnTx/>
                <a:uFillTx/>
                <a:latin typeface="+mn-lt"/>
                <a:ea typeface="华文中宋" panose="02010600040101010101" pitchFamily="2" charset="-122"/>
                <a:cs typeface="+mn-cs"/>
              </a:rPr>
              <a:t>共析线</a:t>
            </a:r>
            <a:r>
              <a:rPr kumimoji="1" lang="en-US" altLang="zh-CN" sz="3200" b="1" i="0" u="none" strike="noStrike" kern="0" cap="none" spc="0" normalizeH="0" baseline="0" noProof="0" dirty="0">
                <a:ln>
                  <a:noFill/>
                </a:ln>
                <a:solidFill>
                  <a:schemeClr val="tx1"/>
                </a:solidFill>
                <a:effectLst/>
                <a:uLnTx/>
                <a:uFillTx/>
                <a:latin typeface="+mn-lt"/>
                <a:ea typeface="华文中宋" panose="02010600040101010101" pitchFamily="2" charset="-122"/>
                <a:cs typeface="+mn-cs"/>
              </a:rPr>
              <a:t>(PSK</a:t>
            </a:r>
            <a:r>
              <a:rPr kumimoji="1" lang="zh-CN" altLang="en-US" sz="3200" b="1" i="0" u="none" strike="noStrike" kern="0" cap="none" spc="0" normalizeH="0" baseline="0" noProof="0" dirty="0">
                <a:ln>
                  <a:noFill/>
                </a:ln>
                <a:solidFill>
                  <a:schemeClr val="tx1"/>
                </a:solidFill>
                <a:effectLst/>
                <a:uLnTx/>
                <a:uFillTx/>
                <a:latin typeface="+mn-lt"/>
                <a:ea typeface="华文中宋" panose="02010600040101010101" pitchFamily="2" charset="-122"/>
                <a:cs typeface="+mn-cs"/>
              </a:rPr>
              <a:t>线</a:t>
            </a:r>
            <a:r>
              <a:rPr kumimoji="1" lang="en-US" altLang="zh-CN" sz="3200" b="1" i="0" u="none" strike="noStrike" kern="0" cap="none" spc="0" normalizeH="0" baseline="0" noProof="0" dirty="0">
                <a:ln>
                  <a:noFill/>
                </a:ln>
                <a:solidFill>
                  <a:schemeClr val="tx1"/>
                </a:solidFill>
                <a:effectLst/>
                <a:uLnTx/>
                <a:uFillTx/>
                <a:latin typeface="+mn-lt"/>
                <a:ea typeface="华文中宋" panose="02010600040101010101" pitchFamily="2" charset="-122"/>
                <a:cs typeface="+mn-cs"/>
              </a:rPr>
              <a:t>)</a:t>
            </a:r>
            <a:r>
              <a:rPr kumimoji="1" lang="zh-CN" altLang="en-US" sz="3200" b="1" i="0" u="none" strike="noStrike" kern="0" cap="none" spc="0" normalizeH="0" baseline="0" noProof="0" dirty="0">
                <a:ln>
                  <a:noFill/>
                </a:ln>
                <a:solidFill>
                  <a:schemeClr val="tx1"/>
                </a:solidFill>
                <a:effectLst/>
                <a:uLnTx/>
                <a:uFillTx/>
                <a:latin typeface="+mn-lt"/>
                <a:ea typeface="华文中宋" panose="02010600040101010101" pitchFamily="2" charset="-122"/>
                <a:cs typeface="+mn-cs"/>
              </a:rPr>
              <a:t>、</a:t>
            </a:r>
            <a:r>
              <a:rPr kumimoji="1" lang="zh-CN" altLang="en-US" sz="3200" b="1" i="0" u="none" strike="noStrike" kern="0" cap="none" spc="0" normalizeH="0" baseline="0" noProof="0" dirty="0">
                <a:ln>
                  <a:noFill/>
                </a:ln>
                <a:solidFill>
                  <a:srgbClr val="0000FF"/>
                </a:solidFill>
                <a:effectLst/>
                <a:uLnTx/>
                <a:uFillTx/>
                <a:latin typeface="+mn-lt"/>
                <a:ea typeface="华文中宋" panose="02010600040101010101" pitchFamily="2" charset="-122"/>
                <a:cs typeface="+mn-cs"/>
              </a:rPr>
              <a:t>共析点</a:t>
            </a:r>
            <a:r>
              <a:rPr kumimoji="1" lang="en-US" altLang="zh-CN" sz="3200" b="1" i="0" u="none" strike="noStrike" kern="0" cap="none" spc="0" normalizeH="0" baseline="0" noProof="0" dirty="0">
                <a:ln>
                  <a:noFill/>
                </a:ln>
                <a:solidFill>
                  <a:schemeClr val="tx1"/>
                </a:solidFill>
                <a:effectLst/>
                <a:uLnTx/>
                <a:uFillTx/>
                <a:latin typeface="+mn-lt"/>
                <a:ea typeface="华文中宋" panose="02010600040101010101" pitchFamily="2" charset="-122"/>
                <a:cs typeface="+mn-cs"/>
              </a:rPr>
              <a:t>(S</a:t>
            </a:r>
            <a:r>
              <a:rPr kumimoji="1" lang="zh-CN" altLang="en-US" sz="3200" b="1" i="0" u="none" strike="noStrike" kern="0" cap="none" spc="0" normalizeH="0" baseline="0" noProof="0" dirty="0">
                <a:ln>
                  <a:noFill/>
                </a:ln>
                <a:solidFill>
                  <a:schemeClr val="tx1"/>
                </a:solidFill>
                <a:effectLst/>
                <a:uLnTx/>
                <a:uFillTx/>
                <a:latin typeface="+mn-lt"/>
                <a:ea typeface="华文中宋" panose="02010600040101010101" pitchFamily="2" charset="-122"/>
                <a:cs typeface="+mn-cs"/>
              </a:rPr>
              <a:t>点</a:t>
            </a:r>
            <a:r>
              <a:rPr kumimoji="1" lang="en-US" altLang="zh-CN" sz="3200" b="1" i="0" u="none" strike="noStrike" kern="0" cap="none" spc="0" normalizeH="0" baseline="0" noProof="0" dirty="0">
                <a:ln>
                  <a:noFill/>
                </a:ln>
                <a:solidFill>
                  <a:schemeClr val="tx1"/>
                </a:solidFill>
                <a:effectLst/>
                <a:uLnTx/>
                <a:uFillTx/>
                <a:latin typeface="+mn-lt"/>
                <a:ea typeface="华文中宋" panose="02010600040101010101" pitchFamily="2" charset="-122"/>
                <a:cs typeface="+mn-cs"/>
              </a:rPr>
              <a:t>)</a:t>
            </a:r>
            <a:r>
              <a:rPr kumimoji="1" lang="zh-CN" altLang="en-US" sz="3200" b="1" i="0" u="none" strike="noStrike" kern="0" cap="none" spc="0" normalizeH="0" baseline="0" noProof="0" dirty="0">
                <a:ln>
                  <a:noFill/>
                </a:ln>
                <a:solidFill>
                  <a:schemeClr val="tx1"/>
                </a:solidFill>
                <a:effectLst/>
                <a:uLnTx/>
                <a:uFillTx/>
                <a:latin typeface="+mn-lt"/>
                <a:ea typeface="华文中宋" panose="02010600040101010101" pitchFamily="2" charset="-122"/>
                <a:cs typeface="+mn-cs"/>
              </a:rPr>
              <a:t>、</a:t>
            </a:r>
            <a:r>
              <a:rPr kumimoji="1" lang="zh-CN" altLang="en-US" sz="3200" b="1" i="0" u="none" strike="noStrike" kern="0" cap="none" spc="0" normalizeH="0" baseline="0" noProof="0" dirty="0">
                <a:ln>
                  <a:noFill/>
                </a:ln>
                <a:solidFill>
                  <a:srgbClr val="0000FF"/>
                </a:solidFill>
                <a:effectLst/>
                <a:uLnTx/>
                <a:uFillTx/>
                <a:latin typeface="+mn-lt"/>
                <a:ea typeface="华文中宋" panose="02010600040101010101" pitchFamily="2" charset="-122"/>
                <a:cs typeface="+mn-cs"/>
              </a:rPr>
              <a:t>共析温度</a:t>
            </a:r>
            <a:r>
              <a:rPr kumimoji="1" lang="zh-CN" altLang="en-US" sz="3200" b="1" i="0" u="none" strike="noStrike" kern="0" cap="none" spc="0" normalizeH="0" baseline="0" noProof="0" dirty="0">
                <a:ln>
                  <a:noFill/>
                </a:ln>
                <a:solidFill>
                  <a:schemeClr val="folHlink"/>
                </a:solidFill>
                <a:effectLst/>
                <a:uLnTx/>
                <a:uFillTx/>
                <a:latin typeface="+mn-lt"/>
                <a:ea typeface="华文中宋" panose="02010600040101010101" pitchFamily="2" charset="-122"/>
                <a:cs typeface="+mn-cs"/>
              </a:rPr>
              <a:t>、</a:t>
            </a:r>
            <a:r>
              <a:rPr kumimoji="1" lang="zh-CN" altLang="en-US" sz="3200" b="1" i="0" u="none" strike="noStrike" kern="0" cap="none" spc="0" normalizeH="0" baseline="0" noProof="0" dirty="0">
                <a:ln>
                  <a:noFill/>
                </a:ln>
                <a:solidFill>
                  <a:srgbClr val="0000FF"/>
                </a:solidFill>
                <a:effectLst/>
                <a:uLnTx/>
                <a:uFillTx/>
                <a:latin typeface="+mn-lt"/>
                <a:ea typeface="华文中宋" panose="02010600040101010101" pitchFamily="2" charset="-122"/>
                <a:cs typeface="+mn-cs"/>
              </a:rPr>
              <a:t>共析成分</a:t>
            </a:r>
            <a:r>
              <a:rPr kumimoji="1" lang="zh-CN" altLang="en-US" sz="3200" b="1" i="0" u="none" strike="noStrike" kern="0" cap="none" spc="0" normalizeH="0" baseline="0" noProof="0" dirty="0">
                <a:ln>
                  <a:noFill/>
                </a:ln>
                <a:solidFill>
                  <a:schemeClr val="folHlink"/>
                </a:solidFill>
                <a:effectLst/>
                <a:uLnTx/>
                <a:uFillTx/>
                <a:latin typeface="+mn-lt"/>
                <a:ea typeface="华文中宋" panose="02010600040101010101" pitchFamily="2" charset="-122"/>
                <a:cs typeface="+mn-cs"/>
              </a:rPr>
              <a:t>、</a:t>
            </a:r>
            <a:r>
              <a:rPr kumimoji="1" lang="zh-CN" altLang="en-US" sz="3200" b="1" i="0" u="none" strike="noStrike" kern="0" cap="none" spc="0" normalizeH="0" baseline="0" noProof="0" dirty="0">
                <a:ln>
                  <a:noFill/>
                </a:ln>
                <a:solidFill>
                  <a:srgbClr val="0000FF"/>
                </a:solidFill>
                <a:effectLst/>
                <a:uLnTx/>
                <a:uFillTx/>
                <a:latin typeface="+mn-lt"/>
                <a:ea typeface="华文中宋" panose="02010600040101010101" pitchFamily="2" charset="-122"/>
                <a:cs typeface="+mn-cs"/>
              </a:rPr>
              <a:t>共析合金</a:t>
            </a:r>
            <a:r>
              <a:rPr kumimoji="1" lang="zh-CN" altLang="en-US" sz="3200" b="1"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（共析成分合金）、</a:t>
            </a:r>
            <a:r>
              <a:rPr kumimoji="1" lang="zh-CN" altLang="en-US" sz="3200" b="1" i="0" u="none" strike="noStrike" kern="0" cap="none" spc="0" normalizeH="0" baseline="0" noProof="0" dirty="0">
                <a:ln>
                  <a:noFill/>
                </a:ln>
                <a:solidFill>
                  <a:srgbClr val="0000FF"/>
                </a:solidFill>
                <a:effectLst/>
                <a:uLnTx/>
                <a:uFillTx/>
                <a:latin typeface="+mn-lt"/>
                <a:ea typeface="华文中宋" panose="02010600040101010101" pitchFamily="2" charset="-122"/>
                <a:cs typeface="+mn-cs"/>
              </a:rPr>
              <a:t>亚共析合金</a:t>
            </a:r>
            <a:r>
              <a:rPr kumimoji="1" lang="zh-CN" altLang="en-US" sz="3200" b="1"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1" lang="en-US" altLang="zh-CN" sz="3200" b="1"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S</a:t>
            </a:r>
            <a:r>
              <a:rPr kumimoji="1" lang="zh-CN" altLang="en-US" sz="3200" b="1"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点以左的合金）、</a:t>
            </a:r>
            <a:r>
              <a:rPr kumimoji="1" lang="zh-CN" altLang="en-US" sz="3200" b="1" i="0" u="none" strike="noStrike" kern="0" cap="none" spc="0" normalizeH="0" baseline="0" noProof="0" dirty="0">
                <a:ln>
                  <a:noFill/>
                </a:ln>
                <a:solidFill>
                  <a:srgbClr val="0000FF"/>
                </a:solidFill>
                <a:effectLst/>
                <a:uLnTx/>
                <a:uFillTx/>
                <a:latin typeface="+mn-lt"/>
                <a:ea typeface="华文中宋" panose="02010600040101010101" pitchFamily="2" charset="-122"/>
                <a:cs typeface="+mn-cs"/>
              </a:rPr>
              <a:t>过共析合金</a:t>
            </a:r>
            <a:r>
              <a:rPr kumimoji="1" lang="zh-CN" altLang="en-US" sz="3200" b="1"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1" lang="en-US" altLang="zh-CN" sz="3200" b="1"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S</a:t>
            </a:r>
            <a:r>
              <a:rPr kumimoji="1" lang="zh-CN" altLang="en-US" sz="3200" b="1"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点以右的合金）。</a:t>
            </a:r>
          </a:p>
          <a:p>
            <a:pPr marL="342900" marR="0" lvl="0" indent="-342900" algn="just" defTabSz="914400" rtl="0" eaLnBrk="1" fontAlgn="base" latinLnBrk="0" hangingPunct="1">
              <a:lnSpc>
                <a:spcPct val="140000"/>
              </a:lnSpc>
              <a:spcBef>
                <a:spcPct val="20000"/>
              </a:spcBef>
              <a:spcAft>
                <a:spcPct val="0"/>
              </a:spcAft>
              <a:buClr>
                <a:schemeClr val="accent2"/>
              </a:buClr>
              <a:buSzPct val="80000"/>
              <a:buFont typeface="Wingdings" panose="05000000000000000000" pitchFamily="2" charset="2"/>
              <a:buChar char="l"/>
              <a:defRPr/>
            </a:pPr>
            <a:endParaRPr kumimoji="1" lang="en-US" altLang="zh-CN" sz="2400" b="1" i="0" u="none" strike="noStrike" kern="0" cap="none" spc="0" normalizeH="0" baseline="0" noProof="0" dirty="0">
              <a:ln>
                <a:noFill/>
              </a:ln>
              <a:solidFill>
                <a:schemeClr val="folHlink"/>
              </a:solidFill>
              <a:effectLst>
                <a:outerShdw blurRad="38100" dist="38100" dir="2700000" algn="tl">
                  <a:srgbClr val="000000"/>
                </a:outerShdw>
              </a:effectLst>
              <a:uLnTx/>
              <a:uFillTx/>
              <a:latin typeface="+mn-lt"/>
              <a:ea typeface="华文中宋" panose="02010600040101010101" pitchFamily="2" charset="-122"/>
              <a:cs typeface="+mn-cs"/>
            </a:endParaRPr>
          </a:p>
        </p:txBody>
      </p:sp>
      <p:grpSp>
        <p:nvGrpSpPr>
          <p:cNvPr id="2" name="Group 4"/>
          <p:cNvGrpSpPr/>
          <p:nvPr/>
        </p:nvGrpSpPr>
        <p:grpSpPr>
          <a:xfrm>
            <a:off x="6037181" y="2564904"/>
            <a:ext cx="3132137" cy="3462337"/>
            <a:chOff x="2496" y="1200"/>
            <a:chExt cx="2831" cy="2493"/>
          </a:xfrm>
        </p:grpSpPr>
        <p:pic>
          <p:nvPicPr>
            <p:cNvPr id="90120" name="Picture 5" descr="Fe-C相图10"/>
            <p:cNvPicPr>
              <a:picLocks noChangeAspect="1"/>
            </p:cNvPicPr>
            <p:nvPr/>
          </p:nvPicPr>
          <p:blipFill>
            <a:blip r:embed="rId2"/>
            <a:stretch>
              <a:fillRect/>
            </a:stretch>
          </p:blipFill>
          <p:spPr>
            <a:xfrm>
              <a:off x="2496" y="1200"/>
              <a:ext cx="2831" cy="2493"/>
            </a:xfrm>
            <a:prstGeom prst="rect">
              <a:avLst/>
            </a:prstGeom>
            <a:noFill/>
            <a:ln w="38100" cap="flat" cmpd="sng">
              <a:solidFill>
                <a:srgbClr val="CC99FF"/>
              </a:solidFill>
              <a:prstDash val="solid"/>
              <a:miter/>
              <a:headEnd type="none" w="med" len="med"/>
              <a:tailEnd type="none" w="med" len="med"/>
            </a:ln>
          </p:spPr>
        </p:pic>
        <p:sp>
          <p:nvSpPr>
            <p:cNvPr id="90121" name="Text Box 6"/>
            <p:cNvSpPr txBox="1"/>
            <p:nvPr/>
          </p:nvSpPr>
          <p:spPr>
            <a:xfrm>
              <a:off x="3456" y="1203"/>
              <a:ext cx="1584" cy="286"/>
            </a:xfrm>
            <a:prstGeom prst="rect">
              <a:avLst/>
            </a:prstGeom>
            <a:noFill/>
            <a:ln w="9525">
              <a:noFill/>
            </a:ln>
          </p:spPr>
          <p:txBody>
            <a:bodyPr>
              <a:spAutoFit/>
            </a:bodyPr>
            <a:lstStyle/>
            <a:p>
              <a:pPr lvl="0" algn="ctr" eaLnBrk="1" hangingPunct="1">
                <a:spcBef>
                  <a:spcPct val="50000"/>
                </a:spcBef>
              </a:pPr>
              <a:r>
                <a:rPr lang="zh-CN" altLang="en-US" sz="2000" b="1" dirty="0">
                  <a:solidFill>
                    <a:srgbClr val="800000"/>
                  </a:solidFill>
                  <a:latin typeface="Times New Roman" panose="02020603050405020304" pitchFamily="18" charset="0"/>
                  <a:ea typeface="宋体" panose="02010600030101010101" pitchFamily="2" charset="-122"/>
                </a:rPr>
                <a:t>铁碳合金相图</a:t>
              </a:r>
              <a:endParaRPr lang="zh-CN" altLang="en-US" sz="2000" dirty="0">
                <a:solidFill>
                  <a:srgbClr val="800000"/>
                </a:solidFill>
                <a:latin typeface="Times New Roman" panose="02020603050405020304" pitchFamily="18" charset="0"/>
                <a:ea typeface="宋体" panose="02010600030101010101" pitchFamily="2" charset="-122"/>
              </a:endParaRPr>
            </a:p>
          </p:txBody>
        </p:sp>
      </p:grpSp>
      <p:pic>
        <p:nvPicPr>
          <p:cNvPr id="10" name="内容占位符 1" descr="新校徽（3M）弓之乐"/>
          <p:cNvPicPr>
            <a:picLocks noChangeAspect="1"/>
          </p:cNvPicPr>
          <p:nvPr/>
        </p:nvPicPr>
        <p:blipFill>
          <a:blip r:embed="rId3"/>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日期占位符 3"/>
          <p:cNvSpPr txBox="1">
            <a:spLocks noGrp="1"/>
          </p:cNvSpPr>
          <p:nvPr>
            <p:ph type="dt" sz="half" idx="10"/>
          </p:nvPr>
        </p:nvSpPr>
        <p:spPr>
          <a:xfrm>
            <a:off x="0" y="6509385"/>
            <a:ext cx="2440305" cy="34734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91139" name="灯片编号占位符 5"/>
          <p:cNvSpPr txBox="1">
            <a:spLocks noGrp="1"/>
          </p:cNvSpPr>
          <p:nvPr>
            <p:ph type="sldNum" sz="quarter" idx="12"/>
          </p:nvPr>
        </p:nvSpPr>
        <p:spPr>
          <a:xfrm>
            <a:off x="8702675" y="6616065"/>
            <a:ext cx="426085" cy="240665"/>
          </a:xfrm>
        </p:spPr>
        <p:txBody>
          <a:bodyPr lIns="92075" tIns="46038" rIns="92075" bIns="46038" anchor="ctr"/>
          <a:lstStyle/>
          <a:p>
            <a:pPr algn="r" eaLnBrk="1" hangingPunct="1"/>
            <a:fld id="{9A0DB2DC-4C9A-4742-B13C-FB6460FD3503}" type="slidenum">
              <a:rPr lang="en-US" altLang="zh-CN" sz="1400" dirty="0"/>
              <a:t>94</a:t>
            </a:fld>
            <a:endParaRPr lang="en-US" altLang="zh-CN" sz="1400" dirty="0"/>
          </a:p>
        </p:txBody>
      </p:sp>
      <p:sp>
        <p:nvSpPr>
          <p:cNvPr id="91140" name="Rectangle 2"/>
          <p:cNvSpPr>
            <a:spLocks noGrp="1"/>
          </p:cNvSpPr>
          <p:nvPr>
            <p:ph type="title"/>
          </p:nvPr>
        </p:nvSpPr>
        <p:spPr>
          <a:xfrm>
            <a:off x="808037" y="235902"/>
            <a:ext cx="8107680" cy="1000125"/>
          </a:xfrm>
        </p:spPr>
        <p:txBody>
          <a:bodyPr vert="horz" wrap="square" lIns="92075" tIns="46038" rIns="92075" bIns="46038" anchor="ctr"/>
          <a:lstStyle/>
          <a:p>
            <a:pPr eaLnBrk="1" hangingPunct="1"/>
            <a:r>
              <a:rPr lang="en-US" altLang="zh-CN" b="1" dirty="0">
                <a:solidFill>
                  <a:srgbClr val="FF0000"/>
                </a:solidFill>
              </a:rPr>
              <a:t>5</a:t>
            </a:r>
            <a:r>
              <a:rPr lang="zh-CN" altLang="en-US" b="1" dirty="0">
                <a:solidFill>
                  <a:srgbClr val="FF0000"/>
                </a:solidFill>
              </a:rPr>
              <a:t>、具有共析反应二元相图（续</a:t>
            </a:r>
            <a:r>
              <a:rPr lang="zh-CN" altLang="en-US" sz="4000" b="1" dirty="0">
                <a:solidFill>
                  <a:srgbClr val="FF0000"/>
                </a:solidFill>
              </a:rPr>
              <a:t>）</a:t>
            </a:r>
          </a:p>
        </p:txBody>
      </p:sp>
      <p:sp>
        <p:nvSpPr>
          <p:cNvPr id="91141" name="Rectangle 3"/>
          <p:cNvSpPr>
            <a:spLocks noGrp="1"/>
          </p:cNvSpPr>
          <p:nvPr>
            <p:ph idx="1"/>
          </p:nvPr>
        </p:nvSpPr>
        <p:spPr>
          <a:xfrm>
            <a:off x="287020" y="1877695"/>
            <a:ext cx="8569325" cy="4082415"/>
          </a:xfrm>
        </p:spPr>
        <p:txBody>
          <a:bodyPr vert="horz" wrap="square" lIns="91440" tIns="45720" rIns="91440" bIns="45720" anchor="t"/>
          <a:lstStyle/>
          <a:p>
            <a:pPr eaLnBrk="1" hangingPunct="1">
              <a:lnSpc>
                <a:spcPct val="110000"/>
              </a:lnSpc>
            </a:pPr>
            <a:r>
              <a:rPr lang="zh-CN" altLang="en-US" b="1" dirty="0">
                <a:solidFill>
                  <a:schemeClr val="folHlink"/>
                </a:solidFill>
                <a:ea typeface="华文中宋" panose="02010600040101010101" pitchFamily="2" charset="-122"/>
              </a:rPr>
              <a:t>共析反应的产物</a:t>
            </a:r>
            <a:r>
              <a:rPr lang="zh-CN" altLang="en-US" b="1" dirty="0">
                <a:ea typeface="华文中宋" panose="02010600040101010101" pitchFamily="2" charset="-122"/>
              </a:rPr>
              <a:t>是</a:t>
            </a:r>
            <a:r>
              <a:rPr lang="zh-CN" altLang="en-US" b="1" dirty="0">
                <a:solidFill>
                  <a:srgbClr val="0000FF"/>
                </a:solidFill>
                <a:ea typeface="华文中宋" panose="02010600040101010101" pitchFamily="2" charset="-122"/>
              </a:rPr>
              <a:t>共析体</a:t>
            </a:r>
            <a:r>
              <a:rPr lang="zh-CN" altLang="en-US" b="1" dirty="0">
                <a:solidFill>
                  <a:schemeClr val="tx2"/>
                </a:solidFill>
                <a:ea typeface="华文中宋" panose="02010600040101010101" pitchFamily="2" charset="-122"/>
              </a:rPr>
              <a:t> </a:t>
            </a:r>
            <a:r>
              <a:rPr lang="en-US" altLang="zh-CN" b="1" dirty="0">
                <a:ea typeface="华文中宋" panose="02010600040101010101" pitchFamily="2" charset="-122"/>
              </a:rPr>
              <a:t>(</a:t>
            </a:r>
            <a:r>
              <a:rPr lang="zh-CN" altLang="en-US" b="1" dirty="0">
                <a:ea typeface="华文中宋" panose="02010600040101010101" pitchFamily="2" charset="-122"/>
              </a:rPr>
              <a:t>铁碳合金中的共析体称</a:t>
            </a:r>
            <a:r>
              <a:rPr lang="zh-CN" altLang="en-US" b="1" dirty="0">
                <a:solidFill>
                  <a:srgbClr val="0000FF"/>
                </a:solidFill>
                <a:ea typeface="华文中宋" panose="02010600040101010101" pitchFamily="2" charset="-122"/>
              </a:rPr>
              <a:t>珠光体</a:t>
            </a:r>
            <a:r>
              <a:rPr lang="en-US" altLang="zh-CN" b="1" dirty="0">
                <a:ea typeface="华文中宋" panose="02010600040101010101" pitchFamily="2" charset="-122"/>
              </a:rPr>
              <a:t>)</a:t>
            </a:r>
            <a:r>
              <a:rPr lang="zh-CN" altLang="en-US" b="1" dirty="0">
                <a:ea typeface="华文中宋" panose="02010600040101010101" pitchFamily="2" charset="-122"/>
              </a:rPr>
              <a:t>，也是两相的</a:t>
            </a:r>
            <a:r>
              <a:rPr lang="zh-CN" altLang="en-US" b="1" dirty="0">
                <a:solidFill>
                  <a:srgbClr val="0000FF"/>
                </a:solidFill>
                <a:ea typeface="华文中宋" panose="02010600040101010101" pitchFamily="2" charset="-122"/>
              </a:rPr>
              <a:t>机械混合物</a:t>
            </a:r>
            <a:r>
              <a:rPr lang="en-US" altLang="zh-CN" b="1" dirty="0">
                <a:solidFill>
                  <a:schemeClr val="folHlink"/>
                </a:solidFill>
                <a:ea typeface="华文中宋" panose="02010600040101010101" pitchFamily="2" charset="-122"/>
              </a:rPr>
              <a:t>(</a:t>
            </a:r>
            <a:r>
              <a:rPr lang="zh-CN" altLang="en-US" b="1" dirty="0">
                <a:solidFill>
                  <a:schemeClr val="folHlink"/>
                </a:solidFill>
                <a:ea typeface="华文中宋" panose="02010600040101010101" pitchFamily="2" charset="-122"/>
              </a:rPr>
              <a:t>铁素体</a:t>
            </a:r>
            <a:r>
              <a:rPr lang="en-US" altLang="zh-CN" b="1" dirty="0">
                <a:solidFill>
                  <a:schemeClr val="folHlink"/>
                </a:solidFill>
                <a:ea typeface="华文中宋" panose="02010600040101010101" pitchFamily="2" charset="-122"/>
              </a:rPr>
              <a:t>+</a:t>
            </a:r>
            <a:r>
              <a:rPr lang="zh-CN" altLang="en-US" b="1" dirty="0">
                <a:solidFill>
                  <a:schemeClr val="folHlink"/>
                </a:solidFill>
                <a:ea typeface="华文中宋" panose="02010600040101010101" pitchFamily="2" charset="-122"/>
              </a:rPr>
              <a:t>渗碳体</a:t>
            </a:r>
            <a:r>
              <a:rPr lang="en-US" altLang="zh-CN" b="1" dirty="0">
                <a:solidFill>
                  <a:schemeClr val="folHlink"/>
                </a:solidFill>
                <a:ea typeface="华文中宋" panose="02010600040101010101" pitchFamily="2" charset="-122"/>
              </a:rPr>
              <a:t>)</a:t>
            </a:r>
            <a:r>
              <a:rPr lang="zh-CN" altLang="en-US" b="1" dirty="0">
                <a:solidFill>
                  <a:schemeClr val="folHlink"/>
                </a:solidFill>
                <a:ea typeface="华文中宋" panose="02010600040101010101" pitchFamily="2" charset="-122"/>
              </a:rPr>
              <a:t>。</a:t>
            </a:r>
            <a:endParaRPr lang="en-US" altLang="zh-CN" b="1" dirty="0">
              <a:solidFill>
                <a:schemeClr val="folHlink"/>
              </a:solidFill>
              <a:ea typeface="华文中宋" panose="02010600040101010101" pitchFamily="2" charset="-122"/>
            </a:endParaRPr>
          </a:p>
          <a:p>
            <a:pPr eaLnBrk="1" hangingPunct="1"/>
            <a:r>
              <a:rPr lang="zh-CN" altLang="en-US" b="1" dirty="0">
                <a:ea typeface="华文中宋" panose="02010600040101010101" pitchFamily="2" charset="-122"/>
              </a:rPr>
              <a:t>与共晶反应不同的是，</a:t>
            </a:r>
            <a:r>
              <a:rPr lang="zh-CN" altLang="en-US" b="1" dirty="0">
                <a:solidFill>
                  <a:schemeClr val="folHlink"/>
                </a:solidFill>
                <a:ea typeface="华文中宋" panose="02010600040101010101" pitchFamily="2" charset="-122"/>
              </a:rPr>
              <a:t>共析反应的</a:t>
            </a:r>
            <a:r>
              <a:rPr lang="zh-CN" altLang="en-US" b="1" dirty="0">
                <a:solidFill>
                  <a:srgbClr val="0000FF"/>
                </a:solidFill>
                <a:ea typeface="华文中宋" panose="02010600040101010101" pitchFamily="2" charset="-122"/>
              </a:rPr>
              <a:t>母相</a:t>
            </a:r>
            <a:r>
              <a:rPr lang="zh-CN" altLang="en-US" b="1" dirty="0">
                <a:solidFill>
                  <a:schemeClr val="folHlink"/>
                </a:solidFill>
                <a:ea typeface="华文中宋" panose="02010600040101010101" pitchFamily="2" charset="-122"/>
              </a:rPr>
              <a:t>是</a:t>
            </a:r>
            <a:r>
              <a:rPr lang="zh-CN" altLang="en-US" b="1" dirty="0">
                <a:solidFill>
                  <a:srgbClr val="0000FF"/>
                </a:solidFill>
                <a:ea typeface="华文中宋" panose="02010600040101010101" pitchFamily="2" charset="-122"/>
              </a:rPr>
              <a:t>固相</a:t>
            </a:r>
            <a:r>
              <a:rPr lang="zh-CN" altLang="en-US" b="1" dirty="0">
                <a:solidFill>
                  <a:schemeClr val="folHlink"/>
                </a:solidFill>
                <a:ea typeface="华文中宋" panose="02010600040101010101" pitchFamily="2" charset="-122"/>
              </a:rPr>
              <a:t>，而</a:t>
            </a:r>
            <a:r>
              <a:rPr lang="zh-CN" altLang="en-US" b="1" dirty="0">
                <a:solidFill>
                  <a:schemeClr val="folHlink"/>
                </a:solidFill>
              </a:rPr>
              <a:t>不是</a:t>
            </a:r>
            <a:r>
              <a:rPr lang="zh-CN" altLang="en-US" b="1" dirty="0">
                <a:solidFill>
                  <a:srgbClr val="0000FF"/>
                </a:solidFill>
                <a:ea typeface="华文中宋" panose="02010600040101010101" pitchFamily="2" charset="-122"/>
              </a:rPr>
              <a:t>液相</a:t>
            </a:r>
            <a:r>
              <a:rPr lang="zh-CN" altLang="en-US" b="1" dirty="0">
                <a:solidFill>
                  <a:schemeClr val="folHlink"/>
                </a:solidFill>
              </a:rPr>
              <a:t>。</a:t>
            </a:r>
            <a:endParaRPr lang="zh-CN" altLang="en-US" b="1" dirty="0">
              <a:solidFill>
                <a:srgbClr val="CCFF33"/>
              </a:solidFill>
            </a:endParaRPr>
          </a:p>
          <a:p>
            <a:pPr eaLnBrk="1" hangingPunct="1"/>
            <a:r>
              <a:rPr lang="zh-CN" altLang="en-US" b="1" dirty="0"/>
              <a:t>由于</a:t>
            </a:r>
            <a:r>
              <a:rPr lang="zh-CN" altLang="en-US" b="1" dirty="0">
                <a:ea typeface="华文中宋" panose="02010600040101010101" pitchFamily="2" charset="-122"/>
              </a:rPr>
              <a:t>固态转变</a:t>
            </a:r>
            <a:r>
              <a:rPr lang="zh-CN" altLang="en-US" b="1" dirty="0">
                <a:solidFill>
                  <a:srgbClr val="0000FF"/>
                </a:solidFill>
                <a:ea typeface="华文中宋" panose="02010600040101010101" pitchFamily="2" charset="-122"/>
              </a:rPr>
              <a:t>过冷度大</a:t>
            </a:r>
            <a:r>
              <a:rPr lang="zh-CN" altLang="en-US" b="1" dirty="0"/>
              <a:t>，</a:t>
            </a:r>
            <a:r>
              <a:rPr lang="zh-CN" altLang="en-US" b="1" dirty="0">
                <a:ea typeface="华文中宋" panose="02010600040101010101" pitchFamily="2" charset="-122"/>
              </a:rPr>
              <a:t>因而</a:t>
            </a:r>
            <a:r>
              <a:rPr lang="zh-CN" altLang="en-US" b="1" dirty="0"/>
              <a:t>共析</a:t>
            </a:r>
            <a:r>
              <a:rPr lang="zh-CN" altLang="en-US" b="1" dirty="0">
                <a:solidFill>
                  <a:srgbClr val="0000FF"/>
                </a:solidFill>
                <a:ea typeface="华文中宋" panose="02010600040101010101" pitchFamily="2" charset="-122"/>
              </a:rPr>
              <a:t>组织</a:t>
            </a:r>
            <a:r>
              <a:rPr lang="zh-CN" altLang="en-US" b="1" dirty="0"/>
              <a:t>比共晶组织</a:t>
            </a:r>
            <a:r>
              <a:rPr lang="zh-CN" altLang="en-US" b="1" dirty="0">
                <a:solidFill>
                  <a:srgbClr val="0000FF"/>
                </a:solidFill>
                <a:ea typeface="华文中宋" panose="02010600040101010101" pitchFamily="2" charset="-122"/>
              </a:rPr>
              <a:t>细</a:t>
            </a:r>
            <a:r>
              <a:rPr lang="zh-CN" altLang="en-US" b="1" dirty="0"/>
              <a:t>。</a:t>
            </a:r>
          </a:p>
        </p:txBody>
      </p:sp>
      <p:grpSp>
        <p:nvGrpSpPr>
          <p:cNvPr id="91142" name="Group 8"/>
          <p:cNvGrpSpPr/>
          <p:nvPr/>
        </p:nvGrpSpPr>
        <p:grpSpPr>
          <a:xfrm>
            <a:off x="6084803" y="5403292"/>
            <a:ext cx="2220548" cy="1200149"/>
            <a:chOff x="2845" y="1617"/>
            <a:chExt cx="4467" cy="2458"/>
          </a:xfrm>
        </p:grpSpPr>
        <p:pic>
          <p:nvPicPr>
            <p:cNvPr id="91144" name="Picture 6" descr="珠光体"/>
            <p:cNvPicPr>
              <a:picLocks noChangeAspect="1"/>
            </p:cNvPicPr>
            <p:nvPr/>
          </p:nvPicPr>
          <p:blipFill>
            <a:blip r:embed="rId2"/>
            <a:stretch>
              <a:fillRect/>
            </a:stretch>
          </p:blipFill>
          <p:spPr>
            <a:xfrm>
              <a:off x="2845" y="1617"/>
              <a:ext cx="2915" cy="2240"/>
            </a:xfrm>
            <a:prstGeom prst="rect">
              <a:avLst/>
            </a:prstGeom>
            <a:noFill/>
            <a:ln w="38100" cap="flat" cmpd="sng">
              <a:solidFill>
                <a:srgbClr val="FF00FF"/>
              </a:solidFill>
              <a:prstDash val="solid"/>
              <a:miter/>
              <a:headEnd type="none" w="med" len="med"/>
              <a:tailEnd type="none" w="med" len="med"/>
            </a:ln>
          </p:spPr>
        </p:pic>
        <p:sp>
          <p:nvSpPr>
            <p:cNvPr id="91145" name="Text Box 7"/>
            <p:cNvSpPr txBox="1"/>
            <p:nvPr/>
          </p:nvSpPr>
          <p:spPr>
            <a:xfrm>
              <a:off x="5868" y="1617"/>
              <a:ext cx="1444" cy="2458"/>
            </a:xfrm>
            <a:prstGeom prst="rect">
              <a:avLst/>
            </a:prstGeom>
            <a:noFill/>
            <a:ln w="9525">
              <a:noFill/>
            </a:ln>
          </p:spPr>
          <p:txBody>
            <a:bodyPr>
              <a:spAutoFit/>
            </a:bodyPr>
            <a:lstStyle/>
            <a:p>
              <a:pPr lvl="0" algn="ctr" eaLnBrk="1" hangingPunct="1">
                <a:spcBef>
                  <a:spcPct val="50000"/>
                </a:spcBef>
              </a:pPr>
              <a:r>
                <a:rPr lang="zh-CN" altLang="en-US" sz="2400" b="1" dirty="0">
                  <a:solidFill>
                    <a:srgbClr val="0000FF"/>
                  </a:solidFill>
                  <a:latin typeface="Times New Roman" panose="02020603050405020304" pitchFamily="18" charset="0"/>
                  <a:ea typeface="宋体" panose="02010600030101010101" pitchFamily="2" charset="-122"/>
                </a:rPr>
                <a:t>珠光体</a:t>
              </a:r>
            </a:p>
          </p:txBody>
        </p:sp>
      </p:grpSp>
      <p:pic>
        <p:nvPicPr>
          <p:cNvPr id="10" name="内容占位符 1" descr="新校徽（3M）弓之乐"/>
          <p:cNvPicPr>
            <a:picLocks noChangeAspect="1"/>
          </p:cNvPicPr>
          <p:nvPr/>
        </p:nvPicPr>
        <p:blipFill>
          <a:blip r:embed="rId3"/>
          <a:stretch>
            <a:fillRect/>
          </a:stretch>
        </p:blipFill>
        <p:spPr>
          <a:xfrm>
            <a:off x="0" y="0"/>
            <a:ext cx="746760" cy="735965"/>
          </a:xfrm>
          <a:prstGeom prst="rect">
            <a:avLst/>
          </a:prstGeom>
          <a:noFill/>
          <a:ln w="9525">
            <a:noFill/>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日期占位符 3"/>
          <p:cNvSpPr txBox="1">
            <a:spLocks noGrp="1"/>
          </p:cNvSpPr>
          <p:nvPr>
            <p:ph type="dt" sz="half" idx="10"/>
          </p:nvPr>
        </p:nvSpPr>
        <p:spPr>
          <a:xfrm>
            <a:off x="0" y="6510338"/>
            <a:ext cx="2233613"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92163" name="灯片编号占位符 5"/>
          <p:cNvSpPr txBox="1">
            <a:spLocks noGrp="1"/>
          </p:cNvSpPr>
          <p:nvPr>
            <p:ph type="sldNum" sz="quarter" idx="12"/>
          </p:nvPr>
        </p:nvSpPr>
        <p:spPr>
          <a:xfrm>
            <a:off x="8500110" y="6584950"/>
            <a:ext cx="553085" cy="273050"/>
          </a:xfrm>
        </p:spPr>
        <p:txBody>
          <a:bodyPr lIns="92075" tIns="46038" rIns="92075" bIns="46038" anchor="ctr"/>
          <a:lstStyle/>
          <a:p>
            <a:pPr algn="r" eaLnBrk="1" hangingPunct="1"/>
            <a:fld id="{9A0DB2DC-4C9A-4742-B13C-FB6460FD3503}" type="slidenum">
              <a:rPr lang="en-US" altLang="zh-CN" sz="1400" dirty="0"/>
              <a:t>95</a:t>
            </a:fld>
            <a:endParaRPr lang="en-US" altLang="zh-CN" sz="1400" dirty="0"/>
          </a:p>
        </p:txBody>
      </p:sp>
      <p:sp>
        <p:nvSpPr>
          <p:cNvPr id="96258" name="Rectangle 2"/>
          <p:cNvSpPr>
            <a:spLocks noGrp="1" noChangeArrowheads="1"/>
          </p:cNvSpPr>
          <p:nvPr>
            <p:ph type="title"/>
          </p:nvPr>
        </p:nvSpPr>
        <p:spPr>
          <a:xfrm>
            <a:off x="1127316" y="395020"/>
            <a:ext cx="7772400" cy="951079"/>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Times New Roman" panose="02020603050405020304" pitchFamily="18" charset="0"/>
                <a:ea typeface="华文中宋" panose="02010600040101010101" pitchFamily="2" charset="-122"/>
                <a:cs typeface="+mj-cs"/>
              </a:rPr>
              <a:t>6</a:t>
            </a:r>
            <a:r>
              <a:rPr kumimoji="1" lang="zh-CN" altLang="en-US" sz="4400" b="1" i="0" u="none" strike="noStrike" kern="0" cap="none" spc="0" normalizeH="0" baseline="0" noProof="0" dirty="0">
                <a:ln>
                  <a:noFill/>
                </a:ln>
                <a:solidFill>
                  <a:srgbClr val="FF0000"/>
                </a:solidFill>
                <a:uLnTx/>
                <a:uFillTx/>
                <a:latin typeface="Times New Roman" panose="02020603050405020304" pitchFamily="18" charset="0"/>
                <a:ea typeface="华文中宋" panose="02010600040101010101" pitchFamily="2" charset="-122"/>
                <a:cs typeface="+mj-cs"/>
              </a:rPr>
              <a:t>、二元相图的分析步骤</a:t>
            </a:r>
          </a:p>
        </p:txBody>
      </p:sp>
      <p:sp>
        <p:nvSpPr>
          <p:cNvPr id="96259" name="Rectangle 3"/>
          <p:cNvSpPr>
            <a:spLocks noGrp="1"/>
          </p:cNvSpPr>
          <p:nvPr>
            <p:ph idx="1"/>
          </p:nvPr>
        </p:nvSpPr>
        <p:spPr>
          <a:xfrm>
            <a:off x="304800" y="1683702"/>
            <a:ext cx="8458200" cy="602298"/>
          </a:xfrm>
        </p:spPr>
        <p:txBody>
          <a:bodyPr vert="horz" wrap="square" lIns="91440" tIns="45720" rIns="91440" bIns="45720" anchor="t"/>
          <a:lstStyle/>
          <a:p>
            <a:pPr eaLnBrk="1" hangingPunct="1">
              <a:lnSpc>
                <a:spcPct val="130000"/>
              </a:lnSpc>
            </a:pPr>
            <a:r>
              <a:rPr lang="zh-CN" altLang="en-US" sz="2800" b="1" dirty="0">
                <a:ea typeface="华文中宋" panose="02010600040101010101" pitchFamily="2" charset="-122"/>
              </a:rPr>
              <a:t>实际二元相图常比较复杂，可按下列步骤进行分析</a:t>
            </a:r>
            <a:r>
              <a:rPr lang="en-US" altLang="zh-CN" sz="2800" b="1" dirty="0">
                <a:ea typeface="华文中宋" panose="02010600040101010101" pitchFamily="2" charset="-122"/>
              </a:rPr>
              <a:t>.</a:t>
            </a:r>
          </a:p>
        </p:txBody>
      </p:sp>
      <p:grpSp>
        <p:nvGrpSpPr>
          <p:cNvPr id="2" name="Group 4"/>
          <p:cNvGrpSpPr/>
          <p:nvPr/>
        </p:nvGrpSpPr>
        <p:grpSpPr>
          <a:xfrm>
            <a:off x="5003800" y="2507297"/>
            <a:ext cx="3733800" cy="3750628"/>
            <a:chOff x="2976" y="1680"/>
            <a:chExt cx="2652" cy="2277"/>
          </a:xfrm>
        </p:grpSpPr>
        <p:pic>
          <p:nvPicPr>
            <p:cNvPr id="92172" name="Picture 5" descr="Fe-C相图"/>
            <p:cNvPicPr>
              <a:picLocks noChangeAspect="1"/>
            </p:cNvPicPr>
            <p:nvPr/>
          </p:nvPicPr>
          <p:blipFill>
            <a:blip r:embed="rId2"/>
            <a:stretch>
              <a:fillRect/>
            </a:stretch>
          </p:blipFill>
          <p:spPr>
            <a:xfrm>
              <a:off x="2976" y="1680"/>
              <a:ext cx="2523" cy="2277"/>
            </a:xfrm>
            <a:prstGeom prst="rect">
              <a:avLst/>
            </a:prstGeom>
            <a:noFill/>
            <a:ln w="28575" cap="flat" cmpd="sng">
              <a:solidFill>
                <a:srgbClr val="FF9900"/>
              </a:solidFill>
              <a:prstDash val="solid"/>
              <a:miter/>
              <a:headEnd type="none" w="med" len="med"/>
              <a:tailEnd type="none" w="med" len="med"/>
            </a:ln>
          </p:spPr>
        </p:pic>
        <p:sp>
          <p:nvSpPr>
            <p:cNvPr id="92173" name="Text Box 6"/>
            <p:cNvSpPr txBox="1"/>
            <p:nvPr/>
          </p:nvSpPr>
          <p:spPr>
            <a:xfrm>
              <a:off x="4524" y="3768"/>
              <a:ext cx="1104" cy="186"/>
            </a:xfrm>
            <a:prstGeom prst="rect">
              <a:avLst/>
            </a:prstGeom>
            <a:noFill/>
            <a:ln w="28575">
              <a:noFill/>
            </a:ln>
          </p:spPr>
          <p:txBody>
            <a:bodyPr>
              <a:spAutoFit/>
            </a:bodyPr>
            <a:lstStyle/>
            <a:p>
              <a:pPr lvl="0" algn="ctr" eaLnBrk="1" hangingPunct="1">
                <a:spcBef>
                  <a:spcPct val="50000"/>
                </a:spcBef>
              </a:pPr>
              <a:r>
                <a:rPr lang="en-US" altLang="zh-CN" sz="1600" b="1" dirty="0">
                  <a:solidFill>
                    <a:srgbClr val="800000"/>
                  </a:solidFill>
                  <a:latin typeface="Times New Roman" panose="02020603050405020304" pitchFamily="18" charset="0"/>
                  <a:ea typeface="宋体" panose="02010600030101010101" pitchFamily="2" charset="-122"/>
                </a:rPr>
                <a:t>Fe- Fe</a:t>
              </a:r>
              <a:r>
                <a:rPr lang="en-US" altLang="zh-CN" sz="1600" b="1" baseline="-30000" dirty="0">
                  <a:solidFill>
                    <a:srgbClr val="800000"/>
                  </a:solidFill>
                  <a:latin typeface="Times New Roman" panose="02020603050405020304" pitchFamily="18" charset="0"/>
                  <a:ea typeface="宋体" panose="02010600030101010101" pitchFamily="2" charset="-122"/>
                </a:rPr>
                <a:t>3</a:t>
              </a:r>
              <a:r>
                <a:rPr lang="en-US" altLang="zh-CN" sz="1600" b="1" dirty="0">
                  <a:solidFill>
                    <a:srgbClr val="800000"/>
                  </a:solidFill>
                  <a:latin typeface="Times New Roman" panose="02020603050405020304" pitchFamily="18" charset="0"/>
                  <a:ea typeface="宋体" panose="02010600030101010101" pitchFamily="2" charset="-122"/>
                </a:rPr>
                <a:t>C</a:t>
              </a:r>
              <a:r>
                <a:rPr lang="zh-CN" altLang="en-US" sz="1600" b="1" dirty="0">
                  <a:solidFill>
                    <a:srgbClr val="800000"/>
                  </a:solidFill>
                  <a:latin typeface="Times New Roman" panose="02020603050405020304" pitchFamily="18" charset="0"/>
                  <a:ea typeface="宋体" panose="02010600030101010101" pitchFamily="2" charset="-122"/>
                </a:rPr>
                <a:t>相图</a:t>
              </a:r>
            </a:p>
          </p:txBody>
        </p:sp>
      </p:grpSp>
      <p:sp>
        <p:nvSpPr>
          <p:cNvPr id="96263" name="Oval 7"/>
          <p:cNvSpPr/>
          <p:nvPr/>
        </p:nvSpPr>
        <p:spPr>
          <a:xfrm>
            <a:off x="4953000" y="2209800"/>
            <a:ext cx="914400" cy="852488"/>
          </a:xfrm>
          <a:prstGeom prst="ellipse">
            <a:avLst/>
          </a:prstGeom>
          <a:noFill/>
          <a:ln w="19050" cap="flat" cmpd="sng">
            <a:solidFill>
              <a:schemeClr val="hlink"/>
            </a:solidFill>
            <a:prstDash val="solid"/>
            <a:miter/>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96264" name="Oval 8"/>
          <p:cNvSpPr/>
          <p:nvPr/>
        </p:nvSpPr>
        <p:spPr>
          <a:xfrm>
            <a:off x="5810250" y="3124200"/>
            <a:ext cx="2895600" cy="838200"/>
          </a:xfrm>
          <a:prstGeom prst="ellipse">
            <a:avLst/>
          </a:prstGeom>
          <a:noFill/>
          <a:ln w="28575" cap="flat" cmpd="sng">
            <a:solidFill>
              <a:schemeClr val="bg1"/>
            </a:solidFill>
            <a:prstDash val="solid"/>
            <a:miter/>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96265" name="Oval 9"/>
          <p:cNvSpPr/>
          <p:nvPr/>
        </p:nvSpPr>
        <p:spPr>
          <a:xfrm>
            <a:off x="4876800" y="4010025"/>
            <a:ext cx="3733800" cy="1295400"/>
          </a:xfrm>
          <a:prstGeom prst="ellipse">
            <a:avLst/>
          </a:prstGeom>
          <a:noFill/>
          <a:ln w="28575" cap="flat" cmpd="sng">
            <a:solidFill>
              <a:srgbClr val="008000"/>
            </a:solidFill>
            <a:prstDash val="solid"/>
            <a:miter/>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96266" name="Rectangle 10"/>
          <p:cNvSpPr/>
          <p:nvPr/>
        </p:nvSpPr>
        <p:spPr>
          <a:xfrm>
            <a:off x="304800" y="2616835"/>
            <a:ext cx="4343400" cy="3750628"/>
          </a:xfrm>
          <a:prstGeom prst="rect">
            <a:avLst/>
          </a:prstGeom>
          <a:noFill/>
          <a:ln w="9525">
            <a:noFill/>
          </a:ln>
        </p:spPr>
        <p:txBody>
          <a:bodyPr/>
          <a:lstStyle/>
          <a:p>
            <a:pPr marL="342900" lvl="0" indent="-342900" eaLnBrk="1" hangingPunct="1">
              <a:lnSpc>
                <a:spcPct val="110000"/>
              </a:lnSpc>
              <a:spcBef>
                <a:spcPct val="20000"/>
              </a:spcBef>
              <a:buClr>
                <a:schemeClr val="accent2"/>
              </a:buClr>
              <a:buSzPct val="80000"/>
              <a:buFont typeface="Wingdings" panose="05000000000000000000" pitchFamily="2" charset="2"/>
              <a:buChar char="l"/>
            </a:pPr>
            <a:r>
              <a:rPr lang="en-US" altLang="zh-CN" sz="2800" b="1" dirty="0">
                <a:solidFill>
                  <a:srgbClr val="0000FF"/>
                </a:solidFill>
                <a:latin typeface="Times New Roman" panose="02020603050405020304" pitchFamily="18" charset="0"/>
                <a:ea typeface="华文中宋" panose="02010600040101010101" pitchFamily="2" charset="-122"/>
              </a:rPr>
              <a:t>⒈ </a:t>
            </a:r>
            <a:r>
              <a:rPr lang="zh-CN" altLang="en-US" sz="2800" b="1" dirty="0">
                <a:solidFill>
                  <a:schemeClr val="tx2"/>
                </a:solidFill>
                <a:latin typeface="Times New Roman" panose="02020603050405020304" pitchFamily="18" charset="0"/>
                <a:ea typeface="华文中宋" panose="02010600040101010101" pitchFamily="2" charset="-122"/>
              </a:rPr>
              <a:t>分清相图中包括哪些</a:t>
            </a:r>
            <a:r>
              <a:rPr lang="en-US" altLang="zh-CN" sz="2800" b="1" dirty="0">
                <a:solidFill>
                  <a:srgbClr val="0000FF"/>
                </a:solidFill>
                <a:latin typeface="Times New Roman" panose="02020603050405020304" pitchFamily="18" charset="0"/>
                <a:ea typeface="华文中宋" panose="02010600040101010101" pitchFamily="2" charset="-122"/>
              </a:rPr>
              <a:t>基本类型相图</a:t>
            </a:r>
            <a:endParaRPr lang="zh-CN" altLang="en-US" sz="2800" b="1" dirty="0">
              <a:solidFill>
                <a:schemeClr val="tx2"/>
              </a:solidFill>
              <a:latin typeface="Times New Roman" panose="02020603050405020304" pitchFamily="18" charset="0"/>
              <a:ea typeface="华文中宋" panose="02010600040101010101" pitchFamily="2" charset="-122"/>
            </a:endParaRPr>
          </a:p>
          <a:p>
            <a:pPr marL="342900" lvl="0" indent="-342900" eaLnBrk="1" hangingPunct="1">
              <a:lnSpc>
                <a:spcPct val="110000"/>
              </a:lnSpc>
              <a:spcBef>
                <a:spcPct val="20000"/>
              </a:spcBef>
              <a:buClr>
                <a:schemeClr val="accent2"/>
              </a:buClr>
              <a:buSzPct val="80000"/>
              <a:buFont typeface="Wingdings" panose="05000000000000000000" pitchFamily="2" charset="2"/>
              <a:buChar char="l"/>
            </a:pPr>
            <a:r>
              <a:rPr lang="en-US" altLang="zh-CN" sz="2800" b="1" dirty="0">
                <a:solidFill>
                  <a:srgbClr val="0000FF"/>
                </a:solidFill>
                <a:latin typeface="Times New Roman" panose="02020603050405020304" pitchFamily="18" charset="0"/>
                <a:ea typeface="华文中宋" panose="02010600040101010101" pitchFamily="2" charset="-122"/>
              </a:rPr>
              <a:t>⒉</a:t>
            </a:r>
            <a:r>
              <a:rPr lang="zh-CN" altLang="en-US" sz="2800" b="1" dirty="0">
                <a:solidFill>
                  <a:schemeClr val="tx2"/>
                </a:solidFill>
                <a:latin typeface="Times New Roman" panose="02020603050405020304" pitchFamily="18" charset="0"/>
                <a:ea typeface="华文中宋" panose="02010600040101010101" pitchFamily="2" charset="-122"/>
              </a:rPr>
              <a:t> 确定相区</a:t>
            </a:r>
          </a:p>
          <a:p>
            <a:pPr marL="342900" lvl="0" indent="-342900" eaLnBrk="1" hangingPunct="1">
              <a:lnSpc>
                <a:spcPct val="110000"/>
              </a:lnSpc>
              <a:spcBef>
                <a:spcPct val="20000"/>
              </a:spcBef>
              <a:buClr>
                <a:schemeClr val="accent2"/>
              </a:buClr>
              <a:buSzPct val="80000"/>
              <a:buFont typeface="Wingdings" panose="05000000000000000000" pitchFamily="2" charset="2"/>
              <a:buChar char="l"/>
            </a:pPr>
            <a:r>
              <a:rPr lang="zh-CN" altLang="en-US" sz="2800" b="1" i="1" dirty="0">
                <a:solidFill>
                  <a:schemeClr val="tx2"/>
                </a:solidFill>
                <a:latin typeface="Times New Roman" panose="02020603050405020304" pitchFamily="18" charset="0"/>
                <a:ea typeface="华文中宋" panose="02010600040101010101" pitchFamily="2" charset="-122"/>
              </a:rPr>
              <a:t>⑴ </a:t>
            </a:r>
            <a:r>
              <a:rPr lang="en-US" altLang="zh-CN" sz="2800" b="1" i="1" dirty="0">
                <a:solidFill>
                  <a:srgbClr val="0000FF"/>
                </a:solidFill>
                <a:latin typeface="Times New Roman" panose="02020603050405020304" pitchFamily="18" charset="0"/>
                <a:ea typeface="华文中宋" panose="02010600040101010101" pitchFamily="2" charset="-122"/>
              </a:rPr>
              <a:t>相区接触法则</a:t>
            </a:r>
            <a:r>
              <a:rPr lang="zh-CN" altLang="en-US" sz="2800" b="1" i="1" dirty="0">
                <a:solidFill>
                  <a:schemeClr val="tx2"/>
                </a:solidFill>
                <a:latin typeface="Times New Roman" panose="02020603050405020304" pitchFamily="18" charset="0"/>
                <a:ea typeface="华文中宋" panose="02010600040101010101" pitchFamily="2" charset="-122"/>
              </a:rPr>
              <a:t>：</a:t>
            </a:r>
            <a:r>
              <a:rPr lang="zh-CN" altLang="en-US" sz="2800" b="1" i="1" dirty="0">
                <a:solidFill>
                  <a:schemeClr val="folHlink"/>
                </a:solidFill>
                <a:latin typeface="Times New Roman" panose="02020603050405020304" pitchFamily="18" charset="0"/>
                <a:ea typeface="华文中宋" panose="02010600040101010101" pitchFamily="2" charset="-122"/>
              </a:rPr>
              <a:t>相邻两个相区的相数差为</a:t>
            </a:r>
            <a:r>
              <a:rPr lang="en-US" altLang="zh-CN" sz="2800" b="1" i="1" dirty="0">
                <a:solidFill>
                  <a:schemeClr val="folHlink"/>
                </a:solidFill>
                <a:latin typeface="Times New Roman" panose="02020603050405020304" pitchFamily="18" charset="0"/>
                <a:ea typeface="华文中宋" panose="02010600040101010101" pitchFamily="2" charset="-122"/>
              </a:rPr>
              <a:t>1</a:t>
            </a:r>
          </a:p>
          <a:p>
            <a:pPr marL="342900" lvl="0" indent="-342900" eaLnBrk="1" hangingPunct="1">
              <a:lnSpc>
                <a:spcPct val="110000"/>
              </a:lnSpc>
              <a:spcBef>
                <a:spcPct val="20000"/>
              </a:spcBef>
              <a:buClr>
                <a:schemeClr val="accent2"/>
              </a:buClr>
              <a:buSzPct val="80000"/>
              <a:buFont typeface="Wingdings" panose="05000000000000000000" pitchFamily="2" charset="2"/>
              <a:buChar char="l"/>
            </a:pPr>
            <a:r>
              <a:rPr lang="en-US" altLang="zh-CN" sz="2800" b="1" dirty="0">
                <a:solidFill>
                  <a:schemeClr val="tx2"/>
                </a:solidFill>
                <a:latin typeface="Times New Roman" panose="02020603050405020304" pitchFamily="18" charset="0"/>
                <a:ea typeface="华文中宋" panose="02010600040101010101" pitchFamily="2" charset="-122"/>
              </a:rPr>
              <a:t>⑵ </a:t>
            </a:r>
            <a:r>
              <a:rPr lang="zh-CN" altLang="en-US" sz="2800" b="1" dirty="0">
                <a:solidFill>
                  <a:schemeClr val="tx2"/>
                </a:solidFill>
                <a:latin typeface="Times New Roman" panose="02020603050405020304" pitchFamily="18" charset="0"/>
                <a:ea typeface="华文中宋" panose="02010600040101010101" pitchFamily="2" charset="-122"/>
              </a:rPr>
              <a:t>单相区的确定</a:t>
            </a:r>
          </a:p>
          <a:p>
            <a:pPr marL="342900" lvl="0" indent="-342900" eaLnBrk="1" hangingPunct="1">
              <a:lnSpc>
                <a:spcPct val="110000"/>
              </a:lnSpc>
              <a:spcBef>
                <a:spcPct val="20000"/>
              </a:spcBef>
              <a:buClr>
                <a:schemeClr val="accent2"/>
              </a:buClr>
              <a:buSzPct val="80000"/>
              <a:buFont typeface="Wingdings" panose="05000000000000000000" pitchFamily="2" charset="2"/>
              <a:buChar char="l"/>
            </a:pPr>
            <a:r>
              <a:rPr lang="zh-CN" altLang="en-US" sz="2800" b="1" dirty="0">
                <a:solidFill>
                  <a:schemeClr val="accent1"/>
                </a:solidFill>
                <a:latin typeface="Times New Roman" panose="02020603050405020304" pitchFamily="18" charset="0"/>
                <a:ea typeface="华文中宋" panose="02010600040101010101" pitchFamily="2" charset="-122"/>
              </a:rPr>
              <a:t>① </a:t>
            </a:r>
            <a:r>
              <a:rPr lang="zh-CN" altLang="en-US" sz="2800" b="1" dirty="0">
                <a:solidFill>
                  <a:schemeClr val="folHlink"/>
                </a:solidFill>
                <a:latin typeface="Times New Roman" panose="02020603050405020304" pitchFamily="18" charset="0"/>
                <a:ea typeface="华文中宋" panose="02010600040101010101" pitchFamily="2" charset="-122"/>
              </a:rPr>
              <a:t>液相线以上为液相区</a:t>
            </a:r>
            <a:r>
              <a:rPr lang="en-US" altLang="zh-CN" sz="2800" b="1" dirty="0">
                <a:solidFill>
                  <a:schemeClr val="folHlink"/>
                </a:solidFill>
                <a:latin typeface="Times New Roman" panose="02020603050405020304" pitchFamily="18" charset="0"/>
                <a:ea typeface="华文中宋" panose="02010600040101010101" pitchFamily="2" charset="-122"/>
              </a:rPr>
              <a:t>;</a:t>
            </a:r>
          </a:p>
        </p:txBody>
      </p:sp>
      <p:pic>
        <p:nvPicPr>
          <p:cNvPr id="14" name="内容占位符 1" descr="新校徽（3M）弓之乐"/>
          <p:cNvPicPr>
            <a:picLocks noChangeAspect="1"/>
          </p:cNvPicPr>
          <p:nvPr/>
        </p:nvPicPr>
        <p:blipFill>
          <a:blip r:embed="rId3"/>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6258"/>
                                        </p:tgtEl>
                                        <p:attrNameLst>
                                          <p:attrName>style.visibility</p:attrName>
                                        </p:attrNameLst>
                                      </p:cBhvr>
                                      <p:to>
                                        <p:strVal val="visible"/>
                                      </p:to>
                                    </p:set>
                                    <p:animEffect transition="in" filter="wipe(left)">
                                      <p:cBhvr>
                                        <p:cTn id="7" dur="500"/>
                                        <p:tgtEl>
                                          <p:spTgt spid="9625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6259">
                                            <p:txEl>
                                              <p:pRg st="0" end="0"/>
                                            </p:txEl>
                                          </p:spTgt>
                                        </p:tgtEl>
                                        <p:attrNameLst>
                                          <p:attrName>style.visibility</p:attrName>
                                        </p:attrNameLst>
                                      </p:cBhvr>
                                      <p:to>
                                        <p:strVal val="visible"/>
                                      </p:to>
                                    </p:set>
                                    <p:animEffect transition="in" filter="wipe(left)">
                                      <p:cBhvr>
                                        <p:cTn id="11" dur="500"/>
                                        <p:tgtEl>
                                          <p:spTgt spid="96259">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96266">
                                            <p:txEl>
                                              <p:pRg st="0" end="0"/>
                                            </p:txEl>
                                          </p:spTgt>
                                        </p:tgtEl>
                                        <p:attrNameLst>
                                          <p:attrName>style.visibility</p:attrName>
                                        </p:attrNameLst>
                                      </p:cBhvr>
                                      <p:to>
                                        <p:strVal val="visible"/>
                                      </p:to>
                                    </p:set>
                                    <p:animEffect transition="in" filter="wipe(left)">
                                      <p:cBhvr>
                                        <p:cTn id="15" dur="500"/>
                                        <p:tgtEl>
                                          <p:spTgt spid="96266">
                                            <p:txEl>
                                              <p:pRg st="0" end="0"/>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96266">
                                            <p:txEl>
                                              <p:pRg st="1" end="1"/>
                                            </p:txEl>
                                          </p:spTgt>
                                        </p:tgtEl>
                                        <p:attrNameLst>
                                          <p:attrName>style.visibility</p:attrName>
                                        </p:attrNameLst>
                                      </p:cBhvr>
                                      <p:to>
                                        <p:strVal val="visible"/>
                                      </p:to>
                                    </p:set>
                                    <p:animEffect transition="in" filter="wipe(left)">
                                      <p:cBhvr>
                                        <p:cTn id="19" dur="500"/>
                                        <p:tgtEl>
                                          <p:spTgt spid="96266">
                                            <p:txEl>
                                              <p:pRg st="1" end="1"/>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96266">
                                            <p:txEl>
                                              <p:pRg st="2" end="2"/>
                                            </p:txEl>
                                          </p:spTgt>
                                        </p:tgtEl>
                                        <p:attrNameLst>
                                          <p:attrName>style.visibility</p:attrName>
                                        </p:attrNameLst>
                                      </p:cBhvr>
                                      <p:to>
                                        <p:strVal val="visible"/>
                                      </p:to>
                                    </p:set>
                                    <p:animEffect transition="in" filter="wipe(left)">
                                      <p:cBhvr>
                                        <p:cTn id="23" dur="500"/>
                                        <p:tgtEl>
                                          <p:spTgt spid="96266">
                                            <p:txEl>
                                              <p:pRg st="2" end="2"/>
                                            </p:tx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96266">
                                            <p:txEl>
                                              <p:pRg st="3" end="3"/>
                                            </p:txEl>
                                          </p:spTgt>
                                        </p:tgtEl>
                                        <p:attrNameLst>
                                          <p:attrName>style.visibility</p:attrName>
                                        </p:attrNameLst>
                                      </p:cBhvr>
                                      <p:to>
                                        <p:strVal val="visible"/>
                                      </p:to>
                                    </p:set>
                                    <p:animEffect transition="in" filter="wipe(left)">
                                      <p:cBhvr>
                                        <p:cTn id="27" dur="500"/>
                                        <p:tgtEl>
                                          <p:spTgt spid="96266">
                                            <p:txEl>
                                              <p:pRg st="3" end="3"/>
                                            </p:txEl>
                                          </p:spTgt>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96266">
                                            <p:txEl>
                                              <p:pRg st="4" end="4"/>
                                            </p:txEl>
                                          </p:spTgt>
                                        </p:tgtEl>
                                        <p:attrNameLst>
                                          <p:attrName>style.visibility</p:attrName>
                                        </p:attrNameLst>
                                      </p:cBhvr>
                                      <p:to>
                                        <p:strVal val="visible"/>
                                      </p:to>
                                    </p:set>
                                    <p:animEffect transition="in" filter="wipe(left)">
                                      <p:cBhvr>
                                        <p:cTn id="31" dur="500"/>
                                        <p:tgtEl>
                                          <p:spTgt spid="96266">
                                            <p:txEl>
                                              <p:pRg st="4" end="4"/>
                                            </p:txEl>
                                          </p:spTgt>
                                        </p:tgtEl>
                                      </p:cBhvr>
                                    </p:animEffect>
                                  </p:childTnLst>
                                </p:cTn>
                              </p:par>
                            </p:childTnLst>
                          </p:cTn>
                        </p:par>
                        <p:par>
                          <p:cTn id="32" fill="hold">
                            <p:stCondLst>
                              <p:cond delay="3500"/>
                            </p:stCondLst>
                            <p:childTnLst>
                              <p:par>
                                <p:cTn id="33" presetID="22" presetClass="entr" presetSubtype="1" fill="hold" nodeType="after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up)">
                                      <p:cBhvr>
                                        <p:cTn id="35" dur="500"/>
                                        <p:tgtEl>
                                          <p:spTgt spid="2"/>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499"/>
                                          </p:stCondLst>
                                        </p:cTn>
                                        <p:tgtEl>
                                          <p:spTgt spid="96263"/>
                                        </p:tgtEl>
                                        <p:attrNameLst>
                                          <p:attrName>style.visibility</p:attrName>
                                        </p:attrNameLst>
                                      </p:cBhvr>
                                      <p:to>
                                        <p:strVal val="visible"/>
                                      </p:to>
                                    </p:set>
                                  </p:childTnLst>
                                </p:cTn>
                              </p:par>
                            </p:childTnLst>
                          </p:cTn>
                        </p:par>
                        <p:par>
                          <p:cTn id="40" fill="hold">
                            <p:stCondLst>
                              <p:cond delay="500"/>
                            </p:stCondLst>
                            <p:childTnLst>
                              <p:par>
                                <p:cTn id="41" presetID="1" presetClass="entr" presetSubtype="0" fill="hold" grpId="0" nodeType="afterEffect">
                                  <p:stCondLst>
                                    <p:cond delay="0"/>
                                  </p:stCondLst>
                                  <p:childTnLst>
                                    <p:set>
                                      <p:cBhvr>
                                        <p:cTn id="42" dur="1" fill="hold">
                                          <p:stCondLst>
                                            <p:cond delay="499"/>
                                          </p:stCondLst>
                                        </p:cTn>
                                        <p:tgtEl>
                                          <p:spTgt spid="96264"/>
                                        </p:tgtEl>
                                        <p:attrNameLst>
                                          <p:attrName>style.visibility</p:attrName>
                                        </p:attrNameLst>
                                      </p:cBhvr>
                                      <p:to>
                                        <p:strVal val="visible"/>
                                      </p:to>
                                    </p:set>
                                  </p:childTnLst>
                                </p:cTn>
                              </p:par>
                            </p:childTnLst>
                          </p:cTn>
                        </p:par>
                        <p:par>
                          <p:cTn id="43" fill="hold">
                            <p:stCondLst>
                              <p:cond delay="1000"/>
                            </p:stCondLst>
                            <p:childTnLst>
                              <p:par>
                                <p:cTn id="44" presetID="1" presetClass="entr" presetSubtype="0" fill="hold" grpId="0" nodeType="afterEffect">
                                  <p:stCondLst>
                                    <p:cond delay="0"/>
                                  </p:stCondLst>
                                  <p:childTnLst>
                                    <p:set>
                                      <p:cBhvr>
                                        <p:cTn id="45" dur="1" fill="hold">
                                          <p:stCondLst>
                                            <p:cond delay="499"/>
                                          </p:stCondLst>
                                        </p:cTn>
                                        <p:tgtEl>
                                          <p:spTgt spid="962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8" grpId="0"/>
      <p:bldP spid="96259" grpId="0" build="p" advAuto="1000"/>
      <p:bldP spid="96263" grpId="0" animBg="1"/>
      <p:bldP spid="96264" grpId="0" animBg="1"/>
      <p:bldP spid="96265" grpId="0" animBg="1"/>
      <p:bldP spid="96266" grpId="0" build="p" advAuto="100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日期占位符 3"/>
          <p:cNvSpPr txBox="1">
            <a:spLocks noGrp="1"/>
          </p:cNvSpPr>
          <p:nvPr>
            <p:ph type="dt" sz="half" idx="10"/>
          </p:nvPr>
        </p:nvSpPr>
        <p:spPr>
          <a:xfrm>
            <a:off x="0" y="6510338"/>
            <a:ext cx="2376488"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93187" name="灯片编号占位符 5"/>
          <p:cNvSpPr txBox="1">
            <a:spLocks noGrp="1"/>
          </p:cNvSpPr>
          <p:nvPr>
            <p:ph type="sldNum" sz="quarter" idx="12"/>
          </p:nvPr>
        </p:nvSpPr>
        <p:spPr>
          <a:xfrm>
            <a:off x="8590280" y="6595745"/>
            <a:ext cx="513715" cy="262255"/>
          </a:xfrm>
        </p:spPr>
        <p:txBody>
          <a:bodyPr lIns="92075" tIns="46038" rIns="92075" bIns="46038" anchor="ctr"/>
          <a:lstStyle/>
          <a:p>
            <a:pPr algn="r" eaLnBrk="1" hangingPunct="1"/>
            <a:fld id="{9A0DB2DC-4C9A-4742-B13C-FB6460FD3503}" type="slidenum">
              <a:rPr lang="en-US" altLang="zh-CN" sz="1400" dirty="0"/>
              <a:t>96</a:t>
            </a:fld>
            <a:endParaRPr lang="en-US" altLang="zh-CN" sz="1400" dirty="0"/>
          </a:p>
        </p:txBody>
      </p:sp>
      <p:sp>
        <p:nvSpPr>
          <p:cNvPr id="97282" name="Rectangle 2"/>
          <p:cNvSpPr>
            <a:spLocks noGrp="1" noChangeArrowheads="1"/>
          </p:cNvSpPr>
          <p:nvPr>
            <p:ph idx="1"/>
          </p:nvPr>
        </p:nvSpPr>
        <p:spPr>
          <a:xfrm>
            <a:off x="161925" y="2086610"/>
            <a:ext cx="8942070" cy="1713865"/>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a:pPr>
            <a:r>
              <a:rPr kumimoji="1" lang="en-US" altLang="zh-CN" sz="2800" b="1" i="0" u="none" strike="noStrike" kern="0" cap="none" spc="0" normalizeH="0" baseline="0" noProof="0" dirty="0">
                <a:ln>
                  <a:noFill/>
                </a:ln>
                <a:effectLst/>
                <a:uLnTx/>
                <a:uFillTx/>
                <a:latin typeface="+mn-lt"/>
                <a:ea typeface="华文中宋" panose="02010600040101010101" pitchFamily="2" charset="-122"/>
                <a:cs typeface="+mn-cs"/>
              </a:rPr>
              <a:t>② </a:t>
            </a:r>
            <a:r>
              <a:rPr kumimoji="1" lang="zh-CN" altLang="en-US" sz="2800" b="1" i="0" u="none" strike="noStrike" kern="0" cap="none" spc="0" normalizeH="0" baseline="0" noProof="0" dirty="0">
                <a:ln>
                  <a:noFill/>
                </a:ln>
                <a:effectLst/>
                <a:uLnTx/>
                <a:uFillTx/>
                <a:latin typeface="+mn-lt"/>
                <a:ea typeface="华文中宋" panose="02010600040101010101" pitchFamily="2" charset="-122"/>
                <a:cs typeface="+mn-cs"/>
              </a:rPr>
              <a:t>靠</a:t>
            </a:r>
            <a:r>
              <a:rPr kumimoji="1" lang="zh-CN" altLang="en-US" sz="2800" b="1" i="0" u="none" strike="noStrike" kern="0" cap="none" spc="0" normalizeH="0" baseline="0" noProof="0" dirty="0">
                <a:ln>
                  <a:noFill/>
                </a:ln>
                <a:solidFill>
                  <a:srgbClr val="0000FF"/>
                </a:solidFill>
                <a:effectLst/>
                <a:uLnTx/>
                <a:uFillTx/>
                <a:latin typeface="+mn-lt"/>
                <a:ea typeface="华文中宋" panose="02010600040101010101" pitchFamily="2" charset="-122"/>
                <a:cs typeface="+mn-cs"/>
              </a:rPr>
              <a:t>纯组元</a:t>
            </a:r>
            <a:r>
              <a:rPr kumimoji="1" lang="zh-CN" altLang="en-US" sz="2800" b="1" i="0" u="none" strike="noStrike" kern="0" cap="none" spc="0" normalizeH="0" baseline="0" noProof="0" dirty="0">
                <a:ln>
                  <a:noFill/>
                </a:ln>
                <a:effectLst/>
                <a:uLnTx/>
                <a:uFillTx/>
                <a:latin typeface="+mn-lt"/>
                <a:ea typeface="华文中宋" panose="02010600040101010101" pitchFamily="2" charset="-122"/>
                <a:cs typeface="+mn-cs"/>
              </a:rPr>
              <a:t>的</a:t>
            </a:r>
            <a:r>
              <a:rPr kumimoji="1" lang="zh-CN" altLang="en-US" sz="2800" b="1" i="0" u="none" strike="noStrike" kern="0" cap="none" spc="0" normalizeH="0" baseline="0" noProof="0" dirty="0">
                <a:ln>
                  <a:noFill/>
                </a:ln>
                <a:solidFill>
                  <a:srgbClr val="0000FF"/>
                </a:solidFill>
                <a:effectLst/>
                <a:uLnTx/>
                <a:uFillTx/>
                <a:latin typeface="+mn-lt"/>
                <a:ea typeface="华文中宋" panose="02010600040101010101" pitchFamily="2" charset="-122"/>
                <a:cs typeface="+mn-cs"/>
              </a:rPr>
              <a:t>封闭区</a:t>
            </a:r>
            <a:r>
              <a:rPr kumimoji="1" lang="zh-CN" altLang="en-US" sz="2800" b="1" i="0" u="none" strike="noStrike" kern="0" cap="none" spc="0" normalizeH="0" baseline="0" noProof="0" dirty="0">
                <a:ln>
                  <a:noFill/>
                </a:ln>
                <a:effectLst/>
                <a:uLnTx/>
                <a:uFillTx/>
                <a:latin typeface="+mn-lt"/>
                <a:ea typeface="华文中宋" panose="02010600040101010101" pitchFamily="2" charset="-122"/>
                <a:cs typeface="+mn-cs"/>
              </a:rPr>
              <a:t>是以</a:t>
            </a:r>
            <a:r>
              <a:rPr kumimoji="1" lang="zh-CN" altLang="en-US" sz="2800" b="1" i="0" u="none" strike="noStrike" kern="0" cap="none" spc="0" normalizeH="0" baseline="0" noProof="0" dirty="0">
                <a:ln>
                  <a:noFill/>
                </a:ln>
                <a:solidFill>
                  <a:srgbClr val="0000FF"/>
                </a:solidFill>
                <a:effectLst/>
                <a:uLnTx/>
                <a:uFillTx/>
                <a:latin typeface="+mn-lt"/>
                <a:ea typeface="华文中宋" panose="02010600040101010101" pitchFamily="2" charset="-122"/>
                <a:cs typeface="+mn-cs"/>
              </a:rPr>
              <a:t>该组元</a:t>
            </a:r>
            <a:r>
              <a:rPr kumimoji="1" lang="zh-CN" altLang="en-US" sz="2800" b="1" i="0" u="none" strike="noStrike" kern="0" cap="none" spc="0" normalizeH="0" baseline="0" noProof="0" dirty="0">
                <a:ln>
                  <a:noFill/>
                </a:ln>
                <a:solidFill>
                  <a:srgbClr val="FF0000"/>
                </a:solidFill>
                <a:effectLst/>
                <a:uLnTx/>
                <a:uFillTx/>
                <a:latin typeface="+mn-lt"/>
                <a:ea typeface="华文中宋" panose="02010600040101010101" pitchFamily="2" charset="-122"/>
                <a:cs typeface="+mn-cs"/>
              </a:rPr>
              <a:t>为基</a:t>
            </a:r>
            <a:r>
              <a:rPr kumimoji="1" lang="zh-CN" altLang="en-US" sz="2800" b="1" i="0" u="none" strike="noStrike" kern="0" cap="none" spc="0" normalizeH="0" baseline="0" noProof="0" dirty="0">
                <a:ln>
                  <a:noFill/>
                </a:ln>
                <a:effectLst/>
                <a:uLnTx/>
                <a:uFillTx/>
                <a:latin typeface="+mn-lt"/>
                <a:ea typeface="华文中宋" panose="02010600040101010101" pitchFamily="2" charset="-122"/>
                <a:cs typeface="+mn-cs"/>
              </a:rPr>
              <a:t>的</a:t>
            </a:r>
            <a:r>
              <a:rPr kumimoji="1" lang="zh-CN" altLang="en-US" sz="2800" b="1" i="0" u="none" strike="noStrike" kern="0" cap="none" spc="0" normalizeH="0" baseline="0" noProof="0" dirty="0">
                <a:ln>
                  <a:noFill/>
                </a:ln>
                <a:solidFill>
                  <a:srgbClr val="0000FF"/>
                </a:solidFill>
                <a:effectLst/>
                <a:uLnTx/>
                <a:uFillTx/>
                <a:latin typeface="+mn-lt"/>
                <a:ea typeface="华文中宋" panose="02010600040101010101" pitchFamily="2" charset="-122"/>
                <a:cs typeface="+mn-cs"/>
              </a:rPr>
              <a:t>单相固溶体区</a:t>
            </a:r>
            <a:r>
              <a:rPr kumimoji="1" lang="en-US" altLang="zh-CN" sz="2800" b="1" i="0" u="none" strike="noStrike" kern="0" cap="none" spc="0" normalizeH="0" baseline="0" noProof="0" dirty="0">
                <a:ln>
                  <a:noFill/>
                </a:ln>
                <a:effectLst/>
                <a:uLnTx/>
                <a:uFillTx/>
                <a:latin typeface="+mn-lt"/>
                <a:ea typeface="华文中宋" panose="02010600040101010101" pitchFamily="2" charset="-122"/>
                <a:cs typeface="+mn-cs"/>
              </a:rPr>
              <a:t>;</a:t>
            </a:r>
          </a:p>
          <a:p>
            <a:pPr marL="342900" marR="0" lvl="0" indent="-342900" algn="l" defTabSz="914400" rtl="0" eaLnBrk="1" fontAlgn="base" latinLnBrk="0" hangingPunct="1">
              <a:lnSpc>
                <a:spcPct val="110000"/>
              </a:lnSpc>
              <a:spcBef>
                <a:spcPct val="20000"/>
              </a:spcBef>
              <a:spcAft>
                <a:spcPct val="0"/>
              </a:spcAft>
              <a:buClr>
                <a:schemeClr val="accent2"/>
              </a:buClr>
              <a:buSzPct val="80000"/>
              <a:buFont typeface="Wingdings" panose="05000000000000000000" pitchFamily="2" charset="2"/>
              <a:buChar char="l"/>
              <a:defRPr/>
            </a:pPr>
            <a:r>
              <a:rPr kumimoji="1" lang="en-US" altLang="zh-CN" sz="2800" b="1" i="0" u="none" strike="noStrike" kern="0" cap="none" spc="0" normalizeH="0" baseline="0" noProof="0" dirty="0">
                <a:ln>
                  <a:noFill/>
                </a:ln>
                <a:effectLst/>
                <a:uLnTx/>
                <a:uFillTx/>
                <a:latin typeface="+mn-lt"/>
                <a:ea typeface="华文中宋" panose="02010600040101010101" pitchFamily="2" charset="-122"/>
                <a:cs typeface="+mn-cs"/>
              </a:rPr>
              <a:t>③ </a:t>
            </a:r>
            <a:r>
              <a:rPr kumimoji="1" lang="zh-CN" altLang="en-US" sz="2800" b="1" i="0" u="none" strike="noStrike" kern="0" cap="none" spc="0" normalizeH="0" baseline="0" noProof="0" dirty="0">
                <a:ln>
                  <a:noFill/>
                </a:ln>
                <a:effectLst/>
                <a:uLnTx/>
                <a:uFillTx/>
                <a:latin typeface="+mn-lt"/>
                <a:ea typeface="华文中宋" panose="02010600040101010101" pitchFamily="2" charset="-122"/>
                <a:cs typeface="+mn-cs"/>
              </a:rPr>
              <a:t>相图中的</a:t>
            </a:r>
            <a:r>
              <a:rPr kumimoji="1" lang="zh-CN" altLang="en-US" sz="2800" b="1" i="0" u="none" strike="noStrike" cap="none" spc="0" normalizeH="0" baseline="0" noProof="0" dirty="0">
                <a:ln>
                  <a:noFill/>
                </a:ln>
                <a:solidFill>
                  <a:srgbClr val="0000FF"/>
                </a:solidFill>
                <a:effectLst/>
                <a:uLnTx/>
                <a:uFillTx/>
                <a:latin typeface="+mn-lt"/>
                <a:ea typeface="华文中宋" panose="02010600040101010101" pitchFamily="2" charset="-122"/>
                <a:cs typeface="+mn-cs"/>
              </a:rPr>
              <a:t>垂线</a:t>
            </a:r>
            <a:r>
              <a:rPr kumimoji="1" lang="zh-CN" altLang="en-US" sz="2800" b="1" i="0" u="none" strike="noStrike" kern="0" cap="none" spc="0" normalizeH="0" baseline="0" noProof="0" dirty="0">
                <a:ln>
                  <a:noFill/>
                </a:ln>
                <a:effectLst/>
                <a:uLnTx/>
                <a:uFillTx/>
                <a:latin typeface="+mn-lt"/>
                <a:ea typeface="华文中宋" panose="02010600040101010101" pitchFamily="2" charset="-122"/>
                <a:cs typeface="+mn-cs"/>
              </a:rPr>
              <a:t>可能是</a:t>
            </a:r>
            <a:r>
              <a:rPr kumimoji="1" lang="zh-CN" altLang="en-US" sz="2800" b="1" i="0" u="none" strike="noStrike" cap="none" spc="0" normalizeH="0" baseline="0" noProof="0" dirty="0">
                <a:ln>
                  <a:noFill/>
                </a:ln>
                <a:solidFill>
                  <a:srgbClr val="0000FF"/>
                </a:solidFill>
                <a:effectLst/>
                <a:uLnTx/>
                <a:uFillTx/>
                <a:latin typeface="+mn-lt"/>
                <a:ea typeface="华文中宋" panose="02010600040101010101" pitchFamily="2" charset="-122"/>
                <a:cs typeface="+mn-cs"/>
              </a:rPr>
              <a:t>稳定化合物</a:t>
            </a:r>
            <a:r>
              <a:rPr kumimoji="1" lang="zh-CN" altLang="en-US" sz="2800" b="1" i="0" u="none" strike="noStrike" kern="1200" cap="none" spc="0" normalizeH="0" baseline="0" noProof="0" dirty="0">
                <a:ln>
                  <a:noFill/>
                </a:ln>
                <a:effectLst/>
                <a:uLnTx/>
                <a:uFillTx/>
                <a:latin typeface="+mn-lt"/>
                <a:ea typeface="华文中宋" panose="02010600040101010101" pitchFamily="2" charset="-122"/>
                <a:cs typeface="+mn-cs"/>
              </a:rPr>
              <a:t> </a:t>
            </a:r>
            <a:r>
              <a:rPr kumimoji="1" lang="en-US" altLang="zh-CN" sz="2800" b="1" i="0" u="none" strike="noStrike" kern="1200" cap="none" spc="0" normalizeH="0" baseline="0" noProof="0" dirty="0">
                <a:ln>
                  <a:noFill/>
                </a:ln>
                <a:effectLst/>
                <a:uLnTx/>
                <a:uFillTx/>
                <a:latin typeface="+mn-lt"/>
                <a:ea typeface="华文中宋" panose="02010600040101010101" pitchFamily="2" charset="-122"/>
                <a:cs typeface="+mn-cs"/>
              </a:rPr>
              <a:t>(</a:t>
            </a:r>
            <a:r>
              <a:rPr kumimoji="1" lang="zh-CN" altLang="en-US" sz="2800" b="1" i="0" u="none" strike="noStrike" kern="1200" cap="none" spc="0" normalizeH="0" baseline="0" noProof="0" dirty="0">
                <a:ln>
                  <a:noFill/>
                </a:ln>
                <a:effectLst/>
                <a:uLnTx/>
                <a:uFillTx/>
                <a:latin typeface="+mn-lt"/>
                <a:ea typeface="华文中宋" panose="02010600040101010101" pitchFamily="2" charset="-122"/>
                <a:cs typeface="+mn-cs"/>
              </a:rPr>
              <a:t>单相区</a:t>
            </a:r>
            <a:r>
              <a:rPr kumimoji="1" lang="en-US" altLang="zh-CN" sz="2800" b="1" i="0" u="none" strike="noStrike" kern="1200" cap="none" spc="0" normalizeH="0" baseline="0" noProof="0" dirty="0">
                <a:ln>
                  <a:noFill/>
                </a:ln>
                <a:effectLst/>
                <a:uLnTx/>
                <a:uFillTx/>
                <a:latin typeface="+mn-lt"/>
                <a:ea typeface="华文中宋" panose="02010600040101010101" pitchFamily="2" charset="-122"/>
                <a:cs typeface="+mn-cs"/>
              </a:rPr>
              <a:t>)</a:t>
            </a:r>
            <a:r>
              <a:rPr kumimoji="1" lang="zh-CN" altLang="en-US" sz="2800" b="1" i="0" u="none" strike="noStrike" kern="0" cap="none" spc="0" normalizeH="0" baseline="0" noProof="0" dirty="0">
                <a:ln>
                  <a:noFill/>
                </a:ln>
                <a:effectLst/>
                <a:uLnTx/>
                <a:uFillTx/>
                <a:latin typeface="+mn-lt"/>
                <a:ea typeface="华文中宋" panose="02010600040101010101" pitchFamily="2" charset="-122"/>
                <a:cs typeface="+mn-cs"/>
              </a:rPr>
              <a:t>，也可能是</a:t>
            </a:r>
            <a:r>
              <a:rPr kumimoji="1" lang="zh-CN" altLang="en-US" sz="2800" b="1" i="0" u="none" strike="noStrike" cap="none" spc="0" normalizeH="0" baseline="0" noProof="0" dirty="0">
                <a:ln>
                  <a:noFill/>
                </a:ln>
                <a:solidFill>
                  <a:srgbClr val="0000FF"/>
                </a:solidFill>
                <a:effectLst/>
                <a:uLnTx/>
                <a:uFillTx/>
                <a:latin typeface="+mn-lt"/>
                <a:ea typeface="华文中宋" panose="02010600040101010101" pitchFamily="2" charset="-122"/>
                <a:cs typeface="+mn-cs"/>
              </a:rPr>
              <a:t>相区分界线</a:t>
            </a:r>
            <a:r>
              <a:rPr kumimoji="1" lang="zh-CN" altLang="en-US" sz="2800" b="1" i="0" u="none" strike="noStrike" kern="0" cap="none" spc="0" normalizeH="0" baseline="0" noProof="0" dirty="0">
                <a:ln>
                  <a:noFill/>
                </a:ln>
                <a:effectLst/>
                <a:uLnTx/>
                <a:uFillTx/>
                <a:latin typeface="+mn-lt"/>
                <a:ea typeface="华文中宋" panose="02010600040101010101" pitchFamily="2" charset="-122"/>
                <a:cs typeface="+mn-cs"/>
              </a:rPr>
              <a:t>；</a:t>
            </a:r>
          </a:p>
        </p:txBody>
      </p:sp>
      <p:sp>
        <p:nvSpPr>
          <p:cNvPr id="97283" name="Rectangle 3"/>
          <p:cNvSpPr/>
          <p:nvPr/>
        </p:nvSpPr>
        <p:spPr>
          <a:xfrm>
            <a:off x="179705" y="3644900"/>
            <a:ext cx="5015865" cy="2706370"/>
          </a:xfrm>
          <a:prstGeom prst="rect">
            <a:avLst/>
          </a:prstGeom>
          <a:noFill/>
          <a:ln w="9525">
            <a:noFill/>
          </a:ln>
        </p:spPr>
        <p:txBody>
          <a:bodyPr/>
          <a:lstStyle/>
          <a:p>
            <a:pPr marL="342900" lvl="0" indent="-342900">
              <a:lnSpc>
                <a:spcPct val="120000"/>
              </a:lnSpc>
              <a:spcBef>
                <a:spcPts val="0"/>
              </a:spcBef>
              <a:buClr>
                <a:schemeClr val="accent2"/>
              </a:buClr>
              <a:buSzPct val="80000"/>
              <a:buFont typeface="Wingdings" panose="05000000000000000000" pitchFamily="2" charset="2"/>
              <a:buChar char="l"/>
            </a:pPr>
            <a:r>
              <a:rPr lang="en-US" altLang="zh-CN" sz="2800" b="1" dirty="0">
                <a:latin typeface="Times New Roman" panose="02020603050405020304" pitchFamily="18" charset="0"/>
                <a:ea typeface="华文中宋" panose="02010600040101010101" pitchFamily="2" charset="-122"/>
              </a:rPr>
              <a:t>④ </a:t>
            </a:r>
            <a:r>
              <a:rPr lang="zh-CN" altLang="en-US" sz="2800" b="1" dirty="0">
                <a:latin typeface="Times New Roman" panose="02020603050405020304" pitchFamily="18" charset="0"/>
                <a:ea typeface="华文中宋" panose="02010600040101010101" pitchFamily="2" charset="-122"/>
              </a:rPr>
              <a:t>相图中部出现的成分可变的单相区是以化合物为基的单相固溶体区；</a:t>
            </a:r>
          </a:p>
          <a:p>
            <a:pPr marL="342900" lvl="0" indent="-342900">
              <a:lnSpc>
                <a:spcPct val="120000"/>
              </a:lnSpc>
              <a:spcBef>
                <a:spcPts val="0"/>
              </a:spcBef>
              <a:buClr>
                <a:schemeClr val="accent2"/>
              </a:buClr>
              <a:buSzPct val="80000"/>
              <a:buFont typeface="Wingdings" panose="05000000000000000000" pitchFamily="2" charset="2"/>
              <a:buChar char="l"/>
            </a:pPr>
            <a:r>
              <a:rPr lang="zh-CN" altLang="en-US" sz="2800" b="1" dirty="0">
                <a:latin typeface="Times New Roman" panose="02020603050405020304" pitchFamily="18" charset="0"/>
                <a:ea typeface="华文中宋" panose="02010600040101010101" pitchFamily="2" charset="-122"/>
              </a:rPr>
              <a:t>⑤ 相图中每一条</a:t>
            </a:r>
            <a:r>
              <a:rPr kumimoji="1" lang="zh-CN" altLang="en-US" sz="2800" b="1" kern="0" noProof="0" dirty="0">
                <a:ln>
                  <a:noFill/>
                </a:ln>
                <a:solidFill>
                  <a:srgbClr val="0000FF"/>
                </a:solidFill>
                <a:effectLst/>
                <a:uLnTx/>
                <a:uFillTx/>
                <a:latin typeface="+mn-lt"/>
                <a:ea typeface="华文中宋" panose="02010600040101010101" pitchFamily="2" charset="-122"/>
              </a:rPr>
              <a:t>水平线</a:t>
            </a:r>
            <a:r>
              <a:rPr lang="zh-CN" altLang="en-US" sz="2800" b="1" dirty="0">
                <a:latin typeface="Times New Roman" panose="02020603050405020304" pitchFamily="18" charset="0"/>
                <a:ea typeface="华文中宋" panose="02010600040101010101" pitchFamily="2" charset="-122"/>
              </a:rPr>
              <a:t>必定与</a:t>
            </a:r>
            <a:r>
              <a:rPr kumimoji="1" lang="zh-CN" altLang="en-US" sz="2800" b="1" kern="0" noProof="0" dirty="0">
                <a:ln>
                  <a:noFill/>
                </a:ln>
                <a:solidFill>
                  <a:srgbClr val="0000FF"/>
                </a:solidFill>
                <a:effectLst/>
                <a:uLnTx/>
                <a:uFillTx/>
                <a:latin typeface="+mn-lt"/>
                <a:ea typeface="华文中宋" panose="02010600040101010101" pitchFamily="2" charset="-122"/>
              </a:rPr>
              <a:t>三个单相区</a:t>
            </a:r>
            <a:r>
              <a:rPr lang="zh-CN" altLang="en-US" sz="2800" b="1" dirty="0">
                <a:latin typeface="Times New Roman" panose="02020603050405020304" pitchFamily="18" charset="0"/>
                <a:ea typeface="华文中宋" panose="02010600040101010101" pitchFamily="2" charset="-122"/>
              </a:rPr>
              <a:t>点接触</a:t>
            </a:r>
            <a:r>
              <a:rPr lang="zh-CN" altLang="en-US" sz="2800" b="1" dirty="0">
                <a:solidFill>
                  <a:srgbClr val="CCFF33"/>
                </a:solidFill>
                <a:latin typeface="Times New Roman" panose="02020603050405020304" pitchFamily="18" charset="0"/>
                <a:ea typeface="华文中宋" panose="02010600040101010101" pitchFamily="2" charset="-122"/>
              </a:rPr>
              <a:t>。</a:t>
            </a:r>
            <a:endParaRPr lang="zh-CN" altLang="en-US" sz="2800" dirty="0">
              <a:solidFill>
                <a:srgbClr val="CCFF33"/>
              </a:solidFill>
              <a:latin typeface="Times New Roman" panose="02020603050405020304" pitchFamily="18" charset="0"/>
              <a:ea typeface="华文中宋" panose="02010600040101010101" pitchFamily="2" charset="-122"/>
            </a:endParaRPr>
          </a:p>
        </p:txBody>
      </p:sp>
      <p:grpSp>
        <p:nvGrpSpPr>
          <p:cNvPr id="2" name="Group 34"/>
          <p:cNvGrpSpPr/>
          <p:nvPr/>
        </p:nvGrpSpPr>
        <p:grpSpPr>
          <a:xfrm>
            <a:off x="5579478" y="3357116"/>
            <a:ext cx="3010168" cy="3027751"/>
            <a:chOff x="2544" y="1152"/>
            <a:chExt cx="2832" cy="2778"/>
          </a:xfrm>
        </p:grpSpPr>
        <p:grpSp>
          <p:nvGrpSpPr>
            <p:cNvPr id="93192" name="Group 5"/>
            <p:cNvGrpSpPr/>
            <p:nvPr/>
          </p:nvGrpSpPr>
          <p:grpSpPr>
            <a:xfrm>
              <a:off x="2544" y="1152"/>
              <a:ext cx="2832" cy="2778"/>
              <a:chOff x="2880" y="816"/>
              <a:chExt cx="2514" cy="2611"/>
            </a:xfrm>
          </p:grpSpPr>
          <p:pic>
            <p:nvPicPr>
              <p:cNvPr id="93215" name="Picture 6" descr="Cu_Zn相图4"/>
              <p:cNvPicPr>
                <a:picLocks noChangeAspect="1"/>
              </p:cNvPicPr>
              <p:nvPr/>
            </p:nvPicPr>
            <p:blipFill>
              <a:blip r:embed="rId2"/>
              <a:stretch>
                <a:fillRect/>
              </a:stretch>
            </p:blipFill>
            <p:spPr>
              <a:xfrm>
                <a:off x="2880" y="816"/>
                <a:ext cx="2514" cy="2527"/>
              </a:xfrm>
              <a:prstGeom prst="rect">
                <a:avLst/>
              </a:prstGeom>
              <a:noFill/>
              <a:ln w="38100" cap="flat" cmpd="sng">
                <a:solidFill>
                  <a:srgbClr val="FF9900"/>
                </a:solidFill>
                <a:prstDash val="solid"/>
                <a:miter/>
                <a:headEnd type="none" w="med" len="med"/>
                <a:tailEnd type="none" w="med" len="med"/>
              </a:ln>
            </p:spPr>
          </p:pic>
          <p:sp>
            <p:nvSpPr>
              <p:cNvPr id="93216" name="Text Box 7"/>
              <p:cNvSpPr txBox="1"/>
              <p:nvPr/>
            </p:nvSpPr>
            <p:spPr>
              <a:xfrm>
                <a:off x="4174" y="3108"/>
                <a:ext cx="1135" cy="319"/>
              </a:xfrm>
              <a:prstGeom prst="rect">
                <a:avLst/>
              </a:prstGeom>
              <a:solidFill>
                <a:schemeClr val="bg1"/>
              </a:solidFill>
              <a:ln w="38100">
                <a:noFill/>
              </a:ln>
            </p:spPr>
            <p:txBody>
              <a:bodyPr wrap="square">
                <a:spAutoFit/>
              </a:bodyPr>
              <a:lstStyle/>
              <a:p>
                <a:pPr lvl="0" algn="ctr" eaLnBrk="1" hangingPunct="1">
                  <a:spcBef>
                    <a:spcPct val="50000"/>
                  </a:spcBef>
                </a:pPr>
                <a:r>
                  <a:rPr lang="en-US" altLang="zh-CN" sz="1800" b="1" dirty="0">
                    <a:solidFill>
                      <a:srgbClr val="800000"/>
                    </a:solidFill>
                    <a:latin typeface="Times New Roman" panose="02020603050405020304" pitchFamily="18" charset="0"/>
                    <a:ea typeface="宋体" panose="02010600030101010101" pitchFamily="2" charset="-122"/>
                  </a:rPr>
                  <a:t>Cu-Zn</a:t>
                </a:r>
                <a:r>
                  <a:rPr lang="zh-CN" altLang="en-US" sz="1800" b="1" dirty="0">
                    <a:solidFill>
                      <a:srgbClr val="800000"/>
                    </a:solidFill>
                    <a:latin typeface="Times New Roman" panose="02020603050405020304" pitchFamily="18" charset="0"/>
                    <a:ea typeface="宋体" panose="02010600030101010101" pitchFamily="2" charset="-122"/>
                  </a:rPr>
                  <a:t>相图</a:t>
                </a:r>
              </a:p>
            </p:txBody>
          </p:sp>
        </p:grpSp>
        <p:sp>
          <p:nvSpPr>
            <p:cNvPr id="93193" name="Rectangle 8"/>
            <p:cNvSpPr/>
            <p:nvPr/>
          </p:nvSpPr>
          <p:spPr>
            <a:xfrm>
              <a:off x="4437" y="3041"/>
              <a:ext cx="162" cy="64"/>
            </a:xfrm>
            <a:prstGeom prst="rect">
              <a:avLst/>
            </a:prstGeom>
            <a:solidFill>
              <a:schemeClr val="bg1"/>
            </a:solidFill>
            <a:ln w="38100" cap="flat" cmpd="sng">
              <a:noFill/>
              <a:prstDash val="solid"/>
              <a:miter/>
              <a:headEnd type="none" w="med" len="med"/>
              <a:tailEnd type="none" w="med" len="med"/>
            </a:ln>
          </p:spPr>
          <p:txBody>
            <a:bodyPr wrap="none" anchor="ctr"/>
            <a:lstStyle/>
            <a:p>
              <a:pPr lvl="0" algn="ctr" eaLnBrk="1" hangingPunct="1"/>
              <a:r>
                <a:rPr lang="en-US" altLang="zh-CN" sz="1600" b="1" i="1" dirty="0">
                  <a:solidFill>
                    <a:srgbClr val="8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600" b="1" i="1" dirty="0">
                <a:solidFill>
                  <a:srgbClr val="800000"/>
                </a:solidFill>
                <a:latin typeface="Times New Roman" panose="02020603050405020304" pitchFamily="18" charset="0"/>
                <a:ea typeface="宋体" panose="02010600030101010101" pitchFamily="2" charset="-122"/>
              </a:endParaRPr>
            </a:p>
          </p:txBody>
        </p:sp>
        <p:sp>
          <p:nvSpPr>
            <p:cNvPr id="93194" name="Rectangle 9"/>
            <p:cNvSpPr/>
            <p:nvPr/>
          </p:nvSpPr>
          <p:spPr>
            <a:xfrm>
              <a:off x="4666" y="2939"/>
              <a:ext cx="163" cy="153"/>
            </a:xfrm>
            <a:prstGeom prst="rect">
              <a:avLst/>
            </a:prstGeom>
            <a:solidFill>
              <a:schemeClr val="bg1"/>
            </a:solidFill>
            <a:ln w="38100" cap="flat" cmpd="sng">
              <a:noFill/>
              <a:prstDash val="solid"/>
              <a:miter/>
              <a:headEnd type="none" w="med" len="med"/>
              <a:tailEnd type="none" w="med" len="med"/>
            </a:ln>
          </p:spPr>
          <p:txBody>
            <a:bodyPr wrap="none" anchor="ctr"/>
            <a:lstStyle/>
            <a:p>
              <a:pPr lvl="0" algn="ctr" eaLnBrk="1" hangingPunct="1"/>
              <a:r>
                <a:rPr lang="en-US" altLang="zh-CN" sz="1800" b="1" i="1" dirty="0">
                  <a:solidFill>
                    <a:srgbClr val="8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i="1" dirty="0">
                <a:solidFill>
                  <a:srgbClr val="800000"/>
                </a:solidFill>
                <a:latin typeface="Times New Roman" panose="02020603050405020304" pitchFamily="18" charset="0"/>
                <a:ea typeface="宋体" panose="02010600030101010101" pitchFamily="2" charset="-122"/>
              </a:endParaRPr>
            </a:p>
          </p:txBody>
        </p:sp>
        <p:sp>
          <p:nvSpPr>
            <p:cNvPr id="93195" name="Rectangle 10"/>
            <p:cNvSpPr/>
            <p:nvPr/>
          </p:nvSpPr>
          <p:spPr>
            <a:xfrm>
              <a:off x="4166" y="2735"/>
              <a:ext cx="216" cy="204"/>
            </a:xfrm>
            <a:prstGeom prst="rect">
              <a:avLst/>
            </a:prstGeom>
            <a:solidFill>
              <a:schemeClr val="bg1"/>
            </a:solidFill>
            <a:ln w="38100" cap="flat" cmpd="sng">
              <a:noFill/>
              <a:prstDash val="solid"/>
              <a:miter/>
              <a:headEnd type="none" w="med" len="med"/>
              <a:tailEnd type="none" w="med" len="med"/>
            </a:ln>
          </p:spPr>
          <p:txBody>
            <a:bodyPr wrap="none" anchor="ctr"/>
            <a:lstStyle/>
            <a:p>
              <a:pPr lvl="0" algn="ctr" eaLnBrk="1" hangingPunct="1"/>
              <a:r>
                <a:rPr lang="en-US" altLang="zh-CN" sz="1800" b="1" i="1" dirty="0">
                  <a:solidFill>
                    <a:srgbClr val="8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i="1" dirty="0">
                <a:solidFill>
                  <a:srgbClr val="800000"/>
                </a:solidFill>
                <a:latin typeface="Times New Roman" panose="02020603050405020304" pitchFamily="18" charset="0"/>
                <a:ea typeface="宋体" panose="02010600030101010101" pitchFamily="2" charset="-122"/>
              </a:endParaRPr>
            </a:p>
          </p:txBody>
        </p:sp>
        <p:sp>
          <p:nvSpPr>
            <p:cNvPr id="93196" name="Rectangle 11"/>
            <p:cNvSpPr/>
            <p:nvPr/>
          </p:nvSpPr>
          <p:spPr>
            <a:xfrm>
              <a:off x="3120" y="2592"/>
              <a:ext cx="216" cy="204"/>
            </a:xfrm>
            <a:prstGeom prst="rect">
              <a:avLst/>
            </a:prstGeom>
            <a:solidFill>
              <a:schemeClr val="bg1"/>
            </a:solidFill>
            <a:ln w="38100" cap="flat" cmpd="sng">
              <a:noFill/>
              <a:prstDash val="solid"/>
              <a:miter/>
              <a:headEnd type="none" w="med" len="med"/>
              <a:tailEnd type="none" w="med" len="med"/>
            </a:ln>
          </p:spPr>
          <p:txBody>
            <a:bodyPr wrap="none" anchor="ctr"/>
            <a:lstStyle/>
            <a:p>
              <a:pPr lvl="0" algn="ctr" eaLnBrk="1" hangingPunct="1"/>
              <a:r>
                <a:rPr lang="en-US" altLang="zh-CN" sz="1800" b="1" i="1" dirty="0">
                  <a:solidFill>
                    <a:srgbClr val="8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i="1" dirty="0">
                <a:solidFill>
                  <a:srgbClr val="800000"/>
                </a:solidFill>
                <a:latin typeface="Times New Roman" panose="02020603050405020304" pitchFamily="18" charset="0"/>
                <a:ea typeface="宋体" panose="02010600030101010101" pitchFamily="2" charset="-122"/>
              </a:endParaRPr>
            </a:p>
          </p:txBody>
        </p:sp>
        <p:sp>
          <p:nvSpPr>
            <p:cNvPr id="93197" name="Rectangle 12"/>
            <p:cNvSpPr/>
            <p:nvPr/>
          </p:nvSpPr>
          <p:spPr>
            <a:xfrm>
              <a:off x="4656" y="1536"/>
              <a:ext cx="216" cy="204"/>
            </a:xfrm>
            <a:prstGeom prst="rect">
              <a:avLst/>
            </a:prstGeom>
            <a:solidFill>
              <a:schemeClr val="bg1"/>
            </a:solidFill>
            <a:ln w="38100" cap="flat" cmpd="sng">
              <a:noFill/>
              <a:prstDash val="solid"/>
              <a:miter/>
              <a:headEnd type="none" w="med" len="med"/>
              <a:tailEnd type="none" w="med" len="med"/>
            </a:ln>
          </p:spPr>
          <p:txBody>
            <a:bodyPr wrap="none" anchor="ctr"/>
            <a:lstStyle/>
            <a:p>
              <a:pPr lvl="0" algn="ctr" eaLnBrk="1" hangingPunct="1"/>
              <a:r>
                <a:rPr lang="en-US" altLang="zh-CN" sz="1800" b="1" i="1" dirty="0">
                  <a:solidFill>
                    <a:srgbClr val="800000"/>
                  </a:solidFill>
                  <a:latin typeface="Times New Roman" panose="02020603050405020304" pitchFamily="18" charset="0"/>
                  <a:ea typeface="宋体" panose="02010600030101010101" pitchFamily="2" charset="-122"/>
                  <a:sym typeface="Symbol" panose="05050102010706020507" pitchFamily="18" charset="2"/>
                </a:rPr>
                <a:t>L</a:t>
              </a:r>
              <a:endParaRPr lang="en-US" altLang="zh-CN" sz="1800" b="1" i="1" dirty="0">
                <a:solidFill>
                  <a:srgbClr val="800000"/>
                </a:solidFill>
                <a:latin typeface="Times New Roman" panose="02020603050405020304" pitchFamily="18" charset="0"/>
                <a:ea typeface="宋体" panose="02010600030101010101" pitchFamily="2" charset="-122"/>
              </a:endParaRPr>
            </a:p>
          </p:txBody>
        </p:sp>
        <p:sp>
          <p:nvSpPr>
            <p:cNvPr id="93198" name="Rectangle 13"/>
            <p:cNvSpPr/>
            <p:nvPr/>
          </p:nvSpPr>
          <p:spPr>
            <a:xfrm>
              <a:off x="3762" y="2154"/>
              <a:ext cx="216" cy="204"/>
            </a:xfrm>
            <a:prstGeom prst="rect">
              <a:avLst/>
            </a:prstGeom>
            <a:solidFill>
              <a:schemeClr val="bg1"/>
            </a:solidFill>
            <a:ln w="38100" cap="flat" cmpd="sng">
              <a:noFill/>
              <a:prstDash val="solid"/>
              <a:miter/>
              <a:headEnd type="none" w="med" len="med"/>
              <a:tailEnd type="none" w="med" len="med"/>
            </a:ln>
          </p:spPr>
          <p:txBody>
            <a:bodyPr wrap="none" anchor="ctr"/>
            <a:lstStyle/>
            <a:p>
              <a:pPr lvl="0" algn="ctr" eaLnBrk="1" hangingPunct="1"/>
              <a:r>
                <a:rPr lang="en-US" altLang="zh-CN" sz="1800" b="1" i="1" dirty="0">
                  <a:solidFill>
                    <a:srgbClr val="8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i="1" dirty="0">
                <a:solidFill>
                  <a:srgbClr val="800000"/>
                </a:solidFill>
                <a:latin typeface="Times New Roman" panose="02020603050405020304" pitchFamily="18" charset="0"/>
                <a:ea typeface="宋体" panose="02010600030101010101" pitchFamily="2" charset="-122"/>
              </a:endParaRPr>
            </a:p>
          </p:txBody>
        </p:sp>
        <p:sp>
          <p:nvSpPr>
            <p:cNvPr id="93199" name="Rectangle 14"/>
            <p:cNvSpPr/>
            <p:nvPr/>
          </p:nvSpPr>
          <p:spPr>
            <a:xfrm>
              <a:off x="5214" y="3024"/>
              <a:ext cx="66" cy="192"/>
            </a:xfrm>
            <a:prstGeom prst="rect">
              <a:avLst/>
            </a:prstGeom>
            <a:solidFill>
              <a:schemeClr val="bg1"/>
            </a:solidFill>
            <a:ln w="38100" cap="flat" cmpd="sng">
              <a:noFill/>
              <a:prstDash val="solid"/>
              <a:miter/>
              <a:headEnd type="none" w="med" len="med"/>
              <a:tailEnd type="none" w="med" len="med"/>
            </a:ln>
          </p:spPr>
          <p:txBody>
            <a:bodyPr wrap="none" anchor="ctr"/>
            <a:lstStyle/>
            <a:p>
              <a:pPr lvl="0" algn="ctr" eaLnBrk="1" hangingPunct="1"/>
              <a:r>
                <a:rPr lang="en-US" altLang="zh-CN" sz="1200" b="1" i="1" dirty="0">
                  <a:solidFill>
                    <a:srgbClr val="8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200" b="1" i="1" dirty="0">
                <a:solidFill>
                  <a:srgbClr val="800000"/>
                </a:solidFill>
                <a:latin typeface="Times New Roman" panose="02020603050405020304" pitchFamily="18" charset="0"/>
                <a:ea typeface="宋体" panose="02010600030101010101" pitchFamily="2" charset="-122"/>
              </a:endParaRPr>
            </a:p>
          </p:txBody>
        </p:sp>
        <p:sp>
          <p:nvSpPr>
            <p:cNvPr id="93200" name="Line 16"/>
            <p:cNvSpPr/>
            <p:nvPr/>
          </p:nvSpPr>
          <p:spPr>
            <a:xfrm flipH="1" flipV="1">
              <a:off x="5136" y="3072"/>
              <a:ext cx="96" cy="48"/>
            </a:xfrm>
            <a:prstGeom prst="line">
              <a:avLst/>
            </a:prstGeom>
            <a:ln w="9525" cap="flat" cmpd="sng">
              <a:solidFill>
                <a:schemeClr val="bg2"/>
              </a:solidFill>
              <a:prstDash val="solid"/>
              <a:headEnd type="none" w="med" len="med"/>
              <a:tailEnd type="none" w="med" len="med"/>
            </a:ln>
          </p:spPr>
        </p:sp>
        <p:sp>
          <p:nvSpPr>
            <p:cNvPr id="93201" name="Rectangle 17"/>
            <p:cNvSpPr/>
            <p:nvPr/>
          </p:nvSpPr>
          <p:spPr>
            <a:xfrm>
              <a:off x="4896" y="3120"/>
              <a:ext cx="192" cy="144"/>
            </a:xfrm>
            <a:prstGeom prst="rect">
              <a:avLst/>
            </a:prstGeom>
            <a:solidFill>
              <a:schemeClr val="bg1"/>
            </a:solidFill>
            <a:ln w="38100" cap="flat" cmpd="sng">
              <a:noFill/>
              <a:prstDash val="solid"/>
              <a:miter/>
              <a:headEnd type="none" w="med" len="med"/>
              <a:tailEnd type="none" w="med" len="med"/>
            </a:ln>
          </p:spPr>
          <p:txBody>
            <a:bodyPr wrap="none" anchor="ctr"/>
            <a:lstStyle/>
            <a:p>
              <a:pPr lvl="0" algn="ctr" eaLnBrk="1" hangingPunct="1"/>
              <a:r>
                <a:rPr lang="en-US" altLang="zh-CN" sz="1200" b="1" i="1" dirty="0">
                  <a:solidFill>
                    <a:srgbClr val="8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200" b="1" i="1" dirty="0">
                <a:solidFill>
                  <a:srgbClr val="800000"/>
                </a:solidFill>
                <a:latin typeface="Times New Roman" panose="02020603050405020304" pitchFamily="18" charset="0"/>
                <a:ea typeface="宋体" panose="02010600030101010101" pitchFamily="2" charset="-122"/>
              </a:endParaRPr>
            </a:p>
          </p:txBody>
        </p:sp>
        <p:sp>
          <p:nvSpPr>
            <p:cNvPr id="93202" name="Rectangle 18"/>
            <p:cNvSpPr/>
            <p:nvPr/>
          </p:nvSpPr>
          <p:spPr>
            <a:xfrm>
              <a:off x="3831" y="2898"/>
              <a:ext cx="96" cy="144"/>
            </a:xfrm>
            <a:prstGeom prst="rect">
              <a:avLst/>
            </a:prstGeom>
            <a:noFill/>
            <a:ln w="38100">
              <a:noFill/>
            </a:ln>
          </p:spPr>
          <p:txBody>
            <a:bodyPr wrap="none" anchor="ctr"/>
            <a:lstStyle/>
            <a:p>
              <a:pPr lvl="0" algn="ctr" eaLnBrk="1" hangingPunct="1"/>
              <a:r>
                <a:rPr lang="en-US" altLang="zh-CN" sz="1000" b="1" i="1" dirty="0">
                  <a:solidFill>
                    <a:srgbClr val="8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000" b="1" i="1" dirty="0">
                <a:solidFill>
                  <a:srgbClr val="800000"/>
                </a:solidFill>
                <a:latin typeface="Times New Roman" panose="02020603050405020304" pitchFamily="18" charset="0"/>
                <a:ea typeface="宋体" panose="02010600030101010101" pitchFamily="2" charset="-122"/>
              </a:endParaRPr>
            </a:p>
          </p:txBody>
        </p:sp>
        <p:sp>
          <p:nvSpPr>
            <p:cNvPr id="93203" name="Rectangle 19"/>
            <p:cNvSpPr/>
            <p:nvPr/>
          </p:nvSpPr>
          <p:spPr>
            <a:xfrm>
              <a:off x="3726" y="3072"/>
              <a:ext cx="48" cy="240"/>
            </a:xfrm>
            <a:prstGeom prst="rect">
              <a:avLst/>
            </a:prstGeom>
            <a:solidFill>
              <a:schemeClr val="bg1"/>
            </a:solidFill>
            <a:ln w="38100" cap="flat" cmpd="sng">
              <a:noFill/>
              <a:prstDash val="solid"/>
              <a:miter/>
              <a:headEnd type="none" w="med" len="med"/>
              <a:tailEnd type="none" w="med" len="med"/>
            </a:ln>
          </p:spPr>
          <p:txBody>
            <a:bodyPr wrap="none" anchor="ctr"/>
            <a:lstStyle/>
            <a:p>
              <a:pPr lvl="0" algn="ctr" eaLnBrk="1" hangingPunct="1"/>
              <a:r>
                <a:rPr lang="en-US" altLang="zh-CN" sz="1200" b="1" i="1" dirty="0">
                  <a:solidFill>
                    <a:srgbClr val="800000"/>
                  </a:solidFill>
                  <a:latin typeface="Times New Roman" panose="02020603050405020304" pitchFamily="18" charset="0"/>
                  <a:ea typeface="宋体" panose="02010600030101010101" pitchFamily="2" charset="-122"/>
                  <a:sym typeface="Symbol" panose="05050102010706020507" pitchFamily="18" charset="2"/>
                </a:rPr>
                <a:t></a:t>
              </a:r>
            </a:p>
            <a:p>
              <a:pPr lvl="0" algn="ctr" eaLnBrk="1" hangingPunct="1"/>
              <a:r>
                <a:rPr lang="en-US" altLang="zh-CN" sz="1200" b="1" i="1" dirty="0">
                  <a:solidFill>
                    <a:srgbClr val="800000"/>
                  </a:solidFill>
                  <a:latin typeface="Times New Roman" panose="02020603050405020304" pitchFamily="18" charset="0"/>
                  <a:ea typeface="宋体" panose="02010600030101010101" pitchFamily="2" charset="-122"/>
                  <a:sym typeface="Symbol" panose="05050102010706020507" pitchFamily="18" charset="2"/>
                </a:rPr>
                <a:t>+</a:t>
              </a:r>
            </a:p>
            <a:p>
              <a:pPr lvl="0" algn="ctr" eaLnBrk="1" hangingPunct="1"/>
              <a:r>
                <a:rPr lang="en-US" altLang="zh-CN" sz="1200" b="1" i="1" dirty="0">
                  <a:solidFill>
                    <a:srgbClr val="800000"/>
                  </a:solidFill>
                  <a:latin typeface="Times New Roman" panose="02020603050405020304" pitchFamily="18" charset="0"/>
                  <a:ea typeface="宋体" panose="02010600030101010101" pitchFamily="2" charset="-122"/>
                  <a:sym typeface="Symbol" panose="05050102010706020507" pitchFamily="18" charset="2"/>
                </a:rPr>
                <a:t> ’</a:t>
              </a:r>
            </a:p>
          </p:txBody>
        </p:sp>
        <p:sp>
          <p:nvSpPr>
            <p:cNvPr id="93204" name="Rectangle 20"/>
            <p:cNvSpPr/>
            <p:nvPr/>
          </p:nvSpPr>
          <p:spPr>
            <a:xfrm>
              <a:off x="3984" y="2976"/>
              <a:ext cx="96" cy="288"/>
            </a:xfrm>
            <a:prstGeom prst="rect">
              <a:avLst/>
            </a:prstGeom>
            <a:solidFill>
              <a:schemeClr val="bg1"/>
            </a:solidFill>
            <a:ln w="38100" cap="flat" cmpd="sng">
              <a:noFill/>
              <a:prstDash val="solid"/>
              <a:miter/>
              <a:headEnd type="none" w="med" len="med"/>
              <a:tailEnd type="none" w="med" len="med"/>
            </a:ln>
          </p:spPr>
          <p:txBody>
            <a:bodyPr wrap="none" anchor="ctr"/>
            <a:lstStyle/>
            <a:p>
              <a:pPr lvl="0" algn="ctr" eaLnBrk="1" hangingPunct="1"/>
              <a:r>
                <a:rPr lang="en-US" altLang="zh-CN" sz="1200" b="1" i="1" dirty="0">
                  <a:solidFill>
                    <a:srgbClr val="800000"/>
                  </a:solidFill>
                  <a:latin typeface="Times New Roman" panose="02020603050405020304" pitchFamily="18" charset="0"/>
                  <a:ea typeface="宋体" panose="02010600030101010101" pitchFamily="2" charset="-122"/>
                  <a:sym typeface="Symbol" panose="05050102010706020507" pitchFamily="18" charset="2"/>
                </a:rPr>
                <a:t>’</a:t>
              </a:r>
            </a:p>
            <a:p>
              <a:pPr lvl="0" algn="ctr" eaLnBrk="1" hangingPunct="1"/>
              <a:r>
                <a:rPr lang="en-US" altLang="zh-CN" sz="1200" b="1" i="1" dirty="0">
                  <a:solidFill>
                    <a:srgbClr val="800000"/>
                  </a:solidFill>
                  <a:latin typeface="Times New Roman" panose="02020603050405020304" pitchFamily="18" charset="0"/>
                  <a:ea typeface="宋体" panose="02010600030101010101" pitchFamily="2" charset="-122"/>
                  <a:sym typeface="Symbol" panose="05050102010706020507" pitchFamily="18" charset="2"/>
                </a:rPr>
                <a:t>+</a:t>
              </a:r>
            </a:p>
            <a:p>
              <a:pPr lvl="0" algn="ctr" eaLnBrk="1" hangingPunct="1"/>
              <a:r>
                <a:rPr lang="en-US" altLang="zh-CN" sz="1200" b="1" i="1" dirty="0">
                  <a:solidFill>
                    <a:srgbClr val="800000"/>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93205" name="Rectangle 23"/>
            <p:cNvSpPr/>
            <p:nvPr/>
          </p:nvSpPr>
          <p:spPr>
            <a:xfrm>
              <a:off x="3666" y="2352"/>
              <a:ext cx="48" cy="288"/>
            </a:xfrm>
            <a:prstGeom prst="rect">
              <a:avLst/>
            </a:prstGeom>
            <a:solidFill>
              <a:schemeClr val="bg1"/>
            </a:solidFill>
            <a:ln w="38100" cap="flat" cmpd="sng">
              <a:noFill/>
              <a:prstDash val="solid"/>
              <a:miter/>
              <a:headEnd type="none" w="med" len="med"/>
              <a:tailEnd type="none" w="med" len="med"/>
            </a:ln>
          </p:spPr>
          <p:txBody>
            <a:bodyPr wrap="none" anchor="ctr"/>
            <a:lstStyle/>
            <a:p>
              <a:pPr lvl="0" algn="ctr" eaLnBrk="1" hangingPunct="1"/>
              <a:r>
                <a:rPr lang="en-US" altLang="zh-CN" sz="1200" b="1" i="1" dirty="0">
                  <a:solidFill>
                    <a:srgbClr val="800000"/>
                  </a:solidFill>
                  <a:latin typeface="Times New Roman" panose="02020603050405020304" pitchFamily="18" charset="0"/>
                  <a:ea typeface="宋体" panose="02010600030101010101" pitchFamily="2" charset="-122"/>
                  <a:sym typeface="Symbol" panose="05050102010706020507" pitchFamily="18" charset="2"/>
                </a:rPr>
                <a:t></a:t>
              </a:r>
            </a:p>
            <a:p>
              <a:pPr lvl="0" algn="ctr" eaLnBrk="1" hangingPunct="1"/>
              <a:r>
                <a:rPr lang="en-US" altLang="zh-CN" sz="1200" b="1" i="1" dirty="0">
                  <a:solidFill>
                    <a:srgbClr val="800000"/>
                  </a:solidFill>
                  <a:latin typeface="Times New Roman" panose="02020603050405020304" pitchFamily="18" charset="0"/>
                  <a:ea typeface="宋体" panose="02010600030101010101" pitchFamily="2" charset="-122"/>
                  <a:sym typeface="Symbol" panose="05050102010706020507" pitchFamily="18" charset="2"/>
                </a:rPr>
                <a:t>+ </a:t>
              </a:r>
            </a:p>
            <a:p>
              <a:pPr lvl="0" algn="ctr" eaLnBrk="1" hangingPunct="1"/>
              <a:r>
                <a:rPr lang="en-US" altLang="zh-CN" sz="1200" b="1" i="1" dirty="0">
                  <a:solidFill>
                    <a:srgbClr val="800000"/>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93206" name="Rectangle 24"/>
            <p:cNvSpPr/>
            <p:nvPr/>
          </p:nvSpPr>
          <p:spPr>
            <a:xfrm>
              <a:off x="4002" y="2496"/>
              <a:ext cx="78" cy="288"/>
            </a:xfrm>
            <a:prstGeom prst="rect">
              <a:avLst/>
            </a:prstGeom>
            <a:solidFill>
              <a:schemeClr val="bg1"/>
            </a:solidFill>
            <a:ln w="38100" cap="flat" cmpd="sng">
              <a:noFill/>
              <a:prstDash val="solid"/>
              <a:miter/>
              <a:headEnd type="none" w="med" len="med"/>
              <a:tailEnd type="none" w="med" len="med"/>
            </a:ln>
          </p:spPr>
          <p:txBody>
            <a:bodyPr wrap="none" anchor="ctr"/>
            <a:lstStyle/>
            <a:p>
              <a:pPr lvl="0" algn="ctr" eaLnBrk="1" hangingPunct="1"/>
              <a:r>
                <a:rPr lang="en-US" altLang="zh-CN" sz="1200" b="1" i="1" dirty="0">
                  <a:solidFill>
                    <a:srgbClr val="800000"/>
                  </a:solidFill>
                  <a:latin typeface="Times New Roman" panose="02020603050405020304" pitchFamily="18" charset="0"/>
                  <a:ea typeface="宋体" panose="02010600030101010101" pitchFamily="2" charset="-122"/>
                  <a:sym typeface="Symbol" panose="05050102010706020507" pitchFamily="18" charset="2"/>
                </a:rPr>
                <a:t></a:t>
              </a:r>
            </a:p>
            <a:p>
              <a:pPr lvl="0" algn="ctr" eaLnBrk="1" hangingPunct="1"/>
              <a:r>
                <a:rPr lang="en-US" altLang="zh-CN" sz="1200" b="1" i="1" dirty="0">
                  <a:solidFill>
                    <a:srgbClr val="800000"/>
                  </a:solidFill>
                  <a:latin typeface="Times New Roman" panose="02020603050405020304" pitchFamily="18" charset="0"/>
                  <a:ea typeface="宋体" panose="02010600030101010101" pitchFamily="2" charset="-122"/>
                  <a:sym typeface="Symbol" panose="05050102010706020507" pitchFamily="18" charset="2"/>
                </a:rPr>
                <a:t>+</a:t>
              </a:r>
            </a:p>
            <a:p>
              <a:pPr lvl="0" algn="ctr" eaLnBrk="1" hangingPunct="1"/>
              <a:r>
                <a:rPr lang="en-US" altLang="zh-CN" sz="1200" b="1" i="1" dirty="0">
                  <a:solidFill>
                    <a:srgbClr val="800000"/>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93207" name="Rectangle 25"/>
            <p:cNvSpPr/>
            <p:nvPr/>
          </p:nvSpPr>
          <p:spPr>
            <a:xfrm>
              <a:off x="3282" y="1584"/>
              <a:ext cx="270" cy="96"/>
            </a:xfrm>
            <a:prstGeom prst="rect">
              <a:avLst/>
            </a:prstGeom>
            <a:solidFill>
              <a:schemeClr val="bg1"/>
            </a:solidFill>
            <a:ln w="38100" cap="flat" cmpd="sng">
              <a:noFill/>
              <a:prstDash val="solid"/>
              <a:miter/>
              <a:headEnd type="none" w="med" len="med"/>
              <a:tailEnd type="none" w="med" len="med"/>
            </a:ln>
          </p:spPr>
          <p:txBody>
            <a:bodyPr wrap="none" anchor="ctr"/>
            <a:lstStyle/>
            <a:p>
              <a:pPr lvl="0" algn="ctr" eaLnBrk="1" hangingPunct="1"/>
              <a:r>
                <a:rPr lang="en-US" altLang="zh-CN" sz="1200" b="1" i="1" dirty="0">
                  <a:solidFill>
                    <a:srgbClr val="800000"/>
                  </a:solidFill>
                  <a:latin typeface="Times New Roman" panose="02020603050405020304" pitchFamily="18" charset="0"/>
                  <a:ea typeface="宋体" panose="02010600030101010101" pitchFamily="2" charset="-122"/>
                  <a:sym typeface="Symbol" panose="05050102010706020507" pitchFamily="18" charset="2"/>
                </a:rPr>
                <a:t>+L</a:t>
              </a:r>
            </a:p>
          </p:txBody>
        </p:sp>
        <p:sp>
          <p:nvSpPr>
            <p:cNvPr id="93208" name="Rectangle 26"/>
            <p:cNvSpPr/>
            <p:nvPr/>
          </p:nvSpPr>
          <p:spPr>
            <a:xfrm>
              <a:off x="3936" y="1776"/>
              <a:ext cx="270" cy="96"/>
            </a:xfrm>
            <a:prstGeom prst="rect">
              <a:avLst/>
            </a:prstGeom>
            <a:solidFill>
              <a:schemeClr val="bg1"/>
            </a:solidFill>
            <a:ln w="38100" cap="flat" cmpd="sng">
              <a:noFill/>
              <a:prstDash val="solid"/>
              <a:miter/>
              <a:headEnd type="none" w="med" len="med"/>
              <a:tailEnd type="none" w="med" len="med"/>
            </a:ln>
          </p:spPr>
          <p:txBody>
            <a:bodyPr wrap="none" anchor="ctr"/>
            <a:lstStyle/>
            <a:p>
              <a:pPr lvl="0" algn="ctr" eaLnBrk="1" hangingPunct="1"/>
              <a:r>
                <a:rPr lang="en-US" altLang="zh-CN" sz="1200" b="1" i="1" dirty="0">
                  <a:solidFill>
                    <a:srgbClr val="800000"/>
                  </a:solidFill>
                  <a:latin typeface="Times New Roman" panose="02020603050405020304" pitchFamily="18" charset="0"/>
                  <a:ea typeface="宋体" panose="02010600030101010101" pitchFamily="2" charset="-122"/>
                  <a:sym typeface="Symbol" panose="05050102010706020507" pitchFamily="18" charset="2"/>
                </a:rPr>
                <a:t>+L</a:t>
              </a:r>
            </a:p>
          </p:txBody>
        </p:sp>
        <p:sp>
          <p:nvSpPr>
            <p:cNvPr id="93209" name="Rectangle 28"/>
            <p:cNvSpPr/>
            <p:nvPr/>
          </p:nvSpPr>
          <p:spPr>
            <a:xfrm>
              <a:off x="4491" y="2295"/>
              <a:ext cx="48" cy="48"/>
            </a:xfrm>
            <a:prstGeom prst="rect">
              <a:avLst/>
            </a:prstGeom>
            <a:solidFill>
              <a:schemeClr val="bg1"/>
            </a:solidFill>
            <a:ln w="38100" cap="flat" cmpd="sng">
              <a:noFill/>
              <a:prstDash val="solid"/>
              <a:miter/>
              <a:headEnd type="none" w="med" len="med"/>
              <a:tailEnd type="none" w="med" len="med"/>
            </a:ln>
          </p:spPr>
          <p:txBody>
            <a:bodyPr wrap="none" anchor="ctr"/>
            <a:lstStyle/>
            <a:p>
              <a:pPr lvl="0" algn="ctr" eaLnBrk="1" hangingPunct="1"/>
              <a:r>
                <a:rPr lang="en-US" altLang="zh-CN" sz="1200" b="1" i="1" dirty="0">
                  <a:solidFill>
                    <a:srgbClr val="800000"/>
                  </a:solidFill>
                  <a:latin typeface="Times New Roman" panose="02020603050405020304" pitchFamily="18" charset="0"/>
                  <a:ea typeface="宋体" panose="02010600030101010101" pitchFamily="2" charset="-122"/>
                  <a:sym typeface="Symbol" panose="05050102010706020507" pitchFamily="18" charset="2"/>
                </a:rPr>
                <a:t>+L</a:t>
              </a:r>
            </a:p>
          </p:txBody>
        </p:sp>
        <p:sp>
          <p:nvSpPr>
            <p:cNvPr id="93210" name="Rectangle 29"/>
            <p:cNvSpPr/>
            <p:nvPr/>
          </p:nvSpPr>
          <p:spPr>
            <a:xfrm>
              <a:off x="4647" y="2478"/>
              <a:ext cx="48" cy="48"/>
            </a:xfrm>
            <a:prstGeom prst="rect">
              <a:avLst/>
            </a:prstGeom>
            <a:solidFill>
              <a:schemeClr val="bg1"/>
            </a:solidFill>
            <a:ln w="38100" cap="flat" cmpd="sng">
              <a:noFill/>
              <a:prstDash val="solid"/>
              <a:miter/>
              <a:headEnd type="none" w="med" len="med"/>
              <a:tailEnd type="none" w="med" len="med"/>
            </a:ln>
          </p:spPr>
          <p:txBody>
            <a:bodyPr wrap="none" anchor="ctr"/>
            <a:lstStyle/>
            <a:p>
              <a:pPr lvl="0" algn="ctr" eaLnBrk="1" hangingPunct="1"/>
              <a:r>
                <a:rPr lang="en-US" altLang="zh-CN" sz="1200" b="1" i="1" dirty="0">
                  <a:solidFill>
                    <a:srgbClr val="800000"/>
                  </a:solidFill>
                  <a:latin typeface="Times New Roman" panose="02020603050405020304" pitchFamily="18" charset="0"/>
                  <a:ea typeface="宋体" panose="02010600030101010101" pitchFamily="2" charset="-122"/>
                  <a:sym typeface="Symbol" panose="05050102010706020507" pitchFamily="18" charset="2"/>
                </a:rPr>
                <a:t>+L</a:t>
              </a:r>
            </a:p>
          </p:txBody>
        </p:sp>
        <p:sp>
          <p:nvSpPr>
            <p:cNvPr id="93211" name="Rectangle 30"/>
            <p:cNvSpPr/>
            <p:nvPr/>
          </p:nvSpPr>
          <p:spPr>
            <a:xfrm>
              <a:off x="4896" y="2784"/>
              <a:ext cx="48" cy="48"/>
            </a:xfrm>
            <a:prstGeom prst="rect">
              <a:avLst/>
            </a:prstGeom>
            <a:solidFill>
              <a:schemeClr val="bg1"/>
            </a:solidFill>
            <a:ln w="38100" cap="flat" cmpd="sng">
              <a:noFill/>
              <a:prstDash val="solid"/>
              <a:miter/>
              <a:headEnd type="none" w="med" len="med"/>
              <a:tailEnd type="none" w="med" len="med"/>
            </a:ln>
          </p:spPr>
          <p:txBody>
            <a:bodyPr wrap="none" anchor="ctr"/>
            <a:lstStyle/>
            <a:p>
              <a:pPr lvl="0" algn="ctr" eaLnBrk="1" hangingPunct="1"/>
              <a:r>
                <a:rPr lang="en-US" altLang="zh-CN" sz="1200" b="1" i="1" dirty="0">
                  <a:solidFill>
                    <a:srgbClr val="800000"/>
                  </a:solidFill>
                  <a:latin typeface="Times New Roman" panose="02020603050405020304" pitchFamily="18" charset="0"/>
                  <a:ea typeface="宋体" panose="02010600030101010101" pitchFamily="2" charset="-122"/>
                  <a:sym typeface="Symbol" panose="05050102010706020507" pitchFamily="18" charset="2"/>
                </a:rPr>
                <a:t>+L</a:t>
              </a:r>
            </a:p>
          </p:txBody>
        </p:sp>
        <p:sp>
          <p:nvSpPr>
            <p:cNvPr id="93212" name="Rectangle 31"/>
            <p:cNvSpPr/>
            <p:nvPr/>
          </p:nvSpPr>
          <p:spPr>
            <a:xfrm>
              <a:off x="5088" y="2754"/>
              <a:ext cx="48" cy="48"/>
            </a:xfrm>
            <a:prstGeom prst="rect">
              <a:avLst/>
            </a:prstGeom>
            <a:solidFill>
              <a:schemeClr val="bg1"/>
            </a:solidFill>
            <a:ln w="38100" cap="flat" cmpd="sng">
              <a:noFill/>
              <a:prstDash val="solid"/>
              <a:miter/>
              <a:headEnd type="none" w="med" len="med"/>
              <a:tailEnd type="none" w="med" len="med"/>
            </a:ln>
          </p:spPr>
          <p:txBody>
            <a:bodyPr wrap="none" anchor="ctr"/>
            <a:lstStyle/>
            <a:p>
              <a:pPr lvl="0" algn="ctr" eaLnBrk="1" hangingPunct="1"/>
              <a:r>
                <a:rPr lang="en-US" altLang="zh-CN" sz="1200" b="1" i="1" dirty="0">
                  <a:solidFill>
                    <a:srgbClr val="800000"/>
                  </a:solidFill>
                  <a:latin typeface="Times New Roman" panose="02020603050405020304" pitchFamily="18" charset="0"/>
                  <a:ea typeface="宋体" panose="02010600030101010101" pitchFamily="2" charset="-122"/>
                  <a:sym typeface="Symbol" panose="05050102010706020507" pitchFamily="18" charset="2"/>
                </a:rPr>
                <a:t>+L</a:t>
              </a:r>
            </a:p>
          </p:txBody>
        </p:sp>
        <p:sp>
          <p:nvSpPr>
            <p:cNvPr id="93213" name="Text Box 32"/>
            <p:cNvSpPr txBox="1"/>
            <p:nvPr/>
          </p:nvSpPr>
          <p:spPr>
            <a:xfrm>
              <a:off x="4464" y="2496"/>
              <a:ext cx="144" cy="174"/>
            </a:xfrm>
            <a:prstGeom prst="rect">
              <a:avLst/>
            </a:prstGeom>
            <a:noFill/>
            <a:ln w="9525">
              <a:noFill/>
            </a:ln>
          </p:spPr>
          <p:txBody>
            <a:bodyPr>
              <a:spAutoFit/>
            </a:bodyPr>
            <a:lstStyle/>
            <a:p>
              <a:pPr lvl="0" eaLnBrk="1" hangingPunct="1">
                <a:spcBef>
                  <a:spcPct val="50000"/>
                </a:spcBef>
              </a:pPr>
              <a:r>
                <a:rPr lang="en-US" altLang="zh-CN" sz="1000" b="1" dirty="0">
                  <a:solidFill>
                    <a:srgbClr val="990033"/>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000" b="1" dirty="0">
                <a:solidFill>
                  <a:srgbClr val="990033"/>
                </a:solidFill>
                <a:latin typeface="Times New Roman" panose="02020603050405020304" pitchFamily="18" charset="0"/>
                <a:ea typeface="宋体" panose="02010600030101010101" pitchFamily="2" charset="-122"/>
              </a:endParaRPr>
            </a:p>
          </p:txBody>
        </p:sp>
        <p:sp>
          <p:nvSpPr>
            <p:cNvPr id="93214" name="Text Box 33"/>
            <p:cNvSpPr txBox="1"/>
            <p:nvPr/>
          </p:nvSpPr>
          <p:spPr>
            <a:xfrm>
              <a:off x="4398" y="2382"/>
              <a:ext cx="144" cy="391"/>
            </a:xfrm>
            <a:prstGeom prst="rect">
              <a:avLst/>
            </a:prstGeom>
            <a:noFill/>
            <a:ln w="9525">
              <a:noFill/>
            </a:ln>
          </p:spPr>
          <p:txBody>
            <a:bodyPr>
              <a:spAutoFit/>
            </a:bodyPr>
            <a:lstStyle/>
            <a:p>
              <a:pPr lvl="0" eaLnBrk="1" hangingPunct="1">
                <a:spcBef>
                  <a:spcPct val="50000"/>
                </a:spcBef>
              </a:pPr>
              <a:r>
                <a:rPr lang="en-US" altLang="zh-CN" sz="1000" b="1" dirty="0">
                  <a:solidFill>
                    <a:srgbClr val="990033"/>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000" b="1" dirty="0">
                <a:solidFill>
                  <a:srgbClr val="990033"/>
                </a:solidFill>
                <a:latin typeface="Times New Roman" panose="02020603050405020304" pitchFamily="18" charset="0"/>
                <a:ea typeface="宋体" panose="02010600030101010101" pitchFamily="2" charset="-122"/>
              </a:endParaRPr>
            </a:p>
          </p:txBody>
        </p:sp>
      </p:grpSp>
      <p:pic>
        <p:nvPicPr>
          <p:cNvPr id="33" name="内容占位符 1" descr="新校徽（3M）弓之乐"/>
          <p:cNvPicPr>
            <a:picLocks noChangeAspect="1"/>
          </p:cNvPicPr>
          <p:nvPr/>
        </p:nvPicPr>
        <p:blipFill>
          <a:blip r:embed="rId3"/>
          <a:stretch>
            <a:fillRect/>
          </a:stretch>
        </p:blipFill>
        <p:spPr>
          <a:xfrm>
            <a:off x="0" y="0"/>
            <a:ext cx="746760" cy="735965"/>
          </a:xfrm>
          <a:prstGeom prst="rect">
            <a:avLst/>
          </a:prstGeom>
          <a:noFill/>
          <a:ln w="9525">
            <a:noFill/>
          </a:ln>
        </p:spPr>
      </p:pic>
      <p:sp>
        <p:nvSpPr>
          <p:cNvPr id="96258" name="Rectangle 2"/>
          <p:cNvSpPr>
            <a:spLocks noGrp="1" noChangeArrowheads="1"/>
          </p:cNvSpPr>
          <p:nvPr>
            <p:ph type="title"/>
          </p:nvPr>
        </p:nvSpPr>
        <p:spPr>
          <a:xfrm>
            <a:off x="1044131" y="332790"/>
            <a:ext cx="7772400" cy="951079"/>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Times New Roman" panose="02020603050405020304" pitchFamily="18" charset="0"/>
                <a:ea typeface="华文中宋" panose="02010600040101010101" pitchFamily="2" charset="-122"/>
                <a:cs typeface="+mj-cs"/>
              </a:rPr>
              <a:t>6</a:t>
            </a:r>
            <a:r>
              <a:rPr kumimoji="1" lang="zh-CN" altLang="en-US" sz="4400" b="1" i="0" u="none" strike="noStrike" kern="0" cap="none" spc="0" normalizeH="0" baseline="0" noProof="0" dirty="0">
                <a:ln>
                  <a:noFill/>
                </a:ln>
                <a:solidFill>
                  <a:srgbClr val="FF0000"/>
                </a:solidFill>
                <a:uLnTx/>
                <a:uFillTx/>
                <a:latin typeface="Times New Roman" panose="02020603050405020304" pitchFamily="18" charset="0"/>
                <a:ea typeface="华文中宋" panose="02010600040101010101" pitchFamily="2" charset="-122"/>
                <a:cs typeface="+mj-cs"/>
              </a:rPr>
              <a:t>、二元相图的分析步骤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7282">
                                            <p:txEl>
                                              <p:pRg st="0" end="0"/>
                                            </p:txEl>
                                          </p:spTgt>
                                        </p:tgtEl>
                                        <p:attrNameLst>
                                          <p:attrName>style.visibility</p:attrName>
                                        </p:attrNameLst>
                                      </p:cBhvr>
                                      <p:to>
                                        <p:strVal val="visible"/>
                                      </p:to>
                                    </p:set>
                                    <p:animEffect transition="in" filter="wipe(left)">
                                      <p:cBhvr>
                                        <p:cTn id="7" dur="500"/>
                                        <p:tgtEl>
                                          <p:spTgt spid="97282">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7282">
                                            <p:txEl>
                                              <p:pRg st="1" end="1"/>
                                            </p:txEl>
                                          </p:spTgt>
                                        </p:tgtEl>
                                        <p:attrNameLst>
                                          <p:attrName>style.visibility</p:attrName>
                                        </p:attrNameLst>
                                      </p:cBhvr>
                                      <p:to>
                                        <p:strVal val="visible"/>
                                      </p:to>
                                    </p:set>
                                    <p:animEffect transition="in" filter="wipe(left)">
                                      <p:cBhvr>
                                        <p:cTn id="11" dur="500"/>
                                        <p:tgtEl>
                                          <p:spTgt spid="97282">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97283"/>
                                        </p:tgtEl>
                                        <p:attrNameLst>
                                          <p:attrName>style.visibility</p:attrName>
                                        </p:attrNameLst>
                                      </p:cBhvr>
                                      <p:to>
                                        <p:strVal val="visible"/>
                                      </p:to>
                                    </p:set>
                                    <p:animEffect transition="in" filter="wipe(left)">
                                      <p:cBhvr>
                                        <p:cTn id="15" dur="500"/>
                                        <p:tgtEl>
                                          <p:spTgt spid="97283"/>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up)">
                                      <p:cBhvr>
                                        <p:cTn id="19" dur="500"/>
                                        <p:tgtEl>
                                          <p:spTgt spid="2"/>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96258"/>
                                        </p:tgtEl>
                                        <p:attrNameLst>
                                          <p:attrName>style.visibility</p:attrName>
                                        </p:attrNameLst>
                                      </p:cBhvr>
                                      <p:to>
                                        <p:strVal val="visible"/>
                                      </p:to>
                                    </p:set>
                                    <p:animEffect transition="in" filter="wipe(left)">
                                      <p:cBhvr>
                                        <p:cTn id="23" dur="500"/>
                                        <p:tgtEl>
                                          <p:spTgt spid="962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2" grpId="0" build="p" advAuto="1000"/>
      <p:bldP spid="97283" grpId="0"/>
      <p:bldP spid="96258"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日期占位符 3"/>
          <p:cNvSpPr txBox="1">
            <a:spLocks noGrp="1"/>
          </p:cNvSpPr>
          <p:nvPr>
            <p:ph type="dt" sz="half" idx="10"/>
          </p:nvPr>
        </p:nvSpPr>
        <p:spPr>
          <a:xfrm>
            <a:off x="0" y="6510338"/>
            <a:ext cx="2376488"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94211" name="灯片编号占位符 5"/>
          <p:cNvSpPr txBox="1">
            <a:spLocks noGrp="1"/>
          </p:cNvSpPr>
          <p:nvPr>
            <p:ph type="sldNum" sz="quarter" idx="12"/>
          </p:nvPr>
        </p:nvSpPr>
        <p:spPr>
          <a:xfrm>
            <a:off x="8738870" y="6595745"/>
            <a:ext cx="379730" cy="262255"/>
          </a:xfrm>
        </p:spPr>
        <p:txBody>
          <a:bodyPr lIns="92075" tIns="46038" rIns="92075" bIns="46038" anchor="ctr"/>
          <a:lstStyle/>
          <a:p>
            <a:pPr algn="r" eaLnBrk="1" hangingPunct="1"/>
            <a:fld id="{9A0DB2DC-4C9A-4742-B13C-FB6460FD3503}" type="slidenum">
              <a:rPr lang="en-US" altLang="zh-CN" sz="1400" dirty="0"/>
              <a:t>97</a:t>
            </a:fld>
            <a:endParaRPr lang="en-US" altLang="zh-CN" sz="1400" dirty="0"/>
          </a:p>
        </p:txBody>
      </p:sp>
      <p:sp>
        <p:nvSpPr>
          <p:cNvPr id="98306" name="Rectangle 2"/>
          <p:cNvSpPr>
            <a:spLocks noGrp="1"/>
          </p:cNvSpPr>
          <p:nvPr>
            <p:ph idx="1"/>
          </p:nvPr>
        </p:nvSpPr>
        <p:spPr>
          <a:xfrm>
            <a:off x="539750" y="1988820"/>
            <a:ext cx="8382000" cy="1157605"/>
          </a:xfrm>
        </p:spPr>
        <p:txBody>
          <a:bodyPr vert="horz" wrap="square" lIns="91440" tIns="45720" rIns="91440" bIns="45720" anchor="t"/>
          <a:lstStyle/>
          <a:p>
            <a:pPr eaLnBrk="1" hangingPunct="1">
              <a:lnSpc>
                <a:spcPct val="110000"/>
              </a:lnSpc>
            </a:pPr>
            <a:r>
              <a:rPr lang="en-US" altLang="zh-CN" sz="2800" b="1" dirty="0">
                <a:solidFill>
                  <a:schemeClr val="tx2"/>
                </a:solidFill>
                <a:ea typeface="华文中宋" panose="02010600040101010101" pitchFamily="2" charset="-122"/>
              </a:rPr>
              <a:t>⑶ </a:t>
            </a:r>
            <a:r>
              <a:rPr lang="zh-CN" altLang="en-US" sz="2800" b="1" dirty="0">
                <a:solidFill>
                  <a:srgbClr val="0000FF"/>
                </a:solidFill>
                <a:ea typeface="华文中宋" panose="02010600040101010101" pitchFamily="2" charset="-122"/>
              </a:rPr>
              <a:t>两相区的确定</a:t>
            </a:r>
            <a:r>
              <a:rPr lang="zh-CN" altLang="en-US" sz="2800" b="1" dirty="0">
                <a:solidFill>
                  <a:schemeClr val="tx2"/>
                </a:solidFill>
                <a:ea typeface="华文中宋" panose="02010600040101010101" pitchFamily="2" charset="-122"/>
              </a:rPr>
              <a:t>：</a:t>
            </a:r>
            <a:r>
              <a:rPr lang="zh-CN" altLang="en-US" sz="2800" b="1" dirty="0">
                <a:solidFill>
                  <a:schemeClr val="folHlink"/>
                </a:solidFill>
                <a:ea typeface="华文中宋" panose="02010600040101010101" pitchFamily="2" charset="-122"/>
              </a:rPr>
              <a:t>两个单相区之间夹有一个两相区</a:t>
            </a:r>
            <a:r>
              <a:rPr lang="zh-CN" altLang="en-US" sz="2800" b="1" dirty="0">
                <a:ea typeface="华文中宋" panose="02010600040101010101" pitchFamily="2" charset="-122"/>
              </a:rPr>
              <a:t>，该两相区的相由两相邻单相区的相组成。</a:t>
            </a:r>
          </a:p>
        </p:txBody>
      </p:sp>
      <p:sp>
        <p:nvSpPr>
          <p:cNvPr id="98307" name="Rectangle 3"/>
          <p:cNvSpPr/>
          <p:nvPr/>
        </p:nvSpPr>
        <p:spPr>
          <a:xfrm>
            <a:off x="467360" y="3141345"/>
            <a:ext cx="3929380" cy="3166745"/>
          </a:xfrm>
          <a:prstGeom prst="rect">
            <a:avLst/>
          </a:prstGeom>
          <a:noFill/>
          <a:ln w="9525">
            <a:noFill/>
          </a:ln>
        </p:spPr>
        <p:txBody>
          <a:bodyPr/>
          <a:lstStyle/>
          <a:p>
            <a:pPr marL="342900" lvl="0" indent="-342900" eaLnBrk="1" hangingPunct="1">
              <a:lnSpc>
                <a:spcPct val="140000"/>
              </a:lnSpc>
              <a:spcBef>
                <a:spcPct val="20000"/>
              </a:spcBef>
              <a:buClr>
                <a:schemeClr val="accent2"/>
              </a:buClr>
              <a:buSzPct val="80000"/>
              <a:buFont typeface="Wingdings" panose="05000000000000000000" pitchFamily="2" charset="2"/>
              <a:buChar char="l"/>
            </a:pPr>
            <a:r>
              <a:rPr lang="zh-CN" altLang="en-US" sz="2800" b="1" kern="0" dirty="0">
                <a:solidFill>
                  <a:srgbClr val="0000FF"/>
                </a:solidFill>
                <a:latin typeface="+mn-lt"/>
                <a:ea typeface="华文中宋" panose="02010600040101010101" pitchFamily="2" charset="-122"/>
              </a:rPr>
              <a:t>⑷ 三相区的确定</a:t>
            </a:r>
            <a:r>
              <a:rPr lang="zh-CN" altLang="en-US" sz="2800" b="1" kern="0" dirty="0">
                <a:solidFill>
                  <a:srgbClr val="0000FF"/>
                </a:solidFill>
                <a:latin typeface="+mn-lt"/>
                <a:ea typeface="华文中宋" panose="02010600040101010101" pitchFamily="2" charset="-122"/>
                <a:sym typeface="+mn-ea"/>
              </a:rPr>
              <a:t>：</a:t>
            </a:r>
            <a:r>
              <a:rPr lang="zh-CN" altLang="en-US" sz="2800" b="1" dirty="0">
                <a:solidFill>
                  <a:schemeClr val="folHlink"/>
                </a:solidFill>
                <a:latin typeface="Times New Roman" panose="02020603050405020304" pitchFamily="18" charset="0"/>
                <a:ea typeface="华文中宋" panose="02010600040101010101" pitchFamily="2" charset="-122"/>
              </a:rPr>
              <a:t>二元相图中的</a:t>
            </a:r>
            <a:r>
              <a:rPr lang="zh-CN" altLang="en-US" sz="2800" b="1" kern="0" dirty="0">
                <a:solidFill>
                  <a:srgbClr val="0000FF"/>
                </a:solidFill>
                <a:latin typeface="+mn-lt"/>
                <a:ea typeface="华文中宋" panose="02010600040101010101" pitchFamily="2" charset="-122"/>
              </a:rPr>
              <a:t>水平线</a:t>
            </a:r>
            <a:r>
              <a:rPr lang="zh-CN" altLang="en-US" sz="2800" b="1" dirty="0">
                <a:solidFill>
                  <a:schemeClr val="folHlink"/>
                </a:solidFill>
                <a:latin typeface="Times New Roman" panose="02020603050405020304" pitchFamily="18" charset="0"/>
                <a:ea typeface="华文中宋" panose="02010600040101010101" pitchFamily="2" charset="-122"/>
              </a:rPr>
              <a:t>是三相区，</a:t>
            </a:r>
            <a:r>
              <a:rPr lang="zh-CN" altLang="en-US" sz="2800" b="1" dirty="0">
                <a:latin typeface="Times New Roman" panose="02020603050405020304" pitchFamily="18" charset="0"/>
                <a:ea typeface="华文中宋" panose="02010600040101010101" pitchFamily="2" charset="-122"/>
              </a:rPr>
              <a:t>其三个相由与该三相区点接触的三个单相区的相组成。</a:t>
            </a:r>
          </a:p>
        </p:txBody>
      </p:sp>
      <p:grpSp>
        <p:nvGrpSpPr>
          <p:cNvPr id="2" name="Group 4"/>
          <p:cNvGrpSpPr/>
          <p:nvPr/>
        </p:nvGrpSpPr>
        <p:grpSpPr>
          <a:xfrm>
            <a:off x="4435475" y="3338019"/>
            <a:ext cx="4327525" cy="3166746"/>
            <a:chOff x="2602" y="888"/>
            <a:chExt cx="2678" cy="2856"/>
          </a:xfrm>
        </p:grpSpPr>
        <p:pic>
          <p:nvPicPr>
            <p:cNvPr id="94216" name="Picture 5" descr="Fe-C相图10"/>
            <p:cNvPicPr>
              <a:picLocks noChangeAspect="1"/>
            </p:cNvPicPr>
            <p:nvPr/>
          </p:nvPicPr>
          <p:blipFill>
            <a:blip r:embed="rId2"/>
            <a:stretch>
              <a:fillRect/>
            </a:stretch>
          </p:blipFill>
          <p:spPr>
            <a:xfrm>
              <a:off x="2602" y="888"/>
              <a:ext cx="2678" cy="2856"/>
            </a:xfrm>
            <a:prstGeom prst="rect">
              <a:avLst/>
            </a:prstGeom>
            <a:noFill/>
            <a:ln w="38100" cap="flat" cmpd="sng">
              <a:solidFill>
                <a:srgbClr val="99CCFF"/>
              </a:solidFill>
              <a:prstDash val="solid"/>
              <a:miter/>
              <a:headEnd type="none" w="med" len="med"/>
              <a:tailEnd type="none" w="med" len="med"/>
            </a:ln>
          </p:spPr>
        </p:pic>
        <p:sp>
          <p:nvSpPr>
            <p:cNvPr id="94217" name="Text Box 6"/>
            <p:cNvSpPr txBox="1"/>
            <p:nvPr/>
          </p:nvSpPr>
          <p:spPr>
            <a:xfrm>
              <a:off x="3888" y="960"/>
              <a:ext cx="1104" cy="292"/>
            </a:xfrm>
            <a:prstGeom prst="rect">
              <a:avLst/>
            </a:prstGeom>
            <a:noFill/>
            <a:ln w="9525">
              <a:noFill/>
            </a:ln>
          </p:spPr>
          <p:txBody>
            <a:bodyPr>
              <a:spAutoFit/>
            </a:bodyPr>
            <a:lstStyle/>
            <a:p>
              <a:pPr lvl="0" eaLnBrk="1" hangingPunct="1">
                <a:spcBef>
                  <a:spcPct val="50000"/>
                </a:spcBef>
              </a:pPr>
              <a:r>
                <a:rPr lang="en-US" altLang="zh-CN" sz="2000" b="1" dirty="0">
                  <a:solidFill>
                    <a:srgbClr val="800000"/>
                  </a:solidFill>
                  <a:latin typeface="Times New Roman" panose="02020603050405020304" pitchFamily="18" charset="0"/>
                  <a:ea typeface="宋体" panose="02010600030101010101" pitchFamily="2" charset="-122"/>
                </a:rPr>
                <a:t>Fe-Fe</a:t>
              </a:r>
              <a:r>
                <a:rPr lang="en-US" altLang="zh-CN" sz="2000" b="1" baseline="-25000" dirty="0">
                  <a:solidFill>
                    <a:srgbClr val="800000"/>
                  </a:solidFill>
                  <a:latin typeface="Times New Roman" panose="02020603050405020304" pitchFamily="18" charset="0"/>
                  <a:ea typeface="宋体" panose="02010600030101010101" pitchFamily="2" charset="-122"/>
                </a:rPr>
                <a:t>3</a:t>
              </a:r>
              <a:r>
                <a:rPr lang="en-US" altLang="zh-CN" sz="2000" b="1" dirty="0">
                  <a:solidFill>
                    <a:srgbClr val="800000"/>
                  </a:solidFill>
                  <a:latin typeface="Times New Roman" panose="02020603050405020304" pitchFamily="18" charset="0"/>
                  <a:ea typeface="宋体" panose="02010600030101010101" pitchFamily="2" charset="-122"/>
                </a:rPr>
                <a:t>C</a:t>
              </a:r>
              <a:r>
                <a:rPr lang="zh-CN" altLang="en-US" sz="2000" b="1" dirty="0">
                  <a:solidFill>
                    <a:srgbClr val="800000"/>
                  </a:solidFill>
                  <a:latin typeface="Times New Roman" panose="02020603050405020304" pitchFamily="18" charset="0"/>
                  <a:ea typeface="宋体" panose="02010600030101010101" pitchFamily="2" charset="-122"/>
                </a:rPr>
                <a:t>相图</a:t>
              </a:r>
            </a:p>
          </p:txBody>
        </p:sp>
      </p:grpSp>
      <p:pic>
        <p:nvPicPr>
          <p:cNvPr id="10" name="内容占位符 1" descr="新校徽（3M）弓之乐"/>
          <p:cNvPicPr>
            <a:picLocks noChangeAspect="1"/>
          </p:cNvPicPr>
          <p:nvPr/>
        </p:nvPicPr>
        <p:blipFill>
          <a:blip r:embed="rId3"/>
          <a:stretch>
            <a:fillRect/>
          </a:stretch>
        </p:blipFill>
        <p:spPr>
          <a:xfrm>
            <a:off x="0" y="0"/>
            <a:ext cx="746760" cy="735965"/>
          </a:xfrm>
          <a:prstGeom prst="rect">
            <a:avLst/>
          </a:prstGeom>
          <a:noFill/>
          <a:ln w="9525">
            <a:noFill/>
          </a:ln>
        </p:spPr>
      </p:pic>
      <p:sp>
        <p:nvSpPr>
          <p:cNvPr id="96258" name="Rectangle 2"/>
          <p:cNvSpPr>
            <a:spLocks noGrp="1" noChangeArrowheads="1"/>
          </p:cNvSpPr>
          <p:nvPr>
            <p:ph type="title"/>
          </p:nvPr>
        </p:nvSpPr>
        <p:spPr>
          <a:xfrm>
            <a:off x="1044131" y="332790"/>
            <a:ext cx="7772400" cy="951079"/>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Times New Roman" panose="02020603050405020304" pitchFamily="18" charset="0"/>
                <a:ea typeface="华文中宋" panose="02010600040101010101" pitchFamily="2" charset="-122"/>
                <a:cs typeface="+mj-cs"/>
              </a:rPr>
              <a:t>6</a:t>
            </a:r>
            <a:r>
              <a:rPr kumimoji="1" lang="zh-CN" altLang="en-US" sz="4400" b="1" i="0" u="none" strike="noStrike" kern="0" cap="none" spc="0" normalizeH="0" baseline="0" noProof="0" dirty="0">
                <a:ln>
                  <a:noFill/>
                </a:ln>
                <a:solidFill>
                  <a:srgbClr val="FF0000"/>
                </a:solidFill>
                <a:uLnTx/>
                <a:uFillTx/>
                <a:latin typeface="Times New Roman" panose="02020603050405020304" pitchFamily="18" charset="0"/>
                <a:ea typeface="华文中宋" panose="02010600040101010101" pitchFamily="2" charset="-122"/>
                <a:cs typeface="+mj-cs"/>
              </a:rPr>
              <a:t>、二元相图的分析步骤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8306">
                                            <p:txEl>
                                              <p:pRg st="0" end="0"/>
                                            </p:txEl>
                                          </p:spTgt>
                                        </p:tgtEl>
                                        <p:attrNameLst>
                                          <p:attrName>style.visibility</p:attrName>
                                        </p:attrNameLst>
                                      </p:cBhvr>
                                      <p:to>
                                        <p:strVal val="visible"/>
                                      </p:to>
                                    </p:set>
                                    <p:animEffect transition="in" filter="wipe(left)">
                                      <p:cBhvr>
                                        <p:cTn id="7" dur="500"/>
                                        <p:tgtEl>
                                          <p:spTgt spid="9830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8307"/>
                                        </p:tgtEl>
                                        <p:attrNameLst>
                                          <p:attrName>style.visibility</p:attrName>
                                        </p:attrNameLst>
                                      </p:cBhvr>
                                      <p:to>
                                        <p:strVal val="visible"/>
                                      </p:to>
                                    </p:set>
                                    <p:animEffect transition="in" filter="wipe(left)">
                                      <p:cBhvr>
                                        <p:cTn id="11" dur="500"/>
                                        <p:tgtEl>
                                          <p:spTgt spid="98307"/>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up)">
                                      <p:cBhvr>
                                        <p:cTn id="15" dur="500"/>
                                        <p:tgtEl>
                                          <p:spTgt spid="2"/>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96258"/>
                                        </p:tgtEl>
                                        <p:attrNameLst>
                                          <p:attrName>style.visibility</p:attrName>
                                        </p:attrNameLst>
                                      </p:cBhvr>
                                      <p:to>
                                        <p:strVal val="visible"/>
                                      </p:to>
                                    </p:set>
                                    <p:animEffect transition="in" filter="wipe(left)">
                                      <p:cBhvr>
                                        <p:cTn id="19" dur="500"/>
                                        <p:tgtEl>
                                          <p:spTgt spid="962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6" grpId="0" build="p" advAuto="1000"/>
      <p:bldP spid="98307" grpId="0"/>
      <p:bldP spid="96258" grpId="0"/>
    </p:bldLst>
  </p:timing>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5234" name="日期占位符 3"/>
          <p:cNvSpPr txBox="1">
            <a:spLocks noGrp="1"/>
          </p:cNvSpPr>
          <p:nvPr>
            <p:ph type="dt" sz="half" idx="10"/>
          </p:nvPr>
        </p:nvSpPr>
        <p:spPr>
          <a:xfrm>
            <a:off x="0" y="6581775"/>
            <a:ext cx="2233613" cy="27622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95235" name="灯片编号占位符 5"/>
          <p:cNvSpPr txBox="1">
            <a:spLocks noGrp="1"/>
          </p:cNvSpPr>
          <p:nvPr>
            <p:ph type="sldNum" sz="quarter" idx="12"/>
          </p:nvPr>
        </p:nvSpPr>
        <p:spPr>
          <a:xfrm>
            <a:off x="8564880" y="6629400"/>
            <a:ext cx="563880" cy="228600"/>
          </a:xfrm>
        </p:spPr>
        <p:txBody>
          <a:bodyPr lIns="92075" tIns="46038" rIns="92075" bIns="46038" anchor="ctr"/>
          <a:lstStyle/>
          <a:p>
            <a:pPr algn="r" eaLnBrk="1" hangingPunct="1"/>
            <a:fld id="{9A0DB2DC-4C9A-4742-B13C-FB6460FD3503}" type="slidenum">
              <a:rPr lang="en-US" altLang="zh-CN" sz="1400" dirty="0"/>
              <a:t>98</a:t>
            </a:fld>
            <a:endParaRPr lang="en-US" altLang="zh-CN" sz="1400" dirty="0"/>
          </a:p>
        </p:txBody>
      </p:sp>
      <p:grpSp>
        <p:nvGrpSpPr>
          <p:cNvPr id="2" name="Group 34"/>
          <p:cNvGrpSpPr/>
          <p:nvPr/>
        </p:nvGrpSpPr>
        <p:grpSpPr>
          <a:xfrm>
            <a:off x="373380" y="1338795"/>
            <a:ext cx="8610600" cy="5014913"/>
            <a:chOff x="192" y="912"/>
            <a:chExt cx="5424" cy="3159"/>
          </a:xfrm>
        </p:grpSpPr>
        <p:sp>
          <p:nvSpPr>
            <p:cNvPr id="95239" name="Rectangle 3"/>
            <p:cNvSpPr/>
            <p:nvPr/>
          </p:nvSpPr>
          <p:spPr>
            <a:xfrm>
              <a:off x="3456" y="3186"/>
              <a:ext cx="2160" cy="885"/>
            </a:xfrm>
            <a:prstGeom prst="rect">
              <a:avLst/>
            </a:prstGeom>
            <a:solidFill>
              <a:schemeClr val="bg1"/>
            </a:solidFill>
            <a:ln w="9525">
              <a:noFill/>
            </a:ln>
          </p:spPr>
          <p:txBody>
            <a:bodyPr/>
            <a:lstStyle/>
            <a:p>
              <a:pPr lvl="0" eaLnBrk="1" hangingPunct="1">
                <a:lnSpc>
                  <a:spcPct val="120000"/>
                </a:lnSpc>
                <a:spcBef>
                  <a:spcPct val="20000"/>
                </a:spcBef>
                <a:buClr>
                  <a:schemeClr val="accent2"/>
                </a:buClr>
                <a:buSzPct val="80000"/>
                <a:buFont typeface="Wingdings" panose="05000000000000000000" pitchFamily="2" charset="2"/>
                <a:buNone/>
              </a:pPr>
              <a:r>
                <a:rPr lang="zh-CN" altLang="en-US" sz="2400" b="1" dirty="0">
                  <a:solidFill>
                    <a:srgbClr val="800000"/>
                  </a:solidFill>
                  <a:latin typeface="Times New Roman" panose="02020603050405020304" pitchFamily="18" charset="0"/>
                  <a:ea typeface="华文中宋" panose="02010600040101010101" pitchFamily="2" charset="-122"/>
                </a:rPr>
                <a:t>恒温下由一个固相同时析出两个成分结构不同的新固相。</a:t>
              </a:r>
            </a:p>
          </p:txBody>
        </p:sp>
        <p:sp>
          <p:nvSpPr>
            <p:cNvPr id="95240" name="Rectangle 4"/>
            <p:cNvSpPr/>
            <p:nvPr/>
          </p:nvSpPr>
          <p:spPr>
            <a:xfrm>
              <a:off x="2352" y="3186"/>
              <a:ext cx="1104" cy="885"/>
            </a:xfrm>
            <a:prstGeom prst="rect">
              <a:avLst/>
            </a:prstGeom>
            <a:solidFill>
              <a:schemeClr val="bg1"/>
            </a:solidFill>
            <a:ln w="9525">
              <a:noFill/>
            </a:ln>
          </p:spPr>
          <p:txBody>
            <a:bodyPr/>
            <a:lstStyle/>
            <a:p>
              <a:pPr lvl="0" algn="ctr" eaLnBrk="1" hangingPunct="1">
                <a:spcBef>
                  <a:spcPct val="20000"/>
                </a:spcBef>
                <a:buClr>
                  <a:schemeClr val="accent2"/>
                </a:buClr>
                <a:buSzPct val="80000"/>
                <a:buFont typeface="Wingdings" panose="05000000000000000000" pitchFamily="2" charset="2"/>
                <a:buNone/>
              </a:pPr>
              <a:endParaRPr lang="en-US" altLang="zh-CN" sz="2400" b="1" dirty="0">
                <a:solidFill>
                  <a:srgbClr val="800000"/>
                </a:solidFill>
                <a:latin typeface="Times New Roman" panose="02020603050405020304" pitchFamily="18" charset="0"/>
                <a:ea typeface="宋体" panose="02010600030101010101" pitchFamily="2" charset="-122"/>
              </a:endParaRPr>
            </a:p>
            <a:p>
              <a:pPr lvl="0" algn="ctr" eaLnBrk="1" hangingPunct="1">
                <a:spcBef>
                  <a:spcPct val="20000"/>
                </a:spcBef>
                <a:buClr>
                  <a:schemeClr val="accent2"/>
                </a:buClr>
                <a:buSzPct val="80000"/>
                <a:buFont typeface="Wingdings" panose="05000000000000000000" pitchFamily="2" charset="2"/>
                <a:buNone/>
              </a:pPr>
              <a:r>
                <a:rPr lang="en-US" altLang="zh-CN" sz="2400" b="1" i="1" dirty="0">
                  <a:solidFill>
                    <a:srgbClr val="800000"/>
                  </a:solidFill>
                  <a:latin typeface="Times New Roman" panose="02020603050405020304" pitchFamily="18" charset="0"/>
                  <a:ea typeface="宋体" panose="02010600030101010101" pitchFamily="2" charset="-122"/>
                  <a:sym typeface="Symbol" panose="05050102010706020507" pitchFamily="18" charset="2"/>
                </a:rPr>
                <a:t></a:t>
              </a:r>
              <a:r>
                <a:rPr lang="en-US" altLang="zh-CN" sz="2400" b="1" i="1" baseline="-30000" dirty="0">
                  <a:solidFill>
                    <a:srgbClr val="800000"/>
                  </a:solidFill>
                  <a:latin typeface="Times New Roman" panose="02020603050405020304" pitchFamily="18" charset="0"/>
                  <a:ea typeface="Times New Roman" panose="02020603050405020304" pitchFamily="18" charset="0"/>
                </a:rPr>
                <a:t> </a:t>
              </a:r>
              <a:r>
                <a:rPr lang="en-US" altLang="zh-CN" sz="2400" b="1" baseline="-30000" dirty="0">
                  <a:solidFill>
                    <a:srgbClr val="800000"/>
                  </a:solidFill>
                  <a:latin typeface="Times New Roman" panose="02020603050405020304" pitchFamily="18" charset="0"/>
                  <a:ea typeface="Times New Roman" panose="02020603050405020304" pitchFamily="18" charset="0"/>
                </a:rPr>
                <a:t> </a:t>
              </a:r>
              <a:r>
                <a:rPr lang="en-US" altLang="zh-CN" sz="2400" b="1" dirty="0">
                  <a:solidFill>
                    <a:srgbClr val="800000"/>
                  </a:solidFill>
                  <a:latin typeface="Times New Roman" panose="02020603050405020304" pitchFamily="18" charset="0"/>
                  <a:ea typeface="宋体" panose="02010600030101010101" pitchFamily="2" charset="-122"/>
                </a:rPr>
                <a:t>⇄ </a:t>
              </a:r>
              <a:r>
                <a:rPr lang="en-US" altLang="zh-CN" sz="2400" b="1" i="1" dirty="0">
                  <a:solidFill>
                    <a:srgbClr val="800000"/>
                  </a:solidFill>
                  <a:latin typeface="Times New Roman" panose="02020603050405020304" pitchFamily="18" charset="0"/>
                  <a:ea typeface="宋体" panose="02010600030101010101" pitchFamily="2" charset="-122"/>
                  <a:sym typeface="Symbol" panose="05050102010706020507" pitchFamily="18" charset="2"/>
                </a:rPr>
                <a:t> </a:t>
              </a:r>
              <a:r>
                <a:rPr lang="en-US" altLang="zh-CN" sz="2400" b="1" baseline="-30000" dirty="0">
                  <a:solidFill>
                    <a:srgbClr val="800000"/>
                  </a:solidFill>
                  <a:latin typeface="Times New Roman" panose="02020603050405020304" pitchFamily="18" charset="0"/>
                  <a:ea typeface="宋体" panose="02010600030101010101" pitchFamily="2" charset="-122"/>
                </a:rPr>
                <a:t> </a:t>
              </a:r>
              <a:r>
                <a:rPr lang="en-US" altLang="zh-CN" sz="2400" b="1" dirty="0">
                  <a:solidFill>
                    <a:srgbClr val="800000"/>
                  </a:solidFill>
                  <a:latin typeface="Times New Roman" panose="02020603050405020304" pitchFamily="18" charset="0"/>
                  <a:ea typeface="宋体" panose="02010600030101010101" pitchFamily="2" charset="-122"/>
                </a:rPr>
                <a:t>+ </a:t>
              </a:r>
              <a:r>
                <a:rPr lang="en-US" altLang="zh-CN" sz="2400" b="1" i="1" dirty="0">
                  <a:solidFill>
                    <a:srgbClr val="800000"/>
                  </a:solidFill>
                  <a:latin typeface="Times New Roman" panose="02020603050405020304" pitchFamily="18" charset="0"/>
                  <a:ea typeface="楷体_GB2312" pitchFamily="49" charset="-122"/>
                  <a:sym typeface="Symbol" panose="05050102010706020507" pitchFamily="18" charset="2"/>
                </a:rPr>
                <a:t></a:t>
              </a:r>
            </a:p>
          </p:txBody>
        </p:sp>
        <p:sp>
          <p:nvSpPr>
            <p:cNvPr id="95241" name="Rectangle 5"/>
            <p:cNvSpPr/>
            <p:nvPr/>
          </p:nvSpPr>
          <p:spPr>
            <a:xfrm>
              <a:off x="1080" y="3186"/>
              <a:ext cx="1272" cy="885"/>
            </a:xfrm>
            <a:prstGeom prst="rect">
              <a:avLst/>
            </a:prstGeom>
            <a:solidFill>
              <a:schemeClr val="bg1">
                <a:lumMod val="95000"/>
              </a:schemeClr>
            </a:solidFill>
            <a:ln w="9525">
              <a:noFill/>
            </a:ln>
          </p:spPr>
          <p:txBody>
            <a:bodyPr/>
            <a:lstStyle/>
            <a:p>
              <a:pPr lvl="0" algn="ctr" eaLnBrk="1" hangingPunct="1">
                <a:spcBef>
                  <a:spcPct val="20000"/>
                </a:spcBef>
                <a:buClr>
                  <a:schemeClr val="accent2"/>
                </a:buClr>
                <a:buSzPct val="80000"/>
                <a:buFont typeface="Wingdings" panose="05000000000000000000" pitchFamily="2" charset="2"/>
                <a:buNone/>
              </a:pPr>
              <a:endParaRPr lang="zh-CN" altLang="zh-CN" sz="2000" b="1" dirty="0">
                <a:solidFill>
                  <a:srgbClr val="800000"/>
                </a:solidFill>
                <a:latin typeface="Times New Roman" panose="02020603050405020304" pitchFamily="18" charset="0"/>
                <a:ea typeface="宋体" panose="02010600030101010101" pitchFamily="2" charset="-122"/>
              </a:endParaRPr>
            </a:p>
          </p:txBody>
        </p:sp>
        <p:sp>
          <p:nvSpPr>
            <p:cNvPr id="95242" name="Rectangle 6"/>
            <p:cNvSpPr/>
            <p:nvPr/>
          </p:nvSpPr>
          <p:spPr>
            <a:xfrm>
              <a:off x="192" y="3186"/>
              <a:ext cx="888" cy="885"/>
            </a:xfrm>
            <a:prstGeom prst="rect">
              <a:avLst/>
            </a:prstGeom>
            <a:solidFill>
              <a:schemeClr val="bg1"/>
            </a:solidFill>
            <a:ln w="9525">
              <a:noFill/>
            </a:ln>
          </p:spPr>
          <p:txBody>
            <a:bodyPr/>
            <a:lstStyle/>
            <a:p>
              <a:pPr lvl="0" algn="ctr" eaLnBrk="1" hangingPunct="1">
                <a:spcBef>
                  <a:spcPct val="20000"/>
                </a:spcBef>
                <a:buClr>
                  <a:schemeClr val="accent2"/>
                </a:buClr>
                <a:buSzPct val="80000"/>
                <a:buFont typeface="Wingdings" panose="05000000000000000000" pitchFamily="2" charset="2"/>
                <a:buNone/>
              </a:pPr>
              <a:endParaRPr lang="en-US" altLang="zh-CN" sz="2400" b="1" dirty="0">
                <a:solidFill>
                  <a:srgbClr val="800000"/>
                </a:solidFill>
                <a:latin typeface="Times New Roman" panose="02020603050405020304" pitchFamily="18" charset="0"/>
                <a:ea typeface="仿宋_GB2312" pitchFamily="49" charset="-122"/>
              </a:endParaRPr>
            </a:p>
            <a:p>
              <a:pPr lvl="0" algn="ctr" eaLnBrk="1" hangingPunct="1">
                <a:spcBef>
                  <a:spcPct val="20000"/>
                </a:spcBef>
                <a:buClr>
                  <a:schemeClr val="accent2"/>
                </a:buClr>
                <a:buSzPct val="80000"/>
                <a:buFont typeface="Wingdings" panose="05000000000000000000" pitchFamily="2" charset="2"/>
                <a:buNone/>
              </a:pPr>
              <a:r>
                <a:rPr lang="zh-CN" altLang="en-US" sz="2400" b="1" dirty="0">
                  <a:solidFill>
                    <a:srgbClr val="800000"/>
                  </a:solidFill>
                  <a:latin typeface="Times New Roman" panose="02020603050405020304" pitchFamily="18" charset="0"/>
                  <a:ea typeface="华文中宋" panose="02010600040101010101" pitchFamily="2" charset="-122"/>
                </a:rPr>
                <a:t>共析反应</a:t>
              </a:r>
            </a:p>
          </p:txBody>
        </p:sp>
        <p:sp>
          <p:nvSpPr>
            <p:cNvPr id="95243" name="Rectangle 7"/>
            <p:cNvSpPr/>
            <p:nvPr/>
          </p:nvSpPr>
          <p:spPr>
            <a:xfrm>
              <a:off x="3456" y="2301"/>
              <a:ext cx="2160" cy="885"/>
            </a:xfrm>
            <a:prstGeom prst="rect">
              <a:avLst/>
            </a:prstGeom>
            <a:solidFill>
              <a:schemeClr val="bg1"/>
            </a:solidFill>
            <a:ln w="9525">
              <a:noFill/>
            </a:ln>
          </p:spPr>
          <p:txBody>
            <a:bodyPr/>
            <a:lstStyle/>
            <a:p>
              <a:pPr lvl="0" eaLnBrk="1" hangingPunct="1">
                <a:lnSpc>
                  <a:spcPct val="120000"/>
                </a:lnSpc>
                <a:spcBef>
                  <a:spcPct val="20000"/>
                </a:spcBef>
                <a:buClr>
                  <a:schemeClr val="accent2"/>
                </a:buClr>
                <a:buSzPct val="80000"/>
                <a:buFont typeface="Wingdings" panose="05000000000000000000" pitchFamily="2" charset="2"/>
                <a:buNone/>
              </a:pPr>
              <a:r>
                <a:rPr lang="zh-CN" altLang="en-US" sz="2400" b="1" dirty="0">
                  <a:solidFill>
                    <a:srgbClr val="800000"/>
                  </a:solidFill>
                  <a:latin typeface="Times New Roman" panose="02020603050405020304" pitchFamily="18" charset="0"/>
                  <a:ea typeface="华文中宋" panose="02010600040101010101" pitchFamily="2" charset="-122"/>
                </a:rPr>
                <a:t>恒温下由一个液相包着一个固相生成另一个新的固相。</a:t>
              </a:r>
            </a:p>
          </p:txBody>
        </p:sp>
        <p:sp>
          <p:nvSpPr>
            <p:cNvPr id="95244" name="Rectangle 8"/>
            <p:cNvSpPr/>
            <p:nvPr/>
          </p:nvSpPr>
          <p:spPr>
            <a:xfrm>
              <a:off x="2328" y="2301"/>
              <a:ext cx="1104" cy="885"/>
            </a:xfrm>
            <a:prstGeom prst="rect">
              <a:avLst/>
            </a:prstGeom>
            <a:solidFill>
              <a:schemeClr val="bg1"/>
            </a:solidFill>
            <a:ln w="9525">
              <a:noFill/>
            </a:ln>
          </p:spPr>
          <p:txBody>
            <a:bodyPr/>
            <a:lstStyle/>
            <a:p>
              <a:pPr lvl="0" algn="ctr" eaLnBrk="1" hangingPunct="1">
                <a:spcBef>
                  <a:spcPct val="20000"/>
                </a:spcBef>
                <a:buClr>
                  <a:schemeClr val="accent2"/>
                </a:buClr>
                <a:buSzPct val="80000"/>
                <a:buFont typeface="Wingdings" panose="05000000000000000000" pitchFamily="2" charset="2"/>
                <a:buNone/>
              </a:pPr>
              <a:endParaRPr lang="en-US" altLang="zh-CN" sz="2400" b="1" dirty="0">
                <a:solidFill>
                  <a:srgbClr val="800000"/>
                </a:solidFill>
                <a:latin typeface="Times New Roman" panose="02020603050405020304" pitchFamily="18" charset="0"/>
                <a:ea typeface="宋体" panose="02010600030101010101" pitchFamily="2" charset="-122"/>
              </a:endParaRPr>
            </a:p>
            <a:p>
              <a:pPr lvl="0" algn="ctr" eaLnBrk="1" hangingPunct="1">
                <a:spcBef>
                  <a:spcPct val="20000"/>
                </a:spcBef>
                <a:buClr>
                  <a:schemeClr val="accent2"/>
                </a:buClr>
                <a:buSzPct val="80000"/>
                <a:buFont typeface="Wingdings" panose="05000000000000000000" pitchFamily="2" charset="2"/>
                <a:buNone/>
              </a:pPr>
              <a:r>
                <a:rPr lang="en-US" altLang="zh-CN" sz="2400" b="1" dirty="0">
                  <a:solidFill>
                    <a:srgbClr val="800000"/>
                  </a:solidFill>
                  <a:latin typeface="Times New Roman" panose="02020603050405020304" pitchFamily="18" charset="0"/>
                  <a:ea typeface="宋体" panose="02010600030101010101" pitchFamily="2" charset="-122"/>
                </a:rPr>
                <a:t>L</a:t>
              </a:r>
              <a:r>
                <a:rPr lang="en-US" altLang="zh-CN" sz="2400" b="1" baseline="-30000" dirty="0">
                  <a:solidFill>
                    <a:srgbClr val="800000"/>
                  </a:solidFill>
                  <a:latin typeface="Times New Roman" panose="02020603050405020304" pitchFamily="18" charset="0"/>
                  <a:ea typeface="宋体" panose="02010600030101010101" pitchFamily="2" charset="-122"/>
                </a:rPr>
                <a:t> </a:t>
              </a:r>
              <a:r>
                <a:rPr lang="en-US" altLang="zh-CN" sz="2400" b="1" dirty="0">
                  <a:solidFill>
                    <a:srgbClr val="800000"/>
                  </a:solidFill>
                  <a:latin typeface="Times New Roman" panose="02020603050405020304" pitchFamily="18" charset="0"/>
                  <a:ea typeface="宋体" panose="02010600030101010101" pitchFamily="2" charset="-122"/>
                </a:rPr>
                <a:t>+ </a:t>
              </a:r>
              <a:r>
                <a:rPr lang="en-US" altLang="zh-CN" sz="2400" b="1" i="1" dirty="0">
                  <a:solidFill>
                    <a:srgbClr val="800000"/>
                  </a:solidFill>
                  <a:latin typeface="Times New Roman" panose="02020603050405020304" pitchFamily="18" charset="0"/>
                  <a:ea typeface="楷体_GB2312" pitchFamily="49" charset="-122"/>
                  <a:sym typeface="Symbol" panose="05050102010706020507" pitchFamily="18" charset="2"/>
                </a:rPr>
                <a:t></a:t>
              </a:r>
              <a:r>
                <a:rPr lang="en-US" altLang="zh-CN" sz="2400" b="1" dirty="0">
                  <a:solidFill>
                    <a:srgbClr val="800000"/>
                  </a:solidFill>
                  <a:latin typeface="Times New Roman" panose="02020603050405020304" pitchFamily="18" charset="0"/>
                  <a:ea typeface="宋体" panose="02010600030101010101" pitchFamily="2" charset="-122"/>
                </a:rPr>
                <a:t> </a:t>
              </a:r>
              <a:r>
                <a:rPr lang="en-US" altLang="zh-CN" sz="2400" b="1" dirty="0">
                  <a:solidFill>
                    <a:srgbClr val="800000"/>
                  </a:solidFill>
                  <a:latin typeface="Lucida Sans Unicode" panose="020B0602030504020204" pitchFamily="34" charset="0"/>
                  <a:ea typeface="宋体" panose="02010600030101010101" pitchFamily="2" charset="-122"/>
                </a:rPr>
                <a:t>⇄ </a:t>
              </a:r>
              <a:r>
                <a:rPr lang="en-US" altLang="zh-CN" sz="2400" b="1" i="1" dirty="0">
                  <a:solidFill>
                    <a:srgbClr val="800000"/>
                  </a:solidFill>
                  <a:latin typeface="Times New Roman" panose="02020603050405020304" pitchFamily="18" charset="0"/>
                  <a:ea typeface="楷体_GB2312" pitchFamily="49" charset="-122"/>
                  <a:sym typeface="Symbol" panose="05050102010706020507" pitchFamily="18" charset="2"/>
                </a:rPr>
                <a:t></a:t>
              </a:r>
            </a:p>
          </p:txBody>
        </p:sp>
        <p:sp>
          <p:nvSpPr>
            <p:cNvPr id="95245" name="Rectangle 9"/>
            <p:cNvSpPr/>
            <p:nvPr/>
          </p:nvSpPr>
          <p:spPr>
            <a:xfrm>
              <a:off x="1080" y="2301"/>
              <a:ext cx="1272" cy="885"/>
            </a:xfrm>
            <a:prstGeom prst="rect">
              <a:avLst/>
            </a:prstGeom>
            <a:solidFill>
              <a:schemeClr val="bg1"/>
            </a:solidFill>
            <a:ln w="9525">
              <a:noFill/>
            </a:ln>
          </p:spPr>
          <p:txBody>
            <a:bodyPr/>
            <a:lstStyle/>
            <a:p>
              <a:pPr lvl="0" algn="ctr" eaLnBrk="1" hangingPunct="1">
                <a:spcBef>
                  <a:spcPct val="20000"/>
                </a:spcBef>
                <a:buClr>
                  <a:schemeClr val="accent2"/>
                </a:buClr>
                <a:buSzPct val="80000"/>
                <a:buFont typeface="Wingdings" panose="05000000000000000000" pitchFamily="2" charset="2"/>
                <a:buNone/>
              </a:pPr>
              <a:endParaRPr lang="zh-CN" altLang="zh-CN" sz="2000" b="1" dirty="0">
                <a:solidFill>
                  <a:srgbClr val="800000"/>
                </a:solidFill>
                <a:latin typeface="Times New Roman" panose="02020603050405020304" pitchFamily="18" charset="0"/>
                <a:ea typeface="宋体" panose="02010600030101010101" pitchFamily="2" charset="-122"/>
              </a:endParaRPr>
            </a:p>
          </p:txBody>
        </p:sp>
        <p:sp>
          <p:nvSpPr>
            <p:cNvPr id="95246" name="Rectangle 10"/>
            <p:cNvSpPr/>
            <p:nvPr/>
          </p:nvSpPr>
          <p:spPr>
            <a:xfrm>
              <a:off x="192" y="2301"/>
              <a:ext cx="888" cy="885"/>
            </a:xfrm>
            <a:prstGeom prst="rect">
              <a:avLst/>
            </a:prstGeom>
            <a:solidFill>
              <a:schemeClr val="bg1"/>
            </a:solidFill>
            <a:ln w="9525">
              <a:noFill/>
            </a:ln>
          </p:spPr>
          <p:txBody>
            <a:bodyPr/>
            <a:lstStyle/>
            <a:p>
              <a:pPr lvl="0" algn="ctr" eaLnBrk="1" hangingPunct="1">
                <a:spcBef>
                  <a:spcPct val="20000"/>
                </a:spcBef>
                <a:buClr>
                  <a:schemeClr val="accent2"/>
                </a:buClr>
                <a:buSzPct val="80000"/>
                <a:buFont typeface="Wingdings" panose="05000000000000000000" pitchFamily="2" charset="2"/>
                <a:buNone/>
              </a:pPr>
              <a:endParaRPr lang="en-US" altLang="zh-CN" sz="2400" b="1" dirty="0">
                <a:solidFill>
                  <a:srgbClr val="800000"/>
                </a:solidFill>
                <a:latin typeface="Times New Roman" panose="02020603050405020304" pitchFamily="18" charset="0"/>
                <a:ea typeface="仿宋_GB2312" pitchFamily="49" charset="-122"/>
              </a:endParaRPr>
            </a:p>
            <a:p>
              <a:pPr lvl="0" algn="ctr" eaLnBrk="1" hangingPunct="1">
                <a:spcBef>
                  <a:spcPct val="20000"/>
                </a:spcBef>
                <a:buClr>
                  <a:schemeClr val="accent2"/>
                </a:buClr>
                <a:buSzPct val="80000"/>
                <a:buFont typeface="Wingdings" panose="05000000000000000000" pitchFamily="2" charset="2"/>
                <a:buNone/>
              </a:pPr>
              <a:r>
                <a:rPr lang="zh-CN" altLang="en-US" sz="2400" b="1" dirty="0">
                  <a:solidFill>
                    <a:srgbClr val="800000"/>
                  </a:solidFill>
                  <a:latin typeface="Times New Roman" panose="02020603050405020304" pitchFamily="18" charset="0"/>
                  <a:ea typeface="华文中宋" panose="02010600040101010101" pitchFamily="2" charset="-122"/>
                </a:rPr>
                <a:t>包晶反应</a:t>
              </a:r>
            </a:p>
          </p:txBody>
        </p:sp>
        <p:sp>
          <p:nvSpPr>
            <p:cNvPr id="95247" name="Rectangle 11"/>
            <p:cNvSpPr/>
            <p:nvPr/>
          </p:nvSpPr>
          <p:spPr>
            <a:xfrm>
              <a:off x="3456" y="1416"/>
              <a:ext cx="2160" cy="885"/>
            </a:xfrm>
            <a:prstGeom prst="rect">
              <a:avLst/>
            </a:prstGeom>
            <a:solidFill>
              <a:schemeClr val="bg1"/>
            </a:solidFill>
            <a:ln w="9525">
              <a:noFill/>
            </a:ln>
          </p:spPr>
          <p:txBody>
            <a:bodyPr/>
            <a:lstStyle/>
            <a:p>
              <a:pPr lvl="0" eaLnBrk="1" hangingPunct="1">
                <a:lnSpc>
                  <a:spcPct val="120000"/>
                </a:lnSpc>
                <a:spcBef>
                  <a:spcPct val="20000"/>
                </a:spcBef>
                <a:buClr>
                  <a:schemeClr val="accent2"/>
                </a:buClr>
                <a:buSzPct val="80000"/>
                <a:buFont typeface="Wingdings" panose="05000000000000000000" pitchFamily="2" charset="2"/>
                <a:buNone/>
              </a:pPr>
              <a:r>
                <a:rPr lang="zh-CN" altLang="en-US" sz="2400" b="1" dirty="0">
                  <a:solidFill>
                    <a:srgbClr val="800000"/>
                  </a:solidFill>
                  <a:latin typeface="Times New Roman" panose="02020603050405020304" pitchFamily="18" charset="0"/>
                  <a:ea typeface="华文中宋" panose="02010600040101010101" pitchFamily="2" charset="-122"/>
                </a:rPr>
                <a:t>恒温下由一个液相同时结晶出两个成分结构不同的新固相。</a:t>
              </a:r>
            </a:p>
          </p:txBody>
        </p:sp>
        <p:sp>
          <p:nvSpPr>
            <p:cNvPr id="95248" name="Rectangle 12"/>
            <p:cNvSpPr/>
            <p:nvPr/>
          </p:nvSpPr>
          <p:spPr>
            <a:xfrm>
              <a:off x="2352" y="1416"/>
              <a:ext cx="1104" cy="885"/>
            </a:xfrm>
            <a:prstGeom prst="rect">
              <a:avLst/>
            </a:prstGeom>
            <a:solidFill>
              <a:schemeClr val="bg1"/>
            </a:solidFill>
            <a:ln w="9525">
              <a:noFill/>
            </a:ln>
          </p:spPr>
          <p:txBody>
            <a:bodyPr/>
            <a:lstStyle/>
            <a:p>
              <a:pPr lvl="0" algn="ctr" eaLnBrk="1" hangingPunct="1">
                <a:spcBef>
                  <a:spcPct val="20000"/>
                </a:spcBef>
                <a:buClr>
                  <a:schemeClr val="accent2"/>
                </a:buClr>
                <a:buSzPct val="80000"/>
                <a:buFont typeface="Wingdings" panose="05000000000000000000" pitchFamily="2" charset="2"/>
                <a:buNone/>
              </a:pPr>
              <a:endParaRPr lang="en-US" altLang="zh-CN" sz="2400" b="1" dirty="0">
                <a:solidFill>
                  <a:srgbClr val="800000"/>
                </a:solidFill>
                <a:latin typeface="Times New Roman" panose="02020603050405020304" pitchFamily="18" charset="0"/>
                <a:ea typeface="宋体" panose="02010600030101010101" pitchFamily="2" charset="-122"/>
              </a:endParaRPr>
            </a:p>
            <a:p>
              <a:pPr lvl="0" algn="ctr" eaLnBrk="1" hangingPunct="1">
                <a:spcBef>
                  <a:spcPct val="20000"/>
                </a:spcBef>
                <a:buClr>
                  <a:schemeClr val="accent2"/>
                </a:buClr>
                <a:buSzPct val="80000"/>
                <a:buFont typeface="Wingdings" panose="05000000000000000000" pitchFamily="2" charset="2"/>
                <a:buNone/>
              </a:pPr>
              <a:r>
                <a:rPr lang="en-US" altLang="zh-CN" sz="2400" b="1" dirty="0">
                  <a:solidFill>
                    <a:srgbClr val="800000"/>
                  </a:solidFill>
                  <a:latin typeface="楷体_GB2312" pitchFamily="49" charset="-122"/>
                  <a:ea typeface="楷体_GB2312" pitchFamily="49" charset="-122"/>
                </a:rPr>
                <a:t>L</a:t>
              </a:r>
              <a:r>
                <a:rPr lang="en-US" altLang="zh-CN" sz="2400" b="1" dirty="0">
                  <a:solidFill>
                    <a:srgbClr val="800000"/>
                  </a:solidFill>
                  <a:latin typeface="Lucida Sans Unicode" panose="020B0602030504020204" pitchFamily="34" charset="0"/>
                  <a:ea typeface="宋体" panose="02010600030101010101" pitchFamily="2" charset="-122"/>
                </a:rPr>
                <a:t>⇄ </a:t>
              </a:r>
              <a:r>
                <a:rPr lang="en-US" altLang="zh-CN" sz="2400" b="1" i="1" dirty="0">
                  <a:solidFill>
                    <a:srgbClr val="800000"/>
                  </a:solidFill>
                  <a:latin typeface="Times New Roman" panose="02020603050405020304" pitchFamily="18" charset="0"/>
                  <a:ea typeface="楷体_GB2312" pitchFamily="49" charset="-122"/>
                  <a:sym typeface="Symbol" panose="05050102010706020507" pitchFamily="18" charset="2"/>
                </a:rPr>
                <a:t></a:t>
              </a:r>
              <a:r>
                <a:rPr lang="en-US" altLang="zh-CN" sz="2400" b="1" dirty="0">
                  <a:solidFill>
                    <a:srgbClr val="800000"/>
                  </a:solidFill>
                  <a:latin typeface="Times New Roman" panose="02020603050405020304" pitchFamily="18" charset="0"/>
                  <a:ea typeface="楷体_GB2312" pitchFamily="49" charset="-122"/>
                  <a:sym typeface="Symbol" panose="05050102010706020507" pitchFamily="18" charset="2"/>
                </a:rPr>
                <a:t> + </a:t>
              </a:r>
              <a:r>
                <a:rPr lang="en-US" altLang="zh-CN" sz="2400" b="1" i="1" dirty="0">
                  <a:solidFill>
                    <a:srgbClr val="800000"/>
                  </a:solidFill>
                  <a:latin typeface="Times New Roman" panose="02020603050405020304" pitchFamily="18" charset="0"/>
                  <a:ea typeface="楷体_GB2312" pitchFamily="49" charset="-122"/>
                  <a:sym typeface="Symbol" panose="05050102010706020507" pitchFamily="18" charset="2"/>
                </a:rPr>
                <a:t></a:t>
              </a:r>
            </a:p>
          </p:txBody>
        </p:sp>
        <p:sp>
          <p:nvSpPr>
            <p:cNvPr id="95249" name="Rectangle 13"/>
            <p:cNvSpPr/>
            <p:nvPr/>
          </p:nvSpPr>
          <p:spPr>
            <a:xfrm>
              <a:off x="1080" y="1416"/>
              <a:ext cx="1272" cy="885"/>
            </a:xfrm>
            <a:prstGeom prst="rect">
              <a:avLst/>
            </a:prstGeom>
            <a:solidFill>
              <a:schemeClr val="bg1"/>
            </a:solidFill>
            <a:ln w="9525">
              <a:noFill/>
            </a:ln>
          </p:spPr>
          <p:txBody>
            <a:bodyPr/>
            <a:lstStyle/>
            <a:p>
              <a:pPr lvl="0" algn="ctr" eaLnBrk="1" hangingPunct="1">
                <a:spcBef>
                  <a:spcPct val="20000"/>
                </a:spcBef>
                <a:buClr>
                  <a:schemeClr val="accent2"/>
                </a:buClr>
                <a:buSzPct val="80000"/>
                <a:buFont typeface="Wingdings" panose="05000000000000000000" pitchFamily="2" charset="2"/>
                <a:buNone/>
              </a:pPr>
              <a:endParaRPr lang="zh-CN" altLang="zh-CN" sz="2000" b="1" dirty="0">
                <a:solidFill>
                  <a:srgbClr val="800000"/>
                </a:solidFill>
                <a:latin typeface="Times New Roman" panose="02020603050405020304" pitchFamily="18" charset="0"/>
                <a:ea typeface="宋体" panose="02010600030101010101" pitchFamily="2" charset="-122"/>
              </a:endParaRPr>
            </a:p>
          </p:txBody>
        </p:sp>
        <p:sp>
          <p:nvSpPr>
            <p:cNvPr id="95250" name="Rectangle 14"/>
            <p:cNvSpPr/>
            <p:nvPr/>
          </p:nvSpPr>
          <p:spPr>
            <a:xfrm>
              <a:off x="192" y="1416"/>
              <a:ext cx="888" cy="885"/>
            </a:xfrm>
            <a:prstGeom prst="rect">
              <a:avLst/>
            </a:prstGeom>
            <a:solidFill>
              <a:schemeClr val="bg1"/>
            </a:solidFill>
            <a:ln w="9525">
              <a:noFill/>
            </a:ln>
          </p:spPr>
          <p:txBody>
            <a:bodyPr/>
            <a:lstStyle/>
            <a:p>
              <a:pPr lvl="0" algn="ctr" eaLnBrk="1" hangingPunct="1">
                <a:spcBef>
                  <a:spcPct val="20000"/>
                </a:spcBef>
                <a:buClr>
                  <a:schemeClr val="accent2"/>
                </a:buClr>
                <a:buSzPct val="80000"/>
                <a:buFont typeface="Wingdings" panose="05000000000000000000" pitchFamily="2" charset="2"/>
                <a:buNone/>
              </a:pPr>
              <a:endParaRPr lang="en-US" altLang="zh-CN" sz="2400" b="1" dirty="0">
                <a:solidFill>
                  <a:srgbClr val="800000"/>
                </a:solidFill>
                <a:latin typeface="Times New Roman" panose="02020603050405020304" pitchFamily="18" charset="0"/>
                <a:ea typeface="仿宋_GB2312" pitchFamily="49" charset="-122"/>
              </a:endParaRPr>
            </a:p>
            <a:p>
              <a:pPr lvl="0" algn="ctr" eaLnBrk="1" hangingPunct="1">
                <a:spcBef>
                  <a:spcPct val="20000"/>
                </a:spcBef>
                <a:buClr>
                  <a:schemeClr val="accent2"/>
                </a:buClr>
                <a:buSzPct val="80000"/>
                <a:buFont typeface="Wingdings" panose="05000000000000000000" pitchFamily="2" charset="2"/>
                <a:buNone/>
              </a:pPr>
              <a:r>
                <a:rPr lang="zh-CN" altLang="en-US" sz="2400" b="1" dirty="0">
                  <a:solidFill>
                    <a:srgbClr val="800000"/>
                  </a:solidFill>
                  <a:latin typeface="Times New Roman" panose="02020603050405020304" pitchFamily="18" charset="0"/>
                  <a:ea typeface="华文中宋" panose="02010600040101010101" pitchFamily="2" charset="-122"/>
                </a:rPr>
                <a:t>共晶反应</a:t>
              </a:r>
            </a:p>
          </p:txBody>
        </p:sp>
        <p:sp>
          <p:nvSpPr>
            <p:cNvPr id="95251" name="Rectangle 15"/>
            <p:cNvSpPr/>
            <p:nvPr/>
          </p:nvSpPr>
          <p:spPr>
            <a:xfrm>
              <a:off x="3456" y="912"/>
              <a:ext cx="2160" cy="504"/>
            </a:xfrm>
            <a:prstGeom prst="rect">
              <a:avLst/>
            </a:prstGeom>
            <a:solidFill>
              <a:schemeClr val="bg1"/>
            </a:solidFill>
            <a:ln w="9525">
              <a:noFill/>
            </a:ln>
          </p:spPr>
          <p:txBody>
            <a:bodyPr/>
            <a:lstStyle/>
            <a:p>
              <a:pPr lvl="0" algn="ctr" eaLnBrk="1" hangingPunct="1">
                <a:lnSpc>
                  <a:spcPct val="140000"/>
                </a:lnSpc>
                <a:spcBef>
                  <a:spcPct val="20000"/>
                </a:spcBef>
                <a:buClr>
                  <a:schemeClr val="accent2"/>
                </a:buClr>
                <a:buSzPct val="80000"/>
                <a:buFont typeface="Wingdings" panose="05000000000000000000" pitchFamily="2" charset="2"/>
                <a:buNone/>
              </a:pPr>
              <a:r>
                <a:rPr lang="zh-CN" altLang="en-US" sz="2400" b="1" dirty="0">
                  <a:solidFill>
                    <a:srgbClr val="800000"/>
                  </a:solidFill>
                  <a:latin typeface="Times New Roman" panose="02020603050405020304" pitchFamily="18" charset="0"/>
                  <a:ea typeface="华文中宋" panose="02010600040101010101" pitchFamily="2" charset="-122"/>
                </a:rPr>
                <a:t>说明</a:t>
              </a:r>
            </a:p>
          </p:txBody>
        </p:sp>
        <p:sp>
          <p:nvSpPr>
            <p:cNvPr id="95252" name="Rectangle 16"/>
            <p:cNvSpPr/>
            <p:nvPr/>
          </p:nvSpPr>
          <p:spPr>
            <a:xfrm>
              <a:off x="2352" y="912"/>
              <a:ext cx="1104" cy="504"/>
            </a:xfrm>
            <a:prstGeom prst="rect">
              <a:avLst/>
            </a:prstGeom>
            <a:solidFill>
              <a:schemeClr val="bg1"/>
            </a:solidFill>
            <a:ln w="9525">
              <a:noFill/>
            </a:ln>
          </p:spPr>
          <p:txBody>
            <a:bodyPr/>
            <a:lstStyle/>
            <a:p>
              <a:pPr lvl="0" algn="ctr" eaLnBrk="1" hangingPunct="1">
                <a:lnSpc>
                  <a:spcPct val="140000"/>
                </a:lnSpc>
                <a:spcBef>
                  <a:spcPct val="20000"/>
                </a:spcBef>
                <a:buClr>
                  <a:schemeClr val="accent2"/>
                </a:buClr>
                <a:buSzPct val="80000"/>
                <a:buFont typeface="Wingdings" panose="05000000000000000000" pitchFamily="2" charset="2"/>
                <a:buNone/>
              </a:pPr>
              <a:r>
                <a:rPr lang="zh-CN" altLang="en-US" sz="2400" b="1" dirty="0">
                  <a:solidFill>
                    <a:srgbClr val="800000"/>
                  </a:solidFill>
                  <a:latin typeface="Times New Roman" panose="02020603050405020304" pitchFamily="18" charset="0"/>
                  <a:ea typeface="华文中宋" panose="02010600040101010101" pitchFamily="2" charset="-122"/>
                </a:rPr>
                <a:t>反应式</a:t>
              </a:r>
            </a:p>
          </p:txBody>
        </p:sp>
        <p:sp>
          <p:nvSpPr>
            <p:cNvPr id="95253" name="Rectangle 17"/>
            <p:cNvSpPr/>
            <p:nvPr/>
          </p:nvSpPr>
          <p:spPr>
            <a:xfrm>
              <a:off x="1080" y="912"/>
              <a:ext cx="1272" cy="504"/>
            </a:xfrm>
            <a:prstGeom prst="rect">
              <a:avLst/>
            </a:prstGeom>
            <a:solidFill>
              <a:schemeClr val="bg1"/>
            </a:solidFill>
            <a:ln w="9525">
              <a:noFill/>
            </a:ln>
          </p:spPr>
          <p:txBody>
            <a:bodyPr/>
            <a:lstStyle/>
            <a:p>
              <a:pPr lvl="0" algn="ctr" eaLnBrk="1" hangingPunct="1">
                <a:lnSpc>
                  <a:spcPct val="140000"/>
                </a:lnSpc>
                <a:spcBef>
                  <a:spcPct val="20000"/>
                </a:spcBef>
                <a:buClr>
                  <a:schemeClr val="accent2"/>
                </a:buClr>
                <a:buSzPct val="80000"/>
                <a:buFont typeface="Wingdings" panose="05000000000000000000" pitchFamily="2" charset="2"/>
                <a:buNone/>
              </a:pPr>
              <a:r>
                <a:rPr lang="zh-CN" altLang="en-US" sz="2400" b="1" dirty="0">
                  <a:solidFill>
                    <a:srgbClr val="800000"/>
                  </a:solidFill>
                  <a:latin typeface="Times New Roman" panose="02020603050405020304" pitchFamily="18" charset="0"/>
                  <a:ea typeface="华文中宋" panose="02010600040101010101" pitchFamily="2" charset="-122"/>
                </a:rPr>
                <a:t>图形特征</a:t>
              </a:r>
            </a:p>
          </p:txBody>
        </p:sp>
        <p:sp>
          <p:nvSpPr>
            <p:cNvPr id="95254" name="Rectangle 18"/>
            <p:cNvSpPr/>
            <p:nvPr/>
          </p:nvSpPr>
          <p:spPr>
            <a:xfrm>
              <a:off x="192" y="912"/>
              <a:ext cx="888" cy="504"/>
            </a:xfrm>
            <a:prstGeom prst="rect">
              <a:avLst/>
            </a:prstGeom>
            <a:solidFill>
              <a:schemeClr val="bg1"/>
            </a:solidFill>
            <a:ln w="9525">
              <a:noFill/>
            </a:ln>
          </p:spPr>
          <p:txBody>
            <a:bodyPr/>
            <a:lstStyle/>
            <a:p>
              <a:pPr lvl="0" algn="ctr" eaLnBrk="1" hangingPunct="1">
                <a:lnSpc>
                  <a:spcPct val="140000"/>
                </a:lnSpc>
                <a:spcBef>
                  <a:spcPct val="20000"/>
                </a:spcBef>
                <a:buClr>
                  <a:schemeClr val="accent2"/>
                </a:buClr>
                <a:buSzPct val="80000"/>
                <a:buFont typeface="Wingdings" panose="05000000000000000000" pitchFamily="2" charset="2"/>
                <a:buNone/>
              </a:pPr>
              <a:r>
                <a:rPr lang="zh-CN" altLang="en-US" sz="2400" b="1" dirty="0">
                  <a:solidFill>
                    <a:srgbClr val="800000"/>
                  </a:solidFill>
                  <a:latin typeface="Times New Roman" panose="02020603050405020304" pitchFamily="18" charset="0"/>
                  <a:ea typeface="华文中宋" panose="02010600040101010101" pitchFamily="2" charset="-122"/>
                </a:rPr>
                <a:t>反应名称</a:t>
              </a:r>
            </a:p>
          </p:txBody>
        </p:sp>
        <p:sp>
          <p:nvSpPr>
            <p:cNvPr id="95255" name="Line 19"/>
            <p:cNvSpPr/>
            <p:nvPr/>
          </p:nvSpPr>
          <p:spPr>
            <a:xfrm>
              <a:off x="192" y="1416"/>
              <a:ext cx="5424" cy="0"/>
            </a:xfrm>
            <a:prstGeom prst="line">
              <a:avLst/>
            </a:prstGeom>
            <a:ln w="19050" cap="flat" cmpd="sng">
              <a:solidFill>
                <a:srgbClr val="FF7517"/>
              </a:solidFill>
              <a:prstDash val="solid"/>
              <a:miter/>
              <a:headEnd type="none" w="med" len="med"/>
              <a:tailEnd type="none" w="med" len="med"/>
            </a:ln>
          </p:spPr>
        </p:sp>
        <p:sp>
          <p:nvSpPr>
            <p:cNvPr id="95256" name="Line 20"/>
            <p:cNvSpPr/>
            <p:nvPr/>
          </p:nvSpPr>
          <p:spPr>
            <a:xfrm>
              <a:off x="192" y="2301"/>
              <a:ext cx="5424" cy="0"/>
            </a:xfrm>
            <a:prstGeom prst="line">
              <a:avLst/>
            </a:prstGeom>
            <a:ln w="19050" cap="flat" cmpd="sng">
              <a:solidFill>
                <a:srgbClr val="FF7517"/>
              </a:solidFill>
              <a:prstDash val="solid"/>
              <a:miter/>
              <a:headEnd type="none" w="med" len="med"/>
              <a:tailEnd type="none" w="med" len="med"/>
            </a:ln>
          </p:spPr>
        </p:sp>
        <p:sp>
          <p:nvSpPr>
            <p:cNvPr id="95257" name="Line 21"/>
            <p:cNvSpPr/>
            <p:nvPr/>
          </p:nvSpPr>
          <p:spPr>
            <a:xfrm>
              <a:off x="192" y="3186"/>
              <a:ext cx="5424" cy="0"/>
            </a:xfrm>
            <a:prstGeom prst="line">
              <a:avLst/>
            </a:prstGeom>
            <a:ln w="19050" cap="flat" cmpd="sng">
              <a:solidFill>
                <a:srgbClr val="FF7517"/>
              </a:solidFill>
              <a:prstDash val="solid"/>
              <a:miter/>
              <a:headEnd type="none" w="med" len="med"/>
              <a:tailEnd type="none" w="med" len="med"/>
            </a:ln>
          </p:spPr>
        </p:sp>
        <p:sp>
          <p:nvSpPr>
            <p:cNvPr id="95258" name="Line 22"/>
            <p:cNvSpPr/>
            <p:nvPr/>
          </p:nvSpPr>
          <p:spPr>
            <a:xfrm>
              <a:off x="1080" y="912"/>
              <a:ext cx="0" cy="3159"/>
            </a:xfrm>
            <a:prstGeom prst="line">
              <a:avLst/>
            </a:prstGeom>
            <a:ln w="19050" cap="flat" cmpd="sng">
              <a:solidFill>
                <a:srgbClr val="FF7517"/>
              </a:solidFill>
              <a:prstDash val="solid"/>
              <a:miter/>
              <a:headEnd type="none" w="med" len="med"/>
              <a:tailEnd type="none" w="med" len="med"/>
            </a:ln>
          </p:spPr>
        </p:sp>
        <p:sp>
          <p:nvSpPr>
            <p:cNvPr id="95259" name="Line 23"/>
            <p:cNvSpPr/>
            <p:nvPr/>
          </p:nvSpPr>
          <p:spPr>
            <a:xfrm>
              <a:off x="2352" y="912"/>
              <a:ext cx="0" cy="3159"/>
            </a:xfrm>
            <a:prstGeom prst="line">
              <a:avLst/>
            </a:prstGeom>
            <a:ln w="19050" cap="flat" cmpd="sng">
              <a:solidFill>
                <a:srgbClr val="FF7517"/>
              </a:solidFill>
              <a:prstDash val="solid"/>
              <a:miter/>
              <a:headEnd type="none" w="med" len="med"/>
              <a:tailEnd type="none" w="med" len="med"/>
            </a:ln>
          </p:spPr>
        </p:sp>
        <p:sp>
          <p:nvSpPr>
            <p:cNvPr id="95260" name="Line 24"/>
            <p:cNvSpPr/>
            <p:nvPr/>
          </p:nvSpPr>
          <p:spPr>
            <a:xfrm>
              <a:off x="3456" y="912"/>
              <a:ext cx="0" cy="3159"/>
            </a:xfrm>
            <a:prstGeom prst="line">
              <a:avLst/>
            </a:prstGeom>
            <a:ln w="19050" cap="flat" cmpd="sng">
              <a:solidFill>
                <a:srgbClr val="FF7517"/>
              </a:solidFill>
              <a:prstDash val="solid"/>
              <a:miter/>
              <a:headEnd type="none" w="med" len="med"/>
              <a:tailEnd type="none" w="med" len="med"/>
            </a:ln>
          </p:spPr>
        </p:sp>
        <p:sp>
          <p:nvSpPr>
            <p:cNvPr id="95261" name="Line 25"/>
            <p:cNvSpPr/>
            <p:nvPr/>
          </p:nvSpPr>
          <p:spPr>
            <a:xfrm>
              <a:off x="192" y="912"/>
              <a:ext cx="5424" cy="0"/>
            </a:xfrm>
            <a:prstGeom prst="line">
              <a:avLst/>
            </a:prstGeom>
            <a:ln w="57150" cap="sq" cmpd="sng">
              <a:solidFill>
                <a:srgbClr val="FF7517"/>
              </a:solidFill>
              <a:prstDash val="solid"/>
              <a:miter/>
              <a:headEnd type="none" w="med" len="med"/>
              <a:tailEnd type="none" w="med" len="med"/>
            </a:ln>
          </p:spPr>
        </p:sp>
        <p:sp>
          <p:nvSpPr>
            <p:cNvPr id="95262" name="Line 26"/>
            <p:cNvSpPr/>
            <p:nvPr/>
          </p:nvSpPr>
          <p:spPr>
            <a:xfrm>
              <a:off x="192" y="912"/>
              <a:ext cx="0" cy="3159"/>
            </a:xfrm>
            <a:prstGeom prst="line">
              <a:avLst/>
            </a:prstGeom>
            <a:ln w="57150" cap="sq" cmpd="sng">
              <a:solidFill>
                <a:srgbClr val="FF7517"/>
              </a:solidFill>
              <a:prstDash val="solid"/>
              <a:miter/>
              <a:headEnd type="none" w="med" len="med"/>
              <a:tailEnd type="none" w="med" len="med"/>
            </a:ln>
          </p:spPr>
        </p:sp>
        <p:sp>
          <p:nvSpPr>
            <p:cNvPr id="95263" name="Line 27"/>
            <p:cNvSpPr/>
            <p:nvPr/>
          </p:nvSpPr>
          <p:spPr>
            <a:xfrm>
              <a:off x="5616" y="912"/>
              <a:ext cx="0" cy="3159"/>
            </a:xfrm>
            <a:prstGeom prst="line">
              <a:avLst/>
            </a:prstGeom>
            <a:ln w="57150" cap="sq" cmpd="sng">
              <a:solidFill>
                <a:srgbClr val="FF7517"/>
              </a:solidFill>
              <a:prstDash val="solid"/>
              <a:miter/>
              <a:headEnd type="none" w="med" len="med"/>
              <a:tailEnd type="none" w="med" len="med"/>
            </a:ln>
          </p:spPr>
        </p:sp>
        <p:sp>
          <p:nvSpPr>
            <p:cNvPr id="95264" name="Line 28"/>
            <p:cNvSpPr/>
            <p:nvPr/>
          </p:nvSpPr>
          <p:spPr>
            <a:xfrm>
              <a:off x="192" y="4071"/>
              <a:ext cx="5424" cy="0"/>
            </a:xfrm>
            <a:prstGeom prst="line">
              <a:avLst/>
            </a:prstGeom>
            <a:ln w="57150" cap="sq" cmpd="sng">
              <a:solidFill>
                <a:srgbClr val="FF7517"/>
              </a:solidFill>
              <a:prstDash val="solid"/>
              <a:miter/>
              <a:headEnd type="none" w="med" len="med"/>
              <a:tailEnd type="none" w="med" len="med"/>
            </a:ln>
          </p:spPr>
        </p:sp>
        <p:pic>
          <p:nvPicPr>
            <p:cNvPr id="95265" name="Picture 29" descr="t1"/>
            <p:cNvPicPr>
              <a:picLocks noChangeAspect="1"/>
            </p:cNvPicPr>
            <p:nvPr/>
          </p:nvPicPr>
          <p:blipFill>
            <a:blip r:embed="rId2"/>
            <a:stretch>
              <a:fillRect/>
            </a:stretch>
          </p:blipFill>
          <p:spPr>
            <a:xfrm>
              <a:off x="1128" y="1680"/>
              <a:ext cx="1199" cy="281"/>
            </a:xfrm>
            <a:prstGeom prst="rect">
              <a:avLst/>
            </a:prstGeom>
            <a:noFill/>
            <a:ln w="9525">
              <a:noFill/>
            </a:ln>
          </p:spPr>
        </p:pic>
        <p:pic>
          <p:nvPicPr>
            <p:cNvPr id="95266" name="Picture 30" descr="t2"/>
            <p:cNvPicPr>
              <a:picLocks noChangeAspect="1"/>
            </p:cNvPicPr>
            <p:nvPr/>
          </p:nvPicPr>
          <p:blipFill>
            <a:blip r:embed="rId3"/>
            <a:stretch>
              <a:fillRect/>
            </a:stretch>
          </p:blipFill>
          <p:spPr>
            <a:xfrm>
              <a:off x="1095" y="3456"/>
              <a:ext cx="1249" cy="261"/>
            </a:xfrm>
            <a:prstGeom prst="rect">
              <a:avLst/>
            </a:prstGeom>
            <a:noFill/>
            <a:ln w="9525">
              <a:noFill/>
            </a:ln>
          </p:spPr>
        </p:pic>
        <p:pic>
          <p:nvPicPr>
            <p:cNvPr id="95267" name="Picture 31" descr="t5"/>
            <p:cNvPicPr>
              <a:picLocks noChangeAspect="1"/>
            </p:cNvPicPr>
            <p:nvPr/>
          </p:nvPicPr>
          <p:blipFill>
            <a:blip r:embed="rId4"/>
            <a:stretch>
              <a:fillRect/>
            </a:stretch>
          </p:blipFill>
          <p:spPr>
            <a:xfrm>
              <a:off x="1113" y="2592"/>
              <a:ext cx="1204" cy="263"/>
            </a:xfrm>
            <a:prstGeom prst="rect">
              <a:avLst/>
            </a:prstGeom>
            <a:noFill/>
            <a:ln w="9525">
              <a:noFill/>
            </a:ln>
          </p:spPr>
        </p:pic>
      </p:grpSp>
      <p:sp>
        <p:nvSpPr>
          <p:cNvPr id="99360" name="Rectangle 32"/>
          <p:cNvSpPr>
            <a:spLocks noGrp="1"/>
          </p:cNvSpPr>
          <p:nvPr>
            <p:ph type="title"/>
          </p:nvPr>
        </p:nvSpPr>
        <p:spPr>
          <a:xfrm>
            <a:off x="1043608" y="174104"/>
            <a:ext cx="7772400" cy="936625"/>
          </a:xfrm>
        </p:spPr>
        <p:txBody>
          <a:bodyPr vert="horz" wrap="square" lIns="92075" tIns="46038" rIns="92075" bIns="46038" anchor="ctr"/>
          <a:lstStyle/>
          <a:p>
            <a:pPr eaLnBrk="1" hangingPunct="1"/>
            <a:r>
              <a:rPr lang="zh-CN" altLang="en-US" b="1" dirty="0">
                <a:solidFill>
                  <a:srgbClr val="FF0000"/>
                </a:solidFill>
                <a:latin typeface="Times New Roman" panose="02020603050405020304" pitchFamily="18" charset="0"/>
                <a:ea typeface="华文中宋" panose="02010600040101010101" pitchFamily="2" charset="-122"/>
              </a:rPr>
              <a:t>常见三相等温水平线上的反应</a:t>
            </a:r>
          </a:p>
        </p:txBody>
      </p:sp>
      <p:pic>
        <p:nvPicPr>
          <p:cNvPr id="36" name="内容占位符 1" descr="新校徽（3M）弓之乐"/>
          <p:cNvPicPr>
            <a:picLocks noChangeAspect="1"/>
          </p:cNvPicPr>
          <p:nvPr/>
        </p:nvPicPr>
        <p:blipFill>
          <a:blip r:embed="rId5"/>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9360"/>
                                        </p:tgtEl>
                                        <p:attrNameLst>
                                          <p:attrName>style.visibility</p:attrName>
                                        </p:attrNameLst>
                                      </p:cBhvr>
                                      <p:to>
                                        <p:strVal val="visible"/>
                                      </p:to>
                                    </p:set>
                                    <p:animEffect transition="in" filter="wipe(left)">
                                      <p:cBhvr>
                                        <p:cTn id="7" dur="500"/>
                                        <p:tgtEl>
                                          <p:spTgt spid="99360"/>
                                        </p:tgtEl>
                                      </p:cBhvr>
                                    </p:animEffect>
                                  </p:childTnLst>
                                </p:cTn>
                              </p:par>
                            </p:childTnLst>
                          </p:cTn>
                        </p:par>
                        <p:par>
                          <p:cTn id="8" fill="hold">
                            <p:stCondLst>
                              <p:cond delay="500"/>
                            </p:stCondLst>
                            <p:childTnLst>
                              <p:par>
                                <p:cTn id="9" presetID="5" presetClass="entr" presetSubtype="1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checkerboard(across)">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60"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日期占位符 3"/>
          <p:cNvSpPr txBox="1">
            <a:spLocks noGrp="1"/>
          </p:cNvSpPr>
          <p:nvPr>
            <p:ph type="dt" sz="half" idx="10"/>
          </p:nvPr>
        </p:nvSpPr>
        <p:spPr>
          <a:xfrm>
            <a:off x="0" y="6510655"/>
            <a:ext cx="2395220" cy="34734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96259" name="灯片编号占位符 5"/>
          <p:cNvSpPr txBox="1">
            <a:spLocks noGrp="1"/>
          </p:cNvSpPr>
          <p:nvPr>
            <p:ph type="sldNum" sz="quarter" idx="12"/>
          </p:nvPr>
        </p:nvSpPr>
        <p:spPr>
          <a:xfrm>
            <a:off x="8623300" y="6573520"/>
            <a:ext cx="520700" cy="284480"/>
          </a:xfrm>
        </p:spPr>
        <p:txBody>
          <a:bodyPr lIns="92075" tIns="46038" rIns="92075" bIns="46038" anchor="ctr"/>
          <a:lstStyle/>
          <a:p>
            <a:pPr algn="r" eaLnBrk="1" hangingPunct="1"/>
            <a:fld id="{9A0DB2DC-4C9A-4742-B13C-FB6460FD3503}" type="slidenum">
              <a:rPr lang="en-US" altLang="zh-CN" sz="1400" dirty="0"/>
              <a:t>99</a:t>
            </a:fld>
            <a:endParaRPr lang="en-US" altLang="zh-CN" sz="1400" dirty="0"/>
          </a:p>
        </p:txBody>
      </p:sp>
      <p:sp>
        <p:nvSpPr>
          <p:cNvPr id="100354" name="Rectangle 2"/>
          <p:cNvSpPr>
            <a:spLocks noGrp="1"/>
          </p:cNvSpPr>
          <p:nvPr>
            <p:ph idx="1"/>
          </p:nvPr>
        </p:nvSpPr>
        <p:spPr>
          <a:xfrm>
            <a:off x="107504" y="2276872"/>
            <a:ext cx="3744913" cy="4209179"/>
          </a:xfrm>
        </p:spPr>
        <p:txBody>
          <a:bodyPr vert="horz" wrap="square" lIns="91440" tIns="45720" rIns="91440" bIns="45720" anchor="t"/>
          <a:lstStyle/>
          <a:p>
            <a:pPr eaLnBrk="1" hangingPunct="1">
              <a:lnSpc>
                <a:spcPct val="110000"/>
              </a:lnSpc>
            </a:pPr>
            <a:r>
              <a:rPr lang="en-US" altLang="zh-CN" b="1" dirty="0">
                <a:solidFill>
                  <a:schemeClr val="tx2"/>
                </a:solidFill>
                <a:ea typeface="华文中宋" panose="02010600040101010101" pitchFamily="2" charset="-122"/>
              </a:rPr>
              <a:t>⑴</a:t>
            </a:r>
            <a:r>
              <a:rPr lang="zh-CN" altLang="en-US" b="1" dirty="0">
                <a:solidFill>
                  <a:schemeClr val="tx2"/>
                </a:solidFill>
                <a:ea typeface="华文中宋" panose="02010600040101010101" pitchFamily="2" charset="-122"/>
              </a:rPr>
              <a:t>作出典型合金冷却曲线示意图</a:t>
            </a:r>
            <a:endParaRPr lang="zh-CN" altLang="en-US" b="1" dirty="0">
              <a:ea typeface="华文中宋" panose="02010600040101010101" pitchFamily="2" charset="-122"/>
            </a:endParaRPr>
          </a:p>
          <a:p>
            <a:pPr eaLnBrk="1" hangingPunct="1">
              <a:lnSpc>
                <a:spcPct val="110000"/>
              </a:lnSpc>
            </a:pPr>
            <a:r>
              <a:rPr lang="zh-CN" altLang="en-US" b="1" dirty="0">
                <a:ea typeface="华文中宋" panose="02010600040101010101" pitchFamily="2" charset="-122"/>
              </a:rPr>
              <a:t>二元合金冷却曲线的特征是</a:t>
            </a:r>
            <a:r>
              <a:rPr lang="en-US" altLang="zh-CN" b="1" dirty="0">
                <a:ea typeface="华文中宋" panose="02010600040101010101" pitchFamily="2" charset="-122"/>
              </a:rPr>
              <a:t>:   </a:t>
            </a:r>
          </a:p>
          <a:p>
            <a:pPr eaLnBrk="1" hangingPunct="1">
              <a:lnSpc>
                <a:spcPct val="110000"/>
              </a:lnSpc>
            </a:pPr>
            <a:r>
              <a:rPr lang="zh-CN" altLang="en-US" b="1" dirty="0">
                <a:solidFill>
                  <a:srgbClr val="0000FF"/>
                </a:solidFill>
                <a:ea typeface="华文中宋" panose="02010600040101010101" pitchFamily="2" charset="-122"/>
              </a:rPr>
              <a:t>①</a:t>
            </a:r>
            <a:r>
              <a:rPr lang="zh-CN" altLang="en-US" b="1" dirty="0">
                <a:solidFill>
                  <a:schemeClr val="folHlink"/>
                </a:solidFill>
                <a:ea typeface="华文中宋" panose="02010600040101010101" pitchFamily="2" charset="-122"/>
              </a:rPr>
              <a:t>在</a:t>
            </a:r>
            <a:r>
              <a:rPr lang="zh-CN" altLang="en-US" b="1" dirty="0">
                <a:solidFill>
                  <a:srgbClr val="0000FF"/>
                </a:solidFill>
                <a:ea typeface="华文中宋" panose="02010600040101010101" pitchFamily="2" charset="-122"/>
              </a:rPr>
              <a:t>单相区</a:t>
            </a:r>
            <a:r>
              <a:rPr lang="zh-CN" altLang="en-US" b="1" dirty="0">
                <a:solidFill>
                  <a:schemeClr val="folHlink"/>
                </a:solidFill>
                <a:ea typeface="华文中宋" panose="02010600040101010101" pitchFamily="2" charset="-122"/>
              </a:rPr>
              <a:t>和</a:t>
            </a:r>
            <a:r>
              <a:rPr lang="zh-CN" altLang="en-US" b="1" dirty="0">
                <a:solidFill>
                  <a:srgbClr val="0000FF"/>
                </a:solidFill>
                <a:ea typeface="华文中宋" panose="02010600040101010101" pitchFamily="2" charset="-122"/>
              </a:rPr>
              <a:t>两相区</a:t>
            </a:r>
            <a:r>
              <a:rPr lang="zh-CN" altLang="en-US" b="1" dirty="0">
                <a:solidFill>
                  <a:schemeClr val="folHlink"/>
                </a:solidFill>
                <a:ea typeface="华文中宋" panose="02010600040101010101" pitchFamily="2" charset="-122"/>
              </a:rPr>
              <a:t>冷却曲线为一</a:t>
            </a:r>
            <a:r>
              <a:rPr lang="zh-CN" altLang="en-US" b="1" dirty="0">
                <a:solidFill>
                  <a:srgbClr val="0000FF"/>
                </a:solidFill>
                <a:ea typeface="华文中宋" panose="02010600040101010101" pitchFamily="2" charset="-122"/>
              </a:rPr>
              <a:t>斜线</a:t>
            </a:r>
            <a:r>
              <a:rPr lang="zh-CN" altLang="en-US" b="1" dirty="0">
                <a:solidFill>
                  <a:schemeClr val="folHlink"/>
                </a:solidFill>
                <a:ea typeface="华文中宋" panose="02010600040101010101" pitchFamily="2" charset="-122"/>
              </a:rPr>
              <a:t>。</a:t>
            </a:r>
          </a:p>
        </p:txBody>
      </p:sp>
      <p:sp>
        <p:nvSpPr>
          <p:cNvPr id="100355" name="Text Box 3"/>
          <p:cNvSpPr txBox="1"/>
          <p:nvPr/>
        </p:nvSpPr>
        <p:spPr>
          <a:xfrm>
            <a:off x="1259632" y="371949"/>
            <a:ext cx="7127875" cy="886205"/>
          </a:xfrm>
          <a:prstGeom prst="rect">
            <a:avLst/>
          </a:prstGeom>
          <a:noFill/>
          <a:ln w="9525">
            <a:noFill/>
          </a:ln>
        </p:spPr>
        <p:txBody>
          <a:bodyPr>
            <a:spAutoFit/>
          </a:bodyPr>
          <a:lstStyle/>
          <a:p>
            <a:pPr lvl="0" eaLnBrk="1" hangingPunct="1">
              <a:lnSpc>
                <a:spcPct val="130000"/>
              </a:lnSpc>
              <a:spcBef>
                <a:spcPct val="20000"/>
              </a:spcBef>
              <a:buClr>
                <a:schemeClr val="accent2"/>
              </a:buClr>
              <a:buSzPct val="80000"/>
              <a:buFont typeface="Wingdings" panose="05000000000000000000" pitchFamily="2" charset="2"/>
              <a:buNone/>
            </a:pPr>
            <a:r>
              <a:rPr lang="en-US" altLang="zh-CN" sz="4400" b="1" dirty="0">
                <a:solidFill>
                  <a:srgbClr val="FF0000"/>
                </a:solidFill>
                <a:latin typeface="Times New Roman" panose="02020603050405020304" pitchFamily="18" charset="0"/>
                <a:ea typeface="华文中宋" panose="02010600040101010101" pitchFamily="2" charset="-122"/>
              </a:rPr>
              <a:t>⒊ </a:t>
            </a:r>
            <a:r>
              <a:rPr lang="zh-CN" altLang="en-US" sz="4400" b="1" dirty="0">
                <a:solidFill>
                  <a:srgbClr val="FF0000"/>
                </a:solidFill>
                <a:latin typeface="Times New Roman" panose="02020603050405020304" pitchFamily="18" charset="0"/>
                <a:ea typeface="华文中宋" panose="02010600040101010101" pitchFamily="2" charset="-122"/>
              </a:rPr>
              <a:t>分析典型合金的结晶过程</a:t>
            </a:r>
            <a:endParaRPr lang="zh-CN" altLang="en-US" sz="4400" dirty="0">
              <a:solidFill>
                <a:srgbClr val="FF0000"/>
              </a:solidFill>
              <a:latin typeface="Times New Roman" panose="02020603050405020304" pitchFamily="18" charset="0"/>
            </a:endParaRPr>
          </a:p>
        </p:txBody>
      </p:sp>
      <p:pic>
        <p:nvPicPr>
          <p:cNvPr id="100356" name="Picture 4" descr="Fe-C过共析结晶过程1"/>
          <p:cNvPicPr>
            <a:picLocks noChangeAspect="1"/>
          </p:cNvPicPr>
          <p:nvPr/>
        </p:nvPicPr>
        <p:blipFill>
          <a:blip r:embed="rId2"/>
          <a:stretch>
            <a:fillRect/>
          </a:stretch>
        </p:blipFill>
        <p:spPr>
          <a:xfrm>
            <a:off x="3735388" y="2562186"/>
            <a:ext cx="5148262" cy="3638550"/>
          </a:xfrm>
          <a:prstGeom prst="rect">
            <a:avLst/>
          </a:prstGeom>
          <a:noFill/>
          <a:ln w="38100" cap="flat" cmpd="sng">
            <a:solidFill>
              <a:srgbClr val="FF99CC"/>
            </a:solidFill>
            <a:prstDash val="solid"/>
            <a:miter/>
            <a:headEnd type="none" w="med" len="med"/>
            <a:tailEnd type="none" w="med" len="med"/>
          </a:ln>
        </p:spPr>
      </p:pic>
      <p:pic>
        <p:nvPicPr>
          <p:cNvPr id="8" name="内容占位符 1" descr="新校徽（3M）弓之乐"/>
          <p:cNvPicPr>
            <a:picLocks noChangeAspect="1"/>
          </p:cNvPicPr>
          <p:nvPr/>
        </p:nvPicPr>
        <p:blipFill>
          <a:blip r:embed="rId3"/>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0355"/>
                                        </p:tgtEl>
                                        <p:attrNameLst>
                                          <p:attrName>style.visibility</p:attrName>
                                        </p:attrNameLst>
                                      </p:cBhvr>
                                      <p:to>
                                        <p:strVal val="visible"/>
                                      </p:to>
                                    </p:set>
                                    <p:animEffect transition="in" filter="wipe(left)">
                                      <p:cBhvr>
                                        <p:cTn id="7" dur="500"/>
                                        <p:tgtEl>
                                          <p:spTgt spid="10035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0354">
                                            <p:txEl>
                                              <p:pRg st="0" end="0"/>
                                            </p:txEl>
                                          </p:spTgt>
                                        </p:tgtEl>
                                        <p:attrNameLst>
                                          <p:attrName>style.visibility</p:attrName>
                                        </p:attrNameLst>
                                      </p:cBhvr>
                                      <p:to>
                                        <p:strVal val="visible"/>
                                      </p:to>
                                    </p:set>
                                    <p:animEffect transition="in" filter="wipe(left)">
                                      <p:cBhvr>
                                        <p:cTn id="11" dur="500"/>
                                        <p:tgtEl>
                                          <p:spTgt spid="100354">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0354">
                                            <p:txEl>
                                              <p:pRg st="1" end="1"/>
                                            </p:txEl>
                                          </p:spTgt>
                                        </p:tgtEl>
                                        <p:attrNameLst>
                                          <p:attrName>style.visibility</p:attrName>
                                        </p:attrNameLst>
                                      </p:cBhvr>
                                      <p:to>
                                        <p:strVal val="visible"/>
                                      </p:to>
                                    </p:set>
                                    <p:animEffect transition="in" filter="wipe(left)">
                                      <p:cBhvr>
                                        <p:cTn id="15" dur="500"/>
                                        <p:tgtEl>
                                          <p:spTgt spid="100354">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00354">
                                            <p:txEl>
                                              <p:pRg st="2" end="2"/>
                                            </p:txEl>
                                          </p:spTgt>
                                        </p:tgtEl>
                                        <p:attrNameLst>
                                          <p:attrName>style.visibility</p:attrName>
                                        </p:attrNameLst>
                                      </p:cBhvr>
                                      <p:to>
                                        <p:strVal val="visible"/>
                                      </p:to>
                                    </p:set>
                                    <p:animEffect transition="in" filter="wipe(left)">
                                      <p:cBhvr>
                                        <p:cTn id="19" dur="500"/>
                                        <p:tgtEl>
                                          <p:spTgt spid="100354">
                                            <p:txEl>
                                              <p:pRg st="2" end="2"/>
                                            </p:txEl>
                                          </p:spTgt>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100356"/>
                                        </p:tgtEl>
                                        <p:attrNameLst>
                                          <p:attrName>style.visibility</p:attrName>
                                        </p:attrNameLst>
                                      </p:cBhvr>
                                      <p:to>
                                        <p:strVal val="visible"/>
                                      </p:to>
                                    </p:set>
                                    <p:animEffect transition="in" filter="wipe(left)">
                                      <p:cBhvr>
                                        <p:cTn id="23" dur="500"/>
                                        <p:tgtEl>
                                          <p:spTgt spid="100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4" grpId="0" build="p" advAuto="1000"/>
      <p:bldP spid="100355"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txBox="1">
            <a:spLocks noGrp="1"/>
          </p:cNvSpPr>
          <p:nvPr>
            <p:ph type="dt" sz="half" idx="10"/>
          </p:nvPr>
        </p:nvSpPr>
        <p:spPr>
          <a:xfrm>
            <a:off x="0" y="6510338"/>
            <a:ext cx="2267744"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97283" name="灯片编号占位符 5"/>
          <p:cNvSpPr txBox="1">
            <a:spLocks noGrp="1"/>
          </p:cNvSpPr>
          <p:nvPr>
            <p:ph type="sldNum" sz="quarter" idx="12"/>
          </p:nvPr>
        </p:nvSpPr>
        <p:spPr>
          <a:xfrm>
            <a:off x="8604449" y="6584950"/>
            <a:ext cx="539552" cy="273050"/>
          </a:xfrm>
        </p:spPr>
        <p:txBody>
          <a:bodyPr lIns="92075" tIns="46038" rIns="92075" bIns="46038" anchor="ctr"/>
          <a:lstStyle/>
          <a:p>
            <a:pPr algn="r" eaLnBrk="1" hangingPunct="1"/>
            <a:fld id="{9A0DB2DC-4C9A-4742-B13C-FB6460FD3503}" type="slidenum">
              <a:rPr lang="en-US" altLang="zh-CN" sz="1400" dirty="0"/>
              <a:t>100</a:t>
            </a:fld>
            <a:endParaRPr lang="en-US" altLang="zh-CN" sz="1400" dirty="0"/>
          </a:p>
        </p:txBody>
      </p:sp>
      <p:sp>
        <p:nvSpPr>
          <p:cNvPr id="101378" name="Rectangle 2"/>
          <p:cNvSpPr>
            <a:spLocks noGrp="1" noChangeArrowheads="1"/>
          </p:cNvSpPr>
          <p:nvPr>
            <p:ph idx="1"/>
          </p:nvPr>
        </p:nvSpPr>
        <p:spPr>
          <a:xfrm>
            <a:off x="533400" y="1628800"/>
            <a:ext cx="8610600" cy="2746350"/>
          </a:xfrm>
        </p:spPr>
        <p:txBody>
          <a:bodyPr vert="horz" wrap="square" lIns="91440" tIns="45720" rIns="91440" bIns="45720" numCol="1" anchor="t" anchorCtr="0" compatLnSpc="1"/>
          <a:lstStyle/>
          <a:p>
            <a:pPr marL="342900" marR="0" lvl="0" indent="-342900" algn="l" defTabSz="914400" rtl="0" eaLnBrk="1" fontAlgn="base" latinLnBrk="0" hangingPunct="1">
              <a:lnSpc>
                <a:spcPct val="130000"/>
              </a:lnSpc>
              <a:spcBef>
                <a:spcPct val="20000"/>
              </a:spcBef>
              <a:spcAft>
                <a:spcPct val="0"/>
              </a:spcAft>
              <a:buClr>
                <a:schemeClr val="accent2"/>
              </a:buClr>
              <a:buSzPct val="80000"/>
              <a:buFont typeface="Wingdings" panose="05000000000000000000" pitchFamily="2" charset="2"/>
              <a:buChar char="l"/>
              <a:defRPr/>
            </a:pPr>
            <a:r>
              <a:rPr kumimoji="1" lang="en-US" altLang="zh-CN" sz="2800" b="1" i="0" u="none" strike="noStrike" kern="0" cap="none" spc="0" normalizeH="0" baseline="0" noProof="0" dirty="0">
                <a:ln>
                  <a:noFill/>
                </a:ln>
                <a:effectLst/>
                <a:uLnTx/>
                <a:uFillTx/>
                <a:latin typeface="+mn-lt"/>
                <a:ea typeface="华文中宋" panose="02010600040101010101" pitchFamily="2" charset="-122"/>
                <a:cs typeface="+mn-cs"/>
              </a:rPr>
              <a:t>②</a:t>
            </a:r>
            <a:r>
              <a:rPr kumimoji="1" lang="zh-CN" altLang="en-US" sz="2800" b="1" i="0" u="none" strike="noStrike" kern="0" cap="none" spc="0" normalizeH="0" baseline="0" noProof="0" dirty="0">
                <a:ln>
                  <a:noFill/>
                </a:ln>
                <a:effectLst/>
                <a:uLnTx/>
                <a:uFillTx/>
                <a:latin typeface="+mn-lt"/>
                <a:ea typeface="华文中宋" panose="02010600040101010101" pitchFamily="2" charset="-122"/>
                <a:cs typeface="+mn-cs"/>
              </a:rPr>
              <a:t>由一个相区进入另一相区时</a:t>
            </a:r>
            <a:r>
              <a:rPr kumimoji="1" lang="en-US" altLang="zh-CN" sz="2800" b="1" i="0" u="none" strike="noStrike" kern="0" cap="none" spc="0" normalizeH="0" baseline="0" noProof="0" dirty="0">
                <a:ln>
                  <a:noFill/>
                </a:ln>
                <a:effectLst/>
                <a:uLnTx/>
                <a:uFillTx/>
                <a:latin typeface="+mn-lt"/>
                <a:ea typeface="华文中宋" panose="02010600040101010101" pitchFamily="2" charset="-122"/>
                <a:cs typeface="+mn-cs"/>
              </a:rPr>
              <a:t>, </a:t>
            </a:r>
            <a:r>
              <a:rPr kumimoji="1" lang="zh-CN" altLang="en-US" sz="2800" b="1" i="0" u="none" strike="noStrike" kern="0" cap="none" spc="0" normalizeH="0" baseline="0" noProof="0" dirty="0">
                <a:ln>
                  <a:noFill/>
                </a:ln>
                <a:effectLst/>
                <a:uLnTx/>
                <a:uFillTx/>
                <a:latin typeface="+mn-lt"/>
                <a:ea typeface="华文中宋" panose="02010600040101010101" pitchFamily="2" charset="-122"/>
                <a:cs typeface="+mn-cs"/>
              </a:rPr>
              <a:t>冷却曲线出现拐点</a:t>
            </a:r>
            <a:r>
              <a:rPr kumimoji="1" lang="en-US" altLang="zh-CN" sz="2800" b="1" i="0" u="none" strike="noStrike" kern="0" cap="none" spc="0" normalizeH="0" baseline="0" noProof="0" dirty="0">
                <a:ln>
                  <a:noFill/>
                </a:ln>
                <a:effectLst/>
                <a:uLnTx/>
                <a:uFillTx/>
                <a:latin typeface="+mn-lt"/>
                <a:ea typeface="华文中宋" panose="02010600040101010101" pitchFamily="2" charset="-122"/>
                <a:cs typeface="+mn-cs"/>
              </a:rPr>
              <a:t>:</a:t>
            </a:r>
          </a:p>
          <a:p>
            <a:pPr marL="342900" marR="0" lvl="0" indent="-342900" algn="l" defTabSz="914400" rtl="0" eaLnBrk="1" fontAlgn="base" latinLnBrk="0" hangingPunct="1">
              <a:lnSpc>
                <a:spcPct val="110000"/>
              </a:lnSpc>
              <a:spcBef>
                <a:spcPct val="20000"/>
              </a:spcBef>
              <a:spcAft>
                <a:spcPct val="0"/>
              </a:spcAft>
              <a:buClr>
                <a:schemeClr val="accent2"/>
              </a:buClr>
              <a:buSzPct val="80000"/>
              <a:buFont typeface="Wingdings" panose="05000000000000000000" pitchFamily="2" charset="2"/>
              <a:buChar char="l"/>
              <a:defRPr/>
            </a:pPr>
            <a:r>
              <a:rPr kumimoji="1" lang="en-US" altLang="zh-CN" sz="2800" b="1" i="1" u="none" strike="noStrike" kern="0" cap="none" spc="0" normalizeH="0" baseline="0" noProof="0" dirty="0">
                <a:ln>
                  <a:noFill/>
                </a:ln>
                <a:effectLst/>
                <a:uLnTx/>
                <a:uFillTx/>
                <a:latin typeface="+mn-lt"/>
                <a:ea typeface="华文中宋" panose="02010600040101010101" pitchFamily="2" charset="-122"/>
                <a:cs typeface="+mn-cs"/>
              </a:rPr>
              <a:t>a</a:t>
            </a:r>
            <a:r>
              <a:rPr kumimoji="1" lang="en-US" altLang="zh-CN" sz="2800" b="1" i="0" u="none" strike="noStrike" kern="0" cap="none" spc="0" normalizeH="0" baseline="0" noProof="0" dirty="0">
                <a:ln>
                  <a:noFill/>
                </a:ln>
                <a:effectLst/>
                <a:uLnTx/>
                <a:uFillTx/>
                <a:latin typeface="+mn-lt"/>
                <a:ea typeface="华文中宋" panose="02010600040101010101" pitchFamily="2" charset="-122"/>
                <a:cs typeface="+mn-cs"/>
              </a:rPr>
              <a:t>. </a:t>
            </a:r>
            <a:r>
              <a:rPr kumimoji="1" lang="zh-CN" altLang="en-US" sz="2800" b="1" i="0" u="none" strike="noStrike" kern="0" cap="none" spc="0" normalizeH="0" baseline="0" noProof="0" dirty="0">
                <a:ln>
                  <a:noFill/>
                </a:ln>
                <a:effectLst/>
                <a:uLnTx/>
                <a:uFillTx/>
                <a:latin typeface="+mn-lt"/>
                <a:ea typeface="华文中宋" panose="02010600040101010101" pitchFamily="2" charset="-122"/>
                <a:cs typeface="+mn-cs"/>
              </a:rPr>
              <a:t>由相数少的相区进入相数多的相区曲线向</a:t>
            </a:r>
            <a:r>
              <a:rPr kumimoji="1" lang="zh-CN" altLang="en-US" sz="2800" b="1" i="0" u="none" strike="noStrike" kern="1200" cap="none" spc="0" normalizeH="0" baseline="0" noProof="0" dirty="0">
                <a:ln>
                  <a:noFill/>
                </a:ln>
                <a:effectLst/>
                <a:uLnTx/>
                <a:uFillTx/>
                <a:latin typeface="+mn-lt"/>
                <a:ea typeface="华文中宋" panose="02010600040101010101" pitchFamily="2" charset="-122"/>
                <a:cs typeface="+mn-cs"/>
              </a:rPr>
              <a:t>右拐</a:t>
            </a:r>
            <a:r>
              <a:rPr kumimoji="1" lang="zh-CN" altLang="en-US" sz="2800" b="1" i="0" u="none" strike="noStrike" kern="0" cap="none" spc="0" normalizeH="0" baseline="0" noProof="0" dirty="0">
                <a:ln>
                  <a:noFill/>
                </a:ln>
                <a:effectLst/>
                <a:uLnTx/>
                <a:uFillTx/>
                <a:latin typeface="+mn-lt"/>
                <a:ea typeface="华文中宋" panose="02010600040101010101" pitchFamily="2" charset="-122"/>
                <a:cs typeface="+mn-cs"/>
              </a:rPr>
              <a:t>（</a:t>
            </a:r>
            <a:r>
              <a:rPr kumimoji="1" lang="zh-CN" altLang="en-US" sz="2800" b="1" i="0" u="none" strike="noStrike" kern="1200" cap="none" spc="0" normalizeH="0" baseline="0" noProof="0" dirty="0">
                <a:ln>
                  <a:noFill/>
                </a:ln>
                <a:effectLst/>
                <a:uLnTx/>
                <a:uFillTx/>
                <a:latin typeface="+mn-lt"/>
                <a:ea typeface="华文中宋" panose="02010600040101010101" pitchFamily="2" charset="-122"/>
                <a:cs typeface="+mn-cs"/>
              </a:rPr>
              <a:t>放出结晶潜热</a:t>
            </a:r>
            <a:r>
              <a:rPr kumimoji="1" lang="zh-CN" altLang="en-US" sz="2800" b="1" i="0" u="none" strike="noStrike" kern="0" cap="none" spc="0" normalizeH="0" baseline="0" noProof="0" dirty="0">
                <a:ln>
                  <a:noFill/>
                </a:ln>
                <a:effectLst/>
                <a:uLnTx/>
                <a:uFillTx/>
                <a:latin typeface="+mn-lt"/>
                <a:ea typeface="华文中宋" panose="02010600040101010101" pitchFamily="2" charset="-122"/>
                <a:cs typeface="+mn-cs"/>
              </a:rPr>
              <a:t>）</a:t>
            </a:r>
            <a:r>
              <a:rPr kumimoji="1" lang="en-US" altLang="zh-CN" sz="2800" b="1" i="0" u="none" strike="noStrike" kern="0" cap="none" spc="0" normalizeH="0" baseline="0" noProof="0" dirty="0">
                <a:ln>
                  <a:noFill/>
                </a:ln>
                <a:effectLst/>
                <a:uLnTx/>
                <a:uFillTx/>
                <a:latin typeface="+mn-lt"/>
                <a:ea typeface="华文中宋" panose="02010600040101010101" pitchFamily="2" charset="-122"/>
                <a:cs typeface="+mn-cs"/>
              </a:rPr>
              <a:t>;</a:t>
            </a:r>
            <a:endParaRPr kumimoji="1" lang="en-US" altLang="zh-CN" sz="2800" b="0" i="0" u="none" strike="noStrike" kern="0" cap="none" spc="0" normalizeH="0" baseline="0" noProof="0" dirty="0">
              <a:ln>
                <a:noFill/>
              </a:ln>
              <a:effectLst/>
              <a:uLnTx/>
              <a:uFillTx/>
              <a:latin typeface="+mn-lt"/>
              <a:ea typeface="华文中宋" panose="02010600040101010101" pitchFamily="2" charset="-122"/>
              <a:cs typeface="+mn-cs"/>
            </a:endParaRPr>
          </a:p>
        </p:txBody>
      </p:sp>
      <p:sp>
        <p:nvSpPr>
          <p:cNvPr id="101379" name="Rectangle 3"/>
          <p:cNvSpPr/>
          <p:nvPr/>
        </p:nvSpPr>
        <p:spPr>
          <a:xfrm>
            <a:off x="200660" y="3501007"/>
            <a:ext cx="4018915" cy="3080767"/>
          </a:xfrm>
          <a:prstGeom prst="rect">
            <a:avLst/>
          </a:prstGeom>
          <a:noFill/>
          <a:ln w="9525">
            <a:noFill/>
          </a:ln>
        </p:spPr>
        <p:txBody>
          <a:bodyPr/>
          <a:lstStyle/>
          <a:p>
            <a:pPr marL="342900" lvl="0" indent="-342900" eaLnBrk="1" hangingPunct="1">
              <a:lnSpc>
                <a:spcPct val="110000"/>
              </a:lnSpc>
              <a:spcBef>
                <a:spcPct val="20000"/>
              </a:spcBef>
              <a:buClr>
                <a:schemeClr val="accent2"/>
              </a:buClr>
              <a:buSzPct val="80000"/>
              <a:buFont typeface="Wingdings" panose="05000000000000000000" pitchFamily="2" charset="2"/>
              <a:buChar char="l"/>
            </a:pPr>
            <a:r>
              <a:rPr lang="en-US" altLang="zh-CN" sz="2800" b="1" i="1" dirty="0">
                <a:latin typeface="Times New Roman" panose="02020603050405020304" pitchFamily="18" charset="0"/>
                <a:ea typeface="华文中宋" panose="02010600040101010101" pitchFamily="2" charset="-122"/>
              </a:rPr>
              <a:t>b</a:t>
            </a:r>
            <a:r>
              <a:rPr lang="en-US" altLang="zh-CN" sz="2800" b="1" dirty="0">
                <a:latin typeface="Times New Roman" panose="02020603050405020304" pitchFamily="18" charset="0"/>
                <a:ea typeface="华文中宋" panose="02010600040101010101" pitchFamily="2" charset="-122"/>
              </a:rPr>
              <a:t>. </a:t>
            </a:r>
            <a:r>
              <a:rPr lang="zh-CN" altLang="en-US" sz="2800" b="1" dirty="0">
                <a:latin typeface="Times New Roman" panose="02020603050405020304" pitchFamily="18" charset="0"/>
                <a:ea typeface="华文中宋" panose="02010600040101010101" pitchFamily="2" charset="-122"/>
              </a:rPr>
              <a:t>由相数多的相区进入相数少的相区曲线向左拐（相变结束）。</a:t>
            </a:r>
          </a:p>
          <a:p>
            <a:pPr marL="342900" lvl="0" indent="-342900" eaLnBrk="1" hangingPunct="1">
              <a:lnSpc>
                <a:spcPct val="110000"/>
              </a:lnSpc>
              <a:spcBef>
                <a:spcPct val="20000"/>
              </a:spcBef>
              <a:buClr>
                <a:schemeClr val="accent2"/>
              </a:buClr>
              <a:buSzPct val="80000"/>
              <a:buFont typeface="Wingdings" panose="05000000000000000000" pitchFamily="2" charset="2"/>
              <a:buChar char="l"/>
            </a:pPr>
            <a:r>
              <a:rPr lang="zh-CN" altLang="en-US" sz="2800" b="1" dirty="0">
                <a:latin typeface="Times New Roman" panose="02020603050405020304" pitchFamily="18" charset="0"/>
                <a:ea typeface="华文中宋" panose="02010600040101010101" pitchFamily="2" charset="-122"/>
              </a:rPr>
              <a:t>③ 发生三相等温转变时，冷却曲线呈一水平台阶。 </a:t>
            </a:r>
          </a:p>
        </p:txBody>
      </p:sp>
      <p:pic>
        <p:nvPicPr>
          <p:cNvPr id="101380" name="Picture 4" descr="Fe-C亚共析结晶过程0"/>
          <p:cNvPicPr>
            <a:picLocks noChangeAspect="1"/>
          </p:cNvPicPr>
          <p:nvPr/>
        </p:nvPicPr>
        <p:blipFill>
          <a:blip r:embed="rId2"/>
          <a:stretch>
            <a:fillRect/>
          </a:stretch>
        </p:blipFill>
        <p:spPr>
          <a:xfrm>
            <a:off x="4585335" y="2852760"/>
            <a:ext cx="4018915" cy="3672024"/>
          </a:xfrm>
          <a:prstGeom prst="rect">
            <a:avLst/>
          </a:prstGeom>
          <a:noFill/>
          <a:ln w="38100" cap="flat" cmpd="sng">
            <a:solidFill>
              <a:srgbClr val="00CCFF"/>
            </a:solidFill>
            <a:prstDash val="solid"/>
            <a:miter/>
            <a:headEnd type="none" w="med" len="med"/>
            <a:tailEnd type="none" w="med" len="med"/>
          </a:ln>
        </p:spPr>
      </p:pic>
      <p:pic>
        <p:nvPicPr>
          <p:cNvPr id="8" name="内容占位符 1" descr="新校徽（3M）弓之乐"/>
          <p:cNvPicPr>
            <a:picLocks noChangeAspect="1"/>
          </p:cNvPicPr>
          <p:nvPr/>
        </p:nvPicPr>
        <p:blipFill>
          <a:blip r:embed="rId3"/>
          <a:stretch>
            <a:fillRect/>
          </a:stretch>
        </p:blipFill>
        <p:spPr>
          <a:xfrm>
            <a:off x="0" y="0"/>
            <a:ext cx="746760" cy="735965"/>
          </a:xfrm>
          <a:prstGeom prst="rect">
            <a:avLst/>
          </a:prstGeom>
          <a:noFill/>
          <a:ln w="9525">
            <a:noFill/>
          </a:ln>
        </p:spPr>
      </p:pic>
      <p:sp>
        <p:nvSpPr>
          <p:cNvPr id="100355" name="Text Box 3"/>
          <p:cNvSpPr txBox="1"/>
          <p:nvPr/>
        </p:nvSpPr>
        <p:spPr>
          <a:xfrm>
            <a:off x="1259632" y="371949"/>
            <a:ext cx="7127875" cy="886205"/>
          </a:xfrm>
          <a:prstGeom prst="rect">
            <a:avLst/>
          </a:prstGeom>
          <a:noFill/>
          <a:ln w="9525">
            <a:noFill/>
          </a:ln>
        </p:spPr>
        <p:txBody>
          <a:bodyPr>
            <a:spAutoFit/>
          </a:bodyPr>
          <a:lstStyle/>
          <a:p>
            <a:pPr lvl="0" eaLnBrk="1" hangingPunct="1">
              <a:lnSpc>
                <a:spcPct val="130000"/>
              </a:lnSpc>
              <a:spcBef>
                <a:spcPct val="20000"/>
              </a:spcBef>
              <a:buClr>
                <a:schemeClr val="accent2"/>
              </a:buClr>
              <a:buSzPct val="80000"/>
              <a:buFont typeface="Wingdings" panose="05000000000000000000" pitchFamily="2" charset="2"/>
              <a:buNone/>
            </a:pPr>
            <a:r>
              <a:rPr lang="en-US" altLang="zh-CN" sz="4400" b="1" dirty="0">
                <a:solidFill>
                  <a:srgbClr val="FF0000"/>
                </a:solidFill>
                <a:latin typeface="Times New Roman" panose="02020603050405020304" pitchFamily="18" charset="0"/>
                <a:ea typeface="华文中宋" panose="02010600040101010101" pitchFamily="2" charset="-122"/>
              </a:rPr>
              <a:t>⒊ </a:t>
            </a:r>
            <a:r>
              <a:rPr lang="zh-CN" altLang="en-US" sz="4400" b="1" dirty="0">
                <a:solidFill>
                  <a:srgbClr val="FF0000"/>
                </a:solidFill>
                <a:latin typeface="Times New Roman" panose="02020603050405020304" pitchFamily="18" charset="0"/>
                <a:ea typeface="华文中宋" panose="02010600040101010101" pitchFamily="2" charset="-122"/>
              </a:rPr>
              <a:t>分析典型合金的结晶过程</a:t>
            </a:r>
            <a:endParaRPr lang="zh-CN" altLang="en-US" sz="4400" dirty="0">
              <a:solidFill>
                <a:srgbClr val="FF0000"/>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1378">
                                            <p:txEl>
                                              <p:pRg st="0" end="0"/>
                                            </p:txEl>
                                          </p:spTgt>
                                        </p:tgtEl>
                                        <p:attrNameLst>
                                          <p:attrName>style.visibility</p:attrName>
                                        </p:attrNameLst>
                                      </p:cBhvr>
                                      <p:to>
                                        <p:strVal val="visible"/>
                                      </p:to>
                                    </p:set>
                                    <p:animEffect transition="in" filter="wipe(left)">
                                      <p:cBhvr>
                                        <p:cTn id="7" dur="500"/>
                                        <p:tgtEl>
                                          <p:spTgt spid="101378">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1378">
                                            <p:txEl>
                                              <p:pRg st="1" end="1"/>
                                            </p:txEl>
                                          </p:spTgt>
                                        </p:tgtEl>
                                        <p:attrNameLst>
                                          <p:attrName>style.visibility</p:attrName>
                                        </p:attrNameLst>
                                      </p:cBhvr>
                                      <p:to>
                                        <p:strVal val="visible"/>
                                      </p:to>
                                    </p:set>
                                    <p:animEffect transition="in" filter="wipe(left)">
                                      <p:cBhvr>
                                        <p:cTn id="11" dur="500"/>
                                        <p:tgtEl>
                                          <p:spTgt spid="101378">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1379"/>
                                        </p:tgtEl>
                                        <p:attrNameLst>
                                          <p:attrName>style.visibility</p:attrName>
                                        </p:attrNameLst>
                                      </p:cBhvr>
                                      <p:to>
                                        <p:strVal val="visible"/>
                                      </p:to>
                                    </p:set>
                                    <p:animEffect transition="in" filter="wipe(left)">
                                      <p:cBhvr>
                                        <p:cTn id="15" dur="500"/>
                                        <p:tgtEl>
                                          <p:spTgt spid="101379"/>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101380"/>
                                        </p:tgtEl>
                                        <p:attrNameLst>
                                          <p:attrName>style.visibility</p:attrName>
                                        </p:attrNameLst>
                                      </p:cBhvr>
                                      <p:to>
                                        <p:strVal val="visible"/>
                                      </p:to>
                                    </p:set>
                                    <p:animEffect transition="in" filter="wipe(up)">
                                      <p:cBhvr>
                                        <p:cTn id="19" dur="500"/>
                                        <p:tgtEl>
                                          <p:spTgt spid="101380"/>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00355"/>
                                        </p:tgtEl>
                                        <p:attrNameLst>
                                          <p:attrName>style.visibility</p:attrName>
                                        </p:attrNameLst>
                                      </p:cBhvr>
                                      <p:to>
                                        <p:strVal val="visible"/>
                                      </p:to>
                                    </p:set>
                                    <p:animEffect transition="in" filter="wipe(left)">
                                      <p:cBhvr>
                                        <p:cTn id="23" dur="500"/>
                                        <p:tgtEl>
                                          <p:spTgt spid="1003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build="p" advAuto="1000"/>
      <p:bldP spid="101379" grpId="0"/>
      <p:bldP spid="100355"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日期占位符 3"/>
          <p:cNvSpPr txBox="1">
            <a:spLocks noGrp="1"/>
          </p:cNvSpPr>
          <p:nvPr>
            <p:ph type="dt" sz="half" idx="10"/>
          </p:nvPr>
        </p:nvSpPr>
        <p:spPr>
          <a:xfrm>
            <a:off x="0" y="6510655"/>
            <a:ext cx="2258695" cy="34734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98307" name="灯片编号占位符 5"/>
          <p:cNvSpPr txBox="1">
            <a:spLocks noGrp="1"/>
          </p:cNvSpPr>
          <p:nvPr>
            <p:ph type="sldNum" sz="quarter" idx="12"/>
          </p:nvPr>
        </p:nvSpPr>
        <p:spPr>
          <a:xfrm>
            <a:off x="8489315" y="6610350"/>
            <a:ext cx="520700" cy="247650"/>
          </a:xfrm>
        </p:spPr>
        <p:txBody>
          <a:bodyPr lIns="92075" tIns="46038" rIns="92075" bIns="46038" anchor="ctr"/>
          <a:lstStyle/>
          <a:p>
            <a:pPr algn="r" eaLnBrk="1" hangingPunct="1"/>
            <a:fld id="{9A0DB2DC-4C9A-4742-B13C-FB6460FD3503}" type="slidenum">
              <a:rPr lang="en-US" altLang="zh-CN" sz="1400" dirty="0"/>
              <a:t>101</a:t>
            </a:fld>
            <a:endParaRPr lang="en-US" altLang="zh-CN" sz="1400" dirty="0"/>
          </a:p>
        </p:txBody>
      </p:sp>
      <p:sp>
        <p:nvSpPr>
          <p:cNvPr id="102403" name="Rectangle 3"/>
          <p:cNvSpPr/>
          <p:nvPr/>
        </p:nvSpPr>
        <p:spPr>
          <a:xfrm>
            <a:off x="327572" y="1988840"/>
            <a:ext cx="4265646" cy="4392488"/>
          </a:xfrm>
          <a:prstGeom prst="rect">
            <a:avLst/>
          </a:prstGeom>
          <a:noFill/>
          <a:ln w="9525">
            <a:noFill/>
          </a:ln>
        </p:spPr>
        <p:txBody>
          <a:bodyPr/>
          <a:lstStyle/>
          <a:p>
            <a:pPr marL="342900" indent="-342900">
              <a:lnSpc>
                <a:spcPct val="140000"/>
              </a:lnSpc>
              <a:spcBef>
                <a:spcPct val="20000"/>
              </a:spcBef>
              <a:buClr>
                <a:schemeClr val="accent2"/>
              </a:buClr>
              <a:buSzPct val="80000"/>
              <a:buFont typeface="Wingdings" panose="05000000000000000000" pitchFamily="2" charset="2"/>
              <a:buChar char="l"/>
            </a:pPr>
            <a:r>
              <a:rPr lang="zh-CN" altLang="en-US" sz="2800" b="1" dirty="0">
                <a:solidFill>
                  <a:schemeClr val="folHlink"/>
                </a:solidFill>
                <a:ea typeface="华文中宋" panose="02010600040101010101" pitchFamily="2" charset="-122"/>
              </a:rPr>
              <a:t>① 画出组织转变示意图。</a:t>
            </a:r>
            <a:endParaRPr lang="en-US" altLang="zh-CN" sz="2800" b="1" dirty="0">
              <a:solidFill>
                <a:schemeClr val="folHlink"/>
              </a:solidFill>
              <a:latin typeface="Times New Roman" panose="02020603050405020304" pitchFamily="18" charset="0"/>
              <a:ea typeface="华文中宋" panose="02010600040101010101" pitchFamily="2" charset="-122"/>
            </a:endParaRPr>
          </a:p>
          <a:p>
            <a:pPr marL="342900" lvl="0" indent="-342900" eaLnBrk="1" hangingPunct="1">
              <a:lnSpc>
                <a:spcPct val="140000"/>
              </a:lnSpc>
              <a:spcBef>
                <a:spcPct val="20000"/>
              </a:spcBef>
              <a:buClr>
                <a:schemeClr val="accent2"/>
              </a:buClr>
              <a:buSzPct val="80000"/>
              <a:buFont typeface="Wingdings" panose="05000000000000000000" pitchFamily="2" charset="2"/>
              <a:buChar char="l"/>
            </a:pPr>
            <a:r>
              <a:rPr lang="en-US" altLang="zh-CN" sz="2800" b="1" dirty="0">
                <a:solidFill>
                  <a:schemeClr val="folHlink"/>
                </a:solidFill>
                <a:latin typeface="Times New Roman" panose="02020603050405020304" pitchFamily="18" charset="0"/>
                <a:ea typeface="华文中宋" panose="02010600040101010101" pitchFamily="2" charset="-122"/>
              </a:rPr>
              <a:t>② </a:t>
            </a:r>
            <a:r>
              <a:rPr lang="zh-CN" altLang="en-US" sz="2800" b="1" dirty="0">
                <a:solidFill>
                  <a:schemeClr val="folHlink"/>
                </a:solidFill>
                <a:latin typeface="Times New Roman" panose="02020603050405020304" pitchFamily="18" charset="0"/>
                <a:ea typeface="华文中宋" panose="02010600040101010101" pitchFamily="2" charset="-122"/>
              </a:rPr>
              <a:t>计算各相、各组织组成物相对重量百分比：</a:t>
            </a:r>
          </a:p>
          <a:p>
            <a:pPr marL="342900" lvl="0" indent="-342900" eaLnBrk="1" hangingPunct="1">
              <a:lnSpc>
                <a:spcPct val="140000"/>
              </a:lnSpc>
              <a:spcBef>
                <a:spcPct val="20000"/>
              </a:spcBef>
              <a:buClr>
                <a:schemeClr val="accent2"/>
              </a:buClr>
              <a:buSzPct val="80000"/>
              <a:buFont typeface="Wingdings" panose="05000000000000000000" pitchFamily="2" charset="2"/>
              <a:buChar char="l"/>
            </a:pPr>
            <a:r>
              <a:rPr lang="en-US" altLang="zh-CN" sz="2800" b="1" i="1" dirty="0">
                <a:latin typeface="Times New Roman" panose="02020603050405020304" pitchFamily="18" charset="0"/>
                <a:ea typeface="华文中宋" panose="02010600040101010101" pitchFamily="2" charset="-122"/>
              </a:rPr>
              <a:t>a</a:t>
            </a:r>
            <a:r>
              <a:rPr lang="en-US" altLang="zh-CN" sz="2800" b="1" dirty="0">
                <a:latin typeface="Times New Roman" panose="02020603050405020304" pitchFamily="18" charset="0"/>
                <a:ea typeface="华文中宋" panose="02010600040101010101" pitchFamily="2" charset="-122"/>
              </a:rPr>
              <a:t>. </a:t>
            </a:r>
            <a:r>
              <a:rPr lang="zh-CN" altLang="en-US" sz="2800" b="1" dirty="0">
                <a:latin typeface="Times New Roman" panose="02020603050405020304" pitchFamily="18" charset="0"/>
                <a:ea typeface="华文中宋" panose="02010600040101010101" pitchFamily="2" charset="-122"/>
              </a:rPr>
              <a:t>在</a:t>
            </a:r>
            <a:r>
              <a:rPr lang="zh-CN" altLang="en-US" sz="2800" b="1" dirty="0">
                <a:solidFill>
                  <a:srgbClr val="0000FF"/>
                </a:solidFill>
                <a:latin typeface="Times New Roman" panose="02020603050405020304" pitchFamily="18" charset="0"/>
                <a:ea typeface="华文中宋" panose="02010600040101010101" pitchFamily="2" charset="-122"/>
              </a:rPr>
              <a:t>单相区</a:t>
            </a:r>
            <a:r>
              <a:rPr lang="zh-CN" altLang="en-US" sz="2800" b="1" dirty="0">
                <a:solidFill>
                  <a:schemeClr val="tx1"/>
                </a:solidFill>
                <a:latin typeface="Times New Roman" panose="02020603050405020304" pitchFamily="18" charset="0"/>
                <a:ea typeface="华文中宋" panose="02010600040101010101" pitchFamily="2" charset="-122"/>
              </a:rPr>
              <a:t>，合金由单相组成，相的成分、重量即合金的成分、重量</a:t>
            </a:r>
            <a:r>
              <a:rPr lang="zh-CN" altLang="en-US" sz="2800" b="1" dirty="0">
                <a:solidFill>
                  <a:srgbClr val="FFFFCC"/>
                </a:solidFill>
                <a:latin typeface="Times New Roman" panose="02020603050405020304" pitchFamily="18" charset="0"/>
                <a:ea typeface="华文中宋" panose="02010600040101010101" pitchFamily="2" charset="-122"/>
              </a:rPr>
              <a:t>。</a:t>
            </a:r>
            <a:endParaRPr lang="zh-CN" altLang="en-US" sz="2800" dirty="0">
              <a:latin typeface="Times New Roman" panose="02020603050405020304" pitchFamily="18" charset="0"/>
              <a:ea typeface="宋体" panose="02010600030101010101" pitchFamily="2" charset="-122"/>
            </a:endParaRPr>
          </a:p>
        </p:txBody>
      </p:sp>
      <p:pic>
        <p:nvPicPr>
          <p:cNvPr id="102404" name="Picture 4" descr="Fe-C亚共析结晶过程0"/>
          <p:cNvPicPr>
            <a:picLocks noChangeAspect="1"/>
          </p:cNvPicPr>
          <p:nvPr/>
        </p:nvPicPr>
        <p:blipFill>
          <a:blip r:embed="rId2"/>
          <a:stretch>
            <a:fillRect/>
          </a:stretch>
        </p:blipFill>
        <p:spPr>
          <a:xfrm>
            <a:off x="4811539" y="2492896"/>
            <a:ext cx="4104134" cy="3574568"/>
          </a:xfrm>
          <a:prstGeom prst="rect">
            <a:avLst/>
          </a:prstGeom>
          <a:noFill/>
          <a:ln w="38100" cap="flat" cmpd="sng">
            <a:solidFill>
              <a:srgbClr val="339966"/>
            </a:solidFill>
            <a:prstDash val="solid"/>
            <a:miter/>
            <a:headEnd type="none" w="med" len="med"/>
            <a:tailEnd type="none" w="med" len="med"/>
          </a:ln>
        </p:spPr>
      </p:pic>
      <p:pic>
        <p:nvPicPr>
          <p:cNvPr id="8" name="内容占位符 1" descr="新校徽（3M）弓之乐"/>
          <p:cNvPicPr>
            <a:picLocks noChangeAspect="1"/>
          </p:cNvPicPr>
          <p:nvPr/>
        </p:nvPicPr>
        <p:blipFill>
          <a:blip r:embed="rId3"/>
          <a:stretch>
            <a:fillRect/>
          </a:stretch>
        </p:blipFill>
        <p:spPr>
          <a:xfrm>
            <a:off x="0" y="0"/>
            <a:ext cx="746760" cy="735965"/>
          </a:xfrm>
          <a:prstGeom prst="rect">
            <a:avLst/>
          </a:prstGeom>
          <a:noFill/>
          <a:ln w="9525">
            <a:noFill/>
          </a:ln>
        </p:spPr>
      </p:pic>
      <p:sp>
        <p:nvSpPr>
          <p:cNvPr id="4" name="Text Box 3"/>
          <p:cNvSpPr txBox="1"/>
          <p:nvPr/>
        </p:nvSpPr>
        <p:spPr>
          <a:xfrm>
            <a:off x="1259632" y="373857"/>
            <a:ext cx="7127875" cy="886205"/>
          </a:xfrm>
          <a:prstGeom prst="rect">
            <a:avLst/>
          </a:prstGeom>
          <a:noFill/>
          <a:ln w="9525">
            <a:noFill/>
          </a:ln>
        </p:spPr>
        <p:txBody>
          <a:bodyPr>
            <a:spAutoFit/>
          </a:bodyPr>
          <a:lstStyle/>
          <a:p>
            <a:pPr lvl="0">
              <a:lnSpc>
                <a:spcPct val="130000"/>
              </a:lnSpc>
              <a:spcBef>
                <a:spcPct val="20000"/>
              </a:spcBef>
              <a:buClr>
                <a:schemeClr val="accent2"/>
              </a:buClr>
              <a:buSzPct val="80000"/>
            </a:pPr>
            <a:r>
              <a:rPr lang="en-US" altLang="zh-CN" sz="4400" b="1" dirty="0">
                <a:solidFill>
                  <a:srgbClr val="FF0000"/>
                </a:solidFill>
                <a:ea typeface="华文中宋" panose="02010600040101010101" pitchFamily="2" charset="-122"/>
              </a:rPr>
              <a:t>⑵ </a:t>
            </a:r>
            <a:r>
              <a:rPr lang="zh-CN" altLang="en-US" sz="4400" b="1" dirty="0">
                <a:solidFill>
                  <a:srgbClr val="FF0000"/>
                </a:solidFill>
                <a:ea typeface="华文中宋" panose="02010600040101010101" pitchFamily="2" charset="-122"/>
              </a:rPr>
              <a:t>分析合金结晶过程</a:t>
            </a:r>
            <a:endParaRPr lang="zh-CN" altLang="en-US" sz="4400" dirty="0">
              <a:solidFill>
                <a:srgbClr val="FF0000"/>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2403"/>
                                        </p:tgtEl>
                                        <p:attrNameLst>
                                          <p:attrName>style.visibility</p:attrName>
                                        </p:attrNameLst>
                                      </p:cBhvr>
                                      <p:to>
                                        <p:strVal val="visible"/>
                                      </p:to>
                                    </p:set>
                                    <p:animEffect transition="in" filter="wipe(left)">
                                      <p:cBhvr>
                                        <p:cTn id="7" dur="500"/>
                                        <p:tgtEl>
                                          <p:spTgt spid="102403"/>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02404"/>
                                        </p:tgtEl>
                                        <p:attrNameLst>
                                          <p:attrName>style.visibility</p:attrName>
                                        </p:attrNameLst>
                                      </p:cBhvr>
                                      <p:to>
                                        <p:strVal val="visible"/>
                                      </p:to>
                                    </p:set>
                                    <p:animEffect transition="in" filter="wipe(up)">
                                      <p:cBhvr>
                                        <p:cTn id="11" dur="500"/>
                                        <p:tgtEl>
                                          <p:spTgt spid="102404"/>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3" grpId="0"/>
      <p:bldP spid="4"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日期占位符 3"/>
          <p:cNvSpPr txBox="1">
            <a:spLocks noGrp="1"/>
          </p:cNvSpPr>
          <p:nvPr>
            <p:ph type="dt" sz="half" idx="10"/>
          </p:nvPr>
        </p:nvSpPr>
        <p:spPr>
          <a:xfrm>
            <a:off x="0" y="6510338"/>
            <a:ext cx="2233613"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99331" name="灯片编号占位符 5"/>
          <p:cNvSpPr txBox="1">
            <a:spLocks noGrp="1"/>
          </p:cNvSpPr>
          <p:nvPr>
            <p:ph type="sldNum" sz="quarter" idx="12"/>
          </p:nvPr>
        </p:nvSpPr>
        <p:spPr>
          <a:xfrm>
            <a:off x="8566990" y="6622205"/>
            <a:ext cx="585557" cy="236140"/>
          </a:xfrm>
        </p:spPr>
        <p:txBody>
          <a:bodyPr lIns="92075" tIns="46038" rIns="92075" bIns="46038" anchor="ctr"/>
          <a:lstStyle/>
          <a:p>
            <a:pPr algn="r" eaLnBrk="1" hangingPunct="1"/>
            <a:fld id="{9A0DB2DC-4C9A-4742-B13C-FB6460FD3503}" type="slidenum">
              <a:rPr lang="en-US" altLang="zh-CN" sz="1400" dirty="0"/>
              <a:t>102</a:t>
            </a:fld>
            <a:endParaRPr lang="en-US" altLang="zh-CN" sz="1400" dirty="0"/>
          </a:p>
        </p:txBody>
      </p:sp>
      <p:sp>
        <p:nvSpPr>
          <p:cNvPr id="103426" name="Rectangle 2"/>
          <p:cNvSpPr>
            <a:spLocks noGrp="1"/>
          </p:cNvSpPr>
          <p:nvPr>
            <p:ph idx="1"/>
          </p:nvPr>
        </p:nvSpPr>
        <p:spPr>
          <a:xfrm>
            <a:off x="423623" y="1822446"/>
            <a:ext cx="4690110" cy="4906419"/>
          </a:xfrm>
        </p:spPr>
        <p:txBody>
          <a:bodyPr vert="horz" wrap="square" lIns="91440" tIns="45720" rIns="91440" bIns="45720" anchor="t"/>
          <a:lstStyle/>
          <a:p>
            <a:pPr eaLnBrk="1" hangingPunct="1">
              <a:lnSpc>
                <a:spcPct val="110000"/>
              </a:lnSpc>
            </a:pPr>
            <a:r>
              <a:rPr lang="en-US" altLang="zh-CN" sz="2800" b="1" i="1" dirty="0">
                <a:ea typeface="华文中宋" panose="02010600040101010101" pitchFamily="2" charset="-122"/>
              </a:rPr>
              <a:t>b</a:t>
            </a:r>
            <a:r>
              <a:rPr lang="en-US" altLang="zh-CN" sz="2800" b="1" dirty="0">
                <a:ea typeface="华文中宋" panose="02010600040101010101" pitchFamily="2" charset="-122"/>
              </a:rPr>
              <a:t>. </a:t>
            </a:r>
            <a:r>
              <a:rPr lang="zh-CN" altLang="en-US" sz="2800" b="1" dirty="0">
                <a:ea typeface="华文中宋" panose="02010600040101010101" pitchFamily="2" charset="-122"/>
              </a:rPr>
              <a:t>在</a:t>
            </a:r>
            <a:r>
              <a:rPr lang="zh-CN" altLang="en-US" sz="2800" b="1" dirty="0">
                <a:solidFill>
                  <a:srgbClr val="0000FF"/>
                </a:solidFill>
                <a:ea typeface="华文中宋" panose="02010600040101010101" pitchFamily="2" charset="-122"/>
              </a:rPr>
              <a:t>两相区</a:t>
            </a:r>
            <a:r>
              <a:rPr lang="zh-CN" altLang="en-US" sz="2800" b="1" dirty="0">
                <a:ea typeface="华文中宋" panose="02010600040101010101" pitchFamily="2" charset="-122"/>
              </a:rPr>
              <a:t>，两相的成分随温度沿各自的相线变化</a:t>
            </a:r>
            <a:r>
              <a:rPr lang="en-US" altLang="zh-CN" sz="2800" b="1" dirty="0">
                <a:ea typeface="华文中宋" panose="02010600040101010101" pitchFamily="2" charset="-122"/>
              </a:rPr>
              <a:t>,</a:t>
            </a:r>
            <a:r>
              <a:rPr lang="zh-CN" altLang="en-US" sz="2800" b="1" dirty="0">
                <a:ea typeface="华文中宋" panose="02010600040101010101" pitchFamily="2" charset="-122"/>
              </a:rPr>
              <a:t>各相和各组织组成物的相对重量可由</a:t>
            </a:r>
            <a:r>
              <a:rPr lang="zh-CN" altLang="en-US" sz="2800" b="1" dirty="0">
                <a:solidFill>
                  <a:srgbClr val="0000FF"/>
                </a:solidFill>
                <a:ea typeface="华文中宋" panose="02010600040101010101" pitchFamily="2" charset="-122"/>
              </a:rPr>
              <a:t>杠杆定律</a:t>
            </a:r>
            <a:r>
              <a:rPr lang="zh-CN" altLang="en-US" sz="2800" b="1" dirty="0">
                <a:ea typeface="华文中宋" panose="02010600040101010101" pitchFamily="2" charset="-122"/>
              </a:rPr>
              <a:t>求出。</a:t>
            </a:r>
            <a:endParaRPr lang="en-US" altLang="zh-CN" sz="2800" b="1" dirty="0">
              <a:ea typeface="华文中宋" panose="02010600040101010101" pitchFamily="2" charset="-122"/>
            </a:endParaRPr>
          </a:p>
          <a:p>
            <a:pPr marL="0" indent="0" eaLnBrk="1" hangingPunct="1">
              <a:lnSpc>
                <a:spcPct val="110000"/>
              </a:lnSpc>
              <a:buNone/>
            </a:pPr>
            <a:r>
              <a:rPr lang="zh-CN" altLang="en-US" sz="2800" b="1" dirty="0">
                <a:ea typeface="华文中宋" panose="02010600040101010101" pitchFamily="2" charset="-122"/>
              </a:rPr>
              <a:t>（</a:t>
            </a:r>
            <a:r>
              <a:rPr lang="zh-CN" altLang="en-US" sz="2800" b="1" dirty="0">
                <a:solidFill>
                  <a:srgbClr val="0000FF"/>
                </a:solidFill>
                <a:ea typeface="华文中宋" panose="02010600040101010101" pitchFamily="2" charset="-122"/>
              </a:rPr>
              <a:t>合金成分</a:t>
            </a:r>
            <a:r>
              <a:rPr lang="zh-CN" altLang="en-US" sz="2800" b="1" dirty="0">
                <a:ea typeface="华文中宋" panose="02010600040101010101" pitchFamily="2" charset="-122"/>
              </a:rPr>
              <a:t>为杠杆的</a:t>
            </a:r>
            <a:r>
              <a:rPr lang="zh-CN" altLang="en-US" sz="2800" b="1" dirty="0">
                <a:solidFill>
                  <a:srgbClr val="0000FF"/>
                </a:solidFill>
                <a:ea typeface="华文中宋" panose="02010600040101010101" pitchFamily="2" charset="-122"/>
              </a:rPr>
              <a:t>支点</a:t>
            </a:r>
            <a:r>
              <a:rPr lang="zh-CN" altLang="en-US" sz="2800" b="1" dirty="0">
                <a:ea typeface="华文中宋" panose="02010600040101010101" pitchFamily="2" charset="-122"/>
              </a:rPr>
              <a:t>，相或组织</a:t>
            </a:r>
            <a:r>
              <a:rPr lang="zh-CN" altLang="en-US" sz="2800" b="1" dirty="0">
                <a:solidFill>
                  <a:srgbClr val="0000FF"/>
                </a:solidFill>
                <a:ea typeface="华文中宋" panose="02010600040101010101" pitchFamily="2" charset="-122"/>
              </a:rPr>
              <a:t>组成物的成分</a:t>
            </a:r>
            <a:r>
              <a:rPr lang="zh-CN" altLang="en-US" sz="2800" b="1" dirty="0">
                <a:ea typeface="华文中宋" panose="02010600040101010101" pitchFamily="2" charset="-122"/>
              </a:rPr>
              <a:t>为</a:t>
            </a:r>
            <a:r>
              <a:rPr lang="zh-CN" altLang="en-US" sz="2800" b="1" dirty="0">
                <a:solidFill>
                  <a:srgbClr val="0000FF"/>
                </a:solidFill>
                <a:ea typeface="华文中宋" panose="02010600040101010101" pitchFamily="2" charset="-122"/>
              </a:rPr>
              <a:t>杠杆的端点</a:t>
            </a:r>
            <a:r>
              <a:rPr lang="zh-CN" altLang="en-US" sz="2800" b="1" dirty="0">
                <a:ea typeface="华文中宋" panose="02010600040101010101" pitchFamily="2" charset="-122"/>
              </a:rPr>
              <a:t>。） </a:t>
            </a:r>
          </a:p>
          <a:p>
            <a:pPr eaLnBrk="1" hangingPunct="1">
              <a:lnSpc>
                <a:spcPct val="110000"/>
              </a:lnSpc>
            </a:pPr>
            <a:r>
              <a:rPr lang="en-US" altLang="zh-CN" sz="2800" b="1" i="1" dirty="0">
                <a:ea typeface="华文中宋" panose="02010600040101010101" pitchFamily="2" charset="-122"/>
              </a:rPr>
              <a:t>c</a:t>
            </a:r>
            <a:r>
              <a:rPr lang="en-US" altLang="zh-CN" sz="2800" b="1" dirty="0">
                <a:ea typeface="华文中宋" panose="02010600040101010101" pitchFamily="2" charset="-122"/>
              </a:rPr>
              <a:t>. </a:t>
            </a:r>
            <a:r>
              <a:rPr lang="zh-CN" altLang="en-US" sz="2800" b="1" dirty="0">
                <a:ea typeface="华文中宋" panose="02010600040101010101" pitchFamily="2" charset="-122"/>
              </a:rPr>
              <a:t>在</a:t>
            </a:r>
            <a:r>
              <a:rPr lang="zh-CN" altLang="en-US" sz="2800" b="1" dirty="0">
                <a:solidFill>
                  <a:srgbClr val="0000FF"/>
                </a:solidFill>
                <a:ea typeface="华文中宋" panose="02010600040101010101" pitchFamily="2" charset="-122"/>
              </a:rPr>
              <a:t>三相区</a:t>
            </a:r>
            <a:r>
              <a:rPr lang="zh-CN" altLang="en-US" sz="2800" b="1" dirty="0">
                <a:ea typeface="华文中宋" panose="02010600040101010101" pitchFamily="2" charset="-122"/>
              </a:rPr>
              <a:t>，三个相成分固定，重量不断变化，杠杆定律不适用。   </a:t>
            </a:r>
          </a:p>
        </p:txBody>
      </p:sp>
      <p:grpSp>
        <p:nvGrpSpPr>
          <p:cNvPr id="2" name="Group 58"/>
          <p:cNvGrpSpPr/>
          <p:nvPr/>
        </p:nvGrpSpPr>
        <p:grpSpPr>
          <a:xfrm>
            <a:off x="5537357" y="1931795"/>
            <a:ext cx="3429800" cy="4910455"/>
            <a:chOff x="3216" y="333"/>
            <a:chExt cx="2477" cy="3651"/>
          </a:xfrm>
        </p:grpSpPr>
        <p:sp>
          <p:nvSpPr>
            <p:cNvPr id="99335" name="Line 28"/>
            <p:cNvSpPr>
              <a:spLocks noChangeAspect="1"/>
            </p:cNvSpPr>
            <p:nvPr/>
          </p:nvSpPr>
          <p:spPr>
            <a:xfrm>
              <a:off x="3481" y="2465"/>
              <a:ext cx="1767" cy="0"/>
            </a:xfrm>
            <a:prstGeom prst="line">
              <a:avLst/>
            </a:prstGeom>
            <a:ln w="38100" cap="flat" cmpd="sng">
              <a:solidFill>
                <a:schemeClr val="accent1"/>
              </a:solidFill>
              <a:prstDash val="solid"/>
              <a:miter/>
              <a:headEnd type="none" w="med" len="med"/>
              <a:tailEnd type="none" w="med" len="med"/>
            </a:ln>
          </p:spPr>
        </p:sp>
        <p:sp>
          <p:nvSpPr>
            <p:cNvPr id="99336" name="Line 29"/>
            <p:cNvSpPr>
              <a:spLocks noChangeAspect="1"/>
            </p:cNvSpPr>
            <p:nvPr/>
          </p:nvSpPr>
          <p:spPr>
            <a:xfrm>
              <a:off x="4475" y="2465"/>
              <a:ext cx="0" cy="1422"/>
            </a:xfrm>
            <a:prstGeom prst="line">
              <a:avLst/>
            </a:prstGeom>
            <a:ln w="38100" cap="flat" cmpd="sng">
              <a:solidFill>
                <a:schemeClr val="tx1"/>
              </a:solidFill>
              <a:prstDash val="solid"/>
              <a:miter/>
              <a:headEnd type="none" w="med" len="med"/>
              <a:tailEnd type="none" w="med" len="med"/>
            </a:ln>
          </p:spPr>
        </p:sp>
        <p:sp>
          <p:nvSpPr>
            <p:cNvPr id="99337" name="Line 30"/>
            <p:cNvSpPr>
              <a:spLocks noChangeAspect="1"/>
            </p:cNvSpPr>
            <p:nvPr/>
          </p:nvSpPr>
          <p:spPr>
            <a:xfrm>
              <a:off x="3481" y="2465"/>
              <a:ext cx="0" cy="592"/>
            </a:xfrm>
            <a:prstGeom prst="line">
              <a:avLst/>
            </a:prstGeom>
            <a:ln w="28575" cap="flat" cmpd="sng">
              <a:solidFill>
                <a:schemeClr val="folHlink"/>
              </a:solidFill>
              <a:prstDash val="solid"/>
              <a:miter/>
              <a:headEnd type="none" w="med" len="med"/>
              <a:tailEnd type="triangle" w="med" len="med"/>
            </a:ln>
          </p:spPr>
        </p:sp>
        <p:sp>
          <p:nvSpPr>
            <p:cNvPr id="99338" name="Line 31"/>
            <p:cNvSpPr>
              <a:spLocks noChangeAspect="1"/>
            </p:cNvSpPr>
            <p:nvPr/>
          </p:nvSpPr>
          <p:spPr>
            <a:xfrm>
              <a:off x="5248" y="2465"/>
              <a:ext cx="0" cy="829"/>
            </a:xfrm>
            <a:prstGeom prst="line">
              <a:avLst/>
            </a:prstGeom>
            <a:ln w="28575" cap="flat" cmpd="sng">
              <a:solidFill>
                <a:schemeClr val="folHlink"/>
              </a:solidFill>
              <a:prstDash val="solid"/>
              <a:miter/>
              <a:headEnd type="none" w="med" len="med"/>
              <a:tailEnd type="triangle" w="med" len="med"/>
            </a:ln>
          </p:spPr>
        </p:sp>
        <p:sp>
          <p:nvSpPr>
            <p:cNvPr id="99339" name="Line 32"/>
            <p:cNvSpPr>
              <a:spLocks noChangeAspect="1"/>
            </p:cNvSpPr>
            <p:nvPr/>
          </p:nvSpPr>
          <p:spPr>
            <a:xfrm>
              <a:off x="4309" y="3887"/>
              <a:ext cx="332" cy="0"/>
            </a:xfrm>
            <a:prstGeom prst="line">
              <a:avLst/>
            </a:prstGeom>
            <a:ln w="57150" cap="flat" cmpd="sng">
              <a:solidFill>
                <a:schemeClr val="tx1"/>
              </a:solidFill>
              <a:prstDash val="solid"/>
              <a:miter/>
              <a:headEnd type="none" w="med" len="med"/>
              <a:tailEnd type="none" w="med" len="med"/>
            </a:ln>
          </p:spPr>
        </p:sp>
        <p:sp>
          <p:nvSpPr>
            <p:cNvPr id="99340" name="Text Box 33"/>
            <p:cNvSpPr txBox="1">
              <a:spLocks noChangeAspect="1"/>
            </p:cNvSpPr>
            <p:nvPr/>
          </p:nvSpPr>
          <p:spPr>
            <a:xfrm>
              <a:off x="4123" y="2184"/>
              <a:ext cx="839" cy="275"/>
            </a:xfrm>
            <a:prstGeom prst="rect">
              <a:avLst/>
            </a:prstGeom>
            <a:noFill/>
            <a:ln w="9525">
              <a:noFill/>
            </a:ln>
          </p:spPr>
          <p:txBody>
            <a:bodyPr wrap="square">
              <a:spAutoFit/>
            </a:bodyPr>
            <a:lstStyle/>
            <a:p>
              <a:pPr lvl="0" eaLnBrk="1" hangingPunct="1">
                <a:spcBef>
                  <a:spcPct val="50000"/>
                </a:spcBef>
              </a:pPr>
              <a:r>
                <a:rPr lang="zh-CN" altLang="en-US" sz="1800" b="1" dirty="0">
                  <a:solidFill>
                    <a:srgbClr val="0000FF"/>
                  </a:solidFill>
                  <a:latin typeface="Times New Roman" panose="02020603050405020304" pitchFamily="18" charset="0"/>
                  <a:ea typeface="宋体" panose="02010600030101010101" pitchFamily="2" charset="-122"/>
                </a:rPr>
                <a:t>合金成分</a:t>
              </a:r>
            </a:p>
          </p:txBody>
        </p:sp>
        <p:sp>
          <p:nvSpPr>
            <p:cNvPr id="99341" name="Text Box 34"/>
            <p:cNvSpPr txBox="1">
              <a:spLocks noChangeAspect="1"/>
            </p:cNvSpPr>
            <p:nvPr/>
          </p:nvSpPr>
          <p:spPr>
            <a:xfrm>
              <a:off x="3216" y="2196"/>
              <a:ext cx="896" cy="275"/>
            </a:xfrm>
            <a:prstGeom prst="rect">
              <a:avLst/>
            </a:prstGeom>
            <a:noFill/>
            <a:ln w="9525">
              <a:noFill/>
            </a:ln>
          </p:spPr>
          <p:txBody>
            <a:bodyPr wrap="square">
              <a:spAutoFit/>
            </a:bodyPr>
            <a:lstStyle/>
            <a:p>
              <a:pPr lvl="0" eaLnBrk="1" hangingPunct="1">
                <a:spcBef>
                  <a:spcPct val="50000"/>
                </a:spcBef>
              </a:pPr>
              <a:r>
                <a:rPr lang="zh-CN" altLang="en-US" sz="1800" b="1" dirty="0">
                  <a:solidFill>
                    <a:srgbClr val="0000FF"/>
                  </a:solidFill>
                  <a:latin typeface="Times New Roman" panose="02020603050405020304" pitchFamily="18" charset="0"/>
                  <a:ea typeface="宋体" panose="02010600030101010101" pitchFamily="2" charset="-122"/>
                </a:rPr>
                <a:t>组织</a:t>
              </a:r>
              <a:r>
                <a:rPr lang="en-US" altLang="zh-CN" sz="1800" b="1" dirty="0">
                  <a:solidFill>
                    <a:srgbClr val="0000FF"/>
                  </a:solidFill>
                  <a:latin typeface="Times New Roman" panose="02020603050405020304" pitchFamily="18" charset="0"/>
                  <a:ea typeface="宋体" panose="02010600030101010101" pitchFamily="2" charset="-122"/>
                </a:rPr>
                <a:t>1</a:t>
              </a:r>
              <a:r>
                <a:rPr lang="zh-CN" altLang="en-US" sz="1800" b="1" dirty="0">
                  <a:solidFill>
                    <a:srgbClr val="0000FF"/>
                  </a:solidFill>
                  <a:latin typeface="Times New Roman" panose="02020603050405020304" pitchFamily="18" charset="0"/>
                  <a:ea typeface="宋体" panose="02010600030101010101" pitchFamily="2" charset="-122"/>
                </a:rPr>
                <a:t>成分</a:t>
              </a:r>
            </a:p>
          </p:txBody>
        </p:sp>
        <p:sp>
          <p:nvSpPr>
            <p:cNvPr id="99342" name="Text Box 35"/>
            <p:cNvSpPr txBox="1">
              <a:spLocks noChangeAspect="1"/>
            </p:cNvSpPr>
            <p:nvPr/>
          </p:nvSpPr>
          <p:spPr>
            <a:xfrm>
              <a:off x="4803" y="2196"/>
              <a:ext cx="890" cy="275"/>
            </a:xfrm>
            <a:prstGeom prst="rect">
              <a:avLst/>
            </a:prstGeom>
            <a:noFill/>
            <a:ln w="9525">
              <a:noFill/>
            </a:ln>
          </p:spPr>
          <p:txBody>
            <a:bodyPr wrap="square">
              <a:spAutoFit/>
            </a:bodyPr>
            <a:lstStyle/>
            <a:p>
              <a:pPr lvl="0" algn="r" eaLnBrk="1" hangingPunct="1">
                <a:spcBef>
                  <a:spcPct val="50000"/>
                </a:spcBef>
              </a:pPr>
              <a:r>
                <a:rPr lang="zh-CN" altLang="en-US" sz="1800" b="1" dirty="0">
                  <a:solidFill>
                    <a:srgbClr val="0000FF"/>
                  </a:solidFill>
                  <a:latin typeface="Times New Roman" panose="02020603050405020304" pitchFamily="18" charset="0"/>
                  <a:ea typeface="宋体" panose="02010600030101010101" pitchFamily="2" charset="-122"/>
                </a:rPr>
                <a:t>组织</a:t>
              </a:r>
              <a:r>
                <a:rPr lang="en-US" altLang="zh-CN" sz="1800" b="1" dirty="0">
                  <a:solidFill>
                    <a:srgbClr val="0000FF"/>
                  </a:solidFill>
                  <a:latin typeface="Times New Roman" panose="02020603050405020304" pitchFamily="18" charset="0"/>
                  <a:ea typeface="宋体" panose="02010600030101010101" pitchFamily="2" charset="-122"/>
                </a:rPr>
                <a:t>2</a:t>
              </a:r>
              <a:r>
                <a:rPr lang="zh-CN" altLang="en-US" sz="1800" b="1" dirty="0">
                  <a:solidFill>
                    <a:srgbClr val="0000FF"/>
                  </a:solidFill>
                  <a:latin typeface="Times New Roman" panose="02020603050405020304" pitchFamily="18" charset="0"/>
                  <a:ea typeface="宋体" panose="02010600030101010101" pitchFamily="2" charset="-122"/>
                </a:rPr>
                <a:t>成分</a:t>
              </a:r>
            </a:p>
          </p:txBody>
        </p:sp>
        <p:sp>
          <p:nvSpPr>
            <p:cNvPr id="99343" name="Text Box 36"/>
            <p:cNvSpPr txBox="1">
              <a:spLocks noChangeAspect="1"/>
            </p:cNvSpPr>
            <p:nvPr/>
          </p:nvSpPr>
          <p:spPr>
            <a:xfrm>
              <a:off x="3218" y="3056"/>
              <a:ext cx="600" cy="481"/>
            </a:xfrm>
            <a:prstGeom prst="rect">
              <a:avLst/>
            </a:prstGeom>
            <a:noFill/>
            <a:ln w="9525" cap="flat" cmpd="sng">
              <a:solidFill>
                <a:schemeClr val="folHlink"/>
              </a:solidFill>
              <a:prstDash val="solid"/>
              <a:miter/>
              <a:headEnd type="none" w="med" len="med"/>
              <a:tailEnd type="none" w="med" len="med"/>
            </a:ln>
          </p:spPr>
          <p:txBody>
            <a:bodyPr wrap="square">
              <a:spAutoFit/>
            </a:bodyPr>
            <a:lstStyle/>
            <a:p>
              <a:pPr lvl="0" algn="ctr" eaLnBrk="1" hangingPunct="1">
                <a:spcBef>
                  <a:spcPct val="50000"/>
                </a:spcBef>
              </a:pPr>
              <a:r>
                <a:rPr lang="zh-CN" altLang="en-US" sz="1800" b="1" dirty="0">
                  <a:solidFill>
                    <a:schemeClr val="folHlink"/>
                  </a:solidFill>
                  <a:latin typeface="Times New Roman" panose="02020603050405020304" pitchFamily="18" charset="0"/>
                  <a:ea typeface="宋体" panose="02010600030101010101" pitchFamily="2" charset="-122"/>
                </a:rPr>
                <a:t>组织</a:t>
              </a:r>
              <a:r>
                <a:rPr lang="en-US" altLang="zh-CN" sz="1800" b="1" dirty="0">
                  <a:solidFill>
                    <a:schemeClr val="folHlink"/>
                  </a:solidFill>
                  <a:latin typeface="Times New Roman" panose="02020603050405020304" pitchFamily="18" charset="0"/>
                  <a:ea typeface="宋体" panose="02010600030101010101" pitchFamily="2" charset="-122"/>
                </a:rPr>
                <a:t>1</a:t>
              </a:r>
              <a:r>
                <a:rPr lang="zh-CN" altLang="en-US" sz="1800" b="1" dirty="0">
                  <a:solidFill>
                    <a:schemeClr val="folHlink"/>
                  </a:solidFill>
                  <a:latin typeface="Times New Roman" panose="02020603050405020304" pitchFamily="18" charset="0"/>
                  <a:ea typeface="宋体" panose="02010600030101010101" pitchFamily="2" charset="-122"/>
                </a:rPr>
                <a:t>重量</a:t>
              </a:r>
            </a:p>
          </p:txBody>
        </p:sp>
        <p:sp>
          <p:nvSpPr>
            <p:cNvPr id="99344" name="Text Box 37"/>
            <p:cNvSpPr txBox="1">
              <a:spLocks noChangeAspect="1"/>
            </p:cNvSpPr>
            <p:nvPr/>
          </p:nvSpPr>
          <p:spPr>
            <a:xfrm>
              <a:off x="5001" y="3293"/>
              <a:ext cx="567" cy="481"/>
            </a:xfrm>
            <a:prstGeom prst="rect">
              <a:avLst/>
            </a:prstGeom>
            <a:noFill/>
            <a:ln w="9525" cap="flat" cmpd="sng">
              <a:solidFill>
                <a:schemeClr val="folHlink"/>
              </a:solidFill>
              <a:prstDash val="solid"/>
              <a:miter/>
              <a:headEnd type="none" w="med" len="med"/>
              <a:tailEnd type="none" w="med" len="med"/>
            </a:ln>
          </p:spPr>
          <p:txBody>
            <a:bodyPr wrap="square">
              <a:spAutoFit/>
            </a:bodyPr>
            <a:lstStyle/>
            <a:p>
              <a:pPr lvl="0" algn="ctr" eaLnBrk="1" hangingPunct="1">
                <a:spcBef>
                  <a:spcPct val="50000"/>
                </a:spcBef>
              </a:pPr>
              <a:r>
                <a:rPr lang="zh-CN" altLang="en-US" sz="1800" b="1" dirty="0">
                  <a:solidFill>
                    <a:schemeClr val="folHlink"/>
                  </a:solidFill>
                  <a:latin typeface="Times New Roman" panose="02020603050405020304" pitchFamily="18" charset="0"/>
                  <a:ea typeface="宋体" panose="02010600030101010101" pitchFamily="2" charset="-122"/>
                </a:rPr>
                <a:t>组织</a:t>
              </a:r>
              <a:r>
                <a:rPr lang="en-US" altLang="zh-CN" sz="1800" b="1" dirty="0">
                  <a:solidFill>
                    <a:schemeClr val="folHlink"/>
                  </a:solidFill>
                  <a:latin typeface="Times New Roman" panose="02020603050405020304" pitchFamily="18" charset="0"/>
                  <a:ea typeface="宋体" panose="02010600030101010101" pitchFamily="2" charset="-122"/>
                </a:rPr>
                <a:t>2</a:t>
              </a:r>
              <a:r>
                <a:rPr lang="zh-CN" altLang="en-US" sz="1800" b="1" dirty="0">
                  <a:solidFill>
                    <a:schemeClr val="folHlink"/>
                  </a:solidFill>
                  <a:latin typeface="Times New Roman" panose="02020603050405020304" pitchFamily="18" charset="0"/>
                  <a:ea typeface="宋体" panose="02010600030101010101" pitchFamily="2" charset="-122"/>
                </a:rPr>
                <a:t>重量</a:t>
              </a:r>
            </a:p>
          </p:txBody>
        </p:sp>
        <p:sp>
          <p:nvSpPr>
            <p:cNvPr id="99345" name="Line 38"/>
            <p:cNvSpPr>
              <a:spLocks noChangeAspect="1"/>
            </p:cNvSpPr>
            <p:nvPr/>
          </p:nvSpPr>
          <p:spPr>
            <a:xfrm flipH="1">
              <a:off x="4259" y="3886"/>
              <a:ext cx="45" cy="98"/>
            </a:xfrm>
            <a:prstGeom prst="line">
              <a:avLst/>
            </a:prstGeom>
            <a:ln w="9525" cap="flat" cmpd="sng">
              <a:solidFill>
                <a:schemeClr val="tx1"/>
              </a:solidFill>
              <a:prstDash val="solid"/>
              <a:miter/>
              <a:headEnd type="none" w="med" len="med"/>
              <a:tailEnd type="none" w="med" len="med"/>
            </a:ln>
          </p:spPr>
        </p:sp>
        <p:sp>
          <p:nvSpPr>
            <p:cNvPr id="99346" name="Line 39"/>
            <p:cNvSpPr>
              <a:spLocks noChangeAspect="1"/>
            </p:cNvSpPr>
            <p:nvPr/>
          </p:nvSpPr>
          <p:spPr>
            <a:xfrm flipH="1">
              <a:off x="4304" y="3886"/>
              <a:ext cx="46" cy="98"/>
            </a:xfrm>
            <a:prstGeom prst="line">
              <a:avLst/>
            </a:prstGeom>
            <a:ln w="9525" cap="flat" cmpd="sng">
              <a:solidFill>
                <a:schemeClr val="tx1"/>
              </a:solidFill>
              <a:prstDash val="solid"/>
              <a:miter/>
              <a:headEnd type="none" w="med" len="med"/>
              <a:tailEnd type="none" w="med" len="med"/>
            </a:ln>
          </p:spPr>
        </p:sp>
        <p:sp>
          <p:nvSpPr>
            <p:cNvPr id="99347" name="Line 40"/>
            <p:cNvSpPr>
              <a:spLocks noChangeAspect="1"/>
            </p:cNvSpPr>
            <p:nvPr/>
          </p:nvSpPr>
          <p:spPr>
            <a:xfrm flipH="1">
              <a:off x="4350" y="3886"/>
              <a:ext cx="45" cy="98"/>
            </a:xfrm>
            <a:prstGeom prst="line">
              <a:avLst/>
            </a:prstGeom>
            <a:ln w="9525" cap="flat" cmpd="sng">
              <a:solidFill>
                <a:schemeClr val="tx1"/>
              </a:solidFill>
              <a:prstDash val="solid"/>
              <a:miter/>
              <a:headEnd type="none" w="med" len="med"/>
              <a:tailEnd type="none" w="med" len="med"/>
            </a:ln>
          </p:spPr>
        </p:sp>
        <p:sp>
          <p:nvSpPr>
            <p:cNvPr id="99348" name="Line 41"/>
            <p:cNvSpPr>
              <a:spLocks noChangeAspect="1"/>
            </p:cNvSpPr>
            <p:nvPr/>
          </p:nvSpPr>
          <p:spPr>
            <a:xfrm flipH="1">
              <a:off x="4395" y="3886"/>
              <a:ext cx="45" cy="98"/>
            </a:xfrm>
            <a:prstGeom prst="line">
              <a:avLst/>
            </a:prstGeom>
            <a:ln w="9525" cap="flat" cmpd="sng">
              <a:solidFill>
                <a:schemeClr val="tx1"/>
              </a:solidFill>
              <a:prstDash val="solid"/>
              <a:miter/>
              <a:headEnd type="none" w="med" len="med"/>
              <a:tailEnd type="none" w="med" len="med"/>
            </a:ln>
          </p:spPr>
        </p:sp>
        <p:sp>
          <p:nvSpPr>
            <p:cNvPr id="99349" name="Line 42"/>
            <p:cNvSpPr>
              <a:spLocks noChangeAspect="1"/>
            </p:cNvSpPr>
            <p:nvPr/>
          </p:nvSpPr>
          <p:spPr>
            <a:xfrm flipH="1">
              <a:off x="4576" y="3886"/>
              <a:ext cx="46" cy="98"/>
            </a:xfrm>
            <a:prstGeom prst="line">
              <a:avLst/>
            </a:prstGeom>
            <a:ln w="9525" cap="flat" cmpd="sng">
              <a:solidFill>
                <a:schemeClr val="tx1"/>
              </a:solidFill>
              <a:prstDash val="solid"/>
              <a:miter/>
              <a:headEnd type="none" w="med" len="med"/>
              <a:tailEnd type="none" w="med" len="med"/>
            </a:ln>
          </p:spPr>
        </p:sp>
        <p:sp>
          <p:nvSpPr>
            <p:cNvPr id="99350" name="Line 43"/>
            <p:cNvSpPr>
              <a:spLocks noChangeAspect="1"/>
            </p:cNvSpPr>
            <p:nvPr/>
          </p:nvSpPr>
          <p:spPr>
            <a:xfrm flipH="1">
              <a:off x="4440" y="3886"/>
              <a:ext cx="46" cy="98"/>
            </a:xfrm>
            <a:prstGeom prst="line">
              <a:avLst/>
            </a:prstGeom>
            <a:ln w="9525" cap="flat" cmpd="sng">
              <a:solidFill>
                <a:schemeClr val="tx1"/>
              </a:solidFill>
              <a:prstDash val="solid"/>
              <a:miter/>
              <a:headEnd type="none" w="med" len="med"/>
              <a:tailEnd type="none" w="med" len="med"/>
            </a:ln>
          </p:spPr>
        </p:sp>
        <p:sp>
          <p:nvSpPr>
            <p:cNvPr id="99351" name="Line 44"/>
            <p:cNvSpPr>
              <a:spLocks noChangeAspect="1"/>
            </p:cNvSpPr>
            <p:nvPr/>
          </p:nvSpPr>
          <p:spPr>
            <a:xfrm flipH="1">
              <a:off x="4486" y="3886"/>
              <a:ext cx="45" cy="98"/>
            </a:xfrm>
            <a:prstGeom prst="line">
              <a:avLst/>
            </a:prstGeom>
            <a:ln w="9525" cap="flat" cmpd="sng">
              <a:solidFill>
                <a:schemeClr val="tx1"/>
              </a:solidFill>
              <a:prstDash val="solid"/>
              <a:miter/>
              <a:headEnd type="none" w="med" len="med"/>
              <a:tailEnd type="none" w="med" len="med"/>
            </a:ln>
          </p:spPr>
        </p:sp>
        <p:sp>
          <p:nvSpPr>
            <p:cNvPr id="99352" name="Line 45"/>
            <p:cNvSpPr>
              <a:spLocks noChangeAspect="1"/>
            </p:cNvSpPr>
            <p:nvPr/>
          </p:nvSpPr>
          <p:spPr>
            <a:xfrm flipH="1">
              <a:off x="4531" y="3886"/>
              <a:ext cx="45" cy="98"/>
            </a:xfrm>
            <a:prstGeom prst="line">
              <a:avLst/>
            </a:prstGeom>
            <a:ln w="9525" cap="flat" cmpd="sng">
              <a:solidFill>
                <a:schemeClr val="tx1"/>
              </a:solidFill>
              <a:prstDash val="solid"/>
              <a:miter/>
              <a:headEnd type="none" w="med" len="med"/>
              <a:tailEnd type="none" w="med" len="med"/>
            </a:ln>
          </p:spPr>
        </p:sp>
        <p:grpSp>
          <p:nvGrpSpPr>
            <p:cNvPr id="99353" name="Group 56"/>
            <p:cNvGrpSpPr/>
            <p:nvPr/>
          </p:nvGrpSpPr>
          <p:grpSpPr>
            <a:xfrm>
              <a:off x="3216" y="333"/>
              <a:ext cx="2450" cy="2342"/>
              <a:chOff x="3216" y="333"/>
              <a:chExt cx="2450" cy="2342"/>
            </a:xfrm>
          </p:grpSpPr>
          <p:sp>
            <p:nvSpPr>
              <p:cNvPr id="99354" name="Line 8"/>
              <p:cNvSpPr>
                <a:spLocks noChangeAspect="1"/>
              </p:cNvSpPr>
              <p:nvPr/>
            </p:nvSpPr>
            <p:spPr>
              <a:xfrm>
                <a:off x="3482" y="604"/>
                <a:ext cx="1769" cy="0"/>
              </a:xfrm>
              <a:prstGeom prst="line">
                <a:avLst/>
              </a:prstGeom>
              <a:ln w="38100" cap="flat" cmpd="sng">
                <a:solidFill>
                  <a:schemeClr val="accent1"/>
                </a:solidFill>
                <a:prstDash val="solid"/>
                <a:miter/>
                <a:headEnd type="none" w="med" len="med"/>
                <a:tailEnd type="none" w="med" len="med"/>
              </a:ln>
            </p:spPr>
          </p:sp>
          <p:sp>
            <p:nvSpPr>
              <p:cNvPr id="99355" name="Line 9"/>
              <p:cNvSpPr>
                <a:spLocks noChangeAspect="1"/>
              </p:cNvSpPr>
              <p:nvPr/>
            </p:nvSpPr>
            <p:spPr>
              <a:xfrm>
                <a:off x="4477" y="604"/>
                <a:ext cx="0" cy="1424"/>
              </a:xfrm>
              <a:prstGeom prst="line">
                <a:avLst/>
              </a:prstGeom>
              <a:ln w="38100" cap="flat" cmpd="sng">
                <a:solidFill>
                  <a:schemeClr val="tx1"/>
                </a:solidFill>
                <a:prstDash val="solid"/>
                <a:miter/>
                <a:headEnd type="none" w="med" len="med"/>
                <a:tailEnd type="none" w="med" len="med"/>
              </a:ln>
            </p:spPr>
          </p:sp>
          <p:sp>
            <p:nvSpPr>
              <p:cNvPr id="99356" name="Line 10"/>
              <p:cNvSpPr>
                <a:spLocks noChangeAspect="1"/>
              </p:cNvSpPr>
              <p:nvPr/>
            </p:nvSpPr>
            <p:spPr>
              <a:xfrm>
                <a:off x="3482" y="604"/>
                <a:ext cx="0" cy="593"/>
              </a:xfrm>
              <a:prstGeom prst="line">
                <a:avLst/>
              </a:prstGeom>
              <a:ln w="28575" cap="flat" cmpd="sng">
                <a:solidFill>
                  <a:schemeClr val="folHlink"/>
                </a:solidFill>
                <a:prstDash val="solid"/>
                <a:miter/>
                <a:headEnd type="none" w="med" len="med"/>
                <a:tailEnd type="triangle" w="med" len="med"/>
              </a:ln>
            </p:spPr>
          </p:sp>
          <p:sp>
            <p:nvSpPr>
              <p:cNvPr id="99357" name="Line 11"/>
              <p:cNvSpPr>
                <a:spLocks noChangeAspect="1"/>
              </p:cNvSpPr>
              <p:nvPr/>
            </p:nvSpPr>
            <p:spPr>
              <a:xfrm>
                <a:off x="5251" y="604"/>
                <a:ext cx="0" cy="830"/>
              </a:xfrm>
              <a:prstGeom prst="line">
                <a:avLst/>
              </a:prstGeom>
              <a:ln w="28575" cap="flat" cmpd="sng">
                <a:solidFill>
                  <a:schemeClr val="folHlink"/>
                </a:solidFill>
                <a:prstDash val="solid"/>
                <a:miter/>
                <a:headEnd type="none" w="med" len="med"/>
                <a:tailEnd type="triangle" w="med" len="med"/>
              </a:ln>
            </p:spPr>
          </p:sp>
          <p:sp>
            <p:nvSpPr>
              <p:cNvPr id="99358" name="Line 12"/>
              <p:cNvSpPr>
                <a:spLocks noChangeAspect="1"/>
              </p:cNvSpPr>
              <p:nvPr/>
            </p:nvSpPr>
            <p:spPr>
              <a:xfrm>
                <a:off x="4311" y="2028"/>
                <a:ext cx="332" cy="0"/>
              </a:xfrm>
              <a:prstGeom prst="line">
                <a:avLst/>
              </a:prstGeom>
              <a:ln w="57150" cap="flat" cmpd="sng">
                <a:solidFill>
                  <a:schemeClr val="tx1"/>
                </a:solidFill>
                <a:prstDash val="solid"/>
                <a:miter/>
                <a:headEnd type="none" w="med" len="med"/>
                <a:tailEnd type="none" w="med" len="med"/>
              </a:ln>
            </p:spPr>
          </p:sp>
          <p:sp>
            <p:nvSpPr>
              <p:cNvPr id="99359" name="Text Box 13"/>
              <p:cNvSpPr txBox="1">
                <a:spLocks noChangeAspect="1"/>
              </p:cNvSpPr>
              <p:nvPr/>
            </p:nvSpPr>
            <p:spPr>
              <a:xfrm>
                <a:off x="4079" y="336"/>
                <a:ext cx="807" cy="275"/>
              </a:xfrm>
              <a:prstGeom prst="rect">
                <a:avLst/>
              </a:prstGeom>
              <a:noFill/>
              <a:ln w="9525">
                <a:noFill/>
              </a:ln>
            </p:spPr>
            <p:txBody>
              <a:bodyPr wrap="square">
                <a:spAutoFit/>
              </a:bodyPr>
              <a:lstStyle/>
              <a:p>
                <a:pPr lvl="0" eaLnBrk="1" hangingPunct="1">
                  <a:spcBef>
                    <a:spcPct val="50000"/>
                  </a:spcBef>
                </a:pPr>
                <a:r>
                  <a:rPr lang="zh-CN" altLang="en-US" sz="1800" b="1" dirty="0">
                    <a:solidFill>
                      <a:srgbClr val="0000FF"/>
                    </a:solidFill>
                    <a:latin typeface="Times New Roman" panose="02020603050405020304" pitchFamily="18" charset="0"/>
                    <a:ea typeface="宋体" panose="02010600030101010101" pitchFamily="2" charset="-122"/>
                  </a:rPr>
                  <a:t>合金成分</a:t>
                </a:r>
              </a:p>
            </p:txBody>
          </p:sp>
          <p:sp>
            <p:nvSpPr>
              <p:cNvPr id="99360" name="Text Box 14"/>
              <p:cNvSpPr txBox="1">
                <a:spLocks noChangeAspect="1"/>
              </p:cNvSpPr>
              <p:nvPr/>
            </p:nvSpPr>
            <p:spPr>
              <a:xfrm>
                <a:off x="3216" y="336"/>
                <a:ext cx="727" cy="275"/>
              </a:xfrm>
              <a:prstGeom prst="rect">
                <a:avLst/>
              </a:prstGeom>
              <a:noFill/>
              <a:ln w="9525">
                <a:noFill/>
              </a:ln>
            </p:spPr>
            <p:txBody>
              <a:bodyPr wrap="square">
                <a:spAutoFit/>
              </a:bodyPr>
              <a:lstStyle/>
              <a:p>
                <a:pPr lvl="0" eaLnBrk="1" hangingPunct="1">
                  <a:spcBef>
                    <a:spcPct val="50000"/>
                  </a:spcBef>
                </a:pPr>
                <a:r>
                  <a:rPr lang="zh-CN" altLang="en-US" sz="1800" b="1" dirty="0">
                    <a:solidFill>
                      <a:srgbClr val="0000FF"/>
                    </a:solidFill>
                    <a:latin typeface="Times New Roman" panose="02020603050405020304" pitchFamily="18" charset="0"/>
                    <a:ea typeface="宋体" panose="02010600030101010101" pitchFamily="2" charset="-122"/>
                  </a:rPr>
                  <a:t>相</a:t>
                </a:r>
                <a:r>
                  <a:rPr lang="en-US" altLang="zh-CN" sz="1800" b="1" dirty="0">
                    <a:solidFill>
                      <a:srgbClr val="0000FF"/>
                    </a:solidFill>
                    <a:latin typeface="Times New Roman" panose="02020603050405020304" pitchFamily="18" charset="0"/>
                    <a:ea typeface="宋体" panose="02010600030101010101" pitchFamily="2" charset="-122"/>
                  </a:rPr>
                  <a:t>1</a:t>
                </a:r>
                <a:r>
                  <a:rPr lang="zh-CN" altLang="en-US" sz="1800" b="1" dirty="0">
                    <a:solidFill>
                      <a:srgbClr val="0000FF"/>
                    </a:solidFill>
                    <a:latin typeface="Times New Roman" panose="02020603050405020304" pitchFamily="18" charset="0"/>
                    <a:ea typeface="宋体" panose="02010600030101010101" pitchFamily="2" charset="-122"/>
                  </a:rPr>
                  <a:t>成分</a:t>
                </a:r>
              </a:p>
            </p:txBody>
          </p:sp>
          <p:sp>
            <p:nvSpPr>
              <p:cNvPr id="99361" name="Text Box 15"/>
              <p:cNvSpPr txBox="1">
                <a:spLocks noChangeAspect="1"/>
              </p:cNvSpPr>
              <p:nvPr/>
            </p:nvSpPr>
            <p:spPr>
              <a:xfrm>
                <a:off x="4939" y="336"/>
                <a:ext cx="727" cy="275"/>
              </a:xfrm>
              <a:prstGeom prst="rect">
                <a:avLst/>
              </a:prstGeom>
              <a:noFill/>
              <a:ln w="9525">
                <a:noFill/>
              </a:ln>
            </p:spPr>
            <p:txBody>
              <a:bodyPr wrap="square">
                <a:spAutoFit/>
              </a:bodyPr>
              <a:lstStyle/>
              <a:p>
                <a:pPr lvl="0" eaLnBrk="1" hangingPunct="1">
                  <a:spcBef>
                    <a:spcPct val="50000"/>
                  </a:spcBef>
                </a:pPr>
                <a:r>
                  <a:rPr lang="zh-CN" altLang="en-US" sz="1800" b="1" dirty="0">
                    <a:solidFill>
                      <a:srgbClr val="0000FF"/>
                    </a:solidFill>
                    <a:latin typeface="Times New Roman" panose="02020603050405020304" pitchFamily="18" charset="0"/>
                    <a:ea typeface="宋体" panose="02010600030101010101" pitchFamily="2" charset="-122"/>
                  </a:rPr>
                  <a:t>相</a:t>
                </a:r>
                <a:r>
                  <a:rPr lang="en-US" altLang="zh-CN" sz="1800" b="1" dirty="0">
                    <a:solidFill>
                      <a:srgbClr val="0000FF"/>
                    </a:solidFill>
                    <a:latin typeface="Times New Roman" panose="02020603050405020304" pitchFamily="18" charset="0"/>
                    <a:ea typeface="宋体" panose="02010600030101010101" pitchFamily="2" charset="-122"/>
                  </a:rPr>
                  <a:t>2</a:t>
                </a:r>
                <a:r>
                  <a:rPr lang="zh-CN" altLang="en-US" sz="1800" b="1" dirty="0">
                    <a:solidFill>
                      <a:srgbClr val="0000FF"/>
                    </a:solidFill>
                    <a:latin typeface="Times New Roman" panose="02020603050405020304" pitchFamily="18" charset="0"/>
                    <a:ea typeface="宋体" panose="02010600030101010101" pitchFamily="2" charset="-122"/>
                  </a:rPr>
                  <a:t>成分</a:t>
                </a:r>
              </a:p>
            </p:txBody>
          </p:sp>
          <p:sp>
            <p:nvSpPr>
              <p:cNvPr id="99362" name="Text Box 16"/>
              <p:cNvSpPr txBox="1">
                <a:spLocks noChangeAspect="1"/>
              </p:cNvSpPr>
              <p:nvPr/>
            </p:nvSpPr>
            <p:spPr>
              <a:xfrm>
                <a:off x="3261" y="1197"/>
                <a:ext cx="561" cy="481"/>
              </a:xfrm>
              <a:prstGeom prst="rect">
                <a:avLst/>
              </a:prstGeom>
              <a:noFill/>
              <a:ln w="9525" cap="flat" cmpd="sng">
                <a:solidFill>
                  <a:schemeClr val="folHlink"/>
                </a:solidFill>
                <a:prstDash val="solid"/>
                <a:miter/>
                <a:headEnd type="none" w="med" len="med"/>
                <a:tailEnd type="none" w="med" len="med"/>
              </a:ln>
            </p:spPr>
            <p:txBody>
              <a:bodyPr wrap="square">
                <a:spAutoFit/>
              </a:bodyPr>
              <a:lstStyle/>
              <a:p>
                <a:pPr lvl="0" algn="ctr" eaLnBrk="1" hangingPunct="1">
                  <a:spcBef>
                    <a:spcPct val="50000"/>
                  </a:spcBef>
                </a:pPr>
                <a:r>
                  <a:rPr lang="zh-CN" altLang="en-US" sz="1800" b="1" dirty="0">
                    <a:solidFill>
                      <a:schemeClr val="folHlink"/>
                    </a:solidFill>
                    <a:latin typeface="Times New Roman" panose="02020603050405020304" pitchFamily="18" charset="0"/>
                    <a:ea typeface="宋体" panose="02010600030101010101" pitchFamily="2" charset="-122"/>
                  </a:rPr>
                  <a:t>相</a:t>
                </a:r>
                <a:r>
                  <a:rPr lang="en-US" altLang="zh-CN" sz="1800" b="1" dirty="0">
                    <a:solidFill>
                      <a:schemeClr val="folHlink"/>
                    </a:solidFill>
                    <a:latin typeface="Times New Roman" panose="02020603050405020304" pitchFamily="18" charset="0"/>
                    <a:ea typeface="宋体" panose="02010600030101010101" pitchFamily="2" charset="-122"/>
                  </a:rPr>
                  <a:t>1</a:t>
                </a:r>
                <a:r>
                  <a:rPr lang="zh-CN" altLang="en-US" sz="1800" b="1" dirty="0">
                    <a:solidFill>
                      <a:schemeClr val="folHlink"/>
                    </a:solidFill>
                    <a:latin typeface="Times New Roman" panose="02020603050405020304" pitchFamily="18" charset="0"/>
                    <a:ea typeface="宋体" panose="02010600030101010101" pitchFamily="2" charset="-122"/>
                  </a:rPr>
                  <a:t>重量</a:t>
                </a:r>
              </a:p>
            </p:txBody>
          </p:sp>
          <p:sp>
            <p:nvSpPr>
              <p:cNvPr id="99363" name="Text Box 17"/>
              <p:cNvSpPr txBox="1">
                <a:spLocks noChangeAspect="1"/>
              </p:cNvSpPr>
              <p:nvPr/>
            </p:nvSpPr>
            <p:spPr>
              <a:xfrm>
                <a:off x="5030" y="1434"/>
                <a:ext cx="538" cy="481"/>
              </a:xfrm>
              <a:prstGeom prst="rect">
                <a:avLst/>
              </a:prstGeom>
              <a:noFill/>
              <a:ln w="9525" cap="flat" cmpd="sng">
                <a:solidFill>
                  <a:schemeClr val="folHlink"/>
                </a:solidFill>
                <a:prstDash val="solid"/>
                <a:miter/>
                <a:headEnd type="none" w="med" len="med"/>
                <a:tailEnd type="none" w="med" len="med"/>
              </a:ln>
            </p:spPr>
            <p:txBody>
              <a:bodyPr wrap="square">
                <a:spAutoFit/>
              </a:bodyPr>
              <a:lstStyle/>
              <a:p>
                <a:pPr lvl="0" algn="ctr" eaLnBrk="1" hangingPunct="1">
                  <a:spcBef>
                    <a:spcPct val="50000"/>
                  </a:spcBef>
                </a:pPr>
                <a:r>
                  <a:rPr lang="zh-CN" altLang="en-US" sz="1800" b="1" dirty="0">
                    <a:solidFill>
                      <a:schemeClr val="folHlink"/>
                    </a:solidFill>
                    <a:latin typeface="Times New Roman" panose="02020603050405020304" pitchFamily="18" charset="0"/>
                    <a:ea typeface="宋体" panose="02010600030101010101" pitchFamily="2" charset="-122"/>
                  </a:rPr>
                  <a:t>相</a:t>
                </a:r>
                <a:r>
                  <a:rPr lang="en-US" altLang="zh-CN" sz="1800" b="1" dirty="0">
                    <a:solidFill>
                      <a:schemeClr val="folHlink"/>
                    </a:solidFill>
                    <a:latin typeface="Times New Roman" panose="02020603050405020304" pitchFamily="18" charset="0"/>
                    <a:ea typeface="宋体" panose="02010600030101010101" pitchFamily="2" charset="-122"/>
                  </a:rPr>
                  <a:t>2</a:t>
                </a:r>
                <a:r>
                  <a:rPr lang="zh-CN" altLang="en-US" sz="1800" b="1" dirty="0">
                    <a:solidFill>
                      <a:schemeClr val="folHlink"/>
                    </a:solidFill>
                    <a:latin typeface="Times New Roman" panose="02020603050405020304" pitchFamily="18" charset="0"/>
                    <a:ea typeface="宋体" panose="02010600030101010101" pitchFamily="2" charset="-122"/>
                  </a:rPr>
                  <a:t>重量</a:t>
                </a:r>
              </a:p>
            </p:txBody>
          </p:sp>
          <p:sp>
            <p:nvSpPr>
              <p:cNvPr id="99364" name="Line 18"/>
              <p:cNvSpPr>
                <a:spLocks noChangeAspect="1"/>
              </p:cNvSpPr>
              <p:nvPr/>
            </p:nvSpPr>
            <p:spPr>
              <a:xfrm flipH="1">
                <a:off x="4259" y="2038"/>
                <a:ext cx="45" cy="98"/>
              </a:xfrm>
              <a:prstGeom prst="line">
                <a:avLst/>
              </a:prstGeom>
              <a:ln w="9525" cap="flat" cmpd="sng">
                <a:solidFill>
                  <a:schemeClr val="tx1"/>
                </a:solidFill>
                <a:prstDash val="solid"/>
                <a:miter/>
                <a:headEnd type="none" w="med" len="med"/>
                <a:tailEnd type="none" w="med" len="med"/>
              </a:ln>
            </p:spPr>
          </p:sp>
          <p:sp>
            <p:nvSpPr>
              <p:cNvPr id="99365" name="Line 19"/>
              <p:cNvSpPr>
                <a:spLocks noChangeAspect="1"/>
              </p:cNvSpPr>
              <p:nvPr/>
            </p:nvSpPr>
            <p:spPr>
              <a:xfrm flipH="1">
                <a:off x="4304" y="2038"/>
                <a:ext cx="46" cy="98"/>
              </a:xfrm>
              <a:prstGeom prst="line">
                <a:avLst/>
              </a:prstGeom>
              <a:ln w="9525" cap="flat" cmpd="sng">
                <a:solidFill>
                  <a:schemeClr val="tx1"/>
                </a:solidFill>
                <a:prstDash val="solid"/>
                <a:miter/>
                <a:headEnd type="none" w="med" len="med"/>
                <a:tailEnd type="none" w="med" len="med"/>
              </a:ln>
            </p:spPr>
          </p:sp>
          <p:sp>
            <p:nvSpPr>
              <p:cNvPr id="99366" name="Line 20"/>
              <p:cNvSpPr>
                <a:spLocks noChangeAspect="1"/>
              </p:cNvSpPr>
              <p:nvPr/>
            </p:nvSpPr>
            <p:spPr>
              <a:xfrm flipH="1">
                <a:off x="4350" y="2038"/>
                <a:ext cx="45" cy="98"/>
              </a:xfrm>
              <a:prstGeom prst="line">
                <a:avLst/>
              </a:prstGeom>
              <a:ln w="9525" cap="flat" cmpd="sng">
                <a:solidFill>
                  <a:schemeClr val="tx1"/>
                </a:solidFill>
                <a:prstDash val="solid"/>
                <a:miter/>
                <a:headEnd type="none" w="med" len="med"/>
                <a:tailEnd type="none" w="med" len="med"/>
              </a:ln>
            </p:spPr>
          </p:sp>
          <p:sp>
            <p:nvSpPr>
              <p:cNvPr id="99367" name="Line 21"/>
              <p:cNvSpPr>
                <a:spLocks noChangeAspect="1"/>
              </p:cNvSpPr>
              <p:nvPr/>
            </p:nvSpPr>
            <p:spPr>
              <a:xfrm flipH="1">
                <a:off x="4395" y="2038"/>
                <a:ext cx="45" cy="98"/>
              </a:xfrm>
              <a:prstGeom prst="line">
                <a:avLst/>
              </a:prstGeom>
              <a:ln w="9525" cap="flat" cmpd="sng">
                <a:solidFill>
                  <a:schemeClr val="tx1"/>
                </a:solidFill>
                <a:prstDash val="solid"/>
                <a:miter/>
                <a:headEnd type="none" w="med" len="med"/>
                <a:tailEnd type="none" w="med" len="med"/>
              </a:ln>
            </p:spPr>
          </p:sp>
          <p:sp>
            <p:nvSpPr>
              <p:cNvPr id="99368" name="Line 22"/>
              <p:cNvSpPr>
                <a:spLocks noChangeAspect="1"/>
              </p:cNvSpPr>
              <p:nvPr/>
            </p:nvSpPr>
            <p:spPr>
              <a:xfrm flipH="1">
                <a:off x="4576" y="2038"/>
                <a:ext cx="46" cy="98"/>
              </a:xfrm>
              <a:prstGeom prst="line">
                <a:avLst/>
              </a:prstGeom>
              <a:ln w="9525" cap="flat" cmpd="sng">
                <a:solidFill>
                  <a:schemeClr val="tx1"/>
                </a:solidFill>
                <a:prstDash val="solid"/>
                <a:miter/>
                <a:headEnd type="none" w="med" len="med"/>
                <a:tailEnd type="none" w="med" len="med"/>
              </a:ln>
            </p:spPr>
          </p:sp>
          <p:sp>
            <p:nvSpPr>
              <p:cNvPr id="99369" name="Line 23"/>
              <p:cNvSpPr>
                <a:spLocks noChangeAspect="1"/>
              </p:cNvSpPr>
              <p:nvPr/>
            </p:nvSpPr>
            <p:spPr>
              <a:xfrm flipH="1">
                <a:off x="4440" y="2038"/>
                <a:ext cx="46" cy="98"/>
              </a:xfrm>
              <a:prstGeom prst="line">
                <a:avLst/>
              </a:prstGeom>
              <a:ln w="9525" cap="flat" cmpd="sng">
                <a:solidFill>
                  <a:schemeClr val="tx1"/>
                </a:solidFill>
                <a:prstDash val="solid"/>
                <a:miter/>
                <a:headEnd type="none" w="med" len="med"/>
                <a:tailEnd type="none" w="med" len="med"/>
              </a:ln>
            </p:spPr>
          </p:sp>
          <p:sp>
            <p:nvSpPr>
              <p:cNvPr id="99370" name="Line 24"/>
              <p:cNvSpPr>
                <a:spLocks noChangeAspect="1"/>
              </p:cNvSpPr>
              <p:nvPr/>
            </p:nvSpPr>
            <p:spPr>
              <a:xfrm flipH="1">
                <a:off x="4486" y="2038"/>
                <a:ext cx="45" cy="98"/>
              </a:xfrm>
              <a:prstGeom prst="line">
                <a:avLst/>
              </a:prstGeom>
              <a:ln w="9525" cap="flat" cmpd="sng">
                <a:solidFill>
                  <a:schemeClr val="tx1"/>
                </a:solidFill>
                <a:prstDash val="solid"/>
                <a:miter/>
                <a:headEnd type="none" w="med" len="med"/>
                <a:tailEnd type="none" w="med" len="med"/>
              </a:ln>
            </p:spPr>
          </p:sp>
          <p:sp>
            <p:nvSpPr>
              <p:cNvPr id="99371" name="Line 25"/>
              <p:cNvSpPr>
                <a:spLocks noChangeAspect="1"/>
              </p:cNvSpPr>
              <p:nvPr/>
            </p:nvSpPr>
            <p:spPr>
              <a:xfrm flipH="1">
                <a:off x="4531" y="2038"/>
                <a:ext cx="45" cy="98"/>
              </a:xfrm>
              <a:prstGeom prst="line">
                <a:avLst/>
              </a:prstGeom>
              <a:ln w="9525" cap="flat" cmpd="sng">
                <a:solidFill>
                  <a:schemeClr val="tx1"/>
                </a:solidFill>
                <a:prstDash val="solid"/>
                <a:miter/>
                <a:headEnd type="none" w="med" len="med"/>
                <a:tailEnd type="none" w="med" len="med"/>
              </a:ln>
            </p:spPr>
          </p:sp>
          <p:sp>
            <p:nvSpPr>
              <p:cNvPr id="99372" name="Text Box 46"/>
              <p:cNvSpPr txBox="1">
                <a:spLocks noChangeAspect="1"/>
              </p:cNvSpPr>
              <p:nvPr/>
            </p:nvSpPr>
            <p:spPr>
              <a:xfrm>
                <a:off x="3371" y="333"/>
                <a:ext cx="528" cy="526"/>
              </a:xfrm>
              <a:prstGeom prst="rect">
                <a:avLst/>
              </a:prstGeom>
              <a:noFill/>
              <a:ln w="9525">
                <a:noFill/>
              </a:ln>
            </p:spPr>
            <p:txBody>
              <a:bodyPr wrap="square">
                <a:spAutoFit/>
              </a:bodyPr>
              <a:lstStyle/>
              <a:p>
                <a:pPr lvl="0" eaLnBrk="1" hangingPunct="1">
                  <a:spcBef>
                    <a:spcPct val="50000"/>
                  </a:spcBef>
                </a:pPr>
                <a:r>
                  <a:rPr lang="en-US" altLang="zh-CN" sz="4000" dirty="0">
                    <a:solidFill>
                      <a:srgbClr val="FF0000"/>
                    </a:solidFill>
                    <a:latin typeface="Times New Roman" panose="02020603050405020304" pitchFamily="18" charset="0"/>
                    <a:ea typeface="Times New Roman" panose="02020603050405020304" pitchFamily="18" charset="0"/>
                  </a:rPr>
                  <a:t>•</a:t>
                </a:r>
                <a:endParaRPr lang="en-US" altLang="zh-CN" sz="4000" dirty="0">
                  <a:solidFill>
                    <a:srgbClr val="FF0000"/>
                  </a:solidFill>
                  <a:latin typeface="Times New Roman" panose="02020603050405020304" pitchFamily="18" charset="0"/>
                  <a:ea typeface="宋体" panose="02010600030101010101" pitchFamily="2" charset="-122"/>
                </a:endParaRPr>
              </a:p>
            </p:txBody>
          </p:sp>
          <p:sp>
            <p:nvSpPr>
              <p:cNvPr id="99373" name="Text Box 47"/>
              <p:cNvSpPr txBox="1">
                <a:spLocks noChangeAspect="1"/>
              </p:cNvSpPr>
              <p:nvPr/>
            </p:nvSpPr>
            <p:spPr>
              <a:xfrm>
                <a:off x="5132" y="2233"/>
                <a:ext cx="272" cy="442"/>
              </a:xfrm>
              <a:prstGeom prst="rect">
                <a:avLst/>
              </a:prstGeom>
              <a:noFill/>
              <a:ln w="9525">
                <a:noFill/>
              </a:ln>
            </p:spPr>
            <p:txBody>
              <a:bodyPr>
                <a:spAutoFit/>
              </a:bodyPr>
              <a:lstStyle/>
              <a:p>
                <a:pPr lvl="0" eaLnBrk="1" hangingPunct="1">
                  <a:spcBef>
                    <a:spcPct val="50000"/>
                  </a:spcBef>
                </a:pPr>
                <a:r>
                  <a:rPr lang="en-US" altLang="zh-CN" sz="4000" dirty="0">
                    <a:solidFill>
                      <a:schemeClr val="hlink"/>
                    </a:solidFill>
                    <a:latin typeface="Times New Roman" panose="02020603050405020304" pitchFamily="18" charset="0"/>
                    <a:ea typeface="Times New Roman" panose="02020603050405020304" pitchFamily="18" charset="0"/>
                  </a:rPr>
                  <a:t>•</a:t>
                </a:r>
                <a:endParaRPr lang="en-US" altLang="zh-CN" sz="4000" dirty="0">
                  <a:solidFill>
                    <a:schemeClr val="hlink"/>
                  </a:solidFill>
                  <a:latin typeface="Times New Roman" panose="02020603050405020304" pitchFamily="18" charset="0"/>
                  <a:ea typeface="宋体" panose="02010600030101010101" pitchFamily="2" charset="-122"/>
                </a:endParaRPr>
              </a:p>
            </p:txBody>
          </p:sp>
          <p:sp>
            <p:nvSpPr>
              <p:cNvPr id="99374" name="Text Box 48"/>
              <p:cNvSpPr txBox="1">
                <a:spLocks noChangeAspect="1"/>
              </p:cNvSpPr>
              <p:nvPr/>
            </p:nvSpPr>
            <p:spPr>
              <a:xfrm>
                <a:off x="4372" y="2233"/>
                <a:ext cx="272" cy="442"/>
              </a:xfrm>
              <a:prstGeom prst="rect">
                <a:avLst/>
              </a:prstGeom>
              <a:noFill/>
              <a:ln w="9525">
                <a:noFill/>
              </a:ln>
            </p:spPr>
            <p:txBody>
              <a:bodyPr>
                <a:spAutoFit/>
              </a:bodyPr>
              <a:lstStyle/>
              <a:p>
                <a:pPr lvl="0" eaLnBrk="1" hangingPunct="1">
                  <a:spcBef>
                    <a:spcPct val="50000"/>
                  </a:spcBef>
                </a:pPr>
                <a:r>
                  <a:rPr lang="en-US" altLang="zh-CN" sz="4000" dirty="0">
                    <a:solidFill>
                      <a:schemeClr val="hlink"/>
                    </a:solidFill>
                    <a:latin typeface="Times New Roman" panose="02020603050405020304" pitchFamily="18" charset="0"/>
                    <a:ea typeface="Times New Roman" panose="02020603050405020304" pitchFamily="18" charset="0"/>
                  </a:rPr>
                  <a:t>•</a:t>
                </a:r>
                <a:endParaRPr lang="en-US" altLang="zh-CN" sz="4000" dirty="0">
                  <a:solidFill>
                    <a:schemeClr val="hlink"/>
                  </a:solidFill>
                  <a:latin typeface="Times New Roman" panose="02020603050405020304" pitchFamily="18" charset="0"/>
                  <a:ea typeface="宋体" panose="02010600030101010101" pitchFamily="2" charset="-122"/>
                </a:endParaRPr>
              </a:p>
            </p:txBody>
          </p:sp>
          <p:sp>
            <p:nvSpPr>
              <p:cNvPr id="99375" name="Text Box 49"/>
              <p:cNvSpPr txBox="1">
                <a:spLocks noChangeAspect="1"/>
              </p:cNvSpPr>
              <p:nvPr/>
            </p:nvSpPr>
            <p:spPr>
              <a:xfrm>
                <a:off x="3375" y="2233"/>
                <a:ext cx="272" cy="442"/>
              </a:xfrm>
              <a:prstGeom prst="rect">
                <a:avLst/>
              </a:prstGeom>
              <a:noFill/>
              <a:ln w="9525">
                <a:noFill/>
              </a:ln>
            </p:spPr>
            <p:txBody>
              <a:bodyPr>
                <a:spAutoFit/>
              </a:bodyPr>
              <a:lstStyle/>
              <a:p>
                <a:pPr lvl="0" eaLnBrk="1" hangingPunct="1">
                  <a:spcBef>
                    <a:spcPct val="50000"/>
                  </a:spcBef>
                </a:pPr>
                <a:r>
                  <a:rPr lang="en-US" altLang="zh-CN" sz="4000" dirty="0">
                    <a:solidFill>
                      <a:schemeClr val="hlink"/>
                    </a:solidFill>
                    <a:latin typeface="Times New Roman" panose="02020603050405020304" pitchFamily="18" charset="0"/>
                    <a:ea typeface="Times New Roman" panose="02020603050405020304" pitchFamily="18" charset="0"/>
                  </a:rPr>
                  <a:t>•</a:t>
                </a:r>
                <a:endParaRPr lang="en-US" altLang="zh-CN" sz="4000" dirty="0">
                  <a:solidFill>
                    <a:schemeClr val="hlink"/>
                  </a:solidFill>
                  <a:latin typeface="Times New Roman" panose="02020603050405020304" pitchFamily="18" charset="0"/>
                  <a:ea typeface="宋体" panose="02010600030101010101" pitchFamily="2" charset="-122"/>
                </a:endParaRPr>
              </a:p>
            </p:txBody>
          </p:sp>
          <p:sp>
            <p:nvSpPr>
              <p:cNvPr id="99376" name="Text Box 50"/>
              <p:cNvSpPr txBox="1">
                <a:spLocks noChangeAspect="1"/>
              </p:cNvSpPr>
              <p:nvPr/>
            </p:nvSpPr>
            <p:spPr>
              <a:xfrm>
                <a:off x="4358" y="333"/>
                <a:ext cx="272" cy="442"/>
              </a:xfrm>
              <a:prstGeom prst="rect">
                <a:avLst/>
              </a:prstGeom>
              <a:noFill/>
              <a:ln w="9525">
                <a:noFill/>
              </a:ln>
            </p:spPr>
            <p:txBody>
              <a:bodyPr>
                <a:spAutoFit/>
              </a:bodyPr>
              <a:lstStyle/>
              <a:p>
                <a:pPr lvl="0" eaLnBrk="1" hangingPunct="1">
                  <a:spcBef>
                    <a:spcPct val="50000"/>
                  </a:spcBef>
                </a:pPr>
                <a:r>
                  <a:rPr lang="en-US" altLang="zh-CN" sz="4000" dirty="0">
                    <a:solidFill>
                      <a:schemeClr val="hlink"/>
                    </a:solidFill>
                    <a:latin typeface="Times New Roman" panose="02020603050405020304" pitchFamily="18" charset="0"/>
                    <a:ea typeface="Times New Roman" panose="02020603050405020304" pitchFamily="18" charset="0"/>
                  </a:rPr>
                  <a:t>•</a:t>
                </a:r>
                <a:endParaRPr lang="en-US" altLang="zh-CN" sz="4000" dirty="0">
                  <a:solidFill>
                    <a:schemeClr val="hlink"/>
                  </a:solidFill>
                  <a:latin typeface="Times New Roman" panose="02020603050405020304" pitchFamily="18" charset="0"/>
                  <a:ea typeface="宋体" panose="02010600030101010101" pitchFamily="2" charset="-122"/>
                </a:endParaRPr>
              </a:p>
            </p:txBody>
          </p:sp>
          <p:sp>
            <p:nvSpPr>
              <p:cNvPr id="99377" name="Text Box 51"/>
              <p:cNvSpPr txBox="1">
                <a:spLocks noChangeAspect="1"/>
              </p:cNvSpPr>
              <p:nvPr/>
            </p:nvSpPr>
            <p:spPr>
              <a:xfrm>
                <a:off x="5132" y="333"/>
                <a:ext cx="383" cy="526"/>
              </a:xfrm>
              <a:prstGeom prst="rect">
                <a:avLst/>
              </a:prstGeom>
              <a:noFill/>
              <a:ln w="9525">
                <a:noFill/>
              </a:ln>
            </p:spPr>
            <p:txBody>
              <a:bodyPr wrap="square">
                <a:spAutoFit/>
              </a:bodyPr>
              <a:lstStyle/>
              <a:p>
                <a:pPr lvl="0" eaLnBrk="1" hangingPunct="1">
                  <a:spcBef>
                    <a:spcPct val="50000"/>
                  </a:spcBef>
                </a:pPr>
                <a:r>
                  <a:rPr lang="en-US" altLang="zh-CN" sz="4000" dirty="0">
                    <a:solidFill>
                      <a:schemeClr val="hlink"/>
                    </a:solidFill>
                    <a:latin typeface="Times New Roman" panose="02020603050405020304" pitchFamily="18" charset="0"/>
                    <a:ea typeface="Times New Roman" panose="02020603050405020304" pitchFamily="18" charset="0"/>
                  </a:rPr>
                  <a:t>•</a:t>
                </a:r>
                <a:endParaRPr lang="en-US" altLang="zh-CN" sz="4000" dirty="0">
                  <a:solidFill>
                    <a:schemeClr val="hlink"/>
                  </a:solidFill>
                  <a:latin typeface="Times New Roman" panose="02020603050405020304" pitchFamily="18" charset="0"/>
                  <a:ea typeface="宋体" panose="02010600030101010101" pitchFamily="2" charset="-122"/>
                </a:endParaRPr>
              </a:p>
            </p:txBody>
          </p:sp>
        </p:grpSp>
      </p:grpSp>
      <p:pic>
        <p:nvPicPr>
          <p:cNvPr id="50" name="内容占位符 1" descr="新校徽（3M）弓之乐"/>
          <p:cNvPicPr>
            <a:picLocks noChangeAspect="1"/>
          </p:cNvPicPr>
          <p:nvPr/>
        </p:nvPicPr>
        <p:blipFill>
          <a:blip r:embed="rId3"/>
          <a:stretch>
            <a:fillRect/>
          </a:stretch>
        </p:blipFill>
        <p:spPr>
          <a:xfrm>
            <a:off x="0" y="0"/>
            <a:ext cx="746760" cy="735965"/>
          </a:xfrm>
          <a:prstGeom prst="rect">
            <a:avLst/>
          </a:prstGeom>
          <a:noFill/>
          <a:ln w="9525">
            <a:noFill/>
          </a:ln>
        </p:spPr>
      </p:pic>
      <p:sp>
        <p:nvSpPr>
          <p:cNvPr id="4" name="Text Box 3"/>
          <p:cNvSpPr txBox="1"/>
          <p:nvPr/>
        </p:nvSpPr>
        <p:spPr>
          <a:xfrm>
            <a:off x="1259632" y="373857"/>
            <a:ext cx="7127875" cy="886205"/>
          </a:xfrm>
          <a:prstGeom prst="rect">
            <a:avLst/>
          </a:prstGeom>
          <a:noFill/>
          <a:ln w="9525">
            <a:noFill/>
          </a:ln>
        </p:spPr>
        <p:txBody>
          <a:bodyPr>
            <a:spAutoFit/>
          </a:bodyPr>
          <a:lstStyle/>
          <a:p>
            <a:pPr lvl="0">
              <a:lnSpc>
                <a:spcPct val="130000"/>
              </a:lnSpc>
              <a:spcBef>
                <a:spcPct val="20000"/>
              </a:spcBef>
              <a:buClr>
                <a:schemeClr val="accent2"/>
              </a:buClr>
              <a:buSzPct val="80000"/>
            </a:pPr>
            <a:r>
              <a:rPr lang="en-US" altLang="zh-CN" sz="4400" b="1" dirty="0">
                <a:solidFill>
                  <a:srgbClr val="FF0000"/>
                </a:solidFill>
                <a:ea typeface="华文中宋" panose="02010600040101010101" pitchFamily="2" charset="-122"/>
              </a:rPr>
              <a:t>⑵ </a:t>
            </a:r>
            <a:r>
              <a:rPr lang="zh-CN" altLang="en-US" sz="4400" b="1" dirty="0">
                <a:solidFill>
                  <a:srgbClr val="FF0000"/>
                </a:solidFill>
                <a:ea typeface="华文中宋" panose="02010600040101010101" pitchFamily="2" charset="-122"/>
              </a:rPr>
              <a:t>分析合金结晶过程</a:t>
            </a:r>
            <a:endParaRPr lang="zh-CN" altLang="en-US" sz="4400" dirty="0">
              <a:solidFill>
                <a:srgbClr val="FF0000"/>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3426">
                                            <p:txEl>
                                              <p:pRg st="0" end="0"/>
                                            </p:txEl>
                                          </p:spTgt>
                                        </p:tgtEl>
                                        <p:attrNameLst>
                                          <p:attrName>style.visibility</p:attrName>
                                        </p:attrNameLst>
                                      </p:cBhvr>
                                      <p:to>
                                        <p:strVal val="visible"/>
                                      </p:to>
                                    </p:set>
                                    <p:animEffect transition="in" filter="wipe(left)">
                                      <p:cBhvr>
                                        <p:cTn id="7" dur="500"/>
                                        <p:tgtEl>
                                          <p:spTgt spid="10342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3426">
                                            <p:txEl>
                                              <p:pRg st="1" end="1"/>
                                            </p:txEl>
                                          </p:spTgt>
                                        </p:tgtEl>
                                        <p:attrNameLst>
                                          <p:attrName>style.visibility</p:attrName>
                                        </p:attrNameLst>
                                      </p:cBhvr>
                                      <p:to>
                                        <p:strVal val="visible"/>
                                      </p:to>
                                    </p:set>
                                    <p:animEffect transition="in" filter="wipe(left)">
                                      <p:cBhvr>
                                        <p:cTn id="11" dur="500"/>
                                        <p:tgtEl>
                                          <p:spTgt spid="10342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3426">
                                            <p:txEl>
                                              <p:pRg st="2" end="2"/>
                                            </p:txEl>
                                          </p:spTgt>
                                        </p:tgtEl>
                                        <p:attrNameLst>
                                          <p:attrName>style.visibility</p:attrName>
                                        </p:attrNameLst>
                                      </p:cBhvr>
                                      <p:to>
                                        <p:strVal val="visible"/>
                                      </p:to>
                                    </p:set>
                                    <p:animEffect transition="in" filter="wipe(left)">
                                      <p:cBhvr>
                                        <p:cTn id="15" dur="500"/>
                                        <p:tgtEl>
                                          <p:spTgt spid="103426">
                                            <p:txEl>
                                              <p:pRg st="2" end="2"/>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up)">
                                      <p:cBhvr>
                                        <p:cTn id="19" dur="500"/>
                                        <p:tgtEl>
                                          <p:spTgt spid="2"/>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left)">
                                      <p:cBhvr>
                                        <p:cTn id="2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6" grpId="0" build="p" advAuto="1000"/>
      <p:bldP spid="4"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日期占位符 3"/>
          <p:cNvSpPr txBox="1">
            <a:spLocks noGrp="1"/>
          </p:cNvSpPr>
          <p:nvPr>
            <p:ph type="dt" sz="half" idx="10"/>
          </p:nvPr>
        </p:nvSpPr>
        <p:spPr>
          <a:xfrm>
            <a:off x="0" y="6477000"/>
            <a:ext cx="2376488" cy="457200"/>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00355" name="灯片编号占位符 5"/>
          <p:cNvSpPr txBox="1">
            <a:spLocks noGrp="1"/>
          </p:cNvSpPr>
          <p:nvPr>
            <p:ph type="sldNum" sz="quarter" idx="12"/>
          </p:nvPr>
        </p:nvSpPr>
        <p:spPr>
          <a:xfrm>
            <a:off x="8634730" y="6553200"/>
            <a:ext cx="509270" cy="304800"/>
          </a:xfrm>
        </p:spPr>
        <p:txBody>
          <a:bodyPr lIns="92075" tIns="46038" rIns="92075" bIns="46038" anchor="ctr"/>
          <a:lstStyle/>
          <a:p>
            <a:pPr algn="r" eaLnBrk="1" hangingPunct="1"/>
            <a:fld id="{9A0DB2DC-4C9A-4742-B13C-FB6460FD3503}" type="slidenum">
              <a:rPr lang="en-US" altLang="zh-CN" sz="1400" dirty="0"/>
              <a:t>103</a:t>
            </a:fld>
            <a:endParaRPr lang="en-US" altLang="zh-CN" sz="1400" dirty="0"/>
          </a:p>
        </p:txBody>
      </p:sp>
      <p:sp>
        <p:nvSpPr>
          <p:cNvPr id="104450" name="Rectangle 2"/>
          <p:cNvSpPr>
            <a:spLocks noGrp="1"/>
          </p:cNvSpPr>
          <p:nvPr>
            <p:ph type="title"/>
          </p:nvPr>
        </p:nvSpPr>
        <p:spPr>
          <a:xfrm>
            <a:off x="971550" y="255905"/>
            <a:ext cx="7884795" cy="916940"/>
          </a:xfrm>
        </p:spPr>
        <p:txBody>
          <a:bodyPr vert="horz" wrap="square" lIns="92075" tIns="46038" rIns="92075" bIns="46038" anchor="ctr"/>
          <a:lstStyle/>
          <a:p>
            <a:pPr algn="l" eaLnBrk="1" hangingPunct="1"/>
            <a:r>
              <a:rPr lang="en-US" altLang="zh-CN" b="1" i="1" dirty="0">
                <a:solidFill>
                  <a:srgbClr val="FF0000"/>
                </a:solidFill>
                <a:latin typeface="Times New Roman" panose="02020603050405020304" pitchFamily="18" charset="0"/>
                <a:ea typeface="华文中宋" panose="02010600040101010101" pitchFamily="2" charset="-122"/>
              </a:rPr>
              <a:t>7</a:t>
            </a:r>
            <a:r>
              <a:rPr lang="zh-CN" altLang="en-US" b="1" i="1" dirty="0">
                <a:solidFill>
                  <a:srgbClr val="FF0000"/>
                </a:solidFill>
                <a:latin typeface="Times New Roman" panose="02020603050405020304" pitchFamily="18" charset="0"/>
                <a:ea typeface="华文中宋" panose="02010600040101010101" pitchFamily="2" charset="-122"/>
              </a:rPr>
              <a:t>、相图与合金性能之间的关系</a:t>
            </a:r>
          </a:p>
        </p:txBody>
      </p:sp>
      <p:sp>
        <p:nvSpPr>
          <p:cNvPr id="104451" name="Rectangle 3"/>
          <p:cNvSpPr>
            <a:spLocks noGrp="1"/>
          </p:cNvSpPr>
          <p:nvPr>
            <p:ph idx="1"/>
          </p:nvPr>
        </p:nvSpPr>
        <p:spPr>
          <a:xfrm>
            <a:off x="428625" y="1772816"/>
            <a:ext cx="8363585" cy="4608300"/>
          </a:xfrm>
        </p:spPr>
        <p:txBody>
          <a:bodyPr vert="horz" wrap="square" lIns="91440" tIns="45720" rIns="91440" bIns="45720" anchor="t"/>
          <a:lstStyle/>
          <a:p>
            <a:pPr eaLnBrk="1" hangingPunct="1">
              <a:lnSpc>
                <a:spcPct val="110000"/>
              </a:lnSpc>
            </a:pPr>
            <a:r>
              <a:rPr lang="en-US" altLang="zh-CN" b="1" dirty="0">
                <a:solidFill>
                  <a:srgbClr val="0000FF"/>
                </a:solidFill>
                <a:ea typeface="华文中宋" panose="02010600040101010101" pitchFamily="2" charset="-122"/>
              </a:rPr>
              <a:t>⑴ </a:t>
            </a:r>
            <a:r>
              <a:rPr lang="zh-CN" altLang="en-US" b="1" dirty="0">
                <a:solidFill>
                  <a:srgbClr val="0000FF"/>
                </a:solidFill>
                <a:ea typeface="华文中宋" panose="02010600040101010101" pitchFamily="2" charset="-122"/>
              </a:rPr>
              <a:t>相图与合金力学性能、物理性能的关系</a:t>
            </a:r>
            <a:r>
              <a:rPr lang="zh-CN" altLang="en-US" b="1" dirty="0">
                <a:solidFill>
                  <a:schemeClr val="tx2"/>
                </a:solidFill>
                <a:ea typeface="华文中宋" panose="02010600040101010101" pitchFamily="2" charset="-122"/>
              </a:rPr>
              <a:t> </a:t>
            </a:r>
          </a:p>
          <a:p>
            <a:pPr eaLnBrk="1" hangingPunct="1">
              <a:lnSpc>
                <a:spcPct val="110000"/>
              </a:lnSpc>
            </a:pPr>
            <a:r>
              <a:rPr lang="zh-CN" altLang="en-US" b="1" i="1" dirty="0">
                <a:solidFill>
                  <a:srgbClr val="0000FF"/>
                </a:solidFill>
                <a:ea typeface="华文中宋" panose="02010600040101010101" pitchFamily="2" charset="-122"/>
              </a:rPr>
              <a:t>①两相机械混合物的合金</a:t>
            </a:r>
            <a:r>
              <a:rPr lang="zh-CN" altLang="en-US" b="1" i="1" dirty="0">
                <a:ea typeface="华文中宋" panose="02010600040101010101" pitchFamily="2" charset="-122"/>
              </a:rPr>
              <a:t>：性能与合金成分呈</a:t>
            </a:r>
            <a:r>
              <a:rPr lang="zh-CN" altLang="en-US" b="1" i="1" dirty="0">
                <a:solidFill>
                  <a:srgbClr val="FF9900"/>
                </a:solidFill>
                <a:ea typeface="华文中宋" panose="02010600040101010101" pitchFamily="2" charset="-122"/>
              </a:rPr>
              <a:t>直线关系</a:t>
            </a:r>
            <a:r>
              <a:rPr lang="zh-CN" altLang="en-US" b="1" i="1" dirty="0">
                <a:ea typeface="华文中宋" panose="02010600040101010101" pitchFamily="2" charset="-122"/>
              </a:rPr>
              <a:t>，是两相性能的</a:t>
            </a:r>
            <a:r>
              <a:rPr lang="zh-CN" altLang="en-US" b="1" i="1" dirty="0">
                <a:solidFill>
                  <a:srgbClr val="0000FF"/>
                </a:solidFill>
                <a:ea typeface="华文中宋" panose="02010600040101010101" pitchFamily="2" charset="-122"/>
              </a:rPr>
              <a:t>加权算术平均值</a:t>
            </a:r>
            <a:r>
              <a:rPr lang="zh-CN" altLang="en-US" b="1" i="1" dirty="0">
                <a:ea typeface="华文中宋" panose="02010600040101010101" pitchFamily="2" charset="-122"/>
              </a:rPr>
              <a:t>，如：</a:t>
            </a:r>
            <a:endParaRPr lang="zh-CN" altLang="en-US" b="1" dirty="0">
              <a:ea typeface="华文中宋" panose="02010600040101010101" pitchFamily="2" charset="-122"/>
            </a:endParaRPr>
          </a:p>
          <a:p>
            <a:pPr marL="0" indent="0" eaLnBrk="1" hangingPunct="1">
              <a:lnSpc>
                <a:spcPct val="110000"/>
              </a:lnSpc>
              <a:buNone/>
            </a:pPr>
            <a:r>
              <a:rPr lang="en-US" altLang="zh-CN" b="1" i="1" dirty="0">
                <a:solidFill>
                  <a:schemeClr val="folHlink"/>
                </a:solidFill>
                <a:ea typeface="华文中宋" panose="02010600040101010101" pitchFamily="2" charset="-122"/>
                <a:sym typeface="Symbol" panose="05050102010706020507" pitchFamily="18" charset="2"/>
              </a:rPr>
              <a:t>         </a:t>
            </a:r>
            <a:r>
              <a:rPr lang="zh-CN" altLang="en-US" b="1" i="1" dirty="0">
                <a:solidFill>
                  <a:schemeClr val="folHlink"/>
                </a:solidFill>
                <a:ea typeface="华文中宋" panose="02010600040101010101" pitchFamily="2" charset="-122"/>
                <a:sym typeface="Symbol" panose="05050102010706020507" pitchFamily="18" charset="2"/>
              </a:rPr>
              <a:t></a:t>
            </a:r>
            <a:r>
              <a:rPr lang="zh-CN" altLang="en-US" b="1" baseline="-30000" dirty="0">
                <a:solidFill>
                  <a:schemeClr val="folHlink"/>
                </a:solidFill>
                <a:ea typeface="华文中宋" panose="02010600040101010101" pitchFamily="2" charset="-122"/>
              </a:rPr>
              <a:t>混 </a:t>
            </a:r>
            <a:r>
              <a:rPr lang="en-US" altLang="zh-CN" b="1" i="1" dirty="0">
                <a:solidFill>
                  <a:schemeClr val="folHlink"/>
                </a:solidFill>
                <a:ea typeface="华文中宋" panose="02010600040101010101" pitchFamily="2" charset="-122"/>
              </a:rPr>
              <a:t>= </a:t>
            </a:r>
            <a:r>
              <a:rPr lang="en-US" altLang="zh-CN" b="1" i="1" dirty="0">
                <a:solidFill>
                  <a:schemeClr val="folHlink"/>
                </a:solidFill>
                <a:ea typeface="华文中宋" panose="02010600040101010101" pitchFamily="2" charset="-122"/>
                <a:sym typeface="Symbol" panose="05050102010706020507" pitchFamily="18" charset="2"/>
              </a:rPr>
              <a:t></a:t>
            </a:r>
            <a:r>
              <a:rPr lang="en-US" altLang="zh-CN" b="1" i="1" baseline="-30000" dirty="0">
                <a:solidFill>
                  <a:schemeClr val="folHlink"/>
                </a:solidFill>
                <a:ea typeface="华文中宋" panose="02010600040101010101" pitchFamily="2" charset="-122"/>
                <a:sym typeface="Symbol" panose="05050102010706020507" pitchFamily="18" charset="2"/>
              </a:rPr>
              <a:t></a:t>
            </a:r>
            <a:r>
              <a:rPr lang="en-US" altLang="zh-CN" b="1" i="1" dirty="0">
                <a:solidFill>
                  <a:schemeClr val="folHlink"/>
                </a:solidFill>
                <a:ea typeface="华文中宋" panose="02010600040101010101" pitchFamily="2" charset="-122"/>
              </a:rPr>
              <a:t>∙ Q</a:t>
            </a:r>
            <a:r>
              <a:rPr lang="en-US" altLang="zh-CN" b="1" i="1" baseline="-30000" dirty="0">
                <a:solidFill>
                  <a:schemeClr val="folHlink"/>
                </a:solidFill>
                <a:ea typeface="华文中宋" panose="02010600040101010101" pitchFamily="2" charset="-122"/>
                <a:sym typeface="Symbol" panose="05050102010706020507" pitchFamily="18" charset="2"/>
              </a:rPr>
              <a:t></a:t>
            </a:r>
            <a:r>
              <a:rPr lang="en-US" altLang="zh-CN" b="1" i="1" baseline="-30000" dirty="0">
                <a:solidFill>
                  <a:schemeClr val="folHlink"/>
                </a:solidFill>
                <a:ea typeface="华文中宋" panose="02010600040101010101" pitchFamily="2" charset="-122"/>
              </a:rPr>
              <a:t> </a:t>
            </a:r>
            <a:r>
              <a:rPr lang="en-US" altLang="zh-CN" b="1" i="1" dirty="0">
                <a:solidFill>
                  <a:schemeClr val="folHlink"/>
                </a:solidFill>
                <a:ea typeface="华文中宋" panose="02010600040101010101" pitchFamily="2" charset="-122"/>
              </a:rPr>
              <a:t>+ </a:t>
            </a:r>
            <a:r>
              <a:rPr lang="en-US" altLang="zh-CN" b="1" i="1" dirty="0">
                <a:solidFill>
                  <a:schemeClr val="folHlink"/>
                </a:solidFill>
                <a:ea typeface="华文中宋" panose="02010600040101010101" pitchFamily="2" charset="-122"/>
                <a:sym typeface="Symbol" panose="05050102010706020507" pitchFamily="18" charset="2"/>
              </a:rPr>
              <a:t></a:t>
            </a:r>
            <a:r>
              <a:rPr lang="en-US" altLang="zh-CN" b="1" i="1" baseline="-30000" dirty="0">
                <a:solidFill>
                  <a:schemeClr val="folHlink"/>
                </a:solidFill>
                <a:ea typeface="华文中宋" panose="02010600040101010101" pitchFamily="2" charset="-122"/>
              </a:rPr>
              <a:t>β</a:t>
            </a:r>
            <a:r>
              <a:rPr lang="en-US" altLang="zh-CN" b="1" i="1" dirty="0">
                <a:solidFill>
                  <a:schemeClr val="folHlink"/>
                </a:solidFill>
                <a:ea typeface="华文中宋" panose="02010600040101010101" pitchFamily="2" charset="-122"/>
              </a:rPr>
              <a:t>∙ Q</a:t>
            </a:r>
            <a:r>
              <a:rPr lang="en-US" altLang="zh-CN" b="1" i="1" baseline="-30000" dirty="0">
                <a:solidFill>
                  <a:schemeClr val="folHlink"/>
                </a:solidFill>
                <a:ea typeface="华文中宋" panose="02010600040101010101" pitchFamily="2" charset="-122"/>
              </a:rPr>
              <a:t>β </a:t>
            </a:r>
            <a:r>
              <a:rPr lang="en-US" altLang="zh-CN" b="1" i="1" dirty="0">
                <a:solidFill>
                  <a:schemeClr val="folHlink"/>
                </a:solidFill>
                <a:ea typeface="华文中宋" panose="02010600040101010101" pitchFamily="2" charset="-122"/>
              </a:rPr>
              <a:t> </a:t>
            </a:r>
          </a:p>
          <a:p>
            <a:pPr marL="0" indent="0" eaLnBrk="1" hangingPunct="1">
              <a:lnSpc>
                <a:spcPct val="110000"/>
              </a:lnSpc>
              <a:buNone/>
            </a:pPr>
            <a:r>
              <a:rPr lang="en-US" altLang="zh-CN" b="1" i="1" dirty="0">
                <a:solidFill>
                  <a:schemeClr val="folHlink"/>
                </a:solidFill>
                <a:ea typeface="华文中宋" panose="02010600040101010101" pitchFamily="2" charset="-122"/>
              </a:rPr>
              <a:t>        HB</a:t>
            </a:r>
            <a:r>
              <a:rPr lang="zh-CN" altLang="en-US" b="1" baseline="-30000" dirty="0">
                <a:solidFill>
                  <a:schemeClr val="folHlink"/>
                </a:solidFill>
                <a:ea typeface="华文中宋" panose="02010600040101010101" pitchFamily="2" charset="-122"/>
              </a:rPr>
              <a:t>混 </a:t>
            </a:r>
            <a:r>
              <a:rPr lang="en-US" altLang="zh-CN" b="1" i="1" dirty="0">
                <a:solidFill>
                  <a:schemeClr val="folHlink"/>
                </a:solidFill>
                <a:ea typeface="华文中宋" panose="02010600040101010101" pitchFamily="2" charset="-122"/>
              </a:rPr>
              <a:t>= HB</a:t>
            </a:r>
            <a:r>
              <a:rPr lang="en-US" altLang="zh-CN" b="1" i="1" baseline="-30000" dirty="0">
                <a:solidFill>
                  <a:schemeClr val="folHlink"/>
                </a:solidFill>
                <a:ea typeface="华文中宋" panose="02010600040101010101" pitchFamily="2" charset="-122"/>
                <a:sym typeface="Symbol" panose="05050102010706020507" pitchFamily="18" charset="2"/>
              </a:rPr>
              <a:t></a:t>
            </a:r>
            <a:r>
              <a:rPr lang="en-US" altLang="zh-CN" b="1" i="1" baseline="-30000" dirty="0">
                <a:solidFill>
                  <a:schemeClr val="folHlink"/>
                </a:solidFill>
                <a:ea typeface="华文中宋" panose="02010600040101010101" pitchFamily="2" charset="-122"/>
              </a:rPr>
              <a:t> </a:t>
            </a:r>
            <a:r>
              <a:rPr lang="en-US" altLang="zh-CN" b="1" i="1" dirty="0">
                <a:solidFill>
                  <a:schemeClr val="folHlink"/>
                </a:solidFill>
                <a:ea typeface="华文中宋" panose="02010600040101010101" pitchFamily="2" charset="-122"/>
              </a:rPr>
              <a:t>∙ Q</a:t>
            </a:r>
            <a:r>
              <a:rPr lang="en-US" altLang="zh-CN" b="1" i="1" baseline="-30000" dirty="0">
                <a:solidFill>
                  <a:schemeClr val="folHlink"/>
                </a:solidFill>
                <a:ea typeface="华文中宋" panose="02010600040101010101" pitchFamily="2" charset="-122"/>
                <a:sym typeface="Symbol" panose="05050102010706020507" pitchFamily="18" charset="2"/>
              </a:rPr>
              <a:t></a:t>
            </a:r>
            <a:r>
              <a:rPr lang="en-US" altLang="zh-CN" b="1" i="1" baseline="-30000" dirty="0">
                <a:solidFill>
                  <a:schemeClr val="folHlink"/>
                </a:solidFill>
                <a:ea typeface="华文中宋" panose="02010600040101010101" pitchFamily="2" charset="-122"/>
              </a:rPr>
              <a:t> </a:t>
            </a:r>
            <a:r>
              <a:rPr lang="en-US" altLang="zh-CN" b="1" i="1" dirty="0">
                <a:solidFill>
                  <a:schemeClr val="folHlink"/>
                </a:solidFill>
                <a:ea typeface="华文中宋" panose="02010600040101010101" pitchFamily="2" charset="-122"/>
              </a:rPr>
              <a:t>+HB</a:t>
            </a:r>
            <a:r>
              <a:rPr lang="en-US" altLang="zh-CN" b="1" i="1" baseline="-30000" dirty="0">
                <a:solidFill>
                  <a:schemeClr val="folHlink"/>
                </a:solidFill>
                <a:ea typeface="华文中宋" panose="02010600040101010101" pitchFamily="2" charset="-122"/>
              </a:rPr>
              <a:t>β</a:t>
            </a:r>
            <a:r>
              <a:rPr lang="en-US" altLang="zh-CN" b="1" i="1" dirty="0">
                <a:solidFill>
                  <a:schemeClr val="folHlink"/>
                </a:solidFill>
                <a:ea typeface="华文中宋" panose="02010600040101010101" pitchFamily="2" charset="-122"/>
              </a:rPr>
              <a:t>∙ Q</a:t>
            </a:r>
            <a:r>
              <a:rPr lang="en-US" altLang="zh-CN" b="1" i="1" baseline="-30000" dirty="0">
                <a:solidFill>
                  <a:schemeClr val="folHlink"/>
                </a:solidFill>
                <a:ea typeface="华文中宋" panose="02010600040101010101" pitchFamily="2" charset="-122"/>
              </a:rPr>
              <a:t>β</a:t>
            </a:r>
            <a:endParaRPr lang="en-US" altLang="zh-CN" b="1" i="1" dirty="0">
              <a:ea typeface="华文中宋" panose="02010600040101010101" pitchFamily="2" charset="-122"/>
            </a:endParaRPr>
          </a:p>
          <a:p>
            <a:pPr eaLnBrk="1" hangingPunct="1">
              <a:lnSpc>
                <a:spcPct val="140000"/>
              </a:lnSpc>
            </a:pPr>
            <a:r>
              <a:rPr lang="en-US" altLang="zh-CN" b="1" dirty="0">
                <a:ea typeface="华文中宋" panose="02010600040101010101" pitchFamily="2" charset="-122"/>
              </a:rPr>
              <a:t>(</a:t>
            </a:r>
            <a:r>
              <a:rPr lang="en-US" altLang="zh-CN" b="1" i="1" dirty="0">
                <a:ea typeface="华文中宋" panose="02010600040101010101" pitchFamily="2" charset="-122"/>
              </a:rPr>
              <a:t>Q</a:t>
            </a:r>
            <a:r>
              <a:rPr lang="en-US" altLang="zh-CN" b="1" i="1" baseline="-30000" dirty="0">
                <a:ea typeface="华文中宋" panose="02010600040101010101" pitchFamily="2" charset="-122"/>
                <a:sym typeface="Symbol" panose="05050102010706020507" pitchFamily="18" charset="2"/>
              </a:rPr>
              <a:t></a:t>
            </a:r>
            <a:r>
              <a:rPr lang="en-US" altLang="zh-CN" b="1" baseline="-25000" dirty="0">
                <a:ea typeface="华文中宋" panose="02010600040101010101" pitchFamily="2" charset="-122"/>
              </a:rPr>
              <a:t> </a:t>
            </a:r>
            <a:r>
              <a:rPr lang="zh-CN" altLang="en-US" b="1" dirty="0">
                <a:ea typeface="华文中宋" panose="02010600040101010101" pitchFamily="2" charset="-122"/>
              </a:rPr>
              <a:t>、</a:t>
            </a:r>
            <a:r>
              <a:rPr lang="en-US" altLang="zh-CN" b="1" i="1" dirty="0">
                <a:ea typeface="华文中宋" panose="02010600040101010101" pitchFamily="2" charset="-122"/>
              </a:rPr>
              <a:t>Q</a:t>
            </a:r>
            <a:r>
              <a:rPr lang="en-US" altLang="zh-CN" b="1" i="1" baseline="-25000" dirty="0">
                <a:ea typeface="华文中宋" panose="02010600040101010101" pitchFamily="2" charset="-122"/>
              </a:rPr>
              <a:t>β</a:t>
            </a:r>
            <a:r>
              <a:rPr lang="zh-CN" altLang="en-US" b="1" dirty="0">
                <a:ea typeface="华文中宋" panose="02010600040101010101" pitchFamily="2" charset="-122"/>
              </a:rPr>
              <a:t>为两相相对重量</a:t>
            </a:r>
            <a:r>
              <a:rPr lang="en-US" altLang="zh-CN" b="1" dirty="0">
                <a:ea typeface="华文中宋" panose="02010600040101010101" pitchFamily="2" charset="-122"/>
              </a:rPr>
              <a:t>)</a:t>
            </a:r>
            <a:endParaRPr lang="en-US" altLang="zh-CN" b="1" dirty="0">
              <a:solidFill>
                <a:srgbClr val="A50021"/>
              </a:solidFill>
              <a:ea typeface="华文中宋" panose="02010600040101010101" pitchFamily="2" charset="-122"/>
            </a:endParaRPr>
          </a:p>
        </p:txBody>
      </p:sp>
      <p:pic>
        <p:nvPicPr>
          <p:cNvPr id="7" name="内容占位符 1" descr="新校徽（3M）弓之乐"/>
          <p:cNvPicPr>
            <a:picLocks noChangeAspect="1"/>
          </p:cNvPicPr>
          <p:nvPr/>
        </p:nvPicPr>
        <p:blipFill>
          <a:blip r:embed="rId2"/>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4450"/>
                                        </p:tgtEl>
                                        <p:attrNameLst>
                                          <p:attrName>style.visibility</p:attrName>
                                        </p:attrNameLst>
                                      </p:cBhvr>
                                      <p:to>
                                        <p:strVal val="visible"/>
                                      </p:to>
                                    </p:set>
                                    <p:animEffect transition="in" filter="wipe(left)">
                                      <p:cBhvr>
                                        <p:cTn id="7" dur="500"/>
                                        <p:tgtEl>
                                          <p:spTgt spid="10445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4451">
                                            <p:txEl>
                                              <p:pRg st="0" end="0"/>
                                            </p:txEl>
                                          </p:spTgt>
                                        </p:tgtEl>
                                        <p:attrNameLst>
                                          <p:attrName>style.visibility</p:attrName>
                                        </p:attrNameLst>
                                      </p:cBhvr>
                                      <p:to>
                                        <p:strVal val="visible"/>
                                      </p:to>
                                    </p:set>
                                    <p:animEffect transition="in" filter="wipe(left)">
                                      <p:cBhvr>
                                        <p:cTn id="11" dur="500"/>
                                        <p:tgtEl>
                                          <p:spTgt spid="104451">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1000"/>
                                  </p:stCondLst>
                                  <p:childTnLst>
                                    <p:set>
                                      <p:cBhvr>
                                        <p:cTn id="14" dur="1" fill="hold">
                                          <p:stCondLst>
                                            <p:cond delay="0"/>
                                          </p:stCondLst>
                                        </p:cTn>
                                        <p:tgtEl>
                                          <p:spTgt spid="104451">
                                            <p:txEl>
                                              <p:pRg st="1" end="1"/>
                                            </p:txEl>
                                          </p:spTgt>
                                        </p:tgtEl>
                                        <p:attrNameLst>
                                          <p:attrName>style.visibility</p:attrName>
                                        </p:attrNameLst>
                                      </p:cBhvr>
                                      <p:to>
                                        <p:strVal val="visible"/>
                                      </p:to>
                                    </p:set>
                                    <p:animEffect transition="in" filter="wipe(left)">
                                      <p:cBhvr>
                                        <p:cTn id="15" dur="500"/>
                                        <p:tgtEl>
                                          <p:spTgt spid="104451">
                                            <p:txEl>
                                              <p:pRg st="1" end="1"/>
                                            </p:txEl>
                                          </p:spTgt>
                                        </p:tgtEl>
                                      </p:cBhvr>
                                    </p:animEffect>
                                  </p:childTnLst>
                                </p:cTn>
                              </p:par>
                            </p:childTnLst>
                          </p:cTn>
                        </p:par>
                        <p:par>
                          <p:cTn id="16" fill="hold">
                            <p:stCondLst>
                              <p:cond delay="2500"/>
                            </p:stCondLst>
                            <p:childTnLst>
                              <p:par>
                                <p:cTn id="17" presetID="22" presetClass="entr" presetSubtype="8" fill="hold" grpId="0" nodeType="afterEffect">
                                  <p:stCondLst>
                                    <p:cond delay="1000"/>
                                  </p:stCondLst>
                                  <p:childTnLst>
                                    <p:set>
                                      <p:cBhvr>
                                        <p:cTn id="18" dur="1" fill="hold">
                                          <p:stCondLst>
                                            <p:cond delay="0"/>
                                          </p:stCondLst>
                                        </p:cTn>
                                        <p:tgtEl>
                                          <p:spTgt spid="104451">
                                            <p:txEl>
                                              <p:pRg st="2" end="2"/>
                                            </p:txEl>
                                          </p:spTgt>
                                        </p:tgtEl>
                                        <p:attrNameLst>
                                          <p:attrName>style.visibility</p:attrName>
                                        </p:attrNameLst>
                                      </p:cBhvr>
                                      <p:to>
                                        <p:strVal val="visible"/>
                                      </p:to>
                                    </p:set>
                                    <p:animEffect transition="in" filter="wipe(left)">
                                      <p:cBhvr>
                                        <p:cTn id="19" dur="500"/>
                                        <p:tgtEl>
                                          <p:spTgt spid="104451">
                                            <p:txEl>
                                              <p:pRg st="2" end="2"/>
                                            </p:txEl>
                                          </p:spTgt>
                                        </p:tgtEl>
                                      </p:cBhvr>
                                    </p:animEffect>
                                  </p:childTnLst>
                                </p:cTn>
                              </p:par>
                            </p:childTnLst>
                          </p:cTn>
                        </p:par>
                        <p:par>
                          <p:cTn id="20" fill="hold">
                            <p:stCondLst>
                              <p:cond delay="4000"/>
                            </p:stCondLst>
                            <p:childTnLst>
                              <p:par>
                                <p:cTn id="21" presetID="22" presetClass="entr" presetSubtype="8" fill="hold" grpId="0" nodeType="afterEffect">
                                  <p:stCondLst>
                                    <p:cond delay="1000"/>
                                  </p:stCondLst>
                                  <p:childTnLst>
                                    <p:set>
                                      <p:cBhvr>
                                        <p:cTn id="22" dur="1" fill="hold">
                                          <p:stCondLst>
                                            <p:cond delay="0"/>
                                          </p:stCondLst>
                                        </p:cTn>
                                        <p:tgtEl>
                                          <p:spTgt spid="104451">
                                            <p:txEl>
                                              <p:pRg st="3" end="3"/>
                                            </p:txEl>
                                          </p:spTgt>
                                        </p:tgtEl>
                                        <p:attrNameLst>
                                          <p:attrName>style.visibility</p:attrName>
                                        </p:attrNameLst>
                                      </p:cBhvr>
                                      <p:to>
                                        <p:strVal val="visible"/>
                                      </p:to>
                                    </p:set>
                                    <p:animEffect transition="in" filter="wipe(left)">
                                      <p:cBhvr>
                                        <p:cTn id="23" dur="500"/>
                                        <p:tgtEl>
                                          <p:spTgt spid="104451">
                                            <p:txEl>
                                              <p:pRg st="3" end="3"/>
                                            </p:txEl>
                                          </p:spTgt>
                                        </p:tgtEl>
                                      </p:cBhvr>
                                    </p:animEffect>
                                  </p:childTnLst>
                                </p:cTn>
                              </p:par>
                            </p:childTnLst>
                          </p:cTn>
                        </p:par>
                        <p:par>
                          <p:cTn id="24" fill="hold">
                            <p:stCondLst>
                              <p:cond delay="5500"/>
                            </p:stCondLst>
                            <p:childTnLst>
                              <p:par>
                                <p:cTn id="25" presetID="22" presetClass="entr" presetSubtype="8" fill="hold" grpId="0" nodeType="afterEffect">
                                  <p:stCondLst>
                                    <p:cond delay="1000"/>
                                  </p:stCondLst>
                                  <p:childTnLst>
                                    <p:set>
                                      <p:cBhvr>
                                        <p:cTn id="26" dur="1" fill="hold">
                                          <p:stCondLst>
                                            <p:cond delay="0"/>
                                          </p:stCondLst>
                                        </p:cTn>
                                        <p:tgtEl>
                                          <p:spTgt spid="104451">
                                            <p:txEl>
                                              <p:pRg st="4" end="4"/>
                                            </p:txEl>
                                          </p:spTgt>
                                        </p:tgtEl>
                                        <p:attrNameLst>
                                          <p:attrName>style.visibility</p:attrName>
                                        </p:attrNameLst>
                                      </p:cBhvr>
                                      <p:to>
                                        <p:strVal val="visible"/>
                                      </p:to>
                                    </p:set>
                                    <p:animEffect transition="in" filter="wipe(left)">
                                      <p:cBhvr>
                                        <p:cTn id="27" dur="500"/>
                                        <p:tgtEl>
                                          <p:spTgt spid="10445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0" grpId="0"/>
      <p:bldP spid="104451" grpId="0" build="p" advAuto="100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日期占位符 3"/>
          <p:cNvSpPr txBox="1">
            <a:spLocks noGrp="1"/>
          </p:cNvSpPr>
          <p:nvPr>
            <p:ph type="dt" sz="half" idx="10"/>
          </p:nvPr>
        </p:nvSpPr>
        <p:spPr>
          <a:xfrm>
            <a:off x="0" y="6510655"/>
            <a:ext cx="2441575" cy="34734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01379" name="灯片编号占位符 5"/>
          <p:cNvSpPr txBox="1">
            <a:spLocks noGrp="1"/>
          </p:cNvSpPr>
          <p:nvPr>
            <p:ph type="sldNum" sz="quarter" idx="12"/>
          </p:nvPr>
        </p:nvSpPr>
        <p:spPr>
          <a:xfrm>
            <a:off x="8510270" y="6595745"/>
            <a:ext cx="596900" cy="262255"/>
          </a:xfrm>
        </p:spPr>
        <p:txBody>
          <a:bodyPr lIns="92075" tIns="46038" rIns="92075" bIns="46038" anchor="ctr"/>
          <a:lstStyle/>
          <a:p>
            <a:pPr algn="r" eaLnBrk="1" hangingPunct="1"/>
            <a:fld id="{9A0DB2DC-4C9A-4742-B13C-FB6460FD3503}" type="slidenum">
              <a:rPr lang="en-US" altLang="zh-CN" sz="1400" dirty="0"/>
              <a:t>104</a:t>
            </a:fld>
            <a:endParaRPr lang="en-US" altLang="zh-CN" sz="1400" dirty="0"/>
          </a:p>
        </p:txBody>
      </p:sp>
      <p:sp>
        <p:nvSpPr>
          <p:cNvPr id="105474" name="Rectangle 2"/>
          <p:cNvSpPr>
            <a:spLocks noGrp="1"/>
          </p:cNvSpPr>
          <p:nvPr>
            <p:ph idx="1"/>
          </p:nvPr>
        </p:nvSpPr>
        <p:spPr>
          <a:xfrm>
            <a:off x="395587" y="1917109"/>
            <a:ext cx="5379439" cy="4537075"/>
          </a:xfrm>
        </p:spPr>
        <p:txBody>
          <a:bodyPr vert="horz" wrap="square" lIns="91440" tIns="45720" rIns="91440" bIns="45720" anchor="t"/>
          <a:lstStyle/>
          <a:p>
            <a:pPr eaLnBrk="1" hangingPunct="1">
              <a:lnSpc>
                <a:spcPct val="140000"/>
              </a:lnSpc>
            </a:pPr>
            <a:r>
              <a:rPr lang="zh-CN" altLang="en-US" b="1" dirty="0">
                <a:solidFill>
                  <a:srgbClr val="0000FF"/>
                </a:solidFill>
                <a:ea typeface="华文中宋" panose="02010600040101010101" pitchFamily="2" charset="-122"/>
              </a:rPr>
              <a:t>②</a:t>
            </a:r>
            <a:r>
              <a:rPr lang="en-US" altLang="zh-CN" b="1" dirty="0">
                <a:ea typeface="华文中宋" panose="02010600040101010101" pitchFamily="2" charset="-122"/>
              </a:rPr>
              <a:t> </a:t>
            </a:r>
            <a:r>
              <a:rPr lang="zh-CN" altLang="en-US" b="1" i="1" dirty="0">
                <a:solidFill>
                  <a:srgbClr val="0000FF"/>
                </a:solidFill>
                <a:ea typeface="华文中宋" panose="02010600040101010101" pitchFamily="2" charset="-122"/>
              </a:rPr>
              <a:t>单相固溶体的合金</a:t>
            </a:r>
            <a:r>
              <a:rPr lang="zh-CN" altLang="en-US" b="1" dirty="0">
                <a:ea typeface="华文中宋" panose="02010600040101010101" pitchFamily="2" charset="-122"/>
              </a:rPr>
              <a:t>：</a:t>
            </a:r>
          </a:p>
          <a:p>
            <a:pPr eaLnBrk="1" hangingPunct="1">
              <a:lnSpc>
                <a:spcPct val="140000"/>
              </a:lnSpc>
            </a:pPr>
            <a:r>
              <a:rPr lang="zh-CN" altLang="en-US" b="1" dirty="0">
                <a:ea typeface="华文中宋" panose="02010600040101010101" pitchFamily="2" charset="-122"/>
              </a:rPr>
              <a:t>性能随成分呈曲线变化，随溶质含量增加，</a:t>
            </a:r>
            <a:r>
              <a:rPr lang="en-US" altLang="zh-CN" b="1" i="1" dirty="0">
                <a:ea typeface="华文中宋" panose="02010600040101010101" pitchFamily="2" charset="-122"/>
              </a:rPr>
              <a:t>σ</a:t>
            </a:r>
            <a:r>
              <a:rPr lang="zh-CN" altLang="en-US" b="1" dirty="0">
                <a:ea typeface="华文中宋" panose="02010600040101010101" pitchFamily="2" charset="-122"/>
              </a:rPr>
              <a:t>、</a:t>
            </a:r>
            <a:r>
              <a:rPr lang="en-US" altLang="zh-CN" b="1" i="1" dirty="0">
                <a:ea typeface="华文中宋" panose="02010600040101010101" pitchFamily="2" charset="-122"/>
              </a:rPr>
              <a:t>HB</a:t>
            </a:r>
            <a:r>
              <a:rPr lang="zh-CN" altLang="en-US" b="1" dirty="0">
                <a:ea typeface="华文中宋" panose="02010600040101010101" pitchFamily="2" charset="-122"/>
              </a:rPr>
              <a:t>、</a:t>
            </a:r>
            <a:r>
              <a:rPr lang="zh-CN" altLang="en-US" b="1" i="1" dirty="0">
                <a:ea typeface="华文中宋" panose="02010600040101010101" pitchFamily="2" charset="-122"/>
                <a:sym typeface="Symbol" panose="05050102010706020507" pitchFamily="18" charset="2"/>
              </a:rPr>
              <a:t> </a:t>
            </a:r>
            <a:r>
              <a:rPr lang="zh-CN" altLang="en-US" b="1" dirty="0">
                <a:ea typeface="华文中宋" panose="02010600040101010101" pitchFamily="2" charset="-122"/>
              </a:rPr>
              <a:t>增加，塑性下降。</a:t>
            </a:r>
          </a:p>
          <a:p>
            <a:pPr eaLnBrk="1" hangingPunct="1">
              <a:lnSpc>
                <a:spcPct val="140000"/>
              </a:lnSpc>
            </a:pPr>
            <a:r>
              <a:rPr lang="zh-CN" altLang="en-US" b="1" dirty="0">
                <a:solidFill>
                  <a:srgbClr val="0000FF"/>
                </a:solidFill>
                <a:ea typeface="华文中宋" panose="02010600040101010101" pitchFamily="2" charset="-122"/>
              </a:rPr>
              <a:t>③</a:t>
            </a:r>
            <a:r>
              <a:rPr lang="zh-CN" altLang="en-US" b="1" i="1" dirty="0">
                <a:solidFill>
                  <a:srgbClr val="0000FF"/>
                </a:solidFill>
                <a:ea typeface="华文中宋" panose="02010600040101010101" pitchFamily="2" charset="-122"/>
              </a:rPr>
              <a:t> 形成稳定化合物的合金</a:t>
            </a:r>
            <a:r>
              <a:rPr lang="zh-CN" altLang="en-US" b="1" dirty="0"/>
              <a:t>：性能</a:t>
            </a:r>
            <a:r>
              <a:rPr lang="en-US" altLang="zh-CN" b="1" dirty="0"/>
              <a:t>-</a:t>
            </a:r>
            <a:r>
              <a:rPr lang="zh-CN" altLang="en-US" b="1" dirty="0"/>
              <a:t>成分曲线上出现拐点。</a:t>
            </a:r>
            <a:endParaRPr lang="en-US" altLang="zh-CN" sz="2800" b="1" dirty="0">
              <a:solidFill>
                <a:schemeClr val="accent1"/>
              </a:solidFill>
              <a:ea typeface="华文中宋" panose="02010600040101010101" pitchFamily="2" charset="-122"/>
            </a:endParaRPr>
          </a:p>
        </p:txBody>
      </p:sp>
      <p:grpSp>
        <p:nvGrpSpPr>
          <p:cNvPr id="2" name="Group 11"/>
          <p:cNvGrpSpPr>
            <a:grpSpLocks noChangeAspect="1"/>
          </p:cNvGrpSpPr>
          <p:nvPr/>
        </p:nvGrpSpPr>
        <p:grpSpPr>
          <a:xfrm>
            <a:off x="6227850" y="2061211"/>
            <a:ext cx="2514600" cy="3290887"/>
            <a:chOff x="960" y="2592"/>
            <a:chExt cx="1344" cy="1447"/>
          </a:xfrm>
        </p:grpSpPr>
        <p:grpSp>
          <p:nvGrpSpPr>
            <p:cNvPr id="101385" name="Group 9"/>
            <p:cNvGrpSpPr>
              <a:grpSpLocks noChangeAspect="1"/>
            </p:cNvGrpSpPr>
            <p:nvPr/>
          </p:nvGrpSpPr>
          <p:grpSpPr>
            <a:xfrm>
              <a:off x="960" y="2592"/>
              <a:ext cx="1344" cy="1447"/>
              <a:chOff x="960" y="2592"/>
              <a:chExt cx="1344" cy="1447"/>
            </a:xfrm>
          </p:grpSpPr>
          <p:pic>
            <p:nvPicPr>
              <p:cNvPr id="101387" name="Picture 5" descr="fig32d[1]"/>
              <p:cNvPicPr>
                <a:picLocks noChangeAspect="1"/>
              </p:cNvPicPr>
              <p:nvPr/>
            </p:nvPicPr>
            <p:blipFill>
              <a:blip r:embed="rId2"/>
              <a:stretch>
                <a:fillRect/>
              </a:stretch>
            </p:blipFill>
            <p:spPr>
              <a:xfrm>
                <a:off x="960" y="2592"/>
                <a:ext cx="1344" cy="1447"/>
              </a:xfrm>
              <a:prstGeom prst="rect">
                <a:avLst/>
              </a:prstGeom>
              <a:noFill/>
              <a:ln w="28575" cap="flat" cmpd="sng">
                <a:solidFill>
                  <a:srgbClr val="CC99FF"/>
                </a:solidFill>
                <a:prstDash val="solid"/>
                <a:miter/>
                <a:headEnd type="none" w="med" len="med"/>
                <a:tailEnd type="none" w="med" len="med"/>
              </a:ln>
            </p:spPr>
          </p:pic>
          <p:sp>
            <p:nvSpPr>
              <p:cNvPr id="101388" name="Text Box 6"/>
              <p:cNvSpPr txBox="1">
                <a:spLocks noChangeAspect="1"/>
              </p:cNvSpPr>
              <p:nvPr/>
            </p:nvSpPr>
            <p:spPr>
              <a:xfrm>
                <a:off x="1554" y="3156"/>
                <a:ext cx="384" cy="121"/>
              </a:xfrm>
              <a:prstGeom prst="rect">
                <a:avLst/>
              </a:prstGeom>
              <a:noFill/>
              <a:ln w="9525">
                <a:noFill/>
              </a:ln>
            </p:spPr>
            <p:txBody>
              <a:bodyPr>
                <a:spAutoFit/>
              </a:bodyPr>
              <a:lstStyle/>
              <a:p>
                <a:pPr lvl="0" eaLnBrk="1" hangingPunct="1">
                  <a:spcBef>
                    <a:spcPct val="50000"/>
                  </a:spcBef>
                </a:pPr>
                <a:r>
                  <a:rPr lang="en-US" altLang="zh-CN" sz="1200" b="1" dirty="0">
                    <a:solidFill>
                      <a:schemeClr val="bg2"/>
                    </a:solidFill>
                    <a:latin typeface="Times New Roman" panose="02020603050405020304" pitchFamily="18" charset="0"/>
                    <a:ea typeface="宋体" panose="02010600030101010101" pitchFamily="2" charset="-122"/>
                  </a:rPr>
                  <a:t>A</a:t>
                </a:r>
                <a:r>
                  <a:rPr lang="en-US" altLang="zh-CN" sz="1200" b="1" baseline="-25000" dirty="0">
                    <a:solidFill>
                      <a:schemeClr val="bg2"/>
                    </a:solidFill>
                    <a:latin typeface="Times New Roman" panose="02020603050405020304" pitchFamily="18" charset="0"/>
                    <a:ea typeface="宋体" panose="02010600030101010101" pitchFamily="2" charset="-122"/>
                  </a:rPr>
                  <a:t>n</a:t>
                </a:r>
                <a:r>
                  <a:rPr lang="en-US" altLang="zh-CN" sz="1200" b="1" dirty="0">
                    <a:solidFill>
                      <a:schemeClr val="bg2"/>
                    </a:solidFill>
                    <a:latin typeface="Times New Roman" panose="02020603050405020304" pitchFamily="18" charset="0"/>
                    <a:ea typeface="宋体" panose="02010600030101010101" pitchFamily="2" charset="-122"/>
                  </a:rPr>
                  <a:t>B</a:t>
                </a:r>
                <a:r>
                  <a:rPr lang="en-US" altLang="zh-CN" sz="1200" b="1" baseline="-25000" dirty="0">
                    <a:solidFill>
                      <a:schemeClr val="bg2"/>
                    </a:solidFill>
                    <a:latin typeface="Times New Roman" panose="02020603050405020304" pitchFamily="18" charset="0"/>
                    <a:ea typeface="宋体" panose="02010600030101010101" pitchFamily="2" charset="-122"/>
                  </a:rPr>
                  <a:t>m</a:t>
                </a:r>
              </a:p>
            </p:txBody>
          </p:sp>
          <p:sp>
            <p:nvSpPr>
              <p:cNvPr id="101389" name="Rectangle 7"/>
              <p:cNvSpPr>
                <a:spLocks noChangeAspect="1"/>
              </p:cNvSpPr>
              <p:nvPr/>
            </p:nvSpPr>
            <p:spPr>
              <a:xfrm rot="-5400000">
                <a:off x="978" y="2994"/>
                <a:ext cx="240" cy="144"/>
              </a:xfrm>
              <a:prstGeom prst="rect">
                <a:avLst/>
              </a:prstGeom>
              <a:solidFill>
                <a:schemeClr val="bg1"/>
              </a:solidFill>
              <a:ln w="9525" cap="flat" cmpd="sng">
                <a:noFill/>
                <a:prstDash val="solid"/>
                <a:miter/>
                <a:headEnd type="none" w="med" len="med"/>
                <a:tailEnd type="none" w="med" len="med"/>
              </a:ln>
            </p:spPr>
            <p:txBody>
              <a:bodyPr wrap="none" anchor="ctr"/>
              <a:lstStyle/>
              <a:p>
                <a:pPr lvl="0" algn="ctr" eaLnBrk="1" hangingPunct="1"/>
                <a:r>
                  <a:rPr lang="en-US" altLang="zh-CN" sz="1600" b="1" i="1" dirty="0">
                    <a:solidFill>
                      <a:schemeClr val="bg2"/>
                    </a:solidFill>
                    <a:latin typeface="Times New Roman" panose="02020603050405020304" pitchFamily="18" charset="0"/>
                    <a:ea typeface="宋体" panose="02010600030101010101" pitchFamily="2" charset="-122"/>
                  </a:rPr>
                  <a:t>T</a:t>
                </a:r>
              </a:p>
            </p:txBody>
          </p:sp>
          <p:sp>
            <p:nvSpPr>
              <p:cNvPr id="101390" name="Rectangle 8"/>
              <p:cNvSpPr>
                <a:spLocks noChangeAspect="1"/>
              </p:cNvSpPr>
              <p:nvPr/>
            </p:nvSpPr>
            <p:spPr>
              <a:xfrm rot="-5400000">
                <a:off x="816" y="3552"/>
                <a:ext cx="528" cy="240"/>
              </a:xfrm>
              <a:prstGeom prst="rect">
                <a:avLst/>
              </a:prstGeom>
              <a:solidFill>
                <a:schemeClr val="bg1"/>
              </a:solidFill>
              <a:ln w="9525" cap="flat" cmpd="sng">
                <a:noFill/>
                <a:prstDash val="solid"/>
                <a:miter/>
                <a:headEnd type="none" w="med" len="med"/>
                <a:tailEnd type="none" w="med" len="med"/>
              </a:ln>
            </p:spPr>
            <p:txBody>
              <a:bodyPr wrap="none" anchor="ctr"/>
              <a:lstStyle/>
              <a:p>
                <a:pPr lvl="0" algn="ctr" eaLnBrk="1" hangingPunct="1"/>
                <a:r>
                  <a:rPr lang="en-US" altLang="zh-CN" sz="1600" b="1" i="1" dirty="0">
                    <a:solidFill>
                      <a:schemeClr val="bg2"/>
                    </a:solidFill>
                    <a:latin typeface="Times New Roman" panose="02020603050405020304" pitchFamily="18" charset="0"/>
                    <a:ea typeface="宋体" panose="02010600030101010101" pitchFamily="2" charset="-122"/>
                    <a:sym typeface="Symbol" panose="05050102010706020507" pitchFamily="18" charset="2"/>
                  </a:rPr>
                  <a:t></a:t>
                </a:r>
                <a:r>
                  <a:rPr lang="en-US" altLang="zh-CN" sz="1600" b="1" i="1" baseline="-25000" dirty="0">
                    <a:solidFill>
                      <a:schemeClr val="bg2"/>
                    </a:solidFill>
                    <a:latin typeface="Times New Roman" panose="02020603050405020304" pitchFamily="18" charset="0"/>
                    <a:ea typeface="宋体" panose="02010600030101010101" pitchFamily="2" charset="-122"/>
                    <a:sym typeface="Symbol" panose="05050102010706020507" pitchFamily="18" charset="2"/>
                  </a:rPr>
                  <a:t>b</a:t>
                </a:r>
                <a:r>
                  <a:rPr lang="en-US" altLang="zh-CN" sz="1600" b="1" i="1" dirty="0">
                    <a:solidFill>
                      <a:schemeClr val="bg2"/>
                    </a:solidFill>
                    <a:latin typeface="Times New Roman" panose="02020603050405020304" pitchFamily="18" charset="0"/>
                    <a:ea typeface="宋体" panose="02010600030101010101" pitchFamily="2" charset="-122"/>
                    <a:sym typeface="Symbol" panose="05050102010706020507" pitchFamily="18" charset="2"/>
                  </a:rPr>
                  <a:t>,HB,</a:t>
                </a:r>
                <a:endParaRPr lang="en-US" altLang="zh-CN" sz="1600" b="1" i="1" dirty="0">
                  <a:solidFill>
                    <a:schemeClr val="bg2"/>
                  </a:solidFill>
                  <a:latin typeface="Times New Roman" panose="02020603050405020304" pitchFamily="18" charset="0"/>
                  <a:ea typeface="宋体" panose="02010600030101010101" pitchFamily="2" charset="-122"/>
                </a:endParaRPr>
              </a:p>
            </p:txBody>
          </p:sp>
        </p:grpSp>
        <p:sp>
          <p:nvSpPr>
            <p:cNvPr id="101386" name="Text Box 10"/>
            <p:cNvSpPr txBox="1">
              <a:spLocks noChangeAspect="1"/>
            </p:cNvSpPr>
            <p:nvPr/>
          </p:nvSpPr>
          <p:spPr>
            <a:xfrm>
              <a:off x="1536" y="3897"/>
              <a:ext cx="480" cy="121"/>
            </a:xfrm>
            <a:prstGeom prst="rect">
              <a:avLst/>
            </a:prstGeom>
            <a:noFill/>
            <a:ln w="9525">
              <a:noFill/>
            </a:ln>
          </p:spPr>
          <p:txBody>
            <a:bodyPr>
              <a:spAutoFit/>
            </a:bodyPr>
            <a:lstStyle/>
            <a:p>
              <a:pPr lvl="0" eaLnBrk="1" hangingPunct="1">
                <a:spcBef>
                  <a:spcPct val="50000"/>
                </a:spcBef>
              </a:pPr>
              <a:r>
                <a:rPr lang="en-US" altLang="zh-CN" sz="1200" b="1" dirty="0">
                  <a:solidFill>
                    <a:schemeClr val="bg2"/>
                  </a:solidFill>
                  <a:latin typeface="Times New Roman" panose="02020603050405020304" pitchFamily="18" charset="0"/>
                  <a:ea typeface="宋体" panose="02010600030101010101" pitchFamily="2" charset="-122"/>
                </a:rPr>
                <a:t>B% </a:t>
              </a:r>
              <a:r>
                <a:rPr lang="en-US" altLang="zh-CN" sz="1200" b="1" dirty="0">
                  <a:solidFill>
                    <a:schemeClr val="bg2"/>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200" b="1" dirty="0">
                <a:solidFill>
                  <a:schemeClr val="bg2"/>
                </a:solidFill>
                <a:latin typeface="Times New Roman" panose="02020603050405020304" pitchFamily="18" charset="0"/>
                <a:ea typeface="宋体" panose="02010600030101010101" pitchFamily="2" charset="-122"/>
              </a:endParaRPr>
            </a:p>
          </p:txBody>
        </p:sp>
      </p:grpSp>
      <p:sp>
        <p:nvSpPr>
          <p:cNvPr id="105485" name="Rectangle 13"/>
          <p:cNvSpPr/>
          <p:nvPr/>
        </p:nvSpPr>
        <p:spPr>
          <a:xfrm>
            <a:off x="228600" y="2743200"/>
            <a:ext cx="4414838" cy="3616325"/>
          </a:xfrm>
          <a:prstGeom prst="rect">
            <a:avLst/>
          </a:prstGeom>
          <a:noFill/>
          <a:ln w="9525">
            <a:noFill/>
          </a:ln>
        </p:spPr>
        <p:txBody>
          <a:bodyPr/>
          <a:lstStyle/>
          <a:p>
            <a:pPr marL="342900" lvl="0" indent="-342900" eaLnBrk="1" hangingPunct="1">
              <a:lnSpc>
                <a:spcPct val="140000"/>
              </a:lnSpc>
              <a:spcBef>
                <a:spcPct val="20000"/>
              </a:spcBef>
              <a:buClr>
                <a:schemeClr val="accent2"/>
              </a:buClr>
              <a:buSzPct val="80000"/>
              <a:buFont typeface="Wingdings" panose="05000000000000000000" pitchFamily="2" charset="2"/>
              <a:buChar char="l"/>
            </a:pPr>
            <a:endParaRPr lang="zh-CN" altLang="zh-CN" sz="2800" b="1" dirty="0">
              <a:latin typeface="Times New Roman" panose="02020603050405020304" pitchFamily="18" charset="0"/>
              <a:ea typeface="华文中宋" panose="02010600040101010101" pitchFamily="2" charset="-122"/>
            </a:endParaRPr>
          </a:p>
        </p:txBody>
      </p:sp>
      <p:pic>
        <p:nvPicPr>
          <p:cNvPr id="15" name="内容占位符 1" descr="新校徽（3M）弓之乐"/>
          <p:cNvPicPr>
            <a:picLocks noChangeAspect="1"/>
          </p:cNvPicPr>
          <p:nvPr/>
        </p:nvPicPr>
        <p:blipFill>
          <a:blip r:embed="rId3"/>
          <a:stretch>
            <a:fillRect/>
          </a:stretch>
        </p:blipFill>
        <p:spPr>
          <a:xfrm>
            <a:off x="0" y="0"/>
            <a:ext cx="746760" cy="735965"/>
          </a:xfrm>
          <a:prstGeom prst="rect">
            <a:avLst/>
          </a:prstGeom>
          <a:noFill/>
          <a:ln w="9525">
            <a:noFill/>
          </a:ln>
        </p:spPr>
      </p:pic>
      <p:sp>
        <p:nvSpPr>
          <p:cNvPr id="104450" name="Rectangle 2"/>
          <p:cNvSpPr>
            <a:spLocks noGrp="1"/>
          </p:cNvSpPr>
          <p:nvPr/>
        </p:nvSpPr>
        <p:spPr>
          <a:xfrm>
            <a:off x="971550" y="254000"/>
            <a:ext cx="7884795" cy="824865"/>
          </a:xfrm>
          <a:prstGeom prst="rect">
            <a:avLst/>
          </a:prstGeom>
          <a:noFill/>
          <a:ln w="9525">
            <a:noFill/>
          </a:ln>
        </p:spPr>
        <p:txBody>
          <a:bodyPr vert="horz" wrap="square" lIns="92075" tIns="46038" rIns="92075" bIns="46038" anchor="ctr"/>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9pPr>
          </a:lstStyle>
          <a:p>
            <a:pPr algn="l" eaLnBrk="1" hangingPunct="1"/>
            <a:r>
              <a:rPr lang="en-US" altLang="zh-CN" b="1" i="1" dirty="0">
                <a:solidFill>
                  <a:srgbClr val="FF0000"/>
                </a:solidFill>
                <a:latin typeface="Times New Roman" panose="02020603050405020304" pitchFamily="18" charset="0"/>
                <a:ea typeface="华文中宋" panose="02010600040101010101" pitchFamily="2" charset="-122"/>
              </a:rPr>
              <a:t>7</a:t>
            </a:r>
            <a:r>
              <a:rPr lang="zh-CN" altLang="en-US" b="1" i="1" dirty="0">
                <a:solidFill>
                  <a:srgbClr val="FF0000"/>
                </a:solidFill>
                <a:latin typeface="Times New Roman" panose="02020603050405020304" pitchFamily="18" charset="0"/>
                <a:ea typeface="华文中宋" panose="02010600040101010101" pitchFamily="2" charset="-122"/>
              </a:rPr>
              <a:t>、相图与合金性能之间的关系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5474">
                                            <p:txEl>
                                              <p:pRg st="0" end="0"/>
                                            </p:txEl>
                                          </p:spTgt>
                                        </p:tgtEl>
                                        <p:attrNameLst>
                                          <p:attrName>style.visibility</p:attrName>
                                        </p:attrNameLst>
                                      </p:cBhvr>
                                      <p:to>
                                        <p:strVal val="visible"/>
                                      </p:to>
                                    </p:set>
                                    <p:animEffect transition="in" filter="wipe(left)">
                                      <p:cBhvr>
                                        <p:cTn id="7" dur="500"/>
                                        <p:tgtEl>
                                          <p:spTgt spid="105474">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5474">
                                            <p:txEl>
                                              <p:pRg st="1" end="1"/>
                                            </p:txEl>
                                          </p:spTgt>
                                        </p:tgtEl>
                                        <p:attrNameLst>
                                          <p:attrName>style.visibility</p:attrName>
                                        </p:attrNameLst>
                                      </p:cBhvr>
                                      <p:to>
                                        <p:strVal val="visible"/>
                                      </p:to>
                                    </p:set>
                                    <p:animEffect transition="in" filter="wipe(left)">
                                      <p:cBhvr>
                                        <p:cTn id="11" dur="500"/>
                                        <p:tgtEl>
                                          <p:spTgt spid="105474">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5474">
                                            <p:txEl>
                                              <p:pRg st="2" end="2"/>
                                            </p:txEl>
                                          </p:spTgt>
                                        </p:tgtEl>
                                        <p:attrNameLst>
                                          <p:attrName>style.visibility</p:attrName>
                                        </p:attrNameLst>
                                      </p:cBhvr>
                                      <p:to>
                                        <p:strVal val="visible"/>
                                      </p:to>
                                    </p:set>
                                    <p:animEffect transition="in" filter="wipe(left)">
                                      <p:cBhvr>
                                        <p:cTn id="15" dur="500"/>
                                        <p:tgtEl>
                                          <p:spTgt spid="105474">
                                            <p:txEl>
                                              <p:pRg st="2" end="2"/>
                                            </p:txEl>
                                          </p:spTgt>
                                        </p:tgtEl>
                                      </p:cBhvr>
                                    </p:animEffect>
                                  </p:childTnLst>
                                </p:cTn>
                              </p:par>
                            </p:childTnLst>
                          </p:cTn>
                        </p:par>
                        <p:par>
                          <p:cTn id="16" fill="hold">
                            <p:stCondLst>
                              <p:cond delay="1500"/>
                            </p:stCondLst>
                            <p:childTnLst>
                              <p:par>
                                <p:cTn id="17" presetID="22" presetClass="entr" presetSubtype="8" fill="hold" grpId="0" nodeType="afterEffect" nodePh="1">
                                  <p:stCondLst>
                                    <p:cond delay="0"/>
                                  </p:stCondLst>
                                  <p:endCondLst>
                                    <p:cond evt="begin" delay="0">
                                      <p:tn val="17"/>
                                    </p:cond>
                                  </p:endCondLst>
                                  <p:childTnLst>
                                    <p:set>
                                      <p:cBhvr>
                                        <p:cTn id="18" dur="1" fill="hold">
                                          <p:stCondLst>
                                            <p:cond delay="0"/>
                                          </p:stCondLst>
                                        </p:cTn>
                                        <p:tgtEl>
                                          <p:spTgt spid="105485">
                                            <p:txEl>
                                              <p:pRg st="0" end="0"/>
                                            </p:txEl>
                                          </p:spTgt>
                                        </p:tgtEl>
                                        <p:attrNameLst>
                                          <p:attrName>style.visibility</p:attrName>
                                        </p:attrNameLst>
                                      </p:cBhvr>
                                      <p:to>
                                        <p:strVal val="visible"/>
                                      </p:to>
                                    </p:set>
                                    <p:animEffect transition="in" filter="wipe(left)">
                                      <p:cBhvr>
                                        <p:cTn id="19" dur="500"/>
                                        <p:tgtEl>
                                          <p:spTgt spid="105485">
                                            <p:txEl>
                                              <p:pRg st="0" end="0"/>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up)">
                                      <p:cBhvr>
                                        <p:cTn id="23" dur="500"/>
                                        <p:tgtEl>
                                          <p:spTgt spid="2"/>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104450"/>
                                        </p:tgtEl>
                                        <p:attrNameLst>
                                          <p:attrName>style.visibility</p:attrName>
                                        </p:attrNameLst>
                                      </p:cBhvr>
                                      <p:to>
                                        <p:strVal val="visible"/>
                                      </p:to>
                                    </p:set>
                                    <p:animEffect transition="in" filter="wipe(left)">
                                      <p:cBhvr>
                                        <p:cTn id="27" dur="500"/>
                                        <p:tgtEl>
                                          <p:spTgt spid="1044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4" grpId="0" build="p" advAuto="1000"/>
      <p:bldP spid="105485" grpId="0" build="p" advAuto="1000"/>
      <p:bldP spid="104450"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日期占位符 3"/>
          <p:cNvSpPr txBox="1">
            <a:spLocks noGrp="1"/>
          </p:cNvSpPr>
          <p:nvPr>
            <p:ph type="dt" sz="half" idx="10"/>
          </p:nvPr>
        </p:nvSpPr>
        <p:spPr>
          <a:xfrm>
            <a:off x="0" y="6581775"/>
            <a:ext cx="2404745" cy="27622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02403" name="灯片编号占位符 5"/>
          <p:cNvSpPr txBox="1">
            <a:spLocks noGrp="1"/>
          </p:cNvSpPr>
          <p:nvPr>
            <p:ph type="sldNum" sz="quarter" idx="12"/>
          </p:nvPr>
        </p:nvSpPr>
        <p:spPr>
          <a:xfrm>
            <a:off x="8634730" y="6605905"/>
            <a:ext cx="509270" cy="252095"/>
          </a:xfrm>
        </p:spPr>
        <p:txBody>
          <a:bodyPr lIns="92075" tIns="46038" rIns="92075" bIns="46038" anchor="ctr"/>
          <a:lstStyle/>
          <a:p>
            <a:pPr algn="r" eaLnBrk="1" hangingPunct="1"/>
            <a:fld id="{9A0DB2DC-4C9A-4742-B13C-FB6460FD3503}" type="slidenum">
              <a:rPr lang="en-US" altLang="zh-CN" sz="1400" dirty="0"/>
              <a:t>105</a:t>
            </a:fld>
            <a:endParaRPr lang="en-US" altLang="zh-CN" sz="1400" dirty="0"/>
          </a:p>
        </p:txBody>
      </p:sp>
      <p:sp>
        <p:nvSpPr>
          <p:cNvPr id="105474" name="Rectangle 2"/>
          <p:cNvSpPr>
            <a:spLocks noGrp="1"/>
          </p:cNvSpPr>
          <p:nvPr>
            <p:ph idx="1"/>
          </p:nvPr>
        </p:nvSpPr>
        <p:spPr>
          <a:xfrm>
            <a:off x="251460" y="1988820"/>
            <a:ext cx="5117465" cy="4457065"/>
          </a:xfrm>
        </p:spPr>
        <p:txBody>
          <a:bodyPr vert="horz" wrap="square" lIns="91440" tIns="45720" rIns="91440" bIns="45720" anchor="t"/>
          <a:lstStyle/>
          <a:p>
            <a:pPr eaLnBrk="1" latinLnBrk="0" hangingPunct="1">
              <a:lnSpc>
                <a:spcPct val="120000"/>
              </a:lnSpc>
              <a:spcBef>
                <a:spcPts val="0"/>
              </a:spcBef>
            </a:pPr>
            <a:r>
              <a:rPr lang="zh-CN" altLang="en-US" b="1" dirty="0">
                <a:ea typeface="华文中宋" panose="02010600040101010101" pitchFamily="2" charset="-122"/>
              </a:rPr>
              <a:t>①固溶体合金</a:t>
            </a:r>
            <a:r>
              <a:rPr lang="zh-CN" altLang="en-US" b="1" dirty="0">
                <a:solidFill>
                  <a:srgbClr val="0000FF"/>
                </a:solidFill>
                <a:ea typeface="华文中宋" panose="02010600040101010101" pitchFamily="2" charset="-122"/>
              </a:rPr>
              <a:t>液固相线</a:t>
            </a:r>
            <a:r>
              <a:rPr lang="zh-CN" altLang="en-US" b="1" dirty="0">
                <a:solidFill>
                  <a:srgbClr val="FF0000"/>
                </a:solidFill>
                <a:ea typeface="华文中宋" panose="02010600040101010101" pitchFamily="2" charset="-122"/>
              </a:rPr>
              <a:t>间距</a:t>
            </a:r>
            <a:r>
              <a:rPr lang="zh-CN" altLang="en-US" b="1" dirty="0">
                <a:ea typeface="华文中宋" panose="02010600040101010101" pitchFamily="2" charset="-122"/>
              </a:rPr>
              <a:t>大、</a:t>
            </a:r>
            <a:r>
              <a:rPr lang="zh-CN" altLang="en-US" b="1" dirty="0">
                <a:solidFill>
                  <a:srgbClr val="0000FF"/>
                </a:solidFill>
                <a:ea typeface="华文中宋" panose="02010600040101010101" pitchFamily="2" charset="-122"/>
              </a:rPr>
              <a:t>偏析倾向</a:t>
            </a:r>
            <a:r>
              <a:rPr lang="zh-CN" altLang="en-US" b="1" dirty="0">
                <a:ea typeface="华文中宋" panose="02010600040101010101" pitchFamily="2" charset="-122"/>
              </a:rPr>
              <a:t>大</a:t>
            </a:r>
            <a:r>
              <a:rPr lang="en-US" altLang="zh-CN" b="1" dirty="0">
                <a:ea typeface="华文中宋" panose="02010600040101010101" pitchFamily="2" charset="-122"/>
              </a:rPr>
              <a:t>, </a:t>
            </a:r>
            <a:r>
              <a:rPr lang="zh-CN" altLang="en-US" b="1" dirty="0">
                <a:ea typeface="华文中宋" panose="02010600040101010101" pitchFamily="2" charset="-122"/>
              </a:rPr>
              <a:t>树枝晶发达</a:t>
            </a:r>
            <a:r>
              <a:rPr lang="en-US" altLang="zh-CN" b="1" dirty="0">
                <a:ea typeface="华文中宋" panose="02010600040101010101" pitchFamily="2" charset="-122"/>
              </a:rPr>
              <a:t>, </a:t>
            </a:r>
            <a:r>
              <a:rPr lang="zh-CN" altLang="en-US" b="1" dirty="0">
                <a:ea typeface="华文中宋" panose="02010600040101010101" pitchFamily="2" charset="-122"/>
              </a:rPr>
              <a:t>流动性降低</a:t>
            </a:r>
            <a:r>
              <a:rPr lang="en-US" altLang="zh-CN" b="1" dirty="0">
                <a:ea typeface="华文中宋" panose="02010600040101010101" pitchFamily="2" charset="-122"/>
              </a:rPr>
              <a:t>, </a:t>
            </a:r>
            <a:r>
              <a:rPr lang="zh-CN" altLang="en-US" b="1" dirty="0">
                <a:ea typeface="华文中宋" panose="02010600040101010101" pitchFamily="2" charset="-122"/>
              </a:rPr>
              <a:t>补缩能力下降</a:t>
            </a:r>
            <a:r>
              <a:rPr lang="en-US" altLang="zh-CN" b="1" dirty="0">
                <a:ea typeface="华文中宋" panose="02010600040101010101" pitchFamily="2" charset="-122"/>
              </a:rPr>
              <a:t>, </a:t>
            </a:r>
            <a:r>
              <a:rPr lang="zh-CN" altLang="en-US" b="1" dirty="0">
                <a:solidFill>
                  <a:srgbClr val="0000FF"/>
                </a:solidFill>
                <a:ea typeface="华文中宋" panose="02010600040101010101" pitchFamily="2" charset="-122"/>
              </a:rPr>
              <a:t>分散缩孔</a:t>
            </a:r>
            <a:r>
              <a:rPr lang="zh-CN" altLang="en-US" b="1" dirty="0">
                <a:ea typeface="华文中宋" panose="02010600040101010101" pitchFamily="2" charset="-122"/>
              </a:rPr>
              <a:t>增加。</a:t>
            </a:r>
            <a:endParaRPr lang="en-US" altLang="zh-CN" b="1" dirty="0">
              <a:ea typeface="华文中宋" panose="02010600040101010101" pitchFamily="2" charset="-122"/>
            </a:endParaRPr>
          </a:p>
          <a:p>
            <a:pPr eaLnBrk="1" latinLnBrk="0" hangingPunct="1">
              <a:lnSpc>
                <a:spcPct val="120000"/>
              </a:lnSpc>
              <a:spcBef>
                <a:spcPts val="0"/>
              </a:spcBef>
            </a:pPr>
            <a:r>
              <a:rPr lang="en-US" altLang="zh-CN" b="1" dirty="0">
                <a:ea typeface="华文中宋" panose="02010600040101010101" pitchFamily="2" charset="-122"/>
              </a:rPr>
              <a:t>②</a:t>
            </a:r>
            <a:r>
              <a:rPr lang="zh-CN" altLang="en-US" b="1" dirty="0">
                <a:solidFill>
                  <a:srgbClr val="0000FF"/>
                </a:solidFill>
                <a:ea typeface="华文中宋" panose="02010600040101010101" pitchFamily="2" charset="-122"/>
              </a:rPr>
              <a:t>共晶合金</a:t>
            </a:r>
            <a:r>
              <a:rPr lang="zh-CN" altLang="en-US" b="1" dirty="0">
                <a:ea typeface="华文中宋" panose="02010600040101010101" pitchFamily="2" charset="-122"/>
              </a:rPr>
              <a:t>结晶温度低</a:t>
            </a:r>
            <a:r>
              <a:rPr lang="en-US" altLang="zh-CN" b="1" dirty="0">
                <a:ea typeface="华文中宋" panose="02010600040101010101" pitchFamily="2" charset="-122"/>
              </a:rPr>
              <a:t>,</a:t>
            </a:r>
            <a:r>
              <a:rPr lang="zh-CN" altLang="en-US" b="1" dirty="0">
                <a:ea typeface="华文中宋" panose="02010600040101010101" pitchFamily="2" charset="-122"/>
              </a:rPr>
              <a:t>流动性好，缩孔集中，偏析小，</a:t>
            </a:r>
            <a:r>
              <a:rPr lang="zh-CN" altLang="en-US" b="1" dirty="0">
                <a:solidFill>
                  <a:srgbClr val="0000FF"/>
                </a:solidFill>
                <a:ea typeface="华文中宋" panose="02010600040101010101" pitchFamily="2" charset="-122"/>
              </a:rPr>
              <a:t>铸造性能好</a:t>
            </a:r>
            <a:r>
              <a:rPr lang="zh-CN" altLang="en-US" b="1" dirty="0">
                <a:ea typeface="华文中宋" panose="02010600040101010101" pitchFamily="2" charset="-122"/>
              </a:rPr>
              <a:t>。</a:t>
            </a:r>
            <a:endParaRPr lang="en-US" altLang="zh-CN" b="1" dirty="0">
              <a:ea typeface="华文中宋" panose="02010600040101010101" pitchFamily="2" charset="-122"/>
            </a:endParaRPr>
          </a:p>
        </p:txBody>
      </p:sp>
      <p:sp>
        <p:nvSpPr>
          <p:cNvPr id="105485" name="Rectangle 13"/>
          <p:cNvSpPr/>
          <p:nvPr/>
        </p:nvSpPr>
        <p:spPr>
          <a:xfrm>
            <a:off x="228600" y="2743200"/>
            <a:ext cx="4414838" cy="3616325"/>
          </a:xfrm>
          <a:prstGeom prst="rect">
            <a:avLst/>
          </a:prstGeom>
          <a:noFill/>
          <a:ln w="9525">
            <a:noFill/>
          </a:ln>
        </p:spPr>
        <p:txBody>
          <a:bodyPr/>
          <a:lstStyle/>
          <a:p>
            <a:pPr marL="342900" lvl="0" indent="-342900" eaLnBrk="1" hangingPunct="1">
              <a:lnSpc>
                <a:spcPct val="140000"/>
              </a:lnSpc>
              <a:spcBef>
                <a:spcPct val="20000"/>
              </a:spcBef>
              <a:buClr>
                <a:schemeClr val="accent2"/>
              </a:buClr>
              <a:buSzPct val="80000"/>
              <a:buFont typeface="Wingdings" panose="05000000000000000000" pitchFamily="2" charset="2"/>
              <a:buChar char="l"/>
            </a:pPr>
            <a:endParaRPr lang="zh-CN" altLang="zh-CN" sz="2800" b="1" dirty="0">
              <a:latin typeface="Times New Roman" panose="02020603050405020304" pitchFamily="18" charset="0"/>
              <a:ea typeface="华文中宋" panose="02010600040101010101" pitchFamily="2" charset="-122"/>
            </a:endParaRPr>
          </a:p>
        </p:txBody>
      </p:sp>
      <p:sp>
        <p:nvSpPr>
          <p:cNvPr id="105486" name="Rectangle 14"/>
          <p:cNvSpPr>
            <a:spLocks noGrp="1" noChangeArrowheads="1"/>
          </p:cNvSpPr>
          <p:nvPr>
            <p:ph type="title"/>
          </p:nvPr>
        </p:nvSpPr>
        <p:spPr>
          <a:xfrm>
            <a:off x="1071563" y="-1"/>
            <a:ext cx="7772400" cy="1202333"/>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b="1" i="0" u="none" strike="noStrike" kern="0" cap="none" spc="0" normalizeH="0" baseline="0" noProof="0" dirty="0">
                <a:ln>
                  <a:noFill/>
                </a:ln>
                <a:solidFill>
                  <a:srgbClr val="FF0000"/>
                </a:solidFill>
                <a:uLnTx/>
                <a:uFillTx/>
                <a:latin typeface="+mj-lt"/>
                <a:ea typeface="华文中宋" panose="02010600040101010101" pitchFamily="2" charset="-122"/>
                <a:cs typeface="+mj-cs"/>
              </a:rPr>
              <a:t>⑵ </a:t>
            </a:r>
            <a:r>
              <a:rPr kumimoji="1" lang="zh-CN" altLang="en-US" b="1" i="0" u="none" strike="noStrike" kern="0" cap="none" spc="0" normalizeH="0" baseline="0" noProof="0" dirty="0">
                <a:ln>
                  <a:noFill/>
                </a:ln>
                <a:solidFill>
                  <a:srgbClr val="FF0000"/>
                </a:solidFill>
                <a:uLnTx/>
                <a:uFillTx/>
                <a:latin typeface="+mj-lt"/>
                <a:ea typeface="华文中宋" panose="02010600040101010101" pitchFamily="2" charset="-122"/>
                <a:cs typeface="+mj-cs"/>
              </a:rPr>
              <a:t>相图与铸造性能的关系 </a:t>
            </a:r>
          </a:p>
        </p:txBody>
      </p:sp>
      <p:pic>
        <p:nvPicPr>
          <p:cNvPr id="15" name="Picture 15" descr="合金的铸造性能与相图的关系示意图"/>
          <p:cNvPicPr>
            <a:picLocks noChangeAspect="1"/>
          </p:cNvPicPr>
          <p:nvPr/>
        </p:nvPicPr>
        <p:blipFill>
          <a:blip r:embed="rId2"/>
          <a:stretch>
            <a:fillRect/>
          </a:stretch>
        </p:blipFill>
        <p:spPr>
          <a:xfrm>
            <a:off x="5369016" y="2277423"/>
            <a:ext cx="3711575" cy="3584575"/>
          </a:xfrm>
          <a:prstGeom prst="rect">
            <a:avLst/>
          </a:prstGeom>
          <a:noFill/>
          <a:ln w="9525">
            <a:noFill/>
          </a:ln>
        </p:spPr>
      </p:pic>
      <p:pic>
        <p:nvPicPr>
          <p:cNvPr id="9" name="内容占位符 1" descr="新校徽（3M）弓之乐"/>
          <p:cNvPicPr>
            <a:picLocks noChangeAspect="1"/>
          </p:cNvPicPr>
          <p:nvPr/>
        </p:nvPicPr>
        <p:blipFill>
          <a:blip r:embed="rId3"/>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5474">
                                            <p:txEl>
                                              <p:pRg st="0" end="0"/>
                                            </p:txEl>
                                          </p:spTgt>
                                        </p:tgtEl>
                                        <p:attrNameLst>
                                          <p:attrName>style.visibility</p:attrName>
                                        </p:attrNameLst>
                                      </p:cBhvr>
                                      <p:to>
                                        <p:strVal val="visible"/>
                                      </p:to>
                                    </p:set>
                                    <p:animEffect transition="in" filter="wipe(left)">
                                      <p:cBhvr>
                                        <p:cTn id="7" dur="500"/>
                                        <p:tgtEl>
                                          <p:spTgt spid="105474">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5474">
                                            <p:txEl>
                                              <p:pRg st="1" end="1"/>
                                            </p:txEl>
                                          </p:spTgt>
                                        </p:tgtEl>
                                        <p:attrNameLst>
                                          <p:attrName>style.visibility</p:attrName>
                                        </p:attrNameLst>
                                      </p:cBhvr>
                                      <p:to>
                                        <p:strVal val="visible"/>
                                      </p:to>
                                    </p:set>
                                    <p:animEffect transition="in" filter="wipe(left)">
                                      <p:cBhvr>
                                        <p:cTn id="11" dur="500"/>
                                        <p:tgtEl>
                                          <p:spTgt spid="105474">
                                            <p:txEl>
                                              <p:pRg st="1" end="1"/>
                                            </p:txEl>
                                          </p:spTgt>
                                        </p:tgtEl>
                                      </p:cBhvr>
                                    </p:animEffect>
                                  </p:childTnLst>
                                </p:cTn>
                              </p:par>
                            </p:childTnLst>
                          </p:cTn>
                        </p:par>
                        <p:par>
                          <p:cTn id="12" fill="hold">
                            <p:stCondLst>
                              <p:cond delay="1000"/>
                            </p:stCondLst>
                            <p:childTnLst>
                              <p:par>
                                <p:cTn id="13" presetID="22" presetClass="entr" presetSubtype="8" fill="hold" grpId="0" nodeType="afterEffect" nodePh="1">
                                  <p:stCondLst>
                                    <p:cond delay="0"/>
                                  </p:stCondLst>
                                  <p:endCondLst>
                                    <p:cond evt="begin" delay="0">
                                      <p:tn val="13"/>
                                    </p:cond>
                                  </p:endCondLst>
                                  <p:childTnLst>
                                    <p:set>
                                      <p:cBhvr>
                                        <p:cTn id="14" dur="1" fill="hold">
                                          <p:stCondLst>
                                            <p:cond delay="0"/>
                                          </p:stCondLst>
                                        </p:cTn>
                                        <p:tgtEl>
                                          <p:spTgt spid="105485">
                                            <p:txEl>
                                              <p:pRg st="0" end="0"/>
                                            </p:txEl>
                                          </p:spTgt>
                                        </p:tgtEl>
                                        <p:attrNameLst>
                                          <p:attrName>style.visibility</p:attrName>
                                        </p:attrNameLst>
                                      </p:cBhvr>
                                      <p:to>
                                        <p:strVal val="visible"/>
                                      </p:to>
                                    </p:set>
                                    <p:animEffect transition="in" filter="wipe(left)">
                                      <p:cBhvr>
                                        <p:cTn id="15" dur="500"/>
                                        <p:tgtEl>
                                          <p:spTgt spid="105485">
                                            <p:txEl>
                                              <p:pRg st="0" end="0"/>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ipe(up)">
                                      <p:cBhvr>
                                        <p:cTn id="1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4" grpId="0" build="p" advAuto="1000"/>
      <p:bldP spid="105485" grpId="0" build="p" advAuto="100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115616" y="1844824"/>
            <a:ext cx="7647384" cy="3168352"/>
          </a:xfrm>
        </p:spPr>
        <p:txBody>
          <a:bodyPr/>
          <a:lstStyle/>
          <a:p>
            <a:r>
              <a:rPr kumimoji="1" lang="zh-CN" altLang="en-US" sz="6000" b="1" i="0" u="none" strike="noStrike" kern="0" cap="none" spc="0" normalizeH="0" baseline="0" noProof="0" dirty="0">
                <a:ln>
                  <a:noFill/>
                </a:ln>
                <a:solidFill>
                  <a:srgbClr val="FF0000"/>
                </a:solidFill>
                <a:effectLst>
                  <a:outerShdw blurRad="38100" dist="38100" dir="2700000" algn="tl">
                    <a:srgbClr val="000000"/>
                  </a:outerShdw>
                </a:effectLst>
                <a:uLnTx/>
                <a:uFillTx/>
                <a:latin typeface="华文中宋" panose="02010600040101010101" pitchFamily="2" charset="-122"/>
                <a:ea typeface="华文中宋" panose="02010600040101010101" pitchFamily="2" charset="-122"/>
                <a:cs typeface="+mj-cs"/>
              </a:rPr>
              <a:t>第三节  铁碳合金相图</a:t>
            </a:r>
            <a:br>
              <a:rPr kumimoji="1" lang="en-US" altLang="zh-CN" sz="6000" b="1" i="0" u="none" strike="noStrike" kern="0" cap="none" spc="0" normalizeH="0" baseline="0" noProof="0" dirty="0">
                <a:ln>
                  <a:noFill/>
                </a:ln>
                <a:solidFill>
                  <a:schemeClr val="tx2"/>
                </a:solidFill>
                <a:effectLst>
                  <a:outerShdw blurRad="38100" dist="38100" dir="2700000" algn="tl">
                    <a:srgbClr val="000000"/>
                  </a:outerShdw>
                </a:effectLst>
                <a:uLnTx/>
                <a:uFillTx/>
                <a:latin typeface="华文中宋" panose="02010600040101010101" pitchFamily="2" charset="-122"/>
                <a:ea typeface="华文中宋" panose="02010600040101010101" pitchFamily="2" charset="-122"/>
                <a:cs typeface="+mj-cs"/>
              </a:rPr>
            </a:br>
            <a:r>
              <a:rPr lang="en-US" altLang="zh-CN" sz="60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Phase Diagram of Iron</a:t>
            </a:r>
            <a:r>
              <a:rPr lang="zh-CN" altLang="en-US" sz="60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60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&amp; Carbon Alloys</a:t>
            </a:r>
          </a:p>
        </p:txBody>
      </p:sp>
      <p:sp>
        <p:nvSpPr>
          <p:cNvPr id="5" name="日期占位符 1"/>
          <p:cNvSpPr txBox="1"/>
          <p:nvPr/>
        </p:nvSpPr>
        <p:spPr>
          <a:xfrm>
            <a:off x="19685" y="6529929"/>
            <a:ext cx="1905000" cy="342900"/>
          </a:xfrm>
          <a:prstGeom prst="rect">
            <a:avLst/>
          </a:prstGeom>
        </p:spPr>
        <p:txBody>
          <a:bodyPr wrap="square" lIns="91440" tIns="45720" rIns="91440" bIns="45720" anchor="b"/>
          <a:lstStyle>
            <a:defPPr>
              <a:defRPr lang="zh-CN"/>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9pPr>
          </a:lstStyle>
          <a:p>
            <a:fld id="{BB962C8B-B14F-4D97-AF65-F5344CB8AC3E}" type="datetime8">
              <a:rPr lang="en-US" altLang="zh-CN" sz="1400" smtClean="0"/>
              <a:t>11/20/2025 5:38 PM</a:t>
            </a:fld>
            <a:endParaRPr lang="en-US" altLang="zh-CN" sz="1400" dirty="0"/>
          </a:p>
        </p:txBody>
      </p:sp>
      <p:sp>
        <p:nvSpPr>
          <p:cNvPr id="6" name="灯片编号占位符 3"/>
          <p:cNvSpPr txBox="1"/>
          <p:nvPr/>
        </p:nvSpPr>
        <p:spPr bwMode="auto">
          <a:xfrm>
            <a:off x="8316416" y="6529928"/>
            <a:ext cx="630734" cy="328072"/>
          </a:xfrm>
          <a:prstGeom prst="rect">
            <a:avLst/>
          </a:prstGeom>
          <a:noFill/>
          <a:ln w="9525">
            <a:noFill/>
            <a:miter lim="800000"/>
          </a:ln>
          <a:effectLst/>
        </p:spPr>
        <p:txBody>
          <a:bodyPr vert="horz" wrap="square" lIns="91440" tIns="45720" rIns="91440" bIns="45720" numCol="1" anchor="b" anchorCtr="0" compatLnSpc="1"/>
          <a:ls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9pPr>
          </a:lstStyle>
          <a:p>
            <a:pPr algn="r"/>
            <a:fld id="{9A0DB2DC-4C9A-4742-B13C-FB6460FD3503}" type="slidenum">
              <a:rPr lang="en-US" altLang="zh-CN" sz="1400" noProof="1" smtClean="0">
                <a:cs typeface="+mn-ea"/>
              </a:rPr>
              <a:t>106</a:t>
            </a:fld>
            <a:endParaRPr lang="en-US" altLang="zh-CN" sz="1400" dirty="0"/>
          </a:p>
        </p:txBody>
      </p:sp>
      <p:pic>
        <p:nvPicPr>
          <p:cNvPr id="4"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264" t="15784" r="3206" b="19580"/>
          <a:stretch>
            <a:fillRect/>
          </a:stretch>
        </p:blipFill>
        <p:spPr bwMode="auto">
          <a:xfrm>
            <a:off x="0" y="0"/>
            <a:ext cx="2372995" cy="582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日期占位符 3"/>
          <p:cNvSpPr txBox="1">
            <a:spLocks noGrp="1"/>
          </p:cNvSpPr>
          <p:nvPr>
            <p:ph type="dt" sz="half" idx="10"/>
          </p:nvPr>
        </p:nvSpPr>
        <p:spPr>
          <a:xfrm>
            <a:off x="0" y="6510338"/>
            <a:ext cx="2305050"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03427" name="灯片编号占位符 5"/>
          <p:cNvSpPr txBox="1">
            <a:spLocks noGrp="1"/>
          </p:cNvSpPr>
          <p:nvPr>
            <p:ph type="sldNum" sz="quarter" idx="12"/>
          </p:nvPr>
        </p:nvSpPr>
        <p:spPr>
          <a:xfrm>
            <a:off x="8608060" y="6551930"/>
            <a:ext cx="520700" cy="306070"/>
          </a:xfrm>
        </p:spPr>
        <p:txBody>
          <a:bodyPr lIns="92075" tIns="46038" rIns="92075" bIns="46038" anchor="ctr"/>
          <a:lstStyle/>
          <a:p>
            <a:pPr algn="r" eaLnBrk="1" hangingPunct="1"/>
            <a:fld id="{9A0DB2DC-4C9A-4742-B13C-FB6460FD3503}" type="slidenum">
              <a:rPr lang="en-US" altLang="zh-CN" sz="1400" dirty="0"/>
              <a:t>107</a:t>
            </a:fld>
            <a:endParaRPr lang="en-US" altLang="zh-CN" sz="1400" dirty="0"/>
          </a:p>
        </p:txBody>
      </p:sp>
      <p:sp>
        <p:nvSpPr>
          <p:cNvPr id="107522" name="Rectangle 2"/>
          <p:cNvSpPr>
            <a:spLocks noGrp="1" noChangeArrowheads="1"/>
          </p:cNvSpPr>
          <p:nvPr>
            <p:ph type="title"/>
          </p:nvPr>
        </p:nvSpPr>
        <p:spPr>
          <a:xfrm>
            <a:off x="956945" y="219710"/>
            <a:ext cx="8171180" cy="2060575"/>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b="1" i="0" u="none" strike="noStrike" kern="0" cap="none" spc="0" normalizeH="0" baseline="0" noProof="0" dirty="0">
                <a:ln>
                  <a:noFill/>
                </a:ln>
                <a:solidFill>
                  <a:srgbClr val="FF0000"/>
                </a:solidFill>
                <a:uLnTx/>
                <a:uFillTx/>
                <a:latin typeface="华文中宋" panose="02010600040101010101" pitchFamily="2" charset="-122"/>
                <a:ea typeface="华文中宋" panose="02010600040101010101" pitchFamily="2" charset="-122"/>
                <a:cs typeface="+mj-cs"/>
              </a:rPr>
              <a:t>第三节  铁碳合金相图</a:t>
            </a:r>
            <a:br>
              <a:rPr kumimoji="1" lang="en-US" altLang="zh-CN"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华文中宋" panose="02010600040101010101" pitchFamily="2" charset="-122"/>
                <a:ea typeface="华文中宋" panose="02010600040101010101" pitchFamily="2" charset="-122"/>
                <a:cs typeface="+mj-cs"/>
              </a:rPr>
            </a:br>
            <a:r>
              <a:rPr lang="en-US" altLang="zh-CN" sz="32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Phase Diagram of Iron</a:t>
            </a:r>
            <a:r>
              <a:rPr lang="zh-CN" altLang="en-US" sz="32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32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&amp; Carbon Alloys</a:t>
            </a:r>
            <a:endParaRPr kumimoji="1" lang="en-US" altLang="zh-CN" sz="3200" b="1" i="1" u="none" strike="noStrike" kern="0" cap="none" spc="0" normalizeH="0" baseline="0" noProof="0" dirty="0">
              <a:ln>
                <a:noFill/>
              </a:ln>
              <a:solidFill>
                <a:srgbClr val="FF0000"/>
              </a:solidFill>
              <a:effectLst>
                <a:outerShdw blurRad="38100" dist="38100" dir="2700000" algn="tl">
                  <a:srgbClr val="00000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pic>
        <p:nvPicPr>
          <p:cNvPr id="107524" name="Picture 4" descr="Fe-C相图5"/>
          <p:cNvPicPr>
            <a:picLocks noChangeAspect="1"/>
          </p:cNvPicPr>
          <p:nvPr/>
        </p:nvPicPr>
        <p:blipFill>
          <a:blip r:embed="rId2"/>
          <a:stretch>
            <a:fillRect/>
          </a:stretch>
        </p:blipFill>
        <p:spPr>
          <a:xfrm>
            <a:off x="2596515" y="1988820"/>
            <a:ext cx="4997450" cy="4484370"/>
          </a:xfrm>
          <a:prstGeom prst="rect">
            <a:avLst/>
          </a:prstGeom>
          <a:noFill/>
          <a:ln w="57150" cap="flat" cmpd="sng">
            <a:solidFill>
              <a:srgbClr val="CC99FF"/>
            </a:solidFill>
            <a:prstDash val="solid"/>
            <a:miter/>
            <a:headEnd type="none" w="med" len="med"/>
            <a:tailEnd type="none" w="med" len="med"/>
          </a:ln>
        </p:spPr>
      </p:pic>
      <p:pic>
        <p:nvPicPr>
          <p:cNvPr id="8" name="内容占位符 1" descr="新校徽（3M）弓之乐"/>
          <p:cNvPicPr>
            <a:picLocks noChangeAspect="1"/>
          </p:cNvPicPr>
          <p:nvPr/>
        </p:nvPicPr>
        <p:blipFill>
          <a:blip r:embed="rId3"/>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7522"/>
                                        </p:tgtEl>
                                        <p:attrNameLst>
                                          <p:attrName>style.visibility</p:attrName>
                                        </p:attrNameLst>
                                      </p:cBhvr>
                                      <p:to>
                                        <p:strVal val="visible"/>
                                      </p:to>
                                    </p:set>
                                    <p:animEffect transition="in" filter="wipe(left)">
                                      <p:cBhvr>
                                        <p:cTn id="7" dur="500"/>
                                        <p:tgtEl>
                                          <p:spTgt spid="107522"/>
                                        </p:tgtEl>
                                      </p:cBhvr>
                                    </p:animEffect>
                                  </p:childTnLst>
                                </p:cTn>
                              </p:par>
                            </p:childTnLst>
                          </p:cTn>
                        </p:par>
                        <p:par>
                          <p:cTn id="8" fill="hold">
                            <p:stCondLst>
                              <p:cond delay="500"/>
                            </p:stCondLst>
                            <p:childTnLst>
                              <p:par>
                                <p:cTn id="9" presetID="4" presetClass="entr" presetSubtype="32" fill="hold" nodeType="afterEffect">
                                  <p:stCondLst>
                                    <p:cond delay="0"/>
                                  </p:stCondLst>
                                  <p:childTnLst>
                                    <p:set>
                                      <p:cBhvr>
                                        <p:cTn id="10" dur="1" fill="hold">
                                          <p:stCondLst>
                                            <p:cond delay="0"/>
                                          </p:stCondLst>
                                        </p:cTn>
                                        <p:tgtEl>
                                          <p:spTgt spid="107524"/>
                                        </p:tgtEl>
                                        <p:attrNameLst>
                                          <p:attrName>style.visibility</p:attrName>
                                        </p:attrNameLst>
                                      </p:cBhvr>
                                      <p:to>
                                        <p:strVal val="visible"/>
                                      </p:to>
                                    </p:set>
                                    <p:animEffect transition="in" filter="box(out)">
                                      <p:cBhvr>
                                        <p:cTn id="11" dur="500"/>
                                        <p:tgtEl>
                                          <p:spTgt spid="1075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2"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日期占位符 3"/>
          <p:cNvSpPr txBox="1">
            <a:spLocks noGrp="1"/>
          </p:cNvSpPr>
          <p:nvPr>
            <p:ph type="dt" sz="half" idx="10"/>
          </p:nvPr>
        </p:nvSpPr>
        <p:spPr>
          <a:xfrm>
            <a:off x="0" y="6510338"/>
            <a:ext cx="2305050"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03427" name="灯片编号占位符 5"/>
          <p:cNvSpPr txBox="1">
            <a:spLocks noGrp="1"/>
          </p:cNvSpPr>
          <p:nvPr>
            <p:ph type="sldNum" sz="quarter" idx="12"/>
          </p:nvPr>
        </p:nvSpPr>
        <p:spPr>
          <a:xfrm>
            <a:off x="8608060" y="6551930"/>
            <a:ext cx="520700" cy="306070"/>
          </a:xfrm>
        </p:spPr>
        <p:txBody>
          <a:bodyPr lIns="92075" tIns="46038" rIns="92075" bIns="46038" anchor="ctr"/>
          <a:lstStyle/>
          <a:p>
            <a:pPr algn="r" eaLnBrk="1" hangingPunct="1"/>
            <a:fld id="{9A0DB2DC-4C9A-4742-B13C-FB6460FD3503}" type="slidenum">
              <a:rPr lang="en-US" altLang="zh-CN" sz="1400" dirty="0"/>
              <a:t>108</a:t>
            </a:fld>
            <a:endParaRPr lang="en-US" altLang="zh-CN" sz="1400" dirty="0"/>
          </a:p>
        </p:txBody>
      </p:sp>
      <p:sp>
        <p:nvSpPr>
          <p:cNvPr id="107522" name="Rectangle 2"/>
          <p:cNvSpPr>
            <a:spLocks noGrp="1" noChangeArrowheads="1"/>
          </p:cNvSpPr>
          <p:nvPr>
            <p:ph type="title"/>
          </p:nvPr>
        </p:nvSpPr>
        <p:spPr>
          <a:xfrm>
            <a:off x="1331640" y="133033"/>
            <a:ext cx="7100888" cy="10668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400" b="1" i="0" u="none" strike="noStrike" kern="0" cap="none" spc="0" normalizeH="0" baseline="0" noProof="0" dirty="0">
                <a:ln>
                  <a:noFill/>
                </a:ln>
                <a:solidFill>
                  <a:srgbClr val="FF0000"/>
                </a:solidFill>
                <a:uLnTx/>
                <a:uFillTx/>
                <a:latin typeface="华文中宋" panose="02010600040101010101" pitchFamily="2" charset="-122"/>
                <a:ea typeface="华文中宋" panose="02010600040101010101" pitchFamily="2" charset="-122"/>
                <a:cs typeface="+mj-cs"/>
              </a:rPr>
              <a:t>第三节  铁碳合金相图</a:t>
            </a:r>
          </a:p>
        </p:txBody>
      </p:sp>
      <p:sp>
        <p:nvSpPr>
          <p:cNvPr id="107523" name="Rectangle 3"/>
          <p:cNvSpPr>
            <a:spLocks noGrp="1"/>
          </p:cNvSpPr>
          <p:nvPr>
            <p:ph idx="1"/>
          </p:nvPr>
        </p:nvSpPr>
        <p:spPr>
          <a:xfrm>
            <a:off x="107315" y="1988820"/>
            <a:ext cx="4465320" cy="4392295"/>
          </a:xfrm>
        </p:spPr>
        <p:txBody>
          <a:bodyPr vert="horz" wrap="square" lIns="91440" tIns="45720" rIns="91440" bIns="45720" anchor="t"/>
          <a:lstStyle/>
          <a:p>
            <a:pPr eaLnBrk="1" latinLnBrk="0" hangingPunct="1">
              <a:lnSpc>
                <a:spcPct val="150000"/>
              </a:lnSpc>
              <a:spcBef>
                <a:spcPts val="0"/>
              </a:spcBef>
            </a:pPr>
            <a:r>
              <a:rPr lang="zh-CN" altLang="en-US" sz="2800" b="1" dirty="0">
                <a:solidFill>
                  <a:schemeClr val="tx2"/>
                </a:solidFill>
                <a:ea typeface="华文中宋" panose="02010600040101010101" pitchFamily="2" charset="-122"/>
              </a:rPr>
              <a:t>铁碳合金</a:t>
            </a:r>
            <a:r>
              <a:rPr lang="en-US" altLang="zh-CN" sz="2800" b="1" dirty="0">
                <a:ea typeface="华文中宋" panose="02010600040101010101" pitchFamily="2" charset="-122"/>
              </a:rPr>
              <a:t>——</a:t>
            </a:r>
            <a:r>
              <a:rPr lang="en-US" altLang="zh-CN" sz="2800" b="1" kern="1200" dirty="0">
                <a:solidFill>
                  <a:srgbClr val="0000FF"/>
                </a:solidFill>
                <a:ea typeface="华文中宋" panose="02010600040101010101" pitchFamily="2" charset="-122"/>
              </a:rPr>
              <a:t>碳钢</a:t>
            </a:r>
            <a:r>
              <a:rPr lang="zh-CN" altLang="en-US" sz="2800" b="1" dirty="0">
                <a:ea typeface="华文中宋" panose="02010600040101010101" pitchFamily="2" charset="-122"/>
              </a:rPr>
              <a:t>和</a:t>
            </a:r>
            <a:r>
              <a:rPr lang="en-US" altLang="zh-CN" sz="2800" b="1" kern="1200" dirty="0">
                <a:solidFill>
                  <a:srgbClr val="0000FF"/>
                </a:solidFill>
                <a:ea typeface="华文中宋" panose="02010600040101010101" pitchFamily="2" charset="-122"/>
              </a:rPr>
              <a:t>铸铁</a:t>
            </a:r>
            <a:r>
              <a:rPr lang="zh-CN" altLang="en-US" sz="2800" b="1" dirty="0">
                <a:ea typeface="华文中宋" panose="02010600040101010101" pitchFamily="2" charset="-122"/>
              </a:rPr>
              <a:t>，工业应用最广的合金。</a:t>
            </a:r>
            <a:endParaRPr lang="en-US" altLang="zh-CN" sz="2800" b="1" dirty="0">
              <a:solidFill>
                <a:schemeClr val="folHlink"/>
              </a:solidFill>
              <a:ea typeface="华文中宋" panose="02010600040101010101" pitchFamily="2" charset="-122"/>
            </a:endParaRPr>
          </a:p>
          <a:p>
            <a:pPr eaLnBrk="1" latinLnBrk="0" hangingPunct="1">
              <a:lnSpc>
                <a:spcPct val="150000"/>
              </a:lnSpc>
              <a:spcBef>
                <a:spcPts val="0"/>
              </a:spcBef>
            </a:pPr>
            <a:r>
              <a:rPr lang="zh-CN" altLang="en-US" sz="2800" b="1" dirty="0">
                <a:solidFill>
                  <a:schemeClr val="folHlink"/>
                </a:solidFill>
                <a:ea typeface="华文中宋" panose="02010600040101010101" pitchFamily="2" charset="-122"/>
              </a:rPr>
              <a:t>含碳量为</a:t>
            </a:r>
            <a:r>
              <a:rPr lang="en-US" altLang="zh-CN" sz="2800" b="1" dirty="0">
                <a:solidFill>
                  <a:schemeClr val="folHlink"/>
                </a:solidFill>
                <a:ea typeface="华文中宋" panose="02010600040101010101" pitchFamily="2" charset="-122"/>
              </a:rPr>
              <a:t>0.0218% ~2.11%</a:t>
            </a:r>
            <a:r>
              <a:rPr lang="zh-CN" altLang="en-US" sz="2800" b="1" dirty="0">
                <a:solidFill>
                  <a:schemeClr val="folHlink"/>
                </a:solidFill>
                <a:ea typeface="华文中宋" panose="02010600040101010101" pitchFamily="2" charset="-122"/>
              </a:rPr>
              <a:t>的</a:t>
            </a:r>
            <a:r>
              <a:rPr lang="zh-CN" altLang="en-US" sz="2800" b="1" dirty="0">
                <a:ea typeface="华文中宋" panose="02010600040101010101" pitchFamily="2" charset="-122"/>
              </a:rPr>
              <a:t>称为</a:t>
            </a:r>
            <a:r>
              <a:rPr lang="en-US" altLang="zh-CN" sz="2800" b="1" kern="1200" dirty="0">
                <a:solidFill>
                  <a:srgbClr val="0000FF"/>
                </a:solidFill>
                <a:ea typeface="华文中宋" panose="02010600040101010101" pitchFamily="2" charset="-122"/>
              </a:rPr>
              <a:t>钢</a:t>
            </a:r>
          </a:p>
          <a:p>
            <a:pPr eaLnBrk="1" latinLnBrk="0" hangingPunct="1">
              <a:lnSpc>
                <a:spcPct val="150000"/>
              </a:lnSpc>
              <a:spcBef>
                <a:spcPts val="0"/>
              </a:spcBef>
            </a:pPr>
            <a:r>
              <a:rPr lang="zh-CN" altLang="en-US" sz="2800" b="1" dirty="0">
                <a:solidFill>
                  <a:schemeClr val="folHlink"/>
                </a:solidFill>
                <a:ea typeface="华文中宋" panose="02010600040101010101" pitchFamily="2" charset="-122"/>
              </a:rPr>
              <a:t>含碳量为 </a:t>
            </a:r>
            <a:r>
              <a:rPr lang="en-US" altLang="zh-CN" sz="2800" b="1" dirty="0">
                <a:solidFill>
                  <a:schemeClr val="folHlink"/>
                </a:solidFill>
                <a:ea typeface="华文中宋" panose="02010600040101010101" pitchFamily="2" charset="-122"/>
              </a:rPr>
              <a:t>2.11%~ 6.69%</a:t>
            </a:r>
            <a:r>
              <a:rPr lang="zh-CN" altLang="en-US" sz="2800" b="1" dirty="0">
                <a:solidFill>
                  <a:schemeClr val="folHlink"/>
                </a:solidFill>
                <a:ea typeface="华文中宋" panose="02010600040101010101" pitchFamily="2" charset="-122"/>
              </a:rPr>
              <a:t>的</a:t>
            </a:r>
            <a:r>
              <a:rPr lang="zh-CN" altLang="en-US" sz="2800" b="1" dirty="0">
                <a:ea typeface="华文中宋" panose="02010600040101010101" pitchFamily="2" charset="-122"/>
              </a:rPr>
              <a:t>称为</a:t>
            </a:r>
            <a:r>
              <a:rPr lang="en-US" altLang="zh-CN" sz="2800" b="1" kern="1200" dirty="0">
                <a:solidFill>
                  <a:srgbClr val="0000FF"/>
                </a:solidFill>
                <a:ea typeface="华文中宋" panose="02010600040101010101" pitchFamily="2" charset="-122"/>
              </a:rPr>
              <a:t>铸铁</a:t>
            </a:r>
            <a:r>
              <a:rPr lang="zh-CN" altLang="en-US" sz="2800" b="1" dirty="0">
                <a:solidFill>
                  <a:schemeClr val="folHlink"/>
                </a:solidFill>
                <a:ea typeface="华文中宋" panose="02010600040101010101" pitchFamily="2" charset="-122"/>
              </a:rPr>
              <a:t>。</a:t>
            </a:r>
          </a:p>
        </p:txBody>
      </p:sp>
      <p:pic>
        <p:nvPicPr>
          <p:cNvPr id="107524" name="Picture 4" descr="Fe-C相图5"/>
          <p:cNvPicPr>
            <a:picLocks noChangeAspect="1"/>
          </p:cNvPicPr>
          <p:nvPr/>
        </p:nvPicPr>
        <p:blipFill>
          <a:blip r:embed="rId3"/>
          <a:stretch>
            <a:fillRect/>
          </a:stretch>
        </p:blipFill>
        <p:spPr>
          <a:xfrm>
            <a:off x="4716780" y="2232025"/>
            <a:ext cx="4210050" cy="3965575"/>
          </a:xfrm>
          <a:prstGeom prst="rect">
            <a:avLst/>
          </a:prstGeom>
          <a:noFill/>
          <a:ln w="57150" cap="flat" cmpd="sng">
            <a:solidFill>
              <a:srgbClr val="CC99FF"/>
            </a:solidFill>
            <a:prstDash val="solid"/>
            <a:miter/>
            <a:headEnd type="none" w="med" len="med"/>
            <a:tailEnd type="none" w="med" len="med"/>
          </a:ln>
        </p:spPr>
      </p:pic>
      <p:pic>
        <p:nvPicPr>
          <p:cNvPr id="8" name="内容占位符 1" descr="新校徽（3M）弓之乐"/>
          <p:cNvPicPr>
            <a:picLocks noChangeAspect="1"/>
          </p:cNvPicPr>
          <p:nvPr/>
        </p:nvPicPr>
        <p:blipFill>
          <a:blip r:embed="rId4"/>
          <a:stretch>
            <a:fillRect/>
          </a:stretch>
        </p:blipFill>
        <p:spPr>
          <a:xfrm>
            <a:off x="0" y="0"/>
            <a:ext cx="746760" cy="735965"/>
          </a:xfrm>
          <a:prstGeom prst="rect">
            <a:avLst/>
          </a:prstGeom>
          <a:noFill/>
          <a:ln w="9525">
            <a:noFill/>
          </a:ln>
        </p:spPr>
      </p:pic>
      <p:sp>
        <p:nvSpPr>
          <p:cNvPr id="2" name="圆角矩形 1" descr="7b0a202020202262756c6c6574223a20227b5c2263617465676f727949645c223a31303032352c5c2274656d706c61746549645c223a32303233313437347d220a7d0a"/>
          <p:cNvSpPr/>
          <p:nvPr>
            <p:custDataLst>
              <p:tags r:id="rId1"/>
            </p:custDataLst>
          </p:nvPr>
        </p:nvSpPr>
        <p:spPr>
          <a:xfrm>
            <a:off x="395605" y="2132965"/>
            <a:ext cx="1551940" cy="480060"/>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28575" cmpd="dbl">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2400" b="1" dirty="0">
                <a:solidFill>
                  <a:srgbClr val="0000FF"/>
                </a:solidFill>
                <a:ea typeface="华文中宋" panose="02010600040101010101" pitchFamily="2" charset="-122"/>
                <a:sym typeface="+mn-ea"/>
              </a:rPr>
              <a:t>铁碳合金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7522"/>
                                        </p:tgtEl>
                                        <p:attrNameLst>
                                          <p:attrName>style.visibility</p:attrName>
                                        </p:attrNameLst>
                                      </p:cBhvr>
                                      <p:to>
                                        <p:strVal val="visible"/>
                                      </p:to>
                                    </p:set>
                                    <p:animEffect transition="in" filter="wipe(left)">
                                      <p:cBhvr>
                                        <p:cTn id="7" dur="500"/>
                                        <p:tgtEl>
                                          <p:spTgt spid="10752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7523">
                                            <p:txEl>
                                              <p:pRg st="0" end="0"/>
                                            </p:txEl>
                                          </p:spTgt>
                                        </p:tgtEl>
                                        <p:attrNameLst>
                                          <p:attrName>style.visibility</p:attrName>
                                        </p:attrNameLst>
                                      </p:cBhvr>
                                      <p:to>
                                        <p:strVal val="visible"/>
                                      </p:to>
                                    </p:set>
                                    <p:animEffect transition="in" filter="wipe(left)">
                                      <p:cBhvr>
                                        <p:cTn id="11" dur="500"/>
                                        <p:tgtEl>
                                          <p:spTgt spid="107523">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1000"/>
                                  </p:stCondLst>
                                  <p:childTnLst>
                                    <p:set>
                                      <p:cBhvr>
                                        <p:cTn id="14" dur="1" fill="hold">
                                          <p:stCondLst>
                                            <p:cond delay="0"/>
                                          </p:stCondLst>
                                        </p:cTn>
                                        <p:tgtEl>
                                          <p:spTgt spid="107523">
                                            <p:txEl>
                                              <p:pRg st="1" end="1"/>
                                            </p:txEl>
                                          </p:spTgt>
                                        </p:tgtEl>
                                        <p:attrNameLst>
                                          <p:attrName>style.visibility</p:attrName>
                                        </p:attrNameLst>
                                      </p:cBhvr>
                                      <p:to>
                                        <p:strVal val="visible"/>
                                      </p:to>
                                    </p:set>
                                    <p:animEffect transition="in" filter="wipe(left)">
                                      <p:cBhvr>
                                        <p:cTn id="15" dur="500"/>
                                        <p:tgtEl>
                                          <p:spTgt spid="107523">
                                            <p:txEl>
                                              <p:pRg st="1" end="1"/>
                                            </p:txEl>
                                          </p:spTgt>
                                        </p:tgtEl>
                                      </p:cBhvr>
                                    </p:animEffect>
                                  </p:childTnLst>
                                </p:cTn>
                              </p:par>
                            </p:childTnLst>
                          </p:cTn>
                        </p:par>
                        <p:par>
                          <p:cTn id="16" fill="hold">
                            <p:stCondLst>
                              <p:cond delay="2500"/>
                            </p:stCondLst>
                            <p:childTnLst>
                              <p:par>
                                <p:cTn id="17" presetID="22" presetClass="entr" presetSubtype="8" fill="hold" grpId="0" nodeType="afterEffect">
                                  <p:stCondLst>
                                    <p:cond delay="1000"/>
                                  </p:stCondLst>
                                  <p:childTnLst>
                                    <p:set>
                                      <p:cBhvr>
                                        <p:cTn id="18" dur="1" fill="hold">
                                          <p:stCondLst>
                                            <p:cond delay="0"/>
                                          </p:stCondLst>
                                        </p:cTn>
                                        <p:tgtEl>
                                          <p:spTgt spid="107523">
                                            <p:txEl>
                                              <p:pRg st="2" end="2"/>
                                            </p:txEl>
                                          </p:spTgt>
                                        </p:tgtEl>
                                        <p:attrNameLst>
                                          <p:attrName>style.visibility</p:attrName>
                                        </p:attrNameLst>
                                      </p:cBhvr>
                                      <p:to>
                                        <p:strVal val="visible"/>
                                      </p:to>
                                    </p:set>
                                    <p:animEffect transition="in" filter="wipe(left)">
                                      <p:cBhvr>
                                        <p:cTn id="19" dur="500"/>
                                        <p:tgtEl>
                                          <p:spTgt spid="107523">
                                            <p:txEl>
                                              <p:pRg st="2" end="2"/>
                                            </p:txEl>
                                          </p:spTgt>
                                        </p:tgtEl>
                                      </p:cBhvr>
                                    </p:animEffect>
                                  </p:childTnLst>
                                </p:cTn>
                              </p:par>
                            </p:childTnLst>
                          </p:cTn>
                        </p:par>
                        <p:par>
                          <p:cTn id="20" fill="hold">
                            <p:stCondLst>
                              <p:cond delay="4000"/>
                            </p:stCondLst>
                            <p:childTnLst>
                              <p:par>
                                <p:cTn id="21" presetID="4" presetClass="entr" presetSubtype="32" fill="hold" nodeType="afterEffect">
                                  <p:stCondLst>
                                    <p:cond delay="0"/>
                                  </p:stCondLst>
                                  <p:childTnLst>
                                    <p:set>
                                      <p:cBhvr>
                                        <p:cTn id="22" dur="1" fill="hold">
                                          <p:stCondLst>
                                            <p:cond delay="0"/>
                                          </p:stCondLst>
                                        </p:cTn>
                                        <p:tgtEl>
                                          <p:spTgt spid="107524"/>
                                        </p:tgtEl>
                                        <p:attrNameLst>
                                          <p:attrName>style.visibility</p:attrName>
                                        </p:attrNameLst>
                                      </p:cBhvr>
                                      <p:to>
                                        <p:strVal val="visible"/>
                                      </p:to>
                                    </p:set>
                                    <p:animEffect transition="in" filter="box(out)">
                                      <p:cBhvr>
                                        <p:cTn id="23" dur="500"/>
                                        <p:tgtEl>
                                          <p:spTgt spid="1075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2" grpId="0"/>
      <p:bldP spid="107523" grpId="0" build="p" advAuto="100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日期占位符 3"/>
          <p:cNvSpPr txBox="1">
            <a:spLocks noGrp="1"/>
          </p:cNvSpPr>
          <p:nvPr>
            <p:ph type="dt" sz="half" idx="10"/>
          </p:nvPr>
        </p:nvSpPr>
        <p:spPr>
          <a:xfrm>
            <a:off x="0" y="6581775"/>
            <a:ext cx="2162175" cy="27622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04451" name="灯片编号占位符 5"/>
          <p:cNvSpPr txBox="1">
            <a:spLocks noGrp="1"/>
          </p:cNvSpPr>
          <p:nvPr>
            <p:ph type="sldNum" sz="quarter" idx="12"/>
          </p:nvPr>
        </p:nvSpPr>
        <p:spPr>
          <a:xfrm>
            <a:off x="8686800" y="6617970"/>
            <a:ext cx="476885" cy="203835"/>
          </a:xfrm>
        </p:spPr>
        <p:txBody>
          <a:bodyPr lIns="92075" tIns="46038" rIns="92075" bIns="46038" anchor="ctr"/>
          <a:lstStyle/>
          <a:p>
            <a:pPr algn="r" eaLnBrk="1" hangingPunct="1"/>
            <a:fld id="{9A0DB2DC-4C9A-4742-B13C-FB6460FD3503}" type="slidenum">
              <a:rPr lang="en-US" altLang="zh-CN" sz="1400" dirty="0"/>
              <a:t>109</a:t>
            </a:fld>
            <a:endParaRPr lang="en-US" altLang="zh-CN" sz="1400" dirty="0"/>
          </a:p>
        </p:txBody>
      </p:sp>
      <p:sp>
        <p:nvSpPr>
          <p:cNvPr id="108546" name="Rectangle 2"/>
          <p:cNvSpPr>
            <a:spLocks noGrp="1"/>
          </p:cNvSpPr>
          <p:nvPr>
            <p:ph idx="1"/>
          </p:nvPr>
        </p:nvSpPr>
        <p:spPr>
          <a:xfrm>
            <a:off x="757762" y="1844823"/>
            <a:ext cx="8153400" cy="2792525"/>
          </a:xfrm>
        </p:spPr>
        <p:txBody>
          <a:bodyPr vert="horz" wrap="square" lIns="91440" tIns="45720" rIns="91440" bIns="45720" anchor="t"/>
          <a:lstStyle/>
          <a:p>
            <a:pPr eaLnBrk="1" hangingPunct="1">
              <a:lnSpc>
                <a:spcPct val="110000"/>
              </a:lnSpc>
            </a:pPr>
            <a:r>
              <a:rPr lang="zh-CN" altLang="en-US" sz="2800" b="1" dirty="0">
                <a:ea typeface="华文中宋" panose="02010600040101010101" pitchFamily="2" charset="-122"/>
              </a:rPr>
              <a:t>铁和碳可形成一系列</a:t>
            </a:r>
            <a:r>
              <a:rPr lang="en-US" altLang="zh-CN" sz="2800" b="1" dirty="0">
                <a:solidFill>
                  <a:srgbClr val="0000FF"/>
                </a:solidFill>
                <a:ea typeface="华文中宋" panose="02010600040101010101" pitchFamily="2" charset="-122"/>
              </a:rPr>
              <a:t>稳定化合物</a:t>
            </a:r>
            <a:r>
              <a:rPr lang="zh-CN" altLang="en-US" sz="2800" b="1" dirty="0">
                <a:ea typeface="华文中宋" panose="02010600040101010101" pitchFamily="2" charset="-122"/>
              </a:rPr>
              <a:t>： </a:t>
            </a:r>
            <a:r>
              <a:rPr lang="en-US" altLang="zh-CN" sz="2800" b="1" dirty="0">
                <a:ea typeface="华文中宋" panose="02010600040101010101" pitchFamily="2" charset="-122"/>
              </a:rPr>
              <a:t>Fe</a:t>
            </a:r>
            <a:r>
              <a:rPr lang="en-US" altLang="zh-CN" sz="2800" b="1" baseline="-30000" dirty="0">
                <a:ea typeface="华文中宋" panose="02010600040101010101" pitchFamily="2" charset="-122"/>
              </a:rPr>
              <a:t>3</a:t>
            </a:r>
            <a:r>
              <a:rPr lang="en-US" altLang="zh-CN" sz="2800" b="1" dirty="0">
                <a:ea typeface="华文中宋" panose="02010600040101010101" pitchFamily="2" charset="-122"/>
              </a:rPr>
              <a:t>C</a:t>
            </a:r>
            <a:r>
              <a:rPr lang="zh-CN" altLang="en-US" sz="2800" b="1" dirty="0">
                <a:ea typeface="华文中宋" panose="02010600040101010101" pitchFamily="2" charset="-122"/>
              </a:rPr>
              <a:t>、 </a:t>
            </a:r>
            <a:r>
              <a:rPr lang="en-US" altLang="zh-CN" sz="2800" b="1" dirty="0">
                <a:ea typeface="华文中宋" panose="02010600040101010101" pitchFamily="2" charset="-122"/>
              </a:rPr>
              <a:t>Fe</a:t>
            </a:r>
            <a:r>
              <a:rPr lang="en-US" altLang="zh-CN" sz="2800" b="1" baseline="-30000" dirty="0">
                <a:ea typeface="华文中宋" panose="02010600040101010101" pitchFamily="2" charset="-122"/>
              </a:rPr>
              <a:t>2</a:t>
            </a:r>
            <a:r>
              <a:rPr lang="en-US" altLang="zh-CN" sz="2800" b="1" dirty="0">
                <a:ea typeface="华文中宋" panose="02010600040101010101" pitchFamily="2" charset="-122"/>
              </a:rPr>
              <a:t>C</a:t>
            </a:r>
            <a:r>
              <a:rPr lang="zh-CN" altLang="en-US" sz="1400" b="1" dirty="0">
                <a:ea typeface="华文中宋" panose="02010600040101010101" pitchFamily="2" charset="-122"/>
              </a:rPr>
              <a:t>、</a:t>
            </a:r>
            <a:r>
              <a:rPr lang="zh-CN" altLang="en-US" sz="2800" b="1" dirty="0">
                <a:ea typeface="华文中宋" panose="02010600040101010101" pitchFamily="2" charset="-122"/>
              </a:rPr>
              <a:t> </a:t>
            </a:r>
            <a:r>
              <a:rPr lang="en-US" altLang="zh-CN" sz="2800" b="1" dirty="0">
                <a:ea typeface="华文中宋" panose="02010600040101010101" pitchFamily="2" charset="-122"/>
              </a:rPr>
              <a:t>FeC</a:t>
            </a:r>
            <a:r>
              <a:rPr lang="zh-CN" altLang="en-US" sz="2800" b="1" dirty="0">
                <a:ea typeface="华文中宋" panose="02010600040101010101" pitchFamily="2" charset="-122"/>
              </a:rPr>
              <a:t>，它们都可以作为纯组元看待。</a:t>
            </a:r>
          </a:p>
          <a:p>
            <a:pPr eaLnBrk="1" hangingPunct="1">
              <a:lnSpc>
                <a:spcPct val="110000"/>
              </a:lnSpc>
            </a:pPr>
            <a:r>
              <a:rPr lang="zh-CN" altLang="en-US" sz="2800" b="1" dirty="0">
                <a:ea typeface="华文中宋" panose="02010600040101010101" pitchFamily="2" charset="-122"/>
              </a:rPr>
              <a:t>含碳量大于</a:t>
            </a:r>
            <a:r>
              <a:rPr lang="en-US" altLang="zh-CN" sz="2800" b="1" dirty="0">
                <a:ea typeface="华文中宋" panose="02010600040101010101" pitchFamily="2" charset="-122"/>
              </a:rPr>
              <a:t>Fe</a:t>
            </a:r>
            <a:r>
              <a:rPr lang="en-US" altLang="zh-CN" sz="2800" b="1" baseline="-30000" dirty="0">
                <a:ea typeface="华文中宋" panose="02010600040101010101" pitchFamily="2" charset="-122"/>
              </a:rPr>
              <a:t>3</a:t>
            </a:r>
            <a:r>
              <a:rPr lang="en-US" altLang="zh-CN" sz="2800" b="1" dirty="0">
                <a:ea typeface="华文中宋" panose="02010600040101010101" pitchFamily="2" charset="-122"/>
              </a:rPr>
              <a:t>C</a:t>
            </a:r>
            <a:r>
              <a:rPr lang="zh-CN" altLang="en-US" sz="2800" b="1" dirty="0">
                <a:ea typeface="华文中宋" panose="02010600040101010101" pitchFamily="2" charset="-122"/>
              </a:rPr>
              <a:t>成分（</a:t>
            </a:r>
            <a:r>
              <a:rPr lang="en-US" altLang="zh-CN" sz="2800" b="1" dirty="0">
                <a:ea typeface="华文中宋" panose="02010600040101010101" pitchFamily="2" charset="-122"/>
              </a:rPr>
              <a:t>6.69%</a:t>
            </a:r>
            <a:r>
              <a:rPr lang="zh-CN" altLang="en-US" sz="2800" b="1" dirty="0">
                <a:ea typeface="华文中宋" panose="02010600040101010101" pitchFamily="2" charset="-122"/>
              </a:rPr>
              <a:t>）时，合金太脆，已无实用价值。</a:t>
            </a:r>
          </a:p>
          <a:p>
            <a:pPr eaLnBrk="1" hangingPunct="1">
              <a:lnSpc>
                <a:spcPct val="110000"/>
              </a:lnSpc>
            </a:pPr>
            <a:r>
              <a:rPr lang="zh-CN" altLang="en-US" sz="2800" b="1" dirty="0">
                <a:ea typeface="华文中宋" panose="02010600040101010101" pitchFamily="2" charset="-122"/>
              </a:rPr>
              <a:t>实际所讨论的铁碳合金相图是</a:t>
            </a:r>
            <a:r>
              <a:rPr lang="en-US" altLang="zh-CN" sz="2800" b="1" dirty="0">
                <a:solidFill>
                  <a:srgbClr val="0000FF"/>
                </a:solidFill>
                <a:ea typeface="华文中宋" panose="02010600040101010101" pitchFamily="2" charset="-122"/>
              </a:rPr>
              <a:t>Fe- Fe</a:t>
            </a:r>
            <a:r>
              <a:rPr lang="en-US" altLang="zh-CN" sz="2800" b="1" baseline="-30000" dirty="0">
                <a:solidFill>
                  <a:srgbClr val="0000FF"/>
                </a:solidFill>
                <a:ea typeface="华文中宋" panose="02010600040101010101" pitchFamily="2" charset="-122"/>
              </a:rPr>
              <a:t>3</a:t>
            </a:r>
            <a:r>
              <a:rPr lang="en-US" altLang="zh-CN" sz="2800" b="1" dirty="0">
                <a:solidFill>
                  <a:srgbClr val="0000FF"/>
                </a:solidFill>
                <a:ea typeface="华文中宋" panose="02010600040101010101" pitchFamily="2" charset="-122"/>
              </a:rPr>
              <a:t>C</a:t>
            </a:r>
            <a:r>
              <a:rPr lang="zh-CN" altLang="en-US" sz="2800" b="1" dirty="0">
                <a:ea typeface="华文中宋" panose="02010600040101010101" pitchFamily="2" charset="-122"/>
              </a:rPr>
              <a:t>相图。</a:t>
            </a:r>
          </a:p>
        </p:txBody>
      </p:sp>
      <p:grpSp>
        <p:nvGrpSpPr>
          <p:cNvPr id="2" name="Group 17"/>
          <p:cNvGrpSpPr/>
          <p:nvPr/>
        </p:nvGrpSpPr>
        <p:grpSpPr>
          <a:xfrm>
            <a:off x="2051720" y="4653136"/>
            <a:ext cx="6635080" cy="2114376"/>
            <a:chOff x="480" y="2339"/>
            <a:chExt cx="4992" cy="1924"/>
          </a:xfrm>
        </p:grpSpPr>
        <p:sp>
          <p:nvSpPr>
            <p:cNvPr id="104455" name="Line 4"/>
            <p:cNvSpPr/>
            <p:nvPr/>
          </p:nvSpPr>
          <p:spPr>
            <a:xfrm>
              <a:off x="1766" y="2339"/>
              <a:ext cx="0" cy="1558"/>
            </a:xfrm>
            <a:prstGeom prst="line">
              <a:avLst/>
            </a:prstGeom>
            <a:ln w="22225" cap="flat" cmpd="sng">
              <a:solidFill>
                <a:srgbClr val="00FFFF"/>
              </a:solidFill>
              <a:prstDash val="solid"/>
              <a:miter/>
              <a:headEnd type="none" w="med" len="med"/>
              <a:tailEnd type="none" w="med" len="med"/>
            </a:ln>
          </p:spPr>
        </p:sp>
        <p:sp>
          <p:nvSpPr>
            <p:cNvPr id="104456" name="Line 5"/>
            <p:cNvSpPr/>
            <p:nvPr/>
          </p:nvSpPr>
          <p:spPr>
            <a:xfrm>
              <a:off x="1766" y="2341"/>
              <a:ext cx="3468" cy="1558"/>
            </a:xfrm>
            <a:prstGeom prst="line">
              <a:avLst/>
            </a:prstGeom>
            <a:ln w="31750" cap="flat" cmpd="sng">
              <a:solidFill>
                <a:srgbClr val="FF00FF"/>
              </a:solidFill>
              <a:prstDash val="solid"/>
              <a:miter/>
              <a:headEnd type="none" w="med" len="med"/>
              <a:tailEnd type="none" w="med" len="med"/>
            </a:ln>
          </p:spPr>
        </p:sp>
        <p:sp>
          <p:nvSpPr>
            <p:cNvPr id="104457" name="Line 6"/>
            <p:cNvSpPr/>
            <p:nvPr/>
          </p:nvSpPr>
          <p:spPr>
            <a:xfrm>
              <a:off x="2969" y="2341"/>
              <a:ext cx="0" cy="1558"/>
            </a:xfrm>
            <a:prstGeom prst="line">
              <a:avLst/>
            </a:prstGeom>
            <a:ln w="25400" cap="flat" cmpd="sng">
              <a:solidFill>
                <a:srgbClr val="00FFFF"/>
              </a:solidFill>
              <a:prstDash val="solid"/>
              <a:miter/>
              <a:headEnd type="none" w="med" len="med"/>
              <a:tailEnd type="none" w="med" len="med"/>
            </a:ln>
          </p:spPr>
        </p:sp>
        <p:sp>
          <p:nvSpPr>
            <p:cNvPr id="104458" name="Rectangle 7"/>
            <p:cNvSpPr/>
            <p:nvPr/>
          </p:nvSpPr>
          <p:spPr>
            <a:xfrm>
              <a:off x="620" y="2341"/>
              <a:ext cx="4642" cy="1558"/>
            </a:xfrm>
            <a:prstGeom prst="rect">
              <a:avLst/>
            </a:prstGeom>
            <a:noFill/>
            <a:ln w="38100" cap="flat" cmpd="sng">
              <a:solidFill>
                <a:srgbClr val="00FFFF"/>
              </a:solidFill>
              <a:prstDash val="solid"/>
              <a:miter/>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04459" name="Line 8"/>
            <p:cNvSpPr/>
            <p:nvPr/>
          </p:nvSpPr>
          <p:spPr>
            <a:xfrm>
              <a:off x="2214" y="2341"/>
              <a:ext cx="0" cy="1558"/>
            </a:xfrm>
            <a:prstGeom prst="line">
              <a:avLst/>
            </a:prstGeom>
            <a:ln w="25400" cap="flat" cmpd="sng">
              <a:solidFill>
                <a:srgbClr val="00FFFF"/>
              </a:solidFill>
              <a:prstDash val="solid"/>
              <a:miter/>
              <a:headEnd type="none" w="med" len="med"/>
              <a:tailEnd type="none" w="med" len="med"/>
            </a:ln>
          </p:spPr>
        </p:sp>
        <p:sp>
          <p:nvSpPr>
            <p:cNvPr id="104460" name="Line 9"/>
            <p:cNvSpPr/>
            <p:nvPr/>
          </p:nvSpPr>
          <p:spPr>
            <a:xfrm flipV="1">
              <a:off x="1780" y="2341"/>
              <a:ext cx="3468" cy="1558"/>
            </a:xfrm>
            <a:prstGeom prst="line">
              <a:avLst/>
            </a:prstGeom>
            <a:ln w="31750" cap="flat" cmpd="sng">
              <a:solidFill>
                <a:srgbClr val="FF33CC"/>
              </a:solidFill>
              <a:prstDash val="solid"/>
              <a:miter/>
              <a:headEnd type="none" w="med" len="med"/>
              <a:tailEnd type="none" w="med" len="med"/>
            </a:ln>
          </p:spPr>
        </p:sp>
        <p:sp>
          <p:nvSpPr>
            <p:cNvPr id="104461" name="Text Box 10"/>
            <p:cNvSpPr txBox="1"/>
            <p:nvPr/>
          </p:nvSpPr>
          <p:spPr>
            <a:xfrm>
              <a:off x="480" y="3884"/>
              <a:ext cx="392" cy="308"/>
            </a:xfrm>
            <a:prstGeom prst="rect">
              <a:avLst/>
            </a:prstGeom>
            <a:noFill/>
            <a:ln w="9525">
              <a:noFill/>
            </a:ln>
          </p:spPr>
          <p:txBody>
            <a:bodyPr>
              <a:spAutoFit/>
            </a:bodyPr>
            <a:lstStyle/>
            <a:p>
              <a:pPr lvl="0" eaLnBrk="1" hangingPunct="1">
                <a:spcBef>
                  <a:spcPct val="50000"/>
                </a:spcBef>
              </a:pPr>
              <a:r>
                <a:rPr lang="en-US" altLang="zh-CN" sz="1600" b="1" dirty="0">
                  <a:solidFill>
                    <a:srgbClr val="0000FF"/>
                  </a:solidFill>
                  <a:latin typeface="Times New Roman" panose="02020603050405020304" pitchFamily="18" charset="0"/>
                  <a:ea typeface="宋体" panose="02010600030101010101" pitchFamily="2" charset="-122"/>
                </a:rPr>
                <a:t>Fe</a:t>
              </a:r>
            </a:p>
          </p:txBody>
        </p:sp>
        <p:sp>
          <p:nvSpPr>
            <p:cNvPr id="104462" name="Text Box 11"/>
            <p:cNvSpPr txBox="1"/>
            <p:nvPr/>
          </p:nvSpPr>
          <p:spPr>
            <a:xfrm>
              <a:off x="1543" y="3884"/>
              <a:ext cx="615" cy="308"/>
            </a:xfrm>
            <a:prstGeom prst="rect">
              <a:avLst/>
            </a:prstGeom>
            <a:noFill/>
            <a:ln w="9525">
              <a:noFill/>
            </a:ln>
          </p:spPr>
          <p:txBody>
            <a:bodyPr>
              <a:spAutoFit/>
            </a:bodyPr>
            <a:lstStyle/>
            <a:p>
              <a:pPr lvl="0" eaLnBrk="1" hangingPunct="1">
                <a:spcBef>
                  <a:spcPct val="50000"/>
                </a:spcBef>
              </a:pPr>
              <a:r>
                <a:rPr lang="en-US" altLang="zh-CN" sz="1600" b="1" dirty="0">
                  <a:solidFill>
                    <a:srgbClr val="0000FF"/>
                  </a:solidFill>
                  <a:latin typeface="Times New Roman" panose="02020603050405020304" pitchFamily="18" charset="0"/>
                  <a:ea typeface="宋体" panose="02010600030101010101" pitchFamily="2" charset="-122"/>
                </a:rPr>
                <a:t>Fe</a:t>
              </a:r>
              <a:r>
                <a:rPr lang="en-US" altLang="zh-CN" sz="1600" b="1" baseline="-30000" dirty="0">
                  <a:solidFill>
                    <a:srgbClr val="0000FF"/>
                  </a:solidFill>
                  <a:latin typeface="Times New Roman" panose="02020603050405020304" pitchFamily="18" charset="0"/>
                  <a:ea typeface="宋体" panose="02010600030101010101" pitchFamily="2" charset="-122"/>
                </a:rPr>
                <a:t>3</a:t>
              </a:r>
              <a:r>
                <a:rPr lang="en-US" altLang="zh-CN" sz="1600" b="1" dirty="0">
                  <a:solidFill>
                    <a:srgbClr val="0000FF"/>
                  </a:solidFill>
                  <a:latin typeface="Times New Roman" panose="02020603050405020304" pitchFamily="18" charset="0"/>
                  <a:ea typeface="宋体" panose="02010600030101010101" pitchFamily="2" charset="-122"/>
                </a:rPr>
                <a:t>C</a:t>
              </a:r>
            </a:p>
          </p:txBody>
        </p:sp>
        <p:sp>
          <p:nvSpPr>
            <p:cNvPr id="104463" name="Text Box 12"/>
            <p:cNvSpPr txBox="1"/>
            <p:nvPr/>
          </p:nvSpPr>
          <p:spPr>
            <a:xfrm>
              <a:off x="2018" y="3884"/>
              <a:ext cx="559" cy="308"/>
            </a:xfrm>
            <a:prstGeom prst="rect">
              <a:avLst/>
            </a:prstGeom>
            <a:noFill/>
            <a:ln w="9525">
              <a:noFill/>
            </a:ln>
          </p:spPr>
          <p:txBody>
            <a:bodyPr>
              <a:spAutoFit/>
            </a:bodyPr>
            <a:lstStyle/>
            <a:p>
              <a:pPr lvl="0" eaLnBrk="1" hangingPunct="1">
                <a:spcBef>
                  <a:spcPct val="50000"/>
                </a:spcBef>
              </a:pPr>
              <a:r>
                <a:rPr lang="en-US" altLang="zh-CN" sz="1600" b="1" dirty="0">
                  <a:solidFill>
                    <a:srgbClr val="FF0000"/>
                  </a:solidFill>
                  <a:latin typeface="Times New Roman" panose="02020603050405020304" pitchFamily="18" charset="0"/>
                  <a:ea typeface="宋体" panose="02010600030101010101" pitchFamily="2" charset="-122"/>
                </a:rPr>
                <a:t>Fe</a:t>
              </a:r>
              <a:r>
                <a:rPr lang="en-US" altLang="zh-CN" sz="1600" b="1" baseline="-30000" dirty="0">
                  <a:solidFill>
                    <a:srgbClr val="FF0000"/>
                  </a:solidFill>
                  <a:latin typeface="Times New Roman" panose="02020603050405020304" pitchFamily="18" charset="0"/>
                  <a:ea typeface="宋体" panose="02010600030101010101" pitchFamily="2" charset="-122"/>
                </a:rPr>
                <a:t>2</a:t>
              </a:r>
              <a:r>
                <a:rPr lang="en-US" altLang="zh-CN" sz="1600" b="1" dirty="0">
                  <a:solidFill>
                    <a:srgbClr val="FF0000"/>
                  </a:solidFill>
                  <a:latin typeface="Times New Roman" panose="02020603050405020304" pitchFamily="18" charset="0"/>
                  <a:ea typeface="宋体" panose="02010600030101010101" pitchFamily="2" charset="-122"/>
                </a:rPr>
                <a:t>C</a:t>
              </a:r>
            </a:p>
          </p:txBody>
        </p:sp>
        <p:sp>
          <p:nvSpPr>
            <p:cNvPr id="104464" name="Text Box 13"/>
            <p:cNvSpPr txBox="1"/>
            <p:nvPr/>
          </p:nvSpPr>
          <p:spPr>
            <a:xfrm>
              <a:off x="2717" y="3884"/>
              <a:ext cx="672" cy="308"/>
            </a:xfrm>
            <a:prstGeom prst="rect">
              <a:avLst/>
            </a:prstGeom>
            <a:noFill/>
            <a:ln w="9525">
              <a:noFill/>
            </a:ln>
          </p:spPr>
          <p:txBody>
            <a:bodyPr>
              <a:spAutoFit/>
            </a:bodyPr>
            <a:lstStyle/>
            <a:p>
              <a:pPr lvl="0" eaLnBrk="1" hangingPunct="1">
                <a:spcBef>
                  <a:spcPct val="50000"/>
                </a:spcBef>
              </a:pPr>
              <a:r>
                <a:rPr lang="en-US" altLang="zh-CN" sz="1600" b="1" dirty="0">
                  <a:solidFill>
                    <a:schemeClr val="accent1"/>
                  </a:solidFill>
                  <a:latin typeface="Times New Roman" panose="02020603050405020304" pitchFamily="18" charset="0"/>
                  <a:ea typeface="宋体" panose="02010600030101010101" pitchFamily="2" charset="-122"/>
                </a:rPr>
                <a:t> </a:t>
              </a:r>
              <a:r>
                <a:rPr lang="en-US" altLang="zh-CN" sz="1600" b="1" dirty="0">
                  <a:solidFill>
                    <a:srgbClr val="0000FF"/>
                  </a:solidFill>
                  <a:latin typeface="Times New Roman" panose="02020603050405020304" pitchFamily="18" charset="0"/>
                  <a:ea typeface="宋体" panose="02010600030101010101" pitchFamily="2" charset="-122"/>
                </a:rPr>
                <a:t>FeC</a:t>
              </a:r>
            </a:p>
          </p:txBody>
        </p:sp>
        <p:sp>
          <p:nvSpPr>
            <p:cNvPr id="104465" name="Text Box 14"/>
            <p:cNvSpPr txBox="1"/>
            <p:nvPr/>
          </p:nvSpPr>
          <p:spPr>
            <a:xfrm>
              <a:off x="5136" y="3899"/>
              <a:ext cx="336" cy="211"/>
            </a:xfrm>
            <a:prstGeom prst="rect">
              <a:avLst/>
            </a:prstGeom>
            <a:noFill/>
            <a:ln w="9525">
              <a:noFill/>
            </a:ln>
          </p:spPr>
          <p:txBody>
            <a:bodyPr>
              <a:spAutoFit/>
            </a:bodyPr>
            <a:lstStyle/>
            <a:p>
              <a:pPr lvl="0" eaLnBrk="1" hangingPunct="1">
                <a:spcBef>
                  <a:spcPct val="50000"/>
                </a:spcBef>
              </a:pPr>
              <a:r>
                <a:rPr lang="en-US" altLang="zh-CN" sz="1600" b="1" dirty="0">
                  <a:solidFill>
                    <a:schemeClr val="accent1"/>
                  </a:solidFill>
                  <a:latin typeface="Times New Roman" panose="02020603050405020304" pitchFamily="18" charset="0"/>
                  <a:ea typeface="宋体" panose="02010600030101010101" pitchFamily="2" charset="-122"/>
                </a:rPr>
                <a:t>C</a:t>
              </a:r>
            </a:p>
          </p:txBody>
        </p:sp>
        <p:pic>
          <p:nvPicPr>
            <p:cNvPr id="104466" name="Picture 15" descr="未命名2"/>
            <p:cNvPicPr>
              <a:picLocks noChangeAspect="1"/>
            </p:cNvPicPr>
            <p:nvPr/>
          </p:nvPicPr>
          <p:blipFill>
            <a:blip r:embed="rId2"/>
            <a:stretch>
              <a:fillRect/>
            </a:stretch>
          </p:blipFill>
          <p:spPr>
            <a:xfrm>
              <a:off x="622" y="2341"/>
              <a:ext cx="1132" cy="1558"/>
            </a:xfrm>
            <a:prstGeom prst="rect">
              <a:avLst/>
            </a:prstGeom>
            <a:noFill/>
            <a:ln w="19050" cap="flat" cmpd="sng">
              <a:solidFill>
                <a:srgbClr val="FF99CC"/>
              </a:solidFill>
              <a:prstDash val="solid"/>
              <a:miter/>
              <a:headEnd type="none" w="med" len="med"/>
              <a:tailEnd type="none" w="med" len="med"/>
            </a:ln>
          </p:spPr>
        </p:pic>
        <p:sp>
          <p:nvSpPr>
            <p:cNvPr id="104467" name="Text Box 16"/>
            <p:cNvSpPr txBox="1"/>
            <p:nvPr/>
          </p:nvSpPr>
          <p:spPr>
            <a:xfrm>
              <a:off x="2494" y="4032"/>
              <a:ext cx="1342" cy="231"/>
            </a:xfrm>
            <a:prstGeom prst="rect">
              <a:avLst/>
            </a:prstGeom>
            <a:noFill/>
            <a:ln w="9525">
              <a:noFill/>
            </a:ln>
          </p:spPr>
          <p:txBody>
            <a:bodyPr>
              <a:spAutoFit/>
            </a:bodyPr>
            <a:lstStyle/>
            <a:p>
              <a:pPr lvl="0" algn="ctr" eaLnBrk="1" hangingPunct="1">
                <a:spcBef>
                  <a:spcPct val="50000"/>
                </a:spcBef>
              </a:pPr>
              <a:r>
                <a:rPr lang="en-US" altLang="zh-CN" sz="1800" b="1" dirty="0">
                  <a:solidFill>
                    <a:schemeClr val="folHlink"/>
                  </a:solidFill>
                  <a:latin typeface="Times New Roman" panose="02020603050405020304" pitchFamily="18" charset="0"/>
                  <a:ea typeface="宋体" panose="02010600030101010101" pitchFamily="2" charset="-122"/>
                </a:rPr>
                <a:t>C%(at%)  </a:t>
              </a:r>
              <a:r>
                <a:rPr lang="en-US" altLang="zh-CN" sz="1800" b="1" dirty="0">
                  <a:solidFill>
                    <a:schemeClr val="folHlink"/>
                  </a:solidFill>
                  <a:latin typeface="Times New Roman" panose="02020603050405020304" pitchFamily="18" charset="0"/>
                  <a:ea typeface="Arial Unicode MS" panose="020B0604020202020204" charset="-122"/>
                </a:rPr>
                <a:t>→</a:t>
              </a:r>
              <a:endParaRPr lang="en-US" altLang="zh-CN" sz="1800" b="1" dirty="0">
                <a:solidFill>
                  <a:schemeClr val="folHlink"/>
                </a:solidFill>
                <a:latin typeface="Times New Roman" panose="02020603050405020304" pitchFamily="18" charset="0"/>
                <a:ea typeface="宋体" panose="02010600030101010101" pitchFamily="2" charset="-122"/>
              </a:endParaRPr>
            </a:p>
          </p:txBody>
        </p:sp>
      </p:grpSp>
      <p:pic>
        <p:nvPicPr>
          <p:cNvPr id="20" name="内容占位符 1" descr="新校徽（3M）弓之乐"/>
          <p:cNvPicPr>
            <a:picLocks noChangeAspect="1"/>
          </p:cNvPicPr>
          <p:nvPr/>
        </p:nvPicPr>
        <p:blipFill>
          <a:blip r:embed="rId3"/>
          <a:stretch>
            <a:fillRect/>
          </a:stretch>
        </p:blipFill>
        <p:spPr>
          <a:xfrm>
            <a:off x="0" y="-3709"/>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8546">
                                            <p:txEl>
                                              <p:pRg st="0" end="0"/>
                                            </p:txEl>
                                          </p:spTgt>
                                        </p:tgtEl>
                                        <p:attrNameLst>
                                          <p:attrName>style.visibility</p:attrName>
                                        </p:attrNameLst>
                                      </p:cBhvr>
                                      <p:to>
                                        <p:strVal val="visible"/>
                                      </p:to>
                                    </p:set>
                                    <p:animEffect transition="in" filter="wipe(left)">
                                      <p:cBhvr>
                                        <p:cTn id="7" dur="500"/>
                                        <p:tgtEl>
                                          <p:spTgt spid="10854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8546">
                                            <p:txEl>
                                              <p:pRg st="1" end="1"/>
                                            </p:txEl>
                                          </p:spTgt>
                                        </p:tgtEl>
                                        <p:attrNameLst>
                                          <p:attrName>style.visibility</p:attrName>
                                        </p:attrNameLst>
                                      </p:cBhvr>
                                      <p:to>
                                        <p:strVal val="visible"/>
                                      </p:to>
                                    </p:set>
                                    <p:animEffect transition="in" filter="wipe(left)">
                                      <p:cBhvr>
                                        <p:cTn id="11" dur="500"/>
                                        <p:tgtEl>
                                          <p:spTgt spid="10854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8546">
                                            <p:txEl>
                                              <p:pRg st="2" end="2"/>
                                            </p:txEl>
                                          </p:spTgt>
                                        </p:tgtEl>
                                        <p:attrNameLst>
                                          <p:attrName>style.visibility</p:attrName>
                                        </p:attrNameLst>
                                      </p:cBhvr>
                                      <p:to>
                                        <p:strVal val="visible"/>
                                      </p:to>
                                    </p:set>
                                    <p:animEffect transition="in" filter="wipe(left)">
                                      <p:cBhvr>
                                        <p:cTn id="15" dur="500"/>
                                        <p:tgtEl>
                                          <p:spTgt spid="108546">
                                            <p:txEl>
                                              <p:pRg st="2" end="2"/>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6" grpId="0" build="p" advAuto="100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日期占位符 3"/>
          <p:cNvSpPr txBox="1">
            <a:spLocks noGrp="1"/>
          </p:cNvSpPr>
          <p:nvPr>
            <p:ph type="dt" sz="half" idx="10"/>
          </p:nvPr>
        </p:nvSpPr>
        <p:spPr>
          <a:xfrm>
            <a:off x="0" y="6510338"/>
            <a:ext cx="2305050"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05475" name="灯片编号占位符 5"/>
          <p:cNvSpPr txBox="1">
            <a:spLocks noGrp="1"/>
          </p:cNvSpPr>
          <p:nvPr>
            <p:ph type="sldNum" sz="quarter" idx="12"/>
          </p:nvPr>
        </p:nvSpPr>
        <p:spPr>
          <a:xfrm>
            <a:off x="8532440" y="6663055"/>
            <a:ext cx="607750" cy="194945"/>
          </a:xfrm>
        </p:spPr>
        <p:txBody>
          <a:bodyPr lIns="92075" tIns="46038" rIns="92075" bIns="46038" anchor="ctr"/>
          <a:lstStyle/>
          <a:p>
            <a:pPr algn="r" eaLnBrk="1" hangingPunct="1"/>
            <a:fld id="{9A0DB2DC-4C9A-4742-B13C-FB6460FD3503}" type="slidenum">
              <a:rPr lang="en-US" altLang="zh-CN" sz="1400" dirty="0"/>
              <a:t>110</a:t>
            </a:fld>
            <a:endParaRPr lang="en-US" altLang="zh-CN" sz="1400" dirty="0"/>
          </a:p>
        </p:txBody>
      </p:sp>
      <p:sp>
        <p:nvSpPr>
          <p:cNvPr id="105476" name="Rectangle 2"/>
          <p:cNvSpPr>
            <a:spLocks noGrp="1" noChangeArrowheads="1"/>
          </p:cNvSpPr>
          <p:nvPr>
            <p:ph type="title"/>
          </p:nvPr>
        </p:nvSpPr>
        <p:spPr>
          <a:xfrm>
            <a:off x="1331639" y="258127"/>
            <a:ext cx="6956425" cy="955675"/>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400" b="1" i="0" u="none" strike="noStrike" kern="0" cap="none" spc="0" normalizeH="0" baseline="0" noProof="0" dirty="0">
                <a:ln>
                  <a:noFill/>
                </a:ln>
                <a:solidFill>
                  <a:srgbClr val="FF0000"/>
                </a:solidFill>
                <a:uLnTx/>
                <a:uFillTx/>
                <a:latin typeface="+mn-lt"/>
                <a:ea typeface="华文中宋" panose="02010600040101010101" pitchFamily="2" charset="-122"/>
                <a:cs typeface="+mn-cs"/>
              </a:rPr>
              <a:t>铁碳合金相图的应用</a:t>
            </a:r>
          </a:p>
        </p:txBody>
      </p:sp>
      <p:sp>
        <p:nvSpPr>
          <p:cNvPr id="105477" name="Rectangle 3"/>
          <p:cNvSpPr>
            <a:spLocks noGrp="1"/>
          </p:cNvSpPr>
          <p:nvPr>
            <p:ph idx="1"/>
          </p:nvPr>
        </p:nvSpPr>
        <p:spPr>
          <a:xfrm>
            <a:off x="154940" y="1914525"/>
            <a:ext cx="5052060" cy="4185920"/>
          </a:xfrm>
        </p:spPr>
        <p:txBody>
          <a:bodyPr vert="horz" wrap="square" lIns="91440" tIns="45720" rIns="91440" bIns="45720" anchor="t"/>
          <a:lstStyle/>
          <a:p>
            <a:pPr eaLnBrk="1" hangingPunct="1"/>
            <a:r>
              <a:rPr lang="zh-CN" altLang="en-US" b="1" dirty="0">
                <a:ea typeface="华文中宋" panose="02010600040101010101" pitchFamily="2" charset="-122"/>
              </a:rPr>
              <a:t>研究铁碳合金</a:t>
            </a:r>
            <a:r>
              <a:rPr lang="zh-CN" altLang="en-US" b="1" dirty="0">
                <a:solidFill>
                  <a:srgbClr val="0000FF"/>
                </a:solidFill>
                <a:ea typeface="华文中宋" panose="02010600040101010101" pitchFamily="2" charset="-122"/>
              </a:rPr>
              <a:t>最基本</a:t>
            </a:r>
            <a:r>
              <a:rPr lang="zh-CN" altLang="en-US" b="1" dirty="0">
                <a:ea typeface="华文中宋" panose="02010600040101010101" pitchFamily="2" charset="-122"/>
              </a:rPr>
              <a:t>的</a:t>
            </a:r>
            <a:r>
              <a:rPr lang="zh-CN" altLang="en-US" b="1" dirty="0">
                <a:solidFill>
                  <a:srgbClr val="0000FF"/>
                </a:solidFill>
                <a:ea typeface="华文中宋" panose="02010600040101010101" pitchFamily="2" charset="-122"/>
              </a:rPr>
              <a:t>工具</a:t>
            </a:r>
            <a:endParaRPr lang="en-US" altLang="zh-CN" b="1" dirty="0">
              <a:ea typeface="华文中宋" panose="02010600040101010101" pitchFamily="2" charset="-122"/>
            </a:endParaRPr>
          </a:p>
          <a:p>
            <a:pPr eaLnBrk="1" hangingPunct="1"/>
            <a:r>
              <a:rPr lang="zh-CN" altLang="en-US" b="1" dirty="0">
                <a:ea typeface="华文中宋" panose="02010600040101010101" pitchFamily="2" charset="-122"/>
              </a:rPr>
              <a:t>研究碳钢和铸铁的成分、温度、组织及性能之间关系的理论基础</a:t>
            </a:r>
            <a:endParaRPr lang="en-US" altLang="zh-CN" b="1" dirty="0">
              <a:ea typeface="华文中宋" panose="02010600040101010101" pitchFamily="2" charset="-122"/>
            </a:endParaRPr>
          </a:p>
          <a:p>
            <a:pPr eaLnBrk="1" hangingPunct="1"/>
            <a:r>
              <a:rPr lang="zh-CN" altLang="en-US" b="1" dirty="0">
                <a:ea typeface="华文中宋" panose="02010600040101010101" pitchFamily="2" charset="-122"/>
              </a:rPr>
              <a:t>制定</a:t>
            </a:r>
            <a:r>
              <a:rPr lang="zh-CN" altLang="en-US" b="1" dirty="0">
                <a:solidFill>
                  <a:srgbClr val="0000FF"/>
                </a:solidFill>
                <a:ea typeface="华文中宋" panose="02010600040101010101" pitchFamily="2" charset="-122"/>
              </a:rPr>
              <a:t>热加工</a:t>
            </a:r>
            <a:r>
              <a:rPr lang="zh-CN" altLang="en-US" b="1" dirty="0">
                <a:ea typeface="华文中宋" panose="02010600040101010101" pitchFamily="2" charset="-122"/>
              </a:rPr>
              <a:t>、热处理、冶炼和铸造等</a:t>
            </a:r>
            <a:r>
              <a:rPr lang="zh-CN" altLang="en-US" b="1" dirty="0">
                <a:solidFill>
                  <a:srgbClr val="0000FF"/>
                </a:solidFill>
                <a:ea typeface="华文中宋" panose="02010600040101010101" pitchFamily="2" charset="-122"/>
              </a:rPr>
              <a:t>工艺</a:t>
            </a:r>
            <a:r>
              <a:rPr lang="zh-CN" altLang="en-US" b="1" dirty="0">
                <a:ea typeface="华文中宋" panose="02010600040101010101" pitchFamily="2" charset="-122"/>
              </a:rPr>
              <a:t>的</a:t>
            </a:r>
            <a:r>
              <a:rPr lang="zh-CN" altLang="en-US" b="1" dirty="0">
                <a:solidFill>
                  <a:srgbClr val="0000FF"/>
                </a:solidFill>
                <a:ea typeface="华文中宋" panose="02010600040101010101" pitchFamily="2" charset="-122"/>
              </a:rPr>
              <a:t>依据</a:t>
            </a:r>
            <a:r>
              <a:rPr lang="en-US" altLang="zh-CN" b="1" dirty="0">
                <a:ea typeface="华文中宋" panose="02010600040101010101" pitchFamily="2" charset="-122"/>
              </a:rPr>
              <a:t>.</a:t>
            </a:r>
          </a:p>
        </p:txBody>
      </p:sp>
      <p:pic>
        <p:nvPicPr>
          <p:cNvPr id="242692" name="Picture 4" descr="Fe-C相图"/>
          <p:cNvPicPr>
            <a:picLocks noChangeAspect="1"/>
          </p:cNvPicPr>
          <p:nvPr/>
        </p:nvPicPr>
        <p:blipFill>
          <a:blip r:embed="rId2"/>
          <a:stretch>
            <a:fillRect/>
          </a:stretch>
        </p:blipFill>
        <p:spPr>
          <a:xfrm>
            <a:off x="5282565" y="1988820"/>
            <a:ext cx="3737610" cy="4069715"/>
          </a:xfrm>
          <a:prstGeom prst="rect">
            <a:avLst/>
          </a:prstGeom>
          <a:noFill/>
          <a:ln w="38100" cap="flat" cmpd="sng">
            <a:solidFill>
              <a:srgbClr val="FF9900"/>
            </a:solidFill>
            <a:prstDash val="solid"/>
            <a:miter/>
            <a:headEnd type="none" w="med" len="med"/>
            <a:tailEnd type="none" w="med" len="med"/>
          </a:ln>
        </p:spPr>
      </p:pic>
      <p:pic>
        <p:nvPicPr>
          <p:cNvPr id="8" name="内容占位符 1" descr="新校徽（3M）弓之乐"/>
          <p:cNvPicPr>
            <a:picLocks noChangeAspect="1"/>
          </p:cNvPicPr>
          <p:nvPr/>
        </p:nvPicPr>
        <p:blipFill>
          <a:blip r:embed="rId3"/>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42692"/>
                                        </p:tgtEl>
                                        <p:attrNameLst>
                                          <p:attrName>style.visibility</p:attrName>
                                        </p:attrNameLst>
                                      </p:cBhvr>
                                      <p:to>
                                        <p:strVal val="visible"/>
                                      </p:to>
                                    </p:set>
                                    <p:animEffect transition="in" filter="wipe(left)">
                                      <p:cBhvr>
                                        <p:cTn id="7" dur="500"/>
                                        <p:tgtEl>
                                          <p:spTgt spid="2426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日期占位符 3"/>
          <p:cNvSpPr txBox="1">
            <a:spLocks noGrp="1"/>
          </p:cNvSpPr>
          <p:nvPr>
            <p:ph type="dt" sz="half" idx="10"/>
          </p:nvPr>
        </p:nvSpPr>
        <p:spPr>
          <a:xfrm>
            <a:off x="0" y="6510338"/>
            <a:ext cx="2305050"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06499" name="灯片编号占位符 5"/>
          <p:cNvSpPr txBox="1">
            <a:spLocks noGrp="1"/>
          </p:cNvSpPr>
          <p:nvPr>
            <p:ph type="sldNum" sz="quarter" idx="12"/>
          </p:nvPr>
        </p:nvSpPr>
        <p:spPr>
          <a:xfrm>
            <a:off x="8519160" y="6584950"/>
            <a:ext cx="577850" cy="273050"/>
          </a:xfrm>
        </p:spPr>
        <p:txBody>
          <a:bodyPr lIns="92075" tIns="46038" rIns="92075" bIns="46038" anchor="ctr"/>
          <a:lstStyle/>
          <a:p>
            <a:pPr algn="r" eaLnBrk="1" hangingPunct="1"/>
            <a:fld id="{9A0DB2DC-4C9A-4742-B13C-FB6460FD3503}" type="slidenum">
              <a:rPr lang="en-US" altLang="zh-CN" sz="1400" dirty="0"/>
              <a:t>111</a:t>
            </a:fld>
            <a:endParaRPr lang="en-US" altLang="zh-CN" sz="1400" dirty="0"/>
          </a:p>
        </p:txBody>
      </p:sp>
      <p:sp>
        <p:nvSpPr>
          <p:cNvPr id="243714" name="Rectangle 2"/>
          <p:cNvSpPr>
            <a:spLocks noGrp="1" noChangeArrowheads="1"/>
          </p:cNvSpPr>
          <p:nvPr>
            <p:ph type="title"/>
          </p:nvPr>
        </p:nvSpPr>
        <p:spPr>
          <a:xfrm>
            <a:off x="1403648" y="328613"/>
            <a:ext cx="6915150" cy="1000125"/>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b="1" i="0" u="none" strike="noStrike" kern="0" cap="none" spc="0" normalizeH="0" baseline="0" noProof="0" dirty="0">
                <a:ln>
                  <a:noFill/>
                </a:ln>
                <a:solidFill>
                  <a:srgbClr val="FF0000"/>
                </a:solidFill>
                <a:uLnTx/>
                <a:uFillTx/>
                <a:latin typeface="Times New Roman" panose="02020603050405020304" pitchFamily="18" charset="0"/>
                <a:ea typeface="华文中宋" panose="02010600040101010101" pitchFamily="2" charset="-122"/>
                <a:cs typeface="+mj-cs"/>
              </a:rPr>
              <a:t>一、铁碳合金的组元和相</a:t>
            </a:r>
          </a:p>
        </p:txBody>
      </p:sp>
      <p:sp>
        <p:nvSpPr>
          <p:cNvPr id="106501" name="Rectangle 3"/>
          <p:cNvSpPr>
            <a:spLocks noGrp="1"/>
          </p:cNvSpPr>
          <p:nvPr>
            <p:ph idx="1"/>
          </p:nvPr>
        </p:nvSpPr>
        <p:spPr>
          <a:xfrm>
            <a:off x="746760" y="2470150"/>
            <a:ext cx="7772400" cy="4114800"/>
          </a:xfrm>
        </p:spPr>
        <p:txBody>
          <a:bodyPr vert="horz" wrap="square" lIns="91440" tIns="45720" rIns="91440" bIns="45720" anchor="t"/>
          <a:lstStyle/>
          <a:p>
            <a:pPr eaLnBrk="1" hangingPunct="1"/>
            <a:r>
              <a:rPr lang="zh-CN" altLang="en-US" b="1" dirty="0">
                <a:solidFill>
                  <a:schemeClr val="tx2"/>
                </a:solidFill>
              </a:rPr>
              <a:t>组元：</a:t>
            </a:r>
            <a:r>
              <a:rPr lang="en-US" altLang="zh-CN" b="1" dirty="0">
                <a:solidFill>
                  <a:schemeClr val="folHlink"/>
                </a:solidFill>
              </a:rPr>
              <a:t>Fe</a:t>
            </a:r>
            <a:r>
              <a:rPr lang="zh-CN" altLang="en-US" b="1" dirty="0">
                <a:solidFill>
                  <a:schemeClr val="folHlink"/>
                </a:solidFill>
              </a:rPr>
              <a:t>、 </a:t>
            </a:r>
            <a:r>
              <a:rPr lang="en-US" altLang="zh-CN" b="1" dirty="0">
                <a:solidFill>
                  <a:schemeClr val="folHlink"/>
                </a:solidFill>
              </a:rPr>
              <a:t>Fe</a:t>
            </a:r>
            <a:r>
              <a:rPr lang="en-US" altLang="zh-CN" b="1" baseline="-25000" dirty="0">
                <a:solidFill>
                  <a:schemeClr val="folHlink"/>
                </a:solidFill>
              </a:rPr>
              <a:t>3</a:t>
            </a:r>
            <a:r>
              <a:rPr lang="en-US" altLang="zh-CN" b="1" dirty="0">
                <a:solidFill>
                  <a:schemeClr val="folHlink"/>
                </a:solidFill>
              </a:rPr>
              <a:t>C</a:t>
            </a:r>
          </a:p>
          <a:p>
            <a:pPr eaLnBrk="1" hangingPunct="1"/>
            <a:endParaRPr lang="en-US" altLang="zh-CN" b="1" dirty="0">
              <a:solidFill>
                <a:schemeClr val="tx2"/>
              </a:solidFill>
            </a:endParaRPr>
          </a:p>
          <a:p>
            <a:pPr eaLnBrk="1" hangingPunct="1"/>
            <a:r>
              <a:rPr lang="zh-CN" altLang="en-US" b="1" dirty="0">
                <a:solidFill>
                  <a:schemeClr val="tx2"/>
                </a:solidFill>
              </a:rPr>
              <a:t>相：铁素体、</a:t>
            </a:r>
            <a:r>
              <a:rPr lang="zh-CN" altLang="en-US" b="1" dirty="0">
                <a:solidFill>
                  <a:schemeClr val="tx2"/>
                </a:solidFill>
                <a:ea typeface="华文中宋" panose="02010600040101010101" pitchFamily="2" charset="-122"/>
              </a:rPr>
              <a:t>奥氏体、渗碳体</a:t>
            </a:r>
          </a:p>
        </p:txBody>
      </p:sp>
      <p:pic>
        <p:nvPicPr>
          <p:cNvPr id="7" name="内容占位符 1" descr="新校徽（3M）弓之乐"/>
          <p:cNvPicPr>
            <a:picLocks noChangeAspect="1"/>
          </p:cNvPicPr>
          <p:nvPr/>
        </p:nvPicPr>
        <p:blipFill>
          <a:blip r:embed="rId2"/>
          <a:stretch>
            <a:fillRect/>
          </a:stretch>
        </p:blipFill>
        <p:spPr>
          <a:xfrm>
            <a:off x="0" y="0"/>
            <a:ext cx="746760" cy="735965"/>
          </a:xfrm>
          <a:prstGeom prst="rect">
            <a:avLst/>
          </a:prstGeom>
          <a:noFill/>
          <a:ln w="9525">
            <a:noFill/>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日期占位符 3"/>
          <p:cNvSpPr txBox="1">
            <a:spLocks noGrp="1"/>
          </p:cNvSpPr>
          <p:nvPr>
            <p:ph type="dt" sz="half" idx="10"/>
          </p:nvPr>
        </p:nvSpPr>
        <p:spPr>
          <a:xfrm>
            <a:off x="0" y="6510338"/>
            <a:ext cx="2267744"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07523" name="灯片编号占位符 5"/>
          <p:cNvSpPr txBox="1">
            <a:spLocks noGrp="1"/>
          </p:cNvSpPr>
          <p:nvPr>
            <p:ph type="sldNum" sz="quarter" idx="12"/>
          </p:nvPr>
        </p:nvSpPr>
        <p:spPr>
          <a:xfrm>
            <a:off x="8598535" y="6581775"/>
            <a:ext cx="509270" cy="276225"/>
          </a:xfrm>
        </p:spPr>
        <p:txBody>
          <a:bodyPr lIns="92075" tIns="46038" rIns="92075" bIns="46038" anchor="ctr"/>
          <a:lstStyle/>
          <a:p>
            <a:pPr algn="r" eaLnBrk="1" hangingPunct="1"/>
            <a:fld id="{9A0DB2DC-4C9A-4742-B13C-FB6460FD3503}" type="slidenum">
              <a:rPr lang="en-US" altLang="zh-CN" sz="1400" dirty="0"/>
              <a:t>112</a:t>
            </a:fld>
            <a:endParaRPr lang="en-US" altLang="zh-CN" sz="1400" dirty="0"/>
          </a:p>
        </p:txBody>
      </p:sp>
      <p:sp>
        <p:nvSpPr>
          <p:cNvPr id="110594" name="Rectangle 2"/>
          <p:cNvSpPr>
            <a:spLocks noGrp="1"/>
          </p:cNvSpPr>
          <p:nvPr>
            <p:ph type="title"/>
          </p:nvPr>
        </p:nvSpPr>
        <p:spPr>
          <a:xfrm>
            <a:off x="1767295" y="163869"/>
            <a:ext cx="5229770" cy="1053877"/>
          </a:xfrm>
        </p:spPr>
        <p:txBody>
          <a:bodyPr vert="horz" wrap="square" lIns="92075" tIns="46038" rIns="92075" bIns="46038" anchor="ctr"/>
          <a:lstStyle/>
          <a:p>
            <a:pPr eaLnBrk="1" hangingPunct="1"/>
            <a:r>
              <a:rPr lang="en-US" altLang="zh-CN" b="1" dirty="0">
                <a:solidFill>
                  <a:srgbClr val="FF0000"/>
                </a:solidFill>
              </a:rPr>
              <a:t>⑴ </a:t>
            </a:r>
            <a:r>
              <a:rPr lang="zh-CN" altLang="en-US" b="1" dirty="0">
                <a:solidFill>
                  <a:srgbClr val="FF0000"/>
                </a:solidFill>
              </a:rPr>
              <a:t>铁素体 </a:t>
            </a:r>
            <a:r>
              <a:rPr lang="en-US" altLang="zh-CN" b="1" dirty="0">
                <a:solidFill>
                  <a:srgbClr val="0000FF"/>
                </a:solidFill>
              </a:rPr>
              <a:t>Ferrite</a:t>
            </a:r>
            <a:endParaRPr lang="zh-CN" altLang="en-US" b="1" dirty="0">
              <a:solidFill>
                <a:srgbClr val="0000FF"/>
              </a:solidFill>
            </a:endParaRPr>
          </a:p>
        </p:txBody>
      </p:sp>
      <p:sp>
        <p:nvSpPr>
          <p:cNvPr id="110595" name="Rectangle 3"/>
          <p:cNvSpPr>
            <a:spLocks noGrp="1"/>
          </p:cNvSpPr>
          <p:nvPr>
            <p:ph idx="1"/>
          </p:nvPr>
        </p:nvSpPr>
        <p:spPr>
          <a:xfrm>
            <a:off x="152400" y="3349401"/>
            <a:ext cx="8812530" cy="3161254"/>
          </a:xfrm>
        </p:spPr>
        <p:txBody>
          <a:bodyPr vert="horz" wrap="square" lIns="91440" tIns="45720" rIns="91440" bIns="45720" anchor="t"/>
          <a:lstStyle/>
          <a:p>
            <a:pPr eaLnBrk="1" hangingPunct="1">
              <a:lnSpc>
                <a:spcPct val="110000"/>
              </a:lnSpc>
            </a:pPr>
            <a:r>
              <a:rPr lang="zh-CN" altLang="en-US" sz="2800" b="1" dirty="0">
                <a:solidFill>
                  <a:srgbClr val="0066FF"/>
                </a:solidFill>
                <a:ea typeface="华文中宋" panose="02010600040101010101" pitchFamily="2" charset="-122"/>
              </a:rPr>
              <a:t>铁素体：</a:t>
            </a:r>
            <a:r>
              <a:rPr lang="zh-CN" altLang="en-US" sz="2800" b="1" dirty="0">
                <a:solidFill>
                  <a:schemeClr val="folHlink"/>
                </a:solidFill>
                <a:ea typeface="华文中宋" panose="02010600040101010101" pitchFamily="2" charset="-122"/>
              </a:rPr>
              <a:t>碳在</a:t>
            </a:r>
            <a:r>
              <a:rPr lang="zh-CN" altLang="en-US" sz="2800" b="1" dirty="0">
                <a:solidFill>
                  <a:srgbClr val="0066FF"/>
                </a:solidFill>
                <a:ea typeface="华文中宋" panose="02010600040101010101" pitchFamily="2" charset="-122"/>
                <a:sym typeface="Symbol" panose="05050102010706020507" pitchFamily="18" charset="2"/>
              </a:rPr>
              <a:t></a:t>
            </a:r>
            <a:r>
              <a:rPr lang="zh-CN" altLang="en-US" sz="2800" b="1" dirty="0">
                <a:solidFill>
                  <a:srgbClr val="0066FF"/>
                </a:solidFill>
                <a:ea typeface="华文中宋" panose="02010600040101010101" pitchFamily="2" charset="-122"/>
              </a:rPr>
              <a:t>-Fe</a:t>
            </a:r>
            <a:r>
              <a:rPr lang="zh-CN" altLang="en-US" sz="2800" b="1" dirty="0">
                <a:solidFill>
                  <a:schemeClr val="folHlink"/>
                </a:solidFill>
                <a:ea typeface="华文中宋" panose="02010600040101010101" pitchFamily="2" charset="-122"/>
              </a:rPr>
              <a:t>中的</a:t>
            </a:r>
            <a:r>
              <a:rPr lang="zh-CN" altLang="en-US" sz="2800" b="1" dirty="0">
                <a:solidFill>
                  <a:srgbClr val="0066FF"/>
                </a:solidFill>
                <a:ea typeface="华文中宋" panose="02010600040101010101" pitchFamily="2" charset="-122"/>
              </a:rPr>
              <a:t>间隙固溶体</a:t>
            </a:r>
            <a:r>
              <a:rPr lang="en-US" altLang="zh-CN" sz="2800" b="1" dirty="0">
                <a:ea typeface="华文中宋" panose="02010600040101010101" pitchFamily="2" charset="-122"/>
              </a:rPr>
              <a:t>, </a:t>
            </a:r>
            <a:r>
              <a:rPr lang="zh-CN" altLang="en-US" sz="2800" b="1" dirty="0">
                <a:ea typeface="华文中宋" panose="02010600040101010101" pitchFamily="2" charset="-122"/>
              </a:rPr>
              <a:t>用</a:t>
            </a:r>
            <a:r>
              <a:rPr lang="en-US" altLang="zh-CN" sz="2800" b="1" dirty="0">
                <a:solidFill>
                  <a:schemeClr val="folHlink"/>
                </a:solidFill>
                <a:ea typeface="华文中宋" panose="02010600040101010101" pitchFamily="2" charset="-122"/>
              </a:rPr>
              <a:t>F</a:t>
            </a:r>
            <a:r>
              <a:rPr lang="en-US" altLang="zh-CN" sz="2800" b="1" dirty="0">
                <a:ea typeface="华文中宋" panose="02010600040101010101" pitchFamily="2" charset="-122"/>
              </a:rPr>
              <a:t> </a:t>
            </a:r>
            <a:r>
              <a:rPr lang="zh-CN" altLang="en-US" sz="2800" b="1" dirty="0">
                <a:ea typeface="华文中宋" panose="02010600040101010101" pitchFamily="2" charset="-122"/>
              </a:rPr>
              <a:t>或</a:t>
            </a:r>
            <a:r>
              <a:rPr lang="zh-CN" altLang="en-US" sz="2800" b="1" i="1" dirty="0">
                <a:solidFill>
                  <a:schemeClr val="folHlink"/>
                </a:solidFill>
                <a:ea typeface="华文中宋" panose="02010600040101010101" pitchFamily="2" charset="-122"/>
                <a:sym typeface="Symbol" panose="05050102010706020507" pitchFamily="18" charset="2"/>
              </a:rPr>
              <a:t></a:t>
            </a:r>
            <a:r>
              <a:rPr lang="zh-CN" altLang="en-US" sz="2800" b="1" dirty="0">
                <a:ea typeface="华文中宋" panose="02010600040101010101" pitchFamily="2" charset="-122"/>
                <a:sym typeface="Symbol" panose="05050102010706020507" pitchFamily="18" charset="2"/>
              </a:rPr>
              <a:t> </a:t>
            </a:r>
            <a:r>
              <a:rPr lang="zh-CN" altLang="en-US" sz="2800" b="1" dirty="0">
                <a:ea typeface="华文中宋" panose="02010600040101010101" pitchFamily="2" charset="-122"/>
              </a:rPr>
              <a:t>表示。</a:t>
            </a:r>
            <a:r>
              <a:rPr lang="zh-CN" altLang="en-US" sz="2800" b="1" dirty="0">
                <a:solidFill>
                  <a:schemeClr val="tx2"/>
                </a:solidFill>
                <a:ea typeface="华文中宋" panose="02010600040101010101" pitchFamily="2" charset="-122"/>
              </a:rPr>
              <a:t> </a:t>
            </a:r>
          </a:p>
          <a:p>
            <a:pPr eaLnBrk="1" hangingPunct="1">
              <a:lnSpc>
                <a:spcPct val="110000"/>
              </a:lnSpc>
            </a:pPr>
            <a:r>
              <a:rPr lang="en-US" altLang="zh-CN" sz="2800" b="1" i="1" dirty="0">
                <a:solidFill>
                  <a:schemeClr val="tx2"/>
                </a:solidFill>
                <a:ea typeface="华文中宋" panose="02010600040101010101" pitchFamily="2" charset="-122"/>
              </a:rPr>
              <a:t>δ </a:t>
            </a:r>
            <a:r>
              <a:rPr lang="en-US" altLang="zh-CN" sz="2800" b="1" dirty="0">
                <a:solidFill>
                  <a:schemeClr val="tx2"/>
                </a:solidFill>
                <a:ea typeface="华文中宋" panose="02010600040101010101" pitchFamily="2" charset="-122"/>
              </a:rPr>
              <a:t>- </a:t>
            </a:r>
            <a:r>
              <a:rPr lang="zh-CN" altLang="en-US" sz="2800" b="1" dirty="0">
                <a:solidFill>
                  <a:schemeClr val="tx2"/>
                </a:solidFill>
                <a:ea typeface="华文中宋" panose="02010600040101010101" pitchFamily="2" charset="-122"/>
              </a:rPr>
              <a:t>铁素体：</a:t>
            </a:r>
            <a:r>
              <a:rPr lang="zh-CN" altLang="en-US" sz="2800" b="1" dirty="0">
                <a:solidFill>
                  <a:schemeClr val="folHlink"/>
                </a:solidFill>
                <a:ea typeface="华文中宋" panose="02010600040101010101" pitchFamily="2" charset="-122"/>
              </a:rPr>
              <a:t>碳在</a:t>
            </a:r>
            <a:r>
              <a:rPr lang="en-US" altLang="zh-CN" sz="2800" b="1" i="1" dirty="0">
                <a:solidFill>
                  <a:schemeClr val="folHlink"/>
                </a:solidFill>
                <a:ea typeface="华文中宋" panose="02010600040101010101" pitchFamily="2" charset="-122"/>
              </a:rPr>
              <a:t>δ </a:t>
            </a:r>
            <a:r>
              <a:rPr lang="en-US" altLang="zh-CN" sz="2800" b="1" dirty="0">
                <a:solidFill>
                  <a:schemeClr val="folHlink"/>
                </a:solidFill>
                <a:ea typeface="华文中宋" panose="02010600040101010101" pitchFamily="2" charset="-122"/>
              </a:rPr>
              <a:t>-Fe</a:t>
            </a:r>
            <a:r>
              <a:rPr lang="zh-CN" altLang="en-US" sz="2800" b="1" dirty="0">
                <a:solidFill>
                  <a:schemeClr val="folHlink"/>
                </a:solidFill>
                <a:ea typeface="华文中宋" panose="02010600040101010101" pitchFamily="2" charset="-122"/>
              </a:rPr>
              <a:t>中的间隙固溶体</a:t>
            </a:r>
            <a:r>
              <a:rPr lang="zh-CN" altLang="en-US" sz="2800" b="1" dirty="0">
                <a:ea typeface="华文中宋" panose="02010600040101010101" pitchFamily="2" charset="-122"/>
              </a:rPr>
              <a:t>，用</a:t>
            </a:r>
            <a:r>
              <a:rPr lang="en-US" altLang="zh-CN" sz="2800" b="1" i="1" dirty="0">
                <a:solidFill>
                  <a:schemeClr val="folHlink"/>
                </a:solidFill>
                <a:ea typeface="华文中宋" panose="02010600040101010101" pitchFamily="2" charset="-122"/>
              </a:rPr>
              <a:t>δ </a:t>
            </a:r>
            <a:r>
              <a:rPr lang="zh-CN" altLang="en-US" sz="2800" b="1" dirty="0">
                <a:ea typeface="华文中宋" panose="02010600040101010101" pitchFamily="2" charset="-122"/>
              </a:rPr>
              <a:t>表示。 </a:t>
            </a:r>
            <a:r>
              <a:rPr lang="zh-CN" altLang="en-US" sz="2800" b="1" dirty="0">
                <a:solidFill>
                  <a:schemeClr val="tx2"/>
                </a:solidFill>
                <a:ea typeface="华文中宋" panose="02010600040101010101" pitchFamily="2" charset="-122"/>
              </a:rPr>
              <a:t>    </a:t>
            </a:r>
            <a:endParaRPr lang="zh-CN" altLang="en-US" sz="2800" b="1" dirty="0">
              <a:ea typeface="华文中宋" panose="02010600040101010101" pitchFamily="2" charset="-122"/>
            </a:endParaRPr>
          </a:p>
          <a:p>
            <a:pPr eaLnBrk="1" hangingPunct="1">
              <a:lnSpc>
                <a:spcPct val="110000"/>
              </a:lnSpc>
            </a:pPr>
            <a:r>
              <a:rPr lang="zh-CN" altLang="en-US" sz="2800" b="1" dirty="0">
                <a:ea typeface="华文中宋" panose="02010600040101010101" pitchFamily="2" charset="-122"/>
              </a:rPr>
              <a:t>都是体心立方间隙固溶体。铁素体的溶碳能力很低</a:t>
            </a:r>
            <a:r>
              <a:rPr lang="en-US" altLang="zh-CN" sz="2800" b="1" dirty="0">
                <a:ea typeface="华文中宋" panose="02010600040101010101" pitchFamily="2" charset="-122"/>
              </a:rPr>
              <a:t>,</a:t>
            </a:r>
            <a:r>
              <a:rPr lang="zh-CN" altLang="en-US" sz="2800" b="1" dirty="0">
                <a:ea typeface="华文中宋" panose="02010600040101010101" pitchFamily="2" charset="-122"/>
              </a:rPr>
              <a:t>在</a:t>
            </a:r>
            <a:r>
              <a:rPr lang="en-US" altLang="zh-CN" sz="2800" b="1" dirty="0">
                <a:solidFill>
                  <a:schemeClr val="folHlink"/>
                </a:solidFill>
                <a:ea typeface="华文中宋" panose="02010600040101010101" pitchFamily="2" charset="-122"/>
              </a:rPr>
              <a:t>727℃</a:t>
            </a:r>
            <a:r>
              <a:rPr lang="zh-CN" altLang="en-US" sz="2800" b="1" dirty="0">
                <a:ea typeface="华文中宋" panose="02010600040101010101" pitchFamily="2" charset="-122"/>
              </a:rPr>
              <a:t>时最大为</a:t>
            </a:r>
            <a:r>
              <a:rPr lang="en-US" altLang="zh-CN" sz="2800" b="1" dirty="0">
                <a:solidFill>
                  <a:schemeClr val="folHlink"/>
                </a:solidFill>
                <a:ea typeface="华文中宋" panose="02010600040101010101" pitchFamily="2" charset="-122"/>
              </a:rPr>
              <a:t>0.0218%</a:t>
            </a:r>
            <a:r>
              <a:rPr lang="zh-CN" altLang="en-US" sz="2800" b="1" dirty="0">
                <a:ea typeface="华文中宋" panose="02010600040101010101" pitchFamily="2" charset="-122"/>
              </a:rPr>
              <a:t>，室温下仅为</a:t>
            </a:r>
            <a:r>
              <a:rPr lang="en-US" altLang="zh-CN" sz="2800" b="1" dirty="0">
                <a:solidFill>
                  <a:schemeClr val="folHlink"/>
                </a:solidFill>
                <a:ea typeface="华文中宋" panose="02010600040101010101" pitchFamily="2" charset="-122"/>
              </a:rPr>
              <a:t>0.0008%</a:t>
            </a:r>
            <a:r>
              <a:rPr lang="zh-CN" altLang="en-US" sz="2800" b="1" dirty="0">
                <a:ea typeface="华文中宋" panose="02010600040101010101" pitchFamily="2" charset="-122"/>
              </a:rPr>
              <a:t>。</a:t>
            </a:r>
          </a:p>
          <a:p>
            <a:pPr eaLnBrk="1" hangingPunct="1">
              <a:lnSpc>
                <a:spcPct val="110000"/>
              </a:lnSpc>
            </a:pPr>
            <a:r>
              <a:rPr lang="zh-CN" altLang="en-US" sz="2800" b="1" dirty="0">
                <a:ea typeface="华文中宋" panose="02010600040101010101" pitchFamily="2" charset="-122"/>
              </a:rPr>
              <a:t>铁素体的组织为</a:t>
            </a:r>
            <a:r>
              <a:rPr lang="zh-CN" altLang="en-US" sz="2800" b="1" dirty="0">
                <a:solidFill>
                  <a:schemeClr val="folHlink"/>
                </a:solidFill>
                <a:ea typeface="华文中宋" panose="02010600040101010101" pitchFamily="2" charset="-122"/>
              </a:rPr>
              <a:t>多面体晶粒</a:t>
            </a:r>
            <a:r>
              <a:rPr lang="zh-CN" altLang="en-US" sz="2800" b="1" dirty="0">
                <a:solidFill>
                  <a:schemeClr val="tx2"/>
                </a:solidFill>
                <a:ea typeface="华文中宋" panose="02010600040101010101" pitchFamily="2" charset="-122"/>
              </a:rPr>
              <a:t>，性能与纯铁相似。</a:t>
            </a:r>
          </a:p>
        </p:txBody>
      </p:sp>
      <p:sp>
        <p:nvSpPr>
          <p:cNvPr id="110599" name="Rectangle 7"/>
          <p:cNvSpPr/>
          <p:nvPr/>
        </p:nvSpPr>
        <p:spPr>
          <a:xfrm>
            <a:off x="152400" y="1062038"/>
            <a:ext cx="4876800" cy="4724400"/>
          </a:xfrm>
          <a:prstGeom prst="rect">
            <a:avLst/>
          </a:prstGeom>
          <a:noFill/>
          <a:ln w="9525">
            <a:noFill/>
          </a:ln>
        </p:spPr>
        <p:txBody>
          <a:bodyPr/>
          <a:lstStyle/>
          <a:p>
            <a:pPr marL="342900" lvl="0" indent="-342900" eaLnBrk="1" hangingPunct="1">
              <a:spcBef>
                <a:spcPct val="20000"/>
              </a:spcBef>
              <a:buClr>
                <a:schemeClr val="accent2"/>
              </a:buClr>
              <a:buSzPct val="80000"/>
              <a:buFont typeface="Wingdings" panose="05000000000000000000" pitchFamily="2" charset="2"/>
              <a:buChar char="l"/>
            </a:pPr>
            <a:endParaRPr lang="zh-CN" altLang="zh-CN" sz="2800" b="1" dirty="0">
              <a:solidFill>
                <a:schemeClr val="tx2"/>
              </a:solidFill>
              <a:latin typeface="Times New Roman" panose="02020603050405020304" pitchFamily="18" charset="0"/>
              <a:ea typeface="华文中宋" panose="02010600040101010101" pitchFamily="2" charset="-122"/>
            </a:endParaRPr>
          </a:p>
        </p:txBody>
      </p:sp>
      <p:grpSp>
        <p:nvGrpSpPr>
          <p:cNvPr id="2" name="Group 15"/>
          <p:cNvGrpSpPr/>
          <p:nvPr/>
        </p:nvGrpSpPr>
        <p:grpSpPr>
          <a:xfrm>
            <a:off x="2850577" y="1907721"/>
            <a:ext cx="5465839" cy="1406863"/>
            <a:chOff x="1632" y="748"/>
            <a:chExt cx="3794" cy="1245"/>
          </a:xfrm>
        </p:grpSpPr>
        <p:grpSp>
          <p:nvGrpSpPr>
            <p:cNvPr id="107529" name="Group 8"/>
            <p:cNvGrpSpPr/>
            <p:nvPr/>
          </p:nvGrpSpPr>
          <p:grpSpPr>
            <a:xfrm>
              <a:off x="3456" y="748"/>
              <a:ext cx="1970" cy="1245"/>
              <a:chOff x="3312" y="1254"/>
              <a:chExt cx="1970" cy="1245"/>
            </a:xfrm>
          </p:grpSpPr>
          <p:pic>
            <p:nvPicPr>
              <p:cNvPr id="107533" name="Picture 5" descr="image008"/>
              <p:cNvPicPr>
                <a:picLocks noChangeAspect="1"/>
              </p:cNvPicPr>
              <p:nvPr/>
            </p:nvPicPr>
            <p:blipFill>
              <a:blip r:embed="rId2"/>
              <a:stretch>
                <a:fillRect/>
              </a:stretch>
            </p:blipFill>
            <p:spPr>
              <a:xfrm>
                <a:off x="3312" y="1254"/>
                <a:ext cx="1970" cy="1149"/>
              </a:xfrm>
              <a:prstGeom prst="rect">
                <a:avLst/>
              </a:prstGeom>
              <a:noFill/>
              <a:ln w="38100" cap="flat" cmpd="sng">
                <a:solidFill>
                  <a:srgbClr val="FF00FF"/>
                </a:solidFill>
                <a:prstDash val="solid"/>
                <a:miter/>
                <a:headEnd type="none" w="med" len="med"/>
                <a:tailEnd type="none" w="med" len="med"/>
              </a:ln>
            </p:spPr>
          </p:pic>
          <p:sp>
            <p:nvSpPr>
              <p:cNvPr id="107534" name="Text Box 6"/>
              <p:cNvSpPr txBox="1"/>
              <p:nvPr/>
            </p:nvSpPr>
            <p:spPr>
              <a:xfrm>
                <a:off x="4563" y="2172"/>
                <a:ext cx="717" cy="327"/>
              </a:xfrm>
              <a:prstGeom prst="rect">
                <a:avLst/>
              </a:prstGeom>
              <a:solidFill>
                <a:schemeClr val="bg1"/>
              </a:solidFill>
              <a:ln w="9525">
                <a:noFill/>
              </a:ln>
            </p:spPr>
            <p:txBody>
              <a:bodyPr wrap="square">
                <a:spAutoFit/>
              </a:bodyPr>
              <a:lstStyle/>
              <a:p>
                <a:pPr lvl="0" algn="ctr" eaLnBrk="1" hangingPunct="1">
                  <a:spcBef>
                    <a:spcPct val="50000"/>
                  </a:spcBef>
                </a:pPr>
                <a:r>
                  <a:rPr lang="zh-CN" altLang="en-US" sz="1800" b="1" dirty="0">
                    <a:solidFill>
                      <a:srgbClr val="800000"/>
                    </a:solidFill>
                    <a:latin typeface="Times New Roman" panose="02020603050405020304" pitchFamily="18" charset="0"/>
                    <a:ea typeface="宋体" panose="02010600030101010101" pitchFamily="2" charset="-122"/>
                  </a:rPr>
                  <a:t>铁素体</a:t>
                </a:r>
              </a:p>
            </p:txBody>
          </p:sp>
        </p:grpSp>
        <p:grpSp>
          <p:nvGrpSpPr>
            <p:cNvPr id="107530" name="Group 14"/>
            <p:cNvGrpSpPr/>
            <p:nvPr/>
          </p:nvGrpSpPr>
          <p:grpSpPr>
            <a:xfrm>
              <a:off x="1632" y="785"/>
              <a:ext cx="1750" cy="1149"/>
              <a:chOff x="1632" y="785"/>
              <a:chExt cx="1750" cy="1149"/>
            </a:xfrm>
          </p:grpSpPr>
          <p:pic>
            <p:nvPicPr>
              <p:cNvPr id="107531" name="Picture 11" descr="BBC间隙"/>
              <p:cNvPicPr>
                <a:picLocks noChangeAspect="1"/>
              </p:cNvPicPr>
              <p:nvPr/>
            </p:nvPicPr>
            <p:blipFill>
              <a:blip r:embed="rId3"/>
              <a:stretch>
                <a:fillRect/>
              </a:stretch>
            </p:blipFill>
            <p:spPr>
              <a:xfrm>
                <a:off x="1632" y="1104"/>
                <a:ext cx="1347" cy="793"/>
              </a:xfrm>
              <a:prstGeom prst="rect">
                <a:avLst/>
              </a:prstGeom>
              <a:noFill/>
              <a:ln w="19050" cap="flat" cmpd="sng">
                <a:solidFill>
                  <a:srgbClr val="FF6600"/>
                </a:solidFill>
                <a:prstDash val="solid"/>
                <a:miter/>
                <a:headEnd type="none" w="med" len="med"/>
                <a:tailEnd type="none" w="med" len="med"/>
              </a:ln>
            </p:spPr>
          </p:pic>
          <p:sp>
            <p:nvSpPr>
              <p:cNvPr id="107532" name="Text Box 13"/>
              <p:cNvSpPr txBox="1"/>
              <p:nvPr/>
            </p:nvSpPr>
            <p:spPr>
              <a:xfrm>
                <a:off x="2957" y="785"/>
                <a:ext cx="425" cy="1149"/>
              </a:xfrm>
              <a:prstGeom prst="rect">
                <a:avLst/>
              </a:prstGeom>
              <a:noFill/>
              <a:ln w="9525">
                <a:noFill/>
              </a:ln>
            </p:spPr>
            <p:txBody>
              <a:bodyPr vert="eaVert" wrap="square">
                <a:spAutoFit/>
              </a:bodyPr>
              <a:lstStyle/>
              <a:p>
                <a:pPr lvl="0" eaLnBrk="1" hangingPunct="1">
                  <a:spcBef>
                    <a:spcPct val="50000"/>
                  </a:spcBef>
                </a:pPr>
                <a:r>
                  <a:rPr lang="en-US" altLang="zh-CN" sz="1600" b="1" dirty="0">
                    <a:solidFill>
                      <a:schemeClr val="folHlink"/>
                    </a:solidFill>
                    <a:latin typeface="Times New Roman" panose="02020603050405020304" pitchFamily="18" charset="0"/>
                    <a:ea typeface="宋体" panose="02010600030101010101" pitchFamily="2" charset="-122"/>
                  </a:rPr>
                  <a:t>BCC</a:t>
                </a:r>
                <a:r>
                  <a:rPr lang="zh-CN" altLang="en-US" sz="1600" b="1" dirty="0">
                    <a:solidFill>
                      <a:schemeClr val="folHlink"/>
                    </a:solidFill>
                    <a:latin typeface="Times New Roman" panose="02020603050405020304" pitchFamily="18" charset="0"/>
                    <a:ea typeface="宋体" panose="02010600030101010101" pitchFamily="2" charset="-122"/>
                  </a:rPr>
                  <a:t>的八面体间隙和四面体间隙</a:t>
                </a:r>
              </a:p>
            </p:txBody>
          </p:sp>
        </p:grpSp>
      </p:grpSp>
      <p:pic>
        <p:nvPicPr>
          <p:cNvPr id="15" name="内容占位符 1" descr="新校徽（3M）弓之乐"/>
          <p:cNvPicPr>
            <a:picLocks noChangeAspect="1"/>
          </p:cNvPicPr>
          <p:nvPr/>
        </p:nvPicPr>
        <p:blipFill>
          <a:blip r:embed="rId4"/>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0594"/>
                                        </p:tgtEl>
                                        <p:attrNameLst>
                                          <p:attrName>style.visibility</p:attrName>
                                        </p:attrNameLst>
                                      </p:cBhvr>
                                      <p:to>
                                        <p:strVal val="visible"/>
                                      </p:to>
                                    </p:set>
                                    <p:animEffect transition="in" filter="wipe(left)">
                                      <p:cBhvr>
                                        <p:cTn id="7" dur="500"/>
                                        <p:tgtEl>
                                          <p:spTgt spid="110594"/>
                                        </p:tgtEl>
                                      </p:cBhvr>
                                    </p:animEffect>
                                  </p:childTnLst>
                                </p:cTn>
                              </p:par>
                            </p:childTnLst>
                          </p:cTn>
                        </p:par>
                        <p:par>
                          <p:cTn id="8" fill="hold">
                            <p:stCondLst>
                              <p:cond delay="500"/>
                            </p:stCondLst>
                            <p:childTnLst>
                              <p:par>
                                <p:cTn id="9" presetID="22" presetClass="entr" presetSubtype="8" fill="hold" grpId="0" nodeType="afterEffect" nodePh="1">
                                  <p:stCondLst>
                                    <p:cond delay="0"/>
                                  </p:stCondLst>
                                  <p:endCondLst>
                                    <p:cond evt="begin" delay="0">
                                      <p:tn val="9"/>
                                    </p:cond>
                                  </p:endCondLst>
                                  <p:childTnLst>
                                    <p:set>
                                      <p:cBhvr>
                                        <p:cTn id="10" dur="1" fill="hold">
                                          <p:stCondLst>
                                            <p:cond delay="0"/>
                                          </p:stCondLst>
                                        </p:cTn>
                                        <p:tgtEl>
                                          <p:spTgt spid="110599"/>
                                        </p:tgtEl>
                                        <p:attrNameLst>
                                          <p:attrName>style.visibility</p:attrName>
                                        </p:attrNameLst>
                                      </p:cBhvr>
                                      <p:to>
                                        <p:strVal val="visible"/>
                                      </p:to>
                                    </p:set>
                                    <p:animEffect transition="in" filter="wipe(left)">
                                      <p:cBhvr>
                                        <p:cTn id="11" dur="500"/>
                                        <p:tgtEl>
                                          <p:spTgt spid="110599"/>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10595">
                                            <p:txEl>
                                              <p:pRg st="0" end="0"/>
                                            </p:txEl>
                                          </p:spTgt>
                                        </p:tgtEl>
                                        <p:attrNameLst>
                                          <p:attrName>style.visibility</p:attrName>
                                        </p:attrNameLst>
                                      </p:cBhvr>
                                      <p:to>
                                        <p:strVal val="visible"/>
                                      </p:to>
                                    </p:set>
                                    <p:animEffect transition="in" filter="wipe(left)">
                                      <p:cBhvr>
                                        <p:cTn id="15" dur="500"/>
                                        <p:tgtEl>
                                          <p:spTgt spid="110595">
                                            <p:txEl>
                                              <p:pRg st="0" end="0"/>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10595">
                                            <p:txEl>
                                              <p:pRg st="1" end="1"/>
                                            </p:txEl>
                                          </p:spTgt>
                                        </p:tgtEl>
                                        <p:attrNameLst>
                                          <p:attrName>style.visibility</p:attrName>
                                        </p:attrNameLst>
                                      </p:cBhvr>
                                      <p:to>
                                        <p:strVal val="visible"/>
                                      </p:to>
                                    </p:set>
                                    <p:animEffect transition="in" filter="wipe(left)">
                                      <p:cBhvr>
                                        <p:cTn id="19" dur="500"/>
                                        <p:tgtEl>
                                          <p:spTgt spid="110595">
                                            <p:txEl>
                                              <p:pRg st="1" end="1"/>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10595">
                                            <p:txEl>
                                              <p:pRg st="2" end="2"/>
                                            </p:txEl>
                                          </p:spTgt>
                                        </p:tgtEl>
                                        <p:attrNameLst>
                                          <p:attrName>style.visibility</p:attrName>
                                        </p:attrNameLst>
                                      </p:cBhvr>
                                      <p:to>
                                        <p:strVal val="visible"/>
                                      </p:to>
                                    </p:set>
                                    <p:animEffect transition="in" filter="wipe(left)">
                                      <p:cBhvr>
                                        <p:cTn id="23" dur="500"/>
                                        <p:tgtEl>
                                          <p:spTgt spid="110595">
                                            <p:txEl>
                                              <p:pRg st="2" end="2"/>
                                            </p:tx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110595">
                                            <p:txEl>
                                              <p:pRg st="3" end="3"/>
                                            </p:txEl>
                                          </p:spTgt>
                                        </p:tgtEl>
                                        <p:attrNameLst>
                                          <p:attrName>style.visibility</p:attrName>
                                        </p:attrNameLst>
                                      </p:cBhvr>
                                      <p:to>
                                        <p:strVal val="visible"/>
                                      </p:to>
                                    </p:set>
                                    <p:animEffect transition="in" filter="wipe(left)">
                                      <p:cBhvr>
                                        <p:cTn id="27" dur="500"/>
                                        <p:tgtEl>
                                          <p:spTgt spid="110595">
                                            <p:txEl>
                                              <p:pRg st="3" end="3"/>
                                            </p:txEl>
                                          </p:spTgt>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left)">
                                      <p:cBhvr>
                                        <p:cTn id="3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4" grpId="0"/>
      <p:bldP spid="110595" grpId="0" build="p" advAuto="1000"/>
      <p:bldP spid="110599"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日期占位符 3"/>
          <p:cNvSpPr txBox="1">
            <a:spLocks noGrp="1"/>
          </p:cNvSpPr>
          <p:nvPr>
            <p:ph type="dt" sz="half" idx="10"/>
          </p:nvPr>
        </p:nvSpPr>
        <p:spPr>
          <a:xfrm>
            <a:off x="0" y="6510338"/>
            <a:ext cx="2267744"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08547" name="灯片编号占位符 5"/>
          <p:cNvSpPr txBox="1">
            <a:spLocks noGrp="1"/>
          </p:cNvSpPr>
          <p:nvPr>
            <p:ph type="sldNum" sz="quarter" idx="12"/>
          </p:nvPr>
        </p:nvSpPr>
        <p:spPr>
          <a:xfrm>
            <a:off x="8571865" y="6663055"/>
            <a:ext cx="572135" cy="194945"/>
          </a:xfrm>
        </p:spPr>
        <p:txBody>
          <a:bodyPr lIns="92075" tIns="46038" rIns="92075" bIns="46038" anchor="ctr"/>
          <a:lstStyle/>
          <a:p>
            <a:pPr algn="r" eaLnBrk="1" hangingPunct="1"/>
            <a:fld id="{9A0DB2DC-4C9A-4742-B13C-FB6460FD3503}" type="slidenum">
              <a:rPr lang="en-US" altLang="zh-CN" sz="1400" dirty="0"/>
              <a:t>113</a:t>
            </a:fld>
            <a:endParaRPr lang="en-US" altLang="zh-CN" sz="1400" dirty="0"/>
          </a:p>
        </p:txBody>
      </p:sp>
      <p:sp>
        <p:nvSpPr>
          <p:cNvPr id="246786" name="Rectangle 2"/>
          <p:cNvSpPr>
            <a:spLocks noGrp="1" noChangeArrowheads="1"/>
          </p:cNvSpPr>
          <p:nvPr>
            <p:ph type="title"/>
          </p:nvPr>
        </p:nvSpPr>
        <p:spPr>
          <a:xfrm>
            <a:off x="1259840" y="332581"/>
            <a:ext cx="5804951" cy="928688"/>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C00000"/>
                </a:solidFill>
                <a:uLnTx/>
                <a:uFillTx/>
                <a:latin typeface="+mj-lt"/>
                <a:ea typeface="华文中宋" panose="02010600040101010101" pitchFamily="2" charset="-122"/>
                <a:cs typeface="+mj-cs"/>
              </a:rPr>
              <a:t>⑵ </a:t>
            </a:r>
            <a:r>
              <a:rPr kumimoji="1" lang="zh-CN" altLang="en-US" sz="4400" b="1" i="0" u="none" strike="noStrike" kern="0" cap="none" spc="0" normalizeH="0" baseline="0" noProof="0" dirty="0">
                <a:ln>
                  <a:noFill/>
                </a:ln>
                <a:solidFill>
                  <a:srgbClr val="C00000"/>
                </a:solidFill>
                <a:uLnTx/>
                <a:uFillTx/>
                <a:latin typeface="+mj-lt"/>
                <a:ea typeface="华文中宋" panose="02010600040101010101" pitchFamily="2" charset="-122"/>
                <a:cs typeface="+mj-cs"/>
              </a:rPr>
              <a:t>奥氏体</a:t>
            </a:r>
            <a:r>
              <a:rPr kumimoji="1" lang="en-US" altLang="zh-CN" sz="4400" b="1" i="0" u="none" strike="noStrike" kern="0" cap="none" spc="0" normalizeH="0" baseline="0" noProof="0" dirty="0">
                <a:ln>
                  <a:noFill/>
                </a:ln>
                <a:solidFill>
                  <a:srgbClr val="C00000"/>
                </a:solidFill>
                <a:uLnTx/>
                <a:uFillTx/>
                <a:latin typeface="+mj-lt"/>
                <a:ea typeface="华文中宋" panose="02010600040101010101" pitchFamily="2" charset="-122"/>
                <a:cs typeface="+mj-cs"/>
              </a:rPr>
              <a:t>  </a:t>
            </a:r>
            <a:r>
              <a:rPr kumimoji="1" lang="en-US" altLang="zh-CN" sz="4400" b="1" i="0" u="none" strike="noStrike" kern="0" cap="none" spc="0" normalizeH="0" baseline="0" noProof="0" dirty="0">
                <a:ln>
                  <a:noFill/>
                </a:ln>
                <a:solidFill>
                  <a:srgbClr val="0000FF"/>
                </a:solidFill>
                <a:uLnTx/>
                <a:uFillTx/>
                <a:latin typeface="+mj-lt"/>
                <a:ea typeface="华文中宋" panose="02010600040101010101" pitchFamily="2" charset="-122"/>
                <a:cs typeface="+mj-cs"/>
              </a:rPr>
              <a:t>Austenite</a:t>
            </a:r>
            <a:endParaRPr kumimoji="1" lang="zh-CN" altLang="en-US" sz="4400" b="1" i="0" u="none" strike="noStrike" kern="0" cap="none" spc="0" normalizeH="0" baseline="0" noProof="0" dirty="0">
              <a:ln>
                <a:noFill/>
              </a:ln>
              <a:solidFill>
                <a:srgbClr val="0000FF"/>
              </a:solidFill>
              <a:uLnTx/>
              <a:uFillTx/>
              <a:latin typeface="+mj-lt"/>
              <a:ea typeface="华文中宋" panose="02010600040101010101" pitchFamily="2" charset="-122"/>
              <a:cs typeface="+mj-cs"/>
            </a:endParaRPr>
          </a:p>
        </p:txBody>
      </p:sp>
      <p:sp>
        <p:nvSpPr>
          <p:cNvPr id="108549" name="Rectangle 3"/>
          <p:cNvSpPr>
            <a:spLocks noGrp="1"/>
          </p:cNvSpPr>
          <p:nvPr>
            <p:ph idx="1"/>
          </p:nvPr>
        </p:nvSpPr>
        <p:spPr>
          <a:xfrm>
            <a:off x="300776" y="1916832"/>
            <a:ext cx="6192520" cy="4769722"/>
          </a:xfrm>
        </p:spPr>
        <p:txBody>
          <a:bodyPr vert="horz" wrap="square" lIns="91440" tIns="45720" rIns="91440" bIns="45720" anchor="t"/>
          <a:lstStyle/>
          <a:p>
            <a:pPr eaLnBrk="1" hangingPunct="1">
              <a:lnSpc>
                <a:spcPct val="110000"/>
              </a:lnSpc>
            </a:pPr>
            <a:r>
              <a:rPr kumimoji="1" lang="en-US" altLang="zh-CN" sz="2800" b="1" noProof="0" dirty="0">
                <a:ln>
                  <a:noFill/>
                </a:ln>
                <a:solidFill>
                  <a:srgbClr val="0000FF"/>
                </a:solidFill>
                <a:uLnTx/>
                <a:uFillTx/>
                <a:latin typeface="+mj-lt"/>
                <a:ea typeface="华文中宋" panose="02010600040101010101" pitchFamily="2" charset="-122"/>
                <a:cs typeface="+mj-cs"/>
                <a:sym typeface="Symbol" panose="05050102010706020507" pitchFamily="18" charset="2"/>
              </a:rPr>
              <a:t>奥氏体：</a:t>
            </a:r>
            <a:r>
              <a:rPr lang="zh-CN" altLang="en-US" sz="2800" b="1" dirty="0">
                <a:solidFill>
                  <a:schemeClr val="folHlink"/>
                </a:solidFill>
                <a:ea typeface="华文中宋" panose="02010600040101010101" pitchFamily="2" charset="-122"/>
              </a:rPr>
              <a:t>碳</a:t>
            </a:r>
            <a:r>
              <a:rPr lang="zh-CN" altLang="en-US" sz="2800" b="1" dirty="0">
                <a:ea typeface="华文中宋" panose="02010600040101010101" pitchFamily="2" charset="-122"/>
                <a:sym typeface="Symbol" panose="05050102010706020507" pitchFamily="18" charset="2"/>
              </a:rPr>
              <a:t>在</a:t>
            </a:r>
            <a:r>
              <a:rPr lang="zh-CN" altLang="en-US" sz="2800" b="1" i="1" dirty="0">
                <a:solidFill>
                  <a:schemeClr val="folHlink"/>
                </a:solidFill>
                <a:ea typeface="华文中宋" panose="02010600040101010101" pitchFamily="2" charset="-122"/>
                <a:sym typeface="Symbol" panose="05050102010706020507" pitchFamily="18" charset="2"/>
              </a:rPr>
              <a:t></a:t>
            </a:r>
            <a:r>
              <a:rPr lang="zh-CN" altLang="en-US" sz="2800" b="1" dirty="0">
                <a:solidFill>
                  <a:schemeClr val="folHlink"/>
                </a:solidFill>
                <a:ea typeface="华文中宋" panose="02010600040101010101" pitchFamily="2" charset="-122"/>
                <a:sym typeface="Symbol" panose="05050102010706020507" pitchFamily="18" charset="2"/>
              </a:rPr>
              <a:t> </a:t>
            </a:r>
            <a:r>
              <a:rPr lang="en-US" altLang="zh-CN" sz="2800" b="1" dirty="0">
                <a:solidFill>
                  <a:schemeClr val="folHlink"/>
                </a:solidFill>
                <a:ea typeface="华文中宋" panose="02010600040101010101" pitchFamily="2" charset="-122"/>
                <a:sym typeface="Symbol" panose="05050102010706020507" pitchFamily="18" charset="2"/>
              </a:rPr>
              <a:t>-Fe</a:t>
            </a:r>
            <a:r>
              <a:rPr lang="zh-CN" altLang="en-US" sz="2800" b="1" dirty="0">
                <a:ea typeface="华文中宋" panose="02010600040101010101" pitchFamily="2" charset="-122"/>
                <a:sym typeface="Symbol" panose="05050102010706020507" pitchFamily="18" charset="2"/>
              </a:rPr>
              <a:t>中的</a:t>
            </a:r>
            <a:r>
              <a:rPr lang="zh-CN" altLang="en-US" sz="2800" b="1" dirty="0">
                <a:solidFill>
                  <a:schemeClr val="folHlink"/>
                </a:solidFill>
                <a:ea typeface="华文中宋" panose="02010600040101010101" pitchFamily="2" charset="-122"/>
              </a:rPr>
              <a:t>间隙</a:t>
            </a:r>
            <a:r>
              <a:rPr lang="zh-CN" altLang="en-US" sz="2800" b="1" dirty="0">
                <a:solidFill>
                  <a:schemeClr val="folHlink"/>
                </a:solidFill>
                <a:ea typeface="华文中宋" panose="02010600040101010101" pitchFamily="2" charset="-122"/>
                <a:sym typeface="Symbol" panose="05050102010706020507" pitchFamily="18" charset="2"/>
              </a:rPr>
              <a:t>固溶体</a:t>
            </a:r>
            <a:r>
              <a:rPr lang="zh-CN" altLang="en-US" sz="2800" b="1" dirty="0">
                <a:ea typeface="华文中宋" panose="02010600040101010101" pitchFamily="2" charset="-122"/>
                <a:sym typeface="Symbol" panose="05050102010706020507" pitchFamily="18" charset="2"/>
              </a:rPr>
              <a:t>。用 </a:t>
            </a:r>
            <a:r>
              <a:rPr lang="en-US" altLang="zh-CN" sz="2800" b="1" dirty="0">
                <a:solidFill>
                  <a:schemeClr val="folHlink"/>
                </a:solidFill>
                <a:ea typeface="华文中宋" panose="02010600040101010101" pitchFamily="2" charset="-122"/>
                <a:sym typeface="Symbol" panose="05050102010706020507" pitchFamily="18" charset="2"/>
              </a:rPr>
              <a:t>A </a:t>
            </a:r>
            <a:r>
              <a:rPr lang="zh-CN" altLang="en-US" sz="2800" b="1" dirty="0">
                <a:ea typeface="华文中宋" panose="02010600040101010101" pitchFamily="2" charset="-122"/>
                <a:sym typeface="Symbol" panose="05050102010706020507" pitchFamily="18" charset="2"/>
              </a:rPr>
              <a:t>或 </a:t>
            </a:r>
            <a:r>
              <a:rPr lang="zh-CN" altLang="en-US" sz="2800" b="1" i="1" dirty="0">
                <a:solidFill>
                  <a:schemeClr val="folHlink"/>
                </a:solidFill>
                <a:ea typeface="华文中宋" panose="02010600040101010101" pitchFamily="2" charset="-122"/>
                <a:sym typeface="Symbol" panose="05050102010706020507" pitchFamily="18" charset="2"/>
              </a:rPr>
              <a:t> </a:t>
            </a:r>
            <a:r>
              <a:rPr lang="zh-CN" altLang="en-US" sz="2800" b="1" dirty="0">
                <a:ea typeface="华文中宋" panose="02010600040101010101" pitchFamily="2" charset="-122"/>
                <a:sym typeface="Symbol" panose="05050102010706020507" pitchFamily="18" charset="2"/>
              </a:rPr>
              <a:t>表示。</a:t>
            </a:r>
            <a:endParaRPr lang="en-US" altLang="zh-CN" sz="2800" b="1" dirty="0">
              <a:ea typeface="华文中宋" panose="02010600040101010101" pitchFamily="2" charset="-122"/>
              <a:sym typeface="Symbol" panose="05050102010706020507" pitchFamily="18" charset="2"/>
            </a:endParaRPr>
          </a:p>
          <a:p>
            <a:pPr eaLnBrk="1" hangingPunct="1">
              <a:lnSpc>
                <a:spcPct val="110000"/>
              </a:lnSpc>
            </a:pPr>
            <a:r>
              <a:rPr lang="zh-CN" altLang="en-US" sz="2800" b="1" dirty="0">
                <a:ea typeface="华文中宋" panose="02010600040101010101" pitchFamily="2" charset="-122"/>
                <a:sym typeface="Symbol" panose="05050102010706020507" pitchFamily="18" charset="2"/>
              </a:rPr>
              <a:t>是</a:t>
            </a:r>
            <a:r>
              <a:rPr kumimoji="1" lang="en-US" altLang="zh-CN" sz="2800" b="1" noProof="0" dirty="0">
                <a:ln>
                  <a:noFill/>
                </a:ln>
                <a:solidFill>
                  <a:srgbClr val="0000FF"/>
                </a:solidFill>
                <a:uLnTx/>
                <a:uFillTx/>
                <a:latin typeface="+mj-lt"/>
                <a:ea typeface="华文中宋" panose="02010600040101010101" pitchFamily="2" charset="-122"/>
                <a:cs typeface="+mj-cs"/>
                <a:sym typeface="Symbol" panose="05050102010706020507" pitchFamily="18" charset="2"/>
              </a:rPr>
              <a:t>面心立方</a:t>
            </a:r>
            <a:r>
              <a:rPr lang="zh-CN" altLang="en-US" sz="2800" b="1" dirty="0">
                <a:solidFill>
                  <a:schemeClr val="folHlink"/>
                </a:solidFill>
                <a:ea typeface="华文中宋" panose="02010600040101010101" pitchFamily="2" charset="-122"/>
                <a:sym typeface="Symbol" panose="05050102010706020507" pitchFamily="18" charset="2"/>
              </a:rPr>
              <a:t>晶格</a:t>
            </a:r>
            <a:r>
              <a:rPr lang="zh-CN" altLang="en-US" sz="2800" b="1" dirty="0">
                <a:ea typeface="华文中宋" panose="02010600040101010101" pitchFamily="2" charset="-122"/>
                <a:sym typeface="Symbol" panose="05050102010706020507" pitchFamily="18" charset="2"/>
              </a:rPr>
              <a:t>的</a:t>
            </a:r>
            <a:r>
              <a:rPr kumimoji="1" lang="en-US" altLang="zh-CN" sz="2800" b="1" noProof="0" dirty="0">
                <a:ln>
                  <a:noFill/>
                </a:ln>
                <a:solidFill>
                  <a:srgbClr val="0000FF"/>
                </a:solidFill>
                <a:uLnTx/>
                <a:uFillTx/>
                <a:latin typeface="+mj-lt"/>
                <a:ea typeface="华文中宋" panose="02010600040101010101" pitchFamily="2" charset="-122"/>
                <a:cs typeface="+mj-cs"/>
                <a:sym typeface="Symbol" panose="05050102010706020507" pitchFamily="18" charset="2"/>
              </a:rPr>
              <a:t>间隙固溶体</a:t>
            </a:r>
            <a:r>
              <a:rPr lang="zh-CN" altLang="en-US" sz="2800" b="1" dirty="0">
                <a:ea typeface="华文中宋" panose="02010600040101010101" pitchFamily="2" charset="-122"/>
                <a:sym typeface="Symbol" panose="05050102010706020507" pitchFamily="18" charset="2"/>
              </a:rPr>
              <a:t>。溶碳能力比铁素体大，</a:t>
            </a:r>
            <a:r>
              <a:rPr lang="en-US" altLang="zh-CN" sz="2800" b="1" dirty="0">
                <a:solidFill>
                  <a:schemeClr val="folHlink"/>
                </a:solidFill>
                <a:ea typeface="华文中宋" panose="02010600040101010101" pitchFamily="2" charset="-122"/>
                <a:sym typeface="Symbol" panose="05050102010706020507" pitchFamily="18" charset="2"/>
              </a:rPr>
              <a:t>1148℃</a:t>
            </a:r>
            <a:r>
              <a:rPr lang="zh-CN" altLang="en-US" sz="2800" b="1" dirty="0">
                <a:ea typeface="华文中宋" panose="02010600040101010101" pitchFamily="2" charset="-122"/>
                <a:sym typeface="Symbol" panose="05050102010706020507" pitchFamily="18" charset="2"/>
              </a:rPr>
              <a:t>时最大</a:t>
            </a:r>
            <a:r>
              <a:rPr lang="en-US" altLang="zh-CN" sz="2800" b="1" dirty="0">
                <a:ea typeface="华文中宋" panose="02010600040101010101" pitchFamily="2" charset="-122"/>
                <a:sym typeface="Symbol" panose="05050102010706020507" pitchFamily="18" charset="2"/>
              </a:rPr>
              <a:t>, </a:t>
            </a:r>
            <a:r>
              <a:rPr lang="zh-CN" altLang="en-US" sz="2800" b="1" dirty="0">
                <a:ea typeface="华文中宋" panose="02010600040101010101" pitchFamily="2" charset="-122"/>
                <a:sym typeface="Symbol" panose="05050102010706020507" pitchFamily="18" charset="2"/>
              </a:rPr>
              <a:t>为</a:t>
            </a:r>
            <a:r>
              <a:rPr lang="en-US" altLang="zh-CN" sz="2800" b="1" dirty="0">
                <a:solidFill>
                  <a:schemeClr val="folHlink"/>
                </a:solidFill>
                <a:ea typeface="华文中宋" panose="02010600040101010101" pitchFamily="2" charset="-122"/>
                <a:sym typeface="Symbol" panose="05050102010706020507" pitchFamily="18" charset="2"/>
              </a:rPr>
              <a:t>2.11%</a:t>
            </a:r>
            <a:r>
              <a:rPr lang="zh-CN" altLang="en-US" sz="2800" b="1" dirty="0">
                <a:ea typeface="华文中宋" panose="02010600040101010101" pitchFamily="2" charset="-122"/>
                <a:sym typeface="Symbol" panose="05050102010706020507" pitchFamily="18" charset="2"/>
              </a:rPr>
              <a:t>。</a:t>
            </a:r>
          </a:p>
          <a:p>
            <a:pPr eaLnBrk="1" hangingPunct="1">
              <a:lnSpc>
                <a:spcPct val="90000"/>
              </a:lnSpc>
            </a:pPr>
            <a:r>
              <a:rPr kumimoji="1" lang="en-US" altLang="zh-CN" sz="2800" b="1" noProof="0" dirty="0">
                <a:ln>
                  <a:noFill/>
                </a:ln>
                <a:solidFill>
                  <a:srgbClr val="0000FF"/>
                </a:solidFill>
                <a:uLnTx/>
                <a:uFillTx/>
                <a:latin typeface="+mj-lt"/>
                <a:ea typeface="华文中宋" panose="02010600040101010101" pitchFamily="2" charset="-122"/>
                <a:cs typeface="+mj-cs"/>
              </a:rPr>
              <a:t>组织：</a:t>
            </a:r>
            <a:r>
              <a:rPr lang="zh-CN" altLang="en-US" sz="2800" b="1" dirty="0">
                <a:ea typeface="华文中宋" panose="02010600040101010101" pitchFamily="2" charset="-122"/>
                <a:sym typeface="Symbol" panose="05050102010706020507" pitchFamily="18" charset="2"/>
              </a:rPr>
              <a:t>为</a:t>
            </a:r>
            <a:r>
              <a:rPr lang="zh-CN" altLang="en-US" sz="2800" b="1" dirty="0">
                <a:solidFill>
                  <a:schemeClr val="folHlink"/>
                </a:solidFill>
              </a:rPr>
              <a:t>不规则多面体晶粒</a:t>
            </a:r>
            <a:r>
              <a:rPr lang="zh-CN" altLang="en-US" sz="2800" b="1" dirty="0"/>
              <a:t>，</a:t>
            </a:r>
            <a:r>
              <a:rPr lang="zh-CN" altLang="en-US" sz="2800" b="1" dirty="0">
                <a:solidFill>
                  <a:schemeClr val="folHlink"/>
                </a:solidFill>
              </a:rPr>
              <a:t>晶界较直。</a:t>
            </a:r>
          </a:p>
          <a:p>
            <a:pPr eaLnBrk="1" hangingPunct="1">
              <a:lnSpc>
                <a:spcPct val="90000"/>
              </a:lnSpc>
            </a:pPr>
            <a:r>
              <a:rPr kumimoji="1" lang="en-US" altLang="zh-CN" sz="2800" b="1" noProof="0" dirty="0">
                <a:ln>
                  <a:noFill/>
                </a:ln>
                <a:solidFill>
                  <a:srgbClr val="0000FF"/>
                </a:solidFill>
                <a:uLnTx/>
                <a:uFillTx/>
                <a:latin typeface="+mj-lt"/>
                <a:ea typeface="华文中宋" panose="02010600040101010101" pitchFamily="2" charset="-122"/>
                <a:cs typeface="+mj-cs"/>
              </a:rPr>
              <a:t>性能</a:t>
            </a:r>
            <a:r>
              <a:rPr lang="zh-CN" altLang="en-US" sz="2800" b="1" dirty="0"/>
              <a:t>：</a:t>
            </a:r>
            <a:r>
              <a:rPr lang="zh-CN" altLang="en-US" sz="2800" b="1" dirty="0">
                <a:solidFill>
                  <a:schemeClr val="folHlink"/>
                </a:solidFill>
              </a:rPr>
              <a:t>强度低、塑性好</a:t>
            </a:r>
            <a:endParaRPr lang="zh-CN" altLang="en-US" sz="2800" b="1" dirty="0">
              <a:solidFill>
                <a:srgbClr val="FFFFCC"/>
              </a:solidFill>
            </a:endParaRPr>
          </a:p>
          <a:p>
            <a:pPr eaLnBrk="1" hangingPunct="1">
              <a:lnSpc>
                <a:spcPct val="90000"/>
              </a:lnSpc>
            </a:pPr>
            <a:r>
              <a:rPr lang="zh-CN" altLang="en-US" sz="2800" b="1" dirty="0">
                <a:solidFill>
                  <a:schemeClr val="folHlink"/>
                </a:solidFill>
              </a:rPr>
              <a:t>钢材热加工都在 </a:t>
            </a:r>
            <a:r>
              <a:rPr lang="zh-CN" altLang="en-US" sz="2800" b="1" i="1" dirty="0">
                <a:solidFill>
                  <a:schemeClr val="folHlink"/>
                </a:solidFill>
                <a:sym typeface="Symbol" panose="05050102010706020507" pitchFamily="18" charset="2"/>
              </a:rPr>
              <a:t> </a:t>
            </a:r>
            <a:r>
              <a:rPr lang="zh-CN" altLang="en-US" sz="2800" b="1" dirty="0">
                <a:solidFill>
                  <a:schemeClr val="folHlink"/>
                </a:solidFill>
              </a:rPr>
              <a:t>区进行。</a:t>
            </a:r>
            <a:r>
              <a:rPr lang="zh-CN" altLang="en-US" sz="2800" b="1" dirty="0">
                <a:solidFill>
                  <a:srgbClr val="FF0000"/>
                </a:solidFill>
              </a:rPr>
              <a:t>碳钢室温组织中无奥氏体。</a:t>
            </a:r>
          </a:p>
        </p:txBody>
      </p:sp>
      <p:grpSp>
        <p:nvGrpSpPr>
          <p:cNvPr id="108550" name="Group 4"/>
          <p:cNvGrpSpPr/>
          <p:nvPr/>
        </p:nvGrpSpPr>
        <p:grpSpPr>
          <a:xfrm>
            <a:off x="6551711" y="4150919"/>
            <a:ext cx="2382740" cy="1917556"/>
            <a:chOff x="3969" y="2395"/>
            <a:chExt cx="1791" cy="1394"/>
          </a:xfrm>
        </p:grpSpPr>
        <p:pic>
          <p:nvPicPr>
            <p:cNvPr id="108555" name="Picture 5" descr="旋转 austenite"/>
            <p:cNvPicPr>
              <a:picLocks noChangeAspect="1"/>
            </p:cNvPicPr>
            <p:nvPr/>
          </p:nvPicPr>
          <p:blipFill>
            <a:blip r:embed="rId2"/>
            <a:stretch>
              <a:fillRect/>
            </a:stretch>
          </p:blipFill>
          <p:spPr>
            <a:xfrm>
              <a:off x="3969" y="2395"/>
              <a:ext cx="1791" cy="1369"/>
            </a:xfrm>
            <a:prstGeom prst="rect">
              <a:avLst/>
            </a:prstGeom>
            <a:noFill/>
            <a:ln w="38100">
              <a:noFill/>
            </a:ln>
          </p:spPr>
        </p:pic>
        <p:sp>
          <p:nvSpPr>
            <p:cNvPr id="108556" name="Text Box 6"/>
            <p:cNvSpPr txBox="1"/>
            <p:nvPr/>
          </p:nvSpPr>
          <p:spPr>
            <a:xfrm>
              <a:off x="4862" y="3521"/>
              <a:ext cx="681" cy="268"/>
            </a:xfrm>
            <a:prstGeom prst="rect">
              <a:avLst/>
            </a:prstGeom>
            <a:solidFill>
              <a:schemeClr val="bg1"/>
            </a:solidFill>
            <a:ln w="9525">
              <a:noFill/>
            </a:ln>
          </p:spPr>
          <p:txBody>
            <a:bodyPr wrap="square">
              <a:spAutoFit/>
            </a:bodyPr>
            <a:lstStyle/>
            <a:p>
              <a:pPr lvl="0" algn="ctr" eaLnBrk="1" hangingPunct="1">
                <a:spcBef>
                  <a:spcPct val="50000"/>
                </a:spcBef>
              </a:pPr>
              <a:r>
                <a:rPr lang="zh-CN" altLang="en-US" sz="1800" b="1" dirty="0">
                  <a:solidFill>
                    <a:srgbClr val="800000"/>
                  </a:solidFill>
                  <a:latin typeface="Times New Roman" panose="02020603050405020304" pitchFamily="18" charset="0"/>
                  <a:ea typeface="宋体" panose="02010600030101010101" pitchFamily="2" charset="-122"/>
                </a:rPr>
                <a:t>奥氏体</a:t>
              </a:r>
            </a:p>
          </p:txBody>
        </p:sp>
      </p:grpSp>
      <p:grpSp>
        <p:nvGrpSpPr>
          <p:cNvPr id="108551" name="Group 9"/>
          <p:cNvGrpSpPr/>
          <p:nvPr/>
        </p:nvGrpSpPr>
        <p:grpSpPr>
          <a:xfrm>
            <a:off x="6826292" y="1974018"/>
            <a:ext cx="2089858" cy="1929367"/>
            <a:chOff x="3900" y="300"/>
            <a:chExt cx="1713" cy="2031"/>
          </a:xfrm>
        </p:grpSpPr>
        <p:pic>
          <p:nvPicPr>
            <p:cNvPr id="108553" name="Picture 7" descr="FCC间隙"/>
            <p:cNvPicPr>
              <a:picLocks noChangeAspect="1"/>
            </p:cNvPicPr>
            <p:nvPr/>
          </p:nvPicPr>
          <p:blipFill>
            <a:blip r:embed="rId3"/>
            <a:stretch>
              <a:fillRect/>
            </a:stretch>
          </p:blipFill>
          <p:spPr>
            <a:xfrm>
              <a:off x="3971" y="300"/>
              <a:ext cx="1569" cy="1588"/>
            </a:xfrm>
            <a:prstGeom prst="rect">
              <a:avLst/>
            </a:prstGeom>
            <a:noFill/>
            <a:ln w="19050" cap="flat" cmpd="sng">
              <a:solidFill>
                <a:srgbClr val="FF6600"/>
              </a:solidFill>
              <a:prstDash val="solid"/>
              <a:miter/>
              <a:headEnd type="none" w="med" len="med"/>
              <a:tailEnd type="none" w="med" len="med"/>
            </a:ln>
          </p:spPr>
        </p:pic>
        <p:sp>
          <p:nvSpPr>
            <p:cNvPr id="108554" name="Text Box 8"/>
            <p:cNvSpPr txBox="1"/>
            <p:nvPr/>
          </p:nvSpPr>
          <p:spPr>
            <a:xfrm>
              <a:off x="3900" y="1942"/>
              <a:ext cx="1713" cy="389"/>
            </a:xfrm>
            <a:prstGeom prst="rect">
              <a:avLst/>
            </a:prstGeom>
            <a:noFill/>
            <a:ln w="9525">
              <a:noFill/>
            </a:ln>
          </p:spPr>
          <p:txBody>
            <a:bodyPr wrap="square">
              <a:spAutoFit/>
            </a:bodyPr>
            <a:lstStyle/>
            <a:p>
              <a:pPr lvl="0" algn="ctr" eaLnBrk="1" hangingPunct="1">
                <a:spcBef>
                  <a:spcPct val="50000"/>
                </a:spcBef>
              </a:pPr>
              <a:r>
                <a:rPr lang="en-US" altLang="zh-CN" sz="1800" b="1" dirty="0">
                  <a:solidFill>
                    <a:schemeClr val="folHlink"/>
                  </a:solidFill>
                  <a:latin typeface="Times New Roman" panose="02020603050405020304" pitchFamily="18" charset="0"/>
                  <a:ea typeface="宋体" panose="02010600030101010101" pitchFamily="2" charset="-122"/>
                </a:rPr>
                <a:t>FCC</a:t>
              </a:r>
              <a:r>
                <a:rPr lang="zh-CN" altLang="en-US" sz="1800" b="1" dirty="0">
                  <a:solidFill>
                    <a:schemeClr val="folHlink"/>
                  </a:solidFill>
                  <a:latin typeface="Times New Roman" panose="02020603050405020304" pitchFamily="18" charset="0"/>
                  <a:ea typeface="宋体" panose="02010600030101010101" pitchFamily="2" charset="-122"/>
                </a:rPr>
                <a:t>的八面体间隙</a:t>
              </a:r>
            </a:p>
          </p:txBody>
        </p:sp>
      </p:grpSp>
      <p:pic>
        <p:nvPicPr>
          <p:cNvPr id="13" name="内容占位符 1" descr="新校徽（3M）弓之乐"/>
          <p:cNvPicPr>
            <a:picLocks noChangeAspect="1"/>
          </p:cNvPicPr>
          <p:nvPr/>
        </p:nvPicPr>
        <p:blipFill>
          <a:blip r:embed="rId4"/>
          <a:stretch>
            <a:fillRect/>
          </a:stretch>
        </p:blipFill>
        <p:spPr>
          <a:xfrm>
            <a:off x="0" y="0"/>
            <a:ext cx="746760" cy="735965"/>
          </a:xfrm>
          <a:prstGeom prst="rect">
            <a:avLst/>
          </a:prstGeom>
          <a:noFill/>
          <a:ln w="9525">
            <a:noFill/>
          </a:ln>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日期占位符 3"/>
          <p:cNvSpPr txBox="1">
            <a:spLocks noGrp="1"/>
          </p:cNvSpPr>
          <p:nvPr>
            <p:ph type="dt" sz="half" idx="10"/>
          </p:nvPr>
        </p:nvSpPr>
        <p:spPr>
          <a:xfrm>
            <a:off x="0" y="6510338"/>
            <a:ext cx="2376488"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09571" name="灯片编号占位符 5"/>
          <p:cNvSpPr txBox="1">
            <a:spLocks noGrp="1"/>
          </p:cNvSpPr>
          <p:nvPr>
            <p:ph type="sldNum" sz="quarter" idx="12"/>
          </p:nvPr>
        </p:nvSpPr>
        <p:spPr>
          <a:xfrm>
            <a:off x="8532495" y="6663055"/>
            <a:ext cx="573405" cy="194945"/>
          </a:xfrm>
        </p:spPr>
        <p:txBody>
          <a:bodyPr lIns="92075" tIns="46038" rIns="92075" bIns="46038" anchor="ctr"/>
          <a:lstStyle/>
          <a:p>
            <a:pPr algn="r" eaLnBrk="1" hangingPunct="1"/>
            <a:fld id="{9A0DB2DC-4C9A-4742-B13C-FB6460FD3503}" type="slidenum">
              <a:rPr lang="en-US" altLang="zh-CN" sz="1400" dirty="0"/>
              <a:t>114</a:t>
            </a:fld>
            <a:endParaRPr lang="en-US" altLang="zh-CN" sz="1400" dirty="0"/>
          </a:p>
        </p:txBody>
      </p:sp>
      <p:sp>
        <p:nvSpPr>
          <p:cNvPr id="247810" name="Rectangle 2"/>
          <p:cNvSpPr>
            <a:spLocks noGrp="1" noChangeArrowheads="1"/>
          </p:cNvSpPr>
          <p:nvPr>
            <p:ph type="title"/>
          </p:nvPr>
        </p:nvSpPr>
        <p:spPr>
          <a:xfrm>
            <a:off x="1440073" y="238724"/>
            <a:ext cx="6263854" cy="928688"/>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⑶ </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渗碳体 </a:t>
            </a:r>
            <a:r>
              <a:rPr kumimoji="1" lang="en-US" altLang="zh-CN" sz="4400" b="1" i="0" u="none" strike="noStrike" kern="0" cap="none" spc="0" normalizeH="0" baseline="0" noProof="0" dirty="0">
                <a:ln>
                  <a:noFill/>
                </a:ln>
                <a:solidFill>
                  <a:srgbClr val="0000FF"/>
                </a:solidFill>
                <a:uLnTx/>
                <a:uFillTx/>
                <a:latin typeface="+mj-lt"/>
                <a:ea typeface="华文中宋" panose="02010600040101010101" pitchFamily="2" charset="-122"/>
                <a:cs typeface="+mj-cs"/>
              </a:rPr>
              <a:t>Cementite</a:t>
            </a:r>
            <a:endParaRPr kumimoji="1" lang="zh-CN" altLang="en-US" sz="4400" b="1" i="0" u="none" strike="noStrike" kern="0" cap="none" spc="0" normalizeH="0" baseline="0" noProof="0" dirty="0">
              <a:ln>
                <a:noFill/>
              </a:ln>
              <a:solidFill>
                <a:srgbClr val="0000FF"/>
              </a:solidFill>
              <a:uLnTx/>
              <a:uFillTx/>
              <a:latin typeface="+mj-lt"/>
              <a:ea typeface="华文中宋" panose="02010600040101010101" pitchFamily="2" charset="-122"/>
              <a:cs typeface="+mj-cs"/>
            </a:endParaRPr>
          </a:p>
        </p:txBody>
      </p:sp>
      <p:sp>
        <p:nvSpPr>
          <p:cNvPr id="109573" name="Rectangle 3"/>
          <p:cNvSpPr>
            <a:spLocks noGrp="1"/>
          </p:cNvSpPr>
          <p:nvPr>
            <p:ph idx="1"/>
          </p:nvPr>
        </p:nvSpPr>
        <p:spPr>
          <a:xfrm>
            <a:off x="179705" y="2060848"/>
            <a:ext cx="6480175" cy="4449807"/>
          </a:xfrm>
        </p:spPr>
        <p:txBody>
          <a:bodyPr vert="horz" wrap="square" lIns="91440" tIns="45720" rIns="91440" bIns="45720" anchor="t"/>
          <a:lstStyle/>
          <a:p>
            <a:pPr eaLnBrk="1" hangingPunct="1"/>
            <a:r>
              <a:rPr lang="zh-CN" altLang="en-US" sz="2800" b="1" dirty="0">
                <a:ea typeface="华文中宋" panose="02010600040101010101" pitchFamily="2" charset="-122"/>
              </a:rPr>
              <a:t>即</a:t>
            </a:r>
            <a:r>
              <a:rPr lang="en-US" altLang="zh-CN" sz="2800" b="1" dirty="0">
                <a:ea typeface="华文中宋" panose="02010600040101010101" pitchFamily="2" charset="-122"/>
              </a:rPr>
              <a:t>Fe</a:t>
            </a:r>
            <a:r>
              <a:rPr lang="en-US" altLang="zh-CN" sz="2800" b="1" baseline="-30000" dirty="0">
                <a:ea typeface="华文中宋" panose="02010600040101010101" pitchFamily="2" charset="-122"/>
              </a:rPr>
              <a:t>3</a:t>
            </a:r>
            <a:r>
              <a:rPr lang="en-US" altLang="zh-CN" sz="2800" b="1" dirty="0">
                <a:ea typeface="华文中宋" panose="02010600040101010101" pitchFamily="2" charset="-122"/>
              </a:rPr>
              <a:t>C, </a:t>
            </a:r>
            <a:r>
              <a:rPr lang="zh-CN" altLang="en-US" sz="2800" b="1" dirty="0">
                <a:ea typeface="华文中宋" panose="02010600040101010101" pitchFamily="2" charset="-122"/>
              </a:rPr>
              <a:t>含碳</a:t>
            </a:r>
            <a:r>
              <a:rPr lang="en-US" altLang="zh-CN" sz="2800" b="1" dirty="0">
                <a:ea typeface="华文中宋" panose="02010600040101010101" pitchFamily="2" charset="-122"/>
              </a:rPr>
              <a:t>6.69%</a:t>
            </a:r>
            <a:r>
              <a:rPr lang="zh-CN" altLang="en-US" sz="2800" b="1" dirty="0">
                <a:ea typeface="华文中宋" panose="02010600040101010101" pitchFamily="2" charset="-122"/>
              </a:rPr>
              <a:t>。</a:t>
            </a:r>
          </a:p>
          <a:p>
            <a:pPr eaLnBrk="1" hangingPunct="1">
              <a:lnSpc>
                <a:spcPct val="110000"/>
              </a:lnSpc>
            </a:pPr>
            <a:r>
              <a:rPr lang="en-US" altLang="zh-CN" sz="2800" b="1" dirty="0">
                <a:ea typeface="华文中宋" panose="02010600040101010101" pitchFamily="2" charset="-122"/>
              </a:rPr>
              <a:t>Fe</a:t>
            </a:r>
            <a:r>
              <a:rPr lang="en-US" altLang="zh-CN" sz="2800" b="1" baseline="-30000" dirty="0">
                <a:ea typeface="华文中宋" panose="02010600040101010101" pitchFamily="2" charset="-122"/>
              </a:rPr>
              <a:t>3</a:t>
            </a:r>
            <a:r>
              <a:rPr lang="en-US" altLang="zh-CN" sz="2800" b="1" dirty="0">
                <a:ea typeface="华文中宋" panose="02010600040101010101" pitchFamily="2" charset="-122"/>
              </a:rPr>
              <a:t>C, </a:t>
            </a:r>
            <a:r>
              <a:rPr lang="zh-CN" altLang="en-US" sz="2800" b="1" dirty="0">
                <a:ea typeface="华文中宋" panose="02010600040101010101" pitchFamily="2" charset="-122"/>
              </a:rPr>
              <a:t>用</a:t>
            </a:r>
            <a:r>
              <a:rPr lang="en-US" altLang="zh-CN" sz="2800" b="1" dirty="0">
                <a:ea typeface="华文中宋" panose="02010600040101010101" pitchFamily="2" charset="-122"/>
              </a:rPr>
              <a:t>Fe</a:t>
            </a:r>
            <a:r>
              <a:rPr lang="en-US" altLang="zh-CN" sz="2800" b="1" baseline="-30000" dirty="0">
                <a:ea typeface="华文中宋" panose="02010600040101010101" pitchFamily="2" charset="-122"/>
              </a:rPr>
              <a:t>3</a:t>
            </a:r>
            <a:r>
              <a:rPr lang="en-US" altLang="zh-CN" sz="2800" b="1" dirty="0">
                <a:ea typeface="华文中宋" panose="02010600040101010101" pitchFamily="2" charset="-122"/>
              </a:rPr>
              <a:t>C</a:t>
            </a:r>
            <a:r>
              <a:rPr lang="zh-CN" altLang="en-US" sz="2800" b="1" dirty="0">
                <a:ea typeface="华文中宋" panose="02010600040101010101" pitchFamily="2" charset="-122"/>
              </a:rPr>
              <a:t>或</a:t>
            </a:r>
            <a:r>
              <a:rPr lang="en-US" altLang="zh-CN" sz="2800" b="1" dirty="0">
                <a:ea typeface="华文中宋" panose="02010600040101010101" pitchFamily="2" charset="-122"/>
              </a:rPr>
              <a:t>C</a:t>
            </a:r>
            <a:r>
              <a:rPr lang="en-US" altLang="zh-CN" sz="2800" b="1" baseline="-30000" dirty="0">
                <a:ea typeface="华文中宋" panose="02010600040101010101" pitchFamily="2" charset="-122"/>
              </a:rPr>
              <a:t>m</a:t>
            </a:r>
            <a:r>
              <a:rPr lang="zh-CN" altLang="en-US" sz="2800" b="1" dirty="0">
                <a:ea typeface="华文中宋" panose="02010600040101010101" pitchFamily="2" charset="-122"/>
              </a:rPr>
              <a:t>表示；硬度高、强度低，脆性大，</a:t>
            </a:r>
            <a:r>
              <a:rPr lang="en-US" altLang="zh-CN" sz="2800" b="1" dirty="0">
                <a:solidFill>
                  <a:srgbClr val="0000FF"/>
                </a:solidFill>
                <a:latin typeface="华文中宋" panose="02010600040101010101" pitchFamily="2" charset="-122"/>
                <a:ea typeface="华文中宋" panose="02010600040101010101" pitchFamily="2" charset="-122"/>
              </a:rPr>
              <a:t>塑性几乎为零</a:t>
            </a:r>
            <a:r>
              <a:rPr lang="zh-CN" altLang="en-US" sz="2800" b="1" dirty="0">
                <a:ea typeface="华文中宋" panose="02010600040101010101" pitchFamily="2" charset="-122"/>
              </a:rPr>
              <a:t>。</a:t>
            </a:r>
          </a:p>
          <a:p>
            <a:pPr eaLnBrk="1" hangingPunct="1"/>
            <a:r>
              <a:rPr lang="en-US" altLang="zh-CN" sz="2800" b="1" dirty="0"/>
              <a:t>Fe</a:t>
            </a:r>
            <a:r>
              <a:rPr lang="en-US" altLang="zh-CN" sz="2800" b="1" baseline="-25000" dirty="0"/>
              <a:t>3</a:t>
            </a:r>
            <a:r>
              <a:rPr lang="en-US" altLang="zh-CN" sz="2800" b="1" dirty="0"/>
              <a:t>C</a:t>
            </a:r>
            <a:r>
              <a:rPr lang="zh-CN" altLang="en-US" sz="2800" b="1" dirty="0"/>
              <a:t>是一个</a:t>
            </a:r>
            <a:r>
              <a:rPr lang="en-US" altLang="zh-CN" sz="2800" b="1" dirty="0">
                <a:solidFill>
                  <a:srgbClr val="0000FF"/>
                </a:solidFill>
                <a:latin typeface="华文中宋" panose="02010600040101010101" pitchFamily="2" charset="-122"/>
                <a:ea typeface="华文中宋" panose="02010600040101010101" pitchFamily="2" charset="-122"/>
              </a:rPr>
              <a:t>亚稳相</a:t>
            </a:r>
            <a:r>
              <a:rPr lang="zh-CN" altLang="en-US" sz="2800" b="1" dirty="0"/>
              <a:t>，在一定条件下可发生分解：</a:t>
            </a:r>
            <a:r>
              <a:rPr lang="en-US" altLang="zh-CN" sz="2800" b="1" dirty="0">
                <a:solidFill>
                  <a:srgbClr val="0000FF"/>
                </a:solidFill>
              </a:rPr>
              <a:t>Fe</a:t>
            </a:r>
            <a:r>
              <a:rPr lang="en-US" altLang="zh-CN" sz="2800" b="1" baseline="-25000" dirty="0">
                <a:solidFill>
                  <a:srgbClr val="0000FF"/>
                </a:solidFill>
              </a:rPr>
              <a:t>3</a:t>
            </a:r>
            <a:r>
              <a:rPr lang="en-US" altLang="zh-CN" sz="2800" b="1" dirty="0">
                <a:solidFill>
                  <a:srgbClr val="0000FF"/>
                </a:solidFill>
              </a:rPr>
              <a:t>C→3Fe+C(</a:t>
            </a:r>
            <a:r>
              <a:rPr lang="zh-CN" altLang="en-US" sz="2800" b="1" dirty="0">
                <a:solidFill>
                  <a:srgbClr val="0000FF"/>
                </a:solidFill>
              </a:rPr>
              <a:t>石墨</a:t>
            </a:r>
            <a:r>
              <a:rPr lang="en-US" altLang="zh-CN" sz="2800" b="1" dirty="0">
                <a:solidFill>
                  <a:srgbClr val="0000FF"/>
                </a:solidFill>
              </a:rPr>
              <a:t>), </a:t>
            </a:r>
            <a:r>
              <a:rPr lang="zh-CN" altLang="en-US" sz="2800" b="1" dirty="0"/>
              <a:t>该反应对铸铁有重要意义。</a:t>
            </a:r>
          </a:p>
          <a:p>
            <a:pPr eaLnBrk="1" hangingPunct="1"/>
            <a:r>
              <a:rPr lang="zh-CN" altLang="en-US" sz="2800" b="1" dirty="0"/>
              <a:t>由于碳在</a:t>
            </a:r>
            <a:r>
              <a:rPr lang="zh-CN" altLang="en-US" sz="2800" b="1" i="1" dirty="0">
                <a:sym typeface="Symbol" panose="05050102010706020507" pitchFamily="18" charset="2"/>
              </a:rPr>
              <a:t></a:t>
            </a:r>
            <a:r>
              <a:rPr lang="en-US" altLang="zh-CN" sz="2800" b="1" dirty="0"/>
              <a:t>-Fe</a:t>
            </a:r>
            <a:r>
              <a:rPr lang="zh-CN" altLang="en-US" sz="2800" b="1" dirty="0"/>
              <a:t>中的溶解度很小，因而常温下碳在铁碳合金中主要以</a:t>
            </a:r>
            <a:r>
              <a:rPr lang="en-US" altLang="zh-CN" sz="2800" b="1" dirty="0"/>
              <a:t>Fe</a:t>
            </a:r>
            <a:r>
              <a:rPr lang="en-US" altLang="zh-CN" sz="2800" b="1" baseline="-25000" dirty="0"/>
              <a:t>3</a:t>
            </a:r>
            <a:r>
              <a:rPr lang="en-US" altLang="zh-CN" sz="2800" b="1" dirty="0"/>
              <a:t>C</a:t>
            </a:r>
            <a:r>
              <a:rPr lang="zh-CN" altLang="en-US" sz="2800" b="1" dirty="0"/>
              <a:t>或石墨的形式存在。</a:t>
            </a:r>
          </a:p>
        </p:txBody>
      </p:sp>
      <p:grpSp>
        <p:nvGrpSpPr>
          <p:cNvPr id="109574" name="Group 10"/>
          <p:cNvGrpSpPr/>
          <p:nvPr/>
        </p:nvGrpSpPr>
        <p:grpSpPr>
          <a:xfrm>
            <a:off x="6661150" y="4076700"/>
            <a:ext cx="2482850" cy="2014855"/>
            <a:chOff x="4068" y="2568"/>
            <a:chExt cx="1692" cy="1269"/>
          </a:xfrm>
        </p:grpSpPr>
        <p:pic>
          <p:nvPicPr>
            <p:cNvPr id="109579" name="Picture 5" descr="F灰铸铁组织"/>
            <p:cNvPicPr>
              <a:picLocks noChangeAspect="1"/>
            </p:cNvPicPr>
            <p:nvPr/>
          </p:nvPicPr>
          <p:blipFill>
            <a:blip r:embed="rId2"/>
            <a:stretch>
              <a:fillRect/>
            </a:stretch>
          </p:blipFill>
          <p:spPr>
            <a:xfrm>
              <a:off x="4068" y="2568"/>
              <a:ext cx="1692" cy="1069"/>
            </a:xfrm>
            <a:prstGeom prst="rect">
              <a:avLst/>
            </a:prstGeom>
            <a:noFill/>
            <a:ln w="38100" cap="flat" cmpd="sng">
              <a:solidFill>
                <a:srgbClr val="FF9900"/>
              </a:solidFill>
              <a:prstDash val="solid"/>
              <a:miter/>
              <a:headEnd type="none" w="med" len="med"/>
              <a:tailEnd type="none" w="med" len="med"/>
            </a:ln>
          </p:spPr>
        </p:pic>
        <p:sp>
          <p:nvSpPr>
            <p:cNvPr id="109580" name="Rectangle 6"/>
            <p:cNvSpPr>
              <a:spLocks noChangeAspect="1"/>
            </p:cNvSpPr>
            <p:nvPr/>
          </p:nvSpPr>
          <p:spPr>
            <a:xfrm>
              <a:off x="4513" y="3657"/>
              <a:ext cx="934" cy="18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lvl="0" algn="ctr" eaLnBrk="1" hangingPunct="1"/>
              <a:r>
                <a:rPr lang="zh-CN" altLang="en-US" sz="1800" b="1" dirty="0">
                  <a:solidFill>
                    <a:srgbClr val="800000"/>
                  </a:solidFill>
                  <a:latin typeface="Times New Roman" panose="02020603050405020304" pitchFamily="18" charset="0"/>
                  <a:ea typeface="宋体" panose="02010600030101010101" pitchFamily="2" charset="-122"/>
                </a:rPr>
                <a:t>铸铁中的石墨</a:t>
              </a:r>
            </a:p>
          </p:txBody>
        </p:sp>
      </p:grpSp>
      <p:grpSp>
        <p:nvGrpSpPr>
          <p:cNvPr id="109575" name="Group 9"/>
          <p:cNvGrpSpPr/>
          <p:nvPr/>
        </p:nvGrpSpPr>
        <p:grpSpPr>
          <a:xfrm>
            <a:off x="6660515" y="1814830"/>
            <a:ext cx="2483485" cy="1941195"/>
            <a:chOff x="4059" y="1143"/>
            <a:chExt cx="1701" cy="1223"/>
          </a:xfrm>
        </p:grpSpPr>
        <p:pic>
          <p:nvPicPr>
            <p:cNvPr id="109577" name="Picture 7" descr="pearlite过共析钢组织"/>
            <p:cNvPicPr>
              <a:picLocks noChangeAspect="1"/>
            </p:cNvPicPr>
            <p:nvPr/>
          </p:nvPicPr>
          <p:blipFill>
            <a:blip r:embed="rId3"/>
            <a:stretch>
              <a:fillRect/>
            </a:stretch>
          </p:blipFill>
          <p:spPr>
            <a:xfrm>
              <a:off x="4059" y="1143"/>
              <a:ext cx="1701" cy="1038"/>
            </a:xfrm>
            <a:prstGeom prst="rect">
              <a:avLst/>
            </a:prstGeom>
            <a:noFill/>
            <a:ln w="38100" cap="flat" cmpd="sng">
              <a:solidFill>
                <a:srgbClr val="FF9900"/>
              </a:solidFill>
              <a:prstDash val="solid"/>
              <a:miter/>
              <a:headEnd type="none" w="med" len="med"/>
              <a:tailEnd type="none" w="med" len="med"/>
            </a:ln>
          </p:spPr>
        </p:pic>
        <p:sp>
          <p:nvSpPr>
            <p:cNvPr id="109578" name="Rectangle 8"/>
            <p:cNvSpPr>
              <a:spLocks noChangeAspect="1"/>
            </p:cNvSpPr>
            <p:nvPr/>
          </p:nvSpPr>
          <p:spPr>
            <a:xfrm>
              <a:off x="4468" y="2175"/>
              <a:ext cx="907" cy="191"/>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lvl="0" algn="ctr" eaLnBrk="1" hangingPunct="1"/>
              <a:r>
                <a:rPr lang="zh-CN" altLang="en-US" sz="1800" b="1" dirty="0">
                  <a:solidFill>
                    <a:srgbClr val="800000"/>
                  </a:solidFill>
                  <a:latin typeface="Times New Roman" panose="02020603050405020304" pitchFamily="18" charset="0"/>
                  <a:ea typeface="宋体" panose="02010600030101010101" pitchFamily="2" charset="-122"/>
                </a:rPr>
                <a:t>钢中的渗碳体</a:t>
              </a:r>
            </a:p>
          </p:txBody>
        </p:sp>
      </p:grpSp>
      <p:pic>
        <p:nvPicPr>
          <p:cNvPr id="14" name="内容占位符 1" descr="新校徽（3M）弓之乐"/>
          <p:cNvPicPr>
            <a:picLocks noChangeAspect="1"/>
          </p:cNvPicPr>
          <p:nvPr/>
        </p:nvPicPr>
        <p:blipFill>
          <a:blip r:embed="rId4"/>
          <a:stretch>
            <a:fillRect/>
          </a:stretch>
        </p:blipFill>
        <p:spPr>
          <a:xfrm>
            <a:off x="0" y="0"/>
            <a:ext cx="746760" cy="735965"/>
          </a:xfrm>
          <a:prstGeom prst="rect">
            <a:avLst/>
          </a:prstGeom>
          <a:noFill/>
          <a:ln w="9525">
            <a:noFill/>
          </a:ln>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日期占位符 3"/>
          <p:cNvSpPr txBox="1">
            <a:spLocks noGrp="1"/>
          </p:cNvSpPr>
          <p:nvPr>
            <p:ph type="dt" sz="half" idx="10"/>
          </p:nvPr>
        </p:nvSpPr>
        <p:spPr>
          <a:xfrm>
            <a:off x="0" y="6510338"/>
            <a:ext cx="2305050"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10595" name="灯片编号占位符 5"/>
          <p:cNvSpPr txBox="1">
            <a:spLocks noGrp="1"/>
          </p:cNvSpPr>
          <p:nvPr>
            <p:ph type="sldNum" sz="quarter" idx="12"/>
          </p:nvPr>
        </p:nvSpPr>
        <p:spPr>
          <a:xfrm>
            <a:off x="8582660" y="6586855"/>
            <a:ext cx="586105" cy="271145"/>
          </a:xfrm>
        </p:spPr>
        <p:txBody>
          <a:bodyPr lIns="92075" tIns="46038" rIns="92075" bIns="46038" anchor="ctr"/>
          <a:lstStyle/>
          <a:p>
            <a:pPr algn="r" eaLnBrk="1" hangingPunct="1"/>
            <a:fld id="{9A0DB2DC-4C9A-4742-B13C-FB6460FD3503}" type="slidenum">
              <a:rPr lang="en-US" altLang="zh-CN" sz="1400" dirty="0"/>
              <a:t>115</a:t>
            </a:fld>
            <a:endParaRPr lang="en-US" altLang="zh-CN" sz="1400" dirty="0"/>
          </a:p>
        </p:txBody>
      </p:sp>
      <p:sp>
        <p:nvSpPr>
          <p:cNvPr id="113666" name="Rectangle 2"/>
          <p:cNvSpPr>
            <a:spLocks noGrp="1" noChangeArrowheads="1"/>
          </p:cNvSpPr>
          <p:nvPr>
            <p:ph type="title"/>
          </p:nvPr>
        </p:nvSpPr>
        <p:spPr>
          <a:xfrm>
            <a:off x="1187450" y="108385"/>
            <a:ext cx="7632700" cy="1456327"/>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4400" b="1" i="0" u="none" strike="noStrike" kern="0" cap="none" spc="0" normalizeH="0" baseline="0" noProof="0" dirty="0">
                <a:ln>
                  <a:noFill/>
                </a:ln>
                <a:solidFill>
                  <a:srgbClr val="FF0000"/>
                </a:solidFill>
                <a:effectLst/>
                <a:uLnTx/>
                <a:uFillTx/>
                <a:latin typeface="Times New Roman" panose="02020603050405020304" pitchFamily="18" charset="0"/>
                <a:ea typeface="华文中宋" panose="02010600040101010101" pitchFamily="2" charset="-122"/>
                <a:cs typeface="+mj-cs"/>
              </a:rPr>
              <a:t>二、铁碳合金相图的分析</a:t>
            </a:r>
            <a:br>
              <a:rPr kumimoji="1" lang="zh-CN" altLang="en-US" sz="4400" b="1" i="0" u="none" strike="noStrike" kern="0" cap="none" spc="0" normalizeH="0" baseline="0" noProof="0" dirty="0">
                <a:ln>
                  <a:noFill/>
                </a:ln>
                <a:solidFill>
                  <a:srgbClr val="FF0000"/>
                </a:solidFill>
                <a:effectLst/>
                <a:uLnTx/>
                <a:uFillTx/>
                <a:latin typeface="Times New Roman" panose="02020603050405020304" pitchFamily="18" charset="0"/>
                <a:ea typeface="华文中宋" panose="02010600040101010101" pitchFamily="2" charset="-122"/>
                <a:cs typeface="+mj-cs"/>
              </a:rPr>
            </a:br>
            <a:r>
              <a:rPr kumimoji="1" lang="en-US" altLang="zh-CN" sz="4400" b="1" i="0" u="none" strike="noStrike" kern="0" cap="none" spc="0" normalizeH="0" baseline="0" noProof="0" dirty="0">
                <a:ln>
                  <a:noFill/>
                </a:ln>
                <a:solidFill>
                  <a:srgbClr val="FF0000"/>
                </a:solidFill>
                <a:effectLst/>
                <a:uLnTx/>
                <a:uFillTx/>
                <a:latin typeface="Times New Roman" panose="02020603050405020304" pitchFamily="18" charset="0"/>
                <a:ea typeface="华文中宋" panose="02010600040101010101" pitchFamily="2" charset="-122"/>
                <a:cs typeface="+mj-cs"/>
              </a:rPr>
              <a:t>——</a:t>
            </a:r>
            <a:r>
              <a:rPr kumimoji="1" lang="en-US" altLang="zh-CN" sz="4400"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华文中宋" panose="02010600040101010101" pitchFamily="2" charset="-122"/>
                <a:cs typeface="+mj-cs"/>
              </a:rPr>
              <a:t>⒈ </a:t>
            </a:r>
            <a:r>
              <a:rPr kumimoji="1" lang="zh-CN" altLang="en-US" sz="4400"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华文中宋" panose="02010600040101010101" pitchFamily="2" charset="-122"/>
                <a:cs typeface="+mj-cs"/>
              </a:rPr>
              <a:t>特征点</a:t>
            </a:r>
          </a:p>
        </p:txBody>
      </p:sp>
      <p:sp>
        <p:nvSpPr>
          <p:cNvPr id="113667" name="Rectangle 3"/>
          <p:cNvSpPr>
            <a:spLocks noGrp="1"/>
          </p:cNvSpPr>
          <p:nvPr>
            <p:ph idx="1"/>
          </p:nvPr>
        </p:nvSpPr>
        <p:spPr>
          <a:xfrm>
            <a:off x="323850" y="1844675"/>
            <a:ext cx="8077200" cy="457200"/>
          </a:xfrm>
        </p:spPr>
        <p:txBody>
          <a:bodyPr vert="horz" wrap="square" lIns="91440" tIns="45720" rIns="91440" bIns="45720" anchor="t"/>
          <a:lstStyle/>
          <a:p>
            <a:pPr eaLnBrk="1" hangingPunct="1">
              <a:lnSpc>
                <a:spcPct val="90000"/>
              </a:lnSpc>
            </a:pPr>
            <a:endParaRPr lang="zh-CN" altLang="zh-CN" sz="2800" b="1" dirty="0">
              <a:solidFill>
                <a:schemeClr val="tx2"/>
              </a:solidFill>
              <a:ea typeface="华文中宋" panose="02010600040101010101" pitchFamily="2" charset="-122"/>
            </a:endParaRPr>
          </a:p>
        </p:txBody>
      </p:sp>
      <p:grpSp>
        <p:nvGrpSpPr>
          <p:cNvPr id="2" name="Group 36"/>
          <p:cNvGrpSpPr/>
          <p:nvPr/>
        </p:nvGrpSpPr>
        <p:grpSpPr>
          <a:xfrm>
            <a:off x="609600" y="1828800"/>
            <a:ext cx="8001000" cy="4572000"/>
            <a:chOff x="384" y="1152"/>
            <a:chExt cx="5040" cy="2880"/>
          </a:xfrm>
        </p:grpSpPr>
        <p:grpSp>
          <p:nvGrpSpPr>
            <p:cNvPr id="110600" name="Group 5"/>
            <p:cNvGrpSpPr/>
            <p:nvPr/>
          </p:nvGrpSpPr>
          <p:grpSpPr>
            <a:xfrm>
              <a:off x="384" y="1152"/>
              <a:ext cx="2304" cy="2880"/>
              <a:chOff x="240" y="1056"/>
              <a:chExt cx="2596" cy="3024"/>
            </a:xfrm>
          </p:grpSpPr>
          <p:grpSp>
            <p:nvGrpSpPr>
              <p:cNvPr id="110623" name="Group 6"/>
              <p:cNvGrpSpPr/>
              <p:nvPr/>
            </p:nvGrpSpPr>
            <p:grpSpPr>
              <a:xfrm>
                <a:off x="240" y="1056"/>
                <a:ext cx="2596" cy="3024"/>
                <a:chOff x="336" y="1104"/>
                <a:chExt cx="2596" cy="2952"/>
              </a:xfrm>
            </p:grpSpPr>
            <p:pic>
              <p:nvPicPr>
                <p:cNvPr id="110625" name="Picture 7" descr="Fe-C特征点"/>
                <p:cNvPicPr/>
                <p:nvPr/>
              </p:nvPicPr>
              <p:blipFill>
                <a:blip r:embed="rId3"/>
                <a:stretch>
                  <a:fillRect/>
                </a:stretch>
              </p:blipFill>
              <p:spPr>
                <a:xfrm>
                  <a:off x="336" y="1104"/>
                  <a:ext cx="2596" cy="2952"/>
                </a:xfrm>
                <a:prstGeom prst="rect">
                  <a:avLst/>
                </a:prstGeom>
                <a:noFill/>
                <a:ln w="28575">
                  <a:noFill/>
                </a:ln>
              </p:spPr>
            </p:pic>
            <p:sp>
              <p:nvSpPr>
                <p:cNvPr id="110626" name="Text Box 8"/>
                <p:cNvSpPr txBox="1"/>
                <p:nvPr/>
              </p:nvSpPr>
              <p:spPr>
                <a:xfrm>
                  <a:off x="2016" y="1668"/>
                  <a:ext cx="384" cy="217"/>
                </a:xfrm>
                <a:prstGeom prst="rect">
                  <a:avLst/>
                </a:prstGeom>
                <a:noFill/>
                <a:ln w="28575">
                  <a:noFill/>
                </a:ln>
              </p:spPr>
              <p:txBody>
                <a:bodyPr wrap="square">
                  <a:spAutoFit/>
                </a:bodyPr>
                <a:lstStyle/>
                <a:p>
                  <a:pPr lvl="0" eaLnBrk="1" hangingPunct="1">
                    <a:spcBef>
                      <a:spcPct val="50000"/>
                    </a:spcBef>
                  </a:pPr>
                  <a:r>
                    <a:rPr lang="en-US" altLang="zh-CN" sz="1600" b="1" dirty="0">
                      <a:solidFill>
                        <a:schemeClr val="bg1"/>
                      </a:solidFill>
                      <a:latin typeface="Times New Roman" panose="02020603050405020304" pitchFamily="18" charset="0"/>
                      <a:ea typeface="Arial Unicode MS" panose="020B0604020202020204" charset="-122"/>
                    </a:rPr>
                    <a:t>⇄</a:t>
                  </a:r>
                  <a:endParaRPr lang="en-US" altLang="zh-CN" sz="1600" b="1" dirty="0">
                    <a:solidFill>
                      <a:schemeClr val="bg1"/>
                    </a:solidFill>
                    <a:latin typeface="Times New Roman" panose="02020603050405020304" pitchFamily="18" charset="0"/>
                    <a:ea typeface="宋体" panose="02010600030101010101" pitchFamily="2" charset="-122"/>
                  </a:endParaRPr>
                </a:p>
              </p:txBody>
            </p:sp>
            <p:sp>
              <p:nvSpPr>
                <p:cNvPr id="110627" name="Text Box 9"/>
                <p:cNvSpPr txBox="1"/>
                <p:nvPr/>
              </p:nvSpPr>
              <p:spPr>
                <a:xfrm>
                  <a:off x="1860" y="2475"/>
                  <a:ext cx="384" cy="216"/>
                </a:xfrm>
                <a:prstGeom prst="rect">
                  <a:avLst/>
                </a:prstGeom>
                <a:noFill/>
                <a:ln w="28575">
                  <a:noFill/>
                </a:ln>
              </p:spPr>
              <p:txBody>
                <a:bodyPr>
                  <a:spAutoFit/>
                </a:bodyPr>
                <a:lstStyle/>
                <a:p>
                  <a:pPr lvl="0" eaLnBrk="1" hangingPunct="1">
                    <a:spcBef>
                      <a:spcPct val="50000"/>
                    </a:spcBef>
                  </a:pPr>
                  <a:r>
                    <a:rPr lang="en-US" altLang="zh-CN" sz="1600" b="1" dirty="0">
                      <a:solidFill>
                        <a:schemeClr val="bg1"/>
                      </a:solidFill>
                      <a:latin typeface="Times New Roman" panose="02020603050405020304" pitchFamily="18" charset="0"/>
                      <a:ea typeface="Arial Unicode MS" panose="020B0604020202020204" charset="-122"/>
                    </a:rPr>
                    <a:t>⇄</a:t>
                  </a:r>
                  <a:endParaRPr lang="en-US" altLang="zh-CN" sz="1600" b="1" dirty="0">
                    <a:solidFill>
                      <a:schemeClr val="bg1"/>
                    </a:solidFill>
                    <a:latin typeface="Times New Roman" panose="02020603050405020304" pitchFamily="18" charset="0"/>
                    <a:ea typeface="宋体" panose="02010600030101010101" pitchFamily="2" charset="-122"/>
                  </a:endParaRPr>
                </a:p>
              </p:txBody>
            </p:sp>
            <p:sp>
              <p:nvSpPr>
                <p:cNvPr id="110628" name="Text Box 10"/>
                <p:cNvSpPr txBox="1"/>
                <p:nvPr/>
              </p:nvSpPr>
              <p:spPr>
                <a:xfrm>
                  <a:off x="2220" y="2855"/>
                  <a:ext cx="384" cy="218"/>
                </a:xfrm>
                <a:prstGeom prst="rect">
                  <a:avLst/>
                </a:prstGeom>
                <a:noFill/>
                <a:ln w="28575">
                  <a:noFill/>
                </a:ln>
              </p:spPr>
              <p:txBody>
                <a:bodyPr>
                  <a:spAutoFit/>
                </a:bodyPr>
                <a:lstStyle/>
                <a:p>
                  <a:pPr lvl="0" eaLnBrk="1" hangingPunct="1">
                    <a:spcBef>
                      <a:spcPct val="50000"/>
                    </a:spcBef>
                  </a:pPr>
                  <a:r>
                    <a:rPr lang="en-US" altLang="zh-CN" sz="1600" b="1" dirty="0">
                      <a:solidFill>
                        <a:schemeClr val="bg1"/>
                      </a:solidFill>
                      <a:latin typeface="Times New Roman" panose="02020603050405020304" pitchFamily="18" charset="0"/>
                      <a:ea typeface="Arial Unicode MS" panose="020B0604020202020204" charset="-122"/>
                    </a:rPr>
                    <a:t>⇄</a:t>
                  </a:r>
                  <a:endParaRPr lang="en-US" altLang="zh-CN" sz="1600" b="1" dirty="0">
                    <a:solidFill>
                      <a:schemeClr val="bg1"/>
                    </a:solidFill>
                    <a:latin typeface="Times New Roman" panose="02020603050405020304" pitchFamily="18" charset="0"/>
                    <a:ea typeface="宋体" panose="02010600030101010101" pitchFamily="2" charset="-122"/>
                  </a:endParaRPr>
                </a:p>
              </p:txBody>
            </p:sp>
            <p:sp>
              <p:nvSpPr>
                <p:cNvPr id="110629" name="Text Box 11"/>
                <p:cNvSpPr txBox="1"/>
                <p:nvPr/>
              </p:nvSpPr>
              <p:spPr>
                <a:xfrm>
                  <a:off x="1872" y="3291"/>
                  <a:ext cx="384" cy="216"/>
                </a:xfrm>
                <a:prstGeom prst="rect">
                  <a:avLst/>
                </a:prstGeom>
                <a:noFill/>
                <a:ln w="28575">
                  <a:noFill/>
                </a:ln>
              </p:spPr>
              <p:txBody>
                <a:bodyPr>
                  <a:spAutoFit/>
                </a:bodyPr>
                <a:lstStyle/>
                <a:p>
                  <a:pPr lvl="0" eaLnBrk="1" hangingPunct="1">
                    <a:spcBef>
                      <a:spcPct val="50000"/>
                    </a:spcBef>
                  </a:pPr>
                  <a:r>
                    <a:rPr lang="en-US" altLang="zh-CN" sz="1600" b="1" dirty="0">
                      <a:solidFill>
                        <a:schemeClr val="bg1"/>
                      </a:solidFill>
                      <a:latin typeface="Times New Roman" panose="02020603050405020304" pitchFamily="18" charset="0"/>
                      <a:ea typeface="Arial Unicode MS" panose="020B0604020202020204" charset="-122"/>
                    </a:rPr>
                    <a:t>⇄</a:t>
                  </a:r>
                  <a:endParaRPr lang="en-US" altLang="zh-CN" sz="1600" b="1" dirty="0">
                    <a:solidFill>
                      <a:schemeClr val="bg1"/>
                    </a:solidFill>
                    <a:latin typeface="Times New Roman" panose="02020603050405020304" pitchFamily="18" charset="0"/>
                    <a:ea typeface="宋体" panose="02010600030101010101" pitchFamily="2" charset="-122"/>
                  </a:endParaRPr>
                </a:p>
              </p:txBody>
            </p:sp>
            <p:sp>
              <p:nvSpPr>
                <p:cNvPr id="110630" name="Text Box 12"/>
                <p:cNvSpPr txBox="1"/>
                <p:nvPr/>
              </p:nvSpPr>
              <p:spPr>
                <a:xfrm>
                  <a:off x="2004" y="3663"/>
                  <a:ext cx="384" cy="216"/>
                </a:xfrm>
                <a:prstGeom prst="rect">
                  <a:avLst/>
                </a:prstGeom>
                <a:noFill/>
                <a:ln w="28575">
                  <a:noFill/>
                </a:ln>
              </p:spPr>
              <p:txBody>
                <a:bodyPr>
                  <a:spAutoFit/>
                </a:bodyPr>
                <a:lstStyle/>
                <a:p>
                  <a:pPr lvl="0" eaLnBrk="1" hangingPunct="1">
                    <a:spcBef>
                      <a:spcPct val="50000"/>
                    </a:spcBef>
                  </a:pPr>
                  <a:r>
                    <a:rPr lang="en-US" altLang="zh-CN" sz="1600" b="1" dirty="0">
                      <a:solidFill>
                        <a:schemeClr val="bg1"/>
                      </a:solidFill>
                      <a:latin typeface="Times New Roman" panose="02020603050405020304" pitchFamily="18" charset="0"/>
                      <a:ea typeface="Arial Unicode MS" panose="020B0604020202020204" charset="-122"/>
                    </a:rPr>
                    <a:t>⇄</a:t>
                  </a:r>
                  <a:endParaRPr lang="en-US" altLang="zh-CN" sz="1600" b="1" dirty="0">
                    <a:solidFill>
                      <a:schemeClr val="bg1"/>
                    </a:solidFill>
                    <a:latin typeface="Times New Roman" panose="02020603050405020304" pitchFamily="18" charset="0"/>
                    <a:ea typeface="宋体" panose="02010600030101010101" pitchFamily="2" charset="-122"/>
                  </a:endParaRPr>
                </a:p>
              </p:txBody>
            </p:sp>
          </p:grpSp>
          <p:sp>
            <p:nvSpPr>
              <p:cNvPr id="110624" name="Rectangle 13"/>
              <p:cNvSpPr/>
              <p:nvPr/>
            </p:nvSpPr>
            <p:spPr>
              <a:xfrm>
                <a:off x="240" y="1056"/>
                <a:ext cx="2592" cy="3024"/>
              </a:xfrm>
              <a:prstGeom prst="rect">
                <a:avLst/>
              </a:prstGeom>
              <a:noFill/>
              <a:ln w="28575" cap="flat" cmpd="sng">
                <a:solidFill>
                  <a:srgbClr val="FF6600"/>
                </a:solidFill>
                <a:prstDash val="solid"/>
                <a:miter/>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grpSp>
        <p:grpSp>
          <p:nvGrpSpPr>
            <p:cNvPr id="110601" name="Group 14"/>
            <p:cNvGrpSpPr/>
            <p:nvPr/>
          </p:nvGrpSpPr>
          <p:grpSpPr>
            <a:xfrm>
              <a:off x="2736" y="1152"/>
              <a:ext cx="2688" cy="2880"/>
              <a:chOff x="2880" y="1152"/>
              <a:chExt cx="2736" cy="3024"/>
            </a:xfrm>
          </p:grpSpPr>
          <p:grpSp>
            <p:nvGrpSpPr>
              <p:cNvPr id="110602" name="Group 15"/>
              <p:cNvGrpSpPr/>
              <p:nvPr/>
            </p:nvGrpSpPr>
            <p:grpSpPr>
              <a:xfrm>
                <a:off x="2880" y="1152"/>
                <a:ext cx="2718" cy="3024"/>
                <a:chOff x="2880" y="1056"/>
                <a:chExt cx="2718" cy="2995"/>
              </a:xfrm>
            </p:grpSpPr>
            <p:grpSp>
              <p:nvGrpSpPr>
                <p:cNvPr id="110604" name="Group 16"/>
                <p:cNvGrpSpPr/>
                <p:nvPr/>
              </p:nvGrpSpPr>
              <p:grpSpPr>
                <a:xfrm>
                  <a:off x="2880" y="1056"/>
                  <a:ext cx="2718" cy="2995"/>
                  <a:chOff x="2880" y="1056"/>
                  <a:chExt cx="2718" cy="2995"/>
                </a:xfrm>
              </p:grpSpPr>
              <p:grpSp>
                <p:nvGrpSpPr>
                  <p:cNvPr id="110611" name="Group 17"/>
                  <p:cNvGrpSpPr/>
                  <p:nvPr/>
                </p:nvGrpSpPr>
                <p:grpSpPr>
                  <a:xfrm>
                    <a:off x="2880" y="1056"/>
                    <a:ext cx="2718" cy="2995"/>
                    <a:chOff x="2880" y="1056"/>
                    <a:chExt cx="2718" cy="2995"/>
                  </a:xfrm>
                </p:grpSpPr>
                <p:grpSp>
                  <p:nvGrpSpPr>
                    <p:cNvPr id="110614" name="Group 18"/>
                    <p:cNvGrpSpPr/>
                    <p:nvPr/>
                  </p:nvGrpSpPr>
                  <p:grpSpPr>
                    <a:xfrm>
                      <a:off x="2880" y="1056"/>
                      <a:ext cx="2718" cy="2995"/>
                      <a:chOff x="2880" y="1056"/>
                      <a:chExt cx="2718" cy="2995"/>
                    </a:xfrm>
                  </p:grpSpPr>
                  <p:grpSp>
                    <p:nvGrpSpPr>
                      <p:cNvPr id="110617" name="Group 19"/>
                      <p:cNvGrpSpPr/>
                      <p:nvPr/>
                    </p:nvGrpSpPr>
                    <p:grpSpPr>
                      <a:xfrm>
                        <a:off x="2880" y="1056"/>
                        <a:ext cx="2718" cy="2995"/>
                        <a:chOff x="2880" y="1056"/>
                        <a:chExt cx="2718" cy="2995"/>
                      </a:xfrm>
                    </p:grpSpPr>
                    <p:pic>
                      <p:nvPicPr>
                        <p:cNvPr id="110620" name="Picture 20" descr="Fe-C"/>
                        <p:cNvPicPr>
                          <a:picLocks noChangeAspect="1"/>
                        </p:cNvPicPr>
                        <p:nvPr/>
                      </p:nvPicPr>
                      <p:blipFill>
                        <a:blip r:embed="rId4"/>
                        <a:stretch>
                          <a:fillRect/>
                        </a:stretch>
                      </p:blipFill>
                      <p:spPr>
                        <a:xfrm>
                          <a:off x="2880" y="1056"/>
                          <a:ext cx="2718" cy="2995"/>
                        </a:xfrm>
                        <a:prstGeom prst="rect">
                          <a:avLst/>
                        </a:prstGeom>
                        <a:noFill/>
                        <a:ln w="28575">
                          <a:noFill/>
                        </a:ln>
                      </p:spPr>
                    </p:pic>
                    <p:sp>
                      <p:nvSpPr>
                        <p:cNvPr id="110621" name="Text Box 21"/>
                        <p:cNvSpPr txBox="1"/>
                        <p:nvPr/>
                      </p:nvSpPr>
                      <p:spPr>
                        <a:xfrm>
                          <a:off x="4607" y="1319"/>
                          <a:ext cx="337" cy="300"/>
                        </a:xfrm>
                        <a:prstGeom prst="rect">
                          <a:avLst/>
                        </a:prstGeom>
                        <a:solidFill>
                          <a:schemeClr val="bg1"/>
                        </a:solidFill>
                        <a:ln w="28575">
                          <a:noFill/>
                        </a:ln>
                      </p:spPr>
                      <p:txBody>
                        <a:bodyPr>
                          <a:spAutoFit/>
                        </a:bodyPr>
                        <a:lstStyle/>
                        <a:p>
                          <a:pPr lvl="0" eaLnBrk="1" hangingPunct="1">
                            <a:spcBef>
                              <a:spcPct val="50000"/>
                            </a:spcBef>
                          </a:pPr>
                          <a:r>
                            <a:rPr lang="en-US" altLang="zh-CN" sz="2400" b="1" i="1" dirty="0">
                              <a:solidFill>
                                <a:schemeClr val="bg2"/>
                              </a:solidFill>
                              <a:latin typeface="Times New Roman" panose="02020603050405020304" pitchFamily="18" charset="0"/>
                              <a:ea typeface="宋体" panose="02010600030101010101" pitchFamily="2" charset="-122"/>
                            </a:rPr>
                            <a:t>L</a:t>
                          </a:r>
                        </a:p>
                      </p:txBody>
                    </p:sp>
                    <p:sp>
                      <p:nvSpPr>
                        <p:cNvPr id="110622" name="Oval 22"/>
                        <p:cNvSpPr/>
                        <p:nvPr/>
                      </p:nvSpPr>
                      <p:spPr>
                        <a:xfrm>
                          <a:off x="3300" y="1440"/>
                          <a:ext cx="168" cy="576"/>
                        </a:xfrm>
                        <a:prstGeom prst="ellipse">
                          <a:avLst/>
                        </a:prstGeom>
                        <a:solidFill>
                          <a:schemeClr val="hlink"/>
                        </a:solidFill>
                        <a:ln w="28575">
                          <a:noFill/>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grpSp>
                  <p:sp>
                    <p:nvSpPr>
                      <p:cNvPr id="110618" name="Text Box 23"/>
                      <p:cNvSpPr txBox="1"/>
                      <p:nvPr/>
                    </p:nvSpPr>
                    <p:spPr>
                      <a:xfrm>
                        <a:off x="3288" y="1392"/>
                        <a:ext cx="192" cy="221"/>
                      </a:xfrm>
                      <a:prstGeom prst="rect">
                        <a:avLst/>
                      </a:prstGeom>
                      <a:noFill/>
                      <a:ln w="28575">
                        <a:noFill/>
                      </a:ln>
                    </p:spPr>
                    <p:txBody>
                      <a:bodyPr>
                        <a:spAutoFit/>
                      </a:bodyPr>
                      <a:lstStyle/>
                      <a:p>
                        <a:pPr lvl="0" eaLnBrk="1" hangingPunct="1">
                          <a:spcBef>
                            <a:spcPct val="50000"/>
                          </a:spcBef>
                        </a:pPr>
                        <a:r>
                          <a:rPr lang="en-US" altLang="zh-CN" sz="1600" b="1" dirty="0">
                            <a:latin typeface="Times New Roman" panose="02020603050405020304" pitchFamily="18" charset="0"/>
                            <a:ea typeface="宋体" panose="02010600030101010101" pitchFamily="2" charset="-122"/>
                          </a:rPr>
                          <a:t>J</a:t>
                        </a:r>
                      </a:p>
                    </p:txBody>
                  </p:sp>
                  <p:sp>
                    <p:nvSpPr>
                      <p:cNvPr id="110619" name="Text Box 24"/>
                      <p:cNvSpPr txBox="1"/>
                      <p:nvPr/>
                    </p:nvSpPr>
                    <p:spPr>
                      <a:xfrm>
                        <a:off x="3239" y="1547"/>
                        <a:ext cx="241" cy="220"/>
                      </a:xfrm>
                      <a:prstGeom prst="rect">
                        <a:avLst/>
                      </a:prstGeom>
                      <a:noFill/>
                      <a:ln w="28575">
                        <a:noFill/>
                      </a:ln>
                    </p:spPr>
                    <p:txBody>
                      <a:bodyPr>
                        <a:spAutoFit/>
                      </a:bodyPr>
                      <a:lstStyle/>
                      <a:p>
                        <a:pPr lvl="0" eaLnBrk="1" hangingPunct="1">
                          <a:spcBef>
                            <a:spcPct val="50000"/>
                          </a:spcBef>
                        </a:pPr>
                        <a:r>
                          <a:rPr lang="en-US" altLang="zh-CN" sz="1600" b="1" dirty="0">
                            <a:latin typeface="Times New Roman" panose="02020603050405020304" pitchFamily="18" charset="0"/>
                            <a:ea typeface="宋体" panose="02010600030101010101" pitchFamily="2" charset="-122"/>
                          </a:rPr>
                          <a:t>N</a:t>
                        </a:r>
                      </a:p>
                    </p:txBody>
                  </p:sp>
                </p:grpSp>
                <p:sp>
                  <p:nvSpPr>
                    <p:cNvPr id="110615" name="Oval 25"/>
                    <p:cNvSpPr>
                      <a:spLocks noChangeAspect="1"/>
                    </p:cNvSpPr>
                    <p:nvPr/>
                  </p:nvSpPr>
                  <p:spPr>
                    <a:xfrm>
                      <a:off x="3432" y="1968"/>
                      <a:ext cx="122" cy="122"/>
                    </a:xfrm>
                    <a:prstGeom prst="ellipse">
                      <a:avLst/>
                    </a:prstGeom>
                    <a:solidFill>
                      <a:schemeClr val="hlink"/>
                    </a:solidFill>
                    <a:ln w="28575" cap="flat" cmpd="sng">
                      <a:solidFill>
                        <a:schemeClr val="hlink"/>
                      </a:solidFill>
                      <a:prstDash val="solid"/>
                      <a:miter/>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10616" name="Oval 26"/>
                    <p:cNvSpPr>
                      <a:spLocks noChangeAspect="1"/>
                    </p:cNvSpPr>
                    <p:nvPr/>
                  </p:nvSpPr>
                  <p:spPr>
                    <a:xfrm>
                      <a:off x="3300" y="2184"/>
                      <a:ext cx="122" cy="122"/>
                    </a:xfrm>
                    <a:prstGeom prst="ellipse">
                      <a:avLst/>
                    </a:prstGeom>
                    <a:solidFill>
                      <a:schemeClr val="hlink"/>
                    </a:solidFill>
                    <a:ln w="28575" cap="flat" cmpd="sng">
                      <a:solidFill>
                        <a:schemeClr val="hlink"/>
                      </a:solidFill>
                      <a:prstDash val="solid"/>
                      <a:miter/>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grpSp>
              <p:sp>
                <p:nvSpPr>
                  <p:cNvPr id="110612" name="Text Box 27"/>
                  <p:cNvSpPr txBox="1"/>
                  <p:nvPr/>
                </p:nvSpPr>
                <p:spPr>
                  <a:xfrm>
                    <a:off x="3239" y="2148"/>
                    <a:ext cx="241" cy="220"/>
                  </a:xfrm>
                  <a:prstGeom prst="rect">
                    <a:avLst/>
                  </a:prstGeom>
                  <a:noFill/>
                  <a:ln w="28575">
                    <a:noFill/>
                  </a:ln>
                </p:spPr>
                <p:txBody>
                  <a:bodyPr>
                    <a:spAutoFit/>
                  </a:bodyPr>
                  <a:lstStyle/>
                  <a:p>
                    <a:pPr lvl="0" eaLnBrk="1" hangingPunct="1">
                      <a:spcBef>
                        <a:spcPct val="50000"/>
                      </a:spcBef>
                    </a:pPr>
                    <a:r>
                      <a:rPr lang="en-US" altLang="zh-CN" sz="1600" b="1" dirty="0">
                        <a:latin typeface="Times New Roman" panose="02020603050405020304" pitchFamily="18" charset="0"/>
                        <a:ea typeface="宋体" panose="02010600030101010101" pitchFamily="2" charset="-122"/>
                      </a:rPr>
                      <a:t>G</a:t>
                    </a:r>
                  </a:p>
                </p:txBody>
              </p:sp>
              <p:sp>
                <p:nvSpPr>
                  <p:cNvPr id="110613" name="Text Box 28"/>
                  <p:cNvSpPr txBox="1"/>
                  <p:nvPr/>
                </p:nvSpPr>
                <p:spPr>
                  <a:xfrm>
                    <a:off x="3408" y="1871"/>
                    <a:ext cx="240" cy="261"/>
                  </a:xfrm>
                  <a:prstGeom prst="rect">
                    <a:avLst/>
                  </a:prstGeom>
                  <a:noFill/>
                  <a:ln w="28575">
                    <a:noFill/>
                  </a:ln>
                </p:spPr>
                <p:txBody>
                  <a:bodyPr>
                    <a:spAutoFit/>
                  </a:bodyPr>
                  <a:lstStyle/>
                  <a:p>
                    <a:pPr lvl="0" eaLnBrk="1" hangingPunct="1">
                      <a:spcBef>
                        <a:spcPct val="50000"/>
                      </a:spcBef>
                    </a:pPr>
                    <a:r>
                      <a:rPr lang="en-US" altLang="zh-CN" sz="2000" b="1" i="1" dirty="0">
                        <a:latin typeface="Times New Roman" panose="02020603050405020304" pitchFamily="18" charset="0"/>
                        <a:ea typeface="宋体" panose="02010600030101010101" pitchFamily="2" charset="-122"/>
                        <a:sym typeface="Symbol" panose="05050102010706020507" pitchFamily="18" charset="2"/>
                      </a:rPr>
                      <a:t></a:t>
                    </a:r>
                    <a:endParaRPr lang="en-US" altLang="zh-CN" sz="2000" b="1" i="1" dirty="0">
                      <a:latin typeface="Times New Roman" panose="02020603050405020304" pitchFamily="18" charset="0"/>
                      <a:ea typeface="宋体" panose="02010600030101010101" pitchFamily="2" charset="-122"/>
                    </a:endParaRPr>
                  </a:p>
                </p:txBody>
              </p:sp>
            </p:grpSp>
            <p:sp>
              <p:nvSpPr>
                <p:cNvPr id="110605" name="Text Box 29"/>
                <p:cNvSpPr txBox="1"/>
                <p:nvPr/>
              </p:nvSpPr>
              <p:spPr>
                <a:xfrm>
                  <a:off x="4248" y="2148"/>
                  <a:ext cx="720" cy="260"/>
                </a:xfrm>
                <a:prstGeom prst="rect">
                  <a:avLst/>
                </a:prstGeom>
                <a:noFill/>
                <a:ln w="28575">
                  <a:noFill/>
                </a:ln>
              </p:spPr>
              <p:txBody>
                <a:bodyPr>
                  <a:spAutoFit/>
                </a:bodyPr>
                <a:lstStyle/>
                <a:p>
                  <a:pPr lvl="0" eaLnBrk="1" hangingPunct="1">
                    <a:spcBef>
                      <a:spcPct val="50000"/>
                    </a:spcBef>
                  </a:pPr>
                  <a:r>
                    <a:rPr lang="en-US" altLang="zh-CN" sz="2000" b="1" i="1" dirty="0">
                      <a:solidFill>
                        <a:schemeClr val="bg2"/>
                      </a:solidFill>
                      <a:latin typeface="Times New Roman" panose="02020603050405020304" pitchFamily="18" charset="0"/>
                      <a:ea typeface="宋体" panose="02010600030101010101" pitchFamily="2" charset="-122"/>
                      <a:sym typeface="Symbol" panose="05050102010706020507" pitchFamily="18" charset="2"/>
                    </a:rPr>
                    <a:t></a:t>
                  </a:r>
                  <a:r>
                    <a:rPr lang="en-US" altLang="zh-CN" sz="2000" b="1" dirty="0">
                      <a:solidFill>
                        <a:schemeClr val="bg2"/>
                      </a:solidFill>
                      <a:latin typeface="Times New Roman" panose="02020603050405020304" pitchFamily="18" charset="0"/>
                      <a:ea typeface="宋体" panose="02010600030101010101" pitchFamily="2" charset="-122"/>
                    </a:rPr>
                    <a:t> +Fe</a:t>
                  </a:r>
                  <a:r>
                    <a:rPr lang="en-US" altLang="zh-CN" sz="2000" b="1" baseline="-25000" dirty="0">
                      <a:solidFill>
                        <a:schemeClr val="bg2"/>
                      </a:solidFill>
                      <a:latin typeface="Times New Roman" panose="02020603050405020304" pitchFamily="18" charset="0"/>
                      <a:ea typeface="宋体" panose="02010600030101010101" pitchFamily="2" charset="-122"/>
                    </a:rPr>
                    <a:t>3</a:t>
                  </a:r>
                  <a:r>
                    <a:rPr lang="en-US" altLang="zh-CN" sz="2000" b="1" dirty="0">
                      <a:solidFill>
                        <a:schemeClr val="bg2"/>
                      </a:solidFill>
                      <a:latin typeface="Times New Roman" panose="02020603050405020304" pitchFamily="18" charset="0"/>
                      <a:ea typeface="宋体" panose="02010600030101010101" pitchFamily="2" charset="-122"/>
                    </a:rPr>
                    <a:t>C</a:t>
                  </a:r>
                </a:p>
              </p:txBody>
            </p:sp>
            <p:sp>
              <p:nvSpPr>
                <p:cNvPr id="110606" name="Text Box 30"/>
                <p:cNvSpPr txBox="1"/>
                <p:nvPr/>
              </p:nvSpPr>
              <p:spPr>
                <a:xfrm>
                  <a:off x="4128" y="2879"/>
                  <a:ext cx="720" cy="260"/>
                </a:xfrm>
                <a:prstGeom prst="rect">
                  <a:avLst/>
                </a:prstGeom>
                <a:noFill/>
                <a:ln w="28575">
                  <a:noFill/>
                </a:ln>
              </p:spPr>
              <p:txBody>
                <a:bodyPr>
                  <a:spAutoFit/>
                </a:bodyPr>
                <a:lstStyle/>
                <a:p>
                  <a:pPr lvl="0" eaLnBrk="1" hangingPunct="1">
                    <a:spcBef>
                      <a:spcPct val="50000"/>
                    </a:spcBef>
                  </a:pPr>
                  <a:r>
                    <a:rPr lang="en-US" altLang="zh-CN" sz="2000" b="1" i="1" dirty="0">
                      <a:solidFill>
                        <a:schemeClr val="bg2"/>
                      </a:solidFill>
                      <a:latin typeface="Times New Roman" panose="02020603050405020304" pitchFamily="18" charset="0"/>
                      <a:ea typeface="宋体" panose="02010600030101010101" pitchFamily="2" charset="-122"/>
                      <a:sym typeface="Symbol" panose="05050102010706020507" pitchFamily="18" charset="2"/>
                    </a:rPr>
                    <a:t></a:t>
                  </a:r>
                  <a:r>
                    <a:rPr lang="en-US" altLang="zh-CN" sz="2000" b="1" dirty="0">
                      <a:solidFill>
                        <a:schemeClr val="bg2"/>
                      </a:solidFill>
                      <a:latin typeface="Times New Roman" panose="02020603050405020304" pitchFamily="18" charset="0"/>
                      <a:ea typeface="宋体" panose="02010600030101010101" pitchFamily="2" charset="-122"/>
                    </a:rPr>
                    <a:t> +Fe</a:t>
                  </a:r>
                  <a:r>
                    <a:rPr lang="en-US" altLang="zh-CN" sz="2000" b="1" baseline="-25000" dirty="0">
                      <a:solidFill>
                        <a:schemeClr val="bg2"/>
                      </a:solidFill>
                      <a:latin typeface="Times New Roman" panose="02020603050405020304" pitchFamily="18" charset="0"/>
                      <a:ea typeface="宋体" panose="02010600030101010101" pitchFamily="2" charset="-122"/>
                    </a:rPr>
                    <a:t>3</a:t>
                  </a:r>
                  <a:r>
                    <a:rPr lang="en-US" altLang="zh-CN" sz="2000" b="1" dirty="0">
                      <a:solidFill>
                        <a:schemeClr val="bg2"/>
                      </a:solidFill>
                      <a:latin typeface="Times New Roman" panose="02020603050405020304" pitchFamily="18" charset="0"/>
                      <a:ea typeface="宋体" panose="02010600030101010101" pitchFamily="2" charset="-122"/>
                    </a:rPr>
                    <a:t>C</a:t>
                  </a:r>
                </a:p>
              </p:txBody>
            </p:sp>
            <p:sp>
              <p:nvSpPr>
                <p:cNvPr id="110607" name="Text Box 31"/>
                <p:cNvSpPr txBox="1"/>
                <p:nvPr/>
              </p:nvSpPr>
              <p:spPr>
                <a:xfrm>
                  <a:off x="4992" y="1776"/>
                  <a:ext cx="456" cy="179"/>
                </a:xfrm>
                <a:prstGeom prst="rect">
                  <a:avLst/>
                </a:prstGeom>
                <a:noFill/>
                <a:ln w="28575">
                  <a:noFill/>
                </a:ln>
              </p:spPr>
              <p:txBody>
                <a:bodyPr>
                  <a:spAutoFit/>
                </a:bodyPr>
                <a:lstStyle/>
                <a:p>
                  <a:pPr lvl="0" eaLnBrk="1" hangingPunct="1">
                    <a:spcBef>
                      <a:spcPct val="50000"/>
                    </a:spcBef>
                  </a:pPr>
                  <a:r>
                    <a:rPr lang="en-US" altLang="zh-CN" sz="1200" b="1" i="1" dirty="0">
                      <a:solidFill>
                        <a:schemeClr val="bg2"/>
                      </a:solidFill>
                      <a:latin typeface="Times New Roman" panose="02020603050405020304" pitchFamily="18" charset="0"/>
                      <a:ea typeface="宋体" panose="02010600030101010101" pitchFamily="2" charset="-122"/>
                      <a:sym typeface="Symbol" panose="05050102010706020507" pitchFamily="18" charset="2"/>
                    </a:rPr>
                    <a:t>L</a:t>
                  </a:r>
                  <a:r>
                    <a:rPr lang="en-US" altLang="zh-CN" sz="1200" b="1" dirty="0">
                      <a:solidFill>
                        <a:schemeClr val="bg2"/>
                      </a:solidFill>
                      <a:latin typeface="Times New Roman" panose="02020603050405020304" pitchFamily="18" charset="0"/>
                      <a:ea typeface="宋体" panose="02010600030101010101" pitchFamily="2" charset="-122"/>
                    </a:rPr>
                    <a:t>+Fe</a:t>
                  </a:r>
                  <a:r>
                    <a:rPr lang="en-US" altLang="zh-CN" sz="1200" b="1" baseline="-25000" dirty="0">
                      <a:solidFill>
                        <a:schemeClr val="bg2"/>
                      </a:solidFill>
                      <a:latin typeface="Times New Roman" panose="02020603050405020304" pitchFamily="18" charset="0"/>
                      <a:ea typeface="宋体" panose="02010600030101010101" pitchFamily="2" charset="-122"/>
                    </a:rPr>
                    <a:t>3</a:t>
                  </a:r>
                  <a:r>
                    <a:rPr lang="en-US" altLang="zh-CN" sz="1200" b="1" dirty="0">
                      <a:solidFill>
                        <a:schemeClr val="bg2"/>
                      </a:solidFill>
                      <a:latin typeface="Times New Roman" panose="02020603050405020304" pitchFamily="18" charset="0"/>
                      <a:ea typeface="宋体" panose="02010600030101010101" pitchFamily="2" charset="-122"/>
                    </a:rPr>
                    <a:t>C</a:t>
                  </a:r>
                </a:p>
              </p:txBody>
            </p:sp>
            <p:sp>
              <p:nvSpPr>
                <p:cNvPr id="110608" name="Text Box 32"/>
                <p:cNvSpPr txBox="1"/>
                <p:nvPr/>
              </p:nvSpPr>
              <p:spPr>
                <a:xfrm>
                  <a:off x="3732" y="1572"/>
                  <a:ext cx="456" cy="259"/>
                </a:xfrm>
                <a:prstGeom prst="rect">
                  <a:avLst/>
                </a:prstGeom>
                <a:noFill/>
                <a:ln w="28575">
                  <a:noFill/>
                </a:ln>
              </p:spPr>
              <p:txBody>
                <a:bodyPr>
                  <a:spAutoFit/>
                </a:bodyPr>
                <a:lstStyle/>
                <a:p>
                  <a:pPr lvl="0" eaLnBrk="1" hangingPunct="1">
                    <a:spcBef>
                      <a:spcPct val="50000"/>
                    </a:spcBef>
                  </a:pPr>
                  <a:r>
                    <a:rPr lang="en-US" altLang="zh-CN" sz="2000" b="1" i="1" dirty="0">
                      <a:solidFill>
                        <a:schemeClr val="bg2"/>
                      </a:solidFill>
                      <a:latin typeface="Times New Roman" panose="02020603050405020304" pitchFamily="18" charset="0"/>
                      <a:ea typeface="宋体" panose="02010600030101010101" pitchFamily="2" charset="-122"/>
                      <a:sym typeface="Symbol" panose="05050102010706020507" pitchFamily="18" charset="2"/>
                    </a:rPr>
                    <a:t>L+</a:t>
                  </a:r>
                  <a:endParaRPr lang="en-US" altLang="zh-CN" sz="2000" b="1" dirty="0">
                    <a:solidFill>
                      <a:schemeClr val="bg2"/>
                    </a:solidFill>
                    <a:latin typeface="Times New Roman" panose="02020603050405020304" pitchFamily="18" charset="0"/>
                    <a:ea typeface="宋体" panose="02010600030101010101" pitchFamily="2" charset="-122"/>
                  </a:endParaRPr>
                </a:p>
              </p:txBody>
            </p:sp>
            <p:sp>
              <p:nvSpPr>
                <p:cNvPr id="110609" name="Text Box 33"/>
                <p:cNvSpPr txBox="1"/>
                <p:nvPr/>
              </p:nvSpPr>
              <p:spPr>
                <a:xfrm>
                  <a:off x="3300" y="2196"/>
                  <a:ext cx="384" cy="259"/>
                </a:xfrm>
                <a:prstGeom prst="rect">
                  <a:avLst/>
                </a:prstGeom>
                <a:noFill/>
                <a:ln w="28575">
                  <a:noFill/>
                </a:ln>
              </p:spPr>
              <p:txBody>
                <a:bodyPr>
                  <a:spAutoFit/>
                </a:bodyPr>
                <a:lstStyle/>
                <a:p>
                  <a:pPr lvl="0" eaLnBrk="1" hangingPunct="1">
                    <a:spcBef>
                      <a:spcPct val="50000"/>
                    </a:spcBef>
                  </a:pPr>
                  <a:r>
                    <a:rPr lang="en-US" altLang="zh-CN" sz="1200" b="1" i="1" dirty="0">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latin typeface="Times New Roman" panose="02020603050405020304" pitchFamily="18" charset="0"/>
                      <a:ea typeface="宋体" panose="02010600030101010101" pitchFamily="2" charset="-122"/>
                    </a:rPr>
                    <a:t> + </a:t>
                  </a:r>
                  <a:r>
                    <a:rPr lang="en-US" altLang="zh-CN" sz="1200" b="1" i="1" dirty="0">
                      <a:latin typeface="Times New Roman" panose="02020603050405020304" pitchFamily="18" charset="0"/>
                      <a:ea typeface="宋体" panose="02010600030101010101" pitchFamily="2" charset="-122"/>
                      <a:sym typeface="Symbol" panose="05050102010706020507" pitchFamily="18" charset="2"/>
                    </a:rPr>
                    <a:t></a:t>
                  </a:r>
                  <a:r>
                    <a:rPr lang="en-US" altLang="zh-CN" sz="2000" b="1" dirty="0">
                      <a:solidFill>
                        <a:schemeClr val="bg2"/>
                      </a:solidFill>
                      <a:latin typeface="Times New Roman" panose="02020603050405020304" pitchFamily="18" charset="0"/>
                      <a:ea typeface="宋体" panose="02010600030101010101" pitchFamily="2" charset="-122"/>
                    </a:rPr>
                    <a:t> </a:t>
                  </a:r>
                </a:p>
              </p:txBody>
            </p:sp>
            <p:sp>
              <p:nvSpPr>
                <p:cNvPr id="110610" name="Line 34"/>
                <p:cNvSpPr/>
                <p:nvPr/>
              </p:nvSpPr>
              <p:spPr>
                <a:xfrm flipH="1">
                  <a:off x="3408" y="2400"/>
                  <a:ext cx="48" cy="96"/>
                </a:xfrm>
                <a:prstGeom prst="line">
                  <a:avLst/>
                </a:prstGeom>
                <a:ln w="28575" cap="flat" cmpd="sng">
                  <a:solidFill>
                    <a:schemeClr val="tx1"/>
                  </a:solidFill>
                  <a:prstDash val="solid"/>
                  <a:miter/>
                  <a:headEnd type="none" w="med" len="med"/>
                  <a:tailEnd type="none" w="med" len="med"/>
                </a:ln>
              </p:spPr>
            </p:sp>
          </p:grpSp>
          <p:sp>
            <p:nvSpPr>
              <p:cNvPr id="110603" name="Rectangle 35"/>
              <p:cNvSpPr/>
              <p:nvPr/>
            </p:nvSpPr>
            <p:spPr>
              <a:xfrm>
                <a:off x="2880" y="1152"/>
                <a:ext cx="2736" cy="3024"/>
              </a:xfrm>
              <a:prstGeom prst="rect">
                <a:avLst/>
              </a:prstGeom>
              <a:noFill/>
              <a:ln w="28575" cap="flat" cmpd="sng">
                <a:solidFill>
                  <a:srgbClr val="FF6600"/>
                </a:solidFill>
                <a:prstDash val="solid"/>
                <a:miter/>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grpSp>
      </p:grpSp>
      <p:pic>
        <p:nvPicPr>
          <p:cNvPr id="39" name="内容占位符 1" descr="新校徽（3M）弓之乐"/>
          <p:cNvPicPr>
            <a:picLocks noChangeAspect="1"/>
          </p:cNvPicPr>
          <p:nvPr/>
        </p:nvPicPr>
        <p:blipFill>
          <a:blip r:embed="rId5"/>
          <a:stretch>
            <a:fillRect/>
          </a:stretch>
        </p:blipFill>
        <p:spPr>
          <a:xfrm>
            <a:off x="0" y="0"/>
            <a:ext cx="746760" cy="735965"/>
          </a:xfrm>
          <a:prstGeom prst="rect">
            <a:avLst/>
          </a:prstGeom>
          <a:noFill/>
          <a:ln w="9525">
            <a:noFill/>
          </a:ln>
        </p:spPr>
      </p:pic>
      <p:sp>
        <p:nvSpPr>
          <p:cNvPr id="6" name="文本框 5"/>
          <p:cNvSpPr txBox="1"/>
          <p:nvPr/>
        </p:nvSpPr>
        <p:spPr>
          <a:xfrm>
            <a:off x="2950192" y="2662944"/>
            <a:ext cx="381461" cy="369332"/>
          </a:xfrm>
          <a:prstGeom prst="rect">
            <a:avLst/>
          </a:prstGeom>
          <a:noFill/>
        </p:spPr>
        <p:txBody>
          <a:bodyPr wrap="square">
            <a:spAutoFit/>
          </a:bodyPr>
          <a:lstStyle/>
          <a:p>
            <a:pPr lvl="0" eaLnBrk="1" hangingPunct="1">
              <a:spcBef>
                <a:spcPct val="50000"/>
              </a:spcBef>
            </a:pPr>
            <a:r>
              <a:rPr lang="en-US" altLang="zh-CN" sz="1800" b="1" dirty="0">
                <a:latin typeface="Times New Roman" panose="02020603050405020304" pitchFamily="18" charset="0"/>
                <a:ea typeface="Arial Unicode MS" panose="020B0604020202020204" charset="-122"/>
              </a:rPr>
              <a:t>⇄</a:t>
            </a:r>
            <a:endParaRPr lang="en-US" altLang="zh-CN" sz="1800" b="1" dirty="0">
              <a:latin typeface="Times New Roman" panose="02020603050405020304" pitchFamily="18" charset="0"/>
              <a:ea typeface="宋体" panose="02010600030101010101" pitchFamily="2" charset="-122"/>
            </a:endParaRPr>
          </a:p>
        </p:txBody>
      </p:sp>
      <p:sp>
        <p:nvSpPr>
          <p:cNvPr id="7" name="文本框 6"/>
          <p:cNvSpPr txBox="1"/>
          <p:nvPr/>
        </p:nvSpPr>
        <p:spPr>
          <a:xfrm>
            <a:off x="2753685" y="3930134"/>
            <a:ext cx="381461" cy="369332"/>
          </a:xfrm>
          <a:prstGeom prst="rect">
            <a:avLst/>
          </a:prstGeom>
          <a:noFill/>
        </p:spPr>
        <p:txBody>
          <a:bodyPr wrap="square">
            <a:spAutoFit/>
          </a:bodyPr>
          <a:lstStyle/>
          <a:p>
            <a:pPr lvl="0" eaLnBrk="1" hangingPunct="1">
              <a:spcBef>
                <a:spcPct val="50000"/>
              </a:spcBef>
            </a:pPr>
            <a:r>
              <a:rPr lang="en-US" altLang="zh-CN" sz="1800" b="1" dirty="0">
                <a:latin typeface="Times New Roman" panose="02020603050405020304" pitchFamily="18" charset="0"/>
                <a:ea typeface="Arial Unicode MS" panose="020B0604020202020204" charset="-122"/>
              </a:rPr>
              <a:t>⇄</a:t>
            </a:r>
            <a:endParaRPr lang="en-US" altLang="zh-CN" sz="1800" b="1" dirty="0">
              <a:latin typeface="Times New Roman" panose="02020603050405020304" pitchFamily="18" charset="0"/>
              <a:ea typeface="宋体" panose="02010600030101010101" pitchFamily="2" charset="-122"/>
            </a:endParaRPr>
          </a:p>
        </p:txBody>
      </p:sp>
      <p:sp>
        <p:nvSpPr>
          <p:cNvPr id="8" name="文本框 7"/>
          <p:cNvSpPr txBox="1"/>
          <p:nvPr/>
        </p:nvSpPr>
        <p:spPr>
          <a:xfrm>
            <a:off x="3240457" y="4484900"/>
            <a:ext cx="381461" cy="369332"/>
          </a:xfrm>
          <a:prstGeom prst="rect">
            <a:avLst/>
          </a:prstGeom>
          <a:noFill/>
        </p:spPr>
        <p:txBody>
          <a:bodyPr wrap="square">
            <a:spAutoFit/>
          </a:bodyPr>
          <a:lstStyle/>
          <a:p>
            <a:pPr lvl="0" eaLnBrk="1" hangingPunct="1">
              <a:spcBef>
                <a:spcPct val="50000"/>
              </a:spcBef>
            </a:pPr>
            <a:r>
              <a:rPr lang="en-US" altLang="zh-CN" sz="1800" b="1" dirty="0">
                <a:latin typeface="Times New Roman" panose="02020603050405020304" pitchFamily="18" charset="0"/>
                <a:ea typeface="Arial Unicode MS" panose="020B0604020202020204" charset="-122"/>
              </a:rPr>
              <a:t>⇄</a:t>
            </a:r>
            <a:endParaRPr lang="en-US" altLang="zh-CN" sz="1800" b="1" dirty="0">
              <a:latin typeface="Times New Roman" panose="02020603050405020304" pitchFamily="18" charset="0"/>
              <a:ea typeface="宋体" panose="02010600030101010101" pitchFamily="2" charset="-122"/>
            </a:endParaRPr>
          </a:p>
        </p:txBody>
      </p:sp>
      <p:sp>
        <p:nvSpPr>
          <p:cNvPr id="9" name="文本框 8"/>
          <p:cNvSpPr txBox="1"/>
          <p:nvPr/>
        </p:nvSpPr>
        <p:spPr>
          <a:xfrm>
            <a:off x="2745386" y="5164560"/>
            <a:ext cx="381461" cy="369332"/>
          </a:xfrm>
          <a:prstGeom prst="rect">
            <a:avLst/>
          </a:prstGeom>
          <a:noFill/>
        </p:spPr>
        <p:txBody>
          <a:bodyPr wrap="square">
            <a:spAutoFit/>
          </a:bodyPr>
          <a:lstStyle/>
          <a:p>
            <a:pPr lvl="0" eaLnBrk="1" hangingPunct="1">
              <a:spcBef>
                <a:spcPct val="50000"/>
              </a:spcBef>
            </a:pPr>
            <a:r>
              <a:rPr lang="en-US" altLang="zh-CN" sz="1800" b="1" dirty="0">
                <a:latin typeface="Times New Roman" panose="02020603050405020304" pitchFamily="18" charset="0"/>
                <a:ea typeface="Arial Unicode MS" panose="020B0604020202020204" charset="-122"/>
              </a:rPr>
              <a:t>⇄</a:t>
            </a:r>
            <a:endParaRPr lang="en-US" altLang="zh-CN" sz="1800" b="1" dirty="0">
              <a:latin typeface="Times New Roman" panose="02020603050405020304" pitchFamily="18" charset="0"/>
              <a:ea typeface="宋体" panose="02010600030101010101" pitchFamily="2" charset="-122"/>
            </a:endParaRPr>
          </a:p>
        </p:txBody>
      </p:sp>
      <p:sp>
        <p:nvSpPr>
          <p:cNvPr id="10" name="文本框 9"/>
          <p:cNvSpPr txBox="1"/>
          <p:nvPr/>
        </p:nvSpPr>
        <p:spPr>
          <a:xfrm>
            <a:off x="2932775" y="5758838"/>
            <a:ext cx="381461" cy="369332"/>
          </a:xfrm>
          <a:prstGeom prst="rect">
            <a:avLst/>
          </a:prstGeom>
          <a:noFill/>
        </p:spPr>
        <p:txBody>
          <a:bodyPr wrap="square">
            <a:spAutoFit/>
          </a:bodyPr>
          <a:lstStyle/>
          <a:p>
            <a:pPr lvl="0" eaLnBrk="1" hangingPunct="1">
              <a:spcBef>
                <a:spcPct val="50000"/>
              </a:spcBef>
            </a:pPr>
            <a:r>
              <a:rPr lang="en-US" altLang="zh-CN" sz="1800" b="1" dirty="0">
                <a:latin typeface="Times New Roman" panose="02020603050405020304" pitchFamily="18" charset="0"/>
                <a:ea typeface="Arial Unicode MS" panose="020B0604020202020204" charset="-122"/>
              </a:rPr>
              <a:t>⇄</a:t>
            </a:r>
            <a:endParaRPr lang="en-US" altLang="zh-CN" sz="1800" b="1"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3666"/>
                                        </p:tgtEl>
                                        <p:attrNameLst>
                                          <p:attrName>style.visibility</p:attrName>
                                        </p:attrNameLst>
                                      </p:cBhvr>
                                      <p:to>
                                        <p:strVal val="visible"/>
                                      </p:to>
                                    </p:set>
                                    <p:animEffect transition="in" filter="wipe(left)">
                                      <p:cBhvr>
                                        <p:cTn id="7" dur="500"/>
                                        <p:tgtEl>
                                          <p:spTgt spid="113666"/>
                                        </p:tgtEl>
                                      </p:cBhvr>
                                    </p:animEffect>
                                  </p:childTnLst>
                                </p:cTn>
                              </p:par>
                            </p:childTnLst>
                          </p:cTn>
                        </p:par>
                        <p:par>
                          <p:cTn id="8" fill="hold">
                            <p:stCondLst>
                              <p:cond delay="500"/>
                            </p:stCondLst>
                            <p:childTnLst>
                              <p:par>
                                <p:cTn id="9" presetID="22" presetClass="entr" presetSubtype="8" fill="hold" grpId="0" nodeType="afterEffect" nodePh="1">
                                  <p:stCondLst>
                                    <p:cond delay="0"/>
                                  </p:stCondLst>
                                  <p:endCondLst>
                                    <p:cond evt="begin" delay="0">
                                      <p:tn val="9"/>
                                    </p:cond>
                                  </p:endCondLst>
                                  <p:childTnLst>
                                    <p:set>
                                      <p:cBhvr>
                                        <p:cTn id="10" dur="1" fill="hold">
                                          <p:stCondLst>
                                            <p:cond delay="0"/>
                                          </p:stCondLst>
                                        </p:cTn>
                                        <p:tgtEl>
                                          <p:spTgt spid="113667">
                                            <p:txEl>
                                              <p:pRg st="0" end="0"/>
                                            </p:txEl>
                                          </p:spTgt>
                                        </p:tgtEl>
                                        <p:attrNameLst>
                                          <p:attrName>style.visibility</p:attrName>
                                        </p:attrNameLst>
                                      </p:cBhvr>
                                      <p:to>
                                        <p:strVal val="visible"/>
                                      </p:to>
                                    </p:set>
                                    <p:animEffect transition="in" filter="wipe(left)">
                                      <p:cBhvr>
                                        <p:cTn id="11" dur="500"/>
                                        <p:tgtEl>
                                          <p:spTgt spid="113667">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up)">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6" grpId="0"/>
      <p:bldP spid="113667" grpId="0" build="p" advAuto="100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日期占位符 3"/>
          <p:cNvSpPr txBox="1">
            <a:spLocks noGrp="1"/>
          </p:cNvSpPr>
          <p:nvPr>
            <p:ph type="dt" sz="half" idx="10"/>
          </p:nvPr>
        </p:nvSpPr>
        <p:spPr>
          <a:xfrm>
            <a:off x="0" y="6581775"/>
            <a:ext cx="2267744" cy="27622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11619" name="灯片编号占位符 5"/>
          <p:cNvSpPr txBox="1">
            <a:spLocks noGrp="1"/>
          </p:cNvSpPr>
          <p:nvPr>
            <p:ph type="sldNum" sz="quarter" idx="12"/>
          </p:nvPr>
        </p:nvSpPr>
        <p:spPr>
          <a:xfrm>
            <a:off x="8593455" y="6563360"/>
            <a:ext cx="531495" cy="294640"/>
          </a:xfrm>
        </p:spPr>
        <p:txBody>
          <a:bodyPr lIns="92075" tIns="46038" rIns="92075" bIns="46038" anchor="ctr"/>
          <a:lstStyle/>
          <a:p>
            <a:pPr algn="r" eaLnBrk="1" hangingPunct="1"/>
            <a:fld id="{9A0DB2DC-4C9A-4742-B13C-FB6460FD3503}" type="slidenum">
              <a:rPr lang="en-US" altLang="zh-CN" sz="1400" dirty="0"/>
              <a:t>116</a:t>
            </a:fld>
            <a:endParaRPr lang="en-US" altLang="zh-CN" sz="1400" dirty="0"/>
          </a:p>
        </p:txBody>
      </p:sp>
      <p:sp>
        <p:nvSpPr>
          <p:cNvPr id="248834" name="Rectangle 2"/>
          <p:cNvSpPr>
            <a:spLocks noGrp="1" noChangeArrowheads="1"/>
          </p:cNvSpPr>
          <p:nvPr>
            <p:ph type="title"/>
          </p:nvPr>
        </p:nvSpPr>
        <p:spPr>
          <a:xfrm>
            <a:off x="855662" y="21590"/>
            <a:ext cx="7820794" cy="1535202"/>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b="1" i="0" u="none" strike="noStrike" kern="0" cap="none" spc="0" normalizeH="0" baseline="0" noProof="0" dirty="0">
                <a:ln>
                  <a:noFill/>
                </a:ln>
                <a:solidFill>
                  <a:srgbClr val="FF0000"/>
                </a:solidFill>
                <a:effectLst/>
                <a:uLnTx/>
                <a:uFillTx/>
                <a:latin typeface="Times New Roman" panose="02020603050405020304" pitchFamily="18" charset="0"/>
                <a:ea typeface="华文中宋" panose="02010600040101010101" pitchFamily="2" charset="-122"/>
                <a:cs typeface="+mj-cs"/>
              </a:rPr>
              <a:t>二、铁碳合金相图分析</a:t>
            </a:r>
            <a:br>
              <a:rPr kumimoji="1" lang="en-US" altLang="zh-CN" b="1" i="0" u="none" strike="noStrike" kern="0" cap="none" spc="0" normalizeH="0" baseline="0" noProof="0" dirty="0">
                <a:ln>
                  <a:noFill/>
                </a:ln>
                <a:solidFill>
                  <a:srgbClr val="FF0000"/>
                </a:solidFill>
                <a:effectLst/>
                <a:uLnTx/>
                <a:uFillTx/>
                <a:latin typeface="Times New Roman" panose="02020603050405020304" pitchFamily="18" charset="0"/>
                <a:ea typeface="华文中宋" panose="02010600040101010101" pitchFamily="2" charset="-122"/>
                <a:cs typeface="+mj-cs"/>
              </a:rPr>
            </a:br>
            <a:r>
              <a:rPr kumimoji="1" lang="en-US" altLang="zh-CN" b="1" i="0" u="none" strike="noStrike" kern="0" cap="none" spc="0" normalizeH="0" baseline="0" noProof="0" dirty="0">
                <a:ln>
                  <a:noFill/>
                </a:ln>
                <a:solidFill>
                  <a:srgbClr val="FF0000"/>
                </a:solidFill>
                <a:effectLst/>
                <a:uLnTx/>
                <a:uFillTx/>
                <a:latin typeface="Times New Roman" panose="02020603050405020304" pitchFamily="18" charset="0"/>
                <a:ea typeface="华文中宋" panose="02010600040101010101" pitchFamily="2" charset="-122"/>
                <a:cs typeface="+mj-cs"/>
              </a:rPr>
              <a:t>—</a:t>
            </a:r>
            <a:r>
              <a:rPr kumimoji="1" lang="en-US" altLang="zh-CN"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华文中宋" panose="02010600040101010101" pitchFamily="2" charset="-122"/>
                <a:cs typeface="+mj-cs"/>
              </a:rPr>
              <a:t>⒉ </a:t>
            </a:r>
            <a:r>
              <a:rPr kumimoji="1" lang="zh-CN" altLang="en-US"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华文中宋" panose="02010600040101010101" pitchFamily="2" charset="-122"/>
                <a:cs typeface="+mj-cs"/>
              </a:rPr>
              <a:t>特征线</a:t>
            </a:r>
          </a:p>
        </p:txBody>
      </p:sp>
      <p:sp>
        <p:nvSpPr>
          <p:cNvPr id="111621" name="Rectangle 3"/>
          <p:cNvSpPr>
            <a:spLocks noGrp="1"/>
          </p:cNvSpPr>
          <p:nvPr>
            <p:ph idx="1"/>
          </p:nvPr>
        </p:nvSpPr>
        <p:spPr>
          <a:xfrm>
            <a:off x="-11430" y="2060575"/>
            <a:ext cx="5733415" cy="4307205"/>
          </a:xfrm>
        </p:spPr>
        <p:txBody>
          <a:bodyPr vert="horz" wrap="square" lIns="91440" tIns="45720" rIns="91440" bIns="45720" anchor="t"/>
          <a:lstStyle/>
          <a:p>
            <a:pPr eaLnBrk="1" hangingPunct="1">
              <a:lnSpc>
                <a:spcPct val="90000"/>
              </a:lnSpc>
            </a:pPr>
            <a:r>
              <a:rPr lang="en-US" altLang="zh-CN" sz="2800" b="1" dirty="0">
                <a:solidFill>
                  <a:srgbClr val="00FF00"/>
                </a:solidFill>
                <a:ea typeface="华文中宋" panose="02010600040101010101" pitchFamily="2" charset="-122"/>
              </a:rPr>
              <a:t>⑴</a:t>
            </a:r>
            <a:r>
              <a:rPr lang="en-US" altLang="zh-CN" sz="2800" b="1" dirty="0">
                <a:solidFill>
                  <a:schemeClr val="folHlink"/>
                </a:solidFill>
                <a:ea typeface="华文中宋" panose="02010600040101010101" pitchFamily="2" charset="-122"/>
              </a:rPr>
              <a:t> </a:t>
            </a:r>
            <a:r>
              <a:rPr lang="zh-CN" altLang="en-US" sz="2800" b="1" dirty="0">
                <a:solidFill>
                  <a:schemeClr val="folHlink"/>
                </a:solidFill>
                <a:ea typeface="华文中宋" panose="02010600040101010101" pitchFamily="2" charset="-122"/>
              </a:rPr>
              <a:t>液相线</a:t>
            </a:r>
            <a:r>
              <a:rPr lang="en-US" altLang="zh-CN" sz="2800" b="1" dirty="0">
                <a:solidFill>
                  <a:schemeClr val="folHlink"/>
                </a:solidFill>
                <a:ea typeface="华文中宋" panose="02010600040101010101" pitchFamily="2" charset="-122"/>
              </a:rPr>
              <a:t>—ABCD</a:t>
            </a:r>
            <a:r>
              <a:rPr lang="zh-CN" altLang="en-US" sz="2800" b="1" dirty="0">
                <a:solidFill>
                  <a:schemeClr val="folHlink"/>
                </a:solidFill>
                <a:ea typeface="华文中宋" panose="02010600040101010101" pitchFamily="2" charset="-122"/>
              </a:rPr>
              <a:t>，</a:t>
            </a:r>
          </a:p>
          <a:p>
            <a:pPr eaLnBrk="1" hangingPunct="1">
              <a:lnSpc>
                <a:spcPct val="130000"/>
              </a:lnSpc>
              <a:buNone/>
            </a:pPr>
            <a:r>
              <a:rPr lang="zh-CN" altLang="en-US" sz="2800" b="1" dirty="0">
                <a:solidFill>
                  <a:schemeClr val="folHlink"/>
                </a:solidFill>
                <a:ea typeface="华文中宋" panose="02010600040101010101" pitchFamily="2" charset="-122"/>
              </a:rPr>
              <a:t>         固相线</a:t>
            </a:r>
            <a:r>
              <a:rPr lang="en-US" altLang="zh-CN" sz="2800" b="1" dirty="0">
                <a:solidFill>
                  <a:schemeClr val="folHlink"/>
                </a:solidFill>
                <a:ea typeface="华文中宋" panose="02010600040101010101" pitchFamily="2" charset="-122"/>
              </a:rPr>
              <a:t>—AHJECFD</a:t>
            </a:r>
            <a:r>
              <a:rPr lang="en-US" altLang="zh-CN" sz="2800" b="1" dirty="0">
                <a:ea typeface="华文中宋" panose="02010600040101010101" pitchFamily="2" charset="-122"/>
              </a:rPr>
              <a:t> </a:t>
            </a:r>
          </a:p>
          <a:p>
            <a:pPr eaLnBrk="1" hangingPunct="1">
              <a:lnSpc>
                <a:spcPct val="110000"/>
              </a:lnSpc>
            </a:pPr>
            <a:r>
              <a:rPr lang="en-US" altLang="zh-CN" sz="2800" b="1" dirty="0">
                <a:solidFill>
                  <a:srgbClr val="00FF00"/>
                </a:solidFill>
                <a:ea typeface="华文中宋" panose="02010600040101010101" pitchFamily="2" charset="-122"/>
              </a:rPr>
              <a:t>⑵ </a:t>
            </a:r>
            <a:r>
              <a:rPr lang="zh-CN" altLang="en-US" sz="2800" b="1" dirty="0">
                <a:ea typeface="华文中宋" panose="02010600040101010101" pitchFamily="2" charset="-122"/>
              </a:rPr>
              <a:t>三条水平线：</a:t>
            </a:r>
          </a:p>
          <a:p>
            <a:pPr eaLnBrk="1" hangingPunct="1">
              <a:lnSpc>
                <a:spcPct val="110000"/>
              </a:lnSpc>
            </a:pPr>
            <a:r>
              <a:rPr lang="en-US" altLang="zh-CN" sz="2800" b="1" dirty="0">
                <a:solidFill>
                  <a:schemeClr val="folHlink"/>
                </a:solidFill>
                <a:ea typeface="华文中宋" panose="02010600040101010101" pitchFamily="2" charset="-122"/>
              </a:rPr>
              <a:t>HJB</a:t>
            </a:r>
            <a:r>
              <a:rPr lang="zh-CN" altLang="en-US" sz="2800" b="1" dirty="0">
                <a:solidFill>
                  <a:schemeClr val="folHlink"/>
                </a:solidFill>
                <a:ea typeface="华文中宋" panose="02010600040101010101" pitchFamily="2" charset="-122"/>
              </a:rPr>
              <a:t>：包晶线，</a:t>
            </a:r>
            <a:r>
              <a:rPr lang="en-US" altLang="zh-CN" sz="2800" b="1" dirty="0">
                <a:solidFill>
                  <a:schemeClr val="folHlink"/>
                </a:solidFill>
                <a:ea typeface="华文中宋" panose="02010600040101010101" pitchFamily="2" charset="-122"/>
              </a:rPr>
              <a:t>L</a:t>
            </a:r>
            <a:r>
              <a:rPr lang="en-US" altLang="zh-CN" sz="2800" b="1" baseline="-30000" dirty="0">
                <a:solidFill>
                  <a:schemeClr val="folHlink"/>
                </a:solidFill>
                <a:ea typeface="华文中宋" panose="02010600040101010101" pitchFamily="2" charset="-122"/>
              </a:rPr>
              <a:t>B</a:t>
            </a:r>
            <a:r>
              <a:rPr lang="en-US" altLang="zh-CN" sz="2800" b="1" dirty="0">
                <a:solidFill>
                  <a:schemeClr val="folHlink"/>
                </a:solidFill>
                <a:ea typeface="华文中宋" panose="02010600040101010101" pitchFamily="2" charset="-122"/>
              </a:rPr>
              <a:t>+</a:t>
            </a:r>
            <a:r>
              <a:rPr lang="en-US" altLang="zh-CN" sz="2800" b="1" i="1" dirty="0">
                <a:solidFill>
                  <a:schemeClr val="folHlink"/>
                </a:solidFill>
                <a:ea typeface="华文中宋" panose="02010600040101010101" pitchFamily="2" charset="-122"/>
              </a:rPr>
              <a:t>δ</a:t>
            </a:r>
            <a:r>
              <a:rPr lang="en-US" altLang="zh-CN" sz="2800" b="1" baseline="-30000" dirty="0">
                <a:solidFill>
                  <a:schemeClr val="folHlink"/>
                </a:solidFill>
                <a:ea typeface="华文中宋" panose="02010600040101010101" pitchFamily="2" charset="-122"/>
              </a:rPr>
              <a:t>H</a:t>
            </a:r>
            <a:r>
              <a:rPr lang="en-US" altLang="zh-CN" sz="2800" b="1" dirty="0">
                <a:solidFill>
                  <a:schemeClr val="folHlink"/>
                </a:solidFill>
                <a:latin typeface="Arial" panose="020B0604020202020204" pitchFamily="34" charset="0"/>
                <a:ea typeface="Arial Unicode MS" panose="020B0604020202020204" charset="-122"/>
              </a:rPr>
              <a:t>⇄</a:t>
            </a:r>
            <a:r>
              <a:rPr lang="en-US" altLang="zh-CN" sz="2800" b="1" dirty="0">
                <a:solidFill>
                  <a:schemeClr val="folHlink"/>
                </a:solidFill>
                <a:ea typeface="华文中宋" panose="02010600040101010101" pitchFamily="2" charset="-122"/>
              </a:rPr>
              <a:t> </a:t>
            </a:r>
            <a:r>
              <a:rPr lang="en-US" altLang="zh-CN" sz="2800" b="1" i="1" dirty="0">
                <a:solidFill>
                  <a:schemeClr val="folHlink"/>
                </a:solidFill>
                <a:ea typeface="华文中宋" panose="02010600040101010101" pitchFamily="2" charset="-122"/>
                <a:sym typeface="Symbol" panose="05050102010706020507" pitchFamily="18" charset="2"/>
              </a:rPr>
              <a:t></a:t>
            </a:r>
            <a:r>
              <a:rPr lang="en-US" altLang="zh-CN" sz="2800" b="1" baseline="-30000" dirty="0">
                <a:solidFill>
                  <a:schemeClr val="folHlink"/>
                </a:solidFill>
                <a:ea typeface="华文中宋" panose="02010600040101010101" pitchFamily="2" charset="-122"/>
              </a:rPr>
              <a:t>J</a:t>
            </a:r>
            <a:r>
              <a:rPr lang="en-US" altLang="zh-CN" sz="2800" b="1" dirty="0">
                <a:solidFill>
                  <a:schemeClr val="folHlink"/>
                </a:solidFill>
                <a:ea typeface="华文中宋" panose="02010600040101010101" pitchFamily="2" charset="-122"/>
              </a:rPr>
              <a:t> </a:t>
            </a:r>
          </a:p>
          <a:p>
            <a:pPr eaLnBrk="1" hangingPunct="1">
              <a:lnSpc>
                <a:spcPct val="110000"/>
              </a:lnSpc>
            </a:pPr>
            <a:r>
              <a:rPr lang="en-US" altLang="zh-CN" sz="2800" b="1" dirty="0">
                <a:solidFill>
                  <a:schemeClr val="folHlink"/>
                </a:solidFill>
                <a:ea typeface="华文中宋" panose="02010600040101010101" pitchFamily="2" charset="-122"/>
              </a:rPr>
              <a:t>ECF</a:t>
            </a:r>
            <a:r>
              <a:rPr lang="zh-CN" altLang="en-US" sz="2800" b="1" dirty="0">
                <a:solidFill>
                  <a:schemeClr val="folHlink"/>
                </a:solidFill>
                <a:ea typeface="华文中宋" panose="02010600040101010101" pitchFamily="2" charset="-122"/>
              </a:rPr>
              <a:t>：共晶线，</a:t>
            </a:r>
            <a:r>
              <a:rPr lang="en-US" altLang="zh-CN" sz="2800" b="1" dirty="0">
                <a:solidFill>
                  <a:schemeClr val="folHlink"/>
                </a:solidFill>
                <a:ea typeface="华文中宋" panose="02010600040101010101" pitchFamily="2" charset="-122"/>
              </a:rPr>
              <a:t>L</a:t>
            </a:r>
            <a:r>
              <a:rPr lang="en-US" altLang="zh-CN" sz="2800" b="1" baseline="-30000" dirty="0">
                <a:solidFill>
                  <a:schemeClr val="folHlink"/>
                </a:solidFill>
                <a:ea typeface="华文中宋" panose="02010600040101010101" pitchFamily="2" charset="-122"/>
              </a:rPr>
              <a:t>C</a:t>
            </a:r>
            <a:r>
              <a:rPr lang="en-US" altLang="zh-CN" sz="2800" b="1" dirty="0">
                <a:solidFill>
                  <a:schemeClr val="folHlink"/>
                </a:solidFill>
                <a:ea typeface="Arial Unicode MS" panose="020B0604020202020204" charset="-122"/>
              </a:rPr>
              <a:t>⇄</a:t>
            </a:r>
            <a:r>
              <a:rPr lang="en-US" altLang="zh-CN" sz="2800" b="1" dirty="0">
                <a:solidFill>
                  <a:schemeClr val="folHlink"/>
                </a:solidFill>
                <a:ea typeface="华文中宋" panose="02010600040101010101" pitchFamily="2" charset="-122"/>
              </a:rPr>
              <a:t> </a:t>
            </a:r>
            <a:r>
              <a:rPr lang="en-US" altLang="zh-CN" sz="2800" b="1" i="1" dirty="0">
                <a:solidFill>
                  <a:schemeClr val="folHlink"/>
                </a:solidFill>
                <a:ea typeface="华文中宋" panose="02010600040101010101" pitchFamily="2" charset="-122"/>
                <a:sym typeface="Symbol" panose="05050102010706020507" pitchFamily="18" charset="2"/>
              </a:rPr>
              <a:t></a:t>
            </a:r>
            <a:r>
              <a:rPr lang="en-US" altLang="zh-CN" sz="2800" b="1" baseline="-30000" dirty="0">
                <a:solidFill>
                  <a:schemeClr val="folHlink"/>
                </a:solidFill>
                <a:ea typeface="华文中宋" panose="02010600040101010101" pitchFamily="2" charset="-122"/>
              </a:rPr>
              <a:t>E</a:t>
            </a:r>
            <a:r>
              <a:rPr lang="en-US" altLang="zh-CN" sz="2800" b="1" dirty="0">
                <a:solidFill>
                  <a:schemeClr val="folHlink"/>
                </a:solidFill>
                <a:ea typeface="华文中宋" panose="02010600040101010101" pitchFamily="2" charset="-122"/>
              </a:rPr>
              <a:t>+Fe</a:t>
            </a:r>
            <a:r>
              <a:rPr lang="en-US" altLang="zh-CN" sz="2800" b="1" baseline="-30000" dirty="0">
                <a:solidFill>
                  <a:schemeClr val="folHlink"/>
                </a:solidFill>
                <a:ea typeface="华文中宋" panose="02010600040101010101" pitchFamily="2" charset="-122"/>
              </a:rPr>
              <a:t>3</a:t>
            </a:r>
            <a:r>
              <a:rPr lang="en-US" altLang="zh-CN" sz="2800" b="1" dirty="0">
                <a:solidFill>
                  <a:schemeClr val="folHlink"/>
                </a:solidFill>
                <a:ea typeface="华文中宋" panose="02010600040101010101" pitchFamily="2" charset="-122"/>
              </a:rPr>
              <a:t>C</a:t>
            </a:r>
          </a:p>
          <a:p>
            <a:pPr eaLnBrk="1" hangingPunct="1">
              <a:lnSpc>
                <a:spcPct val="110000"/>
              </a:lnSpc>
            </a:pPr>
            <a:r>
              <a:rPr lang="zh-CN" altLang="en-US" sz="2800" b="1" dirty="0">
                <a:solidFill>
                  <a:schemeClr val="folHlink"/>
                </a:solidFill>
                <a:ea typeface="华文中宋" panose="02010600040101010101" pitchFamily="2" charset="-122"/>
              </a:rPr>
              <a:t>共晶产物</a:t>
            </a:r>
            <a:r>
              <a:rPr lang="zh-CN" altLang="en-US" sz="2800" b="1" dirty="0">
                <a:ea typeface="华文中宋" panose="02010600040101010101" pitchFamily="2" charset="-122"/>
              </a:rPr>
              <a:t>是 </a:t>
            </a:r>
            <a:r>
              <a:rPr lang="zh-CN" altLang="en-US" sz="2800" b="1" i="1" dirty="0">
                <a:ea typeface="华文中宋" panose="02010600040101010101" pitchFamily="2" charset="-122"/>
                <a:sym typeface="Symbol" panose="05050102010706020507" pitchFamily="18" charset="2"/>
              </a:rPr>
              <a:t>  </a:t>
            </a:r>
            <a:r>
              <a:rPr lang="zh-CN" altLang="en-US" sz="2800" b="1" dirty="0">
                <a:solidFill>
                  <a:schemeClr val="folHlink"/>
                </a:solidFill>
                <a:ea typeface="华文中宋" panose="02010600040101010101" pitchFamily="2" charset="-122"/>
              </a:rPr>
              <a:t>与</a:t>
            </a:r>
            <a:r>
              <a:rPr lang="en-US" altLang="zh-CN" sz="2800" b="1" dirty="0">
                <a:ea typeface="华文中宋" panose="02010600040101010101" pitchFamily="2" charset="-122"/>
              </a:rPr>
              <a:t>Fe</a:t>
            </a:r>
            <a:r>
              <a:rPr lang="en-US" altLang="zh-CN" sz="2800" b="1" baseline="-30000" dirty="0">
                <a:ea typeface="华文中宋" panose="02010600040101010101" pitchFamily="2" charset="-122"/>
              </a:rPr>
              <a:t>3</a:t>
            </a:r>
            <a:r>
              <a:rPr lang="en-US" altLang="zh-CN" sz="2800" b="1" dirty="0">
                <a:ea typeface="华文中宋" panose="02010600040101010101" pitchFamily="2" charset="-122"/>
              </a:rPr>
              <a:t>C</a:t>
            </a:r>
            <a:r>
              <a:rPr lang="zh-CN" altLang="en-US" sz="2800" b="1" dirty="0">
                <a:solidFill>
                  <a:schemeClr val="folHlink"/>
                </a:solidFill>
                <a:ea typeface="华文中宋" panose="02010600040101010101" pitchFamily="2" charset="-122"/>
              </a:rPr>
              <a:t>的机械混合物，</a:t>
            </a:r>
            <a:r>
              <a:rPr lang="zh-CN" altLang="en-US" sz="2800" b="1" dirty="0">
                <a:ea typeface="华文中宋" panose="02010600040101010101" pitchFamily="2" charset="-122"/>
              </a:rPr>
              <a:t>称</a:t>
            </a:r>
            <a:r>
              <a:rPr lang="en-US" altLang="zh-CN" sz="2800" b="1" dirty="0">
                <a:solidFill>
                  <a:srgbClr val="0000FF"/>
                </a:solidFill>
                <a:ea typeface="华文中宋" panose="02010600040101010101" pitchFamily="2" charset="-122"/>
              </a:rPr>
              <a:t>莱氏体</a:t>
            </a:r>
            <a:r>
              <a:rPr lang="zh-CN" altLang="en-US" sz="2800" b="1" dirty="0">
                <a:ea typeface="华文中宋" panose="02010600040101010101" pitchFamily="2" charset="-122"/>
              </a:rPr>
              <a:t>，用</a:t>
            </a:r>
            <a:r>
              <a:rPr lang="en-US" altLang="zh-CN" sz="2800" b="1" dirty="0">
                <a:solidFill>
                  <a:srgbClr val="0000FF"/>
                </a:solidFill>
                <a:ea typeface="华文中宋" panose="02010600040101010101" pitchFamily="2" charset="-122"/>
              </a:rPr>
              <a:t>Le</a:t>
            </a:r>
            <a:r>
              <a:rPr lang="zh-CN" altLang="en-US" sz="2800" b="1" dirty="0">
                <a:ea typeface="华文中宋" panose="02010600040101010101" pitchFamily="2" charset="-122"/>
              </a:rPr>
              <a:t>表示。为</a:t>
            </a:r>
            <a:r>
              <a:rPr lang="zh-CN" altLang="en-US" sz="2800" b="1" dirty="0">
                <a:solidFill>
                  <a:schemeClr val="folHlink"/>
                </a:solidFill>
                <a:ea typeface="华文中宋" panose="02010600040101010101" pitchFamily="2" charset="-122"/>
              </a:rPr>
              <a:t>蜂窝状</a:t>
            </a:r>
            <a:r>
              <a:rPr lang="zh-CN" altLang="en-US" sz="2800" b="1" dirty="0">
                <a:ea typeface="华文中宋" panose="02010600040101010101" pitchFamily="2" charset="-122"/>
              </a:rPr>
              <a:t>。以</a:t>
            </a:r>
            <a:r>
              <a:rPr lang="en-US" altLang="zh-CN" sz="2800" b="1" dirty="0">
                <a:solidFill>
                  <a:schemeClr val="folHlink"/>
                </a:solidFill>
                <a:ea typeface="华文中宋" panose="02010600040101010101" pitchFamily="2" charset="-122"/>
              </a:rPr>
              <a:t>Fe</a:t>
            </a:r>
            <a:r>
              <a:rPr lang="en-US" altLang="zh-CN" sz="2800" b="1" baseline="-30000" dirty="0">
                <a:solidFill>
                  <a:schemeClr val="folHlink"/>
                </a:solidFill>
                <a:ea typeface="华文中宋" panose="02010600040101010101" pitchFamily="2" charset="-122"/>
              </a:rPr>
              <a:t>3</a:t>
            </a:r>
            <a:r>
              <a:rPr lang="en-US" altLang="zh-CN" sz="2800" b="1" dirty="0">
                <a:solidFill>
                  <a:schemeClr val="folHlink"/>
                </a:solidFill>
                <a:ea typeface="华文中宋" panose="02010600040101010101" pitchFamily="2" charset="-122"/>
              </a:rPr>
              <a:t>C</a:t>
            </a:r>
            <a:r>
              <a:rPr lang="zh-CN" altLang="en-US" sz="2800" b="1" dirty="0">
                <a:ea typeface="华文中宋" panose="02010600040101010101" pitchFamily="2" charset="-122"/>
              </a:rPr>
              <a:t>为基，</a:t>
            </a:r>
            <a:r>
              <a:rPr lang="zh-CN" altLang="en-US" sz="2800" b="1" dirty="0">
                <a:solidFill>
                  <a:schemeClr val="folHlink"/>
                </a:solidFill>
                <a:ea typeface="华文中宋" panose="02010600040101010101" pitchFamily="2" charset="-122"/>
              </a:rPr>
              <a:t>性能硬而脆</a:t>
            </a:r>
            <a:r>
              <a:rPr lang="zh-CN" altLang="en-US" sz="2800" b="1" dirty="0">
                <a:solidFill>
                  <a:srgbClr val="66FFFF"/>
                </a:solidFill>
                <a:ea typeface="华文中宋" panose="02010600040101010101" pitchFamily="2" charset="-122"/>
              </a:rPr>
              <a:t>。</a:t>
            </a:r>
          </a:p>
        </p:txBody>
      </p:sp>
      <p:grpSp>
        <p:nvGrpSpPr>
          <p:cNvPr id="2" name="Group 4"/>
          <p:cNvGrpSpPr/>
          <p:nvPr/>
        </p:nvGrpSpPr>
        <p:grpSpPr>
          <a:xfrm>
            <a:off x="5724525" y="1503680"/>
            <a:ext cx="3402965" cy="5247640"/>
            <a:chOff x="3590" y="933"/>
            <a:chExt cx="1776" cy="2907"/>
          </a:xfrm>
        </p:grpSpPr>
        <p:pic>
          <p:nvPicPr>
            <p:cNvPr id="111624" name="Picture 5" descr="Fe-C相图2"/>
            <p:cNvPicPr>
              <a:picLocks noChangeAspect="1"/>
            </p:cNvPicPr>
            <p:nvPr/>
          </p:nvPicPr>
          <p:blipFill>
            <a:blip r:embed="rId2"/>
            <a:stretch>
              <a:fillRect/>
            </a:stretch>
          </p:blipFill>
          <p:spPr>
            <a:xfrm>
              <a:off x="3597" y="933"/>
              <a:ext cx="1734" cy="1520"/>
            </a:xfrm>
            <a:prstGeom prst="rect">
              <a:avLst/>
            </a:prstGeom>
            <a:noFill/>
            <a:ln w="38100" cap="flat" cmpd="sng">
              <a:solidFill>
                <a:srgbClr val="FF6600"/>
              </a:solidFill>
              <a:prstDash val="solid"/>
              <a:miter/>
              <a:headEnd type="none" w="med" len="med"/>
              <a:tailEnd type="none" w="med" len="med"/>
            </a:ln>
          </p:spPr>
        </p:pic>
        <p:pic>
          <p:nvPicPr>
            <p:cNvPr id="111625" name="Picture 6" descr="莱氏体"/>
            <p:cNvPicPr>
              <a:picLocks noChangeAspect="1"/>
            </p:cNvPicPr>
            <p:nvPr/>
          </p:nvPicPr>
          <p:blipFill>
            <a:blip r:embed="rId3"/>
            <a:stretch>
              <a:fillRect/>
            </a:stretch>
          </p:blipFill>
          <p:spPr>
            <a:xfrm>
              <a:off x="3590" y="2518"/>
              <a:ext cx="1738" cy="1322"/>
            </a:xfrm>
            <a:prstGeom prst="rect">
              <a:avLst/>
            </a:prstGeom>
            <a:noFill/>
            <a:ln w="38100" cap="flat" cmpd="sng">
              <a:solidFill>
                <a:srgbClr val="FF99CC"/>
              </a:solidFill>
              <a:prstDash val="solid"/>
              <a:miter/>
              <a:headEnd type="none" w="med" len="med"/>
              <a:tailEnd type="none" w="med" len="med"/>
            </a:ln>
          </p:spPr>
        </p:pic>
        <p:sp>
          <p:nvSpPr>
            <p:cNvPr id="111626" name="Text Box 7"/>
            <p:cNvSpPr txBox="1">
              <a:spLocks noChangeAspect="1"/>
            </p:cNvSpPr>
            <p:nvPr/>
          </p:nvSpPr>
          <p:spPr>
            <a:xfrm>
              <a:off x="4782" y="3609"/>
              <a:ext cx="584" cy="204"/>
            </a:xfrm>
            <a:prstGeom prst="rect">
              <a:avLst/>
            </a:prstGeom>
            <a:solidFill>
              <a:schemeClr val="bg1"/>
            </a:solidFill>
            <a:ln w="9525">
              <a:noFill/>
            </a:ln>
          </p:spPr>
          <p:txBody>
            <a:bodyPr>
              <a:spAutoFit/>
            </a:bodyPr>
            <a:lstStyle/>
            <a:p>
              <a:pPr lvl="0" algn="ctr" eaLnBrk="1" hangingPunct="1">
                <a:spcBef>
                  <a:spcPct val="50000"/>
                </a:spcBef>
              </a:pPr>
              <a:r>
                <a:rPr lang="zh-CN" altLang="en-US" sz="1800" b="1" dirty="0">
                  <a:solidFill>
                    <a:srgbClr val="800000"/>
                  </a:solidFill>
                  <a:latin typeface="Times New Roman" panose="02020603050405020304" pitchFamily="18" charset="0"/>
                  <a:ea typeface="宋体" panose="02010600030101010101" pitchFamily="2" charset="-122"/>
                </a:rPr>
                <a:t>莱氏体</a:t>
              </a:r>
            </a:p>
          </p:txBody>
        </p:sp>
      </p:grpSp>
      <p:pic>
        <p:nvPicPr>
          <p:cNvPr id="11" name="内容占位符 1" descr="新校徽（3M）弓之乐"/>
          <p:cNvPicPr>
            <a:picLocks noChangeAspect="1"/>
          </p:cNvPicPr>
          <p:nvPr/>
        </p:nvPicPr>
        <p:blipFill>
          <a:blip r:embed="rId4"/>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日期占位符 3"/>
          <p:cNvSpPr txBox="1">
            <a:spLocks noGrp="1"/>
          </p:cNvSpPr>
          <p:nvPr>
            <p:ph type="dt" sz="half" idx="10"/>
          </p:nvPr>
        </p:nvSpPr>
        <p:spPr>
          <a:xfrm>
            <a:off x="0" y="6581775"/>
            <a:ext cx="2162175" cy="27622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12643" name="灯片编号占位符 5"/>
          <p:cNvSpPr txBox="1">
            <a:spLocks noGrp="1"/>
          </p:cNvSpPr>
          <p:nvPr>
            <p:ph type="sldNum" sz="quarter" idx="12"/>
          </p:nvPr>
        </p:nvSpPr>
        <p:spPr>
          <a:xfrm>
            <a:off x="8562974" y="6453336"/>
            <a:ext cx="593681" cy="563716"/>
          </a:xfrm>
        </p:spPr>
        <p:txBody>
          <a:bodyPr lIns="92075" tIns="46038" rIns="92075" bIns="46038" anchor="ctr"/>
          <a:lstStyle/>
          <a:p>
            <a:pPr algn="r" eaLnBrk="1" hangingPunct="1"/>
            <a:fld id="{9A0DB2DC-4C9A-4742-B13C-FB6460FD3503}" type="slidenum">
              <a:rPr lang="en-US" altLang="zh-CN" sz="1400" dirty="0"/>
              <a:t>117</a:t>
            </a:fld>
            <a:endParaRPr lang="en-US" altLang="zh-CN" sz="1400" dirty="0"/>
          </a:p>
        </p:txBody>
      </p:sp>
      <p:sp>
        <p:nvSpPr>
          <p:cNvPr id="251906" name="Rectangle 2"/>
          <p:cNvSpPr>
            <a:spLocks noGrp="1" noChangeArrowheads="1"/>
          </p:cNvSpPr>
          <p:nvPr>
            <p:ph type="title"/>
          </p:nvPr>
        </p:nvSpPr>
        <p:spPr>
          <a:xfrm>
            <a:off x="611505" y="3175"/>
            <a:ext cx="8280400" cy="1671186"/>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400" b="1" i="0" u="none" strike="noStrike" kern="0" cap="none" spc="0" normalizeH="0" baseline="0" noProof="0" dirty="0">
                <a:ln>
                  <a:noFill/>
                </a:ln>
                <a:solidFill>
                  <a:srgbClr val="FF0000"/>
                </a:solidFill>
                <a:effectLst/>
                <a:uLnTx/>
                <a:uFillTx/>
                <a:latin typeface="Times New Roman" panose="02020603050405020304" pitchFamily="18" charset="0"/>
                <a:ea typeface="华文中宋" panose="02010600040101010101" pitchFamily="2" charset="-122"/>
                <a:cs typeface="+mj-cs"/>
              </a:rPr>
              <a:t>铁碳合金相图分析</a:t>
            </a:r>
            <a:br>
              <a:rPr kumimoji="1" lang="en-US" altLang="zh-CN" sz="4400" b="1" i="0" u="none" strike="noStrike" kern="0" cap="none" spc="0" normalizeH="0" baseline="0" noProof="0" dirty="0">
                <a:ln>
                  <a:noFill/>
                </a:ln>
                <a:solidFill>
                  <a:srgbClr val="FF0000"/>
                </a:solidFill>
                <a:effectLst/>
                <a:uLnTx/>
                <a:uFillTx/>
                <a:latin typeface="Times New Roman" panose="02020603050405020304" pitchFamily="18" charset="0"/>
                <a:ea typeface="华文中宋" panose="02010600040101010101" pitchFamily="2" charset="-122"/>
                <a:cs typeface="+mj-cs"/>
              </a:rPr>
            </a:br>
            <a:r>
              <a:rPr kumimoji="1" lang="en-US" altLang="zh-CN" sz="4400" b="1" i="0" u="none" strike="noStrike" kern="0" cap="none" spc="0" normalizeH="0" baseline="0" noProof="0" dirty="0">
                <a:ln>
                  <a:noFill/>
                </a:ln>
                <a:solidFill>
                  <a:srgbClr val="FF0000"/>
                </a:solidFill>
                <a:effectLst/>
                <a:uLnTx/>
                <a:uFillTx/>
                <a:latin typeface="Times New Roman" panose="02020603050405020304" pitchFamily="18" charset="0"/>
                <a:ea typeface="华文中宋" panose="02010600040101010101" pitchFamily="2" charset="-122"/>
                <a:cs typeface="+mj-cs"/>
              </a:rPr>
              <a:t>——</a:t>
            </a:r>
            <a:r>
              <a:rPr kumimoji="1" lang="en-US" altLang="zh-CN" sz="4400"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华文中宋" panose="02010600040101010101" pitchFamily="2" charset="-122"/>
                <a:cs typeface="+mj-cs"/>
              </a:rPr>
              <a:t>⒉ </a:t>
            </a:r>
            <a:r>
              <a:rPr kumimoji="1" lang="zh-CN" altLang="en-US" sz="4400"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华文中宋" panose="02010600040101010101" pitchFamily="2" charset="-122"/>
                <a:cs typeface="+mj-cs"/>
              </a:rPr>
              <a:t>特征线</a:t>
            </a:r>
          </a:p>
        </p:txBody>
      </p:sp>
      <p:sp>
        <p:nvSpPr>
          <p:cNvPr id="112645" name="Rectangle 3"/>
          <p:cNvSpPr>
            <a:spLocks noGrp="1"/>
          </p:cNvSpPr>
          <p:nvPr>
            <p:ph idx="1"/>
          </p:nvPr>
        </p:nvSpPr>
        <p:spPr>
          <a:xfrm>
            <a:off x="179624" y="1714211"/>
            <a:ext cx="5689600" cy="4827588"/>
          </a:xfrm>
        </p:spPr>
        <p:txBody>
          <a:bodyPr vert="horz" wrap="square" lIns="91440" tIns="45720" rIns="91440" bIns="45720" anchor="t"/>
          <a:lstStyle/>
          <a:p>
            <a:pPr eaLnBrk="1" hangingPunct="1">
              <a:lnSpc>
                <a:spcPct val="140000"/>
              </a:lnSpc>
            </a:pPr>
            <a:r>
              <a:rPr lang="en-US" altLang="zh-CN" b="1" dirty="0">
                <a:solidFill>
                  <a:schemeClr val="folHlink"/>
                </a:solidFill>
                <a:ea typeface="华文中宋" panose="02010600040101010101" pitchFamily="2" charset="-122"/>
              </a:rPr>
              <a:t>PSK</a:t>
            </a:r>
            <a:r>
              <a:rPr lang="zh-CN" altLang="en-US" b="1" dirty="0">
                <a:solidFill>
                  <a:schemeClr val="folHlink"/>
                </a:solidFill>
                <a:ea typeface="华文中宋" panose="02010600040101010101" pitchFamily="2" charset="-122"/>
              </a:rPr>
              <a:t>：共析线</a:t>
            </a:r>
          </a:p>
          <a:p>
            <a:pPr eaLnBrk="1" hangingPunct="1">
              <a:lnSpc>
                <a:spcPct val="125000"/>
              </a:lnSpc>
              <a:buNone/>
            </a:pPr>
            <a:r>
              <a:rPr lang="zh-CN" altLang="en-US" b="1" dirty="0">
                <a:solidFill>
                  <a:schemeClr val="folHlink"/>
                </a:solidFill>
                <a:ea typeface="华文中宋" panose="02010600040101010101" pitchFamily="2" charset="-122"/>
                <a:sym typeface="Symbol" panose="05050102010706020507" pitchFamily="18" charset="2"/>
              </a:rPr>
              <a:t>    </a:t>
            </a:r>
            <a:r>
              <a:rPr lang="zh-CN" altLang="en-US" b="1" i="1" dirty="0">
                <a:solidFill>
                  <a:schemeClr val="folHlink"/>
                </a:solidFill>
                <a:ea typeface="华文中宋" panose="02010600040101010101" pitchFamily="2" charset="-122"/>
                <a:sym typeface="Symbol" panose="05050102010706020507" pitchFamily="18" charset="2"/>
              </a:rPr>
              <a:t></a:t>
            </a:r>
            <a:r>
              <a:rPr lang="en-US" altLang="zh-CN" b="1" baseline="-30000" dirty="0">
                <a:solidFill>
                  <a:schemeClr val="folHlink"/>
                </a:solidFill>
                <a:ea typeface="华文中宋" panose="02010600040101010101" pitchFamily="2" charset="-122"/>
              </a:rPr>
              <a:t>S</a:t>
            </a:r>
            <a:r>
              <a:rPr lang="en-US" altLang="zh-CN" b="1" dirty="0">
                <a:solidFill>
                  <a:schemeClr val="folHlink"/>
                </a:solidFill>
                <a:ea typeface="华文中宋" panose="02010600040101010101" pitchFamily="2" charset="-122"/>
              </a:rPr>
              <a:t> </a:t>
            </a:r>
            <a:r>
              <a:rPr lang="en-US" altLang="zh-CN" b="1" dirty="0">
                <a:solidFill>
                  <a:schemeClr val="folHlink"/>
                </a:solidFill>
                <a:ea typeface="Arial Unicode MS" panose="020B0604020202020204" charset="-122"/>
              </a:rPr>
              <a:t>⇄</a:t>
            </a:r>
            <a:r>
              <a:rPr lang="en-US" altLang="zh-CN" b="1" dirty="0">
                <a:solidFill>
                  <a:schemeClr val="folHlink"/>
                </a:solidFill>
                <a:ea typeface="华文中宋" panose="02010600040101010101" pitchFamily="2" charset="-122"/>
              </a:rPr>
              <a:t>F</a:t>
            </a:r>
            <a:r>
              <a:rPr lang="en-US" altLang="zh-CN" b="1" baseline="-30000" dirty="0">
                <a:solidFill>
                  <a:schemeClr val="folHlink"/>
                </a:solidFill>
                <a:ea typeface="华文中宋" panose="02010600040101010101" pitchFamily="2" charset="-122"/>
              </a:rPr>
              <a:t>P</a:t>
            </a:r>
            <a:r>
              <a:rPr lang="en-US" altLang="zh-CN" b="1" dirty="0">
                <a:solidFill>
                  <a:schemeClr val="folHlink"/>
                </a:solidFill>
                <a:ea typeface="华文中宋" panose="02010600040101010101" pitchFamily="2" charset="-122"/>
              </a:rPr>
              <a:t>+ Fe</a:t>
            </a:r>
            <a:r>
              <a:rPr lang="en-US" altLang="zh-CN" b="1" baseline="-30000" dirty="0">
                <a:solidFill>
                  <a:schemeClr val="folHlink"/>
                </a:solidFill>
                <a:ea typeface="华文中宋" panose="02010600040101010101" pitchFamily="2" charset="-122"/>
              </a:rPr>
              <a:t>3</a:t>
            </a:r>
            <a:r>
              <a:rPr lang="en-US" altLang="zh-CN" b="1" dirty="0">
                <a:solidFill>
                  <a:schemeClr val="folHlink"/>
                </a:solidFill>
                <a:ea typeface="华文中宋" panose="02010600040101010101" pitchFamily="2" charset="-122"/>
              </a:rPr>
              <a:t>C</a:t>
            </a:r>
          </a:p>
          <a:p>
            <a:pPr eaLnBrk="1" latinLnBrk="0" hangingPunct="1">
              <a:lnSpc>
                <a:spcPct val="120000"/>
              </a:lnSpc>
              <a:spcBef>
                <a:spcPts val="0"/>
              </a:spcBef>
            </a:pPr>
            <a:r>
              <a:rPr lang="zh-CN" altLang="en-US" sz="2800" b="1" dirty="0">
                <a:solidFill>
                  <a:schemeClr val="folHlink"/>
                </a:solidFill>
                <a:ea typeface="华文中宋" panose="02010600040101010101" pitchFamily="2" charset="-122"/>
              </a:rPr>
              <a:t>共析转变的产物是</a:t>
            </a:r>
            <a:r>
              <a:rPr lang="zh-CN" altLang="en-US" sz="2800" b="1" i="1" dirty="0">
                <a:solidFill>
                  <a:schemeClr val="folHlink"/>
                </a:solidFill>
                <a:ea typeface="华文中宋" panose="02010600040101010101" pitchFamily="2" charset="-122"/>
                <a:sym typeface="Symbol" panose="05050102010706020507" pitchFamily="18" charset="2"/>
              </a:rPr>
              <a:t></a:t>
            </a:r>
            <a:r>
              <a:rPr lang="zh-CN" altLang="en-US" sz="2800" b="1" dirty="0">
                <a:solidFill>
                  <a:schemeClr val="folHlink"/>
                </a:solidFill>
                <a:ea typeface="华文中宋" panose="02010600040101010101" pitchFamily="2" charset="-122"/>
              </a:rPr>
              <a:t>与</a:t>
            </a:r>
            <a:r>
              <a:rPr lang="en-US" altLang="zh-CN" sz="2800" b="1" dirty="0">
                <a:solidFill>
                  <a:schemeClr val="folHlink"/>
                </a:solidFill>
                <a:ea typeface="华文中宋" panose="02010600040101010101" pitchFamily="2" charset="-122"/>
              </a:rPr>
              <a:t>Fe</a:t>
            </a:r>
            <a:r>
              <a:rPr lang="en-US" altLang="zh-CN" sz="2800" b="1" baseline="-30000" dirty="0">
                <a:solidFill>
                  <a:schemeClr val="folHlink"/>
                </a:solidFill>
                <a:ea typeface="华文中宋" panose="02010600040101010101" pitchFamily="2" charset="-122"/>
              </a:rPr>
              <a:t>3</a:t>
            </a:r>
            <a:r>
              <a:rPr lang="en-US" altLang="zh-CN" sz="2800" b="1" dirty="0">
                <a:solidFill>
                  <a:schemeClr val="folHlink"/>
                </a:solidFill>
                <a:ea typeface="华文中宋" panose="02010600040101010101" pitchFamily="2" charset="-122"/>
              </a:rPr>
              <a:t>C</a:t>
            </a:r>
            <a:r>
              <a:rPr lang="zh-CN" altLang="en-US" sz="2800" b="1" dirty="0">
                <a:solidFill>
                  <a:schemeClr val="folHlink"/>
                </a:solidFill>
                <a:ea typeface="华文中宋" panose="02010600040101010101" pitchFamily="2" charset="-122"/>
              </a:rPr>
              <a:t>的机械混合物</a:t>
            </a:r>
            <a:r>
              <a:rPr lang="en-US" altLang="zh-CN" sz="2800" b="1" dirty="0">
                <a:solidFill>
                  <a:schemeClr val="folHlink"/>
                </a:solidFill>
                <a:ea typeface="华文中宋" panose="02010600040101010101" pitchFamily="2" charset="-122"/>
              </a:rPr>
              <a:t>, </a:t>
            </a:r>
            <a:r>
              <a:rPr lang="zh-CN" altLang="en-US" sz="2800" b="1" dirty="0">
                <a:ea typeface="华文中宋" panose="02010600040101010101" pitchFamily="2" charset="-122"/>
              </a:rPr>
              <a:t>称作</a:t>
            </a:r>
            <a:r>
              <a:rPr lang="zh-CN" altLang="en-US" sz="2800" b="1" dirty="0">
                <a:solidFill>
                  <a:srgbClr val="0000FF"/>
                </a:solidFill>
              </a:rPr>
              <a:t>珠光体</a:t>
            </a:r>
            <a:r>
              <a:rPr lang="zh-CN" altLang="en-US" sz="2800" b="1" dirty="0">
                <a:ea typeface="华文中宋" panose="02010600040101010101" pitchFamily="2" charset="-122"/>
              </a:rPr>
              <a:t>，用</a:t>
            </a:r>
            <a:r>
              <a:rPr lang="en-US" altLang="zh-CN" sz="2800" b="1" dirty="0">
                <a:solidFill>
                  <a:schemeClr val="folHlink"/>
                </a:solidFill>
                <a:ea typeface="华文中宋" panose="02010600040101010101" pitchFamily="2" charset="-122"/>
              </a:rPr>
              <a:t>P</a:t>
            </a:r>
            <a:r>
              <a:rPr lang="zh-CN" altLang="en-US" sz="2800" b="1" dirty="0">
                <a:ea typeface="华文中宋" panose="02010600040101010101" pitchFamily="2" charset="-122"/>
              </a:rPr>
              <a:t>表示。</a:t>
            </a:r>
          </a:p>
          <a:p>
            <a:pPr eaLnBrk="1" latinLnBrk="0" hangingPunct="1">
              <a:lnSpc>
                <a:spcPct val="120000"/>
              </a:lnSpc>
              <a:spcBef>
                <a:spcPts val="0"/>
              </a:spcBef>
            </a:pPr>
            <a:r>
              <a:rPr lang="zh-CN" altLang="en-US" b="1" dirty="0">
                <a:solidFill>
                  <a:srgbClr val="0000FF"/>
                </a:solidFill>
              </a:rPr>
              <a:t>珠光体</a:t>
            </a:r>
            <a:r>
              <a:rPr lang="zh-CN" altLang="en-US" b="1" dirty="0"/>
              <a:t>的</a:t>
            </a:r>
            <a:r>
              <a:rPr lang="zh-CN" altLang="en-US" b="1" dirty="0">
                <a:solidFill>
                  <a:srgbClr val="0000FF"/>
                </a:solidFill>
              </a:rPr>
              <a:t>组织特点</a:t>
            </a:r>
            <a:r>
              <a:rPr lang="zh-CN" altLang="en-US" b="1" dirty="0"/>
              <a:t>：两相呈片层相间分布，性能介于两相之间。 </a:t>
            </a:r>
            <a:r>
              <a:rPr lang="en-US" altLang="zh-CN" b="1" dirty="0"/>
              <a:t>PSK</a:t>
            </a:r>
            <a:r>
              <a:rPr lang="zh-CN" altLang="en-US" b="1" dirty="0"/>
              <a:t>线又称</a:t>
            </a:r>
            <a:r>
              <a:rPr lang="en-US" altLang="zh-CN" b="1" dirty="0">
                <a:solidFill>
                  <a:srgbClr val="0000FF"/>
                </a:solidFill>
              </a:rPr>
              <a:t>A1</a:t>
            </a:r>
            <a:r>
              <a:rPr lang="zh-CN" altLang="en-US" b="1" dirty="0">
                <a:solidFill>
                  <a:srgbClr val="0000FF"/>
                </a:solidFill>
              </a:rPr>
              <a:t>线</a:t>
            </a:r>
            <a:r>
              <a:rPr lang="zh-CN" altLang="en-US" b="1" dirty="0"/>
              <a:t> 。</a:t>
            </a:r>
          </a:p>
        </p:txBody>
      </p:sp>
      <p:grpSp>
        <p:nvGrpSpPr>
          <p:cNvPr id="112646" name="Group 4"/>
          <p:cNvGrpSpPr>
            <a:grpSpLocks noChangeAspect="1"/>
          </p:cNvGrpSpPr>
          <p:nvPr/>
        </p:nvGrpSpPr>
        <p:grpSpPr>
          <a:xfrm>
            <a:off x="5831759" y="1642096"/>
            <a:ext cx="3203575" cy="2678112"/>
            <a:chOff x="3120" y="1584"/>
            <a:chExt cx="2448" cy="2270"/>
          </a:xfrm>
        </p:grpSpPr>
        <p:grpSp>
          <p:nvGrpSpPr>
            <p:cNvPr id="112654" name="Group 5"/>
            <p:cNvGrpSpPr>
              <a:grpSpLocks noChangeAspect="1"/>
            </p:cNvGrpSpPr>
            <p:nvPr/>
          </p:nvGrpSpPr>
          <p:grpSpPr>
            <a:xfrm>
              <a:off x="3120" y="1584"/>
              <a:ext cx="2448" cy="2270"/>
              <a:chOff x="3120" y="1584"/>
              <a:chExt cx="2448" cy="2270"/>
            </a:xfrm>
          </p:grpSpPr>
          <p:grpSp>
            <p:nvGrpSpPr>
              <p:cNvPr id="112656" name="Group 6"/>
              <p:cNvGrpSpPr>
                <a:grpSpLocks noChangeAspect="1"/>
              </p:cNvGrpSpPr>
              <p:nvPr/>
            </p:nvGrpSpPr>
            <p:grpSpPr>
              <a:xfrm>
                <a:off x="3120" y="1584"/>
                <a:ext cx="2448" cy="2270"/>
                <a:chOff x="3120" y="1584"/>
                <a:chExt cx="2448" cy="2270"/>
              </a:xfrm>
            </p:grpSpPr>
            <p:grpSp>
              <p:nvGrpSpPr>
                <p:cNvPr id="112659" name="Group 7"/>
                <p:cNvGrpSpPr>
                  <a:grpSpLocks noChangeAspect="1"/>
                </p:cNvGrpSpPr>
                <p:nvPr/>
              </p:nvGrpSpPr>
              <p:grpSpPr>
                <a:xfrm>
                  <a:off x="3120" y="1584"/>
                  <a:ext cx="2448" cy="2270"/>
                  <a:chOff x="3120" y="1584"/>
                  <a:chExt cx="2448" cy="2270"/>
                </a:xfrm>
              </p:grpSpPr>
              <p:grpSp>
                <p:nvGrpSpPr>
                  <p:cNvPr id="112661" name="Group 8"/>
                  <p:cNvGrpSpPr>
                    <a:grpSpLocks noChangeAspect="1"/>
                  </p:cNvGrpSpPr>
                  <p:nvPr/>
                </p:nvGrpSpPr>
                <p:grpSpPr>
                  <a:xfrm>
                    <a:off x="3120" y="1584"/>
                    <a:ext cx="2448" cy="2270"/>
                    <a:chOff x="3120" y="1584"/>
                    <a:chExt cx="2448" cy="2270"/>
                  </a:xfrm>
                </p:grpSpPr>
                <p:grpSp>
                  <p:nvGrpSpPr>
                    <p:cNvPr id="112664" name="Group 9"/>
                    <p:cNvGrpSpPr>
                      <a:grpSpLocks noChangeAspect="1"/>
                    </p:cNvGrpSpPr>
                    <p:nvPr/>
                  </p:nvGrpSpPr>
                  <p:grpSpPr>
                    <a:xfrm>
                      <a:off x="3120" y="1584"/>
                      <a:ext cx="2448" cy="2270"/>
                      <a:chOff x="3120" y="1584"/>
                      <a:chExt cx="2448" cy="2270"/>
                    </a:xfrm>
                  </p:grpSpPr>
                  <p:grpSp>
                    <p:nvGrpSpPr>
                      <p:cNvPr id="112666" name="Group 10"/>
                      <p:cNvGrpSpPr>
                        <a:grpSpLocks noChangeAspect="1"/>
                      </p:cNvGrpSpPr>
                      <p:nvPr/>
                    </p:nvGrpSpPr>
                    <p:grpSpPr>
                      <a:xfrm>
                        <a:off x="3120" y="1584"/>
                        <a:ext cx="2448" cy="2270"/>
                        <a:chOff x="3120" y="1584"/>
                        <a:chExt cx="2448" cy="2270"/>
                      </a:xfrm>
                    </p:grpSpPr>
                    <p:pic>
                      <p:nvPicPr>
                        <p:cNvPr id="112668" name="Picture 11" descr="Fe-C"/>
                        <p:cNvPicPr>
                          <a:picLocks noChangeAspect="1"/>
                        </p:cNvPicPr>
                        <p:nvPr/>
                      </p:nvPicPr>
                      <p:blipFill>
                        <a:blip r:embed="rId2"/>
                        <a:stretch>
                          <a:fillRect/>
                        </a:stretch>
                      </p:blipFill>
                      <p:spPr>
                        <a:xfrm>
                          <a:off x="3120" y="1584"/>
                          <a:ext cx="2448" cy="2270"/>
                        </a:xfrm>
                        <a:prstGeom prst="rect">
                          <a:avLst/>
                        </a:prstGeom>
                        <a:noFill/>
                        <a:ln w="9525">
                          <a:noFill/>
                        </a:ln>
                      </p:spPr>
                    </p:pic>
                    <p:sp>
                      <p:nvSpPr>
                        <p:cNvPr id="112669" name="Text Box 12"/>
                        <p:cNvSpPr txBox="1">
                          <a:spLocks noChangeAspect="1"/>
                        </p:cNvSpPr>
                        <p:nvPr/>
                      </p:nvSpPr>
                      <p:spPr>
                        <a:xfrm>
                          <a:off x="3166" y="1584"/>
                          <a:ext cx="434" cy="233"/>
                        </a:xfrm>
                        <a:prstGeom prst="rect">
                          <a:avLst/>
                        </a:prstGeom>
                        <a:noFill/>
                        <a:ln w="9525">
                          <a:noFill/>
                        </a:ln>
                      </p:spPr>
                      <p:txBody>
                        <a:bodyPr>
                          <a:spAutoFit/>
                        </a:bodyPr>
                        <a:lstStyle/>
                        <a:p>
                          <a:pPr lvl="0" eaLnBrk="1" hangingPunct="1"/>
                          <a:r>
                            <a:rPr lang="en-US" altLang="zh-CN" sz="1200" b="1" dirty="0">
                              <a:solidFill>
                                <a:schemeClr val="bg2"/>
                              </a:solidFill>
                              <a:latin typeface="Times New Roman" panose="02020603050405020304" pitchFamily="18" charset="0"/>
                              <a:ea typeface="宋体" panose="02010600030101010101" pitchFamily="2" charset="-122"/>
                            </a:rPr>
                            <a:t>L+δ</a:t>
                          </a:r>
                        </a:p>
                      </p:txBody>
                    </p:sp>
                    <p:sp>
                      <p:nvSpPr>
                        <p:cNvPr id="112670" name="Line 13"/>
                        <p:cNvSpPr>
                          <a:spLocks noChangeAspect="1"/>
                        </p:cNvSpPr>
                        <p:nvPr/>
                      </p:nvSpPr>
                      <p:spPr>
                        <a:xfrm>
                          <a:off x="3408" y="1680"/>
                          <a:ext cx="144" cy="144"/>
                        </a:xfrm>
                        <a:prstGeom prst="line">
                          <a:avLst/>
                        </a:prstGeom>
                        <a:ln w="9525" cap="flat" cmpd="sng">
                          <a:solidFill>
                            <a:schemeClr val="bg2"/>
                          </a:solidFill>
                          <a:prstDash val="solid"/>
                          <a:miter/>
                          <a:headEnd type="none" w="med" len="med"/>
                          <a:tailEnd type="none" w="med" len="med"/>
                        </a:ln>
                      </p:spPr>
                    </p:sp>
                  </p:grpSp>
                  <p:sp>
                    <p:nvSpPr>
                      <p:cNvPr id="112667" name="Text Box 14"/>
                      <p:cNvSpPr txBox="1">
                        <a:spLocks noChangeAspect="1"/>
                      </p:cNvSpPr>
                      <p:nvPr/>
                    </p:nvSpPr>
                    <p:spPr>
                      <a:xfrm>
                        <a:off x="3841" y="1967"/>
                        <a:ext cx="479" cy="233"/>
                      </a:xfrm>
                      <a:prstGeom prst="rect">
                        <a:avLst/>
                      </a:prstGeom>
                      <a:noFill/>
                      <a:ln w="9525">
                        <a:noFill/>
                      </a:ln>
                    </p:spPr>
                    <p:txBody>
                      <a:bodyPr>
                        <a:spAutoFit/>
                      </a:bodyPr>
                      <a:lstStyle/>
                      <a:p>
                        <a:pPr lvl="0" eaLnBrk="1" hangingPunct="1">
                          <a:spcBef>
                            <a:spcPct val="50000"/>
                          </a:spcBef>
                        </a:pPr>
                        <a:r>
                          <a:rPr lang="en-US" altLang="zh-CN" sz="1200" b="1" dirty="0">
                            <a:solidFill>
                              <a:schemeClr val="bg2"/>
                            </a:solidFill>
                            <a:latin typeface="Times New Roman" panose="02020603050405020304" pitchFamily="18" charset="0"/>
                            <a:ea typeface="宋体" panose="02010600030101010101" pitchFamily="2" charset="-122"/>
                          </a:rPr>
                          <a:t>L+ </a:t>
                        </a:r>
                        <a:r>
                          <a:rPr lang="en-US" altLang="zh-CN" sz="1200" b="1" dirty="0">
                            <a:solidFill>
                              <a:schemeClr val="bg2"/>
                            </a:solidFill>
                            <a:latin typeface="Times New Roman" panose="02020603050405020304" pitchFamily="18" charset="0"/>
                            <a:ea typeface="宋体" panose="02010600030101010101" pitchFamily="2" charset="-122"/>
                            <a:sym typeface="Symbol" panose="05050102010706020507" pitchFamily="18" charset="2"/>
                          </a:rPr>
                          <a:t></a:t>
                        </a:r>
                      </a:p>
                    </p:txBody>
                  </p:sp>
                </p:grpSp>
                <p:sp>
                  <p:nvSpPr>
                    <p:cNvPr id="112665" name="Text Box 15"/>
                    <p:cNvSpPr txBox="1">
                      <a:spLocks noChangeAspect="1"/>
                    </p:cNvSpPr>
                    <p:nvPr/>
                  </p:nvSpPr>
                  <p:spPr>
                    <a:xfrm>
                      <a:off x="4968" y="2089"/>
                      <a:ext cx="490" cy="387"/>
                    </a:xfrm>
                    <a:prstGeom prst="rect">
                      <a:avLst/>
                    </a:prstGeom>
                    <a:noFill/>
                    <a:ln w="9525">
                      <a:noFill/>
                    </a:ln>
                  </p:spPr>
                  <p:txBody>
                    <a:bodyPr>
                      <a:spAutoFit/>
                    </a:bodyPr>
                    <a:lstStyle/>
                    <a:p>
                      <a:pPr lvl="0" eaLnBrk="1" hangingPunct="1"/>
                      <a:r>
                        <a:rPr lang="en-US" altLang="zh-CN" sz="1200" b="1" dirty="0">
                          <a:solidFill>
                            <a:schemeClr val="bg2"/>
                          </a:solidFill>
                          <a:latin typeface="Times New Roman" panose="02020603050405020304" pitchFamily="18" charset="0"/>
                          <a:ea typeface="宋体" panose="02010600030101010101" pitchFamily="2" charset="-122"/>
                        </a:rPr>
                        <a:t>L+ Fe</a:t>
                      </a:r>
                      <a:r>
                        <a:rPr lang="en-US" altLang="zh-CN" sz="1200" b="1" baseline="-30000" dirty="0">
                          <a:solidFill>
                            <a:schemeClr val="bg2"/>
                          </a:solidFill>
                          <a:latin typeface="Times New Roman" panose="02020603050405020304" pitchFamily="18" charset="0"/>
                          <a:ea typeface="宋体" panose="02010600030101010101" pitchFamily="2" charset="-122"/>
                        </a:rPr>
                        <a:t>3</a:t>
                      </a:r>
                      <a:r>
                        <a:rPr lang="en-US" altLang="zh-CN" sz="1200" b="1" dirty="0">
                          <a:solidFill>
                            <a:schemeClr val="bg2"/>
                          </a:solidFill>
                          <a:latin typeface="Times New Roman" panose="02020603050405020304" pitchFamily="18" charset="0"/>
                          <a:ea typeface="宋体" panose="02010600030101010101" pitchFamily="2" charset="-122"/>
                        </a:rPr>
                        <a:t>C</a:t>
                      </a:r>
                    </a:p>
                  </p:txBody>
                </p:sp>
              </p:grpSp>
              <p:sp>
                <p:nvSpPr>
                  <p:cNvPr id="112662" name="Text Box 16"/>
                  <p:cNvSpPr txBox="1">
                    <a:spLocks noChangeAspect="1"/>
                  </p:cNvSpPr>
                  <p:nvPr/>
                </p:nvSpPr>
                <p:spPr>
                  <a:xfrm>
                    <a:off x="3166" y="2016"/>
                    <a:ext cx="387" cy="387"/>
                  </a:xfrm>
                  <a:prstGeom prst="rect">
                    <a:avLst/>
                  </a:prstGeom>
                  <a:noFill/>
                  <a:ln w="9525">
                    <a:noFill/>
                  </a:ln>
                </p:spPr>
                <p:txBody>
                  <a:bodyPr>
                    <a:spAutoFit/>
                  </a:bodyPr>
                  <a:lstStyle/>
                  <a:p>
                    <a:pPr lvl="0" eaLnBrk="1" hangingPunct="1">
                      <a:spcBef>
                        <a:spcPct val="50000"/>
                      </a:spcBef>
                    </a:pPr>
                    <a:r>
                      <a:rPr lang="en-US" altLang="zh-CN" sz="1200" b="1" dirty="0">
                        <a:solidFill>
                          <a:schemeClr val="bg2"/>
                        </a:solidFill>
                        <a:latin typeface="Times New Roman" panose="02020603050405020304" pitchFamily="18" charset="0"/>
                        <a:ea typeface="宋体" panose="02010600030101010101" pitchFamily="2" charset="-122"/>
                      </a:rPr>
                      <a:t>δ+ </a:t>
                    </a:r>
                    <a:r>
                      <a:rPr lang="en-US" altLang="zh-CN" sz="1200" b="1" dirty="0">
                        <a:solidFill>
                          <a:schemeClr val="bg2"/>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112663" name="Line 17"/>
                  <p:cNvSpPr>
                    <a:spLocks noChangeAspect="1"/>
                  </p:cNvSpPr>
                  <p:nvPr/>
                </p:nvSpPr>
                <p:spPr>
                  <a:xfrm flipH="1">
                    <a:off x="3408" y="1872"/>
                    <a:ext cx="96" cy="192"/>
                  </a:xfrm>
                  <a:prstGeom prst="line">
                    <a:avLst/>
                  </a:prstGeom>
                  <a:ln w="9525" cap="flat" cmpd="sng">
                    <a:solidFill>
                      <a:schemeClr val="bg2"/>
                    </a:solidFill>
                    <a:prstDash val="solid"/>
                    <a:miter/>
                    <a:headEnd type="none" w="med" len="med"/>
                    <a:tailEnd type="none" w="med" len="med"/>
                  </a:ln>
                </p:spPr>
              </p:sp>
            </p:grpSp>
            <p:sp>
              <p:nvSpPr>
                <p:cNvPr id="112660" name="Text Box 18"/>
                <p:cNvSpPr txBox="1">
                  <a:spLocks noChangeAspect="1"/>
                </p:cNvSpPr>
                <p:nvPr/>
              </p:nvSpPr>
              <p:spPr>
                <a:xfrm>
                  <a:off x="4513" y="2448"/>
                  <a:ext cx="526" cy="387"/>
                </a:xfrm>
                <a:prstGeom prst="rect">
                  <a:avLst/>
                </a:prstGeom>
                <a:noFill/>
                <a:ln w="9525">
                  <a:noFill/>
                </a:ln>
              </p:spPr>
              <p:txBody>
                <a:bodyPr>
                  <a:spAutoFit/>
                </a:bodyPr>
                <a:lstStyle/>
                <a:p>
                  <a:pPr lvl="0" eaLnBrk="1" hangingPunct="1">
                    <a:spcBef>
                      <a:spcPct val="50000"/>
                    </a:spcBef>
                  </a:pPr>
                  <a:r>
                    <a:rPr lang="en-US" altLang="zh-CN" sz="1200" b="1" dirty="0">
                      <a:solidFill>
                        <a:schemeClr val="bg2"/>
                      </a:solidFill>
                      <a:latin typeface="Times New Roman" panose="02020603050405020304" pitchFamily="18" charset="0"/>
                      <a:ea typeface="宋体" panose="02010600030101010101" pitchFamily="2" charset="-122"/>
                      <a:sym typeface="Symbol" panose="05050102010706020507" pitchFamily="18" charset="2"/>
                    </a:rPr>
                    <a:t> </a:t>
                  </a:r>
                  <a:r>
                    <a:rPr lang="en-US" altLang="zh-CN" sz="1200" b="1" dirty="0">
                      <a:solidFill>
                        <a:schemeClr val="bg2"/>
                      </a:solidFill>
                      <a:latin typeface="Times New Roman" panose="02020603050405020304" pitchFamily="18" charset="0"/>
                      <a:ea typeface="宋体" panose="02010600030101010101" pitchFamily="2" charset="-122"/>
                    </a:rPr>
                    <a:t>+ Fe</a:t>
                  </a:r>
                  <a:r>
                    <a:rPr lang="en-US" altLang="zh-CN" sz="1200" b="1" baseline="-30000" dirty="0">
                      <a:solidFill>
                        <a:schemeClr val="bg2"/>
                      </a:solidFill>
                      <a:latin typeface="Times New Roman" panose="02020603050405020304" pitchFamily="18" charset="0"/>
                      <a:ea typeface="宋体" panose="02010600030101010101" pitchFamily="2" charset="-122"/>
                    </a:rPr>
                    <a:t>3</a:t>
                  </a:r>
                  <a:r>
                    <a:rPr lang="en-US" altLang="zh-CN" sz="1200" b="1" dirty="0">
                      <a:solidFill>
                        <a:schemeClr val="bg2"/>
                      </a:solidFill>
                      <a:latin typeface="Times New Roman" panose="02020603050405020304" pitchFamily="18" charset="0"/>
                      <a:ea typeface="宋体" panose="02010600030101010101" pitchFamily="2" charset="-122"/>
                    </a:rPr>
                    <a:t>C</a:t>
                  </a:r>
                </a:p>
              </p:txBody>
            </p:sp>
          </p:grpSp>
          <p:sp>
            <p:nvSpPr>
              <p:cNvPr id="112657" name="Text Box 19"/>
              <p:cNvSpPr txBox="1">
                <a:spLocks noChangeAspect="1"/>
              </p:cNvSpPr>
              <p:nvPr/>
            </p:nvSpPr>
            <p:spPr>
              <a:xfrm>
                <a:off x="3553" y="2399"/>
                <a:ext cx="383" cy="388"/>
              </a:xfrm>
              <a:prstGeom prst="rect">
                <a:avLst/>
              </a:prstGeom>
              <a:noFill/>
              <a:ln w="9525">
                <a:noFill/>
              </a:ln>
            </p:spPr>
            <p:txBody>
              <a:bodyPr>
                <a:spAutoFit/>
              </a:bodyPr>
              <a:lstStyle/>
              <a:p>
                <a:pPr lvl="0" eaLnBrk="1" hangingPunct="1">
                  <a:spcBef>
                    <a:spcPct val="50000"/>
                  </a:spcBef>
                </a:pPr>
                <a:r>
                  <a:rPr lang="en-US" altLang="zh-CN" sz="1200" b="1" dirty="0">
                    <a:solidFill>
                      <a:schemeClr val="bg2"/>
                    </a:solidFill>
                    <a:latin typeface="Times New Roman" panose="02020603050405020304" pitchFamily="18" charset="0"/>
                    <a:ea typeface="宋体" panose="02010600030101010101" pitchFamily="2" charset="-122"/>
                    <a:sym typeface="Symbol" panose="05050102010706020507" pitchFamily="18" charset="2"/>
                  </a:rPr>
                  <a:t> </a:t>
                </a:r>
                <a:r>
                  <a:rPr lang="en-US" altLang="zh-CN" sz="1200" b="1" dirty="0">
                    <a:solidFill>
                      <a:schemeClr val="bg2"/>
                    </a:solidFill>
                    <a:latin typeface="Times New Roman" panose="02020603050405020304" pitchFamily="18" charset="0"/>
                    <a:ea typeface="宋体" panose="02010600030101010101" pitchFamily="2" charset="-122"/>
                  </a:rPr>
                  <a:t>+ </a:t>
                </a:r>
                <a:r>
                  <a:rPr lang="en-US" altLang="zh-CN" sz="1200" b="1" dirty="0">
                    <a:solidFill>
                      <a:schemeClr val="bg2"/>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112658" name="Line 20"/>
              <p:cNvSpPr>
                <a:spLocks noChangeAspect="1"/>
              </p:cNvSpPr>
              <p:nvPr/>
            </p:nvSpPr>
            <p:spPr>
              <a:xfrm flipV="1">
                <a:off x="3564" y="2508"/>
                <a:ext cx="96" cy="144"/>
              </a:xfrm>
              <a:prstGeom prst="line">
                <a:avLst/>
              </a:prstGeom>
              <a:ln w="9525" cap="flat" cmpd="sng">
                <a:solidFill>
                  <a:schemeClr val="bg2"/>
                </a:solidFill>
                <a:prstDash val="solid"/>
                <a:miter/>
                <a:headEnd type="none" w="med" len="med"/>
                <a:tailEnd type="none" w="med" len="med"/>
              </a:ln>
            </p:spPr>
          </p:sp>
        </p:grpSp>
        <p:sp>
          <p:nvSpPr>
            <p:cNvPr id="112655" name="Text Box 21"/>
            <p:cNvSpPr txBox="1">
              <a:spLocks noChangeAspect="1"/>
            </p:cNvSpPr>
            <p:nvPr/>
          </p:nvSpPr>
          <p:spPr>
            <a:xfrm>
              <a:off x="4271" y="3072"/>
              <a:ext cx="576" cy="233"/>
            </a:xfrm>
            <a:prstGeom prst="rect">
              <a:avLst/>
            </a:prstGeom>
            <a:noFill/>
            <a:ln w="9525">
              <a:noFill/>
            </a:ln>
          </p:spPr>
          <p:txBody>
            <a:bodyPr>
              <a:spAutoFit/>
            </a:bodyPr>
            <a:lstStyle/>
            <a:p>
              <a:pPr lvl="0" eaLnBrk="1" hangingPunct="1">
                <a:spcBef>
                  <a:spcPct val="50000"/>
                </a:spcBef>
              </a:pPr>
              <a:r>
                <a:rPr lang="en-US" altLang="zh-CN" sz="1200" b="1" dirty="0">
                  <a:solidFill>
                    <a:schemeClr val="bg2"/>
                  </a:solidFill>
                  <a:latin typeface="Times New Roman" panose="02020603050405020304" pitchFamily="18" charset="0"/>
                  <a:ea typeface="宋体" panose="02010600030101010101" pitchFamily="2" charset="-122"/>
                </a:rPr>
                <a:t>F+ Fe</a:t>
              </a:r>
              <a:r>
                <a:rPr lang="en-US" altLang="zh-CN" sz="1200" b="1" baseline="-30000" dirty="0">
                  <a:solidFill>
                    <a:schemeClr val="bg2"/>
                  </a:solidFill>
                  <a:latin typeface="Times New Roman" panose="02020603050405020304" pitchFamily="18" charset="0"/>
                  <a:ea typeface="宋体" panose="02010600030101010101" pitchFamily="2" charset="-122"/>
                </a:rPr>
                <a:t>3</a:t>
              </a:r>
              <a:r>
                <a:rPr lang="en-US" altLang="zh-CN" sz="1200" b="1" dirty="0">
                  <a:solidFill>
                    <a:schemeClr val="bg2"/>
                  </a:solidFill>
                  <a:latin typeface="Times New Roman" panose="02020603050405020304" pitchFamily="18" charset="0"/>
                  <a:ea typeface="宋体" panose="02010600030101010101" pitchFamily="2" charset="-122"/>
                </a:rPr>
                <a:t>C</a:t>
              </a:r>
            </a:p>
          </p:txBody>
        </p:sp>
      </p:grpSp>
      <p:grpSp>
        <p:nvGrpSpPr>
          <p:cNvPr id="112647" name="Group 25"/>
          <p:cNvGrpSpPr/>
          <p:nvPr/>
        </p:nvGrpSpPr>
        <p:grpSpPr>
          <a:xfrm>
            <a:off x="6363603" y="4476372"/>
            <a:ext cx="2245659" cy="1119385"/>
            <a:chOff x="4014" y="2251"/>
            <a:chExt cx="1610" cy="1211"/>
          </a:xfrm>
        </p:grpSpPr>
        <p:pic>
          <p:nvPicPr>
            <p:cNvPr id="112652" name="Picture 22" descr="珠光体1"/>
            <p:cNvPicPr>
              <a:picLocks noChangeAspect="1"/>
            </p:cNvPicPr>
            <p:nvPr/>
          </p:nvPicPr>
          <p:blipFill>
            <a:blip r:embed="rId3"/>
            <a:stretch>
              <a:fillRect/>
            </a:stretch>
          </p:blipFill>
          <p:spPr>
            <a:xfrm>
              <a:off x="4014" y="2251"/>
              <a:ext cx="1610" cy="1211"/>
            </a:xfrm>
            <a:prstGeom prst="rect">
              <a:avLst/>
            </a:prstGeom>
            <a:noFill/>
            <a:ln w="38100" cap="flat" cmpd="sng">
              <a:solidFill>
                <a:srgbClr val="FF6600"/>
              </a:solidFill>
              <a:prstDash val="solid"/>
              <a:miter/>
              <a:headEnd type="none" w="med" len="med"/>
              <a:tailEnd type="none" w="med" len="med"/>
            </a:ln>
          </p:spPr>
        </p:pic>
        <p:sp>
          <p:nvSpPr>
            <p:cNvPr id="112653" name="Rectangle 24"/>
            <p:cNvSpPr/>
            <p:nvPr/>
          </p:nvSpPr>
          <p:spPr>
            <a:xfrm>
              <a:off x="4059" y="3294"/>
              <a:ext cx="707" cy="144"/>
            </a:xfrm>
            <a:prstGeom prst="rect">
              <a:avLst/>
            </a:prstGeom>
            <a:solidFill>
              <a:schemeClr val="bg1"/>
            </a:solidFill>
            <a:ln w="9525">
              <a:noFill/>
            </a:ln>
          </p:spPr>
          <p:txBody>
            <a:bodyPr wrap="none" anchor="ctr"/>
            <a:lstStyle/>
            <a:p>
              <a:pPr lvl="0" algn="ctr" eaLnBrk="1" hangingPunct="1"/>
              <a:r>
                <a:rPr lang="zh-CN" altLang="en-US" sz="1600" b="1" dirty="0">
                  <a:solidFill>
                    <a:srgbClr val="0000FF"/>
                  </a:solidFill>
                  <a:latin typeface="Times New Roman" panose="02020603050405020304" pitchFamily="18" charset="0"/>
                  <a:ea typeface="宋体" panose="02010600030101010101" pitchFamily="2" charset="-122"/>
                </a:rPr>
                <a:t>珠光体</a:t>
              </a:r>
              <a:r>
                <a:rPr lang="en-US" altLang="zh-CN" sz="1600" b="1" dirty="0">
                  <a:solidFill>
                    <a:srgbClr val="0000FF"/>
                  </a:solidFill>
                  <a:latin typeface="Times New Roman" panose="02020603050405020304" pitchFamily="18" charset="0"/>
                  <a:ea typeface="宋体" panose="02010600030101010101" pitchFamily="2" charset="-122"/>
                </a:rPr>
                <a:t>(</a:t>
              </a:r>
              <a:r>
                <a:rPr lang="zh-CN" altLang="en-US" sz="1600" b="1" dirty="0">
                  <a:solidFill>
                    <a:schemeClr val="bg1"/>
                  </a:solidFill>
                  <a:latin typeface="Times New Roman" panose="02020603050405020304" pitchFamily="18" charset="0"/>
                  <a:ea typeface="宋体" panose="02010600030101010101" pitchFamily="2" charset="-122"/>
                </a:rPr>
                <a:t>光镜</a:t>
              </a:r>
              <a:r>
                <a:rPr lang="en-US" altLang="zh-CN" sz="1600" b="1" dirty="0">
                  <a:solidFill>
                    <a:schemeClr val="bg1"/>
                  </a:solidFill>
                  <a:latin typeface="Times New Roman" panose="02020603050405020304" pitchFamily="18" charset="0"/>
                  <a:ea typeface="宋体" panose="02010600030101010101" pitchFamily="2" charset="-122"/>
                </a:rPr>
                <a:t>)</a:t>
              </a:r>
            </a:p>
          </p:txBody>
        </p:sp>
      </p:grpSp>
      <p:grpSp>
        <p:nvGrpSpPr>
          <p:cNvPr id="10" name="Group 26"/>
          <p:cNvGrpSpPr/>
          <p:nvPr/>
        </p:nvGrpSpPr>
        <p:grpSpPr>
          <a:xfrm>
            <a:off x="6400800" y="5738117"/>
            <a:ext cx="2162175" cy="1089735"/>
            <a:chOff x="384" y="2352"/>
            <a:chExt cx="1728" cy="1556"/>
          </a:xfrm>
        </p:grpSpPr>
        <p:pic>
          <p:nvPicPr>
            <p:cNvPr id="112650" name="Picture 27" descr="pearlite"/>
            <p:cNvPicPr>
              <a:picLocks noChangeAspect="1"/>
            </p:cNvPicPr>
            <p:nvPr/>
          </p:nvPicPr>
          <p:blipFill>
            <a:blip r:embed="rId4"/>
            <a:stretch>
              <a:fillRect/>
            </a:stretch>
          </p:blipFill>
          <p:spPr>
            <a:xfrm>
              <a:off x="384" y="2352"/>
              <a:ext cx="1728" cy="1264"/>
            </a:xfrm>
            <a:prstGeom prst="rect">
              <a:avLst/>
            </a:prstGeom>
            <a:noFill/>
            <a:ln w="9525">
              <a:noFill/>
            </a:ln>
          </p:spPr>
        </p:pic>
        <p:sp>
          <p:nvSpPr>
            <p:cNvPr id="112651" name="Rectangle 28"/>
            <p:cNvSpPr/>
            <p:nvPr/>
          </p:nvSpPr>
          <p:spPr>
            <a:xfrm>
              <a:off x="1064" y="3607"/>
              <a:ext cx="819" cy="301"/>
            </a:xfrm>
            <a:prstGeom prst="rect">
              <a:avLst/>
            </a:prstGeom>
            <a:solidFill>
              <a:schemeClr val="bg1"/>
            </a:solidFill>
            <a:ln w="9525" cap="flat" cmpd="sng">
              <a:noFill/>
              <a:prstDash val="solid"/>
              <a:miter/>
              <a:headEnd type="none" w="med" len="med"/>
              <a:tailEnd type="none" w="med" len="med"/>
            </a:ln>
          </p:spPr>
          <p:txBody>
            <a:bodyPr wrap="none" anchor="ctr"/>
            <a:lstStyle/>
            <a:p>
              <a:pPr lvl="0" algn="ctr" eaLnBrk="1" hangingPunct="1"/>
              <a:r>
                <a:rPr lang="zh-CN" altLang="en-US" sz="1600" b="1" dirty="0">
                  <a:solidFill>
                    <a:srgbClr val="CC0000"/>
                  </a:solidFill>
                  <a:latin typeface="Times New Roman" panose="02020603050405020304" pitchFamily="18" charset="0"/>
                  <a:ea typeface="宋体" panose="02010600030101010101" pitchFamily="2" charset="-122"/>
                </a:rPr>
                <a:t>扫描电镜形貌</a:t>
              </a:r>
            </a:p>
          </p:txBody>
        </p:sp>
      </p:grpSp>
      <p:pic>
        <p:nvPicPr>
          <p:cNvPr id="31" name="内容占位符 1" descr="新校徽（3M）弓之乐"/>
          <p:cNvPicPr>
            <a:picLocks noChangeAspect="1"/>
          </p:cNvPicPr>
          <p:nvPr/>
        </p:nvPicPr>
        <p:blipFill>
          <a:blip r:embed="rId5"/>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日期占位符 3"/>
          <p:cNvSpPr txBox="1">
            <a:spLocks noGrp="1"/>
          </p:cNvSpPr>
          <p:nvPr>
            <p:ph type="dt" sz="half" idx="10"/>
          </p:nvPr>
        </p:nvSpPr>
        <p:spPr>
          <a:xfrm>
            <a:off x="0" y="6510338"/>
            <a:ext cx="2162175"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13667" name="灯片编号占位符 5"/>
          <p:cNvSpPr txBox="1">
            <a:spLocks noGrp="1"/>
          </p:cNvSpPr>
          <p:nvPr>
            <p:ph type="sldNum" sz="quarter" idx="12"/>
          </p:nvPr>
        </p:nvSpPr>
        <p:spPr>
          <a:xfrm>
            <a:off x="8601710" y="6583680"/>
            <a:ext cx="542290" cy="274320"/>
          </a:xfrm>
        </p:spPr>
        <p:txBody>
          <a:bodyPr lIns="92075" tIns="46038" rIns="92075" bIns="46038" anchor="ctr"/>
          <a:lstStyle/>
          <a:p>
            <a:pPr algn="r" eaLnBrk="1" hangingPunct="1"/>
            <a:fld id="{9A0DB2DC-4C9A-4742-B13C-FB6460FD3503}" type="slidenum">
              <a:rPr lang="en-US" altLang="zh-CN" sz="1400" dirty="0"/>
              <a:t>118</a:t>
            </a:fld>
            <a:endParaRPr lang="en-US" altLang="zh-CN" sz="1400" dirty="0"/>
          </a:p>
        </p:txBody>
      </p:sp>
      <p:sp>
        <p:nvSpPr>
          <p:cNvPr id="250882" name="Rectangle 2"/>
          <p:cNvSpPr>
            <a:spLocks noGrp="1" noChangeArrowheads="1"/>
          </p:cNvSpPr>
          <p:nvPr>
            <p:ph type="title"/>
          </p:nvPr>
        </p:nvSpPr>
        <p:spPr>
          <a:xfrm>
            <a:off x="1143000" y="0"/>
            <a:ext cx="7772400" cy="1340768"/>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400" b="1" i="0" u="none" strike="noStrike" kern="0" cap="none" spc="0" normalizeH="0" baseline="0" noProof="0" dirty="0">
                <a:ln>
                  <a:noFill/>
                </a:ln>
                <a:solidFill>
                  <a:srgbClr val="FF0000"/>
                </a:solidFill>
                <a:effectLst/>
                <a:uLnTx/>
                <a:uFillTx/>
                <a:latin typeface="Times New Roman" panose="02020603050405020304" pitchFamily="18" charset="0"/>
                <a:ea typeface="华文中宋" panose="02010600040101010101" pitchFamily="2" charset="-122"/>
                <a:cs typeface="+mj-cs"/>
              </a:rPr>
              <a:t>铁碳合金相图分析</a:t>
            </a:r>
            <a:r>
              <a:rPr kumimoji="1" lang="en-US" altLang="zh-CN" sz="4400" b="1" i="0" u="none" strike="noStrike" kern="0" cap="none" spc="0" normalizeH="0" baseline="0" noProof="0" dirty="0">
                <a:ln>
                  <a:noFill/>
                </a:ln>
                <a:solidFill>
                  <a:srgbClr val="FF0000"/>
                </a:solidFill>
                <a:effectLst/>
                <a:uLnTx/>
                <a:uFillTx/>
                <a:latin typeface="Times New Roman" panose="02020603050405020304" pitchFamily="18" charset="0"/>
                <a:ea typeface="华文中宋" panose="02010600040101010101" pitchFamily="2" charset="-122"/>
                <a:cs typeface="+mj-cs"/>
              </a:rPr>
              <a:t>—</a:t>
            </a:r>
            <a:r>
              <a:rPr kumimoji="1" lang="en-US" altLang="zh-CN" sz="4400"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华文中宋" panose="02010600040101010101" pitchFamily="2" charset="-122"/>
                <a:cs typeface="+mj-cs"/>
              </a:rPr>
              <a:t>⒉ </a:t>
            </a:r>
            <a:r>
              <a:rPr kumimoji="1" lang="zh-CN" altLang="en-US" sz="4400"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华文中宋" panose="02010600040101010101" pitchFamily="2" charset="-122"/>
                <a:cs typeface="+mj-cs"/>
              </a:rPr>
              <a:t>特征线</a:t>
            </a:r>
          </a:p>
        </p:txBody>
      </p:sp>
      <p:sp>
        <p:nvSpPr>
          <p:cNvPr id="113669" name="Rectangle 3"/>
          <p:cNvSpPr>
            <a:spLocks noGrp="1"/>
          </p:cNvSpPr>
          <p:nvPr>
            <p:ph idx="1"/>
          </p:nvPr>
        </p:nvSpPr>
        <p:spPr>
          <a:xfrm>
            <a:off x="323850" y="1978025"/>
            <a:ext cx="5851525" cy="4349115"/>
          </a:xfrm>
        </p:spPr>
        <p:txBody>
          <a:bodyPr vert="horz" wrap="square" lIns="91440" tIns="45720" rIns="91440" bIns="45720" anchor="t"/>
          <a:lstStyle/>
          <a:p>
            <a:pPr eaLnBrk="1" hangingPunct="1"/>
            <a:r>
              <a:rPr lang="en-US" altLang="zh-CN" b="1" dirty="0">
                <a:ea typeface="华文中宋" panose="02010600040101010101" pitchFamily="2" charset="-122"/>
              </a:rPr>
              <a:t>⑶ </a:t>
            </a:r>
            <a:r>
              <a:rPr lang="zh-CN" altLang="en-US" b="1" dirty="0">
                <a:ea typeface="华文中宋" panose="02010600040101010101" pitchFamily="2" charset="-122"/>
              </a:rPr>
              <a:t>其它相线</a:t>
            </a:r>
          </a:p>
          <a:p>
            <a:pPr eaLnBrk="1" latinLnBrk="0" hangingPunct="1">
              <a:lnSpc>
                <a:spcPct val="110000"/>
              </a:lnSpc>
              <a:spcBef>
                <a:spcPts val="0"/>
              </a:spcBef>
            </a:pPr>
            <a:r>
              <a:rPr lang="en-US" altLang="zh-CN" b="1" dirty="0">
                <a:ea typeface="华文中宋" panose="02010600040101010101" pitchFamily="2" charset="-122"/>
              </a:rPr>
              <a:t>GS,GP—</a:t>
            </a:r>
            <a:r>
              <a:rPr lang="en-US" altLang="zh-CN" b="1" i="1" dirty="0">
                <a:ea typeface="华文中宋" panose="02010600040101010101" pitchFamily="2" charset="-122"/>
                <a:sym typeface="Symbol" panose="05050102010706020507" pitchFamily="18" charset="2"/>
              </a:rPr>
              <a:t></a:t>
            </a:r>
            <a:r>
              <a:rPr lang="en-US" altLang="zh-CN" b="1" dirty="0">
                <a:ea typeface="华文中宋" panose="02010600040101010101" pitchFamily="2" charset="-122"/>
                <a:sym typeface="Symbol" panose="05050102010706020507" pitchFamily="18" charset="2"/>
              </a:rPr>
              <a:t>  </a:t>
            </a:r>
            <a:r>
              <a:rPr lang="en-US" altLang="zh-CN" b="1" dirty="0">
                <a:ea typeface="Arial Unicode MS" panose="020B0604020202020204" charset="-122"/>
              </a:rPr>
              <a:t>⇄</a:t>
            </a:r>
            <a:r>
              <a:rPr lang="en-US" altLang="zh-CN" b="1" dirty="0">
                <a:ea typeface="华文中宋" panose="02010600040101010101" pitchFamily="2" charset="-122"/>
              </a:rPr>
              <a:t> </a:t>
            </a:r>
            <a:r>
              <a:rPr lang="en-US" altLang="zh-CN" b="1" i="1" dirty="0">
                <a:ea typeface="华文中宋" panose="02010600040101010101" pitchFamily="2" charset="-122"/>
                <a:sym typeface="Symbol" panose="05050102010706020507" pitchFamily="18" charset="2"/>
              </a:rPr>
              <a:t></a:t>
            </a:r>
            <a:r>
              <a:rPr lang="en-US" altLang="zh-CN" b="1" dirty="0">
                <a:ea typeface="华文中宋" panose="02010600040101010101" pitchFamily="2" charset="-122"/>
                <a:sym typeface="Symbol" panose="05050102010706020507" pitchFamily="18" charset="2"/>
              </a:rPr>
              <a:t> </a:t>
            </a:r>
            <a:r>
              <a:rPr lang="zh-CN" altLang="en-US" b="1" dirty="0">
                <a:ea typeface="华文中宋" panose="02010600040101010101" pitchFamily="2" charset="-122"/>
              </a:rPr>
              <a:t>固溶体转变线</a:t>
            </a:r>
            <a:r>
              <a:rPr lang="en-US" altLang="zh-CN" b="1" dirty="0">
                <a:ea typeface="华文中宋" panose="02010600040101010101" pitchFamily="2" charset="-122"/>
              </a:rPr>
              <a:t>, </a:t>
            </a:r>
            <a:r>
              <a:rPr lang="en-US" altLang="zh-CN" b="1" dirty="0">
                <a:solidFill>
                  <a:srgbClr val="0000FF"/>
                </a:solidFill>
                <a:ea typeface="华文中宋" panose="02010600040101010101" pitchFamily="2" charset="-122"/>
              </a:rPr>
              <a:t>GS</a:t>
            </a:r>
            <a:r>
              <a:rPr lang="zh-CN" altLang="en-US" b="1" dirty="0">
                <a:ea typeface="华文中宋" panose="02010600040101010101" pitchFamily="2" charset="-122"/>
              </a:rPr>
              <a:t>又称</a:t>
            </a:r>
            <a:r>
              <a:rPr lang="en-US" altLang="zh-CN" b="1" dirty="0">
                <a:solidFill>
                  <a:srgbClr val="0000FF"/>
                </a:solidFill>
                <a:ea typeface="华文中宋" panose="02010600040101010101" pitchFamily="2" charset="-122"/>
              </a:rPr>
              <a:t>A</a:t>
            </a:r>
            <a:r>
              <a:rPr lang="en-US" altLang="zh-CN" b="1" baseline="-30000" dirty="0">
                <a:solidFill>
                  <a:srgbClr val="0000FF"/>
                </a:solidFill>
                <a:ea typeface="华文中宋" panose="02010600040101010101" pitchFamily="2" charset="-122"/>
              </a:rPr>
              <a:t>3</a:t>
            </a:r>
            <a:r>
              <a:rPr lang="en-US" altLang="zh-CN" b="1" baseline="-30000" dirty="0">
                <a:ea typeface="华文中宋" panose="02010600040101010101" pitchFamily="2" charset="-122"/>
              </a:rPr>
              <a:t> </a:t>
            </a:r>
            <a:r>
              <a:rPr lang="zh-CN" altLang="en-US" b="1" dirty="0">
                <a:ea typeface="华文中宋" panose="02010600040101010101" pitchFamily="2" charset="-122"/>
              </a:rPr>
              <a:t>线。</a:t>
            </a:r>
          </a:p>
          <a:p>
            <a:pPr eaLnBrk="1" hangingPunct="1">
              <a:lnSpc>
                <a:spcPct val="110000"/>
              </a:lnSpc>
            </a:pPr>
            <a:r>
              <a:rPr lang="en-US" altLang="zh-CN" b="1" dirty="0">
                <a:ea typeface="华文中宋" panose="02010600040101010101" pitchFamily="2" charset="-122"/>
              </a:rPr>
              <a:t>HN,JN—</a:t>
            </a:r>
            <a:r>
              <a:rPr lang="en-US" altLang="zh-CN" b="1" i="1" dirty="0">
                <a:solidFill>
                  <a:srgbClr val="0000FF"/>
                </a:solidFill>
                <a:ea typeface="华文中宋" panose="02010600040101010101" pitchFamily="2" charset="-122"/>
                <a:sym typeface="Symbol" panose="05050102010706020507" pitchFamily="18" charset="2"/>
              </a:rPr>
              <a:t>δ</a:t>
            </a:r>
            <a:r>
              <a:rPr lang="en-US" altLang="zh-CN" b="1" dirty="0">
                <a:solidFill>
                  <a:srgbClr val="0000FF"/>
                </a:solidFill>
                <a:ea typeface="华文中宋" panose="02010600040101010101" pitchFamily="2" charset="-122"/>
                <a:sym typeface="Symbol" panose="05050102010706020507" pitchFamily="18" charset="2"/>
              </a:rPr>
              <a:t> </a:t>
            </a:r>
            <a:r>
              <a:rPr lang="en-US" altLang="zh-CN" b="1" dirty="0">
                <a:solidFill>
                  <a:srgbClr val="0000FF"/>
                </a:solidFill>
                <a:ea typeface="华文中宋" panose="02010600040101010101" pitchFamily="2" charset="-122"/>
              </a:rPr>
              <a:t>⇄ </a:t>
            </a:r>
            <a:r>
              <a:rPr lang="en-US" altLang="zh-CN" b="1" dirty="0">
                <a:solidFill>
                  <a:srgbClr val="0000FF"/>
                </a:solidFill>
                <a:ea typeface="华文中宋" panose="02010600040101010101" pitchFamily="2" charset="-122"/>
                <a:sym typeface="Symbol" panose="05050102010706020507" pitchFamily="18" charset="2"/>
              </a:rPr>
              <a:t></a:t>
            </a:r>
            <a:r>
              <a:rPr lang="en-US" altLang="zh-CN" b="1" dirty="0">
                <a:ea typeface="华文中宋" panose="02010600040101010101" pitchFamily="2" charset="-122"/>
                <a:sym typeface="Symbol" panose="05050102010706020507" pitchFamily="18" charset="2"/>
              </a:rPr>
              <a:t> </a:t>
            </a:r>
            <a:r>
              <a:rPr lang="zh-CN" altLang="en-US" b="1" dirty="0">
                <a:ea typeface="华文中宋" panose="02010600040101010101" pitchFamily="2" charset="-122"/>
              </a:rPr>
              <a:t>固溶体转变线</a:t>
            </a:r>
          </a:p>
          <a:p>
            <a:pPr eaLnBrk="1" hangingPunct="1">
              <a:lnSpc>
                <a:spcPct val="110000"/>
              </a:lnSpc>
            </a:pPr>
            <a:r>
              <a:rPr lang="en-US" altLang="zh-CN" b="1" dirty="0">
                <a:ea typeface="华文中宋" panose="02010600040101010101" pitchFamily="2" charset="-122"/>
              </a:rPr>
              <a:t>ES—</a:t>
            </a:r>
            <a:r>
              <a:rPr lang="zh-CN" altLang="en-US" b="1" dirty="0">
                <a:ea typeface="华文中宋" panose="02010600040101010101" pitchFamily="2" charset="-122"/>
              </a:rPr>
              <a:t>碳在</a:t>
            </a:r>
            <a:r>
              <a:rPr lang="zh-CN" altLang="en-US" b="1" i="1" dirty="0">
                <a:ea typeface="华文中宋" panose="02010600040101010101" pitchFamily="2" charset="-122"/>
                <a:sym typeface="Symbol" panose="05050102010706020507" pitchFamily="18" charset="2"/>
              </a:rPr>
              <a:t></a:t>
            </a:r>
            <a:r>
              <a:rPr lang="zh-CN" altLang="en-US" b="1" dirty="0">
                <a:ea typeface="华文中宋" panose="02010600040101010101" pitchFamily="2" charset="-122"/>
                <a:sym typeface="Symbol" panose="05050102010706020507" pitchFamily="18" charset="2"/>
              </a:rPr>
              <a:t> </a:t>
            </a:r>
            <a:r>
              <a:rPr lang="en-US" altLang="zh-CN" b="1" dirty="0">
                <a:ea typeface="华文中宋" panose="02010600040101010101" pitchFamily="2" charset="-122"/>
              </a:rPr>
              <a:t>-Fe</a:t>
            </a:r>
            <a:r>
              <a:rPr lang="zh-CN" altLang="en-US" b="1" dirty="0">
                <a:ea typeface="华文中宋" panose="02010600040101010101" pitchFamily="2" charset="-122"/>
              </a:rPr>
              <a:t>中的固溶线。又称</a:t>
            </a:r>
            <a:r>
              <a:rPr lang="en-US" altLang="zh-CN" b="1" dirty="0">
                <a:solidFill>
                  <a:srgbClr val="0000FF"/>
                </a:solidFill>
                <a:ea typeface="华文中宋" panose="02010600040101010101" pitchFamily="2" charset="-122"/>
              </a:rPr>
              <a:t>A</a:t>
            </a:r>
            <a:r>
              <a:rPr lang="en-US" altLang="zh-CN" b="1" baseline="-30000" dirty="0">
                <a:solidFill>
                  <a:srgbClr val="0000FF"/>
                </a:solidFill>
                <a:ea typeface="华文中宋" panose="02010600040101010101" pitchFamily="2" charset="-122"/>
              </a:rPr>
              <a:t>c m</a:t>
            </a:r>
            <a:r>
              <a:rPr lang="zh-CN" altLang="en-US" b="1" dirty="0">
                <a:solidFill>
                  <a:srgbClr val="0000FF"/>
                </a:solidFill>
                <a:ea typeface="华文中宋" panose="02010600040101010101" pitchFamily="2" charset="-122"/>
              </a:rPr>
              <a:t>线</a:t>
            </a:r>
            <a:r>
              <a:rPr lang="zh-CN" altLang="en-US" b="1" dirty="0">
                <a:ea typeface="华文中宋" panose="02010600040101010101" pitchFamily="2" charset="-122"/>
              </a:rPr>
              <a:t>。</a:t>
            </a:r>
          </a:p>
          <a:p>
            <a:pPr eaLnBrk="1" hangingPunct="1">
              <a:lnSpc>
                <a:spcPct val="110000"/>
              </a:lnSpc>
            </a:pPr>
            <a:r>
              <a:rPr lang="en-US" altLang="zh-CN" b="1" dirty="0">
                <a:ea typeface="华文中宋" panose="02010600040101010101" pitchFamily="2" charset="-122"/>
              </a:rPr>
              <a:t>PQ—</a:t>
            </a:r>
            <a:r>
              <a:rPr lang="zh-CN" altLang="en-US" b="1" dirty="0">
                <a:ea typeface="华文中宋" panose="02010600040101010101" pitchFamily="2" charset="-122"/>
              </a:rPr>
              <a:t>碳在</a:t>
            </a:r>
            <a:r>
              <a:rPr lang="zh-CN" altLang="en-US" b="1" i="1" dirty="0">
                <a:ea typeface="华文中宋" panose="02010600040101010101" pitchFamily="2" charset="-122"/>
                <a:sym typeface="Symbol" panose="05050102010706020507" pitchFamily="18" charset="2"/>
              </a:rPr>
              <a:t></a:t>
            </a:r>
            <a:r>
              <a:rPr lang="en-US" altLang="zh-CN" b="1" dirty="0">
                <a:ea typeface="华文中宋" panose="02010600040101010101" pitchFamily="2" charset="-122"/>
              </a:rPr>
              <a:t>-Fe</a:t>
            </a:r>
            <a:r>
              <a:rPr lang="zh-CN" altLang="en-US" b="1" dirty="0">
                <a:ea typeface="华文中宋" panose="02010600040101010101" pitchFamily="2" charset="-122"/>
              </a:rPr>
              <a:t>中的固溶线。</a:t>
            </a:r>
          </a:p>
        </p:txBody>
      </p:sp>
      <p:pic>
        <p:nvPicPr>
          <p:cNvPr id="250884" name="Picture 4" descr="2-21"/>
          <p:cNvPicPr>
            <a:picLocks noChangeAspect="1"/>
          </p:cNvPicPr>
          <p:nvPr/>
        </p:nvPicPr>
        <p:blipFill>
          <a:blip r:embed="rId3"/>
          <a:stretch>
            <a:fillRect/>
          </a:stretch>
        </p:blipFill>
        <p:spPr>
          <a:xfrm>
            <a:off x="6269990" y="2365375"/>
            <a:ext cx="2781935" cy="3676015"/>
          </a:xfrm>
          <a:prstGeom prst="rect">
            <a:avLst/>
          </a:prstGeom>
          <a:noFill/>
          <a:ln w="38100" cap="flat" cmpd="sng">
            <a:solidFill>
              <a:srgbClr val="FF9900"/>
            </a:solidFill>
            <a:prstDash val="solid"/>
            <a:miter/>
            <a:headEnd type="none" w="med" len="med"/>
            <a:tailEnd type="none" w="med" len="med"/>
          </a:ln>
        </p:spPr>
      </p:pic>
      <p:pic>
        <p:nvPicPr>
          <p:cNvPr id="8" name="内容占位符 1" descr="新校徽（3M）弓之乐"/>
          <p:cNvPicPr>
            <a:picLocks noChangeAspect="1"/>
          </p:cNvPicPr>
          <p:nvPr/>
        </p:nvPicPr>
        <p:blipFill>
          <a:blip r:embed="rId4"/>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50884"/>
                                        </p:tgtEl>
                                        <p:attrNameLst>
                                          <p:attrName>style.visibility</p:attrName>
                                        </p:attrNameLst>
                                      </p:cBhvr>
                                      <p:to>
                                        <p:strVal val="visible"/>
                                      </p:to>
                                    </p:set>
                                    <p:animEffect transition="in" filter="wipe(up)">
                                      <p:cBhvr>
                                        <p:cTn id="7" dur="500"/>
                                        <p:tgtEl>
                                          <p:spTgt spid="2508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日期占位符 3"/>
          <p:cNvSpPr txBox="1">
            <a:spLocks noGrp="1"/>
          </p:cNvSpPr>
          <p:nvPr>
            <p:ph type="dt" sz="half" idx="10"/>
          </p:nvPr>
        </p:nvSpPr>
        <p:spPr>
          <a:xfrm>
            <a:off x="0" y="6510338"/>
            <a:ext cx="2162175"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14691" name="灯片编号占位符 5"/>
          <p:cNvSpPr txBox="1">
            <a:spLocks noGrp="1"/>
          </p:cNvSpPr>
          <p:nvPr>
            <p:ph type="sldNum" sz="quarter" idx="12"/>
          </p:nvPr>
        </p:nvSpPr>
        <p:spPr>
          <a:xfrm>
            <a:off x="8569960" y="6584950"/>
            <a:ext cx="574040" cy="273050"/>
          </a:xfrm>
        </p:spPr>
        <p:txBody>
          <a:bodyPr lIns="92075" tIns="46038" rIns="92075" bIns="46038" anchor="ctr"/>
          <a:lstStyle/>
          <a:p>
            <a:pPr algn="r" eaLnBrk="1" hangingPunct="1"/>
            <a:fld id="{9A0DB2DC-4C9A-4742-B13C-FB6460FD3503}" type="slidenum">
              <a:rPr lang="en-US" altLang="zh-CN" sz="1400" dirty="0"/>
              <a:t>119</a:t>
            </a:fld>
            <a:endParaRPr lang="en-US" altLang="zh-CN" sz="1400" dirty="0"/>
          </a:p>
        </p:txBody>
      </p:sp>
      <p:sp>
        <p:nvSpPr>
          <p:cNvPr id="114692" name="Rectangle 2"/>
          <p:cNvSpPr>
            <a:spLocks noGrp="1"/>
          </p:cNvSpPr>
          <p:nvPr>
            <p:ph type="title"/>
          </p:nvPr>
        </p:nvSpPr>
        <p:spPr>
          <a:xfrm>
            <a:off x="1454150" y="302940"/>
            <a:ext cx="7388225" cy="1000125"/>
          </a:xfrm>
        </p:spPr>
        <p:txBody>
          <a:bodyPr vert="horz" wrap="square" lIns="92075" tIns="46038" rIns="92075" bIns="46038" anchor="ctr"/>
          <a:lstStyle/>
          <a:p>
            <a:pPr eaLnBrk="1" hangingPunct="1"/>
            <a:r>
              <a:rPr lang="zh-CN" altLang="en-US" b="1" dirty="0">
                <a:solidFill>
                  <a:srgbClr val="FF0000"/>
                </a:solidFill>
                <a:latin typeface="Times New Roman" panose="02020603050405020304" pitchFamily="18" charset="0"/>
                <a:ea typeface="华文中宋" panose="02010600040101010101" pitchFamily="2" charset="-122"/>
              </a:rPr>
              <a:t>铁碳合金相图分析</a:t>
            </a:r>
            <a:r>
              <a:rPr lang="en-US" altLang="zh-CN" b="1" dirty="0">
                <a:solidFill>
                  <a:srgbClr val="FF0000"/>
                </a:solidFill>
                <a:latin typeface="Times New Roman" panose="02020603050405020304" pitchFamily="18" charset="0"/>
                <a:ea typeface="华文中宋" panose="02010600040101010101" pitchFamily="2" charset="-122"/>
              </a:rPr>
              <a:t>—</a:t>
            </a:r>
            <a:r>
              <a:rPr lang="en-US" altLang="zh-CN" b="1" dirty="0">
                <a:solidFill>
                  <a:srgbClr val="FF0000"/>
                </a:solidFill>
              </a:rPr>
              <a:t>⒊ </a:t>
            </a:r>
            <a:r>
              <a:rPr lang="zh-CN" altLang="en-US" b="1" dirty="0">
                <a:solidFill>
                  <a:srgbClr val="FF0000"/>
                </a:solidFill>
              </a:rPr>
              <a:t>相区</a:t>
            </a:r>
          </a:p>
        </p:txBody>
      </p:sp>
      <p:sp>
        <p:nvSpPr>
          <p:cNvPr id="114693" name="Rectangle 3"/>
          <p:cNvSpPr>
            <a:spLocks noGrp="1"/>
          </p:cNvSpPr>
          <p:nvPr>
            <p:ph idx="1"/>
          </p:nvPr>
        </p:nvSpPr>
        <p:spPr>
          <a:xfrm>
            <a:off x="354965" y="1873885"/>
            <a:ext cx="4897755" cy="4529455"/>
          </a:xfrm>
        </p:spPr>
        <p:txBody>
          <a:bodyPr vert="horz" wrap="square" lIns="91440" tIns="45720" rIns="91440" bIns="45720" anchor="t"/>
          <a:lstStyle/>
          <a:p>
            <a:pPr eaLnBrk="1" hangingPunct="1"/>
            <a:r>
              <a:rPr lang="en-US" altLang="zh-CN" sz="2800" b="1" dirty="0">
                <a:solidFill>
                  <a:srgbClr val="0000FF"/>
                </a:solidFill>
              </a:rPr>
              <a:t>⑴ </a:t>
            </a:r>
            <a:r>
              <a:rPr lang="zh-CN" altLang="en-US" sz="2800" b="1" dirty="0">
                <a:solidFill>
                  <a:srgbClr val="0000FF"/>
                </a:solidFill>
              </a:rPr>
              <a:t>五个单相区：</a:t>
            </a:r>
          </a:p>
          <a:p>
            <a:pPr eaLnBrk="1" hangingPunct="1"/>
            <a:r>
              <a:rPr lang="zh-CN" altLang="en-US" sz="2800" b="1" dirty="0"/>
              <a:t>    </a:t>
            </a:r>
            <a:r>
              <a:rPr lang="en-US" altLang="zh-CN" sz="2800" b="1" dirty="0"/>
              <a:t>L</a:t>
            </a:r>
            <a:r>
              <a:rPr lang="zh-CN" altLang="en-US" sz="2800" b="1" dirty="0"/>
              <a:t>、</a:t>
            </a:r>
            <a:r>
              <a:rPr lang="zh-CN" altLang="en-US" sz="2800" b="1" i="1" dirty="0">
                <a:sym typeface="Symbol" panose="05050102010706020507" pitchFamily="18" charset="2"/>
              </a:rPr>
              <a:t></a:t>
            </a:r>
            <a:r>
              <a:rPr lang="zh-CN" altLang="en-US" sz="2800" b="1" dirty="0"/>
              <a:t>、</a:t>
            </a:r>
            <a:r>
              <a:rPr lang="zh-CN" altLang="en-US" sz="2800" b="1" i="1" dirty="0">
                <a:sym typeface="Symbol" panose="05050102010706020507" pitchFamily="18" charset="2"/>
              </a:rPr>
              <a:t></a:t>
            </a:r>
            <a:r>
              <a:rPr lang="zh-CN" altLang="en-US" sz="2800" b="1" dirty="0"/>
              <a:t>、</a:t>
            </a:r>
            <a:r>
              <a:rPr lang="zh-CN" altLang="en-US" sz="2800" b="1" i="1" dirty="0">
                <a:sym typeface="Symbol" panose="05050102010706020507" pitchFamily="18" charset="2"/>
              </a:rPr>
              <a:t></a:t>
            </a:r>
            <a:r>
              <a:rPr lang="zh-CN" altLang="en-US" sz="2800" b="1" dirty="0"/>
              <a:t>、</a:t>
            </a:r>
            <a:r>
              <a:rPr lang="en-US" altLang="zh-CN" sz="2800" b="1" dirty="0"/>
              <a:t>Fe</a:t>
            </a:r>
            <a:r>
              <a:rPr lang="en-US" altLang="zh-CN" sz="2800" b="1" baseline="-25000" dirty="0"/>
              <a:t>3</a:t>
            </a:r>
            <a:r>
              <a:rPr lang="en-US" altLang="zh-CN" sz="2800" b="1" dirty="0"/>
              <a:t>C     </a:t>
            </a:r>
          </a:p>
          <a:p>
            <a:pPr eaLnBrk="1" hangingPunct="1"/>
            <a:r>
              <a:rPr lang="en-US" altLang="zh-CN" sz="2800" b="1" dirty="0">
                <a:solidFill>
                  <a:srgbClr val="0000FF"/>
                </a:solidFill>
              </a:rPr>
              <a:t>⑵ </a:t>
            </a:r>
            <a:r>
              <a:rPr lang="zh-CN" altLang="en-US" sz="2800" b="1" dirty="0">
                <a:solidFill>
                  <a:srgbClr val="0000FF"/>
                </a:solidFill>
              </a:rPr>
              <a:t>七个两相区</a:t>
            </a:r>
            <a:r>
              <a:rPr lang="en-US" altLang="zh-CN" sz="2800" b="1" dirty="0">
                <a:solidFill>
                  <a:srgbClr val="0000FF"/>
                </a:solidFill>
              </a:rPr>
              <a:t>: </a:t>
            </a:r>
            <a:r>
              <a:rPr lang="en-US" altLang="zh-CN" sz="2800" b="1" dirty="0"/>
              <a:t>L+</a:t>
            </a:r>
            <a:r>
              <a:rPr lang="en-US" altLang="zh-CN" sz="2800" b="1" i="1" dirty="0">
                <a:sym typeface="Symbol" panose="05050102010706020507" pitchFamily="18" charset="2"/>
              </a:rPr>
              <a:t></a:t>
            </a:r>
            <a:r>
              <a:rPr lang="zh-CN" altLang="en-US" sz="2800" b="1" dirty="0"/>
              <a:t>、</a:t>
            </a:r>
            <a:r>
              <a:rPr lang="en-US" altLang="zh-CN" sz="2800" b="1" dirty="0"/>
              <a:t>L+</a:t>
            </a:r>
            <a:r>
              <a:rPr lang="en-US" altLang="zh-CN" sz="2800" b="1" i="1" dirty="0">
                <a:sym typeface="Symbol" panose="05050102010706020507" pitchFamily="18" charset="2"/>
              </a:rPr>
              <a:t></a:t>
            </a:r>
            <a:r>
              <a:rPr lang="zh-CN" altLang="en-US" sz="2800" b="1" dirty="0"/>
              <a:t>、</a:t>
            </a:r>
            <a:r>
              <a:rPr lang="en-US" altLang="zh-CN" sz="2800" b="1" dirty="0"/>
              <a:t>L+Fe</a:t>
            </a:r>
            <a:r>
              <a:rPr lang="en-US" altLang="zh-CN" sz="2800" b="1" baseline="-25000" dirty="0"/>
              <a:t>3</a:t>
            </a:r>
            <a:r>
              <a:rPr lang="en-US" altLang="zh-CN" sz="2800" b="1" dirty="0"/>
              <a:t>C</a:t>
            </a:r>
            <a:r>
              <a:rPr lang="zh-CN" altLang="en-US" sz="2800" b="1" dirty="0"/>
              <a:t>、</a:t>
            </a:r>
            <a:r>
              <a:rPr lang="zh-CN" altLang="en-US" sz="2800" b="1" i="1" dirty="0">
                <a:sym typeface="Symbol" panose="05050102010706020507" pitchFamily="18" charset="2"/>
              </a:rPr>
              <a:t> </a:t>
            </a:r>
            <a:r>
              <a:rPr lang="en-US" altLang="zh-CN" sz="2800" b="1" dirty="0"/>
              <a:t>+</a:t>
            </a:r>
            <a:r>
              <a:rPr lang="en-US" altLang="zh-CN" sz="2800" b="1" i="1" dirty="0">
                <a:sym typeface="Symbol" panose="05050102010706020507" pitchFamily="18" charset="2"/>
              </a:rPr>
              <a:t></a:t>
            </a:r>
            <a:r>
              <a:rPr lang="zh-CN" altLang="en-US" sz="2800" b="1" dirty="0"/>
              <a:t>、</a:t>
            </a:r>
            <a:r>
              <a:rPr lang="zh-CN" altLang="en-US" sz="2800" b="1" i="1" dirty="0">
                <a:sym typeface="Symbol" panose="05050102010706020507" pitchFamily="18" charset="2"/>
              </a:rPr>
              <a:t></a:t>
            </a:r>
            <a:r>
              <a:rPr lang="en-US" altLang="zh-CN" sz="2800" b="1" dirty="0"/>
              <a:t>+Fe3C</a:t>
            </a:r>
            <a:r>
              <a:rPr lang="zh-CN" altLang="en-US" sz="2800" b="1" dirty="0"/>
              <a:t>、</a:t>
            </a:r>
            <a:r>
              <a:rPr lang="zh-CN" altLang="en-US" sz="2800" b="1" i="1" dirty="0">
                <a:sym typeface="Symbol" panose="05050102010706020507" pitchFamily="18" charset="2"/>
              </a:rPr>
              <a:t></a:t>
            </a:r>
            <a:r>
              <a:rPr lang="en-US" altLang="zh-CN" sz="2800" b="1" dirty="0"/>
              <a:t>+</a:t>
            </a:r>
            <a:r>
              <a:rPr lang="en-US" altLang="zh-CN" sz="2800" b="1" i="1" dirty="0">
                <a:sym typeface="Symbol" panose="05050102010706020507" pitchFamily="18" charset="2"/>
              </a:rPr>
              <a:t></a:t>
            </a:r>
            <a:r>
              <a:rPr lang="en-US" altLang="zh-CN" sz="2800" b="1" dirty="0">
                <a:sym typeface="Symbol" panose="05050102010706020507" pitchFamily="18" charset="2"/>
              </a:rPr>
              <a:t> </a:t>
            </a:r>
            <a:r>
              <a:rPr lang="zh-CN" altLang="en-US" sz="2800" b="1" dirty="0"/>
              <a:t>、</a:t>
            </a:r>
            <a:r>
              <a:rPr lang="zh-CN" altLang="en-US" sz="2800" b="1" i="1" dirty="0">
                <a:sym typeface="Symbol" panose="05050102010706020507" pitchFamily="18" charset="2"/>
              </a:rPr>
              <a:t></a:t>
            </a:r>
            <a:r>
              <a:rPr lang="en-US" altLang="zh-CN" sz="2800" b="1" dirty="0"/>
              <a:t>+Fe</a:t>
            </a:r>
            <a:r>
              <a:rPr lang="en-US" altLang="zh-CN" sz="2800" b="1" baseline="-25000" dirty="0"/>
              <a:t>3</a:t>
            </a:r>
            <a:r>
              <a:rPr lang="en-US" altLang="zh-CN" sz="2800" b="1" dirty="0"/>
              <a:t>C </a:t>
            </a:r>
            <a:endParaRPr lang="en-US" altLang="zh-CN" sz="2800" b="1" dirty="0">
              <a:ea typeface="华文中宋" panose="02010600040101010101" pitchFamily="2" charset="-122"/>
            </a:endParaRPr>
          </a:p>
          <a:p>
            <a:pPr eaLnBrk="1" latinLnBrk="0" hangingPunct="1">
              <a:lnSpc>
                <a:spcPct val="120000"/>
              </a:lnSpc>
              <a:spcBef>
                <a:spcPts val="0"/>
              </a:spcBef>
            </a:pPr>
            <a:r>
              <a:rPr lang="en-US" altLang="zh-CN" sz="2800" b="1" dirty="0">
                <a:solidFill>
                  <a:srgbClr val="0000FF"/>
                </a:solidFill>
                <a:ea typeface="华文中宋" panose="02010600040101010101" pitchFamily="2" charset="-122"/>
              </a:rPr>
              <a:t>⑶ </a:t>
            </a:r>
            <a:r>
              <a:rPr lang="zh-CN" altLang="en-US" sz="2800" b="1" dirty="0">
                <a:solidFill>
                  <a:srgbClr val="0000FF"/>
                </a:solidFill>
                <a:ea typeface="华文中宋" panose="02010600040101010101" pitchFamily="2" charset="-122"/>
              </a:rPr>
              <a:t>三个三相区</a:t>
            </a:r>
            <a:r>
              <a:rPr lang="zh-CN" altLang="en-US" sz="2800" b="1" dirty="0">
                <a:ea typeface="华文中宋" panose="02010600040101010101" pitchFamily="2" charset="-122"/>
              </a:rPr>
              <a:t>：即</a:t>
            </a:r>
            <a:r>
              <a:rPr lang="en-US" altLang="zh-CN" sz="2800" b="1" dirty="0">
                <a:ea typeface="华文中宋" panose="02010600040101010101" pitchFamily="2" charset="-122"/>
              </a:rPr>
              <a:t>HJB (L+</a:t>
            </a:r>
            <a:r>
              <a:rPr lang="en-US" altLang="zh-CN" sz="2800" b="1" i="1" dirty="0">
                <a:ea typeface="华文中宋" panose="02010600040101010101" pitchFamily="2" charset="-122"/>
                <a:sym typeface="Symbol" panose="05050102010706020507" pitchFamily="18" charset="2"/>
              </a:rPr>
              <a:t></a:t>
            </a:r>
            <a:r>
              <a:rPr lang="en-US" altLang="zh-CN" sz="2800" b="1" dirty="0">
                <a:ea typeface="华文中宋" panose="02010600040101010101" pitchFamily="2" charset="-122"/>
              </a:rPr>
              <a:t>+</a:t>
            </a:r>
            <a:r>
              <a:rPr lang="en-US" altLang="zh-CN" sz="2800" b="1" i="1" dirty="0">
                <a:ea typeface="华文中宋" panose="02010600040101010101" pitchFamily="2" charset="-122"/>
                <a:sym typeface="Symbol" panose="05050102010706020507" pitchFamily="18" charset="2"/>
              </a:rPr>
              <a:t></a:t>
            </a:r>
            <a:r>
              <a:rPr lang="en-US" altLang="zh-CN" sz="2800" b="1" dirty="0">
                <a:ea typeface="华文中宋" panose="02010600040101010101" pitchFamily="2" charset="-122"/>
              </a:rPr>
              <a:t>)</a:t>
            </a:r>
            <a:r>
              <a:rPr lang="zh-CN" altLang="en-US" sz="2800" b="1" dirty="0">
                <a:ea typeface="华文中宋" panose="02010600040101010101" pitchFamily="2" charset="-122"/>
              </a:rPr>
              <a:t>、</a:t>
            </a:r>
            <a:r>
              <a:rPr lang="en-US" altLang="zh-CN" sz="2800" b="1" dirty="0">
                <a:ea typeface="华文中宋" panose="02010600040101010101" pitchFamily="2" charset="-122"/>
              </a:rPr>
              <a:t>ECF(L+</a:t>
            </a:r>
            <a:r>
              <a:rPr lang="en-US" altLang="zh-CN" sz="2800" b="1" i="1" dirty="0">
                <a:ea typeface="华文中宋" panose="02010600040101010101" pitchFamily="2" charset="-122"/>
                <a:sym typeface="Symbol" panose="05050102010706020507" pitchFamily="18" charset="2"/>
              </a:rPr>
              <a:t></a:t>
            </a:r>
            <a:r>
              <a:rPr lang="en-US" altLang="zh-CN" sz="2800" b="1" dirty="0">
                <a:ea typeface="华文中宋" panose="02010600040101010101" pitchFamily="2" charset="-122"/>
              </a:rPr>
              <a:t>+ Fe</a:t>
            </a:r>
            <a:r>
              <a:rPr lang="en-US" altLang="zh-CN" sz="2800" b="1" baseline="-30000" dirty="0">
                <a:ea typeface="华文中宋" panose="02010600040101010101" pitchFamily="2" charset="-122"/>
              </a:rPr>
              <a:t>3</a:t>
            </a:r>
            <a:r>
              <a:rPr lang="en-US" altLang="zh-CN" sz="2800" b="1" dirty="0">
                <a:ea typeface="华文中宋" panose="02010600040101010101" pitchFamily="2" charset="-122"/>
              </a:rPr>
              <a:t>C)</a:t>
            </a:r>
            <a:r>
              <a:rPr lang="zh-CN" altLang="en-US" sz="2800" b="1" dirty="0">
                <a:ea typeface="华文中宋" panose="02010600040101010101" pitchFamily="2" charset="-122"/>
              </a:rPr>
              <a:t>、</a:t>
            </a:r>
            <a:r>
              <a:rPr lang="en-US" altLang="zh-CN" sz="2800" b="1" dirty="0">
                <a:ea typeface="华文中宋" panose="02010600040101010101" pitchFamily="2" charset="-122"/>
              </a:rPr>
              <a:t>PSK(</a:t>
            </a:r>
            <a:r>
              <a:rPr lang="en-US" altLang="zh-CN" sz="2800" b="1" i="1" dirty="0">
                <a:ea typeface="华文中宋" panose="02010600040101010101" pitchFamily="2" charset="-122"/>
                <a:sym typeface="Symbol" panose="05050102010706020507" pitchFamily="18" charset="2"/>
              </a:rPr>
              <a:t></a:t>
            </a:r>
            <a:r>
              <a:rPr lang="en-US" altLang="zh-CN" sz="2800" b="1" dirty="0">
                <a:ea typeface="华文中宋" panose="02010600040101010101" pitchFamily="2" charset="-122"/>
              </a:rPr>
              <a:t>+</a:t>
            </a:r>
            <a:r>
              <a:rPr lang="en-US" altLang="zh-CN" sz="2800" b="1" i="1" dirty="0">
                <a:ea typeface="华文中宋" panose="02010600040101010101" pitchFamily="2" charset="-122"/>
                <a:sym typeface="Symbol" panose="05050102010706020507" pitchFamily="18" charset="2"/>
              </a:rPr>
              <a:t></a:t>
            </a:r>
            <a:r>
              <a:rPr lang="en-US" altLang="zh-CN" sz="2800" b="1" dirty="0">
                <a:ea typeface="华文中宋" panose="02010600040101010101" pitchFamily="2" charset="-122"/>
              </a:rPr>
              <a:t>+ Fe</a:t>
            </a:r>
            <a:r>
              <a:rPr lang="en-US" altLang="zh-CN" sz="2800" b="1" baseline="-30000" dirty="0">
                <a:ea typeface="华文中宋" panose="02010600040101010101" pitchFamily="2" charset="-122"/>
              </a:rPr>
              <a:t>3</a:t>
            </a:r>
            <a:r>
              <a:rPr lang="en-US" altLang="zh-CN" sz="2800" b="1" dirty="0">
                <a:ea typeface="华文中宋" panose="02010600040101010101" pitchFamily="2" charset="-122"/>
              </a:rPr>
              <a:t>C)</a:t>
            </a:r>
            <a:r>
              <a:rPr lang="zh-CN" altLang="en-US" sz="2800" b="1" dirty="0">
                <a:solidFill>
                  <a:srgbClr val="0000FF"/>
                </a:solidFill>
                <a:ea typeface="华文中宋" panose="02010600040101010101" pitchFamily="2" charset="-122"/>
              </a:rPr>
              <a:t>三条水平线</a:t>
            </a:r>
            <a:r>
              <a:rPr lang="zh-CN" altLang="en-US" sz="2800" b="1" dirty="0">
                <a:solidFill>
                  <a:srgbClr val="0000FF"/>
                </a:solidFill>
                <a:ea typeface="仿宋_GB2312" pitchFamily="49" charset="-122"/>
              </a:rPr>
              <a:t> </a:t>
            </a:r>
          </a:p>
        </p:txBody>
      </p:sp>
      <p:grpSp>
        <p:nvGrpSpPr>
          <p:cNvPr id="2" name="Group 4"/>
          <p:cNvGrpSpPr>
            <a:grpSpLocks noChangeAspect="1"/>
          </p:cNvGrpSpPr>
          <p:nvPr/>
        </p:nvGrpSpPr>
        <p:grpSpPr>
          <a:xfrm>
            <a:off x="5298877" y="2545693"/>
            <a:ext cx="3865562" cy="3692525"/>
            <a:chOff x="2448" y="384"/>
            <a:chExt cx="3090" cy="2722"/>
          </a:xfrm>
        </p:grpSpPr>
        <p:pic>
          <p:nvPicPr>
            <p:cNvPr id="114696" name="Picture 5" descr="Fe-C相图10"/>
            <p:cNvPicPr>
              <a:picLocks noChangeAspect="1"/>
            </p:cNvPicPr>
            <p:nvPr/>
          </p:nvPicPr>
          <p:blipFill>
            <a:blip r:embed="rId2"/>
            <a:stretch>
              <a:fillRect/>
            </a:stretch>
          </p:blipFill>
          <p:spPr>
            <a:xfrm>
              <a:off x="2448" y="384"/>
              <a:ext cx="3090" cy="2722"/>
            </a:xfrm>
            <a:prstGeom prst="rect">
              <a:avLst/>
            </a:prstGeom>
            <a:noFill/>
            <a:ln w="38100" cap="flat" cmpd="sng">
              <a:solidFill>
                <a:srgbClr val="CC99FF"/>
              </a:solidFill>
              <a:prstDash val="solid"/>
              <a:miter/>
              <a:headEnd type="none" w="med" len="med"/>
              <a:tailEnd type="none" w="med" len="med"/>
            </a:ln>
          </p:spPr>
        </p:pic>
        <p:sp>
          <p:nvSpPr>
            <p:cNvPr id="114697" name="Text Box 6"/>
            <p:cNvSpPr txBox="1">
              <a:spLocks noChangeAspect="1"/>
            </p:cNvSpPr>
            <p:nvPr/>
          </p:nvSpPr>
          <p:spPr>
            <a:xfrm>
              <a:off x="2591" y="576"/>
              <a:ext cx="198" cy="248"/>
            </a:xfrm>
            <a:prstGeom prst="rect">
              <a:avLst/>
            </a:prstGeom>
            <a:noFill/>
            <a:ln w="9525">
              <a:noFill/>
            </a:ln>
          </p:spPr>
          <p:txBody>
            <a:bodyPr>
              <a:spAutoFit/>
            </a:bodyPr>
            <a:lstStyle/>
            <a:p>
              <a:pPr lvl="0" eaLnBrk="1" hangingPunct="1">
                <a:spcBef>
                  <a:spcPct val="50000"/>
                </a:spcBef>
              </a:pPr>
              <a:r>
                <a:rPr lang="en-US" altLang="zh-CN" sz="1600" b="1" dirty="0">
                  <a:solidFill>
                    <a:schemeClr val="bg2"/>
                  </a:solidFill>
                  <a:latin typeface="华文行楷" panose="02010800040101010101" pitchFamily="2" charset="-122"/>
                  <a:ea typeface="华文行楷" panose="02010800040101010101" pitchFamily="2" charset="-122"/>
                  <a:sym typeface="Symbol" panose="05050102010706020507" pitchFamily="18" charset="2"/>
                </a:rPr>
                <a:t></a:t>
              </a:r>
              <a:endParaRPr lang="en-US" altLang="zh-CN" sz="1600" b="1" dirty="0">
                <a:solidFill>
                  <a:schemeClr val="bg2"/>
                </a:solidFill>
                <a:latin typeface="华文行楷" panose="02010800040101010101" pitchFamily="2" charset="-122"/>
                <a:ea typeface="华文行楷" panose="02010800040101010101" pitchFamily="2" charset="-122"/>
              </a:endParaRPr>
            </a:p>
          </p:txBody>
        </p:sp>
        <p:sp>
          <p:nvSpPr>
            <p:cNvPr id="114698" name="Line 7"/>
            <p:cNvSpPr>
              <a:spLocks noChangeAspect="1"/>
            </p:cNvSpPr>
            <p:nvPr/>
          </p:nvSpPr>
          <p:spPr>
            <a:xfrm>
              <a:off x="2688" y="687"/>
              <a:ext cx="258" cy="86"/>
            </a:xfrm>
            <a:prstGeom prst="line">
              <a:avLst/>
            </a:prstGeom>
            <a:ln w="28575" cap="flat" cmpd="sng">
              <a:solidFill>
                <a:schemeClr val="bg2"/>
              </a:solidFill>
              <a:prstDash val="solid"/>
              <a:miter/>
              <a:headEnd type="none" w="med" len="med"/>
              <a:tailEnd type="none" w="med" len="med"/>
            </a:ln>
          </p:spPr>
        </p:sp>
      </p:grpSp>
      <p:pic>
        <p:nvPicPr>
          <p:cNvPr id="11" name="内容占位符 1" descr="新校徽（3M）弓之乐"/>
          <p:cNvPicPr>
            <a:picLocks noChangeAspect="1"/>
          </p:cNvPicPr>
          <p:nvPr/>
        </p:nvPicPr>
        <p:blipFill>
          <a:blip r:embed="rId3"/>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日期占位符 3"/>
          <p:cNvSpPr txBox="1">
            <a:spLocks noGrp="1"/>
          </p:cNvSpPr>
          <p:nvPr>
            <p:ph type="dt" sz="half" idx="10"/>
          </p:nvPr>
        </p:nvSpPr>
        <p:spPr>
          <a:xfrm>
            <a:off x="0" y="6581775"/>
            <a:ext cx="2162175" cy="27622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15715" name="灯片编号占位符 5"/>
          <p:cNvSpPr txBox="1">
            <a:spLocks noGrp="1"/>
          </p:cNvSpPr>
          <p:nvPr>
            <p:ph type="sldNum" sz="quarter" idx="12"/>
          </p:nvPr>
        </p:nvSpPr>
        <p:spPr>
          <a:xfrm>
            <a:off x="8598535" y="6632575"/>
            <a:ext cx="541020" cy="225425"/>
          </a:xfrm>
        </p:spPr>
        <p:txBody>
          <a:bodyPr lIns="92075" tIns="46038" rIns="92075" bIns="46038" anchor="ctr"/>
          <a:lstStyle/>
          <a:p>
            <a:pPr algn="r" eaLnBrk="1" hangingPunct="1"/>
            <a:fld id="{9A0DB2DC-4C9A-4742-B13C-FB6460FD3503}" type="slidenum">
              <a:rPr lang="en-US" altLang="zh-CN" sz="1400" dirty="0"/>
              <a:t>120</a:t>
            </a:fld>
            <a:endParaRPr lang="en-US" altLang="zh-CN" sz="1400" dirty="0"/>
          </a:p>
        </p:txBody>
      </p:sp>
      <p:sp>
        <p:nvSpPr>
          <p:cNvPr id="189442" name="Rectangle 2"/>
          <p:cNvSpPr>
            <a:spLocks noGrp="1" noChangeArrowheads="1"/>
          </p:cNvSpPr>
          <p:nvPr>
            <p:ph type="title"/>
          </p:nvPr>
        </p:nvSpPr>
        <p:spPr>
          <a:xfrm>
            <a:off x="1042988" y="271621"/>
            <a:ext cx="7772400" cy="928688"/>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400" b="1" i="0" u="none" strike="noStrike" kern="0" cap="none" spc="0" normalizeH="0" baseline="0" noProof="0" dirty="0">
                <a:ln>
                  <a:noFill/>
                </a:ln>
                <a:solidFill>
                  <a:srgbClr val="FF0000"/>
                </a:solidFill>
                <a:uLnTx/>
                <a:uFillTx/>
                <a:latin typeface="Times New Roman" panose="02020603050405020304" pitchFamily="18" charset="0"/>
                <a:ea typeface="华文中宋" panose="02010600040101010101" pitchFamily="2" charset="-122"/>
                <a:cs typeface="+mj-cs"/>
              </a:rPr>
              <a:t>三、典型合金的平衡结晶过程</a:t>
            </a:r>
          </a:p>
        </p:txBody>
      </p:sp>
      <p:pic>
        <p:nvPicPr>
          <p:cNvPr id="115718" name="Picture 4" descr="工程材料fig3-30"/>
          <p:cNvPicPr>
            <a:picLocks noChangeAspect="1"/>
          </p:cNvPicPr>
          <p:nvPr/>
        </p:nvPicPr>
        <p:blipFill>
          <a:blip r:embed="rId2"/>
          <a:stretch>
            <a:fillRect/>
          </a:stretch>
        </p:blipFill>
        <p:spPr>
          <a:xfrm>
            <a:off x="1583532" y="1967230"/>
            <a:ext cx="6691312" cy="4614545"/>
          </a:xfrm>
          <a:prstGeom prst="rect">
            <a:avLst/>
          </a:prstGeom>
          <a:noFill/>
          <a:ln w="9525">
            <a:noFill/>
          </a:ln>
        </p:spPr>
      </p:pic>
      <p:pic>
        <p:nvPicPr>
          <p:cNvPr id="8" name="内容占位符 1" descr="新校徽（3M）弓之乐"/>
          <p:cNvPicPr>
            <a:picLocks noChangeAspect="1"/>
          </p:cNvPicPr>
          <p:nvPr/>
        </p:nvPicPr>
        <p:blipFill>
          <a:blip r:embed="rId3"/>
          <a:stretch>
            <a:fillRect/>
          </a:stretch>
        </p:blipFill>
        <p:spPr>
          <a:xfrm>
            <a:off x="0" y="0"/>
            <a:ext cx="746760" cy="735965"/>
          </a:xfrm>
          <a:prstGeom prst="rect">
            <a:avLst/>
          </a:prstGeom>
          <a:noFill/>
          <a:ln w="9525">
            <a:noFill/>
          </a:ln>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日期占位符 3"/>
          <p:cNvSpPr txBox="1">
            <a:spLocks noGrp="1"/>
          </p:cNvSpPr>
          <p:nvPr>
            <p:ph type="dt" sz="half" idx="10"/>
          </p:nvPr>
        </p:nvSpPr>
        <p:spPr>
          <a:xfrm>
            <a:off x="0" y="6581775"/>
            <a:ext cx="2233613" cy="27622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16739" name="灯片编号占位符 5"/>
          <p:cNvSpPr txBox="1">
            <a:spLocks noGrp="1"/>
          </p:cNvSpPr>
          <p:nvPr>
            <p:ph type="sldNum" sz="quarter" idx="12"/>
          </p:nvPr>
        </p:nvSpPr>
        <p:spPr>
          <a:xfrm>
            <a:off x="8534400" y="6543675"/>
            <a:ext cx="595630" cy="294640"/>
          </a:xfrm>
        </p:spPr>
        <p:txBody>
          <a:bodyPr lIns="92075" tIns="46038" rIns="92075" bIns="46038" anchor="ctr"/>
          <a:lstStyle/>
          <a:p>
            <a:pPr algn="r" eaLnBrk="1" hangingPunct="1"/>
            <a:fld id="{9A0DB2DC-4C9A-4742-B13C-FB6460FD3503}" type="slidenum">
              <a:rPr lang="en-US" altLang="zh-CN" sz="1400" dirty="0"/>
              <a:t>121</a:t>
            </a:fld>
            <a:endParaRPr lang="en-US" altLang="zh-CN" sz="1400" dirty="0"/>
          </a:p>
        </p:txBody>
      </p:sp>
      <p:sp>
        <p:nvSpPr>
          <p:cNvPr id="118786" name="Rectangle 2"/>
          <p:cNvSpPr>
            <a:spLocks noGrp="1" noChangeArrowheads="1"/>
          </p:cNvSpPr>
          <p:nvPr>
            <p:ph type="title"/>
          </p:nvPr>
        </p:nvSpPr>
        <p:spPr>
          <a:xfrm>
            <a:off x="1231955" y="326053"/>
            <a:ext cx="7772400" cy="8572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4400" b="1" i="0" u="none" strike="noStrike" kern="0" cap="none" spc="0" normalizeH="0" baseline="0" noProof="0" dirty="0">
                <a:ln>
                  <a:noFill/>
                </a:ln>
                <a:solidFill>
                  <a:srgbClr val="FF0000"/>
                </a:solidFill>
                <a:uLnTx/>
                <a:uFillTx/>
                <a:latin typeface="Times New Roman" panose="02020603050405020304" pitchFamily="18" charset="0"/>
                <a:ea typeface="华文中宋" panose="02010600040101010101" pitchFamily="2" charset="-122"/>
                <a:cs typeface="+mj-cs"/>
              </a:rPr>
              <a:t>三、典型合金的平衡结晶过程</a:t>
            </a:r>
            <a:endParaRPr kumimoji="1" lang="zh-CN" altLang="en-US" sz="4400" b="0" i="0" u="none" strike="noStrike" kern="0" cap="none" spc="0" normalizeH="0" baseline="0" noProof="0" dirty="0">
              <a:ln>
                <a:noFill/>
              </a:ln>
              <a:solidFill>
                <a:srgbClr val="FF0000"/>
              </a:solidFill>
              <a:uLnTx/>
              <a:uFillTx/>
              <a:ea typeface="华文中宋" panose="02010600040101010101" pitchFamily="2" charset="-122"/>
              <a:cs typeface="+mj-cs"/>
            </a:endParaRPr>
          </a:p>
        </p:txBody>
      </p:sp>
      <p:sp>
        <p:nvSpPr>
          <p:cNvPr id="118787" name="Rectangle 3"/>
          <p:cNvSpPr>
            <a:spLocks noGrp="1" noChangeArrowheads="1"/>
          </p:cNvSpPr>
          <p:nvPr>
            <p:ph idx="1"/>
          </p:nvPr>
        </p:nvSpPr>
        <p:spPr>
          <a:xfrm>
            <a:off x="251460" y="3068955"/>
            <a:ext cx="5281295" cy="3474720"/>
          </a:xfrm>
        </p:spPr>
        <p:txBody>
          <a:bodyPr vert="horz" wrap="square" lIns="91440" tIns="45720" rIns="91440" bIns="45720" numCol="1" anchor="t" anchorCtr="0" compatLnSpc="1"/>
          <a:lstStyle/>
          <a:p>
            <a:pPr marL="342900" marR="0" lvl="0" indent="-342900" algn="just" defTabSz="914400" rtl="0" eaLnBrk="1" fontAlgn="base" latinLnBrk="0" hangingPunct="1">
              <a:lnSpc>
                <a:spcPct val="110000"/>
              </a:lnSpc>
              <a:spcBef>
                <a:spcPct val="20000"/>
              </a:spcBef>
              <a:spcAft>
                <a:spcPct val="0"/>
              </a:spcAft>
              <a:buClr>
                <a:schemeClr val="accent2"/>
              </a:buClr>
              <a:buSzPct val="80000"/>
              <a:buFont typeface="Wingdings" panose="05000000000000000000" pitchFamily="2" charset="2"/>
              <a:buChar char="l"/>
              <a:defRPr/>
            </a:pPr>
            <a:r>
              <a:rPr kumimoji="1" lang="en-US" altLang="zh-CN" sz="2800" b="1" i="0" u="none" strike="noStrike" kern="0" cap="none" spc="0" normalizeH="0" baseline="0" noProof="0" dirty="0">
                <a:ln>
                  <a:noFill/>
                </a:ln>
                <a:effectLst/>
                <a:uLnTx/>
                <a:uFillTx/>
                <a:latin typeface="+mn-lt"/>
                <a:ea typeface="华文中宋" panose="02010600040101010101" pitchFamily="2" charset="-122"/>
                <a:cs typeface="+mn-cs"/>
              </a:rPr>
              <a:t>⑵ </a:t>
            </a:r>
            <a:r>
              <a:rPr lang="zh-CN" altLang="en-US" sz="3200" b="1" i="0" u="none" strike="noStrike" kern="1200" cap="none" spc="0" normalizeH="0" baseline="0" dirty="0">
                <a:solidFill>
                  <a:srgbClr val="0000FF"/>
                </a:solidFill>
                <a:latin typeface="Times New Roman" panose="02020603050405020304" pitchFamily="18" charset="0"/>
                <a:ea typeface="华文中宋" panose="02010600040101010101" pitchFamily="2" charset="-122"/>
                <a:cs typeface="+mn-cs"/>
              </a:rPr>
              <a:t>钢 (0.0218~2.11%C) </a:t>
            </a:r>
            <a:endParaRPr kumimoji="1" lang="en-US" altLang="zh-CN" sz="2800" b="1" i="0" u="none" strike="noStrike" kern="0" cap="none" spc="0" normalizeH="0" baseline="0" noProof="0" dirty="0">
              <a:ln>
                <a:noFill/>
              </a:ln>
              <a:effectLst/>
              <a:uLnTx/>
              <a:uFillTx/>
              <a:latin typeface="+mn-lt"/>
              <a:ea typeface="华文中宋" panose="02010600040101010101" pitchFamily="2" charset="-122"/>
              <a:cs typeface="+mn-cs"/>
            </a:endParaRPr>
          </a:p>
          <a:p>
            <a:pPr marL="342900" marR="0" lvl="0" indent="-342900" algn="just" defTabSz="914400" rtl="0" eaLnBrk="1" fontAlgn="base" latinLnBrk="0" hangingPunct="1">
              <a:lnSpc>
                <a:spcPct val="110000"/>
              </a:lnSpc>
              <a:spcBef>
                <a:spcPct val="20000"/>
              </a:spcBef>
              <a:spcAft>
                <a:spcPct val="0"/>
              </a:spcAft>
              <a:buClr>
                <a:schemeClr val="accent2"/>
              </a:buClr>
              <a:buSzPct val="80000"/>
              <a:buFont typeface="Wingdings" panose="05000000000000000000" pitchFamily="2" charset="2"/>
              <a:buNone/>
              <a:defRPr/>
            </a:pPr>
            <a:r>
              <a:rPr kumimoji="1" lang="en-US" altLang="zh-CN" sz="2800" b="1" i="0" u="none" strike="noStrike" kern="0" cap="none" spc="0" normalizeH="0" baseline="0" noProof="0" dirty="0">
                <a:ln>
                  <a:noFill/>
                </a:ln>
                <a:effectLst/>
                <a:uLnTx/>
                <a:uFillTx/>
                <a:latin typeface="+mn-lt"/>
                <a:ea typeface="华文中宋" panose="02010600040101010101" pitchFamily="2" charset="-122"/>
                <a:cs typeface="+mn-cs"/>
              </a:rPr>
              <a:t>         </a:t>
            </a:r>
            <a:r>
              <a:rPr kumimoji="1" lang="zh-CN" altLang="en-US" sz="2800" b="1" i="0" u="none" strike="noStrike" kern="0" cap="none" spc="0" normalizeH="0" baseline="0" noProof="0" dirty="0">
                <a:ln>
                  <a:noFill/>
                </a:ln>
                <a:effectLst/>
                <a:uLnTx/>
                <a:uFillTx/>
                <a:latin typeface="+mn-lt"/>
                <a:ea typeface="华文中宋" panose="02010600040101010101" pitchFamily="2" charset="-122"/>
                <a:cs typeface="+mn-cs"/>
              </a:rPr>
              <a:t>高温组织</a:t>
            </a:r>
            <a:r>
              <a:rPr kumimoji="1" lang="zh-CN" altLang="en-US" sz="2800" b="1" i="0" u="none" strike="noStrike" kern="1200" cap="none" spc="0" normalizeH="0" baseline="0" noProof="0" dirty="0">
                <a:ln>
                  <a:noFill/>
                </a:ln>
                <a:effectLst/>
                <a:uLnTx/>
                <a:uFillTx/>
                <a:latin typeface="+mn-lt"/>
                <a:ea typeface="华文中宋" panose="02010600040101010101" pitchFamily="2" charset="-122"/>
                <a:cs typeface="+mn-cs"/>
              </a:rPr>
              <a:t>为</a:t>
            </a:r>
            <a:r>
              <a:rPr kumimoji="1" lang="zh-CN" altLang="en-US" sz="2800" b="1" i="0" u="none" strike="noStrike" kern="0" cap="none" spc="0" normalizeH="0" baseline="0" noProof="0" dirty="0">
                <a:ln>
                  <a:noFill/>
                </a:ln>
                <a:effectLst/>
                <a:uLnTx/>
                <a:uFillTx/>
                <a:latin typeface="+mn-lt"/>
                <a:ea typeface="华文中宋" panose="02010600040101010101" pitchFamily="2" charset="-122"/>
                <a:cs typeface="+mn-cs"/>
              </a:rPr>
              <a:t>单相</a:t>
            </a:r>
            <a:r>
              <a:rPr kumimoji="1" lang="zh-CN" altLang="en-US" sz="2800" b="1" i="0" u="none" strike="noStrike" kern="0" cap="none" spc="0" normalizeH="0" baseline="0" noProof="0" dirty="0">
                <a:ln>
                  <a:noFill/>
                </a:ln>
                <a:effectLst/>
                <a:uLnTx/>
                <a:uFillTx/>
                <a:latin typeface="+mn-lt"/>
                <a:ea typeface="华文中宋" panose="02010600040101010101" pitchFamily="2" charset="-122"/>
                <a:cs typeface="+mn-cs"/>
                <a:sym typeface="Symbol" panose="05050102010706020507" pitchFamily="18" charset="2"/>
              </a:rPr>
              <a:t>奥氏体</a:t>
            </a:r>
            <a:r>
              <a:rPr kumimoji="1" lang="zh-CN" altLang="en-US" sz="2800" b="1" i="0" u="none" strike="noStrike" kern="0" cap="none" spc="0" normalizeH="0" baseline="0" noProof="0" dirty="0">
                <a:ln>
                  <a:noFill/>
                </a:ln>
                <a:effectLst/>
                <a:uLnTx/>
                <a:uFillTx/>
                <a:latin typeface="+mn-lt"/>
                <a:ea typeface="华文中宋" panose="02010600040101010101" pitchFamily="2" charset="-122"/>
                <a:cs typeface="+mn-cs"/>
              </a:rPr>
              <a:t>    </a:t>
            </a:r>
          </a:p>
          <a:p>
            <a:pPr marL="342900" marR="0" lvl="0" indent="-342900" algn="just" defTabSz="914400" rtl="0" eaLnBrk="1" fontAlgn="base" latinLnBrk="0" hangingPunct="1">
              <a:lnSpc>
                <a:spcPct val="110000"/>
              </a:lnSpc>
              <a:spcBef>
                <a:spcPct val="20000"/>
              </a:spcBef>
              <a:spcAft>
                <a:spcPct val="0"/>
              </a:spcAft>
              <a:buClr>
                <a:schemeClr val="accent2"/>
              </a:buClr>
              <a:buSzPct val="80000"/>
              <a:buFont typeface="Wingdings" panose="05000000000000000000" pitchFamily="2" charset="2"/>
              <a:buNone/>
              <a:defRPr/>
            </a:pPr>
            <a:r>
              <a:rPr lang="zh-CN" altLang="en-US" sz="2800" b="1" i="0" u="none" strike="noStrike" kern="1200" cap="none" spc="0" normalizeH="0" baseline="0" dirty="0">
                <a:solidFill>
                  <a:srgbClr val="0000FF"/>
                </a:solidFill>
                <a:latin typeface="Times New Roman" panose="02020603050405020304" pitchFamily="18" charset="0"/>
                <a:ea typeface="华文中宋" panose="02010600040101010101" pitchFamily="2" charset="-122"/>
                <a:cs typeface="+mn-cs"/>
              </a:rPr>
              <a:t>① 亚共析钢</a:t>
            </a:r>
            <a:endParaRPr lang="zh-CN" altLang="en-US" sz="3200" b="1" i="0" u="none" strike="noStrike" kern="1200" cap="none" spc="0" normalizeH="0" baseline="0" dirty="0">
              <a:solidFill>
                <a:srgbClr val="0000FF"/>
              </a:solidFill>
              <a:latin typeface="Times New Roman" panose="02020603050405020304" pitchFamily="18" charset="0"/>
              <a:ea typeface="华文中宋" panose="02010600040101010101" pitchFamily="2" charset="-122"/>
              <a:cs typeface="+mn-cs"/>
            </a:endParaRPr>
          </a:p>
          <a:p>
            <a:pPr marL="342900" marR="0" lvl="0" indent="-342900" algn="just" defTabSz="914400" rtl="0" eaLnBrk="1" fontAlgn="base" latinLnBrk="0" hangingPunct="1">
              <a:lnSpc>
                <a:spcPct val="110000"/>
              </a:lnSpc>
              <a:spcBef>
                <a:spcPct val="20000"/>
              </a:spcBef>
              <a:spcAft>
                <a:spcPct val="0"/>
              </a:spcAft>
              <a:buClr>
                <a:schemeClr val="accent2"/>
              </a:buClr>
              <a:buSzPct val="80000"/>
              <a:buFont typeface="Wingdings" panose="05000000000000000000" pitchFamily="2" charset="2"/>
              <a:buNone/>
              <a:defRPr/>
            </a:pPr>
            <a:r>
              <a:rPr kumimoji="1" lang="zh-CN" altLang="en-US" sz="2800" b="1" i="0" u="none" strike="noStrike" kern="0" cap="none" spc="0" normalizeH="0" baseline="0" noProof="0" dirty="0">
                <a:ln>
                  <a:noFill/>
                </a:ln>
                <a:effectLst/>
                <a:uLnTx/>
                <a:uFillTx/>
                <a:latin typeface="+mn-lt"/>
                <a:ea typeface="华文中宋" panose="02010600040101010101" pitchFamily="2" charset="-122"/>
                <a:cs typeface="+mn-cs"/>
              </a:rPr>
              <a:t>          </a:t>
            </a:r>
            <a:r>
              <a:rPr kumimoji="1" lang="en-US" altLang="zh-CN" sz="2800" b="1" i="0" u="none" strike="noStrike" kern="0" cap="none" spc="0" normalizeH="0" baseline="0" noProof="0" dirty="0">
                <a:ln>
                  <a:noFill/>
                </a:ln>
                <a:effectLst/>
                <a:uLnTx/>
                <a:uFillTx/>
                <a:latin typeface="+mn-lt"/>
                <a:ea typeface="华文中宋" panose="02010600040101010101" pitchFamily="2" charset="-122"/>
                <a:cs typeface="+mn-cs"/>
              </a:rPr>
              <a:t>(0.0218~0.77%C)</a:t>
            </a:r>
          </a:p>
          <a:p>
            <a:pPr marL="342900" marR="0" lvl="0" indent="-342900" algn="just" defTabSz="914400" rtl="0" eaLnBrk="1" fontAlgn="base" latinLnBrk="0" hangingPunct="1">
              <a:lnSpc>
                <a:spcPct val="110000"/>
              </a:lnSpc>
              <a:spcBef>
                <a:spcPct val="20000"/>
              </a:spcBef>
              <a:spcAft>
                <a:spcPct val="0"/>
              </a:spcAft>
              <a:buClr>
                <a:schemeClr val="accent2"/>
              </a:buClr>
              <a:buSzPct val="80000"/>
              <a:buFont typeface="Wingdings" panose="05000000000000000000" pitchFamily="2" charset="2"/>
              <a:buNone/>
              <a:defRPr/>
            </a:pPr>
            <a:r>
              <a:rPr lang="zh-CN" altLang="en-US" sz="2800" b="1" i="0" u="none" strike="noStrike" kern="1200" cap="none" spc="0" normalizeH="0" baseline="0" dirty="0">
                <a:solidFill>
                  <a:srgbClr val="0000FF"/>
                </a:solidFill>
                <a:latin typeface="Times New Roman" panose="02020603050405020304" pitchFamily="18" charset="0"/>
                <a:ea typeface="华文中宋" panose="02010600040101010101" pitchFamily="2" charset="-122"/>
                <a:cs typeface="+mn-cs"/>
              </a:rPr>
              <a:t>② 共析钢</a:t>
            </a:r>
            <a:r>
              <a:rPr kumimoji="1" lang="zh-CN" altLang="en-US" sz="2800" b="1" i="0" u="none" strike="noStrike" kern="0" cap="none" spc="0" normalizeH="0" baseline="0" noProof="0" dirty="0">
                <a:ln>
                  <a:noFill/>
                </a:ln>
                <a:effectLst/>
                <a:uLnTx/>
                <a:uFillTx/>
                <a:latin typeface="+mn-lt"/>
                <a:ea typeface="华文中宋" panose="02010600040101010101" pitchFamily="2" charset="-122"/>
                <a:cs typeface="+mn-cs"/>
              </a:rPr>
              <a:t> </a:t>
            </a:r>
            <a:r>
              <a:rPr kumimoji="1" lang="en-US" altLang="zh-CN" sz="2800" b="1" i="0" u="none" strike="noStrike" kern="0" cap="none" spc="0" normalizeH="0" baseline="0" noProof="0" dirty="0">
                <a:ln>
                  <a:noFill/>
                </a:ln>
                <a:effectLst/>
                <a:uLnTx/>
                <a:uFillTx/>
                <a:latin typeface="+mn-lt"/>
                <a:ea typeface="华文中宋" panose="02010600040101010101" pitchFamily="2" charset="-122"/>
                <a:cs typeface="+mn-cs"/>
              </a:rPr>
              <a:t>(0.77%C)</a:t>
            </a:r>
          </a:p>
          <a:p>
            <a:pPr marL="342900" marR="0" lvl="0" indent="-342900" algn="just" defTabSz="914400" rtl="0" eaLnBrk="1" fontAlgn="base" latinLnBrk="0" hangingPunct="1">
              <a:lnSpc>
                <a:spcPct val="110000"/>
              </a:lnSpc>
              <a:spcBef>
                <a:spcPct val="20000"/>
              </a:spcBef>
              <a:spcAft>
                <a:spcPct val="0"/>
              </a:spcAft>
              <a:buClr>
                <a:schemeClr val="accent2"/>
              </a:buClr>
              <a:buSzPct val="80000"/>
              <a:buFont typeface="Wingdings" panose="05000000000000000000" pitchFamily="2" charset="2"/>
              <a:buNone/>
              <a:defRPr/>
            </a:pPr>
            <a:r>
              <a:rPr kumimoji="1" lang="en-US" altLang="zh-CN" sz="2800" b="1" i="0" u="none" strike="noStrike" kern="0" cap="none" spc="0" normalizeH="0" baseline="0" noProof="0" dirty="0">
                <a:ln>
                  <a:noFill/>
                </a:ln>
                <a:solidFill>
                  <a:srgbClr val="0000FF"/>
                </a:solidFill>
                <a:effectLst/>
                <a:uLnTx/>
                <a:uFillTx/>
                <a:latin typeface="+mn-lt"/>
                <a:ea typeface="华文中宋" panose="02010600040101010101" pitchFamily="2" charset="-122"/>
                <a:cs typeface="+mn-cs"/>
              </a:rPr>
              <a:t>③ </a:t>
            </a:r>
            <a:r>
              <a:rPr kumimoji="1" lang="zh-CN" altLang="en-US" sz="2800" b="1" i="0" u="none" strike="noStrike" kern="0" cap="none" spc="0" normalizeH="0" baseline="0" noProof="0" dirty="0">
                <a:ln>
                  <a:noFill/>
                </a:ln>
                <a:solidFill>
                  <a:srgbClr val="0000FF"/>
                </a:solidFill>
                <a:effectLst/>
                <a:uLnTx/>
                <a:uFillTx/>
                <a:latin typeface="+mn-lt"/>
                <a:ea typeface="华文中宋" panose="02010600040101010101" pitchFamily="2" charset="-122"/>
                <a:cs typeface="+mn-cs"/>
              </a:rPr>
              <a:t>过共析钢</a:t>
            </a:r>
            <a:r>
              <a:rPr kumimoji="1" lang="zh-CN" altLang="en-US" sz="2800" b="1" i="0" u="none" strike="noStrike" kern="0" cap="none" spc="0" normalizeH="0" baseline="0" noProof="0" dirty="0">
                <a:ln>
                  <a:noFill/>
                </a:ln>
                <a:effectLst/>
                <a:uLnTx/>
                <a:uFillTx/>
                <a:latin typeface="+mn-lt"/>
                <a:ea typeface="华文中宋" panose="02010600040101010101" pitchFamily="2" charset="-122"/>
                <a:cs typeface="+mn-cs"/>
              </a:rPr>
              <a:t> </a:t>
            </a:r>
            <a:r>
              <a:rPr kumimoji="1" lang="en-US" altLang="zh-CN" sz="2800" b="1" i="0" u="none" strike="noStrike" kern="0" cap="none" spc="0" normalizeH="0" baseline="0" noProof="0" dirty="0">
                <a:ln>
                  <a:noFill/>
                </a:ln>
                <a:effectLst/>
                <a:uLnTx/>
                <a:uFillTx/>
                <a:latin typeface="+mn-lt"/>
                <a:ea typeface="华文中宋" panose="02010600040101010101" pitchFamily="2" charset="-122"/>
                <a:cs typeface="+mn-cs"/>
              </a:rPr>
              <a:t>(0.77~2.11%C)</a:t>
            </a:r>
          </a:p>
        </p:txBody>
      </p:sp>
      <p:sp>
        <p:nvSpPr>
          <p:cNvPr id="118788" name="Rectangle 4"/>
          <p:cNvSpPr/>
          <p:nvPr/>
        </p:nvSpPr>
        <p:spPr>
          <a:xfrm>
            <a:off x="358799" y="1829009"/>
            <a:ext cx="8382000" cy="1512570"/>
          </a:xfrm>
          <a:prstGeom prst="rect">
            <a:avLst/>
          </a:prstGeom>
          <a:noFill/>
          <a:ln w="9525">
            <a:noFill/>
          </a:ln>
        </p:spPr>
        <p:txBody>
          <a:bodyPr/>
          <a:lstStyle/>
          <a:p>
            <a:pPr marL="342900" lvl="0" indent="-342900" eaLnBrk="1" hangingPunct="1">
              <a:spcBef>
                <a:spcPct val="20000"/>
              </a:spcBef>
              <a:buClr>
                <a:schemeClr val="accent2"/>
              </a:buClr>
              <a:buSzPct val="80000"/>
              <a:buFont typeface="Wingdings" panose="05000000000000000000" pitchFamily="2" charset="2"/>
              <a:buChar char="l"/>
            </a:pPr>
            <a:r>
              <a:rPr lang="zh-CN" altLang="en-US" sz="3200" b="1" dirty="0">
                <a:latin typeface="Times New Roman" panose="02020603050405020304" pitchFamily="18" charset="0"/>
                <a:ea typeface="华文中宋" panose="02010600040101010101" pitchFamily="2" charset="-122"/>
              </a:rPr>
              <a:t>铁碳相图上的合金，按成分可分为</a:t>
            </a:r>
            <a:r>
              <a:rPr lang="zh-CN" altLang="en-US" sz="3200" b="1" dirty="0">
                <a:solidFill>
                  <a:srgbClr val="0000FF"/>
                </a:solidFill>
                <a:latin typeface="Times New Roman" panose="02020603050405020304" pitchFamily="18" charset="0"/>
                <a:ea typeface="华文中宋" panose="02010600040101010101" pitchFamily="2" charset="-122"/>
              </a:rPr>
              <a:t>三类</a:t>
            </a:r>
            <a:r>
              <a:rPr lang="zh-CN" altLang="en-US" sz="3200" b="1" dirty="0">
                <a:latin typeface="Times New Roman" panose="02020603050405020304" pitchFamily="18" charset="0"/>
                <a:ea typeface="华文中宋" panose="02010600040101010101" pitchFamily="2" charset="-122"/>
              </a:rPr>
              <a:t>：</a:t>
            </a:r>
          </a:p>
          <a:p>
            <a:pPr marL="342900" lvl="0" indent="-342900" algn="just" eaLnBrk="1" hangingPunct="1">
              <a:lnSpc>
                <a:spcPct val="110000"/>
              </a:lnSpc>
              <a:spcBef>
                <a:spcPct val="20000"/>
              </a:spcBef>
              <a:buClr>
                <a:schemeClr val="accent2"/>
              </a:buClr>
              <a:buSzPct val="80000"/>
              <a:buFont typeface="Wingdings" panose="05000000000000000000" pitchFamily="2" charset="2"/>
              <a:buChar char="l"/>
            </a:pPr>
            <a:r>
              <a:rPr lang="zh-CN" altLang="en-US" sz="3200" b="1" dirty="0">
                <a:latin typeface="Times New Roman" panose="02020603050405020304" pitchFamily="18" charset="0"/>
                <a:ea typeface="华文中宋" panose="02010600040101010101" pitchFamily="2" charset="-122"/>
              </a:rPr>
              <a:t>⑴ </a:t>
            </a:r>
            <a:r>
              <a:rPr lang="zh-CN" altLang="en-US" sz="3200" b="1" dirty="0">
                <a:solidFill>
                  <a:srgbClr val="0000FF"/>
                </a:solidFill>
                <a:latin typeface="Times New Roman" panose="02020603050405020304" pitchFamily="18" charset="0"/>
                <a:ea typeface="华文中宋" panose="02010600040101010101" pitchFamily="2" charset="-122"/>
              </a:rPr>
              <a:t>工业纯铁</a:t>
            </a:r>
            <a:r>
              <a:rPr lang="en-US" altLang="zh-CN" sz="3200" b="1" dirty="0">
                <a:latin typeface="Times New Roman" panose="02020603050405020304" pitchFamily="18" charset="0"/>
                <a:ea typeface="华文中宋" panose="02010600040101010101" pitchFamily="2" charset="-122"/>
              </a:rPr>
              <a:t>(&lt;0.0218%C) </a:t>
            </a:r>
            <a:r>
              <a:rPr lang="zh-CN" altLang="en-US" sz="3200" b="1" dirty="0">
                <a:latin typeface="Times New Roman" panose="02020603050405020304" pitchFamily="18" charset="0"/>
                <a:ea typeface="华文中宋" panose="02010600040101010101" pitchFamily="2" charset="-122"/>
              </a:rPr>
              <a:t>组织为单相铁素体。</a:t>
            </a:r>
            <a:endParaRPr lang="zh-CN" altLang="en-US" sz="3200" dirty="0">
              <a:latin typeface="Times New Roman" panose="02020603050405020304" pitchFamily="18" charset="0"/>
            </a:endParaRPr>
          </a:p>
        </p:txBody>
      </p:sp>
      <p:grpSp>
        <p:nvGrpSpPr>
          <p:cNvPr id="2" name="Group 21"/>
          <p:cNvGrpSpPr/>
          <p:nvPr/>
        </p:nvGrpSpPr>
        <p:grpSpPr>
          <a:xfrm>
            <a:off x="5711190" y="3213100"/>
            <a:ext cx="3319780" cy="3330575"/>
            <a:chOff x="2880" y="1536"/>
            <a:chExt cx="2315" cy="2352"/>
          </a:xfrm>
        </p:grpSpPr>
        <p:pic>
          <p:nvPicPr>
            <p:cNvPr id="116745" name="Picture 18" descr="image030"/>
            <p:cNvPicPr>
              <a:picLocks noChangeAspect="1"/>
            </p:cNvPicPr>
            <p:nvPr/>
          </p:nvPicPr>
          <p:blipFill>
            <a:blip r:embed="rId2"/>
            <a:stretch>
              <a:fillRect/>
            </a:stretch>
          </p:blipFill>
          <p:spPr>
            <a:xfrm>
              <a:off x="2880" y="1536"/>
              <a:ext cx="2315" cy="2352"/>
            </a:xfrm>
            <a:prstGeom prst="rect">
              <a:avLst/>
            </a:prstGeom>
            <a:noFill/>
            <a:ln w="28575" cap="flat" cmpd="sng">
              <a:solidFill>
                <a:srgbClr val="00FFFF"/>
              </a:solidFill>
              <a:prstDash val="solid"/>
              <a:miter/>
              <a:headEnd type="none" w="med" len="med"/>
              <a:tailEnd type="none" w="med" len="med"/>
            </a:ln>
          </p:spPr>
        </p:pic>
        <p:sp>
          <p:nvSpPr>
            <p:cNvPr id="116746" name="Rectangle 19"/>
            <p:cNvSpPr/>
            <p:nvPr/>
          </p:nvSpPr>
          <p:spPr>
            <a:xfrm>
              <a:off x="2928" y="3257"/>
              <a:ext cx="96" cy="589"/>
            </a:xfrm>
            <a:prstGeom prst="rect">
              <a:avLst/>
            </a:prstGeom>
            <a:noFill/>
            <a:ln w="9525">
              <a:noFill/>
            </a:ln>
          </p:spPr>
          <p:txBody>
            <a:bodyPr vert="eaVert" wrap="none" anchor="ctr"/>
            <a:lstStyle/>
            <a:p>
              <a:pPr lvl="0" algn="ctr" eaLnBrk="1" hangingPunct="1"/>
              <a:r>
                <a:rPr lang="zh-CN" altLang="en-US" sz="1200" b="1" dirty="0">
                  <a:solidFill>
                    <a:schemeClr val="hlink"/>
                  </a:solidFill>
                  <a:latin typeface="Times New Roman" panose="02020603050405020304" pitchFamily="18" charset="0"/>
                  <a:ea typeface="宋体" panose="02010600030101010101" pitchFamily="2" charset="-122"/>
                </a:rPr>
                <a:t>工业纯铁</a:t>
              </a:r>
            </a:p>
          </p:txBody>
        </p:sp>
        <p:sp>
          <p:nvSpPr>
            <p:cNvPr id="116747" name="Line 20"/>
            <p:cNvSpPr/>
            <p:nvPr/>
          </p:nvSpPr>
          <p:spPr>
            <a:xfrm flipV="1">
              <a:off x="3024" y="3393"/>
              <a:ext cx="240" cy="136"/>
            </a:xfrm>
            <a:prstGeom prst="line">
              <a:avLst/>
            </a:prstGeom>
            <a:ln w="12700" cap="flat" cmpd="sng">
              <a:solidFill>
                <a:schemeClr val="hlink"/>
              </a:solidFill>
              <a:prstDash val="solid"/>
              <a:miter/>
              <a:headEnd type="none" w="med" len="med"/>
              <a:tailEnd type="stealth" w="med" len="med"/>
            </a:ln>
          </p:spPr>
        </p:sp>
      </p:grpSp>
      <p:pic>
        <p:nvPicPr>
          <p:cNvPr id="12" name="内容占位符 1" descr="新校徽（3M）弓之乐"/>
          <p:cNvPicPr>
            <a:picLocks noChangeAspect="1"/>
          </p:cNvPicPr>
          <p:nvPr/>
        </p:nvPicPr>
        <p:blipFill>
          <a:blip r:embed="rId3"/>
          <a:stretch>
            <a:fillRect/>
          </a:stretch>
        </p:blipFill>
        <p:spPr>
          <a:xfrm>
            <a:off x="-29161" y="0"/>
            <a:ext cx="775921" cy="764704"/>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8786"/>
                                        </p:tgtEl>
                                        <p:attrNameLst>
                                          <p:attrName>style.visibility</p:attrName>
                                        </p:attrNameLst>
                                      </p:cBhvr>
                                      <p:to>
                                        <p:strVal val="visible"/>
                                      </p:to>
                                    </p:set>
                                    <p:animEffect transition="in" filter="wipe(left)">
                                      <p:cBhvr>
                                        <p:cTn id="7" dur="500"/>
                                        <p:tgtEl>
                                          <p:spTgt spid="11878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18788"/>
                                        </p:tgtEl>
                                        <p:attrNameLst>
                                          <p:attrName>style.visibility</p:attrName>
                                        </p:attrNameLst>
                                      </p:cBhvr>
                                      <p:to>
                                        <p:strVal val="visible"/>
                                      </p:to>
                                    </p:set>
                                    <p:animEffect transition="in" filter="wipe(left)">
                                      <p:cBhvr>
                                        <p:cTn id="11" dur="500"/>
                                        <p:tgtEl>
                                          <p:spTgt spid="118788"/>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18787">
                                            <p:txEl>
                                              <p:pRg st="0" end="0"/>
                                            </p:txEl>
                                          </p:spTgt>
                                        </p:tgtEl>
                                        <p:attrNameLst>
                                          <p:attrName>style.visibility</p:attrName>
                                        </p:attrNameLst>
                                      </p:cBhvr>
                                      <p:to>
                                        <p:strVal val="visible"/>
                                      </p:to>
                                    </p:set>
                                    <p:animEffect transition="in" filter="wipe(left)">
                                      <p:cBhvr>
                                        <p:cTn id="15" dur="500"/>
                                        <p:tgtEl>
                                          <p:spTgt spid="118787">
                                            <p:txEl>
                                              <p:pRg st="0" end="0"/>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18787">
                                            <p:txEl>
                                              <p:pRg st="1" end="1"/>
                                            </p:txEl>
                                          </p:spTgt>
                                        </p:tgtEl>
                                        <p:attrNameLst>
                                          <p:attrName>style.visibility</p:attrName>
                                        </p:attrNameLst>
                                      </p:cBhvr>
                                      <p:to>
                                        <p:strVal val="visible"/>
                                      </p:to>
                                    </p:set>
                                    <p:animEffect transition="in" filter="wipe(left)">
                                      <p:cBhvr>
                                        <p:cTn id="19" dur="500"/>
                                        <p:tgtEl>
                                          <p:spTgt spid="118787">
                                            <p:txEl>
                                              <p:pRg st="1" end="1"/>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18787">
                                            <p:txEl>
                                              <p:pRg st="2" end="2"/>
                                            </p:txEl>
                                          </p:spTgt>
                                        </p:tgtEl>
                                        <p:attrNameLst>
                                          <p:attrName>style.visibility</p:attrName>
                                        </p:attrNameLst>
                                      </p:cBhvr>
                                      <p:to>
                                        <p:strVal val="visible"/>
                                      </p:to>
                                    </p:set>
                                    <p:animEffect transition="in" filter="wipe(left)">
                                      <p:cBhvr>
                                        <p:cTn id="23" dur="500"/>
                                        <p:tgtEl>
                                          <p:spTgt spid="118787">
                                            <p:txEl>
                                              <p:pRg st="2" end="2"/>
                                            </p:tx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118787">
                                            <p:txEl>
                                              <p:pRg st="3" end="3"/>
                                            </p:txEl>
                                          </p:spTgt>
                                        </p:tgtEl>
                                        <p:attrNameLst>
                                          <p:attrName>style.visibility</p:attrName>
                                        </p:attrNameLst>
                                      </p:cBhvr>
                                      <p:to>
                                        <p:strVal val="visible"/>
                                      </p:to>
                                    </p:set>
                                    <p:animEffect transition="in" filter="wipe(left)">
                                      <p:cBhvr>
                                        <p:cTn id="27" dur="500"/>
                                        <p:tgtEl>
                                          <p:spTgt spid="118787">
                                            <p:txEl>
                                              <p:pRg st="3" end="3"/>
                                            </p:txEl>
                                          </p:spTgt>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118787">
                                            <p:txEl>
                                              <p:pRg st="4" end="4"/>
                                            </p:txEl>
                                          </p:spTgt>
                                        </p:tgtEl>
                                        <p:attrNameLst>
                                          <p:attrName>style.visibility</p:attrName>
                                        </p:attrNameLst>
                                      </p:cBhvr>
                                      <p:to>
                                        <p:strVal val="visible"/>
                                      </p:to>
                                    </p:set>
                                    <p:animEffect transition="in" filter="wipe(left)">
                                      <p:cBhvr>
                                        <p:cTn id="31" dur="500"/>
                                        <p:tgtEl>
                                          <p:spTgt spid="118787">
                                            <p:txEl>
                                              <p:pRg st="4" end="4"/>
                                            </p:txEl>
                                          </p:spTgt>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118787">
                                            <p:txEl>
                                              <p:pRg st="5" end="5"/>
                                            </p:txEl>
                                          </p:spTgt>
                                        </p:tgtEl>
                                        <p:attrNameLst>
                                          <p:attrName>style.visibility</p:attrName>
                                        </p:attrNameLst>
                                      </p:cBhvr>
                                      <p:to>
                                        <p:strVal val="visible"/>
                                      </p:to>
                                    </p:set>
                                    <p:animEffect transition="in" filter="wipe(left)">
                                      <p:cBhvr>
                                        <p:cTn id="35" dur="500"/>
                                        <p:tgtEl>
                                          <p:spTgt spid="118787">
                                            <p:txEl>
                                              <p:pRg st="5" end="5"/>
                                            </p:txEl>
                                          </p:spTgt>
                                        </p:tgtEl>
                                      </p:cBhvr>
                                    </p:animEffect>
                                  </p:childTnLst>
                                </p:cTn>
                              </p:par>
                            </p:childTnLst>
                          </p:cTn>
                        </p:par>
                        <p:par>
                          <p:cTn id="36" fill="hold">
                            <p:stCondLst>
                              <p:cond delay="4000"/>
                            </p:stCondLst>
                            <p:childTnLst>
                              <p:par>
                                <p:cTn id="37" presetID="22" presetClass="entr" presetSubtype="1" fill="hold" nodeType="after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wipe(up)">
                                      <p:cBhvr>
                                        <p:cTn id="3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6" grpId="0"/>
      <p:bldP spid="118787" grpId="0" build="p" advAuto="1000"/>
      <p:bldP spid="118788"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日期占位符 3"/>
          <p:cNvSpPr txBox="1">
            <a:spLocks noGrp="1"/>
          </p:cNvSpPr>
          <p:nvPr>
            <p:ph type="dt" sz="half" idx="10"/>
          </p:nvPr>
        </p:nvSpPr>
        <p:spPr>
          <a:xfrm>
            <a:off x="0" y="6510338"/>
            <a:ext cx="2233613"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17763" name="灯片编号占位符 5"/>
          <p:cNvSpPr txBox="1">
            <a:spLocks noGrp="1"/>
          </p:cNvSpPr>
          <p:nvPr>
            <p:ph type="sldNum" sz="quarter" idx="12"/>
          </p:nvPr>
        </p:nvSpPr>
        <p:spPr>
          <a:xfrm>
            <a:off x="8537575" y="6662420"/>
            <a:ext cx="606425" cy="195580"/>
          </a:xfrm>
        </p:spPr>
        <p:txBody>
          <a:bodyPr lIns="92075" tIns="46038" rIns="92075" bIns="46038" anchor="ctr"/>
          <a:lstStyle/>
          <a:p>
            <a:pPr algn="r" eaLnBrk="1" hangingPunct="1"/>
            <a:fld id="{9A0DB2DC-4C9A-4742-B13C-FB6460FD3503}" type="slidenum">
              <a:rPr lang="en-US" altLang="zh-CN" sz="1400" dirty="0"/>
              <a:t>122</a:t>
            </a:fld>
            <a:endParaRPr lang="en-US" altLang="zh-CN" sz="1400" dirty="0"/>
          </a:p>
        </p:txBody>
      </p:sp>
      <p:sp>
        <p:nvSpPr>
          <p:cNvPr id="252930" name="Rectangle 2"/>
          <p:cNvSpPr>
            <a:spLocks noGrp="1" noChangeArrowheads="1"/>
          </p:cNvSpPr>
          <p:nvPr>
            <p:ph type="title"/>
          </p:nvPr>
        </p:nvSpPr>
        <p:spPr>
          <a:xfrm>
            <a:off x="1475656" y="164465"/>
            <a:ext cx="6619875"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⑶ </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白口铸铁</a:t>
            </a:r>
          </a:p>
        </p:txBody>
      </p:sp>
      <p:sp>
        <p:nvSpPr>
          <p:cNvPr id="117765" name="Rectangle 3"/>
          <p:cNvSpPr>
            <a:spLocks noGrp="1"/>
          </p:cNvSpPr>
          <p:nvPr>
            <p:ph idx="1"/>
          </p:nvPr>
        </p:nvSpPr>
        <p:spPr>
          <a:xfrm>
            <a:off x="214631" y="1916832"/>
            <a:ext cx="5149458" cy="4464496"/>
          </a:xfrm>
        </p:spPr>
        <p:txBody>
          <a:bodyPr vert="horz" wrap="square" lIns="91440" tIns="45720" rIns="91440" bIns="45720" anchor="t"/>
          <a:lstStyle/>
          <a:p>
            <a:pPr algn="just" eaLnBrk="1" hangingPunct="1">
              <a:lnSpc>
                <a:spcPct val="110000"/>
              </a:lnSpc>
            </a:pPr>
            <a:r>
              <a:rPr lang="en-US" altLang="zh-CN" sz="2800" b="1" dirty="0">
                <a:solidFill>
                  <a:schemeClr val="folHlink"/>
                </a:solidFill>
                <a:ea typeface="华文中宋" panose="02010600040101010101" pitchFamily="2" charset="-122"/>
              </a:rPr>
              <a:t> (2.11~6.69%C)</a:t>
            </a:r>
          </a:p>
          <a:p>
            <a:pPr algn="just" eaLnBrk="1" hangingPunct="1">
              <a:lnSpc>
                <a:spcPct val="110000"/>
              </a:lnSpc>
              <a:buNone/>
            </a:pPr>
            <a:r>
              <a:rPr lang="en-US" altLang="zh-CN" sz="2800" b="1" dirty="0">
                <a:solidFill>
                  <a:srgbClr val="CCFF99"/>
                </a:solidFill>
                <a:ea typeface="华文中宋" panose="02010600040101010101" pitchFamily="2" charset="-122"/>
              </a:rPr>
              <a:t>   </a:t>
            </a:r>
            <a:r>
              <a:rPr lang="zh-CN" altLang="en-US" sz="2800" b="1" dirty="0">
                <a:ea typeface="华文中宋" panose="02010600040101010101" pitchFamily="2" charset="-122"/>
              </a:rPr>
              <a:t>铸造性能好</a:t>
            </a:r>
            <a:r>
              <a:rPr lang="en-US" altLang="zh-CN" sz="2800" b="1" dirty="0">
                <a:ea typeface="华文中宋" panose="02010600040101010101" pitchFamily="2" charset="-122"/>
              </a:rPr>
              <a:t>, </a:t>
            </a:r>
            <a:r>
              <a:rPr lang="zh-CN" altLang="en-US" sz="2800" b="1" dirty="0">
                <a:ea typeface="华文中宋" panose="02010600040101010101" pitchFamily="2" charset="-122"/>
              </a:rPr>
              <a:t>硬而脆</a:t>
            </a:r>
          </a:p>
          <a:p>
            <a:pPr algn="just" eaLnBrk="1" hangingPunct="1">
              <a:lnSpc>
                <a:spcPct val="110000"/>
              </a:lnSpc>
            </a:pPr>
            <a:r>
              <a:rPr lang="zh-CN" altLang="en-US" sz="2800" b="1" dirty="0">
                <a:ea typeface="华文中宋" panose="02010600040101010101" pitchFamily="2" charset="-122"/>
              </a:rPr>
              <a:t>分类：</a:t>
            </a:r>
            <a:endParaRPr lang="en-US" altLang="zh-CN" sz="2800" b="1" dirty="0">
              <a:ea typeface="华文中宋" panose="02010600040101010101" pitchFamily="2" charset="-122"/>
            </a:endParaRPr>
          </a:p>
          <a:p>
            <a:pPr algn="just" eaLnBrk="1" hangingPunct="1">
              <a:lnSpc>
                <a:spcPct val="110000"/>
              </a:lnSpc>
              <a:buNone/>
            </a:pPr>
            <a:r>
              <a:rPr lang="en-US" altLang="zh-CN" sz="2800" b="1" dirty="0">
                <a:ea typeface="华文中宋" panose="02010600040101010101" pitchFamily="2" charset="-122"/>
              </a:rPr>
              <a:t>     </a:t>
            </a:r>
            <a:r>
              <a:rPr lang="zh-CN" altLang="en-US" sz="2800" b="1" dirty="0">
                <a:ea typeface="华文中宋" panose="02010600040101010101" pitchFamily="2" charset="-122"/>
              </a:rPr>
              <a:t>① </a:t>
            </a:r>
            <a:r>
              <a:rPr lang="zh-CN" altLang="en-US" sz="2800" b="1" kern="1200" dirty="0">
                <a:solidFill>
                  <a:srgbClr val="0000FF"/>
                </a:solidFill>
                <a:latin typeface="Times New Roman" panose="02020603050405020304" pitchFamily="18" charset="0"/>
                <a:ea typeface="华文中宋" panose="02010600040101010101" pitchFamily="2" charset="-122"/>
              </a:rPr>
              <a:t>亚共晶</a:t>
            </a:r>
            <a:r>
              <a:rPr lang="zh-CN" altLang="en-US" sz="2800" b="1" dirty="0">
                <a:ea typeface="华文中宋" panose="02010600040101010101" pitchFamily="2" charset="-122"/>
              </a:rPr>
              <a:t>白口铸铁</a:t>
            </a:r>
          </a:p>
          <a:p>
            <a:pPr algn="just" eaLnBrk="1" hangingPunct="1">
              <a:lnSpc>
                <a:spcPct val="110000"/>
              </a:lnSpc>
              <a:buNone/>
            </a:pPr>
            <a:r>
              <a:rPr lang="zh-CN" altLang="en-US" sz="2800" b="1" dirty="0">
                <a:ea typeface="华文中宋" panose="02010600040101010101" pitchFamily="2" charset="-122"/>
              </a:rPr>
              <a:t>          </a:t>
            </a:r>
            <a:r>
              <a:rPr lang="en-US" altLang="zh-CN" sz="2800" b="1" dirty="0">
                <a:ea typeface="华文中宋" panose="02010600040101010101" pitchFamily="2" charset="-122"/>
              </a:rPr>
              <a:t>(2.11~4.3%C)</a:t>
            </a:r>
          </a:p>
          <a:p>
            <a:pPr algn="just" eaLnBrk="1" hangingPunct="1">
              <a:lnSpc>
                <a:spcPct val="110000"/>
              </a:lnSpc>
              <a:buNone/>
            </a:pPr>
            <a:r>
              <a:rPr lang="en-US" altLang="zh-CN" sz="2800" b="1" dirty="0">
                <a:ea typeface="华文中宋" panose="02010600040101010101" pitchFamily="2" charset="-122"/>
              </a:rPr>
              <a:t>     ② </a:t>
            </a:r>
            <a:r>
              <a:rPr lang="zh-CN" altLang="en-US" sz="2800" b="1" kern="1200" dirty="0">
                <a:solidFill>
                  <a:srgbClr val="0000FF"/>
                </a:solidFill>
                <a:latin typeface="Times New Roman" panose="02020603050405020304" pitchFamily="18" charset="0"/>
                <a:ea typeface="华文中宋" panose="02010600040101010101" pitchFamily="2" charset="-122"/>
              </a:rPr>
              <a:t>共晶</a:t>
            </a:r>
            <a:r>
              <a:rPr lang="zh-CN" altLang="en-US" sz="2800" b="1" dirty="0">
                <a:ea typeface="华文中宋" panose="02010600040101010101" pitchFamily="2" charset="-122"/>
              </a:rPr>
              <a:t>白口铸铁</a:t>
            </a:r>
            <a:r>
              <a:rPr lang="en-US" altLang="zh-CN" sz="2800" b="1" dirty="0">
                <a:ea typeface="华文中宋" panose="02010600040101010101" pitchFamily="2" charset="-122"/>
              </a:rPr>
              <a:t>(4.3%C)</a:t>
            </a:r>
          </a:p>
          <a:p>
            <a:pPr algn="just" eaLnBrk="1" hangingPunct="1">
              <a:lnSpc>
                <a:spcPct val="110000"/>
              </a:lnSpc>
              <a:buNone/>
            </a:pPr>
            <a:r>
              <a:rPr lang="en-US" altLang="zh-CN" sz="2800" b="1" dirty="0">
                <a:ea typeface="华文中宋" panose="02010600040101010101" pitchFamily="2" charset="-122"/>
              </a:rPr>
              <a:t>     ③ </a:t>
            </a:r>
            <a:r>
              <a:rPr lang="zh-CN" altLang="en-US" sz="2800" b="1" kern="1200" dirty="0">
                <a:solidFill>
                  <a:srgbClr val="0000FF"/>
                </a:solidFill>
                <a:latin typeface="Times New Roman" panose="02020603050405020304" pitchFamily="18" charset="0"/>
                <a:ea typeface="华文中宋" panose="02010600040101010101" pitchFamily="2" charset="-122"/>
              </a:rPr>
              <a:t>过共晶</a:t>
            </a:r>
            <a:r>
              <a:rPr lang="zh-CN" altLang="en-US" sz="2800" b="1" dirty="0">
                <a:ea typeface="华文中宋" panose="02010600040101010101" pitchFamily="2" charset="-122"/>
              </a:rPr>
              <a:t>白口铸铁：</a:t>
            </a:r>
          </a:p>
          <a:p>
            <a:pPr algn="just" eaLnBrk="1" hangingPunct="1">
              <a:lnSpc>
                <a:spcPct val="110000"/>
              </a:lnSpc>
              <a:buNone/>
            </a:pPr>
            <a:r>
              <a:rPr lang="zh-CN" altLang="en-US" sz="2800" b="1" dirty="0">
                <a:ea typeface="华文中宋" panose="02010600040101010101" pitchFamily="2" charset="-122"/>
              </a:rPr>
              <a:t>           </a:t>
            </a:r>
            <a:r>
              <a:rPr lang="en-US" altLang="zh-CN" sz="2800" b="1" dirty="0">
                <a:ea typeface="华文中宋" panose="02010600040101010101" pitchFamily="2" charset="-122"/>
              </a:rPr>
              <a:t>(4.3~6.69%C)</a:t>
            </a:r>
            <a:endParaRPr lang="en-US" altLang="zh-CN" sz="2800" dirty="0">
              <a:ea typeface="华文中宋" panose="02010600040101010101" pitchFamily="2" charset="-122"/>
            </a:endParaRPr>
          </a:p>
        </p:txBody>
      </p:sp>
      <p:pic>
        <p:nvPicPr>
          <p:cNvPr id="252932" name="Picture 4" descr="Fe-C相图00"/>
          <p:cNvPicPr>
            <a:picLocks noChangeAspect="1"/>
          </p:cNvPicPr>
          <p:nvPr/>
        </p:nvPicPr>
        <p:blipFill>
          <a:blip r:embed="rId2"/>
          <a:stretch>
            <a:fillRect/>
          </a:stretch>
        </p:blipFill>
        <p:spPr>
          <a:xfrm>
            <a:off x="5436096" y="2420888"/>
            <a:ext cx="3183890" cy="3582670"/>
          </a:xfrm>
          <a:prstGeom prst="rect">
            <a:avLst/>
          </a:prstGeom>
          <a:noFill/>
          <a:ln w="38100" cap="flat" cmpd="sng">
            <a:solidFill>
              <a:srgbClr val="FF00FF"/>
            </a:solidFill>
            <a:prstDash val="solid"/>
            <a:miter/>
            <a:headEnd type="none" w="med" len="med"/>
            <a:tailEnd type="none" w="med" len="med"/>
          </a:ln>
        </p:spPr>
      </p:pic>
      <p:pic>
        <p:nvPicPr>
          <p:cNvPr id="8" name="内容占位符 1" descr="新校徽（3M）弓之乐"/>
          <p:cNvPicPr>
            <a:picLocks noChangeAspect="1"/>
          </p:cNvPicPr>
          <p:nvPr/>
        </p:nvPicPr>
        <p:blipFill>
          <a:blip r:embed="rId3"/>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52932"/>
                                        </p:tgtEl>
                                        <p:attrNameLst>
                                          <p:attrName>style.visibility</p:attrName>
                                        </p:attrNameLst>
                                      </p:cBhvr>
                                      <p:to>
                                        <p:strVal val="visible"/>
                                      </p:to>
                                    </p:set>
                                    <p:animEffect transition="in" filter="wipe(up)">
                                      <p:cBhvr>
                                        <p:cTn id="7" dur="500"/>
                                        <p:tgtEl>
                                          <p:spTgt spid="2529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日期占位符 3"/>
          <p:cNvSpPr txBox="1">
            <a:spLocks noGrp="1"/>
          </p:cNvSpPr>
          <p:nvPr>
            <p:ph type="dt" sz="half" idx="10"/>
          </p:nvPr>
        </p:nvSpPr>
        <p:spPr>
          <a:xfrm>
            <a:off x="0" y="6510338"/>
            <a:ext cx="2233613"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18787" name="灯片编号占位符 5"/>
          <p:cNvSpPr txBox="1">
            <a:spLocks noGrp="1"/>
          </p:cNvSpPr>
          <p:nvPr>
            <p:ph type="sldNum" sz="quarter" idx="12"/>
          </p:nvPr>
        </p:nvSpPr>
        <p:spPr>
          <a:xfrm>
            <a:off x="8526145" y="6551930"/>
            <a:ext cx="617855" cy="306070"/>
          </a:xfrm>
        </p:spPr>
        <p:txBody>
          <a:bodyPr lIns="92075" tIns="46038" rIns="92075" bIns="46038" anchor="ctr"/>
          <a:lstStyle/>
          <a:p>
            <a:pPr algn="r" eaLnBrk="1" hangingPunct="1"/>
            <a:fld id="{9A0DB2DC-4C9A-4742-B13C-FB6460FD3503}" type="slidenum">
              <a:rPr lang="en-US" altLang="zh-CN" sz="1400" dirty="0"/>
              <a:t>123</a:t>
            </a:fld>
            <a:endParaRPr lang="en-US" altLang="zh-CN" sz="1400" dirty="0"/>
          </a:p>
        </p:txBody>
      </p:sp>
      <p:sp>
        <p:nvSpPr>
          <p:cNvPr id="245762" name="Rectangle 2"/>
          <p:cNvSpPr>
            <a:spLocks noGrp="1" noChangeArrowheads="1"/>
          </p:cNvSpPr>
          <p:nvPr>
            <p:ph type="title"/>
          </p:nvPr>
        </p:nvSpPr>
        <p:spPr>
          <a:xfrm>
            <a:off x="1536351" y="64557"/>
            <a:ext cx="6883400" cy="1244978"/>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Times New Roman" panose="02020603050405020304" pitchFamily="18" charset="0"/>
                <a:ea typeface="华文中宋" panose="02010600040101010101" pitchFamily="2" charset="-122"/>
                <a:cs typeface="+mj-cs"/>
              </a:rPr>
              <a:t>㈠</a:t>
            </a:r>
            <a:r>
              <a:rPr kumimoji="1" lang="zh-CN" altLang="en-US" sz="4400" b="1" i="0" u="none" strike="noStrike" kern="0" cap="none" spc="0" normalizeH="0" baseline="0" noProof="0" dirty="0">
                <a:ln>
                  <a:noFill/>
                </a:ln>
                <a:solidFill>
                  <a:srgbClr val="FF0000"/>
                </a:solidFill>
                <a:uLnTx/>
                <a:uFillTx/>
                <a:latin typeface="Times New Roman" panose="02020603050405020304" pitchFamily="18" charset="0"/>
                <a:ea typeface="华文中宋" panose="02010600040101010101" pitchFamily="2" charset="-122"/>
                <a:cs typeface="+mj-cs"/>
              </a:rPr>
              <a:t>工业纯铁的结晶过程</a:t>
            </a:r>
          </a:p>
        </p:txBody>
      </p:sp>
      <p:sp>
        <p:nvSpPr>
          <p:cNvPr id="118789" name="Rectangle 3"/>
          <p:cNvSpPr>
            <a:spLocks noGrp="1"/>
          </p:cNvSpPr>
          <p:nvPr>
            <p:ph idx="1"/>
          </p:nvPr>
        </p:nvSpPr>
        <p:spPr>
          <a:xfrm>
            <a:off x="586762" y="2204864"/>
            <a:ext cx="3671887" cy="3893916"/>
          </a:xfrm>
        </p:spPr>
        <p:txBody>
          <a:bodyPr vert="horz" wrap="square" lIns="91440" tIns="45720" rIns="91440" bIns="45720" anchor="t"/>
          <a:lstStyle/>
          <a:p>
            <a:pPr algn="just" eaLnBrk="1" hangingPunct="1">
              <a:lnSpc>
                <a:spcPct val="110000"/>
              </a:lnSpc>
            </a:pPr>
            <a:r>
              <a:rPr lang="zh-CN" altLang="en-US" b="1" dirty="0">
                <a:ea typeface="华文中宋" panose="02010600040101010101" pitchFamily="2" charset="-122"/>
              </a:rPr>
              <a:t>合金液体在</a:t>
            </a:r>
            <a:r>
              <a:rPr lang="en-US" altLang="zh-CN" b="1" dirty="0">
                <a:solidFill>
                  <a:srgbClr val="0000FF"/>
                </a:solidFill>
                <a:ea typeface="华文中宋" panose="02010600040101010101" pitchFamily="2" charset="-122"/>
              </a:rPr>
              <a:t>1-2</a:t>
            </a:r>
            <a:r>
              <a:rPr lang="zh-CN" altLang="en-US" b="1" dirty="0">
                <a:ea typeface="华文中宋" panose="02010600040101010101" pitchFamily="2" charset="-122"/>
              </a:rPr>
              <a:t>点间转变为</a:t>
            </a:r>
            <a:r>
              <a:rPr lang="zh-CN" altLang="en-US" b="1" i="1" dirty="0">
                <a:solidFill>
                  <a:srgbClr val="0000FF"/>
                </a:solidFill>
                <a:ea typeface="华文中宋" panose="02010600040101010101" pitchFamily="2" charset="-122"/>
                <a:sym typeface="Symbol" panose="05050102010706020507" pitchFamily="18" charset="2"/>
              </a:rPr>
              <a:t></a:t>
            </a:r>
            <a:r>
              <a:rPr lang="zh-CN" altLang="en-US" b="1" dirty="0">
                <a:ea typeface="华文中宋" panose="02010600040101010101" pitchFamily="2" charset="-122"/>
              </a:rPr>
              <a:t>，</a:t>
            </a:r>
            <a:endParaRPr lang="en-US" altLang="zh-CN" b="1" dirty="0">
              <a:ea typeface="华文中宋" panose="02010600040101010101" pitchFamily="2" charset="-122"/>
            </a:endParaRPr>
          </a:p>
          <a:p>
            <a:pPr algn="just" eaLnBrk="1" hangingPunct="1">
              <a:lnSpc>
                <a:spcPct val="110000"/>
              </a:lnSpc>
            </a:pPr>
            <a:r>
              <a:rPr lang="en-US" altLang="zh-CN" b="1" dirty="0">
                <a:solidFill>
                  <a:srgbClr val="0000FF"/>
                </a:solidFill>
                <a:ea typeface="华文中宋" panose="02010600040101010101" pitchFamily="2" charset="-122"/>
              </a:rPr>
              <a:t>3-4</a:t>
            </a:r>
            <a:r>
              <a:rPr lang="zh-CN" altLang="en-US" b="1" dirty="0">
                <a:ea typeface="华文中宋" panose="02010600040101010101" pitchFamily="2" charset="-122"/>
              </a:rPr>
              <a:t>点间</a:t>
            </a:r>
            <a:r>
              <a:rPr lang="zh-CN" altLang="en-US" b="1" i="1" dirty="0">
                <a:solidFill>
                  <a:srgbClr val="0000FF"/>
                </a:solidFill>
                <a:ea typeface="华文中宋" panose="02010600040101010101" pitchFamily="2" charset="-122"/>
                <a:sym typeface="Symbol" panose="05050102010706020507" pitchFamily="18" charset="2"/>
              </a:rPr>
              <a:t></a:t>
            </a:r>
            <a:r>
              <a:rPr lang="zh-CN" altLang="en-US" b="1" dirty="0">
                <a:solidFill>
                  <a:srgbClr val="0000FF"/>
                </a:solidFill>
                <a:ea typeface="华文中宋" panose="02010600040101010101" pitchFamily="2" charset="-122"/>
              </a:rPr>
              <a:t>→</a:t>
            </a:r>
            <a:r>
              <a:rPr lang="zh-CN" altLang="en-US" b="1" i="1" dirty="0">
                <a:solidFill>
                  <a:srgbClr val="0000FF"/>
                </a:solidFill>
                <a:ea typeface="华文中宋" panose="02010600040101010101" pitchFamily="2" charset="-122"/>
                <a:sym typeface="Symbol" panose="05050102010706020507" pitchFamily="18" charset="2"/>
              </a:rPr>
              <a:t></a:t>
            </a:r>
            <a:r>
              <a:rPr lang="zh-CN" altLang="en-US" b="1" dirty="0">
                <a:ea typeface="华文中宋" panose="02010600040101010101" pitchFamily="2" charset="-122"/>
              </a:rPr>
              <a:t>，</a:t>
            </a:r>
            <a:endParaRPr lang="en-US" altLang="zh-CN" b="1" dirty="0">
              <a:ea typeface="华文中宋" panose="02010600040101010101" pitchFamily="2" charset="-122"/>
            </a:endParaRPr>
          </a:p>
          <a:p>
            <a:pPr algn="just" eaLnBrk="1" hangingPunct="1">
              <a:lnSpc>
                <a:spcPct val="110000"/>
              </a:lnSpc>
            </a:pPr>
            <a:r>
              <a:rPr lang="en-US" altLang="zh-CN" b="1" dirty="0">
                <a:solidFill>
                  <a:srgbClr val="0000FF"/>
                </a:solidFill>
                <a:ea typeface="华文中宋" panose="02010600040101010101" pitchFamily="2" charset="-122"/>
              </a:rPr>
              <a:t>5-6</a:t>
            </a:r>
            <a:r>
              <a:rPr lang="zh-CN" altLang="en-US" b="1" dirty="0">
                <a:ea typeface="华文中宋" panose="02010600040101010101" pitchFamily="2" charset="-122"/>
              </a:rPr>
              <a:t>点间</a:t>
            </a:r>
            <a:r>
              <a:rPr lang="zh-CN" altLang="en-US" b="1" i="1" dirty="0">
                <a:solidFill>
                  <a:srgbClr val="0000FF"/>
                </a:solidFill>
                <a:ea typeface="华文中宋" panose="02010600040101010101" pitchFamily="2" charset="-122"/>
                <a:sym typeface="Symbol" panose="05050102010706020507" pitchFamily="18" charset="2"/>
              </a:rPr>
              <a:t></a:t>
            </a:r>
            <a:r>
              <a:rPr lang="zh-CN" altLang="en-US" b="1" dirty="0">
                <a:solidFill>
                  <a:srgbClr val="0000FF"/>
                </a:solidFill>
                <a:ea typeface="华文中宋" panose="02010600040101010101" pitchFamily="2" charset="-122"/>
              </a:rPr>
              <a:t>→</a:t>
            </a:r>
            <a:r>
              <a:rPr lang="zh-CN" altLang="en-US" b="1" i="1" dirty="0">
                <a:solidFill>
                  <a:srgbClr val="0000FF"/>
                </a:solidFill>
                <a:ea typeface="华文中宋" panose="02010600040101010101" pitchFamily="2" charset="-122"/>
                <a:sym typeface="Symbol" panose="05050102010706020507" pitchFamily="18" charset="2"/>
              </a:rPr>
              <a:t></a:t>
            </a:r>
            <a:r>
              <a:rPr lang="zh-CN" altLang="en-US" b="1" dirty="0">
                <a:ea typeface="华文中宋" panose="02010600040101010101" pitchFamily="2" charset="-122"/>
              </a:rPr>
              <a:t>。</a:t>
            </a:r>
            <a:endParaRPr lang="en-US" altLang="zh-CN" b="1" dirty="0">
              <a:ea typeface="华文中宋" panose="02010600040101010101" pitchFamily="2" charset="-122"/>
            </a:endParaRPr>
          </a:p>
          <a:p>
            <a:pPr algn="just" eaLnBrk="1" hangingPunct="1">
              <a:lnSpc>
                <a:spcPct val="110000"/>
              </a:lnSpc>
            </a:pPr>
            <a:r>
              <a:rPr lang="zh-CN" altLang="en-US" b="1" dirty="0">
                <a:ea typeface="华文中宋" panose="02010600040101010101" pitchFamily="2" charset="-122"/>
              </a:rPr>
              <a:t>到</a:t>
            </a:r>
            <a:r>
              <a:rPr lang="en-US" altLang="zh-CN" b="1" dirty="0">
                <a:ea typeface="华文中宋" panose="02010600040101010101" pitchFamily="2" charset="-122"/>
              </a:rPr>
              <a:t>7</a:t>
            </a:r>
            <a:r>
              <a:rPr lang="zh-CN" altLang="en-US" b="1" dirty="0">
                <a:ea typeface="华文中宋" panose="02010600040101010101" pitchFamily="2" charset="-122"/>
              </a:rPr>
              <a:t>点，从</a:t>
            </a:r>
            <a:r>
              <a:rPr lang="zh-CN" altLang="en-US" b="1" i="1" dirty="0">
                <a:ea typeface="华文中宋" panose="02010600040101010101" pitchFamily="2" charset="-122"/>
                <a:sym typeface="Symbol" panose="05050102010706020507" pitchFamily="18" charset="2"/>
              </a:rPr>
              <a:t></a:t>
            </a:r>
            <a:r>
              <a:rPr lang="zh-CN" altLang="en-US" b="1" dirty="0">
                <a:ea typeface="华文中宋" panose="02010600040101010101" pitchFamily="2" charset="-122"/>
              </a:rPr>
              <a:t>中析出</a:t>
            </a:r>
            <a:r>
              <a:rPr lang="en-US" altLang="zh-CN" b="1" dirty="0">
                <a:ea typeface="华文中宋" panose="02010600040101010101" pitchFamily="2" charset="-122"/>
              </a:rPr>
              <a:t>Fe</a:t>
            </a:r>
            <a:r>
              <a:rPr lang="en-US" altLang="zh-CN" b="1" baseline="-30000" dirty="0">
                <a:ea typeface="华文中宋" panose="02010600040101010101" pitchFamily="2" charset="-122"/>
              </a:rPr>
              <a:t>3</a:t>
            </a:r>
            <a:r>
              <a:rPr lang="en-US" altLang="zh-CN" b="1" dirty="0">
                <a:ea typeface="华文中宋" panose="02010600040101010101" pitchFamily="2" charset="-122"/>
              </a:rPr>
              <a:t>C</a:t>
            </a:r>
            <a:r>
              <a:rPr lang="zh-CN" altLang="en-US" b="1" dirty="0">
                <a:ea typeface="华文中宋" panose="02010600040101010101" pitchFamily="2" charset="-122"/>
              </a:rPr>
              <a:t>。</a:t>
            </a:r>
          </a:p>
        </p:txBody>
      </p:sp>
      <p:grpSp>
        <p:nvGrpSpPr>
          <p:cNvPr id="118792" name="Group 5"/>
          <p:cNvGrpSpPr/>
          <p:nvPr/>
        </p:nvGrpSpPr>
        <p:grpSpPr>
          <a:xfrm>
            <a:off x="4572000" y="1772817"/>
            <a:ext cx="4176713" cy="4737522"/>
            <a:chOff x="2521" y="214"/>
            <a:chExt cx="3199" cy="3857"/>
          </a:xfrm>
        </p:grpSpPr>
        <p:pic>
          <p:nvPicPr>
            <p:cNvPr id="118794" name="Picture 6" descr="工业纯铁结晶过程"/>
            <p:cNvPicPr>
              <a:picLocks noChangeAspect="1"/>
            </p:cNvPicPr>
            <p:nvPr/>
          </p:nvPicPr>
          <p:blipFill>
            <a:blip r:embed="rId3"/>
            <a:stretch>
              <a:fillRect/>
            </a:stretch>
          </p:blipFill>
          <p:spPr>
            <a:xfrm>
              <a:off x="2521" y="214"/>
              <a:ext cx="3199" cy="3857"/>
            </a:xfrm>
            <a:prstGeom prst="rect">
              <a:avLst/>
            </a:prstGeom>
            <a:noFill/>
            <a:ln w="9525">
              <a:noFill/>
            </a:ln>
          </p:spPr>
        </p:pic>
        <p:sp>
          <p:nvSpPr>
            <p:cNvPr id="118795" name="Text Box 7"/>
            <p:cNvSpPr txBox="1"/>
            <p:nvPr/>
          </p:nvSpPr>
          <p:spPr>
            <a:xfrm>
              <a:off x="2571" y="1345"/>
              <a:ext cx="192" cy="282"/>
            </a:xfrm>
            <a:prstGeom prst="rect">
              <a:avLst/>
            </a:prstGeom>
            <a:noFill/>
            <a:ln w="9525">
              <a:noFill/>
            </a:ln>
          </p:spPr>
          <p:txBody>
            <a:bodyPr>
              <a:spAutoFit/>
            </a:bodyPr>
            <a:lstStyle/>
            <a:p>
              <a:pPr lvl="0" eaLnBrk="1" hangingPunct="1">
                <a:spcBef>
                  <a:spcPct val="50000"/>
                </a:spcBef>
              </a:pPr>
              <a:r>
                <a:rPr lang="en-US" altLang="zh-CN" sz="1800" b="1" dirty="0">
                  <a:solidFill>
                    <a:schemeClr val="bg2"/>
                  </a:solidFill>
                  <a:latin typeface="Times New Roman" panose="02020603050405020304" pitchFamily="18" charset="0"/>
                  <a:ea typeface="宋体" panose="02010600030101010101" pitchFamily="2" charset="-122"/>
                </a:rPr>
                <a:t>N</a:t>
              </a:r>
            </a:p>
          </p:txBody>
        </p:sp>
        <p:sp>
          <p:nvSpPr>
            <p:cNvPr id="118796" name="Text Box 8"/>
            <p:cNvSpPr txBox="1"/>
            <p:nvPr/>
          </p:nvSpPr>
          <p:spPr>
            <a:xfrm>
              <a:off x="3342" y="2400"/>
              <a:ext cx="192" cy="282"/>
            </a:xfrm>
            <a:prstGeom prst="rect">
              <a:avLst/>
            </a:prstGeom>
            <a:noFill/>
            <a:ln w="9525">
              <a:noFill/>
            </a:ln>
          </p:spPr>
          <p:txBody>
            <a:bodyPr>
              <a:spAutoFit/>
            </a:bodyPr>
            <a:lstStyle/>
            <a:p>
              <a:pPr lvl="0" eaLnBrk="1" hangingPunct="1">
                <a:spcBef>
                  <a:spcPct val="50000"/>
                </a:spcBef>
              </a:pPr>
              <a:r>
                <a:rPr lang="en-US" altLang="zh-CN" sz="1800" b="1" dirty="0">
                  <a:solidFill>
                    <a:schemeClr val="bg2"/>
                  </a:solidFill>
                  <a:latin typeface="Times New Roman" panose="02020603050405020304" pitchFamily="18" charset="0"/>
                  <a:ea typeface="宋体" panose="02010600030101010101" pitchFamily="2" charset="-122"/>
                </a:rPr>
                <a:t>S</a:t>
              </a:r>
            </a:p>
          </p:txBody>
        </p:sp>
        <p:sp>
          <p:nvSpPr>
            <p:cNvPr id="118797" name="Text Box 9"/>
            <p:cNvSpPr txBox="1"/>
            <p:nvPr/>
          </p:nvSpPr>
          <p:spPr>
            <a:xfrm>
              <a:off x="2967" y="1173"/>
              <a:ext cx="162" cy="212"/>
            </a:xfrm>
            <a:prstGeom prst="rect">
              <a:avLst/>
            </a:prstGeom>
            <a:noFill/>
            <a:ln w="9525">
              <a:noFill/>
            </a:ln>
          </p:spPr>
          <p:txBody>
            <a:bodyPr>
              <a:spAutoFit/>
            </a:bodyPr>
            <a:lstStyle/>
            <a:p>
              <a:pPr lvl="0" eaLnBrk="1" hangingPunct="1">
                <a:spcBef>
                  <a:spcPct val="50000"/>
                </a:spcBef>
              </a:pPr>
              <a:r>
                <a:rPr lang="en-US" altLang="zh-CN" sz="1200" b="1" dirty="0">
                  <a:solidFill>
                    <a:schemeClr val="bg2"/>
                  </a:solidFill>
                  <a:latin typeface="Times New Roman" panose="02020603050405020304" pitchFamily="18" charset="0"/>
                  <a:ea typeface="宋体" panose="02010600030101010101" pitchFamily="2" charset="-122"/>
                </a:rPr>
                <a:t>J</a:t>
              </a:r>
            </a:p>
          </p:txBody>
        </p:sp>
        <p:sp>
          <p:nvSpPr>
            <p:cNvPr id="118798" name="Text Box 10"/>
            <p:cNvSpPr txBox="1"/>
            <p:nvPr/>
          </p:nvSpPr>
          <p:spPr>
            <a:xfrm>
              <a:off x="3171" y="1008"/>
              <a:ext cx="240" cy="282"/>
            </a:xfrm>
            <a:prstGeom prst="rect">
              <a:avLst/>
            </a:prstGeom>
            <a:noFill/>
            <a:ln w="9525">
              <a:noFill/>
            </a:ln>
          </p:spPr>
          <p:txBody>
            <a:bodyPr>
              <a:spAutoFit/>
            </a:bodyPr>
            <a:lstStyle/>
            <a:p>
              <a:pPr lvl="0" eaLnBrk="1" hangingPunct="1">
                <a:spcBef>
                  <a:spcPct val="50000"/>
                </a:spcBef>
              </a:pPr>
              <a:r>
                <a:rPr lang="en-US" altLang="zh-CN" sz="1800" b="1" dirty="0">
                  <a:solidFill>
                    <a:schemeClr val="bg2"/>
                  </a:solidFill>
                  <a:latin typeface="Times New Roman" panose="02020603050405020304" pitchFamily="18" charset="0"/>
                  <a:ea typeface="宋体" panose="02010600030101010101" pitchFamily="2" charset="-122"/>
                </a:rPr>
                <a:t>B</a:t>
              </a:r>
            </a:p>
          </p:txBody>
        </p:sp>
        <p:sp>
          <p:nvSpPr>
            <p:cNvPr id="118799" name="Text Box 11"/>
            <p:cNvSpPr txBox="1"/>
            <p:nvPr/>
          </p:nvSpPr>
          <p:spPr>
            <a:xfrm>
              <a:off x="2850" y="1059"/>
              <a:ext cx="192" cy="212"/>
            </a:xfrm>
            <a:prstGeom prst="rect">
              <a:avLst/>
            </a:prstGeom>
            <a:noFill/>
            <a:ln w="9525">
              <a:noFill/>
            </a:ln>
          </p:spPr>
          <p:txBody>
            <a:bodyPr>
              <a:spAutoFit/>
            </a:bodyPr>
            <a:lstStyle/>
            <a:p>
              <a:pPr lvl="0" eaLnBrk="1" hangingPunct="1">
                <a:spcBef>
                  <a:spcPct val="50000"/>
                </a:spcBef>
              </a:pPr>
              <a:r>
                <a:rPr lang="en-US" altLang="zh-CN" sz="1200" b="1" dirty="0">
                  <a:solidFill>
                    <a:schemeClr val="bg2"/>
                  </a:solidFill>
                  <a:latin typeface="Times New Roman" panose="02020603050405020304" pitchFamily="18" charset="0"/>
                  <a:ea typeface="宋体" panose="02010600030101010101" pitchFamily="2" charset="-122"/>
                </a:rPr>
                <a:t>H</a:t>
              </a:r>
            </a:p>
          </p:txBody>
        </p:sp>
        <p:sp>
          <p:nvSpPr>
            <p:cNvPr id="118800" name="Text Box 12"/>
            <p:cNvSpPr txBox="1"/>
            <p:nvPr/>
          </p:nvSpPr>
          <p:spPr>
            <a:xfrm>
              <a:off x="2544" y="1056"/>
              <a:ext cx="192" cy="285"/>
            </a:xfrm>
            <a:prstGeom prst="rect">
              <a:avLst/>
            </a:prstGeom>
            <a:noFill/>
            <a:ln w="9525">
              <a:noFill/>
            </a:ln>
          </p:spPr>
          <p:txBody>
            <a:bodyPr>
              <a:spAutoFit/>
            </a:bodyPr>
            <a:lstStyle/>
            <a:p>
              <a:pPr lvl="0" eaLnBrk="1" hangingPunct="1">
                <a:spcBef>
                  <a:spcPct val="50000"/>
                </a:spcBef>
              </a:pPr>
              <a:r>
                <a:rPr lang="en-US" altLang="zh-CN" sz="1800" b="1" dirty="0">
                  <a:solidFill>
                    <a:schemeClr val="bg2"/>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dirty="0">
                <a:solidFill>
                  <a:schemeClr val="bg2"/>
                </a:solidFill>
                <a:latin typeface="Times New Roman" panose="02020603050405020304" pitchFamily="18" charset="0"/>
                <a:ea typeface="宋体" panose="02010600030101010101" pitchFamily="2" charset="-122"/>
              </a:endParaRPr>
            </a:p>
          </p:txBody>
        </p:sp>
        <p:sp>
          <p:nvSpPr>
            <p:cNvPr id="118801" name="Text Box 13"/>
            <p:cNvSpPr txBox="1"/>
            <p:nvPr/>
          </p:nvSpPr>
          <p:spPr>
            <a:xfrm>
              <a:off x="2967" y="804"/>
              <a:ext cx="384" cy="494"/>
            </a:xfrm>
            <a:prstGeom prst="rect">
              <a:avLst/>
            </a:prstGeom>
            <a:noFill/>
            <a:ln w="9525">
              <a:noFill/>
            </a:ln>
          </p:spPr>
          <p:txBody>
            <a:bodyPr>
              <a:spAutoFit/>
            </a:bodyPr>
            <a:lstStyle/>
            <a:p>
              <a:pPr lvl="0" eaLnBrk="1" hangingPunct="1">
                <a:spcBef>
                  <a:spcPct val="50000"/>
                </a:spcBef>
              </a:pPr>
              <a:r>
                <a:rPr lang="en-US" altLang="zh-CN" sz="1800" b="1" dirty="0">
                  <a:solidFill>
                    <a:schemeClr val="bg2"/>
                  </a:solidFill>
                  <a:latin typeface="Times New Roman" panose="02020603050405020304" pitchFamily="18" charset="0"/>
                  <a:ea typeface="宋体" panose="02010600030101010101" pitchFamily="2" charset="-122"/>
                </a:rPr>
                <a:t>L+</a:t>
              </a:r>
              <a:r>
                <a:rPr lang="en-US" altLang="zh-CN" sz="1800" b="1" dirty="0">
                  <a:solidFill>
                    <a:schemeClr val="bg2"/>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dirty="0">
                <a:solidFill>
                  <a:schemeClr val="bg2"/>
                </a:solidFill>
                <a:latin typeface="Times New Roman" panose="02020603050405020304" pitchFamily="18" charset="0"/>
                <a:ea typeface="宋体" panose="02010600030101010101" pitchFamily="2" charset="-122"/>
              </a:endParaRPr>
            </a:p>
          </p:txBody>
        </p:sp>
        <p:sp>
          <p:nvSpPr>
            <p:cNvPr id="118802" name="Line 14"/>
            <p:cNvSpPr/>
            <p:nvPr/>
          </p:nvSpPr>
          <p:spPr>
            <a:xfrm flipH="1">
              <a:off x="3024" y="960"/>
              <a:ext cx="96" cy="192"/>
            </a:xfrm>
            <a:prstGeom prst="line">
              <a:avLst/>
            </a:prstGeom>
            <a:ln w="9525" cap="flat" cmpd="sng">
              <a:solidFill>
                <a:schemeClr val="bg2"/>
              </a:solidFill>
              <a:prstDash val="solid"/>
              <a:headEnd type="none" w="med" len="med"/>
              <a:tailEnd type="none" w="med" len="med"/>
            </a:ln>
          </p:spPr>
        </p:sp>
        <p:sp>
          <p:nvSpPr>
            <p:cNvPr id="118803" name="Text Box 15"/>
            <p:cNvSpPr txBox="1"/>
            <p:nvPr/>
          </p:nvSpPr>
          <p:spPr>
            <a:xfrm>
              <a:off x="2928" y="1345"/>
              <a:ext cx="384" cy="285"/>
            </a:xfrm>
            <a:prstGeom prst="rect">
              <a:avLst/>
            </a:prstGeom>
            <a:noFill/>
            <a:ln w="9525">
              <a:noFill/>
            </a:ln>
          </p:spPr>
          <p:txBody>
            <a:bodyPr>
              <a:spAutoFit/>
            </a:bodyPr>
            <a:lstStyle/>
            <a:p>
              <a:pPr lvl="0" eaLnBrk="1" hangingPunct="1">
                <a:spcBef>
                  <a:spcPct val="50000"/>
                </a:spcBef>
              </a:pPr>
              <a:r>
                <a:rPr lang="en-US" altLang="zh-CN" sz="1800" b="1" dirty="0">
                  <a:solidFill>
                    <a:schemeClr val="bg2"/>
                  </a:solidFill>
                  <a:latin typeface="Times New Roman" panose="02020603050405020304" pitchFamily="18" charset="0"/>
                  <a:ea typeface="宋体" panose="02010600030101010101" pitchFamily="2" charset="-122"/>
                  <a:sym typeface="Symbol" panose="05050102010706020507" pitchFamily="18" charset="2"/>
                </a:rPr>
                <a:t></a:t>
              </a:r>
              <a:r>
                <a:rPr lang="en-US" altLang="zh-CN" sz="1800" b="1" dirty="0">
                  <a:solidFill>
                    <a:schemeClr val="bg2"/>
                  </a:solidFill>
                  <a:latin typeface="Times New Roman" panose="02020603050405020304" pitchFamily="18" charset="0"/>
                  <a:ea typeface="宋体" panose="02010600030101010101" pitchFamily="2" charset="-122"/>
                </a:rPr>
                <a:t>+</a:t>
              </a:r>
              <a:r>
                <a:rPr lang="en-US" altLang="zh-CN" sz="1800" b="1" dirty="0">
                  <a:solidFill>
                    <a:schemeClr val="bg2"/>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dirty="0">
                <a:solidFill>
                  <a:schemeClr val="bg2"/>
                </a:solidFill>
                <a:latin typeface="Times New Roman" panose="02020603050405020304" pitchFamily="18" charset="0"/>
                <a:ea typeface="宋体" panose="02010600030101010101" pitchFamily="2" charset="-122"/>
              </a:endParaRPr>
            </a:p>
          </p:txBody>
        </p:sp>
        <p:sp>
          <p:nvSpPr>
            <p:cNvPr id="118804" name="Line 16"/>
            <p:cNvSpPr/>
            <p:nvPr/>
          </p:nvSpPr>
          <p:spPr>
            <a:xfrm>
              <a:off x="2928" y="1248"/>
              <a:ext cx="144" cy="192"/>
            </a:xfrm>
            <a:prstGeom prst="line">
              <a:avLst/>
            </a:prstGeom>
            <a:ln w="9525" cap="flat" cmpd="sng">
              <a:solidFill>
                <a:schemeClr val="bg2"/>
              </a:solidFill>
              <a:prstDash val="solid"/>
              <a:headEnd type="none" w="med" len="med"/>
              <a:tailEnd type="none" w="med" len="med"/>
            </a:ln>
          </p:spPr>
        </p:sp>
        <p:sp>
          <p:nvSpPr>
            <p:cNvPr id="118805" name="Text Box 17"/>
            <p:cNvSpPr txBox="1"/>
            <p:nvPr/>
          </p:nvSpPr>
          <p:spPr>
            <a:xfrm>
              <a:off x="2880" y="2400"/>
              <a:ext cx="384" cy="497"/>
            </a:xfrm>
            <a:prstGeom prst="rect">
              <a:avLst/>
            </a:prstGeom>
            <a:noFill/>
            <a:ln w="9525">
              <a:noFill/>
            </a:ln>
          </p:spPr>
          <p:txBody>
            <a:bodyPr>
              <a:spAutoFit/>
            </a:bodyPr>
            <a:lstStyle/>
            <a:p>
              <a:pPr lvl="0" eaLnBrk="1" hangingPunct="1">
                <a:spcBef>
                  <a:spcPct val="50000"/>
                </a:spcBef>
              </a:pPr>
              <a:r>
                <a:rPr lang="en-US" altLang="zh-CN" sz="1800" b="1" dirty="0">
                  <a:solidFill>
                    <a:schemeClr val="bg2"/>
                  </a:solidFill>
                  <a:latin typeface="Times New Roman" panose="02020603050405020304" pitchFamily="18" charset="0"/>
                  <a:ea typeface="宋体" panose="02010600030101010101" pitchFamily="2" charset="-122"/>
                  <a:sym typeface="Symbol" panose="05050102010706020507" pitchFamily="18" charset="2"/>
                </a:rPr>
                <a:t></a:t>
              </a:r>
              <a:r>
                <a:rPr lang="en-US" altLang="zh-CN" sz="1800" b="1" dirty="0">
                  <a:solidFill>
                    <a:schemeClr val="bg2"/>
                  </a:solidFill>
                  <a:latin typeface="Times New Roman" panose="02020603050405020304" pitchFamily="18" charset="0"/>
                  <a:ea typeface="宋体" panose="02010600030101010101" pitchFamily="2" charset="-122"/>
                </a:rPr>
                <a:t>+</a:t>
              </a:r>
              <a:r>
                <a:rPr lang="en-US" altLang="zh-CN" sz="1800" b="1" dirty="0">
                  <a:solidFill>
                    <a:schemeClr val="bg2"/>
                  </a:solidFill>
                  <a:latin typeface="Times New Roman" panose="02020603050405020304" pitchFamily="18" charset="0"/>
                  <a:ea typeface="宋体" panose="02010600030101010101" pitchFamily="2" charset="-122"/>
                  <a:sym typeface="Symbol" panose="05050102010706020507" pitchFamily="18" charset="2"/>
                </a:rPr>
                <a:t></a:t>
              </a:r>
              <a:r>
                <a:rPr lang="en-US" altLang="zh-CN" sz="1800" b="1" dirty="0">
                  <a:solidFill>
                    <a:schemeClr val="bg2"/>
                  </a:solidFill>
                  <a:latin typeface="Times New Roman" panose="02020603050405020304" pitchFamily="18" charset="0"/>
                  <a:ea typeface="宋体" panose="02010600030101010101" pitchFamily="2" charset="-122"/>
                </a:rPr>
                <a:t> </a:t>
              </a:r>
              <a:r>
                <a:rPr lang="en-US" altLang="zh-CN" sz="1800" b="1" dirty="0">
                  <a:solidFill>
                    <a:schemeClr val="bg2"/>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118806" name="Line 18"/>
            <p:cNvSpPr/>
            <p:nvPr/>
          </p:nvSpPr>
          <p:spPr>
            <a:xfrm>
              <a:off x="2688" y="1152"/>
              <a:ext cx="144" cy="48"/>
            </a:xfrm>
            <a:prstGeom prst="line">
              <a:avLst/>
            </a:prstGeom>
            <a:ln w="9525" cap="flat" cmpd="sng">
              <a:solidFill>
                <a:schemeClr val="bg2"/>
              </a:solidFill>
              <a:prstDash val="solid"/>
              <a:headEnd type="none" w="med" len="med"/>
              <a:tailEnd type="none" w="med" len="med"/>
            </a:ln>
          </p:spPr>
        </p:sp>
      </p:grpSp>
      <p:pic>
        <p:nvPicPr>
          <p:cNvPr id="23" name="内容占位符 1" descr="新校徽（3M）弓之乐"/>
          <p:cNvPicPr>
            <a:picLocks noChangeAspect="1"/>
          </p:cNvPicPr>
          <p:nvPr/>
        </p:nvPicPr>
        <p:blipFill>
          <a:blip r:embed="rId4"/>
          <a:stretch>
            <a:fillRect/>
          </a:stretch>
        </p:blipFill>
        <p:spPr>
          <a:xfrm>
            <a:off x="0" y="0"/>
            <a:ext cx="746760" cy="735965"/>
          </a:xfrm>
          <a:prstGeom prst="rect">
            <a:avLst/>
          </a:prstGeom>
          <a:noFill/>
          <a:ln w="9525">
            <a:noFill/>
          </a:ln>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日期占位符 4"/>
          <p:cNvSpPr txBox="1">
            <a:spLocks noGrp="1"/>
          </p:cNvSpPr>
          <p:nvPr>
            <p:ph type="dt" sz="half" idx="10"/>
          </p:nvPr>
        </p:nvSpPr>
        <p:spPr>
          <a:xfrm>
            <a:off x="0" y="6510338"/>
            <a:ext cx="2162175"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8196" name="灯片编号占位符 6"/>
          <p:cNvSpPr txBox="1">
            <a:spLocks noGrp="1"/>
          </p:cNvSpPr>
          <p:nvPr>
            <p:ph type="sldNum" sz="quarter" idx="12"/>
          </p:nvPr>
        </p:nvSpPr>
        <p:spPr>
          <a:xfrm>
            <a:off x="8571865" y="6563360"/>
            <a:ext cx="572135" cy="294640"/>
          </a:xfrm>
        </p:spPr>
        <p:txBody>
          <a:bodyPr lIns="92075" tIns="46038" rIns="92075" bIns="46038" anchor="ctr"/>
          <a:lstStyle/>
          <a:p>
            <a:pPr algn="r" eaLnBrk="1" hangingPunct="1"/>
            <a:fld id="{9A0DB2DC-4C9A-4742-B13C-FB6460FD3503}" type="slidenum">
              <a:rPr lang="en-US" altLang="zh-CN" sz="1400" dirty="0"/>
              <a:t>124</a:t>
            </a:fld>
            <a:endParaRPr lang="en-US" altLang="zh-CN" sz="1400" dirty="0"/>
          </a:p>
        </p:txBody>
      </p:sp>
      <p:sp>
        <p:nvSpPr>
          <p:cNvPr id="253954" name="Rectangle 2"/>
          <p:cNvSpPr>
            <a:spLocks noGrp="1" noChangeArrowheads="1"/>
          </p:cNvSpPr>
          <p:nvPr>
            <p:ph type="title"/>
          </p:nvPr>
        </p:nvSpPr>
        <p:spPr>
          <a:xfrm>
            <a:off x="684213" y="0"/>
            <a:ext cx="7772400"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Times New Roman" panose="02020603050405020304" pitchFamily="18" charset="0"/>
                <a:ea typeface="华文中宋" panose="02010600040101010101" pitchFamily="2" charset="-122"/>
                <a:cs typeface="+mj-cs"/>
              </a:rPr>
              <a:t>㈠</a:t>
            </a:r>
            <a:r>
              <a:rPr kumimoji="1" lang="zh-CN" altLang="en-US" sz="4400" b="1" i="0" u="none" strike="noStrike" kern="0" cap="none" spc="0" normalizeH="0" baseline="0" noProof="0" dirty="0">
                <a:ln>
                  <a:noFill/>
                </a:ln>
                <a:solidFill>
                  <a:srgbClr val="FF0000"/>
                </a:solidFill>
                <a:uLnTx/>
                <a:uFillTx/>
                <a:latin typeface="Times New Roman" panose="02020603050405020304" pitchFamily="18" charset="0"/>
                <a:ea typeface="华文中宋" panose="02010600040101010101" pitchFamily="2" charset="-122"/>
                <a:cs typeface="+mj-cs"/>
              </a:rPr>
              <a:t>工业纯铁的结晶过程</a:t>
            </a:r>
          </a:p>
        </p:txBody>
      </p:sp>
      <p:sp>
        <p:nvSpPr>
          <p:cNvPr id="8198" name="Rectangle 3"/>
          <p:cNvSpPr>
            <a:spLocks noGrp="1"/>
          </p:cNvSpPr>
          <p:nvPr>
            <p:ph type="body" sz="half" idx="1"/>
          </p:nvPr>
        </p:nvSpPr>
        <p:spPr>
          <a:xfrm>
            <a:off x="250825" y="1844824"/>
            <a:ext cx="5834063" cy="4463901"/>
          </a:xfrm>
        </p:spPr>
        <p:txBody>
          <a:bodyPr vert="horz" wrap="square" lIns="91440" tIns="45720" rIns="91440" bIns="45720" anchor="t"/>
          <a:lstStyle/>
          <a:p>
            <a:pPr eaLnBrk="1" hangingPunct="1">
              <a:lnSpc>
                <a:spcPct val="140000"/>
              </a:lnSpc>
            </a:pPr>
            <a:r>
              <a:rPr lang="zh-CN" altLang="en-US" sz="2800" b="1" dirty="0"/>
              <a:t>从铁素体中析出的渗碳体称</a:t>
            </a:r>
            <a:r>
              <a:rPr lang="zh-CN" altLang="en-US" sz="2800" b="1" dirty="0">
                <a:solidFill>
                  <a:srgbClr val="0000FF"/>
                </a:solidFill>
              </a:rPr>
              <a:t>三次渗碳体</a:t>
            </a:r>
            <a:r>
              <a:rPr lang="zh-CN" altLang="en-US" sz="2800" b="1" dirty="0"/>
              <a:t>，用</a:t>
            </a:r>
            <a:r>
              <a:rPr lang="en-US" altLang="zh-CN" sz="2800" b="1" dirty="0">
                <a:solidFill>
                  <a:srgbClr val="0000FF"/>
                </a:solidFill>
              </a:rPr>
              <a:t>Fe</a:t>
            </a:r>
            <a:r>
              <a:rPr lang="en-US" altLang="zh-CN" sz="2800" b="1" baseline="-25000" dirty="0">
                <a:solidFill>
                  <a:srgbClr val="0000FF"/>
                </a:solidFill>
              </a:rPr>
              <a:t>3</a:t>
            </a:r>
            <a:r>
              <a:rPr lang="en-US" altLang="zh-CN" sz="2800" b="1" dirty="0">
                <a:solidFill>
                  <a:srgbClr val="0000FF"/>
                </a:solidFill>
              </a:rPr>
              <a:t>C</a:t>
            </a:r>
            <a:r>
              <a:rPr lang="en-US" altLang="zh-CN" sz="2800" b="1" baseline="-25000" dirty="0">
                <a:solidFill>
                  <a:srgbClr val="0000FF"/>
                </a:solidFill>
              </a:rPr>
              <a:t>Ⅲ</a:t>
            </a:r>
            <a:r>
              <a:rPr lang="zh-CN" altLang="en-US" sz="2800" b="1" dirty="0"/>
              <a:t>表示。 </a:t>
            </a:r>
            <a:r>
              <a:rPr lang="en-US" altLang="zh-CN" sz="2800" b="1" dirty="0"/>
              <a:t>Fe</a:t>
            </a:r>
            <a:r>
              <a:rPr lang="en-US" altLang="zh-CN" sz="2800" b="1" baseline="-25000" dirty="0"/>
              <a:t>3</a:t>
            </a:r>
            <a:r>
              <a:rPr lang="en-US" altLang="zh-CN" sz="2800" b="1" dirty="0"/>
              <a:t>C</a:t>
            </a:r>
            <a:r>
              <a:rPr lang="en-US" altLang="zh-CN" sz="2800" b="1" baseline="-25000" dirty="0"/>
              <a:t>Ⅲ</a:t>
            </a:r>
            <a:r>
              <a:rPr lang="zh-CN" altLang="en-US" sz="2800" b="1" dirty="0"/>
              <a:t>以</a:t>
            </a:r>
            <a:r>
              <a:rPr lang="zh-CN" altLang="en-US" sz="2800" b="1" dirty="0">
                <a:solidFill>
                  <a:srgbClr val="0000FF"/>
                </a:solidFill>
              </a:rPr>
              <a:t>不连续网状</a:t>
            </a:r>
            <a:r>
              <a:rPr lang="zh-CN" altLang="en-US" sz="2800" b="1" dirty="0"/>
              <a:t>或</a:t>
            </a:r>
            <a:r>
              <a:rPr lang="zh-CN" altLang="en-US" sz="2800" b="1" dirty="0">
                <a:solidFill>
                  <a:srgbClr val="0000FF"/>
                </a:solidFill>
              </a:rPr>
              <a:t>片状</a:t>
            </a:r>
            <a:r>
              <a:rPr lang="zh-CN" altLang="en-US" sz="2800" b="1" dirty="0"/>
              <a:t>分布于</a:t>
            </a:r>
            <a:r>
              <a:rPr lang="zh-CN" altLang="en-US" sz="2800" b="1" dirty="0">
                <a:solidFill>
                  <a:srgbClr val="0000FF"/>
                </a:solidFill>
              </a:rPr>
              <a:t>晶界</a:t>
            </a:r>
            <a:r>
              <a:rPr lang="zh-CN" altLang="en-US" sz="2800" b="1" dirty="0"/>
              <a:t>。</a:t>
            </a:r>
          </a:p>
          <a:p>
            <a:pPr eaLnBrk="1" hangingPunct="1">
              <a:lnSpc>
                <a:spcPct val="150000"/>
              </a:lnSpc>
              <a:buNone/>
            </a:pPr>
            <a:r>
              <a:rPr lang="zh-CN" altLang="en-US" sz="2800" b="1" dirty="0">
                <a:ea typeface="华文中宋" panose="02010600040101010101" pitchFamily="2" charset="-122"/>
              </a:rPr>
              <a:t>随温度下降，</a:t>
            </a:r>
            <a:r>
              <a:rPr lang="en-US" altLang="zh-CN" sz="2800" b="1" dirty="0">
                <a:ea typeface="华文中宋" panose="02010600040101010101" pitchFamily="2" charset="-122"/>
              </a:rPr>
              <a:t>Fe</a:t>
            </a:r>
            <a:r>
              <a:rPr lang="en-US" altLang="zh-CN" sz="2800" b="1" baseline="-30000" dirty="0">
                <a:ea typeface="华文中宋" panose="02010600040101010101" pitchFamily="2" charset="-122"/>
              </a:rPr>
              <a:t>3</a:t>
            </a:r>
            <a:r>
              <a:rPr lang="en-US" altLang="zh-CN" sz="2800" b="1" dirty="0">
                <a:ea typeface="华文中宋" panose="02010600040101010101" pitchFamily="2" charset="-122"/>
              </a:rPr>
              <a:t>C</a:t>
            </a:r>
            <a:r>
              <a:rPr lang="en-US" altLang="zh-CN" sz="2800" b="1" baseline="-30000" dirty="0">
                <a:ea typeface="华文中宋" panose="02010600040101010101" pitchFamily="2" charset="-122"/>
              </a:rPr>
              <a:t>Ⅲ</a:t>
            </a:r>
            <a:r>
              <a:rPr lang="zh-CN" altLang="en-US" sz="2800" b="1" dirty="0">
                <a:ea typeface="华文中宋" panose="02010600040101010101" pitchFamily="2" charset="-122"/>
              </a:rPr>
              <a:t>量不断增加</a:t>
            </a:r>
            <a:r>
              <a:rPr lang="en-US" altLang="zh-CN" sz="2800" b="1" dirty="0">
                <a:ea typeface="华文中宋" panose="02010600040101010101" pitchFamily="2" charset="-122"/>
              </a:rPr>
              <a:t>,</a:t>
            </a:r>
            <a:r>
              <a:rPr lang="zh-CN" altLang="en-US" sz="2800" b="1" dirty="0">
                <a:ea typeface="华文中宋" panose="02010600040101010101" pitchFamily="2" charset="-122"/>
              </a:rPr>
              <a:t>合金的室温下组织为</a:t>
            </a:r>
            <a:r>
              <a:rPr lang="en-US" altLang="zh-CN" sz="2800" b="1" dirty="0">
                <a:solidFill>
                  <a:srgbClr val="0000FF"/>
                </a:solidFill>
                <a:ea typeface="华文中宋" panose="02010600040101010101" pitchFamily="2" charset="-122"/>
              </a:rPr>
              <a:t>F+ Fe</a:t>
            </a:r>
            <a:r>
              <a:rPr lang="en-US" altLang="zh-CN" sz="2800" b="1" baseline="-30000" dirty="0">
                <a:solidFill>
                  <a:srgbClr val="0000FF"/>
                </a:solidFill>
                <a:ea typeface="华文中宋" panose="02010600040101010101" pitchFamily="2" charset="-122"/>
              </a:rPr>
              <a:t>3</a:t>
            </a:r>
            <a:r>
              <a:rPr lang="en-US" altLang="zh-CN" sz="2800" b="1" dirty="0">
                <a:solidFill>
                  <a:srgbClr val="0000FF"/>
                </a:solidFill>
                <a:ea typeface="华文中宋" panose="02010600040101010101" pitchFamily="2" charset="-122"/>
              </a:rPr>
              <a:t>C</a:t>
            </a:r>
            <a:r>
              <a:rPr lang="en-US" altLang="zh-CN" sz="2800" b="1" baseline="-30000" dirty="0">
                <a:solidFill>
                  <a:srgbClr val="0000FF"/>
                </a:solidFill>
                <a:ea typeface="华文中宋" panose="02010600040101010101" pitchFamily="2" charset="-122"/>
              </a:rPr>
              <a:t>Ⅲ</a:t>
            </a:r>
            <a:r>
              <a:rPr lang="zh-CN" altLang="en-US" sz="2800" b="1" dirty="0">
                <a:ea typeface="华文中宋" panose="02010600040101010101" pitchFamily="2" charset="-122"/>
              </a:rPr>
              <a:t>。</a:t>
            </a:r>
          </a:p>
          <a:p>
            <a:pPr algn="just" eaLnBrk="1" hangingPunct="1">
              <a:lnSpc>
                <a:spcPct val="150000"/>
              </a:lnSpc>
            </a:pPr>
            <a:r>
              <a:rPr lang="zh-CN" altLang="en-US" sz="2800" b="1" dirty="0">
                <a:ea typeface="华文中宋" panose="02010600040101010101" pitchFamily="2" charset="-122"/>
              </a:rPr>
              <a:t>室温下</a:t>
            </a:r>
            <a:r>
              <a:rPr lang="en-US" altLang="zh-CN" sz="2800" b="1" dirty="0">
                <a:ea typeface="华文中宋" panose="02010600040101010101" pitchFamily="2" charset="-122"/>
              </a:rPr>
              <a:t>Fe</a:t>
            </a:r>
            <a:r>
              <a:rPr lang="en-US" altLang="zh-CN" sz="2800" b="1" baseline="-30000" dirty="0">
                <a:ea typeface="华文中宋" panose="02010600040101010101" pitchFamily="2" charset="-122"/>
              </a:rPr>
              <a:t>3</a:t>
            </a:r>
            <a:r>
              <a:rPr lang="en-US" altLang="zh-CN" sz="2800" b="1" dirty="0">
                <a:ea typeface="华文中宋" panose="02010600040101010101" pitchFamily="2" charset="-122"/>
              </a:rPr>
              <a:t>C</a:t>
            </a:r>
            <a:r>
              <a:rPr lang="en-US" altLang="zh-CN" sz="2800" b="1" baseline="-30000" dirty="0">
                <a:ea typeface="华文中宋" panose="02010600040101010101" pitchFamily="2" charset="-122"/>
              </a:rPr>
              <a:t>Ⅲ</a:t>
            </a:r>
            <a:r>
              <a:rPr lang="zh-CN" altLang="en-US" sz="2800" b="1" dirty="0">
                <a:ea typeface="华文中宋" panose="02010600040101010101" pitchFamily="2" charset="-122"/>
              </a:rPr>
              <a:t>最大量为</a:t>
            </a:r>
            <a:r>
              <a:rPr lang="en-US" altLang="zh-CN" sz="2800" b="1" dirty="0">
                <a:ea typeface="华文中宋" panose="02010600040101010101" pitchFamily="2" charset="-122"/>
              </a:rPr>
              <a:t>:</a:t>
            </a:r>
            <a:r>
              <a:rPr lang="en-US" altLang="zh-CN" sz="2800" dirty="0"/>
              <a:t> </a:t>
            </a:r>
          </a:p>
        </p:txBody>
      </p:sp>
      <p:pic>
        <p:nvPicPr>
          <p:cNvPr id="8199" name="Picture 4" descr="工程材料fig3-32"/>
          <p:cNvPicPr>
            <a:picLocks noChangeAspect="1"/>
          </p:cNvPicPr>
          <p:nvPr/>
        </p:nvPicPr>
        <p:blipFill>
          <a:blip r:embed="rId3"/>
          <a:stretch>
            <a:fillRect/>
          </a:stretch>
        </p:blipFill>
        <p:spPr>
          <a:xfrm>
            <a:off x="6232244" y="2564904"/>
            <a:ext cx="2795305" cy="2159942"/>
          </a:xfrm>
          <a:prstGeom prst="rect">
            <a:avLst/>
          </a:prstGeom>
          <a:noFill/>
          <a:ln w="9525">
            <a:noFill/>
          </a:ln>
        </p:spPr>
      </p:pic>
      <mc:AlternateContent xmlns:mc="http://schemas.openxmlformats.org/markup-compatibility/2006" xmlns:a14="http://schemas.microsoft.com/office/drawing/2010/main">
        <mc:Choice Requires="a14">
          <p:sp>
            <p:nvSpPr>
              <p:cNvPr id="253957" name="Object 5"/>
              <p:cNvSpPr txBox="1">
                <a:spLocks noGrp="1"/>
              </p:cNvSpPr>
              <p:nvPr>
                <p:ph sz="half" idx="2"/>
              </p:nvPr>
            </p:nvSpPr>
            <p:spPr>
              <a:xfrm>
                <a:off x="4572000" y="5229225"/>
                <a:ext cx="4464685" cy="601980"/>
              </a:xfrm>
              <a:prstGeom prst="rect">
                <a:avLst/>
              </a:prstGeom>
              <a:solidFill>
                <a:schemeClr val="accent1"/>
              </a:solidFill>
              <a:ln w="38100">
                <a:miter/>
              </a:ln>
            </p:spPr>
            <p:txBody>
              <a:bodyPr>
                <a:normAutofit fontScale="52500" lnSpcReduction="20000"/>
              </a:bodyPr>
              <a:lstStyle/>
              <a:p>
                <a:pPr>
                  <a:buNone/>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𝑄</m:t>
                          </m:r>
                        </m:e>
                        <m:sub>
                          <m:r>
                            <m:rPr>
                              <m:nor/>
                            </m:rPr>
                            <a:rPr lang="zh-CN" altLang="en-US" i="0">
                              <a:solidFill>
                                <a:srgbClr val="000000"/>
                              </a:solidFill>
                              <a:latin typeface="Cambria Math" panose="02040503050406030204" pitchFamily="18" charset="0"/>
                            </a:rPr>
                            <m:t>F</m:t>
                          </m:r>
                          <m:sSub>
                            <m:sSubPr>
                              <m:ctrlPr>
                                <a:rPr lang="zh-CN" altLang="en-US" i="1">
                                  <a:solidFill>
                                    <a:srgbClr val="000000"/>
                                  </a:solidFill>
                                  <a:latin typeface="Cambria Math" panose="02040503050406030204" pitchFamily="18" charset="0"/>
                                </a:rPr>
                              </m:ctrlPr>
                            </m:sSubPr>
                            <m:e>
                              <m:r>
                                <m:rPr>
                                  <m:nor/>
                                </m:rPr>
                                <a:rPr lang="zh-CN" altLang="en-US" i="0">
                                  <a:solidFill>
                                    <a:srgbClr val="000000"/>
                                  </a:solidFill>
                                  <a:latin typeface="Cambria Math" panose="02040503050406030204" pitchFamily="18" charset="0"/>
                                </a:rPr>
                                <m:t>e</m:t>
                              </m:r>
                            </m:e>
                            <m:sub>
                              <m:r>
                                <a:rPr lang="zh-CN" altLang="en-US" i="0">
                                  <a:solidFill>
                                    <a:srgbClr val="000000"/>
                                  </a:solidFill>
                                  <a:latin typeface="Cambria Math" panose="02040503050406030204" pitchFamily="18" charset="0"/>
                                </a:rPr>
                                <m:t>3</m:t>
                              </m:r>
                            </m:sub>
                          </m:sSub>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C</m:t>
                              </m:r>
                            </m:e>
                            <m:sub>
                              <m:r>
                                <m:rPr>
                                  <m:nor/>
                                </m:rPr>
                                <a:rPr lang="zh-CN" altLang="en-US" i="0">
                                  <a:solidFill>
                                    <a:srgbClr val="000000"/>
                                  </a:solidFill>
                                  <a:latin typeface="Cambria Math" panose="02040503050406030204" pitchFamily="18" charset="0"/>
                                </a:rPr>
                                <m:t>III</m:t>
                              </m:r>
                            </m:sub>
                          </m:sSub>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0.0218−0.0008</m:t>
                          </m:r>
                        </m:num>
                        <m:den>
                          <m:r>
                            <a:rPr lang="zh-CN" altLang="en-US" i="1">
                              <a:solidFill>
                                <a:srgbClr val="000000"/>
                              </a:solidFill>
                              <a:latin typeface="Cambria Math" panose="02040503050406030204" pitchFamily="18" charset="0"/>
                            </a:rPr>
                            <m:t>6.69−0.0008</m:t>
                          </m:r>
                        </m:den>
                      </m:f>
                      <m:r>
                        <a:rPr lang="zh-CN" altLang="en-US" i="1">
                          <a:solidFill>
                            <a:srgbClr val="000000"/>
                          </a:solidFill>
                          <a:latin typeface="Cambria Math" panose="02040503050406030204" pitchFamily="18" charset="0"/>
                        </a:rPr>
                        <m:t>×100%=0.3%</m:t>
                      </m:r>
                    </m:oMath>
                  </m:oMathPara>
                </a14:m>
                <a:endParaRPr lang="zh-CN" altLang="en-US" dirty="0"/>
              </a:p>
            </p:txBody>
          </p:sp>
        </mc:Choice>
        <mc:Fallback xmlns="">
          <p:sp>
            <p:nvSpPr>
              <p:cNvPr id="253957" name="Object 5"/>
              <p:cNvSpPr txBox="1">
                <a:spLocks noRot="1" noChangeAspect="1" noMove="1" noResize="1" noEditPoints="1" noAdjustHandles="1" noChangeArrowheads="1" noChangeShapeType="1" noTextEdit="1"/>
              </p:cNvSpPr>
              <p:nvPr>
                <p:ph sz="half" idx="2"/>
              </p:nvPr>
            </p:nvSpPr>
            <p:spPr>
              <a:xfrm>
                <a:off x="4572000" y="5229225"/>
                <a:ext cx="4464685" cy="601980"/>
              </a:xfrm>
              <a:prstGeom prst="rect">
                <a:avLst/>
              </a:prstGeom>
              <a:blipFill rotWithShape="1">
                <a:blip r:embed="rId4"/>
                <a:stretch>
                  <a:fillRect/>
                </a:stretch>
              </a:blipFill>
              <a:ln w="38100">
                <a:miter/>
              </a:ln>
            </p:spPr>
            <p:txBody>
              <a:bodyPr/>
              <a:lstStyle/>
              <a:p>
                <a:r>
                  <a:rPr lang="zh-CN" altLang="en-US">
                    <a:noFill/>
                  </a:rPr>
                  <a:t> </a:t>
                </a:r>
              </a:p>
            </p:txBody>
          </p:sp>
        </mc:Fallback>
      </mc:AlternateContent>
      <p:pic>
        <p:nvPicPr>
          <p:cNvPr id="9" name="内容占位符 1" descr="新校徽（3M）弓之乐"/>
          <p:cNvPicPr>
            <a:picLocks noChangeAspect="1"/>
          </p:cNvPicPr>
          <p:nvPr/>
        </p:nvPicPr>
        <p:blipFill>
          <a:blip r:embed="rId5"/>
          <a:stretch>
            <a:fillRect/>
          </a:stretch>
        </p:blipFill>
        <p:spPr>
          <a:xfrm>
            <a:off x="0" y="17993"/>
            <a:ext cx="746760" cy="735965"/>
          </a:xfrm>
          <a:prstGeom prst="rect">
            <a:avLst/>
          </a:prstGeom>
          <a:noFill/>
          <a:ln w="9525">
            <a:noFill/>
          </a:ln>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日期占位符 3"/>
          <p:cNvSpPr txBox="1">
            <a:spLocks noGrp="1"/>
          </p:cNvSpPr>
          <p:nvPr>
            <p:ph type="dt" sz="half" idx="10"/>
          </p:nvPr>
        </p:nvSpPr>
        <p:spPr>
          <a:xfrm>
            <a:off x="0" y="6510338"/>
            <a:ext cx="2162175"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19811" name="灯片编号占位符 5"/>
          <p:cNvSpPr txBox="1">
            <a:spLocks noGrp="1"/>
          </p:cNvSpPr>
          <p:nvPr>
            <p:ph type="sldNum" sz="quarter" idx="12"/>
          </p:nvPr>
        </p:nvSpPr>
        <p:spPr>
          <a:xfrm>
            <a:off x="8559165" y="6525895"/>
            <a:ext cx="584835" cy="316230"/>
          </a:xfrm>
        </p:spPr>
        <p:txBody>
          <a:bodyPr lIns="92075" tIns="46038" rIns="92075" bIns="46038" anchor="ctr"/>
          <a:lstStyle/>
          <a:p>
            <a:pPr algn="r" eaLnBrk="1" hangingPunct="1"/>
            <a:fld id="{9A0DB2DC-4C9A-4742-B13C-FB6460FD3503}" type="slidenum">
              <a:rPr lang="en-US" altLang="zh-CN" sz="1400" dirty="0"/>
              <a:t>125</a:t>
            </a:fld>
            <a:endParaRPr lang="en-US" altLang="zh-CN" sz="1400" dirty="0"/>
          </a:p>
        </p:txBody>
      </p:sp>
      <p:sp>
        <p:nvSpPr>
          <p:cNvPr id="256002" name="Rectangle 2"/>
          <p:cNvSpPr>
            <a:spLocks noGrp="1" noChangeArrowheads="1"/>
          </p:cNvSpPr>
          <p:nvPr>
            <p:ph type="title"/>
          </p:nvPr>
        </p:nvSpPr>
        <p:spPr>
          <a:xfrm>
            <a:off x="1763688" y="293687"/>
            <a:ext cx="6599238" cy="936625"/>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㈡ </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共析钢的结晶过程 </a:t>
            </a:r>
          </a:p>
        </p:txBody>
      </p:sp>
      <p:sp>
        <p:nvSpPr>
          <p:cNvPr id="119813" name="Rectangle 3"/>
          <p:cNvSpPr>
            <a:spLocks noGrp="1"/>
          </p:cNvSpPr>
          <p:nvPr>
            <p:ph idx="1"/>
          </p:nvPr>
        </p:nvSpPr>
        <p:spPr>
          <a:xfrm>
            <a:off x="250825" y="2132856"/>
            <a:ext cx="4249738" cy="3963144"/>
          </a:xfrm>
        </p:spPr>
        <p:txBody>
          <a:bodyPr vert="horz" wrap="square" lIns="91440" tIns="45720" rIns="91440" bIns="45720" anchor="t"/>
          <a:lstStyle/>
          <a:p>
            <a:pPr eaLnBrk="1" hangingPunct="1"/>
            <a:r>
              <a:rPr lang="zh-CN" altLang="en-US" b="1" dirty="0"/>
              <a:t>合金液体在</a:t>
            </a:r>
            <a:r>
              <a:rPr lang="en-US" altLang="zh-CN" b="1" dirty="0">
                <a:solidFill>
                  <a:srgbClr val="0000FF"/>
                </a:solidFill>
              </a:rPr>
              <a:t>1-2</a:t>
            </a:r>
            <a:r>
              <a:rPr lang="zh-CN" altLang="en-US" b="1" dirty="0"/>
              <a:t>点间转变为</a:t>
            </a:r>
            <a:r>
              <a:rPr lang="zh-CN" altLang="en-US" b="1" i="1" dirty="0">
                <a:solidFill>
                  <a:srgbClr val="0000FF"/>
                </a:solidFill>
                <a:sym typeface="Symbol" panose="05050102010706020507" pitchFamily="18" charset="2"/>
              </a:rPr>
              <a:t></a:t>
            </a:r>
            <a:r>
              <a:rPr lang="zh-CN" altLang="en-US" b="1" i="1" dirty="0">
                <a:sym typeface="Symbol" panose="05050102010706020507" pitchFamily="18" charset="2"/>
              </a:rPr>
              <a:t>，</a:t>
            </a:r>
            <a:r>
              <a:rPr lang="zh-CN" altLang="en-US" b="1" dirty="0"/>
              <a:t>到</a:t>
            </a:r>
            <a:r>
              <a:rPr lang="en-US" altLang="zh-CN" b="1" dirty="0"/>
              <a:t>S</a:t>
            </a:r>
            <a:r>
              <a:rPr lang="zh-CN" altLang="en-US" b="1" dirty="0"/>
              <a:t>点发生共析转变：</a:t>
            </a:r>
          </a:p>
          <a:p>
            <a:pPr eaLnBrk="1" hangingPunct="1">
              <a:buNone/>
            </a:pPr>
            <a:r>
              <a:rPr lang="zh-CN" altLang="en-US" b="1" dirty="0">
                <a:solidFill>
                  <a:srgbClr val="0000FF"/>
                </a:solidFill>
                <a:sym typeface="Symbol" panose="05050102010706020507" pitchFamily="18" charset="2"/>
              </a:rPr>
              <a:t>         </a:t>
            </a:r>
            <a:r>
              <a:rPr lang="zh-CN" altLang="en-US" b="1" i="1" dirty="0">
                <a:solidFill>
                  <a:srgbClr val="0000FF"/>
                </a:solidFill>
                <a:sym typeface="Symbol" panose="05050102010706020507" pitchFamily="18" charset="2"/>
              </a:rPr>
              <a:t></a:t>
            </a:r>
            <a:r>
              <a:rPr lang="en-US" altLang="zh-CN" b="1" baseline="-25000" dirty="0">
                <a:solidFill>
                  <a:srgbClr val="0000FF"/>
                </a:solidFill>
              </a:rPr>
              <a:t>S</a:t>
            </a:r>
            <a:r>
              <a:rPr lang="en-US" altLang="zh-CN" b="1" dirty="0">
                <a:solidFill>
                  <a:srgbClr val="0000FF"/>
                </a:solidFill>
              </a:rPr>
              <a:t>⇄</a:t>
            </a:r>
            <a:r>
              <a:rPr lang="en-US" altLang="zh-CN" b="1" i="1" dirty="0">
                <a:solidFill>
                  <a:srgbClr val="0000FF"/>
                </a:solidFill>
                <a:sym typeface="Symbol" panose="05050102010706020507" pitchFamily="18" charset="2"/>
              </a:rPr>
              <a:t></a:t>
            </a:r>
            <a:r>
              <a:rPr lang="en-US" altLang="zh-CN" b="1" baseline="-25000" dirty="0">
                <a:solidFill>
                  <a:srgbClr val="0000FF"/>
                </a:solidFill>
              </a:rPr>
              <a:t>P</a:t>
            </a:r>
            <a:r>
              <a:rPr lang="en-US" altLang="zh-CN" b="1" dirty="0">
                <a:solidFill>
                  <a:srgbClr val="0000FF"/>
                </a:solidFill>
              </a:rPr>
              <a:t>+Fe</a:t>
            </a:r>
            <a:r>
              <a:rPr lang="en-US" altLang="zh-CN" b="1" baseline="-25000" dirty="0">
                <a:solidFill>
                  <a:srgbClr val="0000FF"/>
                </a:solidFill>
              </a:rPr>
              <a:t>3</a:t>
            </a:r>
            <a:r>
              <a:rPr lang="en-US" altLang="zh-CN" b="1" dirty="0">
                <a:solidFill>
                  <a:srgbClr val="0000FF"/>
                </a:solidFill>
              </a:rPr>
              <a:t>C</a:t>
            </a:r>
            <a:r>
              <a:rPr lang="en-US" altLang="zh-CN" b="1" dirty="0"/>
              <a:t>,</a:t>
            </a:r>
          </a:p>
          <a:p>
            <a:pPr eaLnBrk="1" hangingPunct="1"/>
            <a:r>
              <a:rPr lang="en-US" altLang="zh-CN" b="1" dirty="0"/>
              <a:t> </a:t>
            </a:r>
            <a:r>
              <a:rPr lang="en-US" altLang="zh-CN" b="1" i="1" dirty="0">
                <a:sym typeface="Symbol" panose="05050102010706020507" pitchFamily="18" charset="2"/>
              </a:rPr>
              <a:t> </a:t>
            </a:r>
            <a:r>
              <a:rPr lang="zh-CN" altLang="en-US" b="1" dirty="0"/>
              <a:t>全部转变为珠光体。</a:t>
            </a:r>
            <a:endParaRPr lang="en-US" altLang="zh-CN" b="1" dirty="0"/>
          </a:p>
          <a:p>
            <a:pPr eaLnBrk="1" hangingPunct="1"/>
            <a:r>
              <a:rPr lang="zh-CN" altLang="en-US" sz="3200" b="1" dirty="0">
                <a:solidFill>
                  <a:schemeClr val="tx2"/>
                </a:solidFill>
                <a:ea typeface="华文中宋" panose="02010600040101010101" pitchFamily="2" charset="-122"/>
              </a:rPr>
              <a:t>珠光体</a:t>
            </a:r>
            <a:r>
              <a:rPr lang="zh-CN" altLang="en-US" sz="3200" b="1" dirty="0">
                <a:ea typeface="华文中宋" panose="02010600040101010101" pitchFamily="2" charset="-122"/>
              </a:rPr>
              <a:t>在</a:t>
            </a:r>
            <a:r>
              <a:rPr lang="zh-CN" altLang="en-US" sz="3200" b="1" dirty="0">
                <a:solidFill>
                  <a:srgbClr val="0000FF"/>
                </a:solidFill>
                <a:ea typeface="华文中宋" panose="02010600040101010101" pitchFamily="2" charset="-122"/>
              </a:rPr>
              <a:t>光镜</a:t>
            </a:r>
            <a:r>
              <a:rPr lang="zh-CN" altLang="en-US" sz="3200" b="1" dirty="0">
                <a:ea typeface="华文中宋" panose="02010600040101010101" pitchFamily="2" charset="-122"/>
              </a:rPr>
              <a:t>下呈</a:t>
            </a:r>
            <a:r>
              <a:rPr lang="zh-CN" altLang="en-US" sz="3200" b="1" dirty="0">
                <a:solidFill>
                  <a:srgbClr val="0000FF"/>
                </a:solidFill>
                <a:ea typeface="华文中宋" panose="02010600040101010101" pitchFamily="2" charset="-122"/>
              </a:rPr>
              <a:t>指纹</a:t>
            </a:r>
            <a:r>
              <a:rPr lang="zh-CN" altLang="en-US" sz="3200" b="1" dirty="0">
                <a:ea typeface="华文中宋" panose="02010600040101010101" pitchFamily="2" charset="-122"/>
              </a:rPr>
              <a:t>状</a:t>
            </a:r>
            <a:r>
              <a:rPr lang="en-US" altLang="zh-CN" sz="3200" b="1" dirty="0">
                <a:ea typeface="华文中宋" panose="02010600040101010101" pitchFamily="2" charset="-122"/>
              </a:rPr>
              <a:t>.</a:t>
            </a:r>
            <a:endParaRPr lang="zh-CN" altLang="en-US" b="1" dirty="0"/>
          </a:p>
          <a:p>
            <a:pPr algn="just" eaLnBrk="1" hangingPunct="1"/>
            <a:endParaRPr lang="en-US" altLang="zh-CN" b="1" dirty="0">
              <a:ea typeface="华文中宋" panose="02010600040101010101" pitchFamily="2" charset="-122"/>
            </a:endParaRPr>
          </a:p>
        </p:txBody>
      </p:sp>
      <p:pic>
        <p:nvPicPr>
          <p:cNvPr id="256004" name="Picture 4" descr="Fe-C共析结晶过程"/>
          <p:cNvPicPr>
            <a:picLocks noChangeAspect="1"/>
          </p:cNvPicPr>
          <p:nvPr/>
        </p:nvPicPr>
        <p:blipFill>
          <a:blip r:embed="rId2"/>
          <a:stretch>
            <a:fillRect/>
          </a:stretch>
        </p:blipFill>
        <p:spPr>
          <a:xfrm>
            <a:off x="5363845" y="1982470"/>
            <a:ext cx="2824480" cy="2494915"/>
          </a:xfrm>
          <a:prstGeom prst="rect">
            <a:avLst/>
          </a:prstGeom>
          <a:noFill/>
          <a:ln w="38100" cap="flat" cmpd="sng">
            <a:noFill/>
            <a:prstDash val="solid"/>
            <a:miter/>
            <a:headEnd type="none" w="med" len="med"/>
            <a:tailEnd type="none" w="med" len="med"/>
          </a:ln>
        </p:spPr>
      </p:pic>
      <p:pic>
        <p:nvPicPr>
          <p:cNvPr id="8" name="内容占位符 1" descr="新校徽（3M）弓之乐"/>
          <p:cNvPicPr>
            <a:picLocks noChangeAspect="1"/>
          </p:cNvPicPr>
          <p:nvPr/>
        </p:nvPicPr>
        <p:blipFill>
          <a:blip r:embed="rId3"/>
          <a:stretch>
            <a:fillRect/>
          </a:stretch>
        </p:blipFill>
        <p:spPr>
          <a:xfrm>
            <a:off x="-122555" y="191033"/>
            <a:ext cx="746760" cy="735965"/>
          </a:xfrm>
          <a:prstGeom prst="rect">
            <a:avLst/>
          </a:prstGeom>
          <a:noFill/>
          <a:ln w="9525">
            <a:noFill/>
          </a:ln>
        </p:spPr>
      </p:pic>
      <p:pic>
        <p:nvPicPr>
          <p:cNvPr id="2" name="Picture 7" descr="珠光体"/>
          <p:cNvPicPr>
            <a:picLocks noChangeAspect="1"/>
          </p:cNvPicPr>
          <p:nvPr/>
        </p:nvPicPr>
        <p:blipFill>
          <a:blip r:embed="rId4"/>
          <a:stretch>
            <a:fillRect/>
          </a:stretch>
        </p:blipFill>
        <p:spPr>
          <a:xfrm>
            <a:off x="5746529" y="4724970"/>
            <a:ext cx="2184843" cy="1594515"/>
          </a:xfrm>
          <a:prstGeom prst="rect">
            <a:avLst/>
          </a:prstGeom>
          <a:noFill/>
          <a:ln w="38100" cap="flat" cmpd="sng">
            <a:noFill/>
            <a:prstDash val="solid"/>
            <a:miter/>
            <a:headEnd type="none" w="med" len="med"/>
            <a:tailEnd type="none" w="med" len="med"/>
          </a:ln>
        </p:spPr>
      </p:pic>
      <p:sp>
        <p:nvSpPr>
          <p:cNvPr id="3" name="Rectangle 17"/>
          <p:cNvSpPr>
            <a:spLocks noChangeAspect="1"/>
          </p:cNvSpPr>
          <p:nvPr/>
        </p:nvSpPr>
        <p:spPr>
          <a:xfrm>
            <a:off x="4787583" y="5229528"/>
            <a:ext cx="866218" cy="314990"/>
          </a:xfrm>
          <a:prstGeom prst="rect">
            <a:avLst/>
          </a:prstGeom>
          <a:solidFill>
            <a:schemeClr val="bg1"/>
          </a:solidFill>
          <a:ln w="9525" cap="flat" cmpd="sng">
            <a:noFill/>
            <a:prstDash val="solid"/>
            <a:miter/>
            <a:headEnd type="none" w="med" len="med"/>
            <a:tailEnd type="none" w="med" len="med"/>
          </a:ln>
        </p:spPr>
        <p:txBody>
          <a:bodyPr wrap="none" anchor="ctr"/>
          <a:lstStyle/>
          <a:p>
            <a:pPr lvl="0" algn="ctr" eaLnBrk="1" hangingPunct="1"/>
            <a:r>
              <a:rPr lang="zh-CN" altLang="en-US" sz="2000" b="1" dirty="0">
                <a:solidFill>
                  <a:srgbClr val="660033"/>
                </a:solidFill>
                <a:latin typeface="Times New Roman" panose="02020603050405020304" pitchFamily="18" charset="0"/>
                <a:ea typeface="宋体" panose="02010600030101010101" pitchFamily="2" charset="-122"/>
              </a:rPr>
              <a:t>珠光体</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56004"/>
                                        </p:tgtEl>
                                        <p:attrNameLst>
                                          <p:attrName>style.visibility</p:attrName>
                                        </p:attrNameLst>
                                      </p:cBhvr>
                                      <p:to>
                                        <p:strVal val="visible"/>
                                      </p:to>
                                    </p:set>
                                    <p:animEffect transition="in" filter="wipe(up)">
                                      <p:cBhvr>
                                        <p:cTn id="7" dur="500"/>
                                        <p:tgtEl>
                                          <p:spTgt spid="2560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日期占位符 3"/>
          <p:cNvSpPr txBox="1">
            <a:spLocks noGrp="1"/>
          </p:cNvSpPr>
          <p:nvPr>
            <p:ph type="dt" sz="half" idx="10"/>
          </p:nvPr>
        </p:nvSpPr>
        <p:spPr>
          <a:xfrm>
            <a:off x="0" y="6510338"/>
            <a:ext cx="2233613"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9220" name="灯片编号占位符 5"/>
          <p:cNvSpPr txBox="1">
            <a:spLocks noGrp="1"/>
          </p:cNvSpPr>
          <p:nvPr>
            <p:ph type="sldNum" sz="quarter" idx="12"/>
          </p:nvPr>
        </p:nvSpPr>
        <p:spPr>
          <a:xfrm>
            <a:off x="8434705" y="6558915"/>
            <a:ext cx="704850" cy="299085"/>
          </a:xfrm>
        </p:spPr>
        <p:txBody>
          <a:bodyPr lIns="92075" tIns="46038" rIns="92075" bIns="46038" anchor="ctr"/>
          <a:lstStyle/>
          <a:p>
            <a:pPr algn="r" eaLnBrk="1" hangingPunct="1"/>
            <a:fld id="{9A0DB2DC-4C9A-4742-B13C-FB6460FD3503}" type="slidenum">
              <a:rPr lang="en-US" altLang="zh-CN" sz="1400" dirty="0"/>
              <a:t>126</a:t>
            </a:fld>
            <a:endParaRPr lang="en-US" altLang="zh-CN" sz="1400" dirty="0"/>
          </a:p>
        </p:txBody>
      </p:sp>
      <p:sp>
        <p:nvSpPr>
          <p:cNvPr id="153603" name="Rectangle 3"/>
          <p:cNvSpPr>
            <a:spLocks noGrp="1"/>
          </p:cNvSpPr>
          <p:nvPr>
            <p:ph idx="1"/>
          </p:nvPr>
        </p:nvSpPr>
        <p:spPr>
          <a:xfrm>
            <a:off x="755650" y="1772816"/>
            <a:ext cx="4648200" cy="2145134"/>
          </a:xfrm>
        </p:spPr>
        <p:txBody>
          <a:bodyPr vert="horz" wrap="square" lIns="91440" tIns="45720" rIns="91440" bIns="45720" anchor="t"/>
          <a:lstStyle/>
          <a:p>
            <a:pPr eaLnBrk="1" hangingPunct="1">
              <a:lnSpc>
                <a:spcPct val="110000"/>
              </a:lnSpc>
            </a:pPr>
            <a:r>
              <a:rPr lang="zh-CN" altLang="en-US" sz="2800" b="1" dirty="0">
                <a:ea typeface="华文中宋" panose="02010600040101010101" pitchFamily="2" charset="-122"/>
              </a:rPr>
              <a:t>转变结束时，珠光体中相的相对重量百分比为：</a:t>
            </a:r>
          </a:p>
        </p:txBody>
      </p:sp>
      <p:sp>
        <p:nvSpPr>
          <p:cNvPr id="153604" name="Rectangle 4"/>
          <p:cNvSpPr/>
          <p:nvPr/>
        </p:nvSpPr>
        <p:spPr>
          <a:xfrm>
            <a:off x="357188" y="3917949"/>
            <a:ext cx="4818062" cy="2563813"/>
          </a:xfrm>
          <a:prstGeom prst="rect">
            <a:avLst/>
          </a:prstGeom>
          <a:noFill/>
          <a:ln w="9525">
            <a:noFill/>
          </a:ln>
        </p:spPr>
        <p:txBody>
          <a:bodyPr/>
          <a:lstStyle/>
          <a:p>
            <a:pPr marL="342900" lvl="0" indent="-342900" eaLnBrk="1" hangingPunct="1">
              <a:lnSpc>
                <a:spcPct val="110000"/>
              </a:lnSpc>
              <a:spcBef>
                <a:spcPct val="20000"/>
              </a:spcBef>
              <a:buClr>
                <a:schemeClr val="accent2"/>
              </a:buClr>
              <a:buSzPct val="80000"/>
              <a:buFont typeface="Wingdings" panose="05000000000000000000" pitchFamily="2" charset="2"/>
              <a:buChar char="l"/>
            </a:pPr>
            <a:r>
              <a:rPr lang="en-US" altLang="zh-CN" sz="2800" b="1" dirty="0">
                <a:solidFill>
                  <a:srgbClr val="0000FF"/>
                </a:solidFill>
                <a:latin typeface="Times New Roman" panose="02020603050405020304" pitchFamily="18" charset="0"/>
                <a:ea typeface="华文中宋" panose="02010600040101010101" pitchFamily="2" charset="-122"/>
              </a:rPr>
              <a:t>珠光体</a:t>
            </a:r>
            <a:r>
              <a:rPr lang="zh-CN" altLang="en-US" sz="2800" b="1" dirty="0">
                <a:solidFill>
                  <a:schemeClr val="folHlink"/>
                </a:solidFill>
                <a:latin typeface="Times New Roman" panose="02020603050405020304" pitchFamily="18" charset="0"/>
                <a:ea typeface="华文中宋" panose="02010600040101010101" pitchFamily="2" charset="-122"/>
              </a:rPr>
              <a:t>中的渗碳体</a:t>
            </a:r>
            <a:r>
              <a:rPr lang="zh-CN" altLang="en-US" sz="2800" b="1" dirty="0">
                <a:latin typeface="Times New Roman" panose="02020603050405020304" pitchFamily="18" charset="0"/>
                <a:ea typeface="华文中宋" panose="02010600040101010101" pitchFamily="2" charset="-122"/>
              </a:rPr>
              <a:t>称为</a:t>
            </a:r>
            <a:r>
              <a:rPr lang="en-US" altLang="zh-CN" sz="2800" b="1" dirty="0">
                <a:solidFill>
                  <a:srgbClr val="0000FF"/>
                </a:solidFill>
                <a:latin typeface="Times New Roman" panose="02020603050405020304" pitchFamily="18" charset="0"/>
                <a:ea typeface="华文中宋" panose="02010600040101010101" pitchFamily="2" charset="-122"/>
              </a:rPr>
              <a:t>共析渗碳体</a:t>
            </a:r>
            <a:r>
              <a:rPr lang="zh-CN" altLang="en-US" sz="2800" b="1" dirty="0">
                <a:solidFill>
                  <a:schemeClr val="folHlink"/>
                </a:solidFill>
                <a:latin typeface="Times New Roman" panose="02020603050405020304" pitchFamily="18" charset="0"/>
                <a:ea typeface="华文中宋" panose="02010600040101010101" pitchFamily="2" charset="-122"/>
              </a:rPr>
              <a:t>。</a:t>
            </a:r>
          </a:p>
          <a:p>
            <a:pPr marL="342900" lvl="0" indent="-342900" eaLnBrk="1" hangingPunct="1">
              <a:lnSpc>
                <a:spcPct val="110000"/>
              </a:lnSpc>
              <a:spcBef>
                <a:spcPct val="20000"/>
              </a:spcBef>
              <a:buClr>
                <a:schemeClr val="accent2"/>
              </a:buClr>
              <a:buSzPct val="80000"/>
              <a:buFont typeface="Wingdings" panose="05000000000000000000" pitchFamily="2" charset="2"/>
              <a:buChar char="l"/>
            </a:pPr>
            <a:r>
              <a:rPr lang="en-US" altLang="zh-CN" sz="2800" b="1" dirty="0">
                <a:latin typeface="Times New Roman" panose="02020603050405020304" pitchFamily="18" charset="0"/>
                <a:ea typeface="华文中宋" panose="02010600040101010101" pitchFamily="2" charset="-122"/>
              </a:rPr>
              <a:t>S</a:t>
            </a:r>
            <a:r>
              <a:rPr lang="zh-CN" altLang="en-US" sz="2800" b="1" dirty="0">
                <a:latin typeface="Times New Roman" panose="02020603050405020304" pitchFamily="18" charset="0"/>
                <a:ea typeface="华文中宋" panose="02010600040101010101" pitchFamily="2" charset="-122"/>
              </a:rPr>
              <a:t>点以下，共析 </a:t>
            </a:r>
            <a:r>
              <a:rPr lang="zh-CN" altLang="en-US" sz="2800" b="1" i="1" dirty="0">
                <a:latin typeface="Times New Roman" panose="02020603050405020304" pitchFamily="18" charset="0"/>
                <a:ea typeface="华文中宋" panose="02010600040101010101" pitchFamily="2" charset="-122"/>
                <a:sym typeface="Symbol" panose="05050102010706020507" pitchFamily="18" charset="2"/>
              </a:rPr>
              <a:t></a:t>
            </a:r>
            <a:r>
              <a:rPr lang="zh-CN" altLang="en-US" sz="2800" b="1" dirty="0">
                <a:latin typeface="Times New Roman" panose="02020603050405020304" pitchFamily="18" charset="0"/>
                <a:ea typeface="华文中宋" panose="02010600040101010101" pitchFamily="2" charset="-122"/>
              </a:rPr>
              <a:t> 中析出</a:t>
            </a:r>
            <a:r>
              <a:rPr lang="en-US" altLang="zh-CN" sz="2800" b="1" dirty="0">
                <a:latin typeface="Times New Roman" panose="02020603050405020304" pitchFamily="18" charset="0"/>
                <a:ea typeface="华文中宋" panose="02010600040101010101" pitchFamily="2" charset="-122"/>
              </a:rPr>
              <a:t>Fe</a:t>
            </a:r>
            <a:r>
              <a:rPr lang="en-US" altLang="zh-CN" sz="2800" b="1" baseline="-30000" dirty="0">
                <a:latin typeface="Times New Roman" panose="02020603050405020304" pitchFamily="18" charset="0"/>
                <a:ea typeface="华文中宋" panose="02010600040101010101" pitchFamily="2" charset="-122"/>
              </a:rPr>
              <a:t>3</a:t>
            </a:r>
            <a:r>
              <a:rPr lang="en-US" altLang="zh-CN" sz="2800" b="1" dirty="0">
                <a:latin typeface="Times New Roman" panose="02020603050405020304" pitchFamily="18" charset="0"/>
                <a:ea typeface="华文中宋" panose="02010600040101010101" pitchFamily="2" charset="-122"/>
              </a:rPr>
              <a:t>C</a:t>
            </a:r>
            <a:r>
              <a:rPr lang="en-US" altLang="zh-CN" sz="2800" b="1" baseline="-30000" dirty="0">
                <a:latin typeface="Times New Roman" panose="02020603050405020304" pitchFamily="18" charset="0"/>
                <a:ea typeface="华文中宋" panose="02010600040101010101" pitchFamily="2" charset="-122"/>
              </a:rPr>
              <a:t>Ⅲ</a:t>
            </a:r>
            <a:r>
              <a:rPr lang="zh-CN" altLang="en-US" sz="2800" b="1" dirty="0">
                <a:latin typeface="Times New Roman" panose="02020603050405020304" pitchFamily="18" charset="0"/>
                <a:ea typeface="华文中宋" panose="02010600040101010101" pitchFamily="2" charset="-122"/>
              </a:rPr>
              <a:t>，与共析</a:t>
            </a:r>
            <a:r>
              <a:rPr lang="en-US" altLang="zh-CN" sz="2800" b="1" dirty="0">
                <a:latin typeface="Times New Roman" panose="02020603050405020304" pitchFamily="18" charset="0"/>
                <a:ea typeface="华文中宋" panose="02010600040101010101" pitchFamily="2" charset="-122"/>
              </a:rPr>
              <a:t>Fe</a:t>
            </a:r>
            <a:r>
              <a:rPr lang="en-US" altLang="zh-CN" sz="2800" b="1" baseline="-30000" dirty="0">
                <a:latin typeface="Times New Roman" panose="02020603050405020304" pitchFamily="18" charset="0"/>
                <a:ea typeface="华文中宋" panose="02010600040101010101" pitchFamily="2" charset="-122"/>
              </a:rPr>
              <a:t>3</a:t>
            </a:r>
            <a:r>
              <a:rPr lang="en-US" altLang="zh-CN" sz="2800" b="1" dirty="0">
                <a:latin typeface="Times New Roman" panose="02020603050405020304" pitchFamily="18" charset="0"/>
                <a:ea typeface="华文中宋" panose="02010600040101010101" pitchFamily="2" charset="-122"/>
              </a:rPr>
              <a:t>C</a:t>
            </a:r>
            <a:r>
              <a:rPr lang="zh-CN" altLang="en-US" sz="2800" b="1" dirty="0">
                <a:latin typeface="Times New Roman" panose="02020603050405020304" pitchFamily="18" charset="0"/>
                <a:ea typeface="华文中宋" panose="02010600040101010101" pitchFamily="2" charset="-122"/>
              </a:rPr>
              <a:t>结合不易分辨。室温组织为</a:t>
            </a:r>
            <a:r>
              <a:rPr lang="en-US" altLang="zh-CN" sz="2800" b="1" dirty="0">
                <a:solidFill>
                  <a:srgbClr val="0000FF"/>
                </a:solidFill>
                <a:latin typeface="Times New Roman" panose="02020603050405020304" pitchFamily="18" charset="0"/>
                <a:ea typeface="华文中宋" panose="02010600040101010101" pitchFamily="2" charset="-122"/>
              </a:rPr>
              <a:t>P</a:t>
            </a:r>
            <a:r>
              <a:rPr lang="zh-CN" altLang="en-US" sz="2800" b="1" dirty="0">
                <a:latin typeface="Times New Roman" panose="02020603050405020304" pitchFamily="18" charset="0"/>
                <a:ea typeface="华文中宋" panose="02010600040101010101" pitchFamily="2" charset="-122"/>
              </a:rPr>
              <a:t>。</a:t>
            </a:r>
            <a:endParaRPr lang="en-US" altLang="zh-CN" sz="2800" b="1" dirty="0">
              <a:latin typeface="Times New Roman" panose="02020603050405020304" pitchFamily="18" charset="0"/>
              <a:ea typeface="华文中宋" panose="02010600040101010101" pitchFamily="2" charset="-122"/>
            </a:endParaRPr>
          </a:p>
        </p:txBody>
      </p:sp>
      <mc:AlternateContent xmlns:mc="http://schemas.openxmlformats.org/markup-compatibility/2006" xmlns:a14="http://schemas.microsoft.com/office/drawing/2010/main">
        <mc:Choice Requires="a14">
          <p:sp>
            <p:nvSpPr>
              <p:cNvPr id="153605" name="Object 5"/>
              <p:cNvSpPr txBox="1"/>
              <p:nvPr/>
            </p:nvSpPr>
            <p:spPr>
              <a:xfrm>
                <a:off x="1087437" y="2751139"/>
                <a:ext cx="3984625" cy="1195387"/>
              </a:xfrm>
              <a:prstGeom prst="rect">
                <a:avLst/>
              </a:prstGeom>
              <a:solidFill>
                <a:schemeClr val="accent1">
                  <a:lumMod val="60000"/>
                  <a:lumOff val="40000"/>
                </a:schemeClr>
              </a:solid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𝑄</m:t>
                          </m:r>
                        </m:e>
                        <m:sub>
                          <m:r>
                            <a:rPr lang="zh-CN" altLang="en-US" i="1">
                              <a:solidFill>
                                <a:srgbClr val="000000"/>
                              </a:solidFill>
                              <a:latin typeface="Cambria Math" panose="02040503050406030204" pitchFamily="18" charset="0"/>
                            </a:rPr>
                            <m:t>𝛼</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𝑆𝐾</m:t>
                          </m:r>
                        </m:num>
                        <m:den>
                          <m:r>
                            <a:rPr lang="zh-CN" altLang="en-US" i="1">
                              <a:solidFill>
                                <a:srgbClr val="000000"/>
                              </a:solidFill>
                              <a:latin typeface="Cambria Math" panose="02040503050406030204" pitchFamily="18" charset="0"/>
                            </a:rPr>
                            <m:t>𝑃𝐾</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6.69−0.77</m:t>
                          </m:r>
                        </m:num>
                        <m:den>
                          <m:r>
                            <a:rPr lang="zh-CN" altLang="en-US" i="1">
                              <a:solidFill>
                                <a:srgbClr val="000000"/>
                              </a:solidFill>
                              <a:latin typeface="Cambria Math" panose="02040503050406030204" pitchFamily="18" charset="0"/>
                            </a:rPr>
                            <m:t>6.69−0.0218</m:t>
                          </m:r>
                        </m:den>
                      </m:f>
                      <m:r>
                        <a:rPr lang="zh-CN" altLang="en-US" i="1">
                          <a:solidFill>
                            <a:srgbClr val="000000"/>
                          </a:solidFill>
                          <a:latin typeface="Cambria Math" panose="02040503050406030204" pitchFamily="18" charset="0"/>
                        </a:rPr>
                        <m:t>=88.8%</m:t>
                      </m:r>
                      <m:r>
                        <a:rPr lang="zh-CN" altLang="en-US" i="0">
                          <a:solidFill>
                            <a:srgbClr val="000000"/>
                          </a:solidFill>
                          <a:latin typeface="Cambria Math" panose="02040503050406030204" pitchFamily="18" charset="0"/>
                        </a:rPr>
                        <m:t>,</m:t>
                      </m:r>
                    </m:oMath>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𝑄</m:t>
                          </m:r>
                        </m:e>
                        <m:sub>
                          <m:r>
                            <m:rPr>
                              <m:nor/>
                            </m:rPr>
                            <a:rPr lang="zh-CN" altLang="en-US" i="0">
                              <a:solidFill>
                                <a:srgbClr val="000000"/>
                              </a:solidFill>
                              <a:latin typeface="Cambria Math" panose="02040503050406030204" pitchFamily="18" charset="0"/>
                            </a:rPr>
                            <m:t> </m:t>
                          </m:r>
                          <m:r>
                            <m:rPr>
                              <m:nor/>
                            </m:rPr>
                            <a:rPr lang="zh-CN" altLang="en-US" i="0">
                              <a:solidFill>
                                <a:srgbClr val="000000"/>
                              </a:solidFill>
                              <a:latin typeface="Cambria Math" panose="02040503050406030204" pitchFamily="18" charset="0"/>
                            </a:rPr>
                            <m:t>F</m:t>
                          </m:r>
                          <m:sSub>
                            <m:sSubPr>
                              <m:ctrlPr>
                                <a:rPr lang="zh-CN" altLang="en-US" i="1">
                                  <a:solidFill>
                                    <a:srgbClr val="000000"/>
                                  </a:solidFill>
                                  <a:latin typeface="Cambria Math" panose="02040503050406030204" pitchFamily="18" charset="0"/>
                                </a:rPr>
                              </m:ctrlPr>
                            </m:sSubPr>
                            <m:e>
                              <m:r>
                                <m:rPr>
                                  <m:nor/>
                                </m:rPr>
                                <a:rPr lang="zh-CN" altLang="en-US" i="0">
                                  <a:solidFill>
                                    <a:srgbClr val="000000"/>
                                  </a:solidFill>
                                  <a:latin typeface="Cambria Math" panose="02040503050406030204" pitchFamily="18" charset="0"/>
                                </a:rPr>
                                <m:t>e</m:t>
                              </m:r>
                            </m:e>
                            <m:sub>
                              <m:r>
                                <a:rPr lang="zh-CN" altLang="en-US" i="0">
                                  <a:solidFill>
                                    <a:srgbClr val="000000"/>
                                  </a:solidFill>
                                  <a:latin typeface="Cambria Math" panose="02040503050406030204" pitchFamily="18" charset="0"/>
                                </a:rPr>
                                <m:t>3</m:t>
                              </m:r>
                            </m:sub>
                          </m:sSub>
                          <m:r>
                            <m:rPr>
                              <m:sty m:val="p"/>
                            </m:rPr>
                            <a:rPr lang="zh-CN" altLang="en-US" i="0">
                              <a:solidFill>
                                <a:srgbClr val="000000"/>
                              </a:solidFill>
                              <a:latin typeface="Cambria Math" panose="02040503050406030204" pitchFamily="18" charset="0"/>
                            </a:rPr>
                            <m:t>C</m:t>
                          </m:r>
                        </m:sub>
                      </m:sSub>
                      <m:r>
                        <a:rPr lang="zh-CN" altLang="en-US" i="1">
                          <a:solidFill>
                            <a:srgbClr val="000000"/>
                          </a:solidFill>
                          <a:latin typeface="Cambria Math" panose="02040503050406030204" pitchFamily="18" charset="0"/>
                        </a:rPr>
                        <m:t>=100%−88.8%=11.2%</m:t>
                      </m:r>
                    </m:oMath>
                  </m:oMathPara>
                </a14:m>
                <a:endParaRPr lang="zh-CN" altLang="en-US" dirty="0"/>
              </a:p>
            </p:txBody>
          </p:sp>
        </mc:Choice>
        <mc:Fallback xmlns="">
          <p:sp>
            <p:nvSpPr>
              <p:cNvPr id="153605" name="Object 5"/>
              <p:cNvSpPr txBox="1">
                <a:spLocks noRot="1" noChangeAspect="1" noMove="1" noResize="1" noEditPoints="1" noAdjustHandles="1" noChangeArrowheads="1" noChangeShapeType="1" noTextEdit="1"/>
              </p:cNvSpPr>
              <p:nvPr/>
            </p:nvSpPr>
            <p:spPr>
              <a:xfrm>
                <a:off x="1087437" y="2751139"/>
                <a:ext cx="3984625" cy="1195387"/>
              </a:xfrm>
              <a:prstGeom prst="rect">
                <a:avLst/>
              </a:prstGeom>
              <a:blipFill rotWithShape="1">
                <a:blip r:embed="rId3"/>
                <a:stretch>
                  <a:fillRect l="-8" t="-27" r="8"/>
                </a:stretch>
              </a:blipFill>
              <a:ln w="38100">
                <a:noFill/>
                <a:miter/>
              </a:ln>
            </p:spPr>
            <p:txBody>
              <a:bodyPr/>
              <a:lstStyle/>
              <a:p>
                <a:r>
                  <a:rPr lang="zh-CN" altLang="en-US">
                    <a:noFill/>
                  </a:rPr>
                  <a:t> </a:t>
                </a:r>
              </a:p>
            </p:txBody>
          </p:sp>
        </mc:Fallback>
      </mc:AlternateContent>
      <p:grpSp>
        <p:nvGrpSpPr>
          <p:cNvPr id="9225" name="Group 19"/>
          <p:cNvGrpSpPr>
            <a:grpSpLocks noChangeAspect="1"/>
          </p:cNvGrpSpPr>
          <p:nvPr/>
        </p:nvGrpSpPr>
        <p:grpSpPr>
          <a:xfrm>
            <a:off x="5435600" y="2493269"/>
            <a:ext cx="3533775" cy="2887404"/>
            <a:chOff x="3216" y="2112"/>
            <a:chExt cx="2154" cy="1760"/>
          </a:xfrm>
        </p:grpSpPr>
        <p:pic>
          <p:nvPicPr>
            <p:cNvPr id="9229" name="Picture 10" descr="Fe-C共析结晶过程"/>
            <p:cNvPicPr>
              <a:picLocks noChangeAspect="1"/>
            </p:cNvPicPr>
            <p:nvPr/>
          </p:nvPicPr>
          <p:blipFill>
            <a:blip r:embed="rId4"/>
            <a:stretch>
              <a:fillRect/>
            </a:stretch>
          </p:blipFill>
          <p:spPr>
            <a:xfrm>
              <a:off x="3216" y="2112"/>
              <a:ext cx="2154" cy="1760"/>
            </a:xfrm>
            <a:prstGeom prst="rect">
              <a:avLst/>
            </a:prstGeom>
            <a:noFill/>
            <a:ln w="38100" cap="flat" cmpd="sng">
              <a:noFill/>
              <a:prstDash val="solid"/>
              <a:miter/>
              <a:headEnd type="none" w="med" len="med"/>
              <a:tailEnd type="none" w="med" len="med"/>
            </a:ln>
          </p:spPr>
        </p:pic>
        <p:sp>
          <p:nvSpPr>
            <p:cNvPr id="9230" name="Rectangle 12"/>
            <p:cNvSpPr>
              <a:spLocks noChangeAspect="1"/>
            </p:cNvSpPr>
            <p:nvPr/>
          </p:nvSpPr>
          <p:spPr>
            <a:xfrm>
              <a:off x="3378" y="3360"/>
              <a:ext cx="96" cy="96"/>
            </a:xfrm>
            <a:prstGeom prst="rect">
              <a:avLst/>
            </a:prstGeom>
            <a:solidFill>
              <a:schemeClr val="bg1"/>
            </a:solidFill>
            <a:ln w="9525" cap="flat" cmpd="sng">
              <a:noFill/>
              <a:prstDash val="solid"/>
              <a:miter/>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9231" name="Text Box 13"/>
            <p:cNvSpPr txBox="1">
              <a:spLocks noChangeAspect="1"/>
            </p:cNvSpPr>
            <p:nvPr/>
          </p:nvSpPr>
          <p:spPr>
            <a:xfrm>
              <a:off x="3321" y="3600"/>
              <a:ext cx="144" cy="149"/>
            </a:xfrm>
            <a:prstGeom prst="rect">
              <a:avLst/>
            </a:prstGeom>
            <a:noFill/>
            <a:ln w="9525">
              <a:noFill/>
            </a:ln>
          </p:spPr>
          <p:txBody>
            <a:bodyPr>
              <a:spAutoFit/>
            </a:bodyPr>
            <a:lstStyle/>
            <a:p>
              <a:pPr lvl="0" eaLnBrk="1" hangingPunct="1">
                <a:spcBef>
                  <a:spcPct val="50000"/>
                </a:spcBef>
              </a:pPr>
              <a:r>
                <a:rPr lang="en-US" altLang="zh-CN" sz="1000" b="1" dirty="0">
                  <a:solidFill>
                    <a:schemeClr val="bg2"/>
                  </a:solidFill>
                  <a:latin typeface="Times New Roman" panose="02020603050405020304" pitchFamily="18" charset="0"/>
                  <a:ea typeface="宋体" panose="02010600030101010101" pitchFamily="2" charset="-122"/>
                </a:rPr>
                <a:t>Q</a:t>
              </a:r>
            </a:p>
          </p:txBody>
        </p:sp>
      </p:grpSp>
      <p:pic>
        <p:nvPicPr>
          <p:cNvPr id="17" name="内容占位符 1" descr="新校徽（3M）弓之乐"/>
          <p:cNvPicPr>
            <a:picLocks noChangeAspect="1"/>
          </p:cNvPicPr>
          <p:nvPr/>
        </p:nvPicPr>
        <p:blipFill>
          <a:blip r:embed="rId5"/>
          <a:stretch>
            <a:fillRect/>
          </a:stretch>
        </p:blipFill>
        <p:spPr>
          <a:xfrm>
            <a:off x="0" y="0"/>
            <a:ext cx="746760" cy="735965"/>
          </a:xfrm>
          <a:prstGeom prst="rect">
            <a:avLst/>
          </a:prstGeom>
          <a:noFill/>
          <a:ln w="9525">
            <a:noFill/>
          </a:ln>
        </p:spPr>
      </p:pic>
      <p:sp>
        <p:nvSpPr>
          <p:cNvPr id="5" name="Rectangle 2"/>
          <p:cNvSpPr>
            <a:spLocks noGrp="1" noChangeArrowheads="1"/>
          </p:cNvSpPr>
          <p:nvPr>
            <p:ph type="title"/>
          </p:nvPr>
        </p:nvSpPr>
        <p:spPr>
          <a:xfrm>
            <a:off x="1763688" y="293687"/>
            <a:ext cx="6599238" cy="936625"/>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㈡ </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共析钢的结晶过程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3603">
                                            <p:txEl>
                                              <p:pRg st="0" end="0"/>
                                            </p:txEl>
                                          </p:spTgt>
                                        </p:tgtEl>
                                        <p:attrNameLst>
                                          <p:attrName>style.visibility</p:attrName>
                                        </p:attrNameLst>
                                      </p:cBhvr>
                                      <p:to>
                                        <p:strVal val="visible"/>
                                      </p:to>
                                    </p:set>
                                    <p:animEffect transition="in" filter="wipe(left)">
                                      <p:cBhvr>
                                        <p:cTn id="7" dur="500"/>
                                        <p:tgtEl>
                                          <p:spTgt spid="15360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53604">
                                            <p:txEl>
                                              <p:pRg st="0" end="0"/>
                                            </p:txEl>
                                          </p:spTgt>
                                        </p:tgtEl>
                                        <p:attrNameLst>
                                          <p:attrName>style.visibility</p:attrName>
                                        </p:attrNameLst>
                                      </p:cBhvr>
                                      <p:to>
                                        <p:strVal val="visible"/>
                                      </p:to>
                                    </p:set>
                                    <p:animEffect transition="in" filter="wipe(left)">
                                      <p:cBhvr>
                                        <p:cTn id="11" dur="500"/>
                                        <p:tgtEl>
                                          <p:spTgt spid="153604">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53604">
                                            <p:txEl>
                                              <p:pRg st="1" end="1"/>
                                            </p:txEl>
                                          </p:spTgt>
                                        </p:tgtEl>
                                        <p:attrNameLst>
                                          <p:attrName>style.visibility</p:attrName>
                                        </p:attrNameLst>
                                      </p:cBhvr>
                                      <p:to>
                                        <p:strVal val="visible"/>
                                      </p:to>
                                    </p:set>
                                    <p:animEffect transition="in" filter="wipe(left)">
                                      <p:cBhvr>
                                        <p:cTn id="15" dur="500"/>
                                        <p:tgtEl>
                                          <p:spTgt spid="15360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3" grpId="0" build="p" advAuto="1000"/>
      <p:bldP spid="153604" grpId="0" build="p" advAuto="100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日期占位符 3"/>
          <p:cNvSpPr txBox="1">
            <a:spLocks noGrp="1"/>
          </p:cNvSpPr>
          <p:nvPr>
            <p:ph type="dt" sz="half" idx="10"/>
          </p:nvPr>
        </p:nvSpPr>
        <p:spPr>
          <a:xfrm>
            <a:off x="0" y="6510338"/>
            <a:ext cx="2162175"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0244" name="灯片编号占位符 5"/>
          <p:cNvSpPr txBox="1">
            <a:spLocks noGrp="1"/>
          </p:cNvSpPr>
          <p:nvPr>
            <p:ph type="sldNum" sz="quarter" idx="12"/>
          </p:nvPr>
        </p:nvSpPr>
        <p:spPr>
          <a:xfrm>
            <a:off x="8563610" y="6584950"/>
            <a:ext cx="595630" cy="273050"/>
          </a:xfrm>
        </p:spPr>
        <p:txBody>
          <a:bodyPr lIns="92075" tIns="46038" rIns="92075" bIns="46038" anchor="ctr"/>
          <a:lstStyle/>
          <a:p>
            <a:pPr algn="r" eaLnBrk="1" hangingPunct="1"/>
            <a:fld id="{9A0DB2DC-4C9A-4742-B13C-FB6460FD3503}" type="slidenum">
              <a:rPr lang="en-US" altLang="zh-CN" sz="1400" dirty="0"/>
              <a:t>127</a:t>
            </a:fld>
            <a:endParaRPr lang="en-US" altLang="zh-CN" sz="1400" dirty="0"/>
          </a:p>
        </p:txBody>
      </p:sp>
      <p:sp>
        <p:nvSpPr>
          <p:cNvPr id="163843" name="Rectangle 3"/>
          <p:cNvSpPr>
            <a:spLocks noGrp="1"/>
          </p:cNvSpPr>
          <p:nvPr>
            <p:ph idx="1"/>
          </p:nvPr>
        </p:nvSpPr>
        <p:spPr>
          <a:xfrm>
            <a:off x="395288" y="1988839"/>
            <a:ext cx="3744912" cy="3889673"/>
          </a:xfrm>
        </p:spPr>
        <p:txBody>
          <a:bodyPr vert="horz" wrap="square" lIns="91440" tIns="45720" rIns="91440" bIns="45720" anchor="t"/>
          <a:lstStyle/>
          <a:p>
            <a:pPr eaLnBrk="1" hangingPunct="1">
              <a:lnSpc>
                <a:spcPct val="140000"/>
              </a:lnSpc>
            </a:pPr>
            <a:r>
              <a:rPr lang="zh-CN" altLang="en-US" sz="2800" b="1" dirty="0">
                <a:ea typeface="华文中宋" panose="02010600040101010101" pitchFamily="2" charset="-122"/>
              </a:rPr>
              <a:t>室温下，珠光体中两相的相对重量百分比是多少？</a:t>
            </a:r>
          </a:p>
        </p:txBody>
      </p:sp>
      <mc:AlternateContent xmlns:mc="http://schemas.openxmlformats.org/markup-compatibility/2006" xmlns:a14="http://schemas.microsoft.com/office/drawing/2010/main">
        <mc:Choice Requires="a14">
          <p:sp>
            <p:nvSpPr>
              <p:cNvPr id="163844" name="Object 4"/>
              <p:cNvSpPr txBox="1"/>
              <p:nvPr/>
            </p:nvSpPr>
            <p:spPr>
              <a:xfrm>
                <a:off x="827367" y="3932873"/>
                <a:ext cx="3238500" cy="2078038"/>
              </a:xfrm>
              <a:prstGeom prst="rect">
                <a:avLst/>
              </a:prstGeom>
              <a:solidFill>
                <a:srgbClr val="FFFF66"/>
              </a:solid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𝑄</m:t>
                          </m:r>
                        </m:e>
                        <m:sub>
                          <m:r>
                            <a:rPr lang="zh-CN" altLang="en-US" i="1">
                              <a:solidFill>
                                <a:srgbClr val="000000"/>
                              </a:solidFill>
                              <a:latin typeface="Cambria Math" panose="02040503050406030204" pitchFamily="18" charset="0"/>
                            </a:rPr>
                            <m:t>𝛼</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4</m:t>
                          </m:r>
                          <m:r>
                            <a:rPr lang="zh-CN" altLang="en-US" i="1">
                              <a:solidFill>
                                <a:srgbClr val="000000"/>
                              </a:solidFill>
                              <a:latin typeface="Cambria Math" panose="02040503050406030204" pitchFamily="18" charset="0"/>
                            </a:rPr>
                            <m:t>𝐿</m:t>
                          </m:r>
                        </m:num>
                        <m:den>
                          <m:r>
                            <a:rPr lang="zh-CN" altLang="en-US" i="1">
                              <a:solidFill>
                                <a:srgbClr val="000000"/>
                              </a:solidFill>
                              <a:latin typeface="Cambria Math" panose="02040503050406030204" pitchFamily="18" charset="0"/>
                            </a:rPr>
                            <m:t>𝑄𝐿</m:t>
                          </m:r>
                        </m:den>
                      </m:f>
                    </m:oMath>
                    <m:oMath xmlns:m="http://schemas.openxmlformats.org/officeDocument/2006/math">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6.69−0.77</m:t>
                          </m:r>
                        </m:num>
                        <m:den>
                          <m:r>
                            <a:rPr lang="zh-CN" altLang="en-US" i="1">
                              <a:solidFill>
                                <a:srgbClr val="000000"/>
                              </a:solidFill>
                              <a:latin typeface="Cambria Math" panose="02040503050406030204" pitchFamily="18" charset="0"/>
                            </a:rPr>
                            <m:t>6.69−0.0008</m:t>
                          </m:r>
                        </m:den>
                      </m:f>
                      <m:r>
                        <a:rPr lang="zh-CN" altLang="en-US" i="1">
                          <a:solidFill>
                            <a:srgbClr val="000000"/>
                          </a:solidFill>
                          <a:latin typeface="Cambria Math" panose="02040503050406030204" pitchFamily="18" charset="0"/>
                        </a:rPr>
                        <m:t>=88.5%</m:t>
                      </m:r>
                    </m:oMath>
                  </m:oMathPara>
                </a14:m>
                <a:br>
                  <a:rPr lang="zh-CN" altLang="en-US" i="1" dirty="0">
                    <a:solidFill>
                      <a:srgbClr val="000000"/>
                    </a:solidFill>
                    <a:latin typeface="Cambria Math" panose="02040503050406030204" pitchFamily="18" charset="0"/>
                  </a:rPr>
                </a:br>
                <a:br>
                  <a:rPr lang="zh-CN" altLang="en-US" i="1"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𝑄</m:t>
                          </m:r>
                        </m:e>
                        <m:sub>
                          <m:r>
                            <m:rPr>
                              <m:nor/>
                            </m:rPr>
                            <a:rPr lang="zh-CN" altLang="en-US" i="0">
                              <a:solidFill>
                                <a:srgbClr val="000000"/>
                              </a:solidFill>
                              <a:latin typeface="Cambria Math" panose="02040503050406030204" pitchFamily="18" charset="0"/>
                            </a:rPr>
                            <m:t> </m:t>
                          </m:r>
                          <m:r>
                            <m:rPr>
                              <m:nor/>
                            </m:rPr>
                            <a:rPr lang="zh-CN" altLang="en-US" i="0">
                              <a:solidFill>
                                <a:srgbClr val="000000"/>
                              </a:solidFill>
                              <a:latin typeface="Cambria Math" panose="02040503050406030204" pitchFamily="18" charset="0"/>
                            </a:rPr>
                            <m:t>F</m:t>
                          </m:r>
                          <m:sSub>
                            <m:sSubPr>
                              <m:ctrlPr>
                                <a:rPr lang="zh-CN" altLang="en-US" i="1">
                                  <a:solidFill>
                                    <a:srgbClr val="000000"/>
                                  </a:solidFill>
                                  <a:latin typeface="Cambria Math" panose="02040503050406030204" pitchFamily="18" charset="0"/>
                                </a:rPr>
                              </m:ctrlPr>
                            </m:sSubPr>
                            <m:e>
                              <m:r>
                                <m:rPr>
                                  <m:nor/>
                                </m:rPr>
                                <a:rPr lang="zh-CN" altLang="en-US" i="0">
                                  <a:solidFill>
                                    <a:srgbClr val="000000"/>
                                  </a:solidFill>
                                  <a:latin typeface="Cambria Math" panose="02040503050406030204" pitchFamily="18" charset="0"/>
                                </a:rPr>
                                <m:t>e</m:t>
                              </m:r>
                            </m:e>
                            <m:sub>
                              <m:r>
                                <a:rPr lang="zh-CN" altLang="en-US" i="0">
                                  <a:solidFill>
                                    <a:srgbClr val="000000"/>
                                  </a:solidFill>
                                  <a:latin typeface="Cambria Math" panose="02040503050406030204" pitchFamily="18" charset="0"/>
                                </a:rPr>
                                <m:t>3</m:t>
                              </m:r>
                            </m:sub>
                          </m:sSub>
                          <m:r>
                            <m:rPr>
                              <m:sty m:val="p"/>
                            </m:rPr>
                            <a:rPr lang="zh-CN" altLang="en-US" i="0">
                              <a:solidFill>
                                <a:srgbClr val="000000"/>
                              </a:solidFill>
                              <a:latin typeface="Cambria Math" panose="02040503050406030204" pitchFamily="18" charset="0"/>
                            </a:rPr>
                            <m:t>C</m:t>
                          </m:r>
                        </m:sub>
                      </m:sSub>
                      <m:r>
                        <a:rPr lang="zh-CN" altLang="en-US" i="1">
                          <a:solidFill>
                            <a:srgbClr val="000000"/>
                          </a:solidFill>
                          <a:latin typeface="Cambria Math" panose="02040503050406030204" pitchFamily="18" charset="0"/>
                        </a:rPr>
                        <m:t>=100%−88.5%</m:t>
                      </m:r>
                    </m:oMath>
                    <m:oMath xmlns:m="http://schemas.openxmlformats.org/officeDocument/2006/math">
                      <m:r>
                        <a:rPr lang="zh-CN" altLang="en-US" i="1">
                          <a:solidFill>
                            <a:srgbClr val="000000"/>
                          </a:solidFill>
                          <a:latin typeface="Cambria Math" panose="02040503050406030204" pitchFamily="18" charset="0"/>
                        </a:rPr>
                        <m:t>=11.5%</m:t>
                      </m:r>
                    </m:oMath>
                  </m:oMathPara>
                </a14:m>
                <a:endParaRPr lang="zh-CN" altLang="en-US" dirty="0"/>
              </a:p>
            </p:txBody>
          </p:sp>
        </mc:Choice>
        <mc:Fallback xmlns="">
          <p:sp>
            <p:nvSpPr>
              <p:cNvPr id="163844" name="Object 4"/>
              <p:cNvSpPr txBox="1">
                <a:spLocks noRot="1" noChangeAspect="1" noMove="1" noResize="1" noEditPoints="1" noAdjustHandles="1" noChangeArrowheads="1" noChangeShapeType="1" noTextEdit="1"/>
              </p:cNvSpPr>
              <p:nvPr/>
            </p:nvSpPr>
            <p:spPr>
              <a:xfrm>
                <a:off x="827367" y="3932873"/>
                <a:ext cx="3238500" cy="2078038"/>
              </a:xfrm>
              <a:prstGeom prst="rect">
                <a:avLst/>
              </a:prstGeom>
              <a:blipFill rotWithShape="1">
                <a:blip r:embed="rId3"/>
                <a:stretch>
                  <a:fillRect l="-18" t="-15" r="18"/>
                </a:stretch>
              </a:blipFill>
              <a:ln w="38100">
                <a:noFill/>
                <a:miter/>
              </a:ln>
            </p:spPr>
            <p:txBody>
              <a:bodyPr/>
              <a:lstStyle/>
              <a:p>
                <a:r>
                  <a:rPr lang="zh-CN" altLang="en-US">
                    <a:noFill/>
                  </a:rPr>
                  <a:t> </a:t>
                </a:r>
              </a:p>
            </p:txBody>
          </p:sp>
        </mc:Fallback>
      </mc:AlternateContent>
      <p:grpSp>
        <p:nvGrpSpPr>
          <p:cNvPr id="2" name="Group 20"/>
          <p:cNvGrpSpPr/>
          <p:nvPr/>
        </p:nvGrpSpPr>
        <p:grpSpPr>
          <a:xfrm>
            <a:off x="4667885" y="1844675"/>
            <a:ext cx="4227195" cy="4429125"/>
            <a:chOff x="2688" y="768"/>
            <a:chExt cx="2888" cy="2957"/>
          </a:xfrm>
        </p:grpSpPr>
        <p:grpSp>
          <p:nvGrpSpPr>
            <p:cNvPr id="10248" name="Group 17"/>
            <p:cNvGrpSpPr/>
            <p:nvPr/>
          </p:nvGrpSpPr>
          <p:grpSpPr>
            <a:xfrm>
              <a:off x="2688" y="768"/>
              <a:ext cx="2888" cy="2957"/>
              <a:chOff x="2688" y="768"/>
              <a:chExt cx="2888" cy="2957"/>
            </a:xfrm>
          </p:grpSpPr>
          <p:grpSp>
            <p:nvGrpSpPr>
              <p:cNvPr id="10250" name="Group 12"/>
              <p:cNvGrpSpPr/>
              <p:nvPr/>
            </p:nvGrpSpPr>
            <p:grpSpPr>
              <a:xfrm>
                <a:off x="2688" y="768"/>
                <a:ext cx="2888" cy="2957"/>
                <a:chOff x="2688" y="768"/>
                <a:chExt cx="2888" cy="2957"/>
              </a:xfrm>
            </p:grpSpPr>
            <p:pic>
              <p:nvPicPr>
                <p:cNvPr id="10255" name="Picture 5" descr="image017"/>
                <p:cNvPicPr>
                  <a:picLocks noChangeAspect="1"/>
                </p:cNvPicPr>
                <p:nvPr/>
              </p:nvPicPr>
              <p:blipFill>
                <a:blip r:embed="rId4"/>
                <a:stretch>
                  <a:fillRect/>
                </a:stretch>
              </p:blipFill>
              <p:spPr>
                <a:xfrm>
                  <a:off x="2688" y="768"/>
                  <a:ext cx="2888" cy="2957"/>
                </a:xfrm>
                <a:prstGeom prst="rect">
                  <a:avLst/>
                </a:prstGeom>
                <a:noFill/>
                <a:ln w="38100" cap="flat" cmpd="sng">
                  <a:noFill/>
                  <a:prstDash val="solid"/>
                  <a:miter/>
                  <a:headEnd type="none" w="med" len="med"/>
                  <a:tailEnd type="none" w="med" len="med"/>
                </a:ln>
              </p:spPr>
            </p:pic>
            <p:sp>
              <p:nvSpPr>
                <p:cNvPr id="10256" name="Line 6"/>
                <p:cNvSpPr/>
                <p:nvPr/>
              </p:nvSpPr>
              <p:spPr>
                <a:xfrm>
                  <a:off x="3372" y="972"/>
                  <a:ext cx="0" cy="2352"/>
                </a:xfrm>
                <a:prstGeom prst="line">
                  <a:avLst/>
                </a:prstGeom>
                <a:ln w="38100" cap="flat" cmpd="sng">
                  <a:noFill/>
                  <a:prstDash val="solid"/>
                  <a:headEnd type="none" w="med" len="med"/>
                  <a:tailEnd type="none" w="med" len="med"/>
                </a:ln>
              </p:spPr>
            </p:sp>
            <p:sp>
              <p:nvSpPr>
                <p:cNvPr id="10257" name="Rectangle 7"/>
                <p:cNvSpPr/>
                <p:nvPr/>
              </p:nvSpPr>
              <p:spPr>
                <a:xfrm>
                  <a:off x="3156" y="2772"/>
                  <a:ext cx="96" cy="144"/>
                </a:xfrm>
                <a:prstGeom prst="rect">
                  <a:avLst/>
                </a:prstGeom>
                <a:solidFill>
                  <a:schemeClr val="bg1"/>
                </a:solidFill>
                <a:ln w="38100" cap="flat" cmpd="sng">
                  <a:noFill/>
                  <a:prstDash val="solid"/>
                  <a:miter/>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0258" name="Text Box 8"/>
                <p:cNvSpPr txBox="1"/>
                <p:nvPr/>
              </p:nvSpPr>
              <p:spPr>
                <a:xfrm>
                  <a:off x="3084" y="3156"/>
                  <a:ext cx="192" cy="184"/>
                </a:xfrm>
                <a:prstGeom prst="rect">
                  <a:avLst/>
                </a:prstGeom>
                <a:noFill/>
                <a:ln w="38100">
                  <a:noFill/>
                </a:ln>
              </p:spPr>
              <p:txBody>
                <a:bodyPr>
                  <a:spAutoFit/>
                </a:bodyPr>
                <a:lstStyle/>
                <a:p>
                  <a:pPr lvl="0" eaLnBrk="1" hangingPunct="1">
                    <a:spcBef>
                      <a:spcPct val="50000"/>
                    </a:spcBef>
                  </a:pPr>
                  <a:r>
                    <a:rPr lang="en-US" altLang="zh-CN" sz="1200" b="1" i="1" dirty="0">
                      <a:solidFill>
                        <a:schemeClr val="bg2"/>
                      </a:solidFill>
                      <a:latin typeface="Times New Roman" panose="02020603050405020304" pitchFamily="18" charset="0"/>
                      <a:ea typeface="宋体" panose="02010600030101010101" pitchFamily="2" charset="-122"/>
                    </a:rPr>
                    <a:t>Q</a:t>
                  </a:r>
                </a:p>
              </p:txBody>
            </p:sp>
            <p:sp>
              <p:nvSpPr>
                <p:cNvPr id="10259" name="Oval 10"/>
                <p:cNvSpPr/>
                <p:nvPr/>
              </p:nvSpPr>
              <p:spPr>
                <a:xfrm>
                  <a:off x="3408" y="3204"/>
                  <a:ext cx="96" cy="96"/>
                </a:xfrm>
                <a:prstGeom prst="ellipse">
                  <a:avLst/>
                </a:prstGeom>
                <a:solidFill>
                  <a:schemeClr val="tx1"/>
                </a:solidFill>
                <a:ln w="38100" cap="flat" cmpd="sng">
                  <a:no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grpSp>
          <p:sp>
            <p:nvSpPr>
              <p:cNvPr id="10251" name="Text Box 13"/>
              <p:cNvSpPr txBox="1"/>
              <p:nvPr/>
            </p:nvSpPr>
            <p:spPr>
              <a:xfrm>
                <a:off x="3360" y="3120"/>
                <a:ext cx="192" cy="225"/>
              </a:xfrm>
              <a:prstGeom prst="rect">
                <a:avLst/>
              </a:prstGeom>
              <a:solidFill>
                <a:schemeClr val="bg1"/>
              </a:solidFill>
              <a:ln w="38100">
                <a:noFill/>
              </a:ln>
            </p:spPr>
            <p:txBody>
              <a:bodyPr>
                <a:spAutoFit/>
              </a:bodyPr>
              <a:lstStyle/>
              <a:p>
                <a:pPr lvl="0" eaLnBrk="1" hangingPunct="1">
                  <a:spcBef>
                    <a:spcPct val="50000"/>
                  </a:spcBef>
                </a:pPr>
                <a:r>
                  <a:rPr lang="en-US" altLang="zh-CN" sz="1600" dirty="0">
                    <a:solidFill>
                      <a:schemeClr val="bg2"/>
                    </a:solidFill>
                    <a:latin typeface="Times New Roman" panose="02020603050405020304" pitchFamily="18" charset="0"/>
                    <a:ea typeface="宋体" panose="02010600030101010101" pitchFamily="2" charset="-122"/>
                  </a:rPr>
                  <a:t>4</a:t>
                </a:r>
              </a:p>
            </p:txBody>
          </p:sp>
          <p:sp>
            <p:nvSpPr>
              <p:cNvPr id="10252" name="Text Box 14"/>
              <p:cNvSpPr txBox="1"/>
              <p:nvPr/>
            </p:nvSpPr>
            <p:spPr>
              <a:xfrm>
                <a:off x="3216" y="1968"/>
                <a:ext cx="192" cy="225"/>
              </a:xfrm>
              <a:prstGeom prst="rect">
                <a:avLst/>
              </a:prstGeom>
              <a:noFill/>
              <a:ln w="38100">
                <a:noFill/>
              </a:ln>
            </p:spPr>
            <p:txBody>
              <a:bodyPr>
                <a:spAutoFit/>
              </a:bodyPr>
              <a:lstStyle/>
              <a:p>
                <a:pPr lvl="0" eaLnBrk="1" hangingPunct="1">
                  <a:spcBef>
                    <a:spcPct val="50000"/>
                  </a:spcBef>
                </a:pPr>
                <a:r>
                  <a:rPr lang="en-US" altLang="zh-CN" sz="1600" dirty="0">
                    <a:solidFill>
                      <a:schemeClr val="bg2"/>
                    </a:solidFill>
                    <a:latin typeface="Times New Roman" panose="02020603050405020304" pitchFamily="18" charset="0"/>
                    <a:ea typeface="宋体" panose="02010600030101010101" pitchFamily="2" charset="-122"/>
                  </a:rPr>
                  <a:t>3</a:t>
                </a:r>
              </a:p>
            </p:txBody>
          </p:sp>
          <p:sp>
            <p:nvSpPr>
              <p:cNvPr id="10253" name="Text Box 15"/>
              <p:cNvSpPr txBox="1"/>
              <p:nvPr/>
            </p:nvSpPr>
            <p:spPr>
              <a:xfrm>
                <a:off x="3360" y="1140"/>
                <a:ext cx="192" cy="225"/>
              </a:xfrm>
              <a:prstGeom prst="rect">
                <a:avLst/>
              </a:prstGeom>
              <a:noFill/>
              <a:ln w="38100">
                <a:noFill/>
              </a:ln>
            </p:spPr>
            <p:txBody>
              <a:bodyPr>
                <a:spAutoFit/>
              </a:bodyPr>
              <a:lstStyle/>
              <a:p>
                <a:pPr lvl="0" eaLnBrk="1" hangingPunct="1">
                  <a:spcBef>
                    <a:spcPct val="50000"/>
                  </a:spcBef>
                </a:pPr>
                <a:r>
                  <a:rPr lang="en-US" altLang="zh-CN" sz="1600" dirty="0">
                    <a:solidFill>
                      <a:schemeClr val="bg2"/>
                    </a:solidFill>
                    <a:latin typeface="Times New Roman" panose="02020603050405020304" pitchFamily="18" charset="0"/>
                    <a:ea typeface="宋体" panose="02010600030101010101" pitchFamily="2" charset="-122"/>
                  </a:rPr>
                  <a:t>2</a:t>
                </a:r>
              </a:p>
            </p:txBody>
          </p:sp>
          <p:sp>
            <p:nvSpPr>
              <p:cNvPr id="10254" name="Text Box 16"/>
              <p:cNvSpPr txBox="1"/>
              <p:nvPr/>
            </p:nvSpPr>
            <p:spPr>
              <a:xfrm>
                <a:off x="3360" y="1008"/>
                <a:ext cx="192" cy="225"/>
              </a:xfrm>
              <a:prstGeom prst="rect">
                <a:avLst/>
              </a:prstGeom>
              <a:noFill/>
              <a:ln w="38100">
                <a:noFill/>
              </a:ln>
            </p:spPr>
            <p:txBody>
              <a:bodyPr>
                <a:spAutoFit/>
              </a:bodyPr>
              <a:lstStyle/>
              <a:p>
                <a:pPr lvl="0" eaLnBrk="1" hangingPunct="1">
                  <a:spcBef>
                    <a:spcPct val="50000"/>
                  </a:spcBef>
                </a:pPr>
                <a:r>
                  <a:rPr lang="en-US" altLang="zh-CN" sz="1600" dirty="0">
                    <a:solidFill>
                      <a:schemeClr val="bg2"/>
                    </a:solidFill>
                    <a:latin typeface="Times New Roman" panose="02020603050405020304" pitchFamily="18" charset="0"/>
                    <a:ea typeface="宋体" panose="02010600030101010101" pitchFamily="2" charset="-122"/>
                  </a:rPr>
                  <a:t>1</a:t>
                </a:r>
              </a:p>
            </p:txBody>
          </p:sp>
        </p:grpSp>
        <p:sp>
          <p:nvSpPr>
            <p:cNvPr id="10249" name="Rectangle 18"/>
            <p:cNvSpPr/>
            <p:nvPr/>
          </p:nvSpPr>
          <p:spPr>
            <a:xfrm>
              <a:off x="5484" y="3360"/>
              <a:ext cx="84" cy="180"/>
            </a:xfrm>
            <a:prstGeom prst="rect">
              <a:avLst/>
            </a:prstGeom>
            <a:solidFill>
              <a:schemeClr val="bg1"/>
            </a:solidFill>
            <a:ln w="38100" cap="flat" cmpd="sng">
              <a:noFill/>
              <a:prstDash val="solid"/>
              <a:miter/>
              <a:headEnd type="none" w="med" len="med"/>
              <a:tailEnd type="none" w="med" len="med"/>
            </a:ln>
          </p:spPr>
          <p:txBody>
            <a:bodyPr wrap="none" anchor="ctr"/>
            <a:lstStyle/>
            <a:p>
              <a:pPr lvl="0" algn="ctr" eaLnBrk="1" hangingPunct="1"/>
              <a:r>
                <a:rPr lang="en-US" altLang="zh-CN" sz="1400" b="1" dirty="0">
                  <a:solidFill>
                    <a:schemeClr val="bg2"/>
                  </a:solidFill>
                  <a:latin typeface="Times New Roman" panose="02020603050405020304" pitchFamily="18" charset="0"/>
                  <a:ea typeface="宋体" panose="02010600030101010101" pitchFamily="2" charset="-122"/>
                </a:rPr>
                <a:t>9</a:t>
              </a:r>
            </a:p>
          </p:txBody>
        </p:sp>
      </p:grpSp>
      <p:pic>
        <p:nvPicPr>
          <p:cNvPr id="20" name="内容占位符 1" descr="新校徽（3M）弓之乐"/>
          <p:cNvPicPr>
            <a:picLocks noChangeAspect="1"/>
          </p:cNvPicPr>
          <p:nvPr/>
        </p:nvPicPr>
        <p:blipFill>
          <a:blip r:embed="rId5"/>
          <a:stretch>
            <a:fillRect/>
          </a:stretch>
        </p:blipFill>
        <p:spPr>
          <a:xfrm>
            <a:off x="0" y="0"/>
            <a:ext cx="746760" cy="735965"/>
          </a:xfrm>
          <a:prstGeom prst="rect">
            <a:avLst/>
          </a:prstGeom>
          <a:noFill/>
          <a:ln w="9525">
            <a:noFill/>
          </a:ln>
        </p:spPr>
      </p:pic>
      <p:sp>
        <p:nvSpPr>
          <p:cNvPr id="5" name="Rectangle 2"/>
          <p:cNvSpPr>
            <a:spLocks noGrp="1" noChangeArrowheads="1"/>
          </p:cNvSpPr>
          <p:nvPr>
            <p:ph type="title"/>
          </p:nvPr>
        </p:nvSpPr>
        <p:spPr>
          <a:xfrm>
            <a:off x="1763688" y="293687"/>
            <a:ext cx="6599238" cy="936625"/>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㈡ </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共析钢的结晶过程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3843">
                                            <p:txEl>
                                              <p:pRg st="0" end="0"/>
                                            </p:txEl>
                                          </p:spTgt>
                                        </p:tgtEl>
                                        <p:attrNameLst>
                                          <p:attrName>style.visibility</p:attrName>
                                        </p:attrNameLst>
                                      </p:cBhvr>
                                      <p:to>
                                        <p:strVal val="visible"/>
                                      </p:to>
                                    </p:set>
                                    <p:animEffect transition="in" filter="wipe(left)">
                                      <p:cBhvr>
                                        <p:cTn id="7" dur="500"/>
                                        <p:tgtEl>
                                          <p:spTgt spid="163843">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3" grpId="0" build="p" advAuto="100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日期占位符 3"/>
          <p:cNvSpPr txBox="1">
            <a:spLocks noGrp="1"/>
          </p:cNvSpPr>
          <p:nvPr>
            <p:ph type="dt" sz="half" idx="10"/>
          </p:nvPr>
        </p:nvSpPr>
        <p:spPr>
          <a:xfrm>
            <a:off x="0" y="6510338"/>
            <a:ext cx="2233613"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20835" name="灯片编号占位符 5"/>
          <p:cNvSpPr txBox="1">
            <a:spLocks noGrp="1"/>
          </p:cNvSpPr>
          <p:nvPr>
            <p:ph type="sldNum" sz="quarter" idx="12"/>
          </p:nvPr>
        </p:nvSpPr>
        <p:spPr>
          <a:xfrm>
            <a:off x="8485505" y="6531610"/>
            <a:ext cx="650240" cy="306070"/>
          </a:xfrm>
        </p:spPr>
        <p:txBody>
          <a:bodyPr lIns="92075" tIns="46038" rIns="92075" bIns="46038" anchor="ctr"/>
          <a:lstStyle/>
          <a:p>
            <a:pPr algn="r" eaLnBrk="1" hangingPunct="1"/>
            <a:fld id="{9A0DB2DC-4C9A-4742-B13C-FB6460FD3503}" type="slidenum">
              <a:rPr lang="en-US" altLang="zh-CN" sz="1400" dirty="0"/>
              <a:t>128</a:t>
            </a:fld>
            <a:endParaRPr lang="en-US" altLang="zh-CN" sz="1400" dirty="0"/>
          </a:p>
        </p:txBody>
      </p:sp>
      <p:sp>
        <p:nvSpPr>
          <p:cNvPr id="257026" name="Rectangle 2"/>
          <p:cNvSpPr>
            <a:spLocks noGrp="1" noChangeArrowheads="1"/>
          </p:cNvSpPr>
          <p:nvPr>
            <p:ph type="title"/>
          </p:nvPr>
        </p:nvSpPr>
        <p:spPr>
          <a:xfrm>
            <a:off x="713105" y="176157"/>
            <a:ext cx="7772400"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㈢ </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亚共析钢的结晶过程</a:t>
            </a:r>
          </a:p>
        </p:txBody>
      </p:sp>
      <p:sp>
        <p:nvSpPr>
          <p:cNvPr id="120837" name="Rectangle 3"/>
          <p:cNvSpPr>
            <a:spLocks noGrp="1"/>
          </p:cNvSpPr>
          <p:nvPr>
            <p:ph idx="1"/>
          </p:nvPr>
        </p:nvSpPr>
        <p:spPr>
          <a:xfrm>
            <a:off x="303530" y="1905635"/>
            <a:ext cx="5473700" cy="4473575"/>
          </a:xfrm>
        </p:spPr>
        <p:txBody>
          <a:bodyPr vert="horz" wrap="square" lIns="91440" tIns="45720" rIns="91440" bIns="45720" anchor="t"/>
          <a:lstStyle/>
          <a:p>
            <a:pPr eaLnBrk="1" hangingPunct="1">
              <a:lnSpc>
                <a:spcPct val="110000"/>
              </a:lnSpc>
            </a:pPr>
            <a:r>
              <a:rPr lang="en-US" altLang="zh-CN" sz="2400" b="1" dirty="0">
                <a:ea typeface="华文中宋" panose="02010600040101010101" pitchFamily="2" charset="-122"/>
              </a:rPr>
              <a:t>0.09~0.53%C</a:t>
            </a:r>
            <a:r>
              <a:rPr lang="zh-CN" altLang="en-US" sz="2400" b="1" dirty="0">
                <a:ea typeface="华文中宋" panose="02010600040101010101" pitchFamily="2" charset="-122"/>
              </a:rPr>
              <a:t>亚共析钢冷却时发生</a:t>
            </a:r>
            <a:r>
              <a:rPr lang="zh-CN" altLang="en-US" sz="2400" b="1" dirty="0">
                <a:solidFill>
                  <a:srgbClr val="0000FF"/>
                </a:solidFill>
                <a:ea typeface="华文中宋" panose="02010600040101010101" pitchFamily="2" charset="-122"/>
              </a:rPr>
              <a:t>包晶反应</a:t>
            </a:r>
            <a:r>
              <a:rPr lang="zh-CN" altLang="en-US" sz="2400" b="1" dirty="0">
                <a:ea typeface="华文中宋" panose="02010600040101010101" pitchFamily="2" charset="-122"/>
              </a:rPr>
              <a:t>。</a:t>
            </a:r>
          </a:p>
          <a:p>
            <a:pPr eaLnBrk="1" hangingPunct="1">
              <a:lnSpc>
                <a:spcPct val="110000"/>
              </a:lnSpc>
            </a:pPr>
            <a:r>
              <a:rPr lang="zh-CN" altLang="en-US" sz="2400" b="1" dirty="0">
                <a:ea typeface="华文中宋" panose="02010600040101010101" pitchFamily="2" charset="-122"/>
              </a:rPr>
              <a:t>以</a:t>
            </a:r>
            <a:r>
              <a:rPr lang="en-US" altLang="zh-CN" sz="2400" b="1" dirty="0">
                <a:ea typeface="华文中宋" panose="02010600040101010101" pitchFamily="2" charset="-122"/>
              </a:rPr>
              <a:t>0.45%C</a:t>
            </a:r>
            <a:r>
              <a:rPr lang="zh-CN" altLang="en-US" sz="2400" b="1" dirty="0">
                <a:ea typeface="华文中宋" panose="02010600040101010101" pitchFamily="2" charset="-122"/>
              </a:rPr>
              <a:t>的钢为例</a:t>
            </a:r>
          </a:p>
          <a:p>
            <a:pPr eaLnBrk="1" hangingPunct="1">
              <a:lnSpc>
                <a:spcPct val="110000"/>
              </a:lnSpc>
            </a:pPr>
            <a:r>
              <a:rPr lang="zh-CN" altLang="en-US" sz="2400" b="1" dirty="0">
                <a:ea typeface="华文中宋" panose="02010600040101010101" pitchFamily="2" charset="-122"/>
              </a:rPr>
              <a:t>合金在 </a:t>
            </a:r>
            <a:r>
              <a:rPr lang="en-US" altLang="zh-CN" sz="2400" b="1" dirty="0">
                <a:ea typeface="华文中宋" panose="02010600040101010101" pitchFamily="2" charset="-122"/>
              </a:rPr>
              <a:t>4 </a:t>
            </a:r>
            <a:r>
              <a:rPr lang="zh-CN" altLang="en-US" sz="2400" b="1" dirty="0">
                <a:ea typeface="华文中宋" panose="02010600040101010101" pitchFamily="2" charset="-122"/>
              </a:rPr>
              <a:t>点以前通过</a:t>
            </a:r>
            <a:r>
              <a:rPr lang="zh-CN" altLang="en-US" sz="2400" b="1" dirty="0">
                <a:solidFill>
                  <a:srgbClr val="0000FF"/>
                </a:solidFill>
                <a:ea typeface="华文中宋" panose="02010600040101010101" pitchFamily="2" charset="-122"/>
              </a:rPr>
              <a:t>匀晶→包晶→匀晶反应</a:t>
            </a:r>
            <a:r>
              <a:rPr lang="zh-CN" altLang="en-US" sz="2400" b="1" dirty="0">
                <a:ea typeface="华文中宋" panose="02010600040101010101" pitchFamily="2" charset="-122"/>
              </a:rPr>
              <a:t>全部转变为</a:t>
            </a:r>
            <a:r>
              <a:rPr lang="zh-CN" altLang="en-US" sz="2400" b="1" i="1" dirty="0">
                <a:solidFill>
                  <a:srgbClr val="0000FF"/>
                </a:solidFill>
                <a:ea typeface="华文中宋" panose="02010600040101010101" pitchFamily="2" charset="-122"/>
                <a:sym typeface="Symbol" panose="05050102010706020507" pitchFamily="18" charset="2"/>
              </a:rPr>
              <a:t></a:t>
            </a:r>
            <a:r>
              <a:rPr lang="zh-CN" altLang="en-US" sz="2400" b="1" dirty="0">
                <a:ea typeface="华文中宋" panose="02010600040101010101" pitchFamily="2" charset="-122"/>
              </a:rPr>
              <a:t>。到</a:t>
            </a:r>
            <a:r>
              <a:rPr lang="en-US" altLang="zh-CN" sz="2400" b="1" dirty="0">
                <a:ea typeface="华文中宋" panose="02010600040101010101" pitchFamily="2" charset="-122"/>
              </a:rPr>
              <a:t>4</a:t>
            </a:r>
            <a:r>
              <a:rPr lang="zh-CN" altLang="en-US" sz="2400" b="1" dirty="0">
                <a:ea typeface="华文中宋" panose="02010600040101010101" pitchFamily="2" charset="-122"/>
              </a:rPr>
              <a:t>点，由</a:t>
            </a:r>
            <a:r>
              <a:rPr lang="zh-CN" altLang="en-US" sz="2800" b="1" i="1" dirty="0">
                <a:sym typeface="Symbol" panose="05050102010706020507" pitchFamily="18" charset="2"/>
              </a:rPr>
              <a:t> </a:t>
            </a:r>
            <a:r>
              <a:rPr lang="zh-CN" altLang="en-US" sz="2800" b="1" dirty="0"/>
              <a:t>中析出</a:t>
            </a:r>
            <a:r>
              <a:rPr lang="zh-CN" altLang="en-US" sz="2800" b="1" i="1" dirty="0">
                <a:sym typeface="Symbol" panose="05050102010706020507" pitchFamily="18" charset="2"/>
              </a:rPr>
              <a:t></a:t>
            </a:r>
            <a:r>
              <a:rPr lang="zh-CN" altLang="en-US" sz="2800" b="1" dirty="0">
                <a:sym typeface="Symbol" panose="05050102010706020507" pitchFamily="18" charset="2"/>
              </a:rPr>
              <a:t> 。</a:t>
            </a:r>
            <a:r>
              <a:rPr lang="zh-CN" altLang="en-US" sz="2400" b="1" dirty="0">
                <a:sym typeface="Symbol" panose="05050102010706020507" pitchFamily="18" charset="2"/>
              </a:rPr>
              <a:t>到</a:t>
            </a:r>
            <a:r>
              <a:rPr lang="en-US" altLang="zh-CN" sz="2400" b="1" dirty="0"/>
              <a:t>5</a:t>
            </a:r>
            <a:r>
              <a:rPr lang="zh-CN" altLang="en-US" sz="2400" b="1" dirty="0"/>
              <a:t>点，</a:t>
            </a:r>
            <a:r>
              <a:rPr lang="zh-CN" altLang="en-US" sz="2400" b="1" i="1" dirty="0">
                <a:sym typeface="Symbol" panose="05050102010706020507" pitchFamily="18" charset="2"/>
              </a:rPr>
              <a:t> </a:t>
            </a:r>
            <a:r>
              <a:rPr lang="zh-CN" altLang="en-US" sz="2400" b="1" dirty="0"/>
              <a:t>成分沿</a:t>
            </a:r>
            <a:r>
              <a:rPr lang="en-US" altLang="zh-CN" sz="2400" b="1" dirty="0"/>
              <a:t>GS</a:t>
            </a:r>
            <a:r>
              <a:rPr lang="zh-CN" altLang="en-US" sz="2400" b="1" dirty="0"/>
              <a:t>线变到</a:t>
            </a:r>
            <a:r>
              <a:rPr lang="en-US" altLang="zh-CN" sz="2400" b="1" dirty="0"/>
              <a:t>S</a:t>
            </a:r>
            <a:r>
              <a:rPr lang="zh-CN" altLang="en-US" sz="2400" b="1" dirty="0"/>
              <a:t>点，</a:t>
            </a:r>
            <a:r>
              <a:rPr lang="zh-CN" altLang="en-US" sz="2400" b="1" i="1" dirty="0">
                <a:sym typeface="Symbol" panose="05050102010706020507" pitchFamily="18" charset="2"/>
              </a:rPr>
              <a:t></a:t>
            </a:r>
            <a:r>
              <a:rPr lang="zh-CN" altLang="en-US" sz="2400" b="1" dirty="0">
                <a:sym typeface="Symbol" panose="05050102010706020507" pitchFamily="18" charset="2"/>
              </a:rPr>
              <a:t> </a:t>
            </a:r>
            <a:r>
              <a:rPr lang="zh-CN" altLang="en-US" sz="2400" b="1" dirty="0"/>
              <a:t>发生共析反应转变为珠光体。温度继续下降，</a:t>
            </a:r>
            <a:r>
              <a:rPr lang="zh-CN" altLang="en-US" sz="2400" b="1" i="1" dirty="0">
                <a:sym typeface="Symbol" panose="05050102010706020507" pitchFamily="18" charset="2"/>
              </a:rPr>
              <a:t></a:t>
            </a:r>
            <a:r>
              <a:rPr lang="zh-CN" altLang="en-US" sz="2400" b="1" dirty="0">
                <a:sym typeface="Symbol" panose="05050102010706020507" pitchFamily="18" charset="2"/>
              </a:rPr>
              <a:t> </a:t>
            </a:r>
            <a:r>
              <a:rPr lang="zh-CN" altLang="en-US" sz="2400" b="1" dirty="0"/>
              <a:t>中析出</a:t>
            </a:r>
            <a:r>
              <a:rPr lang="en-US" altLang="zh-CN" sz="2400" b="1" dirty="0">
                <a:solidFill>
                  <a:srgbClr val="0000FF"/>
                </a:solidFill>
              </a:rPr>
              <a:t>Fe</a:t>
            </a:r>
            <a:r>
              <a:rPr lang="en-US" altLang="zh-CN" sz="2400" b="1" baseline="-25000" dirty="0">
                <a:solidFill>
                  <a:srgbClr val="0000FF"/>
                </a:solidFill>
              </a:rPr>
              <a:t>3</a:t>
            </a:r>
            <a:r>
              <a:rPr lang="en-US" altLang="zh-CN" sz="2400" b="1" dirty="0">
                <a:solidFill>
                  <a:srgbClr val="0000FF"/>
                </a:solidFill>
              </a:rPr>
              <a:t>C</a:t>
            </a:r>
            <a:r>
              <a:rPr lang="en-US" altLang="zh-CN" sz="2400" b="1" baseline="-25000" dirty="0">
                <a:solidFill>
                  <a:srgbClr val="0000FF"/>
                </a:solidFill>
              </a:rPr>
              <a:t>Ⅲ</a:t>
            </a:r>
            <a:r>
              <a:rPr lang="zh-CN" altLang="en-US" sz="2400" b="1" dirty="0"/>
              <a:t>，由于与共析</a:t>
            </a:r>
            <a:r>
              <a:rPr lang="en-US" altLang="zh-CN" sz="2400" b="1" dirty="0"/>
              <a:t>Fe</a:t>
            </a:r>
            <a:r>
              <a:rPr lang="en-US" altLang="zh-CN" sz="2400" b="1" baseline="-25000" dirty="0"/>
              <a:t>3</a:t>
            </a:r>
            <a:r>
              <a:rPr lang="en-US" altLang="zh-CN" sz="2400" b="1" dirty="0"/>
              <a:t>C</a:t>
            </a:r>
            <a:r>
              <a:rPr lang="zh-CN" altLang="en-US" sz="2400" b="1" dirty="0"/>
              <a:t>结合</a:t>
            </a:r>
            <a:r>
              <a:rPr lang="en-US" altLang="zh-CN" sz="2400" b="1" dirty="0"/>
              <a:t>,  </a:t>
            </a:r>
            <a:r>
              <a:rPr lang="zh-CN" altLang="en-US" sz="2400" b="1" dirty="0"/>
              <a:t>且量少</a:t>
            </a:r>
            <a:r>
              <a:rPr lang="en-US" altLang="zh-CN" sz="2400" b="1" dirty="0"/>
              <a:t>,  </a:t>
            </a:r>
            <a:r>
              <a:rPr lang="zh-CN" altLang="en-US" sz="2400" b="1" dirty="0"/>
              <a:t>忽略不计。</a:t>
            </a:r>
          </a:p>
        </p:txBody>
      </p:sp>
      <p:grpSp>
        <p:nvGrpSpPr>
          <p:cNvPr id="2" name="Group 4"/>
          <p:cNvGrpSpPr/>
          <p:nvPr/>
        </p:nvGrpSpPr>
        <p:grpSpPr>
          <a:xfrm>
            <a:off x="5940153" y="2636912"/>
            <a:ext cx="2952328" cy="3322960"/>
            <a:chOff x="2907" y="393"/>
            <a:chExt cx="2523" cy="2444"/>
          </a:xfrm>
        </p:grpSpPr>
        <p:grpSp>
          <p:nvGrpSpPr>
            <p:cNvPr id="120840" name="Group 5"/>
            <p:cNvGrpSpPr/>
            <p:nvPr/>
          </p:nvGrpSpPr>
          <p:grpSpPr>
            <a:xfrm>
              <a:off x="2913" y="407"/>
              <a:ext cx="2511" cy="2425"/>
              <a:chOff x="672" y="2215"/>
              <a:chExt cx="1895" cy="2045"/>
            </a:xfrm>
          </p:grpSpPr>
          <p:grpSp>
            <p:nvGrpSpPr>
              <p:cNvPr id="120849" name="Group 6"/>
              <p:cNvGrpSpPr/>
              <p:nvPr/>
            </p:nvGrpSpPr>
            <p:grpSpPr>
              <a:xfrm>
                <a:off x="672" y="2215"/>
                <a:ext cx="1895" cy="2045"/>
                <a:chOff x="672" y="2275"/>
                <a:chExt cx="1895" cy="2045"/>
              </a:xfrm>
            </p:grpSpPr>
            <p:pic>
              <p:nvPicPr>
                <p:cNvPr id="120851" name="Picture 7" descr="Fe-C亚共析结晶过程3"/>
                <p:cNvPicPr>
                  <a:picLocks noChangeAspect="1"/>
                </p:cNvPicPr>
                <p:nvPr/>
              </p:nvPicPr>
              <p:blipFill>
                <a:blip r:embed="rId2"/>
                <a:stretch>
                  <a:fillRect/>
                </a:stretch>
              </p:blipFill>
              <p:spPr>
                <a:xfrm>
                  <a:off x="672" y="2275"/>
                  <a:ext cx="1895" cy="2045"/>
                </a:xfrm>
                <a:prstGeom prst="rect">
                  <a:avLst/>
                </a:prstGeom>
                <a:noFill/>
                <a:ln w="28575">
                  <a:noFill/>
                </a:ln>
              </p:spPr>
            </p:pic>
            <p:sp>
              <p:nvSpPr>
                <p:cNvPr id="120852" name="Text Box 8"/>
                <p:cNvSpPr txBox="1"/>
                <p:nvPr/>
              </p:nvSpPr>
              <p:spPr>
                <a:xfrm>
                  <a:off x="960" y="3792"/>
                  <a:ext cx="384" cy="137"/>
                </a:xfrm>
                <a:prstGeom prst="rect">
                  <a:avLst/>
                </a:prstGeom>
                <a:noFill/>
                <a:ln w="28575">
                  <a:noFill/>
                </a:ln>
              </p:spPr>
              <p:txBody>
                <a:bodyPr>
                  <a:spAutoFit/>
                </a:bodyPr>
                <a:lstStyle/>
                <a:p>
                  <a:pPr lvl="0" eaLnBrk="1" hangingPunct="1">
                    <a:spcBef>
                      <a:spcPct val="50000"/>
                    </a:spcBef>
                  </a:pPr>
                  <a:r>
                    <a:rPr lang="en-US" altLang="zh-CN" sz="1000" b="1" dirty="0">
                      <a:solidFill>
                        <a:schemeClr val="bg2"/>
                      </a:solidFill>
                      <a:latin typeface="Times New Roman" panose="02020603050405020304" pitchFamily="18" charset="0"/>
                      <a:ea typeface="楷体_GB2312" pitchFamily="49" charset="-122"/>
                      <a:sym typeface="Symbol" panose="05050102010706020507" pitchFamily="18" charset="2"/>
                    </a:rPr>
                    <a:t></a:t>
                  </a:r>
                  <a:r>
                    <a:rPr lang="en-US" altLang="zh-CN" sz="1000" b="1" dirty="0">
                      <a:solidFill>
                        <a:schemeClr val="bg2"/>
                      </a:solidFill>
                      <a:latin typeface="Times New Roman" panose="02020603050405020304" pitchFamily="18" charset="0"/>
                      <a:ea typeface="楷体_GB2312" pitchFamily="49" charset="-122"/>
                    </a:rPr>
                    <a:t>+Fe</a:t>
                  </a:r>
                  <a:r>
                    <a:rPr lang="en-US" altLang="zh-CN" sz="1000" b="1" baseline="-30000" dirty="0">
                      <a:solidFill>
                        <a:schemeClr val="bg2"/>
                      </a:solidFill>
                      <a:latin typeface="Times New Roman" panose="02020603050405020304" pitchFamily="18" charset="0"/>
                      <a:ea typeface="楷体_GB2312" pitchFamily="49" charset="-122"/>
                    </a:rPr>
                    <a:t>3</a:t>
                  </a:r>
                  <a:r>
                    <a:rPr lang="en-US" altLang="zh-CN" sz="1000" b="1" dirty="0">
                      <a:solidFill>
                        <a:schemeClr val="bg2"/>
                      </a:solidFill>
                      <a:latin typeface="Times New Roman" panose="02020603050405020304" pitchFamily="18" charset="0"/>
                      <a:ea typeface="楷体_GB2312" pitchFamily="49" charset="-122"/>
                    </a:rPr>
                    <a:t>C</a:t>
                  </a:r>
                </a:p>
              </p:txBody>
            </p:sp>
          </p:grpSp>
          <p:sp>
            <p:nvSpPr>
              <p:cNvPr id="120850" name="Text Box 9"/>
              <p:cNvSpPr txBox="1"/>
              <p:nvPr/>
            </p:nvSpPr>
            <p:spPr>
              <a:xfrm>
                <a:off x="996" y="2293"/>
                <a:ext cx="336" cy="137"/>
              </a:xfrm>
              <a:prstGeom prst="rect">
                <a:avLst/>
              </a:prstGeom>
              <a:noFill/>
              <a:ln w="28575">
                <a:noFill/>
              </a:ln>
            </p:spPr>
            <p:txBody>
              <a:bodyPr>
                <a:spAutoFit/>
              </a:bodyPr>
              <a:lstStyle/>
              <a:p>
                <a:pPr lvl="0" eaLnBrk="1" hangingPunct="1">
                  <a:spcBef>
                    <a:spcPct val="50000"/>
                  </a:spcBef>
                </a:pPr>
                <a:r>
                  <a:rPr lang="en-US" altLang="zh-CN" sz="1000" dirty="0">
                    <a:solidFill>
                      <a:schemeClr val="bg2"/>
                    </a:solidFill>
                    <a:latin typeface="Times New Roman" panose="02020603050405020304" pitchFamily="18" charset="0"/>
                    <a:ea typeface="宋体" panose="02010600030101010101" pitchFamily="2" charset="-122"/>
                  </a:rPr>
                  <a:t>Ⅲ</a:t>
                </a:r>
              </a:p>
            </p:txBody>
          </p:sp>
        </p:grpSp>
        <p:sp>
          <p:nvSpPr>
            <p:cNvPr id="120841" name="Rectangle 10"/>
            <p:cNvSpPr/>
            <p:nvPr/>
          </p:nvSpPr>
          <p:spPr>
            <a:xfrm>
              <a:off x="2907" y="393"/>
              <a:ext cx="2523" cy="2444"/>
            </a:xfrm>
            <a:prstGeom prst="rect">
              <a:avLst/>
            </a:prstGeom>
            <a:noFill/>
            <a:ln w="28575" cap="flat" cmpd="sng">
              <a:solidFill>
                <a:srgbClr val="FF9900"/>
              </a:solidFill>
              <a:prstDash val="solid"/>
              <a:miter/>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20842" name="Text Box 11"/>
            <p:cNvSpPr txBox="1"/>
            <p:nvPr/>
          </p:nvSpPr>
          <p:spPr>
            <a:xfrm>
              <a:off x="3000" y="1656"/>
              <a:ext cx="192" cy="182"/>
            </a:xfrm>
            <a:prstGeom prst="rect">
              <a:avLst/>
            </a:prstGeom>
            <a:noFill/>
            <a:ln w="28575">
              <a:noFill/>
            </a:ln>
          </p:spPr>
          <p:txBody>
            <a:bodyPr>
              <a:spAutoFit/>
            </a:bodyPr>
            <a:lstStyle/>
            <a:p>
              <a:pPr lvl="0" eaLnBrk="1" hangingPunct="1">
                <a:spcBef>
                  <a:spcPct val="50000"/>
                </a:spcBef>
              </a:pPr>
              <a:r>
                <a:rPr lang="en-US" altLang="zh-CN" sz="1200" b="1" dirty="0">
                  <a:solidFill>
                    <a:schemeClr val="bg2"/>
                  </a:solidFill>
                  <a:latin typeface="Times New Roman" panose="02020603050405020304" pitchFamily="18" charset="0"/>
                  <a:ea typeface="宋体" panose="02010600030101010101" pitchFamily="2" charset="-122"/>
                </a:rPr>
                <a:t>G</a:t>
              </a:r>
            </a:p>
          </p:txBody>
        </p:sp>
        <p:sp>
          <p:nvSpPr>
            <p:cNvPr id="120843" name="Text Box 12"/>
            <p:cNvSpPr txBox="1"/>
            <p:nvPr/>
          </p:nvSpPr>
          <p:spPr>
            <a:xfrm>
              <a:off x="3697" y="1860"/>
              <a:ext cx="191" cy="183"/>
            </a:xfrm>
            <a:prstGeom prst="rect">
              <a:avLst/>
            </a:prstGeom>
            <a:noFill/>
            <a:ln w="28575">
              <a:noFill/>
            </a:ln>
          </p:spPr>
          <p:txBody>
            <a:bodyPr>
              <a:spAutoFit/>
            </a:bodyPr>
            <a:lstStyle/>
            <a:p>
              <a:pPr lvl="0" eaLnBrk="1" hangingPunct="1">
                <a:spcBef>
                  <a:spcPct val="50000"/>
                </a:spcBef>
              </a:pPr>
              <a:r>
                <a:rPr lang="en-US" altLang="zh-CN" sz="1200" b="1" dirty="0">
                  <a:solidFill>
                    <a:schemeClr val="bg2"/>
                  </a:solidFill>
                  <a:latin typeface="Times New Roman" panose="02020603050405020304" pitchFamily="18" charset="0"/>
                  <a:ea typeface="宋体" panose="02010600030101010101" pitchFamily="2" charset="-122"/>
                </a:rPr>
                <a:t>S</a:t>
              </a:r>
            </a:p>
          </p:txBody>
        </p:sp>
        <p:sp>
          <p:nvSpPr>
            <p:cNvPr id="120844" name="Text Box 13"/>
            <p:cNvSpPr txBox="1"/>
            <p:nvPr/>
          </p:nvSpPr>
          <p:spPr>
            <a:xfrm>
              <a:off x="3144" y="2028"/>
              <a:ext cx="192" cy="182"/>
            </a:xfrm>
            <a:prstGeom prst="rect">
              <a:avLst/>
            </a:prstGeom>
            <a:noFill/>
            <a:ln w="28575">
              <a:noFill/>
            </a:ln>
          </p:spPr>
          <p:txBody>
            <a:bodyPr>
              <a:spAutoFit/>
            </a:bodyPr>
            <a:lstStyle/>
            <a:p>
              <a:pPr lvl="0" eaLnBrk="1" hangingPunct="1">
                <a:spcBef>
                  <a:spcPct val="50000"/>
                </a:spcBef>
              </a:pPr>
              <a:r>
                <a:rPr lang="en-US" altLang="zh-CN" sz="1200" b="1" dirty="0">
                  <a:solidFill>
                    <a:schemeClr val="bg2"/>
                  </a:solidFill>
                  <a:latin typeface="Times New Roman" panose="02020603050405020304" pitchFamily="18" charset="0"/>
                  <a:ea typeface="宋体" panose="02010600030101010101" pitchFamily="2" charset="-122"/>
                </a:rPr>
                <a:t>P</a:t>
              </a:r>
            </a:p>
          </p:txBody>
        </p:sp>
        <p:sp>
          <p:nvSpPr>
            <p:cNvPr id="120845" name="Text Box 14"/>
            <p:cNvSpPr txBox="1"/>
            <p:nvPr/>
          </p:nvSpPr>
          <p:spPr>
            <a:xfrm>
              <a:off x="2988" y="624"/>
              <a:ext cx="192" cy="182"/>
            </a:xfrm>
            <a:prstGeom prst="rect">
              <a:avLst/>
            </a:prstGeom>
            <a:noFill/>
            <a:ln w="28575">
              <a:noFill/>
            </a:ln>
          </p:spPr>
          <p:txBody>
            <a:bodyPr>
              <a:spAutoFit/>
            </a:bodyPr>
            <a:lstStyle/>
            <a:p>
              <a:pPr lvl="0" eaLnBrk="1" hangingPunct="1">
                <a:spcBef>
                  <a:spcPct val="50000"/>
                </a:spcBef>
              </a:pPr>
              <a:r>
                <a:rPr lang="en-US" altLang="zh-CN" sz="1200" b="1" dirty="0">
                  <a:solidFill>
                    <a:schemeClr val="bg2"/>
                  </a:solidFill>
                  <a:latin typeface="Times New Roman" panose="02020603050405020304" pitchFamily="18" charset="0"/>
                  <a:ea typeface="宋体" panose="02010600030101010101" pitchFamily="2" charset="-122"/>
                </a:rPr>
                <a:t>A</a:t>
              </a:r>
            </a:p>
          </p:txBody>
        </p:sp>
        <p:sp>
          <p:nvSpPr>
            <p:cNvPr id="120846" name="Text Box 15"/>
            <p:cNvSpPr txBox="1"/>
            <p:nvPr/>
          </p:nvSpPr>
          <p:spPr>
            <a:xfrm>
              <a:off x="3552" y="696"/>
              <a:ext cx="192" cy="183"/>
            </a:xfrm>
            <a:prstGeom prst="rect">
              <a:avLst/>
            </a:prstGeom>
            <a:noFill/>
            <a:ln w="28575">
              <a:noFill/>
            </a:ln>
          </p:spPr>
          <p:txBody>
            <a:bodyPr>
              <a:spAutoFit/>
            </a:bodyPr>
            <a:lstStyle/>
            <a:p>
              <a:pPr lvl="0" eaLnBrk="1" hangingPunct="1">
                <a:spcBef>
                  <a:spcPct val="50000"/>
                </a:spcBef>
              </a:pPr>
              <a:r>
                <a:rPr lang="en-US" altLang="zh-CN" sz="1200" b="1" dirty="0">
                  <a:solidFill>
                    <a:schemeClr val="bg2"/>
                  </a:solidFill>
                  <a:latin typeface="Times New Roman" panose="02020603050405020304" pitchFamily="18" charset="0"/>
                  <a:ea typeface="宋体" panose="02010600030101010101" pitchFamily="2" charset="-122"/>
                </a:rPr>
                <a:t>B</a:t>
              </a:r>
            </a:p>
          </p:txBody>
        </p:sp>
        <p:sp>
          <p:nvSpPr>
            <p:cNvPr id="120847" name="Text Box 16"/>
            <p:cNvSpPr txBox="1"/>
            <p:nvPr/>
          </p:nvSpPr>
          <p:spPr>
            <a:xfrm>
              <a:off x="3263" y="816"/>
              <a:ext cx="193" cy="183"/>
            </a:xfrm>
            <a:prstGeom prst="rect">
              <a:avLst/>
            </a:prstGeom>
            <a:noFill/>
            <a:ln w="28575">
              <a:noFill/>
            </a:ln>
          </p:spPr>
          <p:txBody>
            <a:bodyPr>
              <a:spAutoFit/>
            </a:bodyPr>
            <a:lstStyle/>
            <a:p>
              <a:pPr lvl="0" eaLnBrk="1" hangingPunct="1">
                <a:spcBef>
                  <a:spcPct val="50000"/>
                </a:spcBef>
              </a:pPr>
              <a:r>
                <a:rPr lang="en-US" altLang="zh-CN" sz="1200" b="1" dirty="0">
                  <a:solidFill>
                    <a:schemeClr val="bg2"/>
                  </a:solidFill>
                  <a:latin typeface="Times New Roman" panose="02020603050405020304" pitchFamily="18" charset="0"/>
                  <a:ea typeface="宋体" panose="02010600030101010101" pitchFamily="2" charset="-122"/>
                </a:rPr>
                <a:t>J</a:t>
              </a:r>
            </a:p>
          </p:txBody>
        </p:sp>
        <p:sp>
          <p:nvSpPr>
            <p:cNvPr id="120848" name="Text Box 17"/>
            <p:cNvSpPr txBox="1"/>
            <p:nvPr/>
          </p:nvSpPr>
          <p:spPr>
            <a:xfrm>
              <a:off x="3180" y="696"/>
              <a:ext cx="192" cy="183"/>
            </a:xfrm>
            <a:prstGeom prst="rect">
              <a:avLst/>
            </a:prstGeom>
            <a:noFill/>
            <a:ln w="28575">
              <a:noFill/>
            </a:ln>
          </p:spPr>
          <p:txBody>
            <a:bodyPr>
              <a:spAutoFit/>
            </a:bodyPr>
            <a:lstStyle/>
            <a:p>
              <a:pPr lvl="0" eaLnBrk="1" hangingPunct="1">
                <a:spcBef>
                  <a:spcPct val="50000"/>
                </a:spcBef>
              </a:pPr>
              <a:r>
                <a:rPr lang="en-US" altLang="zh-CN" sz="1200" b="1" dirty="0">
                  <a:solidFill>
                    <a:schemeClr val="bg2"/>
                  </a:solidFill>
                  <a:latin typeface="Times New Roman" panose="02020603050405020304" pitchFamily="18" charset="0"/>
                  <a:ea typeface="宋体" panose="02010600030101010101" pitchFamily="2" charset="-122"/>
                </a:rPr>
                <a:t>H</a:t>
              </a:r>
            </a:p>
          </p:txBody>
        </p:sp>
      </p:grpSp>
      <p:pic>
        <p:nvPicPr>
          <p:cNvPr id="21" name="内容占位符 1" descr="新校徽（3M）弓之乐"/>
          <p:cNvPicPr>
            <a:picLocks noChangeAspect="1"/>
          </p:cNvPicPr>
          <p:nvPr/>
        </p:nvPicPr>
        <p:blipFill>
          <a:blip r:embed="rId3"/>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日期占位符 3"/>
          <p:cNvSpPr txBox="1">
            <a:spLocks noGrp="1"/>
          </p:cNvSpPr>
          <p:nvPr>
            <p:ph type="dt" sz="half" idx="10"/>
          </p:nvPr>
        </p:nvSpPr>
        <p:spPr>
          <a:xfrm>
            <a:off x="0" y="6510338"/>
            <a:ext cx="2233613"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1269" name="灯片编号占位符 5"/>
          <p:cNvSpPr txBox="1">
            <a:spLocks noGrp="1"/>
          </p:cNvSpPr>
          <p:nvPr>
            <p:ph type="sldNum" sz="quarter" idx="12"/>
          </p:nvPr>
        </p:nvSpPr>
        <p:spPr>
          <a:xfrm>
            <a:off x="8536940" y="6595745"/>
            <a:ext cx="607060" cy="262255"/>
          </a:xfrm>
        </p:spPr>
        <p:txBody>
          <a:bodyPr lIns="92075" tIns="46038" rIns="92075" bIns="46038" anchor="ctr"/>
          <a:lstStyle/>
          <a:p>
            <a:pPr algn="r" eaLnBrk="1" hangingPunct="1"/>
            <a:fld id="{9A0DB2DC-4C9A-4742-B13C-FB6460FD3503}" type="slidenum">
              <a:rPr lang="en-US" altLang="zh-CN" sz="1400" dirty="0"/>
              <a:t>129</a:t>
            </a:fld>
            <a:endParaRPr lang="en-US" altLang="zh-CN" sz="1400" dirty="0"/>
          </a:p>
        </p:txBody>
      </p:sp>
      <p:graphicFrame>
        <p:nvGraphicFramePr>
          <p:cNvPr id="125956" name="Object 4"/>
          <p:cNvGraphicFramePr/>
          <p:nvPr/>
        </p:nvGraphicFramePr>
        <p:xfrm>
          <a:off x="2552127" y="2286058"/>
          <a:ext cx="2879725" cy="1838325"/>
        </p:xfrm>
        <a:graphic>
          <a:graphicData uri="http://schemas.openxmlformats.org/presentationml/2006/ole">
            <mc:AlternateContent xmlns:mc="http://schemas.openxmlformats.org/markup-compatibility/2006">
              <mc:Choice xmlns:v="urn:schemas-microsoft-com:vml" Requires="v">
                <p:oleObj r:id="rId2" imgW="1269365" imgH="812165" progId="Equation.3">
                  <p:embed/>
                </p:oleObj>
              </mc:Choice>
              <mc:Fallback>
                <p:oleObj r:id="rId2" imgW="1269365" imgH="812165" progId="Equation.3">
                  <p:embed/>
                  <p:pic>
                    <p:nvPicPr>
                      <p:cNvPr id="0" name="Object 4"/>
                      <p:cNvPicPr/>
                      <p:nvPr/>
                    </p:nvPicPr>
                    <p:blipFill>
                      <a:blip r:embed="rId3">
                        <a:clrChange>
                          <a:clrFrom>
                            <a:srgbClr val="000000"/>
                          </a:clrFrom>
                          <a:clrTo>
                            <a:srgbClr val="FFFF00"/>
                          </a:clrTo>
                        </a:clrChange>
                      </a:blip>
                      <a:stretch>
                        <a:fillRect/>
                      </a:stretch>
                    </p:blipFill>
                    <p:spPr>
                      <a:xfrm>
                        <a:off x="2552127" y="2286058"/>
                        <a:ext cx="2879725" cy="1838325"/>
                      </a:xfrm>
                      <a:prstGeom prst="rect">
                        <a:avLst/>
                      </a:prstGeom>
                      <a:solidFill>
                        <a:schemeClr val="accent2"/>
                      </a:solidFill>
                      <a:ln w="38100">
                        <a:noFill/>
                        <a:miter/>
                      </a:ln>
                    </p:spPr>
                  </p:pic>
                </p:oleObj>
              </mc:Fallback>
            </mc:AlternateContent>
          </a:graphicData>
        </a:graphic>
      </p:graphicFrame>
      <p:graphicFrame>
        <p:nvGraphicFramePr>
          <p:cNvPr id="125958" name="Object 6"/>
          <p:cNvGraphicFramePr/>
          <p:nvPr/>
        </p:nvGraphicFramePr>
        <p:xfrm>
          <a:off x="2746595" y="4829078"/>
          <a:ext cx="2490788" cy="1836737"/>
        </p:xfrm>
        <a:graphic>
          <a:graphicData uri="http://schemas.openxmlformats.org/presentationml/2006/ole">
            <mc:AlternateContent xmlns:mc="http://schemas.openxmlformats.org/markup-compatibility/2006">
              <mc:Choice xmlns:v="urn:schemas-microsoft-com:vml" Requires="v">
                <p:oleObj r:id="rId4" imgW="1104265" imgH="812165" progId="Equation.3">
                  <p:embed/>
                </p:oleObj>
              </mc:Choice>
              <mc:Fallback>
                <p:oleObj r:id="rId4" imgW="1104265" imgH="812165" progId="Equation.3">
                  <p:embed/>
                  <p:pic>
                    <p:nvPicPr>
                      <p:cNvPr id="0" name="Object 6"/>
                      <p:cNvPicPr/>
                      <p:nvPr/>
                    </p:nvPicPr>
                    <p:blipFill>
                      <a:blip r:embed="rId5">
                        <a:clrChange>
                          <a:clrFrom>
                            <a:srgbClr val="000000"/>
                          </a:clrFrom>
                          <a:clrTo>
                            <a:srgbClr val="FFFF00"/>
                          </a:clrTo>
                        </a:clrChange>
                      </a:blip>
                      <a:stretch>
                        <a:fillRect/>
                      </a:stretch>
                    </p:blipFill>
                    <p:spPr>
                      <a:xfrm>
                        <a:off x="2746595" y="4829078"/>
                        <a:ext cx="2490788" cy="1836737"/>
                      </a:xfrm>
                      <a:prstGeom prst="rect">
                        <a:avLst/>
                      </a:prstGeom>
                      <a:solidFill>
                        <a:schemeClr val="accent5"/>
                      </a:solidFill>
                      <a:ln w="38100">
                        <a:noFill/>
                        <a:miter/>
                      </a:ln>
                    </p:spPr>
                  </p:pic>
                </p:oleObj>
              </mc:Fallback>
            </mc:AlternateContent>
          </a:graphicData>
        </a:graphic>
      </p:graphicFrame>
      <p:grpSp>
        <p:nvGrpSpPr>
          <p:cNvPr id="4" name="Group 20"/>
          <p:cNvGrpSpPr/>
          <p:nvPr/>
        </p:nvGrpSpPr>
        <p:grpSpPr>
          <a:xfrm>
            <a:off x="6363366" y="1916832"/>
            <a:ext cx="2490788" cy="4593506"/>
            <a:chOff x="3408" y="240"/>
            <a:chExt cx="2192" cy="3679"/>
          </a:xfrm>
        </p:grpSpPr>
        <p:pic>
          <p:nvPicPr>
            <p:cNvPr id="11274" name="Picture 9" descr="亚共析钢组织"/>
            <p:cNvPicPr preferRelativeResize="0">
              <a:picLocks noChangeAspect="1"/>
            </p:cNvPicPr>
            <p:nvPr/>
          </p:nvPicPr>
          <p:blipFill>
            <a:blip r:embed="rId6"/>
            <a:stretch>
              <a:fillRect/>
            </a:stretch>
          </p:blipFill>
          <p:spPr>
            <a:xfrm>
              <a:off x="3408" y="2283"/>
              <a:ext cx="2192" cy="1636"/>
            </a:xfrm>
            <a:prstGeom prst="rect">
              <a:avLst/>
            </a:prstGeom>
            <a:noFill/>
            <a:ln w="28575" cap="flat" cmpd="sng">
              <a:solidFill>
                <a:srgbClr val="FF9900"/>
              </a:solidFill>
              <a:prstDash val="solid"/>
              <a:miter/>
              <a:headEnd type="none" w="med" len="med"/>
              <a:tailEnd type="none" w="med" len="med"/>
            </a:ln>
          </p:spPr>
        </p:pic>
        <p:grpSp>
          <p:nvGrpSpPr>
            <p:cNvPr id="11275" name="Group 16"/>
            <p:cNvGrpSpPr>
              <a:grpSpLocks noChangeAspect="1"/>
            </p:cNvGrpSpPr>
            <p:nvPr/>
          </p:nvGrpSpPr>
          <p:grpSpPr>
            <a:xfrm>
              <a:off x="3408" y="240"/>
              <a:ext cx="2192" cy="1975"/>
              <a:chOff x="3456" y="192"/>
              <a:chExt cx="2124" cy="1913"/>
            </a:xfrm>
          </p:grpSpPr>
          <p:pic>
            <p:nvPicPr>
              <p:cNvPr id="11276" name="Picture 10" descr="Fe-C相图"/>
              <p:cNvPicPr preferRelativeResize="0">
                <a:picLocks noChangeAspect="1"/>
              </p:cNvPicPr>
              <p:nvPr/>
            </p:nvPicPr>
            <p:blipFill>
              <a:blip r:embed="rId7"/>
              <a:stretch>
                <a:fillRect/>
              </a:stretch>
            </p:blipFill>
            <p:spPr>
              <a:xfrm>
                <a:off x="3456" y="192"/>
                <a:ext cx="2124" cy="1913"/>
              </a:xfrm>
              <a:prstGeom prst="rect">
                <a:avLst/>
              </a:prstGeom>
              <a:noFill/>
              <a:ln w="28575" cap="flat" cmpd="sng">
                <a:solidFill>
                  <a:srgbClr val="FF00FF"/>
                </a:solidFill>
                <a:prstDash val="solid"/>
                <a:miter/>
                <a:headEnd type="none" w="med" len="med"/>
                <a:tailEnd type="none" w="med" len="med"/>
              </a:ln>
            </p:spPr>
          </p:pic>
          <p:sp>
            <p:nvSpPr>
              <p:cNvPr id="11277" name="Line 13"/>
              <p:cNvSpPr>
                <a:spLocks noChangeAspect="1"/>
              </p:cNvSpPr>
              <p:nvPr/>
            </p:nvSpPr>
            <p:spPr>
              <a:xfrm>
                <a:off x="4128" y="1452"/>
                <a:ext cx="0" cy="480"/>
              </a:xfrm>
              <a:prstGeom prst="line">
                <a:avLst/>
              </a:prstGeom>
              <a:ln w="28575" cap="flat" cmpd="sng">
                <a:solidFill>
                  <a:srgbClr val="333399"/>
                </a:solidFill>
                <a:prstDash val="dash"/>
                <a:headEnd type="none" w="med" len="med"/>
                <a:tailEnd type="none" w="med" len="med"/>
              </a:ln>
            </p:spPr>
          </p:sp>
          <p:sp>
            <p:nvSpPr>
              <p:cNvPr id="11278" name="Text Box 15"/>
              <p:cNvSpPr txBox="1">
                <a:spLocks noChangeAspect="1"/>
              </p:cNvSpPr>
              <p:nvPr/>
            </p:nvSpPr>
            <p:spPr>
              <a:xfrm>
                <a:off x="4104" y="1776"/>
                <a:ext cx="192" cy="168"/>
              </a:xfrm>
              <a:prstGeom prst="rect">
                <a:avLst/>
              </a:prstGeom>
              <a:noFill/>
              <a:ln w="28575">
                <a:noFill/>
              </a:ln>
            </p:spPr>
            <p:txBody>
              <a:bodyPr>
                <a:spAutoFit/>
              </a:bodyPr>
              <a:lstStyle/>
              <a:p>
                <a:pPr lvl="0" eaLnBrk="1" hangingPunct="1">
                  <a:spcBef>
                    <a:spcPct val="50000"/>
                  </a:spcBef>
                </a:pPr>
                <a:r>
                  <a:rPr lang="en-US" altLang="zh-CN" sz="1200" b="1" dirty="0">
                    <a:solidFill>
                      <a:schemeClr val="bg2"/>
                    </a:solidFill>
                    <a:latin typeface="Times New Roman" panose="02020603050405020304" pitchFamily="18" charset="0"/>
                    <a:ea typeface="宋体" panose="02010600030101010101" pitchFamily="2" charset="-122"/>
                  </a:rPr>
                  <a:t>S’</a:t>
                </a:r>
              </a:p>
            </p:txBody>
          </p:sp>
        </p:grpSp>
      </p:grpSp>
      <p:sp>
        <p:nvSpPr>
          <p:cNvPr id="125970" name="Rectangle 18"/>
          <p:cNvSpPr>
            <a:spLocks noGrp="1"/>
          </p:cNvSpPr>
          <p:nvPr>
            <p:ph idx="1"/>
          </p:nvPr>
        </p:nvSpPr>
        <p:spPr>
          <a:xfrm>
            <a:off x="511279" y="1687001"/>
            <a:ext cx="4838700" cy="735965"/>
          </a:xfrm>
        </p:spPr>
        <p:txBody>
          <a:bodyPr vert="horz" wrap="square" lIns="91440" tIns="45720" rIns="91440" bIns="45720" anchor="t"/>
          <a:lstStyle/>
          <a:p>
            <a:pPr eaLnBrk="1" hangingPunct="1">
              <a:lnSpc>
                <a:spcPct val="140000"/>
              </a:lnSpc>
            </a:pPr>
            <a:r>
              <a:rPr lang="zh-CN" altLang="en-US" sz="2800" b="1" dirty="0">
                <a:solidFill>
                  <a:schemeClr val="folHlink"/>
                </a:solidFill>
                <a:latin typeface="华文中宋" panose="02010600040101010101" pitchFamily="2" charset="-122"/>
                <a:ea typeface="华文中宋" panose="02010600040101010101" pitchFamily="2" charset="-122"/>
              </a:rPr>
              <a:t>共析温度下相的相对重量为：</a:t>
            </a:r>
          </a:p>
        </p:txBody>
      </p:sp>
      <p:sp>
        <p:nvSpPr>
          <p:cNvPr id="125971" name="Rectangle 19"/>
          <p:cNvSpPr/>
          <p:nvPr/>
        </p:nvSpPr>
        <p:spPr>
          <a:xfrm>
            <a:off x="823646" y="4111250"/>
            <a:ext cx="4571050" cy="1219200"/>
          </a:xfrm>
          <a:prstGeom prst="rect">
            <a:avLst/>
          </a:prstGeom>
          <a:noFill/>
          <a:ln w="9525">
            <a:noFill/>
          </a:ln>
        </p:spPr>
        <p:txBody>
          <a:bodyPr/>
          <a:lstStyle/>
          <a:p>
            <a:pPr marL="342900" lvl="0" indent="-342900" eaLnBrk="1" hangingPunct="1">
              <a:lnSpc>
                <a:spcPct val="140000"/>
              </a:lnSpc>
              <a:spcBef>
                <a:spcPct val="20000"/>
              </a:spcBef>
              <a:buClr>
                <a:schemeClr val="accent2"/>
              </a:buClr>
              <a:buSzPct val="80000"/>
              <a:buFont typeface="Wingdings" panose="05000000000000000000" pitchFamily="2" charset="2"/>
              <a:buChar char="l"/>
            </a:pPr>
            <a:r>
              <a:rPr lang="zh-CN" altLang="en-US" sz="2800" b="1" dirty="0">
                <a:solidFill>
                  <a:schemeClr val="folHlink"/>
                </a:solidFill>
                <a:latin typeface="Times New Roman" panose="02020603050405020304" pitchFamily="18" charset="0"/>
                <a:ea typeface="华文中宋" panose="02010600040101010101" pitchFamily="2" charset="-122"/>
              </a:rPr>
              <a:t>组织组成物的相对重量为：</a:t>
            </a:r>
            <a:r>
              <a:rPr lang="zh-CN" altLang="en-US" sz="2400" dirty="0">
                <a:solidFill>
                  <a:srgbClr val="00FF00"/>
                </a:solidFill>
                <a:latin typeface="Times New Roman" panose="02020603050405020304" pitchFamily="18" charset="0"/>
                <a:ea typeface="宋体" panose="02010600030101010101" pitchFamily="2" charset="-122"/>
              </a:rPr>
              <a:t> </a:t>
            </a:r>
          </a:p>
        </p:txBody>
      </p:sp>
      <p:pic>
        <p:nvPicPr>
          <p:cNvPr id="15" name="内容占位符 1" descr="新校徽（3M）弓之乐"/>
          <p:cNvPicPr>
            <a:picLocks noChangeAspect="1"/>
          </p:cNvPicPr>
          <p:nvPr/>
        </p:nvPicPr>
        <p:blipFill>
          <a:blip r:embed="rId8"/>
          <a:stretch>
            <a:fillRect/>
          </a:stretch>
        </p:blipFill>
        <p:spPr>
          <a:xfrm>
            <a:off x="0" y="0"/>
            <a:ext cx="746760" cy="735965"/>
          </a:xfrm>
          <a:prstGeom prst="rect">
            <a:avLst/>
          </a:prstGeom>
          <a:noFill/>
          <a:ln w="9525">
            <a:noFill/>
          </a:ln>
        </p:spPr>
      </p:pic>
      <p:sp>
        <p:nvSpPr>
          <p:cNvPr id="5" name="Rectangle 2"/>
          <p:cNvSpPr>
            <a:spLocks noGrp="1" noChangeArrowheads="1"/>
          </p:cNvSpPr>
          <p:nvPr>
            <p:ph type="title"/>
          </p:nvPr>
        </p:nvSpPr>
        <p:spPr>
          <a:xfrm>
            <a:off x="713105" y="176157"/>
            <a:ext cx="7772400"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㈢ </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亚共析钢的结晶过程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5970">
                                            <p:txEl>
                                              <p:pRg st="0" end="0"/>
                                            </p:txEl>
                                          </p:spTgt>
                                        </p:tgtEl>
                                        <p:attrNameLst>
                                          <p:attrName>style.visibility</p:attrName>
                                        </p:attrNameLst>
                                      </p:cBhvr>
                                      <p:to>
                                        <p:strVal val="visible"/>
                                      </p:to>
                                    </p:set>
                                    <p:animEffect transition="in" filter="wipe(left)">
                                      <p:cBhvr>
                                        <p:cTn id="7" dur="500"/>
                                        <p:tgtEl>
                                          <p:spTgt spid="125970">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25971"/>
                                        </p:tgtEl>
                                        <p:attrNameLst>
                                          <p:attrName>style.visibility</p:attrName>
                                        </p:attrNameLst>
                                      </p:cBhvr>
                                      <p:to>
                                        <p:strVal val="visible"/>
                                      </p:to>
                                    </p:set>
                                    <p:animEffect transition="in" filter="wipe(left)">
                                      <p:cBhvr>
                                        <p:cTn id="11" dur="500"/>
                                        <p:tgtEl>
                                          <p:spTgt spid="12597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25956"/>
                                        </p:tgtEl>
                                        <p:attrNameLst>
                                          <p:attrName>style.visibility</p:attrName>
                                        </p:attrNameLst>
                                      </p:cBhvr>
                                      <p:to>
                                        <p:strVal val="visible"/>
                                      </p:to>
                                    </p:set>
                                    <p:animEffect transition="in" filter="wipe(left)">
                                      <p:cBhvr>
                                        <p:cTn id="16" dur="500"/>
                                        <p:tgtEl>
                                          <p:spTgt spid="12595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25958"/>
                                        </p:tgtEl>
                                        <p:attrNameLst>
                                          <p:attrName>style.visibility</p:attrName>
                                        </p:attrNameLst>
                                      </p:cBhvr>
                                      <p:to>
                                        <p:strVal val="visible"/>
                                      </p:to>
                                    </p:set>
                                    <p:animEffect transition="in" filter="wipe(left)">
                                      <p:cBhvr>
                                        <p:cTn id="21" dur="500"/>
                                        <p:tgtEl>
                                          <p:spTgt spid="1259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70" grpId="0" build="p" advAuto="1000"/>
      <p:bldP spid="125971"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日期占位符 3"/>
          <p:cNvSpPr txBox="1">
            <a:spLocks noGrp="1"/>
          </p:cNvSpPr>
          <p:nvPr>
            <p:ph type="dt" sz="half" idx="10"/>
          </p:nvPr>
        </p:nvSpPr>
        <p:spPr>
          <a:xfrm>
            <a:off x="0" y="6400800"/>
            <a:ext cx="2305050" cy="457200"/>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2293" name="灯片编号占位符 5"/>
          <p:cNvSpPr txBox="1">
            <a:spLocks noGrp="1"/>
          </p:cNvSpPr>
          <p:nvPr>
            <p:ph type="sldNum" sz="quarter" idx="12"/>
          </p:nvPr>
        </p:nvSpPr>
        <p:spPr>
          <a:xfrm>
            <a:off x="8587105" y="6553200"/>
            <a:ext cx="584835" cy="304800"/>
          </a:xfrm>
        </p:spPr>
        <p:txBody>
          <a:bodyPr lIns="92075" tIns="46038" rIns="92075" bIns="46038" anchor="ctr"/>
          <a:lstStyle/>
          <a:p>
            <a:pPr algn="r" eaLnBrk="1" hangingPunct="1"/>
            <a:fld id="{9A0DB2DC-4C9A-4742-B13C-FB6460FD3503}" type="slidenum">
              <a:rPr lang="en-US" altLang="zh-CN" sz="1400" dirty="0"/>
              <a:t>130</a:t>
            </a:fld>
            <a:endParaRPr lang="en-US" altLang="zh-CN" sz="1400" dirty="0"/>
          </a:p>
        </p:txBody>
      </p:sp>
      <p:sp>
        <p:nvSpPr>
          <p:cNvPr id="171011" name="Rectangle 3"/>
          <p:cNvSpPr>
            <a:spLocks noGrp="1"/>
          </p:cNvSpPr>
          <p:nvPr>
            <p:ph idx="1"/>
          </p:nvPr>
        </p:nvSpPr>
        <p:spPr>
          <a:xfrm>
            <a:off x="971600" y="1543253"/>
            <a:ext cx="4495800" cy="762000"/>
          </a:xfrm>
        </p:spPr>
        <p:txBody>
          <a:bodyPr vert="horz" wrap="square" lIns="91440" tIns="45720" rIns="91440" bIns="45720" anchor="t"/>
          <a:lstStyle/>
          <a:p>
            <a:pPr eaLnBrk="1" hangingPunct="1">
              <a:lnSpc>
                <a:spcPct val="140000"/>
              </a:lnSpc>
            </a:pPr>
            <a:r>
              <a:rPr lang="zh-CN" altLang="en-US" sz="2800" b="1" dirty="0">
                <a:ea typeface="华文中宋" panose="02010600040101010101" pitchFamily="2" charset="-122"/>
              </a:rPr>
              <a:t>室温下相的相对重量为：</a:t>
            </a:r>
          </a:p>
        </p:txBody>
      </p:sp>
      <p:sp>
        <p:nvSpPr>
          <p:cNvPr id="171012" name="Rectangle 4"/>
          <p:cNvSpPr/>
          <p:nvPr/>
        </p:nvSpPr>
        <p:spPr>
          <a:xfrm>
            <a:off x="304800" y="3159171"/>
            <a:ext cx="5563344" cy="846091"/>
          </a:xfrm>
          <a:prstGeom prst="rect">
            <a:avLst/>
          </a:prstGeom>
          <a:noFill/>
          <a:ln w="9525">
            <a:noFill/>
          </a:ln>
        </p:spPr>
        <p:txBody>
          <a:bodyPr/>
          <a:lstStyle/>
          <a:p>
            <a:pPr marL="342900" lvl="0" indent="-342900" eaLnBrk="1" hangingPunct="1">
              <a:lnSpc>
                <a:spcPct val="140000"/>
              </a:lnSpc>
              <a:spcBef>
                <a:spcPct val="20000"/>
              </a:spcBef>
              <a:buClr>
                <a:schemeClr val="accent2"/>
              </a:buClr>
              <a:buSzPct val="80000"/>
              <a:buFont typeface="Wingdings" panose="05000000000000000000" pitchFamily="2" charset="2"/>
              <a:buChar char="l"/>
            </a:pPr>
            <a:r>
              <a:rPr lang="zh-CN" altLang="en-US" sz="2800" b="1" dirty="0">
                <a:latin typeface="Times New Roman" panose="02020603050405020304" pitchFamily="18" charset="0"/>
                <a:ea typeface="华文中宋" panose="02010600040101010101" pitchFamily="2" charset="-122"/>
              </a:rPr>
              <a:t>室温下</a:t>
            </a:r>
            <a:r>
              <a:rPr lang="zh-CN" altLang="en-US" sz="2800" b="1" dirty="0">
                <a:solidFill>
                  <a:srgbClr val="0000FF"/>
                </a:solidFill>
                <a:latin typeface="Times New Roman" panose="02020603050405020304" pitchFamily="18" charset="0"/>
                <a:ea typeface="华文中宋" panose="02010600040101010101" pitchFamily="2" charset="-122"/>
              </a:rPr>
              <a:t>组织组成物</a:t>
            </a:r>
            <a:r>
              <a:rPr lang="zh-CN" altLang="en-US" sz="2800" b="1" dirty="0">
                <a:latin typeface="Times New Roman" panose="02020603050405020304" pitchFamily="18" charset="0"/>
                <a:ea typeface="华文中宋" panose="02010600040101010101" pitchFamily="2" charset="-122"/>
              </a:rPr>
              <a:t>的</a:t>
            </a:r>
            <a:r>
              <a:rPr lang="zh-CN" altLang="en-US" sz="2800" b="1" dirty="0">
                <a:solidFill>
                  <a:srgbClr val="0000FF"/>
                </a:solidFill>
                <a:latin typeface="Times New Roman" panose="02020603050405020304" pitchFamily="18" charset="0"/>
                <a:ea typeface="华文中宋" panose="02010600040101010101" pitchFamily="2" charset="-122"/>
              </a:rPr>
              <a:t>相对重量</a:t>
            </a:r>
            <a:r>
              <a:rPr lang="zh-CN" altLang="en-US" sz="2800" b="1" dirty="0">
                <a:latin typeface="Times New Roman" panose="02020603050405020304" pitchFamily="18" charset="0"/>
                <a:ea typeface="华文中宋" panose="02010600040101010101" pitchFamily="2" charset="-122"/>
              </a:rPr>
              <a:t>为：</a:t>
            </a:r>
          </a:p>
        </p:txBody>
      </p:sp>
      <mc:AlternateContent xmlns:mc="http://schemas.openxmlformats.org/markup-compatibility/2006" xmlns:a14="http://schemas.microsoft.com/office/drawing/2010/main">
        <mc:Choice Requires="a14">
          <p:sp>
            <p:nvSpPr>
              <p:cNvPr id="171013" name="Object 5"/>
              <p:cNvSpPr txBox="1"/>
              <p:nvPr/>
            </p:nvSpPr>
            <p:spPr>
              <a:xfrm>
                <a:off x="746760" y="2219098"/>
                <a:ext cx="4078288" cy="1053058"/>
              </a:xfrm>
              <a:prstGeom prst="rect">
                <a:avLst/>
              </a:prstGeom>
              <a:solidFill>
                <a:schemeClr val="tx2">
                  <a:lumMod val="20000"/>
                  <a:lumOff val="80000"/>
                </a:schemeClr>
              </a:solidFill>
              <a:ln w="38100">
                <a:noFill/>
                <a:miter/>
              </a:ln>
            </p:spPr>
            <p:txBody>
              <a:bodyPr>
                <a:normAutofit fontScale="85000" lnSpcReduction="10000"/>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𝑄</m:t>
                          </m:r>
                        </m:e>
                        <m:sub>
                          <m:r>
                            <a:rPr lang="zh-CN" altLang="en-US" i="1">
                              <a:solidFill>
                                <a:srgbClr val="000000"/>
                              </a:solidFill>
                              <a:latin typeface="Cambria Math" panose="02040503050406030204" pitchFamily="18" charset="0"/>
                            </a:rPr>
                            <m:t>𝐹</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𝑒</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𝐶</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𝑄</m:t>
                          </m:r>
                          <m:r>
                            <a:rPr lang="zh-CN" altLang="en-US" i="1">
                              <a:solidFill>
                                <a:srgbClr val="000000"/>
                              </a:solidFill>
                              <a:latin typeface="Cambria Math" panose="02040503050406030204" pitchFamily="18" charset="0"/>
                            </a:rPr>
                            <m:t>6</m:t>
                          </m:r>
                        </m:num>
                        <m:den>
                          <m:r>
                            <a:rPr lang="zh-CN" altLang="en-US" i="1">
                              <a:solidFill>
                                <a:srgbClr val="000000"/>
                              </a:solidFill>
                              <a:latin typeface="Cambria Math" panose="02040503050406030204" pitchFamily="18" charset="0"/>
                            </a:rPr>
                            <m:t>𝑄𝐿</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−0.0008</m:t>
                          </m:r>
                        </m:num>
                        <m:den>
                          <m:r>
                            <a:rPr lang="zh-CN" altLang="en-US" i="1">
                              <a:solidFill>
                                <a:srgbClr val="000000"/>
                              </a:solidFill>
                              <a:latin typeface="Cambria Math" panose="02040503050406030204" pitchFamily="18" charset="0"/>
                            </a:rPr>
                            <m:t>6.69−0.0008</m:t>
                          </m:r>
                        </m:den>
                      </m:f>
                      <m:r>
                        <a:rPr lang="zh-CN" altLang="en-US" i="1">
                          <a:solidFill>
                            <a:srgbClr val="000000"/>
                          </a:solidFill>
                          <a:latin typeface="Cambria Math" panose="02040503050406030204" pitchFamily="18" charset="0"/>
                        </a:rPr>
                        <m:t>×100%</m:t>
                      </m:r>
                    </m:oMath>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𝑄</m:t>
                          </m:r>
                        </m:e>
                        <m:sub>
                          <m:r>
                            <a:rPr lang="zh-CN" altLang="en-US" i="1">
                              <a:solidFill>
                                <a:srgbClr val="000000"/>
                              </a:solidFill>
                              <a:latin typeface="Cambria Math" panose="02040503050406030204" pitchFamily="18" charset="0"/>
                            </a:rPr>
                            <m:t>𝛼</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6</m:t>
                          </m:r>
                          <m:r>
                            <a:rPr lang="zh-CN" altLang="en-US" i="1">
                              <a:solidFill>
                                <a:srgbClr val="000000"/>
                              </a:solidFill>
                              <a:latin typeface="Cambria Math" panose="02040503050406030204" pitchFamily="18" charset="0"/>
                            </a:rPr>
                            <m:t>𝐿</m:t>
                          </m:r>
                        </m:num>
                        <m:den>
                          <m:r>
                            <a:rPr lang="zh-CN" altLang="en-US" i="1">
                              <a:solidFill>
                                <a:srgbClr val="000000"/>
                              </a:solidFill>
                              <a:latin typeface="Cambria Math" panose="02040503050406030204" pitchFamily="18" charset="0"/>
                            </a:rPr>
                            <m:t>𝑄𝐿</m:t>
                          </m:r>
                        </m:den>
                      </m:f>
                      <m:r>
                        <a:rPr lang="zh-CN" altLang="en-US" i="1">
                          <a:solidFill>
                            <a:srgbClr val="000000"/>
                          </a:solidFill>
                          <a:latin typeface="Cambria Math" panose="02040503050406030204" pitchFamily="18" charset="0"/>
                        </a:rPr>
                        <m:t>=100%−</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𝑄</m:t>
                          </m:r>
                        </m:e>
                        <m:sub>
                          <m:r>
                            <a:rPr lang="zh-CN" altLang="en-US" i="1">
                              <a:solidFill>
                                <a:srgbClr val="000000"/>
                              </a:solidFill>
                              <a:latin typeface="Cambria Math" panose="02040503050406030204" pitchFamily="18" charset="0"/>
                            </a:rPr>
                            <m:t>𝐹</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𝑒</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𝐶</m:t>
                          </m:r>
                        </m:sub>
                      </m:sSub>
                    </m:oMath>
                  </m:oMathPara>
                </a14:m>
                <a:endParaRPr lang="zh-CN" altLang="en-US" dirty="0"/>
              </a:p>
            </p:txBody>
          </p:sp>
        </mc:Choice>
        <mc:Fallback xmlns="">
          <p:sp>
            <p:nvSpPr>
              <p:cNvPr id="171013" name="Object 5"/>
              <p:cNvSpPr txBox="1">
                <a:spLocks noRot="1" noChangeAspect="1" noMove="1" noResize="1" noEditPoints="1" noAdjustHandles="1" noChangeArrowheads="1" noChangeShapeType="1" noTextEdit="1"/>
              </p:cNvSpPr>
              <p:nvPr/>
            </p:nvSpPr>
            <p:spPr>
              <a:xfrm>
                <a:off x="746760" y="2219098"/>
                <a:ext cx="4078288" cy="1053058"/>
              </a:xfrm>
              <a:prstGeom prst="rect">
                <a:avLst/>
              </a:prstGeom>
              <a:blipFill rotWithShape="1">
                <a:blip r:embed="rId2"/>
                <a:stretch>
                  <a:fillRect t="-39" r="8"/>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1015" name="Object 7"/>
              <p:cNvSpPr txBox="1"/>
              <p:nvPr/>
            </p:nvSpPr>
            <p:spPr>
              <a:xfrm>
                <a:off x="762000" y="3857625"/>
                <a:ext cx="6632575" cy="812800"/>
              </a:xfrm>
              <a:prstGeom prst="rect">
                <a:avLst/>
              </a:prstGeom>
              <a:solidFill>
                <a:schemeClr val="bg2">
                  <a:lumMod val="10000"/>
                  <a:lumOff val="90000"/>
                </a:schemeClr>
              </a:solid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𝑄</m:t>
                          </m:r>
                        </m:e>
                        <m:sub>
                          <m:r>
                            <a:rPr lang="zh-CN" altLang="en-US" i="1">
                              <a:solidFill>
                                <a:srgbClr val="000000"/>
                              </a:solidFill>
                              <a:latin typeface="Cambria Math" panose="02040503050406030204" pitchFamily="18" charset="0"/>
                            </a:rPr>
                            <m:t>𝑃</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𝑄</m:t>
                          </m:r>
                          <m:r>
                            <a:rPr lang="zh-CN" altLang="en-US" i="1">
                              <a:solidFill>
                                <a:srgbClr val="000000"/>
                              </a:solidFill>
                              <a:latin typeface="Cambria Math" panose="02040503050406030204" pitchFamily="18" charset="0"/>
                            </a:rPr>
                            <m:t>6</m:t>
                          </m:r>
                        </m:num>
                        <m:den>
                          <m:r>
                            <a:rPr lang="zh-CN" altLang="en-US" i="1">
                              <a:solidFill>
                                <a:srgbClr val="000000"/>
                              </a:solidFill>
                              <a:latin typeface="Cambria Math" panose="02040503050406030204" pitchFamily="18" charset="0"/>
                            </a:rPr>
                            <m:t>𝑄𝑆</m:t>
                          </m:r>
                          <m:r>
                            <a:rPr lang="zh-CN" altLang="en-US" i="1">
                              <a:solidFill>
                                <a:srgbClr val="000000"/>
                              </a:solidFill>
                              <a:latin typeface="Cambria Math" panose="02040503050406030204" pitchFamily="18" charset="0"/>
                            </a:rPr>
                            <m:t>′</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−0.0008</m:t>
                          </m:r>
                        </m:num>
                        <m:den>
                          <m:r>
                            <a:rPr lang="zh-CN" altLang="en-US" i="1">
                              <a:solidFill>
                                <a:srgbClr val="000000"/>
                              </a:solidFill>
                              <a:latin typeface="Cambria Math" panose="02040503050406030204" pitchFamily="18" charset="0"/>
                            </a:rPr>
                            <m:t>0.77−0.0008</m:t>
                          </m:r>
                        </m:den>
                      </m:f>
                      <m:r>
                        <a:rPr lang="zh-CN" altLang="en-US" i="1">
                          <a:solidFill>
                            <a:srgbClr val="000000"/>
                          </a:solidFill>
                          <a:latin typeface="Cambria Math" panose="02040503050406030204" pitchFamily="18" charset="0"/>
                        </a:rPr>
                        <m:t>×100%,</m:t>
                      </m:r>
                      <m:limUpp>
                        <m:limUppPr>
                          <m:ctrlPr>
                            <a:rPr lang="zh-CN" altLang="en-US" i="1">
                              <a:solidFill>
                                <a:srgbClr val="000000"/>
                              </a:solidFill>
                              <a:latin typeface="Cambria Math" panose="02040503050406030204" pitchFamily="18" charset="0"/>
                            </a:rPr>
                          </m:ctrlPr>
                        </m:limUppPr>
                        <m:e/>
                        <m:lim/>
                      </m:limUp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𝑄</m:t>
                          </m:r>
                        </m:e>
                        <m:sub>
                          <m:r>
                            <a:rPr lang="zh-CN" altLang="en-US" i="1">
                              <a:solidFill>
                                <a:srgbClr val="000000"/>
                              </a:solidFill>
                              <a:latin typeface="Cambria Math" panose="02040503050406030204" pitchFamily="18" charset="0"/>
                            </a:rPr>
                            <m:t>𝛼</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6</m:t>
                          </m:r>
                          <m:r>
                            <a:rPr lang="zh-CN" altLang="en-US" i="1">
                              <a:solidFill>
                                <a:srgbClr val="000000"/>
                              </a:solidFill>
                              <a:latin typeface="Cambria Math" panose="02040503050406030204" pitchFamily="18" charset="0"/>
                            </a:rPr>
                            <m:t>𝑆</m:t>
                          </m:r>
                          <m:r>
                            <a:rPr lang="zh-CN" altLang="en-US" i="1">
                              <a:solidFill>
                                <a:srgbClr val="000000"/>
                              </a:solidFill>
                              <a:latin typeface="Cambria Math" panose="02040503050406030204" pitchFamily="18" charset="0"/>
                            </a:rPr>
                            <m:t>′</m:t>
                          </m:r>
                        </m:num>
                        <m:den>
                          <m:r>
                            <a:rPr lang="zh-CN" altLang="en-US" i="1">
                              <a:solidFill>
                                <a:srgbClr val="000000"/>
                              </a:solidFill>
                              <a:latin typeface="Cambria Math" panose="02040503050406030204" pitchFamily="18" charset="0"/>
                            </a:rPr>
                            <m:t>𝑄𝑆</m:t>
                          </m:r>
                          <m:r>
                            <a:rPr lang="zh-CN" altLang="en-US" i="1">
                              <a:solidFill>
                                <a:srgbClr val="000000"/>
                              </a:solidFill>
                              <a:latin typeface="Cambria Math" panose="02040503050406030204" pitchFamily="18" charset="0"/>
                            </a:rPr>
                            <m:t>′</m:t>
                          </m:r>
                        </m:den>
                      </m:f>
                      <m:r>
                        <a:rPr lang="zh-CN" altLang="en-US" i="1">
                          <a:solidFill>
                            <a:srgbClr val="000000"/>
                          </a:solidFill>
                          <a:latin typeface="Cambria Math" panose="02040503050406030204" pitchFamily="18" charset="0"/>
                        </a:rPr>
                        <m:t>=100%−</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𝑄</m:t>
                          </m:r>
                        </m:e>
                        <m:sub>
                          <m:r>
                            <a:rPr lang="zh-CN" altLang="en-US" i="1">
                              <a:solidFill>
                                <a:srgbClr val="000000"/>
                              </a:solidFill>
                              <a:latin typeface="Cambria Math" panose="02040503050406030204" pitchFamily="18" charset="0"/>
                            </a:rPr>
                            <m:t>𝑃</m:t>
                          </m:r>
                        </m:sub>
                      </m:sSub>
                    </m:oMath>
                  </m:oMathPara>
                </a14:m>
                <a:endParaRPr lang="zh-CN" altLang="en-US" dirty="0"/>
              </a:p>
            </p:txBody>
          </p:sp>
        </mc:Choice>
        <mc:Fallback xmlns="">
          <p:sp>
            <p:nvSpPr>
              <p:cNvPr id="171015" name="Object 7"/>
              <p:cNvSpPr txBox="1">
                <a:spLocks noRot="1" noChangeAspect="1" noMove="1" noResize="1" noEditPoints="1" noAdjustHandles="1" noChangeArrowheads="1" noChangeShapeType="1" noTextEdit="1"/>
              </p:cNvSpPr>
              <p:nvPr/>
            </p:nvSpPr>
            <p:spPr>
              <a:xfrm>
                <a:off x="762000" y="3857625"/>
                <a:ext cx="6632575" cy="812800"/>
              </a:xfrm>
              <a:prstGeom prst="rect">
                <a:avLst/>
              </a:prstGeom>
              <a:blipFill rotWithShape="1">
                <a:blip r:embed="rId3"/>
                <a:stretch>
                  <a:fillRect/>
                </a:stretch>
              </a:blipFill>
              <a:ln w="38100">
                <a:noFill/>
                <a:miter/>
              </a:ln>
            </p:spPr>
            <p:txBody>
              <a:bodyPr/>
              <a:lstStyle/>
              <a:p>
                <a:r>
                  <a:rPr lang="zh-CN" altLang="en-US">
                    <a:noFill/>
                  </a:rPr>
                  <a:t> </a:t>
                </a:r>
              </a:p>
            </p:txBody>
          </p:sp>
        </mc:Fallback>
      </mc:AlternateContent>
      <p:grpSp>
        <p:nvGrpSpPr>
          <p:cNvPr id="2" name="Group 12"/>
          <p:cNvGrpSpPr/>
          <p:nvPr/>
        </p:nvGrpSpPr>
        <p:grpSpPr>
          <a:xfrm>
            <a:off x="6012160" y="1844823"/>
            <a:ext cx="2947690" cy="1942951"/>
            <a:chOff x="3159" y="336"/>
            <a:chExt cx="2265" cy="2040"/>
          </a:xfrm>
        </p:grpSpPr>
        <p:pic>
          <p:nvPicPr>
            <p:cNvPr id="12299" name="Picture 6" descr="Fe-C相图"/>
            <p:cNvPicPr>
              <a:picLocks noChangeAspect="1"/>
            </p:cNvPicPr>
            <p:nvPr/>
          </p:nvPicPr>
          <p:blipFill>
            <a:blip r:embed="rId4"/>
            <a:stretch>
              <a:fillRect/>
            </a:stretch>
          </p:blipFill>
          <p:spPr>
            <a:xfrm>
              <a:off x="3159" y="336"/>
              <a:ext cx="2265" cy="2040"/>
            </a:xfrm>
            <a:prstGeom prst="rect">
              <a:avLst/>
            </a:prstGeom>
            <a:noFill/>
            <a:ln w="28575" cap="flat" cmpd="sng">
              <a:solidFill>
                <a:srgbClr val="CC99FF"/>
              </a:solidFill>
              <a:prstDash val="solid"/>
              <a:miter/>
              <a:headEnd type="none" w="med" len="med"/>
              <a:tailEnd type="none" w="med" len="med"/>
            </a:ln>
          </p:spPr>
        </p:pic>
        <p:sp>
          <p:nvSpPr>
            <p:cNvPr id="12300" name="Line 8"/>
            <p:cNvSpPr>
              <a:spLocks noChangeAspect="1"/>
            </p:cNvSpPr>
            <p:nvPr/>
          </p:nvSpPr>
          <p:spPr>
            <a:xfrm>
              <a:off x="3874" y="1716"/>
              <a:ext cx="0" cy="480"/>
            </a:xfrm>
            <a:prstGeom prst="line">
              <a:avLst/>
            </a:prstGeom>
            <a:ln w="28575" cap="flat" cmpd="sng">
              <a:solidFill>
                <a:schemeClr val="bg2"/>
              </a:solidFill>
              <a:prstDash val="dash"/>
              <a:headEnd type="none" w="med" len="med"/>
              <a:tailEnd type="none" w="med" len="med"/>
            </a:ln>
          </p:spPr>
        </p:sp>
        <p:sp>
          <p:nvSpPr>
            <p:cNvPr id="12301" name="Text Box 9"/>
            <p:cNvSpPr txBox="1">
              <a:spLocks noChangeAspect="1"/>
            </p:cNvSpPr>
            <p:nvPr/>
          </p:nvSpPr>
          <p:spPr>
            <a:xfrm>
              <a:off x="3851" y="2016"/>
              <a:ext cx="224" cy="192"/>
            </a:xfrm>
            <a:prstGeom prst="rect">
              <a:avLst/>
            </a:prstGeom>
            <a:noFill/>
            <a:ln w="28575">
              <a:noFill/>
            </a:ln>
          </p:spPr>
          <p:txBody>
            <a:bodyPr>
              <a:spAutoFit/>
            </a:bodyPr>
            <a:lstStyle/>
            <a:p>
              <a:pPr lvl="0" eaLnBrk="1" hangingPunct="1">
                <a:spcBef>
                  <a:spcPct val="50000"/>
                </a:spcBef>
              </a:pPr>
              <a:r>
                <a:rPr lang="en-US" altLang="zh-CN" sz="1400" b="1" dirty="0">
                  <a:solidFill>
                    <a:schemeClr val="bg2"/>
                  </a:solidFill>
                  <a:latin typeface="Times New Roman" panose="02020603050405020304" pitchFamily="18" charset="0"/>
                  <a:ea typeface="宋体" panose="02010600030101010101" pitchFamily="2" charset="-122"/>
                </a:rPr>
                <a:t>S’</a:t>
              </a:r>
            </a:p>
          </p:txBody>
        </p:sp>
      </p:grpSp>
      <p:sp>
        <p:nvSpPr>
          <p:cNvPr id="171019" name="Rectangle 11"/>
          <p:cNvSpPr/>
          <p:nvPr/>
        </p:nvSpPr>
        <p:spPr>
          <a:xfrm>
            <a:off x="304800" y="4614863"/>
            <a:ext cx="8610600" cy="1828800"/>
          </a:xfrm>
          <a:prstGeom prst="rect">
            <a:avLst/>
          </a:prstGeom>
          <a:noFill/>
          <a:ln w="9525">
            <a:noFill/>
          </a:ln>
        </p:spPr>
        <p:txBody>
          <a:bodyPr/>
          <a:lstStyle/>
          <a:p>
            <a:pPr marL="342900" lvl="0" indent="-342900" eaLnBrk="1" hangingPunct="1">
              <a:lnSpc>
                <a:spcPct val="140000"/>
              </a:lnSpc>
              <a:spcBef>
                <a:spcPct val="20000"/>
              </a:spcBef>
              <a:buClr>
                <a:schemeClr val="accent2"/>
              </a:buClr>
              <a:buSzPct val="80000"/>
              <a:buFont typeface="Wingdings" panose="05000000000000000000" pitchFamily="2" charset="2"/>
              <a:buChar char="l"/>
            </a:pPr>
            <a:r>
              <a:rPr lang="zh-CN" altLang="en-US" sz="2800" b="1" dirty="0">
                <a:latin typeface="Times New Roman" panose="02020603050405020304" pitchFamily="18" charset="0"/>
                <a:ea typeface="华文中宋" panose="02010600040101010101" pitchFamily="2" charset="-122"/>
              </a:rPr>
              <a:t>利用平衡组织中珠光体所占的面积百分比，可以近似估算亚共析钢的含碳量：</a:t>
            </a:r>
            <a:r>
              <a:rPr lang="en-US" altLang="zh-CN" sz="2800" b="1" i="1" dirty="0">
                <a:solidFill>
                  <a:schemeClr val="folHlink"/>
                </a:solidFill>
                <a:latin typeface="Times New Roman" panose="02020603050405020304" pitchFamily="18" charset="0"/>
                <a:ea typeface="仿宋_GB2312" pitchFamily="49" charset="-122"/>
              </a:rPr>
              <a:t>C%=P</a:t>
            </a:r>
            <a:r>
              <a:rPr lang="zh-CN" altLang="en-US" sz="2800" b="1" baseline="-30000" dirty="0">
                <a:solidFill>
                  <a:schemeClr val="folHlink"/>
                </a:solidFill>
                <a:latin typeface="Times New Roman" panose="02020603050405020304" pitchFamily="18" charset="0"/>
                <a:ea typeface="仿宋_GB2312" pitchFamily="49" charset="-122"/>
              </a:rPr>
              <a:t>面积</a:t>
            </a:r>
            <a:r>
              <a:rPr lang="en-US" altLang="zh-CN" sz="2800" b="1" i="1" dirty="0">
                <a:solidFill>
                  <a:schemeClr val="folHlink"/>
                </a:solidFill>
                <a:latin typeface="Times New Roman" panose="02020603050405020304" pitchFamily="18" charset="0"/>
                <a:ea typeface="仿宋_GB2312" pitchFamily="49" charset="-122"/>
              </a:rPr>
              <a:t>%×0.77% </a:t>
            </a:r>
            <a:br>
              <a:rPr lang="en-US" altLang="zh-CN" sz="2800" b="1" dirty="0">
                <a:solidFill>
                  <a:srgbClr val="FFFFCC"/>
                </a:solidFill>
                <a:latin typeface="Times New Roman" panose="02020603050405020304" pitchFamily="18" charset="0"/>
                <a:ea typeface="华文中宋" panose="02010600040101010101" pitchFamily="2" charset="-122"/>
              </a:rPr>
            </a:br>
            <a:r>
              <a:rPr lang="en-US" altLang="zh-CN" sz="2800" b="1" i="1" dirty="0">
                <a:solidFill>
                  <a:schemeClr val="folHlink"/>
                </a:solidFill>
                <a:latin typeface="Times New Roman" panose="02020603050405020304" pitchFamily="18" charset="0"/>
                <a:ea typeface="仿宋_GB2312" pitchFamily="49" charset="-122"/>
              </a:rPr>
              <a:t> </a:t>
            </a:r>
            <a:r>
              <a:rPr lang="en-US" altLang="zh-CN" sz="2800" b="1" dirty="0">
                <a:latin typeface="Times New Roman" panose="02020603050405020304" pitchFamily="18" charset="0"/>
                <a:ea typeface="华文中宋" panose="02010600040101010101" pitchFamily="2" charset="-122"/>
              </a:rPr>
              <a:t>(</a:t>
            </a:r>
            <a:r>
              <a:rPr lang="zh-CN" altLang="en-US" sz="2800" b="1" dirty="0">
                <a:latin typeface="Times New Roman" panose="02020603050405020304" pitchFamily="18" charset="0"/>
                <a:ea typeface="华文中宋" panose="02010600040101010101" pitchFamily="2" charset="-122"/>
              </a:rPr>
              <a:t>忽略</a:t>
            </a:r>
            <a:r>
              <a:rPr lang="zh-CN" altLang="en-US" sz="2800" b="1" i="1" dirty="0">
                <a:solidFill>
                  <a:schemeClr val="folHlink"/>
                </a:solidFill>
                <a:latin typeface="Times New Roman" panose="02020603050405020304" pitchFamily="18" charset="0"/>
                <a:ea typeface="华文中宋" panose="02010600040101010101" pitchFamily="2" charset="-122"/>
                <a:sym typeface="Symbol" panose="05050102010706020507" pitchFamily="18" charset="2"/>
              </a:rPr>
              <a:t> </a:t>
            </a:r>
            <a:r>
              <a:rPr lang="zh-CN" altLang="en-US" sz="2800" b="1" dirty="0">
                <a:latin typeface="Times New Roman" panose="02020603050405020304" pitchFamily="18" charset="0"/>
                <a:ea typeface="华文中宋" panose="02010600040101010101" pitchFamily="2" charset="-122"/>
              </a:rPr>
              <a:t>中含碳量，</a:t>
            </a:r>
            <a:r>
              <a:rPr lang="en-US" altLang="zh-CN" sz="2800" b="1" i="1" dirty="0">
                <a:solidFill>
                  <a:schemeClr val="folHlink"/>
                </a:solidFill>
                <a:latin typeface="Times New Roman" panose="02020603050405020304" pitchFamily="18" charset="0"/>
                <a:ea typeface="华文中宋" panose="02010600040101010101" pitchFamily="2" charset="-122"/>
              </a:rPr>
              <a:t>P</a:t>
            </a:r>
            <a:r>
              <a:rPr lang="zh-CN" altLang="en-US" sz="2800" b="1" baseline="-30000" dirty="0">
                <a:solidFill>
                  <a:schemeClr val="folHlink"/>
                </a:solidFill>
                <a:latin typeface="Times New Roman" panose="02020603050405020304" pitchFamily="18" charset="0"/>
                <a:ea typeface="华文中宋" panose="02010600040101010101" pitchFamily="2" charset="-122"/>
              </a:rPr>
              <a:t>面积</a:t>
            </a:r>
            <a:r>
              <a:rPr lang="en-US" altLang="zh-CN" sz="2800" b="1" i="1" dirty="0">
                <a:solidFill>
                  <a:schemeClr val="folHlink"/>
                </a:solidFill>
                <a:latin typeface="Times New Roman" panose="02020603050405020304" pitchFamily="18" charset="0"/>
                <a:ea typeface="华文中宋" panose="02010600040101010101" pitchFamily="2" charset="-122"/>
              </a:rPr>
              <a:t>%=Q</a:t>
            </a:r>
            <a:r>
              <a:rPr lang="en-US" altLang="zh-CN" sz="2800" b="1" i="1" baseline="-30000" dirty="0">
                <a:solidFill>
                  <a:schemeClr val="folHlink"/>
                </a:solidFill>
                <a:latin typeface="Times New Roman" panose="02020603050405020304" pitchFamily="18" charset="0"/>
                <a:ea typeface="华文中宋" panose="02010600040101010101" pitchFamily="2" charset="-122"/>
              </a:rPr>
              <a:t>P</a:t>
            </a:r>
            <a:r>
              <a:rPr lang="en-US" altLang="zh-CN" sz="2800" b="1" dirty="0">
                <a:latin typeface="Times New Roman" panose="02020603050405020304" pitchFamily="18" charset="0"/>
                <a:ea typeface="华文中宋" panose="02010600040101010101" pitchFamily="2" charset="-122"/>
              </a:rPr>
              <a:t>)</a:t>
            </a:r>
          </a:p>
        </p:txBody>
      </p:sp>
      <p:pic>
        <p:nvPicPr>
          <p:cNvPr id="14" name="内容占位符 1" descr="新校徽（3M）弓之乐"/>
          <p:cNvPicPr>
            <a:picLocks noChangeAspect="1"/>
          </p:cNvPicPr>
          <p:nvPr/>
        </p:nvPicPr>
        <p:blipFill>
          <a:blip r:embed="rId5"/>
          <a:stretch>
            <a:fillRect/>
          </a:stretch>
        </p:blipFill>
        <p:spPr>
          <a:xfrm>
            <a:off x="0" y="0"/>
            <a:ext cx="746760" cy="735965"/>
          </a:xfrm>
          <a:prstGeom prst="rect">
            <a:avLst/>
          </a:prstGeom>
          <a:noFill/>
          <a:ln w="9525">
            <a:noFill/>
          </a:ln>
        </p:spPr>
      </p:pic>
      <p:sp>
        <p:nvSpPr>
          <p:cNvPr id="7" name="Rectangle 2"/>
          <p:cNvSpPr>
            <a:spLocks noGrp="1" noChangeArrowheads="1"/>
          </p:cNvSpPr>
          <p:nvPr>
            <p:ph type="title"/>
          </p:nvPr>
        </p:nvSpPr>
        <p:spPr>
          <a:xfrm>
            <a:off x="713105" y="176157"/>
            <a:ext cx="7772400"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㈢ </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亚共析钢的结晶过程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71011">
                                            <p:txEl>
                                              <p:pRg st="0" end="0"/>
                                            </p:txEl>
                                          </p:spTgt>
                                        </p:tgtEl>
                                        <p:attrNameLst>
                                          <p:attrName>style.visibility</p:attrName>
                                        </p:attrNameLst>
                                      </p:cBhvr>
                                      <p:to>
                                        <p:strVal val="visible"/>
                                      </p:to>
                                    </p:set>
                                    <p:animEffect transition="in" filter="wipe(left)">
                                      <p:cBhvr>
                                        <p:cTn id="7" dur="500"/>
                                        <p:tgtEl>
                                          <p:spTgt spid="171011">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71012"/>
                                        </p:tgtEl>
                                        <p:attrNameLst>
                                          <p:attrName>style.visibility</p:attrName>
                                        </p:attrNameLst>
                                      </p:cBhvr>
                                      <p:to>
                                        <p:strVal val="visible"/>
                                      </p:to>
                                    </p:set>
                                    <p:animEffect transition="in" filter="wipe(left)">
                                      <p:cBhvr>
                                        <p:cTn id="11" dur="500"/>
                                        <p:tgtEl>
                                          <p:spTgt spid="171012"/>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71019">
                                            <p:txEl>
                                              <p:pRg st="0" end="0"/>
                                            </p:txEl>
                                          </p:spTgt>
                                        </p:tgtEl>
                                        <p:attrNameLst>
                                          <p:attrName>style.visibility</p:attrName>
                                        </p:attrNameLst>
                                      </p:cBhvr>
                                      <p:to>
                                        <p:strVal val="visible"/>
                                      </p:to>
                                    </p:set>
                                    <p:animEffect transition="in" filter="wipe(left)">
                                      <p:cBhvr>
                                        <p:cTn id="15" dur="500"/>
                                        <p:tgtEl>
                                          <p:spTgt spid="171019">
                                            <p:txEl>
                                              <p:pRg st="0" end="0"/>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up)">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1" grpId="0" build="p" advAuto="1000"/>
      <p:bldP spid="171012" grpId="0"/>
      <p:bldP spid="171019" grpId="0" build="p" advAuto="100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日期占位符 3"/>
          <p:cNvSpPr txBox="1">
            <a:spLocks noGrp="1"/>
          </p:cNvSpPr>
          <p:nvPr>
            <p:ph type="dt" sz="half" idx="10"/>
          </p:nvPr>
        </p:nvSpPr>
        <p:spPr>
          <a:xfrm>
            <a:off x="0" y="6510338"/>
            <a:ext cx="2162175"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21859" name="灯片编号占位符 5"/>
          <p:cNvSpPr txBox="1">
            <a:spLocks noGrp="1"/>
          </p:cNvSpPr>
          <p:nvPr>
            <p:ph type="sldNum" sz="quarter" idx="12"/>
          </p:nvPr>
        </p:nvSpPr>
        <p:spPr>
          <a:xfrm>
            <a:off x="8413115" y="6663055"/>
            <a:ext cx="683260" cy="194945"/>
          </a:xfrm>
        </p:spPr>
        <p:txBody>
          <a:bodyPr lIns="92075" tIns="46038" rIns="92075" bIns="46038" anchor="ctr"/>
          <a:lstStyle/>
          <a:p>
            <a:pPr algn="r" eaLnBrk="1" hangingPunct="1"/>
            <a:fld id="{9A0DB2DC-4C9A-4742-B13C-FB6460FD3503}" type="slidenum">
              <a:rPr lang="en-US" altLang="zh-CN" sz="1400" dirty="0"/>
              <a:t>131</a:t>
            </a:fld>
            <a:endParaRPr lang="en-US" altLang="zh-CN" sz="1400" dirty="0"/>
          </a:p>
        </p:txBody>
      </p:sp>
      <p:sp>
        <p:nvSpPr>
          <p:cNvPr id="126978" name="Rectangle 2"/>
          <p:cNvSpPr>
            <a:spLocks noGrp="1"/>
          </p:cNvSpPr>
          <p:nvPr>
            <p:ph idx="1"/>
          </p:nvPr>
        </p:nvSpPr>
        <p:spPr>
          <a:xfrm>
            <a:off x="1050880" y="1773145"/>
            <a:ext cx="7165429" cy="2167020"/>
          </a:xfrm>
        </p:spPr>
        <p:txBody>
          <a:bodyPr vert="horz" wrap="square" lIns="91440" tIns="45720" rIns="91440" bIns="45720" anchor="t"/>
          <a:lstStyle/>
          <a:p>
            <a:pPr eaLnBrk="1" hangingPunct="1">
              <a:lnSpc>
                <a:spcPct val="140000"/>
              </a:lnSpc>
            </a:pPr>
            <a:r>
              <a:rPr lang="en-US" altLang="zh-CN" b="1" dirty="0">
                <a:solidFill>
                  <a:srgbClr val="0000FF"/>
                </a:solidFill>
                <a:ea typeface="华文中宋" panose="02010600040101010101" pitchFamily="2" charset="-122"/>
              </a:rPr>
              <a:t>亚共析钢</a:t>
            </a:r>
            <a:r>
              <a:rPr lang="zh-CN" altLang="en-US" b="1" dirty="0">
                <a:ea typeface="华文中宋" panose="02010600040101010101" pitchFamily="2" charset="-122"/>
              </a:rPr>
              <a:t>室温下的组织为</a:t>
            </a:r>
            <a:r>
              <a:rPr lang="en-US" altLang="zh-CN" b="1" dirty="0">
                <a:solidFill>
                  <a:srgbClr val="0000FF"/>
                </a:solidFill>
                <a:ea typeface="华文中宋" panose="02010600040101010101" pitchFamily="2" charset="-122"/>
              </a:rPr>
              <a:t>F+P</a:t>
            </a:r>
            <a:r>
              <a:rPr lang="zh-CN" altLang="en-US" b="1" dirty="0">
                <a:ea typeface="华文中宋" panose="02010600040101010101" pitchFamily="2" charset="-122"/>
              </a:rPr>
              <a:t>。</a:t>
            </a:r>
          </a:p>
          <a:p>
            <a:pPr eaLnBrk="1" hangingPunct="1">
              <a:lnSpc>
                <a:spcPct val="140000"/>
              </a:lnSpc>
            </a:pPr>
            <a:r>
              <a:rPr lang="zh-CN" altLang="en-US" b="1" dirty="0">
                <a:ea typeface="华文中宋" panose="02010600040101010101" pitchFamily="2" charset="-122"/>
              </a:rPr>
              <a:t>在</a:t>
            </a:r>
            <a:r>
              <a:rPr lang="en-US" altLang="zh-CN" b="1" dirty="0">
                <a:ea typeface="华文中宋" panose="02010600040101010101" pitchFamily="2" charset="-122"/>
              </a:rPr>
              <a:t>0.0218~0.77%C </a:t>
            </a:r>
            <a:r>
              <a:rPr lang="zh-CN" altLang="en-US" b="1" dirty="0">
                <a:ea typeface="华文中宋" panose="02010600040101010101" pitchFamily="2" charset="-122"/>
              </a:rPr>
              <a:t>范围内珠光体的量随含碳量增加而增加。</a:t>
            </a:r>
          </a:p>
        </p:txBody>
      </p:sp>
      <p:grpSp>
        <p:nvGrpSpPr>
          <p:cNvPr id="2" name="Group 16"/>
          <p:cNvGrpSpPr/>
          <p:nvPr>
            <p:custDataLst>
              <p:tags r:id="rId1"/>
            </p:custDataLst>
          </p:nvPr>
        </p:nvGrpSpPr>
        <p:grpSpPr>
          <a:xfrm>
            <a:off x="971431" y="4077360"/>
            <a:ext cx="7674719" cy="2036068"/>
            <a:chOff x="174" y="2773"/>
            <a:chExt cx="5178" cy="1444"/>
          </a:xfrm>
        </p:grpSpPr>
        <p:grpSp>
          <p:nvGrpSpPr>
            <p:cNvPr id="121863" name="Group 14"/>
            <p:cNvGrpSpPr/>
            <p:nvPr/>
          </p:nvGrpSpPr>
          <p:grpSpPr>
            <a:xfrm>
              <a:off x="1923" y="2784"/>
              <a:ext cx="1667" cy="1351"/>
              <a:chOff x="1923" y="2736"/>
              <a:chExt cx="1667" cy="1351"/>
            </a:xfrm>
          </p:grpSpPr>
          <p:pic>
            <p:nvPicPr>
              <p:cNvPr id="121870" name="Picture 5" descr="image039"/>
              <p:cNvPicPr>
                <a:picLocks noChangeAspect="1"/>
              </p:cNvPicPr>
              <p:nvPr>
                <p:custDataLst>
                  <p:tags r:id="rId6"/>
                </p:custDataLst>
              </p:nvPr>
            </p:nvPicPr>
            <p:blipFill>
              <a:blip r:embed="rId9"/>
              <a:stretch>
                <a:fillRect/>
              </a:stretch>
            </p:blipFill>
            <p:spPr>
              <a:xfrm>
                <a:off x="1923" y="2736"/>
                <a:ext cx="1667" cy="1323"/>
              </a:xfrm>
              <a:prstGeom prst="rect">
                <a:avLst/>
              </a:prstGeom>
              <a:noFill/>
              <a:ln w="28575" cap="flat" cmpd="sng">
                <a:noFill/>
                <a:prstDash val="solid"/>
                <a:miter/>
                <a:headEnd type="none" w="med" len="med"/>
                <a:tailEnd type="none" w="med" len="med"/>
              </a:ln>
            </p:spPr>
          </p:pic>
          <p:sp>
            <p:nvSpPr>
              <p:cNvPr id="121871" name="Text Box 6"/>
              <p:cNvSpPr txBox="1"/>
              <p:nvPr>
                <p:custDataLst>
                  <p:tags r:id="rId7"/>
                </p:custDataLst>
              </p:nvPr>
            </p:nvSpPr>
            <p:spPr>
              <a:xfrm>
                <a:off x="1931" y="3825"/>
                <a:ext cx="1459" cy="262"/>
              </a:xfrm>
              <a:prstGeom prst="rect">
                <a:avLst/>
              </a:prstGeom>
              <a:solidFill>
                <a:schemeClr val="bg1"/>
              </a:solidFill>
              <a:ln w="38100">
                <a:noFill/>
              </a:ln>
            </p:spPr>
            <p:txBody>
              <a:bodyPr wrap="square">
                <a:spAutoFit/>
              </a:bodyPr>
              <a:lstStyle/>
              <a:p>
                <a:pPr lvl="0" algn="ctr" eaLnBrk="1" hangingPunct="1">
                  <a:spcBef>
                    <a:spcPct val="50000"/>
                  </a:spcBef>
                </a:pPr>
                <a:r>
                  <a:rPr lang="zh-CN" altLang="en-US" sz="1800" b="1" dirty="0">
                    <a:solidFill>
                      <a:srgbClr val="0000FF"/>
                    </a:solidFill>
                    <a:latin typeface="Times New Roman" panose="02020603050405020304" pitchFamily="18" charset="0"/>
                    <a:ea typeface="宋体" panose="02010600030101010101" pitchFamily="2" charset="-122"/>
                  </a:rPr>
                  <a:t>含</a:t>
                </a:r>
                <a:r>
                  <a:rPr lang="en-US" altLang="zh-CN" sz="1800" b="1" dirty="0">
                    <a:solidFill>
                      <a:srgbClr val="0000FF"/>
                    </a:solidFill>
                    <a:latin typeface="Times New Roman" panose="02020603050405020304" pitchFamily="18" charset="0"/>
                    <a:ea typeface="宋体" panose="02010600030101010101" pitchFamily="2" charset="-122"/>
                  </a:rPr>
                  <a:t>0.45%C</a:t>
                </a:r>
                <a:r>
                  <a:rPr lang="zh-CN" altLang="en-US" sz="1800" b="1" dirty="0">
                    <a:solidFill>
                      <a:srgbClr val="0000FF"/>
                    </a:solidFill>
                    <a:latin typeface="Times New Roman" panose="02020603050405020304" pitchFamily="18" charset="0"/>
                    <a:ea typeface="宋体" panose="02010600030101010101" pitchFamily="2" charset="-122"/>
                  </a:rPr>
                  <a:t>钢的组织</a:t>
                </a:r>
              </a:p>
            </p:txBody>
          </p:sp>
        </p:grpSp>
        <p:grpSp>
          <p:nvGrpSpPr>
            <p:cNvPr id="121864" name="Group 13"/>
            <p:cNvGrpSpPr/>
            <p:nvPr/>
          </p:nvGrpSpPr>
          <p:grpSpPr>
            <a:xfrm>
              <a:off x="174" y="2793"/>
              <a:ext cx="1579" cy="1424"/>
              <a:chOff x="174" y="2793"/>
              <a:chExt cx="1579" cy="1424"/>
            </a:xfrm>
          </p:grpSpPr>
          <p:pic>
            <p:nvPicPr>
              <p:cNvPr id="121868" name="Picture 7" descr="image041"/>
              <p:cNvPicPr>
                <a:picLocks noChangeAspect="1"/>
              </p:cNvPicPr>
              <p:nvPr>
                <p:custDataLst>
                  <p:tags r:id="rId4"/>
                </p:custDataLst>
              </p:nvPr>
            </p:nvPicPr>
            <p:blipFill>
              <a:blip r:embed="rId10"/>
              <a:stretch>
                <a:fillRect/>
              </a:stretch>
            </p:blipFill>
            <p:spPr>
              <a:xfrm>
                <a:off x="174" y="2793"/>
                <a:ext cx="1557" cy="1305"/>
              </a:xfrm>
              <a:prstGeom prst="rect">
                <a:avLst/>
              </a:prstGeom>
              <a:noFill/>
              <a:ln w="28575" cap="flat" cmpd="sng">
                <a:noFill/>
                <a:prstDash val="solid"/>
                <a:miter/>
                <a:headEnd type="none" w="med" len="med"/>
                <a:tailEnd type="none" w="med" len="med"/>
              </a:ln>
            </p:spPr>
          </p:pic>
          <p:sp>
            <p:nvSpPr>
              <p:cNvPr id="121869" name="Text Box 8"/>
              <p:cNvSpPr txBox="1"/>
              <p:nvPr>
                <p:custDataLst>
                  <p:tags r:id="rId5"/>
                </p:custDataLst>
              </p:nvPr>
            </p:nvSpPr>
            <p:spPr>
              <a:xfrm>
                <a:off x="196" y="3955"/>
                <a:ext cx="1557" cy="262"/>
              </a:xfrm>
              <a:prstGeom prst="rect">
                <a:avLst/>
              </a:prstGeom>
              <a:solidFill>
                <a:schemeClr val="bg1"/>
              </a:solidFill>
              <a:ln w="38100">
                <a:noFill/>
              </a:ln>
            </p:spPr>
            <p:txBody>
              <a:bodyPr wrap="square">
                <a:spAutoFit/>
              </a:bodyPr>
              <a:lstStyle/>
              <a:p>
                <a:pPr lvl="0" algn="ctr" eaLnBrk="1" hangingPunct="1">
                  <a:spcBef>
                    <a:spcPct val="50000"/>
                  </a:spcBef>
                </a:pPr>
                <a:r>
                  <a:rPr lang="zh-CN" altLang="en-US" sz="1800" b="1" dirty="0">
                    <a:solidFill>
                      <a:srgbClr val="0000FF"/>
                    </a:solidFill>
                    <a:latin typeface="Times New Roman" panose="02020603050405020304" pitchFamily="18" charset="0"/>
                    <a:ea typeface="宋体" panose="02010600030101010101" pitchFamily="2" charset="-122"/>
                  </a:rPr>
                  <a:t>含</a:t>
                </a:r>
                <a:r>
                  <a:rPr lang="en-US" altLang="zh-CN" sz="1800" b="1" dirty="0">
                    <a:solidFill>
                      <a:srgbClr val="0000FF"/>
                    </a:solidFill>
                    <a:latin typeface="Times New Roman" panose="02020603050405020304" pitchFamily="18" charset="0"/>
                    <a:ea typeface="宋体" panose="02010600030101010101" pitchFamily="2" charset="-122"/>
                  </a:rPr>
                  <a:t>0.20%C</a:t>
                </a:r>
                <a:r>
                  <a:rPr lang="zh-CN" altLang="en-US" sz="1800" b="1" dirty="0">
                    <a:solidFill>
                      <a:srgbClr val="0000FF"/>
                    </a:solidFill>
                    <a:latin typeface="Times New Roman" panose="02020603050405020304" pitchFamily="18" charset="0"/>
                    <a:ea typeface="宋体" panose="02010600030101010101" pitchFamily="2" charset="-122"/>
                  </a:rPr>
                  <a:t>钢的组织</a:t>
                </a:r>
              </a:p>
            </p:txBody>
          </p:sp>
        </p:grpSp>
        <p:grpSp>
          <p:nvGrpSpPr>
            <p:cNvPr id="121865" name="Group 15"/>
            <p:cNvGrpSpPr/>
            <p:nvPr/>
          </p:nvGrpSpPr>
          <p:grpSpPr>
            <a:xfrm>
              <a:off x="3683" y="2773"/>
              <a:ext cx="1669" cy="1334"/>
              <a:chOff x="3683" y="2773"/>
              <a:chExt cx="1669" cy="1334"/>
            </a:xfrm>
          </p:grpSpPr>
          <p:pic>
            <p:nvPicPr>
              <p:cNvPr id="121866" name="Picture 10" descr="image043"/>
              <p:cNvPicPr>
                <a:picLocks noChangeAspect="1"/>
              </p:cNvPicPr>
              <p:nvPr>
                <p:custDataLst>
                  <p:tags r:id="rId2"/>
                </p:custDataLst>
              </p:nvPr>
            </p:nvPicPr>
            <p:blipFill>
              <a:blip r:embed="rId11"/>
              <a:stretch>
                <a:fillRect/>
              </a:stretch>
            </p:blipFill>
            <p:spPr>
              <a:xfrm>
                <a:off x="3683" y="2773"/>
                <a:ext cx="1667" cy="1313"/>
              </a:xfrm>
              <a:prstGeom prst="rect">
                <a:avLst/>
              </a:prstGeom>
              <a:noFill/>
              <a:ln w="28575" cap="flat" cmpd="sng">
                <a:noFill/>
                <a:prstDash val="solid"/>
                <a:miter/>
                <a:headEnd type="none" w="med" len="med"/>
                <a:tailEnd type="none" w="med" len="med"/>
              </a:ln>
            </p:spPr>
          </p:pic>
          <p:sp>
            <p:nvSpPr>
              <p:cNvPr id="121867" name="Text Box 11"/>
              <p:cNvSpPr txBox="1"/>
              <p:nvPr>
                <p:custDataLst>
                  <p:tags r:id="rId3"/>
                </p:custDataLst>
              </p:nvPr>
            </p:nvSpPr>
            <p:spPr>
              <a:xfrm>
                <a:off x="3869" y="3845"/>
                <a:ext cx="1483" cy="262"/>
              </a:xfrm>
              <a:prstGeom prst="rect">
                <a:avLst/>
              </a:prstGeom>
              <a:solidFill>
                <a:schemeClr val="bg1"/>
              </a:solidFill>
              <a:ln w="38100">
                <a:noFill/>
              </a:ln>
            </p:spPr>
            <p:txBody>
              <a:bodyPr wrap="square">
                <a:spAutoFit/>
              </a:bodyPr>
              <a:lstStyle/>
              <a:p>
                <a:pPr lvl="0" algn="ctr" eaLnBrk="1" hangingPunct="1">
                  <a:spcBef>
                    <a:spcPct val="50000"/>
                  </a:spcBef>
                </a:pPr>
                <a:r>
                  <a:rPr lang="zh-CN" altLang="en-US" sz="1800" b="1" dirty="0">
                    <a:solidFill>
                      <a:srgbClr val="0000FF"/>
                    </a:solidFill>
                    <a:latin typeface="Times New Roman" panose="02020603050405020304" pitchFamily="18" charset="0"/>
                    <a:ea typeface="宋体" panose="02010600030101010101" pitchFamily="2" charset="-122"/>
                  </a:rPr>
                  <a:t>含</a:t>
                </a:r>
                <a:r>
                  <a:rPr lang="en-US" altLang="zh-CN" sz="1800" b="1" dirty="0">
                    <a:solidFill>
                      <a:srgbClr val="0000FF"/>
                    </a:solidFill>
                    <a:latin typeface="Times New Roman" panose="02020603050405020304" pitchFamily="18" charset="0"/>
                    <a:ea typeface="宋体" panose="02010600030101010101" pitchFamily="2" charset="-122"/>
                  </a:rPr>
                  <a:t>0.60%C</a:t>
                </a:r>
                <a:r>
                  <a:rPr lang="zh-CN" altLang="en-US" sz="1800" b="1" dirty="0">
                    <a:solidFill>
                      <a:srgbClr val="0000FF"/>
                    </a:solidFill>
                    <a:latin typeface="Times New Roman" panose="02020603050405020304" pitchFamily="18" charset="0"/>
                    <a:ea typeface="宋体" panose="02010600030101010101" pitchFamily="2" charset="-122"/>
                  </a:rPr>
                  <a:t>钢的组织</a:t>
                </a:r>
              </a:p>
            </p:txBody>
          </p:sp>
        </p:grpSp>
      </p:grpSp>
      <p:pic>
        <p:nvPicPr>
          <p:cNvPr id="16" name="内容占位符 1" descr="新校徽（3M）弓之乐"/>
          <p:cNvPicPr>
            <a:picLocks noChangeAspect="1"/>
          </p:cNvPicPr>
          <p:nvPr/>
        </p:nvPicPr>
        <p:blipFill>
          <a:blip r:embed="rId12"/>
          <a:stretch>
            <a:fillRect/>
          </a:stretch>
        </p:blipFill>
        <p:spPr>
          <a:xfrm>
            <a:off x="0" y="0"/>
            <a:ext cx="746760" cy="735965"/>
          </a:xfrm>
          <a:prstGeom prst="rect">
            <a:avLst/>
          </a:prstGeom>
          <a:noFill/>
          <a:ln w="9525">
            <a:noFill/>
          </a:ln>
        </p:spPr>
      </p:pic>
      <p:sp>
        <p:nvSpPr>
          <p:cNvPr id="3" name="Rectangle 2"/>
          <p:cNvSpPr>
            <a:spLocks noGrp="1" noChangeArrowheads="1"/>
          </p:cNvSpPr>
          <p:nvPr>
            <p:ph type="title"/>
          </p:nvPr>
        </p:nvSpPr>
        <p:spPr>
          <a:xfrm>
            <a:off x="713105" y="176157"/>
            <a:ext cx="7772400"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㈢ </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亚共析钢的结晶过程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6978">
                                            <p:txEl>
                                              <p:pRg st="0" end="0"/>
                                            </p:txEl>
                                          </p:spTgt>
                                        </p:tgtEl>
                                        <p:attrNameLst>
                                          <p:attrName>style.visibility</p:attrName>
                                        </p:attrNameLst>
                                      </p:cBhvr>
                                      <p:to>
                                        <p:strVal val="visible"/>
                                      </p:to>
                                    </p:set>
                                    <p:animEffect transition="in" filter="wipe(left)">
                                      <p:cBhvr>
                                        <p:cTn id="7" dur="500"/>
                                        <p:tgtEl>
                                          <p:spTgt spid="126978">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26978">
                                            <p:txEl>
                                              <p:pRg st="1" end="1"/>
                                            </p:txEl>
                                          </p:spTgt>
                                        </p:tgtEl>
                                        <p:attrNameLst>
                                          <p:attrName>style.visibility</p:attrName>
                                        </p:attrNameLst>
                                      </p:cBhvr>
                                      <p:to>
                                        <p:strVal val="visible"/>
                                      </p:to>
                                    </p:set>
                                    <p:animEffect transition="in" filter="wipe(left)">
                                      <p:cBhvr>
                                        <p:cTn id="11" dur="500"/>
                                        <p:tgtEl>
                                          <p:spTgt spid="126978">
                                            <p:txEl>
                                              <p:pRg st="1" end="1"/>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8" grpId="0" build="p" advAuto="100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日期占位符 3"/>
          <p:cNvSpPr txBox="1">
            <a:spLocks noGrp="1"/>
          </p:cNvSpPr>
          <p:nvPr>
            <p:ph type="dt" sz="half" idx="10"/>
          </p:nvPr>
        </p:nvSpPr>
        <p:spPr>
          <a:xfrm>
            <a:off x="0" y="6510338"/>
            <a:ext cx="2447925"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22883" name="灯片编号占位符 5"/>
          <p:cNvSpPr txBox="1">
            <a:spLocks noGrp="1"/>
          </p:cNvSpPr>
          <p:nvPr>
            <p:ph type="sldNum" sz="quarter" idx="12"/>
          </p:nvPr>
        </p:nvSpPr>
        <p:spPr>
          <a:xfrm>
            <a:off x="8623300" y="6595745"/>
            <a:ext cx="520700" cy="262255"/>
          </a:xfrm>
        </p:spPr>
        <p:txBody>
          <a:bodyPr lIns="92075" tIns="46038" rIns="92075" bIns="46038" anchor="ctr"/>
          <a:lstStyle/>
          <a:p>
            <a:pPr algn="r" eaLnBrk="1" hangingPunct="1"/>
            <a:fld id="{9A0DB2DC-4C9A-4742-B13C-FB6460FD3503}" type="slidenum">
              <a:rPr lang="en-US" altLang="zh-CN" sz="1400" dirty="0"/>
              <a:t>132</a:t>
            </a:fld>
            <a:endParaRPr lang="en-US" altLang="zh-CN" sz="1400" dirty="0"/>
          </a:p>
        </p:txBody>
      </p:sp>
      <p:sp>
        <p:nvSpPr>
          <p:cNvPr id="259074" name="Rectangle 2"/>
          <p:cNvSpPr>
            <a:spLocks noGrp="1" noChangeArrowheads="1"/>
          </p:cNvSpPr>
          <p:nvPr>
            <p:ph type="title"/>
          </p:nvPr>
        </p:nvSpPr>
        <p:spPr>
          <a:xfrm>
            <a:off x="779415" y="236764"/>
            <a:ext cx="7772400"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㈣ </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过共析钢的结晶过程</a:t>
            </a:r>
          </a:p>
        </p:txBody>
      </p:sp>
      <p:sp>
        <p:nvSpPr>
          <p:cNvPr id="122885" name="Rectangle 3"/>
          <p:cNvSpPr>
            <a:spLocks noGrp="1"/>
          </p:cNvSpPr>
          <p:nvPr>
            <p:ph idx="1"/>
          </p:nvPr>
        </p:nvSpPr>
        <p:spPr>
          <a:xfrm>
            <a:off x="179388" y="1962943"/>
            <a:ext cx="4897437" cy="4461987"/>
          </a:xfrm>
        </p:spPr>
        <p:txBody>
          <a:bodyPr vert="horz" wrap="square" lIns="91440" tIns="45720" rIns="91440" bIns="45720" anchor="t"/>
          <a:lstStyle/>
          <a:p>
            <a:pPr eaLnBrk="1" hangingPunct="1"/>
            <a:r>
              <a:rPr lang="zh-CN" altLang="en-US" sz="2800" b="1" dirty="0">
                <a:ea typeface="华文中宋" panose="02010600040101010101" pitchFamily="2" charset="-122"/>
              </a:rPr>
              <a:t>合金在</a:t>
            </a:r>
            <a:r>
              <a:rPr lang="en-US" altLang="zh-CN" sz="2800" b="1" dirty="0">
                <a:ea typeface="华文中宋" panose="02010600040101010101" pitchFamily="2" charset="-122"/>
              </a:rPr>
              <a:t>1~2</a:t>
            </a:r>
            <a:r>
              <a:rPr lang="zh-CN" altLang="en-US" sz="2800" b="1" dirty="0">
                <a:ea typeface="华文中宋" panose="02010600040101010101" pitchFamily="2" charset="-122"/>
              </a:rPr>
              <a:t>点转变为 </a:t>
            </a:r>
            <a:r>
              <a:rPr lang="zh-CN" altLang="en-US" sz="2800" b="1" i="1" dirty="0">
                <a:ea typeface="华文中宋" panose="02010600040101010101" pitchFamily="2" charset="-122"/>
                <a:sym typeface="Symbol" panose="05050102010706020507" pitchFamily="18" charset="2"/>
              </a:rPr>
              <a:t></a:t>
            </a:r>
            <a:r>
              <a:rPr lang="zh-CN" altLang="en-US" sz="2800" b="1" dirty="0">
                <a:ea typeface="华文中宋" panose="02010600040101010101" pitchFamily="2" charset="-122"/>
                <a:sym typeface="Symbol" panose="05050102010706020507" pitchFamily="18" charset="2"/>
              </a:rPr>
              <a:t> </a:t>
            </a:r>
            <a:r>
              <a:rPr lang="en-US" altLang="zh-CN" sz="2800" b="1" dirty="0">
                <a:ea typeface="华文中宋" panose="02010600040101010101" pitchFamily="2" charset="-122"/>
              </a:rPr>
              <a:t>, </a:t>
            </a:r>
            <a:r>
              <a:rPr lang="zh-CN" altLang="en-US" sz="2800" b="1" dirty="0">
                <a:ea typeface="华文中宋" panose="02010600040101010101" pitchFamily="2" charset="-122"/>
              </a:rPr>
              <a:t>到 </a:t>
            </a:r>
            <a:r>
              <a:rPr lang="en-US" altLang="zh-CN" sz="2800" b="1" dirty="0">
                <a:ea typeface="华文中宋" panose="02010600040101010101" pitchFamily="2" charset="-122"/>
              </a:rPr>
              <a:t>3 </a:t>
            </a:r>
            <a:r>
              <a:rPr lang="zh-CN" altLang="en-US" sz="2800" b="1" dirty="0">
                <a:ea typeface="华文中宋" panose="02010600040101010101" pitchFamily="2" charset="-122"/>
              </a:rPr>
              <a:t>点</a:t>
            </a:r>
            <a:r>
              <a:rPr lang="en-US" altLang="zh-CN" sz="2800" b="1" dirty="0">
                <a:ea typeface="华文中宋" panose="02010600040101010101" pitchFamily="2" charset="-122"/>
              </a:rPr>
              <a:t>, </a:t>
            </a:r>
            <a:r>
              <a:rPr lang="zh-CN" altLang="en-US" sz="2800" b="1" dirty="0">
                <a:ea typeface="华文中宋" panose="02010600040101010101" pitchFamily="2" charset="-122"/>
              </a:rPr>
              <a:t>开始析出</a:t>
            </a:r>
            <a:r>
              <a:rPr lang="en-US" altLang="zh-CN" sz="2800" b="1" dirty="0">
                <a:ea typeface="华文中宋" panose="02010600040101010101" pitchFamily="2" charset="-122"/>
              </a:rPr>
              <a:t>Fe</a:t>
            </a:r>
            <a:r>
              <a:rPr lang="en-US" altLang="zh-CN" sz="2800" b="1" baseline="-30000" dirty="0">
                <a:ea typeface="华文中宋" panose="02010600040101010101" pitchFamily="2" charset="-122"/>
              </a:rPr>
              <a:t>3</a:t>
            </a:r>
            <a:r>
              <a:rPr lang="en-US" altLang="zh-CN" sz="2800" b="1" dirty="0">
                <a:ea typeface="华文中宋" panose="02010600040101010101" pitchFamily="2" charset="-122"/>
              </a:rPr>
              <a:t>C</a:t>
            </a:r>
            <a:r>
              <a:rPr lang="zh-CN" altLang="en-US" sz="2800" b="1" dirty="0">
                <a:ea typeface="华文中宋" panose="02010600040101010101" pitchFamily="2" charset="-122"/>
              </a:rPr>
              <a:t>。从奥氏体中析出的</a:t>
            </a:r>
            <a:r>
              <a:rPr lang="en-US" altLang="zh-CN" sz="2800" b="1" dirty="0">
                <a:ea typeface="华文中宋" panose="02010600040101010101" pitchFamily="2" charset="-122"/>
              </a:rPr>
              <a:t>Fe</a:t>
            </a:r>
            <a:r>
              <a:rPr lang="en-US" altLang="zh-CN" sz="2800" b="1" baseline="-30000" dirty="0">
                <a:ea typeface="华文中宋" panose="02010600040101010101" pitchFamily="2" charset="-122"/>
              </a:rPr>
              <a:t>3</a:t>
            </a:r>
            <a:r>
              <a:rPr lang="en-US" altLang="zh-CN" sz="2800" b="1" dirty="0">
                <a:ea typeface="华文中宋" panose="02010600040101010101" pitchFamily="2" charset="-122"/>
              </a:rPr>
              <a:t>C</a:t>
            </a:r>
            <a:r>
              <a:rPr lang="zh-CN" altLang="en-US" sz="2800" b="1" dirty="0">
                <a:ea typeface="华文中宋" panose="02010600040101010101" pitchFamily="2" charset="-122"/>
              </a:rPr>
              <a:t>称</a:t>
            </a:r>
            <a:r>
              <a:rPr lang="zh-CN" altLang="en-US" sz="2800" b="1" dirty="0">
                <a:solidFill>
                  <a:srgbClr val="0000FF"/>
                </a:solidFill>
                <a:ea typeface="华文中宋" panose="02010600040101010101" pitchFamily="2" charset="-122"/>
              </a:rPr>
              <a:t>二次渗碳体</a:t>
            </a:r>
            <a:r>
              <a:rPr lang="zh-CN" altLang="en-US" sz="2800" b="1" dirty="0">
                <a:ea typeface="华文中宋" panose="02010600040101010101" pitchFamily="2" charset="-122"/>
              </a:rPr>
              <a:t>，用</a:t>
            </a:r>
            <a:r>
              <a:rPr lang="en-US" altLang="zh-CN" sz="2800" b="1" dirty="0">
                <a:solidFill>
                  <a:srgbClr val="0000FF"/>
                </a:solidFill>
                <a:ea typeface="华文中宋" panose="02010600040101010101" pitchFamily="2" charset="-122"/>
              </a:rPr>
              <a:t>Fe</a:t>
            </a:r>
            <a:r>
              <a:rPr lang="en-US" altLang="zh-CN" sz="2800" b="1" baseline="-30000" dirty="0">
                <a:solidFill>
                  <a:srgbClr val="0000FF"/>
                </a:solidFill>
                <a:ea typeface="华文中宋" panose="02010600040101010101" pitchFamily="2" charset="-122"/>
              </a:rPr>
              <a:t>3</a:t>
            </a:r>
            <a:r>
              <a:rPr lang="en-US" altLang="zh-CN" sz="2800" b="1" dirty="0">
                <a:solidFill>
                  <a:srgbClr val="0000FF"/>
                </a:solidFill>
                <a:ea typeface="华文中宋" panose="02010600040101010101" pitchFamily="2" charset="-122"/>
              </a:rPr>
              <a:t>C</a:t>
            </a:r>
            <a:r>
              <a:rPr lang="en-US" altLang="zh-CN" sz="2800" b="1" baseline="-30000" dirty="0">
                <a:solidFill>
                  <a:srgbClr val="0000FF"/>
                </a:solidFill>
                <a:ea typeface="华文中宋" panose="02010600040101010101" pitchFamily="2" charset="-122"/>
              </a:rPr>
              <a:t>Ⅱ</a:t>
            </a:r>
            <a:r>
              <a:rPr lang="zh-CN" altLang="en-US" sz="2800" b="1" dirty="0">
                <a:ea typeface="华文中宋" panose="02010600040101010101" pitchFamily="2" charset="-122"/>
              </a:rPr>
              <a:t>表示，</a:t>
            </a:r>
            <a:r>
              <a:rPr lang="zh-CN" altLang="en-US" b="1" dirty="0"/>
              <a:t>其沿晶界呈网状分布</a:t>
            </a:r>
            <a:r>
              <a:rPr lang="en-US" altLang="zh-CN" b="1" dirty="0"/>
              <a:t>.</a:t>
            </a:r>
          </a:p>
          <a:p>
            <a:pPr eaLnBrk="1" hangingPunct="1"/>
            <a:r>
              <a:rPr lang="zh-CN" altLang="en-US" b="1" dirty="0"/>
              <a:t>温度下降</a:t>
            </a:r>
            <a:r>
              <a:rPr lang="en-US" altLang="zh-CN" b="1" dirty="0"/>
              <a:t>, Fe</a:t>
            </a:r>
            <a:r>
              <a:rPr lang="en-US" altLang="zh-CN" b="1" baseline="-25000" dirty="0"/>
              <a:t>3</a:t>
            </a:r>
            <a:r>
              <a:rPr lang="en-US" altLang="zh-CN" b="1" dirty="0"/>
              <a:t>C</a:t>
            </a:r>
            <a:r>
              <a:rPr lang="en-US" altLang="zh-CN" sz="2800" b="1" baseline="-30000" dirty="0">
                <a:ea typeface="华文中宋" panose="02010600040101010101" pitchFamily="2" charset="-122"/>
              </a:rPr>
              <a:t>Ⅱ</a:t>
            </a:r>
            <a:r>
              <a:rPr lang="zh-CN" altLang="en-US" b="1" dirty="0"/>
              <a:t>量增加。到</a:t>
            </a:r>
            <a:r>
              <a:rPr lang="en-US" altLang="zh-CN" b="1" dirty="0"/>
              <a:t>4</a:t>
            </a:r>
            <a:r>
              <a:rPr lang="zh-CN" altLang="en-US" b="1" dirty="0"/>
              <a:t>点， </a:t>
            </a:r>
            <a:r>
              <a:rPr lang="zh-CN" altLang="en-US" b="1" i="1" dirty="0">
                <a:sym typeface="Symbol" panose="05050102010706020507" pitchFamily="18" charset="2"/>
              </a:rPr>
              <a:t></a:t>
            </a:r>
            <a:r>
              <a:rPr lang="zh-CN" altLang="en-US" b="1" dirty="0">
                <a:sym typeface="Symbol" panose="05050102010706020507" pitchFamily="18" charset="2"/>
              </a:rPr>
              <a:t> </a:t>
            </a:r>
            <a:r>
              <a:rPr lang="zh-CN" altLang="en-US" b="1" dirty="0"/>
              <a:t>成分沿</a:t>
            </a:r>
            <a:r>
              <a:rPr lang="en-US" altLang="zh-CN" b="1" dirty="0"/>
              <a:t>ES</a:t>
            </a:r>
            <a:r>
              <a:rPr lang="zh-CN" altLang="en-US" b="1" dirty="0"/>
              <a:t>线变化到</a:t>
            </a:r>
            <a:r>
              <a:rPr lang="en-US" altLang="zh-CN" b="1" dirty="0"/>
              <a:t>S</a:t>
            </a:r>
            <a:r>
              <a:rPr lang="zh-CN" altLang="en-US" b="1" dirty="0"/>
              <a:t>点，余下的</a:t>
            </a:r>
            <a:r>
              <a:rPr lang="zh-CN" altLang="en-US" b="1" i="1" dirty="0">
                <a:sym typeface="Symbol" panose="05050102010706020507" pitchFamily="18" charset="2"/>
              </a:rPr>
              <a:t> </a:t>
            </a:r>
            <a:r>
              <a:rPr lang="zh-CN" altLang="en-US" b="1" dirty="0"/>
              <a:t>转变为</a:t>
            </a:r>
            <a:r>
              <a:rPr lang="en-US" altLang="zh-CN" b="1" dirty="0"/>
              <a:t>P</a:t>
            </a:r>
            <a:r>
              <a:rPr lang="zh-CN" altLang="en-US" b="1" dirty="0"/>
              <a:t>。</a:t>
            </a:r>
          </a:p>
        </p:txBody>
      </p:sp>
      <p:grpSp>
        <p:nvGrpSpPr>
          <p:cNvPr id="2" name="Group 4"/>
          <p:cNvGrpSpPr/>
          <p:nvPr/>
        </p:nvGrpSpPr>
        <p:grpSpPr>
          <a:xfrm>
            <a:off x="5364211" y="1917333"/>
            <a:ext cx="3578547" cy="2932112"/>
            <a:chOff x="2256" y="1584"/>
            <a:chExt cx="3060" cy="2156"/>
          </a:xfrm>
        </p:grpSpPr>
        <p:pic>
          <p:nvPicPr>
            <p:cNvPr id="122889" name="Picture 5" descr="Fe-C过共析结晶过程"/>
            <p:cNvPicPr>
              <a:picLocks noChangeAspect="1"/>
            </p:cNvPicPr>
            <p:nvPr/>
          </p:nvPicPr>
          <p:blipFill>
            <a:blip r:embed="rId2"/>
            <a:stretch>
              <a:fillRect/>
            </a:stretch>
          </p:blipFill>
          <p:spPr>
            <a:xfrm>
              <a:off x="2256" y="1584"/>
              <a:ext cx="3060" cy="2156"/>
            </a:xfrm>
            <a:prstGeom prst="rect">
              <a:avLst/>
            </a:prstGeom>
            <a:noFill/>
            <a:ln w="28575" cap="flat" cmpd="sng">
              <a:solidFill>
                <a:srgbClr val="FF00FF"/>
              </a:solidFill>
              <a:prstDash val="solid"/>
              <a:miter/>
              <a:headEnd type="none" w="med" len="med"/>
              <a:tailEnd type="none" w="med" len="med"/>
            </a:ln>
          </p:spPr>
        </p:pic>
        <p:sp>
          <p:nvSpPr>
            <p:cNvPr id="122890" name="Oval 6"/>
            <p:cNvSpPr/>
            <p:nvPr/>
          </p:nvSpPr>
          <p:spPr>
            <a:xfrm>
              <a:off x="2448" y="1728"/>
              <a:ext cx="260" cy="406"/>
            </a:xfrm>
            <a:prstGeom prst="ellipse">
              <a:avLst/>
            </a:prstGeom>
            <a:solidFill>
              <a:schemeClr val="bg1"/>
            </a:solidFill>
            <a:ln w="9525">
              <a:noFill/>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grpSp>
      <p:sp>
        <p:nvSpPr>
          <p:cNvPr id="259079" name="Text Box 7"/>
          <p:cNvSpPr txBox="1"/>
          <p:nvPr/>
        </p:nvSpPr>
        <p:spPr>
          <a:xfrm>
            <a:off x="4860290" y="5013325"/>
            <a:ext cx="4260850" cy="460375"/>
          </a:xfrm>
          <a:prstGeom prst="rect">
            <a:avLst/>
          </a:prstGeom>
          <a:noFill/>
          <a:ln w="9525" cap="flat" cmpd="sng">
            <a:solidFill>
              <a:schemeClr val="tx1"/>
            </a:solidFill>
            <a:prstDash val="solid"/>
            <a:miter/>
            <a:headEnd type="none" w="med" len="med"/>
            <a:tailEnd type="none" w="med" len="med"/>
          </a:ln>
        </p:spPr>
        <p:txBody>
          <a:bodyPr wrap="square">
            <a:spAutoFit/>
          </a:bodyPr>
          <a:lstStyle/>
          <a:p>
            <a:pPr lvl="0" eaLnBrk="1" hangingPunct="1">
              <a:spcBef>
                <a:spcPct val="50000"/>
              </a:spcBef>
            </a:pPr>
            <a:r>
              <a:rPr lang="zh-CN" altLang="en-US" sz="2400" b="1" dirty="0">
                <a:solidFill>
                  <a:srgbClr val="FF0000"/>
                </a:solidFill>
                <a:latin typeface="Times New Roman" panose="02020603050405020304" pitchFamily="18" charset="0"/>
                <a:ea typeface="华文中宋" panose="02010600040101010101" pitchFamily="2" charset="-122"/>
              </a:rPr>
              <a:t>在共析温度下</a:t>
            </a:r>
            <a:r>
              <a:rPr lang="en-US" altLang="zh-CN" sz="2400" b="1" dirty="0">
                <a:solidFill>
                  <a:srgbClr val="FF0000"/>
                </a:solidFill>
                <a:latin typeface="Times New Roman" panose="02020603050405020304" pitchFamily="18" charset="0"/>
                <a:ea typeface="华文中宋" panose="02010600040101010101" pitchFamily="2" charset="-122"/>
              </a:rPr>
              <a:t>Fe</a:t>
            </a:r>
            <a:r>
              <a:rPr lang="en-US" altLang="zh-CN" sz="2400" b="1" baseline="-25000" dirty="0">
                <a:solidFill>
                  <a:srgbClr val="FF0000"/>
                </a:solidFill>
                <a:latin typeface="Times New Roman" panose="02020603050405020304" pitchFamily="18" charset="0"/>
                <a:ea typeface="华文中宋" panose="02010600040101010101" pitchFamily="2" charset="-122"/>
              </a:rPr>
              <a:t>3</a:t>
            </a:r>
            <a:r>
              <a:rPr lang="en-US" altLang="zh-CN" sz="2400" b="1" dirty="0">
                <a:solidFill>
                  <a:srgbClr val="FF0000"/>
                </a:solidFill>
                <a:latin typeface="Times New Roman" panose="02020603050405020304" pitchFamily="18" charset="0"/>
                <a:ea typeface="华文中宋" panose="02010600040101010101" pitchFamily="2" charset="-122"/>
              </a:rPr>
              <a:t>C</a:t>
            </a:r>
            <a:r>
              <a:rPr lang="en-US" altLang="zh-CN" sz="2400" b="1" baseline="-25000" dirty="0">
                <a:solidFill>
                  <a:srgbClr val="FF0000"/>
                </a:solidFill>
                <a:latin typeface="Times New Roman" panose="02020603050405020304" pitchFamily="18" charset="0"/>
                <a:ea typeface="华文中宋" panose="02010600040101010101" pitchFamily="2" charset="-122"/>
              </a:rPr>
              <a:t>Ⅱ</a:t>
            </a:r>
            <a:r>
              <a:rPr lang="zh-CN" altLang="en-US" sz="2400" b="1" dirty="0">
                <a:solidFill>
                  <a:srgbClr val="FF0000"/>
                </a:solidFill>
                <a:latin typeface="Times New Roman" panose="02020603050405020304" pitchFamily="18" charset="0"/>
                <a:ea typeface="华文中宋" panose="02010600040101010101" pitchFamily="2" charset="-122"/>
              </a:rPr>
              <a:t>的相对量？</a:t>
            </a:r>
          </a:p>
        </p:txBody>
      </p:sp>
      <p:pic>
        <p:nvPicPr>
          <p:cNvPr id="11" name="内容占位符 1" descr="新校徽（3M）弓之乐"/>
          <p:cNvPicPr>
            <a:picLocks noChangeAspect="1"/>
          </p:cNvPicPr>
          <p:nvPr/>
        </p:nvPicPr>
        <p:blipFill>
          <a:blip r:embed="rId3"/>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9079"/>
                                        </p:tgtEl>
                                        <p:attrNameLst>
                                          <p:attrName>style.visibility</p:attrName>
                                        </p:attrNameLst>
                                      </p:cBhvr>
                                      <p:to>
                                        <p:strVal val="visible"/>
                                      </p:to>
                                    </p:set>
                                    <p:animEffect transition="in" filter="wipe(left)">
                                      <p:cBhvr>
                                        <p:cTn id="12" dur="500"/>
                                        <p:tgtEl>
                                          <p:spTgt spid="2590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9079" grpId="0" bldLvl="0"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日期占位符 3"/>
          <p:cNvSpPr txBox="1">
            <a:spLocks noGrp="1"/>
          </p:cNvSpPr>
          <p:nvPr>
            <p:ph type="dt" sz="half" idx="10"/>
          </p:nvPr>
        </p:nvSpPr>
        <p:spPr>
          <a:xfrm>
            <a:off x="0" y="6510338"/>
            <a:ext cx="2376488"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23907" name="灯片编号占位符 5"/>
          <p:cNvSpPr txBox="1">
            <a:spLocks noGrp="1"/>
          </p:cNvSpPr>
          <p:nvPr>
            <p:ph type="sldNum" sz="quarter" idx="12"/>
          </p:nvPr>
        </p:nvSpPr>
        <p:spPr>
          <a:xfrm>
            <a:off x="8456930" y="6541770"/>
            <a:ext cx="683260" cy="316230"/>
          </a:xfrm>
        </p:spPr>
        <p:txBody>
          <a:bodyPr lIns="92075" tIns="46038" rIns="92075" bIns="46038" anchor="ctr"/>
          <a:lstStyle/>
          <a:p>
            <a:pPr algn="r" eaLnBrk="1" hangingPunct="1"/>
            <a:fld id="{9A0DB2DC-4C9A-4742-B13C-FB6460FD3503}" type="slidenum">
              <a:rPr lang="en-US" altLang="zh-CN" sz="1400" dirty="0"/>
              <a:t>133</a:t>
            </a:fld>
            <a:endParaRPr lang="en-US" altLang="zh-CN" sz="1400" dirty="0"/>
          </a:p>
        </p:txBody>
      </p:sp>
      <p:sp>
        <p:nvSpPr>
          <p:cNvPr id="259074" name="Rectangle 2"/>
          <p:cNvSpPr>
            <a:spLocks noGrp="1" noChangeArrowheads="1"/>
          </p:cNvSpPr>
          <p:nvPr>
            <p:ph type="title"/>
          </p:nvPr>
        </p:nvSpPr>
        <p:spPr>
          <a:xfrm>
            <a:off x="1259632" y="388343"/>
            <a:ext cx="6742113" cy="928688"/>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过共析钢的结晶过程</a:t>
            </a:r>
          </a:p>
        </p:txBody>
      </p:sp>
      <p:grpSp>
        <p:nvGrpSpPr>
          <p:cNvPr id="2" name="Group 4"/>
          <p:cNvGrpSpPr/>
          <p:nvPr/>
        </p:nvGrpSpPr>
        <p:grpSpPr>
          <a:xfrm>
            <a:off x="395605" y="2441118"/>
            <a:ext cx="3061543" cy="2944912"/>
            <a:chOff x="2256" y="1584"/>
            <a:chExt cx="3060" cy="2156"/>
          </a:xfrm>
        </p:grpSpPr>
        <p:pic>
          <p:nvPicPr>
            <p:cNvPr id="123915" name="Picture 5" descr="Fe-C过共析结晶过程"/>
            <p:cNvPicPr>
              <a:picLocks noChangeAspect="1"/>
            </p:cNvPicPr>
            <p:nvPr/>
          </p:nvPicPr>
          <p:blipFill>
            <a:blip r:embed="rId2"/>
            <a:stretch>
              <a:fillRect/>
            </a:stretch>
          </p:blipFill>
          <p:spPr>
            <a:xfrm>
              <a:off x="2256" y="1584"/>
              <a:ext cx="3060" cy="2156"/>
            </a:xfrm>
            <a:prstGeom prst="rect">
              <a:avLst/>
            </a:prstGeom>
            <a:noFill/>
            <a:ln w="28575" cap="flat" cmpd="sng">
              <a:noFill/>
              <a:prstDash val="solid"/>
              <a:miter/>
              <a:headEnd type="none" w="med" len="med"/>
              <a:tailEnd type="none" w="med" len="med"/>
            </a:ln>
          </p:spPr>
        </p:pic>
        <p:sp>
          <p:nvSpPr>
            <p:cNvPr id="123916" name="Oval 6"/>
            <p:cNvSpPr/>
            <p:nvPr/>
          </p:nvSpPr>
          <p:spPr>
            <a:xfrm>
              <a:off x="2448" y="1728"/>
              <a:ext cx="260" cy="406"/>
            </a:xfrm>
            <a:prstGeom prst="ellipse">
              <a:avLst/>
            </a:prstGeom>
            <a:solidFill>
              <a:schemeClr val="bg1"/>
            </a:solidFill>
            <a:ln w="9525">
              <a:noFill/>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grpSp>
      <p:pic>
        <p:nvPicPr>
          <p:cNvPr id="123912" name="Picture 8" descr="工程材料fig3-37"/>
          <p:cNvPicPr>
            <a:picLocks noChangeAspect="1"/>
          </p:cNvPicPr>
          <p:nvPr/>
        </p:nvPicPr>
        <p:blipFill>
          <a:blip r:embed="rId3"/>
          <a:stretch>
            <a:fillRect/>
          </a:stretch>
        </p:blipFill>
        <p:spPr>
          <a:xfrm>
            <a:off x="3564255" y="2061210"/>
            <a:ext cx="2903855" cy="3447415"/>
          </a:xfrm>
          <a:prstGeom prst="rect">
            <a:avLst/>
          </a:prstGeom>
          <a:noFill/>
          <a:ln w="9525">
            <a:noFill/>
          </a:ln>
        </p:spPr>
      </p:pic>
      <p:pic>
        <p:nvPicPr>
          <p:cNvPr id="123913" name="Picture 9" descr="工程材料fig3-38"/>
          <p:cNvPicPr>
            <a:picLocks noChangeAspect="1"/>
          </p:cNvPicPr>
          <p:nvPr/>
        </p:nvPicPr>
        <p:blipFill>
          <a:blip r:embed="rId4"/>
          <a:stretch>
            <a:fillRect/>
          </a:stretch>
        </p:blipFill>
        <p:spPr>
          <a:xfrm>
            <a:off x="6732090" y="2132980"/>
            <a:ext cx="2222362" cy="3439269"/>
          </a:xfrm>
          <a:prstGeom prst="rect">
            <a:avLst/>
          </a:prstGeom>
          <a:noFill/>
          <a:ln w="9525">
            <a:noFill/>
          </a:ln>
        </p:spPr>
      </p:pic>
      <p:pic>
        <p:nvPicPr>
          <p:cNvPr id="13" name="内容占位符 1" descr="新校徽（3M）弓之乐"/>
          <p:cNvPicPr>
            <a:picLocks noChangeAspect="1"/>
          </p:cNvPicPr>
          <p:nvPr/>
        </p:nvPicPr>
        <p:blipFill>
          <a:blip r:embed="rId5"/>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日期占位符 3"/>
          <p:cNvSpPr txBox="1">
            <a:spLocks noGrp="1"/>
          </p:cNvSpPr>
          <p:nvPr>
            <p:ph type="dt" sz="half" idx="10"/>
          </p:nvPr>
        </p:nvSpPr>
        <p:spPr>
          <a:xfrm>
            <a:off x="0" y="6438900"/>
            <a:ext cx="2162175" cy="419100"/>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3316" name="灯片编号占位符 5"/>
          <p:cNvSpPr txBox="1">
            <a:spLocks noGrp="1"/>
          </p:cNvSpPr>
          <p:nvPr>
            <p:ph type="sldNum" sz="quarter" idx="12"/>
          </p:nvPr>
        </p:nvSpPr>
        <p:spPr>
          <a:xfrm>
            <a:off x="8559165" y="6590665"/>
            <a:ext cx="584835" cy="267335"/>
          </a:xfrm>
        </p:spPr>
        <p:txBody>
          <a:bodyPr lIns="92075" tIns="46038" rIns="92075" bIns="46038" anchor="ctr"/>
          <a:lstStyle/>
          <a:p>
            <a:pPr algn="r" eaLnBrk="1" hangingPunct="1"/>
            <a:fld id="{9A0DB2DC-4C9A-4742-B13C-FB6460FD3503}" type="slidenum">
              <a:rPr lang="en-US" altLang="zh-CN" sz="1400" dirty="0"/>
              <a:t>134</a:t>
            </a:fld>
            <a:endParaRPr lang="en-US" altLang="zh-CN" sz="1400" dirty="0"/>
          </a:p>
        </p:txBody>
      </p:sp>
      <p:sp>
        <p:nvSpPr>
          <p:cNvPr id="129026" name="Rectangle 2"/>
          <p:cNvSpPr>
            <a:spLocks noGrp="1"/>
          </p:cNvSpPr>
          <p:nvPr>
            <p:ph idx="1"/>
          </p:nvPr>
        </p:nvSpPr>
        <p:spPr>
          <a:xfrm>
            <a:off x="762000" y="1844823"/>
            <a:ext cx="8382000" cy="1295251"/>
          </a:xfrm>
        </p:spPr>
        <p:txBody>
          <a:bodyPr vert="horz" wrap="square" lIns="91440" tIns="45720" rIns="91440" bIns="45720" anchor="t"/>
          <a:lstStyle/>
          <a:p>
            <a:pPr eaLnBrk="1" hangingPunct="1">
              <a:lnSpc>
                <a:spcPct val="140000"/>
              </a:lnSpc>
            </a:pPr>
            <a:r>
              <a:rPr lang="zh-CN" altLang="en-US" b="1" dirty="0">
                <a:solidFill>
                  <a:schemeClr val="tx2"/>
                </a:solidFill>
                <a:ea typeface="华文中宋" panose="02010600040101010101" pitchFamily="2" charset="-122"/>
              </a:rPr>
              <a:t>过共析钢</a:t>
            </a:r>
            <a:r>
              <a:rPr lang="zh-CN" altLang="en-US" b="1" dirty="0">
                <a:solidFill>
                  <a:schemeClr val="folHlink"/>
                </a:solidFill>
                <a:ea typeface="华文中宋" panose="02010600040101010101" pitchFamily="2" charset="-122"/>
              </a:rPr>
              <a:t>室温组织为</a:t>
            </a:r>
            <a:r>
              <a:rPr lang="en-US" altLang="zh-CN" b="1" dirty="0">
                <a:solidFill>
                  <a:schemeClr val="folHlink"/>
                </a:solidFill>
                <a:ea typeface="华文中宋" panose="02010600040101010101" pitchFamily="2" charset="-122"/>
              </a:rPr>
              <a:t>P+ Fe</a:t>
            </a:r>
            <a:r>
              <a:rPr lang="en-US" altLang="zh-CN" b="1" baseline="-30000" dirty="0">
                <a:solidFill>
                  <a:schemeClr val="folHlink"/>
                </a:solidFill>
                <a:ea typeface="华文中宋" panose="02010600040101010101" pitchFamily="2" charset="-122"/>
              </a:rPr>
              <a:t>3</a:t>
            </a:r>
            <a:r>
              <a:rPr lang="en-US" altLang="zh-CN" b="1" dirty="0">
                <a:solidFill>
                  <a:schemeClr val="folHlink"/>
                </a:solidFill>
                <a:ea typeface="华文中宋" panose="02010600040101010101" pitchFamily="2" charset="-122"/>
              </a:rPr>
              <a:t>C</a:t>
            </a:r>
            <a:r>
              <a:rPr lang="en-US" altLang="zh-CN" b="1" baseline="-30000" dirty="0">
                <a:solidFill>
                  <a:schemeClr val="folHlink"/>
                </a:solidFill>
                <a:ea typeface="华文中宋" panose="02010600040101010101" pitchFamily="2" charset="-122"/>
              </a:rPr>
              <a:t> Ⅱ</a:t>
            </a:r>
            <a:r>
              <a:rPr lang="zh-CN" altLang="en-US" b="1" dirty="0">
                <a:ea typeface="华文中宋" panose="02010600040101010101" pitchFamily="2" charset="-122"/>
              </a:rPr>
              <a:t>。</a:t>
            </a:r>
          </a:p>
          <a:p>
            <a:pPr eaLnBrk="1" hangingPunct="1">
              <a:lnSpc>
                <a:spcPct val="140000"/>
              </a:lnSpc>
            </a:pPr>
            <a:r>
              <a:rPr lang="en-US" altLang="zh-CN" b="1" dirty="0">
                <a:solidFill>
                  <a:schemeClr val="folHlink"/>
                </a:solidFill>
                <a:ea typeface="华文中宋" panose="02010600040101010101" pitchFamily="2" charset="-122"/>
              </a:rPr>
              <a:t>Fe</a:t>
            </a:r>
            <a:r>
              <a:rPr lang="en-US" altLang="zh-CN" b="1" baseline="-30000" dirty="0">
                <a:solidFill>
                  <a:schemeClr val="folHlink"/>
                </a:solidFill>
                <a:ea typeface="华文中宋" panose="02010600040101010101" pitchFamily="2" charset="-122"/>
              </a:rPr>
              <a:t>3</a:t>
            </a:r>
            <a:r>
              <a:rPr lang="en-US" altLang="zh-CN" b="1" dirty="0">
                <a:solidFill>
                  <a:schemeClr val="folHlink"/>
                </a:solidFill>
                <a:ea typeface="华文中宋" panose="02010600040101010101" pitchFamily="2" charset="-122"/>
              </a:rPr>
              <a:t>C</a:t>
            </a:r>
            <a:r>
              <a:rPr lang="en-US" altLang="zh-CN" b="1" baseline="-30000" dirty="0">
                <a:solidFill>
                  <a:schemeClr val="folHlink"/>
                </a:solidFill>
                <a:ea typeface="华文中宋" panose="02010600040101010101" pitchFamily="2" charset="-122"/>
              </a:rPr>
              <a:t>Ⅱ</a:t>
            </a:r>
            <a:r>
              <a:rPr lang="zh-CN" altLang="en-US" b="1" dirty="0">
                <a:ea typeface="华文中宋" panose="02010600040101010101" pitchFamily="2" charset="-122"/>
              </a:rPr>
              <a:t>量随含碳量而增加</a:t>
            </a:r>
            <a:r>
              <a:rPr lang="en-US" altLang="zh-CN" b="1" dirty="0">
                <a:ea typeface="华文中宋" panose="02010600040101010101" pitchFamily="2" charset="-122"/>
              </a:rPr>
              <a:t>,  </a:t>
            </a:r>
            <a:r>
              <a:rPr lang="zh-CN" altLang="en-US" b="1" dirty="0">
                <a:ea typeface="华文中宋" panose="02010600040101010101" pitchFamily="2" charset="-122"/>
              </a:rPr>
              <a:t>含碳量为</a:t>
            </a:r>
            <a:r>
              <a:rPr lang="en-US" altLang="zh-CN" b="1" dirty="0">
                <a:solidFill>
                  <a:schemeClr val="folHlink"/>
                </a:solidFill>
                <a:ea typeface="华文中宋" panose="02010600040101010101" pitchFamily="2" charset="-122"/>
              </a:rPr>
              <a:t>2.11%</a:t>
            </a:r>
            <a:r>
              <a:rPr lang="zh-CN" altLang="en-US" b="1" dirty="0">
                <a:ea typeface="华文中宋" panose="02010600040101010101" pitchFamily="2" charset="-122"/>
              </a:rPr>
              <a:t>时</a:t>
            </a:r>
            <a:r>
              <a:rPr lang="en-US" altLang="zh-CN" b="1" dirty="0">
                <a:ea typeface="华文中宋" panose="02010600040101010101" pitchFamily="2" charset="-122"/>
              </a:rPr>
              <a:t>, </a:t>
            </a:r>
            <a:r>
              <a:rPr lang="en-US" altLang="zh-CN" b="1" dirty="0">
                <a:solidFill>
                  <a:schemeClr val="folHlink"/>
                </a:solidFill>
                <a:ea typeface="华文中宋" panose="02010600040101010101" pitchFamily="2" charset="-122"/>
              </a:rPr>
              <a:t>Fe</a:t>
            </a:r>
            <a:r>
              <a:rPr lang="en-US" altLang="zh-CN" b="1" baseline="-30000" dirty="0">
                <a:solidFill>
                  <a:schemeClr val="folHlink"/>
                </a:solidFill>
                <a:ea typeface="华文中宋" panose="02010600040101010101" pitchFamily="2" charset="-122"/>
              </a:rPr>
              <a:t>3</a:t>
            </a:r>
            <a:r>
              <a:rPr lang="en-US" altLang="zh-CN" b="1" dirty="0">
                <a:solidFill>
                  <a:schemeClr val="folHlink"/>
                </a:solidFill>
                <a:ea typeface="华文中宋" panose="02010600040101010101" pitchFamily="2" charset="-122"/>
              </a:rPr>
              <a:t>C</a:t>
            </a:r>
            <a:r>
              <a:rPr lang="en-US" altLang="zh-CN" b="1" baseline="-30000" dirty="0">
                <a:solidFill>
                  <a:schemeClr val="folHlink"/>
                </a:solidFill>
                <a:ea typeface="华文中宋" panose="02010600040101010101" pitchFamily="2" charset="-122"/>
              </a:rPr>
              <a:t>Ⅱ</a:t>
            </a:r>
            <a:r>
              <a:rPr lang="zh-CN" altLang="en-US" b="1" dirty="0">
                <a:ea typeface="华文中宋" panose="02010600040101010101" pitchFamily="2" charset="-122"/>
              </a:rPr>
              <a:t>量最大：</a:t>
            </a:r>
          </a:p>
        </p:txBody>
      </p:sp>
      <p:graphicFrame>
        <p:nvGraphicFramePr>
          <p:cNvPr id="129027" name="Object 3"/>
          <p:cNvGraphicFramePr/>
          <p:nvPr/>
        </p:nvGraphicFramePr>
        <p:xfrm>
          <a:off x="179512" y="4443149"/>
          <a:ext cx="5402262" cy="828675"/>
        </p:xfrm>
        <a:graphic>
          <a:graphicData uri="http://schemas.openxmlformats.org/presentationml/2006/ole">
            <mc:AlternateContent xmlns:mc="http://schemas.openxmlformats.org/markup-compatibility/2006">
              <mc:Choice xmlns:v="urn:schemas-microsoft-com:vml" Requires="v">
                <p:oleObj r:id="rId2" imgW="4876800" imgH="749300" progId="Equation.3">
                  <p:embed/>
                </p:oleObj>
              </mc:Choice>
              <mc:Fallback>
                <p:oleObj r:id="rId2" imgW="4876800" imgH="749300" progId="Equation.3">
                  <p:embed/>
                  <p:pic>
                    <p:nvPicPr>
                      <p:cNvPr id="0" name="Object 3"/>
                      <p:cNvPicPr/>
                      <p:nvPr/>
                    </p:nvPicPr>
                    <p:blipFill>
                      <a:blip r:embed="rId3">
                        <a:clrChange>
                          <a:clrFrom>
                            <a:srgbClr val="000000"/>
                          </a:clrFrom>
                          <a:clrTo>
                            <a:srgbClr val="FFFF00"/>
                          </a:clrTo>
                        </a:clrChange>
                      </a:blip>
                      <a:stretch>
                        <a:fillRect/>
                      </a:stretch>
                    </p:blipFill>
                    <p:spPr>
                      <a:xfrm>
                        <a:off x="179512" y="4443149"/>
                        <a:ext cx="5402262" cy="828675"/>
                      </a:xfrm>
                      <a:prstGeom prst="rect">
                        <a:avLst/>
                      </a:prstGeom>
                      <a:solidFill>
                        <a:srgbClr val="CCECFF"/>
                      </a:solidFill>
                      <a:ln w="38100">
                        <a:noFill/>
                        <a:miter/>
                      </a:ln>
                    </p:spPr>
                  </p:pic>
                </p:oleObj>
              </mc:Fallback>
            </mc:AlternateContent>
          </a:graphicData>
        </a:graphic>
      </p:graphicFrame>
      <p:grpSp>
        <p:nvGrpSpPr>
          <p:cNvPr id="13318" name="Group 14"/>
          <p:cNvGrpSpPr/>
          <p:nvPr/>
        </p:nvGrpSpPr>
        <p:grpSpPr>
          <a:xfrm>
            <a:off x="5940554" y="3861729"/>
            <a:ext cx="2765931" cy="2289227"/>
            <a:chOff x="3073" y="2078"/>
            <a:chExt cx="2317" cy="2009"/>
          </a:xfrm>
        </p:grpSpPr>
        <p:pic>
          <p:nvPicPr>
            <p:cNvPr id="13320" name="Picture 5" descr="过共析钢组织"/>
            <p:cNvPicPr>
              <a:picLocks noChangeAspect="1"/>
            </p:cNvPicPr>
            <p:nvPr/>
          </p:nvPicPr>
          <p:blipFill>
            <a:blip r:embed="rId4"/>
            <a:stretch>
              <a:fillRect/>
            </a:stretch>
          </p:blipFill>
          <p:spPr>
            <a:xfrm>
              <a:off x="3073" y="2078"/>
              <a:ext cx="2317" cy="1928"/>
            </a:xfrm>
            <a:prstGeom prst="rect">
              <a:avLst/>
            </a:prstGeom>
            <a:noFill/>
            <a:ln w="38100" cap="flat" cmpd="sng">
              <a:noFill/>
              <a:prstDash val="solid"/>
              <a:miter/>
              <a:headEnd type="none" w="med" len="med"/>
              <a:tailEnd type="none" w="med" len="med"/>
            </a:ln>
          </p:spPr>
        </p:pic>
        <p:sp>
          <p:nvSpPr>
            <p:cNvPr id="13321" name="Text Box 6"/>
            <p:cNvSpPr txBox="1"/>
            <p:nvPr/>
          </p:nvSpPr>
          <p:spPr>
            <a:xfrm>
              <a:off x="3676" y="3763"/>
              <a:ext cx="1713" cy="324"/>
            </a:xfrm>
            <a:prstGeom prst="rect">
              <a:avLst/>
            </a:prstGeom>
            <a:solidFill>
              <a:schemeClr val="bg1"/>
            </a:solidFill>
            <a:ln w="9525">
              <a:noFill/>
            </a:ln>
          </p:spPr>
          <p:txBody>
            <a:bodyPr wrap="square">
              <a:spAutoFit/>
            </a:bodyPr>
            <a:lstStyle/>
            <a:p>
              <a:pPr lvl="0" algn="ctr" eaLnBrk="1" hangingPunct="1">
                <a:spcBef>
                  <a:spcPct val="50000"/>
                </a:spcBef>
              </a:pPr>
              <a:r>
                <a:rPr lang="zh-CN" altLang="en-US" sz="1800" b="1" dirty="0">
                  <a:solidFill>
                    <a:srgbClr val="0000FF"/>
                  </a:solidFill>
                  <a:latin typeface="Times New Roman" panose="02020603050405020304" pitchFamily="18" charset="0"/>
                  <a:ea typeface="宋体" panose="02010600030101010101" pitchFamily="2" charset="-122"/>
                </a:rPr>
                <a:t>含</a:t>
              </a:r>
              <a:r>
                <a:rPr lang="en-US" altLang="zh-CN" sz="1800" b="1" dirty="0">
                  <a:solidFill>
                    <a:srgbClr val="0000FF"/>
                  </a:solidFill>
                  <a:latin typeface="Times New Roman" panose="02020603050405020304" pitchFamily="18" charset="0"/>
                  <a:ea typeface="宋体" panose="02010600030101010101" pitchFamily="2" charset="-122"/>
                </a:rPr>
                <a:t>1.4%C</a:t>
              </a:r>
              <a:r>
                <a:rPr lang="zh-CN" altLang="en-US" sz="1800" b="1" dirty="0">
                  <a:solidFill>
                    <a:srgbClr val="0000FF"/>
                  </a:solidFill>
                  <a:latin typeface="Times New Roman" panose="02020603050405020304" pitchFamily="18" charset="0"/>
                  <a:ea typeface="宋体" panose="02010600030101010101" pitchFamily="2" charset="-122"/>
                </a:rPr>
                <a:t>钢的组织</a:t>
              </a:r>
            </a:p>
          </p:txBody>
        </p:sp>
      </p:grpSp>
      <p:pic>
        <p:nvPicPr>
          <p:cNvPr id="10" name="内容占位符 1" descr="新校徽（3M）弓之乐"/>
          <p:cNvPicPr>
            <a:picLocks noChangeAspect="1"/>
          </p:cNvPicPr>
          <p:nvPr/>
        </p:nvPicPr>
        <p:blipFill>
          <a:blip r:embed="rId5"/>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9026">
                                            <p:txEl>
                                              <p:pRg st="0" end="0"/>
                                            </p:txEl>
                                          </p:spTgt>
                                        </p:tgtEl>
                                        <p:attrNameLst>
                                          <p:attrName>style.visibility</p:attrName>
                                        </p:attrNameLst>
                                      </p:cBhvr>
                                      <p:to>
                                        <p:strVal val="visible"/>
                                      </p:to>
                                    </p:set>
                                    <p:animEffect transition="in" filter="wipe(left)">
                                      <p:cBhvr>
                                        <p:cTn id="7" dur="500"/>
                                        <p:tgtEl>
                                          <p:spTgt spid="12902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29026">
                                            <p:txEl>
                                              <p:pRg st="1" end="1"/>
                                            </p:txEl>
                                          </p:spTgt>
                                        </p:tgtEl>
                                        <p:attrNameLst>
                                          <p:attrName>style.visibility</p:attrName>
                                        </p:attrNameLst>
                                      </p:cBhvr>
                                      <p:to>
                                        <p:strVal val="visible"/>
                                      </p:to>
                                    </p:set>
                                    <p:animEffect transition="in" filter="wipe(left)">
                                      <p:cBhvr>
                                        <p:cTn id="11" dur="500"/>
                                        <p:tgtEl>
                                          <p:spTgt spid="129026">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29027"/>
                                        </p:tgtEl>
                                        <p:attrNameLst>
                                          <p:attrName>style.visibility</p:attrName>
                                        </p:attrNameLst>
                                      </p:cBhvr>
                                      <p:to>
                                        <p:strVal val="visible"/>
                                      </p:to>
                                    </p:set>
                                    <p:animEffect transition="in" filter="wipe(left)">
                                      <p:cBhvr>
                                        <p:cTn id="16" dur="500"/>
                                        <p:tgtEl>
                                          <p:spTgt spid="129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6" grpId="0" build="p" advAuto="100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日期占位符 3"/>
          <p:cNvSpPr txBox="1">
            <a:spLocks noGrp="1"/>
          </p:cNvSpPr>
          <p:nvPr>
            <p:ph type="dt" sz="half" idx="10"/>
          </p:nvPr>
        </p:nvSpPr>
        <p:spPr>
          <a:xfrm>
            <a:off x="0" y="6510338"/>
            <a:ext cx="2233613"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4341" name="灯片编号占位符 5"/>
          <p:cNvSpPr txBox="1">
            <a:spLocks noGrp="1"/>
          </p:cNvSpPr>
          <p:nvPr>
            <p:ph type="sldNum" sz="quarter" idx="12"/>
          </p:nvPr>
        </p:nvSpPr>
        <p:spPr>
          <a:xfrm>
            <a:off x="8537575" y="6563360"/>
            <a:ext cx="606425" cy="294640"/>
          </a:xfrm>
        </p:spPr>
        <p:txBody>
          <a:bodyPr lIns="92075" tIns="46038" rIns="92075" bIns="46038" anchor="ctr"/>
          <a:lstStyle/>
          <a:p>
            <a:pPr algn="r" eaLnBrk="1" hangingPunct="1"/>
            <a:fld id="{9A0DB2DC-4C9A-4742-B13C-FB6460FD3503}" type="slidenum">
              <a:rPr lang="en-US" altLang="zh-CN" sz="1400" dirty="0"/>
              <a:t>135</a:t>
            </a:fld>
            <a:endParaRPr lang="en-US" altLang="zh-CN" sz="1400" dirty="0"/>
          </a:p>
        </p:txBody>
      </p:sp>
      <p:sp>
        <p:nvSpPr>
          <p:cNvPr id="164881" name="Rectangle 17"/>
          <p:cNvSpPr>
            <a:spLocks noGrp="1"/>
          </p:cNvSpPr>
          <p:nvPr>
            <p:ph idx="1"/>
          </p:nvPr>
        </p:nvSpPr>
        <p:spPr>
          <a:xfrm>
            <a:off x="0" y="1919605"/>
            <a:ext cx="5897880" cy="2857500"/>
          </a:xfrm>
        </p:spPr>
        <p:txBody>
          <a:bodyPr vert="horz" wrap="square" lIns="91440" tIns="45720" rIns="91440" bIns="45720" anchor="t"/>
          <a:lstStyle/>
          <a:p>
            <a:pPr eaLnBrk="1" hangingPunct="1">
              <a:lnSpc>
                <a:spcPct val="140000"/>
              </a:lnSpc>
            </a:pPr>
            <a:r>
              <a:rPr lang="zh-CN" altLang="en-US" sz="2800" b="1" dirty="0">
                <a:ea typeface="华文中宋" panose="02010600040101010101" pitchFamily="2" charset="-122"/>
              </a:rPr>
              <a:t>室温下两相的相对重量百分比：</a:t>
            </a:r>
          </a:p>
        </p:txBody>
      </p:sp>
      <mc:AlternateContent xmlns:mc="http://schemas.openxmlformats.org/markup-compatibility/2006" xmlns:a14="http://schemas.microsoft.com/office/drawing/2010/main">
        <mc:Choice Requires="a14">
          <p:sp>
            <p:nvSpPr>
              <p:cNvPr id="164882" name="Object 18"/>
              <p:cNvSpPr txBox="1"/>
              <p:nvPr/>
            </p:nvSpPr>
            <p:spPr>
              <a:xfrm>
                <a:off x="611352" y="2607697"/>
                <a:ext cx="4386262" cy="1512341"/>
              </a:xfrm>
              <a:prstGeom prst="rect">
                <a:avLst/>
              </a:prstGeom>
              <a:solidFill>
                <a:srgbClr val="00B0F0"/>
              </a:solid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𝑄</m:t>
                          </m:r>
                        </m:e>
                        <m:sub>
                          <m:r>
                            <a:rPr lang="zh-CN" altLang="en-US" i="1">
                              <a:solidFill>
                                <a:srgbClr val="000000"/>
                              </a:solidFill>
                              <a:latin typeface="Cambria Math" panose="02040503050406030204" pitchFamily="18" charset="0"/>
                            </a:rPr>
                            <m:t>𝛼</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5</m:t>
                          </m:r>
                          <m:r>
                            <a:rPr lang="zh-CN" altLang="en-US" i="1">
                              <a:solidFill>
                                <a:srgbClr val="000000"/>
                              </a:solidFill>
                              <a:latin typeface="Cambria Math" panose="02040503050406030204" pitchFamily="18" charset="0"/>
                            </a:rPr>
                            <m:t>𝐿</m:t>
                          </m:r>
                        </m:num>
                        <m:den>
                          <m:r>
                            <a:rPr lang="zh-CN" altLang="en-US" i="1">
                              <a:solidFill>
                                <a:srgbClr val="000000"/>
                              </a:solidFill>
                              <a:latin typeface="Cambria Math" panose="02040503050406030204" pitchFamily="18" charset="0"/>
                            </a:rPr>
                            <m:t>𝑄𝐿</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6.69−</m:t>
                          </m:r>
                          <m:r>
                            <a:rPr lang="zh-CN" altLang="en-US" i="1">
                              <a:solidFill>
                                <a:srgbClr val="000000"/>
                              </a:solidFill>
                              <a:latin typeface="Cambria Math" panose="02040503050406030204" pitchFamily="18" charset="0"/>
                            </a:rPr>
                            <m:t>𝐶</m:t>
                          </m:r>
                        </m:num>
                        <m:den>
                          <m:r>
                            <a:rPr lang="zh-CN" altLang="en-US" i="1">
                              <a:solidFill>
                                <a:srgbClr val="000000"/>
                              </a:solidFill>
                              <a:latin typeface="Cambria Math" panose="02040503050406030204" pitchFamily="18" charset="0"/>
                            </a:rPr>
                            <m:t>6.69−0.0008</m:t>
                          </m:r>
                        </m:den>
                      </m:f>
                      <m:r>
                        <a:rPr lang="zh-CN" altLang="en-US" i="1">
                          <a:solidFill>
                            <a:srgbClr val="000000"/>
                          </a:solidFill>
                          <a:latin typeface="Cambria Math" panose="02040503050406030204" pitchFamily="18" charset="0"/>
                        </a:rPr>
                        <m:t>×100%</m:t>
                      </m:r>
                    </m:oMath>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𝑄</m:t>
                          </m:r>
                        </m:e>
                        <m:sub>
                          <m:r>
                            <a:rPr lang="zh-CN" altLang="en-US" i="1">
                              <a:solidFill>
                                <a:srgbClr val="000000"/>
                              </a:solidFill>
                              <a:latin typeface="Cambria Math" panose="02040503050406030204" pitchFamily="18" charset="0"/>
                            </a:rPr>
                            <m:t>𝐹</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𝑒</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𝐶</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𝑄</m:t>
                          </m:r>
                          <m:r>
                            <a:rPr lang="zh-CN" altLang="en-US" i="1">
                              <a:solidFill>
                                <a:srgbClr val="000000"/>
                              </a:solidFill>
                              <a:latin typeface="Cambria Math" panose="02040503050406030204" pitchFamily="18" charset="0"/>
                            </a:rPr>
                            <m:t>5</m:t>
                          </m:r>
                        </m:num>
                        <m:den>
                          <m:r>
                            <a:rPr lang="zh-CN" altLang="en-US" i="1">
                              <a:solidFill>
                                <a:srgbClr val="000000"/>
                              </a:solidFill>
                              <a:latin typeface="Cambria Math" panose="02040503050406030204" pitchFamily="18" charset="0"/>
                            </a:rPr>
                            <m:t>𝑄𝐿</m:t>
                          </m:r>
                        </m:den>
                      </m:f>
                      <m:r>
                        <a:rPr lang="zh-CN" altLang="en-US" i="1">
                          <a:solidFill>
                            <a:srgbClr val="000000"/>
                          </a:solidFill>
                          <a:latin typeface="Cambria Math" panose="02040503050406030204" pitchFamily="18" charset="0"/>
                        </a:rPr>
                        <m:t>=100%−</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𝑄</m:t>
                          </m:r>
                        </m:e>
                        <m:sub>
                          <m:r>
                            <a:rPr lang="zh-CN" altLang="en-US" i="1">
                              <a:solidFill>
                                <a:srgbClr val="000000"/>
                              </a:solidFill>
                              <a:latin typeface="Cambria Math" panose="02040503050406030204" pitchFamily="18" charset="0"/>
                            </a:rPr>
                            <m:t>𝛼</m:t>
                          </m:r>
                        </m:sub>
                      </m:sSub>
                    </m:oMath>
                  </m:oMathPara>
                </a14:m>
                <a:endParaRPr lang="zh-CN" altLang="en-US" dirty="0"/>
              </a:p>
            </p:txBody>
          </p:sp>
        </mc:Choice>
        <mc:Fallback xmlns="">
          <p:sp>
            <p:nvSpPr>
              <p:cNvPr id="164882" name="Object 18"/>
              <p:cNvSpPr txBox="1">
                <a:spLocks noRot="1" noChangeAspect="1" noMove="1" noResize="1" noEditPoints="1" noAdjustHandles="1" noChangeArrowheads="1" noChangeShapeType="1" noTextEdit="1"/>
              </p:cNvSpPr>
              <p:nvPr/>
            </p:nvSpPr>
            <p:spPr>
              <a:xfrm>
                <a:off x="611352" y="2607697"/>
                <a:ext cx="4386262" cy="1512341"/>
              </a:xfrm>
              <a:prstGeom prst="rect">
                <a:avLst/>
              </a:prstGeom>
              <a:blipFill rotWithShape="1">
                <a:blip r:embed="rId2"/>
                <a:stretch>
                  <a:fillRect l="-11" t="-26" r="4" b="10"/>
                </a:stretch>
              </a:blipFill>
              <a:ln w="38100">
                <a:noFill/>
                <a:miter/>
              </a:ln>
            </p:spPr>
            <p:txBody>
              <a:bodyPr/>
              <a:lstStyle/>
              <a:p>
                <a:r>
                  <a:rPr lang="zh-CN" altLang="en-US">
                    <a:noFill/>
                  </a:rPr>
                  <a:t> </a:t>
                </a:r>
              </a:p>
            </p:txBody>
          </p:sp>
        </mc:Fallback>
      </mc:AlternateContent>
      <p:sp>
        <p:nvSpPr>
          <p:cNvPr id="164883" name="Rectangle 19"/>
          <p:cNvSpPr/>
          <p:nvPr/>
        </p:nvSpPr>
        <p:spPr>
          <a:xfrm>
            <a:off x="467360" y="4149090"/>
            <a:ext cx="3581400" cy="1304290"/>
          </a:xfrm>
          <a:prstGeom prst="rect">
            <a:avLst/>
          </a:prstGeom>
          <a:noFill/>
          <a:ln w="9525">
            <a:noFill/>
          </a:ln>
        </p:spPr>
        <p:txBody>
          <a:bodyPr/>
          <a:lstStyle/>
          <a:p>
            <a:pPr marL="342900" lvl="0" indent="-342900" eaLnBrk="1" hangingPunct="1">
              <a:lnSpc>
                <a:spcPct val="140000"/>
              </a:lnSpc>
              <a:spcBef>
                <a:spcPct val="20000"/>
              </a:spcBef>
              <a:buClr>
                <a:schemeClr val="accent2"/>
              </a:buClr>
              <a:buSzPct val="80000"/>
              <a:buFont typeface="Wingdings" panose="05000000000000000000" pitchFamily="2" charset="2"/>
              <a:buChar char="l"/>
            </a:pPr>
            <a:r>
              <a:rPr lang="zh-CN" altLang="en-US" sz="2800" b="1" dirty="0">
                <a:latin typeface="Times New Roman" panose="02020603050405020304" pitchFamily="18" charset="0"/>
                <a:ea typeface="华文中宋" panose="02010600040101010101" pitchFamily="2" charset="-122"/>
              </a:rPr>
              <a:t>室温下两组织组成物相对重量百分比</a:t>
            </a:r>
            <a:r>
              <a:rPr lang="en-US" altLang="zh-CN" sz="2800" b="1" dirty="0">
                <a:latin typeface="Times New Roman" panose="02020603050405020304" pitchFamily="18" charset="0"/>
                <a:ea typeface="华文中宋" panose="02010600040101010101" pitchFamily="2" charset="-122"/>
              </a:rPr>
              <a:t>:</a:t>
            </a:r>
          </a:p>
        </p:txBody>
      </p:sp>
      <p:grpSp>
        <p:nvGrpSpPr>
          <p:cNvPr id="2" name="Group 22"/>
          <p:cNvGrpSpPr>
            <a:grpSpLocks noChangeAspect="1"/>
          </p:cNvGrpSpPr>
          <p:nvPr/>
        </p:nvGrpSpPr>
        <p:grpSpPr>
          <a:xfrm>
            <a:off x="5436096" y="2061022"/>
            <a:ext cx="3390282" cy="3054056"/>
            <a:chOff x="2832" y="288"/>
            <a:chExt cx="2777" cy="2501"/>
          </a:xfrm>
        </p:grpSpPr>
        <p:grpSp>
          <p:nvGrpSpPr>
            <p:cNvPr id="14346" name="Group 16"/>
            <p:cNvGrpSpPr>
              <a:grpSpLocks noChangeAspect="1"/>
            </p:cNvGrpSpPr>
            <p:nvPr/>
          </p:nvGrpSpPr>
          <p:grpSpPr>
            <a:xfrm>
              <a:off x="2832" y="288"/>
              <a:ext cx="2777" cy="2501"/>
              <a:chOff x="2832" y="1392"/>
              <a:chExt cx="2777" cy="2501"/>
            </a:xfrm>
          </p:grpSpPr>
          <p:pic>
            <p:nvPicPr>
              <p:cNvPr id="14349" name="Picture 4" descr="Fe-C相图"/>
              <p:cNvPicPr>
                <a:picLocks noChangeAspect="1"/>
              </p:cNvPicPr>
              <p:nvPr/>
            </p:nvPicPr>
            <p:blipFill>
              <a:blip r:embed="rId3"/>
              <a:stretch>
                <a:fillRect/>
              </a:stretch>
            </p:blipFill>
            <p:spPr>
              <a:xfrm>
                <a:off x="2832" y="1392"/>
                <a:ext cx="2777" cy="2501"/>
              </a:xfrm>
              <a:prstGeom prst="rect">
                <a:avLst/>
              </a:prstGeom>
              <a:noFill/>
              <a:ln w="38100" cap="flat" cmpd="sng">
                <a:noFill/>
                <a:prstDash val="solid"/>
                <a:miter/>
                <a:headEnd type="none" w="med" len="med"/>
                <a:tailEnd type="none" w="med" len="med"/>
              </a:ln>
            </p:spPr>
          </p:pic>
          <p:sp>
            <p:nvSpPr>
              <p:cNvPr id="14350" name="Line 5"/>
              <p:cNvSpPr>
                <a:spLocks noChangeAspect="1"/>
              </p:cNvSpPr>
              <p:nvPr/>
            </p:nvSpPr>
            <p:spPr>
              <a:xfrm>
                <a:off x="4032" y="1440"/>
                <a:ext cx="0" cy="2208"/>
              </a:xfrm>
              <a:prstGeom prst="line">
                <a:avLst/>
              </a:prstGeom>
              <a:ln w="9525" cap="flat" cmpd="sng">
                <a:solidFill>
                  <a:schemeClr val="hlink"/>
                </a:solidFill>
                <a:prstDash val="solid"/>
                <a:headEnd type="none" w="med" len="med"/>
                <a:tailEnd type="none" w="med" len="med"/>
              </a:ln>
            </p:spPr>
          </p:sp>
          <p:sp>
            <p:nvSpPr>
              <p:cNvPr id="14351" name="Rectangle 10"/>
              <p:cNvSpPr>
                <a:spLocks noChangeAspect="1"/>
              </p:cNvSpPr>
              <p:nvPr/>
            </p:nvSpPr>
            <p:spPr>
              <a:xfrm>
                <a:off x="4005" y="1745"/>
                <a:ext cx="157" cy="165"/>
              </a:xfrm>
              <a:prstGeom prst="rect">
                <a:avLst/>
              </a:prstGeom>
              <a:noFill/>
              <a:ln w="9525">
                <a:noFill/>
              </a:ln>
            </p:spPr>
            <p:txBody>
              <a:bodyPr wrap="none">
                <a:spAutoFit/>
              </a:bodyPr>
              <a:lstStyle/>
              <a:p>
                <a:pPr lvl="0" eaLnBrk="1" hangingPunct="1">
                  <a:spcBef>
                    <a:spcPct val="50000"/>
                  </a:spcBef>
                </a:pPr>
                <a:r>
                  <a:rPr lang="en-US" altLang="zh-CN" sz="1200" b="1" dirty="0">
                    <a:solidFill>
                      <a:schemeClr val="hlink"/>
                    </a:solidFill>
                    <a:latin typeface="Times New Roman" panose="02020603050405020304" pitchFamily="18" charset="0"/>
                    <a:ea typeface="宋体" panose="02010600030101010101" pitchFamily="2" charset="-122"/>
                  </a:rPr>
                  <a:t>1</a:t>
                </a:r>
              </a:p>
            </p:txBody>
          </p:sp>
          <p:sp>
            <p:nvSpPr>
              <p:cNvPr id="14352" name="Rectangle 11"/>
              <p:cNvSpPr>
                <a:spLocks noChangeAspect="1"/>
              </p:cNvSpPr>
              <p:nvPr/>
            </p:nvSpPr>
            <p:spPr>
              <a:xfrm>
                <a:off x="4020" y="2016"/>
                <a:ext cx="157" cy="166"/>
              </a:xfrm>
              <a:prstGeom prst="rect">
                <a:avLst/>
              </a:prstGeom>
              <a:noFill/>
              <a:ln w="9525">
                <a:noFill/>
              </a:ln>
            </p:spPr>
            <p:txBody>
              <a:bodyPr wrap="none">
                <a:spAutoFit/>
              </a:bodyPr>
              <a:lstStyle/>
              <a:p>
                <a:pPr lvl="0" eaLnBrk="1" hangingPunct="1">
                  <a:spcBef>
                    <a:spcPct val="50000"/>
                  </a:spcBef>
                </a:pPr>
                <a:r>
                  <a:rPr lang="en-US" altLang="zh-CN" sz="1200" b="1" dirty="0">
                    <a:solidFill>
                      <a:schemeClr val="hlink"/>
                    </a:solidFill>
                    <a:latin typeface="Times New Roman" panose="02020603050405020304" pitchFamily="18" charset="0"/>
                    <a:ea typeface="宋体" panose="02010600030101010101" pitchFamily="2" charset="-122"/>
                  </a:rPr>
                  <a:t>2</a:t>
                </a:r>
              </a:p>
            </p:txBody>
          </p:sp>
          <p:sp>
            <p:nvSpPr>
              <p:cNvPr id="14353" name="Rectangle 12"/>
              <p:cNvSpPr>
                <a:spLocks noChangeAspect="1"/>
              </p:cNvSpPr>
              <p:nvPr/>
            </p:nvSpPr>
            <p:spPr>
              <a:xfrm>
                <a:off x="4020" y="2592"/>
                <a:ext cx="157" cy="165"/>
              </a:xfrm>
              <a:prstGeom prst="rect">
                <a:avLst/>
              </a:prstGeom>
              <a:noFill/>
              <a:ln w="9525">
                <a:noFill/>
              </a:ln>
            </p:spPr>
            <p:txBody>
              <a:bodyPr wrap="none">
                <a:spAutoFit/>
              </a:bodyPr>
              <a:lstStyle/>
              <a:p>
                <a:pPr lvl="0" eaLnBrk="1" hangingPunct="1">
                  <a:spcBef>
                    <a:spcPct val="50000"/>
                  </a:spcBef>
                </a:pPr>
                <a:r>
                  <a:rPr lang="en-US" altLang="zh-CN" sz="1200" b="1" dirty="0">
                    <a:solidFill>
                      <a:schemeClr val="hlink"/>
                    </a:solidFill>
                    <a:latin typeface="Times New Roman" panose="02020603050405020304" pitchFamily="18" charset="0"/>
                    <a:ea typeface="宋体" panose="02010600030101010101" pitchFamily="2" charset="-122"/>
                  </a:rPr>
                  <a:t>3</a:t>
                </a:r>
              </a:p>
            </p:txBody>
          </p:sp>
          <p:sp>
            <p:nvSpPr>
              <p:cNvPr id="14354" name="Rectangle 13"/>
              <p:cNvSpPr>
                <a:spLocks noChangeAspect="1"/>
              </p:cNvSpPr>
              <p:nvPr/>
            </p:nvSpPr>
            <p:spPr>
              <a:xfrm>
                <a:off x="4020" y="2892"/>
                <a:ext cx="157" cy="165"/>
              </a:xfrm>
              <a:prstGeom prst="rect">
                <a:avLst/>
              </a:prstGeom>
              <a:noFill/>
              <a:ln w="9525">
                <a:noFill/>
              </a:ln>
            </p:spPr>
            <p:txBody>
              <a:bodyPr wrap="none">
                <a:spAutoFit/>
              </a:bodyPr>
              <a:lstStyle/>
              <a:p>
                <a:pPr lvl="0" eaLnBrk="1" hangingPunct="1">
                  <a:spcBef>
                    <a:spcPct val="50000"/>
                  </a:spcBef>
                </a:pPr>
                <a:r>
                  <a:rPr lang="en-US" altLang="zh-CN" sz="1200" b="1" dirty="0">
                    <a:solidFill>
                      <a:schemeClr val="hlink"/>
                    </a:solidFill>
                    <a:latin typeface="Times New Roman" panose="02020603050405020304" pitchFamily="18" charset="0"/>
                    <a:ea typeface="宋体" panose="02010600030101010101" pitchFamily="2" charset="-122"/>
                  </a:rPr>
                  <a:t>4</a:t>
                </a:r>
              </a:p>
            </p:txBody>
          </p:sp>
          <p:sp>
            <p:nvSpPr>
              <p:cNvPr id="14355" name="Rectangle 14"/>
              <p:cNvSpPr>
                <a:spLocks noChangeAspect="1"/>
              </p:cNvSpPr>
              <p:nvPr/>
            </p:nvSpPr>
            <p:spPr>
              <a:xfrm>
                <a:off x="4020" y="3504"/>
                <a:ext cx="157" cy="165"/>
              </a:xfrm>
              <a:prstGeom prst="rect">
                <a:avLst/>
              </a:prstGeom>
              <a:noFill/>
              <a:ln w="9525">
                <a:noFill/>
              </a:ln>
            </p:spPr>
            <p:txBody>
              <a:bodyPr wrap="none">
                <a:spAutoFit/>
              </a:bodyPr>
              <a:lstStyle/>
              <a:p>
                <a:pPr lvl="0" eaLnBrk="1" hangingPunct="1">
                  <a:spcBef>
                    <a:spcPct val="50000"/>
                  </a:spcBef>
                </a:pPr>
                <a:r>
                  <a:rPr lang="en-US" altLang="zh-CN" sz="1200" b="1" dirty="0">
                    <a:solidFill>
                      <a:schemeClr val="hlink"/>
                    </a:solidFill>
                    <a:latin typeface="Times New Roman" panose="02020603050405020304" pitchFamily="18" charset="0"/>
                    <a:ea typeface="宋体" panose="02010600030101010101" pitchFamily="2" charset="-122"/>
                  </a:rPr>
                  <a:t>5</a:t>
                </a:r>
              </a:p>
            </p:txBody>
          </p:sp>
        </p:grpSp>
        <p:sp>
          <p:nvSpPr>
            <p:cNvPr id="14347" name="Line 20"/>
            <p:cNvSpPr>
              <a:spLocks noChangeAspect="1"/>
            </p:cNvSpPr>
            <p:nvPr/>
          </p:nvSpPr>
          <p:spPr>
            <a:xfrm>
              <a:off x="3720" y="1932"/>
              <a:ext cx="0" cy="624"/>
            </a:xfrm>
            <a:prstGeom prst="line">
              <a:avLst/>
            </a:prstGeom>
            <a:ln w="9525" cap="flat" cmpd="sng">
              <a:solidFill>
                <a:schemeClr val="bg2"/>
              </a:solidFill>
              <a:prstDash val="dash"/>
              <a:headEnd type="none" w="med" len="med"/>
              <a:tailEnd type="none" w="med" len="med"/>
            </a:ln>
          </p:spPr>
        </p:sp>
        <p:sp>
          <p:nvSpPr>
            <p:cNvPr id="14348" name="Text Box 21"/>
            <p:cNvSpPr txBox="1">
              <a:spLocks noChangeAspect="1"/>
            </p:cNvSpPr>
            <p:nvPr/>
          </p:nvSpPr>
          <p:spPr>
            <a:xfrm>
              <a:off x="3684" y="2400"/>
              <a:ext cx="240" cy="183"/>
            </a:xfrm>
            <a:prstGeom prst="rect">
              <a:avLst/>
            </a:prstGeom>
            <a:noFill/>
            <a:ln w="9525">
              <a:noFill/>
            </a:ln>
          </p:spPr>
          <p:txBody>
            <a:bodyPr>
              <a:spAutoFit/>
            </a:bodyPr>
            <a:lstStyle/>
            <a:p>
              <a:pPr lvl="0" eaLnBrk="1" hangingPunct="1">
                <a:spcBef>
                  <a:spcPct val="50000"/>
                </a:spcBef>
              </a:pPr>
              <a:r>
                <a:rPr lang="en-US" altLang="zh-CN" sz="1400" b="1" dirty="0">
                  <a:solidFill>
                    <a:schemeClr val="bg2"/>
                  </a:solidFill>
                  <a:latin typeface="Times New Roman" panose="02020603050405020304" pitchFamily="18" charset="0"/>
                  <a:ea typeface="宋体" panose="02010600030101010101" pitchFamily="2" charset="-122"/>
                </a:rPr>
                <a:t>S’</a:t>
              </a:r>
            </a:p>
          </p:txBody>
        </p:sp>
      </p:grpSp>
      <mc:AlternateContent xmlns:mc="http://schemas.openxmlformats.org/markup-compatibility/2006" xmlns:a14="http://schemas.microsoft.com/office/drawing/2010/main">
        <mc:Choice Requires="a14">
          <p:sp>
            <p:nvSpPr>
              <p:cNvPr id="164887" name="Object 23"/>
              <p:cNvSpPr txBox="1"/>
              <p:nvPr/>
            </p:nvSpPr>
            <p:spPr>
              <a:xfrm>
                <a:off x="694055" y="5412740"/>
                <a:ext cx="6626860" cy="718820"/>
              </a:xfrm>
              <a:prstGeom prst="rect">
                <a:avLst/>
              </a:prstGeom>
              <a:solidFill>
                <a:srgbClr val="00B0F0"/>
              </a:solid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𝑄</m:t>
                          </m:r>
                        </m:e>
                        <m:sub>
                          <m:r>
                            <a:rPr lang="zh-CN" altLang="en-US" i="1">
                              <a:solidFill>
                                <a:srgbClr val="000000"/>
                              </a:solidFill>
                              <a:latin typeface="Cambria Math" panose="02040503050406030204" pitchFamily="18" charset="0"/>
                            </a:rPr>
                            <m:t>𝑃</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5</m:t>
                          </m:r>
                          <m:r>
                            <a:rPr lang="zh-CN" altLang="en-US" i="1">
                              <a:solidFill>
                                <a:srgbClr val="000000"/>
                              </a:solidFill>
                              <a:latin typeface="Cambria Math" panose="02040503050406030204" pitchFamily="18" charset="0"/>
                            </a:rPr>
                            <m:t>𝐿</m:t>
                          </m:r>
                        </m:num>
                        <m:den>
                          <m:r>
                            <a:rPr lang="zh-CN" altLang="en-US" i="1">
                              <a:solidFill>
                                <a:srgbClr val="000000"/>
                              </a:solidFill>
                              <a:latin typeface="Cambria Math" panose="02040503050406030204" pitchFamily="18" charset="0"/>
                            </a:rPr>
                            <m:t>𝑆</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𝐿</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6.69−</m:t>
                          </m:r>
                          <m:r>
                            <a:rPr lang="zh-CN" altLang="en-US" i="1">
                              <a:solidFill>
                                <a:srgbClr val="000000"/>
                              </a:solidFill>
                              <a:latin typeface="Cambria Math" panose="02040503050406030204" pitchFamily="18" charset="0"/>
                            </a:rPr>
                            <m:t>𝐶</m:t>
                          </m:r>
                        </m:num>
                        <m:den>
                          <m:r>
                            <a:rPr lang="zh-CN" altLang="en-US" i="1">
                              <a:solidFill>
                                <a:srgbClr val="000000"/>
                              </a:solidFill>
                              <a:latin typeface="Cambria Math" panose="02040503050406030204" pitchFamily="18" charset="0"/>
                            </a:rPr>
                            <m:t>6.69−0.77</m:t>
                          </m:r>
                        </m:den>
                      </m:f>
                      <m:r>
                        <a:rPr lang="zh-CN" altLang="en-US" i="1">
                          <a:solidFill>
                            <a:srgbClr val="000000"/>
                          </a:solidFill>
                          <a:latin typeface="Cambria Math" panose="02040503050406030204" pitchFamily="18" charset="0"/>
                        </a:rPr>
                        <m:t>×100%,</m:t>
                      </m:r>
                      <m:limUpp>
                        <m:limUppPr>
                          <m:ctrlPr>
                            <a:rPr lang="zh-CN" altLang="en-US" i="1">
                              <a:solidFill>
                                <a:srgbClr val="000000"/>
                              </a:solidFill>
                              <a:latin typeface="Cambria Math" panose="02040503050406030204" pitchFamily="18" charset="0"/>
                            </a:rPr>
                          </m:ctrlPr>
                        </m:limUppPr>
                        <m:e/>
                        <m:lim/>
                      </m:limUp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𝑄</m:t>
                          </m:r>
                        </m:e>
                        <m:sub>
                          <m:r>
                            <a:rPr lang="zh-CN" altLang="en-US" i="1">
                              <a:solidFill>
                                <a:srgbClr val="000000"/>
                              </a:solidFill>
                              <a:latin typeface="Cambria Math" panose="02040503050406030204" pitchFamily="18" charset="0"/>
                            </a:rPr>
                            <m:t>𝐹</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𝑒</m:t>
                              </m:r>
                            </m:e>
                            <m:sub>
                              <m:r>
                                <a:rPr lang="zh-CN" altLang="en-US" i="1">
                                  <a:solidFill>
                                    <a:srgbClr val="000000"/>
                                  </a:solidFill>
                                  <a:latin typeface="Cambria Math" panose="02040503050406030204" pitchFamily="18" charset="0"/>
                                </a:rPr>
                                <m:t>3</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𝐶</m:t>
                              </m:r>
                            </m:e>
                            <m:sub>
                              <m:r>
                                <a:rPr lang="zh-CN" altLang="en-US" i="1">
                                  <a:solidFill>
                                    <a:srgbClr val="000000"/>
                                  </a:solidFill>
                                  <a:latin typeface="Cambria Math" panose="02040503050406030204" pitchFamily="18" charset="0"/>
                                </a:rPr>
                                <m:t>Ⅱ</m:t>
                              </m:r>
                            </m:sub>
                          </m:sSub>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𝑆</m:t>
                          </m:r>
                          <m:r>
                            <a:rPr lang="zh-CN" altLang="en-US" i="1">
                              <a:solidFill>
                                <a:srgbClr val="000000"/>
                              </a:solidFill>
                              <a:latin typeface="Cambria Math" panose="02040503050406030204" pitchFamily="18" charset="0"/>
                            </a:rPr>
                            <m:t>′5</m:t>
                          </m:r>
                        </m:num>
                        <m:den>
                          <m:r>
                            <a:rPr lang="zh-CN" altLang="en-US" i="1">
                              <a:solidFill>
                                <a:srgbClr val="000000"/>
                              </a:solidFill>
                              <a:latin typeface="Cambria Math" panose="02040503050406030204" pitchFamily="18" charset="0"/>
                            </a:rPr>
                            <m:t>𝑆</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𝐿</m:t>
                          </m:r>
                        </m:den>
                      </m:f>
                      <m:r>
                        <a:rPr lang="zh-CN" altLang="en-US" i="1">
                          <a:solidFill>
                            <a:srgbClr val="000000"/>
                          </a:solidFill>
                          <a:latin typeface="Cambria Math" panose="02040503050406030204" pitchFamily="18" charset="0"/>
                        </a:rPr>
                        <m:t>=100%−</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𝑄</m:t>
                          </m:r>
                        </m:e>
                        <m:sub>
                          <m:r>
                            <a:rPr lang="zh-CN" altLang="en-US" i="1">
                              <a:solidFill>
                                <a:srgbClr val="000000"/>
                              </a:solidFill>
                              <a:latin typeface="Cambria Math" panose="02040503050406030204" pitchFamily="18" charset="0"/>
                            </a:rPr>
                            <m:t>𝑃</m:t>
                          </m:r>
                        </m:sub>
                      </m:sSub>
                    </m:oMath>
                  </m:oMathPara>
                </a14:m>
                <a:endParaRPr lang="zh-CN" altLang="en-US" dirty="0"/>
              </a:p>
            </p:txBody>
          </p:sp>
        </mc:Choice>
        <mc:Fallback xmlns="">
          <p:sp>
            <p:nvSpPr>
              <p:cNvPr id="164887" name="Object 23"/>
              <p:cNvSpPr txBox="1">
                <a:spLocks noRot="1" noChangeAspect="1" noMove="1" noResize="1" noEditPoints="1" noAdjustHandles="1" noChangeArrowheads="1" noChangeShapeType="1" noTextEdit="1"/>
              </p:cNvSpPr>
              <p:nvPr/>
            </p:nvSpPr>
            <p:spPr>
              <a:xfrm>
                <a:off x="694055" y="5412740"/>
                <a:ext cx="6626860" cy="718820"/>
              </a:xfrm>
              <a:prstGeom prst="rect">
                <a:avLst/>
              </a:prstGeom>
              <a:blipFill rotWithShape="1">
                <a:blip r:embed="rId4"/>
                <a:stretch>
                  <a:fillRect/>
                </a:stretch>
              </a:blipFill>
              <a:ln w="38100">
                <a:noFill/>
                <a:miter/>
              </a:ln>
            </p:spPr>
            <p:txBody>
              <a:bodyPr/>
              <a:lstStyle/>
              <a:p>
                <a:r>
                  <a:rPr lang="zh-CN" altLang="en-US">
                    <a:noFill/>
                  </a:rPr>
                  <a:t> </a:t>
                </a:r>
              </a:p>
            </p:txBody>
          </p:sp>
        </mc:Fallback>
      </mc:AlternateContent>
      <p:pic>
        <p:nvPicPr>
          <p:cNvPr id="20" name="内容占位符 1" descr="新校徽（3M）弓之乐"/>
          <p:cNvPicPr>
            <a:picLocks noChangeAspect="1"/>
          </p:cNvPicPr>
          <p:nvPr/>
        </p:nvPicPr>
        <p:blipFill>
          <a:blip r:embed="rId5"/>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4881">
                                            <p:txEl>
                                              <p:pRg st="0" end="0"/>
                                            </p:txEl>
                                          </p:spTgt>
                                        </p:tgtEl>
                                        <p:attrNameLst>
                                          <p:attrName>style.visibility</p:attrName>
                                        </p:attrNameLst>
                                      </p:cBhvr>
                                      <p:to>
                                        <p:strVal val="visible"/>
                                      </p:to>
                                    </p:set>
                                    <p:animEffect transition="in" filter="wipe(left)">
                                      <p:cBhvr>
                                        <p:cTn id="7" dur="500"/>
                                        <p:tgtEl>
                                          <p:spTgt spid="164881">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64883">
                                            <p:txEl>
                                              <p:pRg st="0" end="0"/>
                                            </p:txEl>
                                          </p:spTgt>
                                        </p:tgtEl>
                                        <p:attrNameLst>
                                          <p:attrName>style.visibility</p:attrName>
                                        </p:attrNameLst>
                                      </p:cBhvr>
                                      <p:to>
                                        <p:strVal val="visible"/>
                                      </p:to>
                                    </p:set>
                                    <p:animEffect transition="in" filter="wipe(left)">
                                      <p:cBhvr>
                                        <p:cTn id="11" dur="500"/>
                                        <p:tgtEl>
                                          <p:spTgt spid="164883">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up)">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81" grpId="0" build="p" advAuto="1000"/>
      <p:bldP spid="164883" grpId="0" build="p" advAuto="100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日期占位符 3"/>
          <p:cNvSpPr txBox="1">
            <a:spLocks noGrp="1"/>
          </p:cNvSpPr>
          <p:nvPr>
            <p:ph type="dt" sz="half" idx="10"/>
          </p:nvPr>
        </p:nvSpPr>
        <p:spPr>
          <a:xfrm>
            <a:off x="0" y="6510338"/>
            <a:ext cx="2233613"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24931" name="灯片编号占位符 5"/>
          <p:cNvSpPr txBox="1">
            <a:spLocks noGrp="1"/>
          </p:cNvSpPr>
          <p:nvPr>
            <p:ph type="sldNum" sz="quarter" idx="12"/>
          </p:nvPr>
        </p:nvSpPr>
        <p:spPr>
          <a:xfrm>
            <a:off x="8455025" y="6573520"/>
            <a:ext cx="595630" cy="284480"/>
          </a:xfrm>
        </p:spPr>
        <p:txBody>
          <a:bodyPr lIns="92075" tIns="46038" rIns="92075" bIns="46038" anchor="ctr"/>
          <a:lstStyle/>
          <a:p>
            <a:pPr algn="r" eaLnBrk="1" hangingPunct="1"/>
            <a:fld id="{9A0DB2DC-4C9A-4742-B13C-FB6460FD3503}" type="slidenum">
              <a:rPr lang="en-US" altLang="zh-CN" sz="1400" dirty="0"/>
              <a:t>136</a:t>
            </a:fld>
            <a:endParaRPr lang="en-US" altLang="zh-CN" sz="1400" dirty="0"/>
          </a:p>
        </p:txBody>
      </p:sp>
      <p:sp>
        <p:nvSpPr>
          <p:cNvPr id="124932" name="Rectangle 2"/>
          <p:cNvSpPr>
            <a:spLocks noGrp="1"/>
          </p:cNvSpPr>
          <p:nvPr>
            <p:ph type="title"/>
          </p:nvPr>
        </p:nvSpPr>
        <p:spPr>
          <a:xfrm>
            <a:off x="1403648" y="367982"/>
            <a:ext cx="7169150" cy="928688"/>
          </a:xfrm>
        </p:spPr>
        <p:txBody>
          <a:bodyPr vert="horz" wrap="square" lIns="92075" tIns="46038" rIns="92075" bIns="46038" anchor="ctr"/>
          <a:lstStyle/>
          <a:p>
            <a:pPr eaLnBrk="1" hangingPunct="1"/>
            <a:r>
              <a:rPr lang="en-US" altLang="zh-CN" b="1" dirty="0">
                <a:solidFill>
                  <a:srgbClr val="FF0000"/>
                </a:solidFill>
                <a:latin typeface="Times New Roman" panose="02020603050405020304" pitchFamily="18" charset="0"/>
                <a:ea typeface="华文中宋" panose="02010600040101010101" pitchFamily="2" charset="-122"/>
              </a:rPr>
              <a:t>㈤ </a:t>
            </a:r>
            <a:r>
              <a:rPr lang="zh-CN" altLang="en-US" b="1" dirty="0">
                <a:solidFill>
                  <a:srgbClr val="FF0000"/>
                </a:solidFill>
                <a:latin typeface="Times New Roman" panose="02020603050405020304" pitchFamily="18" charset="0"/>
                <a:ea typeface="华文中宋" panose="02010600040101010101" pitchFamily="2" charset="-122"/>
              </a:rPr>
              <a:t>共晶白口铁的结晶过程</a:t>
            </a:r>
          </a:p>
        </p:txBody>
      </p:sp>
      <p:sp>
        <p:nvSpPr>
          <p:cNvPr id="124933" name="Rectangle 3"/>
          <p:cNvSpPr>
            <a:spLocks noGrp="1"/>
          </p:cNvSpPr>
          <p:nvPr>
            <p:ph idx="1"/>
          </p:nvPr>
        </p:nvSpPr>
        <p:spPr>
          <a:xfrm>
            <a:off x="285750" y="1979930"/>
            <a:ext cx="8715375" cy="3475990"/>
          </a:xfrm>
        </p:spPr>
        <p:txBody>
          <a:bodyPr vert="horz" wrap="square" lIns="91440" tIns="45720" rIns="91440" bIns="45720" anchor="t"/>
          <a:lstStyle/>
          <a:p>
            <a:pPr eaLnBrk="1" hangingPunct="1"/>
            <a:r>
              <a:rPr lang="zh-CN" altLang="en-US" b="1" dirty="0">
                <a:ea typeface="华文中宋" panose="02010600040101010101" pitchFamily="2" charset="-122"/>
              </a:rPr>
              <a:t>液相冷却到</a:t>
            </a:r>
            <a:r>
              <a:rPr lang="en-US" altLang="zh-CN" b="1" dirty="0">
                <a:solidFill>
                  <a:srgbClr val="0000FF"/>
                </a:solidFill>
                <a:ea typeface="华文中宋" panose="02010600040101010101" pitchFamily="2" charset="-122"/>
              </a:rPr>
              <a:t>C</a:t>
            </a:r>
            <a:r>
              <a:rPr lang="zh-CN" altLang="en-US" b="1" dirty="0">
                <a:ea typeface="华文中宋" panose="02010600040101010101" pitchFamily="2" charset="-122"/>
              </a:rPr>
              <a:t>点发生共晶反应，全部转变为</a:t>
            </a:r>
            <a:r>
              <a:rPr lang="zh-CN" altLang="en-US" b="1" dirty="0">
                <a:solidFill>
                  <a:srgbClr val="0000FF"/>
                </a:solidFill>
                <a:ea typeface="华文中宋" panose="02010600040101010101" pitchFamily="2" charset="-122"/>
              </a:rPr>
              <a:t>莱氏体</a:t>
            </a:r>
            <a:r>
              <a:rPr lang="en-US" altLang="zh-CN" b="1" dirty="0">
                <a:solidFill>
                  <a:srgbClr val="0000FF"/>
                </a:solidFill>
                <a:ea typeface="华文中宋" panose="02010600040101010101" pitchFamily="2" charset="-122"/>
              </a:rPr>
              <a:t>Le</a:t>
            </a:r>
            <a:r>
              <a:rPr lang="en-US" altLang="zh-CN" b="1" dirty="0">
                <a:ea typeface="华文中宋" panose="02010600040101010101" pitchFamily="2" charset="-122"/>
              </a:rPr>
              <a:t>, Le</a:t>
            </a:r>
            <a:r>
              <a:rPr lang="zh-CN" altLang="en-US" b="1" dirty="0">
                <a:ea typeface="华文中宋" panose="02010600040101010101" pitchFamily="2" charset="-122"/>
              </a:rPr>
              <a:t>是共晶</a:t>
            </a:r>
            <a:r>
              <a:rPr lang="zh-CN" altLang="en-US" b="1" i="1" dirty="0">
                <a:ea typeface="华文中宋" panose="02010600040101010101" pitchFamily="2" charset="-122"/>
                <a:sym typeface="Symbol" panose="05050102010706020507" pitchFamily="18" charset="2"/>
              </a:rPr>
              <a:t> </a:t>
            </a:r>
            <a:r>
              <a:rPr lang="zh-CN" altLang="en-US" b="1" dirty="0">
                <a:ea typeface="华文中宋" panose="02010600040101010101" pitchFamily="2" charset="-122"/>
              </a:rPr>
              <a:t>与共晶</a:t>
            </a:r>
            <a:r>
              <a:rPr lang="en-US" altLang="zh-CN" b="1" dirty="0">
                <a:ea typeface="华文中宋" panose="02010600040101010101" pitchFamily="2" charset="-122"/>
              </a:rPr>
              <a:t>Fe</a:t>
            </a:r>
            <a:r>
              <a:rPr lang="en-US" altLang="zh-CN" b="1" baseline="-30000" dirty="0">
                <a:ea typeface="华文中宋" panose="02010600040101010101" pitchFamily="2" charset="-122"/>
              </a:rPr>
              <a:t>3</a:t>
            </a:r>
            <a:r>
              <a:rPr lang="en-US" altLang="zh-CN" b="1" dirty="0">
                <a:ea typeface="华文中宋" panose="02010600040101010101" pitchFamily="2" charset="-122"/>
              </a:rPr>
              <a:t>C</a:t>
            </a:r>
            <a:r>
              <a:rPr lang="zh-CN" altLang="en-US" b="1" dirty="0">
                <a:ea typeface="华文中宋" panose="02010600040101010101" pitchFamily="2" charset="-122"/>
              </a:rPr>
              <a:t>的机械混合物，呈蜂窝状。</a:t>
            </a:r>
          </a:p>
        </p:txBody>
      </p:sp>
      <p:grpSp>
        <p:nvGrpSpPr>
          <p:cNvPr id="2" name="Group 4"/>
          <p:cNvGrpSpPr/>
          <p:nvPr/>
        </p:nvGrpSpPr>
        <p:grpSpPr>
          <a:xfrm>
            <a:off x="1444625" y="3500755"/>
            <a:ext cx="7279005" cy="2936875"/>
            <a:chOff x="528" y="1728"/>
            <a:chExt cx="4787" cy="2170"/>
          </a:xfrm>
        </p:grpSpPr>
        <p:pic>
          <p:nvPicPr>
            <p:cNvPr id="124936" name="Picture 5" descr="Fe-C共晶结晶过程"/>
            <p:cNvPicPr>
              <a:picLocks noChangeAspect="1"/>
            </p:cNvPicPr>
            <p:nvPr/>
          </p:nvPicPr>
          <p:blipFill>
            <a:blip r:embed="rId3"/>
            <a:stretch>
              <a:fillRect/>
            </a:stretch>
          </p:blipFill>
          <p:spPr>
            <a:xfrm>
              <a:off x="2064" y="1728"/>
              <a:ext cx="3251" cy="2170"/>
            </a:xfrm>
            <a:prstGeom prst="rect">
              <a:avLst/>
            </a:prstGeom>
            <a:noFill/>
            <a:ln w="38100" cap="flat" cmpd="sng">
              <a:noFill/>
              <a:prstDash val="solid"/>
              <a:miter/>
              <a:headEnd type="none" w="med" len="med"/>
              <a:tailEnd type="none" w="med" len="med"/>
            </a:ln>
          </p:spPr>
        </p:pic>
        <p:grpSp>
          <p:nvGrpSpPr>
            <p:cNvPr id="124937" name="Group 6"/>
            <p:cNvGrpSpPr/>
            <p:nvPr/>
          </p:nvGrpSpPr>
          <p:grpSpPr>
            <a:xfrm>
              <a:off x="528" y="1728"/>
              <a:ext cx="1328" cy="2168"/>
              <a:chOff x="528" y="1728"/>
              <a:chExt cx="1328" cy="2168"/>
            </a:xfrm>
          </p:grpSpPr>
          <p:pic>
            <p:nvPicPr>
              <p:cNvPr id="124938" name="Picture 7" descr="Le1"/>
              <p:cNvPicPr>
                <a:picLocks noChangeAspect="1"/>
              </p:cNvPicPr>
              <p:nvPr/>
            </p:nvPicPr>
            <p:blipFill>
              <a:blip r:embed="rId4"/>
              <a:stretch>
                <a:fillRect/>
              </a:stretch>
            </p:blipFill>
            <p:spPr>
              <a:xfrm>
                <a:off x="528" y="1728"/>
                <a:ext cx="1328" cy="2168"/>
              </a:xfrm>
              <a:prstGeom prst="rect">
                <a:avLst/>
              </a:prstGeom>
              <a:noFill/>
              <a:ln w="38100" cap="flat" cmpd="sng">
                <a:noFill/>
                <a:prstDash val="solid"/>
                <a:miter/>
                <a:headEnd type="none" w="med" len="med"/>
                <a:tailEnd type="none" w="med" len="med"/>
              </a:ln>
            </p:spPr>
          </p:pic>
          <p:sp>
            <p:nvSpPr>
              <p:cNvPr id="124939" name="Rectangle 8"/>
              <p:cNvSpPr/>
              <p:nvPr/>
            </p:nvSpPr>
            <p:spPr>
              <a:xfrm>
                <a:off x="1104" y="3573"/>
                <a:ext cx="336" cy="192"/>
              </a:xfrm>
              <a:prstGeom prst="rect">
                <a:avLst/>
              </a:prstGeom>
              <a:solidFill>
                <a:schemeClr val="bg1"/>
              </a:solidFill>
              <a:ln w="9525" cap="flat" cmpd="sng">
                <a:solidFill>
                  <a:srgbClr val="FF00FF"/>
                </a:solidFill>
                <a:prstDash val="solid"/>
                <a:miter/>
                <a:headEnd type="none" w="med" len="med"/>
                <a:tailEnd type="none" w="med" len="med"/>
              </a:ln>
            </p:spPr>
            <p:txBody>
              <a:bodyPr wrap="none" anchor="ctr"/>
              <a:lstStyle/>
              <a:p>
                <a:pPr lvl="0" algn="ctr" eaLnBrk="1" hangingPunct="1"/>
                <a:r>
                  <a:rPr lang="en-US" altLang="zh-CN" sz="1800" b="1" dirty="0">
                    <a:solidFill>
                      <a:srgbClr val="A50021"/>
                    </a:solidFill>
                    <a:latin typeface="Times New Roman" panose="02020603050405020304" pitchFamily="18" charset="0"/>
                    <a:ea typeface="华文中宋" panose="02010600040101010101" pitchFamily="2" charset="-122"/>
                  </a:rPr>
                  <a:t>Fe</a:t>
                </a:r>
                <a:r>
                  <a:rPr lang="en-US" altLang="zh-CN" sz="1800" b="1" baseline="-30000" dirty="0">
                    <a:solidFill>
                      <a:srgbClr val="A50021"/>
                    </a:solidFill>
                    <a:latin typeface="Times New Roman" panose="02020603050405020304" pitchFamily="18" charset="0"/>
                    <a:ea typeface="华文中宋" panose="02010600040101010101" pitchFamily="2" charset="-122"/>
                  </a:rPr>
                  <a:t>3</a:t>
                </a:r>
                <a:r>
                  <a:rPr lang="en-US" altLang="zh-CN" sz="1800" b="1" dirty="0">
                    <a:solidFill>
                      <a:srgbClr val="A50021"/>
                    </a:solidFill>
                    <a:latin typeface="Times New Roman" panose="02020603050405020304" pitchFamily="18" charset="0"/>
                    <a:ea typeface="华文中宋" panose="02010600040101010101" pitchFamily="2" charset="-122"/>
                  </a:rPr>
                  <a:t>C</a:t>
                </a:r>
              </a:p>
            </p:txBody>
          </p:sp>
          <p:sp>
            <p:nvSpPr>
              <p:cNvPr id="124940" name="Line 9"/>
              <p:cNvSpPr/>
              <p:nvPr/>
            </p:nvSpPr>
            <p:spPr>
              <a:xfrm flipH="1" flipV="1">
                <a:off x="1200" y="3141"/>
                <a:ext cx="0" cy="432"/>
              </a:xfrm>
              <a:prstGeom prst="line">
                <a:avLst/>
              </a:prstGeom>
              <a:ln w="28575" cap="flat" cmpd="sng">
                <a:solidFill>
                  <a:schemeClr val="hlink"/>
                </a:solidFill>
                <a:prstDash val="solid"/>
                <a:headEnd type="none" w="med" len="med"/>
                <a:tailEnd type="triangle" w="med" len="med"/>
              </a:ln>
            </p:spPr>
          </p:sp>
          <p:sp>
            <p:nvSpPr>
              <p:cNvPr id="124941" name="Rectangle 10"/>
              <p:cNvSpPr/>
              <p:nvPr/>
            </p:nvSpPr>
            <p:spPr>
              <a:xfrm>
                <a:off x="1488" y="3168"/>
                <a:ext cx="192" cy="192"/>
              </a:xfrm>
              <a:prstGeom prst="rect">
                <a:avLst/>
              </a:prstGeom>
              <a:solidFill>
                <a:schemeClr val="bg1"/>
              </a:solidFill>
              <a:ln w="9525" cap="flat" cmpd="sng">
                <a:solidFill>
                  <a:srgbClr val="FF00FF"/>
                </a:solidFill>
                <a:prstDash val="solid"/>
                <a:miter/>
                <a:headEnd type="none" w="med" len="med"/>
                <a:tailEnd type="none" w="med" len="med"/>
              </a:ln>
            </p:spPr>
            <p:txBody>
              <a:bodyPr wrap="none" anchor="ctr"/>
              <a:lstStyle/>
              <a:p>
                <a:pPr lvl="0" algn="ctr" eaLnBrk="1" hangingPunct="1"/>
                <a:r>
                  <a:rPr lang="en-US" altLang="zh-CN" sz="1800" b="1" i="1" dirty="0">
                    <a:solidFill>
                      <a:srgbClr val="A50021"/>
                    </a:solidFill>
                    <a:latin typeface="Times New Roman" panose="02020603050405020304" pitchFamily="18" charset="0"/>
                    <a:ea typeface="华文中宋" panose="02010600040101010101" pitchFamily="2" charset="-122"/>
                    <a:sym typeface="Symbol" panose="05050102010706020507" pitchFamily="18" charset="2"/>
                  </a:rPr>
                  <a:t></a:t>
                </a:r>
                <a:endParaRPr lang="en-US" altLang="zh-CN" sz="1800" b="1" i="1" dirty="0">
                  <a:solidFill>
                    <a:srgbClr val="A50021"/>
                  </a:solidFill>
                  <a:latin typeface="Times New Roman" panose="02020603050405020304" pitchFamily="18" charset="0"/>
                  <a:ea typeface="华文中宋" panose="02010600040101010101" pitchFamily="2" charset="-122"/>
                </a:endParaRPr>
              </a:p>
            </p:txBody>
          </p:sp>
          <p:sp>
            <p:nvSpPr>
              <p:cNvPr id="124942" name="Line 11"/>
              <p:cNvSpPr/>
              <p:nvPr/>
            </p:nvSpPr>
            <p:spPr>
              <a:xfrm flipV="1">
                <a:off x="1584" y="2832"/>
                <a:ext cx="48" cy="336"/>
              </a:xfrm>
              <a:prstGeom prst="line">
                <a:avLst/>
              </a:prstGeom>
              <a:ln w="28575" cap="flat" cmpd="sng">
                <a:solidFill>
                  <a:schemeClr val="hlink"/>
                </a:solidFill>
                <a:prstDash val="solid"/>
                <a:headEnd type="none" w="med" len="med"/>
                <a:tailEnd type="triangle" w="med" len="med"/>
              </a:ln>
            </p:spPr>
          </p:sp>
        </p:grpSp>
      </p:grpSp>
      <p:pic>
        <p:nvPicPr>
          <p:cNvPr id="15" name="内容占位符 1" descr="新校徽（3M）弓之乐"/>
          <p:cNvPicPr>
            <a:picLocks noChangeAspect="1"/>
          </p:cNvPicPr>
          <p:nvPr/>
        </p:nvPicPr>
        <p:blipFill>
          <a:blip r:embed="rId5"/>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日期占位符 3"/>
          <p:cNvSpPr txBox="1">
            <a:spLocks noGrp="1"/>
          </p:cNvSpPr>
          <p:nvPr>
            <p:ph type="dt" sz="half" idx="10"/>
          </p:nvPr>
        </p:nvSpPr>
        <p:spPr>
          <a:xfrm>
            <a:off x="0" y="6581775"/>
            <a:ext cx="2305050" cy="27622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5364" name="灯片编号占位符 5"/>
          <p:cNvSpPr txBox="1">
            <a:spLocks noGrp="1"/>
          </p:cNvSpPr>
          <p:nvPr>
            <p:ph type="sldNum" sz="quarter" idx="12"/>
          </p:nvPr>
        </p:nvSpPr>
        <p:spPr>
          <a:xfrm>
            <a:off x="8613140" y="6553200"/>
            <a:ext cx="482600" cy="283210"/>
          </a:xfrm>
        </p:spPr>
        <p:txBody>
          <a:bodyPr lIns="92075" tIns="46038" rIns="92075" bIns="46038" anchor="ctr"/>
          <a:lstStyle/>
          <a:p>
            <a:pPr algn="r" eaLnBrk="1" hangingPunct="1"/>
            <a:fld id="{9A0DB2DC-4C9A-4742-B13C-FB6460FD3503}" type="slidenum">
              <a:rPr lang="en-US" altLang="zh-CN" sz="1400" dirty="0"/>
              <a:t>137</a:t>
            </a:fld>
            <a:endParaRPr lang="en-US" altLang="zh-CN" sz="1400" dirty="0"/>
          </a:p>
        </p:txBody>
      </p:sp>
      <p:sp>
        <p:nvSpPr>
          <p:cNvPr id="155651" name="Rectangle 3"/>
          <p:cNvSpPr>
            <a:spLocks noGrp="1"/>
          </p:cNvSpPr>
          <p:nvPr>
            <p:ph idx="1"/>
          </p:nvPr>
        </p:nvSpPr>
        <p:spPr>
          <a:xfrm>
            <a:off x="900113" y="1255818"/>
            <a:ext cx="8243887" cy="612670"/>
          </a:xfrm>
        </p:spPr>
        <p:txBody>
          <a:bodyPr vert="horz" wrap="square" lIns="91440" tIns="45720" rIns="91440" bIns="45720" anchor="t"/>
          <a:lstStyle/>
          <a:p>
            <a:pPr eaLnBrk="1" hangingPunct="1"/>
            <a:r>
              <a:rPr lang="zh-CN" altLang="en-US" sz="2800" b="1" dirty="0">
                <a:ea typeface="华文中宋" panose="02010600040101010101" pitchFamily="2" charset="-122"/>
              </a:rPr>
              <a:t>共晶转变结束时，两相的相对重量百分比为</a:t>
            </a:r>
            <a:r>
              <a:rPr lang="en-US" altLang="zh-CN" sz="2800" b="1" dirty="0">
                <a:ea typeface="华文中宋" panose="02010600040101010101" pitchFamily="2" charset="-122"/>
              </a:rPr>
              <a:t>:</a:t>
            </a:r>
            <a:endParaRPr lang="en-US" altLang="zh-CN" dirty="0"/>
          </a:p>
        </p:txBody>
      </p:sp>
      <p:graphicFrame>
        <p:nvGraphicFramePr>
          <p:cNvPr id="155652" name="Object 4"/>
          <p:cNvGraphicFramePr/>
          <p:nvPr/>
        </p:nvGraphicFramePr>
        <p:xfrm>
          <a:off x="427355" y="2152650"/>
          <a:ext cx="6477635" cy="641985"/>
        </p:xfrm>
        <a:graphic>
          <a:graphicData uri="http://schemas.openxmlformats.org/presentationml/2006/ole">
            <mc:AlternateContent xmlns:mc="http://schemas.openxmlformats.org/markup-compatibility/2006">
              <mc:Choice xmlns:v="urn:schemas-microsoft-com:vml" Requires="v">
                <p:oleObj r:id="rId2" imgW="3148330" imgH="393700" progId="Equation.3">
                  <p:embed/>
                </p:oleObj>
              </mc:Choice>
              <mc:Fallback>
                <p:oleObj r:id="rId2" imgW="3148330" imgH="393700" progId="Equation.3">
                  <p:embed/>
                  <p:pic>
                    <p:nvPicPr>
                      <p:cNvPr id="0" name="Object 4"/>
                      <p:cNvPicPr/>
                      <p:nvPr/>
                    </p:nvPicPr>
                    <p:blipFill>
                      <a:blip r:embed="rId3">
                        <a:clrChange>
                          <a:clrFrom>
                            <a:srgbClr val="000000"/>
                          </a:clrFrom>
                          <a:clrTo>
                            <a:srgbClr val="FFFF00"/>
                          </a:clrTo>
                        </a:clrChange>
                      </a:blip>
                      <a:stretch>
                        <a:fillRect/>
                      </a:stretch>
                    </p:blipFill>
                    <p:spPr>
                      <a:xfrm>
                        <a:off x="427355" y="2152650"/>
                        <a:ext cx="6477635" cy="641985"/>
                      </a:xfrm>
                      <a:prstGeom prst="rect">
                        <a:avLst/>
                      </a:prstGeom>
                      <a:solidFill>
                        <a:srgbClr val="FF9900"/>
                      </a:solidFill>
                      <a:ln w="38100">
                        <a:noFill/>
                        <a:miter/>
                      </a:ln>
                    </p:spPr>
                  </p:pic>
                </p:oleObj>
              </mc:Fallback>
            </mc:AlternateContent>
          </a:graphicData>
        </a:graphic>
      </p:graphicFrame>
      <p:sp>
        <p:nvSpPr>
          <p:cNvPr id="155654" name="Rectangle 6"/>
          <p:cNvSpPr/>
          <p:nvPr/>
        </p:nvSpPr>
        <p:spPr>
          <a:xfrm>
            <a:off x="203715" y="2924563"/>
            <a:ext cx="6283325" cy="1606822"/>
          </a:xfrm>
          <a:prstGeom prst="rect">
            <a:avLst/>
          </a:prstGeom>
          <a:noFill/>
          <a:ln w="9525">
            <a:noFill/>
          </a:ln>
        </p:spPr>
        <p:txBody>
          <a:bodyPr/>
          <a:lstStyle/>
          <a:p>
            <a:pPr marL="342900" lvl="0" indent="-342900" eaLnBrk="1" hangingPunct="1">
              <a:lnSpc>
                <a:spcPct val="110000"/>
              </a:lnSpc>
              <a:spcBef>
                <a:spcPct val="20000"/>
              </a:spcBef>
              <a:buClr>
                <a:schemeClr val="accent2"/>
              </a:buClr>
              <a:buSzPct val="80000"/>
              <a:buFont typeface="Wingdings" panose="05000000000000000000" pitchFamily="2" charset="2"/>
              <a:buChar char="l"/>
            </a:pPr>
            <a:r>
              <a:rPr lang="en-US" altLang="zh-CN" sz="2800" b="1" dirty="0">
                <a:latin typeface="Times New Roman" panose="02020603050405020304" pitchFamily="18" charset="0"/>
                <a:ea typeface="华文中宋" panose="02010600040101010101" pitchFamily="2" charset="-122"/>
              </a:rPr>
              <a:t>C</a:t>
            </a:r>
            <a:r>
              <a:rPr lang="zh-CN" altLang="en-US" sz="2800" b="1" dirty="0">
                <a:latin typeface="Times New Roman" panose="02020603050405020304" pitchFamily="18" charset="0"/>
                <a:ea typeface="华文中宋" panose="02010600040101010101" pitchFamily="2" charset="-122"/>
              </a:rPr>
              <a:t>点以下</a:t>
            </a:r>
            <a:r>
              <a:rPr lang="en-US" altLang="zh-CN" sz="2800" b="1" dirty="0">
                <a:latin typeface="Times New Roman" panose="02020603050405020304" pitchFamily="18" charset="0"/>
                <a:ea typeface="华文中宋" panose="02010600040101010101" pitchFamily="2" charset="-122"/>
              </a:rPr>
              <a:t>, </a:t>
            </a:r>
            <a:r>
              <a:rPr lang="en-US" altLang="zh-CN" sz="2800" b="1" i="1" dirty="0">
                <a:latin typeface="Times New Roman" panose="02020603050405020304" pitchFamily="18" charset="0"/>
                <a:ea typeface="华文中宋" panose="02010600040101010101" pitchFamily="2" charset="-122"/>
                <a:sym typeface="Symbol" panose="05050102010706020507" pitchFamily="18" charset="2"/>
              </a:rPr>
              <a:t></a:t>
            </a:r>
            <a:r>
              <a:rPr lang="en-US" altLang="zh-CN" sz="2800" b="1" dirty="0">
                <a:latin typeface="Times New Roman" panose="02020603050405020304" pitchFamily="18" charset="0"/>
                <a:ea typeface="华文中宋" panose="02010600040101010101" pitchFamily="2" charset="-122"/>
                <a:sym typeface="Symbol" panose="05050102010706020507" pitchFamily="18" charset="2"/>
              </a:rPr>
              <a:t> </a:t>
            </a:r>
            <a:r>
              <a:rPr lang="zh-CN" altLang="en-US" sz="2800" b="1" dirty="0">
                <a:latin typeface="Times New Roman" panose="02020603050405020304" pitchFamily="18" charset="0"/>
                <a:ea typeface="华文中宋" panose="02010600040101010101" pitchFamily="2" charset="-122"/>
              </a:rPr>
              <a:t>成分沿</a:t>
            </a:r>
            <a:r>
              <a:rPr lang="en-US" altLang="zh-CN" sz="2800" b="1" dirty="0">
                <a:latin typeface="Times New Roman" panose="02020603050405020304" pitchFamily="18" charset="0"/>
                <a:ea typeface="华文中宋" panose="02010600040101010101" pitchFamily="2" charset="-122"/>
              </a:rPr>
              <a:t>ES</a:t>
            </a:r>
            <a:r>
              <a:rPr lang="zh-CN" altLang="en-US" sz="2800" b="1" dirty="0">
                <a:latin typeface="Times New Roman" panose="02020603050405020304" pitchFamily="18" charset="0"/>
                <a:ea typeface="华文中宋" panose="02010600040101010101" pitchFamily="2" charset="-122"/>
              </a:rPr>
              <a:t>线变化，共晶</a:t>
            </a:r>
            <a:r>
              <a:rPr lang="zh-CN" altLang="en-US" sz="2800" b="1" i="1" dirty="0">
                <a:latin typeface="Times New Roman" panose="02020603050405020304" pitchFamily="18" charset="0"/>
                <a:ea typeface="华文中宋" panose="02010600040101010101" pitchFamily="2" charset="-122"/>
                <a:sym typeface="Symbol" panose="05050102010706020507" pitchFamily="18" charset="2"/>
              </a:rPr>
              <a:t></a:t>
            </a:r>
            <a:r>
              <a:rPr lang="zh-CN" altLang="en-US" sz="2800" b="1" dirty="0">
                <a:latin typeface="Times New Roman" panose="02020603050405020304" pitchFamily="18" charset="0"/>
                <a:ea typeface="华文中宋" panose="02010600040101010101" pitchFamily="2" charset="-122"/>
                <a:sym typeface="Symbol" panose="05050102010706020507" pitchFamily="18" charset="2"/>
              </a:rPr>
              <a:t> </a:t>
            </a:r>
            <a:r>
              <a:rPr lang="zh-CN" altLang="en-US" sz="2800" b="1" dirty="0">
                <a:latin typeface="Times New Roman" panose="02020603050405020304" pitchFamily="18" charset="0"/>
                <a:ea typeface="华文中宋" panose="02010600040101010101" pitchFamily="2" charset="-122"/>
              </a:rPr>
              <a:t>将析出</a:t>
            </a:r>
            <a:r>
              <a:rPr lang="en-US" altLang="zh-CN" sz="2800" b="1" dirty="0">
                <a:latin typeface="Times New Roman" panose="02020603050405020304" pitchFamily="18" charset="0"/>
                <a:ea typeface="华文中宋" panose="02010600040101010101" pitchFamily="2" charset="-122"/>
              </a:rPr>
              <a:t>Fe</a:t>
            </a:r>
            <a:r>
              <a:rPr lang="en-US" altLang="zh-CN" sz="2800" b="1" baseline="-30000" dirty="0">
                <a:latin typeface="Times New Roman" panose="02020603050405020304" pitchFamily="18" charset="0"/>
                <a:ea typeface="华文中宋" panose="02010600040101010101" pitchFamily="2" charset="-122"/>
              </a:rPr>
              <a:t>3</a:t>
            </a:r>
            <a:r>
              <a:rPr lang="en-US" altLang="zh-CN" sz="2800" b="1" dirty="0">
                <a:latin typeface="Times New Roman" panose="02020603050405020304" pitchFamily="18" charset="0"/>
                <a:ea typeface="华文中宋" panose="02010600040101010101" pitchFamily="2" charset="-122"/>
              </a:rPr>
              <a:t>C</a:t>
            </a:r>
            <a:r>
              <a:rPr lang="en-US" altLang="zh-CN" sz="2800" b="1" baseline="-30000" dirty="0">
                <a:latin typeface="Times New Roman" panose="02020603050405020304" pitchFamily="18" charset="0"/>
                <a:ea typeface="华文中宋" panose="02010600040101010101" pitchFamily="2" charset="-122"/>
              </a:rPr>
              <a:t>Ⅱ</a:t>
            </a:r>
            <a:r>
              <a:rPr lang="zh-CN" altLang="en-US" sz="2800" b="1" dirty="0">
                <a:latin typeface="Times New Roman" panose="02020603050405020304" pitchFamily="18" charset="0"/>
                <a:ea typeface="华文中宋" panose="02010600040101010101" pitchFamily="2" charset="-122"/>
              </a:rPr>
              <a:t>。</a:t>
            </a:r>
            <a:r>
              <a:rPr lang="en-US" altLang="zh-CN" sz="2800" b="1" dirty="0">
                <a:latin typeface="Times New Roman" panose="02020603050405020304" pitchFamily="18" charset="0"/>
                <a:ea typeface="华文中宋" panose="02010600040101010101" pitchFamily="2" charset="-122"/>
              </a:rPr>
              <a:t>Fe</a:t>
            </a:r>
            <a:r>
              <a:rPr lang="en-US" altLang="zh-CN" sz="2800" b="1" baseline="-30000" dirty="0">
                <a:latin typeface="Times New Roman" panose="02020603050405020304" pitchFamily="18" charset="0"/>
                <a:ea typeface="华文中宋" panose="02010600040101010101" pitchFamily="2" charset="-122"/>
              </a:rPr>
              <a:t>3</a:t>
            </a:r>
            <a:r>
              <a:rPr lang="en-US" altLang="zh-CN" sz="2800" b="1" dirty="0">
                <a:latin typeface="Times New Roman" panose="02020603050405020304" pitchFamily="18" charset="0"/>
                <a:ea typeface="华文中宋" panose="02010600040101010101" pitchFamily="2" charset="-122"/>
              </a:rPr>
              <a:t>C</a:t>
            </a:r>
            <a:r>
              <a:rPr lang="en-US" altLang="zh-CN" sz="2800" b="1" baseline="-30000" dirty="0">
                <a:latin typeface="Times New Roman" panose="02020603050405020304" pitchFamily="18" charset="0"/>
                <a:ea typeface="华文中宋" panose="02010600040101010101" pitchFamily="2" charset="-122"/>
              </a:rPr>
              <a:t>Ⅱ</a:t>
            </a:r>
            <a:r>
              <a:rPr lang="zh-CN" altLang="en-US" sz="2800" b="1" dirty="0">
                <a:latin typeface="Times New Roman" panose="02020603050405020304" pitchFamily="18" charset="0"/>
                <a:ea typeface="华文中宋" panose="02010600040101010101" pitchFamily="2" charset="-122"/>
              </a:rPr>
              <a:t>与共晶</a:t>
            </a:r>
            <a:r>
              <a:rPr lang="en-US" altLang="zh-CN" sz="2800" b="1" dirty="0">
                <a:latin typeface="Times New Roman" panose="02020603050405020304" pitchFamily="18" charset="0"/>
                <a:ea typeface="华文中宋" panose="02010600040101010101" pitchFamily="2" charset="-122"/>
              </a:rPr>
              <a:t>Fe</a:t>
            </a:r>
            <a:r>
              <a:rPr lang="en-US" altLang="zh-CN" sz="2800" b="1" baseline="-30000" dirty="0">
                <a:latin typeface="Times New Roman" panose="02020603050405020304" pitchFamily="18" charset="0"/>
                <a:ea typeface="华文中宋" panose="02010600040101010101" pitchFamily="2" charset="-122"/>
              </a:rPr>
              <a:t>3</a:t>
            </a:r>
            <a:r>
              <a:rPr lang="en-US" altLang="zh-CN" sz="2800" b="1" dirty="0">
                <a:latin typeface="Times New Roman" panose="02020603050405020304" pitchFamily="18" charset="0"/>
                <a:ea typeface="华文中宋" panose="02010600040101010101" pitchFamily="2" charset="-122"/>
              </a:rPr>
              <a:t>C</a:t>
            </a:r>
            <a:r>
              <a:rPr lang="en-US" altLang="zh-CN" sz="2800" b="1" baseline="-30000" dirty="0">
                <a:latin typeface="Times New Roman" panose="02020603050405020304" pitchFamily="18" charset="0"/>
                <a:ea typeface="华文中宋" panose="02010600040101010101" pitchFamily="2" charset="-122"/>
              </a:rPr>
              <a:t> </a:t>
            </a:r>
            <a:r>
              <a:rPr lang="zh-CN" altLang="en-US" sz="2800" b="1" dirty="0">
                <a:latin typeface="Times New Roman" panose="02020603050405020304" pitchFamily="18" charset="0"/>
                <a:ea typeface="华文中宋" panose="02010600040101010101" pitchFamily="2" charset="-122"/>
              </a:rPr>
              <a:t>结合，不易分辨。</a:t>
            </a:r>
          </a:p>
        </p:txBody>
      </p:sp>
      <p:pic>
        <p:nvPicPr>
          <p:cNvPr id="155655" name="Picture 7" descr="Fe-C共晶结晶过程"/>
          <p:cNvPicPr>
            <a:picLocks noChangeAspect="1"/>
          </p:cNvPicPr>
          <p:nvPr/>
        </p:nvPicPr>
        <p:blipFill>
          <a:blip r:embed="rId4"/>
          <a:stretch>
            <a:fillRect/>
          </a:stretch>
        </p:blipFill>
        <p:spPr>
          <a:xfrm>
            <a:off x="1776316" y="4403619"/>
            <a:ext cx="4420240" cy="2045595"/>
          </a:xfrm>
          <a:prstGeom prst="rect">
            <a:avLst/>
          </a:prstGeom>
          <a:noFill/>
          <a:ln w="28575" cap="flat" cmpd="sng">
            <a:noFill/>
            <a:prstDash val="solid"/>
            <a:miter/>
            <a:headEnd type="none" w="med" len="med"/>
            <a:tailEnd type="none" w="med" len="med"/>
          </a:ln>
        </p:spPr>
      </p:pic>
      <p:grpSp>
        <p:nvGrpSpPr>
          <p:cNvPr id="3" name="Group 133"/>
          <p:cNvGrpSpPr/>
          <p:nvPr/>
        </p:nvGrpSpPr>
        <p:grpSpPr>
          <a:xfrm>
            <a:off x="6692150" y="2162820"/>
            <a:ext cx="2134616" cy="4258618"/>
            <a:chOff x="3925" y="843"/>
            <a:chExt cx="1728" cy="3285"/>
          </a:xfrm>
        </p:grpSpPr>
        <p:grpSp>
          <p:nvGrpSpPr>
            <p:cNvPr id="15370" name="Group 67"/>
            <p:cNvGrpSpPr>
              <a:grpSpLocks noChangeAspect="1"/>
            </p:cNvGrpSpPr>
            <p:nvPr/>
          </p:nvGrpSpPr>
          <p:grpSpPr>
            <a:xfrm>
              <a:off x="4251" y="843"/>
              <a:ext cx="1047" cy="1048"/>
              <a:chOff x="4416" y="1872"/>
              <a:chExt cx="1134" cy="1134"/>
            </a:xfrm>
          </p:grpSpPr>
          <p:sp>
            <p:nvSpPr>
              <p:cNvPr id="15447" name="Oval 8"/>
              <p:cNvSpPr>
                <a:spLocks noChangeAspect="1"/>
              </p:cNvSpPr>
              <p:nvPr/>
            </p:nvSpPr>
            <p:spPr>
              <a:xfrm>
                <a:off x="4416" y="1872"/>
                <a:ext cx="1134" cy="1134"/>
              </a:xfrm>
              <a:prstGeom prst="ellipse">
                <a:avLst/>
              </a:prstGeom>
              <a:solidFill>
                <a:schemeClr val="bg1"/>
              </a:solidFill>
              <a:ln w="28575" cap="flat" cmpd="sng">
                <a:solidFill>
                  <a:srgbClr val="CC99FF"/>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48" name="Oval 10"/>
              <p:cNvSpPr>
                <a:spLocks noChangeAspect="1"/>
              </p:cNvSpPr>
              <p:nvPr/>
            </p:nvSpPr>
            <p:spPr>
              <a:xfrm>
                <a:off x="4944" y="1920"/>
                <a:ext cx="96" cy="96"/>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49" name="Oval 11"/>
              <p:cNvSpPr>
                <a:spLocks noChangeAspect="1"/>
              </p:cNvSpPr>
              <p:nvPr/>
            </p:nvSpPr>
            <p:spPr>
              <a:xfrm>
                <a:off x="4752" y="2208"/>
                <a:ext cx="96" cy="96"/>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50" name="Oval 12"/>
              <p:cNvSpPr>
                <a:spLocks noChangeAspect="1"/>
              </p:cNvSpPr>
              <p:nvPr/>
            </p:nvSpPr>
            <p:spPr>
              <a:xfrm>
                <a:off x="4512" y="2400"/>
                <a:ext cx="96" cy="96"/>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51" name="Oval 13"/>
              <p:cNvSpPr>
                <a:spLocks noChangeAspect="1"/>
              </p:cNvSpPr>
              <p:nvPr/>
            </p:nvSpPr>
            <p:spPr>
              <a:xfrm>
                <a:off x="4896" y="2304"/>
                <a:ext cx="96" cy="96"/>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52" name="Oval 14"/>
              <p:cNvSpPr>
                <a:spLocks noChangeAspect="1"/>
              </p:cNvSpPr>
              <p:nvPr/>
            </p:nvSpPr>
            <p:spPr>
              <a:xfrm>
                <a:off x="5040" y="2448"/>
                <a:ext cx="96" cy="96"/>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53" name="Oval 15"/>
              <p:cNvSpPr>
                <a:spLocks noChangeAspect="1"/>
              </p:cNvSpPr>
              <p:nvPr/>
            </p:nvSpPr>
            <p:spPr>
              <a:xfrm>
                <a:off x="5184" y="2640"/>
                <a:ext cx="96" cy="96"/>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54" name="Oval 16"/>
              <p:cNvSpPr>
                <a:spLocks noChangeAspect="1"/>
              </p:cNvSpPr>
              <p:nvPr/>
            </p:nvSpPr>
            <p:spPr>
              <a:xfrm>
                <a:off x="5328" y="2688"/>
                <a:ext cx="96" cy="96"/>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55" name="Oval 17"/>
              <p:cNvSpPr>
                <a:spLocks noChangeAspect="1"/>
              </p:cNvSpPr>
              <p:nvPr/>
            </p:nvSpPr>
            <p:spPr>
              <a:xfrm>
                <a:off x="4560" y="2544"/>
                <a:ext cx="96" cy="96"/>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56" name="Oval 18"/>
              <p:cNvSpPr>
                <a:spLocks noChangeAspect="1"/>
              </p:cNvSpPr>
              <p:nvPr/>
            </p:nvSpPr>
            <p:spPr>
              <a:xfrm>
                <a:off x="4944" y="2592"/>
                <a:ext cx="96" cy="96"/>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57" name="Oval 19"/>
              <p:cNvSpPr>
                <a:spLocks noChangeAspect="1"/>
              </p:cNvSpPr>
              <p:nvPr/>
            </p:nvSpPr>
            <p:spPr>
              <a:xfrm>
                <a:off x="5088" y="2832"/>
                <a:ext cx="96" cy="96"/>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58" name="Oval 20"/>
              <p:cNvSpPr>
                <a:spLocks noChangeAspect="1"/>
              </p:cNvSpPr>
              <p:nvPr/>
            </p:nvSpPr>
            <p:spPr>
              <a:xfrm>
                <a:off x="5088" y="2016"/>
                <a:ext cx="96" cy="96"/>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59" name="Oval 21"/>
              <p:cNvSpPr>
                <a:spLocks noChangeAspect="1"/>
              </p:cNvSpPr>
              <p:nvPr/>
            </p:nvSpPr>
            <p:spPr>
              <a:xfrm>
                <a:off x="5088" y="2256"/>
                <a:ext cx="96" cy="96"/>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60" name="Oval 22"/>
              <p:cNvSpPr>
                <a:spLocks noChangeAspect="1"/>
              </p:cNvSpPr>
              <p:nvPr/>
            </p:nvSpPr>
            <p:spPr>
              <a:xfrm>
                <a:off x="5232" y="2160"/>
                <a:ext cx="96" cy="96"/>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61" name="Oval 23"/>
              <p:cNvSpPr>
                <a:spLocks noChangeAspect="1"/>
              </p:cNvSpPr>
              <p:nvPr/>
            </p:nvSpPr>
            <p:spPr>
              <a:xfrm>
                <a:off x="5232" y="2400"/>
                <a:ext cx="96" cy="96"/>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62" name="Oval 24"/>
              <p:cNvSpPr>
                <a:spLocks noChangeAspect="1"/>
              </p:cNvSpPr>
              <p:nvPr/>
            </p:nvSpPr>
            <p:spPr>
              <a:xfrm>
                <a:off x="5376" y="2352"/>
                <a:ext cx="96" cy="96"/>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63" name="Oval 25"/>
              <p:cNvSpPr>
                <a:spLocks noChangeAspect="1"/>
              </p:cNvSpPr>
              <p:nvPr/>
            </p:nvSpPr>
            <p:spPr>
              <a:xfrm>
                <a:off x="5376" y="2496"/>
                <a:ext cx="96" cy="96"/>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64" name="Oval 26"/>
              <p:cNvSpPr>
                <a:spLocks noChangeAspect="1"/>
              </p:cNvSpPr>
              <p:nvPr/>
            </p:nvSpPr>
            <p:spPr>
              <a:xfrm>
                <a:off x="4560" y="2064"/>
                <a:ext cx="96" cy="96"/>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65" name="Oval 27"/>
              <p:cNvSpPr>
                <a:spLocks noChangeAspect="1"/>
              </p:cNvSpPr>
              <p:nvPr/>
            </p:nvSpPr>
            <p:spPr>
              <a:xfrm>
                <a:off x="4704" y="2400"/>
                <a:ext cx="96" cy="96"/>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66" name="Oval 28"/>
              <p:cNvSpPr>
                <a:spLocks noChangeAspect="1"/>
              </p:cNvSpPr>
              <p:nvPr/>
            </p:nvSpPr>
            <p:spPr>
              <a:xfrm>
                <a:off x="4848" y="2448"/>
                <a:ext cx="96" cy="96"/>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67" name="Oval 29"/>
              <p:cNvSpPr>
                <a:spLocks noChangeAspect="1"/>
              </p:cNvSpPr>
              <p:nvPr/>
            </p:nvSpPr>
            <p:spPr>
              <a:xfrm>
                <a:off x="4704" y="2640"/>
                <a:ext cx="96" cy="96"/>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68" name="Oval 30"/>
              <p:cNvSpPr>
                <a:spLocks noChangeAspect="1"/>
              </p:cNvSpPr>
              <p:nvPr/>
            </p:nvSpPr>
            <p:spPr>
              <a:xfrm>
                <a:off x="4704" y="2784"/>
                <a:ext cx="96" cy="96"/>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69" name="Oval 31"/>
              <p:cNvSpPr>
                <a:spLocks noChangeAspect="1"/>
              </p:cNvSpPr>
              <p:nvPr/>
            </p:nvSpPr>
            <p:spPr>
              <a:xfrm>
                <a:off x="4896" y="2832"/>
                <a:ext cx="96" cy="96"/>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70" name="Oval 32"/>
              <p:cNvSpPr>
                <a:spLocks noChangeAspect="1"/>
              </p:cNvSpPr>
              <p:nvPr/>
            </p:nvSpPr>
            <p:spPr>
              <a:xfrm>
                <a:off x="4752" y="2016"/>
                <a:ext cx="96" cy="96"/>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71" name="Oval 33"/>
              <p:cNvSpPr>
                <a:spLocks noChangeAspect="1"/>
              </p:cNvSpPr>
              <p:nvPr/>
            </p:nvSpPr>
            <p:spPr>
              <a:xfrm>
                <a:off x="4992" y="2736"/>
                <a:ext cx="96" cy="96"/>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72" name="Oval 34"/>
              <p:cNvSpPr>
                <a:spLocks noChangeAspect="1"/>
              </p:cNvSpPr>
              <p:nvPr/>
            </p:nvSpPr>
            <p:spPr>
              <a:xfrm>
                <a:off x="5232" y="2016"/>
                <a:ext cx="96" cy="96"/>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73" name="Oval 35"/>
              <p:cNvSpPr>
                <a:spLocks noChangeAspect="1"/>
              </p:cNvSpPr>
              <p:nvPr/>
            </p:nvSpPr>
            <p:spPr>
              <a:xfrm>
                <a:off x="5424" y="2208"/>
                <a:ext cx="96" cy="96"/>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74" name="Oval 36"/>
              <p:cNvSpPr>
                <a:spLocks noChangeAspect="1"/>
              </p:cNvSpPr>
              <p:nvPr/>
            </p:nvSpPr>
            <p:spPr>
              <a:xfrm>
                <a:off x="4992" y="2112"/>
                <a:ext cx="96" cy="96"/>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75" name="Oval 37"/>
              <p:cNvSpPr>
                <a:spLocks noChangeAspect="1"/>
              </p:cNvSpPr>
              <p:nvPr/>
            </p:nvSpPr>
            <p:spPr>
              <a:xfrm>
                <a:off x="4560" y="2256"/>
                <a:ext cx="96" cy="96"/>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grpSp>
        <p:sp>
          <p:nvSpPr>
            <p:cNvPr id="15371" name="Text Box 77"/>
            <p:cNvSpPr txBox="1">
              <a:spLocks noChangeAspect="1"/>
            </p:cNvSpPr>
            <p:nvPr/>
          </p:nvSpPr>
          <p:spPr>
            <a:xfrm>
              <a:off x="3951" y="1046"/>
              <a:ext cx="354" cy="327"/>
            </a:xfrm>
            <a:prstGeom prst="rect">
              <a:avLst/>
            </a:prstGeom>
            <a:noFill/>
            <a:ln w="9525">
              <a:noFill/>
            </a:ln>
          </p:spPr>
          <p:txBody>
            <a:bodyPr>
              <a:spAutoFit/>
            </a:bodyPr>
            <a:lstStyle/>
            <a:p>
              <a:pPr lvl="0" eaLnBrk="1" hangingPunct="1">
                <a:spcBef>
                  <a:spcPct val="50000"/>
                </a:spcBef>
              </a:pPr>
              <a:r>
                <a:rPr lang="en-US" altLang="zh-CN" sz="2800" b="1" dirty="0">
                  <a:solidFill>
                    <a:schemeClr val="folHlink"/>
                  </a:solidFill>
                  <a:latin typeface="Times New Roman" panose="02020603050405020304" pitchFamily="18" charset="0"/>
                  <a:ea typeface="宋体" panose="02010600030101010101" pitchFamily="2" charset="-122"/>
                </a:rPr>
                <a:t>1’</a:t>
              </a:r>
            </a:p>
          </p:txBody>
        </p:sp>
        <p:sp>
          <p:nvSpPr>
            <p:cNvPr id="15372" name="Text Box 78"/>
            <p:cNvSpPr txBox="1">
              <a:spLocks noChangeAspect="1"/>
            </p:cNvSpPr>
            <p:nvPr/>
          </p:nvSpPr>
          <p:spPr>
            <a:xfrm>
              <a:off x="3973" y="2295"/>
              <a:ext cx="220" cy="327"/>
            </a:xfrm>
            <a:prstGeom prst="rect">
              <a:avLst/>
            </a:prstGeom>
            <a:noFill/>
            <a:ln w="9525">
              <a:noFill/>
            </a:ln>
          </p:spPr>
          <p:txBody>
            <a:bodyPr>
              <a:spAutoFit/>
            </a:bodyPr>
            <a:lstStyle/>
            <a:p>
              <a:pPr lvl="0" eaLnBrk="1" hangingPunct="1">
                <a:spcBef>
                  <a:spcPct val="50000"/>
                </a:spcBef>
              </a:pPr>
              <a:r>
                <a:rPr lang="en-US" altLang="zh-CN" sz="2800" b="1" dirty="0">
                  <a:solidFill>
                    <a:schemeClr val="folHlink"/>
                  </a:solidFill>
                  <a:latin typeface="Times New Roman" panose="02020603050405020304" pitchFamily="18" charset="0"/>
                  <a:ea typeface="宋体" panose="02010600030101010101" pitchFamily="2" charset="-122"/>
                </a:rPr>
                <a:t>2</a:t>
              </a:r>
            </a:p>
          </p:txBody>
        </p:sp>
        <p:sp>
          <p:nvSpPr>
            <p:cNvPr id="15373" name="Text Box 79"/>
            <p:cNvSpPr txBox="1">
              <a:spLocks noChangeAspect="1"/>
            </p:cNvSpPr>
            <p:nvPr/>
          </p:nvSpPr>
          <p:spPr>
            <a:xfrm>
              <a:off x="4118" y="1774"/>
              <a:ext cx="265" cy="327"/>
            </a:xfrm>
            <a:prstGeom prst="rect">
              <a:avLst/>
            </a:prstGeom>
            <a:noFill/>
            <a:ln w="9525">
              <a:noFill/>
            </a:ln>
          </p:spPr>
          <p:txBody>
            <a:bodyPr>
              <a:spAutoFit/>
            </a:bodyPr>
            <a:lstStyle/>
            <a:p>
              <a:pPr lvl="0" eaLnBrk="1" hangingPunct="1">
                <a:spcBef>
                  <a:spcPct val="50000"/>
                </a:spcBef>
              </a:pPr>
              <a:r>
                <a:rPr lang="en-US" altLang="zh-CN" sz="2800" b="1" dirty="0">
                  <a:solidFill>
                    <a:schemeClr val="folHlink"/>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1" dirty="0">
                <a:solidFill>
                  <a:schemeClr val="folHlink"/>
                </a:solidFill>
                <a:latin typeface="Times New Roman" panose="02020603050405020304" pitchFamily="18" charset="0"/>
                <a:ea typeface="宋体" panose="02010600030101010101" pitchFamily="2" charset="-122"/>
              </a:endParaRPr>
            </a:p>
          </p:txBody>
        </p:sp>
        <p:sp>
          <p:nvSpPr>
            <p:cNvPr id="15374" name="Line 80"/>
            <p:cNvSpPr>
              <a:spLocks noChangeAspect="1"/>
            </p:cNvSpPr>
            <p:nvPr/>
          </p:nvSpPr>
          <p:spPr>
            <a:xfrm flipH="1">
              <a:off x="4296" y="1597"/>
              <a:ext cx="265" cy="310"/>
            </a:xfrm>
            <a:prstGeom prst="line">
              <a:avLst/>
            </a:prstGeom>
            <a:ln w="28575" cap="flat" cmpd="sng">
              <a:solidFill>
                <a:srgbClr val="CC0000"/>
              </a:solidFill>
              <a:prstDash val="solid"/>
              <a:headEnd type="none" w="med" len="med"/>
              <a:tailEnd type="none" w="med" len="med"/>
            </a:ln>
          </p:spPr>
        </p:sp>
        <p:sp>
          <p:nvSpPr>
            <p:cNvPr id="15375" name="Text Box 82"/>
            <p:cNvSpPr txBox="1">
              <a:spLocks noChangeAspect="1"/>
            </p:cNvSpPr>
            <p:nvPr/>
          </p:nvSpPr>
          <p:spPr>
            <a:xfrm>
              <a:off x="4974" y="1776"/>
              <a:ext cx="679" cy="314"/>
            </a:xfrm>
            <a:prstGeom prst="rect">
              <a:avLst/>
            </a:prstGeom>
            <a:noFill/>
            <a:ln w="9525">
              <a:noFill/>
            </a:ln>
          </p:spPr>
          <p:txBody>
            <a:bodyPr wrap="square">
              <a:spAutoFit/>
            </a:bodyPr>
            <a:lstStyle/>
            <a:p>
              <a:pPr lvl="0" eaLnBrk="1" hangingPunct="1">
                <a:spcBef>
                  <a:spcPct val="50000"/>
                </a:spcBef>
              </a:pPr>
              <a:r>
                <a:rPr lang="en-US" altLang="zh-CN" sz="2400" b="1" dirty="0">
                  <a:solidFill>
                    <a:srgbClr val="0000FF"/>
                  </a:solidFill>
                  <a:latin typeface="Times New Roman" panose="02020603050405020304" pitchFamily="18" charset="0"/>
                  <a:ea typeface="华文中宋" panose="02010600040101010101" pitchFamily="2" charset="-122"/>
                </a:rPr>
                <a:t>Fe</a:t>
              </a:r>
              <a:r>
                <a:rPr lang="en-US" altLang="zh-CN" sz="2400" b="1" baseline="-30000" dirty="0">
                  <a:solidFill>
                    <a:srgbClr val="0000FF"/>
                  </a:solidFill>
                  <a:latin typeface="Times New Roman" panose="02020603050405020304" pitchFamily="18" charset="0"/>
                  <a:ea typeface="华文中宋" panose="02010600040101010101" pitchFamily="2" charset="-122"/>
                </a:rPr>
                <a:t>3</a:t>
              </a:r>
              <a:r>
                <a:rPr lang="en-US" altLang="zh-CN" sz="2400" b="1" dirty="0">
                  <a:solidFill>
                    <a:srgbClr val="0000FF"/>
                  </a:solidFill>
                  <a:latin typeface="Times New Roman" panose="02020603050405020304" pitchFamily="18" charset="0"/>
                  <a:ea typeface="华文中宋" panose="02010600040101010101" pitchFamily="2" charset="-122"/>
                </a:rPr>
                <a:t>C</a:t>
              </a:r>
              <a:endParaRPr lang="en-US" altLang="zh-CN" sz="2400" b="1" baseline="-30000" dirty="0">
                <a:solidFill>
                  <a:srgbClr val="0000FF"/>
                </a:solidFill>
                <a:latin typeface="Times New Roman" panose="02020603050405020304" pitchFamily="18" charset="0"/>
                <a:ea typeface="华文中宋" panose="02010600040101010101" pitchFamily="2" charset="-122"/>
              </a:endParaRPr>
            </a:p>
          </p:txBody>
        </p:sp>
        <p:sp>
          <p:nvSpPr>
            <p:cNvPr id="15376" name="Line 83"/>
            <p:cNvSpPr>
              <a:spLocks noChangeAspect="1"/>
            </p:cNvSpPr>
            <p:nvPr/>
          </p:nvSpPr>
          <p:spPr>
            <a:xfrm>
              <a:off x="5004" y="1730"/>
              <a:ext cx="288" cy="116"/>
            </a:xfrm>
            <a:prstGeom prst="line">
              <a:avLst/>
            </a:prstGeom>
            <a:ln w="28575" cap="flat" cmpd="sng">
              <a:solidFill>
                <a:srgbClr val="CC0000"/>
              </a:solidFill>
              <a:prstDash val="solid"/>
              <a:headEnd type="none" w="med" len="med"/>
              <a:tailEnd type="none" w="med" len="med"/>
            </a:ln>
          </p:spPr>
        </p:sp>
        <p:grpSp>
          <p:nvGrpSpPr>
            <p:cNvPr id="15377" name="Group 126"/>
            <p:cNvGrpSpPr>
              <a:grpSpLocks noChangeAspect="1"/>
            </p:cNvGrpSpPr>
            <p:nvPr/>
          </p:nvGrpSpPr>
          <p:grpSpPr>
            <a:xfrm>
              <a:off x="4251" y="1951"/>
              <a:ext cx="1047" cy="1048"/>
              <a:chOff x="4254" y="1816"/>
              <a:chExt cx="990" cy="991"/>
            </a:xfrm>
          </p:grpSpPr>
          <p:sp>
            <p:nvSpPr>
              <p:cNvPr id="15416" name="Oval 38"/>
              <p:cNvSpPr>
                <a:spLocks noChangeAspect="1"/>
              </p:cNvSpPr>
              <p:nvPr/>
            </p:nvSpPr>
            <p:spPr>
              <a:xfrm>
                <a:off x="4254" y="1816"/>
                <a:ext cx="990" cy="991"/>
              </a:xfrm>
              <a:prstGeom prst="ellipse">
                <a:avLst/>
              </a:prstGeom>
              <a:solidFill>
                <a:schemeClr val="bg1"/>
              </a:solidFill>
              <a:ln w="28575" cap="flat" cmpd="sng">
                <a:solidFill>
                  <a:srgbClr val="CC99FF"/>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17" name="Oval 39"/>
              <p:cNvSpPr>
                <a:spLocks noChangeAspect="1"/>
              </p:cNvSpPr>
              <p:nvPr/>
            </p:nvSpPr>
            <p:spPr>
              <a:xfrm>
                <a:off x="4715" y="1858"/>
                <a:ext cx="64" cy="64"/>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18" name="Oval 40"/>
              <p:cNvSpPr>
                <a:spLocks noChangeAspect="1"/>
              </p:cNvSpPr>
              <p:nvPr/>
            </p:nvSpPr>
            <p:spPr>
              <a:xfrm>
                <a:off x="4547" y="2110"/>
                <a:ext cx="64" cy="63"/>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19" name="Oval 41"/>
              <p:cNvSpPr>
                <a:spLocks noChangeAspect="1"/>
              </p:cNvSpPr>
              <p:nvPr/>
            </p:nvSpPr>
            <p:spPr>
              <a:xfrm>
                <a:off x="4338" y="2277"/>
                <a:ext cx="64" cy="64"/>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20" name="Oval 44"/>
              <p:cNvSpPr>
                <a:spLocks noChangeAspect="1"/>
              </p:cNvSpPr>
              <p:nvPr/>
            </p:nvSpPr>
            <p:spPr>
              <a:xfrm>
                <a:off x="4924" y="2487"/>
                <a:ext cx="64" cy="64"/>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21" name="Oval 45"/>
              <p:cNvSpPr>
                <a:spLocks noChangeAspect="1"/>
              </p:cNvSpPr>
              <p:nvPr/>
            </p:nvSpPr>
            <p:spPr>
              <a:xfrm>
                <a:off x="5050" y="2529"/>
                <a:ext cx="64" cy="64"/>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22" name="Oval 46"/>
              <p:cNvSpPr>
                <a:spLocks noChangeAspect="1"/>
              </p:cNvSpPr>
              <p:nvPr/>
            </p:nvSpPr>
            <p:spPr>
              <a:xfrm>
                <a:off x="4380" y="2403"/>
                <a:ext cx="63" cy="64"/>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23" name="Oval 47"/>
              <p:cNvSpPr>
                <a:spLocks noChangeAspect="1"/>
              </p:cNvSpPr>
              <p:nvPr/>
            </p:nvSpPr>
            <p:spPr>
              <a:xfrm>
                <a:off x="4715" y="2445"/>
                <a:ext cx="64" cy="64"/>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24" name="Oval 48"/>
              <p:cNvSpPr>
                <a:spLocks noChangeAspect="1"/>
              </p:cNvSpPr>
              <p:nvPr/>
            </p:nvSpPr>
            <p:spPr>
              <a:xfrm>
                <a:off x="4841" y="2655"/>
                <a:ext cx="63" cy="64"/>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25" name="Oval 50"/>
              <p:cNvSpPr>
                <a:spLocks noChangeAspect="1"/>
              </p:cNvSpPr>
              <p:nvPr/>
            </p:nvSpPr>
            <p:spPr>
              <a:xfrm>
                <a:off x="4841" y="2152"/>
                <a:ext cx="63" cy="63"/>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26" name="Oval 51"/>
              <p:cNvSpPr>
                <a:spLocks noChangeAspect="1"/>
              </p:cNvSpPr>
              <p:nvPr/>
            </p:nvSpPr>
            <p:spPr>
              <a:xfrm>
                <a:off x="4966" y="2068"/>
                <a:ext cx="64" cy="63"/>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27" name="Oval 52"/>
              <p:cNvSpPr>
                <a:spLocks noChangeAspect="1"/>
              </p:cNvSpPr>
              <p:nvPr/>
            </p:nvSpPr>
            <p:spPr>
              <a:xfrm>
                <a:off x="4966" y="2277"/>
                <a:ext cx="64" cy="64"/>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28" name="Oval 53"/>
              <p:cNvSpPr>
                <a:spLocks noChangeAspect="1"/>
              </p:cNvSpPr>
              <p:nvPr/>
            </p:nvSpPr>
            <p:spPr>
              <a:xfrm>
                <a:off x="5092" y="2235"/>
                <a:ext cx="64" cy="64"/>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29" name="Oval 54"/>
              <p:cNvSpPr>
                <a:spLocks noChangeAspect="1"/>
              </p:cNvSpPr>
              <p:nvPr/>
            </p:nvSpPr>
            <p:spPr>
              <a:xfrm>
                <a:off x="5092" y="2361"/>
                <a:ext cx="64" cy="64"/>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30" name="Oval 55"/>
              <p:cNvSpPr>
                <a:spLocks noChangeAspect="1"/>
              </p:cNvSpPr>
              <p:nvPr/>
            </p:nvSpPr>
            <p:spPr>
              <a:xfrm>
                <a:off x="4380" y="1984"/>
                <a:ext cx="63" cy="64"/>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31" name="Oval 56"/>
              <p:cNvSpPr>
                <a:spLocks noChangeAspect="1"/>
              </p:cNvSpPr>
              <p:nvPr/>
            </p:nvSpPr>
            <p:spPr>
              <a:xfrm>
                <a:off x="4505" y="2277"/>
                <a:ext cx="64" cy="64"/>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32" name="Oval 57"/>
              <p:cNvSpPr>
                <a:spLocks noChangeAspect="1"/>
              </p:cNvSpPr>
              <p:nvPr/>
            </p:nvSpPr>
            <p:spPr>
              <a:xfrm>
                <a:off x="4631" y="2319"/>
                <a:ext cx="64" cy="64"/>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33" name="Oval 58"/>
              <p:cNvSpPr>
                <a:spLocks noChangeAspect="1"/>
              </p:cNvSpPr>
              <p:nvPr/>
            </p:nvSpPr>
            <p:spPr>
              <a:xfrm>
                <a:off x="4505" y="2487"/>
                <a:ext cx="64" cy="64"/>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34" name="Oval 59"/>
              <p:cNvSpPr>
                <a:spLocks noChangeAspect="1"/>
              </p:cNvSpPr>
              <p:nvPr/>
            </p:nvSpPr>
            <p:spPr>
              <a:xfrm>
                <a:off x="4505" y="2613"/>
                <a:ext cx="64" cy="64"/>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35" name="Oval 61"/>
              <p:cNvSpPr>
                <a:spLocks noChangeAspect="1"/>
              </p:cNvSpPr>
              <p:nvPr/>
            </p:nvSpPr>
            <p:spPr>
              <a:xfrm>
                <a:off x="4547" y="1942"/>
                <a:ext cx="64" cy="64"/>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36" name="Oval 62"/>
              <p:cNvSpPr>
                <a:spLocks noChangeAspect="1"/>
              </p:cNvSpPr>
              <p:nvPr/>
            </p:nvSpPr>
            <p:spPr>
              <a:xfrm>
                <a:off x="4757" y="2571"/>
                <a:ext cx="64" cy="64"/>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37" name="Oval 63"/>
              <p:cNvSpPr>
                <a:spLocks noChangeAspect="1"/>
              </p:cNvSpPr>
              <p:nvPr/>
            </p:nvSpPr>
            <p:spPr>
              <a:xfrm>
                <a:off x="4966" y="1942"/>
                <a:ext cx="64" cy="64"/>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38" name="Oval 64"/>
              <p:cNvSpPr>
                <a:spLocks noChangeAspect="1"/>
              </p:cNvSpPr>
              <p:nvPr/>
            </p:nvSpPr>
            <p:spPr>
              <a:xfrm>
                <a:off x="5134" y="2110"/>
                <a:ext cx="64" cy="63"/>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39" name="Oval 65"/>
              <p:cNvSpPr>
                <a:spLocks noChangeAspect="1"/>
              </p:cNvSpPr>
              <p:nvPr/>
            </p:nvSpPr>
            <p:spPr>
              <a:xfrm>
                <a:off x="4757" y="2026"/>
                <a:ext cx="64" cy="64"/>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40" name="Oval 66"/>
              <p:cNvSpPr>
                <a:spLocks noChangeAspect="1"/>
              </p:cNvSpPr>
              <p:nvPr/>
            </p:nvSpPr>
            <p:spPr>
              <a:xfrm>
                <a:off x="4380" y="2152"/>
                <a:ext cx="63" cy="63"/>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41" name="Oval 70"/>
              <p:cNvSpPr>
                <a:spLocks noChangeAspect="1"/>
              </p:cNvSpPr>
              <p:nvPr/>
            </p:nvSpPr>
            <p:spPr>
              <a:xfrm>
                <a:off x="4799" y="2324"/>
                <a:ext cx="63" cy="64"/>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42" name="Oval 71"/>
              <p:cNvSpPr>
                <a:spLocks noChangeAspect="1"/>
              </p:cNvSpPr>
              <p:nvPr/>
            </p:nvSpPr>
            <p:spPr>
              <a:xfrm>
                <a:off x="4841" y="1946"/>
                <a:ext cx="63" cy="64"/>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43" name="Oval 72"/>
              <p:cNvSpPr>
                <a:spLocks noChangeAspect="1"/>
              </p:cNvSpPr>
              <p:nvPr/>
            </p:nvSpPr>
            <p:spPr>
              <a:xfrm>
                <a:off x="4673" y="2659"/>
                <a:ext cx="64" cy="64"/>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44" name="Oval 75"/>
              <p:cNvSpPr>
                <a:spLocks noChangeAspect="1"/>
              </p:cNvSpPr>
              <p:nvPr/>
            </p:nvSpPr>
            <p:spPr>
              <a:xfrm>
                <a:off x="4651" y="2178"/>
                <a:ext cx="64" cy="64"/>
              </a:xfrm>
              <a:prstGeom prst="ellipse">
                <a:avLst/>
              </a:prstGeom>
              <a:no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45" name="Line 81"/>
              <p:cNvSpPr>
                <a:spLocks noChangeAspect="1"/>
              </p:cNvSpPr>
              <p:nvPr/>
            </p:nvSpPr>
            <p:spPr>
              <a:xfrm flipH="1" flipV="1">
                <a:off x="4296" y="1858"/>
                <a:ext cx="125" cy="336"/>
              </a:xfrm>
              <a:prstGeom prst="line">
                <a:avLst/>
              </a:prstGeom>
              <a:ln w="28575" cap="flat" cmpd="sng">
                <a:solidFill>
                  <a:srgbClr val="CC0000"/>
                </a:solidFill>
                <a:prstDash val="solid"/>
                <a:headEnd type="none" w="med" len="med"/>
                <a:tailEnd type="none" w="med" len="med"/>
              </a:ln>
            </p:spPr>
          </p:sp>
          <p:sp>
            <p:nvSpPr>
              <p:cNvPr id="15446" name="Line 84"/>
              <p:cNvSpPr>
                <a:spLocks noChangeAspect="1"/>
              </p:cNvSpPr>
              <p:nvPr/>
            </p:nvSpPr>
            <p:spPr>
              <a:xfrm flipV="1">
                <a:off x="5092" y="1984"/>
                <a:ext cx="126" cy="126"/>
              </a:xfrm>
              <a:prstGeom prst="line">
                <a:avLst/>
              </a:prstGeom>
              <a:ln w="28575" cap="flat" cmpd="sng">
                <a:solidFill>
                  <a:srgbClr val="CC0000"/>
                </a:solidFill>
                <a:prstDash val="solid"/>
                <a:headEnd type="none" w="med" len="med"/>
                <a:tailEnd type="none" w="med" len="med"/>
              </a:ln>
            </p:spPr>
          </p:sp>
        </p:grpSp>
        <p:sp>
          <p:nvSpPr>
            <p:cNvPr id="15378" name="Freeform 89"/>
            <p:cNvSpPr>
              <a:spLocks noChangeAspect="1"/>
            </p:cNvSpPr>
            <p:nvPr/>
          </p:nvSpPr>
          <p:spPr>
            <a:xfrm flipH="1">
              <a:off x="3929" y="1303"/>
              <a:ext cx="96" cy="1108"/>
            </a:xfrm>
            <a:custGeom>
              <a:avLst/>
              <a:gdLst>
                <a:gd name="txL" fmla="*/ 0 w 192"/>
                <a:gd name="txT" fmla="*/ 0 h 1200"/>
                <a:gd name="txR" fmla="*/ 192 w 192"/>
                <a:gd name="txB" fmla="*/ 1200 h 1200"/>
              </a:gdLst>
              <a:ahLst/>
              <a:cxnLst>
                <a:cxn ang="0">
                  <a:pos x="0" y="0"/>
                </a:cxn>
                <a:cxn ang="0">
                  <a:pos x="1" y="259"/>
                </a:cxn>
                <a:cxn ang="0">
                  <a:pos x="0" y="499"/>
                </a:cxn>
              </a:cxnLst>
              <a:rect l="txL" t="txT" r="txR" b="txB"/>
              <a:pathLst>
                <a:path w="192" h="1200">
                  <a:moveTo>
                    <a:pt x="0" y="0"/>
                  </a:moveTo>
                  <a:cubicBezTo>
                    <a:pt x="96" y="212"/>
                    <a:pt x="192" y="424"/>
                    <a:pt x="192" y="624"/>
                  </a:cubicBezTo>
                  <a:cubicBezTo>
                    <a:pt x="192" y="824"/>
                    <a:pt x="96" y="1012"/>
                    <a:pt x="0" y="1200"/>
                  </a:cubicBezTo>
                </a:path>
              </a:pathLst>
            </a:custGeom>
            <a:noFill/>
            <a:ln w="28575" cap="flat" cmpd="sng">
              <a:solidFill>
                <a:srgbClr val="CCFF33">
                  <a:alpha val="100000"/>
                </a:srgbClr>
              </a:solidFill>
              <a:prstDash val="solid"/>
              <a:round/>
              <a:headEnd type="none" w="med" len="med"/>
              <a:tailEnd type="stealth" w="med" len="lg"/>
            </a:ln>
          </p:spPr>
          <p:txBody>
            <a:bodyPr/>
            <a:lstStyle/>
            <a:p>
              <a:endParaRPr lang="zh-CN" altLang="en-US"/>
            </a:p>
          </p:txBody>
        </p:sp>
        <p:grpSp>
          <p:nvGrpSpPr>
            <p:cNvPr id="15379" name="Group 124"/>
            <p:cNvGrpSpPr>
              <a:grpSpLocks noChangeAspect="1"/>
            </p:cNvGrpSpPr>
            <p:nvPr/>
          </p:nvGrpSpPr>
          <p:grpSpPr>
            <a:xfrm>
              <a:off x="4270" y="3080"/>
              <a:ext cx="1047" cy="1048"/>
              <a:chOff x="4183" y="313"/>
              <a:chExt cx="990" cy="991"/>
            </a:xfrm>
          </p:grpSpPr>
          <p:sp>
            <p:nvSpPr>
              <p:cNvPr id="15387" name="Oval 92"/>
              <p:cNvSpPr>
                <a:spLocks noChangeAspect="1"/>
              </p:cNvSpPr>
              <p:nvPr/>
            </p:nvSpPr>
            <p:spPr>
              <a:xfrm>
                <a:off x="4183" y="313"/>
                <a:ext cx="990" cy="991"/>
              </a:xfrm>
              <a:prstGeom prst="ellipse">
                <a:avLst/>
              </a:prstGeom>
              <a:solidFill>
                <a:schemeClr val="bg1"/>
              </a:solidFill>
              <a:ln w="28575" cap="flat" cmpd="sng">
                <a:solidFill>
                  <a:srgbClr val="CC99FF"/>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388" name="Oval 93"/>
              <p:cNvSpPr>
                <a:spLocks noChangeAspect="1"/>
              </p:cNvSpPr>
              <p:nvPr/>
            </p:nvSpPr>
            <p:spPr>
              <a:xfrm>
                <a:off x="4644" y="355"/>
                <a:ext cx="64" cy="64"/>
              </a:xfrm>
              <a:prstGeom prst="ellipse">
                <a:avLst/>
              </a:prstGeom>
              <a:solidFill>
                <a:schemeClr val="bg2"/>
              </a:solid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389" name="Oval 94"/>
              <p:cNvSpPr>
                <a:spLocks noChangeAspect="1"/>
              </p:cNvSpPr>
              <p:nvPr/>
            </p:nvSpPr>
            <p:spPr>
              <a:xfrm>
                <a:off x="4476" y="607"/>
                <a:ext cx="64" cy="63"/>
              </a:xfrm>
              <a:prstGeom prst="ellipse">
                <a:avLst/>
              </a:prstGeom>
              <a:solidFill>
                <a:schemeClr val="bg2"/>
              </a:solid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390" name="Oval 95"/>
              <p:cNvSpPr>
                <a:spLocks noChangeAspect="1"/>
              </p:cNvSpPr>
              <p:nvPr/>
            </p:nvSpPr>
            <p:spPr>
              <a:xfrm>
                <a:off x="4267" y="774"/>
                <a:ext cx="64" cy="64"/>
              </a:xfrm>
              <a:prstGeom prst="ellipse">
                <a:avLst/>
              </a:prstGeom>
              <a:solidFill>
                <a:schemeClr val="bg2"/>
              </a:solid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391" name="Oval 96"/>
              <p:cNvSpPr>
                <a:spLocks noChangeAspect="1"/>
              </p:cNvSpPr>
              <p:nvPr/>
            </p:nvSpPr>
            <p:spPr>
              <a:xfrm>
                <a:off x="4853" y="984"/>
                <a:ext cx="64" cy="64"/>
              </a:xfrm>
              <a:prstGeom prst="ellipse">
                <a:avLst/>
              </a:prstGeom>
              <a:solidFill>
                <a:schemeClr val="bg2"/>
              </a:solid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392" name="Oval 97"/>
              <p:cNvSpPr>
                <a:spLocks noChangeAspect="1"/>
              </p:cNvSpPr>
              <p:nvPr/>
            </p:nvSpPr>
            <p:spPr>
              <a:xfrm>
                <a:off x="4979" y="1026"/>
                <a:ext cx="64" cy="64"/>
              </a:xfrm>
              <a:prstGeom prst="ellipse">
                <a:avLst/>
              </a:prstGeom>
              <a:solidFill>
                <a:schemeClr val="bg2"/>
              </a:solid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393" name="Oval 98"/>
              <p:cNvSpPr>
                <a:spLocks noChangeAspect="1"/>
              </p:cNvSpPr>
              <p:nvPr/>
            </p:nvSpPr>
            <p:spPr>
              <a:xfrm>
                <a:off x="4309" y="900"/>
                <a:ext cx="63" cy="64"/>
              </a:xfrm>
              <a:prstGeom prst="ellipse">
                <a:avLst/>
              </a:prstGeom>
              <a:solidFill>
                <a:schemeClr val="bg2"/>
              </a:solid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394" name="Oval 99"/>
              <p:cNvSpPr>
                <a:spLocks noChangeAspect="1"/>
              </p:cNvSpPr>
              <p:nvPr/>
            </p:nvSpPr>
            <p:spPr>
              <a:xfrm>
                <a:off x="4644" y="942"/>
                <a:ext cx="64" cy="64"/>
              </a:xfrm>
              <a:prstGeom prst="ellipse">
                <a:avLst/>
              </a:prstGeom>
              <a:solidFill>
                <a:schemeClr val="bg2"/>
              </a:solid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395" name="Oval 100"/>
              <p:cNvSpPr>
                <a:spLocks noChangeAspect="1"/>
              </p:cNvSpPr>
              <p:nvPr/>
            </p:nvSpPr>
            <p:spPr>
              <a:xfrm>
                <a:off x="4770" y="1152"/>
                <a:ext cx="63" cy="64"/>
              </a:xfrm>
              <a:prstGeom prst="ellipse">
                <a:avLst/>
              </a:prstGeom>
              <a:solidFill>
                <a:schemeClr val="bg2"/>
              </a:solid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396" name="Oval 101"/>
              <p:cNvSpPr>
                <a:spLocks noChangeAspect="1"/>
              </p:cNvSpPr>
              <p:nvPr/>
            </p:nvSpPr>
            <p:spPr>
              <a:xfrm>
                <a:off x="4770" y="649"/>
                <a:ext cx="63" cy="63"/>
              </a:xfrm>
              <a:prstGeom prst="ellipse">
                <a:avLst/>
              </a:prstGeom>
              <a:solidFill>
                <a:schemeClr val="bg2"/>
              </a:solid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397" name="Oval 102"/>
              <p:cNvSpPr>
                <a:spLocks noChangeAspect="1"/>
              </p:cNvSpPr>
              <p:nvPr/>
            </p:nvSpPr>
            <p:spPr>
              <a:xfrm>
                <a:off x="4895" y="565"/>
                <a:ext cx="64" cy="63"/>
              </a:xfrm>
              <a:prstGeom prst="ellipse">
                <a:avLst/>
              </a:prstGeom>
              <a:solidFill>
                <a:schemeClr val="bg2"/>
              </a:solid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398" name="Oval 103"/>
              <p:cNvSpPr>
                <a:spLocks noChangeAspect="1"/>
              </p:cNvSpPr>
              <p:nvPr/>
            </p:nvSpPr>
            <p:spPr>
              <a:xfrm>
                <a:off x="4895" y="774"/>
                <a:ext cx="64" cy="64"/>
              </a:xfrm>
              <a:prstGeom prst="ellipse">
                <a:avLst/>
              </a:prstGeom>
              <a:solidFill>
                <a:schemeClr val="bg2"/>
              </a:solid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399" name="Oval 104"/>
              <p:cNvSpPr>
                <a:spLocks noChangeAspect="1"/>
              </p:cNvSpPr>
              <p:nvPr/>
            </p:nvSpPr>
            <p:spPr>
              <a:xfrm>
                <a:off x="5021" y="732"/>
                <a:ext cx="64" cy="64"/>
              </a:xfrm>
              <a:prstGeom prst="ellipse">
                <a:avLst/>
              </a:prstGeom>
              <a:solidFill>
                <a:schemeClr val="bg2"/>
              </a:solid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00" name="Oval 105"/>
              <p:cNvSpPr>
                <a:spLocks noChangeAspect="1"/>
              </p:cNvSpPr>
              <p:nvPr/>
            </p:nvSpPr>
            <p:spPr>
              <a:xfrm>
                <a:off x="5021" y="858"/>
                <a:ext cx="64" cy="64"/>
              </a:xfrm>
              <a:prstGeom prst="ellipse">
                <a:avLst/>
              </a:prstGeom>
              <a:solidFill>
                <a:schemeClr val="bg2"/>
              </a:solid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01" name="Oval 106"/>
              <p:cNvSpPr>
                <a:spLocks noChangeAspect="1"/>
              </p:cNvSpPr>
              <p:nvPr/>
            </p:nvSpPr>
            <p:spPr>
              <a:xfrm>
                <a:off x="4309" y="481"/>
                <a:ext cx="63" cy="64"/>
              </a:xfrm>
              <a:prstGeom prst="ellipse">
                <a:avLst/>
              </a:prstGeom>
              <a:solidFill>
                <a:schemeClr val="bg2"/>
              </a:solid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02" name="Oval 107"/>
              <p:cNvSpPr>
                <a:spLocks noChangeAspect="1"/>
              </p:cNvSpPr>
              <p:nvPr/>
            </p:nvSpPr>
            <p:spPr>
              <a:xfrm>
                <a:off x="4434" y="774"/>
                <a:ext cx="64" cy="64"/>
              </a:xfrm>
              <a:prstGeom prst="ellipse">
                <a:avLst/>
              </a:prstGeom>
              <a:solidFill>
                <a:schemeClr val="bg2"/>
              </a:solid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03" name="Oval 108"/>
              <p:cNvSpPr>
                <a:spLocks noChangeAspect="1"/>
              </p:cNvSpPr>
              <p:nvPr/>
            </p:nvSpPr>
            <p:spPr>
              <a:xfrm>
                <a:off x="4560" y="816"/>
                <a:ext cx="64" cy="64"/>
              </a:xfrm>
              <a:prstGeom prst="ellipse">
                <a:avLst/>
              </a:prstGeom>
              <a:solidFill>
                <a:schemeClr val="bg2"/>
              </a:solid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04" name="Oval 109"/>
              <p:cNvSpPr>
                <a:spLocks noChangeAspect="1"/>
              </p:cNvSpPr>
              <p:nvPr/>
            </p:nvSpPr>
            <p:spPr>
              <a:xfrm>
                <a:off x="4434" y="984"/>
                <a:ext cx="64" cy="64"/>
              </a:xfrm>
              <a:prstGeom prst="ellipse">
                <a:avLst/>
              </a:prstGeom>
              <a:solidFill>
                <a:schemeClr val="bg2"/>
              </a:solid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05" name="Oval 110"/>
              <p:cNvSpPr>
                <a:spLocks noChangeAspect="1"/>
              </p:cNvSpPr>
              <p:nvPr/>
            </p:nvSpPr>
            <p:spPr>
              <a:xfrm>
                <a:off x="4434" y="1110"/>
                <a:ext cx="64" cy="64"/>
              </a:xfrm>
              <a:prstGeom prst="ellipse">
                <a:avLst/>
              </a:prstGeom>
              <a:solidFill>
                <a:schemeClr val="bg2"/>
              </a:solid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06" name="Oval 111"/>
              <p:cNvSpPr>
                <a:spLocks noChangeAspect="1"/>
              </p:cNvSpPr>
              <p:nvPr/>
            </p:nvSpPr>
            <p:spPr>
              <a:xfrm>
                <a:off x="4476" y="439"/>
                <a:ext cx="64" cy="64"/>
              </a:xfrm>
              <a:prstGeom prst="ellipse">
                <a:avLst/>
              </a:prstGeom>
              <a:solidFill>
                <a:schemeClr val="bg2"/>
              </a:solid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07" name="Oval 112"/>
              <p:cNvSpPr>
                <a:spLocks noChangeAspect="1"/>
              </p:cNvSpPr>
              <p:nvPr/>
            </p:nvSpPr>
            <p:spPr>
              <a:xfrm>
                <a:off x="4686" y="1068"/>
                <a:ext cx="64" cy="64"/>
              </a:xfrm>
              <a:prstGeom prst="ellipse">
                <a:avLst/>
              </a:prstGeom>
              <a:solidFill>
                <a:schemeClr val="bg2"/>
              </a:solid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08" name="Oval 113"/>
              <p:cNvSpPr>
                <a:spLocks noChangeAspect="1"/>
              </p:cNvSpPr>
              <p:nvPr/>
            </p:nvSpPr>
            <p:spPr>
              <a:xfrm>
                <a:off x="4895" y="439"/>
                <a:ext cx="64" cy="64"/>
              </a:xfrm>
              <a:prstGeom prst="ellipse">
                <a:avLst/>
              </a:prstGeom>
              <a:solidFill>
                <a:schemeClr val="bg2"/>
              </a:solid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09" name="Oval 114"/>
              <p:cNvSpPr>
                <a:spLocks noChangeAspect="1"/>
              </p:cNvSpPr>
              <p:nvPr/>
            </p:nvSpPr>
            <p:spPr>
              <a:xfrm>
                <a:off x="5063" y="607"/>
                <a:ext cx="64" cy="63"/>
              </a:xfrm>
              <a:prstGeom prst="ellipse">
                <a:avLst/>
              </a:prstGeom>
              <a:solidFill>
                <a:schemeClr val="bg2"/>
              </a:solid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10" name="Oval 115"/>
              <p:cNvSpPr>
                <a:spLocks noChangeAspect="1"/>
              </p:cNvSpPr>
              <p:nvPr/>
            </p:nvSpPr>
            <p:spPr>
              <a:xfrm>
                <a:off x="4686" y="523"/>
                <a:ext cx="64" cy="64"/>
              </a:xfrm>
              <a:prstGeom prst="ellipse">
                <a:avLst/>
              </a:prstGeom>
              <a:solidFill>
                <a:schemeClr val="bg2"/>
              </a:solid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11" name="Oval 116"/>
              <p:cNvSpPr>
                <a:spLocks noChangeAspect="1"/>
              </p:cNvSpPr>
              <p:nvPr/>
            </p:nvSpPr>
            <p:spPr>
              <a:xfrm>
                <a:off x="4309" y="649"/>
                <a:ext cx="63" cy="63"/>
              </a:xfrm>
              <a:prstGeom prst="ellipse">
                <a:avLst/>
              </a:prstGeom>
              <a:solidFill>
                <a:schemeClr val="bg2"/>
              </a:solid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12" name="Oval 117"/>
              <p:cNvSpPr>
                <a:spLocks noChangeAspect="1"/>
              </p:cNvSpPr>
              <p:nvPr/>
            </p:nvSpPr>
            <p:spPr>
              <a:xfrm>
                <a:off x="4728" y="821"/>
                <a:ext cx="63" cy="64"/>
              </a:xfrm>
              <a:prstGeom prst="ellipse">
                <a:avLst/>
              </a:prstGeom>
              <a:solidFill>
                <a:schemeClr val="bg2"/>
              </a:solid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13" name="Oval 118"/>
              <p:cNvSpPr>
                <a:spLocks noChangeAspect="1"/>
              </p:cNvSpPr>
              <p:nvPr/>
            </p:nvSpPr>
            <p:spPr>
              <a:xfrm>
                <a:off x="4770" y="443"/>
                <a:ext cx="63" cy="64"/>
              </a:xfrm>
              <a:prstGeom prst="ellipse">
                <a:avLst/>
              </a:prstGeom>
              <a:solidFill>
                <a:schemeClr val="bg2"/>
              </a:solid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14" name="Oval 119"/>
              <p:cNvSpPr>
                <a:spLocks noChangeAspect="1"/>
              </p:cNvSpPr>
              <p:nvPr/>
            </p:nvSpPr>
            <p:spPr>
              <a:xfrm>
                <a:off x="4602" y="1156"/>
                <a:ext cx="64" cy="64"/>
              </a:xfrm>
              <a:prstGeom prst="ellipse">
                <a:avLst/>
              </a:prstGeom>
              <a:solidFill>
                <a:schemeClr val="bg2"/>
              </a:solid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415" name="Oval 120"/>
              <p:cNvSpPr>
                <a:spLocks noChangeAspect="1"/>
              </p:cNvSpPr>
              <p:nvPr/>
            </p:nvSpPr>
            <p:spPr>
              <a:xfrm>
                <a:off x="4580" y="675"/>
                <a:ext cx="64" cy="64"/>
              </a:xfrm>
              <a:prstGeom prst="ellipse">
                <a:avLst/>
              </a:prstGeom>
              <a:solidFill>
                <a:schemeClr val="bg2"/>
              </a:solidFill>
              <a:ln w="12700"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grpSp>
        <p:sp>
          <p:nvSpPr>
            <p:cNvPr id="15380" name="Text Box 121"/>
            <p:cNvSpPr txBox="1">
              <a:spLocks noChangeAspect="1"/>
            </p:cNvSpPr>
            <p:nvPr/>
          </p:nvSpPr>
          <p:spPr>
            <a:xfrm>
              <a:off x="3983" y="3542"/>
              <a:ext cx="304" cy="327"/>
            </a:xfrm>
            <a:prstGeom prst="rect">
              <a:avLst/>
            </a:prstGeom>
            <a:noFill/>
            <a:ln w="9525">
              <a:noFill/>
            </a:ln>
          </p:spPr>
          <p:txBody>
            <a:bodyPr>
              <a:spAutoFit/>
            </a:bodyPr>
            <a:lstStyle/>
            <a:p>
              <a:pPr lvl="0" eaLnBrk="1" hangingPunct="1">
                <a:spcBef>
                  <a:spcPct val="50000"/>
                </a:spcBef>
              </a:pPr>
              <a:r>
                <a:rPr lang="en-US" altLang="zh-CN" sz="2800" b="1" dirty="0">
                  <a:solidFill>
                    <a:schemeClr val="folHlink"/>
                  </a:solidFill>
                  <a:latin typeface="Times New Roman" panose="02020603050405020304" pitchFamily="18" charset="0"/>
                  <a:ea typeface="宋体" panose="02010600030101010101" pitchFamily="2" charset="-122"/>
                </a:rPr>
                <a:t>2’</a:t>
              </a:r>
            </a:p>
          </p:txBody>
        </p:sp>
        <p:sp>
          <p:nvSpPr>
            <p:cNvPr id="15381" name="Line 122"/>
            <p:cNvSpPr>
              <a:spLocks noChangeAspect="1"/>
            </p:cNvSpPr>
            <p:nvPr/>
          </p:nvSpPr>
          <p:spPr>
            <a:xfrm flipH="1" flipV="1">
              <a:off x="4293" y="3099"/>
              <a:ext cx="133" cy="356"/>
            </a:xfrm>
            <a:prstGeom prst="line">
              <a:avLst/>
            </a:prstGeom>
            <a:ln w="28575" cap="flat" cmpd="sng">
              <a:solidFill>
                <a:srgbClr val="CC0000"/>
              </a:solidFill>
              <a:prstDash val="solid"/>
              <a:headEnd type="none" w="med" len="med"/>
              <a:tailEnd type="none" w="med" len="med"/>
            </a:ln>
          </p:spPr>
        </p:sp>
        <p:sp>
          <p:nvSpPr>
            <p:cNvPr id="15382" name="Line 123"/>
            <p:cNvSpPr>
              <a:spLocks noChangeAspect="1"/>
            </p:cNvSpPr>
            <p:nvPr/>
          </p:nvSpPr>
          <p:spPr>
            <a:xfrm flipV="1">
              <a:off x="5137" y="3205"/>
              <a:ext cx="133" cy="133"/>
            </a:xfrm>
            <a:prstGeom prst="line">
              <a:avLst/>
            </a:prstGeom>
            <a:ln w="28575" cap="flat" cmpd="sng">
              <a:solidFill>
                <a:srgbClr val="CC0000"/>
              </a:solidFill>
              <a:prstDash val="solid"/>
              <a:headEnd type="none" w="med" len="med"/>
              <a:tailEnd type="none" w="med" len="med"/>
            </a:ln>
          </p:spPr>
        </p:sp>
        <p:sp>
          <p:nvSpPr>
            <p:cNvPr id="15383" name="Text Box 128"/>
            <p:cNvSpPr txBox="1">
              <a:spLocks noChangeAspect="1"/>
            </p:cNvSpPr>
            <p:nvPr/>
          </p:nvSpPr>
          <p:spPr>
            <a:xfrm>
              <a:off x="4118" y="2883"/>
              <a:ext cx="265" cy="327"/>
            </a:xfrm>
            <a:prstGeom prst="rect">
              <a:avLst/>
            </a:prstGeom>
            <a:noFill/>
            <a:ln w="9525">
              <a:noFill/>
            </a:ln>
          </p:spPr>
          <p:txBody>
            <a:bodyPr>
              <a:spAutoFit/>
            </a:bodyPr>
            <a:lstStyle/>
            <a:p>
              <a:pPr lvl="0" eaLnBrk="1" hangingPunct="1">
                <a:spcBef>
                  <a:spcPct val="50000"/>
                </a:spcBef>
              </a:pPr>
              <a:r>
                <a:rPr lang="en-US" altLang="zh-CN" sz="2800" b="1" dirty="0">
                  <a:solidFill>
                    <a:schemeClr val="folHlink"/>
                  </a:solidFill>
                  <a:latin typeface="Times New Roman" panose="02020603050405020304" pitchFamily="18" charset="0"/>
                  <a:ea typeface="宋体" panose="02010600030101010101" pitchFamily="2" charset="-122"/>
                  <a:sym typeface="Symbol" panose="05050102010706020507" pitchFamily="18" charset="2"/>
                </a:rPr>
                <a:t>P</a:t>
              </a:r>
              <a:endParaRPr lang="en-US" altLang="zh-CN" sz="2800" b="1" dirty="0">
                <a:solidFill>
                  <a:schemeClr val="folHlink"/>
                </a:solidFill>
                <a:latin typeface="Times New Roman" panose="02020603050405020304" pitchFamily="18" charset="0"/>
                <a:ea typeface="宋体" panose="02010600030101010101" pitchFamily="2" charset="-122"/>
              </a:endParaRPr>
            </a:p>
          </p:txBody>
        </p:sp>
        <p:sp>
          <p:nvSpPr>
            <p:cNvPr id="15384" name="Text Box 129"/>
            <p:cNvSpPr txBox="1">
              <a:spLocks noChangeAspect="1"/>
            </p:cNvSpPr>
            <p:nvPr/>
          </p:nvSpPr>
          <p:spPr>
            <a:xfrm>
              <a:off x="4996" y="2920"/>
              <a:ext cx="576" cy="289"/>
            </a:xfrm>
            <a:prstGeom prst="rect">
              <a:avLst/>
            </a:prstGeom>
            <a:noFill/>
            <a:ln w="9525">
              <a:noFill/>
            </a:ln>
          </p:spPr>
          <p:txBody>
            <a:bodyPr>
              <a:spAutoFit/>
            </a:bodyPr>
            <a:lstStyle/>
            <a:p>
              <a:pPr lvl="0" eaLnBrk="1" hangingPunct="1">
                <a:spcBef>
                  <a:spcPct val="50000"/>
                </a:spcBef>
              </a:pPr>
              <a:r>
                <a:rPr lang="en-US" altLang="zh-CN" sz="2400" b="1" dirty="0">
                  <a:solidFill>
                    <a:srgbClr val="FFFF00"/>
                  </a:solidFill>
                  <a:latin typeface="Times New Roman" panose="02020603050405020304" pitchFamily="18" charset="0"/>
                  <a:ea typeface="华文中宋" panose="02010600040101010101" pitchFamily="2" charset="-122"/>
                </a:rPr>
                <a:t>Fe</a:t>
              </a:r>
              <a:r>
                <a:rPr lang="en-US" altLang="zh-CN" sz="2400" b="1" baseline="-30000" dirty="0">
                  <a:solidFill>
                    <a:srgbClr val="FFFF00"/>
                  </a:solidFill>
                  <a:latin typeface="Times New Roman" panose="02020603050405020304" pitchFamily="18" charset="0"/>
                  <a:ea typeface="华文中宋" panose="02010600040101010101" pitchFamily="2" charset="-122"/>
                </a:rPr>
                <a:t>3</a:t>
              </a:r>
              <a:r>
                <a:rPr lang="en-US" altLang="zh-CN" sz="2400" b="1" dirty="0">
                  <a:solidFill>
                    <a:srgbClr val="FFFF00"/>
                  </a:solidFill>
                  <a:latin typeface="Times New Roman" panose="02020603050405020304" pitchFamily="18" charset="0"/>
                  <a:ea typeface="华文中宋" panose="02010600040101010101" pitchFamily="2" charset="-122"/>
                </a:rPr>
                <a:t>C</a:t>
              </a:r>
              <a:endParaRPr lang="en-US" altLang="zh-CN" sz="2400" b="1" baseline="-30000" dirty="0">
                <a:solidFill>
                  <a:srgbClr val="FFFF00"/>
                </a:solidFill>
                <a:latin typeface="Times New Roman" panose="02020603050405020304" pitchFamily="18" charset="0"/>
                <a:ea typeface="华文中宋" panose="02010600040101010101" pitchFamily="2" charset="-122"/>
              </a:endParaRPr>
            </a:p>
          </p:txBody>
        </p:sp>
        <p:sp>
          <p:nvSpPr>
            <p:cNvPr id="15385" name="Line 130"/>
            <p:cNvSpPr>
              <a:spLocks noChangeAspect="1"/>
            </p:cNvSpPr>
            <p:nvPr/>
          </p:nvSpPr>
          <p:spPr>
            <a:xfrm>
              <a:off x="4969" y="2834"/>
              <a:ext cx="288" cy="116"/>
            </a:xfrm>
            <a:prstGeom prst="line">
              <a:avLst/>
            </a:prstGeom>
            <a:ln w="28575" cap="flat" cmpd="sng">
              <a:solidFill>
                <a:srgbClr val="CC0000"/>
              </a:solidFill>
              <a:prstDash val="solid"/>
              <a:headEnd type="none" w="med" len="med"/>
              <a:tailEnd type="none" w="med" len="med"/>
            </a:ln>
          </p:spPr>
        </p:sp>
        <p:sp>
          <p:nvSpPr>
            <p:cNvPr id="15386" name="Freeform 132"/>
            <p:cNvSpPr>
              <a:spLocks noChangeAspect="1"/>
            </p:cNvSpPr>
            <p:nvPr/>
          </p:nvSpPr>
          <p:spPr>
            <a:xfrm flipH="1">
              <a:off x="3925" y="2503"/>
              <a:ext cx="96" cy="1108"/>
            </a:xfrm>
            <a:custGeom>
              <a:avLst/>
              <a:gdLst>
                <a:gd name="txL" fmla="*/ 0 w 192"/>
                <a:gd name="txT" fmla="*/ 0 h 1200"/>
                <a:gd name="txR" fmla="*/ 192 w 192"/>
                <a:gd name="txB" fmla="*/ 1200 h 1200"/>
              </a:gdLst>
              <a:ahLst/>
              <a:cxnLst>
                <a:cxn ang="0">
                  <a:pos x="0" y="0"/>
                </a:cxn>
                <a:cxn ang="0">
                  <a:pos x="1" y="259"/>
                </a:cxn>
                <a:cxn ang="0">
                  <a:pos x="0" y="499"/>
                </a:cxn>
              </a:cxnLst>
              <a:rect l="txL" t="txT" r="txR" b="txB"/>
              <a:pathLst>
                <a:path w="192" h="1200">
                  <a:moveTo>
                    <a:pt x="0" y="0"/>
                  </a:moveTo>
                  <a:cubicBezTo>
                    <a:pt x="96" y="212"/>
                    <a:pt x="192" y="424"/>
                    <a:pt x="192" y="624"/>
                  </a:cubicBezTo>
                  <a:cubicBezTo>
                    <a:pt x="192" y="824"/>
                    <a:pt x="96" y="1012"/>
                    <a:pt x="0" y="1200"/>
                  </a:cubicBezTo>
                </a:path>
              </a:pathLst>
            </a:custGeom>
            <a:noFill/>
            <a:ln w="28575" cap="flat" cmpd="sng">
              <a:solidFill>
                <a:srgbClr val="CCFF33">
                  <a:alpha val="100000"/>
                </a:srgbClr>
              </a:solidFill>
              <a:prstDash val="solid"/>
              <a:round/>
              <a:headEnd type="none" w="med" len="med"/>
              <a:tailEnd type="stealth" w="med" len="lg"/>
            </a:ln>
          </p:spPr>
          <p:txBody>
            <a:bodyPr/>
            <a:lstStyle/>
            <a:p>
              <a:endParaRPr lang="zh-CN" altLang="en-US"/>
            </a:p>
          </p:txBody>
        </p:sp>
      </p:grpSp>
      <p:pic>
        <p:nvPicPr>
          <p:cNvPr id="116" name="内容占位符 1" descr="新校徽（3M）弓之乐"/>
          <p:cNvPicPr>
            <a:picLocks noChangeAspect="1"/>
          </p:cNvPicPr>
          <p:nvPr/>
        </p:nvPicPr>
        <p:blipFill>
          <a:blip r:embed="rId5"/>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5651">
                                            <p:txEl>
                                              <p:pRg st="0" end="0"/>
                                            </p:txEl>
                                          </p:spTgt>
                                        </p:tgtEl>
                                        <p:attrNameLst>
                                          <p:attrName>style.visibility</p:attrName>
                                        </p:attrNameLst>
                                      </p:cBhvr>
                                      <p:to>
                                        <p:strVal val="visible"/>
                                      </p:to>
                                    </p:set>
                                    <p:animEffect transition="in" filter="wipe(left)">
                                      <p:cBhvr>
                                        <p:cTn id="7" dur="500"/>
                                        <p:tgtEl>
                                          <p:spTgt spid="155651">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55654"/>
                                        </p:tgtEl>
                                        <p:attrNameLst>
                                          <p:attrName>style.visibility</p:attrName>
                                        </p:attrNameLst>
                                      </p:cBhvr>
                                      <p:to>
                                        <p:strVal val="visible"/>
                                      </p:to>
                                    </p:set>
                                    <p:animEffect transition="in" filter="wipe(left)">
                                      <p:cBhvr>
                                        <p:cTn id="11" dur="500"/>
                                        <p:tgtEl>
                                          <p:spTgt spid="155654"/>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55655"/>
                                        </p:tgtEl>
                                        <p:attrNameLst>
                                          <p:attrName>style.visibility</p:attrName>
                                        </p:attrNameLst>
                                      </p:cBhvr>
                                      <p:to>
                                        <p:strVal val="visible"/>
                                      </p:to>
                                    </p:set>
                                    <p:animEffect transition="in" filter="wipe(left)">
                                      <p:cBhvr>
                                        <p:cTn id="15" dur="500"/>
                                        <p:tgtEl>
                                          <p:spTgt spid="15565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55652"/>
                                        </p:tgtEl>
                                        <p:attrNameLst>
                                          <p:attrName>style.visibility</p:attrName>
                                        </p:attrNameLst>
                                      </p:cBhvr>
                                      <p:to>
                                        <p:strVal val="visible"/>
                                      </p:to>
                                    </p:set>
                                    <p:animEffect transition="in" filter="wipe(left)">
                                      <p:cBhvr>
                                        <p:cTn id="20" dur="500"/>
                                        <p:tgtEl>
                                          <p:spTgt spid="1556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1" grpId="0" build="p" advAuto="1000"/>
      <p:bldP spid="155654"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日期占位符 3"/>
          <p:cNvSpPr txBox="1">
            <a:spLocks noGrp="1"/>
          </p:cNvSpPr>
          <p:nvPr>
            <p:ph type="dt" sz="half" idx="10"/>
          </p:nvPr>
        </p:nvSpPr>
        <p:spPr>
          <a:xfrm>
            <a:off x="0" y="6438900"/>
            <a:ext cx="2233613" cy="419100"/>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6388" name="灯片编号占位符 5"/>
          <p:cNvSpPr txBox="1">
            <a:spLocks noGrp="1"/>
          </p:cNvSpPr>
          <p:nvPr>
            <p:ph type="sldNum" sz="quarter" idx="12"/>
          </p:nvPr>
        </p:nvSpPr>
        <p:spPr>
          <a:xfrm>
            <a:off x="8547100" y="6591935"/>
            <a:ext cx="596900" cy="266065"/>
          </a:xfrm>
        </p:spPr>
        <p:txBody>
          <a:bodyPr lIns="92075" tIns="46038" rIns="92075" bIns="46038" anchor="ctr"/>
          <a:lstStyle/>
          <a:p>
            <a:pPr algn="r" eaLnBrk="1" hangingPunct="1"/>
            <a:fld id="{9A0DB2DC-4C9A-4742-B13C-FB6460FD3503}" type="slidenum">
              <a:rPr lang="en-US" altLang="zh-CN" sz="1400" dirty="0"/>
              <a:t>138</a:t>
            </a:fld>
            <a:endParaRPr lang="en-US" altLang="zh-CN" sz="1400" dirty="0"/>
          </a:p>
        </p:txBody>
      </p:sp>
      <p:sp>
        <p:nvSpPr>
          <p:cNvPr id="131074" name="Rectangle 2"/>
          <p:cNvSpPr>
            <a:spLocks noGrp="1"/>
          </p:cNvSpPr>
          <p:nvPr>
            <p:ph idx="1"/>
          </p:nvPr>
        </p:nvSpPr>
        <p:spPr>
          <a:xfrm>
            <a:off x="1029306" y="972088"/>
            <a:ext cx="7719158" cy="2094962"/>
          </a:xfrm>
        </p:spPr>
        <p:txBody>
          <a:bodyPr vert="horz" wrap="square" lIns="91440" tIns="45720" rIns="91440" bIns="45720" anchor="t"/>
          <a:lstStyle/>
          <a:p>
            <a:pPr eaLnBrk="1" hangingPunct="1"/>
            <a:r>
              <a:rPr lang="zh-CN" altLang="en-US" sz="2800" b="1" dirty="0">
                <a:ea typeface="华文中宋" panose="02010600040101010101" pitchFamily="2" charset="-122"/>
              </a:rPr>
              <a:t>温度降到</a:t>
            </a:r>
            <a:r>
              <a:rPr lang="en-US" altLang="zh-CN" sz="2800" b="1" dirty="0">
                <a:ea typeface="华文中宋" panose="02010600040101010101" pitchFamily="2" charset="-122"/>
              </a:rPr>
              <a:t>2</a:t>
            </a:r>
            <a:r>
              <a:rPr lang="zh-CN" altLang="en-US" sz="2800" b="1" dirty="0">
                <a:ea typeface="华文中宋" panose="02010600040101010101" pitchFamily="2" charset="-122"/>
              </a:rPr>
              <a:t>点，</a:t>
            </a:r>
            <a:r>
              <a:rPr lang="zh-CN" altLang="en-US" sz="2800" b="1" i="1" dirty="0">
                <a:ea typeface="华文中宋" panose="02010600040101010101" pitchFamily="2" charset="-122"/>
                <a:sym typeface="Symbol" panose="05050102010706020507" pitchFamily="18" charset="2"/>
              </a:rPr>
              <a:t></a:t>
            </a:r>
            <a:r>
              <a:rPr lang="zh-CN" altLang="en-US" sz="2800" b="1" dirty="0">
                <a:ea typeface="华文中宋" panose="02010600040101010101" pitchFamily="2" charset="-122"/>
                <a:sym typeface="Symbol" panose="05050102010706020507" pitchFamily="18" charset="2"/>
              </a:rPr>
              <a:t> </a:t>
            </a:r>
            <a:r>
              <a:rPr lang="zh-CN" altLang="en-US" sz="2800" b="1" dirty="0">
                <a:ea typeface="华文中宋" panose="02010600040101010101" pitchFamily="2" charset="-122"/>
              </a:rPr>
              <a:t>成分达到</a:t>
            </a:r>
            <a:r>
              <a:rPr lang="en-US" altLang="zh-CN" sz="2800" b="1" dirty="0">
                <a:ea typeface="华文中宋" panose="02010600040101010101" pitchFamily="2" charset="-122"/>
              </a:rPr>
              <a:t>0.77%, </a:t>
            </a:r>
            <a:r>
              <a:rPr lang="zh-CN" altLang="en-US" sz="2800" b="1" dirty="0">
                <a:ea typeface="华文中宋" panose="02010600040101010101" pitchFamily="2" charset="-122"/>
              </a:rPr>
              <a:t>此时</a:t>
            </a:r>
            <a:r>
              <a:rPr lang="en-US" altLang="zh-CN" sz="2800" b="1" dirty="0">
                <a:ea typeface="华文中宋" panose="02010600040101010101" pitchFamily="2" charset="-122"/>
              </a:rPr>
              <a:t>, </a:t>
            </a:r>
            <a:r>
              <a:rPr lang="zh-CN" altLang="en-US" sz="2800" b="1" dirty="0">
                <a:ea typeface="华文中宋" panose="02010600040101010101" pitchFamily="2" charset="-122"/>
              </a:rPr>
              <a:t>相的相对重量</a:t>
            </a:r>
            <a:r>
              <a:rPr lang="en-US" altLang="zh-CN" sz="2800" b="1" dirty="0">
                <a:ea typeface="华文中宋" panose="02010600040101010101" pitchFamily="2" charset="-122"/>
              </a:rPr>
              <a:t>: </a:t>
            </a:r>
          </a:p>
        </p:txBody>
      </p:sp>
      <p:sp>
        <p:nvSpPr>
          <p:cNvPr id="131075" name="Rectangle 3"/>
          <p:cNvSpPr/>
          <p:nvPr/>
        </p:nvSpPr>
        <p:spPr>
          <a:xfrm>
            <a:off x="56516" y="2918586"/>
            <a:ext cx="9048750" cy="1295400"/>
          </a:xfrm>
          <a:prstGeom prst="rect">
            <a:avLst/>
          </a:prstGeom>
          <a:noFill/>
          <a:ln w="9525">
            <a:noFill/>
          </a:ln>
        </p:spPr>
        <p:txBody>
          <a:bodyPr/>
          <a:lstStyle/>
          <a:p>
            <a:pPr marL="342900" lvl="0" indent="-342900" eaLnBrk="1" hangingPunct="1">
              <a:lnSpc>
                <a:spcPct val="110000"/>
              </a:lnSpc>
              <a:spcBef>
                <a:spcPct val="20000"/>
              </a:spcBef>
              <a:buClr>
                <a:schemeClr val="accent2"/>
              </a:buClr>
              <a:buSzPct val="80000"/>
              <a:buFont typeface="Wingdings" panose="05000000000000000000" pitchFamily="2" charset="2"/>
              <a:buChar char="l"/>
            </a:pPr>
            <a:r>
              <a:rPr lang="zh-CN" altLang="en-US" sz="2800" b="1" dirty="0">
                <a:latin typeface="Times New Roman" panose="02020603050405020304" pitchFamily="18" charset="0"/>
                <a:ea typeface="华文中宋" panose="02010600040101010101" pitchFamily="2" charset="-122"/>
              </a:rPr>
              <a:t>在</a:t>
            </a:r>
            <a:r>
              <a:rPr lang="en-US" altLang="zh-CN" sz="2800" b="1" dirty="0">
                <a:latin typeface="Times New Roman" panose="02020603050405020304" pitchFamily="18" charset="0"/>
                <a:ea typeface="华文中宋" panose="02010600040101010101" pitchFamily="2" charset="-122"/>
              </a:rPr>
              <a:t>2</a:t>
            </a:r>
            <a:r>
              <a:rPr lang="zh-CN" altLang="en-US" sz="2800" b="1" dirty="0">
                <a:latin typeface="Times New Roman" panose="02020603050405020304" pitchFamily="18" charset="0"/>
                <a:ea typeface="华文中宋" panose="02010600040101010101" pitchFamily="2" charset="-122"/>
              </a:rPr>
              <a:t>点，共晶</a:t>
            </a:r>
            <a:r>
              <a:rPr lang="zh-CN" altLang="en-US" sz="2800" b="1" i="1" dirty="0">
                <a:latin typeface="Times New Roman" panose="02020603050405020304" pitchFamily="18" charset="0"/>
                <a:ea typeface="华文中宋" panose="02010600040101010101" pitchFamily="2" charset="-122"/>
                <a:sym typeface="Symbol" panose="05050102010706020507" pitchFamily="18" charset="2"/>
              </a:rPr>
              <a:t></a:t>
            </a:r>
            <a:r>
              <a:rPr lang="zh-CN" altLang="en-US" sz="2800" b="1" dirty="0">
                <a:latin typeface="Times New Roman" panose="02020603050405020304" pitchFamily="18" charset="0"/>
                <a:ea typeface="华文中宋" panose="02010600040101010101" pitchFamily="2" charset="-122"/>
                <a:sym typeface="Symbol" panose="05050102010706020507" pitchFamily="18" charset="2"/>
              </a:rPr>
              <a:t> </a:t>
            </a:r>
            <a:r>
              <a:rPr lang="zh-CN" altLang="en-US" sz="2800" b="1" dirty="0">
                <a:latin typeface="Times New Roman" panose="02020603050405020304" pitchFamily="18" charset="0"/>
                <a:ea typeface="华文中宋" panose="02010600040101010101" pitchFamily="2" charset="-122"/>
              </a:rPr>
              <a:t>发生共析反应，转变为珠光体，这种由 </a:t>
            </a:r>
            <a:r>
              <a:rPr lang="en-US" altLang="zh-CN" sz="2800" b="1" dirty="0">
                <a:latin typeface="Times New Roman" panose="02020603050405020304" pitchFamily="18" charset="0"/>
                <a:ea typeface="华文中宋" panose="02010600040101010101" pitchFamily="2" charset="-122"/>
              </a:rPr>
              <a:t>P</a:t>
            </a:r>
            <a:r>
              <a:rPr lang="zh-CN" altLang="en-US" sz="2800" b="1" dirty="0">
                <a:latin typeface="Times New Roman" panose="02020603050405020304" pitchFamily="18" charset="0"/>
                <a:ea typeface="华文中宋" panose="02010600040101010101" pitchFamily="2" charset="-122"/>
              </a:rPr>
              <a:t>与 </a:t>
            </a:r>
            <a:r>
              <a:rPr lang="en-US" altLang="zh-CN" sz="2800" b="1" dirty="0">
                <a:latin typeface="Times New Roman" panose="02020603050405020304" pitchFamily="18" charset="0"/>
                <a:ea typeface="华文中宋" panose="02010600040101010101" pitchFamily="2" charset="-122"/>
              </a:rPr>
              <a:t>Fe</a:t>
            </a:r>
            <a:r>
              <a:rPr lang="en-US" altLang="zh-CN" sz="2800" b="1" baseline="-30000" dirty="0">
                <a:latin typeface="Times New Roman" panose="02020603050405020304" pitchFamily="18" charset="0"/>
                <a:ea typeface="华文中宋" panose="02010600040101010101" pitchFamily="2" charset="-122"/>
              </a:rPr>
              <a:t>3</a:t>
            </a:r>
            <a:r>
              <a:rPr lang="en-US" altLang="zh-CN" sz="2800" b="1" dirty="0">
                <a:latin typeface="Times New Roman" panose="02020603050405020304" pitchFamily="18" charset="0"/>
                <a:ea typeface="华文中宋" panose="02010600040101010101" pitchFamily="2" charset="-122"/>
              </a:rPr>
              <a:t>C</a:t>
            </a:r>
            <a:r>
              <a:rPr lang="zh-CN" altLang="en-US" sz="2800" b="1" dirty="0">
                <a:latin typeface="Times New Roman" panose="02020603050405020304" pitchFamily="18" charset="0"/>
                <a:ea typeface="华文中宋" panose="02010600040101010101" pitchFamily="2" charset="-122"/>
              </a:rPr>
              <a:t>组成的共晶体称</a:t>
            </a:r>
            <a:r>
              <a:rPr lang="zh-CN" altLang="en-US" sz="2800" b="1" dirty="0">
                <a:solidFill>
                  <a:srgbClr val="0000FF"/>
                </a:solidFill>
                <a:latin typeface="Times New Roman" panose="02020603050405020304" pitchFamily="18" charset="0"/>
                <a:ea typeface="华文中宋" panose="02010600040101010101" pitchFamily="2" charset="-122"/>
              </a:rPr>
              <a:t>低温莱氏体</a:t>
            </a:r>
            <a:r>
              <a:rPr lang="zh-CN" altLang="en-US" sz="2800" b="1" dirty="0">
                <a:latin typeface="Times New Roman" panose="02020603050405020304" pitchFamily="18" charset="0"/>
                <a:ea typeface="华文中宋" panose="02010600040101010101" pitchFamily="2" charset="-122"/>
              </a:rPr>
              <a:t>，用</a:t>
            </a:r>
            <a:r>
              <a:rPr lang="en-US" altLang="zh-CN" sz="2800" b="1" dirty="0">
                <a:solidFill>
                  <a:srgbClr val="0000FF"/>
                </a:solidFill>
                <a:latin typeface="Times New Roman" panose="02020603050405020304" pitchFamily="18" charset="0"/>
                <a:ea typeface="华文中宋" panose="02010600040101010101" pitchFamily="2" charset="-122"/>
              </a:rPr>
              <a:t>Le’</a:t>
            </a:r>
            <a:r>
              <a:rPr lang="zh-CN" altLang="en-US" sz="2800" b="1" dirty="0">
                <a:latin typeface="Times New Roman" panose="02020603050405020304" pitchFamily="18" charset="0"/>
                <a:ea typeface="华文中宋" panose="02010600040101010101" pitchFamily="2" charset="-122"/>
              </a:rPr>
              <a:t>表示。</a:t>
            </a:r>
            <a:r>
              <a:rPr lang="en-US" altLang="zh-CN" sz="2800" b="1" dirty="0">
                <a:latin typeface="Times New Roman" panose="02020603050405020304" pitchFamily="18" charset="0"/>
                <a:ea typeface="华文中宋" panose="02010600040101010101" pitchFamily="2" charset="-122"/>
              </a:rPr>
              <a:t>2 </a:t>
            </a:r>
          </a:p>
        </p:txBody>
      </p:sp>
      <p:graphicFrame>
        <p:nvGraphicFramePr>
          <p:cNvPr id="131076" name="Object 4"/>
          <p:cNvGraphicFramePr/>
          <p:nvPr/>
        </p:nvGraphicFramePr>
        <p:xfrm>
          <a:off x="672391" y="1954771"/>
          <a:ext cx="7910513" cy="927100"/>
        </p:xfrm>
        <a:graphic>
          <a:graphicData uri="http://schemas.openxmlformats.org/presentationml/2006/ole">
            <mc:AlternateContent xmlns:mc="http://schemas.openxmlformats.org/markup-compatibility/2006">
              <mc:Choice xmlns:v="urn:schemas-microsoft-com:vml" Requires="v">
                <p:oleObj r:id="rId2" imgW="3084830" imgH="393700" progId="Equation.3">
                  <p:embed/>
                </p:oleObj>
              </mc:Choice>
              <mc:Fallback>
                <p:oleObj r:id="rId2" imgW="3084830" imgH="393700" progId="Equation.3">
                  <p:embed/>
                  <p:pic>
                    <p:nvPicPr>
                      <p:cNvPr id="0" name="Object 4"/>
                      <p:cNvPicPr/>
                      <p:nvPr/>
                    </p:nvPicPr>
                    <p:blipFill>
                      <a:blip r:embed="rId3">
                        <a:clrChange>
                          <a:clrFrom>
                            <a:srgbClr val="000000"/>
                          </a:clrFrom>
                          <a:clrTo>
                            <a:srgbClr val="FFFF00"/>
                          </a:clrTo>
                        </a:clrChange>
                      </a:blip>
                      <a:stretch>
                        <a:fillRect/>
                      </a:stretch>
                    </p:blipFill>
                    <p:spPr>
                      <a:xfrm>
                        <a:off x="672391" y="1954771"/>
                        <a:ext cx="7910513" cy="927100"/>
                      </a:xfrm>
                      <a:prstGeom prst="rect">
                        <a:avLst/>
                      </a:prstGeom>
                      <a:solidFill>
                        <a:srgbClr val="0070C0"/>
                      </a:solidFill>
                      <a:ln w="38100">
                        <a:noFill/>
                        <a:miter/>
                      </a:ln>
                    </p:spPr>
                  </p:pic>
                </p:oleObj>
              </mc:Fallback>
            </mc:AlternateContent>
          </a:graphicData>
        </a:graphic>
      </p:graphicFrame>
      <p:sp>
        <p:nvSpPr>
          <p:cNvPr id="131078" name="Text Box 6"/>
          <p:cNvSpPr txBox="1"/>
          <p:nvPr/>
        </p:nvSpPr>
        <p:spPr>
          <a:xfrm>
            <a:off x="672391" y="3926374"/>
            <a:ext cx="3429000" cy="1006814"/>
          </a:xfrm>
          <a:prstGeom prst="rect">
            <a:avLst/>
          </a:prstGeom>
          <a:noFill/>
          <a:ln w="9525">
            <a:noFill/>
          </a:ln>
        </p:spPr>
        <p:txBody>
          <a:bodyPr>
            <a:spAutoFit/>
          </a:bodyPr>
          <a:lstStyle/>
          <a:p>
            <a:pPr lvl="0" eaLnBrk="1" hangingPunct="1">
              <a:lnSpc>
                <a:spcPct val="110000"/>
              </a:lnSpc>
              <a:spcBef>
                <a:spcPct val="20000"/>
              </a:spcBef>
              <a:buClr>
                <a:schemeClr val="accent2"/>
              </a:buClr>
              <a:buSzPct val="80000"/>
              <a:buFont typeface="Wingdings" panose="05000000000000000000" pitchFamily="2" charset="2"/>
              <a:buNone/>
            </a:pPr>
            <a:r>
              <a:rPr lang="zh-CN" altLang="en-US" sz="2800" b="1" dirty="0">
                <a:latin typeface="Times New Roman" panose="02020603050405020304" pitchFamily="18" charset="0"/>
                <a:ea typeface="华文中宋" panose="02010600040101010101" pitchFamily="2" charset="-122"/>
              </a:rPr>
              <a:t>点以下，共晶体中珠光体的变化同共析钢</a:t>
            </a:r>
            <a:r>
              <a:rPr lang="en-US" altLang="zh-CN" sz="2800" b="1" dirty="0">
                <a:latin typeface="Times New Roman" panose="02020603050405020304" pitchFamily="18" charset="0"/>
                <a:ea typeface="华文中宋" panose="02010600040101010101" pitchFamily="2" charset="-122"/>
              </a:rPr>
              <a:t>.</a:t>
            </a:r>
          </a:p>
        </p:txBody>
      </p:sp>
      <p:grpSp>
        <p:nvGrpSpPr>
          <p:cNvPr id="3" name="Group 23"/>
          <p:cNvGrpSpPr/>
          <p:nvPr/>
        </p:nvGrpSpPr>
        <p:grpSpPr>
          <a:xfrm>
            <a:off x="1029306" y="3988963"/>
            <a:ext cx="7359118" cy="2449937"/>
            <a:chOff x="384" y="2124"/>
            <a:chExt cx="5088" cy="1897"/>
          </a:xfrm>
        </p:grpSpPr>
        <p:grpSp>
          <p:nvGrpSpPr>
            <p:cNvPr id="16394" name="Group 21"/>
            <p:cNvGrpSpPr/>
            <p:nvPr/>
          </p:nvGrpSpPr>
          <p:grpSpPr>
            <a:xfrm>
              <a:off x="2592" y="2124"/>
              <a:ext cx="2880" cy="1897"/>
              <a:chOff x="2160" y="1824"/>
              <a:chExt cx="3233" cy="2041"/>
            </a:xfrm>
          </p:grpSpPr>
          <p:grpSp>
            <p:nvGrpSpPr>
              <p:cNvPr id="16396" name="Group 13"/>
              <p:cNvGrpSpPr>
                <a:grpSpLocks noChangeAspect="1"/>
              </p:cNvGrpSpPr>
              <p:nvPr/>
            </p:nvGrpSpPr>
            <p:grpSpPr>
              <a:xfrm>
                <a:off x="2160" y="1824"/>
                <a:ext cx="3233" cy="2041"/>
                <a:chOff x="2112" y="1754"/>
                <a:chExt cx="3351" cy="2116"/>
              </a:xfrm>
            </p:grpSpPr>
            <p:pic>
              <p:nvPicPr>
                <p:cNvPr id="16401" name="Picture 5" descr="Fe-C共晶结晶过程"/>
                <p:cNvPicPr>
                  <a:picLocks noChangeAspect="1"/>
                </p:cNvPicPr>
                <p:nvPr/>
              </p:nvPicPr>
              <p:blipFill>
                <a:blip r:embed="rId4"/>
                <a:stretch>
                  <a:fillRect/>
                </a:stretch>
              </p:blipFill>
              <p:spPr>
                <a:xfrm>
                  <a:off x="2112" y="1754"/>
                  <a:ext cx="3351" cy="2116"/>
                </a:xfrm>
                <a:prstGeom prst="rect">
                  <a:avLst/>
                </a:prstGeom>
                <a:noFill/>
                <a:ln w="38100" cap="flat" cmpd="sng">
                  <a:solidFill>
                    <a:srgbClr val="FF00FF"/>
                  </a:solidFill>
                  <a:prstDash val="solid"/>
                  <a:miter/>
                  <a:headEnd type="none" w="med" len="med"/>
                  <a:tailEnd type="none" w="med" len="med"/>
                </a:ln>
              </p:spPr>
            </p:pic>
            <p:sp>
              <p:nvSpPr>
                <p:cNvPr id="16402" name="Line 7"/>
                <p:cNvSpPr>
                  <a:spLocks noChangeAspect="1"/>
                </p:cNvSpPr>
                <p:nvPr/>
              </p:nvSpPr>
              <p:spPr>
                <a:xfrm flipV="1">
                  <a:off x="2256" y="3060"/>
                  <a:ext cx="288" cy="0"/>
                </a:xfrm>
                <a:prstGeom prst="line">
                  <a:avLst/>
                </a:prstGeom>
                <a:ln w="9525" cap="flat" cmpd="sng">
                  <a:solidFill>
                    <a:schemeClr val="bg2"/>
                  </a:solidFill>
                  <a:prstDash val="solid"/>
                  <a:headEnd type="none" w="med" len="med"/>
                  <a:tailEnd type="none" w="med" len="med"/>
                </a:ln>
              </p:spPr>
            </p:sp>
            <p:sp>
              <p:nvSpPr>
                <p:cNvPr id="16403" name="Freeform 11"/>
                <p:cNvSpPr>
                  <a:spLocks noChangeAspect="1"/>
                </p:cNvSpPr>
                <p:nvPr/>
              </p:nvSpPr>
              <p:spPr>
                <a:xfrm>
                  <a:off x="2328" y="2832"/>
                  <a:ext cx="144" cy="240"/>
                </a:xfrm>
                <a:custGeom>
                  <a:avLst/>
                  <a:gdLst>
                    <a:gd name="txL" fmla="*/ 0 w 144"/>
                    <a:gd name="txT" fmla="*/ 0 h 240"/>
                    <a:gd name="txR" fmla="*/ 144 w 144"/>
                    <a:gd name="txB" fmla="*/ 240 h 240"/>
                  </a:gdLst>
                  <a:ahLst/>
                  <a:cxnLst>
                    <a:cxn ang="0">
                      <a:pos x="144" y="0"/>
                    </a:cxn>
                    <a:cxn ang="0">
                      <a:pos x="48" y="144"/>
                    </a:cxn>
                    <a:cxn ang="0">
                      <a:pos x="0" y="240"/>
                    </a:cxn>
                  </a:cxnLst>
                  <a:rect l="txL" t="txT" r="txR" b="txB"/>
                  <a:pathLst>
                    <a:path w="144" h="240">
                      <a:moveTo>
                        <a:pt x="144" y="0"/>
                      </a:moveTo>
                      <a:cubicBezTo>
                        <a:pt x="108" y="52"/>
                        <a:pt x="72" y="104"/>
                        <a:pt x="48" y="144"/>
                      </a:cubicBezTo>
                      <a:cubicBezTo>
                        <a:pt x="24" y="184"/>
                        <a:pt x="12" y="212"/>
                        <a:pt x="0" y="240"/>
                      </a:cubicBezTo>
                    </a:path>
                  </a:pathLst>
                </a:custGeom>
                <a:noFill/>
                <a:ln w="9525" cap="flat" cmpd="sng">
                  <a:solidFill>
                    <a:schemeClr val="bg2">
                      <a:alpha val="100000"/>
                    </a:schemeClr>
                  </a:solidFill>
                  <a:prstDash val="solid"/>
                  <a:round/>
                  <a:headEnd type="none" w="med" len="med"/>
                  <a:tailEnd type="none" w="med" len="med"/>
                </a:ln>
              </p:spPr>
              <p:txBody>
                <a:bodyPr/>
                <a:lstStyle/>
                <a:p>
                  <a:endParaRPr lang="zh-CN" altLang="en-US"/>
                </a:p>
              </p:txBody>
            </p:sp>
            <p:sp>
              <p:nvSpPr>
                <p:cNvPr id="16404" name="Line 12"/>
                <p:cNvSpPr>
                  <a:spLocks noChangeAspect="1"/>
                </p:cNvSpPr>
                <p:nvPr/>
              </p:nvSpPr>
              <p:spPr>
                <a:xfrm>
                  <a:off x="2256" y="2928"/>
                  <a:ext cx="72" cy="132"/>
                </a:xfrm>
                <a:prstGeom prst="line">
                  <a:avLst/>
                </a:prstGeom>
                <a:ln w="9525" cap="flat" cmpd="sng">
                  <a:solidFill>
                    <a:schemeClr val="bg2"/>
                  </a:solidFill>
                  <a:prstDash val="solid"/>
                  <a:headEnd type="none" w="med" len="med"/>
                  <a:tailEnd type="none" w="med" len="med"/>
                </a:ln>
              </p:spPr>
            </p:sp>
          </p:grpSp>
          <p:sp>
            <p:nvSpPr>
              <p:cNvPr id="16397" name="Text Box 14"/>
              <p:cNvSpPr txBox="1">
                <a:spLocks noChangeAspect="1"/>
              </p:cNvSpPr>
              <p:nvPr/>
            </p:nvSpPr>
            <p:spPr>
              <a:xfrm>
                <a:off x="2287" y="2887"/>
                <a:ext cx="232" cy="207"/>
              </a:xfrm>
              <a:prstGeom prst="rect">
                <a:avLst/>
              </a:prstGeom>
              <a:noFill/>
              <a:ln w="9525">
                <a:noFill/>
              </a:ln>
            </p:spPr>
            <p:txBody>
              <a:bodyPr>
                <a:spAutoFit/>
              </a:bodyPr>
              <a:lstStyle/>
              <a:p>
                <a:pPr lvl="0" eaLnBrk="1" hangingPunct="1">
                  <a:spcBef>
                    <a:spcPct val="50000"/>
                  </a:spcBef>
                </a:pPr>
                <a:r>
                  <a:rPr lang="en-US" altLang="zh-CN" sz="1400" b="1" dirty="0">
                    <a:solidFill>
                      <a:schemeClr val="bg2"/>
                    </a:solidFill>
                    <a:latin typeface="Times New Roman" panose="02020603050405020304" pitchFamily="18" charset="0"/>
                    <a:ea typeface="宋体" panose="02010600030101010101" pitchFamily="2" charset="-122"/>
                  </a:rPr>
                  <a:t>S</a:t>
                </a:r>
              </a:p>
            </p:txBody>
          </p:sp>
          <p:sp>
            <p:nvSpPr>
              <p:cNvPr id="16398" name="Rectangle 16"/>
              <p:cNvSpPr>
                <a:spLocks noChangeAspect="1"/>
              </p:cNvSpPr>
              <p:nvPr/>
            </p:nvSpPr>
            <p:spPr>
              <a:xfrm>
                <a:off x="4745" y="3190"/>
                <a:ext cx="324" cy="81"/>
              </a:xfrm>
              <a:prstGeom prst="rect">
                <a:avLst/>
              </a:prstGeom>
              <a:solidFill>
                <a:schemeClr val="bg1"/>
              </a:solidFill>
              <a:ln w="9525" cap="flat" cmpd="sng">
                <a:noFill/>
                <a:prstDash val="solid"/>
                <a:miter/>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6399" name="Rectangle 17"/>
              <p:cNvSpPr>
                <a:spLocks noChangeAspect="1"/>
              </p:cNvSpPr>
              <p:nvPr/>
            </p:nvSpPr>
            <p:spPr>
              <a:xfrm>
                <a:off x="4846" y="3460"/>
                <a:ext cx="324" cy="81"/>
              </a:xfrm>
              <a:prstGeom prst="rect">
                <a:avLst/>
              </a:prstGeom>
              <a:solidFill>
                <a:schemeClr val="bg1"/>
              </a:solidFill>
              <a:ln w="9525" cap="flat" cmpd="sng">
                <a:noFill/>
                <a:prstDash val="solid"/>
                <a:miter/>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6400" name="Rectangle 18"/>
              <p:cNvSpPr>
                <a:spLocks noChangeAspect="1"/>
              </p:cNvSpPr>
              <p:nvPr/>
            </p:nvSpPr>
            <p:spPr>
              <a:xfrm>
                <a:off x="4568" y="2863"/>
                <a:ext cx="324" cy="81"/>
              </a:xfrm>
              <a:prstGeom prst="rect">
                <a:avLst/>
              </a:prstGeom>
              <a:solidFill>
                <a:schemeClr val="bg1"/>
              </a:solidFill>
              <a:ln w="9525" cap="flat" cmpd="sng">
                <a:noFill/>
                <a:prstDash val="solid"/>
                <a:miter/>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grpSp>
        <p:pic>
          <p:nvPicPr>
            <p:cNvPr id="16395" name="Picture 22" descr="共晶白口铁1"/>
            <p:cNvPicPr>
              <a:picLocks noChangeAspect="1"/>
            </p:cNvPicPr>
            <p:nvPr/>
          </p:nvPicPr>
          <p:blipFill>
            <a:blip r:embed="rId5"/>
            <a:stretch>
              <a:fillRect/>
            </a:stretch>
          </p:blipFill>
          <p:spPr>
            <a:xfrm>
              <a:off x="384" y="2832"/>
              <a:ext cx="2040" cy="1187"/>
            </a:xfrm>
            <a:prstGeom prst="rect">
              <a:avLst/>
            </a:prstGeom>
            <a:noFill/>
            <a:ln w="28575" cap="flat" cmpd="sng">
              <a:solidFill>
                <a:srgbClr val="FF00FF"/>
              </a:solidFill>
              <a:prstDash val="solid"/>
              <a:miter/>
              <a:headEnd type="none" w="med" len="med"/>
              <a:tailEnd type="none" w="med" len="med"/>
            </a:ln>
          </p:spPr>
        </p:pic>
      </p:grpSp>
      <p:pic>
        <p:nvPicPr>
          <p:cNvPr id="21" name="内容占位符 1" descr="新校徽（3M）弓之乐"/>
          <p:cNvPicPr>
            <a:picLocks noChangeAspect="1"/>
          </p:cNvPicPr>
          <p:nvPr/>
        </p:nvPicPr>
        <p:blipFill>
          <a:blip r:embed="rId6"/>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1074">
                                            <p:txEl>
                                              <p:pRg st="0" end="0"/>
                                            </p:txEl>
                                          </p:spTgt>
                                        </p:tgtEl>
                                        <p:attrNameLst>
                                          <p:attrName>style.visibility</p:attrName>
                                        </p:attrNameLst>
                                      </p:cBhvr>
                                      <p:to>
                                        <p:strVal val="visible"/>
                                      </p:to>
                                    </p:set>
                                    <p:animEffect transition="in" filter="wipe(left)">
                                      <p:cBhvr>
                                        <p:cTn id="7" dur="500"/>
                                        <p:tgtEl>
                                          <p:spTgt spid="131074">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1075"/>
                                        </p:tgtEl>
                                        <p:attrNameLst>
                                          <p:attrName>style.visibility</p:attrName>
                                        </p:attrNameLst>
                                      </p:cBhvr>
                                      <p:to>
                                        <p:strVal val="visible"/>
                                      </p:to>
                                    </p:set>
                                    <p:animEffect transition="in" filter="wipe(left)">
                                      <p:cBhvr>
                                        <p:cTn id="11" dur="500"/>
                                        <p:tgtEl>
                                          <p:spTgt spid="131075"/>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31078"/>
                                        </p:tgtEl>
                                        <p:attrNameLst>
                                          <p:attrName>style.visibility</p:attrName>
                                        </p:attrNameLst>
                                      </p:cBhvr>
                                      <p:to>
                                        <p:strVal val="visible"/>
                                      </p:to>
                                    </p:set>
                                    <p:animEffect transition="in" filter="wipe(left)">
                                      <p:cBhvr>
                                        <p:cTn id="15" dur="500"/>
                                        <p:tgtEl>
                                          <p:spTgt spid="13107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31076"/>
                                        </p:tgtEl>
                                        <p:attrNameLst>
                                          <p:attrName>style.visibility</p:attrName>
                                        </p:attrNameLst>
                                      </p:cBhvr>
                                      <p:to>
                                        <p:strVal val="visible"/>
                                      </p:to>
                                    </p:set>
                                    <p:animEffect transition="in" filter="wipe(left)">
                                      <p:cBhvr>
                                        <p:cTn id="20" dur="500"/>
                                        <p:tgtEl>
                                          <p:spTgt spid="131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4" grpId="0" build="p" advAuto="1000"/>
      <p:bldP spid="131075" grpId="0"/>
      <p:bldP spid="131078"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日期占位符 3"/>
          <p:cNvSpPr txBox="1">
            <a:spLocks noGrp="1"/>
          </p:cNvSpPr>
          <p:nvPr>
            <p:ph type="dt" sz="half" idx="10"/>
          </p:nvPr>
        </p:nvSpPr>
        <p:spPr>
          <a:xfrm>
            <a:off x="0" y="6514782"/>
            <a:ext cx="2305050" cy="419100"/>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7412" name="灯片编号占位符 5"/>
          <p:cNvSpPr txBox="1">
            <a:spLocks noGrp="1"/>
          </p:cNvSpPr>
          <p:nvPr>
            <p:ph type="sldNum" sz="quarter" idx="12"/>
          </p:nvPr>
        </p:nvSpPr>
        <p:spPr>
          <a:xfrm>
            <a:off x="8601710" y="6590665"/>
            <a:ext cx="542290" cy="267335"/>
          </a:xfrm>
        </p:spPr>
        <p:txBody>
          <a:bodyPr lIns="92075" tIns="46038" rIns="92075" bIns="46038" anchor="ctr"/>
          <a:lstStyle/>
          <a:p>
            <a:pPr algn="r" eaLnBrk="1" hangingPunct="1"/>
            <a:fld id="{9A0DB2DC-4C9A-4742-B13C-FB6460FD3503}" type="slidenum">
              <a:rPr lang="en-US" altLang="zh-CN" sz="1400" dirty="0"/>
              <a:t>139</a:t>
            </a:fld>
            <a:endParaRPr lang="en-US" altLang="zh-CN" sz="1400" dirty="0"/>
          </a:p>
        </p:txBody>
      </p:sp>
      <p:sp>
        <p:nvSpPr>
          <p:cNvPr id="132098" name="Rectangle 2"/>
          <p:cNvSpPr>
            <a:spLocks noGrp="1"/>
          </p:cNvSpPr>
          <p:nvPr>
            <p:ph idx="1"/>
          </p:nvPr>
        </p:nvSpPr>
        <p:spPr>
          <a:xfrm>
            <a:off x="539750" y="1796415"/>
            <a:ext cx="4824338" cy="4010660"/>
          </a:xfrm>
        </p:spPr>
        <p:txBody>
          <a:bodyPr vert="horz" wrap="square" lIns="91440" tIns="45720" rIns="91440" bIns="45720" anchor="t"/>
          <a:lstStyle/>
          <a:p>
            <a:pPr eaLnBrk="1" latinLnBrk="0" hangingPunct="1">
              <a:lnSpc>
                <a:spcPct val="120000"/>
              </a:lnSpc>
              <a:spcBef>
                <a:spcPts val="0"/>
              </a:spcBef>
            </a:pPr>
            <a:r>
              <a:rPr lang="zh-CN" altLang="en-US" b="1" dirty="0">
                <a:ea typeface="华文中宋" panose="02010600040101010101" pitchFamily="2" charset="-122"/>
              </a:rPr>
              <a:t>共晶白口铁室温组织为</a:t>
            </a:r>
            <a:r>
              <a:rPr lang="en-US" altLang="zh-CN" b="1" dirty="0">
                <a:ea typeface="华文中宋" panose="02010600040101010101" pitchFamily="2" charset="-122"/>
              </a:rPr>
              <a:t>Le’ (P+ Fe</a:t>
            </a:r>
            <a:r>
              <a:rPr lang="en-US" altLang="zh-CN" b="1" baseline="-30000" dirty="0">
                <a:ea typeface="华文中宋" panose="02010600040101010101" pitchFamily="2" charset="-122"/>
              </a:rPr>
              <a:t>3</a:t>
            </a:r>
            <a:r>
              <a:rPr lang="en-US" altLang="zh-CN" b="1" dirty="0">
                <a:ea typeface="华文中宋" panose="02010600040101010101" pitchFamily="2" charset="-122"/>
              </a:rPr>
              <a:t>C),  </a:t>
            </a:r>
            <a:r>
              <a:rPr lang="zh-CN" altLang="en-US" b="1" dirty="0">
                <a:ea typeface="华文中宋" panose="02010600040101010101" pitchFamily="2" charset="-122"/>
              </a:rPr>
              <a:t>它保留了共晶转变产物的形态特征。</a:t>
            </a:r>
          </a:p>
          <a:p>
            <a:pPr eaLnBrk="1" hangingPunct="1">
              <a:lnSpc>
                <a:spcPct val="140000"/>
              </a:lnSpc>
            </a:pPr>
            <a:r>
              <a:rPr lang="zh-CN" altLang="en-US" b="1" dirty="0">
                <a:solidFill>
                  <a:schemeClr val="folHlink"/>
                </a:solidFill>
                <a:ea typeface="华文中宋" panose="02010600040101010101" pitchFamily="2" charset="-122"/>
              </a:rPr>
              <a:t>室温下两相的相对重量百分比为</a:t>
            </a:r>
            <a:r>
              <a:rPr lang="en-US" altLang="zh-CN" b="1" dirty="0">
                <a:solidFill>
                  <a:schemeClr val="folHlink"/>
                </a:solidFill>
                <a:ea typeface="华文中宋" panose="02010600040101010101" pitchFamily="2" charset="-122"/>
              </a:rPr>
              <a:t>:</a:t>
            </a:r>
            <a:r>
              <a:rPr lang="en-US" altLang="zh-CN" b="1" dirty="0">
                <a:solidFill>
                  <a:srgbClr val="00FF00"/>
                </a:solidFill>
                <a:ea typeface="华文中宋" panose="02010600040101010101" pitchFamily="2" charset="-122"/>
              </a:rPr>
              <a:t> </a:t>
            </a:r>
            <a:endParaRPr lang="en-US" altLang="zh-CN" b="1" dirty="0">
              <a:ea typeface="华文中宋" panose="02010600040101010101" pitchFamily="2" charset="-122"/>
            </a:endParaRPr>
          </a:p>
        </p:txBody>
      </p:sp>
      <p:graphicFrame>
        <p:nvGraphicFramePr>
          <p:cNvPr id="132099" name="Object 3"/>
          <p:cNvGraphicFramePr/>
          <p:nvPr/>
        </p:nvGraphicFramePr>
        <p:xfrm>
          <a:off x="3348037" y="4941727"/>
          <a:ext cx="5326063" cy="1479550"/>
        </p:xfrm>
        <a:graphic>
          <a:graphicData uri="http://schemas.openxmlformats.org/presentationml/2006/ole">
            <mc:AlternateContent xmlns:mc="http://schemas.openxmlformats.org/markup-compatibility/2006">
              <mc:Choice xmlns:v="urn:schemas-microsoft-com:vml" Requires="v">
                <p:oleObj r:id="rId2" imgW="4711700" imgH="1308100" progId="Equation.3">
                  <p:embed/>
                </p:oleObj>
              </mc:Choice>
              <mc:Fallback>
                <p:oleObj r:id="rId2" imgW="4711700" imgH="1308100" progId="Equation.3">
                  <p:embed/>
                  <p:pic>
                    <p:nvPicPr>
                      <p:cNvPr id="0" name="Object 3"/>
                      <p:cNvPicPr/>
                      <p:nvPr/>
                    </p:nvPicPr>
                    <p:blipFill>
                      <a:blip r:embed="rId3">
                        <a:clrChange>
                          <a:clrFrom>
                            <a:srgbClr val="000000"/>
                          </a:clrFrom>
                          <a:clrTo>
                            <a:srgbClr val="FFFF00"/>
                          </a:clrTo>
                        </a:clrChange>
                      </a:blip>
                      <a:stretch>
                        <a:fillRect/>
                      </a:stretch>
                    </p:blipFill>
                    <p:spPr>
                      <a:xfrm>
                        <a:off x="3348037" y="4941727"/>
                        <a:ext cx="5326063" cy="1479550"/>
                      </a:xfrm>
                      <a:prstGeom prst="rect">
                        <a:avLst/>
                      </a:prstGeom>
                      <a:solidFill>
                        <a:srgbClr val="FF9900"/>
                      </a:solidFill>
                      <a:ln w="38100">
                        <a:noFill/>
                        <a:miter/>
                      </a:ln>
                    </p:spPr>
                  </p:pic>
                </p:oleObj>
              </mc:Fallback>
            </mc:AlternateContent>
          </a:graphicData>
        </a:graphic>
      </p:graphicFrame>
      <p:pic>
        <p:nvPicPr>
          <p:cNvPr id="132100" name="Picture 4" descr="共晶白口铁"/>
          <p:cNvPicPr>
            <a:picLocks noChangeAspect="1"/>
          </p:cNvPicPr>
          <p:nvPr/>
        </p:nvPicPr>
        <p:blipFill>
          <a:blip r:embed="rId4"/>
          <a:stretch>
            <a:fillRect/>
          </a:stretch>
        </p:blipFill>
        <p:spPr>
          <a:xfrm>
            <a:off x="5724257" y="1988959"/>
            <a:ext cx="3237622" cy="2657476"/>
          </a:xfrm>
          <a:prstGeom prst="rect">
            <a:avLst/>
          </a:prstGeom>
          <a:noFill/>
          <a:ln w="28575" cap="flat" cmpd="sng">
            <a:solidFill>
              <a:srgbClr val="FF00FF"/>
            </a:solidFill>
            <a:prstDash val="solid"/>
            <a:miter/>
            <a:headEnd type="none" w="med" len="med"/>
            <a:tailEnd type="none" w="med" len="med"/>
          </a:ln>
        </p:spPr>
      </p:pic>
      <p:pic>
        <p:nvPicPr>
          <p:cNvPr id="8" name="内容占位符 1" descr="新校徽（3M）弓之乐"/>
          <p:cNvPicPr>
            <a:picLocks noChangeAspect="1"/>
          </p:cNvPicPr>
          <p:nvPr/>
        </p:nvPicPr>
        <p:blipFill>
          <a:blip r:embed="rId5"/>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2098">
                                            <p:txEl>
                                              <p:pRg st="0" end="0"/>
                                            </p:txEl>
                                          </p:spTgt>
                                        </p:tgtEl>
                                        <p:attrNameLst>
                                          <p:attrName>style.visibility</p:attrName>
                                        </p:attrNameLst>
                                      </p:cBhvr>
                                      <p:to>
                                        <p:strVal val="visible"/>
                                      </p:to>
                                    </p:set>
                                    <p:animEffect transition="in" filter="wipe(left)">
                                      <p:cBhvr>
                                        <p:cTn id="7" dur="500"/>
                                        <p:tgtEl>
                                          <p:spTgt spid="132098">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2098">
                                            <p:txEl>
                                              <p:pRg st="1" end="1"/>
                                            </p:txEl>
                                          </p:spTgt>
                                        </p:tgtEl>
                                        <p:attrNameLst>
                                          <p:attrName>style.visibility</p:attrName>
                                        </p:attrNameLst>
                                      </p:cBhvr>
                                      <p:to>
                                        <p:strVal val="visible"/>
                                      </p:to>
                                    </p:set>
                                    <p:animEffect transition="in" filter="wipe(left)">
                                      <p:cBhvr>
                                        <p:cTn id="11" dur="500"/>
                                        <p:tgtEl>
                                          <p:spTgt spid="132098">
                                            <p:txEl>
                                              <p:pRg st="1" end="1"/>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132100"/>
                                        </p:tgtEl>
                                        <p:attrNameLst>
                                          <p:attrName>style.visibility</p:attrName>
                                        </p:attrNameLst>
                                      </p:cBhvr>
                                      <p:to>
                                        <p:strVal val="visible"/>
                                      </p:to>
                                    </p:set>
                                    <p:animEffect transition="in" filter="wipe(up)">
                                      <p:cBhvr>
                                        <p:cTn id="15" dur="500"/>
                                        <p:tgtEl>
                                          <p:spTgt spid="13210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32099"/>
                                        </p:tgtEl>
                                        <p:attrNameLst>
                                          <p:attrName>style.visibility</p:attrName>
                                        </p:attrNameLst>
                                      </p:cBhvr>
                                      <p:to>
                                        <p:strVal val="visible"/>
                                      </p:to>
                                    </p:set>
                                    <p:animEffect transition="in" filter="wipe(left)">
                                      <p:cBhvr>
                                        <p:cTn id="20" dur="500"/>
                                        <p:tgtEl>
                                          <p:spTgt spid="132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8" grpId="0" build="p" advAuto="100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日期占位符 3"/>
          <p:cNvSpPr txBox="1">
            <a:spLocks noGrp="1"/>
          </p:cNvSpPr>
          <p:nvPr>
            <p:ph type="dt" sz="half" idx="10"/>
          </p:nvPr>
        </p:nvSpPr>
        <p:spPr>
          <a:xfrm>
            <a:off x="0" y="6510338"/>
            <a:ext cx="2162175"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25955" name="灯片编号占位符 5"/>
          <p:cNvSpPr txBox="1">
            <a:spLocks noGrp="1"/>
          </p:cNvSpPr>
          <p:nvPr>
            <p:ph type="sldNum" sz="quarter" idx="12"/>
          </p:nvPr>
        </p:nvSpPr>
        <p:spPr>
          <a:xfrm>
            <a:off x="8587105" y="6663055"/>
            <a:ext cx="584835" cy="194945"/>
          </a:xfrm>
        </p:spPr>
        <p:txBody>
          <a:bodyPr lIns="92075" tIns="46038" rIns="92075" bIns="46038" anchor="ctr"/>
          <a:lstStyle/>
          <a:p>
            <a:pPr algn="r" eaLnBrk="1" hangingPunct="1"/>
            <a:fld id="{9A0DB2DC-4C9A-4742-B13C-FB6460FD3503}" type="slidenum">
              <a:rPr lang="en-US" altLang="zh-CN" sz="1400" dirty="0"/>
              <a:t>140</a:t>
            </a:fld>
            <a:endParaRPr lang="en-US" altLang="zh-CN" sz="1400" dirty="0"/>
          </a:p>
        </p:txBody>
      </p:sp>
      <p:sp>
        <p:nvSpPr>
          <p:cNvPr id="125956" name="Rectangle 2"/>
          <p:cNvSpPr>
            <a:spLocks noGrp="1"/>
          </p:cNvSpPr>
          <p:nvPr>
            <p:ph type="title"/>
          </p:nvPr>
        </p:nvSpPr>
        <p:spPr>
          <a:xfrm>
            <a:off x="1187624" y="376752"/>
            <a:ext cx="7772400" cy="863600"/>
          </a:xfrm>
        </p:spPr>
        <p:txBody>
          <a:bodyPr vert="horz" wrap="square" lIns="92075" tIns="46038" rIns="92075" bIns="46038" anchor="ctr"/>
          <a:lstStyle/>
          <a:p>
            <a:pPr eaLnBrk="1" hangingPunct="1"/>
            <a:r>
              <a:rPr lang="en-US" altLang="zh-CN" b="1" dirty="0">
                <a:solidFill>
                  <a:srgbClr val="FF0000"/>
                </a:solidFill>
                <a:latin typeface="Times New Roman" panose="02020603050405020304" pitchFamily="18" charset="0"/>
                <a:ea typeface="华文中宋" panose="02010600040101010101" pitchFamily="2" charset="-122"/>
              </a:rPr>
              <a:t>㈥ </a:t>
            </a:r>
            <a:r>
              <a:rPr lang="zh-CN" altLang="en-US" b="1" dirty="0">
                <a:solidFill>
                  <a:srgbClr val="FF0000"/>
                </a:solidFill>
                <a:latin typeface="Times New Roman" panose="02020603050405020304" pitchFamily="18" charset="0"/>
                <a:ea typeface="华文中宋" panose="02010600040101010101" pitchFamily="2" charset="-122"/>
              </a:rPr>
              <a:t>亚共晶白口铁的结晶过程</a:t>
            </a:r>
          </a:p>
        </p:txBody>
      </p:sp>
      <p:sp>
        <p:nvSpPr>
          <p:cNvPr id="125957" name="Rectangle 3"/>
          <p:cNvSpPr>
            <a:spLocks noGrp="1"/>
          </p:cNvSpPr>
          <p:nvPr>
            <p:ph idx="1"/>
          </p:nvPr>
        </p:nvSpPr>
        <p:spPr>
          <a:xfrm>
            <a:off x="357188" y="1916831"/>
            <a:ext cx="4574852" cy="4465871"/>
          </a:xfrm>
        </p:spPr>
        <p:txBody>
          <a:bodyPr vert="horz" wrap="square" lIns="91440" tIns="45720" rIns="91440" bIns="45720" anchor="t"/>
          <a:lstStyle/>
          <a:p>
            <a:pPr algn="just" eaLnBrk="1" hangingPunct="1"/>
            <a:r>
              <a:rPr lang="zh-CN" altLang="en-US" b="1" dirty="0">
                <a:ea typeface="华文中宋" panose="02010600040101010101" pitchFamily="2" charset="-122"/>
              </a:rPr>
              <a:t>合金在 </a:t>
            </a:r>
            <a:r>
              <a:rPr lang="en-US" altLang="zh-CN" b="1" dirty="0">
                <a:ea typeface="华文中宋" panose="02010600040101010101" pitchFamily="2" charset="-122"/>
              </a:rPr>
              <a:t>1~2 </a:t>
            </a:r>
            <a:r>
              <a:rPr lang="zh-CN" altLang="en-US" b="1" dirty="0">
                <a:ea typeface="华文中宋" panose="02010600040101010101" pitchFamily="2" charset="-122"/>
              </a:rPr>
              <a:t>点间结晶出 </a:t>
            </a:r>
            <a:r>
              <a:rPr lang="zh-CN" altLang="en-US" b="1" i="1" dirty="0">
                <a:ea typeface="华文中宋" panose="02010600040101010101" pitchFamily="2" charset="-122"/>
                <a:sym typeface="Symbol" panose="05050102010706020507" pitchFamily="18" charset="2"/>
              </a:rPr>
              <a:t></a:t>
            </a:r>
            <a:r>
              <a:rPr lang="zh-CN" altLang="en-US" b="1" dirty="0">
                <a:ea typeface="华文中宋" panose="02010600040101010101" pitchFamily="2" charset="-122"/>
                <a:sym typeface="Symbol" panose="05050102010706020507" pitchFamily="18" charset="2"/>
              </a:rPr>
              <a:t> </a:t>
            </a:r>
            <a:r>
              <a:rPr lang="zh-CN" altLang="en-US" b="1" dirty="0">
                <a:ea typeface="华文中宋" panose="02010600040101010101" pitchFamily="2" charset="-122"/>
              </a:rPr>
              <a:t>。</a:t>
            </a:r>
            <a:endParaRPr lang="en-US" altLang="zh-CN" b="1" dirty="0">
              <a:ea typeface="华文中宋" panose="02010600040101010101" pitchFamily="2" charset="-122"/>
            </a:endParaRPr>
          </a:p>
          <a:p>
            <a:pPr algn="just" eaLnBrk="1" hangingPunct="1"/>
            <a:r>
              <a:rPr lang="zh-CN" altLang="en-US" b="1" dirty="0">
                <a:ea typeface="华文中宋" panose="02010600040101010101" pitchFamily="2" charset="-122"/>
              </a:rPr>
              <a:t>到 </a:t>
            </a:r>
            <a:r>
              <a:rPr lang="en-US" altLang="zh-CN" b="1" dirty="0">
                <a:ea typeface="华文中宋" panose="02010600040101010101" pitchFamily="2" charset="-122"/>
              </a:rPr>
              <a:t>2 </a:t>
            </a:r>
            <a:r>
              <a:rPr lang="zh-CN" altLang="en-US" b="1" dirty="0">
                <a:ea typeface="华文中宋" panose="02010600040101010101" pitchFamily="2" charset="-122"/>
              </a:rPr>
              <a:t>点，液相成分变到</a:t>
            </a:r>
            <a:r>
              <a:rPr lang="en-US" altLang="zh-CN" b="1" dirty="0">
                <a:ea typeface="华文中宋" panose="02010600040101010101" pitchFamily="2" charset="-122"/>
              </a:rPr>
              <a:t>C </a:t>
            </a:r>
            <a:r>
              <a:rPr lang="zh-CN" altLang="en-US" b="1" dirty="0">
                <a:ea typeface="华文中宋" panose="02010600040101010101" pitchFamily="2" charset="-122"/>
              </a:rPr>
              <a:t>点，并转变为 </a:t>
            </a:r>
            <a:r>
              <a:rPr lang="en-US" altLang="zh-CN" b="1" dirty="0">
                <a:ea typeface="华文中宋" panose="02010600040101010101" pitchFamily="2" charset="-122"/>
              </a:rPr>
              <a:t>Le</a:t>
            </a:r>
            <a:r>
              <a:rPr lang="zh-CN" altLang="en-US" b="1" dirty="0">
                <a:ea typeface="华文中宋" panose="02010600040101010101" pitchFamily="2" charset="-122"/>
              </a:rPr>
              <a:t>。</a:t>
            </a:r>
            <a:endParaRPr lang="en-US" altLang="zh-CN" b="1" dirty="0">
              <a:ea typeface="华文中宋" panose="02010600040101010101" pitchFamily="2" charset="-122"/>
            </a:endParaRPr>
          </a:p>
          <a:p>
            <a:pPr algn="just" eaLnBrk="1" hangingPunct="1"/>
            <a:r>
              <a:rPr lang="en-US" altLang="zh-CN" b="1" dirty="0">
                <a:ea typeface="华文中宋" panose="02010600040101010101" pitchFamily="2" charset="-122"/>
              </a:rPr>
              <a:t>2~3 </a:t>
            </a:r>
            <a:r>
              <a:rPr lang="zh-CN" altLang="en-US" b="1" dirty="0">
                <a:ea typeface="华文中宋" panose="02010600040101010101" pitchFamily="2" charset="-122"/>
              </a:rPr>
              <a:t>点间从 </a:t>
            </a:r>
            <a:r>
              <a:rPr lang="zh-CN" altLang="en-US" b="1" i="1" dirty="0">
                <a:ea typeface="华文中宋" panose="02010600040101010101" pitchFamily="2" charset="-122"/>
                <a:sym typeface="Symbol" panose="05050102010706020507" pitchFamily="18" charset="2"/>
              </a:rPr>
              <a:t> </a:t>
            </a:r>
            <a:r>
              <a:rPr lang="zh-CN" altLang="en-US" b="1" dirty="0">
                <a:ea typeface="华文中宋" panose="02010600040101010101" pitchFamily="2" charset="-122"/>
              </a:rPr>
              <a:t>中析出 </a:t>
            </a:r>
            <a:r>
              <a:rPr lang="en-US" altLang="zh-CN" b="1" dirty="0">
                <a:ea typeface="华文中宋" panose="02010600040101010101" pitchFamily="2" charset="-122"/>
              </a:rPr>
              <a:t>Fe</a:t>
            </a:r>
            <a:r>
              <a:rPr lang="en-US" altLang="zh-CN" b="1" baseline="-30000" dirty="0">
                <a:ea typeface="华文中宋" panose="02010600040101010101" pitchFamily="2" charset="-122"/>
              </a:rPr>
              <a:t>3</a:t>
            </a:r>
            <a:r>
              <a:rPr lang="en-US" altLang="zh-CN" b="1" dirty="0">
                <a:ea typeface="华文中宋" panose="02010600040101010101" pitchFamily="2" charset="-122"/>
              </a:rPr>
              <a:t>C</a:t>
            </a:r>
            <a:r>
              <a:rPr lang="en-US" altLang="zh-CN" b="1" baseline="-30000" dirty="0">
                <a:ea typeface="华文中宋" panose="02010600040101010101" pitchFamily="2" charset="-122"/>
              </a:rPr>
              <a:t>Ⅱ</a:t>
            </a:r>
            <a:r>
              <a:rPr lang="en-US" altLang="zh-CN" b="1" dirty="0">
                <a:ea typeface="华文中宋" panose="02010600040101010101" pitchFamily="2" charset="-122"/>
              </a:rPr>
              <a:t>,</a:t>
            </a:r>
            <a:r>
              <a:rPr lang="zh-CN" altLang="en-US" b="1" dirty="0"/>
              <a:t>一次</a:t>
            </a:r>
            <a:r>
              <a:rPr lang="zh-CN" altLang="en-US" b="1" i="1" dirty="0">
                <a:sym typeface="Symbol" panose="05050102010706020507" pitchFamily="18" charset="2"/>
              </a:rPr>
              <a:t></a:t>
            </a:r>
            <a:r>
              <a:rPr lang="zh-CN" altLang="en-US" b="1" dirty="0"/>
              <a:t>的</a:t>
            </a:r>
            <a:r>
              <a:rPr lang="en-US" altLang="zh-CN" b="1" dirty="0"/>
              <a:t>Fe</a:t>
            </a:r>
            <a:r>
              <a:rPr lang="en-US" altLang="zh-CN" b="1" baseline="-25000" dirty="0"/>
              <a:t>3</a:t>
            </a:r>
            <a:r>
              <a:rPr lang="en-US" altLang="zh-CN" b="1" dirty="0"/>
              <a:t>C</a:t>
            </a:r>
            <a:r>
              <a:rPr lang="en-US" altLang="zh-CN" b="1" baseline="-30000" dirty="0">
                <a:ea typeface="华文中宋" panose="02010600040101010101" pitchFamily="2" charset="-122"/>
              </a:rPr>
              <a:t>Ⅱ</a:t>
            </a:r>
            <a:r>
              <a:rPr lang="zh-CN" altLang="en-US" b="1" dirty="0"/>
              <a:t>被共晶 </a:t>
            </a:r>
            <a:r>
              <a:rPr lang="zh-CN" altLang="en-US" b="1" i="1" dirty="0">
                <a:sym typeface="Symbol" panose="05050102010706020507" pitchFamily="18" charset="2"/>
              </a:rPr>
              <a:t> </a:t>
            </a:r>
            <a:r>
              <a:rPr lang="zh-CN" altLang="en-US" b="1" dirty="0"/>
              <a:t>衬托出来。</a:t>
            </a:r>
            <a:endParaRPr lang="en-US" altLang="zh-CN" b="1" dirty="0"/>
          </a:p>
          <a:p>
            <a:pPr algn="just" eaLnBrk="1" hangingPunct="1"/>
            <a:r>
              <a:rPr lang="zh-CN" altLang="en-US" b="1" dirty="0"/>
              <a:t>到</a:t>
            </a:r>
            <a:r>
              <a:rPr lang="en-US" altLang="zh-CN" b="1" dirty="0"/>
              <a:t>3</a:t>
            </a:r>
            <a:r>
              <a:rPr lang="zh-CN" altLang="en-US" b="1" dirty="0"/>
              <a:t>点，</a:t>
            </a:r>
            <a:r>
              <a:rPr lang="zh-CN" altLang="en-US" b="1" i="1" dirty="0">
                <a:sym typeface="Symbol" panose="05050102010706020507" pitchFamily="18" charset="2"/>
              </a:rPr>
              <a:t> </a:t>
            </a:r>
            <a:r>
              <a:rPr lang="zh-CN" altLang="en-US" b="1" dirty="0"/>
              <a:t>转变为</a:t>
            </a:r>
            <a:r>
              <a:rPr lang="en-US" altLang="zh-CN" b="1" dirty="0"/>
              <a:t>P</a:t>
            </a:r>
            <a:r>
              <a:rPr lang="zh-CN" altLang="en-US" b="1" dirty="0"/>
              <a:t>。</a:t>
            </a:r>
          </a:p>
        </p:txBody>
      </p:sp>
      <p:pic>
        <p:nvPicPr>
          <p:cNvPr id="261124" name="Picture 4" descr="Fe-C亚共晶结晶过程"/>
          <p:cNvPicPr>
            <a:picLocks noChangeAspect="1"/>
          </p:cNvPicPr>
          <p:nvPr/>
        </p:nvPicPr>
        <p:blipFill>
          <a:blip r:embed="rId2"/>
          <a:stretch>
            <a:fillRect/>
          </a:stretch>
        </p:blipFill>
        <p:spPr>
          <a:xfrm>
            <a:off x="5250989" y="2204859"/>
            <a:ext cx="3921123" cy="2347671"/>
          </a:xfrm>
          <a:prstGeom prst="rect">
            <a:avLst/>
          </a:prstGeom>
          <a:noFill/>
          <a:ln w="38100" cap="flat" cmpd="sng">
            <a:noFill/>
            <a:prstDash val="solid"/>
            <a:miter/>
            <a:headEnd type="none" w="med" len="med"/>
            <a:tailEnd type="none" w="med" len="med"/>
          </a:ln>
        </p:spPr>
      </p:pic>
      <p:pic>
        <p:nvPicPr>
          <p:cNvPr id="8" name="内容占位符 1" descr="新校徽（3M）弓之乐"/>
          <p:cNvPicPr>
            <a:picLocks noChangeAspect="1"/>
          </p:cNvPicPr>
          <p:nvPr/>
        </p:nvPicPr>
        <p:blipFill>
          <a:blip r:embed="rId3"/>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61124"/>
                                        </p:tgtEl>
                                        <p:attrNameLst>
                                          <p:attrName>style.visibility</p:attrName>
                                        </p:attrNameLst>
                                      </p:cBhvr>
                                      <p:to>
                                        <p:strVal val="visible"/>
                                      </p:to>
                                    </p:set>
                                    <p:animEffect transition="in" filter="wipe(left)">
                                      <p:cBhvr>
                                        <p:cTn id="7" dur="500"/>
                                        <p:tgtEl>
                                          <p:spTgt spid="261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日期占位符 3"/>
          <p:cNvSpPr txBox="1">
            <a:spLocks noGrp="1"/>
          </p:cNvSpPr>
          <p:nvPr>
            <p:ph type="dt" sz="half" idx="10"/>
          </p:nvPr>
        </p:nvSpPr>
        <p:spPr>
          <a:xfrm>
            <a:off x="0" y="6510338"/>
            <a:ext cx="2233613"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8436" name="灯片编号占位符 5"/>
          <p:cNvSpPr txBox="1">
            <a:spLocks noGrp="1"/>
          </p:cNvSpPr>
          <p:nvPr>
            <p:ph type="sldNum" sz="quarter" idx="12"/>
          </p:nvPr>
        </p:nvSpPr>
        <p:spPr>
          <a:xfrm>
            <a:off x="8512023" y="6510655"/>
            <a:ext cx="584352" cy="518745"/>
          </a:xfrm>
        </p:spPr>
        <p:txBody>
          <a:bodyPr lIns="92075" tIns="46038" rIns="92075" bIns="46038" anchor="ctr"/>
          <a:lstStyle/>
          <a:p>
            <a:pPr algn="r" eaLnBrk="1" hangingPunct="1"/>
            <a:fld id="{9A0DB2DC-4C9A-4742-B13C-FB6460FD3503}" type="slidenum">
              <a:rPr lang="en-US" altLang="zh-CN" sz="1400" dirty="0"/>
              <a:t>141</a:t>
            </a:fld>
            <a:endParaRPr lang="en-US" altLang="zh-CN" sz="1400" dirty="0"/>
          </a:p>
        </p:txBody>
      </p:sp>
      <p:sp>
        <p:nvSpPr>
          <p:cNvPr id="134146" name="Rectangle 2"/>
          <p:cNvSpPr>
            <a:spLocks noGrp="1"/>
          </p:cNvSpPr>
          <p:nvPr>
            <p:ph idx="1"/>
          </p:nvPr>
        </p:nvSpPr>
        <p:spPr>
          <a:xfrm>
            <a:off x="649186" y="1671734"/>
            <a:ext cx="4625823" cy="2281111"/>
          </a:xfrm>
        </p:spPr>
        <p:txBody>
          <a:bodyPr vert="horz" wrap="square" lIns="91440" tIns="45720" rIns="91440" bIns="45720" anchor="t"/>
          <a:lstStyle/>
          <a:p>
            <a:pPr algn="just" eaLnBrk="1" hangingPunct="1">
              <a:lnSpc>
                <a:spcPct val="110000"/>
              </a:lnSpc>
            </a:pPr>
            <a:r>
              <a:rPr lang="zh-CN" altLang="en-US" b="1" dirty="0">
                <a:solidFill>
                  <a:srgbClr val="0000FF"/>
                </a:solidFill>
                <a:ea typeface="华文中宋" panose="02010600040101010101" pitchFamily="2" charset="-122"/>
              </a:rPr>
              <a:t>亚共晶白口铁</a:t>
            </a:r>
            <a:r>
              <a:rPr lang="zh-CN" altLang="en-US" b="1" dirty="0">
                <a:solidFill>
                  <a:srgbClr val="FF0000"/>
                </a:solidFill>
                <a:ea typeface="华文中宋" panose="02010600040101010101" pitchFamily="2" charset="-122"/>
              </a:rPr>
              <a:t>室温组织</a:t>
            </a:r>
            <a:r>
              <a:rPr lang="zh-CN" altLang="en-US" b="1" dirty="0">
                <a:ea typeface="华文中宋" panose="02010600040101010101" pitchFamily="2" charset="-122"/>
              </a:rPr>
              <a:t>为</a:t>
            </a:r>
            <a:r>
              <a:rPr lang="en-US" altLang="zh-CN" b="1" dirty="0">
                <a:solidFill>
                  <a:srgbClr val="0000FF"/>
                </a:solidFill>
                <a:ea typeface="华文中宋" panose="02010600040101010101" pitchFamily="2" charset="-122"/>
              </a:rPr>
              <a:t>P+Fe</a:t>
            </a:r>
            <a:r>
              <a:rPr lang="en-US" altLang="zh-CN" b="1" baseline="-30000" dirty="0">
                <a:solidFill>
                  <a:srgbClr val="0000FF"/>
                </a:solidFill>
                <a:ea typeface="华文中宋" panose="02010600040101010101" pitchFamily="2" charset="-122"/>
              </a:rPr>
              <a:t>3</a:t>
            </a:r>
            <a:r>
              <a:rPr lang="en-US" altLang="zh-CN" b="1" dirty="0">
                <a:solidFill>
                  <a:srgbClr val="0000FF"/>
                </a:solidFill>
                <a:ea typeface="华文中宋" panose="02010600040101010101" pitchFamily="2" charset="-122"/>
              </a:rPr>
              <a:t>C</a:t>
            </a:r>
            <a:r>
              <a:rPr lang="en-US" altLang="zh-CN" b="1" baseline="-30000" dirty="0">
                <a:solidFill>
                  <a:srgbClr val="0000FF"/>
                </a:solidFill>
                <a:ea typeface="华文中宋" panose="02010600040101010101" pitchFamily="2" charset="-122"/>
              </a:rPr>
              <a:t>Ⅱ</a:t>
            </a:r>
            <a:r>
              <a:rPr lang="en-US" altLang="zh-CN" b="1" dirty="0">
                <a:solidFill>
                  <a:srgbClr val="0000FF"/>
                </a:solidFill>
                <a:ea typeface="华文中宋" panose="02010600040101010101" pitchFamily="2" charset="-122"/>
              </a:rPr>
              <a:t>+Le’</a:t>
            </a:r>
            <a:r>
              <a:rPr lang="zh-CN" altLang="en-US" b="1" dirty="0">
                <a:ea typeface="华文中宋" panose="02010600040101010101" pitchFamily="2" charset="-122"/>
              </a:rPr>
              <a:t>。</a:t>
            </a:r>
          </a:p>
          <a:p>
            <a:pPr algn="just" eaLnBrk="1" hangingPunct="1">
              <a:lnSpc>
                <a:spcPct val="110000"/>
              </a:lnSpc>
            </a:pPr>
            <a:r>
              <a:rPr lang="zh-CN" altLang="en-US" b="1" dirty="0">
                <a:ea typeface="华文中宋" panose="02010600040101010101" pitchFamily="2" charset="-122"/>
              </a:rPr>
              <a:t>室温下组织组成物相对重量百分比为 ：</a:t>
            </a:r>
          </a:p>
        </p:txBody>
      </p:sp>
      <p:graphicFrame>
        <p:nvGraphicFramePr>
          <p:cNvPr id="134147" name="Object 3"/>
          <p:cNvGraphicFramePr/>
          <p:nvPr/>
        </p:nvGraphicFramePr>
        <p:xfrm>
          <a:off x="5091363" y="3865324"/>
          <a:ext cx="3562350" cy="2355850"/>
        </p:xfrm>
        <a:graphic>
          <a:graphicData uri="http://schemas.openxmlformats.org/presentationml/2006/ole">
            <mc:AlternateContent xmlns:mc="http://schemas.openxmlformats.org/markup-compatibility/2006">
              <mc:Choice xmlns:v="urn:schemas-microsoft-com:vml" Requires="v">
                <p:oleObj r:id="rId2" imgW="1612900" imgH="1066800" progId="Equation.3">
                  <p:embed/>
                </p:oleObj>
              </mc:Choice>
              <mc:Fallback>
                <p:oleObj r:id="rId2" imgW="1612900" imgH="1066800" progId="Equation.3">
                  <p:embed/>
                  <p:pic>
                    <p:nvPicPr>
                      <p:cNvPr id="0" name="Object 3"/>
                      <p:cNvPicPr/>
                      <p:nvPr/>
                    </p:nvPicPr>
                    <p:blipFill>
                      <a:blip r:embed="rId3">
                        <a:clrChange>
                          <a:clrFrom>
                            <a:srgbClr val="000000"/>
                          </a:clrFrom>
                          <a:clrTo>
                            <a:srgbClr val="FFFF00"/>
                          </a:clrTo>
                        </a:clrChange>
                      </a:blip>
                      <a:stretch>
                        <a:fillRect/>
                      </a:stretch>
                    </p:blipFill>
                    <p:spPr>
                      <a:xfrm>
                        <a:off x="5091363" y="3865324"/>
                        <a:ext cx="3562350" cy="2355850"/>
                      </a:xfrm>
                      <a:prstGeom prst="rect">
                        <a:avLst/>
                      </a:prstGeom>
                      <a:solidFill>
                        <a:srgbClr val="0070C0"/>
                      </a:solidFill>
                      <a:ln w="38100">
                        <a:noFill/>
                        <a:miter/>
                      </a:ln>
                    </p:spPr>
                  </p:pic>
                </p:oleObj>
              </mc:Fallback>
            </mc:AlternateContent>
          </a:graphicData>
        </a:graphic>
      </p:graphicFrame>
      <p:pic>
        <p:nvPicPr>
          <p:cNvPr id="134154" name="Picture 10" descr="亚共晶白口铁组织"/>
          <p:cNvPicPr>
            <a:picLocks noChangeAspect="1"/>
          </p:cNvPicPr>
          <p:nvPr/>
        </p:nvPicPr>
        <p:blipFill>
          <a:blip r:embed="rId4"/>
          <a:stretch>
            <a:fillRect/>
          </a:stretch>
        </p:blipFill>
        <p:spPr>
          <a:xfrm>
            <a:off x="5573610" y="1844824"/>
            <a:ext cx="2938413" cy="1896105"/>
          </a:xfrm>
          <a:prstGeom prst="rect">
            <a:avLst/>
          </a:prstGeom>
          <a:noFill/>
          <a:ln w="38100" cap="flat" cmpd="sng">
            <a:noFill/>
            <a:prstDash val="solid"/>
            <a:miter/>
            <a:headEnd type="none" w="med" len="med"/>
            <a:tailEnd type="none" w="med" len="med"/>
          </a:ln>
        </p:spPr>
      </p:pic>
      <p:grpSp>
        <p:nvGrpSpPr>
          <p:cNvPr id="3" name="Group 24"/>
          <p:cNvGrpSpPr/>
          <p:nvPr/>
        </p:nvGrpSpPr>
        <p:grpSpPr>
          <a:xfrm>
            <a:off x="928688" y="3952845"/>
            <a:ext cx="3486150" cy="2528918"/>
            <a:chOff x="384" y="1872"/>
            <a:chExt cx="2436" cy="2144"/>
          </a:xfrm>
        </p:grpSpPr>
        <p:grpSp>
          <p:nvGrpSpPr>
            <p:cNvPr id="18442" name="Group 22"/>
            <p:cNvGrpSpPr/>
            <p:nvPr/>
          </p:nvGrpSpPr>
          <p:grpSpPr>
            <a:xfrm>
              <a:off x="384" y="1872"/>
              <a:ext cx="2436" cy="2144"/>
              <a:chOff x="384" y="1872"/>
              <a:chExt cx="2436" cy="2144"/>
            </a:xfrm>
          </p:grpSpPr>
          <p:grpSp>
            <p:nvGrpSpPr>
              <p:cNvPr id="18444" name="Group 16"/>
              <p:cNvGrpSpPr/>
              <p:nvPr/>
            </p:nvGrpSpPr>
            <p:grpSpPr>
              <a:xfrm>
                <a:off x="384" y="1872"/>
                <a:ext cx="2436" cy="2144"/>
                <a:chOff x="384" y="1872"/>
                <a:chExt cx="2436" cy="2144"/>
              </a:xfrm>
            </p:grpSpPr>
            <p:pic>
              <p:nvPicPr>
                <p:cNvPr id="18449" name="Picture 9" descr="Fe-C相图"/>
                <p:cNvPicPr>
                  <a:picLocks noChangeAspect="1"/>
                </p:cNvPicPr>
                <p:nvPr/>
              </p:nvPicPr>
              <p:blipFill>
                <a:blip r:embed="rId5"/>
                <a:stretch>
                  <a:fillRect/>
                </a:stretch>
              </p:blipFill>
              <p:spPr>
                <a:xfrm>
                  <a:off x="384" y="1872"/>
                  <a:ext cx="2428" cy="2144"/>
                </a:xfrm>
                <a:prstGeom prst="rect">
                  <a:avLst/>
                </a:prstGeom>
                <a:noFill/>
                <a:ln w="38100" cap="flat" cmpd="sng">
                  <a:noFill/>
                  <a:prstDash val="solid"/>
                  <a:miter/>
                  <a:headEnd type="none" w="med" len="med"/>
                  <a:tailEnd type="none" w="med" len="med"/>
                </a:ln>
              </p:spPr>
            </p:pic>
            <p:sp>
              <p:nvSpPr>
                <p:cNvPr id="18450" name="Line 11"/>
                <p:cNvSpPr/>
                <p:nvPr/>
              </p:nvSpPr>
              <p:spPr>
                <a:xfrm>
                  <a:off x="1824" y="2220"/>
                  <a:ext cx="0" cy="1584"/>
                </a:xfrm>
                <a:prstGeom prst="line">
                  <a:avLst/>
                </a:prstGeom>
                <a:ln w="9525" cap="flat" cmpd="sng">
                  <a:solidFill>
                    <a:schemeClr val="hlink"/>
                  </a:solidFill>
                  <a:prstDash val="solid"/>
                  <a:headEnd type="none" w="med" len="med"/>
                  <a:tailEnd type="none" w="med" len="med"/>
                </a:ln>
              </p:spPr>
            </p:sp>
            <p:sp>
              <p:nvSpPr>
                <p:cNvPr id="18451" name="Text Box 12"/>
                <p:cNvSpPr txBox="1"/>
                <p:nvPr/>
              </p:nvSpPr>
              <p:spPr>
                <a:xfrm>
                  <a:off x="1452" y="2604"/>
                  <a:ext cx="240" cy="209"/>
                </a:xfrm>
                <a:prstGeom prst="rect">
                  <a:avLst/>
                </a:prstGeom>
                <a:noFill/>
                <a:ln w="9525">
                  <a:noFill/>
                </a:ln>
              </p:spPr>
              <p:txBody>
                <a:bodyPr>
                  <a:spAutoFit/>
                </a:bodyPr>
                <a:lstStyle/>
                <a:p>
                  <a:pPr lvl="0" eaLnBrk="1" hangingPunct="1">
                    <a:spcBef>
                      <a:spcPct val="50000"/>
                    </a:spcBef>
                  </a:pPr>
                  <a:r>
                    <a:rPr lang="en-US" altLang="zh-CN" sz="1400" b="1" dirty="0">
                      <a:solidFill>
                        <a:schemeClr val="bg2"/>
                      </a:solidFill>
                      <a:latin typeface="Times New Roman" panose="02020603050405020304" pitchFamily="18" charset="0"/>
                      <a:ea typeface="宋体" panose="02010600030101010101" pitchFamily="2" charset="-122"/>
                    </a:rPr>
                    <a:t>E</a:t>
                  </a:r>
                </a:p>
              </p:txBody>
            </p:sp>
            <p:sp>
              <p:nvSpPr>
                <p:cNvPr id="18452" name="Text Box 13"/>
                <p:cNvSpPr txBox="1"/>
                <p:nvPr/>
              </p:nvSpPr>
              <p:spPr>
                <a:xfrm>
                  <a:off x="2052" y="2520"/>
                  <a:ext cx="240" cy="209"/>
                </a:xfrm>
                <a:prstGeom prst="rect">
                  <a:avLst/>
                </a:prstGeom>
                <a:noFill/>
                <a:ln w="9525">
                  <a:noFill/>
                </a:ln>
              </p:spPr>
              <p:txBody>
                <a:bodyPr>
                  <a:spAutoFit/>
                </a:bodyPr>
                <a:lstStyle/>
                <a:p>
                  <a:pPr lvl="0" eaLnBrk="1" hangingPunct="1">
                    <a:spcBef>
                      <a:spcPct val="50000"/>
                    </a:spcBef>
                  </a:pPr>
                  <a:r>
                    <a:rPr lang="en-US" altLang="zh-CN" sz="1400" b="1" dirty="0">
                      <a:solidFill>
                        <a:schemeClr val="bg2"/>
                      </a:solidFill>
                      <a:latin typeface="Times New Roman" panose="02020603050405020304" pitchFamily="18" charset="0"/>
                      <a:ea typeface="宋体" panose="02010600030101010101" pitchFamily="2" charset="-122"/>
                    </a:rPr>
                    <a:t>C</a:t>
                  </a:r>
                </a:p>
              </p:txBody>
            </p:sp>
            <p:sp>
              <p:nvSpPr>
                <p:cNvPr id="18453" name="Text Box 14"/>
                <p:cNvSpPr txBox="1"/>
                <p:nvPr/>
              </p:nvSpPr>
              <p:spPr>
                <a:xfrm>
                  <a:off x="2580" y="2604"/>
                  <a:ext cx="240" cy="209"/>
                </a:xfrm>
                <a:prstGeom prst="rect">
                  <a:avLst/>
                </a:prstGeom>
                <a:noFill/>
                <a:ln w="9525">
                  <a:noFill/>
                </a:ln>
              </p:spPr>
              <p:txBody>
                <a:bodyPr>
                  <a:spAutoFit/>
                </a:bodyPr>
                <a:lstStyle/>
                <a:p>
                  <a:pPr lvl="0" eaLnBrk="1" hangingPunct="1">
                    <a:spcBef>
                      <a:spcPct val="50000"/>
                    </a:spcBef>
                  </a:pPr>
                  <a:r>
                    <a:rPr lang="en-US" altLang="zh-CN" sz="1400" b="1" dirty="0">
                      <a:solidFill>
                        <a:schemeClr val="bg2"/>
                      </a:solidFill>
                      <a:latin typeface="Times New Roman" panose="02020603050405020304" pitchFamily="18" charset="0"/>
                      <a:ea typeface="宋体" panose="02010600030101010101" pitchFamily="2" charset="-122"/>
                    </a:rPr>
                    <a:t>F</a:t>
                  </a:r>
                </a:p>
              </p:txBody>
            </p:sp>
            <p:sp>
              <p:nvSpPr>
                <p:cNvPr id="18454" name="Text Box 15"/>
                <p:cNvSpPr txBox="1"/>
                <p:nvPr/>
              </p:nvSpPr>
              <p:spPr>
                <a:xfrm>
                  <a:off x="2580" y="2281"/>
                  <a:ext cx="240" cy="209"/>
                </a:xfrm>
                <a:prstGeom prst="rect">
                  <a:avLst/>
                </a:prstGeom>
                <a:noFill/>
                <a:ln w="9525">
                  <a:noFill/>
                </a:ln>
              </p:spPr>
              <p:txBody>
                <a:bodyPr>
                  <a:spAutoFit/>
                </a:bodyPr>
                <a:lstStyle/>
                <a:p>
                  <a:pPr lvl="0" eaLnBrk="1" hangingPunct="1">
                    <a:spcBef>
                      <a:spcPct val="50000"/>
                    </a:spcBef>
                  </a:pPr>
                  <a:r>
                    <a:rPr lang="en-US" altLang="zh-CN" sz="1400" b="1" dirty="0">
                      <a:solidFill>
                        <a:schemeClr val="bg2"/>
                      </a:solidFill>
                      <a:latin typeface="Times New Roman" panose="02020603050405020304" pitchFamily="18" charset="0"/>
                      <a:ea typeface="宋体" panose="02010600030101010101" pitchFamily="2" charset="-122"/>
                    </a:rPr>
                    <a:t>D</a:t>
                  </a:r>
                </a:p>
              </p:txBody>
            </p:sp>
          </p:grpSp>
          <p:sp>
            <p:nvSpPr>
              <p:cNvPr id="18445" name="Text Box 17"/>
              <p:cNvSpPr txBox="1"/>
              <p:nvPr/>
            </p:nvSpPr>
            <p:spPr>
              <a:xfrm>
                <a:off x="1799" y="2316"/>
                <a:ext cx="241" cy="189"/>
              </a:xfrm>
              <a:prstGeom prst="rect">
                <a:avLst/>
              </a:prstGeom>
              <a:noFill/>
              <a:ln w="9525">
                <a:noFill/>
              </a:ln>
            </p:spPr>
            <p:txBody>
              <a:bodyPr>
                <a:spAutoFit/>
              </a:bodyPr>
              <a:lstStyle/>
              <a:p>
                <a:pPr lvl="0" eaLnBrk="1" hangingPunct="1">
                  <a:spcBef>
                    <a:spcPct val="50000"/>
                  </a:spcBef>
                </a:pPr>
                <a:r>
                  <a:rPr lang="en-US" altLang="zh-CN" sz="1200" b="1" dirty="0">
                    <a:solidFill>
                      <a:schemeClr val="hlink"/>
                    </a:solidFill>
                    <a:latin typeface="Times New Roman" panose="02020603050405020304" pitchFamily="18" charset="0"/>
                    <a:ea typeface="宋体" panose="02010600030101010101" pitchFamily="2" charset="-122"/>
                  </a:rPr>
                  <a:t>1</a:t>
                </a:r>
              </a:p>
            </p:txBody>
          </p:sp>
          <p:sp>
            <p:nvSpPr>
              <p:cNvPr id="18446" name="Text Box 18"/>
              <p:cNvSpPr txBox="1"/>
              <p:nvPr/>
            </p:nvSpPr>
            <p:spPr>
              <a:xfrm>
                <a:off x="1799" y="2556"/>
                <a:ext cx="241" cy="189"/>
              </a:xfrm>
              <a:prstGeom prst="rect">
                <a:avLst/>
              </a:prstGeom>
              <a:noFill/>
              <a:ln w="9525">
                <a:noFill/>
              </a:ln>
            </p:spPr>
            <p:txBody>
              <a:bodyPr>
                <a:spAutoFit/>
              </a:bodyPr>
              <a:lstStyle/>
              <a:p>
                <a:pPr lvl="0" eaLnBrk="1" hangingPunct="1">
                  <a:spcBef>
                    <a:spcPct val="50000"/>
                  </a:spcBef>
                </a:pPr>
                <a:r>
                  <a:rPr lang="en-US" altLang="zh-CN" sz="1200" b="1" dirty="0">
                    <a:solidFill>
                      <a:schemeClr val="hlink"/>
                    </a:solidFill>
                    <a:latin typeface="Times New Roman" panose="02020603050405020304" pitchFamily="18" charset="0"/>
                    <a:ea typeface="宋体" panose="02010600030101010101" pitchFamily="2" charset="-122"/>
                  </a:rPr>
                  <a:t>2</a:t>
                </a:r>
              </a:p>
            </p:txBody>
          </p:sp>
          <p:sp>
            <p:nvSpPr>
              <p:cNvPr id="18447" name="Text Box 19"/>
              <p:cNvSpPr txBox="1"/>
              <p:nvPr/>
            </p:nvSpPr>
            <p:spPr>
              <a:xfrm>
                <a:off x="1812" y="3144"/>
                <a:ext cx="240" cy="189"/>
              </a:xfrm>
              <a:prstGeom prst="rect">
                <a:avLst/>
              </a:prstGeom>
              <a:noFill/>
              <a:ln w="9525">
                <a:noFill/>
              </a:ln>
            </p:spPr>
            <p:txBody>
              <a:bodyPr>
                <a:spAutoFit/>
              </a:bodyPr>
              <a:lstStyle/>
              <a:p>
                <a:pPr lvl="0" eaLnBrk="1" hangingPunct="1">
                  <a:spcBef>
                    <a:spcPct val="50000"/>
                  </a:spcBef>
                </a:pPr>
                <a:r>
                  <a:rPr lang="en-US" altLang="zh-CN" sz="1200" b="1" dirty="0">
                    <a:solidFill>
                      <a:schemeClr val="hlink"/>
                    </a:solidFill>
                    <a:latin typeface="Times New Roman" panose="02020603050405020304" pitchFamily="18" charset="0"/>
                    <a:ea typeface="宋体" panose="02010600030101010101" pitchFamily="2" charset="-122"/>
                  </a:rPr>
                  <a:t>3</a:t>
                </a:r>
              </a:p>
            </p:txBody>
          </p:sp>
          <p:sp>
            <p:nvSpPr>
              <p:cNvPr id="18448" name="Text Box 20"/>
              <p:cNvSpPr txBox="1"/>
              <p:nvPr/>
            </p:nvSpPr>
            <p:spPr>
              <a:xfrm>
                <a:off x="1799" y="3679"/>
                <a:ext cx="241" cy="189"/>
              </a:xfrm>
              <a:prstGeom prst="rect">
                <a:avLst/>
              </a:prstGeom>
              <a:noFill/>
              <a:ln w="9525">
                <a:noFill/>
              </a:ln>
            </p:spPr>
            <p:txBody>
              <a:bodyPr>
                <a:spAutoFit/>
              </a:bodyPr>
              <a:lstStyle/>
              <a:p>
                <a:pPr lvl="0" eaLnBrk="1" hangingPunct="1">
                  <a:spcBef>
                    <a:spcPct val="50000"/>
                  </a:spcBef>
                </a:pPr>
                <a:r>
                  <a:rPr lang="en-US" altLang="zh-CN" sz="1200" b="1" dirty="0">
                    <a:solidFill>
                      <a:schemeClr val="hlink"/>
                    </a:solidFill>
                    <a:latin typeface="Times New Roman" panose="02020603050405020304" pitchFamily="18" charset="0"/>
                    <a:ea typeface="宋体" panose="02010600030101010101" pitchFamily="2" charset="-122"/>
                  </a:rPr>
                  <a:t>4</a:t>
                </a:r>
              </a:p>
            </p:txBody>
          </p:sp>
        </p:grpSp>
        <p:sp>
          <p:nvSpPr>
            <p:cNvPr id="18443" name="Text Box 23"/>
            <p:cNvSpPr txBox="1"/>
            <p:nvPr/>
          </p:nvSpPr>
          <p:spPr>
            <a:xfrm>
              <a:off x="384" y="2208"/>
              <a:ext cx="192" cy="209"/>
            </a:xfrm>
            <a:prstGeom prst="rect">
              <a:avLst/>
            </a:prstGeom>
            <a:noFill/>
            <a:ln w="9525">
              <a:noFill/>
            </a:ln>
          </p:spPr>
          <p:txBody>
            <a:bodyPr>
              <a:spAutoFit/>
            </a:bodyPr>
            <a:lstStyle/>
            <a:p>
              <a:pPr lvl="0" eaLnBrk="1" hangingPunct="1">
                <a:spcBef>
                  <a:spcPct val="50000"/>
                </a:spcBef>
              </a:pPr>
              <a:r>
                <a:rPr lang="en-US" altLang="zh-CN" sz="1400" b="1" dirty="0">
                  <a:solidFill>
                    <a:schemeClr val="bg2"/>
                  </a:solidFill>
                  <a:latin typeface="Times New Roman" panose="02020603050405020304" pitchFamily="18" charset="0"/>
                  <a:ea typeface="宋体" panose="02010600030101010101" pitchFamily="2" charset="-122"/>
                </a:rPr>
                <a:t>N</a:t>
              </a:r>
            </a:p>
          </p:txBody>
        </p:sp>
      </p:grpSp>
      <p:sp>
        <p:nvSpPr>
          <p:cNvPr id="134169" name="Text Box 25"/>
          <p:cNvSpPr txBox="1"/>
          <p:nvPr/>
        </p:nvSpPr>
        <p:spPr>
          <a:xfrm>
            <a:off x="5159223" y="6261866"/>
            <a:ext cx="3352800" cy="406400"/>
          </a:xfrm>
          <a:prstGeom prst="rect">
            <a:avLst/>
          </a:prstGeom>
          <a:noFill/>
          <a:ln w="9525" cap="flat" cmpd="sng">
            <a:solidFill>
              <a:schemeClr val="tx1"/>
            </a:solidFill>
            <a:prstDash val="solid"/>
            <a:miter/>
            <a:headEnd type="none" w="med" len="med"/>
            <a:tailEnd type="none" w="med" len="med"/>
          </a:ln>
        </p:spPr>
        <p:txBody>
          <a:bodyPr>
            <a:spAutoFit/>
          </a:bodyPr>
          <a:lstStyle/>
          <a:p>
            <a:pPr lvl="0" eaLnBrk="1" hangingPunct="1">
              <a:spcBef>
                <a:spcPct val="50000"/>
              </a:spcBef>
            </a:pPr>
            <a:r>
              <a:rPr lang="zh-CN" altLang="en-US" sz="2000" b="1" dirty="0">
                <a:latin typeface="Times New Roman" panose="02020603050405020304" pitchFamily="18" charset="0"/>
                <a:ea typeface="华文中宋" panose="02010600040101010101" pitchFamily="2" charset="-122"/>
              </a:rPr>
              <a:t>室温下相的相对重量百分比</a:t>
            </a:r>
            <a:r>
              <a:rPr lang="en-US" altLang="zh-CN" sz="2000" b="1" dirty="0">
                <a:latin typeface="Times New Roman" panose="02020603050405020304" pitchFamily="18" charset="0"/>
                <a:ea typeface="华文中宋" panose="02010600040101010101" pitchFamily="2" charset="-122"/>
              </a:rPr>
              <a:t>?</a:t>
            </a:r>
          </a:p>
        </p:txBody>
      </p:sp>
      <p:pic>
        <p:nvPicPr>
          <p:cNvPr id="23" name="内容占位符 1" descr="新校徽（3M）弓之乐"/>
          <p:cNvPicPr>
            <a:picLocks noChangeAspect="1"/>
          </p:cNvPicPr>
          <p:nvPr/>
        </p:nvPicPr>
        <p:blipFill>
          <a:blip r:embed="rId6"/>
          <a:stretch>
            <a:fillRect/>
          </a:stretch>
        </p:blipFill>
        <p:spPr>
          <a:xfrm>
            <a:off x="0" y="0"/>
            <a:ext cx="746760" cy="735965"/>
          </a:xfrm>
          <a:prstGeom prst="rect">
            <a:avLst/>
          </a:prstGeom>
          <a:noFill/>
          <a:ln w="9525">
            <a:noFill/>
          </a:ln>
        </p:spPr>
      </p:pic>
      <p:sp>
        <p:nvSpPr>
          <p:cNvPr id="4" name="Rectangle 2"/>
          <p:cNvSpPr>
            <a:spLocks noGrp="1"/>
          </p:cNvSpPr>
          <p:nvPr>
            <p:ph type="title"/>
          </p:nvPr>
        </p:nvSpPr>
        <p:spPr>
          <a:xfrm>
            <a:off x="1187624" y="376752"/>
            <a:ext cx="7772400" cy="863600"/>
          </a:xfrm>
        </p:spPr>
        <p:txBody>
          <a:bodyPr vert="horz" wrap="square" lIns="92075" tIns="46038" rIns="92075" bIns="46038" anchor="ctr"/>
          <a:lstStyle/>
          <a:p>
            <a:pPr eaLnBrk="1" hangingPunct="1"/>
            <a:r>
              <a:rPr lang="en-US" altLang="zh-CN" b="1" dirty="0">
                <a:solidFill>
                  <a:srgbClr val="FF0000"/>
                </a:solidFill>
                <a:latin typeface="Times New Roman" panose="02020603050405020304" pitchFamily="18" charset="0"/>
                <a:ea typeface="华文中宋" panose="02010600040101010101" pitchFamily="2" charset="-122"/>
              </a:rPr>
              <a:t>㈥ </a:t>
            </a:r>
            <a:r>
              <a:rPr lang="zh-CN" altLang="en-US" b="1" dirty="0">
                <a:solidFill>
                  <a:srgbClr val="FF0000"/>
                </a:solidFill>
                <a:latin typeface="Times New Roman" panose="02020603050405020304" pitchFamily="18" charset="0"/>
                <a:ea typeface="华文中宋" panose="02010600040101010101" pitchFamily="2" charset="-122"/>
              </a:rPr>
              <a:t>亚共晶白口铁的结晶过程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4146">
                                            <p:txEl>
                                              <p:pRg st="0" end="0"/>
                                            </p:txEl>
                                          </p:spTgt>
                                        </p:tgtEl>
                                        <p:attrNameLst>
                                          <p:attrName>style.visibility</p:attrName>
                                        </p:attrNameLst>
                                      </p:cBhvr>
                                      <p:to>
                                        <p:strVal val="visible"/>
                                      </p:to>
                                    </p:set>
                                    <p:animEffect transition="in" filter="wipe(left)">
                                      <p:cBhvr>
                                        <p:cTn id="7" dur="500"/>
                                        <p:tgtEl>
                                          <p:spTgt spid="13414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4146">
                                            <p:txEl>
                                              <p:pRg st="1" end="1"/>
                                            </p:txEl>
                                          </p:spTgt>
                                        </p:tgtEl>
                                        <p:attrNameLst>
                                          <p:attrName>style.visibility</p:attrName>
                                        </p:attrNameLst>
                                      </p:cBhvr>
                                      <p:to>
                                        <p:strVal val="visible"/>
                                      </p:to>
                                    </p:set>
                                    <p:animEffect transition="in" filter="wipe(left)">
                                      <p:cBhvr>
                                        <p:cTn id="11" dur="500"/>
                                        <p:tgtEl>
                                          <p:spTgt spid="134146">
                                            <p:txEl>
                                              <p:pRg st="1" end="1"/>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34154"/>
                                        </p:tgtEl>
                                        <p:attrNameLst>
                                          <p:attrName>style.visibility</p:attrName>
                                        </p:attrNameLst>
                                      </p:cBhvr>
                                      <p:to>
                                        <p:strVal val="visible"/>
                                      </p:to>
                                    </p:set>
                                    <p:animEffect transition="in" filter="wipe(left)">
                                      <p:cBhvr>
                                        <p:cTn id="15" dur="500"/>
                                        <p:tgtEl>
                                          <p:spTgt spid="13415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34147"/>
                                        </p:tgtEl>
                                        <p:attrNameLst>
                                          <p:attrName>style.visibility</p:attrName>
                                        </p:attrNameLst>
                                      </p:cBhvr>
                                      <p:to>
                                        <p:strVal val="visible"/>
                                      </p:to>
                                    </p:set>
                                    <p:animEffect transition="in" filter="wipe(left)">
                                      <p:cBhvr>
                                        <p:cTn id="20" dur="500"/>
                                        <p:tgtEl>
                                          <p:spTgt spid="13414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34169"/>
                                        </p:tgtEl>
                                        <p:attrNameLst>
                                          <p:attrName>style.visibility</p:attrName>
                                        </p:attrNameLst>
                                      </p:cBhvr>
                                      <p:to>
                                        <p:strVal val="visible"/>
                                      </p:to>
                                    </p:set>
                                    <p:animEffect transition="in" filter="wipe(left)">
                                      <p:cBhvr>
                                        <p:cTn id="25" dur="500"/>
                                        <p:tgtEl>
                                          <p:spTgt spid="134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6" grpId="0" build="p" advAuto="1000"/>
      <p:bldP spid="134169" grpId="0" animBg="1"/>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日期占位符 3"/>
          <p:cNvSpPr txBox="1">
            <a:spLocks noGrp="1"/>
          </p:cNvSpPr>
          <p:nvPr>
            <p:ph type="dt" sz="half" idx="10"/>
          </p:nvPr>
        </p:nvSpPr>
        <p:spPr>
          <a:xfrm>
            <a:off x="0" y="6510655"/>
            <a:ext cx="2227580" cy="34734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26979" name="灯片编号占位符 5"/>
          <p:cNvSpPr txBox="1">
            <a:spLocks noGrp="1"/>
          </p:cNvSpPr>
          <p:nvPr>
            <p:ph type="sldNum" sz="quarter" idx="12"/>
          </p:nvPr>
        </p:nvSpPr>
        <p:spPr>
          <a:xfrm>
            <a:off x="8543925" y="6609080"/>
            <a:ext cx="650240" cy="295910"/>
          </a:xfrm>
        </p:spPr>
        <p:txBody>
          <a:bodyPr lIns="92075" tIns="46038" rIns="92075" bIns="46038" anchor="ctr"/>
          <a:lstStyle/>
          <a:p>
            <a:pPr algn="r" eaLnBrk="1" hangingPunct="1"/>
            <a:fld id="{9A0DB2DC-4C9A-4742-B13C-FB6460FD3503}" type="slidenum">
              <a:rPr lang="en-US" altLang="zh-CN" sz="1400" dirty="0"/>
              <a:t>142</a:t>
            </a:fld>
            <a:endParaRPr lang="en-US" altLang="zh-CN" sz="1400" dirty="0"/>
          </a:p>
        </p:txBody>
      </p:sp>
      <p:sp>
        <p:nvSpPr>
          <p:cNvPr id="126980" name="Rectangle 2"/>
          <p:cNvSpPr>
            <a:spLocks noGrp="1"/>
          </p:cNvSpPr>
          <p:nvPr>
            <p:ph type="title"/>
          </p:nvPr>
        </p:nvSpPr>
        <p:spPr>
          <a:xfrm>
            <a:off x="1115378" y="98425"/>
            <a:ext cx="7385050" cy="928688"/>
          </a:xfrm>
        </p:spPr>
        <p:txBody>
          <a:bodyPr vert="horz" wrap="square" lIns="92075" tIns="46038" rIns="92075" bIns="46038" anchor="ctr"/>
          <a:lstStyle/>
          <a:p>
            <a:pPr eaLnBrk="1" hangingPunct="1"/>
            <a:r>
              <a:rPr lang="en-US" altLang="zh-CN" b="1" dirty="0">
                <a:solidFill>
                  <a:srgbClr val="FF0000"/>
                </a:solidFill>
                <a:latin typeface="Times New Roman" panose="02020603050405020304" pitchFamily="18" charset="0"/>
                <a:ea typeface="华文中宋" panose="02010600040101010101" pitchFamily="2" charset="-122"/>
              </a:rPr>
              <a:t>㈦ </a:t>
            </a:r>
            <a:r>
              <a:rPr lang="zh-CN" altLang="en-US" b="1" dirty="0">
                <a:solidFill>
                  <a:srgbClr val="FF0000"/>
                </a:solidFill>
                <a:latin typeface="Times New Roman" panose="02020603050405020304" pitchFamily="18" charset="0"/>
                <a:ea typeface="华文中宋" panose="02010600040101010101" pitchFamily="2" charset="-122"/>
              </a:rPr>
              <a:t>过共晶白口铁的结晶过程</a:t>
            </a:r>
          </a:p>
        </p:txBody>
      </p:sp>
      <p:sp>
        <p:nvSpPr>
          <p:cNvPr id="126981" name="Rectangle 3"/>
          <p:cNvSpPr>
            <a:spLocks noGrp="1"/>
          </p:cNvSpPr>
          <p:nvPr>
            <p:ph idx="1"/>
          </p:nvPr>
        </p:nvSpPr>
        <p:spPr>
          <a:xfrm>
            <a:off x="321469" y="3305148"/>
            <a:ext cx="8501062" cy="3229485"/>
          </a:xfrm>
        </p:spPr>
        <p:txBody>
          <a:bodyPr vert="horz" wrap="square" lIns="91440" tIns="45720" rIns="91440" bIns="45720" anchor="t"/>
          <a:lstStyle/>
          <a:p>
            <a:pPr eaLnBrk="1" hangingPunct="1"/>
            <a:r>
              <a:rPr lang="en-US" altLang="zh-CN" b="1" dirty="0">
                <a:ea typeface="华文中宋" panose="02010600040101010101" pitchFamily="2" charset="-122"/>
              </a:rPr>
              <a:t>1~2</a:t>
            </a:r>
            <a:r>
              <a:rPr lang="zh-CN" altLang="en-US" b="1" dirty="0">
                <a:ea typeface="华文中宋" panose="02010600040101010101" pitchFamily="2" charset="-122"/>
              </a:rPr>
              <a:t>点间</a:t>
            </a:r>
            <a:r>
              <a:rPr lang="zh-CN" altLang="en-US" b="1" dirty="0">
                <a:solidFill>
                  <a:srgbClr val="0000FF"/>
                </a:solidFill>
                <a:ea typeface="华文中宋" panose="02010600040101010101" pitchFamily="2" charset="-122"/>
              </a:rPr>
              <a:t>从液相中结晶出</a:t>
            </a:r>
            <a:r>
              <a:rPr lang="en-US" altLang="zh-CN" b="1" dirty="0">
                <a:solidFill>
                  <a:srgbClr val="0000FF"/>
                </a:solidFill>
                <a:ea typeface="华文中宋" panose="02010600040101010101" pitchFamily="2" charset="-122"/>
              </a:rPr>
              <a:t>Fe</a:t>
            </a:r>
            <a:r>
              <a:rPr lang="en-US" altLang="zh-CN" b="1" baseline="-30000" dirty="0">
                <a:solidFill>
                  <a:srgbClr val="0000FF"/>
                </a:solidFill>
                <a:ea typeface="华文中宋" panose="02010600040101010101" pitchFamily="2" charset="-122"/>
              </a:rPr>
              <a:t>3</a:t>
            </a:r>
            <a:r>
              <a:rPr lang="en-US" altLang="zh-CN" b="1" dirty="0">
                <a:solidFill>
                  <a:srgbClr val="0000FF"/>
                </a:solidFill>
                <a:ea typeface="华文中宋" panose="02010600040101010101" pitchFamily="2" charset="-122"/>
              </a:rPr>
              <a:t>C</a:t>
            </a:r>
            <a:r>
              <a:rPr lang="zh-CN" altLang="en-US" b="1" dirty="0">
                <a:ea typeface="华文中宋" panose="02010600040101010101" pitchFamily="2" charset="-122"/>
              </a:rPr>
              <a:t>，这种渗碳体称</a:t>
            </a:r>
            <a:r>
              <a:rPr lang="zh-CN" altLang="en-US" b="1" dirty="0">
                <a:solidFill>
                  <a:srgbClr val="0000FF"/>
                </a:solidFill>
                <a:ea typeface="华文中宋" panose="02010600040101010101" pitchFamily="2" charset="-122"/>
              </a:rPr>
              <a:t>一次渗碳体</a:t>
            </a:r>
            <a:r>
              <a:rPr lang="zh-CN" altLang="en-US" b="1" dirty="0">
                <a:ea typeface="华文中宋" panose="02010600040101010101" pitchFamily="2" charset="-122"/>
              </a:rPr>
              <a:t>，用 </a:t>
            </a:r>
            <a:r>
              <a:rPr lang="en-US" altLang="zh-CN" b="1" dirty="0">
                <a:solidFill>
                  <a:srgbClr val="0000FF"/>
                </a:solidFill>
                <a:ea typeface="华文中宋" panose="02010600040101010101" pitchFamily="2" charset="-122"/>
              </a:rPr>
              <a:t>Fe</a:t>
            </a:r>
            <a:r>
              <a:rPr lang="en-US" altLang="zh-CN" b="1" baseline="-30000" dirty="0">
                <a:solidFill>
                  <a:srgbClr val="0000FF"/>
                </a:solidFill>
                <a:ea typeface="华文中宋" panose="02010600040101010101" pitchFamily="2" charset="-122"/>
              </a:rPr>
              <a:t>3</a:t>
            </a:r>
            <a:r>
              <a:rPr lang="en-US" altLang="zh-CN" b="1" dirty="0">
                <a:solidFill>
                  <a:srgbClr val="0000FF"/>
                </a:solidFill>
                <a:ea typeface="华文中宋" panose="02010600040101010101" pitchFamily="2" charset="-122"/>
              </a:rPr>
              <a:t>C</a:t>
            </a:r>
            <a:r>
              <a:rPr lang="en-US" altLang="zh-CN" b="1" baseline="-30000" dirty="0">
                <a:solidFill>
                  <a:srgbClr val="0000FF"/>
                </a:solidFill>
                <a:ea typeface="华文中宋" panose="02010600040101010101" pitchFamily="2" charset="-122"/>
              </a:rPr>
              <a:t>Ⅰ</a:t>
            </a:r>
            <a:r>
              <a:rPr lang="zh-CN" altLang="en-US" b="1" dirty="0">
                <a:ea typeface="华文中宋" panose="02010600040101010101" pitchFamily="2" charset="-122"/>
              </a:rPr>
              <a:t>表示，呈</a:t>
            </a:r>
            <a:r>
              <a:rPr lang="zh-CN" altLang="en-US" b="1" dirty="0">
                <a:solidFill>
                  <a:srgbClr val="0000FF"/>
                </a:solidFill>
                <a:ea typeface="华文中宋" panose="02010600040101010101" pitchFamily="2" charset="-122"/>
              </a:rPr>
              <a:t>粗条片状</a:t>
            </a:r>
            <a:r>
              <a:rPr lang="zh-CN" altLang="en-US" b="1" dirty="0">
                <a:ea typeface="华文中宋" panose="02010600040101010101" pitchFamily="2" charset="-122"/>
              </a:rPr>
              <a:t>。</a:t>
            </a:r>
            <a:endParaRPr lang="en-US" altLang="zh-CN" b="1" dirty="0">
              <a:ea typeface="华文中宋" panose="02010600040101010101" pitchFamily="2" charset="-122"/>
            </a:endParaRPr>
          </a:p>
          <a:p>
            <a:pPr eaLnBrk="1" hangingPunct="1"/>
            <a:r>
              <a:rPr lang="zh-CN" altLang="en-US" b="1" dirty="0">
                <a:ea typeface="华文中宋" panose="02010600040101010101" pitchFamily="2" charset="-122"/>
              </a:rPr>
              <a:t>到</a:t>
            </a:r>
            <a:r>
              <a:rPr lang="en-US" altLang="zh-CN" b="1" dirty="0">
                <a:ea typeface="华文中宋" panose="02010600040101010101" pitchFamily="2" charset="-122"/>
              </a:rPr>
              <a:t>2</a:t>
            </a:r>
            <a:r>
              <a:rPr lang="zh-CN" altLang="en-US" b="1" dirty="0">
                <a:ea typeface="华文中宋" panose="02010600040101010101" pitchFamily="2" charset="-122"/>
              </a:rPr>
              <a:t>点，余下的液相成分变到</a:t>
            </a:r>
            <a:r>
              <a:rPr lang="en-US" altLang="zh-CN" b="1" dirty="0">
                <a:ea typeface="华文中宋" panose="02010600040101010101" pitchFamily="2" charset="-122"/>
              </a:rPr>
              <a:t>C</a:t>
            </a:r>
            <a:r>
              <a:rPr lang="zh-CN" altLang="en-US" b="1" dirty="0">
                <a:ea typeface="华文中宋" panose="02010600040101010101" pitchFamily="2" charset="-122"/>
              </a:rPr>
              <a:t>点并转变为</a:t>
            </a:r>
            <a:r>
              <a:rPr lang="en-US" altLang="zh-CN" b="1" dirty="0">
                <a:solidFill>
                  <a:srgbClr val="0000FF"/>
                </a:solidFill>
                <a:ea typeface="华文中宋" panose="02010600040101010101" pitchFamily="2" charset="-122"/>
              </a:rPr>
              <a:t>Le</a:t>
            </a:r>
            <a:r>
              <a:rPr lang="zh-CN" altLang="en-US" b="1" dirty="0">
                <a:ea typeface="华文中宋" panose="02010600040101010101" pitchFamily="2" charset="-122"/>
              </a:rPr>
              <a:t>。</a:t>
            </a:r>
          </a:p>
          <a:p>
            <a:pPr eaLnBrk="1" hangingPunct="1"/>
            <a:r>
              <a:rPr lang="en-US" altLang="zh-CN" b="1" dirty="0">
                <a:ea typeface="华文中宋" panose="02010600040101010101" pitchFamily="2" charset="-122"/>
              </a:rPr>
              <a:t>2</a:t>
            </a:r>
            <a:r>
              <a:rPr lang="zh-CN" altLang="en-US" b="1" dirty="0">
                <a:ea typeface="华文中宋" panose="02010600040101010101" pitchFamily="2" charset="-122"/>
              </a:rPr>
              <a:t>点以下</a:t>
            </a:r>
            <a:r>
              <a:rPr lang="en-US" altLang="zh-CN" b="1" dirty="0">
                <a:ea typeface="华文中宋" panose="02010600040101010101" pitchFamily="2" charset="-122"/>
              </a:rPr>
              <a:t>, Fe</a:t>
            </a:r>
            <a:r>
              <a:rPr lang="en-US" altLang="zh-CN" b="1" baseline="-30000" dirty="0">
                <a:ea typeface="华文中宋" panose="02010600040101010101" pitchFamily="2" charset="-122"/>
              </a:rPr>
              <a:t>3</a:t>
            </a:r>
            <a:r>
              <a:rPr lang="en-US" altLang="zh-CN" b="1" dirty="0">
                <a:ea typeface="华文中宋" panose="02010600040101010101" pitchFamily="2" charset="-122"/>
              </a:rPr>
              <a:t>C</a:t>
            </a:r>
            <a:r>
              <a:rPr lang="en-US" altLang="zh-CN" b="1" baseline="-30000" dirty="0">
                <a:ea typeface="华文中宋" panose="02010600040101010101" pitchFamily="2" charset="-122"/>
              </a:rPr>
              <a:t>Ⅰ</a:t>
            </a:r>
            <a:r>
              <a:rPr lang="zh-CN" altLang="en-US" b="1" dirty="0">
                <a:ea typeface="华文中宋" panose="02010600040101010101" pitchFamily="2" charset="-122"/>
              </a:rPr>
              <a:t>成分重量不再变化</a:t>
            </a:r>
            <a:r>
              <a:rPr lang="en-US" altLang="zh-CN" b="1" dirty="0">
                <a:ea typeface="华文中宋" panose="02010600040101010101" pitchFamily="2" charset="-122"/>
              </a:rPr>
              <a:t>, Le</a:t>
            </a:r>
            <a:r>
              <a:rPr lang="zh-CN" altLang="en-US" b="1" dirty="0">
                <a:ea typeface="华文中宋" panose="02010600040101010101" pitchFamily="2" charset="-122"/>
              </a:rPr>
              <a:t>变化同共晶合金</a:t>
            </a:r>
            <a:r>
              <a:rPr lang="en-US" altLang="zh-CN" b="1" dirty="0">
                <a:ea typeface="华文中宋" panose="02010600040101010101" pitchFamily="2" charset="-122"/>
              </a:rPr>
              <a:t>,</a:t>
            </a:r>
          </a:p>
          <a:p>
            <a:pPr eaLnBrk="1" hangingPunct="1"/>
            <a:r>
              <a:rPr lang="en-US" altLang="zh-CN" b="1" dirty="0">
                <a:solidFill>
                  <a:srgbClr val="0000FF"/>
                </a:solidFill>
                <a:ea typeface="华文中宋" panose="02010600040101010101" pitchFamily="2" charset="-122"/>
              </a:rPr>
              <a:t>室温组织</a:t>
            </a:r>
            <a:r>
              <a:rPr lang="zh-CN" altLang="en-US" b="1" dirty="0">
                <a:ea typeface="华文中宋" panose="02010600040101010101" pitchFamily="2" charset="-122"/>
              </a:rPr>
              <a:t>：</a:t>
            </a:r>
            <a:r>
              <a:rPr lang="en-US" altLang="zh-CN" b="1" dirty="0">
                <a:solidFill>
                  <a:srgbClr val="0000FF"/>
                </a:solidFill>
                <a:ea typeface="华文中宋" panose="02010600040101010101" pitchFamily="2" charset="-122"/>
              </a:rPr>
              <a:t>Fe</a:t>
            </a:r>
            <a:r>
              <a:rPr lang="en-US" altLang="zh-CN" b="1" baseline="-30000" dirty="0">
                <a:solidFill>
                  <a:srgbClr val="0000FF"/>
                </a:solidFill>
                <a:ea typeface="华文中宋" panose="02010600040101010101" pitchFamily="2" charset="-122"/>
              </a:rPr>
              <a:t>3</a:t>
            </a:r>
            <a:r>
              <a:rPr lang="en-US" altLang="zh-CN" b="1" dirty="0">
                <a:solidFill>
                  <a:srgbClr val="0000FF"/>
                </a:solidFill>
                <a:ea typeface="华文中宋" panose="02010600040101010101" pitchFamily="2" charset="-122"/>
              </a:rPr>
              <a:t>C</a:t>
            </a:r>
            <a:r>
              <a:rPr lang="en-US" altLang="zh-CN" b="1" baseline="-30000" dirty="0">
                <a:solidFill>
                  <a:srgbClr val="0000FF"/>
                </a:solidFill>
                <a:ea typeface="华文中宋" panose="02010600040101010101" pitchFamily="2" charset="-122"/>
              </a:rPr>
              <a:t>Ⅰ</a:t>
            </a:r>
            <a:r>
              <a:rPr lang="en-US" altLang="zh-CN" b="1" dirty="0">
                <a:solidFill>
                  <a:srgbClr val="0000FF"/>
                </a:solidFill>
                <a:ea typeface="华文中宋" panose="02010600040101010101" pitchFamily="2" charset="-122"/>
              </a:rPr>
              <a:t>+Le’</a:t>
            </a:r>
            <a:r>
              <a:rPr lang="zh-CN" altLang="en-US" b="1" dirty="0">
                <a:ea typeface="华文中宋" panose="02010600040101010101" pitchFamily="2" charset="-122"/>
              </a:rPr>
              <a:t>。</a:t>
            </a:r>
          </a:p>
        </p:txBody>
      </p:sp>
      <p:grpSp>
        <p:nvGrpSpPr>
          <p:cNvPr id="2" name="Group 4"/>
          <p:cNvGrpSpPr/>
          <p:nvPr/>
        </p:nvGrpSpPr>
        <p:grpSpPr>
          <a:xfrm>
            <a:off x="1259632" y="1340768"/>
            <a:ext cx="6445349" cy="1775457"/>
            <a:chOff x="564" y="1968"/>
            <a:chExt cx="4764" cy="2016"/>
          </a:xfrm>
        </p:grpSpPr>
        <p:pic>
          <p:nvPicPr>
            <p:cNvPr id="126984" name="Picture 5" descr="过共晶白口铁组织1"/>
            <p:cNvPicPr>
              <a:picLocks noChangeAspect="1"/>
            </p:cNvPicPr>
            <p:nvPr/>
          </p:nvPicPr>
          <p:blipFill>
            <a:blip r:embed="rId2"/>
            <a:stretch>
              <a:fillRect/>
            </a:stretch>
          </p:blipFill>
          <p:spPr>
            <a:xfrm>
              <a:off x="564" y="1968"/>
              <a:ext cx="1260" cy="2015"/>
            </a:xfrm>
            <a:prstGeom prst="rect">
              <a:avLst/>
            </a:prstGeom>
            <a:noFill/>
            <a:ln w="38100" cap="flat" cmpd="sng">
              <a:solidFill>
                <a:srgbClr val="FF99CC"/>
              </a:solidFill>
              <a:prstDash val="solid"/>
              <a:miter/>
              <a:headEnd type="none" w="med" len="med"/>
              <a:tailEnd type="none" w="med" len="med"/>
            </a:ln>
          </p:spPr>
        </p:pic>
        <p:grpSp>
          <p:nvGrpSpPr>
            <p:cNvPr id="126985" name="Group 6"/>
            <p:cNvGrpSpPr/>
            <p:nvPr/>
          </p:nvGrpSpPr>
          <p:grpSpPr>
            <a:xfrm>
              <a:off x="2016" y="1968"/>
              <a:ext cx="3312" cy="2016"/>
              <a:chOff x="1824" y="1872"/>
              <a:chExt cx="3625" cy="2245"/>
            </a:xfrm>
          </p:grpSpPr>
          <p:pic>
            <p:nvPicPr>
              <p:cNvPr id="126986" name="Picture 7" descr="Fe-C过共晶结晶过程"/>
              <p:cNvPicPr>
                <a:picLocks noChangeAspect="1"/>
              </p:cNvPicPr>
              <p:nvPr/>
            </p:nvPicPr>
            <p:blipFill>
              <a:blip r:embed="rId3"/>
              <a:stretch>
                <a:fillRect/>
              </a:stretch>
            </p:blipFill>
            <p:spPr>
              <a:xfrm>
                <a:off x="1824" y="1872"/>
                <a:ext cx="3625" cy="2245"/>
              </a:xfrm>
              <a:prstGeom prst="rect">
                <a:avLst/>
              </a:prstGeom>
              <a:noFill/>
              <a:ln w="38100" cap="flat" cmpd="sng">
                <a:noFill/>
                <a:prstDash val="solid"/>
                <a:miter/>
                <a:headEnd type="none" w="med" len="med"/>
                <a:tailEnd type="none" w="med" len="med"/>
              </a:ln>
            </p:spPr>
          </p:pic>
          <p:sp>
            <p:nvSpPr>
              <p:cNvPr id="126987" name="Rectangle 8"/>
              <p:cNvSpPr/>
              <p:nvPr/>
            </p:nvSpPr>
            <p:spPr>
              <a:xfrm>
                <a:off x="3108" y="2268"/>
                <a:ext cx="192" cy="96"/>
              </a:xfrm>
              <a:prstGeom prst="rect">
                <a:avLst/>
              </a:prstGeom>
              <a:solidFill>
                <a:schemeClr val="bg1"/>
              </a:solidFill>
              <a:ln w="9525" cap="flat" cmpd="sng">
                <a:noFill/>
                <a:prstDash val="solid"/>
                <a:miter/>
                <a:headEnd type="none" w="med" len="med"/>
                <a:tailEnd type="none" w="med" len="med"/>
              </a:ln>
            </p:spPr>
            <p:txBody>
              <a:bodyPr wrap="none" anchor="ctr"/>
              <a:lstStyle/>
              <a:p>
                <a:pPr lvl="0" algn="ctr" eaLnBrk="1" hangingPunct="1"/>
                <a:r>
                  <a:rPr lang="en-US" altLang="zh-CN" sz="1400" b="1" dirty="0">
                    <a:solidFill>
                      <a:schemeClr val="bg2"/>
                    </a:solidFill>
                    <a:latin typeface="Times New Roman" panose="02020603050405020304" pitchFamily="18" charset="0"/>
                    <a:ea typeface="宋体" panose="02010600030101010101" pitchFamily="2" charset="-122"/>
                  </a:rPr>
                  <a:t>D</a:t>
                </a:r>
              </a:p>
            </p:txBody>
          </p:sp>
          <p:sp>
            <p:nvSpPr>
              <p:cNvPr id="126988" name="Rectangle 9"/>
              <p:cNvSpPr/>
              <p:nvPr/>
            </p:nvSpPr>
            <p:spPr>
              <a:xfrm>
                <a:off x="3108" y="2820"/>
                <a:ext cx="192" cy="96"/>
              </a:xfrm>
              <a:prstGeom prst="rect">
                <a:avLst/>
              </a:prstGeom>
              <a:solidFill>
                <a:schemeClr val="bg1"/>
              </a:solidFill>
              <a:ln w="9525" cap="flat" cmpd="sng">
                <a:noFill/>
                <a:prstDash val="solid"/>
                <a:miter/>
                <a:headEnd type="none" w="med" len="med"/>
                <a:tailEnd type="none" w="med" len="med"/>
              </a:ln>
            </p:spPr>
            <p:txBody>
              <a:bodyPr wrap="none" anchor="ctr"/>
              <a:lstStyle/>
              <a:p>
                <a:pPr lvl="0" algn="ctr" eaLnBrk="1" hangingPunct="1"/>
                <a:r>
                  <a:rPr lang="en-US" altLang="zh-CN" sz="1400" b="1" dirty="0">
                    <a:solidFill>
                      <a:schemeClr val="bg2"/>
                    </a:solidFill>
                    <a:latin typeface="Times New Roman" panose="02020603050405020304" pitchFamily="18" charset="0"/>
                    <a:ea typeface="宋体" panose="02010600030101010101" pitchFamily="2" charset="-122"/>
                  </a:rPr>
                  <a:t>F</a:t>
                </a:r>
              </a:p>
            </p:txBody>
          </p:sp>
          <p:sp>
            <p:nvSpPr>
              <p:cNvPr id="126989" name="Rectangle 10"/>
              <p:cNvSpPr/>
              <p:nvPr/>
            </p:nvSpPr>
            <p:spPr>
              <a:xfrm>
                <a:off x="3108" y="3156"/>
                <a:ext cx="192" cy="96"/>
              </a:xfrm>
              <a:prstGeom prst="rect">
                <a:avLst/>
              </a:prstGeom>
              <a:solidFill>
                <a:schemeClr val="bg1"/>
              </a:solidFill>
              <a:ln w="9525" cap="flat" cmpd="sng">
                <a:noFill/>
                <a:prstDash val="solid"/>
                <a:miter/>
                <a:headEnd type="none" w="med" len="med"/>
                <a:tailEnd type="none" w="med" len="med"/>
              </a:ln>
            </p:spPr>
            <p:txBody>
              <a:bodyPr wrap="none" anchor="ctr"/>
              <a:lstStyle/>
              <a:p>
                <a:pPr lvl="0" algn="ctr" eaLnBrk="1" hangingPunct="1"/>
                <a:r>
                  <a:rPr lang="en-US" altLang="zh-CN" sz="1400" b="1" dirty="0">
                    <a:solidFill>
                      <a:schemeClr val="bg2"/>
                    </a:solidFill>
                    <a:latin typeface="Times New Roman" panose="02020603050405020304" pitchFamily="18" charset="0"/>
                    <a:ea typeface="宋体" panose="02010600030101010101" pitchFamily="2" charset="-122"/>
                  </a:rPr>
                  <a:t>K</a:t>
                </a:r>
              </a:p>
            </p:txBody>
          </p:sp>
          <p:sp>
            <p:nvSpPr>
              <p:cNvPr id="126990" name="Line 11"/>
              <p:cNvSpPr/>
              <p:nvPr/>
            </p:nvSpPr>
            <p:spPr>
              <a:xfrm>
                <a:off x="3252" y="2136"/>
                <a:ext cx="0" cy="1824"/>
              </a:xfrm>
              <a:prstGeom prst="line">
                <a:avLst/>
              </a:prstGeom>
              <a:ln w="28575" cap="flat" cmpd="sng">
                <a:solidFill>
                  <a:schemeClr val="bg2"/>
                </a:solidFill>
                <a:prstDash val="solid"/>
                <a:headEnd type="none" w="med" len="med"/>
                <a:tailEnd type="none" w="med" len="med"/>
              </a:ln>
            </p:spPr>
            <p:txBody>
              <a:bodyPr/>
              <a:lstStyle/>
              <a:p>
                <a:endParaRPr lang="zh-CN" altLang="en-US" dirty="0"/>
              </a:p>
            </p:txBody>
          </p:sp>
          <p:sp>
            <p:nvSpPr>
              <p:cNvPr id="126991" name="Rectangle 12"/>
              <p:cNvSpPr/>
              <p:nvPr/>
            </p:nvSpPr>
            <p:spPr>
              <a:xfrm>
                <a:off x="3024" y="3168"/>
                <a:ext cx="60" cy="108"/>
              </a:xfrm>
              <a:prstGeom prst="rect">
                <a:avLst/>
              </a:prstGeom>
              <a:solidFill>
                <a:schemeClr val="bg1"/>
              </a:solidFill>
              <a:ln w="9525" cap="flat" cmpd="sng">
                <a:noFill/>
                <a:prstDash val="solid"/>
                <a:miter/>
                <a:headEnd type="none" w="med" len="med"/>
                <a:tailEnd type="none" w="med" len="med"/>
              </a:ln>
            </p:spPr>
            <p:txBody>
              <a:bodyPr wrap="none" anchor="ctr"/>
              <a:lstStyle/>
              <a:p>
                <a:pPr lvl="0" algn="ctr" eaLnBrk="1" hangingPunct="1"/>
                <a:r>
                  <a:rPr lang="en-US" altLang="zh-CN" sz="1200" b="1" dirty="0">
                    <a:solidFill>
                      <a:schemeClr val="bg2"/>
                    </a:solidFill>
                    <a:latin typeface="Times New Roman" panose="02020603050405020304" pitchFamily="18" charset="0"/>
                    <a:ea typeface="宋体" panose="02010600030101010101" pitchFamily="2" charset="-122"/>
                  </a:rPr>
                  <a:t>3</a:t>
                </a:r>
              </a:p>
            </p:txBody>
          </p:sp>
          <p:sp>
            <p:nvSpPr>
              <p:cNvPr id="126992" name="Rectangle 13"/>
              <p:cNvSpPr/>
              <p:nvPr/>
            </p:nvSpPr>
            <p:spPr>
              <a:xfrm>
                <a:off x="3132" y="3972"/>
                <a:ext cx="192" cy="96"/>
              </a:xfrm>
              <a:prstGeom prst="rect">
                <a:avLst/>
              </a:prstGeom>
              <a:solidFill>
                <a:schemeClr val="bg1"/>
              </a:solidFill>
              <a:ln w="9525" cap="flat" cmpd="sng">
                <a:noFill/>
                <a:prstDash val="solid"/>
                <a:miter/>
                <a:headEnd type="none" w="med" len="med"/>
                <a:tailEnd type="none" w="med" len="med"/>
              </a:ln>
            </p:spPr>
            <p:txBody>
              <a:bodyPr wrap="none" anchor="ctr"/>
              <a:lstStyle/>
              <a:p>
                <a:pPr lvl="0" algn="ctr" eaLnBrk="1" hangingPunct="1"/>
                <a:r>
                  <a:rPr lang="en-US" altLang="zh-CN" sz="1400" b="1" dirty="0">
                    <a:solidFill>
                      <a:schemeClr val="bg2"/>
                    </a:solidFill>
                    <a:latin typeface="Times New Roman" panose="02020603050405020304" pitchFamily="18" charset="0"/>
                    <a:ea typeface="华文中宋" panose="02010600040101010101" pitchFamily="2" charset="-122"/>
                  </a:rPr>
                  <a:t>Fe</a:t>
                </a:r>
                <a:r>
                  <a:rPr lang="en-US" altLang="zh-CN" sz="1400" b="1" baseline="-30000" dirty="0">
                    <a:solidFill>
                      <a:schemeClr val="bg2"/>
                    </a:solidFill>
                    <a:latin typeface="Times New Roman" panose="02020603050405020304" pitchFamily="18" charset="0"/>
                    <a:ea typeface="华文中宋" panose="02010600040101010101" pitchFamily="2" charset="-122"/>
                  </a:rPr>
                  <a:t>3</a:t>
                </a:r>
                <a:r>
                  <a:rPr lang="en-US" altLang="zh-CN" sz="1400" b="1" dirty="0">
                    <a:solidFill>
                      <a:schemeClr val="bg2"/>
                    </a:solidFill>
                    <a:latin typeface="Times New Roman" panose="02020603050405020304" pitchFamily="18" charset="0"/>
                    <a:ea typeface="华文中宋" panose="02010600040101010101" pitchFamily="2" charset="-122"/>
                  </a:rPr>
                  <a:t>C</a:t>
                </a:r>
              </a:p>
            </p:txBody>
          </p:sp>
          <p:sp>
            <p:nvSpPr>
              <p:cNvPr id="126993" name="Rectangle 14"/>
              <p:cNvSpPr/>
              <p:nvPr/>
            </p:nvSpPr>
            <p:spPr>
              <a:xfrm>
                <a:off x="3024" y="2352"/>
                <a:ext cx="60" cy="108"/>
              </a:xfrm>
              <a:prstGeom prst="rect">
                <a:avLst/>
              </a:prstGeom>
              <a:solidFill>
                <a:schemeClr val="bg1"/>
              </a:solidFill>
              <a:ln w="9525" cap="flat" cmpd="sng">
                <a:noFill/>
                <a:prstDash val="solid"/>
                <a:miter/>
                <a:headEnd type="none" w="med" len="med"/>
                <a:tailEnd type="none" w="med" len="med"/>
              </a:ln>
            </p:spPr>
            <p:txBody>
              <a:bodyPr wrap="none" anchor="ctr"/>
              <a:lstStyle/>
              <a:p>
                <a:pPr lvl="0" algn="ctr" eaLnBrk="1" hangingPunct="1"/>
                <a:r>
                  <a:rPr lang="en-US" altLang="zh-CN" sz="1200" b="1" dirty="0">
                    <a:solidFill>
                      <a:schemeClr val="bg2"/>
                    </a:solidFill>
                    <a:latin typeface="Times New Roman" panose="02020603050405020304" pitchFamily="18" charset="0"/>
                    <a:ea typeface="宋体" panose="02010600030101010101" pitchFamily="2" charset="-122"/>
                  </a:rPr>
                  <a:t>1</a:t>
                </a:r>
              </a:p>
            </p:txBody>
          </p:sp>
          <p:sp>
            <p:nvSpPr>
              <p:cNvPr id="126994" name="Rectangle 15"/>
              <p:cNvSpPr/>
              <p:nvPr/>
            </p:nvSpPr>
            <p:spPr>
              <a:xfrm>
                <a:off x="3120" y="2736"/>
                <a:ext cx="48" cy="60"/>
              </a:xfrm>
              <a:prstGeom prst="rect">
                <a:avLst/>
              </a:prstGeom>
              <a:solidFill>
                <a:schemeClr val="bg1"/>
              </a:solidFill>
              <a:ln w="9525" cap="flat" cmpd="sng">
                <a:noFill/>
                <a:prstDash val="solid"/>
                <a:miter/>
                <a:headEnd type="none" w="med" len="med"/>
                <a:tailEnd type="none" w="med" len="med"/>
              </a:ln>
            </p:spPr>
            <p:txBody>
              <a:bodyPr wrap="none" anchor="ctr"/>
              <a:lstStyle/>
              <a:p>
                <a:pPr lvl="0" algn="ctr" eaLnBrk="1" hangingPunct="1"/>
                <a:r>
                  <a:rPr lang="en-US" altLang="zh-CN" sz="1200" b="1" dirty="0">
                    <a:solidFill>
                      <a:schemeClr val="bg2"/>
                    </a:solidFill>
                    <a:latin typeface="Times New Roman" panose="02020603050405020304" pitchFamily="18" charset="0"/>
                    <a:ea typeface="宋体" panose="02010600030101010101" pitchFamily="2" charset="-122"/>
                  </a:rPr>
                  <a:t>2</a:t>
                </a:r>
              </a:p>
            </p:txBody>
          </p:sp>
          <p:sp>
            <p:nvSpPr>
              <p:cNvPr id="126995" name="Rectangle 16"/>
              <p:cNvSpPr/>
              <p:nvPr/>
            </p:nvSpPr>
            <p:spPr>
              <a:xfrm>
                <a:off x="3024" y="3828"/>
                <a:ext cx="60" cy="108"/>
              </a:xfrm>
              <a:prstGeom prst="rect">
                <a:avLst/>
              </a:prstGeom>
              <a:solidFill>
                <a:schemeClr val="bg1"/>
              </a:solidFill>
              <a:ln w="9525" cap="flat" cmpd="sng">
                <a:noFill/>
                <a:prstDash val="solid"/>
                <a:miter/>
                <a:headEnd type="none" w="med" len="med"/>
                <a:tailEnd type="none" w="med" len="med"/>
              </a:ln>
            </p:spPr>
            <p:txBody>
              <a:bodyPr wrap="none" anchor="ctr"/>
              <a:lstStyle/>
              <a:p>
                <a:pPr lvl="0" algn="ctr" eaLnBrk="1" hangingPunct="1"/>
                <a:r>
                  <a:rPr lang="en-US" altLang="zh-CN" sz="1200" b="1" dirty="0">
                    <a:solidFill>
                      <a:schemeClr val="bg2"/>
                    </a:solidFill>
                    <a:latin typeface="Times New Roman" panose="02020603050405020304" pitchFamily="18" charset="0"/>
                    <a:ea typeface="宋体" panose="02010600030101010101" pitchFamily="2" charset="-122"/>
                  </a:rPr>
                  <a:t>4</a:t>
                </a:r>
              </a:p>
            </p:txBody>
          </p:sp>
        </p:grpSp>
      </p:grpSp>
      <p:pic>
        <p:nvPicPr>
          <p:cNvPr id="20" name="内容占位符 1" descr="新校徽（3M）弓之乐"/>
          <p:cNvPicPr>
            <a:picLocks noChangeAspect="1"/>
          </p:cNvPicPr>
          <p:nvPr/>
        </p:nvPicPr>
        <p:blipFill>
          <a:blip r:embed="rId4"/>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日期占位符 3"/>
          <p:cNvSpPr txBox="1">
            <a:spLocks noGrp="1"/>
          </p:cNvSpPr>
          <p:nvPr>
            <p:ph type="dt" sz="half" idx="10"/>
          </p:nvPr>
        </p:nvSpPr>
        <p:spPr>
          <a:xfrm>
            <a:off x="0" y="6510338"/>
            <a:ext cx="2233613"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28003" name="灯片编号占位符 5"/>
          <p:cNvSpPr txBox="1">
            <a:spLocks noGrp="1"/>
          </p:cNvSpPr>
          <p:nvPr>
            <p:ph type="sldNum" sz="quarter" idx="12"/>
          </p:nvPr>
        </p:nvSpPr>
        <p:spPr>
          <a:xfrm>
            <a:off x="8526145" y="6530975"/>
            <a:ext cx="617855" cy="306070"/>
          </a:xfrm>
        </p:spPr>
        <p:txBody>
          <a:bodyPr lIns="92075" tIns="46038" rIns="92075" bIns="46038" anchor="ctr"/>
          <a:lstStyle/>
          <a:p>
            <a:pPr algn="r" eaLnBrk="1" hangingPunct="1"/>
            <a:fld id="{9A0DB2DC-4C9A-4742-B13C-FB6460FD3503}" type="slidenum">
              <a:rPr lang="en-US" altLang="zh-CN" sz="1400" dirty="0"/>
              <a:t>143</a:t>
            </a:fld>
            <a:endParaRPr lang="en-US" altLang="zh-CN" sz="1400" dirty="0"/>
          </a:p>
        </p:txBody>
      </p:sp>
      <p:sp>
        <p:nvSpPr>
          <p:cNvPr id="128004" name="Rectangle 2"/>
          <p:cNvSpPr>
            <a:spLocks noGrp="1"/>
          </p:cNvSpPr>
          <p:nvPr>
            <p:ph type="title"/>
          </p:nvPr>
        </p:nvSpPr>
        <p:spPr>
          <a:xfrm>
            <a:off x="1619672" y="313726"/>
            <a:ext cx="6589290" cy="1310943"/>
          </a:xfrm>
        </p:spPr>
        <p:txBody>
          <a:bodyPr vert="horz" wrap="square" lIns="92075" tIns="46038" rIns="92075" bIns="46038" anchor="ctr"/>
          <a:lstStyle/>
          <a:p>
            <a:pPr eaLnBrk="1" hangingPunct="1"/>
            <a:r>
              <a:rPr lang="en-US" altLang="zh-CN" b="1" dirty="0">
                <a:solidFill>
                  <a:srgbClr val="FF0000"/>
                </a:solidFill>
                <a:latin typeface="Times New Roman" panose="02020603050405020304" pitchFamily="18" charset="0"/>
              </a:rPr>
              <a:t>㈧ </a:t>
            </a:r>
            <a:r>
              <a:rPr lang="zh-CN" altLang="en-US" b="1" dirty="0">
                <a:solidFill>
                  <a:srgbClr val="FF0000"/>
                </a:solidFill>
                <a:latin typeface="Times New Roman" panose="02020603050405020304" pitchFamily="18" charset="0"/>
              </a:rPr>
              <a:t>组织组成物在铁碳合金相图上的标注</a:t>
            </a:r>
          </a:p>
        </p:txBody>
      </p:sp>
      <p:sp>
        <p:nvSpPr>
          <p:cNvPr id="128005" name="Rectangle 3"/>
          <p:cNvSpPr>
            <a:spLocks noGrp="1"/>
          </p:cNvSpPr>
          <p:nvPr>
            <p:ph idx="1"/>
          </p:nvPr>
        </p:nvSpPr>
        <p:spPr>
          <a:xfrm>
            <a:off x="463233" y="1860372"/>
            <a:ext cx="8062912" cy="4827587"/>
          </a:xfrm>
        </p:spPr>
        <p:txBody>
          <a:bodyPr vert="horz" wrap="square" lIns="91440" tIns="45720" rIns="91440" bIns="45720" anchor="t"/>
          <a:lstStyle/>
          <a:p>
            <a:pPr eaLnBrk="1" hangingPunct="1">
              <a:lnSpc>
                <a:spcPct val="140000"/>
              </a:lnSpc>
            </a:pPr>
            <a:r>
              <a:rPr lang="zh-CN" altLang="en-US" sz="2800" b="1" dirty="0">
                <a:solidFill>
                  <a:srgbClr val="0000FF"/>
                </a:solidFill>
                <a:ea typeface="华文中宋" panose="02010600040101010101" pitchFamily="2" charset="-122"/>
              </a:rPr>
              <a:t>组织组成物</a:t>
            </a:r>
            <a:r>
              <a:rPr lang="zh-CN" altLang="en-US" sz="2800" b="1" dirty="0">
                <a:ea typeface="华文中宋" panose="02010600040101010101" pitchFamily="2" charset="-122"/>
              </a:rPr>
              <a:t>与</a:t>
            </a:r>
            <a:r>
              <a:rPr lang="zh-CN" altLang="en-US" sz="2800" b="1" dirty="0">
                <a:solidFill>
                  <a:srgbClr val="0000FF"/>
                </a:solidFill>
                <a:ea typeface="华文中宋" panose="02010600040101010101" pitchFamily="2" charset="-122"/>
              </a:rPr>
              <a:t>相组成物</a:t>
            </a:r>
            <a:r>
              <a:rPr lang="zh-CN" altLang="en-US" sz="2800" b="1" dirty="0">
                <a:ea typeface="华文中宋" panose="02010600040101010101" pitchFamily="2" charset="-122"/>
              </a:rPr>
              <a:t>标注区别主要在</a:t>
            </a:r>
            <a:r>
              <a:rPr lang="zh-CN" altLang="en-US" sz="2800" b="1" i="1" dirty="0">
                <a:solidFill>
                  <a:schemeClr val="folHlink"/>
                </a:solidFill>
                <a:ea typeface="华文中宋" panose="02010600040101010101" pitchFamily="2" charset="-122"/>
                <a:sym typeface="Symbol" panose="05050102010706020507" pitchFamily="18" charset="2"/>
              </a:rPr>
              <a:t> </a:t>
            </a:r>
            <a:r>
              <a:rPr lang="en-US" altLang="zh-CN" sz="2800" b="1" dirty="0">
                <a:solidFill>
                  <a:schemeClr val="folHlink"/>
                </a:solidFill>
                <a:ea typeface="华文中宋" panose="02010600040101010101" pitchFamily="2" charset="-122"/>
              </a:rPr>
              <a:t>+Fe</a:t>
            </a:r>
            <a:r>
              <a:rPr lang="en-US" altLang="zh-CN" sz="2800" b="1" baseline="-30000" dirty="0">
                <a:solidFill>
                  <a:schemeClr val="folHlink"/>
                </a:solidFill>
                <a:ea typeface="华文中宋" panose="02010600040101010101" pitchFamily="2" charset="-122"/>
              </a:rPr>
              <a:t>3</a:t>
            </a:r>
            <a:r>
              <a:rPr lang="en-US" altLang="zh-CN" sz="2800" b="1" dirty="0">
                <a:solidFill>
                  <a:schemeClr val="folHlink"/>
                </a:solidFill>
                <a:ea typeface="华文中宋" panose="02010600040101010101" pitchFamily="2" charset="-122"/>
              </a:rPr>
              <a:t>C</a:t>
            </a:r>
            <a:r>
              <a:rPr lang="zh-CN" altLang="en-US" sz="2800" b="1" dirty="0">
                <a:ea typeface="华文中宋" panose="02010600040101010101" pitchFamily="2" charset="-122"/>
              </a:rPr>
              <a:t>和</a:t>
            </a:r>
            <a:r>
              <a:rPr lang="zh-CN" altLang="en-US" b="1" i="1" dirty="0">
                <a:solidFill>
                  <a:schemeClr val="folHlink"/>
                </a:solidFill>
                <a:sym typeface="Symbol" panose="05050102010706020507" pitchFamily="18" charset="2"/>
              </a:rPr>
              <a:t></a:t>
            </a:r>
            <a:r>
              <a:rPr lang="en-US" altLang="zh-CN" b="1" dirty="0">
                <a:solidFill>
                  <a:schemeClr val="folHlink"/>
                </a:solidFill>
              </a:rPr>
              <a:t>+Fe</a:t>
            </a:r>
            <a:r>
              <a:rPr lang="en-US" altLang="zh-CN" b="1" baseline="-25000" dirty="0">
                <a:solidFill>
                  <a:schemeClr val="folHlink"/>
                </a:solidFill>
              </a:rPr>
              <a:t>3</a:t>
            </a:r>
            <a:r>
              <a:rPr lang="en-US" altLang="zh-CN" b="1" dirty="0">
                <a:solidFill>
                  <a:schemeClr val="folHlink"/>
                </a:solidFill>
              </a:rPr>
              <a:t>C</a:t>
            </a:r>
            <a:r>
              <a:rPr lang="zh-CN" altLang="en-US" b="1" dirty="0"/>
              <a:t>两个相区。</a:t>
            </a:r>
            <a:r>
              <a:rPr lang="en-US" altLang="zh-CN" b="1" i="1" dirty="0">
                <a:sym typeface="Symbol" panose="05050102010706020507" pitchFamily="18" charset="2"/>
              </a:rPr>
              <a:t></a:t>
            </a:r>
            <a:r>
              <a:rPr lang="en-US" altLang="zh-CN" b="1" dirty="0"/>
              <a:t>+Fe</a:t>
            </a:r>
            <a:r>
              <a:rPr lang="en-US" altLang="zh-CN" b="1" baseline="-25000" dirty="0"/>
              <a:t>3</a:t>
            </a:r>
            <a:r>
              <a:rPr lang="en-US" altLang="zh-CN" b="1" dirty="0"/>
              <a:t>C</a:t>
            </a:r>
            <a:r>
              <a:rPr lang="zh-CN" altLang="en-US" b="1" dirty="0"/>
              <a:t>相区中有四个组织组成物区</a:t>
            </a:r>
            <a:r>
              <a:rPr lang="en-US" altLang="zh-CN" b="1" dirty="0"/>
              <a:t>, </a:t>
            </a:r>
            <a:r>
              <a:rPr lang="en-US" altLang="zh-CN" b="1" i="1" dirty="0">
                <a:sym typeface="Symbol" panose="05050102010706020507" pitchFamily="18" charset="2"/>
              </a:rPr>
              <a:t></a:t>
            </a:r>
            <a:r>
              <a:rPr lang="en-US" altLang="zh-CN" b="1" dirty="0"/>
              <a:t>+Fe</a:t>
            </a:r>
            <a:r>
              <a:rPr lang="en-US" altLang="zh-CN" b="1" baseline="-25000" dirty="0"/>
              <a:t>3</a:t>
            </a:r>
            <a:r>
              <a:rPr lang="en-US" altLang="zh-CN" b="1" dirty="0"/>
              <a:t>C</a:t>
            </a:r>
            <a:r>
              <a:rPr lang="zh-CN" altLang="en-US" b="1" dirty="0"/>
              <a:t>相区中有七个组织组成物区。</a:t>
            </a:r>
            <a:endParaRPr lang="en-US" altLang="zh-CN" b="1" dirty="0"/>
          </a:p>
          <a:p>
            <a:pPr eaLnBrk="1" hangingPunct="1">
              <a:lnSpc>
                <a:spcPct val="140000"/>
              </a:lnSpc>
            </a:pPr>
            <a:endParaRPr lang="en-US" altLang="zh-CN" sz="2800" b="1" dirty="0">
              <a:solidFill>
                <a:schemeClr val="folHlink"/>
              </a:solidFill>
              <a:ea typeface="华文中宋" panose="02010600040101010101" pitchFamily="2" charset="-122"/>
            </a:endParaRPr>
          </a:p>
        </p:txBody>
      </p:sp>
      <p:grpSp>
        <p:nvGrpSpPr>
          <p:cNvPr id="2" name="Group 4"/>
          <p:cNvGrpSpPr/>
          <p:nvPr/>
        </p:nvGrpSpPr>
        <p:grpSpPr>
          <a:xfrm>
            <a:off x="3851920" y="3946534"/>
            <a:ext cx="4558680" cy="2623195"/>
            <a:chOff x="2064" y="816"/>
            <a:chExt cx="3552" cy="3024"/>
          </a:xfrm>
        </p:grpSpPr>
        <p:grpSp>
          <p:nvGrpSpPr>
            <p:cNvPr id="128008" name="Group 5"/>
            <p:cNvGrpSpPr/>
            <p:nvPr/>
          </p:nvGrpSpPr>
          <p:grpSpPr>
            <a:xfrm>
              <a:off x="2112" y="816"/>
              <a:ext cx="3504" cy="3024"/>
              <a:chOff x="2160" y="816"/>
              <a:chExt cx="3408" cy="3024"/>
            </a:xfrm>
          </p:grpSpPr>
          <p:pic>
            <p:nvPicPr>
              <p:cNvPr id="128011" name="Picture 6" descr="Fe-C相图组织标注"/>
              <p:cNvPicPr>
                <a:picLocks noChangeAspect="1"/>
              </p:cNvPicPr>
              <p:nvPr/>
            </p:nvPicPr>
            <p:blipFill>
              <a:blip r:embed="rId2"/>
              <a:stretch>
                <a:fillRect/>
              </a:stretch>
            </p:blipFill>
            <p:spPr>
              <a:xfrm>
                <a:off x="2160" y="816"/>
                <a:ext cx="3408" cy="3024"/>
              </a:xfrm>
              <a:prstGeom prst="rect">
                <a:avLst/>
              </a:prstGeom>
              <a:noFill/>
              <a:ln w="38100" cap="flat" cmpd="sng">
                <a:noFill/>
                <a:prstDash val="solid"/>
                <a:miter/>
                <a:headEnd type="none" w="med" len="med"/>
                <a:tailEnd type="none" w="med" len="med"/>
              </a:ln>
            </p:spPr>
          </p:pic>
          <p:sp>
            <p:nvSpPr>
              <p:cNvPr id="128012" name="Text Box 7"/>
              <p:cNvSpPr txBox="1"/>
              <p:nvPr/>
            </p:nvSpPr>
            <p:spPr>
              <a:xfrm>
                <a:off x="3915" y="1777"/>
                <a:ext cx="1029" cy="532"/>
              </a:xfrm>
              <a:prstGeom prst="rect">
                <a:avLst/>
              </a:prstGeom>
              <a:noFill/>
              <a:ln w="9525">
                <a:noFill/>
              </a:ln>
            </p:spPr>
            <p:txBody>
              <a:bodyPr wrap="square">
                <a:spAutoFit/>
              </a:bodyPr>
              <a:lstStyle/>
              <a:p>
                <a:pPr lvl="0" eaLnBrk="1" hangingPunct="1">
                  <a:spcBef>
                    <a:spcPct val="50000"/>
                  </a:spcBef>
                </a:pPr>
                <a:r>
                  <a:rPr lang="en-US" altLang="zh-CN" sz="2400" b="1" dirty="0">
                    <a:solidFill>
                      <a:schemeClr val="hlink"/>
                    </a:solidFill>
                    <a:latin typeface="Times New Roman" panose="02020603050405020304" pitchFamily="18" charset="0"/>
                    <a:ea typeface="楷体_GB2312" pitchFamily="49" charset="-122"/>
                    <a:sym typeface="Symbol" panose="05050102010706020507" pitchFamily="18" charset="2"/>
                  </a:rPr>
                  <a:t> </a:t>
                </a:r>
                <a:r>
                  <a:rPr lang="en-US" altLang="zh-CN" sz="2400" b="1" dirty="0">
                    <a:solidFill>
                      <a:schemeClr val="hlink"/>
                    </a:solidFill>
                    <a:latin typeface="Times New Roman" panose="02020603050405020304" pitchFamily="18" charset="0"/>
                    <a:ea typeface="楷体_GB2312" pitchFamily="49" charset="-122"/>
                  </a:rPr>
                  <a:t>+ Fe</a:t>
                </a:r>
                <a:r>
                  <a:rPr lang="en-US" altLang="zh-CN" sz="2400" b="1" baseline="-30000" dirty="0">
                    <a:solidFill>
                      <a:schemeClr val="hlink"/>
                    </a:solidFill>
                    <a:latin typeface="Times New Roman" panose="02020603050405020304" pitchFamily="18" charset="0"/>
                    <a:ea typeface="楷体_GB2312" pitchFamily="49" charset="-122"/>
                  </a:rPr>
                  <a:t>3</a:t>
                </a:r>
                <a:r>
                  <a:rPr lang="en-US" altLang="zh-CN" sz="2400" b="1" dirty="0">
                    <a:solidFill>
                      <a:schemeClr val="hlink"/>
                    </a:solidFill>
                    <a:latin typeface="Times New Roman" panose="02020603050405020304" pitchFamily="18" charset="0"/>
                    <a:ea typeface="楷体_GB2312" pitchFamily="49" charset="-122"/>
                  </a:rPr>
                  <a:t>C</a:t>
                </a:r>
              </a:p>
            </p:txBody>
          </p:sp>
          <p:sp>
            <p:nvSpPr>
              <p:cNvPr id="128013" name="Text Box 8"/>
              <p:cNvSpPr txBox="1"/>
              <p:nvPr/>
            </p:nvSpPr>
            <p:spPr>
              <a:xfrm>
                <a:off x="3627" y="2597"/>
                <a:ext cx="1029" cy="413"/>
              </a:xfrm>
              <a:prstGeom prst="rect">
                <a:avLst/>
              </a:prstGeom>
              <a:noFill/>
              <a:ln w="9525">
                <a:noFill/>
              </a:ln>
            </p:spPr>
            <p:txBody>
              <a:bodyPr>
                <a:spAutoFit/>
              </a:bodyPr>
              <a:lstStyle/>
              <a:p>
                <a:pPr lvl="0" eaLnBrk="1" hangingPunct="1">
                  <a:spcBef>
                    <a:spcPct val="50000"/>
                  </a:spcBef>
                </a:pPr>
                <a:r>
                  <a:rPr lang="en-US" altLang="zh-CN" sz="2400" b="1" dirty="0">
                    <a:solidFill>
                      <a:schemeClr val="hlink"/>
                    </a:solidFill>
                    <a:latin typeface="Times New Roman" panose="02020603050405020304" pitchFamily="18" charset="0"/>
                    <a:ea typeface="楷体_GB2312" pitchFamily="49" charset="-122"/>
                    <a:sym typeface="Symbol" panose="05050102010706020507" pitchFamily="18" charset="2"/>
                  </a:rPr>
                  <a:t> </a:t>
                </a:r>
                <a:r>
                  <a:rPr lang="en-US" altLang="zh-CN" sz="2400" b="1" dirty="0">
                    <a:solidFill>
                      <a:schemeClr val="hlink"/>
                    </a:solidFill>
                    <a:latin typeface="Times New Roman" panose="02020603050405020304" pitchFamily="18" charset="0"/>
                    <a:ea typeface="楷体_GB2312" pitchFamily="49" charset="-122"/>
                  </a:rPr>
                  <a:t>+ Fe</a:t>
                </a:r>
                <a:r>
                  <a:rPr lang="en-US" altLang="zh-CN" sz="2400" b="1" baseline="-30000" dirty="0">
                    <a:solidFill>
                      <a:schemeClr val="hlink"/>
                    </a:solidFill>
                    <a:latin typeface="Times New Roman" panose="02020603050405020304" pitchFamily="18" charset="0"/>
                    <a:ea typeface="楷体_GB2312" pitchFamily="49" charset="-122"/>
                  </a:rPr>
                  <a:t>3</a:t>
                </a:r>
                <a:r>
                  <a:rPr lang="en-US" altLang="zh-CN" sz="2400" b="1" dirty="0">
                    <a:solidFill>
                      <a:schemeClr val="hlink"/>
                    </a:solidFill>
                    <a:latin typeface="Times New Roman" panose="02020603050405020304" pitchFamily="18" charset="0"/>
                    <a:ea typeface="楷体_GB2312" pitchFamily="49" charset="-122"/>
                  </a:rPr>
                  <a:t>C</a:t>
                </a:r>
              </a:p>
            </p:txBody>
          </p:sp>
        </p:grpSp>
        <p:sp>
          <p:nvSpPr>
            <p:cNvPr id="128009" name="Text Box 9"/>
            <p:cNvSpPr txBox="1"/>
            <p:nvPr/>
          </p:nvSpPr>
          <p:spPr>
            <a:xfrm>
              <a:off x="2064" y="1008"/>
              <a:ext cx="192" cy="276"/>
            </a:xfrm>
            <a:prstGeom prst="rect">
              <a:avLst/>
            </a:prstGeom>
            <a:noFill/>
            <a:ln w="9525">
              <a:noFill/>
            </a:ln>
          </p:spPr>
          <p:txBody>
            <a:bodyPr>
              <a:spAutoFit/>
            </a:bodyPr>
            <a:lstStyle/>
            <a:p>
              <a:pPr lvl="0" eaLnBrk="1" hangingPunct="1">
                <a:spcBef>
                  <a:spcPct val="50000"/>
                </a:spcBef>
              </a:pPr>
              <a:r>
                <a:rPr lang="en-US" altLang="zh-CN" sz="1400" b="1" dirty="0">
                  <a:solidFill>
                    <a:schemeClr val="bg2"/>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400" b="1" dirty="0">
                <a:solidFill>
                  <a:schemeClr val="bg2"/>
                </a:solidFill>
                <a:latin typeface="Times New Roman" panose="02020603050405020304" pitchFamily="18" charset="0"/>
                <a:ea typeface="宋体" panose="02010600030101010101" pitchFamily="2" charset="-122"/>
              </a:endParaRPr>
            </a:p>
          </p:txBody>
        </p:sp>
        <p:sp>
          <p:nvSpPr>
            <p:cNvPr id="128010" name="Line 10"/>
            <p:cNvSpPr/>
            <p:nvPr/>
          </p:nvSpPr>
          <p:spPr>
            <a:xfrm>
              <a:off x="2160" y="1104"/>
              <a:ext cx="48" cy="0"/>
            </a:xfrm>
            <a:prstGeom prst="line">
              <a:avLst/>
            </a:prstGeom>
            <a:ln w="9525" cap="flat" cmpd="sng">
              <a:solidFill>
                <a:schemeClr val="bg2"/>
              </a:solidFill>
              <a:prstDash val="solid"/>
              <a:headEnd type="none" w="med" len="med"/>
              <a:tailEnd type="none" w="med" len="med"/>
            </a:ln>
          </p:spPr>
        </p:sp>
      </p:grpSp>
      <p:pic>
        <p:nvPicPr>
          <p:cNvPr id="14" name="内容占位符 1" descr="新校徽（3M）弓之乐"/>
          <p:cNvPicPr>
            <a:picLocks noChangeAspect="1"/>
          </p:cNvPicPr>
          <p:nvPr/>
        </p:nvPicPr>
        <p:blipFill>
          <a:blip r:embed="rId3"/>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48"/>
          <p:cNvGrpSpPr/>
          <p:nvPr/>
        </p:nvGrpSpPr>
        <p:grpSpPr>
          <a:xfrm>
            <a:off x="1901290" y="1794806"/>
            <a:ext cx="6881852" cy="3100187"/>
            <a:chOff x="1219" y="371"/>
            <a:chExt cx="3668" cy="3107"/>
          </a:xfrm>
        </p:grpSpPr>
        <p:sp>
          <p:nvSpPr>
            <p:cNvPr id="129049" name="Line 72"/>
            <p:cNvSpPr/>
            <p:nvPr/>
          </p:nvSpPr>
          <p:spPr>
            <a:xfrm>
              <a:off x="1584" y="480"/>
              <a:ext cx="0" cy="2640"/>
            </a:xfrm>
            <a:prstGeom prst="line">
              <a:avLst/>
            </a:prstGeom>
            <a:ln w="31750" cap="flat" cmpd="sng">
              <a:solidFill>
                <a:schemeClr val="tx1"/>
              </a:solidFill>
              <a:prstDash val="solid"/>
              <a:headEnd type="none" w="med" len="med"/>
              <a:tailEnd type="none" w="med" len="med"/>
            </a:ln>
          </p:spPr>
        </p:sp>
        <p:sp>
          <p:nvSpPr>
            <p:cNvPr id="129050" name="Line 73"/>
            <p:cNvSpPr/>
            <p:nvPr/>
          </p:nvSpPr>
          <p:spPr>
            <a:xfrm>
              <a:off x="1584" y="3120"/>
              <a:ext cx="3024" cy="0"/>
            </a:xfrm>
            <a:prstGeom prst="line">
              <a:avLst/>
            </a:prstGeom>
            <a:ln w="31750" cap="flat" cmpd="sng">
              <a:solidFill>
                <a:schemeClr val="tx1"/>
              </a:solidFill>
              <a:prstDash val="solid"/>
              <a:headEnd type="none" w="med" len="med"/>
              <a:tailEnd type="none" w="med" len="med"/>
            </a:ln>
          </p:spPr>
        </p:sp>
        <p:sp>
          <p:nvSpPr>
            <p:cNvPr id="129051" name="Line 74"/>
            <p:cNvSpPr/>
            <p:nvPr/>
          </p:nvSpPr>
          <p:spPr>
            <a:xfrm flipV="1">
              <a:off x="4608" y="624"/>
              <a:ext cx="0" cy="2496"/>
            </a:xfrm>
            <a:prstGeom prst="line">
              <a:avLst/>
            </a:prstGeom>
            <a:ln w="31750" cap="flat" cmpd="sng">
              <a:solidFill>
                <a:schemeClr val="tx1"/>
              </a:solidFill>
              <a:prstDash val="solid"/>
              <a:headEnd type="none" w="med" len="med"/>
              <a:tailEnd type="none" w="med" len="med"/>
            </a:ln>
          </p:spPr>
        </p:sp>
        <p:sp>
          <p:nvSpPr>
            <p:cNvPr id="129052" name="Line 75"/>
            <p:cNvSpPr/>
            <p:nvPr/>
          </p:nvSpPr>
          <p:spPr>
            <a:xfrm>
              <a:off x="1728" y="768"/>
              <a:ext cx="336" cy="0"/>
            </a:xfrm>
            <a:prstGeom prst="line">
              <a:avLst/>
            </a:prstGeom>
            <a:ln w="31750" cap="flat" cmpd="sng">
              <a:solidFill>
                <a:schemeClr val="tx1"/>
              </a:solidFill>
              <a:prstDash val="solid"/>
              <a:headEnd type="none" w="med" len="med"/>
              <a:tailEnd type="none" w="med" len="med"/>
            </a:ln>
          </p:spPr>
        </p:sp>
        <p:sp>
          <p:nvSpPr>
            <p:cNvPr id="129053" name="Line 76"/>
            <p:cNvSpPr/>
            <p:nvPr/>
          </p:nvSpPr>
          <p:spPr>
            <a:xfrm>
              <a:off x="2736" y="1488"/>
              <a:ext cx="1872" cy="0"/>
            </a:xfrm>
            <a:prstGeom prst="line">
              <a:avLst/>
            </a:prstGeom>
            <a:ln w="31750" cap="flat" cmpd="sng">
              <a:solidFill>
                <a:schemeClr val="tx1"/>
              </a:solidFill>
              <a:prstDash val="solid"/>
              <a:headEnd type="none" w="med" len="med"/>
              <a:tailEnd type="none" w="med" len="med"/>
            </a:ln>
          </p:spPr>
        </p:sp>
        <p:sp>
          <p:nvSpPr>
            <p:cNvPr id="129054" name="Line 77"/>
            <p:cNvSpPr/>
            <p:nvPr/>
          </p:nvSpPr>
          <p:spPr>
            <a:xfrm>
              <a:off x="1680" y="2304"/>
              <a:ext cx="2928" cy="0"/>
            </a:xfrm>
            <a:prstGeom prst="line">
              <a:avLst/>
            </a:prstGeom>
            <a:ln w="31750" cap="flat" cmpd="sng">
              <a:solidFill>
                <a:schemeClr val="tx1"/>
              </a:solidFill>
              <a:prstDash val="solid"/>
              <a:headEnd type="none" w="med" len="med"/>
              <a:tailEnd type="none" w="med" len="med"/>
            </a:ln>
          </p:spPr>
        </p:sp>
        <p:sp>
          <p:nvSpPr>
            <p:cNvPr id="129055" name="Line 78"/>
            <p:cNvSpPr/>
            <p:nvPr/>
          </p:nvSpPr>
          <p:spPr>
            <a:xfrm>
              <a:off x="1584" y="528"/>
              <a:ext cx="144" cy="240"/>
            </a:xfrm>
            <a:prstGeom prst="line">
              <a:avLst/>
            </a:prstGeom>
            <a:ln w="31750" cap="flat" cmpd="sng">
              <a:solidFill>
                <a:schemeClr val="tx1"/>
              </a:solidFill>
              <a:prstDash val="solid"/>
              <a:headEnd type="none" w="med" len="med"/>
              <a:tailEnd type="none" w="med" len="med"/>
            </a:ln>
          </p:spPr>
        </p:sp>
        <p:sp>
          <p:nvSpPr>
            <p:cNvPr id="129056" name="Line 79"/>
            <p:cNvSpPr/>
            <p:nvPr/>
          </p:nvSpPr>
          <p:spPr>
            <a:xfrm flipH="1">
              <a:off x="1584" y="768"/>
              <a:ext cx="144" cy="240"/>
            </a:xfrm>
            <a:prstGeom prst="line">
              <a:avLst/>
            </a:prstGeom>
            <a:ln w="31750" cap="flat" cmpd="sng">
              <a:solidFill>
                <a:schemeClr val="tx1"/>
              </a:solidFill>
              <a:prstDash val="solid"/>
              <a:headEnd type="none" w="med" len="med"/>
              <a:tailEnd type="none" w="med" len="med"/>
            </a:ln>
          </p:spPr>
        </p:sp>
        <p:sp>
          <p:nvSpPr>
            <p:cNvPr id="129057" name="Line 80"/>
            <p:cNvSpPr/>
            <p:nvPr/>
          </p:nvSpPr>
          <p:spPr>
            <a:xfrm flipH="1">
              <a:off x="1584" y="768"/>
              <a:ext cx="288" cy="240"/>
            </a:xfrm>
            <a:prstGeom prst="line">
              <a:avLst/>
            </a:prstGeom>
            <a:ln w="31750" cap="flat" cmpd="sng">
              <a:solidFill>
                <a:schemeClr val="tx1"/>
              </a:solidFill>
              <a:prstDash val="solid"/>
              <a:headEnd type="none" w="med" len="med"/>
              <a:tailEnd type="none" w="med" len="med"/>
            </a:ln>
          </p:spPr>
        </p:sp>
        <p:sp>
          <p:nvSpPr>
            <p:cNvPr id="129058" name="Line 81"/>
            <p:cNvSpPr/>
            <p:nvPr/>
          </p:nvSpPr>
          <p:spPr>
            <a:xfrm>
              <a:off x="1872" y="768"/>
              <a:ext cx="864" cy="720"/>
            </a:xfrm>
            <a:prstGeom prst="line">
              <a:avLst/>
            </a:prstGeom>
            <a:ln w="31750" cap="flat" cmpd="sng">
              <a:solidFill>
                <a:schemeClr val="tx1"/>
              </a:solidFill>
              <a:prstDash val="solid"/>
              <a:headEnd type="none" w="med" len="med"/>
              <a:tailEnd type="none" w="med" len="med"/>
            </a:ln>
          </p:spPr>
        </p:sp>
        <p:sp>
          <p:nvSpPr>
            <p:cNvPr id="129059" name="Line 82"/>
            <p:cNvSpPr/>
            <p:nvPr/>
          </p:nvSpPr>
          <p:spPr>
            <a:xfrm flipV="1">
              <a:off x="3648" y="1008"/>
              <a:ext cx="960" cy="480"/>
            </a:xfrm>
            <a:prstGeom prst="line">
              <a:avLst/>
            </a:prstGeom>
            <a:ln w="31750" cap="flat" cmpd="sng">
              <a:solidFill>
                <a:schemeClr val="tx1"/>
              </a:solidFill>
              <a:prstDash val="solid"/>
              <a:headEnd type="none" w="med" len="med"/>
              <a:tailEnd type="none" w="med" len="med"/>
            </a:ln>
          </p:spPr>
        </p:sp>
        <p:sp>
          <p:nvSpPr>
            <p:cNvPr id="129060" name="Line 83"/>
            <p:cNvSpPr/>
            <p:nvPr/>
          </p:nvSpPr>
          <p:spPr>
            <a:xfrm>
              <a:off x="1584" y="1872"/>
              <a:ext cx="96" cy="432"/>
            </a:xfrm>
            <a:prstGeom prst="line">
              <a:avLst/>
            </a:prstGeom>
            <a:ln w="31750" cap="flat" cmpd="sng">
              <a:solidFill>
                <a:schemeClr val="tx1"/>
              </a:solidFill>
              <a:prstDash val="solid"/>
              <a:headEnd type="none" w="med" len="med"/>
              <a:tailEnd type="none" w="med" len="med"/>
            </a:ln>
          </p:spPr>
        </p:sp>
        <p:sp>
          <p:nvSpPr>
            <p:cNvPr id="129061" name="Line 84"/>
            <p:cNvSpPr/>
            <p:nvPr/>
          </p:nvSpPr>
          <p:spPr>
            <a:xfrm>
              <a:off x="1584" y="1872"/>
              <a:ext cx="672" cy="432"/>
            </a:xfrm>
            <a:prstGeom prst="line">
              <a:avLst/>
            </a:prstGeom>
            <a:ln w="31750" cap="flat" cmpd="sng">
              <a:solidFill>
                <a:schemeClr val="tx1"/>
              </a:solidFill>
              <a:prstDash val="solid"/>
              <a:headEnd type="none" w="med" len="med"/>
              <a:tailEnd type="none" w="med" len="med"/>
            </a:ln>
          </p:spPr>
        </p:sp>
        <p:sp>
          <p:nvSpPr>
            <p:cNvPr id="129062" name="Line 85"/>
            <p:cNvSpPr/>
            <p:nvPr/>
          </p:nvSpPr>
          <p:spPr>
            <a:xfrm flipH="1">
              <a:off x="2256" y="1488"/>
              <a:ext cx="480" cy="816"/>
            </a:xfrm>
            <a:prstGeom prst="line">
              <a:avLst/>
            </a:prstGeom>
            <a:ln w="31750" cap="flat" cmpd="sng">
              <a:solidFill>
                <a:schemeClr val="tx1"/>
              </a:solidFill>
              <a:prstDash val="solid"/>
              <a:headEnd type="none" w="med" len="med"/>
              <a:tailEnd type="none" w="med" len="med"/>
            </a:ln>
          </p:spPr>
        </p:sp>
        <p:sp>
          <p:nvSpPr>
            <p:cNvPr id="129063" name="Line 86"/>
            <p:cNvSpPr/>
            <p:nvPr/>
          </p:nvSpPr>
          <p:spPr>
            <a:xfrm flipH="1">
              <a:off x="1632" y="2304"/>
              <a:ext cx="48" cy="816"/>
            </a:xfrm>
            <a:prstGeom prst="line">
              <a:avLst/>
            </a:prstGeom>
            <a:ln w="31750" cap="flat" cmpd="sng">
              <a:solidFill>
                <a:schemeClr val="tx1"/>
              </a:solidFill>
              <a:prstDash val="solid"/>
              <a:headEnd type="none" w="med" len="med"/>
              <a:tailEnd type="none" w="med" len="med"/>
            </a:ln>
          </p:spPr>
        </p:sp>
        <p:grpSp>
          <p:nvGrpSpPr>
            <p:cNvPr id="129064" name="Group 87"/>
            <p:cNvGrpSpPr/>
            <p:nvPr/>
          </p:nvGrpSpPr>
          <p:grpSpPr>
            <a:xfrm>
              <a:off x="1409" y="3120"/>
              <a:ext cx="3439" cy="358"/>
              <a:chOff x="2256" y="3876"/>
              <a:chExt cx="3439" cy="358"/>
            </a:xfrm>
          </p:grpSpPr>
          <p:sp>
            <p:nvSpPr>
              <p:cNvPr id="129114" name="Text Box 88"/>
              <p:cNvSpPr txBox="1"/>
              <p:nvPr/>
            </p:nvSpPr>
            <p:spPr>
              <a:xfrm>
                <a:off x="2256" y="3880"/>
                <a:ext cx="528" cy="288"/>
              </a:xfrm>
              <a:prstGeom prst="rect">
                <a:avLst/>
              </a:prstGeom>
              <a:noFill/>
              <a:ln w="9525">
                <a:noFill/>
              </a:ln>
            </p:spPr>
            <p:txBody>
              <a:bodyPr>
                <a:spAutoFit/>
              </a:bodyPr>
              <a:lstStyle/>
              <a:p>
                <a:pPr lvl="0" algn="ctr" eaLnBrk="1" hangingPunct="1">
                  <a:spcBef>
                    <a:spcPct val="50000"/>
                  </a:spcBef>
                </a:pPr>
                <a:r>
                  <a:rPr lang="en-US" altLang="zh-CN" sz="2400" b="1" dirty="0">
                    <a:latin typeface="Times New Roman" panose="02020603050405020304" pitchFamily="18" charset="0"/>
                    <a:ea typeface="宋体" panose="02010600030101010101" pitchFamily="2" charset="-122"/>
                  </a:rPr>
                  <a:t>Fe</a:t>
                </a:r>
              </a:p>
            </p:txBody>
          </p:sp>
          <p:sp>
            <p:nvSpPr>
              <p:cNvPr id="129115" name="Text Box 89"/>
              <p:cNvSpPr txBox="1"/>
              <p:nvPr/>
            </p:nvSpPr>
            <p:spPr>
              <a:xfrm>
                <a:off x="5167" y="3876"/>
                <a:ext cx="528" cy="358"/>
              </a:xfrm>
              <a:prstGeom prst="rect">
                <a:avLst/>
              </a:prstGeom>
              <a:noFill/>
              <a:ln w="9525">
                <a:noFill/>
              </a:ln>
            </p:spPr>
            <p:txBody>
              <a:bodyPr>
                <a:spAutoFit/>
              </a:bodyPr>
              <a:lstStyle/>
              <a:p>
                <a:pPr lvl="0" algn="ctr" eaLnBrk="1" hangingPunct="1">
                  <a:spcBef>
                    <a:spcPct val="50000"/>
                  </a:spcBef>
                </a:pPr>
                <a:r>
                  <a:rPr lang="en-US" altLang="zh-CN" sz="2400" b="1" dirty="0">
                    <a:solidFill>
                      <a:srgbClr val="0000FF"/>
                    </a:solidFill>
                    <a:latin typeface="Times New Roman" panose="02020603050405020304" pitchFamily="18" charset="0"/>
                    <a:ea typeface="宋体" panose="02010600030101010101" pitchFamily="2" charset="-122"/>
                  </a:rPr>
                  <a:t>Fe</a:t>
                </a:r>
                <a:r>
                  <a:rPr lang="en-US" altLang="zh-CN" sz="2400" b="1" baseline="-25000" dirty="0">
                    <a:solidFill>
                      <a:srgbClr val="0000FF"/>
                    </a:solidFill>
                    <a:latin typeface="Times New Roman" panose="02020603050405020304" pitchFamily="18" charset="0"/>
                    <a:ea typeface="宋体" panose="02010600030101010101" pitchFamily="2" charset="-122"/>
                  </a:rPr>
                  <a:t>3</a:t>
                </a:r>
                <a:r>
                  <a:rPr lang="en-US" altLang="zh-CN" sz="2400" b="1" dirty="0">
                    <a:solidFill>
                      <a:srgbClr val="0000FF"/>
                    </a:solidFill>
                    <a:latin typeface="Times New Roman" panose="02020603050405020304" pitchFamily="18" charset="0"/>
                    <a:ea typeface="宋体" panose="02010600030101010101" pitchFamily="2" charset="-122"/>
                  </a:rPr>
                  <a:t>C</a:t>
                </a:r>
              </a:p>
            </p:txBody>
          </p:sp>
        </p:grpSp>
        <p:sp>
          <p:nvSpPr>
            <p:cNvPr id="129065" name="Text Box 90"/>
            <p:cNvSpPr txBox="1"/>
            <p:nvPr/>
          </p:nvSpPr>
          <p:spPr>
            <a:xfrm>
              <a:off x="2060" y="1870"/>
              <a:ext cx="384" cy="358"/>
            </a:xfrm>
            <a:prstGeom prst="rect">
              <a:avLst/>
            </a:prstGeom>
            <a:noFill/>
            <a:ln w="9525">
              <a:noFill/>
            </a:ln>
          </p:spPr>
          <p:txBody>
            <a:bodyPr>
              <a:spAutoFit/>
            </a:bodyPr>
            <a:lstStyle/>
            <a:p>
              <a:pPr lvl="0" algn="ctr" eaLnBrk="1" hangingPunct="1">
                <a:spcBef>
                  <a:spcPct val="50000"/>
                </a:spcBef>
              </a:pPr>
              <a:r>
                <a:rPr lang="en-US" altLang="zh-CN" sz="2400" b="1" dirty="0">
                  <a:solidFill>
                    <a:srgbClr val="C00000"/>
                  </a:solidFill>
                  <a:latin typeface="Times New Roman" panose="02020603050405020304" pitchFamily="18" charset="0"/>
                  <a:ea typeface="宋体" panose="02010600030101010101" pitchFamily="2" charset="-122"/>
                </a:rPr>
                <a:t>S</a:t>
              </a:r>
            </a:p>
          </p:txBody>
        </p:sp>
        <p:sp>
          <p:nvSpPr>
            <p:cNvPr id="129066" name="Text Box 91"/>
            <p:cNvSpPr txBox="1"/>
            <p:nvPr/>
          </p:nvSpPr>
          <p:spPr>
            <a:xfrm>
              <a:off x="1571" y="2867"/>
              <a:ext cx="384" cy="288"/>
            </a:xfrm>
            <a:prstGeom prst="rect">
              <a:avLst/>
            </a:prstGeom>
            <a:noFill/>
            <a:ln w="9525">
              <a:noFill/>
            </a:ln>
          </p:spPr>
          <p:txBody>
            <a:bodyPr>
              <a:spAutoFit/>
            </a:bodyPr>
            <a:lstStyle/>
            <a:p>
              <a:pPr lvl="0" algn="ctr" eaLnBrk="1" hangingPunct="1">
                <a:spcBef>
                  <a:spcPct val="50000"/>
                </a:spcBef>
              </a:pPr>
              <a:r>
                <a:rPr lang="en-US" altLang="zh-CN" sz="2400" b="1" dirty="0">
                  <a:solidFill>
                    <a:srgbClr val="FFCCFF"/>
                  </a:solidFill>
                  <a:latin typeface="Times New Roman" panose="02020603050405020304" pitchFamily="18" charset="0"/>
                  <a:ea typeface="宋体" panose="02010600030101010101" pitchFamily="2" charset="-122"/>
                </a:rPr>
                <a:t>Q</a:t>
              </a:r>
            </a:p>
          </p:txBody>
        </p:sp>
        <p:sp>
          <p:nvSpPr>
            <p:cNvPr id="129067" name="Text Box 92"/>
            <p:cNvSpPr txBox="1"/>
            <p:nvPr/>
          </p:nvSpPr>
          <p:spPr>
            <a:xfrm>
              <a:off x="1593" y="2243"/>
              <a:ext cx="384" cy="358"/>
            </a:xfrm>
            <a:prstGeom prst="rect">
              <a:avLst/>
            </a:prstGeom>
            <a:noFill/>
            <a:ln w="9525">
              <a:noFill/>
            </a:ln>
          </p:spPr>
          <p:txBody>
            <a:bodyPr>
              <a:spAutoFit/>
            </a:bodyPr>
            <a:lstStyle/>
            <a:p>
              <a:pPr lvl="0" algn="ctr" eaLnBrk="1" hangingPunct="1">
                <a:spcBef>
                  <a:spcPct val="50000"/>
                </a:spcBef>
              </a:pPr>
              <a:r>
                <a:rPr lang="en-US" altLang="zh-CN" sz="2400" b="1" dirty="0">
                  <a:solidFill>
                    <a:srgbClr val="C00000"/>
                  </a:solidFill>
                  <a:latin typeface="Times New Roman" panose="02020603050405020304" pitchFamily="18" charset="0"/>
                  <a:ea typeface="宋体" panose="02010600030101010101" pitchFamily="2" charset="-122"/>
                </a:rPr>
                <a:t>P</a:t>
              </a:r>
            </a:p>
          </p:txBody>
        </p:sp>
        <p:sp>
          <p:nvSpPr>
            <p:cNvPr id="129068" name="Text Box 93"/>
            <p:cNvSpPr txBox="1"/>
            <p:nvPr/>
          </p:nvSpPr>
          <p:spPr>
            <a:xfrm>
              <a:off x="1292" y="864"/>
              <a:ext cx="384" cy="358"/>
            </a:xfrm>
            <a:prstGeom prst="rect">
              <a:avLst/>
            </a:prstGeom>
            <a:noFill/>
            <a:ln w="9525">
              <a:noFill/>
            </a:ln>
          </p:spPr>
          <p:txBody>
            <a:bodyPr>
              <a:spAutoFit/>
            </a:bodyPr>
            <a:lstStyle/>
            <a:p>
              <a:pPr lvl="0" algn="ctr" eaLnBrk="1" hangingPunct="1">
                <a:spcBef>
                  <a:spcPct val="50000"/>
                </a:spcBef>
              </a:pPr>
              <a:r>
                <a:rPr lang="en-US" altLang="zh-CN" sz="2400" b="1" dirty="0">
                  <a:solidFill>
                    <a:srgbClr val="C00000"/>
                  </a:solidFill>
                  <a:latin typeface="Times New Roman" panose="02020603050405020304" pitchFamily="18" charset="0"/>
                  <a:ea typeface="宋体" panose="02010600030101010101" pitchFamily="2" charset="-122"/>
                </a:rPr>
                <a:t>N</a:t>
              </a:r>
            </a:p>
          </p:txBody>
        </p:sp>
        <p:sp>
          <p:nvSpPr>
            <p:cNvPr id="129069" name="Text Box 94"/>
            <p:cNvSpPr txBox="1"/>
            <p:nvPr/>
          </p:nvSpPr>
          <p:spPr>
            <a:xfrm>
              <a:off x="4586" y="2112"/>
              <a:ext cx="288" cy="358"/>
            </a:xfrm>
            <a:prstGeom prst="rect">
              <a:avLst/>
            </a:prstGeom>
            <a:noFill/>
            <a:ln w="9525">
              <a:noFill/>
            </a:ln>
          </p:spPr>
          <p:txBody>
            <a:bodyPr>
              <a:spAutoFit/>
            </a:bodyPr>
            <a:lstStyle/>
            <a:p>
              <a:pPr lvl="0" algn="ctr" eaLnBrk="1" hangingPunct="1">
                <a:spcBef>
                  <a:spcPct val="50000"/>
                </a:spcBef>
              </a:pPr>
              <a:r>
                <a:rPr lang="en-US" altLang="zh-CN" sz="2400" b="1" dirty="0">
                  <a:solidFill>
                    <a:srgbClr val="C00000"/>
                  </a:solidFill>
                  <a:latin typeface="Times New Roman" panose="02020603050405020304" pitchFamily="18" charset="0"/>
                  <a:ea typeface="宋体" panose="02010600030101010101" pitchFamily="2" charset="-122"/>
                </a:rPr>
                <a:t>K</a:t>
              </a:r>
            </a:p>
          </p:txBody>
        </p:sp>
        <p:sp>
          <p:nvSpPr>
            <p:cNvPr id="129070" name="Text Box 95"/>
            <p:cNvSpPr txBox="1"/>
            <p:nvPr/>
          </p:nvSpPr>
          <p:spPr>
            <a:xfrm>
              <a:off x="1676" y="751"/>
              <a:ext cx="384" cy="358"/>
            </a:xfrm>
            <a:prstGeom prst="rect">
              <a:avLst/>
            </a:prstGeom>
            <a:noFill/>
            <a:ln w="9525">
              <a:noFill/>
            </a:ln>
          </p:spPr>
          <p:txBody>
            <a:bodyPr>
              <a:spAutoFit/>
            </a:bodyPr>
            <a:lstStyle/>
            <a:p>
              <a:pPr lvl="0" algn="ctr" eaLnBrk="1" hangingPunct="1">
                <a:spcBef>
                  <a:spcPct val="50000"/>
                </a:spcBef>
              </a:pPr>
              <a:r>
                <a:rPr lang="en-US" altLang="zh-CN" sz="2400" b="1" dirty="0">
                  <a:solidFill>
                    <a:srgbClr val="C00000"/>
                  </a:solidFill>
                  <a:latin typeface="Times New Roman" panose="02020603050405020304" pitchFamily="18" charset="0"/>
                  <a:ea typeface="宋体" panose="02010600030101010101" pitchFamily="2" charset="-122"/>
                </a:rPr>
                <a:t>J</a:t>
              </a:r>
            </a:p>
          </p:txBody>
        </p:sp>
        <p:sp>
          <p:nvSpPr>
            <p:cNvPr id="129071" name="Text Box 96"/>
            <p:cNvSpPr txBox="1"/>
            <p:nvPr/>
          </p:nvSpPr>
          <p:spPr>
            <a:xfrm>
              <a:off x="1462" y="650"/>
              <a:ext cx="384" cy="310"/>
            </a:xfrm>
            <a:prstGeom prst="rect">
              <a:avLst/>
            </a:prstGeom>
            <a:noFill/>
            <a:ln w="9525">
              <a:noFill/>
            </a:ln>
          </p:spPr>
          <p:txBody>
            <a:bodyPr>
              <a:spAutoFit/>
            </a:bodyPr>
            <a:lstStyle/>
            <a:p>
              <a:pPr lvl="0" algn="ctr" eaLnBrk="1" hangingPunct="1">
                <a:spcBef>
                  <a:spcPct val="50000"/>
                </a:spcBef>
              </a:pPr>
              <a:r>
                <a:rPr lang="en-US" altLang="zh-CN" sz="2000" b="1" dirty="0">
                  <a:solidFill>
                    <a:srgbClr val="C00000"/>
                  </a:solidFill>
                  <a:latin typeface="Times New Roman" panose="02020603050405020304" pitchFamily="18" charset="0"/>
                  <a:ea typeface="宋体" panose="02010600030101010101" pitchFamily="2" charset="-122"/>
                </a:rPr>
                <a:t>H</a:t>
              </a:r>
            </a:p>
          </p:txBody>
        </p:sp>
        <p:sp>
          <p:nvSpPr>
            <p:cNvPr id="129072" name="Text Box 97"/>
            <p:cNvSpPr txBox="1"/>
            <p:nvPr/>
          </p:nvSpPr>
          <p:spPr>
            <a:xfrm>
              <a:off x="1270" y="1728"/>
              <a:ext cx="384" cy="358"/>
            </a:xfrm>
            <a:prstGeom prst="rect">
              <a:avLst/>
            </a:prstGeom>
            <a:noFill/>
            <a:ln w="9525">
              <a:noFill/>
            </a:ln>
          </p:spPr>
          <p:txBody>
            <a:bodyPr>
              <a:spAutoFit/>
            </a:bodyPr>
            <a:lstStyle/>
            <a:p>
              <a:pPr lvl="0" algn="ctr" eaLnBrk="1" hangingPunct="1">
                <a:spcBef>
                  <a:spcPct val="50000"/>
                </a:spcBef>
              </a:pPr>
              <a:r>
                <a:rPr lang="en-US" altLang="zh-CN" sz="2400" b="1" dirty="0">
                  <a:solidFill>
                    <a:srgbClr val="C00000"/>
                  </a:solidFill>
                  <a:latin typeface="Times New Roman" panose="02020603050405020304" pitchFamily="18" charset="0"/>
                  <a:ea typeface="宋体" panose="02010600030101010101" pitchFamily="2" charset="-122"/>
                </a:rPr>
                <a:t>G</a:t>
              </a:r>
            </a:p>
          </p:txBody>
        </p:sp>
        <p:sp>
          <p:nvSpPr>
            <p:cNvPr id="129073" name="Text Box 98"/>
            <p:cNvSpPr txBox="1"/>
            <p:nvPr/>
          </p:nvSpPr>
          <p:spPr>
            <a:xfrm>
              <a:off x="4599" y="1292"/>
              <a:ext cx="288" cy="358"/>
            </a:xfrm>
            <a:prstGeom prst="rect">
              <a:avLst/>
            </a:prstGeom>
            <a:noFill/>
            <a:ln w="9525">
              <a:noFill/>
            </a:ln>
          </p:spPr>
          <p:txBody>
            <a:bodyPr>
              <a:spAutoFit/>
            </a:bodyPr>
            <a:lstStyle/>
            <a:p>
              <a:pPr lvl="0" algn="ctr" eaLnBrk="1" hangingPunct="1">
                <a:spcBef>
                  <a:spcPct val="50000"/>
                </a:spcBef>
              </a:pPr>
              <a:r>
                <a:rPr lang="en-US" altLang="zh-CN" sz="2400" b="1" dirty="0">
                  <a:solidFill>
                    <a:srgbClr val="C00000"/>
                  </a:solidFill>
                  <a:latin typeface="Times New Roman" panose="02020603050405020304" pitchFamily="18" charset="0"/>
                  <a:ea typeface="宋体" panose="02010600030101010101" pitchFamily="2" charset="-122"/>
                </a:rPr>
                <a:t>F</a:t>
              </a:r>
            </a:p>
          </p:txBody>
        </p:sp>
        <p:sp>
          <p:nvSpPr>
            <p:cNvPr id="129074" name="Text Box 99"/>
            <p:cNvSpPr txBox="1"/>
            <p:nvPr/>
          </p:nvSpPr>
          <p:spPr>
            <a:xfrm>
              <a:off x="2368" y="1318"/>
              <a:ext cx="384" cy="358"/>
            </a:xfrm>
            <a:prstGeom prst="rect">
              <a:avLst/>
            </a:prstGeom>
            <a:noFill/>
            <a:ln w="9525">
              <a:noFill/>
            </a:ln>
          </p:spPr>
          <p:txBody>
            <a:bodyPr>
              <a:spAutoFit/>
            </a:bodyPr>
            <a:lstStyle/>
            <a:p>
              <a:pPr lvl="0" algn="ctr" eaLnBrk="1" hangingPunct="1">
                <a:spcBef>
                  <a:spcPct val="50000"/>
                </a:spcBef>
              </a:pPr>
              <a:r>
                <a:rPr lang="en-US" altLang="zh-CN" sz="2400" b="1" dirty="0">
                  <a:solidFill>
                    <a:srgbClr val="C00000"/>
                  </a:solidFill>
                  <a:latin typeface="Times New Roman" panose="02020603050405020304" pitchFamily="18" charset="0"/>
                  <a:ea typeface="宋体" panose="02010600030101010101" pitchFamily="2" charset="-122"/>
                </a:rPr>
                <a:t>E</a:t>
              </a:r>
            </a:p>
          </p:txBody>
        </p:sp>
        <p:sp>
          <p:nvSpPr>
            <p:cNvPr id="129075" name="Text Box 100"/>
            <p:cNvSpPr txBox="1"/>
            <p:nvPr/>
          </p:nvSpPr>
          <p:spPr>
            <a:xfrm>
              <a:off x="4568" y="838"/>
              <a:ext cx="319" cy="358"/>
            </a:xfrm>
            <a:prstGeom prst="rect">
              <a:avLst/>
            </a:prstGeom>
            <a:noFill/>
            <a:ln w="9525">
              <a:noFill/>
            </a:ln>
          </p:spPr>
          <p:txBody>
            <a:bodyPr>
              <a:spAutoFit/>
            </a:bodyPr>
            <a:lstStyle/>
            <a:p>
              <a:pPr lvl="0" algn="ctr" eaLnBrk="1" hangingPunct="1">
                <a:spcBef>
                  <a:spcPct val="50000"/>
                </a:spcBef>
              </a:pPr>
              <a:r>
                <a:rPr lang="en-US" altLang="zh-CN" sz="2400" b="1" dirty="0">
                  <a:solidFill>
                    <a:srgbClr val="C00000"/>
                  </a:solidFill>
                  <a:latin typeface="Times New Roman" panose="02020603050405020304" pitchFamily="18" charset="0"/>
                  <a:ea typeface="宋体" panose="02010600030101010101" pitchFamily="2" charset="-122"/>
                </a:rPr>
                <a:t>D</a:t>
              </a:r>
            </a:p>
          </p:txBody>
        </p:sp>
        <p:sp>
          <p:nvSpPr>
            <p:cNvPr id="129076" name="Text Box 101"/>
            <p:cNvSpPr txBox="1"/>
            <p:nvPr/>
          </p:nvSpPr>
          <p:spPr>
            <a:xfrm>
              <a:off x="3468" y="1069"/>
              <a:ext cx="384" cy="358"/>
            </a:xfrm>
            <a:prstGeom prst="rect">
              <a:avLst/>
            </a:prstGeom>
            <a:noFill/>
            <a:ln w="9525">
              <a:noFill/>
            </a:ln>
          </p:spPr>
          <p:txBody>
            <a:bodyPr>
              <a:spAutoFit/>
            </a:bodyPr>
            <a:lstStyle/>
            <a:p>
              <a:pPr lvl="0" algn="ctr" eaLnBrk="1" hangingPunct="1">
                <a:spcBef>
                  <a:spcPct val="50000"/>
                </a:spcBef>
              </a:pPr>
              <a:r>
                <a:rPr lang="en-US" altLang="zh-CN" sz="2400" b="1" dirty="0">
                  <a:solidFill>
                    <a:srgbClr val="C00000"/>
                  </a:solidFill>
                  <a:latin typeface="Times New Roman" panose="02020603050405020304" pitchFamily="18" charset="0"/>
                  <a:ea typeface="宋体" panose="02010600030101010101" pitchFamily="2" charset="-122"/>
                </a:rPr>
                <a:t>C</a:t>
              </a:r>
            </a:p>
          </p:txBody>
        </p:sp>
        <p:sp>
          <p:nvSpPr>
            <p:cNvPr id="129077" name="Text Box 102"/>
            <p:cNvSpPr txBox="1"/>
            <p:nvPr/>
          </p:nvSpPr>
          <p:spPr>
            <a:xfrm>
              <a:off x="1975" y="552"/>
              <a:ext cx="384" cy="358"/>
            </a:xfrm>
            <a:prstGeom prst="rect">
              <a:avLst/>
            </a:prstGeom>
            <a:noFill/>
            <a:ln w="9525">
              <a:noFill/>
            </a:ln>
          </p:spPr>
          <p:txBody>
            <a:bodyPr>
              <a:spAutoFit/>
            </a:bodyPr>
            <a:lstStyle/>
            <a:p>
              <a:pPr lvl="0" algn="ctr" eaLnBrk="1" hangingPunct="1">
                <a:spcBef>
                  <a:spcPct val="50000"/>
                </a:spcBef>
              </a:pPr>
              <a:r>
                <a:rPr lang="en-US" altLang="zh-CN" sz="2400" b="1" dirty="0">
                  <a:solidFill>
                    <a:srgbClr val="C00000"/>
                  </a:solidFill>
                  <a:latin typeface="Times New Roman" panose="02020603050405020304" pitchFamily="18" charset="0"/>
                  <a:ea typeface="宋体" panose="02010600030101010101" pitchFamily="2" charset="-122"/>
                </a:rPr>
                <a:t>B</a:t>
              </a:r>
            </a:p>
          </p:txBody>
        </p:sp>
        <p:sp>
          <p:nvSpPr>
            <p:cNvPr id="129078" name="Text Box 103"/>
            <p:cNvSpPr txBox="1"/>
            <p:nvPr/>
          </p:nvSpPr>
          <p:spPr>
            <a:xfrm>
              <a:off x="1300" y="371"/>
              <a:ext cx="384" cy="358"/>
            </a:xfrm>
            <a:prstGeom prst="rect">
              <a:avLst/>
            </a:prstGeom>
            <a:noFill/>
            <a:ln w="9525">
              <a:noFill/>
            </a:ln>
          </p:spPr>
          <p:txBody>
            <a:bodyPr>
              <a:spAutoFit/>
            </a:bodyPr>
            <a:lstStyle/>
            <a:p>
              <a:pPr lvl="0" algn="ctr" eaLnBrk="1" hangingPunct="1">
                <a:spcBef>
                  <a:spcPct val="50000"/>
                </a:spcBef>
              </a:pPr>
              <a:r>
                <a:rPr lang="en-US" altLang="zh-CN" sz="2400" b="1" dirty="0">
                  <a:solidFill>
                    <a:srgbClr val="C00000"/>
                  </a:solidFill>
                  <a:latin typeface="Times New Roman" panose="02020603050405020304" pitchFamily="18" charset="0"/>
                  <a:ea typeface="宋体" panose="02010600030101010101" pitchFamily="2" charset="-122"/>
                </a:rPr>
                <a:t>A</a:t>
              </a:r>
            </a:p>
          </p:txBody>
        </p:sp>
        <p:sp>
          <p:nvSpPr>
            <p:cNvPr id="129079" name="Text Box 104"/>
            <p:cNvSpPr txBox="1"/>
            <p:nvPr/>
          </p:nvSpPr>
          <p:spPr>
            <a:xfrm>
              <a:off x="3059" y="1437"/>
              <a:ext cx="1056" cy="288"/>
            </a:xfrm>
            <a:prstGeom prst="rect">
              <a:avLst/>
            </a:prstGeom>
            <a:noFill/>
            <a:ln w="9525">
              <a:noFill/>
            </a:ln>
          </p:spPr>
          <p:txBody>
            <a:bodyPr>
              <a:spAutoFit/>
            </a:bodyPr>
            <a:lstStyle/>
            <a:p>
              <a:pPr lvl="0" algn="ctr" eaLnBrk="1" hangingPunct="1">
                <a:spcBef>
                  <a:spcPct val="50000"/>
                </a:spcBef>
              </a:pPr>
              <a:r>
                <a:rPr lang="en-US" altLang="zh-CN" sz="2400" b="1" dirty="0">
                  <a:solidFill>
                    <a:schemeClr val="folHlink"/>
                  </a:solidFill>
                  <a:latin typeface="Times New Roman" panose="02020603050405020304" pitchFamily="18" charset="0"/>
                  <a:ea typeface="宋体" panose="02010600030101010101" pitchFamily="2" charset="-122"/>
                </a:rPr>
                <a:t>A+ </a:t>
              </a:r>
              <a:r>
                <a:rPr lang="en-US" altLang="zh-CN" sz="2400" b="1" dirty="0">
                  <a:solidFill>
                    <a:schemeClr val="folHlink"/>
                  </a:solidFill>
                  <a:latin typeface="Times New Roman" panose="02020603050405020304" pitchFamily="18" charset="0"/>
                  <a:ea typeface="楷体_GB2312" pitchFamily="49" charset="-122"/>
                  <a:sym typeface="Symbol" panose="05050102010706020507" pitchFamily="18" charset="2"/>
                </a:rPr>
                <a:t>Fe</a:t>
              </a:r>
              <a:r>
                <a:rPr lang="en-US" altLang="zh-CN" sz="2400" b="1" baseline="-25000" dirty="0">
                  <a:solidFill>
                    <a:schemeClr val="folHlink"/>
                  </a:solidFill>
                  <a:latin typeface="Times New Roman" panose="02020603050405020304" pitchFamily="18" charset="0"/>
                  <a:ea typeface="楷体_GB2312" pitchFamily="49" charset="-122"/>
                  <a:sym typeface="Symbol" panose="05050102010706020507" pitchFamily="18" charset="2"/>
                </a:rPr>
                <a:t>3</a:t>
              </a:r>
              <a:r>
                <a:rPr lang="en-US" altLang="zh-CN" sz="2400" b="1" dirty="0">
                  <a:solidFill>
                    <a:schemeClr val="folHlink"/>
                  </a:solidFill>
                  <a:latin typeface="Times New Roman" panose="02020603050405020304" pitchFamily="18" charset="0"/>
                  <a:ea typeface="楷体_GB2312" pitchFamily="49" charset="-122"/>
                  <a:sym typeface="Symbol" panose="05050102010706020507" pitchFamily="18" charset="2"/>
                </a:rPr>
                <a:t>C</a:t>
              </a:r>
            </a:p>
          </p:txBody>
        </p:sp>
        <p:sp>
          <p:nvSpPr>
            <p:cNvPr id="129080" name="Text Box 105"/>
            <p:cNvSpPr txBox="1"/>
            <p:nvPr/>
          </p:nvSpPr>
          <p:spPr>
            <a:xfrm>
              <a:off x="1524" y="1990"/>
              <a:ext cx="528" cy="287"/>
            </a:xfrm>
            <a:prstGeom prst="rect">
              <a:avLst/>
            </a:prstGeom>
            <a:noFill/>
            <a:ln w="9525">
              <a:noFill/>
            </a:ln>
          </p:spPr>
          <p:txBody>
            <a:bodyPr>
              <a:spAutoFit/>
            </a:bodyPr>
            <a:lstStyle/>
            <a:p>
              <a:pPr lvl="0" algn="ctr" eaLnBrk="1" hangingPunct="1">
                <a:spcBef>
                  <a:spcPct val="50000"/>
                </a:spcBef>
              </a:pPr>
              <a:r>
                <a:rPr lang="en-US" altLang="zh-CN" sz="1800" b="1" dirty="0">
                  <a:solidFill>
                    <a:srgbClr val="0000FF"/>
                  </a:solidFill>
                  <a:latin typeface="Times New Roman" panose="02020603050405020304" pitchFamily="18" charset="0"/>
                  <a:ea typeface="宋体" panose="02010600030101010101" pitchFamily="2" charset="-122"/>
                </a:rPr>
                <a:t>A+F</a:t>
              </a:r>
            </a:p>
          </p:txBody>
        </p:sp>
        <p:sp>
          <p:nvSpPr>
            <p:cNvPr id="129081" name="Text Box 106"/>
            <p:cNvSpPr txBox="1"/>
            <p:nvPr/>
          </p:nvSpPr>
          <p:spPr>
            <a:xfrm>
              <a:off x="2592" y="1200"/>
              <a:ext cx="528" cy="287"/>
            </a:xfrm>
            <a:prstGeom prst="rect">
              <a:avLst/>
            </a:prstGeom>
            <a:noFill/>
            <a:ln w="9525">
              <a:noFill/>
            </a:ln>
          </p:spPr>
          <p:txBody>
            <a:bodyPr>
              <a:spAutoFit/>
            </a:bodyPr>
            <a:lstStyle/>
            <a:p>
              <a:pPr lvl="0" algn="ctr" eaLnBrk="1" hangingPunct="1">
                <a:spcBef>
                  <a:spcPct val="50000"/>
                </a:spcBef>
              </a:pPr>
              <a:r>
                <a:rPr lang="en-US" altLang="zh-CN" sz="1800" b="1" dirty="0">
                  <a:solidFill>
                    <a:srgbClr val="0000FF"/>
                  </a:solidFill>
                  <a:latin typeface="Times New Roman" panose="02020603050405020304" pitchFamily="18" charset="0"/>
                  <a:ea typeface="宋体" panose="02010600030101010101" pitchFamily="2" charset="-122"/>
                </a:rPr>
                <a:t>L+A</a:t>
              </a:r>
            </a:p>
          </p:txBody>
        </p:sp>
        <p:sp>
          <p:nvSpPr>
            <p:cNvPr id="129082" name="Text Box 107"/>
            <p:cNvSpPr txBox="1"/>
            <p:nvPr/>
          </p:nvSpPr>
          <p:spPr>
            <a:xfrm>
              <a:off x="1548" y="1008"/>
              <a:ext cx="480" cy="287"/>
            </a:xfrm>
            <a:prstGeom prst="rect">
              <a:avLst/>
            </a:prstGeom>
            <a:noFill/>
            <a:ln w="9525">
              <a:noFill/>
            </a:ln>
          </p:spPr>
          <p:txBody>
            <a:bodyPr>
              <a:spAutoFit/>
            </a:bodyPr>
            <a:lstStyle/>
            <a:p>
              <a:pPr lvl="0" algn="ctr" eaLnBrk="1" hangingPunct="1">
                <a:spcBef>
                  <a:spcPct val="50000"/>
                </a:spcBef>
              </a:pPr>
              <a:r>
                <a:rPr lang="en-US" altLang="zh-CN" sz="1800" b="1" dirty="0">
                  <a:solidFill>
                    <a:srgbClr val="0000FF"/>
                  </a:solidFill>
                  <a:latin typeface="Times New Roman" panose="02020603050405020304" pitchFamily="18" charset="0"/>
                  <a:ea typeface="宋体" panose="02010600030101010101" pitchFamily="2" charset="-122"/>
                </a:rPr>
                <a:t>A+ </a:t>
              </a:r>
              <a:r>
                <a:rPr lang="en-US" altLang="zh-CN" sz="1800" b="1" dirty="0">
                  <a:solidFill>
                    <a:srgbClr val="0000FF"/>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129083" name="Text Box 108"/>
            <p:cNvSpPr txBox="1"/>
            <p:nvPr/>
          </p:nvSpPr>
          <p:spPr>
            <a:xfrm>
              <a:off x="1932" y="432"/>
              <a:ext cx="468" cy="287"/>
            </a:xfrm>
            <a:prstGeom prst="rect">
              <a:avLst/>
            </a:prstGeom>
            <a:noFill/>
            <a:ln w="9525">
              <a:noFill/>
            </a:ln>
          </p:spPr>
          <p:txBody>
            <a:bodyPr>
              <a:spAutoFit/>
            </a:bodyPr>
            <a:lstStyle/>
            <a:p>
              <a:pPr lvl="0" algn="ctr" eaLnBrk="1" hangingPunct="1">
                <a:spcBef>
                  <a:spcPct val="50000"/>
                </a:spcBef>
              </a:pPr>
              <a:r>
                <a:rPr lang="en-US" altLang="zh-CN" sz="1800" b="1" dirty="0">
                  <a:solidFill>
                    <a:srgbClr val="0000FF"/>
                  </a:solidFill>
                  <a:latin typeface="Times New Roman" panose="02020603050405020304" pitchFamily="18" charset="0"/>
                  <a:ea typeface="宋体" panose="02010600030101010101" pitchFamily="2" charset="-122"/>
                </a:rPr>
                <a:t>L+ </a:t>
              </a:r>
              <a:r>
                <a:rPr lang="en-US" altLang="zh-CN" sz="1800" b="1" dirty="0">
                  <a:solidFill>
                    <a:srgbClr val="0000FF"/>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129084" name="Text Box 109"/>
            <p:cNvSpPr txBox="1"/>
            <p:nvPr/>
          </p:nvSpPr>
          <p:spPr>
            <a:xfrm>
              <a:off x="1296" y="2208"/>
              <a:ext cx="288" cy="287"/>
            </a:xfrm>
            <a:prstGeom prst="rect">
              <a:avLst/>
            </a:prstGeom>
            <a:noFill/>
            <a:ln w="9525">
              <a:noFill/>
            </a:ln>
          </p:spPr>
          <p:txBody>
            <a:bodyPr>
              <a:spAutoFit/>
            </a:bodyPr>
            <a:lstStyle/>
            <a:p>
              <a:pPr lvl="0" algn="ctr" eaLnBrk="1" hangingPunct="1">
                <a:spcBef>
                  <a:spcPct val="50000"/>
                </a:spcBef>
              </a:pPr>
              <a:r>
                <a:rPr lang="en-US" altLang="zh-CN" sz="1800" b="1" dirty="0">
                  <a:solidFill>
                    <a:srgbClr val="0000FF"/>
                  </a:solidFill>
                  <a:latin typeface="Times New Roman" panose="02020603050405020304" pitchFamily="18" charset="0"/>
                  <a:ea typeface="宋体" panose="02010600030101010101" pitchFamily="2" charset="-122"/>
                </a:rPr>
                <a:t>F</a:t>
              </a:r>
            </a:p>
          </p:txBody>
        </p:sp>
        <p:sp>
          <p:nvSpPr>
            <p:cNvPr id="129085" name="Text Box 110"/>
            <p:cNvSpPr txBox="1"/>
            <p:nvPr/>
          </p:nvSpPr>
          <p:spPr>
            <a:xfrm>
              <a:off x="1248" y="624"/>
              <a:ext cx="288" cy="287"/>
            </a:xfrm>
            <a:prstGeom prst="rect">
              <a:avLst/>
            </a:prstGeom>
            <a:noFill/>
            <a:ln w="9525">
              <a:noFill/>
            </a:ln>
          </p:spPr>
          <p:txBody>
            <a:bodyPr>
              <a:spAutoFit/>
            </a:bodyPr>
            <a:lstStyle/>
            <a:p>
              <a:pPr lvl="0" algn="ctr" eaLnBrk="1" hangingPunct="1">
                <a:spcBef>
                  <a:spcPct val="50000"/>
                </a:spcBef>
              </a:pPr>
              <a:r>
                <a:rPr lang="en-US" altLang="zh-CN" sz="1800" b="1" dirty="0">
                  <a:solidFill>
                    <a:srgbClr val="00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dirty="0">
                <a:solidFill>
                  <a:srgbClr val="0000FF"/>
                </a:solidFill>
                <a:latin typeface="Times New Roman" panose="02020603050405020304" pitchFamily="18" charset="0"/>
                <a:ea typeface="宋体" panose="02010600030101010101" pitchFamily="2" charset="-122"/>
              </a:endParaRPr>
            </a:p>
          </p:txBody>
        </p:sp>
        <p:sp>
          <p:nvSpPr>
            <p:cNvPr id="129086" name="Text Box 111"/>
            <p:cNvSpPr txBox="1"/>
            <p:nvPr/>
          </p:nvSpPr>
          <p:spPr>
            <a:xfrm>
              <a:off x="1824" y="1392"/>
              <a:ext cx="384" cy="287"/>
            </a:xfrm>
            <a:prstGeom prst="rect">
              <a:avLst/>
            </a:prstGeom>
            <a:noFill/>
            <a:ln w="9525">
              <a:noFill/>
            </a:ln>
          </p:spPr>
          <p:txBody>
            <a:bodyPr>
              <a:spAutoFit/>
            </a:bodyPr>
            <a:lstStyle/>
            <a:p>
              <a:pPr lvl="0" algn="ctr" eaLnBrk="1" hangingPunct="1">
                <a:spcBef>
                  <a:spcPct val="50000"/>
                </a:spcBef>
              </a:pPr>
              <a:r>
                <a:rPr lang="en-US" altLang="zh-CN" sz="1800" b="1" dirty="0">
                  <a:solidFill>
                    <a:srgbClr val="0000FF"/>
                  </a:solidFill>
                  <a:latin typeface="Times New Roman" panose="02020603050405020304" pitchFamily="18" charset="0"/>
                  <a:ea typeface="宋体" panose="02010600030101010101" pitchFamily="2" charset="-122"/>
                </a:rPr>
                <a:t>A</a:t>
              </a:r>
            </a:p>
          </p:txBody>
        </p:sp>
        <p:sp>
          <p:nvSpPr>
            <p:cNvPr id="129087" name="Text Box 112"/>
            <p:cNvSpPr txBox="1"/>
            <p:nvPr/>
          </p:nvSpPr>
          <p:spPr>
            <a:xfrm>
              <a:off x="3408" y="672"/>
              <a:ext cx="288" cy="287"/>
            </a:xfrm>
            <a:prstGeom prst="rect">
              <a:avLst/>
            </a:prstGeom>
            <a:noFill/>
            <a:ln w="9525">
              <a:noFill/>
            </a:ln>
          </p:spPr>
          <p:txBody>
            <a:bodyPr>
              <a:spAutoFit/>
            </a:bodyPr>
            <a:lstStyle/>
            <a:p>
              <a:pPr lvl="0" algn="ctr" eaLnBrk="1" hangingPunct="1">
                <a:spcBef>
                  <a:spcPct val="50000"/>
                </a:spcBef>
              </a:pPr>
              <a:r>
                <a:rPr lang="en-US" altLang="zh-CN" sz="1800" b="1" dirty="0">
                  <a:solidFill>
                    <a:srgbClr val="0000FF"/>
                  </a:solidFill>
                  <a:latin typeface="Times New Roman" panose="02020603050405020304" pitchFamily="18" charset="0"/>
                  <a:ea typeface="宋体" panose="02010600030101010101" pitchFamily="2" charset="-122"/>
                </a:rPr>
                <a:t>L</a:t>
              </a:r>
            </a:p>
          </p:txBody>
        </p:sp>
        <p:sp>
          <p:nvSpPr>
            <p:cNvPr id="129088" name="Line 113"/>
            <p:cNvSpPr/>
            <p:nvPr/>
          </p:nvSpPr>
          <p:spPr>
            <a:xfrm>
              <a:off x="1467" y="768"/>
              <a:ext cx="192" cy="96"/>
            </a:xfrm>
            <a:prstGeom prst="line">
              <a:avLst/>
            </a:prstGeom>
            <a:ln w="9525" cap="flat" cmpd="sng">
              <a:solidFill>
                <a:schemeClr val="accent1"/>
              </a:solidFill>
              <a:prstDash val="solid"/>
              <a:headEnd type="none" w="med" len="med"/>
              <a:tailEnd type="none" w="med" len="med"/>
            </a:ln>
          </p:spPr>
        </p:sp>
        <p:sp>
          <p:nvSpPr>
            <p:cNvPr id="129089" name="Line 114"/>
            <p:cNvSpPr/>
            <p:nvPr/>
          </p:nvSpPr>
          <p:spPr>
            <a:xfrm>
              <a:off x="1488" y="2352"/>
              <a:ext cx="144" cy="144"/>
            </a:xfrm>
            <a:prstGeom prst="line">
              <a:avLst/>
            </a:prstGeom>
            <a:ln w="12700" cap="flat" cmpd="sng">
              <a:solidFill>
                <a:schemeClr val="tx2"/>
              </a:solidFill>
              <a:prstDash val="solid"/>
              <a:headEnd type="none" w="med" len="med"/>
              <a:tailEnd type="none" w="med" len="med"/>
            </a:ln>
          </p:spPr>
        </p:sp>
        <p:sp>
          <p:nvSpPr>
            <p:cNvPr id="129090" name="Line 115"/>
            <p:cNvSpPr/>
            <p:nvPr/>
          </p:nvSpPr>
          <p:spPr>
            <a:xfrm flipH="1">
              <a:off x="1728" y="528"/>
              <a:ext cx="288" cy="144"/>
            </a:xfrm>
            <a:prstGeom prst="line">
              <a:avLst/>
            </a:prstGeom>
            <a:ln w="9525" cap="flat" cmpd="sng">
              <a:solidFill>
                <a:schemeClr val="accent1"/>
              </a:solidFill>
              <a:prstDash val="solid"/>
              <a:headEnd type="none" w="med" len="med"/>
              <a:tailEnd type="none" w="med" len="med"/>
            </a:ln>
          </p:spPr>
        </p:sp>
        <p:sp>
          <p:nvSpPr>
            <p:cNvPr id="129091" name="Line 116"/>
            <p:cNvSpPr/>
            <p:nvPr/>
          </p:nvSpPr>
          <p:spPr>
            <a:xfrm>
              <a:off x="1776" y="816"/>
              <a:ext cx="0" cy="240"/>
            </a:xfrm>
            <a:prstGeom prst="line">
              <a:avLst/>
            </a:prstGeom>
            <a:ln w="9525" cap="flat" cmpd="sng">
              <a:solidFill>
                <a:schemeClr val="accent1"/>
              </a:solidFill>
              <a:prstDash val="solid"/>
              <a:headEnd type="none" w="med" len="med"/>
              <a:tailEnd type="none" w="med" len="med"/>
            </a:ln>
          </p:spPr>
        </p:sp>
        <p:sp>
          <p:nvSpPr>
            <p:cNvPr id="129092" name="Text Box 117"/>
            <p:cNvSpPr txBox="1"/>
            <p:nvPr/>
          </p:nvSpPr>
          <p:spPr>
            <a:xfrm>
              <a:off x="3984" y="1181"/>
              <a:ext cx="672" cy="287"/>
            </a:xfrm>
            <a:prstGeom prst="rect">
              <a:avLst/>
            </a:prstGeom>
            <a:noFill/>
            <a:ln w="9525">
              <a:noFill/>
            </a:ln>
          </p:spPr>
          <p:txBody>
            <a:bodyPr>
              <a:spAutoFit/>
            </a:bodyPr>
            <a:lstStyle/>
            <a:p>
              <a:pPr lvl="0" algn="ctr" eaLnBrk="1" hangingPunct="1">
                <a:spcBef>
                  <a:spcPct val="50000"/>
                </a:spcBef>
              </a:pPr>
              <a:r>
                <a:rPr lang="en-US" altLang="zh-CN" sz="1800" b="1" dirty="0">
                  <a:solidFill>
                    <a:srgbClr val="0000FF"/>
                  </a:solidFill>
                  <a:latin typeface="Times New Roman" panose="02020603050405020304" pitchFamily="18" charset="0"/>
                  <a:ea typeface="宋体" panose="02010600030101010101" pitchFamily="2" charset="-122"/>
                </a:rPr>
                <a:t>L+ </a:t>
              </a:r>
              <a:r>
                <a:rPr lang="en-US" altLang="zh-CN" sz="1800" b="1" dirty="0">
                  <a:solidFill>
                    <a:srgbClr val="0000FF"/>
                  </a:solidFill>
                  <a:latin typeface="Times New Roman" panose="02020603050405020304" pitchFamily="18" charset="0"/>
                  <a:ea typeface="楷体_GB2312" pitchFamily="49" charset="-122"/>
                  <a:sym typeface="Symbol" panose="05050102010706020507" pitchFamily="18" charset="2"/>
                </a:rPr>
                <a:t>Fe</a:t>
              </a:r>
              <a:r>
                <a:rPr lang="en-US" altLang="zh-CN" sz="1800" b="1" baseline="-25000" dirty="0">
                  <a:solidFill>
                    <a:srgbClr val="0000FF"/>
                  </a:solidFill>
                  <a:latin typeface="Times New Roman" panose="02020603050405020304" pitchFamily="18" charset="0"/>
                  <a:ea typeface="楷体_GB2312" pitchFamily="49" charset="-122"/>
                  <a:sym typeface="Symbol" panose="05050102010706020507" pitchFamily="18" charset="2"/>
                </a:rPr>
                <a:t>3</a:t>
              </a:r>
              <a:r>
                <a:rPr lang="en-US" altLang="zh-CN" sz="1800" b="1" dirty="0">
                  <a:solidFill>
                    <a:srgbClr val="0000FF"/>
                  </a:solidFill>
                  <a:latin typeface="Times New Roman" panose="02020603050405020304" pitchFamily="18" charset="0"/>
                  <a:ea typeface="楷体_GB2312" pitchFamily="49" charset="-122"/>
                  <a:sym typeface="Symbol" panose="05050102010706020507" pitchFamily="18" charset="2"/>
                </a:rPr>
                <a:t>C</a:t>
              </a:r>
            </a:p>
          </p:txBody>
        </p:sp>
        <p:sp>
          <p:nvSpPr>
            <p:cNvPr id="129093" name="Text Box 118"/>
            <p:cNvSpPr txBox="1"/>
            <p:nvPr/>
          </p:nvSpPr>
          <p:spPr>
            <a:xfrm>
              <a:off x="3132" y="2237"/>
              <a:ext cx="1056" cy="288"/>
            </a:xfrm>
            <a:prstGeom prst="rect">
              <a:avLst/>
            </a:prstGeom>
            <a:noFill/>
            <a:ln w="9525">
              <a:noFill/>
            </a:ln>
          </p:spPr>
          <p:txBody>
            <a:bodyPr>
              <a:spAutoFit/>
            </a:bodyPr>
            <a:lstStyle/>
            <a:p>
              <a:pPr lvl="0" algn="ctr" eaLnBrk="1" hangingPunct="1">
                <a:spcBef>
                  <a:spcPct val="50000"/>
                </a:spcBef>
              </a:pPr>
              <a:r>
                <a:rPr lang="en-US" altLang="zh-CN" sz="2400" b="1" dirty="0">
                  <a:solidFill>
                    <a:schemeClr val="folHlink"/>
                  </a:solidFill>
                  <a:latin typeface="Times New Roman" panose="02020603050405020304" pitchFamily="18" charset="0"/>
                  <a:ea typeface="宋体" panose="02010600030101010101" pitchFamily="2" charset="-122"/>
                </a:rPr>
                <a:t>F+ </a:t>
              </a:r>
              <a:r>
                <a:rPr lang="en-US" altLang="zh-CN" sz="2400" b="1" dirty="0">
                  <a:solidFill>
                    <a:schemeClr val="folHlink"/>
                  </a:solidFill>
                  <a:latin typeface="Times New Roman" panose="02020603050405020304" pitchFamily="18" charset="0"/>
                  <a:ea typeface="楷体_GB2312" pitchFamily="49" charset="-122"/>
                  <a:sym typeface="Symbol" panose="05050102010706020507" pitchFamily="18" charset="2"/>
                </a:rPr>
                <a:t>Fe</a:t>
              </a:r>
              <a:r>
                <a:rPr lang="en-US" altLang="zh-CN" sz="2400" b="1" baseline="-25000" dirty="0">
                  <a:solidFill>
                    <a:schemeClr val="folHlink"/>
                  </a:solidFill>
                  <a:latin typeface="Times New Roman" panose="02020603050405020304" pitchFamily="18" charset="0"/>
                  <a:ea typeface="楷体_GB2312" pitchFamily="49" charset="-122"/>
                  <a:sym typeface="Symbol" panose="05050102010706020507" pitchFamily="18" charset="2"/>
                </a:rPr>
                <a:t>3</a:t>
              </a:r>
              <a:r>
                <a:rPr lang="en-US" altLang="zh-CN" sz="2400" b="1" dirty="0">
                  <a:solidFill>
                    <a:schemeClr val="folHlink"/>
                  </a:solidFill>
                  <a:latin typeface="Times New Roman" panose="02020603050405020304" pitchFamily="18" charset="0"/>
                  <a:ea typeface="楷体_GB2312" pitchFamily="49" charset="-122"/>
                  <a:sym typeface="Symbol" panose="05050102010706020507" pitchFamily="18" charset="2"/>
                </a:rPr>
                <a:t>C</a:t>
              </a:r>
            </a:p>
          </p:txBody>
        </p:sp>
        <p:sp>
          <p:nvSpPr>
            <p:cNvPr id="129094" name="Line 119"/>
            <p:cNvSpPr/>
            <p:nvPr/>
          </p:nvSpPr>
          <p:spPr>
            <a:xfrm>
              <a:off x="1693" y="2304"/>
              <a:ext cx="0" cy="816"/>
            </a:xfrm>
            <a:prstGeom prst="line">
              <a:avLst/>
            </a:prstGeom>
            <a:ln w="9525" cap="flat" cmpd="sng">
              <a:solidFill>
                <a:schemeClr val="tx1"/>
              </a:solidFill>
              <a:prstDash val="dash"/>
              <a:headEnd type="none" w="med" len="med"/>
              <a:tailEnd type="none" w="med" len="med"/>
            </a:ln>
          </p:spPr>
        </p:sp>
        <p:sp>
          <p:nvSpPr>
            <p:cNvPr id="129095" name="Line 120"/>
            <p:cNvSpPr/>
            <p:nvPr/>
          </p:nvSpPr>
          <p:spPr>
            <a:xfrm>
              <a:off x="2256" y="2304"/>
              <a:ext cx="0" cy="816"/>
            </a:xfrm>
            <a:prstGeom prst="line">
              <a:avLst/>
            </a:prstGeom>
            <a:ln w="9525" cap="flat" cmpd="sng">
              <a:solidFill>
                <a:schemeClr val="tx1"/>
              </a:solidFill>
              <a:prstDash val="dash"/>
              <a:headEnd type="none" w="med" len="med"/>
              <a:tailEnd type="none" w="med" len="med"/>
            </a:ln>
          </p:spPr>
        </p:sp>
        <p:sp>
          <p:nvSpPr>
            <p:cNvPr id="129096" name="Line 121"/>
            <p:cNvSpPr/>
            <p:nvPr/>
          </p:nvSpPr>
          <p:spPr>
            <a:xfrm>
              <a:off x="2736" y="1488"/>
              <a:ext cx="0" cy="1632"/>
            </a:xfrm>
            <a:prstGeom prst="line">
              <a:avLst/>
            </a:prstGeom>
            <a:ln w="9525" cap="flat" cmpd="sng">
              <a:solidFill>
                <a:schemeClr val="tx1"/>
              </a:solidFill>
              <a:prstDash val="dash"/>
              <a:headEnd type="none" w="med" len="med"/>
              <a:tailEnd type="none" w="med" len="med"/>
            </a:ln>
          </p:spPr>
        </p:sp>
        <p:sp>
          <p:nvSpPr>
            <p:cNvPr id="129097" name="Line 122"/>
            <p:cNvSpPr/>
            <p:nvPr/>
          </p:nvSpPr>
          <p:spPr>
            <a:xfrm>
              <a:off x="3648" y="1488"/>
              <a:ext cx="0" cy="1632"/>
            </a:xfrm>
            <a:prstGeom prst="line">
              <a:avLst/>
            </a:prstGeom>
            <a:ln w="9525" cap="flat" cmpd="sng">
              <a:solidFill>
                <a:schemeClr val="tx1"/>
              </a:solidFill>
              <a:prstDash val="dash"/>
              <a:headEnd type="none" w="med" len="med"/>
              <a:tailEnd type="none" w="med" len="med"/>
            </a:ln>
          </p:spPr>
        </p:sp>
        <p:sp>
          <p:nvSpPr>
            <p:cNvPr id="129098" name="Text Box 123"/>
            <p:cNvSpPr txBox="1"/>
            <p:nvPr/>
          </p:nvSpPr>
          <p:spPr>
            <a:xfrm>
              <a:off x="2291" y="1836"/>
              <a:ext cx="528" cy="502"/>
            </a:xfrm>
            <a:prstGeom prst="rect">
              <a:avLst/>
            </a:prstGeom>
            <a:noFill/>
            <a:ln w="9525">
              <a:noFill/>
            </a:ln>
          </p:spPr>
          <p:txBody>
            <a:bodyPr>
              <a:spAutoFit/>
            </a:bodyPr>
            <a:lstStyle/>
            <a:p>
              <a:pPr lvl="0" algn="ctr" eaLnBrk="1" hangingPunct="1">
                <a:spcBef>
                  <a:spcPct val="50000"/>
                </a:spcBef>
              </a:pPr>
              <a:r>
                <a:rPr lang="en-US" altLang="zh-CN" sz="1800" b="1" dirty="0">
                  <a:solidFill>
                    <a:srgbClr val="0000FF"/>
                  </a:solidFill>
                  <a:latin typeface="Times New Roman" panose="02020603050405020304" pitchFamily="18" charset="0"/>
                  <a:ea typeface="宋体" panose="02010600030101010101" pitchFamily="2" charset="-122"/>
                </a:rPr>
                <a:t>A+ </a:t>
              </a:r>
              <a:r>
                <a:rPr lang="en-US" altLang="zh-CN" sz="1800" b="1" dirty="0">
                  <a:solidFill>
                    <a:srgbClr val="0000FF"/>
                  </a:solidFill>
                  <a:latin typeface="Times New Roman" panose="02020603050405020304" pitchFamily="18" charset="0"/>
                  <a:ea typeface="楷体_GB2312" pitchFamily="49" charset="-122"/>
                  <a:sym typeface="Symbol" panose="05050102010706020507" pitchFamily="18" charset="2"/>
                </a:rPr>
                <a:t>Fe</a:t>
              </a:r>
              <a:r>
                <a:rPr lang="en-US" altLang="zh-CN" sz="1800" b="1" baseline="-25000" dirty="0">
                  <a:solidFill>
                    <a:srgbClr val="0000FF"/>
                  </a:solidFill>
                  <a:latin typeface="Times New Roman" panose="02020603050405020304" pitchFamily="18" charset="0"/>
                  <a:ea typeface="楷体_GB2312" pitchFamily="49" charset="-122"/>
                  <a:sym typeface="Symbol" panose="05050102010706020507" pitchFamily="18" charset="2"/>
                </a:rPr>
                <a:t>3</a:t>
              </a:r>
              <a:r>
                <a:rPr lang="en-US" altLang="zh-CN" sz="1800" b="1" dirty="0">
                  <a:solidFill>
                    <a:srgbClr val="0000FF"/>
                  </a:solidFill>
                  <a:latin typeface="Times New Roman" panose="02020603050405020304" pitchFamily="18" charset="0"/>
                  <a:ea typeface="楷体_GB2312" pitchFamily="49" charset="-122"/>
                  <a:sym typeface="Symbol" panose="05050102010706020507" pitchFamily="18" charset="2"/>
                </a:rPr>
                <a:t>C</a:t>
              </a:r>
              <a:r>
                <a:rPr lang="en-US" altLang="zh-CN" sz="1800" b="1" baseline="-25000" dirty="0">
                  <a:solidFill>
                    <a:srgbClr val="0000FF"/>
                  </a:solidFill>
                  <a:latin typeface="Times New Roman" panose="02020603050405020304" pitchFamily="18" charset="0"/>
                  <a:ea typeface="楷体_GB2312" pitchFamily="49" charset="-122"/>
                  <a:sym typeface="Symbol" panose="05050102010706020507" pitchFamily="18" charset="2"/>
                </a:rPr>
                <a:t>Ⅱ</a:t>
              </a:r>
              <a:endParaRPr lang="en-US" altLang="zh-CN" sz="1800" b="1" dirty="0">
                <a:solidFill>
                  <a:srgbClr val="0000FF"/>
                </a:solidFill>
                <a:latin typeface="Times New Roman" panose="02020603050405020304" pitchFamily="18" charset="0"/>
                <a:ea typeface="楷体_GB2312" pitchFamily="49" charset="-122"/>
                <a:sym typeface="Symbol" panose="05050102010706020507" pitchFamily="18" charset="2"/>
              </a:endParaRPr>
            </a:p>
          </p:txBody>
        </p:sp>
        <p:sp>
          <p:nvSpPr>
            <p:cNvPr id="129099" name="Text Box 124"/>
            <p:cNvSpPr txBox="1"/>
            <p:nvPr/>
          </p:nvSpPr>
          <p:spPr>
            <a:xfrm>
              <a:off x="2565" y="1821"/>
              <a:ext cx="1152" cy="287"/>
            </a:xfrm>
            <a:prstGeom prst="rect">
              <a:avLst/>
            </a:prstGeom>
            <a:noFill/>
            <a:ln w="9525">
              <a:noFill/>
            </a:ln>
          </p:spPr>
          <p:txBody>
            <a:bodyPr>
              <a:spAutoFit/>
            </a:bodyPr>
            <a:lstStyle/>
            <a:p>
              <a:pPr lvl="0" algn="ctr" eaLnBrk="1" hangingPunct="1">
                <a:spcBef>
                  <a:spcPct val="50000"/>
                </a:spcBef>
              </a:pPr>
              <a:r>
                <a:rPr lang="en-US" altLang="zh-CN" sz="1800" b="1" dirty="0">
                  <a:solidFill>
                    <a:srgbClr val="0000FF"/>
                  </a:solidFill>
                  <a:latin typeface="Times New Roman" panose="02020603050405020304" pitchFamily="18" charset="0"/>
                  <a:ea typeface="宋体" panose="02010600030101010101" pitchFamily="2" charset="-122"/>
                </a:rPr>
                <a:t>A+ </a:t>
              </a:r>
              <a:r>
                <a:rPr lang="en-US" altLang="zh-CN" sz="1800" b="1" dirty="0">
                  <a:solidFill>
                    <a:srgbClr val="0000FF"/>
                  </a:solidFill>
                  <a:latin typeface="Times New Roman" panose="02020603050405020304" pitchFamily="18" charset="0"/>
                  <a:ea typeface="楷体_GB2312" pitchFamily="49" charset="-122"/>
                  <a:sym typeface="Symbol" panose="05050102010706020507" pitchFamily="18" charset="2"/>
                </a:rPr>
                <a:t>Fe</a:t>
              </a:r>
              <a:r>
                <a:rPr lang="en-US" altLang="zh-CN" sz="1800" b="1" baseline="-25000" dirty="0">
                  <a:solidFill>
                    <a:srgbClr val="0000FF"/>
                  </a:solidFill>
                  <a:latin typeface="Times New Roman" panose="02020603050405020304" pitchFamily="18" charset="0"/>
                  <a:ea typeface="楷体_GB2312" pitchFamily="49" charset="-122"/>
                  <a:sym typeface="Symbol" panose="05050102010706020507" pitchFamily="18" charset="2"/>
                </a:rPr>
                <a:t>3</a:t>
              </a:r>
              <a:r>
                <a:rPr lang="en-US" altLang="zh-CN" sz="1800" b="1" dirty="0">
                  <a:solidFill>
                    <a:srgbClr val="0000FF"/>
                  </a:solidFill>
                  <a:latin typeface="Times New Roman" panose="02020603050405020304" pitchFamily="18" charset="0"/>
                  <a:ea typeface="楷体_GB2312" pitchFamily="49" charset="-122"/>
                  <a:sym typeface="Symbol" panose="05050102010706020507" pitchFamily="18" charset="2"/>
                </a:rPr>
                <a:t>C</a:t>
              </a:r>
              <a:r>
                <a:rPr lang="en-US" altLang="zh-CN" sz="1800" b="1" baseline="-25000" dirty="0">
                  <a:solidFill>
                    <a:srgbClr val="0000FF"/>
                  </a:solidFill>
                  <a:latin typeface="Times New Roman" panose="02020603050405020304" pitchFamily="18" charset="0"/>
                  <a:ea typeface="楷体_GB2312" pitchFamily="49" charset="-122"/>
                  <a:sym typeface="Symbol" panose="05050102010706020507" pitchFamily="18" charset="2"/>
                </a:rPr>
                <a:t>Ⅱ</a:t>
              </a:r>
              <a:r>
                <a:rPr lang="en-US" altLang="zh-CN" sz="1800" b="1" dirty="0">
                  <a:solidFill>
                    <a:srgbClr val="0000FF"/>
                  </a:solidFill>
                  <a:latin typeface="Times New Roman" panose="02020603050405020304" pitchFamily="18" charset="0"/>
                  <a:ea typeface="楷体_GB2312" pitchFamily="49" charset="-122"/>
                  <a:sym typeface="Symbol" panose="05050102010706020507" pitchFamily="18" charset="2"/>
                </a:rPr>
                <a:t>+Le</a:t>
              </a:r>
            </a:p>
          </p:txBody>
        </p:sp>
        <p:sp>
          <p:nvSpPr>
            <p:cNvPr id="129100" name="Rectangle 125"/>
            <p:cNvSpPr/>
            <p:nvPr/>
          </p:nvSpPr>
          <p:spPr>
            <a:xfrm>
              <a:off x="3511" y="1874"/>
              <a:ext cx="336" cy="288"/>
            </a:xfrm>
            <a:prstGeom prst="rect">
              <a:avLst/>
            </a:prstGeom>
            <a:solidFill>
              <a:srgbClr val="000080"/>
            </a:solidFill>
            <a:ln w="9525">
              <a:noFill/>
            </a:ln>
          </p:spPr>
          <p:txBody>
            <a:bodyPr wrap="none" anchor="ctr"/>
            <a:lstStyle/>
            <a:p>
              <a:pPr lvl="0" algn="ctr" eaLnBrk="1" hangingPunct="1"/>
              <a:r>
                <a:rPr lang="en-US" altLang="zh-CN" sz="1800" b="1" dirty="0">
                  <a:solidFill>
                    <a:schemeClr val="accent1"/>
                  </a:solidFill>
                  <a:latin typeface="Times New Roman" panose="02020603050405020304" pitchFamily="18" charset="0"/>
                  <a:ea typeface="宋体" panose="02010600030101010101" pitchFamily="2" charset="-122"/>
                </a:rPr>
                <a:t>Le</a:t>
              </a:r>
            </a:p>
          </p:txBody>
        </p:sp>
        <p:sp>
          <p:nvSpPr>
            <p:cNvPr id="129101" name="Text Box 126"/>
            <p:cNvSpPr txBox="1"/>
            <p:nvPr/>
          </p:nvSpPr>
          <p:spPr>
            <a:xfrm>
              <a:off x="3748" y="1792"/>
              <a:ext cx="1008" cy="287"/>
            </a:xfrm>
            <a:prstGeom prst="rect">
              <a:avLst/>
            </a:prstGeom>
            <a:noFill/>
            <a:ln w="9525">
              <a:noFill/>
            </a:ln>
          </p:spPr>
          <p:txBody>
            <a:bodyPr>
              <a:spAutoFit/>
            </a:bodyPr>
            <a:lstStyle/>
            <a:p>
              <a:pPr lvl="0" algn="ctr" eaLnBrk="1" hangingPunct="1">
                <a:spcBef>
                  <a:spcPct val="50000"/>
                </a:spcBef>
              </a:pPr>
              <a:r>
                <a:rPr lang="en-US" altLang="zh-CN" sz="1800" b="1" dirty="0">
                  <a:solidFill>
                    <a:srgbClr val="0000FF"/>
                  </a:solidFill>
                  <a:latin typeface="Times New Roman" panose="02020603050405020304" pitchFamily="18" charset="0"/>
                  <a:ea typeface="楷体_GB2312" pitchFamily="49" charset="-122"/>
                  <a:sym typeface="Symbol" panose="05050102010706020507" pitchFamily="18" charset="2"/>
                </a:rPr>
                <a:t>Le</a:t>
              </a:r>
              <a:r>
                <a:rPr lang="en-US" altLang="zh-CN" sz="1800" b="1" dirty="0">
                  <a:solidFill>
                    <a:srgbClr val="0000FF"/>
                  </a:solidFill>
                  <a:latin typeface="Times New Roman" panose="02020603050405020304" pitchFamily="18" charset="0"/>
                  <a:ea typeface="宋体" panose="02010600030101010101" pitchFamily="2" charset="-122"/>
                </a:rPr>
                <a:t>+ </a:t>
              </a:r>
              <a:r>
                <a:rPr lang="en-US" altLang="zh-CN" sz="1800" b="1" dirty="0">
                  <a:solidFill>
                    <a:srgbClr val="0000FF"/>
                  </a:solidFill>
                  <a:latin typeface="Times New Roman" panose="02020603050405020304" pitchFamily="18" charset="0"/>
                  <a:ea typeface="楷体_GB2312" pitchFamily="49" charset="-122"/>
                  <a:sym typeface="Symbol" panose="05050102010706020507" pitchFamily="18" charset="2"/>
                </a:rPr>
                <a:t>Fe</a:t>
              </a:r>
              <a:r>
                <a:rPr lang="en-US" altLang="zh-CN" sz="1800" b="1" baseline="-25000" dirty="0">
                  <a:solidFill>
                    <a:srgbClr val="0000FF"/>
                  </a:solidFill>
                  <a:latin typeface="Times New Roman" panose="02020603050405020304" pitchFamily="18" charset="0"/>
                  <a:ea typeface="楷体_GB2312" pitchFamily="49" charset="-122"/>
                  <a:sym typeface="Symbol" panose="05050102010706020507" pitchFamily="18" charset="2"/>
                </a:rPr>
                <a:t>3</a:t>
              </a:r>
              <a:r>
                <a:rPr lang="en-US" altLang="zh-CN" sz="1800" b="1" dirty="0">
                  <a:solidFill>
                    <a:srgbClr val="0000FF"/>
                  </a:solidFill>
                  <a:latin typeface="Times New Roman" panose="02020603050405020304" pitchFamily="18" charset="0"/>
                  <a:ea typeface="楷体_GB2312" pitchFamily="49" charset="-122"/>
                  <a:sym typeface="Symbol" panose="05050102010706020507" pitchFamily="18" charset="2"/>
                </a:rPr>
                <a:t>C</a:t>
              </a:r>
              <a:r>
                <a:rPr lang="en-US" altLang="zh-CN" sz="1800" b="1" baseline="-25000" dirty="0">
                  <a:solidFill>
                    <a:srgbClr val="0000FF"/>
                  </a:solidFill>
                  <a:latin typeface="Times New Roman" panose="02020603050405020304" pitchFamily="18" charset="0"/>
                  <a:ea typeface="楷体_GB2312" pitchFamily="49" charset="-122"/>
                  <a:sym typeface="Symbol" panose="05050102010706020507" pitchFamily="18" charset="2"/>
                </a:rPr>
                <a:t>Ⅰ</a:t>
              </a:r>
              <a:endParaRPr lang="en-US" altLang="zh-CN" sz="1800" b="1" dirty="0">
                <a:solidFill>
                  <a:srgbClr val="0000FF"/>
                </a:solidFill>
                <a:latin typeface="Times New Roman" panose="02020603050405020304" pitchFamily="18" charset="0"/>
                <a:ea typeface="楷体_GB2312" pitchFamily="49" charset="-122"/>
                <a:sym typeface="Symbol" panose="05050102010706020507" pitchFamily="18" charset="2"/>
              </a:endParaRPr>
            </a:p>
          </p:txBody>
        </p:sp>
        <p:sp>
          <p:nvSpPr>
            <p:cNvPr id="129102" name="Text Box 127"/>
            <p:cNvSpPr txBox="1"/>
            <p:nvPr/>
          </p:nvSpPr>
          <p:spPr>
            <a:xfrm>
              <a:off x="3721" y="2560"/>
              <a:ext cx="1008" cy="287"/>
            </a:xfrm>
            <a:prstGeom prst="rect">
              <a:avLst/>
            </a:prstGeom>
            <a:noFill/>
            <a:ln w="9525">
              <a:noFill/>
            </a:ln>
          </p:spPr>
          <p:txBody>
            <a:bodyPr>
              <a:spAutoFit/>
            </a:bodyPr>
            <a:lstStyle/>
            <a:p>
              <a:pPr lvl="0" algn="ctr" eaLnBrk="1" hangingPunct="1">
                <a:spcBef>
                  <a:spcPct val="50000"/>
                </a:spcBef>
              </a:pPr>
              <a:r>
                <a:rPr lang="en-US" altLang="zh-CN" sz="1800" b="1" dirty="0">
                  <a:solidFill>
                    <a:srgbClr val="0000FF"/>
                  </a:solidFill>
                  <a:latin typeface="Times New Roman" panose="02020603050405020304" pitchFamily="18" charset="0"/>
                  <a:ea typeface="楷体_GB2312" pitchFamily="49" charset="-122"/>
                  <a:sym typeface="Symbol" panose="05050102010706020507" pitchFamily="18" charset="2"/>
                </a:rPr>
                <a:t>Le’</a:t>
              </a:r>
              <a:r>
                <a:rPr lang="en-US" altLang="zh-CN" sz="1800" b="1" dirty="0">
                  <a:solidFill>
                    <a:srgbClr val="0000FF"/>
                  </a:solidFill>
                  <a:latin typeface="Times New Roman" panose="02020603050405020304" pitchFamily="18" charset="0"/>
                  <a:ea typeface="宋体" panose="02010600030101010101" pitchFamily="2" charset="-122"/>
                </a:rPr>
                <a:t>+ </a:t>
              </a:r>
              <a:r>
                <a:rPr lang="en-US" altLang="zh-CN" sz="1800" b="1" dirty="0">
                  <a:solidFill>
                    <a:srgbClr val="0000FF"/>
                  </a:solidFill>
                  <a:latin typeface="Times New Roman" panose="02020603050405020304" pitchFamily="18" charset="0"/>
                  <a:ea typeface="楷体_GB2312" pitchFamily="49" charset="-122"/>
                  <a:sym typeface="Symbol" panose="05050102010706020507" pitchFamily="18" charset="2"/>
                </a:rPr>
                <a:t>Fe</a:t>
              </a:r>
              <a:r>
                <a:rPr lang="en-US" altLang="zh-CN" sz="1800" b="1" baseline="-25000" dirty="0">
                  <a:solidFill>
                    <a:srgbClr val="0000FF"/>
                  </a:solidFill>
                  <a:latin typeface="Times New Roman" panose="02020603050405020304" pitchFamily="18" charset="0"/>
                  <a:ea typeface="楷体_GB2312" pitchFamily="49" charset="-122"/>
                  <a:sym typeface="Symbol" panose="05050102010706020507" pitchFamily="18" charset="2"/>
                </a:rPr>
                <a:t>3</a:t>
              </a:r>
              <a:r>
                <a:rPr lang="en-US" altLang="zh-CN" sz="1800" b="1" dirty="0">
                  <a:solidFill>
                    <a:srgbClr val="0000FF"/>
                  </a:solidFill>
                  <a:latin typeface="Times New Roman" panose="02020603050405020304" pitchFamily="18" charset="0"/>
                  <a:ea typeface="楷体_GB2312" pitchFamily="49" charset="-122"/>
                  <a:sym typeface="Symbol" panose="05050102010706020507" pitchFamily="18" charset="2"/>
                </a:rPr>
                <a:t>C</a:t>
              </a:r>
              <a:r>
                <a:rPr lang="en-US" altLang="zh-CN" sz="1800" b="1" baseline="-25000" dirty="0">
                  <a:solidFill>
                    <a:srgbClr val="0000FF"/>
                  </a:solidFill>
                  <a:latin typeface="Times New Roman" panose="02020603050405020304" pitchFamily="18" charset="0"/>
                  <a:ea typeface="楷体_GB2312" pitchFamily="49" charset="-122"/>
                  <a:sym typeface="Symbol" panose="05050102010706020507" pitchFamily="18" charset="2"/>
                </a:rPr>
                <a:t>Ⅰ</a:t>
              </a:r>
              <a:endParaRPr lang="en-US" altLang="zh-CN" sz="1800" b="1" dirty="0">
                <a:solidFill>
                  <a:srgbClr val="0000FF"/>
                </a:solidFill>
                <a:latin typeface="Times New Roman" panose="02020603050405020304" pitchFamily="18" charset="0"/>
                <a:ea typeface="楷体_GB2312" pitchFamily="49" charset="-122"/>
                <a:sym typeface="Symbol" panose="05050102010706020507" pitchFamily="18" charset="2"/>
              </a:endParaRPr>
            </a:p>
          </p:txBody>
        </p:sp>
        <p:sp>
          <p:nvSpPr>
            <p:cNvPr id="129103" name="Rectangle 128"/>
            <p:cNvSpPr/>
            <p:nvPr/>
          </p:nvSpPr>
          <p:spPr>
            <a:xfrm>
              <a:off x="3521" y="2592"/>
              <a:ext cx="336" cy="288"/>
            </a:xfrm>
            <a:prstGeom prst="rect">
              <a:avLst/>
            </a:prstGeom>
            <a:solidFill>
              <a:srgbClr val="000080"/>
            </a:solidFill>
            <a:ln w="9525">
              <a:noFill/>
            </a:ln>
          </p:spPr>
          <p:txBody>
            <a:bodyPr wrap="none" anchor="ctr"/>
            <a:lstStyle/>
            <a:p>
              <a:pPr lvl="0" algn="ctr" eaLnBrk="1" hangingPunct="1"/>
              <a:r>
                <a:rPr lang="en-US" altLang="zh-CN" sz="1800" b="1" dirty="0">
                  <a:solidFill>
                    <a:schemeClr val="accent1"/>
                  </a:solidFill>
                  <a:latin typeface="Times New Roman" panose="02020603050405020304" pitchFamily="18" charset="0"/>
                  <a:ea typeface="宋体" panose="02010600030101010101" pitchFamily="2" charset="-122"/>
                </a:rPr>
                <a:t>Le’</a:t>
              </a:r>
            </a:p>
          </p:txBody>
        </p:sp>
        <p:sp>
          <p:nvSpPr>
            <p:cNvPr id="129104" name="Text Box 129"/>
            <p:cNvSpPr txBox="1"/>
            <p:nvPr/>
          </p:nvSpPr>
          <p:spPr>
            <a:xfrm>
              <a:off x="2565" y="2708"/>
              <a:ext cx="1152" cy="287"/>
            </a:xfrm>
            <a:prstGeom prst="rect">
              <a:avLst/>
            </a:prstGeom>
            <a:noFill/>
            <a:ln w="9525">
              <a:noFill/>
            </a:ln>
          </p:spPr>
          <p:txBody>
            <a:bodyPr>
              <a:spAutoFit/>
            </a:bodyPr>
            <a:lstStyle/>
            <a:p>
              <a:pPr lvl="0" algn="ctr" eaLnBrk="1" hangingPunct="1">
                <a:spcBef>
                  <a:spcPct val="50000"/>
                </a:spcBef>
              </a:pPr>
              <a:r>
                <a:rPr lang="en-US" altLang="zh-CN" sz="1800" b="1" dirty="0">
                  <a:solidFill>
                    <a:srgbClr val="0000FF"/>
                  </a:solidFill>
                  <a:latin typeface="Times New Roman" panose="02020603050405020304" pitchFamily="18" charset="0"/>
                  <a:ea typeface="宋体" panose="02010600030101010101" pitchFamily="2" charset="-122"/>
                </a:rPr>
                <a:t>P+ </a:t>
              </a:r>
              <a:r>
                <a:rPr lang="en-US" altLang="zh-CN" sz="1800" b="1" dirty="0">
                  <a:solidFill>
                    <a:srgbClr val="0000FF"/>
                  </a:solidFill>
                  <a:latin typeface="Times New Roman" panose="02020603050405020304" pitchFamily="18" charset="0"/>
                  <a:ea typeface="楷体_GB2312" pitchFamily="49" charset="-122"/>
                  <a:sym typeface="Symbol" panose="05050102010706020507" pitchFamily="18" charset="2"/>
                </a:rPr>
                <a:t>Fe</a:t>
              </a:r>
              <a:r>
                <a:rPr lang="en-US" altLang="zh-CN" sz="1800" b="1" baseline="-25000" dirty="0">
                  <a:solidFill>
                    <a:srgbClr val="0000FF"/>
                  </a:solidFill>
                  <a:latin typeface="Times New Roman" panose="02020603050405020304" pitchFamily="18" charset="0"/>
                  <a:ea typeface="楷体_GB2312" pitchFamily="49" charset="-122"/>
                  <a:sym typeface="Symbol" panose="05050102010706020507" pitchFamily="18" charset="2"/>
                </a:rPr>
                <a:t>3</a:t>
              </a:r>
              <a:r>
                <a:rPr lang="en-US" altLang="zh-CN" sz="1800" b="1" dirty="0">
                  <a:solidFill>
                    <a:srgbClr val="0000FF"/>
                  </a:solidFill>
                  <a:latin typeface="Times New Roman" panose="02020603050405020304" pitchFamily="18" charset="0"/>
                  <a:ea typeface="楷体_GB2312" pitchFamily="49" charset="-122"/>
                  <a:sym typeface="Symbol" panose="05050102010706020507" pitchFamily="18" charset="2"/>
                </a:rPr>
                <a:t>C</a:t>
              </a:r>
              <a:r>
                <a:rPr lang="en-US" altLang="zh-CN" sz="1800" b="1" baseline="-25000" dirty="0">
                  <a:solidFill>
                    <a:srgbClr val="0000FF"/>
                  </a:solidFill>
                  <a:latin typeface="Times New Roman" panose="02020603050405020304" pitchFamily="18" charset="0"/>
                  <a:ea typeface="楷体_GB2312" pitchFamily="49" charset="-122"/>
                  <a:sym typeface="Symbol" panose="05050102010706020507" pitchFamily="18" charset="2"/>
                </a:rPr>
                <a:t>Ⅱ</a:t>
              </a:r>
              <a:r>
                <a:rPr lang="en-US" altLang="zh-CN" sz="1800" b="1" dirty="0">
                  <a:solidFill>
                    <a:srgbClr val="0000FF"/>
                  </a:solidFill>
                  <a:latin typeface="Times New Roman" panose="02020603050405020304" pitchFamily="18" charset="0"/>
                  <a:ea typeface="楷体_GB2312" pitchFamily="49" charset="-122"/>
                  <a:sym typeface="Symbol" panose="05050102010706020507" pitchFamily="18" charset="2"/>
                </a:rPr>
                <a:t>+Le’</a:t>
              </a:r>
            </a:p>
          </p:txBody>
        </p:sp>
        <p:sp>
          <p:nvSpPr>
            <p:cNvPr id="129105" name="Text Box 130"/>
            <p:cNvSpPr txBox="1"/>
            <p:nvPr/>
          </p:nvSpPr>
          <p:spPr>
            <a:xfrm>
              <a:off x="2189" y="2675"/>
              <a:ext cx="632" cy="370"/>
            </a:xfrm>
            <a:prstGeom prst="rect">
              <a:avLst/>
            </a:prstGeom>
            <a:noFill/>
            <a:ln w="9525">
              <a:noFill/>
            </a:ln>
          </p:spPr>
          <p:txBody>
            <a:bodyPr wrap="square">
              <a:spAutoFit/>
            </a:bodyPr>
            <a:lstStyle/>
            <a:p>
              <a:pPr lvl="0" algn="ctr" eaLnBrk="1" hangingPunct="1">
                <a:spcBef>
                  <a:spcPct val="50000"/>
                </a:spcBef>
              </a:pPr>
              <a:r>
                <a:rPr lang="en-US" altLang="zh-CN" sz="1800" b="1" dirty="0">
                  <a:solidFill>
                    <a:srgbClr val="0000FF"/>
                  </a:solidFill>
                  <a:latin typeface="Times New Roman" panose="02020603050405020304" pitchFamily="18" charset="0"/>
                  <a:ea typeface="宋体" panose="02010600030101010101" pitchFamily="2" charset="-122"/>
                </a:rPr>
                <a:t>P+ </a:t>
              </a:r>
              <a:r>
                <a:rPr lang="en-US" altLang="zh-CN" sz="1800" b="1" dirty="0">
                  <a:solidFill>
                    <a:srgbClr val="0000FF"/>
                  </a:solidFill>
                  <a:latin typeface="Times New Roman" panose="02020603050405020304" pitchFamily="18" charset="0"/>
                  <a:ea typeface="楷体_GB2312" pitchFamily="49" charset="-122"/>
                  <a:sym typeface="Symbol" panose="05050102010706020507" pitchFamily="18" charset="2"/>
                </a:rPr>
                <a:t>Fe</a:t>
              </a:r>
              <a:r>
                <a:rPr lang="en-US" altLang="zh-CN" sz="1800" b="1" baseline="-25000" dirty="0">
                  <a:solidFill>
                    <a:srgbClr val="0000FF"/>
                  </a:solidFill>
                  <a:latin typeface="Times New Roman" panose="02020603050405020304" pitchFamily="18" charset="0"/>
                  <a:ea typeface="楷体_GB2312" pitchFamily="49" charset="-122"/>
                  <a:sym typeface="Symbol" panose="05050102010706020507" pitchFamily="18" charset="2"/>
                </a:rPr>
                <a:t>3</a:t>
              </a:r>
              <a:r>
                <a:rPr lang="en-US" altLang="zh-CN" sz="1800" b="1" dirty="0">
                  <a:solidFill>
                    <a:srgbClr val="0000FF"/>
                  </a:solidFill>
                  <a:latin typeface="Times New Roman" panose="02020603050405020304" pitchFamily="18" charset="0"/>
                  <a:ea typeface="楷体_GB2312" pitchFamily="49" charset="-122"/>
                  <a:sym typeface="Symbol" panose="05050102010706020507" pitchFamily="18" charset="2"/>
                </a:rPr>
                <a:t>C</a:t>
              </a:r>
              <a:r>
                <a:rPr lang="en-US" altLang="zh-CN" sz="1800" b="1" baseline="-25000" dirty="0">
                  <a:solidFill>
                    <a:srgbClr val="0000FF"/>
                  </a:solidFill>
                  <a:latin typeface="Times New Roman" panose="02020603050405020304" pitchFamily="18" charset="0"/>
                  <a:ea typeface="楷体_GB2312" pitchFamily="49" charset="-122"/>
                  <a:sym typeface="Symbol" panose="05050102010706020507" pitchFamily="18" charset="2"/>
                </a:rPr>
                <a:t>Ⅱ</a:t>
              </a:r>
              <a:endParaRPr lang="en-US" altLang="zh-CN" sz="1800" b="1" dirty="0">
                <a:solidFill>
                  <a:srgbClr val="0000FF"/>
                </a:solidFill>
                <a:latin typeface="Times New Roman" panose="02020603050405020304" pitchFamily="18" charset="0"/>
                <a:ea typeface="楷体_GB2312" pitchFamily="49" charset="-122"/>
                <a:sym typeface="Symbol" panose="05050102010706020507" pitchFamily="18" charset="2"/>
              </a:endParaRPr>
            </a:p>
          </p:txBody>
        </p:sp>
        <p:sp>
          <p:nvSpPr>
            <p:cNvPr id="129106" name="Text Box 131"/>
            <p:cNvSpPr txBox="1"/>
            <p:nvPr/>
          </p:nvSpPr>
          <p:spPr>
            <a:xfrm>
              <a:off x="1728" y="2784"/>
              <a:ext cx="528" cy="310"/>
            </a:xfrm>
            <a:prstGeom prst="rect">
              <a:avLst/>
            </a:prstGeom>
            <a:noFill/>
            <a:ln w="9525">
              <a:noFill/>
            </a:ln>
          </p:spPr>
          <p:txBody>
            <a:bodyPr>
              <a:spAutoFit/>
            </a:bodyPr>
            <a:lstStyle/>
            <a:p>
              <a:pPr lvl="0" algn="ctr" eaLnBrk="1" hangingPunct="1">
                <a:spcBef>
                  <a:spcPct val="50000"/>
                </a:spcBef>
              </a:pPr>
              <a:r>
                <a:rPr lang="en-US" altLang="zh-CN" sz="2000" b="1" dirty="0">
                  <a:solidFill>
                    <a:srgbClr val="0000FF"/>
                  </a:solidFill>
                  <a:latin typeface="Times New Roman" panose="02020603050405020304" pitchFamily="18" charset="0"/>
                  <a:ea typeface="宋体" panose="02010600030101010101" pitchFamily="2" charset="-122"/>
                </a:rPr>
                <a:t>P+F</a:t>
              </a:r>
            </a:p>
          </p:txBody>
        </p:sp>
        <p:sp>
          <p:nvSpPr>
            <p:cNvPr id="129107" name="Rectangle 132"/>
            <p:cNvSpPr/>
            <p:nvPr/>
          </p:nvSpPr>
          <p:spPr>
            <a:xfrm>
              <a:off x="2103" y="2444"/>
              <a:ext cx="336" cy="288"/>
            </a:xfrm>
            <a:prstGeom prst="rect">
              <a:avLst/>
            </a:prstGeom>
            <a:solidFill>
              <a:srgbClr val="0000D4"/>
            </a:solidFill>
            <a:ln w="9525">
              <a:noFill/>
            </a:ln>
          </p:spPr>
          <p:txBody>
            <a:bodyPr wrap="none" anchor="ctr"/>
            <a:lstStyle/>
            <a:p>
              <a:pPr lvl="0" algn="ctr" eaLnBrk="1" hangingPunct="1"/>
              <a:r>
                <a:rPr lang="en-US" altLang="zh-CN" sz="1800" b="1" dirty="0">
                  <a:solidFill>
                    <a:schemeClr val="accent1"/>
                  </a:solidFill>
                  <a:latin typeface="Times New Roman" panose="02020603050405020304" pitchFamily="18" charset="0"/>
                  <a:ea typeface="宋体" panose="02010600030101010101" pitchFamily="2" charset="-122"/>
                </a:rPr>
                <a:t>P</a:t>
              </a:r>
            </a:p>
          </p:txBody>
        </p:sp>
        <p:sp>
          <p:nvSpPr>
            <p:cNvPr id="129108" name="Text Box 133"/>
            <p:cNvSpPr txBox="1"/>
            <p:nvPr/>
          </p:nvSpPr>
          <p:spPr>
            <a:xfrm>
              <a:off x="1728" y="3168"/>
              <a:ext cx="1008" cy="287"/>
            </a:xfrm>
            <a:prstGeom prst="rect">
              <a:avLst/>
            </a:prstGeom>
            <a:noFill/>
            <a:ln w="9525">
              <a:noFill/>
            </a:ln>
          </p:spPr>
          <p:txBody>
            <a:bodyPr>
              <a:spAutoFit/>
            </a:bodyPr>
            <a:lstStyle/>
            <a:p>
              <a:pPr lvl="0" algn="ctr" eaLnBrk="1" hangingPunct="1">
                <a:spcBef>
                  <a:spcPct val="50000"/>
                </a:spcBef>
              </a:pPr>
              <a:r>
                <a:rPr lang="en-US" altLang="zh-CN" sz="1800" b="1" dirty="0">
                  <a:solidFill>
                    <a:srgbClr val="0000FF"/>
                  </a:solidFill>
                  <a:latin typeface="Times New Roman" panose="02020603050405020304" pitchFamily="18" charset="0"/>
                  <a:ea typeface="楷体_GB2312" pitchFamily="49" charset="-122"/>
                  <a:sym typeface="Symbol" panose="05050102010706020507" pitchFamily="18" charset="2"/>
                </a:rPr>
                <a:t>F</a:t>
              </a:r>
              <a:r>
                <a:rPr lang="en-US" altLang="zh-CN" sz="1800" b="1" dirty="0">
                  <a:solidFill>
                    <a:srgbClr val="0000FF"/>
                  </a:solidFill>
                  <a:latin typeface="Times New Roman" panose="02020603050405020304" pitchFamily="18" charset="0"/>
                  <a:ea typeface="宋体" panose="02010600030101010101" pitchFamily="2" charset="-122"/>
                </a:rPr>
                <a:t>+ </a:t>
              </a:r>
              <a:r>
                <a:rPr lang="en-US" altLang="zh-CN" sz="1800" b="1" dirty="0">
                  <a:solidFill>
                    <a:srgbClr val="0000FF"/>
                  </a:solidFill>
                  <a:latin typeface="Times New Roman" panose="02020603050405020304" pitchFamily="18" charset="0"/>
                  <a:ea typeface="楷体_GB2312" pitchFamily="49" charset="-122"/>
                  <a:sym typeface="Symbol" panose="05050102010706020507" pitchFamily="18" charset="2"/>
                </a:rPr>
                <a:t>Fe</a:t>
              </a:r>
              <a:r>
                <a:rPr lang="en-US" altLang="zh-CN" sz="1800" b="1" baseline="-25000" dirty="0">
                  <a:solidFill>
                    <a:srgbClr val="0000FF"/>
                  </a:solidFill>
                  <a:latin typeface="Times New Roman" panose="02020603050405020304" pitchFamily="18" charset="0"/>
                  <a:ea typeface="楷体_GB2312" pitchFamily="49" charset="-122"/>
                  <a:sym typeface="Symbol" panose="05050102010706020507" pitchFamily="18" charset="2"/>
                </a:rPr>
                <a:t>3</a:t>
              </a:r>
              <a:r>
                <a:rPr lang="en-US" altLang="zh-CN" sz="1800" b="1" dirty="0">
                  <a:solidFill>
                    <a:srgbClr val="0000FF"/>
                  </a:solidFill>
                  <a:latin typeface="Times New Roman" panose="02020603050405020304" pitchFamily="18" charset="0"/>
                  <a:ea typeface="楷体_GB2312" pitchFamily="49" charset="-122"/>
                  <a:sym typeface="Symbol" panose="05050102010706020507" pitchFamily="18" charset="2"/>
                </a:rPr>
                <a:t>C</a:t>
              </a:r>
              <a:r>
                <a:rPr lang="en-US" altLang="zh-CN" sz="1800" b="1" baseline="-25000" dirty="0">
                  <a:solidFill>
                    <a:srgbClr val="0000FF"/>
                  </a:solidFill>
                  <a:latin typeface="Times New Roman" panose="02020603050405020304" pitchFamily="18" charset="0"/>
                  <a:ea typeface="楷体_GB2312" pitchFamily="49" charset="-122"/>
                  <a:sym typeface="Symbol" panose="05050102010706020507" pitchFamily="18" charset="2"/>
                </a:rPr>
                <a:t>Ⅲ</a:t>
              </a:r>
              <a:endParaRPr lang="en-US" altLang="zh-CN" sz="1800" b="1" dirty="0">
                <a:solidFill>
                  <a:srgbClr val="0000FF"/>
                </a:solidFill>
                <a:latin typeface="Times New Roman" panose="02020603050405020304" pitchFamily="18" charset="0"/>
                <a:ea typeface="楷体_GB2312" pitchFamily="49" charset="-122"/>
                <a:sym typeface="Symbol" panose="05050102010706020507" pitchFamily="18" charset="2"/>
              </a:endParaRPr>
            </a:p>
          </p:txBody>
        </p:sp>
        <p:sp>
          <p:nvSpPr>
            <p:cNvPr id="129109" name="Line 134"/>
            <p:cNvSpPr/>
            <p:nvPr/>
          </p:nvSpPr>
          <p:spPr>
            <a:xfrm>
              <a:off x="1680" y="3024"/>
              <a:ext cx="240" cy="240"/>
            </a:xfrm>
            <a:prstGeom prst="line">
              <a:avLst/>
            </a:prstGeom>
            <a:ln w="12700" cap="flat" cmpd="sng">
              <a:solidFill>
                <a:schemeClr val="tx2"/>
              </a:solidFill>
              <a:prstDash val="solid"/>
              <a:headEnd type="none" w="med" len="med"/>
              <a:tailEnd type="none" w="med" len="med"/>
            </a:ln>
          </p:spPr>
        </p:sp>
        <p:sp>
          <p:nvSpPr>
            <p:cNvPr id="129110" name="Freeform 141"/>
            <p:cNvSpPr/>
            <p:nvPr/>
          </p:nvSpPr>
          <p:spPr>
            <a:xfrm>
              <a:off x="1584" y="528"/>
              <a:ext cx="480" cy="240"/>
            </a:xfrm>
            <a:custGeom>
              <a:avLst/>
              <a:gdLst>
                <a:gd name="txL" fmla="*/ 0 w 480"/>
                <a:gd name="txT" fmla="*/ 0 h 240"/>
                <a:gd name="txR" fmla="*/ 480 w 480"/>
                <a:gd name="txB" fmla="*/ 240 h 240"/>
              </a:gdLst>
              <a:ahLst/>
              <a:cxnLst>
                <a:cxn ang="0">
                  <a:pos x="0" y="0"/>
                </a:cxn>
                <a:cxn ang="0">
                  <a:pos x="288" y="96"/>
                </a:cxn>
                <a:cxn ang="0">
                  <a:pos x="480" y="240"/>
                </a:cxn>
              </a:cxnLst>
              <a:rect l="txL" t="txT" r="txR" b="txB"/>
              <a:pathLst>
                <a:path w="480" h="240">
                  <a:moveTo>
                    <a:pt x="0" y="0"/>
                  </a:moveTo>
                  <a:cubicBezTo>
                    <a:pt x="104" y="28"/>
                    <a:pt x="208" y="56"/>
                    <a:pt x="288" y="96"/>
                  </a:cubicBezTo>
                  <a:cubicBezTo>
                    <a:pt x="368" y="136"/>
                    <a:pt x="424" y="188"/>
                    <a:pt x="480" y="240"/>
                  </a:cubicBezTo>
                </a:path>
              </a:pathLst>
            </a:custGeom>
            <a:noFill/>
            <a:ln w="317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29111" name="Freeform 142"/>
            <p:cNvSpPr/>
            <p:nvPr/>
          </p:nvSpPr>
          <p:spPr>
            <a:xfrm>
              <a:off x="2064" y="768"/>
              <a:ext cx="1584" cy="720"/>
            </a:xfrm>
            <a:custGeom>
              <a:avLst/>
              <a:gdLst>
                <a:gd name="txL" fmla="*/ 0 w 1584"/>
                <a:gd name="txT" fmla="*/ 0 h 720"/>
                <a:gd name="txR" fmla="*/ 1584 w 1584"/>
                <a:gd name="txB" fmla="*/ 720 h 720"/>
              </a:gdLst>
              <a:ahLst/>
              <a:cxnLst>
                <a:cxn ang="0">
                  <a:pos x="0" y="0"/>
                </a:cxn>
                <a:cxn ang="0">
                  <a:pos x="624" y="240"/>
                </a:cxn>
                <a:cxn ang="0">
                  <a:pos x="1584" y="720"/>
                </a:cxn>
              </a:cxnLst>
              <a:rect l="txL" t="txT" r="txR" b="txB"/>
              <a:pathLst>
                <a:path w="1584" h="720">
                  <a:moveTo>
                    <a:pt x="0" y="0"/>
                  </a:moveTo>
                  <a:cubicBezTo>
                    <a:pt x="180" y="60"/>
                    <a:pt x="360" y="120"/>
                    <a:pt x="624" y="240"/>
                  </a:cubicBezTo>
                  <a:cubicBezTo>
                    <a:pt x="888" y="360"/>
                    <a:pt x="1236" y="540"/>
                    <a:pt x="1584" y="720"/>
                  </a:cubicBezTo>
                </a:path>
              </a:pathLst>
            </a:custGeom>
            <a:noFill/>
            <a:ln w="317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29112" name="Text Box 143"/>
            <p:cNvSpPr txBox="1"/>
            <p:nvPr/>
          </p:nvSpPr>
          <p:spPr>
            <a:xfrm>
              <a:off x="3024" y="3156"/>
              <a:ext cx="480" cy="310"/>
            </a:xfrm>
            <a:prstGeom prst="rect">
              <a:avLst/>
            </a:prstGeom>
            <a:noFill/>
            <a:ln w="9525">
              <a:noFill/>
            </a:ln>
          </p:spPr>
          <p:txBody>
            <a:bodyPr>
              <a:spAutoFit/>
            </a:bodyPr>
            <a:lstStyle/>
            <a:p>
              <a:pPr lvl="0" eaLnBrk="1" hangingPunct="1">
                <a:spcBef>
                  <a:spcPct val="50000"/>
                </a:spcBef>
              </a:pPr>
              <a:r>
                <a:rPr lang="en-US" altLang="zh-CN" sz="2000" b="1" dirty="0">
                  <a:solidFill>
                    <a:srgbClr val="0000FF"/>
                  </a:solidFill>
                  <a:latin typeface="Times New Roman" panose="02020603050405020304" pitchFamily="18" charset="0"/>
                  <a:ea typeface="宋体" panose="02010600030101010101" pitchFamily="2" charset="-122"/>
                </a:rPr>
                <a:t>C%</a:t>
              </a:r>
            </a:p>
          </p:txBody>
        </p:sp>
        <p:sp>
          <p:nvSpPr>
            <p:cNvPr id="129113" name="Text Box 144"/>
            <p:cNvSpPr txBox="1"/>
            <p:nvPr/>
          </p:nvSpPr>
          <p:spPr>
            <a:xfrm>
              <a:off x="1219" y="929"/>
              <a:ext cx="262" cy="756"/>
            </a:xfrm>
            <a:prstGeom prst="rect">
              <a:avLst/>
            </a:prstGeom>
            <a:noFill/>
            <a:ln w="9525">
              <a:noFill/>
            </a:ln>
          </p:spPr>
          <p:txBody>
            <a:bodyPr vert="eaVert" wrap="square">
              <a:spAutoFit/>
            </a:bodyPr>
            <a:lstStyle/>
            <a:p>
              <a:pPr lvl="0" eaLnBrk="1" hangingPunct="1">
                <a:spcBef>
                  <a:spcPct val="50000"/>
                </a:spcBef>
              </a:pPr>
              <a:r>
                <a:rPr lang="zh-CN" altLang="en-US" sz="2000" b="1" dirty="0">
                  <a:solidFill>
                    <a:srgbClr val="0000FF"/>
                  </a:solidFill>
                  <a:latin typeface="Times New Roman" panose="02020603050405020304" pitchFamily="18" charset="0"/>
                  <a:ea typeface="宋体" panose="02010600030101010101" pitchFamily="2" charset="-122"/>
                </a:rPr>
                <a:t>温度</a:t>
              </a:r>
            </a:p>
          </p:txBody>
        </p:sp>
      </p:grpSp>
      <p:grpSp>
        <p:nvGrpSpPr>
          <p:cNvPr id="4" name="Group 168"/>
          <p:cNvGrpSpPr/>
          <p:nvPr/>
        </p:nvGrpSpPr>
        <p:grpSpPr>
          <a:xfrm>
            <a:off x="381794" y="1975409"/>
            <a:ext cx="1272379" cy="3061728"/>
            <a:chOff x="144" y="384"/>
            <a:chExt cx="907" cy="2723"/>
          </a:xfrm>
        </p:grpSpPr>
        <p:pic>
          <p:nvPicPr>
            <p:cNvPr id="129046" name="Picture 149" descr="Fe-C：A"/>
            <p:cNvPicPr>
              <a:picLocks noChangeAspect="1"/>
            </p:cNvPicPr>
            <p:nvPr/>
          </p:nvPicPr>
          <p:blipFill>
            <a:blip r:embed="rId2"/>
            <a:stretch>
              <a:fillRect/>
            </a:stretch>
          </p:blipFill>
          <p:spPr>
            <a:xfrm>
              <a:off x="144" y="384"/>
              <a:ext cx="907" cy="914"/>
            </a:xfrm>
            <a:prstGeom prst="rect">
              <a:avLst/>
            </a:prstGeom>
            <a:noFill/>
            <a:ln w="28575" cap="flat" cmpd="sng">
              <a:solidFill>
                <a:srgbClr val="FF9900"/>
              </a:solidFill>
              <a:prstDash val="solid"/>
              <a:miter/>
              <a:headEnd type="none" w="med" len="med"/>
              <a:tailEnd type="none" w="med" len="med"/>
            </a:ln>
          </p:spPr>
        </p:pic>
        <p:pic>
          <p:nvPicPr>
            <p:cNvPr id="129047" name="Picture 150" descr="Fe-C：F"/>
            <p:cNvPicPr>
              <a:picLocks noChangeAspect="1"/>
            </p:cNvPicPr>
            <p:nvPr/>
          </p:nvPicPr>
          <p:blipFill>
            <a:blip r:embed="rId3"/>
            <a:stretch>
              <a:fillRect/>
            </a:stretch>
          </p:blipFill>
          <p:spPr>
            <a:xfrm>
              <a:off x="144" y="1296"/>
              <a:ext cx="907" cy="896"/>
            </a:xfrm>
            <a:prstGeom prst="rect">
              <a:avLst/>
            </a:prstGeom>
            <a:noFill/>
            <a:ln w="28575" cap="flat" cmpd="sng">
              <a:solidFill>
                <a:srgbClr val="FF9900"/>
              </a:solidFill>
              <a:prstDash val="solid"/>
              <a:miter/>
              <a:headEnd type="none" w="med" len="med"/>
              <a:tailEnd type="none" w="med" len="med"/>
            </a:ln>
          </p:spPr>
        </p:pic>
        <p:pic>
          <p:nvPicPr>
            <p:cNvPr id="129048" name="Picture 151" descr="Fe-C：F+Fe3CⅢ"/>
            <p:cNvPicPr>
              <a:picLocks noChangeAspect="1"/>
            </p:cNvPicPr>
            <p:nvPr/>
          </p:nvPicPr>
          <p:blipFill>
            <a:blip r:embed="rId4"/>
            <a:stretch>
              <a:fillRect/>
            </a:stretch>
          </p:blipFill>
          <p:spPr>
            <a:xfrm>
              <a:off x="144" y="2208"/>
              <a:ext cx="907" cy="899"/>
            </a:xfrm>
            <a:prstGeom prst="rect">
              <a:avLst/>
            </a:prstGeom>
            <a:noFill/>
            <a:ln w="28575" cap="flat" cmpd="sng">
              <a:solidFill>
                <a:srgbClr val="FF9900"/>
              </a:solidFill>
              <a:prstDash val="solid"/>
              <a:miter/>
              <a:headEnd type="none" w="med" len="med"/>
              <a:tailEnd type="none" w="med" len="med"/>
            </a:ln>
          </p:spPr>
        </p:pic>
      </p:grpSp>
      <p:grpSp>
        <p:nvGrpSpPr>
          <p:cNvPr id="129028" name="Group 172"/>
          <p:cNvGrpSpPr/>
          <p:nvPr/>
        </p:nvGrpSpPr>
        <p:grpSpPr>
          <a:xfrm>
            <a:off x="381794" y="2769518"/>
            <a:ext cx="8035286" cy="3783950"/>
            <a:chOff x="144" y="1684"/>
            <a:chExt cx="5152" cy="2344"/>
          </a:xfrm>
        </p:grpSpPr>
        <p:grpSp>
          <p:nvGrpSpPr>
            <p:cNvPr id="129030" name="Group 170"/>
            <p:cNvGrpSpPr/>
            <p:nvPr/>
          </p:nvGrpSpPr>
          <p:grpSpPr>
            <a:xfrm>
              <a:off x="144" y="3120"/>
              <a:ext cx="5152" cy="908"/>
              <a:chOff x="144" y="3120"/>
              <a:chExt cx="5152" cy="908"/>
            </a:xfrm>
          </p:grpSpPr>
          <p:pic>
            <p:nvPicPr>
              <p:cNvPr id="129040" name="Picture 152" descr="Fe-C：F+P"/>
              <p:cNvPicPr preferRelativeResize="0"/>
              <p:nvPr/>
            </p:nvPicPr>
            <p:blipFill>
              <a:blip r:embed="rId5"/>
              <a:stretch>
                <a:fillRect/>
              </a:stretch>
            </p:blipFill>
            <p:spPr>
              <a:xfrm>
                <a:off x="144" y="3120"/>
                <a:ext cx="907" cy="907"/>
              </a:xfrm>
              <a:prstGeom prst="rect">
                <a:avLst/>
              </a:prstGeom>
              <a:noFill/>
              <a:ln w="28575" cap="flat" cmpd="sng">
                <a:solidFill>
                  <a:srgbClr val="FF9900"/>
                </a:solidFill>
                <a:prstDash val="solid"/>
                <a:miter/>
                <a:headEnd type="none" w="med" len="med"/>
                <a:tailEnd type="none" w="med" len="med"/>
              </a:ln>
            </p:spPr>
          </p:pic>
          <p:pic>
            <p:nvPicPr>
              <p:cNvPr id="129041" name="Picture 153" descr="Fe-C：P"/>
              <p:cNvPicPr>
                <a:picLocks noChangeAspect="1"/>
              </p:cNvPicPr>
              <p:nvPr/>
            </p:nvPicPr>
            <p:blipFill>
              <a:blip r:embed="rId6"/>
              <a:stretch>
                <a:fillRect/>
              </a:stretch>
            </p:blipFill>
            <p:spPr>
              <a:xfrm>
                <a:off x="1056" y="3120"/>
                <a:ext cx="907" cy="907"/>
              </a:xfrm>
              <a:prstGeom prst="rect">
                <a:avLst/>
              </a:prstGeom>
              <a:noFill/>
              <a:ln w="28575" cap="flat" cmpd="sng">
                <a:solidFill>
                  <a:srgbClr val="FF9900"/>
                </a:solidFill>
                <a:prstDash val="solid"/>
                <a:miter/>
                <a:headEnd type="none" w="med" len="med"/>
                <a:tailEnd type="none" w="med" len="med"/>
              </a:ln>
            </p:spPr>
          </p:pic>
          <p:pic>
            <p:nvPicPr>
              <p:cNvPr id="129042" name="Picture 154" descr="Fe-C：P+Fe3CⅡ"/>
              <p:cNvPicPr>
                <a:picLocks noChangeAspect="1"/>
              </p:cNvPicPr>
              <p:nvPr/>
            </p:nvPicPr>
            <p:blipFill>
              <a:blip r:embed="rId7"/>
              <a:stretch>
                <a:fillRect/>
              </a:stretch>
            </p:blipFill>
            <p:spPr>
              <a:xfrm>
                <a:off x="1968" y="3120"/>
                <a:ext cx="923" cy="908"/>
              </a:xfrm>
              <a:prstGeom prst="rect">
                <a:avLst/>
              </a:prstGeom>
              <a:noFill/>
              <a:ln w="28575" cap="flat" cmpd="sng">
                <a:solidFill>
                  <a:srgbClr val="FF9900"/>
                </a:solidFill>
                <a:prstDash val="solid"/>
                <a:miter/>
                <a:headEnd type="none" w="med" len="med"/>
                <a:tailEnd type="none" w="med" len="med"/>
              </a:ln>
            </p:spPr>
          </p:pic>
          <p:pic>
            <p:nvPicPr>
              <p:cNvPr id="129043" name="Picture 155" descr="Fe-C：P+Fe3CⅡ+Le'"/>
              <p:cNvPicPr>
                <a:picLocks noChangeAspect="1"/>
              </p:cNvPicPr>
              <p:nvPr/>
            </p:nvPicPr>
            <p:blipFill>
              <a:blip r:embed="rId8"/>
              <a:stretch>
                <a:fillRect/>
              </a:stretch>
            </p:blipFill>
            <p:spPr>
              <a:xfrm>
                <a:off x="2880" y="3120"/>
                <a:ext cx="900" cy="906"/>
              </a:xfrm>
              <a:prstGeom prst="rect">
                <a:avLst/>
              </a:prstGeom>
              <a:noFill/>
              <a:ln w="28575" cap="flat" cmpd="sng">
                <a:solidFill>
                  <a:srgbClr val="FF9900"/>
                </a:solidFill>
                <a:prstDash val="solid"/>
                <a:miter/>
                <a:headEnd type="none" w="med" len="med"/>
                <a:tailEnd type="none" w="med" len="med"/>
              </a:ln>
            </p:spPr>
          </p:pic>
          <p:pic>
            <p:nvPicPr>
              <p:cNvPr id="129044" name="Picture 156" descr="Fe-C：Le'"/>
              <p:cNvPicPr>
                <a:picLocks noChangeAspect="1"/>
              </p:cNvPicPr>
              <p:nvPr/>
            </p:nvPicPr>
            <p:blipFill>
              <a:blip r:embed="rId9"/>
              <a:stretch>
                <a:fillRect/>
              </a:stretch>
            </p:blipFill>
            <p:spPr>
              <a:xfrm>
                <a:off x="3792" y="3120"/>
                <a:ext cx="708" cy="906"/>
              </a:xfrm>
              <a:prstGeom prst="rect">
                <a:avLst/>
              </a:prstGeom>
              <a:noFill/>
              <a:ln w="28575" cap="flat" cmpd="sng">
                <a:solidFill>
                  <a:srgbClr val="FF9900"/>
                </a:solidFill>
                <a:prstDash val="solid"/>
                <a:miter/>
                <a:headEnd type="none" w="med" len="med"/>
                <a:tailEnd type="none" w="med" len="med"/>
              </a:ln>
            </p:spPr>
          </p:pic>
          <p:pic>
            <p:nvPicPr>
              <p:cNvPr id="129045" name="Picture 157" descr="Fe-C：Le'+Fe3CⅠ"/>
              <p:cNvPicPr>
                <a:picLocks noChangeAspect="1"/>
              </p:cNvPicPr>
              <p:nvPr/>
            </p:nvPicPr>
            <p:blipFill>
              <a:blip r:embed="rId10"/>
              <a:stretch>
                <a:fillRect/>
              </a:stretch>
            </p:blipFill>
            <p:spPr>
              <a:xfrm>
                <a:off x="4588" y="3120"/>
                <a:ext cx="708" cy="906"/>
              </a:xfrm>
              <a:prstGeom prst="rect">
                <a:avLst/>
              </a:prstGeom>
              <a:noFill/>
              <a:ln w="28575" cap="flat" cmpd="sng">
                <a:solidFill>
                  <a:srgbClr val="FF9900"/>
                </a:solidFill>
                <a:prstDash val="solid"/>
                <a:miter/>
                <a:headEnd type="none" w="med" len="med"/>
                <a:tailEnd type="none" w="med" len="med"/>
              </a:ln>
            </p:spPr>
          </p:pic>
        </p:grpSp>
        <p:sp>
          <p:nvSpPr>
            <p:cNvPr id="129031" name="Line 158"/>
            <p:cNvSpPr/>
            <p:nvPr/>
          </p:nvSpPr>
          <p:spPr>
            <a:xfrm>
              <a:off x="930" y="1684"/>
              <a:ext cx="864" cy="192"/>
            </a:xfrm>
            <a:prstGeom prst="line">
              <a:avLst/>
            </a:prstGeom>
            <a:ln w="28575" cap="flat" cmpd="sng">
              <a:solidFill>
                <a:schemeClr val="hlink"/>
              </a:solidFill>
              <a:prstDash val="solid"/>
              <a:headEnd type="triangle" w="med" len="med"/>
              <a:tailEnd type="none" w="med" len="med"/>
            </a:ln>
          </p:spPr>
          <p:txBody>
            <a:bodyPr/>
            <a:lstStyle/>
            <a:p>
              <a:endParaRPr lang="zh-CN" altLang="en-US" dirty="0"/>
            </a:p>
          </p:txBody>
        </p:sp>
        <p:sp>
          <p:nvSpPr>
            <p:cNvPr id="129032" name="Line 159"/>
            <p:cNvSpPr/>
            <p:nvPr/>
          </p:nvSpPr>
          <p:spPr>
            <a:xfrm>
              <a:off x="906" y="2159"/>
              <a:ext cx="719" cy="135"/>
            </a:xfrm>
            <a:prstGeom prst="line">
              <a:avLst/>
            </a:prstGeom>
            <a:ln w="28575" cap="flat" cmpd="sng">
              <a:solidFill>
                <a:schemeClr val="hlink"/>
              </a:solidFill>
              <a:prstDash val="solid"/>
              <a:headEnd type="triangle" w="med" len="med"/>
              <a:tailEnd type="none" w="med" len="med"/>
            </a:ln>
          </p:spPr>
        </p:sp>
        <p:sp>
          <p:nvSpPr>
            <p:cNvPr id="129033" name="Line 160"/>
            <p:cNvSpPr/>
            <p:nvPr/>
          </p:nvSpPr>
          <p:spPr>
            <a:xfrm>
              <a:off x="960" y="2640"/>
              <a:ext cx="727" cy="36"/>
            </a:xfrm>
            <a:prstGeom prst="line">
              <a:avLst/>
            </a:prstGeom>
            <a:ln w="28575" cap="flat" cmpd="sng">
              <a:solidFill>
                <a:schemeClr val="hlink"/>
              </a:solidFill>
              <a:prstDash val="solid"/>
              <a:headEnd type="triangle" w="med" len="med"/>
              <a:tailEnd type="none" w="med" len="med"/>
            </a:ln>
          </p:spPr>
        </p:sp>
        <p:sp>
          <p:nvSpPr>
            <p:cNvPr id="129034" name="Line 161"/>
            <p:cNvSpPr/>
            <p:nvPr/>
          </p:nvSpPr>
          <p:spPr>
            <a:xfrm flipV="1">
              <a:off x="864" y="2640"/>
              <a:ext cx="1056" cy="576"/>
            </a:xfrm>
            <a:prstGeom prst="line">
              <a:avLst/>
            </a:prstGeom>
            <a:ln w="28575" cap="flat" cmpd="sng">
              <a:solidFill>
                <a:schemeClr val="hlink"/>
              </a:solidFill>
              <a:prstDash val="solid"/>
              <a:headEnd type="triangle" w="med" len="med"/>
              <a:tailEnd type="none" w="med" len="med"/>
            </a:ln>
          </p:spPr>
        </p:sp>
        <p:sp>
          <p:nvSpPr>
            <p:cNvPr id="129035" name="Line 162"/>
            <p:cNvSpPr/>
            <p:nvPr/>
          </p:nvSpPr>
          <p:spPr>
            <a:xfrm flipV="1">
              <a:off x="1890" y="2562"/>
              <a:ext cx="528" cy="624"/>
            </a:xfrm>
            <a:prstGeom prst="line">
              <a:avLst/>
            </a:prstGeom>
            <a:ln w="28575" cap="flat" cmpd="sng">
              <a:solidFill>
                <a:schemeClr val="hlink"/>
              </a:solidFill>
              <a:prstDash val="solid"/>
              <a:headEnd type="triangle" w="med" len="med"/>
              <a:tailEnd type="none" w="med" len="med"/>
            </a:ln>
          </p:spPr>
        </p:sp>
        <p:sp>
          <p:nvSpPr>
            <p:cNvPr id="129036" name="Line 163"/>
            <p:cNvSpPr/>
            <p:nvPr/>
          </p:nvSpPr>
          <p:spPr>
            <a:xfrm flipV="1">
              <a:off x="2640" y="2640"/>
              <a:ext cx="0" cy="624"/>
            </a:xfrm>
            <a:prstGeom prst="line">
              <a:avLst/>
            </a:prstGeom>
            <a:ln w="28575" cap="flat" cmpd="sng">
              <a:solidFill>
                <a:schemeClr val="hlink"/>
              </a:solidFill>
              <a:prstDash val="solid"/>
              <a:headEnd type="triangle" w="med" len="med"/>
              <a:tailEnd type="none" w="med" len="med"/>
            </a:ln>
          </p:spPr>
        </p:sp>
        <p:sp>
          <p:nvSpPr>
            <p:cNvPr id="129037" name="Line 164"/>
            <p:cNvSpPr/>
            <p:nvPr/>
          </p:nvSpPr>
          <p:spPr>
            <a:xfrm flipV="1">
              <a:off x="3264" y="2640"/>
              <a:ext cx="0" cy="576"/>
            </a:xfrm>
            <a:prstGeom prst="line">
              <a:avLst/>
            </a:prstGeom>
            <a:ln w="28575" cap="flat" cmpd="sng">
              <a:solidFill>
                <a:schemeClr val="hlink"/>
              </a:solidFill>
              <a:prstDash val="solid"/>
              <a:headEnd type="triangle" w="med" len="med"/>
              <a:tailEnd type="none" w="med" len="med"/>
            </a:ln>
          </p:spPr>
        </p:sp>
        <p:sp>
          <p:nvSpPr>
            <p:cNvPr id="129038" name="Line 165"/>
            <p:cNvSpPr/>
            <p:nvPr/>
          </p:nvSpPr>
          <p:spPr>
            <a:xfrm flipV="1">
              <a:off x="4064" y="2718"/>
              <a:ext cx="0" cy="528"/>
            </a:xfrm>
            <a:prstGeom prst="line">
              <a:avLst/>
            </a:prstGeom>
            <a:ln w="28575" cap="flat" cmpd="sng">
              <a:solidFill>
                <a:schemeClr val="hlink"/>
              </a:solidFill>
              <a:prstDash val="solid"/>
              <a:headEnd type="triangle" w="med" len="med"/>
              <a:tailEnd type="none" w="med" len="med"/>
            </a:ln>
          </p:spPr>
        </p:sp>
        <p:sp>
          <p:nvSpPr>
            <p:cNvPr id="129039" name="Line 166"/>
            <p:cNvSpPr/>
            <p:nvPr/>
          </p:nvSpPr>
          <p:spPr>
            <a:xfrm flipV="1">
              <a:off x="4992" y="2640"/>
              <a:ext cx="0" cy="576"/>
            </a:xfrm>
            <a:prstGeom prst="line">
              <a:avLst/>
            </a:prstGeom>
            <a:ln w="28575" cap="flat" cmpd="sng">
              <a:solidFill>
                <a:schemeClr val="hlink"/>
              </a:solidFill>
              <a:prstDash val="solid"/>
              <a:headEnd type="triangle" w="med" len="med"/>
              <a:tailEnd type="none" w="med" len="med"/>
            </a:ln>
          </p:spPr>
        </p:sp>
      </p:grpSp>
      <p:pic>
        <p:nvPicPr>
          <p:cNvPr id="92" name="内容占位符 1" descr="新校徽（3M）弓之乐"/>
          <p:cNvPicPr>
            <a:picLocks noChangeAspect="1"/>
          </p:cNvPicPr>
          <p:nvPr/>
        </p:nvPicPr>
        <p:blipFill>
          <a:blip r:embed="rId11"/>
          <a:stretch>
            <a:fillRect/>
          </a:stretch>
        </p:blipFill>
        <p:spPr>
          <a:xfrm>
            <a:off x="0" y="0"/>
            <a:ext cx="746760" cy="735965"/>
          </a:xfrm>
          <a:prstGeom prst="rect">
            <a:avLst/>
          </a:prstGeom>
          <a:noFill/>
          <a:ln w="9525">
            <a:noFill/>
          </a:ln>
        </p:spPr>
      </p:pic>
      <p:sp>
        <p:nvSpPr>
          <p:cNvPr id="7" name="文本框 6"/>
          <p:cNvSpPr txBox="1"/>
          <p:nvPr/>
        </p:nvSpPr>
        <p:spPr>
          <a:xfrm>
            <a:off x="2728089" y="4036862"/>
            <a:ext cx="373079" cy="369332"/>
          </a:xfrm>
          <a:prstGeom prst="rect">
            <a:avLst/>
          </a:prstGeom>
          <a:noFill/>
        </p:spPr>
        <p:txBody>
          <a:bodyPr wrap="square">
            <a:spAutoFit/>
          </a:bodyPr>
          <a:lstStyle/>
          <a:p>
            <a:pPr lvl="0" algn="ctr" eaLnBrk="1" hangingPunct="1">
              <a:spcBef>
                <a:spcPct val="50000"/>
              </a:spcBef>
            </a:pPr>
            <a:r>
              <a:rPr lang="en-US" altLang="zh-CN" sz="1800" b="1" dirty="0">
                <a:solidFill>
                  <a:srgbClr val="C00000"/>
                </a:solidFill>
                <a:latin typeface="Times New Roman" panose="02020603050405020304" pitchFamily="18" charset="0"/>
                <a:ea typeface="宋体" panose="02010600030101010101" pitchFamily="2" charset="-122"/>
              </a:rPr>
              <a:t>Q</a:t>
            </a:r>
          </a:p>
        </p:txBody>
      </p:sp>
      <p:sp>
        <p:nvSpPr>
          <p:cNvPr id="8" name="Rectangle 2"/>
          <p:cNvSpPr>
            <a:spLocks noGrp="1"/>
          </p:cNvSpPr>
          <p:nvPr>
            <p:ph type="title"/>
          </p:nvPr>
        </p:nvSpPr>
        <p:spPr>
          <a:xfrm>
            <a:off x="1607674" y="143818"/>
            <a:ext cx="6679902" cy="1538945"/>
          </a:xfrm>
        </p:spPr>
        <p:txBody>
          <a:bodyPr vert="horz" wrap="square" lIns="92075" tIns="46038" rIns="92075" bIns="46038" anchor="ctr"/>
          <a:lstStyle/>
          <a:p>
            <a:pPr eaLnBrk="1" hangingPunct="1"/>
            <a:r>
              <a:rPr lang="en-US" altLang="zh-CN" b="1" dirty="0">
                <a:solidFill>
                  <a:srgbClr val="FF0000"/>
                </a:solidFill>
                <a:latin typeface="Times New Roman" panose="02020603050405020304" pitchFamily="18" charset="0"/>
              </a:rPr>
              <a:t>㈧ </a:t>
            </a:r>
            <a:r>
              <a:rPr lang="zh-CN" altLang="en-US" b="1" dirty="0">
                <a:solidFill>
                  <a:srgbClr val="FF0000"/>
                </a:solidFill>
                <a:latin typeface="Times New Roman" panose="02020603050405020304" pitchFamily="18" charset="0"/>
              </a:rPr>
              <a:t>组织组成物在铁碳合金相图上的标注</a:t>
            </a:r>
          </a:p>
        </p:txBody>
      </p:sp>
      <p:sp>
        <p:nvSpPr>
          <p:cNvPr id="9" name="日期占位符 3"/>
          <p:cNvSpPr txBox="1">
            <a:spLocks noGrp="1"/>
          </p:cNvSpPr>
          <p:nvPr>
            <p:ph type="dt" sz="half" idx="10"/>
          </p:nvPr>
        </p:nvSpPr>
        <p:spPr>
          <a:xfrm>
            <a:off x="0" y="6510338"/>
            <a:ext cx="2162175"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0" name="灯片编号占位符 5"/>
          <p:cNvSpPr txBox="1">
            <a:spLocks noGrp="1"/>
          </p:cNvSpPr>
          <p:nvPr>
            <p:ph type="sldNum" sz="quarter" idx="12"/>
          </p:nvPr>
        </p:nvSpPr>
        <p:spPr>
          <a:xfrm>
            <a:off x="8580120" y="6573520"/>
            <a:ext cx="563880" cy="284480"/>
          </a:xfrm>
        </p:spPr>
        <p:txBody>
          <a:bodyPr lIns="92075" tIns="46038" rIns="92075" bIns="46038" anchor="ctr"/>
          <a:lstStyle/>
          <a:p>
            <a:pPr algn="r" eaLnBrk="1" hangingPunct="1"/>
            <a:fld id="{9A0DB2DC-4C9A-4742-B13C-FB6460FD3503}" type="slidenum">
              <a:rPr lang="en-US" altLang="zh-CN" sz="1400" dirty="0"/>
              <a:t>144</a:t>
            </a:fld>
            <a:endParaRPr lang="en-US" altLang="zh-CN"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500"/>
                                        <p:tgtEl>
                                          <p:spTgt spid="2"/>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日期占位符 3"/>
          <p:cNvSpPr txBox="1">
            <a:spLocks noGrp="1"/>
          </p:cNvSpPr>
          <p:nvPr>
            <p:ph type="dt" sz="half" idx="10"/>
          </p:nvPr>
        </p:nvSpPr>
        <p:spPr>
          <a:xfrm>
            <a:off x="0" y="6510338"/>
            <a:ext cx="2162175"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30051" name="灯片编号占位符 5"/>
          <p:cNvSpPr txBox="1">
            <a:spLocks noGrp="1"/>
          </p:cNvSpPr>
          <p:nvPr>
            <p:ph type="sldNum" sz="quarter" idx="12"/>
          </p:nvPr>
        </p:nvSpPr>
        <p:spPr>
          <a:xfrm>
            <a:off x="8580120" y="6573520"/>
            <a:ext cx="563880" cy="284480"/>
          </a:xfrm>
        </p:spPr>
        <p:txBody>
          <a:bodyPr lIns="92075" tIns="46038" rIns="92075" bIns="46038" anchor="ctr"/>
          <a:lstStyle/>
          <a:p>
            <a:pPr algn="r" eaLnBrk="1" hangingPunct="1"/>
            <a:fld id="{9A0DB2DC-4C9A-4742-B13C-FB6460FD3503}" type="slidenum">
              <a:rPr lang="en-US" altLang="zh-CN" sz="1400" dirty="0"/>
              <a:t>145</a:t>
            </a:fld>
            <a:endParaRPr lang="en-US" altLang="zh-CN" sz="1400" dirty="0"/>
          </a:p>
        </p:txBody>
      </p:sp>
      <p:sp>
        <p:nvSpPr>
          <p:cNvPr id="130052" name="Rectangle 2"/>
          <p:cNvSpPr>
            <a:spLocks noGrp="1"/>
          </p:cNvSpPr>
          <p:nvPr>
            <p:ph type="title"/>
          </p:nvPr>
        </p:nvSpPr>
        <p:spPr>
          <a:xfrm>
            <a:off x="936625" y="0"/>
            <a:ext cx="8207375" cy="1643063"/>
          </a:xfrm>
        </p:spPr>
        <p:txBody>
          <a:bodyPr vert="horz" wrap="square" lIns="92075" tIns="46038" rIns="92075" bIns="46038" anchor="ctr"/>
          <a:lstStyle/>
          <a:p>
            <a:pPr eaLnBrk="1" hangingPunct="1"/>
            <a:r>
              <a:rPr lang="en-US" altLang="zh-CN" b="1" dirty="0">
                <a:solidFill>
                  <a:srgbClr val="C00000"/>
                </a:solidFill>
                <a:latin typeface="Times New Roman" panose="02020603050405020304" pitchFamily="18" charset="0"/>
              </a:rPr>
              <a:t>㈨ </a:t>
            </a:r>
            <a:r>
              <a:rPr lang="zh-CN" altLang="en-US" b="1" dirty="0">
                <a:solidFill>
                  <a:srgbClr val="C00000"/>
                </a:solidFill>
                <a:latin typeface="Times New Roman" panose="02020603050405020304" pitchFamily="18" charset="0"/>
              </a:rPr>
              <a:t>含碳量对铁碳合金组织和性能的影响</a:t>
            </a:r>
          </a:p>
        </p:txBody>
      </p:sp>
      <p:sp>
        <p:nvSpPr>
          <p:cNvPr id="130053" name="Rectangle 3"/>
          <p:cNvSpPr>
            <a:spLocks noGrp="1"/>
          </p:cNvSpPr>
          <p:nvPr>
            <p:ph idx="1"/>
          </p:nvPr>
        </p:nvSpPr>
        <p:spPr/>
        <p:txBody>
          <a:bodyPr vert="horz" wrap="square" lIns="91440" tIns="45720" rIns="91440" bIns="45720" anchor="t"/>
          <a:lstStyle/>
          <a:p>
            <a:pPr eaLnBrk="1" hangingPunct="1"/>
            <a:r>
              <a:rPr lang="en-US" altLang="zh-CN" b="1" dirty="0">
                <a:solidFill>
                  <a:schemeClr val="folHlink"/>
                </a:solidFill>
              </a:rPr>
              <a:t>⒈ </a:t>
            </a:r>
            <a:r>
              <a:rPr lang="zh-CN" altLang="en-US" b="1" dirty="0">
                <a:solidFill>
                  <a:schemeClr val="folHlink"/>
                </a:solidFill>
              </a:rPr>
              <a:t>含碳量对室温平衡组织的影响</a:t>
            </a:r>
          </a:p>
          <a:p>
            <a:pPr eaLnBrk="1" hangingPunct="1"/>
            <a:endParaRPr lang="zh-CN" altLang="en-US" b="1" dirty="0">
              <a:solidFill>
                <a:schemeClr val="folHlink"/>
              </a:solidFill>
            </a:endParaRPr>
          </a:p>
          <a:p>
            <a:pPr eaLnBrk="1" hangingPunct="1"/>
            <a:r>
              <a:rPr lang="zh-CN" altLang="en-US" b="1" dirty="0">
                <a:solidFill>
                  <a:schemeClr val="folHlink"/>
                </a:solidFill>
              </a:rPr>
              <a:t>⒉ 含碳量对力学性能的影响</a:t>
            </a:r>
          </a:p>
          <a:p>
            <a:pPr eaLnBrk="1" hangingPunct="1"/>
            <a:endParaRPr lang="zh-CN" altLang="en-US" b="1" dirty="0">
              <a:solidFill>
                <a:schemeClr val="folHlink"/>
              </a:solidFill>
            </a:endParaRPr>
          </a:p>
          <a:p>
            <a:pPr eaLnBrk="1" hangingPunct="1"/>
            <a:r>
              <a:rPr lang="zh-CN" altLang="en-US" b="1" dirty="0">
                <a:solidFill>
                  <a:schemeClr val="tx2"/>
                </a:solidFill>
                <a:ea typeface="华文中宋" panose="02010600040101010101" pitchFamily="2" charset="-122"/>
              </a:rPr>
              <a:t>⒊ 含碳量对工艺性能的影响</a:t>
            </a:r>
          </a:p>
        </p:txBody>
      </p:sp>
      <p:pic>
        <p:nvPicPr>
          <p:cNvPr id="7" name="内容占位符 1" descr="新校徽（3M）弓之乐"/>
          <p:cNvPicPr>
            <a:picLocks noChangeAspect="1"/>
          </p:cNvPicPr>
          <p:nvPr/>
        </p:nvPicPr>
        <p:blipFill>
          <a:blip r:embed="rId2"/>
          <a:stretch>
            <a:fillRect/>
          </a:stretch>
        </p:blipFill>
        <p:spPr>
          <a:xfrm>
            <a:off x="0" y="0"/>
            <a:ext cx="746760" cy="735965"/>
          </a:xfrm>
          <a:prstGeom prst="rect">
            <a:avLst/>
          </a:prstGeom>
          <a:noFill/>
          <a:ln w="9525">
            <a:noFill/>
          </a:ln>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日期占位符 3"/>
          <p:cNvSpPr txBox="1">
            <a:spLocks noGrp="1"/>
          </p:cNvSpPr>
          <p:nvPr>
            <p:ph type="dt" sz="half" idx="10"/>
          </p:nvPr>
        </p:nvSpPr>
        <p:spPr>
          <a:xfrm>
            <a:off x="0" y="6510338"/>
            <a:ext cx="2376488"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31075" name="灯片编号占位符 5"/>
          <p:cNvSpPr txBox="1">
            <a:spLocks noGrp="1"/>
          </p:cNvSpPr>
          <p:nvPr>
            <p:ph type="sldNum" sz="quarter" idx="12"/>
          </p:nvPr>
        </p:nvSpPr>
        <p:spPr>
          <a:xfrm>
            <a:off x="8622030" y="6583680"/>
            <a:ext cx="521970" cy="274320"/>
          </a:xfrm>
        </p:spPr>
        <p:txBody>
          <a:bodyPr lIns="92075" tIns="46038" rIns="92075" bIns="46038" anchor="ctr"/>
          <a:lstStyle/>
          <a:p>
            <a:pPr algn="r" eaLnBrk="1" hangingPunct="1"/>
            <a:fld id="{9A0DB2DC-4C9A-4742-B13C-FB6460FD3503}" type="slidenum">
              <a:rPr lang="en-US" altLang="zh-CN" sz="1400" dirty="0"/>
              <a:t>146</a:t>
            </a:fld>
            <a:endParaRPr lang="en-US" altLang="zh-CN" sz="1400" dirty="0"/>
          </a:p>
        </p:txBody>
      </p:sp>
      <p:sp>
        <p:nvSpPr>
          <p:cNvPr id="265218" name="Rectangle 2"/>
          <p:cNvSpPr>
            <a:spLocks noGrp="1" noChangeArrowheads="1"/>
          </p:cNvSpPr>
          <p:nvPr>
            <p:ph type="title"/>
          </p:nvPr>
        </p:nvSpPr>
        <p:spPr>
          <a:xfrm>
            <a:off x="936625" y="0"/>
            <a:ext cx="8207375" cy="85725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mj-ea"/>
                <a:cs typeface="+mj-cs"/>
              </a:rPr>
              <a:t>⒈ </a:t>
            </a:r>
            <a:r>
              <a:rPr kumimoji="1" lang="zh-CN" altLang="en-US" sz="4400"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mj-ea"/>
                <a:cs typeface="+mj-cs"/>
              </a:rPr>
              <a:t>含碳量对室温平衡组织的影响</a:t>
            </a:r>
          </a:p>
        </p:txBody>
      </p:sp>
      <p:sp>
        <p:nvSpPr>
          <p:cNvPr id="131077" name="Rectangle 3"/>
          <p:cNvSpPr>
            <a:spLocks noGrp="1"/>
          </p:cNvSpPr>
          <p:nvPr>
            <p:ph idx="1"/>
          </p:nvPr>
        </p:nvSpPr>
        <p:spPr>
          <a:xfrm>
            <a:off x="936625" y="815340"/>
            <a:ext cx="8207375" cy="4496435"/>
          </a:xfrm>
        </p:spPr>
        <p:txBody>
          <a:bodyPr vert="horz" wrap="square" lIns="91440" tIns="45720" rIns="91440" bIns="45720" anchor="t"/>
          <a:lstStyle/>
          <a:p>
            <a:pPr eaLnBrk="1" hangingPunct="1"/>
            <a:r>
              <a:rPr lang="zh-CN" altLang="en-US" b="1" dirty="0">
                <a:ea typeface="华文中宋" panose="02010600040101010101" pitchFamily="2" charset="-122"/>
              </a:rPr>
              <a:t>含碳量与缓冷后相及组织组成物之间的定量关系为： </a:t>
            </a:r>
          </a:p>
        </p:txBody>
      </p:sp>
      <p:grpSp>
        <p:nvGrpSpPr>
          <p:cNvPr id="2" name="Group 4"/>
          <p:cNvGrpSpPr/>
          <p:nvPr/>
        </p:nvGrpSpPr>
        <p:grpSpPr>
          <a:xfrm>
            <a:off x="468313" y="2133600"/>
            <a:ext cx="8532812" cy="4297363"/>
            <a:chOff x="192" y="1464"/>
            <a:chExt cx="5375" cy="2707"/>
          </a:xfrm>
        </p:grpSpPr>
        <p:grpSp>
          <p:nvGrpSpPr>
            <p:cNvPr id="131080" name="Group 5"/>
            <p:cNvGrpSpPr/>
            <p:nvPr/>
          </p:nvGrpSpPr>
          <p:grpSpPr>
            <a:xfrm>
              <a:off x="192" y="1464"/>
              <a:ext cx="5375" cy="2707"/>
              <a:chOff x="192" y="1517"/>
              <a:chExt cx="5375" cy="2707"/>
            </a:xfrm>
          </p:grpSpPr>
          <p:grpSp>
            <p:nvGrpSpPr>
              <p:cNvPr id="131180" name="Group 6"/>
              <p:cNvGrpSpPr/>
              <p:nvPr/>
            </p:nvGrpSpPr>
            <p:grpSpPr>
              <a:xfrm>
                <a:off x="192" y="1517"/>
                <a:ext cx="5375" cy="2707"/>
                <a:chOff x="192" y="1517"/>
                <a:chExt cx="5375" cy="2707"/>
              </a:xfrm>
            </p:grpSpPr>
            <p:grpSp>
              <p:nvGrpSpPr>
                <p:cNvPr id="131203" name="Group 7"/>
                <p:cNvGrpSpPr/>
                <p:nvPr/>
              </p:nvGrpSpPr>
              <p:grpSpPr>
                <a:xfrm>
                  <a:off x="192" y="1517"/>
                  <a:ext cx="5375" cy="2707"/>
                  <a:chOff x="192" y="1517"/>
                  <a:chExt cx="5375" cy="2707"/>
                </a:xfrm>
              </p:grpSpPr>
              <p:grpSp>
                <p:nvGrpSpPr>
                  <p:cNvPr id="131214" name="Group 8"/>
                  <p:cNvGrpSpPr/>
                  <p:nvPr/>
                </p:nvGrpSpPr>
                <p:grpSpPr>
                  <a:xfrm>
                    <a:off x="192" y="1517"/>
                    <a:ext cx="5375" cy="2707"/>
                    <a:chOff x="192" y="1517"/>
                    <a:chExt cx="5375" cy="2707"/>
                  </a:xfrm>
                </p:grpSpPr>
                <p:grpSp>
                  <p:nvGrpSpPr>
                    <p:cNvPr id="131219" name="Group 9"/>
                    <p:cNvGrpSpPr/>
                    <p:nvPr/>
                  </p:nvGrpSpPr>
                  <p:grpSpPr>
                    <a:xfrm>
                      <a:off x="192" y="1517"/>
                      <a:ext cx="5375" cy="2707"/>
                      <a:chOff x="192" y="1517"/>
                      <a:chExt cx="5375" cy="2707"/>
                    </a:xfrm>
                  </p:grpSpPr>
                  <p:grpSp>
                    <p:nvGrpSpPr>
                      <p:cNvPr id="131221" name="Group 10"/>
                      <p:cNvGrpSpPr/>
                      <p:nvPr/>
                    </p:nvGrpSpPr>
                    <p:grpSpPr>
                      <a:xfrm>
                        <a:off x="192" y="1517"/>
                        <a:ext cx="5375" cy="2707"/>
                        <a:chOff x="192" y="1517"/>
                        <a:chExt cx="5375" cy="2707"/>
                      </a:xfrm>
                    </p:grpSpPr>
                    <p:grpSp>
                      <p:nvGrpSpPr>
                        <p:cNvPr id="131226" name="Group 11"/>
                        <p:cNvGrpSpPr/>
                        <p:nvPr/>
                      </p:nvGrpSpPr>
                      <p:grpSpPr>
                        <a:xfrm>
                          <a:off x="192" y="1517"/>
                          <a:ext cx="5375" cy="2707"/>
                          <a:chOff x="192" y="1517"/>
                          <a:chExt cx="5375" cy="2707"/>
                        </a:xfrm>
                      </p:grpSpPr>
                      <p:pic>
                        <p:nvPicPr>
                          <p:cNvPr id="131238" name="Picture 12" descr="image067"/>
                          <p:cNvPicPr>
                            <a:picLocks noChangeAspect="1"/>
                          </p:cNvPicPr>
                          <p:nvPr/>
                        </p:nvPicPr>
                        <p:blipFill>
                          <a:blip r:embed="rId2"/>
                          <a:stretch>
                            <a:fillRect/>
                          </a:stretch>
                        </p:blipFill>
                        <p:spPr>
                          <a:xfrm>
                            <a:off x="192" y="1517"/>
                            <a:ext cx="5375" cy="2707"/>
                          </a:xfrm>
                          <a:prstGeom prst="rect">
                            <a:avLst/>
                          </a:prstGeom>
                          <a:noFill/>
                          <a:ln w="9525">
                            <a:noFill/>
                          </a:ln>
                        </p:spPr>
                      </p:pic>
                      <p:sp>
                        <p:nvSpPr>
                          <p:cNvPr id="131239" name="Rectangle 13"/>
                          <p:cNvSpPr/>
                          <p:nvPr/>
                        </p:nvSpPr>
                        <p:spPr>
                          <a:xfrm>
                            <a:off x="1680" y="1572"/>
                            <a:ext cx="192" cy="144"/>
                          </a:xfrm>
                          <a:prstGeom prst="rect">
                            <a:avLst/>
                          </a:prstGeom>
                          <a:solidFill>
                            <a:srgbClr val="FFD9FF"/>
                          </a:solidFill>
                          <a:ln w="9525">
                            <a:noFill/>
                          </a:ln>
                        </p:spPr>
                        <p:txBody>
                          <a:bodyPr wrap="none" anchor="ctr"/>
                          <a:lstStyle/>
                          <a:p>
                            <a:pPr lvl="0" algn="ctr" eaLnBrk="1" hangingPunct="1"/>
                            <a:r>
                              <a:rPr lang="zh-CN" altLang="en-US" sz="1800" b="1" dirty="0">
                                <a:solidFill>
                                  <a:schemeClr val="bg2"/>
                                </a:solidFill>
                                <a:latin typeface="Times New Roman" panose="02020603050405020304" pitchFamily="18" charset="0"/>
                                <a:ea typeface="宋体" panose="02010600030101010101" pitchFamily="2" charset="-122"/>
                              </a:rPr>
                              <a:t>钢</a:t>
                            </a:r>
                          </a:p>
                        </p:txBody>
                      </p:sp>
                      <p:sp>
                        <p:nvSpPr>
                          <p:cNvPr id="131240" name="Rectangle 14"/>
                          <p:cNvSpPr/>
                          <p:nvPr/>
                        </p:nvSpPr>
                        <p:spPr>
                          <a:xfrm>
                            <a:off x="972" y="2736"/>
                            <a:ext cx="384" cy="192"/>
                          </a:xfrm>
                          <a:prstGeom prst="rect">
                            <a:avLst/>
                          </a:prstGeom>
                          <a:solidFill>
                            <a:srgbClr val="FFD9FF"/>
                          </a:solidFill>
                          <a:ln w="9525">
                            <a:noFill/>
                          </a:ln>
                        </p:spPr>
                        <p:txBody>
                          <a:bodyPr wrap="none" anchor="ctr"/>
                          <a:lstStyle/>
                          <a:p>
                            <a:pPr lvl="0" algn="ctr" eaLnBrk="1" hangingPunct="1"/>
                            <a:r>
                              <a:rPr lang="zh-CN" altLang="en-US" sz="1600" b="1" dirty="0">
                                <a:solidFill>
                                  <a:schemeClr val="bg2"/>
                                </a:solidFill>
                                <a:latin typeface="Times New Roman" panose="02020603050405020304" pitchFamily="18" charset="0"/>
                                <a:ea typeface="宋体" panose="02010600030101010101" pitchFamily="2" charset="-122"/>
                              </a:rPr>
                              <a:t>铁素体</a:t>
                            </a:r>
                          </a:p>
                        </p:txBody>
                      </p:sp>
                      <p:sp>
                        <p:nvSpPr>
                          <p:cNvPr id="131241" name="Rectangle 15"/>
                          <p:cNvSpPr/>
                          <p:nvPr/>
                        </p:nvSpPr>
                        <p:spPr>
                          <a:xfrm>
                            <a:off x="1584" y="3648"/>
                            <a:ext cx="240" cy="192"/>
                          </a:xfrm>
                          <a:prstGeom prst="rect">
                            <a:avLst/>
                          </a:prstGeom>
                          <a:solidFill>
                            <a:srgbClr val="FFD9FF"/>
                          </a:solidFill>
                          <a:ln w="9525">
                            <a:noFill/>
                          </a:ln>
                        </p:spPr>
                        <p:txBody>
                          <a:bodyPr wrap="none" anchor="ctr"/>
                          <a:lstStyle/>
                          <a:p>
                            <a:pPr lvl="0" algn="ctr" eaLnBrk="1" hangingPunct="1"/>
                            <a:r>
                              <a:rPr lang="en-US" altLang="zh-CN" sz="2400" b="1" dirty="0">
                                <a:solidFill>
                                  <a:schemeClr val="bg2"/>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b="1" dirty="0">
                              <a:solidFill>
                                <a:schemeClr val="bg2"/>
                              </a:solidFill>
                              <a:latin typeface="Times New Roman" panose="02020603050405020304" pitchFamily="18" charset="0"/>
                              <a:ea typeface="宋体" panose="02010600030101010101" pitchFamily="2" charset="-122"/>
                            </a:endParaRPr>
                          </a:p>
                        </p:txBody>
                      </p:sp>
                    </p:grpSp>
                    <p:sp>
                      <p:nvSpPr>
                        <p:cNvPr id="131227" name="Rectangle 16"/>
                        <p:cNvSpPr/>
                        <p:nvPr/>
                      </p:nvSpPr>
                      <p:spPr>
                        <a:xfrm>
                          <a:off x="1164" y="2040"/>
                          <a:ext cx="528" cy="144"/>
                        </a:xfrm>
                        <a:prstGeom prst="rect">
                          <a:avLst/>
                        </a:prstGeom>
                        <a:solidFill>
                          <a:schemeClr val="bg1"/>
                        </a:solidFill>
                        <a:ln w="9525" cap="flat" cmpd="sng">
                          <a:noFill/>
                          <a:prstDash val="solid"/>
                          <a:miter/>
                          <a:headEnd type="none" w="med" len="med"/>
                          <a:tailEnd type="none" w="med" len="med"/>
                        </a:ln>
                      </p:spPr>
                      <p:txBody>
                        <a:bodyPr wrap="none" anchor="ctr"/>
                        <a:lstStyle/>
                        <a:p>
                          <a:pPr lvl="0" algn="ctr" eaLnBrk="1" hangingPunct="1"/>
                          <a:r>
                            <a:rPr lang="zh-CN" altLang="en-US" sz="1600" b="1" dirty="0">
                              <a:solidFill>
                                <a:schemeClr val="bg2"/>
                              </a:solidFill>
                              <a:latin typeface="Times New Roman" panose="02020603050405020304" pitchFamily="18" charset="0"/>
                              <a:ea typeface="宋体" panose="02010600030101010101" pitchFamily="2" charset="-122"/>
                            </a:rPr>
                            <a:t>亚共析钢</a:t>
                          </a:r>
                        </a:p>
                      </p:txBody>
                    </p:sp>
                    <p:sp>
                      <p:nvSpPr>
                        <p:cNvPr id="131228" name="Rectangle 17"/>
                        <p:cNvSpPr/>
                        <p:nvPr/>
                      </p:nvSpPr>
                      <p:spPr>
                        <a:xfrm>
                          <a:off x="1800" y="2040"/>
                          <a:ext cx="528" cy="144"/>
                        </a:xfrm>
                        <a:prstGeom prst="rect">
                          <a:avLst/>
                        </a:prstGeom>
                        <a:solidFill>
                          <a:schemeClr val="bg1"/>
                        </a:solidFill>
                        <a:ln w="9525" cap="flat" cmpd="sng">
                          <a:noFill/>
                          <a:prstDash val="solid"/>
                          <a:miter/>
                          <a:headEnd type="none" w="med" len="med"/>
                          <a:tailEnd type="none" w="med" len="med"/>
                        </a:ln>
                      </p:spPr>
                      <p:txBody>
                        <a:bodyPr wrap="none" anchor="ctr"/>
                        <a:lstStyle/>
                        <a:p>
                          <a:pPr lvl="0" algn="ctr" eaLnBrk="1" hangingPunct="1"/>
                          <a:r>
                            <a:rPr lang="zh-CN" altLang="en-US" sz="1600" b="1" dirty="0">
                              <a:solidFill>
                                <a:schemeClr val="bg2"/>
                              </a:solidFill>
                              <a:latin typeface="Times New Roman" panose="02020603050405020304" pitchFamily="18" charset="0"/>
                              <a:ea typeface="宋体" panose="02010600030101010101" pitchFamily="2" charset="-122"/>
                            </a:rPr>
                            <a:t>过共析钢</a:t>
                          </a:r>
                        </a:p>
                      </p:txBody>
                    </p:sp>
                    <p:sp>
                      <p:nvSpPr>
                        <p:cNvPr id="131229" name="Rectangle 18"/>
                        <p:cNvSpPr/>
                        <p:nvPr/>
                      </p:nvSpPr>
                      <p:spPr>
                        <a:xfrm>
                          <a:off x="2736" y="2016"/>
                          <a:ext cx="864" cy="192"/>
                        </a:xfrm>
                        <a:prstGeom prst="rect">
                          <a:avLst/>
                        </a:prstGeom>
                        <a:solidFill>
                          <a:schemeClr val="bg1"/>
                        </a:solidFill>
                        <a:ln w="9525" cap="flat" cmpd="sng">
                          <a:noFill/>
                          <a:prstDash val="solid"/>
                          <a:miter/>
                          <a:headEnd type="none" w="med" len="med"/>
                          <a:tailEnd type="none" w="med" len="med"/>
                        </a:ln>
                      </p:spPr>
                      <p:txBody>
                        <a:bodyPr wrap="none" anchor="ctr"/>
                        <a:lstStyle/>
                        <a:p>
                          <a:pPr lvl="0" algn="ctr" eaLnBrk="1" hangingPunct="1"/>
                          <a:r>
                            <a:rPr lang="zh-CN" altLang="en-US" sz="1600" b="1" dirty="0">
                              <a:solidFill>
                                <a:schemeClr val="bg2"/>
                              </a:solidFill>
                              <a:latin typeface="Times New Roman" panose="02020603050405020304" pitchFamily="18" charset="0"/>
                              <a:ea typeface="宋体" panose="02010600030101010101" pitchFamily="2" charset="-122"/>
                            </a:rPr>
                            <a:t>亚共晶白口铸铁</a:t>
                          </a:r>
                        </a:p>
                      </p:txBody>
                    </p:sp>
                    <p:sp>
                      <p:nvSpPr>
                        <p:cNvPr id="131230" name="Rectangle 19"/>
                        <p:cNvSpPr/>
                        <p:nvPr/>
                      </p:nvSpPr>
                      <p:spPr>
                        <a:xfrm>
                          <a:off x="4272" y="2016"/>
                          <a:ext cx="864" cy="192"/>
                        </a:xfrm>
                        <a:prstGeom prst="rect">
                          <a:avLst/>
                        </a:prstGeom>
                        <a:solidFill>
                          <a:schemeClr val="bg1"/>
                        </a:solidFill>
                        <a:ln w="9525" cap="flat" cmpd="sng">
                          <a:noFill/>
                          <a:prstDash val="solid"/>
                          <a:miter/>
                          <a:headEnd type="none" w="med" len="med"/>
                          <a:tailEnd type="none" w="med" len="med"/>
                        </a:ln>
                      </p:spPr>
                      <p:txBody>
                        <a:bodyPr wrap="none" anchor="ctr"/>
                        <a:lstStyle/>
                        <a:p>
                          <a:pPr lvl="0" algn="ctr" eaLnBrk="1" hangingPunct="1"/>
                          <a:r>
                            <a:rPr lang="zh-CN" altLang="en-US" sz="1600" b="1" dirty="0">
                              <a:solidFill>
                                <a:schemeClr val="bg2"/>
                              </a:solidFill>
                              <a:latin typeface="Times New Roman" panose="02020603050405020304" pitchFamily="18" charset="0"/>
                              <a:ea typeface="宋体" panose="02010600030101010101" pitchFamily="2" charset="-122"/>
                            </a:rPr>
                            <a:t>过共晶白口铸铁</a:t>
                          </a:r>
                        </a:p>
                      </p:txBody>
                    </p:sp>
                    <p:sp>
                      <p:nvSpPr>
                        <p:cNvPr id="131231" name="Rectangle 20"/>
                        <p:cNvSpPr/>
                        <p:nvPr/>
                      </p:nvSpPr>
                      <p:spPr>
                        <a:xfrm>
                          <a:off x="3552" y="1776"/>
                          <a:ext cx="864" cy="192"/>
                        </a:xfrm>
                        <a:prstGeom prst="rect">
                          <a:avLst/>
                        </a:prstGeom>
                        <a:solidFill>
                          <a:schemeClr val="bg1"/>
                        </a:solidFill>
                        <a:ln w="9525">
                          <a:noFill/>
                        </a:ln>
                      </p:spPr>
                      <p:txBody>
                        <a:bodyPr wrap="none" anchor="ctr"/>
                        <a:lstStyle/>
                        <a:p>
                          <a:pPr lvl="0" algn="ctr" eaLnBrk="1" hangingPunct="1"/>
                          <a:r>
                            <a:rPr lang="zh-CN" altLang="en-US" sz="1600" b="1" dirty="0">
                              <a:latin typeface="Times New Roman" panose="02020603050405020304" pitchFamily="18" charset="0"/>
                              <a:ea typeface="宋体" panose="02010600030101010101" pitchFamily="2" charset="-122"/>
                            </a:rPr>
                            <a:t>共晶白口铸铁</a:t>
                          </a:r>
                        </a:p>
                      </p:txBody>
                    </p:sp>
                    <p:sp>
                      <p:nvSpPr>
                        <p:cNvPr id="131232" name="Rectangle 21"/>
                        <p:cNvSpPr/>
                        <p:nvPr/>
                      </p:nvSpPr>
                      <p:spPr>
                        <a:xfrm>
                          <a:off x="1488" y="1800"/>
                          <a:ext cx="504" cy="132"/>
                        </a:xfrm>
                        <a:prstGeom prst="rect">
                          <a:avLst/>
                        </a:prstGeom>
                        <a:solidFill>
                          <a:srgbClr val="993366"/>
                        </a:solidFill>
                        <a:ln w="9525">
                          <a:noFill/>
                        </a:ln>
                      </p:spPr>
                      <p:txBody>
                        <a:bodyPr wrap="none" anchor="ctr"/>
                        <a:lstStyle/>
                        <a:p>
                          <a:pPr lvl="0" algn="ctr" eaLnBrk="1" hangingPunct="1"/>
                          <a:r>
                            <a:rPr lang="zh-CN" altLang="en-US" sz="1600" b="1" dirty="0">
                              <a:latin typeface="Times New Roman" panose="02020603050405020304" pitchFamily="18" charset="0"/>
                              <a:ea typeface="宋体" panose="02010600030101010101" pitchFamily="2" charset="-122"/>
                            </a:rPr>
                            <a:t>共析钢</a:t>
                          </a:r>
                        </a:p>
                      </p:txBody>
                    </p:sp>
                    <p:sp>
                      <p:nvSpPr>
                        <p:cNvPr id="131233" name="Rectangle 22"/>
                        <p:cNvSpPr/>
                        <p:nvPr/>
                      </p:nvSpPr>
                      <p:spPr>
                        <a:xfrm>
                          <a:off x="3552" y="1596"/>
                          <a:ext cx="912" cy="120"/>
                        </a:xfrm>
                        <a:prstGeom prst="rect">
                          <a:avLst/>
                        </a:prstGeom>
                        <a:solidFill>
                          <a:srgbClr val="D9FFFF"/>
                        </a:solidFill>
                        <a:ln w="9525" cap="flat" cmpd="sng">
                          <a:noFill/>
                          <a:prstDash val="solid"/>
                          <a:miter/>
                          <a:headEnd type="none" w="med" len="med"/>
                          <a:tailEnd type="none" w="med" len="med"/>
                        </a:ln>
                      </p:spPr>
                      <p:txBody>
                        <a:bodyPr wrap="none" anchor="ctr"/>
                        <a:lstStyle/>
                        <a:p>
                          <a:pPr lvl="0" algn="ctr" eaLnBrk="1" hangingPunct="1"/>
                          <a:r>
                            <a:rPr lang="zh-CN" altLang="en-US" sz="1800" b="1" dirty="0">
                              <a:solidFill>
                                <a:schemeClr val="bg2"/>
                              </a:solidFill>
                              <a:latin typeface="Times New Roman" panose="02020603050405020304" pitchFamily="18" charset="0"/>
                              <a:ea typeface="宋体" panose="02010600030101010101" pitchFamily="2" charset="-122"/>
                            </a:rPr>
                            <a:t>白  口   铸   铁</a:t>
                          </a:r>
                        </a:p>
                      </p:txBody>
                    </p:sp>
                    <p:sp>
                      <p:nvSpPr>
                        <p:cNvPr id="131234" name="Oval 23"/>
                        <p:cNvSpPr/>
                        <p:nvPr/>
                      </p:nvSpPr>
                      <p:spPr>
                        <a:xfrm>
                          <a:off x="2136" y="2604"/>
                          <a:ext cx="840" cy="132"/>
                        </a:xfrm>
                        <a:prstGeom prst="ellipse">
                          <a:avLst/>
                        </a:prstGeom>
                        <a:solidFill>
                          <a:srgbClr val="E1FFFF"/>
                        </a:solidFill>
                        <a:ln w="9525">
                          <a:noFill/>
                        </a:ln>
                      </p:spPr>
                      <p:txBody>
                        <a:bodyPr wrap="none" anchor="ctr"/>
                        <a:lstStyle/>
                        <a:p>
                          <a:pPr lvl="0" algn="ctr" eaLnBrk="1" hangingPunct="1"/>
                          <a:r>
                            <a:rPr lang="zh-CN" altLang="en-US" sz="1200" b="1" dirty="0">
                              <a:solidFill>
                                <a:schemeClr val="bg2"/>
                              </a:solidFill>
                              <a:latin typeface="Times New Roman" panose="02020603050405020304" pitchFamily="18" charset="0"/>
                              <a:ea typeface="宋体" panose="02010600030101010101" pitchFamily="2" charset="-122"/>
                            </a:rPr>
                            <a:t>二次渗碳体</a:t>
                          </a:r>
                        </a:p>
                      </p:txBody>
                    </p:sp>
                    <p:sp>
                      <p:nvSpPr>
                        <p:cNvPr id="131235" name="Line 24"/>
                        <p:cNvSpPr/>
                        <p:nvPr/>
                      </p:nvSpPr>
                      <p:spPr>
                        <a:xfrm>
                          <a:off x="1728" y="2604"/>
                          <a:ext cx="768" cy="144"/>
                        </a:xfrm>
                        <a:prstGeom prst="line">
                          <a:avLst/>
                        </a:prstGeom>
                        <a:ln w="19050" cap="flat" cmpd="sng">
                          <a:solidFill>
                            <a:schemeClr val="bg2"/>
                          </a:solidFill>
                          <a:prstDash val="solid"/>
                          <a:headEnd type="none" w="med" len="med"/>
                          <a:tailEnd type="none" w="med" len="med"/>
                        </a:ln>
                      </p:spPr>
                    </p:sp>
                    <p:sp>
                      <p:nvSpPr>
                        <p:cNvPr id="131236" name="Line 25"/>
                        <p:cNvSpPr/>
                        <p:nvPr/>
                      </p:nvSpPr>
                      <p:spPr>
                        <a:xfrm flipV="1">
                          <a:off x="2496" y="2592"/>
                          <a:ext cx="1488" cy="156"/>
                        </a:xfrm>
                        <a:prstGeom prst="line">
                          <a:avLst/>
                        </a:prstGeom>
                        <a:ln w="19050" cap="flat" cmpd="sng">
                          <a:solidFill>
                            <a:schemeClr val="bg2"/>
                          </a:solidFill>
                          <a:prstDash val="solid"/>
                          <a:headEnd type="none" w="med" len="med"/>
                          <a:tailEnd type="none" w="med" len="med"/>
                        </a:ln>
                      </p:spPr>
                    </p:sp>
                    <p:sp>
                      <p:nvSpPr>
                        <p:cNvPr id="131237" name="Line 26"/>
                        <p:cNvSpPr/>
                        <p:nvPr/>
                      </p:nvSpPr>
                      <p:spPr>
                        <a:xfrm>
                          <a:off x="240" y="2616"/>
                          <a:ext cx="5280" cy="0"/>
                        </a:xfrm>
                        <a:prstGeom prst="line">
                          <a:avLst/>
                        </a:prstGeom>
                        <a:ln w="28575" cap="flat" cmpd="sng">
                          <a:solidFill>
                            <a:schemeClr val="bg2"/>
                          </a:solidFill>
                          <a:prstDash val="solid"/>
                          <a:headEnd type="none" w="med" len="med"/>
                          <a:tailEnd type="none" w="med" len="med"/>
                        </a:ln>
                      </p:spPr>
                    </p:sp>
                  </p:grpSp>
                  <p:sp>
                    <p:nvSpPr>
                      <p:cNvPr id="131222" name="Rectangle 27"/>
                      <p:cNvSpPr/>
                      <p:nvPr/>
                    </p:nvSpPr>
                    <p:spPr>
                      <a:xfrm>
                        <a:off x="960" y="1584"/>
                        <a:ext cx="144" cy="624"/>
                      </a:xfrm>
                      <a:prstGeom prst="rect">
                        <a:avLst/>
                      </a:prstGeom>
                      <a:solidFill>
                        <a:srgbClr val="FFFFD1"/>
                      </a:solidFill>
                      <a:ln w="9525">
                        <a:noFill/>
                      </a:ln>
                    </p:spPr>
                    <p:txBody>
                      <a:bodyPr wrap="none" anchor="ctr"/>
                      <a:lstStyle/>
                      <a:p>
                        <a:pPr lvl="0" algn="ctr" eaLnBrk="1" hangingPunct="1"/>
                        <a:r>
                          <a:rPr lang="zh-CN" altLang="en-US" sz="1600" b="1" dirty="0">
                            <a:solidFill>
                              <a:schemeClr val="bg2"/>
                            </a:solidFill>
                            <a:latin typeface="Times New Roman" panose="02020603050405020304" pitchFamily="18" charset="0"/>
                            <a:ea typeface="宋体" panose="02010600030101010101" pitchFamily="2" charset="-122"/>
                          </a:rPr>
                          <a:t>工</a:t>
                        </a:r>
                      </a:p>
                      <a:p>
                        <a:pPr lvl="0" algn="ctr" eaLnBrk="1" hangingPunct="1"/>
                        <a:r>
                          <a:rPr lang="zh-CN" altLang="en-US" sz="1600" b="1" dirty="0">
                            <a:solidFill>
                              <a:schemeClr val="bg2"/>
                            </a:solidFill>
                            <a:latin typeface="Times New Roman" panose="02020603050405020304" pitchFamily="18" charset="0"/>
                            <a:ea typeface="宋体" panose="02010600030101010101" pitchFamily="2" charset="-122"/>
                          </a:rPr>
                          <a:t>业</a:t>
                        </a:r>
                      </a:p>
                      <a:p>
                        <a:pPr lvl="0" algn="ctr" eaLnBrk="1" hangingPunct="1"/>
                        <a:r>
                          <a:rPr lang="zh-CN" altLang="en-US" sz="1600" b="1" dirty="0">
                            <a:solidFill>
                              <a:schemeClr val="bg2"/>
                            </a:solidFill>
                            <a:latin typeface="Times New Roman" panose="02020603050405020304" pitchFamily="18" charset="0"/>
                            <a:ea typeface="宋体" panose="02010600030101010101" pitchFamily="2" charset="-122"/>
                          </a:rPr>
                          <a:t>纯</a:t>
                        </a:r>
                      </a:p>
                      <a:p>
                        <a:pPr lvl="0" algn="ctr" eaLnBrk="1" hangingPunct="1"/>
                        <a:r>
                          <a:rPr lang="zh-CN" altLang="en-US" sz="1600" b="1" dirty="0">
                            <a:solidFill>
                              <a:schemeClr val="bg2"/>
                            </a:solidFill>
                            <a:latin typeface="Times New Roman" panose="02020603050405020304" pitchFamily="18" charset="0"/>
                            <a:ea typeface="宋体" panose="02010600030101010101" pitchFamily="2" charset="-122"/>
                          </a:rPr>
                          <a:t>铁</a:t>
                        </a:r>
                      </a:p>
                    </p:txBody>
                  </p:sp>
                  <p:sp>
                    <p:nvSpPr>
                      <p:cNvPr id="131223" name="Rectangle 28"/>
                      <p:cNvSpPr/>
                      <p:nvPr/>
                    </p:nvSpPr>
                    <p:spPr>
                      <a:xfrm>
                        <a:off x="1632" y="2880"/>
                        <a:ext cx="432" cy="144"/>
                      </a:xfrm>
                      <a:prstGeom prst="rect">
                        <a:avLst/>
                      </a:prstGeom>
                      <a:solidFill>
                        <a:srgbClr val="FFE0A3"/>
                      </a:solidFill>
                      <a:ln w="9525">
                        <a:noFill/>
                      </a:ln>
                    </p:spPr>
                    <p:txBody>
                      <a:bodyPr wrap="none" anchor="ctr"/>
                      <a:lstStyle/>
                      <a:p>
                        <a:pPr lvl="0" algn="ctr" eaLnBrk="1" hangingPunct="1"/>
                        <a:r>
                          <a:rPr lang="zh-CN" altLang="en-US" sz="1600" b="1" dirty="0">
                            <a:solidFill>
                              <a:schemeClr val="bg2"/>
                            </a:solidFill>
                            <a:latin typeface="Times New Roman" panose="02020603050405020304" pitchFamily="18" charset="0"/>
                            <a:ea typeface="宋体" panose="02010600030101010101" pitchFamily="2" charset="-122"/>
                          </a:rPr>
                          <a:t>珠光体</a:t>
                        </a:r>
                      </a:p>
                    </p:txBody>
                  </p:sp>
                  <p:sp>
                    <p:nvSpPr>
                      <p:cNvPr id="131224" name="Rectangle 29"/>
                      <p:cNvSpPr/>
                      <p:nvPr/>
                    </p:nvSpPr>
                    <p:spPr>
                      <a:xfrm>
                        <a:off x="3744" y="2880"/>
                        <a:ext cx="432" cy="144"/>
                      </a:xfrm>
                      <a:prstGeom prst="rect">
                        <a:avLst/>
                      </a:prstGeom>
                      <a:solidFill>
                        <a:srgbClr val="03D50D"/>
                      </a:solidFill>
                      <a:ln w="9525">
                        <a:noFill/>
                      </a:ln>
                    </p:spPr>
                    <p:txBody>
                      <a:bodyPr wrap="none" anchor="ctr"/>
                      <a:lstStyle/>
                      <a:p>
                        <a:pPr lvl="0" algn="ctr" eaLnBrk="1" hangingPunct="1"/>
                        <a:r>
                          <a:rPr lang="zh-CN" altLang="en-US" sz="1600" b="1" dirty="0">
                            <a:solidFill>
                              <a:schemeClr val="bg2"/>
                            </a:solidFill>
                            <a:latin typeface="Times New Roman" panose="02020603050405020304" pitchFamily="18" charset="0"/>
                            <a:ea typeface="宋体" panose="02010600030101010101" pitchFamily="2" charset="-122"/>
                          </a:rPr>
                          <a:t>莱氏体</a:t>
                        </a:r>
                      </a:p>
                    </p:txBody>
                  </p:sp>
                  <p:sp>
                    <p:nvSpPr>
                      <p:cNvPr id="131225" name="Rectangle 30"/>
                      <p:cNvSpPr/>
                      <p:nvPr/>
                    </p:nvSpPr>
                    <p:spPr>
                      <a:xfrm>
                        <a:off x="4704" y="2736"/>
                        <a:ext cx="672" cy="144"/>
                      </a:xfrm>
                      <a:prstGeom prst="rect">
                        <a:avLst/>
                      </a:prstGeom>
                      <a:solidFill>
                        <a:schemeClr val="accent1"/>
                      </a:solidFill>
                      <a:ln w="9525">
                        <a:noFill/>
                      </a:ln>
                    </p:spPr>
                    <p:txBody>
                      <a:bodyPr wrap="none" anchor="ctr"/>
                      <a:lstStyle/>
                      <a:p>
                        <a:pPr lvl="0" algn="ctr" eaLnBrk="1" hangingPunct="1"/>
                        <a:r>
                          <a:rPr lang="zh-CN" altLang="en-US" sz="1600" b="1" dirty="0">
                            <a:solidFill>
                              <a:schemeClr val="bg2"/>
                            </a:solidFill>
                            <a:latin typeface="Times New Roman" panose="02020603050405020304" pitchFamily="18" charset="0"/>
                            <a:ea typeface="宋体" panose="02010600030101010101" pitchFamily="2" charset="-122"/>
                          </a:rPr>
                          <a:t>一次渗碳体</a:t>
                        </a:r>
                      </a:p>
                    </p:txBody>
                  </p:sp>
                </p:grpSp>
                <p:sp>
                  <p:nvSpPr>
                    <p:cNvPr id="131220" name="Rectangle 31"/>
                    <p:cNvSpPr/>
                    <p:nvPr/>
                  </p:nvSpPr>
                  <p:spPr>
                    <a:xfrm>
                      <a:off x="4224" y="3792"/>
                      <a:ext cx="432" cy="288"/>
                    </a:xfrm>
                    <a:prstGeom prst="rect">
                      <a:avLst/>
                    </a:prstGeom>
                    <a:solidFill>
                      <a:srgbClr val="58DDDA"/>
                    </a:solidFill>
                    <a:ln w="9525">
                      <a:noFill/>
                    </a:ln>
                  </p:spPr>
                  <p:txBody>
                    <a:bodyPr wrap="none" anchor="ctr"/>
                    <a:lstStyle/>
                    <a:p>
                      <a:pPr lvl="0" algn="ctr" eaLnBrk="1" hangingPunct="1"/>
                      <a:r>
                        <a:rPr lang="en-US" altLang="zh-CN" sz="2000" b="1" dirty="0">
                          <a:solidFill>
                            <a:schemeClr val="bg2"/>
                          </a:solidFill>
                          <a:latin typeface="Times New Roman" panose="02020603050405020304" pitchFamily="18" charset="0"/>
                          <a:ea typeface="华文中宋" panose="02010600040101010101" pitchFamily="2" charset="-122"/>
                        </a:rPr>
                        <a:t>Fe</a:t>
                      </a:r>
                      <a:r>
                        <a:rPr lang="en-US" altLang="zh-CN" sz="2000" b="1" baseline="-30000" dirty="0">
                          <a:solidFill>
                            <a:schemeClr val="bg2"/>
                          </a:solidFill>
                          <a:latin typeface="Times New Roman" panose="02020603050405020304" pitchFamily="18" charset="0"/>
                          <a:ea typeface="华文中宋" panose="02010600040101010101" pitchFamily="2" charset="-122"/>
                        </a:rPr>
                        <a:t>3</a:t>
                      </a:r>
                      <a:r>
                        <a:rPr lang="en-US" altLang="zh-CN" sz="2000" b="1" dirty="0">
                          <a:solidFill>
                            <a:schemeClr val="bg2"/>
                          </a:solidFill>
                          <a:latin typeface="Times New Roman" panose="02020603050405020304" pitchFamily="18" charset="0"/>
                          <a:ea typeface="华文中宋" panose="02010600040101010101" pitchFamily="2" charset="-122"/>
                        </a:rPr>
                        <a:t>C</a:t>
                      </a:r>
                    </a:p>
                  </p:txBody>
                </p:sp>
              </p:grpSp>
              <p:sp>
                <p:nvSpPr>
                  <p:cNvPr id="131215" name="Rectangle 32"/>
                  <p:cNvSpPr/>
                  <p:nvPr/>
                </p:nvSpPr>
                <p:spPr>
                  <a:xfrm>
                    <a:off x="288" y="1584"/>
                    <a:ext cx="528" cy="624"/>
                  </a:xfrm>
                  <a:prstGeom prst="rect">
                    <a:avLst/>
                  </a:prstGeom>
                  <a:solidFill>
                    <a:schemeClr val="bg1"/>
                  </a:solidFill>
                  <a:ln w="9525" cap="flat" cmpd="sng">
                    <a:noFill/>
                    <a:prstDash val="solid"/>
                    <a:miter/>
                    <a:headEnd type="none" w="med" len="med"/>
                    <a:tailEnd type="none" w="med" len="med"/>
                  </a:ln>
                </p:spPr>
                <p:txBody>
                  <a:bodyPr wrap="none" anchor="ctr"/>
                  <a:lstStyle/>
                  <a:p>
                    <a:pPr lvl="0" algn="ctr" eaLnBrk="1" hangingPunct="1"/>
                    <a:r>
                      <a:rPr lang="zh-CN" altLang="en-US" sz="2000" b="1" dirty="0">
                        <a:solidFill>
                          <a:srgbClr val="CC0000"/>
                        </a:solidFill>
                        <a:latin typeface="Times New Roman" panose="02020603050405020304" pitchFamily="18" charset="0"/>
                        <a:ea typeface="宋体" panose="02010600030101010101" pitchFamily="2" charset="-122"/>
                      </a:rPr>
                      <a:t>钢   铁</a:t>
                    </a:r>
                  </a:p>
                  <a:p>
                    <a:pPr lvl="0" algn="ctr" eaLnBrk="1" hangingPunct="1"/>
                    <a:endParaRPr lang="zh-CN" altLang="en-US" sz="2000" b="1" dirty="0">
                      <a:solidFill>
                        <a:srgbClr val="CC0000"/>
                      </a:solidFill>
                      <a:latin typeface="Times New Roman" panose="02020603050405020304" pitchFamily="18" charset="0"/>
                      <a:ea typeface="宋体" panose="02010600030101010101" pitchFamily="2" charset="-122"/>
                    </a:endParaRPr>
                  </a:p>
                  <a:p>
                    <a:pPr lvl="0" algn="ctr" eaLnBrk="1" hangingPunct="1"/>
                    <a:r>
                      <a:rPr lang="zh-CN" altLang="en-US" sz="2000" b="1" dirty="0">
                        <a:solidFill>
                          <a:srgbClr val="CC0000"/>
                        </a:solidFill>
                        <a:latin typeface="Times New Roman" panose="02020603050405020304" pitchFamily="18" charset="0"/>
                        <a:ea typeface="宋体" panose="02010600030101010101" pitchFamily="2" charset="-122"/>
                      </a:rPr>
                      <a:t>分   类</a:t>
                    </a:r>
                  </a:p>
                </p:txBody>
              </p:sp>
              <p:sp>
                <p:nvSpPr>
                  <p:cNvPr id="131216" name="Rectangle 33"/>
                  <p:cNvSpPr/>
                  <p:nvPr/>
                </p:nvSpPr>
                <p:spPr>
                  <a:xfrm>
                    <a:off x="240" y="2688"/>
                    <a:ext cx="624" cy="576"/>
                  </a:xfrm>
                  <a:prstGeom prst="rect">
                    <a:avLst/>
                  </a:prstGeom>
                  <a:solidFill>
                    <a:schemeClr val="bg1"/>
                  </a:solidFill>
                  <a:ln w="9525" cap="flat" cmpd="sng">
                    <a:noFill/>
                    <a:prstDash val="solid"/>
                    <a:miter/>
                    <a:headEnd type="none" w="med" len="med"/>
                    <a:tailEnd type="none" w="med" len="med"/>
                  </a:ln>
                </p:spPr>
                <p:txBody>
                  <a:bodyPr wrap="none" anchor="ctr"/>
                  <a:lstStyle/>
                  <a:p>
                    <a:pPr lvl="0" eaLnBrk="1" hangingPunct="1"/>
                    <a:r>
                      <a:rPr lang="zh-CN" altLang="en-US" sz="2000" b="1" dirty="0">
                        <a:solidFill>
                          <a:srgbClr val="CC0000"/>
                        </a:solidFill>
                        <a:latin typeface="Times New Roman" panose="02020603050405020304" pitchFamily="18" charset="0"/>
                        <a:ea typeface="宋体" panose="02010600030101010101" pitchFamily="2" charset="-122"/>
                      </a:rPr>
                      <a:t>组织组</a:t>
                    </a:r>
                  </a:p>
                  <a:p>
                    <a:pPr lvl="0" eaLnBrk="1" hangingPunct="1"/>
                    <a:r>
                      <a:rPr lang="zh-CN" altLang="en-US" sz="2000" b="1" dirty="0">
                        <a:solidFill>
                          <a:srgbClr val="CC0000"/>
                        </a:solidFill>
                        <a:latin typeface="Times New Roman" panose="02020603050405020304" pitchFamily="18" charset="0"/>
                        <a:ea typeface="宋体" panose="02010600030101010101" pitchFamily="2" charset="-122"/>
                      </a:rPr>
                      <a:t>成物相</a:t>
                    </a:r>
                  </a:p>
                  <a:p>
                    <a:pPr lvl="0" eaLnBrk="1" hangingPunct="1"/>
                    <a:r>
                      <a:rPr lang="zh-CN" altLang="en-US" sz="2000" b="1" dirty="0">
                        <a:solidFill>
                          <a:srgbClr val="CC0000"/>
                        </a:solidFill>
                        <a:latin typeface="Times New Roman" panose="02020603050405020304" pitchFamily="18" charset="0"/>
                        <a:ea typeface="宋体" panose="02010600030101010101" pitchFamily="2" charset="-122"/>
                      </a:rPr>
                      <a:t>对量</a:t>
                    </a:r>
                    <a:r>
                      <a:rPr lang="en-US" altLang="zh-CN" sz="2000" b="1" dirty="0">
                        <a:solidFill>
                          <a:srgbClr val="CC0000"/>
                        </a:solidFill>
                        <a:latin typeface="Times New Roman" panose="02020603050405020304" pitchFamily="18" charset="0"/>
                        <a:ea typeface="宋体" panose="02010600030101010101" pitchFamily="2" charset="-122"/>
                      </a:rPr>
                      <a:t>%</a:t>
                    </a:r>
                  </a:p>
                </p:txBody>
              </p:sp>
              <p:sp>
                <p:nvSpPr>
                  <p:cNvPr id="131217" name="Rectangle 34"/>
                  <p:cNvSpPr/>
                  <p:nvPr/>
                </p:nvSpPr>
                <p:spPr>
                  <a:xfrm>
                    <a:off x="240" y="3552"/>
                    <a:ext cx="624" cy="576"/>
                  </a:xfrm>
                  <a:prstGeom prst="rect">
                    <a:avLst/>
                  </a:prstGeom>
                  <a:solidFill>
                    <a:schemeClr val="bg1"/>
                  </a:solidFill>
                  <a:ln w="9525" cap="flat" cmpd="sng">
                    <a:noFill/>
                    <a:prstDash val="solid"/>
                    <a:miter/>
                    <a:headEnd type="none" w="med" len="med"/>
                    <a:tailEnd type="none" w="med" len="med"/>
                  </a:ln>
                </p:spPr>
                <p:txBody>
                  <a:bodyPr wrap="none" anchor="ctr"/>
                  <a:lstStyle/>
                  <a:p>
                    <a:pPr lvl="0" eaLnBrk="1" hangingPunct="1"/>
                    <a:r>
                      <a:rPr lang="zh-CN" altLang="en-US" sz="2000" b="1" dirty="0">
                        <a:solidFill>
                          <a:srgbClr val="CC0000"/>
                        </a:solidFill>
                        <a:latin typeface="Times New Roman" panose="02020603050405020304" pitchFamily="18" charset="0"/>
                        <a:ea typeface="宋体" panose="02010600030101010101" pitchFamily="2" charset="-122"/>
                      </a:rPr>
                      <a:t>相组成</a:t>
                    </a:r>
                  </a:p>
                  <a:p>
                    <a:pPr lvl="0" eaLnBrk="1" hangingPunct="1"/>
                    <a:r>
                      <a:rPr lang="zh-CN" altLang="en-US" sz="2000" b="1" dirty="0">
                        <a:solidFill>
                          <a:srgbClr val="CC0000"/>
                        </a:solidFill>
                        <a:latin typeface="Times New Roman" panose="02020603050405020304" pitchFamily="18" charset="0"/>
                        <a:ea typeface="宋体" panose="02010600030101010101" pitchFamily="2" charset="-122"/>
                      </a:rPr>
                      <a:t>物相对</a:t>
                    </a:r>
                  </a:p>
                  <a:p>
                    <a:pPr lvl="0" eaLnBrk="1" hangingPunct="1"/>
                    <a:r>
                      <a:rPr lang="zh-CN" altLang="en-US" sz="2000" b="1" dirty="0">
                        <a:solidFill>
                          <a:srgbClr val="CC0000"/>
                        </a:solidFill>
                        <a:latin typeface="Times New Roman" panose="02020603050405020304" pitchFamily="18" charset="0"/>
                        <a:ea typeface="宋体" panose="02010600030101010101" pitchFamily="2" charset="-122"/>
                      </a:rPr>
                      <a:t>量</a:t>
                    </a:r>
                    <a:r>
                      <a:rPr lang="en-US" altLang="zh-CN" sz="2000" b="1" dirty="0">
                        <a:solidFill>
                          <a:srgbClr val="CC0000"/>
                        </a:solidFill>
                        <a:latin typeface="Times New Roman" panose="02020603050405020304" pitchFamily="18" charset="0"/>
                        <a:ea typeface="宋体" panose="02010600030101010101" pitchFamily="2" charset="-122"/>
                      </a:rPr>
                      <a:t>%</a:t>
                    </a:r>
                  </a:p>
                </p:txBody>
              </p:sp>
              <p:sp>
                <p:nvSpPr>
                  <p:cNvPr id="131218" name="Rectangle 35"/>
                  <p:cNvSpPr/>
                  <p:nvPr/>
                </p:nvSpPr>
                <p:spPr>
                  <a:xfrm>
                    <a:off x="192" y="2292"/>
                    <a:ext cx="612" cy="204"/>
                  </a:xfrm>
                  <a:prstGeom prst="rect">
                    <a:avLst/>
                  </a:prstGeom>
                  <a:solidFill>
                    <a:schemeClr val="bg1"/>
                  </a:solidFill>
                  <a:ln w="9525" cap="flat" cmpd="sng">
                    <a:noFill/>
                    <a:prstDash val="solid"/>
                    <a:miter/>
                    <a:headEnd type="none" w="med" len="med"/>
                    <a:tailEnd type="none" w="med" len="med"/>
                  </a:ln>
                </p:spPr>
                <p:txBody>
                  <a:bodyPr wrap="none" anchor="ctr"/>
                  <a:lstStyle/>
                  <a:p>
                    <a:pPr lvl="0" eaLnBrk="1" hangingPunct="1"/>
                    <a:r>
                      <a:rPr lang="zh-CN" altLang="en-US" sz="1800" b="1" dirty="0">
                        <a:solidFill>
                          <a:srgbClr val="CC0000"/>
                        </a:solidFill>
                        <a:latin typeface="Times New Roman" panose="02020603050405020304" pitchFamily="18" charset="0"/>
                        <a:ea typeface="宋体" panose="02010600030101010101" pitchFamily="2" charset="-122"/>
                      </a:rPr>
                      <a:t>含碳量</a:t>
                    </a:r>
                    <a:r>
                      <a:rPr lang="en-US" altLang="zh-CN" sz="1800" b="1" dirty="0">
                        <a:solidFill>
                          <a:srgbClr val="CC0000"/>
                        </a:solidFill>
                        <a:latin typeface="Times New Roman" panose="02020603050405020304" pitchFamily="18" charset="0"/>
                        <a:ea typeface="宋体" panose="02010600030101010101" pitchFamily="2" charset="-122"/>
                      </a:rPr>
                      <a:t>%</a:t>
                    </a:r>
                  </a:p>
                </p:txBody>
              </p:sp>
            </p:grpSp>
            <p:sp>
              <p:nvSpPr>
                <p:cNvPr id="131204" name="Rectangle 36"/>
                <p:cNvSpPr/>
                <p:nvPr/>
              </p:nvSpPr>
              <p:spPr>
                <a:xfrm>
                  <a:off x="876" y="2280"/>
                  <a:ext cx="144" cy="192"/>
                </a:xfrm>
                <a:prstGeom prst="rect">
                  <a:avLst/>
                </a:prstGeom>
                <a:solidFill>
                  <a:schemeClr val="bg1"/>
                </a:solidFill>
                <a:ln w="9525" cap="flat" cmpd="sng">
                  <a:noFill/>
                  <a:prstDash val="solid"/>
                  <a:miter/>
                  <a:headEnd type="none" w="med" len="med"/>
                  <a:tailEnd type="none" w="med" len="med"/>
                </a:ln>
              </p:spPr>
              <p:txBody>
                <a:bodyPr wrap="none" anchor="ctr"/>
                <a:lstStyle/>
                <a:p>
                  <a:pPr lvl="0" algn="ctr" eaLnBrk="1" hangingPunct="1"/>
                  <a:r>
                    <a:rPr lang="en-US" altLang="zh-CN" sz="1800" b="1" dirty="0">
                      <a:solidFill>
                        <a:schemeClr val="bg2"/>
                      </a:solidFill>
                      <a:latin typeface="Times New Roman" panose="02020603050405020304" pitchFamily="18" charset="0"/>
                      <a:ea typeface="宋体" panose="02010600030101010101" pitchFamily="2" charset="-122"/>
                    </a:rPr>
                    <a:t>0</a:t>
                  </a:r>
                </a:p>
              </p:txBody>
            </p:sp>
            <p:sp>
              <p:nvSpPr>
                <p:cNvPr id="131205" name="Rectangle 37"/>
                <p:cNvSpPr/>
                <p:nvPr/>
              </p:nvSpPr>
              <p:spPr>
                <a:xfrm>
                  <a:off x="1008" y="2316"/>
                  <a:ext cx="480" cy="132"/>
                </a:xfrm>
                <a:prstGeom prst="rect">
                  <a:avLst/>
                </a:prstGeom>
                <a:solidFill>
                  <a:schemeClr val="bg1"/>
                </a:solidFill>
                <a:ln w="9525" cap="flat" cmpd="sng">
                  <a:noFill/>
                  <a:prstDash val="solid"/>
                  <a:miter/>
                  <a:headEnd type="none" w="med" len="med"/>
                  <a:tailEnd type="none" w="med" len="med"/>
                </a:ln>
              </p:spPr>
              <p:txBody>
                <a:bodyPr wrap="none" anchor="ctr"/>
                <a:lstStyle/>
                <a:p>
                  <a:pPr lvl="0" algn="ctr" eaLnBrk="1" hangingPunct="1"/>
                  <a:r>
                    <a:rPr lang="en-US" altLang="zh-CN" sz="1800" b="1" dirty="0">
                      <a:solidFill>
                        <a:schemeClr val="bg2"/>
                      </a:solidFill>
                      <a:latin typeface="Times New Roman" panose="02020603050405020304" pitchFamily="18" charset="0"/>
                      <a:ea typeface="宋体" panose="02010600030101010101" pitchFamily="2" charset="-122"/>
                    </a:rPr>
                    <a:t>0.0218</a:t>
                  </a:r>
                </a:p>
              </p:txBody>
            </p:sp>
            <p:sp>
              <p:nvSpPr>
                <p:cNvPr id="131206" name="Rectangle 38"/>
                <p:cNvSpPr/>
                <p:nvPr/>
              </p:nvSpPr>
              <p:spPr>
                <a:xfrm>
                  <a:off x="1560" y="2316"/>
                  <a:ext cx="384" cy="132"/>
                </a:xfrm>
                <a:prstGeom prst="rect">
                  <a:avLst/>
                </a:prstGeom>
                <a:solidFill>
                  <a:schemeClr val="bg1"/>
                </a:solidFill>
                <a:ln w="9525" cap="flat" cmpd="sng">
                  <a:noFill/>
                  <a:prstDash val="solid"/>
                  <a:miter/>
                  <a:headEnd type="none" w="med" len="med"/>
                  <a:tailEnd type="none" w="med" len="med"/>
                </a:ln>
              </p:spPr>
              <p:txBody>
                <a:bodyPr wrap="none" anchor="ctr"/>
                <a:lstStyle/>
                <a:p>
                  <a:pPr lvl="0" algn="ctr" eaLnBrk="1" hangingPunct="1"/>
                  <a:r>
                    <a:rPr lang="en-US" altLang="zh-CN" sz="1800" b="1" dirty="0">
                      <a:solidFill>
                        <a:srgbClr val="CC0099"/>
                      </a:solidFill>
                      <a:latin typeface="Times New Roman" panose="02020603050405020304" pitchFamily="18" charset="0"/>
                      <a:ea typeface="宋体" panose="02010600030101010101" pitchFamily="2" charset="-122"/>
                    </a:rPr>
                    <a:t>0.77</a:t>
                  </a:r>
                </a:p>
              </p:txBody>
            </p:sp>
            <p:sp>
              <p:nvSpPr>
                <p:cNvPr id="131207" name="Rectangle 39"/>
                <p:cNvSpPr/>
                <p:nvPr/>
              </p:nvSpPr>
              <p:spPr>
                <a:xfrm>
                  <a:off x="2220" y="2304"/>
                  <a:ext cx="432" cy="144"/>
                </a:xfrm>
                <a:prstGeom prst="rect">
                  <a:avLst/>
                </a:prstGeom>
                <a:solidFill>
                  <a:schemeClr val="bg1"/>
                </a:solidFill>
                <a:ln w="9525" cap="flat" cmpd="sng">
                  <a:noFill/>
                  <a:prstDash val="solid"/>
                  <a:miter/>
                  <a:headEnd type="none" w="med" len="med"/>
                  <a:tailEnd type="none" w="med" len="med"/>
                </a:ln>
              </p:spPr>
              <p:txBody>
                <a:bodyPr wrap="none" anchor="ctr"/>
                <a:lstStyle/>
                <a:p>
                  <a:pPr lvl="0" algn="ctr" eaLnBrk="1" hangingPunct="1"/>
                  <a:r>
                    <a:rPr lang="en-US" altLang="zh-CN" sz="1800" b="1" dirty="0">
                      <a:solidFill>
                        <a:schemeClr val="bg2"/>
                      </a:solidFill>
                      <a:latin typeface="Times New Roman" panose="02020603050405020304" pitchFamily="18" charset="0"/>
                      <a:ea typeface="宋体" panose="02010600030101010101" pitchFamily="2" charset="-122"/>
                    </a:rPr>
                    <a:t>2.11</a:t>
                  </a:r>
                </a:p>
              </p:txBody>
            </p:sp>
            <p:sp>
              <p:nvSpPr>
                <p:cNvPr id="131208" name="Rectangle 40"/>
                <p:cNvSpPr/>
                <p:nvPr/>
              </p:nvSpPr>
              <p:spPr>
                <a:xfrm>
                  <a:off x="3792" y="2304"/>
                  <a:ext cx="432" cy="144"/>
                </a:xfrm>
                <a:prstGeom prst="rect">
                  <a:avLst/>
                </a:prstGeom>
                <a:solidFill>
                  <a:schemeClr val="bg1"/>
                </a:solidFill>
                <a:ln w="9525" cap="flat" cmpd="sng">
                  <a:noFill/>
                  <a:prstDash val="solid"/>
                  <a:miter/>
                  <a:headEnd type="none" w="med" len="med"/>
                  <a:tailEnd type="none" w="med" len="med"/>
                </a:ln>
              </p:spPr>
              <p:txBody>
                <a:bodyPr wrap="none" anchor="ctr"/>
                <a:lstStyle/>
                <a:p>
                  <a:pPr lvl="0" algn="ctr" eaLnBrk="1" hangingPunct="1"/>
                  <a:r>
                    <a:rPr lang="en-US" altLang="zh-CN" sz="1800" b="1" dirty="0">
                      <a:solidFill>
                        <a:srgbClr val="CC0099"/>
                      </a:solidFill>
                      <a:latin typeface="Times New Roman" panose="02020603050405020304" pitchFamily="18" charset="0"/>
                      <a:ea typeface="宋体" panose="02010600030101010101" pitchFamily="2" charset="-122"/>
                    </a:rPr>
                    <a:t>4.3</a:t>
                  </a:r>
                </a:p>
              </p:txBody>
            </p:sp>
            <p:sp>
              <p:nvSpPr>
                <p:cNvPr id="131209" name="Rectangle 41"/>
                <p:cNvSpPr/>
                <p:nvPr/>
              </p:nvSpPr>
              <p:spPr>
                <a:xfrm>
                  <a:off x="5232" y="2292"/>
                  <a:ext cx="300" cy="192"/>
                </a:xfrm>
                <a:prstGeom prst="rect">
                  <a:avLst/>
                </a:prstGeom>
                <a:solidFill>
                  <a:schemeClr val="bg1"/>
                </a:solidFill>
                <a:ln w="9525" cap="flat" cmpd="sng">
                  <a:noFill/>
                  <a:prstDash val="solid"/>
                  <a:miter/>
                  <a:headEnd type="none" w="med" len="med"/>
                  <a:tailEnd type="none" w="med" len="med"/>
                </a:ln>
              </p:spPr>
              <p:txBody>
                <a:bodyPr wrap="none" anchor="ctr"/>
                <a:lstStyle/>
                <a:p>
                  <a:pPr lvl="0" algn="ctr" eaLnBrk="1" hangingPunct="1"/>
                  <a:r>
                    <a:rPr lang="en-US" altLang="zh-CN" sz="1800" b="1" dirty="0">
                      <a:solidFill>
                        <a:schemeClr val="bg2"/>
                      </a:solidFill>
                      <a:latin typeface="Times New Roman" panose="02020603050405020304" pitchFamily="18" charset="0"/>
                      <a:ea typeface="宋体" panose="02010600030101010101" pitchFamily="2" charset="-122"/>
                    </a:rPr>
                    <a:t>6.69</a:t>
                  </a:r>
                </a:p>
              </p:txBody>
            </p:sp>
            <p:sp>
              <p:nvSpPr>
                <p:cNvPr id="131210" name="Rectangle 42"/>
                <p:cNvSpPr/>
                <p:nvPr/>
              </p:nvSpPr>
              <p:spPr>
                <a:xfrm>
                  <a:off x="960" y="2616"/>
                  <a:ext cx="192" cy="108"/>
                </a:xfrm>
                <a:prstGeom prst="rect">
                  <a:avLst/>
                </a:prstGeom>
                <a:solidFill>
                  <a:srgbClr val="F8D4F8"/>
                </a:solidFill>
                <a:ln w="9525">
                  <a:noFill/>
                </a:ln>
              </p:spPr>
              <p:txBody>
                <a:bodyPr wrap="none" anchor="ctr"/>
                <a:lstStyle/>
                <a:p>
                  <a:pPr lvl="0" algn="ctr" eaLnBrk="1" hangingPunct="1"/>
                  <a:r>
                    <a:rPr lang="en-US" altLang="zh-CN" sz="1800" b="1" dirty="0">
                      <a:solidFill>
                        <a:schemeClr val="bg2"/>
                      </a:solidFill>
                      <a:latin typeface="Times New Roman" panose="02020603050405020304" pitchFamily="18" charset="0"/>
                      <a:ea typeface="宋体" panose="02010600030101010101" pitchFamily="2" charset="-122"/>
                    </a:rPr>
                    <a:t>100</a:t>
                  </a:r>
                </a:p>
              </p:txBody>
            </p:sp>
            <p:sp>
              <p:nvSpPr>
                <p:cNvPr id="131211" name="Rectangle 43"/>
                <p:cNvSpPr/>
                <p:nvPr/>
              </p:nvSpPr>
              <p:spPr>
                <a:xfrm>
                  <a:off x="960" y="3516"/>
                  <a:ext cx="192" cy="132"/>
                </a:xfrm>
                <a:prstGeom prst="rect">
                  <a:avLst/>
                </a:prstGeom>
                <a:solidFill>
                  <a:srgbClr val="F8D4F8"/>
                </a:solidFill>
                <a:ln w="9525">
                  <a:noFill/>
                </a:ln>
              </p:spPr>
              <p:txBody>
                <a:bodyPr wrap="none" anchor="ctr"/>
                <a:lstStyle/>
                <a:p>
                  <a:pPr lvl="0" algn="ctr" eaLnBrk="1" hangingPunct="1"/>
                  <a:r>
                    <a:rPr lang="en-US" altLang="zh-CN" sz="1800" b="1" dirty="0">
                      <a:solidFill>
                        <a:schemeClr val="bg2"/>
                      </a:solidFill>
                      <a:latin typeface="Times New Roman" panose="02020603050405020304" pitchFamily="18" charset="0"/>
                      <a:ea typeface="宋体" panose="02010600030101010101" pitchFamily="2" charset="-122"/>
                    </a:rPr>
                    <a:t>100</a:t>
                  </a:r>
                </a:p>
              </p:txBody>
            </p:sp>
            <p:sp>
              <p:nvSpPr>
                <p:cNvPr id="131212" name="Rectangle 44"/>
                <p:cNvSpPr/>
                <p:nvPr/>
              </p:nvSpPr>
              <p:spPr>
                <a:xfrm>
                  <a:off x="948" y="3192"/>
                  <a:ext cx="47" cy="96"/>
                </a:xfrm>
                <a:prstGeom prst="rect">
                  <a:avLst/>
                </a:prstGeom>
                <a:solidFill>
                  <a:srgbClr val="F8D4F8"/>
                </a:solidFill>
                <a:ln w="9525">
                  <a:noFill/>
                </a:ln>
              </p:spPr>
              <p:txBody>
                <a:bodyPr wrap="none" anchor="ctr"/>
                <a:lstStyle/>
                <a:p>
                  <a:pPr lvl="0" algn="ctr" eaLnBrk="1" hangingPunct="1"/>
                  <a:r>
                    <a:rPr lang="en-US" altLang="zh-CN" sz="1800" b="1" dirty="0">
                      <a:solidFill>
                        <a:schemeClr val="bg2"/>
                      </a:solidFill>
                      <a:latin typeface="Times New Roman" panose="02020603050405020304" pitchFamily="18" charset="0"/>
                      <a:ea typeface="宋体" panose="02010600030101010101" pitchFamily="2" charset="-122"/>
                    </a:rPr>
                    <a:t>0</a:t>
                  </a:r>
                </a:p>
              </p:txBody>
            </p:sp>
            <p:sp>
              <p:nvSpPr>
                <p:cNvPr id="131213" name="Rectangle 45"/>
                <p:cNvSpPr/>
                <p:nvPr/>
              </p:nvSpPr>
              <p:spPr>
                <a:xfrm>
                  <a:off x="972" y="4068"/>
                  <a:ext cx="47" cy="96"/>
                </a:xfrm>
                <a:prstGeom prst="rect">
                  <a:avLst/>
                </a:prstGeom>
                <a:solidFill>
                  <a:srgbClr val="F8D4F8"/>
                </a:solidFill>
                <a:ln w="9525">
                  <a:noFill/>
                </a:ln>
              </p:spPr>
              <p:txBody>
                <a:bodyPr wrap="none" anchor="ctr"/>
                <a:lstStyle/>
                <a:p>
                  <a:pPr lvl="0" algn="ctr" eaLnBrk="1" hangingPunct="1"/>
                  <a:r>
                    <a:rPr lang="en-US" altLang="zh-CN" sz="1800" b="1" dirty="0">
                      <a:solidFill>
                        <a:schemeClr val="bg2"/>
                      </a:solidFill>
                      <a:latin typeface="Times New Roman" panose="02020603050405020304" pitchFamily="18" charset="0"/>
                      <a:ea typeface="宋体" panose="02010600030101010101" pitchFamily="2" charset="-122"/>
                    </a:rPr>
                    <a:t>0</a:t>
                  </a:r>
                </a:p>
              </p:txBody>
            </p:sp>
          </p:grpSp>
          <p:sp>
            <p:nvSpPr>
              <p:cNvPr id="131181" name="Line 46"/>
              <p:cNvSpPr/>
              <p:nvPr/>
            </p:nvSpPr>
            <p:spPr>
              <a:xfrm>
                <a:off x="1152" y="3168"/>
                <a:ext cx="0" cy="144"/>
              </a:xfrm>
              <a:prstGeom prst="line">
                <a:avLst/>
              </a:prstGeom>
              <a:ln w="9525" cap="flat" cmpd="sng">
                <a:solidFill>
                  <a:schemeClr val="bg2"/>
                </a:solidFill>
                <a:prstDash val="solid"/>
                <a:headEnd type="none" w="med" len="med"/>
                <a:tailEnd type="none" w="med" len="med"/>
              </a:ln>
            </p:spPr>
          </p:sp>
          <p:sp>
            <p:nvSpPr>
              <p:cNvPr id="131182" name="Line 47"/>
              <p:cNvSpPr/>
              <p:nvPr/>
            </p:nvSpPr>
            <p:spPr>
              <a:xfrm>
                <a:off x="1296" y="3024"/>
                <a:ext cx="0" cy="288"/>
              </a:xfrm>
              <a:prstGeom prst="line">
                <a:avLst/>
              </a:prstGeom>
              <a:ln w="9525" cap="flat" cmpd="sng">
                <a:solidFill>
                  <a:schemeClr val="bg2"/>
                </a:solidFill>
                <a:prstDash val="solid"/>
                <a:headEnd type="none" w="med" len="med"/>
                <a:tailEnd type="none" w="med" len="med"/>
              </a:ln>
            </p:spPr>
          </p:sp>
          <p:sp>
            <p:nvSpPr>
              <p:cNvPr id="131183" name="Line 48"/>
              <p:cNvSpPr/>
              <p:nvPr/>
            </p:nvSpPr>
            <p:spPr>
              <a:xfrm>
                <a:off x="1440" y="2880"/>
                <a:ext cx="0" cy="432"/>
              </a:xfrm>
              <a:prstGeom prst="line">
                <a:avLst/>
              </a:prstGeom>
              <a:ln w="9525" cap="flat" cmpd="sng">
                <a:solidFill>
                  <a:schemeClr val="bg2"/>
                </a:solidFill>
                <a:prstDash val="solid"/>
                <a:headEnd type="none" w="med" len="med"/>
                <a:tailEnd type="none" w="med" len="med"/>
              </a:ln>
            </p:spPr>
          </p:sp>
          <p:sp>
            <p:nvSpPr>
              <p:cNvPr id="131184" name="Line 49"/>
              <p:cNvSpPr/>
              <p:nvPr/>
            </p:nvSpPr>
            <p:spPr>
              <a:xfrm>
                <a:off x="1584" y="2736"/>
                <a:ext cx="0" cy="576"/>
              </a:xfrm>
              <a:prstGeom prst="line">
                <a:avLst/>
              </a:prstGeom>
              <a:ln w="9525" cap="flat" cmpd="sng">
                <a:solidFill>
                  <a:schemeClr val="bg2"/>
                </a:solidFill>
                <a:prstDash val="solid"/>
                <a:headEnd type="none" w="med" len="med"/>
                <a:tailEnd type="none" w="med" len="med"/>
              </a:ln>
            </p:spPr>
          </p:sp>
          <p:sp>
            <p:nvSpPr>
              <p:cNvPr id="131185" name="Line 50"/>
              <p:cNvSpPr/>
              <p:nvPr/>
            </p:nvSpPr>
            <p:spPr>
              <a:xfrm>
                <a:off x="1728" y="2640"/>
                <a:ext cx="0" cy="192"/>
              </a:xfrm>
              <a:prstGeom prst="line">
                <a:avLst/>
              </a:prstGeom>
              <a:ln w="9525" cap="flat" cmpd="sng">
                <a:solidFill>
                  <a:schemeClr val="bg2"/>
                </a:solidFill>
                <a:prstDash val="solid"/>
                <a:headEnd type="none" w="med" len="med"/>
                <a:tailEnd type="none" w="med" len="med"/>
              </a:ln>
            </p:spPr>
          </p:sp>
          <p:sp>
            <p:nvSpPr>
              <p:cNvPr id="131186" name="Line 51"/>
              <p:cNvSpPr/>
              <p:nvPr/>
            </p:nvSpPr>
            <p:spPr>
              <a:xfrm>
                <a:off x="1728" y="3072"/>
                <a:ext cx="0" cy="240"/>
              </a:xfrm>
              <a:prstGeom prst="line">
                <a:avLst/>
              </a:prstGeom>
              <a:ln w="9525" cap="flat" cmpd="sng">
                <a:solidFill>
                  <a:schemeClr val="bg2"/>
                </a:solidFill>
                <a:prstDash val="solid"/>
                <a:headEnd type="none" w="med" len="med"/>
                <a:tailEnd type="none" w="med" len="med"/>
              </a:ln>
            </p:spPr>
          </p:sp>
          <p:sp>
            <p:nvSpPr>
              <p:cNvPr id="131187" name="Line 52"/>
              <p:cNvSpPr/>
              <p:nvPr/>
            </p:nvSpPr>
            <p:spPr>
              <a:xfrm>
                <a:off x="1872" y="2640"/>
                <a:ext cx="0" cy="192"/>
              </a:xfrm>
              <a:prstGeom prst="line">
                <a:avLst/>
              </a:prstGeom>
              <a:ln w="9525" cap="flat" cmpd="sng">
                <a:solidFill>
                  <a:schemeClr val="bg2"/>
                </a:solidFill>
                <a:prstDash val="solid"/>
                <a:headEnd type="none" w="med" len="med"/>
                <a:tailEnd type="none" w="med" len="med"/>
              </a:ln>
            </p:spPr>
          </p:sp>
          <p:sp>
            <p:nvSpPr>
              <p:cNvPr id="131188" name="Line 53"/>
              <p:cNvSpPr/>
              <p:nvPr/>
            </p:nvSpPr>
            <p:spPr>
              <a:xfrm>
                <a:off x="1872" y="3072"/>
                <a:ext cx="0" cy="240"/>
              </a:xfrm>
              <a:prstGeom prst="line">
                <a:avLst/>
              </a:prstGeom>
              <a:ln w="9525" cap="flat" cmpd="sng">
                <a:solidFill>
                  <a:schemeClr val="bg2"/>
                </a:solidFill>
                <a:prstDash val="solid"/>
                <a:headEnd type="none" w="med" len="med"/>
                <a:tailEnd type="none" w="med" len="med"/>
              </a:ln>
            </p:spPr>
          </p:sp>
          <p:sp>
            <p:nvSpPr>
              <p:cNvPr id="131189" name="Line 54"/>
              <p:cNvSpPr/>
              <p:nvPr/>
            </p:nvSpPr>
            <p:spPr>
              <a:xfrm>
                <a:off x="2016" y="2688"/>
                <a:ext cx="0" cy="144"/>
              </a:xfrm>
              <a:prstGeom prst="line">
                <a:avLst/>
              </a:prstGeom>
              <a:ln w="9525" cap="flat" cmpd="sng">
                <a:solidFill>
                  <a:schemeClr val="bg2"/>
                </a:solidFill>
                <a:prstDash val="solid"/>
                <a:headEnd type="none" w="med" len="med"/>
                <a:tailEnd type="none" w="med" len="med"/>
              </a:ln>
            </p:spPr>
          </p:sp>
          <p:sp>
            <p:nvSpPr>
              <p:cNvPr id="131190" name="Line 55"/>
              <p:cNvSpPr/>
              <p:nvPr/>
            </p:nvSpPr>
            <p:spPr>
              <a:xfrm>
                <a:off x="2016" y="3072"/>
                <a:ext cx="0" cy="240"/>
              </a:xfrm>
              <a:prstGeom prst="line">
                <a:avLst/>
              </a:prstGeom>
              <a:ln w="9525" cap="flat" cmpd="sng">
                <a:solidFill>
                  <a:schemeClr val="bg2"/>
                </a:solidFill>
                <a:prstDash val="solid"/>
                <a:headEnd type="none" w="med" len="med"/>
                <a:tailEnd type="none" w="med" len="med"/>
              </a:ln>
            </p:spPr>
          </p:sp>
          <p:sp>
            <p:nvSpPr>
              <p:cNvPr id="131191" name="Line 56"/>
              <p:cNvSpPr/>
              <p:nvPr/>
            </p:nvSpPr>
            <p:spPr>
              <a:xfrm>
                <a:off x="2160" y="2688"/>
                <a:ext cx="0" cy="624"/>
              </a:xfrm>
              <a:prstGeom prst="line">
                <a:avLst/>
              </a:prstGeom>
              <a:ln w="9525" cap="flat" cmpd="sng">
                <a:solidFill>
                  <a:schemeClr val="bg2"/>
                </a:solidFill>
                <a:prstDash val="solid"/>
                <a:headEnd type="none" w="med" len="med"/>
                <a:tailEnd type="none" w="med" len="med"/>
              </a:ln>
            </p:spPr>
          </p:sp>
          <p:sp>
            <p:nvSpPr>
              <p:cNvPr id="131192" name="Line 57"/>
              <p:cNvSpPr/>
              <p:nvPr/>
            </p:nvSpPr>
            <p:spPr>
              <a:xfrm>
                <a:off x="2304" y="2736"/>
                <a:ext cx="0" cy="576"/>
              </a:xfrm>
              <a:prstGeom prst="line">
                <a:avLst/>
              </a:prstGeom>
              <a:ln w="9525" cap="flat" cmpd="sng">
                <a:solidFill>
                  <a:schemeClr val="bg2"/>
                </a:solidFill>
                <a:prstDash val="solid"/>
                <a:headEnd type="none" w="med" len="med"/>
                <a:tailEnd type="none" w="med" len="med"/>
              </a:ln>
            </p:spPr>
          </p:sp>
          <p:sp>
            <p:nvSpPr>
              <p:cNvPr id="131193" name="Line 58"/>
              <p:cNvSpPr/>
              <p:nvPr/>
            </p:nvSpPr>
            <p:spPr>
              <a:xfrm>
                <a:off x="2448" y="2736"/>
                <a:ext cx="0" cy="576"/>
              </a:xfrm>
              <a:prstGeom prst="line">
                <a:avLst/>
              </a:prstGeom>
              <a:ln w="9525" cap="flat" cmpd="sng">
                <a:solidFill>
                  <a:schemeClr val="bg2"/>
                </a:solidFill>
                <a:prstDash val="solid"/>
                <a:headEnd type="none" w="med" len="med"/>
                <a:tailEnd type="none" w="med" len="med"/>
              </a:ln>
            </p:spPr>
          </p:sp>
          <p:sp>
            <p:nvSpPr>
              <p:cNvPr id="131194" name="Line 59"/>
              <p:cNvSpPr/>
              <p:nvPr/>
            </p:nvSpPr>
            <p:spPr>
              <a:xfrm>
                <a:off x="2592" y="2736"/>
                <a:ext cx="0" cy="480"/>
              </a:xfrm>
              <a:prstGeom prst="line">
                <a:avLst/>
              </a:prstGeom>
              <a:ln w="9525" cap="flat" cmpd="sng">
                <a:solidFill>
                  <a:schemeClr val="bg2"/>
                </a:solidFill>
                <a:prstDash val="solid"/>
                <a:headEnd type="none" w="med" len="med"/>
                <a:tailEnd type="none" w="med" len="med"/>
              </a:ln>
            </p:spPr>
          </p:sp>
          <p:sp>
            <p:nvSpPr>
              <p:cNvPr id="131195" name="Line 60"/>
              <p:cNvSpPr/>
              <p:nvPr/>
            </p:nvSpPr>
            <p:spPr>
              <a:xfrm>
                <a:off x="2736" y="2736"/>
                <a:ext cx="0" cy="432"/>
              </a:xfrm>
              <a:prstGeom prst="line">
                <a:avLst/>
              </a:prstGeom>
              <a:ln w="9525" cap="flat" cmpd="sng">
                <a:solidFill>
                  <a:schemeClr val="bg2"/>
                </a:solidFill>
                <a:prstDash val="solid"/>
                <a:headEnd type="none" w="med" len="med"/>
                <a:tailEnd type="none" w="med" len="med"/>
              </a:ln>
            </p:spPr>
          </p:sp>
          <p:sp>
            <p:nvSpPr>
              <p:cNvPr id="131196" name="Line 61"/>
              <p:cNvSpPr/>
              <p:nvPr/>
            </p:nvSpPr>
            <p:spPr>
              <a:xfrm>
                <a:off x="2880" y="2712"/>
                <a:ext cx="0" cy="384"/>
              </a:xfrm>
              <a:prstGeom prst="line">
                <a:avLst/>
              </a:prstGeom>
              <a:ln w="9525" cap="flat" cmpd="sng">
                <a:solidFill>
                  <a:schemeClr val="bg2"/>
                </a:solidFill>
                <a:prstDash val="solid"/>
                <a:headEnd type="none" w="med" len="med"/>
                <a:tailEnd type="none" w="med" len="med"/>
              </a:ln>
            </p:spPr>
          </p:sp>
          <p:sp>
            <p:nvSpPr>
              <p:cNvPr id="131197" name="Line 62"/>
              <p:cNvSpPr/>
              <p:nvPr/>
            </p:nvSpPr>
            <p:spPr>
              <a:xfrm>
                <a:off x="3024" y="2688"/>
                <a:ext cx="0" cy="336"/>
              </a:xfrm>
              <a:prstGeom prst="line">
                <a:avLst/>
              </a:prstGeom>
              <a:ln w="9525" cap="flat" cmpd="sng">
                <a:solidFill>
                  <a:schemeClr val="bg2"/>
                </a:solidFill>
                <a:prstDash val="solid"/>
                <a:headEnd type="none" w="med" len="med"/>
                <a:tailEnd type="none" w="med" len="med"/>
              </a:ln>
            </p:spPr>
          </p:sp>
          <p:sp>
            <p:nvSpPr>
              <p:cNvPr id="131198" name="Line 63"/>
              <p:cNvSpPr/>
              <p:nvPr/>
            </p:nvSpPr>
            <p:spPr>
              <a:xfrm>
                <a:off x="3168" y="2688"/>
                <a:ext cx="0" cy="288"/>
              </a:xfrm>
              <a:prstGeom prst="line">
                <a:avLst/>
              </a:prstGeom>
              <a:ln w="9525" cap="flat" cmpd="sng">
                <a:solidFill>
                  <a:schemeClr val="bg2"/>
                </a:solidFill>
                <a:prstDash val="solid"/>
                <a:headEnd type="none" w="med" len="med"/>
                <a:tailEnd type="none" w="med" len="med"/>
              </a:ln>
            </p:spPr>
          </p:sp>
          <p:sp>
            <p:nvSpPr>
              <p:cNvPr id="131199" name="Line 64"/>
              <p:cNvSpPr/>
              <p:nvPr/>
            </p:nvSpPr>
            <p:spPr>
              <a:xfrm>
                <a:off x="3312" y="2688"/>
                <a:ext cx="0" cy="192"/>
              </a:xfrm>
              <a:prstGeom prst="line">
                <a:avLst/>
              </a:prstGeom>
              <a:ln w="9525" cap="flat" cmpd="sng">
                <a:solidFill>
                  <a:schemeClr val="bg2"/>
                </a:solidFill>
                <a:prstDash val="solid"/>
                <a:headEnd type="none" w="med" len="med"/>
                <a:tailEnd type="none" w="med" len="med"/>
              </a:ln>
            </p:spPr>
          </p:sp>
          <p:sp>
            <p:nvSpPr>
              <p:cNvPr id="131200" name="Line 65"/>
              <p:cNvSpPr/>
              <p:nvPr/>
            </p:nvSpPr>
            <p:spPr>
              <a:xfrm>
                <a:off x="3456" y="2640"/>
                <a:ext cx="0" cy="192"/>
              </a:xfrm>
              <a:prstGeom prst="line">
                <a:avLst/>
              </a:prstGeom>
              <a:ln w="9525" cap="flat" cmpd="sng">
                <a:solidFill>
                  <a:schemeClr val="bg2"/>
                </a:solidFill>
                <a:prstDash val="solid"/>
                <a:headEnd type="none" w="med" len="med"/>
                <a:tailEnd type="none" w="med" len="med"/>
              </a:ln>
            </p:spPr>
          </p:sp>
          <p:sp>
            <p:nvSpPr>
              <p:cNvPr id="131201" name="Line 66"/>
              <p:cNvSpPr/>
              <p:nvPr/>
            </p:nvSpPr>
            <p:spPr>
              <a:xfrm>
                <a:off x="3600" y="2640"/>
                <a:ext cx="0" cy="96"/>
              </a:xfrm>
              <a:prstGeom prst="line">
                <a:avLst/>
              </a:prstGeom>
              <a:ln w="9525" cap="flat" cmpd="sng">
                <a:solidFill>
                  <a:schemeClr val="bg2"/>
                </a:solidFill>
                <a:prstDash val="solid"/>
                <a:headEnd type="none" w="med" len="med"/>
                <a:tailEnd type="none" w="med" len="med"/>
              </a:ln>
            </p:spPr>
          </p:sp>
          <p:sp>
            <p:nvSpPr>
              <p:cNvPr id="131202" name="Line 67"/>
              <p:cNvSpPr/>
              <p:nvPr/>
            </p:nvSpPr>
            <p:spPr>
              <a:xfrm>
                <a:off x="3744" y="2640"/>
                <a:ext cx="0" cy="48"/>
              </a:xfrm>
              <a:prstGeom prst="line">
                <a:avLst/>
              </a:prstGeom>
              <a:ln w="9525" cap="flat" cmpd="sng">
                <a:solidFill>
                  <a:schemeClr val="bg2"/>
                </a:solidFill>
                <a:prstDash val="solid"/>
                <a:headEnd type="none" w="med" len="med"/>
                <a:tailEnd type="none" w="med" len="med"/>
              </a:ln>
            </p:spPr>
          </p:sp>
        </p:grpSp>
        <p:sp>
          <p:nvSpPr>
            <p:cNvPr id="131081" name="Oval 68"/>
            <p:cNvSpPr/>
            <p:nvPr/>
          </p:nvSpPr>
          <p:spPr>
            <a:xfrm>
              <a:off x="3264" y="3067"/>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082" name="Oval 69"/>
            <p:cNvSpPr/>
            <p:nvPr/>
          </p:nvSpPr>
          <p:spPr>
            <a:xfrm>
              <a:off x="3840" y="2719"/>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083" name="Oval 70"/>
            <p:cNvSpPr/>
            <p:nvPr/>
          </p:nvSpPr>
          <p:spPr>
            <a:xfrm>
              <a:off x="3936" y="2683"/>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084" name="Oval 71"/>
            <p:cNvSpPr/>
            <p:nvPr/>
          </p:nvSpPr>
          <p:spPr>
            <a:xfrm>
              <a:off x="3984" y="2587"/>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085" name="Oval 72"/>
            <p:cNvSpPr/>
            <p:nvPr/>
          </p:nvSpPr>
          <p:spPr>
            <a:xfrm>
              <a:off x="4800" y="3067"/>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086" name="Oval 73"/>
            <p:cNvSpPr/>
            <p:nvPr/>
          </p:nvSpPr>
          <p:spPr>
            <a:xfrm>
              <a:off x="3648" y="2779"/>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087" name="Oval 74"/>
            <p:cNvSpPr/>
            <p:nvPr/>
          </p:nvSpPr>
          <p:spPr>
            <a:xfrm>
              <a:off x="3936" y="2779"/>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088" name="Oval 75"/>
            <p:cNvSpPr/>
            <p:nvPr/>
          </p:nvSpPr>
          <p:spPr>
            <a:xfrm>
              <a:off x="3744" y="2683"/>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089" name="Oval 76"/>
            <p:cNvSpPr/>
            <p:nvPr/>
          </p:nvSpPr>
          <p:spPr>
            <a:xfrm>
              <a:off x="4320" y="2815"/>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090" name="Oval 77"/>
            <p:cNvSpPr/>
            <p:nvPr/>
          </p:nvSpPr>
          <p:spPr>
            <a:xfrm>
              <a:off x="4176" y="2731"/>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091" name="Oval 78"/>
            <p:cNvSpPr/>
            <p:nvPr/>
          </p:nvSpPr>
          <p:spPr>
            <a:xfrm>
              <a:off x="4080" y="2683"/>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092" name="Oval 79"/>
            <p:cNvSpPr/>
            <p:nvPr/>
          </p:nvSpPr>
          <p:spPr>
            <a:xfrm>
              <a:off x="4944" y="3115"/>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093" name="Oval 80"/>
            <p:cNvSpPr/>
            <p:nvPr/>
          </p:nvSpPr>
          <p:spPr>
            <a:xfrm>
              <a:off x="4896" y="3163"/>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094" name="Oval 81"/>
            <p:cNvSpPr/>
            <p:nvPr/>
          </p:nvSpPr>
          <p:spPr>
            <a:xfrm>
              <a:off x="5040" y="3115"/>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095" name="Oval 82"/>
            <p:cNvSpPr/>
            <p:nvPr/>
          </p:nvSpPr>
          <p:spPr>
            <a:xfrm>
              <a:off x="5136" y="3163"/>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096" name="Oval 83"/>
            <p:cNvSpPr/>
            <p:nvPr/>
          </p:nvSpPr>
          <p:spPr>
            <a:xfrm>
              <a:off x="5280" y="3163"/>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097" name="Oval 84"/>
            <p:cNvSpPr/>
            <p:nvPr/>
          </p:nvSpPr>
          <p:spPr>
            <a:xfrm>
              <a:off x="4464" y="2827"/>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098" name="Oval 85"/>
            <p:cNvSpPr/>
            <p:nvPr/>
          </p:nvSpPr>
          <p:spPr>
            <a:xfrm>
              <a:off x="4320" y="2923"/>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099" name="Oval 86"/>
            <p:cNvSpPr/>
            <p:nvPr/>
          </p:nvSpPr>
          <p:spPr>
            <a:xfrm>
              <a:off x="4224" y="2875"/>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00" name="Oval 87"/>
            <p:cNvSpPr/>
            <p:nvPr/>
          </p:nvSpPr>
          <p:spPr>
            <a:xfrm>
              <a:off x="4176" y="3079"/>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01" name="Oval 88"/>
            <p:cNvSpPr/>
            <p:nvPr/>
          </p:nvSpPr>
          <p:spPr>
            <a:xfrm>
              <a:off x="4128" y="3019"/>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02" name="Oval 89"/>
            <p:cNvSpPr/>
            <p:nvPr/>
          </p:nvSpPr>
          <p:spPr>
            <a:xfrm>
              <a:off x="3600" y="2839"/>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03" name="Oval 90"/>
            <p:cNvSpPr/>
            <p:nvPr/>
          </p:nvSpPr>
          <p:spPr>
            <a:xfrm>
              <a:off x="4272" y="3103"/>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04" name="Oval 91"/>
            <p:cNvSpPr/>
            <p:nvPr/>
          </p:nvSpPr>
          <p:spPr>
            <a:xfrm>
              <a:off x="4320" y="3163"/>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05" name="Oval 92"/>
            <p:cNvSpPr/>
            <p:nvPr/>
          </p:nvSpPr>
          <p:spPr>
            <a:xfrm>
              <a:off x="4464" y="2971"/>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06" name="Oval 93"/>
            <p:cNvSpPr/>
            <p:nvPr/>
          </p:nvSpPr>
          <p:spPr>
            <a:xfrm>
              <a:off x="4464" y="3115"/>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07" name="Oval 94"/>
            <p:cNvSpPr/>
            <p:nvPr/>
          </p:nvSpPr>
          <p:spPr>
            <a:xfrm>
              <a:off x="4704" y="3115"/>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08" name="Oval 95"/>
            <p:cNvSpPr/>
            <p:nvPr/>
          </p:nvSpPr>
          <p:spPr>
            <a:xfrm>
              <a:off x="4608" y="3055"/>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09" name="Oval 96"/>
            <p:cNvSpPr/>
            <p:nvPr/>
          </p:nvSpPr>
          <p:spPr>
            <a:xfrm>
              <a:off x="4560" y="2875"/>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10" name="Oval 97"/>
            <p:cNvSpPr/>
            <p:nvPr/>
          </p:nvSpPr>
          <p:spPr>
            <a:xfrm>
              <a:off x="3552" y="3211"/>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11" name="Oval 98"/>
            <p:cNvSpPr/>
            <p:nvPr/>
          </p:nvSpPr>
          <p:spPr>
            <a:xfrm>
              <a:off x="3504" y="2875"/>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12" name="Oval 99"/>
            <p:cNvSpPr/>
            <p:nvPr/>
          </p:nvSpPr>
          <p:spPr>
            <a:xfrm>
              <a:off x="4944" y="3019"/>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13" name="Oval 100"/>
            <p:cNvSpPr/>
            <p:nvPr/>
          </p:nvSpPr>
          <p:spPr>
            <a:xfrm>
              <a:off x="3648" y="2971"/>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14" name="Oval 101"/>
            <p:cNvSpPr/>
            <p:nvPr/>
          </p:nvSpPr>
          <p:spPr>
            <a:xfrm>
              <a:off x="3648" y="3163"/>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15" name="Oval 102"/>
            <p:cNvSpPr/>
            <p:nvPr/>
          </p:nvSpPr>
          <p:spPr>
            <a:xfrm>
              <a:off x="3792" y="3019"/>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16" name="Oval 103"/>
            <p:cNvSpPr/>
            <p:nvPr/>
          </p:nvSpPr>
          <p:spPr>
            <a:xfrm>
              <a:off x="3792" y="3163"/>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17" name="Oval 104"/>
            <p:cNvSpPr/>
            <p:nvPr/>
          </p:nvSpPr>
          <p:spPr>
            <a:xfrm>
              <a:off x="3984" y="3139"/>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18" name="Oval 105"/>
            <p:cNvSpPr/>
            <p:nvPr/>
          </p:nvSpPr>
          <p:spPr>
            <a:xfrm>
              <a:off x="3936" y="3019"/>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19" name="Oval 106"/>
            <p:cNvSpPr/>
            <p:nvPr/>
          </p:nvSpPr>
          <p:spPr>
            <a:xfrm>
              <a:off x="3888" y="3192"/>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20" name="Oval 107"/>
            <p:cNvSpPr/>
            <p:nvPr/>
          </p:nvSpPr>
          <p:spPr>
            <a:xfrm>
              <a:off x="4752" y="2923"/>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21" name="Oval 108"/>
            <p:cNvSpPr/>
            <p:nvPr/>
          </p:nvSpPr>
          <p:spPr>
            <a:xfrm>
              <a:off x="4608" y="3211"/>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22" name="Oval 109"/>
            <p:cNvSpPr/>
            <p:nvPr/>
          </p:nvSpPr>
          <p:spPr>
            <a:xfrm>
              <a:off x="3216" y="2971"/>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23" name="Oval 110"/>
            <p:cNvSpPr/>
            <p:nvPr/>
          </p:nvSpPr>
          <p:spPr>
            <a:xfrm>
              <a:off x="3216" y="3163"/>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24" name="Oval 111"/>
            <p:cNvSpPr/>
            <p:nvPr/>
          </p:nvSpPr>
          <p:spPr>
            <a:xfrm>
              <a:off x="2976" y="3019"/>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25" name="Oval 112"/>
            <p:cNvSpPr/>
            <p:nvPr/>
          </p:nvSpPr>
          <p:spPr>
            <a:xfrm>
              <a:off x="3120" y="3211"/>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26" name="Oval 113"/>
            <p:cNvSpPr/>
            <p:nvPr/>
          </p:nvSpPr>
          <p:spPr>
            <a:xfrm>
              <a:off x="2928" y="3163"/>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27" name="Oval 114"/>
            <p:cNvSpPr/>
            <p:nvPr/>
          </p:nvSpPr>
          <p:spPr>
            <a:xfrm>
              <a:off x="2832" y="3163"/>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28" name="Oval 115"/>
            <p:cNvSpPr/>
            <p:nvPr/>
          </p:nvSpPr>
          <p:spPr>
            <a:xfrm>
              <a:off x="2736" y="3115"/>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29" name="Oval 116"/>
            <p:cNvSpPr/>
            <p:nvPr/>
          </p:nvSpPr>
          <p:spPr>
            <a:xfrm>
              <a:off x="2640" y="3211"/>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30" name="Oval 117"/>
            <p:cNvSpPr/>
            <p:nvPr/>
          </p:nvSpPr>
          <p:spPr>
            <a:xfrm>
              <a:off x="2544" y="3199"/>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31" name="Oval 118"/>
            <p:cNvSpPr/>
            <p:nvPr/>
          </p:nvSpPr>
          <p:spPr>
            <a:xfrm>
              <a:off x="3360" y="2875"/>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32" name="Oval 119"/>
            <p:cNvSpPr/>
            <p:nvPr/>
          </p:nvSpPr>
          <p:spPr>
            <a:xfrm>
              <a:off x="3504" y="2779"/>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33" name="Oval 120"/>
            <p:cNvSpPr/>
            <p:nvPr/>
          </p:nvSpPr>
          <p:spPr>
            <a:xfrm>
              <a:off x="3360" y="3115"/>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34" name="Oval 121"/>
            <p:cNvSpPr/>
            <p:nvPr/>
          </p:nvSpPr>
          <p:spPr>
            <a:xfrm>
              <a:off x="3456" y="3115"/>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35" name="Oval 122"/>
            <p:cNvSpPr/>
            <p:nvPr/>
          </p:nvSpPr>
          <p:spPr>
            <a:xfrm>
              <a:off x="3408" y="3019"/>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36" name="Oval 123"/>
            <p:cNvSpPr/>
            <p:nvPr/>
          </p:nvSpPr>
          <p:spPr>
            <a:xfrm>
              <a:off x="3024" y="3163"/>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37" name="Oval 124"/>
            <p:cNvSpPr/>
            <p:nvPr/>
          </p:nvSpPr>
          <p:spPr>
            <a:xfrm>
              <a:off x="3120" y="3019"/>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38" name="Oval 125"/>
            <p:cNvSpPr/>
            <p:nvPr/>
          </p:nvSpPr>
          <p:spPr>
            <a:xfrm>
              <a:off x="4560" y="3115"/>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39" name="Oval 126"/>
            <p:cNvSpPr/>
            <p:nvPr/>
          </p:nvSpPr>
          <p:spPr>
            <a:xfrm>
              <a:off x="4800" y="3163"/>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40" name="Oval 127"/>
            <p:cNvSpPr/>
            <p:nvPr/>
          </p:nvSpPr>
          <p:spPr>
            <a:xfrm>
              <a:off x="4368" y="3067"/>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41" name="Oval 128"/>
            <p:cNvSpPr/>
            <p:nvPr/>
          </p:nvSpPr>
          <p:spPr>
            <a:xfrm>
              <a:off x="4032" y="3067"/>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42" name="Oval 129"/>
            <p:cNvSpPr/>
            <p:nvPr/>
          </p:nvSpPr>
          <p:spPr>
            <a:xfrm>
              <a:off x="4176" y="3163"/>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43" name="Oval 130"/>
            <p:cNvSpPr/>
            <p:nvPr/>
          </p:nvSpPr>
          <p:spPr>
            <a:xfrm>
              <a:off x="4464" y="3211"/>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44" name="Oval 131"/>
            <p:cNvSpPr/>
            <p:nvPr/>
          </p:nvSpPr>
          <p:spPr>
            <a:xfrm>
              <a:off x="3696" y="3067"/>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45" name="Oval 132"/>
            <p:cNvSpPr/>
            <p:nvPr/>
          </p:nvSpPr>
          <p:spPr>
            <a:xfrm>
              <a:off x="4416" y="2875"/>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46" name="Oval 133"/>
            <p:cNvSpPr/>
            <p:nvPr/>
          </p:nvSpPr>
          <p:spPr>
            <a:xfrm>
              <a:off x="4272" y="2971"/>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47" name="Oval 134"/>
            <p:cNvSpPr/>
            <p:nvPr/>
          </p:nvSpPr>
          <p:spPr>
            <a:xfrm>
              <a:off x="3312" y="3211"/>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48" name="Oval 135"/>
            <p:cNvSpPr/>
            <p:nvPr/>
          </p:nvSpPr>
          <p:spPr>
            <a:xfrm>
              <a:off x="3552" y="3019"/>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49" name="Oval 136"/>
            <p:cNvSpPr/>
            <p:nvPr/>
          </p:nvSpPr>
          <p:spPr>
            <a:xfrm>
              <a:off x="4704" y="2971"/>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50" name="Oval 137"/>
            <p:cNvSpPr/>
            <p:nvPr/>
          </p:nvSpPr>
          <p:spPr>
            <a:xfrm>
              <a:off x="4272" y="2707"/>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51" name="Oval 138"/>
            <p:cNvSpPr/>
            <p:nvPr/>
          </p:nvSpPr>
          <p:spPr>
            <a:xfrm>
              <a:off x="3696" y="2875"/>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52" name="Oval 139"/>
            <p:cNvSpPr/>
            <p:nvPr/>
          </p:nvSpPr>
          <p:spPr>
            <a:xfrm>
              <a:off x="4032" y="2779"/>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53" name="Oval 140"/>
            <p:cNvSpPr/>
            <p:nvPr/>
          </p:nvSpPr>
          <p:spPr>
            <a:xfrm>
              <a:off x="3888" y="3067"/>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54" name="Oval 141"/>
            <p:cNvSpPr/>
            <p:nvPr/>
          </p:nvSpPr>
          <p:spPr>
            <a:xfrm>
              <a:off x="4512" y="3031"/>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55" name="Oval 142"/>
            <p:cNvSpPr/>
            <p:nvPr/>
          </p:nvSpPr>
          <p:spPr>
            <a:xfrm>
              <a:off x="3456" y="3199"/>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56" name="Oval 143"/>
            <p:cNvSpPr/>
            <p:nvPr/>
          </p:nvSpPr>
          <p:spPr>
            <a:xfrm>
              <a:off x="4080" y="3163"/>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57" name="Oval 144"/>
            <p:cNvSpPr/>
            <p:nvPr/>
          </p:nvSpPr>
          <p:spPr>
            <a:xfrm>
              <a:off x="5040" y="3163"/>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58" name="Oval 145"/>
            <p:cNvSpPr/>
            <p:nvPr/>
          </p:nvSpPr>
          <p:spPr>
            <a:xfrm>
              <a:off x="4608" y="2971"/>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59" name="Oval 146"/>
            <p:cNvSpPr/>
            <p:nvPr/>
          </p:nvSpPr>
          <p:spPr>
            <a:xfrm>
              <a:off x="3600" y="3115"/>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60" name="Oval 147"/>
            <p:cNvSpPr/>
            <p:nvPr/>
          </p:nvSpPr>
          <p:spPr>
            <a:xfrm>
              <a:off x="3312" y="2971"/>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61" name="Oval 148"/>
            <p:cNvSpPr/>
            <p:nvPr/>
          </p:nvSpPr>
          <p:spPr>
            <a:xfrm>
              <a:off x="3072" y="3115"/>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62" name="Oval 149"/>
            <p:cNvSpPr/>
            <p:nvPr/>
          </p:nvSpPr>
          <p:spPr>
            <a:xfrm>
              <a:off x="2880" y="3067"/>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63" name="Oval 150"/>
            <p:cNvSpPr/>
            <p:nvPr/>
          </p:nvSpPr>
          <p:spPr>
            <a:xfrm>
              <a:off x="4176" y="2971"/>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64" name="Oval 151"/>
            <p:cNvSpPr/>
            <p:nvPr/>
          </p:nvSpPr>
          <p:spPr>
            <a:xfrm>
              <a:off x="3456" y="2971"/>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65" name="Oval 152"/>
            <p:cNvSpPr/>
            <p:nvPr/>
          </p:nvSpPr>
          <p:spPr>
            <a:xfrm>
              <a:off x="3744" y="2779"/>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66" name="Oval 153"/>
            <p:cNvSpPr/>
            <p:nvPr/>
          </p:nvSpPr>
          <p:spPr>
            <a:xfrm>
              <a:off x="4224" y="2779"/>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67" name="Oval 154"/>
            <p:cNvSpPr/>
            <p:nvPr/>
          </p:nvSpPr>
          <p:spPr>
            <a:xfrm>
              <a:off x="3888" y="2587"/>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68" name="Oval 155"/>
            <p:cNvSpPr/>
            <p:nvPr/>
          </p:nvSpPr>
          <p:spPr>
            <a:xfrm>
              <a:off x="3792" y="3067"/>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69" name="Oval 156"/>
            <p:cNvSpPr/>
            <p:nvPr/>
          </p:nvSpPr>
          <p:spPr>
            <a:xfrm>
              <a:off x="4128" y="2635"/>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70" name="Oval 157"/>
            <p:cNvSpPr/>
            <p:nvPr/>
          </p:nvSpPr>
          <p:spPr>
            <a:xfrm>
              <a:off x="4416" y="2779"/>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71" name="Oval 158"/>
            <p:cNvSpPr/>
            <p:nvPr/>
          </p:nvSpPr>
          <p:spPr>
            <a:xfrm>
              <a:off x="4848" y="2971"/>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72" name="Oval 159"/>
            <p:cNvSpPr/>
            <p:nvPr/>
          </p:nvSpPr>
          <p:spPr>
            <a:xfrm>
              <a:off x="4656" y="2875"/>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73" name="Oval 160"/>
            <p:cNvSpPr/>
            <p:nvPr/>
          </p:nvSpPr>
          <p:spPr>
            <a:xfrm>
              <a:off x="5088" y="3067"/>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74" name="Oval 161"/>
            <p:cNvSpPr/>
            <p:nvPr/>
          </p:nvSpPr>
          <p:spPr>
            <a:xfrm>
              <a:off x="3180" y="2911"/>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75" name="Oval 162"/>
            <p:cNvSpPr/>
            <p:nvPr/>
          </p:nvSpPr>
          <p:spPr>
            <a:xfrm>
              <a:off x="2784" y="3211"/>
              <a:ext cx="48" cy="48"/>
            </a:xfrm>
            <a:prstGeom prst="ellipse">
              <a:avLst/>
            </a:prstGeom>
            <a:solidFill>
              <a:schemeClr val="bg2"/>
            </a:solidFill>
            <a:ln w="9525" cap="flat" cmpd="sng">
              <a:solidFill>
                <a:schemeClr val="bg2"/>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76" name="AutoShape 163"/>
            <p:cNvSpPr/>
            <p:nvPr/>
          </p:nvSpPr>
          <p:spPr>
            <a:xfrm>
              <a:off x="948" y="3067"/>
              <a:ext cx="204" cy="192"/>
            </a:xfrm>
            <a:prstGeom prst="triangle">
              <a:avLst>
                <a:gd name="adj" fmla="val 100000"/>
              </a:avLst>
            </a:prstGeom>
            <a:solidFill>
              <a:srgbClr val="00CCFF"/>
            </a:solidFill>
            <a:ln w="9525" cap="flat" cmpd="sng">
              <a:solidFill>
                <a:schemeClr val="bg2"/>
              </a:solidFill>
              <a:prstDash val="solid"/>
              <a:miter/>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31177" name="Line 164"/>
            <p:cNvSpPr/>
            <p:nvPr/>
          </p:nvSpPr>
          <p:spPr>
            <a:xfrm flipH="1">
              <a:off x="936" y="2551"/>
              <a:ext cx="768" cy="720"/>
            </a:xfrm>
            <a:prstGeom prst="line">
              <a:avLst/>
            </a:prstGeom>
            <a:ln w="9525" cap="flat" cmpd="sng">
              <a:solidFill>
                <a:schemeClr val="bg2"/>
              </a:solidFill>
              <a:prstDash val="solid"/>
              <a:headEnd type="none" w="med" len="med"/>
              <a:tailEnd type="none" w="med" len="med"/>
            </a:ln>
          </p:spPr>
        </p:sp>
        <p:sp>
          <p:nvSpPr>
            <p:cNvPr id="131178" name="Rectangle 165"/>
            <p:cNvSpPr/>
            <p:nvPr/>
          </p:nvSpPr>
          <p:spPr>
            <a:xfrm>
              <a:off x="816" y="3271"/>
              <a:ext cx="480" cy="96"/>
            </a:xfrm>
            <a:prstGeom prst="rect">
              <a:avLst/>
            </a:prstGeom>
            <a:solidFill>
              <a:schemeClr val="bg1"/>
            </a:solidFill>
            <a:ln w="9525" cap="flat" cmpd="sng">
              <a:noFill/>
              <a:prstDash val="solid"/>
              <a:miter/>
              <a:headEnd type="none" w="med" len="med"/>
              <a:tailEnd type="none" w="med" len="med"/>
            </a:ln>
          </p:spPr>
          <p:txBody>
            <a:bodyPr wrap="none" anchor="ctr"/>
            <a:lstStyle/>
            <a:p>
              <a:pPr lvl="0" algn="ctr" eaLnBrk="1" hangingPunct="1"/>
              <a:r>
                <a:rPr lang="zh-CN" altLang="en-US" sz="1200" b="1" dirty="0">
                  <a:solidFill>
                    <a:schemeClr val="bg2"/>
                  </a:solidFill>
                  <a:latin typeface="Times New Roman" panose="02020603050405020304" pitchFamily="18" charset="0"/>
                  <a:ea typeface="宋体" panose="02010600030101010101" pitchFamily="2" charset="-122"/>
                </a:rPr>
                <a:t>三次渗碳体</a:t>
              </a:r>
            </a:p>
          </p:txBody>
        </p:sp>
        <p:sp>
          <p:nvSpPr>
            <p:cNvPr id="131179" name="Line 166"/>
            <p:cNvSpPr/>
            <p:nvPr/>
          </p:nvSpPr>
          <p:spPr>
            <a:xfrm>
              <a:off x="1092" y="3187"/>
              <a:ext cx="0" cy="96"/>
            </a:xfrm>
            <a:prstGeom prst="line">
              <a:avLst/>
            </a:prstGeom>
            <a:ln w="9525" cap="flat" cmpd="sng">
              <a:solidFill>
                <a:schemeClr val="hlink"/>
              </a:solidFill>
              <a:prstDash val="solid"/>
              <a:headEnd type="none" w="med" len="med"/>
              <a:tailEnd type="none" w="med" len="med"/>
            </a:ln>
          </p:spPr>
        </p:sp>
      </p:grpSp>
      <p:pic>
        <p:nvPicPr>
          <p:cNvPr id="170" name="内容占位符 1" descr="新校徽（3M）弓之乐"/>
          <p:cNvPicPr>
            <a:picLocks noChangeAspect="1"/>
          </p:cNvPicPr>
          <p:nvPr/>
        </p:nvPicPr>
        <p:blipFill>
          <a:blip r:embed="rId3"/>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日期占位符 3"/>
          <p:cNvSpPr txBox="1">
            <a:spLocks noGrp="1"/>
          </p:cNvSpPr>
          <p:nvPr>
            <p:ph type="dt" sz="half" idx="10"/>
          </p:nvPr>
        </p:nvSpPr>
        <p:spPr>
          <a:xfrm>
            <a:off x="0" y="6510338"/>
            <a:ext cx="2305050"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32099" name="灯片编号占位符 5"/>
          <p:cNvSpPr txBox="1">
            <a:spLocks noGrp="1"/>
          </p:cNvSpPr>
          <p:nvPr>
            <p:ph type="sldNum" sz="quarter" idx="12"/>
          </p:nvPr>
        </p:nvSpPr>
        <p:spPr>
          <a:xfrm>
            <a:off x="8590915" y="6530340"/>
            <a:ext cx="553085" cy="327660"/>
          </a:xfrm>
        </p:spPr>
        <p:txBody>
          <a:bodyPr lIns="92075" tIns="46038" rIns="92075" bIns="46038" anchor="ctr"/>
          <a:lstStyle/>
          <a:p>
            <a:pPr algn="r" eaLnBrk="1" hangingPunct="1"/>
            <a:fld id="{9A0DB2DC-4C9A-4742-B13C-FB6460FD3503}" type="slidenum">
              <a:rPr lang="en-US" altLang="zh-CN" sz="1400" dirty="0"/>
              <a:t>147</a:t>
            </a:fld>
            <a:endParaRPr lang="en-US" altLang="zh-CN" sz="1400" dirty="0"/>
          </a:p>
        </p:txBody>
      </p:sp>
      <p:sp>
        <p:nvSpPr>
          <p:cNvPr id="267266" name="Rectangle 2"/>
          <p:cNvSpPr>
            <a:spLocks noGrp="1" noChangeArrowheads="1"/>
          </p:cNvSpPr>
          <p:nvPr>
            <p:ph type="title"/>
          </p:nvPr>
        </p:nvSpPr>
        <p:spPr>
          <a:xfrm>
            <a:off x="1217743" y="367982"/>
            <a:ext cx="7415213" cy="928688"/>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C00000"/>
                </a:solidFill>
                <a:effectLst>
                  <a:outerShdw blurRad="38100" dist="38100" dir="2700000" algn="tl">
                    <a:srgbClr val="000000"/>
                  </a:outerShdw>
                </a:effectLst>
                <a:uLnTx/>
                <a:uFillTx/>
                <a:latin typeface="+mj-lt"/>
                <a:ea typeface="+mj-ea"/>
                <a:cs typeface="+mj-cs"/>
              </a:rPr>
              <a:t>⒉ </a:t>
            </a:r>
            <a:r>
              <a:rPr kumimoji="1" lang="zh-CN" altLang="en-US" sz="4400" b="1" i="0" u="none" strike="noStrike" kern="0" cap="none" spc="0" normalizeH="0" baseline="0" noProof="0" dirty="0">
                <a:ln>
                  <a:noFill/>
                </a:ln>
                <a:solidFill>
                  <a:srgbClr val="C00000"/>
                </a:solidFill>
                <a:uLnTx/>
                <a:uFillTx/>
                <a:latin typeface="+mj-lt"/>
                <a:ea typeface="+mj-ea"/>
                <a:cs typeface="+mj-cs"/>
              </a:rPr>
              <a:t>含碳量对力学性能的影响</a:t>
            </a:r>
          </a:p>
        </p:txBody>
      </p:sp>
      <p:sp>
        <p:nvSpPr>
          <p:cNvPr id="132101" name="Rectangle 3"/>
          <p:cNvSpPr>
            <a:spLocks noGrp="1"/>
          </p:cNvSpPr>
          <p:nvPr>
            <p:ph idx="1"/>
          </p:nvPr>
        </p:nvSpPr>
        <p:spPr>
          <a:xfrm>
            <a:off x="250825" y="1844824"/>
            <a:ext cx="5690150" cy="4608364"/>
          </a:xfrm>
        </p:spPr>
        <p:txBody>
          <a:bodyPr vert="horz" wrap="square" lIns="91440" tIns="45720" rIns="91440" bIns="45720" anchor="t"/>
          <a:lstStyle/>
          <a:p>
            <a:pPr eaLnBrk="1" hangingPunct="1"/>
            <a:r>
              <a:rPr lang="zh-CN" altLang="en-US" b="1" dirty="0">
                <a:solidFill>
                  <a:srgbClr val="0000FF"/>
                </a:solidFill>
                <a:ea typeface="华文中宋" panose="02010600040101010101" pitchFamily="2" charset="-122"/>
              </a:rPr>
              <a:t>亚共析钢</a:t>
            </a:r>
            <a:r>
              <a:rPr lang="zh-CN" altLang="en-US" b="1" dirty="0"/>
              <a:t>随含碳量增加，</a:t>
            </a:r>
            <a:r>
              <a:rPr lang="en-US" altLang="zh-CN" b="1" dirty="0"/>
              <a:t>P </a:t>
            </a:r>
            <a:r>
              <a:rPr lang="zh-CN" altLang="en-US" b="1" dirty="0"/>
              <a:t>量增加，钢的强度、硬度升高，塑性、韧性下降</a:t>
            </a:r>
            <a:r>
              <a:rPr lang="zh-CN" altLang="en-US" b="1" dirty="0">
                <a:ea typeface="华文中宋" panose="02010600040101010101" pitchFamily="2" charset="-122"/>
              </a:rPr>
              <a:t>。</a:t>
            </a:r>
            <a:endParaRPr lang="en-US" altLang="zh-CN" b="1" dirty="0">
              <a:ea typeface="华文中宋" panose="02010600040101010101" pitchFamily="2" charset="-122"/>
            </a:endParaRPr>
          </a:p>
          <a:p>
            <a:pPr eaLnBrk="1" hangingPunct="1"/>
            <a:r>
              <a:rPr lang="en-US" altLang="zh-CN" b="1" dirty="0"/>
              <a:t>0.77%C</a:t>
            </a:r>
            <a:r>
              <a:rPr lang="zh-CN" altLang="en-US" b="1" dirty="0"/>
              <a:t>时</a:t>
            </a:r>
            <a:r>
              <a:rPr lang="en-US" altLang="zh-CN" b="1" dirty="0"/>
              <a:t>, </a:t>
            </a:r>
            <a:r>
              <a:rPr lang="zh-CN" altLang="en-US" b="1" dirty="0"/>
              <a:t>组织为</a:t>
            </a:r>
            <a:r>
              <a:rPr lang="en-US" altLang="zh-CN" b="1" dirty="0"/>
              <a:t>100% P,  </a:t>
            </a:r>
            <a:r>
              <a:rPr lang="zh-CN" altLang="en-US" b="1" dirty="0"/>
              <a:t>钢的性能即</a:t>
            </a:r>
            <a:r>
              <a:rPr lang="en-US" altLang="zh-CN" b="1" dirty="0"/>
              <a:t>P</a:t>
            </a:r>
            <a:r>
              <a:rPr lang="zh-CN" altLang="en-US" b="1" dirty="0"/>
              <a:t>的性能。</a:t>
            </a:r>
          </a:p>
          <a:p>
            <a:pPr eaLnBrk="1" hangingPunct="1"/>
            <a:r>
              <a:rPr lang="zh-CN" altLang="en-US" b="1" dirty="0"/>
              <a:t>＞</a:t>
            </a:r>
            <a:r>
              <a:rPr lang="en-US" altLang="zh-CN" b="1" dirty="0"/>
              <a:t>0.9%C</a:t>
            </a:r>
            <a:r>
              <a:rPr lang="zh-CN" altLang="en-US" sz="2800" b="1" dirty="0"/>
              <a:t>，</a:t>
            </a:r>
            <a:r>
              <a:rPr lang="en-US" altLang="zh-CN" sz="2800" b="1" dirty="0"/>
              <a:t>Fe</a:t>
            </a:r>
            <a:r>
              <a:rPr lang="en-US" altLang="zh-CN" sz="2800" b="1" baseline="-25000" dirty="0"/>
              <a:t>3</a:t>
            </a:r>
            <a:r>
              <a:rPr lang="en-US" altLang="zh-CN" sz="2800" b="1" dirty="0"/>
              <a:t>C</a:t>
            </a:r>
            <a:r>
              <a:rPr lang="en-US" altLang="zh-CN" sz="2800" b="1" baseline="-25000" dirty="0"/>
              <a:t>Ⅱ</a:t>
            </a:r>
            <a:r>
              <a:rPr lang="zh-CN" altLang="en-US" sz="2800" b="1" dirty="0"/>
              <a:t>为晶界连续网状，</a:t>
            </a:r>
            <a:r>
              <a:rPr lang="zh-CN" altLang="en-US" sz="2800" b="1" dirty="0">
                <a:solidFill>
                  <a:srgbClr val="0000FF"/>
                </a:solidFill>
              </a:rPr>
              <a:t>强度下降</a:t>
            </a:r>
            <a:r>
              <a:rPr lang="zh-CN" altLang="en-US" sz="2800" b="1" dirty="0"/>
              <a:t>，</a:t>
            </a:r>
            <a:r>
              <a:rPr lang="en-US" altLang="zh-CN" sz="2800" b="1" dirty="0"/>
              <a:t> </a:t>
            </a:r>
            <a:r>
              <a:rPr lang="zh-CN" altLang="en-US" sz="2800" b="1" dirty="0"/>
              <a:t>但</a:t>
            </a:r>
            <a:r>
              <a:rPr lang="zh-CN" altLang="en-US" sz="2800" b="1" dirty="0">
                <a:solidFill>
                  <a:srgbClr val="0000FF"/>
                </a:solidFill>
              </a:rPr>
              <a:t>硬度</a:t>
            </a:r>
            <a:r>
              <a:rPr lang="zh-CN" altLang="en-US" sz="2800" b="1" dirty="0"/>
              <a:t>仍</a:t>
            </a:r>
            <a:r>
              <a:rPr lang="zh-CN" altLang="en-US" sz="2800" b="1" dirty="0">
                <a:solidFill>
                  <a:srgbClr val="0000FF"/>
                </a:solidFill>
              </a:rPr>
              <a:t>上升</a:t>
            </a:r>
            <a:r>
              <a:rPr lang="zh-CN" altLang="en-US" sz="2800" b="1" dirty="0"/>
              <a:t>。</a:t>
            </a:r>
          </a:p>
          <a:p>
            <a:pPr eaLnBrk="1" hangingPunct="1"/>
            <a:r>
              <a:rPr lang="zh-CN" altLang="en-US" b="1" dirty="0"/>
              <a:t>＞</a:t>
            </a:r>
            <a:r>
              <a:rPr lang="en-US" altLang="zh-CN" b="1" dirty="0"/>
              <a:t>2.11%C</a:t>
            </a:r>
            <a:r>
              <a:rPr lang="zh-CN" altLang="en-US" sz="2800" b="1" dirty="0"/>
              <a:t>，组织中有以</a:t>
            </a:r>
            <a:r>
              <a:rPr lang="en-US" altLang="zh-CN" sz="2800" b="1" dirty="0"/>
              <a:t>Fe</a:t>
            </a:r>
            <a:r>
              <a:rPr lang="en-US" altLang="zh-CN" sz="2800" b="1" baseline="-25000" dirty="0"/>
              <a:t>3</a:t>
            </a:r>
            <a:r>
              <a:rPr lang="en-US" altLang="zh-CN" sz="2800" b="1" dirty="0"/>
              <a:t>C</a:t>
            </a:r>
            <a:r>
              <a:rPr lang="zh-CN" altLang="en-US" sz="2800" b="1" dirty="0"/>
              <a:t>为基的</a:t>
            </a:r>
            <a:r>
              <a:rPr lang="en-US" altLang="zh-CN" sz="2800" b="1" dirty="0"/>
              <a:t>Le’,</a:t>
            </a:r>
            <a:r>
              <a:rPr lang="zh-CN" altLang="en-US" sz="2800" b="1" dirty="0"/>
              <a:t>合金太</a:t>
            </a:r>
            <a:r>
              <a:rPr lang="zh-CN" altLang="en-US" sz="2800" b="1" dirty="0">
                <a:solidFill>
                  <a:srgbClr val="0000FF"/>
                </a:solidFill>
              </a:rPr>
              <a:t>脆</a:t>
            </a:r>
            <a:r>
              <a:rPr lang="zh-CN" altLang="en-US" sz="2800" b="1" dirty="0"/>
              <a:t>。</a:t>
            </a:r>
            <a:endParaRPr lang="en-US" altLang="zh-CN" sz="2800" b="1" dirty="0"/>
          </a:p>
        </p:txBody>
      </p:sp>
      <p:pic>
        <p:nvPicPr>
          <p:cNvPr id="132102" name="Picture 4" descr="工程材料fig3-47"/>
          <p:cNvPicPr>
            <a:picLocks noChangeAspect="1"/>
          </p:cNvPicPr>
          <p:nvPr/>
        </p:nvPicPr>
        <p:blipFill>
          <a:blip r:embed="rId2"/>
          <a:stretch>
            <a:fillRect/>
          </a:stretch>
        </p:blipFill>
        <p:spPr>
          <a:xfrm>
            <a:off x="6012160" y="2482351"/>
            <a:ext cx="2987728" cy="3333310"/>
          </a:xfrm>
          <a:prstGeom prst="rect">
            <a:avLst/>
          </a:prstGeom>
          <a:noFill/>
          <a:ln w="9525">
            <a:noFill/>
          </a:ln>
        </p:spPr>
      </p:pic>
      <p:pic>
        <p:nvPicPr>
          <p:cNvPr id="8" name="内容占位符 1" descr="新校徽（3M）弓之乐"/>
          <p:cNvPicPr>
            <a:picLocks noChangeAspect="1"/>
          </p:cNvPicPr>
          <p:nvPr/>
        </p:nvPicPr>
        <p:blipFill>
          <a:blip r:embed="rId3"/>
          <a:stretch>
            <a:fillRect/>
          </a:stretch>
        </p:blipFill>
        <p:spPr>
          <a:xfrm>
            <a:off x="0" y="0"/>
            <a:ext cx="746760" cy="735965"/>
          </a:xfrm>
          <a:prstGeom prst="rect">
            <a:avLst/>
          </a:prstGeom>
          <a:noFill/>
          <a:ln w="9525">
            <a:noFill/>
          </a:ln>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日期占位符 3"/>
          <p:cNvSpPr txBox="1">
            <a:spLocks noGrp="1"/>
          </p:cNvSpPr>
          <p:nvPr>
            <p:ph type="dt" sz="half" idx="10"/>
          </p:nvPr>
        </p:nvSpPr>
        <p:spPr>
          <a:xfrm>
            <a:off x="0" y="6510338"/>
            <a:ext cx="2376488"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33123" name="灯片编号占位符 5"/>
          <p:cNvSpPr txBox="1">
            <a:spLocks noGrp="1"/>
          </p:cNvSpPr>
          <p:nvPr>
            <p:ph type="sldNum" sz="quarter" idx="12"/>
          </p:nvPr>
        </p:nvSpPr>
        <p:spPr>
          <a:xfrm>
            <a:off x="8529955" y="6605270"/>
            <a:ext cx="554990" cy="252730"/>
          </a:xfrm>
        </p:spPr>
        <p:txBody>
          <a:bodyPr lIns="92075" tIns="46038" rIns="92075" bIns="46038" anchor="ctr"/>
          <a:lstStyle/>
          <a:p>
            <a:pPr algn="r" eaLnBrk="1" hangingPunct="1"/>
            <a:fld id="{9A0DB2DC-4C9A-4742-B13C-FB6460FD3503}" type="slidenum">
              <a:rPr lang="en-US" altLang="zh-CN" sz="1400" dirty="0"/>
              <a:t>148</a:t>
            </a:fld>
            <a:endParaRPr lang="en-US" altLang="zh-CN" sz="1400" dirty="0"/>
          </a:p>
        </p:txBody>
      </p:sp>
      <p:sp>
        <p:nvSpPr>
          <p:cNvPr id="268290" name="Rectangle 2"/>
          <p:cNvSpPr>
            <a:spLocks noGrp="1" noChangeArrowheads="1"/>
          </p:cNvSpPr>
          <p:nvPr>
            <p:ph type="title"/>
          </p:nvPr>
        </p:nvSpPr>
        <p:spPr>
          <a:xfrm>
            <a:off x="1183734" y="142921"/>
            <a:ext cx="7586980" cy="85725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b="1" i="0" u="none" strike="noStrike" kern="0" cap="none" spc="0" normalizeH="0" baseline="0" noProof="0" dirty="0">
                <a:ln>
                  <a:noFill/>
                </a:ln>
                <a:solidFill>
                  <a:srgbClr val="FF0000"/>
                </a:solidFill>
                <a:uLnTx/>
                <a:uFillTx/>
                <a:latin typeface="+mj-lt"/>
                <a:ea typeface="华文中宋" panose="02010600040101010101" pitchFamily="2" charset="-122"/>
                <a:cs typeface="+mj-cs"/>
              </a:rPr>
              <a:t>⒊ </a:t>
            </a:r>
            <a:r>
              <a:rPr kumimoji="1" lang="zh-CN" altLang="en-US" b="1" i="0" u="none" strike="noStrike" kern="0" cap="none" spc="0" normalizeH="0" baseline="0" noProof="0" dirty="0">
                <a:ln>
                  <a:noFill/>
                </a:ln>
                <a:solidFill>
                  <a:srgbClr val="FF0000"/>
                </a:solidFill>
                <a:uLnTx/>
                <a:uFillTx/>
                <a:latin typeface="+mj-lt"/>
                <a:ea typeface="华文中宋" panose="02010600040101010101" pitchFamily="2" charset="-122"/>
                <a:cs typeface="+mj-cs"/>
              </a:rPr>
              <a:t>含碳量对工艺性能的影响</a:t>
            </a:r>
          </a:p>
        </p:txBody>
      </p:sp>
      <p:sp>
        <p:nvSpPr>
          <p:cNvPr id="133125" name="Rectangle 3"/>
          <p:cNvSpPr>
            <a:spLocks noGrp="1"/>
          </p:cNvSpPr>
          <p:nvPr>
            <p:ph idx="1"/>
          </p:nvPr>
        </p:nvSpPr>
        <p:spPr>
          <a:xfrm>
            <a:off x="428625" y="1724928"/>
            <a:ext cx="7772400" cy="4099609"/>
          </a:xfrm>
        </p:spPr>
        <p:txBody>
          <a:bodyPr vert="horz" wrap="square" lIns="91440" tIns="45720" rIns="91440" bIns="45720" anchor="t"/>
          <a:lstStyle/>
          <a:p>
            <a:pPr eaLnBrk="1" hangingPunct="1"/>
            <a:r>
              <a:rPr lang="en-US" altLang="zh-CN" sz="2800" b="1" dirty="0">
                <a:solidFill>
                  <a:schemeClr val="accent1"/>
                </a:solidFill>
                <a:ea typeface="华文中宋" panose="02010600040101010101" pitchFamily="2" charset="-122"/>
              </a:rPr>
              <a:t>① </a:t>
            </a:r>
            <a:r>
              <a:rPr lang="zh-CN" altLang="en-US" sz="2800" b="1" dirty="0">
                <a:solidFill>
                  <a:schemeClr val="folHlink"/>
                </a:solidFill>
                <a:ea typeface="华文中宋" panose="02010600040101010101" pitchFamily="2" charset="-122"/>
              </a:rPr>
              <a:t>切削性能</a:t>
            </a:r>
            <a:r>
              <a:rPr lang="en-US" altLang="zh-CN" sz="2800" b="1" dirty="0">
                <a:solidFill>
                  <a:schemeClr val="folHlink"/>
                </a:solidFill>
                <a:ea typeface="华文中宋" panose="02010600040101010101" pitchFamily="2" charset="-122"/>
              </a:rPr>
              <a:t>: </a:t>
            </a:r>
            <a:r>
              <a:rPr lang="zh-CN" altLang="en-US" sz="2800" b="1" dirty="0">
                <a:ea typeface="华文中宋" panose="02010600040101010101" pitchFamily="2" charset="-122"/>
              </a:rPr>
              <a:t>中碳钢合适</a:t>
            </a:r>
            <a:endParaRPr lang="zh-CN" altLang="en-US" sz="2800" b="1" dirty="0">
              <a:solidFill>
                <a:schemeClr val="folHlink"/>
              </a:solidFill>
              <a:ea typeface="华文中宋" panose="02010600040101010101" pitchFamily="2" charset="-122"/>
            </a:endParaRPr>
          </a:p>
          <a:p>
            <a:pPr eaLnBrk="1" hangingPunct="1">
              <a:lnSpc>
                <a:spcPct val="110000"/>
              </a:lnSpc>
            </a:pPr>
            <a:r>
              <a:rPr lang="zh-CN" altLang="en-US" sz="2800" b="1" dirty="0">
                <a:solidFill>
                  <a:schemeClr val="accent1"/>
                </a:solidFill>
                <a:ea typeface="华文中宋" panose="02010600040101010101" pitchFamily="2" charset="-122"/>
              </a:rPr>
              <a:t>② </a:t>
            </a:r>
            <a:r>
              <a:rPr lang="zh-CN" altLang="en-US" sz="2800" b="1" dirty="0">
                <a:solidFill>
                  <a:schemeClr val="folHlink"/>
                </a:solidFill>
                <a:ea typeface="华文中宋" panose="02010600040101010101" pitchFamily="2" charset="-122"/>
              </a:rPr>
              <a:t>可锻性能</a:t>
            </a:r>
            <a:r>
              <a:rPr lang="en-US" altLang="zh-CN" sz="2800" b="1" dirty="0">
                <a:solidFill>
                  <a:schemeClr val="folHlink"/>
                </a:solidFill>
                <a:ea typeface="华文中宋" panose="02010600040101010101" pitchFamily="2" charset="-122"/>
              </a:rPr>
              <a:t>: </a:t>
            </a:r>
            <a:r>
              <a:rPr lang="zh-CN" altLang="en-US" sz="2800" b="1" dirty="0">
                <a:ea typeface="华文中宋" panose="02010600040101010101" pitchFamily="2" charset="-122"/>
              </a:rPr>
              <a:t>低碳钢好</a:t>
            </a:r>
          </a:p>
          <a:p>
            <a:pPr eaLnBrk="1" hangingPunct="1">
              <a:lnSpc>
                <a:spcPct val="110000"/>
              </a:lnSpc>
            </a:pPr>
            <a:r>
              <a:rPr lang="zh-CN" altLang="en-US" sz="2800" b="1" dirty="0">
                <a:solidFill>
                  <a:schemeClr val="accent1"/>
                </a:solidFill>
                <a:ea typeface="华文中宋" panose="02010600040101010101" pitchFamily="2" charset="-122"/>
              </a:rPr>
              <a:t>③ </a:t>
            </a:r>
            <a:r>
              <a:rPr lang="zh-CN" altLang="en-US" sz="2800" b="1" dirty="0">
                <a:solidFill>
                  <a:schemeClr val="folHlink"/>
                </a:solidFill>
                <a:ea typeface="华文中宋" panose="02010600040101010101" pitchFamily="2" charset="-122"/>
              </a:rPr>
              <a:t>焊接性能</a:t>
            </a:r>
            <a:r>
              <a:rPr lang="en-US" altLang="zh-CN" sz="2800" b="1" dirty="0">
                <a:solidFill>
                  <a:schemeClr val="folHlink"/>
                </a:solidFill>
                <a:ea typeface="华文中宋" panose="02010600040101010101" pitchFamily="2" charset="-122"/>
              </a:rPr>
              <a:t>: </a:t>
            </a:r>
            <a:r>
              <a:rPr lang="zh-CN" altLang="en-US" sz="2800" b="1" dirty="0">
                <a:ea typeface="华文中宋" panose="02010600040101010101" pitchFamily="2" charset="-122"/>
              </a:rPr>
              <a:t>低碳钢好</a:t>
            </a:r>
          </a:p>
          <a:p>
            <a:pPr eaLnBrk="1" hangingPunct="1">
              <a:lnSpc>
                <a:spcPct val="110000"/>
              </a:lnSpc>
            </a:pPr>
            <a:r>
              <a:rPr lang="zh-CN" altLang="en-US" sz="2800" b="1" dirty="0">
                <a:solidFill>
                  <a:schemeClr val="accent1"/>
                </a:solidFill>
                <a:ea typeface="华文中宋" panose="02010600040101010101" pitchFamily="2" charset="-122"/>
              </a:rPr>
              <a:t>④ </a:t>
            </a:r>
            <a:r>
              <a:rPr lang="zh-CN" altLang="en-US" sz="2800" b="1" dirty="0">
                <a:solidFill>
                  <a:schemeClr val="folHlink"/>
                </a:solidFill>
                <a:ea typeface="华文中宋" panose="02010600040101010101" pitchFamily="2" charset="-122"/>
              </a:rPr>
              <a:t>铸造性能</a:t>
            </a:r>
            <a:r>
              <a:rPr lang="en-US" altLang="zh-CN" sz="2800" b="1" dirty="0">
                <a:solidFill>
                  <a:schemeClr val="folHlink"/>
                </a:solidFill>
                <a:ea typeface="华文中宋" panose="02010600040101010101" pitchFamily="2" charset="-122"/>
              </a:rPr>
              <a:t>: </a:t>
            </a:r>
            <a:r>
              <a:rPr lang="zh-CN" altLang="en-US" sz="2800" b="1" dirty="0">
                <a:ea typeface="华文中宋" panose="02010600040101010101" pitchFamily="2" charset="-122"/>
              </a:rPr>
              <a:t>共晶铸铁好</a:t>
            </a:r>
          </a:p>
          <a:p>
            <a:pPr eaLnBrk="1" hangingPunct="1">
              <a:lnSpc>
                <a:spcPct val="110000"/>
              </a:lnSpc>
            </a:pPr>
            <a:r>
              <a:rPr lang="zh-CN" altLang="en-US" sz="2800" b="1" dirty="0">
                <a:solidFill>
                  <a:schemeClr val="accent1"/>
                </a:solidFill>
                <a:ea typeface="华文中宋" panose="02010600040101010101" pitchFamily="2" charset="-122"/>
              </a:rPr>
              <a:t>⑤ </a:t>
            </a:r>
            <a:r>
              <a:rPr lang="zh-CN" altLang="en-US" sz="2800" b="1" dirty="0">
                <a:solidFill>
                  <a:schemeClr val="folHlink"/>
                </a:solidFill>
                <a:ea typeface="华文中宋" panose="02010600040101010101" pitchFamily="2" charset="-122"/>
              </a:rPr>
              <a:t>热处理性能</a:t>
            </a:r>
            <a:r>
              <a:rPr lang="en-US" altLang="zh-CN" sz="2800" b="1" dirty="0">
                <a:solidFill>
                  <a:schemeClr val="folHlink"/>
                </a:solidFill>
                <a:ea typeface="华文中宋" panose="02010600040101010101" pitchFamily="2" charset="-122"/>
              </a:rPr>
              <a:t>: </a:t>
            </a:r>
            <a:r>
              <a:rPr lang="zh-CN" altLang="en-US" sz="2800" b="1" dirty="0">
                <a:ea typeface="华文中宋" panose="02010600040101010101" pitchFamily="2" charset="-122"/>
              </a:rPr>
              <a:t>影响明显，祥见第五章介绍</a:t>
            </a:r>
          </a:p>
        </p:txBody>
      </p:sp>
      <p:grpSp>
        <p:nvGrpSpPr>
          <p:cNvPr id="2" name="Group 4"/>
          <p:cNvGrpSpPr/>
          <p:nvPr/>
        </p:nvGrpSpPr>
        <p:grpSpPr>
          <a:xfrm>
            <a:off x="1183734" y="1491945"/>
            <a:ext cx="7586980" cy="5113325"/>
            <a:chOff x="531" y="630"/>
            <a:chExt cx="4941" cy="3450"/>
          </a:xfrm>
        </p:grpSpPr>
        <p:grpSp>
          <p:nvGrpSpPr>
            <p:cNvPr id="133128" name="Group 5"/>
            <p:cNvGrpSpPr/>
            <p:nvPr/>
          </p:nvGrpSpPr>
          <p:grpSpPr>
            <a:xfrm>
              <a:off x="2517" y="2719"/>
              <a:ext cx="1682" cy="1359"/>
              <a:chOff x="2352" y="2688"/>
              <a:chExt cx="1682" cy="1359"/>
            </a:xfrm>
          </p:grpSpPr>
          <p:pic>
            <p:nvPicPr>
              <p:cNvPr id="133143" name="Picture 6" descr="铸造"/>
              <p:cNvPicPr>
                <a:picLocks noChangeAspect="1"/>
              </p:cNvPicPr>
              <p:nvPr/>
            </p:nvPicPr>
            <p:blipFill>
              <a:blip r:embed="rId2"/>
              <a:stretch>
                <a:fillRect/>
              </a:stretch>
            </p:blipFill>
            <p:spPr>
              <a:xfrm>
                <a:off x="2352" y="2688"/>
                <a:ext cx="1682" cy="1359"/>
              </a:xfrm>
              <a:prstGeom prst="rect">
                <a:avLst/>
              </a:prstGeom>
              <a:noFill/>
              <a:ln w="38100" cap="flat" cmpd="sng">
                <a:solidFill>
                  <a:srgbClr val="FF9900"/>
                </a:solidFill>
                <a:prstDash val="solid"/>
                <a:miter/>
                <a:headEnd type="none" w="med" len="med"/>
                <a:tailEnd type="none" w="med" len="med"/>
              </a:ln>
            </p:spPr>
          </p:pic>
          <p:sp>
            <p:nvSpPr>
              <p:cNvPr id="133144" name="Text Box 7"/>
              <p:cNvSpPr txBox="1"/>
              <p:nvPr/>
            </p:nvSpPr>
            <p:spPr>
              <a:xfrm>
                <a:off x="3792" y="2688"/>
                <a:ext cx="240" cy="404"/>
              </a:xfrm>
              <a:prstGeom prst="rect">
                <a:avLst/>
              </a:prstGeom>
              <a:noFill/>
              <a:ln w="9525">
                <a:noFill/>
              </a:ln>
            </p:spPr>
            <p:txBody>
              <a:bodyPr>
                <a:spAutoFit/>
              </a:bodyPr>
              <a:lstStyle/>
              <a:p>
                <a:pPr lvl="0" eaLnBrk="1" hangingPunct="1">
                  <a:spcBef>
                    <a:spcPct val="50000"/>
                  </a:spcBef>
                </a:pPr>
                <a:r>
                  <a:rPr lang="zh-CN" altLang="en-US" sz="1800" b="1" dirty="0">
                    <a:solidFill>
                      <a:schemeClr val="hlink"/>
                    </a:solidFill>
                    <a:latin typeface="Times New Roman" panose="02020603050405020304" pitchFamily="18" charset="0"/>
                    <a:ea typeface="宋体" panose="02010600030101010101" pitchFamily="2" charset="-122"/>
                  </a:rPr>
                  <a:t>铸造</a:t>
                </a:r>
              </a:p>
            </p:txBody>
          </p:sp>
        </p:grpSp>
        <p:grpSp>
          <p:nvGrpSpPr>
            <p:cNvPr id="133129" name="Group 8"/>
            <p:cNvGrpSpPr/>
            <p:nvPr/>
          </p:nvGrpSpPr>
          <p:grpSpPr>
            <a:xfrm>
              <a:off x="531" y="2719"/>
              <a:ext cx="1741" cy="1361"/>
              <a:chOff x="453" y="2688"/>
              <a:chExt cx="1741" cy="1361"/>
            </a:xfrm>
          </p:grpSpPr>
          <p:pic>
            <p:nvPicPr>
              <p:cNvPr id="133141" name="Picture 9" descr="image015"/>
              <p:cNvPicPr>
                <a:picLocks noChangeAspect="1"/>
              </p:cNvPicPr>
              <p:nvPr/>
            </p:nvPicPr>
            <p:blipFill>
              <a:blip r:embed="rId3"/>
              <a:stretch>
                <a:fillRect/>
              </a:stretch>
            </p:blipFill>
            <p:spPr>
              <a:xfrm>
                <a:off x="480" y="2688"/>
                <a:ext cx="1714" cy="1361"/>
              </a:xfrm>
              <a:prstGeom prst="rect">
                <a:avLst/>
              </a:prstGeom>
              <a:noFill/>
              <a:ln w="38100" cap="flat" cmpd="sng">
                <a:solidFill>
                  <a:srgbClr val="00FF00"/>
                </a:solidFill>
                <a:prstDash val="solid"/>
                <a:miter/>
                <a:headEnd type="none" w="med" len="med"/>
                <a:tailEnd type="none" w="med" len="med"/>
              </a:ln>
            </p:spPr>
          </p:pic>
          <p:sp>
            <p:nvSpPr>
              <p:cNvPr id="133142" name="Text Box 10"/>
              <p:cNvSpPr txBox="1"/>
              <p:nvPr/>
            </p:nvSpPr>
            <p:spPr>
              <a:xfrm>
                <a:off x="453" y="2688"/>
                <a:ext cx="289" cy="720"/>
              </a:xfrm>
              <a:prstGeom prst="rect">
                <a:avLst/>
              </a:prstGeom>
              <a:noFill/>
              <a:ln w="9525">
                <a:noFill/>
              </a:ln>
            </p:spPr>
            <p:txBody>
              <a:bodyPr vert="eaVert">
                <a:spAutoFit/>
              </a:bodyPr>
              <a:lstStyle/>
              <a:p>
                <a:pPr lvl="0" eaLnBrk="1" hangingPunct="1">
                  <a:spcBef>
                    <a:spcPct val="50000"/>
                  </a:spcBef>
                </a:pPr>
                <a:r>
                  <a:rPr lang="zh-CN" altLang="en-US" sz="1800" b="1" dirty="0">
                    <a:solidFill>
                      <a:srgbClr val="FFFF00"/>
                    </a:solidFill>
                    <a:latin typeface="Times New Roman" panose="02020603050405020304" pitchFamily="18" charset="0"/>
                    <a:ea typeface="宋体" panose="02010600030101010101" pitchFamily="2" charset="-122"/>
                  </a:rPr>
                  <a:t>焊缝组织</a:t>
                </a:r>
              </a:p>
            </p:txBody>
          </p:sp>
        </p:grpSp>
        <p:grpSp>
          <p:nvGrpSpPr>
            <p:cNvPr id="133130" name="Group 11"/>
            <p:cNvGrpSpPr/>
            <p:nvPr/>
          </p:nvGrpSpPr>
          <p:grpSpPr>
            <a:xfrm>
              <a:off x="4446" y="2684"/>
              <a:ext cx="957" cy="1388"/>
              <a:chOff x="4302" y="2613"/>
              <a:chExt cx="957" cy="1388"/>
            </a:xfrm>
          </p:grpSpPr>
          <p:pic>
            <p:nvPicPr>
              <p:cNvPr id="133139" name="Picture 12" descr="自由锻"/>
              <p:cNvPicPr>
                <a:picLocks noChangeAspect="1"/>
              </p:cNvPicPr>
              <p:nvPr/>
            </p:nvPicPr>
            <p:blipFill>
              <a:blip r:embed="rId4"/>
              <a:stretch>
                <a:fillRect/>
              </a:stretch>
            </p:blipFill>
            <p:spPr>
              <a:xfrm>
                <a:off x="4320" y="2640"/>
                <a:ext cx="939" cy="1361"/>
              </a:xfrm>
              <a:prstGeom prst="rect">
                <a:avLst/>
              </a:prstGeom>
              <a:noFill/>
              <a:ln w="38100" cap="flat" cmpd="sng">
                <a:solidFill>
                  <a:srgbClr val="CC99FF"/>
                </a:solidFill>
                <a:prstDash val="solid"/>
                <a:miter/>
                <a:headEnd type="none" w="med" len="med"/>
                <a:tailEnd type="none" w="med" len="med"/>
              </a:ln>
            </p:spPr>
          </p:pic>
          <p:sp>
            <p:nvSpPr>
              <p:cNvPr id="133140" name="Text Box 13"/>
              <p:cNvSpPr txBox="1"/>
              <p:nvPr/>
            </p:nvSpPr>
            <p:spPr>
              <a:xfrm>
                <a:off x="4302" y="2613"/>
                <a:ext cx="432" cy="231"/>
              </a:xfrm>
              <a:prstGeom prst="rect">
                <a:avLst/>
              </a:prstGeom>
              <a:noFill/>
              <a:ln w="9525">
                <a:noFill/>
              </a:ln>
            </p:spPr>
            <p:txBody>
              <a:bodyPr>
                <a:spAutoFit/>
              </a:bodyPr>
              <a:lstStyle/>
              <a:p>
                <a:pPr lvl="0" eaLnBrk="1" hangingPunct="1">
                  <a:spcBef>
                    <a:spcPct val="50000"/>
                  </a:spcBef>
                </a:pPr>
                <a:r>
                  <a:rPr lang="zh-CN" altLang="en-US" sz="1800" b="1" dirty="0">
                    <a:solidFill>
                      <a:srgbClr val="800000"/>
                    </a:solidFill>
                    <a:latin typeface="Times New Roman" panose="02020603050405020304" pitchFamily="18" charset="0"/>
                    <a:ea typeface="宋体" panose="02010600030101010101" pitchFamily="2" charset="-122"/>
                  </a:rPr>
                  <a:t>模锻</a:t>
                </a:r>
              </a:p>
            </p:txBody>
          </p:sp>
        </p:grpSp>
        <p:grpSp>
          <p:nvGrpSpPr>
            <p:cNvPr id="133131" name="Group 14"/>
            <p:cNvGrpSpPr/>
            <p:nvPr/>
          </p:nvGrpSpPr>
          <p:grpSpPr>
            <a:xfrm>
              <a:off x="3228" y="630"/>
              <a:ext cx="2244" cy="1600"/>
              <a:chOff x="3228" y="738"/>
              <a:chExt cx="2244" cy="1600"/>
            </a:xfrm>
          </p:grpSpPr>
          <p:pic>
            <p:nvPicPr>
              <p:cNvPr id="133132" name="Picture 15" descr="切削加工形式"/>
              <p:cNvPicPr>
                <a:picLocks noChangeAspect="1"/>
              </p:cNvPicPr>
              <p:nvPr/>
            </p:nvPicPr>
            <p:blipFill>
              <a:blip r:embed="rId5"/>
              <a:stretch>
                <a:fillRect/>
              </a:stretch>
            </p:blipFill>
            <p:spPr>
              <a:xfrm>
                <a:off x="3347" y="738"/>
                <a:ext cx="2057" cy="1600"/>
              </a:xfrm>
              <a:prstGeom prst="rect">
                <a:avLst/>
              </a:prstGeom>
              <a:solidFill>
                <a:schemeClr val="tx1"/>
              </a:solidFill>
              <a:ln w="38100" cap="flat" cmpd="sng">
                <a:solidFill>
                  <a:srgbClr val="FF00FF"/>
                </a:solidFill>
                <a:prstDash val="solid"/>
                <a:miter/>
                <a:headEnd type="none" w="med" len="med"/>
                <a:tailEnd type="none" w="med" len="med"/>
              </a:ln>
            </p:spPr>
          </p:pic>
          <p:sp>
            <p:nvSpPr>
              <p:cNvPr id="133133" name="Rectangle 16"/>
              <p:cNvSpPr/>
              <p:nvPr/>
            </p:nvSpPr>
            <p:spPr>
              <a:xfrm>
                <a:off x="3600" y="2112"/>
                <a:ext cx="1584" cy="192"/>
              </a:xfrm>
              <a:prstGeom prst="rect">
                <a:avLst/>
              </a:prstGeom>
              <a:solidFill>
                <a:schemeClr val="bg1"/>
              </a:solidFill>
              <a:ln w="9525">
                <a:noFill/>
              </a:ln>
            </p:spPr>
            <p:txBody>
              <a:bodyPr wrap="none" anchor="ctr"/>
              <a:lstStyle/>
              <a:p>
                <a:pPr lvl="0" algn="ctr" eaLnBrk="1" hangingPunct="1"/>
                <a:r>
                  <a:rPr lang="zh-CN" altLang="en-US" sz="1800" b="1" dirty="0">
                    <a:solidFill>
                      <a:srgbClr val="0000FF"/>
                    </a:solidFill>
                    <a:latin typeface="Times New Roman" panose="02020603050405020304" pitchFamily="18" charset="0"/>
                    <a:ea typeface="宋体" panose="02010600030101010101" pitchFamily="2" charset="-122"/>
                  </a:rPr>
                  <a:t>切削加工的基本形式</a:t>
                </a:r>
              </a:p>
            </p:txBody>
          </p:sp>
          <p:sp>
            <p:nvSpPr>
              <p:cNvPr id="133134" name="Text Box 17"/>
              <p:cNvSpPr txBox="1"/>
              <p:nvPr/>
            </p:nvSpPr>
            <p:spPr>
              <a:xfrm>
                <a:off x="3228" y="1008"/>
                <a:ext cx="288" cy="249"/>
              </a:xfrm>
              <a:prstGeom prst="rect">
                <a:avLst/>
              </a:prstGeom>
              <a:solidFill>
                <a:schemeClr val="bg1"/>
              </a:solidFill>
              <a:ln w="9525">
                <a:noFill/>
              </a:ln>
            </p:spPr>
            <p:txBody>
              <a:bodyPr>
                <a:spAutoFit/>
              </a:bodyPr>
              <a:lstStyle/>
              <a:p>
                <a:pPr lvl="0" eaLnBrk="1" hangingPunct="1">
                  <a:spcBef>
                    <a:spcPct val="50000"/>
                  </a:spcBef>
                </a:pPr>
                <a:r>
                  <a:rPr lang="zh-CN" altLang="en-US" sz="1800" b="1" dirty="0">
                    <a:solidFill>
                      <a:srgbClr val="0000FF"/>
                    </a:solidFill>
                    <a:latin typeface="Times New Roman" panose="02020603050405020304" pitchFamily="18" charset="0"/>
                    <a:ea typeface="宋体" panose="02010600030101010101" pitchFamily="2" charset="-122"/>
                  </a:rPr>
                  <a:t>车</a:t>
                </a:r>
              </a:p>
            </p:txBody>
          </p:sp>
          <p:sp>
            <p:nvSpPr>
              <p:cNvPr id="133135" name="Text Box 18"/>
              <p:cNvSpPr txBox="1"/>
              <p:nvPr/>
            </p:nvSpPr>
            <p:spPr>
              <a:xfrm>
                <a:off x="3504" y="1344"/>
                <a:ext cx="288" cy="249"/>
              </a:xfrm>
              <a:prstGeom prst="rect">
                <a:avLst/>
              </a:prstGeom>
              <a:solidFill>
                <a:schemeClr val="bg1"/>
              </a:solidFill>
              <a:ln w="9525">
                <a:noFill/>
              </a:ln>
            </p:spPr>
            <p:txBody>
              <a:bodyPr>
                <a:spAutoFit/>
              </a:bodyPr>
              <a:lstStyle/>
              <a:p>
                <a:pPr lvl="0" eaLnBrk="1" hangingPunct="1">
                  <a:spcBef>
                    <a:spcPct val="50000"/>
                  </a:spcBef>
                </a:pPr>
                <a:r>
                  <a:rPr lang="zh-CN" altLang="en-US" sz="1800" b="1" dirty="0">
                    <a:solidFill>
                      <a:srgbClr val="0000FF"/>
                    </a:solidFill>
                    <a:latin typeface="Times New Roman" panose="02020603050405020304" pitchFamily="18" charset="0"/>
                    <a:ea typeface="宋体" panose="02010600030101010101" pitchFamily="2" charset="-122"/>
                  </a:rPr>
                  <a:t>刨</a:t>
                </a:r>
              </a:p>
            </p:txBody>
          </p:sp>
          <p:sp>
            <p:nvSpPr>
              <p:cNvPr id="133136" name="Text Box 19"/>
              <p:cNvSpPr txBox="1"/>
              <p:nvPr/>
            </p:nvSpPr>
            <p:spPr>
              <a:xfrm>
                <a:off x="4272" y="1065"/>
                <a:ext cx="288" cy="249"/>
              </a:xfrm>
              <a:prstGeom prst="rect">
                <a:avLst/>
              </a:prstGeom>
              <a:solidFill>
                <a:schemeClr val="bg1"/>
              </a:solidFill>
              <a:ln w="9525">
                <a:noFill/>
              </a:ln>
            </p:spPr>
            <p:txBody>
              <a:bodyPr>
                <a:spAutoFit/>
              </a:bodyPr>
              <a:lstStyle/>
              <a:p>
                <a:pPr lvl="0" eaLnBrk="1" hangingPunct="1">
                  <a:spcBef>
                    <a:spcPct val="50000"/>
                  </a:spcBef>
                </a:pPr>
                <a:r>
                  <a:rPr lang="zh-CN" altLang="en-US" sz="1800" b="1" dirty="0">
                    <a:solidFill>
                      <a:srgbClr val="0000FF"/>
                    </a:solidFill>
                    <a:latin typeface="Times New Roman" panose="02020603050405020304" pitchFamily="18" charset="0"/>
                    <a:ea typeface="宋体" panose="02010600030101010101" pitchFamily="2" charset="-122"/>
                  </a:rPr>
                  <a:t>钻</a:t>
                </a:r>
              </a:p>
            </p:txBody>
          </p:sp>
          <p:sp>
            <p:nvSpPr>
              <p:cNvPr id="133137" name="Text Box 20"/>
              <p:cNvSpPr txBox="1"/>
              <p:nvPr/>
            </p:nvSpPr>
            <p:spPr>
              <a:xfrm>
                <a:off x="4992" y="816"/>
                <a:ext cx="288" cy="249"/>
              </a:xfrm>
              <a:prstGeom prst="rect">
                <a:avLst/>
              </a:prstGeom>
              <a:solidFill>
                <a:schemeClr val="bg1"/>
              </a:solidFill>
              <a:ln w="9525">
                <a:noFill/>
              </a:ln>
            </p:spPr>
            <p:txBody>
              <a:bodyPr>
                <a:spAutoFit/>
              </a:bodyPr>
              <a:lstStyle/>
              <a:p>
                <a:pPr lvl="0" eaLnBrk="1" hangingPunct="1">
                  <a:spcBef>
                    <a:spcPct val="50000"/>
                  </a:spcBef>
                </a:pPr>
                <a:r>
                  <a:rPr lang="zh-CN" altLang="en-US" sz="1800" b="1" dirty="0">
                    <a:solidFill>
                      <a:srgbClr val="0000FF"/>
                    </a:solidFill>
                    <a:latin typeface="Times New Roman" panose="02020603050405020304" pitchFamily="18" charset="0"/>
                    <a:ea typeface="宋体" panose="02010600030101010101" pitchFamily="2" charset="-122"/>
                  </a:rPr>
                  <a:t>铣</a:t>
                </a:r>
              </a:p>
            </p:txBody>
          </p:sp>
          <p:sp>
            <p:nvSpPr>
              <p:cNvPr id="133138" name="Text Box 21"/>
              <p:cNvSpPr txBox="1"/>
              <p:nvPr/>
            </p:nvSpPr>
            <p:spPr>
              <a:xfrm>
                <a:off x="5184" y="1920"/>
                <a:ext cx="288" cy="249"/>
              </a:xfrm>
              <a:prstGeom prst="rect">
                <a:avLst/>
              </a:prstGeom>
              <a:solidFill>
                <a:schemeClr val="bg1"/>
              </a:solidFill>
              <a:ln w="9525">
                <a:noFill/>
              </a:ln>
            </p:spPr>
            <p:txBody>
              <a:bodyPr>
                <a:spAutoFit/>
              </a:bodyPr>
              <a:lstStyle/>
              <a:p>
                <a:pPr lvl="0" eaLnBrk="1" hangingPunct="1">
                  <a:spcBef>
                    <a:spcPct val="50000"/>
                  </a:spcBef>
                </a:pPr>
                <a:r>
                  <a:rPr lang="zh-CN" altLang="en-US" sz="1800" b="1" dirty="0">
                    <a:solidFill>
                      <a:srgbClr val="0000FF"/>
                    </a:solidFill>
                    <a:latin typeface="Times New Roman" panose="02020603050405020304" pitchFamily="18" charset="0"/>
                    <a:ea typeface="宋体" panose="02010600030101010101" pitchFamily="2" charset="-122"/>
                  </a:rPr>
                  <a:t>磨</a:t>
                </a:r>
              </a:p>
            </p:txBody>
          </p:sp>
        </p:grpSp>
      </p:grpSp>
      <p:pic>
        <p:nvPicPr>
          <p:cNvPr id="25" name="内容占位符 1" descr="新校徽（3M）弓之乐"/>
          <p:cNvPicPr>
            <a:picLocks noChangeAspect="1"/>
          </p:cNvPicPr>
          <p:nvPr/>
        </p:nvPicPr>
        <p:blipFill>
          <a:blip r:embed="rId6"/>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043305" y="1701165"/>
            <a:ext cx="8208010" cy="1462405"/>
          </a:xfrm>
        </p:spPr>
        <p:txBody>
          <a:bodyPr/>
          <a:lstStyle/>
          <a:p>
            <a:r>
              <a:rPr kumimoji="1" lang="zh-CN" altLang="en-US" sz="5400" b="1" i="0" u="none" strike="noStrike" kern="0" cap="none" spc="0" normalizeH="0" baseline="0" noProof="0" dirty="0">
                <a:ln>
                  <a:noFill/>
                </a:ln>
                <a:solidFill>
                  <a:srgbClr val="FF0000"/>
                </a:solidFill>
                <a:effectLst>
                  <a:outerShdw blurRad="38100" dist="38100" dir="2700000" algn="tl">
                    <a:srgbClr val="000000"/>
                  </a:outerShdw>
                </a:effectLst>
                <a:uLnTx/>
                <a:uFillTx/>
                <a:latin typeface="华文中宋" panose="02010600040101010101" pitchFamily="2" charset="-122"/>
                <a:ea typeface="华文中宋" panose="02010600040101010101" pitchFamily="2" charset="-122"/>
                <a:cs typeface="+mj-cs"/>
              </a:rPr>
              <a:t>第四节 </a:t>
            </a:r>
            <a:r>
              <a:rPr kumimoji="1" lang="zh-CN" altLang="en-US" sz="5400" b="1"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j-cs"/>
              </a:rPr>
              <a:t>凝固组织及其控制</a:t>
            </a:r>
            <a:endParaRPr lang="zh-CN" altLang="en-US" sz="5400" dirty="0">
              <a:solidFill>
                <a:srgbClr val="FF0000"/>
              </a:solidFill>
            </a:endParaRPr>
          </a:p>
        </p:txBody>
      </p:sp>
      <p:sp>
        <p:nvSpPr>
          <p:cNvPr id="3" name="副标题 2"/>
          <p:cNvSpPr>
            <a:spLocks noGrp="1"/>
          </p:cNvSpPr>
          <p:nvPr>
            <p:ph type="subTitle" idx="1"/>
          </p:nvPr>
        </p:nvSpPr>
        <p:spPr>
          <a:xfrm>
            <a:off x="899795" y="3357245"/>
            <a:ext cx="8024495" cy="1752600"/>
          </a:xfrm>
        </p:spPr>
        <p:txBody>
          <a:bodyPr/>
          <a:lstStyle/>
          <a:p>
            <a:r>
              <a:rPr lang="en-US" altLang="zh-CN" sz="5400" b="1" i="1" dirty="0">
                <a:solidFill>
                  <a:srgbClr val="FF0000"/>
                </a:solidFill>
                <a:latin typeface="Times New Roman" panose="02020603050405020304" pitchFamily="18" charset="0"/>
                <a:cs typeface="Times New Roman" panose="02020603050405020304" pitchFamily="18" charset="0"/>
              </a:rPr>
              <a:t>S</a:t>
            </a:r>
            <a:r>
              <a:rPr lang="zh-CN" altLang="en-US" sz="5400" b="1" i="1" dirty="0">
                <a:solidFill>
                  <a:srgbClr val="FF0000"/>
                </a:solidFill>
                <a:latin typeface="Times New Roman" panose="02020603050405020304" pitchFamily="18" charset="0"/>
                <a:cs typeface="Times New Roman" panose="02020603050405020304" pitchFamily="18" charset="0"/>
              </a:rPr>
              <a:t>olidified structure</a:t>
            </a:r>
            <a:r>
              <a:rPr lang="en-US" altLang="zh-CN" sz="5400" b="1" i="1" dirty="0">
                <a:solidFill>
                  <a:srgbClr val="FF0000"/>
                </a:solidFill>
                <a:latin typeface="Times New Roman" panose="02020603050405020304" pitchFamily="18" charset="0"/>
                <a:cs typeface="Times New Roman" panose="02020603050405020304" pitchFamily="18" charset="0"/>
              </a:rPr>
              <a:t> and its control</a:t>
            </a:r>
          </a:p>
        </p:txBody>
      </p:sp>
      <p:sp>
        <p:nvSpPr>
          <p:cNvPr id="5" name="日期占位符 1"/>
          <p:cNvSpPr txBox="1"/>
          <p:nvPr/>
        </p:nvSpPr>
        <p:spPr>
          <a:xfrm>
            <a:off x="19685" y="6529929"/>
            <a:ext cx="1905000" cy="342900"/>
          </a:xfrm>
          <a:prstGeom prst="rect">
            <a:avLst/>
          </a:prstGeom>
        </p:spPr>
        <p:txBody>
          <a:bodyPr wrap="square" lIns="91440" tIns="45720" rIns="91440" bIns="45720" anchor="b"/>
          <a:lstStyle>
            <a:defPPr>
              <a:defRPr lang="zh-CN"/>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9pPr>
          </a:lstStyle>
          <a:p>
            <a:fld id="{BB962C8B-B14F-4D97-AF65-F5344CB8AC3E}" type="datetime8">
              <a:rPr lang="en-US" altLang="zh-CN" sz="1400" smtClean="0"/>
              <a:t>11/20/2025 5:38 PM</a:t>
            </a:fld>
            <a:endParaRPr lang="en-US" altLang="zh-CN" sz="1400" dirty="0"/>
          </a:p>
        </p:txBody>
      </p:sp>
      <p:sp>
        <p:nvSpPr>
          <p:cNvPr id="6" name="灯片编号占位符 3"/>
          <p:cNvSpPr txBox="1"/>
          <p:nvPr/>
        </p:nvSpPr>
        <p:spPr bwMode="auto">
          <a:xfrm>
            <a:off x="8316416" y="6529928"/>
            <a:ext cx="630734" cy="328072"/>
          </a:xfrm>
          <a:prstGeom prst="rect">
            <a:avLst/>
          </a:prstGeom>
          <a:noFill/>
          <a:ln w="9525">
            <a:noFill/>
            <a:miter lim="800000"/>
          </a:ln>
          <a:effectLst/>
        </p:spPr>
        <p:txBody>
          <a:bodyPr vert="horz" wrap="square" lIns="91440" tIns="45720" rIns="91440" bIns="45720" numCol="1" anchor="b" anchorCtr="0" compatLnSpc="1"/>
          <a:ls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cs typeface="+mn-cs"/>
              </a:defRPr>
            </a:lvl9pPr>
          </a:lstStyle>
          <a:p>
            <a:pPr algn="r"/>
            <a:fld id="{9A0DB2DC-4C9A-4742-B13C-FB6460FD3503}" type="slidenum">
              <a:rPr lang="en-US" altLang="zh-CN" sz="1400" noProof="1" smtClean="0">
                <a:cs typeface="+mn-ea"/>
              </a:rPr>
              <a:t>149</a:t>
            </a:fld>
            <a:endParaRPr lang="en-US" altLang="zh-CN" sz="1400" dirty="0"/>
          </a:p>
        </p:txBody>
      </p:sp>
      <p:pic>
        <p:nvPicPr>
          <p:cNvPr id="4"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264" t="15784" r="3206" b="19580"/>
          <a:stretch>
            <a:fillRect/>
          </a:stretch>
        </p:blipFill>
        <p:spPr bwMode="auto">
          <a:xfrm>
            <a:off x="0" y="0"/>
            <a:ext cx="2372995" cy="582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日期占位符 3"/>
          <p:cNvSpPr txBox="1">
            <a:spLocks noGrp="1"/>
          </p:cNvSpPr>
          <p:nvPr>
            <p:ph type="dt" sz="half" idx="10"/>
          </p:nvPr>
        </p:nvSpPr>
        <p:spPr>
          <a:xfrm>
            <a:off x="0" y="6400800"/>
            <a:ext cx="2162175" cy="457200"/>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34147" name="灯片编号占位符 5"/>
          <p:cNvSpPr txBox="1">
            <a:spLocks noGrp="1"/>
          </p:cNvSpPr>
          <p:nvPr>
            <p:ph type="sldNum" sz="quarter" idx="12"/>
          </p:nvPr>
        </p:nvSpPr>
        <p:spPr>
          <a:xfrm>
            <a:off x="8543925" y="6638290"/>
            <a:ext cx="574040" cy="219710"/>
          </a:xfrm>
        </p:spPr>
        <p:txBody>
          <a:bodyPr lIns="92075" tIns="46038" rIns="92075" bIns="46038" anchor="ctr"/>
          <a:lstStyle/>
          <a:p>
            <a:pPr algn="r" eaLnBrk="1" hangingPunct="1"/>
            <a:fld id="{9A0DB2DC-4C9A-4742-B13C-FB6460FD3503}" type="slidenum">
              <a:rPr lang="en-US" altLang="zh-CN" sz="1400" dirty="0"/>
              <a:t>150</a:t>
            </a:fld>
            <a:endParaRPr lang="en-US" altLang="zh-CN" sz="1400" dirty="0"/>
          </a:p>
        </p:txBody>
      </p:sp>
      <p:sp>
        <p:nvSpPr>
          <p:cNvPr id="196610" name="Rectangle 2"/>
          <p:cNvSpPr>
            <a:spLocks noGrp="1" noChangeArrowheads="1"/>
          </p:cNvSpPr>
          <p:nvPr>
            <p:ph type="title"/>
          </p:nvPr>
        </p:nvSpPr>
        <p:spPr>
          <a:xfrm>
            <a:off x="1547664" y="189548"/>
            <a:ext cx="7200900"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400" b="1" i="0" u="none" strike="noStrike" kern="0" cap="none" spc="0" normalizeH="0" baseline="0" noProof="0" dirty="0">
                <a:ln>
                  <a:noFill/>
                </a:ln>
                <a:solidFill>
                  <a:srgbClr val="FF0000"/>
                </a:solidFill>
                <a:effectLst>
                  <a:outerShdw blurRad="38100" dist="38100" dir="2700000" algn="tl">
                    <a:srgbClr val="000000"/>
                  </a:outerShdw>
                </a:effectLst>
                <a:uLnTx/>
                <a:uFillTx/>
                <a:latin typeface="华文中宋" panose="02010600040101010101" pitchFamily="2" charset="-122"/>
                <a:ea typeface="华文中宋" panose="02010600040101010101" pitchFamily="2" charset="-122"/>
                <a:cs typeface="+mj-cs"/>
              </a:rPr>
              <a:t>第四节  </a:t>
            </a:r>
            <a:r>
              <a:rPr kumimoji="1" lang="zh-CN" altLang="en-US" sz="4400" b="1"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j-cs"/>
              </a:rPr>
              <a:t>凝固组织及其控制</a:t>
            </a:r>
          </a:p>
        </p:txBody>
      </p:sp>
      <p:sp>
        <p:nvSpPr>
          <p:cNvPr id="134149" name="Rectangle 3"/>
          <p:cNvSpPr>
            <a:spLocks noGrp="1"/>
          </p:cNvSpPr>
          <p:nvPr>
            <p:ph idx="1"/>
          </p:nvPr>
        </p:nvSpPr>
        <p:spPr>
          <a:xfrm>
            <a:off x="684530" y="2204864"/>
            <a:ext cx="7772400" cy="3888596"/>
          </a:xfrm>
        </p:spPr>
        <p:txBody>
          <a:bodyPr vert="horz" wrap="square" lIns="91440" tIns="45720" rIns="91440" bIns="45720" anchor="t"/>
          <a:lstStyle/>
          <a:p>
            <a:pPr eaLnBrk="1" hangingPunct="1"/>
            <a:r>
              <a:rPr lang="zh-CN" altLang="en-US" dirty="0"/>
              <a:t>金属及合金结晶后的晶粒大小及其控制</a:t>
            </a:r>
          </a:p>
          <a:p>
            <a:pPr eaLnBrk="1" hangingPunct="1"/>
            <a:endParaRPr lang="zh-CN" altLang="en-US" dirty="0"/>
          </a:p>
          <a:p>
            <a:pPr eaLnBrk="1" hangingPunct="1"/>
            <a:r>
              <a:rPr lang="zh-CN" altLang="en-US" dirty="0"/>
              <a:t>铸锭的组织及其控制</a:t>
            </a:r>
          </a:p>
        </p:txBody>
      </p:sp>
      <p:pic>
        <p:nvPicPr>
          <p:cNvPr id="7" name="内容占位符 1" descr="新校徽（3M）弓之乐"/>
          <p:cNvPicPr>
            <a:picLocks noChangeAspect="1"/>
          </p:cNvPicPr>
          <p:nvPr/>
        </p:nvPicPr>
        <p:blipFill>
          <a:blip r:embed="rId2"/>
          <a:stretch>
            <a:fillRect/>
          </a:stretch>
        </p:blipFill>
        <p:spPr>
          <a:xfrm>
            <a:off x="0" y="0"/>
            <a:ext cx="746760" cy="735965"/>
          </a:xfrm>
          <a:prstGeom prst="rect">
            <a:avLst/>
          </a:prstGeom>
          <a:noFill/>
          <a:ln w="9525">
            <a:noFill/>
          </a:ln>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日期占位符 3"/>
          <p:cNvSpPr txBox="1">
            <a:spLocks noGrp="1"/>
          </p:cNvSpPr>
          <p:nvPr>
            <p:ph type="dt" sz="half" idx="10"/>
          </p:nvPr>
        </p:nvSpPr>
        <p:spPr>
          <a:xfrm>
            <a:off x="0" y="6487160"/>
            <a:ext cx="2199005" cy="370840"/>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35171" name="灯片编号占位符 5"/>
          <p:cNvSpPr txBox="1">
            <a:spLocks noGrp="1"/>
          </p:cNvSpPr>
          <p:nvPr>
            <p:ph type="sldNum" sz="quarter" idx="12"/>
          </p:nvPr>
        </p:nvSpPr>
        <p:spPr>
          <a:xfrm>
            <a:off x="8467725" y="6627495"/>
            <a:ext cx="628650" cy="230505"/>
          </a:xfrm>
        </p:spPr>
        <p:txBody>
          <a:bodyPr lIns="92075" tIns="46038" rIns="92075" bIns="46038" anchor="ctr"/>
          <a:lstStyle/>
          <a:p>
            <a:pPr algn="r" eaLnBrk="1" hangingPunct="1"/>
            <a:fld id="{9A0DB2DC-4C9A-4742-B13C-FB6460FD3503}" type="slidenum">
              <a:rPr lang="en-US" altLang="zh-CN" sz="1400" dirty="0"/>
              <a:t>151</a:t>
            </a:fld>
            <a:endParaRPr lang="en-US" altLang="zh-CN" sz="1400" dirty="0"/>
          </a:p>
        </p:txBody>
      </p:sp>
      <p:sp>
        <p:nvSpPr>
          <p:cNvPr id="135172" name="Rectangle 2"/>
          <p:cNvSpPr>
            <a:spLocks noGrp="1"/>
          </p:cNvSpPr>
          <p:nvPr>
            <p:ph type="title"/>
          </p:nvPr>
        </p:nvSpPr>
        <p:spPr>
          <a:xfrm>
            <a:off x="1547664" y="260648"/>
            <a:ext cx="6920062" cy="1406525"/>
          </a:xfrm>
        </p:spPr>
        <p:txBody>
          <a:bodyPr vert="horz" wrap="square" lIns="92075" tIns="46038" rIns="92075" bIns="46038" anchor="ctr"/>
          <a:lstStyle/>
          <a:p>
            <a:pPr eaLnBrk="1" hangingPunct="1"/>
            <a:r>
              <a:rPr lang="zh-CN" altLang="en-US" b="1" dirty="0">
                <a:solidFill>
                  <a:srgbClr val="FF0000"/>
                </a:solidFill>
                <a:latin typeface="华文中宋" panose="02010600040101010101" pitchFamily="2" charset="-122"/>
                <a:ea typeface="华文中宋" panose="02010600040101010101" pitchFamily="2" charset="-122"/>
              </a:rPr>
              <a:t>金属及合金结晶后的晶粒大小及其控制</a:t>
            </a:r>
          </a:p>
        </p:txBody>
      </p:sp>
      <p:sp>
        <p:nvSpPr>
          <p:cNvPr id="135173" name="Rectangle 3"/>
          <p:cNvSpPr>
            <a:spLocks noGrp="1"/>
          </p:cNvSpPr>
          <p:nvPr>
            <p:ph idx="1"/>
          </p:nvPr>
        </p:nvSpPr>
        <p:spPr>
          <a:xfrm>
            <a:off x="785813" y="2132856"/>
            <a:ext cx="7772400" cy="4125069"/>
          </a:xfrm>
        </p:spPr>
        <p:txBody>
          <a:bodyPr vert="horz" wrap="square" lIns="91440" tIns="45720" rIns="91440" bIns="45720" anchor="t"/>
          <a:lstStyle/>
          <a:p>
            <a:pPr eaLnBrk="1" hangingPunct="1"/>
            <a:r>
              <a:rPr lang="zh-CN" altLang="en-US" dirty="0"/>
              <a:t>晶粒度</a:t>
            </a:r>
          </a:p>
          <a:p>
            <a:pPr eaLnBrk="1" hangingPunct="1"/>
            <a:endParaRPr lang="en-US" altLang="zh-CN" dirty="0"/>
          </a:p>
          <a:p>
            <a:pPr eaLnBrk="1" hangingPunct="1"/>
            <a:r>
              <a:rPr lang="zh-CN" altLang="en-US" dirty="0"/>
              <a:t>决定晶粒大小的因素</a:t>
            </a:r>
          </a:p>
          <a:p>
            <a:pPr eaLnBrk="1" hangingPunct="1"/>
            <a:endParaRPr lang="en-US" altLang="zh-CN" dirty="0"/>
          </a:p>
          <a:p>
            <a:pPr eaLnBrk="1" hangingPunct="1"/>
            <a:r>
              <a:rPr lang="zh-CN" altLang="en-US" dirty="0"/>
              <a:t>控制晶粒大小的方法</a:t>
            </a:r>
          </a:p>
          <a:p>
            <a:pPr eaLnBrk="1" hangingPunct="1"/>
            <a:endParaRPr lang="en-US" altLang="zh-CN" dirty="0"/>
          </a:p>
          <a:p>
            <a:pPr eaLnBrk="1" hangingPunct="1"/>
            <a:r>
              <a:rPr lang="zh-CN" altLang="en-US" dirty="0"/>
              <a:t>晶粒大小对金属性能的影响</a:t>
            </a:r>
          </a:p>
        </p:txBody>
      </p:sp>
      <p:pic>
        <p:nvPicPr>
          <p:cNvPr id="7" name="内容占位符 1" descr="新校徽（3M）弓之乐"/>
          <p:cNvPicPr>
            <a:picLocks noChangeAspect="1"/>
          </p:cNvPicPr>
          <p:nvPr/>
        </p:nvPicPr>
        <p:blipFill>
          <a:blip r:embed="rId2"/>
          <a:stretch>
            <a:fillRect/>
          </a:stretch>
        </p:blipFill>
        <p:spPr>
          <a:xfrm>
            <a:off x="-62230" y="-3709"/>
            <a:ext cx="746760" cy="735965"/>
          </a:xfrm>
          <a:prstGeom prst="rect">
            <a:avLst/>
          </a:prstGeom>
          <a:noFill/>
          <a:ln w="9525">
            <a:noFill/>
          </a:ln>
        </p:spPr>
      </p:pic>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日期占位符 3"/>
          <p:cNvSpPr txBox="1">
            <a:spLocks noGrp="1"/>
          </p:cNvSpPr>
          <p:nvPr>
            <p:ph type="dt" sz="half" idx="10"/>
          </p:nvPr>
        </p:nvSpPr>
        <p:spPr>
          <a:xfrm>
            <a:off x="0" y="6500813"/>
            <a:ext cx="2233613" cy="357187"/>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36195" name="灯片编号占位符 5"/>
          <p:cNvSpPr txBox="1">
            <a:spLocks noGrp="1"/>
          </p:cNvSpPr>
          <p:nvPr>
            <p:ph type="sldNum" sz="quarter" idx="12"/>
          </p:nvPr>
        </p:nvSpPr>
        <p:spPr>
          <a:xfrm>
            <a:off x="8504555" y="6541770"/>
            <a:ext cx="639445" cy="316230"/>
          </a:xfrm>
        </p:spPr>
        <p:txBody>
          <a:bodyPr lIns="92075" tIns="46038" rIns="92075" bIns="46038" anchor="ctr"/>
          <a:lstStyle/>
          <a:p>
            <a:pPr algn="r" eaLnBrk="1" hangingPunct="1"/>
            <a:fld id="{9A0DB2DC-4C9A-4742-B13C-FB6460FD3503}" type="slidenum">
              <a:rPr lang="en-US" altLang="zh-CN" sz="1400" dirty="0"/>
              <a:t>152</a:t>
            </a:fld>
            <a:endParaRPr lang="en-US" altLang="zh-CN" sz="1400" dirty="0"/>
          </a:p>
        </p:txBody>
      </p:sp>
      <p:sp>
        <p:nvSpPr>
          <p:cNvPr id="136196" name="Rectangle 2"/>
          <p:cNvSpPr>
            <a:spLocks noGrp="1"/>
          </p:cNvSpPr>
          <p:nvPr>
            <p:ph type="title"/>
          </p:nvPr>
        </p:nvSpPr>
        <p:spPr>
          <a:xfrm>
            <a:off x="1692803" y="216173"/>
            <a:ext cx="5758393" cy="981075"/>
          </a:xfrm>
        </p:spPr>
        <p:txBody>
          <a:bodyPr vert="horz" wrap="square" lIns="92075" tIns="46038" rIns="92075" bIns="46038" anchor="ctr"/>
          <a:lstStyle/>
          <a:p>
            <a:pPr eaLnBrk="1" hangingPunct="1"/>
            <a:r>
              <a:rPr lang="en-US" altLang="zh-CN" b="1" dirty="0">
                <a:solidFill>
                  <a:srgbClr val="FF0000"/>
                </a:solidFill>
                <a:latin typeface="华文中宋" panose="02010600040101010101" pitchFamily="2" charset="-122"/>
                <a:ea typeface="华文中宋" panose="02010600040101010101" pitchFamily="2" charset="-122"/>
              </a:rPr>
              <a:t>1.</a:t>
            </a:r>
            <a:r>
              <a:rPr lang="zh-CN" altLang="en-US" b="1" dirty="0">
                <a:solidFill>
                  <a:srgbClr val="FF0000"/>
                </a:solidFill>
                <a:latin typeface="华文中宋" panose="02010600040101010101" pitchFamily="2" charset="-122"/>
                <a:ea typeface="华文中宋" panose="02010600040101010101" pitchFamily="2" charset="-122"/>
              </a:rPr>
              <a:t>晶粒度（</a:t>
            </a:r>
            <a:r>
              <a:rPr lang="en-US" altLang="zh-CN" b="0" i="0" dirty="0">
                <a:solidFill>
                  <a:srgbClr val="FF0000"/>
                </a:solidFill>
                <a:effectLst/>
                <a:latin typeface="Helvetica Neue"/>
              </a:rPr>
              <a:t> </a:t>
            </a:r>
            <a:r>
              <a:rPr lang="en-US" altLang="zh-CN" b="1" dirty="0">
                <a:solidFill>
                  <a:srgbClr val="FF0000"/>
                </a:solidFill>
                <a:latin typeface="华文中宋" panose="02010600040101010101" pitchFamily="2" charset="-122"/>
                <a:ea typeface="华文中宋" panose="02010600040101010101" pitchFamily="2" charset="-122"/>
              </a:rPr>
              <a:t>grain size</a:t>
            </a:r>
            <a:r>
              <a:rPr lang="zh-CN" altLang="en-US" b="1" dirty="0">
                <a:solidFill>
                  <a:srgbClr val="FF0000"/>
                </a:solidFill>
                <a:latin typeface="华文中宋" panose="02010600040101010101" pitchFamily="2" charset="-122"/>
                <a:ea typeface="华文中宋" panose="02010600040101010101" pitchFamily="2" charset="-122"/>
              </a:rPr>
              <a:t>）</a:t>
            </a:r>
          </a:p>
        </p:txBody>
      </p:sp>
      <p:sp>
        <p:nvSpPr>
          <p:cNvPr id="136197" name="Rectangle 3"/>
          <p:cNvSpPr>
            <a:spLocks noGrp="1"/>
          </p:cNvSpPr>
          <p:nvPr>
            <p:ph idx="1"/>
          </p:nvPr>
        </p:nvSpPr>
        <p:spPr>
          <a:xfrm>
            <a:off x="107504" y="2060848"/>
            <a:ext cx="5472608" cy="4809852"/>
          </a:xfrm>
        </p:spPr>
        <p:txBody>
          <a:bodyPr vert="horz" wrap="square" lIns="91440" tIns="45720" rIns="91440" bIns="45720" anchor="t"/>
          <a:lstStyle/>
          <a:p>
            <a:pPr eaLnBrk="1" hangingPunct="1"/>
            <a:r>
              <a:rPr lang="zh-CN" altLang="en-US" b="1" dirty="0">
                <a:solidFill>
                  <a:schemeClr val="folHlink"/>
                </a:solidFill>
              </a:rPr>
              <a:t>晶粒度：</a:t>
            </a:r>
            <a:r>
              <a:rPr lang="zh-CN" altLang="en-US" dirty="0"/>
              <a:t>晶粒大小的量度</a:t>
            </a:r>
          </a:p>
          <a:p>
            <a:pPr eaLnBrk="1" hangingPunct="1">
              <a:spcBef>
                <a:spcPts val="0"/>
              </a:spcBef>
            </a:pPr>
            <a:r>
              <a:rPr lang="zh-CN" altLang="en-US" b="1" dirty="0">
                <a:solidFill>
                  <a:schemeClr val="folHlink"/>
                </a:solidFill>
              </a:rPr>
              <a:t>表征方法</a:t>
            </a:r>
            <a:r>
              <a:rPr lang="zh-CN" altLang="en-US" dirty="0"/>
              <a:t>：长度、面积、体积或晶粒度级别</a:t>
            </a:r>
          </a:p>
          <a:p>
            <a:pPr eaLnBrk="1" hangingPunct="1"/>
            <a:r>
              <a:rPr lang="zh-CN" altLang="en-US" b="1" dirty="0">
                <a:solidFill>
                  <a:schemeClr val="folHlink"/>
                </a:solidFill>
              </a:rPr>
              <a:t>标准晶粒度等级</a:t>
            </a:r>
            <a:r>
              <a:rPr lang="zh-CN" altLang="en-US" dirty="0"/>
              <a:t>：</a:t>
            </a:r>
            <a:r>
              <a:rPr lang="en-US" altLang="zh-CN" b="1" dirty="0">
                <a:solidFill>
                  <a:schemeClr val="folHlink"/>
                </a:solidFill>
              </a:rPr>
              <a:t>1~8</a:t>
            </a:r>
            <a:r>
              <a:rPr lang="zh-CN" altLang="en-US" b="1" dirty="0">
                <a:solidFill>
                  <a:schemeClr val="folHlink"/>
                </a:solidFill>
              </a:rPr>
              <a:t>级</a:t>
            </a:r>
          </a:p>
          <a:p>
            <a:pPr eaLnBrk="1" hangingPunct="1">
              <a:spcBef>
                <a:spcPts val="0"/>
              </a:spcBef>
              <a:buNone/>
            </a:pPr>
            <a:r>
              <a:rPr lang="zh-CN" altLang="en-US" b="1" dirty="0">
                <a:solidFill>
                  <a:schemeClr val="folHlink"/>
                </a:solidFill>
              </a:rPr>
              <a:t>    </a:t>
            </a:r>
            <a:r>
              <a:rPr lang="en-US" altLang="zh-CN" b="1" dirty="0">
                <a:solidFill>
                  <a:schemeClr val="folHlink"/>
                </a:solidFill>
              </a:rPr>
              <a:t>1</a:t>
            </a:r>
            <a:r>
              <a:rPr lang="zh-CN" altLang="en-US" b="1" dirty="0">
                <a:solidFill>
                  <a:schemeClr val="folHlink"/>
                </a:solidFill>
              </a:rPr>
              <a:t>级最粗，</a:t>
            </a:r>
            <a:r>
              <a:rPr lang="en-US" altLang="zh-CN" b="1" dirty="0">
                <a:solidFill>
                  <a:schemeClr val="folHlink"/>
                </a:solidFill>
              </a:rPr>
              <a:t>8</a:t>
            </a:r>
            <a:r>
              <a:rPr lang="zh-CN" altLang="en-US" b="1" dirty="0">
                <a:solidFill>
                  <a:schemeClr val="folHlink"/>
                </a:solidFill>
              </a:rPr>
              <a:t>级最细</a:t>
            </a:r>
          </a:p>
          <a:p>
            <a:pPr eaLnBrk="1" hangingPunct="1">
              <a:spcBef>
                <a:spcPts val="0"/>
              </a:spcBef>
            </a:pPr>
            <a:r>
              <a:rPr lang="zh-CN" altLang="en-US" dirty="0"/>
              <a:t> </a:t>
            </a:r>
            <a:r>
              <a:rPr lang="zh-CN" altLang="en-US" b="1" dirty="0">
                <a:solidFill>
                  <a:schemeClr val="folHlink"/>
                </a:solidFill>
              </a:rPr>
              <a:t>平均晶粒度测量方法：GB/T6394-</a:t>
            </a:r>
            <a:r>
              <a:rPr lang="en-US" altLang="zh-CN" b="1" dirty="0">
                <a:solidFill>
                  <a:schemeClr val="folHlink"/>
                </a:solidFill>
              </a:rPr>
              <a:t>2017</a:t>
            </a:r>
            <a:endParaRPr lang="zh-CN" altLang="en-US" b="1" dirty="0">
              <a:solidFill>
                <a:schemeClr val="folHlink"/>
              </a:solidFill>
            </a:endParaRPr>
          </a:p>
          <a:p>
            <a:pPr eaLnBrk="1" hangingPunct="1">
              <a:spcBef>
                <a:spcPts val="0"/>
              </a:spcBef>
              <a:buNone/>
            </a:pPr>
            <a:r>
              <a:rPr lang="en-US" altLang="zh-CN" b="1" dirty="0"/>
              <a:t>    </a:t>
            </a:r>
            <a:r>
              <a:rPr lang="zh-CN" altLang="en-US" b="1" dirty="0"/>
              <a:t>通过</a:t>
            </a:r>
            <a:r>
              <a:rPr lang="en-US" altLang="zh-CN" b="1" dirty="0"/>
              <a:t>100</a:t>
            </a:r>
            <a:r>
              <a:rPr lang="zh-CN" altLang="en-US" b="1" dirty="0"/>
              <a:t>倍显微镜下的晶粒大小与标准图对照来评级。</a:t>
            </a:r>
          </a:p>
        </p:txBody>
      </p:sp>
      <p:pic>
        <p:nvPicPr>
          <p:cNvPr id="198660" name="Picture 4" descr="晶粒度"/>
          <p:cNvPicPr>
            <a:picLocks noChangeAspect="1"/>
          </p:cNvPicPr>
          <p:nvPr/>
        </p:nvPicPr>
        <p:blipFill>
          <a:blip r:embed="rId3"/>
          <a:stretch>
            <a:fillRect/>
          </a:stretch>
        </p:blipFill>
        <p:spPr>
          <a:xfrm>
            <a:off x="5480588" y="2780928"/>
            <a:ext cx="3663412" cy="2735635"/>
          </a:xfrm>
          <a:prstGeom prst="rect">
            <a:avLst/>
          </a:prstGeom>
          <a:noFill/>
          <a:ln w="38100" cap="flat" cmpd="sng">
            <a:noFill/>
            <a:prstDash val="solid"/>
            <a:miter/>
            <a:headEnd type="none" w="med" len="med"/>
            <a:tailEnd type="none" w="med" len="med"/>
          </a:ln>
        </p:spPr>
      </p:pic>
      <p:pic>
        <p:nvPicPr>
          <p:cNvPr id="8" name="内容占位符 1" descr="新校徽（3M）弓之乐"/>
          <p:cNvPicPr>
            <a:picLocks noChangeAspect="1"/>
          </p:cNvPicPr>
          <p:nvPr/>
        </p:nvPicPr>
        <p:blipFill>
          <a:blip r:embed="rId4"/>
          <a:stretch>
            <a:fillRect/>
          </a:stretch>
        </p:blipFill>
        <p:spPr>
          <a:xfrm>
            <a:off x="-62230" y="-3709"/>
            <a:ext cx="746760" cy="735965"/>
          </a:xfrm>
          <a:prstGeom prst="rect">
            <a:avLst/>
          </a:prstGeom>
          <a:noFill/>
          <a:ln w="9525">
            <a:noFill/>
          </a:ln>
        </p:spPr>
      </p:pic>
      <p:sp>
        <p:nvSpPr>
          <p:cNvPr id="2" name="文本框 1"/>
          <p:cNvSpPr txBox="1"/>
          <p:nvPr/>
        </p:nvSpPr>
        <p:spPr>
          <a:xfrm>
            <a:off x="5790349" y="5706001"/>
            <a:ext cx="3088735" cy="646331"/>
          </a:xfrm>
          <a:prstGeom prst="rect">
            <a:avLst/>
          </a:prstGeom>
          <a:noFill/>
        </p:spPr>
        <p:txBody>
          <a:bodyPr wrap="square" rtlCol="0">
            <a:spAutoFit/>
          </a:bodyPr>
          <a:lstStyle/>
          <a:p>
            <a:r>
              <a:rPr kumimoji="1" lang="en-US" altLang="zh-CN" b="1" dirty="0">
                <a:solidFill>
                  <a:schemeClr val="folHlink"/>
                </a:solidFill>
                <a:latin typeface="+mn-lt"/>
                <a:ea typeface="+mn-ea"/>
                <a:cs typeface="+mn-cs"/>
                <a:hlinkClick r:id="rId5"/>
              </a:rPr>
              <a:t>GB/T 6394-2017  </a:t>
            </a:r>
            <a:r>
              <a:rPr kumimoji="1" lang="en-US" altLang="zh-CN" b="1" dirty="0" err="1">
                <a:solidFill>
                  <a:schemeClr val="folHlink"/>
                </a:solidFill>
                <a:latin typeface="+mn-lt"/>
                <a:ea typeface="+mn-ea"/>
                <a:cs typeface="+mn-cs"/>
                <a:hlinkClick r:id="rId5"/>
              </a:rPr>
              <a:t>金属平均晶粒度测定方法</a:t>
            </a:r>
            <a:endParaRPr kumimoji="1" lang="zh-CN" altLang="zh-CN" b="1" dirty="0">
              <a:solidFill>
                <a:schemeClr val="folHlink"/>
              </a:solidFill>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98660"/>
                                        </p:tgtEl>
                                        <p:attrNameLst>
                                          <p:attrName>style.visibility</p:attrName>
                                        </p:attrNameLst>
                                      </p:cBhvr>
                                      <p:to>
                                        <p:strVal val="visible"/>
                                      </p:to>
                                    </p:set>
                                    <p:animEffect transition="in" filter="wipe(left)">
                                      <p:cBhvr>
                                        <p:cTn id="7" dur="500"/>
                                        <p:tgtEl>
                                          <p:spTgt spid="1986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日期占位符 3"/>
          <p:cNvSpPr txBox="1">
            <a:spLocks noGrp="1"/>
          </p:cNvSpPr>
          <p:nvPr>
            <p:ph type="dt" sz="half" idx="10"/>
          </p:nvPr>
        </p:nvSpPr>
        <p:spPr>
          <a:xfrm>
            <a:off x="0" y="6510338"/>
            <a:ext cx="2376488"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37219" name="灯片编号占位符 5"/>
          <p:cNvSpPr txBox="1">
            <a:spLocks noGrp="1"/>
          </p:cNvSpPr>
          <p:nvPr>
            <p:ph type="sldNum" sz="quarter" idx="12"/>
          </p:nvPr>
        </p:nvSpPr>
        <p:spPr>
          <a:xfrm>
            <a:off x="8559165" y="6563360"/>
            <a:ext cx="584835" cy="294640"/>
          </a:xfrm>
        </p:spPr>
        <p:txBody>
          <a:bodyPr lIns="92075" tIns="46038" rIns="92075" bIns="46038" anchor="ctr"/>
          <a:lstStyle/>
          <a:p>
            <a:pPr algn="r" eaLnBrk="1" hangingPunct="1"/>
            <a:fld id="{9A0DB2DC-4C9A-4742-B13C-FB6460FD3503}" type="slidenum">
              <a:rPr lang="en-US" altLang="zh-CN" sz="1400" dirty="0"/>
              <a:t>153</a:t>
            </a:fld>
            <a:endParaRPr lang="en-US" altLang="zh-CN" sz="1400" dirty="0"/>
          </a:p>
        </p:txBody>
      </p:sp>
      <p:sp>
        <p:nvSpPr>
          <p:cNvPr id="137220" name="Rectangle 2"/>
          <p:cNvSpPr>
            <a:spLocks noGrp="1"/>
          </p:cNvSpPr>
          <p:nvPr>
            <p:ph type="title"/>
          </p:nvPr>
        </p:nvSpPr>
        <p:spPr>
          <a:xfrm>
            <a:off x="1691680" y="196850"/>
            <a:ext cx="6526213" cy="928688"/>
          </a:xfrm>
        </p:spPr>
        <p:txBody>
          <a:bodyPr vert="horz" wrap="square" lIns="92075" tIns="46038" rIns="92075" bIns="46038" anchor="ctr"/>
          <a:lstStyle/>
          <a:p>
            <a:pPr eaLnBrk="1" hangingPunct="1"/>
            <a:r>
              <a:rPr lang="en-US" altLang="zh-CN" b="1" dirty="0">
                <a:solidFill>
                  <a:srgbClr val="FF0000"/>
                </a:solidFill>
                <a:latin typeface="华文中宋" panose="02010600040101010101" pitchFamily="2" charset="-122"/>
                <a:ea typeface="华文中宋" panose="02010600040101010101" pitchFamily="2" charset="-122"/>
              </a:rPr>
              <a:t>2</a:t>
            </a:r>
            <a:r>
              <a:rPr lang="zh-CN" altLang="en-US" b="1" dirty="0">
                <a:solidFill>
                  <a:srgbClr val="FF0000"/>
                </a:solidFill>
                <a:latin typeface="华文中宋" panose="02010600040101010101" pitchFamily="2" charset="-122"/>
                <a:ea typeface="华文中宋" panose="02010600040101010101" pitchFamily="2" charset="-122"/>
              </a:rPr>
              <a:t>、决定晶粒度的因素</a:t>
            </a:r>
          </a:p>
        </p:txBody>
      </p:sp>
      <p:sp>
        <p:nvSpPr>
          <p:cNvPr id="137221" name="Rectangle 3"/>
          <p:cNvSpPr>
            <a:spLocks noGrp="1"/>
          </p:cNvSpPr>
          <p:nvPr>
            <p:ph idx="1"/>
          </p:nvPr>
        </p:nvSpPr>
        <p:spPr>
          <a:xfrm>
            <a:off x="179388" y="1844823"/>
            <a:ext cx="5472112" cy="4725839"/>
          </a:xfrm>
        </p:spPr>
        <p:txBody>
          <a:bodyPr vert="horz" wrap="square" lIns="91440" tIns="45720" rIns="91440" bIns="45720" anchor="t"/>
          <a:lstStyle/>
          <a:p>
            <a:pPr eaLnBrk="1" hangingPunct="1"/>
            <a:r>
              <a:rPr lang="zh-CN" altLang="en-US" b="1" dirty="0">
                <a:solidFill>
                  <a:schemeClr val="folHlink"/>
                </a:solidFill>
              </a:rPr>
              <a:t>晶粒的大小</a:t>
            </a:r>
            <a:r>
              <a:rPr lang="zh-CN" altLang="en-US" b="1" dirty="0"/>
              <a:t>取决于</a:t>
            </a:r>
            <a:r>
              <a:rPr lang="zh-CN" altLang="en-US" b="1" dirty="0">
                <a:solidFill>
                  <a:schemeClr val="folHlink"/>
                </a:solidFill>
              </a:rPr>
              <a:t>晶核的形成速度</a:t>
            </a:r>
            <a:r>
              <a:rPr lang="zh-CN" altLang="en-US" b="1" dirty="0"/>
              <a:t>和</a:t>
            </a:r>
            <a:r>
              <a:rPr lang="zh-CN" altLang="en-US" b="1" dirty="0">
                <a:solidFill>
                  <a:schemeClr val="folHlink"/>
                </a:solidFill>
              </a:rPr>
              <a:t>长大速度。</a:t>
            </a:r>
          </a:p>
          <a:p>
            <a:pPr eaLnBrk="1" hangingPunct="1"/>
            <a:r>
              <a:rPr lang="zh-CN" altLang="en-US" b="1" dirty="0">
                <a:solidFill>
                  <a:schemeClr val="folHlink"/>
                </a:solidFill>
              </a:rPr>
              <a:t>形核率</a:t>
            </a:r>
            <a:r>
              <a:rPr lang="en-US" altLang="zh-CN" b="1" dirty="0">
                <a:solidFill>
                  <a:schemeClr val="folHlink"/>
                </a:solidFill>
              </a:rPr>
              <a:t>(N)</a:t>
            </a:r>
            <a:r>
              <a:rPr lang="zh-CN" altLang="en-US" b="1" dirty="0">
                <a:solidFill>
                  <a:schemeClr val="folHlink"/>
                </a:solidFill>
              </a:rPr>
              <a:t>：单位时间、单位体积内</a:t>
            </a:r>
            <a:r>
              <a:rPr lang="zh-CN" altLang="en-US" b="1" dirty="0"/>
              <a:t>形成</a:t>
            </a:r>
            <a:r>
              <a:rPr lang="zh-CN" altLang="en-US" b="1" dirty="0">
                <a:solidFill>
                  <a:schemeClr val="folHlink"/>
                </a:solidFill>
              </a:rPr>
              <a:t>的晶核数目</a:t>
            </a:r>
            <a:r>
              <a:rPr lang="zh-CN" altLang="en-US" b="1" dirty="0"/>
              <a:t>。</a:t>
            </a:r>
            <a:endParaRPr lang="zh-CN" altLang="en-US" b="1" dirty="0">
              <a:solidFill>
                <a:schemeClr val="folHlink"/>
              </a:solidFill>
            </a:endParaRPr>
          </a:p>
          <a:p>
            <a:pPr eaLnBrk="1" hangingPunct="1"/>
            <a:r>
              <a:rPr lang="zh-CN" altLang="en-US" b="1" dirty="0">
                <a:solidFill>
                  <a:schemeClr val="folHlink"/>
                </a:solidFill>
              </a:rPr>
              <a:t>长大速度</a:t>
            </a:r>
            <a:r>
              <a:rPr lang="en-US" altLang="zh-CN" b="1" dirty="0">
                <a:solidFill>
                  <a:schemeClr val="folHlink"/>
                </a:solidFill>
              </a:rPr>
              <a:t>(G)</a:t>
            </a:r>
            <a:r>
              <a:rPr lang="zh-CN" altLang="en-US" b="1" dirty="0">
                <a:solidFill>
                  <a:schemeClr val="folHlink"/>
                </a:solidFill>
              </a:rPr>
              <a:t>：单位时间内晶核生长的长度</a:t>
            </a:r>
            <a:r>
              <a:rPr lang="zh-CN" altLang="en-US" b="1" dirty="0"/>
              <a:t>。</a:t>
            </a:r>
          </a:p>
          <a:p>
            <a:pPr eaLnBrk="1" hangingPunct="1"/>
            <a:r>
              <a:rPr lang="en-US" altLang="zh-CN" b="1" dirty="0">
                <a:solidFill>
                  <a:schemeClr val="folHlink"/>
                </a:solidFill>
              </a:rPr>
              <a:t>N/G</a:t>
            </a:r>
            <a:r>
              <a:rPr lang="zh-CN" altLang="en-US" b="1" dirty="0">
                <a:solidFill>
                  <a:schemeClr val="folHlink"/>
                </a:solidFill>
              </a:rPr>
              <a:t>比值越大，晶粒越细小</a:t>
            </a:r>
            <a:r>
              <a:rPr lang="en-US" altLang="zh-CN" b="1" dirty="0"/>
              <a:t>.</a:t>
            </a:r>
            <a:r>
              <a:rPr lang="zh-CN" altLang="en-US" b="1" dirty="0"/>
              <a:t>因此，凡是促进形核、抑制长大的因素，都能细化晶粒</a:t>
            </a:r>
            <a:r>
              <a:rPr lang="en-US" altLang="zh-CN" b="1" dirty="0"/>
              <a:t>.</a:t>
            </a:r>
          </a:p>
        </p:txBody>
      </p:sp>
      <p:grpSp>
        <p:nvGrpSpPr>
          <p:cNvPr id="2" name="Group 4"/>
          <p:cNvGrpSpPr/>
          <p:nvPr/>
        </p:nvGrpSpPr>
        <p:grpSpPr>
          <a:xfrm>
            <a:off x="5948855" y="1989137"/>
            <a:ext cx="3200400" cy="4005263"/>
            <a:chOff x="3456" y="1305"/>
            <a:chExt cx="2016" cy="2431"/>
          </a:xfrm>
        </p:grpSpPr>
        <p:pic>
          <p:nvPicPr>
            <p:cNvPr id="137224" name="Picture 5" descr="过冷度对N、G影响"/>
            <p:cNvPicPr>
              <a:picLocks noChangeAspect="1"/>
            </p:cNvPicPr>
            <p:nvPr/>
          </p:nvPicPr>
          <p:blipFill>
            <a:blip r:embed="rId2"/>
            <a:stretch>
              <a:fillRect/>
            </a:stretch>
          </p:blipFill>
          <p:spPr>
            <a:xfrm>
              <a:off x="3456" y="1344"/>
              <a:ext cx="1927" cy="2392"/>
            </a:xfrm>
            <a:prstGeom prst="rect">
              <a:avLst/>
            </a:prstGeom>
            <a:noFill/>
            <a:ln w="38100" cap="flat" cmpd="sng">
              <a:solidFill>
                <a:srgbClr val="FF9900"/>
              </a:solidFill>
              <a:prstDash val="solid"/>
              <a:miter/>
              <a:headEnd type="none" w="med" len="med"/>
              <a:tailEnd type="none" w="med" len="med"/>
            </a:ln>
          </p:spPr>
        </p:pic>
        <p:sp>
          <p:nvSpPr>
            <p:cNvPr id="137225" name="Text Box 6"/>
            <p:cNvSpPr txBox="1"/>
            <p:nvPr/>
          </p:nvSpPr>
          <p:spPr>
            <a:xfrm>
              <a:off x="3888" y="1305"/>
              <a:ext cx="1584" cy="223"/>
            </a:xfrm>
            <a:prstGeom prst="rect">
              <a:avLst/>
            </a:prstGeom>
            <a:noFill/>
            <a:ln w="38100">
              <a:noFill/>
            </a:ln>
          </p:spPr>
          <p:txBody>
            <a:bodyPr>
              <a:spAutoFit/>
            </a:bodyPr>
            <a:lstStyle/>
            <a:p>
              <a:pPr lvl="0" algn="ctr" eaLnBrk="1" hangingPunct="1">
                <a:spcBef>
                  <a:spcPct val="50000"/>
                </a:spcBef>
              </a:pPr>
              <a:r>
                <a:rPr lang="zh-CN" altLang="en-US" sz="1800" b="1" dirty="0">
                  <a:solidFill>
                    <a:srgbClr val="800000"/>
                  </a:solidFill>
                  <a:latin typeface="Times New Roman" panose="02020603050405020304" pitchFamily="18" charset="0"/>
                  <a:ea typeface="宋体" panose="02010600030101010101" pitchFamily="2" charset="-122"/>
                </a:rPr>
                <a:t>过冷度对</a:t>
              </a:r>
              <a:r>
                <a:rPr lang="en-US" altLang="zh-CN" sz="1800" b="1" dirty="0">
                  <a:solidFill>
                    <a:srgbClr val="800000"/>
                  </a:solidFill>
                  <a:latin typeface="Times New Roman" panose="02020603050405020304" pitchFamily="18" charset="0"/>
                  <a:ea typeface="宋体" panose="02010600030101010101" pitchFamily="2" charset="-122"/>
                </a:rPr>
                <a:t>N</a:t>
              </a:r>
              <a:r>
                <a:rPr lang="zh-CN" altLang="en-US" sz="1800" b="1" dirty="0">
                  <a:solidFill>
                    <a:srgbClr val="800000"/>
                  </a:solidFill>
                  <a:latin typeface="Times New Roman" panose="02020603050405020304" pitchFamily="18" charset="0"/>
                  <a:ea typeface="宋体" panose="02010600030101010101" pitchFamily="2" charset="-122"/>
                </a:rPr>
                <a:t>、</a:t>
              </a:r>
              <a:r>
                <a:rPr lang="en-US" altLang="zh-CN" sz="1800" b="1" dirty="0">
                  <a:solidFill>
                    <a:srgbClr val="800000"/>
                  </a:solidFill>
                  <a:latin typeface="Times New Roman" panose="02020603050405020304" pitchFamily="18" charset="0"/>
                  <a:ea typeface="宋体" panose="02010600030101010101" pitchFamily="2" charset="-122"/>
                </a:rPr>
                <a:t>G</a:t>
              </a:r>
              <a:r>
                <a:rPr lang="zh-CN" altLang="en-US" sz="1800" b="1" dirty="0">
                  <a:solidFill>
                    <a:srgbClr val="800000"/>
                  </a:solidFill>
                  <a:latin typeface="Times New Roman" panose="02020603050405020304" pitchFamily="18" charset="0"/>
                  <a:ea typeface="宋体" panose="02010600030101010101" pitchFamily="2" charset="-122"/>
                </a:rPr>
                <a:t>的影响</a:t>
              </a:r>
            </a:p>
          </p:txBody>
        </p:sp>
      </p:grpSp>
      <p:pic>
        <p:nvPicPr>
          <p:cNvPr id="10" name="内容占位符 1" descr="新校徽（3M）弓之乐"/>
          <p:cNvPicPr>
            <a:picLocks noChangeAspect="1"/>
          </p:cNvPicPr>
          <p:nvPr/>
        </p:nvPicPr>
        <p:blipFill>
          <a:blip r:embed="rId3"/>
          <a:stretch>
            <a:fillRect/>
          </a:stretch>
        </p:blipFill>
        <p:spPr>
          <a:xfrm>
            <a:off x="-62230" y="-3709"/>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日期占位符 3"/>
          <p:cNvSpPr txBox="1">
            <a:spLocks noGrp="1"/>
          </p:cNvSpPr>
          <p:nvPr>
            <p:ph type="dt" sz="half" idx="10"/>
          </p:nvPr>
        </p:nvSpPr>
        <p:spPr>
          <a:xfrm>
            <a:off x="0" y="6438900"/>
            <a:ext cx="2233613" cy="419100"/>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38243" name="灯片编号占位符 5"/>
          <p:cNvSpPr txBox="1">
            <a:spLocks noGrp="1"/>
          </p:cNvSpPr>
          <p:nvPr>
            <p:ph type="sldNum" sz="quarter" idx="12"/>
          </p:nvPr>
        </p:nvSpPr>
        <p:spPr>
          <a:xfrm>
            <a:off x="8612505" y="6581775"/>
            <a:ext cx="531495" cy="276225"/>
          </a:xfrm>
        </p:spPr>
        <p:txBody>
          <a:bodyPr lIns="92075" tIns="46038" rIns="92075" bIns="46038" anchor="ctr"/>
          <a:lstStyle/>
          <a:p>
            <a:pPr algn="r" eaLnBrk="1" hangingPunct="1"/>
            <a:fld id="{9A0DB2DC-4C9A-4742-B13C-FB6460FD3503}" type="slidenum">
              <a:rPr lang="en-US" altLang="zh-CN" sz="1400" dirty="0"/>
              <a:t>154</a:t>
            </a:fld>
            <a:endParaRPr lang="en-US" altLang="zh-CN" sz="1400" dirty="0"/>
          </a:p>
        </p:txBody>
      </p:sp>
      <p:sp>
        <p:nvSpPr>
          <p:cNvPr id="203778" name="Rectangle 2"/>
          <p:cNvSpPr>
            <a:spLocks noGrp="1"/>
          </p:cNvSpPr>
          <p:nvPr>
            <p:ph type="title"/>
          </p:nvPr>
        </p:nvSpPr>
        <p:spPr>
          <a:xfrm>
            <a:off x="1475656" y="531695"/>
            <a:ext cx="6646863" cy="881081"/>
          </a:xfrm>
        </p:spPr>
        <p:txBody>
          <a:bodyPr vert="horz" wrap="square" lIns="92075" tIns="46038" rIns="92075" bIns="46038" anchor="ctr"/>
          <a:lstStyle/>
          <a:p>
            <a:pPr algn="l" eaLnBrk="1" hangingPunct="1"/>
            <a:r>
              <a:rPr lang="en-US" altLang="zh-CN" b="1" dirty="0">
                <a:solidFill>
                  <a:srgbClr val="FF0000"/>
                </a:solidFill>
                <a:latin typeface="华文中宋" panose="02010600040101010101" pitchFamily="2" charset="-122"/>
                <a:ea typeface="华文中宋" panose="02010600040101010101" pitchFamily="2" charset="-122"/>
              </a:rPr>
              <a:t>3</a:t>
            </a:r>
            <a:r>
              <a:rPr lang="zh-CN" altLang="en-US" b="1" dirty="0">
                <a:solidFill>
                  <a:srgbClr val="FF0000"/>
                </a:solidFill>
                <a:latin typeface="华文中宋" panose="02010600040101010101" pitchFamily="2" charset="-122"/>
                <a:ea typeface="华文中宋" panose="02010600040101010101" pitchFamily="2" charset="-122"/>
              </a:rPr>
              <a:t>、控制晶粒度的方法</a:t>
            </a:r>
          </a:p>
        </p:txBody>
      </p:sp>
      <p:pic>
        <p:nvPicPr>
          <p:cNvPr id="203779" name="Picture 3" descr="2-6"/>
          <p:cNvPicPr>
            <a:picLocks noChangeAspect="1"/>
          </p:cNvPicPr>
          <p:nvPr/>
        </p:nvPicPr>
        <p:blipFill>
          <a:blip r:embed="rId2"/>
          <a:stretch>
            <a:fillRect/>
          </a:stretch>
        </p:blipFill>
        <p:spPr>
          <a:xfrm>
            <a:off x="6070600" y="1484630"/>
            <a:ext cx="3073400" cy="3876675"/>
          </a:xfrm>
          <a:prstGeom prst="rect">
            <a:avLst/>
          </a:prstGeom>
          <a:noFill/>
          <a:ln w="38100" cap="flat" cmpd="sng">
            <a:noFill/>
            <a:prstDash val="solid"/>
            <a:miter/>
            <a:headEnd type="none" w="med" len="med"/>
            <a:tailEnd type="none" w="med" len="med"/>
          </a:ln>
        </p:spPr>
      </p:pic>
      <p:sp>
        <p:nvSpPr>
          <p:cNvPr id="203780" name="Rectangle 4"/>
          <p:cNvSpPr>
            <a:spLocks noGrp="1"/>
          </p:cNvSpPr>
          <p:nvPr>
            <p:ph idx="1"/>
          </p:nvPr>
        </p:nvSpPr>
        <p:spPr>
          <a:xfrm>
            <a:off x="140335" y="1988840"/>
            <a:ext cx="5774690" cy="4450060"/>
          </a:xfrm>
        </p:spPr>
        <p:txBody>
          <a:bodyPr vert="horz" wrap="square" lIns="91440" tIns="45720" rIns="91440" bIns="45720" anchor="t"/>
          <a:lstStyle/>
          <a:p>
            <a:pPr eaLnBrk="1" hangingPunct="1">
              <a:lnSpc>
                <a:spcPct val="110000"/>
              </a:lnSpc>
            </a:pPr>
            <a:r>
              <a:rPr lang="en-US" altLang="zh-CN" b="1" dirty="0">
                <a:solidFill>
                  <a:schemeClr val="folHlink"/>
                </a:solidFill>
              </a:rPr>
              <a:t>⑴ </a:t>
            </a:r>
            <a:r>
              <a:rPr lang="zh-CN" altLang="en-US" b="1" dirty="0">
                <a:solidFill>
                  <a:schemeClr val="folHlink"/>
                </a:solidFill>
              </a:rPr>
              <a:t>控制过冷度</a:t>
            </a:r>
            <a:r>
              <a:rPr lang="zh-CN" altLang="en-US" b="1" dirty="0">
                <a:solidFill>
                  <a:schemeClr val="tx2"/>
                </a:solidFill>
                <a:ea typeface="华文中宋" panose="02010600040101010101" pitchFamily="2" charset="-122"/>
              </a:rPr>
              <a:t>：  </a:t>
            </a:r>
            <a:r>
              <a:rPr lang="zh-CN" altLang="en-US" b="1" dirty="0">
                <a:ea typeface="华文中宋" panose="02010600040101010101" pitchFamily="2" charset="-122"/>
              </a:rPr>
              <a:t>随过冷度</a:t>
            </a:r>
            <a:r>
              <a:rPr lang="zh-CN" altLang="en-US" b="1" dirty="0">
                <a:ea typeface="华文中宋" panose="02010600040101010101" pitchFamily="2" charset="-122"/>
                <a:sym typeface="Symbol" panose="05050102010706020507" pitchFamily="18" charset="2"/>
              </a:rPr>
              <a:t>增加，</a:t>
            </a:r>
            <a:r>
              <a:rPr lang="en-US" altLang="zh-CN" b="1" dirty="0">
                <a:solidFill>
                  <a:schemeClr val="folHlink"/>
                </a:solidFill>
                <a:ea typeface="华文中宋" panose="02010600040101010101" pitchFamily="2" charset="-122"/>
                <a:sym typeface="Symbol" panose="05050102010706020507" pitchFamily="18" charset="2"/>
              </a:rPr>
              <a:t>N/G</a:t>
            </a:r>
            <a:r>
              <a:rPr lang="zh-CN" altLang="en-US" b="1" dirty="0">
                <a:ea typeface="华文中宋" panose="02010600040101010101" pitchFamily="2" charset="-122"/>
                <a:sym typeface="Symbol" panose="05050102010706020507" pitchFamily="18" charset="2"/>
              </a:rPr>
              <a:t>值增加，晶粒变细。</a:t>
            </a:r>
          </a:p>
          <a:p>
            <a:pPr eaLnBrk="1" hangingPunct="1">
              <a:lnSpc>
                <a:spcPct val="110000"/>
              </a:lnSpc>
            </a:pPr>
            <a:r>
              <a:rPr lang="zh-CN" altLang="en-US" b="1" dirty="0">
                <a:solidFill>
                  <a:schemeClr val="folHlink"/>
                </a:solidFill>
                <a:sym typeface="Symbol" panose="05050102010706020507" pitchFamily="18" charset="2"/>
              </a:rPr>
              <a:t>⑵ 变质处理：</a:t>
            </a:r>
            <a:r>
              <a:rPr lang="zh-CN" altLang="en-US" b="1" dirty="0">
                <a:solidFill>
                  <a:schemeClr val="tx2"/>
                </a:solidFill>
                <a:ea typeface="华文中宋" panose="02010600040101010101" pitchFamily="2" charset="-122"/>
                <a:sym typeface="Symbol" panose="05050102010706020507" pitchFamily="18" charset="2"/>
              </a:rPr>
              <a:t>   </a:t>
            </a:r>
            <a:r>
              <a:rPr lang="zh-CN" altLang="en-US" b="1" dirty="0">
                <a:ea typeface="华文中宋" panose="02010600040101010101" pitchFamily="2" charset="-122"/>
                <a:sym typeface="Symbol" panose="05050102010706020507" pitchFamily="18" charset="2"/>
              </a:rPr>
              <a:t>又称</a:t>
            </a:r>
            <a:r>
              <a:rPr lang="zh-CN" altLang="en-US" b="1" dirty="0">
                <a:solidFill>
                  <a:schemeClr val="tx2"/>
                </a:solidFill>
                <a:ea typeface="华文中宋" panose="02010600040101010101" pitchFamily="2" charset="-122"/>
                <a:sym typeface="Symbol" panose="05050102010706020507" pitchFamily="18" charset="2"/>
              </a:rPr>
              <a:t>孕育处理</a:t>
            </a:r>
            <a:r>
              <a:rPr lang="zh-CN" altLang="en-US" b="1" dirty="0">
                <a:ea typeface="华文中宋" panose="02010600040101010101" pitchFamily="2" charset="-122"/>
                <a:sym typeface="Symbol" panose="05050102010706020507" pitchFamily="18" charset="2"/>
              </a:rPr>
              <a:t>。即有意向液态金属内加入非均匀形核物质，从而细化晶粒的方法。所加入的非均匀形核物质叫</a:t>
            </a:r>
            <a:r>
              <a:rPr lang="zh-CN" altLang="en-US" b="1" dirty="0">
                <a:solidFill>
                  <a:srgbClr val="0000FF"/>
                </a:solidFill>
                <a:sym typeface="Symbol" panose="05050102010706020507" pitchFamily="18" charset="2"/>
              </a:rPr>
              <a:t>变质剂</a:t>
            </a:r>
            <a:r>
              <a:rPr lang="zh-CN" altLang="en-US" b="1" dirty="0">
                <a:ea typeface="华文中宋" panose="02010600040101010101" pitchFamily="2" charset="-122"/>
                <a:sym typeface="Symbol" panose="05050102010706020507" pitchFamily="18" charset="2"/>
              </a:rPr>
              <a:t>（或称</a:t>
            </a:r>
            <a:r>
              <a:rPr lang="zh-CN" altLang="en-US" b="1" dirty="0">
                <a:solidFill>
                  <a:srgbClr val="0000FF"/>
                </a:solidFill>
                <a:sym typeface="Symbol" panose="05050102010706020507" pitchFamily="18" charset="2"/>
              </a:rPr>
              <a:t>孕育剂</a:t>
            </a:r>
            <a:r>
              <a:rPr lang="zh-CN" altLang="en-US" b="1" dirty="0">
                <a:ea typeface="华文中宋" panose="02010600040101010101" pitchFamily="2" charset="-122"/>
                <a:sym typeface="Symbol" panose="05050102010706020507" pitchFamily="18" charset="2"/>
              </a:rPr>
              <a:t>）</a:t>
            </a:r>
            <a:r>
              <a:rPr lang="zh-CN" altLang="en-US" sz="2800" b="1" dirty="0">
                <a:ea typeface="华文中宋" panose="02010600040101010101" pitchFamily="2" charset="-122"/>
                <a:sym typeface="Symbol" panose="05050102010706020507" pitchFamily="18" charset="2"/>
              </a:rPr>
              <a:t>。</a:t>
            </a:r>
            <a:endParaRPr lang="zh-CN" altLang="en-US" sz="2800" b="1" dirty="0">
              <a:ea typeface="华文中宋" panose="02010600040101010101" pitchFamily="2" charset="-122"/>
            </a:endParaRPr>
          </a:p>
        </p:txBody>
      </p:sp>
      <p:pic>
        <p:nvPicPr>
          <p:cNvPr id="8" name="内容占位符 1" descr="新校徽（3M）弓之乐"/>
          <p:cNvPicPr>
            <a:picLocks noChangeAspect="1"/>
          </p:cNvPicPr>
          <p:nvPr/>
        </p:nvPicPr>
        <p:blipFill>
          <a:blip r:embed="rId3"/>
          <a:stretch>
            <a:fillRect/>
          </a:stretch>
        </p:blipFill>
        <p:spPr>
          <a:xfrm>
            <a:off x="-62230" y="-3709"/>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3778"/>
                                        </p:tgtEl>
                                        <p:attrNameLst>
                                          <p:attrName>style.visibility</p:attrName>
                                        </p:attrNameLst>
                                      </p:cBhvr>
                                      <p:to>
                                        <p:strVal val="visible"/>
                                      </p:to>
                                    </p:set>
                                    <p:animEffect transition="in" filter="wipe(left)">
                                      <p:cBhvr>
                                        <p:cTn id="7" dur="500"/>
                                        <p:tgtEl>
                                          <p:spTgt spid="20377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03780">
                                            <p:txEl>
                                              <p:pRg st="0" end="0"/>
                                            </p:txEl>
                                          </p:spTgt>
                                        </p:tgtEl>
                                        <p:attrNameLst>
                                          <p:attrName>style.visibility</p:attrName>
                                        </p:attrNameLst>
                                      </p:cBhvr>
                                      <p:to>
                                        <p:strVal val="visible"/>
                                      </p:to>
                                    </p:set>
                                    <p:animEffect transition="in" filter="wipe(left)">
                                      <p:cBhvr>
                                        <p:cTn id="11" dur="500"/>
                                        <p:tgtEl>
                                          <p:spTgt spid="203780">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1000"/>
                                  </p:stCondLst>
                                  <p:childTnLst>
                                    <p:set>
                                      <p:cBhvr>
                                        <p:cTn id="14" dur="1" fill="hold">
                                          <p:stCondLst>
                                            <p:cond delay="0"/>
                                          </p:stCondLst>
                                        </p:cTn>
                                        <p:tgtEl>
                                          <p:spTgt spid="203780">
                                            <p:txEl>
                                              <p:pRg st="1" end="1"/>
                                            </p:txEl>
                                          </p:spTgt>
                                        </p:tgtEl>
                                        <p:attrNameLst>
                                          <p:attrName>style.visibility</p:attrName>
                                        </p:attrNameLst>
                                      </p:cBhvr>
                                      <p:to>
                                        <p:strVal val="visible"/>
                                      </p:to>
                                    </p:set>
                                    <p:animEffect transition="in" filter="wipe(left)">
                                      <p:cBhvr>
                                        <p:cTn id="15" dur="500"/>
                                        <p:tgtEl>
                                          <p:spTgt spid="203780">
                                            <p:txEl>
                                              <p:pRg st="1" end="1"/>
                                            </p:txEl>
                                          </p:spTgt>
                                        </p:tgtEl>
                                      </p:cBhvr>
                                    </p:animEffect>
                                  </p:childTnLst>
                                </p:cTn>
                              </p:par>
                            </p:childTnLst>
                          </p:cTn>
                        </p:par>
                        <p:par>
                          <p:cTn id="16" fill="hold">
                            <p:stCondLst>
                              <p:cond delay="2500"/>
                            </p:stCondLst>
                            <p:childTnLst>
                              <p:par>
                                <p:cTn id="17" presetID="22" presetClass="entr" presetSubtype="1" fill="hold" nodeType="afterEffect">
                                  <p:stCondLst>
                                    <p:cond delay="0"/>
                                  </p:stCondLst>
                                  <p:childTnLst>
                                    <p:set>
                                      <p:cBhvr>
                                        <p:cTn id="18" dur="1" fill="hold">
                                          <p:stCondLst>
                                            <p:cond delay="0"/>
                                          </p:stCondLst>
                                        </p:cTn>
                                        <p:tgtEl>
                                          <p:spTgt spid="203779"/>
                                        </p:tgtEl>
                                        <p:attrNameLst>
                                          <p:attrName>style.visibility</p:attrName>
                                        </p:attrNameLst>
                                      </p:cBhvr>
                                      <p:to>
                                        <p:strVal val="visible"/>
                                      </p:to>
                                    </p:set>
                                    <p:animEffect transition="in" filter="wipe(up)">
                                      <p:cBhvr>
                                        <p:cTn id="19" dur="500"/>
                                        <p:tgtEl>
                                          <p:spTgt spid="2037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78" grpId="0"/>
      <p:bldP spid="203780" grpId="0" build="p" advAuto="100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日期占位符 3"/>
          <p:cNvSpPr txBox="1">
            <a:spLocks noGrp="1"/>
          </p:cNvSpPr>
          <p:nvPr>
            <p:ph type="dt" sz="half" idx="10"/>
          </p:nvPr>
        </p:nvSpPr>
        <p:spPr>
          <a:xfrm>
            <a:off x="0" y="6438900"/>
            <a:ext cx="2162175" cy="419100"/>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39267" name="灯片编号占位符 5"/>
          <p:cNvSpPr txBox="1">
            <a:spLocks noGrp="1"/>
          </p:cNvSpPr>
          <p:nvPr>
            <p:ph type="sldNum" sz="quarter" idx="12"/>
          </p:nvPr>
        </p:nvSpPr>
        <p:spPr>
          <a:xfrm>
            <a:off x="8424545" y="6590665"/>
            <a:ext cx="704850" cy="267335"/>
          </a:xfrm>
        </p:spPr>
        <p:txBody>
          <a:bodyPr lIns="92075" tIns="46038" rIns="92075" bIns="46038" anchor="ctr"/>
          <a:lstStyle/>
          <a:p>
            <a:pPr algn="r" eaLnBrk="1" hangingPunct="1"/>
            <a:fld id="{9A0DB2DC-4C9A-4742-B13C-FB6460FD3503}" type="slidenum">
              <a:rPr lang="en-US" altLang="zh-CN" sz="1400" dirty="0"/>
              <a:t>155</a:t>
            </a:fld>
            <a:endParaRPr lang="en-US" altLang="zh-CN" sz="1400" dirty="0"/>
          </a:p>
        </p:txBody>
      </p:sp>
      <p:sp>
        <p:nvSpPr>
          <p:cNvPr id="204802" name="Rectangle 2"/>
          <p:cNvSpPr>
            <a:spLocks noGrp="1"/>
          </p:cNvSpPr>
          <p:nvPr>
            <p:ph type="title"/>
          </p:nvPr>
        </p:nvSpPr>
        <p:spPr>
          <a:xfrm>
            <a:off x="2493771" y="378572"/>
            <a:ext cx="3851275" cy="818403"/>
          </a:xfrm>
        </p:spPr>
        <p:txBody>
          <a:bodyPr vert="horz" wrap="square" lIns="92075" tIns="46038" rIns="92075" bIns="46038" anchor="ctr"/>
          <a:lstStyle/>
          <a:p>
            <a:pPr eaLnBrk="1" hangingPunct="1"/>
            <a:r>
              <a:rPr lang="en-US" altLang="zh-CN" b="1" dirty="0">
                <a:solidFill>
                  <a:srgbClr val="FF0000"/>
                </a:solidFill>
                <a:latin typeface="华文中宋" panose="02010600040101010101" pitchFamily="2" charset="-122"/>
                <a:ea typeface="华文中宋" panose="02010600040101010101" pitchFamily="2" charset="-122"/>
              </a:rPr>
              <a:t>Al-Si</a:t>
            </a:r>
            <a:r>
              <a:rPr lang="zh-CN" altLang="en-US" b="1" dirty="0">
                <a:solidFill>
                  <a:srgbClr val="FF0000"/>
                </a:solidFill>
                <a:latin typeface="华文中宋" panose="02010600040101010101" pitchFamily="2" charset="-122"/>
                <a:ea typeface="华文中宋" panose="02010600040101010101" pitchFamily="2" charset="-122"/>
              </a:rPr>
              <a:t>合金组织</a:t>
            </a:r>
          </a:p>
        </p:txBody>
      </p:sp>
      <p:grpSp>
        <p:nvGrpSpPr>
          <p:cNvPr id="2" name="Group 3"/>
          <p:cNvGrpSpPr/>
          <p:nvPr/>
        </p:nvGrpSpPr>
        <p:grpSpPr>
          <a:xfrm>
            <a:off x="3277870" y="1965325"/>
            <a:ext cx="4274185" cy="2221230"/>
            <a:chOff x="2369" y="114"/>
            <a:chExt cx="3110" cy="2088"/>
          </a:xfrm>
        </p:grpSpPr>
        <p:pic>
          <p:nvPicPr>
            <p:cNvPr id="139276" name="Picture 4" descr="micro1[1]"/>
            <p:cNvPicPr>
              <a:picLocks noChangeAspect="1"/>
            </p:cNvPicPr>
            <p:nvPr/>
          </p:nvPicPr>
          <p:blipFill>
            <a:blip r:embed="rId3"/>
            <a:stretch>
              <a:fillRect/>
            </a:stretch>
          </p:blipFill>
          <p:spPr>
            <a:xfrm>
              <a:off x="2369" y="114"/>
              <a:ext cx="3110" cy="2088"/>
            </a:xfrm>
            <a:prstGeom prst="rect">
              <a:avLst/>
            </a:prstGeom>
            <a:noFill/>
            <a:ln w="9525">
              <a:noFill/>
            </a:ln>
          </p:spPr>
        </p:pic>
        <p:sp>
          <p:nvSpPr>
            <p:cNvPr id="139277" name="Rectangle 5"/>
            <p:cNvSpPr/>
            <p:nvPr/>
          </p:nvSpPr>
          <p:spPr>
            <a:xfrm>
              <a:off x="2448" y="1968"/>
              <a:ext cx="336" cy="19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lvl="0" algn="ctr" eaLnBrk="1" hangingPunct="1"/>
              <a:r>
                <a:rPr lang="zh-CN" altLang="en-US" sz="2000" b="1" dirty="0">
                  <a:solidFill>
                    <a:srgbClr val="0000FF"/>
                  </a:solidFill>
                  <a:latin typeface="Times New Roman" panose="02020603050405020304" pitchFamily="18" charset="0"/>
                  <a:ea typeface="宋体" panose="02010600030101010101" pitchFamily="2" charset="-122"/>
                </a:rPr>
                <a:t>缓冷</a:t>
              </a:r>
            </a:p>
          </p:txBody>
        </p:sp>
        <p:sp>
          <p:nvSpPr>
            <p:cNvPr id="139278" name="Rectangle 6"/>
            <p:cNvSpPr/>
            <p:nvPr/>
          </p:nvSpPr>
          <p:spPr>
            <a:xfrm>
              <a:off x="3924" y="1980"/>
              <a:ext cx="336" cy="19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lvl="0" algn="ctr" eaLnBrk="1" hangingPunct="1"/>
              <a:r>
                <a:rPr lang="zh-CN" altLang="en-US" sz="2000" b="1" dirty="0">
                  <a:solidFill>
                    <a:srgbClr val="0000FF"/>
                  </a:solidFill>
                  <a:latin typeface="Times New Roman" panose="02020603050405020304" pitchFamily="18" charset="0"/>
                  <a:ea typeface="宋体" panose="02010600030101010101" pitchFamily="2" charset="-122"/>
                </a:rPr>
                <a:t>快冷</a:t>
              </a:r>
            </a:p>
          </p:txBody>
        </p:sp>
      </p:grpSp>
      <p:grpSp>
        <p:nvGrpSpPr>
          <p:cNvPr id="3" name="Group 7"/>
          <p:cNvGrpSpPr/>
          <p:nvPr/>
        </p:nvGrpSpPr>
        <p:grpSpPr>
          <a:xfrm>
            <a:off x="1277719" y="4221087"/>
            <a:ext cx="6966689" cy="2273161"/>
            <a:chOff x="384" y="2304"/>
            <a:chExt cx="5031" cy="1700"/>
          </a:xfrm>
        </p:grpSpPr>
        <p:pic>
          <p:nvPicPr>
            <p:cNvPr id="139272" name="Picture 8" descr="Al-Si未变质处理组织"/>
            <p:cNvPicPr>
              <a:picLocks noChangeAspect="1"/>
            </p:cNvPicPr>
            <p:nvPr/>
          </p:nvPicPr>
          <p:blipFill>
            <a:blip r:embed="rId4"/>
            <a:stretch>
              <a:fillRect/>
            </a:stretch>
          </p:blipFill>
          <p:spPr>
            <a:xfrm>
              <a:off x="384" y="2304"/>
              <a:ext cx="2507" cy="1700"/>
            </a:xfrm>
            <a:prstGeom prst="rect">
              <a:avLst/>
            </a:prstGeom>
            <a:noFill/>
            <a:ln w="9525">
              <a:noFill/>
            </a:ln>
          </p:spPr>
        </p:pic>
        <p:pic>
          <p:nvPicPr>
            <p:cNvPr id="139273" name="Picture 9" descr="Al-Si变质处理组织"/>
            <p:cNvPicPr>
              <a:picLocks noChangeAspect="1"/>
            </p:cNvPicPr>
            <p:nvPr/>
          </p:nvPicPr>
          <p:blipFill>
            <a:blip r:embed="rId5"/>
            <a:stretch>
              <a:fillRect/>
            </a:stretch>
          </p:blipFill>
          <p:spPr>
            <a:xfrm>
              <a:off x="2928" y="2304"/>
              <a:ext cx="2487" cy="1700"/>
            </a:xfrm>
            <a:prstGeom prst="rect">
              <a:avLst/>
            </a:prstGeom>
            <a:noFill/>
            <a:ln w="9525">
              <a:noFill/>
            </a:ln>
          </p:spPr>
        </p:pic>
        <p:sp>
          <p:nvSpPr>
            <p:cNvPr id="139274" name="Rectangle 10"/>
            <p:cNvSpPr/>
            <p:nvPr/>
          </p:nvSpPr>
          <p:spPr>
            <a:xfrm>
              <a:off x="2400" y="3804"/>
              <a:ext cx="480" cy="19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lvl="0" algn="ctr" eaLnBrk="1" hangingPunct="1"/>
              <a:r>
                <a:rPr lang="zh-CN" altLang="en-US" sz="2000" b="1" dirty="0">
                  <a:solidFill>
                    <a:srgbClr val="0000FF"/>
                  </a:solidFill>
                  <a:latin typeface="Times New Roman" panose="02020603050405020304" pitchFamily="18" charset="0"/>
                  <a:ea typeface="宋体" panose="02010600030101010101" pitchFamily="2" charset="-122"/>
                </a:rPr>
                <a:t>未变质</a:t>
              </a:r>
            </a:p>
          </p:txBody>
        </p:sp>
        <p:sp>
          <p:nvSpPr>
            <p:cNvPr id="139275" name="Rectangle 11"/>
            <p:cNvSpPr/>
            <p:nvPr/>
          </p:nvSpPr>
          <p:spPr>
            <a:xfrm>
              <a:off x="5028" y="3816"/>
              <a:ext cx="384" cy="18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lvl="0" algn="ctr" eaLnBrk="1" hangingPunct="1"/>
              <a:r>
                <a:rPr lang="zh-CN" altLang="en-US" sz="2000" b="1" dirty="0">
                  <a:solidFill>
                    <a:srgbClr val="800000"/>
                  </a:solidFill>
                  <a:latin typeface="Times New Roman" panose="02020603050405020304" pitchFamily="18" charset="0"/>
                  <a:ea typeface="宋体" panose="02010600030101010101" pitchFamily="2" charset="-122"/>
                </a:rPr>
                <a:t>变质</a:t>
              </a:r>
            </a:p>
          </p:txBody>
        </p:sp>
      </p:grpSp>
      <p:pic>
        <p:nvPicPr>
          <p:cNvPr id="15" name="内容占位符 1" descr="新校徽（3M）弓之乐"/>
          <p:cNvPicPr>
            <a:picLocks noChangeAspect="1"/>
          </p:cNvPicPr>
          <p:nvPr/>
        </p:nvPicPr>
        <p:blipFill>
          <a:blip r:embed="rId6"/>
          <a:stretch>
            <a:fillRect/>
          </a:stretch>
        </p:blipFill>
        <p:spPr>
          <a:xfrm>
            <a:off x="-62230" y="-3709"/>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4802"/>
                                        </p:tgtEl>
                                        <p:attrNameLst>
                                          <p:attrName>style.visibility</p:attrName>
                                        </p:attrNameLst>
                                      </p:cBhvr>
                                      <p:to>
                                        <p:strVal val="visible"/>
                                      </p:to>
                                    </p:set>
                                    <p:animEffect transition="in" filter="wipe(left)">
                                      <p:cBhvr>
                                        <p:cTn id="7" dur="500"/>
                                        <p:tgtEl>
                                          <p:spTgt spid="204802"/>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2" grpId="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日期占位符 3"/>
          <p:cNvSpPr txBox="1">
            <a:spLocks noGrp="1"/>
          </p:cNvSpPr>
          <p:nvPr>
            <p:ph type="dt" sz="half" idx="10"/>
          </p:nvPr>
        </p:nvSpPr>
        <p:spPr>
          <a:xfrm>
            <a:off x="0" y="6400800"/>
            <a:ext cx="2192655" cy="457200"/>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40291" name="灯片编号占位符 5"/>
          <p:cNvSpPr txBox="1">
            <a:spLocks noGrp="1"/>
          </p:cNvSpPr>
          <p:nvPr>
            <p:ph type="sldNum" sz="quarter" idx="12"/>
          </p:nvPr>
        </p:nvSpPr>
        <p:spPr>
          <a:xfrm>
            <a:off x="8449945" y="6553200"/>
            <a:ext cx="694055" cy="304800"/>
          </a:xfrm>
        </p:spPr>
        <p:txBody>
          <a:bodyPr lIns="92075" tIns="46038" rIns="92075" bIns="46038" anchor="ctr"/>
          <a:lstStyle/>
          <a:p>
            <a:pPr algn="r" eaLnBrk="1" hangingPunct="1"/>
            <a:fld id="{9A0DB2DC-4C9A-4742-B13C-FB6460FD3503}" type="slidenum">
              <a:rPr lang="en-US" altLang="zh-CN" sz="1400" dirty="0"/>
              <a:t>156</a:t>
            </a:fld>
            <a:endParaRPr lang="en-US" altLang="zh-CN" sz="1400" dirty="0"/>
          </a:p>
        </p:txBody>
      </p:sp>
      <p:sp>
        <p:nvSpPr>
          <p:cNvPr id="205826" name="Rectangle 2"/>
          <p:cNvSpPr>
            <a:spLocks noGrp="1"/>
          </p:cNvSpPr>
          <p:nvPr>
            <p:ph type="title"/>
          </p:nvPr>
        </p:nvSpPr>
        <p:spPr>
          <a:xfrm>
            <a:off x="1730341" y="64700"/>
            <a:ext cx="6684662" cy="1905000"/>
          </a:xfrm>
        </p:spPr>
        <p:txBody>
          <a:bodyPr vert="horz" wrap="square" lIns="92075" tIns="46038" rIns="92075" bIns="46038" anchor="ctr"/>
          <a:lstStyle/>
          <a:p>
            <a:pPr eaLnBrk="1" hangingPunct="1"/>
            <a:r>
              <a:rPr lang="zh-CN" altLang="en-US" b="1" dirty="0">
                <a:solidFill>
                  <a:srgbClr val="FF0000"/>
                </a:solidFill>
                <a:latin typeface="华文中宋" panose="02010600040101010101" pitchFamily="2" charset="-122"/>
                <a:ea typeface="华文中宋" panose="02010600040101010101" pitchFamily="2" charset="-122"/>
              </a:rPr>
              <a:t>铸铁变质处理前后的组织</a:t>
            </a:r>
          </a:p>
        </p:txBody>
      </p:sp>
      <p:grpSp>
        <p:nvGrpSpPr>
          <p:cNvPr id="2" name="Group 3"/>
          <p:cNvGrpSpPr/>
          <p:nvPr/>
        </p:nvGrpSpPr>
        <p:grpSpPr>
          <a:xfrm>
            <a:off x="1975332" y="1949104"/>
            <a:ext cx="6182185" cy="4361276"/>
            <a:chOff x="801" y="1418"/>
            <a:chExt cx="3959" cy="2627"/>
          </a:xfrm>
        </p:grpSpPr>
        <p:grpSp>
          <p:nvGrpSpPr>
            <p:cNvPr id="140296" name="Group 4"/>
            <p:cNvGrpSpPr/>
            <p:nvPr/>
          </p:nvGrpSpPr>
          <p:grpSpPr>
            <a:xfrm>
              <a:off x="2860" y="1418"/>
              <a:ext cx="1900" cy="1454"/>
              <a:chOff x="3004" y="1226"/>
              <a:chExt cx="1900" cy="1454"/>
            </a:xfrm>
          </p:grpSpPr>
          <p:pic>
            <p:nvPicPr>
              <p:cNvPr id="140300" name="Picture 5" descr="粗大石墨"/>
              <p:cNvPicPr>
                <a:picLocks noChangeAspect="1"/>
              </p:cNvPicPr>
              <p:nvPr/>
            </p:nvPicPr>
            <p:blipFill>
              <a:blip r:embed="rId2"/>
              <a:stretch>
                <a:fillRect/>
              </a:stretch>
            </p:blipFill>
            <p:spPr>
              <a:xfrm>
                <a:off x="3004" y="1226"/>
                <a:ext cx="1900" cy="1387"/>
              </a:xfrm>
              <a:prstGeom prst="rect">
                <a:avLst/>
              </a:prstGeom>
              <a:noFill/>
              <a:ln w="38100" cap="flat" cmpd="sng">
                <a:solidFill>
                  <a:srgbClr val="CC99FF"/>
                </a:solidFill>
                <a:prstDash val="solid"/>
                <a:miter/>
                <a:headEnd type="none" w="med" len="med"/>
                <a:tailEnd type="none" w="med" len="med"/>
              </a:ln>
            </p:spPr>
          </p:pic>
          <p:sp>
            <p:nvSpPr>
              <p:cNvPr id="140301" name="Text Box 6"/>
              <p:cNvSpPr txBox="1"/>
              <p:nvPr/>
            </p:nvSpPr>
            <p:spPr>
              <a:xfrm>
                <a:off x="3095" y="2392"/>
                <a:ext cx="1152" cy="288"/>
              </a:xfrm>
              <a:prstGeom prst="rect">
                <a:avLst/>
              </a:prstGeom>
              <a:noFill/>
              <a:ln w="9525">
                <a:noFill/>
              </a:ln>
            </p:spPr>
            <p:txBody>
              <a:bodyPr>
                <a:spAutoFit/>
              </a:bodyPr>
              <a:lstStyle/>
              <a:p>
                <a:pPr lvl="0" eaLnBrk="1" hangingPunct="1">
                  <a:spcBef>
                    <a:spcPct val="50000"/>
                  </a:spcBef>
                </a:pPr>
                <a:r>
                  <a:rPr lang="zh-CN" altLang="en-US" sz="2400" b="1" dirty="0">
                    <a:solidFill>
                      <a:srgbClr val="800000"/>
                    </a:solidFill>
                    <a:latin typeface="Times New Roman" panose="02020603050405020304" pitchFamily="18" charset="0"/>
                    <a:ea typeface="宋体" panose="02010600030101010101" pitchFamily="2" charset="-122"/>
                  </a:rPr>
                  <a:t>变质处理前</a:t>
                </a:r>
              </a:p>
            </p:txBody>
          </p:sp>
        </p:grpSp>
        <p:grpSp>
          <p:nvGrpSpPr>
            <p:cNvPr id="140297" name="Group 7"/>
            <p:cNvGrpSpPr/>
            <p:nvPr/>
          </p:nvGrpSpPr>
          <p:grpSpPr>
            <a:xfrm>
              <a:off x="801" y="2805"/>
              <a:ext cx="1663" cy="1240"/>
              <a:chOff x="628" y="2997"/>
              <a:chExt cx="1663" cy="1240"/>
            </a:xfrm>
          </p:grpSpPr>
          <p:pic>
            <p:nvPicPr>
              <p:cNvPr id="140298" name="Picture 8" descr="细小石墨"/>
              <p:cNvPicPr>
                <a:picLocks noChangeAspect="1"/>
              </p:cNvPicPr>
              <p:nvPr/>
            </p:nvPicPr>
            <p:blipFill>
              <a:blip r:embed="rId3"/>
              <a:stretch>
                <a:fillRect/>
              </a:stretch>
            </p:blipFill>
            <p:spPr>
              <a:xfrm>
                <a:off x="628" y="2997"/>
                <a:ext cx="1663" cy="1240"/>
              </a:xfrm>
              <a:prstGeom prst="rect">
                <a:avLst/>
              </a:prstGeom>
              <a:noFill/>
              <a:ln w="38100" cap="flat" cmpd="sng">
                <a:solidFill>
                  <a:srgbClr val="CC99FF"/>
                </a:solidFill>
                <a:prstDash val="solid"/>
                <a:miter/>
                <a:headEnd type="none" w="med" len="med"/>
                <a:tailEnd type="none" w="med" len="med"/>
              </a:ln>
            </p:spPr>
          </p:pic>
          <p:sp>
            <p:nvSpPr>
              <p:cNvPr id="140299" name="Text Box 9"/>
              <p:cNvSpPr txBox="1"/>
              <p:nvPr/>
            </p:nvSpPr>
            <p:spPr>
              <a:xfrm>
                <a:off x="774" y="3917"/>
                <a:ext cx="1152" cy="288"/>
              </a:xfrm>
              <a:prstGeom prst="rect">
                <a:avLst/>
              </a:prstGeom>
              <a:noFill/>
              <a:ln w="9525">
                <a:noFill/>
              </a:ln>
            </p:spPr>
            <p:txBody>
              <a:bodyPr>
                <a:spAutoFit/>
              </a:bodyPr>
              <a:lstStyle/>
              <a:p>
                <a:pPr lvl="0" eaLnBrk="1" hangingPunct="1">
                  <a:spcBef>
                    <a:spcPct val="50000"/>
                  </a:spcBef>
                </a:pPr>
                <a:r>
                  <a:rPr lang="zh-CN" altLang="en-US" sz="2400" b="1" dirty="0">
                    <a:solidFill>
                      <a:srgbClr val="800000"/>
                    </a:solidFill>
                    <a:latin typeface="Times New Roman" panose="02020603050405020304" pitchFamily="18" charset="0"/>
                    <a:ea typeface="宋体" panose="02010600030101010101" pitchFamily="2" charset="-122"/>
                  </a:rPr>
                  <a:t>变质处理后</a:t>
                </a:r>
              </a:p>
            </p:txBody>
          </p:sp>
        </p:grpSp>
      </p:grpSp>
      <p:sp>
        <p:nvSpPr>
          <p:cNvPr id="205834" name="Text Box 10"/>
          <p:cNvSpPr txBox="1"/>
          <p:nvPr/>
        </p:nvSpPr>
        <p:spPr>
          <a:xfrm>
            <a:off x="5147082" y="4448392"/>
            <a:ext cx="3076575" cy="1882140"/>
          </a:xfrm>
          <a:prstGeom prst="rect">
            <a:avLst/>
          </a:prstGeom>
          <a:solidFill>
            <a:srgbClr val="CCFFCC"/>
          </a:solidFill>
          <a:ln w="9525">
            <a:noFill/>
          </a:ln>
        </p:spPr>
        <p:txBody>
          <a:bodyPr>
            <a:spAutoFit/>
          </a:bodyPr>
          <a:lstStyle/>
          <a:p>
            <a:pPr lvl="0" eaLnBrk="1" hangingPunct="1">
              <a:lnSpc>
                <a:spcPct val="140000"/>
              </a:lnSpc>
              <a:spcBef>
                <a:spcPct val="50000"/>
              </a:spcBef>
            </a:pPr>
            <a:r>
              <a:rPr lang="zh-CN" altLang="en-US" sz="2800" b="1" dirty="0">
                <a:solidFill>
                  <a:srgbClr val="800000"/>
                </a:solidFill>
                <a:latin typeface="Times New Roman" panose="02020603050405020304" pitchFamily="18" charset="0"/>
                <a:ea typeface="华文中宋" panose="02010600040101010101" pitchFamily="2" charset="-122"/>
              </a:rPr>
              <a:t>变质处理使铸铁中石墨细化。变质剂为</a:t>
            </a:r>
            <a:r>
              <a:rPr lang="zh-CN" altLang="en-US" sz="2800" b="1" dirty="0">
                <a:solidFill>
                  <a:srgbClr val="0000FF"/>
                </a:solidFill>
                <a:ea typeface="华文中宋" panose="02010600040101010101" pitchFamily="2" charset="-122"/>
              </a:rPr>
              <a:t>硅铁</a:t>
            </a:r>
            <a:r>
              <a:rPr lang="zh-CN" altLang="en-US" sz="2800" b="1" dirty="0">
                <a:solidFill>
                  <a:srgbClr val="800000"/>
                </a:solidFill>
                <a:latin typeface="Times New Roman" panose="02020603050405020304" pitchFamily="18" charset="0"/>
                <a:ea typeface="华文中宋" panose="02010600040101010101" pitchFamily="2" charset="-122"/>
              </a:rPr>
              <a:t>或</a:t>
            </a:r>
            <a:r>
              <a:rPr lang="zh-CN" altLang="en-US" sz="2800" b="1" dirty="0">
                <a:solidFill>
                  <a:srgbClr val="0000FF"/>
                </a:solidFill>
                <a:latin typeface="Times New Roman" panose="02020603050405020304" pitchFamily="18" charset="0"/>
                <a:ea typeface="华文中宋" panose="02010600040101010101" pitchFamily="2" charset="-122"/>
              </a:rPr>
              <a:t>硅钙合金</a:t>
            </a:r>
            <a:r>
              <a:rPr lang="en-US" altLang="zh-CN" sz="2800" b="1" dirty="0">
                <a:solidFill>
                  <a:srgbClr val="800000"/>
                </a:solidFill>
                <a:latin typeface="Times New Roman" panose="02020603050405020304" pitchFamily="18" charset="0"/>
                <a:ea typeface="华文中宋" panose="02010600040101010101" pitchFamily="2" charset="-122"/>
              </a:rPr>
              <a:t>.</a:t>
            </a:r>
          </a:p>
        </p:txBody>
      </p:sp>
      <p:pic>
        <p:nvPicPr>
          <p:cNvPr id="14" name="内容占位符 1" descr="新校徽（3M）弓之乐"/>
          <p:cNvPicPr>
            <a:picLocks noChangeAspect="1"/>
          </p:cNvPicPr>
          <p:nvPr/>
        </p:nvPicPr>
        <p:blipFill>
          <a:blip r:embed="rId4"/>
          <a:stretch>
            <a:fillRect/>
          </a:stretch>
        </p:blipFill>
        <p:spPr>
          <a:xfrm>
            <a:off x="-62230" y="-3709"/>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5826"/>
                                        </p:tgtEl>
                                        <p:attrNameLst>
                                          <p:attrName>style.visibility</p:attrName>
                                        </p:attrNameLst>
                                      </p:cBhvr>
                                      <p:to>
                                        <p:strVal val="visible"/>
                                      </p:to>
                                    </p:set>
                                    <p:animEffect transition="in" filter="wipe(left)">
                                      <p:cBhvr>
                                        <p:cTn id="7" dur="500"/>
                                        <p:tgtEl>
                                          <p:spTgt spid="205826"/>
                                        </p:tgtEl>
                                      </p:cBhvr>
                                    </p:animEffect>
                                  </p:childTnLst>
                                </p:cTn>
                              </p:par>
                            </p:childTnLst>
                          </p:cTn>
                        </p:par>
                        <p:par>
                          <p:cTn id="8" fill="hold">
                            <p:stCondLst>
                              <p:cond delay="500"/>
                            </p:stCondLst>
                            <p:childTnLst>
                              <p:par>
                                <p:cTn id="9" presetID="18" presetClass="entr" presetSubtype="12"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strips(downLeft)">
                                      <p:cBhvr>
                                        <p:cTn id="11" dur="500"/>
                                        <p:tgtEl>
                                          <p:spTgt spid="2"/>
                                        </p:tgtEl>
                                      </p:cBhvr>
                                    </p:animEffect>
                                  </p:childTnLst>
                                </p:cTn>
                              </p:par>
                            </p:childTnLst>
                          </p:cTn>
                        </p:par>
                        <p:par>
                          <p:cTn id="12" fill="hold">
                            <p:stCondLst>
                              <p:cond delay="1000"/>
                            </p:stCondLst>
                            <p:childTnLst>
                              <p:par>
                                <p:cTn id="13" presetID="2" presetClass="entr" presetSubtype="2" fill="hold" grpId="0" nodeType="afterEffect">
                                  <p:stCondLst>
                                    <p:cond delay="0"/>
                                  </p:stCondLst>
                                  <p:childTnLst>
                                    <p:set>
                                      <p:cBhvr>
                                        <p:cTn id="14" dur="1" fill="hold">
                                          <p:stCondLst>
                                            <p:cond delay="0"/>
                                          </p:stCondLst>
                                        </p:cTn>
                                        <p:tgtEl>
                                          <p:spTgt spid="205834"/>
                                        </p:tgtEl>
                                        <p:attrNameLst>
                                          <p:attrName>style.visibility</p:attrName>
                                        </p:attrNameLst>
                                      </p:cBhvr>
                                      <p:to>
                                        <p:strVal val="visible"/>
                                      </p:to>
                                    </p:set>
                                    <p:anim calcmode="lin" valueType="num">
                                      <p:cBhvr additive="base">
                                        <p:cTn id="15" dur="500" fill="hold"/>
                                        <p:tgtEl>
                                          <p:spTgt spid="205834"/>
                                        </p:tgtEl>
                                        <p:attrNameLst>
                                          <p:attrName>ppt_x</p:attrName>
                                        </p:attrNameLst>
                                      </p:cBhvr>
                                      <p:tavLst>
                                        <p:tav tm="0">
                                          <p:val>
                                            <p:strVal val="1+#ppt_w/2"/>
                                          </p:val>
                                        </p:tav>
                                        <p:tav tm="100000">
                                          <p:val>
                                            <p:strVal val="#ppt_x"/>
                                          </p:val>
                                        </p:tav>
                                      </p:tavLst>
                                    </p:anim>
                                    <p:anim calcmode="lin" valueType="num">
                                      <p:cBhvr additive="base">
                                        <p:cTn id="16" dur="500" fill="hold"/>
                                        <p:tgtEl>
                                          <p:spTgt spid="2058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6" grpId="0"/>
      <p:bldP spid="205834" grpId="0" bldLvl="0" animBg="1"/>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日期占位符 3"/>
          <p:cNvSpPr txBox="1">
            <a:spLocks noGrp="1"/>
          </p:cNvSpPr>
          <p:nvPr>
            <p:ph type="dt" sz="half" idx="10"/>
          </p:nvPr>
        </p:nvSpPr>
        <p:spPr>
          <a:xfrm>
            <a:off x="0" y="6526530"/>
            <a:ext cx="2376488" cy="331470"/>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41315" name="灯片编号占位符 5"/>
          <p:cNvSpPr txBox="1">
            <a:spLocks noGrp="1"/>
          </p:cNvSpPr>
          <p:nvPr>
            <p:ph type="sldNum" sz="quarter" idx="12"/>
          </p:nvPr>
        </p:nvSpPr>
        <p:spPr>
          <a:xfrm>
            <a:off x="8608695" y="6591935"/>
            <a:ext cx="509270" cy="266065"/>
          </a:xfrm>
        </p:spPr>
        <p:txBody>
          <a:bodyPr lIns="92075" tIns="46038" rIns="92075" bIns="46038" anchor="ctr"/>
          <a:lstStyle/>
          <a:p>
            <a:pPr algn="r" eaLnBrk="1" hangingPunct="1"/>
            <a:fld id="{9A0DB2DC-4C9A-4742-B13C-FB6460FD3503}" type="slidenum">
              <a:rPr lang="en-US" altLang="zh-CN" sz="1400" dirty="0"/>
              <a:t>157</a:t>
            </a:fld>
            <a:endParaRPr lang="en-US" altLang="zh-CN" sz="1400" dirty="0"/>
          </a:p>
        </p:txBody>
      </p:sp>
      <p:grpSp>
        <p:nvGrpSpPr>
          <p:cNvPr id="2" name="Group 2"/>
          <p:cNvGrpSpPr/>
          <p:nvPr/>
        </p:nvGrpSpPr>
        <p:grpSpPr>
          <a:xfrm>
            <a:off x="1475656" y="4149080"/>
            <a:ext cx="4143777" cy="2377450"/>
            <a:chOff x="528" y="2352"/>
            <a:chExt cx="2807" cy="1706"/>
          </a:xfrm>
        </p:grpSpPr>
        <p:pic>
          <p:nvPicPr>
            <p:cNvPr id="141323" name="Picture 3" descr="磁场对金属液体作用"/>
            <p:cNvPicPr>
              <a:picLocks noChangeAspect="1"/>
            </p:cNvPicPr>
            <p:nvPr/>
          </p:nvPicPr>
          <p:blipFill>
            <a:blip r:embed="rId2"/>
            <a:stretch>
              <a:fillRect/>
            </a:stretch>
          </p:blipFill>
          <p:spPr>
            <a:xfrm>
              <a:off x="528" y="2352"/>
              <a:ext cx="2807" cy="1706"/>
            </a:xfrm>
            <a:prstGeom prst="rect">
              <a:avLst/>
            </a:prstGeom>
            <a:noFill/>
            <a:ln w="57150" cap="flat" cmpd="sng">
              <a:solidFill>
                <a:srgbClr val="FF9900"/>
              </a:solidFill>
              <a:prstDash val="solid"/>
              <a:miter/>
              <a:headEnd type="none" w="med" len="med"/>
              <a:tailEnd type="none" w="med" len="med"/>
            </a:ln>
          </p:spPr>
        </p:pic>
        <p:sp>
          <p:nvSpPr>
            <p:cNvPr id="141324" name="Rectangle 4"/>
            <p:cNvSpPr/>
            <p:nvPr/>
          </p:nvSpPr>
          <p:spPr>
            <a:xfrm>
              <a:off x="720" y="3792"/>
              <a:ext cx="1824" cy="19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lvl="0" algn="ctr" eaLnBrk="1" hangingPunct="1"/>
              <a:r>
                <a:rPr lang="zh-CN" altLang="en-US" sz="2000" b="1" dirty="0">
                  <a:solidFill>
                    <a:srgbClr val="990099"/>
                  </a:solidFill>
                  <a:latin typeface="Times New Roman" panose="02020603050405020304" pitchFamily="18" charset="0"/>
                  <a:ea typeface="宋体" panose="02010600030101010101" pitchFamily="2" charset="-122"/>
                </a:rPr>
                <a:t>电磁搅拌细化晶粒示意图</a:t>
              </a:r>
            </a:p>
          </p:txBody>
        </p:sp>
      </p:grpSp>
      <p:sp>
        <p:nvSpPr>
          <p:cNvPr id="206856" name="Rectangle 8"/>
          <p:cNvSpPr>
            <a:spLocks noGrp="1"/>
          </p:cNvSpPr>
          <p:nvPr>
            <p:ph idx="1"/>
          </p:nvPr>
        </p:nvSpPr>
        <p:spPr>
          <a:xfrm>
            <a:off x="618526" y="1827729"/>
            <a:ext cx="8229600" cy="2377450"/>
          </a:xfrm>
        </p:spPr>
        <p:txBody>
          <a:bodyPr vert="horz" wrap="square" lIns="91440" tIns="45720" rIns="91440" bIns="45720" anchor="t"/>
          <a:lstStyle/>
          <a:p>
            <a:pPr eaLnBrk="1" hangingPunct="1">
              <a:lnSpc>
                <a:spcPct val="110000"/>
              </a:lnSpc>
            </a:pPr>
            <a:r>
              <a:rPr lang="en-US" altLang="zh-CN" b="1" dirty="0">
                <a:solidFill>
                  <a:schemeClr val="folHlink"/>
                </a:solidFill>
                <a:ea typeface="华文中宋" panose="02010600040101010101" pitchFamily="2" charset="-122"/>
                <a:sym typeface="Symbol" panose="05050102010706020507" pitchFamily="18" charset="2"/>
              </a:rPr>
              <a:t>⑶ </a:t>
            </a:r>
            <a:r>
              <a:rPr lang="zh-CN" altLang="en-US" b="1" dirty="0">
                <a:solidFill>
                  <a:schemeClr val="folHlink"/>
                </a:solidFill>
                <a:ea typeface="华文中宋" panose="02010600040101010101" pitchFamily="2" charset="-122"/>
                <a:sym typeface="Symbol" panose="05050102010706020507" pitchFamily="18" charset="2"/>
              </a:rPr>
              <a:t>振动、搅拌等</a:t>
            </a:r>
            <a:r>
              <a:rPr lang="en-US" altLang="zh-CN" b="1" dirty="0">
                <a:solidFill>
                  <a:schemeClr val="folHlink"/>
                </a:solidFill>
                <a:ea typeface="华文中宋" panose="02010600040101010101" pitchFamily="2" charset="-122"/>
                <a:sym typeface="Symbol" panose="05050102010706020507" pitchFamily="18" charset="2"/>
              </a:rPr>
              <a:t>:</a:t>
            </a:r>
            <a:r>
              <a:rPr lang="en-US" altLang="zh-CN" b="1" dirty="0">
                <a:solidFill>
                  <a:schemeClr val="tx2"/>
                </a:solidFill>
                <a:ea typeface="华文中宋" panose="02010600040101010101" pitchFamily="2" charset="-122"/>
                <a:sym typeface="Symbol" panose="05050102010706020507" pitchFamily="18" charset="2"/>
              </a:rPr>
              <a:t>  </a:t>
            </a:r>
            <a:r>
              <a:rPr lang="zh-CN" altLang="en-US" b="1" dirty="0">
                <a:ea typeface="华文中宋" panose="02010600040101010101" pitchFamily="2" charset="-122"/>
                <a:sym typeface="Symbol" panose="05050102010706020507" pitchFamily="18" charset="2"/>
              </a:rPr>
              <a:t>对正在结晶的金属进行振动或搅动，一方面可</a:t>
            </a:r>
            <a:r>
              <a:rPr lang="zh-CN" altLang="en-US" b="1" dirty="0">
                <a:solidFill>
                  <a:schemeClr val="folHlink"/>
                </a:solidFill>
                <a:ea typeface="华文中宋" panose="02010600040101010101" pitchFamily="2" charset="-122"/>
                <a:sym typeface="Symbol" panose="05050102010706020507" pitchFamily="18" charset="2"/>
              </a:rPr>
              <a:t>靠外部输入的能量来促进形核</a:t>
            </a:r>
            <a:r>
              <a:rPr lang="zh-CN" altLang="en-US" b="1" dirty="0">
                <a:ea typeface="华文中宋" panose="02010600040101010101" pitchFamily="2" charset="-122"/>
                <a:sym typeface="Symbol" panose="05050102010706020507" pitchFamily="18" charset="2"/>
              </a:rPr>
              <a:t>，</a:t>
            </a:r>
            <a:r>
              <a:rPr lang="zh-CN" altLang="en-US" b="1" dirty="0">
                <a:latin typeface="Times New Roman" panose="02020603050405020304" pitchFamily="18" charset="0"/>
                <a:ea typeface="华文中宋" panose="02010600040101010101" pitchFamily="2" charset="-122"/>
                <a:sym typeface="Symbol" panose="05050102010706020507" pitchFamily="18" charset="2"/>
              </a:rPr>
              <a:t>另一方面也可</a:t>
            </a:r>
            <a:r>
              <a:rPr lang="zh-CN" altLang="en-US" b="1" dirty="0">
                <a:solidFill>
                  <a:schemeClr val="folHlink"/>
                </a:solidFill>
                <a:latin typeface="Times New Roman" panose="02020603050405020304" pitchFamily="18" charset="0"/>
                <a:ea typeface="华文中宋" panose="02010600040101010101" pitchFamily="2" charset="-122"/>
                <a:sym typeface="Symbol" panose="05050102010706020507" pitchFamily="18" charset="2"/>
              </a:rPr>
              <a:t>使成长中的枝晶破碎，使晶核数目显著增加。</a:t>
            </a:r>
            <a:endParaRPr lang="zh-CN" altLang="en-US" dirty="0">
              <a:solidFill>
                <a:schemeClr val="folHlink"/>
              </a:solidFill>
              <a:latin typeface="Times New Roman" panose="02020603050405020304" pitchFamily="18" charset="0"/>
              <a:ea typeface="华文中宋" panose="02010600040101010101" pitchFamily="2" charset="-122"/>
            </a:endParaRPr>
          </a:p>
        </p:txBody>
      </p:sp>
      <p:pic>
        <p:nvPicPr>
          <p:cNvPr id="13" name="内容占位符 1" descr="新校徽（3M）弓之乐"/>
          <p:cNvPicPr>
            <a:picLocks noChangeAspect="1"/>
          </p:cNvPicPr>
          <p:nvPr/>
        </p:nvPicPr>
        <p:blipFill>
          <a:blip r:embed="rId3"/>
          <a:stretch>
            <a:fillRect/>
          </a:stretch>
        </p:blipFill>
        <p:spPr>
          <a:xfrm>
            <a:off x="-62230" y="-3709"/>
            <a:ext cx="746760" cy="735965"/>
          </a:xfrm>
          <a:prstGeom prst="rect">
            <a:avLst/>
          </a:prstGeom>
          <a:noFill/>
          <a:ln w="9525">
            <a:noFill/>
          </a:ln>
        </p:spPr>
      </p:pic>
      <p:pic>
        <p:nvPicPr>
          <p:cNvPr id="6" name="图片 5"/>
          <p:cNvPicPr>
            <a:picLocks noChangeAspect="1"/>
          </p:cNvPicPr>
          <p:nvPr/>
        </p:nvPicPr>
        <p:blipFill rotWithShape="1">
          <a:blip r:embed="rId4"/>
          <a:srcRect l="72836" t="39858" r="8265" b="14456"/>
          <a:stretch>
            <a:fillRect/>
          </a:stretch>
        </p:blipFill>
        <p:spPr>
          <a:xfrm>
            <a:off x="6336083" y="3871052"/>
            <a:ext cx="2063928" cy="2806423"/>
          </a:xfrm>
          <a:prstGeom prst="rect">
            <a:avLst/>
          </a:prstGeom>
        </p:spPr>
      </p:pic>
      <p:sp>
        <p:nvSpPr>
          <p:cNvPr id="7" name="Rectangle 2"/>
          <p:cNvSpPr>
            <a:spLocks noGrp="1"/>
          </p:cNvSpPr>
          <p:nvPr>
            <p:ph type="title"/>
          </p:nvPr>
        </p:nvSpPr>
        <p:spPr>
          <a:xfrm>
            <a:off x="1409894" y="293491"/>
            <a:ext cx="6646863" cy="1335309"/>
          </a:xfrm>
        </p:spPr>
        <p:txBody>
          <a:bodyPr vert="horz" wrap="square" lIns="92075" tIns="46038" rIns="92075" bIns="46038" anchor="ctr"/>
          <a:lstStyle/>
          <a:p>
            <a:pPr eaLnBrk="1" hangingPunct="1"/>
            <a:r>
              <a:rPr lang="en-US" altLang="zh-CN" b="1" dirty="0">
                <a:solidFill>
                  <a:srgbClr val="FF0000"/>
                </a:solidFill>
                <a:latin typeface="华文中宋" panose="02010600040101010101" pitchFamily="2" charset="-122"/>
                <a:ea typeface="华文中宋" panose="02010600040101010101" pitchFamily="2" charset="-122"/>
              </a:rPr>
              <a:t>3</a:t>
            </a:r>
            <a:r>
              <a:rPr lang="zh-CN" altLang="en-US" b="1" dirty="0">
                <a:solidFill>
                  <a:srgbClr val="FF0000"/>
                </a:solidFill>
                <a:latin typeface="华文中宋" panose="02010600040101010101" pitchFamily="2" charset="-122"/>
                <a:ea typeface="华文中宋" panose="02010600040101010101" pitchFamily="2" charset="-122"/>
              </a:rPr>
              <a:t>、控制晶粒度的方法</a:t>
            </a:r>
            <a:br>
              <a:rPr lang="en-US" altLang="zh-CN" b="1" dirty="0">
                <a:solidFill>
                  <a:srgbClr val="FF0000"/>
                </a:solidFill>
                <a:latin typeface="华文中宋" panose="02010600040101010101" pitchFamily="2" charset="-122"/>
                <a:ea typeface="华文中宋" panose="02010600040101010101" pitchFamily="2" charset="-122"/>
              </a:rPr>
            </a:br>
            <a:r>
              <a:rPr lang="en-US" altLang="zh-CN" b="1" dirty="0">
                <a:solidFill>
                  <a:srgbClr val="FF0000"/>
                </a:solidFill>
                <a:latin typeface="华文中宋" panose="02010600040101010101" pitchFamily="2" charset="-122"/>
                <a:ea typeface="华文中宋" panose="02010600040101010101" pitchFamily="2" charset="-122"/>
              </a:rPr>
              <a:t>——</a:t>
            </a:r>
            <a:r>
              <a:rPr lang="en-US" altLang="zh-CN" b="1" dirty="0">
                <a:solidFill>
                  <a:srgbClr val="FF0000"/>
                </a:solidFill>
                <a:ea typeface="华文中宋" panose="02010600040101010101" pitchFamily="2" charset="-122"/>
                <a:sym typeface="Symbol" panose="05050102010706020507" pitchFamily="18" charset="2"/>
              </a:rPr>
              <a:t>⑶ </a:t>
            </a:r>
            <a:r>
              <a:rPr lang="zh-CN" altLang="en-US" b="1" dirty="0">
                <a:solidFill>
                  <a:srgbClr val="FF0000"/>
                </a:solidFill>
                <a:ea typeface="华文中宋" panose="02010600040101010101" pitchFamily="2" charset="-122"/>
                <a:sym typeface="Symbol" panose="05050102010706020507" pitchFamily="18" charset="2"/>
              </a:rPr>
              <a:t>振动、搅拌等</a:t>
            </a:r>
            <a:endParaRPr lang="zh-CN" altLang="en-US" b="1" dirty="0">
              <a:solidFill>
                <a:srgbClr val="FF0000"/>
              </a:solidFill>
              <a:latin typeface="华文中宋" panose="02010600040101010101" pitchFamily="2" charset="-122"/>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6856">
                                            <p:txEl>
                                              <p:pRg st="0" end="0"/>
                                            </p:txEl>
                                          </p:spTgt>
                                        </p:tgtEl>
                                        <p:attrNameLst>
                                          <p:attrName>style.visibility</p:attrName>
                                        </p:attrNameLst>
                                      </p:cBhvr>
                                      <p:to>
                                        <p:strVal val="visible"/>
                                      </p:to>
                                    </p:set>
                                    <p:animEffect transition="in" filter="wipe(left)">
                                      <p:cBhvr>
                                        <p:cTn id="7" dur="500"/>
                                        <p:tgtEl>
                                          <p:spTgt spid="206856">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6" grpId="0" build="p" advAuto="1000"/>
      <p:bldP spid="7" grpId="0"/>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日期占位符 3"/>
          <p:cNvSpPr txBox="1">
            <a:spLocks noGrp="1"/>
          </p:cNvSpPr>
          <p:nvPr>
            <p:ph type="dt" sz="half" idx="10"/>
          </p:nvPr>
        </p:nvSpPr>
        <p:spPr>
          <a:xfrm>
            <a:off x="0" y="6510338"/>
            <a:ext cx="2233613"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43363" name="灯片编号占位符 5"/>
          <p:cNvSpPr txBox="1">
            <a:spLocks noGrp="1"/>
          </p:cNvSpPr>
          <p:nvPr>
            <p:ph type="sldNum" sz="quarter" idx="12"/>
          </p:nvPr>
        </p:nvSpPr>
        <p:spPr>
          <a:xfrm>
            <a:off x="8521700" y="6663055"/>
            <a:ext cx="617855" cy="194945"/>
          </a:xfrm>
        </p:spPr>
        <p:txBody>
          <a:bodyPr lIns="92075" tIns="46038" rIns="92075" bIns="46038" anchor="ctr"/>
          <a:lstStyle/>
          <a:p>
            <a:pPr algn="r" eaLnBrk="1" hangingPunct="1"/>
            <a:fld id="{9A0DB2DC-4C9A-4742-B13C-FB6460FD3503}" type="slidenum">
              <a:rPr lang="en-US" altLang="zh-CN" sz="1400" dirty="0"/>
              <a:t>158</a:t>
            </a:fld>
            <a:endParaRPr lang="en-US" altLang="zh-CN" sz="1400" dirty="0"/>
          </a:p>
        </p:txBody>
      </p:sp>
      <p:sp>
        <p:nvSpPr>
          <p:cNvPr id="208898" name="Rectangle 2"/>
          <p:cNvSpPr>
            <a:spLocks noGrp="1"/>
          </p:cNvSpPr>
          <p:nvPr>
            <p:ph type="title"/>
          </p:nvPr>
        </p:nvSpPr>
        <p:spPr>
          <a:xfrm>
            <a:off x="1071563" y="142875"/>
            <a:ext cx="7956550" cy="1053877"/>
          </a:xfrm>
        </p:spPr>
        <p:txBody>
          <a:bodyPr vert="horz" wrap="square" lIns="92075" tIns="46038" rIns="92075" bIns="46038" anchor="ctr"/>
          <a:lstStyle/>
          <a:p>
            <a:pPr algn="l" eaLnBrk="1" hangingPunct="1"/>
            <a:r>
              <a:rPr lang="en-US" altLang="zh-CN" b="1" dirty="0">
                <a:solidFill>
                  <a:srgbClr val="FF0000"/>
                </a:solidFill>
                <a:latin typeface="华文中宋" panose="02010600040101010101" pitchFamily="2" charset="-122"/>
                <a:ea typeface="华文中宋" panose="02010600040101010101" pitchFamily="2" charset="-122"/>
              </a:rPr>
              <a:t>4</a:t>
            </a:r>
            <a:r>
              <a:rPr lang="zh-CN" altLang="en-US" b="1" dirty="0">
                <a:solidFill>
                  <a:srgbClr val="FF0000"/>
                </a:solidFill>
                <a:latin typeface="华文中宋" panose="02010600040101010101" pitchFamily="2" charset="-122"/>
                <a:ea typeface="华文中宋" panose="02010600040101010101" pitchFamily="2" charset="-122"/>
              </a:rPr>
              <a:t>、晶粒大小对金属性能的影响</a:t>
            </a:r>
          </a:p>
        </p:txBody>
      </p:sp>
      <p:sp>
        <p:nvSpPr>
          <p:cNvPr id="208899" name="Rectangle 3"/>
          <p:cNvSpPr>
            <a:spLocks noGrp="1"/>
          </p:cNvSpPr>
          <p:nvPr>
            <p:ph idx="1"/>
          </p:nvPr>
        </p:nvSpPr>
        <p:spPr>
          <a:xfrm>
            <a:off x="179705" y="1844824"/>
            <a:ext cx="5863590" cy="4727426"/>
          </a:xfrm>
        </p:spPr>
        <p:txBody>
          <a:bodyPr vert="horz" wrap="square" lIns="91440" tIns="45720" rIns="91440" bIns="45720" anchor="t"/>
          <a:lstStyle/>
          <a:p>
            <a:pPr eaLnBrk="1" latinLnBrk="0" hangingPunct="1">
              <a:lnSpc>
                <a:spcPct val="120000"/>
              </a:lnSpc>
              <a:spcBef>
                <a:spcPts val="0"/>
              </a:spcBef>
            </a:pPr>
            <a:r>
              <a:rPr lang="zh-CN" altLang="en-US" sz="2800" b="1" dirty="0">
                <a:solidFill>
                  <a:schemeClr val="folHlink"/>
                </a:solidFill>
                <a:ea typeface="华文中宋" panose="02010600040101010101" pitchFamily="2" charset="-122"/>
              </a:rPr>
              <a:t>常温下</a:t>
            </a:r>
            <a:r>
              <a:rPr lang="zh-CN" altLang="en-US" sz="2800" b="1" dirty="0">
                <a:ea typeface="华文中宋" panose="02010600040101010101" pitchFamily="2" charset="-122"/>
              </a:rPr>
              <a:t>：晶粒越细，晶界面积越大，因而金属的强度、硬度越高，同时塑性、韧性也越好</a:t>
            </a:r>
            <a:r>
              <a:rPr lang="zh-CN" altLang="en-US" sz="2800" b="1" dirty="0">
                <a:solidFill>
                  <a:schemeClr val="folHlink"/>
                </a:solidFill>
                <a:ea typeface="华文中宋" panose="02010600040101010101" pitchFamily="2" charset="-122"/>
              </a:rPr>
              <a:t>，</a:t>
            </a:r>
            <a:r>
              <a:rPr lang="zh-CN" altLang="en-US" sz="2800" b="1" dirty="0">
                <a:ea typeface="华文中宋" panose="02010600040101010101" pitchFamily="2" charset="-122"/>
              </a:rPr>
              <a:t>即</a:t>
            </a:r>
            <a:r>
              <a:rPr lang="zh-CN" altLang="en-US" sz="2800" b="1" dirty="0">
                <a:solidFill>
                  <a:schemeClr val="folHlink"/>
                </a:solidFill>
                <a:ea typeface="华文中宋" panose="02010600040101010101" pitchFamily="2" charset="-122"/>
              </a:rPr>
              <a:t>细晶强化</a:t>
            </a:r>
            <a:r>
              <a:rPr lang="zh-CN" altLang="en-US" sz="2800" b="1" dirty="0">
                <a:ea typeface="华文中宋" panose="02010600040101010101" pitchFamily="2" charset="-122"/>
              </a:rPr>
              <a:t>。</a:t>
            </a:r>
            <a:endParaRPr lang="zh-CN" altLang="en-US" sz="2800" b="1" dirty="0">
              <a:solidFill>
                <a:schemeClr val="accent1"/>
              </a:solidFill>
              <a:ea typeface="华文中宋" panose="02010600040101010101" pitchFamily="2" charset="-122"/>
            </a:endParaRPr>
          </a:p>
          <a:p>
            <a:pPr eaLnBrk="1" latinLnBrk="0" hangingPunct="1">
              <a:lnSpc>
                <a:spcPct val="120000"/>
              </a:lnSpc>
              <a:spcBef>
                <a:spcPts val="0"/>
              </a:spcBef>
            </a:pPr>
            <a:r>
              <a:rPr lang="zh-CN" altLang="en-US" sz="2800" b="1" dirty="0">
                <a:solidFill>
                  <a:schemeClr val="folHlink"/>
                </a:solidFill>
                <a:ea typeface="华文中宋" panose="02010600040101010101" pitchFamily="2" charset="-122"/>
              </a:rPr>
              <a:t>高温下</a:t>
            </a:r>
            <a:r>
              <a:rPr lang="zh-CN" altLang="en-US" sz="2800" b="1" dirty="0">
                <a:ea typeface="华文中宋" panose="02010600040101010101" pitchFamily="2" charset="-122"/>
              </a:rPr>
              <a:t>：晶界呈粘滞状态，在外力作用下易产生滑动，因而</a:t>
            </a:r>
            <a:r>
              <a:rPr lang="zh-CN" altLang="en-US" sz="2800" b="1" dirty="0">
                <a:solidFill>
                  <a:schemeClr val="folHlink"/>
                </a:solidFill>
                <a:ea typeface="华文中宋" panose="02010600040101010101" pitchFamily="2" charset="-122"/>
              </a:rPr>
              <a:t>细晶粒无益</a:t>
            </a:r>
            <a:r>
              <a:rPr lang="zh-CN" altLang="en-US" sz="2800" b="1" dirty="0">
                <a:ea typeface="华文中宋" panose="02010600040101010101" pitchFamily="2" charset="-122"/>
              </a:rPr>
              <a:t>。但晶粒太粗易产生应力集中。因而</a:t>
            </a:r>
            <a:r>
              <a:rPr lang="zh-CN" altLang="en-US" sz="2800" b="1" dirty="0">
                <a:solidFill>
                  <a:schemeClr val="folHlink"/>
                </a:solidFill>
                <a:ea typeface="华文中宋" panose="02010600040101010101" pitchFamily="2" charset="-122"/>
              </a:rPr>
              <a:t>高温下晶粒过大、过小都不好。</a:t>
            </a:r>
            <a:r>
              <a:rPr lang="zh-CN" altLang="en-US" sz="2800" b="1" dirty="0">
                <a:ea typeface="华文中宋" panose="02010600040101010101" pitchFamily="2" charset="-122"/>
              </a:rPr>
              <a:t>    </a:t>
            </a:r>
          </a:p>
        </p:txBody>
      </p:sp>
      <p:grpSp>
        <p:nvGrpSpPr>
          <p:cNvPr id="2" name="Group 4"/>
          <p:cNvGrpSpPr/>
          <p:nvPr/>
        </p:nvGrpSpPr>
        <p:grpSpPr>
          <a:xfrm>
            <a:off x="6184160" y="1844823"/>
            <a:ext cx="2780135" cy="4870301"/>
            <a:chOff x="3524" y="411"/>
            <a:chExt cx="1996" cy="3392"/>
          </a:xfrm>
        </p:grpSpPr>
        <p:grpSp>
          <p:nvGrpSpPr>
            <p:cNvPr id="143368" name="Group 5"/>
            <p:cNvGrpSpPr/>
            <p:nvPr/>
          </p:nvGrpSpPr>
          <p:grpSpPr>
            <a:xfrm>
              <a:off x="3552" y="2998"/>
              <a:ext cx="1927" cy="805"/>
              <a:chOff x="3552" y="2998"/>
              <a:chExt cx="1927" cy="805"/>
            </a:xfrm>
          </p:grpSpPr>
          <p:pic>
            <p:nvPicPr>
              <p:cNvPr id="143373" name="Picture 6" descr="旋转 单晶叶片"/>
              <p:cNvPicPr>
                <a:picLocks noChangeAspect="1"/>
              </p:cNvPicPr>
              <p:nvPr/>
            </p:nvPicPr>
            <p:blipFill>
              <a:blip r:embed="rId2"/>
              <a:stretch>
                <a:fillRect/>
              </a:stretch>
            </p:blipFill>
            <p:spPr>
              <a:xfrm>
                <a:off x="3552" y="2998"/>
                <a:ext cx="1927" cy="545"/>
              </a:xfrm>
              <a:prstGeom prst="rect">
                <a:avLst/>
              </a:prstGeom>
              <a:noFill/>
              <a:ln w="38100" cap="flat" cmpd="sng">
                <a:noFill/>
                <a:prstDash val="solid"/>
                <a:miter/>
                <a:headEnd type="none" w="med" len="med"/>
                <a:tailEnd type="none" w="med" len="med"/>
              </a:ln>
            </p:spPr>
          </p:pic>
          <p:sp>
            <p:nvSpPr>
              <p:cNvPr id="143374" name="Text Box 7"/>
              <p:cNvSpPr txBox="1"/>
              <p:nvPr/>
            </p:nvSpPr>
            <p:spPr>
              <a:xfrm>
                <a:off x="4017" y="3543"/>
                <a:ext cx="1106" cy="260"/>
              </a:xfrm>
              <a:prstGeom prst="rect">
                <a:avLst/>
              </a:prstGeom>
              <a:noFill/>
              <a:ln w="9525">
                <a:noFill/>
              </a:ln>
            </p:spPr>
            <p:txBody>
              <a:bodyPr wrap="square">
                <a:spAutoFit/>
              </a:bodyPr>
              <a:lstStyle/>
              <a:p>
                <a:pPr lvl="0" algn="ctr" eaLnBrk="1" hangingPunct="1">
                  <a:spcBef>
                    <a:spcPct val="50000"/>
                  </a:spcBef>
                </a:pPr>
                <a:r>
                  <a:rPr lang="zh-CN" altLang="en-US" sz="2000" b="1" dirty="0">
                    <a:solidFill>
                      <a:schemeClr val="folHlink"/>
                    </a:solidFill>
                    <a:latin typeface="Times New Roman" panose="02020603050405020304" pitchFamily="18" charset="0"/>
                    <a:ea typeface="宋体" panose="02010600030101010101" pitchFamily="2" charset="-122"/>
                  </a:rPr>
                  <a:t>单晶叶片</a:t>
                </a:r>
              </a:p>
            </p:txBody>
          </p:sp>
        </p:grpSp>
        <p:grpSp>
          <p:nvGrpSpPr>
            <p:cNvPr id="143369" name="Group 8"/>
            <p:cNvGrpSpPr/>
            <p:nvPr/>
          </p:nvGrpSpPr>
          <p:grpSpPr>
            <a:xfrm>
              <a:off x="3524" y="411"/>
              <a:ext cx="1996" cy="2240"/>
              <a:chOff x="3476" y="411"/>
              <a:chExt cx="1996" cy="2240"/>
            </a:xfrm>
          </p:grpSpPr>
          <p:pic>
            <p:nvPicPr>
              <p:cNvPr id="143370" name="Picture 9" descr="晶粒大小与强度"/>
              <p:cNvPicPr>
                <a:picLocks noChangeAspect="1"/>
              </p:cNvPicPr>
              <p:nvPr/>
            </p:nvPicPr>
            <p:blipFill>
              <a:blip r:embed="rId3"/>
              <a:stretch>
                <a:fillRect/>
              </a:stretch>
            </p:blipFill>
            <p:spPr>
              <a:xfrm>
                <a:off x="3476" y="436"/>
                <a:ext cx="1927" cy="2215"/>
              </a:xfrm>
              <a:prstGeom prst="rect">
                <a:avLst/>
              </a:prstGeom>
              <a:noFill/>
              <a:ln w="38100" cap="flat" cmpd="sng">
                <a:noFill/>
                <a:prstDash val="solid"/>
                <a:miter/>
                <a:headEnd type="none" w="med" len="med"/>
                <a:tailEnd type="none" w="med" len="med"/>
              </a:ln>
            </p:spPr>
          </p:pic>
          <p:sp>
            <p:nvSpPr>
              <p:cNvPr id="143371" name="Text Box 10"/>
              <p:cNvSpPr txBox="1"/>
              <p:nvPr/>
            </p:nvSpPr>
            <p:spPr>
              <a:xfrm>
                <a:off x="4080" y="2064"/>
                <a:ext cx="1185" cy="279"/>
              </a:xfrm>
              <a:prstGeom prst="rect">
                <a:avLst/>
              </a:prstGeom>
              <a:solidFill>
                <a:schemeClr val="tx2">
                  <a:lumMod val="20000"/>
                  <a:lumOff val="80000"/>
                </a:schemeClr>
              </a:solidFill>
              <a:ln w="9525">
                <a:noFill/>
              </a:ln>
            </p:spPr>
            <p:txBody>
              <a:bodyPr wrap="square">
                <a:spAutoFit/>
              </a:bodyPr>
              <a:lstStyle/>
              <a:p>
                <a:pPr lvl="0" eaLnBrk="1" hangingPunct="1">
                  <a:spcBef>
                    <a:spcPct val="50000"/>
                  </a:spcBef>
                </a:pPr>
                <a:r>
                  <a:rPr lang="en-US" altLang="zh-CN" sz="2000" dirty="0">
                    <a:solidFill>
                      <a:schemeClr val="bg2"/>
                    </a:solidFill>
                    <a:latin typeface="Times New Roman" panose="02020603050405020304" pitchFamily="18" charset="0"/>
                    <a:ea typeface="宋体" panose="02010600030101010101" pitchFamily="2" charset="-122"/>
                    <a:sym typeface="Symbol" panose="05050102010706020507" pitchFamily="18" charset="2"/>
                  </a:rPr>
                  <a:t></a:t>
                </a:r>
                <a:r>
                  <a:rPr lang="en-US" altLang="zh-CN" sz="2000" baseline="-25000" dirty="0">
                    <a:solidFill>
                      <a:schemeClr val="bg2"/>
                    </a:solidFill>
                    <a:latin typeface="Times New Roman" panose="02020603050405020304" pitchFamily="18" charset="0"/>
                    <a:ea typeface="宋体" panose="02010600030101010101" pitchFamily="2" charset="-122"/>
                    <a:sym typeface="Symbol" panose="05050102010706020507" pitchFamily="18" charset="2"/>
                  </a:rPr>
                  <a:t>s</a:t>
                </a:r>
                <a:r>
                  <a:rPr lang="en-US" altLang="zh-CN" sz="2000" dirty="0">
                    <a:solidFill>
                      <a:schemeClr val="bg2"/>
                    </a:solidFill>
                    <a:latin typeface="Times New Roman" panose="02020603050405020304" pitchFamily="18" charset="0"/>
                    <a:ea typeface="宋体" panose="02010600030101010101" pitchFamily="2" charset="-122"/>
                    <a:sym typeface="Symbol" panose="05050102010706020507" pitchFamily="18" charset="2"/>
                  </a:rPr>
                  <a:t>= </a:t>
                </a:r>
                <a:r>
                  <a:rPr lang="en-US" altLang="zh-CN" sz="2000" baseline="-25000" dirty="0">
                    <a:solidFill>
                      <a:schemeClr val="bg2"/>
                    </a:solidFill>
                    <a:latin typeface="Times New Roman" panose="02020603050405020304" pitchFamily="18" charset="0"/>
                    <a:ea typeface="宋体" panose="02010600030101010101" pitchFamily="2" charset="-122"/>
                    <a:sym typeface="Symbol" panose="05050102010706020507" pitchFamily="18" charset="2"/>
                  </a:rPr>
                  <a:t>i</a:t>
                </a:r>
                <a:r>
                  <a:rPr lang="en-US" altLang="zh-CN" sz="2000" dirty="0">
                    <a:solidFill>
                      <a:schemeClr val="bg2"/>
                    </a:solidFill>
                    <a:latin typeface="Times New Roman" panose="02020603050405020304" pitchFamily="18" charset="0"/>
                    <a:ea typeface="宋体" panose="02010600030101010101" pitchFamily="2" charset="-122"/>
                    <a:sym typeface="Symbol" panose="05050102010706020507" pitchFamily="18" charset="2"/>
                  </a:rPr>
                  <a:t>+Kd</a:t>
                </a:r>
                <a:r>
                  <a:rPr lang="en-US" altLang="zh-CN" sz="2000" baseline="30000" dirty="0">
                    <a:solidFill>
                      <a:schemeClr val="bg2"/>
                    </a:solidFill>
                    <a:latin typeface="Times New Roman" panose="02020603050405020304" pitchFamily="18" charset="0"/>
                    <a:ea typeface="宋体" panose="02010600030101010101" pitchFamily="2" charset="-122"/>
                    <a:sym typeface="Symbol" panose="05050102010706020507" pitchFamily="18" charset="2"/>
                  </a:rPr>
                  <a:t>-1/2</a:t>
                </a:r>
                <a:endParaRPr lang="en-US" altLang="zh-CN" sz="2000" dirty="0">
                  <a:solidFill>
                    <a:schemeClr val="bg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43372" name="Text Box 11"/>
              <p:cNvSpPr txBox="1"/>
              <p:nvPr/>
            </p:nvSpPr>
            <p:spPr>
              <a:xfrm>
                <a:off x="4969" y="411"/>
                <a:ext cx="503" cy="1392"/>
              </a:xfrm>
              <a:prstGeom prst="rect">
                <a:avLst/>
              </a:prstGeom>
              <a:noFill/>
              <a:ln w="9525">
                <a:noFill/>
              </a:ln>
            </p:spPr>
            <p:txBody>
              <a:bodyPr vert="eaVert">
                <a:spAutoFit/>
              </a:bodyPr>
              <a:lstStyle/>
              <a:p>
                <a:pPr lvl="0" eaLnBrk="1" hangingPunct="1">
                  <a:spcBef>
                    <a:spcPct val="50000"/>
                  </a:spcBef>
                </a:pPr>
                <a:r>
                  <a:rPr lang="zh-CN" altLang="en-US" sz="1800" b="1" dirty="0">
                    <a:solidFill>
                      <a:srgbClr val="660033"/>
                    </a:solidFill>
                    <a:latin typeface="Times New Roman" panose="02020603050405020304" pitchFamily="18" charset="0"/>
                    <a:ea typeface="宋体" panose="02010600030101010101" pitchFamily="2" charset="-122"/>
                  </a:rPr>
                  <a:t>晶粒大小与金属强度的关系</a:t>
                </a:r>
              </a:p>
            </p:txBody>
          </p:sp>
        </p:grpSp>
      </p:grpSp>
      <p:pic>
        <p:nvPicPr>
          <p:cNvPr id="15" name="内容占位符 1" descr="新校徽（3M）弓之乐"/>
          <p:cNvPicPr>
            <a:picLocks noChangeAspect="1"/>
          </p:cNvPicPr>
          <p:nvPr/>
        </p:nvPicPr>
        <p:blipFill>
          <a:blip r:embed="rId4"/>
          <a:stretch>
            <a:fillRect/>
          </a:stretch>
        </p:blipFill>
        <p:spPr>
          <a:xfrm>
            <a:off x="0" y="0"/>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8898"/>
                                        </p:tgtEl>
                                        <p:attrNameLst>
                                          <p:attrName>style.visibility</p:attrName>
                                        </p:attrNameLst>
                                      </p:cBhvr>
                                      <p:to>
                                        <p:strVal val="visible"/>
                                      </p:to>
                                    </p:set>
                                    <p:animEffect transition="in" filter="wipe(left)">
                                      <p:cBhvr>
                                        <p:cTn id="7" dur="500"/>
                                        <p:tgtEl>
                                          <p:spTgt spid="20889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08899">
                                            <p:txEl>
                                              <p:pRg st="0" end="0"/>
                                            </p:txEl>
                                          </p:spTgt>
                                        </p:tgtEl>
                                        <p:attrNameLst>
                                          <p:attrName>style.visibility</p:attrName>
                                        </p:attrNameLst>
                                      </p:cBhvr>
                                      <p:to>
                                        <p:strVal val="visible"/>
                                      </p:to>
                                    </p:set>
                                    <p:animEffect transition="in" filter="wipe(left)">
                                      <p:cBhvr>
                                        <p:cTn id="11" dur="500"/>
                                        <p:tgtEl>
                                          <p:spTgt spid="208899">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08899">
                                            <p:txEl>
                                              <p:pRg st="1" end="1"/>
                                            </p:txEl>
                                          </p:spTgt>
                                        </p:tgtEl>
                                        <p:attrNameLst>
                                          <p:attrName>style.visibility</p:attrName>
                                        </p:attrNameLst>
                                      </p:cBhvr>
                                      <p:to>
                                        <p:strVal val="visible"/>
                                      </p:to>
                                    </p:set>
                                    <p:animEffect transition="in" filter="wipe(left)">
                                      <p:cBhvr>
                                        <p:cTn id="15" dur="500"/>
                                        <p:tgtEl>
                                          <p:spTgt spid="208899">
                                            <p:txEl>
                                              <p:pRg st="1" end="1"/>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up)">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898" grpId="0"/>
      <p:bldP spid="208899" grpId="0" build="p" advAuto="100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日期占位符 3"/>
          <p:cNvSpPr txBox="1">
            <a:spLocks noGrp="1"/>
          </p:cNvSpPr>
          <p:nvPr>
            <p:ph type="dt" sz="half" idx="10"/>
          </p:nvPr>
        </p:nvSpPr>
        <p:spPr>
          <a:xfrm>
            <a:off x="0" y="6510338"/>
            <a:ext cx="2233613"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44387" name="灯片编号占位符 5"/>
          <p:cNvSpPr txBox="1">
            <a:spLocks noGrp="1"/>
          </p:cNvSpPr>
          <p:nvPr>
            <p:ph type="sldNum" sz="quarter" idx="12"/>
          </p:nvPr>
        </p:nvSpPr>
        <p:spPr>
          <a:xfrm>
            <a:off x="8382000" y="6510655"/>
            <a:ext cx="703580" cy="347345"/>
          </a:xfrm>
        </p:spPr>
        <p:txBody>
          <a:bodyPr lIns="92075" tIns="46038" rIns="92075" bIns="46038" anchor="ctr"/>
          <a:lstStyle/>
          <a:p>
            <a:pPr algn="r" eaLnBrk="1" hangingPunct="1"/>
            <a:fld id="{9A0DB2DC-4C9A-4742-B13C-FB6460FD3503}" type="slidenum">
              <a:rPr lang="en-US" altLang="zh-CN" sz="1400" dirty="0"/>
              <a:t>159</a:t>
            </a:fld>
            <a:endParaRPr lang="en-US" altLang="zh-CN" sz="1400" dirty="0"/>
          </a:p>
        </p:txBody>
      </p:sp>
      <p:sp>
        <p:nvSpPr>
          <p:cNvPr id="15371" name="Rectangle 11"/>
          <p:cNvSpPr>
            <a:spLocks noGrp="1"/>
          </p:cNvSpPr>
          <p:nvPr>
            <p:ph type="title"/>
          </p:nvPr>
        </p:nvSpPr>
        <p:spPr>
          <a:xfrm>
            <a:off x="1619672" y="288175"/>
            <a:ext cx="7305253" cy="981869"/>
          </a:xfrm>
        </p:spPr>
        <p:txBody>
          <a:bodyPr vert="horz" wrap="square" lIns="92075" tIns="46038" rIns="92075" bIns="46038" anchor="ctr"/>
          <a:lstStyle/>
          <a:p>
            <a:pPr eaLnBrk="1" hangingPunct="1">
              <a:lnSpc>
                <a:spcPct val="120000"/>
              </a:lnSpc>
            </a:pPr>
            <a:r>
              <a:rPr lang="zh-CN" altLang="en-US" b="1" dirty="0">
                <a:solidFill>
                  <a:srgbClr val="FF0000"/>
                </a:solidFill>
                <a:latin typeface="华文中宋" panose="02010600040101010101" pitchFamily="2" charset="-122"/>
                <a:ea typeface="华文中宋" panose="02010600040101010101" pitchFamily="2" charset="-122"/>
              </a:rPr>
              <a:t>铸锭</a:t>
            </a:r>
            <a:r>
              <a:rPr lang="en-US" altLang="zh-CN" b="1" dirty="0">
                <a:solidFill>
                  <a:srgbClr val="FF0000"/>
                </a:solidFill>
                <a:latin typeface="华文中宋" panose="02010600040101010101" pitchFamily="2" charset="-122"/>
                <a:ea typeface="华文中宋" panose="02010600040101010101" pitchFamily="2" charset="-122"/>
              </a:rPr>
              <a:t>(</a:t>
            </a:r>
            <a:r>
              <a:rPr lang="zh-CN" altLang="en-US" b="1" dirty="0">
                <a:solidFill>
                  <a:srgbClr val="FF0000"/>
                </a:solidFill>
                <a:latin typeface="华文中宋" panose="02010600040101010101" pitchFamily="2" charset="-122"/>
                <a:ea typeface="华文中宋" panose="02010600040101010101" pitchFamily="2" charset="-122"/>
              </a:rPr>
              <a:t>件</a:t>
            </a:r>
            <a:r>
              <a:rPr lang="en-US" altLang="zh-CN" b="1" dirty="0">
                <a:solidFill>
                  <a:srgbClr val="FF0000"/>
                </a:solidFill>
                <a:latin typeface="华文中宋" panose="02010600040101010101" pitchFamily="2" charset="-122"/>
                <a:ea typeface="华文中宋" panose="02010600040101010101" pitchFamily="2" charset="-122"/>
              </a:rPr>
              <a:t>)</a:t>
            </a:r>
            <a:r>
              <a:rPr lang="zh-CN" altLang="en-US" b="1" dirty="0">
                <a:solidFill>
                  <a:srgbClr val="FF0000"/>
                </a:solidFill>
                <a:latin typeface="华文中宋" panose="02010600040101010101" pitchFamily="2" charset="-122"/>
                <a:ea typeface="华文中宋" panose="02010600040101010101" pitchFamily="2" charset="-122"/>
              </a:rPr>
              <a:t>组织与缺陷</a:t>
            </a:r>
          </a:p>
        </p:txBody>
      </p:sp>
      <p:sp>
        <p:nvSpPr>
          <p:cNvPr id="15372" name="Rectangle 12"/>
          <p:cNvSpPr>
            <a:spLocks noGrp="1"/>
          </p:cNvSpPr>
          <p:nvPr>
            <p:ph idx="1"/>
          </p:nvPr>
        </p:nvSpPr>
        <p:spPr>
          <a:xfrm>
            <a:off x="381000" y="1844824"/>
            <a:ext cx="5559152" cy="4441676"/>
          </a:xfrm>
        </p:spPr>
        <p:txBody>
          <a:bodyPr vert="horz" wrap="square" lIns="91440" tIns="45720" rIns="91440" bIns="45720" anchor="t"/>
          <a:lstStyle/>
          <a:p>
            <a:pPr eaLnBrk="1" hangingPunct="1">
              <a:lnSpc>
                <a:spcPct val="160000"/>
              </a:lnSpc>
            </a:pPr>
            <a:r>
              <a:rPr lang="zh-CN" altLang="en-US" sz="2800" b="1" dirty="0">
                <a:ea typeface="华文中宋" panose="02010600040101010101" pitchFamily="2" charset="-122"/>
              </a:rPr>
              <a:t>在实际生产中，液态金属被浇注到</a:t>
            </a:r>
            <a:r>
              <a:rPr lang="zh-CN" altLang="en-US" sz="2800" b="1" dirty="0">
                <a:solidFill>
                  <a:schemeClr val="folHlink"/>
                </a:solidFill>
                <a:ea typeface="华文中宋" panose="02010600040101010101" pitchFamily="2" charset="-122"/>
              </a:rPr>
              <a:t>锭模</a:t>
            </a:r>
            <a:r>
              <a:rPr lang="zh-CN" altLang="en-US" sz="2800" b="1" dirty="0">
                <a:ea typeface="华文中宋" panose="02010600040101010101" pitchFamily="2" charset="-122"/>
              </a:rPr>
              <a:t>中便得到</a:t>
            </a:r>
            <a:r>
              <a:rPr lang="zh-CN" altLang="en-US" sz="2800" b="1" dirty="0">
                <a:solidFill>
                  <a:schemeClr val="folHlink"/>
                </a:solidFill>
                <a:ea typeface="华文中宋" panose="02010600040101010101" pitchFamily="2" charset="-122"/>
              </a:rPr>
              <a:t>铸锭</a:t>
            </a:r>
            <a:r>
              <a:rPr lang="zh-CN" altLang="en-US" sz="2800" b="1" dirty="0">
                <a:ea typeface="华文中宋" panose="02010600040101010101" pitchFamily="2" charset="-122"/>
              </a:rPr>
              <a:t>，而注入到</a:t>
            </a:r>
            <a:r>
              <a:rPr lang="zh-CN" altLang="en-US" sz="2800" b="1" dirty="0">
                <a:solidFill>
                  <a:schemeClr val="folHlink"/>
                </a:solidFill>
                <a:ea typeface="华文中宋" panose="02010600040101010101" pitchFamily="2" charset="-122"/>
              </a:rPr>
              <a:t>铸型模具中成型</a:t>
            </a:r>
            <a:r>
              <a:rPr lang="zh-CN" altLang="en-US" sz="2800" b="1" dirty="0">
                <a:ea typeface="华文中宋" panose="02010600040101010101" pitchFamily="2" charset="-122"/>
              </a:rPr>
              <a:t>则得到</a:t>
            </a:r>
            <a:r>
              <a:rPr lang="zh-CN" altLang="en-US" sz="2800" b="1" dirty="0">
                <a:solidFill>
                  <a:schemeClr val="folHlink"/>
                </a:solidFill>
                <a:ea typeface="华文中宋" panose="02010600040101010101" pitchFamily="2" charset="-122"/>
              </a:rPr>
              <a:t>铸件</a:t>
            </a:r>
            <a:r>
              <a:rPr lang="zh-CN" altLang="en-US" sz="2800" b="1" dirty="0">
                <a:ea typeface="华文中宋" panose="02010600040101010101" pitchFamily="2" charset="-122"/>
              </a:rPr>
              <a:t>。</a:t>
            </a:r>
          </a:p>
          <a:p>
            <a:pPr eaLnBrk="1" hangingPunct="1">
              <a:lnSpc>
                <a:spcPct val="160000"/>
              </a:lnSpc>
            </a:pPr>
            <a:r>
              <a:rPr lang="zh-CN" altLang="en-US" sz="2800" b="1" dirty="0">
                <a:solidFill>
                  <a:schemeClr val="folHlink"/>
                </a:solidFill>
                <a:ea typeface="华文中宋" panose="02010600040101010101" pitchFamily="2" charset="-122"/>
              </a:rPr>
              <a:t>铸锭</a:t>
            </a:r>
            <a:r>
              <a:rPr lang="en-US" altLang="zh-CN" sz="2800" b="1" dirty="0">
                <a:solidFill>
                  <a:schemeClr val="folHlink"/>
                </a:solidFill>
                <a:ea typeface="华文中宋" panose="02010600040101010101" pitchFamily="2" charset="-122"/>
              </a:rPr>
              <a:t>(</a:t>
            </a:r>
            <a:r>
              <a:rPr lang="zh-CN" altLang="en-US" sz="2800" b="1" dirty="0">
                <a:solidFill>
                  <a:schemeClr val="folHlink"/>
                </a:solidFill>
                <a:ea typeface="华文中宋" panose="02010600040101010101" pitchFamily="2" charset="-122"/>
              </a:rPr>
              <a:t>件</a:t>
            </a:r>
            <a:r>
              <a:rPr lang="en-US" altLang="zh-CN" sz="2800" b="1" dirty="0">
                <a:solidFill>
                  <a:schemeClr val="folHlink"/>
                </a:solidFill>
                <a:ea typeface="华文中宋" panose="02010600040101010101" pitchFamily="2" charset="-122"/>
              </a:rPr>
              <a:t>)</a:t>
            </a:r>
            <a:r>
              <a:rPr lang="zh-CN" altLang="en-US" sz="2800" b="1" dirty="0">
                <a:solidFill>
                  <a:schemeClr val="folHlink"/>
                </a:solidFill>
                <a:ea typeface="华文中宋" panose="02010600040101010101" pitchFamily="2" charset="-122"/>
              </a:rPr>
              <a:t>的组织及其存在的缺陷对其加工和使用性能有着直接的影响。</a:t>
            </a:r>
          </a:p>
        </p:txBody>
      </p:sp>
      <p:grpSp>
        <p:nvGrpSpPr>
          <p:cNvPr id="2" name="Group 18"/>
          <p:cNvGrpSpPr/>
          <p:nvPr/>
        </p:nvGrpSpPr>
        <p:grpSpPr>
          <a:xfrm>
            <a:off x="6011961" y="2060848"/>
            <a:ext cx="2516921" cy="4682719"/>
            <a:chOff x="3546" y="864"/>
            <a:chExt cx="1839" cy="3460"/>
          </a:xfrm>
        </p:grpSpPr>
        <p:pic>
          <p:nvPicPr>
            <p:cNvPr id="144392" name="Picture 16" descr="铸锭组织1"/>
            <p:cNvPicPr>
              <a:picLocks noChangeAspect="1"/>
            </p:cNvPicPr>
            <p:nvPr/>
          </p:nvPicPr>
          <p:blipFill>
            <a:blip r:embed="rId2"/>
            <a:stretch>
              <a:fillRect/>
            </a:stretch>
          </p:blipFill>
          <p:spPr>
            <a:xfrm>
              <a:off x="3696" y="864"/>
              <a:ext cx="1582" cy="2982"/>
            </a:xfrm>
            <a:prstGeom prst="rect">
              <a:avLst/>
            </a:prstGeom>
            <a:noFill/>
            <a:ln w="28575" cap="flat" cmpd="sng">
              <a:solidFill>
                <a:srgbClr val="993366"/>
              </a:solidFill>
              <a:prstDash val="solid"/>
              <a:miter/>
              <a:headEnd type="none" w="med" len="med"/>
              <a:tailEnd type="none" w="med" len="med"/>
            </a:ln>
          </p:spPr>
        </p:pic>
        <p:sp>
          <p:nvSpPr>
            <p:cNvPr id="15377" name="Text Box 17"/>
            <p:cNvSpPr txBox="1">
              <a:spLocks noChangeArrowheads="1"/>
            </p:cNvSpPr>
            <p:nvPr/>
          </p:nvSpPr>
          <p:spPr bwMode="auto">
            <a:xfrm>
              <a:off x="3546" y="4028"/>
              <a:ext cx="1839" cy="296"/>
            </a:xfrm>
            <a:prstGeom prst="rect">
              <a:avLst/>
            </a:prstGeom>
            <a:noFill/>
            <a:ln w="9525">
              <a:noFill/>
              <a:miter lim="800000"/>
            </a:ln>
            <a:effectLst/>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zh-CN" altLang="en-US" sz="2000" b="1" i="0" u="none" strike="noStrike" kern="1200" cap="none" spc="0" normalizeH="0" baseline="0" noProof="0" dirty="0">
                  <a:ln>
                    <a:noFill/>
                  </a:ln>
                  <a:solidFill>
                    <a:schemeClr val="folHlink"/>
                  </a:solidFill>
                  <a:effectLst>
                    <a:outerShdw blurRad="38100" dist="38100" dir="2700000" algn="tl">
                      <a:srgbClr val="000000"/>
                    </a:outerShdw>
                  </a:effectLst>
                  <a:uLnTx/>
                  <a:uFillTx/>
                  <a:latin typeface="Times New Roman" panose="02020603050405020304" pitchFamily="18" charset="0"/>
                  <a:ea typeface="华文中宋" panose="02010600040101010101" pitchFamily="2" charset="-122"/>
                  <a:cs typeface="+mn-cs"/>
                </a:rPr>
                <a:t>铸锭纵剖面宏观组织</a:t>
              </a:r>
            </a:p>
          </p:txBody>
        </p:sp>
      </p:grpSp>
      <p:pic>
        <p:nvPicPr>
          <p:cNvPr id="10" name="内容占位符 1" descr="新校徽（3M）弓之乐"/>
          <p:cNvPicPr>
            <a:picLocks noChangeAspect="1"/>
          </p:cNvPicPr>
          <p:nvPr/>
        </p:nvPicPr>
        <p:blipFill>
          <a:blip r:embed="rId3"/>
          <a:stretch>
            <a:fillRect/>
          </a:stretch>
        </p:blipFill>
        <p:spPr>
          <a:xfrm>
            <a:off x="-106907" y="-3709"/>
            <a:ext cx="791437" cy="779996"/>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371"/>
                                        </p:tgtEl>
                                        <p:attrNameLst>
                                          <p:attrName>style.visibility</p:attrName>
                                        </p:attrNameLst>
                                      </p:cBhvr>
                                      <p:to>
                                        <p:strVal val="visible"/>
                                      </p:to>
                                    </p:set>
                                    <p:animEffect transition="in" filter="wipe(left)">
                                      <p:cBhvr>
                                        <p:cTn id="7" dur="500"/>
                                        <p:tgtEl>
                                          <p:spTgt spid="1537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5372">
                                            <p:txEl>
                                              <p:pRg st="0" end="0"/>
                                            </p:txEl>
                                          </p:spTgt>
                                        </p:tgtEl>
                                        <p:attrNameLst>
                                          <p:attrName>style.visibility</p:attrName>
                                        </p:attrNameLst>
                                      </p:cBhvr>
                                      <p:to>
                                        <p:strVal val="visible"/>
                                      </p:to>
                                    </p:set>
                                    <p:animEffect transition="in" filter="wipe(left)">
                                      <p:cBhvr>
                                        <p:cTn id="11" dur="500"/>
                                        <p:tgtEl>
                                          <p:spTgt spid="15372">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5372">
                                            <p:txEl>
                                              <p:pRg st="1" end="1"/>
                                            </p:txEl>
                                          </p:spTgt>
                                        </p:tgtEl>
                                        <p:attrNameLst>
                                          <p:attrName>style.visibility</p:attrName>
                                        </p:attrNameLst>
                                      </p:cBhvr>
                                      <p:to>
                                        <p:strVal val="visible"/>
                                      </p:to>
                                    </p:set>
                                    <p:animEffect transition="in" filter="wipe(left)">
                                      <p:cBhvr>
                                        <p:cTn id="15" dur="500"/>
                                        <p:tgtEl>
                                          <p:spTgt spid="15372">
                                            <p:txEl>
                                              <p:pRg st="1" end="1"/>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up)">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71" grpId="0"/>
      <p:bldP spid="15372" grpId="0" build="p" advAuto="1000"/>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日期占位符 3"/>
          <p:cNvSpPr txBox="1">
            <a:spLocks noGrp="1"/>
          </p:cNvSpPr>
          <p:nvPr>
            <p:ph type="dt" sz="half" idx="10"/>
          </p:nvPr>
        </p:nvSpPr>
        <p:spPr>
          <a:xfrm>
            <a:off x="0" y="6510655"/>
            <a:ext cx="2226945" cy="34734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45411" name="灯片编号占位符 5"/>
          <p:cNvSpPr txBox="1">
            <a:spLocks noGrp="1"/>
          </p:cNvSpPr>
          <p:nvPr>
            <p:ph type="sldNum" sz="quarter" idx="12"/>
          </p:nvPr>
        </p:nvSpPr>
        <p:spPr>
          <a:xfrm>
            <a:off x="8554720" y="6547485"/>
            <a:ext cx="551815" cy="273050"/>
          </a:xfrm>
        </p:spPr>
        <p:txBody>
          <a:bodyPr lIns="92075" tIns="46038" rIns="92075" bIns="46038" anchor="ctr"/>
          <a:lstStyle/>
          <a:p>
            <a:pPr algn="r" eaLnBrk="1" hangingPunct="1"/>
            <a:fld id="{9A0DB2DC-4C9A-4742-B13C-FB6460FD3503}" type="slidenum">
              <a:rPr lang="en-US" altLang="zh-CN" sz="1400" dirty="0"/>
              <a:t>160</a:t>
            </a:fld>
            <a:endParaRPr lang="en-US" altLang="zh-CN" sz="1400" dirty="0"/>
          </a:p>
        </p:txBody>
      </p:sp>
      <p:sp>
        <p:nvSpPr>
          <p:cNvPr id="145412" name="Rectangle 2"/>
          <p:cNvSpPr>
            <a:spLocks noGrp="1"/>
          </p:cNvSpPr>
          <p:nvPr>
            <p:ph type="title"/>
          </p:nvPr>
        </p:nvSpPr>
        <p:spPr>
          <a:xfrm>
            <a:off x="1547664" y="-1"/>
            <a:ext cx="6336496" cy="1426021"/>
          </a:xfrm>
        </p:spPr>
        <p:txBody>
          <a:bodyPr vert="horz" wrap="square" lIns="92075" tIns="46038" rIns="92075" bIns="46038" anchor="ctr"/>
          <a:lstStyle/>
          <a:p>
            <a:pPr eaLnBrk="1" hangingPunct="1"/>
            <a:r>
              <a:rPr lang="zh-CN" altLang="en-US" b="1" dirty="0">
                <a:solidFill>
                  <a:srgbClr val="FF0000"/>
                </a:solidFill>
                <a:latin typeface="华文中宋" panose="02010600040101010101" pitchFamily="2" charset="-122"/>
                <a:ea typeface="华文中宋" panose="02010600040101010101" pitchFamily="2" charset="-122"/>
              </a:rPr>
              <a:t>一、铸锭</a:t>
            </a:r>
            <a:r>
              <a:rPr lang="en-US" altLang="zh-CN" b="1" dirty="0">
                <a:solidFill>
                  <a:srgbClr val="FF0000"/>
                </a:solidFill>
                <a:latin typeface="华文中宋" panose="02010600040101010101" pitchFamily="2" charset="-122"/>
                <a:ea typeface="华文中宋" panose="02010600040101010101" pitchFamily="2" charset="-122"/>
              </a:rPr>
              <a:t>(</a:t>
            </a:r>
            <a:r>
              <a:rPr lang="zh-CN" altLang="en-US" b="1" dirty="0">
                <a:solidFill>
                  <a:srgbClr val="FF0000"/>
                </a:solidFill>
                <a:latin typeface="华文中宋" panose="02010600040101010101" pitchFamily="2" charset="-122"/>
                <a:ea typeface="华文中宋" panose="02010600040101010101" pitchFamily="2" charset="-122"/>
              </a:rPr>
              <a:t>件</a:t>
            </a:r>
            <a:r>
              <a:rPr lang="en-US" altLang="zh-CN" b="1" dirty="0">
                <a:solidFill>
                  <a:srgbClr val="FF0000"/>
                </a:solidFill>
                <a:latin typeface="华文中宋" panose="02010600040101010101" pitchFamily="2" charset="-122"/>
                <a:ea typeface="华文中宋" panose="02010600040101010101" pitchFamily="2" charset="-122"/>
              </a:rPr>
              <a:t>)</a:t>
            </a:r>
            <a:r>
              <a:rPr lang="zh-CN" altLang="en-US" b="1" dirty="0">
                <a:solidFill>
                  <a:srgbClr val="FF0000"/>
                </a:solidFill>
                <a:latin typeface="华文中宋" panose="02010600040101010101" pitchFamily="2" charset="-122"/>
                <a:ea typeface="华文中宋" panose="02010600040101010101" pitchFamily="2" charset="-122"/>
              </a:rPr>
              <a:t>的组织</a:t>
            </a:r>
          </a:p>
        </p:txBody>
      </p:sp>
      <p:sp>
        <p:nvSpPr>
          <p:cNvPr id="145413" name="Rectangle 3"/>
          <p:cNvSpPr>
            <a:spLocks noGrp="1"/>
          </p:cNvSpPr>
          <p:nvPr>
            <p:ph idx="1"/>
          </p:nvPr>
        </p:nvSpPr>
        <p:spPr>
          <a:xfrm>
            <a:off x="685800" y="1988840"/>
            <a:ext cx="7772400" cy="4107160"/>
          </a:xfrm>
        </p:spPr>
        <p:txBody>
          <a:bodyPr vert="horz" wrap="square" lIns="91440" tIns="45720" rIns="91440" bIns="45720" anchor="t"/>
          <a:lstStyle/>
          <a:p>
            <a:pPr eaLnBrk="1" hangingPunct="1"/>
            <a:r>
              <a:rPr lang="zh-CN" altLang="en-US" b="1" dirty="0">
                <a:ea typeface="华文中宋" panose="02010600040101010101" pitchFamily="2" charset="-122"/>
              </a:rPr>
              <a:t>铸锭</a:t>
            </a:r>
            <a:r>
              <a:rPr lang="en-US" altLang="zh-CN" b="1" dirty="0">
                <a:ea typeface="华文中宋" panose="02010600040101010101" pitchFamily="2" charset="-122"/>
              </a:rPr>
              <a:t>(</a:t>
            </a:r>
            <a:r>
              <a:rPr lang="zh-CN" altLang="en-US" b="1" dirty="0">
                <a:ea typeface="华文中宋" panose="02010600040101010101" pitchFamily="2" charset="-122"/>
              </a:rPr>
              <a:t>件</a:t>
            </a:r>
            <a:r>
              <a:rPr lang="en-US" altLang="zh-CN" b="1" dirty="0">
                <a:ea typeface="华文中宋" panose="02010600040101010101" pitchFamily="2" charset="-122"/>
              </a:rPr>
              <a:t>)</a:t>
            </a:r>
            <a:r>
              <a:rPr lang="zh-CN" altLang="en-US" b="1" dirty="0">
                <a:ea typeface="华文中宋" panose="02010600040101010101" pitchFamily="2" charset="-122"/>
              </a:rPr>
              <a:t>的宏观组织通常由</a:t>
            </a:r>
            <a:r>
              <a:rPr lang="zh-CN" altLang="en-US" b="1" dirty="0">
                <a:solidFill>
                  <a:schemeClr val="folHlink"/>
                </a:solidFill>
                <a:ea typeface="华文中宋" panose="02010600040101010101" pitchFamily="2" charset="-122"/>
              </a:rPr>
              <a:t>三个区</a:t>
            </a:r>
            <a:r>
              <a:rPr lang="zh-CN" altLang="en-US" b="1" dirty="0">
                <a:ea typeface="华文中宋" panose="02010600040101010101" pitchFamily="2" charset="-122"/>
              </a:rPr>
              <a:t>组成</a:t>
            </a:r>
            <a:r>
              <a:rPr lang="en-US" altLang="zh-CN" b="1" dirty="0">
                <a:ea typeface="华文中宋" panose="02010600040101010101" pitchFamily="2" charset="-122"/>
              </a:rPr>
              <a:t>:</a:t>
            </a:r>
          </a:p>
        </p:txBody>
      </p:sp>
      <p:pic>
        <p:nvPicPr>
          <p:cNvPr id="145414" name="Picture 4" descr="工程材料fig3-50"/>
          <p:cNvPicPr>
            <a:picLocks noChangeAspect="1"/>
          </p:cNvPicPr>
          <p:nvPr/>
        </p:nvPicPr>
        <p:blipFill>
          <a:blip r:embed="rId2"/>
          <a:stretch>
            <a:fillRect/>
          </a:stretch>
        </p:blipFill>
        <p:spPr>
          <a:xfrm>
            <a:off x="2699792" y="2673541"/>
            <a:ext cx="5200012" cy="3985278"/>
          </a:xfrm>
          <a:prstGeom prst="rect">
            <a:avLst/>
          </a:prstGeom>
          <a:noFill/>
          <a:ln w="9525">
            <a:noFill/>
          </a:ln>
        </p:spPr>
      </p:pic>
      <p:pic>
        <p:nvPicPr>
          <p:cNvPr id="8" name="内容占位符 1" descr="新校徽（3M）弓之乐"/>
          <p:cNvPicPr>
            <a:picLocks noChangeAspect="1"/>
          </p:cNvPicPr>
          <p:nvPr/>
        </p:nvPicPr>
        <p:blipFill>
          <a:blip r:embed="rId3"/>
          <a:stretch>
            <a:fillRect/>
          </a:stretch>
        </p:blipFill>
        <p:spPr>
          <a:xfrm>
            <a:off x="-62230" y="-3709"/>
            <a:ext cx="746760" cy="735965"/>
          </a:xfrm>
          <a:prstGeom prst="rect">
            <a:avLst/>
          </a:prstGeom>
          <a:noFill/>
          <a:ln w="9525">
            <a:noFill/>
          </a:ln>
        </p:spPr>
      </p:pic>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日期占位符 3"/>
          <p:cNvSpPr txBox="1">
            <a:spLocks noGrp="1"/>
          </p:cNvSpPr>
          <p:nvPr>
            <p:ph type="dt" sz="half" idx="10"/>
          </p:nvPr>
        </p:nvSpPr>
        <p:spPr>
          <a:xfrm>
            <a:off x="0" y="6438900"/>
            <a:ext cx="2233613" cy="419100"/>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46435" name="灯片编号占位符 5"/>
          <p:cNvSpPr txBox="1">
            <a:spLocks noGrp="1"/>
          </p:cNvSpPr>
          <p:nvPr>
            <p:ph type="sldNum" sz="quarter" idx="12"/>
          </p:nvPr>
        </p:nvSpPr>
        <p:spPr>
          <a:xfrm>
            <a:off x="8526145" y="6591935"/>
            <a:ext cx="617855" cy="266065"/>
          </a:xfrm>
        </p:spPr>
        <p:txBody>
          <a:bodyPr lIns="92075" tIns="46038" rIns="92075" bIns="46038" anchor="ctr"/>
          <a:lstStyle/>
          <a:p>
            <a:pPr algn="r" eaLnBrk="1" hangingPunct="1"/>
            <a:fld id="{9A0DB2DC-4C9A-4742-B13C-FB6460FD3503}" type="slidenum">
              <a:rPr lang="en-US" altLang="zh-CN" sz="1400" dirty="0"/>
              <a:t>161</a:t>
            </a:fld>
            <a:endParaRPr lang="en-US" altLang="zh-CN" sz="1400" dirty="0"/>
          </a:p>
        </p:txBody>
      </p:sp>
      <p:sp>
        <p:nvSpPr>
          <p:cNvPr id="270338" name="Rectangle 2"/>
          <p:cNvSpPr>
            <a:spLocks noGrp="1" noChangeArrowheads="1"/>
          </p:cNvSpPr>
          <p:nvPr>
            <p:ph type="title"/>
          </p:nvPr>
        </p:nvSpPr>
        <p:spPr>
          <a:xfrm>
            <a:off x="1547664" y="105357"/>
            <a:ext cx="6909266"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1</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、表层细晶区</a:t>
            </a:r>
          </a:p>
        </p:txBody>
      </p:sp>
      <p:sp>
        <p:nvSpPr>
          <p:cNvPr id="146437" name="Rectangle 3"/>
          <p:cNvSpPr>
            <a:spLocks noGrp="1"/>
          </p:cNvSpPr>
          <p:nvPr>
            <p:ph idx="1"/>
          </p:nvPr>
        </p:nvSpPr>
        <p:spPr>
          <a:xfrm>
            <a:off x="685800" y="1844824"/>
            <a:ext cx="4533900" cy="4251176"/>
          </a:xfrm>
        </p:spPr>
        <p:txBody>
          <a:bodyPr vert="horz" wrap="square" lIns="91440" tIns="45720" rIns="91440" bIns="45720" anchor="t"/>
          <a:lstStyle/>
          <a:p>
            <a:pPr eaLnBrk="1" hangingPunct="1">
              <a:lnSpc>
                <a:spcPct val="140000"/>
              </a:lnSpc>
            </a:pPr>
            <a:r>
              <a:rPr lang="zh-CN" altLang="en-US" sz="2800" b="1" dirty="0">
                <a:ea typeface="华文中宋" panose="02010600040101010101" pitchFamily="2" charset="-122"/>
              </a:rPr>
              <a:t>浇注时，由于冷模壁产生很大的过冷度及非均匀形核作用，使表面形成一层很细的等轴晶粒区。</a:t>
            </a:r>
          </a:p>
        </p:txBody>
      </p:sp>
      <p:grpSp>
        <p:nvGrpSpPr>
          <p:cNvPr id="2" name="Group 4"/>
          <p:cNvGrpSpPr>
            <a:grpSpLocks noChangeAspect="1"/>
          </p:cNvGrpSpPr>
          <p:nvPr/>
        </p:nvGrpSpPr>
        <p:grpSpPr>
          <a:xfrm>
            <a:off x="899592" y="4235908"/>
            <a:ext cx="7737475" cy="2225675"/>
            <a:chOff x="193" y="2616"/>
            <a:chExt cx="5423" cy="1560"/>
          </a:xfrm>
        </p:grpSpPr>
        <p:pic>
          <p:nvPicPr>
            <p:cNvPr id="146441" name="Picture 5" descr="铸锭组织"/>
            <p:cNvPicPr>
              <a:picLocks noChangeAspect="1"/>
            </p:cNvPicPr>
            <p:nvPr/>
          </p:nvPicPr>
          <p:blipFill>
            <a:blip r:embed="rId2"/>
            <a:stretch>
              <a:fillRect/>
            </a:stretch>
          </p:blipFill>
          <p:spPr>
            <a:xfrm>
              <a:off x="193" y="2651"/>
              <a:ext cx="5423" cy="1525"/>
            </a:xfrm>
            <a:prstGeom prst="rect">
              <a:avLst/>
            </a:prstGeom>
            <a:noFill/>
            <a:ln w="38100" cap="flat" cmpd="sng">
              <a:noFill/>
              <a:prstDash val="solid"/>
              <a:miter/>
              <a:headEnd type="none" w="med" len="med"/>
              <a:tailEnd type="none" w="med" len="med"/>
            </a:ln>
          </p:spPr>
        </p:pic>
        <p:sp>
          <p:nvSpPr>
            <p:cNvPr id="146442" name="Line 6"/>
            <p:cNvSpPr>
              <a:spLocks noChangeAspect="1"/>
            </p:cNvSpPr>
            <p:nvPr/>
          </p:nvSpPr>
          <p:spPr>
            <a:xfrm>
              <a:off x="2256" y="2616"/>
              <a:ext cx="0" cy="288"/>
            </a:xfrm>
            <a:prstGeom prst="line">
              <a:avLst/>
            </a:prstGeom>
            <a:ln w="38100" cap="flat" cmpd="sng">
              <a:solidFill>
                <a:schemeClr val="hlink"/>
              </a:solidFill>
              <a:prstDash val="solid"/>
              <a:headEnd type="none" w="med" len="med"/>
              <a:tailEnd type="stealth" w="med" len="lg"/>
            </a:ln>
          </p:spPr>
        </p:sp>
        <p:sp>
          <p:nvSpPr>
            <p:cNvPr id="146443" name="Line 7"/>
            <p:cNvSpPr>
              <a:spLocks noChangeAspect="1"/>
            </p:cNvSpPr>
            <p:nvPr/>
          </p:nvSpPr>
          <p:spPr>
            <a:xfrm>
              <a:off x="1463" y="3404"/>
              <a:ext cx="195" cy="0"/>
            </a:xfrm>
            <a:prstGeom prst="line">
              <a:avLst/>
            </a:prstGeom>
            <a:ln w="38100" cap="flat" cmpd="sng">
              <a:solidFill>
                <a:schemeClr val="bg2"/>
              </a:solidFill>
              <a:prstDash val="solid"/>
              <a:headEnd type="none" w="med" len="med"/>
              <a:tailEnd type="triangle" w="med" len="med"/>
            </a:ln>
          </p:spPr>
        </p:sp>
        <p:sp>
          <p:nvSpPr>
            <p:cNvPr id="146444" name="Line 8"/>
            <p:cNvSpPr>
              <a:spLocks noChangeAspect="1"/>
            </p:cNvSpPr>
            <p:nvPr/>
          </p:nvSpPr>
          <p:spPr>
            <a:xfrm>
              <a:off x="4141" y="3408"/>
              <a:ext cx="195" cy="0"/>
            </a:xfrm>
            <a:prstGeom prst="line">
              <a:avLst/>
            </a:prstGeom>
            <a:ln w="38100" cap="flat" cmpd="sng">
              <a:solidFill>
                <a:schemeClr val="bg2"/>
              </a:solidFill>
              <a:prstDash val="solid"/>
              <a:headEnd type="none" w="med" len="med"/>
              <a:tailEnd type="triangle" w="med" len="med"/>
            </a:ln>
          </p:spPr>
        </p:sp>
        <p:sp>
          <p:nvSpPr>
            <p:cNvPr id="146445" name="Line 9"/>
            <p:cNvSpPr>
              <a:spLocks noChangeAspect="1"/>
            </p:cNvSpPr>
            <p:nvPr/>
          </p:nvSpPr>
          <p:spPr>
            <a:xfrm>
              <a:off x="2783" y="3400"/>
              <a:ext cx="195" cy="0"/>
            </a:xfrm>
            <a:prstGeom prst="line">
              <a:avLst/>
            </a:prstGeom>
            <a:ln w="38100" cap="flat" cmpd="sng">
              <a:solidFill>
                <a:schemeClr val="bg2"/>
              </a:solidFill>
              <a:prstDash val="solid"/>
              <a:headEnd type="none" w="med" len="med"/>
              <a:tailEnd type="triangle" w="med" len="med"/>
            </a:ln>
          </p:spPr>
        </p:sp>
      </p:grpSp>
      <p:pic>
        <p:nvPicPr>
          <p:cNvPr id="270346" name="Picture 10" descr="铸锭"/>
          <p:cNvPicPr>
            <a:picLocks noChangeAspect="1"/>
          </p:cNvPicPr>
          <p:nvPr/>
        </p:nvPicPr>
        <p:blipFill>
          <a:blip r:embed="rId3"/>
          <a:stretch>
            <a:fillRect/>
          </a:stretch>
        </p:blipFill>
        <p:spPr>
          <a:xfrm>
            <a:off x="5619026" y="2061886"/>
            <a:ext cx="3018041" cy="2195442"/>
          </a:xfrm>
          <a:prstGeom prst="rect">
            <a:avLst/>
          </a:prstGeom>
          <a:noFill/>
          <a:ln w="38100" cap="flat" cmpd="sng">
            <a:noFill/>
            <a:prstDash val="solid"/>
            <a:miter/>
            <a:headEnd type="none" w="med" len="med"/>
            <a:tailEnd type="none" w="med" len="med"/>
          </a:ln>
        </p:spPr>
      </p:pic>
      <p:pic>
        <p:nvPicPr>
          <p:cNvPr id="14" name="内容占位符 1" descr="新校徽（3M）弓之乐"/>
          <p:cNvPicPr>
            <a:picLocks noChangeAspect="1"/>
          </p:cNvPicPr>
          <p:nvPr/>
        </p:nvPicPr>
        <p:blipFill>
          <a:blip r:embed="rId4"/>
          <a:stretch>
            <a:fillRect/>
          </a:stretch>
        </p:blipFill>
        <p:spPr>
          <a:xfrm>
            <a:off x="-62230" y="-3709"/>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70346"/>
                                        </p:tgtEl>
                                        <p:attrNameLst>
                                          <p:attrName>style.visibility</p:attrName>
                                        </p:attrNameLst>
                                      </p:cBhvr>
                                      <p:to>
                                        <p:strVal val="visible"/>
                                      </p:to>
                                    </p:set>
                                    <p:animEffect transition="in" filter="wipe(left)">
                                      <p:cBhvr>
                                        <p:cTn id="11" dur="500"/>
                                        <p:tgtEl>
                                          <p:spTgt spid="270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日期占位符 3"/>
          <p:cNvSpPr txBox="1">
            <a:spLocks noGrp="1"/>
          </p:cNvSpPr>
          <p:nvPr>
            <p:ph type="dt" sz="half" idx="10"/>
          </p:nvPr>
        </p:nvSpPr>
        <p:spPr>
          <a:xfrm>
            <a:off x="0" y="6510338"/>
            <a:ext cx="2233613"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47459" name="灯片编号占位符 5"/>
          <p:cNvSpPr txBox="1">
            <a:spLocks noGrp="1"/>
          </p:cNvSpPr>
          <p:nvPr>
            <p:ph type="sldNum" sz="quarter" idx="12"/>
          </p:nvPr>
        </p:nvSpPr>
        <p:spPr>
          <a:xfrm>
            <a:off x="8532440" y="6526530"/>
            <a:ext cx="563935" cy="331470"/>
          </a:xfrm>
        </p:spPr>
        <p:txBody>
          <a:bodyPr lIns="92075" tIns="46038" rIns="92075" bIns="46038" anchor="ctr"/>
          <a:lstStyle/>
          <a:p>
            <a:pPr algn="r" eaLnBrk="1" hangingPunct="1"/>
            <a:fld id="{9A0DB2DC-4C9A-4742-B13C-FB6460FD3503}" type="slidenum">
              <a:rPr lang="en-US" altLang="zh-CN" sz="1400" dirty="0"/>
              <a:t>162</a:t>
            </a:fld>
            <a:endParaRPr lang="en-US" altLang="zh-CN" sz="1400" dirty="0"/>
          </a:p>
        </p:txBody>
      </p:sp>
      <p:sp>
        <p:nvSpPr>
          <p:cNvPr id="271362" name="Rectangle 2"/>
          <p:cNvSpPr>
            <a:spLocks noGrp="1" noChangeArrowheads="1"/>
          </p:cNvSpPr>
          <p:nvPr>
            <p:ph type="title"/>
          </p:nvPr>
        </p:nvSpPr>
        <p:spPr>
          <a:xfrm>
            <a:off x="1763688" y="190500"/>
            <a:ext cx="6313488"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2</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、柱状晶区</a:t>
            </a:r>
          </a:p>
        </p:txBody>
      </p:sp>
      <p:sp>
        <p:nvSpPr>
          <p:cNvPr id="147461" name="Rectangle 3"/>
          <p:cNvSpPr>
            <a:spLocks noGrp="1"/>
          </p:cNvSpPr>
          <p:nvPr>
            <p:ph idx="1"/>
          </p:nvPr>
        </p:nvSpPr>
        <p:spPr>
          <a:xfrm>
            <a:off x="685800" y="1844824"/>
            <a:ext cx="8172450" cy="4251176"/>
          </a:xfrm>
        </p:spPr>
        <p:txBody>
          <a:bodyPr vert="horz" wrap="square" lIns="91440" tIns="45720" rIns="91440" bIns="45720" anchor="t"/>
          <a:lstStyle/>
          <a:p>
            <a:pPr eaLnBrk="1" hangingPunct="1">
              <a:lnSpc>
                <a:spcPct val="120000"/>
              </a:lnSpc>
            </a:pPr>
            <a:r>
              <a:rPr lang="zh-CN" altLang="en-US" b="1" dirty="0">
                <a:ea typeface="华文中宋" panose="02010600040101010101" pitchFamily="2" charset="-122"/>
              </a:rPr>
              <a:t>由于模壁温度升高，结晶放出潜热，使细晶区前沿液体的过冷度减小，形核困难。加上模壁的</a:t>
            </a:r>
            <a:r>
              <a:rPr lang="zh-CN" altLang="en-US" b="1" dirty="0">
                <a:solidFill>
                  <a:srgbClr val="0000FF"/>
                </a:solidFill>
                <a:ea typeface="华文中宋" panose="02010600040101010101" pitchFamily="2" charset="-122"/>
              </a:rPr>
              <a:t>定向散热</a:t>
            </a:r>
            <a:r>
              <a:rPr lang="zh-CN" altLang="en-US" b="1" dirty="0">
                <a:ea typeface="华文中宋" panose="02010600040101010101" pitchFamily="2" charset="-122"/>
              </a:rPr>
              <a:t>，使已有的晶体沿着与散热相反的方向生长而形成柱状晶区。</a:t>
            </a:r>
          </a:p>
        </p:txBody>
      </p:sp>
      <p:grpSp>
        <p:nvGrpSpPr>
          <p:cNvPr id="2" name="Group 4"/>
          <p:cNvGrpSpPr>
            <a:grpSpLocks noChangeAspect="1"/>
          </p:cNvGrpSpPr>
          <p:nvPr/>
        </p:nvGrpSpPr>
        <p:grpSpPr>
          <a:xfrm>
            <a:off x="869392" y="4327525"/>
            <a:ext cx="7737475" cy="2182813"/>
            <a:chOff x="59" y="2304"/>
            <a:chExt cx="5649" cy="1593"/>
          </a:xfrm>
        </p:grpSpPr>
        <p:grpSp>
          <p:nvGrpSpPr>
            <p:cNvPr id="147464" name="Group 5"/>
            <p:cNvGrpSpPr>
              <a:grpSpLocks noChangeAspect="1"/>
            </p:cNvGrpSpPr>
            <p:nvPr/>
          </p:nvGrpSpPr>
          <p:grpSpPr>
            <a:xfrm>
              <a:off x="59" y="2308"/>
              <a:ext cx="5649" cy="1589"/>
              <a:chOff x="59" y="2448"/>
              <a:chExt cx="5649" cy="1589"/>
            </a:xfrm>
          </p:grpSpPr>
          <p:pic>
            <p:nvPicPr>
              <p:cNvPr id="147466" name="Picture 6" descr="铸锭组织"/>
              <p:cNvPicPr>
                <a:picLocks noChangeAspect="1"/>
              </p:cNvPicPr>
              <p:nvPr/>
            </p:nvPicPr>
            <p:blipFill>
              <a:blip r:embed="rId2"/>
              <a:stretch>
                <a:fillRect/>
              </a:stretch>
            </p:blipFill>
            <p:spPr>
              <a:xfrm>
                <a:off x="59" y="2448"/>
                <a:ext cx="5649" cy="1589"/>
              </a:xfrm>
              <a:prstGeom prst="rect">
                <a:avLst/>
              </a:prstGeom>
              <a:noFill/>
              <a:ln w="57150" cap="flat" cmpd="sng">
                <a:noFill/>
                <a:prstDash val="solid"/>
                <a:miter/>
                <a:headEnd type="none" w="med" len="med"/>
                <a:tailEnd type="none" w="med" len="med"/>
              </a:ln>
            </p:spPr>
          </p:pic>
          <p:sp>
            <p:nvSpPr>
              <p:cNvPr id="147467" name="Line 7"/>
              <p:cNvSpPr>
                <a:spLocks noChangeAspect="1"/>
              </p:cNvSpPr>
              <p:nvPr/>
            </p:nvSpPr>
            <p:spPr>
              <a:xfrm>
                <a:off x="2784" y="3273"/>
                <a:ext cx="195" cy="0"/>
              </a:xfrm>
              <a:prstGeom prst="line">
                <a:avLst/>
              </a:prstGeom>
              <a:ln w="38100" cap="flat" cmpd="sng">
                <a:noFill/>
                <a:prstDash val="solid"/>
                <a:headEnd type="none" w="med" len="med"/>
                <a:tailEnd type="triangle" w="med" len="med"/>
              </a:ln>
            </p:spPr>
          </p:sp>
          <p:sp>
            <p:nvSpPr>
              <p:cNvPr id="147468" name="Line 8"/>
              <p:cNvSpPr>
                <a:spLocks noChangeAspect="1"/>
              </p:cNvSpPr>
              <p:nvPr/>
            </p:nvSpPr>
            <p:spPr>
              <a:xfrm>
                <a:off x="1392" y="3273"/>
                <a:ext cx="195" cy="0"/>
              </a:xfrm>
              <a:prstGeom prst="line">
                <a:avLst/>
              </a:prstGeom>
              <a:ln w="38100" cap="flat" cmpd="sng">
                <a:noFill/>
                <a:prstDash val="solid"/>
                <a:headEnd type="none" w="med" len="med"/>
                <a:tailEnd type="triangle" w="med" len="med"/>
              </a:ln>
            </p:spPr>
          </p:sp>
          <p:sp>
            <p:nvSpPr>
              <p:cNvPr id="147469" name="Line 9"/>
              <p:cNvSpPr>
                <a:spLocks noChangeAspect="1"/>
              </p:cNvSpPr>
              <p:nvPr/>
            </p:nvSpPr>
            <p:spPr>
              <a:xfrm>
                <a:off x="4167" y="3264"/>
                <a:ext cx="195" cy="0"/>
              </a:xfrm>
              <a:prstGeom prst="line">
                <a:avLst/>
              </a:prstGeom>
              <a:ln w="38100" cap="flat" cmpd="sng">
                <a:noFill/>
                <a:prstDash val="solid"/>
                <a:headEnd type="none" w="med" len="med"/>
                <a:tailEnd type="triangle" w="med" len="med"/>
              </a:ln>
            </p:spPr>
          </p:sp>
        </p:grpSp>
        <p:sp>
          <p:nvSpPr>
            <p:cNvPr id="147465" name="Line 10"/>
            <p:cNvSpPr>
              <a:spLocks noChangeAspect="1"/>
            </p:cNvSpPr>
            <p:nvPr/>
          </p:nvSpPr>
          <p:spPr>
            <a:xfrm>
              <a:off x="3609" y="2304"/>
              <a:ext cx="0" cy="432"/>
            </a:xfrm>
            <a:prstGeom prst="line">
              <a:avLst/>
            </a:prstGeom>
            <a:ln w="57150" cap="flat" cmpd="sng">
              <a:noFill/>
              <a:prstDash val="solid"/>
              <a:headEnd type="none" w="med" len="med"/>
              <a:tailEnd type="stealth" w="med" len="lg"/>
            </a:ln>
          </p:spPr>
        </p:sp>
      </p:grpSp>
      <p:pic>
        <p:nvPicPr>
          <p:cNvPr id="14" name="内容占位符 1" descr="新校徽（3M）弓之乐"/>
          <p:cNvPicPr>
            <a:picLocks noChangeAspect="1"/>
          </p:cNvPicPr>
          <p:nvPr/>
        </p:nvPicPr>
        <p:blipFill>
          <a:blip r:embed="rId3"/>
          <a:stretch>
            <a:fillRect/>
          </a:stretch>
        </p:blipFill>
        <p:spPr>
          <a:xfrm>
            <a:off x="-62230" y="-3709"/>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日期占位符 3"/>
          <p:cNvSpPr txBox="1">
            <a:spLocks noGrp="1"/>
          </p:cNvSpPr>
          <p:nvPr>
            <p:ph type="dt" sz="half" idx="10"/>
          </p:nvPr>
        </p:nvSpPr>
        <p:spPr>
          <a:xfrm>
            <a:off x="0" y="6438900"/>
            <a:ext cx="2233613" cy="419100"/>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48483" name="灯片编号占位符 5"/>
          <p:cNvSpPr txBox="1">
            <a:spLocks noGrp="1"/>
          </p:cNvSpPr>
          <p:nvPr>
            <p:ph type="sldNum" sz="quarter" idx="12"/>
          </p:nvPr>
        </p:nvSpPr>
        <p:spPr>
          <a:xfrm>
            <a:off x="8532495" y="6591935"/>
            <a:ext cx="628650" cy="266065"/>
          </a:xfrm>
        </p:spPr>
        <p:txBody>
          <a:bodyPr lIns="92075" tIns="46038" rIns="92075" bIns="46038" anchor="ctr"/>
          <a:lstStyle/>
          <a:p>
            <a:pPr algn="r" eaLnBrk="1" hangingPunct="1"/>
            <a:fld id="{9A0DB2DC-4C9A-4742-B13C-FB6460FD3503}" type="slidenum">
              <a:rPr lang="en-US" altLang="zh-CN" sz="1400" dirty="0"/>
              <a:t>163</a:t>
            </a:fld>
            <a:endParaRPr lang="en-US" altLang="zh-CN" sz="1400" dirty="0"/>
          </a:p>
        </p:txBody>
      </p:sp>
      <p:sp>
        <p:nvSpPr>
          <p:cNvPr id="272386" name="Rectangle 2"/>
          <p:cNvSpPr>
            <a:spLocks noGrp="1" noChangeArrowheads="1"/>
          </p:cNvSpPr>
          <p:nvPr>
            <p:ph type="title"/>
          </p:nvPr>
        </p:nvSpPr>
        <p:spPr>
          <a:xfrm>
            <a:off x="1043608" y="132967"/>
            <a:ext cx="7413005"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3</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、中心粗等轴晶区</a:t>
            </a:r>
          </a:p>
        </p:txBody>
      </p:sp>
      <p:sp>
        <p:nvSpPr>
          <p:cNvPr id="148485" name="Rectangle 3"/>
          <p:cNvSpPr>
            <a:spLocks noGrp="1"/>
          </p:cNvSpPr>
          <p:nvPr>
            <p:ph idx="1"/>
          </p:nvPr>
        </p:nvSpPr>
        <p:spPr>
          <a:xfrm>
            <a:off x="307975" y="1844824"/>
            <a:ext cx="8658225" cy="4251176"/>
          </a:xfrm>
        </p:spPr>
        <p:txBody>
          <a:bodyPr vert="horz" wrap="square" lIns="91440" tIns="45720" rIns="91440" bIns="45720" anchor="t"/>
          <a:lstStyle/>
          <a:p>
            <a:pPr eaLnBrk="1" hangingPunct="1">
              <a:lnSpc>
                <a:spcPct val="130000"/>
              </a:lnSpc>
            </a:pPr>
            <a:r>
              <a:rPr lang="zh-CN" altLang="en-US" b="1" dirty="0">
                <a:solidFill>
                  <a:schemeClr val="folHlink"/>
                </a:solidFill>
                <a:ea typeface="华文中宋" panose="02010600040101010101" pitchFamily="2" charset="-122"/>
              </a:rPr>
              <a:t>由于结晶潜热的不断放出，散热速度不断减慢，导致柱状晶生长停止，当心部液体全部冷至实际结晶温度</a:t>
            </a:r>
            <a:r>
              <a:rPr lang="en-US" altLang="zh-CN" b="1" dirty="0">
                <a:solidFill>
                  <a:schemeClr val="folHlink"/>
                </a:solidFill>
                <a:ea typeface="华文中宋" panose="02010600040101010101" pitchFamily="2" charset="-122"/>
              </a:rPr>
              <a:t>T</a:t>
            </a:r>
            <a:r>
              <a:rPr lang="en-US" altLang="zh-CN" b="1" baseline="-25000" dirty="0">
                <a:solidFill>
                  <a:schemeClr val="folHlink"/>
                </a:solidFill>
                <a:ea typeface="华文中宋" panose="02010600040101010101" pitchFamily="2" charset="-122"/>
              </a:rPr>
              <a:t>1</a:t>
            </a:r>
            <a:r>
              <a:rPr lang="zh-CN" altLang="en-US" b="1" dirty="0">
                <a:solidFill>
                  <a:schemeClr val="folHlink"/>
                </a:solidFill>
                <a:ea typeface="华文中宋" panose="02010600040101010101" pitchFamily="2" charset="-122"/>
              </a:rPr>
              <a:t>以下时，在杂质作用下</a:t>
            </a:r>
            <a:r>
              <a:rPr lang="zh-CN" altLang="en-US" b="1" dirty="0">
                <a:solidFill>
                  <a:schemeClr val="tx1"/>
                </a:solidFill>
                <a:ea typeface="华文中宋" panose="02010600040101010101" pitchFamily="2" charset="-122"/>
              </a:rPr>
              <a:t>以</a:t>
            </a:r>
            <a:r>
              <a:rPr lang="zh-CN" altLang="en-US" b="1" dirty="0">
                <a:solidFill>
                  <a:schemeClr val="folHlink"/>
                </a:solidFill>
                <a:ea typeface="华文中宋" panose="02010600040101010101" pitchFamily="2" charset="-122"/>
              </a:rPr>
              <a:t>非均匀形核方式</a:t>
            </a:r>
            <a:r>
              <a:rPr lang="zh-CN" altLang="en-US" b="1" dirty="0">
                <a:ea typeface="华文中宋" panose="02010600040101010101" pitchFamily="2" charset="-122"/>
              </a:rPr>
              <a:t>形成</a:t>
            </a:r>
            <a:r>
              <a:rPr lang="zh-CN" altLang="en-US" b="1" dirty="0">
                <a:solidFill>
                  <a:schemeClr val="folHlink"/>
                </a:solidFill>
                <a:ea typeface="华文中宋" panose="02010600040101010101" pitchFamily="2" charset="-122"/>
              </a:rPr>
              <a:t>许多尺寸较大的等轴晶粒。</a:t>
            </a:r>
            <a:endParaRPr lang="en-US" altLang="zh-CN" b="1" dirty="0">
              <a:solidFill>
                <a:schemeClr val="folHlink"/>
              </a:solidFill>
              <a:ea typeface="华文中宋" panose="02010600040101010101" pitchFamily="2" charset="-122"/>
            </a:endParaRPr>
          </a:p>
        </p:txBody>
      </p:sp>
      <p:grpSp>
        <p:nvGrpSpPr>
          <p:cNvPr id="2" name="Group 4"/>
          <p:cNvGrpSpPr>
            <a:grpSpLocks noChangeAspect="1"/>
          </p:cNvGrpSpPr>
          <p:nvPr/>
        </p:nvGrpSpPr>
        <p:grpSpPr>
          <a:xfrm>
            <a:off x="1800225" y="4418330"/>
            <a:ext cx="7251065" cy="2100580"/>
            <a:chOff x="63" y="2448"/>
            <a:chExt cx="5649" cy="1637"/>
          </a:xfrm>
        </p:grpSpPr>
        <p:pic>
          <p:nvPicPr>
            <p:cNvPr id="148488" name="Picture 5" descr="铸锭组织"/>
            <p:cNvPicPr>
              <a:picLocks noChangeAspect="1"/>
            </p:cNvPicPr>
            <p:nvPr/>
          </p:nvPicPr>
          <p:blipFill>
            <a:blip r:embed="rId2"/>
            <a:stretch>
              <a:fillRect/>
            </a:stretch>
          </p:blipFill>
          <p:spPr>
            <a:xfrm>
              <a:off x="63" y="2496"/>
              <a:ext cx="5649" cy="1589"/>
            </a:xfrm>
            <a:prstGeom prst="rect">
              <a:avLst/>
            </a:prstGeom>
            <a:noFill/>
            <a:ln w="57150" cap="flat" cmpd="sng">
              <a:noFill/>
              <a:prstDash val="solid"/>
              <a:miter/>
              <a:headEnd type="none" w="med" len="med"/>
              <a:tailEnd type="none" w="med" len="med"/>
            </a:ln>
          </p:spPr>
        </p:pic>
        <p:sp>
          <p:nvSpPr>
            <p:cNvPr id="148489" name="Line 6"/>
            <p:cNvSpPr>
              <a:spLocks noChangeAspect="1"/>
            </p:cNvSpPr>
            <p:nvPr/>
          </p:nvSpPr>
          <p:spPr>
            <a:xfrm>
              <a:off x="4944" y="2448"/>
              <a:ext cx="0" cy="720"/>
            </a:xfrm>
            <a:prstGeom prst="line">
              <a:avLst/>
            </a:prstGeom>
            <a:ln w="57150" cap="flat" cmpd="sng">
              <a:solidFill>
                <a:srgbClr val="0099FF"/>
              </a:solidFill>
              <a:prstDash val="solid"/>
              <a:headEnd type="none" w="med" len="med"/>
              <a:tailEnd type="stealth" w="med" len="lg"/>
            </a:ln>
          </p:spPr>
        </p:sp>
        <p:sp>
          <p:nvSpPr>
            <p:cNvPr id="148490" name="Line 7"/>
            <p:cNvSpPr>
              <a:spLocks noChangeAspect="1"/>
            </p:cNvSpPr>
            <p:nvPr/>
          </p:nvSpPr>
          <p:spPr>
            <a:xfrm>
              <a:off x="1392" y="3312"/>
              <a:ext cx="192" cy="0"/>
            </a:xfrm>
            <a:prstGeom prst="line">
              <a:avLst/>
            </a:prstGeom>
            <a:ln w="57150" cap="flat" cmpd="sng">
              <a:solidFill>
                <a:schemeClr val="bg2"/>
              </a:solidFill>
              <a:prstDash val="solid"/>
              <a:headEnd type="none" w="med" len="med"/>
              <a:tailEnd type="triangle" w="med" len="med"/>
            </a:ln>
          </p:spPr>
        </p:sp>
        <p:sp>
          <p:nvSpPr>
            <p:cNvPr id="148491" name="Line 8"/>
            <p:cNvSpPr>
              <a:spLocks noChangeAspect="1"/>
            </p:cNvSpPr>
            <p:nvPr/>
          </p:nvSpPr>
          <p:spPr>
            <a:xfrm>
              <a:off x="2784" y="3312"/>
              <a:ext cx="192" cy="0"/>
            </a:xfrm>
            <a:prstGeom prst="line">
              <a:avLst/>
            </a:prstGeom>
            <a:ln w="57150" cap="flat" cmpd="sng">
              <a:solidFill>
                <a:schemeClr val="bg2"/>
              </a:solidFill>
              <a:prstDash val="solid"/>
              <a:headEnd type="none" w="med" len="med"/>
              <a:tailEnd type="triangle" w="med" len="med"/>
            </a:ln>
          </p:spPr>
        </p:sp>
        <p:sp>
          <p:nvSpPr>
            <p:cNvPr id="148492" name="Line 9"/>
            <p:cNvSpPr>
              <a:spLocks noChangeAspect="1"/>
            </p:cNvSpPr>
            <p:nvPr/>
          </p:nvSpPr>
          <p:spPr>
            <a:xfrm>
              <a:off x="4176" y="3312"/>
              <a:ext cx="192" cy="0"/>
            </a:xfrm>
            <a:prstGeom prst="line">
              <a:avLst/>
            </a:prstGeom>
            <a:ln w="57150" cap="flat" cmpd="sng">
              <a:solidFill>
                <a:schemeClr val="bg2"/>
              </a:solidFill>
              <a:prstDash val="solid"/>
              <a:headEnd type="none" w="med" len="med"/>
              <a:tailEnd type="triangle" w="med" len="med"/>
            </a:ln>
          </p:spPr>
        </p:sp>
      </p:grpSp>
      <p:pic>
        <p:nvPicPr>
          <p:cNvPr id="13" name="内容占位符 1" descr="新校徽（3M）弓之乐"/>
          <p:cNvPicPr>
            <a:picLocks noChangeAspect="1"/>
          </p:cNvPicPr>
          <p:nvPr/>
        </p:nvPicPr>
        <p:blipFill>
          <a:blip r:embed="rId3"/>
          <a:stretch>
            <a:fillRect/>
          </a:stretch>
        </p:blipFill>
        <p:spPr>
          <a:xfrm>
            <a:off x="-62230" y="-3709"/>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日期占位符 3"/>
          <p:cNvSpPr txBox="1">
            <a:spLocks noGrp="1"/>
          </p:cNvSpPr>
          <p:nvPr>
            <p:ph type="dt" sz="half" idx="10"/>
          </p:nvPr>
        </p:nvSpPr>
        <p:spPr>
          <a:xfrm>
            <a:off x="0" y="6510338"/>
            <a:ext cx="2090738"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49507" name="灯片编号占位符 5"/>
          <p:cNvSpPr txBox="1">
            <a:spLocks noGrp="1"/>
          </p:cNvSpPr>
          <p:nvPr>
            <p:ph type="sldNum" sz="quarter" idx="12"/>
          </p:nvPr>
        </p:nvSpPr>
        <p:spPr>
          <a:xfrm>
            <a:off x="8569960" y="6519545"/>
            <a:ext cx="574040" cy="338455"/>
          </a:xfrm>
        </p:spPr>
        <p:txBody>
          <a:bodyPr lIns="92075" tIns="46038" rIns="92075" bIns="46038" anchor="ctr"/>
          <a:lstStyle/>
          <a:p>
            <a:pPr algn="r" eaLnBrk="1" hangingPunct="1"/>
            <a:fld id="{9A0DB2DC-4C9A-4742-B13C-FB6460FD3503}" type="slidenum">
              <a:rPr lang="en-US" altLang="zh-CN" sz="1400" dirty="0"/>
              <a:t>164</a:t>
            </a:fld>
            <a:endParaRPr lang="en-US" altLang="zh-CN" sz="1400" dirty="0"/>
          </a:p>
        </p:txBody>
      </p:sp>
      <p:sp>
        <p:nvSpPr>
          <p:cNvPr id="273410" name="Rectangle 2"/>
          <p:cNvSpPr>
            <a:spLocks noGrp="1" noChangeArrowheads="1"/>
          </p:cNvSpPr>
          <p:nvPr>
            <p:ph type="title"/>
          </p:nvPr>
        </p:nvSpPr>
        <p:spPr>
          <a:xfrm>
            <a:off x="2000250" y="0"/>
            <a:ext cx="6099175"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二、铸造缺陷</a:t>
            </a:r>
            <a:endParaRPr kumimoji="1" lang="zh-CN" altLang="en-US" sz="4000" b="1" i="0" u="none" strike="noStrike" kern="0" cap="none" spc="0" normalizeH="0" baseline="0" noProof="0" dirty="0">
              <a:ln>
                <a:noFill/>
              </a:ln>
              <a:solidFill>
                <a:srgbClr val="FF0000"/>
              </a:solidFill>
              <a:uLnTx/>
              <a:uFillTx/>
              <a:latin typeface="+mj-lt"/>
              <a:cs typeface="+mj-cs"/>
            </a:endParaRPr>
          </a:p>
        </p:txBody>
      </p:sp>
      <p:sp>
        <p:nvSpPr>
          <p:cNvPr id="149509" name="Rectangle 3"/>
          <p:cNvSpPr>
            <a:spLocks noGrp="1"/>
          </p:cNvSpPr>
          <p:nvPr>
            <p:ph idx="1"/>
          </p:nvPr>
        </p:nvSpPr>
        <p:spPr>
          <a:xfrm>
            <a:off x="468630" y="1844823"/>
            <a:ext cx="6804025" cy="4608513"/>
          </a:xfrm>
        </p:spPr>
        <p:txBody>
          <a:bodyPr vert="horz" wrap="square" lIns="91440" tIns="45720" rIns="91440" bIns="45720" anchor="t"/>
          <a:lstStyle/>
          <a:p>
            <a:pPr eaLnBrk="1" hangingPunct="1">
              <a:lnSpc>
                <a:spcPct val="140000"/>
              </a:lnSpc>
            </a:pPr>
            <a:r>
              <a:rPr lang="zh-CN" altLang="en-US" b="1" dirty="0"/>
              <a:t>铸造缺陷的类型较多，</a:t>
            </a:r>
            <a:br>
              <a:rPr lang="zh-CN" altLang="en-US" b="1" dirty="0"/>
            </a:br>
            <a:endParaRPr lang="zh-CN" altLang="en-US" b="1" dirty="0"/>
          </a:p>
          <a:p>
            <a:pPr eaLnBrk="1" hangingPunct="1">
              <a:lnSpc>
                <a:spcPct val="140000"/>
              </a:lnSpc>
            </a:pPr>
            <a:r>
              <a:rPr lang="zh-CN" altLang="en-US" b="1" dirty="0"/>
              <a:t>常见</a:t>
            </a:r>
            <a:r>
              <a:rPr lang="zh-CN" altLang="en-US" b="1" dirty="0">
                <a:sym typeface="+mn-ea"/>
              </a:rPr>
              <a:t>缺陷：</a:t>
            </a:r>
            <a:r>
              <a:rPr lang="zh-CN" altLang="en-US" b="1" dirty="0">
                <a:solidFill>
                  <a:schemeClr val="folHlink"/>
                </a:solidFill>
                <a:ea typeface="华文中宋" panose="02010600040101010101" pitchFamily="2" charset="-122"/>
              </a:rPr>
              <a:t>缩孔、气孔、疏松、偏析、夹渣、白点</a:t>
            </a:r>
            <a:r>
              <a:rPr lang="zh-CN" altLang="en-US" b="1" dirty="0"/>
              <a:t>等，</a:t>
            </a:r>
          </a:p>
          <a:p>
            <a:pPr eaLnBrk="1" hangingPunct="1">
              <a:lnSpc>
                <a:spcPct val="140000"/>
              </a:lnSpc>
            </a:pPr>
            <a:endParaRPr lang="zh-CN" altLang="en-US" b="1" dirty="0"/>
          </a:p>
          <a:p>
            <a:pPr eaLnBrk="1" hangingPunct="1">
              <a:lnSpc>
                <a:spcPct val="140000"/>
              </a:lnSpc>
            </a:pPr>
            <a:r>
              <a:rPr lang="zh-CN" altLang="en-US" b="1" dirty="0">
                <a:sym typeface="+mn-ea"/>
              </a:rPr>
              <a:t>铸造缺陷</a:t>
            </a:r>
            <a:r>
              <a:rPr lang="zh-CN" altLang="en-US" b="1" dirty="0"/>
              <a:t>对铸件性能是有害的。</a:t>
            </a:r>
            <a:endParaRPr lang="en-US" altLang="zh-CN" b="1" dirty="0">
              <a:ea typeface="华文中宋" panose="02010600040101010101" pitchFamily="2" charset="-122"/>
            </a:endParaRPr>
          </a:p>
          <a:p>
            <a:pPr eaLnBrk="1" hangingPunct="1">
              <a:lnSpc>
                <a:spcPct val="140000"/>
              </a:lnSpc>
            </a:pPr>
            <a:endParaRPr lang="en-US" altLang="zh-CN" b="1" dirty="0">
              <a:ea typeface="华文中宋" panose="02010600040101010101" pitchFamily="2" charset="-122"/>
            </a:endParaRPr>
          </a:p>
        </p:txBody>
      </p:sp>
      <p:pic>
        <p:nvPicPr>
          <p:cNvPr id="149510" name="Picture 4" descr="铸锭宏观组织"/>
          <p:cNvPicPr>
            <a:picLocks noChangeAspect="1"/>
          </p:cNvPicPr>
          <p:nvPr/>
        </p:nvPicPr>
        <p:blipFill>
          <a:blip r:embed="rId2"/>
          <a:stretch>
            <a:fillRect/>
          </a:stretch>
        </p:blipFill>
        <p:spPr>
          <a:xfrm>
            <a:off x="7481888" y="2133600"/>
            <a:ext cx="1662112" cy="3238500"/>
          </a:xfrm>
          <a:prstGeom prst="rect">
            <a:avLst/>
          </a:prstGeom>
          <a:noFill/>
          <a:ln w="38100" cap="flat" cmpd="sng">
            <a:noFill/>
            <a:prstDash val="solid"/>
            <a:miter/>
            <a:headEnd type="none" w="med" len="med"/>
            <a:tailEnd type="none" w="med" len="med"/>
          </a:ln>
        </p:spPr>
      </p:pic>
      <p:pic>
        <p:nvPicPr>
          <p:cNvPr id="8" name="内容占位符 1" descr="新校徽（3M）弓之乐"/>
          <p:cNvPicPr>
            <a:picLocks noChangeAspect="1"/>
          </p:cNvPicPr>
          <p:nvPr/>
        </p:nvPicPr>
        <p:blipFill>
          <a:blip r:embed="rId3"/>
          <a:stretch>
            <a:fillRect/>
          </a:stretch>
        </p:blipFill>
        <p:spPr>
          <a:xfrm>
            <a:off x="-62230" y="-3709"/>
            <a:ext cx="746760" cy="735965"/>
          </a:xfrm>
          <a:prstGeom prst="rect">
            <a:avLst/>
          </a:prstGeom>
          <a:noFill/>
          <a:ln w="9525">
            <a:noFill/>
          </a:ln>
        </p:spPr>
      </p:pic>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日期占位符 3"/>
          <p:cNvSpPr txBox="1">
            <a:spLocks noGrp="1"/>
          </p:cNvSpPr>
          <p:nvPr>
            <p:ph type="dt" sz="half" idx="10"/>
          </p:nvPr>
        </p:nvSpPr>
        <p:spPr>
          <a:xfrm>
            <a:off x="0" y="6510338"/>
            <a:ext cx="2233613"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50531" name="灯片编号占位符 5"/>
          <p:cNvSpPr txBox="1">
            <a:spLocks noGrp="1"/>
          </p:cNvSpPr>
          <p:nvPr>
            <p:ph type="sldNum" sz="quarter" idx="12"/>
          </p:nvPr>
        </p:nvSpPr>
        <p:spPr>
          <a:xfrm>
            <a:off x="8573135" y="6510655"/>
            <a:ext cx="542290" cy="347345"/>
          </a:xfrm>
        </p:spPr>
        <p:txBody>
          <a:bodyPr lIns="92075" tIns="46038" rIns="92075" bIns="46038" anchor="ctr"/>
          <a:lstStyle/>
          <a:p>
            <a:pPr algn="r" eaLnBrk="1" hangingPunct="1"/>
            <a:fld id="{9A0DB2DC-4C9A-4742-B13C-FB6460FD3503}" type="slidenum">
              <a:rPr lang="en-US" altLang="zh-CN" sz="1400" dirty="0"/>
              <a:t>165</a:t>
            </a:fld>
            <a:endParaRPr lang="en-US" altLang="zh-CN" sz="1400" dirty="0"/>
          </a:p>
        </p:txBody>
      </p:sp>
      <p:sp>
        <p:nvSpPr>
          <p:cNvPr id="274434" name="Rectangle 2"/>
          <p:cNvSpPr>
            <a:spLocks noGrp="1" noChangeArrowheads="1"/>
          </p:cNvSpPr>
          <p:nvPr>
            <p:ph type="title"/>
          </p:nvPr>
        </p:nvSpPr>
        <p:spPr>
          <a:xfrm>
            <a:off x="1071880" y="263344"/>
            <a:ext cx="7772400"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铸造缺陷</a:t>
            </a:r>
            <a:r>
              <a:rPr kumimoji="1" lang="en-US" altLang="zh-CN" sz="4400" b="1" i="0" u="none" strike="noStrike" kern="0" cap="none" spc="0" normalizeH="0" baseline="0" noProof="0" dirty="0">
                <a:ln>
                  <a:noFill/>
                </a:ln>
                <a:solidFill>
                  <a:srgbClr val="FF0000"/>
                </a:solidFill>
                <a:uLnTx/>
                <a:uFillTx/>
                <a:latin typeface="Times New Roman" panose="02020603050405020304"/>
                <a:ea typeface="华文中宋" panose="02010600040101010101" pitchFamily="2" charset="-122"/>
                <a:cs typeface="+mj-cs"/>
              </a:rPr>
              <a:t>——</a:t>
            </a: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1</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、缩孔、缩松</a:t>
            </a:r>
          </a:p>
        </p:txBody>
      </p:sp>
      <p:sp>
        <p:nvSpPr>
          <p:cNvPr id="150533" name="Rectangle 3"/>
          <p:cNvSpPr>
            <a:spLocks noGrp="1"/>
          </p:cNvSpPr>
          <p:nvPr>
            <p:ph idx="1"/>
          </p:nvPr>
        </p:nvSpPr>
        <p:spPr>
          <a:xfrm>
            <a:off x="335102" y="1844824"/>
            <a:ext cx="6049963" cy="4442247"/>
          </a:xfrm>
        </p:spPr>
        <p:txBody>
          <a:bodyPr vert="horz" wrap="square" lIns="91440" tIns="45720" rIns="91440" bIns="45720" anchor="t"/>
          <a:lstStyle/>
          <a:p>
            <a:pPr eaLnBrk="1" hangingPunct="1">
              <a:lnSpc>
                <a:spcPct val="110000"/>
              </a:lnSpc>
            </a:pPr>
            <a:r>
              <a:rPr lang="zh-CN" altLang="en-US" sz="2800" b="1" dirty="0">
                <a:solidFill>
                  <a:schemeClr val="folHlink"/>
                </a:solidFill>
                <a:ea typeface="华文中宋" panose="02010600040101010101" pitchFamily="2" charset="-122"/>
              </a:rPr>
              <a:t>缩孔：</a:t>
            </a:r>
            <a:r>
              <a:rPr lang="zh-CN" altLang="en-US" sz="2800" b="1" dirty="0">
                <a:ea typeface="华文中宋" panose="02010600040101010101" pitchFamily="2" charset="-122"/>
              </a:rPr>
              <a:t>由于液态金属结晶时体积收缩且补缩不足而造成的</a:t>
            </a:r>
            <a:r>
              <a:rPr lang="zh-CN" altLang="en-US" sz="2800" b="1" dirty="0">
                <a:solidFill>
                  <a:schemeClr val="folHlink"/>
                </a:solidFill>
                <a:ea typeface="华文中宋" panose="02010600040101010101" pitchFamily="2" charset="-122"/>
              </a:rPr>
              <a:t>集中孔洞</a:t>
            </a:r>
            <a:endParaRPr lang="en-US" altLang="zh-CN" sz="2800" b="1" dirty="0">
              <a:solidFill>
                <a:schemeClr val="folHlink"/>
              </a:solidFill>
              <a:ea typeface="华文中宋" panose="02010600040101010101" pitchFamily="2" charset="-122"/>
            </a:endParaRPr>
          </a:p>
          <a:p>
            <a:pPr eaLnBrk="1" hangingPunct="1">
              <a:lnSpc>
                <a:spcPct val="110000"/>
              </a:lnSpc>
            </a:pPr>
            <a:r>
              <a:rPr lang="zh-CN" altLang="en-US" sz="2800" b="1" dirty="0">
                <a:solidFill>
                  <a:schemeClr val="folHlink"/>
                </a:solidFill>
                <a:ea typeface="华文中宋" panose="02010600040101010101" pitchFamily="2" charset="-122"/>
              </a:rPr>
              <a:t>缩松</a:t>
            </a:r>
            <a:r>
              <a:rPr lang="zh-CN" altLang="en-US" sz="2800" b="1" dirty="0">
                <a:ea typeface="华文中宋" panose="02010600040101010101" pitchFamily="2" charset="-122"/>
              </a:rPr>
              <a:t>：铸件中的</a:t>
            </a:r>
            <a:r>
              <a:rPr lang="zh-CN" altLang="en-US" sz="2800" b="1" dirty="0">
                <a:solidFill>
                  <a:schemeClr val="folHlink"/>
                </a:solidFill>
                <a:ea typeface="华文中宋" panose="02010600040101010101" pitchFamily="2" charset="-122"/>
              </a:rPr>
              <a:t>多孔疏松</a:t>
            </a:r>
            <a:r>
              <a:rPr lang="zh-CN" altLang="en-US" sz="2800" b="1" dirty="0">
                <a:ea typeface="华文中宋" panose="02010600040101010101" pitchFamily="2" charset="-122"/>
              </a:rPr>
              <a:t>部分，或密集的小气孔群。</a:t>
            </a:r>
          </a:p>
          <a:p>
            <a:pPr eaLnBrk="1" hangingPunct="1">
              <a:lnSpc>
                <a:spcPct val="110000"/>
              </a:lnSpc>
            </a:pPr>
            <a:r>
              <a:rPr lang="zh-CN" altLang="en-US" sz="2800" b="1" dirty="0">
                <a:solidFill>
                  <a:schemeClr val="folHlink"/>
                </a:solidFill>
                <a:ea typeface="华文中宋" panose="02010600040101010101" pitchFamily="2" charset="-122"/>
              </a:rPr>
              <a:t>原因：</a:t>
            </a:r>
            <a:r>
              <a:rPr lang="zh-CN" altLang="en-US" sz="2800" b="1" dirty="0">
                <a:ea typeface="华文中宋" panose="02010600040101010101" pitchFamily="2" charset="-122"/>
              </a:rPr>
              <a:t>液态金属结晶体积收缩且补缩不足。</a:t>
            </a:r>
          </a:p>
          <a:p>
            <a:pPr eaLnBrk="1" hangingPunct="1">
              <a:lnSpc>
                <a:spcPct val="110000"/>
              </a:lnSpc>
            </a:pPr>
            <a:r>
              <a:rPr lang="zh-CN" altLang="en-US" sz="2800" b="1" dirty="0">
                <a:solidFill>
                  <a:schemeClr val="folHlink"/>
                </a:solidFill>
                <a:ea typeface="华文中宋" panose="02010600040101010101" pitchFamily="2" charset="-122"/>
              </a:rPr>
              <a:t>措施</a:t>
            </a:r>
            <a:r>
              <a:rPr lang="zh-CN" altLang="en-US" sz="2800" b="1" dirty="0">
                <a:ea typeface="华文中宋" panose="02010600040101010101" pitchFamily="2" charset="-122"/>
              </a:rPr>
              <a:t>：可通过改变结晶的冷却条件和加冒口等控制。</a:t>
            </a:r>
          </a:p>
          <a:p>
            <a:pPr eaLnBrk="1" hangingPunct="1">
              <a:lnSpc>
                <a:spcPct val="110000"/>
              </a:lnSpc>
            </a:pPr>
            <a:r>
              <a:rPr lang="zh-CN" altLang="en-US" sz="2800" b="1" dirty="0">
                <a:solidFill>
                  <a:schemeClr val="folHlink"/>
                </a:solidFill>
                <a:ea typeface="华文中宋" panose="02010600040101010101" pitchFamily="2" charset="-122"/>
              </a:rPr>
              <a:t>钢锭出现缩孔在锻轧前应切除</a:t>
            </a:r>
            <a:r>
              <a:rPr lang="en-US" altLang="zh-CN" sz="2800" b="1" dirty="0">
                <a:solidFill>
                  <a:schemeClr val="folHlink"/>
                </a:solidFill>
                <a:ea typeface="华文中宋" panose="02010600040101010101" pitchFamily="2" charset="-122"/>
              </a:rPr>
              <a:t>.</a:t>
            </a:r>
          </a:p>
        </p:txBody>
      </p:sp>
      <p:pic>
        <p:nvPicPr>
          <p:cNvPr id="150535" name="Picture 8" descr="DSCN2481"/>
          <p:cNvPicPr>
            <a:picLocks noChangeAspect="1"/>
          </p:cNvPicPr>
          <p:nvPr/>
        </p:nvPicPr>
        <p:blipFill>
          <a:blip r:embed="rId2"/>
          <a:stretch>
            <a:fillRect/>
          </a:stretch>
        </p:blipFill>
        <p:spPr>
          <a:xfrm>
            <a:off x="6433692" y="4706618"/>
            <a:ext cx="2542005" cy="1461823"/>
          </a:xfrm>
          <a:prstGeom prst="rect">
            <a:avLst/>
          </a:prstGeom>
          <a:noFill/>
          <a:ln w="9525">
            <a:noFill/>
          </a:ln>
        </p:spPr>
      </p:pic>
      <p:pic>
        <p:nvPicPr>
          <p:cNvPr id="8" name="内容占位符 1" descr="新校徽（3M）弓之乐"/>
          <p:cNvPicPr>
            <a:picLocks noChangeAspect="1"/>
          </p:cNvPicPr>
          <p:nvPr/>
        </p:nvPicPr>
        <p:blipFill>
          <a:blip r:embed="rId3"/>
          <a:stretch>
            <a:fillRect/>
          </a:stretch>
        </p:blipFill>
        <p:spPr>
          <a:xfrm>
            <a:off x="-62230" y="-3709"/>
            <a:ext cx="746760" cy="735965"/>
          </a:xfrm>
          <a:prstGeom prst="rect">
            <a:avLst/>
          </a:prstGeom>
          <a:noFill/>
          <a:ln w="9525">
            <a:noFill/>
          </a:ln>
        </p:spPr>
      </p:pic>
      <p:pic>
        <p:nvPicPr>
          <p:cNvPr id="2" name="Picture 6" descr="DSC_0002"/>
          <p:cNvPicPr>
            <a:picLocks noChangeAspect="1"/>
          </p:cNvPicPr>
          <p:nvPr/>
        </p:nvPicPr>
        <p:blipFill>
          <a:blip r:embed="rId4"/>
          <a:srcRect l="40240" t="35643" r="29364" b="32404"/>
          <a:stretch>
            <a:fillRect/>
          </a:stretch>
        </p:blipFill>
        <p:spPr>
          <a:xfrm>
            <a:off x="6516216" y="2589861"/>
            <a:ext cx="2376959" cy="1678277"/>
          </a:xfrm>
          <a:prstGeom prst="rect">
            <a:avLst/>
          </a:prstGeom>
          <a:noFill/>
          <a:ln w="9525">
            <a:noFill/>
          </a:ln>
        </p:spPr>
      </p:pic>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日期占位符 3"/>
          <p:cNvSpPr txBox="1">
            <a:spLocks noGrp="1"/>
          </p:cNvSpPr>
          <p:nvPr>
            <p:ph type="dt" sz="half" idx="10"/>
          </p:nvPr>
        </p:nvSpPr>
        <p:spPr>
          <a:xfrm>
            <a:off x="0" y="6510338"/>
            <a:ext cx="2090738" cy="347662"/>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51555" name="灯片编号占位符 5"/>
          <p:cNvSpPr txBox="1">
            <a:spLocks noGrp="1"/>
          </p:cNvSpPr>
          <p:nvPr>
            <p:ph type="sldNum" sz="quarter" idx="12"/>
          </p:nvPr>
        </p:nvSpPr>
        <p:spPr>
          <a:xfrm>
            <a:off x="8421370" y="6581775"/>
            <a:ext cx="694055" cy="276225"/>
          </a:xfrm>
        </p:spPr>
        <p:txBody>
          <a:bodyPr lIns="92075" tIns="46038" rIns="92075" bIns="46038" anchor="ctr"/>
          <a:lstStyle/>
          <a:p>
            <a:pPr algn="r" eaLnBrk="1" hangingPunct="1"/>
            <a:fld id="{9A0DB2DC-4C9A-4742-B13C-FB6460FD3503}" type="slidenum">
              <a:rPr lang="en-US" altLang="zh-CN" sz="1400" dirty="0"/>
              <a:t>166</a:t>
            </a:fld>
            <a:endParaRPr lang="en-US" altLang="zh-CN" sz="1400" dirty="0"/>
          </a:p>
        </p:txBody>
      </p:sp>
      <p:sp>
        <p:nvSpPr>
          <p:cNvPr id="301058" name="Rectangle 2"/>
          <p:cNvSpPr>
            <a:spLocks noGrp="1" noChangeArrowheads="1"/>
          </p:cNvSpPr>
          <p:nvPr>
            <p:ph type="title"/>
          </p:nvPr>
        </p:nvSpPr>
        <p:spPr>
          <a:xfrm>
            <a:off x="2205434" y="215836"/>
            <a:ext cx="4733131" cy="928688"/>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2</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、偏析</a:t>
            </a:r>
          </a:p>
        </p:txBody>
      </p:sp>
      <p:sp>
        <p:nvSpPr>
          <p:cNvPr id="151557" name="Rectangle 3"/>
          <p:cNvSpPr>
            <a:spLocks noGrp="1"/>
          </p:cNvSpPr>
          <p:nvPr>
            <p:ph idx="1"/>
          </p:nvPr>
        </p:nvSpPr>
        <p:spPr>
          <a:xfrm>
            <a:off x="179512" y="1988840"/>
            <a:ext cx="6049963" cy="4246334"/>
          </a:xfrm>
        </p:spPr>
        <p:txBody>
          <a:bodyPr vert="horz" wrap="square" lIns="91440" tIns="45720" rIns="91440" bIns="45720" anchor="t"/>
          <a:lstStyle/>
          <a:p>
            <a:pPr eaLnBrk="1" hangingPunct="1">
              <a:lnSpc>
                <a:spcPct val="120000"/>
              </a:lnSpc>
            </a:pPr>
            <a:r>
              <a:rPr lang="zh-CN" altLang="en-US" sz="2800" b="1" dirty="0">
                <a:solidFill>
                  <a:schemeClr val="folHlink"/>
                </a:solidFill>
                <a:ea typeface="华文中宋" panose="02010600040101010101" pitchFamily="2" charset="-122"/>
              </a:rPr>
              <a:t>定义：合金中各部分化学成分不均匀的现象</a:t>
            </a:r>
            <a:r>
              <a:rPr lang="zh-CN" altLang="en-US" sz="2800" b="1" dirty="0">
                <a:ea typeface="华文中宋" panose="02010600040101010101" pitchFamily="2" charset="-122"/>
              </a:rPr>
              <a:t>称为</a:t>
            </a:r>
            <a:r>
              <a:rPr lang="zh-CN" altLang="en-US" sz="2800" b="1" dirty="0">
                <a:solidFill>
                  <a:srgbClr val="0000FF"/>
                </a:solidFill>
                <a:ea typeface="华文中宋" panose="02010600040101010101" pitchFamily="2" charset="-122"/>
              </a:rPr>
              <a:t>偏析</a:t>
            </a:r>
            <a:r>
              <a:rPr lang="zh-CN" altLang="en-US" sz="2800" b="1" dirty="0">
                <a:ea typeface="华文中宋" panose="02010600040101010101" pitchFamily="2" charset="-122"/>
              </a:rPr>
              <a:t>。</a:t>
            </a:r>
          </a:p>
          <a:p>
            <a:pPr eaLnBrk="1" hangingPunct="1">
              <a:lnSpc>
                <a:spcPct val="120000"/>
              </a:lnSpc>
            </a:pPr>
            <a:r>
              <a:rPr lang="zh-CN" altLang="en-US" sz="2800" b="1" dirty="0">
                <a:solidFill>
                  <a:schemeClr val="folHlink"/>
                </a:solidFill>
                <a:ea typeface="华文中宋" panose="02010600040101010101" pitchFamily="2" charset="-122"/>
              </a:rPr>
              <a:t>原因：</a:t>
            </a:r>
            <a:r>
              <a:rPr lang="zh-CN" altLang="en-US" sz="2800" b="1" dirty="0">
                <a:ea typeface="华文中宋" panose="02010600040101010101" pitchFamily="2" charset="-122"/>
              </a:rPr>
              <a:t>铸锭</a:t>
            </a:r>
            <a:r>
              <a:rPr lang="en-US" altLang="zh-CN" sz="2800" b="1" dirty="0">
                <a:ea typeface="华文中宋" panose="02010600040101010101" pitchFamily="2" charset="-122"/>
              </a:rPr>
              <a:t>(</a:t>
            </a:r>
            <a:r>
              <a:rPr lang="zh-CN" altLang="en-US" sz="2800" b="1" dirty="0">
                <a:ea typeface="华文中宋" panose="02010600040101010101" pitchFamily="2" charset="-122"/>
              </a:rPr>
              <a:t>件</a:t>
            </a:r>
            <a:r>
              <a:rPr lang="en-US" altLang="zh-CN" sz="2800" b="1" dirty="0">
                <a:ea typeface="华文中宋" panose="02010600040101010101" pitchFamily="2" charset="-122"/>
              </a:rPr>
              <a:t>)</a:t>
            </a:r>
            <a:r>
              <a:rPr lang="zh-CN" altLang="en-US" sz="2800" b="1" dirty="0">
                <a:ea typeface="华文中宋" panose="02010600040101010101" pitchFamily="2" charset="-122"/>
              </a:rPr>
              <a:t>在结晶时</a:t>
            </a:r>
            <a:r>
              <a:rPr lang="en-US" altLang="zh-CN" sz="2800" b="1" dirty="0">
                <a:ea typeface="华文中宋" panose="02010600040101010101" pitchFamily="2" charset="-122"/>
              </a:rPr>
              <a:t>,</a:t>
            </a:r>
            <a:r>
              <a:rPr lang="zh-CN" altLang="en-US" sz="2800" b="1" dirty="0">
                <a:ea typeface="华文中宋" panose="02010600040101010101" pitchFamily="2" charset="-122"/>
              </a:rPr>
              <a:t>由于各部位结晶先后顺序不同，合金中的低熔点元素偏聚于最终结晶区，造成</a:t>
            </a:r>
            <a:r>
              <a:rPr lang="zh-CN" altLang="en-US" sz="2800" b="1" dirty="0">
                <a:solidFill>
                  <a:schemeClr val="folHlink"/>
                </a:solidFill>
                <a:ea typeface="华文中宋" panose="02010600040101010101" pitchFamily="2" charset="-122"/>
              </a:rPr>
              <a:t>宏观上的成分不均匀，</a:t>
            </a:r>
            <a:r>
              <a:rPr lang="zh-CN" altLang="en-US" sz="2800" b="1" dirty="0">
                <a:ea typeface="华文中宋" panose="02010600040101010101" pitchFamily="2" charset="-122"/>
              </a:rPr>
              <a:t>称</a:t>
            </a:r>
            <a:r>
              <a:rPr lang="zh-CN" altLang="en-US" sz="2800" b="1" dirty="0">
                <a:solidFill>
                  <a:srgbClr val="0000FF"/>
                </a:solidFill>
                <a:ea typeface="华文中宋" panose="02010600040101010101" pitchFamily="2" charset="-122"/>
              </a:rPr>
              <a:t>宏观偏析</a:t>
            </a:r>
            <a:r>
              <a:rPr lang="zh-CN" altLang="en-US" sz="2800" b="1" dirty="0">
                <a:ea typeface="华文中宋" panose="02010600040101010101" pitchFamily="2" charset="-122"/>
              </a:rPr>
              <a:t>。</a:t>
            </a:r>
          </a:p>
          <a:p>
            <a:pPr eaLnBrk="1" hangingPunct="1">
              <a:lnSpc>
                <a:spcPct val="120000"/>
              </a:lnSpc>
            </a:pPr>
            <a:r>
              <a:rPr lang="zh-CN" altLang="en-US" sz="2800" b="1" dirty="0">
                <a:solidFill>
                  <a:schemeClr val="folHlink"/>
                </a:solidFill>
                <a:ea typeface="华文中宋" panose="02010600040101010101" pitchFamily="2" charset="-122"/>
              </a:rPr>
              <a:t>措施</a:t>
            </a:r>
            <a:r>
              <a:rPr lang="zh-CN" altLang="en-US" sz="2800" b="1" dirty="0">
                <a:ea typeface="华文中宋" panose="02010600040101010101" pitchFamily="2" charset="-122"/>
              </a:rPr>
              <a:t>：适当控制浇注温度和结晶速度可减轻宏观偏析。</a:t>
            </a:r>
          </a:p>
        </p:txBody>
      </p:sp>
      <p:grpSp>
        <p:nvGrpSpPr>
          <p:cNvPr id="2" name="Group 4"/>
          <p:cNvGrpSpPr/>
          <p:nvPr/>
        </p:nvGrpSpPr>
        <p:grpSpPr>
          <a:xfrm>
            <a:off x="6300789" y="1772816"/>
            <a:ext cx="2663700" cy="4663512"/>
            <a:chOff x="3120" y="480"/>
            <a:chExt cx="2352" cy="3463"/>
          </a:xfrm>
        </p:grpSpPr>
        <p:pic>
          <p:nvPicPr>
            <p:cNvPr id="151560" name="Picture 5" descr="硫在钢锭中偏析的模拟分布"/>
            <p:cNvPicPr>
              <a:picLocks noChangeAspect="1"/>
            </p:cNvPicPr>
            <p:nvPr/>
          </p:nvPicPr>
          <p:blipFill>
            <a:blip r:embed="rId2"/>
            <a:stretch>
              <a:fillRect/>
            </a:stretch>
          </p:blipFill>
          <p:spPr>
            <a:xfrm>
              <a:off x="3216" y="480"/>
              <a:ext cx="2154" cy="2877"/>
            </a:xfrm>
            <a:prstGeom prst="rect">
              <a:avLst/>
            </a:prstGeom>
            <a:noFill/>
            <a:ln w="38100" cap="flat" cmpd="sng">
              <a:noFill/>
              <a:prstDash val="solid"/>
              <a:miter/>
              <a:headEnd type="none" w="med" len="med"/>
              <a:tailEnd type="none" w="med" len="med"/>
            </a:ln>
          </p:spPr>
        </p:pic>
        <p:sp>
          <p:nvSpPr>
            <p:cNvPr id="151561" name="Text Box 6"/>
            <p:cNvSpPr txBox="1"/>
            <p:nvPr/>
          </p:nvSpPr>
          <p:spPr>
            <a:xfrm>
              <a:off x="3120" y="3456"/>
              <a:ext cx="2352" cy="487"/>
            </a:xfrm>
            <a:prstGeom prst="rect">
              <a:avLst/>
            </a:prstGeom>
            <a:noFill/>
            <a:ln w="9525">
              <a:noFill/>
            </a:ln>
          </p:spPr>
          <p:txBody>
            <a:bodyPr>
              <a:spAutoFit/>
            </a:bodyPr>
            <a:lstStyle/>
            <a:p>
              <a:pPr lvl="0" algn="ctr" eaLnBrk="1" hangingPunct="1">
                <a:spcBef>
                  <a:spcPct val="50000"/>
                </a:spcBef>
              </a:pPr>
              <a:r>
                <a:rPr lang="zh-CN" altLang="en-US" sz="2000" b="1" dirty="0">
                  <a:solidFill>
                    <a:srgbClr val="0000FF"/>
                  </a:solidFill>
                  <a:latin typeface="Times New Roman" panose="02020603050405020304" pitchFamily="18" charset="0"/>
                  <a:ea typeface="宋体" panose="02010600030101010101" pitchFamily="2" charset="-122"/>
                </a:rPr>
                <a:t>硫在钢锭中偏析的模拟结果</a:t>
              </a:r>
            </a:p>
          </p:txBody>
        </p:sp>
      </p:grpSp>
      <p:pic>
        <p:nvPicPr>
          <p:cNvPr id="10" name="内容占位符 1" descr="新校徽（3M）弓之乐"/>
          <p:cNvPicPr>
            <a:picLocks noChangeAspect="1"/>
          </p:cNvPicPr>
          <p:nvPr/>
        </p:nvPicPr>
        <p:blipFill>
          <a:blip r:embed="rId3"/>
          <a:stretch>
            <a:fillRect/>
          </a:stretch>
        </p:blipFill>
        <p:spPr>
          <a:xfrm>
            <a:off x="-62230" y="-3709"/>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日期占位符 3"/>
          <p:cNvSpPr txBox="1">
            <a:spLocks noGrp="1"/>
          </p:cNvSpPr>
          <p:nvPr>
            <p:ph type="dt" sz="half" idx="10"/>
          </p:nvPr>
        </p:nvSpPr>
        <p:spPr>
          <a:xfrm>
            <a:off x="0" y="6429375"/>
            <a:ext cx="2162175" cy="428625"/>
          </a:xfrm>
        </p:spPr>
        <p:txBody>
          <a:bodyPr lIns="92075" tIns="46038" rIns="92075" bIns="46038" anchor="ctr"/>
          <a:lstStyle/>
          <a:p>
            <a:pPr eaLnBrk="1" hangingPunct="1"/>
            <a:fld id="{BB962C8B-B14F-4D97-AF65-F5344CB8AC3E}" type="datetime8">
              <a:rPr lang="zh-CN" altLang="en-US" dirty="0"/>
              <a:t>2025年11月20日5时38分</a:t>
            </a:fld>
            <a:endParaRPr lang="zh-CN" altLang="en-US" dirty="0"/>
          </a:p>
        </p:txBody>
      </p:sp>
      <p:sp>
        <p:nvSpPr>
          <p:cNvPr id="152579" name="灯片编号占位符 5"/>
          <p:cNvSpPr txBox="1">
            <a:spLocks noGrp="1"/>
          </p:cNvSpPr>
          <p:nvPr>
            <p:ph type="sldNum" sz="quarter" idx="12"/>
          </p:nvPr>
        </p:nvSpPr>
        <p:spPr>
          <a:xfrm>
            <a:off x="8594090" y="6495415"/>
            <a:ext cx="549910" cy="362585"/>
          </a:xfrm>
        </p:spPr>
        <p:txBody>
          <a:bodyPr lIns="92075" tIns="46038" rIns="92075" bIns="46038" anchor="ctr"/>
          <a:lstStyle/>
          <a:p>
            <a:pPr algn="r" eaLnBrk="1" hangingPunct="1"/>
            <a:fld id="{9A0DB2DC-4C9A-4742-B13C-FB6460FD3503}" type="slidenum">
              <a:rPr lang="en-US" altLang="zh-CN" sz="1400" dirty="0"/>
              <a:t>167</a:t>
            </a:fld>
            <a:endParaRPr lang="en-US" altLang="zh-CN" sz="1400" dirty="0"/>
          </a:p>
        </p:txBody>
      </p:sp>
      <p:sp>
        <p:nvSpPr>
          <p:cNvPr id="192514" name="Rectangle 2"/>
          <p:cNvSpPr>
            <a:spLocks noGrp="1" noChangeArrowheads="1"/>
          </p:cNvSpPr>
          <p:nvPr>
            <p:ph type="title"/>
          </p:nvPr>
        </p:nvSpPr>
        <p:spPr>
          <a:xfrm>
            <a:off x="2603518" y="267753"/>
            <a:ext cx="4046220" cy="929005"/>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3</a:t>
            </a:r>
            <a:r>
              <a:rPr kumimoji="1" lang="zh-CN" altLang="en-US" sz="4400" b="1" i="0" u="none" strike="noStrike" kern="0" cap="none" spc="0" normalizeH="0" baseline="0" noProof="0" dirty="0">
                <a:ln>
                  <a:noFill/>
                </a:ln>
                <a:solidFill>
                  <a:srgbClr val="FF0000"/>
                </a:solidFill>
                <a:uLnTx/>
                <a:uFillTx/>
                <a:latin typeface="+mj-lt"/>
                <a:ea typeface="华文中宋" panose="02010600040101010101" pitchFamily="2" charset="-122"/>
                <a:cs typeface="+mj-cs"/>
              </a:rPr>
              <a:t>、气孔</a:t>
            </a:r>
          </a:p>
        </p:txBody>
      </p:sp>
      <p:sp>
        <p:nvSpPr>
          <p:cNvPr id="152581" name="Rectangle 3"/>
          <p:cNvSpPr>
            <a:spLocks noGrp="1"/>
          </p:cNvSpPr>
          <p:nvPr>
            <p:ph idx="1"/>
          </p:nvPr>
        </p:nvSpPr>
        <p:spPr>
          <a:xfrm>
            <a:off x="539750" y="1772816"/>
            <a:ext cx="8353425" cy="4178722"/>
          </a:xfrm>
        </p:spPr>
        <p:txBody>
          <a:bodyPr vert="horz" wrap="square" lIns="91440" tIns="45720" rIns="91440" bIns="45720" anchor="t"/>
          <a:lstStyle/>
          <a:p>
            <a:pPr eaLnBrk="1" hangingPunct="1">
              <a:lnSpc>
                <a:spcPct val="140000"/>
              </a:lnSpc>
            </a:pPr>
            <a:r>
              <a:rPr lang="zh-CN" altLang="en-US" sz="2800" b="1" dirty="0">
                <a:solidFill>
                  <a:srgbClr val="FF0000"/>
                </a:solidFill>
                <a:ea typeface="华文中宋" panose="02010600040101010101" pitchFamily="2" charset="-122"/>
              </a:rPr>
              <a:t>气孔</a:t>
            </a:r>
            <a:r>
              <a:rPr lang="zh-CN" altLang="en-US" sz="2800" b="1" dirty="0">
                <a:solidFill>
                  <a:srgbClr val="CCFF33"/>
                </a:solidFill>
                <a:ea typeface="华文中宋" panose="02010600040101010101" pitchFamily="2" charset="-122"/>
              </a:rPr>
              <a:t>：</a:t>
            </a:r>
            <a:r>
              <a:rPr lang="zh-CN" altLang="en-US" sz="2800" b="1" dirty="0">
                <a:solidFill>
                  <a:schemeClr val="folHlink"/>
                </a:solidFill>
                <a:ea typeface="华文中宋" panose="02010600040101010101" pitchFamily="2" charset="-122"/>
              </a:rPr>
              <a:t>指液态金属中溶解的气体或反应生成的气体在结晶时未逸出而存留于铸锭</a:t>
            </a:r>
            <a:r>
              <a:rPr lang="en-US" altLang="zh-CN" sz="2800" b="1" dirty="0">
                <a:solidFill>
                  <a:schemeClr val="folHlink"/>
                </a:solidFill>
                <a:ea typeface="华文中宋" panose="02010600040101010101" pitchFamily="2" charset="-122"/>
              </a:rPr>
              <a:t>(</a:t>
            </a:r>
            <a:r>
              <a:rPr lang="zh-CN" altLang="en-US" sz="2800" b="1" dirty="0">
                <a:solidFill>
                  <a:schemeClr val="folHlink"/>
                </a:solidFill>
                <a:ea typeface="华文中宋" panose="02010600040101010101" pitchFamily="2" charset="-122"/>
              </a:rPr>
              <a:t>件</a:t>
            </a:r>
            <a:r>
              <a:rPr lang="en-US" altLang="zh-CN" sz="2800" b="1" dirty="0">
                <a:solidFill>
                  <a:schemeClr val="folHlink"/>
                </a:solidFill>
                <a:ea typeface="华文中宋" panose="02010600040101010101" pitchFamily="2" charset="-122"/>
              </a:rPr>
              <a:t>)</a:t>
            </a:r>
            <a:r>
              <a:rPr lang="zh-CN" altLang="en-US" sz="2800" b="1" dirty="0">
                <a:solidFill>
                  <a:schemeClr val="folHlink"/>
                </a:solidFill>
                <a:ea typeface="华文中宋" panose="02010600040101010101" pitchFamily="2" charset="-122"/>
              </a:rPr>
              <a:t>中的气泡。</a:t>
            </a:r>
            <a:endParaRPr lang="en-US" altLang="zh-CN" sz="2800" b="1" dirty="0">
              <a:solidFill>
                <a:schemeClr val="folHlink"/>
              </a:solidFill>
              <a:ea typeface="华文中宋" panose="02010600040101010101" pitchFamily="2" charset="-122"/>
            </a:endParaRPr>
          </a:p>
          <a:p>
            <a:pPr eaLnBrk="1" hangingPunct="1">
              <a:lnSpc>
                <a:spcPct val="140000"/>
              </a:lnSpc>
            </a:pPr>
            <a:r>
              <a:rPr lang="zh-CN" altLang="en-US" sz="2800" b="1" dirty="0">
                <a:ea typeface="华文中宋" panose="02010600040101010101" pitchFamily="2" charset="-122"/>
              </a:rPr>
              <a:t>铸锭中的封闭的气孔可在热加工时焊合</a:t>
            </a:r>
            <a:r>
              <a:rPr lang="en-US" altLang="zh-CN" sz="2800" b="1" dirty="0">
                <a:ea typeface="华文中宋" panose="02010600040101010101" pitchFamily="2" charset="-122"/>
              </a:rPr>
              <a:t>,  </a:t>
            </a:r>
            <a:r>
              <a:rPr lang="zh-CN" altLang="en-US" sz="2800" b="1" dirty="0">
                <a:ea typeface="华文中宋" panose="02010600040101010101" pitchFamily="2" charset="-122"/>
              </a:rPr>
              <a:t>张</a:t>
            </a:r>
            <a:r>
              <a:rPr lang="zh-CN" altLang="en-US" sz="2800" b="1" dirty="0"/>
              <a:t>开的气孔需要切除。</a:t>
            </a:r>
            <a:r>
              <a:rPr lang="zh-CN" altLang="en-US" sz="2800" b="1" dirty="0">
                <a:solidFill>
                  <a:schemeClr val="folHlink"/>
                </a:solidFill>
                <a:ea typeface="华文中宋" panose="02010600040101010101" pitchFamily="2" charset="-122"/>
              </a:rPr>
              <a:t>铸件中出现气孔则只能报废</a:t>
            </a:r>
            <a:r>
              <a:rPr lang="zh-CN" altLang="en-US" sz="2800" b="1" dirty="0"/>
              <a:t>。</a:t>
            </a:r>
          </a:p>
        </p:txBody>
      </p:sp>
      <p:grpSp>
        <p:nvGrpSpPr>
          <p:cNvPr id="2" name="Group 4"/>
          <p:cNvGrpSpPr/>
          <p:nvPr/>
        </p:nvGrpSpPr>
        <p:grpSpPr>
          <a:xfrm>
            <a:off x="1408113" y="4237688"/>
            <a:ext cx="6415998" cy="2257342"/>
            <a:chOff x="480" y="2128"/>
            <a:chExt cx="4368" cy="1810"/>
          </a:xfrm>
        </p:grpSpPr>
        <p:grpSp>
          <p:nvGrpSpPr>
            <p:cNvPr id="152584" name="Group 5"/>
            <p:cNvGrpSpPr/>
            <p:nvPr/>
          </p:nvGrpSpPr>
          <p:grpSpPr>
            <a:xfrm>
              <a:off x="480" y="2352"/>
              <a:ext cx="2525" cy="1586"/>
              <a:chOff x="432" y="2256"/>
              <a:chExt cx="2525" cy="1586"/>
            </a:xfrm>
          </p:grpSpPr>
          <p:pic>
            <p:nvPicPr>
              <p:cNvPr id="152588" name="Picture 6" descr="气孔"/>
              <p:cNvPicPr>
                <a:picLocks noChangeAspect="1"/>
              </p:cNvPicPr>
              <p:nvPr/>
            </p:nvPicPr>
            <p:blipFill>
              <a:blip r:embed="rId2"/>
              <a:stretch>
                <a:fillRect/>
              </a:stretch>
            </p:blipFill>
            <p:spPr>
              <a:xfrm>
                <a:off x="432" y="2256"/>
                <a:ext cx="2525" cy="1586"/>
              </a:xfrm>
              <a:prstGeom prst="rect">
                <a:avLst/>
              </a:prstGeom>
              <a:noFill/>
              <a:ln w="38100" cap="flat" cmpd="sng">
                <a:noFill/>
                <a:prstDash val="solid"/>
                <a:miter/>
                <a:headEnd type="none" w="med" len="med"/>
                <a:tailEnd type="none" w="med" len="med"/>
              </a:ln>
            </p:spPr>
          </p:pic>
          <p:sp>
            <p:nvSpPr>
              <p:cNvPr id="152589" name="Oval 7"/>
              <p:cNvSpPr/>
              <p:nvPr/>
            </p:nvSpPr>
            <p:spPr>
              <a:xfrm>
                <a:off x="1296" y="2832"/>
                <a:ext cx="336" cy="288"/>
              </a:xfrm>
              <a:prstGeom prst="ellipse">
                <a:avLst/>
              </a:prstGeom>
              <a:noFill/>
              <a:ln w="9525" cap="flat" cmpd="sng">
                <a:solidFill>
                  <a:schemeClr val="folHlink"/>
                </a:solidFill>
                <a:prstDash val="solid"/>
                <a:headEnd type="none" w="med" len="med"/>
                <a:tailEnd type="none" w="med" len="med"/>
              </a:ln>
            </p:spPr>
            <p:txBody>
              <a:bodyPr wrap="none" anchor="ctr"/>
              <a:lstStyle/>
              <a:p>
                <a:pPr lvl="0" eaLnBrk="1" hangingPunct="1"/>
                <a:endParaRPr lang="zh-CN" altLang="en-US" dirty="0">
                  <a:latin typeface="Times New Roman" panose="02020603050405020304" pitchFamily="18" charset="0"/>
                  <a:ea typeface="宋体" panose="02010600030101010101" pitchFamily="2" charset="-122"/>
                </a:endParaRPr>
              </a:p>
            </p:txBody>
          </p:sp>
          <p:sp>
            <p:nvSpPr>
              <p:cNvPr id="152590" name="Text Box 8"/>
              <p:cNvSpPr txBox="1"/>
              <p:nvPr/>
            </p:nvSpPr>
            <p:spPr>
              <a:xfrm>
                <a:off x="520" y="2256"/>
                <a:ext cx="1448" cy="262"/>
              </a:xfrm>
              <a:prstGeom prst="rect">
                <a:avLst/>
              </a:prstGeom>
              <a:solidFill>
                <a:schemeClr val="bg1"/>
              </a:solidFill>
              <a:ln w="9525">
                <a:noFill/>
              </a:ln>
            </p:spPr>
            <p:txBody>
              <a:bodyPr wrap="square">
                <a:spAutoFit/>
              </a:bodyPr>
              <a:lstStyle/>
              <a:p>
                <a:pPr lvl="0" algn="ctr" eaLnBrk="1" hangingPunct="1">
                  <a:spcBef>
                    <a:spcPct val="50000"/>
                  </a:spcBef>
                </a:pPr>
                <a:r>
                  <a:rPr lang="zh-CN" altLang="en-US" sz="2000" b="1" dirty="0">
                    <a:solidFill>
                      <a:schemeClr val="bg2"/>
                    </a:solidFill>
                    <a:latin typeface="Times New Roman" panose="02020603050405020304" pitchFamily="18" charset="0"/>
                    <a:ea typeface="宋体" panose="02010600030101010101" pitchFamily="2" charset="-122"/>
                  </a:rPr>
                  <a:t>铸件中的气孔</a:t>
                </a:r>
              </a:p>
            </p:txBody>
          </p:sp>
        </p:grpSp>
        <p:grpSp>
          <p:nvGrpSpPr>
            <p:cNvPr id="152585" name="Group 9"/>
            <p:cNvGrpSpPr/>
            <p:nvPr/>
          </p:nvGrpSpPr>
          <p:grpSpPr>
            <a:xfrm>
              <a:off x="3482" y="2128"/>
              <a:ext cx="1366" cy="1772"/>
              <a:chOff x="3482" y="2128"/>
              <a:chExt cx="1366" cy="1772"/>
            </a:xfrm>
          </p:grpSpPr>
          <p:pic>
            <p:nvPicPr>
              <p:cNvPr id="152586" name="Picture 10" descr="缩松"/>
              <p:cNvPicPr>
                <a:picLocks noChangeAspect="1"/>
              </p:cNvPicPr>
              <p:nvPr/>
            </p:nvPicPr>
            <p:blipFill>
              <a:blip r:embed="rId3"/>
              <a:stretch>
                <a:fillRect/>
              </a:stretch>
            </p:blipFill>
            <p:spPr>
              <a:xfrm>
                <a:off x="3482" y="2128"/>
                <a:ext cx="1366" cy="1772"/>
              </a:xfrm>
              <a:prstGeom prst="rect">
                <a:avLst/>
              </a:prstGeom>
              <a:noFill/>
              <a:ln w="38100" cap="flat" cmpd="sng">
                <a:noFill/>
                <a:prstDash val="solid"/>
                <a:miter/>
                <a:headEnd type="none" w="med" len="med"/>
                <a:tailEnd type="none" w="med" len="med"/>
              </a:ln>
            </p:spPr>
          </p:pic>
          <p:sp>
            <p:nvSpPr>
              <p:cNvPr id="152587" name="Text Box 11"/>
              <p:cNvSpPr txBox="1"/>
              <p:nvPr/>
            </p:nvSpPr>
            <p:spPr>
              <a:xfrm>
                <a:off x="4471" y="2128"/>
                <a:ext cx="377" cy="622"/>
              </a:xfrm>
              <a:prstGeom prst="rect">
                <a:avLst/>
              </a:prstGeom>
              <a:solidFill>
                <a:schemeClr val="bg1"/>
              </a:solidFill>
              <a:ln w="9525">
                <a:noFill/>
              </a:ln>
            </p:spPr>
            <p:txBody>
              <a:bodyPr vert="eaVert" wrap="square">
                <a:spAutoFit/>
              </a:bodyPr>
              <a:lstStyle/>
              <a:p>
                <a:pPr lvl="0" eaLnBrk="1" hangingPunct="1">
                  <a:spcBef>
                    <a:spcPct val="50000"/>
                  </a:spcBef>
                </a:pPr>
                <a:r>
                  <a:rPr lang="zh-CN" altLang="en-US" sz="2400" b="1" dirty="0">
                    <a:solidFill>
                      <a:schemeClr val="folHlink"/>
                    </a:solidFill>
                    <a:latin typeface="Times New Roman" panose="02020603050405020304" pitchFamily="18" charset="0"/>
                    <a:ea typeface="宋体" panose="02010600030101010101" pitchFamily="2" charset="-122"/>
                  </a:rPr>
                  <a:t>缩松</a:t>
                </a:r>
              </a:p>
            </p:txBody>
          </p:sp>
        </p:grpSp>
      </p:grpSp>
      <p:pic>
        <p:nvPicPr>
          <p:cNvPr id="15" name="内容占位符 1" descr="新校徽（3M）弓之乐"/>
          <p:cNvPicPr>
            <a:picLocks noChangeAspect="1"/>
          </p:cNvPicPr>
          <p:nvPr/>
        </p:nvPicPr>
        <p:blipFill>
          <a:blip r:embed="rId4"/>
          <a:stretch>
            <a:fillRect/>
          </a:stretch>
        </p:blipFill>
        <p:spPr>
          <a:xfrm>
            <a:off x="-62230" y="-3709"/>
            <a:ext cx="746760" cy="735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灯片编号占位符 5"/>
          <p:cNvSpPr>
            <a:spLocks noGrp="1"/>
          </p:cNvSpPr>
          <p:nvPr>
            <p:ph type="sldNum" sz="quarter" idx="12"/>
          </p:nvPr>
        </p:nvSpPr>
        <p:spPr>
          <a:xfrm>
            <a:off x="8212519" y="6506203"/>
            <a:ext cx="702742" cy="342900"/>
          </a:xfrm>
        </p:spPr>
        <p:txBody>
          <a:bodyPr wrap="square" lIns="91440" tIns="45720" rIns="91440" bIns="45720" anchor="b"/>
          <a:lstStyle/>
          <a:p>
            <a:pPr algn="r"/>
            <a:fld id="{9A0DB2DC-4C9A-4742-B13C-FB6460FD3503}" type="slidenum">
              <a:rPr lang="en-US" altLang="zh-CN" sz="1400" dirty="0"/>
              <a:t>168</a:t>
            </a:fld>
            <a:endParaRPr lang="en-US" altLang="zh-CN" sz="1400" dirty="0"/>
          </a:p>
        </p:txBody>
      </p:sp>
      <p:sp>
        <p:nvSpPr>
          <p:cNvPr id="137218" name="Rectangle 2"/>
          <p:cNvSpPr>
            <a:spLocks noGrp="1"/>
          </p:cNvSpPr>
          <p:nvPr>
            <p:ph type="title"/>
          </p:nvPr>
        </p:nvSpPr>
        <p:spPr>
          <a:xfrm>
            <a:off x="1095375" y="157162"/>
            <a:ext cx="7793037" cy="1462087"/>
          </a:xfrm>
        </p:spPr>
        <p:txBody>
          <a:bodyPr wrap="square" lIns="91440" tIns="45720" rIns="91440" bIns="45720" anchor="b"/>
          <a:lstStyle/>
          <a:p>
            <a:pPr eaLnBrk="1" hangingPunct="1"/>
            <a:r>
              <a:rPr lang="zh-CN" altLang="en-US" b="1" dirty="0">
                <a:solidFill>
                  <a:srgbClr val="FF0000"/>
                </a:solidFill>
              </a:rPr>
              <a:t>作业（</a:t>
            </a:r>
            <a:r>
              <a:rPr lang="en-US" altLang="zh-CN" b="1" dirty="0">
                <a:solidFill>
                  <a:srgbClr val="FF0000"/>
                </a:solidFill>
              </a:rPr>
              <a:t>p36-37</a:t>
            </a:r>
            <a:r>
              <a:rPr lang="zh-CN" altLang="en-US" b="1" dirty="0">
                <a:solidFill>
                  <a:srgbClr val="FF0000"/>
                </a:solidFill>
              </a:rPr>
              <a:t>）</a:t>
            </a:r>
          </a:p>
        </p:txBody>
      </p:sp>
      <p:sp>
        <p:nvSpPr>
          <p:cNvPr id="137219" name="Rectangle 3"/>
          <p:cNvSpPr>
            <a:spLocks noGrp="1"/>
          </p:cNvSpPr>
          <p:nvPr>
            <p:ph idx="1"/>
          </p:nvPr>
        </p:nvSpPr>
        <p:spPr>
          <a:xfrm>
            <a:off x="323528" y="1916832"/>
            <a:ext cx="8352928" cy="4392488"/>
          </a:xfrm>
        </p:spPr>
        <p:txBody>
          <a:bodyPr wrap="square" lIns="91440" tIns="45720" rIns="91440" bIns="45720" anchor="t"/>
          <a:lstStyle/>
          <a:p>
            <a:pPr eaLnBrk="1" hangingPunct="1"/>
            <a:r>
              <a:rPr lang="en-US" altLang="zh-CN" dirty="0"/>
              <a:t>2-1</a:t>
            </a:r>
            <a:r>
              <a:rPr lang="zh-CN" altLang="en-US" dirty="0"/>
              <a:t> 试计算面心立方晶体的致密度。</a:t>
            </a:r>
            <a:endParaRPr lang="en-US" altLang="zh-CN" dirty="0"/>
          </a:p>
          <a:p>
            <a:pPr eaLnBrk="1" hangingPunct="1"/>
            <a:endParaRPr lang="en-US" altLang="zh-CN" dirty="0"/>
          </a:p>
          <a:p>
            <a:pPr eaLnBrk="1" hangingPunct="1"/>
            <a:r>
              <a:rPr lang="en-US" altLang="zh-CN" dirty="0"/>
              <a:t>2-2 </a:t>
            </a:r>
            <a:r>
              <a:rPr lang="zh-CN" altLang="en-US" dirty="0"/>
              <a:t>已知</a:t>
            </a:r>
            <a:r>
              <a:rPr lang="zh-CN" altLang="en-US" dirty="0">
                <a:sym typeface="Symbol" panose="05050102010706020507" pitchFamily="18" charset="2"/>
              </a:rPr>
              <a:t> </a:t>
            </a:r>
            <a:r>
              <a:rPr lang="en-US" altLang="zh-CN" dirty="0">
                <a:sym typeface="Symbol" panose="05050102010706020507" pitchFamily="18" charset="2"/>
              </a:rPr>
              <a:t>-Fe</a:t>
            </a:r>
            <a:r>
              <a:rPr lang="zh-CN" altLang="en-US" dirty="0">
                <a:sym typeface="Symbol" panose="05050102010706020507" pitchFamily="18" charset="2"/>
              </a:rPr>
              <a:t>的晶格常数（</a:t>
            </a:r>
            <a:r>
              <a:rPr lang="en-US" altLang="zh-CN" dirty="0">
                <a:sym typeface="Symbol" panose="05050102010706020507" pitchFamily="18" charset="2"/>
              </a:rPr>
              <a:t>a=3.63Å)</a:t>
            </a:r>
            <a:r>
              <a:rPr lang="zh-CN" altLang="en-US" dirty="0">
                <a:sym typeface="Symbol" panose="05050102010706020507" pitchFamily="18" charset="2"/>
              </a:rPr>
              <a:t>大于</a:t>
            </a:r>
            <a:r>
              <a:rPr lang="en-US" altLang="zh-CN" dirty="0">
                <a:sym typeface="Symbol" panose="05050102010706020507" pitchFamily="18" charset="2"/>
              </a:rPr>
              <a:t> -Fe</a:t>
            </a:r>
            <a:r>
              <a:rPr lang="zh-CN" altLang="en-US" dirty="0">
                <a:sym typeface="Symbol" panose="05050102010706020507" pitchFamily="18" charset="2"/>
              </a:rPr>
              <a:t>的晶格常数（</a:t>
            </a:r>
            <a:r>
              <a:rPr lang="en-US" altLang="zh-CN" dirty="0">
                <a:sym typeface="Symbol" panose="05050102010706020507" pitchFamily="18" charset="2"/>
              </a:rPr>
              <a:t>a=2.89Å)</a:t>
            </a:r>
            <a:r>
              <a:rPr lang="zh-CN" altLang="en-US" dirty="0">
                <a:sym typeface="Symbol" panose="05050102010706020507" pitchFamily="18" charset="2"/>
              </a:rPr>
              <a:t>，试说明 </a:t>
            </a:r>
            <a:r>
              <a:rPr lang="en-US" altLang="zh-CN" dirty="0">
                <a:sym typeface="Symbol" panose="05050102010706020507" pitchFamily="18" charset="2"/>
              </a:rPr>
              <a:t>-Fe</a:t>
            </a:r>
            <a:r>
              <a:rPr lang="zh-CN" altLang="en-US" dirty="0">
                <a:sym typeface="Symbol" panose="05050102010706020507" pitchFamily="18" charset="2"/>
              </a:rPr>
              <a:t>冷却到</a:t>
            </a:r>
            <a:r>
              <a:rPr lang="en-US" altLang="zh-CN" dirty="0">
                <a:sym typeface="Symbol" panose="05050102010706020507" pitchFamily="18" charset="2"/>
              </a:rPr>
              <a:t>912℃</a:t>
            </a:r>
            <a:r>
              <a:rPr lang="zh-CN" altLang="en-US" dirty="0">
                <a:sym typeface="Symbol" panose="05050102010706020507" pitchFamily="18" charset="2"/>
              </a:rPr>
              <a:t>转变为</a:t>
            </a:r>
            <a:r>
              <a:rPr lang="en-US" altLang="zh-CN" dirty="0">
                <a:sym typeface="Symbol" panose="05050102010706020507" pitchFamily="18" charset="2"/>
              </a:rPr>
              <a:t> -Fe </a:t>
            </a:r>
            <a:r>
              <a:rPr lang="zh-CN" altLang="en-US" dirty="0">
                <a:sym typeface="Symbol" panose="05050102010706020507" pitchFamily="18" charset="2"/>
              </a:rPr>
              <a:t>时，其体积如何变化？</a:t>
            </a:r>
            <a:endParaRPr lang="en-US" altLang="zh-CN" dirty="0">
              <a:sym typeface="Symbol" panose="05050102010706020507" pitchFamily="18" charset="2"/>
            </a:endParaRPr>
          </a:p>
          <a:p>
            <a:pPr eaLnBrk="1" hangingPunct="1"/>
            <a:endParaRPr lang="en-US" altLang="zh-CN" dirty="0">
              <a:sym typeface="Symbol" panose="05050102010706020507" pitchFamily="18" charset="2"/>
            </a:endParaRPr>
          </a:p>
          <a:p>
            <a:pPr eaLnBrk="1" hangingPunct="1"/>
            <a:r>
              <a:rPr lang="en-US" altLang="zh-CN" dirty="0"/>
              <a:t>2-3 </a:t>
            </a:r>
            <a:r>
              <a:rPr lang="zh-CN" altLang="en-US" dirty="0"/>
              <a:t>、</a:t>
            </a:r>
            <a:r>
              <a:rPr lang="en-US" altLang="zh-CN" dirty="0"/>
              <a:t>2-4</a:t>
            </a:r>
            <a:r>
              <a:rPr lang="zh-CN" altLang="en-US" dirty="0"/>
              <a:t> 、 </a:t>
            </a:r>
            <a:r>
              <a:rPr lang="en-US" altLang="zh-CN" dirty="0"/>
              <a:t>2-5</a:t>
            </a:r>
            <a:r>
              <a:rPr lang="zh-CN" altLang="en-US" dirty="0"/>
              <a:t>、</a:t>
            </a:r>
            <a:r>
              <a:rPr lang="en-US" altLang="zh-CN" dirty="0"/>
              <a:t>2-6</a:t>
            </a:r>
            <a:r>
              <a:rPr lang="zh-CN" altLang="en-US" dirty="0"/>
              <a:t>、</a:t>
            </a:r>
            <a:r>
              <a:rPr lang="en-US" altLang="zh-CN" dirty="0"/>
              <a:t>2-10</a:t>
            </a:r>
            <a:r>
              <a:rPr lang="zh-CN" altLang="en-US" dirty="0"/>
              <a:t>、</a:t>
            </a:r>
            <a:r>
              <a:rPr lang="en-US" altLang="zh-CN" dirty="0"/>
              <a:t>2-12 1) </a:t>
            </a:r>
            <a:r>
              <a:rPr lang="zh-CN" altLang="zh-CN" dirty="0"/>
              <a:t>、</a:t>
            </a:r>
            <a:r>
              <a:rPr lang="en-US" altLang="zh-CN" dirty="0"/>
              <a:t>5</a:t>
            </a:r>
            <a:r>
              <a:rPr lang="zh-CN" altLang="en-US" dirty="0"/>
              <a:t>）</a:t>
            </a:r>
          </a:p>
          <a:p>
            <a:pPr eaLnBrk="1" hangingPunct="1"/>
            <a:endParaRPr lang="en-US" altLang="zh-CN" dirty="0"/>
          </a:p>
        </p:txBody>
      </p:sp>
      <p:sp>
        <p:nvSpPr>
          <p:cNvPr id="137221" name="日期占位符 1"/>
          <p:cNvSpPr>
            <a:spLocks noGrp="1"/>
          </p:cNvSpPr>
          <p:nvPr>
            <p:ph type="dt" sz="half" idx="10"/>
          </p:nvPr>
        </p:nvSpPr>
        <p:spPr>
          <a:xfrm>
            <a:off x="19685" y="6511925"/>
            <a:ext cx="1905000" cy="342900"/>
          </a:xfrm>
        </p:spPr>
        <p:txBody>
          <a:bodyPr wrap="square" lIns="91440" tIns="45720" rIns="91440" bIns="45720" anchor="b"/>
          <a:lst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stStyle>
          <a:p>
            <a:pPr lvl="0" indent="0"/>
            <a:fld id="{BB962C8B-B14F-4D97-AF65-F5344CB8AC3E}" type="datetime8">
              <a:rPr lang="en-US" altLang="zh-CN" sz="1400" dirty="0"/>
              <a:t>11/20/2025 5:38 PM</a:t>
            </a:fld>
            <a:endParaRPr lang="en-US" altLang="zh-CN" sz="1400" dirty="0"/>
          </a:p>
        </p:txBody>
      </p:sp>
      <p:pic>
        <p:nvPicPr>
          <p:cNvPr id="7" name="内容占位符 1" descr="新校徽（3M）弓之乐"/>
          <p:cNvPicPr>
            <a:picLocks noChangeAspect="1"/>
          </p:cNvPicPr>
          <p:nvPr/>
        </p:nvPicPr>
        <p:blipFill>
          <a:blip r:embed="rId2" cstate="print"/>
          <a:stretch>
            <a:fillRect/>
          </a:stretch>
        </p:blipFill>
        <p:spPr>
          <a:xfrm>
            <a:off x="19685" y="3175"/>
            <a:ext cx="746760" cy="735965"/>
          </a:xfrm>
          <a:prstGeom prst="rect">
            <a:avLst/>
          </a:prstGeom>
          <a:noFill/>
          <a:ln w="9525">
            <a:noFill/>
          </a:ln>
        </p:spPr>
      </p:pic>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p:cNvSpPr>
          <p:nvPr>
            <p:ph type="title"/>
          </p:nvPr>
        </p:nvSpPr>
        <p:spPr/>
        <p:txBody>
          <a:bodyPr wrap="square" lIns="91440" tIns="45720" rIns="91440" bIns="45720" anchor="b"/>
          <a:lstStyle/>
          <a:p>
            <a:pPr eaLnBrk="1" hangingPunct="1"/>
            <a:endParaRPr lang="zh-CN" altLang="zh-CN" dirty="0"/>
          </a:p>
        </p:txBody>
      </p:sp>
      <p:sp>
        <p:nvSpPr>
          <p:cNvPr id="138243" name="Rectangle 3"/>
          <p:cNvSpPr>
            <a:spLocks noGrp="1"/>
          </p:cNvSpPr>
          <p:nvPr>
            <p:ph idx="1"/>
          </p:nvPr>
        </p:nvSpPr>
        <p:spPr>
          <a:xfrm>
            <a:off x="1150938" y="1268760"/>
            <a:ext cx="7772400" cy="4114800"/>
          </a:xfrm>
        </p:spPr>
        <p:txBody>
          <a:bodyPr wrap="square" lIns="91440" tIns="45720" rIns="91440" bIns="45720" anchor="t"/>
          <a:lstStyle/>
          <a:p>
            <a:pPr algn="ctr" eaLnBrk="1" hangingPunct="1">
              <a:buNone/>
            </a:pPr>
            <a:endParaRPr lang="en-US" altLang="zh-CN" sz="6000" dirty="0">
              <a:solidFill>
                <a:srgbClr val="FF0000"/>
              </a:solidFill>
            </a:endParaRPr>
          </a:p>
          <a:p>
            <a:pPr algn="ctr" eaLnBrk="1" hangingPunct="1">
              <a:buNone/>
            </a:pPr>
            <a:r>
              <a:rPr lang="zh-CN" altLang="en-US" sz="8000" b="1" dirty="0">
                <a:solidFill>
                  <a:srgbClr val="FF0000"/>
                </a:solidFill>
                <a:latin typeface="华文中宋" panose="02010600040101010101" pitchFamily="2" charset="-122"/>
                <a:ea typeface="华文中宋" panose="02010600040101010101" pitchFamily="2" charset="-122"/>
              </a:rPr>
              <a:t>谢谢大家</a:t>
            </a:r>
            <a:r>
              <a:rPr lang="zh-CN" altLang="en-US" sz="8000" dirty="0">
                <a:solidFill>
                  <a:srgbClr val="FF0000"/>
                </a:solidFill>
                <a:latin typeface="华文中宋" panose="02010600040101010101" pitchFamily="2" charset="-122"/>
                <a:ea typeface="华文中宋" panose="02010600040101010101" pitchFamily="2" charset="-122"/>
              </a:rPr>
              <a:t>！</a:t>
            </a:r>
            <a:endParaRPr lang="en-US" altLang="zh-CN" sz="8000" dirty="0">
              <a:solidFill>
                <a:srgbClr val="FF0000"/>
              </a:solidFill>
            </a:endParaRPr>
          </a:p>
          <a:p>
            <a:pPr algn="ctr" eaLnBrk="1" hangingPunct="1">
              <a:buNone/>
            </a:pPr>
            <a:r>
              <a:rPr lang="en-US" altLang="zh-CN" sz="8000" b="1" i="1" dirty="0">
                <a:solidFill>
                  <a:srgbClr val="FF0000"/>
                </a:solidFill>
                <a:latin typeface="Times New Roman" panose="02020603050405020304" pitchFamily="18" charset="0"/>
                <a:cs typeface="Times New Roman" panose="02020603050405020304" pitchFamily="18" charset="0"/>
              </a:rPr>
              <a:t>Thanks</a:t>
            </a:r>
          </a:p>
        </p:txBody>
      </p:sp>
      <p:pic>
        <p:nvPicPr>
          <p:cNvPr id="6" name="内容占位符 1" descr="新校徽（3M）弓之乐"/>
          <p:cNvPicPr>
            <a:picLocks noChangeAspect="1"/>
          </p:cNvPicPr>
          <p:nvPr/>
        </p:nvPicPr>
        <p:blipFill>
          <a:blip r:embed="rId2" cstate="print"/>
          <a:stretch>
            <a:fillRect/>
          </a:stretch>
        </p:blipFill>
        <p:spPr>
          <a:xfrm>
            <a:off x="19685" y="3175"/>
            <a:ext cx="746760" cy="735965"/>
          </a:xfrm>
          <a:prstGeom prst="rect">
            <a:avLst/>
          </a:prstGeom>
          <a:noFill/>
          <a:ln w="9525">
            <a:noFill/>
          </a:ln>
        </p:spPr>
      </p:pic>
      <p:sp>
        <p:nvSpPr>
          <p:cNvPr id="2" name="日期占位符 1"/>
          <p:cNvSpPr>
            <a:spLocks noGrp="1"/>
          </p:cNvSpPr>
          <p:nvPr>
            <p:ph type="dt" sz="half" idx="10"/>
          </p:nvPr>
        </p:nvSpPr>
        <p:spPr>
          <a:xfrm>
            <a:off x="19685" y="6529929"/>
            <a:ext cx="1905000" cy="342900"/>
          </a:xfrm>
        </p:spPr>
        <p:txBody>
          <a:bodyPr wrap="square" lIns="91440" tIns="45720" rIns="91440" bIns="45720" anchor="b"/>
          <a:lst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stStyle>
          <a:p>
            <a:pPr lvl="0" indent="0"/>
            <a:fld id="{BB962C8B-B14F-4D97-AF65-F5344CB8AC3E}" type="datetime8">
              <a:rPr lang="en-US" altLang="zh-CN" sz="1400" dirty="0"/>
              <a:t>11/20/2025 5:38 PM</a:t>
            </a:fld>
            <a:endParaRPr lang="en-US" altLang="zh-CN" sz="1400" dirty="0"/>
          </a:p>
        </p:txBody>
      </p:sp>
      <p:sp>
        <p:nvSpPr>
          <p:cNvPr id="3" name="灯片编号占位符 5"/>
          <p:cNvSpPr>
            <a:spLocks noGrp="1"/>
          </p:cNvSpPr>
          <p:nvPr>
            <p:ph type="sldNum" sz="quarter" idx="12"/>
          </p:nvPr>
        </p:nvSpPr>
        <p:spPr>
          <a:xfrm>
            <a:off x="8578850" y="6551613"/>
            <a:ext cx="538163" cy="330200"/>
          </a:xfrm>
        </p:spPr>
        <p:txBody>
          <a:bodyPr wrap="square" lIns="91440" tIns="45720" rIns="91440" bIns="45720" anchor="b"/>
          <a:lstStyle/>
          <a:p>
            <a:pPr algn="r"/>
            <a:fld id="{9A0DB2DC-4C9A-4742-B13C-FB6460FD3503}" type="slidenum">
              <a:rPr lang="en-US" altLang="zh-CN" sz="1400" dirty="0"/>
              <a:t>169</a:t>
            </a:fld>
            <a:endParaRPr lang="en-US" altLang="zh-CN" sz="140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WIxMGZkODRmZWFlMmJiZTRiODUwYmQ0N2UxMzdiOTYifQ=="/>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18.7,&quot;left&quot;:85.95,&quot;top&quot;:160.3,&quot;width&quot;:794.7}"/>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18.7,&quot;left&quot;:85.95,&quot;top&quot;:160.3,&quot;width&quot;:794.7}"/>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18.7,&quot;left&quot;:85.95,&quot;top&quot;:160.3,&quot;width&quot;:794.7}"/>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18.7,&quot;left&quot;:85.95,&quot;top&quot;:160.3,&quot;width&quot;:794.7}"/>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18.7,&quot;left&quot;:85.95,&quot;top&quot;:160.3,&quot;width&quot;:794.7}"/>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18.7,&quot;left&quot;:85.95,&quot;top&quot;:160.3,&quot;width&quot;:794.7}"/>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18.7,&quot;left&quot;:85.95,&quot;top&quot;:160.3,&quot;width&quot;:794.7}"/>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18.7,&quot;left&quot;:85.95,&quot;top&quot;:160.3,&quot;width&quot;:794.7}"/>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178.77031496062992,&quot;left&quot;:74.64062992125984,&quot;top&quot;:321.05196850393696,&quot;width&quot;:606.1585826771654}"/>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178.77031496062992,&quot;left&quot;:74.64062992125984,&quot;top&quot;:321.05196850393696,&quot;width&quot;:606.1585826771654}"/>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178.77031496062992,&quot;left&quot;:74.64062992125984,&quot;top&quot;:321.05196850393696,&quot;width&quot;:606.1585826771654}"/>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178.77031496062992,&quot;left&quot;:74.64062992125984,&quot;top&quot;:321.05196850393696,&quot;width&quot;:606.1585826771654}"/>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178.77031496062992,&quot;left&quot;:74.64062992125984,&quot;top&quot;:321.05196850393696,&quot;width&quot;:606.1585826771654}"/>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178.77031496062992,&quot;left&quot;:74.64062992125984,&quot;top&quot;:321.05196850393696,&quot;width&quot;:606.1585826771654}"/>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178.77031496062992,&quot;left&quot;:74.64062992125984,&quot;top&quot;:321.05196850393696,&quot;width&quot;:606.1585826771654}"/>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Blends</Template>
  <TotalTime>4</TotalTime>
  <Words>9361</Words>
  <Application>Microsoft Office PowerPoint</Application>
  <PresentationFormat>全屏显示(4:3)</PresentationFormat>
  <Paragraphs>1837</Paragraphs>
  <Slides>169</Slides>
  <Notes>28</Notes>
  <HiddenSlides>0</HiddenSlides>
  <MMClips>3</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169</vt:i4>
      </vt:variant>
    </vt:vector>
  </HeadingPairs>
  <TitlesOfParts>
    <vt:vector size="186" baseType="lpstr">
      <vt:lpstr>Arial Unicode MS</vt:lpstr>
      <vt:lpstr>Helvetica Neue</vt:lpstr>
      <vt:lpstr>仿宋_GB2312</vt:lpstr>
      <vt:lpstr>华文中宋</vt:lpstr>
      <vt:lpstr>华文行楷</vt:lpstr>
      <vt:lpstr>宋体</vt:lpstr>
      <vt:lpstr>微软雅黑</vt:lpstr>
      <vt:lpstr>楷体_GB2312</vt:lpstr>
      <vt:lpstr>Arial</vt:lpstr>
      <vt:lpstr>Cambria Math</vt:lpstr>
      <vt:lpstr>Lucida Sans Unicode</vt:lpstr>
      <vt:lpstr>Symbol</vt:lpstr>
      <vt:lpstr>Tahoma</vt:lpstr>
      <vt:lpstr>Times New Roman</vt:lpstr>
      <vt:lpstr>Wingdings</vt:lpstr>
      <vt:lpstr>Blends</vt:lpstr>
      <vt:lpstr>Equation.3</vt:lpstr>
      <vt:lpstr>U2041170  《工程材料与成型技术》 Engineering Materials and Forming Technology   44+4学时，3学分</vt:lpstr>
      <vt:lpstr>第二章 金属材料的结构及二元合金相图</vt:lpstr>
      <vt:lpstr>本章主要教学目标 Learning Objectives</vt:lpstr>
      <vt:lpstr>本章主要教学内容</vt:lpstr>
      <vt:lpstr>二元合金相图</vt:lpstr>
      <vt:lpstr>二元合金相图 Binary alloy phase diagram</vt:lpstr>
      <vt:lpstr>第一节 纯金属的结晶</vt:lpstr>
      <vt:lpstr>PowerPoint 演示文稿</vt:lpstr>
      <vt:lpstr>纯金属的结晶</vt:lpstr>
      <vt:lpstr>第一节 纯金属的结晶</vt:lpstr>
      <vt:lpstr>结晶的热力学条件</vt:lpstr>
      <vt:lpstr>一、结晶的热力学条件</vt:lpstr>
      <vt:lpstr>1、冷却曲线  Cooling curve</vt:lpstr>
      <vt:lpstr>2、过冷与过冷度</vt:lpstr>
      <vt:lpstr>2、过冷与过冷度</vt:lpstr>
      <vt:lpstr>二. 结晶过程</vt:lpstr>
      <vt:lpstr>二. 结晶过程 ——1、结晶的基本过程</vt:lpstr>
      <vt:lpstr>形核</vt:lpstr>
      <vt:lpstr>晶核长大</vt:lpstr>
      <vt:lpstr>2、晶核的形成方式</vt:lpstr>
      <vt:lpstr>3、晶核的长大方式</vt:lpstr>
      <vt:lpstr>均匀长大</vt:lpstr>
      <vt:lpstr>树枝状长大</vt:lpstr>
      <vt:lpstr>树枝状长大</vt:lpstr>
      <vt:lpstr>树枝状长大的实际观察</vt:lpstr>
      <vt:lpstr>树枝状长大的实际观察(定向凝固)</vt:lpstr>
      <vt:lpstr>金属的树枝状结晶</vt:lpstr>
      <vt:lpstr>三、同素异构转变</vt:lpstr>
      <vt:lpstr>三、同素异构转变 Isomeric transition</vt:lpstr>
      <vt:lpstr>1、铁的同素异构转变</vt:lpstr>
      <vt:lpstr>铁的同素异构转变</vt:lpstr>
      <vt:lpstr>2、固态转变的特点</vt:lpstr>
      <vt:lpstr>第二节 合金的结晶 Crystallization of Alloys</vt:lpstr>
      <vt:lpstr>第二节 合金的结晶 Crystallization of Alloys</vt:lpstr>
      <vt:lpstr>合金的结晶 Crystallization of Alloys</vt:lpstr>
      <vt:lpstr>合金的结晶</vt:lpstr>
      <vt:lpstr>合金的结晶——相图</vt:lpstr>
      <vt:lpstr>合金的结晶——相图</vt:lpstr>
      <vt:lpstr>一、二元相图的建立 Establishment of the binary phase diagram</vt:lpstr>
      <vt:lpstr>二元相图的建立</vt:lpstr>
      <vt:lpstr>二元相图的建立步骤</vt:lpstr>
      <vt:lpstr>二元相图的建立步骤</vt:lpstr>
      <vt:lpstr>二元相图的建立</vt:lpstr>
      <vt:lpstr>二、二元相图的基本类型与分析 Basic types and analysis of binary alloy phase diagram</vt:lpstr>
      <vt:lpstr>二、二元相图的基本类型与分析</vt:lpstr>
      <vt:lpstr>1.二元匀晶相图</vt:lpstr>
      <vt:lpstr>1. 二元匀晶相图 Binary isomorphous phase diagram</vt:lpstr>
      <vt:lpstr>相图分析</vt:lpstr>
      <vt:lpstr>(2) 合金的结晶过程</vt:lpstr>
      <vt:lpstr>(2) 合金的结晶过程(Cont.)</vt:lpstr>
      <vt:lpstr>(2) 合金的结晶过程(Cont.)</vt:lpstr>
      <vt:lpstr>（3） 杠杆定律 lever rule</vt:lpstr>
      <vt:lpstr>（3） 杠杆定律 lever rule</vt:lpstr>
      <vt:lpstr>（3） 杠杆定律 lever rule</vt:lpstr>
      <vt:lpstr>（3） 杠杆定律 lever rule</vt:lpstr>
      <vt:lpstr>（4） 枝晶偏析 Dendritic segregation</vt:lpstr>
      <vt:lpstr>（4） 枝晶偏析 Dendritic segregation</vt:lpstr>
      <vt:lpstr>Cu-Ni合金的平衡组织与枝晶偏析组织</vt:lpstr>
      <vt:lpstr>2.二元共晶相图</vt:lpstr>
      <vt:lpstr>2、二元共晶相图 Binary eutectic phase diagram</vt:lpstr>
      <vt:lpstr>⑴ 相图分析 （以 Pb-Sn 相图为例）</vt:lpstr>
      <vt:lpstr>⑴ 相图分析——特征线</vt:lpstr>
      <vt:lpstr>⑴ 相图分析——相、相区</vt:lpstr>
      <vt:lpstr>PowerPoint 演示文稿</vt:lpstr>
      <vt:lpstr>PowerPoint 演示文稿</vt:lpstr>
      <vt:lpstr>⑵典型合金的结晶过程</vt:lpstr>
      <vt:lpstr>Ⅰ合金的结晶过程（续）</vt:lpstr>
      <vt:lpstr>PowerPoint 演示文稿</vt:lpstr>
      <vt:lpstr>Ⅰ合金的结晶过程（续）</vt:lpstr>
      <vt:lpstr>② 共晶合金(Ⅱ合金)的结晶过程</vt:lpstr>
      <vt:lpstr>② 共晶合金(Ⅱ合金)的结晶过程</vt:lpstr>
      <vt:lpstr>共晶组织形态</vt:lpstr>
      <vt:lpstr>共晶组织形态</vt:lpstr>
      <vt:lpstr>② 共晶合金(Ⅱ合金)的结晶过程</vt:lpstr>
      <vt:lpstr>② 共晶合金(Ⅱ合金)的结晶过程</vt:lpstr>
      <vt:lpstr>③亚共晶合金(Ⅲ合金)的结晶过程</vt:lpstr>
      <vt:lpstr>③亚共晶合金(Ⅲ合金)的结晶过程</vt:lpstr>
      <vt:lpstr>③亚共晶合金(Ⅲ合金)的结晶过程</vt:lpstr>
      <vt:lpstr>③亚共晶合金(Ⅲ合金)的结晶过程</vt:lpstr>
      <vt:lpstr>④ 过共晶合金结晶过程</vt:lpstr>
      <vt:lpstr>⑶ 组织组成物在相图上的标注</vt:lpstr>
      <vt:lpstr>⑶ 组织组成物在相图上的标注</vt:lpstr>
      <vt:lpstr>组织组成物在相图上的标注</vt:lpstr>
      <vt:lpstr>3.二元包晶相图</vt:lpstr>
      <vt:lpstr>3、二元包晶相图 Binary peritectic phase diagram</vt:lpstr>
      <vt:lpstr>⑵ 合金的结晶过程 ——① 包晶成分合金（I）</vt:lpstr>
      <vt:lpstr>（2）合金的结晶过程 ——②  PD成分合金(II)</vt:lpstr>
      <vt:lpstr>（2）合金的结晶过程 ——③  DC成分合金(III)</vt:lpstr>
      <vt:lpstr>4、形成稳定化合物的二元相图</vt:lpstr>
      <vt:lpstr>4、形成稳定化合物的二元相图</vt:lpstr>
      <vt:lpstr>5、具有共析反应的二元相图</vt:lpstr>
      <vt:lpstr>5、具有共析反应的二元相图 Binary phase diagram with eutectoid reaction</vt:lpstr>
      <vt:lpstr>5、具有共析反应二元相图（续）</vt:lpstr>
      <vt:lpstr>5、具有共析反应二元相图（续）</vt:lpstr>
      <vt:lpstr>6、二元相图的分析步骤</vt:lpstr>
      <vt:lpstr>6、二元相图的分析步骤</vt:lpstr>
      <vt:lpstr>6、二元相图的分析步骤</vt:lpstr>
      <vt:lpstr>常见三相等温水平线上的反应</vt:lpstr>
      <vt:lpstr>PowerPoint 演示文稿</vt:lpstr>
      <vt:lpstr>PowerPoint 演示文稿</vt:lpstr>
      <vt:lpstr>PowerPoint 演示文稿</vt:lpstr>
      <vt:lpstr>PowerPoint 演示文稿</vt:lpstr>
      <vt:lpstr>7、相图与合金性能之间的关系</vt:lpstr>
      <vt:lpstr>PowerPoint 演示文稿</vt:lpstr>
      <vt:lpstr>⑵ 相图与铸造性能的关系 </vt:lpstr>
      <vt:lpstr>第三节  铁碳合金相图 Phase Diagram of Iron &amp; Carbon Alloys</vt:lpstr>
      <vt:lpstr>第三节  铁碳合金相图 Phase Diagram of Iron &amp; Carbon Alloys</vt:lpstr>
      <vt:lpstr>第三节  铁碳合金相图</vt:lpstr>
      <vt:lpstr>PowerPoint 演示文稿</vt:lpstr>
      <vt:lpstr>铁碳合金相图的应用</vt:lpstr>
      <vt:lpstr>一、铁碳合金的组元和相</vt:lpstr>
      <vt:lpstr>⑴ 铁素体 Ferrite</vt:lpstr>
      <vt:lpstr>⑵ 奥氏体  Austenite</vt:lpstr>
      <vt:lpstr>⑶ 渗碳体 Cementite</vt:lpstr>
      <vt:lpstr>二、铁碳合金相图的分析 ——⒈ 特征点</vt:lpstr>
      <vt:lpstr>二、铁碳合金相图分析 —⒉ 特征线</vt:lpstr>
      <vt:lpstr>铁碳合金相图分析 ——⒉ 特征线</vt:lpstr>
      <vt:lpstr>铁碳合金相图分析—⒉ 特征线</vt:lpstr>
      <vt:lpstr>铁碳合金相图分析—⒊ 相区</vt:lpstr>
      <vt:lpstr>三、典型合金的平衡结晶过程</vt:lpstr>
      <vt:lpstr>三、典型合金的平衡结晶过程</vt:lpstr>
      <vt:lpstr>⑶ 白口铸铁</vt:lpstr>
      <vt:lpstr>㈠工业纯铁的结晶过程</vt:lpstr>
      <vt:lpstr>㈠工业纯铁的结晶过程</vt:lpstr>
      <vt:lpstr>㈡ 共析钢的结晶过程 </vt:lpstr>
      <vt:lpstr>㈡ 共析钢的结晶过程 </vt:lpstr>
      <vt:lpstr>㈡ 共析钢的结晶过程 </vt:lpstr>
      <vt:lpstr>㈢ 亚共析钢的结晶过程</vt:lpstr>
      <vt:lpstr>㈢ 亚共析钢的结晶过程</vt:lpstr>
      <vt:lpstr>㈢ 亚共析钢的结晶过程</vt:lpstr>
      <vt:lpstr>㈢ 亚共析钢的结晶过程</vt:lpstr>
      <vt:lpstr>㈣ 过共析钢的结晶过程</vt:lpstr>
      <vt:lpstr>过共析钢的结晶过程</vt:lpstr>
      <vt:lpstr>PowerPoint 演示文稿</vt:lpstr>
      <vt:lpstr>PowerPoint 演示文稿</vt:lpstr>
      <vt:lpstr>㈤ 共晶白口铁的结晶过程</vt:lpstr>
      <vt:lpstr>PowerPoint 演示文稿</vt:lpstr>
      <vt:lpstr>PowerPoint 演示文稿</vt:lpstr>
      <vt:lpstr>PowerPoint 演示文稿</vt:lpstr>
      <vt:lpstr>㈥ 亚共晶白口铁的结晶过程</vt:lpstr>
      <vt:lpstr>㈥ 亚共晶白口铁的结晶过程</vt:lpstr>
      <vt:lpstr>㈦ 过共晶白口铁的结晶过程</vt:lpstr>
      <vt:lpstr>㈧ 组织组成物在铁碳合金相图上的标注</vt:lpstr>
      <vt:lpstr>㈧ 组织组成物在铁碳合金相图上的标注</vt:lpstr>
      <vt:lpstr>㈨ 含碳量对铁碳合金组织和性能的影响</vt:lpstr>
      <vt:lpstr>⒈ 含碳量对室温平衡组织的影响</vt:lpstr>
      <vt:lpstr>⒉ 含碳量对力学性能的影响</vt:lpstr>
      <vt:lpstr>⒊ 含碳量对工艺性能的影响</vt:lpstr>
      <vt:lpstr>第四节 凝固组织及其控制</vt:lpstr>
      <vt:lpstr>第四节  凝固组织及其控制</vt:lpstr>
      <vt:lpstr>金属及合金结晶后的晶粒大小及其控制</vt:lpstr>
      <vt:lpstr>1.晶粒度（ grain size）</vt:lpstr>
      <vt:lpstr>2、决定晶粒度的因素</vt:lpstr>
      <vt:lpstr>3、控制晶粒度的方法</vt:lpstr>
      <vt:lpstr>Al-Si合金组织</vt:lpstr>
      <vt:lpstr>铸铁变质处理前后的组织</vt:lpstr>
      <vt:lpstr>3、控制晶粒度的方法 ——⑶ 振动、搅拌等</vt:lpstr>
      <vt:lpstr>4、晶粒大小对金属性能的影响</vt:lpstr>
      <vt:lpstr>铸锭(件)组织与缺陷</vt:lpstr>
      <vt:lpstr>一、铸锭(件)的组织</vt:lpstr>
      <vt:lpstr>1、表层细晶区</vt:lpstr>
      <vt:lpstr>2、柱状晶区</vt:lpstr>
      <vt:lpstr>3、中心粗等轴晶区</vt:lpstr>
      <vt:lpstr>二、铸造缺陷</vt:lpstr>
      <vt:lpstr>铸造缺陷——1、缩孔、缩松</vt:lpstr>
      <vt:lpstr>2、偏析</vt:lpstr>
      <vt:lpstr>3、气孔</vt:lpstr>
      <vt:lpstr>作业（p36-37）</vt:lpstr>
      <vt:lpstr>PowerPoint 演示文稿</vt:lpstr>
    </vt:vector>
  </TitlesOfParts>
  <Company>dlut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材料的性能</dc:title>
  <dc:creator>yys</dc:creator>
  <cp:lastModifiedBy>lin liu</cp:lastModifiedBy>
  <cp:revision>655</cp:revision>
  <dcterms:created xsi:type="dcterms:W3CDTF">2002-05-11T12:00:00Z</dcterms:created>
  <dcterms:modified xsi:type="dcterms:W3CDTF">2025-11-20T09:43:05Z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DED7CCFE817E463F9241A08B3AC2410C_13</vt:lpwstr>
  </property>
</Properties>
</file>