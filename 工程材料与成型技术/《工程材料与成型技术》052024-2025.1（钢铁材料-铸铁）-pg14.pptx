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448" r:id="rId3"/>
    <p:sldId id="449" r:id="rId4"/>
    <p:sldId id="342" r:id="rId5"/>
    <p:sldId id="316" r:id="rId6"/>
    <p:sldId id="264" r:id="rId7"/>
    <p:sldId id="340" r:id="rId8"/>
    <p:sldId id="341" r:id="rId9"/>
    <p:sldId id="397" r:id="rId10"/>
    <p:sldId id="317" r:id="rId11"/>
    <p:sldId id="299" r:id="rId12"/>
    <p:sldId id="300" r:id="rId13"/>
    <p:sldId id="301" r:id="rId14"/>
    <p:sldId id="266" r:id="rId15"/>
    <p:sldId id="338" r:id="rId16"/>
    <p:sldId id="302" r:id="rId17"/>
    <p:sldId id="318" r:id="rId18"/>
    <p:sldId id="319" r:id="rId19"/>
    <p:sldId id="271" r:id="rId20"/>
    <p:sldId id="304" r:id="rId21"/>
    <p:sldId id="305" r:id="rId22"/>
    <p:sldId id="320" r:id="rId23"/>
    <p:sldId id="272" r:id="rId24"/>
    <p:sldId id="289" r:id="rId25"/>
    <p:sldId id="294" r:id="rId26"/>
    <p:sldId id="321" r:id="rId27"/>
    <p:sldId id="398" r:id="rId28"/>
    <p:sldId id="273" r:id="rId29"/>
    <p:sldId id="401" r:id="rId30"/>
    <p:sldId id="261" r:id="rId31"/>
    <p:sldId id="325" r:id="rId32"/>
    <p:sldId id="326" r:id="rId33"/>
    <p:sldId id="327" r:id="rId34"/>
    <p:sldId id="307" r:id="rId35"/>
    <p:sldId id="329" r:id="rId36"/>
    <p:sldId id="402" r:id="rId37"/>
    <p:sldId id="328" r:id="rId38"/>
    <p:sldId id="277" r:id="rId39"/>
    <p:sldId id="310" r:id="rId40"/>
    <p:sldId id="330" r:id="rId41"/>
    <p:sldId id="315" r:id="rId42"/>
    <p:sldId id="334" r:id="rId43"/>
    <p:sldId id="403" r:id="rId44"/>
    <p:sldId id="280" r:id="rId45"/>
    <p:sldId id="333" r:id="rId46"/>
    <p:sldId id="331" r:id="rId47"/>
    <p:sldId id="335" r:id="rId48"/>
    <p:sldId id="312" r:id="rId49"/>
    <p:sldId id="337" r:id="rId50"/>
    <p:sldId id="404" r:id="rId51"/>
    <p:sldId id="282" r:id="rId52"/>
    <p:sldId id="391" r:id="rId53"/>
    <p:sldId id="336" r:id="rId54"/>
    <p:sldId id="313" r:id="rId55"/>
    <p:sldId id="323" r:id="rId56"/>
    <p:sldId id="405" r:id="rId57"/>
    <p:sldId id="324" r:id="rId58"/>
    <p:sldId id="399" r:id="rId59"/>
    <p:sldId id="400" r:id="rId60"/>
  </p:sldIdLst>
  <p:sldSz cx="9144000" cy="6858000" type="screen4x3"/>
  <p:notesSz cx="6858000" cy="9144000"/>
  <p:custDataLst>
    <p:tags r:id="rId65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FFFF"/>
    <a:srgbClr val="FFFF99"/>
    <a:srgbClr val="F096E1"/>
    <a:srgbClr val="FDF1FB"/>
    <a:srgbClr val="E1FFFF"/>
    <a:srgbClr val="0000B2"/>
    <a:srgbClr val="CCFF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517"/>
    <p:restoredTop sz="90465"/>
  </p:normalViewPr>
  <p:slideViewPr>
    <p:cSldViewPr showGuides="1">
      <p:cViewPr varScale="1">
        <p:scale>
          <a:sx n="114" d="100"/>
          <a:sy n="114" d="100"/>
        </p:scale>
        <p:origin x="1116" y="102"/>
      </p:cViewPr>
      <p:guideLst>
        <p:guide orient="horz" pos="2160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gs" Target="tags/tag15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D495B5-8281-4192-A84A-9299EEBE4714}" type="datetime1">
              <a:rPr kumimoji="0" lang="zh-CN" altLang="en-US" b="0" i="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DB16DA-4AC0-4487-AF06-A9C8437AB4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.GIF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7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6.pn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30.jpe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9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8.jpe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.jpeg"/><Relationship Id="rId1" Type="http://schemas.openxmlformats.org/officeDocument/2006/relationships/image" Target="../media/image2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jpeg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jpeg"/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image" Target="../media/image1.jpeg"/><Relationship Id="rId1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8.jpe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jpeg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49.pn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tags" Target="../tags/tag13.xml"/><Relationship Id="rId7" Type="http://schemas.openxmlformats.org/officeDocument/2006/relationships/image" Target="../media/image30.jpeg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29.jpeg"/><Relationship Id="rId2" Type="http://schemas.openxmlformats.org/officeDocument/2006/relationships/tags" Target="../tags/tag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4.xml"/><Relationship Id="rId10" Type="http://schemas.openxmlformats.org/officeDocument/2006/relationships/image" Target="../media/image1.jpeg"/><Relationship Id="rId1" Type="http://schemas.openxmlformats.org/officeDocument/2006/relationships/tags" Target="../tags/tag8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53.png"/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57.jpeg"/><Relationship Id="rId3" Type="http://schemas.openxmlformats.org/officeDocument/2006/relationships/image" Target="../media/image3.jpeg"/><Relationship Id="rId2" Type="http://schemas.openxmlformats.org/officeDocument/2006/relationships/image" Target="../media/image56.png"/><Relationship Id="rId1" Type="http://schemas.openxmlformats.org/officeDocument/2006/relationships/image" Target="../media/image55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image" Target="../media/image59.jpe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69.jpeg"/><Relationship Id="rId1" Type="http://schemas.openxmlformats.org/officeDocument/2006/relationships/image" Target="../media/image68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504" y="6373971"/>
            <a:ext cx="1905000" cy="3914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7510" y="288290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u="sng" dirty="0">
                <a:solidFill>
                  <a:srgbClr val="FF0000"/>
                </a:solidFill>
              </a:rPr>
              <a:t>Materials and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4255" y="6650990"/>
            <a:ext cx="385445" cy="20701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124744"/>
            <a:ext cx="8286750" cy="2571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第七章  铸铁</a:t>
            </a:r>
            <a:br>
              <a:rPr kumimoji="1" lang="en-US" altLang="zh-CN" sz="8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</a:br>
            <a:r>
              <a:rPr lang="en-US" altLang="zh-CN" sz="80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Cast Iron</a:t>
            </a:r>
            <a:endParaRPr kumimoji="1" lang="zh-CN" altLang="en-US" sz="80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2536" name="Rectangle 8"/>
          <p:cNvSpPr/>
          <p:nvPr/>
        </p:nvSpPr>
        <p:spPr>
          <a:xfrm>
            <a:off x="785813" y="3357563"/>
            <a:ext cx="4114800" cy="3170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ldLvl="0" animBg="1"/>
      <p:bldP spid="225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4255" y="6650990"/>
            <a:ext cx="385445" cy="20701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75" y="-7620"/>
            <a:ext cx="5450929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第七章  铸铁</a:t>
            </a:r>
            <a:endParaRPr kumimoji="1" lang="zh-CN" altLang="en-US" sz="5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2535" name="Rectangle 7"/>
          <p:cNvSpPr>
            <a:spLocks noGrp="1"/>
          </p:cNvSpPr>
          <p:nvPr>
            <p:ph idx="1"/>
          </p:nvPr>
        </p:nvSpPr>
        <p:spPr>
          <a:xfrm>
            <a:off x="0" y="1000125"/>
            <a:ext cx="7000875" cy="55721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铸铁：含碳量大于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2.11%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并含有较多硅、锰、硫、磷等元素的多元铁基合金。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铸铁具有许多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优良的性能，并且生产简便、成本低廉</a:t>
            </a:r>
            <a:r>
              <a:rPr lang="zh-CN" altLang="en-US" b="1" dirty="0">
                <a:ea typeface="华文中宋" panose="02010600040101010101" pitchFamily="2" charset="-122"/>
              </a:rPr>
              <a:t>，因而是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应用最广泛的材料之一（机床床身、内燃机的汽缸体、缸套、活塞环、轴瓦、曲轴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….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sp>
        <p:nvSpPr>
          <p:cNvPr id="22536" name="Rectangle 8"/>
          <p:cNvSpPr/>
          <p:nvPr/>
        </p:nvSpPr>
        <p:spPr>
          <a:xfrm>
            <a:off x="785813" y="3357563"/>
            <a:ext cx="4114800" cy="3170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2540" name="Picture 12" descr="image00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143750" y="2857500"/>
            <a:ext cx="2000250" cy="2106613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410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5" grpId="0" advAuto="1000" build="p"/>
      <p:bldP spid="225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64270" y="6666865"/>
            <a:ext cx="379730" cy="19113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438" y="0"/>
            <a:ext cx="47244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铸铁的应用举例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685800" y="1412875"/>
            <a:ext cx="4678363" cy="46831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E1FFFF"/>
                </a:solidFill>
                <a:ea typeface="华文中宋" panose="02010600040101010101" pitchFamily="2" charset="-122"/>
              </a:rPr>
              <a:t>机床床身、内燃机的汽缸体</a:t>
            </a:r>
            <a:r>
              <a:rPr lang="zh-CN" altLang="en-US" sz="2000" b="1" dirty="0">
                <a:solidFill>
                  <a:srgbClr val="E1FFFF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E1FFFF"/>
                </a:solidFill>
                <a:ea typeface="华文中宋" panose="02010600040101010101" pitchFamily="2" charset="-122"/>
              </a:rPr>
              <a:t>缸套、活塞环及轴瓦、曲轴等都可用铸铁制造。</a:t>
            </a:r>
            <a:endParaRPr lang="zh-CN" altLang="en-US" b="1" dirty="0">
              <a:solidFill>
                <a:srgbClr val="E1FFFF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513423" y="4358005"/>
            <a:ext cx="6812697" cy="1227170"/>
            <a:chOff x="740" y="2880"/>
            <a:chExt cx="4762" cy="1163"/>
          </a:xfrm>
        </p:grpSpPr>
        <p:pic>
          <p:nvPicPr>
            <p:cNvPr id="5131" name="Picture 5" descr="铸铁曲轴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40" y="2880"/>
              <a:ext cx="4762" cy="1163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5132" name="Text Box 6"/>
            <p:cNvSpPr txBox="1"/>
            <p:nvPr/>
          </p:nvSpPr>
          <p:spPr>
            <a:xfrm>
              <a:off x="814" y="2887"/>
              <a:ext cx="1197" cy="43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铸铁曲轴</a:t>
              </a:r>
              <a:endPara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26" name="Group 7"/>
          <p:cNvGrpSpPr/>
          <p:nvPr/>
        </p:nvGrpSpPr>
        <p:grpSpPr>
          <a:xfrm>
            <a:off x="6706870" y="1616075"/>
            <a:ext cx="2132330" cy="2529840"/>
            <a:chOff x="1822" y="210"/>
            <a:chExt cx="1863" cy="2496"/>
          </a:xfrm>
        </p:grpSpPr>
        <p:pic>
          <p:nvPicPr>
            <p:cNvPr id="5129" name="Picture 8" descr="内燃机汽缸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2" y="210"/>
              <a:ext cx="1863" cy="249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0" name="Text Box 9"/>
            <p:cNvSpPr txBox="1"/>
            <p:nvPr/>
          </p:nvSpPr>
          <p:spPr>
            <a:xfrm>
              <a:off x="2875" y="643"/>
              <a:ext cx="805" cy="1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内燃机汽缸</a:t>
              </a:r>
              <a:endPara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829675" y="6617970"/>
            <a:ext cx="314325" cy="24003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457200" y="1676400"/>
            <a:ext cx="7570788" cy="4876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第一节  概述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第二节  常用铸铁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450" name="Rectangle 18"/>
          <p:cNvSpPr>
            <a:spLocks noGrp="1" noChangeArrowheads="1"/>
          </p:cNvSpPr>
          <p:nvPr>
            <p:ph type="title"/>
          </p:nvPr>
        </p:nvSpPr>
        <p:spPr>
          <a:xfrm>
            <a:off x="852488" y="142875"/>
            <a:ext cx="8291513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第七章  铸铁</a:t>
            </a:r>
            <a: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内容提要</a:t>
            </a:r>
            <a:endParaRPr kumimoji="1" lang="zh-CN" altLang="en-US" sz="5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15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dvAuto="1000" build="p"/>
      <p:bldP spid="184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4255" y="6591300"/>
            <a:ext cx="314325" cy="2667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6978" name="Rectangle 2"/>
          <p:cNvSpPr>
            <a:spLocks noGrp="1"/>
          </p:cNvSpPr>
          <p:nvPr>
            <p:ph idx="1"/>
          </p:nvPr>
        </p:nvSpPr>
        <p:spPr>
          <a:xfrm>
            <a:off x="1110298" y="1517015"/>
            <a:ext cx="6923087" cy="382428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一、铸铁的石墨化过程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二、铸铁的特点及分类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126984" name="Rectangle 8"/>
          <p:cNvSpPr>
            <a:spLocks noGrp="1" noChangeArrowheads="1"/>
          </p:cNvSpPr>
          <p:nvPr>
            <p:ph type="title"/>
          </p:nvPr>
        </p:nvSpPr>
        <p:spPr>
          <a:xfrm>
            <a:off x="1305559" y="188640"/>
            <a:ext cx="6532563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概述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17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advAuto="1000" build="p"/>
      <p:bldP spid="1269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5375" y="6597352"/>
            <a:ext cx="333375" cy="260648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8002" name="Rectangle 2"/>
          <p:cNvSpPr>
            <a:spLocks noGrp="1" noChangeArrowheads="1"/>
          </p:cNvSpPr>
          <p:nvPr>
            <p:ph idx="1"/>
          </p:nvPr>
        </p:nvSpPr>
        <p:spPr>
          <a:xfrm>
            <a:off x="214630" y="1106170"/>
            <a:ext cx="8340725" cy="530034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一、铸铁的石墨化过程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Fe-Fe</a:t>
            </a:r>
            <a:r>
              <a:rPr kumimoji="1" lang="en-US" altLang="zh-CN" b="1" i="0" u="none" strike="noStrike" kern="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3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和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Fe-G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E1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石墨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双重相图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hlinkClick r:id="rId1" action="ppaction://hlinksldjump"/>
              </a:rPr>
              <a:t>.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Fe</a:t>
            </a:r>
            <a:r>
              <a:rPr kumimoji="1" lang="en-US" altLang="zh-CN" b="1" i="0" u="none" strike="noStrike" kern="0" cap="none" spc="0" normalizeH="0" baseline="-2500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3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是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亚稳相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，在一定条件下将发生分解：    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           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Fe</a:t>
            </a:r>
            <a:r>
              <a:rPr kumimoji="1" lang="en-US" altLang="zh-CN" b="1" i="0" u="none" strike="noStrike" kern="0" cap="none" spc="0" normalizeH="0" baseline="-25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3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 → 3Fe + C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（石墨）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28008" name="Rectangle 8"/>
          <p:cNvSpPr>
            <a:spLocks noGrp="1" noChangeArrowheads="1"/>
          </p:cNvSpPr>
          <p:nvPr>
            <p:ph type="title"/>
          </p:nvPr>
        </p:nvSpPr>
        <p:spPr>
          <a:xfrm>
            <a:off x="1928813" y="83185"/>
            <a:ext cx="3857625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概  述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19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56226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8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8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8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 advAuto="1000" build="p"/>
      <p:bldP spid="1280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99145" y="6572250"/>
            <a:ext cx="329565" cy="28575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42875"/>
            <a:ext cx="771525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Fe-Fe</a:t>
            </a:r>
            <a:r>
              <a:rPr kumimoji="1" lang="en-US" altLang="zh-CN" sz="4400" b="1" i="0" u="none" strike="noStrike" kern="0" cap="none" spc="0" normalizeH="0" baseline="-2500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C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Fe-G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（虚线）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双重相图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1316990" y="1543685"/>
            <a:ext cx="7184390" cy="4671695"/>
            <a:chOff x="432" y="720"/>
            <a:chExt cx="5042" cy="3402"/>
          </a:xfrm>
        </p:grpSpPr>
        <p:grpSp>
          <p:nvGrpSpPr>
            <p:cNvPr id="10247" name="Group 14"/>
            <p:cNvGrpSpPr/>
            <p:nvPr/>
          </p:nvGrpSpPr>
          <p:grpSpPr>
            <a:xfrm>
              <a:off x="432" y="720"/>
              <a:ext cx="5042" cy="3402"/>
              <a:chOff x="432" y="720"/>
              <a:chExt cx="5042" cy="3402"/>
            </a:xfrm>
          </p:grpSpPr>
          <p:pic>
            <p:nvPicPr>
              <p:cNvPr id="10250" name="Picture 11" descr="Fe-C双重相图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432" y="720"/>
                <a:ext cx="5042" cy="3402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0251" name="Line 12"/>
              <p:cNvSpPr/>
              <p:nvPr/>
            </p:nvSpPr>
            <p:spPr>
              <a:xfrm flipV="1">
                <a:off x="3578" y="1008"/>
                <a:ext cx="912" cy="864"/>
              </a:xfrm>
              <a:prstGeom prst="line">
                <a:avLst/>
              </a:prstGeom>
              <a:ln w="38100">
                <a:noFill/>
              </a:ln>
            </p:spPr>
          </p:sp>
        </p:grpSp>
        <p:sp>
          <p:nvSpPr>
            <p:cNvPr id="10248" name="Text Box 15"/>
            <p:cNvSpPr txBox="1"/>
            <p:nvPr/>
          </p:nvSpPr>
          <p:spPr>
            <a:xfrm>
              <a:off x="4464" y="1248"/>
              <a:ext cx="480" cy="2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1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r>
                <a:rPr lang="en-US" altLang="zh-CN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18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G</a:t>
              </a:r>
              <a:endParaRPr lang="en-US" altLang="zh-CN" sz="18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49" name="Text Box 16"/>
            <p:cNvSpPr txBox="1"/>
            <p:nvPr/>
          </p:nvSpPr>
          <p:spPr>
            <a:xfrm>
              <a:off x="4860" y="1632"/>
              <a:ext cx="459" cy="201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12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L+Fe</a:t>
              </a:r>
              <a:r>
                <a:rPr lang="en-US" altLang="zh-CN" sz="1200" b="1" i="1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1200" b="1" i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1200" b="1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4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40967" name="AutoShape 20">
            <a:hlinkClick r:id="rId2" action="ppaction://hlinksldjump"/>
          </p:cNvPr>
          <p:cNvSpPr/>
          <p:nvPr/>
        </p:nvSpPr>
        <p:spPr>
          <a:xfrm flipH="1">
            <a:off x="8933815" y="6572250"/>
            <a:ext cx="205740" cy="28575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4230" y="6651327"/>
            <a:ext cx="495300" cy="206673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1439419" y="0"/>
            <a:ext cx="4931410" cy="93535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铸铁中的碳</a:t>
            </a: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sz="half" idx="1"/>
          </p:nvPr>
        </p:nvSpPr>
        <p:spPr>
          <a:xfrm>
            <a:off x="179070" y="980440"/>
            <a:ext cx="6528435" cy="499491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石墨</a:t>
            </a:r>
            <a:r>
              <a:rPr lang="zh-CN" altLang="en-US" sz="3200" b="1" dirty="0">
                <a:ea typeface="华文中宋" panose="02010600040101010101" pitchFamily="2" charset="-122"/>
              </a:rPr>
              <a:t>是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碳的单质</a:t>
            </a:r>
            <a:r>
              <a:rPr lang="zh-CN" altLang="en-US" sz="3200" b="1" dirty="0">
                <a:ea typeface="华文中宋" panose="02010600040101010101" pitchFamily="2" charset="-122"/>
              </a:rPr>
              <a:t>之一，其强度、塑性、韧性几乎为零。</a:t>
            </a:r>
            <a:endParaRPr lang="zh-CN" altLang="en-US" sz="32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铸铁</a:t>
            </a:r>
            <a:r>
              <a:rPr lang="zh-CN" altLang="en-US" sz="3200" b="1" dirty="0">
                <a:ea typeface="华文中宋" panose="02010600040101010101" pitchFamily="2" charset="-122"/>
              </a:rPr>
              <a:t>中的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</a:t>
            </a:r>
            <a:r>
              <a:rPr lang="zh-CN" altLang="en-US" sz="3200" b="1" dirty="0">
                <a:ea typeface="华文中宋" panose="02010600040101010101" pitchFamily="2" charset="-122"/>
              </a:rPr>
              <a:t>除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少量固溶于基体中</a:t>
            </a:r>
            <a:r>
              <a:rPr lang="zh-CN" altLang="en-US" sz="3200" b="1" dirty="0">
                <a:ea typeface="华文中宋" panose="02010600040101010101" pitchFamily="2" charset="-122"/>
              </a:rPr>
              <a:t>外</a:t>
            </a:r>
            <a:r>
              <a:rPr lang="en-US" altLang="zh-CN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 </a:t>
            </a:r>
            <a:r>
              <a:rPr lang="zh-CN" altLang="en-US" sz="3200" b="1" dirty="0">
                <a:ea typeface="华文中宋" panose="02010600040101010101" pitchFamily="2" charset="-122"/>
              </a:rPr>
              <a:t>主要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以化合态</a:t>
            </a:r>
            <a:r>
              <a:rPr lang="zh-CN" altLang="en-US" sz="3200" b="1" dirty="0">
                <a:ea typeface="华文中宋" panose="02010600040101010101" pitchFamily="2" charset="-122"/>
              </a:rPr>
              <a:t>的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</a:t>
            </a:r>
            <a:r>
              <a:rPr lang="zh-CN" altLang="en-US" sz="3200" b="1" dirty="0">
                <a:solidFill>
                  <a:schemeClr val="folHlink"/>
                </a:solidFill>
              </a:rPr>
              <a:t>碳体</a:t>
            </a:r>
            <a:r>
              <a:rPr lang="en-US" altLang="zh-CN" sz="3200" b="1" dirty="0"/>
              <a:t>(Fe</a:t>
            </a:r>
            <a:r>
              <a:rPr lang="en-US" altLang="zh-CN" sz="3200" b="1" baseline="-25000" dirty="0"/>
              <a:t>3</a:t>
            </a:r>
            <a:r>
              <a:rPr lang="en-US" altLang="zh-CN" sz="3200" b="1" dirty="0"/>
              <a:t>C)</a:t>
            </a:r>
            <a:r>
              <a:rPr lang="zh-CN" altLang="en-US" sz="3200" b="1" dirty="0">
                <a:ea typeface="华文中宋" panose="02010600040101010101" pitchFamily="2" charset="-122"/>
              </a:rPr>
              <a:t>和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游离态</a:t>
            </a:r>
            <a:r>
              <a:rPr lang="zh-CN" altLang="en-US" sz="3200" b="1" dirty="0">
                <a:ea typeface="华文中宋" panose="02010600040101010101" pitchFamily="2" charset="-122"/>
              </a:rPr>
              <a:t>的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石墨</a:t>
            </a:r>
            <a:r>
              <a:rPr lang="en-US" altLang="zh-CN" sz="3200" b="1" dirty="0"/>
              <a:t>(G)</a:t>
            </a:r>
            <a:r>
              <a:rPr lang="zh-CN" altLang="en-US" sz="3200" b="1" dirty="0">
                <a:solidFill>
                  <a:schemeClr val="folHlink"/>
                </a:solidFill>
              </a:rPr>
              <a:t>两种形式存在。</a:t>
            </a:r>
            <a:endParaRPr lang="zh-CN" altLang="en-US" sz="3200" b="1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9221" name="Group 11"/>
          <p:cNvGrpSpPr/>
          <p:nvPr/>
        </p:nvGrpSpPr>
        <p:grpSpPr>
          <a:xfrm>
            <a:off x="6875780" y="2588704"/>
            <a:ext cx="2185035" cy="1733741"/>
            <a:chOff x="3509" y="1078"/>
            <a:chExt cx="1872" cy="1505"/>
          </a:xfrm>
        </p:grpSpPr>
        <p:pic>
          <p:nvPicPr>
            <p:cNvPr id="9230" name="Picture 5" descr="石墨结构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09" y="1078"/>
              <a:ext cx="1872" cy="1505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9231" name="Text Box 8"/>
            <p:cNvSpPr txBox="1"/>
            <p:nvPr/>
          </p:nvSpPr>
          <p:spPr>
            <a:xfrm>
              <a:off x="3571" y="1078"/>
              <a:ext cx="1338" cy="32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石墨的结构</a:t>
              </a:r>
              <a:endParaRPr lang="zh-CN" altLang="en-US" sz="1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9222" name="Group 13"/>
          <p:cNvGrpSpPr/>
          <p:nvPr/>
        </p:nvGrpSpPr>
        <p:grpSpPr>
          <a:xfrm>
            <a:off x="1763369" y="4598856"/>
            <a:ext cx="2538730" cy="1837055"/>
            <a:chOff x="1007" y="2965"/>
            <a:chExt cx="1778" cy="1277"/>
          </a:xfrm>
        </p:grpSpPr>
        <p:pic>
          <p:nvPicPr>
            <p:cNvPr id="9228" name="Picture 6" descr="共晶白口铁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" y="2965"/>
              <a:ext cx="1778" cy="1277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9229" name="Rectangle 9"/>
            <p:cNvSpPr/>
            <p:nvPr/>
          </p:nvSpPr>
          <p:spPr>
            <a:xfrm>
              <a:off x="1156" y="4039"/>
              <a:ext cx="1158" cy="19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lnSpc>
                  <a:spcPct val="90000"/>
                </a:lnSpc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共晶白口铸铁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9223" name="Group 12"/>
          <p:cNvGrpSpPr/>
          <p:nvPr/>
        </p:nvGrpSpPr>
        <p:grpSpPr>
          <a:xfrm>
            <a:off x="4427855" y="4598670"/>
            <a:ext cx="2035810" cy="1854200"/>
            <a:chOff x="3577" y="2965"/>
            <a:chExt cx="1505" cy="1355"/>
          </a:xfrm>
        </p:grpSpPr>
        <p:pic>
          <p:nvPicPr>
            <p:cNvPr id="9226" name="Picture 7" descr="F灰铸铁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7" y="2965"/>
              <a:ext cx="1505" cy="1355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9227" name="Rectangle 10"/>
            <p:cNvSpPr/>
            <p:nvPr/>
          </p:nvSpPr>
          <p:spPr>
            <a:xfrm>
              <a:off x="3923" y="4130"/>
              <a:ext cx="1137" cy="19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lnSpc>
                  <a:spcPct val="90000"/>
                </a:lnSpc>
              </a:pPr>
              <a:r>
                <a:rPr lang="en-US" altLang="zh-CN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F</a:t>
              </a: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基体灰铸铁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922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403975"/>
            <a:ext cx="1905000" cy="40005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" name="Picture 6" descr="F球墨铸铁"/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6589220" y="4581360"/>
            <a:ext cx="2185035" cy="1766624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3" name="Rectangle 7"/>
          <p:cNvSpPr/>
          <p:nvPr/>
        </p:nvSpPr>
        <p:spPr>
          <a:xfrm>
            <a:off x="6589395" y="6193155"/>
            <a:ext cx="1536700" cy="26289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r>
              <a:rPr lang="en-US" altLang="zh-CN" sz="16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16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基体球墨铸铁</a:t>
            </a:r>
            <a:endParaRPr lang="zh-CN" altLang="en-US" sz="1600" b="1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71255" y="6573520"/>
            <a:ext cx="379730" cy="28448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0"/>
            <a:ext cx="6738938" cy="8826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、铸铁的石墨化过程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6090285" cy="53949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石墨化：铸铁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中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碳原子析出形成石墨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过程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铸铁中的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石墨形成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途径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）在结晶过程中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直接析出；（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）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由渗碳体加热时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分解得到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铸铁的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石墨化分两个阶段：第一阶段、第二阶段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089650" y="1555750"/>
            <a:ext cx="2841625" cy="3885565"/>
            <a:chOff x="3270" y="704"/>
            <a:chExt cx="2353" cy="3047"/>
          </a:xfrm>
        </p:grpSpPr>
        <p:pic>
          <p:nvPicPr>
            <p:cNvPr id="11272" name="Picture 5" descr="石墨化退火台车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70" y="704"/>
              <a:ext cx="2353" cy="3047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77830" name="Text Box 6"/>
            <p:cNvSpPr txBox="1">
              <a:spLocks noChangeArrowheads="1"/>
            </p:cNvSpPr>
            <p:nvPr/>
          </p:nvSpPr>
          <p:spPr bwMode="auto">
            <a:xfrm>
              <a:off x="3368" y="3396"/>
              <a:ext cx="2101" cy="3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台车式石墨化退火炉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27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4415" y="6667500"/>
            <a:ext cx="455930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2143125" y="0"/>
            <a:ext cx="5715000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第一阶段石墨化</a:t>
            </a: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179388" y="1071563"/>
            <a:ext cx="5035550" cy="535781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第一阶段石墨化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>
                <a:solidFill>
                  <a:srgbClr val="FDF1FB"/>
                </a:solidFill>
                <a:ea typeface="华文中宋" panose="02010600040101010101" pitchFamily="2" charset="-122"/>
              </a:rPr>
              <a:t>在</a:t>
            </a:r>
            <a:r>
              <a:rPr lang="en-US" altLang="zh-CN" b="1" dirty="0">
                <a:solidFill>
                  <a:schemeClr val="folHlink"/>
                </a:solidFill>
              </a:rPr>
              <a:t>P’S’K’</a:t>
            </a:r>
            <a:r>
              <a:rPr lang="zh-CN" altLang="en-US" b="1" dirty="0">
                <a:solidFill>
                  <a:schemeClr val="folHlink"/>
                </a:solidFill>
              </a:rPr>
              <a:t>线以上发生的石墨化。</a:t>
            </a:r>
            <a:r>
              <a:rPr lang="zh-CN" altLang="en-US" b="1" dirty="0">
                <a:solidFill>
                  <a:srgbClr val="FDF1FB"/>
                </a:solidFill>
                <a:ea typeface="华文中宋" panose="02010600040101010101" pitchFamily="2" charset="-122"/>
              </a:rPr>
              <a:t>包括：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</a:rPr>
              <a:t>1</a:t>
            </a:r>
            <a:r>
              <a:rPr lang="zh-CN" altLang="en-US" b="1" dirty="0">
                <a:solidFill>
                  <a:schemeClr val="folHlink"/>
                </a:solidFill>
              </a:rPr>
              <a:t>）结晶时</a:t>
            </a:r>
            <a:r>
              <a:rPr lang="zh-CN" altLang="en-US" b="1" dirty="0">
                <a:solidFill>
                  <a:srgbClr val="E1FFFF"/>
                </a:solidFill>
                <a:ea typeface="华文中宋" panose="02010600040101010101" pitchFamily="2" charset="-122"/>
              </a:rPr>
              <a:t>一次石墨、二次石墨、共晶石墨的</a:t>
            </a:r>
            <a:r>
              <a:rPr lang="zh-CN" altLang="en-US" b="1" dirty="0">
                <a:solidFill>
                  <a:schemeClr val="folHlink"/>
                </a:solidFill>
              </a:rPr>
              <a:t>析出</a:t>
            </a:r>
            <a:endParaRPr lang="zh-CN" altLang="en-US" b="1" dirty="0">
              <a:solidFill>
                <a:srgbClr val="FDF1FB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</a:rPr>
              <a:t>2</a:t>
            </a:r>
            <a:r>
              <a:rPr lang="zh-CN" altLang="en-US" b="1" dirty="0">
                <a:solidFill>
                  <a:schemeClr val="folHlink"/>
                </a:solidFill>
              </a:rPr>
              <a:t>）</a:t>
            </a:r>
            <a:r>
              <a:rPr lang="zh-CN" altLang="en-US" b="1" dirty="0">
                <a:solidFill>
                  <a:srgbClr val="FF0000"/>
                </a:solidFill>
              </a:rPr>
              <a:t>加热时</a:t>
            </a:r>
            <a:r>
              <a:rPr lang="zh-CN" altLang="en-US" b="1" dirty="0">
                <a:solidFill>
                  <a:schemeClr val="folHlink"/>
                </a:solidFill>
              </a:rPr>
              <a:t>一次渗碳体、二次渗碳体及共晶渗碳体</a:t>
            </a:r>
            <a:r>
              <a:rPr lang="zh-CN" altLang="en-US" b="1" dirty="0">
                <a:solidFill>
                  <a:srgbClr val="E1FFFF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</a:rPr>
              <a:t>分解。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358130" y="1428750"/>
            <a:ext cx="3524250" cy="4540250"/>
            <a:chOff x="2736" y="528"/>
            <a:chExt cx="2688" cy="3264"/>
          </a:xfrm>
        </p:grpSpPr>
        <p:grpSp>
          <p:nvGrpSpPr>
            <p:cNvPr id="12296" name="Group 5"/>
            <p:cNvGrpSpPr/>
            <p:nvPr/>
          </p:nvGrpSpPr>
          <p:grpSpPr>
            <a:xfrm>
              <a:off x="2736" y="528"/>
              <a:ext cx="2688" cy="3264"/>
              <a:chOff x="3024" y="912"/>
              <a:chExt cx="2496" cy="2490"/>
            </a:xfrm>
          </p:grpSpPr>
          <p:pic>
            <p:nvPicPr>
              <p:cNvPr id="12298" name="Picture 6" descr="Fe-C双重相图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24" y="912"/>
                <a:ext cx="2496" cy="2490"/>
              </a:xfrm>
              <a:prstGeom prst="rect">
                <a:avLst/>
              </a:prstGeom>
              <a:noFill/>
              <a:ln w="57150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299" name="Line 7"/>
              <p:cNvSpPr/>
              <p:nvPr/>
            </p:nvSpPr>
            <p:spPr>
              <a:xfrm flipV="1">
                <a:off x="4573" y="986"/>
                <a:ext cx="624" cy="768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12297" name="Text Box 8"/>
            <p:cNvSpPr txBox="1"/>
            <p:nvPr/>
          </p:nvSpPr>
          <p:spPr>
            <a:xfrm>
              <a:off x="3051" y="2485"/>
              <a:ext cx="240" cy="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  <a:endPara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29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7115" y="6667500"/>
            <a:ext cx="476885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755" y="0"/>
            <a:ext cx="530161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第二阶段石墨化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152954" y="980440"/>
            <a:ext cx="4608513" cy="5640536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第二阶段石墨化：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P’S’K’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线以下</a:t>
            </a:r>
            <a:r>
              <a:rPr lang="zh-CN" altLang="en-US" b="1" dirty="0">
                <a:ea typeface="华文中宋" panose="02010600040101010101" pitchFamily="2" charset="-122"/>
              </a:rPr>
              <a:t>发生的石墨化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包括：冷却时共析石墨的析出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加热时共析渗碳体的分解。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石墨化程度不同，所得到的铸铁类型和组织也不同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220335" y="1196340"/>
            <a:ext cx="3835400" cy="4330065"/>
            <a:chOff x="2496" y="480"/>
            <a:chExt cx="3024" cy="3312"/>
          </a:xfrm>
        </p:grpSpPr>
        <p:grpSp>
          <p:nvGrpSpPr>
            <p:cNvPr id="13320" name="Group 5"/>
            <p:cNvGrpSpPr/>
            <p:nvPr/>
          </p:nvGrpSpPr>
          <p:grpSpPr>
            <a:xfrm>
              <a:off x="2496" y="480"/>
              <a:ext cx="3024" cy="3312"/>
              <a:chOff x="2928" y="624"/>
              <a:chExt cx="2736" cy="3120"/>
            </a:xfrm>
          </p:grpSpPr>
          <p:pic>
            <p:nvPicPr>
              <p:cNvPr id="13322" name="Picture 6" descr="Fe-C双重相图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928" y="624"/>
                <a:ext cx="2736" cy="3120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3323" name="Line 7"/>
              <p:cNvSpPr/>
              <p:nvPr/>
            </p:nvSpPr>
            <p:spPr>
              <a:xfrm flipV="1">
                <a:off x="4648" y="927"/>
                <a:ext cx="486" cy="758"/>
              </a:xfrm>
              <a:prstGeom prst="line">
                <a:avLst/>
              </a:prstGeom>
              <a:ln w="38100">
                <a:noFill/>
              </a:ln>
            </p:spPr>
          </p:sp>
        </p:grpSp>
        <p:sp>
          <p:nvSpPr>
            <p:cNvPr id="13321" name="Text Box 8"/>
            <p:cNvSpPr txBox="1"/>
            <p:nvPr/>
          </p:nvSpPr>
          <p:spPr>
            <a:xfrm>
              <a:off x="2850" y="2448"/>
              <a:ext cx="240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P’</a:t>
              </a:r>
              <a:endPara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1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81775"/>
            <a:ext cx="385762" cy="2762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142875"/>
            <a:ext cx="8964613" cy="119538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zh-CN" altLang="en-US" sz="3600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铸铁的石墨化程度与其组织之间的关系</a:t>
            </a:r>
            <a:br>
              <a:rPr lang="zh-CN" altLang="en-US" sz="3200" b="1" dirty="0">
                <a:solidFill>
                  <a:srgbClr val="CCFF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中宋" panose="02010600040101010101" pitchFamily="2" charset="-122"/>
              </a:rPr>
              <a:t>（以共晶铸铁为例）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659" name="Group 155"/>
          <p:cNvGraphicFramePr>
            <a:graphicFrameLocks noGrp="1"/>
          </p:cNvGraphicFramePr>
          <p:nvPr/>
        </p:nvGraphicFramePr>
        <p:xfrm>
          <a:off x="304800" y="1643063"/>
          <a:ext cx="8534400" cy="4605351"/>
        </p:xfrm>
        <a:graphic>
          <a:graphicData uri="http://schemas.openxmlformats.org/drawingml/2006/table">
            <a:tbl>
              <a:tblPr/>
              <a:tblGrid>
                <a:gridCol w="1828800"/>
                <a:gridCol w="1938334"/>
                <a:gridCol w="2786066"/>
                <a:gridCol w="1981200"/>
              </a:tblGrid>
              <a:tr h="5876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石墨化进行程度 </a:t>
                      </a: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铸铁的显微组织 </a:t>
                      </a: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铸铁类型 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1074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第一阶段石墨化 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第二阶段石墨化 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59108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 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完全进行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完全进行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F+G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 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FF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灰口铸铁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8766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部分进行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F+P+G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/>
                </a:tc>
              </a:tr>
              <a:tr h="587662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未进行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P+G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/>
                </a:tc>
              </a:tr>
              <a:tr h="589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部分进行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未进行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Le’+P+G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麻口铸铁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876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未进行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FF33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未进行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FF33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Le’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FF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白口铸铁</a:t>
                      </a: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CCFFFF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</a:tbl>
          </a:graphicData>
        </a:graphic>
      </p:graphicFrame>
      <p:sp>
        <p:nvSpPr>
          <p:cNvPr id="1437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4846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2830" y="6617335"/>
            <a:ext cx="466725" cy="24066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500188" y="0"/>
            <a:ext cx="6815137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、影响石墨化的因素</a:t>
            </a: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4400" b="1" dirty="0">
                <a:solidFill>
                  <a:schemeClr val="folHlink"/>
                </a:solidFill>
              </a:rPr>
              <a:t>⑴ </a:t>
            </a:r>
            <a:r>
              <a:rPr lang="zh-CN" altLang="en-US" sz="4400" b="1" dirty="0">
                <a:solidFill>
                  <a:schemeClr val="folHlink"/>
                </a:solidFill>
              </a:rPr>
              <a:t>化学成分</a:t>
            </a:r>
            <a:endParaRPr lang="zh-CN" altLang="en-US" sz="4400" b="1" dirty="0">
              <a:solidFill>
                <a:schemeClr val="folHlink"/>
              </a:solidFill>
            </a:endParaRPr>
          </a:p>
          <a:p>
            <a:pPr eaLnBrk="1" hangingPunct="1"/>
            <a:endParaRPr lang="en-US" altLang="zh-CN" sz="4400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sz="4400" b="1" dirty="0">
                <a:solidFill>
                  <a:schemeClr val="folHlink"/>
                </a:solidFill>
              </a:rPr>
              <a:t>⑵ 冷却速度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sp>
        <p:nvSpPr>
          <p:cNvPr id="1536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9185" y="6572250"/>
            <a:ext cx="412115" cy="29464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7964488" cy="9810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3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、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化学成分对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石墨化的影响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250825" y="1000125"/>
            <a:ext cx="5035550" cy="55721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硅：强烈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促进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石墨化。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/>
              <a:t>碳、硅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含量过低：易出现白口组织，力学性能和铸造性能变差。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/>
              <a:t>碳、硅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含量过高：</a:t>
            </a:r>
            <a:r>
              <a:rPr lang="zh-CN" altLang="en-US" b="1" dirty="0"/>
              <a:t>会使石墨数量多且粗大，基体内铁素体量增多，降低铸件的性能</a:t>
            </a:r>
            <a:r>
              <a:rPr lang="en-US" altLang="zh-CN" b="1" dirty="0"/>
              <a:t>.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292725" y="1989455"/>
            <a:ext cx="3615690" cy="2546985"/>
            <a:chOff x="2352" y="1824"/>
            <a:chExt cx="3083" cy="2152"/>
          </a:xfrm>
        </p:grpSpPr>
        <p:grpSp>
          <p:nvGrpSpPr>
            <p:cNvPr id="16392" name="Group 5"/>
            <p:cNvGrpSpPr/>
            <p:nvPr/>
          </p:nvGrpSpPr>
          <p:grpSpPr>
            <a:xfrm>
              <a:off x="2352" y="1824"/>
              <a:ext cx="3083" cy="2152"/>
              <a:chOff x="2352" y="1824"/>
              <a:chExt cx="3083" cy="2152"/>
            </a:xfrm>
          </p:grpSpPr>
          <p:grpSp>
            <p:nvGrpSpPr>
              <p:cNvPr id="16394" name="Group 6"/>
              <p:cNvGrpSpPr/>
              <p:nvPr/>
            </p:nvGrpSpPr>
            <p:grpSpPr>
              <a:xfrm>
                <a:off x="2352" y="1824"/>
                <a:ext cx="3083" cy="2152"/>
                <a:chOff x="2352" y="1824"/>
                <a:chExt cx="3083" cy="2152"/>
              </a:xfrm>
            </p:grpSpPr>
            <p:grpSp>
              <p:nvGrpSpPr>
                <p:cNvPr id="16396" name="Group 7"/>
                <p:cNvGrpSpPr/>
                <p:nvPr/>
              </p:nvGrpSpPr>
              <p:grpSpPr>
                <a:xfrm>
                  <a:off x="2352" y="1824"/>
                  <a:ext cx="3083" cy="2152"/>
                  <a:chOff x="2352" y="1824"/>
                  <a:chExt cx="3083" cy="2152"/>
                </a:xfrm>
              </p:grpSpPr>
              <p:grpSp>
                <p:nvGrpSpPr>
                  <p:cNvPr id="16398" name="Group 8"/>
                  <p:cNvGrpSpPr/>
                  <p:nvPr/>
                </p:nvGrpSpPr>
                <p:grpSpPr>
                  <a:xfrm>
                    <a:off x="2352" y="1824"/>
                    <a:ext cx="3083" cy="2152"/>
                    <a:chOff x="2352" y="1824"/>
                    <a:chExt cx="3083" cy="2152"/>
                  </a:xfrm>
                </p:grpSpPr>
                <p:grpSp>
                  <p:nvGrpSpPr>
                    <p:cNvPr id="16400" name="Group 9"/>
                    <p:cNvGrpSpPr/>
                    <p:nvPr/>
                  </p:nvGrpSpPr>
                  <p:grpSpPr>
                    <a:xfrm>
                      <a:off x="2352" y="1824"/>
                      <a:ext cx="3083" cy="2152"/>
                      <a:chOff x="2352" y="1824"/>
                      <a:chExt cx="3083" cy="2152"/>
                    </a:xfrm>
                  </p:grpSpPr>
                  <p:pic>
                    <p:nvPicPr>
                      <p:cNvPr id="16404" name="Picture 10" descr="3centcifig2"/>
                      <p:cNvPicPr>
                        <a:picLocks noChangeAspect="1"/>
                      </p:cNvPicPr>
                      <p:nvPr/>
                    </p:nvPicPr>
                    <p:blipFill>
                      <a:blip r:embed="rId1" cstate="print"/>
                      <a:stretch>
                        <a:fillRect/>
                      </a:stretch>
                    </p:blipFill>
                    <p:spPr>
                      <a:xfrm>
                        <a:off x="2352" y="1824"/>
                        <a:ext cx="3083" cy="215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  <p:sp>
                    <p:nvSpPr>
                      <p:cNvPr id="16405" name="Rectangle 11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676" y="3816"/>
                        <a:ext cx="272" cy="135"/>
                      </a:xfrm>
                      <a:prstGeom prst="rect">
                        <a:avLst/>
                      </a:prstGeom>
                      <a:solidFill>
                        <a:srgbClr val="EAF1F2"/>
                      </a:solidFill>
                      <a:ln w="9525">
                        <a:noFill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en-US" altLang="zh-CN" sz="1600" b="1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Si</a:t>
                        </a:r>
                        <a:endParaRPr lang="en-US" altLang="zh-CN" sz="16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6406" name="Rectangle 12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2375" y="2684"/>
                        <a:ext cx="90" cy="543"/>
                      </a:xfrm>
                      <a:prstGeom prst="rect">
                        <a:avLst/>
                      </a:prstGeom>
                      <a:solidFill>
                        <a:srgbClr val="EAF1F2"/>
                      </a:solidFill>
                      <a:ln w="9525">
                        <a:noFill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en-US" altLang="zh-CN" sz="1600" b="1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C</a:t>
                        </a:r>
                        <a:endParaRPr lang="en-US" altLang="zh-CN" sz="16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6407" name="Rectangle 13"/>
                      <p:cNvSpPr/>
                      <p:nvPr/>
                    </p:nvSpPr>
                    <p:spPr>
                      <a:xfrm>
                        <a:off x="2592" y="3168"/>
                        <a:ext cx="528" cy="144"/>
                      </a:xfrm>
                      <a:prstGeom prst="rect">
                        <a:avLst/>
                      </a:prstGeom>
                      <a:solidFill>
                        <a:srgbClr val="EAF1F2"/>
                      </a:solidFill>
                      <a:ln w="9525">
                        <a:noFill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600" b="1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白口铸铁</a:t>
                        </a:r>
                        <a:endParaRPr lang="zh-CN" altLang="en-US" sz="16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6408" name="Rectangle 14"/>
                      <p:cNvSpPr/>
                      <p:nvPr/>
                    </p:nvSpPr>
                    <p:spPr>
                      <a:xfrm>
                        <a:off x="4080" y="3168"/>
                        <a:ext cx="672" cy="144"/>
                      </a:xfrm>
                      <a:prstGeom prst="rect">
                        <a:avLst/>
                      </a:prstGeom>
                      <a:solidFill>
                        <a:srgbClr val="EAF1F2"/>
                      </a:solidFill>
                      <a:ln w="9525">
                        <a:noFill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600" b="1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灰口铸铁</a:t>
                        </a:r>
                        <a:endParaRPr lang="zh-CN" altLang="en-US" sz="16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16401" name="Rectangle 15"/>
                    <p:cNvSpPr/>
                    <p:nvPr/>
                  </p:nvSpPr>
                  <p:spPr>
                    <a:xfrm>
                      <a:off x="3168" y="2736"/>
                      <a:ext cx="240" cy="96"/>
                    </a:xfrm>
                    <a:prstGeom prst="rect">
                      <a:avLst/>
                    </a:prstGeom>
                    <a:solidFill>
                      <a:srgbClr val="EAF1F2"/>
                    </a:solidFill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4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麻口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6402" name="Rectangle 16"/>
                    <p:cNvSpPr/>
                    <p:nvPr/>
                  </p:nvSpPr>
                  <p:spPr>
                    <a:xfrm>
                      <a:off x="3168" y="2880"/>
                      <a:ext cx="144" cy="48"/>
                    </a:xfrm>
                    <a:prstGeom prst="rect">
                      <a:avLst/>
                    </a:prstGeom>
                    <a:solidFill>
                      <a:srgbClr val="EAF1F2"/>
                    </a:solidFill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4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铸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6403" name="Rectangle 17"/>
                    <p:cNvSpPr/>
                    <p:nvPr/>
                  </p:nvSpPr>
                  <p:spPr>
                    <a:xfrm>
                      <a:off x="3384" y="2880"/>
                      <a:ext cx="144" cy="48"/>
                    </a:xfrm>
                    <a:prstGeom prst="rect">
                      <a:avLst/>
                    </a:prstGeom>
                    <a:solidFill>
                      <a:srgbClr val="EAF1F2"/>
                    </a:solidFill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4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铁</a:t>
                      </a:r>
                      <a:endParaRPr lang="zh-CN" altLang="en-US" sz="14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16399" name="Rectangle 18"/>
                  <p:cNvSpPr/>
                  <p:nvPr/>
                </p:nvSpPr>
                <p:spPr>
                  <a:xfrm rot="966925">
                    <a:off x="4416" y="2916"/>
                    <a:ext cx="672" cy="144"/>
                  </a:xfrm>
                  <a:prstGeom prst="rect">
                    <a:avLst/>
                  </a:prstGeom>
                  <a:solidFill>
                    <a:srgbClr val="EAF1F2"/>
                  </a:solidFill>
                  <a:ln w="9525">
                    <a:noFill/>
                  </a:ln>
                </p:spPr>
                <p:txBody>
                  <a:bodyPr wrap="none" anchor="ctr"/>
                  <a:lstStyle/>
                  <a:p>
                    <a:pPr lvl="0" algn="ctr" eaLnBrk="1" hangingPunct="1"/>
                    <a:r>
                      <a:rPr lang="zh-CN" altLang="en-US" sz="16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共晶</a:t>
                    </a:r>
                    <a:endParaRPr lang="zh-CN" altLang="en-US" sz="16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6397" name="Rectangle 19"/>
                <p:cNvSpPr/>
                <p:nvPr/>
              </p:nvSpPr>
              <p:spPr>
                <a:xfrm>
                  <a:off x="4464" y="1932"/>
                  <a:ext cx="624" cy="288"/>
                </a:xfrm>
                <a:prstGeom prst="rect">
                  <a:avLst/>
                </a:prstGeom>
                <a:solidFill>
                  <a:srgbClr val="EAF1F2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pPr lvl="0" eaLnBrk="1" hangingPunct="1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6395" name="Rectangle 20"/>
              <p:cNvSpPr/>
              <p:nvPr/>
            </p:nvSpPr>
            <p:spPr>
              <a:xfrm>
                <a:off x="4320" y="1944"/>
                <a:ext cx="48" cy="912"/>
              </a:xfrm>
              <a:prstGeom prst="rect">
                <a:avLst/>
              </a:prstGeom>
              <a:solidFill>
                <a:srgbClr val="EAF1F2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393" name="Text Box 21"/>
            <p:cNvSpPr txBox="1"/>
            <p:nvPr/>
          </p:nvSpPr>
          <p:spPr>
            <a:xfrm>
              <a:off x="2940" y="1896"/>
              <a:ext cx="2449" cy="5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碳、硅含量对铸铁石墨化的影响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39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69605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5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9480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27440" y="6573520"/>
            <a:ext cx="412115" cy="28448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1214755" y="0"/>
            <a:ext cx="7772400" cy="100012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化学成分对铸铁石墨化的影响</a:t>
            </a: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-3254" y="1628800"/>
            <a:ext cx="8460432" cy="52863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碳、硅量控制范围：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2.5~4.0%C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1.0~3.0%Si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Al、Cu、Ni、Co</a:t>
            </a:r>
            <a:r>
              <a:rPr lang="zh-CN" altLang="en-US" b="1" dirty="0">
                <a:ea typeface="华文中宋" panose="02010600040101010101" pitchFamily="2" charset="-122"/>
              </a:rPr>
              <a:t>等对石墨化有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促进</a:t>
            </a:r>
            <a:r>
              <a:rPr lang="zh-CN" altLang="en-US" b="1" dirty="0">
                <a:ea typeface="华文中宋" panose="02010600040101010101" pitchFamily="2" charset="-122"/>
              </a:rPr>
              <a:t>作用。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Mo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V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rgbClr val="E1FFFF"/>
                </a:solidFill>
              </a:rPr>
              <a:t>元素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阻碍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石墨化。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</a:rPr>
              <a:t>磷：</a:t>
            </a:r>
            <a:r>
              <a:rPr lang="zh-CN" altLang="en-US" b="1" dirty="0">
                <a:solidFill>
                  <a:srgbClr val="E1FFFF"/>
                </a:solidFill>
              </a:rPr>
              <a:t>虽然可促进石墨化，但其含量高时易在晶界上形成硬而脆的</a:t>
            </a:r>
            <a:r>
              <a:rPr lang="zh-CN" altLang="en-US" b="1" dirty="0">
                <a:solidFill>
                  <a:schemeClr val="folHlink"/>
                </a:solidFill>
              </a:rPr>
              <a:t>磷共晶</a:t>
            </a:r>
            <a:r>
              <a:rPr lang="zh-CN" altLang="en-US" b="1" dirty="0">
                <a:solidFill>
                  <a:srgbClr val="E1FFFF"/>
                </a:solidFill>
              </a:rPr>
              <a:t>，降低铸铁的强度，只有耐磨铸铁中磷含量偏高 </a:t>
            </a:r>
            <a:r>
              <a:rPr lang="en-US" altLang="zh-CN" b="1" dirty="0"/>
              <a:t>(</a:t>
            </a:r>
            <a:r>
              <a:rPr lang="zh-CN" altLang="en-US" b="1" dirty="0"/>
              <a:t>达</a:t>
            </a:r>
            <a:r>
              <a:rPr lang="en-US" altLang="zh-CN" b="1" dirty="0"/>
              <a:t>0.3%</a:t>
            </a:r>
            <a:r>
              <a:rPr lang="zh-CN" altLang="en-US" b="1" dirty="0"/>
              <a:t>以上</a:t>
            </a:r>
            <a:r>
              <a:rPr lang="en-US" altLang="zh-CN" b="1" dirty="0"/>
              <a:t>)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17413" name="Group 4"/>
          <p:cNvGrpSpPr/>
          <p:nvPr/>
        </p:nvGrpSpPr>
        <p:grpSpPr>
          <a:xfrm>
            <a:off x="7566332" y="1109762"/>
            <a:ext cx="1577668" cy="1584176"/>
            <a:chOff x="3243" y="2275"/>
            <a:chExt cx="1700" cy="1639"/>
          </a:xfrm>
        </p:grpSpPr>
        <p:pic>
          <p:nvPicPr>
            <p:cNvPr id="17416" name="Picture 5" descr="磷共晶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43" y="2275"/>
              <a:ext cx="1700" cy="1639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7417" name="Rectangle 6"/>
            <p:cNvSpPr/>
            <p:nvPr/>
          </p:nvSpPr>
          <p:spPr>
            <a:xfrm>
              <a:off x="3379" y="2341"/>
              <a:ext cx="1462" cy="26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14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铸铁中的磷共晶</a:t>
              </a:r>
              <a:endParaRPr lang="zh-CN" altLang="en-US" sz="1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44255" y="6595745"/>
            <a:ext cx="466725" cy="26225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724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冷却速度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E1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石墨化的影响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539750" y="1268413"/>
            <a:ext cx="8104188" cy="4610100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缓慢冷却：</a:t>
            </a:r>
            <a:r>
              <a:rPr lang="zh-CN" altLang="en-US" b="1" dirty="0">
                <a:solidFill>
                  <a:srgbClr val="E1FFFF"/>
                </a:solidFill>
              </a:rPr>
              <a:t>有利于碳原子的充分扩散，结晶将按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 - G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相图</a:t>
            </a:r>
            <a:r>
              <a:rPr lang="zh-CN" altLang="en-US" b="1" dirty="0">
                <a:solidFill>
                  <a:srgbClr val="E1FFFF"/>
                </a:solidFill>
              </a:rPr>
              <a:t>进行，因而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促进石墨化。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快冷</a:t>
            </a:r>
            <a:r>
              <a:rPr lang="zh-CN" altLang="en-US" b="1" dirty="0">
                <a:solidFill>
                  <a:srgbClr val="E1FFFF"/>
                </a:solidFill>
              </a:rPr>
              <a:t>：由于过冷度大，结晶将按 </a:t>
            </a:r>
            <a:r>
              <a:rPr lang="en-US" altLang="zh-CN" b="1" dirty="0">
                <a:solidFill>
                  <a:srgbClr val="E1FFFF"/>
                </a:solidFill>
              </a:rPr>
              <a:t>Fe-Fe</a:t>
            </a:r>
            <a:r>
              <a:rPr lang="en-US" altLang="zh-CN" b="1" baseline="-25000" dirty="0">
                <a:solidFill>
                  <a:srgbClr val="E1FFFF"/>
                </a:solidFill>
              </a:rPr>
              <a:t>3</a:t>
            </a:r>
            <a:r>
              <a:rPr lang="en-US" altLang="zh-CN" b="1" dirty="0">
                <a:solidFill>
                  <a:srgbClr val="E1FFFF"/>
                </a:solidFill>
              </a:rPr>
              <a:t>C</a:t>
            </a:r>
            <a:r>
              <a:rPr lang="zh-CN" altLang="en-US" b="1" dirty="0">
                <a:solidFill>
                  <a:srgbClr val="E1FFFF"/>
                </a:solidFill>
              </a:rPr>
              <a:t>相图进行</a:t>
            </a:r>
            <a:r>
              <a:rPr lang="en-US" altLang="zh-CN" b="1" dirty="0">
                <a:solidFill>
                  <a:srgbClr val="E1FFFF"/>
                </a:solidFill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不利于石墨化</a:t>
            </a:r>
            <a:r>
              <a:rPr lang="zh-CN" altLang="en-US" b="1" dirty="0">
                <a:solidFill>
                  <a:srgbClr val="E1FFFF"/>
                </a:solidFill>
              </a:rPr>
              <a:t>。</a:t>
            </a:r>
            <a:endParaRPr lang="zh-CN" altLang="en-US" b="1" dirty="0">
              <a:solidFill>
                <a:srgbClr val="E1FFFF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555776" y="4181476"/>
            <a:ext cx="4636135" cy="2626705"/>
            <a:chOff x="1728" y="1488"/>
            <a:chExt cx="3618" cy="2775"/>
          </a:xfrm>
        </p:grpSpPr>
        <p:grpSp>
          <p:nvGrpSpPr>
            <p:cNvPr id="18440" name="Group 5"/>
            <p:cNvGrpSpPr>
              <a:grpSpLocks noChangeAspect="1"/>
            </p:cNvGrpSpPr>
            <p:nvPr/>
          </p:nvGrpSpPr>
          <p:grpSpPr>
            <a:xfrm>
              <a:off x="1728" y="1488"/>
              <a:ext cx="3618" cy="2352"/>
              <a:chOff x="2240" y="1888"/>
              <a:chExt cx="3245" cy="1931"/>
            </a:xfrm>
          </p:grpSpPr>
          <p:pic>
            <p:nvPicPr>
              <p:cNvPr id="18442" name="Picture 6" descr="铸件壁厚影响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259" y="1888"/>
                <a:ext cx="3226" cy="1931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8443" name="Text Box 7"/>
              <p:cNvSpPr txBox="1">
                <a:spLocks noChangeAspect="1"/>
              </p:cNvSpPr>
              <p:nvPr/>
            </p:nvSpPr>
            <p:spPr>
              <a:xfrm>
                <a:off x="2240" y="2127"/>
                <a:ext cx="346" cy="79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1200" b="1" baseline="-25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1200" b="1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12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zh-CN" sz="1200" b="1" baseline="-25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si</a:t>
                </a:r>
                <a:endParaRPr lang="en-US" altLang="zh-CN" sz="1200" b="1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(%)</a:t>
                </a:r>
                <a:endParaRPr lang="en-US" altLang="zh-CN" sz="12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441" name="Text Box 8"/>
            <p:cNvSpPr txBox="1"/>
            <p:nvPr/>
          </p:nvSpPr>
          <p:spPr>
            <a:xfrm>
              <a:off x="1890" y="3840"/>
              <a:ext cx="3315" cy="423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铸件壁厚和碳硅含量对铸铁组织的影响</a:t>
              </a:r>
              <a:r>
                <a:rPr lang="zh-CN" altLang="en-US" sz="2000" b="1" dirty="0">
                  <a:solidFill>
                    <a:schemeClr val="folHlink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2000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843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97265" y="6515100"/>
            <a:ext cx="553085" cy="3429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0"/>
            <a:ext cx="6738938" cy="10398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二、铸铁的特点及分类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3352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、铸铁的组织特点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钢的基体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 G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（石墨）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/Fe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（白口）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基体组织有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三种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铁素体、珠光体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铁素体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珠光体。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2628364" y="3895789"/>
            <a:ext cx="6265446" cy="2304738"/>
            <a:chOff x="1120" y="2576"/>
            <a:chExt cx="4222" cy="1664"/>
          </a:xfrm>
        </p:grpSpPr>
        <p:pic>
          <p:nvPicPr>
            <p:cNvPr id="19464" name="Picture 4" descr="image03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20" y="2592"/>
              <a:ext cx="1308" cy="136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9465" name="Picture 5" descr="image03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7" y="2576"/>
              <a:ext cx="1403" cy="136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9466" name="Picture 6" descr="F+P+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" y="2592"/>
              <a:ext cx="1310" cy="135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467" name="Text Box 9"/>
            <p:cNvSpPr txBox="1"/>
            <p:nvPr/>
          </p:nvSpPr>
          <p:spPr>
            <a:xfrm>
              <a:off x="1411" y="3952"/>
              <a:ext cx="56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F+G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8" name="Text Box 10"/>
            <p:cNvSpPr txBox="1"/>
            <p:nvPr/>
          </p:nvSpPr>
          <p:spPr>
            <a:xfrm>
              <a:off x="4416" y="3936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F+P+G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9" name="Text Box 11"/>
            <p:cNvSpPr txBox="1"/>
            <p:nvPr/>
          </p:nvSpPr>
          <p:spPr>
            <a:xfrm>
              <a:off x="2964" y="3936"/>
              <a:ext cx="539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no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P+G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6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7987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advAuto="100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8070" y="6563360"/>
            <a:ext cx="455930" cy="29464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714500" y="0"/>
            <a:ext cx="6597650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/>
              <a:t>2</a:t>
            </a:r>
            <a:r>
              <a:rPr lang="zh-CN" altLang="en-US" b="1" dirty="0"/>
              <a:t>、铸铁的性能特点</a:t>
            </a:r>
            <a:endParaRPr lang="zh-CN" altLang="en-US" b="1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250825" y="1052513"/>
            <a:ext cx="4957455" cy="50196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</a:rPr>
              <a:t>力学性能较低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</a:rPr>
              <a:t>    强度、塑性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</a:rPr>
              <a:t>韧性低于碳钢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/>
              <a:t>    由于</a:t>
            </a:r>
            <a:r>
              <a:rPr lang="zh-CN" altLang="en-US" b="1" dirty="0">
                <a:solidFill>
                  <a:schemeClr val="folHlink"/>
                </a:solidFill>
              </a:rPr>
              <a:t>石墨</a:t>
            </a:r>
            <a:r>
              <a:rPr lang="zh-CN" altLang="en-US" b="1" dirty="0"/>
              <a:t>相当于钢基体中的</a:t>
            </a:r>
            <a:r>
              <a:rPr lang="zh-CN" altLang="en-US" b="1" dirty="0">
                <a:solidFill>
                  <a:schemeClr val="folHlink"/>
                </a:solidFill>
              </a:rPr>
              <a:t>裂纹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chemeClr val="folHlink"/>
                </a:solidFill>
              </a:rPr>
              <a:t>空洞</a:t>
            </a:r>
            <a:r>
              <a:rPr lang="zh-CN" altLang="en-US" b="1" dirty="0"/>
              <a:t>，破坏了基体的</a:t>
            </a:r>
            <a:r>
              <a:rPr lang="zh-CN" altLang="en-US" b="1" dirty="0">
                <a:solidFill>
                  <a:schemeClr val="folHlink"/>
                </a:solidFill>
              </a:rPr>
              <a:t>连续性</a:t>
            </a:r>
            <a:r>
              <a:rPr lang="zh-CN" altLang="en-US" b="1" dirty="0"/>
              <a:t>，且易导致</a:t>
            </a:r>
            <a:r>
              <a:rPr lang="zh-CN" altLang="en-US" b="1" dirty="0">
                <a:solidFill>
                  <a:schemeClr val="folHlink"/>
                </a:solidFill>
              </a:rPr>
              <a:t>应力集中</a:t>
            </a:r>
            <a:r>
              <a:rPr lang="zh-CN" altLang="en-US" b="1" dirty="0"/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436235" y="2133600"/>
            <a:ext cx="3439795" cy="2792729"/>
            <a:chOff x="2640" y="240"/>
            <a:chExt cx="2832" cy="2163"/>
          </a:xfrm>
        </p:grpSpPr>
        <p:pic>
          <p:nvPicPr>
            <p:cNvPr id="20488" name="Picture 5" descr="铸铁与铸钢的强度比较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40" y="240"/>
              <a:ext cx="2832" cy="2112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20489" name="Text Box 6"/>
            <p:cNvSpPr txBox="1"/>
            <p:nvPr/>
          </p:nvSpPr>
          <p:spPr>
            <a:xfrm>
              <a:off x="3151" y="2094"/>
              <a:ext cx="2147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铸铁与铸钢的强度比较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48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4100" y="6666865"/>
            <a:ext cx="476885" cy="19113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786255" y="0"/>
            <a:ext cx="6083300" cy="101155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/>
              <a:t>2</a:t>
            </a:r>
            <a:r>
              <a:rPr lang="zh-CN" altLang="en-US" b="1" dirty="0"/>
              <a:t>、铸铁的性能特点</a:t>
            </a:r>
            <a:endParaRPr lang="zh-CN" altLang="en-US" b="1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357188" y="1412875"/>
            <a:ext cx="8462962" cy="49688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耐磨性能好：</a:t>
            </a:r>
            <a:r>
              <a:rPr lang="zh-CN" altLang="en-US" b="1" dirty="0">
                <a:ea typeface="华文中宋" panose="02010600040101010101" pitchFamily="2" charset="-122"/>
              </a:rPr>
              <a:t>由于石墨本身有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润滑作用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消振性能好：</a:t>
            </a:r>
            <a:r>
              <a:rPr lang="zh-CN" altLang="en-US" b="1" dirty="0">
                <a:ea typeface="华文中宋" panose="02010600040101010101" pitchFamily="2" charset="-122"/>
              </a:rPr>
              <a:t>由于石墨可以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吸收振动</a:t>
            </a:r>
            <a:r>
              <a:rPr lang="zh-CN" altLang="en-US" b="1" dirty="0">
                <a:ea typeface="华文中宋" panose="02010600040101010101" pitchFamily="2" charset="-122"/>
              </a:rPr>
              <a:t>能量。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⑷ 铸造性能好：</a:t>
            </a:r>
            <a:r>
              <a:rPr lang="zh-CN" altLang="en-US" b="1" dirty="0">
                <a:ea typeface="华文中宋" panose="02010600040101010101" pitchFamily="2" charset="-122"/>
              </a:rPr>
              <a:t>由于铸铁硅含量高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成分接近于共晶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⑸ 切削性能好：</a:t>
            </a:r>
            <a:r>
              <a:rPr lang="zh-CN" altLang="en-US" b="1" dirty="0">
                <a:ea typeface="华文中宋" panose="02010600040101010101" pitchFamily="2" charset="-122"/>
              </a:rPr>
              <a:t>由于石墨使车屑容易脆断，不粘刀。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2151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4420" y="6605270"/>
            <a:ext cx="445135" cy="25273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1143000" y="0"/>
            <a:ext cx="7772400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、铸铁的分类与牌号表示方法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468313" y="1124585"/>
            <a:ext cx="8351837" cy="545306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铸铁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分类依据：基体组织 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+ C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的存在形态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分类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结果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五类：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 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）白口铸铁：</a:t>
            </a:r>
            <a:r>
              <a:rPr lang="zh-CN" altLang="en-US" dirty="0"/>
              <a:t>碳全部以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渗碳体</a:t>
            </a:r>
            <a:r>
              <a:rPr lang="zh-CN" altLang="en-US" dirty="0"/>
              <a:t>形态存在，断面呈白亮色，不易切削加工，一般不用来制造机器零件，主要用作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炼钢原料</a:t>
            </a:r>
            <a:r>
              <a:rPr lang="zh-CN" altLang="en-US" dirty="0"/>
              <a:t>、制作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不重要的耐磨件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 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）灰（口）铸 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 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）可锻铸铁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 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）球墨铸铁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 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5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）蠕墨铸铁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2253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23555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8865" y="6641465"/>
            <a:ext cx="445135" cy="28067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090613" y="142875"/>
            <a:ext cx="8053387" cy="609600"/>
          </a:xfrm>
        </p:spPr>
        <p:txBody>
          <a:bodyPr vert="horz" wrap="square" lIns="92075" tIns="46038" rIns="92075" bIns="46038" anchor="ctr"/>
          <a:lstStyle/>
          <a:p>
            <a:pPr algn="l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铸铁的分类与牌号表示方法</a:t>
            </a:r>
            <a:r>
              <a:rPr lang="zh-CN" altLang="en-US" sz="3200" b="1" dirty="0">
                <a:latin typeface="Times New Roman" panose="02020603050405020304" pitchFamily="18" charset="0"/>
              </a:rPr>
              <a:t> （续）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557" name="表格 23556"/>
          <p:cNvGraphicFramePr/>
          <p:nvPr/>
        </p:nvGraphicFramePr>
        <p:xfrm>
          <a:off x="152400" y="962025"/>
          <a:ext cx="8888413" cy="5620258"/>
        </p:xfrm>
        <a:graphic>
          <a:graphicData uri="http://schemas.openxmlformats.org/drawingml/2006/table">
            <a:tbl>
              <a:tblPr/>
              <a:tblGrid>
                <a:gridCol w="825500"/>
                <a:gridCol w="852488"/>
                <a:gridCol w="930275"/>
                <a:gridCol w="4651375"/>
                <a:gridCol w="1628775"/>
              </a:tblGrid>
              <a:tr h="91440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铸铁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名称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石墨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形态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基体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组织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编 号 方 法 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牌号实例 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47700">
                <a:tc rowSpan="3">
                  <a:txBody>
                    <a:bodyPr/>
                    <a:lstStyle/>
                    <a:p>
                      <a:pPr lvl="0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灰  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铸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铁 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片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状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 + </a:t>
                      </a: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一组数字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数字表示最低</a:t>
                      </a: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抗拉强度</a:t>
                      </a:r>
                      <a:r>
                        <a:rPr lang="zh-CN" altLang="en-US" sz="28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值，单位</a:t>
                      </a:r>
                      <a:r>
                        <a:rPr lang="en-US" altLang="zh-CN" sz="28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MPa</a:t>
                      </a:r>
                      <a:r>
                        <a:rPr lang="zh-CN" altLang="en-US" sz="28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。</a:t>
                      </a:r>
                      <a:endParaRPr lang="zh-CN" altLang="en-US" sz="2800" b="1" dirty="0">
                        <a:solidFill>
                          <a:srgbClr val="E1FFFF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“</a:t>
                      </a: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HT”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表示</a:t>
                      </a: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灰铸铁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代号</a:t>
                      </a: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。</a:t>
                      </a:r>
                      <a:r>
                        <a:rPr lang="zh-CN" altLang="en-US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</a:t>
                      </a:r>
                      <a:endParaRPr lang="zh-CN" altLang="en-US" sz="28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HT100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47700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F+P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HT150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73100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HT200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774700">
                <a:tc rowSpan="3">
                  <a:txBody>
                    <a:bodyPr/>
                    <a:lstStyle/>
                    <a:p>
                      <a:pPr lvl="0" ea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可   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锻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铸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铁  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团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絮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状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just" ea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KTH + 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两组数字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KTB + 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两组数字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KTZ + 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4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两组数字</a:t>
                      </a:r>
                      <a:endParaRPr lang="zh-CN" altLang="en-US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KTH300-06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1141413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表</a:t>
                      </a: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心</a:t>
                      </a: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KTB350-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04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820737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8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KTZ450-06</a:t>
                      </a:r>
                      <a:endParaRPr lang="en-US" altLang="zh-CN" sz="28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474"/>
          <p:cNvGrpSpPr/>
          <p:nvPr/>
        </p:nvGrpSpPr>
        <p:grpSpPr>
          <a:xfrm>
            <a:off x="2743200" y="3865563"/>
            <a:ext cx="4648200" cy="2743200"/>
            <a:chOff x="1728" y="2435"/>
            <a:chExt cx="2928" cy="1728"/>
          </a:xfrm>
        </p:grpSpPr>
        <p:sp>
          <p:nvSpPr>
            <p:cNvPr id="23601" name="Text Box 475"/>
            <p:cNvSpPr txBox="1"/>
            <p:nvPr/>
          </p:nvSpPr>
          <p:spPr>
            <a:xfrm>
              <a:off x="2784" y="2457"/>
              <a:ext cx="1872" cy="16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KTH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、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KTB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、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KTZ</a:t>
              </a:r>
              <a:r>
                <a:rPr lang="zh-CN" altLang="en-US" sz="2400" b="1" dirty="0">
                  <a:solidFill>
                    <a:srgbClr val="E1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分别为</a:t>
              </a:r>
              <a:r>
                <a:rPr lang="zh-CN" altLang="en-US" sz="2400" b="1" dirty="0">
                  <a:solidFill>
                    <a:schemeClr val="folHlink"/>
                  </a:solidFill>
                  <a:ea typeface="仿宋_GB2312" pitchFamily="49" charset="-122"/>
                </a:rPr>
                <a:t>黑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心、</a:t>
              </a:r>
              <a:r>
                <a:rPr lang="zh-CN" altLang="en-US" sz="2400" b="1" dirty="0">
                  <a:solidFill>
                    <a:schemeClr val="folHlink"/>
                  </a:solidFill>
                  <a:ea typeface="仿宋_GB2312" pitchFamily="49" charset="-122"/>
                </a:rPr>
                <a:t>白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心、</a:t>
              </a:r>
              <a:r>
                <a:rPr lang="zh-CN" altLang="en-US" sz="2400" b="1" dirty="0">
                  <a:solidFill>
                    <a:schemeClr val="folHlink"/>
                  </a:solidFill>
                  <a:ea typeface="仿宋_GB2312" pitchFamily="49" charset="-122"/>
                </a:rPr>
                <a:t>珠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光体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可锻铸铁代号；</a:t>
              </a:r>
              <a:r>
                <a:rPr lang="zh-CN" altLang="en-US" sz="2400" b="1" dirty="0">
                  <a:solidFill>
                    <a:srgbClr val="E1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第一组数字表示最低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抗拉强度</a:t>
              </a:r>
              <a:r>
                <a:rPr lang="zh-CN" altLang="en-US" sz="2400" b="1" dirty="0">
                  <a:solidFill>
                    <a:srgbClr val="E1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值，</a:t>
              </a:r>
              <a:r>
                <a:rPr lang="en-US" altLang="zh-CN" sz="2400" b="1" dirty="0">
                  <a:solidFill>
                    <a:srgbClr val="E1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MPa</a:t>
              </a:r>
              <a:r>
                <a:rPr lang="zh-CN" altLang="en-US" sz="2400" b="1" dirty="0">
                  <a:solidFill>
                    <a:srgbClr val="E1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；</a:t>
              </a:r>
              <a:r>
                <a:rPr lang="zh-CN" altLang="en-US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第二组数字表示最低</a:t>
              </a:r>
              <a:r>
                <a:rPr lang="zh-CN" altLang="en-US" sz="2400" b="1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伸长率值，</a:t>
              </a:r>
              <a:r>
                <a:rPr lang="en-US" altLang="zh-CN" sz="2400" b="1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%</a:t>
              </a:r>
              <a:r>
                <a:rPr lang="en-US" altLang="zh-CN" sz="2400" b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602" name="Line 476"/>
            <p:cNvSpPr/>
            <p:nvPr/>
          </p:nvSpPr>
          <p:spPr>
            <a:xfrm>
              <a:off x="2736" y="2435"/>
              <a:ext cx="0" cy="1728"/>
            </a:xfrm>
            <a:prstGeom prst="line">
              <a:avLst/>
            </a:prstGeom>
            <a:ln w="9525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3" name="Line 477"/>
            <p:cNvSpPr/>
            <p:nvPr/>
          </p:nvSpPr>
          <p:spPr>
            <a:xfrm>
              <a:off x="1728" y="2907"/>
              <a:ext cx="1008" cy="0"/>
            </a:xfrm>
            <a:prstGeom prst="line">
              <a:avLst/>
            </a:prstGeom>
            <a:ln w="9525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604" name="Line 478"/>
            <p:cNvSpPr/>
            <p:nvPr/>
          </p:nvSpPr>
          <p:spPr>
            <a:xfrm>
              <a:off x="1728" y="3622"/>
              <a:ext cx="1008" cy="0"/>
            </a:xfrm>
            <a:prstGeom prst="line">
              <a:avLst/>
            </a:prstGeom>
            <a:ln w="9525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 lIns="92075" tIns="46038" rIns="92075" bIns="46038" anchor="ctr"/>
          <a:lstStyle/>
          <a:p>
            <a:pPr eaLnBrk="1" hangingPunct="1"/>
            <a:fld id="{BB962C8B-B14F-4D97-AF65-F5344CB8AC3E}" type="datetime1">
              <a:rPr lang="zh-CN" altLang="en-US" dirty="0"/>
            </a:fld>
            <a:endParaRPr lang="zh-CN" altLang="en-US" dirty="0"/>
          </a:p>
        </p:txBody>
      </p:sp>
      <p:sp>
        <p:nvSpPr>
          <p:cNvPr id="24579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54085" y="6609080"/>
            <a:ext cx="531495" cy="25209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928688" y="142875"/>
            <a:ext cx="8035925" cy="785813"/>
          </a:xfrm>
        </p:spPr>
        <p:txBody>
          <a:bodyPr vert="horz" wrap="square" lIns="92075" tIns="46038" rIns="92075" bIns="46038" anchor="ctr"/>
          <a:lstStyle/>
          <a:p>
            <a:pPr algn="l"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铸铁的分类与牌号表示方法（续）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24581" name="表格 24580"/>
          <p:cNvGraphicFramePr/>
          <p:nvPr/>
        </p:nvGraphicFramePr>
        <p:xfrm>
          <a:off x="358140" y="989965"/>
          <a:ext cx="8284210" cy="5619115"/>
        </p:xfrm>
        <a:graphic>
          <a:graphicData uri="http://schemas.openxmlformats.org/drawingml/2006/table">
            <a:tbl>
              <a:tblPr/>
              <a:tblGrid>
                <a:gridCol w="890270"/>
                <a:gridCol w="860425"/>
                <a:gridCol w="860425"/>
                <a:gridCol w="3943985"/>
                <a:gridCol w="1729105"/>
              </a:tblGrid>
              <a:tr h="994410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铸铁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名称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石墨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形态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基体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组织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编 号 方 法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牌号实例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955040">
                <a:tc rowSpan="3">
                  <a:txBody>
                    <a:bodyPr/>
                    <a:lstStyle/>
                    <a:p>
                      <a:pPr lvl="0" ea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球 墨   铸 铁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球</a:t>
                      </a:r>
                      <a:endParaRPr lang="zh-CN" alt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状</a:t>
                      </a:r>
                      <a:endParaRPr lang="zh-CN" alt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QT + </a:t>
                      </a: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两组数字</a:t>
                      </a:r>
                      <a:r>
                        <a:rPr lang="zh-CN" altLang="en-US" sz="24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</a:t>
                      </a:r>
                      <a:endParaRPr lang="zh-CN" altLang="en-US" sz="24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第一组数字表示最低</a:t>
                      </a:r>
                      <a:r>
                        <a:rPr lang="zh-CN" altLang="en-US" sz="2400" b="1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抗拉强度</a:t>
                      </a:r>
                      <a:r>
                        <a:rPr lang="zh-CN" altLang="en-US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值，</a:t>
                      </a:r>
                      <a:r>
                        <a:rPr lang="en-US" altLang="zh-CN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MPa</a:t>
                      </a:r>
                      <a:r>
                        <a:rPr lang="zh-CN" altLang="en-US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；</a:t>
                      </a:r>
                      <a:endParaRPr lang="zh-CN" altLang="en-US" sz="2400" b="1" dirty="0">
                        <a:solidFill>
                          <a:srgbClr val="E1FFFF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第二组数字表示最低</a:t>
                      </a: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伸长率值，</a:t>
                      </a: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%</a:t>
                      </a: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。</a:t>
                      </a:r>
                      <a:endParaRPr lang="zh-CN" alt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“</a:t>
                      </a:r>
                      <a:r>
                        <a:rPr lang="en-US" altLang="zh-CN" sz="2400" b="1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QT”</a:t>
                      </a:r>
                      <a:r>
                        <a:rPr lang="zh-CN" altLang="en-US" sz="2400" b="1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表示 球墨铸铁代号</a:t>
                      </a:r>
                      <a:endParaRPr lang="zh-CN" altLang="en-US" sz="2400" b="1" dirty="0">
                        <a:solidFill>
                          <a:srgbClr val="CCFF33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QT400-15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1055370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F+P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QT600-3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94055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QT700-2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94055">
                <a:tc rowSpan="3"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蠕 墨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铸 铁 </a:t>
                      </a:r>
                      <a:endParaRPr lang="zh-CN" altLang="en-US" sz="2400" b="1" dirty="0"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蠕</a:t>
                      </a:r>
                      <a:endParaRPr lang="zh-CN" alt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虫</a:t>
                      </a:r>
                      <a:endParaRPr lang="zh-CN" alt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ea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状</a:t>
                      </a:r>
                      <a:endParaRPr lang="zh-CN" alt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RuT + </a:t>
                      </a:r>
                      <a:r>
                        <a:rPr lang="zh-CN" alt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一组数字</a:t>
                      </a:r>
                      <a:endParaRPr lang="zh-CN" altLang="en-US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数字表示最低</a:t>
                      </a:r>
                      <a:r>
                        <a:rPr lang="zh-CN" altLang="en-US" sz="2400" b="1" dirty="0">
                          <a:solidFill>
                            <a:srgbClr val="F3F74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抗拉强度</a:t>
                      </a:r>
                      <a:r>
                        <a:rPr lang="zh-CN" altLang="en-US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值</a:t>
                      </a:r>
                      <a:r>
                        <a:rPr lang="en-US" altLang="zh-CN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,  MPa</a:t>
                      </a:r>
                      <a:r>
                        <a:rPr lang="zh-CN" altLang="en-US" sz="2400" b="1" dirty="0">
                          <a:solidFill>
                            <a:srgbClr val="E1FFFF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。</a:t>
                      </a:r>
                      <a:endParaRPr lang="zh-CN" altLang="en-US" sz="2400" b="1" dirty="0">
                        <a:solidFill>
                          <a:srgbClr val="E1FFFF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“</a:t>
                      </a:r>
                      <a:r>
                        <a:rPr lang="en-US" altLang="zh-CN" sz="2400" b="1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RuT”</a:t>
                      </a:r>
                      <a:r>
                        <a:rPr lang="zh-CN" altLang="en-US" sz="2400" b="1" dirty="0">
                          <a:solidFill>
                            <a:srgbClr val="CCFF33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表示蠕墨铸铁代号</a:t>
                      </a:r>
                      <a:r>
                        <a:rPr lang="zh-CN" altLang="en-US" sz="24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</a:t>
                      </a:r>
                      <a:endParaRPr lang="zh-CN" altLang="en-US" sz="24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RuT260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694055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F+P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RuT300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32130">
                <a:tc vMerge="1">
                  <a:tcPr>
                    <a:lnL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just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RuT420</a:t>
                      </a:r>
                      <a:endParaRPr lang="en-US" altLang="zh-CN" sz="24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66FF33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</a:tbl>
          </a:graphicData>
        </a:graphic>
      </p:graphicFrame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90868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82" name="Rectangle 26"/>
          <p:cNvSpPr>
            <a:spLocks noGrp="1"/>
          </p:cNvSpPr>
          <p:nvPr>
            <p:ph type="title"/>
          </p:nvPr>
        </p:nvSpPr>
        <p:spPr>
          <a:xfrm>
            <a:off x="100012" y="980728"/>
            <a:ext cx="990600" cy="5929312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80000"/>
              </a:lnSpc>
            </a:pPr>
            <a:r>
              <a:rPr lang="zh-CN" altLang="en-US" sz="3600" b="1" dirty="0">
                <a:solidFill>
                  <a:srgbClr val="CC0000"/>
                </a:solidFill>
                <a:ea typeface="华文中宋" panose="02010600040101010101" pitchFamily="2" charset="-122"/>
              </a:rPr>
              <a:t>工业铸铁的成分范围与组织</a:t>
            </a:r>
            <a:endParaRPr lang="zh-CN" altLang="en-US" sz="3600" b="1" dirty="0">
              <a:solidFill>
                <a:srgbClr val="CC0000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6"/>
          <p:cNvGrpSpPr/>
          <p:nvPr/>
        </p:nvGrpSpPr>
        <p:grpSpPr>
          <a:xfrm>
            <a:off x="1219200" y="57150"/>
            <a:ext cx="7696200" cy="6724650"/>
            <a:chOff x="768" y="36"/>
            <a:chExt cx="4848" cy="4236"/>
          </a:xfrm>
        </p:grpSpPr>
        <p:grpSp>
          <p:nvGrpSpPr>
            <p:cNvPr id="25605" name="Group 54"/>
            <p:cNvGrpSpPr/>
            <p:nvPr/>
          </p:nvGrpSpPr>
          <p:grpSpPr>
            <a:xfrm>
              <a:off x="768" y="36"/>
              <a:ext cx="4848" cy="4236"/>
              <a:chOff x="768" y="36"/>
              <a:chExt cx="4848" cy="4236"/>
            </a:xfrm>
          </p:grpSpPr>
          <p:grpSp>
            <p:nvGrpSpPr>
              <p:cNvPr id="25607" name="Group 51"/>
              <p:cNvGrpSpPr/>
              <p:nvPr/>
            </p:nvGrpSpPr>
            <p:grpSpPr>
              <a:xfrm>
                <a:off x="768" y="36"/>
                <a:ext cx="4848" cy="4236"/>
                <a:chOff x="768" y="36"/>
                <a:chExt cx="4848" cy="4236"/>
              </a:xfrm>
            </p:grpSpPr>
            <p:grpSp>
              <p:nvGrpSpPr>
                <p:cNvPr id="25610" name="Group 48"/>
                <p:cNvGrpSpPr/>
                <p:nvPr/>
              </p:nvGrpSpPr>
              <p:grpSpPr>
                <a:xfrm>
                  <a:off x="768" y="36"/>
                  <a:ext cx="4848" cy="4236"/>
                  <a:chOff x="768" y="36"/>
                  <a:chExt cx="4848" cy="4236"/>
                </a:xfrm>
              </p:grpSpPr>
              <p:pic>
                <p:nvPicPr>
                  <p:cNvPr id="25613" name="Picture 37" descr="蠕墨铸铁示意图"/>
                  <p:cNvPicPr>
                    <a:picLocks noChangeAspect="1"/>
                  </p:cNvPicPr>
                  <p:nvPr/>
                </p:nvPicPr>
                <p:blipFill>
                  <a:blip r:embed="rId1" cstate="print"/>
                  <a:stretch>
                    <a:fillRect/>
                  </a:stretch>
                </p:blipFill>
                <p:spPr>
                  <a:xfrm>
                    <a:off x="792" y="2016"/>
                    <a:ext cx="1217" cy="59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25614" name="Picture 38" descr="蠕墨铸铁示意图1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tretch>
                    <a:fillRect/>
                  </a:stretch>
                </p:blipFill>
                <p:spPr>
                  <a:xfrm>
                    <a:off x="768" y="1416"/>
                    <a:ext cx="1224" cy="6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grpSp>
                <p:nvGrpSpPr>
                  <p:cNvPr id="25615" name="Group 25"/>
                  <p:cNvGrpSpPr/>
                  <p:nvPr/>
                </p:nvGrpSpPr>
                <p:grpSpPr>
                  <a:xfrm>
                    <a:off x="1881" y="36"/>
                    <a:ext cx="3735" cy="4236"/>
                    <a:chOff x="960" y="0"/>
                    <a:chExt cx="3735" cy="4236"/>
                  </a:xfrm>
                </p:grpSpPr>
                <p:grpSp>
                  <p:nvGrpSpPr>
                    <p:cNvPr id="25622" name="Group 16"/>
                    <p:cNvGrpSpPr/>
                    <p:nvPr/>
                  </p:nvGrpSpPr>
                  <p:grpSpPr>
                    <a:xfrm>
                      <a:off x="1056" y="0"/>
                      <a:ext cx="3639" cy="4236"/>
                      <a:chOff x="1056" y="0"/>
                      <a:chExt cx="3639" cy="4236"/>
                    </a:xfrm>
                  </p:grpSpPr>
                  <p:pic>
                    <p:nvPicPr>
                      <p:cNvPr id="25631" name="Picture 5" descr="工业铸铁的成分范围和组织1"/>
                      <p:cNvPicPr>
                        <a:picLocks noChangeAspect="1"/>
                      </p:cNvPicPr>
                      <p:nvPr/>
                    </p:nvPicPr>
                    <p:blipFill>
                      <a:blip r:embed="rId3" cstate="print"/>
                      <a:stretch>
                        <a:fillRect/>
                      </a:stretch>
                    </p:blipFill>
                    <p:spPr>
                      <a:xfrm>
                        <a:off x="1056" y="0"/>
                        <a:ext cx="3639" cy="42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  <p:sp>
                    <p:nvSpPr>
                      <p:cNvPr id="25632" name="Rectangle 6"/>
                      <p:cNvSpPr/>
                      <p:nvPr/>
                    </p:nvSpPr>
                    <p:spPr>
                      <a:xfrm>
                        <a:off x="1152" y="1068"/>
                        <a:ext cx="1176" cy="18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r" eaLnBrk="1" hangingPunct="1"/>
                        <a:r>
                          <a:rPr lang="zh-CN" altLang="en-US" sz="1400" b="1" dirty="0">
                            <a:solidFill>
                              <a:srgbClr val="0000B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工业铸铁的成分范围</a:t>
                        </a:r>
                        <a:endParaRPr lang="zh-CN" altLang="en-US" sz="1400" b="1" dirty="0">
                          <a:solidFill>
                            <a:srgbClr val="0000B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33" name="Rectangle 7"/>
                      <p:cNvSpPr/>
                      <p:nvPr/>
                    </p:nvSpPr>
                    <p:spPr>
                      <a:xfrm rot="-5360533">
                        <a:off x="1230" y="617"/>
                        <a:ext cx="576" cy="10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400" b="1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温度</a:t>
                        </a:r>
                        <a:endParaRPr lang="zh-CN" altLang="en-US" sz="14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34" name="Rectangle 9"/>
                      <p:cNvSpPr/>
                      <p:nvPr/>
                    </p:nvSpPr>
                    <p:spPr>
                      <a:xfrm>
                        <a:off x="1536" y="1548"/>
                        <a:ext cx="384" cy="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2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快冷</a:t>
                        </a:r>
                        <a:endPara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35" name="Rectangle 10"/>
                      <p:cNvSpPr/>
                      <p:nvPr/>
                    </p:nvSpPr>
                    <p:spPr>
                      <a:xfrm>
                        <a:off x="2016" y="1548"/>
                        <a:ext cx="384" cy="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2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中速冷却</a:t>
                        </a:r>
                        <a:endPara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36" name="Rectangle 11"/>
                      <p:cNvSpPr/>
                      <p:nvPr/>
                    </p:nvSpPr>
                    <p:spPr>
                      <a:xfrm>
                        <a:off x="3360" y="1548"/>
                        <a:ext cx="384" cy="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2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中速冷却</a:t>
                        </a:r>
                        <a:endPara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37" name="Rectangle 12"/>
                      <p:cNvSpPr/>
                      <p:nvPr/>
                    </p:nvSpPr>
                    <p:spPr>
                      <a:xfrm>
                        <a:off x="2448" y="1548"/>
                        <a:ext cx="384" cy="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2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缓冷</a:t>
                        </a:r>
                        <a:endPara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38" name="Rectangle 13"/>
                      <p:cNvSpPr/>
                      <p:nvPr/>
                    </p:nvSpPr>
                    <p:spPr>
                      <a:xfrm>
                        <a:off x="3840" y="1548"/>
                        <a:ext cx="384" cy="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2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缓冷</a:t>
                        </a:r>
                        <a:endPara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39" name="Rectangle 14"/>
                      <p:cNvSpPr/>
                      <p:nvPr/>
                    </p:nvSpPr>
                    <p:spPr>
                      <a:xfrm>
                        <a:off x="2016" y="3192"/>
                        <a:ext cx="384" cy="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2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缓冷</a:t>
                        </a:r>
                        <a:endPara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5640" name="Rectangle 15"/>
                      <p:cNvSpPr/>
                      <p:nvPr/>
                    </p:nvSpPr>
                    <p:spPr>
                      <a:xfrm>
                        <a:off x="1536" y="3192"/>
                        <a:ext cx="384" cy="9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/>
                      <a:lstStyle/>
                      <a:p>
                        <a:pPr lvl="0" algn="ctr" eaLnBrk="1" hangingPunct="1"/>
                        <a:r>
                          <a:rPr lang="zh-CN" altLang="en-US" sz="12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快冷</a:t>
                        </a:r>
                        <a:endPara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25623" name="Rectangle 17"/>
                    <p:cNvSpPr/>
                    <p:nvPr/>
                  </p:nvSpPr>
                  <p:spPr>
                    <a:xfrm>
                      <a:off x="1152" y="2532"/>
                      <a:ext cx="336" cy="19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rgbClr val="8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白口铸铁</a:t>
                      </a:r>
                      <a:endParaRPr lang="zh-CN" altLang="en-US" sz="1200" dirty="0">
                        <a:solidFill>
                          <a:srgbClr val="8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5624" name="Rectangle 18"/>
                    <p:cNvSpPr/>
                    <p:nvPr/>
                  </p:nvSpPr>
                  <p:spPr>
                    <a:xfrm>
                      <a:off x="1824" y="2532"/>
                      <a:ext cx="672" cy="192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珠光体灰铸铁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5625" name="Rectangle 19"/>
                    <p:cNvSpPr/>
                    <p:nvPr/>
                  </p:nvSpPr>
                  <p:spPr>
                    <a:xfrm>
                      <a:off x="2496" y="2544"/>
                      <a:ext cx="672" cy="168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铁素体灰铸铁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5626" name="Rectangle 20"/>
                    <p:cNvSpPr/>
                    <p:nvPr/>
                  </p:nvSpPr>
                  <p:spPr>
                    <a:xfrm>
                      <a:off x="3840" y="2544"/>
                      <a:ext cx="624" cy="264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铁素体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球墨铸铁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5627" name="Rectangle 21"/>
                    <p:cNvSpPr/>
                    <p:nvPr/>
                  </p:nvSpPr>
                  <p:spPr>
                    <a:xfrm>
                      <a:off x="3168" y="2544"/>
                      <a:ext cx="672" cy="24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珠光体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球墨铸铁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5628" name="Rectangle 22"/>
                    <p:cNvSpPr/>
                    <p:nvPr/>
                  </p:nvSpPr>
                  <p:spPr>
                    <a:xfrm>
                      <a:off x="960" y="3840"/>
                      <a:ext cx="432" cy="19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珠光体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可锻铸铁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5629" name="Rectangle 23"/>
                    <p:cNvSpPr/>
                    <p:nvPr/>
                  </p:nvSpPr>
                  <p:spPr>
                    <a:xfrm>
                      <a:off x="2496" y="3792"/>
                      <a:ext cx="480" cy="264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铁素体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可锻铸铁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5630" name="Rectangle 24"/>
                    <p:cNvSpPr/>
                    <p:nvPr/>
                  </p:nvSpPr>
                  <p:spPr>
                    <a:xfrm>
                      <a:off x="1488" y="2748"/>
                      <a:ext cx="624" cy="9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 lvl="0" algn="ctr" eaLnBrk="1" hangingPunct="1"/>
                      <a:r>
                        <a:rPr lang="zh-CN" altLang="en-US" sz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石墨化退火</a:t>
                      </a:r>
                      <a:endParaRPr lang="zh-CN" altLang="en-US" sz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25616" name="Line 39"/>
                  <p:cNvSpPr/>
                  <p:nvPr/>
                </p:nvSpPr>
                <p:spPr>
                  <a:xfrm flipV="1">
                    <a:off x="1392" y="1284"/>
                    <a:ext cx="2112" cy="0"/>
                  </a:xfrm>
                  <a:prstGeom prst="line">
                    <a:avLst/>
                  </a:prstGeom>
                  <a:ln w="3810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17" name="Rectangle 41"/>
                  <p:cNvSpPr/>
                  <p:nvPr/>
                </p:nvSpPr>
                <p:spPr>
                  <a:xfrm>
                    <a:off x="3492" y="1200"/>
                    <a:ext cx="48" cy="144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lvl="0" eaLnBrk="1" hangingPunct="1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5618" name="Line 42"/>
                  <p:cNvSpPr/>
                  <p:nvPr/>
                </p:nvSpPr>
                <p:spPr>
                  <a:xfrm>
                    <a:off x="3576" y="1188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19" name="Line 43"/>
                  <p:cNvSpPr/>
                  <p:nvPr/>
                </p:nvSpPr>
                <p:spPr>
                  <a:xfrm flipH="1">
                    <a:off x="3096" y="1320"/>
                    <a:ext cx="480" cy="0"/>
                  </a:xfrm>
                  <a:prstGeom prst="line">
                    <a:avLst/>
                  </a:prstGeom>
                  <a:ln w="3810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20" name="Line 45"/>
                  <p:cNvSpPr/>
                  <p:nvPr/>
                </p:nvSpPr>
                <p:spPr>
                  <a:xfrm>
                    <a:off x="3492" y="1152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21" name="Line 47"/>
                  <p:cNvSpPr/>
                  <p:nvPr/>
                </p:nvSpPr>
                <p:spPr>
                  <a:xfrm>
                    <a:off x="1392" y="1272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bg2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</p:grpSp>
            <p:sp>
              <p:nvSpPr>
                <p:cNvPr id="25611" name="Rectangle 49"/>
                <p:cNvSpPr/>
                <p:nvPr/>
              </p:nvSpPr>
              <p:spPr>
                <a:xfrm>
                  <a:off x="864" y="1584"/>
                  <a:ext cx="480" cy="96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algn="ctr" eaLnBrk="1" hangingPunct="1"/>
                  <a:r>
                    <a:rPr lang="zh-CN" altLang="en-US" sz="12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中速冷却</a:t>
                  </a:r>
                  <a:endParaRPr lang="zh-CN" altLang="en-US" sz="12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612" name="Rectangle 50"/>
                <p:cNvSpPr/>
                <p:nvPr/>
              </p:nvSpPr>
              <p:spPr>
                <a:xfrm>
                  <a:off x="1440" y="1584"/>
                  <a:ext cx="480" cy="96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algn="ctr" eaLnBrk="1" hangingPunct="1"/>
                  <a:r>
                    <a:rPr lang="zh-CN" altLang="en-US" sz="12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缓冷</a:t>
                  </a:r>
                  <a:endParaRPr lang="zh-CN" altLang="en-US" sz="12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5608" name="Rectangle 52"/>
              <p:cNvSpPr/>
              <p:nvPr/>
            </p:nvSpPr>
            <p:spPr>
              <a:xfrm>
                <a:off x="864" y="2604"/>
                <a:ext cx="480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lstStyle/>
              <a:p>
                <a:pPr lvl="0" algn="ctr" eaLnBrk="1" hangingPunct="1"/>
                <a:r>
                  <a:rPr lang="zh-CN" altLang="en-US" sz="12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珠光体</a:t>
                </a:r>
                <a:endParaRPr lang="zh-CN" altLang="en-US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algn="ctr" eaLnBrk="1" hangingPunct="1"/>
                <a:r>
                  <a:rPr lang="zh-CN" altLang="en-US" sz="12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蠕墨铸铁</a:t>
                </a:r>
                <a:endParaRPr lang="zh-CN" altLang="en-US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09" name="Rectangle 53"/>
              <p:cNvSpPr/>
              <p:nvPr/>
            </p:nvSpPr>
            <p:spPr>
              <a:xfrm>
                <a:off x="1440" y="2604"/>
                <a:ext cx="480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lstStyle/>
              <a:p>
                <a:pPr lvl="0" algn="ctr" eaLnBrk="1" hangingPunct="1"/>
                <a:r>
                  <a:rPr lang="zh-CN" altLang="en-US" sz="12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铁素体</a:t>
                </a:r>
                <a:endParaRPr lang="zh-CN" altLang="en-US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0" algn="ctr" eaLnBrk="1" hangingPunct="1"/>
                <a:r>
                  <a:rPr lang="zh-CN" altLang="en-US" sz="12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蠕墨铸铁</a:t>
                </a:r>
                <a:endParaRPr lang="zh-CN" altLang="en-US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5606" name="Text Box 55"/>
            <p:cNvSpPr txBox="1"/>
            <p:nvPr/>
          </p:nvSpPr>
          <p:spPr>
            <a:xfrm>
              <a:off x="1368" y="1260"/>
              <a:ext cx="57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Si/Mg/Ce</a:t>
              </a:r>
              <a:endParaRPr lang="en-US" altLang="zh-CN" sz="12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41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1400" y="6584950"/>
            <a:ext cx="478155" cy="27305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2060848"/>
            <a:ext cx="6912768" cy="25922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第二节  常用铸铁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GB" altLang="zh-CN" sz="6600" b="1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  <a:r>
              <a:rPr lang="en-GB" altLang="zh-CN" sz="6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6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altLang="zh-CN" sz="6600" b="1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ron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3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1400" y="6584950"/>
            <a:ext cx="478155" cy="27305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0"/>
            <a:ext cx="631348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第二节  常用铸铁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685800" y="1571625"/>
            <a:ext cx="7772400" cy="452437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一、灰（口）铸铁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二、可锻铸铁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三、球墨铸铁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四、蠕墨铸铁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五、特殊性能铸铁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如高铬铸铁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)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2663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09660" y="6629400"/>
            <a:ext cx="434340" cy="2286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840" y="980440"/>
            <a:ext cx="7345045" cy="369062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华文中宋" panose="02010600040101010101" pitchFamily="2" charset="-122"/>
              </a:rPr>
              <a:t>一、灰铸铁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华文中宋" panose="02010600040101010101" pitchFamily="2" charset="-122"/>
              </a:rPr>
            </a:br>
            <a:r>
              <a:rPr lang="en-US" altLang="zh-CN" sz="5400" b="1" dirty="0">
                <a:ea typeface="华文中宋" panose="02010600040101010101" pitchFamily="2" charset="-122"/>
              </a:rPr>
              <a:t>Grey  Cast Iron</a:t>
            </a:r>
            <a:r>
              <a:rPr lang="zh-CN" altLang="en-US" sz="5400" b="1" dirty="0">
                <a:ea typeface="华文中宋" panose="02010600040101010101" pitchFamily="2" charset="-122"/>
              </a:rPr>
              <a:t>，</a:t>
            </a:r>
            <a:br>
              <a:rPr lang="en-US" altLang="zh-CN" sz="5400" b="1" dirty="0">
                <a:ea typeface="华文中宋" panose="02010600040101010101" pitchFamily="2" charset="-122"/>
              </a:rPr>
            </a:br>
            <a: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华文中宋" panose="02010600040101010101" pitchFamily="2" charset="-122"/>
              </a:rPr>
              <a:t>gray cast iron</a:t>
            </a: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华文中宋" panose="02010600040101010101" pitchFamily="2" charset="-122"/>
              </a:rPr>
              <a:t>，</a:t>
            </a:r>
            <a:b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华文中宋" panose="02010600040101010101" pitchFamily="2" charset="-122"/>
              </a:rPr>
            </a:br>
            <a: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华文中宋" panose="02010600040101010101" pitchFamily="2" charset="-122"/>
              </a:rPr>
              <a:t>gray pig iron</a:t>
            </a:r>
            <a:endParaRPr kumimoji="1" lang="en-US" altLang="zh-CN" sz="5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华文中宋" panose="02010600040101010101" pitchFamily="2" charset="-122"/>
            </a:endParaRPr>
          </a:p>
        </p:txBody>
      </p:sp>
      <p:sp>
        <p:nvSpPr>
          <p:cNvPr id="29701" name="Rectangle 5"/>
          <p:cNvSpPr/>
          <p:nvPr/>
        </p:nvSpPr>
        <p:spPr>
          <a:xfrm>
            <a:off x="304800" y="3886200"/>
            <a:ext cx="5410200" cy="2590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4471670" y="4566285"/>
            <a:ext cx="1864360" cy="2365459"/>
            <a:chOff x="3608" y="1872"/>
            <a:chExt cx="1792" cy="2514"/>
          </a:xfrm>
        </p:grpSpPr>
        <p:pic>
          <p:nvPicPr>
            <p:cNvPr id="27657" name="Picture 6" descr="旋转 castings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48" y="1872"/>
              <a:ext cx="1752" cy="2041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29703" name="Text Box 7"/>
            <p:cNvSpPr txBox="1">
              <a:spLocks noChangeArrowheads="1"/>
            </p:cNvSpPr>
            <p:nvPr/>
          </p:nvSpPr>
          <p:spPr bwMode="auto">
            <a:xfrm>
              <a:off x="3608" y="3962"/>
              <a:ext cx="1486" cy="4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灰铸铁齿轮箱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765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108585" y="20605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ldLvl="0" animBg="1"/>
      <p:bldP spid="297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09660" y="6629400"/>
            <a:ext cx="434340" cy="2286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1" y="0"/>
            <a:ext cx="4847964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一、灰铸铁</a:t>
            </a:r>
            <a:endParaRPr kumimoji="1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304800" y="928688"/>
            <a:ext cx="6338888" cy="528637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灰铸铁：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石墨</a:t>
            </a:r>
            <a:r>
              <a:rPr lang="zh-CN" altLang="en-US" b="1" dirty="0">
                <a:ea typeface="华文中宋" panose="02010600040101010101" pitchFamily="2" charset="-122"/>
              </a:rPr>
              <a:t>呈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片状</a:t>
            </a:r>
            <a:r>
              <a:rPr lang="zh-CN" altLang="en-US" b="1" dirty="0">
                <a:ea typeface="华文中宋" panose="02010600040101010101" pitchFamily="2" charset="-122"/>
              </a:rPr>
              <a:t>分布的灰口铸铁。产量约占铸铁总产量的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80%</a:t>
            </a:r>
            <a:r>
              <a:rPr lang="zh-CN" altLang="en-US" b="1" dirty="0">
                <a:ea typeface="华文中宋" panose="02010600040101010101" pitchFamily="2" charset="-122"/>
              </a:rPr>
              <a:t>以上。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、组织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形成条件：</a:t>
            </a:r>
            <a:r>
              <a:rPr lang="zh-CN" altLang="en-US" b="1" dirty="0">
                <a:solidFill>
                  <a:srgbClr val="E1FFFF"/>
                </a:solidFill>
              </a:rPr>
              <a:t>由液态铁水</a:t>
            </a:r>
            <a:r>
              <a:rPr lang="zh-CN" altLang="en-US" b="1" dirty="0">
                <a:solidFill>
                  <a:schemeClr val="folHlink"/>
                </a:solidFill>
              </a:rPr>
              <a:t>缓慢冷却</a:t>
            </a:r>
            <a:r>
              <a:rPr lang="zh-CN" altLang="en-US" b="1" dirty="0">
                <a:solidFill>
                  <a:srgbClr val="E1FFFF"/>
                </a:solidFill>
              </a:rPr>
              <a:t>时通过石墨化过程形成的。</a:t>
            </a:r>
            <a:endParaRPr lang="zh-CN" altLang="en-US" b="1" dirty="0">
              <a:solidFill>
                <a:srgbClr val="E1FFFF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基体组织</a:t>
            </a:r>
            <a:r>
              <a:rPr lang="zh-CN" altLang="en-US" b="1" dirty="0">
                <a:solidFill>
                  <a:srgbClr val="E1FFFF"/>
                </a:solidFill>
              </a:rPr>
              <a:t>：①</a:t>
            </a:r>
            <a:r>
              <a:rPr lang="zh-CN" altLang="en-US" b="1" dirty="0">
                <a:solidFill>
                  <a:schemeClr val="folHlink"/>
                </a:solidFill>
              </a:rPr>
              <a:t>铁素体；</a:t>
            </a:r>
            <a:r>
              <a:rPr lang="zh-CN" altLang="en-US" b="1" dirty="0">
                <a:solidFill>
                  <a:srgbClr val="E1FFFF"/>
                </a:solidFill>
              </a:rPr>
              <a:t> ②</a:t>
            </a:r>
            <a:r>
              <a:rPr lang="zh-CN" altLang="en-US" b="1" dirty="0">
                <a:solidFill>
                  <a:schemeClr val="folHlink"/>
                </a:solidFill>
              </a:rPr>
              <a:t>珠光体；③铁素体 </a:t>
            </a:r>
            <a:r>
              <a:rPr lang="en-US" altLang="zh-CN" b="1" dirty="0">
                <a:solidFill>
                  <a:schemeClr val="folHlink"/>
                </a:solidFill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</a:rPr>
              <a:t>珠光体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sp>
        <p:nvSpPr>
          <p:cNvPr id="29701" name="Rectangle 5"/>
          <p:cNvSpPr/>
          <p:nvPr/>
        </p:nvSpPr>
        <p:spPr>
          <a:xfrm>
            <a:off x="304800" y="3886200"/>
            <a:ext cx="5410200" cy="2590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6715125" y="3071813"/>
            <a:ext cx="2428875" cy="3021012"/>
            <a:chOff x="3648" y="1872"/>
            <a:chExt cx="1752" cy="2041"/>
          </a:xfrm>
        </p:grpSpPr>
        <p:pic>
          <p:nvPicPr>
            <p:cNvPr id="27657" name="Picture 6" descr="旋转 castings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48" y="1872"/>
              <a:ext cx="1752" cy="2041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29703" name="Text Box 7"/>
            <p:cNvSpPr txBox="1">
              <a:spLocks noChangeArrowheads="1"/>
            </p:cNvSpPr>
            <p:nvPr/>
          </p:nvSpPr>
          <p:spPr bwMode="auto">
            <a:xfrm>
              <a:off x="3744" y="3600"/>
              <a:ext cx="148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灰铸铁齿轮箱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765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611505" y="993140"/>
            <a:ext cx="13309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灰铸铁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 advAuto="1000" build="p"/>
      <p:bldP spid="2970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7275" y="6580505"/>
            <a:ext cx="455930" cy="27749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595" y="0"/>
            <a:ext cx="5836285" cy="92964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30000"/>
              </a:lnSpc>
            </a:pPr>
            <a:r>
              <a:rPr lang="zh-CN" altLang="en-US" sz="4800" b="1" noProof="0" dirty="0">
                <a:ln>
                  <a:noFill/>
                </a:ln>
                <a:uLnTx/>
                <a:uFillTx/>
                <a:ea typeface="华文中宋" panose="02010600040101010101" pitchFamily="2" charset="-122"/>
              </a:rPr>
              <a:t>灰铸铁的显微组织 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  <a:ea typeface="楷体_GB2312" pitchFamily="49" charset="-122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1403618" y="1300063"/>
            <a:ext cx="6555925" cy="4968925"/>
            <a:chOff x="1444" y="690"/>
            <a:chExt cx="4295" cy="3231"/>
          </a:xfrm>
        </p:grpSpPr>
        <p:grpSp>
          <p:nvGrpSpPr>
            <p:cNvPr id="28679" name="Group 13"/>
            <p:cNvGrpSpPr/>
            <p:nvPr/>
          </p:nvGrpSpPr>
          <p:grpSpPr>
            <a:xfrm>
              <a:off x="1444" y="710"/>
              <a:ext cx="4295" cy="3211"/>
              <a:chOff x="1444" y="710"/>
              <a:chExt cx="4295" cy="3211"/>
            </a:xfrm>
          </p:grpSpPr>
          <p:pic>
            <p:nvPicPr>
              <p:cNvPr id="28683" name="Picture 4" descr="1-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49" y="710"/>
                <a:ext cx="1751" cy="1372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28684" name="Text Box 7"/>
              <p:cNvSpPr txBox="1"/>
              <p:nvPr/>
            </p:nvSpPr>
            <p:spPr>
              <a:xfrm>
                <a:off x="5406" y="710"/>
                <a:ext cx="321" cy="13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铁素体灰铸铁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28685" name="Picture 5" descr="2-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44" y="2242"/>
                <a:ext cx="1585" cy="1248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28686" name="Text Box 8"/>
              <p:cNvSpPr txBox="1"/>
              <p:nvPr/>
            </p:nvSpPr>
            <p:spPr>
              <a:xfrm>
                <a:off x="3095" y="2235"/>
                <a:ext cx="321" cy="12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珠光体灰铸铁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28687" name="Picture 6" descr="3-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61" y="2208"/>
                <a:ext cx="1757" cy="1379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28688" name="Text Box 9"/>
              <p:cNvSpPr txBox="1"/>
              <p:nvPr/>
            </p:nvSpPr>
            <p:spPr>
              <a:xfrm>
                <a:off x="5418" y="2193"/>
                <a:ext cx="321" cy="17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铁素体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珠光体 灰铸铁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680" name="Group 16"/>
            <p:cNvGrpSpPr/>
            <p:nvPr/>
          </p:nvGrpSpPr>
          <p:grpSpPr>
            <a:xfrm>
              <a:off x="1585" y="690"/>
              <a:ext cx="1857" cy="1536"/>
              <a:chOff x="1585" y="690"/>
              <a:chExt cx="1857" cy="1536"/>
            </a:xfrm>
          </p:grpSpPr>
          <p:pic>
            <p:nvPicPr>
              <p:cNvPr id="28681" name="Picture 14" descr="石墨片的立体形态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85" y="710"/>
                <a:ext cx="1424" cy="1372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28682" name="Text Box 15"/>
              <p:cNvSpPr txBox="1"/>
              <p:nvPr/>
            </p:nvSpPr>
            <p:spPr>
              <a:xfrm>
                <a:off x="3134" y="690"/>
                <a:ext cx="308" cy="15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石墨片的三维形貌</a:t>
                </a:r>
                <a:endParaRPr lang="zh-CN" altLang="en-US" sz="20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867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63000" y="6584950"/>
            <a:ext cx="381000" cy="27305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0"/>
            <a:ext cx="537368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灰铸铁的孕育处理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250825" y="1000125"/>
            <a:ext cx="6877050" cy="4311650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目的：</a:t>
            </a:r>
            <a:r>
              <a:rPr lang="zh-CN" altLang="en-US" b="1" dirty="0">
                <a:ea typeface="华文中宋" panose="02010600040101010101" pitchFamily="2" charset="-122"/>
              </a:rPr>
              <a:t>细化片状石墨。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常用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孕育剂：硅铁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硅钙  合金。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经孕育处理的灰铸铁</a:t>
            </a:r>
            <a:r>
              <a:rPr lang="zh-CN" altLang="en-US" b="1" dirty="0">
                <a:ea typeface="华文中宋" panose="02010600040101010101" pitchFamily="2" charset="-122"/>
              </a:rPr>
              <a:t>称为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孕育铸铁。</a:t>
            </a:r>
            <a:r>
              <a:rPr lang="zh-CN" altLang="en-US" b="1" dirty="0">
                <a:ea typeface="仿宋_GB2312" pitchFamily="49" charset="-122"/>
              </a:rPr>
              <a:t> </a:t>
            </a:r>
            <a:r>
              <a:rPr lang="zh-CN" altLang="en-US" b="1" dirty="0">
                <a:solidFill>
                  <a:schemeClr val="accent1"/>
                </a:solidFill>
                <a:ea typeface="仿宋_GB2312" pitchFamily="49" charset="-122"/>
              </a:rPr>
              <a:t>  </a:t>
            </a:r>
            <a:endParaRPr lang="zh-CN" altLang="en-US" b="1" dirty="0">
              <a:solidFill>
                <a:schemeClr val="accent1"/>
              </a:solidFill>
              <a:ea typeface="仿宋_GB2312" pitchFamily="49" charset="-122"/>
            </a:endParaRPr>
          </a:p>
        </p:txBody>
      </p:sp>
      <p:grpSp>
        <p:nvGrpSpPr>
          <p:cNvPr id="29701" name="Group 15"/>
          <p:cNvGrpSpPr/>
          <p:nvPr/>
        </p:nvGrpSpPr>
        <p:grpSpPr>
          <a:xfrm>
            <a:off x="1245870" y="3429000"/>
            <a:ext cx="6068060" cy="2419021"/>
            <a:chOff x="1020" y="2478"/>
            <a:chExt cx="4618" cy="2029"/>
          </a:xfrm>
        </p:grpSpPr>
        <p:grpSp>
          <p:nvGrpSpPr>
            <p:cNvPr id="29709" name="Group 14"/>
            <p:cNvGrpSpPr/>
            <p:nvPr/>
          </p:nvGrpSpPr>
          <p:grpSpPr>
            <a:xfrm>
              <a:off x="1020" y="2478"/>
              <a:ext cx="4618" cy="2025"/>
              <a:chOff x="1020" y="2478"/>
              <a:chExt cx="4618" cy="2025"/>
            </a:xfrm>
          </p:grpSpPr>
          <p:pic>
            <p:nvPicPr>
              <p:cNvPr id="29711" name="Picture 5" descr="nghjzt28细小石墨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470" y="2478"/>
                <a:ext cx="2168" cy="1695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pic>
            <p:nvPicPr>
              <p:cNvPr id="29712" name="Picture 6" descr="nghjzt26粗大石墨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020" y="2478"/>
                <a:ext cx="2235" cy="1691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29713" name="Text Box 7"/>
              <p:cNvSpPr txBox="1">
                <a:spLocks noChangeAspect="1"/>
              </p:cNvSpPr>
              <p:nvPr/>
            </p:nvSpPr>
            <p:spPr>
              <a:xfrm>
                <a:off x="1411" y="4169"/>
                <a:ext cx="1297" cy="334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孕育处理前</a:t>
                </a:r>
                <a:endPara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710" name="Text Box 8"/>
            <p:cNvSpPr txBox="1">
              <a:spLocks noChangeAspect="1"/>
            </p:cNvSpPr>
            <p:nvPr/>
          </p:nvSpPr>
          <p:spPr>
            <a:xfrm>
              <a:off x="3825" y="4173"/>
              <a:ext cx="1305" cy="33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孕育处理后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9"/>
          <p:cNvGrpSpPr/>
          <p:nvPr>
            <p:custDataLst>
              <p:tags r:id="rId3"/>
            </p:custDataLst>
          </p:nvPr>
        </p:nvGrpSpPr>
        <p:grpSpPr>
          <a:xfrm>
            <a:off x="6875780" y="1124268"/>
            <a:ext cx="2362200" cy="2667000"/>
            <a:chOff x="4128" y="240"/>
            <a:chExt cx="1488" cy="1680"/>
          </a:xfrm>
        </p:grpSpPr>
        <p:pic>
          <p:nvPicPr>
            <p:cNvPr id="29705" name="Picture 10" descr="thj03硅铁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 cstate="print"/>
            <a:stretch>
              <a:fillRect/>
            </a:stretch>
          </p:blipFill>
          <p:spPr>
            <a:xfrm>
              <a:off x="4128" y="288"/>
              <a:ext cx="975" cy="91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6" name="Text Box 11"/>
            <p:cNvSpPr txBox="1"/>
            <p:nvPr>
              <p:custDataLst>
                <p:tags r:id="rId6"/>
              </p:custDataLst>
            </p:nvPr>
          </p:nvSpPr>
          <p:spPr>
            <a:xfrm>
              <a:off x="4512" y="240"/>
              <a:ext cx="43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硅铁</a:t>
              </a:r>
              <a:endParaRPr lang="zh-CN" altLang="en-US" sz="18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29707" name="Picture 12" descr="硅钙合金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4560" y="1056"/>
              <a:ext cx="966" cy="86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8" name="Text Box 13"/>
            <p:cNvSpPr txBox="1"/>
            <p:nvPr>
              <p:custDataLst>
                <p:tags r:id="rId9"/>
              </p:custDataLst>
            </p:nvPr>
          </p:nvSpPr>
          <p:spPr>
            <a:xfrm>
              <a:off x="5184" y="1056"/>
              <a:ext cx="43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硅钙</a:t>
              </a:r>
              <a:endParaRPr lang="zh-CN" altLang="en-US" sz="18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70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-26245" y="6555056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4420" y="6667500"/>
            <a:ext cx="445135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0"/>
            <a:ext cx="702627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285750" y="1143000"/>
            <a:ext cx="8572500" cy="5214938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只改变基体组织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不改变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石墨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形态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灰铸铁强度只有碳钢的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30~50%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，热处理强化效果不大。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常用的热处理工艺：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 消除内应力退火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人工时效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消除  白口组织  退火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③ 表面淬火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3072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-36512" y="6590348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29625" y="6565900"/>
            <a:ext cx="600075" cy="2921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0"/>
            <a:ext cx="407193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179388" y="981075"/>
            <a:ext cx="6121400" cy="45466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制造承受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压力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震动</a:t>
            </a:r>
            <a:r>
              <a:rPr lang="zh-CN" altLang="en-US" b="1" dirty="0">
                <a:ea typeface="华文中宋" panose="02010600040101010101" pitchFamily="2" charset="-122"/>
              </a:rPr>
              <a:t>的零件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机床床身、各种箱体、壳体、泵体、缸体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pic>
        <p:nvPicPr>
          <p:cNvPr id="31749" name="Picture 6" descr="灰铸铁活塞环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012493" y="4659227"/>
            <a:ext cx="3076897" cy="11103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0" name="Rectangle 8"/>
          <p:cNvSpPr/>
          <p:nvPr/>
        </p:nvSpPr>
        <p:spPr>
          <a:xfrm>
            <a:off x="7931150" y="5805170"/>
            <a:ext cx="1209675" cy="334645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灰铸铁件</a:t>
            </a:r>
            <a:endParaRPr lang="zh-CN" altLang="en-US" sz="2000" b="1" dirty="0">
              <a:solidFill>
                <a:srgbClr val="8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31751" name="Group 20"/>
          <p:cNvGrpSpPr/>
          <p:nvPr/>
        </p:nvGrpSpPr>
        <p:grpSpPr>
          <a:xfrm>
            <a:off x="7200900" y="1196340"/>
            <a:ext cx="1815465" cy="2019935"/>
            <a:chOff x="4105" y="391"/>
            <a:chExt cx="1593" cy="1942"/>
          </a:xfrm>
        </p:grpSpPr>
        <p:pic>
          <p:nvPicPr>
            <p:cNvPr id="31766" name="Picture 5" descr="灰铸铁汽缸套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5" y="391"/>
              <a:ext cx="1562" cy="194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7" name="Text Box 9"/>
            <p:cNvSpPr txBox="1"/>
            <p:nvPr/>
          </p:nvSpPr>
          <p:spPr>
            <a:xfrm>
              <a:off x="5295" y="1533"/>
              <a:ext cx="403" cy="76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汽缸套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752" name="Group 19"/>
          <p:cNvGrpSpPr/>
          <p:nvPr/>
        </p:nvGrpSpPr>
        <p:grpSpPr>
          <a:xfrm>
            <a:off x="6732466" y="3268776"/>
            <a:ext cx="1417637" cy="1265238"/>
            <a:chOff x="2835" y="1661"/>
            <a:chExt cx="893" cy="797"/>
          </a:xfrm>
        </p:grpSpPr>
        <p:pic>
          <p:nvPicPr>
            <p:cNvPr id="31764" name="Picture 7" descr="灰铸铁活塞环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5" y="1661"/>
              <a:ext cx="893" cy="79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5" name="Text Box 10"/>
            <p:cNvSpPr txBox="1"/>
            <p:nvPr/>
          </p:nvSpPr>
          <p:spPr>
            <a:xfrm>
              <a:off x="3152" y="1752"/>
              <a:ext cx="289" cy="59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活塞环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753" name="Group 17"/>
          <p:cNvGrpSpPr/>
          <p:nvPr/>
        </p:nvGrpSpPr>
        <p:grpSpPr>
          <a:xfrm>
            <a:off x="106587" y="2708921"/>
            <a:ext cx="3435332" cy="2529198"/>
            <a:chOff x="497" y="1936"/>
            <a:chExt cx="2272" cy="1612"/>
          </a:xfrm>
        </p:grpSpPr>
        <p:sp>
          <p:nvSpPr>
            <p:cNvPr id="31762" name="Text Box 12"/>
            <p:cNvSpPr txBox="1"/>
            <p:nvPr/>
          </p:nvSpPr>
          <p:spPr>
            <a:xfrm>
              <a:off x="497" y="3313"/>
              <a:ext cx="2272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大型船用柴油机汽缸体</a:t>
              </a:r>
              <a:r>
                <a:rPr lang="en-US" altLang="zh-CN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(HT-300)</a:t>
              </a:r>
              <a:endParaRPr lang="en-US" altLang="zh-CN" sz="18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pic>
          <p:nvPicPr>
            <p:cNvPr id="31763" name="Picture 13" descr="4[1]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" y="1936"/>
              <a:ext cx="2110" cy="1292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grpSp>
        <p:nvGrpSpPr>
          <p:cNvPr id="31754" name="Group 18"/>
          <p:cNvGrpSpPr/>
          <p:nvPr/>
        </p:nvGrpSpPr>
        <p:grpSpPr>
          <a:xfrm>
            <a:off x="3696995" y="4658748"/>
            <a:ext cx="2172567" cy="1650468"/>
            <a:chOff x="2426" y="1672"/>
            <a:chExt cx="1459" cy="1096"/>
          </a:xfrm>
        </p:grpSpPr>
        <p:pic>
          <p:nvPicPr>
            <p:cNvPr id="31760" name="Picture 15" descr="灰铸铁变速箱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6" y="1672"/>
              <a:ext cx="1459" cy="1096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31761" name="Text Box 16"/>
            <p:cNvSpPr txBox="1"/>
            <p:nvPr/>
          </p:nvSpPr>
          <p:spPr>
            <a:xfrm>
              <a:off x="2426" y="2478"/>
              <a:ext cx="8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变速箱体</a:t>
              </a:r>
              <a:endPara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755" name="Group 21"/>
          <p:cNvGrpSpPr/>
          <p:nvPr/>
        </p:nvGrpSpPr>
        <p:grpSpPr>
          <a:xfrm>
            <a:off x="3628390" y="2564765"/>
            <a:ext cx="2733040" cy="2100610"/>
            <a:chOff x="-69" y="1389"/>
            <a:chExt cx="2379" cy="2262"/>
          </a:xfrm>
        </p:grpSpPr>
        <p:pic>
          <p:nvPicPr>
            <p:cNvPr id="31758" name="Picture 22" descr="1[1]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389"/>
              <a:ext cx="2310" cy="1826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1759" name="Text Box 23"/>
            <p:cNvSpPr txBox="1"/>
            <p:nvPr/>
          </p:nvSpPr>
          <p:spPr>
            <a:xfrm>
              <a:off x="-69" y="3222"/>
              <a:ext cx="2304" cy="4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重型机床床身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(HT-250)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175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-21913" y="65659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4" name="内容占位符 1" descr="新校徽（3M）弓之乐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3925" y="6555740"/>
            <a:ext cx="600075" cy="30226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灰铸铁的牌号、力学性能、显微组织和用途（表）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32773" name="Picture 4" descr="《工程材料》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305685" y="1450340"/>
            <a:ext cx="5917565" cy="5408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652120" y="1447801"/>
            <a:ext cx="2339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华文中宋" panose="02010600040101010101" pitchFamily="2" charset="-122"/>
                <a:cs typeface="+mj-cs"/>
              </a:rPr>
              <a:t>GB/T 9439-2010  </a:t>
            </a:r>
            <a:r>
              <a:rPr kumimoji="1" lang="zh-CN" altLang="zh-CN" sz="1400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华文中宋" panose="02010600040101010101" pitchFamily="2" charset="-122"/>
                <a:cs typeface="+mj-cs"/>
              </a:rPr>
              <a:t>灰铸铁件</a:t>
            </a:r>
            <a:endParaRPr kumimoji="1" lang="zh-CN" altLang="en-US" sz="1400" b="1" kern="0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30619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590030"/>
            <a:ext cx="528320" cy="26797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14777" y="1700808"/>
            <a:ext cx="8317557" cy="230425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二、可锻铸铁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Ma</a:t>
            </a:r>
            <a:r>
              <a:rPr lang="en-US" altLang="zh-CN" sz="6600" b="1" dirty="0" err="1">
                <a:solidFill>
                  <a:schemeClr val="folHlink"/>
                </a:solidFill>
                <a:ea typeface="华文中宋" panose="02010600040101010101" pitchFamily="2" charset="-122"/>
              </a:rPr>
              <a:t>lleable</a:t>
            </a:r>
            <a:r>
              <a:rPr lang="zh-CN" altLang="en-US" sz="66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66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Cast Iron</a:t>
            </a:r>
            <a:endParaRPr kumimoji="1" lang="zh-CN" altLang="en-US" sz="6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379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5680" y="6590030"/>
            <a:ext cx="528320" cy="26797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0"/>
            <a:ext cx="469074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二、可锻铸铁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142875" y="1285875"/>
            <a:ext cx="4860925" cy="464375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可锻铸铁：</a:t>
            </a:r>
            <a:r>
              <a:rPr lang="zh-CN" altLang="en-US" b="1" dirty="0">
                <a:ea typeface="华文中宋" panose="02010600040101010101" pitchFamily="2" charset="-122"/>
              </a:rPr>
              <a:t>由白口铸铁经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石墨化退火</a:t>
            </a:r>
            <a:r>
              <a:rPr lang="zh-CN" altLang="en-US" b="1" dirty="0">
                <a:ea typeface="华文中宋" panose="02010600040101010101" pitchFamily="2" charset="-122"/>
              </a:rPr>
              <a:t>获得的石墨呈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团絮状</a:t>
            </a:r>
            <a:r>
              <a:rPr lang="zh-CN" altLang="en-US" b="1" dirty="0">
                <a:ea typeface="华文中宋" panose="02010600040101010101" pitchFamily="2" charset="-122"/>
              </a:rPr>
              <a:t>的灰口铸铁。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、组织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基体</a:t>
            </a:r>
            <a:r>
              <a:rPr lang="en-US" altLang="zh-CN" b="1" dirty="0">
                <a:solidFill>
                  <a:srgbClr val="EAF1F2"/>
                </a:solidFill>
                <a:ea typeface="华文中宋" panose="02010600040101010101" pitchFamily="2" charset="-122"/>
              </a:rPr>
              <a:t>(F</a:t>
            </a:r>
            <a:r>
              <a:rPr lang="zh-CN" altLang="en-US" b="1" dirty="0">
                <a:solidFill>
                  <a:srgbClr val="EAF1F2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EAF1F2"/>
                </a:solidFill>
                <a:ea typeface="华文中宋" panose="02010600040101010101" pitchFamily="2" charset="-122"/>
              </a:rPr>
              <a:t>P)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＋ 团絮状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076825" y="1844675"/>
            <a:ext cx="3852863" cy="3387725"/>
            <a:chOff x="2880" y="384"/>
            <a:chExt cx="2562" cy="2222"/>
          </a:xfrm>
        </p:grpSpPr>
        <p:pic>
          <p:nvPicPr>
            <p:cNvPr id="33800" name="Picture 5" descr="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28" y="384"/>
              <a:ext cx="2514" cy="2208"/>
            </a:xfrm>
            <a:prstGeom prst="rect">
              <a:avLst/>
            </a:prstGeom>
            <a:noFill/>
            <a:ln w="571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3801" name="Text Box 6"/>
            <p:cNvSpPr txBox="1"/>
            <p:nvPr/>
          </p:nvSpPr>
          <p:spPr>
            <a:xfrm>
              <a:off x="2880" y="2364"/>
              <a:ext cx="2182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可锻铸铁石墨化退火工艺曲线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79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539750" y="1340485"/>
            <a:ext cx="168402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可锻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铸铁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8865" y="6605270"/>
            <a:ext cx="445135" cy="25273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0"/>
            <a:ext cx="638333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二、可锻铸铁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323850" y="1125538"/>
            <a:ext cx="4608513" cy="53276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铁素体基体</a:t>
            </a:r>
            <a:r>
              <a:rPr lang="zh-CN" altLang="en-US" b="1" dirty="0">
                <a:ea typeface="华文中宋" panose="02010600040101010101" pitchFamily="2" charset="-122"/>
              </a:rPr>
              <a:t>可锻铸铁又称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黑心可锻铸铁。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珠光体基体</a:t>
            </a:r>
            <a:r>
              <a:rPr lang="zh-CN" altLang="en-US" b="1" dirty="0">
                <a:ea typeface="华文中宋" panose="02010600040101010101" pitchFamily="2" charset="-122"/>
              </a:rPr>
              <a:t>可锻铸铁又称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珠光体</a:t>
            </a:r>
            <a:r>
              <a:rPr lang="zh-CN" altLang="en-US" b="1" dirty="0">
                <a:ea typeface="华文中宋" panose="02010600040101010101" pitchFamily="2" charset="-122"/>
              </a:rPr>
              <a:t>可锻铸铁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白心可锻铸铁：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   表面：铁素体基体；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    心部：珠光体</a:t>
            </a:r>
            <a:r>
              <a:rPr lang="zh-CN" altLang="en-US" b="1" dirty="0">
                <a:ea typeface="华文中宋" panose="02010600040101010101" pitchFamily="2" charset="-122"/>
              </a:rPr>
              <a:t>基体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250180" y="1823085"/>
            <a:ext cx="3764280" cy="3648505"/>
            <a:chOff x="2880" y="384"/>
            <a:chExt cx="2562" cy="2401"/>
          </a:xfrm>
        </p:grpSpPr>
        <p:pic>
          <p:nvPicPr>
            <p:cNvPr id="34824" name="Picture 5" descr="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28" y="384"/>
              <a:ext cx="2514" cy="2208"/>
            </a:xfrm>
            <a:prstGeom prst="rect">
              <a:avLst/>
            </a:prstGeom>
            <a:noFill/>
            <a:ln w="571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4825" name="Text Box 6"/>
            <p:cNvSpPr txBox="1"/>
            <p:nvPr/>
          </p:nvSpPr>
          <p:spPr>
            <a:xfrm>
              <a:off x="2880" y="2364"/>
              <a:ext cx="2064" cy="4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可锻铸铁石墨化退火工艺曲线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82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4420" y="6591935"/>
            <a:ext cx="445135" cy="26606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495" y="44450"/>
            <a:ext cx="6895465" cy="97917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可锻铸铁的显微组织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1593850" y="1327150"/>
            <a:ext cx="6062663" cy="4740275"/>
            <a:chOff x="1004" y="836"/>
            <a:chExt cx="3819" cy="2986"/>
          </a:xfrm>
        </p:grpSpPr>
        <p:grpSp>
          <p:nvGrpSpPr>
            <p:cNvPr id="35847" name="Group 11"/>
            <p:cNvGrpSpPr/>
            <p:nvPr/>
          </p:nvGrpSpPr>
          <p:grpSpPr>
            <a:xfrm>
              <a:off x="1004" y="2412"/>
              <a:ext cx="1802" cy="1410"/>
              <a:chOff x="1052" y="1836"/>
              <a:chExt cx="1802" cy="1410"/>
            </a:xfrm>
          </p:grpSpPr>
          <p:pic>
            <p:nvPicPr>
              <p:cNvPr id="35853" name="Picture 4" descr="4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052" y="1836"/>
                <a:ext cx="1802" cy="1410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5854" name="Text Box 6"/>
              <p:cNvSpPr txBox="1"/>
              <p:nvPr/>
            </p:nvSpPr>
            <p:spPr>
              <a:xfrm>
                <a:off x="1263" y="3001"/>
                <a:ext cx="1226" cy="245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>
                <a:no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黑心可锻铸铁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 </a:t>
                </a:r>
                <a:endParaRPr lang="zh-CN" altLang="en-US" sz="24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pic>
          <p:nvPicPr>
            <p:cNvPr id="35848" name="Picture 5" descr="5-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8" y="836"/>
              <a:ext cx="1879" cy="147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5849" name="Text Box 7"/>
            <p:cNvSpPr txBox="1"/>
            <p:nvPr/>
          </p:nvSpPr>
          <p:spPr>
            <a:xfrm>
              <a:off x="2928" y="2026"/>
              <a:ext cx="1379" cy="28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>
              <a:no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珠光体可锻铸铁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zh-CN" altLang="en-US" sz="24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35850" name="Group 15"/>
            <p:cNvGrpSpPr/>
            <p:nvPr/>
          </p:nvGrpSpPr>
          <p:grpSpPr>
            <a:xfrm>
              <a:off x="2940" y="2400"/>
              <a:ext cx="1883" cy="1400"/>
              <a:chOff x="2940" y="2400"/>
              <a:chExt cx="1883" cy="1400"/>
            </a:xfrm>
          </p:grpSpPr>
          <p:pic>
            <p:nvPicPr>
              <p:cNvPr id="35851" name="Picture 13" descr="可锻铸铁的退火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940" y="2400"/>
                <a:ext cx="1883" cy="1400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5852" name="Rectangle 14"/>
              <p:cNvSpPr/>
              <p:nvPr/>
            </p:nvSpPr>
            <p:spPr>
              <a:xfrm>
                <a:off x="2971" y="3597"/>
                <a:ext cx="1488" cy="168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algn="ctr" eaLnBrk="1" hangingPunct="1"/>
                <a:r>
                  <a:rPr lang="zh-CN" altLang="en-US" sz="18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可锻铸铁的石墨化退火</a:t>
                </a:r>
                <a:endPara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584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6645" y="6573520"/>
            <a:ext cx="445135" cy="28448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14880" y="3175"/>
            <a:ext cx="4525645" cy="92900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uLnTx/>
                <a:uFillTx/>
                <a:ea typeface="华文中宋" panose="02010600040101010101" pitchFamily="2" charset="-122"/>
                <a:sym typeface="+mn-ea"/>
              </a:rPr>
              <a:t>可锻铸铁的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性能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CC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碳钢的４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0~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７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接近于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铸钢。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名为可锻，实不可锻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!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sp>
        <p:nvSpPr>
          <p:cNvPr id="3687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3625" y="6667500"/>
            <a:ext cx="434340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86255" y="0"/>
            <a:ext cx="4413250" cy="81153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uLnTx/>
                <a:uFillTx/>
                <a:ea typeface="华文中宋" panose="02010600040101010101" pitchFamily="2" charset="-122"/>
                <a:sym typeface="+mn-ea"/>
              </a:rPr>
              <a:t>可锻铸铁的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用途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500063" y="1071563"/>
            <a:ext cx="4864100" cy="4456112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形状复杂</a:t>
            </a:r>
            <a:r>
              <a:rPr lang="zh-CN" altLang="en-US" b="1" dirty="0">
                <a:ea typeface="华文中宋" panose="02010600040101010101" pitchFamily="2" charset="-122"/>
              </a:rPr>
              <a:t>且承受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振动载荷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薄壁小型件</a:t>
            </a:r>
            <a:r>
              <a:rPr lang="zh-CN" altLang="en-US" b="1" dirty="0">
                <a:ea typeface="华文中宋" panose="02010600040101010101" pitchFamily="2" charset="-122"/>
              </a:rPr>
              <a:t>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汽车、拖拉机的前后轮壳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管接头、低压阀门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65480" y="3763010"/>
            <a:ext cx="7437120" cy="2086054"/>
            <a:chOff x="114" y="2016"/>
            <a:chExt cx="5568" cy="1824"/>
          </a:xfrm>
        </p:grpSpPr>
        <p:grpSp>
          <p:nvGrpSpPr>
            <p:cNvPr id="37902" name="Group 5"/>
            <p:cNvGrpSpPr/>
            <p:nvPr/>
          </p:nvGrpSpPr>
          <p:grpSpPr>
            <a:xfrm>
              <a:off x="114" y="2016"/>
              <a:ext cx="5568" cy="1817"/>
              <a:chOff x="192" y="2064"/>
              <a:chExt cx="5568" cy="1817"/>
            </a:xfrm>
          </p:grpSpPr>
          <p:pic>
            <p:nvPicPr>
              <p:cNvPr id="37905" name="Picture 6" descr="cast-3-01[1]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2" y="2064"/>
                <a:ext cx="1918" cy="1812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pic>
            <p:nvPicPr>
              <p:cNvPr id="37906" name="Picture 7" descr="cast-3-03[1]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872" y="2064"/>
                <a:ext cx="1918" cy="1812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pic>
            <p:nvPicPr>
              <p:cNvPr id="37907" name="Picture 8" descr="cast-3-07[1]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584" y="2064"/>
                <a:ext cx="2176" cy="1817"/>
              </a:xfrm>
              <a:prstGeom prst="rect">
                <a:avLst/>
              </a:prstGeom>
              <a:noFill/>
              <a:ln w="38100">
                <a:noFill/>
              </a:ln>
            </p:spPr>
          </p:pic>
        </p:grpSp>
        <p:sp>
          <p:nvSpPr>
            <p:cNvPr id="37903" name="Text Box 9"/>
            <p:cNvSpPr txBox="1"/>
            <p:nvPr/>
          </p:nvSpPr>
          <p:spPr>
            <a:xfrm>
              <a:off x="2284" y="3491"/>
              <a:ext cx="1758" cy="349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可锻铸铁管件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4" name="Rectangle 10"/>
            <p:cNvSpPr/>
            <p:nvPr/>
          </p:nvSpPr>
          <p:spPr>
            <a:xfrm>
              <a:off x="131" y="2016"/>
              <a:ext cx="5537" cy="182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1"/>
          <p:cNvGrpSpPr>
            <a:grpSpLocks noChangeAspect="1"/>
          </p:cNvGrpSpPr>
          <p:nvPr/>
        </p:nvGrpSpPr>
        <p:grpSpPr>
          <a:xfrm>
            <a:off x="6456680" y="1202055"/>
            <a:ext cx="2044700" cy="1890395"/>
            <a:chOff x="3600" y="324"/>
            <a:chExt cx="1972" cy="1824"/>
          </a:xfrm>
        </p:grpSpPr>
        <p:grpSp>
          <p:nvGrpSpPr>
            <p:cNvPr id="37897" name="Group 12"/>
            <p:cNvGrpSpPr>
              <a:grpSpLocks noChangeAspect="1"/>
            </p:cNvGrpSpPr>
            <p:nvPr/>
          </p:nvGrpSpPr>
          <p:grpSpPr>
            <a:xfrm>
              <a:off x="3604" y="324"/>
              <a:ext cx="1968" cy="1814"/>
              <a:chOff x="3604" y="324"/>
              <a:chExt cx="1968" cy="1814"/>
            </a:xfrm>
          </p:grpSpPr>
          <p:pic>
            <p:nvPicPr>
              <p:cNvPr id="37899" name="Picture 13" descr="可锻铸铁件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604" y="336"/>
                <a:ext cx="1152" cy="180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7900" name="Picture 14" descr="旋转 可锻铸铁件1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44" y="336"/>
                <a:ext cx="383" cy="179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7901" name="Picture 15" descr="旋转 可锻铸铁件４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128" y="324"/>
                <a:ext cx="444" cy="181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37898" name="Rectangle 16"/>
            <p:cNvSpPr>
              <a:spLocks noChangeAspect="1"/>
            </p:cNvSpPr>
            <p:nvPr/>
          </p:nvSpPr>
          <p:spPr>
            <a:xfrm>
              <a:off x="3600" y="324"/>
              <a:ext cx="1968" cy="182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/>
            <a:lstStyle/>
            <a:p>
              <a:pPr lvl="0" eaLnBrk="1" hangingPunct="1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89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-27377" y="65913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20" name="内容占位符 1" descr="新校徽（3M）弓之乐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2323465" y="3263900"/>
            <a:ext cx="4430395" cy="50355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GB/T 3287-2011  </a:t>
            </a:r>
            <a:r>
              <a:rPr lang="zh-CN" altLang="zh-CN" sz="2000" b="1" dirty="0">
                <a:solidFill>
                  <a:srgbClr val="FF0000"/>
                </a:solidFill>
              </a:rPr>
              <a:t>可锻铸铁管路连接件</a:t>
            </a:r>
            <a:endParaRPr lang="zh-CN" altLang="zh-CN" sz="2000" b="1" dirty="0">
              <a:solidFill>
                <a:srgbClr val="FF0000"/>
              </a:solidFill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6645" y="6667500"/>
            <a:ext cx="401320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可锻铸铁的牌号、力学性能、显微组织和用途（表）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sz="2800" b="1" dirty="0">
              <a:ea typeface="华文中宋" panose="02010600040101010101" pitchFamily="2" charset="-122"/>
            </a:endParaRPr>
          </a:p>
        </p:txBody>
      </p:sp>
      <p:pic>
        <p:nvPicPr>
          <p:cNvPr id="38917" name="Picture 4" descr="《工程材料》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42938" y="500063"/>
            <a:ext cx="8358187" cy="5895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9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4225925" y="36195"/>
            <a:ext cx="4232275" cy="45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FFFF00"/>
                </a:solidFill>
              </a:rPr>
              <a:t>GB/T 9440-2010  </a:t>
            </a:r>
            <a:r>
              <a:rPr lang="zh-CN" altLang="en-US" sz="2400" b="1" dirty="0">
                <a:solidFill>
                  <a:srgbClr val="FFFF00"/>
                </a:solidFill>
              </a:rPr>
              <a:t>可锻铸铁件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6325" y="6572250"/>
            <a:ext cx="445135" cy="28575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-40601" y="1904992"/>
            <a:ext cx="7813501" cy="195605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三、 球墨铸铁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Nodular Cast Iron</a:t>
            </a:r>
            <a:endParaRPr kumimoji="1" lang="zh-CN" altLang="en-US" sz="6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39941" name="Group 4"/>
          <p:cNvGrpSpPr/>
          <p:nvPr/>
        </p:nvGrpSpPr>
        <p:grpSpPr>
          <a:xfrm>
            <a:off x="3293632" y="4844759"/>
            <a:ext cx="1479429" cy="1344613"/>
            <a:chOff x="3696" y="1765"/>
            <a:chExt cx="1379" cy="1234"/>
          </a:xfrm>
        </p:grpSpPr>
        <p:pic>
          <p:nvPicPr>
            <p:cNvPr id="39950" name="Picture 5" descr="thj03硅铁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96" y="1797"/>
              <a:ext cx="1285" cy="1202"/>
            </a:xfrm>
            <a:prstGeom prst="rect">
              <a:avLst/>
            </a:prstGeom>
            <a:noFill/>
            <a:ln w="57150">
              <a:noFill/>
            </a:ln>
          </p:spPr>
        </p:pic>
        <p:sp>
          <p:nvSpPr>
            <p:cNvPr id="39951" name="Text Box 6"/>
            <p:cNvSpPr txBox="1"/>
            <p:nvPr/>
          </p:nvSpPr>
          <p:spPr>
            <a:xfrm>
              <a:off x="4547" y="1765"/>
              <a:ext cx="528" cy="5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kumimoji="1" lang="zh-CN" altLang="en-US" sz="1600" b="1" dirty="0">
                  <a:solidFill>
                    <a:schemeClr val="folHlink"/>
                  </a:solidFill>
                  <a:latin typeface="+mn-lt"/>
                  <a:ea typeface="华文中宋" panose="02010600040101010101" pitchFamily="2" charset="-122"/>
                  <a:cs typeface="+mn-cs"/>
                </a:rPr>
                <a:t>硅铁</a:t>
              </a:r>
              <a:endParaRPr kumimoji="1" lang="zh-CN" altLang="en-US" sz="1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39942" name="Group 7"/>
          <p:cNvGrpSpPr/>
          <p:nvPr/>
        </p:nvGrpSpPr>
        <p:grpSpPr>
          <a:xfrm>
            <a:off x="1475824" y="4844504"/>
            <a:ext cx="4924425" cy="1441450"/>
            <a:chOff x="688" y="2844"/>
            <a:chExt cx="3102" cy="908"/>
          </a:xfrm>
        </p:grpSpPr>
        <p:pic>
          <p:nvPicPr>
            <p:cNvPr id="39945" name="Picture 8" descr="硅钙合金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4" y="2859"/>
              <a:ext cx="833" cy="840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39946" name="Text Box 9"/>
            <p:cNvSpPr txBox="1"/>
            <p:nvPr/>
          </p:nvSpPr>
          <p:spPr>
            <a:xfrm>
              <a:off x="3550" y="2844"/>
              <a:ext cx="24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1600" b="1" dirty="0">
                  <a:solidFill>
                    <a:schemeClr val="folHlink"/>
                  </a:solidFill>
                  <a:latin typeface="+mn-lt"/>
                  <a:ea typeface="华文中宋" panose="02010600040101010101" pitchFamily="2" charset="-122"/>
                  <a:cs typeface="+mn-cs"/>
                </a:rPr>
                <a:t>硅钙</a:t>
              </a:r>
              <a:endParaRPr kumimoji="1" lang="zh-CN" altLang="en-US" sz="1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endParaRPr>
            </a:p>
          </p:txBody>
        </p:sp>
        <p:grpSp>
          <p:nvGrpSpPr>
            <p:cNvPr id="39947" name="Group 10"/>
            <p:cNvGrpSpPr/>
            <p:nvPr/>
          </p:nvGrpSpPr>
          <p:grpSpPr>
            <a:xfrm>
              <a:off x="688" y="2860"/>
              <a:ext cx="958" cy="892"/>
              <a:chOff x="688" y="2860"/>
              <a:chExt cx="958" cy="892"/>
            </a:xfrm>
          </p:grpSpPr>
          <p:pic>
            <p:nvPicPr>
              <p:cNvPr id="39948" name="Picture 11" descr="稀土镁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88" y="2860"/>
                <a:ext cx="847" cy="84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9949" name="Text Box 12"/>
              <p:cNvSpPr txBox="1"/>
              <p:nvPr/>
            </p:nvSpPr>
            <p:spPr>
              <a:xfrm>
                <a:off x="1022" y="3540"/>
                <a:ext cx="62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16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稀土镁</a:t>
                </a:r>
                <a:endParaRPr lang="zh-CN" altLang="en-US" sz="16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94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6325" y="6572250"/>
            <a:ext cx="445135" cy="28575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20" y="-128906"/>
            <a:ext cx="444944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三、 球墨铸铁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142875" y="1096645"/>
            <a:ext cx="7548880" cy="5262245"/>
          </a:xfrm>
        </p:spPr>
        <p:txBody>
          <a:bodyPr vert="horz" wrap="square" lIns="91440" tIns="45720" rIns="91440" bIns="45720" anchor="t"/>
          <a:lstStyle/>
          <a:p>
            <a:pPr eaLnBrk="1" hangingPunct="1">
              <a:spcBef>
                <a:spcPts val="600"/>
              </a:spcBef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        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：石墨呈球形</a:t>
            </a:r>
            <a:r>
              <a:rPr lang="zh-CN" altLang="en-US" b="1" dirty="0">
                <a:ea typeface="华文中宋" panose="02010600040101010101" pitchFamily="2" charset="-122"/>
              </a:rPr>
              <a:t>的灰口铸铁。由液态铁水经石墨化得到。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、组织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基体（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F+P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球状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</a:t>
            </a:r>
            <a:endParaRPr lang="en-US" altLang="zh-CN" b="1" dirty="0">
              <a:solidFill>
                <a:srgbClr val="66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球状石墨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液态铁水经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球化处理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得到的。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球化剂：镁、稀土、稀土镁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CCFF33"/>
                </a:solidFill>
              </a:rPr>
              <a:t>为避免白口，并使石墨细小均匀，在球化处理同时</a:t>
            </a:r>
            <a:r>
              <a:rPr lang="zh-CN" altLang="en-US" sz="2800" b="1" dirty="0">
                <a:ea typeface="华文中宋" panose="02010600040101010101" pitchFamily="2" charset="-122"/>
              </a:rPr>
              <a:t>还进行</a:t>
            </a:r>
            <a:r>
              <a:rPr lang="zh-CN" altLang="en-US" b="1" dirty="0">
                <a:solidFill>
                  <a:srgbClr val="CCFF33"/>
                </a:solidFill>
              </a:rPr>
              <a:t>孕育处理。</a:t>
            </a:r>
            <a:r>
              <a:rPr lang="zh-CN" altLang="en-US" b="1" dirty="0"/>
              <a:t> 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常用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孕育剂</a:t>
            </a:r>
            <a:r>
              <a:rPr lang="zh-CN" altLang="en-US" b="1" dirty="0"/>
              <a:t>：</a:t>
            </a:r>
            <a:r>
              <a:rPr lang="zh-CN" altLang="en-US" b="1" dirty="0">
                <a:solidFill>
                  <a:schemeClr val="folHlink"/>
                </a:solidFill>
              </a:rPr>
              <a:t>硅铁、硅钙  合金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grpSp>
        <p:nvGrpSpPr>
          <p:cNvPr id="39941" name="Group 4"/>
          <p:cNvGrpSpPr/>
          <p:nvPr>
            <p:custDataLst>
              <p:tags r:id="rId1"/>
            </p:custDataLst>
          </p:nvPr>
        </p:nvGrpSpPr>
        <p:grpSpPr>
          <a:xfrm>
            <a:off x="7758516" y="2788443"/>
            <a:ext cx="1479429" cy="1344613"/>
            <a:chOff x="3696" y="1765"/>
            <a:chExt cx="1379" cy="1234"/>
          </a:xfrm>
        </p:grpSpPr>
        <p:pic>
          <p:nvPicPr>
            <p:cNvPr id="39950" name="Picture 5" descr="thj03硅铁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print"/>
            <a:stretch>
              <a:fillRect/>
            </a:stretch>
          </p:blipFill>
          <p:spPr>
            <a:xfrm>
              <a:off x="3696" y="1797"/>
              <a:ext cx="1285" cy="1202"/>
            </a:xfrm>
            <a:prstGeom prst="rect">
              <a:avLst/>
            </a:prstGeom>
            <a:noFill/>
            <a:ln w="57150">
              <a:noFill/>
            </a:ln>
          </p:spPr>
        </p:pic>
        <p:sp>
          <p:nvSpPr>
            <p:cNvPr id="39951" name="Text Box 6"/>
            <p:cNvSpPr txBox="1"/>
            <p:nvPr>
              <p:custDataLst>
                <p:tags r:id="rId4"/>
              </p:custDataLst>
            </p:nvPr>
          </p:nvSpPr>
          <p:spPr>
            <a:xfrm>
              <a:off x="4547" y="1765"/>
              <a:ext cx="528" cy="5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kumimoji="1" lang="zh-CN" altLang="en-US" sz="1600" b="1" dirty="0">
                  <a:solidFill>
                    <a:schemeClr val="folHlink"/>
                  </a:solidFill>
                  <a:latin typeface="+mn-lt"/>
                  <a:ea typeface="华文中宋" panose="02010600040101010101" pitchFamily="2" charset="-122"/>
                  <a:cs typeface="+mn-cs"/>
                </a:rPr>
                <a:t>硅铁</a:t>
              </a:r>
              <a:endParaRPr kumimoji="1" lang="zh-CN" altLang="en-US" sz="1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39942" name="Group 7"/>
          <p:cNvGrpSpPr/>
          <p:nvPr>
            <p:custDataLst>
              <p:tags r:id="rId5"/>
            </p:custDataLst>
          </p:nvPr>
        </p:nvGrpSpPr>
        <p:grpSpPr>
          <a:xfrm>
            <a:off x="7758340" y="1269164"/>
            <a:ext cx="1479550" cy="4370387"/>
            <a:chOff x="4582" y="785"/>
            <a:chExt cx="932" cy="2753"/>
          </a:xfrm>
        </p:grpSpPr>
        <p:pic>
          <p:nvPicPr>
            <p:cNvPr id="39945" name="Picture 8" descr="硅钙合金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4582" y="2698"/>
              <a:ext cx="833" cy="840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39946" name="Text Box 9"/>
            <p:cNvSpPr txBox="1"/>
            <p:nvPr>
              <p:custDataLst>
                <p:tags r:id="rId8"/>
              </p:custDataLst>
            </p:nvPr>
          </p:nvSpPr>
          <p:spPr>
            <a:xfrm>
              <a:off x="5175" y="2735"/>
              <a:ext cx="24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1600" b="1" dirty="0">
                  <a:solidFill>
                    <a:schemeClr val="folHlink"/>
                  </a:solidFill>
                  <a:latin typeface="+mn-lt"/>
                  <a:ea typeface="华文中宋" panose="02010600040101010101" pitchFamily="2" charset="-122"/>
                  <a:cs typeface="+mn-cs"/>
                </a:rPr>
                <a:t>硅钙</a:t>
              </a:r>
              <a:endParaRPr kumimoji="1" lang="zh-CN" altLang="en-US" sz="1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endParaRPr>
            </a:p>
          </p:txBody>
        </p:sp>
        <p:grpSp>
          <p:nvGrpSpPr>
            <p:cNvPr id="39947" name="Group 10"/>
            <p:cNvGrpSpPr/>
            <p:nvPr/>
          </p:nvGrpSpPr>
          <p:grpSpPr>
            <a:xfrm>
              <a:off x="4616" y="785"/>
              <a:ext cx="898" cy="847"/>
              <a:chOff x="4616" y="785"/>
              <a:chExt cx="898" cy="847"/>
            </a:xfrm>
          </p:grpSpPr>
          <p:pic>
            <p:nvPicPr>
              <p:cNvPr id="39948" name="Picture 11" descr="稀土镁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616" y="785"/>
                <a:ext cx="847" cy="84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9949" name="Text Box 12"/>
              <p:cNvSpPr txBox="1"/>
              <p:nvPr/>
            </p:nvSpPr>
            <p:spPr>
              <a:xfrm>
                <a:off x="4890" y="1254"/>
                <a:ext cx="624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16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稀土镁</a:t>
                </a:r>
                <a:endParaRPr lang="zh-CN" altLang="en-US" sz="16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94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11"/>
            </p:custDataLst>
          </p:nvPr>
        </p:nvSpPr>
        <p:spPr>
          <a:xfrm>
            <a:off x="539750" y="1143635"/>
            <a:ext cx="168402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球墨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铸铁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8865" y="6548120"/>
            <a:ext cx="445135" cy="29591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09220"/>
            <a:ext cx="5292725" cy="56134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球墨铸铁的显微组织</a:t>
            </a:r>
            <a:r>
              <a: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1399556" y="1108287"/>
            <a:ext cx="6898609" cy="5154110"/>
            <a:chOff x="631" y="442"/>
            <a:chExt cx="4239" cy="3524"/>
          </a:xfrm>
        </p:grpSpPr>
        <p:pic>
          <p:nvPicPr>
            <p:cNvPr id="40967" name="Picture 6" descr="8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31" y="2078"/>
              <a:ext cx="1815" cy="1434"/>
            </a:xfrm>
            <a:prstGeom prst="rect">
              <a:avLst/>
            </a:prstGeom>
            <a:noFill/>
            <a:ln w="571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0968" name="Text Box 9"/>
            <p:cNvSpPr txBox="1"/>
            <p:nvPr/>
          </p:nvSpPr>
          <p:spPr>
            <a:xfrm>
              <a:off x="2492" y="1925"/>
              <a:ext cx="301" cy="2041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铁素体</a:t>
              </a:r>
              <a:r>
                <a:rPr lang="en-US" altLang="zh-CN" sz="2000" b="1" dirty="0">
                  <a:solidFill>
                    <a:schemeClr val="fol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r>
                <a:rPr lang="zh-CN" altLang="en-US" sz="2000" b="1" dirty="0">
                  <a:solidFill>
                    <a:schemeClr val="fol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珠光体球墨铸铁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40969" name="Picture 4" descr="6-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" y="541"/>
              <a:ext cx="1813" cy="1395"/>
            </a:xfrm>
            <a:prstGeom prst="rect">
              <a:avLst/>
            </a:prstGeom>
            <a:noFill/>
            <a:ln w="571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0970" name="Text Box 8"/>
            <p:cNvSpPr txBox="1"/>
            <p:nvPr/>
          </p:nvSpPr>
          <p:spPr>
            <a:xfrm>
              <a:off x="2462" y="442"/>
              <a:ext cx="301" cy="148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铁素体球墨铸铁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zh-CN" altLang="en-US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pic>
          <p:nvPicPr>
            <p:cNvPr id="40971" name="Picture 5" descr="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0" y="535"/>
              <a:ext cx="1542" cy="1451"/>
            </a:xfrm>
            <a:prstGeom prst="rect">
              <a:avLst/>
            </a:prstGeom>
            <a:noFill/>
            <a:ln w="571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0972" name="Text Box 10"/>
            <p:cNvSpPr txBox="1"/>
            <p:nvPr/>
          </p:nvSpPr>
          <p:spPr>
            <a:xfrm>
              <a:off x="4569" y="513"/>
              <a:ext cx="301" cy="15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珠光体球墨铸铁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lang="zh-CN" altLang="en-US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40973" name="Group 19"/>
            <p:cNvGrpSpPr/>
            <p:nvPr/>
          </p:nvGrpSpPr>
          <p:grpSpPr>
            <a:xfrm>
              <a:off x="2910" y="2029"/>
              <a:ext cx="1959" cy="1663"/>
              <a:chOff x="2836" y="2029"/>
              <a:chExt cx="1959" cy="1663"/>
            </a:xfrm>
          </p:grpSpPr>
          <p:pic>
            <p:nvPicPr>
              <p:cNvPr id="40974" name="Picture 7" descr="image030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36" y="2078"/>
                <a:ext cx="1542" cy="1489"/>
              </a:xfrm>
              <a:prstGeom prst="rect">
                <a:avLst/>
              </a:prstGeom>
              <a:noFill/>
              <a:ln w="5715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0975" name="Text Box 11"/>
              <p:cNvSpPr txBox="1"/>
              <p:nvPr/>
            </p:nvSpPr>
            <p:spPr>
              <a:xfrm>
                <a:off x="4495" y="2029"/>
                <a:ext cx="300" cy="16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球墨铸铁中的石墨球</a:t>
                </a:r>
                <a:r>
                  <a:rPr lang="zh-CN" altLang="en-US" sz="20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endPara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94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1240" y="6563360"/>
            <a:ext cx="466725" cy="29464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6670675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、球墨铸铁的性能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684213" y="1196975"/>
            <a:ext cx="7772400" cy="4618038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强度：</a:t>
            </a:r>
            <a:r>
              <a:rPr lang="zh-CN" altLang="en-US" b="1" dirty="0">
                <a:solidFill>
                  <a:srgbClr val="E1FFFF"/>
                </a:solidFill>
                <a:ea typeface="华文中宋" panose="02010600040101010101" pitchFamily="2" charset="-122"/>
              </a:rPr>
              <a:t>碳钢的</a:t>
            </a:r>
            <a:r>
              <a:rPr lang="en-US" altLang="zh-CN" b="1" dirty="0">
                <a:solidFill>
                  <a:srgbClr val="E1FFFF"/>
                </a:solidFill>
                <a:ea typeface="华文中宋" panose="02010600040101010101" pitchFamily="2" charset="-122"/>
              </a:rPr>
              <a:t>70~90%</a:t>
            </a:r>
            <a:r>
              <a:rPr lang="zh-CN" altLang="en-US" b="1" dirty="0">
                <a:solidFill>
                  <a:srgbClr val="E1FFFF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E1FFFF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endParaRPr lang="zh-CN" altLang="en-US" b="1" dirty="0">
              <a:solidFill>
                <a:srgbClr val="E1FFFF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球墨铸铁的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突出特点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屈强比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0.2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/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0.7~0.8,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而钢一般只有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0.3~0.5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4199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6320" y="6690360"/>
            <a:ext cx="487680" cy="13462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9" y="0"/>
            <a:ext cx="6528196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、球墨铸铁的热处理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142875" y="1191260"/>
            <a:ext cx="9001125" cy="523811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碳钢的热处理工艺对于球墨铸铁基本上都适用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球墨铸铁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可进行各种热处理</a:t>
            </a:r>
            <a:r>
              <a:rPr lang="en-US" altLang="zh-CN" b="1" dirty="0"/>
              <a:t>,</a:t>
            </a:r>
            <a:r>
              <a:rPr lang="zh-CN" altLang="en-US" b="1" dirty="0"/>
              <a:t>如</a:t>
            </a:r>
            <a:r>
              <a:rPr lang="zh-CN" altLang="en-US" b="1" dirty="0">
                <a:solidFill>
                  <a:srgbClr val="CCFF33"/>
                </a:solidFill>
              </a:rPr>
              <a:t>退火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zh-CN" altLang="en-US" b="1" dirty="0">
                <a:solidFill>
                  <a:srgbClr val="CCFF33"/>
                </a:solidFill>
              </a:rPr>
              <a:t>正火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zh-CN" altLang="en-US" b="1" dirty="0">
                <a:solidFill>
                  <a:srgbClr val="CCFF33"/>
                </a:solidFill>
              </a:rPr>
              <a:t>淬火加回火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zh-CN" altLang="en-US" b="1" dirty="0">
                <a:solidFill>
                  <a:srgbClr val="CCFF33"/>
                </a:solidFill>
              </a:rPr>
              <a:t>等温淬火</a:t>
            </a:r>
            <a:r>
              <a:rPr lang="zh-CN" altLang="en-US" b="1" dirty="0"/>
              <a:t>等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球墨铸铁的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热处理特点：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 奥氏体化温度比碳钢高：</a:t>
            </a:r>
            <a:r>
              <a:rPr lang="zh-CN" altLang="en-US" b="1" dirty="0">
                <a:ea typeface="华文中宋" panose="02010600040101010101" pitchFamily="2" charset="-122"/>
              </a:rPr>
              <a:t>由于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硅含量高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;   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淬透性比碳钢高：</a:t>
            </a:r>
            <a:r>
              <a:rPr lang="zh-CN" altLang="en-US" b="1" dirty="0">
                <a:ea typeface="华文中宋" panose="02010600040101010101" pitchFamily="2" charset="-122"/>
              </a:rPr>
              <a:t>由于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硅含量高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; 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③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奥氏体中碳含量可控：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石墨形式</a:t>
            </a:r>
            <a:r>
              <a:rPr lang="zh-CN" altLang="en-US" b="1" dirty="0">
                <a:ea typeface="华文中宋" panose="02010600040101010101" pitchFamily="2" charset="-122"/>
              </a:rPr>
              <a:t>存在的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碳溶入奥氏体的量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加热温度和保温时间有关。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114692" name="Picture 4" descr="铸铁的热处理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43688" y="2143125"/>
            <a:ext cx="2159000" cy="1500188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30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8622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8225" y="6667500"/>
            <a:ext cx="466725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0"/>
            <a:ext cx="6313488" cy="884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球墨铸铁的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用途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285750" y="1071563"/>
            <a:ext cx="8643938" cy="487997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承受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震动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载荷大</a:t>
            </a:r>
            <a:r>
              <a:rPr lang="zh-CN" altLang="en-US" b="1" dirty="0">
                <a:ea typeface="华文中宋" panose="02010600040101010101" pitchFamily="2" charset="-122"/>
              </a:rPr>
              <a:t>的零件，如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曲轴、传动齿轮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513447" y="2122922"/>
            <a:ext cx="7308850" cy="2497138"/>
            <a:chOff x="198" y="297"/>
            <a:chExt cx="5466" cy="1960"/>
          </a:xfrm>
        </p:grpSpPr>
        <p:pic>
          <p:nvPicPr>
            <p:cNvPr id="44046" name="Picture 5" descr="球铁（贝氏体）轧辊及辊环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24" y="300"/>
              <a:ext cx="2388" cy="158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4047" name="Text Box 6"/>
            <p:cNvSpPr txBox="1"/>
            <p:nvPr/>
          </p:nvSpPr>
          <p:spPr>
            <a:xfrm>
              <a:off x="5298" y="312"/>
              <a:ext cx="366" cy="15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制品</a:t>
              </a:r>
              <a:r>
                <a:rPr lang="en-US" altLang="zh-CN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轧辊与辊环</a:t>
              </a:r>
              <a:r>
                <a:rPr lang="en-US" altLang="zh-CN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44048" name="Picture 7" descr="等温淬火球墨铸铁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" y="297"/>
              <a:ext cx="2327" cy="1623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4049" name="Text Box 8"/>
            <p:cNvSpPr txBox="1"/>
            <p:nvPr/>
          </p:nvSpPr>
          <p:spPr>
            <a:xfrm>
              <a:off x="198" y="1846"/>
              <a:ext cx="576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4050" name="Rectangle 9"/>
            <p:cNvSpPr/>
            <p:nvPr/>
          </p:nvSpPr>
          <p:spPr>
            <a:xfrm>
              <a:off x="2888" y="305"/>
              <a:ext cx="288" cy="1584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贝氏体基球墨铸铁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4038" name="Group 10"/>
          <p:cNvGrpSpPr/>
          <p:nvPr/>
        </p:nvGrpSpPr>
        <p:grpSpPr>
          <a:xfrm>
            <a:off x="1942465" y="4364990"/>
            <a:ext cx="3143250" cy="1596390"/>
            <a:chOff x="2131" y="3101"/>
            <a:chExt cx="3259" cy="836"/>
          </a:xfrm>
        </p:grpSpPr>
        <p:pic>
          <p:nvPicPr>
            <p:cNvPr id="44044" name="Picture 11" descr="铸铁曲轴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1" y="3101"/>
              <a:ext cx="3259" cy="836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44045" name="Text Box 12"/>
            <p:cNvSpPr txBox="1"/>
            <p:nvPr/>
          </p:nvSpPr>
          <p:spPr>
            <a:xfrm>
              <a:off x="3730" y="3689"/>
              <a:ext cx="1554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铸铁曲轴</a:t>
              </a:r>
              <a:endPara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4039" name="Group 13"/>
          <p:cNvGrpSpPr/>
          <p:nvPr/>
        </p:nvGrpSpPr>
        <p:grpSpPr>
          <a:xfrm>
            <a:off x="5559747" y="4364790"/>
            <a:ext cx="3193093" cy="1596449"/>
            <a:chOff x="3483" y="1251"/>
            <a:chExt cx="2138" cy="1236"/>
          </a:xfrm>
        </p:grpSpPr>
        <p:pic>
          <p:nvPicPr>
            <p:cNvPr id="44042" name="Picture 14" descr="8-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3" y="1251"/>
              <a:ext cx="2117" cy="1236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4043" name="Text Box 15"/>
            <p:cNvSpPr txBox="1"/>
            <p:nvPr/>
          </p:nvSpPr>
          <p:spPr>
            <a:xfrm>
              <a:off x="4187" y="1298"/>
              <a:ext cx="1434" cy="474"/>
            </a:xfrm>
            <a:prstGeom prst="rect">
              <a:avLst/>
            </a:prstGeom>
            <a:solidFill>
              <a:schemeClr val="tx1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核燃料贮存运输容器</a:t>
              </a:r>
              <a:r>
                <a:rPr lang="en-US" altLang="zh-CN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(QT350-22)</a:t>
              </a:r>
              <a:endParaRPr lang="en-US" altLang="zh-CN" sz="18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404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9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555" y="6594475"/>
            <a:ext cx="385445" cy="2635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72400" cy="12858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球墨铸铁的牌号、力学性能、显微组织和用途（表）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sz="1800" b="1" dirty="0">
              <a:ea typeface="华文中宋" panose="02010600040101010101" pitchFamily="2" charset="-122"/>
            </a:endParaRPr>
          </a:p>
        </p:txBody>
      </p:sp>
      <p:pic>
        <p:nvPicPr>
          <p:cNvPr id="45061" name="Picture 4" descr="《工程材料》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1560" y="1412776"/>
            <a:ext cx="8215312" cy="5165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67310" y="6593840"/>
            <a:ext cx="1786255" cy="26416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652051" y="1413163"/>
            <a:ext cx="309634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GB/T 1348-2019  </a:t>
            </a:r>
            <a:r>
              <a:rPr lang="zh-CN" altLang="zh-CN" sz="1800" b="1" dirty="0">
                <a:solidFill>
                  <a:srgbClr val="FF0000"/>
                </a:solidFill>
              </a:rPr>
              <a:t>球墨铸铁件</a:t>
            </a:r>
            <a:endParaRPr lang="zh-CN" altLang="zh-CN" sz="1800" b="1" dirty="0">
              <a:solidFill>
                <a:srgbClr val="FF0000"/>
              </a:solidFill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2858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3586" y="1412776"/>
            <a:ext cx="8403214" cy="3554125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四、蠕墨铸铁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lang="en-GB" altLang="zh-CN" sz="6600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Vermicular graphite cast iron</a:t>
            </a:r>
            <a:endParaRPr kumimoji="1" lang="en-GB" altLang="zh-CN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08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14880" y="50800"/>
            <a:ext cx="5018405" cy="812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四、蠕墨铸铁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428625" y="1000125"/>
            <a:ext cx="8715375" cy="486219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20世纪60年代</a:t>
            </a:r>
            <a:r>
              <a:rPr lang="zh-CN" altLang="en-US" b="1" dirty="0">
                <a:ea typeface="华文中宋" panose="02010600040101010101" pitchFamily="2" charset="-122"/>
              </a:rPr>
              <a:t>发展起来的一种新型铸铁。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方法：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液态铁水</a:t>
            </a:r>
            <a:r>
              <a:rPr lang="zh-CN" altLang="en-US" b="1" dirty="0">
                <a:ea typeface="华文中宋" panose="02010600040101010101" pitchFamily="2" charset="-122"/>
              </a:rPr>
              <a:t>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蠕化处理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孕育处理</a:t>
            </a:r>
            <a:r>
              <a:rPr lang="zh-CN" altLang="en-US" b="1" dirty="0">
                <a:ea typeface="华文中宋" panose="02010600040101010101" pitchFamily="2" charset="-122"/>
              </a:rPr>
              <a:t>得到的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蠕化剂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稀土硅铁镁合金</a:t>
            </a:r>
            <a:r>
              <a:rPr lang="zh-CN" altLang="en-US" sz="2000" b="1" dirty="0">
                <a:ea typeface="华文中宋" panose="02010600040101010101" pitchFamily="2" charset="-122"/>
              </a:rPr>
              <a:t>、</a:t>
            </a:r>
            <a:r>
              <a:rPr lang="zh-CN" altLang="en-US" sz="3600" b="1" dirty="0">
                <a:solidFill>
                  <a:schemeClr val="folHlink"/>
                </a:solidFill>
              </a:rPr>
              <a:t>稀土硅铁合金、稀土硅铁钙合金</a:t>
            </a:r>
            <a:r>
              <a:rPr lang="en-US" altLang="zh-CN" sz="3600" b="1" dirty="0"/>
              <a:t>…</a:t>
            </a:r>
            <a:endParaRPr lang="en-US" altLang="zh-CN" sz="3600" b="1" dirty="0"/>
          </a:p>
          <a:p>
            <a:pPr eaLnBrk="1" hangingPunct="1">
              <a:lnSpc>
                <a:spcPct val="9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蠕墨铸铁的组织：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3600" b="1" dirty="0">
                <a:solidFill>
                  <a:schemeClr val="folHlink"/>
                </a:solidFill>
              </a:rPr>
              <a:t>    </a:t>
            </a:r>
            <a:r>
              <a:rPr lang="zh-CN" altLang="en-US" b="1" dirty="0">
                <a:solidFill>
                  <a:schemeClr val="folHlink"/>
                </a:solidFill>
              </a:rPr>
              <a:t>基体（</a:t>
            </a:r>
            <a:r>
              <a:rPr lang="en-US" altLang="zh-CN" b="1" dirty="0">
                <a:solidFill>
                  <a:schemeClr val="folHlink"/>
                </a:solidFill>
              </a:rPr>
              <a:t>F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F+P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P</a:t>
            </a:r>
            <a:r>
              <a:rPr lang="zh-CN" altLang="en-US" b="1" dirty="0">
                <a:solidFill>
                  <a:schemeClr val="folHlink"/>
                </a:solidFill>
              </a:rPr>
              <a:t>）</a:t>
            </a:r>
            <a:r>
              <a:rPr lang="en-US" altLang="zh-CN" b="1" dirty="0">
                <a:solidFill>
                  <a:schemeClr val="folHlink"/>
                </a:solidFill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</a:rPr>
              <a:t>蠕虫状</a:t>
            </a:r>
            <a:r>
              <a:rPr lang="en-US" altLang="zh-CN" b="1" dirty="0">
                <a:solidFill>
                  <a:schemeClr val="folHlink"/>
                </a:solidFill>
              </a:rPr>
              <a:t>G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4608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6480" y="6667500"/>
            <a:ext cx="466725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1714500" y="0"/>
            <a:ext cx="5257800" cy="833755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蠕墨铸铁的显微组织</a:t>
            </a:r>
            <a:endParaRPr lang="zh-CN" altLang="en-US" b="1" dirty="0"/>
          </a:p>
        </p:txBody>
      </p:sp>
      <p:grpSp>
        <p:nvGrpSpPr>
          <p:cNvPr id="47108" name="Group 27"/>
          <p:cNvGrpSpPr/>
          <p:nvPr/>
        </p:nvGrpSpPr>
        <p:grpSpPr>
          <a:xfrm>
            <a:off x="861060" y="1352550"/>
            <a:ext cx="2988945" cy="2016760"/>
            <a:chOff x="249" y="890"/>
            <a:chExt cx="2039" cy="1382"/>
          </a:xfrm>
        </p:grpSpPr>
        <p:pic>
          <p:nvPicPr>
            <p:cNvPr id="47120" name="Picture 12" descr="蠕墨铸铁（珠光体基体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49" y="890"/>
              <a:ext cx="2039" cy="1382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7121" name="Rectangle 16"/>
            <p:cNvSpPr/>
            <p:nvPr/>
          </p:nvSpPr>
          <p:spPr>
            <a:xfrm>
              <a:off x="1020" y="2069"/>
              <a:ext cx="864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珠光体基体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7109" name="Group 24"/>
          <p:cNvGrpSpPr/>
          <p:nvPr/>
        </p:nvGrpSpPr>
        <p:grpSpPr>
          <a:xfrm>
            <a:off x="833755" y="3427730"/>
            <a:ext cx="3007360" cy="2280920"/>
            <a:chOff x="657" y="2432"/>
            <a:chExt cx="2223" cy="1645"/>
          </a:xfrm>
        </p:grpSpPr>
        <p:pic>
          <p:nvPicPr>
            <p:cNvPr id="47118" name="Picture 4" descr="9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" y="2432"/>
              <a:ext cx="2223" cy="1645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7119" name="Rectangle 20"/>
            <p:cNvSpPr/>
            <p:nvPr/>
          </p:nvSpPr>
          <p:spPr>
            <a:xfrm>
              <a:off x="657" y="3838"/>
              <a:ext cx="877" cy="172"/>
            </a:xfrm>
            <a:prstGeom prst="rect">
              <a:avLst/>
            </a:prstGeom>
            <a:solidFill>
              <a:schemeClr val="tx1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铁素体基体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7110" name="Group 28"/>
          <p:cNvGrpSpPr/>
          <p:nvPr/>
        </p:nvGrpSpPr>
        <p:grpSpPr>
          <a:xfrm>
            <a:off x="6372114" y="1143635"/>
            <a:ext cx="2627880" cy="4673112"/>
            <a:chOff x="3633" y="807"/>
            <a:chExt cx="2044" cy="3123"/>
          </a:xfrm>
        </p:grpSpPr>
        <p:grpSp>
          <p:nvGrpSpPr>
            <p:cNvPr id="47114" name="Group 25"/>
            <p:cNvGrpSpPr/>
            <p:nvPr/>
          </p:nvGrpSpPr>
          <p:grpSpPr>
            <a:xfrm>
              <a:off x="3633" y="807"/>
              <a:ext cx="2044" cy="1563"/>
              <a:chOff x="3633" y="2622"/>
              <a:chExt cx="2044" cy="1563"/>
            </a:xfrm>
          </p:grpSpPr>
          <p:pic>
            <p:nvPicPr>
              <p:cNvPr id="47116" name="Picture 5" descr="image040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33" y="2622"/>
                <a:ext cx="1854" cy="1562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7117" name="Text Box 6"/>
              <p:cNvSpPr txBox="1"/>
              <p:nvPr/>
            </p:nvSpPr>
            <p:spPr>
              <a:xfrm>
                <a:off x="3901" y="3918"/>
                <a:ext cx="1776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蠕墨铸铁中的石墨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7115" name="Picture 26" descr="蠕墨铸铁中的蠕虫状石墨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" y="2440"/>
              <a:ext cx="1905" cy="1490"/>
            </a:xfrm>
            <a:prstGeom prst="rect">
              <a:avLst/>
            </a:prstGeom>
            <a:noFill/>
            <a:ln w="38100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pic>
        <p:nvPicPr>
          <p:cNvPr id="47111" name="Picture 29" descr="蠕墨铸铁的石墨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23665" y="2420779"/>
            <a:ext cx="2397125" cy="2397125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711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6480" y="6667500"/>
            <a:ext cx="466725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212090" y="5161915"/>
            <a:ext cx="8921115" cy="1451610"/>
          </a:xfrm>
        </p:spPr>
        <p:txBody>
          <a:bodyPr vert="horz" wrap="square" lIns="92075" tIns="46038" rIns="92075" bIns="46038" anchor="ctr"/>
          <a:lstStyle/>
          <a:p>
            <a:pPr algn="l"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蠕墨铸铁的强度、塑性和抗疲劳性能优于灰铸铁，其力学性能介于 灰铸铁 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与</a:t>
            </a:r>
            <a:r>
              <a:rPr lang="zh-CN" altLang="en-US" sz="32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 球墨铸铁 之间。</a:t>
            </a:r>
            <a:endParaRPr lang="zh-CN" altLang="en-US" b="1" dirty="0"/>
          </a:p>
        </p:txBody>
      </p:sp>
      <p:sp>
        <p:nvSpPr>
          <p:cNvPr id="4711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grpSp>
        <p:nvGrpSpPr>
          <p:cNvPr id="2" name="Group 16"/>
          <p:cNvGrpSpPr/>
          <p:nvPr/>
        </p:nvGrpSpPr>
        <p:grpSpPr>
          <a:xfrm>
            <a:off x="1695450" y="650240"/>
            <a:ext cx="3673475" cy="4511675"/>
            <a:chOff x="384" y="1008"/>
            <a:chExt cx="3048" cy="3192"/>
          </a:xfrm>
        </p:grpSpPr>
        <p:grpSp>
          <p:nvGrpSpPr>
            <p:cNvPr id="48139" name="Group 8"/>
            <p:cNvGrpSpPr/>
            <p:nvPr/>
          </p:nvGrpSpPr>
          <p:grpSpPr>
            <a:xfrm>
              <a:off x="384" y="1008"/>
              <a:ext cx="3048" cy="3192"/>
              <a:chOff x="384" y="1008"/>
              <a:chExt cx="3048" cy="3192"/>
            </a:xfrm>
          </p:grpSpPr>
          <p:pic>
            <p:nvPicPr>
              <p:cNvPr id="48146" name="Picture 4" descr="铸铁组织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84" y="1008"/>
                <a:ext cx="3031" cy="157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48147" name="Picture 5" descr="铸铁中的石墨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86" y="2609"/>
                <a:ext cx="3046" cy="159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48140" name="Rectangle 10"/>
            <p:cNvSpPr/>
            <p:nvPr/>
          </p:nvSpPr>
          <p:spPr>
            <a:xfrm>
              <a:off x="756" y="1080"/>
              <a:ext cx="432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灰铸铁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1" name="Rectangle 11"/>
            <p:cNvSpPr/>
            <p:nvPr/>
          </p:nvSpPr>
          <p:spPr>
            <a:xfrm>
              <a:off x="780" y="2676"/>
              <a:ext cx="432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灰铸铁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2" name="Rectangle 12"/>
            <p:cNvSpPr/>
            <p:nvPr/>
          </p:nvSpPr>
          <p:spPr>
            <a:xfrm>
              <a:off x="1620" y="1080"/>
              <a:ext cx="432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蠕墨铸铁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3" name="Rectangle 13"/>
            <p:cNvSpPr/>
            <p:nvPr/>
          </p:nvSpPr>
          <p:spPr>
            <a:xfrm>
              <a:off x="1632" y="2676"/>
              <a:ext cx="432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蠕墨铸铁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4" name="Rectangle 14"/>
            <p:cNvSpPr/>
            <p:nvPr/>
          </p:nvSpPr>
          <p:spPr>
            <a:xfrm>
              <a:off x="2496" y="1080"/>
              <a:ext cx="432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球墨铸铁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5" name="Rectangle 15"/>
            <p:cNvSpPr/>
            <p:nvPr/>
          </p:nvSpPr>
          <p:spPr>
            <a:xfrm>
              <a:off x="2508" y="2676"/>
              <a:ext cx="432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/>
              <a:r>
                <a:rPr lang="zh-CN" altLang="en-US" sz="1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球墨铸铁</a:t>
              </a:r>
              <a:endParaRPr lang="zh-CN" altLang="en-US" sz="18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1"/>
          <p:cNvGrpSpPr/>
          <p:nvPr/>
        </p:nvGrpSpPr>
        <p:grpSpPr>
          <a:xfrm>
            <a:off x="5820410" y="610870"/>
            <a:ext cx="2659380" cy="4551045"/>
            <a:chOff x="3552" y="912"/>
            <a:chExt cx="1902" cy="3408"/>
          </a:xfrm>
        </p:grpSpPr>
        <p:grpSp>
          <p:nvGrpSpPr>
            <p:cNvPr id="48133" name="Group 9"/>
            <p:cNvGrpSpPr/>
            <p:nvPr/>
          </p:nvGrpSpPr>
          <p:grpSpPr>
            <a:xfrm>
              <a:off x="3552" y="912"/>
              <a:ext cx="1902" cy="3408"/>
              <a:chOff x="3552" y="912"/>
              <a:chExt cx="1902" cy="3408"/>
            </a:xfrm>
          </p:grpSpPr>
          <p:pic>
            <p:nvPicPr>
              <p:cNvPr id="48137" name="Picture 6" descr="三种铸铁的强度比较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552" y="912"/>
                <a:ext cx="1878" cy="177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48138" name="Picture 7" descr="三种铸铁的塑性比较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600" y="2496"/>
                <a:ext cx="1854" cy="182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48134" name="Text Box 17"/>
            <p:cNvSpPr txBox="1"/>
            <p:nvPr/>
          </p:nvSpPr>
          <p:spPr>
            <a:xfrm>
              <a:off x="3933" y="1860"/>
              <a:ext cx="483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灰铸铁</a:t>
              </a:r>
              <a:endPara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35" name="Text Box 18"/>
            <p:cNvSpPr txBox="1"/>
            <p:nvPr/>
          </p:nvSpPr>
          <p:spPr>
            <a:xfrm>
              <a:off x="4443" y="1572"/>
              <a:ext cx="307" cy="685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蠕墨铸铁</a:t>
              </a:r>
              <a:endPara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36" name="Text Box 19"/>
            <p:cNvSpPr txBox="1"/>
            <p:nvPr/>
          </p:nvSpPr>
          <p:spPr>
            <a:xfrm>
              <a:off x="4787" y="1104"/>
              <a:ext cx="307" cy="82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球墨铸铁</a:t>
              </a:r>
              <a:endParaRPr lang="zh-CN" altLang="en-US" sz="16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3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28075" y="6604000"/>
            <a:ext cx="401320" cy="22987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1928813" y="0"/>
            <a:ext cx="5163467" cy="92868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蠕墨铸铁的应用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443548" y="1014095"/>
            <a:ext cx="8429625" cy="550068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常用于</a:t>
            </a:r>
            <a:r>
              <a:rPr lang="zh-CN" altLang="en-US" b="1" dirty="0">
                <a:ea typeface="华文中宋" panose="02010600040101010101" pitchFamily="2" charset="-122"/>
              </a:rPr>
              <a:t>制造承受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热循环载荷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零件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结构复杂、强度要求高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铸件。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钢锭模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玻璃模具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柴油机汽缸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汽缸盖、排气阀、液压阀的阀体、耐压泵的泵体等</a:t>
            </a:r>
            <a:r>
              <a:rPr lang="zh-CN" altLang="en-US" b="1" dirty="0">
                <a:ea typeface="华文中宋" panose="02010600040101010101" pitchFamily="2" charset="-122"/>
              </a:rPr>
              <a:t>。 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49157" name="Group 12"/>
          <p:cNvGrpSpPr/>
          <p:nvPr/>
        </p:nvGrpSpPr>
        <p:grpSpPr>
          <a:xfrm>
            <a:off x="2189480" y="4143375"/>
            <a:ext cx="2946400" cy="2428947"/>
            <a:chOff x="1738" y="2526"/>
            <a:chExt cx="2141" cy="1754"/>
          </a:xfrm>
        </p:grpSpPr>
        <p:pic>
          <p:nvPicPr>
            <p:cNvPr id="49163" name="Picture 6" descr="i玻璃模具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38" y="2526"/>
              <a:ext cx="2141" cy="149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49164" name="Text Box 7"/>
            <p:cNvSpPr txBox="1"/>
            <p:nvPr/>
          </p:nvSpPr>
          <p:spPr>
            <a:xfrm>
              <a:off x="3083" y="3770"/>
              <a:ext cx="796" cy="5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玻璃模具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9158" name="Group 11"/>
          <p:cNvGrpSpPr/>
          <p:nvPr/>
        </p:nvGrpSpPr>
        <p:grpSpPr>
          <a:xfrm>
            <a:off x="5675630" y="4112260"/>
            <a:ext cx="2292985" cy="2091683"/>
            <a:chOff x="3651" y="2251"/>
            <a:chExt cx="1889" cy="1882"/>
          </a:xfrm>
        </p:grpSpPr>
        <p:pic>
          <p:nvPicPr>
            <p:cNvPr id="49161" name="Picture 9" descr="蠕墨铸铁制动鼓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1" y="2251"/>
              <a:ext cx="1889" cy="1882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49162" name="Text Box 10"/>
            <p:cNvSpPr txBox="1"/>
            <p:nvPr/>
          </p:nvSpPr>
          <p:spPr>
            <a:xfrm>
              <a:off x="4589" y="3774"/>
              <a:ext cx="896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制动鼓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16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555" y="6600190"/>
            <a:ext cx="385445" cy="25781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904240" y="73660"/>
            <a:ext cx="7772400" cy="12795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蠕墨铸铁的牌号、力学性能、显微组织和用途（表）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50181" name="Picture 4" descr="《工程材料》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23850" y="1628800"/>
            <a:ext cx="8569325" cy="469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508104" y="1988840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GB/T 26655-2022  </a:t>
            </a:r>
            <a:r>
              <a:rPr lang="zh-CN" altLang="zh-CN" sz="1800" b="1" dirty="0">
                <a:solidFill>
                  <a:srgbClr val="FF0000"/>
                </a:solidFill>
              </a:rPr>
              <a:t>蠕墨铸铁件</a:t>
            </a:r>
            <a:endParaRPr lang="zh-CN" altLang="zh-CN" sz="1800" b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04048" y="2780928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GB/T 26656-2011  </a:t>
            </a:r>
            <a:r>
              <a:rPr lang="zh-CN" altLang="zh-CN" sz="1800" b="1" dirty="0">
                <a:solidFill>
                  <a:srgbClr val="FF0000"/>
                </a:solidFill>
              </a:rPr>
              <a:t>蠕墨铸铁金相检验</a:t>
            </a:r>
            <a:endParaRPr lang="zh-CN" altLang="zh-CN" sz="1800" b="1" dirty="0">
              <a:solidFill>
                <a:srgbClr val="FF0000"/>
              </a:solidFill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33096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81775"/>
            <a:ext cx="385762" cy="2762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685800" y="1340768"/>
            <a:ext cx="7772400" cy="252028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高铬铸铁</a:t>
            </a:r>
            <a:br>
              <a:rPr lang="en-US" altLang="zh-CN" sz="6600" b="1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GB" altLang="zh-CN" sz="6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High-chromium iron</a:t>
            </a:r>
            <a:endParaRPr lang="en-GB" altLang="zh-CN" sz="6600" b="1" i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12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58238" y="6581775"/>
            <a:ext cx="385762" cy="2762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83185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高铬铸铁（补充）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35560" y="1014730"/>
            <a:ext cx="9144000" cy="557212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白口铸铁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硬、脆</a:t>
            </a:r>
            <a:r>
              <a:rPr lang="zh-CN" altLang="en-US" dirty="0"/>
              <a:t>      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简单的耐磨件、炼钢原料</a:t>
            </a:r>
            <a:endParaRPr lang="zh-CN" altLang="en-US" dirty="0"/>
          </a:p>
          <a:p>
            <a:pPr eaLnBrk="1" hangingPunct="1"/>
            <a:r>
              <a:rPr lang="zh-CN" altLang="en-US" dirty="0"/>
              <a:t>往白口铸铁中加入一定量的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铬</a:t>
            </a:r>
            <a:r>
              <a:rPr lang="zh-CN" altLang="en-US" dirty="0"/>
              <a:t>，其性能发生极大变化。</a:t>
            </a: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常用成分</a:t>
            </a:r>
            <a:r>
              <a:rPr lang="zh-CN" altLang="en-US" dirty="0"/>
              <a:t>：</a:t>
            </a:r>
            <a:r>
              <a:rPr lang="en-US" altLang="zh-CN" dirty="0"/>
              <a:t>2.4~3.6%C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12~30%Cr</a:t>
            </a:r>
            <a:r>
              <a:rPr lang="zh-CN" altLang="en-US" dirty="0"/>
              <a:t>、</a:t>
            </a:r>
            <a:r>
              <a:rPr lang="en-US" altLang="zh-CN" dirty="0"/>
              <a:t>Mo</a:t>
            </a:r>
            <a:r>
              <a:rPr lang="zh-CN" altLang="en-US" dirty="0"/>
              <a:t>、</a:t>
            </a:r>
            <a:r>
              <a:rPr lang="en-US" altLang="zh-CN" dirty="0"/>
              <a:t>Ni</a:t>
            </a:r>
            <a:r>
              <a:rPr lang="zh-CN" altLang="en-US" dirty="0"/>
              <a:t>、</a:t>
            </a:r>
            <a:r>
              <a:rPr lang="en-US" altLang="zh-CN" dirty="0"/>
              <a:t>Cu</a:t>
            </a:r>
            <a:r>
              <a:rPr lang="zh-CN" altLang="en-US" dirty="0"/>
              <a:t>、</a:t>
            </a:r>
            <a:r>
              <a:rPr lang="en-US" altLang="zh-CN" dirty="0"/>
              <a:t>Mn</a:t>
            </a:r>
            <a:r>
              <a:rPr lang="zh-CN" altLang="en-US" dirty="0"/>
              <a:t>等</a:t>
            </a:r>
            <a:endParaRPr lang="zh-CN" altLang="en-US" dirty="0"/>
          </a:p>
          <a:p>
            <a:pPr eaLnBrk="1" hangingPunct="1"/>
            <a:r>
              <a:rPr lang="zh-CN" altLang="en-US" dirty="0"/>
              <a:t>当含铬量</a:t>
            </a:r>
            <a:r>
              <a:rPr lang="en-US" altLang="zh-CN" dirty="0"/>
              <a:t>&gt;10%</a:t>
            </a:r>
            <a:r>
              <a:rPr lang="zh-CN" altLang="en-US" dirty="0"/>
              <a:t>以后，其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渗碳体型化合物（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）（</a:t>
            </a:r>
            <a:r>
              <a:rPr lang="zh-CN" altLang="en-US" dirty="0"/>
              <a:t>硬度</a:t>
            </a:r>
            <a:r>
              <a:rPr lang="en-US" altLang="zh-CN" dirty="0"/>
              <a:t>800~1200HV</a:t>
            </a:r>
            <a:r>
              <a:rPr lang="zh-CN" altLang="en-US" dirty="0"/>
              <a:t>）将变为硬度更高的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7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1300~1800HV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）型化合物</a:t>
            </a:r>
            <a:r>
              <a:rPr lang="zh-CN" altLang="en-US" dirty="0"/>
              <a:t>，从而提高其耐磨性。并使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网状碳化物</a:t>
            </a:r>
            <a:r>
              <a:rPr lang="zh-CN" altLang="en-US" dirty="0"/>
              <a:t>成为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不连续状态</a:t>
            </a:r>
            <a:r>
              <a:rPr lang="zh-CN" altLang="en-US" dirty="0"/>
              <a:t>，显著提高其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韧性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1205" name="AutoShape 4"/>
          <p:cNvSpPr/>
          <p:nvPr/>
        </p:nvSpPr>
        <p:spPr>
          <a:xfrm>
            <a:off x="3780155" y="1124585"/>
            <a:ext cx="720725" cy="304800"/>
          </a:xfrm>
          <a:prstGeom prst="rightArrow">
            <a:avLst>
              <a:gd name="adj1" fmla="val 50000"/>
              <a:gd name="adj2" fmla="val 5911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9775" y="6667500"/>
            <a:ext cx="433705" cy="1905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2214880" y="0"/>
            <a:ext cx="5290820" cy="9144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高铬铸铁（续）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495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/>
              <a:t>高铬白口铸铁还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可以进行热处理</a:t>
            </a:r>
            <a:r>
              <a:rPr lang="zh-CN" altLang="en-US" dirty="0"/>
              <a:t>，改变其基体组织，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HRC35~45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）、淬火（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HRC60~67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当代最优异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耐磨材料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之一。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52229" name="AutoShape 4">
            <a:hlinkClick r:id="rId1" action="ppaction://hlinksldjump"/>
          </p:cNvPr>
          <p:cNvSpPr/>
          <p:nvPr/>
        </p:nvSpPr>
        <p:spPr>
          <a:xfrm>
            <a:off x="8866505" y="6633845"/>
            <a:ext cx="252730" cy="195580"/>
          </a:xfrm>
          <a:prstGeom prst="actionButtonBackPreviou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3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9302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6529388" cy="10334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作业（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P126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5-2</a:t>
            </a:r>
            <a:r>
              <a:rPr lang="zh-CN" altLang="en-US" dirty="0"/>
              <a:t>、</a:t>
            </a:r>
            <a:endParaRPr lang="en-US" altLang="zh-CN" dirty="0"/>
          </a:p>
          <a:p>
            <a:pPr eaLnBrk="1" hangingPunct="1"/>
            <a:r>
              <a:rPr lang="en-US" altLang="zh-CN" dirty="0"/>
              <a:t>5-4</a:t>
            </a:r>
            <a:r>
              <a:rPr lang="zh-CN" altLang="en-US" dirty="0"/>
              <a:t>、</a:t>
            </a:r>
            <a:endParaRPr lang="en-US" altLang="zh-CN" dirty="0"/>
          </a:p>
          <a:p>
            <a:pPr eaLnBrk="1" hangingPunct="1"/>
            <a:r>
              <a:rPr lang="en-US" altLang="zh-CN" dirty="0"/>
              <a:t>5-6    2</a:t>
            </a:r>
            <a:r>
              <a:rPr lang="zh-CN" altLang="en-US" dirty="0"/>
              <a:t>）、</a:t>
            </a:r>
            <a:r>
              <a:rPr lang="en-US" altLang="zh-CN" dirty="0"/>
              <a:t>3</a:t>
            </a:r>
            <a:r>
              <a:rPr lang="zh-CN" altLang="en-US" dirty="0"/>
              <a:t>）、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/>
            <a:r>
              <a:rPr lang="en-US" altLang="zh-CN" dirty="0"/>
              <a:t>5-8</a:t>
            </a:r>
            <a:endParaRPr lang="en-US" altLang="zh-CN" dirty="0"/>
          </a:p>
        </p:txBody>
      </p:sp>
      <p:sp>
        <p:nvSpPr>
          <p:cNvPr id="5325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132856"/>
            <a:ext cx="6529388" cy="14401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Thanks</a:t>
            </a:r>
            <a:endParaRPr kumimoji="1" lang="zh-CN" altLang="en-US" sz="8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.xml><?xml version="1.0" encoding="utf-8"?>
<p:tagLst xmlns:p="http://schemas.openxmlformats.org/presentationml/2006/main">
  <p:tag name="KSO_WM_DIAGRAM_VIRTUALLY_FRAME" val="{&quot;height&quot;:210,&quot;left&quot;:534,&quot;top&quot;:39.37503937007874,&quot;width&quot;:186}"/>
</p:tagLst>
</file>

<file path=ppt/tags/tag3.xml><?xml version="1.0" encoding="utf-8"?>
<p:tagLst xmlns:p="http://schemas.openxmlformats.org/presentationml/2006/main">
  <p:tag name="KSO_WM_DIAGRAM_VIRTUALLY_FRAME" val="{&quot;height&quot;:210,&quot;left&quot;:534,&quot;top&quot;:39.37503937007874,&quot;width&quot;:186}"/>
</p:tagLst>
</file>

<file path=ppt/tags/tag4.xml><?xml version="1.0" encoding="utf-8"?>
<p:tagLst xmlns:p="http://schemas.openxmlformats.org/presentationml/2006/main">
  <p:tag name="KSO_WM_DIAGRAM_VIRTUALLY_FRAME" val="{&quot;height&quot;:210,&quot;left&quot;:534,&quot;top&quot;:39.37503937007874,&quot;width&quot;:186}"/>
</p:tagLst>
</file>

<file path=ppt/tags/tag5.xml><?xml version="1.0" encoding="utf-8"?>
<p:tagLst xmlns:p="http://schemas.openxmlformats.org/presentationml/2006/main">
  <p:tag name="KSO_WM_DIAGRAM_VIRTUALLY_FRAME" val="{&quot;height&quot;:210,&quot;left&quot;:534,&quot;top&quot;:39.37503937007874,&quot;width&quot;:186}"/>
</p:tagLst>
</file>

<file path=ppt/tags/tag6.xml><?xml version="1.0" encoding="utf-8"?>
<p:tagLst xmlns:p="http://schemas.openxmlformats.org/presentationml/2006/main">
  <p:tag name="KSO_WM_DIAGRAM_VIRTUALLY_FRAME" val="{&quot;height&quot;:210,&quot;left&quot;:534,&quot;top&quot;:39.37503937007874,&quot;width&quot;:186}"/>
</p:tagLst>
</file>

<file path=ppt/tags/tag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8.xml><?xml version="1.0" encoding="utf-8"?>
<p:tagLst xmlns:p="http://schemas.openxmlformats.org/presentationml/2006/main">
  <p:tag name="KSO_WM_DIAGRAM_VIRTUALLY_FRAME" val="{&quot;height&quot;:384.62496301015807,&quot;left&quot;:610.8929133858268,&quot;top&quot;:99.93417084810962,&quot;width&quot;:116.50433070866139}"/>
</p:tagLst>
</file>

<file path=ppt/tags/tag9.xml><?xml version="1.0" encoding="utf-8"?>
<p:tagLst xmlns:p="http://schemas.openxmlformats.org/presentationml/2006/main">
  <p:tag name="KSO_WM_DIAGRAM_VIRTUALLY_FRAME" val="{&quot;height&quot;:384.62496301015807,&quot;left&quot;:610.8929133858268,&quot;top&quot;:99.93417084810962,&quot;width&quot;:116.50433070866139}"/>
</p:tagLst>
</file>

<file path=ppt/tags/tag10.xml><?xml version="1.0" encoding="utf-8"?>
<p:tagLst xmlns:p="http://schemas.openxmlformats.org/presentationml/2006/main">
  <p:tag name="KSO_WM_DIAGRAM_VIRTUALLY_FRAME" val="{&quot;height&quot;:384.62496301015807,&quot;left&quot;:610.8929133858268,&quot;top&quot;:99.93417084810962,&quot;width&quot;:116.50433070866139}"/>
</p:tagLst>
</file>

<file path=ppt/tags/tag11.xml><?xml version="1.0" encoding="utf-8"?>
<p:tagLst xmlns:p="http://schemas.openxmlformats.org/presentationml/2006/main">
  <p:tag name="KSO_WM_DIAGRAM_VIRTUALLY_FRAME" val="{&quot;height&quot;:384.62496301015807,&quot;left&quot;:610.8929133858268,&quot;top&quot;:99.93417084810962,&quot;width&quot;:116.50433070866139}"/>
</p:tagLst>
</file>

<file path=ppt/tags/tag12.xml><?xml version="1.0" encoding="utf-8"?>
<p:tagLst xmlns:p="http://schemas.openxmlformats.org/presentationml/2006/main">
  <p:tag name="KSO_WM_DIAGRAM_VIRTUALLY_FRAME" val="{&quot;height&quot;:384.62496301015807,&quot;left&quot;:610.8929133858268,&quot;top&quot;:99.93417084810962,&quot;width&quot;:116.50433070866139}"/>
</p:tagLst>
</file>

<file path=ppt/tags/tag13.xml><?xml version="1.0" encoding="utf-8"?>
<p:tagLst xmlns:p="http://schemas.openxmlformats.org/presentationml/2006/main">
  <p:tag name="KSO_WM_DIAGRAM_VIRTUALLY_FRAME" val="{&quot;height&quot;:384.62496301015807,&quot;left&quot;:610.8929133858268,&quot;top&quot;:99.93417084810962,&quot;width&quot;:116.50433070866139}"/>
</p:tagLst>
</file>

<file path=ppt/tags/tag14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5.xml><?xml version="1.0" encoding="utf-8"?>
<p:tagLst xmlns:p="http://schemas.openxmlformats.org/presentationml/2006/main">
  <p:tag name="KSO_WM_DOC_GUID" val="{f5b0f0cc-60cb-405d-bd45-1171031546dd}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FF"/>
    </a:dk2>
    <a:lt2>
      <a:srgbClr val="FFCC66"/>
    </a:lt2>
    <a:accent1>
      <a:srgbClr val="00FFFF"/>
    </a:accent1>
    <a:accent2>
      <a:srgbClr val="3366FF"/>
    </a:accent2>
    <a:accent3>
      <a:srgbClr val="AAAAFF"/>
    </a:accent3>
    <a:accent4>
      <a:srgbClr val="DADADA"/>
    </a:accent4>
    <a:accent5>
      <a:srgbClr val="AAFFFF"/>
    </a:accent5>
    <a:accent6>
      <a:srgbClr val="2D5CE7"/>
    </a:accent6>
    <a:hlink>
      <a:srgbClr val="FF0033"/>
    </a:hlink>
    <a:folHlink>
      <a:srgbClr val="FF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Designs\Soaring.pot</Template>
  <TotalTime>0</TotalTime>
  <Words>5297</Words>
  <Application>WPS 演示</Application>
  <PresentationFormat>全屏显示(4:3)</PresentationFormat>
  <Paragraphs>1012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2" baseType="lpstr">
      <vt:lpstr>Arial</vt:lpstr>
      <vt:lpstr>宋体</vt:lpstr>
      <vt:lpstr>Wingdings</vt:lpstr>
      <vt:lpstr>Times New Roman</vt:lpstr>
      <vt:lpstr>Tahoma</vt:lpstr>
      <vt:lpstr>华文中宋</vt:lpstr>
      <vt:lpstr>Symbol</vt:lpstr>
      <vt:lpstr>微软雅黑</vt:lpstr>
      <vt:lpstr>Arial Unicode MS</vt:lpstr>
      <vt:lpstr>楷体_GB2312</vt:lpstr>
      <vt:lpstr>新宋体</vt:lpstr>
      <vt:lpstr>仿宋_GB2312</vt:lpstr>
      <vt:lpstr>仿宋</vt:lpstr>
      <vt:lpstr>Soaring</vt:lpstr>
      <vt:lpstr>U2041170  《工程材料与成型技术》 Engineering Materials and Forming Technology   44+4学时，3学分</vt:lpstr>
      <vt:lpstr>第七章  铸铁 Cast Iron</vt:lpstr>
      <vt:lpstr>第七章  铸铁</vt:lpstr>
      <vt:lpstr>铸铁的应用举例</vt:lpstr>
      <vt:lpstr>第七章  铸铁——内容提要</vt:lpstr>
      <vt:lpstr>第一节  概述</vt:lpstr>
      <vt:lpstr>第一节  概  述</vt:lpstr>
      <vt:lpstr>Fe-Fe3C和Fe-G（虚线）双重相图</vt:lpstr>
      <vt:lpstr>铸铁中的碳</vt:lpstr>
      <vt:lpstr>2、铸铁的石墨化过程</vt:lpstr>
      <vt:lpstr>第一阶段石墨化</vt:lpstr>
      <vt:lpstr>第二阶段石墨化</vt:lpstr>
      <vt:lpstr>铸铁的石墨化程度与其组织之间的关系 （以共晶铸铁为例） </vt:lpstr>
      <vt:lpstr>3、影响石墨化的因素</vt:lpstr>
      <vt:lpstr>3、化学成分对石墨化的影响</vt:lpstr>
      <vt:lpstr>化学成分对铸铁石墨化的影响</vt:lpstr>
      <vt:lpstr>⑵ 冷却速度对石墨化的影响</vt:lpstr>
      <vt:lpstr>二、铸铁的特点及分类</vt:lpstr>
      <vt:lpstr>2、铸铁的性能特点</vt:lpstr>
      <vt:lpstr>2、铸铁的性能特点</vt:lpstr>
      <vt:lpstr>3、铸铁的分类与牌号表示方法</vt:lpstr>
      <vt:lpstr>铸铁的分类与牌号表示方法 （续）</vt:lpstr>
      <vt:lpstr>铸铁的分类与牌号表示方法（续）</vt:lpstr>
      <vt:lpstr>工业铸铁的成分范围与组织</vt:lpstr>
      <vt:lpstr>第二节  常用铸铁 Cast Iron</vt:lpstr>
      <vt:lpstr>第二节  常用铸铁</vt:lpstr>
      <vt:lpstr>一、灰铸铁 Grey  Cast Iron</vt:lpstr>
      <vt:lpstr>一、灰铸铁</vt:lpstr>
      <vt:lpstr>灰铸铁的显微组织 </vt:lpstr>
      <vt:lpstr>灰铸铁的孕育处理</vt:lpstr>
      <vt:lpstr>2、热处理</vt:lpstr>
      <vt:lpstr>3、用途</vt:lpstr>
      <vt:lpstr>灰铸铁的牌号、力学性能、显微组织和用途（表）</vt:lpstr>
      <vt:lpstr>二、可锻铸铁 Malleable Cast Iron</vt:lpstr>
      <vt:lpstr>二、可锻铸铁</vt:lpstr>
      <vt:lpstr>二、可锻铸铁</vt:lpstr>
      <vt:lpstr> 可锻铸铁的显微组织 </vt:lpstr>
      <vt:lpstr>可锻铸铁的性能</vt:lpstr>
      <vt:lpstr>可锻铸铁的用途</vt:lpstr>
      <vt:lpstr>可锻铸铁的牌号、力学性能、显微组织和用途（表）</vt:lpstr>
      <vt:lpstr>三、 球墨铸铁 Nodular Cast Iron</vt:lpstr>
      <vt:lpstr>三、 球墨铸铁</vt:lpstr>
      <vt:lpstr>球墨铸铁的显微组织 </vt:lpstr>
      <vt:lpstr>2、球墨铸铁的性能</vt:lpstr>
      <vt:lpstr>3、球墨铸铁的热处理</vt:lpstr>
      <vt:lpstr>4.球墨铸铁的用途</vt:lpstr>
      <vt:lpstr>球墨铸铁的牌号、力学性能、显微组织和用途（表）</vt:lpstr>
      <vt:lpstr>四、蠕墨铸铁 Vermicular graphite cast iron</vt:lpstr>
      <vt:lpstr>四、蠕墨铸铁</vt:lpstr>
      <vt:lpstr>蠕墨铸铁的显微组织</vt:lpstr>
      <vt:lpstr>蠕墨铸铁的强度、塑性和抗疲劳性能优于灰铸铁，其力学性能介于 灰铸铁 与 球墨铸铁 之间。</vt:lpstr>
      <vt:lpstr>蠕墨铸铁的应用</vt:lpstr>
      <vt:lpstr>蠕墨铸铁的牌号、力学性能、显微组织和用途（表）</vt:lpstr>
      <vt:lpstr>高铬铸铁 High-chromium iron</vt:lpstr>
      <vt:lpstr>高铬铸铁（补充）</vt:lpstr>
      <vt:lpstr>高铬铸铁（续）</vt:lpstr>
      <vt:lpstr>作业（P126）</vt:lpstr>
      <vt:lpstr>Thanks</vt:lpstr>
    </vt:vector>
  </TitlesOfParts>
  <Company>dlut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  铸铁</dc:title>
  <dc:creator>yys</dc:creator>
  <cp:lastModifiedBy>LIGHCUMTB</cp:lastModifiedBy>
  <cp:revision>328</cp:revision>
  <dcterms:created xsi:type="dcterms:W3CDTF">2001-12-30T03:17:00Z</dcterms:created>
  <dcterms:modified xsi:type="dcterms:W3CDTF">2025-01-04T01:35:30Z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722F5F99463441EF8B1BE459E7281DFA_12</vt:lpwstr>
  </property>
</Properties>
</file>