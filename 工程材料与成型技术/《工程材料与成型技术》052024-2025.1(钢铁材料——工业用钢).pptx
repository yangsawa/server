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5"/>
  </p:notesMasterIdLst>
  <p:sldIdLst>
    <p:sldId id="864" r:id="rId3"/>
    <p:sldId id="865" r:id="rId4"/>
    <p:sldId id="863" r:id="rId5"/>
    <p:sldId id="400" r:id="rId6"/>
    <p:sldId id="671" r:id="rId7"/>
    <p:sldId id="517" r:id="rId8"/>
    <p:sldId id="672" r:id="rId9"/>
    <p:sldId id="257" r:id="rId10"/>
    <p:sldId id="516" r:id="rId11"/>
    <p:sldId id="402" r:id="rId12"/>
    <p:sldId id="259" r:id="rId13"/>
    <p:sldId id="260" r:id="rId14"/>
    <p:sldId id="261" r:id="rId15"/>
    <p:sldId id="403" r:id="rId16"/>
    <p:sldId id="695" r:id="rId17"/>
    <p:sldId id="401" r:id="rId18"/>
    <p:sldId id="447" r:id="rId19"/>
    <p:sldId id="286" r:id="rId20"/>
    <p:sldId id="448" r:id="rId21"/>
    <p:sldId id="449" r:id="rId22"/>
    <p:sldId id="454" r:id="rId23"/>
    <p:sldId id="450" r:id="rId24"/>
    <p:sldId id="455" r:id="rId25"/>
    <p:sldId id="451" r:id="rId26"/>
    <p:sldId id="456" r:id="rId27"/>
    <p:sldId id="452" r:id="rId28"/>
    <p:sldId id="453" r:id="rId29"/>
    <p:sldId id="457" r:id="rId30"/>
    <p:sldId id="458" r:id="rId31"/>
    <p:sldId id="459" r:id="rId32"/>
    <p:sldId id="460" r:id="rId33"/>
    <p:sldId id="461" r:id="rId34"/>
    <p:sldId id="404" r:id="rId35"/>
    <p:sldId id="405" r:id="rId36"/>
    <p:sldId id="274" r:id="rId37"/>
    <p:sldId id="681" r:id="rId38"/>
    <p:sldId id="409" r:id="rId39"/>
    <p:sldId id="408" r:id="rId40"/>
    <p:sldId id="406" r:id="rId41"/>
    <p:sldId id="407" r:id="rId42"/>
    <p:sldId id="411" r:id="rId43"/>
    <p:sldId id="682" r:id="rId44"/>
    <p:sldId id="410" r:id="rId45"/>
    <p:sldId id="413" r:id="rId46"/>
    <p:sldId id="412" r:id="rId47"/>
    <p:sldId id="462" r:id="rId48"/>
    <p:sldId id="297" r:id="rId49"/>
    <p:sldId id="415" r:id="rId50"/>
    <p:sldId id="414" r:id="rId51"/>
    <p:sldId id="416" r:id="rId52"/>
    <p:sldId id="463" r:id="rId53"/>
    <p:sldId id="418" r:id="rId54"/>
    <p:sldId id="417" r:id="rId55"/>
    <p:sldId id="464" r:id="rId56"/>
    <p:sldId id="465" r:id="rId57"/>
    <p:sldId id="466" r:id="rId58"/>
    <p:sldId id="302" r:id="rId59"/>
    <p:sldId id="683" r:id="rId60"/>
    <p:sldId id="420" r:id="rId61"/>
    <p:sldId id="423" r:id="rId62"/>
    <p:sldId id="688" r:id="rId63"/>
    <p:sldId id="424" r:id="rId64"/>
    <p:sldId id="422" r:id="rId65"/>
    <p:sldId id="421" r:id="rId66"/>
    <p:sldId id="689" r:id="rId67"/>
    <p:sldId id="425" r:id="rId68"/>
    <p:sldId id="419" r:id="rId69"/>
    <p:sldId id="690" r:id="rId70"/>
    <p:sldId id="427" r:id="rId71"/>
    <p:sldId id="426" r:id="rId72"/>
    <p:sldId id="432" r:id="rId73"/>
    <p:sldId id="431" r:id="rId74"/>
    <p:sldId id="467" r:id="rId75"/>
    <p:sldId id="468" r:id="rId76"/>
    <p:sldId id="691" r:id="rId77"/>
    <p:sldId id="469" r:id="rId78"/>
    <p:sldId id="470" r:id="rId79"/>
    <p:sldId id="471" r:id="rId80"/>
    <p:sldId id="472" r:id="rId81"/>
    <p:sldId id="437" r:id="rId82"/>
    <p:sldId id="436" r:id="rId83"/>
    <p:sldId id="692" r:id="rId84"/>
    <p:sldId id="474" r:id="rId85"/>
    <p:sldId id="473" r:id="rId86"/>
    <p:sldId id="475" r:id="rId87"/>
    <p:sldId id="438" r:id="rId88"/>
    <p:sldId id="439" r:id="rId89"/>
    <p:sldId id="693" r:id="rId90"/>
    <p:sldId id="499" r:id="rId91"/>
    <p:sldId id="500" r:id="rId92"/>
    <p:sldId id="501" r:id="rId93"/>
    <p:sldId id="502" r:id="rId94"/>
    <p:sldId id="441" r:id="rId95"/>
    <p:sldId id="440" r:id="rId96"/>
    <p:sldId id="694" r:id="rId97"/>
    <p:sldId id="503" r:id="rId98"/>
    <p:sldId id="504" r:id="rId99"/>
    <p:sldId id="505" r:id="rId100"/>
    <p:sldId id="443" r:id="rId101"/>
    <p:sldId id="442" r:id="rId102"/>
    <p:sldId id="684" r:id="rId103"/>
    <p:sldId id="326" r:id="rId104"/>
    <p:sldId id="327" r:id="rId105"/>
    <p:sldId id="328" r:id="rId106"/>
    <p:sldId id="444" r:id="rId107"/>
    <p:sldId id="330" r:id="rId108"/>
    <p:sldId id="673" r:id="rId109"/>
    <p:sldId id="506" r:id="rId110"/>
    <p:sldId id="678" r:id="rId111"/>
    <p:sldId id="332" r:id="rId112"/>
    <p:sldId id="333" r:id="rId113"/>
    <p:sldId id="334" r:id="rId114"/>
    <p:sldId id="335" r:id="rId115"/>
    <p:sldId id="336" r:id="rId116"/>
    <p:sldId id="446" r:id="rId117"/>
    <p:sldId id="445" r:id="rId118"/>
    <p:sldId id="338" r:id="rId119"/>
    <p:sldId id="685" r:id="rId120"/>
    <p:sldId id="339" r:id="rId121"/>
    <p:sldId id="340" r:id="rId122"/>
    <p:sldId id="341" r:id="rId123"/>
    <p:sldId id="342" r:id="rId124"/>
    <p:sldId id="343" r:id="rId125"/>
    <p:sldId id="344" r:id="rId126"/>
    <p:sldId id="345" r:id="rId127"/>
    <p:sldId id="392" r:id="rId128"/>
    <p:sldId id="346" r:id="rId129"/>
    <p:sldId id="347" r:id="rId130"/>
    <p:sldId id="676" r:id="rId131"/>
    <p:sldId id="507" r:id="rId132"/>
    <p:sldId id="508" r:id="rId133"/>
    <p:sldId id="348" r:id="rId134"/>
    <p:sldId id="509" r:id="rId135"/>
    <p:sldId id="349" r:id="rId136"/>
    <p:sldId id="510" r:id="rId137"/>
    <p:sldId id="351" r:id="rId138"/>
    <p:sldId id="350" r:id="rId139"/>
    <p:sldId id="511" r:id="rId140"/>
    <p:sldId id="393" r:id="rId141"/>
    <p:sldId id="476" r:id="rId142"/>
    <p:sldId id="677" r:id="rId143"/>
    <p:sldId id="477" r:id="rId144"/>
    <p:sldId id="478" r:id="rId145"/>
    <p:sldId id="479" r:id="rId146"/>
    <p:sldId id="480" r:id="rId147"/>
    <p:sldId id="358" r:id="rId148"/>
    <p:sldId id="679" r:id="rId149"/>
    <p:sldId id="698" r:id="rId150"/>
    <p:sldId id="481" r:id="rId151"/>
    <p:sldId id="686" r:id="rId152"/>
    <p:sldId id="482" r:id="rId153"/>
    <p:sldId id="483" r:id="rId154"/>
    <p:sldId id="484" r:id="rId155"/>
    <p:sldId id="395" r:id="rId156"/>
    <p:sldId id="485" r:id="rId157"/>
    <p:sldId id="487" r:id="rId158"/>
    <p:sldId id="364" r:id="rId159"/>
    <p:sldId id="486" r:id="rId160"/>
    <p:sldId id="488" r:id="rId161"/>
    <p:sldId id="388" r:id="rId162"/>
    <p:sldId id="512" r:id="rId163"/>
    <p:sldId id="489" r:id="rId164"/>
    <p:sldId id="490" r:id="rId165"/>
    <p:sldId id="371" r:id="rId166"/>
    <p:sldId id="399" r:id="rId167"/>
    <p:sldId id="520" r:id="rId168"/>
    <p:sldId id="522" r:id="rId169"/>
    <p:sldId id="491" r:id="rId170"/>
    <p:sldId id="696" r:id="rId171"/>
    <p:sldId id="687" r:id="rId172"/>
    <p:sldId id="492" r:id="rId173"/>
    <p:sldId id="493" r:id="rId174"/>
    <p:sldId id="494" r:id="rId175"/>
    <p:sldId id="495" r:id="rId176"/>
    <p:sldId id="375" r:id="rId177"/>
    <p:sldId id="496" r:id="rId178"/>
    <p:sldId id="497" r:id="rId179"/>
    <p:sldId id="498" r:id="rId180"/>
    <p:sldId id="433" r:id="rId181"/>
    <p:sldId id="513" r:id="rId182"/>
    <p:sldId id="435" r:id="rId183"/>
    <p:sldId id="680" r:id="rId184"/>
  </p:sldIdLst>
  <p:sldSz cx="9144000" cy="6858000" type="screen4x3"/>
  <p:notesSz cx="6858000" cy="9144000"/>
  <p:custDataLst>
    <p:tags r:id="rId189"/>
  </p:custDataLst>
  <p:defaultTextStyle>
    <a:defPPr>
      <a:defRPr lang="zh-CN"/>
    </a:defPPr>
    <a:lvl1pPr marL="0" lvl="0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800" b="1" i="0" u="none" kern="1200" baseline="0">
        <a:solidFill>
          <a:srgbClr val="800000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800" b="1" i="0" u="none" kern="1200" baseline="0">
        <a:solidFill>
          <a:srgbClr val="800000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800" b="1" i="0" u="none" kern="1200" baseline="0">
        <a:solidFill>
          <a:srgbClr val="800000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800" b="1" i="0" u="none" kern="1200" baseline="0">
        <a:solidFill>
          <a:srgbClr val="800000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800" b="1" i="0" u="none" kern="1200" baseline="0">
        <a:solidFill>
          <a:srgbClr val="800000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800" b="1" i="0" u="none" kern="1200" baseline="0">
        <a:solidFill>
          <a:srgbClr val="800000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800" b="1" i="0" u="none" kern="1200" baseline="0">
        <a:solidFill>
          <a:srgbClr val="800000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800" b="1" i="0" u="none" kern="1200" baseline="0">
        <a:solidFill>
          <a:srgbClr val="800000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800" b="1" i="0" u="none" kern="1200" baseline="0">
        <a:solidFill>
          <a:srgbClr val="800000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FFFF"/>
    <a:srgbClr val="FFFF99"/>
    <a:srgbClr val="000066"/>
    <a:srgbClr val="FFFF66"/>
    <a:srgbClr val="333399"/>
    <a:srgbClr val="FFE1FF"/>
    <a:srgbClr val="CCFF33"/>
    <a:srgbClr val="BE0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38" autoAdjust="0"/>
    <p:restoredTop sz="98808"/>
  </p:normalViewPr>
  <p:slideViewPr>
    <p:cSldViewPr showGuides="1">
      <p:cViewPr>
        <p:scale>
          <a:sx n="82" d="100"/>
          <a:sy n="82" d="100"/>
        </p:scale>
        <p:origin x="210" y="-210"/>
      </p:cViewPr>
      <p:guideLst>
        <p:guide orient="horz" pos="2198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9" Type="http://schemas.openxmlformats.org/officeDocument/2006/relationships/tags" Target="tags/tag23.xml"/><Relationship Id="rId188" Type="http://schemas.openxmlformats.org/officeDocument/2006/relationships/tableStyles" Target="tableStyles.xml"/><Relationship Id="rId187" Type="http://schemas.openxmlformats.org/officeDocument/2006/relationships/viewProps" Target="viewProps.xml"/><Relationship Id="rId186" Type="http://schemas.openxmlformats.org/officeDocument/2006/relationships/presProps" Target="presProps.xml"/><Relationship Id="rId185" Type="http://schemas.openxmlformats.org/officeDocument/2006/relationships/notesMaster" Target="notesMasters/notesMaster1.xml"/><Relationship Id="rId184" Type="http://schemas.openxmlformats.org/officeDocument/2006/relationships/slide" Target="slides/slide182.xml"/><Relationship Id="rId183" Type="http://schemas.openxmlformats.org/officeDocument/2006/relationships/slide" Target="slides/slide181.xml"/><Relationship Id="rId182" Type="http://schemas.openxmlformats.org/officeDocument/2006/relationships/slide" Target="slides/slide180.xml"/><Relationship Id="rId181" Type="http://schemas.openxmlformats.org/officeDocument/2006/relationships/slide" Target="slides/slide179.xml"/><Relationship Id="rId180" Type="http://schemas.openxmlformats.org/officeDocument/2006/relationships/slide" Target="slides/slide178.xml"/><Relationship Id="rId18" Type="http://schemas.openxmlformats.org/officeDocument/2006/relationships/slide" Target="slides/slide16.xml"/><Relationship Id="rId179" Type="http://schemas.openxmlformats.org/officeDocument/2006/relationships/slide" Target="slides/slide177.xml"/><Relationship Id="rId178" Type="http://schemas.openxmlformats.org/officeDocument/2006/relationships/slide" Target="slides/slide176.xml"/><Relationship Id="rId177" Type="http://schemas.openxmlformats.org/officeDocument/2006/relationships/slide" Target="slides/slide175.xml"/><Relationship Id="rId176" Type="http://schemas.openxmlformats.org/officeDocument/2006/relationships/slide" Target="slides/slide174.xml"/><Relationship Id="rId175" Type="http://schemas.openxmlformats.org/officeDocument/2006/relationships/slide" Target="slides/slide173.xml"/><Relationship Id="rId174" Type="http://schemas.openxmlformats.org/officeDocument/2006/relationships/slide" Target="slides/slide172.xml"/><Relationship Id="rId173" Type="http://schemas.openxmlformats.org/officeDocument/2006/relationships/slide" Target="slides/slide171.xml"/><Relationship Id="rId172" Type="http://schemas.openxmlformats.org/officeDocument/2006/relationships/slide" Target="slides/slide170.xml"/><Relationship Id="rId171" Type="http://schemas.openxmlformats.org/officeDocument/2006/relationships/slide" Target="slides/slide169.xml"/><Relationship Id="rId170" Type="http://schemas.openxmlformats.org/officeDocument/2006/relationships/slide" Target="slides/slide168.xml"/><Relationship Id="rId17" Type="http://schemas.openxmlformats.org/officeDocument/2006/relationships/slide" Target="slides/slide15.xml"/><Relationship Id="rId169" Type="http://schemas.openxmlformats.org/officeDocument/2006/relationships/slide" Target="slides/slide167.xml"/><Relationship Id="rId168" Type="http://schemas.openxmlformats.org/officeDocument/2006/relationships/slide" Target="slides/slide166.xml"/><Relationship Id="rId167" Type="http://schemas.openxmlformats.org/officeDocument/2006/relationships/slide" Target="slides/slide165.xml"/><Relationship Id="rId166" Type="http://schemas.openxmlformats.org/officeDocument/2006/relationships/slide" Target="slides/slide164.xml"/><Relationship Id="rId165" Type="http://schemas.openxmlformats.org/officeDocument/2006/relationships/slide" Target="slides/slide163.xml"/><Relationship Id="rId164" Type="http://schemas.openxmlformats.org/officeDocument/2006/relationships/slide" Target="slides/slide162.xml"/><Relationship Id="rId163" Type="http://schemas.openxmlformats.org/officeDocument/2006/relationships/slide" Target="slides/slide161.xml"/><Relationship Id="rId162" Type="http://schemas.openxmlformats.org/officeDocument/2006/relationships/slide" Target="slides/slide160.xml"/><Relationship Id="rId161" Type="http://schemas.openxmlformats.org/officeDocument/2006/relationships/slide" Target="slides/slide159.xml"/><Relationship Id="rId160" Type="http://schemas.openxmlformats.org/officeDocument/2006/relationships/slide" Target="slides/slide158.xml"/><Relationship Id="rId16" Type="http://schemas.openxmlformats.org/officeDocument/2006/relationships/slide" Target="slides/slide14.xml"/><Relationship Id="rId159" Type="http://schemas.openxmlformats.org/officeDocument/2006/relationships/slide" Target="slides/slide157.xml"/><Relationship Id="rId158" Type="http://schemas.openxmlformats.org/officeDocument/2006/relationships/slide" Target="slides/slide156.xml"/><Relationship Id="rId157" Type="http://schemas.openxmlformats.org/officeDocument/2006/relationships/slide" Target="slides/slide155.xml"/><Relationship Id="rId156" Type="http://schemas.openxmlformats.org/officeDocument/2006/relationships/slide" Target="slides/slide154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282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11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</a:rPr>
            </a:fld>
            <a:endParaRPr lang="en-US" altLang="zh-CN" sz="12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17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fld id="{5F8D5DE0-F99D-4AF5-BBD3-4A9AA6DFF63A}" type="datetime1">
              <a:rPr kumimoji="0" lang="zh-CN" altLang="en-US" i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i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7891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92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89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l">
              <a:spcBef>
                <a:spcPct val="0"/>
              </a:spcBef>
              <a:defRPr kumimoji="0" sz="14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DFE57-2C4C-49A3-B55B-A0D7247FAB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spcBef>
                <a:spcPct val="0"/>
              </a:spcBef>
              <a:defRPr kumimoji="0" sz="1400" b="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31" name="Rectangle 9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2.jpeg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image" Target="../media/image1.jpe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" Type="http://schemas.openxmlformats.org/officeDocument/2006/relationships/image" Target="../media/image1.jpeg"/><Relationship Id="rId1" Type="http://schemas.openxmlformats.org/officeDocument/2006/relationships/image" Target="../media/image38.jpe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2" Type="http://schemas.openxmlformats.org/officeDocument/2006/relationships/image" Target="../media/image1.jpeg"/><Relationship Id="rId1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2.jpeg"/><Relationship Id="rId1" Type="http://schemas.openxmlformats.org/officeDocument/2006/relationships/image" Target="../media/image41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4.jpeg"/><Relationship Id="rId1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5.jpe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7.png"/><Relationship Id="rId1" Type="http://schemas.openxmlformats.org/officeDocument/2006/relationships/image" Target="../media/image46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0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2" Type="http://schemas.openxmlformats.org/officeDocument/2006/relationships/image" Target="../media/image1.jpeg"/><Relationship Id="rId1" Type="http://schemas.openxmlformats.org/officeDocument/2006/relationships/image" Target="../media/image53.jpe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image" Target="../media/image1.jpeg"/><Relationship Id="rId2" Type="http://schemas.openxmlformats.org/officeDocument/2006/relationships/image" Target="../media/image55.png"/><Relationship Id="rId1" Type="http://schemas.openxmlformats.org/officeDocument/2006/relationships/image" Target="../media/image54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6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58.jpeg"/><Relationship Id="rId1" Type="http://schemas.openxmlformats.org/officeDocument/2006/relationships/image" Target="../media/image57.jpe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image" Target="../media/image15.jpeg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1.jpe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6.png"/><Relationship Id="rId2" Type="http://schemas.openxmlformats.org/officeDocument/2006/relationships/image" Target="../media/image1.jpeg"/><Relationship Id="rId1" Type="http://schemas.openxmlformats.org/officeDocument/2006/relationships/image" Target="../media/image6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67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68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1.png"/><Relationship Id="rId3" Type="http://schemas.openxmlformats.org/officeDocument/2006/relationships/image" Target="../media/image1.jpe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73.jpeg"/><Relationship Id="rId1" Type="http://schemas.openxmlformats.org/officeDocument/2006/relationships/image" Target="../media/image72.jpe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74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76.jpeg"/><Relationship Id="rId1" Type="http://schemas.openxmlformats.org/officeDocument/2006/relationships/image" Target="../media/image75.pn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78.png"/><Relationship Id="rId1" Type="http://schemas.openxmlformats.org/officeDocument/2006/relationships/image" Target="../media/image77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79.jpe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81.jpeg"/><Relationship Id="rId1" Type="http://schemas.openxmlformats.org/officeDocument/2006/relationships/image" Target="../media/image80.jpe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83.jpeg"/><Relationship Id="rId1" Type="http://schemas.openxmlformats.org/officeDocument/2006/relationships/image" Target="../media/image82.jpe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std.samr.gov.cn/gb/search/gbDetailed?id=71F772D80FB9D3A7E05397BE0A0AB82A" TargetMode="External"/><Relationship Id="rId2" Type="http://schemas.openxmlformats.org/officeDocument/2006/relationships/image" Target="../media/image1.jpeg"/><Relationship Id="rId1" Type="http://schemas.openxmlformats.org/officeDocument/2006/relationships/image" Target="../media/image8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88.jpeg"/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image" Target="../media/image85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90.jpeg"/><Relationship Id="rId1" Type="http://schemas.openxmlformats.org/officeDocument/2006/relationships/image" Target="../media/image89.png"/></Relationships>
</file>

<file path=ppt/slides/_rels/slide8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93.jpeg"/><Relationship Id="rId4" Type="http://schemas.openxmlformats.org/officeDocument/2006/relationships/image" Target="../media/image92.jpeg"/><Relationship Id="rId3" Type="http://schemas.openxmlformats.org/officeDocument/2006/relationships/image" Target="../media/image91.GIF"/><Relationship Id="rId2" Type="http://schemas.openxmlformats.org/officeDocument/2006/relationships/image" Target="../media/image80.jpeg"/><Relationship Id="rId1" Type="http://schemas.openxmlformats.org/officeDocument/2006/relationships/image" Target="../media/image16.jpeg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std.samr.gov.cn/gb/search/gbDetailed?id=71F772D80FB9D3A7E05397BE0A0AB82A" TargetMode="External"/><Relationship Id="rId2" Type="http://schemas.openxmlformats.org/officeDocument/2006/relationships/image" Target="../media/image1.jpeg"/><Relationship Id="rId1" Type="http://schemas.openxmlformats.org/officeDocument/2006/relationships/image" Target="../media/image94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96.jpeg"/><Relationship Id="rId1" Type="http://schemas.openxmlformats.org/officeDocument/2006/relationships/image" Target="../media/image95.jpe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98.jpeg"/><Relationship Id="rId1" Type="http://schemas.openxmlformats.org/officeDocument/2006/relationships/image" Target="../media/image97.pn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00.png"/><Relationship Id="rId1" Type="http://schemas.openxmlformats.org/officeDocument/2006/relationships/image" Target="../media/image99.jpeg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02.png"/><Relationship Id="rId1" Type="http://schemas.openxmlformats.org/officeDocument/2006/relationships/image" Target="../media/image101.jpe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04.jpeg"/><Relationship Id="rId1" Type="http://schemas.openxmlformats.org/officeDocument/2006/relationships/image" Target="../media/image103.jpeg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6.png"/><Relationship Id="rId2" Type="http://schemas.openxmlformats.org/officeDocument/2006/relationships/image" Target="../media/image1.jpeg"/><Relationship Id="rId1" Type="http://schemas.openxmlformats.org/officeDocument/2006/relationships/image" Target="../media/image105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08.jpeg"/><Relationship Id="rId1" Type="http://schemas.openxmlformats.org/officeDocument/2006/relationships/image" Target="../media/image107.jpeg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10.jpeg"/><Relationship Id="rId1" Type="http://schemas.openxmlformats.org/officeDocument/2006/relationships/image" Target="../media/image109.jpeg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12.jpeg"/><Relationship Id="rId1" Type="http://schemas.openxmlformats.org/officeDocument/2006/relationships/image" Target="../media/image111.jpeg"/></Relationships>
</file>

<file path=ppt/slides/_rels/slide9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117.jpeg"/><Relationship Id="rId4" Type="http://schemas.openxmlformats.org/officeDocument/2006/relationships/image" Target="../media/image116.jpeg"/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image" Target="../media/image113.jpe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1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9.png"/><Relationship Id="rId1" Type="http://schemas.openxmlformats.org/officeDocument/2006/relationships/image" Target="../media/image1.jpe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21.jpeg"/><Relationship Id="rId1" Type="http://schemas.openxmlformats.org/officeDocument/2006/relationships/image" Target="../media/image120.jpeg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23.png"/><Relationship Id="rId1" Type="http://schemas.openxmlformats.org/officeDocument/2006/relationships/image" Target="../media/image122.jpeg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25.png"/><Relationship Id="rId1" Type="http://schemas.openxmlformats.org/officeDocument/2006/relationships/image" Target="../media/image124.jpeg"/></Relationships>
</file>

<file path=ppt/slides/_rels/slide10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130.jpeg"/><Relationship Id="rId4" Type="http://schemas.openxmlformats.org/officeDocument/2006/relationships/image" Target="../media/image129.jpeg"/><Relationship Id="rId3" Type="http://schemas.openxmlformats.org/officeDocument/2006/relationships/image" Target="../media/image128.png"/><Relationship Id="rId2" Type="http://schemas.openxmlformats.org/officeDocument/2006/relationships/image" Target="../media/image127.jpeg"/><Relationship Id="rId1" Type="http://schemas.openxmlformats.org/officeDocument/2006/relationships/image" Target="../media/image126.jpe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1.png"/></Relationships>
</file>

<file path=ppt/slides/_rels/slide10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3" Type="http://schemas.openxmlformats.org/officeDocument/2006/relationships/image" Target="../media/image134.jpeg"/><Relationship Id="rId2" Type="http://schemas.openxmlformats.org/officeDocument/2006/relationships/image" Target="../media/image133.png"/><Relationship Id="rId1" Type="http://schemas.openxmlformats.org/officeDocument/2006/relationships/image" Target="../media/image132.GIF"/></Relationships>
</file>

<file path=ppt/slides/_rels/slide10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3" Type="http://schemas.openxmlformats.org/officeDocument/2006/relationships/image" Target="../media/image134.jpeg"/><Relationship Id="rId2" Type="http://schemas.openxmlformats.org/officeDocument/2006/relationships/image" Target="../media/image133.png"/><Relationship Id="rId1" Type="http://schemas.openxmlformats.org/officeDocument/2006/relationships/image" Target="../media/image132.GIF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136.png"/><Relationship Id="rId3" Type="http://schemas.microsoft.com/office/2007/relationships/media" Target="file:///D:\video\7&#38050;\JIJIA.MPG" TargetMode="External"/><Relationship Id="rId2" Type="http://schemas.openxmlformats.org/officeDocument/2006/relationships/video" Target="file:///D:\video\7&#38050;\JIJIA.MPG" TargetMode="External"/><Relationship Id="rId1" Type="http://schemas.openxmlformats.org/officeDocument/2006/relationships/image" Target="../media/image135.jpeg"/></Relationships>
</file>

<file path=ppt/slides/_rels/slide1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38.png"/><Relationship Id="rId1" Type="http://schemas.openxmlformats.org/officeDocument/2006/relationships/image" Target="../media/image137.png"/></Relationships>
</file>

<file path=ppt/slides/_rels/slide1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40.jpeg"/><Relationship Id="rId1" Type="http://schemas.openxmlformats.org/officeDocument/2006/relationships/image" Target="../media/image139.jpeg"/></Relationships>
</file>

<file path=ppt/slides/_rels/slide1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42.jpeg"/><Relationship Id="rId1" Type="http://schemas.openxmlformats.org/officeDocument/2006/relationships/image" Target="../media/image141.jpeg"/></Relationships>
</file>

<file path=ppt/slides/_rels/slide1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46.jpeg"/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image" Target="../media/image143.jpeg"/></Relationships>
</file>

<file path=ppt/slides/_rels/slide1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49.jpeg"/><Relationship Id="rId3" Type="http://schemas.openxmlformats.org/officeDocument/2006/relationships/image" Target="../media/image148.png"/><Relationship Id="rId2" Type="http://schemas.openxmlformats.org/officeDocument/2006/relationships/image" Target="../media/image147.jpeg"/><Relationship Id="rId1" Type="http://schemas.openxmlformats.org/officeDocument/2006/relationships/image" Target="../media/image2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5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51.GIF"/></Relationships>
</file>

<file path=ppt/slides/_rels/slide1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54.jpeg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1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54.jpeg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1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56.png"/><Relationship Id="rId1" Type="http://schemas.openxmlformats.org/officeDocument/2006/relationships/image" Target="../media/image155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57.jpe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58.jpeg"/></Relationships>
</file>

<file path=ppt/slides/_rels/slide1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60.png"/><Relationship Id="rId1" Type="http://schemas.openxmlformats.org/officeDocument/2006/relationships/image" Target="../media/image159.jpe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5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61.jpe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62.jpeg"/></Relationships>
</file>

<file path=ppt/slides/_rels/slide1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65.jpeg"/><Relationship Id="rId3" Type="http://schemas.openxmlformats.org/officeDocument/2006/relationships/image" Target="../media/image159.jpeg"/><Relationship Id="rId2" Type="http://schemas.openxmlformats.org/officeDocument/2006/relationships/image" Target="../media/image164.jpeg"/><Relationship Id="rId1" Type="http://schemas.openxmlformats.org/officeDocument/2006/relationships/image" Target="../media/image163.jpeg"/></Relationships>
</file>

<file path=ppt/slides/_rels/slide1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68.jpeg"/><Relationship Id="rId2" Type="http://schemas.openxmlformats.org/officeDocument/2006/relationships/image" Target="../media/image167.jpeg"/><Relationship Id="rId1" Type="http://schemas.openxmlformats.org/officeDocument/2006/relationships/image" Target="../media/image166.jpe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image" Target="../media/image1.jpeg"/><Relationship Id="rId1" Type="http://schemas.openxmlformats.org/officeDocument/2006/relationships/image" Target="../media/image169.jpeg"/></Relationships>
</file>

<file path=ppt/slides/_rels/slide1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2" Type="http://schemas.openxmlformats.org/officeDocument/2006/relationships/image" Target="../media/image1.jpeg"/><Relationship Id="rId1" Type="http://schemas.openxmlformats.org/officeDocument/2006/relationships/image" Target="../media/image169.jpe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70.jpe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71.jpe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72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72.png"/></Relationships>
</file>

<file path=ppt/slides/_rels/slide1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.jpeg"/><Relationship Id="rId7" Type="http://schemas.openxmlformats.org/officeDocument/2006/relationships/tags" Target="../tags/tag15.xml"/><Relationship Id="rId6" Type="http://schemas.openxmlformats.org/officeDocument/2006/relationships/image" Target="../media/image174.png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173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.xml"/><Relationship Id="rId3" Type="http://schemas.openxmlformats.org/officeDocument/2006/relationships/image" Target="../media/image1.jpeg"/><Relationship Id="rId2" Type="http://schemas.openxmlformats.org/officeDocument/2006/relationships/image" Target="../media/image176.jpeg"/><Relationship Id="rId1" Type="http://schemas.openxmlformats.org/officeDocument/2006/relationships/image" Target="../media/image175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77.jpeg"/></Relationships>
</file>

<file path=ppt/slides/_rels/slide1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79.jpeg"/><Relationship Id="rId1" Type="http://schemas.openxmlformats.org/officeDocument/2006/relationships/image" Target="../media/image178.jpe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7.xml"/><Relationship Id="rId5" Type="http://schemas.openxmlformats.org/officeDocument/2006/relationships/image" Target="../media/image1.jpeg"/><Relationship Id="rId4" Type="http://schemas.openxmlformats.org/officeDocument/2006/relationships/image" Target="../media/image183.jpeg"/><Relationship Id="rId3" Type="http://schemas.openxmlformats.org/officeDocument/2006/relationships/image" Target="../media/image182.png"/><Relationship Id="rId2" Type="http://schemas.openxmlformats.org/officeDocument/2006/relationships/image" Target="../media/image181.jpeg"/><Relationship Id="rId1" Type="http://schemas.openxmlformats.org/officeDocument/2006/relationships/image" Target="../media/image180.png"/></Relationships>
</file>

<file path=ppt/slides/_rels/slide1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86.jpeg"/><Relationship Id="rId2" Type="http://schemas.openxmlformats.org/officeDocument/2006/relationships/image" Target="../media/image185.jpeg"/><Relationship Id="rId1" Type="http://schemas.openxmlformats.org/officeDocument/2006/relationships/image" Target="../media/image184.jpeg"/></Relationships>
</file>

<file path=ppt/slides/_rels/slide1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88.png"/><Relationship Id="rId1" Type="http://schemas.openxmlformats.org/officeDocument/2006/relationships/image" Target="../media/image187.png"/></Relationships>
</file>

<file path=ppt/slides/_rels/slide1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90.png"/><Relationship Id="rId1" Type="http://schemas.openxmlformats.org/officeDocument/2006/relationships/image" Target="../media/image189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91.pn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8.xml"/><Relationship Id="rId2" Type="http://schemas.openxmlformats.org/officeDocument/2006/relationships/image" Target="../media/image1.jpeg"/><Relationship Id="rId1" Type="http://schemas.openxmlformats.org/officeDocument/2006/relationships/image" Target="../media/image192.jpe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5.png"/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image" Target="../media/image1.jpeg"/></Relationships>
</file>

<file path=ppt/slides/_rels/slide15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1.jpeg"/><Relationship Id="rId2" Type="http://schemas.openxmlformats.org/officeDocument/2006/relationships/image" Target="../media/image197.jpeg"/><Relationship Id="rId1" Type="http://schemas.openxmlformats.org/officeDocument/2006/relationships/image" Target="../media/image196.jpeg"/></Relationships>
</file>

<file path=ppt/slides/_rels/slide1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99.jpeg"/><Relationship Id="rId1" Type="http://schemas.openxmlformats.org/officeDocument/2006/relationships/image" Target="../media/image198.jpeg"/></Relationships>
</file>

<file path=ppt/slides/_rels/slide1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01.jpeg"/><Relationship Id="rId1" Type="http://schemas.openxmlformats.org/officeDocument/2006/relationships/image" Target="../media/image200.jpeg"/></Relationships>
</file>

<file path=ppt/slides/_rels/slide1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Relationship Id="rId3" Type="http://schemas.openxmlformats.org/officeDocument/2006/relationships/image" Target="../media/image1.jpeg"/><Relationship Id="rId2" Type="http://schemas.openxmlformats.org/officeDocument/2006/relationships/image" Target="../media/image203.jpeg"/><Relationship Id="rId1" Type="http://schemas.openxmlformats.org/officeDocument/2006/relationships/image" Target="../media/image202.jpeg"/></Relationships>
</file>

<file path=ppt/slides/_rels/slide1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06.jpeg"/><Relationship Id="rId2" Type="http://schemas.openxmlformats.org/officeDocument/2006/relationships/image" Target="../media/image205.jpeg"/><Relationship Id="rId1" Type="http://schemas.openxmlformats.org/officeDocument/2006/relationships/image" Target="../media/image204.jpeg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08.jpeg"/><Relationship Id="rId1" Type="http://schemas.openxmlformats.org/officeDocument/2006/relationships/image" Target="../media/image207.jpeg"/></Relationships>
</file>

<file path=ppt/slides/_rels/slide1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10.jpeg"/><Relationship Id="rId1" Type="http://schemas.openxmlformats.org/officeDocument/2006/relationships/image" Target="../media/image209.jpe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.jpeg"/><Relationship Id="rId6" Type="http://schemas.openxmlformats.org/officeDocument/2006/relationships/image" Target="../media/image215.png"/><Relationship Id="rId5" Type="http://schemas.openxmlformats.org/officeDocument/2006/relationships/image" Target="../media/image214.jpeg"/><Relationship Id="rId4" Type="http://schemas.openxmlformats.org/officeDocument/2006/relationships/image" Target="../media/image213.jpeg"/><Relationship Id="rId3" Type="http://schemas.openxmlformats.org/officeDocument/2006/relationships/image" Target="../media/image207.jpeg"/><Relationship Id="rId2" Type="http://schemas.openxmlformats.org/officeDocument/2006/relationships/image" Target="../media/image212.jpeg"/><Relationship Id="rId1" Type="http://schemas.openxmlformats.org/officeDocument/2006/relationships/image" Target="../media/image211.jpeg"/></Relationships>
</file>

<file path=ppt/slides/_rels/slide1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17.jpeg"/><Relationship Id="rId1" Type="http://schemas.openxmlformats.org/officeDocument/2006/relationships/image" Target="../media/image216.jpe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18.jpeg"/></Relationships>
</file>

<file path=ppt/slides/_rels/slide16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21.png"/><Relationship Id="rId2" Type="http://schemas.openxmlformats.org/officeDocument/2006/relationships/image" Target="../media/image220.jpeg"/><Relationship Id="rId1" Type="http://schemas.openxmlformats.org/officeDocument/2006/relationships/image" Target="../media/image219.jpe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.jpeg"/></Relationships>
</file>

<file path=ppt/slides/_rels/slide1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24.jpeg"/><Relationship Id="rId2" Type="http://schemas.openxmlformats.org/officeDocument/2006/relationships/image" Target="../media/image223.jpeg"/><Relationship Id="rId1" Type="http://schemas.openxmlformats.org/officeDocument/2006/relationships/image" Target="../media/image222.jpeg"/></Relationships>
</file>

<file path=ppt/slides/_rels/slide1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26.jpeg"/><Relationship Id="rId1" Type="http://schemas.openxmlformats.org/officeDocument/2006/relationships/image" Target="../media/image225.jpe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27.jpeg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image" Target="../media/image1.jpe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30.jpeg"/></Relationships>
</file>

<file path=ppt/slides/_rels/slide1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32.jpeg"/><Relationship Id="rId1" Type="http://schemas.openxmlformats.org/officeDocument/2006/relationships/image" Target="../media/image231.jpeg"/></Relationships>
</file>

<file path=ppt/slides/_rels/slide17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35.jpeg"/><Relationship Id="rId2" Type="http://schemas.openxmlformats.org/officeDocument/2006/relationships/image" Target="../media/image234.png"/><Relationship Id="rId1" Type="http://schemas.openxmlformats.org/officeDocument/2006/relationships/image" Target="../media/image233.jpeg"/></Relationships>
</file>

<file path=ppt/slides/_rels/slide1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37.jpeg"/><Relationship Id="rId1" Type="http://schemas.openxmlformats.org/officeDocument/2006/relationships/image" Target="../media/image236.png"/></Relationships>
</file>

<file path=ppt/slides/_rels/slide1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37.jpeg"/><Relationship Id="rId1" Type="http://schemas.openxmlformats.org/officeDocument/2006/relationships/image" Target="../media/image236.png"/></Relationships>
</file>

<file path=ppt/slides/_rels/slide1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39.png"/><Relationship Id="rId1" Type="http://schemas.openxmlformats.org/officeDocument/2006/relationships/image" Target="../media/image238.png"/></Relationships>
</file>

<file path=ppt/slides/_rels/slide17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41.jpeg"/><Relationship Id="rId1" Type="http://schemas.openxmlformats.org/officeDocument/2006/relationships/image" Target="../media/image240.jpeg"/></Relationships>
</file>

<file path=ppt/slides/_rels/slide17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43.jpeg"/><Relationship Id="rId1" Type="http://schemas.openxmlformats.org/officeDocument/2006/relationships/image" Target="../media/image242.jpeg"/></Relationships>
</file>

<file path=ppt/slides/_rels/slide1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45.jpeg"/><Relationship Id="rId1" Type="http://schemas.openxmlformats.org/officeDocument/2006/relationships/image" Target="../media/image244.jpeg"/></Relationships>
</file>

<file path=ppt/slides/_rels/slide1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std.samr.gov.cn/gb/search/gbDetailed?id=71F772D767B5D3A7E05397BE0A0AB82A" TargetMode="External"/><Relationship Id="rId2" Type="http://schemas.openxmlformats.org/officeDocument/2006/relationships/image" Target="../media/image1.jpeg"/><Relationship Id="rId1" Type="http://schemas.openxmlformats.org/officeDocument/2006/relationships/image" Target="../media/image246.png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日期占位符 1"/>
          <p:cNvSpPr>
            <a:spLocks noGrp="1"/>
          </p:cNvSpPr>
          <p:nvPr>
            <p:ph type="dt" sz="half" idx="4294967295"/>
          </p:nvPr>
        </p:nvSpPr>
        <p:spPr bwMode="auto">
          <a:xfrm>
            <a:off x="107504" y="6373971"/>
            <a:ext cx="1905000" cy="3914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indent="0" rtl="0">
              <a:defRPr/>
            </a:pPr>
            <a:fld id="{9D72BA9C-FB15-451B-B629-448D83FE2D7B}" type="datetime8">
              <a:rPr lang="en-US" smtClean="0"/>
            </a:fld>
            <a:endParaRPr lang="en-US" altLang="zh-CN" sz="1400" dirty="0"/>
          </a:p>
        </p:txBody>
      </p:sp>
      <p:sp>
        <p:nvSpPr>
          <p:cNvPr id="409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9A0DB2DC-4C9A-4742-B13C-FB6460FD3503}" type="slidenum">
              <a:rPr lang="en-US" altLang="zh-CN" sz="1400" noProof="1" smtClean="0">
                <a:cs typeface="+mn-ea"/>
              </a:rPr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 idx="4294967295"/>
          </p:nvPr>
        </p:nvSpPr>
        <p:spPr>
          <a:xfrm>
            <a:off x="397510" y="288290"/>
            <a:ext cx="8699500" cy="602107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6600" b="1" u="sng" dirty="0">
                <a:solidFill>
                  <a:srgbClr val="FF0000"/>
                </a:solidFill>
              </a:rPr>
              <a:t>U2041170</a:t>
            </a:r>
            <a:br>
              <a:rPr lang="en-US" altLang="zh-CN" b="1" u="sng" dirty="0">
                <a:solidFill>
                  <a:srgbClr val="FF0000"/>
                </a:solidFill>
              </a:rPr>
            </a:br>
            <a:br>
              <a:rPr lang="en-US" altLang="zh-CN" b="1" u="sng" dirty="0">
                <a:solidFill>
                  <a:srgbClr val="FF0000"/>
                </a:solidFill>
              </a:rPr>
            </a:br>
            <a:r>
              <a:rPr lang="en-US" altLang="zh-CN" sz="6600" b="1" u="sng" dirty="0">
                <a:solidFill>
                  <a:srgbClr val="FF0000"/>
                </a:solidFill>
              </a:rPr>
              <a:t>《</a:t>
            </a:r>
            <a:r>
              <a:rPr lang="zh-CN" altLang="en-US" sz="6600" b="1" u="sng" dirty="0">
                <a:solidFill>
                  <a:srgbClr val="FF0000"/>
                </a:solidFill>
              </a:rPr>
              <a:t>工程材料与成型技术</a:t>
            </a:r>
            <a:r>
              <a:rPr lang="en-US" altLang="zh-CN" sz="6600" b="1" u="sng" dirty="0">
                <a:solidFill>
                  <a:srgbClr val="FF0000"/>
                </a:solidFill>
              </a:rPr>
              <a:t>》</a:t>
            </a:r>
            <a:br>
              <a:rPr lang="en-US" altLang="zh-CN" u="sng" dirty="0">
                <a:solidFill>
                  <a:srgbClr val="FF0000"/>
                </a:solidFill>
              </a:rPr>
            </a:b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Engineering </a:t>
            </a:r>
            <a:r>
              <a:rPr lang="en-US" altLang="zh-CN" u="sng" dirty="0">
                <a:solidFill>
                  <a:srgbClr val="FF0000"/>
                </a:solidFill>
              </a:rPr>
              <a:t>Materials and </a:t>
            </a: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Forming</a:t>
            </a:r>
            <a:r>
              <a:rPr lang="en-US" altLang="zh-CN" u="sng" dirty="0">
                <a:solidFill>
                  <a:srgbClr val="FF0000"/>
                </a:solidFill>
              </a:rPr>
              <a:t> Technology </a:t>
            </a:r>
            <a:br>
              <a:rPr lang="en-US" altLang="zh-CN" u="sng" dirty="0">
                <a:solidFill>
                  <a:schemeClr val="hlink"/>
                </a:solidFill>
              </a:rPr>
            </a:br>
            <a:br>
              <a:rPr lang="en-US" altLang="zh-CN" u="sng" dirty="0">
                <a:solidFill>
                  <a:schemeClr val="hlink"/>
                </a:solidFill>
              </a:rPr>
            </a:br>
            <a:r>
              <a:rPr lang="en-US" altLang="zh-CN" b="1" dirty="0">
                <a:solidFill>
                  <a:schemeClr val="hlink"/>
                </a:solidFill>
              </a:rPr>
              <a:t>44+4</a:t>
            </a:r>
            <a:r>
              <a:rPr lang="zh-CN" altLang="en-US" b="1" dirty="0">
                <a:solidFill>
                  <a:schemeClr val="hlink"/>
                </a:solidFill>
              </a:rPr>
              <a:t>学时，</a:t>
            </a:r>
            <a:r>
              <a:rPr lang="en-US" altLang="zh-CN" b="1" dirty="0">
                <a:solidFill>
                  <a:schemeClr val="hlink"/>
                </a:solidFill>
              </a:rPr>
              <a:t>3</a:t>
            </a:r>
            <a:r>
              <a:rPr lang="zh-CN" altLang="en-US" b="1" dirty="0">
                <a:solidFill>
                  <a:schemeClr val="hlink"/>
                </a:solidFill>
              </a:rPr>
              <a:t>学分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pic>
        <p:nvPicPr>
          <p:cNvPr id="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829675" y="6510338"/>
            <a:ext cx="314325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39545" y="203834"/>
            <a:ext cx="6572250" cy="1785005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第五章  钢铁材料</a:t>
            </a:r>
            <a:b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Steels &amp; Irons     </a:t>
            </a:r>
            <a:endParaRPr kumimoji="1" lang="en-US" altLang="zh-CN" sz="5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2055" name="Picture 7" descr="8_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55776" y="2276872"/>
            <a:ext cx="4497710" cy="3896546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07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2325" y="6538913"/>
            <a:ext cx="558800" cy="319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2BCAE15-A39C-4F71-A305-11A2890C32E2}" type="slidenum">
              <a: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323850" y="1772816"/>
            <a:ext cx="8820150" cy="475252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latin typeface="仿宋_GB2312"/>
                <a:ea typeface="仿宋_GB2312"/>
              </a:rPr>
              <a:t>工业用钢的分类方法及主要类型；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工业用钢的命名方法；</a:t>
            </a:r>
            <a:endParaRPr lang="zh-CN" altLang="en-US" b="1" dirty="0">
              <a:solidFill>
                <a:srgbClr val="FF0000"/>
              </a:solidFill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  <a:sym typeface="+mn-ea"/>
              </a:rPr>
              <a:t>了解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典型工业用钢</a:t>
            </a:r>
            <a:r>
              <a:rPr lang="zh-CN" altLang="en-US" b="1" dirty="0">
                <a:latin typeface="仿宋_GB2312"/>
                <a:ea typeface="仿宋_GB2312"/>
              </a:rPr>
              <a:t>的典型应用；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latin typeface="仿宋_GB2312"/>
                <a:ea typeface="仿宋_GB2312"/>
              </a:rPr>
              <a:t>常见铸铁的种类、牌号及典型应用。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b="1" dirty="0">
              <a:latin typeface="仿宋_GB2312"/>
              <a:ea typeface="仿宋_GB2312"/>
            </a:endParaRPr>
          </a:p>
        </p:txBody>
      </p:sp>
      <p:sp>
        <p:nvSpPr>
          <p:cNvPr id="17412" name="Rectangle 6"/>
          <p:cNvSpPr>
            <a:spLocks noGrp="1"/>
          </p:cNvSpPr>
          <p:nvPr>
            <p:ph type="title"/>
          </p:nvPr>
        </p:nvSpPr>
        <p:spPr>
          <a:xfrm>
            <a:off x="1115695" y="151130"/>
            <a:ext cx="7519670" cy="1402715"/>
          </a:xfrm>
        </p:spPr>
        <p:txBody>
          <a:bodyPr vert="horz"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本章主要教学目标</a:t>
            </a:r>
            <a:b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Learning Objectives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4294967295"/>
          </p:nvPr>
        </p:nvSpPr>
        <p:spPr>
          <a:xfrm>
            <a:off x="139700" y="6515100"/>
            <a:ext cx="1912020" cy="342900"/>
          </a:xfrm>
          <a:prstGeom prst="rect">
            <a:avLst/>
          </a:prstGeom>
        </p:spPr>
        <p:txBody>
          <a:bodyPr anchor="b"/>
          <a:lstStyle/>
          <a:p>
            <a:pPr marL="0" indent="0" eaLnBrk="1" hangingPunct="1">
              <a:spcBef>
                <a:spcPct val="0"/>
              </a:spcBef>
              <a:buClrTx/>
              <a:buSzPct val="100000"/>
              <a:buFont typeface="Arial" panose="020B0604020202020204" pitchFamily="34" charset="0"/>
              <a:buNone/>
            </a:pPr>
            <a:fld id="{BB962C8B-B14F-4D97-AF65-F5344CB8AC3E}" type="datetime8">
              <a:rPr lang="en-US" altLang="zh-CN" sz="1400" dirty="0">
                <a:latin typeface="+mn-lt"/>
                <a:ea typeface="+mn-ea"/>
                <a:cs typeface="+mn-cs"/>
              </a:rPr>
            </a:fld>
            <a:endParaRPr lang="en-US" altLang="zh-CN" sz="14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170815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dvAuto="100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3925" y="6510338"/>
            <a:ext cx="600075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830" y="0"/>
            <a:ext cx="5170805" cy="92900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第五章  钢铁材料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411480" y="1031240"/>
            <a:ext cx="8075295" cy="507936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8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仿宋_GB2312" pitchFamily="49" charset="-122"/>
                <a:sym typeface="+mn-ea"/>
              </a:rPr>
              <a:t>钢铁材料：含碳量低于</a:t>
            </a:r>
            <a:r>
              <a:rPr lang="en-US" altLang="zh-CN" b="1" dirty="0">
                <a:solidFill>
                  <a:schemeClr val="folHlink"/>
                </a:solidFill>
                <a:ea typeface="仿宋_GB2312" pitchFamily="49" charset="-122"/>
                <a:sym typeface="+mn-ea"/>
              </a:rPr>
              <a:t>6.69%</a:t>
            </a:r>
            <a:r>
              <a:rPr lang="zh-CN" altLang="en-US" b="1" dirty="0">
                <a:solidFill>
                  <a:schemeClr val="folHlink"/>
                </a:solidFill>
                <a:ea typeface="仿宋_GB2312" pitchFamily="49" charset="-122"/>
                <a:sym typeface="+mn-ea"/>
              </a:rPr>
              <a:t>的铁碳合金</a:t>
            </a:r>
            <a:endParaRPr lang="zh-CN" altLang="en-US" b="1" dirty="0">
              <a:solidFill>
                <a:schemeClr val="folHlink"/>
              </a:solidFill>
              <a:ea typeface="仿宋_GB2312" pitchFamily="49" charset="-122"/>
              <a:sym typeface="+mn-ea"/>
            </a:endParaRPr>
          </a:p>
          <a:p>
            <a:pPr eaLnBrk="1" hangingPunct="1">
              <a:lnSpc>
                <a:spcPct val="18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仿宋_GB2312" pitchFamily="49" charset="-122"/>
                <a:sym typeface="+mn-ea"/>
              </a:rPr>
              <a:t>钢铁材料：钢（碳素钢、合金钢）、铸铁</a:t>
            </a:r>
            <a:endParaRPr lang="zh-CN" altLang="en-US" b="1" dirty="0">
              <a:solidFill>
                <a:schemeClr val="folHlink"/>
              </a:solidFill>
              <a:ea typeface="仿宋_GB2312" pitchFamily="49" charset="-122"/>
              <a:sym typeface="+mn-ea"/>
            </a:endParaRPr>
          </a:p>
          <a:p>
            <a:pPr eaLnBrk="1" hangingPunct="1">
              <a:lnSpc>
                <a:spcPct val="18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仿宋_GB2312" pitchFamily="49" charset="-122"/>
                <a:sym typeface="+mn-ea"/>
              </a:rPr>
              <a:t>碳素钢：</a:t>
            </a:r>
            <a:r>
              <a:rPr lang="zh-CN" altLang="en-US" b="1" dirty="0">
                <a:solidFill>
                  <a:srgbClr val="66FF33"/>
                </a:solidFill>
                <a:ea typeface="仿宋_GB2312" pitchFamily="49" charset="-122"/>
                <a:sym typeface="+mn-ea"/>
              </a:rPr>
              <a:t>含碳量 </a:t>
            </a:r>
            <a:r>
              <a:rPr lang="en-US" altLang="zh-CN" b="1" dirty="0">
                <a:solidFill>
                  <a:srgbClr val="66FF33"/>
                </a:solidFill>
                <a:ea typeface="仿宋_GB2312" pitchFamily="49" charset="-122"/>
                <a:sym typeface="+mn-ea"/>
              </a:rPr>
              <a:t>&lt; 2.11%</a:t>
            </a:r>
            <a:r>
              <a:rPr lang="zh-CN" altLang="en-US" b="1" dirty="0">
                <a:solidFill>
                  <a:srgbClr val="66FF33"/>
                </a:solidFill>
                <a:ea typeface="仿宋_GB2312" pitchFamily="49" charset="-122"/>
                <a:sym typeface="+mn-ea"/>
              </a:rPr>
              <a:t>的铁碳合金。</a:t>
            </a:r>
            <a:endParaRPr lang="zh-CN" altLang="en-US" b="1" dirty="0">
              <a:solidFill>
                <a:schemeClr val="tx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80000"/>
              </a:lnSpc>
            </a:pPr>
            <a:r>
              <a:rPr lang="en-US" altLang="zh-CN" b="1" dirty="0">
                <a:solidFill>
                  <a:srgbClr val="66FF33"/>
                </a:solidFill>
                <a:ea typeface="仿宋_GB2312" pitchFamily="49" charset="-122"/>
              </a:rPr>
              <a:t>铸铁：含碳量2.11%-6.69%</a:t>
            </a:r>
            <a:r>
              <a:rPr lang="en-US" altLang="zh-CN" b="1" dirty="0">
                <a:solidFill>
                  <a:srgbClr val="66FF33"/>
                </a:solidFill>
                <a:ea typeface="仿宋_GB2312" pitchFamily="49" charset="-122"/>
                <a:sym typeface="+mn-ea"/>
              </a:rPr>
              <a:t>的铁碳合金。</a:t>
            </a:r>
            <a:endParaRPr lang="en-US" altLang="zh-CN" b="1" dirty="0">
              <a:solidFill>
                <a:schemeClr val="tx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10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755650" y="1412875"/>
            <a:ext cx="173545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钢铁材料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3925" y="6510338"/>
            <a:ext cx="600075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0" y="0"/>
            <a:ext cx="414337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工业用钢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714375" y="1214438"/>
            <a:ext cx="7772400" cy="48958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8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第一节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钢的分类及编号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8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第二节</a:t>
            </a:r>
            <a:r>
              <a:rPr lang="zh-CN" altLang="en-US" b="1" dirty="0">
                <a:ea typeface="华文中宋" panose="02010600040101010101" pitchFamily="2" charset="-122"/>
              </a:rPr>
              <a:t>   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钢中的杂质及合金元素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8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第三节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结构钢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8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第四节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工具钢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8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第五节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特殊性能钢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10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3925" y="6510338"/>
            <a:ext cx="600075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989093"/>
            <a:ext cx="8424935" cy="3168352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第一节  钢的分类及编号</a:t>
            </a:r>
            <a:b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Classification and Numbering </a:t>
            </a:r>
            <a:r>
              <a:rPr lang="en-US" altLang="zh-CN" sz="66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sz="66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6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Steels</a:t>
            </a:r>
            <a:endParaRPr kumimoji="1" lang="en-US" altLang="zh-CN" sz="66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31407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3925" y="6597352"/>
            <a:ext cx="600075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25" y="44450"/>
            <a:ext cx="714375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第一节  钢的分类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及编号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1196751"/>
            <a:ext cx="7772400" cy="523262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一、钢的分类方法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按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化学成分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分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按</a:t>
            </a:r>
            <a:r>
              <a:rPr lang="zh-CN" altLang="en-US" b="1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冶炼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质量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分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按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冶炼方法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分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按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金相组织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分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按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用途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分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12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238" y="6510338"/>
            <a:ext cx="385762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16915" y="0"/>
            <a:ext cx="8352155" cy="8737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一、钢的分类—1、按化学成分分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              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683568" y="1844814"/>
            <a:ext cx="7539038" cy="3624262"/>
            <a:chOff x="672" y="1906"/>
            <a:chExt cx="4749" cy="2283"/>
          </a:xfrm>
        </p:grpSpPr>
        <p:grpSp>
          <p:nvGrpSpPr>
            <p:cNvPr id="6155" name="Group 26"/>
            <p:cNvGrpSpPr/>
            <p:nvPr/>
          </p:nvGrpSpPr>
          <p:grpSpPr>
            <a:xfrm>
              <a:off x="1590" y="1906"/>
              <a:ext cx="2778" cy="1115"/>
              <a:chOff x="1590" y="1906"/>
              <a:chExt cx="2778" cy="1115"/>
            </a:xfrm>
          </p:grpSpPr>
          <p:sp>
            <p:nvSpPr>
              <p:cNvPr id="6163" name="AutoShape 4"/>
              <p:cNvSpPr/>
              <p:nvPr/>
            </p:nvSpPr>
            <p:spPr>
              <a:xfrm>
                <a:off x="1590" y="1996"/>
                <a:ext cx="144" cy="875"/>
              </a:xfrm>
              <a:prstGeom prst="leftBrace">
                <a:avLst>
                  <a:gd name="adj1" fmla="val 50636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64" name="Text Box 8"/>
              <p:cNvSpPr txBox="1"/>
              <p:nvPr/>
            </p:nvSpPr>
            <p:spPr>
              <a:xfrm>
                <a:off x="1680" y="2311"/>
                <a:ext cx="2688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>
                  <a:lnSpc>
                    <a:spcPct val="80000"/>
                  </a:lnSpc>
                </a:pPr>
                <a:r>
                  <a:rPr lang="zh-CN" altLang="en-US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中碳钢</a:t>
                </a:r>
                <a:r>
                  <a:rPr lang="en-US" altLang="zh-CN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: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0.25~0.6%C</a:t>
                </a:r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lvl="0" algn="l" eaLnBrk="1" hangingPunct="1">
                  <a:lnSpc>
                    <a:spcPct val="80000"/>
                  </a:lnSpc>
                </a:pPr>
                <a:r>
                  <a:rPr lang="zh-CN" altLang="en-US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高碳钢</a:t>
                </a:r>
                <a:r>
                  <a:rPr lang="en-US" altLang="zh-CN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:</a:t>
                </a:r>
                <a:r>
                  <a:rPr lang="zh-CN" altLang="en-US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anose="05050102010706020507" pitchFamily="18" charset="2"/>
                  </a:rPr>
                  <a:t>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0.6%C</a:t>
                </a:r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6165" name="Text Box 9"/>
              <p:cNvSpPr txBox="1"/>
              <p:nvPr/>
            </p:nvSpPr>
            <p:spPr>
              <a:xfrm>
                <a:off x="1680" y="1906"/>
                <a:ext cx="225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低碳钢</a:t>
                </a:r>
                <a:r>
                  <a:rPr lang="en-US" altLang="zh-CN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: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anose="05050102010706020507" pitchFamily="18" charset="2"/>
                  </a:rPr>
                  <a:t>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0.25%C</a:t>
                </a:r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6156" name="Group 25"/>
            <p:cNvGrpSpPr/>
            <p:nvPr/>
          </p:nvGrpSpPr>
          <p:grpSpPr>
            <a:xfrm>
              <a:off x="1635" y="3076"/>
              <a:ext cx="3786" cy="1113"/>
              <a:chOff x="1635" y="3076"/>
              <a:chExt cx="3786" cy="1113"/>
            </a:xfrm>
          </p:grpSpPr>
          <p:sp>
            <p:nvSpPr>
              <p:cNvPr id="6161" name="AutoShape 5"/>
              <p:cNvSpPr/>
              <p:nvPr/>
            </p:nvSpPr>
            <p:spPr>
              <a:xfrm>
                <a:off x="1635" y="3166"/>
                <a:ext cx="96" cy="855"/>
              </a:xfrm>
              <a:prstGeom prst="leftBrace">
                <a:avLst>
                  <a:gd name="adj1" fmla="val 74218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62" name="Text Box 11"/>
              <p:cNvSpPr txBox="1"/>
              <p:nvPr/>
            </p:nvSpPr>
            <p:spPr>
              <a:xfrm>
                <a:off x="1725" y="3076"/>
                <a:ext cx="3696" cy="11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>
                  <a:lnSpc>
                    <a:spcPct val="80000"/>
                  </a:lnSpc>
                </a:pPr>
                <a:r>
                  <a:rPr lang="zh-CN" altLang="en-US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低合金钢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: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合金元素总量 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5%</a:t>
                </a:r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lvl="0" algn="l" eaLnBrk="1" hangingPunct="1">
                  <a:lnSpc>
                    <a:spcPct val="80000"/>
                  </a:lnSpc>
                </a:pPr>
                <a:r>
                  <a:rPr lang="zh-CN" altLang="en-US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中合金钢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: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合金元素总量 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5~10%</a:t>
                </a:r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lvl="0" algn="l" eaLnBrk="1" hangingPunct="1">
                  <a:lnSpc>
                    <a:spcPct val="80000"/>
                  </a:lnSpc>
                </a:pPr>
                <a:r>
                  <a:rPr lang="zh-CN" altLang="en-US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高合金钢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: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合金元素总量 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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10%</a:t>
                </a:r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6157" name="Group 27"/>
            <p:cNvGrpSpPr/>
            <p:nvPr/>
          </p:nvGrpSpPr>
          <p:grpSpPr>
            <a:xfrm>
              <a:off x="672" y="2280"/>
              <a:ext cx="1020" cy="1532"/>
              <a:chOff x="672" y="2280"/>
              <a:chExt cx="1020" cy="1532"/>
            </a:xfrm>
          </p:grpSpPr>
          <p:sp>
            <p:nvSpPr>
              <p:cNvPr id="6158" name="Text Box 13"/>
              <p:cNvSpPr txBox="1"/>
              <p:nvPr/>
            </p:nvSpPr>
            <p:spPr>
              <a:xfrm>
                <a:off x="732" y="2280"/>
                <a:ext cx="960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碳素钢</a:t>
                </a:r>
                <a:endParaRPr lang="zh-CN" altLang="en-US" sz="32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6159" name="Text Box 14"/>
              <p:cNvSpPr txBox="1"/>
              <p:nvPr/>
            </p:nvSpPr>
            <p:spPr>
              <a:xfrm>
                <a:off x="732" y="3444"/>
                <a:ext cx="91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32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合金钢</a:t>
                </a:r>
                <a:endParaRPr lang="zh-CN" altLang="en-US" sz="32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6160" name="AutoShape 15"/>
              <p:cNvSpPr/>
              <p:nvPr/>
            </p:nvSpPr>
            <p:spPr>
              <a:xfrm>
                <a:off x="672" y="2364"/>
                <a:ext cx="96" cy="1324"/>
              </a:xfrm>
              <a:prstGeom prst="leftBrace">
                <a:avLst>
                  <a:gd name="adj1" fmla="val 114930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6153" name="Picture 29" descr="钢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588760" y="1306195"/>
            <a:ext cx="2383155" cy="187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829675" y="6510338"/>
            <a:ext cx="314325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055" name="Picture 7" descr="8_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500688" y="2214563"/>
            <a:ext cx="3422650" cy="296545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061" name="Rectangle 13"/>
          <p:cNvSpPr/>
          <p:nvPr/>
        </p:nvSpPr>
        <p:spPr>
          <a:xfrm>
            <a:off x="428625" y="1857375"/>
            <a:ext cx="8534400" cy="647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dirty="0">
              <a:solidFill>
                <a:srgbClr val="CCFF33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062" name="Rectangle 14"/>
          <p:cNvSpPr/>
          <p:nvPr/>
        </p:nvSpPr>
        <p:spPr>
          <a:xfrm>
            <a:off x="381000" y="1929130"/>
            <a:ext cx="4779010" cy="454787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碳素钢</a:t>
            </a:r>
            <a:r>
              <a:rPr lang="en-US" altLang="zh-CN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是指</a:t>
            </a:r>
            <a:r>
              <a:rPr lang="zh-CN" altLang="en-US" sz="3200" dirty="0">
                <a:solidFill>
                  <a:schemeClr val="folHlink"/>
                </a:solidFill>
                <a:ea typeface="华文中宋" panose="02010600040101010101" pitchFamily="2" charset="-122"/>
              </a:rPr>
              <a:t>含碳量低于</a:t>
            </a:r>
            <a:r>
              <a:rPr lang="en-US" altLang="zh-CN" sz="3200" dirty="0">
                <a:solidFill>
                  <a:schemeClr val="folHlink"/>
                </a:solidFill>
                <a:ea typeface="华文中宋" panose="02010600040101010101" pitchFamily="2" charset="-122"/>
              </a:rPr>
              <a:t>2.11%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3200" dirty="0">
                <a:solidFill>
                  <a:schemeClr val="folHlink"/>
                </a:solidFill>
                <a:ea typeface="华文中宋" panose="02010600040101010101" pitchFamily="2" charset="-122"/>
              </a:rPr>
              <a:t>铁碳合金</a:t>
            </a:r>
            <a:r>
              <a:rPr lang="zh-CN" altLang="en-US" sz="3200" dirty="0">
                <a:solidFill>
                  <a:srgbClr val="66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合金钢：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是指为了提高钢的性能，在碳钢基础上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有意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加入</a:t>
            </a:r>
            <a:r>
              <a:rPr lang="zh-CN" altLang="en-US" sz="32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一定量合金元素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所获得的</a:t>
            </a:r>
            <a:r>
              <a:rPr lang="zh-CN" altLang="en-US" sz="3200" dirty="0">
                <a:solidFill>
                  <a:schemeClr val="folHlink"/>
                </a:solidFill>
                <a:ea typeface="华文中宋" panose="02010600040101010101" pitchFamily="2" charset="-122"/>
              </a:rPr>
              <a:t>铁基合金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r>
              <a:rPr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zh-CN" altLang="en-US" sz="3200" b="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717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97015"/>
            <a:ext cx="1786255" cy="25654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/>
        </p:nvSpPr>
        <p:spPr>
          <a:xfrm>
            <a:off x="716915" y="0"/>
            <a:ext cx="8352155" cy="8737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一、钢的分类—1、按化学成分分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              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755650" y="2132965"/>
            <a:ext cx="138938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碳素钢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725805" y="3429000"/>
            <a:ext cx="132080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合金钢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1" grpId="0"/>
      <p:bldP spid="2062" grpId="0"/>
      <p:bldP spid="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6"/>
          <p:cNvSpPr txBox="1">
            <a:spLocks noGrp="1"/>
          </p:cNvSpPr>
          <p:nvPr>
            <p:ph type="sldNum" sz="quarter" idx="12"/>
          </p:nvPr>
        </p:nvSpPr>
        <p:spPr>
          <a:xfrm>
            <a:off x="8715375" y="6572250"/>
            <a:ext cx="333375" cy="28575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755" y="0"/>
            <a:ext cx="7834630" cy="92900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钢的分类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、按冶炼质量分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body" sz="half" idx="1"/>
          </p:nvPr>
        </p:nvSpPr>
        <p:spPr>
          <a:xfrm>
            <a:off x="468313" y="1077595"/>
            <a:ext cx="8675687" cy="537686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ea typeface="华文中宋" panose="02010600040101010101" pitchFamily="2" charset="-122"/>
              </a:rPr>
              <a:t>钢的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冶炼质量</a:t>
            </a:r>
            <a:r>
              <a:rPr lang="zh-CN" altLang="en-US" sz="2800" b="1" dirty="0">
                <a:ea typeface="华文中宋" panose="02010600040101010101" pitchFamily="2" charset="-122"/>
              </a:rPr>
              <a:t>是以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磷、硫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含量</a:t>
            </a:r>
            <a:r>
              <a:rPr lang="zh-CN" altLang="en-US" sz="2800" b="1" dirty="0">
                <a:ea typeface="华文中宋" panose="02010600040101010101" pitchFamily="2" charset="-122"/>
              </a:rPr>
              <a:t>来划分的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分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普通质量钢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优质钢、高级优质钢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特级优质钢。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根据现行标准，各质量等级钢的磷、硫含量如下： 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aphicFrame>
        <p:nvGraphicFramePr>
          <p:cNvPr id="8197" name="内容占位符 8196"/>
          <p:cNvGraphicFramePr>
            <a:graphicFrameLocks noGrp="1"/>
          </p:cNvGraphicFramePr>
          <p:nvPr>
            <p:ph sz="half" idx="2"/>
          </p:nvPr>
        </p:nvGraphicFramePr>
        <p:xfrm>
          <a:off x="755650" y="2924175"/>
          <a:ext cx="7918450" cy="3479800"/>
        </p:xfrm>
        <a:graphic>
          <a:graphicData uri="http://schemas.openxmlformats.org/drawingml/2006/table">
            <a:tbl>
              <a:tblPr/>
              <a:tblGrid>
                <a:gridCol w="1998663"/>
                <a:gridCol w="1477962"/>
                <a:gridCol w="1482725"/>
                <a:gridCol w="1477963"/>
                <a:gridCol w="1481137"/>
              </a:tblGrid>
              <a:tr h="525463">
                <a:tc rowSpan="2"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zh-CN" sz="800" dirty="0">
                        <a:solidFill>
                          <a:srgbClr val="CCFFFF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钢 类</a:t>
                      </a:r>
                      <a:endParaRPr lang="zh-CN" altLang="en-US" sz="2800" dirty="0">
                        <a:solidFill>
                          <a:srgbClr val="CCFFFF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gridSpan="2"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碳  素  钢</a:t>
                      </a:r>
                      <a:endParaRPr lang="zh-CN" altLang="en-US" sz="2800" dirty="0">
                        <a:solidFill>
                          <a:srgbClr val="CCFFFF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hMerge="1">
                  <a:tcPr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合  金  钢</a:t>
                      </a:r>
                      <a:endParaRPr lang="zh-CN" altLang="en-US" sz="2800" dirty="0">
                        <a:solidFill>
                          <a:srgbClr val="CCFFFF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hMerge="1">
                  <a:tcPr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 vMerge="1"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P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S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P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rPr>
                        <a:t>S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92137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普通质量钢</a:t>
                      </a:r>
                      <a:endParaRPr lang="zh-CN" altLang="en-US" sz="2800" dirty="0">
                        <a:solidFill>
                          <a:srgbClr val="CCFFFF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≤0.045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≤0.045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≤0.045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rPr>
                        <a:t>≤0.045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优 质  钢</a:t>
                      </a:r>
                      <a:endParaRPr lang="zh-CN" altLang="en-US" sz="2800" dirty="0">
                        <a:solidFill>
                          <a:srgbClr val="CCFFFF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≤0.035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≤0.035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≤0.035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rPr>
                        <a:t>≤0.035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50863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高级优质钢</a:t>
                      </a:r>
                      <a:endParaRPr lang="zh-CN" altLang="en-US" sz="2800" dirty="0">
                        <a:solidFill>
                          <a:srgbClr val="CCFFFF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≤0.030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≤0.030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≤0.025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rPr>
                        <a:t>≤0.025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30237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特级优质钢</a:t>
                      </a:r>
                      <a:endParaRPr lang="zh-CN" altLang="en-US" sz="2800" dirty="0">
                        <a:solidFill>
                          <a:srgbClr val="CCFFFF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≤0.025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≤0.020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rPr>
                        <a:t>≤0.025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仿宋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rPr>
                        <a:t>≤0.015</a:t>
                      </a:r>
                      <a:endParaRPr lang="en-US" altLang="zh-CN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</a:tbl>
          </a:graphicData>
        </a:graphic>
      </p:graphicFrame>
      <p:sp>
        <p:nvSpPr>
          <p:cNvPr id="823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3925" y="6510338"/>
            <a:ext cx="600075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0"/>
            <a:ext cx="8001000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钢的分类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 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、按冶炼方法分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9220" name="Picture 21" descr="lg3"/>
          <p:cNvPicPr preferRelativeResize="0"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540660" y="1141412"/>
            <a:ext cx="1975931" cy="1628776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221" name="Text Box 22"/>
          <p:cNvSpPr txBox="1"/>
          <p:nvPr/>
        </p:nvSpPr>
        <p:spPr>
          <a:xfrm>
            <a:off x="4568349" y="1127919"/>
            <a:ext cx="144780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lvl="0" algn="l"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转炉炼钢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222" name="Picture 26" descr="平炉炼钢"/>
          <p:cNvPicPr preferRelativeResize="0"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85875" y="1143000"/>
            <a:ext cx="2868613" cy="161925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223" name="Text Box 28"/>
          <p:cNvSpPr txBox="1"/>
          <p:nvPr/>
        </p:nvSpPr>
        <p:spPr>
          <a:xfrm>
            <a:off x="2857183" y="1151573"/>
            <a:ext cx="12620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/>
            <a:r>
              <a:rPr lang="zh-CN" altLang="en-US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平炉炼钢</a:t>
            </a:r>
            <a:endParaRPr lang="zh-CN" altLang="en-US" sz="20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49"/>
          <p:cNvGrpSpPr/>
          <p:nvPr/>
        </p:nvGrpSpPr>
        <p:grpSpPr>
          <a:xfrm>
            <a:off x="400050" y="2770188"/>
            <a:ext cx="8648700" cy="3649662"/>
            <a:chOff x="252" y="1745"/>
            <a:chExt cx="5448" cy="2299"/>
          </a:xfrm>
        </p:grpSpPr>
        <p:grpSp>
          <p:nvGrpSpPr>
            <p:cNvPr id="9229" name="Group 40"/>
            <p:cNvGrpSpPr/>
            <p:nvPr/>
          </p:nvGrpSpPr>
          <p:grpSpPr>
            <a:xfrm>
              <a:off x="336" y="1745"/>
              <a:ext cx="2544" cy="865"/>
              <a:chOff x="240" y="1889"/>
              <a:chExt cx="2544" cy="865"/>
            </a:xfrm>
          </p:grpSpPr>
          <p:grpSp>
            <p:nvGrpSpPr>
              <p:cNvPr id="9238" name="Group 34"/>
              <p:cNvGrpSpPr/>
              <p:nvPr/>
            </p:nvGrpSpPr>
            <p:grpSpPr>
              <a:xfrm>
                <a:off x="1704" y="1889"/>
                <a:ext cx="1080" cy="865"/>
                <a:chOff x="1776" y="1877"/>
                <a:chExt cx="1080" cy="865"/>
              </a:xfrm>
            </p:grpSpPr>
            <p:sp>
              <p:nvSpPr>
                <p:cNvPr id="9240" name="AutoShape 4"/>
                <p:cNvSpPr/>
                <p:nvPr/>
              </p:nvSpPr>
              <p:spPr>
                <a:xfrm>
                  <a:off x="1776" y="1985"/>
                  <a:ext cx="144" cy="716"/>
                </a:xfrm>
                <a:prstGeom prst="leftBrace">
                  <a:avLst>
                    <a:gd name="adj1" fmla="val 41435"/>
                    <a:gd name="adj2" fmla="val 50000"/>
                  </a:avLst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eaLnBrk="1" hangingPunct="1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41" name="Text Box 7"/>
                <p:cNvSpPr txBox="1"/>
                <p:nvPr/>
              </p:nvSpPr>
              <p:spPr>
                <a:xfrm>
                  <a:off x="1848" y="1877"/>
                  <a:ext cx="1008" cy="8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 algn="l" eaLnBrk="1" hangingPunct="1"/>
                  <a:r>
                    <a:rPr lang="zh-CN" altLang="en-US" sz="2800" dirty="0">
                      <a:solidFill>
                        <a:schemeClr val="folHlink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平炉钢转炉钢电炉钢</a:t>
                  </a:r>
                  <a:endParaRPr lang="zh-CN" altLang="en-US" sz="28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p:grpSp>
          <p:sp>
            <p:nvSpPr>
              <p:cNvPr id="9239" name="Text Box 12"/>
              <p:cNvSpPr txBox="1"/>
              <p:nvPr/>
            </p:nvSpPr>
            <p:spPr>
              <a:xfrm>
                <a:off x="240" y="2088"/>
                <a:ext cx="163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en-US" altLang="zh-CN" sz="28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8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按 炉 别 分</a:t>
                </a:r>
                <a:endParaRPr lang="zh-CN" altLang="en-US" sz="28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9230" name="AutoShape 6"/>
            <p:cNvSpPr>
              <a:spLocks noChangeAspect="1"/>
            </p:cNvSpPr>
            <p:nvPr/>
          </p:nvSpPr>
          <p:spPr>
            <a:xfrm>
              <a:off x="1776" y="2669"/>
              <a:ext cx="190" cy="1306"/>
            </a:xfrm>
            <a:prstGeom prst="leftBrace">
              <a:avLst>
                <a:gd name="adj1" fmla="val 5728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1" name="Text Box 9"/>
            <p:cNvSpPr txBox="1"/>
            <p:nvPr/>
          </p:nvSpPr>
          <p:spPr>
            <a:xfrm>
              <a:off x="1872" y="2573"/>
              <a:ext cx="38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8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沸腾钢：</a:t>
              </a:r>
              <a:r>
                <a:rPr lang="zh-CN" altLang="en-US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脱氧不充分，浇注时</a:t>
              </a:r>
              <a:r>
                <a: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C</a:t>
              </a:r>
              <a:r>
                <a:rPr lang="zh-CN" altLang="en-US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与</a:t>
              </a:r>
              <a:r>
                <a: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O</a:t>
              </a:r>
              <a:r>
                <a:rPr lang="zh-CN" altLang="en-US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反应</a:t>
              </a:r>
              <a:endPara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9232" name="Text Box 10"/>
            <p:cNvSpPr txBox="1"/>
            <p:nvPr/>
          </p:nvSpPr>
          <p:spPr>
            <a:xfrm>
              <a:off x="1872" y="3101"/>
              <a:ext cx="37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800" dirty="0">
                  <a:solidFill>
                    <a:schemeClr val="folHlink"/>
                  </a:solidFill>
                  <a:latin typeface="楷体_GB2312" pitchFamily="49" charset="-122"/>
                  <a:ea typeface="华文中宋" panose="02010600040101010101" pitchFamily="2" charset="-122"/>
                </a:rPr>
                <a:t>镇静钢</a:t>
              </a:r>
              <a:r>
                <a:rPr lang="en-US" altLang="zh-CN" sz="2800" dirty="0">
                  <a:solidFill>
                    <a:schemeClr val="folHlink"/>
                  </a:solidFill>
                  <a:latin typeface="楷体_GB2312" pitchFamily="49" charset="-122"/>
                  <a:ea typeface="华文中宋" panose="02010600040101010101" pitchFamily="2" charset="-122"/>
                </a:rPr>
                <a:t>: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脱氧充分，组织致密，成材率低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.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233" name="Text Box 11"/>
            <p:cNvSpPr txBox="1"/>
            <p:nvPr/>
          </p:nvSpPr>
          <p:spPr>
            <a:xfrm>
              <a:off x="1863" y="3401"/>
              <a:ext cx="26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8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半镇静钢：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介于前两者之间。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234" name="Text Box 15"/>
            <p:cNvSpPr txBox="1"/>
            <p:nvPr/>
          </p:nvSpPr>
          <p:spPr>
            <a:xfrm>
              <a:off x="1909" y="2848"/>
              <a:ext cx="37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</a:t>
              </a:r>
              <a:r>
                <a:rPr lang="zh-CN" altLang="en-US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发</a:t>
              </a:r>
              <a:r>
                <a:rPr lang="zh-CN" altLang="en-US" sz="2400" dirty="0">
                  <a:solidFill>
                    <a:schemeClr val="tx1"/>
                  </a:solidFill>
                  <a:latin typeface="楷体_GB2312" pitchFamily="49" charset="-122"/>
                  <a:ea typeface="华文中宋" panose="02010600040101010101" pitchFamily="2" charset="-122"/>
                </a:rPr>
                <a:t>生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沸腾。成材率高，但不致密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.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235" name="Text Box 13"/>
            <p:cNvSpPr txBox="1"/>
            <p:nvPr/>
          </p:nvSpPr>
          <p:spPr>
            <a:xfrm>
              <a:off x="348" y="3141"/>
              <a:ext cx="16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8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按脱氧程度分</a:t>
              </a:r>
              <a:endPara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236" name="AutoShape 18"/>
            <p:cNvSpPr>
              <a:spLocks noChangeAspect="1"/>
            </p:cNvSpPr>
            <p:nvPr/>
          </p:nvSpPr>
          <p:spPr>
            <a:xfrm>
              <a:off x="252" y="2117"/>
              <a:ext cx="165" cy="1310"/>
            </a:xfrm>
            <a:prstGeom prst="leftBrace">
              <a:avLst>
                <a:gd name="adj1" fmla="val 66161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7" name="Text Box 45"/>
            <p:cNvSpPr txBox="1"/>
            <p:nvPr/>
          </p:nvSpPr>
          <p:spPr>
            <a:xfrm>
              <a:off x="1868" y="3717"/>
              <a:ext cx="13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800" dirty="0">
                  <a:solidFill>
                    <a:schemeClr val="folHlink"/>
                  </a:solidFill>
                  <a:latin typeface="楷体_GB2312" pitchFamily="49" charset="-122"/>
                  <a:ea typeface="华文中宋" panose="02010600040101010101" pitchFamily="2" charset="-122"/>
                </a:rPr>
                <a:t>特殊镇静钢</a:t>
              </a:r>
              <a:endParaRPr lang="zh-CN" altLang="en-US" sz="2800" dirty="0">
                <a:solidFill>
                  <a:schemeClr val="folHlink"/>
                </a:solidFill>
                <a:latin typeface="楷体_GB2312" pitchFamily="49" charset="-122"/>
                <a:ea typeface="华文中宋" panose="02010600040101010101" pitchFamily="2" charset="-122"/>
              </a:endParaRPr>
            </a:p>
          </p:txBody>
        </p:sp>
      </p:grpSp>
      <p:pic>
        <p:nvPicPr>
          <p:cNvPr id="9225" name="Picture 53" descr="cphc41电弧炉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97699" y="1103312"/>
            <a:ext cx="1846263" cy="1698625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226" name="Text Box 54"/>
          <p:cNvSpPr txBox="1">
            <a:spLocks noChangeAspect="1"/>
          </p:cNvSpPr>
          <p:nvPr/>
        </p:nvSpPr>
        <p:spPr>
          <a:xfrm>
            <a:off x="6998017" y="1066482"/>
            <a:ext cx="1800225" cy="39878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 lvl="0" algn="l" eaLnBrk="1" hangingPunct="1"/>
            <a:r>
              <a: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电弧炉炼钢</a:t>
            </a:r>
            <a:endParaRPr lang="zh-CN" altLang="en-US" sz="2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90030"/>
            <a:ext cx="1786255" cy="26797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71255" y="6595745"/>
            <a:ext cx="390525" cy="26225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0"/>
            <a:ext cx="8001000" cy="10715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钢的分类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 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、按金相组织分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467995" y="1071880"/>
            <a:ext cx="4812030" cy="4684744"/>
            <a:chOff x="286" y="922"/>
            <a:chExt cx="2962" cy="2784"/>
          </a:xfrm>
        </p:grpSpPr>
        <p:grpSp>
          <p:nvGrpSpPr>
            <p:cNvPr id="10249" name="Group 22"/>
            <p:cNvGrpSpPr/>
            <p:nvPr/>
          </p:nvGrpSpPr>
          <p:grpSpPr>
            <a:xfrm>
              <a:off x="333" y="1792"/>
              <a:ext cx="2720" cy="1761"/>
              <a:chOff x="553" y="1781"/>
              <a:chExt cx="2720" cy="1761"/>
            </a:xfrm>
          </p:grpSpPr>
          <p:sp>
            <p:nvSpPr>
              <p:cNvPr id="10255" name="AutoShape 5"/>
              <p:cNvSpPr/>
              <p:nvPr/>
            </p:nvSpPr>
            <p:spPr>
              <a:xfrm>
                <a:off x="2064" y="1946"/>
                <a:ext cx="172" cy="1200"/>
              </a:xfrm>
              <a:prstGeom prst="leftBrace">
                <a:avLst>
                  <a:gd name="adj1" fmla="val 85998"/>
                  <a:gd name="adj2" fmla="val 50008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6" name="Text Box 9"/>
              <p:cNvSpPr txBox="1"/>
              <p:nvPr/>
            </p:nvSpPr>
            <p:spPr>
              <a:xfrm>
                <a:off x="2214" y="1781"/>
                <a:ext cx="1059" cy="17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noAutofit/>
              </a:bodyPr>
              <a:lstStyle/>
              <a:p>
                <a:pPr lvl="0" algn="l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珠光体钢</a:t>
                </a:r>
                <a:endParaRPr lang="zh-CN" altLang="en-US" sz="24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algn="l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贝氏体钢</a:t>
                </a:r>
                <a:endParaRPr lang="zh-CN" altLang="en-US" sz="24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algn="l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马氏体钢</a:t>
                </a:r>
                <a:endParaRPr lang="zh-CN" altLang="en-US" sz="24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algn="l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铁素体钢</a:t>
                </a:r>
                <a:endParaRPr lang="zh-CN" altLang="en-US" sz="24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algn="l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奥氏体钢</a:t>
                </a:r>
                <a:endParaRPr lang="zh-CN" altLang="en-US" sz="24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algn="l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莱氏体钢 </a:t>
                </a:r>
                <a:endParaRPr lang="zh-CN" altLang="en-US" sz="24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10257" name="Text Box 12"/>
              <p:cNvSpPr txBox="1"/>
              <p:nvPr/>
            </p:nvSpPr>
            <p:spPr>
              <a:xfrm>
                <a:off x="553" y="2417"/>
                <a:ext cx="1511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l" eaLnBrk="1" hangingPunct="1"/>
                <a:r>
                  <a:rPr lang="zh-CN" altLang="en-US" sz="28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按正火组织分</a:t>
                </a:r>
                <a:endParaRPr lang="zh-CN" altLang="en-US" sz="28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10250" name="Group 27"/>
            <p:cNvGrpSpPr/>
            <p:nvPr/>
          </p:nvGrpSpPr>
          <p:grpSpPr>
            <a:xfrm>
              <a:off x="286" y="922"/>
              <a:ext cx="2962" cy="2784"/>
              <a:chOff x="286" y="922"/>
              <a:chExt cx="2962" cy="2784"/>
            </a:xfrm>
          </p:grpSpPr>
          <p:sp>
            <p:nvSpPr>
              <p:cNvPr id="10251" name="AutoShape 6"/>
              <p:cNvSpPr/>
              <p:nvPr/>
            </p:nvSpPr>
            <p:spPr>
              <a:xfrm>
                <a:off x="1844" y="1080"/>
                <a:ext cx="150" cy="517"/>
              </a:xfrm>
              <a:prstGeom prst="leftBrace">
                <a:avLst>
                  <a:gd name="adj1" fmla="val 46585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2" name="Text Box 7"/>
              <p:cNvSpPr txBox="1"/>
              <p:nvPr/>
            </p:nvSpPr>
            <p:spPr>
              <a:xfrm>
                <a:off x="1994" y="922"/>
                <a:ext cx="1254" cy="9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noAutofit/>
              </a:bodyPr>
              <a:lstStyle/>
              <a:p>
                <a:pPr lvl="0" algn="l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亚共析钢</a:t>
                </a:r>
                <a:endParaRPr lang="zh-CN" altLang="en-US" sz="24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algn="l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共 析 钢</a:t>
                </a:r>
                <a:endParaRPr lang="zh-CN" altLang="en-US" sz="24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algn="l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过共析钢</a:t>
                </a:r>
                <a:r>
                  <a:rPr lang="zh-CN" altLang="en-US" sz="2800" dirty="0">
                    <a:solidFill>
                      <a:schemeClr val="folHlink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zh-CN" altLang="en-US" sz="2800" dirty="0">
                  <a:solidFill>
                    <a:schemeClr val="folHlink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253" name="Text Box 11"/>
              <p:cNvSpPr txBox="1"/>
              <p:nvPr/>
            </p:nvSpPr>
            <p:spPr>
              <a:xfrm>
                <a:off x="384" y="1204"/>
                <a:ext cx="1475" cy="5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l" eaLnBrk="1" hangingPunct="1"/>
                <a:r>
                  <a:rPr lang="zh-CN" altLang="en-US" sz="28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按退火组织分</a:t>
                </a:r>
                <a:endParaRPr lang="zh-CN" altLang="en-US" sz="28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10254" name="AutoShape 14"/>
              <p:cNvSpPr/>
              <p:nvPr/>
            </p:nvSpPr>
            <p:spPr>
              <a:xfrm>
                <a:off x="286" y="1296"/>
                <a:ext cx="116" cy="2410"/>
              </a:xfrm>
              <a:prstGeom prst="leftBrace">
                <a:avLst>
                  <a:gd name="adj1" fmla="val 103723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0246" name="Text Box 30"/>
          <p:cNvSpPr txBox="1"/>
          <p:nvPr/>
        </p:nvSpPr>
        <p:spPr>
          <a:xfrm>
            <a:off x="766445" y="5012690"/>
            <a:ext cx="4244340" cy="1470025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lvl="0" algn="l" eaLnBrk="1" hangingPunct="1"/>
            <a:r>
              <a:rPr lang="en-US" altLang="zh-CN" sz="28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</a:t>
            </a:r>
            <a:r>
              <a:rPr lang="zh-CN" altLang="en-US" sz="24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铁素体钢</a:t>
            </a:r>
            <a:endParaRPr lang="zh-CN" altLang="en-US" sz="2800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>
              <a:lnSpc>
                <a:spcPct val="11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按室温组织分</a:t>
            </a:r>
            <a:r>
              <a:rPr lang="en-US" altLang="zh-CN" sz="28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奥氏体钢</a:t>
            </a:r>
            <a:endParaRPr lang="zh-CN" altLang="en-US" sz="2800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>
              <a:lnSpc>
                <a:spcPct val="11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</a:t>
            </a:r>
            <a:r>
              <a:rPr lang="zh-CN" altLang="en-US" sz="24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双相钢</a:t>
            </a:r>
            <a:endParaRPr lang="zh-CN" altLang="en-US" sz="2400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247" name="AutoShape 6"/>
          <p:cNvSpPr/>
          <p:nvPr/>
        </p:nvSpPr>
        <p:spPr>
          <a:xfrm>
            <a:off x="3060065" y="5229225"/>
            <a:ext cx="168910" cy="1022985"/>
          </a:xfrm>
          <a:prstGeom prst="leftBrace">
            <a:avLst>
              <a:gd name="adj1" fmla="val 46597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7661910" y="6325870"/>
            <a:ext cx="796290" cy="45720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52705"/>
            <a:ext cx="7500938" cy="7858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钢的分类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 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5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、按用途分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50"/>
          <p:cNvGrpSpPr/>
          <p:nvPr/>
        </p:nvGrpSpPr>
        <p:grpSpPr>
          <a:xfrm>
            <a:off x="453708" y="1091565"/>
            <a:ext cx="7848600" cy="5208588"/>
            <a:chOff x="365" y="705"/>
            <a:chExt cx="4944" cy="3281"/>
          </a:xfrm>
        </p:grpSpPr>
        <p:grpSp>
          <p:nvGrpSpPr>
            <p:cNvPr id="11281" name="Group 37"/>
            <p:cNvGrpSpPr/>
            <p:nvPr/>
          </p:nvGrpSpPr>
          <p:grpSpPr>
            <a:xfrm>
              <a:off x="1488" y="705"/>
              <a:ext cx="3821" cy="1831"/>
              <a:chOff x="1555" y="672"/>
              <a:chExt cx="3821" cy="1831"/>
            </a:xfrm>
          </p:grpSpPr>
          <p:sp>
            <p:nvSpPr>
              <p:cNvPr id="11292" name="AutoShape 4"/>
              <p:cNvSpPr/>
              <p:nvPr/>
            </p:nvSpPr>
            <p:spPr>
              <a:xfrm>
                <a:off x="1555" y="790"/>
                <a:ext cx="144" cy="1045"/>
              </a:xfrm>
              <a:prstGeom prst="leftBrace">
                <a:avLst>
                  <a:gd name="adj1" fmla="val 60474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93" name="Text Box 16"/>
              <p:cNvSpPr txBox="1"/>
              <p:nvPr/>
            </p:nvSpPr>
            <p:spPr>
              <a:xfrm>
                <a:off x="1602" y="672"/>
                <a:ext cx="3774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28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工程用钢：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建筑、桥梁、船舶、车辆</a:t>
                </a:r>
                <a:endParaRPr lang="zh-CN" altLang="en-US" sz="2800" b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grpSp>
            <p:nvGrpSpPr>
              <p:cNvPr id="11294" name="Group 35"/>
              <p:cNvGrpSpPr/>
              <p:nvPr/>
            </p:nvGrpSpPr>
            <p:grpSpPr>
              <a:xfrm>
                <a:off x="1628" y="965"/>
                <a:ext cx="2427" cy="1538"/>
                <a:chOff x="1749" y="965"/>
                <a:chExt cx="2427" cy="1538"/>
              </a:xfrm>
            </p:grpSpPr>
            <p:sp>
              <p:nvSpPr>
                <p:cNvPr id="11295" name="AutoShape 5"/>
                <p:cNvSpPr/>
                <p:nvPr/>
              </p:nvSpPr>
              <p:spPr>
                <a:xfrm>
                  <a:off x="2780" y="1071"/>
                  <a:ext cx="144" cy="1306"/>
                </a:xfrm>
                <a:prstGeom prst="leftBrace">
                  <a:avLst>
                    <a:gd name="adj1" fmla="val 75578"/>
                    <a:gd name="adj2" fmla="val 50000"/>
                  </a:avLst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eaLnBrk="1" hangingPunct="1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96" name="Text Box 9"/>
                <p:cNvSpPr txBox="1"/>
                <p:nvPr/>
              </p:nvSpPr>
              <p:spPr>
                <a:xfrm>
                  <a:off x="2880" y="965"/>
                  <a:ext cx="1296" cy="15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 algn="l" eaLnBrk="1" hangingPunct="1">
                    <a:lnSpc>
                      <a:spcPct val="110000"/>
                    </a:lnSpc>
                  </a:pPr>
                  <a:r>
                    <a:rPr lang="zh-CN" altLang="en-US" sz="2800" dirty="0">
                      <a:solidFill>
                        <a:schemeClr val="folHlink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渗  碳  钢调  质  钢弹  簧  钢滚动轴承钢耐  磨  钢</a:t>
                  </a:r>
                  <a:endParaRPr lang="zh-CN" altLang="en-US" sz="28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1297" name="Text Box 15"/>
                <p:cNvSpPr txBox="1"/>
                <p:nvPr/>
              </p:nvSpPr>
              <p:spPr>
                <a:xfrm>
                  <a:off x="1749" y="1584"/>
                  <a:ext cx="1296" cy="3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 algn="just"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None/>
                  </a:pPr>
                  <a:r>
                    <a:rPr lang="zh-CN" altLang="en-US" sz="2800" dirty="0">
                      <a:solidFill>
                        <a:schemeClr val="folHlink"/>
                      </a:solidFill>
                      <a:latin typeface="楷体_GB2312" pitchFamily="49" charset="-122"/>
                      <a:ea typeface="华文中宋" panose="02010600040101010101" pitchFamily="2" charset="-122"/>
                    </a:rPr>
                    <a:t>机器用钢</a:t>
                  </a:r>
                  <a:endParaRPr lang="zh-CN" altLang="en-US" sz="2800" b="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endParaRPr>
                </a:p>
              </p:txBody>
            </p:sp>
          </p:grpSp>
        </p:grpSp>
        <p:sp>
          <p:nvSpPr>
            <p:cNvPr id="11282" name="Text Box 17"/>
            <p:cNvSpPr txBox="1"/>
            <p:nvPr/>
          </p:nvSpPr>
          <p:spPr>
            <a:xfrm>
              <a:off x="538" y="1174"/>
              <a:ext cx="109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3200" dirty="0">
                  <a:solidFill>
                    <a:srgbClr val="CCFF33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结 构 钢</a:t>
              </a:r>
              <a:endParaRPr lang="zh-CN" altLang="en-US" sz="3200" dirty="0">
                <a:solidFill>
                  <a:srgbClr val="CCFF33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11283" name="Group 44"/>
            <p:cNvGrpSpPr/>
            <p:nvPr/>
          </p:nvGrpSpPr>
          <p:grpSpPr>
            <a:xfrm>
              <a:off x="1462" y="2275"/>
              <a:ext cx="1042" cy="946"/>
              <a:chOff x="1675" y="2085"/>
              <a:chExt cx="1042" cy="946"/>
            </a:xfrm>
          </p:grpSpPr>
          <p:sp>
            <p:nvSpPr>
              <p:cNvPr id="11290" name="AutoShape 6"/>
              <p:cNvSpPr/>
              <p:nvPr/>
            </p:nvSpPr>
            <p:spPr>
              <a:xfrm>
                <a:off x="1675" y="2304"/>
                <a:ext cx="100" cy="567"/>
              </a:xfrm>
              <a:prstGeom prst="leftBrace">
                <a:avLst>
                  <a:gd name="adj1" fmla="val 49540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91" name="Text Box 11"/>
              <p:cNvSpPr txBox="1"/>
              <p:nvPr/>
            </p:nvSpPr>
            <p:spPr>
              <a:xfrm>
                <a:off x="1757" y="2085"/>
                <a:ext cx="960" cy="9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>
                  <a:lnSpc>
                    <a:spcPct val="110000"/>
                  </a:lnSpc>
                </a:pPr>
                <a:r>
                  <a:rPr lang="zh-CN" altLang="en-US" sz="28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刃具钢模具钢量具钢</a:t>
                </a:r>
                <a:endParaRPr lang="zh-CN" altLang="en-US" sz="28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11284" name="Text Box 18"/>
            <p:cNvSpPr txBox="1"/>
            <p:nvPr/>
          </p:nvSpPr>
          <p:spPr>
            <a:xfrm>
              <a:off x="501" y="2655"/>
              <a:ext cx="10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800" dirty="0">
                  <a:solidFill>
                    <a:srgbClr val="CCFF33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工 具 钢</a:t>
              </a:r>
              <a:endParaRPr lang="zh-CN" altLang="en-US" sz="2800" dirty="0">
                <a:solidFill>
                  <a:srgbClr val="CCFF33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11285" name="Group 45"/>
            <p:cNvGrpSpPr/>
            <p:nvPr/>
          </p:nvGrpSpPr>
          <p:grpSpPr>
            <a:xfrm>
              <a:off x="1526" y="3336"/>
              <a:ext cx="1075" cy="650"/>
              <a:chOff x="1727" y="3025"/>
              <a:chExt cx="1075" cy="650"/>
            </a:xfrm>
          </p:grpSpPr>
          <p:sp>
            <p:nvSpPr>
              <p:cNvPr id="11288" name="AutoShape 7"/>
              <p:cNvSpPr/>
              <p:nvPr/>
            </p:nvSpPr>
            <p:spPr>
              <a:xfrm>
                <a:off x="1727" y="3136"/>
                <a:ext cx="77" cy="440"/>
              </a:xfrm>
              <a:prstGeom prst="leftBrace">
                <a:avLst>
                  <a:gd name="adj1" fmla="val 47619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89" name="Text Box 13"/>
              <p:cNvSpPr txBox="1"/>
              <p:nvPr/>
            </p:nvSpPr>
            <p:spPr>
              <a:xfrm>
                <a:off x="1890" y="3025"/>
                <a:ext cx="912" cy="6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>
                  <a:lnSpc>
                    <a:spcPct val="110000"/>
                  </a:lnSpc>
                </a:pPr>
                <a:r>
                  <a:rPr lang="zh-CN" altLang="en-US" sz="2800" dirty="0">
                    <a:solidFill>
                      <a:schemeClr val="folHlin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不锈钢耐热钢</a:t>
                </a:r>
                <a:endParaRPr lang="zh-CN" altLang="en-US" sz="2800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11286" name="Text Box 19"/>
            <p:cNvSpPr txBox="1"/>
            <p:nvPr/>
          </p:nvSpPr>
          <p:spPr>
            <a:xfrm>
              <a:off x="595" y="3359"/>
              <a:ext cx="910" cy="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2800" dirty="0">
                  <a:solidFill>
                    <a:srgbClr val="CCFF33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特 殊 性能钢</a:t>
              </a:r>
              <a:endParaRPr lang="zh-CN" altLang="en-US" sz="2800" dirty="0">
                <a:solidFill>
                  <a:srgbClr val="CCFF33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1287" name="AutoShape 24"/>
            <p:cNvSpPr/>
            <p:nvPr/>
          </p:nvSpPr>
          <p:spPr>
            <a:xfrm>
              <a:off x="365" y="1221"/>
              <a:ext cx="209" cy="2406"/>
            </a:xfrm>
            <a:prstGeom prst="leftBrace">
              <a:avLst>
                <a:gd name="adj1" fmla="val 102962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478504" y="3083560"/>
            <a:ext cx="2525027" cy="2971292"/>
            <a:chOff x="10018" y="5017"/>
            <a:chExt cx="3976" cy="4679"/>
          </a:xfrm>
        </p:grpSpPr>
        <p:grpSp>
          <p:nvGrpSpPr>
            <p:cNvPr id="11269" name="Group 55"/>
            <p:cNvGrpSpPr/>
            <p:nvPr/>
          </p:nvGrpSpPr>
          <p:grpSpPr>
            <a:xfrm>
              <a:off x="10018" y="5017"/>
              <a:ext cx="3976" cy="4679"/>
              <a:chOff x="3155" y="1104"/>
              <a:chExt cx="2222" cy="2351"/>
            </a:xfrm>
          </p:grpSpPr>
          <p:pic>
            <p:nvPicPr>
              <p:cNvPr id="11277" name="Picture 47" descr="挤压模具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155" y="2169"/>
                <a:ext cx="2222" cy="128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grpSp>
            <p:nvGrpSpPr>
              <p:cNvPr id="11278" name="Group 49"/>
              <p:cNvGrpSpPr/>
              <p:nvPr/>
            </p:nvGrpSpPr>
            <p:grpSpPr>
              <a:xfrm>
                <a:off x="3984" y="1104"/>
                <a:ext cx="1392" cy="1392"/>
                <a:chOff x="4080" y="1152"/>
                <a:chExt cx="1392" cy="1392"/>
              </a:xfrm>
            </p:grpSpPr>
            <p:pic>
              <p:nvPicPr>
                <p:cNvPr id="11279" name="Picture 34" descr="cp螺纹钢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4292" y="1152"/>
                  <a:ext cx="1166" cy="9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1280" name="Rectangle 48"/>
                <p:cNvSpPr/>
                <p:nvPr/>
              </p:nvSpPr>
              <p:spPr>
                <a:xfrm>
                  <a:off x="4080" y="1152"/>
                  <a:ext cx="1392" cy="1392"/>
                </a:xfrm>
                <a:prstGeom prst="rect">
                  <a:avLst/>
                </a:prstGeom>
                <a:noFill/>
                <a:ln w="38100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eaLnBrk="1" hangingPunct="1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1270" name="Text Box 52"/>
            <p:cNvSpPr txBox="1"/>
            <p:nvPr/>
          </p:nvSpPr>
          <p:spPr>
            <a:xfrm>
              <a:off x="11502" y="9008"/>
              <a:ext cx="2302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r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挤压模具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427855" y="4652645"/>
            <a:ext cx="1756410" cy="1363980"/>
            <a:chOff x="6179" y="7441"/>
            <a:chExt cx="3300" cy="2508"/>
          </a:xfrm>
        </p:grpSpPr>
        <p:pic>
          <p:nvPicPr>
            <p:cNvPr id="11271" name="Picture 63" descr="c1齿轮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" y="7441"/>
              <a:ext cx="3300" cy="2508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9280" name="Text Box 64"/>
            <p:cNvSpPr txBox="1">
              <a:spLocks noChangeAspect="1" noChangeArrowheads="1"/>
            </p:cNvSpPr>
            <p:nvPr/>
          </p:nvSpPr>
          <p:spPr bwMode="auto">
            <a:xfrm>
              <a:off x="8709" y="8575"/>
              <a:ext cx="741" cy="11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wrap="square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齿轮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11273" name="Picture 65" descr="daoj刃具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64705" y="1628775"/>
            <a:ext cx="1663065" cy="1334135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1274" name="Text Box 68"/>
          <p:cNvSpPr txBox="1"/>
          <p:nvPr/>
        </p:nvSpPr>
        <p:spPr>
          <a:xfrm>
            <a:off x="7019290" y="2167255"/>
            <a:ext cx="459740" cy="972820"/>
          </a:xfrm>
          <a:prstGeom prst="rect">
            <a:avLst/>
          </a:prstGeom>
          <a:noFill/>
          <a:ln w="28575">
            <a:noFill/>
          </a:ln>
        </p:spPr>
        <p:txBody>
          <a:bodyPr vert="eaVert" wrap="square">
            <a:spAutoFit/>
          </a:bodyPr>
          <a:lstStyle/>
          <a:p>
            <a:pPr lvl="0" eaLnBrk="1" hangingPunct="1"/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刀具</a:t>
            </a:r>
            <a:endParaRPr lang="zh-CN" altLang="en-US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34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750" y="0"/>
            <a:ext cx="4929188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二、钢的编号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1"/>
          </p:nvPr>
        </p:nvSpPr>
        <p:spPr>
          <a:xfrm>
            <a:off x="388620" y="1181100"/>
            <a:ext cx="8641080" cy="506666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中宋" panose="02010600040101010101" pitchFamily="2" charset="-122"/>
              </a:rPr>
              <a:t>为什么要编号？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342900" marR="0" lvl="0" indent="-3429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lang="zh-CN" alt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342900" marR="0" lvl="0" indent="-3429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中宋" panose="02010600040101010101" pitchFamily="2" charset="-122"/>
              </a:rPr>
              <a:t>编号方法：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我国钢材的编号目前以下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两种体系并存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（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）牌号表示（</a:t>
            </a: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中宋" panose="02010600040101010101" pitchFamily="2" charset="-122"/>
              </a:rPr>
              <a:t>GB/T221-2008 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中宋" panose="02010600040101010101" pitchFamily="2" charset="-122"/>
              </a:rPr>
              <a:t>钢铁产品牌号表示方法）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0" lvl="0" indent="0" eaLnBrk="1" hangingPunct="1"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（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）统一数字代号体系（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GB/T17616-2013 </a:t>
            </a:r>
            <a:r>
              <a:rPr lang="en-US" altLang="zh-CN" dirty="0"/>
              <a:t> </a:t>
            </a:r>
            <a:r>
              <a:rPr lang="zh-CN" altLang="zh-CN" dirty="0"/>
              <a:t>钢铁及合金牌号统一数字代号体系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(1998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）：便于计算机管理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lvl="0" eaLnBrk="1" hangingPunct="1"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229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750" y="0"/>
            <a:ext cx="4269105" cy="92900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二、钢的编号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1124744"/>
            <a:ext cx="7858126" cy="511256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中宋" panose="02010600040101010101" pitchFamily="2" charset="-122"/>
              </a:rPr>
              <a:t>.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229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/>
          <p:nvPr/>
        </p:nvPicPr>
        <p:blipFill rotWithShape="1">
          <a:blip r:embed="rId2" cstate="print"/>
          <a:srcRect l="34449" t="17498" r="34981" b="10296"/>
          <a:stretch>
            <a:fillRect/>
          </a:stretch>
        </p:blipFill>
        <p:spPr bwMode="auto">
          <a:xfrm>
            <a:off x="4643755" y="1282065"/>
            <a:ext cx="3576320" cy="468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/>
          <p:cNvPicPr/>
          <p:nvPr/>
        </p:nvPicPr>
        <p:blipFill rotWithShape="1">
          <a:blip r:embed="rId3" cstate="print"/>
          <a:srcRect l="34449" t="17498" r="35296" b="9939"/>
          <a:stretch>
            <a:fillRect/>
          </a:stretch>
        </p:blipFill>
        <p:spPr bwMode="auto">
          <a:xfrm>
            <a:off x="1059815" y="1268730"/>
            <a:ext cx="3335655" cy="4696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628765"/>
            <a:ext cx="457200" cy="22923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0"/>
            <a:ext cx="802798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二、钢的编号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牌号表示方法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323850" y="1370648"/>
            <a:ext cx="8424863" cy="459581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我国钢材的牌号表示方法：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汉语拼音字母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化学元素符号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阿拉伯数字</a:t>
            </a:r>
            <a:r>
              <a:rPr lang="zh-CN" altLang="en-US" b="1" dirty="0">
                <a:ea typeface="华文中宋" panose="02010600040101010101" pitchFamily="2" charset="-122"/>
              </a:rPr>
              <a:t>相结合。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采用汉语拼音字母</a:t>
            </a:r>
            <a:r>
              <a:rPr lang="zh-CN" altLang="en-US" b="1" dirty="0">
                <a:ea typeface="华文中宋" panose="02010600040101010101" pitchFamily="2" charset="-122"/>
              </a:rPr>
              <a:t>表示钢产品的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名称、用途、特性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工艺方法</a:t>
            </a:r>
            <a:r>
              <a:rPr lang="zh-CN" altLang="en-US" b="1" dirty="0">
                <a:ea typeface="华文中宋" panose="02010600040101010101" pitchFamily="2" charset="-122"/>
              </a:rPr>
              <a:t>时，一般从代表钢产品名称的汉字的汉语拼音中选取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第一个字母，</a:t>
            </a:r>
            <a:r>
              <a:rPr lang="zh-CN" altLang="en-US" b="1" dirty="0">
                <a:ea typeface="华文中宋" panose="02010600040101010101" pitchFamily="2" charset="-122"/>
              </a:rPr>
              <a:t>一般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不超过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个。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331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105410" y="6461760"/>
            <a:ext cx="1170305" cy="39624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1433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44450"/>
            <a:ext cx="80279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zh-CN" altLang="en-US" sz="32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</a:rPr>
              <a:t>常用钢产品的名称、用途、特性和工艺方法表示符号</a:t>
            </a:r>
            <a:r>
              <a:rPr lang="zh-CN" altLang="en-US" sz="32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GB/T 221—200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zh-CN" altLang="en-US" sz="32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（</a:t>
            </a:r>
            <a:r>
              <a:rPr lang="en-US" altLang="zh-CN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P103</a:t>
            </a:r>
            <a:r>
              <a:rPr lang="zh-CN" altLang="en-US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表</a:t>
            </a:r>
            <a:r>
              <a:rPr lang="en-US" altLang="zh-CN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6-2</a:t>
            </a:r>
            <a:r>
              <a:rPr lang="zh-CN" altLang="en-US" sz="32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）</a:t>
            </a:r>
            <a:endParaRPr lang="zh-CN" altLang="en-US" sz="3200" b="1" dirty="0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graphicFrame>
        <p:nvGraphicFramePr>
          <p:cNvPr id="14341" name="表格 14340"/>
          <p:cNvGraphicFramePr/>
          <p:nvPr/>
        </p:nvGraphicFramePr>
        <p:xfrm>
          <a:off x="323850" y="1340485"/>
          <a:ext cx="8686800" cy="5110480"/>
        </p:xfrm>
        <a:graphic>
          <a:graphicData uri="http://schemas.openxmlformats.org/drawingml/2006/table">
            <a:tbl>
              <a:tblPr/>
              <a:tblGrid>
                <a:gridCol w="2343150"/>
                <a:gridCol w="1219200"/>
                <a:gridCol w="838200"/>
                <a:gridCol w="2057400"/>
                <a:gridCol w="1371600"/>
                <a:gridCol w="857250"/>
              </a:tblGrid>
              <a:tr h="465455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名  称</a:t>
                      </a:r>
                      <a:endParaRPr lang="zh-CN" altLang="en-US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符号</a:t>
                      </a:r>
                      <a:endParaRPr lang="zh-CN" altLang="en-US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位置</a:t>
                      </a:r>
                      <a:endParaRPr lang="zh-CN" altLang="en-US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名称</a:t>
                      </a:r>
                      <a:endParaRPr lang="zh-CN" altLang="en-US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符号</a:t>
                      </a:r>
                      <a:endParaRPr lang="zh-CN" altLang="en-US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位置</a:t>
                      </a:r>
                      <a:endParaRPr lang="zh-CN" altLang="en-US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3550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碳素结构钢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Q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头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桥梁用钢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q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5137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低合金高强度钢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Q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头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锅炉用钢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g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5138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易切削钢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Y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头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焊接气瓶用钢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HP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3550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碳素工具钢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T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头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车辆车轴用钢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LZ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头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5137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</a:t>
                      </a: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滚珠</a:t>
                      </a:r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)</a:t>
                      </a: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轴承钢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G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头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机车车轴用钢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JZ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头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3550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焊接用钢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头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沸腾钢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5138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铆螺钢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ML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头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半镇静钢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b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5137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船用钢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国际符号</a:t>
                      </a:r>
                      <a:endParaRPr lang="zh-CN" altLang="en-US" sz="2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lang="zh-CN" altLang="zh-CN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镇静钢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Z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3550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汽车大梁用钢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L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特殊镇静钢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TZ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465138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压力容器用钢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R</a:t>
                      </a:r>
                      <a:endParaRPr lang="en-US" altLang="zh-CN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质量等级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A.B.C.D.E</a:t>
                      </a:r>
                      <a:endParaRPr lang="en-US" altLang="zh-CN" sz="2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尾</a:t>
                      </a:r>
                      <a:endParaRPr lang="zh-CN" altLang="en-US" sz="2400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00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</a:tbl>
          </a:graphicData>
        </a:graphic>
      </p:graphicFrame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6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15375" y="6572250"/>
            <a:ext cx="428625" cy="28575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8027988" cy="1214438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</a:rPr>
              <a:t>常用钢产品的名称、用途、特性和工艺方法表示符号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GB/T 221—2008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（</a:t>
            </a:r>
            <a:r>
              <a:rPr lang="en-US" altLang="zh-CN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P102</a:t>
            </a:r>
            <a:r>
              <a:rPr lang="zh-CN" altLang="en-US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表</a:t>
            </a:r>
            <a:r>
              <a:rPr lang="en-US" altLang="zh-CN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6-2</a:t>
            </a:r>
            <a:r>
              <a:rPr lang="zh-CN" altLang="en-US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）</a:t>
            </a:r>
            <a:endParaRPr lang="zh-CN" altLang="en-US" sz="800" b="1" dirty="0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pic>
        <p:nvPicPr>
          <p:cNvPr id="15365" name="Picture 511" descr="p102表6-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571625" y="1214438"/>
            <a:ext cx="6384751" cy="499841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330" y="44450"/>
            <a:ext cx="8028305" cy="126365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zh-CN" altLang="en-US" sz="36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</a:rPr>
              <a:t>常用钢产品的名称、用途、特性和工艺方法表示符号</a:t>
            </a:r>
            <a:r>
              <a:rPr lang="zh-CN" altLang="en-US" sz="36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6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GB/T 221—2008</a:t>
            </a:r>
            <a:r>
              <a:rPr lang="zh-CN" altLang="en-US" sz="36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（</a:t>
            </a:r>
            <a:r>
              <a:rPr lang="en-US" altLang="zh-CN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P102</a:t>
            </a:r>
            <a:r>
              <a:rPr lang="zh-CN" altLang="en-US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表</a:t>
            </a:r>
            <a:r>
              <a:rPr lang="en-US" altLang="zh-CN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6-2</a:t>
            </a:r>
            <a:r>
              <a:rPr lang="zh-CN" altLang="en-US" sz="8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（续））</a:t>
            </a:r>
            <a:endParaRPr lang="zh-CN" altLang="en-US" sz="800" b="1" dirty="0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pic>
        <p:nvPicPr>
          <p:cNvPr id="16389" name="Picture 5" descr="p102表6-2（续）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95288" y="2133600"/>
            <a:ext cx="8528050" cy="4035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13322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0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44890" y="6618605"/>
            <a:ext cx="499745" cy="20891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8358188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、碳素结构钢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和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低合金高强度钢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179388" y="1214438"/>
            <a:ext cx="8964612" cy="488156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牌号：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Q +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最低屈服强度值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质量等级符号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脱氧方法符号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Q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表示“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屈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服强度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”，单位是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MPa</a:t>
            </a:r>
            <a:r>
              <a:rPr lang="zh-CN" altLang="en-US" b="1" dirty="0">
                <a:ea typeface="华文中宋" panose="02010600040101010101" pitchFamily="2" charset="-122"/>
              </a:rPr>
              <a:t>；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质量等级符号：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E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。由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到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E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，其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含量依次下降，质量提高。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脱氧方法符号</a:t>
            </a:r>
            <a:r>
              <a:rPr lang="en-US" altLang="zh-CN" b="1" dirty="0">
                <a:solidFill>
                  <a:srgbClr val="CCFFFF"/>
                </a:solidFill>
              </a:rPr>
              <a:t>: </a:t>
            </a:r>
            <a:r>
              <a:rPr lang="zh-CN" altLang="en-US" b="1" dirty="0"/>
              <a:t>沸腾钢</a:t>
            </a:r>
            <a:r>
              <a:rPr lang="en-US" altLang="zh-CN" b="1" dirty="0"/>
              <a:t>—</a:t>
            </a:r>
            <a:r>
              <a:rPr lang="en-US" altLang="zh-CN" b="1" dirty="0">
                <a:solidFill>
                  <a:schemeClr val="folHlink"/>
                </a:solidFill>
              </a:rPr>
              <a:t>F</a:t>
            </a:r>
            <a:r>
              <a:rPr lang="zh-CN" altLang="en-US" b="1" dirty="0"/>
              <a:t>；镇静钢</a:t>
            </a:r>
            <a:r>
              <a:rPr lang="en-US" altLang="zh-CN" b="1" dirty="0"/>
              <a:t>—</a:t>
            </a:r>
            <a:r>
              <a:rPr lang="en-US" altLang="zh-CN" b="1" dirty="0">
                <a:solidFill>
                  <a:schemeClr val="folHlink"/>
                </a:solidFill>
              </a:rPr>
              <a:t>Z</a:t>
            </a:r>
            <a:r>
              <a:rPr lang="zh-CN" altLang="en-US" b="1" dirty="0"/>
              <a:t>；半镇静钢</a:t>
            </a:r>
            <a:r>
              <a:rPr lang="en-US" altLang="zh-CN" b="1" dirty="0"/>
              <a:t>—</a:t>
            </a:r>
            <a:r>
              <a:rPr lang="en-US" altLang="zh-CN" b="1" dirty="0">
                <a:solidFill>
                  <a:schemeClr val="folHlink"/>
                </a:solidFill>
              </a:rPr>
              <a:t>b</a:t>
            </a:r>
            <a:r>
              <a:rPr lang="zh-CN" altLang="en-US" b="1" dirty="0"/>
              <a:t>；特殊镇静钢</a:t>
            </a:r>
            <a:r>
              <a:rPr lang="en-US" altLang="zh-CN" b="1" dirty="0"/>
              <a:t>—</a:t>
            </a:r>
            <a:r>
              <a:rPr lang="en-US" altLang="zh-CN" b="1" dirty="0">
                <a:solidFill>
                  <a:schemeClr val="folHlink"/>
                </a:solidFill>
              </a:rPr>
              <a:t>TZ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如</a:t>
            </a:r>
            <a:r>
              <a:rPr lang="zh-CN" altLang="en-US" b="1" dirty="0">
                <a:solidFill>
                  <a:schemeClr val="folHlink"/>
                </a:solidFill>
              </a:rPr>
              <a:t>碳素结构钢牌号</a:t>
            </a:r>
            <a:r>
              <a:rPr lang="zh-CN" altLang="en-US" b="1" dirty="0"/>
              <a:t>表示为</a:t>
            </a:r>
            <a:r>
              <a:rPr lang="en-US" altLang="zh-CN" b="1" dirty="0">
                <a:solidFill>
                  <a:schemeClr val="folHlink"/>
                </a:solidFill>
              </a:rPr>
              <a:t>Q235A</a:t>
            </a:r>
            <a:r>
              <a:rPr lang="en-US" altLang="zh-CN" b="1" dirty="0">
                <a:solidFill>
                  <a:srgbClr val="CCFFFF"/>
                </a:solidFill>
              </a:rPr>
              <a:t>F</a:t>
            </a:r>
            <a:r>
              <a:rPr lang="zh-CN" altLang="en-US" b="1" dirty="0">
                <a:solidFill>
                  <a:srgbClr val="CCFFFF"/>
                </a:solidFill>
              </a:rPr>
              <a:t>、</a:t>
            </a:r>
            <a:r>
              <a:rPr lang="en-US" altLang="zh-CN" b="1" dirty="0">
                <a:solidFill>
                  <a:srgbClr val="CCFFFF"/>
                </a:solidFill>
              </a:rPr>
              <a:t>Q235BZ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endParaRPr lang="zh-CN" altLang="en-US" dirty="0"/>
          </a:p>
        </p:txBody>
      </p:sp>
      <p:sp>
        <p:nvSpPr>
          <p:cNvPr id="174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8865" y="6667500"/>
            <a:ext cx="445135" cy="19050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77724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、碳素结构钢和低合金高强度钢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161333" y="896937"/>
            <a:ext cx="9001125" cy="50641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低合金高强度结构钢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都是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镇静钢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或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特殊镇静钢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ea typeface="华文中宋" panose="02010600040101010101" pitchFamily="2" charset="-122"/>
              </a:rPr>
              <a:t>其牌号中没有表示脱氧方法的符号。如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Q345C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根据需要，低合金高强度结构钢的牌号</a:t>
            </a:r>
            <a:r>
              <a:rPr lang="zh-CN" altLang="en-US" sz="2800" b="1" dirty="0">
                <a:solidFill>
                  <a:srgbClr val="FFE1FF"/>
                </a:solidFill>
              </a:rPr>
              <a:t>也可以采用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两位阿拉伯数字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表示平均含碳量</a:t>
            </a:r>
            <a:r>
              <a:rPr lang="zh-CN" altLang="en-US" sz="2800" b="1" dirty="0">
                <a:solidFill>
                  <a:srgbClr val="FFE1FF"/>
                </a:solidFill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万分之几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 </a:t>
            </a:r>
            <a:r>
              <a:rPr lang="zh-CN" altLang="en-US" sz="2800" b="1" dirty="0">
                <a:solidFill>
                  <a:srgbClr val="FFE1FF"/>
                </a:solidFill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化学元素符号，按顺序表示，如</a:t>
            </a:r>
            <a:r>
              <a:rPr lang="en-US" altLang="zh-CN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16Mn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说明: </a:t>
            </a:r>
            <a:r>
              <a:rPr lang="en-US" altLang="zh-CN" sz="2800" b="1" dirty="0">
                <a:solidFill>
                  <a:srgbClr val="CCFF33"/>
                </a:solidFill>
              </a:rPr>
              <a:t> </a:t>
            </a:r>
            <a:r>
              <a:rPr lang="zh-CN" altLang="en-US" sz="2800" b="1" dirty="0">
                <a:solidFill>
                  <a:srgbClr val="CCFFFF"/>
                </a:solidFill>
              </a:rPr>
              <a:t>通常情况下</a:t>
            </a:r>
            <a:r>
              <a:rPr lang="en-US" altLang="zh-CN" sz="2800" b="1" dirty="0">
                <a:solidFill>
                  <a:srgbClr val="CCFFFF"/>
                </a:solidFill>
              </a:rPr>
              <a:t>,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屈服强度</a:t>
            </a:r>
            <a:r>
              <a:rPr lang="zh-CN" altLang="en-US" sz="2800" b="1" dirty="0">
                <a:solidFill>
                  <a:srgbClr val="CCFFFF"/>
                </a:solidFill>
              </a:rPr>
              <a:t>值小于</a:t>
            </a:r>
            <a:r>
              <a:rPr lang="en-US" altLang="zh-CN" sz="2800" b="1" dirty="0">
                <a:solidFill>
                  <a:schemeClr val="folHlink"/>
                </a:solidFill>
              </a:rPr>
              <a:t>300MPa</a:t>
            </a:r>
            <a:r>
              <a:rPr lang="zh-CN" altLang="en-US" sz="2800" b="1" dirty="0">
                <a:solidFill>
                  <a:srgbClr val="CCFFFF"/>
                </a:solidFill>
              </a:rPr>
              <a:t>时为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碳素结构钢</a:t>
            </a:r>
            <a:r>
              <a:rPr lang="zh-CN" altLang="en-US" sz="2800" b="1" dirty="0">
                <a:solidFill>
                  <a:srgbClr val="CCFFFF"/>
                </a:solidFill>
              </a:rPr>
              <a:t>，大于</a:t>
            </a:r>
            <a:r>
              <a:rPr lang="en-US" altLang="zh-CN" sz="2800" b="1" dirty="0">
                <a:solidFill>
                  <a:schemeClr val="folHlink"/>
                </a:solidFill>
              </a:rPr>
              <a:t>300MPa</a:t>
            </a:r>
            <a:r>
              <a:rPr lang="zh-CN" altLang="en-US" sz="2800" b="1" dirty="0">
                <a:solidFill>
                  <a:srgbClr val="CCFFFF"/>
                </a:solidFill>
              </a:rPr>
              <a:t>时为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低合金高强度钢</a:t>
            </a:r>
            <a:r>
              <a:rPr lang="zh-CN" altLang="en-US" sz="2800" b="1" dirty="0">
                <a:solidFill>
                  <a:srgbClr val="CCFFFF"/>
                </a:solidFill>
              </a:rPr>
              <a:t>。</a:t>
            </a:r>
            <a:endParaRPr lang="zh-CN" altLang="en-US" sz="2800" b="1" dirty="0">
              <a:solidFill>
                <a:srgbClr val="CCFFFF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699157" y="5059663"/>
            <a:ext cx="4004312" cy="1658295"/>
            <a:chOff x="2784" y="2160"/>
            <a:chExt cx="2343" cy="1585"/>
          </a:xfrm>
        </p:grpSpPr>
        <p:pic>
          <p:nvPicPr>
            <p:cNvPr id="18440" name="Picture 6" descr="product1热连轧钢板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84" y="2160"/>
              <a:ext cx="2343" cy="158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69319" name="Text Box 7"/>
            <p:cNvSpPr txBox="1">
              <a:spLocks noChangeAspect="1" noChangeArrowheads="1"/>
            </p:cNvSpPr>
            <p:nvPr/>
          </p:nvSpPr>
          <p:spPr bwMode="auto">
            <a:xfrm>
              <a:off x="3711" y="3285"/>
              <a:ext cx="961" cy="425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square">
              <a:no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热连轧钢板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3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92900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66230"/>
            <a:ext cx="528320" cy="19177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75" y="116205"/>
            <a:ext cx="5594350" cy="74168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、优质碳素结构钢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684213" y="1196975"/>
            <a:ext cx="8174037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牌号：</a:t>
            </a:r>
            <a:r>
              <a:rPr lang="zh-CN" altLang="en-US" b="1" dirty="0">
                <a:ea typeface="华文中宋" panose="02010600040101010101" pitchFamily="2" charset="-122"/>
              </a:rPr>
              <a:t>用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两位数字</a:t>
            </a:r>
            <a:r>
              <a:rPr lang="zh-CN" altLang="en-US" b="1" dirty="0">
                <a:ea typeface="华文中宋" panose="02010600040101010101" pitchFamily="2" charset="-122"/>
              </a:rPr>
              <a:t>表示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这两位数字表示钢平均含碳量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万分之几。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例：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45</a:t>
            </a:r>
            <a:r>
              <a:rPr lang="zh-CN" altLang="en-US" b="1" dirty="0">
                <a:ea typeface="华文中宋" panose="02010600040101010101" pitchFamily="2" charset="-122"/>
              </a:rPr>
              <a:t>钢</a:t>
            </a:r>
            <a:r>
              <a:rPr lang="en-US" altLang="zh-CN" b="1" dirty="0">
                <a:ea typeface="华文中宋" panose="02010600040101010101" pitchFamily="2" charset="-122"/>
              </a:rPr>
              <a:t>—</a:t>
            </a:r>
            <a:r>
              <a:rPr lang="zh-CN" altLang="en-US" b="1" dirty="0">
                <a:ea typeface="华文中宋" panose="02010600040101010101" pitchFamily="2" charset="-122"/>
              </a:rPr>
              <a:t>平均含碳量为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万分之</a:t>
            </a:r>
            <a:r>
              <a:rPr lang="zh-CN" altLang="en-US" b="1" dirty="0">
                <a:ea typeface="华文中宋" panose="02010600040101010101" pitchFamily="2" charset="-122"/>
              </a:rPr>
              <a:t>四十五</a:t>
            </a:r>
            <a:r>
              <a:rPr lang="en-US" altLang="zh-CN" b="1" dirty="0"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ea typeface="华文中宋" panose="02010600040101010101" pitchFamily="2" charset="-122"/>
              </a:rPr>
              <a:t>即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0.45%</a:t>
            </a:r>
            <a:r>
              <a:rPr lang="en-US" altLang="zh-CN" b="1" dirty="0">
                <a:ea typeface="华文中宋" panose="02010600040101010101" pitchFamily="2" charset="-122"/>
              </a:rPr>
              <a:t>)     </a:t>
            </a:r>
            <a:r>
              <a:rPr lang="zh-CN" altLang="en-US" b="1" dirty="0">
                <a:ea typeface="华文中宋" panose="02010600040101010101" pitchFamily="2" charset="-122"/>
              </a:rPr>
              <a:t>的优质碳素结构钢。</a:t>
            </a:r>
            <a:endParaRPr lang="zh-CN" altLang="en-US" b="1" dirty="0">
              <a:solidFill>
                <a:srgbClr val="CCFF99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985963" y="4076528"/>
            <a:ext cx="4749800" cy="1454528"/>
            <a:chOff x="1234" y="2269"/>
            <a:chExt cx="2992" cy="1111"/>
          </a:xfrm>
        </p:grpSpPr>
        <p:grpSp>
          <p:nvGrpSpPr>
            <p:cNvPr id="19464" name="Group 7"/>
            <p:cNvGrpSpPr/>
            <p:nvPr/>
          </p:nvGrpSpPr>
          <p:grpSpPr>
            <a:xfrm>
              <a:off x="1234" y="2269"/>
              <a:ext cx="1122" cy="1111"/>
              <a:chOff x="1218" y="2269"/>
              <a:chExt cx="1122" cy="1111"/>
            </a:xfrm>
          </p:grpSpPr>
          <p:pic>
            <p:nvPicPr>
              <p:cNvPr id="19468" name="Picture 8" descr="齿轮加工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218" y="2269"/>
                <a:ext cx="1110" cy="1111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469" name="Text Box 9"/>
              <p:cNvSpPr txBox="1">
                <a:spLocks noChangeAspect="1"/>
              </p:cNvSpPr>
              <p:nvPr/>
            </p:nvSpPr>
            <p:spPr>
              <a:xfrm>
                <a:off x="2031" y="2269"/>
                <a:ext cx="309" cy="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square"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齿轮加工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65" name="Group 10"/>
            <p:cNvGrpSpPr/>
            <p:nvPr/>
          </p:nvGrpSpPr>
          <p:grpSpPr>
            <a:xfrm>
              <a:off x="2624" y="2279"/>
              <a:ext cx="1602" cy="1067"/>
              <a:chOff x="2608" y="2279"/>
              <a:chExt cx="1602" cy="1067"/>
            </a:xfrm>
          </p:grpSpPr>
          <p:pic>
            <p:nvPicPr>
              <p:cNvPr id="19466" name="Picture 11" descr="方钢（310S）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608" y="2279"/>
                <a:ext cx="1602" cy="1067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467" name="Text Box 12"/>
              <p:cNvSpPr txBox="1">
                <a:spLocks noChangeAspect="1"/>
              </p:cNvSpPr>
              <p:nvPr/>
            </p:nvSpPr>
            <p:spPr>
              <a:xfrm>
                <a:off x="2608" y="2324"/>
                <a:ext cx="480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noAutofit/>
              </a:bodyPr>
              <a:lstStyle/>
              <a:p>
                <a:pPr lvl="0" algn="l"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方钢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946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05905"/>
            <a:ext cx="457200" cy="25209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115888"/>
            <a:ext cx="7772400" cy="884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、优质碳素结构钢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说明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251460" y="1196340"/>
            <a:ext cx="6864350" cy="4114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CCFF99"/>
                </a:solidFill>
                <a:ea typeface="华文中宋" panose="02010600040101010101" pitchFamily="2" charset="-122"/>
              </a:rPr>
              <a:t>①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量为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0.7~1.0%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时，在两位数字后加元素符号“</a:t>
            </a:r>
            <a:r>
              <a:rPr lang="en-US" altLang="zh-CN" b="1" dirty="0">
                <a:solidFill>
                  <a:srgbClr val="66FF33"/>
                </a:solidFill>
                <a:ea typeface="华文中宋" panose="02010600040101010101" pitchFamily="2" charset="-122"/>
              </a:rPr>
              <a:t>Mn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”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40Mn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rgbClr val="CCFF99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CCFF99"/>
                </a:solidFill>
              </a:rPr>
              <a:t>② </a:t>
            </a:r>
            <a:r>
              <a:rPr lang="zh-CN" altLang="en-US" b="1" dirty="0"/>
              <a:t>对于沸腾钢和半镇静钢</a:t>
            </a:r>
            <a:r>
              <a:rPr lang="en-US" altLang="zh-CN" b="1" dirty="0"/>
              <a:t>, </a:t>
            </a:r>
            <a:r>
              <a:rPr lang="zh-CN" altLang="en-US" b="1" dirty="0"/>
              <a:t>在钢号后分别加字母</a:t>
            </a:r>
            <a:r>
              <a:rPr lang="en-US" altLang="zh-CN" b="1" dirty="0">
                <a:solidFill>
                  <a:schemeClr val="folHlink"/>
                </a:solidFill>
              </a:rPr>
              <a:t>F</a:t>
            </a:r>
            <a:r>
              <a:rPr lang="zh-CN" altLang="en-US" b="1" dirty="0"/>
              <a:t>和</a:t>
            </a:r>
            <a:r>
              <a:rPr lang="en-US" altLang="zh-CN" b="1" dirty="0">
                <a:solidFill>
                  <a:schemeClr val="folHlink"/>
                </a:solidFill>
              </a:rPr>
              <a:t>b</a:t>
            </a:r>
            <a:r>
              <a:rPr lang="zh-CN" altLang="en-US" b="1" dirty="0"/>
              <a:t>，如</a:t>
            </a:r>
            <a:r>
              <a:rPr lang="en-US" altLang="zh-CN" b="1" dirty="0">
                <a:solidFill>
                  <a:schemeClr val="folHlink"/>
                </a:solidFill>
              </a:rPr>
              <a:t>08F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10b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/>
            <a:endParaRPr lang="zh-CN" altLang="en-US" b="1" dirty="0">
              <a:solidFill>
                <a:srgbClr val="CCFF99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CCFF99"/>
                </a:solidFill>
              </a:rPr>
              <a:t>③ </a:t>
            </a:r>
            <a:r>
              <a:rPr lang="zh-CN" altLang="en-US" b="1" dirty="0">
                <a:solidFill>
                  <a:schemeClr val="folHlink"/>
                </a:solidFill>
              </a:rPr>
              <a:t>高级优质钢</a:t>
            </a:r>
            <a:r>
              <a:rPr lang="zh-CN" altLang="en-US" b="1" dirty="0"/>
              <a:t>在</a:t>
            </a:r>
            <a:r>
              <a:rPr lang="zh-CN" altLang="en-US" b="1" dirty="0">
                <a:solidFill>
                  <a:schemeClr val="folHlink"/>
                </a:solidFill>
              </a:rPr>
              <a:t>钢号后加字母</a:t>
            </a:r>
            <a:r>
              <a:rPr lang="en-US" altLang="zh-CN" b="1" dirty="0">
                <a:solidFill>
                  <a:schemeClr val="accent1"/>
                </a:solidFill>
              </a:rPr>
              <a:t>A</a:t>
            </a:r>
            <a:r>
              <a:rPr lang="zh-CN" altLang="en-US" b="1" dirty="0">
                <a:solidFill>
                  <a:schemeClr val="folHlink"/>
                </a:solidFill>
              </a:rPr>
              <a:t>，如</a:t>
            </a:r>
            <a:r>
              <a:rPr lang="en-US" altLang="zh-CN" b="1" dirty="0">
                <a:solidFill>
                  <a:schemeClr val="folHlink"/>
                </a:solidFill>
              </a:rPr>
              <a:t>20A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endParaRPr lang="zh-CN" altLang="en-US" b="1" dirty="0">
              <a:solidFill>
                <a:srgbClr val="66FF33"/>
              </a:solidFill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7452360" y="2204720"/>
            <a:ext cx="1503045" cy="1880235"/>
            <a:chOff x="2736" y="1152"/>
            <a:chExt cx="2494" cy="2645"/>
          </a:xfrm>
        </p:grpSpPr>
        <p:pic>
          <p:nvPicPr>
            <p:cNvPr id="20488" name="Picture 6" descr="a1[2]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36" y="1152"/>
              <a:ext cx="2494" cy="2645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489" name="Text Box 7"/>
            <p:cNvSpPr txBox="1"/>
            <p:nvPr/>
          </p:nvSpPr>
          <p:spPr>
            <a:xfrm>
              <a:off x="3675" y="3216"/>
              <a:ext cx="1529" cy="57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/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钢带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48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15375" y="6500813"/>
            <a:ext cx="428625" cy="357187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7772400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、合金结构钢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和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合金弹簧钢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250825" y="1268413"/>
            <a:ext cx="8713788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两位数字（表示平均含碳量的万分之几）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合金元素符号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该元素百分含量数字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……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66FF33"/>
                </a:solidFill>
                <a:ea typeface="华文中宋" panose="02010600040101010101" pitchFamily="2" charset="-122"/>
              </a:rPr>
              <a:t>当合金元素的平均</a:t>
            </a:r>
            <a:r>
              <a:rPr lang="zh-CN" altLang="en-US" b="1" dirty="0">
                <a:ea typeface="华文中宋" panose="02010600040101010101" pitchFamily="2" charset="-122"/>
              </a:rPr>
              <a:t>含量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小于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1.50%</a:t>
            </a:r>
            <a:r>
              <a:rPr lang="zh-CN" altLang="en-US" b="1" dirty="0">
                <a:ea typeface="华文中宋" panose="02010600040101010101" pitchFamily="2" charset="-122"/>
              </a:rPr>
              <a:t>时</a:t>
            </a:r>
            <a:r>
              <a:rPr lang="zh-CN" altLang="en-US" b="1" dirty="0">
                <a:solidFill>
                  <a:srgbClr val="66FF33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只标</a:t>
            </a:r>
            <a:r>
              <a:rPr lang="zh-CN" altLang="en-US" b="1" dirty="0">
                <a:solidFill>
                  <a:srgbClr val="66FF33"/>
                </a:solidFill>
                <a:ea typeface="华文中宋" panose="02010600040101010101" pitchFamily="2" charset="-122"/>
              </a:rPr>
              <a:t>元素符号，不标含量；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436518" y="3500755"/>
            <a:ext cx="3029937" cy="1989292"/>
            <a:chOff x="3236" y="2256"/>
            <a:chExt cx="1980" cy="1465"/>
          </a:xfrm>
        </p:grpSpPr>
        <p:pic>
          <p:nvPicPr>
            <p:cNvPr id="21512" name="Picture 5" descr="pipe03[1]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36" y="2256"/>
              <a:ext cx="1980" cy="1465"/>
            </a:xfrm>
            <a:prstGeom prst="rect">
              <a:avLst/>
            </a:prstGeom>
            <a:noFill/>
            <a:ln w="571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513" name="Text Box 6"/>
            <p:cNvSpPr txBox="1"/>
            <p:nvPr/>
          </p:nvSpPr>
          <p:spPr>
            <a:xfrm>
              <a:off x="4656" y="3264"/>
              <a:ext cx="528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钢管</a:t>
              </a:r>
              <a:endPara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1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88760"/>
            <a:ext cx="457200" cy="26924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-100012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、合金结构钢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和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合金弹簧钢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250825" y="1196975"/>
            <a:ext cx="8713788" cy="48990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当合金元素的平均含量为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1.50~2.49%</a:t>
            </a:r>
            <a:r>
              <a:rPr lang="zh-CN" altLang="en-US" sz="1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2.50~ 3.49%</a:t>
            </a:r>
            <a:r>
              <a:rPr lang="zh-CN" altLang="en-US" sz="1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3.50~4.49%</a:t>
            </a:r>
            <a:r>
              <a:rPr lang="zh-CN" altLang="en-US" sz="1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4.50~5.49%</a:t>
            </a:r>
            <a:r>
              <a:rPr lang="zh-CN" altLang="en-US" sz="1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ea typeface="华文中宋" panose="02010600040101010101" pitchFamily="2" charset="-122"/>
              </a:rPr>
              <a:t>……</a:t>
            </a:r>
            <a:r>
              <a:rPr lang="zh-CN" altLang="en-US" sz="2800" b="1" dirty="0">
                <a:ea typeface="华文中宋" panose="02010600040101010101" pitchFamily="2" charset="-122"/>
              </a:rPr>
              <a:t>时，在相应的合金元素符号后标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</a:t>
            </a:r>
            <a:r>
              <a:rPr lang="en-US" altLang="zh-CN" sz="2800" b="1" dirty="0">
                <a:ea typeface="华文中宋" panose="02010600040101010101" pitchFamily="2" charset="-122"/>
              </a:rPr>
              <a:t> ……</a:t>
            </a:r>
            <a:r>
              <a:rPr lang="zh-CN" altLang="en-US" sz="2800" b="1" dirty="0">
                <a:ea typeface="华文中宋" panose="02010600040101010101" pitchFamily="2" charset="-122"/>
              </a:rPr>
              <a:t>等数字。</a:t>
            </a:r>
            <a:r>
              <a:rPr lang="zh-CN" altLang="en-US" sz="2800" b="1" dirty="0">
                <a:solidFill>
                  <a:srgbClr val="CCFF99"/>
                </a:solidFill>
                <a:ea typeface="华文中宋" panose="02010600040101010101" pitchFamily="2" charset="-122"/>
              </a:rPr>
              <a:t>如</a:t>
            </a:r>
            <a:r>
              <a:rPr lang="en-US" altLang="zh-CN" sz="2800" b="1" dirty="0">
                <a:solidFill>
                  <a:srgbClr val="CCFF99"/>
                </a:solidFill>
                <a:ea typeface="华文中宋" panose="02010600040101010101" pitchFamily="2" charset="-122"/>
              </a:rPr>
              <a:t>20CrNi3</a:t>
            </a:r>
            <a:r>
              <a:rPr lang="zh-CN" altLang="en-US" sz="2800" b="1" dirty="0">
                <a:solidFill>
                  <a:srgbClr val="CCFF99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rgbClr val="CCFF99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高级优质钢</a:t>
            </a:r>
            <a:r>
              <a:rPr lang="zh-CN" altLang="en-US" sz="2800" b="1" dirty="0">
                <a:solidFill>
                  <a:srgbClr val="66FFFF"/>
                </a:solidFill>
                <a:ea typeface="华文中宋" panose="02010600040101010101" pitchFamily="2" charset="-122"/>
              </a:rPr>
              <a:t>在牌号后加字母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rgbClr val="66FFFF"/>
                </a:solidFill>
                <a:ea typeface="华文中宋" panose="02010600040101010101" pitchFamily="2" charset="-122"/>
              </a:rPr>
              <a:t>，如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60</a:t>
            </a:r>
            <a:r>
              <a:rPr lang="en-US" altLang="zh-CN" sz="2800" b="1" dirty="0">
                <a:ea typeface="华文中宋" panose="02010600040101010101" pitchFamily="2" charset="-122"/>
              </a:rPr>
              <a:t>Si2Mn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rgbClr val="66FFFF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rgbClr val="66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特级优质钢</a:t>
            </a:r>
            <a:r>
              <a:rPr lang="zh-CN" altLang="en-US" sz="2800" b="1" dirty="0">
                <a:solidFill>
                  <a:srgbClr val="66FFFF"/>
                </a:solidFill>
                <a:ea typeface="华文中宋" panose="02010600040101010101" pitchFamily="2" charset="-122"/>
              </a:rPr>
              <a:t>在牌号后加字母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E</a:t>
            </a:r>
            <a:r>
              <a:rPr lang="zh-CN" altLang="en-US" sz="2800" b="1" dirty="0">
                <a:solidFill>
                  <a:srgbClr val="66FFFF"/>
                </a:solidFill>
                <a:ea typeface="华文中宋" panose="02010600040101010101" pitchFamily="2" charset="-122"/>
              </a:rPr>
              <a:t>，如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30</a:t>
            </a:r>
            <a:r>
              <a:rPr lang="en-US" altLang="zh-CN" sz="2800" b="1" dirty="0">
                <a:ea typeface="华文中宋" panose="02010600040101010101" pitchFamily="2" charset="-122"/>
              </a:rPr>
              <a:t>CrMnSi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E</a:t>
            </a:r>
            <a:r>
              <a:rPr lang="zh-CN" altLang="en-US" sz="2800" b="1" dirty="0">
                <a:solidFill>
                  <a:srgbClr val="66FFFF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endParaRPr lang="zh-CN" altLang="en-US" sz="2800" b="1" dirty="0">
              <a:solidFill>
                <a:srgbClr val="CCFF99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2410460" y="4286250"/>
            <a:ext cx="5084445" cy="1917912"/>
            <a:chOff x="816" y="2308"/>
            <a:chExt cx="3994" cy="1838"/>
          </a:xfrm>
        </p:grpSpPr>
        <p:pic>
          <p:nvPicPr>
            <p:cNvPr id="22536" name="Picture 6" descr="不锈钢制管板式换热器（304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6" y="2308"/>
              <a:ext cx="3994" cy="1814"/>
            </a:xfrm>
            <a:prstGeom prst="rect">
              <a:avLst/>
            </a:prstGeom>
            <a:noFill/>
            <a:ln w="38100" cap="flat" cmpd="sng">
              <a:solidFill>
                <a:srgbClr val="CCFFCC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2537" name="Text Box 7"/>
            <p:cNvSpPr txBox="1">
              <a:spLocks noChangeAspect="1"/>
            </p:cNvSpPr>
            <p:nvPr/>
          </p:nvSpPr>
          <p:spPr>
            <a:xfrm>
              <a:off x="2473" y="3764"/>
              <a:ext cx="2330" cy="3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r" eaLnBrk="1" hangingPunct="1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不锈钢制管板式换热器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53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88125"/>
            <a:ext cx="1836420" cy="269875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01460"/>
            <a:ext cx="528320" cy="25654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84439" y="0"/>
            <a:ext cx="4103786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、工具钢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643255" y="1124585"/>
            <a:ext cx="6478270" cy="55721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碳素工具钢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 +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数字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</a:t>
            </a:r>
            <a:r>
              <a:rPr lang="zh-CN" altLang="en-US" sz="2800" b="1" dirty="0">
                <a:ea typeface="华文中宋" panose="02010600040101010101" pitchFamily="2" charset="-122"/>
              </a:rPr>
              <a:t>表示“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碳素工具钢</a:t>
            </a:r>
            <a:r>
              <a:rPr lang="zh-CN" altLang="en-US" sz="2800" b="1" dirty="0">
                <a:ea typeface="华文中宋" panose="02010600040101010101" pitchFamily="2" charset="-122"/>
              </a:rPr>
              <a:t>” ；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数字表示平均含碳量的千分之几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.</a:t>
            </a:r>
            <a:endParaRPr lang="en-US" altLang="zh-CN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T8</a:t>
            </a:r>
            <a:r>
              <a:rPr lang="en-US" altLang="zh-CN" sz="2800" b="1" dirty="0">
                <a:ea typeface="华文中宋" panose="02010600040101010101" pitchFamily="2" charset="-122"/>
              </a:rPr>
              <a:t>—</a:t>
            </a:r>
            <a:r>
              <a:rPr lang="zh-CN" altLang="en-US" sz="2800" b="1" dirty="0">
                <a:ea typeface="华文中宋" panose="02010600040101010101" pitchFamily="2" charset="-122"/>
              </a:rPr>
              <a:t>其平均含碳量为千分之八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(0.8%C)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*  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说明</a:t>
            </a: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碳素工具钢都是优质以上质量的。高级优质钢在钢号后加“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”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，如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T8A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7016737" y="1146439"/>
            <a:ext cx="1994360" cy="1731962"/>
            <a:chOff x="2782" y="351"/>
            <a:chExt cx="2800" cy="1243"/>
          </a:xfrm>
        </p:grpSpPr>
        <p:pic>
          <p:nvPicPr>
            <p:cNvPr id="23563" name="Picture 5" descr="sizui5[1]丝锥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82" y="351"/>
              <a:ext cx="2643" cy="1243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3564" name="Text Box 6"/>
            <p:cNvSpPr txBox="1"/>
            <p:nvPr/>
          </p:nvSpPr>
          <p:spPr>
            <a:xfrm>
              <a:off x="4865" y="376"/>
              <a:ext cx="717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algn="l" eaLnBrk="1" hangingPunct="1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丝锥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7"/>
          <p:cNvGrpSpPr>
            <a:grpSpLocks noChangeAspect="1"/>
          </p:cNvGrpSpPr>
          <p:nvPr/>
        </p:nvGrpSpPr>
        <p:grpSpPr>
          <a:xfrm>
            <a:off x="7164388" y="3789363"/>
            <a:ext cx="1755775" cy="2425700"/>
            <a:chOff x="3840" y="1620"/>
            <a:chExt cx="1700" cy="2162"/>
          </a:xfrm>
        </p:grpSpPr>
        <p:pic>
          <p:nvPicPr>
            <p:cNvPr id="23561" name="Picture 8" descr="钢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0" y="1632"/>
              <a:ext cx="1700" cy="215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3562" name="Text Box 9"/>
            <p:cNvSpPr txBox="1">
              <a:spLocks noChangeAspect="1"/>
            </p:cNvSpPr>
            <p:nvPr/>
          </p:nvSpPr>
          <p:spPr>
            <a:xfrm>
              <a:off x="4944" y="1620"/>
              <a:ext cx="576" cy="6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r" eaLnBrk="1" hangingPunct="1"/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锉刀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56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58505" y="6630670"/>
            <a:ext cx="547370" cy="22733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050" y="-171450"/>
            <a:ext cx="62626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合金工具钢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0" y="981075"/>
            <a:ext cx="9144000" cy="511175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牌号：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含碳量  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+  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合金元素符号  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+  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该元素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百分含量 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+ …</a:t>
            </a:r>
            <a:endParaRPr lang="en-US" altLang="zh-CN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当含碳量小于</a:t>
            </a:r>
            <a:r>
              <a:rPr lang="en-US" altLang="zh-CN" sz="2800" b="1" dirty="0">
                <a:solidFill>
                  <a:srgbClr val="66FF33"/>
                </a:solidFill>
                <a:ea typeface="华文中宋" panose="02010600040101010101" pitchFamily="2" charset="-122"/>
              </a:rPr>
              <a:t>1.00%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时，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含碳量用一位数字标明，这一位数字表示平均含碳量的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千分之几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，如</a:t>
            </a:r>
            <a:r>
              <a:rPr lang="en-US" altLang="zh-CN" sz="2800" b="1" dirty="0">
                <a:solidFill>
                  <a:srgbClr val="66FF33"/>
                </a:solidFill>
                <a:ea typeface="华文中宋" panose="02010600040101010101" pitchFamily="2" charset="-122"/>
              </a:rPr>
              <a:t>8MnSi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.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当含碳量大于</a:t>
            </a:r>
            <a:r>
              <a:rPr lang="en-US" altLang="zh-CN" sz="2800" b="1" dirty="0">
                <a:solidFill>
                  <a:srgbClr val="66FF33"/>
                </a:solidFill>
                <a:ea typeface="华文中宋" panose="02010600040101010101" pitchFamily="2" charset="-122"/>
              </a:rPr>
              <a:t>1.00%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时，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不标含碳量。</a:t>
            </a:r>
            <a:endParaRPr lang="zh-CN" altLang="en-US" sz="2800" b="1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*</a:t>
            </a:r>
            <a:r>
              <a:rPr lang="zh-CN" altLang="en-US" b="1" dirty="0">
                <a:solidFill>
                  <a:schemeClr val="accent1"/>
                </a:solidFill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</a:rPr>
              <a:t>高速钢</a:t>
            </a:r>
            <a:r>
              <a:rPr lang="zh-CN" altLang="en-US" b="1" dirty="0">
                <a:solidFill>
                  <a:srgbClr val="FF0000"/>
                </a:solidFill>
              </a:rPr>
              <a:t>不标含碳量</a:t>
            </a:r>
            <a:r>
              <a:rPr lang="zh-CN" altLang="en-US" b="1" dirty="0"/>
              <a:t>，如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W6Mo5Cr4V2</a:t>
            </a:r>
            <a:r>
              <a:rPr lang="en-US" altLang="zh-CN" b="1" dirty="0"/>
              <a:t>(</a:t>
            </a:r>
            <a:r>
              <a:rPr lang="zh-CN" altLang="en-US" b="1" dirty="0"/>
              <a:t>含</a:t>
            </a:r>
            <a:r>
              <a:rPr lang="en-US" altLang="zh-CN" b="1" dirty="0">
                <a:solidFill>
                  <a:schemeClr val="accent1"/>
                </a:solidFill>
              </a:rPr>
              <a:t>0.85%C</a:t>
            </a:r>
            <a:r>
              <a:rPr lang="en-US" altLang="zh-CN" b="1" dirty="0"/>
              <a:t>).</a:t>
            </a:r>
            <a:endParaRPr lang="en-US" altLang="zh-CN" b="1" dirty="0"/>
          </a:p>
          <a:p>
            <a:pPr eaLnBrk="1" hangingPunct="1"/>
            <a:r>
              <a:rPr lang="en-US" altLang="zh-CN" b="1" dirty="0">
                <a:solidFill>
                  <a:schemeClr val="folHlink"/>
                </a:solidFill>
              </a:rPr>
              <a:t>** </a:t>
            </a:r>
            <a:r>
              <a:rPr lang="zh-CN" altLang="en-US" b="1" dirty="0">
                <a:solidFill>
                  <a:srgbClr val="CCFF33"/>
                </a:solidFill>
              </a:rPr>
              <a:t>含铬量小于</a:t>
            </a:r>
            <a:r>
              <a:rPr lang="en-US" altLang="zh-CN" b="1" dirty="0">
                <a:solidFill>
                  <a:srgbClr val="CCFF33"/>
                </a:solidFill>
              </a:rPr>
              <a:t>1%</a:t>
            </a:r>
            <a:r>
              <a:rPr lang="zh-CN" altLang="en-US" b="1" dirty="0">
                <a:solidFill>
                  <a:srgbClr val="CCFF33"/>
                </a:solidFill>
              </a:rPr>
              <a:t>时</a:t>
            </a:r>
            <a:r>
              <a:rPr lang="zh-CN" altLang="en-US" b="1" dirty="0"/>
              <a:t>，在含铬量</a:t>
            </a:r>
            <a:r>
              <a:rPr lang="en-US" altLang="zh-CN" b="1" dirty="0"/>
              <a:t>(</a:t>
            </a:r>
            <a:r>
              <a:rPr lang="zh-CN" altLang="en-US" b="1" dirty="0"/>
              <a:t>以</a:t>
            </a:r>
            <a:r>
              <a:rPr lang="zh-CN" altLang="en-US" b="1" dirty="0">
                <a:solidFill>
                  <a:srgbClr val="CCFF33"/>
                </a:solidFill>
              </a:rPr>
              <a:t>千分之一</a:t>
            </a:r>
            <a:r>
              <a:rPr lang="zh-CN" altLang="en-US" b="1" dirty="0"/>
              <a:t>为单位</a:t>
            </a:r>
            <a:r>
              <a:rPr lang="en-US" altLang="zh-CN" b="1" dirty="0"/>
              <a:t>)</a:t>
            </a:r>
            <a:r>
              <a:rPr lang="zh-CN" altLang="en-US" b="1" dirty="0"/>
              <a:t>前加数字“</a:t>
            </a:r>
            <a:r>
              <a:rPr lang="en-US" altLang="zh-CN" b="1" dirty="0">
                <a:solidFill>
                  <a:srgbClr val="CCFF33"/>
                </a:solidFill>
              </a:rPr>
              <a:t>0</a:t>
            </a:r>
            <a:r>
              <a:rPr lang="en-US" altLang="zh-CN" b="1" dirty="0"/>
              <a:t>”</a:t>
            </a:r>
            <a:r>
              <a:rPr lang="zh-CN" altLang="en-US" b="1" dirty="0"/>
              <a:t>，如</a:t>
            </a:r>
            <a:r>
              <a:rPr lang="en-US" altLang="zh-CN" b="1" dirty="0">
                <a:solidFill>
                  <a:srgbClr val="CCFF33"/>
                </a:solidFill>
              </a:rPr>
              <a:t>Cr06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5796301" y="5085046"/>
            <a:ext cx="3190875" cy="1142210"/>
            <a:chOff x="3360" y="2160"/>
            <a:chExt cx="1938" cy="1811"/>
          </a:xfrm>
        </p:grpSpPr>
        <p:pic>
          <p:nvPicPr>
            <p:cNvPr id="24584" name="Picture 6" descr="xidao4[1]铣刀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60" y="2160"/>
              <a:ext cx="1938" cy="1811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68295" name="Text Box 7"/>
            <p:cNvSpPr txBox="1">
              <a:spLocks noChangeAspect="1" noChangeArrowheads="1"/>
            </p:cNvSpPr>
            <p:nvPr/>
          </p:nvSpPr>
          <p:spPr bwMode="auto">
            <a:xfrm>
              <a:off x="3360" y="2440"/>
              <a:ext cx="350" cy="131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铣刀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458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94932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380" y="6633845"/>
            <a:ext cx="528320" cy="22415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85340" y="86043"/>
            <a:ext cx="4214813" cy="7413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5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、轴承钢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0" y="1000125"/>
            <a:ext cx="6786563" cy="535781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G+Cr +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铬含量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不标含碳量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)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“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</a:t>
            </a:r>
            <a:r>
              <a:rPr lang="en-US" altLang="zh-CN" b="1" dirty="0">
                <a:ea typeface="华文中宋" panose="02010600040101010101" pitchFamily="2" charset="-122"/>
              </a:rPr>
              <a:t>”</a:t>
            </a:r>
            <a:r>
              <a:rPr lang="zh-CN" altLang="en-US" b="1" dirty="0">
                <a:ea typeface="华文中宋" panose="02010600040101010101" pitchFamily="2" charset="-122"/>
              </a:rPr>
              <a:t>表示“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滚</a:t>
            </a:r>
            <a:r>
              <a:rPr lang="zh-CN" altLang="en-US" b="1" dirty="0">
                <a:ea typeface="华文中宋" panose="02010600040101010101" pitchFamily="2" charset="-122"/>
              </a:rPr>
              <a:t>动轴承钢”。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*  铬</a:t>
            </a:r>
            <a:r>
              <a:rPr lang="zh-CN" altLang="en-US" b="1" dirty="0">
                <a:ea typeface="华文中宋" panose="02010600040101010101" pitchFamily="2" charset="-122"/>
              </a:rPr>
              <a:t>含量以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千分之一</a:t>
            </a:r>
            <a:r>
              <a:rPr lang="zh-CN" altLang="en-US" b="1" dirty="0">
                <a:ea typeface="华文中宋" panose="02010600040101010101" pitchFamily="2" charset="-122"/>
              </a:rPr>
              <a:t>为单位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.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如“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GCr15</a:t>
            </a:r>
            <a:r>
              <a:rPr lang="en-US" altLang="zh-CN" b="1" dirty="0">
                <a:ea typeface="华文中宋" panose="02010600040101010101" pitchFamily="2" charset="-122"/>
              </a:rPr>
              <a:t>”</a:t>
            </a:r>
            <a:r>
              <a:rPr lang="zh-CN" altLang="en-US" b="1" dirty="0">
                <a:ea typeface="华文中宋" panose="02010600040101010101" pitchFamily="2" charset="-122"/>
              </a:rPr>
              <a:t>的平均含铬量为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1.5%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渗碳轴承钢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牌号的表示方法与合金结构钢相同，仅在牌号头部加字母“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”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，如“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G20CrNiMo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”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6808788" y="2133600"/>
            <a:ext cx="2222500" cy="3867150"/>
            <a:chOff x="3312" y="288"/>
            <a:chExt cx="2154" cy="3745"/>
          </a:xfrm>
        </p:grpSpPr>
        <p:pic>
          <p:nvPicPr>
            <p:cNvPr id="25608" name="Picture 6" descr="ROLLING2轴承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12" y="288"/>
              <a:ext cx="2154" cy="1814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5609" name="Picture 7" descr="滚子轴承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2" y="2160"/>
              <a:ext cx="2154" cy="1873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2560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90868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27495"/>
            <a:ext cx="457200" cy="23050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704" y="-200343"/>
            <a:ext cx="58578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6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、不锈钢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和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耐热钢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142875" y="1071563"/>
            <a:ext cx="6643688" cy="53816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牌号：含碳量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 + 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合金元素符号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ea typeface="华文中宋" panose="02010600040101010101" pitchFamily="2" charset="-122"/>
              </a:rPr>
              <a:t>该元素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百分含量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+……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含碳量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千分之一</a:t>
            </a:r>
            <a:r>
              <a:rPr lang="zh-CN" altLang="en-US" b="1" dirty="0">
                <a:ea typeface="华文中宋" panose="02010600040101010101" pitchFamily="2" charset="-122"/>
              </a:rPr>
              <a:t>为单位。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FFD1FF"/>
                </a:solidFill>
              </a:rPr>
              <a:t>含碳量的表示方法为：</a:t>
            </a:r>
            <a:endParaRPr lang="zh-CN" altLang="en-US" b="1" dirty="0">
              <a:solidFill>
                <a:schemeClr val="accent1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accent1"/>
                </a:solidFill>
              </a:rPr>
              <a:t>①</a:t>
            </a:r>
            <a:r>
              <a:rPr lang="zh-CN" altLang="en-US" b="1" dirty="0">
                <a:solidFill>
                  <a:schemeClr val="folHlink"/>
                </a:solidFill>
              </a:rPr>
              <a:t>当平均含碳量≥</a:t>
            </a:r>
            <a:r>
              <a:rPr lang="en-US" altLang="zh-CN" b="1" dirty="0">
                <a:solidFill>
                  <a:schemeClr val="folHlink"/>
                </a:solidFill>
              </a:rPr>
              <a:t>1.00%</a:t>
            </a:r>
            <a:r>
              <a:rPr lang="zh-CN" altLang="en-US" b="1" dirty="0">
                <a:solidFill>
                  <a:schemeClr val="folHlink"/>
                </a:solidFill>
              </a:rPr>
              <a:t>时，</a:t>
            </a:r>
            <a:r>
              <a:rPr lang="zh-CN" altLang="en-US" b="1" dirty="0">
                <a:solidFill>
                  <a:srgbClr val="00FF00"/>
                </a:solidFill>
              </a:rPr>
              <a:t>用两</a:t>
            </a:r>
            <a:r>
              <a:rPr lang="zh-CN" altLang="en-US" b="1" dirty="0">
                <a:solidFill>
                  <a:schemeClr val="folHlink"/>
                </a:solidFill>
              </a:rPr>
              <a:t>位数字</a:t>
            </a:r>
            <a:r>
              <a:rPr lang="zh-CN" altLang="en-US" b="1" dirty="0">
                <a:solidFill>
                  <a:srgbClr val="00FF00"/>
                </a:solidFill>
              </a:rPr>
              <a:t>表示</a:t>
            </a:r>
            <a:r>
              <a:rPr lang="zh-CN" altLang="en-US" b="1" dirty="0">
                <a:solidFill>
                  <a:srgbClr val="D1FFFF"/>
                </a:solidFill>
              </a:rPr>
              <a:t>，如</a:t>
            </a:r>
            <a:r>
              <a:rPr lang="en-US" altLang="zh-CN" b="1" dirty="0">
                <a:solidFill>
                  <a:srgbClr val="D1FFFF"/>
                </a:solidFill>
              </a:rPr>
              <a:t>11Cr17(</a:t>
            </a:r>
            <a:r>
              <a:rPr lang="zh-CN" altLang="en-US" b="1" dirty="0">
                <a:solidFill>
                  <a:srgbClr val="D1FFFF"/>
                </a:solidFill>
              </a:rPr>
              <a:t>平均含碳量为</a:t>
            </a:r>
            <a:r>
              <a:rPr lang="en-US" altLang="zh-CN" b="1" dirty="0">
                <a:solidFill>
                  <a:srgbClr val="D1FFFF"/>
                </a:solidFill>
              </a:rPr>
              <a:t>1.10%)</a:t>
            </a:r>
            <a:r>
              <a:rPr lang="zh-CN" altLang="en-US" b="1" dirty="0">
                <a:solidFill>
                  <a:srgbClr val="D1FFFF"/>
                </a:solidFill>
              </a:rPr>
              <a:t>；</a:t>
            </a:r>
            <a:endParaRPr lang="zh-CN" altLang="en-US" b="1" dirty="0">
              <a:solidFill>
                <a:srgbClr val="D1FFFF"/>
              </a:solidFill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7019925" y="2133600"/>
            <a:ext cx="2027238" cy="3438525"/>
            <a:chOff x="2688" y="1509"/>
            <a:chExt cx="2448" cy="2379"/>
          </a:xfrm>
        </p:grpSpPr>
        <p:pic>
          <p:nvPicPr>
            <p:cNvPr id="26632" name="Picture 6" descr="8_50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88" y="1509"/>
              <a:ext cx="2401" cy="2379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6633" name="Text Box 7"/>
            <p:cNvSpPr txBox="1">
              <a:spLocks noChangeAspect="1"/>
            </p:cNvSpPr>
            <p:nvPr/>
          </p:nvSpPr>
          <p:spPr>
            <a:xfrm>
              <a:off x="4572" y="1824"/>
              <a:ext cx="564" cy="96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涡轮叶片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63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28075" y="6629400"/>
            <a:ext cx="401320" cy="19050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0"/>
            <a:ext cx="71247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6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、不锈钢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和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耐热钢（续）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323850" y="929005"/>
            <a:ext cx="8636000" cy="516699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② 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1.0%&gt;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平均含碳量≥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0.1%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用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一位数字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表示</a:t>
            </a:r>
            <a:r>
              <a:rPr lang="en-US" altLang="zh-CN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如</a:t>
            </a:r>
            <a:r>
              <a:rPr lang="en-US" altLang="zh-CN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2Cr13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（平均含碳量为</a:t>
            </a:r>
            <a:r>
              <a:rPr lang="en-US" altLang="zh-CN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0.20%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）</a:t>
            </a:r>
            <a:endParaRPr lang="zh-CN" altLang="en-US" sz="2400" b="1" dirty="0">
              <a:solidFill>
                <a:srgbClr val="D1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③ 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0.1%&gt;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含碳量上限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&gt; 0.03%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时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sz="2400" b="1" dirty="0">
                <a:solidFill>
                  <a:srgbClr val="00FF00"/>
                </a:solidFill>
                <a:ea typeface="华文中宋" panose="02010600040101010101" pitchFamily="2" charset="-122"/>
              </a:rPr>
              <a:t>以“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</a:t>
            </a:r>
            <a:r>
              <a:rPr lang="en-US" altLang="zh-CN" sz="2400" b="1" dirty="0">
                <a:solidFill>
                  <a:srgbClr val="00FF00"/>
                </a:solidFill>
                <a:ea typeface="华文中宋" panose="02010600040101010101" pitchFamily="2" charset="-122"/>
              </a:rPr>
              <a:t>”</a:t>
            </a:r>
            <a:r>
              <a:rPr lang="zh-CN" altLang="en-US" sz="2400" b="1" dirty="0">
                <a:solidFill>
                  <a:srgbClr val="00FF00"/>
                </a:solidFill>
                <a:ea typeface="华文中宋" panose="02010600040101010101" pitchFamily="2" charset="-122"/>
              </a:rPr>
              <a:t>表示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，如</a:t>
            </a:r>
            <a:r>
              <a:rPr lang="en-US" altLang="zh-CN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0Cr18Ni9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（含碳量上限为</a:t>
            </a:r>
            <a:r>
              <a:rPr lang="en-US" altLang="zh-CN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0.08%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）</a:t>
            </a:r>
            <a:endParaRPr lang="zh-CN" altLang="en-US" sz="2400" b="1" dirty="0">
              <a:solidFill>
                <a:srgbClr val="D1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④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当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0.03%≥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含碳量上限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&gt;0.01%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</a:t>
            </a:r>
            <a:r>
              <a:rPr lang="zh-CN" altLang="en-US" sz="2400" b="1" dirty="0">
                <a:ea typeface="华文中宋" panose="02010600040101010101" pitchFamily="2" charset="-122"/>
              </a:rPr>
              <a:t>（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超低碳</a:t>
            </a:r>
            <a:r>
              <a:rPr lang="zh-CN" altLang="en-US" sz="2400" b="1" dirty="0">
                <a:ea typeface="华文中宋" panose="02010600040101010101" pitchFamily="2" charset="-122"/>
              </a:rPr>
              <a:t>）</a:t>
            </a:r>
            <a:r>
              <a:rPr lang="en-US" altLang="zh-CN" sz="2400" b="1" dirty="0">
                <a:ea typeface="华文中宋" panose="02010600040101010101" pitchFamily="2" charset="-122"/>
              </a:rPr>
              <a:t>, 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以</a:t>
            </a:r>
            <a:r>
              <a:rPr lang="zh-CN" altLang="en-US" sz="2400" b="1" dirty="0">
                <a:solidFill>
                  <a:srgbClr val="00FF00"/>
                </a:solidFill>
                <a:ea typeface="华文中宋" panose="02010600040101010101" pitchFamily="2" charset="-122"/>
              </a:rPr>
              <a:t>“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03</a:t>
            </a:r>
            <a:r>
              <a:rPr lang="en-US" altLang="zh-CN" sz="2400" b="1" dirty="0">
                <a:solidFill>
                  <a:srgbClr val="00FF00"/>
                </a:solidFill>
                <a:ea typeface="华文中宋" panose="02010600040101010101" pitchFamily="2" charset="-122"/>
              </a:rPr>
              <a:t>”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表示，如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03Cr19Ni10</a:t>
            </a:r>
            <a:r>
              <a:rPr lang="en-US" altLang="zh-CN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含碳量上限为</a:t>
            </a:r>
            <a:r>
              <a:rPr lang="en-US" altLang="zh-CN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0.03%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）</a:t>
            </a:r>
            <a:endParaRPr lang="zh-CN" altLang="en-US" sz="2400" b="1" dirty="0">
              <a:solidFill>
                <a:srgbClr val="D1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⑤</a:t>
            </a:r>
            <a:r>
              <a:rPr lang="zh-CN" altLang="en-US" sz="2800" b="1" dirty="0">
                <a:solidFill>
                  <a:schemeClr val="folHlink"/>
                </a:solidFill>
              </a:rPr>
              <a:t> 当含碳量上限≤</a:t>
            </a:r>
            <a:r>
              <a:rPr lang="en-US" altLang="zh-CN" sz="2800" b="1" dirty="0">
                <a:solidFill>
                  <a:schemeClr val="folHlink"/>
                </a:solidFill>
              </a:rPr>
              <a:t>0. 01%</a:t>
            </a:r>
            <a:r>
              <a:rPr lang="zh-CN" altLang="en-US" sz="2800" b="1" dirty="0">
                <a:solidFill>
                  <a:schemeClr val="folHlink"/>
                </a:solidFill>
              </a:rPr>
              <a:t>时</a:t>
            </a:r>
            <a:r>
              <a:rPr lang="en-US" altLang="zh-CN" sz="2800" b="1" dirty="0">
                <a:solidFill>
                  <a:schemeClr val="folHlink"/>
                </a:solidFill>
              </a:rPr>
              <a:t>(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极低碳</a:t>
            </a:r>
            <a:r>
              <a:rPr lang="en-US" altLang="zh-CN" sz="2800" b="1" dirty="0">
                <a:solidFill>
                  <a:schemeClr val="folHlink"/>
                </a:solidFill>
              </a:rPr>
              <a:t>)</a:t>
            </a:r>
            <a:r>
              <a:rPr lang="zh-CN" altLang="en-US" sz="2800" b="1" dirty="0">
                <a:solidFill>
                  <a:schemeClr val="folHlink"/>
                </a:solidFill>
              </a:rPr>
              <a:t>，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以“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01</a:t>
            </a:r>
            <a:r>
              <a:rPr lang="en-US" altLang="zh-CN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”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表示</a:t>
            </a:r>
            <a:r>
              <a:rPr lang="zh-CN" altLang="en-US" sz="2800" b="1" dirty="0">
                <a:solidFill>
                  <a:srgbClr val="D1FFFF"/>
                </a:solidFill>
              </a:rPr>
              <a:t>，如</a:t>
            </a:r>
            <a:r>
              <a:rPr lang="en-US" altLang="zh-CN" sz="2800" b="1" dirty="0">
                <a:solidFill>
                  <a:srgbClr val="D1FFFF"/>
                </a:solidFill>
              </a:rPr>
              <a:t>01Cr19Ni11</a:t>
            </a:r>
            <a:r>
              <a:rPr lang="zh-CN" altLang="en-US" sz="2800" b="1" dirty="0">
                <a:solidFill>
                  <a:srgbClr val="D1FFFF"/>
                </a:solidFill>
              </a:rPr>
              <a:t>（含碳量上限为</a:t>
            </a:r>
            <a:r>
              <a:rPr lang="en-US" altLang="zh-CN" sz="2800" b="1" dirty="0">
                <a:solidFill>
                  <a:srgbClr val="D1FFFF"/>
                </a:solidFill>
              </a:rPr>
              <a:t>0.01%</a:t>
            </a:r>
            <a:r>
              <a:rPr lang="zh-CN" altLang="en-US" sz="2800" b="1" dirty="0">
                <a:solidFill>
                  <a:srgbClr val="D1FFFF"/>
                </a:solidFill>
              </a:rPr>
              <a:t>）。</a:t>
            </a:r>
            <a:endParaRPr lang="zh-CN" altLang="en-US" sz="2800" b="1" dirty="0">
              <a:solidFill>
                <a:srgbClr val="D1FFFF"/>
              </a:solidFill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4198620" y="5358261"/>
            <a:ext cx="3221038" cy="1385439"/>
            <a:chOff x="3120" y="2669"/>
            <a:chExt cx="2292" cy="1473"/>
          </a:xfrm>
        </p:grpSpPr>
        <p:pic>
          <p:nvPicPr>
            <p:cNvPr id="27656" name="Picture 6" descr="35442汽轮机叶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20" y="2669"/>
              <a:ext cx="2292" cy="1473"/>
            </a:xfrm>
            <a:prstGeom prst="rect">
              <a:avLst/>
            </a:prstGeom>
            <a:noFill/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7657" name="Text Box 7"/>
            <p:cNvSpPr txBox="1">
              <a:spLocks noChangeAspect="1"/>
            </p:cNvSpPr>
            <p:nvPr/>
          </p:nvSpPr>
          <p:spPr>
            <a:xfrm>
              <a:off x="3120" y="3752"/>
              <a:ext cx="1056" cy="39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汽轮机叶片</a:t>
              </a:r>
              <a:endPara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65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00813"/>
            <a:ext cx="457200" cy="357187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0"/>
            <a:ext cx="7269480" cy="9144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6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、不锈钢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和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耐热钢（续）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395288" y="1125538"/>
            <a:ext cx="8497887" cy="43307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en-US" altLang="zh-CN" b="1" dirty="0">
                <a:solidFill>
                  <a:schemeClr val="folHlink"/>
                </a:solidFill>
                <a:ea typeface="仿宋_GB2312" pitchFamily="49" charset="-122"/>
              </a:rPr>
              <a:t>* </a:t>
            </a:r>
            <a:r>
              <a:rPr lang="en-US" altLang="zh-CN" b="1" dirty="0">
                <a:solidFill>
                  <a:srgbClr val="D1FFFF"/>
                </a:solidFill>
                <a:ea typeface="仿宋_GB2312" pitchFamily="49" charset="-122"/>
              </a:rPr>
              <a:t> 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珠光体耐热钢含碳量的标注</a:t>
            </a: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同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结构钢。如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15CrMo</a:t>
            </a:r>
            <a:endParaRPr lang="en-US" altLang="zh-CN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注：</a:t>
            </a: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旧标准含碳量表示方法为：</a:t>
            </a:r>
            <a:endParaRPr lang="zh-CN" altLang="en-US" sz="2800" b="1" dirty="0">
              <a:solidFill>
                <a:srgbClr val="FFE1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）当含碳量≤</a:t>
            </a:r>
            <a:r>
              <a:rPr lang="en-US" altLang="zh-CN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0.08%</a:t>
            </a: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时，以“</a:t>
            </a:r>
            <a:r>
              <a:rPr lang="en-US" altLang="zh-CN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0”</a:t>
            </a: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表示，如</a:t>
            </a:r>
            <a:r>
              <a:rPr lang="en-US" altLang="zh-CN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0Cr18.</a:t>
            </a:r>
            <a:endParaRPr lang="en-US" altLang="zh-CN" sz="2800" b="1" dirty="0">
              <a:solidFill>
                <a:srgbClr val="FFE1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）当含碳量≤</a:t>
            </a:r>
            <a:r>
              <a:rPr lang="en-US" altLang="zh-CN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0.03%</a:t>
            </a: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时，以“</a:t>
            </a:r>
            <a:r>
              <a:rPr lang="en-US" altLang="zh-CN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00”</a:t>
            </a: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表示，如</a:t>
            </a:r>
            <a:r>
              <a:rPr lang="en-US" altLang="zh-CN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00Cr18Ni10.</a:t>
            </a:r>
            <a:endParaRPr lang="en-US" altLang="zh-CN" sz="2800" b="1" dirty="0">
              <a:solidFill>
                <a:srgbClr val="FFE1FF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639888" y="4357688"/>
            <a:ext cx="6035675" cy="1668716"/>
            <a:chOff x="906" y="2105"/>
            <a:chExt cx="3802" cy="1507"/>
          </a:xfrm>
        </p:grpSpPr>
        <p:pic>
          <p:nvPicPr>
            <p:cNvPr id="28680" name="Picture 6" descr="不锈钢法兰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06" y="2112"/>
              <a:ext cx="1500" cy="150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8681" name="Picture 7" descr="不锈钢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3" y="2105"/>
              <a:ext cx="2225" cy="1486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8682" name="Text Box 8"/>
            <p:cNvSpPr txBox="1"/>
            <p:nvPr/>
          </p:nvSpPr>
          <p:spPr>
            <a:xfrm>
              <a:off x="939" y="2161"/>
              <a:ext cx="251" cy="138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noAutofit/>
            </a:bodyPr>
            <a:lstStyle/>
            <a:p>
              <a:pPr lvl="0" algn="l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不锈钢法兰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3" name="Text Box 9"/>
            <p:cNvSpPr txBox="1"/>
            <p:nvPr/>
          </p:nvSpPr>
          <p:spPr>
            <a:xfrm>
              <a:off x="2481" y="2307"/>
              <a:ext cx="309" cy="124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不锈钢型材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67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15375" y="6500813"/>
            <a:ext cx="428625" cy="357187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143250" y="116205"/>
            <a:ext cx="3071813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7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、铸钢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179705" y="1043940"/>
            <a:ext cx="8750300" cy="5113338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ea typeface="华文中宋" panose="02010600040101010101" pitchFamily="2" charset="-122"/>
              </a:rPr>
              <a:t>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</a:t>
            </a:r>
            <a:r>
              <a:rPr lang="zh-CN" altLang="en-US" sz="2800" b="1" dirty="0"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主要特征的铸钢牌号：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ZG +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两组数字；其中，第一组数字</a:t>
            </a:r>
            <a:r>
              <a:rPr lang="zh-CN" altLang="en-US" sz="2800" b="1" dirty="0">
                <a:ea typeface="华文中宋" panose="02010600040101010101" pitchFamily="2" charset="-122"/>
              </a:rPr>
              <a:t>表示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最低屈服强度（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Mpa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），第二组数字</a:t>
            </a:r>
            <a:r>
              <a:rPr lang="zh-CN" altLang="en-US" sz="2800" b="1" dirty="0">
                <a:ea typeface="华文中宋" panose="02010600040101010101" pitchFamily="2" charset="-122"/>
              </a:rPr>
              <a:t>表示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最低抗拉强度（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Mpa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），</a:t>
            </a:r>
            <a:r>
              <a:rPr lang="en-US" altLang="zh-CN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ZG200-400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ea typeface="华文中宋" panose="02010600040101010101" pitchFamily="2" charset="-122"/>
              </a:rPr>
              <a:t>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化学成分</a:t>
            </a:r>
            <a:r>
              <a:rPr lang="zh-CN" altLang="en-US" sz="2800" b="1" dirty="0"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主要特征的铸钢：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ZG +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两位数字</a:t>
            </a:r>
            <a:r>
              <a:rPr lang="zh-CN" altLang="en-US" sz="2800" b="1" dirty="0">
                <a:ea typeface="华文中宋" panose="02010600040101010101" pitchFamily="2" charset="-122"/>
              </a:rPr>
              <a:t>（表示平均含碳量的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万分之几）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如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ZG25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；合金铸钢牌号在两位数字后再加</a:t>
            </a:r>
            <a:r>
              <a:rPr lang="zh-CN" altLang="en-US" sz="2800" b="1" dirty="0">
                <a:ea typeface="华文中宋" panose="02010600040101010101" pitchFamily="2" charset="-122"/>
              </a:rPr>
              <a:t>带有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百分含量数字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的元素符号，如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ZG15Cr1Mo1V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ea typeface="华文中宋" panose="02010600040101010101" pitchFamily="2" charset="-122"/>
              </a:rPr>
              <a:t>ZG</a:t>
            </a:r>
            <a:r>
              <a:rPr lang="zh-CN" altLang="en-US" sz="2800" b="1" dirty="0">
                <a:ea typeface="华文中宋" panose="02010600040101010101" pitchFamily="2" charset="-122"/>
              </a:rPr>
              <a:t>表示“铸钢”；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pic>
        <p:nvPicPr>
          <p:cNvPr id="29702" name="Picture 6" descr="p61铸钢件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851593" y="4364673"/>
            <a:ext cx="2376487" cy="1341437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9703" name="Picture 8" descr="5碎煤机叶轮铸件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8426" y="4364673"/>
            <a:ext cx="2327125" cy="1341437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9704" name="Text Box 9"/>
          <p:cNvSpPr txBox="1">
            <a:spLocks noChangeAspect="1"/>
          </p:cNvSpPr>
          <p:nvPr/>
        </p:nvSpPr>
        <p:spPr>
          <a:xfrm>
            <a:off x="7020189" y="5248751"/>
            <a:ext cx="17748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r" eaLnBrk="1" hangingPunct="1"/>
            <a:r>
              <a: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铸钢件</a:t>
            </a:r>
            <a:endParaRPr lang="zh-CN" altLang="en-US" sz="2000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9705" name="Group 10"/>
          <p:cNvGrpSpPr/>
          <p:nvPr/>
        </p:nvGrpSpPr>
        <p:grpSpPr>
          <a:xfrm>
            <a:off x="539907" y="5464175"/>
            <a:ext cx="2896713" cy="963930"/>
            <a:chOff x="-751" y="2338"/>
            <a:chExt cx="3529" cy="1607"/>
          </a:xfrm>
        </p:grpSpPr>
        <p:pic>
          <p:nvPicPr>
            <p:cNvPr id="29707" name="Picture 11" descr="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" y="2338"/>
              <a:ext cx="2298" cy="1607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9708" name="Text Box 12"/>
            <p:cNvSpPr txBox="1"/>
            <p:nvPr/>
          </p:nvSpPr>
          <p:spPr>
            <a:xfrm>
              <a:off x="-751" y="2427"/>
              <a:ext cx="1296" cy="1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noAutofit/>
            </a:bodyPr>
            <a:lstStyle/>
            <a:p>
              <a:pPr lvl="0"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2.5</a:t>
              </a: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吨大齿轮铸件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70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16065"/>
            <a:ext cx="457200" cy="24193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8253413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cs"/>
              </a:rPr>
              <a:t>钢铁及合金牌号统一数字代号体系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685800" y="1214438"/>
            <a:ext cx="7772400" cy="488156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FFFF00"/>
                </a:solidFill>
                <a:ea typeface="华文中宋" panose="02010600040101010101" pitchFamily="2" charset="-122"/>
              </a:rPr>
              <a:t>6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位字母、数字：</a:t>
            </a:r>
            <a:r>
              <a:rPr lang="en-US" altLang="zh-CN" b="1" dirty="0">
                <a:ea typeface="华文中宋" panose="02010600040101010101" pitchFamily="2" charset="-122"/>
              </a:rPr>
              <a:t>GB/T17616-1998/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2013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便于计算机管理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pic>
        <p:nvPicPr>
          <p:cNvPr id="30726" name="Picture 6" descr="《工程材料》6统一数字代号体系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0825" y="2781300"/>
            <a:ext cx="8675688" cy="334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-75565" y="6565265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88945" y="6614729"/>
            <a:ext cx="573832" cy="252264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9650" y="0"/>
            <a:ext cx="8134350" cy="7858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钢铁及合金牌号统一数字代号体系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17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31751" name="Picture 6" descr="《工程材料T6-3统一数字代号体系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69265" y="1164590"/>
            <a:ext cx="7988935" cy="51523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l="24848" t="15210" r="25662" b="34123"/>
          <a:stretch>
            <a:fillRect/>
          </a:stretch>
        </p:blipFill>
        <p:spPr>
          <a:xfrm>
            <a:off x="469900" y="1167765"/>
            <a:ext cx="8472170" cy="5149215"/>
          </a:xfrm>
          <a:prstGeom prst="rect">
            <a:avLst/>
          </a:prstGeom>
        </p:spPr>
      </p:pic>
      <p:sp>
        <p:nvSpPr>
          <p:cNvPr id="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-75565" y="6565265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3747770" y="1556385"/>
            <a:ext cx="186245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ea typeface="华文中宋" panose="02010600040101010101" pitchFamily="2" charset="-122"/>
              </a:rPr>
              <a:t>GB/T17616-</a:t>
            </a:r>
            <a:r>
              <a:rPr lang="en-US" altLang="zh-CN" sz="1600" b="1" dirty="0">
                <a:solidFill>
                  <a:srgbClr val="FF0000"/>
                </a:solidFill>
                <a:ea typeface="华文中宋" panose="02010600040101010101" pitchFamily="2" charset="-122"/>
              </a:rPr>
              <a:t>2013</a:t>
            </a:r>
            <a:endParaRPr lang="zh-CN" altLang="en-US" sz="1600" dirty="0"/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238" y="6597352"/>
            <a:ext cx="385762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-18415" y="2329815"/>
            <a:ext cx="9001125" cy="251396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4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第二节</a:t>
            </a:r>
            <a:r>
              <a:rPr lang="zh-CN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   </a:t>
            </a:r>
            <a:r>
              <a:rPr lang="zh-CN" altLang="en-US" sz="4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钢中的杂质及合金元素</a:t>
            </a:r>
            <a:br>
              <a:rPr lang="en-US" altLang="zh-CN" sz="4800" b="1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Impurities and alloying elements in steels</a:t>
            </a:r>
            <a:endParaRPr lang="en-US" altLang="zh-CN" b="1" i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7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32848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238" y="6589192"/>
            <a:ext cx="385762" cy="26880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1042988" y="188913"/>
            <a:ext cx="8101012" cy="668337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第二节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    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钢中的杂质及合金元素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544" name="Text Box 16"/>
          <p:cNvSpPr txBox="1"/>
          <p:nvPr/>
        </p:nvSpPr>
        <p:spPr>
          <a:xfrm>
            <a:off x="609600" y="1700213"/>
            <a:ext cx="5791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/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一、杂质元素对性能的影响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2546" name="Rectangle 18"/>
          <p:cNvSpPr/>
          <p:nvPr/>
        </p:nvSpPr>
        <p:spPr>
          <a:xfrm>
            <a:off x="223838" y="3083992"/>
            <a:ext cx="8534400" cy="3505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folHlink"/>
                </a:solidFill>
                <a:ea typeface="华文中宋" panose="02010600040101010101" pitchFamily="2" charset="-122"/>
              </a:rPr>
              <a:t>杂质：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钢中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Mn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Si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P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及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氮、氢、氧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等元素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来源：原料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或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脱氧残留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2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ldLvl="0" animBg="1"/>
      <p:bldP spid="22544" grpId="0"/>
      <p:bldP spid="2254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83680"/>
            <a:ext cx="457200" cy="27432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116205"/>
            <a:ext cx="7051675" cy="7397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钢中的杂质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 </a:t>
            </a:r>
            <a:r>
              <a:rPr kumimoji="1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Mn</a:t>
            </a:r>
            <a:endParaRPr kumimoji="1" lang="en-US" altLang="zh-CN" sz="4400" b="1" i="0" u="none" strike="noStrike" kern="0" cap="none" spc="0" normalizeH="0" baseline="0" noProof="0" dirty="0" err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685800" y="1571625"/>
            <a:ext cx="7772400" cy="45243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0.8%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时为杂质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有益元素。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作用：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   ① 强化铁素体；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   ② 消除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硫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的有害作用。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sp>
        <p:nvSpPr>
          <p:cNvPr id="3379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605270"/>
            <a:ext cx="457200" cy="25273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1475740" y="116205"/>
            <a:ext cx="7027545" cy="87312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）钢中的杂质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——</a:t>
            </a:r>
            <a:r>
              <a:rPr lang="en-US" altLang="zh-CN" b="1" dirty="0">
                <a:solidFill>
                  <a:srgbClr val="FF0000"/>
                </a:solidFill>
              </a:rPr>
              <a:t>Si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</a:t>
            </a:r>
            <a:r>
              <a:rPr lang="en-US" altLang="zh-CN" b="1" dirty="0">
                <a:solidFill>
                  <a:schemeClr val="folHlink"/>
                </a:solidFill>
              </a:rPr>
              <a:t>0.5%</a:t>
            </a:r>
            <a:r>
              <a:rPr lang="zh-CN" altLang="en-US" b="1" dirty="0">
                <a:solidFill>
                  <a:schemeClr val="folHlink"/>
                </a:solidFill>
              </a:rPr>
              <a:t>时为杂质，是</a:t>
            </a:r>
            <a:r>
              <a:rPr lang="zh-CN" altLang="en-US" b="1" dirty="0">
                <a:solidFill>
                  <a:srgbClr val="FF0000"/>
                </a:solidFill>
              </a:rPr>
              <a:t>有益</a:t>
            </a:r>
            <a:r>
              <a:rPr lang="zh-CN" altLang="en-US" b="1" dirty="0">
                <a:solidFill>
                  <a:schemeClr val="folHlink"/>
                </a:solidFill>
              </a:rPr>
              <a:t>元素。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作用为：</a:t>
            </a:r>
            <a:endParaRPr lang="zh-CN" altLang="en-US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 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① 强化  铁素体； 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   ② 增加  钢液流动性。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sp>
        <p:nvSpPr>
          <p:cNvPr id="3482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27495"/>
            <a:ext cx="457200" cy="23050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0"/>
            <a:ext cx="6837363" cy="7858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钢中的杂质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S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395288" y="981075"/>
            <a:ext cx="8062912" cy="51149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D1FFFF"/>
                </a:solidFill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有害元素，热脆。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常以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FeS</a:t>
            </a:r>
            <a:r>
              <a:rPr lang="zh-CN" altLang="en-US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形式存在</a:t>
            </a:r>
            <a:r>
              <a:rPr lang="zh-CN" altLang="en-US" sz="2400" b="1" dirty="0">
                <a:solidFill>
                  <a:srgbClr val="D1FFFF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易与</a:t>
            </a:r>
            <a:r>
              <a:rPr lang="en-US" altLang="zh-CN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Fe</a:t>
            </a:r>
            <a:r>
              <a:rPr lang="zh-CN" altLang="en-US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在晶界上形成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低熔点共晶</a:t>
            </a:r>
            <a:r>
              <a:rPr lang="en-US" altLang="zh-CN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(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985℃</a:t>
            </a:r>
            <a:r>
              <a:rPr lang="en-US" altLang="zh-CN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，热加工时</a:t>
            </a:r>
            <a:r>
              <a:rPr lang="en-US" altLang="zh-CN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(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1150~1200℃</a:t>
            </a:r>
            <a:r>
              <a:rPr lang="en-US" altLang="zh-CN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，由于其熔化而导致开裂，称</a:t>
            </a:r>
            <a:r>
              <a:rPr lang="en-US" altLang="zh-CN" sz="2800" b="1" dirty="0">
                <a:solidFill>
                  <a:srgbClr val="D1FFFF"/>
                </a:solidFill>
                <a:ea typeface="华文中宋" panose="02010600040101010101" pitchFamily="2" charset="-122"/>
              </a:rPr>
              <a:t>  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热脆性。</a:t>
            </a:r>
            <a:endParaRPr lang="en-US" altLang="zh-CN" sz="2800" b="1" dirty="0">
              <a:solidFill>
                <a:srgbClr val="D1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钢中的硫应控制在</a:t>
            </a:r>
            <a:r>
              <a:rPr lang="en-US" altLang="zh-CN" sz="2800" b="1" dirty="0">
                <a:ea typeface="华文中宋" panose="02010600040101010101" pitchFamily="2" charset="-122"/>
              </a:rPr>
              <a:t>0.045%</a:t>
            </a:r>
            <a:r>
              <a:rPr lang="zh-CN" altLang="en-US" sz="2800" b="1" dirty="0">
                <a:ea typeface="华文中宋" panose="02010600040101010101" pitchFamily="2" charset="-122"/>
              </a:rPr>
              <a:t>以下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sz="2800" b="1" dirty="0">
                <a:ea typeface="华文中宋" panose="02010600040101010101" pitchFamily="2" charset="-122"/>
              </a:rPr>
              <a:t>可消除硫的有害作用：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FeS + Mn → Fe + MnS</a:t>
            </a:r>
            <a:r>
              <a:rPr lang="zh-CN" altLang="en-US" sz="2800" b="1" dirty="0">
                <a:ea typeface="华文中宋" panose="02010600040101010101" pitchFamily="2" charset="-122"/>
              </a:rPr>
              <a:t>，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MnS</a:t>
            </a:r>
            <a:r>
              <a:rPr lang="zh-CN" altLang="en-US" sz="2800" b="1" dirty="0">
                <a:ea typeface="华文中宋" panose="02010600040101010101" pitchFamily="2" charset="-122"/>
              </a:rPr>
              <a:t>熔点高</a:t>
            </a:r>
            <a:r>
              <a:rPr lang="en-US" altLang="zh-CN" sz="2800" b="1" dirty="0">
                <a:ea typeface="华文中宋" panose="02010600040101010101" pitchFamily="2" charset="-122"/>
              </a:rPr>
              <a:t>(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1600℃</a:t>
            </a:r>
            <a:r>
              <a:rPr lang="en-US" altLang="zh-CN" sz="2800" b="1" dirty="0"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pic>
        <p:nvPicPr>
          <p:cNvPr id="35845" name="Picture 5" descr="20-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220335" y="4149090"/>
            <a:ext cx="1826260" cy="1661160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5846" name="Text Box 6"/>
          <p:cNvSpPr txBox="1">
            <a:spLocks noChangeAspect="1"/>
          </p:cNvSpPr>
          <p:nvPr/>
        </p:nvSpPr>
        <p:spPr>
          <a:xfrm>
            <a:off x="5292090" y="5229225"/>
            <a:ext cx="173863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 eaLnBrk="1" hangingPunct="1"/>
            <a:r>
              <a:rPr lang="zh-CN" altLang="en-US" sz="16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合金晶界的低熔点硫化物共晶</a:t>
            </a:r>
            <a:endParaRPr lang="zh-CN" altLang="en-US" sz="1600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5848" name="Picture 9" descr="Mn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96125" y="3121660"/>
            <a:ext cx="1840230" cy="1844675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5849" name="Text Box 10"/>
          <p:cNvSpPr txBox="1">
            <a:spLocks noChangeAspect="1"/>
          </p:cNvSpPr>
          <p:nvPr/>
        </p:nvSpPr>
        <p:spPr>
          <a:xfrm>
            <a:off x="6948170" y="3141663"/>
            <a:ext cx="1871663" cy="3667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钢中的</a:t>
            </a:r>
            <a:r>
              <a:rPr lang="en-US" altLang="zh-CN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MnS</a:t>
            </a:r>
            <a:r>
              <a:rPr lang="zh-CN" altLang="en-US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夹杂</a:t>
            </a:r>
            <a:endParaRPr lang="zh-CN" altLang="en-US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5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4068445" y="2924810"/>
            <a:ext cx="133032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热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脆性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68080" y="6666865"/>
            <a:ext cx="401320" cy="19113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0"/>
            <a:ext cx="6335713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钢中的杂质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P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467544" y="1281712"/>
            <a:ext cx="5654675" cy="502761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有害元素，冷脆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能全部溶入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铁素体</a:t>
            </a:r>
            <a:r>
              <a:rPr lang="zh-CN" altLang="en-US" b="1" dirty="0">
                <a:ea typeface="华文中宋" panose="02010600040101010101" pitchFamily="2" charset="-122"/>
              </a:rPr>
              <a:t>中，使钢在常温下硬度提高，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塑性、韧性急剧下降</a:t>
            </a:r>
            <a:r>
              <a:rPr lang="zh-CN" altLang="en-US" b="1" dirty="0">
                <a:ea typeface="华文中宋" panose="02010600040101010101" pitchFamily="2" charset="-122"/>
              </a:rPr>
              <a:t>，称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冷脆性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</a:t>
            </a:r>
            <a:r>
              <a:rPr lang="zh-CN" altLang="en-US" b="1" dirty="0">
                <a:ea typeface="华文中宋" panose="02010600040101010101" pitchFamily="2" charset="-122"/>
              </a:rPr>
              <a:t>一般控制在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0.045%</a:t>
            </a:r>
            <a:r>
              <a:rPr lang="zh-CN" altLang="en-US" b="1" dirty="0">
                <a:ea typeface="华文中宋" panose="02010600040101010101" pitchFamily="2" charset="-122"/>
              </a:rPr>
              <a:t>以下。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pic>
        <p:nvPicPr>
          <p:cNvPr id="36870" name="Picture 11" descr="比利时阿尔伯特运河桥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659563" y="2133600"/>
            <a:ext cx="2108200" cy="2235200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6871" name="Text Box 12"/>
          <p:cNvSpPr txBox="1">
            <a:spLocks noChangeAspect="1"/>
          </p:cNvSpPr>
          <p:nvPr/>
        </p:nvSpPr>
        <p:spPr>
          <a:xfrm>
            <a:off x="6659563" y="4652963"/>
            <a:ext cx="2133600" cy="1069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/>
            <a:r>
              <a:rPr lang="zh-CN" altLang="en-US" sz="16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比利时阿尔伯特运河钢桥因磷高产生冷脆性于</a:t>
            </a:r>
            <a:r>
              <a:rPr lang="en-US" altLang="zh-CN" sz="16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1938</a:t>
            </a:r>
            <a:r>
              <a:rPr lang="zh-CN" altLang="en-US" sz="16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年冬发生断裂坠入河中 </a:t>
            </a:r>
            <a:endParaRPr lang="zh-CN" altLang="en-US" sz="16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4211955" y="4173220"/>
            <a:ext cx="133032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冷脆性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1875" y="6595745"/>
            <a:ext cx="498475" cy="26225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672" y="-33672"/>
            <a:ext cx="640893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5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）气体元素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——① N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140829" y="1300163"/>
            <a:ext cx="5545137" cy="5214937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 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室温下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</a:t>
            </a:r>
            <a:r>
              <a:rPr lang="zh-CN" altLang="en-US" b="1" dirty="0">
                <a:ea typeface="华文中宋" panose="02010600040101010101" pitchFamily="2" charset="-122"/>
              </a:rPr>
              <a:t>在铁素体中溶解度很低，钢中过饱和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</a:t>
            </a:r>
            <a:r>
              <a:rPr lang="zh-CN" altLang="en-US" b="1" dirty="0">
                <a:ea typeface="华文中宋" panose="02010600040101010101" pitchFamily="2" charset="-122"/>
              </a:rPr>
              <a:t>在常温放置过程中以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</a:t>
            </a:r>
            <a:r>
              <a:rPr lang="zh-CN" altLang="en-US" b="1" dirty="0">
                <a:ea typeface="华文中宋" panose="02010600040101010101" pitchFamily="2" charset="-122"/>
              </a:rPr>
              <a:t>形式析出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使钢变脆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时效脆化。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加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等元素可使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固定，消除时效倾向。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37896" name="Group 5"/>
          <p:cNvGrpSpPr>
            <a:grpSpLocks noChangeAspect="1"/>
          </p:cNvGrpSpPr>
          <p:nvPr/>
        </p:nvGrpSpPr>
        <p:grpSpPr>
          <a:xfrm>
            <a:off x="5826795" y="1556792"/>
            <a:ext cx="3171421" cy="2704071"/>
            <a:chOff x="3516" y="439"/>
            <a:chExt cx="2040" cy="1744"/>
          </a:xfrm>
        </p:grpSpPr>
        <p:pic>
          <p:nvPicPr>
            <p:cNvPr id="37900" name="Picture 6" descr="钢中的TiN夹杂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16" y="439"/>
              <a:ext cx="2040" cy="174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7901" name="Text Box 7"/>
            <p:cNvSpPr txBox="1">
              <a:spLocks noChangeAspect="1"/>
            </p:cNvSpPr>
            <p:nvPr/>
          </p:nvSpPr>
          <p:spPr>
            <a:xfrm>
              <a:off x="3516" y="1596"/>
              <a:ext cx="1056" cy="25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solidFill>
                    <a:srgbClr val="00206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钢中</a:t>
              </a:r>
              <a:r>
                <a:rPr lang="en-US" altLang="zh-CN" sz="2000" dirty="0">
                  <a:solidFill>
                    <a:srgbClr val="00206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TiN</a:t>
              </a:r>
              <a:r>
                <a:rPr lang="zh-CN" altLang="en-US" sz="2000" dirty="0">
                  <a:solidFill>
                    <a:srgbClr val="00206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夹杂</a:t>
              </a:r>
              <a:endPara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89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467995" y="3284855"/>
            <a:ext cx="173037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时效脆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化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1875" y="6595745"/>
            <a:ext cx="498475" cy="26225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672" y="-33672"/>
            <a:ext cx="640893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5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）气体元素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② 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O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179512" y="2016107"/>
            <a:ext cx="5545137" cy="321634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氧在钢</a:t>
            </a:r>
            <a:r>
              <a:rPr lang="zh-CN" altLang="en-US" b="1" dirty="0">
                <a:ea typeface="华文中宋" panose="02010600040101010101" pitchFamily="2" charset="-122"/>
              </a:rPr>
              <a:t>中以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氧化物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形式存在，其与基体结合力弱，不易变形，</a:t>
            </a:r>
            <a:r>
              <a:rPr lang="zh-CN" altLang="en-US" b="1" dirty="0">
                <a:ea typeface="华文中宋" panose="02010600040101010101" pitchFamily="2" charset="-122"/>
              </a:rPr>
              <a:t>易成为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疲劳裂纹源。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37897" name="Group 8"/>
          <p:cNvGrpSpPr>
            <a:grpSpLocks noChangeAspect="1"/>
          </p:cNvGrpSpPr>
          <p:nvPr/>
        </p:nvGrpSpPr>
        <p:grpSpPr>
          <a:xfrm>
            <a:off x="5774413" y="2016494"/>
            <a:ext cx="2715918" cy="2328851"/>
            <a:chOff x="3540" y="2198"/>
            <a:chExt cx="1747" cy="1502"/>
          </a:xfrm>
        </p:grpSpPr>
        <p:pic>
          <p:nvPicPr>
            <p:cNvPr id="37898" name="Picture 9" descr="钢中的氧化物夹杂2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40" y="2198"/>
              <a:ext cx="1747" cy="150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7899" name="Text Box 10"/>
            <p:cNvSpPr txBox="1">
              <a:spLocks noChangeAspect="1"/>
            </p:cNvSpPr>
            <p:nvPr/>
          </p:nvSpPr>
          <p:spPr>
            <a:xfrm>
              <a:off x="3617" y="3428"/>
              <a:ext cx="1391" cy="25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钢中氧化物夹杂</a:t>
              </a:r>
              <a:endParaRPr lang="zh-CN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89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9825" y="6573520"/>
            <a:ext cx="390525" cy="28448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419888" y="0"/>
            <a:ext cx="6552727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5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）气体元素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—— 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③ H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>
          <a:xfrm>
            <a:off x="323850" y="908685"/>
            <a:ext cx="8569325" cy="524764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常温下氢在钢中的溶解度也很低。当氢在钢中以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原子态</a:t>
            </a:r>
            <a:r>
              <a:rPr lang="zh-CN" altLang="en-US" b="1" dirty="0">
                <a:ea typeface="华文中宋" panose="02010600040101010101" pitchFamily="2" charset="-122"/>
              </a:rPr>
              <a:t>溶解时，降低韧性，引起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氢脆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当氢</a:t>
            </a:r>
            <a:r>
              <a:rPr lang="zh-CN" altLang="en-US" b="1" dirty="0">
                <a:ea typeface="华文中宋" panose="02010600040101010101" pitchFamily="2" charset="-122"/>
              </a:rPr>
              <a:t>在缺陷处以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分子态</a:t>
            </a:r>
            <a:r>
              <a:rPr lang="zh-CN" altLang="en-US" b="1" dirty="0">
                <a:ea typeface="华文中宋" panose="02010600040101010101" pitchFamily="2" charset="-122"/>
              </a:rPr>
              <a:t>析出时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会产生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很高内压，</a:t>
            </a:r>
            <a:r>
              <a:rPr lang="zh-CN" altLang="en-US" b="1" dirty="0">
                <a:ea typeface="华文中宋" panose="02010600040101010101" pitchFamily="2" charset="-122"/>
              </a:rPr>
              <a:t>形成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微裂纹，其内壁为白色，</a:t>
            </a:r>
            <a:r>
              <a:rPr lang="zh-CN" altLang="en-US" b="1" dirty="0">
                <a:ea typeface="华文中宋" panose="02010600040101010101" pitchFamily="2" charset="-122"/>
              </a:rPr>
              <a:t>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白点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发裂。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2729865" y="3917950"/>
            <a:ext cx="4836160" cy="1892935"/>
            <a:chOff x="835" y="2394"/>
            <a:chExt cx="4230" cy="1655"/>
          </a:xfrm>
        </p:grpSpPr>
        <p:pic>
          <p:nvPicPr>
            <p:cNvPr id="38920" name="Picture 5" descr="钢中的白点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5" y="2394"/>
              <a:ext cx="1661" cy="1655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23238" name="Text Box 6"/>
            <p:cNvSpPr txBox="1">
              <a:spLocks noChangeAspect="1" noChangeArrowheads="1"/>
            </p:cNvSpPr>
            <p:nvPr/>
          </p:nvSpPr>
          <p:spPr bwMode="auto">
            <a:xfrm>
              <a:off x="1364" y="2405"/>
              <a:ext cx="1132" cy="34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钢中白点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38922" name="Picture 7" descr="氢脆断口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7" y="2394"/>
              <a:ext cx="2168" cy="1625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23240" name="Text Box 8"/>
            <p:cNvSpPr txBox="1">
              <a:spLocks noChangeAspect="1" noChangeArrowheads="1"/>
            </p:cNvSpPr>
            <p:nvPr/>
          </p:nvSpPr>
          <p:spPr bwMode="auto">
            <a:xfrm>
              <a:off x="3365" y="2394"/>
              <a:ext cx="1509" cy="349"/>
            </a:xfrm>
            <a:prstGeom prst="rect">
              <a:avLst/>
            </a:prstGeom>
            <a:solidFill>
              <a:srgbClr val="800000">
                <a:alpha val="50000"/>
              </a:srgbClr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钢的氢脆断口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1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79870"/>
            <a:ext cx="457200" cy="27813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xfrm>
            <a:off x="900113" y="0"/>
            <a:ext cx="7772400" cy="11430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二、合金元素在钢中的作用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xfrm>
            <a:off x="685800" y="1484313"/>
            <a:ext cx="7772400" cy="4897437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对钢中基本相的影响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对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Fe - Fe</a:t>
            </a:r>
            <a:r>
              <a:rPr lang="en-US" altLang="zh-CN" b="1" baseline="-30000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相图的影响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对钢中相变过程的影响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3994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555" y="6662420"/>
            <a:ext cx="385445" cy="19558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2275" y="0"/>
            <a:ext cx="6764338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㈠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对钢中基本相的影响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428625" y="1214438"/>
            <a:ext cx="8029575" cy="488156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、溶于铁素体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固溶强化</a:t>
            </a:r>
            <a:r>
              <a:rPr lang="zh-CN" altLang="en-US" b="1" dirty="0">
                <a:ea typeface="华文中宋" panose="02010600040101010101" pitchFamily="2" charset="-122"/>
              </a:rPr>
              <a:t>作用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非碳化物形成元素</a:t>
            </a:r>
            <a:r>
              <a:rPr lang="zh-CN" altLang="en-US" sz="2800" b="1" dirty="0">
                <a:ea typeface="华文中宋" panose="02010600040101010101" pitchFamily="2" charset="-122"/>
              </a:rPr>
              <a:t>及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过剩的碳化物形成元素都溶于铁素体，</a:t>
            </a:r>
            <a:r>
              <a:rPr lang="zh-CN" altLang="en-US" sz="2800" b="1" dirty="0">
                <a:ea typeface="华文中宋" panose="02010600040101010101" pitchFamily="2" charset="-122"/>
              </a:rPr>
              <a:t>形成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合金铁素体。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sz="2800" b="1" dirty="0">
                <a:ea typeface="华文中宋" panose="02010600040101010101" pitchFamily="2" charset="-122"/>
              </a:rPr>
              <a:t>对强度、硬度提高显著。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sz="2800" b="1" dirty="0">
                <a:ea typeface="华文中宋" panose="02010600040101010101" pitchFamily="2" charset="-122"/>
              </a:rPr>
              <a:t>在适当范围内提高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韧性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pic>
        <p:nvPicPr>
          <p:cNvPr id="40965" name="Picture 4" descr="《工程材料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060065" y="4220845"/>
            <a:ext cx="1991995" cy="192849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5"/>
          <p:cNvGrpSpPr/>
          <p:nvPr/>
        </p:nvGrpSpPr>
        <p:grpSpPr>
          <a:xfrm>
            <a:off x="5291773" y="4129088"/>
            <a:ext cx="3649662" cy="2155825"/>
            <a:chOff x="3168" y="2572"/>
            <a:chExt cx="2299" cy="1358"/>
          </a:xfrm>
        </p:grpSpPr>
        <p:pic>
          <p:nvPicPr>
            <p:cNvPr id="40969" name="Picture 6" descr="未命名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" y="2572"/>
              <a:ext cx="2299" cy="132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0970" name="Text Box 7"/>
            <p:cNvSpPr txBox="1">
              <a:spLocks noChangeAspect="1"/>
            </p:cNvSpPr>
            <p:nvPr/>
          </p:nvSpPr>
          <p:spPr>
            <a:xfrm>
              <a:off x="3168" y="3718"/>
              <a:ext cx="144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对铁素体冲击韧性影响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96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638290"/>
            <a:ext cx="457200" cy="2197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0"/>
            <a:ext cx="792162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、形成碳化物，起强化相作用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179388" y="1428750"/>
            <a:ext cx="8785225" cy="44577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合金元素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与碳的亲和力</a:t>
            </a:r>
            <a:r>
              <a:rPr lang="zh-CN" altLang="en-US" b="1" dirty="0">
                <a:ea typeface="华文中宋" panose="02010600040101010101" pitchFamily="2" charset="-122"/>
              </a:rPr>
              <a:t>从大到小的顺序为：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Nb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⑴ </a:t>
            </a:r>
            <a:r>
              <a:rPr lang="zh-CN" altLang="en-US" b="1" dirty="0">
                <a:solidFill>
                  <a:schemeClr val="folHlink"/>
                </a:solidFill>
              </a:rPr>
              <a:t> </a:t>
            </a:r>
            <a:r>
              <a:rPr lang="en-US" altLang="zh-CN" b="1" dirty="0">
                <a:solidFill>
                  <a:srgbClr val="CCFF33"/>
                </a:solidFill>
              </a:rPr>
              <a:t>Ti</a:t>
            </a:r>
            <a:r>
              <a:rPr lang="zh-CN" altLang="en-US" b="1" dirty="0">
                <a:solidFill>
                  <a:srgbClr val="CCFF33"/>
                </a:solidFill>
              </a:rPr>
              <a:t>、</a:t>
            </a:r>
            <a:r>
              <a:rPr lang="en-US" altLang="zh-CN" b="1" dirty="0">
                <a:solidFill>
                  <a:srgbClr val="CCFF33"/>
                </a:solidFill>
              </a:rPr>
              <a:t>Nb</a:t>
            </a:r>
            <a:r>
              <a:rPr lang="zh-CN" altLang="en-US" b="1" dirty="0">
                <a:solidFill>
                  <a:srgbClr val="CCFF33"/>
                </a:solidFill>
              </a:rPr>
              <a:t>、</a:t>
            </a:r>
            <a:r>
              <a:rPr lang="en-US" altLang="zh-CN" b="1" dirty="0">
                <a:solidFill>
                  <a:srgbClr val="CCFF33"/>
                </a:solidFill>
              </a:rPr>
              <a:t>V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FF0000"/>
                </a:solidFill>
              </a:rPr>
              <a:t>强</a:t>
            </a:r>
            <a:r>
              <a:rPr lang="zh-CN" altLang="en-US" b="1" dirty="0">
                <a:solidFill>
                  <a:schemeClr val="folHlink"/>
                </a:solidFill>
              </a:rPr>
              <a:t>碳化物形成元素，碳化物的稳定性、熔点、硬度、耐磨性高，如</a:t>
            </a:r>
            <a:r>
              <a:rPr lang="en-US" altLang="zh-CN" b="1" dirty="0">
                <a:solidFill>
                  <a:srgbClr val="CCFF33"/>
                </a:solidFill>
              </a:rPr>
              <a:t>TiC</a:t>
            </a:r>
            <a:r>
              <a:rPr lang="zh-CN" altLang="en-US" b="1" dirty="0">
                <a:solidFill>
                  <a:srgbClr val="CCFF33"/>
                </a:solidFill>
              </a:rPr>
              <a:t>、</a:t>
            </a:r>
            <a:r>
              <a:rPr lang="en-US" altLang="zh-CN" b="1" dirty="0">
                <a:solidFill>
                  <a:srgbClr val="CCFF33"/>
                </a:solidFill>
              </a:rPr>
              <a:t>VC</a:t>
            </a:r>
            <a:r>
              <a:rPr lang="zh-CN" altLang="en-US" b="1" dirty="0">
                <a:solidFill>
                  <a:schemeClr val="folHlink"/>
                </a:solidFill>
              </a:rPr>
              <a:t>等。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41990" name="Group 8"/>
          <p:cNvGrpSpPr/>
          <p:nvPr/>
        </p:nvGrpSpPr>
        <p:grpSpPr>
          <a:xfrm>
            <a:off x="5718176" y="4357688"/>
            <a:ext cx="2103438" cy="1600200"/>
            <a:chOff x="3016" y="2568"/>
            <a:chExt cx="1325" cy="1008"/>
          </a:xfrm>
        </p:grpSpPr>
        <p:pic>
          <p:nvPicPr>
            <p:cNvPr id="41992" name="Picture 6" descr="8_07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77" y="2568"/>
              <a:ext cx="1164" cy="1008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77511" name="Text Box 7"/>
            <p:cNvSpPr txBox="1">
              <a:spLocks noChangeAspect="1" noChangeArrowheads="1"/>
            </p:cNvSpPr>
            <p:nvPr/>
          </p:nvSpPr>
          <p:spPr bwMode="auto">
            <a:xfrm>
              <a:off x="3016" y="2568"/>
              <a:ext cx="1222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钢中碳化物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99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63055"/>
            <a:ext cx="457200" cy="19494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12"/>
          <p:cNvGrpSpPr>
            <a:grpSpLocks noChangeAspect="1"/>
          </p:cNvGrpSpPr>
          <p:nvPr/>
        </p:nvGrpSpPr>
        <p:grpSpPr>
          <a:xfrm>
            <a:off x="1714500" y="3929063"/>
            <a:ext cx="6883400" cy="2733675"/>
            <a:chOff x="384" y="1968"/>
            <a:chExt cx="5137" cy="2041"/>
          </a:xfrm>
        </p:grpSpPr>
        <p:pic>
          <p:nvPicPr>
            <p:cNvPr id="43015" name="Picture 4" descr="2c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4" y="1968"/>
              <a:ext cx="2632" cy="2041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43016" name="Picture 5" descr="pearlite过共析钢组织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0" y="1968"/>
              <a:ext cx="2401" cy="2041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52233" name="Rectangle 9"/>
          <p:cNvSpPr>
            <a:spLocks noGrp="1"/>
          </p:cNvSpPr>
          <p:nvPr>
            <p:ph idx="1"/>
          </p:nvPr>
        </p:nvSpPr>
        <p:spPr>
          <a:xfrm>
            <a:off x="533400" y="404813"/>
            <a:ext cx="8610600" cy="34528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中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碳化物形成元素，碳化物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稳定性、熔点、硬度、耐磨性较高，如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等。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⑶</a:t>
            </a:r>
            <a:r>
              <a:rPr lang="zh-CN" altLang="en-US" b="1" dirty="0">
                <a:ea typeface="华文中宋" panose="02010600040101010101" pitchFamily="2" charset="-122"/>
              </a:rPr>
              <a:t>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弱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碳化物形成元素</a:t>
            </a:r>
            <a:r>
              <a:rPr lang="zh-CN" altLang="en-US" b="1" dirty="0">
                <a:ea typeface="华文中宋" panose="02010600040101010101" pitchFamily="2" charset="-122"/>
              </a:rPr>
              <a:t>，碳化物的稳定性、熔点、硬度、耐磨性较低，如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sp>
        <p:nvSpPr>
          <p:cNvPr id="4301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3" grpId="0" advAuto="100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40195"/>
            <a:ext cx="457200" cy="21780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㈡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对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Fe - Fe</a:t>
            </a:r>
            <a:r>
              <a:rPr kumimoji="1" lang="en-US" altLang="zh-CN" sz="4400" b="1" i="0" u="none" strike="noStrike" kern="0" cap="none" spc="0" normalizeH="0" baseline="-3000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相图的影响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685800" y="1844675"/>
            <a:ext cx="7772400" cy="42513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、对奥氏体相区的影响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、对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E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点和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点位置的影响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4403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238" y="6510338"/>
            <a:ext cx="385762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116205"/>
            <a:ext cx="6477000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、对奥氏体相区的影响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0" y="1125538"/>
            <a:ext cx="5219700" cy="52562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Co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N </a:t>
            </a:r>
            <a:r>
              <a:rPr lang="zh-CN" altLang="en-US" b="1" dirty="0"/>
              <a:t>等：</a:t>
            </a:r>
            <a:r>
              <a:rPr lang="zh-CN" altLang="en-US" b="1" dirty="0">
                <a:solidFill>
                  <a:schemeClr val="folHlink"/>
                </a:solidFill>
              </a:rPr>
              <a:t>扩大奥氏体相区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，使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点下降，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点上升。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/>
              <a:t>当</a:t>
            </a:r>
            <a:r>
              <a:rPr lang="en-US" altLang="zh-CN" b="1" dirty="0">
                <a:solidFill>
                  <a:schemeClr val="folHlink"/>
                </a:solidFill>
              </a:rPr>
              <a:t>Mn</a:t>
            </a: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</a:t>
            </a:r>
            <a:r>
              <a:rPr lang="en-US" altLang="zh-CN" b="1" dirty="0">
                <a:solidFill>
                  <a:schemeClr val="folHlink"/>
                </a:solidFill>
              </a:rPr>
              <a:t>13%</a:t>
            </a:r>
            <a:r>
              <a:rPr lang="zh-CN" altLang="en-US" b="1" dirty="0"/>
              <a:t>或</a:t>
            </a:r>
            <a:r>
              <a:rPr lang="en-US" altLang="zh-CN" b="1" dirty="0">
                <a:solidFill>
                  <a:schemeClr val="folHlink"/>
                </a:solidFill>
              </a:rPr>
              <a:t>Ni</a:t>
            </a: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</a:t>
            </a:r>
            <a:r>
              <a:rPr lang="en-US" altLang="zh-CN" b="1" dirty="0">
                <a:solidFill>
                  <a:schemeClr val="folHlink"/>
                </a:solidFill>
              </a:rPr>
              <a:t>9%</a:t>
            </a:r>
            <a:r>
              <a:rPr lang="zh-CN" altLang="en-US" b="1" dirty="0"/>
              <a:t>时，</a:t>
            </a:r>
            <a:r>
              <a:rPr lang="en-US" altLang="zh-CN" b="1" dirty="0">
                <a:solidFill>
                  <a:schemeClr val="folHlink"/>
                </a:solidFill>
              </a:rPr>
              <a:t>S</a:t>
            </a:r>
            <a:r>
              <a:rPr lang="zh-CN" altLang="en-US" b="1" dirty="0"/>
              <a:t>点降到</a:t>
            </a:r>
            <a:r>
              <a:rPr lang="en-US" altLang="zh-CN" b="1" dirty="0">
                <a:solidFill>
                  <a:schemeClr val="folHlink"/>
                </a:solidFill>
              </a:rPr>
              <a:t>0℃</a:t>
            </a:r>
            <a:r>
              <a:rPr lang="zh-CN" altLang="en-US" b="1" dirty="0"/>
              <a:t>以下，室温下为单相奥氏体组织，称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奥氏体钢。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286375" y="2071688"/>
            <a:ext cx="3703638" cy="4196014"/>
            <a:chOff x="2584" y="487"/>
            <a:chExt cx="2592" cy="2790"/>
          </a:xfrm>
        </p:grpSpPr>
        <p:pic>
          <p:nvPicPr>
            <p:cNvPr id="45066" name="Picture 5" descr="Mn对Fe-C相图的影响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84" y="487"/>
              <a:ext cx="2592" cy="247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5067" name="Text Box 6"/>
            <p:cNvSpPr txBox="1">
              <a:spLocks noChangeAspect="1"/>
            </p:cNvSpPr>
            <p:nvPr/>
          </p:nvSpPr>
          <p:spPr>
            <a:xfrm>
              <a:off x="2689" y="2970"/>
              <a:ext cx="237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kumimoji="1" lang="zh-CN" altLang="en-US" sz="2400" dirty="0">
                  <a:solidFill>
                    <a:schemeClr val="folHlink"/>
                  </a:solidFill>
                  <a:latin typeface="+mn-lt"/>
                  <a:ea typeface="华文中宋" panose="02010600040101010101" pitchFamily="2" charset="-122"/>
                  <a:cs typeface="+mn-cs"/>
                </a:rPr>
                <a:t>锰对奥氏体相区的影响</a:t>
              </a:r>
              <a:endParaRPr kumimoji="1" lang="zh-CN" altLang="en-US" sz="240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endParaRPr>
            </a:p>
          </p:txBody>
        </p:sp>
      </p:grpSp>
      <p:sp>
        <p:nvSpPr>
          <p:cNvPr id="45063" name="Text Box 8"/>
          <p:cNvSpPr txBox="1"/>
          <p:nvPr/>
        </p:nvSpPr>
        <p:spPr>
          <a:xfrm>
            <a:off x="5364163" y="2636838"/>
            <a:ext cx="792162" cy="3667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A4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4" name="Text Box 9"/>
          <p:cNvSpPr txBox="1"/>
          <p:nvPr/>
        </p:nvSpPr>
        <p:spPr>
          <a:xfrm>
            <a:off x="5508625" y="4221163"/>
            <a:ext cx="503238" cy="3667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A3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、对奥氏体相区的影响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250825" y="1142683"/>
            <a:ext cx="5041900" cy="50403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</a:t>
            </a:r>
            <a:r>
              <a:rPr lang="zh-CN" altLang="en-US" b="1" dirty="0">
                <a:ea typeface="华文中宋" panose="02010600040101010101" pitchFamily="2" charset="-122"/>
              </a:rPr>
              <a:t>等：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缩小奥氏体相区，使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点上升，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点下降。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当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Cr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13%</a:t>
            </a:r>
            <a:r>
              <a:rPr lang="zh-CN" altLang="en-US" b="1" dirty="0">
                <a:ea typeface="华文中宋" panose="02010600040101010101" pitchFamily="2" charset="-122"/>
              </a:rPr>
              <a:t>时，奥氏体相区消失，室温下为单相铁素体组织，称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铁素体钢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sz="3600" dirty="0"/>
          </a:p>
        </p:txBody>
      </p:sp>
      <p:pic>
        <p:nvPicPr>
          <p:cNvPr id="46088" name="Picture 5" descr="Cr对Fe-C相图的影响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652135" y="1775143"/>
            <a:ext cx="3346450" cy="2957512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608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6"/>
          <p:cNvSpPr txBox="1">
            <a:spLocks noChangeAspect="1"/>
          </p:cNvSpPr>
          <p:nvPr/>
        </p:nvSpPr>
        <p:spPr>
          <a:xfrm>
            <a:off x="6156325" y="4725035"/>
            <a:ext cx="254254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/>
            <a:r>
              <a:rPr kumimoji="1" lang="zh-CN" altLang="en-US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铬对奥氏体相区的影响</a:t>
            </a:r>
            <a:endParaRPr kumimoji="1" lang="zh-CN" altLang="en-US" dirty="0">
              <a:solidFill>
                <a:schemeClr val="folHlink"/>
              </a:solidFill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90030"/>
            <a:ext cx="457200" cy="26797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4197" y="0"/>
            <a:ext cx="72390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、对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E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点和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点位置的影响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323850" y="1125538"/>
            <a:ext cx="8569325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所有合金元素均使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E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点和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b="1" dirty="0">
                <a:ea typeface="华文中宋" panose="02010600040101010101" pitchFamily="2" charset="-122"/>
              </a:rPr>
              <a:t>点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左移，</a:t>
            </a:r>
            <a:r>
              <a:rPr lang="zh-CN" altLang="en-US" b="1" dirty="0">
                <a:ea typeface="华文中宋" panose="02010600040101010101" pitchFamily="2" charset="-122"/>
              </a:rPr>
              <a:t>即这两点的含碳量下降，使碳含量比较低的钢出现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过共析组织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4Cr13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共晶组织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（如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W18Cr4V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）（含碳量为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0.7%~0.8%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r>
              <a:rPr lang="zh-CN" altLang="en-US" sz="2800" dirty="0"/>
              <a:t> </a:t>
            </a:r>
            <a:endParaRPr lang="zh-CN" altLang="en-US" sz="2800" b="1" dirty="0">
              <a:solidFill>
                <a:schemeClr val="tx2"/>
              </a:solidFill>
              <a:ea typeface="仿宋_GB2312" pitchFamily="49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928688" y="3429000"/>
            <a:ext cx="7737475" cy="2741613"/>
            <a:chOff x="432" y="1920"/>
            <a:chExt cx="4933" cy="2161"/>
          </a:xfrm>
        </p:grpSpPr>
        <p:pic>
          <p:nvPicPr>
            <p:cNvPr id="47112" name="Picture 6" descr="Mn对Fe-C相图的影响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2" y="1920"/>
              <a:ext cx="2437" cy="2161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47113" name="Picture 7" descr="Cr对Fe-C相图的影响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8" y="1920"/>
              <a:ext cx="2437" cy="2154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4711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noFill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6202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44005"/>
            <a:ext cx="528320" cy="21399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0"/>
            <a:ext cx="7126288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㈢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对钢中相变过程的影响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685800" y="1557338"/>
            <a:ext cx="7772400" cy="453866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、对奥氏体化的影响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、对过冷奥氏体转变的影响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、对回火转变的影响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4813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6202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90030"/>
            <a:ext cx="457200" cy="26797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116205"/>
            <a:ext cx="6790055" cy="812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、对奥氏体化的影响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285750" y="1071563"/>
            <a:ext cx="5976938" cy="53276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对奥氏体形成速度的影响：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 除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Co</a:t>
            </a:r>
            <a:r>
              <a:rPr lang="zh-CN" altLang="en-US" b="1" dirty="0">
                <a:ea typeface="华文中宋" panose="02010600040101010101" pitchFamily="2" charset="-122"/>
              </a:rPr>
              <a:t>外，都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减缓</a:t>
            </a:r>
            <a:r>
              <a:rPr lang="zh-CN" altLang="en-US" b="1" dirty="0">
                <a:ea typeface="华文中宋" panose="02010600040101010101" pitchFamily="2" charset="-122"/>
              </a:rPr>
              <a:t>奥氏体化过程。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对奥氏体晶粒长大倾向的影响：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folHlink"/>
                </a:solidFill>
              </a:rPr>
              <a:t>    碳、氮化物</a:t>
            </a:r>
            <a:r>
              <a:rPr lang="zh-CN" altLang="en-US" b="1" dirty="0"/>
              <a:t>形成元素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阻碍</a:t>
            </a:r>
            <a:r>
              <a:rPr lang="zh-CN" altLang="en-US" b="1" dirty="0"/>
              <a:t>奥氏体晶粒长大。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folHlink"/>
                </a:solidFill>
              </a:rPr>
              <a:t>    </a:t>
            </a:r>
            <a:r>
              <a:rPr lang="en-US" altLang="zh-CN" b="1" dirty="0">
                <a:solidFill>
                  <a:schemeClr val="folHlink"/>
                </a:solidFill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P</a:t>
            </a:r>
            <a:r>
              <a:rPr lang="zh-CN" altLang="en-US" b="1" dirty="0"/>
              <a:t>促进长大。</a:t>
            </a:r>
            <a:endParaRPr lang="zh-CN" altLang="en-US" b="1" dirty="0"/>
          </a:p>
        </p:txBody>
      </p:sp>
      <p:pic>
        <p:nvPicPr>
          <p:cNvPr id="230404" name="Picture 4" descr="本质晶粒度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730365" y="2636520"/>
            <a:ext cx="2240280" cy="234061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915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6202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7115" y="6669360"/>
            <a:ext cx="476885" cy="22737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8156" y="0"/>
            <a:ext cx="7772400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、对过冷奥氏体转变的影响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0181" name="Rectangle 3"/>
          <p:cNvSpPr>
            <a:spLocks noGrp="1"/>
          </p:cNvSpPr>
          <p:nvPr>
            <p:ph idx="1"/>
          </p:nvPr>
        </p:nvSpPr>
        <p:spPr>
          <a:xfrm>
            <a:off x="251460" y="984250"/>
            <a:ext cx="8642350" cy="4310063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66FF33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sz="2800" b="1" dirty="0">
                <a:ea typeface="华文中宋" panose="02010600040101010101" pitchFamily="2" charset="-122"/>
              </a:rPr>
              <a:t>对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淬透性</a:t>
            </a:r>
            <a:r>
              <a:rPr lang="zh-CN" altLang="en-US" sz="2800" b="1" dirty="0">
                <a:ea typeface="华文中宋" panose="02010600040101010101" pitchFamily="2" charset="-122"/>
              </a:rPr>
              <a:t>的影响：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除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Co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外，凡溶入奥氏体的合金元素均使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右移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，淬透性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提高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常用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提高淬透性</a:t>
            </a: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的元素为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66FF33"/>
                </a:solidFill>
              </a:rPr>
              <a:t>⑵ </a:t>
            </a:r>
            <a:r>
              <a:rPr lang="zh-CN" altLang="en-US" sz="2800" b="1" dirty="0"/>
              <a:t>对</a:t>
            </a:r>
            <a:r>
              <a:rPr lang="en-US" altLang="zh-CN" sz="2800" b="1" dirty="0">
                <a:solidFill>
                  <a:schemeClr val="folHlink"/>
                </a:solidFill>
              </a:rPr>
              <a:t>Ms </a:t>
            </a:r>
            <a:r>
              <a:rPr lang="zh-CN" altLang="en-US" sz="2800" b="1" dirty="0"/>
              <a:t>、</a:t>
            </a:r>
            <a:r>
              <a:rPr lang="en-US" altLang="zh-CN" sz="2800" b="1" dirty="0">
                <a:solidFill>
                  <a:schemeClr val="folHlink"/>
                </a:solidFill>
              </a:rPr>
              <a:t> M</a:t>
            </a:r>
            <a:r>
              <a:rPr lang="en-US" altLang="zh-CN" sz="2800" b="1" baseline="-25000" dirty="0">
                <a:solidFill>
                  <a:schemeClr val="folHlink"/>
                </a:solidFill>
              </a:rPr>
              <a:t>f</a:t>
            </a:r>
            <a:r>
              <a:rPr lang="zh-CN" altLang="en-US" sz="2800" b="1" dirty="0"/>
              <a:t>点的影响：</a:t>
            </a:r>
            <a:r>
              <a:rPr lang="zh-CN" altLang="en-US" sz="2800" b="1" dirty="0">
                <a:solidFill>
                  <a:schemeClr val="folHlink"/>
                </a:solidFill>
              </a:rPr>
              <a:t>除</a:t>
            </a:r>
            <a:r>
              <a:rPr lang="en-US" altLang="zh-CN" sz="2800" b="1" dirty="0">
                <a:solidFill>
                  <a:schemeClr val="folHlink"/>
                </a:solidFill>
              </a:rPr>
              <a:t>Co</a:t>
            </a:r>
            <a:r>
              <a:rPr lang="zh-CN" altLang="en-US" sz="2800" b="1" dirty="0">
                <a:solidFill>
                  <a:schemeClr val="folHlink"/>
                </a:solidFill>
              </a:rPr>
              <a:t>、 </a:t>
            </a:r>
            <a:r>
              <a:rPr lang="en-US" altLang="zh-CN" sz="2800" b="1" dirty="0">
                <a:solidFill>
                  <a:schemeClr val="folHlink"/>
                </a:solidFill>
              </a:rPr>
              <a:t>Al</a:t>
            </a:r>
            <a:r>
              <a:rPr lang="zh-CN" altLang="en-US" sz="2800" b="1" dirty="0">
                <a:solidFill>
                  <a:schemeClr val="folHlink"/>
                </a:solidFill>
              </a:rPr>
              <a:t>外，所有元素都使</a:t>
            </a:r>
            <a:r>
              <a:rPr lang="en-US" altLang="zh-CN" sz="2800" b="1" dirty="0">
                <a:solidFill>
                  <a:schemeClr val="folHlink"/>
                </a:solidFill>
              </a:rPr>
              <a:t>Ms</a:t>
            </a:r>
            <a:r>
              <a:rPr lang="zh-CN" altLang="en-US" sz="2800" b="1" dirty="0">
                <a:solidFill>
                  <a:schemeClr val="folHlink"/>
                </a:solidFill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</a:rPr>
              <a:t>M</a:t>
            </a:r>
            <a:r>
              <a:rPr lang="en-US" altLang="zh-CN" sz="2800" b="1" baseline="-25000" dirty="0">
                <a:solidFill>
                  <a:schemeClr val="folHlink"/>
                </a:solidFill>
              </a:rPr>
              <a:t>f</a:t>
            </a:r>
            <a:r>
              <a:rPr lang="zh-CN" altLang="en-US" sz="2800" b="1" dirty="0">
                <a:solidFill>
                  <a:schemeClr val="folHlink"/>
                </a:solidFill>
              </a:rPr>
              <a:t>点下降。</a:t>
            </a:r>
            <a:r>
              <a:rPr lang="zh-CN" altLang="en-US" sz="2800" dirty="0"/>
              <a:t> 使淬火后残余奥氏体量增加。</a:t>
            </a:r>
            <a:endParaRPr lang="zh-CN" altLang="en-US" sz="2800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1048385" y="4149090"/>
            <a:ext cx="3399790" cy="1811020"/>
            <a:chOff x="1908" y="1800"/>
            <a:chExt cx="3473" cy="2153"/>
          </a:xfrm>
        </p:grpSpPr>
        <p:pic>
          <p:nvPicPr>
            <p:cNvPr id="50186" name="Picture 6" descr="合金元素对钢淬透性的影响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908" y="1800"/>
              <a:ext cx="3473" cy="215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0187" name="Text Box 7"/>
            <p:cNvSpPr txBox="1">
              <a:spLocks noChangeAspect="1"/>
            </p:cNvSpPr>
            <p:nvPr/>
          </p:nvSpPr>
          <p:spPr>
            <a:xfrm>
              <a:off x="2316" y="1896"/>
              <a:ext cx="1200" cy="109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合金元素对钢淬透性的影响</a:t>
              </a:r>
              <a:endParaRPr lang="zh-CN" altLang="en-US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50184" name="Picture 8" descr="图6-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82490" y="4149090"/>
            <a:ext cx="3385185" cy="18332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5" name="日期占位符 1"/>
          <p:cNvSpPr txBox="1"/>
          <p:nvPr/>
        </p:nvSpPr>
        <p:spPr>
          <a:xfrm>
            <a:off x="0" y="6515100"/>
            <a:ext cx="1785938" cy="3429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lvl="0" algn="l" eaLnBrk="1" hangingPunct="1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6202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555" y="6600190"/>
            <a:ext cx="385445" cy="2578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0"/>
            <a:ext cx="6980238" cy="7858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、对回火转变的影响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179388" y="961708"/>
            <a:ext cx="6408737" cy="52562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提高耐回火性：</a:t>
            </a:r>
            <a:r>
              <a:rPr lang="zh-CN" altLang="en-US" b="1" dirty="0"/>
              <a:t>淬火钢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在回火过程</a:t>
            </a:r>
            <a:r>
              <a:rPr lang="zh-CN" altLang="en-US" b="1" dirty="0"/>
              <a:t>中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抵抗硬度下降的能力</a:t>
            </a:r>
            <a:r>
              <a:rPr lang="zh-CN" altLang="en-US" b="1" dirty="0"/>
              <a:t>称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耐回火性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</a:t>
            </a:r>
            <a:r>
              <a:rPr lang="zh-CN" altLang="en-US" b="1" dirty="0"/>
              <a:t>能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阻碍马氏体分解</a:t>
            </a:r>
            <a:r>
              <a:rPr lang="zh-CN" altLang="en-US" b="1" dirty="0"/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碳化物的析出与聚集</a:t>
            </a: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CCFF99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/>
              <a:t>当回火硬度相同时，合金钢比同含碳量碳钢回火温度高。如果同温度回火，合金钢硬度比碳钢高。</a:t>
            </a:r>
            <a:endParaRPr lang="zh-CN" altLang="en-US" b="1" dirty="0"/>
          </a:p>
        </p:txBody>
      </p:sp>
      <p:grpSp>
        <p:nvGrpSpPr>
          <p:cNvPr id="51206" name="Group 8"/>
          <p:cNvGrpSpPr/>
          <p:nvPr/>
        </p:nvGrpSpPr>
        <p:grpSpPr>
          <a:xfrm>
            <a:off x="6588125" y="2132965"/>
            <a:ext cx="2651125" cy="3117837"/>
            <a:chOff x="3719" y="1616"/>
            <a:chExt cx="2041" cy="2187"/>
          </a:xfrm>
        </p:grpSpPr>
        <p:pic>
          <p:nvPicPr>
            <p:cNvPr id="51208" name="Picture 6" descr="回火性能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78" y="1616"/>
              <a:ext cx="1751" cy="1949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1209" name="Text Box 7"/>
            <p:cNvSpPr txBox="1">
              <a:spLocks noChangeAspect="1"/>
            </p:cNvSpPr>
            <p:nvPr/>
          </p:nvSpPr>
          <p:spPr>
            <a:xfrm>
              <a:off x="3719" y="3566"/>
              <a:ext cx="2041" cy="2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16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淬火碳钢回火时的硬度变化</a:t>
              </a:r>
              <a:endParaRPr lang="zh-CN" altLang="en-US" sz="16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0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6202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611505" y="2493010"/>
            <a:ext cx="168084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耐回火性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61730" y="6618605"/>
            <a:ext cx="390525" cy="23939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01678" y="-81774"/>
            <a:ext cx="6475413" cy="10715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、对回火转变的影响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0" y="1196975"/>
            <a:ext cx="5364163" cy="5040313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8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产生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二次硬化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ea typeface="华文中宋" panose="02010600040101010101" pitchFamily="2" charset="-122"/>
              </a:rPr>
              <a:t>   </a:t>
            </a:r>
            <a:r>
              <a:rPr lang="zh-CN" altLang="en-US" b="1" dirty="0">
                <a:ea typeface="华文中宋" panose="02010600040101010101" pitchFamily="2" charset="-122"/>
              </a:rPr>
              <a:t>含高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b="1" dirty="0">
                <a:ea typeface="华文中宋" panose="02010600040101010101" pitchFamily="2" charset="-122"/>
              </a:rPr>
              <a:t>钢淬火后回火时，由于析出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细小弥散</a:t>
            </a:r>
            <a:r>
              <a:rPr lang="zh-CN" altLang="en-US" b="1" dirty="0">
                <a:ea typeface="华文中宋" panose="02010600040101010101" pitchFamily="2" charset="-122"/>
              </a:rPr>
              <a:t>的特殊碳化物及回火冷却时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A’</a:t>
            </a:r>
            <a:r>
              <a:rPr lang="zh-CN" altLang="en-US" b="1" dirty="0">
                <a:ea typeface="华文中宋" panose="02010600040101010101" pitchFamily="2" charset="-122"/>
              </a:rPr>
              <a:t>转变为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使硬度不仅不下降，反而升高的现象称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二次硬化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⑶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防止第二类回火脆性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ea typeface="华文中宋" panose="02010600040101010101" pitchFamily="2" charset="-122"/>
              </a:rPr>
              <a:t>    </a:t>
            </a:r>
            <a:r>
              <a:rPr lang="zh-CN" altLang="en-US" b="1" dirty="0">
                <a:ea typeface="华文中宋" panose="02010600040101010101" pitchFamily="2" charset="-122"/>
              </a:rPr>
              <a:t>加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b="1" dirty="0">
                <a:ea typeface="华文中宋" panose="02010600040101010101" pitchFamily="2" charset="-122"/>
              </a:rPr>
              <a:t>可防止第二类回火脆性。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5239385" y="1340768"/>
            <a:ext cx="3567447" cy="5173824"/>
            <a:chOff x="3144" y="384"/>
            <a:chExt cx="2404" cy="3487"/>
          </a:xfrm>
        </p:grpSpPr>
        <p:grpSp>
          <p:nvGrpSpPr>
            <p:cNvPr id="52232" name="Group 6"/>
            <p:cNvGrpSpPr>
              <a:grpSpLocks noChangeAspect="1"/>
            </p:cNvGrpSpPr>
            <p:nvPr/>
          </p:nvGrpSpPr>
          <p:grpSpPr>
            <a:xfrm>
              <a:off x="3168" y="384"/>
              <a:ext cx="2380" cy="3487"/>
              <a:chOff x="3168" y="384"/>
              <a:chExt cx="2380" cy="3487"/>
            </a:xfrm>
          </p:grpSpPr>
          <p:pic>
            <p:nvPicPr>
              <p:cNvPr id="52234" name="Picture 7" descr="回火脆性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168" y="2268"/>
                <a:ext cx="2380" cy="1603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52235" name="Picture 8" descr="高速钢回火硬度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68" y="384"/>
                <a:ext cx="2380" cy="1706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52233" name="Text Box 9"/>
            <p:cNvSpPr txBox="1">
              <a:spLocks noChangeAspect="1"/>
            </p:cNvSpPr>
            <p:nvPr/>
          </p:nvSpPr>
          <p:spPr>
            <a:xfrm>
              <a:off x="3144" y="1860"/>
              <a:ext cx="672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高速钢</a:t>
              </a:r>
              <a:endParaRPr lang="zh-CN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223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2483485" y="3644900"/>
            <a:ext cx="168084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二次硬化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6202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28765"/>
            <a:ext cx="457200" cy="22923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260" y="1680845"/>
            <a:ext cx="7378065" cy="3044190"/>
          </a:xfrm>
        </p:spPr>
        <p:txBody>
          <a:bodyPr vert="horz" wrap="square" lIns="92075" tIns="46038" rIns="92075" bIns="46038" numCol="1" anchor="ctr" anchorCtr="0" compatLnSpc="1"/>
          <a:lstStyle/>
          <a:p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第三节  结构钢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lang="en-GB" altLang="zh-CN" sz="6600" b="1" i="1" dirty="0">
                <a:effectLst/>
                <a:latin typeface="+mn-lt"/>
              </a:rPr>
              <a:t>Structural Steels</a:t>
            </a:r>
            <a:br>
              <a:rPr lang="en-GB" altLang="zh-CN" dirty="0">
                <a:effectLst/>
              </a:rPr>
            </a:br>
            <a:endParaRPr kumimoji="1" lang="zh-CN" altLang="en-US" sz="6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325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07950" y="27806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28765"/>
            <a:ext cx="457200" cy="22923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0"/>
            <a:ext cx="70516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第三节  结构钢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1461" name="Rectangle 21"/>
          <p:cNvSpPr>
            <a:spLocks noGrp="1"/>
          </p:cNvSpPr>
          <p:nvPr>
            <p:ph idx="1"/>
          </p:nvPr>
        </p:nvSpPr>
        <p:spPr>
          <a:xfrm>
            <a:off x="179388" y="1268413"/>
            <a:ext cx="5113337" cy="50403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对结构钢的性能要求：</a:t>
            </a:r>
            <a:endParaRPr lang="zh-CN" altLang="en-US" b="1" dirty="0">
              <a:solidFill>
                <a:srgbClr val="66FF33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使用性能：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强韧性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为主。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工艺性能：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可焊性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淬透性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为主。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合金结构钢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除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少量为中、高合金钢外，一般都是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低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合金钢。</a:t>
            </a:r>
            <a:endParaRPr lang="en-US" altLang="zh-CN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5545138" y="2349500"/>
            <a:ext cx="3170237" cy="3151188"/>
            <a:chOff x="3120" y="1620"/>
            <a:chExt cx="2267" cy="2090"/>
          </a:xfrm>
        </p:grpSpPr>
        <p:pic>
          <p:nvPicPr>
            <p:cNvPr id="53256" name="Picture 22" descr="铜陵长江公路大桥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20" y="1631"/>
              <a:ext cx="2240" cy="2079"/>
            </a:xfrm>
            <a:prstGeom prst="rect">
              <a:avLst/>
            </a:prstGeom>
            <a:noFill/>
            <a:ln w="38100" cap="flat" cmpd="sng">
              <a:solidFill>
                <a:srgbClr val="666699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3257" name="Text Box 23"/>
            <p:cNvSpPr txBox="1">
              <a:spLocks noChangeAspect="1"/>
            </p:cNvSpPr>
            <p:nvPr/>
          </p:nvSpPr>
          <p:spPr>
            <a:xfrm>
              <a:off x="5117" y="1620"/>
              <a:ext cx="270" cy="116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铜陵长江公路大桥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25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6202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61" grpId="0" advAuto="100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063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6255" y="0"/>
            <a:ext cx="647541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第三节  结构钢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34499" name="Rectangle 3"/>
          <p:cNvSpPr>
            <a:spLocks noGrp="1"/>
          </p:cNvSpPr>
          <p:nvPr>
            <p:ph idx="1"/>
          </p:nvPr>
        </p:nvSpPr>
        <p:spPr>
          <a:xfrm>
            <a:off x="1020445" y="1036955"/>
            <a:ext cx="7103110" cy="521144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碳素结构钢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优质碳素结构钢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低合金高强度结构钢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渗碳钢 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调质钢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弹簧钢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滚动轴承钢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耐磨钢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427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0369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8" grpId="0" bldLvl="0" animBg="1"/>
      <p:bldP spid="234499" grpId="0" advAuto="100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600190"/>
            <a:ext cx="386080" cy="2578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-99315" y="1484784"/>
            <a:ext cx="8851076" cy="331236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dirty="0"/>
              <a:t>一、碳素结构钢</a:t>
            </a:r>
            <a:br>
              <a:rPr lang="en-US" altLang="zh-CN" sz="6600" b="1" dirty="0"/>
            </a:br>
            <a:r>
              <a:rPr lang="en-US" altLang="zh-CN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Structural steel</a:t>
            </a:r>
            <a:endParaRPr lang="en-US" altLang="zh-CN" sz="6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312991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600190"/>
            <a:ext cx="386080" cy="2578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2571750" y="0"/>
            <a:ext cx="4105275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4000" b="1" dirty="0"/>
              <a:t>一、碳素结构钢</a:t>
            </a:r>
            <a:endParaRPr lang="zh-CN" altLang="en-US" sz="4000" b="1" dirty="0"/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>
          <a:xfrm>
            <a:off x="0" y="1052513"/>
            <a:ext cx="5435600" cy="49688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、成分</a:t>
            </a:r>
            <a:r>
              <a:rPr lang="zh-CN" altLang="en-US" b="1" dirty="0">
                <a:solidFill>
                  <a:srgbClr val="FFCCCC"/>
                </a:solidFill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&lt;0.4%C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b="1" dirty="0">
                <a:ea typeface="华文中宋" panose="02010600040101010101" pitchFamily="2" charset="-122"/>
              </a:rPr>
              <a:t>量及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非金属夹杂</a:t>
            </a:r>
            <a:r>
              <a:rPr lang="zh-CN" altLang="en-US" b="1" dirty="0">
                <a:ea typeface="华文中宋" panose="02010600040101010101" pitchFamily="2" charset="-122"/>
              </a:rPr>
              <a:t>较多。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FFCCCC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rgbClr val="FFCCCC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性能：可焊性、塑性好。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、热处理：</a:t>
            </a:r>
            <a:r>
              <a:rPr lang="zh-CN" altLang="en-US" b="1" dirty="0">
                <a:ea typeface="华文中宋" panose="02010600040101010101" pitchFamily="2" charset="-122"/>
              </a:rPr>
              <a:t>不进行专门热处理，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热轧空冷态</a:t>
            </a:r>
            <a:r>
              <a:rPr lang="zh-CN" altLang="en-US" b="1" dirty="0">
                <a:ea typeface="华文中宋" panose="02010600040101010101" pitchFamily="2" charset="-122"/>
              </a:rPr>
              <a:t>下使用。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、使用状态下组织：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F+P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5435283" y="1229360"/>
            <a:ext cx="3648075" cy="4827588"/>
            <a:chOff x="3024" y="557"/>
            <a:chExt cx="2508" cy="3318"/>
          </a:xfrm>
        </p:grpSpPr>
        <p:grpSp>
          <p:nvGrpSpPr>
            <p:cNvPr id="55304" name="Group 5"/>
            <p:cNvGrpSpPr>
              <a:grpSpLocks noChangeAspect="1"/>
            </p:cNvGrpSpPr>
            <p:nvPr/>
          </p:nvGrpSpPr>
          <p:grpSpPr>
            <a:xfrm>
              <a:off x="3024" y="557"/>
              <a:ext cx="2494" cy="3283"/>
              <a:chOff x="3072" y="480"/>
              <a:chExt cx="2494" cy="3283"/>
            </a:xfrm>
          </p:grpSpPr>
          <p:pic>
            <p:nvPicPr>
              <p:cNvPr id="55307" name="Picture 6" descr="螺纹钢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72" y="480"/>
                <a:ext cx="2494" cy="1688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55308" name="Picture 7" descr="圆钢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72" y="2400"/>
                <a:ext cx="2494" cy="1363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237576" name="Text Box 8"/>
            <p:cNvSpPr txBox="1">
              <a:spLocks noChangeAspect="1" noChangeArrowheads="1"/>
            </p:cNvSpPr>
            <p:nvPr/>
          </p:nvSpPr>
          <p:spPr bwMode="auto">
            <a:xfrm>
              <a:off x="4631" y="1992"/>
              <a:ext cx="901" cy="275"/>
            </a:xfrm>
            <a:prstGeom prst="rect">
              <a:avLst/>
            </a:prstGeom>
            <a:solidFill>
              <a:srgbClr val="800000">
                <a:alpha val="50000"/>
              </a:srgbClr>
            </a:solidFill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螺纹钢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7577" name="Text Box 9"/>
            <p:cNvSpPr txBox="1">
              <a:spLocks noChangeAspect="1" noChangeArrowheads="1"/>
            </p:cNvSpPr>
            <p:nvPr/>
          </p:nvSpPr>
          <p:spPr bwMode="auto">
            <a:xfrm>
              <a:off x="4925" y="3600"/>
              <a:ext cx="595" cy="275"/>
            </a:xfrm>
            <a:prstGeom prst="rect">
              <a:avLst/>
            </a:prstGeom>
            <a:solidFill>
              <a:srgbClr val="800000">
                <a:alpha val="50000"/>
              </a:srgbClr>
            </a:solidFill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圆钢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530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10369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2857500" y="0"/>
            <a:ext cx="4102100" cy="85725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4000" b="1" dirty="0"/>
              <a:t>一、碳素结构钢</a:t>
            </a:r>
            <a:endParaRPr lang="zh-CN" altLang="en-US" sz="4000" b="1" dirty="0"/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233680" y="1007110"/>
            <a:ext cx="4787265" cy="482790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5、用途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sz="2800" b="1" dirty="0">
                <a:ea typeface="华文中宋" panose="02010600040101010101" pitchFamily="2" charset="-122"/>
              </a:rPr>
              <a:t>   </a:t>
            </a:r>
            <a:r>
              <a:rPr lang="zh-CN" altLang="en-US" sz="2800" b="1" dirty="0"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ea typeface="华文中宋" panose="02010600040101010101" pitchFamily="2" charset="-122"/>
              </a:rPr>
              <a:t>）供货形态：常以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热轧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板、带、棒</a:t>
            </a:r>
            <a:r>
              <a:rPr lang="zh-CN" altLang="en-US" sz="2800" b="1" dirty="0">
                <a:ea typeface="华文中宋" panose="02010600040101010101" pitchFamily="2" charset="-122"/>
              </a:rPr>
              <a:t>及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型钢</a:t>
            </a:r>
            <a:r>
              <a:rPr lang="zh-CN" altLang="en-US" sz="2800" b="1" dirty="0">
                <a:ea typeface="华文中宋" panose="02010600040101010101" pitchFamily="2" charset="-122"/>
              </a:rPr>
              <a:t>使用，用量约占钢材总量的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70%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sz="2800" b="1" dirty="0">
                <a:ea typeface="华文中宋" panose="02010600040101010101" pitchFamily="2" charset="-122"/>
              </a:rPr>
              <a:t>  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sz="2800" b="1" dirty="0"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ea typeface="华文中宋" panose="02010600040101010101" pitchFamily="2" charset="-122"/>
              </a:rPr>
              <a:t>）应用：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建筑结构，</a:t>
            </a:r>
            <a:r>
              <a:rPr lang="zh-CN" altLang="en-US" sz="2800" b="1" dirty="0">
                <a:ea typeface="华文中宋" panose="02010600040101010101" pitchFamily="2" charset="-122"/>
              </a:rPr>
              <a:t>适合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焊接</a:t>
            </a:r>
            <a:r>
              <a:rPr lang="zh-CN" altLang="en-US" sz="1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铆接、栓接</a:t>
            </a:r>
            <a:r>
              <a:rPr lang="zh-CN" altLang="en-US" sz="2800" b="1" dirty="0">
                <a:ea typeface="华文中宋" panose="02010600040101010101" pitchFamily="2" charset="-122"/>
              </a:rPr>
              <a:t>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351588" y="1184275"/>
            <a:ext cx="2262187" cy="4152900"/>
            <a:chOff x="3693" y="538"/>
            <a:chExt cx="1425" cy="2616"/>
          </a:xfrm>
        </p:grpSpPr>
        <p:grpSp>
          <p:nvGrpSpPr>
            <p:cNvPr id="56328" name="Group 5"/>
            <p:cNvGrpSpPr/>
            <p:nvPr/>
          </p:nvGrpSpPr>
          <p:grpSpPr>
            <a:xfrm>
              <a:off x="3836" y="538"/>
              <a:ext cx="1282" cy="857"/>
              <a:chOff x="3836" y="574"/>
              <a:chExt cx="1282" cy="857"/>
            </a:xfrm>
          </p:grpSpPr>
          <p:pic>
            <p:nvPicPr>
              <p:cNvPr id="56335" name="Picture 6" descr="product1热连轧钢板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836" y="574"/>
                <a:ext cx="1266" cy="857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38599" name="Text Box 7"/>
              <p:cNvSpPr txBox="1">
                <a:spLocks noChangeAspect="1" noChangeArrowheads="1"/>
              </p:cNvSpPr>
              <p:nvPr/>
            </p:nvSpPr>
            <p:spPr bwMode="auto">
              <a:xfrm>
                <a:off x="4296" y="582"/>
                <a:ext cx="822" cy="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热轧钢板</a:t>
                </a: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6329" name="Group 8"/>
            <p:cNvGrpSpPr/>
            <p:nvPr/>
          </p:nvGrpSpPr>
          <p:grpSpPr>
            <a:xfrm>
              <a:off x="3836" y="1435"/>
              <a:ext cx="1265" cy="769"/>
              <a:chOff x="3776" y="1428"/>
              <a:chExt cx="1265" cy="769"/>
            </a:xfrm>
          </p:grpSpPr>
          <p:pic>
            <p:nvPicPr>
              <p:cNvPr id="56333" name="Picture 9" descr="007a圆钢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76" y="1428"/>
                <a:ext cx="1265" cy="769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4286" name="Text Box 10"/>
              <p:cNvSpPr txBox="1">
                <a:spLocks noChangeAspect="1" noChangeArrowheads="1"/>
              </p:cNvSpPr>
              <p:nvPr/>
            </p:nvSpPr>
            <p:spPr bwMode="auto">
              <a:xfrm>
                <a:off x="4402" y="1446"/>
                <a:ext cx="639" cy="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螺纹钢</a:t>
                </a: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6330" name="Group 11"/>
            <p:cNvGrpSpPr/>
            <p:nvPr/>
          </p:nvGrpSpPr>
          <p:grpSpPr>
            <a:xfrm>
              <a:off x="3693" y="2269"/>
              <a:ext cx="1409" cy="885"/>
              <a:chOff x="3669" y="2212"/>
              <a:chExt cx="1409" cy="885"/>
            </a:xfrm>
          </p:grpSpPr>
          <p:pic>
            <p:nvPicPr>
              <p:cNvPr id="56331" name="Picture 12" descr="黄河小浪底枢纽工程建筑用钢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790" y="2258"/>
                <a:ext cx="1288" cy="839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4284" name="Text Box 13"/>
              <p:cNvSpPr txBox="1">
                <a:spLocks noChangeAspect="1" noChangeArrowheads="1"/>
              </p:cNvSpPr>
              <p:nvPr/>
            </p:nvSpPr>
            <p:spPr bwMode="auto">
              <a:xfrm>
                <a:off x="3669" y="2212"/>
                <a:ext cx="1408" cy="2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黄河小浪底枢纽工程</a:t>
                </a:r>
                <a:endPara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5632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50990"/>
            <a:ext cx="528320" cy="2070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>
          <a:xfrm>
            <a:off x="1857375" y="0"/>
            <a:ext cx="5882977" cy="811213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/>
              <a:t>一、碳素结构钢</a:t>
            </a:r>
            <a:endParaRPr lang="zh-CN" altLang="en-US" b="1" dirty="0"/>
          </a:p>
        </p:txBody>
      </p:sp>
      <p:pic>
        <p:nvPicPr>
          <p:cNvPr id="57349" name="Picture 4" descr="《工程材料》T6-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49204" y="1045757"/>
            <a:ext cx="8856662" cy="4891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51" name="Picture 6" descr="表6-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204" y="1082969"/>
            <a:ext cx="8856662" cy="5238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5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66790" y="1054735"/>
            <a:ext cx="2955925" cy="30670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0000FF"/>
                </a:solidFill>
              </a:rPr>
              <a:t>GB/T 700-2006</a:t>
            </a:r>
            <a:r>
              <a:rPr lang="en-US" altLang="zh-CN" sz="1400">
                <a:solidFill>
                  <a:srgbClr val="0000FF"/>
                </a:solidFill>
              </a:rPr>
              <a:t> 碳素结构钢</a:t>
            </a:r>
            <a:endParaRPr lang="en-US" altLang="zh-CN" sz="1400">
              <a:solidFill>
                <a:srgbClr val="0000FF"/>
              </a:solidFill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4"/>
          <a:srcRect l="18708" t="22731" r="36010" b="9028"/>
          <a:stretch>
            <a:fillRect/>
          </a:stretch>
        </p:blipFill>
        <p:spPr>
          <a:xfrm>
            <a:off x="5320665" y="1412875"/>
            <a:ext cx="3312160" cy="2807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l="18500" t="21587" r="36316" b="9401"/>
          <a:stretch>
            <a:fillRect/>
          </a:stretch>
        </p:blipFill>
        <p:spPr>
          <a:xfrm>
            <a:off x="5320665" y="3212465"/>
            <a:ext cx="3283585" cy="2821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97352"/>
            <a:ext cx="457200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05" y="1160145"/>
            <a:ext cx="8208645" cy="3475990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二、优质碳素结构钢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High –quality </a:t>
            </a:r>
            <a:r>
              <a:rPr lang="en-US" altLang="zh-C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Structural Steel</a:t>
            </a:r>
            <a:endParaRPr kumimoji="1" lang="zh-CN" altLang="en-US" sz="6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837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2493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25" y="0"/>
            <a:ext cx="667226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二、优质碳素结构钢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685800" y="2133600"/>
            <a:ext cx="7772400" cy="39624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P</a:t>
            </a:r>
            <a:r>
              <a:rPr lang="zh-CN" altLang="en-US" dirty="0"/>
              <a:t>含量较低（不大于</a:t>
            </a:r>
            <a:r>
              <a:rPr lang="en-US" altLang="zh-CN" dirty="0"/>
              <a:t>0.035%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  <a:p>
            <a:pPr eaLnBrk="1" hangingPunct="1"/>
            <a:r>
              <a:rPr lang="zh-CN" altLang="en-US" dirty="0"/>
              <a:t>常用钢号</a:t>
            </a:r>
            <a:endParaRPr lang="zh-CN" altLang="en-US" sz="800" dirty="0"/>
          </a:p>
        </p:txBody>
      </p:sp>
      <p:sp>
        <p:nvSpPr>
          <p:cNvPr id="5837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25" y="0"/>
            <a:ext cx="6884988" cy="8826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二、优质碳素结构钢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9397" name="Picture 4" descr="《工程材料》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347720" y="1007745"/>
            <a:ext cx="5644515" cy="4365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34250" t="10801" r="35038" b="12200"/>
          <a:stretch>
            <a:fillRect/>
          </a:stretch>
        </p:blipFill>
        <p:spPr>
          <a:xfrm>
            <a:off x="179070" y="1007745"/>
            <a:ext cx="3093720" cy="4364990"/>
          </a:xfrm>
          <a:prstGeom prst="rect">
            <a:avLst/>
          </a:prstGeom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236460" y="764540"/>
            <a:ext cx="1410335" cy="4603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0000FF"/>
                </a:solidFill>
              </a:rPr>
              <a:t>GB/T </a:t>
            </a:r>
            <a:r>
              <a:rPr lang="en-US" altLang="zh-CN" sz="1200">
                <a:solidFill>
                  <a:srgbClr val="0000FF"/>
                </a:solidFill>
              </a:rPr>
              <a:t>699</a:t>
            </a:r>
            <a:r>
              <a:rPr lang="zh-CN" altLang="en-US" sz="1200">
                <a:solidFill>
                  <a:srgbClr val="0000FF"/>
                </a:solidFill>
              </a:rPr>
              <a:t>-2</a:t>
            </a:r>
            <a:r>
              <a:rPr lang="en-US" altLang="zh-CN" sz="1200">
                <a:solidFill>
                  <a:srgbClr val="0000FF"/>
                </a:solidFill>
              </a:rPr>
              <a:t>015 </a:t>
            </a:r>
            <a:r>
              <a:rPr lang="zh-CN" altLang="en-US" sz="1200">
                <a:solidFill>
                  <a:srgbClr val="0000FF"/>
                </a:solidFill>
              </a:rPr>
              <a:t>优质</a:t>
            </a:r>
            <a:r>
              <a:rPr lang="en-US" altLang="zh-CN" sz="1200">
                <a:solidFill>
                  <a:srgbClr val="0000FF"/>
                </a:solidFill>
              </a:rPr>
              <a:t>碳素结构钢</a:t>
            </a:r>
            <a:endParaRPr lang="en-US" altLang="zh-CN" sz="12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44005"/>
            <a:ext cx="457200" cy="21399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xfrm>
            <a:off x="107504" y="1340768"/>
            <a:ext cx="9142545" cy="475252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/>
              <a:t> </a:t>
            </a:r>
            <a:r>
              <a:rPr lang="zh-CN" altLang="en-US" sz="6000" b="1" dirty="0">
                <a:solidFill>
                  <a:srgbClr val="FF0000"/>
                </a:solidFill>
              </a:rPr>
              <a:t>三、低合金高强度结构钢</a:t>
            </a:r>
            <a:br>
              <a:rPr lang="en-US" altLang="zh-CN" sz="6600" b="1" dirty="0"/>
            </a:br>
            <a:r>
              <a:rPr lang="en-US" altLang="zh-CN" sz="6000" b="1" i="1" dirty="0">
                <a:latin typeface="+mn-lt"/>
              </a:rPr>
              <a:t>Low-alloy high-tensile structural Steel</a:t>
            </a:r>
            <a:endParaRPr lang="en-US" altLang="zh-CN" sz="6000" b="1" i="1" dirty="0">
              <a:latin typeface="+mn-lt"/>
            </a:endParaRPr>
          </a:p>
        </p:txBody>
      </p:sp>
      <p:sp>
        <p:nvSpPr>
          <p:cNvPr id="6042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175" y="32848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44005"/>
            <a:ext cx="457200" cy="21399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xfrm>
            <a:off x="1357313" y="0"/>
            <a:ext cx="7099300" cy="100012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/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三、低合金高强度结构钢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>
          <a:xfrm>
            <a:off x="142875" y="1357313"/>
            <a:ext cx="5929313" cy="471487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、性能要求：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⑴ 高强度及足够的塑性、韧性。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⑵ 良好的焊接性能。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⑶ 良好的耐蚀性及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的韧脆转变温度。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endParaRPr lang="en-US" altLang="zh-CN" b="1" dirty="0">
              <a:ea typeface="华文中宋" panose="02010600040101010101" pitchFamily="2" charset="-122"/>
            </a:endParaRPr>
          </a:p>
        </p:txBody>
      </p:sp>
      <p:pic>
        <p:nvPicPr>
          <p:cNvPr id="232452" name="Picture 4" descr="低合金钢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286500" y="2933700"/>
            <a:ext cx="2679700" cy="2078038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042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20510"/>
            <a:ext cx="457200" cy="23749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xfrm>
            <a:off x="1371600" y="0"/>
            <a:ext cx="7272338" cy="100012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三、低合金高强度结构钢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1444" name="Rectangle 3"/>
          <p:cNvSpPr>
            <a:spLocks noGrp="1"/>
          </p:cNvSpPr>
          <p:nvPr>
            <p:ph idx="1"/>
          </p:nvPr>
        </p:nvSpPr>
        <p:spPr>
          <a:xfrm>
            <a:off x="323850" y="1100455"/>
            <a:ext cx="6177280" cy="542417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、成分特点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低碳：≤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0.2%C</a:t>
            </a:r>
            <a:r>
              <a:rPr lang="zh-CN" altLang="en-US" sz="2800" b="1" dirty="0">
                <a:sym typeface="+mn-ea"/>
              </a:rPr>
              <a:t>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低合金元素：</a:t>
            </a:r>
            <a:r>
              <a:rPr lang="zh-CN" altLang="en-US" sz="2800" b="1" dirty="0">
                <a:ea typeface="华文中宋" panose="02010600040101010101" pitchFamily="2" charset="-122"/>
              </a:rPr>
              <a:t>主要是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sz="2800" b="1" dirty="0">
                <a:ea typeface="华文中宋" panose="02010600040101010101" pitchFamily="2" charset="-122"/>
              </a:rPr>
              <a:t>，还有少量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Ti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Nb</a:t>
            </a:r>
            <a:r>
              <a:rPr lang="zh-CN" altLang="en-US" sz="2800" b="1" dirty="0">
                <a:ea typeface="华文中宋" panose="02010600040101010101" pitchFamily="2" charset="-122"/>
              </a:rPr>
              <a:t>等。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solidFill>
                  <a:srgbClr val="00FF00"/>
                </a:solidFill>
              </a:rPr>
              <a:t>①</a:t>
            </a:r>
            <a:r>
              <a:rPr lang="zh-CN" altLang="en-US" sz="2800" b="1" dirty="0">
                <a:solidFill>
                  <a:schemeClr val="folHlink"/>
                </a:solidFill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</a:rPr>
              <a:t>Mn</a:t>
            </a:r>
            <a:r>
              <a:rPr lang="zh-CN" altLang="en-US" sz="2800" b="1" dirty="0">
                <a:solidFill>
                  <a:schemeClr val="folHlink"/>
                </a:solidFill>
              </a:rPr>
              <a:t>的作用：</a:t>
            </a:r>
            <a:r>
              <a:rPr lang="zh-CN" altLang="en-US" sz="2800" b="1" dirty="0"/>
              <a:t>强化铁素体；增加珠光体的量。</a:t>
            </a:r>
            <a:endParaRPr lang="zh-CN" altLang="en-US" sz="2800" b="1" dirty="0">
              <a:solidFill>
                <a:srgbClr val="00FF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solidFill>
                  <a:srgbClr val="00FF00"/>
                </a:solidFill>
              </a:rPr>
              <a:t>②</a:t>
            </a:r>
            <a:r>
              <a:rPr lang="zh-CN" altLang="en-US" sz="2800" b="1" dirty="0">
                <a:solidFill>
                  <a:schemeClr val="folHlink"/>
                </a:solidFill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</a:rPr>
              <a:t>V</a:t>
            </a:r>
            <a:r>
              <a:rPr lang="zh-CN" altLang="en-US" sz="2800" b="1" dirty="0">
                <a:solidFill>
                  <a:schemeClr val="folHlink"/>
                </a:solidFill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</a:rPr>
              <a:t>Ti</a:t>
            </a:r>
            <a:r>
              <a:rPr lang="zh-CN" altLang="en-US" sz="2800" b="1" dirty="0">
                <a:solidFill>
                  <a:schemeClr val="folHlink"/>
                </a:solidFill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</a:rPr>
              <a:t>Nb</a:t>
            </a:r>
            <a:r>
              <a:rPr lang="zh-CN" altLang="en-US" sz="2800" b="1" dirty="0">
                <a:solidFill>
                  <a:schemeClr val="folHlink"/>
                </a:solidFill>
              </a:rPr>
              <a:t>等</a:t>
            </a:r>
            <a:r>
              <a:rPr lang="zh-CN" altLang="en-US" sz="2800" b="1" dirty="0"/>
              <a:t>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细化晶粒</a:t>
            </a:r>
            <a:r>
              <a:rPr lang="zh-CN" altLang="en-US" sz="2800" b="1" dirty="0"/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弥散强化</a:t>
            </a:r>
            <a:r>
              <a:rPr lang="zh-CN" altLang="en-US" sz="2800" b="1" dirty="0"/>
              <a:t>。</a:t>
            </a:r>
            <a:r>
              <a:rPr lang="zh-CN" altLang="en-US" sz="2800" b="1" dirty="0">
                <a:solidFill>
                  <a:srgbClr val="FFCCFF"/>
                </a:solidFill>
              </a:rPr>
              <a:t> </a:t>
            </a:r>
            <a:endParaRPr lang="zh-CN" altLang="en-US" sz="2800" b="1" dirty="0">
              <a:solidFill>
                <a:srgbClr val="FFCCFF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solidFill>
                  <a:srgbClr val="00FF00"/>
                </a:solidFill>
              </a:rPr>
              <a:t>③</a:t>
            </a:r>
            <a:r>
              <a:rPr lang="zh-CN" altLang="en-US" sz="2800" b="1" dirty="0">
                <a:solidFill>
                  <a:schemeClr val="folHlink"/>
                </a:solidFill>
              </a:rPr>
              <a:t> 另外加</a:t>
            </a:r>
            <a:r>
              <a:rPr lang="en-US" altLang="zh-CN" sz="2800" b="1" dirty="0">
                <a:solidFill>
                  <a:schemeClr val="folHlink"/>
                </a:solidFill>
              </a:rPr>
              <a:t>Cu</a:t>
            </a:r>
            <a:r>
              <a:rPr lang="zh-CN" altLang="en-US" sz="2800" b="1" dirty="0">
                <a:solidFill>
                  <a:schemeClr val="folHlink"/>
                </a:solidFill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</a:rPr>
              <a:t>P</a:t>
            </a:r>
            <a:r>
              <a:rPr lang="zh-CN" altLang="en-US" sz="2800" b="1" dirty="0"/>
              <a:t>可提高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耐蚀性</a:t>
            </a:r>
            <a:r>
              <a:rPr lang="zh-CN" altLang="en-US" sz="2800" b="1" dirty="0"/>
              <a:t>；加</a:t>
            </a:r>
            <a:r>
              <a:rPr lang="en-US" altLang="zh-CN" sz="2800" b="1" dirty="0">
                <a:solidFill>
                  <a:schemeClr val="folHlink"/>
                </a:solidFill>
              </a:rPr>
              <a:t>RE</a:t>
            </a:r>
            <a:r>
              <a:rPr lang="zh-CN" altLang="en-US" sz="2800" b="1" dirty="0"/>
              <a:t>可提高韧性、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疲劳极限</a:t>
            </a:r>
            <a:r>
              <a:rPr lang="zh-CN" altLang="en-US" sz="2800" b="1" dirty="0"/>
              <a:t>，降低冷脆转变温度。</a:t>
            </a:r>
            <a:endParaRPr lang="zh-CN" altLang="en-US" sz="2800" b="1" dirty="0"/>
          </a:p>
        </p:txBody>
      </p:sp>
      <p:grpSp>
        <p:nvGrpSpPr>
          <p:cNvPr id="2" name="Group 4"/>
          <p:cNvGrpSpPr/>
          <p:nvPr/>
        </p:nvGrpSpPr>
        <p:grpSpPr>
          <a:xfrm>
            <a:off x="6560905" y="1150494"/>
            <a:ext cx="2396438" cy="2935618"/>
            <a:chOff x="2688" y="1866"/>
            <a:chExt cx="2641" cy="2464"/>
          </a:xfrm>
        </p:grpSpPr>
        <p:pic>
          <p:nvPicPr>
            <p:cNvPr id="61448" name="Picture 5" descr="低合金高强度钢合金元素细化晶粒作用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88" y="1866"/>
              <a:ext cx="2641" cy="1998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61449" name="Text Box 6"/>
            <p:cNvSpPr txBox="1">
              <a:spLocks noChangeAspect="1"/>
            </p:cNvSpPr>
            <p:nvPr/>
          </p:nvSpPr>
          <p:spPr>
            <a:xfrm>
              <a:off x="2798" y="3867"/>
              <a:ext cx="2525" cy="46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 eaLnBrk="1" hangingPunct="1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低合金高强钢合金元素细化晶粒作用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44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380" y="6600190"/>
            <a:ext cx="528320" cy="2578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2467" name="Rectangle 2"/>
          <p:cNvSpPr>
            <a:spLocks noGrp="1"/>
          </p:cNvSpPr>
          <p:nvPr>
            <p:ph type="title"/>
          </p:nvPr>
        </p:nvSpPr>
        <p:spPr>
          <a:xfrm>
            <a:off x="1116330" y="44450"/>
            <a:ext cx="7772400" cy="83566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/>
              <a:t>三、低合金高强度结构钢</a:t>
            </a:r>
            <a:endParaRPr lang="zh-CN" altLang="en-US" b="1" dirty="0"/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xfrm>
            <a:off x="685800" y="1628775"/>
            <a:ext cx="7772400" cy="44672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、热处理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热轧空冷（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大多数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），正火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高温回火（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少数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、使用状态下组织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 + P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6247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7956376" y="6601252"/>
            <a:ext cx="501824" cy="24150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4516" name="Rectangle 2"/>
          <p:cNvSpPr>
            <a:spLocks noGrp="1"/>
          </p:cNvSpPr>
          <p:nvPr>
            <p:ph type="title"/>
          </p:nvPr>
        </p:nvSpPr>
        <p:spPr>
          <a:xfrm>
            <a:off x="934720" y="0"/>
            <a:ext cx="7954010" cy="11430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3200" b="1" dirty="0"/>
              <a:t>三、低合金高强度结构钢牌号、成分、性能</a:t>
            </a:r>
            <a:r>
              <a:rPr lang="zh-CN" altLang="en-US" sz="800" b="1" dirty="0"/>
              <a:t>（</a:t>
            </a:r>
            <a:r>
              <a:rPr lang="en-US" altLang="zh-CN" sz="800" b="1" dirty="0"/>
              <a:t>P111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112</a:t>
            </a:r>
            <a:r>
              <a:rPr lang="zh-CN" altLang="en-US" sz="800" b="1" dirty="0"/>
              <a:t>表</a:t>
            </a:r>
            <a:r>
              <a:rPr lang="en-US" altLang="zh-CN" sz="800" b="1" dirty="0"/>
              <a:t>6-6</a:t>
            </a:r>
            <a:r>
              <a:rPr lang="zh-CN" altLang="en-US" sz="800" b="1" dirty="0"/>
              <a:t>）</a:t>
            </a:r>
            <a:endParaRPr lang="zh-CN" altLang="en-US" sz="800" b="1" dirty="0"/>
          </a:p>
        </p:txBody>
      </p:sp>
      <p:pic>
        <p:nvPicPr>
          <p:cNvPr id="64517" name="Picture 4" descr="《工程材料》T6-6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2746375" y="1268730"/>
            <a:ext cx="5857875" cy="5010785"/>
          </a:xfrm>
        </p:spPr>
      </p:pic>
      <p:pic>
        <p:nvPicPr>
          <p:cNvPr id="64519" name="Picture 6" descr="表6-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1295" y="1196975"/>
            <a:ext cx="6392545" cy="510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l="34250" t="10801" r="35038" b="50688"/>
          <a:stretch>
            <a:fillRect/>
          </a:stretch>
        </p:blipFill>
        <p:spPr>
          <a:xfrm>
            <a:off x="107950" y="1196975"/>
            <a:ext cx="2739390" cy="19329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76415" y="1196975"/>
            <a:ext cx="1804035" cy="2527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GB/T 1591-2018</a:t>
            </a:r>
            <a:endParaRPr lang="en-US" altLang="zh-CN" sz="1400" dirty="0">
              <a:solidFill>
                <a:srgbClr val="0000FF"/>
              </a:solidFill>
            </a:endParaRP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1968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596380"/>
            <a:ext cx="528320" cy="26162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>
          <a:xfrm>
            <a:off x="1619885" y="44450"/>
            <a:ext cx="6871970" cy="92900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三、低合金高强度结构钢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179388" y="1125538"/>
            <a:ext cx="5678487" cy="52324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5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、典型钢种及用途：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Q345</a:t>
            </a:r>
            <a:r>
              <a:rPr lang="zh-CN" altLang="en-US" sz="2800" b="1" dirty="0">
                <a:ea typeface="华文中宋" panose="02010600040101010101" pitchFamily="2" charset="-122"/>
              </a:rPr>
              <a:t>钢</a:t>
            </a:r>
            <a:r>
              <a:rPr lang="en-US" altLang="zh-CN" sz="2800" b="1" dirty="0">
                <a:ea typeface="华文中宋" panose="02010600040101010101" pitchFamily="2" charset="-122"/>
              </a:rPr>
              <a:t>(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16Mn</a:t>
            </a:r>
            <a:r>
              <a:rPr lang="en-US" altLang="zh-CN" sz="2800" b="1" dirty="0"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ea typeface="华文中宋" panose="02010600040101010101" pitchFamily="2" charset="-122"/>
              </a:rPr>
              <a:t>：综合性能好，用于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船舶、桥梁、车辆</a:t>
            </a:r>
            <a:r>
              <a:rPr lang="zh-CN" altLang="en-US" sz="2800" b="1" dirty="0">
                <a:ea typeface="华文中宋" panose="02010600040101010101" pitchFamily="2" charset="-122"/>
              </a:rPr>
              <a:t>等大型钢结构。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Q390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钢：含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Ti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Nb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，强度高，用于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中等压力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的压力容器。</a:t>
            </a:r>
            <a:endParaRPr lang="zh-CN" altLang="en-US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Q460</a:t>
            </a:r>
            <a:r>
              <a:rPr lang="zh-CN" altLang="en-US" sz="2800" b="1" dirty="0">
                <a:ea typeface="华文中宋" panose="02010600040101010101" pitchFamily="2" charset="-122"/>
              </a:rPr>
              <a:t>钢：含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ea typeface="华文中宋" panose="02010600040101010101" pitchFamily="2" charset="-122"/>
              </a:rPr>
              <a:t>，正火组织为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贝氏体</a:t>
            </a:r>
            <a:r>
              <a:rPr lang="zh-CN" altLang="en-US" sz="2800" b="1" dirty="0">
                <a:ea typeface="华文中宋" panose="02010600040101010101" pitchFamily="2" charset="-122"/>
              </a:rPr>
              <a:t>，强度高，用于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石化中温高压容器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en-US" altLang="zh-CN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5940425" y="1714500"/>
            <a:ext cx="3117850" cy="4429125"/>
            <a:chOff x="2880" y="701"/>
            <a:chExt cx="2750" cy="3261"/>
          </a:xfrm>
        </p:grpSpPr>
        <p:grpSp>
          <p:nvGrpSpPr>
            <p:cNvPr id="63496" name="Group 5"/>
            <p:cNvGrpSpPr>
              <a:grpSpLocks noChangeAspect="1"/>
            </p:cNvGrpSpPr>
            <p:nvPr/>
          </p:nvGrpSpPr>
          <p:grpSpPr>
            <a:xfrm>
              <a:off x="2880" y="701"/>
              <a:ext cx="2750" cy="1565"/>
              <a:chOff x="2880" y="701"/>
              <a:chExt cx="2750" cy="1565"/>
            </a:xfrm>
          </p:grpSpPr>
          <p:pic>
            <p:nvPicPr>
              <p:cNvPr id="63498" name="Picture 6" descr="南京长江大桥1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880" y="701"/>
                <a:ext cx="2750" cy="1565"/>
              </a:xfrm>
              <a:prstGeom prst="rect">
                <a:avLst/>
              </a:prstGeom>
              <a:noFill/>
              <a:ln w="1905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63499" name="Rectangle 7"/>
              <p:cNvSpPr>
                <a:spLocks noChangeAspect="1"/>
              </p:cNvSpPr>
              <p:nvPr/>
            </p:nvSpPr>
            <p:spPr>
              <a:xfrm>
                <a:off x="2952" y="720"/>
                <a:ext cx="1241" cy="19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南京长江大桥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3497" name="Picture 8" descr="船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0" y="2436"/>
              <a:ext cx="2750" cy="1526"/>
            </a:xfrm>
            <a:prstGeom prst="rect">
              <a:avLst/>
            </a:prstGeom>
            <a:noFill/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6349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6553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5540" name="Rectangle 2"/>
          <p:cNvSpPr>
            <a:spLocks noGrp="1"/>
          </p:cNvSpPr>
          <p:nvPr>
            <p:ph type="title"/>
          </p:nvPr>
        </p:nvSpPr>
        <p:spPr>
          <a:xfrm>
            <a:off x="899592" y="0"/>
            <a:ext cx="8136903" cy="11430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3200" b="1" dirty="0"/>
              <a:t>三、低合金高强度结构钢牌号、成分、性能</a:t>
            </a:r>
            <a:endParaRPr lang="zh-CN" altLang="en-US" sz="3200" b="1" dirty="0"/>
          </a:p>
        </p:txBody>
      </p:sp>
      <p:pic>
        <p:nvPicPr>
          <p:cNvPr id="65541" name="Picture 3" descr="《工程材料》T6-6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1116013" y="1268413"/>
            <a:ext cx="7488237" cy="5410200"/>
          </a:xfrm>
        </p:spPr>
      </p:pic>
      <p:pic>
        <p:nvPicPr>
          <p:cNvPr id="65543" name="Picture 5" descr="表6-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388" y="1268413"/>
            <a:ext cx="8748712" cy="54149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4" name="Picture 6" descr="表6-6（2）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388" y="1129897"/>
            <a:ext cx="8748712" cy="5594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99715" y="914400"/>
            <a:ext cx="4799330" cy="38163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 1591-2018 </a:t>
            </a:r>
            <a:r>
              <a:rPr lang="en-US" altLang="zh-CN" sz="2000" dirty="0">
                <a:solidFill>
                  <a:srgbClr val="0000FF"/>
                </a:solidFill>
                <a:cs typeface="+mn-ea"/>
                <a:sym typeface="+mn-ea"/>
              </a:rPr>
              <a:t>低合金高强度结构钢</a:t>
            </a:r>
            <a:endParaRPr lang="en-US" altLang="zh-CN" sz="2000" dirty="0">
              <a:solidFill>
                <a:srgbClr val="0000FF"/>
              </a:solidFill>
              <a:cs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86855"/>
            <a:ext cx="457200" cy="27114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xfrm>
            <a:off x="683568" y="1484784"/>
            <a:ext cx="7416824" cy="2736304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dirty="0"/>
              <a:t>四、渗碳钢</a:t>
            </a:r>
            <a:br>
              <a:rPr lang="en-US" altLang="zh-CN" sz="6600" b="1" dirty="0"/>
            </a:br>
            <a:r>
              <a:rPr lang="en-US" altLang="zh-CN" sz="6600" b="1" i="1" dirty="0">
                <a:latin typeface="+mn-lt"/>
              </a:rPr>
              <a:t>Carburizing Steel</a:t>
            </a:r>
            <a:endParaRPr lang="zh-CN" altLang="en-US" sz="6600" b="1" i="1" dirty="0">
              <a:latin typeface="+mn-lt"/>
            </a:endParaRPr>
          </a:p>
        </p:txBody>
      </p:sp>
      <p:sp>
        <p:nvSpPr>
          <p:cNvPr id="6759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284162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86855"/>
            <a:ext cx="457200" cy="27114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xfrm>
            <a:off x="2357438" y="0"/>
            <a:ext cx="3960812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四、渗碳钢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7588" name="Rectangle 3"/>
          <p:cNvSpPr>
            <a:spLocks noGrp="1"/>
          </p:cNvSpPr>
          <p:nvPr>
            <p:ph idx="1"/>
          </p:nvPr>
        </p:nvSpPr>
        <p:spPr>
          <a:xfrm>
            <a:off x="179705" y="1052195"/>
            <a:ext cx="5256391" cy="509143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渗碳钢：</a:t>
            </a:r>
            <a:r>
              <a:rPr lang="zh-CN" altLang="en-US" sz="2800" b="1" dirty="0">
                <a:ea typeface="华文中宋" panose="02010600040101010101" pitchFamily="2" charset="-122"/>
              </a:rPr>
              <a:t>制造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渗碳零件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钢种。 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、性能要求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表硬里韧：高硬度、高耐磨性（表面），足够的韧性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强度（心部）</a:t>
            </a:r>
            <a:r>
              <a:rPr lang="zh-CN" altLang="en-US" sz="2800" b="1" dirty="0">
                <a:ea typeface="华文中宋" panose="02010600040101010101" pitchFamily="2" charset="-122"/>
              </a:rPr>
              <a:t>。 </a:t>
            </a:r>
            <a:endParaRPr lang="zh-CN" altLang="en-US" sz="2800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zh-CN" altLang="en-US" sz="2800" b="1" dirty="0">
                <a:ea typeface="华文中宋" panose="02010600040101010101" pitchFamily="2" charset="-122"/>
              </a:rPr>
              <a:t> 良好的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热处理性能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，</a:t>
            </a:r>
            <a:r>
              <a:rPr lang="zh-CN" altLang="en-US" sz="2800" b="1" dirty="0">
                <a:ea typeface="华文中宋" panose="02010600040101010101" pitchFamily="2" charset="-122"/>
              </a:rPr>
              <a:t>如淬透性和渗碳能力。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5643563" y="1214438"/>
            <a:ext cx="3342659" cy="5500383"/>
            <a:chOff x="2920" y="-54"/>
            <a:chExt cx="2635" cy="4338"/>
          </a:xfrm>
        </p:grpSpPr>
        <p:pic>
          <p:nvPicPr>
            <p:cNvPr id="67592" name="Picture 6" descr="渗碳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20" y="-54"/>
              <a:ext cx="2592" cy="2743"/>
            </a:xfrm>
            <a:prstGeom prst="rect">
              <a:avLst/>
            </a:prstGeom>
            <a:solidFill>
              <a:srgbClr val="CCFFFF"/>
            </a:solidFill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67593" name="Text Box 7"/>
            <p:cNvSpPr txBox="1">
              <a:spLocks noChangeAspect="1"/>
            </p:cNvSpPr>
            <p:nvPr/>
          </p:nvSpPr>
          <p:spPr>
            <a:xfrm>
              <a:off x="5220" y="-32"/>
              <a:ext cx="335" cy="85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/>
              <a:r>
                <a:rPr lang="zh-CN" altLang="en-US" sz="2000" dirty="0">
                  <a:latin typeface="Times New Roman" panose="02020603050405020304" pitchFamily="18" charset="0"/>
                  <a:ea typeface="华文宋体" panose="02010600040101010101" pitchFamily="2" charset="-122"/>
                </a:rPr>
                <a:t>渗碳炉</a:t>
              </a:r>
              <a:endParaRPr lang="zh-CN" altLang="en-US" sz="2000" dirty="0">
                <a:latin typeface="Times New Roman" panose="02020603050405020304" pitchFamily="18" charset="0"/>
                <a:ea typeface="华文宋体" panose="02010600040101010101" pitchFamily="2" charset="-122"/>
              </a:endParaRPr>
            </a:p>
          </p:txBody>
        </p:sp>
        <p:pic>
          <p:nvPicPr>
            <p:cNvPr id="67594" name="Picture 8" descr="渗碳件-传动齿轮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0" y="2820"/>
              <a:ext cx="2591" cy="1104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83657" name="Text Box 9"/>
            <p:cNvSpPr txBox="1">
              <a:spLocks noChangeAspect="1" noChangeArrowheads="1"/>
            </p:cNvSpPr>
            <p:nvPr/>
          </p:nvSpPr>
          <p:spPr bwMode="auto">
            <a:xfrm>
              <a:off x="3337" y="3968"/>
              <a:ext cx="1896" cy="31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宋体" panose="02010600040101010101" pitchFamily="2" charset="-122"/>
                  <a:cs typeface="+mn-cs"/>
                </a:rPr>
                <a:t>渗碳件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宋体" panose="02010600040101010101" pitchFamily="2" charset="-122"/>
                  <a:cs typeface="+mn-cs"/>
                </a:rPr>
                <a:t>—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宋体" panose="02010600040101010101" pitchFamily="2" charset="-122"/>
                  <a:cs typeface="+mn-cs"/>
                </a:rPr>
                <a:t>传动齿轮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endParaRPr>
            </a:p>
          </p:txBody>
        </p:sp>
      </p:grpSp>
      <p:sp>
        <p:nvSpPr>
          <p:cNvPr id="6759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28765"/>
            <a:ext cx="528320" cy="22923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85875" y="0"/>
            <a:ext cx="752951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四、渗碳钢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——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、成分特点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8612" name="Rectangle 3"/>
          <p:cNvSpPr>
            <a:spLocks noGrp="1"/>
          </p:cNvSpPr>
          <p:nvPr>
            <p:ph idx="1"/>
          </p:nvPr>
        </p:nvSpPr>
        <p:spPr>
          <a:xfrm>
            <a:off x="539552" y="1196975"/>
            <a:ext cx="4896048" cy="532955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低碳：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0.1~0.25%C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合金元素作用： 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①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提高淬透性：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        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B </a:t>
            </a:r>
            <a:endParaRPr lang="en-US" altLang="zh-CN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②</a:t>
            </a:r>
            <a:r>
              <a:rPr lang="en-US" altLang="zh-CN" sz="2800" b="1" dirty="0"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强化铁素体：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        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Ni</a:t>
            </a:r>
            <a:r>
              <a:rPr lang="en-US" altLang="zh-CN" sz="2800" b="1" dirty="0">
                <a:ea typeface="华文中宋" panose="02010600040101010101" pitchFamily="2" charset="-122"/>
              </a:rPr>
              <a:t> 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③</a:t>
            </a:r>
            <a:r>
              <a:rPr lang="en-US" altLang="zh-CN" sz="2800" b="1" dirty="0"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细化晶粒：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        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Ti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V</a:t>
            </a:r>
            <a:r>
              <a:rPr lang="en-US" altLang="zh-CN" sz="2800" b="1" dirty="0">
                <a:ea typeface="华文中宋" panose="02010600040101010101" pitchFamily="2" charset="-122"/>
              </a:rPr>
              <a:t> 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5647555" y="1285875"/>
            <a:ext cx="3058296" cy="4496620"/>
            <a:chOff x="2960" y="432"/>
            <a:chExt cx="2608" cy="3037"/>
          </a:xfrm>
        </p:grpSpPr>
        <p:pic>
          <p:nvPicPr>
            <p:cNvPr id="68616" name="Picture 6" descr="渗碳件(车螺丝、转轴、轴心、连杆、锁扣、)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60" y="432"/>
              <a:ext cx="2607" cy="1799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68617" name="Picture 7" descr="渗碳件(高精密独立导柱)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4" y="2317"/>
              <a:ext cx="2604" cy="1152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68618" name="Rectangle 8"/>
            <p:cNvSpPr>
              <a:spLocks noChangeAspect="1"/>
            </p:cNvSpPr>
            <p:nvPr/>
          </p:nvSpPr>
          <p:spPr>
            <a:xfrm>
              <a:off x="3885" y="1928"/>
              <a:ext cx="864" cy="24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rgbClr val="33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2400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渗碳件</a:t>
              </a:r>
              <a:endParaRPr lang="zh-CN" altLang="en-US" sz="2400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19" name="Text Box 9"/>
            <p:cNvSpPr txBox="1">
              <a:spLocks noChangeAspect="1"/>
            </p:cNvSpPr>
            <p:nvPr/>
          </p:nvSpPr>
          <p:spPr>
            <a:xfrm>
              <a:off x="3639" y="2317"/>
              <a:ext cx="1908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高精密独立导柱</a:t>
              </a:r>
              <a:endParaRPr lang="zh-CN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86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10985"/>
            <a:ext cx="457200" cy="24701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0"/>
            <a:ext cx="77724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四、渗碳钢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——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、热处理特点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9636" name="Rectangle 3"/>
          <p:cNvSpPr>
            <a:spLocks noGrp="1"/>
          </p:cNvSpPr>
          <p:nvPr>
            <p:ph idx="1"/>
          </p:nvPr>
        </p:nvSpPr>
        <p:spPr>
          <a:xfrm>
            <a:off x="142875" y="1000125"/>
            <a:ext cx="6715125" cy="542925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渗碳件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加工工艺路线</a:t>
            </a:r>
            <a:r>
              <a:rPr lang="zh-CN" altLang="en-US" b="1" dirty="0"/>
              <a:t>：</a:t>
            </a:r>
            <a:endParaRPr lang="zh-CN" altLang="en-US" b="1" dirty="0"/>
          </a:p>
          <a:p>
            <a:pPr marL="0" indent="0" eaLnBrk="1" hangingPunct="1">
              <a:buNone/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  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下料→锻造→正火→机加工→渗碳→淬火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低温回火→磨削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正火目的：</a:t>
            </a:r>
            <a:r>
              <a:rPr lang="zh-CN" altLang="en-US" b="1" dirty="0"/>
              <a:t>调整硬度，便于切削加工。</a:t>
            </a:r>
            <a:endParaRPr lang="zh-CN" altLang="en-US" b="1" dirty="0">
              <a:solidFill>
                <a:srgbClr val="66FF33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淬火温度</a:t>
            </a:r>
            <a:r>
              <a:rPr lang="zh-CN" altLang="en-US" b="1" dirty="0"/>
              <a:t>一般为 </a:t>
            </a:r>
            <a:r>
              <a:rPr lang="en-US" altLang="zh-CN" b="1" dirty="0">
                <a:solidFill>
                  <a:schemeClr val="folHlink"/>
                </a:solidFill>
              </a:rPr>
              <a:t>Ac1+30~50℃</a:t>
            </a:r>
            <a:r>
              <a:rPr lang="zh-CN" altLang="en-US" b="1" dirty="0"/>
              <a:t>。 </a:t>
            </a:r>
            <a:endParaRPr lang="zh-CN" altLang="en-US" b="1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使用状态下组织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r>
              <a:rPr lang="zh-CN" altLang="en-US" b="1" dirty="0"/>
              <a:t>    心部：</a:t>
            </a:r>
            <a:r>
              <a:rPr lang="en-US" altLang="zh-CN" b="1" dirty="0">
                <a:solidFill>
                  <a:schemeClr val="folHlink"/>
                </a:solidFill>
              </a:rPr>
              <a:t>M</a:t>
            </a:r>
            <a:r>
              <a:rPr lang="zh-CN" altLang="en-US" b="1" baseline="-25000" dirty="0">
                <a:solidFill>
                  <a:schemeClr val="folHlink"/>
                </a:solidFill>
              </a:rPr>
              <a:t>回</a:t>
            </a:r>
            <a:r>
              <a:rPr lang="en-US" altLang="zh-CN" b="1" dirty="0">
                <a:solidFill>
                  <a:schemeClr val="folHlink"/>
                </a:solidFill>
              </a:rPr>
              <a:t>+F</a:t>
            </a: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r>
              <a:rPr lang="zh-CN" altLang="en-US" b="1" dirty="0"/>
              <a:t>    表层：</a:t>
            </a:r>
            <a:r>
              <a:rPr lang="en-US" altLang="zh-CN" b="1" dirty="0">
                <a:solidFill>
                  <a:schemeClr val="folHlink"/>
                </a:solidFill>
              </a:rPr>
              <a:t>M</a:t>
            </a:r>
            <a:r>
              <a:rPr lang="zh-CN" altLang="en-US" b="1" baseline="-25000" dirty="0">
                <a:solidFill>
                  <a:schemeClr val="folHlink"/>
                </a:solidFill>
              </a:rPr>
              <a:t>回</a:t>
            </a:r>
            <a:r>
              <a:rPr lang="en-US" altLang="zh-CN" b="1" dirty="0">
                <a:solidFill>
                  <a:schemeClr val="folHlink"/>
                </a:solidFill>
              </a:rPr>
              <a:t>+</a:t>
            </a:r>
            <a:r>
              <a:rPr lang="zh-CN" altLang="en-US" b="1" dirty="0">
                <a:solidFill>
                  <a:schemeClr val="folHlink"/>
                </a:solidFill>
              </a:rPr>
              <a:t>颗粒状碳化物</a:t>
            </a:r>
            <a:r>
              <a:rPr lang="en-US" altLang="zh-CN" b="1" dirty="0">
                <a:solidFill>
                  <a:schemeClr val="folHlink"/>
                </a:solidFill>
              </a:rPr>
              <a:t>+A’(</a:t>
            </a:r>
            <a:r>
              <a:rPr lang="zh-CN" altLang="en-US" b="1" dirty="0">
                <a:solidFill>
                  <a:schemeClr val="folHlink"/>
                </a:solidFill>
              </a:rPr>
              <a:t>少量</a:t>
            </a:r>
            <a:r>
              <a:rPr lang="en-US" altLang="zh-CN" b="1" dirty="0">
                <a:solidFill>
                  <a:schemeClr val="folHlink"/>
                </a:solidFill>
              </a:rPr>
              <a:t>)</a:t>
            </a:r>
            <a:r>
              <a:rPr lang="zh-CN" altLang="en-US" b="1" dirty="0">
                <a:solidFill>
                  <a:schemeClr val="folHlink"/>
                </a:solidFill>
              </a:rPr>
              <a:t>；</a:t>
            </a:r>
            <a:endParaRPr lang="en-US" altLang="zh-CN" b="1" dirty="0">
              <a:solidFill>
                <a:schemeClr val="folHlink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660223" y="3284855"/>
            <a:ext cx="2333917" cy="2576195"/>
            <a:chOff x="2851" y="508"/>
            <a:chExt cx="2250" cy="1714"/>
          </a:xfrm>
        </p:grpSpPr>
        <p:pic>
          <p:nvPicPr>
            <p:cNvPr id="69640" name="Picture 6" descr="info-3渗碳淬火后表层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16" y="508"/>
              <a:ext cx="1992" cy="1493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69641" name="Text Box 7"/>
            <p:cNvSpPr txBox="1">
              <a:spLocks noChangeAspect="1"/>
            </p:cNvSpPr>
            <p:nvPr/>
          </p:nvSpPr>
          <p:spPr>
            <a:xfrm>
              <a:off x="2851" y="1998"/>
              <a:ext cx="2250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r" eaLnBrk="1" hangingPunct="1"/>
              <a:r>
                <a:rPr lang="zh-CN" altLang="en-US" sz="16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渗碳淬火后的表层组织</a:t>
              </a:r>
              <a:endParaRPr lang="zh-CN" altLang="en-US" sz="16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963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10985"/>
            <a:ext cx="457200" cy="24701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29005" y="0"/>
            <a:ext cx="8215630" cy="94361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四、渗碳钢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、常用钢号及用途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>
          <a:xfrm>
            <a:off x="395605" y="1268730"/>
            <a:ext cx="6977380" cy="263334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低淬透性钢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20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20Cr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/>
              <a:t>用于受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冲击载荷较小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耐磨件</a:t>
            </a:r>
            <a:r>
              <a:rPr lang="zh-CN" altLang="en-US" b="1" dirty="0"/>
              <a:t>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小轴</a:t>
            </a:r>
            <a:r>
              <a:rPr lang="zh-CN" altLang="en-US" b="1" dirty="0"/>
              <a:t>、柴油机的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活塞销、凸轮轴</a:t>
            </a:r>
            <a:r>
              <a:rPr lang="zh-CN" altLang="en-US" b="1" dirty="0"/>
              <a:t>等。</a:t>
            </a:r>
            <a:endParaRPr lang="zh-CN" altLang="en-US" b="1" dirty="0"/>
          </a:p>
        </p:txBody>
      </p:sp>
      <p:pic>
        <p:nvPicPr>
          <p:cNvPr id="70662" name="Picture 7" descr="camshaft1柴油机凸轮轴"/>
          <p:cNvPicPr preferRelativeResize="0"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403033" y="3860483"/>
            <a:ext cx="3024187" cy="172720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grpSp>
        <p:nvGrpSpPr>
          <p:cNvPr id="70663" name="Group 8"/>
          <p:cNvGrpSpPr/>
          <p:nvPr/>
        </p:nvGrpSpPr>
        <p:grpSpPr>
          <a:xfrm>
            <a:off x="5065395" y="3836988"/>
            <a:ext cx="2520950" cy="1709737"/>
            <a:chOff x="2676" y="408"/>
            <a:chExt cx="2732" cy="1712"/>
          </a:xfrm>
        </p:grpSpPr>
        <p:pic>
          <p:nvPicPr>
            <p:cNvPr id="70666" name="Picture 9" descr="活塞销（20Cr）"/>
            <p:cNvPicPr preferRelativeResize="0"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8" y="432"/>
              <a:ext cx="2720" cy="168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86730" name="Text Box 10"/>
            <p:cNvSpPr txBox="1">
              <a:spLocks noChangeAspect="1" noChangeArrowheads="1"/>
            </p:cNvSpPr>
            <p:nvPr/>
          </p:nvSpPr>
          <p:spPr bwMode="auto">
            <a:xfrm>
              <a:off x="2676" y="408"/>
              <a:ext cx="1056" cy="703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活塞销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(20Cr)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664" name="Text Box 11"/>
          <p:cNvSpPr txBox="1">
            <a:spLocks noChangeAspect="1"/>
          </p:cNvSpPr>
          <p:nvPr/>
        </p:nvSpPr>
        <p:spPr>
          <a:xfrm>
            <a:off x="1428750" y="3860800"/>
            <a:ext cx="10080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柴油机凸轮轴</a:t>
            </a:r>
            <a:endParaRPr lang="zh-CN" altLang="en-US" sz="2000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6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0" y="6621780"/>
            <a:ext cx="1028700" cy="23622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71683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5685" y="6621780"/>
            <a:ext cx="415925" cy="27432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7993063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四、渗碳钢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——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、常用钢号及用途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1685" name="Rectangle 3"/>
          <p:cNvSpPr>
            <a:spLocks noGrp="1"/>
          </p:cNvSpPr>
          <p:nvPr>
            <p:ph idx="1"/>
          </p:nvPr>
        </p:nvSpPr>
        <p:spPr>
          <a:xfrm>
            <a:off x="5080" y="929005"/>
            <a:ext cx="5286375" cy="55816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）中淬透性钢：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20CrMnTi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b="1" dirty="0">
                <a:ea typeface="华文中宋" panose="02010600040101010101" pitchFamily="2" charset="-122"/>
              </a:rPr>
              <a:t>用于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中等载荷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耐磨件</a:t>
            </a:r>
            <a:r>
              <a:rPr lang="zh-CN" altLang="en-US" b="1" dirty="0">
                <a:ea typeface="华文中宋" panose="02010600040101010101" pitchFamily="2" charset="-122"/>
              </a:rPr>
              <a:t>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变速箱齿轮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000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）高淬透性钢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18Cr2Ni4WA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。</a:t>
            </a:r>
            <a:r>
              <a:rPr lang="zh-CN" altLang="en-US" b="1" dirty="0">
                <a:ea typeface="华文中宋" panose="02010600040101010101" pitchFamily="2" charset="-122"/>
              </a:rPr>
              <a:t>用于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大截面、大载荷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重要耐磨件</a:t>
            </a:r>
            <a:r>
              <a:rPr lang="zh-CN" altLang="en-US" b="1" dirty="0">
                <a:ea typeface="华文中宋" panose="02010600040101010101" pitchFamily="2" charset="-122"/>
              </a:rPr>
              <a:t>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飞机、坦克、柴油机曲轴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齿轮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652135" y="1268730"/>
            <a:ext cx="3315335" cy="5219912"/>
            <a:chOff x="2400" y="480"/>
            <a:chExt cx="3008" cy="3654"/>
          </a:xfrm>
        </p:grpSpPr>
        <p:grpSp>
          <p:nvGrpSpPr>
            <p:cNvPr id="71688" name="Group 5"/>
            <p:cNvGrpSpPr>
              <a:grpSpLocks noChangeAspect="1"/>
            </p:cNvGrpSpPr>
            <p:nvPr/>
          </p:nvGrpSpPr>
          <p:grpSpPr>
            <a:xfrm>
              <a:off x="2400" y="2100"/>
              <a:ext cx="2950" cy="2034"/>
              <a:chOff x="2400" y="2159"/>
              <a:chExt cx="3060" cy="2109"/>
            </a:xfrm>
          </p:grpSpPr>
          <p:pic>
            <p:nvPicPr>
              <p:cNvPr id="71691" name="Picture 6" descr="405增压柴油机曲轴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400" y="2159"/>
                <a:ext cx="3060" cy="1825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71692" name="Text Box 7"/>
              <p:cNvSpPr txBox="1">
                <a:spLocks noChangeAspect="1"/>
              </p:cNvSpPr>
              <p:nvPr/>
            </p:nvSpPr>
            <p:spPr>
              <a:xfrm>
                <a:off x="3359" y="3755"/>
                <a:ext cx="1345" cy="5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增压柴油机曲轴</a:t>
                </a:r>
                <a:endParaRPr lang="zh-CN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71689" name="Picture 8" descr="汽车变速箱齿轮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0" y="480"/>
              <a:ext cx="2950" cy="1495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87753" name="Text Box 9"/>
            <p:cNvSpPr txBox="1">
              <a:spLocks noChangeAspect="1" noChangeArrowheads="1"/>
            </p:cNvSpPr>
            <p:nvPr/>
          </p:nvSpPr>
          <p:spPr bwMode="auto">
            <a:xfrm>
              <a:off x="4963" y="480"/>
              <a:ext cx="445" cy="14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汽车变速箱齿轮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7270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20125" y="6605270"/>
            <a:ext cx="498475" cy="25273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0"/>
            <a:ext cx="7458075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常用渗碳钢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P114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表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6-7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27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72710" name="Picture 4" descr="旋转 《工程材料》T6-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85800" y="752475"/>
            <a:ext cx="8281988" cy="5762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712" name="日期占位符 1"/>
          <p:cNvSpPr txBox="1"/>
          <p:nvPr/>
        </p:nvSpPr>
        <p:spPr>
          <a:xfrm>
            <a:off x="0" y="6515100"/>
            <a:ext cx="1785938" cy="3429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lvl="0" algn="l" eaLnBrk="1" hangingPunct="1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25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439535" y="744220"/>
            <a:ext cx="2376170" cy="21844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u="none" strike="noStrike" kern="100" dirty="0">
                <a:solidFill>
                  <a:srgbClr val="0000FF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hlinkClick r:id="rId3"/>
              </a:rPr>
              <a:t>GB/T3077-2015</a:t>
            </a:r>
            <a:r>
              <a:rPr lang="en-US" altLang="zh-CN" sz="1400" u="sng" kern="100" dirty="0">
                <a:solidFill>
                  <a:srgbClr val="0000FF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  <a:hlinkClick r:id="rId3"/>
              </a:rPr>
              <a:t>合金结构钢</a:t>
            </a:r>
            <a:endParaRPr lang="en-US" altLang="zh-CN" sz="1400" u="sng" kern="100" dirty="0">
              <a:solidFill>
                <a:srgbClr val="0000FF"/>
              </a:solidFill>
              <a:effectLst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  <a:hlinkClick r:id="rId3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"/>
          <p:cNvSpPr>
            <a:spLocks noGrp="1"/>
          </p:cNvSpPr>
          <p:nvPr>
            <p:ph type="title"/>
          </p:nvPr>
        </p:nvSpPr>
        <p:spPr>
          <a:xfrm>
            <a:off x="766445" y="1412776"/>
            <a:ext cx="7691755" cy="3744416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dirty="0"/>
              <a:t>五、调质钢</a:t>
            </a:r>
            <a:br>
              <a:rPr lang="en-US" altLang="zh-CN" sz="6600" b="1" dirty="0"/>
            </a:br>
            <a:r>
              <a:rPr lang="en-GB" altLang="zh-CN" sz="6600" b="1" i="1" dirty="0">
                <a:effectLst/>
                <a:latin typeface="+mn-lt"/>
              </a:rPr>
              <a:t>H</a:t>
            </a:r>
            <a:r>
              <a:rPr lang="en-GB" altLang="zh-CN" sz="6600" i="1" dirty="0">
                <a:effectLst/>
                <a:latin typeface="+mn-lt"/>
              </a:rPr>
              <a:t>ardened and tempered steel</a:t>
            </a:r>
            <a:endParaRPr lang="zh-CN" altLang="en-US" sz="6600" b="1" i="1" dirty="0">
              <a:latin typeface="+mn-lt"/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 txBox="1"/>
          <p:nvPr/>
        </p:nvSpPr>
        <p:spPr>
          <a:xfrm>
            <a:off x="0" y="6515100"/>
            <a:ext cx="1785938" cy="3429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lvl="0" algn="l" eaLnBrk="1" hangingPunct="1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20125" y="6605270"/>
            <a:ext cx="498475" cy="25273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28530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73731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7668895" y="6505575"/>
            <a:ext cx="774065" cy="3524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3732" name="Rectangle 2"/>
          <p:cNvSpPr>
            <a:spLocks noGrp="1"/>
          </p:cNvSpPr>
          <p:nvPr>
            <p:ph type="title"/>
          </p:nvPr>
        </p:nvSpPr>
        <p:spPr>
          <a:xfrm>
            <a:off x="1259205" y="0"/>
            <a:ext cx="5365750" cy="86296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五、调质钢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3733" name="Rectangle 3"/>
          <p:cNvSpPr>
            <a:spLocks noGrp="1"/>
          </p:cNvSpPr>
          <p:nvPr>
            <p:ph idx="1"/>
          </p:nvPr>
        </p:nvSpPr>
        <p:spPr>
          <a:xfrm>
            <a:off x="285750" y="1214438"/>
            <a:ext cx="7954963" cy="44577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调质钢：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调质后使用的钢种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、性能要求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良好的综合力学性能。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良好的淬透性。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6652504" y="2538327"/>
            <a:ext cx="2287604" cy="1647792"/>
            <a:chOff x="3273" y="576"/>
            <a:chExt cx="2162" cy="1636"/>
          </a:xfrm>
        </p:grpSpPr>
        <p:pic>
          <p:nvPicPr>
            <p:cNvPr id="73743" name="Picture 5" descr="调质件（螺杆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73" y="576"/>
              <a:ext cx="2162" cy="1636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44" name="Text Box 6"/>
            <p:cNvSpPr txBox="1">
              <a:spLocks noChangeAspect="1"/>
            </p:cNvSpPr>
            <p:nvPr/>
          </p:nvSpPr>
          <p:spPr>
            <a:xfrm>
              <a:off x="3324" y="602"/>
              <a:ext cx="1929" cy="3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调质件（螺杆）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50887" name="Picture 7" descr="dx11型钢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44165" y="4725035"/>
            <a:ext cx="5971540" cy="15748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3737" name="Group 10"/>
          <p:cNvGrpSpPr>
            <a:grpSpLocks noChangeAspect="1"/>
          </p:cNvGrpSpPr>
          <p:nvPr/>
        </p:nvGrpSpPr>
        <p:grpSpPr>
          <a:xfrm>
            <a:off x="6443485" y="1412609"/>
            <a:ext cx="2520960" cy="945418"/>
            <a:chOff x="3113" y="336"/>
            <a:chExt cx="2438" cy="914"/>
          </a:xfrm>
        </p:grpSpPr>
        <p:pic>
          <p:nvPicPr>
            <p:cNvPr id="73741" name="Picture 11" descr="调质件（冷却轮）"/>
            <p:cNvPicPr>
              <a:picLocks noChangeAspect="1"/>
            </p:cNvPicPr>
            <p:nvPr/>
          </p:nvPicPr>
          <p:blipFill>
            <a:blip r:embed="rId3" cstate="print"/>
            <a:srcRect l="5314" r="4133"/>
            <a:stretch>
              <a:fillRect/>
            </a:stretch>
          </p:blipFill>
          <p:spPr>
            <a:xfrm>
              <a:off x="3113" y="336"/>
              <a:ext cx="2438" cy="911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42" name="Text Box 12"/>
            <p:cNvSpPr txBox="1">
              <a:spLocks noChangeAspect="1"/>
            </p:cNvSpPr>
            <p:nvPr/>
          </p:nvSpPr>
          <p:spPr>
            <a:xfrm>
              <a:off x="3295" y="893"/>
              <a:ext cx="2046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调质件（冷却轮）</a:t>
              </a:r>
              <a:endParaRPr lang="zh-CN" altLang="en-US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3738" name="Group 13"/>
          <p:cNvGrpSpPr/>
          <p:nvPr/>
        </p:nvGrpSpPr>
        <p:grpSpPr>
          <a:xfrm>
            <a:off x="492443" y="4724718"/>
            <a:ext cx="2290763" cy="1741488"/>
            <a:chOff x="4071" y="1937"/>
            <a:chExt cx="1443" cy="1097"/>
          </a:xfrm>
        </p:grpSpPr>
        <p:pic>
          <p:nvPicPr>
            <p:cNvPr id="73739" name="Picture 14" descr="破碎机主轴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1" y="1937"/>
              <a:ext cx="1443" cy="1083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40" name="Text Box 15"/>
            <p:cNvSpPr txBox="1">
              <a:spLocks noChangeAspect="1"/>
            </p:cNvSpPr>
            <p:nvPr/>
          </p:nvSpPr>
          <p:spPr>
            <a:xfrm>
              <a:off x="4512" y="2784"/>
              <a:ext cx="100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r" eaLnBrk="1" hangingPunct="1"/>
              <a:r>
                <a:rPr lang="zh-CN" altLang="en-US" sz="2000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破碎机主轴</a:t>
              </a:r>
              <a:endParaRPr lang="zh-CN" altLang="en-US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00190"/>
            <a:ext cx="457200" cy="2578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7724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五、调质钢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——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、成分特点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4756" name="Rectangle 3"/>
          <p:cNvSpPr>
            <a:spLocks noGrp="1"/>
          </p:cNvSpPr>
          <p:nvPr>
            <p:ph idx="1"/>
          </p:nvPr>
        </p:nvSpPr>
        <p:spPr>
          <a:xfrm>
            <a:off x="881529" y="1228408"/>
            <a:ext cx="7772400" cy="507206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中碳：</a:t>
            </a:r>
            <a:r>
              <a:rPr lang="en-US" altLang="zh-CN" b="1" dirty="0">
                <a:ea typeface="华文中宋" panose="02010600040101010101" pitchFamily="2" charset="-122"/>
              </a:rPr>
              <a:t>0.3~0.5%C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合金元素作用：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66FF33"/>
                </a:solidFill>
                <a:ea typeface="华文中宋" panose="02010600040101010101" pitchFamily="2" charset="-122"/>
              </a:rPr>
              <a:t>       ①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提高淬透性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en-US" altLang="zh-CN" b="1" dirty="0"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ea typeface="华文中宋" panose="02010600040101010101" pitchFamily="2" charset="-122"/>
              </a:rPr>
              <a:t>Ni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ea typeface="华文中宋" panose="02010600040101010101" pitchFamily="2" charset="-122"/>
              </a:rPr>
              <a:t>B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rgbClr val="66FF33"/>
                </a:solidFill>
                <a:ea typeface="华文中宋" panose="02010600040101010101" pitchFamily="2" charset="-122"/>
              </a:rPr>
              <a:t>       ②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强化铁素体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en-US" altLang="zh-CN" b="1" dirty="0"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ea typeface="华文中宋" panose="02010600040101010101" pitchFamily="2" charset="-122"/>
              </a:rPr>
              <a:t>Ni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rgbClr val="66FF33"/>
                </a:solidFill>
                <a:ea typeface="华文中宋" panose="02010600040101010101" pitchFamily="2" charset="-122"/>
              </a:rPr>
              <a:t>       ③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细化晶粒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en-US" altLang="zh-CN" b="1" dirty="0">
                <a:ea typeface="华文中宋" panose="02010600040101010101" pitchFamily="2" charset="-122"/>
              </a:rPr>
              <a:t>Ti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ea typeface="华文中宋" panose="02010600040101010101" pitchFamily="2" charset="-122"/>
              </a:rPr>
              <a:t>V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rgbClr val="66FF33"/>
                </a:solidFill>
                <a:ea typeface="华文中宋" panose="02010600040101010101" pitchFamily="2" charset="-122"/>
              </a:rPr>
              <a:t>       ④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防止第二类回火脆性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en-US" altLang="zh-CN" b="1" dirty="0"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ea typeface="华文中宋" panose="02010600040101010101" pitchFamily="2" charset="-122"/>
              </a:rPr>
              <a:t>Mo 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7475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9655" y="6600190"/>
            <a:ext cx="457200" cy="2578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39140" y="0"/>
            <a:ext cx="8305800" cy="101473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五、调质钢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、热处理及组织特点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5780" name="Rectangle 3"/>
          <p:cNvSpPr>
            <a:spLocks noGrp="1"/>
          </p:cNvSpPr>
          <p:nvPr>
            <p:ph idx="1"/>
          </p:nvPr>
        </p:nvSpPr>
        <p:spPr>
          <a:xfrm>
            <a:off x="285750" y="1214438"/>
            <a:ext cx="8569325" cy="43148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rgbClr val="FFD1FF"/>
                </a:solidFill>
                <a:ea typeface="华文中宋" panose="02010600040101010101" pitchFamily="2" charset="-122"/>
              </a:rPr>
              <a:t>调质件的</a:t>
            </a:r>
            <a:r>
              <a:rPr lang="zh-CN" altLang="en-US" sz="2800" b="1" dirty="0">
                <a:solidFill>
                  <a:schemeClr val="folHlink"/>
                </a:solidFill>
              </a:rPr>
              <a:t>加工工艺路线</a:t>
            </a:r>
            <a:r>
              <a:rPr lang="zh-CN" altLang="en-US" sz="2800" b="1" dirty="0">
                <a:solidFill>
                  <a:srgbClr val="FFD1FF"/>
                </a:solidFill>
                <a:ea typeface="华文中宋" panose="02010600040101010101" pitchFamily="2" charset="-122"/>
              </a:rPr>
              <a:t>：</a:t>
            </a:r>
            <a:endParaRPr lang="zh-CN" altLang="en-US" sz="2800" b="1" dirty="0">
              <a:solidFill>
                <a:srgbClr val="FFD1FF"/>
              </a:solidFill>
              <a:ea typeface="华文中宋" panose="02010600040101010101" pitchFamily="2" charset="-122"/>
            </a:endParaRPr>
          </a:p>
          <a:p>
            <a:pPr marL="0" indent="0" eaLnBrk="1" hangingPunct="1">
              <a:buNone/>
            </a:pPr>
            <a:r>
              <a:rPr lang="en-US" altLang="zh-CN" sz="2800" b="1" dirty="0">
                <a:solidFill>
                  <a:schemeClr val="folHlink"/>
                </a:solidFill>
              </a:rPr>
              <a:t>   </a:t>
            </a:r>
            <a:r>
              <a:rPr lang="zh-CN" altLang="en-US" sz="2800" b="1" dirty="0">
                <a:solidFill>
                  <a:schemeClr val="folHlink"/>
                </a:solidFill>
              </a:rPr>
              <a:t>下料→锻造→退火→粗加工→调质→精加工→ </a:t>
            </a:r>
            <a:r>
              <a:rPr lang="en-US" altLang="zh-CN" sz="2800" b="1" dirty="0">
                <a:solidFill>
                  <a:schemeClr val="folHlink"/>
                </a:solidFill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</a:rPr>
              <a:t>表面淬火</a:t>
            </a:r>
            <a:r>
              <a:rPr lang="en-US" altLang="zh-CN" sz="2800" b="1" dirty="0">
                <a:solidFill>
                  <a:schemeClr val="folHlink"/>
                </a:solidFill>
              </a:rPr>
              <a:t>+</a:t>
            </a:r>
            <a:r>
              <a:rPr lang="zh-CN" altLang="en-US" sz="2800" b="1" dirty="0">
                <a:solidFill>
                  <a:schemeClr val="folHlink"/>
                </a:solidFill>
              </a:rPr>
              <a:t>低温回火</a:t>
            </a:r>
            <a:r>
              <a:rPr lang="en-US" altLang="zh-CN" sz="2800" b="1" dirty="0">
                <a:solidFill>
                  <a:schemeClr val="folHlink"/>
                </a:solidFill>
              </a:rPr>
              <a:t>)→</a:t>
            </a:r>
            <a:r>
              <a:rPr lang="zh-CN" altLang="en-US" sz="2800" b="1" dirty="0">
                <a:solidFill>
                  <a:schemeClr val="folHlink"/>
                </a:solidFill>
              </a:rPr>
              <a:t>装配</a:t>
            </a:r>
            <a:endParaRPr lang="zh-CN" altLang="en-US" sz="2800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调质目的：获得良好综合力学性能；</a:t>
            </a:r>
            <a:r>
              <a:rPr lang="zh-CN" altLang="en-US" sz="2800" b="1" dirty="0">
                <a:solidFill>
                  <a:schemeClr val="folHlink"/>
                </a:solidFill>
              </a:rPr>
              <a:t>①为表面淬火作组织准备；②获得最终心部组织</a:t>
            </a:r>
            <a:r>
              <a:rPr lang="en-US" altLang="zh-CN" sz="2800" b="1" dirty="0">
                <a:solidFill>
                  <a:schemeClr val="folHlink"/>
                </a:solidFill>
              </a:rPr>
              <a:t>.</a:t>
            </a:r>
            <a:endParaRPr lang="en-US" altLang="zh-CN" sz="2800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使用状态下的组织：</a:t>
            </a:r>
            <a:r>
              <a:rPr lang="zh-CN" altLang="en-US" sz="2800" b="1" dirty="0">
                <a:solidFill>
                  <a:schemeClr val="folHlink"/>
                </a:solidFill>
              </a:rPr>
              <a:t>表面：</a:t>
            </a:r>
            <a:r>
              <a:rPr lang="zh-CN" altLang="en-US" sz="2800" dirty="0"/>
              <a:t> </a:t>
            </a:r>
            <a:r>
              <a:rPr lang="en-US" altLang="zh-CN" sz="2800" b="1" dirty="0">
                <a:solidFill>
                  <a:schemeClr val="folHlink"/>
                </a:solidFill>
              </a:rPr>
              <a:t>M</a:t>
            </a:r>
            <a:r>
              <a:rPr lang="zh-CN" altLang="en-US" sz="2800" b="1" baseline="-25000" dirty="0">
                <a:solidFill>
                  <a:schemeClr val="folHlink"/>
                </a:solidFill>
              </a:rPr>
              <a:t>回</a:t>
            </a:r>
            <a:r>
              <a:rPr lang="zh-CN" altLang="en-US" sz="2800" b="1" dirty="0">
                <a:solidFill>
                  <a:schemeClr val="folHlink"/>
                </a:solidFill>
              </a:rPr>
              <a:t>；心部：</a:t>
            </a:r>
            <a:r>
              <a:rPr lang="en-US" altLang="zh-CN" sz="2800" b="1" dirty="0">
                <a:solidFill>
                  <a:schemeClr val="folHlink"/>
                </a:solidFill>
              </a:rPr>
              <a:t>S</a:t>
            </a:r>
            <a:r>
              <a:rPr lang="zh-CN" altLang="en-US" sz="2800" b="1" baseline="-25000" dirty="0">
                <a:solidFill>
                  <a:schemeClr val="folHlink"/>
                </a:solidFill>
              </a:rPr>
              <a:t>回</a:t>
            </a:r>
            <a:r>
              <a:rPr lang="zh-CN" altLang="en-US" sz="2800" b="1" dirty="0">
                <a:solidFill>
                  <a:schemeClr val="folHlink"/>
                </a:solidFill>
              </a:rPr>
              <a:t>）</a:t>
            </a:r>
            <a:endParaRPr lang="zh-CN" altLang="en-US" sz="2800" dirty="0"/>
          </a:p>
          <a:p>
            <a:pPr eaLnBrk="1" hangingPunct="1"/>
            <a:r>
              <a:rPr lang="zh-CN" altLang="en-US" sz="2800" b="1" dirty="0"/>
              <a:t>为提高表面耐磨性，调质后可进行</a:t>
            </a:r>
            <a:r>
              <a:rPr lang="zh-CN" altLang="en-US" sz="2800" b="1" dirty="0">
                <a:solidFill>
                  <a:schemeClr val="folHlink"/>
                </a:solidFill>
              </a:rPr>
              <a:t>表面淬火</a:t>
            </a:r>
            <a:r>
              <a:rPr lang="zh-CN" altLang="en-US" sz="2800" b="1" dirty="0"/>
              <a:t>或</a:t>
            </a:r>
            <a:r>
              <a:rPr lang="zh-CN" altLang="en-US" sz="2800" b="1" dirty="0">
                <a:solidFill>
                  <a:schemeClr val="folHlink"/>
                </a:solidFill>
              </a:rPr>
              <a:t>氮化</a:t>
            </a:r>
            <a:r>
              <a:rPr lang="zh-CN" altLang="en-US" sz="2800" b="1" dirty="0"/>
              <a:t>。</a:t>
            </a:r>
            <a:endParaRPr lang="zh-CN" altLang="en-US" sz="2800" b="1" dirty="0">
              <a:solidFill>
                <a:schemeClr val="folHlink"/>
              </a:solidFill>
            </a:endParaRPr>
          </a:p>
          <a:p>
            <a:pPr eaLnBrk="1" hangingPunct="1"/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6483350" y="4587875"/>
            <a:ext cx="1649095" cy="2022475"/>
            <a:chOff x="3552" y="1776"/>
            <a:chExt cx="1859" cy="2280"/>
          </a:xfrm>
        </p:grpSpPr>
        <p:pic>
          <p:nvPicPr>
            <p:cNvPr id="75787" name="Picture 6" descr="调质处理车间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52" y="1776"/>
              <a:ext cx="1859" cy="227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5788" name="Rectangle 7"/>
            <p:cNvSpPr>
              <a:spLocks noChangeAspect="1"/>
            </p:cNvSpPr>
            <p:nvPr/>
          </p:nvSpPr>
          <p:spPr>
            <a:xfrm>
              <a:off x="3564" y="3781"/>
              <a:ext cx="1515" cy="275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调质处理车间</a:t>
              </a:r>
              <a:endParaRPr lang="zh-CN" altLang="en-US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8"/>
          <p:cNvGrpSpPr>
            <a:grpSpLocks noChangeAspect="1"/>
          </p:cNvGrpSpPr>
          <p:nvPr/>
        </p:nvGrpSpPr>
        <p:grpSpPr>
          <a:xfrm>
            <a:off x="2214563" y="4714875"/>
            <a:ext cx="3714750" cy="1885950"/>
            <a:chOff x="528" y="2880"/>
            <a:chExt cx="2369" cy="1202"/>
          </a:xfrm>
        </p:grpSpPr>
        <p:pic>
          <p:nvPicPr>
            <p:cNvPr id="75785" name="Picture 9" descr="S回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" y="2880"/>
              <a:ext cx="2369" cy="1202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5786" name="Rectangle 10"/>
            <p:cNvSpPr>
              <a:spLocks noChangeAspect="1"/>
            </p:cNvSpPr>
            <p:nvPr/>
          </p:nvSpPr>
          <p:spPr>
            <a:xfrm>
              <a:off x="528" y="3936"/>
              <a:ext cx="720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1600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回火索氏体</a:t>
              </a:r>
              <a:endParaRPr lang="zh-CN" altLang="en-US" sz="1600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578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7637145" y="6515100"/>
            <a:ext cx="821055" cy="31305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-100012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五、调质钢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——</a:t>
            </a: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、常用钢号及用途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6804" name="Rectangle 3"/>
          <p:cNvSpPr>
            <a:spLocks noGrp="1"/>
          </p:cNvSpPr>
          <p:nvPr>
            <p:ph idx="1"/>
          </p:nvPr>
        </p:nvSpPr>
        <p:spPr>
          <a:xfrm>
            <a:off x="250825" y="1125538"/>
            <a:ext cx="4678363" cy="55181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）低淬透性钢：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0</a:t>
            </a:r>
            <a:r>
              <a:rPr lang="zh-CN" altLang="en-US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油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&lt;30~40mm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常用 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45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40Cr</a:t>
            </a:r>
            <a:r>
              <a:rPr lang="en-US" altLang="zh-CN" sz="2800" b="1" dirty="0">
                <a:ea typeface="华文中宋" panose="02010600040101010101" pitchFamily="2" charset="-122"/>
              </a:rPr>
              <a:t>,  </a:t>
            </a:r>
            <a:r>
              <a:rPr lang="zh-CN" altLang="en-US" sz="2800" b="1" dirty="0">
                <a:ea typeface="华文中宋" panose="02010600040101010101" pitchFamily="2" charset="-122"/>
              </a:rPr>
              <a:t>用于制造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较小的齿轮</a:t>
            </a:r>
            <a:r>
              <a:rPr lang="zh-CN" altLang="en-US" sz="2800" b="1" dirty="0">
                <a:ea typeface="华文中宋" panose="02010600040101010101" pitchFamily="2" charset="-122"/>
              </a:rPr>
              <a:t>、轴、螺栓等。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）中淬透性钢：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D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0</a:t>
            </a:r>
            <a:r>
              <a:rPr lang="zh-CN" altLang="en-US" sz="2800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油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40~60mm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，常用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40CrNi</a:t>
            </a:r>
            <a:r>
              <a:rPr lang="zh-CN" altLang="en-US" sz="2800" b="1" dirty="0">
                <a:ea typeface="华文中宋" panose="02010600040101010101" pitchFamily="2" charset="-122"/>
              </a:rPr>
              <a:t>，用于大中型零件。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66FF33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）高淬透性钢：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0</a:t>
            </a:r>
            <a:r>
              <a:rPr lang="zh-CN" altLang="en-US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油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&gt;60mm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常用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40CrNiMo</a:t>
            </a:r>
            <a:r>
              <a:rPr lang="en-US" altLang="zh-CN" sz="2800" b="1" dirty="0">
                <a:ea typeface="华文中宋" panose="02010600040101010101" pitchFamily="2" charset="-122"/>
              </a:rPr>
              <a:t>,  </a:t>
            </a:r>
            <a:r>
              <a:rPr lang="zh-CN" altLang="en-US" sz="2800" b="1" dirty="0">
                <a:ea typeface="华文中宋" panose="02010600040101010101" pitchFamily="2" charset="-122"/>
              </a:rPr>
              <a:t>用于制造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大截面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重载荷</a:t>
            </a:r>
            <a:r>
              <a:rPr lang="zh-CN" altLang="en-US" sz="2800" b="1" dirty="0">
                <a:ea typeface="华文中宋" panose="02010600040101010101" pitchFamily="2" charset="-122"/>
              </a:rPr>
              <a:t>零件，如曲轴等。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pic>
        <p:nvPicPr>
          <p:cNvPr id="76806" name="Picture 7" descr="齿轮加工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308850" y="2526665"/>
            <a:ext cx="1635760" cy="1501775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76807" name="Picture 8" descr="camshaft1柴油机凸轮轴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76085" y="963930"/>
            <a:ext cx="2091690" cy="1414145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76808" name="Picture 9" descr="cl[1]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5825" y="2492375"/>
            <a:ext cx="1708150" cy="1543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809" name="Text Box 10"/>
          <p:cNvSpPr txBox="1">
            <a:spLocks noChangeAspect="1"/>
          </p:cNvSpPr>
          <p:nvPr/>
        </p:nvSpPr>
        <p:spPr>
          <a:xfrm>
            <a:off x="6673494" y="2097986"/>
            <a:ext cx="1857375" cy="33855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r" eaLnBrk="1" hangingPunct="1"/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柴油机凸轮轴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6810" name="Picture 11" descr="单缸 曲 軸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16513" y="2636520"/>
            <a:ext cx="1851025" cy="1395413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6811" name="Text Box 14"/>
          <p:cNvSpPr txBox="1">
            <a:spLocks noChangeAspect="1"/>
          </p:cNvSpPr>
          <p:nvPr/>
        </p:nvSpPr>
        <p:spPr>
          <a:xfrm>
            <a:off x="5116831" y="2636307"/>
            <a:ext cx="1893887" cy="33855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/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单缸汽车曲轴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6812" name="Picture 15" descr="合金结构钢曲轴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859780" y="5066030"/>
            <a:ext cx="3284220" cy="1341120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681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238" y="6510338"/>
            <a:ext cx="385762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7828" name="Rectangle 2"/>
          <p:cNvSpPr>
            <a:spLocks noGrp="1"/>
          </p:cNvSpPr>
          <p:nvPr>
            <p:ph type="title"/>
          </p:nvPr>
        </p:nvSpPr>
        <p:spPr>
          <a:xfrm>
            <a:off x="928688" y="0"/>
            <a:ext cx="8215312" cy="85725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4000" b="1" dirty="0"/>
              <a:t>调质钢常用钢号及用途</a:t>
            </a:r>
            <a:r>
              <a:rPr lang="zh-CN" altLang="en-US" sz="800" b="1" dirty="0"/>
              <a:t>（</a:t>
            </a:r>
            <a:r>
              <a:rPr lang="en-US" altLang="zh-CN" sz="800" b="1" dirty="0"/>
              <a:t>P115</a:t>
            </a:r>
            <a:r>
              <a:rPr lang="zh-CN" altLang="en-US" sz="800" b="1" dirty="0"/>
              <a:t>表</a:t>
            </a:r>
            <a:r>
              <a:rPr lang="en-US" altLang="zh-CN" sz="800" b="1" dirty="0"/>
              <a:t>6-9</a:t>
            </a:r>
            <a:r>
              <a:rPr lang="zh-CN" altLang="en-US" sz="800" b="1" dirty="0"/>
              <a:t>）</a:t>
            </a:r>
            <a:endParaRPr lang="zh-CN" altLang="en-US" sz="800" b="1" dirty="0"/>
          </a:p>
        </p:txBody>
      </p:sp>
      <p:pic>
        <p:nvPicPr>
          <p:cNvPr id="77830" name="Picture 4" descr="旋转 《工程材料》T6-9(2)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85813" y="1000125"/>
            <a:ext cx="7770812" cy="5429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81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644640"/>
            <a:ext cx="1786255" cy="21336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591582" y="981670"/>
            <a:ext cx="206505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u="none" strike="noStrike" kern="100" dirty="0">
                <a:solidFill>
                  <a:srgbClr val="0000FF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hlinkClick r:id="rId3"/>
              </a:rPr>
              <a:t>GB/T3077-2015</a:t>
            </a:r>
            <a:r>
              <a:rPr lang="en-US" altLang="zh-CN" sz="1200" u="sng" kern="100" dirty="0">
                <a:solidFill>
                  <a:srgbClr val="0000FF"/>
                </a:solidFill>
                <a:effectLst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  <a:hlinkClick r:id="rId3"/>
              </a:rPr>
              <a:t>合金结构钢</a:t>
            </a:r>
            <a:endParaRPr lang="zh-CN" altLang="zh-CN" sz="1200" kern="100" dirty="0">
              <a:solidFill>
                <a:srgbClr val="0000F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86470" y="6638290"/>
            <a:ext cx="520700" cy="2197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Grp="1"/>
          </p:cNvSpPr>
          <p:nvPr>
            <p:ph type="title"/>
          </p:nvPr>
        </p:nvSpPr>
        <p:spPr>
          <a:xfrm>
            <a:off x="1121050" y="1916832"/>
            <a:ext cx="6901899" cy="2304256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dirty="0"/>
              <a:t>六、弹簧钢</a:t>
            </a:r>
            <a:br>
              <a:rPr lang="en-US" altLang="zh-CN" sz="6600" b="1" dirty="0"/>
            </a:br>
            <a:r>
              <a:rPr lang="en-US" altLang="zh-CN" sz="6600" b="1" i="1" dirty="0"/>
              <a:t>Spring Steel</a:t>
            </a:r>
            <a:endParaRPr lang="en-US" altLang="zh-CN" sz="6600" b="1" i="1" dirty="0"/>
          </a:p>
        </p:txBody>
      </p:sp>
      <p:sp>
        <p:nvSpPr>
          <p:cNvPr id="7885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638290"/>
            <a:ext cx="1786255" cy="21971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30689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86470" y="6638290"/>
            <a:ext cx="520700" cy="2197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Grp="1"/>
          </p:cNvSpPr>
          <p:nvPr>
            <p:ph type="title"/>
          </p:nvPr>
        </p:nvSpPr>
        <p:spPr>
          <a:xfrm>
            <a:off x="2714625" y="0"/>
            <a:ext cx="3629660" cy="100012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/>
              <a:t>六、弹簧钢</a:t>
            </a:r>
            <a:endParaRPr lang="zh-CN" altLang="en-US" b="1" dirty="0"/>
          </a:p>
        </p:txBody>
      </p:sp>
      <p:sp>
        <p:nvSpPr>
          <p:cNvPr id="78852" name="Rectangle 3"/>
          <p:cNvSpPr>
            <a:spLocks noGrp="1"/>
          </p:cNvSpPr>
          <p:nvPr>
            <p:ph idx="1"/>
          </p:nvPr>
        </p:nvSpPr>
        <p:spPr>
          <a:xfrm>
            <a:off x="0" y="928688"/>
            <a:ext cx="5572125" cy="55721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弹簧钢：</a:t>
            </a:r>
            <a:r>
              <a:rPr lang="zh-CN" altLang="en-US" b="1" dirty="0">
                <a:ea typeface="华文中宋" panose="02010600040101010101" pitchFamily="2" charset="-122"/>
              </a:rPr>
              <a:t>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弹簧</a:t>
            </a:r>
            <a:r>
              <a:rPr lang="zh-CN" altLang="en-US" b="1" dirty="0">
                <a:ea typeface="华文中宋" panose="02010600040101010101" pitchFamily="2" charset="-122"/>
              </a:rPr>
              <a:t>或类似性能零件的钢种。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、性能要求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 弹簧是利用弹性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变形储存能量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缓和冲击</a:t>
            </a:r>
            <a:r>
              <a:rPr lang="zh-CN" altLang="en-US" b="1" dirty="0">
                <a:ea typeface="华文中宋" panose="02010600040101010101" pitchFamily="2" charset="-122"/>
              </a:rPr>
              <a:t>的零件。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高的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σ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σ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s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/σ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b="1" dirty="0">
                <a:ea typeface="华文中宋" panose="02010600040101010101" pitchFamily="2" charset="-122"/>
              </a:rPr>
              <a:t>；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   高的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σ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-1</a:t>
            </a:r>
            <a:r>
              <a:rPr lang="zh-CN" altLang="en-US" b="1" dirty="0">
                <a:ea typeface="华文中宋" panose="02010600040101010101" pitchFamily="2" charset="-122"/>
              </a:rPr>
              <a:t>；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足够的韧性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高的淬透性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6663055" y="1428750"/>
            <a:ext cx="2301875" cy="3216275"/>
            <a:chOff x="3072" y="384"/>
            <a:chExt cx="2494" cy="3484"/>
          </a:xfrm>
        </p:grpSpPr>
        <p:pic>
          <p:nvPicPr>
            <p:cNvPr id="78856" name="Picture 5" descr="b弹簧2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72" y="2208"/>
              <a:ext cx="2494" cy="166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78857" name="Picture 6" descr="end弹簧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2" y="384"/>
              <a:ext cx="2494" cy="166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7885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638290"/>
            <a:ext cx="1786255" cy="21971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50990"/>
            <a:ext cx="528320" cy="2070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188" y="0"/>
            <a:ext cx="750093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六、弹簧钢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、成分特点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>
          <a:xfrm>
            <a:off x="0" y="822325"/>
            <a:ext cx="5572125" cy="57372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中高碳：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碳素弹簧钢：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0.6~0.9%C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合金弹簧钢：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0.45~0.7%C 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合金元素作用：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    ①</a:t>
            </a:r>
            <a:r>
              <a:rPr lang="zh-CN" altLang="en-US" b="1" dirty="0">
                <a:ea typeface="华文中宋" panose="02010600040101010101" pitchFamily="2" charset="-122"/>
              </a:rPr>
              <a:t> 提高淬透性、强化铁素体：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    ② </a:t>
            </a:r>
            <a:r>
              <a:rPr lang="en-US" altLang="zh-CN" b="1" dirty="0">
                <a:ea typeface="华文中宋" panose="02010600040101010101" pitchFamily="2" charset="-122"/>
              </a:rPr>
              <a:t> </a:t>
            </a:r>
            <a:r>
              <a:rPr lang="zh-CN" altLang="en-US" b="1" dirty="0">
                <a:ea typeface="华文中宋" panose="02010600040101010101" pitchFamily="2" charset="-122"/>
              </a:rPr>
              <a:t>提高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s</a:t>
            </a:r>
            <a:r>
              <a:rPr lang="en-US" altLang="zh-CN" b="1" dirty="0">
                <a:ea typeface="华文中宋" panose="02010600040101010101" pitchFamily="2" charset="-122"/>
              </a:rPr>
              <a:t>/</a:t>
            </a:r>
            <a:r>
              <a:rPr lang="en-US" altLang="zh-CN" b="1" dirty="0"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b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    ③</a:t>
            </a:r>
            <a:r>
              <a:rPr lang="en-US" altLang="zh-CN" b="1" dirty="0">
                <a:ea typeface="华文中宋" panose="02010600040101010101" pitchFamily="2" charset="-122"/>
              </a:rPr>
              <a:t>  </a:t>
            </a:r>
            <a:r>
              <a:rPr lang="zh-CN" altLang="en-US" b="1" dirty="0">
                <a:ea typeface="华文中宋" panose="02010600040101010101" pitchFamily="2" charset="-122"/>
              </a:rPr>
              <a:t>细化晶粒：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3" name="Group 36"/>
          <p:cNvGrpSpPr/>
          <p:nvPr/>
        </p:nvGrpSpPr>
        <p:grpSpPr>
          <a:xfrm>
            <a:off x="5500688" y="1571625"/>
            <a:ext cx="3357562" cy="4767263"/>
            <a:chOff x="3120" y="522"/>
            <a:chExt cx="2380" cy="3318"/>
          </a:xfrm>
        </p:grpSpPr>
        <p:grpSp>
          <p:nvGrpSpPr>
            <p:cNvPr id="79880" name="Group 34"/>
            <p:cNvGrpSpPr/>
            <p:nvPr/>
          </p:nvGrpSpPr>
          <p:grpSpPr>
            <a:xfrm>
              <a:off x="3120" y="522"/>
              <a:ext cx="2380" cy="3318"/>
              <a:chOff x="3120" y="432"/>
              <a:chExt cx="2380" cy="3318"/>
            </a:xfrm>
          </p:grpSpPr>
          <p:pic>
            <p:nvPicPr>
              <p:cNvPr id="79882" name="Picture 9" descr="盘元（弹簧线）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120" y="432"/>
                <a:ext cx="2380" cy="1586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grpSp>
            <p:nvGrpSpPr>
              <p:cNvPr id="79883" name="Group 33"/>
              <p:cNvGrpSpPr/>
              <p:nvPr/>
            </p:nvGrpSpPr>
            <p:grpSpPr>
              <a:xfrm>
                <a:off x="3120" y="2160"/>
                <a:ext cx="2380" cy="1590"/>
                <a:chOff x="3120" y="2160"/>
                <a:chExt cx="2380" cy="1590"/>
              </a:xfrm>
            </p:grpSpPr>
            <p:pic>
              <p:nvPicPr>
                <p:cNvPr id="79884" name="Picture 31" descr="汽车板簧2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120" y="2160"/>
                  <a:ext cx="2380" cy="159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</p:pic>
            <p:sp>
              <p:nvSpPr>
                <p:cNvPr id="79885" name="Text Box 32"/>
                <p:cNvSpPr txBox="1">
                  <a:spLocks noChangeAspect="1"/>
                </p:cNvSpPr>
                <p:nvPr/>
              </p:nvSpPr>
              <p:spPr>
                <a:xfrm>
                  <a:off x="3120" y="3408"/>
                  <a:ext cx="8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 eaLnBrk="1" hangingPunct="1"/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汽车弹簧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2" name="Text Box 35"/>
            <p:cNvSpPr txBox="1">
              <a:spLocks noChangeArrowheads="1"/>
            </p:cNvSpPr>
            <p:nvPr/>
          </p:nvSpPr>
          <p:spPr bwMode="auto">
            <a:xfrm>
              <a:off x="4848" y="1872"/>
              <a:ext cx="620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弹簧丝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987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60185"/>
            <a:ext cx="1786255" cy="297815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32520" y="6667500"/>
            <a:ext cx="385445" cy="19050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821531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六、弹簧钢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、热处理及组织特点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0900" name="Rectangle 3"/>
          <p:cNvSpPr>
            <a:spLocks noGrp="1"/>
          </p:cNvSpPr>
          <p:nvPr>
            <p:ph idx="1"/>
          </p:nvPr>
        </p:nvSpPr>
        <p:spPr>
          <a:xfrm>
            <a:off x="0" y="1071563"/>
            <a:ext cx="5572125" cy="5214937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rgbClr val="FFFF99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冷成型弹簧：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冷拔→  冷成型→定型处理</a:t>
            </a:r>
            <a:r>
              <a:rPr lang="en-US" altLang="zh-CN" b="1" dirty="0">
                <a:ea typeface="华文中宋" panose="02010600040101010101" pitchFamily="2" charset="-122"/>
              </a:rPr>
              <a:t>(250~300℃)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用于</a:t>
            </a:r>
            <a:r>
              <a:rPr lang="en-US" altLang="zh-CN" b="1" dirty="0">
                <a:ea typeface="华文中宋" panose="02010600040101010101" pitchFamily="2" charset="-122"/>
              </a:rPr>
              <a:t>&lt;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b="1" dirty="0">
                <a:ea typeface="华文中宋" panose="02010600040101010101" pitchFamily="2" charset="-122"/>
              </a:rPr>
              <a:t>10mm</a:t>
            </a:r>
            <a:r>
              <a:rPr lang="zh-CN" altLang="en-US" b="1" dirty="0">
                <a:ea typeface="华文中宋" panose="02010600040101010101" pitchFamily="2" charset="-122"/>
              </a:rPr>
              <a:t>弹簧。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rgbClr val="FFFF99"/>
                </a:solidFill>
                <a:ea typeface="华文中宋" panose="02010600040101010101" pitchFamily="2" charset="-122"/>
              </a:rPr>
              <a:t>⑵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热成型弹簧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热成型 → 淬火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中温回火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使用状态下的组织：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</a:t>
            </a:r>
            <a:r>
              <a:rPr lang="zh-CN" altLang="en-US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用于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大截面弹簧</a:t>
            </a:r>
            <a:r>
              <a:rPr lang="en-US" altLang="zh-CN" b="1" dirty="0">
                <a:ea typeface="华文中宋" panose="02010600040101010101" pitchFamily="2" charset="-122"/>
              </a:rPr>
              <a:t>(&gt;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en-US" altLang="zh-CN" b="1" dirty="0">
                <a:ea typeface="华文中宋" panose="02010600040101010101" pitchFamily="2" charset="-122"/>
              </a:rPr>
              <a:t>10mm)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5558155" y="1416685"/>
            <a:ext cx="3363913" cy="4751388"/>
            <a:chOff x="3072" y="432"/>
            <a:chExt cx="2389" cy="3398"/>
          </a:xfrm>
        </p:grpSpPr>
        <p:pic>
          <p:nvPicPr>
            <p:cNvPr id="80904" name="Picture 22" descr="板簧淬火线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83" y="2239"/>
              <a:ext cx="2378" cy="1591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8857" name="Text Box 23"/>
            <p:cNvSpPr txBox="1">
              <a:spLocks noChangeAspect="1" noChangeArrowheads="1"/>
            </p:cNvSpPr>
            <p:nvPr/>
          </p:nvSpPr>
          <p:spPr bwMode="auto">
            <a:xfrm>
              <a:off x="3072" y="2216"/>
              <a:ext cx="1573" cy="2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华文中宋" panose="02010600040101010101" pitchFamily="2" charset="-122"/>
                  <a:cs typeface="+mn-cs"/>
                </a:rPr>
                <a:t>汽车板簧淬火线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endParaRPr>
            </a:p>
          </p:txBody>
        </p:sp>
        <p:pic>
          <p:nvPicPr>
            <p:cNvPr id="80906" name="Picture 25" descr="冷卷螺旋压缩弹簧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2" y="432"/>
              <a:ext cx="2377" cy="1626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8859" name="Text Box 26"/>
            <p:cNvSpPr txBox="1">
              <a:spLocks noChangeAspect="1" noChangeArrowheads="1"/>
            </p:cNvSpPr>
            <p:nvPr/>
          </p:nvSpPr>
          <p:spPr bwMode="auto">
            <a:xfrm>
              <a:off x="3083" y="1728"/>
              <a:ext cx="1766" cy="2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/>
                  <a:uLnTx/>
                  <a:uFillTx/>
                  <a:latin typeface="+mn-lt"/>
                  <a:ea typeface="华文中宋" panose="02010600040101010101" pitchFamily="2" charset="-122"/>
                  <a:cs typeface="+mn-cs"/>
                </a:rPr>
                <a:t>冷卷螺旋压缩弹簧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endParaRPr>
            </a:p>
          </p:txBody>
        </p:sp>
      </p:grpSp>
      <p:sp>
        <p:nvSpPr>
          <p:cNvPr id="8090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1240" y="6572250"/>
            <a:ext cx="455930" cy="28575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>
          <a:xfrm>
            <a:off x="867313" y="-142875"/>
            <a:ext cx="821531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六、弹簧钢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、弹簧的表面质量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24" name="Rectangle 3"/>
          <p:cNvSpPr>
            <a:spLocks noGrp="1"/>
          </p:cNvSpPr>
          <p:nvPr>
            <p:ph idx="1"/>
          </p:nvPr>
        </p:nvSpPr>
        <p:spPr>
          <a:xfrm>
            <a:off x="571500" y="1071563"/>
            <a:ext cx="5286375" cy="55006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弹簧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表面质量对其寿命影响很大。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16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提高表面质量的方法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00FF00"/>
                </a:solidFill>
                <a:ea typeface="华文中宋" panose="02010600040101010101" pitchFamily="2" charset="-122"/>
              </a:rPr>
              <a:t>①</a:t>
            </a:r>
            <a:r>
              <a:rPr lang="en-US" altLang="zh-CN" b="1" dirty="0"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ea typeface="华文中宋" panose="02010600040101010101" pitchFamily="2" charset="-122"/>
              </a:rPr>
              <a:t>防止表面脱碳；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r>
              <a:rPr lang="en-US" altLang="zh-CN" dirty="0">
                <a:solidFill>
                  <a:srgbClr val="00FF00"/>
                </a:solidFill>
                <a:ea typeface="华文中宋" panose="02010600040101010101" pitchFamily="2" charset="-122"/>
              </a:rPr>
              <a:t>② </a:t>
            </a:r>
            <a:r>
              <a:rPr lang="en-US" altLang="zh-CN" dirty="0">
                <a:ea typeface="华文中宋" panose="02010600040101010101" pitchFamily="2" charset="-122"/>
              </a:rPr>
              <a:t> </a:t>
            </a:r>
            <a:r>
              <a:rPr lang="zh-CN" altLang="en-US" dirty="0">
                <a:ea typeface="华文中宋" panose="02010600040101010101" pitchFamily="2" charset="-122"/>
              </a:rPr>
              <a:t>避免表面缺陷； </a:t>
            </a:r>
            <a:endParaRPr lang="zh-CN" altLang="en-US" dirty="0"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00FF00"/>
                </a:solidFill>
                <a:ea typeface="华文中宋" panose="02010600040101010101" pitchFamily="2" charset="-122"/>
              </a:rPr>
              <a:t> ③ </a:t>
            </a:r>
            <a:r>
              <a:rPr lang="zh-CN" altLang="en-US" dirty="0">
                <a:ea typeface="华文中宋" panose="02010600040101010101" pitchFamily="2" charset="-122"/>
              </a:rPr>
              <a:t>进行喷丸处理，使表 </a:t>
            </a:r>
            <a:endParaRPr lang="zh-CN" altLang="en-US" dirty="0"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ea typeface="华文中宋" panose="02010600040101010101" pitchFamily="2" charset="-122"/>
              </a:rPr>
              <a:t>        面产生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压应力</a:t>
            </a:r>
            <a:r>
              <a:rPr lang="zh-CN" altLang="en-US" dirty="0">
                <a:ea typeface="华文中宋" panose="02010600040101010101" pitchFamily="2" charset="-122"/>
              </a:rPr>
              <a:t>。 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6000750" y="857250"/>
            <a:ext cx="2857500" cy="5715000"/>
            <a:chOff x="3425" y="-205"/>
            <a:chExt cx="2283" cy="4584"/>
          </a:xfrm>
        </p:grpSpPr>
        <p:grpSp>
          <p:nvGrpSpPr>
            <p:cNvPr id="81928" name="Group 27"/>
            <p:cNvGrpSpPr>
              <a:grpSpLocks noChangeAspect="1"/>
            </p:cNvGrpSpPr>
            <p:nvPr/>
          </p:nvGrpSpPr>
          <p:grpSpPr>
            <a:xfrm>
              <a:off x="3479" y="-205"/>
              <a:ext cx="2161" cy="1957"/>
              <a:chOff x="3615" y="-317"/>
              <a:chExt cx="2256" cy="2043"/>
            </a:xfrm>
          </p:grpSpPr>
          <p:pic>
            <p:nvPicPr>
              <p:cNvPr id="81930" name="Picture 6" descr="vs-6d板簧喷丸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615" y="-317"/>
                <a:ext cx="2256" cy="2043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81931" name="Text Box 11"/>
              <p:cNvSpPr txBox="1">
                <a:spLocks noChangeAspect="1"/>
              </p:cNvSpPr>
              <p:nvPr/>
            </p:nvSpPr>
            <p:spPr>
              <a:xfrm>
                <a:off x="5446" y="-317"/>
                <a:ext cx="384" cy="19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 lvl="0" algn="r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板簧喷丸处理示意图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81929" name="Picture 24" descr="旋转 Rotation of 喷丸处理表面层的应力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5" y="1885"/>
              <a:ext cx="2283" cy="249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8192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40195"/>
            <a:ext cx="457200" cy="21780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821531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六、弹簧钢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5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、常用钢号及用途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2948" name="Rectangle 3"/>
          <p:cNvSpPr>
            <a:spLocks noGrp="1"/>
          </p:cNvSpPr>
          <p:nvPr>
            <p:ph idx="1"/>
          </p:nvPr>
        </p:nvSpPr>
        <p:spPr>
          <a:xfrm>
            <a:off x="0" y="1071563"/>
            <a:ext cx="8786813" cy="53578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弹簧钢</a:t>
            </a:r>
            <a:r>
              <a:rPr lang="zh-CN" altLang="en-US" sz="2800" b="1" dirty="0">
                <a:ea typeface="华文中宋" panose="02010600040101010101" pitchFamily="2" charset="-122"/>
              </a:rPr>
              <a:t>，如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65Mn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60Si2Mn</a:t>
            </a:r>
            <a:r>
              <a:rPr lang="zh-CN" altLang="en-US" sz="2800" b="1" dirty="0">
                <a:ea typeface="华文中宋" panose="02010600040101010101" pitchFamily="2" charset="-122"/>
              </a:rPr>
              <a:t>，用于制造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较大截面弹簧</a:t>
            </a:r>
            <a:r>
              <a:rPr lang="zh-CN" altLang="en-US" sz="2800" b="1" dirty="0">
                <a:ea typeface="华文中宋" panose="02010600040101010101" pitchFamily="2" charset="-122"/>
              </a:rPr>
              <a:t>。 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弹簧钢</a:t>
            </a:r>
            <a:r>
              <a:rPr lang="zh-CN" altLang="en-US" sz="2800" b="1" dirty="0">
                <a:ea typeface="华文中宋" panose="02010600040101010101" pitchFamily="2" charset="-122"/>
              </a:rPr>
              <a:t>，如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50CrV</a:t>
            </a:r>
            <a:r>
              <a:rPr lang="zh-CN" altLang="en-US" sz="2800" b="1" dirty="0">
                <a:ea typeface="华文中宋" panose="02010600040101010101" pitchFamily="2" charset="-122"/>
              </a:rPr>
              <a:t>，用于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大截面、大载荷、耐热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弹簧</a:t>
            </a:r>
            <a:r>
              <a:rPr lang="zh-CN" altLang="en-US" sz="2800" b="1" dirty="0">
                <a:ea typeface="华文中宋" panose="02010600040101010101" pitchFamily="2" charset="-122"/>
              </a:rPr>
              <a:t>。 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  <a:buNone/>
            </a:pPr>
            <a:endParaRPr lang="zh-CN" altLang="en-US" sz="2800" dirty="0"/>
          </a:p>
          <a:p>
            <a:pPr eaLnBrk="1" hangingPunct="1">
              <a:lnSpc>
                <a:spcPct val="130000"/>
              </a:lnSpc>
              <a:buNone/>
            </a:pP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26"/>
          <p:cNvGrpSpPr>
            <a:grpSpLocks noChangeAspect="1"/>
          </p:cNvGrpSpPr>
          <p:nvPr/>
        </p:nvGrpSpPr>
        <p:grpSpPr>
          <a:xfrm>
            <a:off x="2494915" y="3572510"/>
            <a:ext cx="5841365" cy="2213947"/>
            <a:chOff x="240" y="2208"/>
            <a:chExt cx="4990" cy="1891"/>
          </a:xfrm>
        </p:grpSpPr>
        <p:grpSp>
          <p:nvGrpSpPr>
            <p:cNvPr id="82952" name="Group 24"/>
            <p:cNvGrpSpPr>
              <a:grpSpLocks noChangeAspect="1"/>
            </p:cNvGrpSpPr>
            <p:nvPr/>
          </p:nvGrpSpPr>
          <p:grpSpPr>
            <a:xfrm>
              <a:off x="3072" y="2237"/>
              <a:ext cx="2158" cy="1862"/>
              <a:chOff x="3120" y="2225"/>
              <a:chExt cx="2158" cy="1862"/>
            </a:xfrm>
          </p:grpSpPr>
          <p:pic>
            <p:nvPicPr>
              <p:cNvPr id="82956" name="Picture 9" descr="43大型热卷弹簧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120" y="2225"/>
                <a:ext cx="2131" cy="1782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82957" name="Text Box 10"/>
              <p:cNvSpPr txBox="1">
                <a:spLocks noChangeAspect="1"/>
              </p:cNvSpPr>
              <p:nvPr/>
            </p:nvSpPr>
            <p:spPr>
              <a:xfrm>
                <a:off x="3546" y="3746"/>
                <a:ext cx="1732" cy="3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大型热卷弹簧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2953" name="Group 25"/>
            <p:cNvGrpSpPr>
              <a:grpSpLocks noChangeAspect="1"/>
            </p:cNvGrpSpPr>
            <p:nvPr/>
          </p:nvGrpSpPr>
          <p:grpSpPr>
            <a:xfrm>
              <a:off x="240" y="2208"/>
              <a:ext cx="2718" cy="1828"/>
              <a:chOff x="240" y="2208"/>
              <a:chExt cx="2718" cy="1828"/>
            </a:xfrm>
          </p:grpSpPr>
          <p:pic>
            <p:nvPicPr>
              <p:cNvPr id="82954" name="Picture 22" descr="汽车板簧1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0" y="2208"/>
                <a:ext cx="2718" cy="1815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82955" name="Text Box 23"/>
              <p:cNvSpPr txBox="1">
                <a:spLocks noChangeAspect="1"/>
              </p:cNvSpPr>
              <p:nvPr/>
            </p:nvSpPr>
            <p:spPr>
              <a:xfrm>
                <a:off x="1835" y="3695"/>
                <a:ext cx="1093" cy="3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汽车板簧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8295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7308304" y="6515099"/>
            <a:ext cx="1149896" cy="342901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3972" name="Rectangle 2"/>
          <p:cNvSpPr>
            <a:spLocks noGrp="1"/>
          </p:cNvSpPr>
          <p:nvPr>
            <p:ph type="title"/>
          </p:nvPr>
        </p:nvSpPr>
        <p:spPr>
          <a:xfrm>
            <a:off x="1143000" y="0"/>
            <a:ext cx="7772400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/>
              <a:t>六、弹簧钢常用钢号及用途</a:t>
            </a:r>
            <a:endParaRPr lang="zh-CN" altLang="en-US" b="1" dirty="0"/>
          </a:p>
        </p:txBody>
      </p:sp>
      <p:sp>
        <p:nvSpPr>
          <p:cNvPr id="839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83974" name="Picture 4" descr="旋转 《工程材料》T6-10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388824" y="928688"/>
            <a:ext cx="7707014" cy="558641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976" name="日期占位符 1"/>
          <p:cNvSpPr txBox="1"/>
          <p:nvPr/>
        </p:nvSpPr>
        <p:spPr>
          <a:xfrm>
            <a:off x="0" y="6515100"/>
            <a:ext cx="1785938" cy="3429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lvl="0" algn="l" eaLnBrk="1" hangingPunct="1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982611" y="894964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GB/T1222-2016  </a:t>
            </a:r>
            <a:r>
              <a:rPr lang="zh-CN" altLang="zh-CN" sz="1200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弹簧钢</a:t>
            </a:r>
            <a:endParaRPr lang="zh-CN" altLang="zh-CN" sz="1200" kern="100" dirty="0">
              <a:solidFill>
                <a:srgbClr val="0000F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29925" t="12200" r="62067" b="3801"/>
          <a:stretch>
            <a:fillRect/>
          </a:stretch>
        </p:blipFill>
        <p:spPr>
          <a:xfrm>
            <a:off x="155575" y="902335"/>
            <a:ext cx="1221740" cy="5403215"/>
          </a:xfrm>
          <a:prstGeom prst="rect">
            <a:avLst/>
          </a:prstGeom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143875" y="6500813"/>
            <a:ext cx="404813" cy="357187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" y="1344295"/>
            <a:ext cx="9053830" cy="244221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七、滚动轴承钢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Rolling Bearing Steel</a:t>
            </a:r>
            <a:endParaRPr kumimoji="1" lang="en-US" altLang="zh-CN" sz="66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500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2493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143875" y="6572250"/>
            <a:ext cx="404813" cy="28575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0"/>
            <a:ext cx="5905500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七、滚动轴承钢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4996" name="Rectangle 3"/>
          <p:cNvSpPr>
            <a:spLocks noGrp="1"/>
          </p:cNvSpPr>
          <p:nvPr>
            <p:ph idx="1"/>
          </p:nvPr>
        </p:nvSpPr>
        <p:spPr>
          <a:xfrm>
            <a:off x="0" y="1000125"/>
            <a:ext cx="6429375" cy="55721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滚动轴承钢</a:t>
            </a:r>
            <a:r>
              <a:rPr lang="zh-CN" altLang="en-US" b="1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：</a:t>
            </a:r>
            <a:r>
              <a:rPr lang="zh-CN" altLang="en-US" b="1" dirty="0"/>
              <a:t>用于制造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轴承套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滚动体</a:t>
            </a:r>
            <a:r>
              <a:rPr lang="zh-CN" altLang="en-US" b="1" dirty="0"/>
              <a:t>的专用钢种。</a:t>
            </a:r>
            <a:endParaRPr lang="zh-CN" altLang="en-US" b="1" dirty="0"/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</a:rPr>
              <a:t>1</a:t>
            </a:r>
            <a:r>
              <a:rPr lang="zh-CN" altLang="en-US" b="1" dirty="0">
                <a:solidFill>
                  <a:schemeClr val="tx2"/>
                </a:solidFill>
              </a:rPr>
              <a:t>、性能要求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b="1" dirty="0"/>
              <a:t>轴承工作时</a:t>
            </a:r>
            <a:r>
              <a:rPr lang="en-US" altLang="zh-CN" b="1" dirty="0"/>
              <a:t>, </a:t>
            </a:r>
            <a:r>
              <a:rPr lang="zh-CN" altLang="en-US" b="1" dirty="0"/>
              <a:t>承受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高接触应力</a:t>
            </a:r>
            <a:r>
              <a:rPr lang="en-US" altLang="zh-CN" b="1" dirty="0"/>
              <a:t>(</a:t>
            </a:r>
            <a:r>
              <a:rPr lang="zh-CN" altLang="en-US" b="1" dirty="0"/>
              <a:t>达</a:t>
            </a:r>
            <a:r>
              <a:rPr lang="en-US" altLang="zh-CN" b="1" dirty="0"/>
              <a:t>3000~3500MPa)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周期性交变载荷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频率达数万次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/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分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摩擦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高而均匀的硬度和耐磨性。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高的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和接触疲劳强度。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 足够的韧性、淬透性和耐蚀性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.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84997" name="Picture 5" descr="自动调心球轴承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776085" y="3857625"/>
            <a:ext cx="2245995" cy="2230755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84998" name="Picture 6" descr="圆柱滚子轴承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54495" y="1339215"/>
            <a:ext cx="2249805" cy="2345690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82952" name="Text Box 7"/>
          <p:cNvSpPr txBox="1">
            <a:spLocks noChangeAspect="1" noChangeArrowheads="1"/>
          </p:cNvSpPr>
          <p:nvPr/>
        </p:nvSpPr>
        <p:spPr bwMode="auto">
          <a:xfrm>
            <a:off x="6804660" y="3403600"/>
            <a:ext cx="1597025" cy="314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圆柱滚子轴承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85000" name="Text Box 8"/>
          <p:cNvSpPr txBox="1">
            <a:spLocks noChangeAspect="1"/>
          </p:cNvSpPr>
          <p:nvPr/>
        </p:nvSpPr>
        <p:spPr>
          <a:xfrm>
            <a:off x="6896100" y="5692775"/>
            <a:ext cx="1247775" cy="395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lnSpc>
                <a:spcPct val="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</a:rPr>
              <a:t>自动调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</a:endParaRPr>
          </a:p>
          <a:p>
            <a:pPr lvl="0" algn="l" eaLnBrk="1" hangingPunct="1">
              <a:lnSpc>
                <a:spcPct val="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</a:rPr>
              <a:t>心球轴承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</a:endParaRPr>
          </a:p>
        </p:txBody>
      </p:sp>
      <p:sp>
        <p:nvSpPr>
          <p:cNvPr id="8500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669360"/>
            <a:ext cx="528637" cy="18864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8001000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七、滚动轴承钢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、成分特点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6020" name="Rectangle 3"/>
          <p:cNvSpPr>
            <a:spLocks noGrp="1"/>
          </p:cNvSpPr>
          <p:nvPr>
            <p:ph idx="1"/>
          </p:nvPr>
        </p:nvSpPr>
        <p:spPr>
          <a:xfrm>
            <a:off x="214630" y="999490"/>
            <a:ext cx="7059930" cy="5511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高碳：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0.95~1.10%C 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00FF00"/>
                </a:solidFill>
                <a:ea typeface="华文中宋" panose="02010600040101010101" pitchFamily="2" charset="-122"/>
              </a:rPr>
              <a:t>⑵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合金元素：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ea typeface="华文中宋" panose="02010600040101010101" pitchFamily="2" charset="-122"/>
              </a:rPr>
              <a:t>为主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加入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的主要作用是提高淬透性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dirty="0">
                <a:ea typeface="华文中宋" panose="02010600040101010101" pitchFamily="2" charset="-122"/>
              </a:rPr>
              <a:t>还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提高耐磨性</a:t>
            </a:r>
            <a:r>
              <a:rPr lang="zh-CN" altLang="en-US" dirty="0">
                <a:solidFill>
                  <a:srgbClr val="CCFFFF"/>
                </a:solidFill>
                <a:ea typeface="华文中宋" panose="02010600040101010101" pitchFamily="2" charset="-122"/>
              </a:rPr>
              <a:t>（形成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合金渗碳体</a:t>
            </a:r>
            <a:r>
              <a:rPr lang="zh-CN" altLang="en-US" dirty="0">
                <a:solidFill>
                  <a:srgbClr val="CCFFFF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耐蚀性</a:t>
            </a:r>
            <a:r>
              <a:rPr lang="zh-CN" altLang="en-US" dirty="0">
                <a:ea typeface="华文中宋" panose="02010600040101010101" pitchFamily="2" charset="-122"/>
              </a:rPr>
              <a:t>。</a:t>
            </a:r>
            <a:endParaRPr lang="zh-CN" altLang="en-US" dirty="0"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ea typeface="华文中宋" panose="02010600040101010101" pitchFamily="2" charset="-122"/>
              </a:rPr>
              <a:t>当</a:t>
            </a:r>
            <a:r>
              <a:rPr lang="en-US" altLang="zh-CN" dirty="0">
                <a:solidFill>
                  <a:schemeClr val="folHlink"/>
                </a:solidFill>
                <a:ea typeface="华文中宋" panose="02010600040101010101" pitchFamily="2" charset="-122"/>
              </a:rPr>
              <a:t>&gt;1.65%Cr</a:t>
            </a:r>
            <a:r>
              <a:rPr lang="zh-CN" altLang="en-US" dirty="0">
                <a:ea typeface="华文中宋" panose="02010600040101010101" pitchFamily="2" charset="-122"/>
              </a:rPr>
              <a:t>时</a:t>
            </a:r>
            <a:r>
              <a:rPr lang="en-US" altLang="zh-CN" dirty="0">
                <a:ea typeface="华文中宋" panose="02010600040101010101" pitchFamily="2" charset="-122"/>
              </a:rPr>
              <a:t>,</a:t>
            </a:r>
            <a:r>
              <a:rPr lang="zh-CN" altLang="en-US" dirty="0">
                <a:ea typeface="华文中宋" panose="02010600040101010101" pitchFamily="2" charset="-122"/>
              </a:rPr>
              <a:t>会因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A’</a:t>
            </a:r>
            <a:r>
              <a:rPr lang="zh-CN" altLang="en-US" dirty="0">
                <a:ea typeface="华文中宋" panose="02010600040101010101" pitchFamily="2" charset="-122"/>
              </a:rPr>
              <a:t>增加而使硬度和稳定性下降。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grpSp>
        <p:nvGrpSpPr>
          <p:cNvPr id="2" name="Group 26"/>
          <p:cNvGrpSpPr>
            <a:grpSpLocks noChangeAspect="1"/>
          </p:cNvGrpSpPr>
          <p:nvPr/>
        </p:nvGrpSpPr>
        <p:grpSpPr>
          <a:xfrm>
            <a:off x="7274560" y="1243965"/>
            <a:ext cx="1746250" cy="3640455"/>
            <a:chOff x="3624" y="266"/>
            <a:chExt cx="1884" cy="3814"/>
          </a:xfrm>
        </p:grpSpPr>
        <p:grpSp>
          <p:nvGrpSpPr>
            <p:cNvPr id="86024" name="Group 23"/>
            <p:cNvGrpSpPr>
              <a:grpSpLocks noChangeAspect="1"/>
            </p:cNvGrpSpPr>
            <p:nvPr/>
          </p:nvGrpSpPr>
          <p:grpSpPr>
            <a:xfrm>
              <a:off x="3624" y="266"/>
              <a:ext cx="1884" cy="3814"/>
              <a:chOff x="3624" y="266"/>
              <a:chExt cx="1884" cy="3814"/>
            </a:xfrm>
          </p:grpSpPr>
          <p:pic>
            <p:nvPicPr>
              <p:cNvPr id="86027" name="Picture 21" descr="滚针轴承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624" y="2041"/>
                <a:ext cx="1884" cy="2039"/>
              </a:xfrm>
              <a:prstGeom prst="rect">
                <a:avLst/>
              </a:prstGeom>
              <a:noFill/>
              <a:ln w="38100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86028" name="Picture 22" descr="推力球轴承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844" y="266"/>
                <a:ext cx="1663" cy="1160"/>
              </a:xfrm>
              <a:prstGeom prst="rect">
                <a:avLst/>
              </a:prstGeom>
              <a:noFill/>
              <a:ln w="38100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86025" name="Text Box 24"/>
            <p:cNvSpPr txBox="1">
              <a:spLocks noChangeAspect="1"/>
            </p:cNvSpPr>
            <p:nvPr/>
          </p:nvSpPr>
          <p:spPr>
            <a:xfrm>
              <a:off x="3844" y="1075"/>
              <a:ext cx="1469" cy="7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推力球轴承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026" name="Text Box 25"/>
            <p:cNvSpPr txBox="1">
              <a:spLocks noChangeAspect="1"/>
            </p:cNvSpPr>
            <p:nvPr/>
          </p:nvSpPr>
          <p:spPr>
            <a:xfrm>
              <a:off x="4430" y="2550"/>
              <a:ext cx="480" cy="12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滚针轴承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602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238" y="6510338"/>
            <a:ext cx="385762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71755"/>
            <a:ext cx="8001000" cy="83058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七、滚动轴承钢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、热处理和组织特点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7044" name="Rectangle 3"/>
          <p:cNvSpPr>
            <a:spLocks noGrp="1"/>
          </p:cNvSpPr>
          <p:nvPr>
            <p:ph idx="1"/>
          </p:nvPr>
        </p:nvSpPr>
        <p:spPr>
          <a:xfrm>
            <a:off x="214313" y="1331913"/>
            <a:ext cx="6143625" cy="49545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滚动轴承钢是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过共析钢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⑴ 热处理：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球化退火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低温回火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⑵ 组织：</a:t>
            </a:r>
            <a:r>
              <a:rPr lang="en-US" altLang="zh-CN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r>
              <a:rPr lang="en-US" altLang="zh-CN" dirty="0">
                <a:solidFill>
                  <a:schemeClr val="folHlink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dirty="0">
                <a:solidFill>
                  <a:schemeClr val="folHlink"/>
                </a:solidFill>
                <a:ea typeface="华文中宋" panose="02010600040101010101" pitchFamily="2" charset="-122"/>
              </a:rPr>
              <a:t>颗粒状碳化物</a:t>
            </a:r>
            <a:r>
              <a:rPr lang="en-US" altLang="zh-CN" dirty="0">
                <a:solidFill>
                  <a:schemeClr val="folHlink"/>
                </a:solidFill>
                <a:ea typeface="华文中宋" panose="02010600040101010101" pitchFamily="2" charset="-122"/>
              </a:rPr>
              <a:t>+A’(</a:t>
            </a:r>
            <a:r>
              <a:rPr lang="zh-CN" altLang="en-US" dirty="0">
                <a:solidFill>
                  <a:schemeClr val="folHlink"/>
                </a:solidFill>
                <a:ea typeface="华文中宋" panose="02010600040101010101" pitchFamily="2" charset="-122"/>
              </a:rPr>
              <a:t>少量</a:t>
            </a:r>
            <a:r>
              <a:rPr lang="en-US" altLang="zh-CN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endParaRPr lang="en-US" altLang="zh-CN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ea typeface="华文中宋" panose="02010600040101010101" pitchFamily="2" charset="-122"/>
              </a:rPr>
              <a:t>淬火后进行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冷处理</a:t>
            </a:r>
            <a:r>
              <a:rPr lang="en-US" altLang="zh-CN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en-US" altLang="zh-CN" dirty="0">
                <a:solidFill>
                  <a:srgbClr val="CCFFFF"/>
                </a:solidFill>
                <a:latin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CCFFFF"/>
                </a:solidFill>
                <a:ea typeface="华文中宋" panose="02010600040101010101" pitchFamily="2" charset="-122"/>
              </a:rPr>
              <a:t>60 ~ </a:t>
            </a:r>
            <a:r>
              <a:rPr lang="en-US" altLang="zh-CN" dirty="0">
                <a:solidFill>
                  <a:srgbClr val="CCFFFF"/>
                </a:solidFill>
                <a:latin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CCFFFF"/>
                </a:solidFill>
                <a:ea typeface="华文中宋" panose="02010600040101010101" pitchFamily="2" charset="-122"/>
              </a:rPr>
              <a:t>80℃)</a:t>
            </a:r>
            <a:r>
              <a:rPr lang="en-US" altLang="zh-CN" dirty="0">
                <a:ea typeface="华文中宋" panose="02010600040101010101" pitchFamily="2" charset="-122"/>
              </a:rPr>
              <a:t>, </a:t>
            </a:r>
            <a:r>
              <a:rPr lang="zh-CN" altLang="en-US" dirty="0">
                <a:ea typeface="华文中宋" panose="02010600040101010101" pitchFamily="2" charset="-122"/>
              </a:rPr>
              <a:t>可以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减少A’</a:t>
            </a:r>
            <a:r>
              <a:rPr lang="zh-CN" altLang="en-US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稳定尺寸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22"/>
          <p:cNvGrpSpPr>
            <a:grpSpLocks noChangeAspect="1"/>
          </p:cNvGrpSpPr>
          <p:nvPr/>
        </p:nvGrpSpPr>
        <p:grpSpPr>
          <a:xfrm>
            <a:off x="6407785" y="1511935"/>
            <a:ext cx="2630805" cy="3947160"/>
            <a:chOff x="3535" y="849"/>
            <a:chExt cx="2078" cy="3115"/>
          </a:xfrm>
        </p:grpSpPr>
        <p:pic>
          <p:nvPicPr>
            <p:cNvPr id="87048" name="Picture 6" descr="wzwmain轴承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35" y="2713"/>
              <a:ext cx="2078" cy="1251"/>
            </a:xfrm>
            <a:prstGeom prst="rect">
              <a:avLst/>
            </a:prstGeom>
            <a:noFill/>
            <a:ln w="28575">
              <a:noFill/>
            </a:ln>
          </p:spPr>
        </p:pic>
        <p:grpSp>
          <p:nvGrpSpPr>
            <p:cNvPr id="87049" name="Group 21"/>
            <p:cNvGrpSpPr>
              <a:grpSpLocks noChangeAspect="1"/>
            </p:cNvGrpSpPr>
            <p:nvPr/>
          </p:nvGrpSpPr>
          <p:grpSpPr>
            <a:xfrm>
              <a:off x="3562" y="849"/>
              <a:ext cx="2024" cy="1406"/>
              <a:chOff x="3562" y="849"/>
              <a:chExt cx="2024" cy="1406"/>
            </a:xfrm>
          </p:grpSpPr>
          <p:pic>
            <p:nvPicPr>
              <p:cNvPr id="87050" name="Picture 19" descr="轴承产生车间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562" y="849"/>
                <a:ext cx="2024" cy="1406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87051" name="Rectangle 20"/>
              <p:cNvSpPr>
                <a:spLocks noChangeAspect="1"/>
              </p:cNvSpPr>
              <p:nvPr/>
            </p:nvSpPr>
            <p:spPr>
              <a:xfrm>
                <a:off x="4296" y="2015"/>
                <a:ext cx="1272" cy="240"/>
              </a:xfrm>
              <a:prstGeom prst="rect">
                <a:avLst/>
              </a:prstGeom>
              <a:solidFill>
                <a:srgbClr val="808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轴承生产车间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8704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9779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063" y="6581775"/>
            <a:ext cx="528637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116840"/>
            <a:ext cx="7929880" cy="76771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七、滚动轴承钢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、常用钢号及用途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8068" name="Rectangle 3"/>
          <p:cNvSpPr>
            <a:spLocks noGrp="1"/>
          </p:cNvSpPr>
          <p:nvPr>
            <p:ph idx="1"/>
          </p:nvPr>
        </p:nvSpPr>
        <p:spPr>
          <a:xfrm>
            <a:off x="142875" y="1268730"/>
            <a:ext cx="6786563" cy="266858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GCr15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应用最广，</a:t>
            </a: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</a:rPr>
              <a:t>用于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大中型轴承；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folHlink"/>
                </a:solidFill>
                <a:ea typeface="华文中宋" panose="02010600040101010101" pitchFamily="2" charset="-122"/>
              </a:rPr>
              <a:t>大型轴承</a:t>
            </a:r>
            <a:r>
              <a:rPr lang="zh-CN" altLang="en-US" b="1" dirty="0">
                <a:ea typeface="华文中宋" panose="02010600040101010101" pitchFamily="2" charset="-122"/>
              </a:rPr>
              <a:t>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GCr15SiMn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</a:rPr>
              <a:t>还可用于制造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模具、量具等</a:t>
            </a:r>
            <a:r>
              <a:rPr lang="zh-CN" altLang="en-US" dirty="0">
                <a:ea typeface="华文中宋" panose="02010600040101010101" pitchFamily="2" charset="-122"/>
              </a:rPr>
              <a:t>。</a:t>
            </a:r>
            <a:endParaRPr lang="en-US" altLang="zh-CN" sz="3600" dirty="0"/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31"/>
          <p:cNvGrpSpPr>
            <a:grpSpLocks noChangeAspect="1"/>
          </p:cNvGrpSpPr>
          <p:nvPr/>
        </p:nvGrpSpPr>
        <p:grpSpPr>
          <a:xfrm>
            <a:off x="7000875" y="1268095"/>
            <a:ext cx="1922780" cy="2341880"/>
            <a:chOff x="4044" y="252"/>
            <a:chExt cx="1620" cy="1972"/>
          </a:xfrm>
        </p:grpSpPr>
        <p:pic>
          <p:nvPicPr>
            <p:cNvPr id="88081" name="Picture 29" descr="向心球轴承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44" y="288"/>
              <a:ext cx="1587" cy="193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" name="Text Box 30"/>
            <p:cNvSpPr txBox="1">
              <a:spLocks noChangeAspect="1" noChangeArrowheads="1"/>
            </p:cNvSpPr>
            <p:nvPr/>
          </p:nvSpPr>
          <p:spPr bwMode="auto">
            <a:xfrm>
              <a:off x="5040" y="252"/>
              <a:ext cx="624" cy="8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向心球轴承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33"/>
          <p:cNvGrpSpPr/>
          <p:nvPr/>
        </p:nvGrpSpPr>
        <p:grpSpPr>
          <a:xfrm>
            <a:off x="857250" y="4143375"/>
            <a:ext cx="8097838" cy="1985963"/>
            <a:chOff x="336" y="2352"/>
            <a:chExt cx="5101" cy="1746"/>
          </a:xfrm>
        </p:grpSpPr>
        <p:pic>
          <p:nvPicPr>
            <p:cNvPr id="88073" name="Picture 7" descr="5-21滚针轴承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" y="2374"/>
              <a:ext cx="1325" cy="1724"/>
            </a:xfrm>
            <a:prstGeom prst="rect">
              <a:avLst/>
            </a:prstGeom>
            <a:noFill/>
            <a:ln w="28575" cap="flat" cmpd="sng">
              <a:solidFill>
                <a:srgbClr val="9966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8074" name="Text Box 9"/>
            <p:cNvSpPr txBox="1">
              <a:spLocks noChangeAspect="1"/>
            </p:cNvSpPr>
            <p:nvPr/>
          </p:nvSpPr>
          <p:spPr>
            <a:xfrm>
              <a:off x="336" y="2372"/>
              <a:ext cx="7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滚针轴承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88075" name="Picture 6" descr="3-11滚柱轴承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0" y="2374"/>
              <a:ext cx="1325" cy="1724"/>
            </a:xfrm>
            <a:prstGeom prst="rect">
              <a:avLst/>
            </a:prstGeom>
            <a:noFill/>
            <a:ln w="28575" cap="flat" cmpd="sng">
              <a:solidFill>
                <a:srgbClr val="9966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8076" name="Text Box 10"/>
            <p:cNvSpPr txBox="1">
              <a:spLocks noChangeAspect="1"/>
            </p:cNvSpPr>
            <p:nvPr/>
          </p:nvSpPr>
          <p:spPr>
            <a:xfrm>
              <a:off x="1576" y="2352"/>
              <a:ext cx="79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滚柱轴承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88077" name="Picture 5" descr="球轴承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9" y="2374"/>
              <a:ext cx="1324" cy="1721"/>
            </a:xfrm>
            <a:prstGeom prst="rect">
              <a:avLst/>
            </a:prstGeom>
            <a:noFill/>
            <a:ln w="28575" cap="flat" cmpd="sng">
              <a:solidFill>
                <a:srgbClr val="9966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8078" name="Text Box 11"/>
            <p:cNvSpPr txBox="1">
              <a:spLocks noChangeAspect="1"/>
            </p:cNvSpPr>
            <p:nvPr/>
          </p:nvSpPr>
          <p:spPr>
            <a:xfrm>
              <a:off x="2832" y="2354"/>
              <a:ext cx="91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滚珠轴承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88079" name="Picture 8" descr="index4-3球轴承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56" y="2374"/>
              <a:ext cx="1381" cy="1720"/>
            </a:xfrm>
            <a:prstGeom prst="rect">
              <a:avLst/>
            </a:prstGeom>
            <a:noFill/>
            <a:ln w="28575" cap="flat" cmpd="sng">
              <a:solidFill>
                <a:srgbClr val="9966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8080" name="Text Box 16"/>
            <p:cNvSpPr txBox="1">
              <a:spLocks noChangeAspect="1"/>
            </p:cNvSpPr>
            <p:nvPr/>
          </p:nvSpPr>
          <p:spPr>
            <a:xfrm>
              <a:off x="4082" y="2840"/>
              <a:ext cx="254" cy="125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no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大型轴承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07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9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28099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0"/>
            <a:ext cx="81438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滚动轴承钢常用钢号及用途</a:t>
            </a:r>
            <a:r>
              <a:rPr kumimoji="1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P118</a:t>
            </a:r>
            <a:r>
              <a:rPr kumimoji="1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1" lang="zh-CN" altLang="en-US" sz="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909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89093" name="Picture 4" descr="《工程材料》T6-1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9388" y="1143000"/>
            <a:ext cx="8769350" cy="500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909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092315" y="1007745"/>
            <a:ext cx="1840230" cy="5835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</a:rPr>
              <a:t>GB/T18254 2016 </a:t>
            </a:r>
            <a:r>
              <a:rPr lang="zh-CN" altLang="en-US" sz="1600" dirty="0">
                <a:solidFill>
                  <a:srgbClr val="0000FF"/>
                </a:solidFill>
              </a:rPr>
              <a:t>高碳铬轴承钢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27415" y="6667500"/>
            <a:ext cx="563880" cy="19050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65914" y="1268760"/>
            <a:ext cx="8131879" cy="3096344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八、</a:t>
            </a: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耐磨钢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</a:br>
            <a:r>
              <a:rPr lang="en-US" altLang="zh-CN" sz="6600" b="1" i="1" noProof="0" dirty="0">
                <a:latin typeface="+mn-lt"/>
              </a:rPr>
              <a:t>Wear-Resistant Steels</a:t>
            </a:r>
            <a:endParaRPr kumimoji="1" lang="en-US" altLang="zh-CN" sz="66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</a:endParaRPr>
          </a:p>
        </p:txBody>
      </p:sp>
      <p:sp>
        <p:nvSpPr>
          <p:cNvPr id="9011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3415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28530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-180151" t="-248477" r="-181980" b="-84447"/>
          <a:stretch>
            <a:fillRect/>
          </a:stretch>
        </p:blipFill>
        <p:spPr>
          <a:xfrm>
            <a:off x="-4284980" y="-197104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27415" y="6667500"/>
            <a:ext cx="563880" cy="19050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947670" y="635"/>
            <a:ext cx="4216400" cy="91376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八、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耐磨钢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0116" name="Rectangle 3"/>
          <p:cNvSpPr>
            <a:spLocks noGrp="1"/>
          </p:cNvSpPr>
          <p:nvPr>
            <p:ph idx="1"/>
          </p:nvPr>
        </p:nvSpPr>
        <p:spPr>
          <a:xfrm>
            <a:off x="107950" y="914400"/>
            <a:ext cx="5255895" cy="570738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在冲击载荷作用下发生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冲击硬化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高锰钢。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ZGMn13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...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、成分特点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高碳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1.0~1.3%C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ea typeface="华文中宋" panose="02010600040101010101" pitchFamily="2" charset="-122"/>
              </a:rPr>
              <a:t>    </a:t>
            </a:r>
            <a:r>
              <a:rPr lang="zh-CN" altLang="en-US" b="1" dirty="0">
                <a:ea typeface="华文中宋" panose="02010600040101010101" pitchFamily="2" charset="-122"/>
              </a:rPr>
              <a:t>以保持高耐磨性。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高锰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11~14%Mn   </a:t>
            </a:r>
            <a:r>
              <a:rPr lang="zh-CN" altLang="en-US" b="1" dirty="0">
                <a:ea typeface="华文中宋" panose="02010600040101010101" pitchFamily="2" charset="-122"/>
              </a:rPr>
              <a:t>以保证形成奥氏体组织</a:t>
            </a:r>
            <a:r>
              <a:rPr lang="en-US" altLang="zh-CN" b="1" dirty="0">
                <a:ea typeface="华文中宋" panose="02010600040101010101" pitchFamily="2" charset="-122"/>
              </a:rPr>
              <a:t>.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838190" y="1290955"/>
            <a:ext cx="3059430" cy="4597400"/>
            <a:chOff x="3168" y="480"/>
            <a:chExt cx="2303" cy="3386"/>
          </a:xfrm>
        </p:grpSpPr>
        <p:grpSp>
          <p:nvGrpSpPr>
            <p:cNvPr id="90120" name="Group 5"/>
            <p:cNvGrpSpPr>
              <a:grpSpLocks noChangeAspect="1"/>
            </p:cNvGrpSpPr>
            <p:nvPr/>
          </p:nvGrpSpPr>
          <p:grpSpPr>
            <a:xfrm>
              <a:off x="3168" y="480"/>
              <a:ext cx="2303" cy="3386"/>
              <a:chOff x="3072" y="336"/>
              <a:chExt cx="2448" cy="3600"/>
            </a:xfrm>
          </p:grpSpPr>
          <p:pic>
            <p:nvPicPr>
              <p:cNvPr id="90122" name="Picture 6" descr="高锰钢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72" y="336"/>
                <a:ext cx="2380" cy="1785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90123" name="Picture 7" descr="砂铸高锰钢1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72" y="2292"/>
                <a:ext cx="2380" cy="1644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0124" name="Text Box 8"/>
              <p:cNvSpPr txBox="1">
                <a:spLocks noChangeAspect="1"/>
              </p:cNvSpPr>
              <p:nvPr/>
            </p:nvSpPr>
            <p:spPr>
              <a:xfrm>
                <a:off x="4204" y="2292"/>
                <a:ext cx="1316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高锰钢铸件</a:t>
                </a:r>
                <a:endPara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0121" name="Text Box 9"/>
            <p:cNvSpPr txBox="1">
              <a:spLocks noChangeAspect="1"/>
            </p:cNvSpPr>
            <p:nvPr/>
          </p:nvSpPr>
          <p:spPr>
            <a:xfrm>
              <a:off x="3168" y="1925"/>
              <a:ext cx="768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高锰钢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011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97352"/>
            <a:ext cx="1763688" cy="260648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0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0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0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0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0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0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0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0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0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0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0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0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45033" y="6597352"/>
            <a:ext cx="498967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6038" name="Rectangle 22"/>
          <p:cNvSpPr>
            <a:spLocks noGrp="1"/>
          </p:cNvSpPr>
          <p:nvPr>
            <p:ph idx="1"/>
          </p:nvPr>
        </p:nvSpPr>
        <p:spPr>
          <a:xfrm>
            <a:off x="428625" y="1026478"/>
            <a:ext cx="4500563" cy="532748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铸态组织：奥氏体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碳化物</a:t>
            </a:r>
            <a:r>
              <a:rPr lang="en-US" altLang="zh-CN" b="1" dirty="0">
                <a:solidFill>
                  <a:srgbClr val="ADFFFF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</a:rPr>
              <a:t>性能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</a:t>
            </a: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</a:rPr>
              <a:t>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脆</a:t>
            </a: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solidFill>
                <a:srgbClr val="AD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</a:t>
            </a:r>
            <a:r>
              <a:rPr lang="zh-CN" altLang="en-US" b="1" dirty="0">
                <a:ea typeface="华文中宋" panose="02010600040101010101" pitchFamily="2" charset="-122"/>
              </a:rPr>
              <a:t>采用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水韧处理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ea typeface="华文中宋" panose="02010600040101010101" pitchFamily="2" charset="-122"/>
              </a:rPr>
              <a:t>即将钢加热到</a:t>
            </a:r>
            <a:r>
              <a:rPr lang="en-US" altLang="zh-CN" b="1" dirty="0">
                <a:ea typeface="华文中宋" panose="02010600040101010101" pitchFamily="2" charset="-122"/>
              </a:rPr>
              <a:t>1100℃</a:t>
            </a:r>
            <a:r>
              <a:rPr lang="zh-CN" altLang="en-US" b="1" dirty="0">
                <a:ea typeface="华文中宋" panose="02010600040101010101" pitchFamily="2" charset="-122"/>
              </a:rPr>
              <a:t>，使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碳化物溶入奥氏体</a:t>
            </a:r>
            <a:r>
              <a:rPr lang="zh-CN" altLang="en-US" b="1" dirty="0">
                <a:ea typeface="华文中宋" panose="02010600040101010101" pitchFamily="2" charset="-122"/>
              </a:rPr>
              <a:t>，并进行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水淬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r>
              <a:rPr lang="en-US" altLang="zh-CN" b="1" dirty="0">
                <a:ea typeface="华文中宋" panose="02010600040101010101" pitchFamily="2" charset="-122"/>
              </a:rPr>
              <a:t>)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室温组织：过饱和单相奥氏体。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5567680" y="1372235"/>
            <a:ext cx="3382645" cy="5008090"/>
            <a:chOff x="2832" y="192"/>
            <a:chExt cx="2530" cy="3603"/>
          </a:xfrm>
        </p:grpSpPr>
        <p:pic>
          <p:nvPicPr>
            <p:cNvPr id="91144" name="Picture 25" descr="高锰钢件浇注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32" y="192"/>
              <a:ext cx="2530" cy="1687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91145" name="Picture 26" descr="高锰钢组织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2" y="2018"/>
              <a:ext cx="2530" cy="1773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91146" name="Text Box 28"/>
            <p:cNvSpPr txBox="1">
              <a:spLocks noChangeAspect="1"/>
            </p:cNvSpPr>
            <p:nvPr/>
          </p:nvSpPr>
          <p:spPr>
            <a:xfrm>
              <a:off x="3276" y="3508"/>
              <a:ext cx="1871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r" eaLnBrk="1" hangingPunct="1"/>
              <a:r>
                <a:rPr lang="zh-CN" altLang="en-US" sz="2000" dirty="0">
                  <a:latin typeface="Times New Roman" panose="02020603050405020304" pitchFamily="18" charset="0"/>
                  <a:ea typeface="华文宋体" panose="02010600040101010101" pitchFamily="2" charset="-122"/>
                </a:rPr>
                <a:t>高锰钢水韧处理组织</a:t>
              </a:r>
              <a:endParaRPr lang="zh-CN" altLang="en-US" sz="2000" dirty="0">
                <a:latin typeface="Times New Roman" panose="02020603050405020304" pitchFamily="18" charset="0"/>
                <a:ea typeface="华文宋体" panose="02010600040101010101" pitchFamily="2" charset="-122"/>
              </a:endParaRPr>
            </a:p>
          </p:txBody>
        </p:sp>
        <p:sp>
          <p:nvSpPr>
            <p:cNvPr id="91147" name="Text Box 31"/>
            <p:cNvSpPr txBox="1">
              <a:spLocks noChangeAspect="1"/>
            </p:cNvSpPr>
            <p:nvPr/>
          </p:nvSpPr>
          <p:spPr>
            <a:xfrm>
              <a:off x="2881" y="1634"/>
              <a:ext cx="141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浇铸高锰钢件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755" y="0"/>
            <a:ext cx="7929880" cy="93472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八、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耐磨钢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、热处理及组织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114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97352"/>
            <a:ext cx="1763688" cy="260648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8" grpId="0" advAuto="100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04448" y="6597352"/>
            <a:ext cx="539552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7056" name="Rectangle 16"/>
          <p:cNvSpPr>
            <a:spLocks noGrp="1"/>
          </p:cNvSpPr>
          <p:nvPr>
            <p:ph idx="1"/>
          </p:nvPr>
        </p:nvSpPr>
        <p:spPr>
          <a:xfrm>
            <a:off x="0" y="857250"/>
            <a:ext cx="6072505" cy="582231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水韧处理</a:t>
            </a:r>
            <a:r>
              <a:rPr lang="zh-CN" altLang="en-US" b="1" dirty="0">
                <a:ea typeface="华文中宋" panose="02010600040101010101" pitchFamily="2" charset="-122"/>
              </a:rPr>
              <a:t>后，韧性高，硬度低</a:t>
            </a: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  <a:sym typeface="+mn-ea"/>
              </a:rPr>
              <a:t>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使用时必须伴随着压力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冲击作用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在压力及冲击作用下，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表面</a:t>
            </a:r>
            <a:r>
              <a:rPr lang="zh-CN" altLang="en-US" b="1" dirty="0">
                <a:ea typeface="华文中宋" panose="02010600040101010101" pitchFamily="2" charset="-122"/>
              </a:rPr>
              <a:t>奥氏体迅速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加工硬化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形成马氏体</a:t>
            </a:r>
            <a:r>
              <a:rPr lang="zh-CN" altLang="en-US" b="1" dirty="0">
                <a:ea typeface="华文中宋" panose="02010600040101010101" pitchFamily="2" charset="-122"/>
              </a:rPr>
              <a:t>并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析出碳化物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</a:rPr>
              <a:t>使表面硬度提高到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HB500~550</a:t>
            </a: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</a:rPr>
              <a:t>，获得高耐磨性。而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心部</a:t>
            </a: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</a:rPr>
              <a:t>仍为奥氏体组织</a:t>
            </a:r>
            <a:r>
              <a:rPr lang="en-US" altLang="zh-CN" b="1" dirty="0">
                <a:solidFill>
                  <a:srgbClr val="ADFFFF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ADFFFF"/>
                </a:solidFill>
                <a:ea typeface="华文中宋" panose="02010600040101010101" pitchFamily="2" charset="-122"/>
              </a:rPr>
              <a:t>具有高耐冲击能力。</a:t>
            </a:r>
            <a:endParaRPr lang="zh-CN" altLang="en-US" b="1" dirty="0">
              <a:solidFill>
                <a:srgbClr val="ADFFFF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27"/>
          <p:cNvGrpSpPr>
            <a:grpSpLocks noChangeAspect="1"/>
          </p:cNvGrpSpPr>
          <p:nvPr/>
        </p:nvGrpSpPr>
        <p:grpSpPr>
          <a:xfrm>
            <a:off x="6213475" y="1033780"/>
            <a:ext cx="2859405" cy="5060950"/>
            <a:chOff x="3599" y="276"/>
            <a:chExt cx="2091" cy="3699"/>
          </a:xfrm>
        </p:grpSpPr>
        <p:pic>
          <p:nvPicPr>
            <p:cNvPr id="92168" name="Picture 20" descr="PE颚式破碎机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99" y="276"/>
              <a:ext cx="2040" cy="204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92170" name="Picture 21" descr="ce_sales_img_per挖掘机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0" y="2416"/>
              <a:ext cx="2040" cy="1559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92171" name="Text Box 24"/>
            <p:cNvSpPr txBox="1">
              <a:spLocks noChangeAspect="1"/>
            </p:cNvSpPr>
            <p:nvPr/>
          </p:nvSpPr>
          <p:spPr>
            <a:xfrm>
              <a:off x="4768" y="2425"/>
              <a:ext cx="869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r" eaLnBrk="1" hangingPunct="1"/>
              <a:r>
                <a:rPr lang="zh-CN" altLang="en-US" sz="2000" dirty="0">
                  <a:latin typeface="Times New Roman" panose="02020603050405020304" pitchFamily="18" charset="0"/>
                  <a:ea typeface="华文宋体" panose="02010600040101010101" pitchFamily="2" charset="-122"/>
                </a:rPr>
                <a:t>挖掘机</a:t>
              </a:r>
              <a:endParaRPr lang="zh-CN" altLang="en-US" sz="2000" dirty="0">
                <a:latin typeface="Times New Roman" panose="02020603050405020304" pitchFamily="18" charset="0"/>
                <a:ea typeface="华文宋体" panose="02010600040101010101" pitchFamily="2" charset="-122"/>
              </a:endParaRPr>
            </a:p>
          </p:txBody>
        </p:sp>
      </p:grp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438" y="0"/>
            <a:ext cx="792956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八、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耐磨钢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、使用及用途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6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97352"/>
            <a:ext cx="1763688" cy="260648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ext Box 24"/>
          <p:cNvSpPr txBox="1">
            <a:spLocks noChangeAspect="1"/>
          </p:cNvSpPr>
          <p:nvPr/>
        </p:nvSpPr>
        <p:spPr>
          <a:xfrm>
            <a:off x="6156325" y="3425825"/>
            <a:ext cx="14776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r" eaLnBrk="1" hangingPunct="1"/>
            <a:r>
              <a:rPr lang="zh-CN" altLang="en-US" sz="2000" dirty="0">
                <a:latin typeface="Times New Roman" panose="02020603050405020304" pitchFamily="18" charset="0"/>
                <a:ea typeface="华文宋体" panose="02010600040101010101" pitchFamily="2" charset="-122"/>
              </a:rPr>
              <a:t>颚式破碎机</a:t>
            </a:r>
            <a:endParaRPr lang="zh-CN" altLang="en-US" sz="2000" dirty="0">
              <a:latin typeface="Times New Roman" panose="02020603050405020304" pitchFamily="18" charset="0"/>
              <a:ea typeface="华文宋体" panose="02010600040101010101" pitchFamily="2" charset="-122"/>
            </a:endParaRP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56" grpId="0" advAuto="100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81775"/>
            <a:ext cx="528637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8120" name="Rectangle 56"/>
          <p:cNvSpPr>
            <a:spLocks noGrp="1"/>
          </p:cNvSpPr>
          <p:nvPr>
            <p:ph idx="1"/>
          </p:nvPr>
        </p:nvSpPr>
        <p:spPr>
          <a:xfrm>
            <a:off x="285750" y="785813"/>
            <a:ext cx="5798418" cy="253021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高锰钢广泛用于既要求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耐磨</a:t>
            </a:r>
            <a:r>
              <a:rPr lang="zh-CN" altLang="en-US" b="1" dirty="0">
                <a:ea typeface="华文中宋" panose="02010600040101010101" pitchFamily="2" charset="-122"/>
              </a:rPr>
              <a:t>又要求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耐冲击</a:t>
            </a:r>
            <a:r>
              <a:rPr lang="zh-CN" altLang="en-US" b="1" dirty="0">
                <a:ea typeface="华文中宋" panose="02010600040101010101" pitchFamily="2" charset="-122"/>
              </a:rPr>
              <a:t>的零件。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如拖拉机的履带板、球磨机衬板、破碎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机牙板、挖</a:t>
            </a:r>
            <a:endParaRPr lang="zh-CN" altLang="en-US" b="1" dirty="0">
              <a:solidFill>
                <a:srgbClr val="ADFFFF"/>
              </a:solidFill>
              <a:ea typeface="华文中宋" panose="02010600040101010101" pitchFamily="2" charset="-122"/>
            </a:endParaRPr>
          </a:p>
        </p:txBody>
      </p:sp>
      <p:sp>
        <p:nvSpPr>
          <p:cNvPr id="88121" name="Text Box 57"/>
          <p:cNvSpPr txBox="1"/>
          <p:nvPr/>
        </p:nvSpPr>
        <p:spPr>
          <a:xfrm>
            <a:off x="636698" y="3253223"/>
            <a:ext cx="3170900" cy="13098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掘机铲齿和铁路辙岔等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65"/>
          <p:cNvGrpSpPr>
            <a:grpSpLocks noChangeAspect="1"/>
          </p:cNvGrpSpPr>
          <p:nvPr/>
        </p:nvGrpSpPr>
        <p:grpSpPr>
          <a:xfrm>
            <a:off x="1804659" y="1412959"/>
            <a:ext cx="7122978" cy="5043936"/>
            <a:chOff x="450" y="401"/>
            <a:chExt cx="5025" cy="3558"/>
          </a:xfrm>
        </p:grpSpPr>
        <p:grpSp>
          <p:nvGrpSpPr>
            <p:cNvPr id="93193" name="Group 60"/>
            <p:cNvGrpSpPr>
              <a:grpSpLocks noChangeAspect="1"/>
            </p:cNvGrpSpPr>
            <p:nvPr/>
          </p:nvGrpSpPr>
          <p:grpSpPr>
            <a:xfrm>
              <a:off x="1426" y="2775"/>
              <a:ext cx="2154" cy="1184"/>
              <a:chOff x="1418" y="2775"/>
              <a:chExt cx="2154" cy="1184"/>
            </a:xfrm>
          </p:grpSpPr>
          <p:pic>
            <p:nvPicPr>
              <p:cNvPr id="93206" name="Picture 10" descr="ld1履带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418" y="2775"/>
                <a:ext cx="2154" cy="1176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88075" name="Text Box 11"/>
              <p:cNvSpPr txBox="1">
                <a:spLocks noChangeAspect="1" noChangeArrowheads="1"/>
              </p:cNvSpPr>
              <p:nvPr/>
            </p:nvSpPr>
            <p:spPr bwMode="auto">
              <a:xfrm>
                <a:off x="2928" y="3677"/>
                <a:ext cx="606" cy="282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履带</a:t>
                </a: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3194" name="Group 61"/>
            <p:cNvGrpSpPr>
              <a:grpSpLocks noChangeAspect="1"/>
            </p:cNvGrpSpPr>
            <p:nvPr/>
          </p:nvGrpSpPr>
          <p:grpSpPr>
            <a:xfrm>
              <a:off x="3688" y="2634"/>
              <a:ext cx="1787" cy="1304"/>
              <a:chOff x="3688" y="2634"/>
              <a:chExt cx="1787" cy="1304"/>
            </a:xfrm>
          </p:grpSpPr>
          <p:pic>
            <p:nvPicPr>
              <p:cNvPr id="93204" name="Picture 4" descr="1球磨机衬板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74" y="2696"/>
                <a:ext cx="1701" cy="1242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3205" name="Text Box 5"/>
              <p:cNvSpPr txBox="1">
                <a:spLocks noChangeAspect="1"/>
              </p:cNvSpPr>
              <p:nvPr/>
            </p:nvSpPr>
            <p:spPr>
              <a:xfrm>
                <a:off x="3688" y="2634"/>
                <a:ext cx="1161" cy="28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球磨机衬板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195" name="Group 62"/>
            <p:cNvGrpSpPr>
              <a:grpSpLocks noChangeAspect="1"/>
            </p:cNvGrpSpPr>
            <p:nvPr/>
          </p:nvGrpSpPr>
          <p:grpSpPr>
            <a:xfrm>
              <a:off x="450" y="2559"/>
              <a:ext cx="954" cy="1379"/>
              <a:chOff x="450" y="2559"/>
              <a:chExt cx="954" cy="1379"/>
            </a:xfrm>
          </p:grpSpPr>
          <p:pic>
            <p:nvPicPr>
              <p:cNvPr id="93202" name="Picture 32" descr="铲齿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50" y="2632"/>
                <a:ext cx="868" cy="1306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3203" name="Text Box 35"/>
              <p:cNvSpPr txBox="1">
                <a:spLocks noChangeAspect="1"/>
              </p:cNvSpPr>
              <p:nvPr/>
            </p:nvSpPr>
            <p:spPr>
              <a:xfrm>
                <a:off x="1079" y="2559"/>
                <a:ext cx="325" cy="100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挖掘机铲齿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196" name="Group 59"/>
            <p:cNvGrpSpPr>
              <a:grpSpLocks noChangeAspect="1"/>
            </p:cNvGrpSpPr>
            <p:nvPr/>
          </p:nvGrpSpPr>
          <p:grpSpPr>
            <a:xfrm>
              <a:off x="3640" y="401"/>
              <a:ext cx="1827" cy="2206"/>
              <a:chOff x="3640" y="361"/>
              <a:chExt cx="1827" cy="2206"/>
            </a:xfrm>
          </p:grpSpPr>
          <p:pic>
            <p:nvPicPr>
              <p:cNvPr id="93200" name="Picture 46" descr="tl1铁路道岔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640" y="361"/>
                <a:ext cx="1827" cy="2206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3201" name="Text Box 47"/>
              <p:cNvSpPr txBox="1">
                <a:spLocks noChangeAspect="1"/>
              </p:cNvSpPr>
              <p:nvPr/>
            </p:nvSpPr>
            <p:spPr>
              <a:xfrm>
                <a:off x="3652" y="368"/>
                <a:ext cx="960" cy="2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铁路辙岔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197" name="Group 64"/>
            <p:cNvGrpSpPr>
              <a:grpSpLocks noChangeAspect="1"/>
            </p:cNvGrpSpPr>
            <p:nvPr/>
          </p:nvGrpSpPr>
          <p:grpSpPr>
            <a:xfrm>
              <a:off x="1903" y="1417"/>
              <a:ext cx="1738" cy="1294"/>
              <a:chOff x="1903" y="1417"/>
              <a:chExt cx="1738" cy="1294"/>
            </a:xfrm>
          </p:grpSpPr>
          <p:pic>
            <p:nvPicPr>
              <p:cNvPr id="93198" name="Picture 54" descr="破碎机鄂板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03" y="1520"/>
                <a:ext cx="1647" cy="1191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3199" name="Text Box 63"/>
              <p:cNvSpPr txBox="1">
                <a:spLocks noChangeAspect="1"/>
              </p:cNvSpPr>
              <p:nvPr/>
            </p:nvSpPr>
            <p:spPr>
              <a:xfrm>
                <a:off x="3317" y="1417"/>
                <a:ext cx="324" cy="10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square">
                <a:spAutoFit/>
              </a:bodyPr>
              <a:lstStyle/>
              <a:p>
                <a:pPr lvl="0" eaLnBrk="1" hangingPunct="1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破碎机牙板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438" y="-142875"/>
            <a:ext cx="792956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八、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耐磨钢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、使用及用途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319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81774"/>
            <a:ext cx="1691680" cy="276225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4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20" grpId="0" advAuto="1000" build="p"/>
      <p:bldP spid="881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04448" y="6597352"/>
            <a:ext cx="539552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1" y="0"/>
            <a:ext cx="4806280" cy="10715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八、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耐磨钢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421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94213" name="Picture 4" descr="《工程材料》T6-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9387" y="1240492"/>
            <a:ext cx="8785225" cy="4968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2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97352"/>
            <a:ext cx="1691680" cy="260648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60186"/>
            <a:ext cx="457200" cy="297814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81822" y="1339679"/>
            <a:ext cx="6624736" cy="2017313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第四节  工具钢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Tool </a:t>
            </a:r>
            <a:r>
              <a:rPr lang="en-US" altLang="zh-CN" sz="6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Steels</a:t>
            </a:r>
            <a:endParaRPr kumimoji="1" lang="zh-CN" altLang="en-US" sz="66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53"/>
          <p:cNvGrpSpPr/>
          <p:nvPr/>
        </p:nvGrpSpPr>
        <p:grpSpPr>
          <a:xfrm>
            <a:off x="741046" y="3942334"/>
            <a:ext cx="7289802" cy="2147888"/>
            <a:chOff x="487" y="2365"/>
            <a:chExt cx="4592" cy="1353"/>
          </a:xfrm>
        </p:grpSpPr>
        <p:pic>
          <p:nvPicPr>
            <p:cNvPr id="95247" name="Picture 8" descr="mm模具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23" y="2374"/>
              <a:ext cx="1407" cy="1019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95241" name="Group 43"/>
            <p:cNvGrpSpPr>
              <a:grpSpLocks noChangeAspect="1"/>
            </p:cNvGrpSpPr>
            <p:nvPr/>
          </p:nvGrpSpPr>
          <p:grpSpPr>
            <a:xfrm>
              <a:off x="487" y="2365"/>
              <a:ext cx="1495" cy="1341"/>
              <a:chOff x="-1870" y="3939"/>
              <a:chExt cx="1653" cy="1482"/>
            </a:xfrm>
          </p:grpSpPr>
          <p:pic>
            <p:nvPicPr>
              <p:cNvPr id="95245" name="Picture 11" descr="xidao0铣刀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-1870" y="3939"/>
                <a:ext cx="1653" cy="1147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0153" name="Text Box 41"/>
              <p:cNvSpPr txBox="1">
                <a:spLocks noChangeAspect="1" noChangeArrowheads="1"/>
              </p:cNvSpPr>
              <p:nvPr/>
            </p:nvSpPr>
            <p:spPr bwMode="auto">
              <a:xfrm>
                <a:off x="-1379" y="5103"/>
                <a:ext cx="672" cy="318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刃具</a:t>
                </a:r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5242" name="Group 50"/>
            <p:cNvGrpSpPr>
              <a:grpSpLocks noChangeAspect="1"/>
            </p:cNvGrpSpPr>
            <p:nvPr/>
          </p:nvGrpSpPr>
          <p:grpSpPr>
            <a:xfrm>
              <a:off x="3671" y="2373"/>
              <a:ext cx="1408" cy="1345"/>
              <a:chOff x="3676" y="2323"/>
              <a:chExt cx="1423" cy="1359"/>
            </a:xfrm>
          </p:grpSpPr>
          <p:pic>
            <p:nvPicPr>
              <p:cNvPr id="95243" name="Picture 23" descr="2page13量具1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76" y="2323"/>
                <a:ext cx="1423" cy="1003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0160" name="Text Box 48"/>
              <p:cNvSpPr txBox="1">
                <a:spLocks noChangeAspect="1" noChangeArrowheads="1"/>
              </p:cNvSpPr>
              <p:nvPr/>
            </p:nvSpPr>
            <p:spPr bwMode="auto">
              <a:xfrm>
                <a:off x="4189" y="3391"/>
                <a:ext cx="624" cy="291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量具</a:t>
                </a:r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9523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60186"/>
            <a:ext cx="1691680" cy="297814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Text Box 41"/>
          <p:cNvSpPr txBox="1">
            <a:spLocks noChangeAspect="1" noChangeArrowheads="1"/>
          </p:cNvSpPr>
          <p:nvPr/>
        </p:nvSpPr>
        <p:spPr bwMode="auto">
          <a:xfrm>
            <a:off x="3910674" y="5626092"/>
            <a:ext cx="964831" cy="46166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模具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6195" y="240220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57438" y="0"/>
            <a:ext cx="4572000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第四节  工具钢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785813" y="1143000"/>
            <a:ext cx="3000375" cy="2400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按用途分为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: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刃具钢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模具钢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量具钢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53"/>
          <p:cNvGrpSpPr/>
          <p:nvPr/>
        </p:nvGrpSpPr>
        <p:grpSpPr>
          <a:xfrm>
            <a:off x="1022350" y="1676400"/>
            <a:ext cx="7339013" cy="4805363"/>
            <a:chOff x="644" y="1056"/>
            <a:chExt cx="4623" cy="3027"/>
          </a:xfrm>
        </p:grpSpPr>
        <p:grpSp>
          <p:nvGrpSpPr>
            <p:cNvPr id="95240" name="Group 51"/>
            <p:cNvGrpSpPr/>
            <p:nvPr/>
          </p:nvGrpSpPr>
          <p:grpSpPr>
            <a:xfrm>
              <a:off x="644" y="2484"/>
              <a:ext cx="2181" cy="1599"/>
              <a:chOff x="644" y="2484"/>
              <a:chExt cx="2181" cy="1599"/>
            </a:xfrm>
          </p:grpSpPr>
          <p:pic>
            <p:nvPicPr>
              <p:cNvPr id="95247" name="Picture 8" descr="mm模具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644" y="2496"/>
                <a:ext cx="2172" cy="157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5248" name="Rectangle 30"/>
              <p:cNvSpPr>
                <a:spLocks noChangeAspect="1"/>
              </p:cNvSpPr>
              <p:nvPr/>
            </p:nvSpPr>
            <p:spPr>
              <a:xfrm>
                <a:off x="644" y="2484"/>
                <a:ext cx="2181" cy="1579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201" name="Text Box 34"/>
              <p:cNvSpPr txBox="1">
                <a:spLocks noChangeAspect="1" noChangeArrowheads="1"/>
              </p:cNvSpPr>
              <p:nvPr/>
            </p:nvSpPr>
            <p:spPr bwMode="auto">
              <a:xfrm>
                <a:off x="776" y="3608"/>
                <a:ext cx="349" cy="475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 vert="eaVert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模具</a:t>
                </a:r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5241" name="Group 43"/>
            <p:cNvGrpSpPr>
              <a:grpSpLocks noChangeAspect="1"/>
            </p:cNvGrpSpPr>
            <p:nvPr/>
          </p:nvGrpSpPr>
          <p:grpSpPr>
            <a:xfrm>
              <a:off x="2352" y="1056"/>
              <a:ext cx="2915" cy="1360"/>
              <a:chOff x="192" y="2496"/>
              <a:chExt cx="3222" cy="1504"/>
            </a:xfrm>
          </p:grpSpPr>
          <p:pic>
            <p:nvPicPr>
              <p:cNvPr id="95245" name="Picture 11" descr="xidao0铣刀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0" y="2532"/>
                <a:ext cx="3174" cy="1468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0153" name="Text Box 41"/>
              <p:cNvSpPr txBox="1">
                <a:spLocks noChangeAspect="1" noChangeArrowheads="1"/>
              </p:cNvSpPr>
              <p:nvPr/>
            </p:nvSpPr>
            <p:spPr bwMode="auto">
              <a:xfrm>
                <a:off x="192" y="2496"/>
                <a:ext cx="672" cy="318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刃具</a:t>
                </a:r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5242" name="Group 50"/>
            <p:cNvGrpSpPr>
              <a:grpSpLocks noChangeAspect="1"/>
            </p:cNvGrpSpPr>
            <p:nvPr/>
          </p:nvGrpSpPr>
          <p:grpSpPr>
            <a:xfrm>
              <a:off x="3120" y="2496"/>
              <a:ext cx="2142" cy="1571"/>
              <a:chOff x="3120" y="2448"/>
              <a:chExt cx="2165" cy="1587"/>
            </a:xfrm>
          </p:grpSpPr>
          <p:pic>
            <p:nvPicPr>
              <p:cNvPr id="95243" name="Picture 23" descr="2page13量具1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156" y="2448"/>
                <a:ext cx="2129" cy="1564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0160" name="Text Box 48"/>
              <p:cNvSpPr txBox="1">
                <a:spLocks noChangeAspect="1" noChangeArrowheads="1"/>
              </p:cNvSpPr>
              <p:nvPr/>
            </p:nvSpPr>
            <p:spPr bwMode="auto">
              <a:xfrm>
                <a:off x="3120" y="3744"/>
                <a:ext cx="624" cy="291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量具</a:t>
                </a: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9523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  <p:bldP spid="9011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758555" y="6660515"/>
            <a:ext cx="385445" cy="19748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3568" y="1556792"/>
            <a:ext cx="8280920" cy="3456384"/>
          </a:xfrm>
        </p:spPr>
        <p:txBody>
          <a:bodyPr wrap="square" lIns="92075" tIns="46038" rIns="92075" bIns="46038" numCol="1" anchor="ctr" anchorCtr="0" compatLnSpc="1"/>
          <a:lstStyle/>
          <a:p>
            <a:pPr lvl="0">
              <a:spcBef>
                <a:spcPct val="20000"/>
              </a:spcBef>
              <a:defRPr/>
            </a:pPr>
            <a:r>
              <a:rPr kumimoji="1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一、刃具钢</a:t>
            </a:r>
            <a:br>
              <a:rPr kumimoji="1" lang="en-US" altLang="zh-CN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lang="en-GB" altLang="zh-CN" sz="6600" i="1" dirty="0">
                <a:ea typeface="华文中宋" panose="02010600040101010101" pitchFamily="2" charset="-122"/>
              </a:rPr>
              <a:t>Cutlery Steel</a:t>
            </a:r>
            <a:br>
              <a:rPr lang="en-GB" altLang="zh-CN" sz="6600" i="1" dirty="0">
                <a:ea typeface="华文中宋" panose="02010600040101010101" pitchFamily="2" charset="-122"/>
              </a:rPr>
            </a:br>
            <a:r>
              <a:rPr lang="en-GB" altLang="zh-CN" sz="6600" dirty="0">
                <a:ea typeface="华文中宋" panose="02010600040101010101" pitchFamily="2" charset="-122"/>
              </a:rPr>
              <a:t>(</a:t>
            </a:r>
            <a:r>
              <a:rPr lang="en-GB" altLang="zh-CN" sz="6600" dirty="0">
                <a:solidFill>
                  <a:srgbClr val="FF0000"/>
                </a:solidFill>
                <a:ea typeface="华文中宋" panose="02010600040101010101" pitchFamily="2" charset="-122"/>
              </a:rPr>
              <a:t>Cutting tool steel</a:t>
            </a:r>
            <a:r>
              <a:rPr lang="en-GB" altLang="zh-CN" sz="6600" dirty="0">
                <a:ea typeface="华文中宋" panose="02010600040101010101" pitchFamily="2" charset="-122"/>
              </a:rPr>
              <a:t>)</a:t>
            </a:r>
            <a:endParaRPr lang="zh-CN" altLang="en-US" sz="6600" dirty="0">
              <a:ea typeface="华文中宋" panose="02010600040101010101" pitchFamily="2" charset="-122"/>
            </a:endParaRPr>
          </a:p>
        </p:txBody>
      </p:sp>
      <p:sp>
        <p:nvSpPr>
          <p:cNvPr id="9626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661150"/>
            <a:ext cx="1643380" cy="19685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6195" y="27806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676457" y="6660515"/>
            <a:ext cx="467544" cy="19748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7704" y="27172"/>
            <a:ext cx="4572000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一、刃具钢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4643438" y="2214563"/>
            <a:ext cx="4214812" cy="3143250"/>
            <a:chOff x="2976" y="192"/>
            <a:chExt cx="2573" cy="1813"/>
          </a:xfrm>
        </p:grpSpPr>
        <p:pic>
          <p:nvPicPr>
            <p:cNvPr id="96265" name="Picture 4" descr="8_28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76" y="192"/>
              <a:ext cx="2573" cy="1813"/>
            </a:xfrm>
            <a:prstGeom prst="rect">
              <a:avLst/>
            </a:prstGeom>
            <a:noFill/>
            <a:ln w="76200">
              <a:noFill/>
            </a:ln>
          </p:spPr>
        </p:pic>
        <p:sp>
          <p:nvSpPr>
            <p:cNvPr id="96266" name="Text Box 9"/>
            <p:cNvSpPr txBox="1"/>
            <p:nvPr/>
          </p:nvSpPr>
          <p:spPr>
            <a:xfrm>
              <a:off x="3024" y="288"/>
              <a:ext cx="9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切削加工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1" name="JIJIA.MPG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570230" y="2240280"/>
            <a:ext cx="3709670" cy="30365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63" name="矩形 21"/>
          <p:cNvSpPr/>
          <p:nvPr/>
        </p:nvSpPr>
        <p:spPr>
          <a:xfrm>
            <a:off x="1071563" y="1143000"/>
            <a:ext cx="6643687" cy="70660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4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用来制造各种 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切削刀具 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 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钢种。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9626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661150"/>
            <a:ext cx="1643380" cy="19685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>
                <p:cTn id="20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video>
          </p:childTnLst>
        </p:cTn>
      </p:par>
    </p:tnLst>
    <p:bldLst>
      <p:bldP spid="90114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60433" y="6640195"/>
            <a:ext cx="569268" cy="21780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2177" name="Rectangle 17"/>
          <p:cNvSpPr>
            <a:spLocks noGrp="1"/>
          </p:cNvSpPr>
          <p:nvPr>
            <p:ph idx="1"/>
          </p:nvPr>
        </p:nvSpPr>
        <p:spPr>
          <a:xfrm>
            <a:off x="293370" y="908685"/>
            <a:ext cx="5858510" cy="53721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高硬度  </a:t>
            </a:r>
            <a:r>
              <a:rPr lang="en-US" altLang="zh-CN" b="1" dirty="0">
                <a:ea typeface="华文中宋" panose="02010600040101010101" pitchFamily="2" charset="-122"/>
              </a:rPr>
              <a:t>(≥60HRC),</a:t>
            </a:r>
            <a:r>
              <a:rPr lang="zh-CN" altLang="en-US" b="1" dirty="0">
                <a:ea typeface="华文中宋" panose="02010600040101010101" pitchFamily="2" charset="-122"/>
              </a:rPr>
              <a:t>主要取决于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含碳量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高耐磨性：</a:t>
            </a:r>
            <a:r>
              <a:rPr lang="zh-CN" altLang="en-US" b="1" dirty="0">
                <a:ea typeface="华文中宋" panose="02010600040101010101" pitchFamily="2" charset="-122"/>
              </a:rPr>
              <a:t>靠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高硬度</a:t>
            </a:r>
            <a:r>
              <a:rPr lang="zh-CN" altLang="en-US" b="1" dirty="0">
                <a:ea typeface="华文中宋" panose="02010600040101010101" pitchFamily="2" charset="-122"/>
              </a:rPr>
              <a:t>和析出细小均匀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硬碳化物</a:t>
            </a:r>
            <a:r>
              <a:rPr lang="zh-CN" altLang="en-US" b="1" dirty="0">
                <a:ea typeface="华文中宋" panose="02010600040101010101" pitchFamily="2" charset="-122"/>
              </a:rPr>
              <a:t>来达到。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仿宋_GB2312" pitchFamily="49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仿宋_GB2312" pitchFamily="49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高热硬性 ：</a:t>
            </a:r>
            <a:r>
              <a:rPr lang="zh-CN" altLang="en-US" b="1" dirty="0">
                <a:ea typeface="华文中宋" panose="02010600040101010101" pitchFamily="2" charset="-122"/>
              </a:rPr>
              <a:t>即高温下保持高硬度的能力。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足够的韧性 ：</a:t>
            </a:r>
            <a:r>
              <a:rPr lang="zh-CN" altLang="en-US" b="1" dirty="0">
                <a:ea typeface="华文中宋" panose="02010600040101010101" pitchFamily="2" charset="-122"/>
              </a:rPr>
              <a:t>以防止脆断和崩刃。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30"/>
          <p:cNvGrpSpPr>
            <a:grpSpLocks noChangeAspect="1"/>
          </p:cNvGrpSpPr>
          <p:nvPr/>
        </p:nvGrpSpPr>
        <p:grpSpPr>
          <a:xfrm>
            <a:off x="6588125" y="1248410"/>
            <a:ext cx="2439035" cy="3582035"/>
            <a:chOff x="2928" y="205"/>
            <a:chExt cx="2607" cy="3829"/>
          </a:xfrm>
        </p:grpSpPr>
        <p:pic>
          <p:nvPicPr>
            <p:cNvPr id="97288" name="Picture 21" descr="梯度硬质合金刀具材料切削特性0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28" y="1920"/>
              <a:ext cx="2607" cy="2114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97289" name="Group 29"/>
            <p:cNvGrpSpPr>
              <a:grpSpLocks noChangeAspect="1"/>
            </p:cNvGrpSpPr>
            <p:nvPr/>
          </p:nvGrpSpPr>
          <p:grpSpPr>
            <a:xfrm>
              <a:off x="2928" y="205"/>
              <a:ext cx="2607" cy="2519"/>
              <a:chOff x="2928" y="205"/>
              <a:chExt cx="2607" cy="2519"/>
            </a:xfrm>
          </p:grpSpPr>
          <p:pic>
            <p:nvPicPr>
              <p:cNvPr id="97290" name="Picture 26" descr="切削加工形式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928" y="205"/>
                <a:ext cx="2607" cy="2023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7291" name="Text Box 27"/>
              <p:cNvSpPr txBox="1">
                <a:spLocks noChangeAspect="1"/>
              </p:cNvSpPr>
              <p:nvPr/>
            </p:nvSpPr>
            <p:spPr>
              <a:xfrm>
                <a:off x="3384" y="1969"/>
                <a:ext cx="1824" cy="755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切削加工的基本形式</a:t>
                </a:r>
                <a:endParaRPr lang="zh-CN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1563" y="0"/>
            <a:ext cx="7715250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一、刃具钢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㈠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性能要求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728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-8300" y="6577647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2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2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2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7" grpId="0" advAuto="1000" build="p"/>
      <p:bldP spid="10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04449" y="6621780"/>
            <a:ext cx="539552" cy="23622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3194" name="Rectangle 10"/>
          <p:cNvSpPr>
            <a:spLocks noGrp="1"/>
          </p:cNvSpPr>
          <p:nvPr>
            <p:ph idx="1"/>
          </p:nvPr>
        </p:nvSpPr>
        <p:spPr>
          <a:xfrm>
            <a:off x="571500" y="1071880"/>
            <a:ext cx="4358005" cy="521462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共有七个牌号：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T7~T13 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、成分特点：</a:t>
            </a:r>
            <a:r>
              <a:rPr lang="zh-CN" altLang="en-US" dirty="0">
                <a:solidFill>
                  <a:schemeClr val="folHlink"/>
                </a:solidFill>
                <a:ea typeface="华文中宋" panose="02010600040101010101" pitchFamily="2" charset="-122"/>
              </a:rPr>
              <a:t>高碳</a:t>
            </a:r>
            <a:r>
              <a:rPr lang="en-US" altLang="zh-CN" dirty="0">
                <a:ea typeface="华文中宋" panose="02010600040101010101" pitchFamily="2" charset="-122"/>
              </a:rPr>
              <a:t>(0.65~1.35%C)</a:t>
            </a:r>
            <a:endParaRPr lang="en-US" altLang="zh-CN" dirty="0"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dirty="0">
                <a:ea typeface="华文中宋" panose="02010600040101010101" pitchFamily="2" charset="-122"/>
              </a:rPr>
              <a:t>    </a:t>
            </a:r>
            <a:r>
              <a:rPr lang="zh-CN" altLang="en-US" dirty="0">
                <a:ea typeface="华文中宋" panose="02010600040101010101" pitchFamily="2" charset="-122"/>
              </a:rPr>
              <a:t>随含碳量提高，碳化物量增加，耐磨性提高，但韧性下降。</a:t>
            </a:r>
            <a:r>
              <a:rPr lang="zh-CN" altLang="en-US" sz="2800" dirty="0">
                <a:ea typeface="华文中宋" panose="02010600040101010101" pitchFamily="2" charset="-122"/>
              </a:rPr>
              <a:t> </a:t>
            </a:r>
            <a:endParaRPr lang="zh-CN" altLang="en-US" sz="2800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sp>
        <p:nvSpPr>
          <p:cNvPr id="93202" name="Rectangle 18"/>
          <p:cNvSpPr/>
          <p:nvPr/>
        </p:nvSpPr>
        <p:spPr>
          <a:xfrm>
            <a:off x="4500563" y="857250"/>
            <a:ext cx="4419600" cy="2362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b="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98309" name="Picture 17" descr="碳素工具钢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214938" y="1071563"/>
            <a:ext cx="3059112" cy="3059112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98310" name="Picture 16" descr="碳素工具钢带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57813" y="4286250"/>
            <a:ext cx="2700337" cy="2473325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8311" name="Text Box 19"/>
          <p:cNvSpPr txBox="1">
            <a:spLocks noChangeAspect="1"/>
          </p:cNvSpPr>
          <p:nvPr/>
        </p:nvSpPr>
        <p:spPr>
          <a:xfrm>
            <a:off x="5572125" y="4286250"/>
            <a:ext cx="1893888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lvl="0" algn="l" eaLnBrk="1" hangingPunct="1"/>
            <a:r>
              <a: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碳素工具钢带</a:t>
            </a:r>
            <a:endParaRPr lang="zh-CN" altLang="en-US" sz="2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12" name="Text Box 22"/>
          <p:cNvSpPr txBox="1"/>
          <p:nvPr/>
        </p:nvSpPr>
        <p:spPr>
          <a:xfrm>
            <a:off x="5715000" y="1071563"/>
            <a:ext cx="2286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lvl="0" algn="l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碳素工具钢材料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1531" y="0"/>
            <a:ext cx="7715250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一、刃具钢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㈡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碳素工具钢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83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3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4" grpId="0" advAuto="1000" build="p"/>
      <p:bldP spid="93202" grpId="0"/>
      <p:bldP spid="12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04448" y="6581775"/>
            <a:ext cx="539552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4230" name="Rectangle 22"/>
          <p:cNvSpPr>
            <a:spLocks noGrp="1"/>
          </p:cNvSpPr>
          <p:nvPr>
            <p:ph idx="1"/>
          </p:nvPr>
        </p:nvSpPr>
        <p:spPr>
          <a:xfrm>
            <a:off x="285750" y="1071563"/>
            <a:ext cx="5715000" cy="52863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⑴ 热处理：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正火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球化退火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低温回火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球化退火目的：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①</a:t>
            </a:r>
            <a:r>
              <a:rPr lang="zh-CN" altLang="en-US" b="1" dirty="0">
                <a:ea typeface="华文中宋" panose="02010600040101010101" pitchFamily="2" charset="-122"/>
              </a:rPr>
              <a:t> 降低硬度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便于加工</a:t>
            </a:r>
            <a:r>
              <a:rPr lang="en-US" altLang="zh-CN" b="1" dirty="0">
                <a:ea typeface="华文中宋" panose="02010600040101010101" pitchFamily="2" charset="-122"/>
              </a:rPr>
              <a:t>;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00FF00"/>
                </a:solidFill>
                <a:ea typeface="华文中宋" panose="02010600040101010101" pitchFamily="2" charset="-122"/>
              </a:rPr>
              <a:t>②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为淬火作组织准备。 </a:t>
            </a:r>
            <a:endParaRPr lang="en-US" altLang="zh-CN" b="1" dirty="0">
              <a:solidFill>
                <a:srgbClr val="CCFF99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⑵ 使用状态下的组织： </a:t>
            </a:r>
            <a:endParaRPr lang="zh-CN" altLang="en-US" b="1" dirty="0">
              <a:solidFill>
                <a:srgbClr val="CCFF99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颗粒状碳化物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+A’(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少量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en-US" altLang="zh-CN" dirty="0">
                <a:ea typeface="华文中宋" panose="02010600040101010101" pitchFamily="2" charset="-122"/>
              </a:rPr>
              <a:t> </a:t>
            </a:r>
            <a:endParaRPr lang="en-US" altLang="zh-CN" dirty="0">
              <a:ea typeface="华文中宋" panose="02010600040101010101" pitchFamily="2" charset="-122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6072188" y="1143000"/>
            <a:ext cx="2886075" cy="5310188"/>
            <a:chOff x="3072" y="384"/>
            <a:chExt cx="2358" cy="3534"/>
          </a:xfrm>
        </p:grpSpPr>
        <p:pic>
          <p:nvPicPr>
            <p:cNvPr id="99336" name="Picture 5" descr="T12钢正常淬火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72" y="2063"/>
              <a:ext cx="2358" cy="1824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99337" name="Picture 15" descr="球状P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2" y="384"/>
              <a:ext cx="2358" cy="1812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99338" name="Text Box 16"/>
            <p:cNvSpPr txBox="1">
              <a:spLocks noChangeAspect="1"/>
            </p:cNvSpPr>
            <p:nvPr/>
          </p:nvSpPr>
          <p:spPr>
            <a:xfrm>
              <a:off x="4141" y="1942"/>
              <a:ext cx="1288" cy="26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球状珠光体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39" name="Text Box 26"/>
            <p:cNvSpPr txBox="1">
              <a:spLocks noChangeAspect="1"/>
            </p:cNvSpPr>
            <p:nvPr/>
          </p:nvSpPr>
          <p:spPr>
            <a:xfrm>
              <a:off x="3305" y="3652"/>
              <a:ext cx="2124" cy="26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T12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钢正常淬火组织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1531" y="49878"/>
            <a:ext cx="8215313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㈡ 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碳素工具钢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—2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、热处理及组织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933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4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4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4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4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4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4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4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4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4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4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4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4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4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4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4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30" grpId="0" advAuto="1000" build="p"/>
      <p:bldP spid="10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76456" y="6581775"/>
            <a:ext cx="467544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5250" name="Rectangle 18"/>
          <p:cNvSpPr>
            <a:spLocks noGrp="1"/>
          </p:cNvSpPr>
          <p:nvPr>
            <p:ph idx="1"/>
          </p:nvPr>
        </p:nvSpPr>
        <p:spPr>
          <a:xfrm>
            <a:off x="428625" y="714375"/>
            <a:ext cx="8153400" cy="5791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由于碳素工具钢热硬性、淬透性差，只用于制造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小</a:t>
            </a:r>
            <a:r>
              <a:rPr lang="zh-CN" altLang="en-US" b="1" dirty="0">
                <a:solidFill>
                  <a:srgbClr val="FFFF66"/>
                </a:solidFill>
                <a:ea typeface="华文中宋" panose="02010600040101010101" pitchFamily="2" charset="-122"/>
              </a:rPr>
              <a:t>尺寸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手工工具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低速刃具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T7~T9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制造承受冲击的工具，如木工工具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冲子、凿子、锤子等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33"/>
          <p:cNvGrpSpPr>
            <a:grpSpLocks noChangeAspect="1"/>
          </p:cNvGrpSpPr>
          <p:nvPr/>
        </p:nvGrpSpPr>
        <p:grpSpPr>
          <a:xfrm>
            <a:off x="1182875" y="991407"/>
            <a:ext cx="6520295" cy="2734505"/>
            <a:chOff x="472" y="2141"/>
            <a:chExt cx="4530" cy="1939"/>
          </a:xfrm>
        </p:grpSpPr>
        <p:grpSp>
          <p:nvGrpSpPr>
            <p:cNvPr id="100360" name="Group 29"/>
            <p:cNvGrpSpPr>
              <a:grpSpLocks noChangeAspect="1"/>
            </p:cNvGrpSpPr>
            <p:nvPr/>
          </p:nvGrpSpPr>
          <p:grpSpPr>
            <a:xfrm>
              <a:off x="3288" y="2141"/>
              <a:ext cx="1714" cy="1667"/>
              <a:chOff x="3408" y="2141"/>
              <a:chExt cx="1714" cy="1667"/>
            </a:xfrm>
          </p:grpSpPr>
          <p:pic>
            <p:nvPicPr>
              <p:cNvPr id="100367" name="Picture 8" descr="木工凿1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408" y="2746"/>
                <a:ext cx="1714" cy="1062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100369" name="Picture 11" descr="刨铁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408" y="2141"/>
                <a:ext cx="1673" cy="526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grpSp>
          <p:nvGrpSpPr>
            <p:cNvPr id="100361" name="Group 30"/>
            <p:cNvGrpSpPr>
              <a:grpSpLocks noChangeAspect="1"/>
            </p:cNvGrpSpPr>
            <p:nvPr/>
          </p:nvGrpSpPr>
          <p:grpSpPr>
            <a:xfrm>
              <a:off x="472" y="2208"/>
              <a:ext cx="1208" cy="1864"/>
              <a:chOff x="432" y="2208"/>
              <a:chExt cx="1208" cy="1864"/>
            </a:xfrm>
          </p:grpSpPr>
          <p:pic>
            <p:nvPicPr>
              <p:cNvPr id="100365" name="Picture 26" descr="手锤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32" y="2208"/>
                <a:ext cx="1208" cy="1592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5259" name="Text Box 27"/>
              <p:cNvSpPr txBox="1">
                <a:spLocks noChangeAspect="1" noChangeArrowheads="1"/>
              </p:cNvSpPr>
              <p:nvPr/>
            </p:nvSpPr>
            <p:spPr bwMode="auto">
              <a:xfrm>
                <a:off x="749" y="3800"/>
                <a:ext cx="516" cy="27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手锤</a:t>
                </a: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0362" name="Group 32"/>
            <p:cNvGrpSpPr>
              <a:grpSpLocks noChangeAspect="1"/>
            </p:cNvGrpSpPr>
            <p:nvPr/>
          </p:nvGrpSpPr>
          <p:grpSpPr>
            <a:xfrm>
              <a:off x="1824" y="2208"/>
              <a:ext cx="1301" cy="1872"/>
              <a:chOff x="1824" y="2208"/>
              <a:chExt cx="1301" cy="1872"/>
            </a:xfrm>
          </p:grpSpPr>
          <p:pic>
            <p:nvPicPr>
              <p:cNvPr id="100363" name="Picture 28" descr="碳素工具钢木工钻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24" y="2208"/>
                <a:ext cx="1301" cy="1592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98316" name="Text Box 31"/>
              <p:cNvSpPr txBox="1">
                <a:spLocks noChangeAspect="1" noChangeArrowheads="1"/>
              </p:cNvSpPr>
              <p:nvPr/>
            </p:nvSpPr>
            <p:spPr bwMode="auto">
              <a:xfrm>
                <a:off x="1852" y="3808"/>
                <a:ext cx="968" cy="272"/>
              </a:xfrm>
              <a:prstGeom prst="rect">
                <a:avLst/>
              </a:prstGeom>
              <a:solidFill>
                <a:srgbClr val="00FF00">
                  <a:alpha val="50195"/>
                </a:srgbClr>
              </a:solidFill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木工钻</a:t>
                </a: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00188" y="0"/>
            <a:ext cx="7643813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㈡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碳素工具钢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035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Text Box 27"/>
          <p:cNvSpPr txBox="1">
            <a:spLocks noChangeAspect="1" noChangeArrowheads="1"/>
          </p:cNvSpPr>
          <p:nvPr/>
        </p:nvSpPr>
        <p:spPr bwMode="auto">
          <a:xfrm>
            <a:off x="5820954" y="3271777"/>
            <a:ext cx="97080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 rtl="0">
              <a:defRPr/>
            </a:pPr>
            <a:r>
              <a:rPr kumimoji="1" lang="zh-CN" altLang="en-US" sz="20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木工</a:t>
            </a:r>
            <a:r>
              <a:rPr kumimoji="1" lang="zh-CN" altLang="en-US" sz="20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凿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50" grpId="0" advAuto="1000" build="p"/>
      <p:bldP spid="16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6118" y="6510338"/>
            <a:ext cx="483582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6279" name="Rectangle 23"/>
          <p:cNvSpPr>
            <a:spLocks noGrp="1"/>
          </p:cNvSpPr>
          <p:nvPr>
            <p:ph idx="1"/>
          </p:nvPr>
        </p:nvSpPr>
        <p:spPr>
          <a:xfrm>
            <a:off x="571500" y="928688"/>
            <a:ext cx="8429625" cy="28765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T10~T11</a:t>
            </a:r>
            <a:r>
              <a:rPr lang="zh-CN" altLang="en-US" b="1" dirty="0">
                <a:ea typeface="华文中宋" panose="02010600040101010101" pitchFamily="2" charset="-122"/>
              </a:rPr>
              <a:t>：制造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低速切削</a:t>
            </a:r>
            <a:r>
              <a:rPr lang="zh-CN" altLang="en-US" b="1" dirty="0">
                <a:ea typeface="华文中宋" panose="02010600040101010101" pitchFamily="2" charset="-122"/>
              </a:rPr>
              <a:t>工具，如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钻头、丝锥、车刀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T12~T13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制造耐磨工具，</a:t>
            </a:r>
            <a:r>
              <a:rPr lang="zh-CN" altLang="en-US" b="1" dirty="0">
                <a:ea typeface="华文中宋" panose="02010600040101010101" pitchFamily="2" charset="-122"/>
              </a:rPr>
              <a:t>如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锉刀、锯条</a:t>
            </a:r>
            <a:r>
              <a:rPr lang="zh-CN" altLang="en-US" b="1" dirty="0">
                <a:ea typeface="华文中宋" panose="02010600040101010101" pitchFamily="2" charset="-122"/>
              </a:rPr>
              <a:t>等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1285875" y="3643313"/>
            <a:ext cx="7339013" cy="2724150"/>
            <a:chOff x="412" y="1968"/>
            <a:chExt cx="4938" cy="1896"/>
          </a:xfrm>
        </p:grpSpPr>
        <p:grpSp>
          <p:nvGrpSpPr>
            <p:cNvPr id="101384" name="Group 33"/>
            <p:cNvGrpSpPr/>
            <p:nvPr/>
          </p:nvGrpSpPr>
          <p:grpSpPr>
            <a:xfrm>
              <a:off x="426" y="1980"/>
              <a:ext cx="3174" cy="1512"/>
              <a:chOff x="348" y="1980"/>
              <a:chExt cx="3174" cy="1512"/>
            </a:xfrm>
          </p:grpSpPr>
          <p:pic>
            <p:nvPicPr>
              <p:cNvPr id="101394" name="Picture 9" descr="sizui5[1]丝锥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48" y="1980"/>
                <a:ext cx="3174" cy="149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1395" name="Text Box 10"/>
              <p:cNvSpPr txBox="1"/>
              <p:nvPr/>
            </p:nvSpPr>
            <p:spPr>
              <a:xfrm>
                <a:off x="1560" y="3204"/>
                <a:ext cx="732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4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丝锥</a:t>
                </a:r>
                <a:endParaRPr lang="zh-CN" altLang="en-US" sz="24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1385" name="Group 34"/>
            <p:cNvGrpSpPr/>
            <p:nvPr/>
          </p:nvGrpSpPr>
          <p:grpSpPr>
            <a:xfrm>
              <a:off x="3576" y="1980"/>
              <a:ext cx="1254" cy="1488"/>
              <a:chOff x="3576" y="1980"/>
              <a:chExt cx="1254" cy="1488"/>
            </a:xfrm>
          </p:grpSpPr>
          <p:pic>
            <p:nvPicPr>
              <p:cNvPr id="101392" name="Picture 12" descr="扁锉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660" y="1980"/>
                <a:ext cx="1170" cy="148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1393" name="Text Box 13"/>
              <p:cNvSpPr txBox="1"/>
              <p:nvPr/>
            </p:nvSpPr>
            <p:spPr>
              <a:xfrm>
                <a:off x="3576" y="3156"/>
                <a:ext cx="672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锉刀</a:t>
                </a:r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1386" name="Group 36"/>
            <p:cNvGrpSpPr/>
            <p:nvPr/>
          </p:nvGrpSpPr>
          <p:grpSpPr>
            <a:xfrm>
              <a:off x="412" y="3612"/>
              <a:ext cx="4430" cy="231"/>
              <a:chOff x="412" y="3612"/>
              <a:chExt cx="4430" cy="231"/>
            </a:xfrm>
          </p:grpSpPr>
          <p:pic>
            <p:nvPicPr>
              <p:cNvPr id="101390" name="Picture 7" descr="手锯条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12" y="3648"/>
                <a:ext cx="4430" cy="173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sp>
            <p:nvSpPr>
              <p:cNvPr id="101391" name="Text Box 28"/>
              <p:cNvSpPr txBox="1"/>
              <p:nvPr/>
            </p:nvSpPr>
            <p:spPr>
              <a:xfrm>
                <a:off x="2316" y="3612"/>
                <a:ext cx="660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手锯条</a:t>
                </a:r>
                <a:endPara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1387" name="Group 35"/>
            <p:cNvGrpSpPr/>
            <p:nvPr/>
          </p:nvGrpSpPr>
          <p:grpSpPr>
            <a:xfrm>
              <a:off x="4896" y="1968"/>
              <a:ext cx="454" cy="1896"/>
              <a:chOff x="5004" y="1968"/>
              <a:chExt cx="454" cy="1896"/>
            </a:xfrm>
          </p:grpSpPr>
          <p:pic>
            <p:nvPicPr>
              <p:cNvPr id="101388" name="Picture 15" descr="r12钻头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004" y="1968"/>
                <a:ext cx="401" cy="185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1389" name="Text Box 31"/>
              <p:cNvSpPr txBox="1"/>
              <p:nvPr/>
            </p:nvSpPr>
            <p:spPr>
              <a:xfrm>
                <a:off x="5208" y="3528"/>
                <a:ext cx="250" cy="33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vert="eaVert">
                <a:spAutoFit/>
              </a:bodyPr>
              <a:lstStyle/>
              <a:p>
                <a:pPr lvl="0" algn="l" eaLnBrk="1" hangingPunct="1"/>
                <a:r>
                  <a: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钻头</a:t>
                </a:r>
                <a:endPara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00188" y="0"/>
            <a:ext cx="7643813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㈡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碳素工具钢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138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0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79" grpId="0" advAuto="1000" build="p"/>
      <p:bldP spid="18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04448" y="6510338"/>
            <a:ext cx="539552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0313" y="0"/>
            <a:ext cx="5741988" cy="8826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碳素工具钢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240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102405" name="Picture 4" descr="《工程材料》T6-1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14313" y="1000125"/>
            <a:ext cx="8786812" cy="5422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0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290185" y="1000125"/>
            <a:ext cx="3423920" cy="3536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GB/T 1298-2008  </a:t>
            </a:r>
            <a:r>
              <a:rPr lang="zh-CN" altLang="en-US" sz="2000" dirty="0">
                <a:solidFill>
                  <a:srgbClr val="FF0000"/>
                </a:solidFill>
              </a:rPr>
              <a:t>碳素工具钢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57950" y="1392555"/>
            <a:ext cx="2542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</a:rPr>
              <a:t>GB/T 1299-2014 </a:t>
            </a:r>
            <a:r>
              <a:rPr lang="zh-CN" altLang="en-US" sz="1600" dirty="0">
                <a:solidFill>
                  <a:srgbClr val="0000FF"/>
                </a:solidFill>
              </a:rPr>
              <a:t>工模具钢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063" y="6597352"/>
            <a:ext cx="500062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8072438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一、刃具钢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—㈢ 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低合金工具钢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3428" name="Rectangle 3"/>
          <p:cNvSpPr>
            <a:spLocks noGrp="1"/>
          </p:cNvSpPr>
          <p:nvPr>
            <p:ph idx="1"/>
          </p:nvPr>
        </p:nvSpPr>
        <p:spPr>
          <a:xfrm>
            <a:off x="395536" y="799465"/>
            <a:ext cx="6624736" cy="55975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由碳素工具钢基础上加入少量合金元素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(≤3~5%)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形成。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dirty="0"/>
              <a:t> 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、成分特点：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高碳：</a:t>
            </a:r>
            <a:r>
              <a:rPr lang="en-US" altLang="zh-CN" b="1" dirty="0">
                <a:ea typeface="华文中宋" panose="02010600040101010101" pitchFamily="2" charset="-122"/>
              </a:rPr>
              <a:t>0.75~1.5%C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合金元素作用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/>
              <a:t>① </a:t>
            </a:r>
            <a:r>
              <a:rPr lang="zh-CN" altLang="en-US" b="1" dirty="0">
                <a:solidFill>
                  <a:srgbClr val="CCFF33"/>
                </a:solidFill>
              </a:rPr>
              <a:t>提高淬透性</a:t>
            </a:r>
            <a:r>
              <a:rPr lang="en-US" altLang="zh-CN" b="1" dirty="0"/>
              <a:t>: </a:t>
            </a:r>
            <a:r>
              <a:rPr lang="en-US" altLang="zh-CN" b="1" dirty="0">
                <a:solidFill>
                  <a:schemeClr val="folHlink"/>
                </a:solidFill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Si</a:t>
            </a: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/>
            <a:r>
              <a:rPr lang="en-US" altLang="zh-CN" b="1" dirty="0"/>
              <a:t>② </a:t>
            </a:r>
            <a:r>
              <a:rPr lang="zh-CN" altLang="en-US" b="1" dirty="0">
                <a:solidFill>
                  <a:srgbClr val="CCFF33"/>
                </a:solidFill>
              </a:rPr>
              <a:t>提高耐回火性</a:t>
            </a:r>
            <a:r>
              <a:rPr lang="zh-CN" altLang="en-US" b="1" dirty="0"/>
              <a:t>：</a:t>
            </a:r>
            <a:r>
              <a:rPr lang="en-US" altLang="zh-CN" b="1" dirty="0">
                <a:solidFill>
                  <a:schemeClr val="folHlink"/>
                </a:solidFill>
              </a:rPr>
              <a:t>Si</a:t>
            </a: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/>
            <a:r>
              <a:rPr lang="en-US" altLang="zh-CN" b="1" dirty="0"/>
              <a:t>③ </a:t>
            </a:r>
            <a:r>
              <a:rPr lang="zh-CN" altLang="en-US" b="1" dirty="0">
                <a:solidFill>
                  <a:srgbClr val="CCFF33"/>
                </a:solidFill>
              </a:rPr>
              <a:t>提高耐磨性、细化晶粒</a:t>
            </a:r>
            <a:r>
              <a:rPr lang="en-US" altLang="zh-CN" b="1" dirty="0"/>
              <a:t>: </a:t>
            </a:r>
            <a:r>
              <a:rPr lang="en-US" altLang="zh-CN" b="1" dirty="0">
                <a:solidFill>
                  <a:schemeClr val="folHlink"/>
                </a:solidFill>
              </a:rPr>
              <a:t>W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V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444209" y="1986915"/>
            <a:ext cx="2756385" cy="2738229"/>
            <a:chOff x="3312" y="453"/>
            <a:chExt cx="2165" cy="2040"/>
          </a:xfrm>
        </p:grpSpPr>
        <p:grpSp>
          <p:nvGrpSpPr>
            <p:cNvPr id="103432" name="Group 5"/>
            <p:cNvGrpSpPr>
              <a:grpSpLocks noChangeAspect="1"/>
            </p:cNvGrpSpPr>
            <p:nvPr/>
          </p:nvGrpSpPr>
          <p:grpSpPr>
            <a:xfrm>
              <a:off x="3312" y="453"/>
              <a:ext cx="2040" cy="2040"/>
              <a:chOff x="2976" y="1392"/>
              <a:chExt cx="2496" cy="2496"/>
            </a:xfrm>
          </p:grpSpPr>
          <p:pic>
            <p:nvPicPr>
              <p:cNvPr id="103434" name="Picture 6" descr="合金工具钢制品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96" y="1400"/>
                <a:ext cx="2376" cy="237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03435" name="Rectangle 7"/>
              <p:cNvSpPr>
                <a:spLocks noChangeAspect="1"/>
              </p:cNvSpPr>
              <p:nvPr/>
            </p:nvSpPr>
            <p:spPr>
              <a:xfrm>
                <a:off x="2976" y="1392"/>
                <a:ext cx="2496" cy="249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3433" name="Text Box 8"/>
            <p:cNvSpPr txBox="1">
              <a:spLocks noChangeAspect="1"/>
            </p:cNvSpPr>
            <p:nvPr/>
          </p:nvSpPr>
          <p:spPr>
            <a:xfrm>
              <a:off x="3331" y="2057"/>
              <a:ext cx="2146" cy="3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algn="l" eaLnBrk="1" hangingPunct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低合金工具钢制品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343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597352"/>
            <a:ext cx="571500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8320" name="Rectangle 16"/>
          <p:cNvSpPr>
            <a:spLocks noGrp="1"/>
          </p:cNvSpPr>
          <p:nvPr>
            <p:ph idx="1"/>
          </p:nvPr>
        </p:nvSpPr>
        <p:spPr>
          <a:xfrm>
            <a:off x="214630" y="1071880"/>
            <a:ext cx="5178425" cy="544322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热处理：</a:t>
            </a:r>
            <a:r>
              <a:rPr lang="zh-CN" altLang="en-US" b="1" dirty="0">
                <a:ea typeface="华文中宋" panose="02010600040101010101" pitchFamily="2" charset="-122"/>
              </a:rPr>
              <a:t>同碳素工具钢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只是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淬火介质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油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碳素工具钢为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水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使用状态下的组织为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: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颗粒状碳化物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A’ 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少量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 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26"/>
          <p:cNvGrpSpPr>
            <a:grpSpLocks noChangeAspect="1"/>
          </p:cNvGrpSpPr>
          <p:nvPr/>
        </p:nvGrpSpPr>
        <p:grpSpPr>
          <a:xfrm>
            <a:off x="5482902" y="1285875"/>
            <a:ext cx="3418211" cy="4895850"/>
            <a:chOff x="3196" y="348"/>
            <a:chExt cx="2468" cy="3534"/>
          </a:xfrm>
        </p:grpSpPr>
        <p:grpSp>
          <p:nvGrpSpPr>
            <p:cNvPr id="104456" name="Group 22"/>
            <p:cNvGrpSpPr>
              <a:grpSpLocks noChangeAspect="1"/>
            </p:cNvGrpSpPr>
            <p:nvPr/>
          </p:nvGrpSpPr>
          <p:grpSpPr>
            <a:xfrm>
              <a:off x="3328" y="348"/>
              <a:ext cx="2336" cy="1704"/>
              <a:chOff x="3216" y="348"/>
              <a:chExt cx="2336" cy="1704"/>
            </a:xfrm>
          </p:grpSpPr>
          <p:grpSp>
            <p:nvGrpSpPr>
              <p:cNvPr id="104460" name="Group 20"/>
              <p:cNvGrpSpPr>
                <a:grpSpLocks noChangeAspect="1"/>
              </p:cNvGrpSpPr>
              <p:nvPr/>
            </p:nvGrpSpPr>
            <p:grpSpPr>
              <a:xfrm>
                <a:off x="4848" y="348"/>
                <a:ext cx="704" cy="1704"/>
                <a:chOff x="4848" y="348"/>
                <a:chExt cx="704" cy="1704"/>
              </a:xfrm>
            </p:grpSpPr>
            <p:pic>
              <p:nvPicPr>
                <p:cNvPr id="104464" name="Picture 6" descr="banya1丝锥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4848" y="348"/>
                  <a:ext cx="635" cy="1590"/>
                </a:xfrm>
                <a:prstGeom prst="rect">
                  <a:avLst/>
                </a:prstGeom>
                <a:noFill/>
                <a:ln w="38100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04465" name="Text Box 8"/>
                <p:cNvSpPr txBox="1">
                  <a:spLocks noChangeAspect="1"/>
                </p:cNvSpPr>
                <p:nvPr/>
              </p:nvSpPr>
              <p:spPr>
                <a:xfrm>
                  <a:off x="5232" y="1476"/>
                  <a:ext cx="320" cy="5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>
                  <a:spAutoFit/>
                </a:bodyPr>
                <a:lstStyle/>
                <a:p>
                  <a:pPr lvl="0" eaLnBrk="1" hangingPunct="1"/>
                  <a:r>
                    <a:rPr lang="zh-CN" altLang="en-US" sz="2000" dirty="0">
                      <a:solidFill>
                        <a:srgbClr val="660033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丝锥</a:t>
                  </a:r>
                  <a:endParaRPr lang="zh-CN" altLang="en-US" sz="2000" dirty="0">
                    <a:solidFill>
                      <a:srgbClr val="6600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4461" name="Group 21"/>
              <p:cNvGrpSpPr>
                <a:grpSpLocks noChangeAspect="1"/>
              </p:cNvGrpSpPr>
              <p:nvPr/>
            </p:nvGrpSpPr>
            <p:grpSpPr>
              <a:xfrm>
                <a:off x="3216" y="348"/>
                <a:ext cx="1702" cy="1628"/>
                <a:chOff x="3216" y="348"/>
                <a:chExt cx="1702" cy="1628"/>
              </a:xfrm>
            </p:grpSpPr>
            <p:pic>
              <p:nvPicPr>
                <p:cNvPr id="104462" name="Picture 5" descr="banya1板牙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216" y="348"/>
                  <a:ext cx="1573" cy="1588"/>
                </a:xfrm>
                <a:prstGeom prst="rect">
                  <a:avLst/>
                </a:prstGeom>
                <a:noFill/>
                <a:ln w="38100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04463" name="Text Box 10"/>
                <p:cNvSpPr txBox="1">
                  <a:spLocks noChangeAspect="1"/>
                </p:cNvSpPr>
                <p:nvPr/>
              </p:nvSpPr>
              <p:spPr>
                <a:xfrm>
                  <a:off x="4390" y="1716"/>
                  <a:ext cx="528" cy="2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 algn="l" eaLnBrk="1" hangingPunct="1"/>
                  <a:r>
                    <a:rPr lang="zh-CN" altLang="en-US" sz="2000" dirty="0">
                      <a:solidFill>
                        <a:srgbClr val="660033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板牙</a:t>
                  </a:r>
                  <a:endParaRPr lang="zh-CN" altLang="en-US" sz="2000" dirty="0">
                    <a:solidFill>
                      <a:srgbClr val="6600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04457" name="Group 25"/>
            <p:cNvGrpSpPr>
              <a:grpSpLocks noChangeAspect="1"/>
            </p:cNvGrpSpPr>
            <p:nvPr/>
          </p:nvGrpSpPr>
          <p:grpSpPr>
            <a:xfrm>
              <a:off x="3196" y="2208"/>
              <a:ext cx="2451" cy="1674"/>
              <a:chOff x="3196" y="2208"/>
              <a:chExt cx="2451" cy="1674"/>
            </a:xfrm>
          </p:grpSpPr>
          <p:pic>
            <p:nvPicPr>
              <p:cNvPr id="104458" name="Picture 23" descr="低合金工具钢制扳手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196" y="2208"/>
                <a:ext cx="2451" cy="1674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4459" name="Rectangle 24"/>
              <p:cNvSpPr>
                <a:spLocks noChangeAspect="1"/>
              </p:cNvSpPr>
              <p:nvPr/>
            </p:nvSpPr>
            <p:spPr>
              <a:xfrm>
                <a:off x="3312" y="2208"/>
                <a:ext cx="1296" cy="240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低合金工具钢扳手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0"/>
            <a:ext cx="8429625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㈢ 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低合金工具钢</a:t>
            </a:r>
            <a:r>
              <a:rPr kumimoji="1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、热处理及组织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445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97352"/>
            <a:ext cx="1763688" cy="260648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8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20" grpId="0" advAuto="100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500813"/>
            <a:ext cx="571500" cy="357187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8320" name="Rectangle 16"/>
          <p:cNvSpPr>
            <a:spLocks noGrp="1"/>
          </p:cNvSpPr>
          <p:nvPr>
            <p:ph idx="1"/>
          </p:nvPr>
        </p:nvSpPr>
        <p:spPr>
          <a:xfrm>
            <a:off x="170131" y="1473514"/>
            <a:ext cx="5178425" cy="544322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常用钢号：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9SiCr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应用最多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用途：</a:t>
            </a:r>
            <a:r>
              <a:rPr lang="zh-CN" altLang="en-US" b="1" dirty="0">
                <a:ea typeface="华文中宋" panose="02010600040101010101" pitchFamily="2" charset="-122"/>
              </a:rPr>
              <a:t>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形状复杂、要求变形小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低速刃具</a:t>
            </a:r>
            <a:r>
              <a:rPr lang="zh-CN" altLang="en-US" b="1" dirty="0">
                <a:ea typeface="华文中宋" panose="02010600040101010101" pitchFamily="2" charset="-122"/>
              </a:rPr>
              <a:t>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丝锥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板牙</a:t>
            </a:r>
            <a:r>
              <a:rPr lang="en-US" altLang="zh-CN" b="1" dirty="0">
                <a:ea typeface="华文中宋" panose="02010600040101010101" pitchFamily="2" charset="-122"/>
              </a:rPr>
              <a:t>…</a:t>
            </a:r>
            <a:endParaRPr lang="en-US" altLang="zh-CN" dirty="0">
              <a:ea typeface="华文中宋" panose="02010600040101010101" pitchFamily="2" charset="-122"/>
            </a:endParaRPr>
          </a:p>
        </p:txBody>
      </p:sp>
      <p:grpSp>
        <p:nvGrpSpPr>
          <p:cNvPr id="2" name="Group 26"/>
          <p:cNvGrpSpPr>
            <a:grpSpLocks noChangeAspect="1"/>
          </p:cNvGrpSpPr>
          <p:nvPr/>
        </p:nvGrpSpPr>
        <p:grpSpPr>
          <a:xfrm>
            <a:off x="5463284" y="1484467"/>
            <a:ext cx="3418211" cy="4895850"/>
            <a:chOff x="3196" y="348"/>
            <a:chExt cx="2468" cy="3534"/>
          </a:xfrm>
        </p:grpSpPr>
        <p:grpSp>
          <p:nvGrpSpPr>
            <p:cNvPr id="104456" name="Group 22"/>
            <p:cNvGrpSpPr>
              <a:grpSpLocks noChangeAspect="1"/>
            </p:cNvGrpSpPr>
            <p:nvPr/>
          </p:nvGrpSpPr>
          <p:grpSpPr>
            <a:xfrm>
              <a:off x="3328" y="348"/>
              <a:ext cx="2336" cy="1704"/>
              <a:chOff x="3216" y="348"/>
              <a:chExt cx="2336" cy="1704"/>
            </a:xfrm>
          </p:grpSpPr>
          <p:grpSp>
            <p:nvGrpSpPr>
              <p:cNvPr id="104460" name="Group 20"/>
              <p:cNvGrpSpPr>
                <a:grpSpLocks noChangeAspect="1"/>
              </p:cNvGrpSpPr>
              <p:nvPr/>
            </p:nvGrpSpPr>
            <p:grpSpPr>
              <a:xfrm>
                <a:off x="4848" y="348"/>
                <a:ext cx="704" cy="1704"/>
                <a:chOff x="4848" y="348"/>
                <a:chExt cx="704" cy="1704"/>
              </a:xfrm>
            </p:grpSpPr>
            <p:pic>
              <p:nvPicPr>
                <p:cNvPr id="104464" name="Picture 6" descr="banya1丝锥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4848" y="348"/>
                  <a:ext cx="635" cy="1590"/>
                </a:xfrm>
                <a:prstGeom prst="rect">
                  <a:avLst/>
                </a:prstGeom>
                <a:noFill/>
                <a:ln w="38100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04465" name="Text Box 8"/>
                <p:cNvSpPr txBox="1">
                  <a:spLocks noChangeAspect="1"/>
                </p:cNvSpPr>
                <p:nvPr/>
              </p:nvSpPr>
              <p:spPr>
                <a:xfrm>
                  <a:off x="5232" y="1476"/>
                  <a:ext cx="320" cy="5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>
                  <a:spAutoFit/>
                </a:bodyPr>
                <a:lstStyle/>
                <a:p>
                  <a:pPr lvl="0" eaLnBrk="1" hangingPunct="1"/>
                  <a:r>
                    <a:rPr lang="zh-CN" altLang="en-US" sz="2000" dirty="0">
                      <a:solidFill>
                        <a:srgbClr val="660033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丝锥</a:t>
                  </a:r>
                  <a:endParaRPr lang="zh-CN" altLang="en-US" sz="2000" dirty="0">
                    <a:solidFill>
                      <a:srgbClr val="6600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4461" name="Group 21"/>
              <p:cNvGrpSpPr>
                <a:grpSpLocks noChangeAspect="1"/>
              </p:cNvGrpSpPr>
              <p:nvPr/>
            </p:nvGrpSpPr>
            <p:grpSpPr>
              <a:xfrm>
                <a:off x="3216" y="348"/>
                <a:ext cx="1702" cy="1628"/>
                <a:chOff x="3216" y="348"/>
                <a:chExt cx="1702" cy="1628"/>
              </a:xfrm>
            </p:grpSpPr>
            <p:pic>
              <p:nvPicPr>
                <p:cNvPr id="104462" name="Picture 5" descr="banya1板牙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216" y="348"/>
                  <a:ext cx="1573" cy="1588"/>
                </a:xfrm>
                <a:prstGeom prst="rect">
                  <a:avLst/>
                </a:prstGeom>
                <a:noFill/>
                <a:ln w="38100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04463" name="Text Box 10"/>
                <p:cNvSpPr txBox="1">
                  <a:spLocks noChangeAspect="1"/>
                </p:cNvSpPr>
                <p:nvPr/>
              </p:nvSpPr>
              <p:spPr>
                <a:xfrm>
                  <a:off x="4390" y="1716"/>
                  <a:ext cx="528" cy="2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 algn="l" eaLnBrk="1" hangingPunct="1"/>
                  <a:r>
                    <a:rPr lang="zh-CN" altLang="en-US" sz="2000" dirty="0">
                      <a:solidFill>
                        <a:srgbClr val="660033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板牙</a:t>
                  </a:r>
                  <a:endParaRPr lang="zh-CN" altLang="en-US" sz="2000" dirty="0">
                    <a:solidFill>
                      <a:srgbClr val="6600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04457" name="Group 25"/>
            <p:cNvGrpSpPr>
              <a:grpSpLocks noChangeAspect="1"/>
            </p:cNvGrpSpPr>
            <p:nvPr/>
          </p:nvGrpSpPr>
          <p:grpSpPr>
            <a:xfrm>
              <a:off x="3196" y="2208"/>
              <a:ext cx="2451" cy="1674"/>
              <a:chOff x="3196" y="2208"/>
              <a:chExt cx="2451" cy="1674"/>
            </a:xfrm>
          </p:grpSpPr>
          <p:pic>
            <p:nvPicPr>
              <p:cNvPr id="104458" name="Picture 23" descr="低合金工具钢制扳手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196" y="2208"/>
                <a:ext cx="2451" cy="1674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4459" name="Rectangle 24"/>
              <p:cNvSpPr>
                <a:spLocks noChangeAspect="1"/>
              </p:cNvSpPr>
              <p:nvPr/>
            </p:nvSpPr>
            <p:spPr>
              <a:xfrm>
                <a:off x="3312" y="2208"/>
                <a:ext cx="1296" cy="240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低合金工具钢扳手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657329" y="28117"/>
            <a:ext cx="8429625" cy="1150521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㈢ 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低合金工具钢</a:t>
            </a:r>
            <a:b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lang="en-US" altLang="zh-CN" sz="4000" b="1" dirty="0">
                <a:ea typeface="华文中宋" panose="02010600040101010101" pitchFamily="2" charset="-122"/>
              </a:rPr>
              <a:t>3</a:t>
            </a:r>
            <a:r>
              <a:rPr lang="zh-CN" altLang="en-US" sz="4000" b="1" dirty="0">
                <a:ea typeface="华文中宋" panose="02010600040101010101" pitchFamily="2" charset="-122"/>
              </a:rPr>
              <a:t>、常用钢号及用途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445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131445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8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20" grpId="0" advAuto="100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72250"/>
            <a:ext cx="457200" cy="28575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9342" name="Rectangle 14"/>
          <p:cNvSpPr>
            <a:spLocks noGrp="1"/>
          </p:cNvSpPr>
          <p:nvPr>
            <p:ph idx="1"/>
          </p:nvPr>
        </p:nvSpPr>
        <p:spPr>
          <a:xfrm>
            <a:off x="256816" y="1176338"/>
            <a:ext cx="4908115" cy="5334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高速切削刃具用钢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.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、性能特点</a:t>
            </a:r>
            <a:r>
              <a:rPr lang="en-US" altLang="zh-CN" b="1" dirty="0">
                <a:ea typeface="华文中宋" panose="02010600040101010101" pitchFamily="2" charset="-122"/>
              </a:rPr>
              <a:t>: </a:t>
            </a:r>
            <a:r>
              <a:rPr lang="zh-CN" altLang="en-US" b="1" dirty="0">
                <a:ea typeface="华文中宋" panose="02010600040101010101" pitchFamily="2" charset="-122"/>
              </a:rPr>
              <a:t>高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热硬性</a:t>
            </a:r>
            <a:r>
              <a:rPr lang="en-US" altLang="zh-CN" b="1" dirty="0">
                <a:ea typeface="华文中宋" panose="02010600040101010101" pitchFamily="2" charset="-122"/>
              </a:rPr>
              <a:t>(600℃)</a:t>
            </a:r>
            <a:r>
              <a:rPr lang="zh-CN" altLang="en-US" b="1" dirty="0">
                <a:ea typeface="华文中宋" panose="02010600040101010101" pitchFamily="2" charset="-122"/>
              </a:rPr>
              <a:t>、高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淬透性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、成分特点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高碳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0.70~1.5%C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 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合金元素作用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① 提高淬透性：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② </a:t>
            </a:r>
            <a:r>
              <a:rPr lang="zh-CN" altLang="en-US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提高热硬性、耐磨性</a:t>
            </a:r>
            <a:r>
              <a:rPr lang="en-US" altLang="zh-CN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: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W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Mo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6539865" y="1372870"/>
            <a:ext cx="2371090" cy="3545455"/>
            <a:chOff x="2920" y="404"/>
            <a:chExt cx="2552" cy="3043"/>
          </a:xfrm>
        </p:grpSpPr>
        <p:grpSp>
          <p:nvGrpSpPr>
            <p:cNvPr id="105481" name="Group 27"/>
            <p:cNvGrpSpPr/>
            <p:nvPr/>
          </p:nvGrpSpPr>
          <p:grpSpPr>
            <a:xfrm>
              <a:off x="3024" y="2064"/>
              <a:ext cx="2448" cy="1383"/>
              <a:chOff x="3024" y="2498"/>
              <a:chExt cx="2448" cy="1383"/>
            </a:xfrm>
          </p:grpSpPr>
          <p:pic>
            <p:nvPicPr>
              <p:cNvPr id="105485" name="Picture 23" descr="高速钢冷轧钢带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24" y="2498"/>
                <a:ext cx="2380" cy="131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5486" name="Text Box 24"/>
              <p:cNvSpPr txBox="1"/>
              <p:nvPr/>
            </p:nvSpPr>
            <p:spPr>
              <a:xfrm>
                <a:off x="3865" y="3539"/>
                <a:ext cx="1607" cy="3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高速钢冷轧钢带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5482" name="Group 28"/>
            <p:cNvGrpSpPr/>
            <p:nvPr/>
          </p:nvGrpSpPr>
          <p:grpSpPr>
            <a:xfrm>
              <a:off x="2920" y="404"/>
              <a:ext cx="2484" cy="1612"/>
              <a:chOff x="2920" y="344"/>
              <a:chExt cx="2484" cy="1612"/>
            </a:xfrm>
          </p:grpSpPr>
          <p:pic>
            <p:nvPicPr>
              <p:cNvPr id="105483" name="Picture 21" descr="高速钢模具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24" y="386"/>
                <a:ext cx="2380" cy="1570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5484" name="Text Box 25"/>
              <p:cNvSpPr txBox="1"/>
              <p:nvPr/>
            </p:nvSpPr>
            <p:spPr>
              <a:xfrm>
                <a:off x="2920" y="344"/>
                <a:ext cx="1612" cy="3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高速钢型材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1880" y="116205"/>
            <a:ext cx="8072755" cy="793115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一、刃具钢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㈣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高速钢（俗称风钢）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548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9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9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9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9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42" grpId="0" advAuto="1000" build="p"/>
      <p:bldP spid="13" grpId="0" bldLvl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72250"/>
            <a:ext cx="457200" cy="28575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21"/>
          <p:cNvGrpSpPr/>
          <p:nvPr/>
        </p:nvGrpSpPr>
        <p:grpSpPr>
          <a:xfrm>
            <a:off x="5286375" y="2500313"/>
            <a:ext cx="3743325" cy="3389031"/>
            <a:chOff x="2507" y="1539"/>
            <a:chExt cx="3033" cy="2677"/>
          </a:xfrm>
        </p:grpSpPr>
        <p:pic>
          <p:nvPicPr>
            <p:cNvPr id="106504" name="Picture 6" descr="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07" y="1539"/>
              <a:ext cx="3033" cy="237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6505" name="Rectangle 12"/>
            <p:cNvSpPr>
              <a:spLocks noChangeAspect="1"/>
            </p:cNvSpPr>
            <p:nvPr/>
          </p:nvSpPr>
          <p:spPr>
            <a:xfrm>
              <a:off x="2960" y="3996"/>
              <a:ext cx="2127" cy="220"/>
            </a:xfrm>
            <a:prstGeom prst="rect">
              <a:avLst/>
            </a:prstGeom>
            <a:solidFill>
              <a:schemeClr val="bg2"/>
            </a:solidFill>
            <a:ln w="28575">
              <a:noFill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W18Cr4V</a:t>
              </a: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钢的铸态组织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0369" name="Rectangle 17"/>
          <p:cNvSpPr>
            <a:spLocks noGrp="1" noChangeArrowheads="1"/>
          </p:cNvSpPr>
          <p:nvPr>
            <p:ph idx="1"/>
          </p:nvPr>
        </p:nvSpPr>
        <p:spPr>
          <a:xfrm>
            <a:off x="142875" y="1071563"/>
            <a:ext cx="5143500" cy="5500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加工工艺路线：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下料→锻造→退火→机加工→淬火→回火→磨削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CCFF33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高速钢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E1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是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莱氏体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E1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，其铸态组织</a:t>
            </a:r>
            <a:r>
              <a:rPr lang="zh-CN" altLang="en-US" b="1" dirty="0">
                <a:solidFill>
                  <a:srgbClr val="FFE1FF"/>
                </a:solidFill>
                <a:ea typeface="华文中宋" panose="02010600040101010101" pitchFamily="2" charset="-122"/>
              </a:rPr>
              <a:t>为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亚共晶组织，由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鱼骨状莱氏体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与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树枝状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M+T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组成，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脆性大且无法热处理改善。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28688" y="0"/>
            <a:ext cx="8072438" cy="928688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㈣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高速钢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、加工与热处理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650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9" grpId="0" advAuto="1000" build="p"/>
      <p:bldP spid="9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8370" y="6595745"/>
            <a:ext cx="595630" cy="26225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1386" name="Rectangle 10"/>
          <p:cNvSpPr>
            <a:spLocks noGrp="1"/>
          </p:cNvSpPr>
          <p:nvPr>
            <p:ph idx="1"/>
          </p:nvPr>
        </p:nvSpPr>
        <p:spPr>
          <a:xfrm>
            <a:off x="214630" y="1071880"/>
            <a:ext cx="5487670" cy="521462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>
                <a:solidFill>
                  <a:srgbClr val="00FF00"/>
                </a:solidFill>
                <a:ea typeface="华文中宋" panose="02010600040101010101" pitchFamily="2" charset="-122"/>
              </a:rPr>
              <a:t>⑴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锻造目的</a:t>
            </a:r>
            <a:r>
              <a:rPr lang="zh-CN" altLang="en-US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dirty="0">
                <a:solidFill>
                  <a:schemeClr val="folHlink"/>
                </a:solidFill>
                <a:ea typeface="华文中宋" panose="02010600040101010101" pitchFamily="2" charset="-122"/>
              </a:rPr>
              <a:t>打碎粗大的鱼骨状共晶碳化物，使其均匀地分布于基体中。</a:t>
            </a:r>
            <a:endParaRPr lang="en-US" altLang="zh-CN" b="1" dirty="0">
              <a:solidFill>
                <a:srgbClr val="00FF00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rgbClr val="00FF00"/>
                </a:solidFill>
                <a:ea typeface="华文中宋" panose="02010600040101010101" pitchFamily="2" charset="-122"/>
              </a:rPr>
              <a:t>⑵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退火目的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降低硬度，便于切削加工；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②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为淬火作组织准备。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退火后的组织：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 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颗粒状碳化物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01390" name="Rectangle 14"/>
          <p:cNvSpPr/>
          <p:nvPr/>
        </p:nvSpPr>
        <p:spPr>
          <a:xfrm>
            <a:off x="381000" y="495300"/>
            <a:ext cx="8305800" cy="1828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5831840" y="2214880"/>
            <a:ext cx="3179445" cy="2702174"/>
            <a:chOff x="2854" y="1063"/>
            <a:chExt cx="2962" cy="2747"/>
          </a:xfrm>
        </p:grpSpPr>
        <p:pic>
          <p:nvPicPr>
            <p:cNvPr id="107529" name="Picture 8" descr="高速钢退火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69" y="1063"/>
              <a:ext cx="2947" cy="230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7530" name="Text Box 17"/>
            <p:cNvSpPr txBox="1">
              <a:spLocks noChangeAspect="1"/>
            </p:cNvSpPr>
            <p:nvPr/>
          </p:nvSpPr>
          <p:spPr>
            <a:xfrm>
              <a:off x="2854" y="3405"/>
              <a:ext cx="2645" cy="405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W18Cr4V</a:t>
              </a: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钢的退火组织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0639" y="-118048"/>
            <a:ext cx="8072438" cy="1000125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㈣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高速钢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、加工与热处理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752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95744"/>
            <a:ext cx="1763688" cy="262256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1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1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1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1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1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1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1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1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1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1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1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1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1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1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1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6" grpId="0" advAuto="1000" build="p"/>
      <p:bldP spid="101390" grpId="0"/>
      <p:bldP spid="9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0" y="6581775"/>
            <a:ext cx="1905000" cy="276225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10854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3925" y="6581775"/>
            <a:ext cx="600075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2413" name="Rectangle 13"/>
          <p:cNvSpPr>
            <a:spLocks noGrp="1"/>
          </p:cNvSpPr>
          <p:nvPr>
            <p:ph idx="1"/>
          </p:nvPr>
        </p:nvSpPr>
        <p:spPr>
          <a:xfrm>
            <a:off x="214312" y="1000125"/>
            <a:ext cx="4294417" cy="2743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 淬火目的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: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获得高合金元素含量的马氏体。</a:t>
            </a:r>
            <a:r>
              <a:rPr lang="zh-CN" altLang="en-US" b="1" dirty="0">
                <a:solidFill>
                  <a:srgbClr val="FFE1FF"/>
                </a:solidFill>
                <a:ea typeface="华文中宋" panose="02010600040101010101" pitchFamily="2" charset="-122"/>
              </a:rPr>
              <a:t>因此淬火温度高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(&gt;1200℃)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02418" name="Rectangle 18"/>
          <p:cNvSpPr/>
          <p:nvPr/>
        </p:nvSpPr>
        <p:spPr>
          <a:xfrm>
            <a:off x="5235618" y="4795277"/>
            <a:ext cx="4037582" cy="188361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淬火后组织：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en-US" altLang="zh-CN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M +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未溶碳化物</a:t>
            </a:r>
            <a:r>
              <a:rPr lang="en-US" altLang="zh-CN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(~10%)+A’ (~20%)</a:t>
            </a:r>
            <a:endParaRPr lang="en-US" altLang="zh-CN" sz="3200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940127" y="1270635"/>
            <a:ext cx="8089900" cy="5572125"/>
            <a:chOff x="384" y="470"/>
            <a:chExt cx="5096" cy="3510"/>
          </a:xfrm>
        </p:grpSpPr>
        <p:grpSp>
          <p:nvGrpSpPr>
            <p:cNvPr id="108553" name="Group 24"/>
            <p:cNvGrpSpPr/>
            <p:nvPr/>
          </p:nvGrpSpPr>
          <p:grpSpPr>
            <a:xfrm>
              <a:off x="2715" y="470"/>
              <a:ext cx="2765" cy="2184"/>
              <a:chOff x="2715" y="470"/>
              <a:chExt cx="2765" cy="2184"/>
            </a:xfrm>
          </p:grpSpPr>
          <p:pic>
            <p:nvPicPr>
              <p:cNvPr id="108557" name="Picture 9" descr="高速钢淬火组织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715" y="470"/>
                <a:ext cx="2765" cy="216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8558" name="Text Box 17"/>
              <p:cNvSpPr txBox="1">
                <a:spLocks noChangeAspect="1"/>
              </p:cNvSpPr>
              <p:nvPr/>
            </p:nvSpPr>
            <p:spPr>
              <a:xfrm>
                <a:off x="3248" y="2366"/>
                <a:ext cx="2227" cy="288"/>
              </a:xfrm>
              <a:prstGeom prst="rect">
                <a:avLst/>
              </a:prstGeom>
              <a:solidFill>
                <a:schemeClr val="tx1">
                  <a:alpha val="50195"/>
                </a:schemeClr>
              </a:solidFill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r" eaLnBrk="1" hangingPunct="1"/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W18Cr4V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钢的淬火组织</a:t>
                </a:r>
                <a:endParaRPr lang="zh-CN" altLang="en-US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108554" name="Group 22"/>
            <p:cNvGrpSpPr>
              <a:grpSpLocks noChangeAspect="1"/>
            </p:cNvGrpSpPr>
            <p:nvPr/>
          </p:nvGrpSpPr>
          <p:grpSpPr>
            <a:xfrm>
              <a:off x="384" y="1872"/>
              <a:ext cx="2720" cy="2108"/>
              <a:chOff x="192" y="1872"/>
              <a:chExt cx="2928" cy="2269"/>
            </a:xfrm>
          </p:grpSpPr>
          <p:pic>
            <p:nvPicPr>
              <p:cNvPr id="108555" name="Picture 19" descr="高速钢相图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2" y="1872"/>
                <a:ext cx="2895" cy="2269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8556" name="Text Box 21"/>
              <p:cNvSpPr txBox="1">
                <a:spLocks noChangeAspect="1"/>
              </p:cNvSpPr>
              <p:nvPr/>
            </p:nvSpPr>
            <p:spPr>
              <a:xfrm>
                <a:off x="1152" y="1872"/>
                <a:ext cx="1968" cy="26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r" eaLnBrk="1" hangingPunct="1"/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Fe77W18Cr4V1—C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相图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1563" y="0"/>
            <a:ext cx="8072438" cy="1000125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㈣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高速钢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、加工与热处理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3" grpId="0" advAuto="1000" build="p"/>
      <p:bldP spid="102418" grpId="0"/>
      <p:bldP spid="13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0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3439" name="Rectangle 15"/>
          <p:cNvSpPr>
            <a:spLocks noGrp="1"/>
          </p:cNvSpPr>
          <p:nvPr>
            <p:ph idx="1"/>
          </p:nvPr>
        </p:nvSpPr>
        <p:spPr>
          <a:xfrm>
            <a:off x="357188" y="3357563"/>
            <a:ext cx="8534400" cy="30718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回火时的组织变化：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析出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的碳化物，</a:t>
            </a:r>
            <a:r>
              <a:rPr lang="zh-CN" altLang="en-US" sz="2800" b="1" dirty="0">
                <a:solidFill>
                  <a:srgbClr val="FFE1FF"/>
                </a:solidFill>
                <a:ea typeface="华文中宋" panose="02010600040101010101" pitchFamily="2" charset="-122"/>
              </a:rPr>
              <a:t>产生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二次硬化。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②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碳及合金元素含量下降，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Ms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点上升，回火冷却时，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A’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转变为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每次回火加热都使前一次的淬火马氏体回火。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03444" name="Rectangle 20"/>
          <p:cNvSpPr/>
          <p:nvPr/>
        </p:nvSpPr>
        <p:spPr>
          <a:xfrm>
            <a:off x="428625" y="1000125"/>
            <a:ext cx="37338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⑷ 回火目的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主要为减少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A’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。消除内应力、稳定组织。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常用</a:t>
            </a:r>
            <a:r>
              <a:rPr lang="en-US" altLang="zh-CN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560℃</a:t>
            </a:r>
            <a:r>
              <a:rPr lang="zh-CN" altLang="en-US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三次回火</a:t>
            </a:r>
            <a:r>
              <a:rPr lang="en-US" altLang="zh-CN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4857750" y="1071563"/>
            <a:ext cx="4016375" cy="2881312"/>
            <a:chOff x="2832" y="432"/>
            <a:chExt cx="2530" cy="1815"/>
          </a:xfrm>
        </p:grpSpPr>
        <p:pic>
          <p:nvPicPr>
            <p:cNvPr id="109577" name="Picture 19" descr="高速钢回火硬度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32" y="432"/>
              <a:ext cx="2530" cy="181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9578" name="Rectangle 23"/>
            <p:cNvSpPr/>
            <p:nvPr/>
          </p:nvSpPr>
          <p:spPr>
            <a:xfrm>
              <a:off x="3264" y="1728"/>
              <a:ext cx="1728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高速钢硬度与回火温度关系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1563" y="0"/>
            <a:ext cx="8072438" cy="1000125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㈣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高速钢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、加工与热处理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957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3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3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3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9" grpId="0" advAuto="1000" build="p"/>
      <p:bldP spid="103444" grpId="0"/>
      <p:bldP spid="9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0"/>
            <a:ext cx="7772400" cy="99758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W18Cr4V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钢热处理工艺示意图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104451" name="Picture 3" descr="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48798" y="1772816"/>
            <a:ext cx="7839075" cy="3973513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1059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bldLvl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0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1992313" y="1992313"/>
            <a:ext cx="5399087" cy="4256087"/>
            <a:chOff x="1152" y="1152"/>
            <a:chExt cx="3401" cy="2681"/>
          </a:xfrm>
        </p:grpSpPr>
        <p:pic>
          <p:nvPicPr>
            <p:cNvPr id="111624" name="Picture 5" descr="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52" y="1152"/>
              <a:ext cx="3401" cy="2681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1625" name="Text Box 6"/>
            <p:cNvSpPr txBox="1">
              <a:spLocks noChangeAspect="1"/>
            </p:cNvSpPr>
            <p:nvPr/>
          </p:nvSpPr>
          <p:spPr>
            <a:xfrm>
              <a:off x="1152" y="3544"/>
              <a:ext cx="2928" cy="288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W18Cr4V</a:t>
              </a:r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钢淬火、回火后的组织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5482" name="Rectangle 10"/>
          <p:cNvSpPr>
            <a:spLocks noGrp="1"/>
          </p:cNvSpPr>
          <p:nvPr>
            <p:ph idx="1"/>
          </p:nvPr>
        </p:nvSpPr>
        <p:spPr>
          <a:xfrm>
            <a:off x="500063" y="1214438"/>
            <a:ext cx="8077200" cy="11049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颗粒状碳化物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A’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（少量）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2938" y="0"/>
            <a:ext cx="8501063" cy="1000125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㈣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高速钢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、使用状态下组织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162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2" grpId="0" advAuto="1000" build="p"/>
      <p:bldP spid="8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42875"/>
            <a:ext cx="7772400" cy="7143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不同状态下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W18Cr4V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的组织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>
          <a:xfrm>
            <a:off x="1066800" y="1066800"/>
            <a:ext cx="7200900" cy="5397500"/>
            <a:chOff x="574" y="631"/>
            <a:chExt cx="4802" cy="3600"/>
          </a:xfrm>
        </p:grpSpPr>
        <p:pic>
          <p:nvPicPr>
            <p:cNvPr id="112647" name="Picture 4" descr="W18Cr4V铸态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74" y="631"/>
              <a:ext cx="2190" cy="1721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12648" name="Picture 5" descr="W18Cr4V退火组织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6" y="631"/>
              <a:ext cx="2210" cy="1702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12649" name="Picture 6" descr="W18Cr4V淬火组织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" y="2513"/>
              <a:ext cx="2190" cy="1718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12650" name="Picture 7" descr="W18Cr4V淬火回火组织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6" y="2489"/>
              <a:ext cx="2204" cy="172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2651" name="Rectangle 8"/>
            <p:cNvSpPr>
              <a:spLocks noChangeAspect="1"/>
            </p:cNvSpPr>
            <p:nvPr/>
          </p:nvSpPr>
          <p:spPr>
            <a:xfrm>
              <a:off x="2268" y="2148"/>
              <a:ext cx="480" cy="192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铸态</a:t>
              </a:r>
              <a:endPara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52" name="Rectangle 10"/>
            <p:cNvSpPr>
              <a:spLocks noChangeAspect="1"/>
            </p:cNvSpPr>
            <p:nvPr/>
          </p:nvSpPr>
          <p:spPr>
            <a:xfrm>
              <a:off x="4536" y="3996"/>
              <a:ext cx="816" cy="192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淬火回火态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53" name="Rectangle 11"/>
            <p:cNvSpPr>
              <a:spLocks noChangeAspect="1"/>
            </p:cNvSpPr>
            <p:nvPr/>
          </p:nvSpPr>
          <p:spPr>
            <a:xfrm>
              <a:off x="2256" y="4020"/>
              <a:ext cx="480" cy="192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淬火态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54" name="Rectangle 12"/>
            <p:cNvSpPr>
              <a:spLocks noChangeAspect="1"/>
            </p:cNvSpPr>
            <p:nvPr/>
          </p:nvSpPr>
          <p:spPr>
            <a:xfrm>
              <a:off x="4832" y="2136"/>
              <a:ext cx="532" cy="192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退火态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64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6510" name="Rectangle 14"/>
          <p:cNvSpPr>
            <a:spLocks noGrp="1"/>
          </p:cNvSpPr>
          <p:nvPr>
            <p:ph idx="1"/>
          </p:nvPr>
        </p:nvSpPr>
        <p:spPr>
          <a:xfrm>
            <a:off x="249555" y="1000124"/>
            <a:ext cx="8623935" cy="361914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常用钢号：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W18Cr4V        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(18-4-1)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   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                 W6Mo5Cr4V2   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(6-5-4-2)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用途：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高速切削刃具，</a:t>
            </a:r>
            <a:r>
              <a:rPr lang="zh-CN" altLang="en-US" b="1" dirty="0">
                <a:ea typeface="华文中宋" panose="02010600040101010101" pitchFamily="2" charset="-122"/>
              </a:rPr>
              <a:t>如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车刀、刨刀、铣刀、钻头等。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1329055" y="4636770"/>
            <a:ext cx="7216140" cy="1809072"/>
            <a:chOff x="432" y="2454"/>
            <a:chExt cx="5077" cy="1468"/>
          </a:xfrm>
        </p:grpSpPr>
        <p:grpSp>
          <p:nvGrpSpPr>
            <p:cNvPr id="113672" name="Group 35"/>
            <p:cNvGrpSpPr/>
            <p:nvPr/>
          </p:nvGrpSpPr>
          <p:grpSpPr>
            <a:xfrm>
              <a:off x="432" y="2454"/>
              <a:ext cx="5077" cy="1468"/>
              <a:chOff x="432" y="2454"/>
              <a:chExt cx="5077" cy="1468"/>
            </a:xfrm>
          </p:grpSpPr>
          <p:grpSp>
            <p:nvGrpSpPr>
              <p:cNvPr id="113674" name="Group 31"/>
              <p:cNvGrpSpPr/>
              <p:nvPr/>
            </p:nvGrpSpPr>
            <p:grpSpPr>
              <a:xfrm>
                <a:off x="432" y="2485"/>
                <a:ext cx="3072" cy="1437"/>
                <a:chOff x="432" y="2485"/>
                <a:chExt cx="3072" cy="1437"/>
              </a:xfrm>
            </p:grpSpPr>
            <p:pic>
              <p:nvPicPr>
                <p:cNvPr id="113676" name="Picture 5" descr="FHPDJ车刀1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464" y="2496"/>
                  <a:ext cx="1614" cy="1358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13677" name="Text Box 8"/>
                <p:cNvSpPr txBox="1"/>
                <p:nvPr/>
              </p:nvSpPr>
              <p:spPr>
                <a:xfrm>
                  <a:off x="432" y="3600"/>
                  <a:ext cx="646" cy="32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lvl="0" eaLnBrk="1" hangingPunct="1"/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车刀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pic>
              <p:nvPicPr>
                <p:cNvPr id="113678" name="Picture 6" descr="铣刀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144" y="2485"/>
                  <a:ext cx="1360" cy="1360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13679" name="Text Box 9"/>
                <p:cNvSpPr txBox="1"/>
                <p:nvPr/>
              </p:nvSpPr>
              <p:spPr>
                <a:xfrm>
                  <a:off x="2976" y="3600"/>
                  <a:ext cx="528" cy="32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 eaLnBrk="1" hangingPunct="1"/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铣刀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pic>
            <p:nvPicPr>
              <p:cNvPr id="113675" name="Picture 18" descr="高速钢铣刀1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582" y="2454"/>
                <a:ext cx="1927" cy="1421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113673" name="Text Box 36"/>
            <p:cNvSpPr txBox="1"/>
            <p:nvPr/>
          </p:nvSpPr>
          <p:spPr>
            <a:xfrm>
              <a:off x="4300" y="2454"/>
              <a:ext cx="1190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r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高速钢铣刀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2938" y="0"/>
            <a:ext cx="8501063" cy="1000125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㈣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高速钢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—5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、常用钢号及用途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367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6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0" grpId="0" advAuto="1000" build="p"/>
      <p:bldP spid="18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7535" name="Text Box 15"/>
          <p:cNvSpPr txBox="1"/>
          <p:nvPr/>
        </p:nvSpPr>
        <p:spPr>
          <a:xfrm>
            <a:off x="1043305" y="1426210"/>
            <a:ext cx="6429375" cy="22409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lvl="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66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二、模具钢</a:t>
            </a:r>
            <a:endParaRPr lang="en-US" altLang="zh-CN" sz="66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6600" i="1" dirty="0">
                <a:solidFill>
                  <a:schemeClr val="tx2"/>
                </a:solidFill>
                <a:ea typeface="华文中宋" panose="02010600040101010101" pitchFamily="2" charset="-122"/>
              </a:rPr>
              <a:t>Die Steel</a:t>
            </a:r>
            <a:endParaRPr lang="zh-CN" altLang="en-US" sz="6600" i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69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0" y="26365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357813" y="1285875"/>
            <a:ext cx="3573462" cy="5037138"/>
            <a:chOff x="3216" y="720"/>
            <a:chExt cx="2251" cy="3173"/>
          </a:xfrm>
        </p:grpSpPr>
        <p:pic>
          <p:nvPicPr>
            <p:cNvPr id="114696" name="Picture 4" descr="汽车冲压模具2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16" y="720"/>
              <a:ext cx="2251" cy="317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4697" name="Rectangle 9"/>
            <p:cNvSpPr/>
            <p:nvPr/>
          </p:nvSpPr>
          <p:spPr>
            <a:xfrm>
              <a:off x="4452" y="3696"/>
              <a:ext cx="1008" cy="192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汽车冲压模具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7532" name="Rectangle 12"/>
          <p:cNvSpPr>
            <a:spLocks noGrp="1"/>
          </p:cNvSpPr>
          <p:nvPr>
            <p:ph idx="1"/>
          </p:nvPr>
        </p:nvSpPr>
        <p:spPr>
          <a:xfrm>
            <a:off x="214313" y="1071563"/>
            <a:ext cx="4929187" cy="52863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              </a:t>
            </a:r>
            <a:r>
              <a:rPr lang="zh-CN" altLang="en-US" b="1" dirty="0">
                <a:ea typeface="华文中宋" panose="02010600040101010101" pitchFamily="2" charset="-122"/>
              </a:rPr>
              <a:t>用以制造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冷热模具</a:t>
            </a:r>
            <a:r>
              <a:rPr lang="zh-CN" altLang="en-US" b="1" dirty="0">
                <a:ea typeface="华文中宋" panose="02010600040101010101" pitchFamily="2" charset="-122"/>
              </a:rPr>
              <a:t>的钢种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（一）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冷作模具钢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（二）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热作模具钢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107535" name="Text Box 15"/>
          <p:cNvSpPr txBox="1"/>
          <p:nvPr/>
        </p:nvSpPr>
        <p:spPr>
          <a:xfrm>
            <a:off x="1643063" y="0"/>
            <a:ext cx="6429375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二、模具钢</a:t>
            </a: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4400" i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Die Steel</a:t>
            </a:r>
            <a:endParaRPr lang="zh-CN" altLang="en-US" sz="44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611505" y="1285875"/>
            <a:ext cx="139700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模具钢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：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7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7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7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2" grpId="0" advAuto="1000" build="p"/>
      <p:bldP spid="107535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357813" y="1285875"/>
            <a:ext cx="3573462" cy="5037138"/>
            <a:chOff x="3216" y="720"/>
            <a:chExt cx="2251" cy="3173"/>
          </a:xfrm>
        </p:grpSpPr>
        <p:pic>
          <p:nvPicPr>
            <p:cNvPr id="115720" name="Picture 4" descr="汽车冲压模具2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16" y="720"/>
              <a:ext cx="2251" cy="317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5721" name="Rectangle 9"/>
            <p:cNvSpPr/>
            <p:nvPr/>
          </p:nvSpPr>
          <p:spPr>
            <a:xfrm>
              <a:off x="4452" y="3696"/>
              <a:ext cx="1008" cy="192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汽车冲压模具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7532" name="Rectangle 12"/>
          <p:cNvSpPr>
            <a:spLocks noGrp="1"/>
          </p:cNvSpPr>
          <p:nvPr>
            <p:ph idx="1"/>
          </p:nvPr>
        </p:nvSpPr>
        <p:spPr>
          <a:xfrm>
            <a:off x="214630" y="910590"/>
            <a:ext cx="5000625" cy="5355590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>
                <a:ea typeface="华文中宋" panose="02010600040101010101" pitchFamily="2" charset="-122"/>
              </a:rPr>
              <a:t>                      </a:t>
            </a:r>
            <a:r>
              <a:rPr lang="zh-CN" altLang="en-US" b="1" dirty="0">
                <a:ea typeface="华文中宋" panose="02010600040101010101" pitchFamily="2" charset="-122"/>
              </a:rPr>
              <a:t>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金属冷成型</a:t>
            </a:r>
            <a:r>
              <a:rPr lang="zh-CN" altLang="en-US" b="1" dirty="0">
                <a:ea typeface="华文中宋" panose="02010600040101010101" pitchFamily="2" charset="-122"/>
              </a:rPr>
              <a:t>模具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（冷冲模、冷挤压模、冷镦模和拔丝模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…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）钢种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  <a:sym typeface="+mn-ea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工作温度一般不超过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200~300℃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ea typeface="华文中宋" panose="02010600040101010101" pitchFamily="2" charset="-122"/>
              </a:rPr>
              <a:t>1.</a:t>
            </a:r>
            <a:r>
              <a:rPr lang="zh-CN" altLang="en-US" dirty="0">
                <a:solidFill>
                  <a:schemeClr val="tx2"/>
                </a:solidFill>
                <a:ea typeface="华文中宋" panose="02010600040101010101" pitchFamily="2" charset="-122"/>
              </a:rPr>
              <a:t>性能要求</a:t>
            </a:r>
            <a:endParaRPr lang="en-US" altLang="zh-CN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ea typeface="华文中宋" panose="02010600040101010101" pitchFamily="2" charset="-122"/>
              </a:rPr>
              <a:t>2.</a:t>
            </a:r>
            <a:r>
              <a:rPr lang="zh-CN" altLang="en-US" dirty="0">
                <a:solidFill>
                  <a:schemeClr val="tx2"/>
                </a:solidFill>
                <a:ea typeface="华文中宋" panose="02010600040101010101" pitchFamily="2" charset="-122"/>
              </a:rPr>
              <a:t>常用钢种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07535" name="Text Box 15"/>
          <p:cNvSpPr txBox="1"/>
          <p:nvPr/>
        </p:nvSpPr>
        <p:spPr>
          <a:xfrm>
            <a:off x="1619128" y="-100615"/>
            <a:ext cx="6429375" cy="885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30000"/>
              </a:lnSpc>
            </a:pP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㈠ 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冷作模具钢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571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43063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611505" y="1124585"/>
            <a:ext cx="219519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冷作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模具钢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：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7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7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7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7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2" grpId="0" advAuto="1000" build="p"/>
      <p:bldP spid="107535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7532" name="Rectangle 12"/>
          <p:cNvSpPr>
            <a:spLocks noGrp="1"/>
          </p:cNvSpPr>
          <p:nvPr>
            <p:ph idx="1"/>
          </p:nvPr>
        </p:nvSpPr>
        <p:spPr>
          <a:xfrm>
            <a:off x="422275" y="1428750"/>
            <a:ext cx="8579485" cy="44291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⑴  高硬度和耐磨性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;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⑵  足够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强度和韧性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;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⑶ 良好的工艺性能</a:t>
            </a:r>
            <a:r>
              <a:rPr lang="zh-CN" altLang="en-US" b="1" dirty="0">
                <a:ea typeface="华文中宋" panose="02010600040101010101" pitchFamily="2" charset="-122"/>
              </a:rPr>
              <a:t>（淬透性、切削加工性等）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1" name="Text Box 15"/>
          <p:cNvSpPr txBox="1"/>
          <p:nvPr/>
        </p:nvSpPr>
        <p:spPr>
          <a:xfrm>
            <a:off x="1259840" y="-22225"/>
            <a:ext cx="7786370" cy="7677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lvl="0" eaLnBrk="1" hangingPunct="1">
              <a:lnSpc>
                <a:spcPct val="130000"/>
              </a:lnSpc>
            </a:pP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㈠ 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冷作模具钢</a:t>
            </a: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——1.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性能要求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674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7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7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2" grpId="0" advAuto="1000" build="p"/>
      <p:bldP spid="1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8560" name="Rectangle 16"/>
          <p:cNvSpPr>
            <a:spLocks noGrp="1"/>
          </p:cNvSpPr>
          <p:nvPr>
            <p:ph idx="1"/>
          </p:nvPr>
        </p:nvSpPr>
        <p:spPr>
          <a:xfrm>
            <a:off x="214313" y="1071563"/>
            <a:ext cx="8643937" cy="51435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小尺寸、形状简单、受力不大的模具：</a:t>
            </a:r>
            <a:r>
              <a:rPr lang="zh-CN" altLang="en-US" b="1" dirty="0">
                <a:ea typeface="华文中宋" panose="02010600040101010101" pitchFamily="2" charset="-122"/>
              </a:rPr>
              <a:t>可用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碳素工具钢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低合金工具钢</a:t>
            </a:r>
            <a:r>
              <a:rPr lang="zh-CN" altLang="en-US" b="1" dirty="0">
                <a:ea typeface="华文中宋" panose="02010600040101010101" pitchFamily="2" charset="-122"/>
              </a:rPr>
              <a:t>制造</a:t>
            </a:r>
            <a:r>
              <a:rPr lang="zh-CN" altLang="en-US" dirty="0">
                <a:solidFill>
                  <a:srgbClr val="D1FFFF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(2)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耐冲击工具用钢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剪切钢板或型材用的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冷剪刀片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热剪刀片</a:t>
            </a:r>
            <a:r>
              <a:rPr lang="zh-CN" altLang="en-US" b="1" dirty="0">
                <a:ea typeface="华文中宋" panose="02010600040101010101" pitchFamily="2" charset="-122"/>
              </a:rPr>
              <a:t>：如</a:t>
            </a:r>
            <a:r>
              <a:rPr lang="en-US" altLang="zh-CN" b="1" dirty="0">
                <a:ea typeface="华文中宋" panose="02010600040101010101" pitchFamily="2" charset="-122"/>
              </a:rPr>
              <a:t>4CrW2Si,5CrW2Si</a:t>
            </a:r>
            <a:r>
              <a:rPr lang="zh-CN" altLang="en-US" b="1" dirty="0">
                <a:ea typeface="华文中宋" panose="02010600040101010101" pitchFamily="2" charset="-122"/>
              </a:rPr>
              <a:t>等</a:t>
            </a:r>
            <a:r>
              <a:rPr lang="zh-CN" altLang="en-US" sz="800" b="1" dirty="0">
                <a:ea typeface="华文中宋" panose="02010600040101010101" pitchFamily="2" charset="-122"/>
              </a:rPr>
              <a:t>（</a:t>
            </a:r>
            <a:r>
              <a:rPr lang="en-US" altLang="zh-CN" sz="800" b="1" dirty="0">
                <a:ea typeface="华文中宋" panose="02010600040101010101" pitchFamily="2" charset="-122"/>
              </a:rPr>
              <a:t>P129   T6-15</a:t>
            </a:r>
            <a:r>
              <a:rPr lang="zh-CN" altLang="en-US" sz="800" b="1" dirty="0">
                <a:ea typeface="华文中宋" panose="02010600040101010101" pitchFamily="2" charset="-122"/>
              </a:rPr>
              <a:t>）</a:t>
            </a:r>
            <a:endParaRPr lang="en-US" altLang="zh-CN" sz="800" b="1" dirty="0">
              <a:ea typeface="华文中宋" panose="0201060004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合金元素作用：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 </a:t>
            </a:r>
            <a:r>
              <a:rPr lang="zh-CN" altLang="en-US" dirty="0">
                <a:solidFill>
                  <a:srgbClr val="D1FFFF"/>
                </a:solidFill>
                <a:ea typeface="华文中宋" panose="02010600040101010101" pitchFamily="2" charset="-122"/>
              </a:rPr>
              <a:t>提高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淬透性、耐磨性</a:t>
            </a:r>
            <a:r>
              <a:rPr lang="zh-CN" altLang="en-US" dirty="0">
                <a:solidFill>
                  <a:srgbClr val="D1FFFF"/>
                </a:solidFill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耐回火性</a:t>
            </a:r>
            <a:r>
              <a:rPr lang="zh-CN" altLang="en-US" dirty="0">
                <a:solidFill>
                  <a:srgbClr val="D1FFFF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sp>
        <p:nvSpPr>
          <p:cNvPr id="108564" name="Rectangle 20"/>
          <p:cNvSpPr/>
          <p:nvPr/>
        </p:nvSpPr>
        <p:spPr>
          <a:xfrm>
            <a:off x="457200" y="5562600"/>
            <a:ext cx="8686800" cy="2590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7765" name="Group 25"/>
          <p:cNvGrpSpPr/>
          <p:nvPr/>
        </p:nvGrpSpPr>
        <p:grpSpPr>
          <a:xfrm>
            <a:off x="5929313" y="2428875"/>
            <a:ext cx="2235200" cy="1222375"/>
            <a:chOff x="3928" y="3150"/>
            <a:chExt cx="1408" cy="906"/>
          </a:xfrm>
        </p:grpSpPr>
        <p:pic>
          <p:nvPicPr>
            <p:cNvPr id="117769" name="Picture 22" descr="冲压件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928" y="3150"/>
              <a:ext cx="1408" cy="90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8567" name="Text Box 23"/>
            <p:cNvSpPr txBox="1">
              <a:spLocks noChangeArrowheads="1"/>
            </p:cNvSpPr>
            <p:nvPr/>
          </p:nvSpPr>
          <p:spPr bwMode="auto">
            <a:xfrm>
              <a:off x="4198" y="3785"/>
              <a:ext cx="960" cy="25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冷冲压件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Text Box 15"/>
          <p:cNvSpPr txBox="1"/>
          <p:nvPr/>
        </p:nvSpPr>
        <p:spPr>
          <a:xfrm>
            <a:off x="1214755" y="-115570"/>
            <a:ext cx="7786370" cy="10890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lvl="0" eaLnBrk="1" hangingPunct="1">
              <a:lnSpc>
                <a:spcPct val="130000"/>
              </a:lnSpc>
            </a:pP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㈠ 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冷作模具钢</a:t>
            </a: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——2.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常用钢种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776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8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8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60" grpId="0" advAuto="1000" build="p"/>
      <p:bldP spid="108564" grpId="0"/>
      <p:bldP spid="13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00190"/>
            <a:ext cx="528320" cy="2578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8560" name="Rectangle 16"/>
          <p:cNvSpPr>
            <a:spLocks noGrp="1" noChangeArrowheads="1"/>
          </p:cNvSpPr>
          <p:nvPr>
            <p:ph idx="1"/>
          </p:nvPr>
        </p:nvSpPr>
        <p:spPr>
          <a:xfrm>
            <a:off x="0" y="928688"/>
            <a:ext cx="8501063" cy="52149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(3)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Cr12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型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冷作模具钢：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截面大、受力大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的冷模具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CCFF33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①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成分特点</a:t>
            </a:r>
            <a:r>
              <a:rPr lang="en-US" altLang="zh-CN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高碳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D1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(1.4~2.3%C);  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高铬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D1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(11.5~13%Cr)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D1FF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合金元素作用：</a:t>
            </a:r>
            <a:endParaRPr lang="zh-CN" altLang="en-US" b="1" kern="1200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   </a:t>
            </a:r>
            <a:r>
              <a:rPr lang="en-US" altLang="zh-CN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D1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提高淬透性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；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   </a:t>
            </a:r>
            <a:r>
              <a:rPr lang="en-US" altLang="zh-CN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D1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提高耐磨性，细化晶粒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 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8564" name="Rectangle 20"/>
          <p:cNvSpPr/>
          <p:nvPr/>
        </p:nvSpPr>
        <p:spPr>
          <a:xfrm>
            <a:off x="457200" y="3214688"/>
            <a:ext cx="8686800" cy="3305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118789" name="Group 21"/>
          <p:cNvGrpSpPr>
            <a:grpSpLocks noChangeAspect="1"/>
          </p:cNvGrpSpPr>
          <p:nvPr/>
        </p:nvGrpSpPr>
        <p:grpSpPr>
          <a:xfrm>
            <a:off x="6286500" y="3786188"/>
            <a:ext cx="2571750" cy="1804987"/>
            <a:chOff x="3216" y="432"/>
            <a:chExt cx="2294" cy="1813"/>
          </a:xfrm>
        </p:grpSpPr>
        <p:pic>
          <p:nvPicPr>
            <p:cNvPr id="118793" name="Picture 13" descr="Cr12钢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16" y="432"/>
              <a:ext cx="2294" cy="181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8794" name="Rectangle 14"/>
            <p:cNvSpPr>
              <a:spLocks noChangeAspect="1"/>
            </p:cNvSpPr>
            <p:nvPr/>
          </p:nvSpPr>
          <p:spPr>
            <a:xfrm>
              <a:off x="3216" y="1914"/>
              <a:ext cx="765" cy="330"/>
            </a:xfrm>
            <a:prstGeom prst="rect">
              <a:avLst/>
            </a:prstGeom>
            <a:solidFill>
              <a:schemeClr val="tx1"/>
            </a:solidFill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Cr12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钢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" name="Text Box 15"/>
          <p:cNvSpPr txBox="1"/>
          <p:nvPr/>
        </p:nvSpPr>
        <p:spPr>
          <a:xfrm>
            <a:off x="1115378" y="-88900"/>
            <a:ext cx="7786687" cy="973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30000"/>
              </a:lnSpc>
            </a:pP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㈠ 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冷作模具钢</a:t>
            </a: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——2.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常用钢种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879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8623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8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8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85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60" grpId="0" advAuto="1000" build="p"/>
      <p:bldP spid="108564" grpId="0"/>
      <p:bldP spid="13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9583" name="Rectangle 15"/>
          <p:cNvSpPr>
            <a:spLocks noGrp="1"/>
          </p:cNvSpPr>
          <p:nvPr>
            <p:ph idx="1"/>
          </p:nvPr>
        </p:nvSpPr>
        <p:spPr>
          <a:xfrm>
            <a:off x="357188" y="1000125"/>
            <a:ext cx="8786812" cy="47910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Cr12</a:t>
            </a:r>
            <a:r>
              <a:rPr lang="zh-CN" altLang="en-US" b="1" dirty="0">
                <a:ea typeface="华文中宋" panose="02010600040101010101" pitchFamily="2" charset="-122"/>
              </a:rPr>
              <a:t>型模具钢也是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莱氏体钢</a:t>
            </a:r>
            <a:r>
              <a:rPr lang="zh-CN" altLang="en-US" b="1" dirty="0">
                <a:ea typeface="华文中宋" panose="02010600040101010101" pitchFamily="2" charset="-122"/>
              </a:rPr>
              <a:t>，需进行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锻造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退火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目的同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高速钢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最终热处理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低温回火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使用状态下的组织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: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颗粒状碳化物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A’(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少量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4" name="Text Box 15"/>
          <p:cNvSpPr txBox="1"/>
          <p:nvPr/>
        </p:nvSpPr>
        <p:spPr>
          <a:xfrm>
            <a:off x="785813" y="0"/>
            <a:ext cx="8358187" cy="973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30000"/>
              </a:lnSpc>
            </a:pP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Cr12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型冷模钢</a:t>
            </a: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—② 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加工及热处理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119814" name="Picture 5" descr="tu2汽车外板冷冲模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447733" y="5000625"/>
            <a:ext cx="3714750" cy="1738313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19815" name="Text Box 6"/>
          <p:cNvSpPr txBox="1">
            <a:spLocks noChangeAspect="1"/>
          </p:cNvSpPr>
          <p:nvPr/>
        </p:nvSpPr>
        <p:spPr>
          <a:xfrm>
            <a:off x="4097814" y="4973638"/>
            <a:ext cx="2414588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汽车外板冷冲模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81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9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3" grpId="0" advAuto="1000" build="p"/>
      <p:bldP spid="14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33210"/>
            <a:ext cx="528320" cy="22479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9583" name="Rectangle 15"/>
          <p:cNvSpPr>
            <a:spLocks noGrp="1"/>
          </p:cNvSpPr>
          <p:nvPr>
            <p:ph idx="1"/>
          </p:nvPr>
        </p:nvSpPr>
        <p:spPr>
          <a:xfrm>
            <a:off x="214313" y="1357313"/>
            <a:ext cx="8715375" cy="42195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folHlink"/>
                </a:solidFill>
                <a:ea typeface="华文中宋" panose="02010600040101010101" pitchFamily="2" charset="-122"/>
              </a:rPr>
              <a:t>Cr12</a:t>
            </a:r>
            <a:r>
              <a:rPr lang="zh-CN" altLang="en-US" dirty="0"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solidFill>
                  <a:schemeClr val="folHlink"/>
                </a:solidFill>
                <a:ea typeface="华文中宋" panose="02010600040101010101" pitchFamily="2" charset="-122"/>
              </a:rPr>
              <a:t>Cr12MoV</a:t>
            </a:r>
            <a:r>
              <a:rPr lang="zh-CN" altLang="en-US" dirty="0">
                <a:ea typeface="华文中宋" panose="02010600040101010101" pitchFamily="2" charset="-122"/>
              </a:rPr>
              <a:t>。</a:t>
            </a:r>
            <a:endParaRPr lang="en-US" altLang="zh-CN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ea typeface="华文中宋" panose="02010600040101010101" pitchFamily="2" charset="-122"/>
              </a:rPr>
              <a:t>用于制造</a:t>
            </a:r>
            <a:r>
              <a:rPr lang="zh-CN" altLang="en-US" dirty="0">
                <a:solidFill>
                  <a:srgbClr val="CCFF33"/>
                </a:solidFill>
                <a:ea typeface="华文中宋" panose="02010600040101010101" pitchFamily="2" charset="-122"/>
              </a:rPr>
              <a:t>冷冲模</a:t>
            </a:r>
            <a:r>
              <a:rPr lang="zh-CN" altLang="en-US" dirty="0">
                <a:ea typeface="华文中宋" panose="02010600040101010101" pitchFamily="2" charset="-122"/>
              </a:rPr>
              <a:t>、</a:t>
            </a:r>
            <a:r>
              <a:rPr lang="zh-CN" altLang="en-US" dirty="0">
                <a:solidFill>
                  <a:srgbClr val="CCFF33"/>
                </a:solidFill>
                <a:ea typeface="华文中宋" panose="02010600040101010101" pitchFamily="2" charset="-122"/>
              </a:rPr>
              <a:t>挤压模</a:t>
            </a:r>
            <a:r>
              <a:rPr lang="zh-CN" altLang="en-US" dirty="0">
                <a:ea typeface="华文中宋" panose="02010600040101010101" pitchFamily="2" charset="-122"/>
              </a:rPr>
              <a:t>等。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120836" name="Group 33"/>
          <p:cNvGrpSpPr/>
          <p:nvPr/>
        </p:nvGrpSpPr>
        <p:grpSpPr>
          <a:xfrm>
            <a:off x="2928938" y="3786188"/>
            <a:ext cx="4318000" cy="2470150"/>
            <a:chOff x="2672" y="2272"/>
            <a:chExt cx="2720" cy="1556"/>
          </a:xfrm>
        </p:grpSpPr>
        <p:pic>
          <p:nvPicPr>
            <p:cNvPr id="120840" name="Picture 5" descr="tu2汽车外板冷冲模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72" y="2304"/>
              <a:ext cx="2720" cy="152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20841" name="Text Box 6"/>
            <p:cNvSpPr txBox="1">
              <a:spLocks noChangeAspect="1"/>
            </p:cNvSpPr>
            <p:nvPr/>
          </p:nvSpPr>
          <p:spPr>
            <a:xfrm>
              <a:off x="3280" y="2272"/>
              <a:ext cx="1521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汽车外板冷冲模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" name="Text Box 15"/>
          <p:cNvSpPr txBox="1"/>
          <p:nvPr/>
        </p:nvSpPr>
        <p:spPr>
          <a:xfrm>
            <a:off x="785813" y="0"/>
            <a:ext cx="8358187" cy="973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30000"/>
              </a:lnSpc>
            </a:pP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Cr12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型冷模钢</a:t>
            </a: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——③ 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常用钢号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083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3" grpId="0" advAuto="1000" build="p"/>
      <p:bldP spid="14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572250"/>
            <a:ext cx="457200" cy="28575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17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227572" y="1071880"/>
            <a:ext cx="2678303" cy="3835746"/>
            <a:chOff x="3064" y="336"/>
            <a:chExt cx="2502" cy="3583"/>
          </a:xfrm>
        </p:grpSpPr>
        <p:pic>
          <p:nvPicPr>
            <p:cNvPr id="122888" name="Picture 5" descr="production017热镦模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print"/>
            <a:stretch>
              <a:fillRect/>
            </a:stretch>
          </p:blipFill>
          <p:spPr>
            <a:xfrm>
              <a:off x="3072" y="336"/>
              <a:ext cx="2494" cy="1663"/>
            </a:xfrm>
            <a:prstGeom prst="rect">
              <a:avLst/>
            </a:prstGeom>
            <a:solidFill>
              <a:srgbClr val="FFFF99"/>
            </a:solidFill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22889" name="Text Box 6"/>
            <p:cNvSpPr txBox="1"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3071" y="1655"/>
              <a:ext cx="930" cy="37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热镦模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22890" name="Picture 7" descr="凸缘模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print"/>
            <a:stretch>
              <a:fillRect/>
            </a:stretch>
          </p:blipFill>
          <p:spPr>
            <a:xfrm>
              <a:off x="3072" y="2208"/>
              <a:ext cx="2494" cy="1663"/>
            </a:xfrm>
            <a:prstGeom prst="rect">
              <a:avLst/>
            </a:prstGeom>
            <a:solidFill>
              <a:srgbClr val="FFFF99"/>
            </a:solidFill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22891" name="Text Box 8"/>
            <p:cNvSpPr txBox="1"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3064" y="3546"/>
              <a:ext cx="1087" cy="37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凸缘模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1629" name="Rectangle 13"/>
          <p:cNvSpPr>
            <a:spLocks noGrp="1"/>
          </p:cNvSpPr>
          <p:nvPr>
            <p:ph idx="1"/>
          </p:nvPr>
        </p:nvSpPr>
        <p:spPr>
          <a:xfrm>
            <a:off x="214313" y="857250"/>
            <a:ext cx="5857875" cy="5715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⑴ 热锻模钢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5CrNiMo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zh-CN" altLang="en-US" sz="2800" b="1" dirty="0">
                <a:ea typeface="华文中宋" panose="02010600040101010101" pitchFamily="2" charset="-122"/>
              </a:rPr>
              <a:t>大型热锻模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5CrMnMo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zh-CN" altLang="en-US" sz="2800" b="1" dirty="0">
                <a:ea typeface="华文中宋" panose="02010600040101010101" pitchFamily="2" charset="-122"/>
              </a:rPr>
              <a:t>中小型热锻模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成分特点、合金元素作用及热处理</a:t>
            </a:r>
            <a:r>
              <a:rPr lang="zh-CN" altLang="en-US" sz="2800" b="1" dirty="0">
                <a:ea typeface="华文中宋" panose="02010600040101010101" pitchFamily="2" charset="-122"/>
              </a:rPr>
              <a:t>同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调质钢（中碳，加入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提高淬透性、强化铁素体，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Mo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防第二类回火脆性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）。</a:t>
            </a:r>
            <a:endParaRPr lang="zh-CN" altLang="en-US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使用状态下的组织</a:t>
            </a:r>
            <a:r>
              <a:rPr lang="en-US" altLang="zh-CN" sz="2800" b="1" dirty="0">
                <a:ea typeface="华文中宋" panose="02010600040101010101" pitchFamily="2" charset="-122"/>
              </a:rPr>
              <a:t>: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10" name="Text Box 15"/>
          <p:cNvSpPr txBox="1"/>
          <p:nvPr/>
        </p:nvSpPr>
        <p:spPr>
          <a:xfrm>
            <a:off x="928688" y="0"/>
            <a:ext cx="8215312" cy="973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30000"/>
              </a:lnSpc>
            </a:pP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（二）热作模具钢</a:t>
            </a: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—2.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常用钢种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288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1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1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1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9" grpId="0" advAuto="1000" build="p"/>
      <p:bldP spid="10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063" y="6586630"/>
            <a:ext cx="642937" cy="27137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0595" name="Rectangle 3"/>
          <p:cNvSpPr>
            <a:spLocks noGrp="1"/>
          </p:cNvSpPr>
          <p:nvPr>
            <p:ph idx="1"/>
          </p:nvPr>
        </p:nvSpPr>
        <p:spPr>
          <a:xfrm>
            <a:off x="304800" y="929005"/>
            <a:ext cx="4979035" cy="5572125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                 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制造使加热金属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液态金属成型模具钢种</a:t>
            </a:r>
            <a:r>
              <a:rPr lang="zh-CN" altLang="en-US" dirty="0">
                <a:ea typeface="华文中宋" panose="02010600040101010101" pitchFamily="2" charset="-122"/>
                <a:sym typeface="+mn-ea"/>
              </a:rPr>
              <a:t>。</a:t>
            </a:r>
            <a:endParaRPr lang="zh-CN" altLang="en-US" dirty="0">
              <a:ea typeface="华文中宋" panose="02010600040101010101" pitchFamily="2" charset="-122"/>
              <a:sym typeface="+mn-ea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、性能要求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高温下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良好的综合力学性能。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抗热疲劳性能。  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 高的淬透性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良好的导热性。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>
          <a:xfrm>
            <a:off x="5621020" y="1255395"/>
            <a:ext cx="3281045" cy="4219274"/>
            <a:chOff x="2592" y="348"/>
            <a:chExt cx="2834" cy="3644"/>
          </a:xfrm>
        </p:grpSpPr>
        <p:grpSp>
          <p:nvGrpSpPr>
            <p:cNvPr id="121864" name="Group 11"/>
            <p:cNvGrpSpPr>
              <a:grpSpLocks noChangeAspect="1"/>
            </p:cNvGrpSpPr>
            <p:nvPr/>
          </p:nvGrpSpPr>
          <p:grpSpPr>
            <a:xfrm>
              <a:off x="2592" y="348"/>
              <a:ext cx="2834" cy="1928"/>
              <a:chOff x="2592" y="384"/>
              <a:chExt cx="2834" cy="1928"/>
            </a:xfrm>
          </p:grpSpPr>
          <p:pic>
            <p:nvPicPr>
              <p:cNvPr id="121867" name="Picture 4" descr="曲轴模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592" y="384"/>
                <a:ext cx="2834" cy="1890"/>
              </a:xfrm>
              <a:prstGeom prst="rect">
                <a:avLst/>
              </a:prstGeom>
              <a:solidFill>
                <a:srgbClr val="008080"/>
              </a:solidFill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10597" name="Text Box 5"/>
              <p:cNvSpPr txBox="1">
                <a:spLocks noChangeAspect="1" noChangeArrowheads="1"/>
              </p:cNvSpPr>
              <p:nvPr/>
            </p:nvSpPr>
            <p:spPr bwMode="auto">
              <a:xfrm>
                <a:off x="4368" y="1968"/>
                <a:ext cx="1056" cy="344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曲轴模具</a:t>
                </a:r>
                <a:endPara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121865" name="Picture 12" descr="热模锻件（曲轴毛坯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2" y="2316"/>
              <a:ext cx="2834" cy="161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21866" name="Text Box 13"/>
            <p:cNvSpPr txBox="1">
              <a:spLocks noChangeAspect="1"/>
            </p:cNvSpPr>
            <p:nvPr/>
          </p:nvSpPr>
          <p:spPr>
            <a:xfrm>
              <a:off x="3553" y="3648"/>
              <a:ext cx="1824" cy="3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algn="r"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热模锻曲轴毛坯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Text Box 15"/>
          <p:cNvSpPr txBox="1"/>
          <p:nvPr/>
        </p:nvSpPr>
        <p:spPr>
          <a:xfrm>
            <a:off x="1500188" y="0"/>
            <a:ext cx="6672212" cy="8862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lnSpc>
                <a:spcPct val="130000"/>
              </a:lnSpc>
            </a:pP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（二）热作模具钢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186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611505" y="1124585"/>
            <a:ext cx="219519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FF0000"/>
                </a:solidFill>
                <a:ea typeface="华文中宋" panose="02010600040101010101" pitchFamily="2" charset="-122"/>
                <a:sym typeface="+mn-ea"/>
              </a:rPr>
              <a:t>热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作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模具钢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：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advAuto="1000" build="p"/>
      <p:bldP spid="1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2500" y="6597352"/>
            <a:ext cx="457200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1629" name="Rectangle 13"/>
          <p:cNvSpPr>
            <a:spLocks noGrp="1"/>
          </p:cNvSpPr>
          <p:nvPr>
            <p:ph idx="1"/>
          </p:nvPr>
        </p:nvSpPr>
        <p:spPr>
          <a:xfrm>
            <a:off x="323533" y="1063943"/>
            <a:ext cx="5143500" cy="547211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压铸模钢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典型钢号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3Cr2W8V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为过共析钢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。</a:t>
            </a:r>
            <a:endParaRPr lang="zh-CN" altLang="en-US" b="1" dirty="0"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中碳</a:t>
            </a:r>
            <a:r>
              <a:rPr lang="en-US" altLang="zh-CN" b="1" dirty="0">
                <a:ea typeface="华文中宋" panose="02010600040101010101" pitchFamily="2" charset="-122"/>
              </a:rPr>
              <a:t>(0.3~0.4%C), </a:t>
            </a:r>
            <a:r>
              <a:rPr lang="zh-CN" altLang="en-US" b="1" dirty="0">
                <a:ea typeface="华文中宋" panose="02010600040101010101" pitchFamily="2" charset="-122"/>
              </a:rPr>
              <a:t>合金元素作用同高速钢。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提高抗热疲劳性能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回火后组织：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回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颗粒状碳化物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A’(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少量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0" name="Text Box 15"/>
          <p:cNvSpPr txBox="1"/>
          <p:nvPr/>
        </p:nvSpPr>
        <p:spPr>
          <a:xfrm>
            <a:off x="928688" y="0"/>
            <a:ext cx="8215312" cy="973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30000"/>
              </a:lnSpc>
            </a:pP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（二）热作模具钢</a:t>
            </a: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—2.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常用钢种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123910" name="Picture 4" descr="型板压铸模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149975" y="2286000"/>
            <a:ext cx="2851150" cy="1577340"/>
          </a:xfrm>
          <a:prstGeom prst="rect">
            <a:avLst/>
          </a:prstGeom>
          <a:noFill/>
          <a:ln w="76200">
            <a:noFill/>
          </a:ln>
        </p:spPr>
      </p:pic>
      <p:sp>
        <p:nvSpPr>
          <p:cNvPr id="12391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9" grpId="0" advAuto="1000" build="p"/>
      <p:bldP spid="10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97352"/>
            <a:ext cx="457200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0630" y="0"/>
            <a:ext cx="4813935" cy="100711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汽车四缸压铸模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457200" y="2286000"/>
            <a:ext cx="8308975" cy="3602038"/>
            <a:chOff x="288" y="1632"/>
            <a:chExt cx="5234" cy="2269"/>
          </a:xfrm>
        </p:grpSpPr>
        <p:pic>
          <p:nvPicPr>
            <p:cNvPr id="124935" name="Picture 4" descr="4缸压铸模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8" y="1632"/>
              <a:ext cx="2532" cy="2269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24936" name="Picture 5" descr="4缸压铸模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4" y="1632"/>
              <a:ext cx="2498" cy="2263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2493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 bldLvl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29650" y="6581140"/>
            <a:ext cx="466725" cy="27686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5955" name="Rectangle 2"/>
          <p:cNvSpPr>
            <a:spLocks noGrp="1"/>
          </p:cNvSpPr>
          <p:nvPr>
            <p:ph type="title"/>
          </p:nvPr>
        </p:nvSpPr>
        <p:spPr>
          <a:xfrm>
            <a:off x="766445" y="2132856"/>
            <a:ext cx="6478587" cy="2304256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三、量具钢</a:t>
            </a:r>
            <a:br>
              <a:rPr lang="en-US" altLang="zh-CN" sz="66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</a:br>
            <a:r>
              <a:rPr lang="en-US" altLang="zh-CN" sz="6600" b="1" i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Gauge Steel</a:t>
            </a:r>
            <a:endParaRPr lang="en-US" altLang="zh-CN" sz="6600" b="1" i="1" dirty="0">
              <a:solidFill>
                <a:schemeClr val="folHlink"/>
              </a:solidFill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2595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9168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1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32848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29650" y="6581140"/>
            <a:ext cx="466725" cy="27686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5955" name="Rectangle 2"/>
          <p:cNvSpPr>
            <a:spLocks noGrp="1"/>
          </p:cNvSpPr>
          <p:nvPr>
            <p:ph type="title"/>
          </p:nvPr>
        </p:nvSpPr>
        <p:spPr>
          <a:xfrm>
            <a:off x="1763713" y="0"/>
            <a:ext cx="6478587" cy="11430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/>
              <a:t>三、量具钢</a:t>
            </a:r>
            <a:r>
              <a:rPr lang="en-US" altLang="zh-CN" b="1" dirty="0"/>
              <a:t> </a:t>
            </a:r>
            <a:r>
              <a:rPr lang="en-US" altLang="zh-CN" b="1" i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Gauge Stee</a:t>
            </a:r>
            <a:endParaRPr lang="zh-CN" altLang="en-US" b="1" dirty="0"/>
          </a:p>
        </p:txBody>
      </p:sp>
      <p:sp>
        <p:nvSpPr>
          <p:cNvPr id="125956" name="Rectangle 3"/>
          <p:cNvSpPr>
            <a:spLocks noGrp="1"/>
          </p:cNvSpPr>
          <p:nvPr>
            <p:ph idx="1"/>
          </p:nvPr>
        </p:nvSpPr>
        <p:spPr>
          <a:xfrm>
            <a:off x="468630" y="1143000"/>
            <a:ext cx="4629785" cy="431292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              </a:t>
            </a:r>
            <a:r>
              <a:rPr lang="zh-CN" altLang="en-US" b="1" dirty="0">
                <a:ea typeface="华文中宋" panose="02010600040101010101" pitchFamily="2" charset="-122"/>
              </a:rPr>
              <a:t>制造各种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量具用钢。如千分尺、卡尺、块规、塞规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556169" y="1368108"/>
            <a:ext cx="6494437" cy="4408807"/>
            <a:chOff x="1413" y="635"/>
            <a:chExt cx="4091" cy="2777"/>
          </a:xfrm>
        </p:grpSpPr>
        <p:grpSp>
          <p:nvGrpSpPr>
            <p:cNvPr id="125960" name="Group 6"/>
            <p:cNvGrpSpPr>
              <a:grpSpLocks noChangeAspect="1"/>
            </p:cNvGrpSpPr>
            <p:nvPr/>
          </p:nvGrpSpPr>
          <p:grpSpPr>
            <a:xfrm>
              <a:off x="3434" y="635"/>
              <a:ext cx="2014" cy="1437"/>
              <a:chOff x="3433" y="691"/>
              <a:chExt cx="2077" cy="1482"/>
            </a:xfrm>
          </p:grpSpPr>
          <p:pic>
            <p:nvPicPr>
              <p:cNvPr id="125971" name="Picture 7" descr="kaci1卡尺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433" y="691"/>
                <a:ext cx="2077" cy="148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25972" name="Text Box 8"/>
              <p:cNvSpPr txBox="1">
                <a:spLocks noChangeAspect="1"/>
              </p:cNvSpPr>
              <p:nvPr/>
            </p:nvSpPr>
            <p:spPr>
              <a:xfrm>
                <a:off x="4672" y="1869"/>
                <a:ext cx="575" cy="30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卡尺</a:t>
                </a:r>
                <a:endPara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5961" name="Group 9"/>
            <p:cNvGrpSpPr>
              <a:grpSpLocks noChangeAspect="1"/>
            </p:cNvGrpSpPr>
            <p:nvPr/>
          </p:nvGrpSpPr>
          <p:grpSpPr>
            <a:xfrm>
              <a:off x="1413" y="2113"/>
              <a:ext cx="4091" cy="1299"/>
              <a:chOff x="1363" y="2131"/>
              <a:chExt cx="4121" cy="1309"/>
            </a:xfrm>
          </p:grpSpPr>
          <p:grpSp>
            <p:nvGrpSpPr>
              <p:cNvPr id="125962" name="Group 10"/>
              <p:cNvGrpSpPr>
                <a:grpSpLocks noChangeAspect="1"/>
              </p:cNvGrpSpPr>
              <p:nvPr/>
            </p:nvGrpSpPr>
            <p:grpSpPr>
              <a:xfrm>
                <a:off x="2964" y="2131"/>
                <a:ext cx="1438" cy="1309"/>
                <a:chOff x="2957" y="1990"/>
                <a:chExt cx="1484" cy="1350"/>
              </a:xfrm>
            </p:grpSpPr>
            <p:pic>
              <p:nvPicPr>
                <p:cNvPr id="125969" name="Picture 11" descr="lgui2[1]量规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957" y="1990"/>
                  <a:ext cx="1484" cy="1350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25970" name="Text Box 12"/>
                <p:cNvSpPr txBox="1">
                  <a:spLocks noChangeAspect="1"/>
                </p:cNvSpPr>
                <p:nvPr/>
              </p:nvSpPr>
              <p:spPr>
                <a:xfrm>
                  <a:off x="3741" y="2047"/>
                  <a:ext cx="575" cy="2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>
                  <a:spAutoFit/>
                </a:bodyPr>
                <a:lstStyle/>
                <a:p>
                  <a:pPr lvl="0" eaLnBrk="1" hangingPunct="1"/>
                  <a:r>
                    <a:rPr lang="zh-CN" altLang="en-US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塞规</a:t>
                  </a:r>
                  <a:endPara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5963" name="Group 13"/>
              <p:cNvGrpSpPr>
                <a:grpSpLocks noChangeAspect="1"/>
              </p:cNvGrpSpPr>
              <p:nvPr/>
            </p:nvGrpSpPr>
            <p:grpSpPr>
              <a:xfrm>
                <a:off x="4473" y="2143"/>
                <a:ext cx="1011" cy="1281"/>
                <a:chOff x="4431" y="1945"/>
                <a:chExt cx="1043" cy="1322"/>
              </a:xfrm>
            </p:grpSpPr>
            <p:pic>
              <p:nvPicPr>
                <p:cNvPr id="125967" name="Picture 14" descr="waijinqf1[1]千分尺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431" y="1945"/>
                  <a:ext cx="986" cy="1322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25968" name="Text Box 15"/>
                <p:cNvSpPr txBox="1">
                  <a:spLocks noChangeAspect="1"/>
                </p:cNvSpPr>
                <p:nvPr/>
              </p:nvSpPr>
              <p:spPr>
                <a:xfrm>
                  <a:off x="4902" y="3007"/>
                  <a:ext cx="572" cy="19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lvl="0" eaLnBrk="1" hangingPunct="1"/>
                  <a:r>
                    <a: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千分尺</a:t>
                  </a:r>
                  <a:endPara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5964" name="Group 16"/>
              <p:cNvGrpSpPr>
                <a:grpSpLocks noChangeAspect="1"/>
              </p:cNvGrpSpPr>
              <p:nvPr/>
            </p:nvGrpSpPr>
            <p:grpSpPr>
              <a:xfrm>
                <a:off x="1363" y="2142"/>
                <a:ext cx="1497" cy="1269"/>
                <a:chOff x="1305" y="2110"/>
                <a:chExt cx="1544" cy="1309"/>
              </a:xfrm>
            </p:grpSpPr>
            <p:pic>
              <p:nvPicPr>
                <p:cNvPr id="125965" name="Picture 17" descr="块规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1305" y="2110"/>
                  <a:ext cx="1544" cy="1309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25966" name="Rectangle 18"/>
                <p:cNvSpPr>
                  <a:spLocks noChangeAspect="1"/>
                </p:cNvSpPr>
                <p:nvPr/>
              </p:nvSpPr>
              <p:spPr>
                <a:xfrm>
                  <a:off x="1399" y="2110"/>
                  <a:ext cx="890" cy="228"/>
                </a:xfrm>
                <a:prstGeom prst="rect">
                  <a:avLst/>
                </a:prstGeom>
                <a:solidFill>
                  <a:schemeClr val="tx1"/>
                </a:solidFill>
                <a:ln w="28575">
                  <a:noFill/>
                </a:ln>
              </p:spPr>
              <p:txBody>
                <a:bodyPr wrap="none" anchor="ctr"/>
                <a:lstStyle/>
                <a:p>
                  <a:pPr lvl="0" eaLnBrk="1" hangingPunct="1"/>
                  <a:r>
                    <a:rPr lang="zh-CN" altLang="en-US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精密块规</a:t>
                  </a:r>
                  <a:endPara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12595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713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1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 descr="7b0a202020202262756c6c6574223a20227b5c2263617465676f727949645c223a31303032352c5c2274656d706c61746549645c223a32303233313437347d220a7d0a"/>
          <p:cNvSpPr/>
          <p:nvPr>
            <p:custDataLst>
              <p:tags r:id="rId6"/>
            </p:custDataLst>
          </p:nvPr>
        </p:nvSpPr>
        <p:spPr>
          <a:xfrm>
            <a:off x="755650" y="1340485"/>
            <a:ext cx="150558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量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具钢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：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04885" y="6570345"/>
            <a:ext cx="563880" cy="269239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0"/>
            <a:ext cx="72723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三、量具钢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——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、性能要求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6980" name="Rectangle 3"/>
          <p:cNvSpPr>
            <a:spLocks noGrp="1"/>
          </p:cNvSpPr>
          <p:nvPr>
            <p:ph idx="1"/>
          </p:nvPr>
        </p:nvSpPr>
        <p:spPr>
          <a:xfrm>
            <a:off x="323850" y="1142365"/>
            <a:ext cx="5796280" cy="409829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量具在使用过程中与被测零件接触，承受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摩擦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冲击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高硬度和耐磨性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;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高的尺寸稳定性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;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 足够的韧性。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321560" y="1037273"/>
            <a:ext cx="6716713" cy="5481637"/>
            <a:chOff x="1158" y="547"/>
            <a:chExt cx="4267" cy="3453"/>
          </a:xfrm>
        </p:grpSpPr>
        <p:grpSp>
          <p:nvGrpSpPr>
            <p:cNvPr id="126984" name="Group 6"/>
            <p:cNvGrpSpPr/>
            <p:nvPr/>
          </p:nvGrpSpPr>
          <p:grpSpPr>
            <a:xfrm>
              <a:off x="3563" y="547"/>
              <a:ext cx="1861" cy="1538"/>
              <a:chOff x="3563" y="547"/>
              <a:chExt cx="1861" cy="1538"/>
            </a:xfrm>
          </p:grpSpPr>
          <p:pic>
            <p:nvPicPr>
              <p:cNvPr id="126991" name="Picture 7" descr="渐开线花键环规、塞规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563" y="547"/>
                <a:ext cx="1861" cy="153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26992" name="Text Box 8"/>
              <p:cNvSpPr txBox="1">
                <a:spLocks noChangeAspect="1"/>
              </p:cNvSpPr>
              <p:nvPr/>
            </p:nvSpPr>
            <p:spPr>
              <a:xfrm>
                <a:off x="4464" y="580"/>
                <a:ext cx="960" cy="40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r" eaLnBrk="1" hangingPunct="1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渐开线花键环规、塞规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6985" name="Group 9"/>
            <p:cNvGrpSpPr/>
            <p:nvPr/>
          </p:nvGrpSpPr>
          <p:grpSpPr>
            <a:xfrm>
              <a:off x="1158" y="2559"/>
              <a:ext cx="1898" cy="1441"/>
              <a:chOff x="1158" y="2559"/>
              <a:chExt cx="1898" cy="1441"/>
            </a:xfrm>
          </p:grpSpPr>
          <p:pic>
            <p:nvPicPr>
              <p:cNvPr id="126989" name="Picture 10" descr="矩形花键环规、塞规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58" y="2559"/>
                <a:ext cx="1898" cy="1441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26990" name="Text Box 11"/>
              <p:cNvSpPr txBox="1">
                <a:spLocks noChangeAspect="1"/>
              </p:cNvSpPr>
              <p:nvPr/>
            </p:nvSpPr>
            <p:spPr>
              <a:xfrm>
                <a:off x="1158" y="2560"/>
                <a:ext cx="1296" cy="4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矩形花键环规、塞规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6986" name="Group 12"/>
            <p:cNvGrpSpPr>
              <a:grpSpLocks noChangeAspect="1"/>
            </p:cNvGrpSpPr>
            <p:nvPr/>
          </p:nvGrpSpPr>
          <p:grpSpPr>
            <a:xfrm>
              <a:off x="3065" y="2561"/>
              <a:ext cx="2360" cy="1439"/>
              <a:chOff x="2989" y="2627"/>
              <a:chExt cx="2531" cy="1543"/>
            </a:xfrm>
          </p:grpSpPr>
          <p:pic>
            <p:nvPicPr>
              <p:cNvPr id="126987" name="Picture 13" descr="光面量规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999" y="2627"/>
                <a:ext cx="2521" cy="154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26988" name="Text Box 14"/>
              <p:cNvSpPr txBox="1">
                <a:spLocks noChangeAspect="1"/>
              </p:cNvSpPr>
              <p:nvPr/>
            </p:nvSpPr>
            <p:spPr>
              <a:xfrm>
                <a:off x="2989" y="3902"/>
                <a:ext cx="967" cy="26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光面量规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2698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72250"/>
            <a:ext cx="457200" cy="28575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三、量具钢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——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、量具用钢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8004" name="Rectangle 3"/>
          <p:cNvSpPr>
            <a:spLocks noGrp="1"/>
          </p:cNvSpPr>
          <p:nvPr>
            <p:ph idx="1"/>
          </p:nvPr>
        </p:nvSpPr>
        <p:spPr>
          <a:xfrm>
            <a:off x="128005" y="1378574"/>
            <a:ext cx="5581650" cy="55721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低碳钢</a:t>
            </a:r>
            <a:r>
              <a:rPr lang="zh-CN" altLang="en-US" b="1" dirty="0">
                <a:solidFill>
                  <a:srgbClr val="EFFFFF"/>
                </a:solidFill>
                <a:ea typeface="华文中宋" panose="02010600040101010101" pitchFamily="2" charset="-122"/>
              </a:rPr>
              <a:t>渗碳、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中碳钢</a:t>
            </a:r>
            <a:r>
              <a:rPr lang="zh-CN" altLang="en-US" b="1" dirty="0">
                <a:solidFill>
                  <a:srgbClr val="EFFFFF"/>
                </a:solidFill>
                <a:ea typeface="华文中宋" panose="02010600040101010101" pitchFamily="2" charset="-122"/>
              </a:rPr>
              <a:t>表面淬火</a:t>
            </a:r>
            <a:endParaRPr lang="zh-CN" altLang="en-US" b="1" dirty="0">
              <a:solidFill>
                <a:srgbClr val="EF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zh-CN" altLang="en-US" b="1" dirty="0"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碳素工具钢、低合金工具钢：</a:t>
            </a:r>
            <a:r>
              <a:rPr lang="zh-CN" altLang="en-US" b="1" dirty="0">
                <a:solidFill>
                  <a:srgbClr val="EFFFFF"/>
                </a:solidFill>
                <a:ea typeface="华文中宋" panose="02010600040101010101" pitchFamily="2" charset="-122"/>
              </a:rPr>
              <a:t>用于尺寸小、形状简单、精度要求不高的量具。</a:t>
            </a:r>
            <a:endParaRPr lang="zh-CN" altLang="en-US" b="1" dirty="0">
              <a:solidFill>
                <a:srgbClr val="EF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⑶</a:t>
            </a:r>
            <a:r>
              <a:rPr lang="zh-CN" altLang="en-US" b="1" dirty="0">
                <a:solidFill>
                  <a:schemeClr val="folHlink"/>
                </a:solidFill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滚动轴承钢、冷作模具钢：</a:t>
            </a:r>
            <a:r>
              <a:rPr lang="zh-CN" altLang="en-US" b="1" dirty="0">
                <a:solidFill>
                  <a:srgbClr val="EFFFFF"/>
                </a:solidFill>
              </a:rPr>
              <a:t>制造精密量具</a:t>
            </a:r>
            <a:r>
              <a:rPr lang="zh-CN" altLang="en-US" b="1" dirty="0">
                <a:solidFill>
                  <a:srgbClr val="EFFFFF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b="1" dirty="0">
              <a:solidFill>
                <a:srgbClr val="EFFF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⑷</a:t>
            </a:r>
            <a:r>
              <a:rPr lang="en-US" altLang="zh-CN" b="1" dirty="0"/>
              <a:t>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不锈钢：</a:t>
            </a:r>
            <a:r>
              <a:rPr lang="zh-CN" altLang="en-US" b="1" dirty="0">
                <a:solidFill>
                  <a:srgbClr val="EFFFFF"/>
                </a:solidFill>
              </a:rPr>
              <a:t>制造接触腐蚀介质的量具。</a:t>
            </a:r>
            <a:r>
              <a:rPr lang="zh-CN" altLang="en-US" b="1" dirty="0">
                <a:solidFill>
                  <a:srgbClr val="EFFFFF"/>
                </a:solidFill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rgbClr val="EFFFFF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5797550" y="1341438"/>
            <a:ext cx="3346450" cy="3478212"/>
            <a:chOff x="2736" y="432"/>
            <a:chExt cx="2720" cy="2671"/>
          </a:xfrm>
        </p:grpSpPr>
        <p:grpSp>
          <p:nvGrpSpPr>
            <p:cNvPr id="128008" name="Group 6"/>
            <p:cNvGrpSpPr>
              <a:grpSpLocks noChangeAspect="1"/>
            </p:cNvGrpSpPr>
            <p:nvPr/>
          </p:nvGrpSpPr>
          <p:grpSpPr>
            <a:xfrm>
              <a:off x="2736" y="432"/>
              <a:ext cx="2720" cy="1508"/>
              <a:chOff x="3024" y="384"/>
              <a:chExt cx="2480" cy="1375"/>
            </a:xfrm>
          </p:grpSpPr>
          <p:pic>
            <p:nvPicPr>
              <p:cNvPr id="128011" name="Picture 7" descr="liangkuai量块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24" y="384"/>
                <a:ext cx="2480" cy="1375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28012" name="Rectangle 8"/>
              <p:cNvSpPr>
                <a:spLocks noChangeAspect="1"/>
              </p:cNvSpPr>
              <p:nvPr/>
            </p:nvSpPr>
            <p:spPr>
              <a:xfrm>
                <a:off x="3036" y="384"/>
                <a:ext cx="624" cy="768"/>
              </a:xfrm>
              <a:prstGeom prst="rect">
                <a:avLst/>
              </a:prstGeom>
              <a:solidFill>
                <a:srgbClr val="EFFFFF"/>
              </a:solidFill>
              <a:ln w="38100" cap="flat" cmpd="sng">
                <a:solidFill>
                  <a:srgbClr val="E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量块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28009" name="Picture 9" descr="電子卡尺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36" y="2160"/>
              <a:ext cx="2720" cy="88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28010" name="Text Box 10"/>
            <p:cNvSpPr txBox="1">
              <a:spLocks noChangeAspect="1"/>
            </p:cNvSpPr>
            <p:nvPr/>
          </p:nvSpPr>
          <p:spPr>
            <a:xfrm>
              <a:off x="3984" y="2798"/>
              <a:ext cx="1057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電子卡尺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800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5675" y="6595745"/>
            <a:ext cx="574675" cy="26225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05" y="0"/>
            <a:ext cx="8615680" cy="10007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三、量具钢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、量具钢的热处理特点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9028" name="Rectangle 3"/>
          <p:cNvSpPr>
            <a:spLocks noGrp="1"/>
          </p:cNvSpPr>
          <p:nvPr>
            <p:ph idx="1"/>
          </p:nvPr>
        </p:nvSpPr>
        <p:spPr>
          <a:xfrm>
            <a:off x="251143" y="1268413"/>
            <a:ext cx="6550025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00FF00"/>
                </a:solidFill>
                <a:ea typeface="华文中宋" panose="02010600040101010101" pitchFamily="2" charset="-122"/>
              </a:rPr>
              <a:t>⑴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淬火前预备热处理：</a:t>
            </a:r>
            <a:r>
              <a:rPr lang="zh-CN" altLang="en-US" b="1" dirty="0">
                <a:solidFill>
                  <a:srgbClr val="D1FFFF"/>
                </a:solidFill>
              </a:rPr>
              <a:t>采用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球化退火</a:t>
            </a:r>
            <a:r>
              <a:rPr lang="zh-CN" altLang="en-US" b="1" dirty="0">
                <a:solidFill>
                  <a:srgbClr val="D1FFFF"/>
                </a:solidFill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调质处理。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FF00"/>
                </a:solidFill>
              </a:rPr>
              <a:t>⑵</a:t>
            </a:r>
            <a:r>
              <a:rPr lang="zh-CN" altLang="en-US" b="1" dirty="0"/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下限温度淬火</a:t>
            </a:r>
            <a:r>
              <a:rPr lang="zh-CN" altLang="en-US" b="1" dirty="0">
                <a:solidFill>
                  <a:srgbClr val="D1FFFF"/>
                </a:solidFill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冷处理</a:t>
            </a:r>
            <a:r>
              <a:rPr lang="zh-CN" altLang="en-US" b="1" dirty="0">
                <a:solidFill>
                  <a:srgbClr val="D1FFFF"/>
                </a:solidFill>
              </a:rPr>
              <a:t>。目的是减少</a:t>
            </a:r>
            <a:r>
              <a:rPr lang="en-US" altLang="zh-CN" b="1" dirty="0">
                <a:solidFill>
                  <a:srgbClr val="D1FFFF"/>
                </a:solidFill>
              </a:rPr>
              <a:t>A’</a:t>
            </a:r>
            <a:r>
              <a:rPr lang="zh-CN" altLang="en-US" b="1" dirty="0">
                <a:solidFill>
                  <a:srgbClr val="D1FFFF"/>
                </a:solidFill>
              </a:rPr>
              <a:t>。</a:t>
            </a:r>
            <a:endParaRPr lang="zh-CN" altLang="en-US" b="1" dirty="0">
              <a:solidFill>
                <a:srgbClr val="D1FFFF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00FF00"/>
                </a:solidFill>
              </a:rPr>
              <a:t>⑶</a:t>
            </a:r>
            <a:r>
              <a:rPr lang="zh-CN" altLang="en-US" b="1" dirty="0">
                <a:solidFill>
                  <a:srgbClr val="CCFF33"/>
                </a:solidFill>
              </a:rPr>
              <a:t> 长时间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低温时效</a:t>
            </a:r>
            <a:r>
              <a:rPr lang="zh-CN" altLang="en-US" b="1" dirty="0">
                <a:solidFill>
                  <a:srgbClr val="CCFF33"/>
                </a:solidFill>
              </a:rPr>
              <a:t>，以消除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内应力</a:t>
            </a:r>
            <a:r>
              <a:rPr lang="zh-CN" altLang="en-US" b="1" dirty="0">
                <a:solidFill>
                  <a:srgbClr val="CCFF33"/>
                </a:solidFill>
              </a:rPr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降低</a:t>
            </a:r>
            <a:r>
              <a:rPr lang="zh-CN" altLang="en-US" b="1" dirty="0">
                <a:solidFill>
                  <a:srgbClr val="CCFF33"/>
                </a:solidFill>
              </a:rPr>
              <a:t>马氏体</a:t>
            </a:r>
            <a:r>
              <a:rPr lang="zh-CN" altLang="en-US" b="1" dirty="0">
                <a:solidFill>
                  <a:srgbClr val="D1FFFF"/>
                </a:solidFill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正方度</a:t>
            </a:r>
            <a:r>
              <a:rPr lang="zh-CN" altLang="en-US" b="1" dirty="0">
                <a:solidFill>
                  <a:srgbClr val="CCFF33"/>
                </a:solidFill>
              </a:rPr>
              <a:t>。</a:t>
            </a:r>
            <a:endParaRPr lang="zh-CN" altLang="en-US" b="1" dirty="0">
              <a:solidFill>
                <a:srgbClr val="CCFF33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436161" y="3356459"/>
            <a:ext cx="3506530" cy="2448604"/>
            <a:chOff x="2687" y="372"/>
            <a:chExt cx="2653" cy="2240"/>
          </a:xfrm>
        </p:grpSpPr>
        <p:pic>
          <p:nvPicPr>
            <p:cNvPr id="129033" name="Picture 6" descr="liangkui3量规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87" y="2019"/>
              <a:ext cx="2653" cy="59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29034" name="Picture 7" descr="liangkui4量规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4" y="372"/>
              <a:ext cx="1402" cy="147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29035" name="Rectangle 8"/>
            <p:cNvSpPr>
              <a:spLocks noChangeAspect="1"/>
            </p:cNvSpPr>
            <p:nvPr/>
          </p:nvSpPr>
          <p:spPr>
            <a:xfrm>
              <a:off x="3926" y="1558"/>
              <a:ext cx="505" cy="27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量规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903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13005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0052" name="Rectangle 2"/>
          <p:cNvSpPr>
            <a:spLocks noGrp="1"/>
          </p:cNvSpPr>
          <p:nvPr>
            <p:ph type="title"/>
          </p:nvPr>
        </p:nvSpPr>
        <p:spPr>
          <a:xfrm>
            <a:off x="1908175" y="0"/>
            <a:ext cx="6332855" cy="10033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4800" b="1" dirty="0"/>
              <a:t>常用量具用钢</a:t>
            </a:r>
            <a:endParaRPr lang="zh-CN" altLang="en-US" sz="4800" b="1" dirty="0"/>
          </a:p>
        </p:txBody>
      </p:sp>
      <p:sp>
        <p:nvSpPr>
          <p:cNvPr id="13005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130054" name="Picture 4" descr="T6-1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11188" y="1052513"/>
            <a:ext cx="8280400" cy="5805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876256" y="1317873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00FF"/>
                </a:solidFill>
              </a:rPr>
              <a:t>GB/T 1299-2014 </a:t>
            </a:r>
            <a:r>
              <a:rPr lang="zh-CN" altLang="en-US" sz="1200" dirty="0">
                <a:solidFill>
                  <a:srgbClr val="0000FF"/>
                </a:solidFill>
              </a:rPr>
              <a:t>工模具钢</a:t>
            </a:r>
            <a:endParaRPr lang="zh-CN" altLang="en-US" sz="1200" dirty="0">
              <a:solidFill>
                <a:srgbClr val="0000FF"/>
              </a:solidFill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501380" y="6595110"/>
            <a:ext cx="528320" cy="26289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8786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19685" y="1124744"/>
            <a:ext cx="8938007" cy="5184576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第五节  特殊性能钢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Special Properties Steel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Steels with Special Performance</a:t>
            </a:r>
            <a:r>
              <a:rPr kumimoji="1" lang="zh-CN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 </a:t>
            </a:r>
            <a:endParaRPr kumimoji="1" lang="zh-CN" altLang="en-US" sz="6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</a:endParaRPr>
          </a:p>
        </p:txBody>
      </p:sp>
      <p:sp>
        <p:nvSpPr>
          <p:cNvPr id="13107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29248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501380" y="6595110"/>
            <a:ext cx="528320" cy="26289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8786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1619250" y="115888"/>
            <a:ext cx="6689725" cy="8128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第五节  特殊性能钢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8787" name="Text Box 2051"/>
          <p:cNvSpPr txBox="1">
            <a:spLocks noChangeArrowheads="1"/>
          </p:cNvSpPr>
          <p:nvPr/>
        </p:nvSpPr>
        <p:spPr bwMode="auto">
          <a:xfrm>
            <a:off x="393065" y="1128395"/>
            <a:ext cx="5048250" cy="33407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华文中宋" panose="02010600040101010101" pitchFamily="2" charset="-122"/>
                <a:cs typeface="+mn-cs"/>
              </a:rPr>
              <a:t>特殊性能钢：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具有特殊</a:t>
            </a:r>
            <a:r>
              <a:rPr kumimoji="1"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华文中宋" panose="02010600040101010101" pitchFamily="2" charset="-122"/>
                <a:cs typeface="+mn-cs"/>
              </a:rPr>
              <a:t>物理、化学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性能的钢。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种类很多，性能各异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只介绍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不锈钢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和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耐热钢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。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CCFF33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118795" name="Picture 2059" descr="化工厂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705475" y="1600835"/>
            <a:ext cx="3324225" cy="3684270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3107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10077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971550" y="1340485"/>
            <a:ext cx="212471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特殊性能钢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/>
      <p:bldP spid="118787" grpId="0" bldLvl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50990"/>
            <a:ext cx="528320" cy="2070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2099" name="Rectangle 2"/>
          <p:cNvSpPr>
            <a:spLocks noGrp="1"/>
          </p:cNvSpPr>
          <p:nvPr>
            <p:ph type="title"/>
          </p:nvPr>
        </p:nvSpPr>
        <p:spPr>
          <a:xfrm>
            <a:off x="1101716" y="1700808"/>
            <a:ext cx="6940568" cy="2491122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dirty="0">
                <a:solidFill>
                  <a:srgbClr val="FF0000"/>
                </a:solidFill>
              </a:rPr>
              <a:t>一、不锈钢</a:t>
            </a:r>
            <a:br>
              <a:rPr lang="en-US" altLang="zh-CN" sz="6600" b="1" dirty="0"/>
            </a:br>
            <a:r>
              <a:rPr lang="en-US" altLang="zh-CN" sz="6600" b="1" i="1" dirty="0">
                <a:solidFill>
                  <a:srgbClr val="FF0000"/>
                </a:solidFill>
                <a:latin typeface="+mn-lt"/>
              </a:rPr>
              <a:t>Stainless Steels</a:t>
            </a:r>
            <a:endParaRPr lang="zh-CN" altLang="en-US" sz="6600" b="1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210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650990"/>
            <a:ext cx="1763688" cy="20701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293497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50990"/>
            <a:ext cx="528320" cy="2070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210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650990"/>
            <a:ext cx="1763688" cy="20701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18599" t="11165" r="19964" b="3883"/>
          <a:stretch>
            <a:fillRect/>
          </a:stretch>
        </p:blipFill>
        <p:spPr>
          <a:xfrm>
            <a:off x="209404" y="980728"/>
            <a:ext cx="3240360" cy="25202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31100" t="12200" r="31888" b="3801"/>
          <a:stretch>
            <a:fillRect/>
          </a:stretch>
        </p:blipFill>
        <p:spPr>
          <a:xfrm>
            <a:off x="104091" y="800708"/>
            <a:ext cx="4230470" cy="540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l="34250" t="12200" r="35038" b="10801"/>
          <a:stretch>
            <a:fillRect/>
          </a:stretch>
        </p:blipFill>
        <p:spPr>
          <a:xfrm>
            <a:off x="4809441" y="800708"/>
            <a:ext cx="3829516" cy="54006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650990"/>
            <a:ext cx="528320" cy="20701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2099" name="Rectangle 2"/>
          <p:cNvSpPr>
            <a:spLocks noGrp="1"/>
          </p:cNvSpPr>
          <p:nvPr>
            <p:ph type="title"/>
          </p:nvPr>
        </p:nvSpPr>
        <p:spPr>
          <a:xfrm>
            <a:off x="1476375" y="1"/>
            <a:ext cx="5109747" cy="85725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/>
              <a:t>一、不锈钢</a:t>
            </a:r>
            <a:endParaRPr lang="zh-CN" altLang="en-US" b="1" dirty="0"/>
          </a:p>
        </p:txBody>
      </p:sp>
      <p:sp>
        <p:nvSpPr>
          <p:cNvPr id="132100" name="Rectangle 3"/>
          <p:cNvSpPr>
            <a:spLocks noGrp="1"/>
          </p:cNvSpPr>
          <p:nvPr>
            <p:ph idx="1"/>
          </p:nvPr>
        </p:nvSpPr>
        <p:spPr>
          <a:xfrm>
            <a:off x="107950" y="857250"/>
            <a:ext cx="7343775" cy="5643563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30000"/>
              </a:lnSpc>
            </a:pPr>
            <a:r>
              <a:rPr lang="en-US" altLang="zh-CN" b="1" dirty="0"/>
              <a:t>            </a:t>
            </a:r>
            <a:r>
              <a:rPr lang="zh-CN" altLang="en-US" b="1" dirty="0"/>
              <a:t>：</a:t>
            </a:r>
            <a:r>
              <a:rPr lang="zh-CN" altLang="en-US" sz="2800" b="1" dirty="0"/>
              <a:t>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腐蚀介质</a:t>
            </a:r>
            <a:r>
              <a:rPr lang="zh-CN" altLang="en-US" sz="2800" b="1" dirty="0"/>
              <a:t>中具有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耐蚀性能</a:t>
            </a:r>
            <a:r>
              <a:rPr lang="zh-CN" altLang="en-US" sz="2800" b="1" dirty="0"/>
              <a:t>的钢。</a:t>
            </a:r>
            <a:endParaRPr lang="zh-CN" altLang="en-US" sz="2800" b="1" dirty="0"/>
          </a:p>
          <a:p>
            <a:pPr eaLnBrk="1" latinLnBrk="0" hangingPunct="1">
              <a:lnSpc>
                <a:spcPct val="130000"/>
              </a:lnSpc>
              <a:spcBef>
                <a:spcPts val="0"/>
              </a:spcBef>
            </a:pPr>
            <a:r>
              <a:rPr lang="zh-CN" altLang="en-US" sz="2800" b="1" dirty="0"/>
              <a:t>工业发达国家每年金属腐蚀造成的直接经济损失占</a:t>
            </a:r>
            <a:r>
              <a:rPr lang="en-US" altLang="zh-CN" sz="2800" b="1" dirty="0">
                <a:solidFill>
                  <a:srgbClr val="CCFF33"/>
                </a:solidFill>
              </a:rPr>
              <a:t>GNP</a:t>
            </a:r>
            <a:r>
              <a:rPr lang="zh-CN" altLang="en-US" sz="2800" b="1" dirty="0"/>
              <a:t>的</a:t>
            </a:r>
            <a:r>
              <a:rPr lang="en-US" altLang="zh-CN" sz="2800" b="1" dirty="0">
                <a:solidFill>
                  <a:schemeClr val="tx2"/>
                </a:solidFill>
              </a:rPr>
              <a:t>4%</a:t>
            </a:r>
            <a:r>
              <a:rPr lang="zh-CN" altLang="en-US" sz="2800" b="1" dirty="0"/>
              <a:t>左右。中国每年腐蚀的损失至少达</a:t>
            </a:r>
            <a:r>
              <a:rPr lang="en-US" altLang="zh-CN" sz="2800" b="1" dirty="0">
                <a:solidFill>
                  <a:srgbClr val="CCFF33"/>
                </a:solidFill>
              </a:rPr>
              <a:t>400</a:t>
            </a:r>
            <a:r>
              <a:rPr lang="zh-CN" altLang="en-US" sz="2800" b="1" dirty="0">
                <a:solidFill>
                  <a:srgbClr val="CCFF33"/>
                </a:solidFill>
              </a:rPr>
              <a:t>亿元</a:t>
            </a:r>
            <a:r>
              <a:rPr lang="zh-CN" altLang="en-US" sz="2800" b="1" dirty="0"/>
              <a:t>以上。</a:t>
            </a:r>
            <a:endParaRPr lang="en-US" altLang="zh-CN" sz="2800" b="1" dirty="0"/>
          </a:p>
          <a:p>
            <a:pPr eaLnBrk="1" latinLnBrk="0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</a:rPr>
              <a:t>㈠ </a:t>
            </a:r>
            <a:r>
              <a:rPr lang="zh-CN" altLang="en-US" sz="2800" b="1" dirty="0">
                <a:solidFill>
                  <a:schemeClr val="folHlink"/>
                </a:solidFill>
              </a:rPr>
              <a:t>金属的腐蚀</a:t>
            </a:r>
            <a:endParaRPr lang="zh-CN" altLang="en-US" sz="2800" b="1" dirty="0">
              <a:solidFill>
                <a:schemeClr val="folHlink"/>
              </a:solidFill>
            </a:endParaRPr>
          </a:p>
          <a:p>
            <a:pPr eaLnBrk="1" latinLnBrk="0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金属的腐蚀</a:t>
            </a:r>
            <a:r>
              <a:rPr lang="zh-CN" altLang="en-US" sz="2800" b="1" dirty="0">
                <a:solidFill>
                  <a:schemeClr val="folHlink"/>
                </a:solidFill>
              </a:rPr>
              <a:t>：</a:t>
            </a:r>
            <a:r>
              <a:rPr lang="zh-CN" altLang="en-US" sz="2800" b="1" dirty="0">
                <a:solidFill>
                  <a:srgbClr val="CCFF33"/>
                </a:solidFill>
              </a:rPr>
              <a:t>化学腐蚀、电化学腐蚀</a:t>
            </a:r>
            <a:r>
              <a:rPr lang="zh-CN" altLang="en-US" sz="2800" b="1" dirty="0">
                <a:solidFill>
                  <a:schemeClr val="folHlink"/>
                </a:solidFill>
              </a:rPr>
              <a:t>。</a:t>
            </a:r>
            <a:endParaRPr lang="zh-CN" altLang="en-US" sz="2800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化学腐蚀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CCFF33"/>
                </a:solidFill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</a:rPr>
              <a:t>金属在非电解质中的腐蚀。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电化学腐蚀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</a:t>
            </a:r>
            <a:r>
              <a:rPr lang="zh-CN" altLang="en-US" sz="2800" b="1" dirty="0">
                <a:solidFill>
                  <a:srgbClr val="CCFF33"/>
                </a:solidFill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</a:rPr>
              <a:t>金属在</a:t>
            </a:r>
            <a:r>
              <a:rPr lang="zh-CN" altLang="en-US" sz="2800" b="1" dirty="0">
                <a:solidFill>
                  <a:schemeClr val="folHlink"/>
                </a:solidFill>
              </a:rPr>
              <a:t>电解质溶液</a:t>
            </a:r>
            <a:r>
              <a:rPr lang="zh-CN" altLang="en-US" sz="2800" b="1" dirty="0">
                <a:ea typeface="华文中宋" panose="02010600040101010101" pitchFamily="2" charset="-122"/>
              </a:rPr>
              <a:t>中的腐蚀，是有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电流参与</a:t>
            </a:r>
            <a:r>
              <a:rPr lang="zh-CN" altLang="en-US" sz="2800" b="1" dirty="0">
                <a:ea typeface="华文中宋" panose="02010600040101010101" pitchFamily="2" charset="-122"/>
              </a:rPr>
              <a:t>作用的腐蚀。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132102" name="Group 12"/>
          <p:cNvGrpSpPr/>
          <p:nvPr/>
        </p:nvGrpSpPr>
        <p:grpSpPr>
          <a:xfrm>
            <a:off x="7406248" y="3786188"/>
            <a:ext cx="1550773" cy="2574925"/>
            <a:chOff x="2963" y="2160"/>
            <a:chExt cx="1605" cy="1713"/>
          </a:xfrm>
        </p:grpSpPr>
        <p:pic>
          <p:nvPicPr>
            <p:cNvPr id="132107" name="Picture 6" descr="8_38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63" y="2160"/>
              <a:ext cx="1528" cy="171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2108" name="Text Box 7"/>
            <p:cNvSpPr txBox="1">
              <a:spLocks noChangeAspect="1"/>
            </p:cNvSpPr>
            <p:nvPr/>
          </p:nvSpPr>
          <p:spPr>
            <a:xfrm>
              <a:off x="4090" y="2160"/>
              <a:ext cx="478" cy="1200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square">
              <a:spAutoFit/>
            </a:bodyPr>
            <a:lstStyle/>
            <a:p>
              <a:pPr lvl="0" algn="l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化工管道的腐蚀</a:t>
              </a:r>
              <a:endPara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2103" name="Group 11"/>
          <p:cNvGrpSpPr/>
          <p:nvPr/>
        </p:nvGrpSpPr>
        <p:grpSpPr>
          <a:xfrm>
            <a:off x="7358063" y="1053077"/>
            <a:ext cx="1619250" cy="2449513"/>
            <a:chOff x="4513" y="900"/>
            <a:chExt cx="1247" cy="1714"/>
          </a:xfrm>
        </p:grpSpPr>
        <p:pic>
          <p:nvPicPr>
            <p:cNvPr id="132105" name="Picture 9" descr="7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0" y="900"/>
              <a:ext cx="1210" cy="171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2106" name="Text Box 10"/>
            <p:cNvSpPr txBox="1">
              <a:spLocks noChangeAspect="1"/>
            </p:cNvSpPr>
            <p:nvPr/>
          </p:nvSpPr>
          <p:spPr>
            <a:xfrm>
              <a:off x="4513" y="950"/>
              <a:ext cx="653" cy="121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裂解管内壁的高温腐蚀减薄</a:t>
              </a:r>
              <a:endPara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210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842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395605" y="908685"/>
            <a:ext cx="129984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不锈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钢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5"/>
            </p:custDataLst>
          </p:nvPr>
        </p:nvSpPr>
        <p:spPr>
          <a:xfrm>
            <a:off x="395605" y="4652645"/>
            <a:ext cx="169227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化学腐蚀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6"/>
            </p:custDataLst>
          </p:nvPr>
        </p:nvSpPr>
        <p:spPr>
          <a:xfrm>
            <a:off x="395605" y="5300980"/>
            <a:ext cx="210058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电化学腐蚀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2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2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2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2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2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2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2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2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2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648" y="-101097"/>
            <a:ext cx="6910388" cy="1091697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防止电化学腐蚀的措施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3124" name="Rectangle 3"/>
          <p:cNvSpPr>
            <a:spLocks noGrp="1"/>
          </p:cNvSpPr>
          <p:nvPr>
            <p:ph idx="1"/>
          </p:nvPr>
        </p:nvSpPr>
        <p:spPr>
          <a:xfrm>
            <a:off x="250825" y="1412875"/>
            <a:ext cx="5905500" cy="467995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</a:t>
            </a:r>
            <a:r>
              <a:rPr lang="zh-CN" altLang="en-US" b="1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获得均匀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单相组织；</a:t>
            </a:r>
            <a:endParaRPr lang="zh-CN" altLang="en-US" b="1" dirty="0">
              <a:solidFill>
                <a:srgbClr val="FFFF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提高合金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电极电位；</a:t>
            </a:r>
            <a:endParaRPr lang="zh-CN" altLang="en-US" b="1" dirty="0">
              <a:solidFill>
                <a:srgbClr val="FFFF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③ 使表面形成致密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钝化膜。</a:t>
            </a:r>
            <a:endParaRPr lang="en-US" altLang="zh-CN" b="1" dirty="0">
              <a:solidFill>
                <a:srgbClr val="FFFF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rgbClr val="CCFF33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说明</a:t>
            </a:r>
            <a:r>
              <a:rPr lang="zh-CN" altLang="en-US" b="1" dirty="0">
                <a:solidFill>
                  <a:srgbClr val="CCFF33"/>
                </a:solidFill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不同组织、成分、应力区域之间都可构成</a:t>
            </a:r>
            <a:r>
              <a:rPr lang="zh-CN" altLang="en-US" b="1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微电池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FFFF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rgbClr val="FFFF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33125" name="Picture 6" descr="8_40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424930" y="3949700"/>
            <a:ext cx="2626360" cy="2165985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33126" name="Rectangle 7"/>
          <p:cNvSpPr/>
          <p:nvPr/>
        </p:nvSpPr>
        <p:spPr>
          <a:xfrm>
            <a:off x="6515735" y="5732780"/>
            <a:ext cx="2416175" cy="360045"/>
          </a:xfrm>
          <a:prstGeom prst="rect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珠光体腐蚀示意图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3127" name="Group 10"/>
          <p:cNvGrpSpPr/>
          <p:nvPr/>
        </p:nvGrpSpPr>
        <p:grpSpPr>
          <a:xfrm>
            <a:off x="6423978" y="1309688"/>
            <a:ext cx="2627312" cy="2520950"/>
            <a:chOff x="3408" y="288"/>
            <a:chExt cx="2040" cy="1950"/>
          </a:xfrm>
        </p:grpSpPr>
        <p:pic>
          <p:nvPicPr>
            <p:cNvPr id="133132" name="Picture 11" descr="8_39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8" y="288"/>
              <a:ext cx="2040" cy="195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3133" name="Rectangle 12"/>
            <p:cNvSpPr/>
            <p:nvPr/>
          </p:nvSpPr>
          <p:spPr>
            <a:xfrm>
              <a:off x="3492" y="1936"/>
              <a:ext cx="1884" cy="28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Zn-Cu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原电池示意图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128" name="Rectangle 13"/>
          <p:cNvSpPr/>
          <p:nvPr/>
        </p:nvSpPr>
        <p:spPr>
          <a:xfrm>
            <a:off x="6731000" y="1985963"/>
            <a:ext cx="320675" cy="319087"/>
          </a:xfrm>
          <a:prstGeom prst="rect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Zn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33129" name="Rectangle 14"/>
          <p:cNvSpPr/>
          <p:nvPr/>
        </p:nvSpPr>
        <p:spPr>
          <a:xfrm>
            <a:off x="6634163" y="3144838"/>
            <a:ext cx="241300" cy="192087"/>
          </a:xfrm>
          <a:prstGeom prst="rect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Zn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3313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842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89328" y="6597351"/>
            <a:ext cx="528637" cy="265093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-107155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㈡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不锈钢中合金元素的作用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4148" name="Rectangle 3"/>
          <p:cNvSpPr>
            <a:spLocks noGrp="1"/>
          </p:cNvSpPr>
          <p:nvPr>
            <p:ph idx="1"/>
          </p:nvPr>
        </p:nvSpPr>
        <p:spPr>
          <a:xfrm>
            <a:off x="179388" y="1214438"/>
            <a:ext cx="7321550" cy="50942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、低碳：</a:t>
            </a:r>
            <a:r>
              <a:rPr lang="zh-CN" altLang="en-US" b="1" dirty="0">
                <a:ea typeface="华文中宋" panose="02010600040101010101" pitchFamily="2" charset="-122"/>
              </a:rPr>
              <a:t>碳高，则降低耐蚀性。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提高耐蚀性的主要元素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    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    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①</a:t>
            </a:r>
            <a:r>
              <a:rPr lang="zh-CN" altLang="en-US" b="1" dirty="0">
                <a:solidFill>
                  <a:srgbClr val="D1FFFF"/>
                </a:solidFill>
                <a:ea typeface="华文中宋" panose="02010600040101010101" pitchFamily="2" charset="-122"/>
              </a:rPr>
              <a:t> 形成稳定</a:t>
            </a:r>
            <a:r>
              <a:rPr lang="zh-CN" altLang="en-US" b="1" dirty="0">
                <a:solidFill>
                  <a:schemeClr val="folHlink"/>
                </a:solidFill>
              </a:rPr>
              <a:t>致密的</a:t>
            </a:r>
            <a:r>
              <a:rPr lang="en-US" altLang="zh-CN" b="1" dirty="0">
                <a:solidFill>
                  <a:schemeClr val="folHlink"/>
                </a:solidFill>
              </a:rPr>
              <a:t>Cr</a:t>
            </a:r>
            <a:r>
              <a:rPr lang="en-US" altLang="zh-CN" b="1" baseline="-25000" dirty="0">
                <a:solidFill>
                  <a:schemeClr val="folHlink"/>
                </a:solidFill>
              </a:rPr>
              <a:t>2</a:t>
            </a:r>
            <a:r>
              <a:rPr lang="en-US" altLang="zh-CN" b="1" dirty="0">
                <a:solidFill>
                  <a:schemeClr val="folHlink"/>
                </a:solidFill>
              </a:rPr>
              <a:t>O</a:t>
            </a:r>
            <a:r>
              <a:rPr lang="en-US" altLang="zh-CN" b="1" baseline="-25000" dirty="0">
                <a:solidFill>
                  <a:schemeClr val="folHlink"/>
                </a:solidFill>
              </a:rPr>
              <a:t>3</a:t>
            </a:r>
            <a:r>
              <a:rPr lang="zh-CN" altLang="en-US" b="1" dirty="0">
                <a:solidFill>
                  <a:schemeClr val="folHlink"/>
                </a:solidFill>
              </a:rPr>
              <a:t>氧化膜；</a:t>
            </a:r>
            <a:endParaRPr lang="en-US" altLang="zh-CN" b="1" dirty="0">
              <a:solidFill>
                <a:srgbClr val="D1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chemeClr val="accent1"/>
                </a:solidFill>
              </a:rPr>
              <a:t>        ②</a:t>
            </a:r>
            <a:r>
              <a:rPr lang="en-US" altLang="zh-CN" b="1" dirty="0">
                <a:solidFill>
                  <a:srgbClr val="D1FFFF"/>
                </a:solidFill>
              </a:rPr>
              <a:t> Cr</a:t>
            </a:r>
            <a:r>
              <a:rPr lang="zh-CN" altLang="en-US" b="1" dirty="0">
                <a:solidFill>
                  <a:srgbClr val="D1FFFF"/>
                </a:solidFill>
              </a:rPr>
              <a:t>含量大于</a:t>
            </a:r>
            <a:r>
              <a:rPr lang="en-US" altLang="zh-CN" b="1" dirty="0">
                <a:solidFill>
                  <a:srgbClr val="D1FFFF"/>
                </a:solidFill>
              </a:rPr>
              <a:t>13%</a:t>
            </a:r>
            <a:r>
              <a:rPr lang="zh-CN" altLang="en-US" b="1" dirty="0">
                <a:solidFill>
                  <a:srgbClr val="D1FFFF"/>
                </a:solidFill>
              </a:rPr>
              <a:t>时，形成</a:t>
            </a:r>
            <a:r>
              <a:rPr lang="zh-CN" altLang="en-US" b="1" dirty="0">
                <a:solidFill>
                  <a:schemeClr val="folHlink"/>
                </a:solidFill>
              </a:rPr>
              <a:t>单相铁素体组织；</a:t>
            </a:r>
            <a:endParaRPr lang="zh-CN" altLang="en-US" b="1" dirty="0">
              <a:solidFill>
                <a:srgbClr val="D1FF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chemeClr val="accent1"/>
                </a:solidFill>
              </a:rPr>
              <a:t>   </a:t>
            </a:r>
            <a:r>
              <a:rPr lang="en-US" altLang="zh-CN" b="1" dirty="0">
                <a:solidFill>
                  <a:schemeClr val="accent1"/>
                </a:solidFill>
              </a:rPr>
              <a:t>    </a:t>
            </a:r>
            <a:r>
              <a:rPr lang="zh-CN" altLang="en-US" b="1" dirty="0">
                <a:solidFill>
                  <a:schemeClr val="folHlink"/>
                </a:solidFill>
              </a:rPr>
              <a:t>③ 提高基体电极电位</a:t>
            </a:r>
            <a:r>
              <a:rPr lang="en-US" altLang="zh-CN" b="1" dirty="0">
                <a:solidFill>
                  <a:schemeClr val="folHlink"/>
                </a:solidFill>
              </a:rPr>
              <a:t>(n/8</a:t>
            </a:r>
            <a:r>
              <a:rPr lang="zh-CN" altLang="en-US" b="1" dirty="0">
                <a:solidFill>
                  <a:schemeClr val="folHlink"/>
                </a:solidFill>
              </a:rPr>
              <a:t>规律</a:t>
            </a:r>
            <a:r>
              <a:rPr lang="en-US" altLang="zh-CN" b="1" dirty="0">
                <a:solidFill>
                  <a:schemeClr val="folHlink"/>
                </a:solidFill>
              </a:rPr>
              <a:t>)</a:t>
            </a: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folHlink"/>
                </a:solidFill>
              </a:rPr>
              <a:t>3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Ni</a:t>
            </a:r>
            <a:r>
              <a:rPr lang="zh-CN" altLang="en-US" b="1" dirty="0">
                <a:solidFill>
                  <a:schemeClr val="folHlink"/>
                </a:solidFill>
              </a:rPr>
              <a:t>：获得单相奥氏体组织。</a:t>
            </a:r>
            <a:r>
              <a:rPr lang="zh-CN" altLang="en-US" b="1" dirty="0"/>
              <a:t> 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folHlink"/>
                </a:solidFill>
              </a:rPr>
              <a:t>4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Mo</a:t>
            </a:r>
            <a:r>
              <a:rPr lang="zh-CN" altLang="en-US" b="1" dirty="0">
                <a:solidFill>
                  <a:schemeClr val="folHlink"/>
                </a:solidFill>
              </a:rPr>
              <a:t>：</a:t>
            </a:r>
            <a:r>
              <a:rPr lang="zh-CN" altLang="en-US" b="1" dirty="0">
                <a:solidFill>
                  <a:srgbClr val="CCFF33"/>
                </a:solidFill>
              </a:rPr>
              <a:t>耐有机酸腐蚀。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folHlink"/>
                </a:solidFill>
              </a:rPr>
              <a:t>5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Ti, Nb: </a:t>
            </a:r>
            <a:r>
              <a:rPr lang="zh-CN" altLang="en-US" b="1" dirty="0"/>
              <a:t>防止奥氏体钢</a:t>
            </a:r>
            <a:r>
              <a:rPr lang="zh-CN" altLang="en-US" b="1" dirty="0">
                <a:solidFill>
                  <a:schemeClr val="folHlink"/>
                </a:solidFill>
              </a:rPr>
              <a:t>晶间腐蚀</a:t>
            </a:r>
            <a:r>
              <a:rPr lang="zh-CN" altLang="en-US" b="1" dirty="0">
                <a:solidFill>
                  <a:srgbClr val="CCFF33"/>
                </a:solidFill>
              </a:rPr>
              <a:t>。</a:t>
            </a:r>
            <a:endParaRPr lang="en-US" altLang="zh-CN" b="1" dirty="0"/>
          </a:p>
        </p:txBody>
      </p:sp>
      <p:pic>
        <p:nvPicPr>
          <p:cNvPr id="134150" name="Picture 6" descr="不锈钢管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500938" y="3968750"/>
            <a:ext cx="1439862" cy="2339975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34151" name="Picture 7" descr="不锈钢异形管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29500" y="1571625"/>
            <a:ext cx="1547813" cy="215900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3415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842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3925" y="6510338"/>
            <a:ext cx="600075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0"/>
            <a:ext cx="6116955" cy="7080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晶间腐蚀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01059" name="Rectangle 3"/>
          <p:cNvSpPr>
            <a:spLocks noGrp="1" noChangeArrowheads="1"/>
          </p:cNvSpPr>
          <p:nvPr>
            <p:ph idx="1"/>
          </p:nvPr>
        </p:nvSpPr>
        <p:spPr>
          <a:xfrm>
            <a:off x="21156" y="960574"/>
            <a:ext cx="9139274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晶间腐蚀：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D1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沿晶界发生腐蚀的现象，危害很大。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D1FF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原因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由于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Cr</a:t>
            </a:r>
            <a:r>
              <a:rPr kumimoji="1" lang="en-US" altLang="zh-CN" b="1" i="0" u="none" strike="noStrike" kern="0" cap="none" spc="0" normalizeH="0" baseline="-30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23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b="1" i="0" u="none" strike="noStrike" kern="0" cap="none" spc="0" normalizeH="0" baseline="-30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6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析出于晶界，使晶界附近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Cr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含量降到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12%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以下，在介质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作用下发生强烈腐蚀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D1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D1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预防措施：加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Ti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Nb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则先于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Cr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与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形成不易溶于奥氏体的碳化物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避免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晶界贫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Cr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D1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835150" y="4221088"/>
            <a:ext cx="7113112" cy="2178580"/>
            <a:chOff x="333" y="2282"/>
            <a:chExt cx="4979" cy="1759"/>
          </a:xfrm>
        </p:grpSpPr>
        <p:grpSp>
          <p:nvGrpSpPr>
            <p:cNvPr id="135176" name="Group 5"/>
            <p:cNvGrpSpPr/>
            <p:nvPr/>
          </p:nvGrpSpPr>
          <p:grpSpPr>
            <a:xfrm>
              <a:off x="333" y="2308"/>
              <a:ext cx="1968" cy="1700"/>
              <a:chOff x="295" y="2260"/>
              <a:chExt cx="1968" cy="1700"/>
            </a:xfrm>
          </p:grpSpPr>
          <p:pic>
            <p:nvPicPr>
              <p:cNvPr id="135180" name="Picture 6" descr="chromium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432" y="2260"/>
                <a:ext cx="1700" cy="170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01063" name="Text Box 7"/>
              <p:cNvSpPr txBox="1">
                <a:spLocks noChangeArrowheads="1"/>
              </p:cNvSpPr>
              <p:nvPr/>
            </p:nvSpPr>
            <p:spPr bwMode="auto">
              <a:xfrm>
                <a:off x="295" y="3656"/>
                <a:ext cx="1968" cy="24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奥氏体不锈钢晶界的</a:t>
                </a:r>
                <a:r>
                  <a:rPr kumimoji="1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  <a:cs typeface="+mn-cs"/>
                  </a:rPr>
                  <a:t>Cr</a:t>
                </a:r>
                <a:r>
                  <a:rPr kumimoji="1" lang="en-US" altLang="zh-CN" sz="1400" b="1" i="0" u="none" strike="noStrike" kern="1200" cap="none" spc="0" normalizeH="0" baseline="-3000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  <a:cs typeface="+mn-cs"/>
                  </a:rPr>
                  <a:t>23</a:t>
                </a:r>
                <a:r>
                  <a:rPr kumimoji="1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  <a:cs typeface="+mn-cs"/>
                  </a:rPr>
                  <a:t>C</a:t>
                </a:r>
                <a:r>
                  <a:rPr kumimoji="1" lang="en-US" altLang="zh-CN" sz="1400" b="1" i="0" u="none" strike="noStrike" kern="1200" cap="none" spc="0" normalizeH="0" baseline="-3000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  <a:cs typeface="+mn-cs"/>
                  </a:rPr>
                  <a:t>6</a:t>
                </a: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  <a:cs typeface="+mn-cs"/>
                  </a:rPr>
                  <a:t>析出</a:t>
                </a:r>
                <a:endPara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中宋" panose="02010600040101010101" pitchFamily="2" charset="-122"/>
                  <a:cs typeface="+mn-cs"/>
                </a:endParaRPr>
              </a:p>
            </p:txBody>
          </p:sp>
        </p:grpSp>
        <p:grpSp>
          <p:nvGrpSpPr>
            <p:cNvPr id="135177" name="Group 8"/>
            <p:cNvGrpSpPr/>
            <p:nvPr/>
          </p:nvGrpSpPr>
          <p:grpSpPr>
            <a:xfrm>
              <a:off x="3083" y="2282"/>
              <a:ext cx="2229" cy="1759"/>
              <a:chOff x="3045" y="2234"/>
              <a:chExt cx="2229" cy="1759"/>
            </a:xfrm>
          </p:grpSpPr>
          <p:pic>
            <p:nvPicPr>
              <p:cNvPr id="135178" name="Picture 9" descr="图像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45" y="2234"/>
                <a:ext cx="2229" cy="172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35179" name="Text Box 10"/>
              <p:cNvSpPr txBox="1"/>
              <p:nvPr/>
            </p:nvSpPr>
            <p:spPr>
              <a:xfrm>
                <a:off x="3045" y="3697"/>
                <a:ext cx="816" cy="2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晶间腐蚀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3517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842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395605" y="1052830"/>
            <a:ext cx="169227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晶间腐蚀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29625" y="6510338"/>
            <a:ext cx="600075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6687185" cy="844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晶间腐蚀破坏</a:t>
            </a:r>
            <a:endParaRPr kumimoji="1" lang="zh-CN" altLang="en-US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10"/>
          <p:cNvGrpSpPr>
            <a:grpSpLocks noChangeAspect="1"/>
          </p:cNvGrpSpPr>
          <p:nvPr/>
        </p:nvGrpSpPr>
        <p:grpSpPr>
          <a:xfrm>
            <a:off x="2485542" y="1124434"/>
            <a:ext cx="5385749" cy="4426536"/>
            <a:chOff x="1016" y="171"/>
            <a:chExt cx="4588" cy="3771"/>
          </a:xfrm>
        </p:grpSpPr>
        <p:pic>
          <p:nvPicPr>
            <p:cNvPr id="136199" name="Picture 4" descr="fireplu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628" y="171"/>
              <a:ext cx="3229" cy="2151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36200" name="Picture 5" descr="齿轮架的晶间腐蚀破坏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2" y="2470"/>
              <a:ext cx="2292" cy="1472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36201" name="Picture 6" descr="COR0499-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6" y="2447"/>
              <a:ext cx="2214" cy="1465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6202" name="Text Box 7"/>
            <p:cNvSpPr txBox="1">
              <a:spLocks noChangeAspect="1"/>
            </p:cNvSpPr>
            <p:nvPr/>
          </p:nvSpPr>
          <p:spPr>
            <a:xfrm>
              <a:off x="1902" y="2447"/>
              <a:ext cx="1322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304</a:t>
              </a: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不锈钢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203" name="Text Box 8"/>
            <p:cNvSpPr txBox="1">
              <a:spLocks noChangeAspect="1"/>
            </p:cNvSpPr>
            <p:nvPr/>
          </p:nvSpPr>
          <p:spPr>
            <a:xfrm>
              <a:off x="2352" y="240"/>
              <a:ext cx="960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消火栓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204" name="Text Box 9"/>
            <p:cNvSpPr txBox="1">
              <a:spLocks noChangeAspect="1"/>
            </p:cNvSpPr>
            <p:nvPr/>
          </p:nvSpPr>
          <p:spPr>
            <a:xfrm>
              <a:off x="3742" y="2470"/>
              <a:ext cx="1008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齿轮架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619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842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bldLvl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6662" y="-79374"/>
            <a:ext cx="6670675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㈢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常用不锈钢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7220" name="Rectangle 3"/>
          <p:cNvSpPr>
            <a:spLocks noGrp="1"/>
          </p:cNvSpPr>
          <p:nvPr>
            <p:ph idx="1"/>
          </p:nvPr>
        </p:nvSpPr>
        <p:spPr>
          <a:xfrm>
            <a:off x="385966" y="1044099"/>
            <a:ext cx="8492430" cy="5385594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、马氏体不锈钢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主要是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Cr13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型</a:t>
            </a:r>
            <a:r>
              <a:rPr lang="zh-CN" altLang="en-US" b="1" dirty="0">
                <a:ea typeface="华文中宋" panose="02010600040101010101" pitchFamily="2" charset="-122"/>
              </a:rPr>
              <a:t>不锈钢：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钢号为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1Cr13~4Cr13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、铁素体不锈钢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  典型钢号：如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0Cr13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1Cr17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等。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奥氏体不锈钢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主要是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18-8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18Cr-8Ni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）型不锈钢。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sp>
        <p:nvSpPr>
          <p:cNvPr id="13722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842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7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7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7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7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7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7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7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29625" y="6515100"/>
            <a:ext cx="600075" cy="34290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5860" y="116840"/>
            <a:ext cx="7864475" cy="128270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㈢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常用不锈钢</a:t>
            </a:r>
            <a:b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、马氏体不锈钢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8244" name="Rectangle 3"/>
          <p:cNvSpPr>
            <a:spLocks noGrp="1"/>
          </p:cNvSpPr>
          <p:nvPr>
            <p:ph idx="1"/>
          </p:nvPr>
        </p:nvSpPr>
        <p:spPr>
          <a:xfrm>
            <a:off x="318770" y="1455420"/>
            <a:ext cx="8526145" cy="546290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主要是</a:t>
            </a:r>
            <a:r>
              <a:rPr lang="en-US" altLang="zh-CN" b="1" dirty="0">
                <a:ea typeface="华文中宋" panose="02010600040101010101" pitchFamily="2" charset="-122"/>
              </a:rPr>
              <a:t>Cr13</a:t>
            </a:r>
            <a:r>
              <a:rPr lang="zh-CN" altLang="en-US" b="1" dirty="0">
                <a:ea typeface="华文中宋" panose="02010600040101010101" pitchFamily="2" charset="-122"/>
              </a:rPr>
              <a:t>型不锈钢，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钢号为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1Cr13~4Cr13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含碳量</a:t>
            </a:r>
            <a:r>
              <a:rPr lang="zh-CN" altLang="en-US" b="1" dirty="0">
                <a:ea typeface="华文中宋" panose="02010600040101010101" pitchFamily="2" charset="-122"/>
              </a:rPr>
              <a:t>提高，强度、硬度提高，耐蚀性下降。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⑴ 1Cr13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2Cr13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高温回火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使用状态下的组织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: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pic>
        <p:nvPicPr>
          <p:cNvPr id="138246" name="Picture 5" descr="ji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299835" y="4885690"/>
            <a:ext cx="2598738" cy="97790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grpSp>
        <p:nvGrpSpPr>
          <p:cNvPr id="138247" name="Group 6"/>
          <p:cNvGrpSpPr/>
          <p:nvPr/>
        </p:nvGrpSpPr>
        <p:grpSpPr>
          <a:xfrm>
            <a:off x="6436678" y="2924810"/>
            <a:ext cx="2324100" cy="1644650"/>
            <a:chOff x="4296" y="890"/>
            <a:chExt cx="1464" cy="1036"/>
          </a:xfrm>
        </p:grpSpPr>
        <p:pic>
          <p:nvPicPr>
            <p:cNvPr id="138249" name="Picture 7" descr="不锈钢棒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6" y="890"/>
              <a:ext cx="1464" cy="103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8250" name="Text Box 8"/>
            <p:cNvSpPr txBox="1">
              <a:spLocks noChangeAspect="1"/>
            </p:cNvSpPr>
            <p:nvPr/>
          </p:nvSpPr>
          <p:spPr>
            <a:xfrm>
              <a:off x="4843" y="1676"/>
              <a:ext cx="917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不锈钢棒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824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14554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5100"/>
            <a:ext cx="457200" cy="34290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4943" name="Rectangle 15"/>
          <p:cNvSpPr>
            <a:spLocks noGrp="1" noChangeArrowheads="1"/>
          </p:cNvSpPr>
          <p:nvPr>
            <p:ph idx="1"/>
          </p:nvPr>
        </p:nvSpPr>
        <p:spPr>
          <a:xfrm>
            <a:off x="305581" y="1373064"/>
            <a:ext cx="4815192" cy="4475657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1Cr13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2Cr13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具有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耐大气、蒸汽腐蚀能力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及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良好的综合力学性能。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：要求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塑韧性较高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的耐蚀件，如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汽轮机叶片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等。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25"/>
          <p:cNvGrpSpPr>
            <a:grpSpLocks noChangeAspect="1"/>
          </p:cNvGrpSpPr>
          <p:nvPr/>
        </p:nvGrpSpPr>
        <p:grpSpPr>
          <a:xfrm>
            <a:off x="5657215" y="1705610"/>
            <a:ext cx="3164205" cy="4267162"/>
            <a:chOff x="3160" y="288"/>
            <a:chExt cx="2440" cy="3210"/>
          </a:xfrm>
        </p:grpSpPr>
        <p:pic>
          <p:nvPicPr>
            <p:cNvPr id="139273" name="Picture 10" descr="汽轮机叶片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60" y="1955"/>
              <a:ext cx="2440" cy="1543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9274" name="Text Box 11"/>
            <p:cNvSpPr txBox="1">
              <a:spLocks noChangeAspect="1"/>
            </p:cNvSpPr>
            <p:nvPr/>
          </p:nvSpPr>
          <p:spPr>
            <a:xfrm>
              <a:off x="3212" y="2072"/>
              <a:ext cx="1392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汽轮机叶片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39275" name="Picture 20" descr="不锈钢透平转轮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" y="288"/>
              <a:ext cx="2435" cy="1562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9276" name="Text Box 24"/>
            <p:cNvSpPr txBox="1">
              <a:spLocks noChangeAspect="1"/>
            </p:cNvSpPr>
            <p:nvPr/>
          </p:nvSpPr>
          <p:spPr>
            <a:xfrm>
              <a:off x="4449" y="1578"/>
              <a:ext cx="105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透平转轮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200943" y="-110233"/>
            <a:ext cx="674211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马氏体不锈钢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927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4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43" grpId="0" advAuto="1000" build="p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29625" y="6510338"/>
            <a:ext cx="600075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6334125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3Cr13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4Cr13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0292" name="Rectangle 3"/>
          <p:cNvSpPr>
            <a:spLocks noGrp="1"/>
          </p:cNvSpPr>
          <p:nvPr>
            <p:ph idx="1"/>
          </p:nvPr>
        </p:nvSpPr>
        <p:spPr>
          <a:xfrm>
            <a:off x="468313" y="1196975"/>
            <a:ext cx="5688012" cy="439261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热处理：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低温回火。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使用状态下的组织：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具有较高强度、硬度。</a:t>
            </a:r>
            <a:endParaRPr lang="zh-CN" altLang="en-US" b="1" dirty="0">
              <a:solidFill>
                <a:srgbClr val="CCFF99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ea typeface="华文中宋" panose="02010600040101010101" pitchFamily="2" charset="-122"/>
              </a:rPr>
              <a:t>要求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耐磨</a:t>
            </a:r>
            <a:r>
              <a:rPr lang="zh-CN" altLang="en-US" b="1" dirty="0">
                <a:ea typeface="华文中宋" panose="02010600040101010101" pitchFamily="2" charset="-122"/>
              </a:rPr>
              <a:t>件，医疗器械、量具等。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2000250" y="4572000"/>
            <a:ext cx="3238500" cy="1916113"/>
            <a:chOff x="480" y="2592"/>
            <a:chExt cx="2172" cy="1489"/>
          </a:xfrm>
        </p:grpSpPr>
        <p:pic>
          <p:nvPicPr>
            <p:cNvPr id="140304" name="Picture 5" descr="不锈钢（M）刀具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8" y="2604"/>
              <a:ext cx="2124" cy="147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0305" name="Text Box 6"/>
            <p:cNvSpPr txBox="1">
              <a:spLocks noChangeAspect="1"/>
            </p:cNvSpPr>
            <p:nvPr/>
          </p:nvSpPr>
          <p:spPr>
            <a:xfrm>
              <a:off x="480" y="2592"/>
              <a:ext cx="768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不锈钢刀</a:t>
              </a:r>
              <a:endPara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0295" name="Group 17"/>
          <p:cNvGrpSpPr/>
          <p:nvPr/>
        </p:nvGrpSpPr>
        <p:grpSpPr>
          <a:xfrm>
            <a:off x="6215063" y="1785938"/>
            <a:ext cx="2608262" cy="4630737"/>
            <a:chOff x="3716" y="1389"/>
            <a:chExt cx="1643" cy="2917"/>
          </a:xfrm>
        </p:grpSpPr>
        <p:grpSp>
          <p:nvGrpSpPr>
            <p:cNvPr id="140297" name="Group 16"/>
            <p:cNvGrpSpPr/>
            <p:nvPr/>
          </p:nvGrpSpPr>
          <p:grpSpPr>
            <a:xfrm>
              <a:off x="3928" y="1389"/>
              <a:ext cx="1431" cy="2767"/>
              <a:chOff x="3928" y="1389"/>
              <a:chExt cx="1431" cy="2767"/>
            </a:xfrm>
          </p:grpSpPr>
          <p:pic>
            <p:nvPicPr>
              <p:cNvPr id="140300" name="Picture 10" descr="ji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28" y="1389"/>
                <a:ext cx="1431" cy="771"/>
              </a:xfrm>
              <a:prstGeom prst="rect">
                <a:avLst/>
              </a:prstGeom>
              <a:noFill/>
              <a:ln w="127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140301" name="Picture 11" descr="ji4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928" y="2923"/>
                <a:ext cx="1431" cy="583"/>
              </a:xfrm>
              <a:prstGeom prst="rect">
                <a:avLst/>
              </a:prstGeom>
              <a:noFill/>
              <a:ln w="127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140302" name="Picture 12" descr="ji5医疗器械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928" y="2160"/>
                <a:ext cx="1431" cy="766"/>
              </a:xfrm>
              <a:prstGeom prst="rect">
                <a:avLst/>
              </a:prstGeom>
              <a:noFill/>
              <a:ln w="127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140303" name="Picture 13" descr="ji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928" y="3494"/>
                <a:ext cx="1430" cy="662"/>
              </a:xfrm>
              <a:prstGeom prst="rect">
                <a:avLst/>
              </a:prstGeom>
              <a:noFill/>
              <a:ln w="127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140298" name="Text Box 14"/>
            <p:cNvSpPr txBox="1">
              <a:spLocks noChangeAspect="1"/>
            </p:cNvSpPr>
            <p:nvPr/>
          </p:nvSpPr>
          <p:spPr>
            <a:xfrm>
              <a:off x="4241" y="3884"/>
              <a:ext cx="10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r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医疗器械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40299" name="Picture 15" descr="不锈钢尺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6" y="2286"/>
              <a:ext cx="182" cy="2020"/>
            </a:xfrm>
            <a:prstGeom prst="rect">
              <a:avLst/>
            </a:prstGeom>
            <a:noFill/>
            <a:ln w="127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4029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515735"/>
            <a:ext cx="528320" cy="34226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-100012"/>
            <a:ext cx="67643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、铁素体不锈钢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1316" name="Rectangle 3"/>
          <p:cNvSpPr>
            <a:spLocks noGrp="1"/>
          </p:cNvSpPr>
          <p:nvPr>
            <p:ph idx="1"/>
          </p:nvPr>
        </p:nvSpPr>
        <p:spPr>
          <a:xfrm>
            <a:off x="214630" y="1000125"/>
            <a:ext cx="5759450" cy="542925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典型钢号：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0Cr13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1Cr17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等。 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成分特点：</a:t>
            </a:r>
            <a:r>
              <a:rPr lang="zh-CN" altLang="en-US" b="1" dirty="0">
                <a:ea typeface="华文中宋" panose="02010600040101010101" pitchFamily="2" charset="-122"/>
              </a:rPr>
              <a:t>高铬、低碳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accent1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accent1"/>
                </a:solidFill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</a:rPr>
              <a:t>无 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 </a:t>
            </a:r>
            <a:r>
              <a:rPr lang="zh-CN" altLang="en-US" b="1" dirty="0">
                <a:solidFill>
                  <a:schemeClr val="folHlink"/>
                </a:solidFill>
              </a:rPr>
              <a:t>⇄ 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 </a:t>
            </a:r>
            <a:r>
              <a:rPr lang="zh-CN" altLang="en-US" b="1" dirty="0">
                <a:solidFill>
                  <a:schemeClr val="folHlink"/>
                </a:solidFill>
              </a:rPr>
              <a:t>相变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不能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进行热处理强化。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accent1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accent1"/>
                </a:solidFill>
              </a:rPr>
              <a:t>⑶ </a:t>
            </a:r>
            <a:r>
              <a:rPr lang="zh-CN" altLang="en-US" b="1" dirty="0">
                <a:solidFill>
                  <a:schemeClr val="folHlink"/>
                </a:solidFill>
              </a:rPr>
              <a:t>组织</a:t>
            </a:r>
            <a:r>
              <a:rPr lang="zh-CN" altLang="en-US" b="1" dirty="0"/>
              <a:t>：</a:t>
            </a:r>
            <a:r>
              <a:rPr lang="zh-CN" altLang="en-US" b="1" dirty="0">
                <a:solidFill>
                  <a:srgbClr val="CCFF33"/>
                </a:solidFill>
              </a:rPr>
              <a:t>单相铁素体</a:t>
            </a:r>
            <a:endParaRPr lang="zh-CN" altLang="en-US" b="1" dirty="0">
              <a:solidFill>
                <a:srgbClr val="CCFF33"/>
              </a:solidFill>
            </a:endParaRPr>
          </a:p>
        </p:txBody>
      </p:sp>
      <p:grpSp>
        <p:nvGrpSpPr>
          <p:cNvPr id="141317" name="Group 13"/>
          <p:cNvGrpSpPr/>
          <p:nvPr/>
        </p:nvGrpSpPr>
        <p:grpSpPr>
          <a:xfrm>
            <a:off x="6323013" y="3637915"/>
            <a:ext cx="2665412" cy="1963738"/>
            <a:chOff x="3787" y="2826"/>
            <a:chExt cx="1679" cy="1237"/>
          </a:xfrm>
        </p:grpSpPr>
        <p:pic>
          <p:nvPicPr>
            <p:cNvPr id="141323" name="Picture 6" descr="不锈钢削片刀（1Cr17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787" y="2826"/>
              <a:ext cx="1679" cy="123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1324" name="Text Box 7"/>
            <p:cNvSpPr txBox="1"/>
            <p:nvPr/>
          </p:nvSpPr>
          <p:spPr>
            <a:xfrm>
              <a:off x="3787" y="3793"/>
              <a:ext cx="1179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1Cr17</a:t>
              </a:r>
              <a:r>
                <a:rPr lang="zh-CN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削片刀</a:t>
              </a:r>
              <a:endParaRPr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1318" name="Group 12"/>
          <p:cNvGrpSpPr/>
          <p:nvPr/>
        </p:nvGrpSpPr>
        <p:grpSpPr>
          <a:xfrm>
            <a:off x="6300912" y="1455521"/>
            <a:ext cx="2744435" cy="1930934"/>
            <a:chOff x="3676" y="968"/>
            <a:chExt cx="2025" cy="1400"/>
          </a:xfrm>
        </p:grpSpPr>
        <p:pic>
          <p:nvPicPr>
            <p:cNvPr id="141321" name="Picture 9" descr="铁素体不锈钢制水加热器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" y="968"/>
              <a:ext cx="1978" cy="140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05162" name="Text Box 10"/>
            <p:cNvSpPr txBox="1">
              <a:spLocks noChangeArrowheads="1"/>
            </p:cNvSpPr>
            <p:nvPr/>
          </p:nvSpPr>
          <p:spPr bwMode="auto">
            <a:xfrm>
              <a:off x="3676" y="2079"/>
              <a:ext cx="2025" cy="289"/>
            </a:xfrm>
            <a:prstGeom prst="rect">
              <a:avLst/>
            </a:prstGeom>
            <a:solidFill>
              <a:schemeClr val="accent2"/>
            </a:solidFill>
            <a:ln w="2857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D1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铁素体不锈钢水加热器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1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132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79712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61801" name="Rectangle 9"/>
          <p:cNvSpPr>
            <a:spLocks noGrp="1"/>
          </p:cNvSpPr>
          <p:nvPr>
            <p:ph idx="1"/>
          </p:nvPr>
        </p:nvSpPr>
        <p:spPr>
          <a:xfrm>
            <a:off x="78105" y="1054444"/>
            <a:ext cx="9065895" cy="205884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性能特点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耐酸蚀，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抗氧化</a:t>
            </a:r>
            <a:r>
              <a:rPr lang="zh-CN" altLang="en-US" sz="2800" b="1" dirty="0">
                <a:ea typeface="华文中宋" panose="02010600040101010101" pitchFamily="2" charset="-122"/>
              </a:rPr>
              <a:t>能力强，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塑性</a:t>
            </a:r>
            <a:r>
              <a:rPr lang="zh-CN" altLang="en-US" sz="2800" b="1" dirty="0">
                <a:ea typeface="华文中宋" panose="02010600040101010101" pitchFamily="2" charset="-122"/>
              </a:rPr>
              <a:t>好。但有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脆化</a:t>
            </a:r>
            <a:r>
              <a:rPr lang="zh-CN" altLang="en-US" sz="2800" b="1" dirty="0">
                <a:ea typeface="华文中宋" panose="02010600040101010101" pitchFamily="2" charset="-122"/>
              </a:rPr>
              <a:t>倾向：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</a:t>
            </a: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475℃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脆化：</a:t>
            </a:r>
            <a:r>
              <a:rPr lang="zh-CN" altLang="en-US" b="1" dirty="0">
                <a:solidFill>
                  <a:srgbClr val="C9FFFF"/>
                </a:solidFill>
                <a:ea typeface="华文中宋" panose="02010600040101010101" pitchFamily="2" charset="-122"/>
              </a:rPr>
              <a:t>加热到</a:t>
            </a:r>
            <a:r>
              <a:rPr lang="en-US" altLang="zh-CN" b="1" dirty="0">
                <a:solidFill>
                  <a:srgbClr val="C9FFFF"/>
                </a:solidFill>
                <a:ea typeface="华文中宋" panose="02010600040101010101" pitchFamily="2" charset="-122"/>
              </a:rPr>
              <a:t>450~550℃</a:t>
            </a:r>
            <a:r>
              <a:rPr lang="zh-CN" altLang="en-US" b="1" dirty="0">
                <a:solidFill>
                  <a:srgbClr val="C9FFFF"/>
                </a:solidFill>
                <a:ea typeface="华文中宋" panose="02010600040101010101" pitchFamily="2" charset="-122"/>
              </a:rPr>
              <a:t>停留，产生脆化，</a:t>
            </a:r>
            <a:r>
              <a:rPr lang="zh-CN" altLang="en-US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再加热到</a:t>
            </a:r>
            <a:r>
              <a:rPr lang="en-US" altLang="zh-CN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600℃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快冷</a:t>
            </a:r>
            <a:r>
              <a:rPr lang="zh-CN" altLang="en-US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可消除。</a:t>
            </a:r>
            <a:endParaRPr lang="zh-CN" altLang="en-US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rgbClr val="C9FFFF"/>
              </a:solidFill>
              <a:ea typeface="华文中宋" panose="02010600040101010101" pitchFamily="2" charset="-122"/>
            </a:endParaRPr>
          </a:p>
        </p:txBody>
      </p:sp>
      <p:sp>
        <p:nvSpPr>
          <p:cNvPr id="161805" name="Rectangle 13"/>
          <p:cNvSpPr/>
          <p:nvPr/>
        </p:nvSpPr>
        <p:spPr>
          <a:xfrm>
            <a:off x="323850" y="3789185"/>
            <a:ext cx="5128379" cy="42148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②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相脆化：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在</a:t>
            </a:r>
            <a:r>
              <a:rPr lang="en-US" altLang="zh-CN" sz="3200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600~ 800℃</a:t>
            </a:r>
            <a:r>
              <a:rPr lang="zh-CN" altLang="en-US" sz="3200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长期加热时，析出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硬</a:t>
            </a:r>
            <a:r>
              <a:rPr lang="zh-CN" altLang="en-US" sz="3200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而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脆</a:t>
            </a:r>
            <a:r>
              <a:rPr lang="zh-CN" altLang="en-US" sz="3200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3200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zh-CN" altLang="en-US" sz="3200" dirty="0">
                <a:solidFill>
                  <a:srgbClr val="C9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相。</a:t>
            </a:r>
            <a:endParaRPr lang="zh-CN" altLang="en-US" sz="3200" dirty="0">
              <a:solidFill>
                <a:srgbClr val="C9FF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6123207" y="3858260"/>
            <a:ext cx="2932528" cy="2125402"/>
            <a:chOff x="2859" y="1728"/>
            <a:chExt cx="2317" cy="1696"/>
          </a:xfrm>
        </p:grpSpPr>
        <p:pic>
          <p:nvPicPr>
            <p:cNvPr id="142345" name="Picture 17" descr="Sigma Phase0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9" y="1728"/>
              <a:ext cx="2317" cy="169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2346" name="Rectangle 18"/>
            <p:cNvSpPr>
              <a:spLocks noChangeAspect="1"/>
            </p:cNvSpPr>
            <p:nvPr/>
          </p:nvSpPr>
          <p:spPr>
            <a:xfrm>
              <a:off x="2859" y="3224"/>
              <a:ext cx="726" cy="181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钢中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σ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相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928938" y="-100012"/>
            <a:ext cx="54546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、铁素体不锈钢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234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1" grpId="0" advAuto="1000" build="p"/>
      <p:bldP spid="161805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01" name="Rectangle 9"/>
          <p:cNvSpPr>
            <a:spLocks noGrp="1" noChangeArrowheads="1"/>
          </p:cNvSpPr>
          <p:nvPr>
            <p:ph idx="1"/>
          </p:nvPr>
        </p:nvSpPr>
        <p:spPr>
          <a:xfrm>
            <a:off x="428625" y="1124585"/>
            <a:ext cx="8458200" cy="169481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广泛用于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硝酸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和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氮肥工业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的耐蚀件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-100012"/>
            <a:ext cx="764381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、铁素体不锈钢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——⑸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143367" name="Picture 13" descr="硝酸装置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146040" y="1742440"/>
            <a:ext cx="2094230" cy="20307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368" name="Picture 12" descr="铁素体不锈钢制品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31278" y="1772920"/>
            <a:ext cx="2844800" cy="1971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69" name="Text Box 16"/>
          <p:cNvSpPr txBox="1">
            <a:spLocks noChangeAspect="1"/>
          </p:cNvSpPr>
          <p:nvPr/>
        </p:nvSpPr>
        <p:spPr>
          <a:xfrm>
            <a:off x="1357630" y="3429000"/>
            <a:ext cx="2279650" cy="3657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铁素体不锈钢制品</a:t>
            </a:r>
            <a:endParaRPr lang="zh-CN" altLang="en-US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3370" name="Group 19"/>
          <p:cNvGrpSpPr/>
          <p:nvPr/>
        </p:nvGrpSpPr>
        <p:grpSpPr>
          <a:xfrm>
            <a:off x="1391285" y="4076700"/>
            <a:ext cx="6572250" cy="1559560"/>
            <a:chOff x="696" y="2880"/>
            <a:chExt cx="5064" cy="1266"/>
          </a:xfrm>
        </p:grpSpPr>
        <p:pic>
          <p:nvPicPr>
            <p:cNvPr id="143371" name="Picture 11" descr="云天化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" y="2880"/>
              <a:ext cx="5064" cy="126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4368" y="2997"/>
              <a:ext cx="1008" cy="3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合成氨厂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3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1" grpId="0" advAuto="1000" build="p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063" y="6597352"/>
            <a:ext cx="457200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75" y="0"/>
            <a:ext cx="6815138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、奥氏体不锈钢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4388" name="Rectangle 3"/>
          <p:cNvSpPr>
            <a:spLocks noGrp="1"/>
          </p:cNvSpPr>
          <p:nvPr>
            <p:ph idx="1"/>
          </p:nvPr>
        </p:nvSpPr>
        <p:spPr>
          <a:xfrm>
            <a:off x="323850" y="1053783"/>
            <a:ext cx="6962775" cy="55721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主要是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18-8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18Cr-8Ni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）型不锈钢。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 性能特点：</a:t>
            </a:r>
            <a:r>
              <a:rPr lang="zh-CN" altLang="en-US" b="1" dirty="0">
                <a:ea typeface="华文中宋" panose="02010600040101010101" pitchFamily="2" charset="-122"/>
              </a:rPr>
              <a:t>具有良好的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耐蚀性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冷热加工性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可焊性</a:t>
            </a:r>
            <a:r>
              <a:rPr lang="zh-CN" altLang="en-US" b="1" dirty="0">
                <a:ea typeface="华文中宋" panose="02010600040101010101" pitchFamily="2" charset="-122"/>
              </a:rPr>
              <a:t>。高的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塑韧</a:t>
            </a:r>
            <a:r>
              <a:rPr lang="zh-CN" altLang="en-US" b="1" dirty="0">
                <a:ea typeface="华文中宋" panose="02010600040101010101" pitchFamily="2" charset="-122"/>
              </a:rPr>
              <a:t>性，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无磁性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热处理：</a:t>
            </a:r>
            <a:r>
              <a:rPr lang="zh-CN" altLang="en-US" b="1" dirty="0"/>
              <a:t>采用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固溶处理</a:t>
            </a:r>
            <a:r>
              <a:rPr lang="zh-CN" altLang="en-US" b="1" dirty="0"/>
              <a:t>，即加热到</a:t>
            </a:r>
            <a:r>
              <a:rPr lang="en-US" altLang="zh-CN" b="1" dirty="0"/>
              <a:t>1100℃</a:t>
            </a:r>
            <a:r>
              <a:rPr lang="zh-CN" altLang="en-US" b="1" dirty="0"/>
              <a:t>使碳化物溶解后水冷。</a:t>
            </a:r>
            <a:endParaRPr lang="zh-CN" altLang="en-US" b="1" dirty="0"/>
          </a:p>
          <a:p>
            <a:pPr eaLnBrk="1" hangingPunct="1"/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组织：单相奥氏体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endParaRPr lang="zh-CN" altLang="en-US" b="1" dirty="0">
              <a:solidFill>
                <a:schemeClr val="folHlink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7215188" y="2214563"/>
            <a:ext cx="1790700" cy="2693987"/>
            <a:chOff x="3190" y="706"/>
            <a:chExt cx="1911" cy="2041"/>
          </a:xfrm>
        </p:grpSpPr>
        <p:pic>
          <p:nvPicPr>
            <p:cNvPr id="144392" name="Picture 6" descr="不锈钢带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90" y="706"/>
              <a:ext cx="1911" cy="202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4393" name="Text Box 7"/>
            <p:cNvSpPr txBox="1">
              <a:spLocks noChangeAspect="1"/>
            </p:cNvSpPr>
            <p:nvPr/>
          </p:nvSpPr>
          <p:spPr>
            <a:xfrm>
              <a:off x="4562" y="1734"/>
              <a:ext cx="525" cy="1013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CCFF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不锈钢带</a:t>
              </a:r>
              <a:endParaRPr lang="zh-CN" altLang="en-US" sz="2000" dirty="0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439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5675" y="6648450"/>
            <a:ext cx="553085" cy="20955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54594" y="-138430"/>
            <a:ext cx="8569325" cy="12144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、奥氏体不锈钢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—(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3)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常用钢种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5412" name="Rectangle 3"/>
          <p:cNvSpPr>
            <a:spLocks noGrp="1"/>
          </p:cNvSpPr>
          <p:nvPr>
            <p:ph idx="1"/>
          </p:nvPr>
        </p:nvSpPr>
        <p:spPr>
          <a:xfrm>
            <a:off x="250825" y="1412875"/>
            <a:ext cx="5113338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1Cr18Ni9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1Cr18Ni9Ti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广泛用于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化工设备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管道</a:t>
            </a:r>
            <a:r>
              <a:rPr lang="en-US" altLang="zh-CN" b="1" dirty="0">
                <a:ea typeface="华文中宋" panose="02010600040101010101" pitchFamily="2" charset="-122"/>
              </a:rPr>
              <a:t>.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428750" y="1143000"/>
            <a:ext cx="7385050" cy="5090715"/>
            <a:chOff x="480" y="384"/>
            <a:chExt cx="4930" cy="3378"/>
          </a:xfrm>
        </p:grpSpPr>
        <p:grpSp>
          <p:nvGrpSpPr>
            <p:cNvPr id="145416" name="Group 6"/>
            <p:cNvGrpSpPr>
              <a:grpSpLocks noChangeAspect="1"/>
            </p:cNvGrpSpPr>
            <p:nvPr/>
          </p:nvGrpSpPr>
          <p:grpSpPr>
            <a:xfrm>
              <a:off x="3637" y="1901"/>
              <a:ext cx="1412" cy="1861"/>
              <a:chOff x="3682" y="1931"/>
              <a:chExt cx="1477" cy="1946"/>
            </a:xfrm>
          </p:grpSpPr>
          <p:pic>
            <p:nvPicPr>
              <p:cNvPr id="145423" name="Picture 7" descr="不锈钢制反应釜（316L）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682" y="1931"/>
                <a:ext cx="1477" cy="194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45424" name="Rectangle 8"/>
              <p:cNvSpPr>
                <a:spLocks noChangeAspect="1"/>
              </p:cNvSpPr>
              <p:nvPr/>
            </p:nvSpPr>
            <p:spPr>
              <a:xfrm>
                <a:off x="3984" y="2016"/>
                <a:ext cx="528" cy="480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反应釜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0" eaLnBrk="1" hangingPunct="1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(316L)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5417" name="Group 9"/>
            <p:cNvGrpSpPr>
              <a:grpSpLocks noChangeAspect="1"/>
            </p:cNvGrpSpPr>
            <p:nvPr/>
          </p:nvGrpSpPr>
          <p:grpSpPr>
            <a:xfrm>
              <a:off x="480" y="1982"/>
              <a:ext cx="2772" cy="1774"/>
              <a:chOff x="432" y="2016"/>
              <a:chExt cx="2898" cy="1855"/>
            </a:xfrm>
          </p:grpSpPr>
          <p:pic>
            <p:nvPicPr>
              <p:cNvPr id="145421" name="Picture 10" descr="不锈钢制大型化工储罐（304）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32" y="2016"/>
                <a:ext cx="2898" cy="1855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45422" name="Text Box 11"/>
              <p:cNvSpPr txBox="1">
                <a:spLocks noChangeAspect="1"/>
              </p:cNvSpPr>
              <p:nvPr/>
            </p:nvSpPr>
            <p:spPr>
              <a:xfrm>
                <a:off x="1548" y="2016"/>
                <a:ext cx="1745" cy="27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大型化工储罐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(304)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5418" name="Group 12"/>
            <p:cNvGrpSpPr/>
            <p:nvPr/>
          </p:nvGrpSpPr>
          <p:grpSpPr>
            <a:xfrm>
              <a:off x="3244" y="384"/>
              <a:ext cx="2166" cy="1410"/>
              <a:chOff x="3228" y="384"/>
              <a:chExt cx="2166" cy="1410"/>
            </a:xfrm>
          </p:grpSpPr>
          <p:pic>
            <p:nvPicPr>
              <p:cNvPr id="145419" name="Picture 13" descr="316L热交换器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228" y="384"/>
                <a:ext cx="2166" cy="141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45420" name="Rectangle 14"/>
              <p:cNvSpPr>
                <a:spLocks noChangeAspect="1"/>
              </p:cNvSpPr>
              <p:nvPr/>
            </p:nvSpPr>
            <p:spPr>
              <a:xfrm>
                <a:off x="3241" y="400"/>
                <a:ext cx="1194" cy="230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热交换器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(316L)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454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81775"/>
            <a:ext cx="500062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571500" y="1071563"/>
            <a:ext cx="8572500" cy="3352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奥氏体不锈钢</a:t>
            </a:r>
            <a:r>
              <a:rPr lang="zh-CN" altLang="en-US" b="1" dirty="0">
                <a:ea typeface="华文中宋" panose="02010600040101010101" pitchFamily="2" charset="-122"/>
              </a:rPr>
              <a:t>易发生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应力腐蚀。</a:t>
            </a:r>
            <a:r>
              <a:rPr lang="zh-CN" altLang="en-US" b="1" dirty="0">
                <a:ea typeface="华文中宋" panose="02010600040101010101" pitchFamily="2" charset="-122"/>
              </a:rPr>
              <a:t>即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在特定合金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-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环境体系中，应力与腐蚀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共同作用</a:t>
            </a:r>
            <a:r>
              <a:rPr lang="zh-CN" altLang="en-US" b="1" dirty="0">
                <a:ea typeface="华文中宋" panose="02010600040101010101" pitchFamily="2" charset="-122"/>
              </a:rPr>
              <a:t>引起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的破坏</a:t>
            </a:r>
            <a:r>
              <a:rPr lang="zh-CN" altLang="en-US" b="1" dirty="0">
                <a:ea typeface="华文中宋" panose="02010600040101010101" pitchFamily="2" charset="-122"/>
              </a:rPr>
              <a:t>。应力腐蚀易在含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Clˉ</a:t>
            </a:r>
            <a:r>
              <a:rPr lang="zh-CN" altLang="en-US" b="1" dirty="0">
                <a:ea typeface="华文中宋" panose="02010600040101010101" pitchFamily="2" charset="-122"/>
              </a:rPr>
              <a:t>的介质中发生，裂纹为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树枝状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r>
              <a:rPr lang="en-US" altLang="zh-CN" dirty="0">
                <a:ea typeface="华文中宋" panose="02010600040101010101" pitchFamily="2" charset="-122"/>
              </a:rPr>
              <a:t> </a:t>
            </a:r>
            <a:endParaRPr lang="en-US" altLang="zh-CN" dirty="0">
              <a:ea typeface="华文中宋" panose="02010600040101010101" pitchFamily="2" charset="-122"/>
            </a:endParaRPr>
          </a:p>
        </p:txBody>
      </p:sp>
      <p:grpSp>
        <p:nvGrpSpPr>
          <p:cNvPr id="2" name="Group 31"/>
          <p:cNvGrpSpPr/>
          <p:nvPr/>
        </p:nvGrpSpPr>
        <p:grpSpPr>
          <a:xfrm>
            <a:off x="2531745" y="3665220"/>
            <a:ext cx="6314440" cy="2492282"/>
            <a:chOff x="624" y="1872"/>
            <a:chExt cx="4563" cy="1952"/>
          </a:xfrm>
        </p:grpSpPr>
        <p:pic>
          <p:nvPicPr>
            <p:cNvPr id="146440" name="Picture 5" descr="5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11" y="1872"/>
              <a:ext cx="2061" cy="186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46441" name="Picture 6" descr="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" y="1872"/>
              <a:ext cx="1951" cy="176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6442" name="Rectangle 28"/>
            <p:cNvSpPr/>
            <p:nvPr/>
          </p:nvSpPr>
          <p:spPr>
            <a:xfrm>
              <a:off x="2736" y="3548"/>
              <a:ext cx="2451" cy="14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发生应力腐蚀奥氏体不锈钢管道内壁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6443" name="Rectangle 29"/>
            <p:cNvSpPr/>
            <p:nvPr/>
          </p:nvSpPr>
          <p:spPr>
            <a:xfrm>
              <a:off x="745" y="3632"/>
              <a:ext cx="1110" cy="192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应力腐蚀裂纹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-159142"/>
            <a:ext cx="8569325" cy="10715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、奥氏体不锈钢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⑷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应力腐蚀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643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advAuto="1000" build="p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97352"/>
            <a:ext cx="457200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648" y="116632"/>
            <a:ext cx="6118225" cy="762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应力腐蚀裂纹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209924" name="Picture 4" descr="Chloride Stress Corrosion Cracking0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133600" y="2209800"/>
            <a:ext cx="4948238" cy="3597275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4746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81775"/>
            <a:ext cx="500062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571500" y="1071563"/>
            <a:ext cx="8572500" cy="50006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双相：</a:t>
            </a:r>
            <a:r>
              <a:rPr lang="zh-CN" altLang="en-US" b="1" dirty="0">
                <a:ea typeface="华文中宋" panose="02010600040101010101" pitchFamily="2" charset="-122"/>
              </a:rPr>
              <a:t>马氏体 </a:t>
            </a:r>
            <a:r>
              <a:rPr lang="en-US" altLang="zh-CN" b="1" dirty="0"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ea typeface="华文中宋" panose="02010600040101010101" pitchFamily="2" charset="-122"/>
              </a:rPr>
              <a:t>铁素体（占</a:t>
            </a:r>
            <a:r>
              <a:rPr lang="en-US" altLang="zh-CN" b="1" dirty="0">
                <a:ea typeface="华文中宋" panose="02010600040101010101" pitchFamily="2" charset="-122"/>
              </a:rPr>
              <a:t>5%~20%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典型钢号：</a:t>
            </a:r>
            <a:r>
              <a:rPr lang="en-US" altLang="zh-CN" b="1" dirty="0">
                <a:ea typeface="华文中宋" panose="02010600040101010101" pitchFamily="2" charset="-122"/>
              </a:rPr>
              <a:t>022Cr25Ni6Mo2N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b="1" dirty="0">
                <a:ea typeface="华文中宋" panose="02010600040101010101" pitchFamily="2" charset="-122"/>
              </a:rPr>
              <a:t>晶间腐蚀和应力腐蚀倾向小、韧性高、可焊性较好。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应用：化工设备</a:t>
            </a:r>
            <a:r>
              <a:rPr lang="zh-CN" altLang="en-US" b="1" dirty="0">
                <a:ea typeface="华文中宋" panose="02010600040101010101" pitchFamily="2" charset="-122"/>
              </a:rPr>
              <a:t>及管道、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海水冷却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热交换</a:t>
            </a:r>
            <a:r>
              <a:rPr lang="zh-CN" altLang="en-US" b="1" dirty="0">
                <a:ea typeface="华文中宋" panose="02010600040101010101" pitchFamily="2" charset="-122"/>
              </a:rPr>
              <a:t>设备。</a:t>
            </a:r>
            <a:endParaRPr lang="en-US" altLang="zh-CN" dirty="0">
              <a:ea typeface="华文中宋" panose="02010600040101010101" pitchFamily="2" charset="-122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0"/>
            <a:ext cx="6696744" cy="10715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、双相不锈钢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848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advAuto="1000" build="p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81775"/>
            <a:ext cx="500062" cy="27622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571500" y="1071563"/>
            <a:ext cx="8572500" cy="50006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典型钢号：</a:t>
            </a:r>
            <a:r>
              <a:rPr lang="en-US" altLang="zh-CN" b="1" dirty="0">
                <a:ea typeface="华文中宋" panose="02010600040101010101" pitchFamily="2" charset="-122"/>
              </a:rPr>
              <a:t>07Cr17Ni7Al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b="1" dirty="0">
                <a:ea typeface="华文中宋" panose="02010600040101010101" pitchFamily="2" charset="-122"/>
              </a:rPr>
              <a:t>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固溶、二次加热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时效处理</a:t>
            </a:r>
            <a:r>
              <a:rPr lang="zh-CN" altLang="en-US" b="1" dirty="0">
                <a:ea typeface="华文中宋" panose="02010600040101010101" pitchFamily="2" charset="-122"/>
              </a:rPr>
              <a:t>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，组织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在奥氏体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-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马氏体基体上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弥散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金属间化合物。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应用：高强度、高硬度</a:t>
            </a:r>
            <a:r>
              <a:rPr lang="zh-CN" altLang="en-US" b="1" dirty="0">
                <a:ea typeface="华文中宋" panose="02010600040101010101" pitchFamily="2" charset="-122"/>
              </a:rPr>
              <a:t>且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耐腐蚀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化工机械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航天用设备、零件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  <a:endParaRPr lang="en-US" altLang="zh-CN" dirty="0">
              <a:ea typeface="华文中宋" panose="02010600040101010101" pitchFamily="2" charset="-122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66445" y="0"/>
            <a:ext cx="7346315" cy="107188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5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、沉淀硬化不锈钢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951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advAuto="1000" build="p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50531" name="Rectangle 2"/>
          <p:cNvSpPr>
            <a:spLocks noGrp="1"/>
          </p:cNvSpPr>
          <p:nvPr>
            <p:ph type="title"/>
          </p:nvPr>
        </p:nvSpPr>
        <p:spPr>
          <a:xfrm>
            <a:off x="19685" y="1628800"/>
            <a:ext cx="8820471" cy="2516224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dirty="0"/>
              <a:t>二、耐热钢</a:t>
            </a:r>
            <a:br>
              <a:rPr lang="en-US" altLang="zh-CN" sz="6600" b="1" dirty="0"/>
            </a:br>
            <a:r>
              <a:rPr lang="en-US" altLang="zh-CN" sz="6600" b="1" i="1" dirty="0">
                <a:latin typeface="+mn-lt"/>
              </a:rPr>
              <a:t>Heat Resistant Steels</a:t>
            </a:r>
            <a:endParaRPr lang="en-US" altLang="zh-CN" sz="6600" b="1" i="1" dirty="0">
              <a:latin typeface="+mn-lt"/>
            </a:endParaRPr>
          </a:p>
        </p:txBody>
      </p:sp>
      <p:sp>
        <p:nvSpPr>
          <p:cNvPr id="15053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29248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5053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l="18500" t="12200" r="19288" b="3801"/>
          <a:stretch>
            <a:fillRect/>
          </a:stretch>
        </p:blipFill>
        <p:spPr>
          <a:xfrm>
            <a:off x="107505" y="1484785"/>
            <a:ext cx="4815225" cy="4320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34250" t="12200" r="35038" b="10801"/>
          <a:stretch>
            <a:fillRect/>
          </a:stretch>
        </p:blipFill>
        <p:spPr>
          <a:xfrm>
            <a:off x="4922730" y="476672"/>
            <a:ext cx="4113765" cy="5801464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97352"/>
            <a:ext cx="457200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50531" name="Rectangle 2"/>
          <p:cNvSpPr>
            <a:spLocks noGrp="1"/>
          </p:cNvSpPr>
          <p:nvPr>
            <p:ph type="title"/>
          </p:nvPr>
        </p:nvSpPr>
        <p:spPr>
          <a:xfrm>
            <a:off x="2214880" y="0"/>
            <a:ext cx="4944110" cy="9144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/>
              <a:t>二、耐热钢</a:t>
            </a:r>
            <a:endParaRPr lang="zh-CN" altLang="en-US" b="1" dirty="0"/>
          </a:p>
        </p:txBody>
      </p:sp>
      <p:sp>
        <p:nvSpPr>
          <p:cNvPr id="150532" name="Rectangle 3"/>
          <p:cNvSpPr>
            <a:spLocks noGrp="1"/>
          </p:cNvSpPr>
          <p:nvPr>
            <p:ph idx="1"/>
          </p:nvPr>
        </p:nvSpPr>
        <p:spPr>
          <a:xfrm>
            <a:off x="214313" y="1000125"/>
            <a:ext cx="5143500" cy="535781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㈠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性能要求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、高的抗氧化性：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指钢在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高温下</a:t>
            </a:r>
            <a:r>
              <a:rPr lang="zh-CN" altLang="en-US" b="1" dirty="0">
                <a:ea typeface="华文中宋" panose="02010600040101010101" pitchFamily="2" charset="-122"/>
              </a:rPr>
              <a:t>对氧化作用的抗力。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钢中加入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</a:t>
            </a:r>
            <a:r>
              <a:rPr lang="zh-CN" altLang="en-US" b="1" dirty="0">
                <a:ea typeface="华文中宋" panose="02010600040101010101" pitchFamily="2" charset="-122"/>
              </a:rPr>
              <a:t>可形成</a:t>
            </a: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致密稳定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氧化膜，阻碍氧进一步扩散，提高抗氧化性。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5507038" y="1357313"/>
            <a:ext cx="3525837" cy="4500562"/>
            <a:chOff x="2688" y="312"/>
            <a:chExt cx="2773" cy="3539"/>
          </a:xfrm>
        </p:grpSpPr>
        <p:pic>
          <p:nvPicPr>
            <p:cNvPr id="150536" name="Picture 5" descr="气轮机叶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88" y="336"/>
              <a:ext cx="2773" cy="351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0537" name="Text Box 6"/>
            <p:cNvSpPr txBox="1">
              <a:spLocks noChangeAspect="1"/>
            </p:cNvSpPr>
            <p:nvPr/>
          </p:nvSpPr>
          <p:spPr>
            <a:xfrm>
              <a:off x="3751" y="312"/>
              <a:ext cx="1435" cy="36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气轮机叶片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053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3925" y="6597352"/>
            <a:ext cx="600075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二、耐热钢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——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㈠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性能要求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1556" name="Rectangle 3"/>
          <p:cNvSpPr>
            <a:spLocks noGrp="1"/>
          </p:cNvSpPr>
          <p:nvPr>
            <p:ph idx="1"/>
          </p:nvPr>
        </p:nvSpPr>
        <p:spPr>
          <a:xfrm>
            <a:off x="250803" y="1569765"/>
            <a:ext cx="5830888" cy="4595539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、高的热强性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热强性：金属在高温下的强度。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指标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蠕变强度、持久强度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蠕变：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指金属在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高温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低于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σ</a:t>
            </a:r>
            <a:r>
              <a:rPr lang="en-US" altLang="zh-CN" b="1" baseline="-30000" dirty="0">
                <a:solidFill>
                  <a:schemeClr val="accent1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的应力下所发生的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极其缓慢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塑性变形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.</a:t>
            </a:r>
            <a:endParaRPr lang="en-US" altLang="zh-CN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6286500" y="1571625"/>
            <a:ext cx="2701925" cy="4521200"/>
            <a:chOff x="2496" y="288"/>
            <a:chExt cx="2947" cy="3632"/>
          </a:xfrm>
        </p:grpSpPr>
        <p:grpSp>
          <p:nvGrpSpPr>
            <p:cNvPr id="151560" name="Group 6"/>
            <p:cNvGrpSpPr>
              <a:grpSpLocks noChangeAspect="1"/>
            </p:cNvGrpSpPr>
            <p:nvPr/>
          </p:nvGrpSpPr>
          <p:grpSpPr>
            <a:xfrm>
              <a:off x="2496" y="288"/>
              <a:ext cx="2947" cy="1949"/>
              <a:chOff x="2496" y="288"/>
              <a:chExt cx="2947" cy="1949"/>
            </a:xfrm>
          </p:grpSpPr>
          <p:pic>
            <p:nvPicPr>
              <p:cNvPr id="151564" name="Picture 7" descr="Ti21飞机发动机叶片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496" y="288"/>
                <a:ext cx="2947" cy="1949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1565" name="Text Box 8"/>
              <p:cNvSpPr txBox="1">
                <a:spLocks noChangeAspect="1"/>
              </p:cNvSpPr>
              <p:nvPr/>
            </p:nvSpPr>
            <p:spPr>
              <a:xfrm>
                <a:off x="3689" y="288"/>
                <a:ext cx="1735" cy="32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r"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飞机发动机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1561" name="Group 9"/>
            <p:cNvGrpSpPr>
              <a:grpSpLocks noChangeAspect="1"/>
            </p:cNvGrpSpPr>
            <p:nvPr/>
          </p:nvGrpSpPr>
          <p:grpSpPr>
            <a:xfrm>
              <a:off x="2496" y="2304"/>
              <a:ext cx="2947" cy="1616"/>
              <a:chOff x="2496" y="2304"/>
              <a:chExt cx="2947" cy="1616"/>
            </a:xfrm>
          </p:grpSpPr>
          <p:pic>
            <p:nvPicPr>
              <p:cNvPr id="151562" name="Picture 10" descr="01-5组装屏式过热器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96" y="2304"/>
                <a:ext cx="2947" cy="161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1563" name="Text Box 11"/>
              <p:cNvSpPr txBox="1">
                <a:spLocks noChangeAspect="1"/>
              </p:cNvSpPr>
              <p:nvPr/>
            </p:nvSpPr>
            <p:spPr>
              <a:xfrm>
                <a:off x="4317" y="2304"/>
                <a:ext cx="1107" cy="32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过热器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5155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10270" y="6588125"/>
            <a:ext cx="596900" cy="26289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-142875"/>
            <a:ext cx="68357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提高高温强度的途径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2580" name="Rectangle 3"/>
          <p:cNvSpPr>
            <a:spLocks noGrp="1"/>
          </p:cNvSpPr>
          <p:nvPr>
            <p:ph idx="1"/>
          </p:nvPr>
        </p:nvSpPr>
        <p:spPr>
          <a:xfrm>
            <a:off x="395288" y="1285875"/>
            <a:ext cx="4824412" cy="478631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①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固溶强化；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②</a:t>
            </a:r>
            <a:r>
              <a:rPr lang="zh-CN" altLang="en-US" b="1" dirty="0">
                <a:ea typeface="华文中宋" panose="02010600040101010101" pitchFamily="2" charset="-122"/>
              </a:rPr>
              <a:t> 析出强化；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③</a:t>
            </a:r>
            <a:r>
              <a:rPr lang="zh-CN" altLang="en-US" b="1" dirty="0">
                <a:ea typeface="华文中宋" panose="02010600040101010101" pitchFamily="2" charset="-122"/>
              </a:rPr>
              <a:t> 晶界强化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加入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Zr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等降低晶界能量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)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grpSp>
        <p:nvGrpSpPr>
          <p:cNvPr id="152582" name="Group 18"/>
          <p:cNvGrpSpPr/>
          <p:nvPr/>
        </p:nvGrpSpPr>
        <p:grpSpPr>
          <a:xfrm>
            <a:off x="4727163" y="4904186"/>
            <a:ext cx="3257550" cy="1773237"/>
            <a:chOff x="3878" y="3203"/>
            <a:chExt cx="1684" cy="1030"/>
          </a:xfrm>
        </p:grpSpPr>
        <p:pic>
          <p:nvPicPr>
            <p:cNvPr id="152590" name="Picture 8" descr="GDTⅢ合金组织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78" y="3203"/>
              <a:ext cx="1684" cy="103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2591" name="Rectangle 9"/>
            <p:cNvSpPr>
              <a:spLocks noChangeAspect="1"/>
            </p:cNvSpPr>
            <p:nvPr/>
          </p:nvSpPr>
          <p:spPr>
            <a:xfrm>
              <a:off x="4105" y="4020"/>
              <a:ext cx="1315" cy="152"/>
            </a:xfrm>
            <a:prstGeom prst="rect">
              <a:avLst/>
            </a:prstGeom>
            <a:solidFill>
              <a:srgbClr val="CCFFFF"/>
            </a:solidFill>
            <a:ln w="2857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高温合金中的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’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析出相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2583" name="Group 17"/>
          <p:cNvGrpSpPr/>
          <p:nvPr/>
        </p:nvGrpSpPr>
        <p:grpSpPr>
          <a:xfrm>
            <a:off x="5776588" y="2946533"/>
            <a:ext cx="2916238" cy="1854200"/>
            <a:chOff x="3742" y="2568"/>
            <a:chExt cx="1837" cy="1168"/>
          </a:xfrm>
        </p:grpSpPr>
        <p:pic>
          <p:nvPicPr>
            <p:cNvPr id="152588" name="Picture 11" descr="旋转 锯齿状晶界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2" y="2568"/>
              <a:ext cx="1837" cy="116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2589" name="Rectangle 12"/>
            <p:cNvSpPr/>
            <p:nvPr/>
          </p:nvSpPr>
          <p:spPr>
            <a:xfrm>
              <a:off x="3923" y="3566"/>
              <a:ext cx="1588" cy="152"/>
            </a:xfrm>
            <a:prstGeom prst="rect">
              <a:avLst/>
            </a:prstGeom>
            <a:solidFill>
              <a:srgbClr val="CCFFFF"/>
            </a:solidFill>
            <a:ln w="2857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高温合金中的弯曲晶界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2584" name="Group 16"/>
          <p:cNvGrpSpPr/>
          <p:nvPr/>
        </p:nvGrpSpPr>
        <p:grpSpPr>
          <a:xfrm>
            <a:off x="4572000" y="1199515"/>
            <a:ext cx="3005463" cy="1683385"/>
            <a:chOff x="3334" y="1298"/>
            <a:chExt cx="2103" cy="1186"/>
          </a:xfrm>
        </p:grpSpPr>
        <p:pic>
          <p:nvPicPr>
            <p:cNvPr id="152586" name="Picture 14" descr="Al合金中停止扩展的裂纹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4" y="1298"/>
              <a:ext cx="2083" cy="118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2587" name="Rectangle 15"/>
            <p:cNvSpPr/>
            <p:nvPr/>
          </p:nvSpPr>
          <p:spPr>
            <a:xfrm>
              <a:off x="3334" y="2296"/>
              <a:ext cx="2103" cy="152"/>
            </a:xfrm>
            <a:prstGeom prst="rect">
              <a:avLst/>
            </a:prstGeom>
            <a:solidFill>
              <a:srgbClr val="CCFFFF"/>
            </a:solidFill>
            <a:ln w="2857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裂纹中止于晶界颗粒状析出物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258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0"/>
            <a:ext cx="67722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㈡ 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常用耐热钢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3604" name="Rectangle 3"/>
          <p:cNvSpPr>
            <a:spLocks noGrp="1"/>
          </p:cNvSpPr>
          <p:nvPr>
            <p:ph idx="1"/>
          </p:nvPr>
        </p:nvSpPr>
        <p:spPr>
          <a:xfrm>
            <a:off x="323850" y="1071563"/>
            <a:ext cx="5903913" cy="53578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、珠光体耐热钢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常用钢号：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15CrMo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12Cr1MoV</a:t>
            </a:r>
            <a:r>
              <a:rPr lang="zh-CN" altLang="en-US" b="1" dirty="0">
                <a:ea typeface="华文中宋" panose="02010600040101010101" pitchFamily="2" charset="-122"/>
              </a:rPr>
              <a:t>，是低合金钢。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、马氏体耐热钢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常用钢号：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1Cr11MoV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4Cr9Si2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、奥氏体耐热钢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最典型钢号：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1Cr18Ni9Ti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332538" y="1557338"/>
            <a:ext cx="2525712" cy="4229100"/>
            <a:chOff x="2928" y="456"/>
            <a:chExt cx="2542" cy="3275"/>
          </a:xfrm>
        </p:grpSpPr>
        <p:grpSp>
          <p:nvGrpSpPr>
            <p:cNvPr id="153608" name="Group 6"/>
            <p:cNvGrpSpPr/>
            <p:nvPr/>
          </p:nvGrpSpPr>
          <p:grpSpPr>
            <a:xfrm>
              <a:off x="2928" y="456"/>
              <a:ext cx="2542" cy="1883"/>
              <a:chOff x="2928" y="384"/>
              <a:chExt cx="2542" cy="1883"/>
            </a:xfrm>
          </p:grpSpPr>
          <p:pic>
            <p:nvPicPr>
              <p:cNvPr id="153612" name="Picture 7" descr="turbine2涡轮机机壳（0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976" y="384"/>
                <a:ext cx="2494" cy="1540"/>
              </a:xfrm>
              <a:prstGeom prst="rect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3613" name="Text Box 8"/>
              <p:cNvSpPr txBox="1"/>
              <p:nvPr/>
            </p:nvSpPr>
            <p:spPr>
              <a:xfrm>
                <a:off x="2928" y="1656"/>
                <a:ext cx="1104" cy="611"/>
              </a:xfrm>
              <a:prstGeom prst="rect">
                <a:avLst/>
              </a:prstGeom>
              <a:solidFill>
                <a:schemeClr val="bg2">
                  <a:alpha val="50195"/>
                </a:schemeClr>
              </a:solidFill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24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涡轮机机壳</a:t>
                </a:r>
                <a:endPara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3609" name="Group 9"/>
            <p:cNvGrpSpPr/>
            <p:nvPr/>
          </p:nvGrpSpPr>
          <p:grpSpPr>
            <a:xfrm>
              <a:off x="2940" y="2024"/>
              <a:ext cx="2530" cy="1707"/>
              <a:chOff x="2940" y="2100"/>
              <a:chExt cx="2530" cy="1707"/>
            </a:xfrm>
          </p:grpSpPr>
          <p:pic>
            <p:nvPicPr>
              <p:cNvPr id="153610" name="Picture 10" descr="钢制法兰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976" y="2112"/>
                <a:ext cx="2494" cy="1695"/>
              </a:xfrm>
              <a:prstGeom prst="rect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3611" name="Text Box 11"/>
              <p:cNvSpPr txBox="1"/>
              <p:nvPr/>
            </p:nvSpPr>
            <p:spPr>
              <a:xfrm>
                <a:off x="2940" y="2100"/>
                <a:ext cx="960" cy="61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4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钢制法兰</a:t>
                </a:r>
                <a:endPara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5360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29625" y="6510338"/>
            <a:ext cx="528638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6445" y="19050"/>
            <a:ext cx="8091170" cy="1177925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㈡   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常用耐热钢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</a:t>
            </a:r>
            <a:r>
              <a:rPr lang="en-US" altLang="zh-CN" sz="4000" b="1" dirty="0">
                <a:ea typeface="华文中宋" panose="02010600040101010101" pitchFamily="2" charset="-122"/>
              </a:rPr>
              <a:t>1</a:t>
            </a:r>
            <a:r>
              <a:rPr lang="zh-CN" altLang="en-US" sz="4000" b="1" dirty="0">
                <a:ea typeface="华文中宋" panose="02010600040101010101" pitchFamily="2" charset="-122"/>
              </a:rPr>
              <a:t>、珠光体耐热钢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4628" name="Rectangle 3"/>
          <p:cNvSpPr>
            <a:spLocks noGrp="1"/>
          </p:cNvSpPr>
          <p:nvPr>
            <p:ph idx="1"/>
          </p:nvPr>
        </p:nvSpPr>
        <p:spPr>
          <a:xfrm>
            <a:off x="285549" y="1726149"/>
            <a:ext cx="5903913" cy="4699381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常用钢号：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15CrMo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12Cr1MoV</a:t>
            </a:r>
            <a:r>
              <a:rPr lang="zh-CN" altLang="en-US" b="1" dirty="0">
                <a:ea typeface="华文中宋" panose="02010600040101010101" pitchFamily="2" charset="-122"/>
              </a:rPr>
              <a:t>，是低合金钢。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合金元素作用：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提高抗氧化性；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提高热强性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(T</a:t>
            </a:r>
            <a:r>
              <a:rPr lang="zh-CN" altLang="en-US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再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en-US" altLang="zh-CN" b="1" dirty="0">
                <a:ea typeface="华文中宋" panose="02010600040101010101" pitchFamily="2" charset="-122"/>
              </a:rPr>
              <a:t>;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弥散强化。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060060" y="1600326"/>
            <a:ext cx="2798190" cy="4921837"/>
            <a:chOff x="2940" y="506"/>
            <a:chExt cx="2530" cy="3178"/>
          </a:xfrm>
        </p:grpSpPr>
        <p:grpSp>
          <p:nvGrpSpPr>
            <p:cNvPr id="154632" name="Group 6"/>
            <p:cNvGrpSpPr/>
            <p:nvPr/>
          </p:nvGrpSpPr>
          <p:grpSpPr>
            <a:xfrm>
              <a:off x="3057" y="506"/>
              <a:ext cx="2413" cy="1504"/>
              <a:chOff x="3057" y="434"/>
              <a:chExt cx="2413" cy="1504"/>
            </a:xfrm>
          </p:grpSpPr>
          <p:pic>
            <p:nvPicPr>
              <p:cNvPr id="154636" name="Picture 7" descr="turbine2涡轮机机壳（0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57" y="434"/>
                <a:ext cx="2413" cy="1490"/>
              </a:xfrm>
              <a:prstGeom prst="rect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4637" name="Text Box 8"/>
              <p:cNvSpPr txBox="1"/>
              <p:nvPr/>
            </p:nvSpPr>
            <p:spPr>
              <a:xfrm>
                <a:off x="3057" y="1640"/>
                <a:ext cx="1661" cy="298"/>
              </a:xfrm>
              <a:prstGeom prst="rect">
                <a:avLst/>
              </a:prstGeom>
              <a:solidFill>
                <a:schemeClr val="bg2">
                  <a:alpha val="50195"/>
                </a:schemeClr>
              </a:solidFill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l" eaLnBrk="1" hangingPunct="1"/>
                <a:r>
                  <a:rPr lang="zh-CN" altLang="en-US" sz="24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涡轮机机壳</a:t>
                </a:r>
                <a:endPara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633" name="Group 9"/>
            <p:cNvGrpSpPr/>
            <p:nvPr/>
          </p:nvGrpSpPr>
          <p:grpSpPr>
            <a:xfrm>
              <a:off x="2940" y="2024"/>
              <a:ext cx="2518" cy="1660"/>
              <a:chOff x="2940" y="2100"/>
              <a:chExt cx="2518" cy="1660"/>
            </a:xfrm>
          </p:grpSpPr>
          <p:pic>
            <p:nvPicPr>
              <p:cNvPr id="154634" name="Picture 10" descr="钢制法兰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57" y="2128"/>
                <a:ext cx="2401" cy="1632"/>
              </a:xfrm>
              <a:prstGeom prst="rect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4635" name="Text Box 11"/>
              <p:cNvSpPr txBox="1"/>
              <p:nvPr/>
            </p:nvSpPr>
            <p:spPr>
              <a:xfrm>
                <a:off x="2940" y="2100"/>
                <a:ext cx="1584" cy="29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zh-CN" altLang="en-US" sz="24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钢制法兰</a:t>
                </a:r>
                <a:endPara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5463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35696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1063" y="6597352"/>
            <a:ext cx="528637" cy="260648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6201" name="Rectangle 9"/>
          <p:cNvSpPr>
            <a:spLocks noGrp="1"/>
          </p:cNvSpPr>
          <p:nvPr>
            <p:ph idx="1"/>
          </p:nvPr>
        </p:nvSpPr>
        <p:spPr>
          <a:xfrm>
            <a:off x="571500" y="857250"/>
            <a:ext cx="3971925" cy="2209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    正火 </a:t>
            </a:r>
            <a:r>
              <a:rPr lang="en-US" altLang="zh-CN" b="1" dirty="0">
                <a:solidFill>
                  <a:srgbClr val="CCFF99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高温回火</a:t>
            </a:r>
            <a:endParaRPr lang="zh-CN" altLang="en-US" b="1" dirty="0">
              <a:solidFill>
                <a:srgbClr val="CCFF99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组织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</a:t>
            </a:r>
            <a:r>
              <a:rPr lang="en-US" altLang="zh-CN" b="1" dirty="0">
                <a:solidFill>
                  <a:srgbClr val="D1FFFF"/>
                </a:solidFill>
                <a:ea typeface="华文中宋" panose="02010600040101010101" pitchFamily="2" charset="-122"/>
              </a:rPr>
              <a:t> 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F+P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accent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⑷ 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用途：</a:t>
            </a:r>
            <a:r>
              <a:rPr lang="en-US" altLang="zh-CN" dirty="0">
                <a:solidFill>
                  <a:srgbClr val="EF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600℃</a:t>
            </a:r>
            <a:r>
              <a:rPr lang="zh-CN" altLang="en-US" dirty="0">
                <a:solidFill>
                  <a:srgbClr val="EF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以下的锅炉零件</a:t>
            </a:r>
            <a:r>
              <a:rPr lang="en-US" altLang="zh-CN" dirty="0">
                <a:solidFill>
                  <a:srgbClr val="EF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zh-CN" altLang="en-US" dirty="0">
                <a:solidFill>
                  <a:srgbClr val="EF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压力容器，热交换器等。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dirty="0">
              <a:ea typeface="华文中宋" panose="02010600040101010101" pitchFamily="2" charset="-122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5425661" y="1246073"/>
            <a:ext cx="3182364" cy="4735310"/>
            <a:chOff x="3290" y="609"/>
            <a:chExt cx="2005" cy="2983"/>
          </a:xfrm>
        </p:grpSpPr>
        <p:grpSp>
          <p:nvGrpSpPr>
            <p:cNvPr id="155657" name="Group 16"/>
            <p:cNvGrpSpPr>
              <a:grpSpLocks noChangeAspect="1"/>
            </p:cNvGrpSpPr>
            <p:nvPr/>
          </p:nvGrpSpPr>
          <p:grpSpPr>
            <a:xfrm>
              <a:off x="3290" y="609"/>
              <a:ext cx="1955" cy="1288"/>
              <a:chOff x="3286" y="576"/>
              <a:chExt cx="2062" cy="1358"/>
            </a:xfrm>
          </p:grpSpPr>
          <p:pic>
            <p:nvPicPr>
              <p:cNvPr id="155661" name="Picture 11" descr="锅炉管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286" y="576"/>
                <a:ext cx="2062" cy="135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5662" name="Text Box 15"/>
              <p:cNvSpPr txBox="1">
                <a:spLocks noChangeAspect="1"/>
              </p:cNvSpPr>
              <p:nvPr/>
            </p:nvSpPr>
            <p:spPr>
              <a:xfrm>
                <a:off x="3389" y="639"/>
                <a:ext cx="720" cy="26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锅炉管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5658" name="Group 23"/>
            <p:cNvGrpSpPr/>
            <p:nvPr/>
          </p:nvGrpSpPr>
          <p:grpSpPr>
            <a:xfrm>
              <a:off x="3372" y="1984"/>
              <a:ext cx="1923" cy="1608"/>
              <a:chOff x="3372" y="1984"/>
              <a:chExt cx="1923" cy="1608"/>
            </a:xfrm>
          </p:grpSpPr>
          <p:pic>
            <p:nvPicPr>
              <p:cNvPr id="155659" name="Picture 20" descr="组织1000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372" y="1984"/>
                <a:ext cx="1923" cy="141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5660" name="Rectangle 22"/>
              <p:cNvSpPr/>
              <p:nvPr/>
            </p:nvSpPr>
            <p:spPr>
              <a:xfrm>
                <a:off x="3479" y="3400"/>
                <a:ext cx="1104" cy="192"/>
              </a:xfrm>
              <a:prstGeom prst="rect">
                <a:avLst/>
              </a:prstGeom>
              <a:solidFill>
                <a:schemeClr val="tx1"/>
              </a:solidFill>
              <a:ln w="28575">
                <a:noFill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15CrMo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正火组织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25" y="0"/>
            <a:ext cx="6384925" cy="8826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、珠光体耐热钢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565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6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6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6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01" grpId="0" advAuto="1000" build="p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571615"/>
            <a:ext cx="528320" cy="28638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0"/>
            <a:ext cx="6623050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、马氏体耐热钢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6676" name="Rectangle 3"/>
          <p:cNvSpPr>
            <a:spLocks noGrp="1"/>
          </p:cNvSpPr>
          <p:nvPr>
            <p:ph idx="1"/>
          </p:nvPr>
        </p:nvSpPr>
        <p:spPr>
          <a:xfrm>
            <a:off x="250825" y="857250"/>
            <a:ext cx="6262688" cy="5715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常用钢号为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1Cr11MoV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4Cr9Si2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合金元素作用：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  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提高抗氧化性</a:t>
            </a:r>
            <a:r>
              <a:rPr lang="en-US" altLang="zh-CN" b="1" dirty="0">
                <a:ea typeface="华文中宋" panose="02010600040101010101" pitchFamily="2" charset="-122"/>
              </a:rPr>
              <a:t>; 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  Mo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提高热强性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(T</a:t>
            </a:r>
            <a:r>
              <a:rPr lang="zh-CN" altLang="en-US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再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en-US" altLang="zh-CN" b="1" dirty="0">
                <a:ea typeface="华文中宋" panose="02010600040101010101" pitchFamily="2" charset="-122"/>
              </a:rPr>
              <a:t>;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  V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弥散强化。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调质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⑶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组织：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回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724525" y="1916113"/>
            <a:ext cx="3236913" cy="4333875"/>
            <a:chOff x="2688" y="480"/>
            <a:chExt cx="2720" cy="3274"/>
          </a:xfrm>
        </p:grpSpPr>
        <p:pic>
          <p:nvPicPr>
            <p:cNvPr id="156680" name="Picture 6" descr="川投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88" y="2448"/>
              <a:ext cx="2720" cy="130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156681" name="Group 7"/>
            <p:cNvGrpSpPr>
              <a:grpSpLocks noChangeAspect="1"/>
            </p:cNvGrpSpPr>
            <p:nvPr/>
          </p:nvGrpSpPr>
          <p:grpSpPr>
            <a:xfrm>
              <a:off x="3024" y="480"/>
              <a:ext cx="2380" cy="1754"/>
              <a:chOff x="3024" y="480"/>
              <a:chExt cx="2462" cy="1813"/>
            </a:xfrm>
          </p:grpSpPr>
          <p:pic>
            <p:nvPicPr>
              <p:cNvPr id="156682" name="Picture 8" descr="汽轮机叶片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24" y="480"/>
                <a:ext cx="2462" cy="181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6683" name="Text Box 9"/>
              <p:cNvSpPr txBox="1">
                <a:spLocks noChangeAspect="1"/>
              </p:cNvSpPr>
              <p:nvPr/>
            </p:nvSpPr>
            <p:spPr>
              <a:xfrm>
                <a:off x="3648" y="480"/>
                <a:ext cx="1200" cy="6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4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汽轮机叶片</a:t>
                </a:r>
                <a:endPara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5667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62626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、马氏体耐热钢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7700" name="Rectangle 3"/>
          <p:cNvSpPr>
            <a:spLocks noGrp="1"/>
          </p:cNvSpPr>
          <p:nvPr>
            <p:ph idx="1"/>
          </p:nvPr>
        </p:nvSpPr>
        <p:spPr>
          <a:xfrm>
            <a:off x="468313" y="1000125"/>
            <a:ext cx="8280400" cy="43116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用途：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1Cr11MoV</a:t>
            </a:r>
            <a:r>
              <a:rPr lang="zh-CN" altLang="en-US" b="1" dirty="0">
                <a:ea typeface="华文中宋" panose="02010600040101010101" pitchFamily="2" charset="-122"/>
              </a:rPr>
              <a:t>用于</a:t>
            </a:r>
            <a:r>
              <a:rPr lang="en-US" altLang="zh-CN" b="1" dirty="0">
                <a:ea typeface="华文中宋" panose="02010600040101010101" pitchFamily="2" charset="-122"/>
              </a:rPr>
              <a:t>550℃</a:t>
            </a:r>
            <a:r>
              <a:rPr lang="zh-CN" altLang="en-US" b="1" dirty="0">
                <a:ea typeface="华文中宋" panose="02010600040101010101" pitchFamily="2" charset="-122"/>
              </a:rPr>
              <a:t>以下汽轮机叶片；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4Cr9Si2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汽车阀门</a:t>
            </a:r>
            <a:r>
              <a:rPr lang="zh-CN" altLang="en-US" b="1" dirty="0">
                <a:ea typeface="华文中宋" panose="02010600040101010101" pitchFamily="2" charset="-122"/>
              </a:rPr>
              <a:t>用钢。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258888" y="3500438"/>
            <a:ext cx="7316787" cy="2711450"/>
            <a:chOff x="528" y="1728"/>
            <a:chExt cx="4874" cy="2185"/>
          </a:xfrm>
        </p:grpSpPr>
        <p:grpSp>
          <p:nvGrpSpPr>
            <p:cNvPr id="157704" name="Group 6"/>
            <p:cNvGrpSpPr/>
            <p:nvPr/>
          </p:nvGrpSpPr>
          <p:grpSpPr>
            <a:xfrm>
              <a:off x="528" y="1739"/>
              <a:ext cx="3060" cy="2173"/>
              <a:chOff x="528" y="1739"/>
              <a:chExt cx="3060" cy="2173"/>
            </a:xfrm>
          </p:grpSpPr>
          <p:pic>
            <p:nvPicPr>
              <p:cNvPr id="157708" name="Picture 7" descr="汽车进排气门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551" y="1750"/>
                <a:ext cx="3037" cy="216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7709" name="Text Box 8"/>
              <p:cNvSpPr txBox="1">
                <a:spLocks noChangeAspect="1"/>
              </p:cNvSpPr>
              <p:nvPr/>
            </p:nvSpPr>
            <p:spPr>
              <a:xfrm>
                <a:off x="528" y="1739"/>
                <a:ext cx="816" cy="32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solidFill>
                      <a:srgbClr val="CCFF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汽车阀门</a:t>
                </a:r>
                <a:endParaRPr lang="zh-CN" altLang="en-US" sz="2000" dirty="0">
                  <a:solidFill>
                    <a:srgbClr val="CCFF33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7705" name="Group 9"/>
            <p:cNvGrpSpPr>
              <a:grpSpLocks noChangeAspect="1"/>
            </p:cNvGrpSpPr>
            <p:nvPr/>
          </p:nvGrpSpPr>
          <p:grpSpPr>
            <a:xfrm>
              <a:off x="3674" y="1728"/>
              <a:ext cx="1728" cy="2185"/>
              <a:chOff x="3696" y="1752"/>
              <a:chExt cx="1812" cy="2291"/>
            </a:xfrm>
          </p:grpSpPr>
          <p:pic>
            <p:nvPicPr>
              <p:cNvPr id="157706" name="Picture 10" descr="2Cr13泄压阀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696" y="1776"/>
                <a:ext cx="1791" cy="2267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7707" name="Text Box 11"/>
              <p:cNvSpPr txBox="1">
                <a:spLocks noChangeAspect="1"/>
              </p:cNvSpPr>
              <p:nvPr/>
            </p:nvSpPr>
            <p:spPr>
              <a:xfrm>
                <a:off x="4259" y="1752"/>
                <a:ext cx="1249" cy="59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锅炉安全泄压阀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(2Cr13)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5770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704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9485" y="6654165"/>
            <a:ext cx="564515" cy="203835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-11430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、奥氏体耐热钢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8724" name="Rectangle 3"/>
          <p:cNvSpPr>
            <a:spLocks noGrp="1"/>
          </p:cNvSpPr>
          <p:nvPr>
            <p:ph idx="1"/>
          </p:nvPr>
        </p:nvSpPr>
        <p:spPr>
          <a:xfrm>
            <a:off x="250825" y="928688"/>
            <a:ext cx="5616575" cy="55721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最典型钢号：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1Cr18Ni9Ti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提高抗氧化性；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获得单相奥氏体</a:t>
            </a:r>
            <a:r>
              <a:rPr lang="en-US" altLang="zh-CN" b="1" dirty="0">
                <a:ea typeface="华文中宋" panose="02010600040101010101" pitchFamily="2" charset="-122"/>
              </a:rPr>
              <a:t>;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弥散强化。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热处理：采用固溶处理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组织：单相</a:t>
            </a:r>
            <a:r>
              <a:rPr lang="en-US" altLang="zh-CN" b="1" dirty="0">
                <a:solidFill>
                  <a:srgbClr val="CCFF99"/>
                </a:solidFill>
                <a:ea typeface="华文中宋" panose="02010600040101010101" pitchFamily="2" charset="-122"/>
              </a:rPr>
              <a:t>A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主要应用：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过热器管道</a:t>
            </a:r>
            <a:r>
              <a:rPr lang="zh-CN" altLang="en-US" b="1" dirty="0">
                <a:ea typeface="华文中宋" panose="02010600040101010101" pitchFamily="2" charset="-122"/>
              </a:rPr>
              <a:t>等。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011863" y="1484313"/>
            <a:ext cx="3132137" cy="4914900"/>
            <a:chOff x="3312" y="446"/>
            <a:chExt cx="2208" cy="3370"/>
          </a:xfrm>
        </p:grpSpPr>
        <p:grpSp>
          <p:nvGrpSpPr>
            <p:cNvPr id="158728" name="Group 6"/>
            <p:cNvGrpSpPr/>
            <p:nvPr/>
          </p:nvGrpSpPr>
          <p:grpSpPr>
            <a:xfrm>
              <a:off x="3312" y="446"/>
              <a:ext cx="2208" cy="1640"/>
              <a:chOff x="3312" y="288"/>
              <a:chExt cx="2208" cy="1640"/>
            </a:xfrm>
          </p:grpSpPr>
          <p:pic>
            <p:nvPicPr>
              <p:cNvPr id="158732" name="Picture 7" descr="01-16组装屏式过热器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312" y="288"/>
                <a:ext cx="2154" cy="161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8733" name="Text Box 8"/>
              <p:cNvSpPr txBox="1"/>
              <p:nvPr/>
            </p:nvSpPr>
            <p:spPr>
              <a:xfrm>
                <a:off x="4417" y="1656"/>
                <a:ext cx="1103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r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过热器管排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8729" name="Group 9"/>
            <p:cNvGrpSpPr/>
            <p:nvPr/>
          </p:nvGrpSpPr>
          <p:grpSpPr>
            <a:xfrm>
              <a:off x="3312" y="2160"/>
              <a:ext cx="2208" cy="1656"/>
              <a:chOff x="3312" y="2208"/>
              <a:chExt cx="2208" cy="1656"/>
            </a:xfrm>
          </p:grpSpPr>
          <p:pic>
            <p:nvPicPr>
              <p:cNvPr id="158730" name="Picture 10" descr="01-36过热器集箱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312" y="2208"/>
                <a:ext cx="2154" cy="1615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8731" name="Text Box 11"/>
              <p:cNvSpPr txBox="1"/>
              <p:nvPr/>
            </p:nvSpPr>
            <p:spPr>
              <a:xfrm>
                <a:off x="4464" y="3592"/>
                <a:ext cx="1056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r"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过热器集箱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5872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6368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15974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8875" y="-142875"/>
            <a:ext cx="437537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常用耐热钢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97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159750" name="Picture 4" descr="T6-18(2-1)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68313" y="1179513"/>
            <a:ext cx="8424862" cy="5678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940405" y="1178977"/>
            <a:ext cx="288032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3"/>
              </a:rPr>
              <a:t>GB/T 1221-2007  </a:t>
            </a:r>
            <a:r>
              <a:rPr lang="zh-CN" altLang="en-US" dirty="0">
                <a:hlinkClick r:id="rId3"/>
              </a:rPr>
              <a:t>耐热钢棒</a:t>
            </a:r>
            <a:endParaRPr lang="zh-CN" altLang="en-US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9804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16077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graphicFrame>
        <p:nvGraphicFramePr>
          <p:cNvPr id="160772" name="表格 160771"/>
          <p:cNvGraphicFramePr/>
          <p:nvPr/>
        </p:nvGraphicFramePr>
        <p:xfrm>
          <a:off x="127000" y="165100"/>
          <a:ext cx="8915400" cy="6612763"/>
        </p:xfrm>
        <a:graphic>
          <a:graphicData uri="http://schemas.openxmlformats.org/drawingml/2006/table">
            <a:tbl>
              <a:tblPr/>
              <a:tblGrid>
                <a:gridCol w="1143000"/>
                <a:gridCol w="1219200"/>
                <a:gridCol w="2286000"/>
                <a:gridCol w="1524000"/>
                <a:gridCol w="2743200"/>
              </a:tblGrid>
              <a:tr h="412750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钢    号</a:t>
                      </a:r>
                      <a:endParaRPr lang="zh-CN" altLang="en-US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钢  种</a:t>
                      </a:r>
                      <a:endParaRPr lang="zh-CN" altLang="en-US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合金元素的主要作用</a:t>
                      </a:r>
                      <a:endParaRPr lang="zh-CN" altLang="en-US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热处理特点</a:t>
                      </a:r>
                      <a:endParaRPr lang="zh-CN" altLang="en-US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使用状态下组织</a:t>
                      </a:r>
                      <a:endParaRPr lang="zh-CN" altLang="en-US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15950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Q345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低合金高强度结构钢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Mn: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强化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，增加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量，降低冷脆转变温度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热轧空冷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F+P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41325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65Mn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弹簧钢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Mn: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提高淬透性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强化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淬火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中温回火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zh-CN" altLang="en-US" sz="16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42913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ZGMn13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耐磨钢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Mn: </a:t>
                      </a:r>
                      <a:r>
                        <a:rPr lang="zh-CN" altLang="en-US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获得单相</a:t>
                      </a:r>
                      <a:r>
                        <a:rPr lang="en-US" altLang="zh-CN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altLang="en-US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</a:t>
                      </a:r>
                      <a:endParaRPr lang="zh-CN" altLang="en-US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水韧处理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:M+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碳化物       心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:A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63575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20Cr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渗碳钢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提高淬透性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强化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渗碳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淬火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低温回火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</a:t>
                      </a: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zh-CN" altLang="en-US" sz="14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颗粒状碳化物</a:t>
                      </a: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+A’(</a:t>
                      </a:r>
                      <a:r>
                        <a:rPr lang="zh-CN" altLang="en-US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少量</a:t>
                      </a: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4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心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M</a:t>
                      </a:r>
                      <a:r>
                        <a:rPr lang="zh-CN" altLang="en-US" sz="16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+F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42912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40Cr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调质钢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提高淬透性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强化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调质处理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zh-CN" altLang="en-US" sz="16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endParaRPr lang="zh-CN" altLang="en-US" sz="1600" baseline="-25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536575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9SiCr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低合金工具钢</a:t>
                      </a:r>
                      <a:endParaRPr lang="zh-CN" altLang="en-US" sz="14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提高淬透性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淬火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低温回火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zh-CN" altLang="en-US" sz="16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颗粒状碳化物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+A’ (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少量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15950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GCr15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滚动轴承钢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提高淬透性，耐磨性，耐蚀性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淬火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低温回火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zh-CN" altLang="en-US" sz="16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颗粒状碳化物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+A’ (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少量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41325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1Cr13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马氏体不锈钢</a:t>
                      </a:r>
                      <a:endParaRPr lang="zh-CN" altLang="en-US" sz="14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提高耐蚀性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淬火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高温回火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zh-CN" altLang="en-US" sz="16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endParaRPr lang="zh-CN" altLang="en-US" sz="1600" baseline="-25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55600">
                <a:tc rowSpan="2"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5CrNiMo</a:t>
                      </a:r>
                      <a:endParaRPr lang="en-US" altLang="zh-CN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热作模具钢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</a:t>
                      </a:r>
                      <a:r>
                        <a:rPr lang="zh-CN" altLang="en-US" sz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Ni: </a:t>
                      </a:r>
                      <a:r>
                        <a:rPr lang="zh-CN" altLang="en-US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提高淬透性</a:t>
                      </a: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lang="zh-CN" altLang="en-US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强化</a:t>
                      </a: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sz="14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淬火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高温回火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zh-CN" altLang="en-US" sz="16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endParaRPr lang="zh-CN" altLang="en-US" sz="1600" baseline="-25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84175">
                <a:tc vMerge="1">
                  <a:tcPr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防止高温回火脆性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vMerge="1">
                  <a:tcPr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Cr12MoV</a:t>
                      </a:r>
                      <a:endParaRPr lang="en-US" altLang="zh-CN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冷作模具钢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Mo: </a:t>
                      </a:r>
                      <a:r>
                        <a:rPr lang="zh-CN" altLang="en-US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细化晶粒，提高耐磨性</a:t>
                      </a:r>
                      <a:endParaRPr lang="zh-CN" altLang="en-US" sz="14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淬火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低温回火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zh-CN" altLang="en-US" sz="16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颗粒状碳化物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+A’ (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少量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31800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W18Cr4V</a:t>
                      </a:r>
                      <a:endParaRPr lang="en-US" altLang="zh-CN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高速钢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提高耐磨性、热硬性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淬火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低温回火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zh-CN" altLang="en-US" sz="1600" baseline="-25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颗粒状碳化物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+A’ (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少量</a:t>
                      </a: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84175"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1Cr18Ni9Ti</a:t>
                      </a:r>
                      <a:endParaRPr lang="en-US" altLang="zh-CN" sz="14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不锈钢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Ti: </a:t>
                      </a: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防止晶间腐蚀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固溶处理</a:t>
                      </a:r>
                      <a:endParaRPr lang="zh-CN" altLang="en-US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lvl="2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lvl="3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lvl="4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16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7150" marR="76200" marT="76200" marB="76200" anchor="ctr">
                    <a:lnL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rgbClr val="FF66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8200" y="6533515"/>
            <a:ext cx="715010" cy="30607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939" y="44624"/>
            <a:ext cx="612933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作业（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P108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1796" name="Rectangle 3"/>
          <p:cNvSpPr>
            <a:spLocks noGrp="1"/>
          </p:cNvSpPr>
          <p:nvPr>
            <p:ph idx="1"/>
          </p:nvPr>
        </p:nvSpPr>
        <p:spPr>
          <a:xfrm>
            <a:off x="685800" y="2132856"/>
            <a:ext cx="7772400" cy="3963144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4-1</a:t>
            </a:r>
            <a:endParaRPr lang="en-US" altLang="zh-CN" dirty="0"/>
          </a:p>
          <a:p>
            <a:pPr eaLnBrk="1" hangingPunct="1"/>
            <a:r>
              <a:rPr lang="en-US" altLang="zh-CN" dirty="0"/>
              <a:t>4-4.1</a:t>
            </a:r>
            <a:r>
              <a:rPr lang="zh-CN" altLang="en-US" dirty="0"/>
              <a:t>）、</a:t>
            </a:r>
            <a:r>
              <a:rPr lang="en-US" altLang="zh-CN" dirty="0"/>
              <a:t>2</a:t>
            </a:r>
            <a:r>
              <a:rPr lang="zh-CN" altLang="en-US" dirty="0"/>
              <a:t>）、</a:t>
            </a:r>
            <a:r>
              <a:rPr lang="en-US" altLang="zh-CN" dirty="0"/>
              <a:t>3</a:t>
            </a:r>
            <a:r>
              <a:rPr lang="zh-CN" altLang="en-US" dirty="0"/>
              <a:t>）、</a:t>
            </a:r>
            <a:endParaRPr lang="en-US" altLang="zh-CN" dirty="0"/>
          </a:p>
          <a:p>
            <a:pPr eaLnBrk="1" hangingPunct="1"/>
            <a:r>
              <a:rPr lang="en-US" altLang="zh-CN" dirty="0"/>
              <a:t>4-5</a:t>
            </a:r>
            <a:endParaRPr lang="en-US" altLang="zh-CN" dirty="0"/>
          </a:p>
          <a:p>
            <a:pPr eaLnBrk="1" hangingPunct="1"/>
            <a:r>
              <a:rPr lang="en-US" altLang="zh-CN" dirty="0"/>
              <a:t>4-7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6179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43063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8200" y="6533515"/>
            <a:ext cx="715010" cy="306070"/>
          </a:xfrm>
        </p:spPr>
        <p:txBody>
          <a:bodyPr lIns="92075" tIns="46038" rIns="92075" bIns="46038" anchor="ctr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6179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43063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7544" y="1844824"/>
            <a:ext cx="7772400" cy="1440160"/>
          </a:xfrm>
        </p:spPr>
        <p:txBody>
          <a:bodyPr/>
          <a:lstStyle/>
          <a:p>
            <a:r>
              <a:rPr lang="zh-CN" altLang="en-US" sz="8800" dirty="0">
                <a:solidFill>
                  <a:srgbClr val="FF0000"/>
                </a:solidFill>
              </a:rPr>
              <a:t>谢谢！</a:t>
            </a:r>
            <a:endParaRPr lang="zh-CN" altLang="en-US" sz="8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4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5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6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7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8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9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0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1.xml><?xml version="1.0" encoding="utf-8"?>
<p:tagLst xmlns:p="http://schemas.openxmlformats.org/presentationml/2006/main">
  <p:tag name="KSO_WM_DIAGRAM_VIRTUALLY_FRAME" val="{&quot;height&quot;:326.2447254675472,&quot;left&quot;:472.63299212598423,&quot;top&quot;:84.37503937007874,&quot;width&quot;:228.61700787401577}"/>
</p:tagLst>
</file>

<file path=ppt/tags/tag12.xml><?xml version="1.0" encoding="utf-8"?>
<p:tagLst xmlns:p="http://schemas.openxmlformats.org/presentationml/2006/main">
  <p:tag name="KSO_WM_DIAGRAM_VIRTUALLY_FRAME" val="{&quot;height&quot;:326.2447254675472,&quot;left&quot;:472.63299212598423,&quot;top&quot;:84.37503937007874,&quot;width&quot;:228.61700787401577}"/>
</p:tagLst>
</file>

<file path=ppt/tags/tag13.xml><?xml version="1.0" encoding="utf-8"?>
<p:tagLst xmlns:p="http://schemas.openxmlformats.org/presentationml/2006/main">
  <p:tag name="KSO_WM_DIAGRAM_VIRTUALLY_FRAME" val="{&quot;height&quot;:326.2447254675472,&quot;left&quot;:472.63299212598423,&quot;top&quot;:84.37503937007874,&quot;width&quot;:228.61700787401577}"/>
</p:tagLst>
</file>

<file path=ppt/tags/tag14.xml><?xml version="1.0" encoding="utf-8"?>
<p:tagLst xmlns:p="http://schemas.openxmlformats.org/presentationml/2006/main">
  <p:tag name="KSO_WM_DIAGRAM_VIRTUALLY_FRAME" val="{&quot;height&quot;:326.2447254675472,&quot;left&quot;:472.63299212598423,&quot;top&quot;:84.37503937007874,&quot;width&quot;:228.61700787401577}"/>
</p:tagLst>
</file>

<file path=ppt/tags/tag15.xml><?xml version="1.0" encoding="utf-8"?>
<p:tagLst xmlns:p="http://schemas.openxmlformats.org/presentationml/2006/main">
  <p:tag name="KSO_WM_DIAGRAM_VIRTUALLY_FRAME" val="{&quot;height&quot;:326.2447254675472,&quot;left&quot;:472.63299212598423,&quot;top&quot;:84.37503937007874,&quot;width&quot;:228.61700787401577}"/>
</p:tagLst>
</file>

<file path=ppt/tags/tag16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7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8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9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0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2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3.xml><?xml version="1.0" encoding="utf-8"?>
<p:tagLst xmlns:p="http://schemas.openxmlformats.org/presentationml/2006/main">
  <p:tag name="KSO_WM_DOC_GUID" val="{4213452b-c677-4549-a79a-3448988abd72}"/>
  <p:tag name="COMMONDATA" val="eyJoZGlkIjoiYWIxMGZkODRmZWFlMmJiZTRiODUwYmQ0N2UxMzdiOTYifQ==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800" b="1" i="0" u="none" strike="noStrike" cap="none" normalizeH="0" baseline="0" smtClean="0">
            <a:ln>
              <a:noFill/>
            </a:ln>
            <a:solidFill>
              <a:srgbClr val="8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800" b="1" i="0" u="none" strike="noStrike" cap="none" normalizeH="0" baseline="0" smtClean="0">
            <a:ln>
              <a:noFill/>
            </a:ln>
            <a:solidFill>
              <a:srgbClr val="8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6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FFFF00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E7E700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Designs\Soaring.pot</Template>
  <TotalTime>0</TotalTime>
  <Words>16669</Words>
  <Application>WPS 演示</Application>
  <PresentationFormat>全屏显示(4:3)</PresentationFormat>
  <Paragraphs>2647</Paragraphs>
  <Slides>182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182</vt:i4>
      </vt:variant>
    </vt:vector>
  </HeadingPairs>
  <TitlesOfParts>
    <vt:vector size="203" baseType="lpstr">
      <vt:lpstr>Arial</vt:lpstr>
      <vt:lpstr>宋体</vt:lpstr>
      <vt:lpstr>Wingdings</vt:lpstr>
      <vt:lpstr>Times New Roman</vt:lpstr>
      <vt:lpstr>Tahoma</vt:lpstr>
      <vt:lpstr>华文中宋</vt:lpstr>
      <vt:lpstr>仿宋_GB2312</vt:lpstr>
      <vt:lpstr>仿宋</vt:lpstr>
      <vt:lpstr>仿宋_GB2312</vt:lpstr>
      <vt:lpstr>楷体_GB2312</vt:lpstr>
      <vt:lpstr>新宋体</vt:lpstr>
      <vt:lpstr>Symbol</vt:lpstr>
      <vt:lpstr>Times New Roman</vt:lpstr>
      <vt:lpstr>微软雅黑</vt:lpstr>
      <vt:lpstr>Arial Unicode MS</vt:lpstr>
      <vt:lpstr>华文宋体</vt:lpstr>
      <vt:lpstr>Helvetica</vt:lpstr>
      <vt:lpstr>等线</vt:lpstr>
      <vt:lpstr>Wingdings</vt:lpstr>
      <vt:lpstr>黑体</vt:lpstr>
      <vt:lpstr>Soaring</vt:lpstr>
      <vt:lpstr>U2041170  《工程材料与成型技术》 Engineering Materials and Forming Technology   44+4学时，3学分</vt:lpstr>
      <vt:lpstr>第五章  钢铁材料 Steels &amp; Irons     </vt:lpstr>
      <vt:lpstr>本章主要教学目标 Learning Objectives</vt:lpstr>
      <vt:lpstr>第五章  钢铁材料</vt:lpstr>
      <vt:lpstr>工业用钢</vt:lpstr>
      <vt:lpstr>第一节  钢的分类及编号 Classification and Numbering of Steels</vt:lpstr>
      <vt:lpstr>第一节  钢的分类及编号</vt:lpstr>
      <vt:lpstr>一、钢的分类—1、按化学成分分                </vt:lpstr>
      <vt:lpstr>PowerPoint 演示文稿</vt:lpstr>
      <vt:lpstr>钢的分类——2、按冶炼质量分</vt:lpstr>
      <vt:lpstr>钢的分类—— 3、按冶炼方法分</vt:lpstr>
      <vt:lpstr>钢的分类—— 4、按金相组织分</vt:lpstr>
      <vt:lpstr>钢的分类—— 5、按用途分 </vt:lpstr>
      <vt:lpstr>二、钢的编号</vt:lpstr>
      <vt:lpstr>二、钢的编号</vt:lpstr>
      <vt:lpstr>二、钢的编号——牌号表示方法</vt:lpstr>
      <vt:lpstr>常用钢产品的名称、用途、特性和工艺方法表示符号（GB/T 221—2008）（P103表6-2）</vt:lpstr>
      <vt:lpstr>常用钢产品的名称、用途、特性和工艺方法表示符号（GB/T 221—2008）（P102表6-2）</vt:lpstr>
      <vt:lpstr>常用钢产品的名称、用途、特性和工艺方法表示符号（GB/T 221—2008）（P102表6-2（续））</vt:lpstr>
      <vt:lpstr>1、碳素结构钢和低合金高强度钢</vt:lpstr>
      <vt:lpstr>1、碳素结构钢和低合金高强度钢</vt:lpstr>
      <vt:lpstr>2、优质碳素结构钢</vt:lpstr>
      <vt:lpstr>2、优质碳素结构钢——说明</vt:lpstr>
      <vt:lpstr>3、合金结构钢和合金弹簧钢</vt:lpstr>
      <vt:lpstr>3、合金结构钢和合金弹簧钢</vt:lpstr>
      <vt:lpstr>4、工具钢</vt:lpstr>
      <vt:lpstr>⑵ 合金工具钢</vt:lpstr>
      <vt:lpstr>5、轴承钢</vt:lpstr>
      <vt:lpstr>6、不锈钢和耐热钢</vt:lpstr>
      <vt:lpstr>6、不锈钢和耐热钢（续）</vt:lpstr>
      <vt:lpstr>6、不锈钢和耐热钢（续）</vt:lpstr>
      <vt:lpstr>7、铸钢</vt:lpstr>
      <vt:lpstr>钢铁及合金牌号统一数字代号体系</vt:lpstr>
      <vt:lpstr>钢铁及合金牌号统一数字代号体系</vt:lpstr>
      <vt:lpstr>第二节   钢中的杂质及合金元素 Impurities and alloying elements in steels</vt:lpstr>
      <vt:lpstr>第二节    钢中的杂质及合金元素</vt:lpstr>
      <vt:lpstr>钢中的杂质——（1）  Mn</vt:lpstr>
      <vt:lpstr>（2）钢中的杂质——Si</vt:lpstr>
      <vt:lpstr>（3）钢中的杂质—— S</vt:lpstr>
      <vt:lpstr>（4）钢中的杂质—— P</vt:lpstr>
      <vt:lpstr>（5）气体元素——① N</vt:lpstr>
      <vt:lpstr>（5）气体元素——② O</vt:lpstr>
      <vt:lpstr>（5）气体元素—— ③ H</vt:lpstr>
      <vt:lpstr>二、合金元素在钢中的作用</vt:lpstr>
      <vt:lpstr>㈠ 对钢中基本相的影响</vt:lpstr>
      <vt:lpstr>2、形成碳化物，起强化相作用</vt:lpstr>
      <vt:lpstr>PowerPoint 演示文稿</vt:lpstr>
      <vt:lpstr>㈡ 对Fe - Fe3C相图的影响</vt:lpstr>
      <vt:lpstr>1、对奥氏体相区的影响</vt:lpstr>
      <vt:lpstr>1、对奥氏体相区的影响</vt:lpstr>
      <vt:lpstr>2、对E点和S点位置的影响</vt:lpstr>
      <vt:lpstr>㈢ 对钢中相变过程的影响</vt:lpstr>
      <vt:lpstr>1、对奥氏体化的影响</vt:lpstr>
      <vt:lpstr>2、对过冷奥氏体转变的影响</vt:lpstr>
      <vt:lpstr>3、对回火转变的影响</vt:lpstr>
      <vt:lpstr>3、对回火转变的影响</vt:lpstr>
      <vt:lpstr>第三节  结构钢 Structural Steels </vt:lpstr>
      <vt:lpstr>第三节  结构钢</vt:lpstr>
      <vt:lpstr>第三节  结构钢</vt:lpstr>
      <vt:lpstr>一、碳素结构钢 Carbon Structural steel</vt:lpstr>
      <vt:lpstr>一、碳素结构钢</vt:lpstr>
      <vt:lpstr>一、碳素结构钢</vt:lpstr>
      <vt:lpstr>一、碳素结构钢</vt:lpstr>
      <vt:lpstr>二、优质碳素结构钢 High –quality Carbon Structural Steel</vt:lpstr>
      <vt:lpstr>二、优质碳素结构钢</vt:lpstr>
      <vt:lpstr>二、优质碳素结构钢</vt:lpstr>
      <vt:lpstr> 三、低合金高强度结构钢 Low-alloy high-tensile structural Steel</vt:lpstr>
      <vt:lpstr> 三、低合金高强度结构钢</vt:lpstr>
      <vt:lpstr>三、低合金高强度结构钢</vt:lpstr>
      <vt:lpstr>三、低合金高强度结构钢</vt:lpstr>
      <vt:lpstr>三、低合金高强度结构钢牌号、成分、性能（P111、112表6-6）</vt:lpstr>
      <vt:lpstr>三、低合金高强度结构钢</vt:lpstr>
      <vt:lpstr>三、低合金高强度结构钢牌号、成分、性能</vt:lpstr>
      <vt:lpstr>四、渗碳钢 Carburizing Steel</vt:lpstr>
      <vt:lpstr>四、渗碳钢</vt:lpstr>
      <vt:lpstr>四、渗碳钢——2、成分特点</vt:lpstr>
      <vt:lpstr>四、渗碳钢——3、热处理特点</vt:lpstr>
      <vt:lpstr>四、渗碳钢—4、常用钢号及用途</vt:lpstr>
      <vt:lpstr>四、渗碳钢——4、常用钢号及用途</vt:lpstr>
      <vt:lpstr>常用渗碳钢（P114表6-7）</vt:lpstr>
      <vt:lpstr>五、调质钢 Hardened and tempered steel</vt:lpstr>
      <vt:lpstr>五、调质钢</vt:lpstr>
      <vt:lpstr>五、调质钢——2、成分特点</vt:lpstr>
      <vt:lpstr>五、调质钢—3、热处理及组织特点</vt:lpstr>
      <vt:lpstr>五、调质钢——4、常用钢号及用途</vt:lpstr>
      <vt:lpstr>调质钢常用钢号及用途（P115表6-9）</vt:lpstr>
      <vt:lpstr>六、弹簧钢 Spring Steel</vt:lpstr>
      <vt:lpstr>六、弹簧钢</vt:lpstr>
      <vt:lpstr>六、弹簧钢——2、成分特点</vt:lpstr>
      <vt:lpstr>六、弹簧钢—3、热处理及组织特点</vt:lpstr>
      <vt:lpstr>六、弹簧钢—4、弹簧的表面质量</vt:lpstr>
      <vt:lpstr>六、弹簧钢—5、常用钢号及用途</vt:lpstr>
      <vt:lpstr>六、弹簧钢常用钢号及用途</vt:lpstr>
      <vt:lpstr>七、滚动轴承钢 Rolling Bearing Steel</vt:lpstr>
      <vt:lpstr>七、滚动轴承钢</vt:lpstr>
      <vt:lpstr>七、滚动轴承钢—2、成分特点</vt:lpstr>
      <vt:lpstr>七、滚动轴承钢—3 、热处理和组织特点</vt:lpstr>
      <vt:lpstr>七、滚动轴承钢—4、常用钢号及用途</vt:lpstr>
      <vt:lpstr>滚动轴承钢常用钢号及用途（P118）</vt:lpstr>
      <vt:lpstr>八、耐磨钢 Wear-Resistant Steels</vt:lpstr>
      <vt:lpstr>八、耐磨钢</vt:lpstr>
      <vt:lpstr>八、耐磨钢—2、热处理及组织</vt:lpstr>
      <vt:lpstr>八、耐磨钢—3、使用及用途</vt:lpstr>
      <vt:lpstr>八、耐磨钢—3、使用及用途</vt:lpstr>
      <vt:lpstr>八、耐磨钢</vt:lpstr>
      <vt:lpstr>第四节  工具钢 Tool Steels</vt:lpstr>
      <vt:lpstr>第四节  工具钢</vt:lpstr>
      <vt:lpstr>一、刃具钢 Cutlery Steel (Cutting tool steel)</vt:lpstr>
      <vt:lpstr>一、刃具钢</vt:lpstr>
      <vt:lpstr>一、刃具钢——㈠ 性能要求</vt:lpstr>
      <vt:lpstr>一、刃具钢——㈡ 碳素工具钢</vt:lpstr>
      <vt:lpstr>㈡ 碳素工具钢—2、热处理及组织</vt:lpstr>
      <vt:lpstr>㈡ 碳素工具钢——3、用途</vt:lpstr>
      <vt:lpstr>㈡ 碳素工具钢——3、用途</vt:lpstr>
      <vt:lpstr>碳素工具钢</vt:lpstr>
      <vt:lpstr>一、刃具钢—㈢ 低合金工具钢</vt:lpstr>
      <vt:lpstr>㈢ 低合金工具钢—2、热处理及组织</vt:lpstr>
      <vt:lpstr>㈢ 低合金工具钢 ——3、常用钢号及用途</vt:lpstr>
      <vt:lpstr>一、刃具钢——㈣  高速钢（俗称风钢） </vt:lpstr>
      <vt:lpstr>㈣  高速钢——3、加工与热处理 </vt:lpstr>
      <vt:lpstr>㈣  高速钢——3、加工与热处理 </vt:lpstr>
      <vt:lpstr>㈣  高速钢——3、加工与热处理 </vt:lpstr>
      <vt:lpstr>㈣  高速钢——3、加工与热处理 </vt:lpstr>
      <vt:lpstr>W18Cr4V钢热处理工艺示意图</vt:lpstr>
      <vt:lpstr>㈣  高速钢—4、使用状态下组织</vt:lpstr>
      <vt:lpstr>不同状态下W18Cr4V的组织</vt:lpstr>
      <vt:lpstr>㈣  高速钢—5、常用钢号及用途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汽车四缸压铸模</vt:lpstr>
      <vt:lpstr>三、量具钢 Gauge Steel</vt:lpstr>
      <vt:lpstr>三、量具钢 Gauge Stee</vt:lpstr>
      <vt:lpstr>三、量具钢——1、性能要求</vt:lpstr>
      <vt:lpstr>三、量具钢——2、量具用钢</vt:lpstr>
      <vt:lpstr>三、量具钢—3、量具钢的热处理特点</vt:lpstr>
      <vt:lpstr>常用量具用钢</vt:lpstr>
      <vt:lpstr>第五节  特殊性能钢 Special Properties Steel Steels with Special Performance </vt:lpstr>
      <vt:lpstr>第五节  特殊性能钢 </vt:lpstr>
      <vt:lpstr>一、不锈钢 Stainless Steels</vt:lpstr>
      <vt:lpstr>PowerPoint 演示文稿</vt:lpstr>
      <vt:lpstr>一、不锈钢</vt:lpstr>
      <vt:lpstr>防止电化学腐蚀的措施</vt:lpstr>
      <vt:lpstr>㈡ 不锈钢中合金元素的作用</vt:lpstr>
      <vt:lpstr>晶间腐蚀</vt:lpstr>
      <vt:lpstr>晶间腐蚀破坏</vt:lpstr>
      <vt:lpstr>㈢  常用不锈钢</vt:lpstr>
      <vt:lpstr>㈢  常用不锈钢 ——1、马氏体不锈钢</vt:lpstr>
      <vt:lpstr>马氏体不锈钢</vt:lpstr>
      <vt:lpstr>⑵ 3Cr13、4Cr13</vt:lpstr>
      <vt:lpstr>2、铁素体不锈钢</vt:lpstr>
      <vt:lpstr>2、铁素体不锈钢</vt:lpstr>
      <vt:lpstr>2、铁素体不锈钢——⑸ 用途</vt:lpstr>
      <vt:lpstr>3、奥氏体不锈钢</vt:lpstr>
      <vt:lpstr>3、奥氏体不锈钢—(3)常用钢种</vt:lpstr>
      <vt:lpstr>3、奥氏体不锈钢—⑷ 应力腐蚀</vt:lpstr>
      <vt:lpstr>应力腐蚀裂纹</vt:lpstr>
      <vt:lpstr>4、双相不锈钢</vt:lpstr>
      <vt:lpstr>5、沉淀硬化不锈钢</vt:lpstr>
      <vt:lpstr>二、耐热钢 Heat Resistant Steels</vt:lpstr>
      <vt:lpstr>PowerPoint 演示文稿</vt:lpstr>
      <vt:lpstr>二、耐热钢</vt:lpstr>
      <vt:lpstr>二、耐热钢——㈠ 性能要求</vt:lpstr>
      <vt:lpstr>提高高温强度的途径</vt:lpstr>
      <vt:lpstr>㈡   常用耐热钢</vt:lpstr>
      <vt:lpstr>㈡   常用耐热钢—1、珠光体耐热钢</vt:lpstr>
      <vt:lpstr>1、珠光体耐热钢</vt:lpstr>
      <vt:lpstr>2、马氏体耐热钢</vt:lpstr>
      <vt:lpstr>2、马氏体耐热钢</vt:lpstr>
      <vt:lpstr>3、奥氏体耐热钢</vt:lpstr>
      <vt:lpstr>常用耐热钢</vt:lpstr>
      <vt:lpstr>PowerPoint 演示文稿</vt:lpstr>
      <vt:lpstr>作业（P108）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 工业用钢</dc:title>
  <dc:creator>yys</dc:creator>
  <cp:lastModifiedBy>liulin</cp:lastModifiedBy>
  <cp:revision>1659</cp:revision>
  <dcterms:created xsi:type="dcterms:W3CDTF">2001-12-26T03:12:00Z</dcterms:created>
  <dcterms:modified xsi:type="dcterms:W3CDTF">2025-12-02T09:45:04Z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C06855D86F434AEAB02CD47F1DC9D98F_12</vt:lpwstr>
  </property>
</Properties>
</file>