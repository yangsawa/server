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577" r:id="rId3"/>
    <p:sldId id="578" r:id="rId4"/>
    <p:sldId id="585" r:id="rId5"/>
    <p:sldId id="584" r:id="rId6"/>
    <p:sldId id="580" r:id="rId7"/>
    <p:sldId id="579" r:id="rId8"/>
    <p:sldId id="356" r:id="rId9"/>
    <p:sldId id="581" r:id="rId11"/>
    <p:sldId id="357" r:id="rId12"/>
    <p:sldId id="360" r:id="rId13"/>
    <p:sldId id="358" r:id="rId14"/>
    <p:sldId id="359" r:id="rId15"/>
    <p:sldId id="361" r:id="rId16"/>
    <p:sldId id="362" r:id="rId17"/>
    <p:sldId id="588" r:id="rId18"/>
    <p:sldId id="363" r:id="rId19"/>
    <p:sldId id="364" r:id="rId20"/>
    <p:sldId id="365" r:id="rId21"/>
    <p:sldId id="366" r:id="rId22"/>
    <p:sldId id="569" r:id="rId23"/>
    <p:sldId id="367" r:id="rId24"/>
    <p:sldId id="368" r:id="rId25"/>
    <p:sldId id="369" r:id="rId26"/>
    <p:sldId id="370" r:id="rId27"/>
    <p:sldId id="372" r:id="rId28"/>
    <p:sldId id="373" r:id="rId29"/>
    <p:sldId id="374" r:id="rId30"/>
    <p:sldId id="375" r:id="rId31"/>
    <p:sldId id="376" r:id="rId32"/>
    <p:sldId id="377" r:id="rId33"/>
    <p:sldId id="379" r:id="rId34"/>
    <p:sldId id="380" r:id="rId35"/>
    <p:sldId id="716" r:id="rId36"/>
    <p:sldId id="589" r:id="rId37"/>
    <p:sldId id="382" r:id="rId38"/>
    <p:sldId id="383" r:id="rId39"/>
    <p:sldId id="384" r:id="rId40"/>
    <p:sldId id="385" r:id="rId41"/>
    <p:sldId id="386" r:id="rId42"/>
    <p:sldId id="387" r:id="rId43"/>
    <p:sldId id="388" r:id="rId44"/>
    <p:sldId id="390" r:id="rId45"/>
    <p:sldId id="389" r:id="rId46"/>
    <p:sldId id="391" r:id="rId47"/>
    <p:sldId id="392" r:id="rId48"/>
    <p:sldId id="590" r:id="rId49"/>
    <p:sldId id="717" r:id="rId50"/>
    <p:sldId id="582" r:id="rId51"/>
    <p:sldId id="396" r:id="rId52"/>
    <p:sldId id="397" r:id="rId53"/>
    <p:sldId id="398" r:id="rId54"/>
    <p:sldId id="399" r:id="rId55"/>
    <p:sldId id="400" r:id="rId56"/>
    <p:sldId id="401" r:id="rId57"/>
    <p:sldId id="402" r:id="rId58"/>
    <p:sldId id="403" r:id="rId59"/>
    <p:sldId id="404" r:id="rId60"/>
    <p:sldId id="405" r:id="rId61"/>
    <p:sldId id="481" r:id="rId62"/>
    <p:sldId id="406" r:id="rId63"/>
    <p:sldId id="478" r:id="rId64"/>
    <p:sldId id="479" r:id="rId65"/>
    <p:sldId id="407" r:id="rId66"/>
    <p:sldId id="408" r:id="rId67"/>
    <p:sldId id="583" r:id="rId68"/>
    <p:sldId id="409" r:id="rId69"/>
    <p:sldId id="410" r:id="rId70"/>
    <p:sldId id="411" r:id="rId71"/>
    <p:sldId id="412" r:id="rId72"/>
    <p:sldId id="413" r:id="rId73"/>
    <p:sldId id="816" r:id="rId74"/>
    <p:sldId id="414" r:id="rId75"/>
    <p:sldId id="415" r:id="rId76"/>
    <p:sldId id="416" r:id="rId77"/>
    <p:sldId id="482" r:id="rId78"/>
    <p:sldId id="417" r:id="rId79"/>
    <p:sldId id="418" r:id="rId80"/>
    <p:sldId id="419" r:id="rId81"/>
    <p:sldId id="420" r:id="rId82"/>
    <p:sldId id="421" r:id="rId83"/>
    <p:sldId id="591" r:id="rId84"/>
    <p:sldId id="422" r:id="rId85"/>
    <p:sldId id="586" r:id="rId86"/>
    <p:sldId id="423" r:id="rId87"/>
    <p:sldId id="424" r:id="rId88"/>
    <p:sldId id="572" r:id="rId89"/>
    <p:sldId id="575" r:id="rId90"/>
    <p:sldId id="426" r:id="rId91"/>
    <p:sldId id="427" r:id="rId92"/>
    <p:sldId id="428" r:id="rId93"/>
    <p:sldId id="587" r:id="rId94"/>
    <p:sldId id="429" r:id="rId95"/>
    <p:sldId id="430" r:id="rId96"/>
    <p:sldId id="431" r:id="rId97"/>
    <p:sldId id="433" r:id="rId98"/>
    <p:sldId id="576" r:id="rId99"/>
    <p:sldId id="434" r:id="rId100"/>
    <p:sldId id="484" r:id="rId101"/>
    <p:sldId id="435" r:id="rId102"/>
    <p:sldId id="436" r:id="rId103"/>
    <p:sldId id="437" r:id="rId104"/>
    <p:sldId id="438" r:id="rId105"/>
    <p:sldId id="439" r:id="rId106"/>
    <p:sldId id="440" r:id="rId107"/>
    <p:sldId id="441" r:id="rId108"/>
    <p:sldId id="442" r:id="rId109"/>
    <p:sldId id="443" r:id="rId110"/>
    <p:sldId id="444" r:id="rId111"/>
    <p:sldId id="445" r:id="rId112"/>
    <p:sldId id="446" r:id="rId113"/>
    <p:sldId id="447" r:id="rId114"/>
    <p:sldId id="448" r:id="rId115"/>
    <p:sldId id="449" r:id="rId116"/>
    <p:sldId id="450" r:id="rId117"/>
    <p:sldId id="451" r:id="rId118"/>
    <p:sldId id="452" r:id="rId119"/>
    <p:sldId id="453" r:id="rId120"/>
    <p:sldId id="454" r:id="rId121"/>
    <p:sldId id="455" r:id="rId122"/>
    <p:sldId id="456" r:id="rId123"/>
    <p:sldId id="457" r:id="rId124"/>
    <p:sldId id="458" r:id="rId125"/>
    <p:sldId id="459" r:id="rId126"/>
    <p:sldId id="719" r:id="rId127"/>
    <p:sldId id="720" r:id="rId128"/>
  </p:sldIdLst>
  <p:sldSz cx="9144000" cy="6858000" type="screen4x3"/>
  <p:notesSz cx="6858000" cy="9144000"/>
  <p:custDataLst>
    <p:tags r:id="rId132"/>
  </p:custDataLst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3333FF"/>
    <a:srgbClr val="FFFF66"/>
    <a:srgbClr val="0033CC"/>
    <a:srgbClr val="0066FF"/>
    <a:srgbClr val="800000"/>
    <a:srgbClr val="CCECFF"/>
    <a:srgbClr val="CCFF33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68"/>
    <p:restoredTop sz="94636"/>
  </p:normalViewPr>
  <p:slideViewPr>
    <p:cSldViewPr showGuides="1">
      <p:cViewPr varScale="1">
        <p:scale>
          <a:sx n="70" d="100"/>
          <a:sy n="70" d="100"/>
        </p:scale>
        <p:origin x="930" y="45"/>
      </p:cViewPr>
      <p:guideLst>
        <p:guide orient="horz" pos="2115"/>
        <p:guide pos="285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7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6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2" Type="http://schemas.openxmlformats.org/officeDocument/2006/relationships/tags" Target="tags/tag29.xml"/><Relationship Id="rId131" Type="http://schemas.openxmlformats.org/officeDocument/2006/relationships/tableStyles" Target="tableStyles.xml"/><Relationship Id="rId130" Type="http://schemas.openxmlformats.org/officeDocument/2006/relationships/viewProps" Target="viewProps.xml"/><Relationship Id="rId13" Type="http://schemas.openxmlformats.org/officeDocument/2006/relationships/slide" Target="slides/slide10.xml"/><Relationship Id="rId129" Type="http://schemas.openxmlformats.org/officeDocument/2006/relationships/presProps" Target="presProps.xml"/><Relationship Id="rId128" Type="http://schemas.openxmlformats.org/officeDocument/2006/relationships/slide" Target="slides/slide125.xml"/><Relationship Id="rId127" Type="http://schemas.openxmlformats.org/officeDocument/2006/relationships/slide" Target="slides/slide124.xml"/><Relationship Id="rId126" Type="http://schemas.openxmlformats.org/officeDocument/2006/relationships/slide" Target="slides/slide123.xml"/><Relationship Id="rId125" Type="http://schemas.openxmlformats.org/officeDocument/2006/relationships/slide" Target="slides/slide122.xml"/><Relationship Id="rId124" Type="http://schemas.openxmlformats.org/officeDocument/2006/relationships/slide" Target="slides/slide121.xml"/><Relationship Id="rId123" Type="http://schemas.openxmlformats.org/officeDocument/2006/relationships/slide" Target="slides/slide120.xml"/><Relationship Id="rId122" Type="http://schemas.openxmlformats.org/officeDocument/2006/relationships/slide" Target="slides/slide119.xml"/><Relationship Id="rId121" Type="http://schemas.openxmlformats.org/officeDocument/2006/relationships/slide" Target="slides/slide118.xml"/><Relationship Id="rId120" Type="http://schemas.openxmlformats.org/officeDocument/2006/relationships/slide" Target="slides/slide117.xml"/><Relationship Id="rId12" Type="http://schemas.openxmlformats.org/officeDocument/2006/relationships/slide" Target="slides/slide9.xml"/><Relationship Id="rId119" Type="http://schemas.openxmlformats.org/officeDocument/2006/relationships/slide" Target="slides/slide116.xml"/><Relationship Id="rId118" Type="http://schemas.openxmlformats.org/officeDocument/2006/relationships/slide" Target="slides/slide115.xml"/><Relationship Id="rId117" Type="http://schemas.openxmlformats.org/officeDocument/2006/relationships/slide" Target="slides/slide114.xml"/><Relationship Id="rId116" Type="http://schemas.openxmlformats.org/officeDocument/2006/relationships/slide" Target="slides/slide113.xml"/><Relationship Id="rId115" Type="http://schemas.openxmlformats.org/officeDocument/2006/relationships/slide" Target="slides/slide112.xml"/><Relationship Id="rId114" Type="http://schemas.openxmlformats.org/officeDocument/2006/relationships/slide" Target="slides/slide111.xml"/><Relationship Id="rId113" Type="http://schemas.openxmlformats.org/officeDocument/2006/relationships/slide" Target="slides/slide110.xml"/><Relationship Id="rId112" Type="http://schemas.openxmlformats.org/officeDocument/2006/relationships/slide" Target="slides/slide109.xml"/><Relationship Id="rId111" Type="http://schemas.openxmlformats.org/officeDocument/2006/relationships/slide" Target="slides/slide108.xml"/><Relationship Id="rId110" Type="http://schemas.openxmlformats.org/officeDocument/2006/relationships/slide" Target="slides/slide107.xml"/><Relationship Id="rId11" Type="http://schemas.openxmlformats.org/officeDocument/2006/relationships/slide" Target="slides/slide8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/>
            <a:fld id="{9A0DB2DC-4C9A-4742-B13C-FB6460FD3503}" type="slidenum">
              <a:rPr lang="en-US" altLang="zh-CN" sz="12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en-US" altLang="zh-CN" sz="1200" strike="noStrike" noProof="1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717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Rectangle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717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Rectangle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3584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5843" name="Rectangle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3891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8915" name="Rectangle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4198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1987" name="Rectangle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4608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6083" name="Rectangle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9154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5222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2227" name="Rectangle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5734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Rectangle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593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9395" name="Rectangle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6656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6563" name="Rectangle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7065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0659" name="Rectangle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6802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2946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8294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051" name="Group 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2054" name="Group 6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036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036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1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24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3CB9796-DA0B-4771-AFB1-4DDFDF6CB993}" type="datetime1">
              <a:rPr kumimoji="0" lang="zh-CN" altLang="en-US" b="0" i="0" strike="noStrike" kern="1200" cap="none" spc="0" normalizeH="0" baseline="0" noProof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b="0" i="0" strike="noStrike" kern="1200" cap="none" spc="0" normalizeH="0" baseline="0" noProof="0"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0" i="0" strike="noStrike" kern="1200" cap="none" spc="0" normalizeH="0" baseline="0" noProof="0"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algn="r" eaLnBrk="1" fontAlgn="base" hangingPunct="1"/>
            <a:fld id="{9A0DB2DC-4C9A-4742-B13C-FB6460FD3503}" type="slidenum">
              <a:rPr lang="en-US" altLang="zh-CN" sz="1400" strike="noStrike" noProof="1" dirty="0">
                <a:solidFill>
                  <a:schemeClr val="bg2"/>
                </a:solidFill>
                <a:latin typeface="Tahom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z="1400" strike="noStrike" noProof="1">
              <a:solidFill>
                <a:schemeClr val="bg2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F3C6F33-D61B-48EE-94BB-2321412BAAE4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en-US" altLang="zh-CN" sz="1400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z="1400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F3C6F33-D61B-48EE-94BB-2321412BAAE4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en-US" altLang="zh-CN" sz="1400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z="1400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F3C6F33-D61B-48EE-94BB-2321412BAAE4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en-US" altLang="zh-CN" sz="1400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z="1400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F3C6F33-D61B-48EE-94BB-2321412BAAE4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en-US" altLang="zh-CN" sz="1400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z="1400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F3C6F33-D61B-48EE-94BB-2321412BAAE4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en-US" altLang="zh-CN" sz="1400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z="1400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F3C6F33-D61B-48EE-94BB-2321412BAAE4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en-US" altLang="zh-CN" sz="1400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z="1400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F3C6F33-D61B-48EE-94BB-2321412BAAE4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en-US" altLang="zh-CN" sz="1400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z="1400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F3C6F33-D61B-48EE-94BB-2321412BAAE4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en-US" altLang="zh-CN" sz="1400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z="1400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F3C6F33-D61B-48EE-94BB-2321412BAAE4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en-US" altLang="zh-CN" sz="1400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z="1400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F3C6F33-D61B-48EE-94BB-2321412BAAE4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en-US" altLang="zh-CN" sz="1400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z="1400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 preserve="1">
  <p:cSld name="标题，文本与媒体剪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40" y="214314"/>
            <a:ext cx="7793037" cy="1462087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媒体占位符 3"/>
          <p:cNvSpPr>
            <a:spLocks noGrp="1"/>
          </p:cNvSpPr>
          <p:nvPr>
            <p:ph type="media" sz="half" idx="2"/>
          </p:nvPr>
        </p:nvSpPr>
        <p:spPr>
          <a:xfrm>
            <a:off x="5145088" y="2017713"/>
            <a:ext cx="3810000" cy="4114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F3C6F33-D61B-48EE-94BB-2321412BAAE4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en-US" altLang="zh-CN" sz="1400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z="1400" strike="noStrike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40" y="214314"/>
            <a:ext cx="7793037" cy="1462087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F3C6F33-D61B-48EE-94BB-2321412BAAE4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en-US" altLang="zh-CN" sz="1400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z="1400" strike="noStrike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40" y="214314"/>
            <a:ext cx="7793037" cy="1462087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5145088" y="2017713"/>
            <a:ext cx="3810000" cy="4114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F3C6F33-D61B-48EE-94BB-2321412BAAE4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en-US" altLang="zh-CN" sz="1400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z="1400" strike="noStrike" noProof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40" y="214314"/>
            <a:ext cx="7793037" cy="1462087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F3C6F33-D61B-48EE-94BB-2321412BAAE4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en-US" altLang="zh-CN" sz="1400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z="1400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9331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9332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9333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9334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9335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9336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9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4" name="Rectangle 10"/>
          <p:cNvSpPr>
            <a:spLocks noGrp="1"/>
          </p:cNvSpPr>
          <p:nvPr>
            <p:ph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9339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F3C6F33-D61B-48EE-94BB-2321412BAAE4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9340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9341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/>
            <a:fld id="{9A0DB2DC-4C9A-4742-B13C-FB6460FD3503}" type="slidenum">
              <a:rPr lang="en-US" altLang="zh-CN" sz="1400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z="14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slide" Target="slide1.xml"/><Relationship Id="rId1" Type="http://schemas.openxmlformats.org/officeDocument/2006/relationships/slide" Target="slide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.jpeg"/><Relationship Id="rId1" Type="http://schemas.openxmlformats.org/officeDocument/2006/relationships/image" Target="../media/image2.GI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.jpeg"/><Relationship Id="rId3" Type="http://schemas.openxmlformats.org/officeDocument/2006/relationships/image" Target="../media/image3.png"/><Relationship Id="rId2" Type="http://schemas.microsoft.com/office/2007/relationships/media" Target="file:///D:\video\2&#32467;&#26500;\metallic%20%20bonding.mov" TargetMode="External"/><Relationship Id="rId1" Type="http://schemas.openxmlformats.org/officeDocument/2006/relationships/video" Target="file:///D:\video\2&#32467;&#26500;\metallic%20%20bonding.mov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slide" Target="slide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slide" Target="slide4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14.jpeg"/><Relationship Id="rId1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slide" Target="slide4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slide" Target="slide4.xml"/><Relationship Id="rId1" Type="http://schemas.openxmlformats.org/officeDocument/2006/relationships/slide" Target="slide80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6.png"/></Relationships>
</file>

<file path=ppt/slides/_rels/slide3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8.emf"/><Relationship Id="rId4" Type="http://schemas.openxmlformats.org/officeDocument/2006/relationships/image" Target="../media/image1.jpeg"/><Relationship Id="rId3" Type="http://schemas.openxmlformats.org/officeDocument/2006/relationships/image" Target="../media/image17.png"/><Relationship Id="rId2" Type="http://schemas.microsoft.com/office/2007/relationships/media" Target="file:///D:\video\2&#32467;&#26500;\bcc.mov" TargetMode="External"/><Relationship Id="rId1" Type="http://schemas.openxmlformats.org/officeDocument/2006/relationships/video" Target="file:///D:\video\2&#32467;&#26500;\bcc.mov" TargetMode="Externa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image" Target="../media/image1.jpeg"/><Relationship Id="rId7" Type="http://schemas.openxmlformats.org/officeDocument/2006/relationships/image" Target="../media/image25.png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9.jpeg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image" Target="../media/image1.jpeg"/><Relationship Id="rId7" Type="http://schemas.openxmlformats.org/officeDocument/2006/relationships/image" Target="../media/image29.png"/><Relationship Id="rId6" Type="http://schemas.microsoft.com/office/2007/relationships/media" Target="file:///D:\video\2&#32467;&#26500;\fcc.mov" TargetMode="External"/><Relationship Id="rId5" Type="http://schemas.openxmlformats.org/officeDocument/2006/relationships/video" Target="file:///D:\video\2&#32467;&#26500;\fcc.mov" TargetMode="External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microsoft.com/office/2007/relationships/media" Target="file:///D:\video\2&#32467;&#26500;\movie003&#38754;&#24515;&#31435;&#26041;.mov" TargetMode="External"/><Relationship Id="rId1" Type="http://schemas.openxmlformats.org/officeDocument/2006/relationships/video" Target="file:///D:\video\2&#32467;&#26500;\movie003&#38754;&#24515;&#31435;&#26041;.mov" TargetMode="External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4.xml"/><Relationship Id="rId7" Type="http://schemas.openxmlformats.org/officeDocument/2006/relationships/image" Target="../media/image34.png"/><Relationship Id="rId6" Type="http://schemas.openxmlformats.org/officeDocument/2006/relationships/image" Target="../media/image1.jpe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hyperlink" Target="../video/2&#32467;&#26500;/au%5b1%5dAu(&#38754;&#24515;&#31435;&#26041;).wrl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35.jpeg"/></Relationships>
</file>

<file path=ppt/slides/_rels/slide4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7.emf"/><Relationship Id="rId4" Type="http://schemas.openxmlformats.org/officeDocument/2006/relationships/image" Target="../media/image1.jpeg"/><Relationship Id="rId3" Type="http://schemas.openxmlformats.org/officeDocument/2006/relationships/image" Target="../media/image36.png"/><Relationship Id="rId2" Type="http://schemas.microsoft.com/office/2007/relationships/media" Target="file:///D:\video\2&#32467;&#26500;\2_01%5b1%5d&#23494;&#25490;&#20845;&#26041;.avi" TargetMode="External"/><Relationship Id="rId1" Type="http://schemas.openxmlformats.org/officeDocument/2006/relationships/video" Target="file:///D:\video\2&#32467;&#26500;\2_01%5b1%5d&#23494;&#25490;&#20845;&#26041;.avi" TargetMode="External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jpeg"/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image" Target="../media/image38.jpeg"/></Relationships>
</file>

<file path=ppt/slides/_rels/slide4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jpeg"/><Relationship Id="rId1" Type="http://schemas.openxmlformats.org/officeDocument/2006/relationships/image" Target="../media/image41.pn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40.jpeg"/></Relationships>
</file>

<file path=ppt/slides/_rels/slide4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.jpeg"/><Relationship Id="rId5" Type="http://schemas.openxmlformats.org/officeDocument/2006/relationships/image" Target="../media/image48.png"/><Relationship Id="rId4" Type="http://schemas.openxmlformats.org/officeDocument/2006/relationships/image" Target="../media/image40.jpeg"/><Relationship Id="rId3" Type="http://schemas.openxmlformats.org/officeDocument/2006/relationships/image" Target="../media/image47.jpeg"/><Relationship Id="rId2" Type="http://schemas.openxmlformats.org/officeDocument/2006/relationships/image" Target="../media/image46.jpeg"/><Relationship Id="rId1" Type="http://schemas.openxmlformats.org/officeDocument/2006/relationships/image" Target="../media/image45.jpeg"/></Relationships>
</file>

<file path=ppt/slides/_rels/slide4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0.jpeg"/><Relationship Id="rId3" Type="http://schemas.openxmlformats.org/officeDocument/2006/relationships/image" Target="../media/image1.jpeg"/><Relationship Id="rId2" Type="http://schemas.openxmlformats.org/officeDocument/2006/relationships/image" Target="../media/image47.jpeg"/><Relationship Id="rId1" Type="http://schemas.openxmlformats.org/officeDocument/2006/relationships/image" Target="../media/image45.jpe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slide" Target="slide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1" Type="http://schemas.openxmlformats.org/officeDocument/2006/relationships/image" Target="../media/image1.jpeg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.xml"/><Relationship Id="rId2" Type="http://schemas.openxmlformats.org/officeDocument/2006/relationships/image" Target="../media/image1.jpeg"/><Relationship Id="rId1" Type="http://schemas.openxmlformats.org/officeDocument/2006/relationships/image" Target="../media/image49.png"/></Relationships>
</file>

<file path=ppt/slides/_rels/slide5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image" Target="../media/image1.jpeg"/><Relationship Id="rId1" Type="http://schemas.openxmlformats.org/officeDocument/2006/relationships/image" Target="../media/image50.jpeg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5.xml"/><Relationship Id="rId6" Type="http://schemas.openxmlformats.org/officeDocument/2006/relationships/image" Target="../media/image1.jpe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slides/_rels/slide5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.xml"/><Relationship Id="rId3" Type="http://schemas.openxmlformats.org/officeDocument/2006/relationships/image" Target="../media/image1.jpeg"/><Relationship Id="rId2" Type="http://schemas.openxmlformats.org/officeDocument/2006/relationships/image" Target="../media/image57.png"/><Relationship Id="rId1" Type="http://schemas.openxmlformats.org/officeDocument/2006/relationships/image" Target="../media/image56.jpe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7.xml"/><Relationship Id="rId6" Type="http://schemas.openxmlformats.org/officeDocument/2006/relationships/image" Target="../media/image1.jpeg"/><Relationship Id="rId5" Type="http://schemas.openxmlformats.org/officeDocument/2006/relationships/image" Target="../media/image60.png"/><Relationship Id="rId4" Type="http://schemas.openxmlformats.org/officeDocument/2006/relationships/image" Target="../media/image59.png"/><Relationship Id="rId3" Type="http://schemas.microsoft.com/office/2007/relationships/media" Target="file:///D:\video\2&#32467;&#26500;\yuan&#20995;&#22411;&#20301;&#38169;.avi" TargetMode="External"/><Relationship Id="rId2" Type="http://schemas.openxmlformats.org/officeDocument/2006/relationships/video" Target="file:///D:\video\2&#32467;&#26500;\yuan&#20995;&#22411;&#20301;&#38169;.avi" TargetMode="External"/><Relationship Id="rId1" Type="http://schemas.openxmlformats.org/officeDocument/2006/relationships/image" Target="../media/image58.png"/></Relationships>
</file>

<file path=ppt/slides/_rels/slide5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.xml"/><Relationship Id="rId3" Type="http://schemas.openxmlformats.org/officeDocument/2006/relationships/image" Target="../media/image1.jpeg"/><Relationship Id="rId2" Type="http://schemas.openxmlformats.org/officeDocument/2006/relationships/image" Target="../media/image62.png"/><Relationship Id="rId1" Type="http://schemas.openxmlformats.org/officeDocument/2006/relationships/image" Target="../media/image61.GIF"/></Relationships>
</file>

<file path=ppt/slides/_rels/slide5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64.png"/><Relationship Id="rId1" Type="http://schemas.openxmlformats.org/officeDocument/2006/relationships/image" Target="../media/image63.jpeg"/></Relationships>
</file>

<file path=ppt/slides/_rels/slide5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jpeg"/><Relationship Id="rId3" Type="http://schemas.openxmlformats.org/officeDocument/2006/relationships/image" Target="../media/image65.png"/><Relationship Id="rId2" Type="http://schemas.microsoft.com/office/2007/relationships/media" Target="file:///D:\video\2&#32467;&#26500;\fig0314%5b1%5d&#20301;&#38169;&#30005;&#38236;&#35266;&#23519;.avi" TargetMode="External"/><Relationship Id="rId1" Type="http://schemas.openxmlformats.org/officeDocument/2006/relationships/video" Target="file:///D:\video\2&#32467;&#26500;\fig0314%5b1%5d&#20301;&#38169;&#30005;&#38236;&#35266;&#23519;.avi" TargetMode="External"/></Relationships>
</file>

<file path=ppt/slides/_rels/slide5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.xml"/><Relationship Id="rId3" Type="http://schemas.openxmlformats.org/officeDocument/2006/relationships/image" Target="../media/image1.jpeg"/><Relationship Id="rId2" Type="http://schemas.openxmlformats.org/officeDocument/2006/relationships/image" Target="../media/image67.png"/><Relationship Id="rId1" Type="http://schemas.openxmlformats.org/officeDocument/2006/relationships/image" Target="../media/image66.jpe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image" Target="../media/image1.jpeg"/><Relationship Id="rId2" Type="http://schemas.openxmlformats.org/officeDocument/2006/relationships/image" Target="../media/image69.png"/><Relationship Id="rId1" Type="http://schemas.openxmlformats.org/officeDocument/2006/relationships/image" Target="../media/image68.jpeg"/></Relationships>
</file>

<file path=ppt/slides/_rels/slide6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image" Target="../media/image1.jpeg"/><Relationship Id="rId2" Type="http://schemas.openxmlformats.org/officeDocument/2006/relationships/image" Target="../media/image71.jpeg"/><Relationship Id="rId1" Type="http://schemas.openxmlformats.org/officeDocument/2006/relationships/image" Target="../media/image70.jpeg"/></Relationships>
</file>

<file path=ppt/slides/_rels/slide6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jpeg"/><Relationship Id="rId3" Type="http://schemas.openxmlformats.org/officeDocument/2006/relationships/image" Target="../media/image74.png"/><Relationship Id="rId2" Type="http://schemas.openxmlformats.org/officeDocument/2006/relationships/image" Target="../media/image73.jpeg"/><Relationship Id="rId1" Type="http://schemas.openxmlformats.org/officeDocument/2006/relationships/image" Target="../media/image72.png"/></Relationships>
</file>

<file path=ppt/slides/_rels/slide6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image" Target="../media/image1.jpeg"/><Relationship Id="rId1" Type="http://schemas.openxmlformats.org/officeDocument/2006/relationships/image" Target="../media/image75.jpeg"/></Relationships>
</file>

<file path=ppt/slides/_rels/slide6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jpeg"/><Relationship Id="rId3" Type="http://schemas.openxmlformats.org/officeDocument/2006/relationships/image" Target="../media/image78.jpeg"/><Relationship Id="rId2" Type="http://schemas.openxmlformats.org/officeDocument/2006/relationships/image" Target="../media/image77.jpeg"/><Relationship Id="rId1" Type="http://schemas.openxmlformats.org/officeDocument/2006/relationships/image" Target="../media/image76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.xml"/><Relationship Id="rId3" Type="http://schemas.openxmlformats.org/officeDocument/2006/relationships/image" Target="../media/image1.jpeg"/><Relationship Id="rId2" Type="http://schemas.openxmlformats.org/officeDocument/2006/relationships/image" Target="../media/image80.jpeg"/><Relationship Id="rId1" Type="http://schemas.openxmlformats.org/officeDocument/2006/relationships/image" Target="../media/image79.png"/></Relationships>
</file>

<file path=ppt/slides/_rels/slide6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image" Target="../media/image1.jpeg"/><Relationship Id="rId2" Type="http://schemas.openxmlformats.org/officeDocument/2006/relationships/image" Target="../media/image82.png"/><Relationship Id="rId1" Type="http://schemas.openxmlformats.org/officeDocument/2006/relationships/image" Target="../media/image81.png"/></Relationships>
</file>

<file path=ppt/slides/_rels/slide6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image" Target="../media/image1.jpeg"/><Relationship Id="rId2" Type="http://schemas.openxmlformats.org/officeDocument/2006/relationships/image" Target="../media/image84.png"/><Relationship Id="rId1" Type="http://schemas.openxmlformats.org/officeDocument/2006/relationships/image" Target="../media/image83.png"/></Relationships>
</file>

<file path=ppt/slides/_rels/slide6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85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86.png"/></Relationships>
</file>

<file path=ppt/slides/_rels/slide7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image" Target="../media/image1.jpeg"/><Relationship Id="rId2" Type="http://schemas.openxmlformats.org/officeDocument/2006/relationships/image" Target="../media/image88.jpeg"/><Relationship Id="rId1" Type="http://schemas.openxmlformats.org/officeDocument/2006/relationships/image" Target="../media/image87.jpe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7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90.jpeg"/><Relationship Id="rId1" Type="http://schemas.openxmlformats.org/officeDocument/2006/relationships/image" Target="../media/image89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91.jpeg"/></Relationships>
</file>

<file path=ppt/slides/_rels/slide7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93.jpeg"/><Relationship Id="rId1" Type="http://schemas.openxmlformats.org/officeDocument/2006/relationships/image" Target="../media/image92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1.jpeg"/><Relationship Id="rId1" Type="http://schemas.openxmlformats.org/officeDocument/2006/relationships/tags" Target="../tags/tag2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.jpeg"/><Relationship Id="rId1" Type="http://schemas.openxmlformats.org/officeDocument/2006/relationships/tags" Target="../tags/tag26.xml"/></Relationships>
</file>

<file path=ppt/slides/_rels/slide7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95.png"/><Relationship Id="rId3" Type="http://schemas.microsoft.com/office/2007/relationships/media" Target="file:///D:\video\2&#32467;&#26500;\NaCl.mov" TargetMode="External"/><Relationship Id="rId2" Type="http://schemas.openxmlformats.org/officeDocument/2006/relationships/video" Target="file:///D:\video\2&#32467;&#26500;\NaCl.mov" TargetMode="External"/><Relationship Id="rId1" Type="http://schemas.openxmlformats.org/officeDocument/2006/relationships/image" Target="../media/image94.jpeg"/></Relationships>
</file>

<file path=ppt/slides/_rels/slide7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jpeg"/><Relationship Id="rId3" Type="http://schemas.openxmlformats.org/officeDocument/2006/relationships/slide" Target="slide1.xml"/><Relationship Id="rId2" Type="http://schemas.openxmlformats.org/officeDocument/2006/relationships/image" Target="../media/image97.jpeg"/><Relationship Id="rId1" Type="http://schemas.openxmlformats.org/officeDocument/2006/relationships/image" Target="../media/image96.jpe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slide" Target="slide4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slide" Target="slide4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7.xml"/><Relationship Id="rId1" Type="http://schemas.openxmlformats.org/officeDocument/2006/relationships/image" Target="../media/image1.jpe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.jpeg"/><Relationship Id="rId1" Type="http://schemas.openxmlformats.org/officeDocument/2006/relationships/image" Target="../media/image98.jpeg"/></Relationships>
</file>

<file path=ppt/slides/_rels/slide8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100.png"/><Relationship Id="rId1" Type="http://schemas.openxmlformats.org/officeDocument/2006/relationships/image" Target="../media/image99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.jpeg"/><Relationship Id="rId1" Type="http://schemas.openxmlformats.org/officeDocument/2006/relationships/image" Target="../media/image101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02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9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8.xml"/><Relationship Id="rId2" Type="http://schemas.openxmlformats.org/officeDocument/2006/relationships/image" Target="../media/image1.jpeg"/><Relationship Id="rId1" Type="http://schemas.openxmlformats.org/officeDocument/2006/relationships/image" Target="../media/image103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04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05.pn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9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06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07.pn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08.png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09.png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10.png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11.png"/></Relationships>
</file>

<file path=ppt/slides/_rels/slide1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113.png"/><Relationship Id="rId1" Type="http://schemas.openxmlformats.org/officeDocument/2006/relationships/image" Target="../media/image112.png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14.png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15.png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16.png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日期占位符 1"/>
          <p:cNvSpPr>
            <a:spLocks noGrp="1"/>
          </p:cNvSpPr>
          <p:nvPr>
            <p:ph type="dt" sz="half" idx="4294967295"/>
          </p:nvPr>
        </p:nvSpPr>
        <p:spPr bwMode="auto">
          <a:xfrm>
            <a:off x="107315" y="6450330"/>
            <a:ext cx="1905000" cy="3155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indent="0" rtl="0">
              <a:defRPr/>
            </a:pPr>
            <a:fld id="{9D72BA9C-FB15-451B-B629-448D83FE2D7B}" type="datetime8">
              <a:rPr lang="en-US" smtClean="0"/>
            </a:fld>
            <a:endParaRPr lang="en-US" altLang="zh-CN" sz="1400" dirty="0"/>
          </a:p>
        </p:txBody>
      </p:sp>
      <p:sp>
        <p:nvSpPr>
          <p:cNvPr id="4098" name="灯片编号占位符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378190" y="6597650"/>
            <a:ext cx="568960" cy="2393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r"/>
            <a:fld id="{9A0DB2DC-4C9A-4742-B13C-FB6460FD3503}" type="slidenum">
              <a:rPr lang="en-US" altLang="zh-CN" sz="1400" noProof="1" smtClean="0">
                <a:cs typeface="+mn-ea"/>
              </a:rPr>
            </a:fld>
            <a:endParaRPr lang="en-US" altLang="zh-CN" sz="1400" dirty="0"/>
          </a:p>
        </p:txBody>
      </p:sp>
      <p:sp>
        <p:nvSpPr>
          <p:cNvPr id="4099" name="Rectangle 2"/>
          <p:cNvSpPr>
            <a:spLocks noGrp="1"/>
          </p:cNvSpPr>
          <p:nvPr>
            <p:ph type="title" idx="4294967295"/>
          </p:nvPr>
        </p:nvSpPr>
        <p:spPr>
          <a:xfrm>
            <a:off x="391213" y="100239"/>
            <a:ext cx="8699500" cy="6021070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en-US" altLang="zh-CN" sz="6600" b="1" u="sng" dirty="0"/>
              <a:t>U2041170</a:t>
            </a:r>
            <a:br>
              <a:rPr lang="en-US" altLang="zh-CN" b="1" u="sng" dirty="0"/>
            </a:br>
            <a:br>
              <a:rPr lang="en-US" altLang="zh-CN" b="1" u="sng" dirty="0"/>
            </a:br>
            <a:r>
              <a:rPr lang="en-US" altLang="zh-CN" sz="6000" b="1" u="sng" dirty="0"/>
              <a:t>《</a:t>
            </a:r>
            <a:r>
              <a:rPr lang="zh-CN" altLang="en-US" sz="6000" b="1" u="sng" dirty="0"/>
              <a:t>工程材料与成型技术</a:t>
            </a:r>
            <a:r>
              <a:rPr lang="en-US" altLang="zh-CN" sz="6000" b="1" u="sng" dirty="0"/>
              <a:t>》</a:t>
            </a:r>
            <a:br>
              <a:rPr lang="en-US" altLang="zh-CN" u="sng" dirty="0"/>
            </a:br>
            <a:r>
              <a:rPr lang="en-US" altLang="zh-CN" u="sng" dirty="0">
                <a:sym typeface="+mn-ea"/>
              </a:rPr>
              <a:t>Engineering </a:t>
            </a:r>
            <a:r>
              <a:rPr lang="en-US" altLang="zh-CN" u="sng" dirty="0"/>
              <a:t>Materials and </a:t>
            </a:r>
            <a:r>
              <a:rPr lang="en-US" altLang="zh-CN" u="sng" dirty="0">
                <a:sym typeface="+mn-ea"/>
              </a:rPr>
              <a:t>Forming</a:t>
            </a:r>
            <a:r>
              <a:rPr lang="en-US" altLang="zh-CN" u="sng" dirty="0"/>
              <a:t> Technology </a:t>
            </a:r>
            <a:br>
              <a:rPr lang="en-US" altLang="zh-CN" u="sng" dirty="0"/>
            </a:br>
            <a:br>
              <a:rPr lang="en-US" altLang="zh-CN" u="sng" dirty="0"/>
            </a:br>
            <a:r>
              <a:rPr lang="en-US" altLang="zh-CN" b="1" dirty="0"/>
              <a:t>44+4</a:t>
            </a:r>
            <a:r>
              <a:rPr lang="zh-CN" altLang="en-US" b="1" dirty="0"/>
              <a:t>学时，</a:t>
            </a:r>
            <a:r>
              <a:rPr lang="en-US" altLang="zh-CN" b="1" dirty="0"/>
              <a:t>3</a:t>
            </a:r>
            <a:r>
              <a:rPr lang="zh-CN" altLang="en-US" b="1" dirty="0"/>
              <a:t>学分</a:t>
            </a:r>
            <a:endParaRPr lang="zh-CN" altLang="en-US" b="1" dirty="0"/>
          </a:p>
        </p:txBody>
      </p:sp>
      <p:pic>
        <p:nvPicPr>
          <p:cNvPr id="2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4" y="3175"/>
            <a:ext cx="918827" cy="9055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6"/>
          <p:cNvSpPr>
            <a:spLocks noGrp="1"/>
          </p:cNvSpPr>
          <p:nvPr>
            <p:ph type="sldNum" sz="quarter" idx="4"/>
          </p:nvPr>
        </p:nvSpPr>
        <p:spPr>
          <a:xfrm>
            <a:off x="8428038" y="6581775"/>
            <a:ext cx="420687" cy="276225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>
                <a:solidFill>
                  <a:schemeClr val="bg2"/>
                </a:solidFill>
                <a:latin typeface="Tahoma" panose="020B0604030504040204" pitchFamily="34" charset="0"/>
              </a:rPr>
            </a:fld>
            <a:endParaRPr lang="en-US" altLang="zh-CN" sz="1400" dirty="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  <p:sp>
        <p:nvSpPr>
          <p:cNvPr id="4098" name="Rectangle 2"/>
          <p:cNvSpPr>
            <a:spLocks noGrp="1"/>
          </p:cNvSpPr>
          <p:nvPr>
            <p:ph type="ctrTitle"/>
          </p:nvPr>
        </p:nvSpPr>
        <p:spPr>
          <a:xfrm>
            <a:off x="990600" y="1268760"/>
            <a:ext cx="7772400" cy="1869728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zh-CN" altLang="en-US" sz="5400" b="1" dirty="0"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第二章 </a:t>
            </a:r>
            <a:r>
              <a:rPr lang="zh-CN" altLang="zh-CN" sz="5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金属材料的结构及二元合金相图</a:t>
            </a:r>
            <a:endParaRPr lang="zh-CN" altLang="en-US" sz="5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099" name="Rectangle 3"/>
          <p:cNvSpPr>
            <a:spLocks noGrp="1"/>
          </p:cNvSpPr>
          <p:nvPr>
            <p:ph type="subTitle" idx="1"/>
          </p:nvPr>
        </p:nvSpPr>
        <p:spPr>
          <a:xfrm>
            <a:off x="611560" y="3429000"/>
            <a:ext cx="8280920" cy="2808312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en-US" altLang="zh-CN" sz="5400" b="1" i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Structure of Metallic Materials and  Phase Diagram of Binary Alloy</a:t>
            </a:r>
            <a:endParaRPr lang="en-US" altLang="zh-CN" sz="5400" b="1" i="1" dirty="0">
              <a:solidFill>
                <a:schemeClr val="tx2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101" name="日期占位符 1"/>
          <p:cNvSpPr>
            <a:spLocks noGrp="1"/>
          </p:cNvSpPr>
          <p:nvPr>
            <p:ph type="dt" sz="half" idx="2"/>
          </p:nvPr>
        </p:nvSpPr>
        <p:spPr>
          <a:xfrm>
            <a:off x="35560" y="6499225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>
                <a:solidFill>
                  <a:schemeClr val="bg2"/>
                </a:solidFill>
                <a:latin typeface="Tahoma" panose="020B0604030504040204" pitchFamily="34" charset="0"/>
              </a:rPr>
            </a:fld>
            <a:endParaRPr lang="en-US" altLang="zh-CN" sz="1400" dirty="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1064956" cy="1049561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灯片编号占位符 5"/>
          <p:cNvSpPr txBox="1">
            <a:spLocks noGrp="1" noChangeArrowheads="1"/>
          </p:cNvSpPr>
          <p:nvPr>
            <p:ph type="sldNum" sz="quarter" idx="4294967295"/>
          </p:nvPr>
        </p:nvSpPr>
        <p:spPr bwMode="auto">
          <a:xfrm>
            <a:off x="8442325" y="6538913"/>
            <a:ext cx="558800" cy="31908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2BCAE15-A39C-4F71-A305-11A2890C32E2}" type="slidenum">
              <a:rPr kumimoji="0" lang="en-US" altLang="zh-CN" sz="1400" b="0" i="0" u="none" strike="noStrike" kern="1200" cap="none" spc="0" normalizeH="0" baseline="0" noProof="1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ea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80898" name="Rectangle 2"/>
          <p:cNvSpPr>
            <a:spLocks noGrp="1"/>
          </p:cNvSpPr>
          <p:nvPr>
            <p:ph idx="1"/>
          </p:nvPr>
        </p:nvSpPr>
        <p:spPr>
          <a:xfrm>
            <a:off x="323850" y="1988716"/>
            <a:ext cx="8820150" cy="4752528"/>
          </a:xfrm>
        </p:spPr>
        <p:txBody>
          <a:bodyPr vert="horz" wrap="square" lIns="91440" tIns="45720" rIns="91440" bIns="45720" anchor="t"/>
          <a:lstStyle/>
          <a:p>
            <a:pPr eaLnBrk="1" latinLnBrk="0" hangingPunct="1">
              <a:lnSpc>
                <a:spcPct val="140000"/>
              </a:lnSpc>
              <a:spcBef>
                <a:spcPts val="0"/>
              </a:spcBef>
            </a:pPr>
            <a:r>
              <a:rPr lang="zh-CN" altLang="en-US" b="1" dirty="0">
                <a:solidFill>
                  <a:srgbClr val="0000FF"/>
                </a:solidFill>
                <a:latin typeface="仿宋_GB2312"/>
                <a:ea typeface="仿宋_GB2312"/>
              </a:rPr>
              <a:t>了解</a:t>
            </a:r>
            <a:r>
              <a:rPr lang="zh-CN" altLang="en-US" b="1" dirty="0">
                <a:solidFill>
                  <a:srgbClr val="FF0000"/>
                </a:solidFill>
                <a:latin typeface="仿宋_GB2312"/>
                <a:ea typeface="仿宋_GB2312"/>
              </a:rPr>
              <a:t>结合键</a:t>
            </a:r>
            <a:r>
              <a:rPr lang="zh-CN" altLang="en-US" b="1" dirty="0">
                <a:latin typeface="仿宋_GB2312"/>
                <a:ea typeface="仿宋_GB2312"/>
              </a:rPr>
              <a:t>及其</a:t>
            </a:r>
            <a:r>
              <a:rPr lang="zh-CN" altLang="en-US" b="1" dirty="0">
                <a:solidFill>
                  <a:srgbClr val="FF0000"/>
                </a:solidFill>
                <a:latin typeface="仿宋_GB2312"/>
                <a:ea typeface="仿宋_GB2312"/>
              </a:rPr>
              <a:t>主要类型</a:t>
            </a:r>
            <a:endParaRPr lang="en-US" altLang="zh-CN" b="1" dirty="0">
              <a:solidFill>
                <a:srgbClr val="FF0000"/>
              </a:solidFill>
              <a:latin typeface="仿宋_GB2312"/>
              <a:ea typeface="仿宋_GB2312"/>
            </a:endParaRPr>
          </a:p>
          <a:p>
            <a:pPr eaLnBrk="1" latinLnBrk="0" hangingPunct="1">
              <a:lnSpc>
                <a:spcPct val="140000"/>
              </a:lnSpc>
              <a:spcBef>
                <a:spcPts val="0"/>
              </a:spcBef>
            </a:pPr>
            <a:r>
              <a:rPr lang="zh-CN" altLang="en-US" b="1" dirty="0">
                <a:solidFill>
                  <a:srgbClr val="0000FF"/>
                </a:solidFill>
                <a:latin typeface="仿宋_GB2312"/>
                <a:ea typeface="仿宋_GB2312"/>
              </a:rPr>
              <a:t>了解</a:t>
            </a:r>
            <a:r>
              <a:rPr lang="zh-CN" altLang="en-US" b="1" dirty="0">
                <a:solidFill>
                  <a:srgbClr val="FF0000"/>
                </a:solidFill>
                <a:latin typeface="仿宋_GB2312"/>
                <a:ea typeface="仿宋_GB2312"/>
              </a:rPr>
              <a:t>晶体结构</a:t>
            </a:r>
            <a:r>
              <a:rPr lang="zh-CN" altLang="en-US" b="1" dirty="0">
                <a:latin typeface="仿宋_GB2312"/>
                <a:ea typeface="仿宋_GB2312"/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latin typeface="仿宋_GB2312"/>
                <a:ea typeface="仿宋_GB2312"/>
              </a:rPr>
              <a:t>基本概念</a:t>
            </a:r>
            <a:endParaRPr lang="en-US" altLang="zh-CN" b="1" dirty="0">
              <a:solidFill>
                <a:srgbClr val="FF0000"/>
              </a:solidFill>
              <a:latin typeface="仿宋_GB2312"/>
              <a:ea typeface="仿宋_GB2312"/>
            </a:endParaRPr>
          </a:p>
          <a:p>
            <a:pPr eaLnBrk="1" latinLnBrk="0" hangingPunct="1">
              <a:lnSpc>
                <a:spcPct val="140000"/>
              </a:lnSpc>
              <a:spcBef>
                <a:spcPts val="0"/>
              </a:spcBef>
            </a:pPr>
            <a:r>
              <a:rPr lang="zh-CN" altLang="en-US" b="1" dirty="0">
                <a:solidFill>
                  <a:srgbClr val="0000FF"/>
                </a:solidFill>
                <a:latin typeface="仿宋_GB2312"/>
                <a:ea typeface="仿宋_GB2312"/>
              </a:rPr>
              <a:t>了解</a:t>
            </a:r>
            <a:r>
              <a:rPr lang="zh-CN" altLang="en-US" b="1" dirty="0">
                <a:solidFill>
                  <a:srgbClr val="FF0000"/>
                </a:solidFill>
                <a:latin typeface="仿宋_GB2312"/>
                <a:ea typeface="仿宋_GB2312"/>
              </a:rPr>
              <a:t>三种常见</a:t>
            </a:r>
            <a:r>
              <a:rPr lang="zh-CN" altLang="en-US" b="1" dirty="0">
                <a:latin typeface="仿宋_GB2312"/>
                <a:ea typeface="仿宋_GB2312"/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latin typeface="仿宋_GB2312"/>
                <a:ea typeface="仿宋_GB2312"/>
              </a:rPr>
              <a:t>金属晶体结构</a:t>
            </a:r>
            <a:endParaRPr lang="en-US" altLang="zh-CN" b="1" dirty="0">
              <a:solidFill>
                <a:srgbClr val="FF0000"/>
              </a:solidFill>
              <a:latin typeface="仿宋_GB2312"/>
              <a:ea typeface="仿宋_GB2312"/>
            </a:endParaRPr>
          </a:p>
          <a:p>
            <a:pPr eaLnBrk="1" latinLnBrk="0" hangingPunct="1">
              <a:lnSpc>
                <a:spcPct val="140000"/>
              </a:lnSpc>
              <a:spcBef>
                <a:spcPts val="0"/>
              </a:spcBef>
            </a:pPr>
            <a:r>
              <a:rPr lang="zh-CN" altLang="en-US" b="1">
                <a:solidFill>
                  <a:srgbClr val="0000FF"/>
                </a:solidFill>
                <a:latin typeface="仿宋_GB2312"/>
                <a:ea typeface="仿宋_GB2312"/>
              </a:rPr>
              <a:t>初步掌握</a:t>
            </a:r>
            <a:r>
              <a:rPr lang="zh-CN" altLang="en-US" b="1">
                <a:solidFill>
                  <a:srgbClr val="FF0000"/>
                </a:solidFill>
                <a:latin typeface="仿宋_GB2312"/>
                <a:ea typeface="仿宋_GB2312"/>
              </a:rPr>
              <a:t>合金</a:t>
            </a:r>
            <a:r>
              <a:rPr lang="zh-CN" altLang="en-US" b="1" dirty="0">
                <a:solidFill>
                  <a:srgbClr val="FF0000"/>
                </a:solidFill>
                <a:latin typeface="仿宋_GB2312"/>
                <a:ea typeface="仿宋_GB2312"/>
              </a:rPr>
              <a:t>相图</a:t>
            </a:r>
            <a:r>
              <a:rPr lang="zh-CN" altLang="en-US" b="1" dirty="0">
                <a:latin typeface="仿宋_GB2312"/>
                <a:ea typeface="仿宋_GB2312"/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latin typeface="仿宋_GB2312"/>
                <a:ea typeface="仿宋_GB2312"/>
              </a:rPr>
              <a:t>基本概念、主要类型</a:t>
            </a:r>
            <a:r>
              <a:rPr lang="zh-CN" altLang="en-US" b="1" dirty="0">
                <a:latin typeface="仿宋_GB2312"/>
                <a:ea typeface="仿宋_GB2312"/>
              </a:rPr>
              <a:t>及</a:t>
            </a:r>
            <a:r>
              <a:rPr lang="zh-CN" altLang="en-US" b="1" dirty="0">
                <a:solidFill>
                  <a:srgbClr val="FF0000"/>
                </a:solidFill>
                <a:latin typeface="仿宋_GB2312"/>
                <a:ea typeface="仿宋_GB2312"/>
              </a:rPr>
              <a:t>基本分析方法</a:t>
            </a:r>
            <a:endParaRPr lang="en-US" altLang="zh-CN" b="1" dirty="0">
              <a:solidFill>
                <a:srgbClr val="FF0000"/>
              </a:solidFill>
              <a:latin typeface="仿宋_GB2312"/>
              <a:ea typeface="仿宋_GB2312"/>
            </a:endParaRPr>
          </a:p>
          <a:p>
            <a:pPr eaLnBrk="1" latinLnBrk="0" hangingPunct="1">
              <a:lnSpc>
                <a:spcPct val="140000"/>
              </a:lnSpc>
              <a:spcBef>
                <a:spcPts val="0"/>
              </a:spcBef>
            </a:pPr>
            <a:r>
              <a:rPr lang="zh-CN" altLang="en-US" b="1" dirty="0">
                <a:solidFill>
                  <a:srgbClr val="0000FF"/>
                </a:solidFill>
                <a:latin typeface="仿宋_GB2312"/>
                <a:ea typeface="仿宋_GB2312"/>
              </a:rPr>
              <a:t>初步掌握</a:t>
            </a:r>
            <a:r>
              <a:rPr lang="zh-CN" altLang="en-US" b="1" dirty="0">
                <a:solidFill>
                  <a:srgbClr val="FF0000"/>
                </a:solidFill>
                <a:latin typeface="仿宋_GB2312"/>
                <a:ea typeface="仿宋_GB2312"/>
              </a:rPr>
              <a:t>铁碳合金相图</a:t>
            </a:r>
            <a:r>
              <a:rPr lang="zh-CN" altLang="en-US" b="1" dirty="0">
                <a:latin typeface="仿宋_GB2312"/>
                <a:ea typeface="仿宋_GB2312"/>
              </a:rPr>
              <a:t>及其</a:t>
            </a:r>
            <a:r>
              <a:rPr lang="zh-CN" altLang="en-US" b="1" dirty="0">
                <a:solidFill>
                  <a:srgbClr val="FF0000"/>
                </a:solidFill>
                <a:latin typeface="仿宋_GB2312"/>
                <a:ea typeface="仿宋_GB2312"/>
              </a:rPr>
              <a:t>应用</a:t>
            </a:r>
            <a:endParaRPr lang="zh-CN" altLang="en-US" b="1" dirty="0">
              <a:solidFill>
                <a:srgbClr val="FF0000"/>
              </a:solidFill>
              <a:latin typeface="仿宋_GB2312"/>
              <a:ea typeface="仿宋_GB2312"/>
            </a:endParaRPr>
          </a:p>
        </p:txBody>
      </p:sp>
      <p:sp>
        <p:nvSpPr>
          <p:cNvPr id="17412" name="Rectangle 6"/>
          <p:cNvSpPr>
            <a:spLocks noGrp="1"/>
          </p:cNvSpPr>
          <p:nvPr>
            <p:ph type="title"/>
          </p:nvPr>
        </p:nvSpPr>
        <p:spPr>
          <a:xfrm>
            <a:off x="1187624" y="0"/>
            <a:ext cx="7519739" cy="1556792"/>
          </a:xfrm>
        </p:spPr>
        <p:txBody>
          <a:bodyPr vert="horz" wrap="square" lIns="91440" tIns="45720" rIns="91440" bIns="45720" anchor="b"/>
          <a:lstStyle/>
          <a:p>
            <a:pPr algn="ctr" eaLnBrk="1" hangingPunct="1"/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本章主要教学目标</a:t>
            </a:r>
            <a:b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</a:b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Learning Objectives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7414" name="日期占位符 1"/>
          <p:cNvSpPr txBox="1">
            <a:spLocks noGrp="1"/>
          </p:cNvSpPr>
          <p:nvPr>
            <p:ph type="dt" sz="half" idx="4294967295"/>
          </p:nvPr>
        </p:nvSpPr>
        <p:spPr>
          <a:xfrm>
            <a:off x="139700" y="6515100"/>
            <a:ext cx="1912020" cy="342900"/>
          </a:xfrm>
          <a:prstGeom prst="rect">
            <a:avLst/>
          </a:prstGeom>
        </p:spPr>
        <p:txBody>
          <a:bodyPr anchor="b"/>
          <a:lstStyle/>
          <a:p>
            <a:pPr marL="0" indent="0" eaLnBrk="1" hangingPunct="1">
              <a:spcBef>
                <a:spcPct val="0"/>
              </a:spcBef>
              <a:buClrTx/>
              <a:buSzPct val="100000"/>
              <a:buFont typeface="Arial" panose="020B0604020202020204" pitchFamily="34" charset="0"/>
              <a:buNone/>
            </a:pPr>
            <a:fld id="{BB962C8B-B14F-4D97-AF65-F5344CB8AC3E}" type="datetime8">
              <a:rPr lang="en-US" altLang="zh-CN" sz="1400" dirty="0">
                <a:latin typeface="+mn-lt"/>
                <a:ea typeface="+mn-ea"/>
                <a:cs typeface="+mn-cs"/>
              </a:rPr>
            </a:fld>
            <a:endParaRPr lang="en-US" altLang="zh-CN" sz="1400" dirty="0">
              <a:latin typeface="+mn-lt"/>
              <a:ea typeface="+mn-ea"/>
              <a:cs typeface="+mn-cs"/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991892" cy="97755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08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08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8" grpId="0" advAuto="100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灯片编号占位符 5"/>
          <p:cNvSpPr txBox="1">
            <a:spLocks noGrp="1" noChangeArrowheads="1"/>
          </p:cNvSpPr>
          <p:nvPr>
            <p:ph type="sldNum" sz="quarter" idx="4294967295"/>
          </p:nvPr>
        </p:nvSpPr>
        <p:spPr bwMode="auto">
          <a:xfrm>
            <a:off x="8442325" y="6538913"/>
            <a:ext cx="558800" cy="31908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2BCAE15-A39C-4F71-A305-11A2890C32E2}" type="slidenum">
              <a:rPr kumimoji="0" lang="en-US" altLang="zh-CN" sz="1400" b="0" i="0" u="none" strike="noStrike" kern="1200" cap="none" spc="0" normalizeH="0" baseline="0" noProof="1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ea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80898" name="Rectangle 2"/>
          <p:cNvSpPr>
            <a:spLocks noGrp="1"/>
          </p:cNvSpPr>
          <p:nvPr>
            <p:ph idx="1"/>
          </p:nvPr>
        </p:nvSpPr>
        <p:spPr>
          <a:xfrm>
            <a:off x="323850" y="2290441"/>
            <a:ext cx="8820150" cy="4248472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50000"/>
              </a:lnSpc>
            </a:pPr>
            <a:r>
              <a:rPr lang="zh-CN" altLang="zh-CN" b="1" dirty="0">
                <a:solidFill>
                  <a:srgbClr val="0000FF"/>
                </a:solidFill>
                <a:latin typeface="仿宋_GB2312"/>
                <a:ea typeface="仿宋_GB2312"/>
              </a:rPr>
              <a:t>金属材料的结构</a:t>
            </a:r>
            <a:endParaRPr lang="en-US" altLang="zh-CN" b="1" dirty="0">
              <a:solidFill>
                <a:srgbClr val="0000FF"/>
              </a:solidFill>
              <a:latin typeface="仿宋_GB2312"/>
              <a:ea typeface="仿宋_GB231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zh-CN" b="1" dirty="0">
                <a:solidFill>
                  <a:srgbClr val="0000FF"/>
                </a:solidFill>
                <a:latin typeface="仿宋_GB2312"/>
                <a:ea typeface="仿宋_GB2312"/>
              </a:rPr>
              <a:t>二元合金相图</a:t>
            </a:r>
            <a:endParaRPr lang="zh-CN" altLang="en-US" b="1" dirty="0">
              <a:solidFill>
                <a:srgbClr val="0000FF"/>
              </a:solidFill>
              <a:latin typeface="仿宋_GB2312"/>
              <a:ea typeface="仿宋_GB2312"/>
            </a:endParaRPr>
          </a:p>
        </p:txBody>
      </p:sp>
      <p:sp>
        <p:nvSpPr>
          <p:cNvPr id="17412" name="Rectangle 6"/>
          <p:cNvSpPr>
            <a:spLocks noGrp="1"/>
          </p:cNvSpPr>
          <p:nvPr>
            <p:ph type="title"/>
          </p:nvPr>
        </p:nvSpPr>
        <p:spPr>
          <a:xfrm>
            <a:off x="1228725" y="31804"/>
            <a:ext cx="7375723" cy="950595"/>
          </a:xfrm>
        </p:spPr>
        <p:txBody>
          <a:bodyPr vert="horz" wrap="square" lIns="91440" tIns="45720" rIns="91440" bIns="45720" anchor="b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本章主要教学内容</a:t>
            </a:r>
            <a:endParaRPr lang="zh-CN" altLang="en-US" b="1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7414" name="日期占位符 1"/>
          <p:cNvSpPr txBox="1">
            <a:spLocks noGrp="1"/>
          </p:cNvSpPr>
          <p:nvPr>
            <p:ph type="dt" sz="half" idx="4294967295"/>
          </p:nvPr>
        </p:nvSpPr>
        <p:spPr>
          <a:xfrm>
            <a:off x="139700" y="6515100"/>
            <a:ext cx="1984028" cy="342900"/>
          </a:xfrm>
          <a:prstGeom prst="rect">
            <a:avLst/>
          </a:prstGeom>
        </p:spPr>
        <p:txBody>
          <a:bodyPr anchor="b"/>
          <a:lstStyle/>
          <a:p>
            <a:pPr marL="0" indent="0" eaLnBrk="1" hangingPunct="1">
              <a:spcBef>
                <a:spcPct val="0"/>
              </a:spcBef>
              <a:buClrTx/>
              <a:buSzPct val="100000"/>
              <a:buFont typeface="Arial" panose="020B0604020202020204" pitchFamily="34" charset="0"/>
              <a:buNone/>
            </a:pPr>
            <a:fld id="{BB962C8B-B14F-4D97-AF65-F5344CB8AC3E}" type="datetime8">
              <a:rPr lang="en-US" altLang="zh-CN" sz="1400" dirty="0">
                <a:latin typeface="+mn-lt"/>
                <a:ea typeface="+mn-ea"/>
                <a:cs typeface="+mn-cs"/>
              </a:rPr>
            </a:fld>
            <a:endParaRPr lang="en-US" altLang="zh-CN" sz="1400" dirty="0">
              <a:latin typeface="+mn-lt"/>
              <a:ea typeface="+mn-ea"/>
              <a:cs typeface="+mn-cs"/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4" y="3175"/>
            <a:ext cx="993587" cy="979224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8" grpId="0" advAuto="100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350250" y="6600825"/>
            <a:ext cx="596900" cy="250825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50531" name="Rectangle 3"/>
          <p:cNvSpPr>
            <a:spLocks noGrp="1"/>
          </p:cNvSpPr>
          <p:nvPr>
            <p:ph type="title"/>
          </p:nvPr>
        </p:nvSpPr>
        <p:spPr>
          <a:xfrm>
            <a:off x="179512" y="2060848"/>
            <a:ext cx="8964488" cy="3096344"/>
          </a:xfrm>
        </p:spPr>
        <p:txBody>
          <a:bodyPr wrap="square" lIns="92075" tIns="46038" rIns="92075" bIns="46038" anchor="ctr"/>
          <a:lstStyle/>
          <a:p>
            <a:pPr algn="ctr" eaLnBrk="1" hangingPunct="1"/>
            <a:r>
              <a:rPr lang="zh-CN" altLang="en-US" sz="6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一、</a:t>
            </a:r>
            <a:r>
              <a:rPr lang="zh-CN" altLang="zh-CN" sz="6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金属材料的结构</a:t>
            </a:r>
            <a:br>
              <a:rPr lang="en-US" altLang="zh-CN" sz="6000" b="1" dirty="0">
                <a:latin typeface="华文中宋" panose="02010600040101010101" pitchFamily="2" charset="-122"/>
                <a:ea typeface="华文中宋" panose="02010600040101010101" pitchFamily="2" charset="-122"/>
              </a:rPr>
            </a:br>
            <a:r>
              <a:rPr lang="en-US" altLang="zh-CN" sz="60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Structure of Metallic Materials</a:t>
            </a:r>
            <a:endParaRPr lang="en-US" altLang="zh-CN" sz="6000" b="1" i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125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54788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1064956" cy="1049561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0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350250" y="6600825"/>
            <a:ext cx="596900" cy="250825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50530" name="Rectangle 2"/>
          <p:cNvSpPr>
            <a:spLocks noGrp="1"/>
          </p:cNvSpPr>
          <p:nvPr>
            <p:ph idx="1"/>
          </p:nvPr>
        </p:nvSpPr>
        <p:spPr>
          <a:xfrm>
            <a:off x="1219200" y="1844675"/>
            <a:ext cx="7239000" cy="4556125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（一）原子的结合方式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  <a:hlinkClick r:id="rId1" action="ppaction://hlinksldjump"/>
              </a:rPr>
              <a:t>（二</a:t>
            </a: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）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晶体结构的基本概念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hlinkClick r:id="rId2" action="ppaction://hlinksldjump"/>
              </a:rPr>
              <a:t>（三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金属的结构</a:t>
            </a:r>
            <a:r>
              <a:rPr lang="en-US" altLang="zh-CN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(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晶体、非晶体</a:t>
            </a:r>
            <a:r>
              <a:rPr lang="en-US" altLang="zh-CN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)</a:t>
            </a:r>
            <a:endParaRPr lang="en-US" altLang="zh-CN" b="1" dirty="0">
              <a:solidFill>
                <a:schemeClr val="folHlink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（四）陶瓷的结构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（五）高分子材料的结构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endParaRPr lang="zh-CN" altLang="en-US" sz="20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sp>
        <p:nvSpPr>
          <p:cNvPr id="150531" name="Rectangle 3"/>
          <p:cNvSpPr>
            <a:spLocks noGrp="1"/>
          </p:cNvSpPr>
          <p:nvPr>
            <p:ph type="title"/>
          </p:nvPr>
        </p:nvSpPr>
        <p:spPr>
          <a:xfrm>
            <a:off x="1547813" y="620713"/>
            <a:ext cx="5832499" cy="1143000"/>
          </a:xfrm>
        </p:spPr>
        <p:txBody>
          <a:bodyPr wrap="square" lIns="92075" tIns="46038" rIns="92075" bIns="46038" anchor="ctr"/>
          <a:lstStyle/>
          <a:p>
            <a:pPr eaLnBrk="1" hangingPunct="1"/>
            <a:r>
              <a:rPr lang="zh-CN" altLang="zh-CN" sz="54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金属材料的结构</a:t>
            </a:r>
            <a:endParaRPr lang="zh-CN" altLang="en-US" sz="5400" b="1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125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54788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4" y="3175"/>
            <a:ext cx="1023923" cy="1009121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0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0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0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0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0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0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0" grpId="0" advAuto="1000" build="p"/>
      <p:bldP spid="1505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534400" y="6545263"/>
            <a:ext cx="388938" cy="309562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53602" name="Rectangle 2"/>
          <p:cNvSpPr>
            <a:spLocks noGrp="1"/>
          </p:cNvSpPr>
          <p:nvPr>
            <p:ph type="title"/>
          </p:nvPr>
        </p:nvSpPr>
        <p:spPr>
          <a:xfrm>
            <a:off x="0" y="1988840"/>
            <a:ext cx="8964488" cy="2448272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zh-CN" altLang="en-US" sz="6000" b="1" dirty="0">
                <a:ea typeface="华文中宋" panose="02010600040101010101" pitchFamily="2" charset="-122"/>
              </a:rPr>
              <a:t>（一）原子的结合方式</a:t>
            </a:r>
            <a:br>
              <a:rPr lang="en-US" altLang="zh-CN" sz="6000" b="1" dirty="0">
                <a:ea typeface="华文中宋" panose="02010600040101010101" pitchFamily="2" charset="-122"/>
              </a:rPr>
            </a:br>
            <a:r>
              <a:rPr lang="en-US" altLang="zh-CN" sz="60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Atomic bonding type</a:t>
            </a:r>
            <a:endParaRPr lang="en-US" altLang="zh-CN" sz="6000" b="1" i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152" name="日期占位符 1"/>
          <p:cNvSpPr>
            <a:spLocks noGrp="1"/>
          </p:cNvSpPr>
          <p:nvPr>
            <p:ph type="dt" sz="half" idx="10"/>
          </p:nvPr>
        </p:nvSpPr>
        <p:spPr>
          <a:xfrm>
            <a:off x="79375" y="6529388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991892" cy="97755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534400" y="6545263"/>
            <a:ext cx="388938" cy="309562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53602" name="Rectangle 2"/>
          <p:cNvSpPr>
            <a:spLocks noGrp="1"/>
          </p:cNvSpPr>
          <p:nvPr>
            <p:ph type="title"/>
          </p:nvPr>
        </p:nvSpPr>
        <p:spPr>
          <a:xfrm>
            <a:off x="1116013" y="333375"/>
            <a:ext cx="7772400" cy="935038"/>
          </a:xfrm>
        </p:spPr>
        <p:txBody>
          <a:bodyPr wrap="square" lIns="91440" tIns="45720" rIns="91440" bIns="45720" anchor="b"/>
          <a:lstStyle/>
          <a:p>
            <a:pPr eaLnBrk="1" hangingPunct="1"/>
            <a:r>
              <a:rPr lang="en-US" altLang="zh-CN" b="1" dirty="0">
                <a:ea typeface="华文中宋" panose="02010600040101010101" pitchFamily="2" charset="-122"/>
              </a:rPr>
              <a:t>(</a:t>
            </a:r>
            <a:r>
              <a:rPr lang="zh-CN" altLang="en-US" b="1" dirty="0">
                <a:ea typeface="华文中宋" panose="02010600040101010101" pitchFamily="2" charset="-122"/>
              </a:rPr>
              <a:t>一</a:t>
            </a:r>
            <a:r>
              <a:rPr lang="en-US" altLang="zh-CN" b="1" dirty="0">
                <a:ea typeface="华文中宋" panose="02010600040101010101" pitchFamily="2" charset="-122"/>
              </a:rPr>
              <a:t>)</a:t>
            </a:r>
            <a:r>
              <a:rPr lang="zh-CN" altLang="en-US" b="1" dirty="0">
                <a:ea typeface="华文中宋" panose="02010600040101010101" pitchFamily="2" charset="-122"/>
              </a:rPr>
              <a:t>原子的结合方式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sp>
        <p:nvSpPr>
          <p:cNvPr id="153603" name="Rectangle 3"/>
          <p:cNvSpPr>
            <a:spLocks noGrp="1"/>
          </p:cNvSpPr>
          <p:nvPr>
            <p:ph type="body" sz="half" idx="1"/>
          </p:nvPr>
        </p:nvSpPr>
        <p:spPr>
          <a:xfrm>
            <a:off x="0" y="1817688"/>
            <a:ext cx="6516688" cy="4397375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物质由</a:t>
            </a: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原子</a:t>
            </a:r>
            <a:r>
              <a:rPr lang="zh-CN" altLang="en-US" b="1" dirty="0">
                <a:ea typeface="华文中宋" panose="02010600040101010101" pitchFamily="2" charset="-122"/>
              </a:rPr>
              <a:t>（</a:t>
            </a: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分子</a:t>
            </a:r>
            <a:r>
              <a:rPr lang="zh-CN" altLang="en-US" b="1" dirty="0">
                <a:ea typeface="华文中宋" panose="02010600040101010101" pitchFamily="2" charset="-122"/>
              </a:rPr>
              <a:t>、</a:t>
            </a: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离子</a:t>
            </a:r>
            <a:r>
              <a:rPr lang="zh-CN" altLang="en-US" b="1" dirty="0">
                <a:ea typeface="华文中宋" panose="02010600040101010101" pitchFamily="2" charset="-122"/>
              </a:rPr>
              <a:t>）组成。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原子的结合方式和排列方式决定了物质的性能。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结合键</a:t>
            </a:r>
            <a:r>
              <a:rPr lang="zh-CN" altLang="en-US" b="1" dirty="0">
                <a:solidFill>
                  <a:schemeClr val="folHlink"/>
                </a:solidFill>
              </a:rPr>
              <a:t>：</a:t>
            </a:r>
            <a:r>
              <a:rPr lang="zh-CN" altLang="en-US" b="1" dirty="0"/>
              <a:t>原子、离子、分子之间的</a:t>
            </a:r>
            <a:r>
              <a:rPr lang="zh-CN" altLang="en-US" b="1" dirty="0">
                <a:solidFill>
                  <a:schemeClr val="folHlink"/>
                </a:solidFill>
              </a:rPr>
              <a:t>结合力</a:t>
            </a:r>
            <a:r>
              <a:rPr lang="zh-CN" altLang="en-US" b="1" dirty="0"/>
              <a:t>。</a:t>
            </a:r>
            <a:endParaRPr lang="zh-CN" altLang="en-US" b="1" dirty="0"/>
          </a:p>
          <a:p>
            <a:pPr eaLnBrk="1" hangingPunct="1"/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结构</a:t>
            </a:r>
            <a:r>
              <a:rPr lang="zh-CN" altLang="en-US" b="1" dirty="0">
                <a:solidFill>
                  <a:schemeClr val="folHlink"/>
                </a:solidFill>
              </a:rPr>
              <a:t>：</a:t>
            </a:r>
            <a:r>
              <a:rPr lang="zh-CN" altLang="en-US" b="1" dirty="0"/>
              <a:t>原子、离子、分子的具体组合状态。</a:t>
            </a:r>
            <a:endParaRPr lang="zh-CN" altLang="en-US" b="1" dirty="0"/>
          </a:p>
        </p:txBody>
      </p:sp>
      <p:grpSp>
        <p:nvGrpSpPr>
          <p:cNvPr id="2" name="Group 4"/>
          <p:cNvGrpSpPr/>
          <p:nvPr/>
        </p:nvGrpSpPr>
        <p:grpSpPr>
          <a:xfrm>
            <a:off x="6300788" y="2924175"/>
            <a:ext cx="2843212" cy="2139950"/>
            <a:chOff x="3560" y="1716"/>
            <a:chExt cx="2200" cy="1677"/>
          </a:xfrm>
        </p:grpSpPr>
        <p:pic>
          <p:nvPicPr>
            <p:cNvPr id="6149" name="Picture 5" descr="c60a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560" y="1716"/>
              <a:ext cx="2200" cy="160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150" name="Text Box 6"/>
            <p:cNvSpPr txBox="1"/>
            <p:nvPr/>
          </p:nvSpPr>
          <p:spPr>
            <a:xfrm>
              <a:off x="5118" y="2887"/>
              <a:ext cx="642" cy="50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3600" b="1" dirty="0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en-US" altLang="zh-CN" sz="3600" b="1" baseline="-25000" dirty="0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60</a:t>
              </a:r>
              <a:endParaRPr lang="en-US" altLang="zh-CN" sz="3600" b="1" baseline="-25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6152" name="日期占位符 1"/>
          <p:cNvSpPr>
            <a:spLocks noGrp="1"/>
          </p:cNvSpPr>
          <p:nvPr>
            <p:ph type="dt" sz="half" idx="10"/>
          </p:nvPr>
        </p:nvSpPr>
        <p:spPr>
          <a:xfrm>
            <a:off x="79375" y="6529388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4" y="3175"/>
            <a:ext cx="951915" cy="938154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3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3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3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2" grpId="0"/>
      <p:bldP spid="153603" grpId="0" advAuto="100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78838" y="6556375"/>
            <a:ext cx="412750" cy="306388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8194" name="Rectangle 2"/>
          <p:cNvSpPr>
            <a:spLocks noGrp="1"/>
          </p:cNvSpPr>
          <p:nvPr>
            <p:ph type="title"/>
          </p:nvPr>
        </p:nvSpPr>
        <p:spPr>
          <a:xfrm>
            <a:off x="1908175" y="476250"/>
            <a:ext cx="7772400" cy="1143000"/>
          </a:xfrm>
        </p:spPr>
        <p:txBody>
          <a:bodyPr wrap="square" lIns="91440" tIns="45720" rIns="91440" bIns="45720" anchor="b"/>
          <a:lstStyle/>
          <a:p>
            <a:pPr eaLnBrk="1" hangingPunct="1"/>
            <a:r>
              <a:rPr lang="zh-CN" altLang="en-US" b="1" dirty="0"/>
              <a:t>结合键的种类</a:t>
            </a:r>
            <a:endParaRPr lang="zh-CN" altLang="en-US" b="1" dirty="0"/>
          </a:p>
        </p:txBody>
      </p:sp>
      <p:sp>
        <p:nvSpPr>
          <p:cNvPr id="155651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2204864"/>
            <a:ext cx="8496300" cy="33432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强健：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离子键、共价键、金属键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lvl="0" eaLnBrk="1" hangingPunct="1">
              <a:buNone/>
              <a:defRPr/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    Ionic bonding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、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 Covalent bonding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、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 Metallic bonding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+mj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lvl="0" eaLnBrk="1" hangingPunct="1">
              <a:defRPr/>
            </a:pP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弱键：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分子键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Molecular bonding</a:t>
            </a: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）、氢键 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197" name="日期占位符 1"/>
          <p:cNvSpPr>
            <a:spLocks noGrp="1"/>
          </p:cNvSpPr>
          <p:nvPr>
            <p:ph type="dt" sz="half" idx="10"/>
          </p:nvPr>
        </p:nvSpPr>
        <p:spPr>
          <a:xfrm>
            <a:off x="35560" y="6525260"/>
            <a:ext cx="1905000" cy="323215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991892" cy="97755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558213" y="6526213"/>
            <a:ext cx="398462" cy="309562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1266" name="Rectangle 2"/>
          <p:cNvSpPr>
            <a:spLocks noGrp="1"/>
          </p:cNvSpPr>
          <p:nvPr>
            <p:ph type="title"/>
          </p:nvPr>
        </p:nvSpPr>
        <p:spPr>
          <a:xfrm>
            <a:off x="1547495" y="0"/>
            <a:ext cx="6908800" cy="1707515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金属键 </a:t>
            </a:r>
            <a:b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</a:rPr>
            </a:br>
            <a:r>
              <a:rPr lang="zh-CN" altLang="en-US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（</a:t>
            </a:r>
            <a:r>
              <a:rPr lang="en-US" altLang="zh-CN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Metallic bonding</a:t>
            </a:r>
            <a:r>
              <a:rPr lang="zh-CN" altLang="en-US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）</a:t>
            </a:r>
            <a:endParaRPr lang="zh-CN" altLang="en-US" b="1" i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11267" name="Rectangle 3"/>
          <p:cNvSpPr>
            <a:spLocks noGrp="1"/>
          </p:cNvSpPr>
          <p:nvPr>
            <p:ph type="body" sz="half" idx="1"/>
          </p:nvPr>
        </p:nvSpPr>
        <p:spPr>
          <a:xfrm>
            <a:off x="214630" y="2133600"/>
            <a:ext cx="5870575" cy="4359275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rgbClr val="0000FF"/>
                </a:solidFill>
              </a:rPr>
              <a:t>形成：</a:t>
            </a:r>
            <a:r>
              <a:rPr lang="zh-CN" altLang="en-US" sz="2800" b="1" dirty="0">
                <a:solidFill>
                  <a:srgbClr val="FF0000"/>
                </a:solidFill>
              </a:rPr>
              <a:t>金属离子</a:t>
            </a:r>
            <a:r>
              <a:rPr lang="zh-CN" altLang="en-US" sz="2800" dirty="0"/>
              <a:t>通过</a:t>
            </a:r>
            <a:r>
              <a:rPr lang="zh-CN" altLang="en-US" sz="2800" b="1" dirty="0">
                <a:solidFill>
                  <a:srgbClr val="FF0000"/>
                </a:solidFill>
              </a:rPr>
              <a:t>正离子</a:t>
            </a:r>
            <a:r>
              <a:rPr lang="zh-CN" altLang="en-US" sz="2800" dirty="0"/>
              <a:t>和</a:t>
            </a:r>
            <a:r>
              <a:rPr lang="zh-CN" altLang="en-US" sz="2800" b="1" dirty="0">
                <a:solidFill>
                  <a:srgbClr val="0000FF"/>
                </a:solidFill>
              </a:rPr>
              <a:t>自由电子（电子云）</a:t>
            </a:r>
            <a:r>
              <a:rPr lang="zh-CN" altLang="en-US" sz="2800" dirty="0"/>
              <a:t>之间的引力而相互结合</a:t>
            </a:r>
            <a:endParaRPr lang="zh-CN" altLang="en-US" sz="2800" dirty="0"/>
          </a:p>
          <a:p>
            <a:pPr eaLnBrk="1" hangingPunct="1"/>
            <a:r>
              <a:rPr lang="zh-CN" altLang="en-US" b="1" dirty="0">
                <a:solidFill>
                  <a:srgbClr val="0000FF"/>
                </a:solidFill>
              </a:rPr>
              <a:t>特点：</a:t>
            </a:r>
            <a:r>
              <a:rPr lang="zh-CN" altLang="en-US" sz="2800" dirty="0"/>
              <a:t>良好的导电、导热、不透明、金属光泽、塑性好、</a:t>
            </a:r>
            <a:r>
              <a:rPr lang="zh-CN" altLang="en-US" sz="2800" b="1" dirty="0">
                <a:solidFill>
                  <a:srgbClr val="0000FF"/>
                </a:solidFill>
              </a:rPr>
              <a:t>正的电阻温度系数</a:t>
            </a:r>
            <a:endParaRPr lang="zh-CN" altLang="en-US" sz="2800" b="1" dirty="0">
              <a:solidFill>
                <a:srgbClr val="0000FF"/>
              </a:solidFill>
            </a:endParaRPr>
          </a:p>
          <a:p>
            <a:pPr eaLnBrk="1" hangingPunct="1"/>
            <a:r>
              <a:rPr lang="zh-CN" altLang="en-US" sz="2800" dirty="0"/>
              <a:t>金属键</a:t>
            </a:r>
            <a:r>
              <a:rPr lang="zh-CN" altLang="en-US" b="1" dirty="0">
                <a:solidFill>
                  <a:srgbClr val="0000FF"/>
                </a:solidFill>
              </a:rPr>
              <a:t>无方向性</a:t>
            </a:r>
            <a:r>
              <a:rPr lang="zh-CN" altLang="en-US" sz="2800" dirty="0"/>
              <a:t>，当金属原子间发生相对位移时，金属键不被破坏，因而金属的</a:t>
            </a:r>
            <a:r>
              <a:rPr lang="zh-CN" altLang="en-US" b="1" dirty="0">
                <a:solidFill>
                  <a:srgbClr val="0000FF"/>
                </a:solidFill>
              </a:rPr>
              <a:t>塑性好</a:t>
            </a:r>
            <a:r>
              <a:rPr lang="zh-CN" altLang="en-US" sz="2800" dirty="0"/>
              <a:t>。</a:t>
            </a:r>
            <a:endParaRPr lang="zh-CN" altLang="en-US" sz="2800" dirty="0"/>
          </a:p>
        </p:txBody>
      </p:sp>
      <p:pic>
        <p:nvPicPr>
          <p:cNvPr id="158724" name="metallic  bonding.mov">
            <a:hlinkClick r:id="" action="ppaction://media"/>
          </p:cNvPr>
          <p:cNvPicPr>
            <a:picLocks noGrp="1" noRot="1" noChangeAspect="1"/>
          </p:cNvPicPr>
          <p:nvPr>
            <p:ph type="media" sz="half" idx="2"/>
            <a:vide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 cstate="print"/>
          <a:stretch>
            <a:fillRect/>
          </a:stretch>
        </p:blipFill>
        <p:spPr>
          <a:xfrm>
            <a:off x="6278563" y="2708920"/>
            <a:ext cx="2865437" cy="2149475"/>
          </a:xfrm>
        </p:spPr>
      </p:pic>
      <p:sp>
        <p:nvSpPr>
          <p:cNvPr id="11270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4" y="3175"/>
            <a:ext cx="918827" cy="9055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8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1587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587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1587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724"/>
                  </p:tgtEl>
                </p:cond>
              </p:nextCondLst>
            </p:seq>
            <p:video>
              <p:cMediaNode>
                <p:cTn id="16" repeatCount="indefinite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158724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69325" y="6623050"/>
            <a:ext cx="398463" cy="234950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9218" name="Rectangle 2"/>
          <p:cNvSpPr>
            <a:spLocks noGrp="1"/>
          </p:cNvSpPr>
          <p:nvPr>
            <p:ph type="title"/>
          </p:nvPr>
        </p:nvSpPr>
        <p:spPr>
          <a:xfrm>
            <a:off x="2123440" y="260985"/>
            <a:ext cx="5683250" cy="1322705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离子键   </a:t>
            </a:r>
            <a:b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</a:rPr>
            </a:br>
            <a:r>
              <a:rPr lang="zh-CN" altLang="en-US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（</a:t>
            </a:r>
            <a:r>
              <a:rPr lang="en-US" altLang="zh-CN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Ionic bonding</a:t>
            </a:r>
            <a:r>
              <a:rPr lang="zh-CN" altLang="en-US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）</a:t>
            </a:r>
            <a:endParaRPr lang="zh-CN" altLang="en-US" b="1" i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9219" name="Rectangle 3"/>
          <p:cNvSpPr>
            <a:spLocks noGrp="1"/>
          </p:cNvSpPr>
          <p:nvPr>
            <p:ph idx="1"/>
          </p:nvPr>
        </p:nvSpPr>
        <p:spPr>
          <a:xfrm>
            <a:off x="0" y="2000250"/>
            <a:ext cx="8748713" cy="4429125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rgbClr val="0000FF"/>
                </a:solidFill>
              </a:rPr>
              <a:t>形成</a:t>
            </a:r>
            <a:r>
              <a:rPr lang="zh-CN" altLang="en-US" dirty="0">
                <a:solidFill>
                  <a:srgbClr val="0000FF"/>
                </a:solidFill>
              </a:rPr>
              <a:t>：</a:t>
            </a:r>
            <a:r>
              <a:rPr lang="zh-CN" altLang="en-US" b="1" dirty="0">
                <a:solidFill>
                  <a:srgbClr val="FF0000"/>
                </a:solidFill>
              </a:rPr>
              <a:t>正</a:t>
            </a:r>
            <a:r>
              <a:rPr lang="zh-CN" altLang="en-US" b="1" dirty="0">
                <a:solidFill>
                  <a:srgbClr val="0000FF"/>
                </a:solidFill>
              </a:rPr>
              <a:t>负</a:t>
            </a:r>
            <a:r>
              <a:rPr lang="zh-CN" altLang="en-US" dirty="0">
                <a:solidFill>
                  <a:schemeClr val="folHlink"/>
                </a:solidFill>
              </a:rPr>
              <a:t>离子</a:t>
            </a:r>
            <a:r>
              <a:rPr lang="zh-CN" altLang="en-US" dirty="0"/>
              <a:t>通过</a:t>
            </a:r>
            <a:r>
              <a:rPr lang="zh-CN" altLang="en-US" b="1" dirty="0">
                <a:solidFill>
                  <a:srgbClr val="0000FF"/>
                </a:solidFill>
              </a:rPr>
              <a:t>静电引力</a:t>
            </a:r>
            <a:r>
              <a:rPr lang="zh-CN" altLang="en-US" dirty="0"/>
              <a:t>相互吸引。</a:t>
            </a:r>
            <a:endParaRPr lang="zh-CN" altLang="en-US" dirty="0"/>
          </a:p>
          <a:p>
            <a:pPr eaLnBrk="1" hangingPunct="1">
              <a:buNone/>
            </a:pPr>
            <a:endParaRPr lang="zh-CN" altLang="en-US" dirty="0"/>
          </a:p>
          <a:p>
            <a:pPr eaLnBrk="1" hangingPunct="1"/>
            <a:r>
              <a:rPr lang="zh-CN" altLang="en-US" b="1" dirty="0">
                <a:solidFill>
                  <a:srgbClr val="0000FF"/>
                </a:solidFill>
              </a:rPr>
              <a:t>特点：</a:t>
            </a:r>
            <a:r>
              <a:rPr lang="zh-CN" altLang="en-US" dirty="0"/>
              <a:t>结合力大       材料强度高、硬度高、熔点高、脆性大；绝缘；无色透明（一般不吸收可见光）</a:t>
            </a:r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r>
              <a:rPr lang="zh-CN" altLang="en-US" dirty="0">
                <a:solidFill>
                  <a:schemeClr val="folHlink"/>
                </a:solidFill>
              </a:rPr>
              <a:t>例：</a:t>
            </a:r>
            <a:r>
              <a:rPr lang="en-US" altLang="zh-CN" dirty="0"/>
              <a:t>NaCl</a:t>
            </a:r>
            <a:r>
              <a:rPr lang="zh-CN" altLang="en-US" dirty="0"/>
              <a:t>、陶瓷、高分子聚合物材料</a:t>
            </a:r>
            <a:endParaRPr lang="zh-CN" altLang="en-US" dirty="0"/>
          </a:p>
        </p:txBody>
      </p:sp>
      <p:pic>
        <p:nvPicPr>
          <p:cNvPr id="9220" name="Picture 4" descr="图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2411760" y="4673600"/>
            <a:ext cx="5402263" cy="1755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21" name="AutoShape 5"/>
          <p:cNvSpPr/>
          <p:nvPr/>
        </p:nvSpPr>
        <p:spPr>
          <a:xfrm>
            <a:off x="3429000" y="3357563"/>
            <a:ext cx="649288" cy="288925"/>
          </a:xfrm>
          <a:prstGeom prst="rightArrow">
            <a:avLst>
              <a:gd name="adj1" fmla="val 50000"/>
              <a:gd name="adj2" fmla="val 56160"/>
            </a:avLst>
          </a:prstGeom>
          <a:solidFill>
            <a:srgbClr val="FFFF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3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533515"/>
            <a:ext cx="1905000" cy="23876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1064956" cy="1049561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74075" y="6570663"/>
            <a:ext cx="473075" cy="287337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0242" name="Rectangle 2"/>
          <p:cNvSpPr>
            <a:spLocks noGrp="1"/>
          </p:cNvSpPr>
          <p:nvPr>
            <p:ph type="title"/>
          </p:nvPr>
        </p:nvSpPr>
        <p:spPr>
          <a:xfrm>
            <a:off x="1835785" y="0"/>
            <a:ext cx="6480810" cy="1464310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共价键 </a:t>
            </a:r>
            <a:b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</a:rPr>
            </a:br>
            <a:r>
              <a:rPr lang="zh-CN" altLang="en-US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（</a:t>
            </a:r>
            <a:r>
              <a:rPr lang="en-US" altLang="zh-CN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Covalent bonding</a:t>
            </a:r>
            <a:r>
              <a:rPr lang="zh-CN" altLang="en-US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）</a:t>
            </a:r>
            <a:endParaRPr lang="zh-CN" altLang="en-US" b="1" i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10243" name="Rectangle 3"/>
          <p:cNvSpPr>
            <a:spLocks noGrp="1"/>
          </p:cNvSpPr>
          <p:nvPr>
            <p:ph idx="1"/>
          </p:nvPr>
        </p:nvSpPr>
        <p:spPr>
          <a:xfrm>
            <a:off x="468313" y="1944688"/>
            <a:ext cx="8275637" cy="4625975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rgbClr val="0000FF"/>
                </a:solidFill>
              </a:rPr>
              <a:t>形成</a:t>
            </a:r>
            <a:r>
              <a:rPr lang="zh-CN" altLang="en-US" dirty="0">
                <a:solidFill>
                  <a:schemeClr val="folHlink"/>
                </a:solidFill>
              </a:rPr>
              <a:t>：</a:t>
            </a:r>
            <a:r>
              <a:rPr lang="zh-CN" altLang="en-US" dirty="0"/>
              <a:t>通过</a:t>
            </a:r>
            <a:r>
              <a:rPr lang="zh-CN" altLang="en-US" b="1" dirty="0">
                <a:solidFill>
                  <a:srgbClr val="0000FF"/>
                </a:solidFill>
              </a:rPr>
              <a:t>共用电子对</a:t>
            </a:r>
            <a:r>
              <a:rPr lang="zh-CN" altLang="en-US" dirty="0"/>
              <a:t>而形成</a:t>
            </a:r>
            <a:r>
              <a:rPr lang="en-US" altLang="zh-CN" dirty="0"/>
              <a:t>(IIIA~VIIA</a:t>
            </a:r>
            <a:r>
              <a:rPr lang="zh-CN" altLang="en-US" dirty="0"/>
              <a:t>族</a:t>
            </a:r>
            <a:r>
              <a:rPr lang="en-US" altLang="zh-CN" dirty="0"/>
              <a:t>)</a:t>
            </a:r>
            <a:endParaRPr lang="en-US" altLang="zh-CN" dirty="0"/>
          </a:p>
          <a:p>
            <a:pPr eaLnBrk="1" hangingPunct="1"/>
            <a:r>
              <a:rPr lang="zh-CN" altLang="en-US" b="1" dirty="0">
                <a:solidFill>
                  <a:srgbClr val="0000FF"/>
                </a:solidFill>
              </a:rPr>
              <a:t>特点</a:t>
            </a:r>
            <a:r>
              <a:rPr lang="zh-CN" altLang="en-US" dirty="0">
                <a:solidFill>
                  <a:schemeClr val="folHlink"/>
                </a:solidFill>
              </a:rPr>
              <a:t>：</a:t>
            </a:r>
            <a:r>
              <a:rPr lang="zh-CN" altLang="en-US" dirty="0"/>
              <a:t>材料强度高、熔点高、脆性大、导电性随共价键强弱而异（导体、半导体、绝缘体）</a:t>
            </a:r>
            <a:endParaRPr lang="zh-CN" altLang="en-US" dirty="0"/>
          </a:p>
          <a:p>
            <a:pPr eaLnBrk="1" hangingPunct="1"/>
            <a:r>
              <a:rPr lang="zh-CN" altLang="en-US" dirty="0">
                <a:solidFill>
                  <a:schemeClr val="folHlink"/>
                </a:solidFill>
              </a:rPr>
              <a:t>例：</a:t>
            </a:r>
            <a:r>
              <a:rPr lang="zh-CN" altLang="en-US" dirty="0"/>
              <a:t>陶瓷、高分子聚合物材料</a:t>
            </a:r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endParaRPr lang="en-US" altLang="zh-CN" dirty="0"/>
          </a:p>
        </p:txBody>
      </p:sp>
      <p:pic>
        <p:nvPicPr>
          <p:cNvPr id="10244" name="Picture 4" descr="图001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3491880" y="4866482"/>
            <a:ext cx="4249738" cy="18049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46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429375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4" y="3175"/>
            <a:ext cx="918827" cy="9055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042150" y="6429375"/>
            <a:ext cx="1601788" cy="428625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2290" name="Rectangle 2"/>
          <p:cNvSpPr>
            <a:spLocks noGrp="1"/>
          </p:cNvSpPr>
          <p:nvPr>
            <p:ph type="title"/>
          </p:nvPr>
        </p:nvSpPr>
        <p:spPr>
          <a:xfrm>
            <a:off x="1619885" y="0"/>
            <a:ext cx="6837045" cy="1530985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分子键 </a:t>
            </a:r>
            <a:b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</a:rPr>
            </a:br>
            <a:r>
              <a:rPr lang="zh-CN" altLang="en-US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（</a:t>
            </a:r>
            <a:r>
              <a:rPr lang="en-US" altLang="zh-CN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Molecular bonding</a:t>
            </a:r>
            <a:r>
              <a:rPr lang="zh-CN" altLang="en-US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）</a:t>
            </a:r>
            <a:endParaRPr lang="zh-CN" altLang="en-US" b="1" i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12291" name="Rectangle 3"/>
          <p:cNvSpPr>
            <a:spLocks noGrp="1"/>
          </p:cNvSpPr>
          <p:nvPr>
            <p:ph idx="1"/>
          </p:nvPr>
        </p:nvSpPr>
        <p:spPr>
          <a:xfrm>
            <a:off x="0" y="1844675"/>
            <a:ext cx="5689600" cy="4513263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形成</a:t>
            </a:r>
            <a:r>
              <a:rPr lang="zh-CN" altLang="en-US" sz="2800" dirty="0">
                <a:solidFill>
                  <a:srgbClr val="0000FF"/>
                </a:solidFill>
              </a:rPr>
              <a:t>：</a:t>
            </a:r>
            <a:r>
              <a:rPr lang="zh-CN" altLang="en-US" sz="2800" b="1" dirty="0">
                <a:solidFill>
                  <a:srgbClr val="FF0000"/>
                </a:solidFill>
              </a:rPr>
              <a:t>分子偶极矩</a:t>
            </a:r>
            <a:r>
              <a:rPr lang="zh-CN" altLang="en-US" sz="2800" dirty="0"/>
              <a:t>间的</a:t>
            </a:r>
            <a:r>
              <a:rPr lang="zh-CN" altLang="en-US" sz="2800" b="1" dirty="0">
                <a:solidFill>
                  <a:srgbClr val="0033CC"/>
                </a:solidFill>
              </a:rPr>
              <a:t>范德华力</a:t>
            </a:r>
            <a:endParaRPr lang="zh-CN" altLang="en-US" sz="2800" b="1" dirty="0">
              <a:solidFill>
                <a:srgbClr val="0033CC"/>
              </a:solidFill>
            </a:endParaRPr>
          </a:p>
          <a:p>
            <a:pPr eaLnBrk="1" hangingPunct="1"/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分子偶极矩：</a:t>
            </a:r>
            <a:r>
              <a:rPr lang="zh-CN" altLang="en-US" sz="2800" dirty="0"/>
              <a:t>由于分子中</a:t>
            </a:r>
            <a:r>
              <a:rPr lang="zh-CN" altLang="en-US" sz="3200" b="1" dirty="0">
                <a:solidFill>
                  <a:srgbClr val="0000FF"/>
                </a:solidFill>
                <a:ea typeface="华文中宋" panose="02010600040101010101" pitchFamily="2" charset="-122"/>
              </a:rPr>
              <a:t>共价电子</a:t>
            </a:r>
            <a:r>
              <a:rPr lang="zh-CN" altLang="en-US" sz="2800" dirty="0"/>
              <a:t>的</a:t>
            </a:r>
            <a:r>
              <a:rPr lang="zh-CN" altLang="en-US" sz="3200" b="1" dirty="0">
                <a:solidFill>
                  <a:srgbClr val="0000FF"/>
                </a:solidFill>
                <a:ea typeface="华文中宋" panose="02010600040101010101" pitchFamily="2" charset="-122"/>
              </a:rPr>
              <a:t>非对称分布</a:t>
            </a:r>
            <a:r>
              <a:rPr lang="zh-CN" altLang="en-US" sz="2800" dirty="0"/>
              <a:t>，使分子的某一部分比其他部分更偏于带正电（或负电）。</a:t>
            </a:r>
            <a:endParaRPr lang="zh-CN" altLang="en-US" sz="2800" dirty="0"/>
          </a:p>
          <a:p>
            <a:pPr eaLnBrk="1" hangingPunct="1"/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氢键：</a:t>
            </a:r>
            <a:r>
              <a:rPr lang="zh-CN" altLang="en-US" sz="2800" dirty="0"/>
              <a:t>两个电负性很强的原子通过氢原子的吸引而结合</a:t>
            </a:r>
            <a:endParaRPr lang="zh-CN" altLang="en-US" sz="2800" dirty="0"/>
          </a:p>
          <a:p>
            <a:pPr eaLnBrk="1" hangingPunct="1"/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特点：</a:t>
            </a:r>
            <a:r>
              <a:rPr lang="zh-CN" altLang="en-US" sz="2800" dirty="0"/>
              <a:t>材料的</a:t>
            </a:r>
            <a:r>
              <a:rPr lang="zh-CN" altLang="en-US" sz="2800" b="1" dirty="0">
                <a:solidFill>
                  <a:srgbClr val="0066FF"/>
                </a:solidFill>
              </a:rPr>
              <a:t>熔点</a:t>
            </a:r>
            <a:r>
              <a:rPr lang="zh-CN" altLang="en-US" sz="2800" dirty="0"/>
              <a:t>和</a:t>
            </a:r>
            <a:r>
              <a:rPr lang="zh-CN" altLang="en-US" sz="2800" b="1" dirty="0">
                <a:solidFill>
                  <a:srgbClr val="0066FF"/>
                </a:solidFill>
              </a:rPr>
              <a:t>硬度比较低</a:t>
            </a:r>
            <a:r>
              <a:rPr lang="zh-CN" altLang="en-US" sz="2800" dirty="0"/>
              <a:t>、</a:t>
            </a:r>
            <a:r>
              <a:rPr lang="zh-CN" altLang="en-US" sz="2800" dirty="0">
                <a:solidFill>
                  <a:srgbClr val="FF0000"/>
                </a:solidFill>
              </a:rPr>
              <a:t>绝缘</a:t>
            </a:r>
            <a:r>
              <a:rPr lang="zh-CN" altLang="en-US" sz="2800" dirty="0"/>
              <a:t>（无自由电子）</a:t>
            </a:r>
            <a:endParaRPr lang="zh-CN" altLang="en-US" sz="2800" dirty="0"/>
          </a:p>
        </p:txBody>
      </p:sp>
      <p:pic>
        <p:nvPicPr>
          <p:cNvPr id="12292" name="Picture 4" descr="图003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5895975" y="1989138"/>
            <a:ext cx="3248025" cy="4321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293" name="AutoShape 5"/>
          <p:cNvSpPr/>
          <p:nvPr/>
        </p:nvSpPr>
        <p:spPr>
          <a:xfrm>
            <a:off x="8855075" y="6597650"/>
            <a:ext cx="288925" cy="260350"/>
          </a:xfrm>
          <a:prstGeom prst="actionButtonBackPrevious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/>
          <a:lstStyle/>
          <a:p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295" name="日期占位符 1"/>
          <p:cNvSpPr>
            <a:spLocks noGrp="1"/>
          </p:cNvSpPr>
          <p:nvPr>
            <p:ph type="dt" sz="half" idx="10"/>
          </p:nvPr>
        </p:nvSpPr>
        <p:spPr>
          <a:xfrm>
            <a:off x="68263" y="6515100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4" y="3175"/>
            <a:ext cx="918827" cy="9055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143875" y="6500813"/>
            <a:ext cx="428625" cy="357187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xfrm>
            <a:off x="352798" y="1052736"/>
            <a:ext cx="8568952" cy="3744416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en-US" altLang="zh-CN" sz="5400" b="1" dirty="0">
                <a:ea typeface="华文中宋" panose="02010600040101010101" pitchFamily="2" charset="-122"/>
              </a:rPr>
              <a:t>(</a:t>
            </a:r>
            <a:r>
              <a:rPr lang="zh-CN" altLang="en-US" sz="5400" b="1" dirty="0">
                <a:ea typeface="华文中宋" panose="02010600040101010101" pitchFamily="2" charset="-122"/>
              </a:rPr>
              <a:t>二</a:t>
            </a:r>
            <a:r>
              <a:rPr lang="en-US" altLang="zh-CN" sz="5400" b="1" dirty="0">
                <a:ea typeface="华文中宋" panose="02010600040101010101" pitchFamily="2" charset="-122"/>
              </a:rPr>
              <a:t>)</a:t>
            </a:r>
            <a:r>
              <a:rPr lang="zh-CN" altLang="en-US" sz="5400" b="1" dirty="0">
                <a:ea typeface="华文中宋" panose="02010600040101010101" pitchFamily="2" charset="-122"/>
              </a:rPr>
              <a:t>晶体结构的基本概念</a:t>
            </a:r>
            <a:br>
              <a:rPr lang="en-US" altLang="zh-CN" sz="5400" b="1" dirty="0">
                <a:ea typeface="华文中宋" panose="02010600040101010101" pitchFamily="2" charset="-122"/>
              </a:rPr>
            </a:br>
            <a:r>
              <a:rPr lang="en-US" altLang="zh-CN" sz="5400" b="1" dirty="0">
                <a:ea typeface="华文中宋" panose="02010600040101010101" pitchFamily="2" charset="-122"/>
              </a:rPr>
              <a:t> </a:t>
            </a:r>
            <a:r>
              <a:rPr lang="en-US" altLang="zh-CN" sz="54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Basic terminologies for the</a:t>
            </a:r>
            <a:r>
              <a:rPr lang="en-US" altLang="zh-CN" sz="5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54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crystal structure</a:t>
            </a:r>
            <a:endParaRPr lang="zh-CN" altLang="en-US" sz="5400" b="1" i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317" name="AutoShape 7">
            <a:hlinkClick r:id="rId1" action="ppaction://hlinksldjump"/>
          </p:cNvPr>
          <p:cNvSpPr/>
          <p:nvPr/>
        </p:nvSpPr>
        <p:spPr>
          <a:xfrm>
            <a:off x="8921750" y="6588125"/>
            <a:ext cx="222250" cy="269875"/>
          </a:xfrm>
          <a:prstGeom prst="actionButtonBackPrevious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/>
          <a:lstStyle/>
          <a:p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318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00813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4" y="3175"/>
            <a:ext cx="879907" cy="8671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143875" y="6500813"/>
            <a:ext cx="428625" cy="357187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xfrm>
            <a:off x="1081128" y="-1196"/>
            <a:ext cx="7053262" cy="1143000"/>
          </a:xfrm>
        </p:spPr>
        <p:txBody>
          <a:bodyPr wrap="square" lIns="91440" tIns="45720" rIns="91440" bIns="45720" anchor="b"/>
          <a:lstStyle/>
          <a:p>
            <a:pPr eaLnBrk="1" hangingPunct="1"/>
            <a:r>
              <a:rPr lang="zh-CN" altLang="en-US" b="1" dirty="0">
                <a:ea typeface="华文中宋" panose="02010600040101010101" pitchFamily="2" charset="-122"/>
              </a:rPr>
              <a:t>（二）晶体结构的基本概念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sp>
        <p:nvSpPr>
          <p:cNvPr id="13315" name="Rectangle 3"/>
          <p:cNvSpPr>
            <a:spLocks noGrp="1"/>
          </p:cNvSpPr>
          <p:nvPr>
            <p:ph idx="1"/>
          </p:nvPr>
        </p:nvSpPr>
        <p:spPr>
          <a:xfrm>
            <a:off x="197644" y="1988840"/>
            <a:ext cx="8748712" cy="4511973"/>
          </a:xfrm>
        </p:spPr>
        <p:txBody>
          <a:bodyPr wrap="square" lIns="91440" tIns="45720" rIns="91440" bIns="45720" anchor="t"/>
          <a:lstStyle/>
          <a:p>
            <a:pPr eaLnBrk="1" hangingPunct="1">
              <a:spcBef>
                <a:spcPts val="300"/>
              </a:spcBef>
            </a:pP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</a:rPr>
              <a:t>晶体结构：</a:t>
            </a:r>
            <a:r>
              <a:rPr lang="zh-CN" altLang="en-US" b="1" dirty="0">
                <a:solidFill>
                  <a:schemeClr val="folHlink"/>
                </a:solidFill>
                <a:latin typeface="宋体" panose="02010600030101010101" pitchFamily="2" charset="-122"/>
              </a:rPr>
              <a:t>晶体原子或离子的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</a:rPr>
              <a:t>排列方式</a:t>
            </a:r>
            <a:r>
              <a:rPr lang="zh-CN" altLang="en-US" b="1" dirty="0">
                <a:solidFill>
                  <a:schemeClr val="folHlink"/>
                </a:solidFill>
                <a:latin typeface="宋体" panose="02010600030101010101" pitchFamily="2" charset="-122"/>
              </a:rPr>
              <a:t>。</a:t>
            </a:r>
            <a:endParaRPr lang="zh-CN" altLang="en-US" b="1" dirty="0">
              <a:solidFill>
                <a:schemeClr val="folHlink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ts val="300"/>
              </a:spcBef>
              <a:buNone/>
            </a:pPr>
            <a:r>
              <a:rPr lang="zh-CN" altLang="en-US" sz="2800" dirty="0"/>
              <a:t>     同种物质由于排列方式</a:t>
            </a:r>
            <a:r>
              <a:rPr lang="en-US" altLang="zh-CN" sz="2800" dirty="0"/>
              <a:t>(</a:t>
            </a:r>
            <a:r>
              <a:rPr lang="zh-CN" altLang="en-US" sz="2800" dirty="0"/>
              <a:t>晶格</a:t>
            </a:r>
            <a:r>
              <a:rPr lang="en-US" altLang="zh-CN" sz="2800" dirty="0"/>
              <a:t>)</a:t>
            </a:r>
            <a:r>
              <a:rPr lang="zh-CN" altLang="en-US" sz="2800" dirty="0"/>
              <a:t>的不同，其性能有很大差异，例如，</a:t>
            </a:r>
            <a:r>
              <a:rPr lang="zh-CN" altLang="en-US" b="1" dirty="0">
                <a:solidFill>
                  <a:schemeClr val="folHlink"/>
                </a:solidFill>
                <a:latin typeface="宋体" panose="02010600030101010101" pitchFamily="2" charset="-122"/>
              </a:rPr>
              <a:t>金刚石（</a:t>
            </a:r>
            <a:r>
              <a:rPr lang="zh-CN" altLang="en-US" sz="2800" b="1" dirty="0">
                <a:solidFill>
                  <a:srgbClr val="FF0000"/>
                </a:solidFill>
              </a:rPr>
              <a:t>十分坚硬</a:t>
            </a:r>
            <a:r>
              <a:rPr lang="zh-CN" altLang="en-US" sz="2800" dirty="0"/>
              <a:t>）和</a:t>
            </a:r>
            <a:r>
              <a:rPr lang="zh-CN" altLang="en-US" b="1" dirty="0">
                <a:solidFill>
                  <a:schemeClr val="folHlink"/>
                </a:solidFill>
                <a:latin typeface="宋体" panose="02010600030101010101" pitchFamily="2" charset="-122"/>
              </a:rPr>
              <a:t>石墨（</a:t>
            </a:r>
            <a:r>
              <a:rPr lang="zh-CN" altLang="en-US" sz="2800" dirty="0">
                <a:solidFill>
                  <a:srgbClr val="FF0000"/>
                </a:solidFill>
              </a:rPr>
              <a:t>很软</a:t>
            </a:r>
            <a:r>
              <a:rPr lang="zh-CN" altLang="en-US" sz="2800" dirty="0"/>
              <a:t>），都由</a:t>
            </a:r>
            <a:r>
              <a:rPr lang="zh-CN" altLang="en-US" sz="2800" b="1" dirty="0">
                <a:solidFill>
                  <a:srgbClr val="0066FF"/>
                </a:solidFill>
              </a:rPr>
              <a:t>碳</a:t>
            </a:r>
            <a:r>
              <a:rPr lang="zh-CN" altLang="en-US" sz="2800" dirty="0"/>
              <a:t>原子组成，但晶体结构不同。</a:t>
            </a:r>
            <a:endParaRPr lang="zh-CN" altLang="en-US" b="1" dirty="0">
              <a:solidFill>
                <a:schemeClr val="folHlink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ts val="300"/>
              </a:spcBef>
            </a:pPr>
            <a:r>
              <a:rPr lang="zh-CN" altLang="en-US" b="1" dirty="0">
                <a:solidFill>
                  <a:schemeClr val="folHlink"/>
                </a:solidFill>
                <a:latin typeface="宋体" panose="02010600030101010101" pitchFamily="2" charset="-122"/>
              </a:rPr>
              <a:t>晶体、非晶体</a:t>
            </a:r>
            <a:endParaRPr lang="zh-CN" altLang="en-US" sz="2800" dirty="0"/>
          </a:p>
          <a:p>
            <a:pPr eaLnBrk="1" hangingPunct="1">
              <a:spcBef>
                <a:spcPts val="300"/>
              </a:spcBef>
            </a:pPr>
            <a:r>
              <a:rPr lang="zh-CN" altLang="en-US" b="1" dirty="0">
                <a:solidFill>
                  <a:schemeClr val="folHlink"/>
                </a:solidFill>
                <a:latin typeface="宋体" panose="02010600030101010101" pitchFamily="2" charset="-122"/>
              </a:rPr>
              <a:t>晶格、晶胞</a:t>
            </a:r>
            <a:endParaRPr lang="zh-CN" altLang="en-US" sz="2800" dirty="0">
              <a:solidFill>
                <a:srgbClr val="6161FF"/>
              </a:solidFill>
            </a:endParaRPr>
          </a:p>
          <a:p>
            <a:pPr eaLnBrk="1" hangingPunct="1">
              <a:spcBef>
                <a:spcPts val="300"/>
              </a:spcBef>
            </a:pPr>
            <a:r>
              <a:rPr lang="zh-CN" altLang="en-US" b="1" dirty="0">
                <a:solidFill>
                  <a:schemeClr val="folHlink"/>
                </a:solidFill>
                <a:latin typeface="宋体" panose="02010600030101010101" pitchFamily="2" charset="-122"/>
              </a:rPr>
              <a:t>晶格常数、晶系</a:t>
            </a:r>
            <a:endParaRPr lang="zh-CN" altLang="en-US" b="1" dirty="0">
              <a:solidFill>
                <a:schemeClr val="folHlink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ts val="300"/>
              </a:spcBef>
            </a:pPr>
            <a:r>
              <a:rPr lang="zh-CN" altLang="en-US" b="1" dirty="0">
                <a:solidFill>
                  <a:schemeClr val="folHlink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原子半径、晶胞原子数、致密度、配位数</a:t>
            </a:r>
            <a:endParaRPr lang="zh-CN" altLang="en-US" b="1" dirty="0">
              <a:solidFill>
                <a:schemeClr val="folHlink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spcBef>
                <a:spcPts val="300"/>
              </a:spcBef>
            </a:pPr>
            <a:r>
              <a:rPr lang="zh-CN" altLang="en-US" b="1" dirty="0">
                <a:solidFill>
                  <a:schemeClr val="folHlink"/>
                </a:solidFill>
                <a:latin typeface="宋体" panose="02010600030101010101" pitchFamily="2" charset="-122"/>
              </a:rPr>
              <a:t>晶面</a:t>
            </a:r>
            <a:r>
              <a:rPr lang="en-US" altLang="zh-CN" b="1" dirty="0">
                <a:solidFill>
                  <a:schemeClr val="folHlink"/>
                </a:solidFill>
                <a:latin typeface="宋体" panose="02010600030101010101" pitchFamily="2" charset="-122"/>
              </a:rPr>
              <a:t>{</a:t>
            </a:r>
            <a:r>
              <a:rPr lang="zh-CN" altLang="en-US" b="1" dirty="0">
                <a:solidFill>
                  <a:schemeClr val="folHlink"/>
                </a:solidFill>
                <a:latin typeface="宋体" panose="02010600030101010101" pitchFamily="2" charset="-122"/>
              </a:rPr>
              <a:t>族</a:t>
            </a:r>
            <a:r>
              <a:rPr lang="en-US" altLang="zh-CN" b="1" dirty="0">
                <a:solidFill>
                  <a:schemeClr val="folHlink"/>
                </a:solidFill>
                <a:latin typeface="宋体" panose="02010600030101010101" pitchFamily="2" charset="-122"/>
              </a:rPr>
              <a:t>}</a:t>
            </a:r>
            <a:r>
              <a:rPr lang="zh-CN" altLang="en-US" b="1" dirty="0">
                <a:solidFill>
                  <a:schemeClr val="folHlink"/>
                </a:solidFill>
                <a:latin typeface="宋体" panose="02010600030101010101" pitchFamily="2" charset="-122"/>
              </a:rPr>
              <a:t>、晶向</a:t>
            </a:r>
            <a:r>
              <a:rPr lang="en-US" altLang="zh-CN" b="1" dirty="0">
                <a:solidFill>
                  <a:schemeClr val="folHlink"/>
                </a:solidFill>
                <a:latin typeface="宋体" panose="02010600030101010101" pitchFamily="2" charset="-122"/>
              </a:rPr>
              <a:t>&lt;</a:t>
            </a:r>
            <a:r>
              <a:rPr lang="zh-CN" altLang="en-US" b="1" dirty="0">
                <a:solidFill>
                  <a:schemeClr val="folHlink"/>
                </a:solidFill>
                <a:latin typeface="宋体" panose="02010600030101010101" pitchFamily="2" charset="-122"/>
              </a:rPr>
              <a:t>族</a:t>
            </a:r>
            <a:r>
              <a:rPr lang="en-US" altLang="zh-CN" b="1" dirty="0">
                <a:solidFill>
                  <a:schemeClr val="folHlink"/>
                </a:solidFill>
                <a:latin typeface="宋体" panose="02010600030101010101" pitchFamily="2" charset="-122"/>
              </a:rPr>
              <a:t>&gt;</a:t>
            </a:r>
            <a:r>
              <a:rPr lang="zh-CN" altLang="en-US" b="1" dirty="0">
                <a:solidFill>
                  <a:schemeClr val="folHlink"/>
                </a:solidFill>
                <a:latin typeface="宋体" panose="02010600030101010101" pitchFamily="2" charset="-122"/>
              </a:rPr>
              <a:t>、晶面指数、晶向指数</a:t>
            </a:r>
            <a:endParaRPr lang="zh-CN" altLang="en-US" b="1" dirty="0">
              <a:solidFill>
                <a:schemeClr val="folHlink"/>
              </a:solidFill>
              <a:latin typeface="宋体" panose="02010600030101010101" pitchFamily="2" charset="-122"/>
            </a:endParaRPr>
          </a:p>
        </p:txBody>
      </p:sp>
      <p:sp>
        <p:nvSpPr>
          <p:cNvPr id="13317" name="AutoShape 7">
            <a:hlinkClick r:id="rId1" action="ppaction://hlinksldjump"/>
          </p:cNvPr>
          <p:cNvSpPr/>
          <p:nvPr/>
        </p:nvSpPr>
        <p:spPr>
          <a:xfrm>
            <a:off x="8921750" y="6588125"/>
            <a:ext cx="222250" cy="269875"/>
          </a:xfrm>
          <a:prstGeom prst="actionButtonBackPrevious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/>
          <a:lstStyle/>
          <a:p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318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00813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4" y="3175"/>
            <a:ext cx="918827" cy="9055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01050" y="6524625"/>
            <a:ext cx="568325" cy="298450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4338" name="Rectangle 2"/>
          <p:cNvSpPr>
            <a:spLocks noGrp="1"/>
          </p:cNvSpPr>
          <p:nvPr>
            <p:ph type="title"/>
          </p:nvPr>
        </p:nvSpPr>
        <p:spPr>
          <a:xfrm>
            <a:off x="1691680" y="0"/>
            <a:ext cx="6692900" cy="1628800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zh-CN" altLang="en-US" b="1" dirty="0">
                <a:solidFill>
                  <a:schemeClr val="hlink"/>
                </a:solidFill>
                <a:latin typeface="宋体" panose="02010600030101010101" pitchFamily="2" charset="-122"/>
              </a:rPr>
              <a:t> 晶体、  非晶体</a:t>
            </a:r>
            <a:br>
              <a:rPr lang="en-US" altLang="zh-CN" b="1" dirty="0">
                <a:solidFill>
                  <a:schemeClr val="hlink"/>
                </a:solidFill>
                <a:latin typeface="宋体" panose="02010600030101010101" pitchFamily="2" charset="-122"/>
              </a:rPr>
            </a:br>
            <a:r>
              <a:rPr lang="en-US" altLang="zh-CN" b="1" dirty="0"/>
              <a:t> </a:t>
            </a:r>
            <a:r>
              <a:rPr lang="en-US" altLang="zh-CN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crystal</a:t>
            </a:r>
            <a:r>
              <a:rPr lang="zh-CN" altLang="en-US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noncrystal</a:t>
            </a:r>
            <a:endParaRPr lang="zh-CN" altLang="en-US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39" name="Rectangle 3"/>
          <p:cNvSpPr>
            <a:spLocks noGrp="1"/>
          </p:cNvSpPr>
          <p:nvPr>
            <p:ph idx="1"/>
          </p:nvPr>
        </p:nvSpPr>
        <p:spPr>
          <a:xfrm>
            <a:off x="-52014" y="2065338"/>
            <a:ext cx="6376864" cy="4027958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</a:rPr>
              <a:t>晶体与非晶体的区别在于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内部</a:t>
            </a:r>
            <a:r>
              <a:rPr lang="zh-CN" altLang="en-US" sz="2800" b="1" dirty="0">
                <a:latin typeface="宋体" panose="02010600030101010101" pitchFamily="2" charset="-122"/>
              </a:rPr>
              <a:t>原子（离子、分子）排列方式不同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lang="zh-CN" altLang="en-US" sz="10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晶体：</a:t>
            </a:r>
            <a:r>
              <a:rPr lang="zh-CN" altLang="en-US" sz="2800" b="1" dirty="0">
                <a:latin typeface="宋体" panose="02010600030101010101" pitchFamily="2" charset="-122"/>
              </a:rPr>
              <a:t>内部原子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规则排列（长程有序</a:t>
            </a:r>
            <a:r>
              <a:rPr lang="zh-CN" altLang="en-US" sz="2800" b="1" dirty="0">
                <a:latin typeface="宋体" panose="02010600030101010101" pitchFamily="2" charset="-122"/>
              </a:rPr>
              <a:t>）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  自然界绝大多数固态的无机物都是晶体</a:t>
            </a:r>
            <a:r>
              <a:rPr lang="en-US" altLang="zh-CN" sz="2800" b="1" dirty="0">
                <a:latin typeface="宋体" panose="02010600030101010101" pitchFamily="2" charset="-122"/>
              </a:rPr>
              <a:t>(</a:t>
            </a:r>
            <a:r>
              <a:rPr lang="zh-CN" altLang="en-US" sz="2800" b="1" dirty="0">
                <a:solidFill>
                  <a:schemeClr val="folHlink"/>
                </a:solidFill>
                <a:latin typeface="宋体" panose="02010600030101010101" pitchFamily="2" charset="-122"/>
              </a:rPr>
              <a:t>例：</a:t>
            </a:r>
            <a:r>
              <a:rPr lang="zh-CN" altLang="en-US" sz="2800" b="1" dirty="0">
                <a:latin typeface="宋体" panose="02010600030101010101" pitchFamily="2" charset="-122"/>
              </a:rPr>
              <a:t>金属、雪花、食盐、单晶硅</a:t>
            </a:r>
            <a:r>
              <a:rPr lang="en-US" altLang="zh-CN" sz="2800" b="1" dirty="0">
                <a:latin typeface="宋体" panose="02010600030101010101" pitchFamily="2" charset="-122"/>
              </a:rPr>
              <a:t>)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lang="en-US" altLang="zh-CN" sz="1000" b="1" dirty="0">
              <a:solidFill>
                <a:schemeClr val="folHlink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非晶体</a:t>
            </a:r>
            <a:r>
              <a:rPr lang="zh-CN" altLang="en-US" sz="2800" b="1" dirty="0">
                <a:latin typeface="宋体" panose="02010600030101010101" pitchFamily="2" charset="-122"/>
              </a:rPr>
              <a:t>：内部原子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无规则散乱排列</a:t>
            </a:r>
            <a:endParaRPr lang="zh-CN" altLang="en-US" sz="2800" b="1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  </a:t>
            </a:r>
            <a:r>
              <a:rPr lang="zh-CN" altLang="en-US" sz="2800" b="1" dirty="0">
                <a:solidFill>
                  <a:schemeClr val="folHlink"/>
                </a:solidFill>
                <a:latin typeface="宋体" panose="02010600030101010101" pitchFamily="2" charset="-122"/>
              </a:rPr>
              <a:t>例：</a:t>
            </a:r>
            <a:r>
              <a:rPr lang="zh-CN" altLang="en-US" sz="2800" b="1" dirty="0">
                <a:latin typeface="宋体" panose="02010600030101010101" pitchFamily="2" charset="-122"/>
              </a:rPr>
              <a:t>玻璃、松香、沥青、橡胶、炼钢炉渣</a:t>
            </a:r>
            <a:r>
              <a:rPr lang="en-US" altLang="zh-CN" sz="2800" b="1" dirty="0">
                <a:latin typeface="Arial" panose="020B0604020202020204" pitchFamily="34" charset="0"/>
              </a:rPr>
              <a:t>……</a:t>
            </a:r>
            <a:endParaRPr lang="en-US" altLang="zh-CN" sz="2800" b="1" dirty="0">
              <a:latin typeface="宋体" panose="0201060003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6156325" y="1700213"/>
            <a:ext cx="2987675" cy="4570412"/>
            <a:chOff x="3168" y="896"/>
            <a:chExt cx="2154" cy="3016"/>
          </a:xfrm>
        </p:grpSpPr>
        <p:pic>
          <p:nvPicPr>
            <p:cNvPr id="14341" name="Picture 5" descr="1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168" y="896"/>
              <a:ext cx="2154" cy="1253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14342" name="Text Box 6"/>
            <p:cNvSpPr txBox="1"/>
            <p:nvPr/>
          </p:nvSpPr>
          <p:spPr>
            <a:xfrm>
              <a:off x="3504" y="2160"/>
              <a:ext cx="1728" cy="26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Arial Unicode MS" panose="020B0604020202020204" pitchFamily="34" charset="-122"/>
                </a:rPr>
                <a:t>金属的结构</a:t>
              </a:r>
              <a:endPara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  <a:ea typeface="Arial Unicode MS" panose="020B0604020202020204" pitchFamily="34" charset="-122"/>
              </a:endParaRPr>
            </a:p>
          </p:txBody>
        </p:sp>
        <p:pic>
          <p:nvPicPr>
            <p:cNvPr id="14343" name="Picture 7" descr="IMAGE004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8" y="2448"/>
              <a:ext cx="2154" cy="1106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14344" name="Text Box 8"/>
            <p:cNvSpPr txBox="1"/>
            <p:nvPr/>
          </p:nvSpPr>
          <p:spPr>
            <a:xfrm>
              <a:off x="3327" y="3387"/>
              <a:ext cx="720" cy="22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Arial Unicode MS" panose="020B0604020202020204" pitchFamily="34" charset="-122"/>
                </a:rPr>
                <a:t>晶态</a:t>
              </a:r>
              <a:endPara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 panose="020B0604020202020204" pitchFamily="34" charset="-122"/>
              </a:endParaRPr>
            </a:p>
          </p:txBody>
        </p:sp>
        <p:sp>
          <p:nvSpPr>
            <p:cNvPr id="14345" name="Text Box 9"/>
            <p:cNvSpPr txBox="1"/>
            <p:nvPr/>
          </p:nvSpPr>
          <p:spPr>
            <a:xfrm>
              <a:off x="4476" y="3387"/>
              <a:ext cx="720" cy="22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Arial Unicode MS" panose="020B0604020202020204" pitchFamily="34" charset="-122"/>
                </a:rPr>
                <a:t>非晶态</a:t>
              </a:r>
              <a:endPara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 panose="020B0604020202020204" pitchFamily="34" charset="-122"/>
              </a:endParaRPr>
            </a:p>
          </p:txBody>
        </p:sp>
        <p:sp>
          <p:nvSpPr>
            <p:cNvPr id="14346" name="Text Box 10"/>
            <p:cNvSpPr txBox="1"/>
            <p:nvPr/>
          </p:nvSpPr>
          <p:spPr>
            <a:xfrm>
              <a:off x="3504" y="3648"/>
              <a:ext cx="1440" cy="26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Arial Unicode MS" panose="020B0604020202020204" pitchFamily="34" charset="-122"/>
                </a:rPr>
                <a:t>SiO</a:t>
              </a:r>
              <a:r>
                <a:rPr lang="en-US" altLang="zh-CN" sz="20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Arial Unicode MS" panose="020B0604020202020204" pitchFamily="34" charset="-122"/>
                </a:rPr>
                <a:t>2</a:t>
              </a:r>
              <a:r>
                <a: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Arial Unicode MS" panose="020B0604020202020204" pitchFamily="34" charset="-122"/>
                </a:rPr>
                <a:t>的结构</a:t>
              </a:r>
              <a:endPara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  <a:ea typeface="Arial Unicode MS" panose="020B0604020202020204" pitchFamily="34" charset="-122"/>
              </a:endParaRPr>
            </a:p>
          </p:txBody>
        </p:sp>
      </p:grpSp>
      <p:sp>
        <p:nvSpPr>
          <p:cNvPr id="14348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429375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4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4" y="3175"/>
            <a:ext cx="879907" cy="8671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86800" y="6537325"/>
            <a:ext cx="419100" cy="309563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5362" name="Rectangle 2"/>
          <p:cNvSpPr>
            <a:spLocks noGrp="1"/>
          </p:cNvSpPr>
          <p:nvPr>
            <p:ph type="title"/>
          </p:nvPr>
        </p:nvSpPr>
        <p:spPr>
          <a:xfrm>
            <a:off x="1763713" y="0"/>
            <a:ext cx="7124700" cy="1143000"/>
          </a:xfrm>
        </p:spPr>
        <p:txBody>
          <a:bodyPr wrap="square" lIns="91440" tIns="45720" rIns="91440" bIns="45720" anchor="b"/>
          <a:lstStyle/>
          <a:p>
            <a:pPr eaLnBrk="1" hangingPunct="1"/>
            <a:r>
              <a:rPr lang="zh-CN" altLang="en-US" sz="4800" b="1" dirty="0">
                <a:solidFill>
                  <a:srgbClr val="FF0000"/>
                </a:solidFill>
                <a:latin typeface="宋体" panose="02010600030101010101" pitchFamily="2" charset="-122"/>
              </a:rPr>
              <a:t>晶体 </a:t>
            </a:r>
            <a:r>
              <a:rPr lang="en-US" altLang="zh-CN" sz="4800" b="1" dirty="0">
                <a:solidFill>
                  <a:srgbClr val="0033CC"/>
                </a:solidFill>
                <a:latin typeface="宋体" panose="02010600030101010101" pitchFamily="2" charset="-122"/>
              </a:rPr>
              <a:t>vs</a:t>
            </a:r>
            <a:r>
              <a:rPr lang="en-US" altLang="zh-CN" sz="4800" b="1" dirty="0">
                <a:solidFill>
                  <a:srgbClr val="FF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4800" b="1" dirty="0">
                <a:solidFill>
                  <a:srgbClr val="FF0000"/>
                </a:solidFill>
                <a:latin typeface="宋体" panose="02010600030101010101" pitchFamily="2" charset="-122"/>
              </a:rPr>
              <a:t>非晶体（续）</a:t>
            </a:r>
            <a:endParaRPr lang="zh-CN" altLang="en-US" sz="48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15363" name="Rectangle 3"/>
          <p:cNvSpPr>
            <a:spLocks noGrp="1"/>
          </p:cNvSpPr>
          <p:nvPr>
            <p:ph idx="1"/>
          </p:nvPr>
        </p:nvSpPr>
        <p:spPr>
          <a:xfrm>
            <a:off x="250825" y="1988840"/>
            <a:ext cx="8277225" cy="4631035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晶体</a:t>
            </a:r>
            <a:r>
              <a:rPr lang="zh-CN" altLang="en-US" sz="2800" b="1" dirty="0">
                <a:solidFill>
                  <a:schemeClr val="folHlink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2800" b="1" dirty="0">
                <a:latin typeface="宋体" panose="02010600030101010101" pitchFamily="2" charset="-122"/>
              </a:rPr>
              <a:t>具有一定的熔点（纯铁：</a:t>
            </a:r>
            <a:r>
              <a:rPr lang="en-US" altLang="zh-CN" sz="2800" b="1" dirty="0">
                <a:latin typeface="宋体" panose="02010600030101010101" pitchFamily="2" charset="-122"/>
              </a:rPr>
              <a:t>1538</a:t>
            </a:r>
            <a:r>
              <a:rPr lang="en-US" altLang="zh-CN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℃</a:t>
            </a:r>
            <a:r>
              <a:rPr lang="en-US" altLang="zh-CN" sz="2800" b="1" dirty="0">
                <a:latin typeface="宋体" panose="02010600030101010101" pitchFamily="2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</a:rPr>
              <a:t>、冰</a:t>
            </a:r>
            <a:r>
              <a:rPr lang="en-US" altLang="zh-CN" sz="2800" b="1" dirty="0">
                <a:latin typeface="宋体" panose="02010600030101010101" pitchFamily="2" charset="-122"/>
              </a:rPr>
              <a:t>0</a:t>
            </a:r>
            <a:r>
              <a:rPr lang="en-US" altLang="zh-CN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℃</a:t>
            </a:r>
            <a:r>
              <a:rPr lang="en-US" altLang="zh-CN" sz="2800" b="1" dirty="0">
                <a:latin typeface="宋体" panose="02010600030101010101" pitchFamily="2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</a:rPr>
              <a:t>）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非晶体</a:t>
            </a:r>
            <a:r>
              <a:rPr lang="zh-CN" altLang="en-US" sz="2800" b="1" dirty="0">
                <a:solidFill>
                  <a:schemeClr val="folHlink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2800" b="1" dirty="0">
                <a:latin typeface="宋体" panose="02010600030101010101" pitchFamily="2" charset="-122"/>
              </a:rPr>
              <a:t>没有固定的熔点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 eaLnBrk="1" hangingPunct="1">
              <a:buNone/>
            </a:pPr>
            <a:endParaRPr lang="zh-CN" altLang="en-US" sz="2800" b="1" dirty="0">
              <a:solidFill>
                <a:srgbClr val="6161FF"/>
              </a:solidFill>
              <a:latin typeface="宋体" panose="02010600030101010101" pitchFamily="2" charset="-122"/>
            </a:endParaRPr>
          </a:p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晶体</a:t>
            </a:r>
            <a:r>
              <a:rPr lang="zh-CN" altLang="en-US" sz="2800" b="1" dirty="0">
                <a:solidFill>
                  <a:schemeClr val="folHlink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各向异性</a:t>
            </a:r>
            <a:r>
              <a:rPr lang="zh-CN" altLang="en-US" sz="2800" b="1" dirty="0">
                <a:latin typeface="宋体" panose="02010600030101010101" pitchFamily="2" charset="-122"/>
              </a:rPr>
              <a:t>（晶体内各个方向上具有不同的物理、化学或力学性能，如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铁单晶</a:t>
            </a:r>
            <a:r>
              <a:rPr lang="zh-CN" altLang="en-US" sz="2800" b="1" dirty="0">
                <a:latin typeface="宋体" panose="02010600030101010101" pitchFamily="2" charset="-122"/>
              </a:rPr>
              <a:t>的弹性模量</a:t>
            </a:r>
            <a:r>
              <a:rPr lang="en-US" altLang="zh-CN" sz="2800" b="1" dirty="0">
                <a:latin typeface="宋体" panose="02010600030101010101" pitchFamily="2" charset="-122"/>
              </a:rPr>
              <a:t>E</a:t>
            </a:r>
            <a:r>
              <a:rPr lang="zh-CN" altLang="en-US" sz="2800" b="1" dirty="0">
                <a:latin typeface="宋体" panose="02010600030101010101" pitchFamily="2" charset="-122"/>
              </a:rPr>
              <a:t>在</a:t>
            </a:r>
            <a:r>
              <a:rPr lang="en-US" altLang="zh-CN" sz="2800" b="1" dirty="0">
                <a:latin typeface="宋体" panose="02010600030101010101" pitchFamily="2" charset="-122"/>
              </a:rPr>
              <a:t>&lt;111&gt;</a:t>
            </a:r>
            <a:r>
              <a:rPr lang="zh-CN" altLang="en-US" sz="2800" b="1" dirty="0">
                <a:latin typeface="宋体" panose="02010600030101010101" pitchFamily="2" charset="-122"/>
              </a:rPr>
              <a:t>方向上是</a:t>
            </a:r>
            <a:r>
              <a:rPr lang="en-US" altLang="zh-CN" sz="2800" b="1" dirty="0">
                <a:latin typeface="宋体" panose="02010600030101010101" pitchFamily="2" charset="-122"/>
              </a:rPr>
              <a:t>290000MPa</a:t>
            </a:r>
            <a:r>
              <a:rPr lang="zh-CN" altLang="en-US" sz="2800" b="1" dirty="0">
                <a:latin typeface="宋体" panose="02010600030101010101" pitchFamily="2" charset="-122"/>
              </a:rPr>
              <a:t>，而在</a:t>
            </a:r>
            <a:r>
              <a:rPr lang="en-US" altLang="zh-CN" sz="2800" b="1" dirty="0">
                <a:latin typeface="宋体" panose="02010600030101010101" pitchFamily="2" charset="-122"/>
              </a:rPr>
              <a:t>&lt;100&gt;</a:t>
            </a:r>
            <a:r>
              <a:rPr lang="zh-CN" altLang="en-US" sz="2800" b="1" dirty="0">
                <a:latin typeface="宋体" panose="02010600030101010101" pitchFamily="2" charset="-122"/>
              </a:rPr>
              <a:t>方向上是</a:t>
            </a:r>
            <a:r>
              <a:rPr lang="en-US" altLang="zh-CN" sz="2800" b="1" dirty="0">
                <a:latin typeface="宋体" panose="02010600030101010101" pitchFamily="2" charset="-122"/>
              </a:rPr>
              <a:t>135000MPa </a:t>
            </a:r>
            <a:r>
              <a:rPr lang="zh-CN" altLang="en-US" sz="2800" b="1" dirty="0">
                <a:latin typeface="宋体" panose="02010600030101010101" pitchFamily="2" charset="-122"/>
              </a:rPr>
              <a:t>）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非晶体</a:t>
            </a:r>
            <a:r>
              <a:rPr lang="zh-CN" altLang="en-US" sz="2800" b="1" dirty="0">
                <a:solidFill>
                  <a:schemeClr val="folHlink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各向同性</a:t>
            </a:r>
            <a:endParaRPr lang="zh-CN" altLang="en-US" sz="2800" b="1" dirty="0">
              <a:solidFill>
                <a:schemeClr val="folHlink"/>
              </a:solidFill>
              <a:latin typeface="宋体" panose="02010600030101010101" pitchFamily="2" charset="-122"/>
            </a:endParaRPr>
          </a:p>
          <a:p>
            <a:pPr eaLnBrk="1" hangingPunct="1"/>
            <a:r>
              <a:rPr lang="zh-CN" altLang="en-US" sz="2800" b="1" dirty="0">
                <a:solidFill>
                  <a:schemeClr val="folHlink"/>
                </a:solidFill>
                <a:latin typeface="宋体" panose="02010600030101010101" pitchFamily="2" charset="-122"/>
              </a:rPr>
              <a:t>晶体与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非晶体</a:t>
            </a:r>
            <a:r>
              <a:rPr lang="zh-CN" altLang="en-US" sz="2800" b="1" dirty="0">
                <a:solidFill>
                  <a:schemeClr val="folHlink"/>
                </a:solidFill>
                <a:latin typeface="宋体" panose="02010600030101010101" pitchFamily="2" charset="-122"/>
              </a:rPr>
              <a:t>在一定的条件下可相互转化。</a:t>
            </a:r>
            <a:endParaRPr lang="zh-CN" altLang="en-US" sz="2800" b="1" dirty="0">
              <a:solidFill>
                <a:schemeClr val="folHlink"/>
              </a:solidFill>
              <a:latin typeface="宋体" panose="02010600030101010101" pitchFamily="2" charset="-122"/>
            </a:endParaRPr>
          </a:p>
        </p:txBody>
      </p:sp>
      <p:sp>
        <p:nvSpPr>
          <p:cNvPr id="15365" name="日期占位符 1"/>
          <p:cNvSpPr>
            <a:spLocks noGrp="1"/>
          </p:cNvSpPr>
          <p:nvPr>
            <p:ph type="dt" sz="half" idx="10"/>
          </p:nvPr>
        </p:nvSpPr>
        <p:spPr>
          <a:xfrm>
            <a:off x="131763" y="6521450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4" y="3175"/>
            <a:ext cx="845763" cy="8335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04250" y="6570663"/>
            <a:ext cx="473075" cy="273050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xfrm>
            <a:off x="2123728" y="188640"/>
            <a:ext cx="6043612" cy="1412776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</a:rPr>
              <a:t>晶格、晶胞</a:t>
            </a:r>
            <a:br>
              <a:rPr lang="en-US" altLang="zh-CN" b="1" dirty="0">
                <a:solidFill>
                  <a:srgbClr val="FF0000"/>
                </a:solidFill>
              </a:rPr>
            </a:b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Lattice</a:t>
            </a:r>
            <a:r>
              <a:rPr lang="zh-CN" alt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cell</a:t>
            </a:r>
            <a:endParaRPr lang="zh-CN" altLang="en-US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87" name="Rectangle 3"/>
          <p:cNvSpPr>
            <a:spLocks noGrp="1"/>
          </p:cNvSpPr>
          <p:nvPr>
            <p:ph idx="1"/>
          </p:nvPr>
        </p:nvSpPr>
        <p:spPr>
          <a:xfrm>
            <a:off x="323850" y="1844675"/>
            <a:ext cx="8820150" cy="4513263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</a:rPr>
              <a:t>晶格：</a:t>
            </a:r>
            <a:r>
              <a:rPr lang="zh-CN" altLang="en-US" dirty="0"/>
              <a:t>将原子或离子抽象为</a:t>
            </a:r>
            <a:r>
              <a:rPr lang="zh-CN" altLang="en-US" b="1" dirty="0">
                <a:solidFill>
                  <a:srgbClr val="0000FF"/>
                </a:solidFill>
              </a:rPr>
              <a:t>点</a:t>
            </a:r>
            <a:r>
              <a:rPr lang="zh-CN" altLang="en-US" dirty="0"/>
              <a:t>，用假想的直线将它们连接起来而形成的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</a:rPr>
              <a:t>三维空间格架</a:t>
            </a:r>
            <a:r>
              <a:rPr lang="zh-CN" altLang="en-US" dirty="0"/>
              <a:t>。</a:t>
            </a:r>
            <a:endParaRPr lang="zh-CN" altLang="en-US" dirty="0"/>
          </a:p>
          <a:p>
            <a:pPr eaLnBrk="1" hangingPunct="1"/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</a:rPr>
              <a:t>晶胞</a:t>
            </a:r>
            <a:r>
              <a:rPr lang="zh-CN" altLang="en-US" dirty="0"/>
              <a:t>：能够反映晶格排列方式的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</a:rPr>
              <a:t>最小几何单元</a:t>
            </a:r>
            <a:r>
              <a:rPr lang="zh-CN" altLang="en-US" dirty="0"/>
              <a:t>。</a:t>
            </a:r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endParaRPr lang="en-US" altLang="zh-CN" dirty="0"/>
          </a:p>
        </p:txBody>
      </p:sp>
      <p:pic>
        <p:nvPicPr>
          <p:cNvPr id="163844" name="Picture 4" descr="lwf2-3a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403350" y="3605213"/>
            <a:ext cx="7200900" cy="2895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390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500813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4" y="3175"/>
            <a:ext cx="918827" cy="9055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971550" y="0"/>
            <a:ext cx="7992745" cy="1740535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zh-CN" altLang="en-US" sz="4800" b="1" dirty="0">
                <a:solidFill>
                  <a:srgbClr val="FF0000"/>
                </a:solidFill>
                <a:latin typeface="宋体" panose="02010600030101010101" pitchFamily="2" charset="-122"/>
              </a:rPr>
              <a:t>晶格常数 </a:t>
            </a:r>
            <a:br>
              <a:rPr lang="zh-CN" altLang="en-US" sz="4800" b="1" dirty="0">
                <a:solidFill>
                  <a:srgbClr val="FF0000"/>
                </a:solidFill>
                <a:latin typeface="宋体" panose="02010600030101010101" pitchFamily="2" charset="-122"/>
              </a:rPr>
            </a:br>
            <a:r>
              <a:rPr lang="en-US" altLang="zh-CN" sz="4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lattice constant</a:t>
            </a:r>
            <a:endParaRPr lang="en-US" altLang="zh-CN" sz="48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867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2292350"/>
            <a:ext cx="7920038" cy="35845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晶格常数：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晶胞的边长，其大小以埃（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Å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）来表示（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Å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=10</a:t>
            </a:r>
            <a:r>
              <a:rPr kumimoji="0" lang="en-US" altLang="zh-CN" sz="32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-8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cm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）。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各棱间的夹角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用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、、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表示。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  <a:sym typeface="Symbol" panose="05050102010706020507" pitchFamily="18" charset="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</p:txBody>
      </p:sp>
      <p:sp>
        <p:nvSpPr>
          <p:cNvPr id="17413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429375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4" y="3175"/>
            <a:ext cx="845763" cy="8335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xfrm>
            <a:off x="1619250" y="0"/>
            <a:ext cx="6548755" cy="1648460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zh-CN" altLang="en-US" sz="4800" b="1" dirty="0">
                <a:solidFill>
                  <a:srgbClr val="FF0000"/>
                </a:solidFill>
                <a:latin typeface="宋体" panose="02010600030101010101" pitchFamily="2" charset="-122"/>
              </a:rPr>
              <a:t>晶系 </a:t>
            </a:r>
            <a:br>
              <a:rPr lang="zh-CN" altLang="en-US" sz="4800" b="1" dirty="0">
                <a:solidFill>
                  <a:srgbClr val="FF0000"/>
                </a:solidFill>
                <a:latin typeface="宋体" panose="02010600030101010101" pitchFamily="2" charset="-122"/>
              </a:rPr>
            </a:br>
            <a:r>
              <a:rPr lang="en-US" altLang="zh-CN" sz="4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Crystal system</a:t>
            </a:r>
            <a:endParaRPr lang="en-US" altLang="zh-CN" sz="48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867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2222500"/>
            <a:ext cx="7920038" cy="42783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晶系：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根据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晶胞参数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不同，将晶体分为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七种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晶系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。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90%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以上的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金属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具有</a:t>
            </a: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立方晶系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或</a:t>
            </a: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六方晶系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。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  <a:sym typeface="Symbol" panose="05050102010706020507" pitchFamily="18" charset="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8167688" y="9525"/>
            <a:ext cx="946150" cy="6848475"/>
            <a:chOff x="4992" y="6"/>
            <a:chExt cx="596" cy="4314"/>
          </a:xfrm>
        </p:grpSpPr>
        <p:pic>
          <p:nvPicPr>
            <p:cNvPr id="18437" name="Picture 5" descr="七种晶系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992" y="6"/>
              <a:ext cx="596" cy="4314"/>
            </a:xfrm>
            <a:prstGeom prst="rect">
              <a:avLst/>
            </a:prstGeom>
            <a:noFill/>
            <a:ln w="28575">
              <a:noFill/>
            </a:ln>
          </p:spPr>
        </p:pic>
        <p:sp>
          <p:nvSpPr>
            <p:cNvPr id="18438" name="Text Box 6"/>
            <p:cNvSpPr txBox="1"/>
            <p:nvPr/>
          </p:nvSpPr>
          <p:spPr>
            <a:xfrm>
              <a:off x="5088" y="492"/>
              <a:ext cx="384" cy="21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993300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rPr>
                <a:t>立方</a:t>
              </a:r>
              <a:endParaRPr lang="zh-CN" altLang="en-US" sz="1600" b="1" dirty="0">
                <a:solidFill>
                  <a:srgbClr val="993300"/>
                </a:solidFill>
                <a:latin typeface="Times New Roman" panose="02020603050405020304" pitchFamily="18" charset="0"/>
                <a:ea typeface="华文细黑" panose="02010600040101010101" pitchFamily="2" charset="-122"/>
              </a:endParaRPr>
            </a:p>
          </p:txBody>
        </p:sp>
        <p:sp>
          <p:nvSpPr>
            <p:cNvPr id="18439" name="Text Box 7"/>
            <p:cNvSpPr txBox="1"/>
            <p:nvPr/>
          </p:nvSpPr>
          <p:spPr>
            <a:xfrm>
              <a:off x="5076" y="1116"/>
              <a:ext cx="384" cy="21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993300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rPr>
                <a:t>六方</a:t>
              </a:r>
              <a:endParaRPr lang="zh-CN" altLang="en-US" sz="1600" b="1" dirty="0">
                <a:solidFill>
                  <a:srgbClr val="993300"/>
                </a:solidFill>
                <a:latin typeface="Times New Roman" panose="02020603050405020304" pitchFamily="18" charset="0"/>
                <a:ea typeface="华文细黑" panose="02010600040101010101" pitchFamily="2" charset="-122"/>
              </a:endParaRPr>
            </a:p>
          </p:txBody>
        </p:sp>
        <p:sp>
          <p:nvSpPr>
            <p:cNvPr id="18440" name="Text Box 8"/>
            <p:cNvSpPr txBox="1"/>
            <p:nvPr/>
          </p:nvSpPr>
          <p:spPr>
            <a:xfrm>
              <a:off x="5076" y="1716"/>
              <a:ext cx="384" cy="21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993300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rPr>
                <a:t>四方</a:t>
              </a:r>
              <a:endParaRPr lang="zh-CN" altLang="en-US" sz="1600" b="1" dirty="0">
                <a:solidFill>
                  <a:srgbClr val="993300"/>
                </a:solidFill>
                <a:latin typeface="Times New Roman" panose="02020603050405020304" pitchFamily="18" charset="0"/>
                <a:ea typeface="华文细黑" panose="02010600040101010101" pitchFamily="2" charset="-122"/>
              </a:endParaRPr>
            </a:p>
          </p:txBody>
        </p:sp>
        <p:sp>
          <p:nvSpPr>
            <p:cNvPr id="18441" name="Text Box 9"/>
            <p:cNvSpPr txBox="1"/>
            <p:nvPr/>
          </p:nvSpPr>
          <p:spPr>
            <a:xfrm>
              <a:off x="5088" y="2160"/>
              <a:ext cx="384" cy="21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993300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rPr>
                <a:t>菱方</a:t>
              </a:r>
              <a:endParaRPr lang="zh-CN" altLang="en-US" sz="1600" b="1" dirty="0">
                <a:solidFill>
                  <a:srgbClr val="993300"/>
                </a:solidFill>
                <a:latin typeface="Times New Roman" panose="02020603050405020304" pitchFamily="18" charset="0"/>
                <a:ea typeface="华文细黑" panose="02010600040101010101" pitchFamily="2" charset="-122"/>
              </a:endParaRPr>
            </a:p>
          </p:txBody>
        </p:sp>
        <p:sp>
          <p:nvSpPr>
            <p:cNvPr id="18442" name="Text Box 10"/>
            <p:cNvSpPr txBox="1"/>
            <p:nvPr/>
          </p:nvSpPr>
          <p:spPr>
            <a:xfrm>
              <a:off x="5076" y="2760"/>
              <a:ext cx="384" cy="21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993300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rPr>
                <a:t>正交</a:t>
              </a:r>
              <a:endParaRPr lang="zh-CN" altLang="en-US" sz="1600" b="1" dirty="0">
                <a:solidFill>
                  <a:srgbClr val="993300"/>
                </a:solidFill>
                <a:latin typeface="Times New Roman" panose="02020603050405020304" pitchFamily="18" charset="0"/>
                <a:ea typeface="华文细黑" panose="02010600040101010101" pitchFamily="2" charset="-122"/>
              </a:endParaRPr>
            </a:p>
          </p:txBody>
        </p:sp>
        <p:sp>
          <p:nvSpPr>
            <p:cNvPr id="18443" name="Text Box 11"/>
            <p:cNvSpPr txBox="1"/>
            <p:nvPr/>
          </p:nvSpPr>
          <p:spPr>
            <a:xfrm>
              <a:off x="5088" y="3396"/>
              <a:ext cx="384" cy="21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993300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rPr>
                <a:t>单斜</a:t>
              </a:r>
              <a:endParaRPr lang="zh-CN" altLang="en-US" sz="1600" b="1" dirty="0">
                <a:solidFill>
                  <a:srgbClr val="993300"/>
                </a:solidFill>
                <a:latin typeface="Times New Roman" panose="02020603050405020304" pitchFamily="18" charset="0"/>
                <a:ea typeface="华文细黑" panose="02010600040101010101" pitchFamily="2" charset="-122"/>
              </a:endParaRPr>
            </a:p>
          </p:txBody>
        </p:sp>
        <p:sp>
          <p:nvSpPr>
            <p:cNvPr id="18444" name="Text Box 12"/>
            <p:cNvSpPr txBox="1"/>
            <p:nvPr/>
          </p:nvSpPr>
          <p:spPr>
            <a:xfrm>
              <a:off x="5112" y="4084"/>
              <a:ext cx="384" cy="21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993300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rPr>
                <a:t>三斜</a:t>
              </a:r>
              <a:endParaRPr lang="zh-CN" altLang="en-US" sz="1600" b="1" dirty="0">
                <a:solidFill>
                  <a:srgbClr val="993300"/>
                </a:solidFill>
                <a:latin typeface="Times New Roman" panose="02020603050405020304" pitchFamily="18" charset="0"/>
                <a:ea typeface="华文细黑" panose="02010600040101010101" pitchFamily="2" charset="-122"/>
              </a:endParaRPr>
            </a:p>
          </p:txBody>
        </p:sp>
      </p:grpSp>
      <p:pic>
        <p:nvPicPr>
          <p:cNvPr id="18445" name="Picture 13" descr="表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388" y="4214813"/>
            <a:ext cx="7700962" cy="2028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447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7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4" y="3175"/>
            <a:ext cx="918827" cy="9055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382000" y="6583363"/>
            <a:ext cx="631825" cy="255587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9458" name="Rectangle 2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b"/>
          <a:lstStyle/>
          <a:p>
            <a:pPr algn="ctr" eaLnBrk="1" hangingPunct="1"/>
            <a:r>
              <a:rPr lang="zh-CN" altLang="en-US" sz="4800" b="1" dirty="0">
                <a:solidFill>
                  <a:srgbClr val="FF0000"/>
                </a:solidFill>
                <a:latin typeface="宋体" panose="02010600030101010101" pitchFamily="2" charset="-122"/>
              </a:rPr>
              <a:t>晶格尺寸 </a:t>
            </a:r>
            <a:br>
              <a:rPr lang="zh-CN" altLang="en-US" sz="4800" b="1" dirty="0">
                <a:solidFill>
                  <a:srgbClr val="FF0000"/>
                </a:solidFill>
                <a:latin typeface="宋体" panose="02010600030101010101" pitchFamily="2" charset="-122"/>
              </a:rPr>
            </a:br>
            <a:r>
              <a:rPr lang="en-US" altLang="zh-CN" sz="4800" b="1" dirty="0">
                <a:solidFill>
                  <a:srgbClr val="FF00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4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 of lattice)</a:t>
            </a:r>
            <a:endParaRPr lang="en-US" altLang="zh-CN" sz="48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5891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2171700"/>
            <a:ext cx="7772400" cy="4114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晶格尺寸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：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晶胞的大小，可用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晶格常数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表达。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立方晶体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，晶格常数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a=b=c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密排六方晶格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，须采用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a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和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c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两个晶格常数来表达。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</p:txBody>
      </p:sp>
      <p:sp>
        <p:nvSpPr>
          <p:cNvPr id="19461" name="日期占位符 1"/>
          <p:cNvSpPr>
            <a:spLocks noGrp="1"/>
          </p:cNvSpPr>
          <p:nvPr>
            <p:ph type="dt" sz="half" idx="10"/>
          </p:nvPr>
        </p:nvSpPr>
        <p:spPr>
          <a:xfrm>
            <a:off x="101600" y="6477000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4" y="3175"/>
            <a:ext cx="918827" cy="9055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07400" y="6537325"/>
            <a:ext cx="557213" cy="309563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0482" name="Rectangle 2"/>
          <p:cNvSpPr>
            <a:spLocks noGrp="1"/>
          </p:cNvSpPr>
          <p:nvPr>
            <p:ph type="title"/>
          </p:nvPr>
        </p:nvSpPr>
        <p:spPr>
          <a:xfrm>
            <a:off x="2339975" y="533400"/>
            <a:ext cx="6194425" cy="1143000"/>
          </a:xfrm>
        </p:spPr>
        <p:txBody>
          <a:bodyPr wrap="square" lIns="91440" tIns="45720" rIns="91440" bIns="45720" anchor="b"/>
          <a:lstStyle/>
          <a:p>
            <a:pPr eaLnBrk="1" hangingPunct="1"/>
            <a:r>
              <a:rPr lang="zh-CN" altLang="en-US" sz="4800" b="1" dirty="0">
                <a:solidFill>
                  <a:srgbClr val="FF0000"/>
                </a:solidFill>
                <a:latin typeface="宋体" panose="02010600030101010101" pitchFamily="2" charset="-122"/>
              </a:rPr>
              <a:t>晶胞原子数</a:t>
            </a:r>
            <a:endParaRPr lang="zh-CN" altLang="en-US" sz="48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166915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2063521"/>
            <a:ext cx="8785225" cy="4114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晶胞原子数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：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一个晶胞内所包含的原子数目。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体心立方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：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2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面心立方：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4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六方晶格：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6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</p:txBody>
      </p:sp>
      <p:sp>
        <p:nvSpPr>
          <p:cNvPr id="20485" name="日期占位符 1"/>
          <p:cNvSpPr>
            <a:spLocks noGrp="1"/>
          </p:cNvSpPr>
          <p:nvPr>
            <p:ph type="dt" sz="half" idx="10"/>
          </p:nvPr>
        </p:nvSpPr>
        <p:spPr>
          <a:xfrm>
            <a:off x="68263" y="6503988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28739"/>
            <a:ext cx="892888" cy="879981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74075" y="6551613"/>
            <a:ext cx="490538" cy="298450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1506" name="Rectangle 2"/>
          <p:cNvSpPr>
            <a:spLocks noGrp="1"/>
          </p:cNvSpPr>
          <p:nvPr>
            <p:ph type="title"/>
          </p:nvPr>
        </p:nvSpPr>
        <p:spPr>
          <a:xfrm>
            <a:off x="1331595" y="116205"/>
            <a:ext cx="7124700" cy="1529080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zh-CN" altLang="en-US" sz="4800" b="1" dirty="0">
                <a:solidFill>
                  <a:srgbClr val="FF0000"/>
                </a:solidFill>
                <a:latin typeface="宋体" panose="02010600030101010101" pitchFamily="2" charset="-122"/>
              </a:rPr>
              <a:t>原子半径 </a:t>
            </a:r>
            <a:br>
              <a:rPr lang="zh-CN" altLang="en-US" sz="4800" b="1" dirty="0">
                <a:solidFill>
                  <a:srgbClr val="FF0000"/>
                </a:solidFill>
                <a:latin typeface="宋体" panose="02010600030101010101" pitchFamily="2" charset="-122"/>
              </a:rPr>
            </a:br>
            <a:r>
              <a:rPr lang="en-US" altLang="zh-CN" sz="4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Atomic radius</a:t>
            </a:r>
            <a:endParaRPr lang="zh-CN" altLang="en-US" sz="48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7939" name="Rectangle 3"/>
          <p:cNvSpPr>
            <a:spLocks noGrp="1" noChangeArrowheads="1"/>
          </p:cNvSpPr>
          <p:nvPr>
            <p:ph idx="1"/>
          </p:nvPr>
        </p:nvSpPr>
        <p:spPr>
          <a:xfrm>
            <a:off x="684213" y="1989138"/>
            <a:ext cx="7772400" cy="41957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通常是指晶胞中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相距最近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的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两个原子之间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平衡距离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的一半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是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金属原子行为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的一个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非常重要的参量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1508" name="Picture 4" descr="〈工程材料〉辅导表１－４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395288" y="3789363"/>
            <a:ext cx="8569325" cy="2447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510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29388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4" y="3175"/>
            <a:ext cx="845763" cy="8335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56613" y="6546850"/>
            <a:ext cx="490537" cy="298450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2530" name="Rectangle 2"/>
          <p:cNvSpPr>
            <a:spLocks noGrp="1"/>
          </p:cNvSpPr>
          <p:nvPr>
            <p:ph type="title"/>
          </p:nvPr>
        </p:nvSpPr>
        <p:spPr>
          <a:xfrm>
            <a:off x="899795" y="128270"/>
            <a:ext cx="8065135" cy="1596390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zh-CN" altLang="en-US" sz="4800" b="1" dirty="0">
                <a:solidFill>
                  <a:srgbClr val="FF0000"/>
                </a:solidFill>
                <a:latin typeface="宋体" panose="02010600030101010101" pitchFamily="2" charset="-122"/>
              </a:rPr>
              <a:t>配位数 </a:t>
            </a:r>
            <a:br>
              <a:rPr lang="zh-CN" altLang="en-US" sz="4800" b="1" dirty="0">
                <a:solidFill>
                  <a:srgbClr val="FF0000"/>
                </a:solidFill>
                <a:latin typeface="宋体" panose="02010600030101010101" pitchFamily="2" charset="-122"/>
              </a:rPr>
            </a:br>
            <a:r>
              <a:rPr lang="en-US" altLang="zh-CN" sz="4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Coordination number</a:t>
            </a:r>
            <a:endParaRPr lang="en-US" altLang="zh-CN" sz="48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96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844675"/>
            <a:ext cx="8207375" cy="46799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配位数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：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晶体中与任一原子</a:t>
            </a:r>
            <a:r>
              <a:rPr kumimoji="0" lang="zh-CN" altLang="en-US" sz="3600" b="1" i="0" u="none" strike="noStrike" kern="0" cap="none" spc="0" normalizeH="0" baseline="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cs typeface="+mn-cs"/>
                <a:sym typeface="Symbol" panose="05050102010706020507" pitchFamily="18" charset="2"/>
              </a:rPr>
              <a:t>距离最近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且</a:t>
            </a:r>
            <a:r>
              <a:rPr kumimoji="0" lang="zh-CN" altLang="en-US" sz="3600" b="1" i="0" u="none" strike="noStrike" kern="0" cap="none" spc="0" normalizeH="0" baseline="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cs typeface="+mn-cs"/>
                <a:sym typeface="Symbol" panose="05050102010706020507" pitchFamily="18" charset="2"/>
              </a:rPr>
              <a:t>相等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的原子数目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。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配位数</a:t>
            </a:r>
            <a:r>
              <a:rPr kumimoji="0" lang="zh-CN" altLang="en-US" sz="3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愈大，则原子排列的</a:t>
            </a:r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致密度</a:t>
            </a:r>
            <a:r>
              <a:rPr kumimoji="0" lang="zh-CN" altLang="en-US" sz="3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愈高。</a:t>
            </a:r>
            <a:endParaRPr kumimoji="0" lang="zh-CN" altLang="en-US" sz="3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体心立方晶格：</a:t>
            </a:r>
            <a:r>
              <a:rPr kumimoji="0" lang="en-US" altLang="zh-CN" sz="3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8</a:t>
            </a:r>
            <a:endParaRPr kumimoji="0" lang="en-US" altLang="zh-CN" sz="3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面心立方晶格、密排六方晶格：</a:t>
            </a:r>
            <a:r>
              <a:rPr kumimoji="0" lang="en-US" altLang="zh-CN" sz="3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12</a:t>
            </a:r>
            <a:r>
              <a:rPr kumimoji="0" lang="zh-CN" altLang="en-US" sz="3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。</a:t>
            </a:r>
            <a:endParaRPr kumimoji="0" lang="zh-CN" altLang="en-US" sz="3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</p:txBody>
      </p:sp>
      <p:sp>
        <p:nvSpPr>
          <p:cNvPr id="22533" name="日期占位符 1"/>
          <p:cNvSpPr>
            <a:spLocks noGrp="1"/>
          </p:cNvSpPr>
          <p:nvPr>
            <p:ph type="dt" sz="half" idx="10"/>
          </p:nvPr>
        </p:nvSpPr>
        <p:spPr>
          <a:xfrm>
            <a:off x="88900" y="6502400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880110" cy="8673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58200" y="6581775"/>
            <a:ext cx="488950" cy="277813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4578" name="Rectangle 2"/>
          <p:cNvSpPr>
            <a:spLocks noGrp="1"/>
          </p:cNvSpPr>
          <p:nvPr>
            <p:ph type="title"/>
          </p:nvPr>
        </p:nvSpPr>
        <p:spPr>
          <a:xfrm>
            <a:off x="1258888" y="381000"/>
            <a:ext cx="7199312" cy="960438"/>
          </a:xfrm>
        </p:spPr>
        <p:txBody>
          <a:bodyPr wrap="square" lIns="91440" tIns="45720" rIns="91440" bIns="45720" anchor="b"/>
          <a:lstStyle/>
          <a:p>
            <a:pPr eaLnBrk="1" hangingPunct="1"/>
            <a:r>
              <a:rPr lang="en-US" altLang="zh-CN" sz="4800" b="1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{</a:t>
            </a:r>
            <a:r>
              <a:rPr lang="zh-CN" altLang="en-US" sz="4800" b="1" dirty="0">
                <a:solidFill>
                  <a:srgbClr val="FF0000"/>
                </a:solidFill>
                <a:latin typeface="宋体" panose="02010600030101010101" pitchFamily="2" charset="-122"/>
              </a:rPr>
              <a:t>晶面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族</a:t>
            </a:r>
            <a:r>
              <a:rPr lang="en-US" altLang="zh-CN" sz="4800" b="1" dirty="0">
                <a:solidFill>
                  <a:srgbClr val="FF0000"/>
                </a:solidFill>
                <a:latin typeface="宋体" panose="02010600030101010101" pitchFamily="2" charset="-122"/>
              </a:rPr>
              <a:t>}</a:t>
            </a:r>
            <a:r>
              <a:rPr lang="zh-CN" altLang="en-US" sz="4800" b="1" dirty="0">
                <a:solidFill>
                  <a:srgbClr val="FF0000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4800" b="1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&lt;</a:t>
            </a:r>
            <a:r>
              <a:rPr lang="zh-CN" altLang="en-US" sz="4800" b="1" dirty="0">
                <a:solidFill>
                  <a:srgbClr val="FF0000"/>
                </a:solidFill>
                <a:latin typeface="宋体" panose="02010600030101010101" pitchFamily="2" charset="-122"/>
              </a:rPr>
              <a:t>晶向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族</a:t>
            </a:r>
            <a:r>
              <a:rPr lang="en-US" altLang="zh-CN" sz="4800" b="1" dirty="0">
                <a:solidFill>
                  <a:srgbClr val="FF0000"/>
                </a:solidFill>
                <a:latin typeface="宋体" panose="02010600030101010101" pitchFamily="2" charset="-122"/>
              </a:rPr>
              <a:t>&gt;</a:t>
            </a:r>
            <a:endParaRPr lang="en-US" altLang="zh-CN" sz="48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171011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1844675"/>
            <a:ext cx="8229600" cy="44672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晶面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在晶体中，由一系列原子所组成的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平面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晶面指数：</a:t>
            </a: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表示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晶面</a:t>
            </a: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的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符号。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（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hkl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）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晶面族：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在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晶体学上等同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而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彼此不平行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晶面总称，用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{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hkl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}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表示。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晶向：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任意两个原子之间的连线所指的方向。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晶向指数：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表示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晶向的符号。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[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uvw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]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晶向族：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晶体学上等同（原子排列相同）的晶向统称为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晶向族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，用尖括号表示，即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〈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uvw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〉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。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</p:txBody>
      </p:sp>
      <p:sp>
        <p:nvSpPr>
          <p:cNvPr id="24581" name="日期占位符 1"/>
          <p:cNvSpPr>
            <a:spLocks noGrp="1"/>
          </p:cNvSpPr>
          <p:nvPr>
            <p:ph type="dt" sz="half" idx="10"/>
          </p:nvPr>
        </p:nvSpPr>
        <p:spPr>
          <a:xfrm>
            <a:off x="122238" y="6516688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4" y="3175"/>
            <a:ext cx="918827" cy="9055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85188" y="6562725"/>
            <a:ext cx="493712" cy="298450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5602" name="Rectangle 2"/>
          <p:cNvSpPr>
            <a:spLocks noGrp="1"/>
          </p:cNvSpPr>
          <p:nvPr>
            <p:ph type="title"/>
          </p:nvPr>
        </p:nvSpPr>
        <p:spPr>
          <a:xfrm>
            <a:off x="687388" y="0"/>
            <a:ext cx="8456612" cy="1371600"/>
          </a:xfrm>
        </p:spPr>
        <p:txBody>
          <a:bodyPr wrap="square" lIns="91440" tIns="45720" rIns="91440" bIns="45720" anchor="b"/>
          <a:lstStyle/>
          <a:p>
            <a:pPr eaLnBrk="1" hangingPunct="1"/>
            <a:r>
              <a:rPr lang="zh-CN" altLang="en-US" sz="3600" b="1" dirty="0">
                <a:solidFill>
                  <a:schemeClr val="folHlink"/>
                </a:solidFill>
                <a:latin typeface="宋体" panose="02010600030101010101" pitchFamily="2" charset="-122"/>
              </a:rPr>
              <a:t>立方晶系</a:t>
            </a: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</a:rPr>
              <a:t>晶面指数</a:t>
            </a:r>
            <a:r>
              <a:rPr lang="en-US" altLang="zh-CN" sz="3600" b="1" dirty="0">
                <a:solidFill>
                  <a:srgbClr val="FF00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</a:rPr>
              <a:t>米勒指数</a:t>
            </a:r>
            <a:r>
              <a:rPr lang="en-US" altLang="zh-CN" sz="3600" b="1" dirty="0">
                <a:solidFill>
                  <a:srgbClr val="FF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3600" b="1" dirty="0">
                <a:solidFill>
                  <a:schemeClr val="folHlink"/>
                </a:solidFill>
                <a:latin typeface="宋体" panose="02010600030101010101" pitchFamily="2" charset="-122"/>
              </a:rPr>
              <a:t>的确定方法</a:t>
            </a:r>
            <a:endParaRPr lang="zh-CN" altLang="en-US" sz="3600" b="1" dirty="0">
              <a:solidFill>
                <a:schemeClr val="folHlink"/>
              </a:solidFill>
              <a:latin typeface="宋体" panose="02010600030101010101" pitchFamily="2" charset="-122"/>
            </a:endParaRPr>
          </a:p>
        </p:txBody>
      </p:sp>
      <p:sp>
        <p:nvSpPr>
          <p:cNvPr id="172035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844675"/>
            <a:ext cx="8229600" cy="47180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1)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选定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不在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欲定晶面上的晶格中的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任一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结点为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坐标原点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，以晶格的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三条棱边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为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空间坐标轴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0X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、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OY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、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OZ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；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以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晶格常数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a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、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b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、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c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分别作为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长度度量单位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，求出欲定晶面在坐标轴上的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</a:rPr>
              <a:t>截距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；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取欲定晶面在三轴上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</a:rPr>
              <a:t>截距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的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</a:rPr>
              <a:t>倒数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；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将三截距的倒数化为三个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</a:rPr>
              <a:t>互质</a:t>
            </a:r>
            <a:r>
              <a:rPr lang="zh-CN" altLang="en-US" dirty="0">
                <a:latin typeface="宋体" panose="02010600030101010101" pitchFamily="2" charset="-122"/>
              </a:rPr>
              <a:t>的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</a:rPr>
              <a:t>最小整数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并写在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圆括号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内，记作</a:t>
            </a:r>
            <a:r>
              <a:rPr lang="en-US" altLang="zh-CN" b="1" dirty="0">
                <a:solidFill>
                  <a:srgbClr val="0000FF"/>
                </a:solidFill>
                <a:latin typeface="宋体" panose="02010600030101010101" pitchFamily="2" charset="-122"/>
              </a:rPr>
              <a:t>(</a:t>
            </a:r>
            <a:r>
              <a:rPr lang="en-US" altLang="zh-CN" b="1" dirty="0" err="1">
                <a:solidFill>
                  <a:srgbClr val="0000FF"/>
                </a:solidFill>
                <a:latin typeface="宋体" panose="02010600030101010101" pitchFamily="2" charset="-122"/>
              </a:rPr>
              <a:t>hkl</a:t>
            </a:r>
            <a:r>
              <a:rPr lang="en-US" altLang="zh-CN" b="1" dirty="0">
                <a:solidFill>
                  <a:srgbClr val="0000FF"/>
                </a:solidFill>
                <a:latin typeface="宋体" panose="02010600030101010101" pitchFamily="2" charset="-122"/>
              </a:rPr>
              <a:t>)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。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负的晶面指数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在正整数上加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</a:rPr>
              <a:t>“</a:t>
            </a:r>
            <a:r>
              <a:rPr lang="en-US" altLang="zh-CN" b="1" dirty="0">
                <a:solidFill>
                  <a:srgbClr val="0000FF"/>
                </a:solidFill>
                <a:latin typeface="宋体" panose="02010600030101010101" pitchFamily="2" charset="-122"/>
              </a:rPr>
              <a:t>-”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号。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</p:txBody>
      </p:sp>
      <p:sp>
        <p:nvSpPr>
          <p:cNvPr id="25605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62090"/>
            <a:ext cx="1905000" cy="299085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388350" y="6540500"/>
            <a:ext cx="581025" cy="287338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6626" name="Rectangle 2"/>
          <p:cNvSpPr>
            <a:spLocks noGrp="1"/>
          </p:cNvSpPr>
          <p:nvPr>
            <p:ph type="title"/>
          </p:nvPr>
        </p:nvSpPr>
        <p:spPr>
          <a:xfrm>
            <a:off x="1908175" y="549275"/>
            <a:ext cx="5184775" cy="1143000"/>
          </a:xfrm>
        </p:spPr>
        <p:txBody>
          <a:bodyPr wrap="square" lIns="91440" tIns="45720" rIns="91440" bIns="45720" anchor="b"/>
          <a:lstStyle/>
          <a:p>
            <a:pPr eaLnBrk="1" hangingPunct="1"/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立方晶系的几个典型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</a:rPr>
              <a:t>晶面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及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</a:rPr>
              <a:t>晶面族</a:t>
            </a:r>
            <a:endParaRPr lang="zh-CN" altLang="en-US" b="1" dirty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17305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916113"/>
            <a:ext cx="8278813" cy="43243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{100}=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（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100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）、（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010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）、（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001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）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73060" name="Picture 4" descr="lwf2-6a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971550" y="3860800"/>
            <a:ext cx="5905500" cy="2035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629" name="Rectangle 5"/>
          <p:cNvSpPr/>
          <p:nvPr/>
        </p:nvSpPr>
        <p:spPr>
          <a:xfrm>
            <a:off x="0" y="3252788"/>
            <a:ext cx="184150" cy="369887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630" name="Rectangle 6"/>
          <p:cNvSpPr/>
          <p:nvPr/>
        </p:nvSpPr>
        <p:spPr>
          <a:xfrm>
            <a:off x="0" y="3252788"/>
            <a:ext cx="184150" cy="369887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632" name="Rectangle 8"/>
          <p:cNvSpPr/>
          <p:nvPr/>
        </p:nvSpPr>
        <p:spPr>
          <a:xfrm>
            <a:off x="0" y="0"/>
            <a:ext cx="184150" cy="369888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173066" name="Picture 10" descr="晶面族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25449" y="3803886"/>
            <a:ext cx="8150225" cy="2679700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26636" name="日期占位符 1"/>
          <p:cNvSpPr>
            <a:spLocks noGrp="1"/>
          </p:cNvSpPr>
          <p:nvPr>
            <p:ph type="dt" sz="half" idx="10"/>
          </p:nvPr>
        </p:nvSpPr>
        <p:spPr>
          <a:xfrm>
            <a:off x="3175" y="6484938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4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-27384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73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3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58200" y="6551613"/>
            <a:ext cx="488950" cy="298450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74082" name="Rectangle 2"/>
          <p:cNvSpPr>
            <a:spLocks noGrp="1"/>
          </p:cNvSpPr>
          <p:nvPr>
            <p:ph type="title"/>
          </p:nvPr>
        </p:nvSpPr>
        <p:spPr>
          <a:xfrm>
            <a:off x="3571875" y="228600"/>
            <a:ext cx="4886325" cy="685800"/>
          </a:xfrm>
        </p:spPr>
        <p:txBody>
          <a:bodyPr wrap="square" lIns="91440" tIns="45720" rIns="91440" bIns="45720" anchor="b"/>
          <a:lstStyle/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</a:rPr>
              <a:t>{110}</a:t>
            </a:r>
            <a:endParaRPr lang="en-US" altLang="zh-CN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2513013" y="1671638"/>
            <a:ext cx="4344987" cy="4346575"/>
            <a:chOff x="1583" y="1053"/>
            <a:chExt cx="2737" cy="2738"/>
          </a:xfrm>
        </p:grpSpPr>
        <p:sp>
          <p:nvSpPr>
            <p:cNvPr id="27652" name="AutoShape 4"/>
            <p:cNvSpPr/>
            <p:nvPr/>
          </p:nvSpPr>
          <p:spPr>
            <a:xfrm rot="5394223" flipH="1">
              <a:off x="1580" y="1051"/>
              <a:ext cx="2738" cy="2737"/>
            </a:xfrm>
            <a:prstGeom prst="parallelogram">
              <a:avLst>
                <a:gd name="adj" fmla="val 25500"/>
              </a:avLst>
            </a:prstGeom>
            <a:solidFill>
              <a:schemeClr val="accent1">
                <a:alpha val="50195"/>
              </a:scheme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53" name="Text Box 5"/>
            <p:cNvSpPr txBox="1"/>
            <p:nvPr/>
          </p:nvSpPr>
          <p:spPr>
            <a:xfrm>
              <a:off x="1584" y="3264"/>
              <a:ext cx="816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（</a:t>
              </a: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110</a:t>
              </a:r>
              <a:r>
                <a:rPr lang="zh-CN" altLang="en-US" sz="28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）</a:t>
              </a:r>
              <a:endPara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3" name="Group 6"/>
          <p:cNvGrpSpPr/>
          <p:nvPr/>
        </p:nvGrpSpPr>
        <p:grpSpPr>
          <a:xfrm>
            <a:off x="3352800" y="1676400"/>
            <a:ext cx="2438400" cy="4346575"/>
            <a:chOff x="2112" y="1056"/>
            <a:chExt cx="1536" cy="2738"/>
          </a:xfrm>
        </p:grpSpPr>
        <p:sp>
          <p:nvSpPr>
            <p:cNvPr id="27655" name="AutoShape 7"/>
            <p:cNvSpPr/>
            <p:nvPr/>
          </p:nvSpPr>
          <p:spPr>
            <a:xfrm rot="5394223">
              <a:off x="1583" y="1729"/>
              <a:ext cx="2738" cy="1392"/>
            </a:xfrm>
            <a:prstGeom prst="parallelogram">
              <a:avLst>
                <a:gd name="adj" fmla="val 50794"/>
              </a:avLst>
            </a:prstGeom>
            <a:solidFill>
              <a:srgbClr val="FF6600">
                <a:alpha val="50195"/>
              </a:srgb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27656" name="Group 8"/>
            <p:cNvGrpSpPr/>
            <p:nvPr/>
          </p:nvGrpSpPr>
          <p:grpSpPr>
            <a:xfrm>
              <a:off x="2112" y="1296"/>
              <a:ext cx="830" cy="330"/>
              <a:chOff x="144" y="3744"/>
              <a:chExt cx="830" cy="330"/>
            </a:xfrm>
          </p:grpSpPr>
          <p:sp>
            <p:nvSpPr>
              <p:cNvPr id="27657" name="Text Box 9"/>
              <p:cNvSpPr txBox="1"/>
              <p:nvPr/>
            </p:nvSpPr>
            <p:spPr>
              <a:xfrm>
                <a:off x="144" y="3744"/>
                <a:ext cx="830" cy="3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b="1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（</a:t>
                </a:r>
                <a:r>
                  <a:rPr lang="en-US" altLang="zh-CN" sz="2800" b="1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110</a:t>
                </a:r>
                <a:r>
                  <a:rPr lang="zh-CN" altLang="en-US" sz="2800" b="1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）</a:t>
                </a:r>
                <a:endParaRPr lang="zh-CN" altLang="en-US" sz="28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7658" name="Line 10"/>
              <p:cNvSpPr/>
              <p:nvPr/>
            </p:nvSpPr>
            <p:spPr>
              <a:xfrm>
                <a:off x="432" y="3816"/>
                <a:ext cx="144" cy="0"/>
              </a:xfrm>
              <a:prstGeom prst="line">
                <a:avLst/>
              </a:prstGeom>
              <a:ln w="28575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Group 11"/>
          <p:cNvGrpSpPr/>
          <p:nvPr/>
        </p:nvGrpSpPr>
        <p:grpSpPr>
          <a:xfrm>
            <a:off x="2514600" y="1676400"/>
            <a:ext cx="4343400" cy="4343400"/>
            <a:chOff x="1584" y="1056"/>
            <a:chExt cx="2736" cy="2736"/>
          </a:xfrm>
        </p:grpSpPr>
        <p:sp>
          <p:nvSpPr>
            <p:cNvPr id="27660" name="AutoShape 12"/>
            <p:cNvSpPr/>
            <p:nvPr/>
          </p:nvSpPr>
          <p:spPr>
            <a:xfrm>
              <a:off x="1584" y="1056"/>
              <a:ext cx="2736" cy="2736"/>
            </a:xfrm>
            <a:prstGeom prst="parallelogram">
              <a:avLst>
                <a:gd name="adj" fmla="val 24380"/>
              </a:avLst>
            </a:prstGeom>
            <a:solidFill>
              <a:srgbClr val="00FF00">
                <a:alpha val="50195"/>
              </a:srgb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61" name="Text Box 13"/>
            <p:cNvSpPr txBox="1"/>
            <p:nvPr/>
          </p:nvSpPr>
          <p:spPr>
            <a:xfrm>
              <a:off x="2496" y="2400"/>
              <a:ext cx="864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99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（</a:t>
              </a:r>
              <a:r>
                <a:rPr lang="en-US" altLang="zh-CN" sz="2800" b="1" dirty="0">
                  <a:solidFill>
                    <a:srgbClr val="99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101</a:t>
              </a:r>
              <a:r>
                <a:rPr lang="zh-CN" altLang="en-US" sz="2800" b="1" dirty="0">
                  <a:solidFill>
                    <a:srgbClr val="99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）</a:t>
              </a:r>
              <a:endParaRPr lang="zh-CN" altLang="en-US" sz="2800" b="1" dirty="0">
                <a:solidFill>
                  <a:srgbClr val="9933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6" name="Group 14"/>
          <p:cNvGrpSpPr/>
          <p:nvPr/>
        </p:nvGrpSpPr>
        <p:grpSpPr>
          <a:xfrm>
            <a:off x="2495550" y="2743200"/>
            <a:ext cx="4324350" cy="2133600"/>
            <a:chOff x="1572" y="1728"/>
            <a:chExt cx="2724" cy="1344"/>
          </a:xfrm>
        </p:grpSpPr>
        <p:sp>
          <p:nvSpPr>
            <p:cNvPr id="27663" name="AutoShape 15"/>
            <p:cNvSpPr/>
            <p:nvPr/>
          </p:nvSpPr>
          <p:spPr>
            <a:xfrm flipV="1">
              <a:off x="1572" y="1728"/>
              <a:ext cx="2724" cy="1344"/>
            </a:xfrm>
            <a:prstGeom prst="parallelogram">
              <a:avLst>
                <a:gd name="adj" fmla="val 48952"/>
              </a:avLst>
            </a:prstGeom>
            <a:solidFill>
              <a:srgbClr val="993366">
                <a:alpha val="50195"/>
              </a:srgb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27664" name="Group 16"/>
            <p:cNvGrpSpPr/>
            <p:nvPr/>
          </p:nvGrpSpPr>
          <p:grpSpPr>
            <a:xfrm>
              <a:off x="2784" y="1728"/>
              <a:ext cx="960" cy="330"/>
              <a:chOff x="0" y="3216"/>
              <a:chExt cx="960" cy="330"/>
            </a:xfrm>
          </p:grpSpPr>
          <p:sp>
            <p:nvSpPr>
              <p:cNvPr id="27665" name="Text Box 17"/>
              <p:cNvSpPr txBox="1"/>
              <p:nvPr/>
            </p:nvSpPr>
            <p:spPr>
              <a:xfrm>
                <a:off x="0" y="3216"/>
                <a:ext cx="960" cy="3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b="1" dirty="0">
                    <a:latin typeface="Times New Roman" panose="02020603050405020304" pitchFamily="18" charset="0"/>
                    <a:ea typeface="楷体_GB2312" pitchFamily="49" charset="-122"/>
                  </a:rPr>
                  <a:t>（</a:t>
                </a:r>
                <a:r>
                  <a:rPr lang="en-US" altLang="zh-CN" sz="2800" b="1" dirty="0">
                    <a:latin typeface="Times New Roman" panose="02020603050405020304" pitchFamily="18" charset="0"/>
                    <a:ea typeface="楷体_GB2312" pitchFamily="49" charset="-122"/>
                  </a:rPr>
                  <a:t>101</a:t>
                </a:r>
                <a:r>
                  <a:rPr lang="zh-CN" altLang="en-US" sz="2800" b="1" dirty="0">
                    <a:latin typeface="Times New Roman" panose="02020603050405020304" pitchFamily="18" charset="0"/>
                    <a:ea typeface="楷体_GB2312" pitchFamily="49" charset="-122"/>
                  </a:rPr>
                  <a:t>）</a:t>
                </a:r>
                <a:endParaRPr lang="zh-CN" altLang="en-US" sz="28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7666" name="Line 18"/>
              <p:cNvSpPr/>
              <p:nvPr/>
            </p:nvSpPr>
            <p:spPr>
              <a:xfrm>
                <a:off x="528" y="3276"/>
                <a:ext cx="9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8" name="Group 19"/>
          <p:cNvGrpSpPr/>
          <p:nvPr/>
        </p:nvGrpSpPr>
        <p:grpSpPr>
          <a:xfrm>
            <a:off x="2409825" y="2819400"/>
            <a:ext cx="4591050" cy="1841500"/>
            <a:chOff x="1518" y="1776"/>
            <a:chExt cx="2892" cy="1160"/>
          </a:xfrm>
        </p:grpSpPr>
        <p:sp>
          <p:nvSpPr>
            <p:cNvPr id="27668" name="AutoShape 20"/>
            <p:cNvSpPr/>
            <p:nvPr/>
          </p:nvSpPr>
          <p:spPr>
            <a:xfrm rot="-2720513">
              <a:off x="2458" y="984"/>
              <a:ext cx="1012" cy="2892"/>
            </a:xfrm>
            <a:prstGeom prst="parallelogram">
              <a:avLst>
                <a:gd name="adj" fmla="val 3236"/>
              </a:avLst>
            </a:prstGeom>
            <a:solidFill>
              <a:srgbClr val="FF00FF">
                <a:alpha val="50195"/>
              </a:srgb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69" name="Text Box 21"/>
            <p:cNvSpPr txBox="1"/>
            <p:nvPr/>
          </p:nvSpPr>
          <p:spPr>
            <a:xfrm>
              <a:off x="1740" y="1776"/>
              <a:ext cx="864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（</a:t>
              </a:r>
              <a:r>
                <a:rPr lang="en-US" altLang="zh-CN" sz="24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011</a:t>
              </a:r>
              <a:r>
                <a:rPr lang="zh-CN" altLang="en-US" sz="24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）</a:t>
              </a:r>
              <a:endParaRPr lang="zh-CN" altLang="en-US" sz="2400" b="1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9" name="Group 22"/>
          <p:cNvGrpSpPr/>
          <p:nvPr/>
        </p:nvGrpSpPr>
        <p:grpSpPr>
          <a:xfrm>
            <a:off x="381000" y="728663"/>
            <a:ext cx="4364038" cy="6083300"/>
            <a:chOff x="240" y="459"/>
            <a:chExt cx="2749" cy="3832"/>
          </a:xfrm>
        </p:grpSpPr>
        <p:sp>
          <p:nvSpPr>
            <p:cNvPr id="27671" name="AutoShape 23"/>
            <p:cNvSpPr/>
            <p:nvPr/>
          </p:nvSpPr>
          <p:spPr>
            <a:xfrm rot="8093231" flipV="1">
              <a:off x="1047" y="2349"/>
              <a:ext cx="3832" cy="47"/>
            </a:xfrm>
            <a:prstGeom prst="parallelogram">
              <a:avLst>
                <a:gd name="adj" fmla="val 5476580"/>
              </a:avLst>
            </a:prstGeom>
            <a:solidFill>
              <a:srgbClr val="FFFF99">
                <a:alpha val="50195"/>
              </a:srgb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72" name="Freeform 24"/>
            <p:cNvSpPr/>
            <p:nvPr/>
          </p:nvSpPr>
          <p:spPr>
            <a:xfrm>
              <a:off x="972" y="2196"/>
              <a:ext cx="1800" cy="360"/>
            </a:xfrm>
            <a:custGeom>
              <a:avLst/>
              <a:gdLst/>
              <a:ahLst/>
              <a:cxnLst>
                <a:cxn ang="0">
                  <a:pos x="0" y="192"/>
                </a:cxn>
                <a:cxn ang="0">
                  <a:pos x="192" y="108"/>
                </a:cxn>
                <a:cxn ang="0">
                  <a:pos x="288" y="84"/>
                </a:cxn>
                <a:cxn ang="0">
                  <a:pos x="372" y="48"/>
                </a:cxn>
                <a:cxn ang="0">
                  <a:pos x="564" y="0"/>
                </a:cxn>
                <a:cxn ang="0">
                  <a:pos x="708" y="24"/>
                </a:cxn>
                <a:cxn ang="0">
                  <a:pos x="768" y="60"/>
                </a:cxn>
                <a:cxn ang="0">
                  <a:pos x="816" y="84"/>
                </a:cxn>
                <a:cxn ang="0">
                  <a:pos x="1008" y="144"/>
                </a:cxn>
                <a:cxn ang="0">
                  <a:pos x="1152" y="216"/>
                </a:cxn>
                <a:cxn ang="0">
                  <a:pos x="1284" y="252"/>
                </a:cxn>
                <a:cxn ang="0">
                  <a:pos x="1380" y="276"/>
                </a:cxn>
                <a:cxn ang="0">
                  <a:pos x="1428" y="288"/>
                </a:cxn>
                <a:cxn ang="0">
                  <a:pos x="1800" y="360"/>
                </a:cxn>
              </a:cxnLst>
              <a:rect l="0" t="0" r="0" b="0"/>
              <a:pathLst>
                <a:path w="1800" h="360">
                  <a:moveTo>
                    <a:pt x="0" y="192"/>
                  </a:moveTo>
                  <a:cubicBezTo>
                    <a:pt x="67" y="170"/>
                    <a:pt x="125" y="128"/>
                    <a:pt x="192" y="108"/>
                  </a:cubicBezTo>
                  <a:cubicBezTo>
                    <a:pt x="255" y="89"/>
                    <a:pt x="239" y="105"/>
                    <a:pt x="288" y="84"/>
                  </a:cubicBezTo>
                  <a:cubicBezTo>
                    <a:pt x="336" y="63"/>
                    <a:pt x="327" y="59"/>
                    <a:pt x="372" y="48"/>
                  </a:cubicBezTo>
                  <a:cubicBezTo>
                    <a:pt x="436" y="32"/>
                    <a:pt x="501" y="21"/>
                    <a:pt x="564" y="0"/>
                  </a:cubicBezTo>
                  <a:cubicBezTo>
                    <a:pt x="582" y="2"/>
                    <a:pt x="677" y="10"/>
                    <a:pt x="708" y="24"/>
                  </a:cubicBezTo>
                  <a:cubicBezTo>
                    <a:pt x="729" y="33"/>
                    <a:pt x="748" y="49"/>
                    <a:pt x="768" y="60"/>
                  </a:cubicBezTo>
                  <a:cubicBezTo>
                    <a:pt x="784" y="69"/>
                    <a:pt x="800" y="77"/>
                    <a:pt x="816" y="84"/>
                  </a:cubicBezTo>
                  <a:cubicBezTo>
                    <a:pt x="879" y="111"/>
                    <a:pt x="945" y="120"/>
                    <a:pt x="1008" y="144"/>
                  </a:cubicBezTo>
                  <a:cubicBezTo>
                    <a:pt x="1060" y="163"/>
                    <a:pt x="1103" y="194"/>
                    <a:pt x="1152" y="216"/>
                  </a:cubicBezTo>
                  <a:cubicBezTo>
                    <a:pt x="1211" y="242"/>
                    <a:pt x="1225" y="238"/>
                    <a:pt x="1284" y="252"/>
                  </a:cubicBezTo>
                  <a:cubicBezTo>
                    <a:pt x="1316" y="259"/>
                    <a:pt x="1348" y="268"/>
                    <a:pt x="1380" y="276"/>
                  </a:cubicBezTo>
                  <a:cubicBezTo>
                    <a:pt x="1396" y="280"/>
                    <a:pt x="1428" y="288"/>
                    <a:pt x="1428" y="288"/>
                  </a:cubicBezTo>
                  <a:cubicBezTo>
                    <a:pt x="1547" y="277"/>
                    <a:pt x="1706" y="266"/>
                    <a:pt x="1800" y="36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7673" name="Group 25"/>
            <p:cNvGrpSpPr/>
            <p:nvPr/>
          </p:nvGrpSpPr>
          <p:grpSpPr>
            <a:xfrm>
              <a:off x="240" y="2208"/>
              <a:ext cx="960" cy="330"/>
              <a:chOff x="240" y="2208"/>
              <a:chExt cx="960" cy="330"/>
            </a:xfrm>
          </p:grpSpPr>
          <p:sp>
            <p:nvSpPr>
              <p:cNvPr id="27674" name="Text Box 26"/>
              <p:cNvSpPr txBox="1"/>
              <p:nvPr/>
            </p:nvSpPr>
            <p:spPr>
              <a:xfrm>
                <a:off x="240" y="2208"/>
                <a:ext cx="960" cy="3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b="1" dirty="0">
                    <a:latin typeface="Times New Roman" panose="02020603050405020304" pitchFamily="18" charset="0"/>
                    <a:ea typeface="楷体_GB2312" pitchFamily="49" charset="-122"/>
                  </a:rPr>
                  <a:t>（</a:t>
                </a:r>
                <a:r>
                  <a:rPr lang="en-US" altLang="zh-CN" sz="2800" b="1" dirty="0">
                    <a:latin typeface="Times New Roman" panose="02020603050405020304" pitchFamily="18" charset="0"/>
                    <a:ea typeface="楷体_GB2312" pitchFamily="49" charset="-122"/>
                  </a:rPr>
                  <a:t>011</a:t>
                </a:r>
                <a:r>
                  <a:rPr lang="zh-CN" altLang="en-US" sz="2800" b="1" dirty="0">
                    <a:latin typeface="Times New Roman" panose="02020603050405020304" pitchFamily="18" charset="0"/>
                    <a:ea typeface="楷体_GB2312" pitchFamily="49" charset="-122"/>
                  </a:rPr>
                  <a:t>）</a:t>
                </a:r>
                <a:endParaRPr lang="zh-CN" altLang="en-US" sz="28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7675" name="Line 27"/>
              <p:cNvSpPr/>
              <p:nvPr/>
            </p:nvSpPr>
            <p:spPr>
              <a:xfrm>
                <a:off x="648" y="2280"/>
                <a:ext cx="9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1" name="Group 28"/>
          <p:cNvGrpSpPr/>
          <p:nvPr/>
        </p:nvGrpSpPr>
        <p:grpSpPr>
          <a:xfrm>
            <a:off x="1763713" y="981075"/>
            <a:ext cx="6477000" cy="5476875"/>
            <a:chOff x="1104" y="624"/>
            <a:chExt cx="4080" cy="3450"/>
          </a:xfrm>
        </p:grpSpPr>
        <p:grpSp>
          <p:nvGrpSpPr>
            <p:cNvPr id="27677" name="Group 29"/>
            <p:cNvGrpSpPr/>
            <p:nvPr/>
          </p:nvGrpSpPr>
          <p:grpSpPr>
            <a:xfrm>
              <a:off x="1344" y="720"/>
              <a:ext cx="3552" cy="3312"/>
              <a:chOff x="1344" y="720"/>
              <a:chExt cx="3552" cy="3312"/>
            </a:xfrm>
          </p:grpSpPr>
          <p:sp>
            <p:nvSpPr>
              <p:cNvPr id="27678" name="AutoShape 30"/>
              <p:cNvSpPr>
                <a:spLocks noChangeAspect="1"/>
              </p:cNvSpPr>
              <p:nvPr/>
            </p:nvSpPr>
            <p:spPr>
              <a:xfrm>
                <a:off x="1584" y="1056"/>
                <a:ext cx="2736" cy="2736"/>
              </a:xfrm>
              <a:prstGeom prst="cube">
                <a:avLst>
                  <a:gd name="adj" fmla="val 25000"/>
                </a:avLst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679" name="Line 31"/>
              <p:cNvSpPr/>
              <p:nvPr/>
            </p:nvSpPr>
            <p:spPr>
              <a:xfrm flipH="1">
                <a:off x="2256" y="720"/>
                <a:ext cx="0" cy="2352"/>
              </a:xfrm>
              <a:prstGeom prst="line">
                <a:avLst/>
              </a:prstGeom>
              <a:ln w="38100" cap="flat" cmpd="sng">
                <a:solidFill>
                  <a:srgbClr val="FFFF00"/>
                </a:solidFill>
                <a:prstDash val="lgDash"/>
                <a:round/>
                <a:headEnd type="triangl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80" name="Line 32"/>
              <p:cNvSpPr/>
              <p:nvPr/>
            </p:nvSpPr>
            <p:spPr>
              <a:xfrm flipH="1">
                <a:off x="2256" y="3072"/>
                <a:ext cx="2640" cy="0"/>
              </a:xfrm>
              <a:prstGeom prst="line">
                <a:avLst/>
              </a:prstGeom>
              <a:ln w="38100" cap="flat" cmpd="sng">
                <a:solidFill>
                  <a:srgbClr val="FFFF00"/>
                </a:solidFill>
                <a:prstDash val="lgDash"/>
                <a:round/>
                <a:headEnd type="triangl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81" name="Line 33"/>
              <p:cNvSpPr/>
              <p:nvPr/>
            </p:nvSpPr>
            <p:spPr>
              <a:xfrm flipH="1">
                <a:off x="1344" y="3072"/>
                <a:ext cx="912" cy="960"/>
              </a:xfrm>
              <a:prstGeom prst="line">
                <a:avLst/>
              </a:prstGeom>
              <a:ln w="38100" cap="flat" cmpd="sng">
                <a:solidFill>
                  <a:srgbClr val="FFFF00"/>
                </a:solidFill>
                <a:prstDash val="lgDash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7682" name="Text Box 34"/>
            <p:cNvSpPr txBox="1"/>
            <p:nvPr/>
          </p:nvSpPr>
          <p:spPr>
            <a:xfrm>
              <a:off x="1104" y="3744"/>
              <a:ext cx="288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endParaRPr lang="en-US" altLang="zh-CN" sz="2800" b="1" i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7683" name="Text Box 35"/>
            <p:cNvSpPr txBox="1"/>
            <p:nvPr/>
          </p:nvSpPr>
          <p:spPr>
            <a:xfrm>
              <a:off x="2304" y="624"/>
              <a:ext cx="288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Z</a:t>
              </a:r>
              <a:endParaRPr lang="en-US" altLang="zh-CN" sz="2800" b="1" i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7684" name="Text Box 36"/>
            <p:cNvSpPr txBox="1"/>
            <p:nvPr/>
          </p:nvSpPr>
          <p:spPr>
            <a:xfrm>
              <a:off x="4896" y="2928"/>
              <a:ext cx="288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  <a:endParaRPr lang="en-US" altLang="zh-CN" sz="2800" b="1" i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27686" name="日期占位符 1"/>
          <p:cNvSpPr>
            <a:spLocks noGrp="1"/>
          </p:cNvSpPr>
          <p:nvPr>
            <p:ph type="dt" sz="half" idx="10"/>
          </p:nvPr>
        </p:nvSpPr>
        <p:spPr>
          <a:xfrm>
            <a:off x="152400" y="6507163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40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03590" y="6617970"/>
            <a:ext cx="543560" cy="233680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8674" name="Rectangle 2"/>
          <p:cNvSpPr>
            <a:spLocks noGrp="1"/>
          </p:cNvSpPr>
          <p:nvPr>
            <p:ph type="title"/>
          </p:nvPr>
        </p:nvSpPr>
        <p:spPr>
          <a:xfrm>
            <a:off x="857250" y="0"/>
            <a:ext cx="8534400" cy="1143000"/>
          </a:xfrm>
        </p:spPr>
        <p:txBody>
          <a:bodyPr wrap="square" lIns="91440" tIns="45720" rIns="91440" bIns="45720" anchor="b"/>
          <a:lstStyle/>
          <a:p>
            <a:pPr eaLnBrk="1" hangingPunct="1"/>
            <a:r>
              <a:rPr lang="zh-CN" altLang="en-US" b="1" dirty="0">
                <a:solidFill>
                  <a:schemeClr val="hlink"/>
                </a:solidFill>
                <a:latin typeface="宋体" panose="02010600030101010101" pitchFamily="2" charset="-122"/>
              </a:rPr>
              <a:t>立方晶系</a:t>
            </a:r>
            <a:r>
              <a:rPr lang="zh-CN" altLang="en-US" b="1" dirty="0">
                <a:solidFill>
                  <a:schemeClr val="folHlink"/>
                </a:solidFill>
                <a:latin typeface="宋体" panose="02010600030101010101" pitchFamily="2" charset="-122"/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晶向指数</a:t>
            </a:r>
            <a:r>
              <a:rPr lang="zh-CN" altLang="en-US" b="1" dirty="0">
                <a:solidFill>
                  <a:schemeClr val="folHlink"/>
                </a:solidFill>
                <a:latin typeface="宋体" panose="02010600030101010101" pitchFamily="2" charset="-122"/>
              </a:rPr>
              <a:t>的确定方法</a:t>
            </a:r>
            <a:endParaRPr lang="zh-CN" altLang="en-US" b="1" dirty="0">
              <a:solidFill>
                <a:schemeClr val="folHlink"/>
              </a:solidFill>
              <a:latin typeface="宋体" panose="02010600030101010101" pitchFamily="2" charset="-122"/>
            </a:endParaRPr>
          </a:p>
        </p:txBody>
      </p:sp>
      <p:sp>
        <p:nvSpPr>
          <p:cNvPr id="175107" name="Rectangle 3"/>
          <p:cNvSpPr>
            <a:spLocks noGrp="1" noChangeArrowheads="1"/>
          </p:cNvSpPr>
          <p:nvPr>
            <p:ph idx="1"/>
          </p:nvPr>
        </p:nvSpPr>
        <p:spPr>
          <a:xfrm>
            <a:off x="285750" y="2071688"/>
            <a:ext cx="8569325" cy="43243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1)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选定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任一结点为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坐标原点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，以晶格的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三条棱边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为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坐标轴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；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2)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过坐标原点作一平行于欲求晶向的直线；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3)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求出该直线上任一结点的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</a:rPr>
              <a:t>空间坐标值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；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4)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将空间坐标的三个值按比例化为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</a:rPr>
              <a:t>最小整数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并记在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</a:rPr>
              <a:t>方括号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内。如指数为负值，则在相应指数上加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</a:rPr>
              <a:t>“</a:t>
            </a:r>
            <a:r>
              <a:rPr lang="en-US" altLang="zh-CN" b="1" dirty="0">
                <a:solidFill>
                  <a:srgbClr val="0000FF"/>
                </a:solidFill>
                <a:latin typeface="宋体" panose="02010600030101010101" pitchFamily="2" charset="-122"/>
              </a:rPr>
              <a:t>-”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号，即得晶向指数</a:t>
            </a:r>
            <a:r>
              <a:rPr lang="en-US" altLang="zh-CN" b="1" dirty="0">
                <a:solidFill>
                  <a:srgbClr val="0000FF"/>
                </a:solidFill>
                <a:latin typeface="宋体" panose="02010600030101010101" pitchFamily="2" charset="-122"/>
              </a:rPr>
              <a:t>[</a:t>
            </a:r>
            <a:r>
              <a:rPr lang="en-US" altLang="zh-CN" b="1" dirty="0" err="1">
                <a:solidFill>
                  <a:srgbClr val="0000FF"/>
                </a:solidFill>
                <a:latin typeface="宋体" panose="02010600030101010101" pitchFamily="2" charset="-122"/>
              </a:rPr>
              <a:t>uvw</a:t>
            </a:r>
            <a:r>
              <a:rPr lang="en-US" altLang="zh-CN" b="1" dirty="0">
                <a:solidFill>
                  <a:srgbClr val="0000FF"/>
                </a:solidFill>
                <a:latin typeface="宋体" panose="02010600030101010101" pitchFamily="2" charset="-122"/>
              </a:rPr>
              <a:t>]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。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</p:txBody>
      </p:sp>
      <p:sp>
        <p:nvSpPr>
          <p:cNvPr id="28677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41770"/>
            <a:ext cx="1905000" cy="30988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77250" y="6519863"/>
            <a:ext cx="495300" cy="330200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76131" name="Rectangle 3"/>
          <p:cNvSpPr/>
          <p:nvPr/>
        </p:nvSpPr>
        <p:spPr>
          <a:xfrm>
            <a:off x="380999" y="1988840"/>
            <a:ext cx="5847183" cy="4248447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例一、</a:t>
            </a:r>
            <a:r>
              <a:rPr lang="zh-CN" altLang="en-US" sz="2800" b="1" dirty="0">
                <a:ea typeface="华文中宋" panose="02010600040101010101" pitchFamily="2" charset="-122"/>
              </a:rPr>
              <a:t>已知某过原点晶向上一点的坐标为</a:t>
            </a:r>
            <a:r>
              <a:rPr lang="en-US" altLang="zh-CN" sz="2800" b="1" dirty="0">
                <a:ea typeface="华文中宋" panose="02010600040101010101" pitchFamily="2" charset="-122"/>
              </a:rPr>
              <a:t>1</a:t>
            </a:r>
            <a:r>
              <a:rPr lang="zh-CN" altLang="en-US" sz="2800" b="1" dirty="0"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ea typeface="华文中宋" panose="02010600040101010101" pitchFamily="2" charset="-122"/>
              </a:rPr>
              <a:t>1.5</a:t>
            </a:r>
            <a:r>
              <a:rPr lang="zh-CN" altLang="en-US" sz="2800" b="1" dirty="0"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ea typeface="华文中宋" panose="02010600040101010101" pitchFamily="2" charset="-122"/>
              </a:rPr>
              <a:t>2</a:t>
            </a:r>
            <a:r>
              <a:rPr lang="zh-CN" altLang="en-US" sz="2800" b="1" dirty="0">
                <a:ea typeface="华文中宋" panose="02010600040101010101" pitchFamily="2" charset="-122"/>
              </a:rPr>
              <a:t>，求该直线的晶向指数。</a:t>
            </a:r>
            <a:endParaRPr lang="en-US" altLang="zh-CN" sz="2800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解：将三坐标值化为最小整数加方括弧得</a:t>
            </a:r>
            <a:r>
              <a:rPr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[234].</a:t>
            </a:r>
            <a:endParaRPr lang="en-US" altLang="zh-CN" sz="2800" b="1" dirty="0">
              <a:solidFill>
                <a:srgbClr val="0033CC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例二、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已知晶向指数为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[110], 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画出该晶向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.</a:t>
            </a:r>
            <a:endParaRPr lang="en-US" altLang="zh-CN" sz="2800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解：找出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0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坐标点，连接原点与该点的直线即所求晶向。</a:t>
            </a:r>
            <a:endParaRPr lang="zh-CN" altLang="en-US" sz="2800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6228184" y="1991108"/>
            <a:ext cx="2813381" cy="3238904"/>
            <a:chOff x="2928" y="1229"/>
            <a:chExt cx="2362" cy="2614"/>
          </a:xfrm>
        </p:grpSpPr>
        <p:grpSp>
          <p:nvGrpSpPr>
            <p:cNvPr id="29701" name="Group 5"/>
            <p:cNvGrpSpPr/>
            <p:nvPr/>
          </p:nvGrpSpPr>
          <p:grpSpPr>
            <a:xfrm>
              <a:off x="2928" y="1229"/>
              <a:ext cx="2362" cy="2614"/>
              <a:chOff x="2832" y="1361"/>
              <a:chExt cx="2362" cy="2614"/>
            </a:xfrm>
          </p:grpSpPr>
          <p:pic>
            <p:nvPicPr>
              <p:cNvPr id="29702" name="Picture 6" descr="立方体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2832" y="1536"/>
                <a:ext cx="2362" cy="2264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9703" name="Line 7"/>
              <p:cNvSpPr/>
              <p:nvPr/>
            </p:nvSpPr>
            <p:spPr>
              <a:xfrm>
                <a:off x="3216" y="1908"/>
                <a:ext cx="1344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04" name="Line 8"/>
              <p:cNvSpPr/>
              <p:nvPr/>
            </p:nvSpPr>
            <p:spPr>
              <a:xfrm flipH="1">
                <a:off x="4128" y="1716"/>
                <a:ext cx="528" cy="384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05" name="Line 9"/>
              <p:cNvSpPr/>
              <p:nvPr/>
            </p:nvSpPr>
            <p:spPr>
              <a:xfrm flipV="1">
                <a:off x="3456" y="1536"/>
                <a:ext cx="1200" cy="1632"/>
              </a:xfrm>
              <a:prstGeom prst="line">
                <a:avLst/>
              </a:prstGeom>
              <a:ln w="38100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06" name="Line 10"/>
              <p:cNvSpPr/>
              <p:nvPr/>
            </p:nvSpPr>
            <p:spPr>
              <a:xfrm>
                <a:off x="3456" y="3168"/>
                <a:ext cx="1440" cy="528"/>
              </a:xfrm>
              <a:prstGeom prst="line">
                <a:avLst/>
              </a:prstGeom>
              <a:ln w="38100" cap="flat" cmpd="sng">
                <a:solidFill>
                  <a:srgbClr val="000080"/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07" name="Text Box 11"/>
              <p:cNvSpPr txBox="1"/>
              <p:nvPr/>
            </p:nvSpPr>
            <p:spPr>
              <a:xfrm>
                <a:off x="4187" y="3652"/>
                <a:ext cx="624" cy="32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rgbClr val="000099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[110]</a:t>
                </a:r>
                <a:endParaRPr lang="en-US" altLang="zh-CN" sz="2000" b="1" dirty="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9708" name="Text Box 12"/>
              <p:cNvSpPr txBox="1"/>
              <p:nvPr/>
            </p:nvSpPr>
            <p:spPr>
              <a:xfrm>
                <a:off x="3979" y="1361"/>
                <a:ext cx="562" cy="32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hlink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[234]</a:t>
                </a:r>
                <a:endParaRPr lang="en-US" altLang="zh-CN" sz="2000" b="1" dirty="0">
                  <a:solidFill>
                    <a:schemeClr val="hlink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sp>
          <p:nvSpPr>
            <p:cNvPr id="29709" name="Line 13"/>
            <p:cNvSpPr/>
            <p:nvPr/>
          </p:nvSpPr>
          <p:spPr>
            <a:xfrm>
              <a:off x="4308" y="1980"/>
              <a:ext cx="96" cy="0"/>
            </a:xfrm>
            <a:prstGeom prst="line">
              <a:avLst/>
            </a:prstGeom>
            <a:ln w="57150" cap="flat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9711" name="日期占位符 1"/>
          <p:cNvSpPr>
            <a:spLocks noGrp="1"/>
          </p:cNvSpPr>
          <p:nvPr>
            <p:ph type="dt" sz="half" idx="10"/>
          </p:nvPr>
        </p:nvSpPr>
        <p:spPr>
          <a:xfrm>
            <a:off x="79375" y="6513513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7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2"/>
          <p:cNvSpPr>
            <a:spLocks noGrp="1"/>
          </p:cNvSpPr>
          <p:nvPr>
            <p:ph type="title"/>
          </p:nvPr>
        </p:nvSpPr>
        <p:spPr>
          <a:xfrm>
            <a:off x="857250" y="0"/>
            <a:ext cx="8534400" cy="1143000"/>
          </a:xfrm>
        </p:spPr>
        <p:txBody>
          <a:bodyPr wrap="square" lIns="91440" tIns="45720" rIns="91440" bIns="45720" anchor="b"/>
          <a:lstStyle/>
          <a:p>
            <a:pPr eaLnBrk="1" hangingPunct="1"/>
            <a:r>
              <a:rPr lang="zh-CN" altLang="en-US" b="1" dirty="0">
                <a:solidFill>
                  <a:schemeClr val="hlink"/>
                </a:solidFill>
                <a:latin typeface="宋体" panose="02010600030101010101" pitchFamily="2" charset="-122"/>
              </a:rPr>
              <a:t>立方晶系</a:t>
            </a:r>
            <a:r>
              <a:rPr lang="zh-CN" altLang="en-US" b="1" dirty="0">
                <a:solidFill>
                  <a:schemeClr val="folHlink"/>
                </a:solidFill>
                <a:latin typeface="宋体" panose="02010600030101010101" pitchFamily="2" charset="-122"/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晶向指数</a:t>
            </a:r>
            <a:r>
              <a:rPr lang="zh-CN" altLang="en-US" b="1" dirty="0">
                <a:solidFill>
                  <a:schemeClr val="folHlink"/>
                </a:solidFill>
                <a:latin typeface="宋体" panose="02010600030101010101" pitchFamily="2" charset="-122"/>
              </a:rPr>
              <a:t>的确定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示例</a:t>
            </a:r>
            <a:endParaRPr lang="zh-CN" altLang="en-US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6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56613" y="6477000"/>
            <a:ext cx="490537" cy="361950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78178" name="Rectangle 2"/>
          <p:cNvSpPr>
            <a:spLocks noGrp="1"/>
          </p:cNvSpPr>
          <p:nvPr>
            <p:ph type="title"/>
          </p:nvPr>
        </p:nvSpPr>
        <p:spPr>
          <a:xfrm>
            <a:off x="4214813" y="333375"/>
            <a:ext cx="4241800" cy="685800"/>
          </a:xfrm>
        </p:spPr>
        <p:txBody>
          <a:bodyPr wrap="square" lIns="91440" tIns="45720" rIns="91440" bIns="45720" anchor="b"/>
          <a:lstStyle/>
          <a:p>
            <a:pPr eaLnBrk="1" hangingPunct="1"/>
            <a:r>
              <a:rPr lang="en-US" altLang="zh-CN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&lt;111&gt;</a:t>
            </a:r>
            <a:endParaRPr lang="en-US" altLang="zh-CN" b="1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8179" name="Line 3"/>
          <p:cNvSpPr/>
          <p:nvPr/>
        </p:nvSpPr>
        <p:spPr>
          <a:xfrm flipH="1" flipV="1">
            <a:off x="3657600" y="1524000"/>
            <a:ext cx="1981200" cy="4724400"/>
          </a:xfrm>
          <a:prstGeom prst="line">
            <a:avLst/>
          </a:prstGeom>
          <a:ln w="38100" cap="flat" cmpd="sng">
            <a:solidFill>
              <a:schemeClr val="folHlink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8180" name="Line 4"/>
          <p:cNvSpPr/>
          <p:nvPr/>
        </p:nvSpPr>
        <p:spPr>
          <a:xfrm flipH="1" flipV="1">
            <a:off x="1752600" y="2514600"/>
            <a:ext cx="5638800" cy="2971800"/>
          </a:xfrm>
          <a:prstGeom prst="line">
            <a:avLst/>
          </a:prstGeom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8181" name="Text Box 5"/>
          <p:cNvSpPr txBox="1"/>
          <p:nvPr/>
        </p:nvSpPr>
        <p:spPr>
          <a:xfrm>
            <a:off x="5638800" y="1371600"/>
            <a:ext cx="990600" cy="523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[111]</a:t>
            </a:r>
            <a:endParaRPr lang="en-US" altLang="zh-CN" sz="2800" b="1" dirty="0">
              <a:solidFill>
                <a:schemeClr val="hlink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78182" name="Line 6"/>
          <p:cNvSpPr/>
          <p:nvPr/>
        </p:nvSpPr>
        <p:spPr>
          <a:xfrm flipV="1">
            <a:off x="2057400" y="1600200"/>
            <a:ext cx="5715000" cy="4648200"/>
          </a:xfrm>
          <a:prstGeom prst="line">
            <a:avLst/>
          </a:prstGeom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7"/>
          <p:cNvGrpSpPr/>
          <p:nvPr/>
        </p:nvGrpSpPr>
        <p:grpSpPr>
          <a:xfrm>
            <a:off x="7696200" y="1143000"/>
            <a:ext cx="990600" cy="523875"/>
            <a:chOff x="240" y="864"/>
            <a:chExt cx="624" cy="330"/>
          </a:xfrm>
        </p:grpSpPr>
        <p:sp>
          <p:nvSpPr>
            <p:cNvPr id="31752" name="Text Box 8"/>
            <p:cNvSpPr txBox="1"/>
            <p:nvPr/>
          </p:nvSpPr>
          <p:spPr>
            <a:xfrm>
              <a:off x="240" y="864"/>
              <a:ext cx="624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[111]</a:t>
              </a:r>
              <a:endPara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1753" name="Line 9"/>
            <p:cNvSpPr/>
            <p:nvPr/>
          </p:nvSpPr>
          <p:spPr>
            <a:xfrm>
              <a:off x="372" y="936"/>
              <a:ext cx="96" cy="0"/>
            </a:xfrm>
            <a:prstGeom prst="line">
              <a:avLst/>
            </a:prstGeom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10"/>
          <p:cNvGrpSpPr/>
          <p:nvPr/>
        </p:nvGrpSpPr>
        <p:grpSpPr>
          <a:xfrm>
            <a:off x="914400" y="2514600"/>
            <a:ext cx="990600" cy="523875"/>
            <a:chOff x="576" y="1584"/>
            <a:chExt cx="624" cy="330"/>
          </a:xfrm>
        </p:grpSpPr>
        <p:sp>
          <p:nvSpPr>
            <p:cNvPr id="31755" name="Text Box 11"/>
            <p:cNvSpPr txBox="1"/>
            <p:nvPr/>
          </p:nvSpPr>
          <p:spPr>
            <a:xfrm>
              <a:off x="576" y="1584"/>
              <a:ext cx="624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00FF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[111]</a:t>
              </a:r>
              <a:endParaRPr lang="en-US" altLang="zh-CN" sz="2800" b="1" dirty="0">
                <a:solidFill>
                  <a:srgbClr val="00FF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1756" name="Line 12"/>
            <p:cNvSpPr/>
            <p:nvPr/>
          </p:nvSpPr>
          <p:spPr>
            <a:xfrm>
              <a:off x="828" y="1656"/>
              <a:ext cx="96" cy="0"/>
            </a:xfrm>
            <a:prstGeom prst="line">
              <a:avLst/>
            </a:prstGeom>
            <a:ln w="2857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13"/>
          <p:cNvGrpSpPr/>
          <p:nvPr/>
        </p:nvGrpSpPr>
        <p:grpSpPr>
          <a:xfrm>
            <a:off x="2590800" y="1371600"/>
            <a:ext cx="990600" cy="523875"/>
            <a:chOff x="1632" y="864"/>
            <a:chExt cx="624" cy="330"/>
          </a:xfrm>
        </p:grpSpPr>
        <p:sp>
          <p:nvSpPr>
            <p:cNvPr id="31758" name="Text Box 14"/>
            <p:cNvSpPr txBox="1"/>
            <p:nvPr/>
          </p:nvSpPr>
          <p:spPr>
            <a:xfrm>
              <a:off x="1632" y="864"/>
              <a:ext cx="624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[111]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1759" name="Line 15"/>
            <p:cNvSpPr/>
            <p:nvPr/>
          </p:nvSpPr>
          <p:spPr>
            <a:xfrm>
              <a:off x="1884" y="936"/>
              <a:ext cx="96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0" name="Line 16"/>
            <p:cNvSpPr/>
            <p:nvPr/>
          </p:nvSpPr>
          <p:spPr>
            <a:xfrm>
              <a:off x="1764" y="936"/>
              <a:ext cx="96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17"/>
          <p:cNvGrpSpPr/>
          <p:nvPr/>
        </p:nvGrpSpPr>
        <p:grpSpPr>
          <a:xfrm>
            <a:off x="1219200" y="1143000"/>
            <a:ext cx="7086600" cy="5476875"/>
            <a:chOff x="768" y="720"/>
            <a:chExt cx="4464" cy="3450"/>
          </a:xfrm>
        </p:grpSpPr>
        <p:grpSp>
          <p:nvGrpSpPr>
            <p:cNvPr id="31762" name="Group 18"/>
            <p:cNvGrpSpPr/>
            <p:nvPr/>
          </p:nvGrpSpPr>
          <p:grpSpPr>
            <a:xfrm>
              <a:off x="1296" y="1200"/>
              <a:ext cx="3380" cy="2756"/>
              <a:chOff x="1776" y="1200"/>
              <a:chExt cx="3380" cy="2756"/>
            </a:xfrm>
          </p:grpSpPr>
          <p:sp>
            <p:nvSpPr>
              <p:cNvPr id="31763" name="Rectangle 19"/>
              <p:cNvSpPr>
                <a:spLocks noChangeAspect="1"/>
              </p:cNvSpPr>
              <p:nvPr/>
            </p:nvSpPr>
            <p:spPr>
              <a:xfrm>
                <a:off x="1776" y="1680"/>
                <a:ext cx="2276" cy="227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64" name="Rectangle 20"/>
              <p:cNvSpPr>
                <a:spLocks noChangeAspect="1"/>
              </p:cNvSpPr>
              <p:nvPr/>
            </p:nvSpPr>
            <p:spPr>
              <a:xfrm>
                <a:off x="2880" y="1200"/>
                <a:ext cx="2276" cy="227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65" name="Line 21"/>
              <p:cNvSpPr/>
              <p:nvPr/>
            </p:nvSpPr>
            <p:spPr>
              <a:xfrm flipH="1">
                <a:off x="1776" y="1200"/>
                <a:ext cx="1104" cy="48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66" name="Line 22"/>
              <p:cNvSpPr/>
              <p:nvPr/>
            </p:nvSpPr>
            <p:spPr>
              <a:xfrm flipH="1">
                <a:off x="4032" y="1200"/>
                <a:ext cx="1104" cy="48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67" name="Line 23"/>
              <p:cNvSpPr/>
              <p:nvPr/>
            </p:nvSpPr>
            <p:spPr>
              <a:xfrm flipH="1">
                <a:off x="1776" y="3456"/>
                <a:ext cx="1104" cy="48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68" name="Line 24"/>
              <p:cNvSpPr/>
              <p:nvPr/>
            </p:nvSpPr>
            <p:spPr>
              <a:xfrm flipH="1">
                <a:off x="4044" y="3468"/>
                <a:ext cx="1104" cy="48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1769" name="Line 25"/>
            <p:cNvSpPr/>
            <p:nvPr/>
          </p:nvSpPr>
          <p:spPr>
            <a:xfrm flipV="1">
              <a:off x="2400" y="768"/>
              <a:ext cx="0" cy="19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70" name="Line 26"/>
            <p:cNvSpPr/>
            <p:nvPr/>
          </p:nvSpPr>
          <p:spPr>
            <a:xfrm>
              <a:off x="4704" y="3480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71" name="Line 27"/>
            <p:cNvSpPr/>
            <p:nvPr/>
          </p:nvSpPr>
          <p:spPr>
            <a:xfrm flipH="1">
              <a:off x="1056" y="3984"/>
              <a:ext cx="192" cy="9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72" name="Text Box 28"/>
            <p:cNvSpPr txBox="1"/>
            <p:nvPr/>
          </p:nvSpPr>
          <p:spPr>
            <a:xfrm>
              <a:off x="768" y="3840"/>
              <a:ext cx="336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endParaRPr lang="en-US" altLang="zh-CN" sz="2800" b="1" i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1773" name="Text Box 29"/>
            <p:cNvSpPr txBox="1"/>
            <p:nvPr/>
          </p:nvSpPr>
          <p:spPr>
            <a:xfrm>
              <a:off x="2448" y="720"/>
              <a:ext cx="336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Z</a:t>
              </a:r>
              <a:endParaRPr lang="en-US" altLang="zh-CN" sz="2800" b="1" i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1774" name="Text Box 30"/>
            <p:cNvSpPr txBox="1"/>
            <p:nvPr/>
          </p:nvSpPr>
          <p:spPr>
            <a:xfrm>
              <a:off x="4896" y="3312"/>
              <a:ext cx="336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  <a:endParaRPr lang="en-US" altLang="zh-CN" sz="2800" b="1" i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178207" name="Line 31"/>
          <p:cNvSpPr/>
          <p:nvPr/>
        </p:nvSpPr>
        <p:spPr>
          <a:xfrm flipV="1">
            <a:off x="3810000" y="1981200"/>
            <a:ext cx="2286000" cy="3505200"/>
          </a:xfrm>
          <a:prstGeom prst="line">
            <a:avLst/>
          </a:prstGeom>
          <a:ln w="57150" cap="flat" cmpd="sng">
            <a:solidFill>
              <a:schemeClr val="hlink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777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496050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35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4" y="3175"/>
            <a:ext cx="918827" cy="9055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8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8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78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8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78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78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78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78" grpId="0"/>
      <p:bldP spid="17818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004175" y="6538913"/>
            <a:ext cx="539750" cy="319087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79202" name="Rectangle 2"/>
          <p:cNvSpPr>
            <a:spLocks noGrp="1"/>
          </p:cNvSpPr>
          <p:nvPr>
            <p:ph idx="1"/>
          </p:nvPr>
        </p:nvSpPr>
        <p:spPr>
          <a:xfrm>
            <a:off x="457200" y="1989138"/>
            <a:ext cx="3886200" cy="4259262"/>
          </a:xfrm>
        </p:spPr>
        <p:txBody>
          <a:bodyPr wrap="square" lIns="91440" tIns="45720" rIns="91440" bIns="45720" anchor="t"/>
          <a:lstStyle/>
          <a:p>
            <a:pPr eaLnBrk="1" hangingPunct="1"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Wingdings" panose="05000000000000000000" pitchFamily="2" charset="2"/>
              </a:rPr>
              <a:t>说明：</a:t>
            </a:r>
            <a:endParaRPr lang="zh-CN" altLang="en-US" sz="2800" b="1" dirty="0">
              <a:solidFill>
                <a:schemeClr val="tx2"/>
              </a:solidFill>
              <a:latin typeface="华文中宋" panose="02010600040101010101" pitchFamily="2" charset="-122"/>
              <a:ea typeface="华文中宋" panose="02010600040101010101" pitchFamily="2" charset="-122"/>
              <a:sym typeface="Wingdings" panose="05000000000000000000" pitchFamily="2" charset="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sz="2800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Wingdings" panose="05000000000000000000" pitchFamily="2" charset="2"/>
              </a:rPr>
              <a:t>①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Wingdings" panose="05000000000000000000" pitchFamily="2" charset="2"/>
              </a:rPr>
              <a:t> </a:t>
            </a:r>
            <a:r>
              <a:rPr lang="zh-CN" altLang="en-US" sz="2800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Wingdings" panose="05000000000000000000" pitchFamily="2" charset="2"/>
              </a:rPr>
              <a:t>在立方晶系中，指数相同的</a:t>
            </a:r>
            <a:r>
              <a:rPr lang="zh-CN" altLang="en-US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Wingdings" panose="05000000000000000000" pitchFamily="2" charset="2"/>
              </a:rPr>
              <a:t>晶面与晶向</a:t>
            </a:r>
            <a:r>
              <a:rPr lang="zh-CN" altLang="en-US" sz="2800" b="1" dirty="0">
                <a:solidFill>
                  <a:srgbClr val="0066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Wingdings" panose="05000000000000000000" pitchFamily="2" charset="2"/>
              </a:rPr>
              <a:t>相互垂直。</a:t>
            </a:r>
            <a:endParaRPr lang="zh-CN" altLang="en-US" sz="2800" b="1" dirty="0">
              <a:solidFill>
                <a:srgbClr val="0066FF"/>
              </a:solidFill>
              <a:latin typeface="华文中宋" panose="02010600040101010101" pitchFamily="2" charset="-122"/>
              <a:ea typeface="华文中宋" panose="02010600040101010101" pitchFamily="2" charset="-122"/>
              <a:sym typeface="Wingdings" panose="05000000000000000000" pitchFamily="2" charset="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sz="2800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Wingdings" panose="05000000000000000000" pitchFamily="2" charset="2"/>
              </a:rPr>
              <a:t>②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Wingdings" panose="05000000000000000000" pitchFamily="2" charset="2"/>
              </a:rPr>
              <a:t>遇到</a:t>
            </a:r>
            <a:r>
              <a:rPr lang="zh-CN" altLang="en-US" sz="2800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Wingdings" panose="05000000000000000000" pitchFamily="2" charset="2"/>
              </a:rPr>
              <a:t>负指数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Wingdings" panose="05000000000000000000" pitchFamily="2" charset="2"/>
              </a:rPr>
              <a:t>，</a:t>
            </a:r>
            <a:r>
              <a:rPr lang="zh-CN" altLang="en-US" sz="2800" b="1" dirty="0">
                <a:solidFill>
                  <a:schemeClr val="hlink"/>
                </a:solidFill>
                <a:latin typeface="Arial" panose="020B0604020202020204" pitchFamily="34" charset="0"/>
                <a:ea typeface="华文中宋" panose="02010600040101010101" pitchFamily="2" charset="-122"/>
                <a:sym typeface="Wingdings" panose="05000000000000000000" pitchFamily="2" charset="2"/>
              </a:rPr>
              <a:t>“</a:t>
            </a:r>
            <a:r>
              <a:rPr lang="en-US" altLang="zh-CN" sz="2800" b="1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Wingdings" panose="05000000000000000000" pitchFamily="2" charset="2"/>
              </a:rPr>
              <a:t>-</a:t>
            </a:r>
            <a:r>
              <a:rPr lang="en-US" altLang="zh-CN" sz="2800" b="1" dirty="0">
                <a:solidFill>
                  <a:schemeClr val="hlink"/>
                </a:solidFill>
                <a:latin typeface="Arial" panose="020B0604020202020204" pitchFamily="34" charset="0"/>
                <a:ea typeface="华文中宋" panose="02010600040101010101" pitchFamily="2" charset="-122"/>
                <a:sym typeface="Wingdings" panose="05000000000000000000" pitchFamily="2" charset="2"/>
              </a:rPr>
              <a:t>”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Wingdings" panose="05000000000000000000" pitchFamily="2" charset="2"/>
              </a:rPr>
              <a:t>号放在该指数的上方。</a:t>
            </a:r>
            <a:endParaRPr lang="zh-CN" altLang="en-US" sz="2800" b="1" dirty="0">
              <a:latin typeface="华文中宋" panose="02010600040101010101" pitchFamily="2" charset="-122"/>
              <a:ea typeface="华文中宋" panose="02010600040101010101" pitchFamily="2" charset="-122"/>
              <a:sym typeface="Wingdings" panose="05000000000000000000" pitchFamily="2" charset="2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4953000" y="4076700"/>
            <a:ext cx="4191000" cy="2203450"/>
            <a:chOff x="336" y="2592"/>
            <a:chExt cx="2640" cy="1388"/>
          </a:xfrm>
        </p:grpSpPr>
        <p:grpSp>
          <p:nvGrpSpPr>
            <p:cNvPr id="32772" name="Group 4"/>
            <p:cNvGrpSpPr/>
            <p:nvPr/>
          </p:nvGrpSpPr>
          <p:grpSpPr>
            <a:xfrm>
              <a:off x="1548" y="3000"/>
              <a:ext cx="432" cy="330"/>
              <a:chOff x="3612" y="2664"/>
              <a:chExt cx="432" cy="330"/>
            </a:xfrm>
          </p:grpSpPr>
          <p:sp>
            <p:nvSpPr>
              <p:cNvPr id="179205" name="Text Box 5"/>
              <p:cNvSpPr txBox="1">
                <a:spLocks noChangeArrowheads="1"/>
              </p:cNvSpPr>
              <p:nvPr/>
            </p:nvSpPr>
            <p:spPr bwMode="auto">
              <a:xfrm>
                <a:off x="3612" y="2664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92075" tIns="46038" rIns="92075" bIns="46038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noProof="1">
                    <a:effectLst>
                      <a:outerShdw blurRad="38100" dist="38100" dir="2700000">
                        <a:srgbClr val="C0C0C0"/>
                      </a:outerShdw>
                    </a:effectLst>
                    <a:latin typeface="Arial Unicode MS" panose="020B0604020202020204" pitchFamily="34" charset="-122"/>
                    <a:ea typeface="Arial Unicode MS" panose="020B0604020202020204" pitchFamily="34" charset="-122"/>
                    <a:cs typeface="+mn-ea"/>
                  </a:rPr>
                  <a:t>-</a:t>
                </a:r>
                <a:endParaRPr lang="en-US" altLang="zh-CN" sz="2800" b="1" noProof="1">
                  <a:effectLst>
                    <a:outerShdw blurRad="38100" dist="38100" dir="2700000">
                      <a:srgbClr val="C0C0C0"/>
                    </a:outerShdw>
                  </a:effectLst>
                  <a:latin typeface="Arial Unicode MS" panose="020B0604020202020204" pitchFamily="34" charset="-122"/>
                  <a:ea typeface="Arial Unicode MS" panose="020B0604020202020204" pitchFamily="34" charset="-122"/>
                </a:endParaRPr>
              </a:p>
            </p:txBody>
          </p:sp>
          <p:sp>
            <p:nvSpPr>
              <p:cNvPr id="179206" name="Text Box 6"/>
              <p:cNvSpPr txBox="1">
                <a:spLocks noChangeArrowheads="1"/>
              </p:cNvSpPr>
              <p:nvPr/>
            </p:nvSpPr>
            <p:spPr bwMode="auto">
              <a:xfrm>
                <a:off x="3756" y="2664"/>
                <a:ext cx="288" cy="33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92075" tIns="46038" rIns="92075" bIns="46038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noProof="1">
                    <a:effectLst>
                      <a:outerShdw blurRad="38100" dist="38100" dir="2700000">
                        <a:srgbClr val="C0C0C0"/>
                      </a:outerShdw>
                    </a:effectLst>
                    <a:latin typeface="Arial Unicode MS" panose="020B0604020202020204" pitchFamily="34" charset="-122"/>
                    <a:ea typeface="Arial Unicode MS" panose="020B0604020202020204" pitchFamily="34" charset="-122"/>
                    <a:cs typeface="+mn-ea"/>
                  </a:rPr>
                  <a:t>-</a:t>
                </a:r>
                <a:endParaRPr lang="en-US" altLang="zh-CN" sz="2800" b="1" noProof="1">
                  <a:effectLst>
                    <a:outerShdw blurRad="38100" dist="38100" dir="2700000">
                      <a:srgbClr val="C0C0C0"/>
                    </a:outerShdw>
                  </a:effectLst>
                  <a:latin typeface="Arial Unicode MS" panose="020B0604020202020204" pitchFamily="34" charset="-122"/>
                  <a:ea typeface="Arial Unicode MS" panose="020B0604020202020204" pitchFamily="34" charset="-122"/>
                </a:endParaRPr>
              </a:p>
            </p:txBody>
          </p:sp>
        </p:grpSp>
        <p:sp>
          <p:nvSpPr>
            <p:cNvPr id="32775" name="Text Box 7"/>
            <p:cNvSpPr txBox="1"/>
            <p:nvPr/>
          </p:nvSpPr>
          <p:spPr>
            <a:xfrm>
              <a:off x="336" y="2592"/>
              <a:ext cx="2640" cy="13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lnSpc>
                  <a:spcPct val="130000"/>
                </a:lnSpc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华文中宋" panose="02010600040101010101" pitchFamily="2" charset="-122"/>
                  <a:sym typeface="Wingdings" panose="05000000000000000000" pitchFamily="2" charset="2"/>
                </a:rPr>
                <a:t>③ </a:t>
              </a:r>
              <a:r>
                <a:rPr lang="zh-CN" altLang="en-US" sz="2800" b="1" dirty="0">
                  <a:solidFill>
                    <a:schemeClr val="folHlink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sym typeface="Wingdings" panose="05000000000000000000" pitchFamily="2" charset="2"/>
                </a:rPr>
                <a:t>晶向具有方向性</a:t>
              </a:r>
              <a:r>
                <a:rPr lang="zh-CN" altLang="en-US" sz="2800" b="1" i="1" dirty="0">
                  <a:latin typeface="Times New Roman" panose="02020603050405020304" pitchFamily="18" charset="0"/>
                  <a:ea typeface="华文中宋" panose="02010600040101010101" pitchFamily="2" charset="-122"/>
                  <a:sym typeface="Wingdings" panose="05000000000000000000" pitchFamily="2" charset="2"/>
                </a:rPr>
                <a:t>，</a:t>
              </a:r>
              <a:endParaRPr lang="zh-CN" altLang="en-US" sz="2800" b="1" i="1" dirty="0">
                <a:latin typeface="Times New Roman" panose="02020603050405020304" pitchFamily="18" charset="0"/>
                <a:ea typeface="华文中宋" panose="02010600040101010101" pitchFamily="2" charset="-122"/>
                <a:sym typeface="Wingdings" panose="05000000000000000000" pitchFamily="2" charset="2"/>
              </a:endParaRPr>
            </a:p>
            <a:p>
              <a:pPr>
                <a:lnSpc>
                  <a:spcPct val="130000"/>
                </a:lnSpc>
                <a:spcBef>
                  <a:spcPct val="50000"/>
                </a:spcBef>
              </a:pPr>
              <a:r>
                <a:rPr lang="zh-CN" altLang="en-US" sz="2800" b="1" i="1" dirty="0">
                  <a:latin typeface="Times New Roman" panose="02020603050405020304" pitchFamily="18" charset="0"/>
                  <a:ea typeface="华文中宋" panose="02010600040101010101" pitchFamily="2" charset="-122"/>
                  <a:sym typeface="Wingdings" panose="05000000000000000000" pitchFamily="2" charset="2"/>
                </a:rPr>
                <a:t>    如</a:t>
              </a:r>
              <a:r>
                <a:rPr lang="en-US" altLang="zh-CN" sz="2800" b="1" i="1" dirty="0">
                  <a:latin typeface="Times New Roman" panose="02020603050405020304" pitchFamily="18" charset="0"/>
                  <a:ea typeface="华文中宋" panose="02010600040101010101" pitchFamily="2" charset="-122"/>
                  <a:sym typeface="Wingdings" panose="05000000000000000000" pitchFamily="2" charset="2"/>
                </a:rPr>
                <a:t>[110]</a:t>
              </a:r>
              <a:r>
                <a:rPr lang="zh-CN" altLang="en-US" sz="2800" b="1" i="1" dirty="0">
                  <a:latin typeface="Times New Roman" panose="02020603050405020304" pitchFamily="18" charset="0"/>
                  <a:ea typeface="华文中宋" panose="02010600040101010101" pitchFamily="2" charset="-122"/>
                  <a:sym typeface="Wingdings" panose="05000000000000000000" pitchFamily="2" charset="2"/>
                </a:rPr>
                <a:t>与</a:t>
              </a:r>
              <a:r>
                <a:rPr lang="en-US" altLang="zh-CN" sz="2800" b="1" i="1" dirty="0">
                  <a:latin typeface="Times New Roman" panose="02020603050405020304" pitchFamily="18" charset="0"/>
                  <a:ea typeface="华文中宋" panose="02010600040101010101" pitchFamily="2" charset="-122"/>
                  <a:sym typeface="Wingdings" panose="05000000000000000000" pitchFamily="2" charset="2"/>
                </a:rPr>
                <a:t>[110]</a:t>
              </a:r>
              <a:r>
                <a:rPr lang="zh-CN" altLang="en-US" sz="2800" b="1" i="1" dirty="0">
                  <a:latin typeface="Times New Roman" panose="02020603050405020304" pitchFamily="18" charset="0"/>
                  <a:ea typeface="华文中宋" panose="02010600040101010101" pitchFamily="2" charset="-122"/>
                  <a:sym typeface="Wingdings" panose="05000000000000000000" pitchFamily="2" charset="2"/>
                </a:rPr>
                <a:t>方</a:t>
              </a:r>
              <a:endParaRPr lang="zh-CN" altLang="en-US" sz="2800" b="1" i="1" dirty="0">
                <a:latin typeface="Times New Roman" panose="02020603050405020304" pitchFamily="18" charset="0"/>
                <a:ea typeface="华文中宋" panose="02010600040101010101" pitchFamily="2" charset="-122"/>
                <a:sym typeface="Wingdings" panose="05000000000000000000" pitchFamily="2" charset="2"/>
              </a:endParaRPr>
            </a:p>
            <a:p>
              <a:pPr>
                <a:lnSpc>
                  <a:spcPct val="130000"/>
                </a:lnSpc>
                <a:spcBef>
                  <a:spcPct val="50000"/>
                </a:spcBef>
              </a:pPr>
              <a:r>
                <a:rPr lang="zh-CN" altLang="en-US" sz="2800" b="1" i="1" dirty="0">
                  <a:latin typeface="Times New Roman" panose="02020603050405020304" pitchFamily="18" charset="0"/>
                  <a:ea typeface="华文中宋" panose="02010600040101010101" pitchFamily="2" charset="-122"/>
                  <a:sym typeface="Wingdings" panose="05000000000000000000" pitchFamily="2" charset="2"/>
                </a:rPr>
                <a:t>    向相反。</a:t>
              </a:r>
              <a:endParaRPr lang="zh-CN" altLang="en-US" sz="2800" b="1" i="1" dirty="0">
                <a:latin typeface="Times New Roman" panose="02020603050405020304" pitchFamily="18" charset="0"/>
                <a:ea typeface="华文中宋" panose="02010600040101010101" pitchFamily="2" charset="-122"/>
                <a:sym typeface="Wingdings" panose="05000000000000000000" pitchFamily="2" charset="2"/>
              </a:endParaRPr>
            </a:p>
          </p:txBody>
        </p:sp>
      </p:grpSp>
      <p:grpSp>
        <p:nvGrpSpPr>
          <p:cNvPr id="4" name="Group 8"/>
          <p:cNvGrpSpPr>
            <a:grpSpLocks noChangeAspect="1"/>
          </p:cNvGrpSpPr>
          <p:nvPr/>
        </p:nvGrpSpPr>
        <p:grpSpPr>
          <a:xfrm>
            <a:off x="4575175" y="228600"/>
            <a:ext cx="4264025" cy="3784600"/>
            <a:chOff x="1104" y="624"/>
            <a:chExt cx="4080" cy="3621"/>
          </a:xfrm>
        </p:grpSpPr>
        <p:grpSp>
          <p:nvGrpSpPr>
            <p:cNvPr id="32777" name="Group 9"/>
            <p:cNvGrpSpPr>
              <a:grpSpLocks noChangeAspect="1"/>
            </p:cNvGrpSpPr>
            <p:nvPr/>
          </p:nvGrpSpPr>
          <p:grpSpPr>
            <a:xfrm>
              <a:off x="1344" y="720"/>
              <a:ext cx="3552" cy="3312"/>
              <a:chOff x="1344" y="720"/>
              <a:chExt cx="3552" cy="3312"/>
            </a:xfrm>
          </p:grpSpPr>
          <p:sp>
            <p:nvSpPr>
              <p:cNvPr id="32778" name="AutoShape 10"/>
              <p:cNvSpPr>
                <a:spLocks noChangeAspect="1"/>
              </p:cNvSpPr>
              <p:nvPr/>
            </p:nvSpPr>
            <p:spPr>
              <a:xfrm>
                <a:off x="1584" y="1056"/>
                <a:ext cx="2736" cy="2736"/>
              </a:xfrm>
              <a:prstGeom prst="cube">
                <a:avLst>
                  <a:gd name="adj" fmla="val 25000"/>
                </a:avLst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779" name="Line 11"/>
              <p:cNvSpPr>
                <a:spLocks noChangeAspect="1"/>
              </p:cNvSpPr>
              <p:nvPr/>
            </p:nvSpPr>
            <p:spPr>
              <a:xfrm flipH="1">
                <a:off x="2256" y="720"/>
                <a:ext cx="0" cy="2352"/>
              </a:xfrm>
              <a:prstGeom prst="line">
                <a:avLst/>
              </a:prstGeom>
              <a:ln w="38100" cap="flat" cmpd="sng">
                <a:solidFill>
                  <a:srgbClr val="FFFF00"/>
                </a:solidFill>
                <a:prstDash val="lgDash"/>
                <a:round/>
                <a:headEnd type="triangl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80" name="Line 12"/>
              <p:cNvSpPr>
                <a:spLocks noChangeAspect="1"/>
              </p:cNvSpPr>
              <p:nvPr/>
            </p:nvSpPr>
            <p:spPr>
              <a:xfrm flipH="1">
                <a:off x="2256" y="3072"/>
                <a:ext cx="2640" cy="0"/>
              </a:xfrm>
              <a:prstGeom prst="line">
                <a:avLst/>
              </a:prstGeom>
              <a:ln w="38100" cap="flat" cmpd="sng">
                <a:solidFill>
                  <a:srgbClr val="FFFF66"/>
                </a:solidFill>
                <a:prstDash val="lgDash"/>
                <a:round/>
                <a:headEnd type="triangl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81" name="Line 13"/>
              <p:cNvSpPr>
                <a:spLocks noChangeAspect="1"/>
              </p:cNvSpPr>
              <p:nvPr/>
            </p:nvSpPr>
            <p:spPr>
              <a:xfrm flipH="1">
                <a:off x="1344" y="3072"/>
                <a:ext cx="912" cy="960"/>
              </a:xfrm>
              <a:prstGeom prst="line">
                <a:avLst/>
              </a:prstGeom>
              <a:ln w="38100" cap="flat" cmpd="sng">
                <a:solidFill>
                  <a:srgbClr val="FFFF00"/>
                </a:solidFill>
                <a:prstDash val="lgDash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2782" name="Text Box 14"/>
            <p:cNvSpPr txBox="1">
              <a:spLocks noChangeAspect="1"/>
            </p:cNvSpPr>
            <p:nvPr/>
          </p:nvSpPr>
          <p:spPr>
            <a:xfrm>
              <a:off x="1104" y="3744"/>
              <a:ext cx="289" cy="50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endParaRPr lang="en-US" altLang="zh-CN" sz="2800" b="1" i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2783" name="Text Box 15"/>
            <p:cNvSpPr txBox="1">
              <a:spLocks noChangeAspect="1"/>
            </p:cNvSpPr>
            <p:nvPr/>
          </p:nvSpPr>
          <p:spPr>
            <a:xfrm>
              <a:off x="2304" y="624"/>
              <a:ext cx="289" cy="50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Z</a:t>
              </a:r>
              <a:endParaRPr lang="en-US" altLang="zh-CN" sz="2800" b="1" i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2784" name="Text Box 16"/>
            <p:cNvSpPr txBox="1">
              <a:spLocks noChangeAspect="1"/>
            </p:cNvSpPr>
            <p:nvPr/>
          </p:nvSpPr>
          <p:spPr>
            <a:xfrm>
              <a:off x="4895" y="2929"/>
              <a:ext cx="289" cy="50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  <a:endParaRPr lang="en-US" altLang="zh-CN" sz="2800" b="1" i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179217" name="Line 17"/>
          <p:cNvSpPr/>
          <p:nvPr/>
        </p:nvSpPr>
        <p:spPr>
          <a:xfrm>
            <a:off x="5489575" y="533400"/>
            <a:ext cx="2133600" cy="1066800"/>
          </a:xfrm>
          <a:prstGeom prst="line">
            <a:avLst/>
          </a:prstGeom>
          <a:ln w="38100" cap="flat" cmpd="sng">
            <a:solidFill>
              <a:srgbClr val="00FF00"/>
            </a:solidFill>
            <a:prstDash val="solid"/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18"/>
          <p:cNvGrpSpPr/>
          <p:nvPr/>
        </p:nvGrpSpPr>
        <p:grpSpPr>
          <a:xfrm>
            <a:off x="5148263" y="663575"/>
            <a:ext cx="1524000" cy="2322513"/>
            <a:chOff x="3241" y="706"/>
            <a:chExt cx="960" cy="1463"/>
          </a:xfrm>
        </p:grpSpPr>
        <p:sp>
          <p:nvSpPr>
            <p:cNvPr id="32787" name="AutoShape 19"/>
            <p:cNvSpPr/>
            <p:nvPr/>
          </p:nvSpPr>
          <p:spPr>
            <a:xfrm rot="-827376">
              <a:off x="3241" y="706"/>
              <a:ext cx="960" cy="1463"/>
            </a:xfrm>
            <a:prstGeom prst="triangle">
              <a:avLst>
                <a:gd name="adj" fmla="val 59898"/>
              </a:avLst>
            </a:prstGeom>
            <a:solidFill>
              <a:srgbClr val="FF0000">
                <a:alpha val="50195"/>
              </a:srgb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788" name="Text Box 20"/>
            <p:cNvSpPr txBox="1"/>
            <p:nvPr/>
          </p:nvSpPr>
          <p:spPr>
            <a:xfrm>
              <a:off x="3600" y="1584"/>
              <a:ext cx="528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(221)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7" name="Group 21"/>
          <p:cNvGrpSpPr/>
          <p:nvPr/>
        </p:nvGrpSpPr>
        <p:grpSpPr>
          <a:xfrm>
            <a:off x="5794375" y="2305050"/>
            <a:ext cx="1828800" cy="457200"/>
            <a:chOff x="3648" y="1728"/>
            <a:chExt cx="1152" cy="288"/>
          </a:xfrm>
        </p:grpSpPr>
        <p:sp>
          <p:nvSpPr>
            <p:cNvPr id="32790" name="Line 22"/>
            <p:cNvSpPr/>
            <p:nvPr/>
          </p:nvSpPr>
          <p:spPr>
            <a:xfrm flipV="1">
              <a:off x="3648" y="1728"/>
              <a:ext cx="1152" cy="288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1" name="Line 23"/>
            <p:cNvSpPr/>
            <p:nvPr/>
          </p:nvSpPr>
          <p:spPr>
            <a:xfrm flipV="1">
              <a:off x="3900" y="1860"/>
              <a:ext cx="384" cy="96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9224" name="Text Box 24"/>
          <p:cNvSpPr txBox="1"/>
          <p:nvPr/>
        </p:nvSpPr>
        <p:spPr>
          <a:xfrm>
            <a:off x="7165975" y="2286000"/>
            <a:ext cx="838200" cy="46196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[221]</a:t>
            </a:r>
            <a:endParaRPr lang="en-US" altLang="zh-CN" sz="2400" b="1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79225" name="Text Box 25"/>
          <p:cNvSpPr txBox="1"/>
          <p:nvPr/>
        </p:nvSpPr>
        <p:spPr>
          <a:xfrm>
            <a:off x="7165975" y="1524000"/>
            <a:ext cx="838200" cy="46196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[110]</a:t>
            </a:r>
            <a:endParaRPr lang="en-US" altLang="zh-CN" sz="2400" b="1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8" name="Group 26"/>
          <p:cNvGrpSpPr/>
          <p:nvPr/>
        </p:nvGrpSpPr>
        <p:grpSpPr>
          <a:xfrm>
            <a:off x="4746625" y="304800"/>
            <a:ext cx="838200" cy="461963"/>
            <a:chOff x="2448" y="480"/>
            <a:chExt cx="528" cy="291"/>
          </a:xfrm>
        </p:grpSpPr>
        <p:sp>
          <p:nvSpPr>
            <p:cNvPr id="32795" name="Text Box 27"/>
            <p:cNvSpPr txBox="1"/>
            <p:nvPr/>
          </p:nvSpPr>
          <p:spPr>
            <a:xfrm>
              <a:off x="2448" y="480"/>
              <a:ext cx="528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[110]</a:t>
              </a:r>
              <a:endPara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2796" name="Line 28"/>
            <p:cNvSpPr/>
            <p:nvPr/>
          </p:nvSpPr>
          <p:spPr>
            <a:xfrm>
              <a:off x="2544" y="528"/>
              <a:ext cx="96" cy="0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7" name="Line 29"/>
            <p:cNvSpPr/>
            <p:nvPr/>
          </p:nvSpPr>
          <p:spPr>
            <a:xfrm>
              <a:off x="2652" y="528"/>
              <a:ext cx="96" cy="0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2798" name="AutoShape 30"/>
          <p:cNvSpPr/>
          <p:nvPr/>
        </p:nvSpPr>
        <p:spPr>
          <a:xfrm>
            <a:off x="8921750" y="6624638"/>
            <a:ext cx="222250" cy="233362"/>
          </a:xfrm>
          <a:prstGeom prst="actionButtonBackPrevious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/>
          <a:lstStyle/>
          <a:p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800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515100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34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30798"/>
            <a:ext cx="838200" cy="82608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9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9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9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7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1" dur="500"/>
                                        <p:tgtEl>
                                          <p:spTgt spid="179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7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02" grpId="0" advAuto="1000" build="p"/>
      <p:bldP spid="179224" grpId="0"/>
      <p:bldP spid="1792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CN" sz="6600" b="1" dirty="0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(</a:t>
            </a:r>
            <a:r>
              <a:rPr lang="zh-CN" altLang="en-US" sz="6600" b="1" dirty="0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三）金属的结构</a:t>
            </a:r>
            <a:endParaRPr lang="zh-CN" altLang="en-US" sz="6600" dirty="0">
              <a:solidFill>
                <a:schemeClr val="bg2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27430" y="3357245"/>
            <a:ext cx="7165975" cy="1106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6600" b="1" i="1" dirty="0">
                <a:solidFill>
                  <a:schemeClr val="bg2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Structure of Metals</a:t>
            </a:r>
            <a:endParaRPr lang="en-US" altLang="zh-CN" sz="6600" b="1" i="1" dirty="0">
              <a:solidFill>
                <a:schemeClr val="bg2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2800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515100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379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061325" y="6611938"/>
            <a:ext cx="439738" cy="246062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3797" name="AutoShape 6">
            <a:hlinkClick r:id="rId1" action="ppaction://hlinksldjump"/>
          </p:cNvPr>
          <p:cNvSpPr/>
          <p:nvPr/>
        </p:nvSpPr>
        <p:spPr>
          <a:xfrm>
            <a:off x="8943975" y="6611938"/>
            <a:ext cx="200025" cy="246062"/>
          </a:xfrm>
          <a:prstGeom prst="actionButtonBackPrevious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/>
          <a:lstStyle/>
          <a:p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061325" y="6611938"/>
            <a:ext cx="439738" cy="246062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3794" name="Rectangle 2"/>
          <p:cNvSpPr>
            <a:spLocks noGrp="1"/>
          </p:cNvSpPr>
          <p:nvPr>
            <p:ph type="title"/>
          </p:nvPr>
        </p:nvSpPr>
        <p:spPr>
          <a:xfrm>
            <a:off x="1691680" y="214313"/>
            <a:ext cx="7252295" cy="1462087"/>
          </a:xfrm>
        </p:spPr>
        <p:txBody>
          <a:bodyPr wrap="square" lIns="91440" tIns="45720" rIns="91440" bIns="45720" anchor="b"/>
          <a:lstStyle/>
          <a:p>
            <a:pPr eaLnBrk="1" hangingPunct="1"/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（三）金属的结构 </a:t>
            </a:r>
            <a:b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</a:br>
            <a:r>
              <a:rPr lang="en-US" altLang="zh-CN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Structure of Metals</a:t>
            </a:r>
            <a:endParaRPr lang="zh-CN" altLang="en-US" b="1" i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795" name="Rectangle 3"/>
          <p:cNvSpPr>
            <a:spLocks noGrp="1"/>
          </p:cNvSpPr>
          <p:nvPr>
            <p:ph idx="1"/>
          </p:nvPr>
        </p:nvSpPr>
        <p:spPr>
          <a:xfrm>
            <a:off x="1187624" y="1844824"/>
            <a:ext cx="7772400" cy="4651647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金属的晶态结构</a:t>
            </a:r>
            <a:endParaRPr lang="zh-CN" altLang="en-US" b="1" dirty="0">
              <a:solidFill>
                <a:schemeClr val="folHlink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     </a:t>
            </a:r>
            <a:r>
              <a:rPr lang="en-US" altLang="zh-CN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、理想纯金属的晶体结构</a:t>
            </a:r>
            <a:endParaRPr lang="zh-CN" altLang="en-US" sz="2800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    </a:t>
            </a:r>
            <a:r>
              <a:rPr lang="zh-CN" altLang="en-US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2</a:t>
            </a:r>
            <a:r>
              <a:rPr lang="zh-CN" altLang="en-US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、实际金属的晶体结构</a:t>
            </a:r>
            <a:endParaRPr lang="zh-CN" altLang="en-US" sz="2800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     </a:t>
            </a:r>
            <a:r>
              <a:rPr lang="en-US" altLang="zh-CN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3</a:t>
            </a:r>
            <a:r>
              <a:rPr lang="zh-CN" altLang="en-US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、合金的晶体结构</a:t>
            </a:r>
            <a:endParaRPr lang="zh-CN" altLang="en-US" sz="2800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金属的</a:t>
            </a:r>
            <a:r>
              <a:rPr lang="zh-CN" altLang="en-US" b="1" dirty="0">
                <a:solidFill>
                  <a:schemeClr val="tx2"/>
                </a:solidFill>
                <a:latin typeface="华文中宋" panose="02010600040101010101" pitchFamily="2" charset="-122"/>
                <a:ea typeface="华文中宋" panose="02010600040101010101" pitchFamily="2" charset="-122"/>
                <a:hlinkClick r:id="rId1" action="ppaction://hlinksldjump"/>
              </a:rPr>
              <a:t>非晶态结构</a:t>
            </a:r>
            <a:endParaRPr lang="zh-CN" altLang="en-US" sz="2800" dirty="0">
              <a:solidFill>
                <a:schemeClr val="tx2"/>
              </a:solidFill>
            </a:endParaRPr>
          </a:p>
        </p:txBody>
      </p:sp>
      <p:sp>
        <p:nvSpPr>
          <p:cNvPr id="33797" name="AutoShape 6">
            <a:hlinkClick r:id="rId2" action="ppaction://hlinksldjump"/>
          </p:cNvPr>
          <p:cNvSpPr/>
          <p:nvPr/>
        </p:nvSpPr>
        <p:spPr>
          <a:xfrm>
            <a:off x="8943975" y="6611938"/>
            <a:ext cx="200025" cy="246062"/>
          </a:xfrm>
          <a:prstGeom prst="actionButtonBackPrevious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/>
          <a:lstStyle/>
          <a:p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3798" name="日期占位符 1"/>
          <p:cNvSpPr>
            <a:spLocks noGrp="1"/>
          </p:cNvSpPr>
          <p:nvPr>
            <p:ph type="dt" sz="half" idx="10"/>
          </p:nvPr>
        </p:nvSpPr>
        <p:spPr>
          <a:xfrm>
            <a:off x="79375" y="6611938"/>
            <a:ext cx="1905000" cy="268287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4" y="3175"/>
            <a:ext cx="845763" cy="8335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67738" y="6538913"/>
            <a:ext cx="450850" cy="319087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81250" name="Rectangle 2"/>
          <p:cNvSpPr>
            <a:spLocks noGrp="1"/>
          </p:cNvSpPr>
          <p:nvPr>
            <p:ph type="title"/>
          </p:nvPr>
        </p:nvSpPr>
        <p:spPr>
          <a:xfrm>
            <a:off x="899592" y="188640"/>
            <a:ext cx="6408711" cy="762000"/>
          </a:xfrm>
        </p:spPr>
        <p:txBody>
          <a:bodyPr wrap="square" lIns="91440" tIns="45720" rIns="91440" bIns="45720" anchor="b"/>
          <a:lstStyle/>
          <a:p>
            <a:pPr eaLnBrk="1" hangingPunct="1"/>
            <a:r>
              <a:rPr lang="en-US" altLang="zh-CN" b="1" dirty="0">
                <a:ea typeface="华文中宋" panose="02010600040101010101" pitchFamily="2" charset="-122"/>
              </a:rPr>
              <a:t>1.</a:t>
            </a:r>
            <a:r>
              <a:rPr lang="zh-CN" altLang="en-US" b="1" dirty="0">
                <a:ea typeface="华文中宋" panose="02010600040101010101" pitchFamily="2" charset="-122"/>
              </a:rPr>
              <a:t>理想纯金属的晶态结构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sp>
        <p:nvSpPr>
          <p:cNvPr id="181251" name="Rectangle 3"/>
          <p:cNvSpPr>
            <a:spLocks noGrp="1"/>
          </p:cNvSpPr>
          <p:nvPr>
            <p:ph idx="1"/>
          </p:nvPr>
        </p:nvSpPr>
        <p:spPr>
          <a:xfrm>
            <a:off x="271463" y="2064984"/>
            <a:ext cx="6452901" cy="2192543"/>
          </a:xfrm>
        </p:spPr>
        <p:txBody>
          <a:bodyPr wrap="square" lIns="91440" tIns="45720" rIns="91440" bIns="45720" anchor="t"/>
          <a:lstStyle/>
          <a:p>
            <a:pPr eaLnBrk="1" hangingPunct="1">
              <a:spcBef>
                <a:spcPts val="0"/>
              </a:spcBef>
            </a:pPr>
            <a:r>
              <a:rPr lang="zh-CN" altLang="en-US" b="1" dirty="0">
                <a:ea typeface="华文中宋" panose="02010600040101010101" pitchFamily="2" charset="-122"/>
              </a:rPr>
              <a:t>金属原子是通过</a:t>
            </a: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正离子</a:t>
            </a:r>
            <a:r>
              <a:rPr lang="zh-CN" altLang="en-US" b="1" dirty="0">
                <a:ea typeface="华文中宋" panose="02010600040101010101" pitchFamily="2" charset="-122"/>
              </a:rPr>
              <a:t>与</a:t>
            </a: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自由电子（云）</a:t>
            </a:r>
            <a:r>
              <a:rPr lang="zh-CN" altLang="en-US" b="1" dirty="0">
                <a:ea typeface="华文中宋" panose="02010600040101010101" pitchFamily="2" charset="-122"/>
              </a:rPr>
              <a:t>的相互作用而结合的，称为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金属键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spcBef>
                <a:spcPts val="0"/>
              </a:spcBef>
            </a:pPr>
            <a:r>
              <a:rPr lang="zh-CN" altLang="en-US" b="1" dirty="0">
                <a:solidFill>
                  <a:schemeClr val="hlink"/>
                </a:solidFill>
                <a:ea typeface="华文中宋" panose="02010600040101010101" pitchFamily="2" charset="-122"/>
              </a:rPr>
              <a:t>金属原子趋向于紧密排列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6472854" y="836402"/>
            <a:ext cx="2671147" cy="3019996"/>
            <a:chOff x="3413" y="1729"/>
            <a:chExt cx="2023" cy="2058"/>
          </a:xfrm>
        </p:grpSpPr>
        <p:grpSp>
          <p:nvGrpSpPr>
            <p:cNvPr id="34821" name="Group 5"/>
            <p:cNvGrpSpPr>
              <a:grpSpLocks noChangeAspect="1"/>
            </p:cNvGrpSpPr>
            <p:nvPr/>
          </p:nvGrpSpPr>
          <p:grpSpPr>
            <a:xfrm>
              <a:off x="3719" y="1729"/>
              <a:ext cx="1717" cy="2058"/>
              <a:chOff x="3680" y="1735"/>
              <a:chExt cx="1808" cy="2167"/>
            </a:xfrm>
          </p:grpSpPr>
          <p:pic>
            <p:nvPicPr>
              <p:cNvPr id="34822" name="Picture 6" descr="金属键示意图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3680" y="1833"/>
                <a:ext cx="1808" cy="2069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34823" name="Rectangle 7"/>
              <p:cNvSpPr>
                <a:spLocks noChangeAspect="1"/>
              </p:cNvSpPr>
              <p:nvPr/>
            </p:nvSpPr>
            <p:spPr>
              <a:xfrm>
                <a:off x="3909" y="3750"/>
                <a:ext cx="1008" cy="144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r>
                  <a:rPr lang="zh-CN" altLang="en-US" sz="16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Arial Unicode MS" panose="020B0604020202020204" pitchFamily="34" charset="-122"/>
                  </a:rPr>
                  <a:t>价电子云</a:t>
                </a:r>
                <a:endParaRPr lang="zh-CN" altLang="en-US" sz="16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Arial Unicode MS" panose="020B0604020202020204" pitchFamily="34" charset="-122"/>
                </a:endParaRPr>
              </a:p>
            </p:txBody>
          </p:sp>
          <p:sp>
            <p:nvSpPr>
              <p:cNvPr id="34824" name="Rectangle 8"/>
              <p:cNvSpPr>
                <a:spLocks noChangeAspect="1"/>
              </p:cNvSpPr>
              <p:nvPr/>
            </p:nvSpPr>
            <p:spPr>
              <a:xfrm>
                <a:off x="4656" y="1735"/>
                <a:ext cx="672" cy="172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r>
                  <a:rPr lang="zh-CN" altLang="en-US" sz="1600" b="1" dirty="0">
                    <a:solidFill>
                      <a:srgbClr val="993300"/>
                    </a:solidFill>
                    <a:latin typeface="Times New Roman" panose="02020603050405020304" pitchFamily="18" charset="0"/>
                    <a:ea typeface="Arial Unicode MS" panose="020B0604020202020204" pitchFamily="34" charset="-122"/>
                  </a:rPr>
                  <a:t>正离子</a:t>
                </a:r>
                <a:endParaRPr lang="zh-CN" altLang="en-US" sz="1600" b="1" dirty="0">
                  <a:solidFill>
                    <a:srgbClr val="993300"/>
                  </a:solidFill>
                  <a:latin typeface="Times New Roman" panose="02020603050405020304" pitchFamily="18" charset="0"/>
                  <a:ea typeface="Arial Unicode MS" panose="020B0604020202020204" pitchFamily="34" charset="-122"/>
                </a:endParaRPr>
              </a:p>
            </p:txBody>
          </p:sp>
        </p:grpSp>
        <p:sp>
          <p:nvSpPr>
            <p:cNvPr id="34825" name="Text Box 9"/>
            <p:cNvSpPr txBox="1"/>
            <p:nvPr/>
          </p:nvSpPr>
          <p:spPr>
            <a:xfrm>
              <a:off x="3413" y="2142"/>
              <a:ext cx="381" cy="132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金属键示意图</a:t>
              </a:r>
              <a:endPara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</p:grpSp>
      <p:sp>
        <p:nvSpPr>
          <p:cNvPr id="181258" name="Rectangle 10"/>
          <p:cNvSpPr/>
          <p:nvPr/>
        </p:nvSpPr>
        <p:spPr>
          <a:xfrm>
            <a:off x="271463" y="4181383"/>
            <a:ext cx="8610600" cy="235753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特点：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良好的导热性、导电性、延展性及金属光泽。</a:t>
            </a:r>
            <a:endParaRPr lang="zh-CN" altLang="en-US" sz="2800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常见纯金属的晶格类型：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体心立方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bcc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：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b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ody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c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entered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c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ubic)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、面心立方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800" b="1" dirty="0" err="1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fcc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: face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c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entered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c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ubic)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、密排六方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hcp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: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h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exagonal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c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lose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p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acked)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晶格。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34828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26213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4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1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81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81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812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0" grpId="0"/>
      <p:bldP spid="181251" grpId="0" advAuto="1000" build="p"/>
      <p:bldP spid="181258" grpId="0" advAuto="100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78850" y="6529388"/>
            <a:ext cx="400050" cy="309562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83298" name="Rectangle 2"/>
          <p:cNvSpPr>
            <a:spLocks noGrp="1"/>
          </p:cNvSpPr>
          <p:nvPr>
            <p:ph type="title"/>
          </p:nvPr>
        </p:nvSpPr>
        <p:spPr>
          <a:xfrm>
            <a:off x="1259632" y="260648"/>
            <a:ext cx="7632848" cy="1512168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en-US" altLang="zh-CN" b="1" dirty="0">
                <a:solidFill>
                  <a:schemeClr val="hlink"/>
                </a:solidFill>
                <a:ea typeface="华文中宋" panose="02010600040101010101" pitchFamily="2" charset="-122"/>
              </a:rPr>
              <a:t>(1)</a:t>
            </a:r>
            <a:r>
              <a:rPr lang="zh-CN" altLang="en-US" b="1" dirty="0">
                <a:solidFill>
                  <a:schemeClr val="hlink"/>
                </a:solidFill>
                <a:ea typeface="华文中宋" panose="02010600040101010101" pitchFamily="2" charset="-122"/>
              </a:rPr>
              <a:t>体心立方晶格</a:t>
            </a:r>
            <a:br>
              <a:rPr lang="en-US" altLang="zh-CN" b="1" dirty="0">
                <a:solidFill>
                  <a:schemeClr val="hlink"/>
                </a:solidFill>
                <a:ea typeface="华文中宋" panose="02010600040101010101" pitchFamily="2" charset="-122"/>
              </a:rPr>
            </a:br>
            <a:r>
              <a:rPr lang="en-US" altLang="zh-CN" b="1" i="1" dirty="0">
                <a:solidFill>
                  <a:schemeClr val="hlink"/>
                </a:solidFill>
                <a:ea typeface="华文中宋" panose="02010600040101010101" pitchFamily="2" charset="-122"/>
              </a:rPr>
              <a:t>Body centered cubic (BCC)</a:t>
            </a:r>
            <a:endParaRPr lang="en-US" altLang="zh-CN" b="1" i="1" dirty="0">
              <a:solidFill>
                <a:schemeClr val="hlink"/>
              </a:solidFill>
              <a:ea typeface="华文中宋" panose="02010600040101010101" pitchFamily="2" charset="-122"/>
            </a:endParaRPr>
          </a:p>
        </p:txBody>
      </p:sp>
      <p:pic>
        <p:nvPicPr>
          <p:cNvPr id="183299" name="bcc.mov">
            <a:hlinkClick r:id="" action="ppaction://media"/>
          </p:cNvPr>
          <p:cNvPicPr>
            <a:picLocks noRot="1"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 cstate="print"/>
          <a:stretch>
            <a:fillRect/>
          </a:stretch>
        </p:blipFill>
        <p:spPr>
          <a:xfrm>
            <a:off x="3275856" y="2060848"/>
            <a:ext cx="4448249" cy="4277111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" name="Group 4"/>
          <p:cNvGrpSpPr/>
          <p:nvPr/>
        </p:nvGrpSpPr>
        <p:grpSpPr>
          <a:xfrm>
            <a:off x="381000" y="2514600"/>
            <a:ext cx="2590800" cy="2590800"/>
            <a:chOff x="240" y="1584"/>
            <a:chExt cx="1632" cy="1632"/>
          </a:xfrm>
        </p:grpSpPr>
        <p:sp>
          <p:nvSpPr>
            <p:cNvPr id="36870" name="Rectangle 6"/>
            <p:cNvSpPr/>
            <p:nvPr/>
          </p:nvSpPr>
          <p:spPr>
            <a:xfrm>
              <a:off x="1248" y="3072"/>
              <a:ext cx="624" cy="14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6872" name="日期占位符 1"/>
          <p:cNvSpPr>
            <a:spLocks noGrp="1"/>
          </p:cNvSpPr>
          <p:nvPr>
            <p:ph type="dt" sz="half" idx="10"/>
          </p:nvPr>
        </p:nvSpPr>
        <p:spPr>
          <a:xfrm>
            <a:off x="76200" y="6529388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5" cstate="print"/>
          <a:srcRect b="3370"/>
          <a:stretch>
            <a:fillRect/>
          </a:stretch>
        </p:blipFill>
        <p:spPr>
          <a:xfrm>
            <a:off x="609228" y="2276872"/>
            <a:ext cx="2514600" cy="24482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3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832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32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0" dur="1" fill="hold"/>
                                        <p:tgtEl>
                                          <p:spTgt spid="18329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21" repeatCount="indefinite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183299"/>
                </p:tgtEl>
              </p:cMediaNode>
            </p:video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1832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6" dur="1" fill="hold"/>
                                        <p:tgtEl>
                                          <p:spTgt spid="18329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3299"/>
                  </p:tgtEl>
                </p:cond>
              </p:nextCondLst>
            </p:seq>
          </p:childTnLst>
        </p:cTn>
      </p:par>
    </p:tnLst>
    <p:bldLst>
      <p:bldP spid="18329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85188" y="6629400"/>
            <a:ext cx="493712" cy="266700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84322" name="Rectangle 2"/>
          <p:cNvSpPr>
            <a:spLocks noGrp="1"/>
          </p:cNvSpPr>
          <p:nvPr>
            <p:ph idx="1"/>
          </p:nvPr>
        </p:nvSpPr>
        <p:spPr>
          <a:xfrm>
            <a:off x="1571625" y="260350"/>
            <a:ext cx="6772275" cy="1008063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  <a:buNone/>
            </a:pPr>
            <a:r>
              <a:rPr lang="zh-CN" altLang="en-US" sz="4400" b="1" dirty="0">
                <a:solidFill>
                  <a:schemeClr val="hlink"/>
                </a:solidFill>
                <a:ea typeface="华文中宋" panose="02010600040101010101" pitchFamily="2" charset="-122"/>
              </a:rPr>
              <a:t>体心立方晶格</a:t>
            </a:r>
            <a:endParaRPr lang="zh-CN" altLang="en-US" sz="4400" b="1" dirty="0">
              <a:solidFill>
                <a:schemeClr val="hlink"/>
              </a:solidFill>
              <a:ea typeface="华文中宋" panose="02010600040101010101" pitchFamily="2" charset="-122"/>
            </a:endParaRPr>
          </a:p>
        </p:txBody>
      </p:sp>
      <p:sp>
        <p:nvSpPr>
          <p:cNvPr id="184323" name="Text Box 3"/>
          <p:cNvSpPr txBox="1"/>
          <p:nvPr/>
        </p:nvSpPr>
        <p:spPr>
          <a:xfrm>
            <a:off x="323850" y="3429000"/>
            <a:ext cx="8820150" cy="3109913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>
            <a:spAutoFit/>
          </a:bodyPr>
          <a:lstStyle/>
          <a:p>
            <a:pPr>
              <a:lnSpc>
                <a:spcPct val="160000"/>
              </a:lnSpc>
            </a:pP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晶胞原子个数：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2</a:t>
            </a:r>
            <a:endParaRPr lang="en-US" altLang="zh-CN" sz="2800" b="1" dirty="0">
              <a:solidFill>
                <a:schemeClr val="folHlink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配位数： 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8</a:t>
            </a:r>
            <a:endParaRPr lang="en-US" altLang="zh-CN" sz="2800" b="1" dirty="0">
              <a:solidFill>
                <a:schemeClr val="folHlink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致密度：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68%</a:t>
            </a:r>
            <a:endParaRPr lang="en-US" altLang="zh-CN" sz="2800" b="1" dirty="0">
              <a:solidFill>
                <a:schemeClr val="folHlink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常见金属：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-Fe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Cr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W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Mo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V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Nb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β-Ti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Ta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等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184324" name="Text Box 4"/>
          <p:cNvSpPr txBox="1"/>
          <p:nvPr/>
        </p:nvSpPr>
        <p:spPr>
          <a:xfrm>
            <a:off x="468313" y="1989138"/>
            <a:ext cx="3733800" cy="52387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晶格常数：</a:t>
            </a:r>
            <a:r>
              <a:rPr lang="en-US" altLang="zh-CN" sz="2800" b="1" i="1" dirty="0">
                <a:solidFill>
                  <a:srgbClr val="FF99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dirty="0">
                <a:solidFill>
                  <a:srgbClr val="FF99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800" b="1" i="1" dirty="0">
                <a:solidFill>
                  <a:srgbClr val="FF99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dirty="0">
                <a:solidFill>
                  <a:srgbClr val="FF99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=</a:t>
            </a:r>
            <a:r>
              <a:rPr lang="en-US" altLang="zh-CN" sz="2800" b="1" i="1" dirty="0">
                <a:solidFill>
                  <a:srgbClr val="FF99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b</a:t>
            </a:r>
            <a:r>
              <a:rPr lang="en-US" altLang="zh-CN" sz="2800" b="1" dirty="0">
                <a:solidFill>
                  <a:srgbClr val="FF99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=</a:t>
            </a:r>
            <a:r>
              <a:rPr lang="en-US" altLang="zh-CN" sz="2800" b="1" i="1" dirty="0">
                <a:solidFill>
                  <a:srgbClr val="FF99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c</a:t>
            </a:r>
            <a:r>
              <a:rPr lang="en-US" altLang="zh-CN" sz="2800" b="1" dirty="0">
                <a:solidFill>
                  <a:srgbClr val="FF99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endParaRPr lang="en-US" altLang="zh-CN" sz="2800" b="1" dirty="0">
              <a:solidFill>
                <a:srgbClr val="FF9900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539750" y="2835273"/>
            <a:ext cx="2519363" cy="523875"/>
            <a:chOff x="336" y="2004"/>
            <a:chExt cx="1587" cy="330"/>
          </a:xfrm>
        </p:grpSpPr>
        <p:sp>
          <p:nvSpPr>
            <p:cNvPr id="37895" name="Text Box 7"/>
            <p:cNvSpPr txBox="1"/>
            <p:nvPr/>
          </p:nvSpPr>
          <p:spPr>
            <a:xfrm>
              <a:off x="336" y="2004"/>
              <a:ext cx="1587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原子半径</a:t>
              </a:r>
              <a:r>
                <a:rPr lang="zh-CN" altLang="en-US" sz="2800" b="1" dirty="0">
                  <a:solidFill>
                    <a:srgbClr val="CCFF33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：</a:t>
              </a:r>
              <a:endParaRPr lang="zh-CN" altLang="en-US" sz="2800" b="1" dirty="0">
                <a:solidFill>
                  <a:srgbClr val="CCFF33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</p:grpSp>
      <p:grpSp>
        <p:nvGrpSpPr>
          <p:cNvPr id="3" name="Group 8"/>
          <p:cNvGrpSpPr/>
          <p:nvPr/>
        </p:nvGrpSpPr>
        <p:grpSpPr>
          <a:xfrm>
            <a:off x="4143375" y="1357313"/>
            <a:ext cx="4570413" cy="4337050"/>
            <a:chOff x="2592" y="480"/>
            <a:chExt cx="2879" cy="2732"/>
          </a:xfrm>
        </p:grpSpPr>
        <p:grpSp>
          <p:nvGrpSpPr>
            <p:cNvPr id="37897" name="Group 9"/>
            <p:cNvGrpSpPr/>
            <p:nvPr/>
          </p:nvGrpSpPr>
          <p:grpSpPr>
            <a:xfrm>
              <a:off x="2592" y="480"/>
              <a:ext cx="2879" cy="2732"/>
              <a:chOff x="2737" y="816"/>
              <a:chExt cx="2879" cy="2732"/>
            </a:xfrm>
          </p:grpSpPr>
          <p:pic>
            <p:nvPicPr>
              <p:cNvPr id="37898" name="Picture 10" descr="体心立方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2737" y="816"/>
                <a:ext cx="2879" cy="2732"/>
              </a:xfrm>
              <a:prstGeom prst="rect">
                <a:avLst/>
              </a:prstGeom>
              <a:noFill/>
              <a:ln w="38100" cap="flat" cmpd="sng">
                <a:solidFill>
                  <a:srgbClr val="FF9900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pic>
            <p:nvPicPr>
              <p:cNvPr id="37899" name="Picture 11" descr="BCC晶胞1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785" y="2160"/>
                <a:ext cx="1297" cy="1263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37900" name="Picture 12" descr="BCC晶胞2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177" y="864"/>
                <a:ext cx="1401" cy="1263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37901" name="Picture 13" descr="BCC晶格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2737" y="828"/>
                <a:ext cx="1421" cy="130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pic>
          <p:nvPicPr>
            <p:cNvPr id="37902" name="Picture 14" descr="BCC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40" y="1908"/>
              <a:ext cx="1338" cy="124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7903" name="Picture 15" descr="BCC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92" y="504"/>
              <a:ext cx="1424" cy="1383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7904" name="Picture 16" descr="BCC3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56" y="516"/>
              <a:ext cx="1394" cy="124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37906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646863"/>
            <a:ext cx="1907704" cy="233362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20" name="内容占位符 1" descr="新校徽（3M）弓之乐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-6254" y="3175"/>
            <a:ext cx="845762" cy="83353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75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107521" name="Picture 1"/>
          <p:cNvPicPr>
            <a:picLocks noChangeAspect="1" noChangeArrowheads="1"/>
          </p:cNvPicPr>
          <p:nvPr/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627784" y="2708920"/>
            <a:ext cx="576064" cy="76930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4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84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2" grpId="0" advAuto="1000" build="p"/>
      <p:bldP spid="184323" grpId="0"/>
      <p:bldP spid="18432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281988" y="6526213"/>
            <a:ext cx="665162" cy="273050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9938" name="Rectangle 2"/>
          <p:cNvSpPr>
            <a:spLocks noGrp="1"/>
          </p:cNvSpPr>
          <p:nvPr>
            <p:ph type="title"/>
          </p:nvPr>
        </p:nvSpPr>
        <p:spPr>
          <a:xfrm>
            <a:off x="1187624" y="0"/>
            <a:ext cx="7560840" cy="1556792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en-US" altLang="zh-CN" b="1" dirty="0">
                <a:solidFill>
                  <a:schemeClr val="hlink"/>
                </a:solidFill>
              </a:rPr>
              <a:t>(2)</a:t>
            </a:r>
            <a:r>
              <a:rPr lang="zh-CN" altLang="en-US" b="1" dirty="0">
                <a:solidFill>
                  <a:schemeClr val="hlink"/>
                </a:solidFill>
              </a:rPr>
              <a:t>面心立方晶格</a:t>
            </a:r>
            <a:br>
              <a:rPr lang="en-US" altLang="zh-CN" b="1" dirty="0">
                <a:solidFill>
                  <a:schemeClr val="hlink"/>
                </a:solidFill>
              </a:rPr>
            </a:br>
            <a:r>
              <a:rPr lang="en-US" altLang="zh-CN" b="1" i="1" dirty="0">
                <a:solidFill>
                  <a:schemeClr val="hlink"/>
                </a:solidFill>
                <a:ea typeface="华文中宋" panose="02010600040101010101" pitchFamily="2" charset="-122"/>
              </a:rPr>
              <a:t>Face centered cubic (FCC)</a:t>
            </a:r>
            <a:r>
              <a:rPr lang="en-US" altLang="zh-CN" b="1" dirty="0">
                <a:solidFill>
                  <a:schemeClr val="hlink"/>
                </a:solidFill>
                <a:ea typeface="华文中宋" panose="02010600040101010101" pitchFamily="2" charset="-122"/>
              </a:rPr>
              <a:t> </a:t>
            </a:r>
            <a:endParaRPr lang="zh-CN" altLang="en-US" b="1" dirty="0">
              <a:solidFill>
                <a:schemeClr val="hlink"/>
              </a:solidFill>
            </a:endParaRPr>
          </a:p>
        </p:txBody>
      </p:sp>
      <p:pic>
        <p:nvPicPr>
          <p:cNvPr id="186371" name="movie003面心立方.mov">
            <a:hlinkClick r:id="" action="ppaction://media"/>
          </p:cNvPr>
          <p:cNvPicPr>
            <a:picLocks noGrp="1" noRot="1" noChangeAspect="1"/>
          </p:cNvPicPr>
          <p:nvPr>
            <p:ph sz="half" idx="1"/>
            <a:vide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 cstate="print"/>
          <a:stretch>
            <a:fillRect/>
          </a:stretch>
        </p:blipFill>
        <p:spPr>
          <a:xfrm>
            <a:off x="3923647" y="1574791"/>
            <a:ext cx="2472259" cy="2337057"/>
          </a:xfrm>
        </p:spPr>
      </p:pic>
      <p:pic>
        <p:nvPicPr>
          <p:cNvPr id="186372" name="Picture 4" descr="面心立方晶格"/>
          <p:cNvPicPr preferRelativeResize="0"/>
          <p:nvPr/>
        </p:nvPicPr>
        <p:blipFill>
          <a:blip r:embed="rId4" cstate="print"/>
          <a:stretch>
            <a:fillRect/>
          </a:stretch>
        </p:blipFill>
        <p:spPr>
          <a:xfrm>
            <a:off x="1476375" y="1844675"/>
            <a:ext cx="2017713" cy="23050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6373" name="fcc.mov">
            <a:hlinkClick r:id="" action="ppaction://media"/>
          </p:cNvPr>
          <p:cNvPicPr>
            <a:picLocks noGrp="1" noRot="1" noChangeAspect="1"/>
          </p:cNvPicPr>
          <p:nvPr>
            <p:ph sz="half" idx="2"/>
            <a:videoFile r:link="rId5"/>
            <p:extLst>
              <p:ext uri="{DAA4B4D4-6D71-4841-9C94-3DE7FCFB9230}">
                <p14:media xmlns:p14="http://schemas.microsoft.com/office/powerpoint/2010/main" r:link="rId6"/>
              </p:ext>
            </p:extLst>
          </p:nvPr>
        </p:nvPicPr>
        <p:blipFill>
          <a:blip r:embed="rId7" cstate="print"/>
          <a:stretch>
            <a:fillRect/>
          </a:stretch>
        </p:blipFill>
        <p:spPr>
          <a:xfrm>
            <a:off x="3494088" y="4149725"/>
            <a:ext cx="2736850" cy="2160588"/>
          </a:xfrm>
        </p:spPr>
      </p:pic>
      <p:sp>
        <p:nvSpPr>
          <p:cNvPr id="39943" name="日期占位符 1"/>
          <p:cNvSpPr>
            <a:spLocks noGrp="1"/>
          </p:cNvSpPr>
          <p:nvPr>
            <p:ph type="dt" sz="half" idx="10"/>
          </p:nvPr>
        </p:nvSpPr>
        <p:spPr>
          <a:xfrm>
            <a:off x="79375" y="6526213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6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863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63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" fill="hold"/>
                                        <p:tgtEl>
                                          <p:spTgt spid="18637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6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6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" dur="1" fill="hold"/>
                                        <p:tgtEl>
                                          <p:spTgt spid="18637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863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8" dur="1" fill="hold"/>
                                        <p:tgtEl>
                                          <p:spTgt spid="18637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6371"/>
                  </p:tgtEl>
                </p:cond>
              </p:nextCondLst>
            </p:seq>
            <p:video>
              <p:cMediaNode>
                <p:cTn id="29" repeatCount="indefinite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186371"/>
                </p:tgtEl>
              </p:cMediaNode>
            </p:video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1863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4" dur="1" fill="hold"/>
                                        <p:tgtEl>
                                          <p:spTgt spid="18637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6373"/>
                  </p:tgtEl>
                </p:cond>
              </p:nextCondLst>
            </p:seq>
            <p:video>
              <p:cMediaNode>
                <p:cTn id="35" repeatCount="indefinite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186373"/>
                </p:tgtEl>
              </p:cMediaNode>
            </p:video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496300" y="6592888"/>
            <a:ext cx="450850" cy="277812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87413" name="Text Box 21"/>
          <p:cNvSpPr txBox="1"/>
          <p:nvPr/>
        </p:nvSpPr>
        <p:spPr>
          <a:xfrm>
            <a:off x="495300" y="3048000"/>
            <a:ext cx="7748588" cy="3109913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>
            <a:spAutoFit/>
          </a:bodyPr>
          <a:lstStyle/>
          <a:p>
            <a:pPr>
              <a:lnSpc>
                <a:spcPct val="16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原子个数：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4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配位数：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12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致密度：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74%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常见金属：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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-Fe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、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Ni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、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Al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、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Cu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、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Pb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、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  <a:hlinkClick r:id="rId1" action="ppaction://hlinkfile"/>
              </a:rPr>
              <a:t>Au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、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Ag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等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187414" name="Text Box 22"/>
          <p:cNvSpPr txBox="1"/>
          <p:nvPr/>
        </p:nvSpPr>
        <p:spPr>
          <a:xfrm>
            <a:off x="539750" y="1916113"/>
            <a:ext cx="3733800" cy="52387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晶格常数：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endParaRPr lang="en-US" altLang="zh-CN" sz="2800" b="1" i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87415" name="Rectangle 23"/>
          <p:cNvSpPr>
            <a:spLocks noGrp="1"/>
          </p:cNvSpPr>
          <p:nvPr>
            <p:ph type="body" sz="half" idx="1"/>
          </p:nvPr>
        </p:nvSpPr>
        <p:spPr>
          <a:xfrm>
            <a:off x="1763713" y="0"/>
            <a:ext cx="4248150" cy="137160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  <a:buNone/>
            </a:pPr>
            <a:r>
              <a:rPr lang="zh-CN" altLang="en-US" sz="4400" b="1" dirty="0">
                <a:solidFill>
                  <a:schemeClr val="hlink"/>
                </a:solidFill>
                <a:ea typeface="华文中宋" panose="02010600040101010101" pitchFamily="2" charset="-122"/>
              </a:rPr>
              <a:t>面心立方晶格</a:t>
            </a:r>
            <a:endParaRPr lang="zh-CN" altLang="en-US" sz="4400" b="1" dirty="0">
              <a:solidFill>
                <a:schemeClr val="hlink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24"/>
          <p:cNvGrpSpPr/>
          <p:nvPr/>
        </p:nvGrpSpPr>
        <p:grpSpPr>
          <a:xfrm>
            <a:off x="4859338" y="1412875"/>
            <a:ext cx="4284662" cy="3973513"/>
            <a:chOff x="2592" y="537"/>
            <a:chExt cx="2949" cy="2775"/>
          </a:xfrm>
        </p:grpSpPr>
        <p:pic>
          <p:nvPicPr>
            <p:cNvPr id="40966" name="Picture 25" descr="面心立方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92" y="537"/>
              <a:ext cx="2949" cy="2775"/>
            </a:xfrm>
            <a:prstGeom prst="rect">
              <a:avLst/>
            </a:prstGeom>
            <a:noFill/>
            <a:ln w="57150">
              <a:noFill/>
            </a:ln>
          </p:spPr>
        </p:pic>
        <p:pic>
          <p:nvPicPr>
            <p:cNvPr id="40967" name="Picture 26" descr="FCC晶胞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0" y="2016"/>
              <a:ext cx="1394" cy="1269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8" name="Picture 27" descr="FCC晶胞1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56" y="600"/>
              <a:ext cx="1401" cy="1249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9" name="Picture 28" descr="FCC晶格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16" y="576"/>
              <a:ext cx="1332" cy="132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40971" name="Rectangle 31"/>
          <p:cNvSpPr/>
          <p:nvPr/>
        </p:nvSpPr>
        <p:spPr>
          <a:xfrm>
            <a:off x="0" y="3214688"/>
            <a:ext cx="184150" cy="369887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73" name="Text Box 32"/>
          <p:cNvSpPr txBox="1"/>
          <p:nvPr/>
        </p:nvSpPr>
        <p:spPr>
          <a:xfrm>
            <a:off x="323850" y="2565400"/>
            <a:ext cx="3384054" cy="5842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chemeClr val="folHlink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原子半径</a:t>
            </a:r>
            <a:r>
              <a:rPr lang="en-US" altLang="zh-CN" sz="3200" b="1" dirty="0">
                <a:solidFill>
                  <a:schemeClr val="folHlink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:</a:t>
            </a:r>
            <a:endParaRPr lang="en-US" altLang="zh-CN" sz="3200" b="1" dirty="0">
              <a:solidFill>
                <a:schemeClr val="folHlink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74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59550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6" name="内容占位符 1" descr="新校徽（3M）弓之乐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445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0445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04454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04453" name="Picture 5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483768" y="2492896"/>
            <a:ext cx="432048" cy="72008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74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8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413" grpId="0"/>
      <p:bldP spid="187414" grpId="0"/>
      <p:bldP spid="187415" grpId="0" advAuto="100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34400" y="6572250"/>
            <a:ext cx="420688" cy="309563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43010" name="Rectangle 2"/>
          <p:cNvSpPr>
            <a:spLocks noGrp="1"/>
          </p:cNvSpPr>
          <p:nvPr>
            <p:ph type="title"/>
          </p:nvPr>
        </p:nvSpPr>
        <p:spPr>
          <a:xfrm>
            <a:off x="250825" y="1844675"/>
            <a:ext cx="4537075" cy="4176713"/>
          </a:xfrm>
        </p:spPr>
        <p:txBody>
          <a:bodyPr wrap="square" lIns="91440" tIns="45720" rIns="91440" bIns="45720" anchor="b"/>
          <a:lstStyle/>
          <a:p>
            <a:pPr eaLnBrk="1" hangingPunct="1"/>
            <a:r>
              <a:rPr lang="zh-CN" altLang="en-US" sz="4000" b="1" dirty="0">
                <a:solidFill>
                  <a:srgbClr val="0000FF"/>
                </a:solidFill>
              </a:rPr>
              <a:t>原子力显微镜</a:t>
            </a:r>
            <a:r>
              <a:rPr lang="zh-CN" altLang="en-US" sz="4000" dirty="0"/>
              <a:t>（</a:t>
            </a:r>
            <a:r>
              <a:rPr lang="en-US" altLang="zh-CN" sz="4000" dirty="0">
                <a:solidFill>
                  <a:srgbClr val="FF0000"/>
                </a:solidFill>
              </a:rPr>
              <a:t>AFM</a:t>
            </a:r>
            <a:r>
              <a:rPr lang="zh-CN" altLang="en-US" sz="4000" dirty="0">
                <a:solidFill>
                  <a:srgbClr val="FF0000"/>
                </a:solidFill>
              </a:rPr>
              <a:t>：</a:t>
            </a:r>
            <a:r>
              <a:rPr lang="en-US" altLang="zh-CN" sz="4000" dirty="0"/>
              <a:t>Atomic Force Microscope</a:t>
            </a:r>
            <a:r>
              <a:rPr lang="zh-CN" altLang="en-US" sz="4000" dirty="0"/>
              <a:t>）</a:t>
            </a:r>
            <a:r>
              <a:rPr lang="zh-CN" altLang="en-US" sz="4000" dirty="0">
                <a:solidFill>
                  <a:schemeClr val="tx1"/>
                </a:solidFill>
              </a:rPr>
              <a:t>下观察到的</a:t>
            </a:r>
            <a:r>
              <a:rPr lang="zh-CN" altLang="en-US" sz="4000" b="1" dirty="0">
                <a:solidFill>
                  <a:srgbClr val="0000FF"/>
                </a:solidFill>
              </a:rPr>
              <a:t>金（</a:t>
            </a:r>
            <a:r>
              <a:rPr lang="en-US" altLang="zh-CN" sz="4000" b="1" dirty="0">
                <a:solidFill>
                  <a:srgbClr val="0000FF"/>
                </a:solidFill>
              </a:rPr>
              <a:t>Au</a:t>
            </a:r>
            <a:r>
              <a:rPr lang="zh-CN" altLang="en-US" sz="4000" b="1" dirty="0">
                <a:solidFill>
                  <a:srgbClr val="0000FF"/>
                </a:solidFill>
              </a:rPr>
              <a:t>）</a:t>
            </a:r>
            <a:r>
              <a:rPr lang="zh-CN" altLang="en-US" sz="4000" dirty="0"/>
              <a:t>的</a:t>
            </a:r>
            <a:r>
              <a:rPr lang="zh-CN" altLang="en-US" sz="4000" b="1" dirty="0">
                <a:solidFill>
                  <a:srgbClr val="0000FF"/>
                </a:solidFill>
              </a:rPr>
              <a:t>（</a:t>
            </a:r>
            <a:r>
              <a:rPr lang="en-US" altLang="zh-CN" sz="4000" b="1" dirty="0">
                <a:solidFill>
                  <a:srgbClr val="0000FF"/>
                </a:solidFill>
              </a:rPr>
              <a:t>111</a:t>
            </a:r>
            <a:r>
              <a:rPr lang="zh-CN" altLang="en-US" sz="4000" b="1" dirty="0">
                <a:solidFill>
                  <a:srgbClr val="0000FF"/>
                </a:solidFill>
              </a:rPr>
              <a:t>）</a:t>
            </a:r>
            <a:r>
              <a:rPr lang="zh-CN" altLang="en-US" sz="4000" dirty="0"/>
              <a:t>面上规则排列的原子</a:t>
            </a:r>
            <a:endParaRPr lang="zh-CN" altLang="en-US" sz="4000" dirty="0"/>
          </a:p>
        </p:txBody>
      </p:sp>
      <p:pic>
        <p:nvPicPr>
          <p:cNvPr id="43012" name="Picture 4" descr="《于、齐》fi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888230" y="2132965"/>
            <a:ext cx="4003675" cy="38436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3014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38913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82013" y="6572250"/>
            <a:ext cx="461962" cy="298450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44034" name="Rectangle 2"/>
          <p:cNvSpPr>
            <a:spLocks noGrp="1"/>
          </p:cNvSpPr>
          <p:nvPr>
            <p:ph type="title"/>
          </p:nvPr>
        </p:nvSpPr>
        <p:spPr>
          <a:xfrm>
            <a:off x="1187624" y="260648"/>
            <a:ext cx="7095157" cy="1462087"/>
          </a:xfrm>
        </p:spPr>
        <p:txBody>
          <a:bodyPr wrap="square" lIns="91440" tIns="45720" rIns="91440" bIns="45720" anchor="b"/>
          <a:lstStyle/>
          <a:p>
            <a:pPr eaLnBrk="1" hangingPunct="1"/>
            <a:r>
              <a:rPr lang="en-US" altLang="zh-CN" b="1" dirty="0">
                <a:solidFill>
                  <a:schemeClr val="hlink"/>
                </a:solidFill>
                <a:ea typeface="华文中宋" panose="02010600040101010101" pitchFamily="2" charset="-122"/>
              </a:rPr>
              <a:t>⑶ </a:t>
            </a:r>
            <a:r>
              <a:rPr lang="zh-CN" altLang="en-US" b="1" dirty="0">
                <a:solidFill>
                  <a:schemeClr val="hlink"/>
                </a:solidFill>
                <a:ea typeface="华文中宋" panose="02010600040101010101" pitchFamily="2" charset="-122"/>
              </a:rPr>
              <a:t>密排六方晶格</a:t>
            </a:r>
            <a:r>
              <a:rPr lang="en-US" altLang="zh-CN" b="1" dirty="0">
                <a:solidFill>
                  <a:schemeClr val="hlink"/>
                </a:solidFill>
                <a:ea typeface="华文中宋" panose="02010600040101010101" pitchFamily="2" charset="-122"/>
              </a:rPr>
              <a:t>(</a:t>
            </a:r>
            <a:r>
              <a:rPr lang="en-US" altLang="zh-CN" b="1" dirty="0" err="1">
                <a:solidFill>
                  <a:schemeClr val="hlink"/>
                </a:solidFill>
                <a:ea typeface="华文中宋" panose="02010600040101010101" pitchFamily="2" charset="-122"/>
              </a:rPr>
              <a:t>hcp</a:t>
            </a:r>
            <a:r>
              <a:rPr lang="en-US" altLang="zh-CN" b="1" dirty="0">
                <a:solidFill>
                  <a:schemeClr val="hlink"/>
                </a:solidFill>
                <a:ea typeface="华文中宋" panose="02010600040101010101" pitchFamily="2" charset="-122"/>
              </a:rPr>
              <a:t>)</a:t>
            </a:r>
            <a:br>
              <a:rPr lang="en-US" altLang="zh-CN" b="1" dirty="0">
                <a:solidFill>
                  <a:schemeClr val="hlink"/>
                </a:solidFill>
                <a:ea typeface="华文中宋" panose="02010600040101010101" pitchFamily="2" charset="-122"/>
              </a:rPr>
            </a:br>
            <a:r>
              <a:rPr lang="en-US" altLang="zh-CN" dirty="0"/>
              <a:t>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Hexagonal close packed</a:t>
            </a:r>
            <a:endParaRPr lang="en-US" altLang="zh-CN" b="1" i="1" dirty="0">
              <a:solidFill>
                <a:srgbClr val="FF0000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1025094" y="2389823"/>
            <a:ext cx="3200400" cy="3429000"/>
            <a:chOff x="288" y="1392"/>
            <a:chExt cx="2016" cy="2160"/>
          </a:xfrm>
        </p:grpSpPr>
        <p:sp>
          <p:nvSpPr>
            <p:cNvPr id="44037" name="Rectangle 5"/>
            <p:cNvSpPr/>
            <p:nvPr/>
          </p:nvSpPr>
          <p:spPr>
            <a:xfrm>
              <a:off x="1392" y="3312"/>
              <a:ext cx="912" cy="240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190470" name="2_01[1]密排六方.avi">
            <a:hlinkClick r:id="" action="ppaction://media"/>
          </p:cNvPr>
          <p:cNvPicPr>
            <a:picLocks noGrp="1" noRot="1" noChangeAspect="1"/>
          </p:cNvPicPr>
          <p:nvPr>
            <p:ph idx="1"/>
            <a:vide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 cstate="print"/>
          <a:srcRect l="22145" r="22145"/>
          <a:stretch>
            <a:fillRect/>
          </a:stretch>
        </p:blipFill>
        <p:spPr>
          <a:xfrm>
            <a:off x="5573713" y="2097088"/>
            <a:ext cx="2514600" cy="3384550"/>
          </a:xfrm>
        </p:spPr>
      </p:pic>
      <p:sp>
        <p:nvSpPr>
          <p:cNvPr id="44040" name="日期占位符 1"/>
          <p:cNvSpPr>
            <a:spLocks noGrp="1"/>
          </p:cNvSpPr>
          <p:nvPr>
            <p:ph type="dt" sz="half" idx="10"/>
          </p:nvPr>
        </p:nvSpPr>
        <p:spPr>
          <a:xfrm>
            <a:off x="35560" y="6515100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4" y="3175"/>
            <a:ext cx="845763" cy="8335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5" cstate="print"/>
          <a:srcRect b="5398"/>
          <a:stretch>
            <a:fillRect/>
          </a:stretch>
        </p:blipFill>
        <p:spPr>
          <a:xfrm>
            <a:off x="1120344" y="2156511"/>
            <a:ext cx="3105150" cy="30726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19047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904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19047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470"/>
                  </p:tgtEl>
                </p:cond>
              </p:nextCondLst>
            </p:seq>
            <p:video>
              <p:cMediaNode>
                <p:cTn id="16" repeatCount="indefinite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190470"/>
                </p:tgtEl>
              </p:cMediaNode>
            </p:video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42325" y="6584950"/>
            <a:ext cx="515938" cy="309563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352550" y="355600"/>
            <a:ext cx="6572250" cy="6121400"/>
            <a:chOff x="528" y="-74"/>
            <a:chExt cx="4770" cy="4442"/>
          </a:xfrm>
        </p:grpSpPr>
        <p:pic>
          <p:nvPicPr>
            <p:cNvPr id="47107" name="Picture 3" descr="三种晶胞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24" y="-74"/>
              <a:ext cx="4543" cy="156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7108" name="Picture 4" descr="三种晶胞1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2" y="1435"/>
              <a:ext cx="4543" cy="1493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7109" name="Picture 5" descr="三种晶胞2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8" y="2905"/>
              <a:ext cx="4770" cy="1463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47111" name="日期占位符 1"/>
          <p:cNvSpPr>
            <a:spLocks noGrp="1"/>
          </p:cNvSpPr>
          <p:nvPr>
            <p:ph type="dt" sz="half" idx="10"/>
          </p:nvPr>
        </p:nvSpPr>
        <p:spPr>
          <a:xfrm>
            <a:off x="79375" y="6477000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39163" y="6567488"/>
            <a:ext cx="407987" cy="306387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91503" name="Text Box 15"/>
          <p:cNvSpPr txBox="1"/>
          <p:nvPr/>
        </p:nvSpPr>
        <p:spPr>
          <a:xfrm>
            <a:off x="538163" y="3657600"/>
            <a:ext cx="8001000" cy="276383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800" b="1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原子个数：</a:t>
            </a:r>
            <a:r>
              <a:rPr lang="en-US" altLang="zh-CN" sz="2800" b="1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6</a:t>
            </a:r>
            <a:endParaRPr lang="en-US" altLang="zh-CN" sz="2800" b="1" dirty="0">
              <a:solidFill>
                <a:srgbClr val="0066FF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配位数： </a:t>
            </a:r>
            <a:r>
              <a:rPr lang="en-US" altLang="zh-CN" sz="2800" b="1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12</a:t>
            </a:r>
            <a:endParaRPr lang="en-US" altLang="zh-CN" sz="2800" b="1" dirty="0">
              <a:solidFill>
                <a:srgbClr val="0066FF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致密度：</a:t>
            </a:r>
            <a:r>
              <a:rPr lang="en-US" altLang="zh-CN" sz="2800" b="1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74%</a:t>
            </a:r>
            <a:endParaRPr lang="en-US" altLang="zh-CN" sz="2800" b="1" dirty="0">
              <a:solidFill>
                <a:srgbClr val="0066FF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常见金属： </a:t>
            </a:r>
            <a:r>
              <a:rPr lang="en-US" altLang="zh-CN" sz="2800" b="1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α-Ti </a:t>
            </a:r>
            <a:r>
              <a:rPr lang="zh-CN" altLang="en-US" sz="2800" b="1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Mg</a:t>
            </a:r>
            <a:r>
              <a:rPr lang="zh-CN" altLang="en-US" sz="2800" b="1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、</a:t>
            </a:r>
            <a:r>
              <a:rPr lang="en-US" altLang="zh-CN" sz="2800" b="1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Zn</a:t>
            </a:r>
            <a:r>
              <a:rPr lang="zh-CN" altLang="en-US" sz="2800" b="1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、 </a:t>
            </a:r>
            <a:r>
              <a:rPr lang="en-US" altLang="zh-CN" sz="2800" b="1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Be</a:t>
            </a:r>
            <a:r>
              <a:rPr lang="zh-CN" altLang="en-US" sz="2800" b="1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、</a:t>
            </a:r>
            <a:r>
              <a:rPr lang="en-US" altLang="zh-CN" sz="2800" b="1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Cd</a:t>
            </a:r>
            <a:r>
              <a:rPr lang="zh-CN" altLang="en-US" sz="2800" b="1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等</a:t>
            </a:r>
            <a:endParaRPr lang="zh-CN" altLang="en-US" sz="2800" b="1" dirty="0">
              <a:solidFill>
                <a:srgbClr val="0066FF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191504" name="Text Box 16"/>
          <p:cNvSpPr txBox="1"/>
          <p:nvPr/>
        </p:nvSpPr>
        <p:spPr>
          <a:xfrm>
            <a:off x="328832" y="1921619"/>
            <a:ext cx="6400800" cy="1157287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晶格常数：底面边长 </a:t>
            </a:r>
            <a:r>
              <a:rPr lang="en-US" altLang="zh-CN" sz="2800" b="1" i="1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a </a:t>
            </a:r>
            <a:r>
              <a:rPr lang="zh-CN" altLang="zh-CN" sz="2800" b="1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、</a:t>
            </a:r>
            <a:r>
              <a:rPr lang="zh-CN" altLang="en-US" sz="2800" b="1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高 </a:t>
            </a:r>
            <a:r>
              <a:rPr lang="en-US" altLang="zh-CN" sz="2800" b="1" i="1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c</a:t>
            </a:r>
            <a:r>
              <a:rPr lang="zh-CN" altLang="en-US" sz="2800" b="1" i="1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，</a:t>
            </a:r>
            <a:endParaRPr lang="zh-CN" altLang="en-US" sz="2800" b="1" i="1" dirty="0">
              <a:solidFill>
                <a:srgbClr val="0066FF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800" b="1" i="1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                   </a:t>
            </a:r>
            <a:r>
              <a:rPr lang="en-US" altLang="zh-CN" sz="2800" b="1" i="1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c/a=1.633</a:t>
            </a:r>
            <a:endParaRPr lang="en-US" altLang="zh-CN" sz="2800" b="1" i="1" dirty="0">
              <a:solidFill>
                <a:srgbClr val="0066FF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191505" name="Rectangle 17"/>
          <p:cNvSpPr>
            <a:spLocks noGrp="1"/>
          </p:cNvSpPr>
          <p:nvPr>
            <p:ph idx="1"/>
          </p:nvPr>
        </p:nvSpPr>
        <p:spPr>
          <a:xfrm>
            <a:off x="2464441" y="208757"/>
            <a:ext cx="4295775" cy="83820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20000"/>
              </a:lnSpc>
              <a:buNone/>
            </a:pPr>
            <a:r>
              <a:rPr lang="zh-CN" altLang="en-US" sz="4400" b="1" dirty="0">
                <a:solidFill>
                  <a:schemeClr val="tx2"/>
                </a:solidFill>
                <a:ea typeface="华文中宋" panose="02010600040101010101" pitchFamily="2" charset="-122"/>
              </a:rPr>
              <a:t>密排六方晶格</a:t>
            </a:r>
            <a:endParaRPr lang="zh-CN" altLang="en-US" sz="4400" b="1" dirty="0">
              <a:solidFill>
                <a:schemeClr val="tx2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18"/>
          <p:cNvGrpSpPr/>
          <p:nvPr/>
        </p:nvGrpSpPr>
        <p:grpSpPr>
          <a:xfrm>
            <a:off x="4748113" y="1428750"/>
            <a:ext cx="4395886" cy="4292062"/>
            <a:chOff x="2364" y="180"/>
            <a:chExt cx="3038" cy="3468"/>
          </a:xfrm>
        </p:grpSpPr>
        <p:pic>
          <p:nvPicPr>
            <p:cNvPr id="45062" name="Picture 19" descr="HCP晶格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399" y="1981"/>
              <a:ext cx="1537" cy="1667"/>
            </a:xfrm>
            <a:prstGeom prst="rect">
              <a:avLst/>
            </a:prstGeom>
            <a:noFill/>
            <a:ln w="28575">
              <a:noFill/>
            </a:ln>
          </p:spPr>
        </p:pic>
        <p:grpSp>
          <p:nvGrpSpPr>
            <p:cNvPr id="45063" name="Group 20"/>
            <p:cNvGrpSpPr/>
            <p:nvPr/>
          </p:nvGrpSpPr>
          <p:grpSpPr>
            <a:xfrm>
              <a:off x="2364" y="180"/>
              <a:ext cx="3038" cy="3453"/>
              <a:chOff x="2364" y="180"/>
              <a:chExt cx="3038" cy="3453"/>
            </a:xfrm>
          </p:grpSpPr>
          <p:pic>
            <p:nvPicPr>
              <p:cNvPr id="45065" name="Picture 22" descr="HCP晶胞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936" y="1968"/>
                <a:ext cx="1417" cy="1594"/>
              </a:xfrm>
              <a:prstGeom prst="rect">
                <a:avLst/>
              </a:prstGeom>
              <a:noFill/>
              <a:ln w="28575">
                <a:noFill/>
              </a:ln>
            </p:spPr>
          </p:pic>
          <p:pic>
            <p:nvPicPr>
              <p:cNvPr id="45066" name="Picture 23" descr="密排六方晶格1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364" y="1956"/>
                <a:ext cx="1603" cy="1677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45067" name="Picture 24" descr="HCP1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3876" y="180"/>
                <a:ext cx="1526" cy="1702"/>
              </a:xfrm>
              <a:prstGeom prst="rect">
                <a:avLst/>
              </a:prstGeom>
              <a:noFill/>
              <a:ln w="28575" cap="flat" cmpd="sng">
                <a:solidFill>
                  <a:srgbClr val="FF9900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</p:grpSp>
      </p:grpSp>
      <p:sp>
        <p:nvSpPr>
          <p:cNvPr id="45069" name="Text Box 27"/>
          <p:cNvSpPr txBox="1"/>
          <p:nvPr/>
        </p:nvSpPr>
        <p:spPr>
          <a:xfrm>
            <a:off x="539205" y="2997200"/>
            <a:ext cx="3600747" cy="5842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0066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原子半径</a:t>
            </a:r>
            <a:r>
              <a:rPr lang="zh-CN" altLang="en-US" sz="3200" b="1" dirty="0">
                <a:solidFill>
                  <a:srgbClr val="0066FF"/>
                </a:solidFill>
              </a:rPr>
              <a:t>：</a:t>
            </a:r>
            <a:r>
              <a:rPr lang="en-US" altLang="zh-CN" sz="3200" b="1" dirty="0">
                <a:solidFill>
                  <a:srgbClr val="0066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r=a/2</a:t>
            </a:r>
            <a:endParaRPr lang="en-US" altLang="zh-CN" sz="3200" b="1" dirty="0">
              <a:solidFill>
                <a:srgbClr val="0066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071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67488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7" name="内容占位符 1" descr="新校徽（3M）弓之乐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9684" y="3175"/>
            <a:ext cx="879907" cy="8671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15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1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1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503" grpId="0"/>
      <p:bldP spid="191504" grpId="0"/>
      <p:bldP spid="191505" grpId="0" advAuto="100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80425" y="6526213"/>
            <a:ext cx="477838" cy="284162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94562" name="Rectangle 2"/>
          <p:cNvSpPr>
            <a:spLocks noGrp="1"/>
          </p:cNvSpPr>
          <p:nvPr>
            <p:ph idx="1"/>
          </p:nvPr>
        </p:nvSpPr>
        <p:spPr>
          <a:xfrm>
            <a:off x="1071563" y="285750"/>
            <a:ext cx="7821612" cy="785813"/>
          </a:xfrm>
        </p:spPr>
        <p:txBody>
          <a:bodyPr wrap="square" lIns="91440" tIns="45720" rIns="91440" bIns="45720" anchor="t"/>
          <a:lstStyle/>
          <a:p>
            <a:pPr eaLnBrk="1" hangingPunct="1">
              <a:buNone/>
            </a:pPr>
            <a:r>
              <a:rPr lang="zh-CN" altLang="en-US" sz="4000" b="1" dirty="0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三种常见晶格的密排面和密排方向</a:t>
            </a:r>
            <a:endParaRPr lang="zh-CN" altLang="en-US" sz="4000" b="1" dirty="0">
              <a:solidFill>
                <a:schemeClr val="tx2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graphicFrame>
        <p:nvGraphicFramePr>
          <p:cNvPr id="48132" name="内容占位符 48131"/>
          <p:cNvGraphicFramePr>
            <a:graphicFrameLocks noGrp="1"/>
          </p:cNvGraphicFramePr>
          <p:nvPr>
            <p:ph idx="1"/>
          </p:nvPr>
        </p:nvGraphicFramePr>
        <p:xfrm>
          <a:off x="3743325" y="1196975"/>
          <a:ext cx="5400675" cy="3293745"/>
        </p:xfrm>
        <a:graphic>
          <a:graphicData uri="http://schemas.openxmlformats.org/drawingml/2006/table">
            <a:tbl>
              <a:tblPr/>
              <a:tblGrid>
                <a:gridCol w="1609725"/>
                <a:gridCol w="1008063"/>
                <a:gridCol w="792162"/>
                <a:gridCol w="1373188"/>
                <a:gridCol w="617537"/>
              </a:tblGrid>
              <a:tr h="822325"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lang="zh-CN" altLang="zh-CN" sz="2400" b="1" dirty="0">
                        <a:latin typeface="Tahoma" panose="020B0604030504040204" pitchFamily="34" charset="0"/>
                        <a:ea typeface="仿宋_GB2312" pitchFamily="49" charset="-122"/>
                      </a:endParaRPr>
                    </a:p>
                  </a:txBody>
                  <a:tcPr>
                    <a:lnL w="381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b="1" dirty="0">
                          <a:solidFill>
                            <a:schemeClr val="tx2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rPr>
                        <a:t>密排面</a:t>
                      </a:r>
                      <a:endParaRPr lang="zh-CN" altLang="en-US" sz="2400" b="1" dirty="0">
                        <a:solidFill>
                          <a:schemeClr val="tx2"/>
                        </a:solidFill>
                        <a:latin typeface="Tahoma" panose="020B0604030504040204" pitchFamily="34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b="1" dirty="0">
                          <a:latin typeface="Tahoma" panose="020B0604030504040204" pitchFamily="34" charset="0"/>
                          <a:ea typeface="华文中宋" panose="02010600040101010101" pitchFamily="2" charset="-122"/>
                        </a:rPr>
                        <a:t>数量</a:t>
                      </a:r>
                      <a:endParaRPr lang="zh-CN" altLang="en-US" sz="2400" b="1" dirty="0">
                        <a:latin typeface="Tahoma" panose="020B0604030504040204" pitchFamily="34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b="1" dirty="0">
                          <a:solidFill>
                            <a:srgbClr val="0033CC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rPr>
                        <a:t>密排方向</a:t>
                      </a:r>
                      <a:endParaRPr lang="zh-CN" altLang="en-US" sz="2400" b="1" dirty="0">
                        <a:solidFill>
                          <a:srgbClr val="0033CC"/>
                        </a:solidFill>
                        <a:latin typeface="Tahoma" panose="020B0604030504040204" pitchFamily="34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b="1" dirty="0">
                          <a:latin typeface="Tahoma" panose="020B0604030504040204" pitchFamily="34" charset="0"/>
                          <a:ea typeface="华文中宋" panose="02010600040101010101" pitchFamily="2" charset="-122"/>
                        </a:rPr>
                        <a:t>数量</a:t>
                      </a:r>
                      <a:endParaRPr lang="zh-CN" altLang="en-US" sz="2400" b="1" dirty="0">
                        <a:latin typeface="Tahoma" panose="020B0604030504040204" pitchFamily="34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23913"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b="1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rPr>
                        <a:t>体心立方</a:t>
                      </a:r>
                      <a:r>
                        <a:rPr lang="zh-CN" altLang="en-US" sz="2400" b="1" dirty="0">
                          <a:latin typeface="Tahoma" panose="020B0604030504040204" pitchFamily="34" charset="0"/>
                          <a:ea typeface="华文中宋" panose="02010600040101010101" pitchFamily="2" charset="-122"/>
                        </a:rPr>
                        <a:t>晶格</a:t>
                      </a:r>
                      <a:endParaRPr lang="zh-CN" altLang="en-US" sz="2400" b="1" dirty="0">
                        <a:latin typeface="Tahoma" panose="020B0604030504040204" pitchFamily="34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381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solidFill>
                            <a:schemeClr val="folHlink"/>
                          </a:solidFill>
                          <a:latin typeface="Tahoma" panose="020B0604030504040204" pitchFamily="34" charset="0"/>
                          <a:ea typeface="仿宋_GB2312" pitchFamily="49" charset="-122"/>
                        </a:rPr>
                        <a:t>{110}</a:t>
                      </a:r>
                      <a:endParaRPr lang="en-US" altLang="zh-CN" sz="2400" b="1" dirty="0">
                        <a:solidFill>
                          <a:schemeClr val="folHlink"/>
                        </a:solidFill>
                        <a:latin typeface="Tahoma" panose="020B0604030504040204" pitchFamily="34" charset="0"/>
                        <a:ea typeface="仿宋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solidFill>
                            <a:schemeClr val="folHlink"/>
                          </a:solidFill>
                          <a:latin typeface="Tahoma" panose="020B0604030504040204" pitchFamily="34" charset="0"/>
                          <a:ea typeface="仿宋_GB2312" pitchFamily="49" charset="-122"/>
                        </a:rPr>
                        <a:t>6</a:t>
                      </a:r>
                      <a:endParaRPr lang="en-US" altLang="zh-CN" sz="2400" b="1" dirty="0">
                        <a:solidFill>
                          <a:schemeClr val="folHlink"/>
                        </a:solidFill>
                        <a:latin typeface="Tahoma" panose="020B0604030504040204" pitchFamily="34" charset="0"/>
                        <a:ea typeface="仿宋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solidFill>
                            <a:schemeClr val="folHlink"/>
                          </a:solidFill>
                          <a:latin typeface="Tahoma" panose="020B0604030504040204" pitchFamily="34" charset="0"/>
                          <a:ea typeface="仿宋_GB2312" pitchFamily="49" charset="-122"/>
                        </a:rPr>
                        <a:t>&lt;111&gt;</a:t>
                      </a:r>
                      <a:endParaRPr lang="en-US" altLang="zh-CN" sz="2400" b="1" dirty="0">
                        <a:solidFill>
                          <a:schemeClr val="folHlink"/>
                        </a:solidFill>
                        <a:latin typeface="Tahoma" panose="020B0604030504040204" pitchFamily="34" charset="0"/>
                        <a:ea typeface="仿宋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solidFill>
                            <a:schemeClr val="folHlink"/>
                          </a:solidFill>
                          <a:latin typeface="Tahoma" panose="020B0604030504040204" pitchFamily="34" charset="0"/>
                          <a:ea typeface="仿宋_GB2312" pitchFamily="49" charset="-122"/>
                        </a:rPr>
                        <a:t>4</a:t>
                      </a:r>
                      <a:endParaRPr lang="en-US" altLang="zh-CN" sz="2400" b="1" dirty="0">
                        <a:solidFill>
                          <a:schemeClr val="folHlink"/>
                        </a:solidFill>
                        <a:latin typeface="Tahoma" panose="020B0604030504040204" pitchFamily="34" charset="0"/>
                        <a:ea typeface="仿宋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22325"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b="1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rPr>
                        <a:t>面心立方</a:t>
                      </a:r>
                      <a:r>
                        <a:rPr lang="zh-CN" altLang="en-US" sz="2400" b="1" dirty="0">
                          <a:latin typeface="Tahoma" panose="020B0604030504040204" pitchFamily="34" charset="0"/>
                          <a:ea typeface="华文中宋" panose="02010600040101010101" pitchFamily="2" charset="-122"/>
                        </a:rPr>
                        <a:t>晶格</a:t>
                      </a:r>
                      <a:endParaRPr lang="zh-CN" altLang="en-US" sz="2400" b="1" dirty="0">
                        <a:latin typeface="Tahoma" panose="020B0604030504040204" pitchFamily="34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381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solidFill>
                            <a:schemeClr val="folHlink"/>
                          </a:solidFill>
                          <a:latin typeface="Tahoma" panose="020B0604030504040204" pitchFamily="34" charset="0"/>
                          <a:ea typeface="仿宋_GB2312" pitchFamily="49" charset="-122"/>
                        </a:rPr>
                        <a:t>{111}</a:t>
                      </a:r>
                      <a:endParaRPr lang="en-US" altLang="zh-CN" sz="2400" b="1" dirty="0">
                        <a:solidFill>
                          <a:schemeClr val="folHlink"/>
                        </a:solidFill>
                        <a:latin typeface="Tahoma" panose="020B0604030504040204" pitchFamily="34" charset="0"/>
                        <a:ea typeface="仿宋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solidFill>
                            <a:schemeClr val="folHlink"/>
                          </a:solidFill>
                          <a:latin typeface="Tahoma" panose="020B0604030504040204" pitchFamily="34" charset="0"/>
                          <a:ea typeface="仿宋_GB2312" pitchFamily="49" charset="-122"/>
                        </a:rPr>
                        <a:t>4</a:t>
                      </a:r>
                      <a:endParaRPr lang="en-US" altLang="zh-CN" sz="2400" b="1" dirty="0">
                        <a:solidFill>
                          <a:schemeClr val="folHlink"/>
                        </a:solidFill>
                        <a:latin typeface="Tahoma" panose="020B0604030504040204" pitchFamily="34" charset="0"/>
                        <a:ea typeface="仿宋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solidFill>
                            <a:schemeClr val="folHlink"/>
                          </a:solidFill>
                          <a:latin typeface="Tahoma" panose="020B0604030504040204" pitchFamily="34" charset="0"/>
                          <a:ea typeface="仿宋_GB2312" pitchFamily="49" charset="-122"/>
                        </a:rPr>
                        <a:t>&lt;110&gt;</a:t>
                      </a:r>
                      <a:endParaRPr lang="en-US" altLang="zh-CN" sz="2400" b="1" dirty="0">
                        <a:solidFill>
                          <a:schemeClr val="folHlink"/>
                        </a:solidFill>
                        <a:latin typeface="Tahoma" panose="020B0604030504040204" pitchFamily="34" charset="0"/>
                        <a:ea typeface="仿宋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solidFill>
                            <a:schemeClr val="folHlink"/>
                          </a:solidFill>
                          <a:latin typeface="Tahoma" panose="020B0604030504040204" pitchFamily="34" charset="0"/>
                          <a:ea typeface="仿宋_GB2312" pitchFamily="49" charset="-122"/>
                        </a:rPr>
                        <a:t>6</a:t>
                      </a:r>
                      <a:endParaRPr lang="en-US" altLang="zh-CN" sz="2400" b="1" dirty="0">
                        <a:solidFill>
                          <a:schemeClr val="folHlink"/>
                        </a:solidFill>
                        <a:latin typeface="Tahoma" panose="020B0604030504040204" pitchFamily="34" charset="0"/>
                        <a:ea typeface="仿宋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23912"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b="1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rPr>
                        <a:t>密排六方</a:t>
                      </a:r>
                      <a:r>
                        <a:rPr lang="zh-CN" altLang="en-US" sz="2400" b="1" dirty="0">
                          <a:latin typeface="Tahoma" panose="020B0604030504040204" pitchFamily="34" charset="0"/>
                          <a:ea typeface="华文中宋" panose="02010600040101010101" pitchFamily="2" charset="-122"/>
                        </a:rPr>
                        <a:t>晶格</a:t>
                      </a:r>
                      <a:endParaRPr lang="zh-CN" altLang="en-US" sz="2400" b="1" dirty="0">
                        <a:latin typeface="Tahoma" panose="020B0604030504040204" pitchFamily="34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381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b="1" dirty="0">
                          <a:solidFill>
                            <a:schemeClr val="folHlink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rPr>
                        <a:t>六方底面</a:t>
                      </a:r>
                      <a:endParaRPr lang="zh-CN" altLang="en-US" sz="2400" b="1" dirty="0">
                        <a:solidFill>
                          <a:schemeClr val="folHlink"/>
                        </a:solidFill>
                        <a:latin typeface="Tahoma" panose="020B0604030504040204" pitchFamily="34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solidFill>
                            <a:schemeClr val="folHlink"/>
                          </a:solidFill>
                          <a:latin typeface="Tahoma" panose="020B0604030504040204" pitchFamily="34" charset="0"/>
                          <a:ea typeface="仿宋_GB2312" pitchFamily="49" charset="-122"/>
                        </a:rPr>
                        <a:t>1</a:t>
                      </a:r>
                      <a:endParaRPr lang="en-US" altLang="zh-CN" sz="2400" b="1" dirty="0">
                        <a:solidFill>
                          <a:schemeClr val="folHlink"/>
                        </a:solidFill>
                        <a:latin typeface="Tahoma" panose="020B0604030504040204" pitchFamily="34" charset="0"/>
                        <a:ea typeface="仿宋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b="1" dirty="0">
                          <a:solidFill>
                            <a:schemeClr val="folHlink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rPr>
                        <a:t>底面对角线</a:t>
                      </a:r>
                      <a:endParaRPr lang="zh-CN" altLang="en-US" sz="2400" b="1" dirty="0">
                        <a:solidFill>
                          <a:schemeClr val="folHlink"/>
                        </a:solidFill>
                        <a:latin typeface="Tahoma" panose="020B0604030504040204" pitchFamily="34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solidFill>
                            <a:schemeClr val="folHlink"/>
                          </a:solidFill>
                          <a:latin typeface="Tahoma" panose="020B0604030504040204" pitchFamily="34" charset="0"/>
                          <a:ea typeface="仿宋_GB2312" pitchFamily="49" charset="-122"/>
                        </a:rPr>
                        <a:t>3</a:t>
                      </a:r>
                      <a:endParaRPr lang="en-US" altLang="zh-CN" sz="2400" b="1" dirty="0">
                        <a:solidFill>
                          <a:schemeClr val="folHlink"/>
                        </a:solidFill>
                        <a:latin typeface="Tahoma" panose="020B0604030504040204" pitchFamily="34" charset="0"/>
                        <a:ea typeface="仿宋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00FF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94595" name="Picture 35" descr="三种晶胞2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3779838" y="4868863"/>
            <a:ext cx="4840287" cy="1485900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194596" name="Rectangle 36"/>
          <p:cNvSpPr/>
          <p:nvPr/>
        </p:nvSpPr>
        <p:spPr>
          <a:xfrm>
            <a:off x="0" y="1989138"/>
            <a:ext cx="3779838" cy="453707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晶面原子密度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: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单位面积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晶面上的原子数。</a:t>
            </a:r>
            <a:endParaRPr lang="zh-CN" altLang="en-US" sz="2800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晶向原子密度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: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单位长度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晶向上的原子数。</a:t>
            </a:r>
            <a:endParaRPr lang="zh-CN" altLang="en-US" sz="2800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密排面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或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密排方向</a:t>
            </a:r>
            <a:r>
              <a:rPr lang="en-US" altLang="zh-CN" sz="2800" b="1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: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原子密度最大的晶面或晶向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。</a:t>
            </a:r>
            <a:endParaRPr lang="zh-CN" altLang="en-US" sz="2800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48166" name="日期占位符 1"/>
          <p:cNvSpPr>
            <a:spLocks noGrp="1"/>
          </p:cNvSpPr>
          <p:nvPr>
            <p:ph type="dt" sz="half" idx="10"/>
          </p:nvPr>
        </p:nvSpPr>
        <p:spPr>
          <a:xfrm>
            <a:off x="98425" y="6497638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4" y="3175"/>
            <a:ext cx="918827" cy="9055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45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45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945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4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4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2" grpId="0" advAuto="1000" build="p"/>
      <p:bldP spid="194596" grpId="0" advAuto="100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0178" name="Rectangle 2"/>
          <p:cNvSpPr>
            <a:spLocks noGrp="1"/>
          </p:cNvSpPr>
          <p:nvPr>
            <p:ph type="title"/>
          </p:nvPr>
        </p:nvSpPr>
        <p:spPr>
          <a:xfrm>
            <a:off x="1259632" y="0"/>
            <a:ext cx="7196981" cy="1143000"/>
          </a:xfrm>
        </p:spPr>
        <p:txBody>
          <a:bodyPr wrap="square" lIns="91440" tIns="45720" rIns="91440" bIns="45720" anchor="b"/>
          <a:lstStyle/>
          <a:p>
            <a:pPr eaLnBrk="1" hangingPunct="1"/>
            <a:r>
              <a:rPr lang="zh-CN" altLang="en-US" b="1" dirty="0">
                <a:ea typeface="华文中宋" panose="02010600040101010101" pitchFamily="2" charset="-122"/>
              </a:rPr>
              <a:t>密排面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 packed plane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sp>
        <p:nvSpPr>
          <p:cNvPr id="50179" name="Rectangle 3"/>
          <p:cNvSpPr>
            <a:spLocks noGrp="1"/>
          </p:cNvSpPr>
          <p:nvPr>
            <p:ph idx="1"/>
          </p:nvPr>
        </p:nvSpPr>
        <p:spPr/>
        <p:txBody>
          <a:bodyPr wrap="square" lIns="91440" tIns="45720" rIns="91440" bIns="45720" anchor="t"/>
          <a:lstStyle/>
          <a:p>
            <a:pPr eaLnBrk="1" hangingPunct="1"/>
            <a:endParaRPr lang="zh-CN" altLang="zh-CN" dirty="0"/>
          </a:p>
        </p:txBody>
      </p:sp>
      <p:grpSp>
        <p:nvGrpSpPr>
          <p:cNvPr id="2" name="Group 4"/>
          <p:cNvGrpSpPr/>
          <p:nvPr/>
        </p:nvGrpSpPr>
        <p:grpSpPr>
          <a:xfrm>
            <a:off x="434975" y="1196975"/>
            <a:ext cx="8188325" cy="5232400"/>
            <a:chOff x="225" y="432"/>
            <a:chExt cx="5158" cy="3296"/>
          </a:xfrm>
        </p:grpSpPr>
        <p:grpSp>
          <p:nvGrpSpPr>
            <p:cNvPr id="50181" name="Group 5"/>
            <p:cNvGrpSpPr/>
            <p:nvPr/>
          </p:nvGrpSpPr>
          <p:grpSpPr>
            <a:xfrm>
              <a:off x="225" y="2064"/>
              <a:ext cx="5138" cy="1664"/>
              <a:chOff x="225" y="2064"/>
              <a:chExt cx="5138" cy="1664"/>
            </a:xfrm>
          </p:grpSpPr>
          <p:sp>
            <p:nvSpPr>
              <p:cNvPr id="50182" name="Text Box 6"/>
              <p:cNvSpPr txBox="1"/>
              <p:nvPr/>
            </p:nvSpPr>
            <p:spPr>
              <a:xfrm>
                <a:off x="225" y="3437"/>
                <a:ext cx="1776" cy="2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en-US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体心立方</a:t>
                </a:r>
                <a:r>
                  <a:rPr lang="en-US" altLang="zh-CN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(110)</a:t>
                </a:r>
                <a:r>
                  <a:rPr lang="zh-CN" altLang="en-US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面</a:t>
                </a:r>
                <a:endParaRPr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50183" name="Text Box 7"/>
              <p:cNvSpPr txBox="1"/>
              <p:nvPr/>
            </p:nvSpPr>
            <p:spPr>
              <a:xfrm>
                <a:off x="2160" y="3437"/>
                <a:ext cx="1776" cy="2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en-US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面心立方</a:t>
                </a:r>
                <a:r>
                  <a:rPr lang="en-US" altLang="zh-CN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(111)</a:t>
                </a:r>
                <a:r>
                  <a:rPr lang="zh-CN" altLang="en-US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面</a:t>
                </a:r>
                <a:endParaRPr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50184" name="Text Box 8"/>
              <p:cNvSpPr txBox="1"/>
              <p:nvPr/>
            </p:nvSpPr>
            <p:spPr>
              <a:xfrm>
                <a:off x="3849" y="3438"/>
                <a:ext cx="1514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en-US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密排六方底面</a:t>
                </a:r>
                <a:endParaRPr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pic>
            <p:nvPicPr>
              <p:cNvPr id="50185" name="Picture 9" descr="密六底面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3936" y="2064"/>
                <a:ext cx="1340" cy="132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50186" name="Picture 10" descr="面心(111)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269" y="2064"/>
                <a:ext cx="1414" cy="1314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50187" name="Picture 11" descr="体心(110)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32" y="2064"/>
                <a:ext cx="1362" cy="13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grpSp>
          <p:nvGrpSpPr>
            <p:cNvPr id="50188" name="Group 12"/>
            <p:cNvGrpSpPr/>
            <p:nvPr/>
          </p:nvGrpSpPr>
          <p:grpSpPr>
            <a:xfrm>
              <a:off x="384" y="432"/>
              <a:ext cx="4999" cy="1536"/>
              <a:chOff x="384" y="336"/>
              <a:chExt cx="4999" cy="1536"/>
            </a:xfrm>
          </p:grpSpPr>
          <p:pic>
            <p:nvPicPr>
              <p:cNvPr id="50189" name="Picture 13" descr="三种晶胞2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384" y="338"/>
                <a:ext cx="4999" cy="1534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50190" name="Picture 14" descr="FCC晶格1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2256" y="336"/>
                <a:ext cx="1403" cy="1354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sp>
        <p:nvSpPr>
          <p:cNvPr id="50192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429375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8" name="内容占位符 1" descr="新校徽（3M）弓之乐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9684" y="3175"/>
            <a:ext cx="866603" cy="854076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244205" y="6443980"/>
            <a:ext cx="720725" cy="333375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0178" name="Rectangle 2"/>
          <p:cNvSpPr>
            <a:spLocks noGrp="1"/>
          </p:cNvSpPr>
          <p:nvPr>
            <p:ph type="title"/>
          </p:nvPr>
        </p:nvSpPr>
        <p:spPr>
          <a:xfrm>
            <a:off x="1259840" y="0"/>
            <a:ext cx="7632700" cy="1342390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zh-CN" altLang="en-US" b="1" dirty="0">
                <a:ea typeface="华文中宋" panose="02010600040101010101" pitchFamily="2" charset="-122"/>
              </a:rPr>
              <a:t>密排方向 </a:t>
            </a:r>
            <a:br>
              <a:rPr lang="zh-CN" altLang="en-US" b="1" dirty="0">
                <a:ea typeface="华文中宋" panose="02010600040101010101" pitchFamily="2" charset="-122"/>
              </a:rPr>
            </a:b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 packed direction</a:t>
            </a:r>
            <a:endParaRPr lang="en-US" altLang="zh-C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5"/>
          <p:cNvGrpSpPr/>
          <p:nvPr/>
        </p:nvGrpSpPr>
        <p:grpSpPr>
          <a:xfrm>
            <a:off x="434975" y="3787775"/>
            <a:ext cx="8175625" cy="2641600"/>
            <a:chOff x="225" y="2064"/>
            <a:chExt cx="5150" cy="1664"/>
          </a:xfrm>
        </p:grpSpPr>
        <p:sp>
          <p:nvSpPr>
            <p:cNvPr id="50182" name="Text Box 6"/>
            <p:cNvSpPr txBox="1"/>
            <p:nvPr/>
          </p:nvSpPr>
          <p:spPr>
            <a:xfrm>
              <a:off x="225" y="3437"/>
              <a:ext cx="1776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体心立方</a:t>
              </a: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&lt;111&gt;</a:t>
              </a:r>
              <a:endPara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50183" name="Text Box 7"/>
            <p:cNvSpPr txBox="1"/>
            <p:nvPr/>
          </p:nvSpPr>
          <p:spPr>
            <a:xfrm>
              <a:off x="2160" y="3437"/>
              <a:ext cx="1776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面心立方</a:t>
              </a: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&lt;110&gt;</a:t>
              </a:r>
              <a:endPara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50184" name="Text Box 8"/>
            <p:cNvSpPr txBox="1"/>
            <p:nvPr/>
          </p:nvSpPr>
          <p:spPr>
            <a:xfrm>
              <a:off x="3784" y="3438"/>
              <a:ext cx="1591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lvl="0" algn="ctr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密排六方</a:t>
              </a:r>
              <a:r>
                <a:rPr lang="zh-CN" altLang="en-US" sz="2000" b="1" dirty="0">
                  <a:solidFill>
                    <a:schemeClr val="folHlink"/>
                  </a:solidFill>
                  <a:ea typeface="华文中宋" panose="02010600040101010101" pitchFamily="2" charset="-122"/>
                </a:rPr>
                <a:t>底面对角线</a:t>
              </a:r>
              <a:endPara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pic>
          <p:nvPicPr>
            <p:cNvPr id="50185" name="Picture 9" descr="密六底面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936" y="2064"/>
              <a:ext cx="1340" cy="132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0187" name="Picture 11" descr="体心(110)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2" y="2064"/>
              <a:ext cx="1362" cy="131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0192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429375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8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4" y="3175"/>
            <a:ext cx="918827" cy="9055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" name="Picture 35" descr="三种晶胞2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187624" y="1412776"/>
            <a:ext cx="7271498" cy="2232248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20" name="Picture 11" descr="体心(110)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779912" y="3861048"/>
            <a:ext cx="2160240" cy="191010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58495" y="1676400"/>
            <a:ext cx="8417560" cy="1462405"/>
          </a:xfrm>
        </p:spPr>
        <p:txBody>
          <a:bodyPr/>
          <a:lstStyle/>
          <a:p>
            <a:pPr algn="ctr"/>
            <a:r>
              <a:rPr lang="en-US" altLang="zh-CN" sz="6000" b="1" dirty="0">
                <a:ea typeface="华文中宋" panose="02010600040101010101" pitchFamily="2" charset="-122"/>
                <a:sym typeface="+mn-ea"/>
              </a:rPr>
              <a:t>2</a:t>
            </a:r>
            <a:r>
              <a:rPr lang="zh-CN" altLang="en-US" sz="6000" b="1" dirty="0">
                <a:ea typeface="华文中宋" panose="02010600040101010101" pitchFamily="2" charset="-122"/>
                <a:sym typeface="+mn-ea"/>
              </a:rPr>
              <a:t>、实际金属的晶体结构</a:t>
            </a:r>
            <a:endParaRPr lang="zh-CN" altLang="en-US" sz="6000" dirty="0"/>
          </a:p>
        </p:txBody>
      </p:sp>
      <p:sp>
        <p:nvSpPr>
          <p:cNvPr id="5" name="文本框 4"/>
          <p:cNvSpPr txBox="1"/>
          <p:nvPr/>
        </p:nvSpPr>
        <p:spPr>
          <a:xfrm>
            <a:off x="1027430" y="3357245"/>
            <a:ext cx="716597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6000" b="1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Crystal structures of the actual metals</a:t>
            </a:r>
            <a:endParaRPr lang="en-US" altLang="zh-CN" sz="6000" b="1" i="1" dirty="0">
              <a:solidFill>
                <a:schemeClr val="tx2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2800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515100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379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061325" y="6611938"/>
            <a:ext cx="439738" cy="246062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3797" name="AutoShape 6">
            <a:hlinkClick r:id="rId1" action="ppaction://hlinksldjump"/>
          </p:cNvPr>
          <p:cNvSpPr/>
          <p:nvPr/>
        </p:nvSpPr>
        <p:spPr>
          <a:xfrm>
            <a:off x="8943975" y="6611938"/>
            <a:ext cx="200025" cy="246062"/>
          </a:xfrm>
          <a:prstGeom prst="actionButtonBackPrevious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/>
          <a:lstStyle/>
          <a:p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96300" y="6519863"/>
            <a:ext cx="450850" cy="319087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95938" name="Rectangle 2"/>
          <p:cNvSpPr>
            <a:spLocks noGrp="1"/>
          </p:cNvSpPr>
          <p:nvPr>
            <p:ph type="title"/>
          </p:nvPr>
        </p:nvSpPr>
        <p:spPr>
          <a:xfrm>
            <a:off x="1500188" y="642938"/>
            <a:ext cx="6264275" cy="654050"/>
          </a:xfrm>
        </p:spPr>
        <p:txBody>
          <a:bodyPr wrap="square" lIns="91440" tIns="45720" rIns="91440" bIns="45720" anchor="b"/>
          <a:lstStyle/>
          <a:p>
            <a:pPr eaLnBrk="1" hangingPunct="1"/>
            <a:r>
              <a:rPr lang="en-US" altLang="zh-CN" b="1" dirty="0">
                <a:ea typeface="华文中宋" panose="02010600040101010101" pitchFamily="2" charset="-122"/>
              </a:rPr>
              <a:t>2</a:t>
            </a:r>
            <a:r>
              <a:rPr lang="zh-CN" altLang="en-US" b="1" dirty="0">
                <a:ea typeface="华文中宋" panose="02010600040101010101" pitchFamily="2" charset="-122"/>
              </a:rPr>
              <a:t>、实际金属的晶体结构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sp>
        <p:nvSpPr>
          <p:cNvPr id="295944" name="Rectangle 8"/>
          <p:cNvSpPr>
            <a:spLocks noGrp="1"/>
          </p:cNvSpPr>
          <p:nvPr>
            <p:ph idx="1"/>
          </p:nvPr>
        </p:nvSpPr>
        <p:spPr>
          <a:xfrm>
            <a:off x="468313" y="2205038"/>
            <a:ext cx="8101012" cy="3887787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</a:rPr>
              <a:t>晶体缺陷</a:t>
            </a:r>
            <a:endParaRPr lang="en-US" altLang="zh-CN" b="1" dirty="0">
              <a:solidFill>
                <a:schemeClr val="folHlink"/>
              </a:solidFill>
            </a:endParaRPr>
          </a:p>
          <a:p>
            <a:pPr eaLnBrk="1" hangingPunct="1">
              <a:lnSpc>
                <a:spcPct val="130000"/>
              </a:lnSpc>
            </a:pPr>
            <a:endParaRPr lang="zh-CN" altLang="en-US" b="1" dirty="0">
              <a:solidFill>
                <a:schemeClr val="folHlink"/>
              </a:solidFill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单晶体、多晶体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</p:txBody>
      </p:sp>
      <p:sp>
        <p:nvSpPr>
          <p:cNvPr id="51205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519863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4" y="3175"/>
            <a:ext cx="845763" cy="8335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5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959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959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938" grpId="0"/>
      <p:bldP spid="295944" grpId="0" advAuto="100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29625" y="6569075"/>
            <a:ext cx="525463" cy="288925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3250" name="Rectangle 2"/>
          <p:cNvSpPr>
            <a:spLocks noGrp="1"/>
          </p:cNvSpPr>
          <p:nvPr>
            <p:ph type="title"/>
          </p:nvPr>
        </p:nvSpPr>
        <p:spPr>
          <a:xfrm>
            <a:off x="1403648" y="332656"/>
            <a:ext cx="7272808" cy="1462087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zh-CN" altLang="en-US" b="1" dirty="0">
                <a:ea typeface="华文中宋" panose="02010600040101010101" pitchFamily="2" charset="-122"/>
              </a:rPr>
              <a:t>晶体缺陷 </a:t>
            </a:r>
            <a:br>
              <a:rPr lang="zh-CN" altLang="en-US" b="1" dirty="0">
                <a:ea typeface="华文中宋" panose="02010600040101010101" pitchFamily="2" charset="-122"/>
              </a:rPr>
            </a:br>
            <a:r>
              <a:rPr lang="en-US" altLang="zh-CN" b="1" i="1" dirty="0">
                <a:ea typeface="华文中宋" panose="02010600040101010101" pitchFamily="2" charset="-122"/>
              </a:rPr>
              <a:t>Crystal defect</a:t>
            </a:r>
            <a:endParaRPr lang="en-US" altLang="zh-CN" b="1" i="1" dirty="0">
              <a:ea typeface="华文中宋" panose="02010600040101010101" pitchFamily="2" charset="-122"/>
            </a:endParaRPr>
          </a:p>
        </p:txBody>
      </p:sp>
      <p:sp>
        <p:nvSpPr>
          <p:cNvPr id="201731" name="Rectangle 3"/>
          <p:cNvSpPr>
            <a:spLocks noGrp="1" noChangeArrowheads="1"/>
          </p:cNvSpPr>
          <p:nvPr>
            <p:ph idx="1"/>
          </p:nvPr>
        </p:nvSpPr>
        <p:spPr>
          <a:xfrm>
            <a:off x="971600" y="2276872"/>
            <a:ext cx="7772400" cy="4114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晶体缺陷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：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晶格的</a:t>
            </a:r>
            <a:r>
              <a:rPr kumimoji="0" lang="zh-CN" altLang="en-US" b="1" i="0" u="none" strike="noStrike" kern="1200" cap="none" spc="0" normalizeH="0" baseline="0" dirty="0">
                <a:solidFill>
                  <a:srgbClr val="3333FF"/>
                </a:solidFill>
                <a:latin typeface="+mn-lt"/>
                <a:ea typeface="华文中宋" panose="02010600040101010101" pitchFamily="2" charset="-122"/>
                <a:cs typeface="+mn-cs"/>
              </a:rPr>
              <a:t>不完整部位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。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实际金属中存在着大量的晶体缺陷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按几何形状特征可分为三类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: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    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中宋" panose="02010600040101010101" pitchFamily="2" charset="-122"/>
              </a:rPr>
              <a:t>点缺陷、线缺陷、面缺陷</a:t>
            </a:r>
            <a:endParaRPr lang="zh-CN" altLang="en-US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53253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42088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4" y="3175"/>
            <a:ext cx="918827" cy="9055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圆角矩形 1" descr="7b0a202020202262756c6c6574223a20227b5c2263617465676f727949645c223a31303032352c5c2274656d706c61746549645c223a32303233313437347d220a7d0a"/>
          <p:cNvSpPr/>
          <p:nvPr>
            <p:custDataLst>
              <p:tags r:id="rId2"/>
            </p:custDataLst>
          </p:nvPr>
        </p:nvSpPr>
        <p:spPr>
          <a:xfrm>
            <a:off x="1259205" y="2564765"/>
            <a:ext cx="175260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800" b="1" kern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sym typeface="+mn-ea"/>
              </a:rPr>
              <a:t>晶体</a:t>
            </a:r>
            <a:r>
              <a:rPr lang="zh-CN" altLang="en-US" sz="2800" b="1" dirty="0">
                <a:solidFill>
                  <a:srgbClr val="3333FF"/>
                </a:solidFill>
                <a:ea typeface="华文中宋" panose="02010600040101010101" pitchFamily="2" charset="-122"/>
                <a:sym typeface="+mn-ea"/>
              </a:rPr>
              <a:t>缺陷</a:t>
            </a:r>
            <a:endParaRPr lang="zh-CN" altLang="en-US" sz="2800" b="1" dirty="0">
              <a:solidFill>
                <a:srgbClr val="3333FF"/>
              </a:solidFill>
              <a:latin typeface="微软雅黑" panose="020B0503020204020204" charset="-122"/>
              <a:ea typeface="华文中宋" panose="02010600040101010101" pitchFamily="2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64550" y="6577013"/>
            <a:ext cx="490538" cy="273050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4274" name="Rectangle 2"/>
          <p:cNvSpPr>
            <a:spLocks noGrp="1"/>
          </p:cNvSpPr>
          <p:nvPr>
            <p:ph type="title"/>
          </p:nvPr>
        </p:nvSpPr>
        <p:spPr>
          <a:xfrm>
            <a:off x="2195830" y="260350"/>
            <a:ext cx="5015230" cy="1423670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en-US" altLang="zh-CN" b="1" dirty="0">
                <a:latin typeface="宋体" panose="02010600030101010101" pitchFamily="2" charset="-122"/>
              </a:rPr>
              <a:t>①</a:t>
            </a:r>
            <a:r>
              <a:rPr lang="zh-CN" altLang="en-US" b="1" dirty="0">
                <a:ea typeface="华文中宋" panose="02010600040101010101" pitchFamily="2" charset="-122"/>
              </a:rPr>
              <a:t>点缺陷 </a:t>
            </a:r>
            <a:br>
              <a:rPr lang="zh-CN" altLang="en-US" b="1" dirty="0">
                <a:ea typeface="华文中宋" panose="02010600040101010101" pitchFamily="2" charset="-122"/>
              </a:rPr>
            </a:br>
            <a:r>
              <a:rPr lang="en-US" altLang="zh-CN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Point defect</a:t>
            </a:r>
            <a:endParaRPr lang="en-US" altLang="zh-CN" b="1" i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2755" name="Rectangle 3"/>
          <p:cNvSpPr>
            <a:spLocks noGrp="1" noChangeArrowheads="1"/>
          </p:cNvSpPr>
          <p:nvPr>
            <p:ph idx="1"/>
          </p:nvPr>
        </p:nvSpPr>
        <p:spPr>
          <a:xfrm>
            <a:off x="881380" y="1917700"/>
            <a:ext cx="8074025" cy="421513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定义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     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：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空间三维尺寸都很小的缺陷。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800" b="1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分类</a:t>
            </a:r>
            <a:r>
              <a:rPr kumimoji="0" lang="zh-CN" altLang="en-US" sz="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：空位、间隙原子、置换原子</a:t>
            </a:r>
            <a:endParaRPr kumimoji="0" lang="zh-CN" altLang="en-US" sz="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en-US" altLang="zh-CN" sz="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</p:txBody>
      </p:sp>
      <p:pic>
        <p:nvPicPr>
          <p:cNvPr id="202756" name="Picture 4" descr="点缺陷示意图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3923983" y="4004628"/>
            <a:ext cx="4445000" cy="2700337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54278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42088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4" y="3175"/>
            <a:ext cx="918827" cy="9055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圆角矩形 1" descr="7b0a202020202262756c6c6574223a20227b5c2263617465676f727949645c223a31303032352c5c2274656d706c61746549645c223a32303233313437347d220a7d0a"/>
          <p:cNvSpPr/>
          <p:nvPr>
            <p:custDataLst>
              <p:tags r:id="rId3"/>
            </p:custDataLst>
          </p:nvPr>
        </p:nvSpPr>
        <p:spPr>
          <a:xfrm>
            <a:off x="1188085" y="1988820"/>
            <a:ext cx="1453515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800" b="1" dirty="0">
                <a:solidFill>
                  <a:srgbClr val="3333FF"/>
                </a:solidFill>
                <a:ea typeface="华文中宋" panose="02010600040101010101" pitchFamily="2" charset="-122"/>
                <a:sym typeface="+mn-ea"/>
              </a:rPr>
              <a:t>点缺陷</a:t>
            </a:r>
            <a:endParaRPr lang="zh-CN" altLang="en-US" sz="2800" b="1" dirty="0">
              <a:solidFill>
                <a:srgbClr val="3333FF"/>
              </a:solidFill>
              <a:latin typeface="微软雅黑" panose="020B0503020204020204" charset="-122"/>
              <a:ea typeface="华文中宋" panose="02010600040101010101" pitchFamily="2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970355" y="2752725"/>
            <a:ext cx="3550845" cy="1613535"/>
            <a:chOff x="9328" y="3132"/>
            <a:chExt cx="5392" cy="2541"/>
          </a:xfrm>
        </p:grpSpPr>
        <p:grpSp>
          <p:nvGrpSpPr>
            <p:cNvPr id="6" name="组合 5"/>
            <p:cNvGrpSpPr/>
            <p:nvPr/>
          </p:nvGrpSpPr>
          <p:grpSpPr>
            <a:xfrm>
              <a:off x="9328" y="3132"/>
              <a:ext cx="5299" cy="2432"/>
              <a:chOff x="7678" y="4054"/>
              <a:chExt cx="5321" cy="2432"/>
            </a:xfrm>
          </p:grpSpPr>
          <p:sp>
            <p:nvSpPr>
              <p:cNvPr id="7" name="文本框 2"/>
              <p:cNvSpPr txBox="1">
                <a:spLocks noChangeArrowheads="1"/>
              </p:cNvSpPr>
              <p:nvPr/>
            </p:nvSpPr>
            <p:spPr bwMode="auto">
              <a:xfrm>
                <a:off x="7678" y="4779"/>
                <a:ext cx="2363" cy="152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2700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algn="ctr">
                  <a:buClrTx/>
                  <a:buSzTx/>
                  <a:buFontTx/>
                </a:pPr>
                <a:r>
                  <a:rPr lang="zh-CN" altLang="en-US" sz="2800" b="1" dirty="0">
                    <a:solidFill>
                      <a:srgbClr val="3333FF"/>
                    </a:solidFill>
                    <a:ea typeface="华文中宋" panose="02010600040101010101" pitchFamily="2" charset="-122"/>
                    <a:sym typeface="+mn-ea"/>
                  </a:rPr>
                  <a:t>点缺陷</a:t>
                </a:r>
                <a:r>
                  <a:rPr lang="en-US" altLang="zh-CN" sz="2800" b="1" dirty="0">
                    <a:solidFill>
                      <a:srgbClr val="3333FF"/>
                    </a:solidFill>
                    <a:ea typeface="华文中宋" panose="02010600040101010101" pitchFamily="2" charset="-122"/>
                    <a:sym typeface="+mn-ea"/>
                  </a:rPr>
                  <a:t>(</a:t>
                </a:r>
                <a:r>
                  <a:rPr lang="zh-CN" altLang="en-US" sz="2800" b="1" dirty="0">
                    <a:solidFill>
                      <a:srgbClr val="3333FF"/>
                    </a:solidFill>
                    <a:ea typeface="华文中宋" panose="02010600040101010101" pitchFamily="2" charset="-122"/>
                    <a:sym typeface="+mn-ea"/>
                  </a:rPr>
                  <a:t>分类</a:t>
                </a:r>
                <a:r>
                  <a:rPr lang="en-US" altLang="zh-CN" sz="2800" b="1" dirty="0">
                    <a:solidFill>
                      <a:srgbClr val="3333FF"/>
                    </a:solidFill>
                    <a:ea typeface="华文中宋" panose="02010600040101010101" pitchFamily="2" charset="-122"/>
                    <a:sym typeface="+mn-ea"/>
                  </a:rPr>
                  <a:t>)</a:t>
                </a:r>
                <a:endParaRPr lang="zh-CN" altLang="en-US" sz="2800" b="1" dirty="0">
                  <a:solidFill>
                    <a:srgbClr val="3333FF"/>
                  </a:solidFill>
                  <a:ea typeface="华文中宋" panose="02010600040101010101" pitchFamily="2" charset="-122"/>
                  <a:sym typeface="+mn-ea"/>
                </a:endParaRPr>
              </a:p>
            </p:txBody>
          </p:sp>
          <p:sp>
            <p:nvSpPr>
              <p:cNvPr id="3" name="左大括号 40"/>
              <p:cNvSpPr/>
              <p:nvPr/>
            </p:nvSpPr>
            <p:spPr>
              <a:xfrm>
                <a:off x="10172" y="4290"/>
                <a:ext cx="252" cy="2196"/>
              </a:xfrm>
              <a:prstGeom prst="leftBrace">
                <a:avLst>
                  <a:gd name="adj1" fmla="val 59444"/>
                  <a:gd name="adj2" fmla="val 50000"/>
                </a:avLst>
              </a:prstGeom>
              <a:noFill/>
              <a:ln w="12700" cap="flat" cmpd="sng" algn="ctr">
                <a:solidFill>
                  <a:srgbClr val="5B9BD5"/>
                </a:solidFill>
                <a:prstDash val="solid"/>
                <a:miter lim="800000"/>
              </a:ln>
              <a:effectLst/>
            </p:spPr>
          </p:sp>
          <p:sp>
            <p:nvSpPr>
              <p:cNvPr id="10" name="文本框 2"/>
              <p:cNvSpPr txBox="1">
                <a:spLocks noChangeArrowheads="1"/>
              </p:cNvSpPr>
              <p:nvPr/>
            </p:nvSpPr>
            <p:spPr bwMode="auto">
              <a:xfrm>
                <a:off x="10558" y="4937"/>
                <a:ext cx="2441" cy="725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 algn="ctr"/>
                <a:r>
                  <a:rPr lang="zh-CN" altLang="en-US" sz="2400" b="1" kern="0" noProof="0">
                    <a:ln>
                      <a:noFill/>
                    </a:ln>
                    <a:effectLst/>
                    <a:uLnTx/>
                    <a:uFillTx/>
                    <a:latin typeface="+mn-lt"/>
                    <a:ea typeface="华文中宋" panose="02010600040101010101" pitchFamily="2" charset="-122"/>
                    <a:sym typeface="+mn-ea"/>
                  </a:rPr>
                  <a:t>间隙原子</a:t>
                </a:r>
                <a:endParaRPr lang="zh-CN" altLang="en-US" sz="2400" b="1" kern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华文中宋" panose="02010600040101010101" pitchFamily="2" charset="-122"/>
                  <a:cs typeface="Times New Roman" panose="02020603050405020304"/>
                  <a:sym typeface="+mn-ea"/>
                </a:endParaRPr>
              </a:p>
            </p:txBody>
          </p:sp>
          <p:sp>
            <p:nvSpPr>
              <p:cNvPr id="11" name="文本框 2"/>
              <p:cNvSpPr txBox="1">
                <a:spLocks noChangeArrowheads="1"/>
              </p:cNvSpPr>
              <p:nvPr/>
            </p:nvSpPr>
            <p:spPr bwMode="auto">
              <a:xfrm>
                <a:off x="10558" y="4054"/>
                <a:ext cx="1796" cy="725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 algn="ctr"/>
                <a:r>
                  <a:rPr lang="zh-CN" altLang="en-US" sz="2400" b="1" kern="0" noProof="0">
                    <a:ln>
                      <a:noFill/>
                    </a:ln>
                    <a:effectLst/>
                    <a:uLnTx/>
                    <a:uFillTx/>
                    <a:latin typeface="+mn-lt"/>
                    <a:ea typeface="华文中宋" panose="02010600040101010101" pitchFamily="2" charset="-122"/>
                    <a:sym typeface="+mn-ea"/>
                  </a:rPr>
                  <a:t>空位</a:t>
                </a:r>
                <a:endParaRPr lang="zh-CN" altLang="en-US" sz="2400" b="1" kern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华文中宋" panose="02010600040101010101" pitchFamily="2" charset="-122"/>
                  <a:cs typeface="Times New Roman" panose="02020603050405020304"/>
                  <a:sym typeface="+mn-ea"/>
                </a:endParaRPr>
              </a:p>
            </p:txBody>
          </p:sp>
        </p:grpSp>
        <p:sp>
          <p:nvSpPr>
            <p:cNvPr id="4" name="文本框 2"/>
            <p:cNvSpPr txBox="1">
              <a:spLocks noChangeArrowheads="1"/>
            </p:cNvSpPr>
            <p:nvPr/>
          </p:nvSpPr>
          <p:spPr bwMode="auto">
            <a:xfrm>
              <a:off x="12195" y="4948"/>
              <a:ext cx="2525" cy="725"/>
            </a:xfrm>
            <a:prstGeom prst="rect">
              <a:avLst/>
            </a:prstGeom>
            <a:solidFill>
              <a:schemeClr val="accent5"/>
            </a:solidFill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ctr"/>
              <a:r>
                <a:rPr lang="zh-CN" altLang="en-US" sz="2400" b="1" kern="0" noProof="0">
                  <a:ln>
                    <a:noFill/>
                  </a:ln>
                  <a:effectLst/>
                  <a:uLnTx/>
                  <a:uFillTx/>
                  <a:latin typeface="+mn-lt"/>
                  <a:ea typeface="华文中宋" panose="02010600040101010101" pitchFamily="2" charset="-122"/>
                  <a:sym typeface="+mn-ea"/>
                </a:rPr>
                <a:t>置换原子</a:t>
              </a:r>
              <a:endParaRPr lang="zh-CN" altLang="en-US" sz="2400" b="1" kern="0" noProof="0" dirty="0">
                <a:ln>
                  <a:noFill/>
                </a:ln>
                <a:effectLst/>
                <a:uLnTx/>
                <a:uFillTx/>
                <a:latin typeface="+mn-lt"/>
                <a:ea typeface="华文中宋" panose="02010600040101010101" pitchFamily="2" charset="-122"/>
                <a:cs typeface="Times New Roman" panose="02020603050405020304"/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2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05825" y="6559550"/>
            <a:ext cx="441325" cy="298450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03778" name="Rectangle 2"/>
          <p:cNvSpPr>
            <a:spLocks noGrp="1"/>
          </p:cNvSpPr>
          <p:nvPr>
            <p:ph idx="1"/>
          </p:nvPr>
        </p:nvSpPr>
        <p:spPr>
          <a:xfrm>
            <a:off x="395288" y="1700213"/>
            <a:ext cx="8294687" cy="381000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25000"/>
              </a:lnSpc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空位  ：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晶格中某些缺排原子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空结点。</a:t>
            </a:r>
            <a:endParaRPr lang="zh-CN" altLang="en-US" b="1" dirty="0">
              <a:solidFill>
                <a:srgbClr val="FF0000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25000"/>
              </a:lnSpc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间隙原子：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挤进晶格间隙中的原子。</a:t>
            </a:r>
            <a:r>
              <a:rPr lang="zh-CN" altLang="en-US" b="1" dirty="0">
                <a:ea typeface="华文中宋" panose="02010600040101010101" pitchFamily="2" charset="-122"/>
              </a:rPr>
              <a:t>可以是</a:t>
            </a:r>
            <a:r>
              <a:rPr lang="zh-CN" altLang="en-US" b="1" kern="1200" dirty="0">
                <a:solidFill>
                  <a:srgbClr val="3333FF"/>
                </a:solidFill>
                <a:ea typeface="华文中宋" panose="02010600040101010101" pitchFamily="2" charset="-122"/>
              </a:rPr>
              <a:t>基体金属原子</a:t>
            </a:r>
            <a:r>
              <a:rPr lang="zh-CN" altLang="en-US" b="1" dirty="0">
                <a:ea typeface="华文中宋" panose="02010600040101010101" pitchFamily="2" charset="-122"/>
              </a:rPr>
              <a:t>，也可以是</a:t>
            </a:r>
            <a:r>
              <a:rPr lang="zh-CN" altLang="en-US" b="1" kern="1200" dirty="0">
                <a:solidFill>
                  <a:srgbClr val="3333FF"/>
                </a:solidFill>
                <a:ea typeface="华文中宋" panose="02010600040101010101" pitchFamily="2" charset="-122"/>
              </a:rPr>
              <a:t>外来原子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grpSp>
        <p:nvGrpSpPr>
          <p:cNvPr id="55299" name="Group 3"/>
          <p:cNvGrpSpPr/>
          <p:nvPr/>
        </p:nvGrpSpPr>
        <p:grpSpPr>
          <a:xfrm>
            <a:off x="2843213" y="3933825"/>
            <a:ext cx="5257800" cy="2924175"/>
            <a:chOff x="519" y="2544"/>
            <a:chExt cx="1918" cy="1345"/>
          </a:xfrm>
        </p:grpSpPr>
        <p:pic>
          <p:nvPicPr>
            <p:cNvPr id="55300" name="Picture 4" descr="体心立方间隙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36" y="2557"/>
              <a:ext cx="1879" cy="1133"/>
            </a:xfrm>
            <a:prstGeom prst="rect">
              <a:avLst/>
            </a:prstGeom>
            <a:noFill/>
            <a:ln w="28575">
              <a:noFill/>
            </a:ln>
          </p:spPr>
        </p:pic>
        <p:sp>
          <p:nvSpPr>
            <p:cNvPr id="55301" name="Rectangle 5"/>
            <p:cNvSpPr/>
            <p:nvPr/>
          </p:nvSpPr>
          <p:spPr>
            <a:xfrm>
              <a:off x="519" y="2544"/>
              <a:ext cx="1918" cy="134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5302" name="Rectangle 6"/>
            <p:cNvSpPr/>
            <p:nvPr/>
          </p:nvSpPr>
          <p:spPr>
            <a:xfrm>
              <a:off x="537" y="3687"/>
              <a:ext cx="1870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>
                <a:spcBef>
                  <a:spcPct val="50000"/>
                </a:spcBef>
              </a:pPr>
              <a:r>
                <a:rPr lang="zh-CN" altLang="en-US" sz="1600" b="1" dirty="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体心立方的四面体</a:t>
              </a:r>
              <a:r>
                <a:rPr lang="zh-CN" altLang="en-US" sz="16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Arial Unicode MS" panose="020B0604020202020204" pitchFamily="34" charset="-122"/>
                </a:rPr>
                <a:t>间隙</a:t>
              </a:r>
              <a:r>
                <a:rPr lang="zh-CN" altLang="en-US" sz="1600" b="1" dirty="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和八面体间隙</a:t>
              </a:r>
              <a:endParaRPr lang="zh-CN" altLang="en-US" sz="1600" b="1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55303" name="Rectangle 7"/>
          <p:cNvSpPr>
            <a:spLocks noGrp="1"/>
          </p:cNvSpPr>
          <p:nvPr>
            <p:ph type="title"/>
          </p:nvPr>
        </p:nvSpPr>
        <p:spPr>
          <a:xfrm>
            <a:off x="1187450" y="260985"/>
            <a:ext cx="6188075" cy="1295400"/>
          </a:xfrm>
        </p:spPr>
        <p:txBody>
          <a:bodyPr wrap="square" lIns="92075" tIns="46038" rIns="92075" bIns="46038" anchor="ctr"/>
          <a:lstStyle/>
          <a:p>
            <a:pPr algn="ctr" eaLnBrk="1" hangingPunct="1"/>
            <a:r>
              <a:rPr lang="zh-CN" altLang="en-US" b="1" dirty="0"/>
              <a:t>点缺陷 </a:t>
            </a:r>
            <a:br>
              <a:rPr lang="zh-CN" altLang="en-US" b="1" dirty="0"/>
            </a:br>
            <a:r>
              <a:rPr lang="en-US" altLang="zh-CN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Point defect</a:t>
            </a:r>
            <a:endParaRPr lang="en-US" altLang="zh-CN" b="1" i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5305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37325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4" y="3175"/>
            <a:ext cx="799985" cy="788421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圆角矩形 1" descr="7b0a202020202262756c6c6574223a20227b5c2263617465676f727949645c223a31303032352c5c2274656d706c61746549645c223a32303233313437347d220a7d0a"/>
          <p:cNvSpPr/>
          <p:nvPr>
            <p:custDataLst>
              <p:tags r:id="rId3"/>
            </p:custDataLst>
          </p:nvPr>
        </p:nvSpPr>
        <p:spPr>
          <a:xfrm>
            <a:off x="755650" y="1917065"/>
            <a:ext cx="1066165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800" b="1" dirty="0">
                <a:solidFill>
                  <a:srgbClr val="3333FF"/>
                </a:solidFill>
                <a:ea typeface="华文中宋" panose="02010600040101010101" pitchFamily="2" charset="-122"/>
                <a:sym typeface="+mn-ea"/>
              </a:rPr>
              <a:t>空位</a:t>
            </a:r>
            <a:endParaRPr lang="zh-CN" altLang="en-US" sz="2800" b="1" dirty="0">
              <a:solidFill>
                <a:srgbClr val="3333FF"/>
              </a:solidFill>
              <a:latin typeface="微软雅黑" panose="020B0503020204020204" charset="-122"/>
              <a:ea typeface="华文中宋" panose="02010600040101010101" pitchFamily="2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圆角矩形 2" descr="7b0a202020202262756c6c6574223a20227b5c2263617465676f727949645c223a31303032352c5c2274656d706c61746549645c223a32303233313437347d220a7d0a"/>
          <p:cNvSpPr/>
          <p:nvPr>
            <p:custDataLst>
              <p:tags r:id="rId4"/>
            </p:custDataLst>
          </p:nvPr>
        </p:nvSpPr>
        <p:spPr>
          <a:xfrm>
            <a:off x="755650" y="2564765"/>
            <a:ext cx="1741805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800" b="1" dirty="0">
                <a:solidFill>
                  <a:srgbClr val="3333FF"/>
                </a:solidFill>
                <a:ea typeface="华文中宋" panose="02010600040101010101" pitchFamily="2" charset="-122"/>
                <a:sym typeface="+mn-ea"/>
              </a:rPr>
              <a:t>间隙原子</a:t>
            </a:r>
            <a:endParaRPr lang="zh-CN" altLang="en-US" sz="2800" b="1" dirty="0">
              <a:solidFill>
                <a:srgbClr val="3333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3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37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778" grpId="0" advAuto="100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67750" y="6551613"/>
            <a:ext cx="438150" cy="334962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204802" name="Picture 2" descr="IMAGE007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5929313" y="1928813"/>
            <a:ext cx="2997200" cy="2698750"/>
          </a:xfrm>
          <a:prstGeom prst="rect">
            <a:avLst/>
          </a:prstGeom>
          <a:noFill/>
          <a:ln w="38100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204803" name="Rectangle 3"/>
          <p:cNvSpPr>
            <a:spLocks noGrp="1" noChangeArrowheads="1"/>
          </p:cNvSpPr>
          <p:nvPr>
            <p:ph idx="1"/>
          </p:nvPr>
        </p:nvSpPr>
        <p:spPr>
          <a:xfrm>
            <a:off x="546614" y="2001333"/>
            <a:ext cx="5327650" cy="4114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置换原子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：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取代原来原子位置的外来原子。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点缺陷的影响：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破坏了原子的平衡状态，使晶格发生扭曲，称</a:t>
            </a:r>
            <a:r>
              <a:rPr kumimoji="0" lang="zh-CN" altLang="en-US" sz="2800" b="1" i="0" u="none" strike="noStrike" kern="1200" cap="none" spc="0" normalizeH="0" baseline="0" dirty="0">
                <a:solidFill>
                  <a:srgbClr val="3333FF"/>
                </a:solidFill>
                <a:ea typeface="华文中宋" panose="02010600040101010101" pitchFamily="2" charset="-122"/>
              </a:rPr>
              <a:t>晶格畸变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。从而使</a:t>
            </a:r>
            <a:r>
              <a:rPr kumimoji="0" lang="zh-CN" altLang="en-US" sz="2800" b="1" i="0" u="none" strike="noStrike" kern="1200" cap="none" spc="0" normalizeH="0" baseline="0" dirty="0">
                <a:solidFill>
                  <a:srgbClr val="3333FF"/>
                </a:solidFill>
                <a:latin typeface="+mn-lt"/>
                <a:ea typeface="华文中宋" panose="02010600040101010101" pitchFamily="2" charset="-122"/>
                <a:cs typeface="+mn-cs"/>
              </a:rPr>
              <a:t>强度、硬度</a:t>
            </a:r>
            <a:r>
              <a:rPr kumimoji="0" lang="zh-CN" altLang="en-US" sz="2800" b="1" i="0" u="none" strike="noStrike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cs typeface="+mn-cs"/>
              </a:rPr>
              <a:t>提高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塑性、韧性</a:t>
            </a:r>
            <a:r>
              <a:rPr kumimoji="0" lang="zh-CN" altLang="en-US" sz="2800" b="1" i="0" u="none" strike="noStrike" kern="1200" cap="none" spc="0" normalizeH="0" baseline="0" dirty="0">
                <a:solidFill>
                  <a:srgbClr val="3333FF"/>
                </a:solidFill>
                <a:latin typeface="+mn-lt"/>
                <a:ea typeface="华文中宋" panose="02010600040101010101" pitchFamily="2" charset="-122"/>
                <a:cs typeface="+mn-cs"/>
              </a:rPr>
              <a:t>下降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1214438" y="5080000"/>
            <a:ext cx="7737475" cy="1781175"/>
            <a:chOff x="432" y="2640"/>
            <a:chExt cx="4874" cy="1408"/>
          </a:xfrm>
        </p:grpSpPr>
        <p:grpSp>
          <p:nvGrpSpPr>
            <p:cNvPr id="56325" name="Group 5"/>
            <p:cNvGrpSpPr>
              <a:grpSpLocks noChangeAspect="1"/>
            </p:cNvGrpSpPr>
            <p:nvPr/>
          </p:nvGrpSpPr>
          <p:grpSpPr>
            <a:xfrm>
              <a:off x="432" y="2640"/>
              <a:ext cx="4874" cy="1093"/>
              <a:chOff x="480" y="2880"/>
              <a:chExt cx="5060" cy="1135"/>
            </a:xfrm>
          </p:grpSpPr>
          <p:pic>
            <p:nvPicPr>
              <p:cNvPr id="56326" name="Picture 6" descr="空位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80" y="2880"/>
                <a:ext cx="1195" cy="1132"/>
              </a:xfrm>
              <a:prstGeom prst="rect">
                <a:avLst/>
              </a:prstGeom>
              <a:noFill/>
              <a:ln w="38100" cap="flat" cmpd="sng">
                <a:solidFill>
                  <a:srgbClr val="FF6600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pic>
            <p:nvPicPr>
              <p:cNvPr id="56327" name="Picture 7" descr="间隙原子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758" y="2880"/>
                <a:ext cx="1206" cy="1132"/>
              </a:xfrm>
              <a:prstGeom prst="rect">
                <a:avLst/>
              </a:prstGeom>
              <a:noFill/>
              <a:ln w="38100" cap="flat" cmpd="sng">
                <a:solidFill>
                  <a:srgbClr val="FF6600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pic>
            <p:nvPicPr>
              <p:cNvPr id="56328" name="Picture 8" descr="小置换原子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3062" y="2880"/>
                <a:ext cx="1186" cy="1135"/>
              </a:xfrm>
              <a:prstGeom prst="rect">
                <a:avLst/>
              </a:prstGeom>
              <a:noFill/>
              <a:ln w="38100" cap="flat" cmpd="sng">
                <a:solidFill>
                  <a:srgbClr val="FF6600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pic>
            <p:nvPicPr>
              <p:cNvPr id="56329" name="Picture 9" descr="大置换原子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320" y="2880"/>
                <a:ext cx="1220" cy="1135"/>
              </a:xfrm>
              <a:prstGeom prst="rect">
                <a:avLst/>
              </a:prstGeom>
              <a:noFill/>
              <a:ln w="38100" cap="flat" cmpd="sng">
                <a:solidFill>
                  <a:srgbClr val="FF6600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</p:grpSp>
        <p:sp>
          <p:nvSpPr>
            <p:cNvPr id="56330" name="Text Box 10"/>
            <p:cNvSpPr txBox="1"/>
            <p:nvPr/>
          </p:nvSpPr>
          <p:spPr>
            <a:xfrm>
              <a:off x="765" y="3744"/>
              <a:ext cx="480" cy="29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rPr>
                <a:t>空位</a:t>
              </a:r>
              <a:endPara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华文细黑" panose="02010600040101010101" pitchFamily="2" charset="-122"/>
              </a:endParaRPr>
            </a:p>
          </p:txBody>
        </p:sp>
        <p:sp>
          <p:nvSpPr>
            <p:cNvPr id="56331" name="Text Box 11"/>
            <p:cNvSpPr txBox="1"/>
            <p:nvPr/>
          </p:nvSpPr>
          <p:spPr>
            <a:xfrm>
              <a:off x="1833" y="3744"/>
              <a:ext cx="816" cy="29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rPr>
                <a:t>间隙原子</a:t>
              </a:r>
              <a:endPara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华文细黑" panose="02010600040101010101" pitchFamily="2" charset="-122"/>
              </a:endParaRPr>
            </a:p>
          </p:txBody>
        </p:sp>
        <p:sp>
          <p:nvSpPr>
            <p:cNvPr id="56332" name="Text Box 12"/>
            <p:cNvSpPr txBox="1"/>
            <p:nvPr/>
          </p:nvSpPr>
          <p:spPr>
            <a:xfrm>
              <a:off x="3033" y="3746"/>
              <a:ext cx="912" cy="29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rPr>
                <a:t>小置换原子</a:t>
              </a:r>
              <a:endPara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华文细黑" panose="02010600040101010101" pitchFamily="2" charset="-122"/>
              </a:endParaRPr>
            </a:p>
          </p:txBody>
        </p:sp>
        <p:sp>
          <p:nvSpPr>
            <p:cNvPr id="56333" name="Text Box 13"/>
            <p:cNvSpPr txBox="1"/>
            <p:nvPr/>
          </p:nvSpPr>
          <p:spPr>
            <a:xfrm>
              <a:off x="4281" y="3756"/>
              <a:ext cx="912" cy="29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rPr>
                <a:t>大置换原子</a:t>
              </a:r>
              <a:endPara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华文细黑" panose="02010600040101010101" pitchFamily="2" charset="-122"/>
              </a:endParaRPr>
            </a:p>
          </p:txBody>
        </p:sp>
      </p:grpSp>
      <p:sp>
        <p:nvSpPr>
          <p:cNvPr id="56334" name="Rectangle 14"/>
          <p:cNvSpPr>
            <a:spLocks noGrp="1"/>
          </p:cNvSpPr>
          <p:nvPr>
            <p:ph type="title"/>
          </p:nvPr>
        </p:nvSpPr>
        <p:spPr>
          <a:xfrm>
            <a:off x="1331640" y="188640"/>
            <a:ext cx="7488832" cy="1240110"/>
          </a:xfrm>
        </p:spPr>
        <p:txBody>
          <a:bodyPr wrap="square" lIns="92075" tIns="46038" rIns="92075" bIns="46038" anchor="ctr"/>
          <a:lstStyle/>
          <a:p>
            <a:pPr eaLnBrk="1" hangingPunct="1"/>
            <a:r>
              <a:rPr lang="zh-CN" altLang="en-US" b="1" dirty="0"/>
              <a:t>点缺陷</a:t>
            </a:r>
            <a:r>
              <a:rPr lang="en-US" altLang="zh-CN" b="1" dirty="0">
                <a:latin typeface="Arial" panose="020B0604020202020204" pitchFamily="34" charset="0"/>
              </a:rPr>
              <a:t>——</a:t>
            </a:r>
            <a:r>
              <a:rPr lang="zh-CN" altLang="en-US" b="1" dirty="0">
                <a:solidFill>
                  <a:srgbClr val="0066FF"/>
                </a:solidFill>
                <a:ea typeface="华文中宋" panose="02010600040101010101" pitchFamily="2" charset="-122"/>
              </a:rPr>
              <a:t>置换原子</a:t>
            </a:r>
            <a:r>
              <a:rPr lang="zh-CN" altLang="en-US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i="1" dirty="0" err="1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Substitutional</a:t>
            </a:r>
            <a:r>
              <a:rPr lang="en-US" altLang="zh-CN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atom</a:t>
            </a:r>
            <a:r>
              <a:rPr lang="zh-CN" altLang="en-US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b="1" i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336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429375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8" name="内容占位符 1" descr="新校徽（3M）弓之乐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9684" y="3175"/>
            <a:ext cx="918827" cy="9055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圆角矩形 2" descr="7b0a202020202262756c6c6574223a20227b5c2263617465676f727949645c223a31303032352c5c2274656d706c61746549645c223a32303233313437347d220a7d0a"/>
          <p:cNvSpPr/>
          <p:nvPr>
            <p:custDataLst>
              <p:tags r:id="rId7"/>
            </p:custDataLst>
          </p:nvPr>
        </p:nvSpPr>
        <p:spPr>
          <a:xfrm>
            <a:off x="766445" y="2061210"/>
            <a:ext cx="1739265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800" b="1" dirty="0">
                <a:solidFill>
                  <a:srgbClr val="3333FF"/>
                </a:solidFill>
                <a:ea typeface="华文中宋" panose="02010600040101010101" pitchFamily="2" charset="-122"/>
                <a:sym typeface="+mn-ea"/>
              </a:rPr>
              <a:t>置换原子</a:t>
            </a:r>
            <a:endParaRPr lang="zh-CN" altLang="en-US" sz="2800" b="1" dirty="0">
              <a:solidFill>
                <a:srgbClr val="3333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4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048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048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3" grpId="0" advAuto="100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50300" y="6575425"/>
            <a:ext cx="454025" cy="280988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06850" name="Rectangle 2"/>
          <p:cNvSpPr>
            <a:spLocks noGrp="1"/>
          </p:cNvSpPr>
          <p:nvPr>
            <p:ph idx="1"/>
          </p:nvPr>
        </p:nvSpPr>
        <p:spPr>
          <a:xfrm>
            <a:off x="395288" y="1942783"/>
            <a:ext cx="5329237" cy="297180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90000"/>
              </a:lnSpc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位错 ：</a:t>
            </a:r>
            <a:r>
              <a:rPr lang="zh-CN" altLang="en-US" sz="2800" b="1" dirty="0">
                <a:ea typeface="华文中宋" panose="02010600040101010101" pitchFamily="2" charset="-122"/>
              </a:rPr>
              <a:t>晶格中一部分晶体相对于另一部分晶体发生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局部滑移</a:t>
            </a:r>
            <a:r>
              <a:rPr lang="zh-CN" altLang="en-US" sz="2800" b="1" dirty="0">
                <a:solidFill>
                  <a:srgbClr val="FFFF00"/>
                </a:solidFill>
                <a:ea typeface="华文中宋" panose="02010600040101010101" pitchFamily="2" charset="-122"/>
              </a:rPr>
              <a:t>，</a:t>
            </a:r>
            <a:r>
              <a:rPr lang="zh-CN" altLang="en-US" sz="2800" b="1" dirty="0">
                <a:ea typeface="华文中宋" panose="02010600040101010101" pitchFamily="2" charset="-122"/>
              </a:rPr>
              <a:t>滑移面上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已滑移区</a:t>
            </a:r>
            <a:r>
              <a:rPr lang="zh-CN" altLang="en-US" sz="2800" b="1" dirty="0">
                <a:ea typeface="华文中宋" panose="02010600040101010101" pitchFamily="2" charset="-122"/>
              </a:rPr>
              <a:t>与</a:t>
            </a:r>
            <a:r>
              <a:rPr lang="zh-CN" altLang="en-US" sz="2800" b="1" dirty="0">
                <a:solidFill>
                  <a:srgbClr val="FF0000"/>
                </a:solidFill>
              </a:rPr>
              <a:t>未滑移区</a:t>
            </a:r>
            <a:r>
              <a:rPr lang="zh-CN" altLang="en-US" sz="2800" b="1" dirty="0"/>
              <a:t>的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交界线</a:t>
            </a:r>
            <a:endParaRPr lang="zh-CN" altLang="en-US" sz="2800" b="1" dirty="0">
              <a:solidFill>
                <a:srgbClr val="0033CC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类型：刃型位错</a:t>
            </a:r>
            <a:r>
              <a:rPr lang="zh-CN" altLang="en-US" sz="2800" b="1" dirty="0">
                <a:solidFill>
                  <a:schemeClr val="tx2"/>
                </a:solidFill>
              </a:rPr>
              <a:t>、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螺型位错、混合位错</a:t>
            </a:r>
            <a:r>
              <a:rPr lang="en-US" altLang="zh-CN" sz="2800" b="1" dirty="0">
                <a:solidFill>
                  <a:schemeClr val="tx2"/>
                </a:solidFill>
              </a:rPr>
              <a:t>.</a:t>
            </a:r>
            <a:endParaRPr lang="en-US" altLang="zh-CN" sz="2800" b="1" dirty="0">
              <a:solidFill>
                <a:schemeClr val="tx2"/>
              </a:solidFill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1025525" y="2073910"/>
            <a:ext cx="7750175" cy="4652963"/>
            <a:chOff x="510" y="384"/>
            <a:chExt cx="4882" cy="3780"/>
          </a:xfrm>
        </p:grpSpPr>
        <p:pic>
          <p:nvPicPr>
            <p:cNvPr id="58372" name="Picture 4" descr="位错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10" y="2304"/>
              <a:ext cx="4874" cy="1772"/>
            </a:xfrm>
            <a:prstGeom prst="rect">
              <a:avLst/>
            </a:prstGeom>
            <a:noFill/>
            <a:ln w="3810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58373" name="Text Box 5"/>
            <p:cNvSpPr txBox="1"/>
            <p:nvPr/>
          </p:nvSpPr>
          <p:spPr>
            <a:xfrm>
              <a:off x="1603" y="3839"/>
              <a:ext cx="845" cy="32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9933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刃型位错</a:t>
              </a:r>
              <a:r>
                <a:rPr lang="zh-CN" altLang="en-US" sz="2000" b="1" dirty="0">
                  <a:solidFill>
                    <a:schemeClr val="hlink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</a:rPr>
                <a:t> </a:t>
              </a:r>
              <a:endParaRPr lang="zh-CN" altLang="en-US" sz="2000" b="1" dirty="0">
                <a:solidFill>
                  <a:schemeClr val="hlink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</a:endParaRPr>
            </a:p>
          </p:txBody>
        </p:sp>
        <p:sp>
          <p:nvSpPr>
            <p:cNvPr id="58374" name="Text Box 6"/>
            <p:cNvSpPr txBox="1"/>
            <p:nvPr/>
          </p:nvSpPr>
          <p:spPr>
            <a:xfrm>
              <a:off x="4166" y="3839"/>
              <a:ext cx="795" cy="32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r>
                <a:rPr lang="zh-CN" altLang="en-US" sz="2000" b="1" dirty="0">
                  <a:solidFill>
                    <a:srgbClr val="9933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螺型位错</a:t>
              </a:r>
              <a:endParaRPr lang="zh-CN" altLang="en-US" sz="2800" b="1" dirty="0">
                <a:solidFill>
                  <a:srgbClr val="9933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pic>
          <p:nvPicPr>
            <p:cNvPr id="58375" name="Picture 7" descr="刃位错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38" y="384"/>
              <a:ext cx="1954" cy="1361"/>
            </a:xfrm>
            <a:prstGeom prst="rect">
              <a:avLst/>
            </a:prstGeom>
            <a:noFill/>
            <a:ln w="28575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</p:pic>
      </p:grpSp>
      <p:sp>
        <p:nvSpPr>
          <p:cNvPr id="58376" name="Rectangle 8"/>
          <p:cNvSpPr>
            <a:spLocks noGrp="1"/>
          </p:cNvSpPr>
          <p:nvPr>
            <p:ph type="title"/>
          </p:nvPr>
        </p:nvSpPr>
        <p:spPr>
          <a:xfrm>
            <a:off x="1143000" y="285750"/>
            <a:ext cx="7772400" cy="1143000"/>
          </a:xfrm>
        </p:spPr>
        <p:txBody>
          <a:bodyPr wrap="square" lIns="92075" tIns="46038" rIns="92075" bIns="46038" anchor="ctr"/>
          <a:lstStyle/>
          <a:p>
            <a:pPr eaLnBrk="1" hangingPunct="1"/>
            <a:r>
              <a:rPr lang="en-US" altLang="zh-CN" sz="4000" b="1" dirty="0">
                <a:ea typeface="华文中宋" panose="02010600040101010101" pitchFamily="2" charset="-122"/>
              </a:rPr>
              <a:t>②</a:t>
            </a:r>
            <a:r>
              <a:rPr lang="zh-CN" altLang="en-US" sz="4000" b="1" dirty="0"/>
              <a:t>线缺陷（</a:t>
            </a:r>
            <a:r>
              <a:rPr lang="en-US" altLang="zh-CN" sz="4000" b="1" i="1" dirty="0"/>
              <a:t>Linear defect</a:t>
            </a:r>
            <a:r>
              <a:rPr lang="zh-CN" altLang="en-US" sz="4000" b="1" dirty="0"/>
              <a:t>）</a:t>
            </a:r>
            <a:br>
              <a:rPr lang="en-US" altLang="zh-CN" sz="4000" b="1" dirty="0"/>
            </a:br>
            <a:r>
              <a:rPr lang="en-US" altLang="zh-CN" sz="4000" b="1" dirty="0">
                <a:latin typeface="Arial" panose="020B0604020202020204" pitchFamily="34" charset="0"/>
              </a:rPr>
              <a:t>——</a:t>
            </a:r>
            <a:r>
              <a:rPr lang="zh-CN" altLang="en-US" sz="4000" b="1" dirty="0"/>
              <a:t>位错</a:t>
            </a:r>
            <a:r>
              <a:rPr lang="zh-CN" altLang="en-US" sz="4000" b="1" dirty="0">
                <a:solidFill>
                  <a:schemeClr val="hlink"/>
                </a:solidFill>
              </a:rPr>
              <a:t>（</a:t>
            </a:r>
            <a:r>
              <a:rPr lang="en-US" altLang="zh-CN" sz="4000" b="1" i="1" dirty="0">
                <a:solidFill>
                  <a:srgbClr val="0000FF"/>
                </a:solidFill>
              </a:rPr>
              <a:t>Dislocation</a:t>
            </a:r>
            <a:r>
              <a:rPr lang="zh-CN" altLang="en-US" sz="4000" b="1" dirty="0">
                <a:solidFill>
                  <a:schemeClr val="hlink"/>
                </a:solidFill>
              </a:rPr>
              <a:t>）</a:t>
            </a:r>
            <a:endParaRPr lang="zh-CN" altLang="en-US" sz="4000" b="1" dirty="0">
              <a:solidFill>
                <a:schemeClr val="hlink"/>
              </a:solidFill>
            </a:endParaRPr>
          </a:p>
        </p:txBody>
      </p:sp>
      <p:sp>
        <p:nvSpPr>
          <p:cNvPr id="58378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484938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37" y="0"/>
            <a:ext cx="922049" cy="9087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圆角矩形 2" descr="7b0a202020202262756c6c6574223a20227b5c2263617465676f727949645c223a31303032352c5c2274656d706c61746549645c223a32303233313437347d220a7d0a"/>
          <p:cNvSpPr/>
          <p:nvPr>
            <p:custDataLst>
              <p:tags r:id="rId4"/>
            </p:custDataLst>
          </p:nvPr>
        </p:nvSpPr>
        <p:spPr>
          <a:xfrm>
            <a:off x="683895" y="1917065"/>
            <a:ext cx="1066165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800" b="1" dirty="0">
                <a:solidFill>
                  <a:srgbClr val="3333FF"/>
                </a:solidFill>
                <a:ea typeface="华文中宋" panose="02010600040101010101" pitchFamily="2" charset="-122"/>
                <a:sym typeface="+mn-ea"/>
              </a:rPr>
              <a:t>位错</a:t>
            </a:r>
            <a:endParaRPr lang="zh-CN" altLang="en-US" sz="2800" b="1" dirty="0">
              <a:solidFill>
                <a:srgbClr val="3333FF"/>
              </a:solidFill>
              <a:latin typeface="微软雅黑" panose="020B0503020204020204" charset="-122"/>
              <a:ea typeface="华文中宋" panose="02010600040101010101" pitchFamily="2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6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68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50" grpId="0" advAuto="100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400" dirty="0"/>
            </a:fld>
            <a:endParaRPr lang="zh-CN" altLang="en-US" sz="1400" dirty="0"/>
          </a:p>
        </p:txBody>
      </p:sp>
      <p:sp>
        <p:nvSpPr>
          <p:cNvPr id="6041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08898" name="Rectangle 2"/>
          <p:cNvSpPr>
            <a:spLocks noGrp="1"/>
          </p:cNvSpPr>
          <p:nvPr>
            <p:ph idx="1"/>
          </p:nvPr>
        </p:nvSpPr>
        <p:spPr>
          <a:xfrm>
            <a:off x="467360" y="1628775"/>
            <a:ext cx="8604250" cy="2896235"/>
          </a:xfrm>
        </p:spPr>
        <p:txBody>
          <a:bodyPr wrap="square" lIns="91440" tIns="45720" rIns="91440" bIns="45720" anchor="t"/>
          <a:lstStyle/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刃型位错  ：</a:t>
            </a:r>
            <a:r>
              <a:rPr lang="zh-CN" altLang="en-US" sz="2800" b="1" dirty="0">
                <a:ea typeface="华文中宋" panose="02010600040101010101" pitchFamily="2" charset="-122"/>
              </a:rPr>
              <a:t>当一个完整晶体某晶面以上的某处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多出</a:t>
            </a:r>
            <a:r>
              <a:rPr lang="zh-CN" altLang="en-US" sz="2800" b="1" dirty="0">
                <a:solidFill>
                  <a:srgbClr val="FF0000"/>
                </a:solidFill>
                <a:ea typeface="华文中宋" panose="02010600040101010101" pitchFamily="2" charset="-122"/>
              </a:rPr>
              <a:t>半个原子面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，</a:t>
            </a:r>
            <a:r>
              <a:rPr lang="zh-CN" altLang="en-US" sz="2800" b="1" dirty="0">
                <a:ea typeface="华文中宋" panose="02010600040101010101" pitchFamily="2" charset="-122"/>
              </a:rPr>
              <a:t>该晶面象刀刃一样切入晶体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，这个多余原子面的边缘</a:t>
            </a:r>
            <a:r>
              <a:rPr lang="zh-CN" altLang="en-US" sz="2800" b="1" dirty="0">
                <a:ea typeface="华文中宋" panose="02010600040101010101" pitchFamily="2" charset="-122"/>
              </a:rPr>
              <a:t>就是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刃型位错</a:t>
            </a:r>
            <a:r>
              <a:rPr lang="zh-CN" altLang="en-US" sz="2800" b="1" dirty="0">
                <a:ea typeface="华文中宋" panose="02010600040101010101" pitchFamily="2" charset="-122"/>
              </a:rPr>
              <a:t>。</a:t>
            </a:r>
            <a:endParaRPr lang="zh-CN" altLang="en-US" sz="2800" b="1" dirty="0">
              <a:ea typeface="华文中宋" panose="02010600040101010101" pitchFamily="2" charset="-122"/>
            </a:endParaRP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sz="2800" b="1" dirty="0">
                <a:ea typeface="华文中宋" panose="02010600040101010101" pitchFamily="2" charset="-122"/>
              </a:rPr>
              <a:t>半原子面在滑移面以上的称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正位错</a:t>
            </a:r>
            <a:r>
              <a:rPr lang="zh-CN" altLang="en-US" sz="2800" b="1" dirty="0">
                <a:ea typeface="华文中宋" panose="02010600040101010101" pitchFamily="2" charset="-122"/>
              </a:rPr>
              <a:t>，用</a:t>
            </a:r>
            <a:r>
              <a:rPr lang="zh-CN" altLang="en-US" sz="2800" b="1" dirty="0">
                <a:latin typeface="Arial" panose="020B0604020202020204" pitchFamily="34" charset="0"/>
                <a:ea typeface="华文中宋" panose="02010600040101010101" pitchFamily="2" charset="-122"/>
              </a:rPr>
              <a:t>“</a:t>
            </a:r>
            <a:r>
              <a:rPr lang="zh-CN" altLang="en-US" sz="2800" b="1" dirty="0">
                <a:ea typeface="华文中宋" panose="02010600040101010101" pitchFamily="2" charset="-122"/>
              </a:rPr>
              <a:t>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┴</a:t>
            </a:r>
            <a:r>
              <a:rPr lang="zh-CN" altLang="en-US" sz="2800" b="1" dirty="0">
                <a:solidFill>
                  <a:srgbClr val="CCFFFF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Arial" panose="020B0604020202020204" pitchFamily="34" charset="0"/>
                <a:ea typeface="华文中宋" panose="02010600040101010101" pitchFamily="2" charset="-122"/>
              </a:rPr>
              <a:t>”</a:t>
            </a:r>
            <a:r>
              <a:rPr lang="zh-CN" altLang="en-US" sz="2800" b="1" dirty="0">
                <a:ea typeface="华文中宋" panose="02010600040101010101" pitchFamily="2" charset="-122"/>
              </a:rPr>
              <a:t>表示</a:t>
            </a:r>
            <a:r>
              <a:rPr lang="en-US" altLang="zh-CN" sz="2800" b="1" dirty="0">
                <a:ea typeface="华文中宋" panose="02010600040101010101" pitchFamily="2" charset="-122"/>
              </a:rPr>
              <a:t>.</a:t>
            </a:r>
            <a:endParaRPr lang="en-US" altLang="zh-CN" sz="2800" b="1" dirty="0">
              <a:ea typeface="华文中宋" panose="02010600040101010101" pitchFamily="2" charset="-122"/>
            </a:endParaRP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sz="2800" b="1" dirty="0">
                <a:ea typeface="华文中宋" panose="02010600040101010101" pitchFamily="2" charset="-122"/>
              </a:rPr>
              <a:t>半原子面在滑移面以下的称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负位错</a:t>
            </a:r>
            <a:r>
              <a:rPr lang="zh-CN" altLang="en-US" sz="2800" b="1" dirty="0">
                <a:ea typeface="华文中宋" panose="02010600040101010101" pitchFamily="2" charset="-122"/>
              </a:rPr>
              <a:t>，用</a:t>
            </a:r>
            <a:r>
              <a:rPr lang="zh-CN" altLang="en-US" sz="2800" b="1" dirty="0">
                <a:latin typeface="Arial" panose="020B0604020202020204" pitchFamily="34" charset="0"/>
                <a:ea typeface="华文中宋" panose="02010600040101010101" pitchFamily="2" charset="-122"/>
              </a:rPr>
              <a:t>“</a:t>
            </a:r>
            <a:r>
              <a:rPr lang="zh-CN" altLang="en-US" sz="2800" b="1" dirty="0">
                <a:ea typeface="华文中宋" panose="02010600040101010101" pitchFamily="2" charset="-122"/>
              </a:rPr>
              <a:t>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┬</a:t>
            </a:r>
            <a:r>
              <a:rPr lang="zh-CN" altLang="en-US" sz="2800" b="1" dirty="0">
                <a:solidFill>
                  <a:srgbClr val="CCFFFF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Arial" panose="020B0604020202020204" pitchFamily="34" charset="0"/>
                <a:ea typeface="华文中宋" panose="02010600040101010101" pitchFamily="2" charset="-122"/>
              </a:rPr>
              <a:t>”</a:t>
            </a:r>
            <a:r>
              <a:rPr lang="zh-CN" altLang="en-US" sz="2800" b="1" dirty="0">
                <a:ea typeface="华文中宋" panose="02010600040101010101" pitchFamily="2" charset="-122"/>
              </a:rPr>
              <a:t>表示</a:t>
            </a:r>
            <a:r>
              <a:rPr lang="en-US" altLang="zh-CN" sz="2800" b="1" dirty="0">
                <a:ea typeface="华文中宋" panose="02010600040101010101" pitchFamily="2" charset="-122"/>
              </a:rPr>
              <a:t>.</a:t>
            </a:r>
            <a:endParaRPr lang="en-US" altLang="zh-CN" sz="2800" b="1" dirty="0">
              <a:ea typeface="华文中宋" panose="02010600040101010101" pitchFamily="2" charset="-122"/>
            </a:endParaRPr>
          </a:p>
        </p:txBody>
      </p:sp>
      <p:pic>
        <p:nvPicPr>
          <p:cNvPr id="208899" name="Picture 3" descr="刃位错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79388" y="4437063"/>
            <a:ext cx="4275137" cy="2159000"/>
          </a:xfrm>
          <a:prstGeom prst="rect">
            <a:avLst/>
          </a:prstGeom>
          <a:noFill/>
          <a:ln w="28575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208900" name="yuan刃型位错.avi">
            <a:hlinkClick r:id="" action="ppaction://media"/>
          </p:cNvPr>
          <p:cNvPicPr>
            <a:picLocks noRot="1"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link="rId3"/>
              </p:ext>
            </p:extLst>
          </p:nvPr>
        </p:nvPicPr>
        <p:blipFill>
          <a:blip r:embed="rId4" cstate="print"/>
          <a:stretch>
            <a:fillRect/>
          </a:stretch>
        </p:blipFill>
        <p:spPr>
          <a:xfrm>
            <a:off x="4787900" y="4437063"/>
            <a:ext cx="2879725" cy="2159000"/>
          </a:xfrm>
          <a:prstGeom prst="rect">
            <a:avLst/>
          </a:prstGeom>
          <a:noFill/>
          <a:ln w="28575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60422" name="Rectangle 5"/>
          <p:cNvSpPr>
            <a:spLocks noGrp="1"/>
          </p:cNvSpPr>
          <p:nvPr>
            <p:ph type="title"/>
          </p:nvPr>
        </p:nvSpPr>
        <p:spPr>
          <a:xfrm>
            <a:off x="2571750" y="0"/>
            <a:ext cx="5956300" cy="1143000"/>
          </a:xfrm>
        </p:spPr>
        <p:txBody>
          <a:bodyPr wrap="square" lIns="92075" tIns="46038" rIns="92075" bIns="46038" anchor="ctr"/>
          <a:lstStyle/>
          <a:p>
            <a:pPr eaLnBrk="1" hangingPunct="1"/>
            <a:r>
              <a:rPr lang="en-US" altLang="zh-CN" b="1" dirty="0"/>
              <a:t>②</a:t>
            </a:r>
            <a:r>
              <a:rPr lang="zh-CN" altLang="en-US" b="1" dirty="0"/>
              <a:t>线缺陷</a:t>
            </a:r>
            <a:r>
              <a:rPr lang="en-US" altLang="zh-CN" b="1" dirty="0">
                <a:latin typeface="Arial" panose="020B0604020202020204" pitchFamily="34" charset="0"/>
              </a:rPr>
              <a:t>——</a:t>
            </a:r>
            <a:r>
              <a:rPr lang="zh-CN" altLang="en-US" b="1" dirty="0">
                <a:solidFill>
                  <a:srgbClr val="0066FF"/>
                </a:solidFill>
                <a:ea typeface="华文中宋" panose="02010600040101010101" pitchFamily="2" charset="-122"/>
              </a:rPr>
              <a:t>刃型位错</a:t>
            </a:r>
            <a:endParaRPr lang="zh-CN" altLang="en-US" b="1" dirty="0"/>
          </a:p>
        </p:txBody>
      </p:sp>
      <p:pic>
        <p:nvPicPr>
          <p:cNvPr id="60423" name="Picture 6" descr="《于、齐》fi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6463" y="4437380"/>
            <a:ext cx="4427537" cy="23764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9684" y="3175"/>
            <a:ext cx="918827" cy="9055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圆角矩形 2" descr="7b0a202020202262756c6c6574223a20227b5c2263617465676f727949645c223a31303032352c5c2274656d706c61746549645c223a32303233313437347d220a7d0a"/>
          <p:cNvSpPr/>
          <p:nvPr>
            <p:custDataLst>
              <p:tags r:id="rId7"/>
            </p:custDataLst>
          </p:nvPr>
        </p:nvSpPr>
        <p:spPr>
          <a:xfrm>
            <a:off x="755650" y="1772920"/>
            <a:ext cx="174625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刃型</a:t>
            </a:r>
            <a:r>
              <a:rPr lang="zh-CN" altLang="en-US" sz="2800" b="1" dirty="0">
                <a:solidFill>
                  <a:srgbClr val="3333FF"/>
                </a:solidFill>
                <a:ea typeface="华文中宋" panose="02010600040101010101" pitchFamily="2" charset="-122"/>
                <a:sym typeface="+mn-ea"/>
              </a:rPr>
              <a:t>位错</a:t>
            </a:r>
            <a:endParaRPr lang="zh-CN" altLang="en-US" sz="2800" b="1" dirty="0">
              <a:solidFill>
                <a:srgbClr val="3333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8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8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8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08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08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1" fill="hold"/>
                                        <p:tgtEl>
                                          <p:spTgt spid="20890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27" repeatCount="indefinite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208900"/>
                </p:tgtEl>
              </p:cMediaNode>
            </p:video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2089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20890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8900"/>
                  </p:tgtEl>
                </p:cond>
              </p:nextCondLst>
            </p:seq>
          </p:childTnLst>
        </p:cTn>
      </p:par>
    </p:tnLst>
    <p:bldLst>
      <p:bldP spid="208898" grpId="0" advAuto="100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09922" name="Rectangle 2"/>
          <p:cNvSpPr>
            <a:spLocks noGrp="1"/>
          </p:cNvSpPr>
          <p:nvPr>
            <p:ph idx="1"/>
          </p:nvPr>
        </p:nvSpPr>
        <p:spPr>
          <a:xfrm>
            <a:off x="500063" y="569913"/>
            <a:ext cx="5275262" cy="5788025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位错密度</a:t>
            </a:r>
            <a:r>
              <a:rPr lang="en-US" altLang="zh-CN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  </a:t>
            </a:r>
            <a:r>
              <a:rPr lang="zh-CN" altLang="en-US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：</a:t>
            </a:r>
            <a:r>
              <a:rPr lang="zh-CN" altLang="en-US" sz="2800" b="1" dirty="0">
                <a:solidFill>
                  <a:srgbClr val="0033CC"/>
                </a:solidFill>
                <a:ea typeface="华文中宋" panose="02010600040101010101" pitchFamily="2" charset="-122"/>
              </a:rPr>
              <a:t>单位体积内</a:t>
            </a:r>
            <a:r>
              <a:rPr lang="zh-CN" altLang="en-US" sz="2800" b="1" dirty="0">
                <a:ea typeface="华文中宋" panose="02010600040101010101" pitchFamily="2" charset="-122"/>
              </a:rPr>
              <a:t>所包含的</a:t>
            </a:r>
            <a:r>
              <a:rPr lang="zh-CN" altLang="en-US" sz="2800" b="1" dirty="0">
                <a:solidFill>
                  <a:srgbClr val="FF0000"/>
                </a:solidFill>
                <a:ea typeface="华文中宋" panose="02010600040101010101" pitchFamily="2" charset="-122"/>
              </a:rPr>
              <a:t>位错线总长度。</a:t>
            </a:r>
            <a:endParaRPr lang="zh-CN" altLang="en-US" sz="2800" b="1" dirty="0">
              <a:solidFill>
                <a:srgbClr val="FF0000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b="1" i="1" dirty="0">
                <a:solidFill>
                  <a:srgbClr val="CCFF33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    </a:t>
            </a:r>
            <a:r>
              <a:rPr lang="zh-CN" altLang="en-US" sz="2800" b="1" i="1" dirty="0">
                <a:solidFill>
                  <a:srgbClr val="0033CC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 </a:t>
            </a:r>
            <a:r>
              <a:rPr lang="en-US" altLang="zh-CN" sz="2800" b="1" i="1" dirty="0">
                <a:solidFill>
                  <a:srgbClr val="0033CC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= S/V</a:t>
            </a:r>
            <a:r>
              <a:rPr lang="en-US" altLang="zh-CN" sz="2800" b="1" dirty="0">
                <a:solidFill>
                  <a:srgbClr val="0033CC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(cm/cm</a:t>
            </a:r>
            <a:r>
              <a:rPr lang="en-US" altLang="zh-CN" sz="2800" b="1" baseline="30000" dirty="0">
                <a:solidFill>
                  <a:srgbClr val="0033CC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3</a:t>
            </a:r>
            <a:r>
              <a:rPr lang="zh-CN" altLang="en-US" sz="2800" b="1" dirty="0">
                <a:solidFill>
                  <a:srgbClr val="0033CC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或</a:t>
            </a:r>
            <a:r>
              <a:rPr lang="en-US" altLang="zh-CN" sz="2800" b="1" dirty="0">
                <a:solidFill>
                  <a:srgbClr val="0033CC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1/cm</a:t>
            </a:r>
            <a:r>
              <a:rPr lang="en-US" altLang="zh-CN" sz="2800" b="1" baseline="30000" dirty="0">
                <a:solidFill>
                  <a:srgbClr val="0033CC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 b="1" dirty="0">
                <a:solidFill>
                  <a:srgbClr val="0033CC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)</a:t>
            </a:r>
            <a:endParaRPr lang="en-US" altLang="zh-CN" sz="2800" b="1" dirty="0">
              <a:solidFill>
                <a:srgbClr val="0033CC"/>
              </a:solidFill>
              <a:ea typeface="华文中宋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400" b="1" dirty="0">
                <a:ea typeface="华文中宋" panose="02010600040101010101" pitchFamily="2" charset="-122"/>
                <a:sym typeface="Symbol" panose="05050102010706020507" pitchFamily="18" charset="2"/>
              </a:rPr>
              <a:t>金属的位错密度为</a:t>
            </a:r>
            <a:r>
              <a:rPr lang="en-US" altLang="zh-CN" sz="2400" b="1" dirty="0">
                <a:ea typeface="华文中宋" panose="02010600040101010101" pitchFamily="2" charset="-122"/>
                <a:sym typeface="Symbol" panose="05050102010706020507" pitchFamily="18" charset="2"/>
              </a:rPr>
              <a:t>10</a:t>
            </a:r>
            <a:r>
              <a:rPr lang="en-US" altLang="zh-CN" sz="2400" b="1" baseline="30000" dirty="0">
                <a:ea typeface="华文中宋" panose="02010600040101010101" pitchFamily="2" charset="-122"/>
                <a:sym typeface="Symbol" panose="05050102010706020507" pitchFamily="18" charset="2"/>
              </a:rPr>
              <a:t>4</a:t>
            </a:r>
            <a:r>
              <a:rPr lang="en-US" altLang="zh-CN" sz="2400" b="1" dirty="0">
                <a:ea typeface="华文中宋" panose="02010600040101010101" pitchFamily="2" charset="-122"/>
                <a:sym typeface="Symbol" panose="05050102010706020507" pitchFamily="18" charset="2"/>
              </a:rPr>
              <a:t>~10</a:t>
            </a:r>
            <a:r>
              <a:rPr lang="en-US" altLang="zh-CN" sz="2400" b="1" baseline="30000" dirty="0">
                <a:ea typeface="华文中宋" panose="02010600040101010101" pitchFamily="2" charset="-122"/>
                <a:sym typeface="Symbol" panose="05050102010706020507" pitchFamily="18" charset="2"/>
              </a:rPr>
              <a:t>12</a:t>
            </a:r>
            <a:r>
              <a:rPr lang="en-US" altLang="zh-CN" sz="2400" b="1" dirty="0">
                <a:ea typeface="华文中宋" panose="02010600040101010101" pitchFamily="2" charset="-122"/>
                <a:sym typeface="Symbol" panose="05050102010706020507" pitchFamily="18" charset="2"/>
              </a:rPr>
              <a:t>/cm</a:t>
            </a:r>
            <a:r>
              <a:rPr lang="en-US" altLang="zh-CN" sz="2400" b="1" baseline="30000" dirty="0">
                <a:ea typeface="华文中宋" panose="02010600040101010101" pitchFamily="2" charset="-122"/>
                <a:sym typeface="Symbol" panose="05050102010706020507" pitchFamily="18" charset="2"/>
              </a:rPr>
              <a:t>2</a:t>
            </a:r>
            <a:endParaRPr lang="en-US" altLang="zh-CN" sz="2400" b="1" dirty="0">
              <a:ea typeface="华文中宋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位错对材料性能的影响</a:t>
            </a:r>
            <a:r>
              <a:rPr lang="zh-CN" altLang="en-US" sz="2800" dirty="0">
                <a:solidFill>
                  <a:schemeClr val="tx2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：</a:t>
            </a:r>
            <a:r>
              <a:rPr lang="zh-CN" altLang="en-US" sz="2800" b="1" dirty="0">
                <a:ea typeface="华文中宋" panose="02010600040101010101" pitchFamily="2" charset="-122"/>
                <a:sym typeface="Symbol" panose="05050102010706020507" pitchFamily="18" charset="2"/>
              </a:rPr>
              <a:t>金属的塑性变形主要由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位错运动</a:t>
            </a:r>
            <a:r>
              <a:rPr lang="zh-CN" altLang="en-US" sz="2800" b="1" dirty="0">
                <a:ea typeface="华文中宋" panose="02010600040101010101" pitchFamily="2" charset="-122"/>
                <a:sym typeface="Symbol" panose="05050102010706020507" pitchFamily="18" charset="2"/>
              </a:rPr>
              <a:t>引起，因此</a:t>
            </a:r>
            <a:r>
              <a:rPr lang="zh-CN" altLang="en-US" sz="2800" b="1" dirty="0">
                <a:solidFill>
                  <a:srgbClr val="FF0000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阻碍位错运动</a:t>
            </a:r>
            <a:r>
              <a:rPr lang="zh-CN" altLang="en-US" sz="2800" b="1" dirty="0">
                <a:solidFill>
                  <a:schemeClr val="tx2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是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强化金属</a:t>
            </a:r>
            <a:r>
              <a:rPr lang="zh-CN" altLang="en-US" sz="2800" b="1" dirty="0">
                <a:solidFill>
                  <a:schemeClr val="tx2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的主要途径</a:t>
            </a:r>
            <a:r>
              <a:rPr lang="zh-CN" altLang="en-US" sz="2800" b="1" dirty="0">
                <a:ea typeface="华文中宋" panose="02010600040101010101" pitchFamily="2" charset="-122"/>
                <a:sym typeface="Symbol" panose="05050102010706020507" pitchFamily="18" charset="2"/>
              </a:rPr>
              <a:t>。</a:t>
            </a:r>
            <a:endParaRPr lang="zh-CN" altLang="en-US" sz="2800" b="1" dirty="0">
              <a:ea typeface="华文中宋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tx2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减少或增加</a:t>
            </a:r>
            <a:r>
              <a:rPr lang="zh-CN" altLang="en-US" sz="2800" b="1" dirty="0">
                <a:solidFill>
                  <a:srgbClr val="FF0000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位错密度</a:t>
            </a:r>
            <a:r>
              <a:rPr lang="zh-CN" altLang="en-US" sz="2800" b="1" dirty="0">
                <a:solidFill>
                  <a:schemeClr val="tx2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都可以提高金属的强度</a:t>
            </a:r>
            <a:r>
              <a:rPr lang="zh-CN" altLang="en-US" sz="2800" b="1" dirty="0">
                <a:solidFill>
                  <a:srgbClr val="CCFFFF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。</a:t>
            </a:r>
            <a:endParaRPr lang="zh-CN" altLang="en-US" sz="2800" b="1" dirty="0">
              <a:solidFill>
                <a:srgbClr val="CCFFFF"/>
              </a:solidFill>
              <a:ea typeface="华文中宋" panose="02010600040101010101" pitchFamily="2" charset="-122"/>
              <a:sym typeface="Symbol" panose="05050102010706020507" pitchFamily="18" charset="2"/>
            </a:endParaRPr>
          </a:p>
        </p:txBody>
      </p:sp>
      <p:pic>
        <p:nvPicPr>
          <p:cNvPr id="61443" name="Picture 3" descr="dd3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7400" y="620713"/>
            <a:ext cx="3059113" cy="30972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444" name="Picture 4" descr="《于、齐》fi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867400" y="3860800"/>
            <a:ext cx="3097213" cy="30146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46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32563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圆角矩形 2" descr="7b0a202020202262756c6c6574223a20227b5c2263617465676f727949645c223a31303032352c5c2274656d706c61746549645c223a32303233313437347d220a7d0a"/>
          <p:cNvSpPr/>
          <p:nvPr>
            <p:custDataLst>
              <p:tags r:id="rId4"/>
            </p:custDataLst>
          </p:nvPr>
        </p:nvSpPr>
        <p:spPr>
          <a:xfrm>
            <a:off x="828040" y="692785"/>
            <a:ext cx="174625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800" b="1" dirty="0">
                <a:solidFill>
                  <a:srgbClr val="3333FF"/>
                </a:solidFill>
                <a:ea typeface="华文中宋" panose="02010600040101010101" pitchFamily="2" charset="-122"/>
                <a:sym typeface="+mn-ea"/>
              </a:rPr>
              <a:t>位错密度</a:t>
            </a:r>
            <a:endParaRPr lang="zh-CN" altLang="en-US" sz="2800" b="1" dirty="0">
              <a:solidFill>
                <a:srgbClr val="3333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9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99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99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099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099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22" grpId="0" advAuto="100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34400" y="6602413"/>
            <a:ext cx="409575" cy="233362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10946" name="Rectangle 2"/>
          <p:cNvSpPr>
            <a:spLocks noGrp="1"/>
          </p:cNvSpPr>
          <p:nvPr>
            <p:ph type="title"/>
          </p:nvPr>
        </p:nvSpPr>
        <p:spPr>
          <a:xfrm>
            <a:off x="1894604" y="-111172"/>
            <a:ext cx="6675437" cy="1462087"/>
          </a:xfrm>
        </p:spPr>
        <p:txBody>
          <a:bodyPr wrap="square" lIns="91440" tIns="45720" rIns="91440" bIns="45720" anchor="b"/>
          <a:lstStyle/>
          <a:p>
            <a:pPr eaLnBrk="1" hangingPunct="1"/>
            <a:r>
              <a:rPr lang="zh-CN" altLang="en-US" b="1" dirty="0">
                <a:ea typeface="华文中宋" panose="02010600040101010101" pitchFamily="2" charset="-122"/>
              </a:rPr>
              <a:t>电子显微镜下的位错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400050" y="2133600"/>
            <a:ext cx="8339138" cy="4044950"/>
            <a:chOff x="252" y="1536"/>
            <a:chExt cx="5253" cy="2548"/>
          </a:xfrm>
        </p:grpSpPr>
        <p:sp>
          <p:nvSpPr>
            <p:cNvPr id="62468" name="Text Box 4"/>
            <p:cNvSpPr txBox="1"/>
            <p:nvPr/>
          </p:nvSpPr>
          <p:spPr>
            <a:xfrm>
              <a:off x="252" y="3600"/>
              <a:ext cx="2736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透射电镜下钛合金中的位错线</a:t>
              </a:r>
              <a:r>
                <a:rPr lang="en-US" altLang="zh-CN" sz="20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(</a:t>
              </a:r>
              <a:r>
                <a:rPr lang="zh-CN" altLang="en-US" sz="20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黑线</a:t>
              </a:r>
              <a:r>
                <a:rPr lang="en-US" altLang="zh-CN" sz="20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)</a:t>
              </a:r>
              <a:endPara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10949" name="Text Box 5"/>
            <p:cNvSpPr txBox="1">
              <a:spLocks noChangeArrowheads="1"/>
            </p:cNvSpPr>
            <p:nvPr/>
          </p:nvSpPr>
          <p:spPr bwMode="auto">
            <a:xfrm>
              <a:off x="3216" y="3638"/>
              <a:ext cx="2160" cy="44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marR="0" algn="ctr" defTabSz="914400" rtl="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1" lang="zh-CN" altLang="en-US" sz="2000" b="1" kern="1200" cap="none" spc="0" normalizeH="0" baseline="0" noProof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高分辨率电镜下的刃位错（白点为原子）</a:t>
              </a:r>
              <a:endParaRPr kumimoji="1" lang="zh-CN" altLang="en-US" sz="2000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pic>
          <p:nvPicPr>
            <p:cNvPr id="62470" name="Picture 6" descr="位错2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120" y="1536"/>
              <a:ext cx="2385" cy="2040"/>
            </a:xfrm>
            <a:prstGeom prst="rect">
              <a:avLst/>
            </a:prstGeom>
            <a:noFill/>
            <a:ln w="5715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pic>
          <p:nvPicPr>
            <p:cNvPr id="62471" name="Picture 7" descr="旋转 位错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4" y="1536"/>
              <a:ext cx="2471" cy="2041"/>
            </a:xfrm>
            <a:prstGeom prst="rect">
              <a:avLst/>
            </a:prstGeom>
            <a:noFill/>
            <a:ln w="5715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</p:pic>
      </p:grpSp>
      <p:sp>
        <p:nvSpPr>
          <p:cNvPr id="62473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21450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10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946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58200" y="6583363"/>
            <a:ext cx="488950" cy="266700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11970" name="Rectangle 2"/>
          <p:cNvSpPr>
            <a:spLocks noGrp="1"/>
          </p:cNvSpPr>
          <p:nvPr>
            <p:ph type="title"/>
          </p:nvPr>
        </p:nvSpPr>
        <p:spPr>
          <a:xfrm>
            <a:off x="1403350" y="533400"/>
            <a:ext cx="7054850" cy="762000"/>
          </a:xfrm>
        </p:spPr>
        <p:txBody>
          <a:bodyPr wrap="square" lIns="91440" tIns="45720" rIns="91440" bIns="45720" anchor="b"/>
          <a:lstStyle/>
          <a:p>
            <a:pPr eaLnBrk="1" hangingPunct="1"/>
            <a:r>
              <a:rPr lang="zh-CN" altLang="en-US" b="1" dirty="0">
                <a:ea typeface="华文中宋" panose="02010600040101010101" pitchFamily="2" charset="-122"/>
              </a:rPr>
              <a:t>电子显微镜下的位错观察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pic>
        <p:nvPicPr>
          <p:cNvPr id="211971" name="fig0314[1]位错电镜观察.avi">
            <a:hlinkClick r:id="" action="ppaction://media"/>
          </p:cNvPr>
          <p:cNvPicPr>
            <a:picLocks noRot="1"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 cstate="print"/>
          <a:stretch>
            <a:fillRect/>
          </a:stretch>
        </p:blipFill>
        <p:spPr>
          <a:xfrm>
            <a:off x="2110105" y="1925320"/>
            <a:ext cx="5988050" cy="44900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3493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07163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1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21197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11" fill="remove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211971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119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21197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1971"/>
                  </p:tgtEl>
                </p:cond>
              </p:nextCondLst>
            </p:seq>
          </p:childTnLst>
        </p:cTn>
      </p:par>
    </p:tnLst>
    <p:bldLst>
      <p:bldP spid="211970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91538" y="6564313"/>
            <a:ext cx="401637" cy="273050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12994" name="Rectangle 2"/>
          <p:cNvSpPr>
            <a:spLocks noGrp="1"/>
          </p:cNvSpPr>
          <p:nvPr>
            <p:ph idx="1"/>
          </p:nvPr>
        </p:nvSpPr>
        <p:spPr>
          <a:xfrm>
            <a:off x="971600" y="1700808"/>
            <a:ext cx="7777162" cy="2736304"/>
          </a:xfrm>
        </p:spPr>
        <p:txBody>
          <a:bodyPr wrap="square" lIns="91440" tIns="45720" rIns="91440" bIns="45720" anchor="t"/>
          <a:lstStyle/>
          <a:p>
            <a:pPr eaLnBrk="1" hangingPunct="1">
              <a:buNone/>
            </a:pP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晶界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ea typeface="华文中宋" panose="02010600040101010101" pitchFamily="2" charset="-122"/>
              </a:rPr>
              <a:t>：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不同位向晶粒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过渡部位</a:t>
            </a:r>
            <a:r>
              <a:rPr lang="zh-CN" altLang="en-US" b="1" dirty="0">
                <a:ea typeface="华文中宋" panose="02010600040101010101" pitchFamily="2" charset="-122"/>
              </a:rPr>
              <a:t>，宽度为</a:t>
            </a:r>
            <a:r>
              <a:rPr lang="en-US" altLang="zh-CN" b="1" dirty="0">
                <a:ea typeface="华文中宋" panose="02010600040101010101" pitchFamily="2" charset="-122"/>
              </a:rPr>
              <a:t>5~10</a:t>
            </a:r>
            <a:r>
              <a:rPr lang="zh-CN" altLang="en-US" b="1" dirty="0">
                <a:ea typeface="华文中宋" panose="02010600040101010101" pitchFamily="2" charset="-122"/>
              </a:rPr>
              <a:t>个原子间距，</a:t>
            </a: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位向差</a:t>
            </a:r>
            <a:r>
              <a:rPr lang="zh-CN" altLang="en-US" b="1" dirty="0">
                <a:ea typeface="华文中宋" panose="02010600040101010101" pitchFamily="2" charset="-122"/>
              </a:rPr>
              <a:t>一般为</a:t>
            </a:r>
            <a:r>
              <a:rPr lang="en-US" altLang="zh-CN" b="1" dirty="0">
                <a:ea typeface="华文中宋" panose="02010600040101010101" pitchFamily="2" charset="-122"/>
              </a:rPr>
              <a:t>20~40°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pic>
        <p:nvPicPr>
          <p:cNvPr id="64515" name="Picture 4" descr="晶界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5480050" y="3212976"/>
            <a:ext cx="3663950" cy="3238500"/>
          </a:xfrm>
          <a:prstGeom prst="rect">
            <a:avLst/>
          </a:prstGeom>
          <a:noFill/>
          <a:ln w="2857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64516" name="Picture 5" descr="《于、齐》fi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99592" y="3284984"/>
            <a:ext cx="4060825" cy="34178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4518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494463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Rectangle 5"/>
          <p:cNvSpPr>
            <a:spLocks noGrp="1"/>
          </p:cNvSpPr>
          <p:nvPr>
            <p:ph type="title"/>
          </p:nvPr>
        </p:nvSpPr>
        <p:spPr>
          <a:xfrm>
            <a:off x="971550" y="260350"/>
            <a:ext cx="7992745" cy="1287145"/>
          </a:xfrm>
        </p:spPr>
        <p:txBody>
          <a:bodyPr wrap="square" lIns="92075" tIns="46038" rIns="92075" bIns="46038" anchor="ctr"/>
          <a:lstStyle/>
          <a:p>
            <a:pPr eaLnBrk="1" hangingPunct="1"/>
            <a:r>
              <a:rPr lang="en-US" altLang="zh-CN" b="1" dirty="0">
                <a:ea typeface="华文中宋" panose="02010600040101010101" pitchFamily="2" charset="-122"/>
              </a:rPr>
              <a:t>③</a:t>
            </a:r>
            <a:r>
              <a:rPr lang="zh-CN" altLang="en-US" b="1" dirty="0">
                <a:ea typeface="华文中宋" panose="02010600040101010101" pitchFamily="2" charset="-122"/>
              </a:rPr>
              <a:t>面缺陷（</a:t>
            </a:r>
            <a:r>
              <a:rPr lang="en-US" altLang="zh-CN" b="1" i="1" dirty="0">
                <a:ea typeface="华文中宋" panose="02010600040101010101" pitchFamily="2" charset="-122"/>
              </a:rPr>
              <a:t>Interfacial defect</a:t>
            </a:r>
            <a:r>
              <a:rPr lang="zh-CN" altLang="en-US" b="1" dirty="0">
                <a:ea typeface="华文中宋" panose="02010600040101010101" pitchFamily="2" charset="-122"/>
              </a:rPr>
              <a:t>）</a:t>
            </a:r>
            <a:br>
              <a:rPr lang="en-US" altLang="zh-CN" b="1" dirty="0">
                <a:ea typeface="华文中宋" panose="02010600040101010101" pitchFamily="2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华文中宋" panose="02010600040101010101" pitchFamily="2" charset="-122"/>
              </a:rPr>
              <a:t>        ——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晶界</a:t>
            </a:r>
            <a:r>
              <a:rPr lang="zh-CN" altLang="en-US" b="1" dirty="0">
                <a:ea typeface="华文中宋" panose="02010600040101010101" pitchFamily="2" charset="-122"/>
              </a:rPr>
              <a:t>与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亚晶界</a:t>
            </a:r>
            <a:endParaRPr lang="zh-CN" altLang="en-US" b="1" dirty="0"/>
          </a:p>
        </p:txBody>
      </p:sp>
      <p:sp>
        <p:nvSpPr>
          <p:cNvPr id="3" name="圆角矩形 2" descr="7b0a202020202262756c6c6574223a20227b5c2263617465676f727949645c223a31303032352c5c2274656d706c61746549645c223a32303233313437347d220a7d0a"/>
          <p:cNvSpPr/>
          <p:nvPr>
            <p:custDataLst>
              <p:tags r:id="rId4"/>
            </p:custDataLst>
          </p:nvPr>
        </p:nvSpPr>
        <p:spPr>
          <a:xfrm>
            <a:off x="899795" y="1844675"/>
            <a:ext cx="1066165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晶界</a:t>
            </a:r>
            <a:endParaRPr lang="zh-CN" altLang="en-US" sz="2800" b="1" dirty="0">
              <a:solidFill>
                <a:srgbClr val="3333FF"/>
              </a:solidFill>
              <a:latin typeface="微软雅黑" panose="020B0503020204020204" charset="-122"/>
              <a:ea typeface="华文中宋" panose="02010600040101010101" pitchFamily="2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2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994" grpId="0" advAuto="100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97986" name="Rectangle 2"/>
          <p:cNvSpPr>
            <a:spLocks noGrp="1"/>
          </p:cNvSpPr>
          <p:nvPr>
            <p:ph type="title"/>
          </p:nvPr>
        </p:nvSpPr>
        <p:spPr>
          <a:xfrm>
            <a:off x="539750" y="44450"/>
            <a:ext cx="6285230" cy="1546225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zh-CN" altLang="en-US" b="1" dirty="0">
                <a:solidFill>
                  <a:schemeClr val="hlink"/>
                </a:solidFill>
                <a:ea typeface="华文中宋" panose="02010600040101010101" pitchFamily="2" charset="-122"/>
              </a:rPr>
              <a:t>单晶体、多晶体</a:t>
            </a:r>
            <a:br>
              <a:rPr lang="en-US" altLang="zh-CN" b="1" dirty="0">
                <a:solidFill>
                  <a:schemeClr val="hlink"/>
                </a:solidFill>
                <a:ea typeface="华文中宋" panose="02010600040101010101" pitchFamily="2" charset="-122"/>
              </a:rPr>
            </a:br>
            <a:r>
              <a:rPr lang="en-US" altLang="zh-CN" b="1" dirty="0"/>
              <a:t> </a:t>
            </a:r>
            <a:r>
              <a:rPr lang="en-US" altLang="zh-CN" b="1" i="1" dirty="0" err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monocrystal</a:t>
            </a:r>
            <a:r>
              <a:rPr lang="zh-CN" altLang="en-US" b="1" i="1" dirty="0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b="1" i="1" dirty="0" err="1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polycrystal</a:t>
            </a:r>
            <a:endParaRPr lang="zh-CN" altLang="en-US" b="1" i="1" dirty="0">
              <a:solidFill>
                <a:schemeClr val="hlink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6901180" y="2807335"/>
            <a:ext cx="2294890" cy="3568065"/>
            <a:chOff x="3600" y="435"/>
            <a:chExt cx="1875" cy="3009"/>
          </a:xfrm>
        </p:grpSpPr>
        <p:pic>
          <p:nvPicPr>
            <p:cNvPr id="65540" name="Picture 4" descr="纯铁组织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700" y="435"/>
              <a:ext cx="1588" cy="1470"/>
            </a:xfrm>
            <a:prstGeom prst="rect">
              <a:avLst/>
            </a:prstGeom>
            <a:noFill/>
            <a:ln w="28575">
              <a:noFill/>
            </a:ln>
          </p:spPr>
        </p:pic>
        <p:pic>
          <p:nvPicPr>
            <p:cNvPr id="65541" name="Picture 5" descr="晶粒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00" y="2064"/>
              <a:ext cx="1814" cy="1358"/>
            </a:xfrm>
            <a:prstGeom prst="rect">
              <a:avLst/>
            </a:prstGeom>
            <a:noFill/>
            <a:ln w="28575">
              <a:noFill/>
            </a:ln>
          </p:spPr>
        </p:pic>
        <p:sp>
          <p:nvSpPr>
            <p:cNvPr id="65542" name="Rectangle 6"/>
            <p:cNvSpPr/>
            <p:nvPr/>
          </p:nvSpPr>
          <p:spPr>
            <a:xfrm flipH="1">
              <a:off x="3975" y="1824"/>
              <a:ext cx="987" cy="24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/>
            <a:lstStyle/>
            <a:p>
              <a:pPr algn="ctr"/>
              <a:r>
                <a:rPr lang="zh-CN" altLang="en-US" sz="1600" b="1" dirty="0">
                  <a:solidFill>
                    <a:srgbClr val="3333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纯铁组织</a:t>
              </a:r>
              <a:endParaRPr lang="zh-CN" altLang="en-US" sz="1600" b="1" dirty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65543" name="Text Box 7"/>
            <p:cNvSpPr txBox="1"/>
            <p:nvPr/>
          </p:nvSpPr>
          <p:spPr>
            <a:xfrm>
              <a:off x="5125" y="2473"/>
              <a:ext cx="350" cy="971"/>
            </a:xfrm>
            <a:prstGeom prst="rect">
              <a:avLst/>
            </a:prstGeom>
            <a:noFill/>
            <a:ln w="28575">
              <a:noFill/>
            </a:ln>
          </p:spPr>
          <p:txBody>
            <a:bodyPr vert="eaVert" wrap="square"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晶粒示意图</a:t>
              </a:r>
              <a:endParaRPr lang="zh-CN" altLang="en-US" sz="1600" b="1" dirty="0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97992" name="Rectangle 8"/>
          <p:cNvSpPr>
            <a:spLocks noGrp="1"/>
          </p:cNvSpPr>
          <p:nvPr>
            <p:ph idx="1"/>
          </p:nvPr>
        </p:nvSpPr>
        <p:spPr>
          <a:xfrm>
            <a:off x="0" y="1929130"/>
            <a:ext cx="7661910" cy="492887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25000"/>
              </a:lnSpc>
            </a:pPr>
            <a:r>
              <a:rPr lang="zh-CN" altLang="en-US" b="1" dirty="0">
                <a:solidFill>
                  <a:schemeClr val="folHlink"/>
                </a:solidFill>
              </a:rPr>
              <a:t>单晶体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：晶体内部的晶格位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向完全一</a:t>
            </a: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致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 b="1" dirty="0">
                <a:solidFill>
                  <a:schemeClr val="folHlink"/>
                </a:solidFill>
              </a:rPr>
              <a:t>多晶体：</a:t>
            </a:r>
            <a:r>
              <a:rPr lang="zh-CN" altLang="en-US" b="1" dirty="0">
                <a:ea typeface="华文中宋" panose="02010600040101010101" pitchFamily="2" charset="-122"/>
              </a:rPr>
              <a:t>内部晶粒方位</a:t>
            </a: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不完全一致</a:t>
            </a:r>
            <a:r>
              <a:rPr lang="zh-CN" altLang="en-US" b="1" dirty="0">
                <a:ea typeface="华文中宋" panose="02010600040101010101" pitchFamily="2" charset="-122"/>
              </a:rPr>
              <a:t>的晶体。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晶粒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：</a:t>
            </a:r>
            <a:r>
              <a:rPr lang="zh-CN" altLang="en-US" b="1" dirty="0">
                <a:ea typeface="华文中宋" panose="02010600040101010101" pitchFamily="2" charset="-122"/>
              </a:rPr>
              <a:t>晶体内部外形不规则的小晶体。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rgbClr val="FF0000"/>
                </a:solidFill>
              </a:rPr>
              <a:t>变形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金属</a:t>
            </a:r>
            <a:r>
              <a:rPr lang="zh-CN" altLang="en-US" b="1" dirty="0">
                <a:solidFill>
                  <a:srgbClr val="0033CC"/>
                </a:solidFill>
                <a:ea typeface="华文中宋" panose="02010600040101010101" pitchFamily="2" charset="-122"/>
              </a:rPr>
              <a:t>晶粒尺寸</a:t>
            </a:r>
            <a:r>
              <a:rPr lang="zh-CN" altLang="en-US" b="1" dirty="0">
                <a:solidFill>
                  <a:srgbClr val="0033CC"/>
                </a:solidFill>
              </a:rPr>
              <a:t>约</a:t>
            </a:r>
            <a:r>
              <a:rPr lang="en-US" altLang="zh-CN" b="1" dirty="0">
                <a:solidFill>
                  <a:srgbClr val="0033CC"/>
                </a:solidFill>
              </a:rPr>
              <a:t>1~100</a:t>
            </a:r>
            <a:r>
              <a:rPr lang="en-US" altLang="zh-CN" b="1" dirty="0">
                <a:solidFill>
                  <a:srgbClr val="0033CC"/>
                </a:solidFill>
                <a:sym typeface="Symbol" panose="05050102010706020507" pitchFamily="18" charset="2"/>
              </a:rPr>
              <a:t>m, </a:t>
            </a:r>
            <a:endParaRPr lang="en-US" altLang="zh-CN" b="1" dirty="0">
              <a:solidFill>
                <a:srgbClr val="0033CC"/>
              </a:solidFill>
              <a:sym typeface="Symbol" panose="05050102010706020507" pitchFamily="18" charset="2"/>
            </a:endParaRPr>
          </a:p>
          <a:p>
            <a:pPr marL="0" indent="0" eaLnBrk="1" hangingPunct="1">
              <a:buNone/>
            </a:pPr>
            <a:r>
              <a:rPr lang="en-US" altLang="zh-CN" b="1" dirty="0">
                <a:solidFill>
                  <a:srgbClr val="FF0000"/>
                </a:solidFill>
                <a:sym typeface="Symbol" panose="05050102010706020507" pitchFamily="18" charset="2"/>
              </a:rPr>
              <a:t>   </a:t>
            </a:r>
            <a:r>
              <a:rPr lang="zh-CN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铸造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金属</a:t>
            </a:r>
            <a:r>
              <a:rPr lang="zh-CN" altLang="en-US" b="1" dirty="0">
                <a:solidFill>
                  <a:srgbClr val="0033CC"/>
                </a:solidFill>
                <a:sym typeface="Symbol" panose="05050102010706020507" pitchFamily="18" charset="2"/>
              </a:rPr>
              <a:t>可达几</a:t>
            </a:r>
            <a:r>
              <a:rPr lang="en-US" altLang="zh-CN" b="1" dirty="0">
                <a:solidFill>
                  <a:srgbClr val="0033CC"/>
                </a:solidFill>
                <a:sym typeface="Symbol" panose="05050102010706020507" pitchFamily="18" charset="2"/>
              </a:rPr>
              <a:t>mm.</a:t>
            </a:r>
            <a:endParaRPr lang="en-US" altLang="zh-CN" b="1" dirty="0">
              <a:solidFill>
                <a:srgbClr val="0033CC"/>
              </a:solidFill>
              <a:ea typeface="华文中宋" panose="02010600040101010101" pitchFamily="2" charset="-122"/>
            </a:endParaRPr>
          </a:p>
        </p:txBody>
      </p:sp>
      <p:sp>
        <p:nvSpPr>
          <p:cNvPr id="65547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429375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圆角矩形 3" descr="7b0a202020202262756c6c6574223a20227b5c2263617465676f727949645c223a31303032352c5c2274656d706c61746549645c223a32303233313437347d220a7d0a"/>
          <p:cNvSpPr/>
          <p:nvPr>
            <p:custDataLst>
              <p:tags r:id="rId4"/>
            </p:custDataLst>
          </p:nvPr>
        </p:nvSpPr>
        <p:spPr>
          <a:xfrm>
            <a:off x="323850" y="2070735"/>
            <a:ext cx="138176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单晶体</a:t>
            </a:r>
            <a:endParaRPr lang="zh-CN" altLang="en-US" sz="2800" b="1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  <p:sp>
        <p:nvSpPr>
          <p:cNvPr id="5" name="圆角矩形 4" descr="7b0a202020202262756c6c6574223a20227b5c2263617465676f727949645c223a31303032352c5c2274656d706c61746549645c223a32303233313437347d220a7d0a"/>
          <p:cNvSpPr/>
          <p:nvPr>
            <p:custDataLst>
              <p:tags r:id="rId5"/>
            </p:custDataLst>
          </p:nvPr>
        </p:nvSpPr>
        <p:spPr>
          <a:xfrm>
            <a:off x="251460" y="2781300"/>
            <a:ext cx="138176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多晶体</a:t>
            </a:r>
            <a:endParaRPr lang="zh-CN" altLang="en-US" sz="2800" b="1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  <p:sp>
        <p:nvSpPr>
          <p:cNvPr id="6" name="圆角矩形 5" descr="7b0a202020202262756c6c6574223a20227b5c2263617465676f727949645c223a31303032352c5c2274656d706c61746549645c223a32303233313437347d220a7d0a"/>
          <p:cNvSpPr/>
          <p:nvPr>
            <p:custDataLst>
              <p:tags r:id="rId6"/>
            </p:custDataLst>
          </p:nvPr>
        </p:nvSpPr>
        <p:spPr>
          <a:xfrm>
            <a:off x="323850" y="4149090"/>
            <a:ext cx="1087755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晶粒</a:t>
            </a:r>
            <a:endParaRPr lang="zh-CN" altLang="en-US" sz="2800" b="1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7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979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979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979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979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979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986" grpId="0"/>
      <p:bldP spid="297992" grpId="0" advAuto="100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379460" y="6501130"/>
            <a:ext cx="567690" cy="271145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14018" name="Rectangle 2"/>
          <p:cNvSpPr>
            <a:spLocks noGrp="1"/>
          </p:cNvSpPr>
          <p:nvPr>
            <p:ph idx="1"/>
          </p:nvPr>
        </p:nvSpPr>
        <p:spPr>
          <a:xfrm>
            <a:off x="1403350" y="549275"/>
            <a:ext cx="6985000" cy="327660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亚晶粒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</a:rPr>
              <a:t>  </a:t>
            </a: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：</a:t>
            </a:r>
            <a:r>
              <a:rPr lang="zh-CN" altLang="en-US" b="1" dirty="0">
                <a:ea typeface="华文中宋" panose="02010600040101010101" pitchFamily="2" charset="-122"/>
              </a:rPr>
              <a:t>组成晶粒的尺寸很小、</a:t>
            </a: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位向差</a:t>
            </a:r>
            <a:r>
              <a:rPr lang="zh-CN" altLang="en-US" b="1" dirty="0">
                <a:ea typeface="华文中宋" panose="02010600040101010101" pitchFamily="2" charset="-122"/>
              </a:rPr>
              <a:t>也很小</a:t>
            </a:r>
            <a:r>
              <a:rPr lang="en-US" altLang="zh-CN" b="1" dirty="0">
                <a:ea typeface="华文中宋" panose="02010600040101010101" pitchFamily="2" charset="-122"/>
              </a:rPr>
              <a:t>(10</a:t>
            </a:r>
            <a:r>
              <a:rPr lang="en-US" altLang="zh-CN" b="1" dirty="0">
                <a:latin typeface="Arial" panose="020B0604020202020204" pitchFamily="34" charset="0"/>
                <a:ea typeface="华文中宋" panose="02010600040101010101" pitchFamily="2" charset="-122"/>
              </a:rPr>
              <a:t>’</a:t>
            </a:r>
            <a:r>
              <a:rPr lang="en-US" altLang="zh-CN" b="1" dirty="0">
                <a:ea typeface="华文中宋" panose="02010600040101010101" pitchFamily="2" charset="-122"/>
              </a:rPr>
              <a:t> ~2 </a:t>
            </a:r>
            <a:r>
              <a:rPr lang="en-US" altLang="zh-CN" b="1" dirty="0">
                <a:ea typeface="华文中宋" panose="02010600040101010101" pitchFamily="2" charset="-122"/>
                <a:sym typeface="Symbol" panose="05050102010706020507" pitchFamily="18" charset="2"/>
              </a:rPr>
              <a:t></a:t>
            </a:r>
            <a:r>
              <a:rPr lang="en-US" altLang="zh-CN" b="1" dirty="0">
                <a:ea typeface="华文中宋" panose="02010600040101010101" pitchFamily="2" charset="-122"/>
              </a:rPr>
              <a:t>)</a:t>
            </a:r>
            <a:r>
              <a:rPr lang="zh-CN" altLang="en-US" b="1" dirty="0">
                <a:ea typeface="华文中宋" panose="02010600040101010101" pitchFamily="2" charset="-122"/>
              </a:rPr>
              <a:t>的小晶块。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亚晶界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：亚晶粒</a:t>
            </a:r>
            <a:r>
              <a:rPr lang="zh-CN" altLang="en-US" b="1" dirty="0">
                <a:ea typeface="华文中宋" panose="02010600040101010101" pitchFamily="2" charset="-122"/>
              </a:rPr>
              <a:t>之间的</a:t>
            </a: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交界面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，</a:t>
            </a:r>
            <a:r>
              <a:rPr lang="zh-CN" altLang="en-US" b="1" dirty="0">
                <a:ea typeface="华文中宋" panose="02010600040101010101" pitchFamily="2" charset="-122"/>
              </a:rPr>
              <a:t>可看作</a:t>
            </a: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位错壁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762000" y="3581400"/>
            <a:ext cx="7737475" cy="2808288"/>
            <a:chOff x="480" y="2256"/>
            <a:chExt cx="4874" cy="1769"/>
          </a:xfrm>
        </p:grpSpPr>
        <p:grpSp>
          <p:nvGrpSpPr>
            <p:cNvPr id="67588" name="Group 4"/>
            <p:cNvGrpSpPr/>
            <p:nvPr/>
          </p:nvGrpSpPr>
          <p:grpSpPr>
            <a:xfrm>
              <a:off x="480" y="2256"/>
              <a:ext cx="4874" cy="1769"/>
              <a:chOff x="454" y="2352"/>
              <a:chExt cx="4874" cy="1769"/>
            </a:xfrm>
          </p:grpSpPr>
          <p:pic>
            <p:nvPicPr>
              <p:cNvPr id="67589" name="Picture 5" descr="晶界1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454" y="2352"/>
                <a:ext cx="4874" cy="1756"/>
              </a:xfrm>
              <a:prstGeom prst="rect">
                <a:avLst/>
              </a:prstGeom>
              <a:noFill/>
              <a:ln w="28575" cap="flat" cmpd="sng">
                <a:solidFill>
                  <a:srgbClr val="FF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67590" name="Text Box 6"/>
              <p:cNvSpPr txBox="1"/>
              <p:nvPr/>
            </p:nvSpPr>
            <p:spPr>
              <a:xfrm>
                <a:off x="960" y="3888"/>
                <a:ext cx="912" cy="2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2075" tIns="46038" rIns="92075" bIns="46038" anchor="t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en-US" b="1" dirty="0">
                    <a:solidFill>
                      <a:srgbClr val="8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亚晶粒</a:t>
                </a:r>
                <a:endParaRPr lang="zh-CN" altLang="en-US" b="1" dirty="0">
                  <a:solidFill>
                    <a:srgbClr val="8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7591" name="Text Box 7"/>
              <p:cNvSpPr txBox="1"/>
              <p:nvPr/>
            </p:nvSpPr>
            <p:spPr>
              <a:xfrm>
                <a:off x="2256" y="3888"/>
                <a:ext cx="1756" cy="2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2075" tIns="46038" rIns="92075" bIns="46038" anchor="t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en-US" b="1" dirty="0">
                    <a:solidFill>
                      <a:srgbClr val="8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大角度和小角度晶界</a:t>
                </a:r>
                <a:endParaRPr lang="zh-CN" altLang="en-US" b="1" dirty="0">
                  <a:solidFill>
                    <a:srgbClr val="8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7592" name="Text Box 8"/>
              <p:cNvSpPr txBox="1"/>
              <p:nvPr/>
            </p:nvSpPr>
            <p:spPr>
              <a:xfrm>
                <a:off x="4989" y="3360"/>
                <a:ext cx="292" cy="72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lIns="92075" tIns="46038" rIns="92075" bIns="46038" anchor="t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en-US" b="1" dirty="0">
                    <a:solidFill>
                      <a:srgbClr val="8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位错壁</a:t>
                </a:r>
                <a:endParaRPr lang="zh-CN" altLang="en-US" b="1" dirty="0">
                  <a:solidFill>
                    <a:srgbClr val="8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67593" name="Picture 9" descr="晶界5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96" y="2352"/>
              <a:ext cx="1557" cy="1473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67595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429375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圆角矩形 5" descr="7b0a202020202262756c6c6574223a20227b5c2263617465676f727949645c223a31303032352c5c2274656d706c61746549645c223a32303233313437347d220a7d0a"/>
          <p:cNvSpPr/>
          <p:nvPr>
            <p:custDataLst>
              <p:tags r:id="rId4"/>
            </p:custDataLst>
          </p:nvPr>
        </p:nvSpPr>
        <p:spPr>
          <a:xfrm>
            <a:off x="1835785" y="739140"/>
            <a:ext cx="1419225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亚晶粒</a:t>
            </a:r>
            <a:endParaRPr lang="zh-CN" altLang="en-US" sz="2800" b="1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  <p:sp>
        <p:nvSpPr>
          <p:cNvPr id="3" name="圆角矩形 2" descr="7b0a202020202262756c6c6574223a20227b5c2263617465676f727949645c223a31303032352c5c2274656d706c61746549645c223a32303233313437347d220a7d0a"/>
          <p:cNvSpPr/>
          <p:nvPr>
            <p:custDataLst>
              <p:tags r:id="rId5"/>
            </p:custDataLst>
          </p:nvPr>
        </p:nvSpPr>
        <p:spPr>
          <a:xfrm>
            <a:off x="1763395" y="2132965"/>
            <a:ext cx="1419225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亚晶界</a:t>
            </a:r>
            <a:endParaRPr lang="zh-CN" altLang="en-US" sz="2800" b="1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4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140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18" grpId="0" advAuto="100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58200" y="6589713"/>
            <a:ext cx="511175" cy="306387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grpSp>
        <p:nvGrpSpPr>
          <p:cNvPr id="2" name="Group 2"/>
          <p:cNvGrpSpPr/>
          <p:nvPr/>
        </p:nvGrpSpPr>
        <p:grpSpPr>
          <a:xfrm>
            <a:off x="962025" y="357188"/>
            <a:ext cx="8181975" cy="5976937"/>
            <a:chOff x="336" y="288"/>
            <a:chExt cx="5154" cy="3765"/>
          </a:xfrm>
        </p:grpSpPr>
        <p:pic>
          <p:nvPicPr>
            <p:cNvPr id="68611" name="Picture 3" descr="铅锭宏观组织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36" y="288"/>
              <a:ext cx="2155" cy="1946"/>
            </a:xfrm>
            <a:prstGeom prst="rect">
              <a:avLst/>
            </a:prstGeom>
            <a:noFill/>
            <a:ln w="28575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pic>
          <p:nvPicPr>
            <p:cNvPr id="68612" name="Picture 4" descr="钢的脆性断口1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56" y="288"/>
              <a:ext cx="2034" cy="1945"/>
            </a:xfrm>
            <a:prstGeom prst="rect">
              <a:avLst/>
            </a:prstGeom>
            <a:noFill/>
            <a:ln w="28575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pic>
          <p:nvPicPr>
            <p:cNvPr id="68613" name="Picture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6" y="2352"/>
              <a:ext cx="3305" cy="1701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68614" name="Text Box 6"/>
            <p:cNvSpPr txBox="1"/>
            <p:nvPr/>
          </p:nvSpPr>
          <p:spPr>
            <a:xfrm>
              <a:off x="2493" y="336"/>
              <a:ext cx="388" cy="187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铅锭宏观组织</a:t>
              </a:r>
              <a:endPara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292871" name="Text Box 7"/>
            <p:cNvSpPr txBox="1">
              <a:spLocks noChangeArrowheads="1"/>
            </p:cNvSpPr>
            <p:nvPr/>
          </p:nvSpPr>
          <p:spPr bwMode="auto">
            <a:xfrm>
              <a:off x="3117" y="432"/>
              <a:ext cx="388" cy="177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>
              <a:spAutoFit/>
            </a:bodyPr>
            <a:lstStyle/>
            <a:p>
              <a:pPr marR="0" algn="ctr" defTabSz="914400" rtl="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1" lang="zh-CN" altLang="en-US" sz="2800" b="1" kern="1200" cap="none" spc="0" normalizeH="0" baseline="0" noProof="0">
                  <a:solidFill>
                    <a:schemeClr val="fol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  <a:ea typeface="华文中宋" panose="02010600040101010101" pitchFamily="2" charset="-122"/>
                  <a:cs typeface="+mn-cs"/>
                </a:rPr>
                <a:t>沿晶断口</a:t>
              </a:r>
              <a:endParaRPr kumimoji="1" lang="zh-CN" altLang="en-US" sz="2800" b="1" kern="1200" cap="none" spc="0" normalizeH="0" baseline="0" noProof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中宋" panose="02010600040101010101" pitchFamily="2" charset="-122"/>
                <a:cs typeface="+mn-cs"/>
              </a:endParaRPr>
            </a:p>
          </p:txBody>
        </p:sp>
        <p:sp>
          <p:nvSpPr>
            <p:cNvPr id="68616" name="Text Box 8"/>
            <p:cNvSpPr txBox="1"/>
            <p:nvPr/>
          </p:nvSpPr>
          <p:spPr>
            <a:xfrm>
              <a:off x="3744" y="2640"/>
              <a:ext cx="1200" cy="114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Nb-Hf-W plate with an electron beam weld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68618" name="日期占位符 1"/>
          <p:cNvSpPr>
            <a:spLocks noGrp="1"/>
          </p:cNvSpPr>
          <p:nvPr>
            <p:ph type="dt" sz="half" idx="10"/>
          </p:nvPr>
        </p:nvSpPr>
        <p:spPr>
          <a:xfrm>
            <a:off x="88900" y="6553200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96300" y="6615113"/>
            <a:ext cx="450850" cy="246062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93890" name="Rectangle 2"/>
          <p:cNvSpPr>
            <a:spLocks noGrp="1"/>
          </p:cNvSpPr>
          <p:nvPr>
            <p:ph idx="1"/>
          </p:nvPr>
        </p:nvSpPr>
        <p:spPr>
          <a:xfrm>
            <a:off x="1619250" y="428625"/>
            <a:ext cx="7219950" cy="2571750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晶界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：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晶粒与晶粒</a:t>
            </a:r>
            <a:r>
              <a:rPr lang="zh-CN" altLang="en-US" b="1" dirty="0">
                <a:ea typeface="华文中宋" panose="02010600040101010101" pitchFamily="2" charset="-122"/>
              </a:rPr>
              <a:t>之间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的交界面</a:t>
            </a:r>
            <a:r>
              <a:rPr lang="zh-CN" altLang="en-US" b="1" dirty="0">
                <a:solidFill>
                  <a:srgbClr val="FFFF00"/>
                </a:solidFill>
                <a:ea typeface="华文中宋" panose="02010600040101010101" pitchFamily="2" charset="-122"/>
              </a:rPr>
              <a:t>。</a:t>
            </a:r>
            <a:endParaRPr lang="zh-CN" altLang="en-US" b="1" dirty="0">
              <a:solidFill>
                <a:srgbClr val="FFFF00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晶粒越细小，晶界面积越大。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多晶体：</a:t>
            </a:r>
            <a:r>
              <a:rPr lang="zh-CN" altLang="en-US" b="1" dirty="0">
                <a:ea typeface="华文中宋" panose="02010600040101010101" pitchFamily="2" charset="-122"/>
              </a:rPr>
              <a:t>由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多晶粒</a:t>
            </a:r>
            <a:r>
              <a:rPr lang="zh-CN" altLang="en-US" b="1" dirty="0">
                <a:ea typeface="华文中宋" panose="02010600040101010101" pitchFamily="2" charset="-122"/>
              </a:rPr>
              <a:t>组成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的晶体结构</a:t>
            </a:r>
            <a:r>
              <a:rPr lang="zh-CN" altLang="en-US" sz="2800" b="1" dirty="0">
                <a:solidFill>
                  <a:srgbClr val="FFFF00"/>
                </a:solidFill>
                <a:ea typeface="华文中宋" panose="02010600040101010101" pitchFamily="2" charset="-122"/>
              </a:rPr>
              <a:t>。</a:t>
            </a:r>
            <a:endParaRPr lang="zh-CN" altLang="en-US" sz="2800" b="1" dirty="0">
              <a:ea typeface="华文中宋" panose="02010600040101010101" pitchFamily="2" charset="-122"/>
            </a:endParaRPr>
          </a:p>
        </p:txBody>
      </p:sp>
      <p:pic>
        <p:nvPicPr>
          <p:cNvPr id="69635" name="Picture 3" descr="纯铁组织1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2555875" y="2708910"/>
            <a:ext cx="3789363" cy="3057525"/>
          </a:xfrm>
          <a:prstGeom prst="rect">
            <a:avLst/>
          </a:prstGeom>
          <a:noFill/>
          <a:ln w="28575">
            <a:noFill/>
          </a:ln>
        </p:spPr>
      </p:pic>
      <p:sp>
        <p:nvSpPr>
          <p:cNvPr id="69636" name="Rectangle 4"/>
          <p:cNvSpPr/>
          <p:nvPr/>
        </p:nvSpPr>
        <p:spPr>
          <a:xfrm>
            <a:off x="3275965" y="5877560"/>
            <a:ext cx="2819400" cy="266700"/>
          </a:xfrm>
          <a:prstGeom prst="rect">
            <a:avLst/>
          </a:prstGeom>
          <a:solidFill>
            <a:srgbClr val="EAEAEA"/>
          </a:solidFill>
          <a:ln w="9525">
            <a:noFill/>
          </a:ln>
        </p:spPr>
        <p:txBody>
          <a:bodyPr wrap="none" lIns="92075" tIns="46038" rIns="92075" bIns="46038" anchor="ctr"/>
          <a:lstStyle/>
          <a:p>
            <a:pPr algn="ctr"/>
            <a:r>
              <a:rPr lang="zh-CN" altLang="en-US" sz="2000" b="1" dirty="0">
                <a:solidFill>
                  <a:srgbClr val="9933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光学金相显示的纯铁晶界</a:t>
            </a:r>
            <a:endParaRPr lang="zh-CN" altLang="en-US" sz="2000" b="1" dirty="0">
              <a:solidFill>
                <a:srgbClr val="9933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69640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65900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圆角矩形 2" descr="7b0a202020202262756c6c6574223a20227b5c2263617465676f727949645c223a31303032352c5c2274656d706c61746549645c223a32303233313437347d220a7d0a"/>
          <p:cNvSpPr/>
          <p:nvPr>
            <p:custDataLst>
              <p:tags r:id="rId3"/>
            </p:custDataLst>
          </p:nvPr>
        </p:nvSpPr>
        <p:spPr>
          <a:xfrm>
            <a:off x="1907540" y="548640"/>
            <a:ext cx="1066165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晶界</a:t>
            </a:r>
            <a:endParaRPr lang="zh-CN" altLang="en-US" sz="2800" b="1" dirty="0">
              <a:solidFill>
                <a:srgbClr val="3333FF"/>
              </a:solidFill>
              <a:latin typeface="微软雅黑" panose="020B0503020204020204" charset="-122"/>
              <a:ea typeface="华文中宋" panose="02010600040101010101" pitchFamily="2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圆角矩形 4" descr="7b0a202020202262756c6c6574223a20227b5c2263617465676f727949645c223a31303032352c5c2274656d706c61746549645c223a32303233313437347d220a7d0a"/>
          <p:cNvSpPr/>
          <p:nvPr>
            <p:custDataLst>
              <p:tags r:id="rId4"/>
            </p:custDataLst>
          </p:nvPr>
        </p:nvSpPr>
        <p:spPr>
          <a:xfrm>
            <a:off x="1907540" y="2061210"/>
            <a:ext cx="138176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多晶体</a:t>
            </a:r>
            <a:endParaRPr lang="zh-CN" altLang="en-US" sz="2800" b="1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3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938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93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890" grpId="0" advAuto="100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86775" y="6561138"/>
            <a:ext cx="441325" cy="277812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15042" name="Rectangle 2"/>
          <p:cNvSpPr>
            <a:spLocks noGrp="1"/>
          </p:cNvSpPr>
          <p:nvPr>
            <p:ph idx="1"/>
          </p:nvPr>
        </p:nvSpPr>
        <p:spPr>
          <a:xfrm>
            <a:off x="1115695" y="692785"/>
            <a:ext cx="3733800" cy="972185"/>
          </a:xfrm>
        </p:spPr>
        <p:txBody>
          <a:bodyPr wrap="square" lIns="91440" tIns="45720" rIns="91440" bIns="45720" anchor="t"/>
          <a:lstStyle/>
          <a:p>
            <a:pPr marL="0" indent="0" eaLnBrk="1" hangingPunct="1">
              <a:buNone/>
            </a:pPr>
            <a:r>
              <a:rPr lang="zh-CN" altLang="en-US" sz="4400" b="1" dirty="0">
                <a:solidFill>
                  <a:srgbClr val="FF0000"/>
                </a:solidFill>
                <a:ea typeface="华文中宋" panose="02010600040101010101" pitchFamily="2" charset="-122"/>
              </a:rPr>
              <a:t>晶界的特点：</a:t>
            </a:r>
            <a:endParaRPr lang="zh-CN" altLang="en-US" sz="4400" b="1" dirty="0">
              <a:solidFill>
                <a:srgbClr val="FF0000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zh-CN" altLang="en-US" sz="4400" b="1" dirty="0">
              <a:solidFill>
                <a:srgbClr val="0033CC"/>
              </a:solidFill>
              <a:ea typeface="华文中宋" panose="02010600040101010101" pitchFamily="2" charset="-122"/>
            </a:endParaRPr>
          </a:p>
        </p:txBody>
      </p:sp>
      <p:sp>
        <p:nvSpPr>
          <p:cNvPr id="215043" name="Rectangle 3"/>
          <p:cNvSpPr/>
          <p:nvPr/>
        </p:nvSpPr>
        <p:spPr>
          <a:xfrm>
            <a:off x="467995" y="1917065"/>
            <a:ext cx="4953000" cy="464566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457200" indent="-457200" eaLnBrk="1" hangingPunct="1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① 原子排列不规则</a:t>
            </a:r>
            <a:endParaRPr lang="zh-CN" altLang="en-US" sz="2800" b="1" dirty="0">
              <a:solidFill>
                <a:srgbClr val="0033CC"/>
              </a:solidFill>
              <a:ea typeface="华文中宋" panose="02010600040101010101" pitchFamily="2" charset="-122"/>
            </a:endParaRPr>
          </a:p>
          <a:p>
            <a:pPr marL="457200" indent="-457200" eaLnBrk="1" hangingPunct="1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② 熔点低</a:t>
            </a:r>
            <a:endParaRPr lang="zh-CN" altLang="en-US" sz="2800" b="1" dirty="0">
              <a:solidFill>
                <a:srgbClr val="0033CC"/>
              </a:solidFill>
              <a:ea typeface="华文中宋" panose="02010600040101010101" pitchFamily="2" charset="-122"/>
            </a:endParaRPr>
          </a:p>
          <a:p>
            <a:pPr marL="457200" indent="-457200" eaLnBrk="1" hangingPunct="1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③ 耐蚀性差</a:t>
            </a:r>
            <a:endParaRPr lang="zh-CN" altLang="en-US" sz="2800" b="1" dirty="0">
              <a:solidFill>
                <a:srgbClr val="0033CC"/>
              </a:solidFill>
              <a:ea typeface="华文中宋" panose="02010600040101010101" pitchFamily="2" charset="-122"/>
            </a:endParaRPr>
          </a:p>
          <a:p>
            <a:pPr marL="457200" indent="-457200">
              <a:lnSpc>
                <a:spcPct val="100000"/>
              </a:lnSpc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④ 易产生内吸附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外来原子易在晶界偏聚。</a:t>
            </a:r>
            <a:endParaRPr lang="zh-CN" altLang="en-US" sz="2800" b="1" dirty="0">
              <a:solidFill>
                <a:schemeClr val="accent1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800" b="1" kern="0" dirty="0">
                <a:solidFill>
                  <a:srgbClr val="0000FF"/>
                </a:solidFill>
                <a:latin typeface="+mn-lt"/>
                <a:ea typeface="华文中宋" panose="02010600040101010101" pitchFamily="2" charset="-122"/>
              </a:rPr>
              <a:t>⑤ 阻碍位错运动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，是强化部位，因而实际使用的金属力求获得</a:t>
            </a:r>
            <a:r>
              <a:rPr lang="zh-CN" altLang="en-US" sz="2800" b="1" kern="0" dirty="0">
                <a:solidFill>
                  <a:srgbClr val="0000FF"/>
                </a:solidFill>
                <a:latin typeface="+mn-lt"/>
                <a:ea typeface="华文中宋" panose="02010600040101010101" pitchFamily="2" charset="-122"/>
              </a:rPr>
              <a:t>细晶粒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。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zh-CN" altLang="en-US" sz="2800" b="1" kern="0" dirty="0">
                <a:solidFill>
                  <a:srgbClr val="0000FF"/>
                </a:solidFill>
                <a:latin typeface="+mn-lt"/>
                <a:ea typeface="华文中宋" panose="02010600040101010101" pitchFamily="2" charset="-122"/>
              </a:rPr>
              <a:t>细晶强化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）</a:t>
            </a:r>
            <a:endParaRPr lang="zh-CN" altLang="en-US" sz="2800" b="1" dirty="0">
              <a:solidFill>
                <a:srgbClr val="CCFF33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800" b="1" kern="0" dirty="0">
                <a:solidFill>
                  <a:srgbClr val="0000FF"/>
                </a:solidFill>
                <a:latin typeface="+mn-lt"/>
                <a:ea typeface="华文中宋" panose="02010600040101010101" pitchFamily="2" charset="-122"/>
              </a:rPr>
              <a:t>⑥ 是相变的优先形核部位。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endParaRPr lang="en-US" altLang="zh-CN" sz="2800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5148263" y="908685"/>
            <a:ext cx="3856037" cy="5072063"/>
            <a:chOff x="2376" y="288"/>
            <a:chExt cx="3162" cy="3609"/>
          </a:xfrm>
        </p:grpSpPr>
        <p:pic>
          <p:nvPicPr>
            <p:cNvPr id="71685" name="Picture 5" descr="晶界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384" y="2400"/>
              <a:ext cx="2154" cy="1497"/>
            </a:xfrm>
            <a:prstGeom prst="rect">
              <a:avLst/>
            </a:prstGeom>
            <a:noFill/>
            <a:ln w="28575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grpSp>
          <p:nvGrpSpPr>
            <p:cNvPr id="71686" name="Group 6"/>
            <p:cNvGrpSpPr/>
            <p:nvPr/>
          </p:nvGrpSpPr>
          <p:grpSpPr>
            <a:xfrm>
              <a:off x="2376" y="288"/>
              <a:ext cx="3156" cy="1989"/>
              <a:chOff x="2376" y="288"/>
              <a:chExt cx="3156" cy="1989"/>
            </a:xfrm>
          </p:grpSpPr>
          <p:sp>
            <p:nvSpPr>
              <p:cNvPr id="71687" name="Text Box 7"/>
              <p:cNvSpPr txBox="1"/>
              <p:nvPr/>
            </p:nvSpPr>
            <p:spPr>
              <a:xfrm>
                <a:off x="3120" y="1992"/>
                <a:ext cx="1872" cy="28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显微组织的显示</a:t>
                </a:r>
                <a:endParaRPr lang="zh-CN" altLang="en-US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grpSp>
            <p:nvGrpSpPr>
              <p:cNvPr id="71688" name="Group 8"/>
              <p:cNvGrpSpPr/>
              <p:nvPr/>
            </p:nvGrpSpPr>
            <p:grpSpPr>
              <a:xfrm>
                <a:off x="2376" y="288"/>
                <a:ext cx="3156" cy="1725"/>
                <a:chOff x="2352" y="288"/>
                <a:chExt cx="3156" cy="1725"/>
              </a:xfrm>
            </p:grpSpPr>
            <p:pic>
              <p:nvPicPr>
                <p:cNvPr id="71689" name="Picture 9" descr="晶界显示1"/>
                <p:cNvPicPr>
                  <a:picLocks noChangeAspect="1"/>
                </p:cNvPicPr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2352" y="288"/>
                  <a:ext cx="1705" cy="1724"/>
                </a:xfrm>
                <a:prstGeom prst="rect">
                  <a:avLst/>
                </a:prstGeom>
                <a:noFill/>
                <a:ln w="19050" cap="flat" cmpd="sng">
                  <a:solidFill>
                    <a:srgbClr val="CC99FF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pic>
            <p:pic>
              <p:nvPicPr>
                <p:cNvPr id="71690" name="Picture 10" descr="晶界显示2"/>
                <p:cNvPicPr>
                  <a:picLocks noChangeAspect="1"/>
                </p:cNvPicPr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4032" y="288"/>
                  <a:ext cx="1476" cy="1725"/>
                </a:xfrm>
                <a:prstGeom prst="rect">
                  <a:avLst/>
                </a:prstGeom>
                <a:noFill/>
                <a:ln w="19050" cap="flat" cmpd="sng">
                  <a:solidFill>
                    <a:srgbClr val="CC99FF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pic>
          </p:grpSp>
        </p:grpSp>
      </p:grpSp>
      <p:sp>
        <p:nvSpPr>
          <p:cNvPr id="71692" name="日期占位符 1"/>
          <p:cNvSpPr>
            <a:spLocks noGrp="1"/>
          </p:cNvSpPr>
          <p:nvPr>
            <p:ph type="dt" sz="half" idx="10"/>
          </p:nvPr>
        </p:nvSpPr>
        <p:spPr>
          <a:xfrm>
            <a:off x="152400" y="6561138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4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15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5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5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15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5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15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42" grpId="0" advAuto="1000" build="p"/>
      <p:bldP spid="215043" grpId="0" advAuto="100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04225" y="6640513"/>
            <a:ext cx="660400" cy="217487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16066" name="Rectangle 2"/>
          <p:cNvSpPr>
            <a:spLocks noGrp="1"/>
          </p:cNvSpPr>
          <p:nvPr>
            <p:ph type="title"/>
          </p:nvPr>
        </p:nvSpPr>
        <p:spPr>
          <a:xfrm>
            <a:off x="251460" y="1484630"/>
            <a:ext cx="8796655" cy="2434590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en-US" altLang="zh-CN" sz="6000" b="1" dirty="0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3</a:t>
            </a:r>
            <a:r>
              <a:rPr lang="zh-CN" altLang="en-US" sz="6000" b="1" dirty="0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、合金的晶体结构</a:t>
            </a:r>
            <a:br>
              <a:rPr lang="en-US" altLang="zh-CN" sz="6000" b="1" dirty="0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</a:br>
            <a:r>
              <a:rPr lang="en-US" altLang="zh-CN" sz="6000" b="1" i="1" dirty="0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Crystal Structure of Alloys</a:t>
            </a:r>
            <a:endParaRPr lang="en-US" altLang="zh-CN" sz="6000" b="1" i="1" dirty="0">
              <a:solidFill>
                <a:schemeClr val="hlink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72714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86855"/>
            <a:ext cx="1974215" cy="271145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6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66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04225" y="6640513"/>
            <a:ext cx="660400" cy="217487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16066" name="Rectangle 2"/>
          <p:cNvSpPr>
            <a:spLocks noGrp="1"/>
          </p:cNvSpPr>
          <p:nvPr>
            <p:ph type="title"/>
          </p:nvPr>
        </p:nvSpPr>
        <p:spPr>
          <a:xfrm>
            <a:off x="1500188" y="285750"/>
            <a:ext cx="5857875" cy="928688"/>
          </a:xfrm>
        </p:spPr>
        <p:txBody>
          <a:bodyPr wrap="square" lIns="91440" tIns="45720" rIns="91440" bIns="45720" anchor="b"/>
          <a:lstStyle/>
          <a:p>
            <a:pPr eaLnBrk="1" hangingPunct="1"/>
            <a:r>
              <a:rPr lang="en-US" altLang="zh-CN" b="1" dirty="0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3</a:t>
            </a:r>
            <a:r>
              <a:rPr lang="zh-CN" altLang="en-US" b="1" dirty="0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、合金的晶体结构</a:t>
            </a:r>
            <a:endParaRPr lang="zh-CN" altLang="en-US" b="1" dirty="0">
              <a:solidFill>
                <a:schemeClr val="hlink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216067" name="Rectangle 3"/>
          <p:cNvSpPr>
            <a:spLocks noGrp="1"/>
          </p:cNvSpPr>
          <p:nvPr>
            <p:ph idx="1"/>
          </p:nvPr>
        </p:nvSpPr>
        <p:spPr>
          <a:xfrm>
            <a:off x="0" y="2000250"/>
            <a:ext cx="5500688" cy="4429125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合金(</a:t>
            </a:r>
            <a:r>
              <a:rPr lang="zh-CN" altLang="en-US" sz="2800" b="1" i="1" dirty="0">
                <a:solidFill>
                  <a:srgbClr val="FF0000"/>
                </a:solidFill>
                <a:ea typeface="华文中宋" panose="02010600040101010101" pitchFamily="2" charset="-122"/>
              </a:rPr>
              <a:t>Alloy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)：</a:t>
            </a:r>
            <a:r>
              <a:rPr lang="zh-CN" altLang="en-US" sz="2800" b="1" dirty="0">
                <a:ea typeface="华文中宋" panose="02010600040101010101" pitchFamily="2" charset="-122"/>
              </a:rPr>
              <a:t>由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两种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或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两种以上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元素组成的具有</a:t>
            </a:r>
            <a:r>
              <a:rPr lang="zh-CN" altLang="en-US" sz="2800" b="1" dirty="0">
                <a:solidFill>
                  <a:srgbClr val="FF0000"/>
                </a:solidFill>
                <a:ea typeface="华文中宋" panose="02010600040101010101" pitchFamily="2" charset="-122"/>
              </a:rPr>
              <a:t>金属特性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的物质。</a:t>
            </a:r>
            <a:endParaRPr lang="zh-CN" altLang="en-US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ea typeface="华文中宋" panose="02010600040101010101" pitchFamily="2" charset="-122"/>
              </a:rPr>
              <a:t>组成合金的元素可以是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全部是金属</a:t>
            </a:r>
            <a:r>
              <a:rPr lang="zh-CN" altLang="en-US" sz="2800" b="1" dirty="0">
                <a:ea typeface="华文中宋" panose="02010600040101010101" pitchFamily="2" charset="-122"/>
              </a:rPr>
              <a:t>，也可以是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金属</a:t>
            </a:r>
            <a:r>
              <a:rPr lang="zh-CN" altLang="en-US" sz="2800" b="1" dirty="0">
                <a:solidFill>
                  <a:srgbClr val="002060"/>
                </a:solidFill>
                <a:ea typeface="华文中宋" panose="02010600040101010101" pitchFamily="2" charset="-122"/>
              </a:rPr>
              <a:t>与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非金属</a:t>
            </a:r>
            <a:r>
              <a:rPr lang="zh-CN" altLang="en-US" sz="2800" b="1" dirty="0">
                <a:ea typeface="华文中宋" panose="02010600040101010101" pitchFamily="2" charset="-122"/>
              </a:rPr>
              <a:t>。</a:t>
            </a:r>
            <a:endParaRPr lang="zh-CN" altLang="en-US" sz="2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ea typeface="华文中宋" panose="02010600040101010101" pitchFamily="2" charset="-122"/>
              </a:rPr>
              <a:t>组成合金的元素相互作用可形成不同的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相</a:t>
            </a:r>
            <a:r>
              <a:rPr lang="zh-CN" altLang="en-US" sz="2800" b="1" dirty="0">
                <a:ea typeface="华文中宋" panose="02010600040101010101" pitchFamily="2" charset="-122"/>
              </a:rPr>
              <a:t>。</a:t>
            </a:r>
            <a:endParaRPr lang="zh-CN" altLang="en-US" sz="2800" b="1" dirty="0"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5643563" y="1357313"/>
            <a:ext cx="3227387" cy="5500687"/>
            <a:chOff x="3397" y="384"/>
            <a:chExt cx="2122" cy="3700"/>
          </a:xfrm>
        </p:grpSpPr>
        <p:pic>
          <p:nvPicPr>
            <p:cNvPr id="72709" name="Picture 5" descr="image023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444" y="2210"/>
              <a:ext cx="2029" cy="1538"/>
            </a:xfrm>
            <a:prstGeom prst="rect">
              <a:avLst/>
            </a:prstGeom>
            <a:noFill/>
            <a:ln w="38100" cap="flat" cmpd="sng">
              <a:solidFill>
                <a:srgbClr val="00CC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pic>
          <p:nvPicPr>
            <p:cNvPr id="72710" name="Picture 6" descr="黄铜组织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97" y="384"/>
              <a:ext cx="2067" cy="1694"/>
            </a:xfrm>
            <a:prstGeom prst="rect">
              <a:avLst/>
            </a:prstGeom>
            <a:noFill/>
            <a:ln w="38100" cap="flat" cmpd="sng">
              <a:solidFill>
                <a:srgbClr val="FF99CC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72711" name="Rectangle 7"/>
            <p:cNvSpPr/>
            <p:nvPr/>
          </p:nvSpPr>
          <p:spPr>
            <a:xfrm>
              <a:off x="3397" y="3844"/>
              <a:ext cx="1174" cy="240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  <a:ln w="9525">
              <a:noFill/>
            </a:ln>
          </p:spPr>
          <p:txBody>
            <a:bodyPr wrap="none"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0066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Al-Cu</a:t>
              </a:r>
              <a:r>
                <a:rPr lang="zh-CN" altLang="en-US" sz="2000" b="1" dirty="0">
                  <a:solidFill>
                    <a:srgbClr val="0066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两相合金</a:t>
              </a:r>
              <a:endParaRPr lang="zh-CN" altLang="en-US" sz="28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712" name="Rectangle 8"/>
            <p:cNvSpPr/>
            <p:nvPr/>
          </p:nvSpPr>
          <p:spPr>
            <a:xfrm>
              <a:off x="5135" y="961"/>
              <a:ext cx="384" cy="19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 w="9525">
              <a:noFill/>
            </a:ln>
          </p:spPr>
          <p:txBody>
            <a:bodyPr wrap="none" anchor="ctr"/>
            <a:lstStyle/>
            <a:p>
              <a:pPr algn="ctr"/>
              <a:r>
                <a:rPr lang="zh-CN" altLang="en-US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黄铜</a:t>
              </a:r>
              <a:endPara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72714" name="日期占位符 1"/>
          <p:cNvSpPr>
            <a:spLocks noGrp="1"/>
          </p:cNvSpPr>
          <p:nvPr>
            <p:ph type="dt" sz="half" idx="10"/>
          </p:nvPr>
        </p:nvSpPr>
        <p:spPr>
          <a:xfrm>
            <a:off x="-1" y="6586538"/>
            <a:ext cx="1979713" cy="271462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圆角矩形 2" descr="7b0a202020202262756c6c6574223a20227b5c2263617465676f727949645c223a31303032352c5c2274656d706c61746549645c223a32303233313437347d220a7d0a"/>
          <p:cNvSpPr/>
          <p:nvPr>
            <p:custDataLst>
              <p:tags r:id="rId4"/>
            </p:custDataLst>
          </p:nvPr>
        </p:nvSpPr>
        <p:spPr>
          <a:xfrm>
            <a:off x="323215" y="2204720"/>
            <a:ext cx="2014855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合金(</a:t>
            </a:r>
            <a:r>
              <a:rPr lang="zh-CN" alt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Alloy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)</a:t>
            </a:r>
            <a:endParaRPr lang="zh-CN" altLang="en-US" sz="2800" b="1" dirty="0">
              <a:solidFill>
                <a:srgbClr val="3333FF"/>
              </a:solidFill>
              <a:latin typeface="微软雅黑" panose="020B0503020204020204" charset="-122"/>
              <a:ea typeface="华文中宋" panose="02010600040101010101" pitchFamily="2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6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16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6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16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66" grpId="0"/>
      <p:bldP spid="216067" grpId="0" advAuto="100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82013" y="6591300"/>
            <a:ext cx="493712" cy="277813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17090" name="Rectangle 2"/>
          <p:cNvSpPr>
            <a:spLocks noGrp="1"/>
          </p:cNvSpPr>
          <p:nvPr>
            <p:ph idx="1"/>
          </p:nvPr>
        </p:nvSpPr>
        <p:spPr>
          <a:xfrm>
            <a:off x="251520" y="1844442"/>
            <a:ext cx="5873055" cy="4758288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相(</a:t>
            </a:r>
            <a:r>
              <a:rPr lang="zh-CN" altLang="en-US" sz="2800" b="1" i="1" dirty="0">
                <a:solidFill>
                  <a:srgbClr val="FF0000"/>
                </a:solidFill>
                <a:ea typeface="华文中宋" panose="02010600040101010101" pitchFamily="2" charset="-122"/>
              </a:rPr>
              <a:t>Phase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)</a:t>
            </a:r>
            <a:r>
              <a:rPr lang="en-US" altLang="zh-CN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：</a:t>
            </a:r>
            <a:r>
              <a:rPr lang="zh-CN" altLang="en-US" sz="2800" b="1" dirty="0">
                <a:ea typeface="华文中宋" panose="02010600040101010101" pitchFamily="2" charset="-122"/>
              </a:rPr>
              <a:t>金属或合金中</a:t>
            </a:r>
            <a:r>
              <a:rPr lang="zh-CN" altLang="en-US" sz="2800" b="1" dirty="0">
                <a:solidFill>
                  <a:srgbClr val="0033CC"/>
                </a:solidFill>
                <a:ea typeface="华文中宋" panose="02010600040101010101" pitchFamily="2" charset="-122"/>
              </a:rPr>
              <a:t>成分相同、</a:t>
            </a:r>
            <a:r>
              <a:rPr lang="zh-CN" altLang="en-US" sz="2800" b="1" dirty="0">
                <a:solidFill>
                  <a:srgbClr val="FF0000"/>
                </a:solidFill>
                <a:ea typeface="华文中宋" panose="02010600040101010101" pitchFamily="2" charset="-122"/>
              </a:rPr>
              <a:t>结构相同</a:t>
            </a:r>
            <a:r>
              <a:rPr lang="zh-CN" altLang="en-US" sz="2800" b="1" dirty="0">
                <a:solidFill>
                  <a:srgbClr val="0033CC"/>
                </a:solidFill>
                <a:ea typeface="华文中宋" panose="02010600040101010101" pitchFamily="2" charset="-122"/>
              </a:rPr>
              <a:t>，并与其它部分</a:t>
            </a:r>
            <a:r>
              <a:rPr lang="zh-CN" altLang="en-US" sz="2800" b="1" dirty="0">
                <a:solidFill>
                  <a:srgbClr val="FF0000"/>
                </a:solidFill>
                <a:ea typeface="华文中宋" panose="02010600040101010101" pitchFamily="2" charset="-122"/>
              </a:rPr>
              <a:t>有界面</a:t>
            </a:r>
            <a:r>
              <a:rPr lang="zh-CN" altLang="en-US" sz="2800" b="1" dirty="0">
                <a:solidFill>
                  <a:srgbClr val="0033CC"/>
                </a:solidFill>
                <a:ea typeface="华文中宋" panose="02010600040101010101" pitchFamily="2" charset="-122"/>
              </a:rPr>
              <a:t>分开的</a:t>
            </a:r>
            <a:r>
              <a:rPr lang="zh-CN" altLang="en-US" sz="2800" b="1" dirty="0">
                <a:solidFill>
                  <a:srgbClr val="FF0000"/>
                </a:solidFill>
                <a:ea typeface="华文中宋" panose="02010600040101010101" pitchFamily="2" charset="-122"/>
              </a:rPr>
              <a:t>均匀组成</a:t>
            </a:r>
            <a:r>
              <a:rPr lang="zh-CN" altLang="en-US" sz="2800" b="1" dirty="0">
                <a:solidFill>
                  <a:srgbClr val="0033CC"/>
                </a:solidFill>
                <a:ea typeface="华文中宋" panose="02010600040101010101" pitchFamily="2" charset="-122"/>
              </a:rPr>
              <a:t>部分</a:t>
            </a:r>
            <a:r>
              <a:rPr lang="zh-CN" altLang="en-US" sz="2800" b="1" dirty="0">
                <a:solidFill>
                  <a:srgbClr val="FFFF00"/>
                </a:solidFill>
                <a:ea typeface="华文中宋" panose="02010600040101010101" pitchFamily="2" charset="-122"/>
              </a:rPr>
              <a:t>。</a:t>
            </a:r>
            <a:endParaRPr lang="zh-CN" altLang="en-US" sz="2800" b="1" dirty="0">
              <a:solidFill>
                <a:srgbClr val="FFFF00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显微组织</a:t>
            </a:r>
            <a:r>
              <a:rPr lang="en-US" altLang="zh-CN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：</a:t>
            </a:r>
            <a:r>
              <a:rPr lang="zh-CN" altLang="en-US" sz="2800" b="1" dirty="0">
                <a:ea typeface="华文中宋" panose="02010600040101010101" pitchFamily="2" charset="-122"/>
              </a:rPr>
              <a:t>实质上是指在显微镜下观察到的金属中各相或各晶粒的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形态、数量、大小</a:t>
            </a:r>
            <a:r>
              <a:rPr lang="zh-CN" altLang="en-US" sz="2800" b="1" dirty="0">
                <a:ea typeface="华文中宋" panose="02010600040101010101" pitchFamily="2" charset="-122"/>
              </a:rPr>
              <a:t>和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分布</a:t>
            </a:r>
            <a:r>
              <a:rPr lang="zh-CN" altLang="en-US" sz="2800" b="1" dirty="0">
                <a:ea typeface="华文中宋" panose="02010600040101010101" pitchFamily="2" charset="-122"/>
              </a:rPr>
              <a:t>的组合。</a:t>
            </a:r>
            <a:endParaRPr lang="zh-CN" altLang="en-US" sz="2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ea typeface="华文中宋" panose="02010600040101010101" pitchFamily="2" charset="-122"/>
              </a:rPr>
              <a:t>固态合金中的相：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固溶体</a:t>
            </a:r>
            <a:r>
              <a:rPr lang="zh-CN" altLang="en-US" sz="2800" b="1" dirty="0">
                <a:ea typeface="华文中宋" panose="02010600040101010101" pitchFamily="2" charset="-122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ea typeface="华文中宋" panose="02010600040101010101" pitchFamily="2" charset="-122"/>
              </a:rPr>
              <a:t>金属化合物</a:t>
            </a:r>
            <a:endParaRPr lang="zh-CN" altLang="en-US" sz="2800" b="1" dirty="0">
              <a:solidFill>
                <a:srgbClr val="FF0000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6124575" y="714375"/>
            <a:ext cx="3019425" cy="5546725"/>
            <a:chOff x="3552" y="428"/>
            <a:chExt cx="1902" cy="3494"/>
          </a:xfrm>
        </p:grpSpPr>
        <p:pic>
          <p:nvPicPr>
            <p:cNvPr id="73732" name="Picture 4" descr="austenite奥氏体组织2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648" y="432"/>
              <a:ext cx="1700" cy="1701"/>
            </a:xfrm>
            <a:prstGeom prst="rect">
              <a:avLst/>
            </a:prstGeom>
            <a:noFill/>
            <a:ln w="28575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73733" name="Text Box 5"/>
            <p:cNvSpPr txBox="1"/>
            <p:nvPr/>
          </p:nvSpPr>
          <p:spPr>
            <a:xfrm>
              <a:off x="3552" y="428"/>
              <a:ext cx="480" cy="27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lnSpc>
                  <a:spcPct val="70000"/>
                </a:lnSpc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0066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单相合金</a:t>
              </a:r>
              <a:endParaRPr lang="zh-CN" altLang="en-US" sz="16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pic>
          <p:nvPicPr>
            <p:cNvPr id="73734" name="Picture 6" descr="Pb-Sn eut共晶组织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48" y="2208"/>
              <a:ext cx="1700" cy="1695"/>
            </a:xfrm>
            <a:prstGeom prst="rect">
              <a:avLst/>
            </a:prstGeom>
            <a:noFill/>
            <a:ln w="28575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73735" name="Text Box 7"/>
            <p:cNvSpPr txBox="1"/>
            <p:nvPr/>
          </p:nvSpPr>
          <p:spPr>
            <a:xfrm>
              <a:off x="4974" y="3647"/>
              <a:ext cx="480" cy="27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lnSpc>
                  <a:spcPct val="70000"/>
                </a:lnSpc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两相合金</a:t>
              </a:r>
              <a:endPara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73737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91300"/>
            <a:ext cx="1819910" cy="268605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2"/>
          <p:cNvSpPr>
            <a:spLocks noGrp="1"/>
          </p:cNvSpPr>
          <p:nvPr>
            <p:ph type="title"/>
          </p:nvPr>
        </p:nvSpPr>
        <p:spPr>
          <a:xfrm>
            <a:off x="1028700" y="416722"/>
            <a:ext cx="5857875" cy="928688"/>
          </a:xfrm>
        </p:spPr>
        <p:txBody>
          <a:bodyPr wrap="square" lIns="91440" tIns="45720" rIns="91440" bIns="45720" anchor="b"/>
          <a:lstStyle/>
          <a:p>
            <a:pPr eaLnBrk="1" hangingPunct="1"/>
            <a:r>
              <a:rPr lang="en-US" altLang="zh-CN" b="1" dirty="0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3</a:t>
            </a:r>
            <a:r>
              <a:rPr lang="zh-CN" altLang="en-US" b="1" dirty="0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、合金的晶体结构</a:t>
            </a:r>
            <a:endParaRPr lang="zh-CN" altLang="en-US" b="1" dirty="0">
              <a:solidFill>
                <a:schemeClr val="hlink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4" name="圆角矩形 3" descr="7b0a202020202262756c6c6574223a20227b5c2263617465676f727949645c223a31303032352c5c2274656d706c61746549645c223a32303233313437347d220a7d0a"/>
          <p:cNvSpPr/>
          <p:nvPr>
            <p:custDataLst>
              <p:tags r:id="rId4"/>
            </p:custDataLst>
          </p:nvPr>
        </p:nvSpPr>
        <p:spPr>
          <a:xfrm>
            <a:off x="539750" y="1988820"/>
            <a:ext cx="195580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相(</a:t>
            </a:r>
            <a:r>
              <a:rPr lang="zh-CN" altLang="en-US" sz="2800" b="1" i="1" dirty="0">
                <a:solidFill>
                  <a:srgbClr val="FF0000"/>
                </a:solidFill>
                <a:ea typeface="华文中宋" panose="02010600040101010101" pitchFamily="2" charset="-122"/>
                <a:sym typeface="+mn-ea"/>
              </a:rPr>
              <a:t>Phase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)</a:t>
            </a:r>
            <a:endParaRPr lang="zh-CN" altLang="en-US" sz="2800" b="1" dirty="0">
              <a:solidFill>
                <a:srgbClr val="3333FF"/>
              </a:solidFill>
              <a:latin typeface="微软雅黑" panose="020B0503020204020204" charset="-122"/>
              <a:ea typeface="华文中宋" panose="02010600040101010101" pitchFamily="2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圆角矩形 4" descr="7b0a202020202262756c6c6574223a20227b5c2263617465676f727949645c223a31303032352c5c2274656d706c61746549645c223a32303233313437347d220a7d0a"/>
          <p:cNvSpPr/>
          <p:nvPr>
            <p:custDataLst>
              <p:tags r:id="rId5"/>
            </p:custDataLst>
          </p:nvPr>
        </p:nvSpPr>
        <p:spPr>
          <a:xfrm>
            <a:off x="539750" y="3728720"/>
            <a:ext cx="165862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显微组织</a:t>
            </a:r>
            <a:endParaRPr lang="zh-CN" altLang="en-US" sz="2800" b="1" dirty="0">
              <a:solidFill>
                <a:srgbClr val="3333FF"/>
              </a:solidFill>
              <a:latin typeface="微软雅黑" panose="020B0503020204020204" charset="-122"/>
              <a:ea typeface="华文中宋" panose="02010600040101010101" pitchFamily="2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70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170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70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090" grpId="0" advAuto="1000" uiExpand="1" build="p"/>
      <p:bldP spid="3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47100" y="6608763"/>
            <a:ext cx="420688" cy="266700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18114" name="Rectangle 2"/>
          <p:cNvSpPr>
            <a:spLocks noGrp="1"/>
          </p:cNvSpPr>
          <p:nvPr>
            <p:ph idx="1"/>
          </p:nvPr>
        </p:nvSpPr>
        <p:spPr>
          <a:xfrm>
            <a:off x="1115695" y="-36830"/>
            <a:ext cx="6104255" cy="1637030"/>
          </a:xfrm>
        </p:spPr>
        <p:txBody>
          <a:bodyPr wrap="square" lIns="91440" tIns="45720" rIns="91440" bIns="45720" anchor="t"/>
          <a:lstStyle/>
          <a:p>
            <a:pPr marL="0" indent="0" algn="ctr" eaLnBrk="1" hangingPunct="1">
              <a:buNone/>
            </a:pPr>
            <a:r>
              <a:rPr lang="en-US" altLang="zh-CN" sz="4400" b="1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⑴ </a:t>
            </a:r>
            <a:r>
              <a:rPr lang="zh-CN" altLang="en-US" sz="4400" b="1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固溶体 </a:t>
            </a:r>
            <a:endParaRPr lang="zh-CN" altLang="en-US" sz="4400" b="1" dirty="0">
              <a:solidFill>
                <a:schemeClr val="hlink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 algn="ctr" eaLnBrk="1" hangingPunct="1">
              <a:buNone/>
            </a:pPr>
            <a:r>
              <a:rPr lang="en-US" altLang="zh-CN" sz="4400" b="1" i="1" dirty="0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Solid solution</a:t>
            </a:r>
            <a:endParaRPr lang="zh-CN" altLang="en-US" sz="2800" b="1" dirty="0">
              <a:solidFill>
                <a:srgbClr val="0033CC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18115" name="Rectangle 3"/>
          <p:cNvSpPr/>
          <p:nvPr/>
        </p:nvSpPr>
        <p:spPr>
          <a:xfrm>
            <a:off x="395605" y="1896745"/>
            <a:ext cx="5779135" cy="462788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10000"/>
              </a:lnSpc>
              <a:spcBef>
                <a:spcPts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固溶体</a:t>
            </a:r>
            <a:r>
              <a:rPr lang="en-US" altLang="zh-CN" sz="2800" b="1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：</a:t>
            </a:r>
            <a:r>
              <a:rPr lang="zh-CN" altLang="en-US" sz="2800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合金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中其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结构</a:t>
            </a:r>
            <a:r>
              <a:rPr lang="zh-CN" altLang="en-US" sz="2800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与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组成元素之一</a:t>
            </a:r>
            <a:r>
              <a:rPr lang="zh-CN" altLang="en-US" sz="2800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的晶体结构相同的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固相</a:t>
            </a:r>
            <a:r>
              <a:rPr lang="zh-CN" altLang="en-US" sz="2800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，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用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、、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表示</a:t>
            </a:r>
            <a:r>
              <a:rPr lang="zh-CN" altLang="en-US" sz="2800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。</a:t>
            </a:r>
            <a:endParaRPr lang="zh-CN" altLang="en-US" sz="28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与固溶体晶体结构相同的元素称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溶剂</a:t>
            </a:r>
            <a:r>
              <a:rPr lang="zh-CN" altLang="en-US" sz="2800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其它元素称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溶质</a:t>
            </a:r>
            <a:r>
              <a:rPr lang="en-US" altLang="zh-CN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  </a:t>
            </a:r>
            <a:r>
              <a:rPr lang="zh-CN" altLang="en-US" sz="2800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endParaRPr lang="zh-CN" altLang="en-US" sz="2800" b="1" dirty="0">
              <a:solidFill>
                <a:srgbClr val="CCFF33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固溶体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是</a:t>
            </a:r>
            <a:r>
              <a:rPr lang="zh-CN" altLang="en-US" sz="2800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合金的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重要组成相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,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实际合金多是</a:t>
            </a:r>
            <a:r>
              <a:rPr lang="zh-CN" altLang="en-US" sz="2800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单相固溶体合金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或以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固溶体</a:t>
            </a:r>
            <a:r>
              <a:rPr lang="zh-CN" altLang="en-US" sz="2800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为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基</a:t>
            </a:r>
            <a:r>
              <a:rPr lang="zh-CN" altLang="en-US" sz="2800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的合金。</a:t>
            </a:r>
            <a:endParaRPr lang="zh-CN" altLang="en-US" sz="2800" b="1" dirty="0">
              <a:solidFill>
                <a:srgbClr val="0033CC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分类</a:t>
            </a:r>
            <a:r>
              <a:rPr lang="en-US" altLang="zh-CN" sz="2800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altLang="en-US" sz="2800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按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溶质原子所处位置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分为</a:t>
            </a:r>
            <a:r>
              <a:rPr lang="zh-CN" altLang="en-US" sz="2800" b="1" dirty="0">
                <a:solidFill>
                  <a:srgbClr val="3333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置换固溶体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和</a:t>
            </a:r>
            <a:r>
              <a:rPr lang="zh-CN" altLang="en-US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间隙固溶体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endParaRPr lang="zh-CN" altLang="en-US" sz="28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6084888" y="1773238"/>
            <a:ext cx="2882900" cy="4751387"/>
            <a:chOff x="3560" y="1272"/>
            <a:chExt cx="1816" cy="2993"/>
          </a:xfrm>
        </p:grpSpPr>
        <p:pic>
          <p:nvPicPr>
            <p:cNvPr id="74757" name="Picture 5" descr="Fe-C间隙固溶体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560" y="2784"/>
              <a:ext cx="1816" cy="1251"/>
            </a:xfrm>
            <a:prstGeom prst="rect">
              <a:avLst/>
            </a:prstGeom>
            <a:noFill/>
            <a:ln w="38100" cap="flat" cmpd="sng">
              <a:solidFill>
                <a:srgbClr val="99CC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grpSp>
          <p:nvGrpSpPr>
            <p:cNvPr id="74758" name="Group 6"/>
            <p:cNvGrpSpPr/>
            <p:nvPr/>
          </p:nvGrpSpPr>
          <p:grpSpPr>
            <a:xfrm>
              <a:off x="3562" y="1272"/>
              <a:ext cx="1814" cy="2993"/>
              <a:chOff x="3562" y="1272"/>
              <a:chExt cx="1814" cy="2993"/>
            </a:xfrm>
          </p:grpSpPr>
          <p:pic>
            <p:nvPicPr>
              <p:cNvPr id="74759" name="Picture 7" descr="Cu-Ni置换固溶体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562" y="1272"/>
                <a:ext cx="1814" cy="1269"/>
              </a:xfrm>
              <a:prstGeom prst="rect">
                <a:avLst/>
              </a:prstGeom>
              <a:noFill/>
              <a:ln w="38100" cap="flat" cmpd="sng">
                <a:solidFill>
                  <a:srgbClr val="99CC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74760" name="Text Box 8"/>
              <p:cNvSpPr txBox="1"/>
              <p:nvPr/>
            </p:nvSpPr>
            <p:spPr>
              <a:xfrm>
                <a:off x="3792" y="2532"/>
                <a:ext cx="1440" cy="2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Cu-Ni</a:t>
                </a:r>
                <a:r>
                  <a:rPr lang="zh-CN" altLang="en-US" b="1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置换固溶体</a:t>
                </a:r>
                <a:endParaRPr lang="zh-CN" altLang="en-US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4761" name="Text Box 9"/>
              <p:cNvSpPr txBox="1"/>
              <p:nvPr/>
            </p:nvSpPr>
            <p:spPr>
              <a:xfrm>
                <a:off x="3648" y="4032"/>
                <a:ext cx="1680" cy="2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Fe-C</a:t>
                </a:r>
                <a:r>
                  <a:rPr lang="zh-CN" altLang="en-US" b="1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间隙固溶体</a:t>
                </a:r>
                <a:endParaRPr lang="zh-CN" altLang="en-US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74763" name="日期占位符 1"/>
          <p:cNvSpPr>
            <a:spLocks noGrp="1"/>
          </p:cNvSpPr>
          <p:nvPr>
            <p:ph type="dt" sz="half" idx="10"/>
          </p:nvPr>
        </p:nvSpPr>
        <p:spPr>
          <a:xfrm>
            <a:off x="136958" y="6566847"/>
            <a:ext cx="1905000" cy="24765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圆角矩形 4" descr="7b0a202020202262756c6c6574223a20227b5c2263617465676f727949645c223a31303032352c5c2274656d706c61746549645c223a32303233313437347d220a7d0a"/>
          <p:cNvSpPr/>
          <p:nvPr>
            <p:custDataLst>
              <p:tags r:id="rId4"/>
            </p:custDataLst>
          </p:nvPr>
        </p:nvSpPr>
        <p:spPr>
          <a:xfrm>
            <a:off x="683260" y="1917065"/>
            <a:ext cx="1317625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固溶体</a:t>
            </a:r>
            <a:endParaRPr lang="zh-CN" altLang="en-US" sz="2800" b="1" dirty="0">
              <a:solidFill>
                <a:srgbClr val="3333FF"/>
              </a:solidFill>
              <a:latin typeface="微软雅黑" panose="020B0503020204020204" charset="-122"/>
              <a:ea typeface="华文中宋" panose="02010600040101010101" pitchFamily="2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圆角矩形 2" descr="7b0a202020202262756c6c6574223a20227b5c2263617465676f727949645c223a31303032352c5c2274656d706c61746549645c223a32303233313437347d220a7d0a"/>
          <p:cNvSpPr/>
          <p:nvPr>
            <p:custDataLst>
              <p:tags r:id="rId5"/>
            </p:custDataLst>
          </p:nvPr>
        </p:nvSpPr>
        <p:spPr>
          <a:xfrm>
            <a:off x="683260" y="3861435"/>
            <a:ext cx="86106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400" b="1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溶剂</a:t>
            </a:r>
            <a:endParaRPr lang="zh-CN" altLang="en-US" sz="2400" b="1" dirty="0">
              <a:solidFill>
                <a:srgbClr val="3333FF"/>
              </a:solidFill>
              <a:latin typeface="微软雅黑" panose="020B0503020204020204" charset="-122"/>
              <a:ea typeface="华文中宋" panose="02010600040101010101" pitchFamily="2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" name="圆角矩形 3" descr="7b0a202020202262756c6c6574223a20227b5c2263617465676f727949645c223a31303032352c5c2274656d706c61746549645c223a32303233313437347d220a7d0a"/>
          <p:cNvSpPr/>
          <p:nvPr>
            <p:custDataLst>
              <p:tags r:id="rId6"/>
            </p:custDataLst>
          </p:nvPr>
        </p:nvSpPr>
        <p:spPr>
          <a:xfrm>
            <a:off x="3707765" y="3861435"/>
            <a:ext cx="86106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400" b="1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溶质</a:t>
            </a:r>
            <a:endParaRPr lang="zh-CN" altLang="en-US" sz="2400" b="1" dirty="0">
              <a:solidFill>
                <a:srgbClr val="3333FF"/>
              </a:solidFill>
              <a:latin typeface="微软雅黑" panose="020B0503020204020204" charset="-122"/>
              <a:ea typeface="华文中宋" panose="02010600040101010101" pitchFamily="2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8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8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8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4" grpId="0" advAuto="1000" build="p"/>
      <p:bldP spid="218115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82038" y="6562725"/>
            <a:ext cx="461962" cy="319088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75778" name="Rectangle 2"/>
          <p:cNvSpPr>
            <a:spLocks noGrp="1"/>
          </p:cNvSpPr>
          <p:nvPr>
            <p:ph type="title"/>
          </p:nvPr>
        </p:nvSpPr>
        <p:spPr>
          <a:xfrm>
            <a:off x="971550" y="116840"/>
            <a:ext cx="7992745" cy="1544955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en-US" altLang="zh-CN" b="1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①</a:t>
            </a:r>
            <a:r>
              <a:rPr lang="zh-CN" altLang="en-US" b="1" dirty="0">
                <a:solidFill>
                  <a:schemeClr val="hlink"/>
                </a:solidFill>
                <a:ea typeface="华文中宋" panose="02010600040101010101" pitchFamily="2" charset="-122"/>
              </a:rPr>
              <a:t>置换固溶体</a:t>
            </a:r>
            <a:br>
              <a:rPr lang="en-US" altLang="zh-CN" b="1" dirty="0">
                <a:solidFill>
                  <a:schemeClr val="hlink"/>
                </a:solidFill>
                <a:ea typeface="华文中宋" panose="02010600040101010101" pitchFamily="2" charset="-122"/>
              </a:rPr>
            </a:br>
            <a:r>
              <a:rPr lang="en-US" altLang="zh-CN" b="1" i="1" dirty="0" err="1">
                <a:solidFill>
                  <a:schemeClr val="hlink"/>
                </a:solidFill>
                <a:ea typeface="华文中宋" panose="02010600040101010101" pitchFamily="2" charset="-122"/>
              </a:rPr>
              <a:t>substitutional</a:t>
            </a:r>
            <a:r>
              <a:rPr lang="en-US" altLang="zh-CN" b="1" i="1" dirty="0">
                <a:solidFill>
                  <a:schemeClr val="hlink"/>
                </a:solidFill>
                <a:ea typeface="华文中宋" panose="02010600040101010101" pitchFamily="2" charset="-122"/>
              </a:rPr>
              <a:t> solid solution</a:t>
            </a:r>
            <a:endParaRPr lang="zh-CN" altLang="en-US" b="1" i="1" dirty="0">
              <a:solidFill>
                <a:schemeClr val="hlink"/>
              </a:solidFill>
              <a:ea typeface="华文中宋" panose="02010600040101010101" pitchFamily="2" charset="-122"/>
            </a:endParaRPr>
          </a:p>
        </p:txBody>
      </p:sp>
      <p:sp>
        <p:nvSpPr>
          <p:cNvPr id="75779" name="Rectangle 3"/>
          <p:cNvSpPr>
            <a:spLocks noGrp="1"/>
          </p:cNvSpPr>
          <p:nvPr>
            <p:ph idx="1"/>
          </p:nvPr>
        </p:nvSpPr>
        <p:spPr>
          <a:xfrm>
            <a:off x="2011363" y="1900016"/>
            <a:ext cx="6940989" cy="4892675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sz="2800" b="1" dirty="0">
                <a:solidFill>
                  <a:srgbClr val="0033CC"/>
                </a:solidFill>
                <a:ea typeface="华文中宋" panose="02010600040101010101" pitchFamily="2" charset="-122"/>
              </a:rPr>
              <a:t>定义</a:t>
            </a:r>
            <a:r>
              <a:rPr lang="en-US" altLang="zh-CN" sz="2800" b="1" dirty="0">
                <a:solidFill>
                  <a:srgbClr val="0033CC"/>
                </a:solidFill>
                <a:ea typeface="华文中宋" panose="02010600040101010101" pitchFamily="2" charset="-122"/>
              </a:rPr>
              <a:t>              </a:t>
            </a:r>
            <a:r>
              <a:rPr lang="zh-CN" altLang="en-US" sz="2800" b="1" dirty="0">
                <a:solidFill>
                  <a:srgbClr val="0033CC"/>
                </a:solidFill>
                <a:ea typeface="华文中宋" panose="02010600040101010101" pitchFamily="2" charset="-122"/>
              </a:rPr>
              <a:t>：</a:t>
            </a:r>
            <a:r>
              <a:rPr lang="zh-CN" altLang="en-US" sz="2800" b="1" dirty="0">
                <a:solidFill>
                  <a:srgbClr val="FF0000"/>
                </a:solidFill>
                <a:ea typeface="华文中宋" panose="02010600040101010101" pitchFamily="2" charset="-122"/>
              </a:rPr>
              <a:t>溶质原子</a:t>
            </a:r>
            <a:r>
              <a:rPr lang="zh-CN" altLang="en-US" sz="2800" b="1" dirty="0">
                <a:solidFill>
                  <a:srgbClr val="0033CC"/>
                </a:solidFill>
                <a:ea typeface="华文中宋" panose="02010600040101010101" pitchFamily="2" charset="-122"/>
              </a:rPr>
              <a:t>占据</a:t>
            </a:r>
            <a:r>
              <a:rPr lang="zh-CN" altLang="en-US" sz="2800" b="1" dirty="0">
                <a:solidFill>
                  <a:srgbClr val="FF0000"/>
                </a:solidFill>
                <a:ea typeface="华文中宋" panose="02010600040101010101" pitchFamily="2" charset="-122"/>
              </a:rPr>
              <a:t>溶剂晶格</a:t>
            </a:r>
            <a:r>
              <a:rPr lang="zh-CN" altLang="en-US" sz="2800" b="1" dirty="0">
                <a:solidFill>
                  <a:srgbClr val="0033CC"/>
                </a:solidFill>
                <a:ea typeface="华文中宋" panose="02010600040101010101" pitchFamily="2" charset="-122"/>
              </a:rPr>
              <a:t>某些</a:t>
            </a:r>
            <a:r>
              <a:rPr lang="zh-CN" altLang="en-US" sz="2800" b="1" dirty="0">
                <a:solidFill>
                  <a:srgbClr val="FF0000"/>
                </a:solidFill>
                <a:ea typeface="华文中宋" panose="02010600040101010101" pitchFamily="2" charset="-122"/>
              </a:rPr>
              <a:t>结点</a:t>
            </a:r>
            <a:r>
              <a:rPr lang="zh-CN" altLang="en-US" sz="2800" b="1" dirty="0">
                <a:solidFill>
                  <a:srgbClr val="0033CC"/>
                </a:solidFill>
                <a:ea typeface="华文中宋" panose="02010600040101010101" pitchFamily="2" charset="-122"/>
              </a:rPr>
              <a:t>位置所形成的固溶体</a:t>
            </a:r>
            <a:r>
              <a:rPr lang="zh-CN" altLang="en-US" sz="2800" b="1" dirty="0">
                <a:solidFill>
                  <a:schemeClr val="tx2"/>
                </a:solidFill>
                <a:ea typeface="华文中宋" panose="02010600040101010101" pitchFamily="2" charset="-122"/>
                <a:sym typeface="+mn-ea"/>
              </a:rPr>
              <a:t>。</a:t>
            </a:r>
            <a:endParaRPr lang="en-US" altLang="zh-CN" sz="2800" b="1" dirty="0">
              <a:solidFill>
                <a:srgbClr val="0033CC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sz="2800" b="1" kern="1200" dirty="0">
                <a:solidFill>
                  <a:srgbClr val="0000FF"/>
                </a:solidFill>
                <a:ea typeface="华文中宋" panose="02010600040101010101" pitchFamily="2" charset="-122"/>
              </a:rPr>
              <a:t>形成条件</a:t>
            </a:r>
            <a:r>
              <a:rPr lang="zh-CN" altLang="en-US" sz="2800" b="1" dirty="0">
                <a:solidFill>
                  <a:srgbClr val="0033CC"/>
                </a:solidFill>
                <a:ea typeface="华文中宋" panose="02010600040101010101" pitchFamily="2" charset="-122"/>
              </a:rPr>
              <a:t>：</a:t>
            </a:r>
            <a:r>
              <a:rPr lang="zh-CN" altLang="en-US" sz="2800" b="1" dirty="0">
                <a:solidFill>
                  <a:srgbClr val="FF0000"/>
                </a:solidFill>
                <a:ea typeface="华文中宋" panose="02010600040101010101" pitchFamily="2" charset="-122"/>
              </a:rPr>
              <a:t>晶格类型相同</a:t>
            </a:r>
            <a:r>
              <a:rPr lang="zh-CN" altLang="en-US" sz="2800" b="1" dirty="0">
                <a:solidFill>
                  <a:srgbClr val="0033CC"/>
                </a:solidFill>
                <a:ea typeface="华文中宋" panose="02010600040101010101" pitchFamily="2" charset="-122"/>
              </a:rPr>
              <a:t>、原子半径相近、</a:t>
            </a:r>
            <a:r>
              <a:rPr lang="zh-CN" altLang="en-US" sz="2800" b="1" dirty="0">
                <a:solidFill>
                  <a:srgbClr val="FF0000"/>
                </a:solidFill>
                <a:ea typeface="华文中宋" panose="02010600040101010101" pitchFamily="2" charset="-122"/>
              </a:rPr>
              <a:t>在周期表中的位置临近</a:t>
            </a:r>
            <a:endParaRPr lang="zh-CN" altLang="en-US" sz="2800" b="1" dirty="0">
              <a:solidFill>
                <a:srgbClr val="FF0000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分类：</a:t>
            </a:r>
            <a:endParaRPr lang="zh-CN" altLang="en-US" sz="2800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buNone/>
            </a:pPr>
            <a:r>
              <a:rPr lang="zh-CN" altLang="en-US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    （</a:t>
            </a:r>
            <a:r>
              <a:rPr lang="en-US" altLang="zh-CN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）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无序固溶体</a:t>
            </a:r>
            <a:r>
              <a:rPr lang="en-US" altLang="zh-CN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  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：</a:t>
            </a:r>
            <a:r>
              <a:rPr lang="zh-CN" altLang="en-US" sz="2800" b="1" dirty="0">
                <a:ea typeface="华文中宋" panose="02010600040101010101" pitchFamily="2" charset="-122"/>
              </a:rPr>
              <a:t>溶质原子呈</a:t>
            </a:r>
            <a:r>
              <a:rPr lang="zh-CN" altLang="en-US" sz="2800" b="1" kern="1200" dirty="0">
                <a:solidFill>
                  <a:srgbClr val="0000FF"/>
                </a:solidFill>
                <a:ea typeface="华文中宋" panose="02010600040101010101" pitchFamily="2" charset="-122"/>
              </a:rPr>
              <a:t>无序分布</a:t>
            </a:r>
            <a:r>
              <a:rPr lang="zh-CN" altLang="en-US" sz="2800" b="1" dirty="0">
                <a:ea typeface="华文中宋" panose="02010600040101010101" pitchFamily="2" charset="-122"/>
              </a:rPr>
              <a:t>的固溶体。</a:t>
            </a:r>
            <a:endParaRPr lang="zh-CN" altLang="en-US" sz="2800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buNone/>
            </a:pPr>
            <a:r>
              <a:rPr lang="zh-CN" altLang="en-US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    （</a:t>
            </a:r>
            <a:r>
              <a:rPr lang="en-US" altLang="zh-CN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2</a:t>
            </a:r>
            <a:r>
              <a:rPr lang="zh-CN" altLang="en-US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）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有序固溶体</a:t>
            </a:r>
            <a:r>
              <a:rPr lang="en-US" altLang="zh-CN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  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：</a:t>
            </a:r>
            <a:r>
              <a:rPr lang="zh-CN" altLang="en-US" sz="2800" b="1" dirty="0">
                <a:ea typeface="华文中宋" panose="02010600040101010101" pitchFamily="2" charset="-122"/>
              </a:rPr>
              <a:t>溶质原子呈</a:t>
            </a:r>
            <a:r>
              <a:rPr lang="zh-CN" altLang="en-US" sz="2800" b="1" kern="1200" dirty="0">
                <a:solidFill>
                  <a:srgbClr val="0000FF"/>
                </a:solidFill>
                <a:ea typeface="华文中宋" panose="02010600040101010101" pitchFamily="2" charset="-122"/>
              </a:rPr>
              <a:t>有序分布</a:t>
            </a:r>
            <a:r>
              <a:rPr lang="zh-CN" altLang="en-US" sz="2800" b="1" dirty="0">
                <a:ea typeface="华文中宋" panose="02010600040101010101" pitchFamily="2" charset="-122"/>
              </a:rPr>
              <a:t>的固溶体</a:t>
            </a:r>
            <a:r>
              <a:rPr lang="zh-CN" altLang="en-US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。</a:t>
            </a:r>
            <a:endParaRPr lang="zh-CN" altLang="en-US" sz="2800" b="1" dirty="0">
              <a:solidFill>
                <a:schemeClr val="tx2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191648" y="2680383"/>
            <a:ext cx="2095500" cy="3011488"/>
            <a:chOff x="480" y="1968"/>
            <a:chExt cx="1826" cy="2209"/>
          </a:xfrm>
        </p:grpSpPr>
        <p:pic>
          <p:nvPicPr>
            <p:cNvPr id="75781" name="Picture 5" descr="黄铜组织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80" y="1968"/>
              <a:ext cx="1587" cy="1938"/>
            </a:xfrm>
            <a:prstGeom prst="rect">
              <a:avLst/>
            </a:prstGeom>
            <a:noFill/>
            <a:ln w="38100" cap="flat" cmpd="sng">
              <a:solidFill>
                <a:srgbClr val="CC99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75782" name="Rectangle 6"/>
            <p:cNvSpPr/>
            <p:nvPr/>
          </p:nvSpPr>
          <p:spPr>
            <a:xfrm>
              <a:off x="481" y="4016"/>
              <a:ext cx="1825" cy="1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/>
              <a:r>
                <a:rPr lang="zh-CN" altLang="en-US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黄铜置换固溶体组织</a:t>
              </a:r>
              <a:endParaRPr lang="zh-CN" altLang="en-US" b="1" dirty="0">
                <a:solidFill>
                  <a:srgbClr val="8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</p:grpSp>
      <p:sp>
        <p:nvSpPr>
          <p:cNvPr id="75784" name="日期占位符 1"/>
          <p:cNvSpPr>
            <a:spLocks noGrp="1"/>
          </p:cNvSpPr>
          <p:nvPr>
            <p:ph type="dt" sz="half" idx="10"/>
          </p:nvPr>
        </p:nvSpPr>
        <p:spPr>
          <a:xfrm>
            <a:off x="106363" y="6472238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圆角矩形 7" descr="7b0a202020202262756c6c6574223a20227b5c2263617465676f727949645c223a31303032352c5c2274656d706c61746549645c223a32303233313437347d220a7d0a"/>
          <p:cNvSpPr/>
          <p:nvPr/>
        </p:nvSpPr>
        <p:spPr>
          <a:xfrm>
            <a:off x="2339975" y="1899920"/>
            <a:ext cx="218821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置换固溶体</a:t>
            </a:r>
            <a:endParaRPr lang="zh-CN" altLang="en-US" sz="2800" b="1" dirty="0">
              <a:solidFill>
                <a:srgbClr val="0000FF"/>
              </a:solidFill>
              <a:latin typeface="微软雅黑" panose="020B0503020204020204" charset="-122"/>
              <a:ea typeface="华文中宋" panose="02010600040101010101" pitchFamily="2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圆角矩形 2" descr="7b0a202020202262756c6c6574223a20227b5c2263617465676f727949645c223a31303032352c5c2274656d706c61746549645c223a32303233313437347d220a7d0a"/>
          <p:cNvSpPr/>
          <p:nvPr/>
        </p:nvSpPr>
        <p:spPr>
          <a:xfrm>
            <a:off x="3275965" y="4293235"/>
            <a:ext cx="218821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无序固溶体</a:t>
            </a:r>
            <a:endParaRPr lang="zh-CN" altLang="en-US" sz="2800" b="1" dirty="0">
              <a:solidFill>
                <a:srgbClr val="0000FF"/>
              </a:solidFill>
              <a:latin typeface="微软雅黑" panose="020B0503020204020204" charset="-122"/>
              <a:ea typeface="华文中宋" panose="02010600040101010101" pitchFamily="2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" name="圆角矩形 3" descr="7b0a202020202262756c6c6574223a20227b5c2263617465676f727949645c223a31303032352c5c2274656d706c61746549645c223a32303233313437347d220a7d0a"/>
          <p:cNvSpPr/>
          <p:nvPr/>
        </p:nvSpPr>
        <p:spPr>
          <a:xfrm>
            <a:off x="3275965" y="5229225"/>
            <a:ext cx="218821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有序固溶体</a:t>
            </a:r>
            <a:endParaRPr lang="zh-CN" altLang="en-US" sz="2800" b="1" dirty="0">
              <a:solidFill>
                <a:srgbClr val="0000FF"/>
              </a:solidFill>
              <a:latin typeface="微软雅黑" panose="020B0503020204020204" charset="-122"/>
              <a:ea typeface="华文中宋" panose="02010600040101010101" pitchFamily="2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75688" y="6561138"/>
            <a:ext cx="420687" cy="309562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77826" name="Rectangle 2"/>
          <p:cNvSpPr>
            <a:spLocks noGrp="1"/>
          </p:cNvSpPr>
          <p:nvPr>
            <p:ph type="title"/>
          </p:nvPr>
        </p:nvSpPr>
        <p:spPr>
          <a:xfrm>
            <a:off x="1043608" y="0"/>
            <a:ext cx="7413005" cy="1412776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en-US" altLang="zh-CN" b="1" dirty="0">
                <a:solidFill>
                  <a:schemeClr val="hlink"/>
                </a:solidFill>
                <a:ea typeface="华文中宋" panose="02010600040101010101" pitchFamily="2" charset="-122"/>
              </a:rPr>
              <a:t>②</a:t>
            </a:r>
            <a:r>
              <a:rPr lang="zh-CN" altLang="en-US" b="1" dirty="0">
                <a:solidFill>
                  <a:schemeClr val="hlink"/>
                </a:solidFill>
                <a:ea typeface="华文中宋" panose="02010600040101010101" pitchFamily="2" charset="-122"/>
              </a:rPr>
              <a:t>间隙固溶体</a:t>
            </a:r>
            <a:br>
              <a:rPr lang="en-US" altLang="zh-CN" b="1" dirty="0">
                <a:solidFill>
                  <a:schemeClr val="hlink"/>
                </a:solidFill>
                <a:ea typeface="华文中宋" panose="02010600040101010101" pitchFamily="2" charset="-122"/>
              </a:rPr>
            </a:br>
            <a:r>
              <a:rPr lang="en-US" altLang="zh-CN" b="1" dirty="0"/>
              <a:t> </a:t>
            </a:r>
            <a:r>
              <a:rPr lang="zh-CN" altLang="en-US" b="1" i="1" kern="1200" dirty="0">
                <a:solidFill>
                  <a:srgbClr val="FF0000"/>
                </a:solidFill>
                <a:latin typeface="Tahoma" panose="020B0604030504040204" pitchFamily="34" charset="0"/>
                <a:ea typeface="华文中宋" panose="02010600040101010101" pitchFamily="2" charset="-122"/>
                <a:cs typeface="+mn-cs"/>
              </a:rPr>
              <a:t>interstitial solid solution</a:t>
            </a:r>
            <a:endParaRPr lang="zh-CN" altLang="en-US" b="1" i="1" kern="1200" dirty="0">
              <a:solidFill>
                <a:srgbClr val="FF0000"/>
              </a:solidFill>
              <a:latin typeface="Tahoma" panose="020B0604030504040204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77827" name="Rectangle 3"/>
          <p:cNvSpPr>
            <a:spLocks noGrp="1"/>
          </p:cNvSpPr>
          <p:nvPr>
            <p:ph idx="1"/>
          </p:nvPr>
        </p:nvSpPr>
        <p:spPr>
          <a:xfrm>
            <a:off x="2434104" y="1558355"/>
            <a:ext cx="6264275" cy="5256212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kern="1200" dirty="0">
                <a:solidFill>
                  <a:srgbClr val="0000FF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定义</a:t>
            </a:r>
            <a:r>
              <a:rPr lang="en-US" altLang="zh-CN" b="1" kern="1200" dirty="0">
                <a:solidFill>
                  <a:srgbClr val="0000FF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           </a:t>
            </a:r>
            <a:r>
              <a:rPr lang="zh-CN" altLang="en-US" b="1" kern="1200" dirty="0">
                <a:solidFill>
                  <a:srgbClr val="0000FF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：</a:t>
            </a:r>
            <a:r>
              <a:rPr lang="zh-CN" altLang="en-US" b="1" dirty="0">
                <a:ea typeface="华文中宋" panose="02010600040101010101" pitchFamily="2" charset="-122"/>
              </a:rPr>
              <a:t>溶质原子嵌入溶剂晶格间隙所形成的固溶体。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kern="1200" dirty="0">
                <a:solidFill>
                  <a:srgbClr val="0000FF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形成条件：溶质</a:t>
            </a:r>
            <a:r>
              <a:rPr lang="zh-CN" altLang="en-US" b="1" dirty="0">
                <a:ea typeface="华文中宋" panose="02010600040101010101" pitchFamily="2" charset="-122"/>
              </a:rPr>
              <a:t>元素是</a:t>
            </a:r>
            <a:r>
              <a:rPr lang="zh-CN" altLang="en-US" b="1" kern="1200" dirty="0">
                <a:solidFill>
                  <a:srgbClr val="0000FF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原子半径较小</a:t>
            </a:r>
            <a:r>
              <a:rPr lang="zh-CN" altLang="en-US" b="1" dirty="0">
                <a:ea typeface="华文中宋" panose="02010600040101010101" pitchFamily="2" charset="-122"/>
              </a:rPr>
              <a:t>的非金属元素，如</a:t>
            </a:r>
            <a:r>
              <a:rPr lang="en-US" altLang="zh-CN" b="1" dirty="0">
                <a:solidFill>
                  <a:srgbClr val="0033CC"/>
                </a:solidFill>
                <a:ea typeface="华文中宋" panose="02010600040101010101" pitchFamily="2" charset="-122"/>
              </a:rPr>
              <a:t>C</a:t>
            </a:r>
            <a:r>
              <a:rPr lang="zh-CN" altLang="en-US" b="1" dirty="0">
                <a:solidFill>
                  <a:srgbClr val="0033CC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rgbClr val="0033CC"/>
                </a:solidFill>
                <a:ea typeface="华文中宋" panose="02010600040101010101" pitchFamily="2" charset="-122"/>
              </a:rPr>
              <a:t>N</a:t>
            </a:r>
            <a:r>
              <a:rPr lang="zh-CN" altLang="en-US" b="1" dirty="0">
                <a:solidFill>
                  <a:srgbClr val="0033CC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rgbClr val="0033CC"/>
                </a:solidFill>
                <a:ea typeface="华文中宋" panose="02010600040101010101" pitchFamily="2" charset="-122"/>
              </a:rPr>
              <a:t>B</a:t>
            </a:r>
            <a:r>
              <a:rPr lang="zh-CN" altLang="en-US" b="1" dirty="0">
                <a:ea typeface="华文中宋" panose="02010600040101010101" pitchFamily="2" charset="-122"/>
              </a:rPr>
              <a:t>等，而</a:t>
            </a:r>
            <a:r>
              <a:rPr lang="zh-CN" altLang="en-US" b="1" kern="1200" dirty="0">
                <a:solidFill>
                  <a:srgbClr val="0000FF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溶剂</a:t>
            </a:r>
            <a:r>
              <a:rPr lang="zh-CN" altLang="en-US" b="1" dirty="0">
                <a:ea typeface="华文中宋" panose="02010600040101010101" pitchFamily="2" charset="-122"/>
              </a:rPr>
              <a:t>元素一般是</a:t>
            </a:r>
            <a:r>
              <a:rPr lang="zh-CN" altLang="en-US" b="1" kern="1200" dirty="0">
                <a:solidFill>
                  <a:srgbClr val="0000FF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过渡族元素。</a:t>
            </a:r>
            <a:endParaRPr lang="zh-CN" altLang="en-US" b="1" kern="1200" dirty="0">
              <a:solidFill>
                <a:srgbClr val="0000FF"/>
              </a:solidFill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/>
              <a:t>形成间隙固溶体的</a:t>
            </a:r>
            <a:r>
              <a:rPr lang="zh-CN" altLang="en-US" b="1" kern="1200" dirty="0">
                <a:solidFill>
                  <a:srgbClr val="0000FF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一般规律</a:t>
            </a:r>
            <a:r>
              <a:rPr lang="zh-CN" altLang="en-US" b="1" dirty="0"/>
              <a:t>为</a:t>
            </a:r>
            <a:r>
              <a:rPr lang="en-US" altLang="zh-CN" b="1" i="1" dirty="0">
                <a:solidFill>
                  <a:srgbClr val="0033CC"/>
                </a:solidFill>
              </a:rPr>
              <a:t>r</a:t>
            </a:r>
            <a:r>
              <a:rPr lang="zh-CN" altLang="en-US" b="1" baseline="-25000" dirty="0">
                <a:solidFill>
                  <a:srgbClr val="0033CC"/>
                </a:solidFill>
              </a:rPr>
              <a:t>质</a:t>
            </a:r>
            <a:r>
              <a:rPr lang="en-US" altLang="zh-CN" b="1" dirty="0">
                <a:solidFill>
                  <a:srgbClr val="0033CC"/>
                </a:solidFill>
              </a:rPr>
              <a:t>/</a:t>
            </a:r>
            <a:r>
              <a:rPr lang="en-US" altLang="zh-CN" b="1" i="1" dirty="0">
                <a:solidFill>
                  <a:srgbClr val="0033CC"/>
                </a:solidFill>
              </a:rPr>
              <a:t>r</a:t>
            </a:r>
            <a:r>
              <a:rPr lang="zh-CN" altLang="en-US" b="1" baseline="-25000" dirty="0">
                <a:solidFill>
                  <a:srgbClr val="0033CC"/>
                </a:solidFill>
              </a:rPr>
              <a:t>剂</a:t>
            </a:r>
            <a:r>
              <a:rPr lang="en-US" altLang="zh-CN" b="1" dirty="0">
                <a:solidFill>
                  <a:srgbClr val="0033CC"/>
                </a:solidFill>
              </a:rPr>
              <a:t>&lt;0.59</a:t>
            </a:r>
            <a:r>
              <a:rPr lang="zh-CN" altLang="en-US" b="1" dirty="0"/>
              <a:t>。</a:t>
            </a:r>
            <a:endParaRPr lang="zh-CN" altLang="en-US" b="1" dirty="0"/>
          </a:p>
          <a:p>
            <a:pPr eaLnBrk="1" hangingPunct="1"/>
            <a:r>
              <a:rPr lang="zh-CN" altLang="en-US" b="1" kern="1200" dirty="0">
                <a:solidFill>
                  <a:srgbClr val="0000FF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间隙固溶体</a:t>
            </a:r>
            <a:r>
              <a:rPr lang="zh-CN" altLang="en-US" b="1" dirty="0"/>
              <a:t>都是</a:t>
            </a:r>
            <a:r>
              <a:rPr lang="zh-CN" altLang="en-US" b="1" kern="1200" dirty="0">
                <a:solidFill>
                  <a:srgbClr val="0000FF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无序固溶体</a:t>
            </a:r>
            <a:r>
              <a:rPr lang="zh-CN" altLang="en-US" b="1" dirty="0">
                <a:solidFill>
                  <a:srgbClr val="CCFF33"/>
                </a:solidFill>
              </a:rPr>
              <a:t>。</a:t>
            </a:r>
            <a:endParaRPr lang="zh-CN" altLang="en-US" dirty="0"/>
          </a:p>
        </p:txBody>
      </p:sp>
      <p:pic>
        <p:nvPicPr>
          <p:cNvPr id="77828" name="Picture 4" descr="〈工程材料〉图2-2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2286000"/>
            <a:ext cx="2593975" cy="3425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7830" name="日期占位符 1"/>
          <p:cNvSpPr>
            <a:spLocks noGrp="1"/>
          </p:cNvSpPr>
          <p:nvPr>
            <p:ph type="dt" sz="half" idx="10"/>
          </p:nvPr>
        </p:nvSpPr>
        <p:spPr>
          <a:xfrm>
            <a:off x="100013" y="6527800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圆角矩形 1" descr="7b0a202020202262756c6c6574223a20227b5c2263617465676f727949645c223a31303032352c5c2274656d706c61746549645c223a32303233313437347d220a7d0a"/>
          <p:cNvSpPr/>
          <p:nvPr/>
        </p:nvSpPr>
        <p:spPr>
          <a:xfrm>
            <a:off x="2771775" y="1844675"/>
            <a:ext cx="218821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间隙固溶体</a:t>
            </a:r>
            <a:endParaRPr lang="zh-CN" altLang="en-US" sz="2800" b="1" dirty="0">
              <a:solidFill>
                <a:srgbClr val="0000FF"/>
              </a:solidFill>
              <a:latin typeface="微软雅黑" panose="020B0503020204020204" charset="-122"/>
              <a:ea typeface="华文中宋" panose="02010600040101010101" pitchFamily="2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56613" y="6530975"/>
            <a:ext cx="523875" cy="317500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78850" name="Rectangle 2"/>
          <p:cNvSpPr>
            <a:spLocks noGrp="1"/>
          </p:cNvSpPr>
          <p:nvPr>
            <p:ph type="title"/>
          </p:nvPr>
        </p:nvSpPr>
        <p:spPr>
          <a:xfrm>
            <a:off x="971600" y="0"/>
            <a:ext cx="7776864" cy="1556792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en-US" altLang="zh-CN" b="1" dirty="0">
                <a:solidFill>
                  <a:schemeClr val="hlink"/>
                </a:solidFill>
                <a:latin typeface="宋体" panose="02010600030101010101" pitchFamily="2" charset="-122"/>
              </a:rPr>
              <a:t>③</a:t>
            </a:r>
            <a:r>
              <a:rPr lang="zh-CN" altLang="en-US" b="1" dirty="0">
                <a:solidFill>
                  <a:schemeClr val="hlink"/>
                </a:solidFill>
                <a:ea typeface="华文中宋" panose="02010600040101010101" pitchFamily="2" charset="-122"/>
              </a:rPr>
              <a:t>固溶体的溶解度</a:t>
            </a:r>
            <a:br>
              <a:rPr lang="en-US" altLang="zh-CN" b="1" dirty="0">
                <a:solidFill>
                  <a:schemeClr val="hlink"/>
                </a:solidFill>
                <a:ea typeface="华文中宋" panose="02010600040101010101" pitchFamily="2" charset="-122"/>
              </a:rPr>
            </a:br>
            <a:r>
              <a:rPr lang="en-US" altLang="zh-CN" b="1" dirty="0">
                <a:solidFill>
                  <a:schemeClr val="hlink"/>
                </a:solidFill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hlink"/>
                </a:solidFill>
                <a:ea typeface="华文中宋" panose="02010600040101010101" pitchFamily="2" charset="-122"/>
              </a:rPr>
              <a:t>Solubility of solid solution</a:t>
            </a:r>
            <a:endParaRPr lang="zh-CN" altLang="en-US" b="1" i="1" dirty="0">
              <a:solidFill>
                <a:schemeClr val="hlink"/>
              </a:solidFill>
              <a:ea typeface="华文中宋" panose="02010600040101010101" pitchFamily="2" charset="-122"/>
            </a:endParaRPr>
          </a:p>
        </p:txBody>
      </p:sp>
      <p:sp>
        <p:nvSpPr>
          <p:cNvPr id="78851" name="Rectangle 3"/>
          <p:cNvSpPr>
            <a:spLocks noGrp="1"/>
          </p:cNvSpPr>
          <p:nvPr>
            <p:ph idx="1"/>
          </p:nvPr>
        </p:nvSpPr>
        <p:spPr>
          <a:xfrm>
            <a:off x="0" y="1916430"/>
            <a:ext cx="7199630" cy="4535805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溶解度</a:t>
            </a:r>
            <a:r>
              <a:rPr lang="en-US" altLang="zh-CN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  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：溶质原子在固溶体中的</a:t>
            </a:r>
            <a:r>
              <a:rPr lang="zh-CN" altLang="en-US" sz="2800" b="1" dirty="0">
                <a:solidFill>
                  <a:schemeClr val="hlink"/>
                </a:solidFill>
                <a:ea typeface="华文中宋" panose="02010600040101010101" pitchFamily="2" charset="-122"/>
              </a:rPr>
              <a:t>极限浓度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  <a:endParaRPr lang="zh-CN" altLang="en-US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溶解度</a:t>
            </a:r>
            <a:r>
              <a:rPr lang="zh-CN" altLang="en-US" sz="2800" b="1" dirty="0">
                <a:ea typeface="华文中宋" panose="02010600040101010101" pitchFamily="2" charset="-122"/>
              </a:rPr>
              <a:t>有一定限度的固溶体称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有限固溶体</a:t>
            </a:r>
            <a:r>
              <a:rPr lang="zh-CN" altLang="en-US" sz="2800" b="1" dirty="0">
                <a:ea typeface="华文中宋" panose="02010600040101010101" pitchFamily="2" charset="-122"/>
              </a:rPr>
              <a:t>。组成元素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无限互溶</a:t>
            </a:r>
            <a:r>
              <a:rPr lang="zh-CN" altLang="en-US" sz="2800" b="1" dirty="0">
                <a:ea typeface="华文中宋" panose="02010600040101010101" pitchFamily="2" charset="-122"/>
              </a:rPr>
              <a:t>的固溶体称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无限固溶体</a:t>
            </a:r>
            <a:r>
              <a:rPr lang="zh-CN" altLang="en-US" sz="2800" b="1" dirty="0">
                <a:ea typeface="华文中宋" panose="02010600040101010101" pitchFamily="2" charset="-122"/>
              </a:rPr>
              <a:t>。</a:t>
            </a:r>
            <a:endParaRPr lang="zh-CN" altLang="en-US" sz="2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ea typeface="华文中宋" panose="02010600040101010101" pitchFamily="2" charset="-122"/>
              </a:rPr>
              <a:t>组成元素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原子半径</a:t>
            </a:r>
            <a:r>
              <a:rPr lang="zh-CN" altLang="en-US" sz="2800" b="1" dirty="0">
                <a:solidFill>
                  <a:srgbClr val="0033CC"/>
                </a:solidFill>
                <a:ea typeface="华文中宋" panose="02010600040101010101" pitchFamily="2" charset="-122"/>
              </a:rPr>
              <a:t>、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电化学性相近</a:t>
            </a:r>
            <a:r>
              <a:rPr lang="zh-CN" altLang="en-US" sz="2800" b="1" dirty="0">
                <a:solidFill>
                  <a:srgbClr val="0033CC"/>
                </a:solidFill>
                <a:ea typeface="华文中宋" panose="02010600040101010101" pitchFamily="2" charset="-122"/>
              </a:rPr>
              <a:t>，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晶格类型相同</a:t>
            </a:r>
            <a:r>
              <a:rPr lang="zh-CN" altLang="en-US" sz="2800" b="1" dirty="0">
                <a:ea typeface="华文中宋" panose="02010600040101010101" pitchFamily="2" charset="-122"/>
              </a:rPr>
              <a:t>的置换固溶体，才可能形成无限固溶体</a:t>
            </a:r>
            <a:r>
              <a:rPr lang="en-US" altLang="zh-CN" sz="2800" b="1" dirty="0">
                <a:ea typeface="华文中宋" panose="02010600040101010101" pitchFamily="2" charset="-122"/>
              </a:rPr>
              <a:t>. </a:t>
            </a:r>
            <a:endParaRPr lang="en-US" altLang="zh-CN" sz="2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间隙固溶体</a:t>
            </a:r>
            <a:r>
              <a:rPr lang="zh-CN" altLang="en-US" sz="2800" b="1" dirty="0">
                <a:solidFill>
                  <a:srgbClr val="FF0000"/>
                </a:solidFill>
                <a:ea typeface="华文中宋" panose="02010600040101010101" pitchFamily="2" charset="-122"/>
              </a:rPr>
              <a:t>都是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有限固溶体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。</a:t>
            </a:r>
            <a:endParaRPr lang="zh-CN" altLang="en-US" sz="2800" b="1" dirty="0">
              <a:solidFill>
                <a:srgbClr val="CCFF33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78852" name="Group 4"/>
          <p:cNvGrpSpPr/>
          <p:nvPr/>
        </p:nvGrpSpPr>
        <p:grpSpPr>
          <a:xfrm>
            <a:off x="6945313" y="1989138"/>
            <a:ext cx="2198687" cy="4541837"/>
            <a:chOff x="4097" y="1298"/>
            <a:chExt cx="1663" cy="2861"/>
          </a:xfrm>
        </p:grpSpPr>
        <p:pic>
          <p:nvPicPr>
            <p:cNvPr id="78853" name="Picture 5" descr="Cu-Ni无限固溶体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195" y="1298"/>
              <a:ext cx="1565" cy="1219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78854" name="Text Box 6"/>
            <p:cNvSpPr txBox="1"/>
            <p:nvPr/>
          </p:nvSpPr>
          <p:spPr>
            <a:xfrm>
              <a:off x="4332" y="2341"/>
              <a:ext cx="1278" cy="40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Cu-Ni</a:t>
              </a:r>
              <a:r>
                <a:rPr lang="zh-CN" altLang="en-US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无限固溶体</a:t>
              </a:r>
              <a:endParaRPr lang="zh-CN" altLang="en-US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78855" name="Group 7"/>
            <p:cNvGrpSpPr/>
            <p:nvPr/>
          </p:nvGrpSpPr>
          <p:grpSpPr>
            <a:xfrm>
              <a:off x="4097" y="2795"/>
              <a:ext cx="1663" cy="1364"/>
              <a:chOff x="3726" y="2208"/>
              <a:chExt cx="2047" cy="1608"/>
            </a:xfrm>
          </p:grpSpPr>
          <p:pic>
            <p:nvPicPr>
              <p:cNvPr id="78856" name="Picture 8" descr="Cu-Zn有限固溶体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898" y="2208"/>
                <a:ext cx="1814" cy="1608"/>
              </a:xfrm>
              <a:prstGeom prst="rect">
                <a:avLst/>
              </a:prstGeom>
              <a:noFill/>
              <a:ln w="38100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78857" name="Rectangle 9"/>
              <p:cNvSpPr/>
              <p:nvPr/>
            </p:nvSpPr>
            <p:spPr>
              <a:xfrm>
                <a:off x="4224" y="3648"/>
                <a:ext cx="1200" cy="144"/>
              </a:xfrm>
              <a:prstGeom prst="rect">
                <a:avLst/>
              </a:prstGeom>
              <a:solidFill>
                <a:srgbClr val="EAEAEA"/>
              </a:solidFill>
              <a:ln w="9525">
                <a:noFill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b="1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Cu-Zn</a:t>
                </a:r>
                <a:r>
                  <a:rPr lang="zh-CN" altLang="en-US" b="1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有限固溶体</a:t>
                </a:r>
                <a:endParaRPr lang="zh-CN" altLang="en-US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8858" name="Text Box 10"/>
              <p:cNvSpPr txBox="1"/>
              <p:nvPr/>
            </p:nvSpPr>
            <p:spPr>
              <a:xfrm>
                <a:off x="3726" y="2303"/>
                <a:ext cx="401" cy="6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anchor="t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en-US" sz="1600" b="1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固溶体</a:t>
                </a:r>
                <a:endParaRPr lang="zh-CN" altLang="en-US" sz="1600" b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8859" name="Text Box 11"/>
              <p:cNvSpPr txBox="1"/>
              <p:nvPr/>
            </p:nvSpPr>
            <p:spPr>
              <a:xfrm>
                <a:off x="5372" y="3024"/>
                <a:ext cx="401" cy="52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anchor="t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en-US" sz="1600" b="1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化合物</a:t>
                </a:r>
                <a:endParaRPr lang="zh-CN" altLang="en-US" sz="1600" b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78861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607175"/>
            <a:ext cx="1907704" cy="2413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5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圆角矩形 7" descr="7b0a202020202262756c6c6574223a20227b5c2263617465676f727949645c223a31303032352c5c2274656d706c61746549645c223a32303233313437347d220a7d0a"/>
          <p:cNvSpPr/>
          <p:nvPr/>
        </p:nvSpPr>
        <p:spPr>
          <a:xfrm>
            <a:off x="251460" y="2061210"/>
            <a:ext cx="1468755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溶解度</a:t>
            </a:r>
            <a:endParaRPr lang="zh-CN" altLang="en-US" sz="2800" b="1" dirty="0">
              <a:solidFill>
                <a:srgbClr val="0000FF"/>
              </a:solidFill>
              <a:latin typeface="微软雅黑" panose="020B0503020204020204" charset="-122"/>
              <a:ea typeface="华文中宋" panose="02010600040101010101" pitchFamily="2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圆角矩形 4" descr="7b0a202020202262756c6c6574223a20227b5c2263617465676f727949645c223a31303032352c5c2274656d706c61746549645c223a32303233313437347d220a7d0a"/>
          <p:cNvSpPr/>
          <p:nvPr>
            <p:custDataLst>
              <p:tags r:id="rId4"/>
            </p:custDataLst>
          </p:nvPr>
        </p:nvSpPr>
        <p:spPr>
          <a:xfrm>
            <a:off x="5076190" y="2781300"/>
            <a:ext cx="180721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400" b="1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有限固溶体</a:t>
            </a:r>
            <a:endParaRPr lang="zh-CN" altLang="en-US" sz="2400" b="1" dirty="0">
              <a:solidFill>
                <a:srgbClr val="0000FF"/>
              </a:solidFill>
              <a:latin typeface="微软雅黑" panose="020B0503020204020204" charset="-122"/>
              <a:ea typeface="华文中宋" panose="02010600040101010101" pitchFamily="2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圆角矩形 1" descr="7b0a202020202262756c6c6574223a20227b5c2263617465676f727949645c223a31303032352c5c2274656d706c61746549645c223a32303233313437347d220a7d0a"/>
          <p:cNvSpPr/>
          <p:nvPr>
            <p:custDataLst>
              <p:tags r:id="rId5"/>
            </p:custDataLst>
          </p:nvPr>
        </p:nvSpPr>
        <p:spPr>
          <a:xfrm>
            <a:off x="5076190" y="3388360"/>
            <a:ext cx="180721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400" b="1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无限固溶体</a:t>
            </a:r>
            <a:endParaRPr lang="zh-CN" altLang="en-US" sz="2400" b="1" dirty="0">
              <a:solidFill>
                <a:srgbClr val="0000FF"/>
              </a:solidFill>
              <a:latin typeface="微软雅黑" panose="020B0503020204020204" charset="-122"/>
              <a:ea typeface="华文中宋" panose="02010600040101010101" pitchFamily="2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56613" y="6530975"/>
            <a:ext cx="523875" cy="317500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78850" name="Rectangle 2"/>
          <p:cNvSpPr>
            <a:spLocks noGrp="1"/>
          </p:cNvSpPr>
          <p:nvPr>
            <p:ph type="title"/>
          </p:nvPr>
        </p:nvSpPr>
        <p:spPr>
          <a:xfrm>
            <a:off x="971550" y="0"/>
            <a:ext cx="7776845" cy="1297940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zh-CN" altLang="en-US" b="1" dirty="0">
                <a:solidFill>
                  <a:schemeClr val="hlink"/>
                </a:solidFill>
                <a:ea typeface="华文中宋" panose="02010600040101010101" pitchFamily="2" charset="-122"/>
              </a:rPr>
              <a:t>固溶体</a:t>
            </a:r>
            <a:endParaRPr lang="zh-CN" altLang="en-US" b="1" i="1" dirty="0">
              <a:solidFill>
                <a:schemeClr val="hlink"/>
              </a:solidFill>
              <a:ea typeface="华文中宋" panose="02010600040101010101" pitchFamily="2" charset="-122"/>
            </a:endParaRPr>
          </a:p>
        </p:txBody>
      </p:sp>
      <p:sp>
        <p:nvSpPr>
          <p:cNvPr id="78861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607175"/>
            <a:ext cx="1907704" cy="2413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5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3" name="组合 22"/>
          <p:cNvGrpSpPr/>
          <p:nvPr/>
        </p:nvGrpSpPr>
        <p:grpSpPr>
          <a:xfrm>
            <a:off x="1696720" y="2067560"/>
            <a:ext cx="5855335" cy="4157769"/>
            <a:chOff x="1870" y="3359"/>
            <a:chExt cx="7528" cy="5404"/>
          </a:xfrm>
        </p:grpSpPr>
        <p:sp>
          <p:nvSpPr>
            <p:cNvPr id="13" name="文本框 2"/>
            <p:cNvSpPr txBox="1">
              <a:spLocks noChangeArrowheads="1"/>
            </p:cNvSpPr>
            <p:nvPr/>
          </p:nvSpPr>
          <p:spPr bwMode="auto">
            <a:xfrm>
              <a:off x="6267" y="8245"/>
              <a:ext cx="2338" cy="51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FF0000"/>
                  </a:solidFill>
                  <a:ea typeface="华文中宋" panose="02010600040101010101" pitchFamily="2" charset="-122"/>
                  <a:sym typeface="+mn-ea"/>
                </a:rPr>
                <a:t>无限固溶体</a:t>
              </a:r>
              <a:endParaRPr lang="zh-CN" altLang="en-US" sz="2000" b="1" kern="100" dirty="0">
                <a:solidFill>
                  <a:srgbClr val="FF0000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华文中宋" panose="02010600040101010101" pitchFamily="2" charset="-122"/>
                <a:cs typeface="Times New Roman" panose="02020603050405020304"/>
                <a:sym typeface="+mn-ea"/>
              </a:endParaRPr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1870" y="3359"/>
              <a:ext cx="7528" cy="5308"/>
              <a:chOff x="973" y="2131"/>
              <a:chExt cx="7528" cy="5308"/>
            </a:xfrm>
          </p:grpSpPr>
          <p:sp>
            <p:nvSpPr>
              <p:cNvPr id="37" name="文本框 2"/>
              <p:cNvSpPr txBox="1">
                <a:spLocks noChangeArrowheads="1"/>
              </p:cNvSpPr>
              <p:nvPr/>
            </p:nvSpPr>
            <p:spPr bwMode="auto">
              <a:xfrm>
                <a:off x="3115" y="2438"/>
                <a:ext cx="2376" cy="1168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2700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algn="just">
                  <a:buClrTx/>
                  <a:buSzTx/>
                  <a:buFontTx/>
                </a:pPr>
                <a:r>
                  <a:rPr lang="zh-CN" altLang="en-US" sz="2000" b="1" dirty="0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按</a:t>
                </a:r>
                <a:r>
                  <a:rPr lang="zh-CN" altLang="en-US" sz="2000" b="1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溶质原子所处位置</a:t>
                </a:r>
                <a:endParaRPr lang="zh-CN" altLang="en-US" sz="2000" kern="100" dirty="0">
                  <a:effectLst>
                    <a:outerShdw blurRad="38100" dist="25400" dir="5400000" algn="ctr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708" name="左大括号 2708"/>
              <p:cNvSpPr/>
              <p:nvPr/>
            </p:nvSpPr>
            <p:spPr>
              <a:xfrm>
                <a:off x="2700" y="3077"/>
                <a:ext cx="272" cy="3831"/>
              </a:xfrm>
              <a:prstGeom prst="leftBrace">
                <a:avLst>
                  <a:gd name="adj1" fmla="val 70401"/>
                  <a:gd name="adj2" fmla="val 50000"/>
                </a:avLst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sp>
          <p:sp>
            <p:nvSpPr>
              <p:cNvPr id="29" name="文本框 2"/>
              <p:cNvSpPr txBox="1">
                <a:spLocks noChangeArrowheads="1"/>
              </p:cNvSpPr>
              <p:nvPr/>
            </p:nvSpPr>
            <p:spPr bwMode="auto">
              <a:xfrm>
                <a:off x="973" y="4837"/>
                <a:ext cx="1614" cy="919"/>
              </a:xfrm>
              <a:prstGeom prst="rect">
                <a:avLst/>
              </a:prstGeom>
              <a:solidFill>
                <a:srgbClr val="E8E8E8"/>
              </a:solidFill>
              <a:ln w="12700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 algn="ctr">
                  <a:buClrTx/>
                  <a:buSzTx/>
                  <a:buFontTx/>
                </a:pPr>
                <a:r>
                  <a:rPr lang="zh-CN" altLang="en-US" sz="2000" kern="100">
                    <a:effectLst>
                      <a:outerShdw blurRad="38100" dist="25400" dir="5400000" algn="ctr">
                        <a:srgbClr val="6E747A">
                          <a:alpha val="43000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/>
                    <a:sym typeface="Times New Roman" panose="02020603050405020304"/>
                  </a:rPr>
                  <a:t>固溶体</a:t>
                </a:r>
                <a:endParaRPr lang="zh-CN" altLang="en-US" sz="2000" kern="100">
                  <a:effectLst>
                    <a:outerShdw blurRad="38100" dist="25400" dir="5400000" algn="ctr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endParaRPr>
              </a:p>
              <a:p>
                <a:pPr algn="ctr">
                  <a:buClrTx/>
                  <a:buSzTx/>
                  <a:buFontTx/>
                </a:pPr>
                <a:r>
                  <a:rPr lang="zh-CN" altLang="en-US" sz="2000" kern="100">
                    <a:effectLst>
                      <a:outerShdw blurRad="38100" dist="25400" dir="5400000" algn="ctr">
                        <a:srgbClr val="6E747A">
                          <a:alpha val="43000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/>
                    <a:sym typeface="Times New Roman" panose="02020603050405020304"/>
                  </a:rPr>
                  <a:t>（分类）</a:t>
                </a:r>
                <a:endParaRPr lang="zh-CN" altLang="en-US" sz="2000" kern="100">
                  <a:effectLst>
                    <a:outerShdw blurRad="38100" dist="25400" dir="5400000" algn="ctr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696" name="文本框 2"/>
              <p:cNvSpPr txBox="1">
                <a:spLocks noChangeArrowheads="1"/>
              </p:cNvSpPr>
              <p:nvPr/>
            </p:nvSpPr>
            <p:spPr bwMode="auto">
              <a:xfrm>
                <a:off x="3206" y="6326"/>
                <a:ext cx="1528" cy="919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2700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 algn="just">
                  <a:buClrTx/>
                  <a:buSzTx/>
                  <a:buFontTx/>
                </a:pPr>
                <a:r>
                  <a:rPr lang="zh-CN" altLang="en-US" sz="2000" b="1" dirty="0">
                    <a:solidFill>
                      <a:srgbClr val="0000FF"/>
                    </a:solidFill>
                    <a:ea typeface="华文中宋" panose="02010600040101010101" pitchFamily="2" charset="-122"/>
                    <a:sym typeface="+mn-ea"/>
                  </a:rPr>
                  <a:t>按溶解度大小</a:t>
                </a:r>
                <a:endParaRPr lang="zh-CN" altLang="en-US" sz="2000" b="1" dirty="0">
                  <a:solidFill>
                    <a:srgbClr val="0000FF"/>
                  </a:solidFill>
                  <a:ea typeface="华文中宋" panose="02010600040101010101" pitchFamily="2" charset="-122"/>
                  <a:sym typeface="+mn-ea"/>
                </a:endParaRPr>
              </a:p>
            </p:txBody>
          </p:sp>
          <p:sp>
            <p:nvSpPr>
              <p:cNvPr id="40" name="左大括号 40"/>
              <p:cNvSpPr/>
              <p:nvPr/>
            </p:nvSpPr>
            <p:spPr>
              <a:xfrm>
                <a:off x="5686" y="2357"/>
                <a:ext cx="325" cy="1226"/>
              </a:xfrm>
              <a:prstGeom prst="leftBrace">
                <a:avLst>
                  <a:gd name="adj1" fmla="val 59444"/>
                  <a:gd name="adj2" fmla="val 50000"/>
                </a:avLst>
              </a:prstGeom>
              <a:noFill/>
              <a:ln w="12700" cap="flat" cmpd="sng" algn="ctr">
                <a:solidFill>
                  <a:srgbClr val="5B9BD5"/>
                </a:solidFill>
                <a:prstDash val="solid"/>
                <a:miter lim="800000"/>
              </a:ln>
              <a:effectLst/>
            </p:spPr>
          </p:sp>
          <p:sp>
            <p:nvSpPr>
              <p:cNvPr id="50" name="文本框 2"/>
              <p:cNvSpPr txBox="1">
                <a:spLocks noChangeArrowheads="1"/>
              </p:cNvSpPr>
              <p:nvPr/>
            </p:nvSpPr>
            <p:spPr bwMode="auto">
              <a:xfrm>
                <a:off x="6140" y="3151"/>
                <a:ext cx="2356" cy="518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 algn="ctr"/>
                <a:r>
                  <a:rPr lang="zh-CN" altLang="en-US" sz="2000" b="1" dirty="0">
                    <a:solidFill>
                      <a:srgbClr val="FF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间隙固溶体</a:t>
                </a:r>
                <a:endParaRPr sz="2000" kern="100"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9" name="文本框 2"/>
              <p:cNvSpPr txBox="1">
                <a:spLocks noChangeArrowheads="1"/>
              </p:cNvSpPr>
              <p:nvPr/>
            </p:nvSpPr>
            <p:spPr bwMode="auto">
              <a:xfrm>
                <a:off x="6140" y="2131"/>
                <a:ext cx="2308" cy="518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 algn="ctr"/>
                <a:r>
                  <a:rPr lang="zh-CN" altLang="en-US" sz="2000" b="1" dirty="0">
                    <a:solidFill>
                      <a:srgbClr val="3333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置换固溶体</a:t>
                </a:r>
                <a:endParaRPr lang="zh-CN" altLang="en-US" sz="2000" b="1" kern="100" dirty="0">
                  <a:solidFill>
                    <a:srgbClr val="3333FF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Times New Roman" panose="02020603050405020304"/>
                  <a:sym typeface="+mn-ea"/>
                </a:endParaRPr>
              </a:p>
            </p:txBody>
          </p:sp>
          <p:sp>
            <p:nvSpPr>
              <p:cNvPr id="3" name="文本框 2"/>
              <p:cNvSpPr txBox="1">
                <a:spLocks noChangeArrowheads="1"/>
              </p:cNvSpPr>
              <p:nvPr/>
            </p:nvSpPr>
            <p:spPr bwMode="auto">
              <a:xfrm>
                <a:off x="5356" y="6255"/>
                <a:ext cx="2327" cy="518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2700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 algn="ctr">
                  <a:buClrTx/>
                  <a:buSzTx/>
                  <a:buFontTx/>
                </a:pPr>
                <a:r>
                  <a:rPr lang="zh-CN" altLang="en-US" sz="2000" b="1" dirty="0">
                    <a:solidFill>
                      <a:srgbClr val="0000FF"/>
                    </a:solidFill>
                    <a:ea typeface="华文中宋" panose="02010600040101010101" pitchFamily="2" charset="-122"/>
                    <a:sym typeface="+mn-ea"/>
                  </a:rPr>
                  <a:t>有限固溶体</a:t>
                </a:r>
                <a:endParaRPr lang="zh-CN" altLang="en-US" sz="2000" b="1" kern="100" dirty="0">
                  <a:solidFill>
                    <a:srgbClr val="0000FF"/>
                  </a:solidFill>
                  <a:effectLst>
                    <a:outerShdw blurRad="38100" dist="25400" dir="5400000" algn="ctr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charset="-122"/>
                  <a:ea typeface="华文中宋" panose="02010600040101010101" pitchFamily="2" charset="-122"/>
                  <a:cs typeface="Times New Roman" panose="02020603050405020304"/>
                  <a:sym typeface="+mn-ea"/>
                </a:endParaRPr>
              </a:p>
            </p:txBody>
          </p:sp>
          <p:sp>
            <p:nvSpPr>
              <p:cNvPr id="10" name="文本框 2"/>
              <p:cNvSpPr txBox="1">
                <a:spLocks noChangeArrowheads="1"/>
              </p:cNvSpPr>
              <p:nvPr/>
            </p:nvSpPr>
            <p:spPr bwMode="auto">
              <a:xfrm>
                <a:off x="6149" y="4115"/>
                <a:ext cx="2347" cy="518"/>
              </a:xfrm>
              <a:prstGeom prst="rect">
                <a:avLst/>
              </a:prstGeom>
              <a:solidFill>
                <a:srgbClr val="C9A1CE"/>
              </a:solidFill>
              <a:ln w="12700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 algn="ctr">
                  <a:buClrTx/>
                  <a:buSzTx/>
                  <a:buFontTx/>
                </a:pPr>
                <a:r>
                  <a:rPr lang="zh-CN" altLang="en-US" sz="20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有序固溶体</a:t>
                </a:r>
                <a:endParaRPr lang="zh-CN" altLang="en-US" sz="2000" dirty="0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17" name="左大括号 40"/>
              <p:cNvSpPr/>
              <p:nvPr/>
            </p:nvSpPr>
            <p:spPr>
              <a:xfrm>
                <a:off x="4938" y="6327"/>
                <a:ext cx="293" cy="1112"/>
              </a:xfrm>
              <a:prstGeom prst="leftBrace">
                <a:avLst>
                  <a:gd name="adj1" fmla="val 59444"/>
                  <a:gd name="adj2" fmla="val 50000"/>
                </a:avLst>
              </a:prstGeom>
              <a:noFill/>
              <a:ln w="19050" cap="flat" cmpd="sng" algn="ctr">
                <a:solidFill>
                  <a:srgbClr val="E7D1AC"/>
                </a:solidFill>
                <a:prstDash val="solid"/>
                <a:miter lim="800000"/>
              </a:ln>
              <a:effectLst/>
            </p:spPr>
          </p:sp>
          <p:sp>
            <p:nvSpPr>
              <p:cNvPr id="6" name="文本框 2"/>
              <p:cNvSpPr txBox="1">
                <a:spLocks noChangeArrowheads="1"/>
              </p:cNvSpPr>
              <p:nvPr/>
            </p:nvSpPr>
            <p:spPr bwMode="auto">
              <a:xfrm>
                <a:off x="6149" y="5079"/>
                <a:ext cx="2352" cy="518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2700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 algn="ctr"/>
                <a:r>
                  <a:rPr lang="zh-CN" altLang="en-US" sz="2000" b="1" dirty="0">
                    <a:solidFill>
                      <a:srgbClr val="0000FF"/>
                    </a:solidFill>
                    <a:ea typeface="华文中宋" panose="02010600040101010101" pitchFamily="2" charset="-122"/>
                    <a:sym typeface="+mn-ea"/>
                  </a:rPr>
                  <a:t>无序固溶体</a:t>
                </a:r>
                <a:endParaRPr lang="zh-CN" altLang="en-US" sz="2000" kern="100" dirty="0">
                  <a:effectLst>
                    <a:outerShdw blurRad="38100" dist="25400" dir="5400000" algn="ctr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9" name="文本框 2"/>
              <p:cNvSpPr txBox="1">
                <a:spLocks noChangeArrowheads="1"/>
              </p:cNvSpPr>
              <p:nvPr/>
            </p:nvSpPr>
            <p:spPr bwMode="auto">
              <a:xfrm>
                <a:off x="3067" y="4374"/>
                <a:ext cx="2517" cy="919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2700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 algn="just">
                  <a:buClrTx/>
                  <a:buSzTx/>
                  <a:buFontTx/>
                </a:pPr>
                <a:r>
                  <a:rPr lang="zh-CN" altLang="en-US" sz="2000" b="1" dirty="0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按</a:t>
                </a:r>
                <a:r>
                  <a:rPr lang="zh-CN" altLang="en-US" sz="2000" b="1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溶质原子的分布状态</a:t>
                </a:r>
                <a:endParaRPr lang="zh-CN" altLang="en-US" sz="2000" b="1" dirty="0">
                  <a:solidFill>
                    <a:srgbClr val="0000FF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sym typeface="+mn-ea"/>
                </a:endParaRPr>
              </a:p>
            </p:txBody>
          </p:sp>
          <p:sp>
            <p:nvSpPr>
              <p:cNvPr id="14" name="左大括号 40"/>
              <p:cNvSpPr/>
              <p:nvPr/>
            </p:nvSpPr>
            <p:spPr>
              <a:xfrm>
                <a:off x="5791" y="4374"/>
                <a:ext cx="271" cy="1080"/>
              </a:xfrm>
              <a:prstGeom prst="leftBrace">
                <a:avLst>
                  <a:gd name="adj1" fmla="val 59444"/>
                  <a:gd name="adj2" fmla="val 50000"/>
                </a:avLst>
              </a:prstGeom>
              <a:noFill/>
              <a:ln w="19050" cap="flat" cmpd="sng" algn="ctr">
                <a:solidFill>
                  <a:srgbClr val="C9A1CE"/>
                </a:solidFill>
                <a:prstDash val="solid"/>
                <a:miter lim="800000"/>
              </a:ln>
              <a:effectLst/>
            </p:spPr>
          </p:sp>
        </p:grpSp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18550" y="6591300"/>
            <a:ext cx="377825" cy="266700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79874" name="Rectangle 2"/>
          <p:cNvSpPr>
            <a:spLocks noGrp="1"/>
          </p:cNvSpPr>
          <p:nvPr>
            <p:ph type="title"/>
          </p:nvPr>
        </p:nvSpPr>
        <p:spPr>
          <a:xfrm>
            <a:off x="1691680" y="-236977"/>
            <a:ext cx="6813550" cy="1143000"/>
          </a:xfrm>
        </p:spPr>
        <p:txBody>
          <a:bodyPr wrap="square" lIns="91440" tIns="45720" rIns="91440" bIns="45720" anchor="b"/>
          <a:lstStyle/>
          <a:p>
            <a:pPr eaLnBrk="1" hangingPunct="1"/>
            <a:r>
              <a:rPr lang="en-US" altLang="zh-CN" b="1" dirty="0">
                <a:solidFill>
                  <a:schemeClr val="hlink"/>
                </a:solidFill>
                <a:ea typeface="华文中宋" panose="02010600040101010101" pitchFamily="2" charset="-122"/>
              </a:rPr>
              <a:t>④</a:t>
            </a:r>
            <a:r>
              <a:rPr lang="en-US" altLang="zh-CN" dirty="0">
                <a:solidFill>
                  <a:schemeClr val="hlink"/>
                </a:solidFill>
                <a:ea typeface="仿宋_GB2312" pitchFamily="49" charset="-122"/>
              </a:rPr>
              <a:t> </a:t>
            </a:r>
            <a:r>
              <a:rPr lang="zh-CN" altLang="en-US" b="1" dirty="0">
                <a:solidFill>
                  <a:schemeClr val="hlink"/>
                </a:solidFill>
                <a:ea typeface="华文中宋" panose="02010600040101010101" pitchFamily="2" charset="-122"/>
              </a:rPr>
              <a:t>固溶体的性能</a:t>
            </a:r>
            <a:endParaRPr lang="zh-CN" altLang="en-US" b="1" dirty="0">
              <a:solidFill>
                <a:schemeClr val="hlink"/>
              </a:solidFill>
              <a:ea typeface="华文中宋" panose="02010600040101010101" pitchFamily="2" charset="-122"/>
            </a:endParaRPr>
          </a:p>
        </p:txBody>
      </p:sp>
      <p:sp>
        <p:nvSpPr>
          <p:cNvPr id="79875" name="Rectangle 3"/>
          <p:cNvSpPr>
            <a:spLocks noGrp="1"/>
          </p:cNvSpPr>
          <p:nvPr>
            <p:ph idx="1"/>
          </p:nvPr>
        </p:nvSpPr>
        <p:spPr>
          <a:xfrm>
            <a:off x="3000375" y="1241425"/>
            <a:ext cx="5832475" cy="5616575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固溶强化</a:t>
            </a:r>
            <a:r>
              <a:rPr lang="en-US" altLang="zh-CN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  </a:t>
            </a:r>
            <a:r>
              <a:rPr lang="zh-CN" altLang="en-US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：</a:t>
            </a:r>
            <a:r>
              <a:rPr lang="zh-CN" altLang="en-US" sz="2800" b="1" dirty="0">
                <a:solidFill>
                  <a:schemeClr val="bg2"/>
                </a:solidFill>
                <a:ea typeface="华文中宋" panose="02010600040101010101" pitchFamily="2" charset="-122"/>
              </a:rPr>
              <a:t>随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溶质</a:t>
            </a:r>
            <a:r>
              <a:rPr lang="zh-CN" altLang="en-US" sz="2800" b="1" dirty="0">
                <a:solidFill>
                  <a:schemeClr val="bg2"/>
                </a:solidFill>
                <a:ea typeface="华文中宋" panose="02010600040101010101" pitchFamily="2" charset="-122"/>
              </a:rPr>
              <a:t>含量</a:t>
            </a:r>
            <a:r>
              <a:rPr lang="zh-CN" altLang="en-US" sz="2800" b="1" dirty="0">
                <a:solidFill>
                  <a:schemeClr val="tx1"/>
                </a:solidFill>
                <a:ea typeface="华文中宋" panose="02010600040101010101" pitchFamily="2" charset="-122"/>
              </a:rPr>
              <a:t>增加，固溶体的</a:t>
            </a:r>
            <a:r>
              <a:rPr lang="zh-CN" altLang="en-US" sz="2800" b="1" dirty="0">
                <a:solidFill>
                  <a:srgbClr val="FF0000"/>
                </a:solidFill>
                <a:ea typeface="华文中宋" panose="02010600040101010101" pitchFamily="2" charset="-122"/>
              </a:rPr>
              <a:t>强度、硬度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增加，</a:t>
            </a:r>
            <a:r>
              <a:rPr lang="zh-CN" altLang="en-US" sz="2800" b="1" dirty="0">
                <a:solidFill>
                  <a:srgbClr val="FF0000"/>
                </a:solidFill>
                <a:ea typeface="华文中宋" panose="02010600040101010101" pitchFamily="2" charset="-122"/>
              </a:rPr>
              <a:t>塑性、韧性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下降</a:t>
            </a:r>
            <a:r>
              <a:rPr lang="zh-CN" altLang="en-US" sz="2800" b="1" dirty="0">
                <a:ea typeface="华文中宋" panose="02010600040101010101" pitchFamily="2" charset="-122"/>
              </a:rPr>
              <a:t>。</a:t>
            </a:r>
            <a:endParaRPr lang="zh-CN" altLang="en-US" sz="2800" b="1" dirty="0">
              <a:solidFill>
                <a:srgbClr val="0000FF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固溶强化机理</a:t>
            </a:r>
            <a:r>
              <a:rPr lang="zh-CN" altLang="en-US" sz="2800" b="1" dirty="0">
                <a:solidFill>
                  <a:srgbClr val="0033CC"/>
                </a:solidFill>
                <a:ea typeface="华文中宋" panose="02010600040101010101" pitchFamily="2" charset="-122"/>
              </a:rPr>
              <a:t>：</a:t>
            </a:r>
            <a:r>
              <a:rPr lang="zh-CN" altLang="en-US" sz="2800" b="1" dirty="0">
                <a:ea typeface="华文中宋" panose="02010600040101010101" pitchFamily="2" charset="-122"/>
              </a:rPr>
              <a:t>溶质原子使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晶格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发生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畸变</a:t>
            </a:r>
            <a:r>
              <a:rPr lang="zh-CN" altLang="en-US" sz="2800" b="1" dirty="0">
                <a:ea typeface="华文中宋" panose="02010600040101010101" pitchFamily="2" charset="-122"/>
              </a:rPr>
              <a:t>及对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位错</a:t>
            </a:r>
            <a:r>
              <a:rPr lang="zh-CN" altLang="en-US" sz="2800" b="1" dirty="0">
                <a:ea typeface="华文中宋" panose="02010600040101010101" pitchFamily="2" charset="-122"/>
              </a:rPr>
              <a:t>的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钉扎作用</a:t>
            </a:r>
            <a:r>
              <a:rPr lang="en-US" altLang="zh-CN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.</a:t>
            </a:r>
            <a:endParaRPr lang="en-US" altLang="zh-CN" sz="2800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rgbClr val="0033CC"/>
                </a:solidFill>
                <a:ea typeface="华文中宋" panose="02010600040101010101" pitchFamily="2" charset="-122"/>
              </a:rPr>
              <a:t>与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纯金属</a:t>
            </a:r>
            <a:r>
              <a:rPr lang="zh-CN" altLang="en-US" sz="2800" b="1" dirty="0">
                <a:solidFill>
                  <a:srgbClr val="0033CC"/>
                </a:solidFill>
                <a:ea typeface="华文中宋" panose="02010600040101010101" pitchFamily="2" charset="-122"/>
              </a:rPr>
              <a:t>相比，固溶体的强度、硬度</a:t>
            </a:r>
            <a:r>
              <a:rPr lang="zh-CN" altLang="en-US" sz="2800" b="1" dirty="0">
                <a:solidFill>
                  <a:srgbClr val="FF0000"/>
                </a:solidFill>
                <a:ea typeface="华文中宋" panose="02010600040101010101" pitchFamily="2" charset="-122"/>
              </a:rPr>
              <a:t>高</a:t>
            </a:r>
            <a:r>
              <a:rPr lang="zh-CN" altLang="en-US" sz="2800" b="1" dirty="0">
                <a:solidFill>
                  <a:srgbClr val="0033CC"/>
                </a:solidFill>
                <a:ea typeface="华文中宋" panose="02010600040101010101" pitchFamily="2" charset="-122"/>
              </a:rPr>
              <a:t>，塑性、韧性</a:t>
            </a:r>
            <a:r>
              <a:rPr lang="zh-CN" altLang="en-US" sz="2800" b="1" dirty="0">
                <a:solidFill>
                  <a:srgbClr val="FF0000"/>
                </a:solidFill>
                <a:ea typeface="华文中宋" panose="02010600040101010101" pitchFamily="2" charset="-122"/>
              </a:rPr>
              <a:t>低</a:t>
            </a:r>
            <a:r>
              <a:rPr lang="zh-CN" altLang="en-US" sz="2800" b="1" dirty="0">
                <a:solidFill>
                  <a:srgbClr val="0033CC"/>
                </a:solidFill>
                <a:ea typeface="华文中宋" panose="02010600040101010101" pitchFamily="2" charset="-122"/>
              </a:rPr>
              <a:t>。</a:t>
            </a:r>
            <a:r>
              <a:rPr lang="zh-CN" altLang="en-US" sz="2800" b="1" dirty="0">
                <a:ea typeface="华文中宋" panose="02010600040101010101" pitchFamily="2" charset="-122"/>
              </a:rPr>
              <a:t>但与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金属化合物</a:t>
            </a:r>
            <a:r>
              <a:rPr lang="zh-CN" altLang="en-US" sz="2800" b="1" dirty="0">
                <a:ea typeface="华文中宋" panose="02010600040101010101" pitchFamily="2" charset="-122"/>
              </a:rPr>
              <a:t>相比，其硬度要低得多，而塑性和韧性则要高得多。</a:t>
            </a:r>
            <a:endParaRPr lang="zh-CN" altLang="en-US" sz="2800" dirty="0"/>
          </a:p>
        </p:txBody>
      </p:sp>
      <p:grpSp>
        <p:nvGrpSpPr>
          <p:cNvPr id="2" name="Group 4"/>
          <p:cNvGrpSpPr/>
          <p:nvPr/>
        </p:nvGrpSpPr>
        <p:grpSpPr>
          <a:xfrm>
            <a:off x="71755" y="1007745"/>
            <a:ext cx="2975819" cy="5238750"/>
            <a:chOff x="3816" y="288"/>
            <a:chExt cx="1888" cy="3646"/>
          </a:xfrm>
        </p:grpSpPr>
        <p:pic>
          <p:nvPicPr>
            <p:cNvPr id="79877" name="Picture 5" descr="IMAGE003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88" y="2208"/>
              <a:ext cx="1700" cy="1726"/>
            </a:xfrm>
            <a:prstGeom prst="rect">
              <a:avLst/>
            </a:prstGeom>
            <a:noFill/>
            <a:ln w="28575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grpSp>
          <p:nvGrpSpPr>
            <p:cNvPr id="79878" name="Group 6"/>
            <p:cNvGrpSpPr/>
            <p:nvPr/>
          </p:nvGrpSpPr>
          <p:grpSpPr>
            <a:xfrm>
              <a:off x="3816" y="288"/>
              <a:ext cx="1888" cy="1817"/>
              <a:chOff x="3816" y="288"/>
              <a:chExt cx="1888" cy="1817"/>
            </a:xfrm>
          </p:grpSpPr>
          <p:pic>
            <p:nvPicPr>
              <p:cNvPr id="79879" name="Picture 7" descr="5-20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888" y="288"/>
                <a:ext cx="1700" cy="1584"/>
              </a:xfrm>
              <a:prstGeom prst="rect">
                <a:avLst/>
              </a:prstGeom>
              <a:noFill/>
              <a:ln w="38100" cap="flat" cmpd="sng">
                <a:solidFill>
                  <a:srgbClr val="FF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79880" name="Text Box 8"/>
              <p:cNvSpPr txBox="1"/>
              <p:nvPr/>
            </p:nvSpPr>
            <p:spPr>
              <a:xfrm>
                <a:off x="3816" y="1872"/>
                <a:ext cx="1888" cy="2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en-US" b="1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固溶体合金成分与性能关系</a:t>
                </a:r>
                <a:endParaRPr lang="zh-CN" altLang="en-US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79882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圆角矩形 2" descr="7b0a202020202262756c6c6574223a20227b5c2263617465676f727949645c223a31303032352c5c2274656d706c61746549645c223a32303233313437347d220a7d0a"/>
          <p:cNvSpPr/>
          <p:nvPr/>
        </p:nvSpPr>
        <p:spPr>
          <a:xfrm>
            <a:off x="3275965" y="1412875"/>
            <a:ext cx="175895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固溶强化</a:t>
            </a:r>
            <a:endParaRPr lang="zh-CN" altLang="en-US" sz="2800" b="1" dirty="0">
              <a:solidFill>
                <a:srgbClr val="0000FF"/>
              </a:solidFill>
              <a:latin typeface="微软雅黑" panose="020B0503020204020204" charset="-122"/>
              <a:ea typeface="华文中宋" panose="02010600040101010101" pitchFamily="2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50288" y="6597650"/>
            <a:ext cx="490537" cy="273050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80898" name="Rectangle 2"/>
          <p:cNvSpPr>
            <a:spLocks noGrp="1"/>
          </p:cNvSpPr>
          <p:nvPr>
            <p:ph type="title"/>
          </p:nvPr>
        </p:nvSpPr>
        <p:spPr>
          <a:xfrm>
            <a:off x="2143125" y="188913"/>
            <a:ext cx="6313488" cy="1143000"/>
          </a:xfrm>
        </p:spPr>
        <p:txBody>
          <a:bodyPr wrap="square" lIns="91440" tIns="45720" rIns="91440" bIns="45720" anchor="b"/>
          <a:lstStyle/>
          <a:p>
            <a:pPr eaLnBrk="1" hangingPunct="1"/>
            <a:r>
              <a:rPr lang="en-US" altLang="zh-CN" b="1" dirty="0">
                <a:solidFill>
                  <a:schemeClr val="hlink"/>
                </a:solidFill>
                <a:ea typeface="华文中宋" panose="02010600040101010101" pitchFamily="2" charset="-122"/>
              </a:rPr>
              <a:t>⑵ </a:t>
            </a:r>
            <a:r>
              <a:rPr lang="zh-CN" altLang="en-US" b="1" dirty="0">
                <a:solidFill>
                  <a:schemeClr val="hlink"/>
                </a:solidFill>
                <a:ea typeface="华文中宋" panose="02010600040101010101" pitchFamily="2" charset="-122"/>
              </a:rPr>
              <a:t>金属化合物</a:t>
            </a:r>
            <a:endParaRPr lang="zh-CN" altLang="en-US" b="1" dirty="0">
              <a:solidFill>
                <a:schemeClr val="hlink"/>
              </a:solidFill>
              <a:ea typeface="华文中宋" panose="02010600040101010101" pitchFamily="2" charset="-122"/>
            </a:endParaRPr>
          </a:p>
        </p:txBody>
      </p:sp>
      <p:sp>
        <p:nvSpPr>
          <p:cNvPr id="80899" name="Rectangle 3"/>
          <p:cNvSpPr>
            <a:spLocks noGrp="1"/>
          </p:cNvSpPr>
          <p:nvPr>
            <p:ph idx="1"/>
          </p:nvPr>
        </p:nvSpPr>
        <p:spPr>
          <a:xfrm>
            <a:off x="-14008" y="1815864"/>
            <a:ext cx="7951788" cy="4897437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0033CC"/>
                </a:solidFill>
                <a:ea typeface="华文中宋" panose="02010600040101010101" pitchFamily="2" charset="-122"/>
              </a:rPr>
              <a:t>金属化合物：</a:t>
            </a:r>
            <a:r>
              <a:rPr lang="zh-CN" altLang="en-US" b="1" dirty="0">
                <a:ea typeface="华文中宋" panose="02010600040101010101" pitchFamily="2" charset="-122"/>
              </a:rPr>
              <a:t>合金中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其晶体结构与组成元素的晶体结构</a:t>
            </a:r>
            <a:r>
              <a:rPr lang="zh-CN" altLang="en-US" b="1" kern="1200" dirty="0">
                <a:solidFill>
                  <a:srgbClr val="0000FF"/>
                </a:solidFill>
                <a:ea typeface="华文中宋" panose="02010600040101010101" pitchFamily="2" charset="-122"/>
              </a:rPr>
              <a:t>均不相同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的固相。</a:t>
            </a:r>
            <a:endParaRPr lang="zh-CN" altLang="en-US" b="1" dirty="0">
              <a:solidFill>
                <a:srgbClr val="FF0000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kern="1200" dirty="0">
                <a:solidFill>
                  <a:srgbClr val="0000FF"/>
                </a:solidFill>
                <a:ea typeface="华文中宋" panose="02010600040101010101" pitchFamily="2" charset="-122"/>
              </a:rPr>
              <a:t>特点：</a:t>
            </a:r>
            <a:r>
              <a:rPr lang="zh-CN" altLang="en-US" b="1" dirty="0">
                <a:ea typeface="华文中宋" panose="02010600040101010101" pitchFamily="2" charset="-122"/>
              </a:rPr>
              <a:t>具有</a:t>
            </a:r>
            <a:r>
              <a:rPr lang="zh-CN" altLang="en-US" b="1" dirty="0">
                <a:solidFill>
                  <a:srgbClr val="0033CC"/>
                </a:solidFill>
                <a:ea typeface="华文中宋" panose="02010600040101010101" pitchFamily="2" charset="-122"/>
              </a:rPr>
              <a:t>较高的熔点、硬度</a:t>
            </a:r>
            <a:r>
              <a:rPr lang="zh-CN" altLang="en-US" b="1" dirty="0">
                <a:ea typeface="华文中宋" panose="02010600040101010101" pitchFamily="2" charset="-122"/>
              </a:rPr>
              <a:t>和</a:t>
            </a:r>
            <a:r>
              <a:rPr lang="zh-CN" altLang="en-US" b="1" dirty="0">
                <a:solidFill>
                  <a:srgbClr val="0033CC"/>
                </a:solidFill>
                <a:ea typeface="华文中宋" panose="02010600040101010101" pitchFamily="2" charset="-122"/>
              </a:rPr>
              <a:t>脆性</a:t>
            </a:r>
            <a:r>
              <a:rPr lang="zh-CN" altLang="en-US" b="1" dirty="0">
                <a:ea typeface="华文中宋" panose="02010600040101010101" pitchFamily="2" charset="-122"/>
              </a:rPr>
              <a:t>，并</a:t>
            </a:r>
            <a:r>
              <a:rPr lang="zh-CN" altLang="en-US" b="1" dirty="0">
                <a:solidFill>
                  <a:srgbClr val="0033CC"/>
                </a:solidFill>
                <a:ea typeface="华文中宋" panose="02010600040101010101" pitchFamily="2" charset="-122"/>
              </a:rPr>
              <a:t>可用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分子式</a:t>
            </a:r>
            <a:r>
              <a:rPr lang="zh-CN" altLang="en-US" b="1" dirty="0">
                <a:solidFill>
                  <a:srgbClr val="0033CC"/>
                </a:solidFill>
                <a:ea typeface="华文中宋" panose="02010600040101010101" pitchFamily="2" charset="-122"/>
              </a:rPr>
              <a:t>表示</a:t>
            </a:r>
            <a:r>
              <a:rPr lang="zh-CN" altLang="en-US" b="1" dirty="0">
                <a:ea typeface="华文中宋" panose="02010600040101010101" pitchFamily="2" charset="-122"/>
              </a:rPr>
              <a:t>其组成。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rgbClr val="0033CC"/>
                </a:solidFill>
                <a:ea typeface="华文中宋" panose="02010600040101010101" pitchFamily="2" charset="-122"/>
              </a:rPr>
              <a:t>对材料性能的影响：</a:t>
            </a:r>
            <a:r>
              <a:rPr lang="zh-CN" altLang="en-US" b="1" dirty="0"/>
              <a:t>合金中出现金属化合物，可</a:t>
            </a:r>
            <a:r>
              <a:rPr lang="zh-CN" altLang="en-US" b="1" kern="1200" dirty="0">
                <a:solidFill>
                  <a:srgbClr val="0000FF"/>
                </a:solidFill>
                <a:ea typeface="华文中宋" panose="02010600040101010101" pitchFamily="2" charset="-122"/>
              </a:rPr>
              <a:t>提高</a:t>
            </a:r>
            <a:r>
              <a:rPr lang="zh-CN" altLang="en-US" b="1" dirty="0"/>
              <a:t>其</a:t>
            </a:r>
            <a:r>
              <a:rPr lang="zh-CN" altLang="en-US" b="1" kern="1200" dirty="0">
                <a:solidFill>
                  <a:srgbClr val="0000FF"/>
                </a:solidFill>
                <a:ea typeface="华文中宋" panose="02010600040101010101" pitchFamily="2" charset="-122"/>
              </a:rPr>
              <a:t>强度</a:t>
            </a:r>
            <a:r>
              <a:rPr lang="zh-CN" altLang="en-US" b="1" dirty="0"/>
              <a:t>、</a:t>
            </a:r>
            <a:r>
              <a:rPr lang="zh-CN" altLang="en-US" b="1" kern="1200" dirty="0">
                <a:solidFill>
                  <a:srgbClr val="0000FF"/>
                </a:solidFill>
                <a:ea typeface="华文中宋" panose="02010600040101010101" pitchFamily="2" charset="-122"/>
              </a:rPr>
              <a:t>硬度</a:t>
            </a:r>
            <a:r>
              <a:rPr lang="zh-CN" altLang="en-US" b="1" dirty="0"/>
              <a:t>和</a:t>
            </a:r>
            <a:r>
              <a:rPr lang="zh-CN" altLang="en-US" b="1" kern="1200" dirty="0">
                <a:solidFill>
                  <a:srgbClr val="0000FF"/>
                </a:solidFill>
                <a:ea typeface="华文中宋" panose="02010600040101010101" pitchFamily="2" charset="-122"/>
              </a:rPr>
              <a:t>耐磨性</a:t>
            </a:r>
            <a:r>
              <a:rPr lang="zh-CN" altLang="en-US" b="1" dirty="0"/>
              <a:t>，但</a:t>
            </a:r>
            <a:r>
              <a:rPr lang="zh-CN" altLang="en-US" b="1" kern="1200" dirty="0">
                <a:solidFill>
                  <a:srgbClr val="0000FF"/>
                </a:solidFill>
                <a:ea typeface="华文中宋" panose="02010600040101010101" pitchFamily="2" charset="-122"/>
              </a:rPr>
              <a:t>降低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塑性</a:t>
            </a:r>
            <a:r>
              <a:rPr lang="zh-CN" altLang="en-US" b="1" dirty="0"/>
              <a:t>。</a:t>
            </a:r>
            <a:endParaRPr lang="zh-CN" altLang="en-US" b="1" dirty="0"/>
          </a:p>
          <a:p>
            <a:pPr eaLnBrk="1" hangingPunct="1"/>
            <a:r>
              <a:rPr lang="zh-CN" altLang="en-US" b="1" kern="1200" dirty="0">
                <a:solidFill>
                  <a:srgbClr val="0000FF"/>
                </a:solidFill>
                <a:ea typeface="华文中宋" panose="02010600040101010101" pitchFamily="2" charset="-122"/>
              </a:rPr>
              <a:t>金属化合物</a:t>
            </a:r>
            <a:r>
              <a:rPr lang="zh-CN" altLang="en-US" b="1" dirty="0"/>
              <a:t>也是</a:t>
            </a:r>
            <a:r>
              <a:rPr lang="zh-CN" altLang="en-US" b="1" kern="1200" dirty="0">
                <a:solidFill>
                  <a:srgbClr val="0000FF"/>
                </a:solidFill>
                <a:ea typeface="华文中宋" panose="02010600040101010101" pitchFamily="2" charset="-122"/>
              </a:rPr>
              <a:t>合金的重要组成</a:t>
            </a:r>
            <a:r>
              <a:rPr lang="zh-CN" altLang="en-US" b="1" kern="1200" dirty="0">
                <a:solidFill>
                  <a:srgbClr val="FF0000"/>
                </a:solidFill>
                <a:ea typeface="华文中宋" panose="02010600040101010101" pitchFamily="2" charset="-122"/>
              </a:rPr>
              <a:t>相</a:t>
            </a:r>
            <a:r>
              <a:rPr lang="zh-CN" altLang="en-US" b="1" dirty="0">
                <a:solidFill>
                  <a:srgbClr val="0033CC"/>
                </a:solidFill>
              </a:rPr>
              <a:t>。</a:t>
            </a:r>
            <a:endParaRPr lang="zh-CN" altLang="en-US" dirty="0"/>
          </a:p>
        </p:txBody>
      </p:sp>
      <p:grpSp>
        <p:nvGrpSpPr>
          <p:cNvPr id="80900" name="Group 4"/>
          <p:cNvGrpSpPr/>
          <p:nvPr/>
        </p:nvGrpSpPr>
        <p:grpSpPr>
          <a:xfrm>
            <a:off x="7956550" y="2060575"/>
            <a:ext cx="1187450" cy="2293938"/>
            <a:chOff x="4195" y="2976"/>
            <a:chExt cx="1455" cy="1550"/>
          </a:xfrm>
        </p:grpSpPr>
        <p:pic>
          <p:nvPicPr>
            <p:cNvPr id="80901" name="Picture 5" descr="珠光体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195" y="2976"/>
              <a:ext cx="1455" cy="1134"/>
            </a:xfrm>
            <a:prstGeom prst="rect">
              <a:avLst/>
            </a:prstGeom>
            <a:solidFill>
              <a:schemeClr val="tx1"/>
            </a:solidFill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80902" name="Text Box 6"/>
            <p:cNvSpPr txBox="1">
              <a:spLocks noChangeAspect="1"/>
            </p:cNvSpPr>
            <p:nvPr/>
          </p:nvSpPr>
          <p:spPr>
            <a:xfrm>
              <a:off x="4241" y="4089"/>
              <a:ext cx="1405" cy="43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铁碳合金中的</a:t>
              </a:r>
              <a:r>
                <a:rPr lang="en-US" altLang="zh-CN" b="1" dirty="0">
                  <a:solidFill>
                    <a:srgbClr val="00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Fe</a:t>
              </a:r>
              <a:r>
                <a:rPr lang="en-US" altLang="zh-CN" b="1" baseline="-25000" dirty="0">
                  <a:solidFill>
                    <a:srgbClr val="00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en-US" altLang="zh-CN" b="1" dirty="0">
                  <a:solidFill>
                    <a:srgbClr val="00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b="1" dirty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80904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27800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圆角矩形 7" descr="7b0a202020202262756c6c6574223a20227b5c2263617465676f727949645c223a31303032352c5c2274656d706c61746549645c223a32303233313437347d220a7d0a"/>
          <p:cNvSpPr/>
          <p:nvPr/>
        </p:nvSpPr>
        <p:spPr>
          <a:xfrm>
            <a:off x="323850" y="1988820"/>
            <a:ext cx="211328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金属化合物</a:t>
            </a:r>
            <a:endParaRPr lang="zh-CN" altLang="en-US" sz="2800" b="1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83613" y="6596063"/>
            <a:ext cx="488950" cy="295275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81922" name="Rectangle 2"/>
          <p:cNvSpPr>
            <a:spLocks noGrp="1"/>
          </p:cNvSpPr>
          <p:nvPr>
            <p:ph type="title"/>
          </p:nvPr>
        </p:nvSpPr>
        <p:spPr>
          <a:xfrm>
            <a:off x="1259840" y="116840"/>
            <a:ext cx="5871210" cy="1143000"/>
          </a:xfrm>
        </p:spPr>
        <p:txBody>
          <a:bodyPr wrap="square" lIns="91440" tIns="45720" rIns="91440" bIns="45720" anchor="b"/>
          <a:lstStyle/>
          <a:p>
            <a:pPr eaLnBrk="1" hangingPunct="1"/>
            <a:r>
              <a:rPr lang="zh-CN" altLang="en-US" b="1" dirty="0">
                <a:solidFill>
                  <a:schemeClr val="hlink"/>
                </a:solidFill>
                <a:ea typeface="华文中宋" panose="02010600040101010101" pitchFamily="2" charset="-122"/>
              </a:rPr>
              <a:t>金属化合物的主要类型</a:t>
            </a:r>
            <a:endParaRPr lang="zh-CN" altLang="en-US" b="1" dirty="0">
              <a:solidFill>
                <a:schemeClr val="hlink"/>
              </a:solidFill>
              <a:ea typeface="华文中宋" panose="02010600040101010101" pitchFamily="2" charset="-122"/>
            </a:endParaRPr>
          </a:p>
        </p:txBody>
      </p:sp>
      <p:sp>
        <p:nvSpPr>
          <p:cNvPr id="81923" name="Rectangle 3"/>
          <p:cNvSpPr>
            <a:spLocks noGrp="1"/>
          </p:cNvSpPr>
          <p:nvPr>
            <p:ph idx="1"/>
          </p:nvPr>
        </p:nvSpPr>
        <p:spPr>
          <a:xfrm>
            <a:off x="250825" y="1714500"/>
            <a:ext cx="6265863" cy="4881563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  <a:buNone/>
            </a:pPr>
            <a:r>
              <a:rPr lang="en-US" altLang="zh-CN" sz="2800" b="1" dirty="0">
                <a:solidFill>
                  <a:schemeClr val="accent1"/>
                </a:solidFill>
                <a:ea typeface="华文中宋" panose="02010600040101010101" pitchFamily="2" charset="-122"/>
              </a:rPr>
              <a:t>①</a:t>
            </a:r>
            <a:r>
              <a:rPr lang="en-US" altLang="zh-CN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solidFill>
                  <a:srgbClr val="0066FF"/>
                </a:solidFill>
                <a:ea typeface="华文中宋" panose="02010600040101010101" pitchFamily="2" charset="-122"/>
              </a:rPr>
              <a:t>正常价化合物</a:t>
            </a:r>
            <a:r>
              <a:rPr lang="en-US" altLang="zh-CN" sz="2800" b="1" dirty="0">
                <a:latin typeface="Arial" panose="020B0604020202020204" pitchFamily="34" charset="0"/>
                <a:ea typeface="华文中宋" panose="02010600040101010101" pitchFamily="2" charset="-122"/>
              </a:rPr>
              <a:t>—</a:t>
            </a:r>
            <a:r>
              <a:rPr lang="zh-CN" altLang="en-US" sz="2800" b="1" dirty="0">
                <a:ea typeface="华文中宋" panose="02010600040101010101" pitchFamily="2" charset="-122"/>
              </a:rPr>
              <a:t>符合正常</a:t>
            </a:r>
            <a:endParaRPr lang="zh-CN" altLang="en-US" sz="2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  <a:buNone/>
            </a:pPr>
            <a:r>
              <a:rPr lang="zh-CN" altLang="en-US" sz="2800" b="1" dirty="0">
                <a:ea typeface="华文中宋" panose="02010600040101010101" pitchFamily="2" charset="-122"/>
              </a:rPr>
              <a:t>     </a:t>
            </a:r>
            <a:r>
              <a:rPr lang="zh-CN" altLang="en-US" sz="2800" b="1" dirty="0">
                <a:solidFill>
                  <a:srgbClr val="0066FF"/>
                </a:solidFill>
                <a:ea typeface="华文中宋" panose="02010600040101010101" pitchFamily="2" charset="-122"/>
              </a:rPr>
              <a:t>原子价</a:t>
            </a:r>
            <a:r>
              <a:rPr lang="zh-CN" altLang="en-US" sz="2800" b="1" dirty="0">
                <a:solidFill>
                  <a:srgbClr val="FF0000"/>
                </a:solidFill>
                <a:ea typeface="华文中宋" panose="02010600040101010101" pitchFamily="2" charset="-122"/>
              </a:rPr>
              <a:t>规律</a:t>
            </a:r>
            <a:r>
              <a:rPr lang="zh-CN" altLang="en-US" sz="2800" b="1" dirty="0">
                <a:ea typeface="华文中宋" panose="02010600040101010101" pitchFamily="2" charset="-122"/>
              </a:rPr>
              <a:t>。如</a:t>
            </a:r>
            <a:r>
              <a:rPr lang="en-US" altLang="zh-CN" sz="2800" b="1" dirty="0">
                <a:ea typeface="华文中宋" panose="02010600040101010101" pitchFamily="2" charset="-122"/>
              </a:rPr>
              <a:t>Mg</a:t>
            </a:r>
            <a:r>
              <a:rPr lang="en-US" altLang="zh-CN" sz="2800" b="1" baseline="-25000" dirty="0">
                <a:ea typeface="华文中宋" panose="02010600040101010101" pitchFamily="2" charset="-122"/>
              </a:rPr>
              <a:t>2</a:t>
            </a:r>
            <a:r>
              <a:rPr lang="en-US" altLang="zh-CN" sz="2800" b="1" dirty="0">
                <a:ea typeface="华文中宋" panose="02010600040101010101" pitchFamily="2" charset="-122"/>
              </a:rPr>
              <a:t>Si</a:t>
            </a:r>
            <a:r>
              <a:rPr lang="zh-CN" altLang="en-US" sz="2800" b="1" dirty="0">
                <a:ea typeface="华文中宋" panose="02010600040101010101" pitchFamily="2" charset="-122"/>
              </a:rPr>
              <a:t>。</a:t>
            </a:r>
            <a:endParaRPr lang="zh-CN" altLang="en-US" sz="2800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  <a:buNone/>
            </a:pPr>
            <a:r>
              <a:rPr lang="zh-CN" altLang="en-US" sz="2800" b="1" dirty="0">
                <a:solidFill>
                  <a:schemeClr val="accent1"/>
                </a:solidFill>
                <a:ea typeface="华文中宋" panose="02010600040101010101" pitchFamily="2" charset="-122"/>
              </a:rPr>
              <a:t>②</a:t>
            </a:r>
            <a:r>
              <a:rPr lang="zh-CN" altLang="en-US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solidFill>
                  <a:srgbClr val="0066FF"/>
                </a:solidFill>
                <a:ea typeface="华文中宋" panose="02010600040101010101" pitchFamily="2" charset="-122"/>
              </a:rPr>
              <a:t>电子化合物</a:t>
            </a:r>
            <a:r>
              <a:rPr lang="en-US" altLang="zh-CN" sz="2800" b="1" dirty="0">
                <a:latin typeface="Arial" panose="020B0604020202020204" pitchFamily="34" charset="0"/>
                <a:ea typeface="华文中宋" panose="02010600040101010101" pitchFamily="2" charset="-122"/>
              </a:rPr>
              <a:t>—</a:t>
            </a:r>
            <a:r>
              <a:rPr lang="zh-CN" altLang="en-US" sz="2800" b="1" dirty="0">
                <a:ea typeface="华文中宋" panose="02010600040101010101" pitchFamily="2" charset="-122"/>
              </a:rPr>
              <a:t>符合</a:t>
            </a:r>
            <a:r>
              <a:rPr lang="zh-CN" altLang="en-US" sz="2800" b="1" dirty="0">
                <a:solidFill>
                  <a:srgbClr val="0066FF"/>
                </a:solidFill>
                <a:ea typeface="华文中宋" panose="02010600040101010101" pitchFamily="2" charset="-122"/>
              </a:rPr>
              <a:t>电子浓度规律</a:t>
            </a:r>
            <a:r>
              <a:rPr lang="zh-CN" altLang="en-US" sz="2800" b="1" dirty="0">
                <a:ea typeface="华文中宋" panose="02010600040101010101" pitchFamily="2" charset="-122"/>
              </a:rPr>
              <a:t>。</a:t>
            </a:r>
            <a:endParaRPr lang="zh-CN" altLang="en-US" sz="2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  <a:buNone/>
            </a:pPr>
            <a:r>
              <a:rPr lang="zh-CN" altLang="en-US" sz="2800" b="1" dirty="0">
                <a:ea typeface="华文中宋" panose="02010600040101010101" pitchFamily="2" charset="-122"/>
              </a:rPr>
              <a:t>     如</a:t>
            </a:r>
            <a:r>
              <a:rPr lang="en-US" altLang="zh-CN" sz="2800" b="1" dirty="0">
                <a:ea typeface="华文中宋" panose="02010600040101010101" pitchFamily="2" charset="-122"/>
              </a:rPr>
              <a:t>Cu</a:t>
            </a:r>
            <a:r>
              <a:rPr lang="en-US" altLang="zh-CN" sz="2800" b="1" baseline="-25000" dirty="0">
                <a:ea typeface="华文中宋" panose="02010600040101010101" pitchFamily="2" charset="-122"/>
              </a:rPr>
              <a:t>3</a:t>
            </a:r>
            <a:r>
              <a:rPr lang="en-US" altLang="zh-CN" sz="2800" b="1" dirty="0">
                <a:ea typeface="华文中宋" panose="02010600040101010101" pitchFamily="2" charset="-122"/>
              </a:rPr>
              <a:t>Sn</a:t>
            </a:r>
            <a:r>
              <a:rPr lang="zh-CN" altLang="en-US" sz="2800" b="1" dirty="0">
                <a:ea typeface="华文中宋" panose="02010600040101010101" pitchFamily="2" charset="-122"/>
              </a:rPr>
              <a:t>。</a:t>
            </a:r>
            <a:endParaRPr lang="zh-CN" altLang="en-US" sz="2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  <a:buNone/>
            </a:pPr>
            <a:r>
              <a:rPr lang="zh-CN" altLang="en-US" sz="2800" b="1" dirty="0">
                <a:solidFill>
                  <a:srgbClr val="FFFF00"/>
                </a:solidFill>
                <a:ea typeface="华文中宋" panose="02010600040101010101" pitchFamily="2" charset="-122"/>
              </a:rPr>
              <a:t>  </a:t>
            </a:r>
            <a:r>
              <a:rPr lang="zh-CN" altLang="en-US" sz="2800" b="1" dirty="0">
                <a:solidFill>
                  <a:srgbClr val="0066FF"/>
                </a:solidFill>
                <a:ea typeface="华文中宋" panose="02010600040101010101" pitchFamily="2" charset="-122"/>
              </a:rPr>
              <a:t>电子浓度：价电子数与</a:t>
            </a:r>
            <a:r>
              <a:rPr lang="zh-CN" altLang="en-US" sz="2800" b="1" dirty="0">
                <a:solidFill>
                  <a:srgbClr val="FF0000"/>
                </a:solidFill>
                <a:ea typeface="华文中宋" panose="02010600040101010101" pitchFamily="2" charset="-122"/>
              </a:rPr>
              <a:t>原 子数</a:t>
            </a:r>
            <a:r>
              <a:rPr lang="zh-CN" altLang="en-US" sz="2800" b="1" dirty="0">
                <a:solidFill>
                  <a:srgbClr val="0066FF"/>
                </a:solidFill>
                <a:ea typeface="华文中宋" panose="02010600040101010101" pitchFamily="2" charset="-122"/>
              </a:rPr>
              <a:t>的比值。</a:t>
            </a:r>
            <a:endParaRPr lang="zh-CN" altLang="en-US" sz="2800" b="1" dirty="0">
              <a:solidFill>
                <a:srgbClr val="0066FF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  <a:buNone/>
            </a:pPr>
            <a:r>
              <a:rPr lang="zh-CN" altLang="en-US" sz="2800" b="1" dirty="0">
                <a:solidFill>
                  <a:schemeClr val="accent1"/>
                </a:solidFill>
                <a:ea typeface="华文中宋" panose="02010600040101010101" pitchFamily="2" charset="-122"/>
              </a:rPr>
              <a:t>③</a:t>
            </a:r>
            <a:r>
              <a:rPr lang="zh-CN" altLang="en-US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solidFill>
                  <a:srgbClr val="0066FF"/>
                </a:solidFill>
                <a:ea typeface="华文中宋" panose="02010600040101010101" pitchFamily="2" charset="-122"/>
              </a:rPr>
              <a:t>间隙化合物</a:t>
            </a:r>
            <a:r>
              <a:rPr lang="en-US" altLang="zh-CN" sz="2800" b="1" dirty="0">
                <a:latin typeface="Arial" panose="020B0604020202020204" pitchFamily="34" charset="0"/>
                <a:ea typeface="华文中宋" panose="02010600040101010101" pitchFamily="2" charset="-122"/>
              </a:rPr>
              <a:t>—</a:t>
            </a:r>
            <a:r>
              <a:rPr lang="zh-CN" altLang="en-US" sz="2800" b="1" dirty="0">
                <a:ea typeface="华文中宋" panose="02010600040101010101" pitchFamily="2" charset="-122"/>
              </a:rPr>
              <a:t>由过渡族元素与</a:t>
            </a:r>
            <a:r>
              <a:rPr lang="en-US" altLang="zh-CN" sz="2800" b="1" dirty="0">
                <a:ea typeface="华文中宋" panose="02010600040101010101" pitchFamily="2" charset="-122"/>
              </a:rPr>
              <a:t>C</a:t>
            </a:r>
            <a:r>
              <a:rPr lang="zh-CN" altLang="en-US" sz="2800" b="1" dirty="0"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ea typeface="华文中宋" panose="02010600040101010101" pitchFamily="2" charset="-122"/>
              </a:rPr>
              <a:t>N</a:t>
            </a:r>
            <a:r>
              <a:rPr lang="zh-CN" altLang="en-US" sz="2800" b="1" dirty="0">
                <a:ea typeface="华文中宋" panose="02010600040101010101" pitchFamily="2" charset="-122"/>
              </a:rPr>
              <a:t>、</a:t>
            </a:r>
            <a:endParaRPr lang="zh-CN" altLang="en-US" sz="2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  <a:buNone/>
            </a:pPr>
            <a:r>
              <a:rPr lang="en-US" altLang="zh-CN" sz="2800" b="1" dirty="0">
                <a:ea typeface="华文中宋" panose="02010600040101010101" pitchFamily="2" charset="-122"/>
              </a:rPr>
              <a:t>B</a:t>
            </a:r>
            <a:r>
              <a:rPr lang="zh-CN" altLang="en-US" sz="2800" b="1" dirty="0"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ea typeface="华文中宋" panose="02010600040101010101" pitchFamily="2" charset="-122"/>
              </a:rPr>
              <a:t>H </a:t>
            </a:r>
            <a:r>
              <a:rPr lang="zh-CN" altLang="en-US" sz="2800" b="1" dirty="0">
                <a:ea typeface="华文中宋" panose="02010600040101010101" pitchFamily="2" charset="-122"/>
              </a:rPr>
              <a:t>等原子半径小的非金属元素组成。</a:t>
            </a:r>
            <a:endParaRPr lang="zh-CN" altLang="en-US" sz="2800" b="1" dirty="0">
              <a:ea typeface="华文中宋" panose="02010600040101010101" pitchFamily="2" charset="-122"/>
            </a:endParaRPr>
          </a:p>
        </p:txBody>
      </p:sp>
      <p:grpSp>
        <p:nvGrpSpPr>
          <p:cNvPr id="81924" name="Group 4"/>
          <p:cNvGrpSpPr/>
          <p:nvPr/>
        </p:nvGrpSpPr>
        <p:grpSpPr>
          <a:xfrm>
            <a:off x="6517005" y="1844675"/>
            <a:ext cx="2441575" cy="4751831"/>
            <a:chOff x="3969" y="646"/>
            <a:chExt cx="1632" cy="3194"/>
          </a:xfrm>
        </p:grpSpPr>
        <p:pic>
          <p:nvPicPr>
            <p:cNvPr id="81925" name="Picture 5" descr="Al-Mg-Si合金中的Mg2Si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969" y="646"/>
              <a:ext cx="1631" cy="1503"/>
            </a:xfrm>
            <a:prstGeom prst="rect">
              <a:avLst/>
            </a:prstGeom>
            <a:noFill/>
            <a:ln w="38100" cap="flat" cmpd="sng">
              <a:solidFill>
                <a:srgbClr val="99CC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81926" name="Rectangle 6"/>
            <p:cNvSpPr/>
            <p:nvPr/>
          </p:nvSpPr>
          <p:spPr>
            <a:xfrm>
              <a:off x="4059" y="1979"/>
              <a:ext cx="1497" cy="166"/>
            </a:xfrm>
            <a:prstGeom prst="rect">
              <a:avLst/>
            </a:prstGeom>
            <a:solidFill>
              <a:srgbClr val="E8E8E8"/>
            </a:solidFill>
            <a:ln w="9525">
              <a:noFill/>
            </a:ln>
          </p:spPr>
          <p:txBody>
            <a:bodyPr wrap="none" anchor="ctr"/>
            <a:lstStyle/>
            <a:p>
              <a:pPr algn="ctr"/>
              <a:r>
                <a:rPr lang="en-US" altLang="zh-CN" sz="16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Al-Mg-Si</a:t>
              </a:r>
              <a:r>
                <a:rPr lang="zh-CN" altLang="en-US" sz="16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合金中的</a:t>
              </a:r>
              <a:r>
                <a:rPr lang="en-US" altLang="zh-CN" sz="16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Mg</a:t>
              </a:r>
              <a:r>
                <a:rPr lang="en-US" altLang="zh-CN" sz="16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sz="16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Si</a:t>
              </a:r>
              <a:endParaRPr lang="en-US" altLang="zh-CN" sz="16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pic>
          <p:nvPicPr>
            <p:cNvPr id="81927" name="Picture 7" descr="Sn基轴承合金组织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70" y="2229"/>
              <a:ext cx="1631" cy="1464"/>
            </a:xfrm>
            <a:prstGeom prst="rect">
              <a:avLst/>
            </a:prstGeom>
            <a:noFill/>
            <a:ln w="3810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81928" name="Text Box 8"/>
            <p:cNvSpPr txBox="1"/>
            <p:nvPr/>
          </p:nvSpPr>
          <p:spPr>
            <a:xfrm>
              <a:off x="4014" y="3448"/>
              <a:ext cx="1542" cy="392"/>
            </a:xfrm>
            <a:prstGeom prst="rect">
              <a:avLst/>
            </a:prstGeom>
            <a:solidFill>
              <a:srgbClr val="E8E8E8"/>
            </a:solidFill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Pb</a:t>
              </a:r>
              <a:r>
                <a:rPr lang="zh-CN" altLang="en-US" sz="16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基轴承合金中的电子化合物</a:t>
              </a:r>
              <a:endParaRPr lang="zh-CN" altLang="en-US" sz="16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81930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48438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21713" y="6580188"/>
            <a:ext cx="476250" cy="277812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83970" name="Rectangle 2"/>
          <p:cNvSpPr>
            <a:spLocks noGrp="1"/>
          </p:cNvSpPr>
          <p:nvPr>
            <p:ph type="title"/>
          </p:nvPr>
        </p:nvSpPr>
        <p:spPr>
          <a:xfrm>
            <a:off x="1785938" y="214313"/>
            <a:ext cx="7158037" cy="1071562"/>
          </a:xfrm>
        </p:spPr>
        <p:txBody>
          <a:bodyPr wrap="square" lIns="91440" tIns="45720" rIns="91440" bIns="45720" anchor="b"/>
          <a:lstStyle/>
          <a:p>
            <a:pPr eaLnBrk="1" hangingPunct="1"/>
            <a:r>
              <a:rPr lang="zh-CN" altLang="en-US" b="1" dirty="0">
                <a:solidFill>
                  <a:schemeClr val="hlink"/>
                </a:solidFill>
                <a:ea typeface="华文中宋" panose="02010600040101010101" pitchFamily="2" charset="-122"/>
              </a:rPr>
              <a:t>合金中常见的电子化合物</a:t>
            </a:r>
            <a:endParaRPr lang="zh-CN" altLang="en-US" b="1" dirty="0">
              <a:solidFill>
                <a:schemeClr val="hlink"/>
              </a:solidFill>
              <a:ea typeface="华文中宋" panose="02010600040101010101" pitchFamily="2" charset="-122"/>
            </a:endParaRPr>
          </a:p>
        </p:txBody>
      </p:sp>
      <p:graphicFrame>
        <p:nvGraphicFramePr>
          <p:cNvPr id="300088" name="Group 56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457835" y="1931035"/>
          <a:ext cx="8519795" cy="4640074"/>
        </p:xfrm>
        <a:graphic>
          <a:graphicData uri="http://schemas.openxmlformats.org/drawingml/2006/table">
            <a:tbl>
              <a:tblPr/>
              <a:tblGrid>
                <a:gridCol w="1818005"/>
                <a:gridCol w="2304415"/>
                <a:gridCol w="2267585"/>
                <a:gridCol w="2129790"/>
              </a:tblGrid>
              <a:tr h="9484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合金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体心立方晶格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复杂立方晶格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密排六方晶格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Cu-Zn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CuZn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Cu5Zn8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Cu3Zn3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Cu-Sn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CuSn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Cu31Sn8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Cu3Sn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Cu-Al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Cu3Al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Cu9Al4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Cu5Al3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Cu-Si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Cu5Si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Cu31Si8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Cu3Si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484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电子浓度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21/14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kumimoji="0" lang="el-GR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β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相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）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21/13（γ相）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21/12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kumimoji="0" lang="el-GR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ε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相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）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4009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223250" y="6501130"/>
            <a:ext cx="723900" cy="271145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84994" name="Rectangle 2"/>
          <p:cNvSpPr>
            <a:spLocks noGrp="1"/>
          </p:cNvSpPr>
          <p:nvPr>
            <p:ph type="title"/>
          </p:nvPr>
        </p:nvSpPr>
        <p:spPr>
          <a:xfrm>
            <a:off x="2195513" y="214313"/>
            <a:ext cx="6748462" cy="1462087"/>
          </a:xfrm>
        </p:spPr>
        <p:txBody>
          <a:bodyPr wrap="square" lIns="91440" tIns="45720" rIns="91440" bIns="45720" anchor="b"/>
          <a:lstStyle/>
          <a:p>
            <a:pPr eaLnBrk="1" hangingPunct="1"/>
            <a:r>
              <a:rPr lang="zh-CN" altLang="en-US" sz="4800" b="1" dirty="0">
                <a:solidFill>
                  <a:schemeClr val="hlink"/>
                </a:solidFill>
                <a:ea typeface="华文中宋" panose="02010600040101010101" pitchFamily="2" charset="-122"/>
              </a:rPr>
              <a:t>间隙化合物分类</a:t>
            </a:r>
            <a:endParaRPr lang="zh-CN" altLang="en-US" sz="4800" b="1" dirty="0">
              <a:solidFill>
                <a:schemeClr val="hlink"/>
              </a:solidFill>
              <a:ea typeface="华文中宋" panose="02010600040101010101" pitchFamily="2" charset="-122"/>
            </a:endParaRPr>
          </a:p>
        </p:txBody>
      </p:sp>
      <p:sp>
        <p:nvSpPr>
          <p:cNvPr id="84995" name="Rectangle 3"/>
          <p:cNvSpPr>
            <a:spLocks noGrp="1"/>
          </p:cNvSpPr>
          <p:nvPr>
            <p:ph idx="1"/>
          </p:nvPr>
        </p:nvSpPr>
        <p:spPr>
          <a:xfrm>
            <a:off x="271463" y="2400300"/>
            <a:ext cx="8683625" cy="3732213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）</a:t>
            </a: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间隙相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（</a:t>
            </a: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简单晶格结构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的间隙化合物）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/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2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）具有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复杂结构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间隙化合物</a:t>
            </a:r>
            <a:endParaRPr lang="zh-CN" altLang="en-US" b="1" dirty="0">
              <a:solidFill>
                <a:srgbClr val="0000FF"/>
              </a:solidFill>
              <a:ea typeface="华文中宋" panose="02010600040101010101" pitchFamily="2" charset="-122"/>
            </a:endParaRPr>
          </a:p>
        </p:txBody>
      </p:sp>
      <p:sp>
        <p:nvSpPr>
          <p:cNvPr id="84997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429375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460105" y="6524625"/>
            <a:ext cx="622300" cy="333375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86018" name="Rectangle 2"/>
          <p:cNvSpPr>
            <a:spLocks noGrp="1"/>
          </p:cNvSpPr>
          <p:nvPr>
            <p:ph type="title"/>
          </p:nvPr>
        </p:nvSpPr>
        <p:spPr>
          <a:xfrm>
            <a:off x="1143000" y="0"/>
            <a:ext cx="7772400" cy="1143000"/>
          </a:xfrm>
        </p:spPr>
        <p:txBody>
          <a:bodyPr wrap="square" lIns="91440" tIns="45720" rIns="91440" bIns="45720" anchor="b"/>
          <a:lstStyle/>
          <a:p>
            <a:pPr eaLnBrk="1" hangingPunct="1"/>
            <a:r>
              <a:rPr lang="zh-CN" altLang="en-US" b="1" dirty="0">
                <a:solidFill>
                  <a:schemeClr val="hlink"/>
                </a:solidFill>
                <a:ea typeface="华文中宋" panose="02010600040101010101" pitchFamily="2" charset="-122"/>
              </a:rPr>
              <a:t>间隙化合物分类</a:t>
            </a:r>
            <a:r>
              <a:rPr lang="en-US" altLang="zh-CN" b="1" dirty="0">
                <a:solidFill>
                  <a:schemeClr val="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——</a:t>
            </a:r>
            <a:r>
              <a:rPr lang="en-US" altLang="zh-CN" b="1" dirty="0">
                <a:solidFill>
                  <a:schemeClr val="hlink"/>
                </a:solidFill>
                <a:ea typeface="华文中宋" panose="02010600040101010101" pitchFamily="2" charset="-122"/>
              </a:rPr>
              <a:t>a.</a:t>
            </a:r>
            <a:r>
              <a:rPr lang="zh-CN" altLang="en-US" b="1" dirty="0">
                <a:solidFill>
                  <a:schemeClr val="hlink"/>
                </a:solidFill>
                <a:ea typeface="华文中宋" panose="02010600040101010101" pitchFamily="2" charset="-122"/>
              </a:rPr>
              <a:t>间隙相</a:t>
            </a:r>
            <a:endParaRPr lang="zh-CN" altLang="en-US" b="1" dirty="0">
              <a:solidFill>
                <a:schemeClr val="hlink"/>
              </a:solidFill>
              <a:ea typeface="华文中宋" panose="02010600040101010101" pitchFamily="2" charset="-122"/>
            </a:endParaRPr>
          </a:p>
        </p:txBody>
      </p:sp>
      <p:sp>
        <p:nvSpPr>
          <p:cNvPr id="86019" name="Rectangle 3"/>
          <p:cNvSpPr>
            <a:spLocks noGrp="1"/>
          </p:cNvSpPr>
          <p:nvPr>
            <p:ph type="body" sz="half" idx="1"/>
          </p:nvPr>
        </p:nvSpPr>
        <p:spPr>
          <a:xfrm>
            <a:off x="4787583" y="1673225"/>
            <a:ext cx="4278312" cy="5184775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sz="2800" b="1" i="1" dirty="0">
                <a:solidFill>
                  <a:srgbClr val="0066FF"/>
                </a:solidFill>
                <a:ea typeface="华文中宋" panose="02010600040101010101" pitchFamily="2" charset="-122"/>
              </a:rPr>
              <a:t>定义</a:t>
            </a:r>
            <a:r>
              <a:rPr lang="zh-CN" altLang="en-US" sz="2800" b="1" dirty="0">
                <a:solidFill>
                  <a:srgbClr val="0066FF"/>
                </a:solidFill>
                <a:ea typeface="华文中宋" panose="02010600040101010101" pitchFamily="2" charset="-122"/>
              </a:rPr>
              <a:t>：</a:t>
            </a:r>
            <a:r>
              <a:rPr lang="en-US" altLang="zh-CN" sz="2800" b="1" dirty="0">
                <a:solidFill>
                  <a:srgbClr val="0066FF"/>
                </a:solidFill>
                <a:ea typeface="华文中宋" panose="02010600040101010101" pitchFamily="2" charset="-122"/>
              </a:rPr>
              <a:t>r</a:t>
            </a:r>
            <a:r>
              <a:rPr lang="zh-CN" altLang="en-US" sz="2800" b="1" baseline="-25000" dirty="0">
                <a:solidFill>
                  <a:srgbClr val="0066FF"/>
                </a:solidFill>
                <a:ea typeface="华文中宋" panose="02010600040101010101" pitchFamily="2" charset="-122"/>
              </a:rPr>
              <a:t>非</a:t>
            </a:r>
            <a:r>
              <a:rPr lang="en-US" altLang="zh-CN" sz="2800" b="1" dirty="0">
                <a:solidFill>
                  <a:srgbClr val="0066FF"/>
                </a:solidFill>
                <a:ea typeface="华文中宋" panose="02010600040101010101" pitchFamily="2" charset="-122"/>
              </a:rPr>
              <a:t>/r</a:t>
            </a:r>
            <a:r>
              <a:rPr lang="zh-CN" altLang="en-US" sz="2800" b="1" baseline="-25000" dirty="0">
                <a:solidFill>
                  <a:srgbClr val="0066FF"/>
                </a:solidFill>
                <a:ea typeface="华文中宋" panose="02010600040101010101" pitchFamily="2" charset="-122"/>
              </a:rPr>
              <a:t>金</a:t>
            </a:r>
            <a:r>
              <a:rPr lang="zh-CN" altLang="en-US" sz="2800" b="1" dirty="0">
                <a:solidFill>
                  <a:srgbClr val="0066FF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</a:t>
            </a:r>
            <a:r>
              <a:rPr lang="en-US" altLang="zh-CN" sz="2800" b="1" dirty="0">
                <a:solidFill>
                  <a:srgbClr val="0066FF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0.59</a:t>
            </a:r>
            <a:r>
              <a:rPr lang="zh-CN" altLang="en-US" sz="2800" b="1" dirty="0">
                <a:solidFill>
                  <a:srgbClr val="0066FF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时</a:t>
            </a:r>
            <a:r>
              <a:rPr lang="zh-CN" altLang="en-US" sz="2800" b="1" dirty="0">
                <a:ea typeface="华文中宋" panose="02010600040101010101" pitchFamily="2" charset="-122"/>
                <a:sym typeface="Symbol" panose="05050102010706020507" pitchFamily="18" charset="2"/>
              </a:rPr>
              <a:t>形成的具有</a:t>
            </a:r>
            <a:r>
              <a:rPr lang="zh-CN" altLang="en-US" sz="2800" b="1" dirty="0">
                <a:solidFill>
                  <a:srgbClr val="FF0000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简单</a:t>
            </a:r>
            <a:r>
              <a:rPr lang="zh-CN" altLang="en-US" sz="2800" b="1" dirty="0">
                <a:solidFill>
                  <a:srgbClr val="0066FF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晶格结构的间隙化合物。</a:t>
            </a:r>
            <a:endParaRPr lang="zh-CN" altLang="en-US" sz="2800" b="1" dirty="0">
              <a:solidFill>
                <a:srgbClr val="0066FF"/>
              </a:solidFill>
              <a:ea typeface="华文中宋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rgbClr val="0066FF"/>
                </a:solidFill>
              </a:rPr>
              <a:t>特点：具有</a:t>
            </a:r>
            <a:r>
              <a:rPr lang="zh-CN" altLang="en-US" sz="2800" b="1" dirty="0">
                <a:solidFill>
                  <a:srgbClr val="FF0000"/>
                </a:solidFill>
              </a:rPr>
              <a:t>金属特征</a:t>
            </a:r>
            <a:r>
              <a:rPr lang="zh-CN" altLang="en-US" sz="2800" b="1" dirty="0">
                <a:solidFill>
                  <a:srgbClr val="0066FF"/>
                </a:solidFill>
              </a:rPr>
              <a:t>和</a:t>
            </a:r>
            <a:r>
              <a:rPr lang="zh-CN" altLang="en-US" sz="2800" b="1" dirty="0">
                <a:solidFill>
                  <a:srgbClr val="FF0000"/>
                </a:solidFill>
              </a:rPr>
              <a:t>极高</a:t>
            </a:r>
            <a:r>
              <a:rPr lang="zh-CN" altLang="en-US" sz="2800" b="1" dirty="0"/>
              <a:t>的</a:t>
            </a:r>
            <a:r>
              <a:rPr lang="zh-CN" altLang="en-US" sz="2800" b="1" dirty="0">
                <a:solidFill>
                  <a:srgbClr val="0066FF"/>
                </a:solidFill>
              </a:rPr>
              <a:t>硬度及熔点，非常稳定。</a:t>
            </a:r>
            <a:endParaRPr lang="zh-CN" altLang="en-US" sz="2800" b="1" dirty="0">
              <a:solidFill>
                <a:srgbClr val="0066FF"/>
              </a:solidFill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rgbClr val="0066FF"/>
                </a:solidFill>
              </a:rPr>
              <a:t>部分</a:t>
            </a:r>
            <a:r>
              <a:rPr lang="zh-CN" altLang="en-US" sz="2800" b="1" dirty="0">
                <a:solidFill>
                  <a:srgbClr val="FF0000"/>
                </a:solidFill>
              </a:rPr>
              <a:t>碳化物</a:t>
            </a:r>
            <a:r>
              <a:rPr lang="zh-CN" altLang="en-US" sz="2800" b="1" dirty="0">
                <a:solidFill>
                  <a:srgbClr val="0066FF"/>
                </a:solidFill>
              </a:rPr>
              <a:t>和所有</a:t>
            </a:r>
            <a:r>
              <a:rPr lang="zh-CN" altLang="en-US" sz="2800" b="1" dirty="0">
                <a:solidFill>
                  <a:srgbClr val="FF0000"/>
                </a:solidFill>
              </a:rPr>
              <a:t>氮化物</a:t>
            </a:r>
            <a:r>
              <a:rPr lang="zh-CN" altLang="en-US" sz="2800" b="1" dirty="0"/>
              <a:t>属于</a:t>
            </a:r>
            <a:r>
              <a:rPr lang="zh-CN" altLang="en-US" sz="2800" b="1" dirty="0">
                <a:solidFill>
                  <a:srgbClr val="0066FF"/>
                </a:solidFill>
              </a:rPr>
              <a:t>间隙相</a:t>
            </a:r>
            <a:r>
              <a:rPr lang="en-US" altLang="zh-CN" sz="2800" b="1" dirty="0">
                <a:solidFill>
                  <a:srgbClr val="0066FF"/>
                </a:solidFill>
              </a:rPr>
              <a:t>.</a:t>
            </a:r>
            <a:endParaRPr lang="en-US" altLang="zh-CN" sz="2800" b="1" dirty="0">
              <a:solidFill>
                <a:srgbClr val="0066FF"/>
              </a:solidFill>
              <a:ea typeface="华文中宋" panose="02010600040101010101" pitchFamily="2" charset="-122"/>
            </a:endParaRPr>
          </a:p>
          <a:p>
            <a:pPr eaLnBrk="1" hangingPunct="1"/>
            <a:endParaRPr lang="en-US" altLang="zh-CN" sz="2800" dirty="0">
              <a:solidFill>
                <a:srgbClr val="0066FF"/>
              </a:solidFill>
            </a:endParaRPr>
          </a:p>
        </p:txBody>
      </p:sp>
      <p:graphicFrame>
        <p:nvGraphicFramePr>
          <p:cNvPr id="226308" name="Group 4"/>
          <p:cNvGraphicFramePr>
            <a:graphicFrameLocks noGrp="1"/>
          </p:cNvGraphicFramePr>
          <p:nvPr>
            <p:ph sz="half" idx="1"/>
            <p:custDataLst>
              <p:tags r:id="rId1"/>
            </p:custDataLst>
          </p:nvPr>
        </p:nvGraphicFramePr>
        <p:xfrm>
          <a:off x="285750" y="2000250"/>
          <a:ext cx="4502150" cy="4438089"/>
        </p:xfrm>
        <a:graphic>
          <a:graphicData uri="http://schemas.openxmlformats.org/drawingml/2006/table">
            <a:tbl>
              <a:tblPr/>
              <a:tblGrid>
                <a:gridCol w="899160"/>
                <a:gridCol w="2317750"/>
                <a:gridCol w="1285240"/>
              </a:tblGrid>
              <a:tr h="6443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化学式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钢中可能遇到的间隙相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晶格类型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43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0" lang="en-US" altLang="zh-CN" sz="18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Fe</a:t>
                      </a:r>
                      <a:r>
                        <a:rPr kumimoji="0" lang="en-US" altLang="zh-CN" sz="18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Nb</a:t>
                      </a:r>
                      <a:r>
                        <a:rPr kumimoji="0" lang="en-US" altLang="zh-CN" sz="18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Mn</a:t>
                      </a:r>
                      <a:r>
                        <a:rPr kumimoji="0" lang="en-US" altLang="zh-CN" sz="18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面心立方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43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0" lang="en-US" altLang="zh-CN" sz="18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Fe</a:t>
                      </a:r>
                      <a:r>
                        <a:rPr kumimoji="0" lang="en-US" altLang="zh-CN" sz="18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Cr</a:t>
                      </a:r>
                      <a:r>
                        <a:rPr kumimoji="0" lang="en-US" altLang="zh-CN" sz="18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W</a:t>
                      </a:r>
                      <a:r>
                        <a:rPr kumimoji="0" lang="en-US" altLang="zh-CN" sz="18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Mo</a:t>
                      </a:r>
                      <a:r>
                        <a:rPr kumimoji="0" lang="en-US" altLang="zh-CN" sz="18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密排六方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60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MX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TaC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TiC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ZrC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VC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TiN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ZrN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VN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MoN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CrN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WC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面心立方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体心立方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简单六方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43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MX</a:t>
                      </a:r>
                      <a:r>
                        <a:rPr kumimoji="0" lang="en-US" altLang="zh-CN" sz="18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VC</a:t>
                      </a:r>
                      <a:r>
                        <a:rPr kumimoji="0" lang="en-US" altLang="zh-CN" sz="18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CeC</a:t>
                      </a:r>
                      <a:r>
                        <a:rPr kumimoji="0" lang="en-US" altLang="zh-CN" sz="18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ZrH</a:t>
                      </a:r>
                      <a:r>
                        <a:rPr kumimoji="0" lang="en-US" altLang="zh-CN" sz="18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TiH</a:t>
                      </a:r>
                      <a:r>
                        <a:rPr kumimoji="0" lang="en-US" altLang="zh-CN" sz="18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LaC</a:t>
                      </a:r>
                      <a:r>
                        <a:rPr kumimoji="0" lang="en-US" altLang="zh-CN" sz="18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面心立方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6047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515100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6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321675" y="6562725"/>
            <a:ext cx="622300" cy="276225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87042" name="Rectangle 2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b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间隙相</a:t>
            </a:r>
            <a: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</a:rPr>
              <a:t>VC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的结构</a:t>
            </a:r>
            <a:endParaRPr lang="zh-CN" altLang="en-US" b="1" dirty="0">
              <a:solidFill>
                <a:srgbClr val="FF0000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1331913" y="3357563"/>
            <a:ext cx="3276600" cy="2603500"/>
            <a:chOff x="1836" y="2400"/>
            <a:chExt cx="2064" cy="1640"/>
          </a:xfrm>
        </p:grpSpPr>
        <p:sp>
          <p:nvSpPr>
            <p:cNvPr id="87044" name="Text Box 4"/>
            <p:cNvSpPr txBox="1"/>
            <p:nvPr/>
          </p:nvSpPr>
          <p:spPr>
            <a:xfrm>
              <a:off x="3516" y="2774"/>
              <a:ext cx="384" cy="83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VC</a:t>
              </a:r>
              <a:r>
                <a: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的结构</a:t>
              </a:r>
              <a:endPara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grpSp>
          <p:nvGrpSpPr>
            <p:cNvPr id="87045" name="Group 5"/>
            <p:cNvGrpSpPr/>
            <p:nvPr/>
          </p:nvGrpSpPr>
          <p:grpSpPr>
            <a:xfrm>
              <a:off x="1836" y="2400"/>
              <a:ext cx="1809" cy="1640"/>
              <a:chOff x="1836" y="2334"/>
              <a:chExt cx="1809" cy="1640"/>
            </a:xfrm>
          </p:grpSpPr>
          <p:pic>
            <p:nvPicPr>
              <p:cNvPr id="87046" name="Picture 6" descr="VC"/>
              <p:cNvPicPr preferRelativeResize="0"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872" y="2352"/>
                <a:ext cx="1700" cy="1581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87047" name="Text Box 7"/>
              <p:cNvSpPr txBox="1"/>
              <p:nvPr/>
            </p:nvSpPr>
            <p:spPr>
              <a:xfrm>
                <a:off x="1836" y="2334"/>
                <a:ext cx="432" cy="1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400" b="1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r>
                  <a:rPr lang="zh-CN" altLang="en-US" sz="1200" b="1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原子</a:t>
                </a:r>
                <a:endParaRPr lang="zh-CN" altLang="en-US" sz="1200" b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7048" name="Line 8"/>
              <p:cNvSpPr/>
              <p:nvPr/>
            </p:nvSpPr>
            <p:spPr>
              <a:xfrm>
                <a:off x="2160" y="2418"/>
                <a:ext cx="96" cy="48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triangle" w="sm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049" name="Text Box 9"/>
              <p:cNvSpPr txBox="1"/>
              <p:nvPr/>
            </p:nvSpPr>
            <p:spPr>
              <a:xfrm>
                <a:off x="3213" y="3780"/>
                <a:ext cx="432" cy="1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400" b="1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r>
                  <a:rPr lang="zh-CN" altLang="en-US" sz="1200" b="1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原子</a:t>
                </a:r>
                <a:endParaRPr lang="zh-CN" altLang="en-US" sz="1200" b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7050" name="Line 10"/>
              <p:cNvSpPr/>
              <p:nvPr/>
            </p:nvSpPr>
            <p:spPr>
              <a:xfrm flipH="1" flipV="1">
                <a:off x="3312" y="3648"/>
                <a:ext cx="96" cy="144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triangle" w="sm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pic>
        <p:nvPicPr>
          <p:cNvPr id="227339" name="NaCl.mov">
            <a:hlinkClick r:id="" action="ppaction://media"/>
          </p:cNvPr>
          <p:cNvPicPr>
            <a:picLocks noGrp="1" noRot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link="rId3"/>
              </p:ext>
            </p:extLst>
          </p:nvPr>
        </p:nvPicPr>
        <p:blipFill>
          <a:blip r:embed="rId4" cstate="print"/>
          <a:stretch>
            <a:fillRect/>
          </a:stretch>
        </p:blipFill>
        <p:spPr>
          <a:xfrm>
            <a:off x="5500688" y="3394075"/>
            <a:ext cx="3048000" cy="2286000"/>
          </a:xfrm>
        </p:spPr>
      </p:pic>
      <p:sp>
        <p:nvSpPr>
          <p:cNvPr id="87053" name="日期占位符 1"/>
          <p:cNvSpPr>
            <a:spLocks noGrp="1"/>
          </p:cNvSpPr>
          <p:nvPr>
            <p:ph type="dt" sz="half" idx="10"/>
          </p:nvPr>
        </p:nvSpPr>
        <p:spPr>
          <a:xfrm>
            <a:off x="93663" y="6529388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5" name="内容占位符 1" descr="新校徽（3M）弓之乐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9685" y="28739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27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" fill="hold"/>
                                        <p:tgtEl>
                                          <p:spTgt spid="2273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2273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9" dur="1" fill="hold"/>
                                        <p:tgtEl>
                                          <p:spTgt spid="2273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7339"/>
                  </p:tgtEl>
                </p:cond>
              </p:nextCondLst>
            </p:seq>
            <p:video>
              <p:cMediaNode>
                <p:cTn id="20" repeatCount="indefinite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227339"/>
                </p:tgtEl>
              </p:cMediaNode>
            </p:video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88066" name="Rectangle 2"/>
          <p:cNvSpPr>
            <a:spLocks noGrp="1"/>
          </p:cNvSpPr>
          <p:nvPr>
            <p:ph type="title"/>
          </p:nvPr>
        </p:nvSpPr>
        <p:spPr>
          <a:xfrm>
            <a:off x="1500188" y="188913"/>
            <a:ext cx="7643812" cy="1239837"/>
          </a:xfrm>
        </p:spPr>
        <p:txBody>
          <a:bodyPr wrap="square" lIns="91440" tIns="45720" rIns="91440" bIns="45720" anchor="b"/>
          <a:lstStyle/>
          <a:p>
            <a:pPr eaLnBrk="1" hangingPunct="1"/>
            <a:r>
              <a:rPr lang="zh-CN" altLang="en-US" b="1" dirty="0">
                <a:solidFill>
                  <a:schemeClr val="hlink"/>
                </a:solidFill>
                <a:ea typeface="华文中宋" panose="02010600040101010101" pitchFamily="2" charset="-122"/>
              </a:rPr>
              <a:t>间隙化合物分类</a:t>
            </a:r>
            <a:br>
              <a:rPr lang="zh-CN" altLang="en-US" b="1" dirty="0">
                <a:ea typeface="华文中宋" panose="02010600040101010101" pitchFamily="2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华文中宋" panose="02010600040101010101" pitchFamily="2" charset="-122"/>
              </a:rPr>
              <a:t>——</a:t>
            </a:r>
            <a:r>
              <a:rPr lang="zh-CN" altLang="en-US" sz="4000" b="1" dirty="0">
                <a:solidFill>
                  <a:srgbClr val="FF0000"/>
                </a:solidFill>
                <a:ea typeface="华文中宋" panose="02010600040101010101" pitchFamily="2" charset="-122"/>
              </a:rPr>
              <a:t>具有复杂结构的间隙化合物</a:t>
            </a:r>
            <a:endParaRPr lang="zh-CN" altLang="en-US" sz="4000" b="1" dirty="0">
              <a:solidFill>
                <a:srgbClr val="FF0000"/>
              </a:solidFill>
              <a:ea typeface="华文中宋" panose="02010600040101010101" pitchFamily="2" charset="-122"/>
            </a:endParaRPr>
          </a:p>
        </p:txBody>
      </p:sp>
      <p:sp>
        <p:nvSpPr>
          <p:cNvPr id="88067" name="Rectangle 3"/>
          <p:cNvSpPr>
            <a:spLocks noGrp="1"/>
          </p:cNvSpPr>
          <p:nvPr>
            <p:ph idx="1"/>
          </p:nvPr>
        </p:nvSpPr>
        <p:spPr>
          <a:xfrm>
            <a:off x="0" y="1989138"/>
            <a:ext cx="5976938" cy="446405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5000"/>
              </a:lnSpc>
            </a:pPr>
            <a:r>
              <a:rPr lang="zh-CN" altLang="en-US" sz="24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当</a:t>
            </a:r>
            <a:r>
              <a:rPr lang="en-US" altLang="zh-CN" sz="24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r</a:t>
            </a:r>
            <a:r>
              <a:rPr lang="zh-CN" altLang="en-US" sz="2400" b="1" baseline="-25000" dirty="0">
                <a:solidFill>
                  <a:schemeClr val="folHlink"/>
                </a:solidFill>
                <a:ea typeface="华文中宋" panose="02010600040101010101" pitchFamily="2" charset="-122"/>
              </a:rPr>
              <a:t>非</a:t>
            </a:r>
            <a:r>
              <a:rPr lang="en-US" altLang="zh-CN" sz="24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/r</a:t>
            </a:r>
            <a:r>
              <a:rPr lang="zh-CN" altLang="en-US" sz="2400" b="1" baseline="-25000" dirty="0">
                <a:solidFill>
                  <a:schemeClr val="folHlink"/>
                </a:solidFill>
                <a:ea typeface="华文中宋" panose="02010600040101010101" pitchFamily="2" charset="-122"/>
              </a:rPr>
              <a:t>金</a:t>
            </a:r>
            <a:r>
              <a:rPr lang="en-US" altLang="zh-CN" sz="2400" b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&gt;0.59</a:t>
            </a:r>
            <a:r>
              <a:rPr lang="zh-CN" altLang="en-US" sz="2400" b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时形成复杂结构间隙化合物。</a:t>
            </a:r>
            <a:r>
              <a:rPr lang="zh-CN" altLang="en-US" sz="2400" b="1" dirty="0">
                <a:ea typeface="华文中宋" panose="02010600040101010101" pitchFamily="2" charset="-122"/>
                <a:sym typeface="Symbol" panose="05050102010706020507" pitchFamily="18" charset="2"/>
              </a:rPr>
              <a:t>如</a:t>
            </a:r>
            <a:r>
              <a:rPr lang="en-US" altLang="zh-CN" sz="2400" b="1" dirty="0">
                <a:solidFill>
                  <a:srgbClr val="0066FF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FeB</a:t>
            </a:r>
            <a:r>
              <a:rPr lang="zh-CN" altLang="en-US" sz="2400" b="1" dirty="0">
                <a:solidFill>
                  <a:srgbClr val="0066FF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、</a:t>
            </a:r>
            <a:r>
              <a:rPr lang="en-US" altLang="zh-CN" sz="2400" b="1" dirty="0">
                <a:solidFill>
                  <a:srgbClr val="0066FF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Fe</a:t>
            </a:r>
            <a:r>
              <a:rPr lang="en-US" altLang="zh-CN" sz="2400" b="1" baseline="-25000" dirty="0">
                <a:solidFill>
                  <a:srgbClr val="0066FF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3</a:t>
            </a:r>
            <a:r>
              <a:rPr lang="en-US" altLang="zh-CN" sz="2400" b="1" dirty="0">
                <a:solidFill>
                  <a:srgbClr val="0066FF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C</a:t>
            </a:r>
            <a:r>
              <a:rPr lang="zh-CN" altLang="en-US" sz="2400" b="1" dirty="0">
                <a:solidFill>
                  <a:srgbClr val="0066FF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、</a:t>
            </a:r>
            <a:r>
              <a:rPr lang="en-US" altLang="zh-CN" sz="2400" b="1" dirty="0">
                <a:solidFill>
                  <a:srgbClr val="0066FF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Cr</a:t>
            </a:r>
            <a:r>
              <a:rPr lang="en-US" altLang="zh-CN" sz="2400" b="1" baseline="-25000" dirty="0">
                <a:solidFill>
                  <a:srgbClr val="0066FF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23</a:t>
            </a:r>
            <a:r>
              <a:rPr lang="en-US" altLang="zh-CN" sz="2400" b="1" dirty="0">
                <a:solidFill>
                  <a:srgbClr val="0066FF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sz="2400" b="1" baseline="-25000" dirty="0">
                <a:solidFill>
                  <a:srgbClr val="0066FF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6</a:t>
            </a:r>
            <a:r>
              <a:rPr lang="zh-CN" altLang="en-US" sz="2400" b="1" dirty="0">
                <a:ea typeface="华文中宋" panose="02010600040101010101" pitchFamily="2" charset="-122"/>
                <a:sym typeface="Symbol" panose="05050102010706020507" pitchFamily="18" charset="2"/>
              </a:rPr>
              <a:t>等。</a:t>
            </a:r>
            <a:endParaRPr lang="zh-CN" altLang="en-US" sz="2400" b="1" dirty="0">
              <a:ea typeface="华文中宋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45000"/>
              </a:lnSpc>
            </a:pPr>
            <a:r>
              <a:rPr lang="en-US" altLang="zh-CN" sz="2800" b="1" dirty="0">
                <a:solidFill>
                  <a:srgbClr val="0066FF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Fe</a:t>
            </a:r>
            <a:r>
              <a:rPr lang="en-US" altLang="zh-CN" sz="2800" b="1" baseline="-25000" dirty="0">
                <a:solidFill>
                  <a:srgbClr val="0066FF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3</a:t>
            </a:r>
            <a:r>
              <a:rPr lang="en-US" altLang="zh-CN" sz="2800" b="1" dirty="0">
                <a:solidFill>
                  <a:srgbClr val="0066FF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C </a:t>
            </a:r>
            <a:r>
              <a:rPr lang="zh-CN" altLang="en-US" sz="2800" b="1" dirty="0">
                <a:ea typeface="华文中宋" panose="02010600040101010101" pitchFamily="2" charset="-122"/>
                <a:sym typeface="Symbol" panose="05050102010706020507" pitchFamily="18" charset="2"/>
              </a:rPr>
              <a:t>称</a:t>
            </a:r>
            <a:r>
              <a:rPr lang="zh-CN" altLang="en-US" sz="2800" b="1" dirty="0">
                <a:solidFill>
                  <a:srgbClr val="0066FF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渗碳体</a:t>
            </a:r>
            <a:r>
              <a:rPr lang="en-US" altLang="zh-CN" sz="2800" b="1" dirty="0">
                <a:solidFill>
                  <a:schemeClr val="accent1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, </a:t>
            </a:r>
            <a:r>
              <a:rPr lang="zh-CN" altLang="en-US" sz="2800" b="1" dirty="0">
                <a:ea typeface="华文中宋" panose="02010600040101010101" pitchFamily="2" charset="-122"/>
                <a:sym typeface="Symbol" panose="05050102010706020507" pitchFamily="18" charset="2"/>
              </a:rPr>
              <a:t>是钢中重要组成相，具有</a:t>
            </a:r>
            <a:r>
              <a:rPr lang="zh-CN" altLang="en-US" sz="2800" b="1" dirty="0">
                <a:solidFill>
                  <a:srgbClr val="FF0000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复杂</a:t>
            </a:r>
            <a:r>
              <a:rPr lang="zh-CN" altLang="en-US" sz="2800" b="1" dirty="0">
                <a:solidFill>
                  <a:srgbClr val="0066FF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斜方晶格</a:t>
            </a:r>
            <a:r>
              <a:rPr lang="zh-CN" altLang="en-US" sz="2800" b="1" dirty="0">
                <a:ea typeface="华文中宋" panose="02010600040101010101" pitchFamily="2" charset="-122"/>
                <a:sym typeface="Symbol" panose="05050102010706020507" pitchFamily="18" charset="2"/>
              </a:rPr>
              <a:t>。</a:t>
            </a:r>
            <a:endParaRPr lang="en-US" altLang="zh-CN" sz="2800" b="1" dirty="0">
              <a:ea typeface="华文中宋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45000"/>
              </a:lnSpc>
            </a:pPr>
            <a:r>
              <a:rPr lang="zh-CN" altLang="en-US" sz="2800" b="1" dirty="0">
                <a:ea typeface="华文中宋" panose="02010600040101010101" pitchFamily="2" charset="-122"/>
                <a:sym typeface="Symbol" panose="05050102010706020507" pitchFamily="18" charset="2"/>
              </a:rPr>
              <a:t>化合物也可溶入其它元素原子，形成</a:t>
            </a:r>
            <a:r>
              <a:rPr lang="zh-CN" altLang="en-US" sz="2800" b="1" dirty="0">
                <a:solidFill>
                  <a:srgbClr val="0066FF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以化合物</a:t>
            </a:r>
            <a:r>
              <a:rPr lang="zh-CN" altLang="en-US" sz="2800" b="1" dirty="0">
                <a:ea typeface="华文中宋" panose="02010600040101010101" pitchFamily="2" charset="-122"/>
                <a:sym typeface="Symbol" panose="05050102010706020507" pitchFamily="18" charset="2"/>
              </a:rPr>
              <a:t>为</a:t>
            </a:r>
            <a:r>
              <a:rPr lang="zh-CN" altLang="en-US" sz="2800" b="1" dirty="0">
                <a:solidFill>
                  <a:srgbClr val="0066FF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基</a:t>
            </a:r>
            <a:r>
              <a:rPr lang="zh-CN" altLang="en-US" sz="2800" b="1" dirty="0">
                <a:ea typeface="华文中宋" panose="02010600040101010101" pitchFamily="2" charset="-122"/>
                <a:sym typeface="Symbol" panose="05050102010706020507" pitchFamily="18" charset="2"/>
              </a:rPr>
              <a:t>的固溶体。（</a:t>
            </a:r>
            <a:r>
              <a:rPr lang="en-US" altLang="zh-CN" sz="2800" b="1" dirty="0">
                <a:ea typeface="华文中宋" panose="02010600040101010101" pitchFamily="2" charset="-122"/>
                <a:sym typeface="Symbol" panose="05050102010706020507" pitchFamily="18" charset="2"/>
              </a:rPr>
              <a:t>Fe,Mn</a:t>
            </a:r>
            <a:r>
              <a:rPr lang="zh-CN" altLang="en-US" sz="2800" b="1" dirty="0">
                <a:ea typeface="华文中宋" panose="02010600040101010101" pitchFamily="2" charset="-122"/>
                <a:sym typeface="Symbol" panose="05050102010706020507" pitchFamily="18" charset="2"/>
              </a:rPr>
              <a:t>）</a:t>
            </a:r>
            <a:r>
              <a:rPr lang="en-US" altLang="zh-CN" sz="2800" b="1" baseline="-25000" dirty="0">
                <a:ea typeface="华文中宋" panose="02010600040101010101" pitchFamily="2" charset="-122"/>
                <a:sym typeface="Symbol" panose="05050102010706020507" pitchFamily="18" charset="2"/>
              </a:rPr>
              <a:t>3</a:t>
            </a:r>
            <a:r>
              <a:rPr lang="en-US" altLang="zh-CN" sz="2800" b="1" dirty="0">
                <a:ea typeface="华文中宋" panose="02010600040101010101" pitchFamily="2" charset="-122"/>
                <a:sym typeface="Symbol" panose="05050102010706020507" pitchFamily="18" charset="2"/>
              </a:rPr>
              <a:t>C;(Fe,Cr) </a:t>
            </a:r>
            <a:r>
              <a:rPr lang="en-US" altLang="zh-CN" sz="2800" b="1" baseline="-25000" dirty="0">
                <a:ea typeface="华文中宋" panose="02010600040101010101" pitchFamily="2" charset="-122"/>
                <a:sym typeface="Symbol" panose="05050102010706020507" pitchFamily="18" charset="2"/>
              </a:rPr>
              <a:t>3</a:t>
            </a:r>
            <a:r>
              <a:rPr lang="en-US" altLang="zh-CN" sz="2800" b="1" dirty="0">
                <a:ea typeface="华文中宋" panose="02010600040101010101" pitchFamily="2" charset="-122"/>
                <a:sym typeface="Symbol" panose="05050102010706020507" pitchFamily="18" charset="2"/>
              </a:rPr>
              <a:t>C</a:t>
            </a:r>
            <a:endParaRPr lang="en-US" altLang="zh-CN" sz="2800" b="1" dirty="0">
              <a:ea typeface="华文中宋" panose="0201060004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6227763" y="1484313"/>
            <a:ext cx="2916237" cy="5373687"/>
            <a:chOff x="3408" y="336"/>
            <a:chExt cx="1968" cy="3588"/>
          </a:xfrm>
        </p:grpSpPr>
        <p:pic>
          <p:nvPicPr>
            <p:cNvPr id="88069" name="Picture 5" descr="渗碳体结构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408" y="336"/>
              <a:ext cx="1927" cy="1916"/>
            </a:xfrm>
            <a:prstGeom prst="rect">
              <a:avLst/>
            </a:prstGeom>
            <a:noFill/>
            <a:ln w="28575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88070" name="Text Box 6"/>
            <p:cNvSpPr txBox="1"/>
            <p:nvPr/>
          </p:nvSpPr>
          <p:spPr>
            <a:xfrm>
              <a:off x="4364" y="2025"/>
              <a:ext cx="1012" cy="24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Fe</a:t>
              </a:r>
              <a:r>
                <a:rPr lang="en-US" altLang="zh-CN" b="1" baseline="-250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3</a:t>
              </a:r>
              <a:r>
                <a:rPr lang="en-US" altLang="zh-CN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C</a:t>
              </a:r>
              <a:r>
                <a:rPr lang="zh-CN" altLang="en-US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的晶格</a:t>
              </a:r>
              <a:endParaRPr lang="zh-CN" altLang="en-US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pic>
          <p:nvPicPr>
            <p:cNvPr id="88071" name="Picture 7" descr="旋转 过共析钢组织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08" y="2304"/>
              <a:ext cx="1927" cy="1618"/>
            </a:xfrm>
            <a:prstGeom prst="rect">
              <a:avLst/>
            </a:prstGeom>
            <a:noFill/>
            <a:ln w="28575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88072" name="Rectangle 8"/>
            <p:cNvSpPr/>
            <p:nvPr/>
          </p:nvSpPr>
          <p:spPr>
            <a:xfrm>
              <a:off x="3408" y="3744"/>
              <a:ext cx="768" cy="180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txBody>
            <a:bodyPr wrap="none" anchor="ctr"/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钢中的</a:t>
              </a:r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Fe</a:t>
              </a:r>
              <a:r>
                <a:rPr lang="en-US" altLang="zh-CN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88073" name="AutoShape 9">
            <a:hlinkClick r:id="rId3" action="ppaction://hlinksldjump"/>
          </p:cNvPr>
          <p:cNvSpPr/>
          <p:nvPr/>
        </p:nvSpPr>
        <p:spPr>
          <a:xfrm>
            <a:off x="5786438" y="6453188"/>
            <a:ext cx="360362" cy="404812"/>
          </a:xfrm>
          <a:prstGeom prst="actionButtonBackPrevious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/>
          <a:lstStyle/>
          <a:p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8075" name="日期占位符 1"/>
          <p:cNvSpPr>
            <a:spLocks noGrp="1"/>
          </p:cNvSpPr>
          <p:nvPr>
            <p:ph type="dt" sz="half" idx="10"/>
          </p:nvPr>
        </p:nvSpPr>
        <p:spPr>
          <a:xfrm>
            <a:off x="93663" y="6529388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072313" y="6515100"/>
            <a:ext cx="1316037" cy="342900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89090" name="Rectangle 2"/>
          <p:cNvSpPr>
            <a:spLocks noGrp="1"/>
          </p:cNvSpPr>
          <p:nvPr>
            <p:ph type="title"/>
          </p:nvPr>
        </p:nvSpPr>
        <p:spPr>
          <a:xfrm>
            <a:off x="390525" y="188595"/>
            <a:ext cx="8896350" cy="1450975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en-US" altLang="zh-CN" b="1" dirty="0">
                <a:solidFill>
                  <a:schemeClr val="hlink"/>
                </a:solidFill>
                <a:ea typeface="华文中宋" panose="02010600040101010101" pitchFamily="2" charset="-122"/>
              </a:rPr>
              <a:t>4.</a:t>
            </a:r>
            <a:r>
              <a:rPr lang="zh-CN" altLang="en-US" b="1" dirty="0">
                <a:solidFill>
                  <a:schemeClr val="hlink"/>
                </a:solidFill>
                <a:ea typeface="华文中宋" panose="02010600040101010101" pitchFamily="2" charset="-122"/>
              </a:rPr>
              <a:t>金属的非晶态</a:t>
            </a:r>
            <a:br>
              <a:rPr lang="en-US" altLang="zh-CN" b="1" dirty="0">
                <a:solidFill>
                  <a:schemeClr val="hlink"/>
                </a:solidFill>
                <a:ea typeface="华文中宋" panose="02010600040101010101" pitchFamily="2" charset="-122"/>
              </a:rPr>
            </a:br>
            <a:r>
              <a:rPr lang="en-US" altLang="zh-CN" sz="4000" b="1" i="1" dirty="0">
                <a:solidFill>
                  <a:schemeClr val="hlink"/>
                </a:solidFill>
                <a:ea typeface="华文中宋" panose="02010600040101010101" pitchFamily="2" charset="-122"/>
              </a:rPr>
              <a:t>The amorphous state of metals</a:t>
            </a:r>
            <a:endParaRPr lang="en-US" altLang="zh-CN" sz="4000" b="1" i="1" dirty="0">
              <a:solidFill>
                <a:schemeClr val="hlink"/>
              </a:solidFill>
              <a:ea typeface="华文中宋" panose="02010600040101010101" pitchFamily="2" charset="-122"/>
            </a:endParaRPr>
          </a:p>
        </p:txBody>
      </p:sp>
      <p:sp>
        <p:nvSpPr>
          <p:cNvPr id="89091" name="Rectangle 3"/>
          <p:cNvSpPr>
            <a:spLocks noGrp="1"/>
          </p:cNvSpPr>
          <p:nvPr>
            <p:ph idx="1"/>
          </p:nvPr>
        </p:nvSpPr>
        <p:spPr>
          <a:xfrm>
            <a:off x="755650" y="2348865"/>
            <a:ext cx="7772400" cy="3820160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dirty="0">
                <a:solidFill>
                  <a:srgbClr val="0033CC"/>
                </a:solidFill>
              </a:rPr>
              <a:t>又称</a:t>
            </a:r>
            <a:r>
              <a:rPr lang="zh-CN" altLang="en-US" b="1" dirty="0">
                <a:solidFill>
                  <a:srgbClr val="0066FF"/>
                </a:solidFill>
                <a:ea typeface="华文中宋" panose="02010600040101010101" pitchFamily="2" charset="-122"/>
              </a:rPr>
              <a:t>金属玻璃</a:t>
            </a:r>
            <a:endParaRPr lang="en-US" altLang="zh-CN" dirty="0">
              <a:solidFill>
                <a:srgbClr val="0033CC"/>
              </a:solidFill>
            </a:endParaRPr>
          </a:p>
          <a:p>
            <a:pPr eaLnBrk="1" hangingPunct="1"/>
            <a:r>
              <a:rPr lang="zh-CN" altLang="en-US" dirty="0">
                <a:solidFill>
                  <a:srgbClr val="0033CC"/>
                </a:solidFill>
              </a:rPr>
              <a:t>新近研究热点</a:t>
            </a:r>
            <a:endParaRPr lang="zh-CN" altLang="en-US" dirty="0"/>
          </a:p>
          <a:p>
            <a:pPr eaLnBrk="1" hangingPunct="1"/>
            <a:r>
              <a:rPr lang="zh-CN" altLang="en-US" dirty="0"/>
              <a:t>非晶态金属</a:t>
            </a:r>
            <a:r>
              <a:rPr lang="zh-CN" altLang="en-US" dirty="0">
                <a:solidFill>
                  <a:srgbClr val="0033CC"/>
                </a:solidFill>
              </a:rPr>
              <a:t>具有</a:t>
            </a:r>
            <a:r>
              <a:rPr lang="zh-CN" altLang="en-US" b="1" dirty="0">
                <a:solidFill>
                  <a:srgbClr val="FF0000"/>
                </a:solidFill>
              </a:rPr>
              <a:t>独特的</a:t>
            </a:r>
            <a:r>
              <a:rPr lang="zh-CN" altLang="en-US" dirty="0">
                <a:solidFill>
                  <a:srgbClr val="0033CC"/>
                </a:solidFill>
              </a:rPr>
              <a:t>力学性能、物理性能、化学性能</a:t>
            </a:r>
            <a:endParaRPr lang="zh-CN" altLang="en-US" dirty="0">
              <a:solidFill>
                <a:srgbClr val="0033CC"/>
              </a:solidFill>
            </a:endParaRPr>
          </a:p>
          <a:p>
            <a:pPr eaLnBrk="1" hangingPunct="1"/>
            <a:r>
              <a:rPr lang="zh-CN" altLang="en-US" dirty="0"/>
              <a:t>非晶态金属中</a:t>
            </a:r>
            <a:r>
              <a:rPr lang="zh-CN" altLang="en-US" dirty="0">
                <a:solidFill>
                  <a:srgbClr val="0033CC"/>
                </a:solidFill>
              </a:rPr>
              <a:t>没有晶界、位错</a:t>
            </a:r>
            <a:r>
              <a:rPr lang="zh-CN" altLang="en-US" dirty="0"/>
              <a:t>。</a:t>
            </a:r>
            <a:endParaRPr lang="zh-CN" altLang="en-US" dirty="0"/>
          </a:p>
          <a:p>
            <a:pPr eaLnBrk="1" hangingPunct="1"/>
            <a:r>
              <a:rPr lang="zh-CN" altLang="en-US" b="1" dirty="0">
                <a:solidFill>
                  <a:srgbClr val="0066FF"/>
                </a:solidFill>
                <a:ea typeface="华文中宋" panose="02010600040101010101" pitchFamily="2" charset="-122"/>
              </a:rPr>
              <a:t>长程无序</a:t>
            </a:r>
            <a:r>
              <a:rPr lang="zh-CN" altLang="en-US" dirty="0"/>
              <a:t>结构，但</a:t>
            </a:r>
            <a:r>
              <a:rPr lang="zh-CN" altLang="en-US" b="1" dirty="0">
                <a:solidFill>
                  <a:srgbClr val="0066FF"/>
                </a:solidFill>
                <a:ea typeface="华文中宋" panose="02010600040101010101" pitchFamily="2" charset="-122"/>
              </a:rPr>
              <a:t>短程有序</a:t>
            </a:r>
            <a:endParaRPr lang="zh-CN" altLang="en-US" dirty="0"/>
          </a:p>
        </p:txBody>
      </p:sp>
      <p:sp>
        <p:nvSpPr>
          <p:cNvPr id="89093" name="AutoShape 6">
            <a:hlinkClick r:id="rId1" action="ppaction://hlinksldjump"/>
          </p:cNvPr>
          <p:cNvSpPr/>
          <p:nvPr/>
        </p:nvSpPr>
        <p:spPr>
          <a:xfrm>
            <a:off x="8818563" y="6599238"/>
            <a:ext cx="314325" cy="258762"/>
          </a:xfrm>
          <a:prstGeom prst="actionButtonBackPrevious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/>
          <a:lstStyle/>
          <a:p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9094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072313" y="6515100"/>
            <a:ext cx="1316037" cy="342900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89090" name="Rectangle 2"/>
          <p:cNvSpPr>
            <a:spLocks noGrp="1"/>
          </p:cNvSpPr>
          <p:nvPr>
            <p:ph type="title"/>
          </p:nvPr>
        </p:nvSpPr>
        <p:spPr>
          <a:xfrm>
            <a:off x="1691680" y="188640"/>
            <a:ext cx="6264696" cy="1368152"/>
          </a:xfrm>
        </p:spPr>
        <p:txBody>
          <a:bodyPr wrap="square" lIns="91440" tIns="45720" rIns="91440" bIns="45720" anchor="b"/>
          <a:lstStyle/>
          <a:p>
            <a:pPr eaLnBrk="1" hangingPunct="1"/>
            <a:r>
              <a:rPr lang="zh-CN" altLang="en-US" b="1" dirty="0">
                <a:solidFill>
                  <a:schemeClr val="hlink"/>
                </a:solidFill>
                <a:ea typeface="华文中宋" panose="02010600040101010101" pitchFamily="2" charset="-122"/>
              </a:rPr>
              <a:t>小结</a:t>
            </a:r>
            <a:endParaRPr lang="zh-CN" altLang="en-US" b="1" dirty="0">
              <a:solidFill>
                <a:schemeClr val="hlink"/>
              </a:solidFill>
              <a:ea typeface="华文中宋" panose="02010600040101010101" pitchFamily="2" charset="-122"/>
            </a:endParaRPr>
          </a:p>
        </p:txBody>
      </p:sp>
      <p:sp>
        <p:nvSpPr>
          <p:cNvPr id="89091" name="Rectangle 3"/>
          <p:cNvSpPr>
            <a:spLocks noGrp="1"/>
          </p:cNvSpPr>
          <p:nvPr>
            <p:ph idx="1"/>
          </p:nvPr>
        </p:nvSpPr>
        <p:spPr>
          <a:xfrm>
            <a:off x="827584" y="1916832"/>
            <a:ext cx="8136904" cy="4624239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结合键</a:t>
            </a:r>
            <a:r>
              <a:rPr lang="zh-CN" altLang="en-US" sz="2800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：</a:t>
            </a:r>
            <a:r>
              <a:rPr lang="zh-CN" altLang="en-US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强键</a:t>
            </a:r>
            <a:r>
              <a:rPr lang="zh-CN" altLang="en-US" sz="2800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（离子键、共价键、金属键）、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弱键（</a:t>
            </a:r>
            <a:r>
              <a:rPr lang="zh-CN" altLang="en-US" sz="2800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分子键、氢键）</a:t>
            </a:r>
            <a:endParaRPr lang="zh-CN" altLang="en-US" sz="2800" dirty="0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晶体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非晶体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；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单晶体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多晶体</a:t>
            </a:r>
            <a:endParaRPr lang="en-US" altLang="zh-CN" sz="2800" dirty="0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晶格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、晶胞、晶系；晶格常数；配位数、致密度</a:t>
            </a:r>
            <a:endParaRPr lang="en-US" altLang="zh-CN" sz="2800" dirty="0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晶面{族}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、晶向</a:t>
            </a:r>
            <a:r>
              <a: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&lt;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族</a:t>
            </a:r>
            <a:r>
              <a: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&gt;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；晶面指数、晶向指数</a:t>
            </a:r>
            <a:endParaRPr lang="en-US" altLang="zh-CN" sz="2800" dirty="0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  <a:p>
            <a:pPr eaLnBrk="1" hangingPunct="1"/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体心立方、面心立方、密排六方</a:t>
            </a:r>
            <a:endParaRPr lang="en-US" altLang="zh-CN" sz="2800" dirty="0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密排面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密排方向</a:t>
            </a:r>
            <a:endParaRPr lang="en-US" altLang="zh-CN" sz="2800" dirty="0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固溶体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、化合物</a:t>
            </a:r>
            <a:endParaRPr lang="en-US" altLang="zh-CN" sz="2800" dirty="0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  <a:p>
            <a:pPr eaLnBrk="1" hangingPunct="1"/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点缺陷、线缺陷、面缺陷</a:t>
            </a:r>
            <a:endParaRPr lang="en-US" altLang="zh-CN" sz="2800" dirty="0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</p:txBody>
      </p:sp>
      <p:sp>
        <p:nvSpPr>
          <p:cNvPr id="89093" name="AutoShape 6">
            <a:hlinkClick r:id="rId1" action="ppaction://hlinksldjump"/>
          </p:cNvPr>
          <p:cNvSpPr/>
          <p:nvPr/>
        </p:nvSpPr>
        <p:spPr>
          <a:xfrm>
            <a:off x="8818563" y="6599238"/>
            <a:ext cx="314325" cy="258762"/>
          </a:xfrm>
          <a:prstGeom prst="actionButtonBackPrevious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/>
          <a:lstStyle/>
          <a:p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9094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286000" y="3168015"/>
            <a:ext cx="4572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l-GR" altLang="zh-CN" sz="280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sym typeface="+mn-ea"/>
              </a:rPr>
              <a:t>ε</a:t>
            </a:r>
            <a:endParaRPr lang="el-GR" altLang="zh-CN" sz="2800" dirty="0">
              <a:ln>
                <a:noFill/>
              </a:ln>
              <a:solidFill>
                <a:srgbClr val="FF0000"/>
              </a:solidFill>
              <a:effectLst/>
              <a:latin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26475" y="6613525"/>
            <a:ext cx="517525" cy="271463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90114" name="Rectangle 2"/>
          <p:cNvSpPr>
            <a:spLocks noGrp="1"/>
          </p:cNvSpPr>
          <p:nvPr>
            <p:ph type="title"/>
          </p:nvPr>
        </p:nvSpPr>
        <p:spPr>
          <a:xfrm>
            <a:off x="0" y="1988840"/>
            <a:ext cx="8856984" cy="2088232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zh-CN" altLang="en-US" sz="6600" b="1" dirty="0">
                <a:solidFill>
                  <a:srgbClr val="FF0000"/>
                </a:solidFill>
                <a:ea typeface="华文中宋" panose="02010600040101010101" pitchFamily="2" charset="-122"/>
              </a:rPr>
              <a:t>陶瓷的结构</a:t>
            </a:r>
            <a:br>
              <a:rPr lang="en-US" altLang="zh-CN" sz="6600" b="1" dirty="0">
                <a:solidFill>
                  <a:srgbClr val="FF0000"/>
                </a:solidFill>
                <a:ea typeface="华文中宋" panose="02010600040101010101" pitchFamily="2" charset="-122"/>
              </a:rPr>
            </a:br>
            <a:r>
              <a:rPr lang="en-US" altLang="zh-CN" sz="6000" b="1" i="1" dirty="0">
                <a:solidFill>
                  <a:srgbClr val="FF0000"/>
                </a:solidFill>
                <a:ea typeface="华文中宋" panose="02010600040101010101" pitchFamily="2" charset="-122"/>
              </a:rPr>
              <a:t>Structure of Ceramics</a:t>
            </a:r>
            <a:endParaRPr lang="en-US" altLang="zh-CN" sz="6000" b="1" i="1" dirty="0">
              <a:solidFill>
                <a:srgbClr val="FF0000"/>
              </a:solidFill>
              <a:ea typeface="华文中宋" panose="02010600040101010101" pitchFamily="2" charset="-122"/>
            </a:endParaRPr>
          </a:p>
        </p:txBody>
      </p:sp>
      <p:sp>
        <p:nvSpPr>
          <p:cNvPr id="90117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42088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26475" y="6613525"/>
            <a:ext cx="517525" cy="271463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90114" name="Rectangle 2"/>
          <p:cNvSpPr>
            <a:spLocks noGrp="1"/>
          </p:cNvSpPr>
          <p:nvPr>
            <p:ph type="title"/>
          </p:nvPr>
        </p:nvSpPr>
        <p:spPr>
          <a:xfrm>
            <a:off x="2627313" y="0"/>
            <a:ext cx="5829300" cy="1143000"/>
          </a:xfrm>
        </p:spPr>
        <p:txBody>
          <a:bodyPr wrap="square" lIns="91440" tIns="45720" rIns="91440" bIns="45720" anchor="b"/>
          <a:lstStyle/>
          <a:p>
            <a:pPr eaLnBrk="1" hangingPunct="1"/>
            <a:r>
              <a:rPr lang="zh-CN" altLang="en-US" sz="4000" b="1" dirty="0">
                <a:solidFill>
                  <a:srgbClr val="FF0000"/>
                </a:solidFill>
                <a:ea typeface="华文中宋" panose="02010600040101010101" pitchFamily="2" charset="-122"/>
              </a:rPr>
              <a:t>陶瓷的结构</a:t>
            </a:r>
            <a:endParaRPr lang="zh-CN" altLang="en-US" sz="4000" b="1" dirty="0">
              <a:solidFill>
                <a:srgbClr val="FF0000"/>
              </a:solidFill>
              <a:ea typeface="华文中宋" panose="02010600040101010101" pitchFamily="2" charset="-122"/>
            </a:endParaRPr>
          </a:p>
        </p:txBody>
      </p:sp>
      <p:sp>
        <p:nvSpPr>
          <p:cNvPr id="90115" name="Rectangle 3"/>
          <p:cNvSpPr>
            <a:spLocks noGrp="1"/>
          </p:cNvSpPr>
          <p:nvPr>
            <p:ph idx="1"/>
          </p:nvPr>
        </p:nvSpPr>
        <p:spPr>
          <a:xfrm>
            <a:off x="0" y="1857375"/>
            <a:ext cx="9144000" cy="457200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陶瓷</a:t>
            </a:r>
            <a:r>
              <a:rPr lang="en-US" altLang="zh-CN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：</a:t>
            </a:r>
            <a:r>
              <a:rPr lang="zh-CN" altLang="en-US" dirty="0">
                <a:latin typeface="宋体" panose="02010600030101010101" pitchFamily="2" charset="-122"/>
              </a:rPr>
              <a:t>传统上是指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陶器</a:t>
            </a:r>
            <a:r>
              <a:rPr lang="zh-CN" altLang="en-US" dirty="0">
                <a:latin typeface="宋体" panose="02010600030101010101" pitchFamily="2" charset="-122"/>
              </a:rPr>
              <a:t>和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瓷器</a:t>
            </a:r>
            <a:r>
              <a:rPr lang="zh-CN" altLang="en-US" dirty="0">
                <a:latin typeface="宋体" panose="02010600030101010101" pitchFamily="2" charset="-122"/>
              </a:rPr>
              <a:t>、现作为各种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无机非金属材料</a:t>
            </a:r>
            <a:r>
              <a:rPr lang="zh-CN" altLang="en-US" dirty="0">
                <a:latin typeface="宋体" panose="0201060003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通称。</a:t>
            </a:r>
            <a:r>
              <a:rPr lang="zh-CN" altLang="en-US" dirty="0">
                <a:solidFill>
                  <a:srgbClr val="FF0000"/>
                </a:solidFill>
              </a:rPr>
              <a:t>氧化物、碳化物、氮化物、硼化物</a:t>
            </a:r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特点：</a:t>
            </a:r>
            <a:r>
              <a:rPr lang="zh-CN" altLang="en-US" dirty="0">
                <a:latin typeface="宋体" panose="02010600030101010101" pitchFamily="2" charset="-122"/>
              </a:rPr>
              <a:t>熔点高、硬度高、化学稳定性好、重量轻、弹性模量大、强度高、耐磨、耐蚀、耐氧化、</a:t>
            </a:r>
            <a:endParaRPr lang="zh-CN" altLang="en-US" dirty="0"/>
          </a:p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应用：</a:t>
            </a:r>
            <a:r>
              <a:rPr lang="zh-CN" altLang="en-US" dirty="0"/>
              <a:t>广泛（结构材料、功能材料）</a:t>
            </a:r>
            <a:endParaRPr lang="zh-CN" altLang="en-US" dirty="0"/>
          </a:p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结合键：</a:t>
            </a:r>
            <a:r>
              <a:rPr lang="zh-CN" altLang="en-US" dirty="0"/>
              <a:t>离子键、共价键或离子、共价混合键</a:t>
            </a:r>
            <a:endParaRPr lang="zh-CN" altLang="en-US" dirty="0"/>
          </a:p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结构比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金属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复杂得多</a:t>
            </a:r>
            <a:endParaRPr lang="zh-CN" altLang="en-US" b="1" dirty="0">
              <a:solidFill>
                <a:schemeClr val="folHlink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相组成：</a:t>
            </a:r>
            <a:r>
              <a:rPr lang="zh-CN" altLang="en-US" b="1" dirty="0">
                <a:solidFill>
                  <a:srgbClr val="3333FF"/>
                </a:solidFill>
              </a:rPr>
              <a:t>晶相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0000"/>
                </a:solidFill>
              </a:rPr>
              <a:t>玻璃相</a:t>
            </a:r>
            <a:r>
              <a:rPr lang="zh-CN" altLang="en-US" dirty="0"/>
              <a:t>、</a:t>
            </a:r>
            <a:r>
              <a:rPr lang="zh-CN" altLang="en-US" b="1" dirty="0">
                <a:solidFill>
                  <a:srgbClr val="3333FF"/>
                </a:solidFill>
              </a:rPr>
              <a:t>气相</a:t>
            </a:r>
            <a:endParaRPr lang="zh-CN" altLang="en-US" dirty="0"/>
          </a:p>
        </p:txBody>
      </p:sp>
      <p:sp>
        <p:nvSpPr>
          <p:cNvPr id="90117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42088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圆角矩形 4" descr="7b0a202020202262756c6c6574223a20227b5c2263617465676f727949645c223a31303032352c5c2274656d706c61746549645c223a32303233313437347d220a7d0a"/>
          <p:cNvSpPr/>
          <p:nvPr>
            <p:custDataLst>
              <p:tags r:id="rId2"/>
            </p:custDataLst>
          </p:nvPr>
        </p:nvSpPr>
        <p:spPr>
          <a:xfrm>
            <a:off x="323850" y="1844675"/>
            <a:ext cx="1019175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陶瓷</a:t>
            </a:r>
            <a:endParaRPr lang="zh-CN" altLang="en-US" sz="2800" b="1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91138" name="Rectangle 2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b"/>
          <a:lstStyle/>
          <a:p>
            <a:pPr eaLnBrk="1" hangingPunct="1"/>
            <a:r>
              <a:rPr lang="zh-CN" altLang="en-US" b="1" dirty="0">
                <a:solidFill>
                  <a:schemeClr val="hlink"/>
                </a:solidFill>
                <a:ea typeface="华文中宋" panose="02010600040101010101" pitchFamily="2" charset="-122"/>
              </a:rPr>
              <a:t>陶瓷的晶相</a:t>
            </a:r>
            <a:endParaRPr lang="zh-CN" altLang="en-US" b="1" dirty="0">
              <a:solidFill>
                <a:schemeClr val="hlink"/>
              </a:solidFill>
              <a:ea typeface="华文中宋" panose="02010600040101010101" pitchFamily="2" charset="-122"/>
            </a:endParaRPr>
          </a:p>
        </p:txBody>
      </p:sp>
      <p:sp>
        <p:nvSpPr>
          <p:cNvPr id="91139" name="Rectangle 3"/>
          <p:cNvSpPr>
            <a:spLocks noGrp="1"/>
          </p:cNvSpPr>
          <p:nvPr>
            <p:ph sz="half" idx="1"/>
          </p:nvPr>
        </p:nvSpPr>
        <p:spPr>
          <a:xfrm>
            <a:off x="411480" y="1850390"/>
            <a:ext cx="8543925" cy="2866390"/>
          </a:xfrm>
        </p:spPr>
        <p:txBody>
          <a:bodyPr wrap="square" lIns="91440" tIns="45720" rIns="91440" bIns="45720" anchor="t"/>
          <a:lstStyle/>
          <a:p>
            <a:pPr eaLnBrk="1" hangingPunct="1">
              <a:buSzPct val="60000"/>
            </a:pPr>
            <a:r>
              <a:rPr lang="zh-CN" altLang="en-US" b="1" dirty="0">
                <a:solidFill>
                  <a:srgbClr val="0066FF"/>
                </a:solidFill>
                <a:latin typeface="+mn-lt"/>
                <a:ea typeface="+mn-ea"/>
                <a:cs typeface="+mn-cs"/>
              </a:rPr>
              <a:t>晶相</a:t>
            </a:r>
            <a:r>
              <a:rPr lang="zh-CN" altLang="en-US" dirty="0">
                <a:latin typeface="+mn-lt"/>
                <a:ea typeface="+mn-ea"/>
                <a:cs typeface="+mn-cs"/>
              </a:rPr>
              <a:t>是陶瓷材料中的</a:t>
            </a:r>
            <a:r>
              <a:rPr lang="zh-CN" altLang="en-US" b="1" dirty="0">
                <a:solidFill>
                  <a:srgbClr val="0033CC"/>
                </a:solidFill>
                <a:latin typeface="+mn-lt"/>
                <a:ea typeface="+mn-ea"/>
                <a:cs typeface="+mn-cs"/>
              </a:rPr>
              <a:t>主要相</a:t>
            </a:r>
            <a:r>
              <a:rPr lang="zh-CN" altLang="en-US" dirty="0">
                <a:latin typeface="+mn-lt"/>
                <a:ea typeface="+mn-ea"/>
                <a:cs typeface="+mn-cs"/>
              </a:rPr>
              <a:t>，决定陶瓷材料的物理、化学性能。</a:t>
            </a:r>
            <a:endParaRPr lang="zh-CN" altLang="en-US" dirty="0">
              <a:latin typeface="+mn-lt"/>
              <a:ea typeface="+mn-ea"/>
              <a:cs typeface="+mn-cs"/>
            </a:endParaRPr>
          </a:p>
          <a:p>
            <a:pPr eaLnBrk="1" hangingPunct="1">
              <a:buSzPct val="60000"/>
            </a:pPr>
            <a:r>
              <a:rPr lang="zh-CN" altLang="en-US" dirty="0">
                <a:latin typeface="+mn-lt"/>
                <a:ea typeface="+mn-ea"/>
                <a:cs typeface="+mn-cs"/>
              </a:rPr>
              <a:t>陶瓷材料的</a:t>
            </a:r>
            <a:r>
              <a:rPr lang="zh-CN" altLang="en-US" b="1" dirty="0">
                <a:solidFill>
                  <a:srgbClr val="0066FF"/>
                </a:solidFill>
                <a:latin typeface="+mn-lt"/>
                <a:ea typeface="+mn-ea"/>
                <a:cs typeface="+mn-cs"/>
              </a:rPr>
              <a:t>晶体类型</a:t>
            </a:r>
            <a:r>
              <a:rPr lang="zh-CN" altLang="en-US" dirty="0">
                <a:latin typeface="+mn-lt"/>
                <a:ea typeface="+mn-ea"/>
                <a:cs typeface="+mn-cs"/>
              </a:rPr>
              <a:t>及其</a:t>
            </a:r>
            <a:r>
              <a:rPr lang="zh-CN" altLang="en-US" b="1" dirty="0">
                <a:solidFill>
                  <a:srgbClr val="0033CC"/>
                </a:solidFill>
                <a:latin typeface="+mn-lt"/>
                <a:ea typeface="+mn-ea"/>
                <a:cs typeface="+mn-cs"/>
              </a:rPr>
              <a:t>复杂</a:t>
            </a:r>
            <a:r>
              <a:rPr lang="zh-CN" altLang="en-US" dirty="0">
                <a:latin typeface="+mn-lt"/>
                <a:ea typeface="+mn-ea"/>
                <a:cs typeface="+mn-cs"/>
              </a:rPr>
              <a:t>程度都超过金属晶体。</a:t>
            </a:r>
            <a:endParaRPr lang="zh-CN" altLang="en-US" dirty="0">
              <a:latin typeface="+mn-lt"/>
              <a:ea typeface="+mn-ea"/>
              <a:cs typeface="+mn-cs"/>
            </a:endParaRPr>
          </a:p>
          <a:p>
            <a:pPr eaLnBrk="1" hangingPunct="1">
              <a:buSzPct val="60000"/>
            </a:pPr>
            <a:r>
              <a:rPr lang="zh-CN" altLang="en-US" b="1" dirty="0">
                <a:solidFill>
                  <a:srgbClr val="0033CC"/>
                </a:solidFill>
                <a:latin typeface="+mn-lt"/>
                <a:ea typeface="+mn-ea"/>
                <a:cs typeface="+mn-cs"/>
              </a:rPr>
              <a:t>类型</a:t>
            </a:r>
            <a:r>
              <a:rPr lang="zh-CN" altLang="en-US" dirty="0">
                <a:latin typeface="+mn-lt"/>
                <a:ea typeface="+mn-ea"/>
                <a:cs typeface="+mn-cs"/>
              </a:rPr>
              <a:t>：大多为</a:t>
            </a:r>
            <a:r>
              <a:rPr lang="zh-CN" altLang="en-US" b="1" dirty="0">
                <a:solidFill>
                  <a:srgbClr val="0066FF"/>
                </a:solidFill>
                <a:latin typeface="+mn-lt"/>
                <a:ea typeface="+mn-ea"/>
                <a:cs typeface="+mn-cs"/>
              </a:rPr>
              <a:t>离子晶体</a:t>
            </a:r>
            <a:r>
              <a:rPr lang="zh-CN" altLang="en-US" dirty="0">
                <a:latin typeface="+mn-lt"/>
                <a:ea typeface="+mn-ea"/>
                <a:cs typeface="+mn-cs"/>
              </a:rPr>
              <a:t>或</a:t>
            </a:r>
            <a:r>
              <a:rPr lang="zh-CN" altLang="en-US" b="1" dirty="0">
                <a:solidFill>
                  <a:srgbClr val="0066FF"/>
                </a:solidFill>
                <a:latin typeface="+mn-lt"/>
                <a:ea typeface="+mn-ea"/>
                <a:cs typeface="+mn-cs"/>
              </a:rPr>
              <a:t>共价晶体。</a:t>
            </a:r>
            <a:endParaRPr lang="zh-CN" altLang="en-US" b="1" dirty="0">
              <a:solidFill>
                <a:srgbClr val="0066FF"/>
              </a:solidFill>
              <a:latin typeface="+mn-lt"/>
              <a:ea typeface="+mn-ea"/>
              <a:cs typeface="+mn-cs"/>
            </a:endParaRPr>
          </a:p>
          <a:p>
            <a:pPr eaLnBrk="1" hangingPunct="1">
              <a:buSzPct val="60000"/>
            </a:pPr>
            <a:r>
              <a:rPr lang="zh-CN" altLang="en-US" b="1" dirty="0">
                <a:solidFill>
                  <a:srgbClr val="0066FF"/>
                </a:solidFill>
                <a:latin typeface="+mn-lt"/>
                <a:ea typeface="+mn-ea"/>
                <a:cs typeface="+mn-cs"/>
              </a:rPr>
              <a:t>离子晶体的</a:t>
            </a:r>
            <a:r>
              <a:rPr lang="zh-CN" altLang="en-US" b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配位数</a:t>
            </a:r>
            <a:r>
              <a:rPr lang="zh-CN" altLang="en-US" b="1" dirty="0">
                <a:solidFill>
                  <a:srgbClr val="0066FF"/>
                </a:solidFill>
                <a:latin typeface="+mn-lt"/>
                <a:ea typeface="+mn-ea"/>
                <a:cs typeface="+mn-cs"/>
              </a:rPr>
              <a:t>取决于离子半径的大小。</a:t>
            </a:r>
            <a:endParaRPr lang="zh-CN" altLang="en-US" b="1" dirty="0">
              <a:solidFill>
                <a:srgbClr val="0066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1141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35738"/>
            <a:ext cx="1905000" cy="328612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91142" name="图片 2" descr="表2-6 002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150938" y="4343400"/>
            <a:ext cx="7265987" cy="23574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59825" y="6591300"/>
            <a:ext cx="409575" cy="266700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92162" name="Rectangle 2"/>
          <p:cNvSpPr>
            <a:spLocks noGrp="1"/>
          </p:cNvSpPr>
          <p:nvPr>
            <p:ph type="title"/>
          </p:nvPr>
        </p:nvSpPr>
        <p:spPr>
          <a:xfrm>
            <a:off x="1908175" y="404813"/>
            <a:ext cx="6548438" cy="1143000"/>
          </a:xfrm>
        </p:spPr>
        <p:txBody>
          <a:bodyPr wrap="square" lIns="91440" tIns="45720" rIns="91440" bIns="45720" anchor="b"/>
          <a:lstStyle/>
          <a:p>
            <a:pPr eaLnBrk="1" hangingPunct="1"/>
            <a:r>
              <a:rPr lang="zh-CN" altLang="en-US" b="1" dirty="0">
                <a:solidFill>
                  <a:schemeClr val="hlink"/>
                </a:solidFill>
                <a:ea typeface="华文中宋" panose="02010600040101010101" pitchFamily="2" charset="-122"/>
              </a:rPr>
              <a:t>硅酸盐</a:t>
            </a:r>
            <a:r>
              <a:rPr lang="zh-CN" altLang="en-US" dirty="0">
                <a:solidFill>
                  <a:schemeClr val="tx1"/>
                </a:solidFill>
              </a:rPr>
              <a:t>的</a:t>
            </a:r>
            <a:r>
              <a:rPr lang="zh-CN" altLang="en-US" b="1" dirty="0">
                <a:solidFill>
                  <a:schemeClr val="hlink"/>
                </a:solidFill>
              </a:rPr>
              <a:t>晶体结构</a:t>
            </a:r>
            <a:endParaRPr lang="zh-CN" altLang="en-US" b="1" dirty="0">
              <a:solidFill>
                <a:schemeClr val="hlink"/>
              </a:solidFill>
            </a:endParaRPr>
          </a:p>
        </p:txBody>
      </p:sp>
      <p:sp>
        <p:nvSpPr>
          <p:cNvPr id="92163" name="Rectangle 3"/>
          <p:cNvSpPr>
            <a:spLocks noGrp="1"/>
          </p:cNvSpPr>
          <p:nvPr>
            <p:ph idx="1"/>
          </p:nvPr>
        </p:nvSpPr>
        <p:spPr>
          <a:xfrm>
            <a:off x="428625" y="1857375"/>
            <a:ext cx="8501063" cy="4454525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rgbClr val="3333FF"/>
                </a:solidFill>
                <a:ea typeface="华文中宋" panose="02010600040101010101" pitchFamily="2" charset="-122"/>
              </a:rPr>
              <a:t>硅酸盐</a:t>
            </a:r>
            <a:r>
              <a:rPr lang="zh-CN" altLang="en-US" b="1" dirty="0">
                <a:solidFill>
                  <a:schemeClr val="tx1"/>
                </a:solidFill>
                <a:ea typeface="华文中宋" panose="02010600040101010101" pitchFamily="2" charset="-122"/>
              </a:rPr>
              <a:t>是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普通陶瓷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的主要成分，其晶体结构比较复杂。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主体：硅氧四面体（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SiO</a:t>
            </a:r>
            <a:r>
              <a:rPr lang="en-US" altLang="zh-CN" b="1" baseline="-25000" dirty="0">
                <a:solidFill>
                  <a:schemeClr val="folHlink"/>
                </a:solidFill>
                <a:ea typeface="华文中宋" panose="02010600040101010101" pitchFamily="2" charset="-122"/>
              </a:rPr>
              <a:t>4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pic>
        <p:nvPicPr>
          <p:cNvPr id="92164" name="Picture 4" descr="〈工程材料〉图2-22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357188" y="3714750"/>
            <a:ext cx="2540000" cy="23669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165" name="Picture 5" descr="〈工程材料〉图2-2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86125" y="3500438"/>
            <a:ext cx="5376863" cy="33575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167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28063" y="6530975"/>
            <a:ext cx="485775" cy="296863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93186" name="Rectangle 2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b"/>
          <a:lstStyle/>
          <a:p>
            <a:pPr eaLnBrk="1" hangingPunct="1"/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氧化物</a:t>
            </a:r>
            <a:r>
              <a:rPr lang="zh-CN" altLang="en-US" dirty="0">
                <a:solidFill>
                  <a:srgbClr val="FF0000"/>
                </a:solidFill>
              </a:rPr>
              <a:t>的</a:t>
            </a:r>
            <a:r>
              <a:rPr lang="zh-CN" altLang="en-US" b="1" dirty="0">
                <a:solidFill>
                  <a:srgbClr val="FF0000"/>
                </a:solidFill>
              </a:rPr>
              <a:t>晶体结构</a:t>
            </a:r>
            <a:endParaRPr lang="zh-CN" altLang="en-US" b="1" dirty="0">
              <a:solidFill>
                <a:schemeClr val="hlink"/>
              </a:solidFill>
            </a:endParaRPr>
          </a:p>
        </p:txBody>
      </p:sp>
      <p:sp>
        <p:nvSpPr>
          <p:cNvPr id="93187" name="Rectangle 3"/>
          <p:cNvSpPr>
            <a:spLocks noGrp="1"/>
          </p:cNvSpPr>
          <p:nvPr>
            <p:ph sz="half" idx="1"/>
          </p:nvPr>
        </p:nvSpPr>
        <p:spPr>
          <a:xfrm>
            <a:off x="430213" y="2017713"/>
            <a:ext cx="8031162" cy="4114800"/>
          </a:xfrm>
        </p:spPr>
        <p:txBody>
          <a:bodyPr wrap="square" lIns="91440" tIns="45720" rIns="91440" bIns="45720" anchor="t"/>
          <a:lstStyle/>
          <a:p>
            <a:pPr eaLnBrk="1" hangingPunct="1">
              <a:buSzPct val="60000"/>
            </a:pPr>
            <a:r>
              <a:rPr lang="zh-CN" altLang="en-US" b="1" dirty="0">
                <a:solidFill>
                  <a:srgbClr val="0066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氧化物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、</a:t>
            </a:r>
            <a:r>
              <a:rPr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碳化物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、</a:t>
            </a:r>
            <a:r>
              <a:rPr lang="zh-CN" altLang="en-US" b="1" dirty="0">
                <a:solidFill>
                  <a:srgbClr val="0066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氮化物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、</a:t>
            </a:r>
            <a:r>
              <a:rPr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硼化物</a:t>
            </a:r>
            <a:r>
              <a:rPr lang="zh-CN" altLang="en-US" b="1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rPr>
              <a:t>等</a:t>
            </a:r>
            <a:r>
              <a:rPr lang="zh-CN" altLang="en-US" b="1" dirty="0">
                <a:solidFill>
                  <a:srgbClr val="0066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化合物</a:t>
            </a:r>
            <a:r>
              <a:rPr lang="zh-CN" altLang="en-US" b="1" dirty="0">
                <a:solidFill>
                  <a:schemeClr val="folHlink"/>
                </a:solidFill>
                <a:latin typeface="+mn-lt"/>
                <a:ea typeface="华文中宋" panose="02010600040101010101" pitchFamily="2" charset="-122"/>
                <a:cs typeface="+mn-cs"/>
              </a:rPr>
              <a:t>的晶体结构比较简单。</a:t>
            </a:r>
            <a:endParaRPr lang="zh-CN" altLang="en-US" b="1" dirty="0">
              <a:solidFill>
                <a:schemeClr val="folHlink"/>
              </a:solidFill>
              <a:latin typeface="+mn-lt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93189" name="日期占位符 1"/>
          <p:cNvSpPr>
            <a:spLocks noGrp="1"/>
          </p:cNvSpPr>
          <p:nvPr>
            <p:ph type="dt" sz="half" idx="10"/>
          </p:nvPr>
        </p:nvSpPr>
        <p:spPr>
          <a:xfrm>
            <a:off x="69850" y="6508750"/>
            <a:ext cx="1905000" cy="319088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93190" name="Picture 4" descr="〈工程材料〉表"/>
          <p:cNvPicPr>
            <a:picLocks noGrp="1" noChangeAspect="1"/>
          </p:cNvPicPr>
          <p:nvPr>
            <p:ph sz="half" idx="2"/>
          </p:nvPr>
        </p:nvPicPr>
        <p:blipFill>
          <a:blip r:embed="rId1" cstate="print"/>
          <a:stretch>
            <a:fillRect/>
          </a:stretch>
        </p:blipFill>
        <p:spPr>
          <a:xfrm>
            <a:off x="430213" y="3127375"/>
            <a:ext cx="8513762" cy="3095625"/>
          </a:xfrm>
        </p:spPr>
      </p:pic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10575" y="6524625"/>
            <a:ext cx="536575" cy="309563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94210" name="Rectangle 2"/>
          <p:cNvSpPr>
            <a:spLocks noGrp="1"/>
          </p:cNvSpPr>
          <p:nvPr>
            <p:ph type="title"/>
          </p:nvPr>
        </p:nvSpPr>
        <p:spPr>
          <a:xfrm>
            <a:off x="2571750" y="285750"/>
            <a:ext cx="5907088" cy="936625"/>
          </a:xfrm>
        </p:spPr>
        <p:txBody>
          <a:bodyPr wrap="square" lIns="91440" tIns="45720" rIns="91440" bIns="45720" anchor="b"/>
          <a:lstStyle/>
          <a:p>
            <a:pPr eaLnBrk="1" hangingPunct="1"/>
            <a:r>
              <a:rPr lang="zh-CN" altLang="en-US" b="1" dirty="0">
                <a:solidFill>
                  <a:schemeClr val="hlink"/>
                </a:solidFill>
                <a:ea typeface="华文中宋" panose="02010600040101010101" pitchFamily="2" charset="-122"/>
              </a:rPr>
              <a:t>陶瓷的晶相</a:t>
            </a:r>
            <a:endParaRPr lang="zh-CN" altLang="en-US" b="1" dirty="0">
              <a:solidFill>
                <a:schemeClr val="hlink"/>
              </a:solidFill>
              <a:ea typeface="华文中宋" panose="02010600040101010101" pitchFamily="2" charset="-122"/>
            </a:endParaRPr>
          </a:p>
        </p:txBody>
      </p:sp>
      <p:sp>
        <p:nvSpPr>
          <p:cNvPr id="94211" name="Rectangle 3"/>
          <p:cNvSpPr>
            <a:spLocks noGrp="1"/>
          </p:cNvSpPr>
          <p:nvPr>
            <p:ph idx="1"/>
          </p:nvPr>
        </p:nvSpPr>
        <p:spPr>
          <a:xfrm>
            <a:off x="755650" y="1989138"/>
            <a:ext cx="7772400" cy="4368800"/>
          </a:xfrm>
        </p:spPr>
        <p:txBody>
          <a:bodyPr wrap="square" lIns="91440" tIns="45720" rIns="91440" bIns="45720" anchor="t"/>
          <a:lstStyle/>
          <a:p>
            <a:pPr eaLnBrk="1" hangingPunct="1"/>
            <a:endParaRPr lang="zh-CN" altLang="en-US" dirty="0"/>
          </a:p>
          <a:p>
            <a:pPr eaLnBrk="1" hangingPunct="1"/>
            <a:r>
              <a:rPr lang="zh-CN" altLang="en-US" b="1" dirty="0">
                <a:solidFill>
                  <a:srgbClr val="FF0000"/>
                </a:solidFill>
              </a:rPr>
              <a:t>晶粒大小</a:t>
            </a:r>
            <a:r>
              <a:rPr lang="zh-CN" altLang="en-US" b="1" dirty="0">
                <a:solidFill>
                  <a:srgbClr val="0000FF"/>
                </a:solidFill>
              </a:rPr>
              <a:t>对陶瓷的性能影响很大</a:t>
            </a:r>
            <a:r>
              <a:rPr lang="zh-CN" altLang="en-US" dirty="0"/>
              <a:t>：</a:t>
            </a:r>
            <a:r>
              <a:rPr lang="zh-CN" altLang="en-US" b="1" dirty="0">
                <a:solidFill>
                  <a:srgbClr val="0000FF"/>
                </a:solidFill>
              </a:rPr>
              <a:t>晶粒越细</a:t>
            </a:r>
            <a:r>
              <a:rPr lang="zh-CN" altLang="en-US" dirty="0"/>
              <a:t>，</a:t>
            </a:r>
            <a:r>
              <a:rPr lang="zh-CN" altLang="en-US" b="1" dirty="0">
                <a:solidFill>
                  <a:srgbClr val="0000FF"/>
                </a:solidFill>
              </a:rPr>
              <a:t>晶界总面积越大</a:t>
            </a:r>
            <a:r>
              <a:rPr lang="zh-CN" altLang="en-US" dirty="0"/>
              <a:t>，裂纹越不容易扩展，材料的</a:t>
            </a:r>
            <a:r>
              <a:rPr lang="zh-CN" altLang="en-US" b="1" dirty="0">
                <a:solidFill>
                  <a:srgbClr val="0000FF"/>
                </a:solidFill>
              </a:rPr>
              <a:t>强度越高</a:t>
            </a:r>
            <a:r>
              <a:rPr lang="zh-CN" altLang="en-US" dirty="0"/>
              <a:t>。</a:t>
            </a:r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r>
              <a:rPr lang="zh-CN" altLang="en-US" dirty="0"/>
              <a:t>这与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金属材料</a:t>
            </a:r>
            <a:r>
              <a:rPr lang="zh-CN" altLang="en-US" dirty="0"/>
              <a:t>很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相似。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/>
            <a:endParaRPr lang="zh-CN" altLang="en-US" dirty="0"/>
          </a:p>
          <a:p>
            <a:pPr eaLnBrk="1" hangingPunct="1"/>
            <a:endParaRPr lang="zh-CN" altLang="en-US" b="1" dirty="0">
              <a:solidFill>
                <a:srgbClr val="0066FF"/>
              </a:solidFill>
            </a:endParaRPr>
          </a:p>
        </p:txBody>
      </p:sp>
      <p:sp>
        <p:nvSpPr>
          <p:cNvPr id="94213" name="日期占位符 1"/>
          <p:cNvSpPr>
            <a:spLocks noGrp="1"/>
          </p:cNvSpPr>
          <p:nvPr>
            <p:ph type="dt" sz="half" idx="10"/>
          </p:nvPr>
        </p:nvSpPr>
        <p:spPr>
          <a:xfrm>
            <a:off x="79375" y="6524625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28075" y="6559550"/>
            <a:ext cx="409575" cy="298450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95234" name="Rectangle 2"/>
          <p:cNvSpPr>
            <a:spLocks noGrp="1"/>
          </p:cNvSpPr>
          <p:nvPr>
            <p:ph type="title"/>
          </p:nvPr>
        </p:nvSpPr>
        <p:spPr>
          <a:xfrm>
            <a:off x="3132138" y="188913"/>
            <a:ext cx="5180012" cy="792162"/>
          </a:xfrm>
        </p:spPr>
        <p:txBody>
          <a:bodyPr wrap="square" lIns="91440" tIns="45720" rIns="91440" bIns="45720" anchor="b"/>
          <a:lstStyle/>
          <a:p>
            <a:pPr eaLnBrk="1" hangingPunct="1"/>
            <a:r>
              <a:rPr lang="zh-CN" altLang="en-US" b="1" dirty="0">
                <a:solidFill>
                  <a:schemeClr val="hlink"/>
                </a:solidFill>
                <a:ea typeface="华文中宋" panose="02010600040101010101" pitchFamily="2" charset="-122"/>
              </a:rPr>
              <a:t>玻璃相</a:t>
            </a:r>
            <a:endParaRPr lang="zh-CN" altLang="en-US" b="1" dirty="0">
              <a:solidFill>
                <a:schemeClr val="hlink"/>
              </a:solidFill>
              <a:ea typeface="华文中宋" panose="02010600040101010101" pitchFamily="2" charset="-122"/>
            </a:endParaRPr>
          </a:p>
        </p:txBody>
      </p:sp>
      <p:sp>
        <p:nvSpPr>
          <p:cNvPr id="95235" name="Rectangle 3"/>
          <p:cNvSpPr>
            <a:spLocks noGrp="1"/>
          </p:cNvSpPr>
          <p:nvPr>
            <p:ph idx="1"/>
          </p:nvPr>
        </p:nvSpPr>
        <p:spPr>
          <a:xfrm>
            <a:off x="971550" y="3786188"/>
            <a:ext cx="7921625" cy="2309812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玻璃相：</a:t>
            </a:r>
            <a:r>
              <a:rPr lang="zh-CN" altLang="en-US" b="1" dirty="0">
                <a:solidFill>
                  <a:srgbClr val="3333FF"/>
                </a:solidFill>
              </a:rPr>
              <a:t>非晶态结构</a:t>
            </a:r>
            <a:r>
              <a:rPr lang="zh-CN" altLang="en-US" dirty="0"/>
              <a:t>的</a:t>
            </a:r>
            <a:r>
              <a:rPr lang="zh-CN" altLang="en-US" b="1" dirty="0">
                <a:solidFill>
                  <a:srgbClr val="3333FF"/>
                </a:solidFill>
              </a:rPr>
              <a:t>低熔点</a:t>
            </a:r>
            <a:r>
              <a:rPr lang="zh-CN" altLang="en-US" dirty="0"/>
              <a:t>固体。</a:t>
            </a:r>
            <a:endParaRPr lang="zh-CN" altLang="en-US" dirty="0"/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作用：</a:t>
            </a:r>
            <a:r>
              <a:rPr lang="zh-CN" altLang="en-US" dirty="0"/>
              <a:t>填充晶粒间隙、黏结、提高致密度、降低烧结温度，抑制晶粒长大。</a:t>
            </a:r>
            <a:endParaRPr lang="zh-CN" altLang="en-US" dirty="0"/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特点：</a:t>
            </a:r>
            <a:r>
              <a:rPr lang="zh-CN" altLang="en-US" dirty="0"/>
              <a:t>强度低，绝缘性及热稳定性差</a:t>
            </a:r>
            <a:endParaRPr lang="zh-CN" altLang="en-US" dirty="0"/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玻璃化温度：</a:t>
            </a:r>
            <a:r>
              <a:rPr lang="zh-CN" altLang="en-US" dirty="0"/>
              <a:t>由</a:t>
            </a:r>
            <a:r>
              <a:rPr lang="zh-CN" altLang="en-US" b="1" dirty="0">
                <a:solidFill>
                  <a:srgbClr val="3333FF"/>
                </a:solidFill>
              </a:rPr>
              <a:t>熔体</a:t>
            </a:r>
            <a:r>
              <a:rPr lang="zh-CN" altLang="en-US" dirty="0"/>
              <a:t>转变为</a:t>
            </a:r>
            <a:r>
              <a:rPr lang="zh-CN" altLang="en-US" b="1" dirty="0">
                <a:solidFill>
                  <a:srgbClr val="3333FF"/>
                </a:solidFill>
              </a:rPr>
              <a:t>玻璃体</a:t>
            </a:r>
            <a:r>
              <a:rPr lang="zh-CN" altLang="en-US" dirty="0"/>
              <a:t>的温度</a:t>
            </a:r>
            <a:endParaRPr lang="zh-CN" altLang="en-US" dirty="0"/>
          </a:p>
        </p:txBody>
      </p:sp>
      <p:pic>
        <p:nvPicPr>
          <p:cNvPr id="95236" name="Picture 4" descr="〈工程材料〉图2-25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2071688" y="1071563"/>
            <a:ext cx="5768975" cy="27162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5238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圆角矩形 1" descr="7b0a202020202262756c6c6574223a20227b5c2263617465676f727949645c223a31303032352c5c2274656d706c61746549645c223a32303233313437347d220a7d0a"/>
          <p:cNvSpPr/>
          <p:nvPr/>
        </p:nvSpPr>
        <p:spPr>
          <a:xfrm>
            <a:off x="1331595" y="6093460"/>
            <a:ext cx="211328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玻璃化温度</a:t>
            </a:r>
            <a:endParaRPr lang="zh-CN" altLang="en-US" sz="2800" b="1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56613" y="6529388"/>
            <a:ext cx="490537" cy="309562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96258" name="Rectangle 2"/>
          <p:cNvSpPr>
            <a:spLocks noGrp="1"/>
          </p:cNvSpPr>
          <p:nvPr>
            <p:ph type="title"/>
          </p:nvPr>
        </p:nvSpPr>
        <p:spPr>
          <a:xfrm>
            <a:off x="1763713" y="0"/>
            <a:ext cx="5903912" cy="1143000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zh-CN" altLang="en-US" b="1" dirty="0">
                <a:solidFill>
                  <a:schemeClr val="hlink"/>
                </a:solidFill>
                <a:ea typeface="华文中宋" panose="02010600040101010101" pitchFamily="2" charset="-122"/>
              </a:rPr>
              <a:t>气相</a:t>
            </a:r>
            <a:endParaRPr lang="zh-CN" altLang="en-US" b="1" dirty="0">
              <a:solidFill>
                <a:schemeClr val="hlink"/>
              </a:solidFill>
              <a:ea typeface="华文中宋" panose="02010600040101010101" pitchFamily="2" charset="-122"/>
            </a:endParaRPr>
          </a:p>
        </p:txBody>
      </p:sp>
      <p:sp>
        <p:nvSpPr>
          <p:cNvPr id="96259" name="Rectangle 3"/>
          <p:cNvSpPr>
            <a:spLocks noGrp="1"/>
          </p:cNvSpPr>
          <p:nvPr>
            <p:ph idx="1"/>
          </p:nvPr>
        </p:nvSpPr>
        <p:spPr>
          <a:xfrm>
            <a:off x="684213" y="2030413"/>
            <a:ext cx="7772400" cy="3919537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hlink"/>
                </a:solidFill>
                <a:ea typeface="华文中宋" panose="02010600040101010101" pitchFamily="2" charset="-122"/>
                <a:sym typeface="+mn-ea"/>
              </a:rPr>
              <a:t>气相：</a:t>
            </a:r>
            <a:r>
              <a:rPr lang="zh-CN" altLang="en-US" dirty="0">
                <a:sym typeface="+mn-ea"/>
              </a:rPr>
              <a:t>即</a:t>
            </a:r>
            <a:r>
              <a:rPr lang="zh-CN" altLang="en-US" b="1" dirty="0">
                <a:solidFill>
                  <a:srgbClr val="0000FF"/>
                </a:solidFill>
              </a:rPr>
              <a:t>气孔</a:t>
            </a:r>
            <a:endParaRPr lang="zh-CN" altLang="en-US" dirty="0">
              <a:solidFill>
                <a:srgbClr val="0033CC"/>
              </a:solidFill>
            </a:endParaRPr>
          </a:p>
          <a:p>
            <a:pPr eaLnBrk="1" hangingPunct="1">
              <a:buNone/>
            </a:pPr>
            <a:endParaRPr lang="zh-CN" altLang="en-US" dirty="0"/>
          </a:p>
          <a:p>
            <a:pPr eaLnBrk="1" hangingPunct="1"/>
            <a:r>
              <a:rPr lang="zh-CN" altLang="en-US" dirty="0">
                <a:solidFill>
                  <a:srgbClr val="0033CC"/>
                </a:solidFill>
              </a:rPr>
              <a:t>影响</a:t>
            </a:r>
            <a:r>
              <a:rPr lang="zh-CN" altLang="en-US" dirty="0"/>
              <a:t>：裂纹源、降低强度</a:t>
            </a:r>
            <a:endParaRPr lang="zh-CN" altLang="en-US" dirty="0"/>
          </a:p>
          <a:p>
            <a:pPr eaLnBrk="1" hangingPunct="1">
              <a:buNone/>
            </a:pPr>
            <a:endParaRPr lang="zh-CN" altLang="en-US" dirty="0"/>
          </a:p>
          <a:p>
            <a:pPr eaLnBrk="1" hangingPunct="1"/>
            <a:r>
              <a:rPr lang="zh-CN" altLang="en-US" b="1" dirty="0">
                <a:solidFill>
                  <a:srgbClr val="0033CC"/>
                </a:solidFill>
              </a:rPr>
              <a:t>陶瓷气孔率：</a:t>
            </a:r>
            <a:endParaRPr lang="zh-CN" altLang="en-US" b="1" dirty="0">
              <a:solidFill>
                <a:srgbClr val="0033CC"/>
              </a:solidFill>
            </a:endParaRPr>
          </a:p>
          <a:p>
            <a:pPr eaLnBrk="1" hangingPunct="1">
              <a:buNone/>
            </a:pPr>
            <a:r>
              <a:rPr lang="zh-CN" altLang="en-US" dirty="0"/>
              <a:t>   普通陶瓷 </a:t>
            </a:r>
            <a:r>
              <a:rPr lang="en-US" altLang="zh-CN" dirty="0"/>
              <a:t>5%~10%</a:t>
            </a:r>
            <a:r>
              <a:rPr lang="zh-CN" altLang="en-US" dirty="0"/>
              <a:t>、特种陶瓷：</a:t>
            </a:r>
            <a:r>
              <a:rPr lang="en-US" altLang="zh-CN" dirty="0"/>
              <a:t>&lt;5%</a:t>
            </a:r>
            <a:endParaRPr lang="en-US" altLang="zh-CN" dirty="0"/>
          </a:p>
        </p:txBody>
      </p:sp>
      <p:sp>
        <p:nvSpPr>
          <p:cNvPr id="96261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475730"/>
            <a:ext cx="1982470" cy="296545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000875" y="6400800"/>
            <a:ext cx="1214438" cy="457200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97282" name="Rectangle 2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b"/>
          <a:lstStyle/>
          <a:p>
            <a:pPr algn="ctr" eaLnBrk="1" hangingPunct="1"/>
            <a:r>
              <a:rPr lang="zh-CN" altLang="en-US" b="1" dirty="0">
                <a:solidFill>
                  <a:schemeClr val="hlink"/>
                </a:solidFill>
                <a:ea typeface="华文中宋" panose="02010600040101010101" pitchFamily="2" charset="-122"/>
              </a:rPr>
              <a:t>陶瓷材料的晶体缺陷</a:t>
            </a:r>
            <a:endParaRPr lang="zh-CN" altLang="en-US" b="1" dirty="0">
              <a:solidFill>
                <a:schemeClr val="hlink"/>
              </a:solidFill>
              <a:ea typeface="华文中宋" panose="02010600040101010101" pitchFamily="2" charset="-122"/>
            </a:endParaRPr>
          </a:p>
        </p:txBody>
      </p:sp>
      <p:sp>
        <p:nvSpPr>
          <p:cNvPr id="97283" name="Rectangle 3"/>
          <p:cNvSpPr>
            <a:spLocks noGrp="1"/>
          </p:cNvSpPr>
          <p:nvPr>
            <p:ph idx="1"/>
          </p:nvPr>
        </p:nvSpPr>
        <p:spPr/>
        <p:txBody>
          <a:bodyPr wrap="square" lIns="91440" tIns="45720" rIns="91440" bIns="45720" anchor="t"/>
          <a:lstStyle/>
          <a:p>
            <a:pPr eaLnBrk="1" hangingPunct="1"/>
            <a:r>
              <a:rPr lang="zh-CN" altLang="en-US" dirty="0">
                <a:solidFill>
                  <a:srgbClr val="0033CC"/>
                </a:solidFill>
              </a:rPr>
              <a:t>点缺陷</a:t>
            </a:r>
            <a:endParaRPr lang="zh-CN" altLang="en-US" dirty="0">
              <a:solidFill>
                <a:srgbClr val="0033CC"/>
              </a:solidFill>
            </a:endParaRPr>
          </a:p>
          <a:p>
            <a:pPr eaLnBrk="1" hangingPunct="1">
              <a:buNone/>
            </a:pPr>
            <a:endParaRPr lang="zh-CN" altLang="en-US" dirty="0">
              <a:solidFill>
                <a:srgbClr val="0033CC"/>
              </a:solidFill>
            </a:endParaRPr>
          </a:p>
          <a:p>
            <a:pPr eaLnBrk="1" hangingPunct="1"/>
            <a:r>
              <a:rPr lang="zh-CN" altLang="en-US" dirty="0">
                <a:solidFill>
                  <a:srgbClr val="0033CC"/>
                </a:solidFill>
              </a:rPr>
              <a:t>线缺陷（位错，不如金属中多）</a:t>
            </a:r>
            <a:endParaRPr lang="zh-CN" altLang="en-US" dirty="0">
              <a:solidFill>
                <a:srgbClr val="0033CC"/>
              </a:solidFill>
            </a:endParaRPr>
          </a:p>
          <a:p>
            <a:pPr eaLnBrk="1" hangingPunct="1">
              <a:buNone/>
            </a:pPr>
            <a:endParaRPr lang="zh-CN" altLang="en-US" dirty="0">
              <a:solidFill>
                <a:srgbClr val="0033CC"/>
              </a:solidFill>
            </a:endParaRPr>
          </a:p>
          <a:p>
            <a:pPr eaLnBrk="1" hangingPunct="1"/>
            <a:r>
              <a:rPr lang="zh-CN" altLang="en-US" dirty="0">
                <a:solidFill>
                  <a:srgbClr val="0033CC"/>
                </a:solidFill>
              </a:rPr>
              <a:t>面缺陷</a:t>
            </a:r>
            <a:endParaRPr lang="zh-CN" altLang="en-US" dirty="0">
              <a:solidFill>
                <a:srgbClr val="0033CC"/>
              </a:solidFill>
            </a:endParaRPr>
          </a:p>
        </p:txBody>
      </p:sp>
      <p:sp>
        <p:nvSpPr>
          <p:cNvPr id="97284" name="AutoShape 4"/>
          <p:cNvSpPr/>
          <p:nvPr/>
        </p:nvSpPr>
        <p:spPr>
          <a:xfrm>
            <a:off x="8943975" y="6643688"/>
            <a:ext cx="200025" cy="214312"/>
          </a:xfrm>
          <a:prstGeom prst="actionButtonBackPrevious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/>
          <a:lstStyle/>
          <a:p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7286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26475" y="6613525"/>
            <a:ext cx="517525" cy="271463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90114" name="Rectangle 2"/>
          <p:cNvSpPr>
            <a:spLocks noGrp="1"/>
          </p:cNvSpPr>
          <p:nvPr>
            <p:ph type="title"/>
          </p:nvPr>
        </p:nvSpPr>
        <p:spPr>
          <a:xfrm>
            <a:off x="0" y="1988840"/>
            <a:ext cx="8856984" cy="2088232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zh-CN" altLang="en-US" sz="6600" b="1" dirty="0">
                <a:solidFill>
                  <a:schemeClr val="hlink"/>
                </a:solidFill>
                <a:ea typeface="华文中宋" panose="02010600040101010101" pitchFamily="2" charset="-122"/>
              </a:rPr>
              <a:t>高分子材料</a:t>
            </a:r>
            <a:r>
              <a:rPr lang="zh-CN" altLang="en-US" sz="6600" b="1" dirty="0">
                <a:solidFill>
                  <a:srgbClr val="FF0000"/>
                </a:solidFill>
                <a:ea typeface="华文中宋" panose="02010600040101010101" pitchFamily="2" charset="-122"/>
              </a:rPr>
              <a:t>的结构</a:t>
            </a:r>
            <a:br>
              <a:rPr lang="en-US" altLang="zh-CN" sz="6600" b="1" dirty="0">
                <a:solidFill>
                  <a:srgbClr val="FF0000"/>
                </a:solidFill>
                <a:ea typeface="华文中宋" panose="02010600040101010101" pitchFamily="2" charset="-122"/>
              </a:rPr>
            </a:br>
            <a:r>
              <a:rPr lang="en-US" altLang="zh-CN" sz="6000" b="1" i="1" dirty="0">
                <a:solidFill>
                  <a:srgbClr val="FF0000"/>
                </a:solidFill>
                <a:ea typeface="华文中宋" panose="02010600040101010101" pitchFamily="2" charset="-122"/>
              </a:rPr>
              <a:t>Structure of Polymers</a:t>
            </a:r>
            <a:endParaRPr lang="en-US" altLang="zh-CN" sz="6000" b="1" i="1" dirty="0">
              <a:solidFill>
                <a:srgbClr val="FF0000"/>
              </a:solidFill>
              <a:ea typeface="华文中宋" panose="02010600040101010101" pitchFamily="2" charset="-122"/>
            </a:endParaRPr>
          </a:p>
        </p:txBody>
      </p:sp>
      <p:sp>
        <p:nvSpPr>
          <p:cNvPr id="90117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42088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28063" y="6507163"/>
            <a:ext cx="490537" cy="350837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98306" name="Rectangle 2"/>
          <p:cNvSpPr>
            <a:spLocks noGrp="1"/>
          </p:cNvSpPr>
          <p:nvPr>
            <p:ph type="title"/>
          </p:nvPr>
        </p:nvSpPr>
        <p:spPr>
          <a:xfrm>
            <a:off x="1979613" y="188913"/>
            <a:ext cx="6477000" cy="1143000"/>
          </a:xfrm>
        </p:spPr>
        <p:txBody>
          <a:bodyPr wrap="square" lIns="91440" tIns="45720" rIns="91440" bIns="45720" anchor="b"/>
          <a:lstStyle/>
          <a:p>
            <a:pPr eaLnBrk="1" hangingPunct="1"/>
            <a:r>
              <a:rPr lang="zh-CN" altLang="en-US" b="1" dirty="0">
                <a:solidFill>
                  <a:schemeClr val="hlink"/>
                </a:solidFill>
                <a:ea typeface="华文中宋" panose="02010600040101010101" pitchFamily="2" charset="-122"/>
              </a:rPr>
              <a:t>高分子材料的结构</a:t>
            </a:r>
            <a:endParaRPr lang="zh-CN" altLang="en-US" b="1" dirty="0">
              <a:solidFill>
                <a:schemeClr val="hlink"/>
              </a:solidFill>
              <a:ea typeface="华文中宋" panose="02010600040101010101" pitchFamily="2" charset="-122"/>
            </a:endParaRPr>
          </a:p>
        </p:txBody>
      </p:sp>
      <p:sp>
        <p:nvSpPr>
          <p:cNvPr id="98307" name="Rectangle 3"/>
          <p:cNvSpPr>
            <a:spLocks noGrp="1"/>
          </p:cNvSpPr>
          <p:nvPr>
            <p:ph idx="1"/>
          </p:nvPr>
        </p:nvSpPr>
        <p:spPr>
          <a:xfrm>
            <a:off x="179388" y="1916113"/>
            <a:ext cx="8713787" cy="4330700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高分子材料：</a:t>
            </a:r>
            <a:r>
              <a:rPr lang="zh-CN" altLang="en-US" dirty="0">
                <a:latin typeface="宋体" panose="02010600030101010101" pitchFamily="2" charset="-122"/>
              </a:rPr>
              <a:t>平均分子量大于</a:t>
            </a:r>
            <a:r>
              <a:rPr lang="en-US" altLang="zh-CN" dirty="0">
                <a:latin typeface="宋体" panose="02010600030101010101" pitchFamily="2" charset="-122"/>
              </a:rPr>
              <a:t>500</a:t>
            </a:r>
            <a:r>
              <a:rPr lang="zh-CN" altLang="en-US" dirty="0">
                <a:latin typeface="宋体" panose="0201060003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有机化合物</a:t>
            </a:r>
            <a:r>
              <a:rPr lang="zh-CN" altLang="en-US" dirty="0">
                <a:latin typeface="宋体" panose="02010600030101010101" pitchFamily="2" charset="-122"/>
              </a:rPr>
              <a:t>（通常：</a:t>
            </a:r>
            <a:r>
              <a:rPr lang="en-US" altLang="zh-CN" dirty="0">
                <a:latin typeface="宋体" panose="02010600030101010101" pitchFamily="2" charset="-122"/>
              </a:rPr>
              <a:t>10</a:t>
            </a:r>
            <a:r>
              <a:rPr lang="en-US" altLang="zh-CN" baseline="30000" dirty="0">
                <a:latin typeface="宋体" panose="02010600030101010101" pitchFamily="2" charset="-122"/>
              </a:rPr>
              <a:t>3</a:t>
            </a:r>
            <a:r>
              <a:rPr lang="en-US" altLang="zh-CN" dirty="0"/>
              <a:t>~</a:t>
            </a:r>
            <a:r>
              <a:rPr lang="en-US" altLang="zh-CN" dirty="0">
                <a:latin typeface="宋体" panose="02010600030101010101" pitchFamily="2" charset="-122"/>
              </a:rPr>
              <a:t>10</a:t>
            </a:r>
            <a:r>
              <a:rPr lang="en-US" altLang="zh-CN" baseline="30000" dirty="0">
                <a:latin typeface="宋体" panose="02010600030101010101" pitchFamily="2" charset="-122"/>
              </a:rPr>
              <a:t>6</a:t>
            </a:r>
            <a:r>
              <a:rPr lang="zh-CN" altLang="en-US" dirty="0">
                <a:latin typeface="宋体" panose="02010600030101010101" pitchFamily="2" charset="-122"/>
              </a:rPr>
              <a:t>）。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聚合物、高聚物</a:t>
            </a:r>
            <a:endParaRPr lang="zh-CN" altLang="en-US" b="1" dirty="0">
              <a:solidFill>
                <a:schemeClr val="folHlink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pic>
        <p:nvPicPr>
          <p:cNvPr id="237572" name="Picture 4" descr="高表1`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403985" y="2996883"/>
            <a:ext cx="7199313" cy="36814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8310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07163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圆角矩形 4" descr="7b0a202020202262756c6c6574223a20227b5c2263617465676f727949645c223a31303032352c5c2274656d706c61746549645c223a32303233313437347d220a7d0a"/>
          <p:cNvSpPr/>
          <p:nvPr>
            <p:custDataLst>
              <p:tags r:id="rId3"/>
            </p:custDataLst>
          </p:nvPr>
        </p:nvSpPr>
        <p:spPr>
          <a:xfrm>
            <a:off x="539750" y="1988820"/>
            <a:ext cx="2106295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高分子材料</a:t>
            </a:r>
            <a:endParaRPr lang="zh-CN" altLang="en-US" sz="2800" b="1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75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75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58200" y="6527800"/>
            <a:ext cx="488950" cy="301625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99330" name="Rectangle 2"/>
          <p:cNvSpPr>
            <a:spLocks noGrp="1"/>
          </p:cNvSpPr>
          <p:nvPr>
            <p:ph type="title"/>
          </p:nvPr>
        </p:nvSpPr>
        <p:spPr>
          <a:xfrm>
            <a:off x="1908175" y="304800"/>
            <a:ext cx="6550025" cy="1143000"/>
          </a:xfrm>
        </p:spPr>
        <p:txBody>
          <a:bodyPr wrap="square" lIns="91440" tIns="45720" rIns="91440" bIns="45720" anchor="b"/>
          <a:lstStyle/>
          <a:p>
            <a:pPr eaLnBrk="1" hangingPunct="1"/>
            <a:r>
              <a:rPr lang="zh-CN" altLang="en-US" b="1" dirty="0">
                <a:solidFill>
                  <a:schemeClr val="hlink"/>
                </a:solidFill>
                <a:ea typeface="华文中宋" panose="02010600040101010101" pitchFamily="2" charset="-122"/>
              </a:rPr>
              <a:t>高分子材料的组成</a:t>
            </a:r>
            <a:endParaRPr lang="zh-CN" altLang="en-US" b="1" dirty="0">
              <a:solidFill>
                <a:schemeClr val="hlink"/>
              </a:solidFill>
              <a:latin typeface="宋体" panose="02010600030101010101" pitchFamily="2" charset="-122"/>
            </a:endParaRPr>
          </a:p>
        </p:txBody>
      </p:sp>
      <p:sp>
        <p:nvSpPr>
          <p:cNvPr id="99331" name="Rectangle 3"/>
          <p:cNvSpPr>
            <a:spLocks noGrp="1"/>
          </p:cNvSpPr>
          <p:nvPr>
            <p:ph idx="1"/>
          </p:nvPr>
        </p:nvSpPr>
        <p:spPr>
          <a:xfrm>
            <a:off x="534035" y="1989455"/>
            <a:ext cx="8609965" cy="4538345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宋体" panose="02010600030101010101" pitchFamily="2" charset="-122"/>
              </a:rPr>
              <a:t>高分子化合物的分子量虽然很大，但其</a:t>
            </a:r>
            <a:r>
              <a:rPr lang="zh-CN" altLang="en-US" b="1" dirty="0">
                <a:solidFill>
                  <a:srgbClr val="0066FF"/>
                </a:solidFill>
                <a:latin typeface="宋体" panose="02010600030101010101" pitchFamily="2" charset="-122"/>
              </a:rPr>
              <a:t>化学组成一般却比较简单</a:t>
            </a:r>
            <a:r>
              <a:rPr lang="zh-CN" altLang="en-US" dirty="0">
                <a:latin typeface="宋体" panose="02010600030101010101" pitchFamily="2" charset="-122"/>
              </a:rPr>
              <a:t>，通常由</a:t>
            </a:r>
            <a:r>
              <a:rPr lang="en-US" altLang="zh-CN" dirty="0">
                <a:solidFill>
                  <a:srgbClr val="0033CC"/>
                </a:solidFill>
                <a:latin typeface="宋体" panose="02010600030101010101" pitchFamily="2" charset="-122"/>
              </a:rPr>
              <a:t>C</a:t>
            </a:r>
            <a:r>
              <a:rPr lang="zh-CN" altLang="en-US" dirty="0">
                <a:solidFill>
                  <a:srgbClr val="0033CC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dirty="0">
                <a:solidFill>
                  <a:srgbClr val="0033CC"/>
                </a:solidFill>
                <a:latin typeface="宋体" panose="02010600030101010101" pitchFamily="2" charset="-122"/>
              </a:rPr>
              <a:t>H</a:t>
            </a:r>
            <a:r>
              <a:rPr lang="zh-CN" altLang="en-US" dirty="0">
                <a:solidFill>
                  <a:srgbClr val="0033CC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dirty="0">
                <a:solidFill>
                  <a:srgbClr val="0033CC"/>
                </a:solidFill>
                <a:latin typeface="宋体" panose="02010600030101010101" pitchFamily="2" charset="-122"/>
              </a:rPr>
              <a:t>0</a:t>
            </a:r>
            <a:r>
              <a:rPr lang="zh-CN" altLang="en-US" dirty="0">
                <a:solidFill>
                  <a:srgbClr val="0033CC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dirty="0">
                <a:solidFill>
                  <a:srgbClr val="0033CC"/>
                </a:solidFill>
                <a:latin typeface="宋体" panose="02010600030101010101" pitchFamily="2" charset="-122"/>
              </a:rPr>
              <a:t>S</a:t>
            </a:r>
            <a:r>
              <a:rPr lang="zh-CN" altLang="en-US" dirty="0">
                <a:solidFill>
                  <a:srgbClr val="0033CC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dirty="0">
                <a:solidFill>
                  <a:srgbClr val="0033CC"/>
                </a:solidFill>
                <a:latin typeface="宋体" panose="02010600030101010101" pitchFamily="2" charset="-122"/>
              </a:rPr>
              <a:t>N</a:t>
            </a:r>
            <a:r>
              <a:rPr lang="zh-CN" altLang="en-US" dirty="0">
                <a:latin typeface="宋体" panose="02010600030101010101" pitchFamily="2" charset="-122"/>
              </a:rPr>
              <a:t>等元素构成，其中主要是</a:t>
            </a:r>
            <a:r>
              <a:rPr lang="zh-CN" altLang="en-US" b="1" dirty="0">
                <a:solidFill>
                  <a:srgbClr val="0066FF"/>
                </a:solidFill>
                <a:latin typeface="宋体" panose="02010600030101010101" pitchFamily="2" charset="-122"/>
              </a:rPr>
              <a:t>碳氢化合物</a:t>
            </a:r>
            <a:r>
              <a:rPr lang="zh-CN" altLang="en-US" dirty="0">
                <a:latin typeface="宋体" panose="02010600030101010101" pitchFamily="2" charset="-122"/>
              </a:rPr>
              <a:t>及其</a:t>
            </a:r>
            <a:r>
              <a:rPr lang="zh-CN" altLang="en-US" b="1" dirty="0">
                <a:solidFill>
                  <a:srgbClr val="0066FF"/>
                </a:solidFill>
                <a:latin typeface="宋体" panose="02010600030101010101" pitchFamily="2" charset="-122"/>
              </a:rPr>
              <a:t>衍生物</a:t>
            </a:r>
            <a:r>
              <a:rPr lang="zh-CN" altLang="en-US" dirty="0">
                <a:latin typeface="宋体" panose="02010600030101010101" pitchFamily="2" charset="-122"/>
              </a:rPr>
              <a:t>。  以一定的方式重复</a:t>
            </a:r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solidFill>
                  <a:srgbClr val="0066FF"/>
                </a:solidFill>
                <a:latin typeface="宋体" panose="02010600030101010101" pitchFamily="2" charset="-122"/>
              </a:rPr>
              <a:t>单体</a:t>
            </a:r>
            <a:r>
              <a:rPr lang="en-US" altLang="zh-CN" b="1" dirty="0">
                <a:solidFill>
                  <a:srgbClr val="0066FF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folHlink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dirty="0">
                <a:latin typeface="宋体" panose="02010600030101010101" pitchFamily="2" charset="-122"/>
              </a:rPr>
              <a:t>聚合成高分子化合物的低分子化合物</a:t>
            </a:r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solidFill>
                  <a:schemeClr val="folHlink"/>
                </a:solidFill>
                <a:latin typeface="宋体" panose="02010600030101010101" pitchFamily="2" charset="-122"/>
              </a:rPr>
              <a:t>链节</a:t>
            </a:r>
            <a:r>
              <a:rPr lang="en-US" altLang="zh-CN" b="1" dirty="0">
                <a:solidFill>
                  <a:schemeClr val="folHlink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folHlink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dirty="0">
                <a:latin typeface="宋体" panose="02010600030101010101" pitchFamily="2" charset="-122"/>
              </a:rPr>
              <a:t>组成高分子化合物的相同结构单元</a:t>
            </a:r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solidFill>
                  <a:schemeClr val="folHlink"/>
                </a:solidFill>
                <a:latin typeface="宋体" panose="02010600030101010101" pitchFamily="2" charset="-122"/>
              </a:rPr>
              <a:t>聚合度：</a:t>
            </a:r>
            <a:r>
              <a:rPr lang="zh-CN" altLang="en-US" dirty="0">
                <a:latin typeface="宋体" panose="02010600030101010101" pitchFamily="2" charset="-122"/>
              </a:rPr>
              <a:t>高分子化合物中</a:t>
            </a:r>
            <a:r>
              <a:rPr lang="zh-CN" altLang="en-US" b="1" dirty="0">
                <a:solidFill>
                  <a:schemeClr val="folHlink"/>
                </a:solidFill>
                <a:latin typeface="宋体" panose="02010600030101010101" pitchFamily="2" charset="-122"/>
              </a:rPr>
              <a:t>链节的数目</a:t>
            </a:r>
            <a:r>
              <a:rPr lang="zh-CN" altLang="en-US" dirty="0">
                <a:solidFill>
                  <a:srgbClr val="3333FF"/>
                </a:solidFill>
                <a:latin typeface="宋体" panose="02010600030101010101" pitchFamily="2" charset="-122"/>
              </a:rPr>
              <a:t>。</a:t>
            </a:r>
            <a:endParaRPr lang="zh-CN" altLang="en-US" dirty="0">
              <a:solidFill>
                <a:srgbClr val="3333FF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solidFill>
                  <a:schemeClr val="folHlink"/>
                </a:solidFill>
                <a:latin typeface="宋体" panose="02010600030101010101" pitchFamily="2" charset="-122"/>
              </a:rPr>
              <a:t>结合键：</a:t>
            </a:r>
            <a:r>
              <a:rPr lang="zh-CN" altLang="en-US" b="1" dirty="0">
                <a:solidFill>
                  <a:srgbClr val="0066FF"/>
                </a:solidFill>
                <a:latin typeface="宋体" panose="02010600030101010101" pitchFamily="2" charset="-122"/>
              </a:rPr>
              <a:t>大分子链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内</a:t>
            </a:r>
            <a:r>
              <a:rPr lang="zh-CN" altLang="en-US" dirty="0">
                <a:latin typeface="宋体" panose="02010600030101010101" pitchFamily="2" charset="-122"/>
              </a:rPr>
              <a:t>原子之间的结合键为</a:t>
            </a:r>
            <a:r>
              <a:rPr lang="zh-CN" altLang="en-US" b="1" dirty="0">
                <a:solidFill>
                  <a:schemeClr val="folHlink"/>
                </a:solidFill>
                <a:latin typeface="宋体" panose="02010600030101010101" pitchFamily="2" charset="-122"/>
              </a:rPr>
              <a:t>共价键</a:t>
            </a:r>
            <a:r>
              <a:rPr lang="zh-CN" altLang="en-US" dirty="0">
                <a:latin typeface="宋体" panose="02010600030101010101" pitchFamily="2" charset="-122"/>
              </a:rPr>
              <a:t>，</a:t>
            </a:r>
            <a:r>
              <a:rPr lang="zh-CN" altLang="en-US" b="1" dirty="0">
                <a:solidFill>
                  <a:srgbClr val="0066FF"/>
                </a:solidFill>
                <a:latin typeface="宋体" panose="02010600030101010101" pitchFamily="2" charset="-122"/>
              </a:rPr>
              <a:t>大分子链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之间</a:t>
            </a:r>
            <a:r>
              <a:rPr lang="zh-CN" altLang="en-US" dirty="0">
                <a:latin typeface="宋体" panose="02010600030101010101" pitchFamily="2" charset="-122"/>
              </a:rPr>
              <a:t>的结合键为</a:t>
            </a:r>
            <a:r>
              <a:rPr lang="zh-CN" altLang="en-US" b="1" dirty="0">
                <a:solidFill>
                  <a:schemeClr val="folHlink"/>
                </a:solidFill>
                <a:latin typeface="宋体" panose="02010600030101010101" pitchFamily="2" charset="-122"/>
              </a:rPr>
              <a:t>分子键</a:t>
            </a:r>
            <a:endParaRPr lang="zh-CN" altLang="en-US" b="1" dirty="0">
              <a:solidFill>
                <a:schemeClr val="folHlink"/>
              </a:solidFill>
              <a:latin typeface="宋体" panose="02010600030101010101" pitchFamily="2" charset="-122"/>
            </a:endParaRPr>
          </a:p>
        </p:txBody>
      </p:sp>
      <p:sp>
        <p:nvSpPr>
          <p:cNvPr id="99333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527800"/>
            <a:ext cx="1979930" cy="244475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圆角矩形 6" descr="7b0a202020202262756c6c6574223a20227b5c2263617465676f727949645c223a31303032352c5c2274656d706c61746549645c223a32303233313437347d220a7d0a"/>
          <p:cNvSpPr/>
          <p:nvPr/>
        </p:nvSpPr>
        <p:spPr>
          <a:xfrm>
            <a:off x="899795" y="3861435"/>
            <a:ext cx="1054735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800" b="1" dirty="0">
                <a:solidFill>
                  <a:srgbClr val="0066FF"/>
                </a:solidFill>
                <a:latin typeface="宋体" panose="02010600030101010101" pitchFamily="2" charset="-122"/>
                <a:sym typeface="+mn-ea"/>
              </a:rPr>
              <a:t>单体</a:t>
            </a:r>
            <a:endParaRPr lang="zh-CN" altLang="en-US" sz="2800" b="1" dirty="0">
              <a:solidFill>
                <a:srgbClr val="0066FF"/>
              </a:solidFill>
              <a:latin typeface="宋体" panose="02010600030101010101" pitchFamily="2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圆角矩形 6" descr="7b0a202020202262756c6c6574223a20227b5c2263617465676f727949645c223a31303032352c5c2274656d706c61746549645c223a32303233313437347d220a7d0a"/>
          <p:cNvSpPr/>
          <p:nvPr/>
        </p:nvSpPr>
        <p:spPr>
          <a:xfrm>
            <a:off x="925195" y="4437380"/>
            <a:ext cx="1054735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800" b="1" dirty="0">
                <a:solidFill>
                  <a:srgbClr val="0066FF"/>
                </a:solidFill>
                <a:latin typeface="宋体" panose="02010600030101010101" pitchFamily="2" charset="-122"/>
                <a:sym typeface="+mn-ea"/>
              </a:rPr>
              <a:t>链节</a:t>
            </a:r>
            <a:endParaRPr lang="zh-CN" altLang="en-US" sz="2800" b="1" dirty="0">
              <a:solidFill>
                <a:srgbClr val="0066FF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3" name="圆角矩形 6" descr="7b0a202020202262756c6c6574223a20227b5c2263617465676f727949645c223a31303032352c5c2274656d706c61746549645c223a32303233313437347d220a7d0a"/>
          <p:cNvSpPr/>
          <p:nvPr/>
        </p:nvSpPr>
        <p:spPr>
          <a:xfrm>
            <a:off x="827405" y="4941570"/>
            <a:ext cx="132842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800" b="1" dirty="0">
                <a:solidFill>
                  <a:srgbClr val="0066FF"/>
                </a:solidFill>
                <a:latin typeface="宋体" panose="02010600030101010101" pitchFamily="2" charset="-122"/>
                <a:sym typeface="+mn-ea"/>
              </a:rPr>
              <a:t>聚合度</a:t>
            </a:r>
            <a:endParaRPr lang="zh-CN" altLang="en-US" sz="2800" b="1" dirty="0">
              <a:solidFill>
                <a:srgbClr val="0066FF"/>
              </a:solidFill>
              <a:latin typeface="宋体" panose="02010600030101010101" pitchFamily="2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85213" y="6551613"/>
            <a:ext cx="495300" cy="309562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00354" name="Rectangle 2"/>
          <p:cNvSpPr>
            <a:spLocks noGrp="1"/>
          </p:cNvSpPr>
          <p:nvPr>
            <p:ph type="title"/>
          </p:nvPr>
        </p:nvSpPr>
        <p:spPr>
          <a:xfrm>
            <a:off x="2339975" y="381000"/>
            <a:ext cx="6194425" cy="1143000"/>
          </a:xfrm>
        </p:spPr>
        <p:txBody>
          <a:bodyPr wrap="square" lIns="91440" tIns="45720" rIns="91440" bIns="45720" anchor="b"/>
          <a:lstStyle/>
          <a:p>
            <a:pPr eaLnBrk="1" hangingPunct="1"/>
            <a:r>
              <a:rPr lang="zh-CN" altLang="en-US" b="1" dirty="0">
                <a:solidFill>
                  <a:schemeClr val="hlink"/>
                </a:solidFill>
                <a:ea typeface="华文中宋" panose="02010600040101010101" pitchFamily="2" charset="-122"/>
              </a:rPr>
              <a:t>高分子的组成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（例）</a:t>
            </a:r>
            <a:endParaRPr lang="zh-CN" altLang="en-US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pic>
        <p:nvPicPr>
          <p:cNvPr id="239619" name="Picture 3" descr="聚氯乙烯反应`"/>
          <p:cNvPicPr>
            <a:picLocks noGrp="1" noChangeAspect="1"/>
          </p:cNvPicPr>
          <p:nvPr>
            <p:ph idx="1"/>
          </p:nvPr>
        </p:nvPicPr>
        <p:blipFill>
          <a:blip r:embed="rId1" cstate="print"/>
          <a:stretch>
            <a:fillRect/>
          </a:stretch>
        </p:blipFill>
        <p:spPr>
          <a:xfrm>
            <a:off x="838200" y="2133600"/>
            <a:ext cx="7772400" cy="3614738"/>
          </a:xfrm>
        </p:spPr>
      </p:pic>
      <p:sp>
        <p:nvSpPr>
          <p:cNvPr id="100357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8275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96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9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519863"/>
            <a:ext cx="495300" cy="319087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02402" name="Rectangle 2"/>
          <p:cNvSpPr>
            <a:spLocks noGrp="1"/>
          </p:cNvSpPr>
          <p:nvPr>
            <p:ph type="title"/>
          </p:nvPr>
        </p:nvSpPr>
        <p:spPr>
          <a:xfrm>
            <a:off x="1220466" y="-99391"/>
            <a:ext cx="7637784" cy="1013792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几种高分子材料的单体和链节</a:t>
            </a:r>
            <a:endParaRPr lang="zh-CN" altLang="en-US" b="1" dirty="0">
              <a:solidFill>
                <a:schemeClr val="hlink"/>
              </a:solidFill>
            </a:endParaRPr>
          </a:p>
        </p:txBody>
      </p:sp>
      <p:sp>
        <p:nvSpPr>
          <p:cNvPr id="102403" name="Rectangle 3"/>
          <p:cNvSpPr>
            <a:spLocks noGrp="1"/>
          </p:cNvSpPr>
          <p:nvPr>
            <p:ph idx="1"/>
          </p:nvPr>
        </p:nvSpPr>
        <p:spPr/>
        <p:txBody>
          <a:bodyPr wrap="square" lIns="91440" tIns="45720" rIns="91440" bIns="45720" anchor="t"/>
          <a:lstStyle/>
          <a:p>
            <a:pPr eaLnBrk="1" hangingPunct="1"/>
            <a:endParaRPr lang="zh-CN" altLang="en-US" dirty="0">
              <a:solidFill>
                <a:srgbClr val="0033CC"/>
              </a:solidFill>
            </a:endParaRPr>
          </a:p>
        </p:txBody>
      </p:sp>
      <p:sp>
        <p:nvSpPr>
          <p:cNvPr id="102405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9863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7" name="Picture 3" descr="高表2"/>
          <p:cNvPicPr>
            <a:picLocks noChangeAspect="1"/>
          </p:cNvPicPr>
          <p:nvPr/>
        </p:nvPicPr>
        <p:blipFill>
          <a:blip r:embed="rId1" cstate="print"/>
          <a:srcRect t="5632" b="4225"/>
          <a:stretch>
            <a:fillRect/>
          </a:stretch>
        </p:blipFill>
        <p:spPr>
          <a:xfrm>
            <a:off x="1220470" y="1929765"/>
            <a:ext cx="6934200" cy="459041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519863"/>
            <a:ext cx="495300" cy="319087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02402" name="Rectangle 2"/>
          <p:cNvSpPr>
            <a:spLocks noGrp="1"/>
          </p:cNvSpPr>
          <p:nvPr>
            <p:ph type="title"/>
          </p:nvPr>
        </p:nvSpPr>
        <p:spPr>
          <a:xfrm>
            <a:off x="1763713" y="214313"/>
            <a:ext cx="5951537" cy="1462087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zh-CN" altLang="en-US" b="1" dirty="0">
                <a:solidFill>
                  <a:schemeClr val="hlink"/>
                </a:solidFill>
              </a:rPr>
              <a:t>大分子链的结构</a:t>
            </a:r>
            <a:endParaRPr lang="zh-CN" altLang="en-US" b="1" dirty="0">
              <a:solidFill>
                <a:schemeClr val="hlink"/>
              </a:solidFill>
            </a:endParaRPr>
          </a:p>
        </p:txBody>
      </p:sp>
      <p:sp>
        <p:nvSpPr>
          <p:cNvPr id="102403" name="Rectangle 3"/>
          <p:cNvSpPr>
            <a:spLocks noGrp="1"/>
          </p:cNvSpPr>
          <p:nvPr>
            <p:ph idx="1"/>
          </p:nvPr>
        </p:nvSpPr>
        <p:spPr/>
        <p:txBody>
          <a:bodyPr wrap="square" lIns="91440" tIns="45720" rIns="91440" bIns="45720" anchor="t"/>
          <a:lstStyle/>
          <a:p>
            <a:pPr eaLnBrk="1" hangingPunct="1"/>
            <a:r>
              <a:rPr lang="zh-CN" altLang="en-US" dirty="0">
                <a:solidFill>
                  <a:srgbClr val="0033CC"/>
                </a:solidFill>
              </a:rPr>
              <a:t>大分子链的链节排列形式</a:t>
            </a:r>
            <a:endParaRPr lang="zh-CN" altLang="en-US" dirty="0">
              <a:solidFill>
                <a:srgbClr val="0033CC"/>
              </a:solidFill>
            </a:endParaRPr>
          </a:p>
          <a:p>
            <a:pPr eaLnBrk="1" hangingPunct="1"/>
            <a:endParaRPr lang="zh-CN" altLang="en-US" dirty="0">
              <a:solidFill>
                <a:srgbClr val="0033CC"/>
              </a:solidFill>
            </a:endParaRPr>
          </a:p>
          <a:p>
            <a:pPr eaLnBrk="1" hangingPunct="1"/>
            <a:r>
              <a:rPr lang="zh-CN" altLang="en-US" dirty="0">
                <a:solidFill>
                  <a:srgbClr val="0033CC"/>
                </a:solidFill>
              </a:rPr>
              <a:t>大分子链的</a:t>
            </a:r>
            <a:r>
              <a:rPr lang="zh-CN" altLang="en-US" b="1" dirty="0">
                <a:solidFill>
                  <a:srgbClr val="3333FF"/>
                </a:solidFill>
              </a:rPr>
              <a:t>柔顺性</a:t>
            </a:r>
            <a:endParaRPr lang="zh-CN" altLang="en-US" dirty="0">
              <a:solidFill>
                <a:srgbClr val="0033CC"/>
              </a:solidFill>
            </a:endParaRPr>
          </a:p>
          <a:p>
            <a:pPr eaLnBrk="1" hangingPunct="1"/>
            <a:endParaRPr lang="zh-CN" altLang="en-US" dirty="0">
              <a:solidFill>
                <a:srgbClr val="0033CC"/>
              </a:solidFill>
            </a:endParaRPr>
          </a:p>
          <a:p>
            <a:pPr eaLnBrk="1" hangingPunct="1"/>
            <a:r>
              <a:rPr lang="zh-CN" altLang="en-US" dirty="0">
                <a:solidFill>
                  <a:srgbClr val="0033CC"/>
                </a:solidFill>
              </a:rPr>
              <a:t>大分子链的形状</a:t>
            </a:r>
            <a:endParaRPr lang="zh-CN" altLang="en-US" dirty="0">
              <a:solidFill>
                <a:srgbClr val="0033CC"/>
              </a:solidFill>
            </a:endParaRPr>
          </a:p>
        </p:txBody>
      </p:sp>
      <p:sp>
        <p:nvSpPr>
          <p:cNvPr id="102405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9863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400" dirty="0"/>
            </a:fld>
            <a:endParaRPr lang="zh-CN" altLang="en-US" sz="1400" dirty="0"/>
          </a:p>
        </p:txBody>
      </p:sp>
      <p:sp>
        <p:nvSpPr>
          <p:cNvPr id="10342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03427" name="Rectangle 2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064375" cy="1462087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zh-CN" altLang="en-US" b="1" dirty="0">
                <a:solidFill>
                  <a:schemeClr val="hlink"/>
                </a:solidFill>
                <a:ea typeface="华文中宋" panose="02010600040101010101" pitchFamily="2" charset="-122"/>
              </a:rPr>
              <a:t>大分子链的链节排列形式</a:t>
            </a:r>
            <a:endParaRPr lang="zh-CN" altLang="en-US" b="1" dirty="0">
              <a:solidFill>
                <a:schemeClr val="hlink"/>
              </a:solidFill>
              <a:ea typeface="华文中宋" panose="02010600040101010101" pitchFamily="2" charset="-122"/>
            </a:endParaRPr>
          </a:p>
        </p:txBody>
      </p:sp>
      <p:sp>
        <p:nvSpPr>
          <p:cNvPr id="103428" name="Rectangle 3"/>
          <p:cNvSpPr>
            <a:spLocks noGrp="1"/>
          </p:cNvSpPr>
          <p:nvPr>
            <p:ph idx="1"/>
          </p:nvPr>
        </p:nvSpPr>
        <p:spPr>
          <a:xfrm>
            <a:off x="188913" y="1857375"/>
            <a:ext cx="8955087" cy="4357688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dirty="0"/>
              <a:t>任何大分子都是由单体按一定方式连接而成的</a:t>
            </a:r>
            <a:endParaRPr lang="zh-CN" altLang="en-US" dirty="0"/>
          </a:p>
          <a:p>
            <a:pPr eaLnBrk="1" hangingPunct="1"/>
            <a:r>
              <a:rPr lang="zh-CN" altLang="en-US" b="1" dirty="0">
                <a:solidFill>
                  <a:srgbClr val="0000FF"/>
                </a:solidFill>
              </a:rPr>
              <a:t>对称的单体</a:t>
            </a:r>
            <a:r>
              <a:rPr lang="zh-CN" altLang="en-US" dirty="0"/>
              <a:t>其主链的连接方式只有一种</a:t>
            </a:r>
            <a:endParaRPr lang="zh-CN" altLang="en-US" dirty="0"/>
          </a:p>
          <a:p>
            <a:pPr eaLnBrk="1" hangingPunct="1"/>
            <a:r>
              <a:rPr lang="zh-CN" altLang="en-US" b="1" dirty="0">
                <a:solidFill>
                  <a:srgbClr val="0000FF"/>
                </a:solidFill>
              </a:rPr>
              <a:t>不对称的单体</a:t>
            </a:r>
            <a:r>
              <a:rPr lang="zh-CN" altLang="en-US" dirty="0"/>
              <a:t>或多种单体聚合物，其主链的连接方式有多种。</a:t>
            </a:r>
            <a:endParaRPr lang="zh-CN" altLang="en-US" dirty="0"/>
          </a:p>
          <a:p>
            <a:pPr eaLnBrk="1" hangingPunct="1"/>
            <a:r>
              <a:rPr lang="zh-CN" altLang="en-US" b="1" dirty="0">
                <a:solidFill>
                  <a:srgbClr val="0000FF"/>
                </a:solidFill>
              </a:rPr>
              <a:t>取代基</a:t>
            </a:r>
            <a:r>
              <a:rPr lang="zh-CN" altLang="en-US" b="1" dirty="0">
                <a:solidFill>
                  <a:srgbClr val="0033CC"/>
                </a:solidFill>
              </a:rPr>
              <a:t>：</a:t>
            </a:r>
            <a:r>
              <a:rPr lang="zh-CN" altLang="en-US" dirty="0"/>
              <a:t>取代大分子中</a:t>
            </a:r>
            <a:r>
              <a:rPr lang="zh-CN" altLang="en-US" b="1" dirty="0">
                <a:solidFill>
                  <a:srgbClr val="0033CC"/>
                </a:solidFill>
              </a:rPr>
              <a:t>氢</a:t>
            </a:r>
            <a:r>
              <a:rPr lang="zh-CN" altLang="en-US" dirty="0"/>
              <a:t>原子的其他元素</a:t>
            </a:r>
            <a:r>
              <a:rPr lang="zh-CN" altLang="en-US" b="1" dirty="0">
                <a:solidFill>
                  <a:srgbClr val="0033CC"/>
                </a:solidFill>
              </a:rPr>
              <a:t>原子</a:t>
            </a:r>
            <a:r>
              <a:rPr lang="zh-CN" altLang="en-US" dirty="0"/>
              <a:t>或</a:t>
            </a:r>
            <a:r>
              <a:rPr lang="zh-CN" altLang="en-US" b="1" dirty="0">
                <a:solidFill>
                  <a:srgbClr val="0033CC"/>
                </a:solidFill>
              </a:rPr>
              <a:t>原子团</a:t>
            </a:r>
            <a:endParaRPr lang="zh-CN" altLang="en-US" b="1" dirty="0">
              <a:solidFill>
                <a:srgbClr val="0033CC"/>
              </a:solidFill>
            </a:endParaRPr>
          </a:p>
          <a:p>
            <a:pPr eaLnBrk="1" hangingPunct="1"/>
            <a:endParaRPr lang="en-US" altLang="zh-CN" dirty="0"/>
          </a:p>
        </p:txBody>
      </p:sp>
      <p:pic>
        <p:nvPicPr>
          <p:cNvPr id="103430" name="Picture 5" descr="fi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31750" y="5127625"/>
            <a:ext cx="9112250" cy="17303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 txBox="1"/>
          <p:nvPr/>
        </p:nvSpPr>
        <p:spPr bwMode="auto">
          <a:xfrm>
            <a:off x="0" y="6519863"/>
            <a:ext cx="1905000" cy="342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BB962C8B-B14F-4D97-AF65-F5344CB8AC3E}" type="datetime8">
              <a:rPr lang="en-US" altLang="zh-CN" sz="1400" smtClean="0"/>
            </a:fld>
            <a:endParaRPr lang="en-US" altLang="zh-CN" sz="14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09330" y="6583680"/>
            <a:ext cx="534670" cy="298450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04450" name="Rectangle 2"/>
          <p:cNvSpPr>
            <a:spLocks noGrp="1"/>
          </p:cNvSpPr>
          <p:nvPr>
            <p:ph type="title"/>
          </p:nvPr>
        </p:nvSpPr>
        <p:spPr>
          <a:xfrm>
            <a:off x="2071688" y="214313"/>
            <a:ext cx="6872287" cy="1462087"/>
          </a:xfrm>
        </p:spPr>
        <p:txBody>
          <a:bodyPr wrap="square" lIns="91440" tIns="45720" rIns="91440" bIns="45720" anchor="b"/>
          <a:lstStyle/>
          <a:p>
            <a:pPr eaLnBrk="1" hangingPunct="1"/>
            <a:r>
              <a:rPr lang="zh-CN" altLang="en-US" b="1" dirty="0">
                <a:solidFill>
                  <a:schemeClr val="hlink"/>
                </a:solidFill>
                <a:ea typeface="华文中宋" panose="02010600040101010101" pitchFamily="2" charset="-122"/>
              </a:rPr>
              <a:t>大分子链的柔顺性</a:t>
            </a:r>
            <a:endParaRPr lang="zh-CN" altLang="en-US" b="1" dirty="0">
              <a:solidFill>
                <a:schemeClr val="hlink"/>
              </a:solidFill>
              <a:ea typeface="华文中宋" panose="02010600040101010101" pitchFamily="2" charset="-122"/>
            </a:endParaRPr>
          </a:p>
        </p:txBody>
      </p:sp>
      <p:sp>
        <p:nvSpPr>
          <p:cNvPr id="104451" name="Rectangle 3"/>
          <p:cNvSpPr>
            <a:spLocks noGrp="1"/>
          </p:cNvSpPr>
          <p:nvPr>
            <p:ph idx="1"/>
          </p:nvPr>
        </p:nvSpPr>
        <p:spPr>
          <a:xfrm>
            <a:off x="188913" y="1989138"/>
            <a:ext cx="8955087" cy="4114800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dirty="0"/>
              <a:t>大分子链的</a:t>
            </a:r>
            <a:r>
              <a:rPr lang="zh-CN" altLang="en-US" dirty="0">
                <a:solidFill>
                  <a:srgbClr val="0000FF"/>
                </a:solidFill>
              </a:rPr>
              <a:t>主链</a:t>
            </a:r>
            <a:r>
              <a:rPr lang="zh-CN" altLang="en-US" dirty="0"/>
              <a:t>都是通过</a:t>
            </a:r>
            <a:r>
              <a:rPr lang="zh-CN" altLang="en-US" b="1" dirty="0">
                <a:solidFill>
                  <a:srgbClr val="0033CC"/>
                </a:solidFill>
              </a:rPr>
              <a:t>共价键</a:t>
            </a:r>
            <a:r>
              <a:rPr lang="zh-CN" altLang="en-US" dirty="0"/>
              <a:t>连接起来的，有一定的</a:t>
            </a:r>
            <a:r>
              <a:rPr lang="zh-CN" altLang="en-US" b="1" dirty="0">
                <a:solidFill>
                  <a:srgbClr val="0033CC"/>
                </a:solidFill>
              </a:rPr>
              <a:t>键长</a:t>
            </a:r>
            <a:r>
              <a:rPr lang="zh-CN" altLang="en-US" dirty="0"/>
              <a:t>和</a:t>
            </a:r>
            <a:r>
              <a:rPr lang="zh-CN" altLang="en-US" b="1" dirty="0">
                <a:solidFill>
                  <a:srgbClr val="0033CC"/>
                </a:solidFill>
              </a:rPr>
              <a:t>键角</a:t>
            </a:r>
            <a:endParaRPr lang="zh-CN" altLang="en-US" b="1" dirty="0">
              <a:solidFill>
                <a:srgbClr val="0033CC"/>
              </a:solidFill>
            </a:endParaRPr>
          </a:p>
          <a:p>
            <a:pPr eaLnBrk="1" hangingPunct="1"/>
            <a:endParaRPr lang="en-US" altLang="zh-CN" b="1" dirty="0">
              <a:solidFill>
                <a:srgbClr val="0033CC"/>
              </a:solidFill>
            </a:endParaRPr>
          </a:p>
          <a:p>
            <a:pPr eaLnBrk="1" hangingPunct="1"/>
            <a:r>
              <a:rPr lang="zh-CN" altLang="en-US" b="1" dirty="0">
                <a:solidFill>
                  <a:srgbClr val="0033CC"/>
                </a:solidFill>
              </a:rPr>
              <a:t>单键的内旋转</a:t>
            </a:r>
            <a:r>
              <a:rPr lang="zh-CN" altLang="en-US" dirty="0">
                <a:solidFill>
                  <a:srgbClr val="0033CC"/>
                </a:solidFill>
              </a:rPr>
              <a:t>：</a:t>
            </a:r>
            <a:r>
              <a:rPr lang="zh-CN" altLang="en-US" dirty="0"/>
              <a:t>在保持</a:t>
            </a:r>
            <a:r>
              <a:rPr lang="zh-CN" altLang="en-US" dirty="0">
                <a:solidFill>
                  <a:srgbClr val="0000FF"/>
                </a:solidFill>
              </a:rPr>
              <a:t>键长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0000FF"/>
                </a:solidFill>
              </a:rPr>
              <a:t>键角不变</a:t>
            </a:r>
            <a:r>
              <a:rPr lang="zh-CN" altLang="en-US" dirty="0"/>
              <a:t>的情况下，单键可以任意旋转</a:t>
            </a:r>
            <a:endParaRPr lang="zh-CN" altLang="en-US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大分子链的柔顺性：</a:t>
            </a:r>
            <a:r>
              <a:rPr lang="zh-CN" altLang="en-US" dirty="0">
                <a:solidFill>
                  <a:srgbClr val="0033CC"/>
                </a:solidFill>
              </a:rPr>
              <a:t>卷曲、变形</a:t>
            </a:r>
            <a:endParaRPr lang="zh-CN" altLang="en-US" dirty="0">
              <a:solidFill>
                <a:srgbClr val="0033CC"/>
              </a:solidFill>
            </a:endParaRPr>
          </a:p>
          <a:p>
            <a:pPr eaLnBrk="1" hangingPunct="1"/>
            <a:endParaRPr lang="en-US" altLang="zh-CN" dirty="0"/>
          </a:p>
        </p:txBody>
      </p:sp>
      <p:pic>
        <p:nvPicPr>
          <p:cNvPr id="104453" name="Picture 6" descr="fi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6732270" y="4200525"/>
            <a:ext cx="2205355" cy="23831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4454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38913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34400" y="6583363"/>
            <a:ext cx="558800" cy="266700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05474" name="Rectangle 2"/>
          <p:cNvSpPr>
            <a:spLocks noGrp="1"/>
          </p:cNvSpPr>
          <p:nvPr>
            <p:ph type="title"/>
          </p:nvPr>
        </p:nvSpPr>
        <p:spPr>
          <a:xfrm>
            <a:off x="762000" y="228600"/>
            <a:ext cx="7772400" cy="1143000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高分子材料的结构与性能</a:t>
            </a:r>
            <a:endParaRPr lang="zh-CN" altLang="en-US" b="1" dirty="0">
              <a:solidFill>
                <a:srgbClr val="FF0000"/>
              </a:solidFill>
              <a:ea typeface="华文中宋" panose="02010600040101010101" pitchFamily="2" charset="-122"/>
            </a:endParaRPr>
          </a:p>
        </p:txBody>
      </p:sp>
      <p:sp>
        <p:nvSpPr>
          <p:cNvPr id="105475" name="Rectangle 3"/>
          <p:cNvSpPr>
            <a:spLocks noGrp="1"/>
          </p:cNvSpPr>
          <p:nvPr>
            <p:ph idx="1"/>
          </p:nvPr>
        </p:nvSpPr>
        <p:spPr>
          <a:xfrm>
            <a:off x="1792288" y="2474913"/>
            <a:ext cx="7162800" cy="3200400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dirty="0"/>
              <a:t>高分子的形状与大小</a:t>
            </a:r>
            <a:endParaRPr lang="zh-CN" altLang="en-US" dirty="0"/>
          </a:p>
          <a:p>
            <a:pPr eaLnBrk="1" hangingPunct="1">
              <a:buNone/>
            </a:pPr>
            <a:endParaRPr lang="zh-CN" altLang="en-US" dirty="0"/>
          </a:p>
          <a:p>
            <a:pPr eaLnBrk="1" hangingPunct="1"/>
            <a:r>
              <a:rPr lang="zh-CN" altLang="en-US" dirty="0"/>
              <a:t>高分子间的作用力及聚集状态</a:t>
            </a:r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r>
              <a:rPr lang="zh-CN" altLang="en-US" dirty="0"/>
              <a:t>高分子的基本特点</a:t>
            </a:r>
            <a:endParaRPr lang="zh-CN" altLang="en-US" dirty="0"/>
          </a:p>
        </p:txBody>
      </p:sp>
      <p:sp>
        <p:nvSpPr>
          <p:cNvPr id="105477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07163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39175" y="6581775"/>
            <a:ext cx="504825" cy="266700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06498" name="Rectangle 2"/>
          <p:cNvSpPr>
            <a:spLocks noGrp="1"/>
          </p:cNvSpPr>
          <p:nvPr>
            <p:ph type="title"/>
          </p:nvPr>
        </p:nvSpPr>
        <p:spPr>
          <a:xfrm>
            <a:off x="1928813" y="357188"/>
            <a:ext cx="5786437" cy="785812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大分子链的形状</a:t>
            </a:r>
            <a:endParaRPr lang="zh-CN" altLang="en-US" b="1" dirty="0">
              <a:solidFill>
                <a:srgbClr val="FF0000"/>
              </a:solidFill>
              <a:ea typeface="华文中宋" panose="02010600040101010101" pitchFamily="2" charset="-122"/>
            </a:endParaRPr>
          </a:p>
        </p:txBody>
      </p:sp>
      <p:sp>
        <p:nvSpPr>
          <p:cNvPr id="106499" name="Rectangle 3"/>
          <p:cNvSpPr>
            <a:spLocks noGrp="1"/>
          </p:cNvSpPr>
          <p:nvPr>
            <p:ph idx="1"/>
          </p:nvPr>
        </p:nvSpPr>
        <p:spPr>
          <a:xfrm>
            <a:off x="357188" y="1857375"/>
            <a:ext cx="5000625" cy="472440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高分子的性能与其分子链的几何形状有着密切的关系。</a:t>
            </a:r>
            <a:endParaRPr lang="zh-CN" altLang="en-US" dirty="0"/>
          </a:p>
          <a:p>
            <a:pPr eaLnBrk="1" hangingPunct="1">
              <a:lnSpc>
                <a:spcPct val="90000"/>
              </a:lnSpc>
            </a:pP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根据分子链在</a:t>
            </a:r>
            <a:r>
              <a:rPr lang="zh-CN" altLang="en-US" b="1" dirty="0">
                <a:solidFill>
                  <a:srgbClr val="3333FF"/>
                </a:solidFill>
              </a:rPr>
              <a:t>空间排列</a:t>
            </a:r>
            <a:r>
              <a:rPr lang="zh-CN" altLang="en-US" dirty="0"/>
              <a:t>形状，可分为三种：</a:t>
            </a:r>
            <a:endParaRPr lang="zh-CN" altLang="en-US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dirty="0"/>
              <a:t> 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）线型</a:t>
            </a:r>
            <a:endParaRPr lang="zh-CN" altLang="en-US" b="1" dirty="0">
              <a:solidFill>
                <a:schemeClr val="folHlink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 （</a:t>
            </a:r>
            <a:r>
              <a:rPr lang="en-US" altLang="zh-CN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2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）支链型</a:t>
            </a:r>
            <a:endParaRPr lang="zh-CN" altLang="en-US" b="1" dirty="0">
              <a:solidFill>
                <a:schemeClr val="folHlink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 （</a:t>
            </a:r>
            <a:r>
              <a:rPr lang="en-US" altLang="zh-CN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3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）体型（网型）</a:t>
            </a:r>
            <a:endParaRPr lang="zh-CN" altLang="en-US" b="1" dirty="0">
              <a:solidFill>
                <a:schemeClr val="folHlink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pic>
        <p:nvPicPr>
          <p:cNvPr id="106500" name="Picture 4" descr="图6-1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5357813" y="2564606"/>
            <a:ext cx="3805237" cy="24399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6502" name="日期占位符 1"/>
          <p:cNvSpPr>
            <a:spLocks noGrp="1"/>
          </p:cNvSpPr>
          <p:nvPr>
            <p:ph type="dt" sz="half" idx="10"/>
          </p:nvPr>
        </p:nvSpPr>
        <p:spPr>
          <a:xfrm>
            <a:off x="23813" y="6505575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6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6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6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6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6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6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37575" y="6540500"/>
            <a:ext cx="484188" cy="341313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07522" name="Rectangle 2"/>
          <p:cNvSpPr>
            <a:spLocks noGrp="1"/>
          </p:cNvSpPr>
          <p:nvPr>
            <p:ph type="title"/>
          </p:nvPr>
        </p:nvSpPr>
        <p:spPr>
          <a:xfrm>
            <a:off x="2214563" y="357188"/>
            <a:ext cx="5643562" cy="785812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线型高分子材料</a:t>
            </a:r>
            <a:endParaRPr lang="zh-CN" altLang="en-US" b="1" dirty="0">
              <a:solidFill>
                <a:srgbClr val="FF0000"/>
              </a:solidFill>
              <a:ea typeface="华文中宋" panose="02010600040101010101" pitchFamily="2" charset="-122"/>
            </a:endParaRPr>
          </a:p>
        </p:txBody>
      </p:sp>
      <p:sp>
        <p:nvSpPr>
          <p:cNvPr id="245763" name="Rectangle 3"/>
          <p:cNvSpPr>
            <a:spLocks noGrp="1" noChangeArrowheads="1"/>
          </p:cNvSpPr>
          <p:nvPr>
            <p:ph idx="1"/>
          </p:nvPr>
        </p:nvSpPr>
        <p:spPr>
          <a:xfrm>
            <a:off x="1071563" y="1785938"/>
            <a:ext cx="7772400" cy="46720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结构特点：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只有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主链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，没有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支链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；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性能特点：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Arial" panose="020B0604020202020204" pitchFamily="34" charset="0"/>
              <a:ea typeface="华文中宋" panose="02010600040101010101" pitchFamily="2" charset="-122"/>
              <a:cs typeface="+mn-cs"/>
              <a:sym typeface="Wingdings" panose="05000000000000000000" pitchFamily="2" charset="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 （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1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分子链在加热或外力作用下可以相互位移，便于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加工成型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cs typeface="+mn-cs"/>
              </a:rPr>
              <a:t>可反复使用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；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（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）具有一定的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弹性、塑性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柔软性</a:t>
            </a:r>
            <a:endParaRPr lang="zh-CN" altLang="en-US" b="1" dirty="0">
              <a:solidFill>
                <a:schemeClr val="folHlink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（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）可在适当的溶剂中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溶解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；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6161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例：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聚氯乙烯、聚苯乙烯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Arial" panose="020B0604020202020204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07525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38913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96325" y="6632575"/>
            <a:ext cx="388938" cy="234950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08546" name="Rectangle 2"/>
          <p:cNvSpPr>
            <a:spLocks noGrp="1"/>
          </p:cNvSpPr>
          <p:nvPr>
            <p:ph type="title"/>
          </p:nvPr>
        </p:nvSpPr>
        <p:spPr>
          <a:xfrm>
            <a:off x="1692275" y="457200"/>
            <a:ext cx="5808663" cy="1143000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支链型高分子材料</a:t>
            </a:r>
            <a:endParaRPr lang="zh-CN" altLang="en-US" b="1" dirty="0">
              <a:solidFill>
                <a:srgbClr val="FF0000"/>
              </a:solidFill>
              <a:ea typeface="华文中宋" panose="02010600040101010101" pitchFamily="2" charset="-122"/>
            </a:endParaRPr>
          </a:p>
        </p:txBody>
      </p:sp>
      <p:sp>
        <p:nvSpPr>
          <p:cNvPr id="246787" name="Rectangle 3"/>
          <p:cNvSpPr>
            <a:spLocks noGrp="1" noChangeArrowheads="1"/>
          </p:cNvSpPr>
          <p:nvPr>
            <p:ph idx="1"/>
          </p:nvPr>
        </p:nvSpPr>
        <p:spPr>
          <a:xfrm>
            <a:off x="412115" y="2209800"/>
            <a:ext cx="8295640" cy="3505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结构特点</a:t>
            </a:r>
            <a:r>
              <a: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：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主链</a:t>
            </a:r>
            <a:r>
              <a: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上接出一些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短支链</a:t>
            </a: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性能特点</a:t>
            </a:r>
            <a:r>
              <a: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：熔点升高、黏度增加、强度提高</a:t>
            </a: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例：</a:t>
            </a: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ABS</a:t>
            </a:r>
            <a:r>
              <a: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工程塑料（接枝共聚物）</a:t>
            </a: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8549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35738"/>
            <a:ext cx="1905000" cy="268287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77288" y="6597650"/>
            <a:ext cx="442912" cy="298450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09570" name="Rectangle 2"/>
          <p:cNvSpPr>
            <a:spLocks noGrp="1"/>
          </p:cNvSpPr>
          <p:nvPr>
            <p:ph type="title"/>
          </p:nvPr>
        </p:nvSpPr>
        <p:spPr>
          <a:xfrm>
            <a:off x="2571750" y="0"/>
            <a:ext cx="5000625" cy="990600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体型高分子材料</a:t>
            </a:r>
            <a:endParaRPr lang="zh-CN" altLang="en-US" b="1" dirty="0">
              <a:solidFill>
                <a:srgbClr val="FF0000"/>
              </a:solidFill>
              <a:ea typeface="华文中宋" panose="02010600040101010101" pitchFamily="2" charset="-122"/>
            </a:endParaRPr>
          </a:p>
        </p:txBody>
      </p:sp>
      <p:sp>
        <p:nvSpPr>
          <p:cNvPr id="109571" name="Rectangle 3"/>
          <p:cNvSpPr>
            <a:spLocks noGrp="1"/>
          </p:cNvSpPr>
          <p:nvPr>
            <p:ph idx="1"/>
          </p:nvPr>
        </p:nvSpPr>
        <p:spPr>
          <a:xfrm>
            <a:off x="395288" y="1916113"/>
            <a:ext cx="8382000" cy="4681537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结构特点：</a:t>
            </a:r>
            <a:r>
              <a:rPr lang="zh-CN" altLang="en-US" dirty="0"/>
              <a:t>一个主链上的支链与另一主链相接而形成；</a:t>
            </a:r>
            <a:r>
              <a:rPr lang="zh-CN" altLang="en-US" dirty="0">
                <a:latin typeface="宋体" panose="02010600030101010101" pitchFamily="2" charset="-122"/>
              </a:rPr>
              <a:t>也称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网状</a:t>
            </a:r>
            <a:r>
              <a:rPr lang="zh-CN" altLang="en-US" dirty="0">
                <a:latin typeface="宋体" panose="02010600030101010101" pitchFamily="2" charset="-122"/>
              </a:rPr>
              <a:t>结构。</a:t>
            </a:r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endParaRPr lang="zh-CN" altLang="en-US" dirty="0"/>
          </a:p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性能特点：</a:t>
            </a:r>
            <a:endParaRPr lang="zh-CN" altLang="en-US" b="1" dirty="0">
              <a:solidFill>
                <a:schemeClr val="folHlink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dirty="0">
                <a:solidFill>
                  <a:srgbClr val="FF00FF"/>
                </a:solidFill>
                <a:latin typeface="宋体" panose="02010600030101010101" pitchFamily="2" charset="-122"/>
              </a:rPr>
              <a:t> （</a:t>
            </a:r>
            <a:r>
              <a:rPr lang="en-US" altLang="zh-CN" dirty="0">
                <a:solidFill>
                  <a:srgbClr val="FF00FF"/>
                </a:solidFill>
                <a:latin typeface="宋体" panose="02010600030101010101" pitchFamily="2" charset="-122"/>
              </a:rPr>
              <a:t>1</a:t>
            </a:r>
            <a:r>
              <a:rPr lang="zh-CN" altLang="en-US" dirty="0">
                <a:solidFill>
                  <a:srgbClr val="FF00FF"/>
                </a:solidFill>
                <a:latin typeface="宋体" panose="02010600030101010101" pitchFamily="2" charset="-122"/>
              </a:rPr>
              <a:t>）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不溶</a:t>
            </a:r>
            <a:r>
              <a:rPr lang="zh-CN" altLang="en-US" dirty="0">
                <a:latin typeface="宋体" panose="02010600030101010101" pitchFamily="2" charset="-122"/>
              </a:rPr>
              <a:t>于任何溶剂，升高温度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不熔融</a:t>
            </a:r>
            <a:r>
              <a:rPr lang="zh-CN" altLang="en-US" dirty="0">
                <a:latin typeface="宋体" panose="02010600030101010101" pitchFamily="2" charset="-122"/>
              </a:rPr>
              <a:t>软化。</a:t>
            </a:r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dirty="0">
                <a:latin typeface="宋体" panose="02010600030101010101" pitchFamily="2" charset="-122"/>
              </a:rPr>
              <a:t> （</a:t>
            </a:r>
            <a:r>
              <a:rPr lang="en-US" altLang="zh-CN" dirty="0">
                <a:latin typeface="宋体" panose="02010600030101010101" pitchFamily="2" charset="-122"/>
              </a:rPr>
              <a:t>2</a:t>
            </a:r>
            <a:r>
              <a:rPr lang="zh-CN" altLang="en-US" dirty="0">
                <a:latin typeface="宋体" panose="02010600030101010101" pitchFamily="2" charset="-122"/>
              </a:rPr>
              <a:t>）耐热性好、机械强度高、尺寸稳定。</a:t>
            </a:r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dirty="0">
                <a:latin typeface="宋体" panose="02010600030101010101" pitchFamily="2" charset="-122"/>
              </a:rPr>
              <a:t> （</a:t>
            </a:r>
            <a:r>
              <a:rPr lang="en-US" altLang="zh-CN" dirty="0">
                <a:latin typeface="宋体" panose="02010600030101010101" pitchFamily="2" charset="-122"/>
              </a:rPr>
              <a:t>3</a:t>
            </a:r>
            <a:r>
              <a:rPr lang="zh-CN" altLang="en-US" dirty="0">
                <a:latin typeface="宋体" panose="02010600030101010101" pitchFamily="2" charset="-122"/>
              </a:rPr>
              <a:t>）弹性、塑性低，脆性大，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不能塑性加工</a:t>
            </a:r>
            <a:r>
              <a:rPr lang="zh-CN" altLang="en-US" dirty="0">
                <a:latin typeface="宋体" panose="02010600030101010101" pitchFamily="2" charset="-122"/>
              </a:rPr>
              <a:t>，不能反复使用</a:t>
            </a:r>
            <a:r>
              <a:rPr lang="en-US" altLang="zh-CN" dirty="0">
                <a:latin typeface="宋体" panose="02010600030101010101" pitchFamily="2" charset="-122"/>
              </a:rPr>
              <a:t>, </a:t>
            </a:r>
            <a:r>
              <a:rPr lang="zh-CN" altLang="en-US" dirty="0">
                <a:latin typeface="宋体" panose="02010600030101010101" pitchFamily="2" charset="-122"/>
              </a:rPr>
              <a:t>属于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热固性高聚物</a:t>
            </a:r>
            <a:r>
              <a:rPr lang="zh-CN" altLang="en-US" dirty="0">
                <a:latin typeface="宋体" panose="02010600030101010101" pitchFamily="2" charset="-122"/>
              </a:rPr>
              <a:t>。</a:t>
            </a:r>
            <a:endParaRPr lang="zh-CN" altLang="en-US" dirty="0"/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例：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硫化橡胶、酚醛树脂</a:t>
            </a:r>
            <a:endParaRPr lang="zh-CN" altLang="en-US" b="1" dirty="0">
              <a:solidFill>
                <a:schemeClr val="folHlink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109573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53200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21713" y="6567488"/>
            <a:ext cx="411162" cy="306387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10594" name="Rectangle 2"/>
          <p:cNvSpPr>
            <a:spLocks noGrp="1"/>
          </p:cNvSpPr>
          <p:nvPr>
            <p:ph type="title"/>
          </p:nvPr>
        </p:nvSpPr>
        <p:spPr>
          <a:xfrm>
            <a:off x="1785938" y="571500"/>
            <a:ext cx="6462712" cy="838200"/>
          </a:xfrm>
        </p:spPr>
        <p:txBody>
          <a:bodyPr wrap="square" lIns="91440" tIns="45720" rIns="91440" bIns="45720" anchor="b"/>
          <a:lstStyle/>
          <a:p>
            <a:pPr eaLnBrk="1" hangingPunct="1"/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高分子间的作用力</a:t>
            </a:r>
            <a:r>
              <a:rPr lang="zh-CN" altLang="en-US" sz="2800" dirty="0">
                <a:solidFill>
                  <a:srgbClr val="FF0000"/>
                </a:solidFill>
              </a:rPr>
              <a:t>及聚集状态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110595" name="Rectangle 3"/>
          <p:cNvSpPr>
            <a:spLocks noGrp="1"/>
          </p:cNvSpPr>
          <p:nvPr>
            <p:ph idx="1"/>
          </p:nvPr>
        </p:nvSpPr>
        <p:spPr>
          <a:xfrm>
            <a:off x="250825" y="1901825"/>
            <a:ext cx="8893175" cy="4972050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主价力：</a:t>
            </a:r>
            <a:r>
              <a:rPr lang="zh-CN" altLang="en-US" sz="2800" dirty="0">
                <a:latin typeface="宋体" panose="02010600030101010101" pitchFamily="2" charset="-122"/>
              </a:rPr>
              <a:t>大分子链中</a:t>
            </a:r>
            <a:r>
              <a:rPr lang="zh-CN" altLang="en-US" sz="2800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原子之间</a:t>
            </a:r>
            <a:r>
              <a:rPr lang="zh-CN" altLang="en-US" sz="2800" dirty="0">
                <a:latin typeface="宋体" panose="02010600030101010101" pitchFamily="2" charset="-122"/>
              </a:rPr>
              <a:t>、</a:t>
            </a:r>
            <a:r>
              <a:rPr lang="zh-CN" altLang="en-US" sz="2800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链节之间</a:t>
            </a:r>
            <a:r>
              <a:rPr lang="zh-CN" altLang="en-US" sz="2800" dirty="0">
                <a:latin typeface="宋体" panose="02010600030101010101" pitchFamily="2" charset="-122"/>
              </a:rPr>
              <a:t>相互作用是强大的</a:t>
            </a:r>
            <a:r>
              <a:rPr lang="zh-CN" altLang="en-US" sz="2800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共价键</a:t>
            </a:r>
            <a:r>
              <a:rPr lang="zh-CN" altLang="en-US" sz="2800" dirty="0">
                <a:latin typeface="宋体" panose="02010600030101010101" pitchFamily="2" charset="-122"/>
              </a:rPr>
              <a:t>结合，此结合力为</a:t>
            </a:r>
            <a:r>
              <a:rPr lang="zh-CN" altLang="en-US" sz="2800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主价力</a:t>
            </a:r>
            <a:r>
              <a:rPr lang="zh-CN" altLang="en-US" sz="2800" dirty="0">
                <a:latin typeface="宋体" panose="02010600030101010101" pitchFamily="2" charset="-122"/>
              </a:rPr>
              <a:t>，它对熔点、强度等有重要影响。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 eaLnBrk="1" hangingPunct="1"/>
            <a:r>
              <a:rPr lang="zh-CN" altLang="en-US" sz="2800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次价力：大分子链之间</a:t>
            </a:r>
            <a:r>
              <a:rPr lang="zh-CN" altLang="en-US" sz="2800" dirty="0">
                <a:latin typeface="宋体" panose="02010600030101010101" pitchFamily="2" charset="-122"/>
              </a:rPr>
              <a:t>的相互作用力（</a:t>
            </a:r>
            <a:r>
              <a:rPr lang="zh-CN" altLang="en-US" sz="2800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范德华力和氢键</a:t>
            </a:r>
            <a:r>
              <a:rPr lang="zh-CN" altLang="en-US" sz="2800" dirty="0">
                <a:solidFill>
                  <a:srgbClr val="FF3399"/>
                </a:solidFill>
                <a:latin typeface="宋体" panose="02010600030101010101" pitchFamily="2" charset="-122"/>
              </a:rPr>
              <a:t>）</a:t>
            </a:r>
            <a:r>
              <a:rPr lang="zh-CN" altLang="en-US" sz="2800" dirty="0">
                <a:latin typeface="宋体" panose="02010600030101010101" pitchFamily="2" charset="-122"/>
              </a:rPr>
              <a:t>，</a:t>
            </a:r>
            <a:r>
              <a:rPr lang="zh-CN" altLang="en-US" sz="2800" dirty="0"/>
              <a:t>为链内共价键</a:t>
            </a:r>
            <a:r>
              <a:rPr lang="zh-CN" altLang="en-US" sz="2800" b="1" dirty="0">
                <a:solidFill>
                  <a:srgbClr val="0000FF"/>
                </a:solidFill>
              </a:rPr>
              <a:t>主价力的</a:t>
            </a:r>
            <a:r>
              <a:rPr lang="en-US" altLang="zh-CN" sz="2800" b="1" dirty="0">
                <a:solidFill>
                  <a:srgbClr val="0000FF"/>
                </a:solidFill>
              </a:rPr>
              <a:t>l/l0~l/l00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pPr eaLnBrk="1" hangingPunct="1"/>
            <a:r>
              <a:rPr lang="zh-CN" altLang="en-US" sz="2800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次价力</a:t>
            </a:r>
            <a:r>
              <a:rPr lang="zh-CN" altLang="en-US" sz="2800" b="1" dirty="0">
                <a:latin typeface="Arial" panose="020B0604020202020204" pitchFamily="34" charset="0"/>
                <a:ea typeface="华文中宋" panose="02010600040101010101" pitchFamily="2" charset="-122"/>
              </a:rPr>
              <a:t>具有</a:t>
            </a:r>
            <a:r>
              <a:rPr lang="zh-CN" altLang="en-US" sz="2800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加和性</a:t>
            </a:r>
            <a:r>
              <a:rPr lang="zh-CN" altLang="en-US" sz="2800" dirty="0"/>
              <a:t>，其和通常超过分子链内主价力。</a:t>
            </a:r>
            <a:endParaRPr lang="zh-CN" altLang="en-US" sz="2800" dirty="0"/>
          </a:p>
          <a:p>
            <a:pPr eaLnBrk="1" hangingPunct="1"/>
            <a:r>
              <a:rPr lang="zh-CN" altLang="en-US" sz="2800" dirty="0"/>
              <a:t>当高聚物发生各种拉伸破坏时，总是</a:t>
            </a:r>
            <a:r>
              <a:rPr lang="zh-CN" altLang="en-US" sz="2800" b="1" dirty="0">
                <a:solidFill>
                  <a:srgbClr val="0000FF"/>
                </a:solidFill>
              </a:rPr>
              <a:t>分子链首先发生断裂</a:t>
            </a:r>
            <a:r>
              <a:rPr lang="en-US" altLang="zh-CN" sz="2800" b="1" dirty="0">
                <a:solidFill>
                  <a:srgbClr val="0000FF"/>
                </a:solidFill>
              </a:rPr>
              <a:t>(</a:t>
            </a:r>
            <a:r>
              <a:rPr lang="zh-CN" altLang="en-US" sz="2800" b="1" dirty="0">
                <a:solidFill>
                  <a:srgbClr val="0000FF"/>
                </a:solidFill>
              </a:rPr>
              <a:t>共价键破坏</a:t>
            </a:r>
            <a:r>
              <a:rPr lang="en-US" altLang="zh-CN" sz="2800" b="1" dirty="0">
                <a:solidFill>
                  <a:srgbClr val="0000FF"/>
                </a:solidFill>
              </a:rPr>
              <a:t>)</a:t>
            </a:r>
            <a:r>
              <a:rPr lang="zh-CN" altLang="en-US" sz="2800" dirty="0"/>
              <a:t>而不是分子滑动。</a:t>
            </a:r>
            <a:endParaRPr lang="zh-CN" altLang="en-US" sz="2800" dirty="0"/>
          </a:p>
          <a:p>
            <a:pPr eaLnBrk="1" hangingPunct="1"/>
            <a:r>
              <a:rPr lang="zh-CN" altLang="en-US" sz="2800" dirty="0"/>
              <a:t>分子间的力对高聚物的强度、弹性、粘度及物理化学性能均有很大影响</a:t>
            </a:r>
            <a:endParaRPr lang="zh-CN" altLang="en-US" sz="2800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110597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67488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69325" y="6551613"/>
            <a:ext cx="547688" cy="309562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11618" name="Rectangle 2"/>
          <p:cNvSpPr>
            <a:spLocks noGrp="1"/>
          </p:cNvSpPr>
          <p:nvPr>
            <p:ph type="title"/>
          </p:nvPr>
        </p:nvSpPr>
        <p:spPr>
          <a:xfrm>
            <a:off x="2571750" y="285750"/>
            <a:ext cx="5000625" cy="914400"/>
          </a:xfrm>
        </p:spPr>
        <p:txBody>
          <a:bodyPr wrap="square" lIns="91440" tIns="45720" rIns="91440" bIns="45720" anchor="b"/>
          <a:lstStyle/>
          <a:p>
            <a:pPr eaLnBrk="1" hangingPunct="1"/>
            <a:r>
              <a:rPr lang="zh-CN" altLang="en-US" b="1" dirty="0">
                <a:solidFill>
                  <a:srgbClr val="FF0000"/>
                </a:solidFill>
              </a:rPr>
              <a:t>高分子的聚集状态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11619" name="Rectangle 3"/>
          <p:cNvSpPr>
            <a:spLocks noGrp="1"/>
          </p:cNvSpPr>
          <p:nvPr>
            <p:ph idx="1"/>
          </p:nvPr>
        </p:nvSpPr>
        <p:spPr>
          <a:xfrm>
            <a:off x="323850" y="2060575"/>
            <a:ext cx="4038600" cy="4389438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dirty="0">
                <a:solidFill>
                  <a:schemeClr val="folHlink"/>
                </a:solidFill>
              </a:rPr>
              <a:t>（</a:t>
            </a:r>
            <a:r>
              <a:rPr lang="en-US" altLang="zh-CN" dirty="0">
                <a:solidFill>
                  <a:schemeClr val="folHlink"/>
                </a:solidFill>
              </a:rPr>
              <a:t>1</a:t>
            </a:r>
            <a:r>
              <a:rPr lang="zh-CN" altLang="en-US" dirty="0">
                <a:solidFill>
                  <a:schemeClr val="folHlink"/>
                </a:solidFill>
              </a:rPr>
              <a:t>）晶态</a:t>
            </a:r>
            <a:endParaRPr lang="zh-CN" altLang="en-US" dirty="0">
              <a:solidFill>
                <a:schemeClr val="folHlink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folHlink"/>
                </a:solidFill>
              </a:rPr>
              <a:t>（</a:t>
            </a:r>
            <a:r>
              <a:rPr lang="en-US" altLang="zh-CN" dirty="0">
                <a:solidFill>
                  <a:schemeClr val="folHlink"/>
                </a:solidFill>
              </a:rPr>
              <a:t>2</a:t>
            </a:r>
            <a:r>
              <a:rPr lang="zh-CN" altLang="en-US" dirty="0">
                <a:solidFill>
                  <a:schemeClr val="folHlink"/>
                </a:solidFill>
              </a:rPr>
              <a:t>）非晶态</a:t>
            </a:r>
            <a:endParaRPr lang="zh-CN" altLang="en-US" dirty="0">
              <a:solidFill>
                <a:schemeClr val="folHlink"/>
              </a:solidFill>
            </a:endParaRPr>
          </a:p>
          <a:p>
            <a:pPr eaLnBrk="1" hangingPunct="1"/>
            <a:endParaRPr lang="zh-CN" altLang="en-US" dirty="0">
              <a:solidFill>
                <a:schemeClr val="folHlink"/>
              </a:solidFill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</a:rPr>
              <a:t>结晶度</a:t>
            </a:r>
            <a:r>
              <a:rPr lang="en-US" altLang="zh-CN" b="1" dirty="0">
                <a:solidFill>
                  <a:schemeClr val="folHlink"/>
                </a:solidFill>
              </a:rPr>
              <a:t> </a:t>
            </a:r>
            <a:r>
              <a:rPr lang="zh-CN" altLang="en-US" dirty="0">
                <a:solidFill>
                  <a:schemeClr val="folHlink"/>
                </a:solidFill>
              </a:rPr>
              <a:t>：</a:t>
            </a:r>
            <a:r>
              <a:rPr lang="zh-CN" altLang="en-US" dirty="0"/>
              <a:t>高聚物中</a:t>
            </a:r>
            <a:r>
              <a:rPr lang="zh-CN" altLang="en-US" dirty="0">
                <a:solidFill>
                  <a:schemeClr val="folHlink"/>
                </a:solidFill>
              </a:rPr>
              <a:t>晶区所占的质量（或体积）百分数</a:t>
            </a:r>
            <a:endParaRPr lang="zh-CN" altLang="en-US" dirty="0"/>
          </a:p>
        </p:txBody>
      </p:sp>
      <p:pic>
        <p:nvPicPr>
          <p:cNvPr id="111620" name="Picture 4" descr="《于、齐》fi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786313" y="1714500"/>
            <a:ext cx="3851275" cy="38877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1622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429375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圆角矩形 6" descr="7b0a202020202262756c6c6574223a20227b5c2263617465676f727949645c223a31303032352c5c2274656d706c61746549645c223a32303233313437347d220a7d0a"/>
          <p:cNvSpPr/>
          <p:nvPr/>
        </p:nvSpPr>
        <p:spPr>
          <a:xfrm>
            <a:off x="611505" y="3861435"/>
            <a:ext cx="1470025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800" b="1" dirty="0">
                <a:solidFill>
                  <a:srgbClr val="0066FF"/>
                </a:solidFill>
                <a:latin typeface="宋体" panose="02010600030101010101" pitchFamily="2" charset="-122"/>
                <a:sym typeface="+mn-ea"/>
              </a:rPr>
              <a:t>结晶度</a:t>
            </a:r>
            <a:endParaRPr lang="zh-CN" altLang="en-US" sz="2800" b="1" dirty="0">
              <a:solidFill>
                <a:srgbClr val="0066FF"/>
              </a:solidFill>
              <a:latin typeface="宋体" panose="02010600030101010101" pitchFamily="2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50288" y="6569075"/>
            <a:ext cx="493712" cy="312738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12642" name="Rectangle 2"/>
          <p:cNvSpPr>
            <a:spLocks noGrp="1"/>
          </p:cNvSpPr>
          <p:nvPr>
            <p:ph type="title"/>
          </p:nvPr>
        </p:nvSpPr>
        <p:spPr>
          <a:xfrm>
            <a:off x="2571750" y="357188"/>
            <a:ext cx="5000625" cy="990600"/>
          </a:xfrm>
        </p:spPr>
        <p:txBody>
          <a:bodyPr wrap="square" lIns="91440" tIns="45720" rIns="91440" bIns="45720" anchor="b"/>
          <a:lstStyle/>
          <a:p>
            <a:pPr eaLnBrk="1" hangingPunct="1"/>
            <a:r>
              <a:rPr lang="zh-CN" altLang="en-US" b="1" dirty="0">
                <a:solidFill>
                  <a:srgbClr val="FF0000"/>
                </a:solidFill>
              </a:rPr>
              <a:t>高分子的基本特点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12643" name="Rectangle 3"/>
          <p:cNvSpPr>
            <a:spLocks noGrp="1"/>
          </p:cNvSpPr>
          <p:nvPr>
            <p:ph idx="1"/>
          </p:nvPr>
        </p:nvSpPr>
        <p:spPr>
          <a:xfrm>
            <a:off x="914400" y="1785938"/>
            <a:ext cx="8229600" cy="4659312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大分子的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可分割性</a:t>
            </a:r>
            <a:r>
              <a:rPr lang="zh-CN" altLang="en-US" dirty="0"/>
              <a:t>：一个大分子断裂为两个或多个分子后，性质没有明显的改变；</a:t>
            </a:r>
            <a:endParaRPr lang="zh-CN" altLang="en-US" dirty="0"/>
          </a:p>
          <a:p>
            <a:pPr eaLnBrk="1" hangingPunct="1">
              <a:lnSpc>
                <a:spcPct val="90000"/>
              </a:lnSpc>
              <a:buNone/>
            </a:pPr>
            <a:endParaRPr lang="zh-CN" altLang="en-US" dirty="0"/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具有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弹性</a:t>
            </a:r>
            <a:r>
              <a:rPr lang="zh-CN" altLang="en-US" dirty="0"/>
              <a:t>：形变可恢复性；</a:t>
            </a:r>
            <a:endParaRPr lang="zh-CN" altLang="en-US" dirty="0"/>
          </a:p>
          <a:p>
            <a:pPr eaLnBrk="1" hangingPunct="1">
              <a:lnSpc>
                <a:spcPct val="90000"/>
              </a:lnSpc>
              <a:buNone/>
            </a:pPr>
            <a:endParaRPr lang="zh-CN" altLang="en-US" dirty="0"/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具有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可塑性</a:t>
            </a:r>
            <a:r>
              <a:rPr lang="zh-CN" altLang="en-US" dirty="0"/>
              <a:t>：高分子不可能一下子由固态变为液态；</a:t>
            </a:r>
            <a:r>
              <a:rPr lang="zh-CN" altLang="en-US" dirty="0">
                <a:solidFill>
                  <a:schemeClr val="folHlink"/>
                </a:solidFill>
              </a:rPr>
              <a:t>线型、支链型有</a:t>
            </a:r>
            <a:r>
              <a:rPr lang="zh-CN" altLang="en-US" dirty="0">
                <a:solidFill>
                  <a:srgbClr val="6161FF"/>
                </a:solidFill>
              </a:rPr>
              <a:t>，</a:t>
            </a:r>
            <a:r>
              <a:rPr lang="zh-CN" altLang="en-US" dirty="0">
                <a:solidFill>
                  <a:srgbClr val="FF0000"/>
                </a:solidFill>
              </a:rPr>
              <a:t>网型没有</a:t>
            </a:r>
            <a:endParaRPr lang="zh-CN" altLang="en-US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endParaRPr lang="zh-CN" altLang="en-US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具有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绝缘性</a:t>
            </a:r>
            <a:r>
              <a:rPr lang="zh-CN" altLang="en-US" dirty="0">
                <a:solidFill>
                  <a:schemeClr val="folHlink"/>
                </a:solidFill>
              </a:rPr>
              <a:t>：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电、热、声</a:t>
            </a:r>
            <a:endParaRPr lang="zh-CN" altLang="en-US" b="1" dirty="0">
              <a:solidFill>
                <a:schemeClr val="folHlink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112645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38913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07400" y="6542088"/>
            <a:ext cx="547688" cy="296862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13666" name="Rectangle 2"/>
          <p:cNvSpPr>
            <a:spLocks noGrp="1"/>
          </p:cNvSpPr>
          <p:nvPr>
            <p:ph type="title"/>
          </p:nvPr>
        </p:nvSpPr>
        <p:spPr>
          <a:xfrm>
            <a:off x="1648460" y="140335"/>
            <a:ext cx="6842125" cy="1143000"/>
          </a:xfrm>
        </p:spPr>
        <p:txBody>
          <a:bodyPr wrap="square" lIns="91440" tIns="45720" rIns="91440" bIns="45720" anchor="b"/>
          <a:lstStyle/>
          <a:p>
            <a:pPr eaLnBrk="1" hangingPunct="1"/>
            <a:r>
              <a:rPr lang="zh-CN" altLang="en-US" b="1" i="1" dirty="0">
                <a:solidFill>
                  <a:srgbClr val="FF0000"/>
                </a:solidFill>
              </a:rPr>
              <a:t>高分子聚合物的人工合成</a:t>
            </a:r>
            <a:endParaRPr lang="zh-CN" altLang="en-US" b="1" i="1" dirty="0">
              <a:solidFill>
                <a:srgbClr val="FF0000"/>
              </a:solidFill>
            </a:endParaRPr>
          </a:p>
        </p:txBody>
      </p:sp>
      <p:sp>
        <p:nvSpPr>
          <p:cNvPr id="113667" name="Rectangle 3"/>
          <p:cNvSpPr>
            <a:spLocks noGrp="1"/>
          </p:cNvSpPr>
          <p:nvPr>
            <p:ph idx="1"/>
          </p:nvPr>
        </p:nvSpPr>
        <p:spPr/>
        <p:txBody>
          <a:bodyPr wrap="square" lIns="91440" tIns="45720" rIns="91440" bIns="45720" anchor="t"/>
          <a:lstStyle/>
          <a:p>
            <a:pPr eaLnBrk="1" hangingPunct="1"/>
            <a:r>
              <a:rPr lang="zh-CN" altLang="en-US" dirty="0"/>
              <a:t>反应类型：</a:t>
            </a:r>
            <a:endParaRPr lang="zh-CN" altLang="en-US" dirty="0"/>
          </a:p>
          <a:p>
            <a:pPr eaLnBrk="1" hangingPunct="1">
              <a:buNone/>
            </a:pPr>
            <a:r>
              <a:rPr lang="zh-CN" altLang="en-US" dirty="0"/>
              <a:t>   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加聚</a:t>
            </a:r>
            <a:r>
              <a:rPr lang="zh-CN" altLang="en-US" dirty="0"/>
              <a:t>：又分为：</a:t>
            </a:r>
            <a:endParaRPr lang="zh-CN" altLang="en-US" dirty="0"/>
          </a:p>
          <a:p>
            <a:pPr eaLnBrk="1" hangingPunct="1">
              <a:buNone/>
            </a:pPr>
            <a:r>
              <a:rPr lang="zh-CN" altLang="en-US" dirty="0"/>
              <a:t>                      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①均聚</a:t>
            </a:r>
            <a:r>
              <a:rPr lang="zh-CN" altLang="en-US" dirty="0"/>
              <a:t>（同一单体） </a:t>
            </a:r>
            <a:endParaRPr lang="zh-CN" altLang="en-US" dirty="0"/>
          </a:p>
          <a:p>
            <a:pPr eaLnBrk="1" hangingPunct="1">
              <a:buNone/>
            </a:pPr>
            <a:r>
              <a:rPr lang="zh-CN" altLang="en-US" dirty="0"/>
              <a:t>                      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②共聚</a:t>
            </a:r>
            <a:endParaRPr lang="zh-CN" altLang="en-US" b="1" dirty="0">
              <a:solidFill>
                <a:schemeClr val="folHlink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eaLnBrk="1" hangingPunct="1">
              <a:buNone/>
            </a:pPr>
            <a:r>
              <a:rPr lang="zh-CN" altLang="en-US" dirty="0"/>
              <a:t>   </a:t>
            </a:r>
            <a:endParaRPr lang="zh-CN" altLang="en-US" dirty="0"/>
          </a:p>
          <a:p>
            <a:pPr eaLnBrk="1" hangingPunct="1">
              <a:buNone/>
            </a:pPr>
            <a:r>
              <a:rPr lang="zh-CN" altLang="en-US" dirty="0"/>
              <a:t>  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缩聚：</a:t>
            </a:r>
            <a:endParaRPr lang="zh-CN" altLang="en-US" b="1" dirty="0">
              <a:solidFill>
                <a:schemeClr val="folHlink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113669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470650"/>
            <a:ext cx="1905000" cy="301625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78850" y="6551613"/>
            <a:ext cx="538163" cy="330200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14690" name="Rectangle 2"/>
          <p:cNvSpPr>
            <a:spLocks noGrp="1"/>
          </p:cNvSpPr>
          <p:nvPr>
            <p:ph type="title"/>
          </p:nvPr>
        </p:nvSpPr>
        <p:spPr>
          <a:xfrm>
            <a:off x="1000125" y="357188"/>
            <a:ext cx="7105650" cy="1314450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zh-CN" altLang="en-US" b="1" i="1" dirty="0">
                <a:solidFill>
                  <a:srgbClr val="FF0000"/>
                </a:solidFill>
              </a:rPr>
              <a:t>高分子聚合物的人工合成</a:t>
            </a:r>
            <a:br>
              <a:rPr lang="zh-CN" altLang="en-US" i="1" dirty="0"/>
            </a:br>
            <a:r>
              <a:rPr lang="en-US" altLang="zh-CN" i="1" dirty="0">
                <a:latin typeface="Arial" panose="020B0604020202020204" pitchFamily="34" charset="0"/>
              </a:rPr>
              <a:t>——</a:t>
            </a:r>
            <a:r>
              <a:rPr lang="zh-CN" altLang="en-US" b="1" i="1" dirty="0">
                <a:solidFill>
                  <a:srgbClr val="FF0000"/>
                </a:solidFill>
              </a:rPr>
              <a:t>均聚</a:t>
            </a:r>
            <a:endParaRPr lang="zh-CN" altLang="en-US" b="1" i="1" dirty="0">
              <a:solidFill>
                <a:srgbClr val="FF0000"/>
              </a:solidFill>
            </a:endParaRPr>
          </a:p>
        </p:txBody>
      </p:sp>
      <p:sp>
        <p:nvSpPr>
          <p:cNvPr id="114691" name="Rectangle 3"/>
          <p:cNvSpPr>
            <a:spLocks noGrp="1"/>
          </p:cNvSpPr>
          <p:nvPr>
            <p:ph idx="1"/>
          </p:nvPr>
        </p:nvSpPr>
        <p:spPr>
          <a:xfrm>
            <a:off x="420689" y="2017713"/>
            <a:ext cx="8534400" cy="4114800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dirty="0"/>
              <a:t>均聚物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由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一种单体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聚合而成</a:t>
            </a:r>
            <a:r>
              <a:rPr lang="zh-CN" altLang="en-US" dirty="0"/>
              <a:t>，它是将单体的双键或环打开，使单体结合成足够大的分子链</a:t>
            </a:r>
            <a:endParaRPr lang="zh-CN" altLang="en-US" dirty="0"/>
          </a:p>
          <a:p>
            <a:pPr eaLnBrk="1" hangingPunct="1">
              <a:buNone/>
            </a:pPr>
            <a:endParaRPr lang="zh-CN" altLang="en-US" dirty="0"/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实例：</a:t>
            </a:r>
            <a:endParaRPr lang="zh-CN" altLang="en-US" b="1" dirty="0">
              <a:solidFill>
                <a:schemeClr val="folHlink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eaLnBrk="1" hangingPunct="1"/>
            <a:endParaRPr lang="en-US" altLang="zh-CN" dirty="0"/>
          </a:p>
        </p:txBody>
      </p:sp>
      <p:pic>
        <p:nvPicPr>
          <p:cNvPr id="114692" name="Picture 4" descr="fi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304800" y="4800600"/>
            <a:ext cx="8534400" cy="958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4694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38913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15714" name="Rectangle 2"/>
          <p:cNvSpPr>
            <a:spLocks noGrp="1"/>
          </p:cNvSpPr>
          <p:nvPr>
            <p:ph type="title"/>
          </p:nvPr>
        </p:nvSpPr>
        <p:spPr>
          <a:xfrm>
            <a:off x="1643063" y="214313"/>
            <a:ext cx="6529387" cy="1500187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zh-CN" altLang="en-US" b="1" i="1" dirty="0">
                <a:solidFill>
                  <a:srgbClr val="FF0000"/>
                </a:solidFill>
                <a:ea typeface="华文中宋" panose="02010600040101010101" pitchFamily="2" charset="-122"/>
              </a:rPr>
              <a:t>高分子聚合物的人工合成</a:t>
            </a:r>
            <a:br>
              <a:rPr lang="zh-CN" altLang="en-US" i="1" dirty="0">
                <a:solidFill>
                  <a:srgbClr val="FF0000"/>
                </a:solidFill>
              </a:rPr>
            </a:br>
            <a:r>
              <a:rPr lang="en-US" altLang="zh-CN" i="1" dirty="0">
                <a:latin typeface="Arial" panose="020B0604020202020204" pitchFamily="34" charset="0"/>
              </a:rPr>
              <a:t>——</a:t>
            </a:r>
            <a:r>
              <a:rPr lang="zh-CN" altLang="en-US" b="1" i="1" dirty="0">
                <a:solidFill>
                  <a:srgbClr val="FF0000"/>
                </a:solidFill>
                <a:ea typeface="华文中宋" panose="02010600040101010101" pitchFamily="2" charset="-122"/>
              </a:rPr>
              <a:t>缩聚</a:t>
            </a:r>
            <a:endParaRPr lang="zh-CN" altLang="en-US" b="1" i="1" dirty="0">
              <a:solidFill>
                <a:srgbClr val="FF0000"/>
              </a:solidFill>
              <a:ea typeface="华文中宋" panose="02010600040101010101" pitchFamily="2" charset="-122"/>
            </a:endParaRPr>
          </a:p>
        </p:txBody>
      </p:sp>
      <p:sp>
        <p:nvSpPr>
          <p:cNvPr id="115715" name="Rectangle 3"/>
          <p:cNvSpPr>
            <a:spLocks noGrp="1"/>
          </p:cNvSpPr>
          <p:nvPr>
            <p:ph idx="1"/>
          </p:nvPr>
        </p:nvSpPr>
        <p:spPr>
          <a:xfrm>
            <a:off x="762000" y="1981200"/>
            <a:ext cx="7772400" cy="434340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缩聚反应：</a:t>
            </a:r>
            <a:r>
              <a:rPr lang="zh-CN" altLang="en-US" dirty="0">
                <a:latin typeface="宋体" panose="02010600030101010101" pitchFamily="2" charset="-122"/>
              </a:rPr>
              <a:t>由</a:t>
            </a:r>
            <a:r>
              <a:rPr lang="zh-CN" altLang="en-US" b="1" dirty="0">
                <a:solidFill>
                  <a:srgbClr val="0033CC"/>
                </a:solidFill>
                <a:latin typeface="宋体" panose="02010600030101010101" pitchFamily="2" charset="-122"/>
              </a:rPr>
              <a:t>相同</a:t>
            </a:r>
            <a:r>
              <a:rPr lang="zh-CN" altLang="en-US" dirty="0">
                <a:latin typeface="宋体" panose="02010600030101010101" pitchFamily="2" charset="-122"/>
              </a:rPr>
              <a:t>或</a:t>
            </a:r>
            <a:r>
              <a:rPr lang="zh-CN" altLang="en-US" b="1" dirty="0">
                <a:solidFill>
                  <a:srgbClr val="0033CC"/>
                </a:solidFill>
                <a:latin typeface="宋体" panose="02010600030101010101" pitchFamily="2" charset="-122"/>
              </a:rPr>
              <a:t>不同</a:t>
            </a:r>
            <a:r>
              <a:rPr lang="zh-CN" altLang="en-US" dirty="0">
                <a:latin typeface="宋体" panose="02010600030101010101" pitchFamily="2" charset="-122"/>
              </a:rPr>
              <a:t>的低分子物质聚合成高分子化合物，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同时析出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小分子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物质</a:t>
            </a:r>
            <a:r>
              <a:rPr lang="en-US" altLang="zh-CN" dirty="0">
                <a:latin typeface="宋体" panose="02010600030101010101" pitchFamily="2" charset="-122"/>
              </a:rPr>
              <a:t>(</a:t>
            </a:r>
            <a:r>
              <a:rPr lang="zh-CN" altLang="en-US" dirty="0">
                <a:latin typeface="宋体" panose="02010600030101010101" pitchFamily="2" charset="-122"/>
              </a:rPr>
              <a:t>如水、氨</a:t>
            </a:r>
            <a:r>
              <a:rPr lang="en-US" altLang="zh-CN" dirty="0">
                <a:latin typeface="宋体" panose="02010600030101010101" pitchFamily="2" charset="-122"/>
              </a:rPr>
              <a:t>)</a:t>
            </a:r>
            <a:r>
              <a:rPr lang="zh-CN" altLang="en-US" dirty="0">
                <a:latin typeface="宋体" panose="02010600030101010101" pitchFamily="2" charset="-122"/>
              </a:rPr>
              <a:t>的反应。</a:t>
            </a:r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缩聚物：</a:t>
            </a:r>
            <a:r>
              <a:rPr lang="zh-CN" altLang="en-US" dirty="0">
                <a:latin typeface="宋体" panose="02010600030101010101" pitchFamily="2" charset="-122"/>
              </a:rPr>
              <a:t>缩聚反应的产物</a:t>
            </a:r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分类</a:t>
            </a:r>
            <a:r>
              <a:rPr lang="zh-CN" altLang="en-US" dirty="0">
                <a:latin typeface="宋体" panose="02010600030101010101" pitchFamily="2" charset="-122"/>
              </a:rPr>
              <a:t>（根据所用单体的不同）：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均缩聚、混缩聚、共缩聚</a:t>
            </a:r>
            <a:endParaRPr lang="zh-CN" altLang="en-US" b="1" dirty="0">
              <a:solidFill>
                <a:schemeClr val="folHlink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115717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429375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圆角矩形 6" descr="7b0a202020202262756c6c6574223a20227b5c2263617465676f727949645c223a31303032352c5c2274656d706c61746549645c223a32303233313437347d220a7d0a"/>
          <p:cNvSpPr/>
          <p:nvPr/>
        </p:nvSpPr>
        <p:spPr>
          <a:xfrm>
            <a:off x="1115695" y="1988820"/>
            <a:ext cx="173990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800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  <a:sym typeface="+mn-ea"/>
              </a:rPr>
              <a:t>缩聚反应</a:t>
            </a:r>
            <a:endParaRPr lang="zh-CN" altLang="en-US" sz="2800" b="1" dirty="0">
              <a:solidFill>
                <a:srgbClr val="0066FF"/>
              </a:solidFill>
              <a:latin typeface="宋体" panose="02010600030101010101" pitchFamily="2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316595" y="6453505"/>
            <a:ext cx="645795" cy="304165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16738" name="Rectangle 2"/>
          <p:cNvSpPr>
            <a:spLocks noGrp="1"/>
          </p:cNvSpPr>
          <p:nvPr>
            <p:ph type="title"/>
          </p:nvPr>
        </p:nvSpPr>
        <p:spPr>
          <a:xfrm>
            <a:off x="1500505" y="175895"/>
            <a:ext cx="6600825" cy="1460500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zh-CN" altLang="en-US" b="1" i="1" dirty="0">
                <a:solidFill>
                  <a:srgbClr val="FF0000"/>
                </a:solidFill>
                <a:ea typeface="华文中宋" panose="02010600040101010101" pitchFamily="2" charset="-122"/>
              </a:rPr>
              <a:t>高分子聚合物的人工合成</a:t>
            </a:r>
            <a:br>
              <a:rPr lang="zh-CN" altLang="en-US" b="1" i="1" dirty="0">
                <a:solidFill>
                  <a:srgbClr val="FF0000"/>
                </a:solidFill>
                <a:ea typeface="华文中宋" panose="02010600040101010101" pitchFamily="2" charset="-122"/>
              </a:rPr>
            </a:br>
            <a:r>
              <a:rPr lang="en-US" altLang="zh-CN" i="1" dirty="0">
                <a:latin typeface="Arial" panose="020B0604020202020204" pitchFamily="34" charset="0"/>
              </a:rPr>
              <a:t>——</a:t>
            </a:r>
            <a:r>
              <a:rPr lang="zh-CN" altLang="en-US" b="1" i="1" dirty="0">
                <a:solidFill>
                  <a:srgbClr val="FF0000"/>
                </a:solidFill>
                <a:ea typeface="华文中宋" panose="02010600040101010101" pitchFamily="2" charset="-122"/>
              </a:rPr>
              <a:t>均缩聚</a:t>
            </a:r>
            <a:endParaRPr lang="zh-CN" altLang="en-US" b="1" i="1" dirty="0">
              <a:solidFill>
                <a:srgbClr val="FF0000"/>
              </a:solidFill>
              <a:ea typeface="华文中宋" panose="02010600040101010101" pitchFamily="2" charset="-122"/>
            </a:endParaRPr>
          </a:p>
        </p:txBody>
      </p:sp>
      <p:sp>
        <p:nvSpPr>
          <p:cNvPr id="116739" name="Rectangle 3"/>
          <p:cNvSpPr>
            <a:spLocks noGrp="1"/>
          </p:cNvSpPr>
          <p:nvPr>
            <p:ph idx="1"/>
          </p:nvPr>
        </p:nvSpPr>
        <p:spPr>
          <a:xfrm>
            <a:off x="685800" y="2000250"/>
            <a:ext cx="7772400" cy="4095750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定义</a:t>
            </a:r>
            <a:r>
              <a:rPr lang="en-US" altLang="zh-CN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     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：</a:t>
            </a:r>
            <a:r>
              <a:rPr lang="zh-CN" altLang="en-US" dirty="0">
                <a:latin typeface="宋体" panose="02010600030101010101" pitchFamily="2" charset="-122"/>
              </a:rPr>
              <a:t>含有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两种或两种以上</a:t>
            </a:r>
            <a:r>
              <a:rPr lang="zh-CN" altLang="en-US" dirty="0">
                <a:latin typeface="宋体" panose="02010600030101010101" pitchFamily="2" charset="-122"/>
              </a:rPr>
              <a:t>官能团的</a:t>
            </a:r>
            <a:r>
              <a:rPr lang="zh-CN" altLang="en-US" b="1" dirty="0">
                <a:solidFill>
                  <a:srgbClr val="3333FF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一种单体</a:t>
            </a:r>
            <a:r>
              <a:rPr lang="zh-CN" altLang="en-US" dirty="0">
                <a:latin typeface="宋体" panose="02010600030101010101" pitchFamily="2" charset="-122"/>
              </a:rPr>
              <a:t>进行的缩聚反应</a:t>
            </a:r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/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实例：</a:t>
            </a:r>
            <a:endParaRPr lang="zh-CN" altLang="en-US" b="1" dirty="0">
              <a:solidFill>
                <a:schemeClr val="folHlink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pic>
        <p:nvPicPr>
          <p:cNvPr id="254980" name="Picture 4" descr="尼龙6反应`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609600" y="5105400"/>
            <a:ext cx="8534400" cy="1066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6742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429375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圆角矩形 6" descr="7b0a202020202262756c6c6574223a20227b5c2263617465676f727949645c223a31303032352c5c2274656d706c61746549645c223a32303233313437347d220a7d0a"/>
          <p:cNvSpPr/>
          <p:nvPr/>
        </p:nvSpPr>
        <p:spPr>
          <a:xfrm>
            <a:off x="971550" y="2061210"/>
            <a:ext cx="1444625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800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  <a:sym typeface="+mn-ea"/>
              </a:rPr>
              <a:t>均缩聚</a:t>
            </a:r>
            <a:endParaRPr lang="zh-CN" altLang="en-US" sz="2800" b="1" dirty="0">
              <a:solidFill>
                <a:srgbClr val="0066FF"/>
              </a:solidFill>
              <a:latin typeface="宋体" panose="02010600030101010101" pitchFamily="2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54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336280" y="6450965"/>
            <a:ext cx="610870" cy="321310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17762" name="Rectangle 2"/>
          <p:cNvSpPr>
            <a:spLocks noGrp="1"/>
          </p:cNvSpPr>
          <p:nvPr>
            <p:ph type="title"/>
          </p:nvPr>
        </p:nvSpPr>
        <p:spPr>
          <a:xfrm>
            <a:off x="1357313" y="0"/>
            <a:ext cx="6743700" cy="1500188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zh-CN" altLang="en-US" b="1" i="1" dirty="0">
                <a:solidFill>
                  <a:srgbClr val="FF0000"/>
                </a:solidFill>
                <a:ea typeface="华文中宋" panose="02010600040101010101" pitchFamily="2" charset="-122"/>
              </a:rPr>
              <a:t>高分子聚合物的人工合成</a:t>
            </a:r>
            <a:br>
              <a:rPr lang="zh-CN" altLang="en-US" i="1" dirty="0"/>
            </a:br>
            <a:r>
              <a:rPr lang="en-US" altLang="zh-CN" i="1" dirty="0">
                <a:latin typeface="Arial" panose="020B0604020202020204" pitchFamily="34" charset="0"/>
              </a:rPr>
              <a:t>——</a:t>
            </a:r>
            <a:r>
              <a:rPr lang="zh-CN" altLang="en-US" b="1" i="1" dirty="0">
                <a:solidFill>
                  <a:srgbClr val="FF0000"/>
                </a:solidFill>
                <a:ea typeface="华文中宋" panose="02010600040101010101" pitchFamily="2" charset="-122"/>
              </a:rPr>
              <a:t>混缩聚</a:t>
            </a:r>
            <a:endParaRPr lang="zh-CN" altLang="en-US" b="1" i="1" dirty="0">
              <a:solidFill>
                <a:srgbClr val="FF0000"/>
              </a:solidFill>
              <a:ea typeface="华文中宋" panose="02010600040101010101" pitchFamily="2" charset="-122"/>
            </a:endParaRPr>
          </a:p>
        </p:txBody>
      </p:sp>
      <p:sp>
        <p:nvSpPr>
          <p:cNvPr id="117763" name="Rectangle 3"/>
          <p:cNvSpPr>
            <a:spLocks noGrp="1"/>
          </p:cNvSpPr>
          <p:nvPr>
            <p:ph idx="1"/>
          </p:nvPr>
        </p:nvSpPr>
        <p:spPr/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混缩聚：</a:t>
            </a:r>
            <a:r>
              <a:rPr lang="zh-CN" altLang="en-US" dirty="0">
                <a:latin typeface="宋体" panose="02010600030101010101" pitchFamily="2" charset="-122"/>
              </a:rPr>
              <a:t>也称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杂缩聚</a:t>
            </a:r>
            <a:r>
              <a:rPr lang="zh-CN" altLang="en-US" dirty="0">
                <a:latin typeface="宋体" panose="02010600030101010101" pitchFamily="2" charset="-122"/>
              </a:rPr>
              <a:t>，是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两种不同单体</a:t>
            </a:r>
            <a:r>
              <a:rPr lang="zh-CN" altLang="en-US" dirty="0">
                <a:latin typeface="宋体" panose="02010600030101010101" pitchFamily="2" charset="-122"/>
              </a:rPr>
              <a:t>分子间的缩聚反应</a:t>
            </a:r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/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>
              <a:buNone/>
            </a:pPr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实例：</a:t>
            </a:r>
            <a:endParaRPr lang="zh-CN" altLang="en-US" b="1" dirty="0">
              <a:solidFill>
                <a:schemeClr val="folHlink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eaLnBrk="1" hangingPunct="1"/>
            <a:endParaRPr lang="en-US" altLang="zh-CN" dirty="0">
              <a:latin typeface="宋体" panose="02010600030101010101" pitchFamily="2" charset="-122"/>
            </a:endParaRPr>
          </a:p>
        </p:txBody>
      </p:sp>
      <p:pic>
        <p:nvPicPr>
          <p:cNvPr id="117764" name="Picture 4" descr="fi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609600" y="3429000"/>
            <a:ext cx="8534400" cy="6715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05" name="Picture 5" descr="尼龙66反应`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7200" y="4953000"/>
            <a:ext cx="8382000" cy="11874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7767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429375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圆角矩形 6" descr="7b0a202020202262756c6c6574223a20227b5c2263617465676f727949645c223a31303032352c5c2274656d706c61746549645c223a32303233313437347d220a7d0a"/>
          <p:cNvSpPr/>
          <p:nvPr/>
        </p:nvSpPr>
        <p:spPr>
          <a:xfrm>
            <a:off x="1475740" y="2061845"/>
            <a:ext cx="1397635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800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  <a:sym typeface="+mn-ea"/>
              </a:rPr>
              <a:t>混缩聚</a:t>
            </a:r>
            <a:endParaRPr lang="zh-CN" altLang="en-US" sz="2800" b="1" dirty="0">
              <a:solidFill>
                <a:srgbClr val="0066FF"/>
              </a:solidFill>
              <a:latin typeface="宋体" panose="02010600030101010101" pitchFamily="2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256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68995" y="6506210"/>
            <a:ext cx="584835" cy="344170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18786" name="Rectangle 2"/>
          <p:cNvSpPr>
            <a:spLocks noGrp="1"/>
          </p:cNvSpPr>
          <p:nvPr>
            <p:ph type="title"/>
          </p:nvPr>
        </p:nvSpPr>
        <p:spPr>
          <a:xfrm>
            <a:off x="1150938" y="214313"/>
            <a:ext cx="6778625" cy="1462087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zh-CN" altLang="en-US" b="1" i="1" dirty="0">
                <a:solidFill>
                  <a:srgbClr val="FF0000"/>
                </a:solidFill>
                <a:ea typeface="华文中宋" panose="02010600040101010101" pitchFamily="2" charset="-122"/>
              </a:rPr>
              <a:t>高分子聚合物的人工合成</a:t>
            </a:r>
            <a:br>
              <a:rPr lang="zh-CN" altLang="en-US" b="1" i="1" dirty="0">
                <a:solidFill>
                  <a:srgbClr val="FF0000"/>
                </a:solidFill>
                <a:ea typeface="华文中宋" panose="02010600040101010101" pitchFamily="2" charset="-122"/>
              </a:rPr>
            </a:br>
            <a:r>
              <a:rPr lang="en-US" altLang="zh-CN" b="1" i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——</a:t>
            </a:r>
            <a:r>
              <a:rPr lang="zh-CN" altLang="en-US" b="1" i="1" dirty="0">
                <a:solidFill>
                  <a:srgbClr val="FF0000"/>
                </a:solidFill>
                <a:ea typeface="华文中宋" panose="02010600040101010101" pitchFamily="2" charset="-122"/>
              </a:rPr>
              <a:t>共缩聚</a:t>
            </a:r>
            <a:endParaRPr lang="zh-CN" altLang="en-US" b="1" i="1" dirty="0">
              <a:solidFill>
                <a:srgbClr val="FF0000"/>
              </a:solidFill>
              <a:ea typeface="华文中宋" panose="02010600040101010101" pitchFamily="2" charset="-122"/>
            </a:endParaRPr>
          </a:p>
        </p:txBody>
      </p:sp>
      <p:sp>
        <p:nvSpPr>
          <p:cNvPr id="118787" name="Rectangle 3"/>
          <p:cNvSpPr>
            <a:spLocks noGrp="1"/>
          </p:cNvSpPr>
          <p:nvPr>
            <p:ph idx="1"/>
          </p:nvPr>
        </p:nvSpPr>
        <p:spPr/>
        <p:txBody>
          <a:bodyPr wrap="square" lIns="91440" tIns="45720" rIns="91440" bIns="45720" anchor="t"/>
          <a:lstStyle/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共缩聚：</a:t>
            </a:r>
            <a:r>
              <a:rPr lang="zh-CN" altLang="en-US" dirty="0">
                <a:latin typeface="宋体" panose="02010600030101010101" pitchFamily="2" charset="-122"/>
              </a:rPr>
              <a:t>在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均缩聚</a:t>
            </a:r>
            <a:r>
              <a:rPr lang="zh-CN" altLang="en-US" dirty="0">
                <a:latin typeface="宋体" panose="02010600030101010101" pitchFamily="2" charset="-122"/>
              </a:rPr>
              <a:t>或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混缩聚</a:t>
            </a:r>
            <a:r>
              <a:rPr lang="zh-CN" altLang="en-US" dirty="0">
                <a:latin typeface="宋体" panose="02010600030101010101" pitchFamily="2" charset="-122"/>
              </a:rPr>
              <a:t>中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再加入其它种类的单体</a:t>
            </a:r>
            <a:r>
              <a:rPr lang="zh-CN" altLang="en-US" dirty="0">
                <a:latin typeface="宋体" panose="02010600030101010101" pitchFamily="2" charset="-122"/>
              </a:rPr>
              <a:t>，进行的缩聚反应</a:t>
            </a:r>
            <a:endParaRPr lang="zh-CN" altLang="en-US" dirty="0"/>
          </a:p>
        </p:txBody>
      </p:sp>
      <p:sp>
        <p:nvSpPr>
          <p:cNvPr id="118789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429375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圆角矩形 6" descr="7b0a202020202262756c6c6574223a20227b5c2263617465676f727949645c223a31303032352c5c2274656d706c61746549645c223a32303233313437347d220a7d0a"/>
          <p:cNvSpPr/>
          <p:nvPr/>
        </p:nvSpPr>
        <p:spPr>
          <a:xfrm>
            <a:off x="1475740" y="2637155"/>
            <a:ext cx="1397635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800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  <a:sym typeface="+mn-ea"/>
              </a:rPr>
              <a:t>共缩聚</a:t>
            </a:r>
            <a:endParaRPr lang="zh-CN" altLang="en-US" sz="2800" b="1" dirty="0">
              <a:solidFill>
                <a:srgbClr val="0066FF"/>
              </a:solidFill>
              <a:latin typeface="宋体" panose="02010600030101010101" pitchFamily="2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53450" y="6550025"/>
            <a:ext cx="563563" cy="298450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19810" name="Rectangle 2"/>
          <p:cNvSpPr>
            <a:spLocks noGrp="1"/>
          </p:cNvSpPr>
          <p:nvPr>
            <p:ph type="title"/>
          </p:nvPr>
        </p:nvSpPr>
        <p:spPr>
          <a:xfrm>
            <a:off x="1500505" y="85725"/>
            <a:ext cx="6884670" cy="939800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高分子聚合物的力学状态</a:t>
            </a:r>
            <a:endParaRPr lang="zh-CN" altLang="en-US" b="1" dirty="0">
              <a:solidFill>
                <a:srgbClr val="FF0000"/>
              </a:solidFill>
              <a:ea typeface="华文中宋" panose="02010600040101010101" pitchFamily="2" charset="-122"/>
            </a:endParaRPr>
          </a:p>
        </p:txBody>
      </p:sp>
      <p:sp>
        <p:nvSpPr>
          <p:cNvPr id="119811" name="Rectangle 3"/>
          <p:cNvSpPr>
            <a:spLocks noGrp="1"/>
          </p:cNvSpPr>
          <p:nvPr>
            <p:ph idx="1"/>
          </p:nvPr>
        </p:nvSpPr>
        <p:spPr>
          <a:xfrm>
            <a:off x="685800" y="1752600"/>
            <a:ext cx="7772400" cy="4267200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dirty="0"/>
              <a:t>高聚物随着温度变化，呈现出不同的物理、力学状态，这在高分子材料的加工成型、选材与应用上都有着重要意义。</a:t>
            </a:r>
            <a:endParaRPr lang="zh-CN" altLang="en-US" dirty="0">
              <a:solidFill>
                <a:srgbClr val="6161FF"/>
              </a:solidFill>
            </a:endParaRPr>
          </a:p>
          <a:p>
            <a:pPr eaLnBrk="1" hangingPunct="1">
              <a:buNone/>
            </a:pPr>
            <a:endParaRPr lang="zh-CN" altLang="en-US" dirty="0">
              <a:solidFill>
                <a:srgbClr val="6161FF"/>
              </a:solidFill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线型无定形聚合物的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力学三态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；</a:t>
            </a:r>
            <a:endParaRPr lang="zh-CN" altLang="en-US" b="1" dirty="0">
              <a:solidFill>
                <a:schemeClr val="folHlink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eaLnBrk="1" hangingPunct="1"/>
            <a:endParaRPr lang="zh-CN" altLang="en-US" dirty="0"/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结晶聚合物的力学状态</a:t>
            </a:r>
            <a:endParaRPr lang="zh-CN" altLang="en-US" b="1" dirty="0">
              <a:solidFill>
                <a:schemeClr val="folHlink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119813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50025"/>
            <a:ext cx="1978025" cy="28575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594475"/>
            <a:ext cx="538163" cy="307975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20834" name="Rectangle 2"/>
          <p:cNvSpPr>
            <a:spLocks noGrp="1"/>
          </p:cNvSpPr>
          <p:nvPr>
            <p:ph type="title"/>
          </p:nvPr>
        </p:nvSpPr>
        <p:spPr>
          <a:xfrm>
            <a:off x="1030923" y="0"/>
            <a:ext cx="8001000" cy="990600"/>
          </a:xfrm>
        </p:spPr>
        <p:txBody>
          <a:bodyPr wrap="square" lIns="91440" tIns="45720" rIns="91440" bIns="45720" anchor="b"/>
          <a:lstStyle/>
          <a:p>
            <a:pPr eaLnBrk="1" hangingPunct="1"/>
            <a:r>
              <a:rPr lang="en-US" altLang="zh-CN" dirty="0">
                <a:solidFill>
                  <a:srgbClr val="FF0000"/>
                </a:solidFill>
              </a:rPr>
              <a:t>1.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线型无定形聚合物的力学三态</a:t>
            </a:r>
            <a:endParaRPr lang="zh-CN" altLang="en-US" b="1" dirty="0">
              <a:solidFill>
                <a:srgbClr val="FF0000"/>
              </a:solidFill>
              <a:ea typeface="华文中宋" panose="02010600040101010101" pitchFamily="2" charset="-122"/>
            </a:endParaRPr>
          </a:p>
        </p:txBody>
      </p:sp>
      <p:sp>
        <p:nvSpPr>
          <p:cNvPr id="120835" name="Rectangle 3"/>
          <p:cNvSpPr>
            <a:spLocks noGrp="1"/>
          </p:cNvSpPr>
          <p:nvPr>
            <p:ph idx="1"/>
          </p:nvPr>
        </p:nvSpPr>
        <p:spPr>
          <a:xfrm>
            <a:off x="357188" y="2357438"/>
            <a:ext cx="2700337" cy="3730625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en-US" altLang="zh-CN" b="1" dirty="0">
                <a:solidFill>
                  <a:srgbClr val="0033CC"/>
                </a:solidFill>
                <a:latin typeface="宋体" panose="02010600030101010101" pitchFamily="2" charset="-122"/>
              </a:rPr>
              <a:t>(1)</a:t>
            </a:r>
            <a:r>
              <a:rPr lang="zh-CN" altLang="en-US" b="1" dirty="0">
                <a:solidFill>
                  <a:srgbClr val="0033CC"/>
                </a:solidFill>
                <a:latin typeface="宋体" panose="02010600030101010101" pitchFamily="2" charset="-122"/>
              </a:rPr>
              <a:t>玻璃态</a:t>
            </a:r>
            <a:endParaRPr lang="zh-CN" altLang="en-US" b="1" dirty="0">
              <a:solidFill>
                <a:srgbClr val="0033CC"/>
              </a:solidFill>
              <a:latin typeface="宋体" panose="02010600030101010101" pitchFamily="2" charset="-122"/>
            </a:endParaRPr>
          </a:p>
          <a:p>
            <a:pPr eaLnBrk="1" hangingPunct="1">
              <a:buNone/>
            </a:pPr>
            <a:endParaRPr lang="zh-CN" altLang="en-US" b="1" dirty="0">
              <a:solidFill>
                <a:srgbClr val="0033CC"/>
              </a:solidFill>
              <a:latin typeface="宋体" panose="02010600030101010101" pitchFamily="2" charset="-122"/>
            </a:endParaRPr>
          </a:p>
          <a:p>
            <a:pPr eaLnBrk="1" hangingPunct="1"/>
            <a:r>
              <a:rPr lang="en-US" altLang="zh-CN" b="1" dirty="0">
                <a:solidFill>
                  <a:srgbClr val="0033CC"/>
                </a:solidFill>
                <a:latin typeface="宋体" panose="02010600030101010101" pitchFamily="2" charset="-122"/>
              </a:rPr>
              <a:t>(2)</a:t>
            </a:r>
            <a:r>
              <a:rPr lang="zh-CN" altLang="en-US" b="1" dirty="0">
                <a:solidFill>
                  <a:srgbClr val="0033CC"/>
                </a:solidFill>
                <a:latin typeface="宋体" panose="02010600030101010101" pitchFamily="2" charset="-122"/>
              </a:rPr>
              <a:t>高弹态</a:t>
            </a:r>
            <a:endParaRPr lang="zh-CN" altLang="en-US" b="1" dirty="0">
              <a:solidFill>
                <a:srgbClr val="0033CC"/>
              </a:solidFill>
              <a:latin typeface="宋体" panose="02010600030101010101" pitchFamily="2" charset="-122"/>
            </a:endParaRPr>
          </a:p>
          <a:p>
            <a:pPr eaLnBrk="1" hangingPunct="1">
              <a:buNone/>
            </a:pPr>
            <a:endParaRPr lang="zh-CN" altLang="en-US" b="1" dirty="0">
              <a:solidFill>
                <a:srgbClr val="0033CC"/>
              </a:solidFill>
              <a:latin typeface="宋体" panose="02010600030101010101" pitchFamily="2" charset="-122"/>
            </a:endParaRPr>
          </a:p>
          <a:p>
            <a:pPr eaLnBrk="1" hangingPunct="1"/>
            <a:r>
              <a:rPr lang="en-US" altLang="zh-CN" b="1" dirty="0">
                <a:solidFill>
                  <a:srgbClr val="0033CC"/>
                </a:solidFill>
                <a:latin typeface="宋体" panose="02010600030101010101" pitchFamily="2" charset="-122"/>
              </a:rPr>
              <a:t>(3)</a:t>
            </a:r>
            <a:r>
              <a:rPr lang="zh-CN" altLang="en-US" b="1" dirty="0">
                <a:solidFill>
                  <a:srgbClr val="0033CC"/>
                </a:solidFill>
                <a:latin typeface="宋体" panose="02010600030101010101" pitchFamily="2" charset="-122"/>
              </a:rPr>
              <a:t>粘流态</a:t>
            </a:r>
            <a:endParaRPr lang="zh-CN" altLang="en-US" b="1" dirty="0">
              <a:solidFill>
                <a:srgbClr val="0033CC"/>
              </a:solidFill>
              <a:latin typeface="宋体" panose="02010600030101010101" pitchFamily="2" charset="-122"/>
            </a:endParaRPr>
          </a:p>
        </p:txBody>
      </p:sp>
      <p:pic>
        <p:nvPicPr>
          <p:cNvPr id="259076" name="Picture 4" descr="图5`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3124200" y="1752600"/>
            <a:ext cx="5715000" cy="40036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0838" name="日期占位符 1"/>
          <p:cNvSpPr>
            <a:spLocks noGrp="1"/>
          </p:cNvSpPr>
          <p:nvPr>
            <p:ph type="dt" sz="half" idx="10"/>
          </p:nvPr>
        </p:nvSpPr>
        <p:spPr>
          <a:xfrm>
            <a:off x="98425" y="6494463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59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12175" y="6578600"/>
            <a:ext cx="565150" cy="295275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21858" name="Rectangle 2"/>
          <p:cNvSpPr>
            <a:spLocks noGrp="1"/>
          </p:cNvSpPr>
          <p:nvPr>
            <p:ph type="title"/>
          </p:nvPr>
        </p:nvSpPr>
        <p:spPr>
          <a:xfrm>
            <a:off x="1357630" y="0"/>
            <a:ext cx="7595870" cy="1555115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线型无定形聚合物的力学三态</a:t>
            </a:r>
            <a:br>
              <a:rPr lang="zh-CN" altLang="en-US" dirty="0">
                <a:solidFill>
                  <a:srgbClr val="FF0000"/>
                </a:solidFill>
              </a:rPr>
            </a:br>
            <a:r>
              <a:rPr lang="en-US" altLang="zh-CN" dirty="0">
                <a:solidFill>
                  <a:srgbClr val="FF0000"/>
                </a:solidFill>
              </a:rPr>
              <a:t>——</a:t>
            </a: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玻璃态</a:t>
            </a:r>
            <a:endParaRPr lang="zh-CN" altLang="en-US" b="1" dirty="0">
              <a:solidFill>
                <a:srgbClr val="0000FF"/>
              </a:solidFill>
              <a:ea typeface="华文中宋" panose="02010600040101010101" pitchFamily="2" charset="-122"/>
            </a:endParaRPr>
          </a:p>
        </p:txBody>
      </p:sp>
      <p:sp>
        <p:nvSpPr>
          <p:cNvPr id="121859" name="Rectangle 3"/>
          <p:cNvSpPr>
            <a:spLocks noGrp="1"/>
          </p:cNvSpPr>
          <p:nvPr>
            <p:ph idx="1"/>
          </p:nvPr>
        </p:nvSpPr>
        <p:spPr>
          <a:xfrm>
            <a:off x="395288" y="1714500"/>
            <a:ext cx="8748712" cy="4786313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sz="2800" dirty="0"/>
              <a:t>玻璃态</a:t>
            </a:r>
            <a:r>
              <a:rPr lang="zh-CN" altLang="en-US" sz="2800" b="1" dirty="0">
                <a:solidFill>
                  <a:schemeClr val="folHlink"/>
                </a:solidFill>
              </a:rPr>
              <a:t>相当于小分子物质的固态</a:t>
            </a:r>
            <a:r>
              <a:rPr lang="zh-CN" altLang="en-US" sz="2800" dirty="0"/>
              <a:t>，此时，大分子链只能在平衡位置作轻微振动，产生可逆的普弹形变，由于分子间力较大，高聚物具有</a:t>
            </a:r>
            <a:r>
              <a:rPr lang="zh-CN" altLang="en-US" sz="2800" b="1" dirty="0">
                <a:solidFill>
                  <a:schemeClr val="folHlink"/>
                </a:solidFill>
              </a:rPr>
              <a:t>较高的机械强度。</a:t>
            </a:r>
            <a:endParaRPr lang="zh-CN" altLang="en-US" sz="2800" b="1" dirty="0">
              <a:solidFill>
                <a:schemeClr val="folHlink"/>
              </a:solidFill>
            </a:endParaRPr>
          </a:p>
          <a:p>
            <a:pPr eaLnBrk="1" hangingPunct="1"/>
            <a:r>
              <a:rPr lang="en-US" altLang="zh-CN" sz="2800" b="1" dirty="0"/>
              <a:t>T</a:t>
            </a:r>
            <a:r>
              <a:rPr lang="en-US" altLang="zh-CN" sz="2800" b="1" baseline="-25000" dirty="0"/>
              <a:t>g</a:t>
            </a:r>
            <a:r>
              <a:rPr lang="zh-CN" altLang="en-US" sz="2800" b="1" dirty="0"/>
              <a:t>称为</a:t>
            </a:r>
            <a:r>
              <a:rPr lang="zh-CN" altLang="en-US" sz="2800" b="1" dirty="0">
                <a:solidFill>
                  <a:srgbClr val="0000FF"/>
                </a:solidFill>
                <a:latin typeface="+mj-lt"/>
                <a:ea typeface="华文中宋" panose="02010600040101010101" pitchFamily="2" charset="-122"/>
                <a:cs typeface="+mj-cs"/>
              </a:rPr>
              <a:t>玻璃化温度</a:t>
            </a:r>
            <a:r>
              <a:rPr lang="zh-CN" altLang="en-US" sz="2800" dirty="0"/>
              <a:t>，是高聚物呈玻璃态的</a:t>
            </a:r>
            <a:r>
              <a:rPr lang="zh-CN" altLang="en-US" sz="2800" b="1" dirty="0">
                <a:solidFill>
                  <a:srgbClr val="0000FF"/>
                </a:solidFill>
              </a:rPr>
              <a:t>最高温度</a:t>
            </a:r>
            <a:r>
              <a:rPr lang="zh-CN" altLang="en-US" sz="2800" dirty="0"/>
              <a:t>。也是</a:t>
            </a:r>
            <a:r>
              <a:rPr lang="zh-CN" altLang="en-US" sz="2800" b="1" dirty="0">
                <a:solidFill>
                  <a:srgbClr val="0000FF"/>
                </a:solidFill>
                <a:latin typeface="+mj-lt"/>
                <a:ea typeface="华文中宋" panose="02010600040101010101" pitchFamily="2" charset="-122"/>
                <a:cs typeface="+mj-cs"/>
              </a:rPr>
              <a:t>玻璃态</a:t>
            </a:r>
            <a:r>
              <a:rPr lang="zh-CN" altLang="en-US" sz="2800" dirty="0"/>
              <a:t>转变为</a:t>
            </a:r>
            <a:r>
              <a:rPr lang="zh-CN" altLang="en-US" sz="2800" b="1" dirty="0">
                <a:solidFill>
                  <a:srgbClr val="0000FF"/>
                </a:solidFill>
                <a:latin typeface="+mj-lt"/>
                <a:ea typeface="华文中宋" panose="02010600040101010101" pitchFamily="2" charset="-122"/>
                <a:cs typeface="+mj-cs"/>
              </a:rPr>
              <a:t>高弹态</a:t>
            </a:r>
            <a:r>
              <a:rPr lang="zh-CN" altLang="en-US" sz="2800" dirty="0"/>
              <a:t>的温度。</a:t>
            </a:r>
            <a:endParaRPr lang="zh-CN" altLang="en-US" sz="2800" dirty="0"/>
          </a:p>
          <a:p>
            <a:pPr eaLnBrk="1" hangingPunct="1"/>
            <a:r>
              <a:rPr lang="en-US" altLang="zh-CN" sz="2800" dirty="0">
                <a:solidFill>
                  <a:schemeClr val="tx2"/>
                </a:solidFill>
              </a:rPr>
              <a:t>T</a:t>
            </a:r>
            <a:r>
              <a:rPr lang="en-US" altLang="zh-CN" sz="2800" baseline="-25000" dirty="0">
                <a:solidFill>
                  <a:schemeClr val="tx2"/>
                </a:solidFill>
              </a:rPr>
              <a:t>g</a:t>
            </a:r>
            <a:r>
              <a:rPr lang="zh-CN" altLang="en-US" sz="2800" b="1" dirty="0">
                <a:solidFill>
                  <a:schemeClr val="folHlink"/>
                </a:solidFill>
              </a:rPr>
              <a:t>温度在</a:t>
            </a:r>
            <a:r>
              <a:rPr lang="zh-CN" altLang="en-US" sz="2800" b="1" dirty="0">
                <a:solidFill>
                  <a:srgbClr val="0000FF"/>
                </a:solidFill>
                <a:latin typeface="+mj-lt"/>
                <a:ea typeface="华文中宋" panose="02010600040101010101" pitchFamily="2" charset="-122"/>
                <a:cs typeface="+mj-cs"/>
              </a:rPr>
              <a:t>室温以上</a:t>
            </a:r>
            <a:r>
              <a:rPr lang="zh-CN" altLang="en-US" sz="2800" b="1" dirty="0">
                <a:solidFill>
                  <a:schemeClr val="folHlink"/>
                </a:solidFill>
              </a:rPr>
              <a:t>的</a:t>
            </a:r>
            <a:r>
              <a:rPr lang="zh-CN" altLang="en-US" sz="2800" dirty="0"/>
              <a:t>通称为</a:t>
            </a:r>
            <a:r>
              <a:rPr lang="zh-CN" altLang="en-US" sz="2800" b="1" dirty="0">
                <a:solidFill>
                  <a:srgbClr val="0000FF"/>
                </a:solidFill>
                <a:latin typeface="+mj-lt"/>
                <a:ea typeface="华文中宋" panose="02010600040101010101" pitchFamily="2" charset="-122"/>
                <a:cs typeface="+mj-cs"/>
              </a:rPr>
              <a:t>塑料</a:t>
            </a:r>
            <a:r>
              <a:rPr lang="zh-CN" altLang="en-US" sz="2800" dirty="0"/>
              <a:t>，即玻璃态是塑料的使用状态。</a:t>
            </a:r>
            <a:endParaRPr lang="zh-CN" altLang="en-US" sz="2800" dirty="0"/>
          </a:p>
          <a:p>
            <a:pPr eaLnBrk="1" hangingPunct="1"/>
            <a:r>
              <a:rPr lang="zh-CN" altLang="en-US" sz="2800" dirty="0"/>
              <a:t>如聚氯乙烯</a:t>
            </a:r>
            <a:r>
              <a:rPr lang="en-US" altLang="zh-CN" sz="2800" dirty="0"/>
              <a:t>T</a:t>
            </a:r>
            <a:r>
              <a:rPr lang="en-US" altLang="zh-CN" sz="2800" baseline="-25000" dirty="0"/>
              <a:t>g</a:t>
            </a:r>
            <a:r>
              <a:rPr lang="en-US" altLang="zh-CN" sz="2800" dirty="0"/>
              <a:t> =87℃</a:t>
            </a:r>
            <a:r>
              <a:rPr lang="zh-CN" altLang="en-US" sz="2800" dirty="0"/>
              <a:t>，聚苯乙烯</a:t>
            </a:r>
            <a:r>
              <a:rPr lang="en-US" altLang="zh-CN" sz="2800" dirty="0"/>
              <a:t>T</a:t>
            </a:r>
            <a:r>
              <a:rPr lang="en-US" altLang="zh-CN" sz="2800" baseline="-25000" dirty="0"/>
              <a:t>g</a:t>
            </a:r>
            <a:r>
              <a:rPr lang="en-US" altLang="zh-CN" sz="2800" dirty="0"/>
              <a:t> =80℃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pPr eaLnBrk="1" hangingPunct="1"/>
            <a:r>
              <a:rPr lang="en-US" altLang="zh-CN" sz="2800" dirty="0"/>
              <a:t>T</a:t>
            </a:r>
            <a:r>
              <a:rPr lang="en-US" altLang="zh-CN" sz="2800" baseline="-25000" dirty="0"/>
              <a:t>x</a:t>
            </a:r>
            <a:r>
              <a:rPr lang="zh-CN" altLang="en-US" sz="2800" dirty="0"/>
              <a:t>称为</a:t>
            </a:r>
            <a:r>
              <a:rPr lang="zh-CN" altLang="en-US" sz="2800" b="1" dirty="0">
                <a:solidFill>
                  <a:srgbClr val="0000FF"/>
                </a:solidFill>
                <a:latin typeface="+mj-lt"/>
                <a:ea typeface="华文中宋" panose="02010600040101010101" pitchFamily="2" charset="-122"/>
                <a:cs typeface="+mj-cs"/>
              </a:rPr>
              <a:t>脆化温度</a:t>
            </a:r>
            <a:r>
              <a:rPr lang="zh-CN" altLang="en-US" sz="2800" dirty="0"/>
              <a:t>，在此温度以下，大分子链轻微振动也不存在，高聚物呈脆性状态，失去使用价值。</a:t>
            </a:r>
            <a:endParaRPr lang="zh-CN" altLang="en-US" sz="2800" dirty="0"/>
          </a:p>
        </p:txBody>
      </p:sp>
      <p:sp>
        <p:nvSpPr>
          <p:cNvPr id="121861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78600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42350" y="6565900"/>
            <a:ext cx="485775" cy="312738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22882" name="Rectangle 2"/>
          <p:cNvSpPr>
            <a:spLocks noGrp="1"/>
          </p:cNvSpPr>
          <p:nvPr>
            <p:ph type="title"/>
          </p:nvPr>
        </p:nvSpPr>
        <p:spPr>
          <a:xfrm>
            <a:off x="1143000" y="214313"/>
            <a:ext cx="7772400" cy="1357312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线型无定形聚合物的力学三态</a:t>
            </a:r>
            <a:br>
              <a:rPr lang="zh-CN" altLang="en-US" dirty="0">
                <a:solidFill>
                  <a:srgbClr val="FF0000"/>
                </a:solidFill>
              </a:rPr>
            </a:br>
            <a:r>
              <a:rPr lang="en-US" altLang="zh-CN" dirty="0">
                <a:solidFill>
                  <a:srgbClr val="FF0000"/>
                </a:solidFill>
              </a:rPr>
              <a:t>——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高弹态</a:t>
            </a:r>
            <a:endParaRPr lang="zh-CN" altLang="en-US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122883" name="Rectangle 3"/>
          <p:cNvSpPr>
            <a:spLocks noGrp="1"/>
          </p:cNvSpPr>
          <p:nvPr>
            <p:ph idx="1"/>
          </p:nvPr>
        </p:nvSpPr>
        <p:spPr>
          <a:xfrm>
            <a:off x="323850" y="2057400"/>
            <a:ext cx="8458200" cy="426720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当温度超过玻璃化温度以后，</a:t>
            </a:r>
            <a:r>
              <a:rPr lang="zh-CN" altLang="en-US" sz="2800" b="1" dirty="0">
                <a:solidFill>
                  <a:srgbClr val="0000FF"/>
                </a:solidFill>
              </a:rPr>
              <a:t>内旋转运动</a:t>
            </a:r>
            <a:r>
              <a:rPr lang="zh-CN" altLang="en-US" sz="2800" dirty="0"/>
              <a:t>加强。分子的热运动能量已能使链段产生运动，大分子链为适应外力作用，可不断蜷曲或伸展，表现出很大的</a:t>
            </a:r>
            <a:r>
              <a:rPr lang="zh-CN" altLang="en-US" sz="2800" b="1" dirty="0">
                <a:solidFill>
                  <a:srgbClr val="0000FF"/>
                </a:solidFill>
              </a:rPr>
              <a:t>柔性</a:t>
            </a:r>
            <a:r>
              <a:rPr lang="zh-CN" altLang="en-US" sz="2800" dirty="0"/>
              <a:t>，高聚物呈现</a:t>
            </a:r>
            <a:r>
              <a:rPr lang="zh-CN" altLang="en-US" sz="2800" b="1" dirty="0">
                <a:solidFill>
                  <a:srgbClr val="0000FF"/>
                </a:solidFill>
              </a:rPr>
              <a:t>高弹态</a:t>
            </a:r>
            <a:r>
              <a:rPr lang="en-US" altLang="zh-CN" sz="2800" dirty="0"/>
              <a:t>(</a:t>
            </a:r>
            <a:r>
              <a:rPr lang="zh-CN" altLang="en-US" sz="2800" dirty="0"/>
              <a:t>可产生</a:t>
            </a:r>
            <a:r>
              <a:rPr lang="en-US" altLang="zh-CN" sz="2800" dirty="0">
                <a:solidFill>
                  <a:schemeClr val="folHlink"/>
                </a:solidFill>
              </a:rPr>
              <a:t>100% ~1000%</a:t>
            </a:r>
            <a:r>
              <a:rPr lang="zh-CN" altLang="en-US" sz="2800" dirty="0">
                <a:solidFill>
                  <a:schemeClr val="folHlink"/>
                </a:solidFill>
              </a:rPr>
              <a:t>的弹性变形</a:t>
            </a:r>
            <a:r>
              <a:rPr lang="en-US" altLang="zh-CN" sz="2800" dirty="0"/>
              <a:t>)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高弹态为高聚物所特有，但</a:t>
            </a:r>
            <a:r>
              <a:rPr lang="zh-CN" altLang="en-US" sz="2800" b="1" dirty="0">
                <a:solidFill>
                  <a:srgbClr val="0000FF"/>
                </a:solidFill>
              </a:rPr>
              <a:t>并不是一切高聚物都具有明显的高弹性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solidFill>
                  <a:schemeClr val="folHlink"/>
                </a:solidFill>
              </a:rPr>
              <a:t>Tg</a:t>
            </a:r>
            <a:r>
              <a:rPr lang="zh-CN" altLang="en-US" sz="2800" dirty="0">
                <a:solidFill>
                  <a:schemeClr val="folHlink"/>
                </a:solidFill>
              </a:rPr>
              <a:t>温度</a:t>
            </a:r>
            <a:r>
              <a:rPr lang="zh-CN" altLang="en-US" sz="2800" dirty="0"/>
              <a:t>在</a:t>
            </a:r>
            <a:r>
              <a:rPr lang="zh-CN" altLang="en-US" sz="2800" b="1" dirty="0">
                <a:solidFill>
                  <a:srgbClr val="0000FF"/>
                </a:solidFill>
              </a:rPr>
              <a:t>室温以下</a:t>
            </a:r>
            <a:r>
              <a:rPr lang="zh-CN" altLang="en-US" sz="2800" dirty="0"/>
              <a:t>的称为</a:t>
            </a:r>
            <a:r>
              <a:rPr lang="zh-CN" altLang="en-US" sz="2800" b="1" dirty="0">
                <a:solidFill>
                  <a:srgbClr val="0000FF"/>
                </a:solidFill>
              </a:rPr>
              <a:t>橡胶</a:t>
            </a:r>
            <a:r>
              <a:rPr lang="zh-CN" altLang="en-US" sz="2800" dirty="0"/>
              <a:t>，即高弹态是橡胶的使用状态。如天然橡胶</a:t>
            </a:r>
            <a:r>
              <a:rPr lang="en-US" altLang="zh-CN" sz="2800" dirty="0"/>
              <a:t>T</a:t>
            </a:r>
            <a:r>
              <a:rPr lang="en-US" altLang="zh-CN" sz="2800" baseline="-25000" dirty="0"/>
              <a:t>g</a:t>
            </a:r>
            <a:r>
              <a:rPr lang="en-US" altLang="zh-CN" sz="2800" dirty="0"/>
              <a:t> = -73℃</a:t>
            </a:r>
            <a:r>
              <a:rPr lang="zh-CN" altLang="en-US" sz="2800" dirty="0"/>
              <a:t>，顺丁橡胶</a:t>
            </a:r>
            <a:r>
              <a:rPr lang="en-US" altLang="zh-CN" sz="2800" dirty="0"/>
              <a:t>T</a:t>
            </a:r>
            <a:r>
              <a:rPr lang="en-US" altLang="zh-CN" sz="2800" baseline="-25000" dirty="0"/>
              <a:t>g</a:t>
            </a:r>
            <a:r>
              <a:rPr lang="en-US" altLang="zh-CN" sz="2800" dirty="0"/>
              <a:t> = -l05℃</a:t>
            </a:r>
            <a:r>
              <a:rPr lang="zh-CN" altLang="en-US" sz="2800" dirty="0"/>
              <a:t>。</a:t>
            </a:r>
            <a:endParaRPr lang="zh-CN" altLang="en-US" sz="2800" dirty="0"/>
          </a:p>
        </p:txBody>
      </p:sp>
      <p:sp>
        <p:nvSpPr>
          <p:cNvPr id="122885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35738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01075" y="6604000"/>
            <a:ext cx="527050" cy="277813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23906" name="Rectangle 2"/>
          <p:cNvSpPr>
            <a:spLocks noGrp="1"/>
          </p:cNvSpPr>
          <p:nvPr>
            <p:ph type="title"/>
          </p:nvPr>
        </p:nvSpPr>
        <p:spPr>
          <a:xfrm>
            <a:off x="1000125" y="357188"/>
            <a:ext cx="7772400" cy="1357312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线型无定形聚合物的力学三态</a:t>
            </a:r>
            <a:br>
              <a:rPr lang="zh-CN" altLang="en-US" dirty="0">
                <a:solidFill>
                  <a:srgbClr val="FF0000"/>
                </a:solidFill>
              </a:rPr>
            </a:br>
            <a:r>
              <a:rPr lang="en-US" altLang="zh-CN" dirty="0">
                <a:solidFill>
                  <a:srgbClr val="FF0000"/>
                </a:solidFill>
              </a:rPr>
              <a:t>——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粘流态</a:t>
            </a:r>
            <a:endParaRPr lang="zh-CN" altLang="en-US" b="1" dirty="0">
              <a:solidFill>
                <a:srgbClr val="FF0000"/>
              </a:solidFill>
              <a:ea typeface="华文中宋" panose="02010600040101010101" pitchFamily="2" charset="-122"/>
            </a:endParaRPr>
          </a:p>
        </p:txBody>
      </p:sp>
      <p:sp>
        <p:nvSpPr>
          <p:cNvPr id="123907" name="Rectangle 3"/>
          <p:cNvSpPr>
            <a:spLocks noGrp="1"/>
          </p:cNvSpPr>
          <p:nvPr>
            <p:ph idx="1"/>
          </p:nvPr>
        </p:nvSpPr>
        <p:spPr>
          <a:xfrm>
            <a:off x="457200" y="1981200"/>
            <a:ext cx="8305800" cy="419100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当温度达到</a:t>
            </a:r>
            <a:r>
              <a:rPr lang="en-US" altLang="zh-CN" b="1" i="1" dirty="0">
                <a:solidFill>
                  <a:srgbClr val="0000FF"/>
                </a:solidFill>
              </a:rPr>
              <a:t>T</a:t>
            </a:r>
            <a:r>
              <a:rPr lang="en-US" altLang="zh-CN" b="1" i="1" baseline="-25000" dirty="0">
                <a:solidFill>
                  <a:srgbClr val="0000FF"/>
                </a:solidFill>
              </a:rPr>
              <a:t>f</a:t>
            </a:r>
            <a:r>
              <a:rPr lang="zh-CN" altLang="en-US" dirty="0"/>
              <a:t>时，大分子产生整体位移，呈粘性流动状态，即</a:t>
            </a:r>
            <a:r>
              <a:rPr lang="zh-CN" altLang="en-US" b="1" dirty="0">
                <a:solidFill>
                  <a:srgbClr val="0033CC"/>
                </a:solidFill>
              </a:rPr>
              <a:t>粘流态</a:t>
            </a:r>
            <a:r>
              <a:rPr lang="zh-CN" altLang="en-US" dirty="0"/>
              <a:t>。</a:t>
            </a:r>
            <a:endParaRPr lang="zh-CN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zh-CN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T</a:t>
            </a:r>
            <a:r>
              <a:rPr lang="en-US" altLang="zh-CN" b="1" baseline="-25000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f</a:t>
            </a:r>
            <a:r>
              <a:rPr lang="zh-CN" altLang="en-US" b="1" dirty="0"/>
              <a:t>为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粘流化温度</a:t>
            </a:r>
            <a:r>
              <a:rPr lang="zh-CN" altLang="en-US" dirty="0"/>
              <a:t>，即大分子链开始滑动位移的温度，也是高弹态转变为粘流态的转变温度。</a:t>
            </a:r>
            <a:endParaRPr lang="zh-CN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zh-CN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T</a:t>
            </a:r>
            <a:r>
              <a:rPr lang="en-US" altLang="zh-CN" b="1" baseline="-25000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d</a:t>
            </a:r>
            <a:r>
              <a:rPr lang="zh-CN" altLang="en-US" b="1" dirty="0"/>
              <a:t>是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高聚物的分解温度</a:t>
            </a:r>
            <a:r>
              <a:rPr lang="zh-CN" altLang="en-US" dirty="0"/>
              <a:t>。</a:t>
            </a:r>
            <a:endParaRPr lang="zh-CN" altLang="en-US" dirty="0"/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粘流态是高聚物材料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加工成型状态</a:t>
            </a:r>
            <a:r>
              <a:rPr lang="zh-CN" altLang="en-US" dirty="0"/>
              <a:t>，也是胶粘剂、涂料的施工工艺状态。</a:t>
            </a:r>
            <a:endParaRPr lang="zh-CN" altLang="en-US" dirty="0"/>
          </a:p>
        </p:txBody>
      </p:sp>
      <p:sp>
        <p:nvSpPr>
          <p:cNvPr id="123909" name="日期占位符 1"/>
          <p:cNvSpPr>
            <a:spLocks noGrp="1"/>
          </p:cNvSpPr>
          <p:nvPr>
            <p:ph type="dt" sz="half" idx="10"/>
          </p:nvPr>
        </p:nvSpPr>
        <p:spPr>
          <a:xfrm>
            <a:off x="88900" y="6513513"/>
            <a:ext cx="1905000" cy="300037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43925" y="6583363"/>
            <a:ext cx="600075" cy="255587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24930" name="Rectangle 2"/>
          <p:cNvSpPr>
            <a:spLocks noGrp="1"/>
          </p:cNvSpPr>
          <p:nvPr>
            <p:ph type="title"/>
          </p:nvPr>
        </p:nvSpPr>
        <p:spPr>
          <a:xfrm>
            <a:off x="1643063" y="228600"/>
            <a:ext cx="6286500" cy="838200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</a:rPr>
              <a:t>结晶聚合物的力学状态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24931" name="Rectangle 3"/>
          <p:cNvSpPr>
            <a:spLocks noGrp="1"/>
          </p:cNvSpPr>
          <p:nvPr>
            <p:ph idx="1"/>
          </p:nvPr>
        </p:nvSpPr>
        <p:spPr>
          <a:xfrm>
            <a:off x="304800" y="1844675"/>
            <a:ext cx="4627563" cy="4608513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dirty="0"/>
              <a:t>一般分子量（</a:t>
            </a:r>
            <a:r>
              <a:rPr lang="zh-CN" altLang="en-US" b="1" dirty="0">
                <a:solidFill>
                  <a:srgbClr val="0000FF"/>
                </a:solidFill>
              </a:rPr>
              <a:t>两态</a:t>
            </a:r>
            <a:r>
              <a:rPr lang="zh-CN" altLang="en-US" dirty="0"/>
              <a:t>）：</a:t>
            </a:r>
            <a:r>
              <a:rPr lang="zh-CN" altLang="en-US" b="1" dirty="0">
                <a:solidFill>
                  <a:schemeClr val="folHlink"/>
                </a:solidFill>
              </a:rPr>
              <a:t>晶态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0033CC"/>
                </a:solidFill>
              </a:rPr>
              <a:t>粘流态</a:t>
            </a:r>
            <a:r>
              <a:rPr lang="zh-CN" altLang="en-US" dirty="0"/>
              <a:t>，分界点：</a:t>
            </a:r>
            <a:r>
              <a:rPr lang="en-US" altLang="zh-CN" b="1" dirty="0">
                <a:solidFill>
                  <a:srgbClr val="0033CC"/>
                </a:solidFill>
              </a:rPr>
              <a:t>T</a:t>
            </a:r>
            <a:r>
              <a:rPr lang="en-US" altLang="zh-CN" b="1" baseline="-25000" dirty="0">
                <a:solidFill>
                  <a:srgbClr val="0033CC"/>
                </a:solidFill>
              </a:rPr>
              <a:t>m</a:t>
            </a:r>
            <a:r>
              <a:rPr lang="zh-CN" altLang="en-US" b="1" dirty="0">
                <a:solidFill>
                  <a:srgbClr val="0033CC"/>
                </a:solidFill>
              </a:rPr>
              <a:t>（熔点）</a:t>
            </a:r>
            <a:endParaRPr lang="zh-CN" altLang="en-US" b="1" dirty="0">
              <a:solidFill>
                <a:srgbClr val="0033CC"/>
              </a:solidFill>
            </a:endParaRPr>
          </a:p>
          <a:p>
            <a:pPr eaLnBrk="1" hangingPunct="1"/>
            <a:endParaRPr lang="zh-CN" altLang="en-US" dirty="0"/>
          </a:p>
          <a:p>
            <a:pPr eaLnBrk="1" hangingPunct="1"/>
            <a:r>
              <a:rPr lang="zh-CN" altLang="en-US" dirty="0"/>
              <a:t>分子量很大的聚合物（</a:t>
            </a:r>
            <a:r>
              <a:rPr lang="zh-CN" altLang="en-US" b="1" dirty="0">
                <a:solidFill>
                  <a:srgbClr val="0000FF"/>
                </a:solidFill>
              </a:rPr>
              <a:t>三态</a:t>
            </a:r>
            <a:r>
              <a:rPr lang="zh-CN" altLang="en-US" dirty="0"/>
              <a:t>）：</a:t>
            </a:r>
            <a:endParaRPr lang="zh-CN" altLang="en-US" dirty="0"/>
          </a:p>
          <a:p>
            <a:pPr eaLnBrk="1" hangingPunct="1">
              <a:buNone/>
            </a:pPr>
            <a:r>
              <a:rPr lang="zh-CN" altLang="en-US" dirty="0"/>
              <a:t>   </a:t>
            </a:r>
            <a:r>
              <a:rPr lang="zh-CN" altLang="en-US" dirty="0">
                <a:solidFill>
                  <a:schemeClr val="folHlink"/>
                </a:solidFill>
              </a:rPr>
              <a:t>晶态、（ </a:t>
            </a:r>
            <a:r>
              <a:rPr lang="en-US" altLang="zh-CN" dirty="0">
                <a:solidFill>
                  <a:schemeClr val="folHlink"/>
                </a:solidFill>
              </a:rPr>
              <a:t>T</a:t>
            </a:r>
            <a:r>
              <a:rPr lang="en-US" altLang="zh-CN" baseline="-25000" dirty="0">
                <a:solidFill>
                  <a:schemeClr val="folHlink"/>
                </a:solidFill>
              </a:rPr>
              <a:t>m </a:t>
            </a:r>
            <a:r>
              <a:rPr lang="zh-CN" altLang="en-US" dirty="0">
                <a:solidFill>
                  <a:schemeClr val="folHlink"/>
                </a:solidFill>
              </a:rPr>
              <a:t>）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0000"/>
                </a:solidFill>
              </a:rPr>
              <a:t>高弹态</a:t>
            </a:r>
            <a:r>
              <a:rPr lang="zh-CN" altLang="en-US" dirty="0"/>
              <a:t>、 （ </a:t>
            </a:r>
            <a:r>
              <a:rPr lang="en-US" altLang="zh-CN" dirty="0"/>
              <a:t>T</a:t>
            </a:r>
            <a:r>
              <a:rPr lang="en-US" altLang="zh-CN" baseline="-25000" dirty="0"/>
              <a:t>f</a:t>
            </a:r>
            <a:r>
              <a:rPr lang="en-US" altLang="zh-CN" dirty="0"/>
              <a:t> </a:t>
            </a:r>
            <a:r>
              <a:rPr lang="zh-CN" altLang="en-US" dirty="0"/>
              <a:t>）</a:t>
            </a:r>
            <a:r>
              <a:rPr lang="zh-CN" altLang="en-US" dirty="0">
                <a:solidFill>
                  <a:schemeClr val="folHlink"/>
                </a:solidFill>
              </a:rPr>
              <a:t>粘流态</a:t>
            </a:r>
            <a:endParaRPr lang="zh-CN" altLang="en-US" dirty="0">
              <a:solidFill>
                <a:schemeClr val="folHlink"/>
              </a:solidFill>
            </a:endParaRPr>
          </a:p>
        </p:txBody>
      </p:sp>
      <p:pic>
        <p:nvPicPr>
          <p:cNvPr id="124932" name="Picture 4" descr="fi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5105400" y="1857375"/>
            <a:ext cx="4038600" cy="33226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4934" name="日期占位符 1"/>
          <p:cNvSpPr>
            <a:spLocks noGrp="1"/>
          </p:cNvSpPr>
          <p:nvPr>
            <p:ph type="dt" sz="half" idx="10"/>
          </p:nvPr>
        </p:nvSpPr>
        <p:spPr>
          <a:xfrm>
            <a:off x="88900" y="6538913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85188" y="6581775"/>
            <a:ext cx="600075" cy="255588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25954" name="Rectangle 2"/>
          <p:cNvSpPr>
            <a:spLocks noGrp="1"/>
          </p:cNvSpPr>
          <p:nvPr>
            <p:ph type="title"/>
          </p:nvPr>
        </p:nvSpPr>
        <p:spPr>
          <a:xfrm>
            <a:off x="1186180" y="-114300"/>
            <a:ext cx="7600950" cy="1143000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zh-CN" altLang="en-US" b="1" i="1" dirty="0">
                <a:solidFill>
                  <a:srgbClr val="FF0000"/>
                </a:solidFill>
                <a:ea typeface="华文中宋" panose="02010600040101010101" pitchFamily="2" charset="-122"/>
              </a:rPr>
              <a:t>高分子聚合物的分类</a:t>
            </a:r>
            <a:r>
              <a:rPr lang="en-US" altLang="zh-CN" b="1" i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——</a:t>
            </a:r>
            <a:r>
              <a:rPr lang="zh-CN" altLang="en-US" b="1" i="1" dirty="0">
                <a:solidFill>
                  <a:srgbClr val="FF0000"/>
                </a:solidFill>
                <a:ea typeface="华文中宋" panose="02010600040101010101" pitchFamily="2" charset="-122"/>
              </a:rPr>
              <a:t>方法</a:t>
            </a:r>
            <a:endParaRPr lang="zh-CN" altLang="en-US" b="1" i="1" dirty="0">
              <a:solidFill>
                <a:srgbClr val="FF0000"/>
              </a:solidFill>
              <a:ea typeface="华文中宋" panose="02010600040101010101" pitchFamily="2" charset="-122"/>
            </a:endParaRPr>
          </a:p>
        </p:txBody>
      </p:sp>
      <p:sp>
        <p:nvSpPr>
          <p:cNvPr id="125955" name="Rectangle 3"/>
          <p:cNvSpPr>
            <a:spLocks noGrp="1"/>
          </p:cNvSpPr>
          <p:nvPr>
            <p:ph idx="1"/>
          </p:nvPr>
        </p:nvSpPr>
        <p:spPr>
          <a:xfrm>
            <a:off x="467995" y="2132965"/>
            <a:ext cx="8286750" cy="4105275"/>
          </a:xfrm>
        </p:spPr>
        <p:txBody>
          <a:bodyPr wrap="square" lIns="91440" tIns="45720" rIns="91440" bIns="45720" anchor="t"/>
          <a:lstStyle/>
          <a:p>
            <a:pPr eaLnBrk="1" latinLnBrk="0" hangingPunct="1">
              <a:lnSpc>
                <a:spcPct val="90000"/>
              </a:lnSpc>
              <a:spcBef>
                <a:spcPts val="0"/>
              </a:spcBef>
            </a:pPr>
            <a:r>
              <a:rPr lang="zh-CN" altLang="en-US" sz="2400" dirty="0"/>
              <a:t>按聚合物的热行为分</a:t>
            </a:r>
            <a:endParaRPr lang="zh-CN" altLang="en-US" sz="2400" dirty="0"/>
          </a:p>
          <a:p>
            <a:pPr eaLnBrk="1" latinLnBrk="0" hangingPunct="1">
              <a:lnSpc>
                <a:spcPct val="90000"/>
              </a:lnSpc>
              <a:spcBef>
                <a:spcPts val="0"/>
              </a:spcBef>
              <a:buNone/>
            </a:pPr>
            <a:endParaRPr lang="zh-CN" altLang="en-US" sz="2400" dirty="0"/>
          </a:p>
          <a:p>
            <a:pPr eaLnBrk="1" latinLnBrk="0" hangingPunct="1">
              <a:lnSpc>
                <a:spcPct val="90000"/>
              </a:lnSpc>
              <a:spcBef>
                <a:spcPts val="0"/>
              </a:spcBef>
            </a:pPr>
            <a:r>
              <a:rPr lang="zh-CN" altLang="en-US" sz="2400" dirty="0"/>
              <a:t>按主链结构分</a:t>
            </a:r>
            <a:endParaRPr lang="zh-CN" altLang="en-US" sz="2400" dirty="0"/>
          </a:p>
          <a:p>
            <a:pPr eaLnBrk="1" latinLnBrk="0" hangingPunct="1">
              <a:lnSpc>
                <a:spcPct val="90000"/>
              </a:lnSpc>
              <a:spcBef>
                <a:spcPts val="0"/>
              </a:spcBef>
              <a:buNone/>
            </a:pPr>
            <a:endParaRPr lang="zh-CN" altLang="en-US" sz="2400" dirty="0"/>
          </a:p>
          <a:p>
            <a:pPr eaLnBrk="1" latinLnBrk="0" hangingPunct="1">
              <a:lnSpc>
                <a:spcPct val="90000"/>
              </a:lnSpc>
              <a:spcBef>
                <a:spcPts val="0"/>
              </a:spcBef>
            </a:pPr>
            <a:r>
              <a:rPr lang="zh-CN" altLang="en-US" sz="2400" dirty="0"/>
              <a:t>按聚合物的性能、用途分</a:t>
            </a:r>
            <a:endParaRPr lang="zh-CN" altLang="en-US" sz="2400" dirty="0"/>
          </a:p>
          <a:p>
            <a:pPr eaLnBrk="1" latinLnBrk="0" hangingPunct="1">
              <a:lnSpc>
                <a:spcPct val="90000"/>
              </a:lnSpc>
              <a:spcBef>
                <a:spcPts val="0"/>
              </a:spcBef>
              <a:buNone/>
            </a:pPr>
            <a:endParaRPr lang="zh-CN" altLang="en-US" sz="2400" dirty="0"/>
          </a:p>
          <a:p>
            <a:pPr eaLnBrk="1" latinLnBrk="0" hangingPunct="1">
              <a:lnSpc>
                <a:spcPct val="90000"/>
              </a:lnSpc>
              <a:spcBef>
                <a:spcPts val="0"/>
              </a:spcBef>
            </a:pPr>
            <a:r>
              <a:rPr lang="zh-CN" altLang="en-US" sz="2400" dirty="0"/>
              <a:t>按分子链几何形状分：线型、体型</a:t>
            </a:r>
            <a:endParaRPr lang="zh-CN" altLang="en-US" sz="2400" dirty="0"/>
          </a:p>
          <a:p>
            <a:pPr eaLnBrk="1" latinLnBrk="0" hangingPunct="1">
              <a:lnSpc>
                <a:spcPct val="90000"/>
              </a:lnSpc>
              <a:spcBef>
                <a:spcPts val="0"/>
              </a:spcBef>
              <a:buNone/>
            </a:pPr>
            <a:endParaRPr lang="zh-CN" altLang="en-US" sz="2400" dirty="0"/>
          </a:p>
          <a:p>
            <a:pPr eaLnBrk="1" latinLnBrk="0" hangingPunct="1">
              <a:lnSpc>
                <a:spcPct val="90000"/>
              </a:lnSpc>
              <a:spcBef>
                <a:spcPts val="0"/>
              </a:spcBef>
            </a:pPr>
            <a:r>
              <a:rPr lang="zh-CN" altLang="en-US" sz="2400" dirty="0"/>
              <a:t>按人工合成时的反应分类：加聚（均聚、共聚）、缩聚</a:t>
            </a:r>
            <a:endParaRPr lang="zh-CN" altLang="en-US" sz="2400" dirty="0"/>
          </a:p>
        </p:txBody>
      </p:sp>
      <p:sp>
        <p:nvSpPr>
          <p:cNvPr id="125957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494463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67725" y="6546850"/>
            <a:ext cx="676275" cy="287338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26978" name="Rectangle 2"/>
          <p:cNvSpPr>
            <a:spLocks noGrp="1"/>
          </p:cNvSpPr>
          <p:nvPr>
            <p:ph type="title"/>
          </p:nvPr>
        </p:nvSpPr>
        <p:spPr>
          <a:xfrm>
            <a:off x="1182688" y="0"/>
            <a:ext cx="6958012" cy="914400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zh-CN" altLang="en-US" b="1" i="1" dirty="0">
                <a:solidFill>
                  <a:srgbClr val="FF0000"/>
                </a:solidFill>
                <a:ea typeface="华文中宋" panose="02010600040101010101" pitchFamily="2" charset="-122"/>
              </a:rPr>
              <a:t>高分子聚合物的分类（图）</a:t>
            </a:r>
            <a:endParaRPr lang="zh-CN" altLang="en-US" b="1" i="1" dirty="0">
              <a:solidFill>
                <a:srgbClr val="FF0000"/>
              </a:solidFill>
              <a:ea typeface="华文中宋" panose="02010600040101010101" pitchFamily="2" charset="-122"/>
            </a:endParaRPr>
          </a:p>
        </p:txBody>
      </p:sp>
      <p:sp>
        <p:nvSpPr>
          <p:cNvPr id="126979" name="Rectangle 3"/>
          <p:cNvSpPr>
            <a:spLocks noGrp="1"/>
          </p:cNvSpPr>
          <p:nvPr>
            <p:ph idx="1"/>
          </p:nvPr>
        </p:nvSpPr>
        <p:spPr/>
        <p:txBody>
          <a:bodyPr wrap="square" lIns="91440" tIns="45720" rIns="91440" bIns="45720" anchor="t"/>
          <a:lstStyle/>
          <a:p>
            <a:pPr eaLnBrk="1" hangingPunct="1"/>
            <a:endParaRPr lang="zh-CN" altLang="zh-CN" dirty="0"/>
          </a:p>
        </p:txBody>
      </p:sp>
      <p:pic>
        <p:nvPicPr>
          <p:cNvPr id="126980" name="Picture 4" descr="fi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251460" y="1484630"/>
            <a:ext cx="8763000" cy="5022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6982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9863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28063" y="6594475"/>
            <a:ext cx="488950" cy="276225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28002" name="Rectangle 2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zh-CN" altLang="en-US" b="1" i="1" dirty="0">
                <a:solidFill>
                  <a:srgbClr val="FF0000"/>
                </a:solidFill>
                <a:ea typeface="华文中宋" panose="02010600040101010101" pitchFamily="2" charset="-122"/>
              </a:rPr>
              <a:t>高分子聚合物的分类</a:t>
            </a:r>
            <a:br>
              <a:rPr lang="zh-CN" altLang="en-US" b="1" i="1" dirty="0">
                <a:solidFill>
                  <a:schemeClr val="folHlink"/>
                </a:solidFill>
                <a:ea typeface="华文中宋" panose="02010600040101010101" pitchFamily="2" charset="-122"/>
              </a:rPr>
            </a:br>
            <a:r>
              <a:rPr lang="en-US" altLang="zh-CN" b="1" i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——</a:t>
            </a:r>
            <a:r>
              <a:rPr lang="zh-CN" altLang="en-US" b="1" i="1" dirty="0">
                <a:solidFill>
                  <a:schemeClr val="folHlink"/>
                </a:solidFill>
                <a:ea typeface="华文中宋" panose="02010600040101010101" pitchFamily="2" charset="-122"/>
              </a:rPr>
              <a:t>按聚合物的</a:t>
            </a:r>
            <a:r>
              <a:rPr lang="zh-CN" altLang="en-US" b="1" i="1" dirty="0">
                <a:solidFill>
                  <a:srgbClr val="FF0000"/>
                </a:solidFill>
                <a:ea typeface="华文中宋" panose="02010600040101010101" pitchFamily="2" charset="-122"/>
              </a:rPr>
              <a:t>热行为</a:t>
            </a:r>
            <a:r>
              <a:rPr lang="zh-CN" altLang="en-US" b="1" i="1" dirty="0">
                <a:solidFill>
                  <a:schemeClr val="folHlink"/>
                </a:solidFill>
                <a:ea typeface="华文中宋" panose="02010600040101010101" pitchFamily="2" charset="-122"/>
              </a:rPr>
              <a:t>分</a:t>
            </a:r>
            <a:endParaRPr lang="zh-CN" altLang="en-US" b="1" i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sp>
        <p:nvSpPr>
          <p:cNvPr id="128003" name="Rectangle 3"/>
          <p:cNvSpPr>
            <a:spLocks noGrp="1"/>
          </p:cNvSpPr>
          <p:nvPr>
            <p:ph idx="1"/>
          </p:nvPr>
        </p:nvSpPr>
        <p:spPr>
          <a:xfrm>
            <a:off x="685800" y="2133600"/>
            <a:ext cx="7772400" cy="4114800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dirty="0">
                <a:solidFill>
                  <a:schemeClr val="folHlink"/>
                </a:solidFill>
              </a:rPr>
              <a:t>（</a:t>
            </a:r>
            <a:r>
              <a:rPr lang="en-US" altLang="zh-CN" dirty="0">
                <a:solidFill>
                  <a:schemeClr val="folHlink"/>
                </a:solidFill>
              </a:rPr>
              <a:t>1</a:t>
            </a:r>
            <a:r>
              <a:rPr lang="zh-CN" altLang="en-US" dirty="0">
                <a:solidFill>
                  <a:schemeClr val="folHlink"/>
                </a:solidFill>
              </a:rPr>
              <a:t>）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热塑性</a:t>
            </a:r>
            <a:r>
              <a:rPr lang="zh-CN" altLang="en-US" dirty="0"/>
              <a:t>：</a:t>
            </a:r>
            <a:r>
              <a:rPr lang="zh-CN" altLang="en-US" dirty="0">
                <a:latin typeface="宋体" panose="02010600030101010101" pitchFamily="2" charset="-122"/>
              </a:rPr>
              <a:t>①</a:t>
            </a:r>
            <a:r>
              <a:rPr lang="zh-CN" altLang="en-US" dirty="0"/>
              <a:t>加热熔融、冷却凝固； </a:t>
            </a:r>
            <a:r>
              <a:rPr lang="zh-CN" altLang="en-US" dirty="0">
                <a:latin typeface="宋体" panose="02010600030101010101" pitchFamily="2" charset="-122"/>
              </a:rPr>
              <a:t>②</a:t>
            </a:r>
            <a:r>
              <a:rPr lang="zh-CN" altLang="en-US" dirty="0"/>
              <a:t>可反复进行； </a:t>
            </a:r>
            <a:r>
              <a:rPr lang="zh-CN" altLang="en-US" dirty="0">
                <a:latin typeface="宋体" panose="02010600030101010101" pitchFamily="2" charset="-122"/>
              </a:rPr>
              <a:t>③</a:t>
            </a:r>
            <a:r>
              <a:rPr lang="zh-CN" altLang="en-US" dirty="0"/>
              <a:t>线型分子结构；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dirty="0"/>
              <a:t>    </a:t>
            </a:r>
            <a:r>
              <a:rPr lang="zh-CN" altLang="en-US" dirty="0"/>
              <a:t> </a:t>
            </a:r>
            <a:r>
              <a:rPr lang="zh-CN" altLang="en-US" dirty="0">
                <a:latin typeface="宋体" panose="02010600030101010101" pitchFamily="2" charset="-122"/>
              </a:rPr>
              <a:t>④实例：</a:t>
            </a:r>
            <a:r>
              <a:rPr lang="zh-CN" altLang="en-US" b="1" dirty="0">
                <a:solidFill>
                  <a:srgbClr val="0000FF"/>
                </a:solidFill>
              </a:rPr>
              <a:t>聚乙烯、聚丙烯</a:t>
            </a:r>
            <a:endParaRPr lang="zh-CN" altLang="en-US" dirty="0"/>
          </a:p>
          <a:p>
            <a:pPr eaLnBrk="1" hangingPunct="1">
              <a:buNone/>
            </a:pPr>
            <a:r>
              <a:rPr lang="zh-CN" altLang="en-US" dirty="0"/>
              <a:t>    </a:t>
            </a:r>
            <a:endParaRPr lang="zh-CN" altLang="en-US" dirty="0"/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</a:rPr>
              <a:t>（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热固性</a:t>
            </a:r>
            <a:r>
              <a:rPr lang="zh-CN" altLang="en-US" dirty="0"/>
              <a:t>：</a:t>
            </a:r>
            <a:r>
              <a:rPr lang="zh-CN" altLang="en-US" dirty="0">
                <a:latin typeface="宋体" panose="02010600030101010101" pitchFamily="2" charset="-122"/>
              </a:rPr>
              <a:t>①</a:t>
            </a:r>
            <a:r>
              <a:rPr lang="zh-CN" altLang="en-US" dirty="0"/>
              <a:t>加热成型， </a:t>
            </a:r>
            <a:r>
              <a:rPr lang="zh-CN" altLang="en-US" dirty="0">
                <a:latin typeface="宋体" panose="02010600030101010101" pitchFamily="2" charset="-122"/>
              </a:rPr>
              <a:t>②</a:t>
            </a:r>
            <a:r>
              <a:rPr lang="zh-CN" altLang="en-US" dirty="0"/>
              <a:t>不可反复； </a:t>
            </a:r>
            <a:r>
              <a:rPr lang="zh-CN" altLang="en-US" dirty="0">
                <a:latin typeface="宋体" panose="02010600030101010101" pitchFamily="2" charset="-122"/>
              </a:rPr>
              <a:t>③</a:t>
            </a:r>
            <a:r>
              <a:rPr lang="zh-CN" altLang="en-US" dirty="0"/>
              <a:t>三维网络结构； 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dirty="0">
                <a:latin typeface="宋体" panose="02010600030101010101" pitchFamily="2" charset="-122"/>
              </a:rPr>
              <a:t>    </a:t>
            </a:r>
            <a:r>
              <a:rPr lang="zh-CN" altLang="en-US" dirty="0">
                <a:latin typeface="宋体" panose="02010600030101010101" pitchFamily="2" charset="-122"/>
              </a:rPr>
              <a:t>④实例：</a:t>
            </a:r>
            <a:r>
              <a:rPr lang="zh-CN" altLang="en-US" dirty="0"/>
              <a:t>不饱和聚酯树脂、</a:t>
            </a:r>
            <a:r>
              <a:rPr lang="zh-CN" altLang="en-US" b="1" dirty="0">
                <a:solidFill>
                  <a:srgbClr val="0000FF"/>
                </a:solidFill>
              </a:rPr>
              <a:t>酚醛树脂</a:t>
            </a:r>
            <a:endParaRPr lang="zh-CN" altLang="en-US" dirty="0"/>
          </a:p>
        </p:txBody>
      </p:sp>
      <p:sp>
        <p:nvSpPr>
          <p:cNvPr id="128005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27800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89963" y="6572250"/>
            <a:ext cx="538162" cy="277813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29026" name="Rectangle 2"/>
          <p:cNvSpPr>
            <a:spLocks noGrp="1"/>
          </p:cNvSpPr>
          <p:nvPr>
            <p:ph type="title"/>
          </p:nvPr>
        </p:nvSpPr>
        <p:spPr>
          <a:xfrm>
            <a:off x="1928813" y="214313"/>
            <a:ext cx="6215062" cy="1462087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zh-CN" altLang="en-US" b="1" i="1" dirty="0">
                <a:solidFill>
                  <a:srgbClr val="FF0000"/>
                </a:solidFill>
                <a:ea typeface="华文中宋" panose="02010600040101010101" pitchFamily="2" charset="-122"/>
              </a:rPr>
              <a:t>高分子聚合物的分类</a:t>
            </a:r>
            <a:br>
              <a:rPr lang="zh-CN" altLang="en-US" b="1" i="1" dirty="0">
                <a:solidFill>
                  <a:srgbClr val="FF0000"/>
                </a:solidFill>
                <a:ea typeface="华文中宋" panose="02010600040101010101" pitchFamily="2" charset="-122"/>
              </a:rPr>
            </a:br>
            <a:r>
              <a:rPr lang="en-US" altLang="zh-CN" b="1" i="1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——</a:t>
            </a:r>
            <a:r>
              <a:rPr lang="zh-CN" altLang="en-US" b="1" i="1" dirty="0">
                <a:solidFill>
                  <a:schemeClr val="tx1"/>
                </a:solidFill>
                <a:ea typeface="华文中宋" panose="02010600040101010101" pitchFamily="2" charset="-122"/>
              </a:rPr>
              <a:t>按</a:t>
            </a:r>
            <a:r>
              <a:rPr lang="zh-CN" altLang="en-US" b="1" i="1" dirty="0">
                <a:solidFill>
                  <a:srgbClr val="FF0000"/>
                </a:solidFill>
                <a:ea typeface="华文中宋" panose="02010600040101010101" pitchFamily="2" charset="-122"/>
              </a:rPr>
              <a:t>主链结构</a:t>
            </a:r>
            <a:r>
              <a:rPr lang="zh-CN" altLang="en-US" b="1" i="1" dirty="0">
                <a:solidFill>
                  <a:schemeClr val="tx1"/>
                </a:solidFill>
                <a:ea typeface="华文中宋" panose="02010600040101010101" pitchFamily="2" charset="-122"/>
              </a:rPr>
              <a:t>分</a:t>
            </a:r>
            <a:endParaRPr lang="zh-CN" altLang="en-US" b="1" i="1" dirty="0">
              <a:solidFill>
                <a:schemeClr val="tx1"/>
              </a:solidFill>
              <a:ea typeface="华文中宋" panose="02010600040101010101" pitchFamily="2" charset="-122"/>
            </a:endParaRPr>
          </a:p>
        </p:txBody>
      </p:sp>
      <p:sp>
        <p:nvSpPr>
          <p:cNvPr id="129027" name="Rectangle 3"/>
          <p:cNvSpPr>
            <a:spLocks noGrp="1"/>
          </p:cNvSpPr>
          <p:nvPr>
            <p:ph idx="1"/>
          </p:nvPr>
        </p:nvSpPr>
        <p:spPr>
          <a:xfrm>
            <a:off x="357188" y="2000250"/>
            <a:ext cx="8535987" cy="4214813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碳链聚合物：</a:t>
            </a:r>
            <a:r>
              <a:rPr lang="zh-CN" altLang="en-US" sz="2800" dirty="0"/>
              <a:t>主链由碳原子构成；聚乙烯、聚丙烯、聚录乙烯、聚丁二烯</a:t>
            </a:r>
            <a:r>
              <a:rPr lang="en-US" altLang="zh-CN" sz="2800" dirty="0">
                <a:latin typeface="Arial" panose="020B0604020202020204" pitchFamily="34" charset="0"/>
              </a:rPr>
              <a:t>……</a:t>
            </a:r>
            <a:endParaRPr lang="en-US" altLang="zh-CN" sz="2800" dirty="0"/>
          </a:p>
          <a:p>
            <a:pPr eaLnBrk="1" hangingPunct="1"/>
            <a:endParaRPr lang="en-US" altLang="zh-CN" sz="2800" dirty="0"/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杂链聚合物：</a:t>
            </a:r>
            <a:r>
              <a:rPr lang="zh-CN" altLang="en-US" sz="2800" dirty="0"/>
              <a:t>主链由碳</a:t>
            </a:r>
            <a:r>
              <a:rPr lang="en-US" altLang="zh-CN" sz="2800" dirty="0"/>
              <a:t>+</a:t>
            </a:r>
            <a:r>
              <a:rPr lang="zh-CN" altLang="en-US" sz="2800" dirty="0"/>
              <a:t>杂质原子（氧、氮、硫等）构成；聚醚、聚酯、聚酰胺、聚氨酯</a:t>
            </a:r>
            <a:r>
              <a:rPr lang="en-US" altLang="zh-CN" sz="2800" dirty="0">
                <a:latin typeface="Arial" panose="020B0604020202020204" pitchFamily="34" charset="0"/>
              </a:rPr>
              <a:t>……</a:t>
            </a:r>
            <a:endParaRPr lang="en-US" altLang="zh-CN" sz="2800" dirty="0"/>
          </a:p>
          <a:p>
            <a:pPr eaLnBrk="1" hangingPunct="1"/>
            <a:endParaRPr lang="en-US" altLang="zh-CN" sz="2800" dirty="0"/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元素有机聚合物：</a:t>
            </a:r>
            <a:r>
              <a:rPr lang="zh-CN" altLang="en-US" sz="2800" dirty="0"/>
              <a:t>主链由硅、硼、铝、氧、氮、硫、磷等原子构成（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没有碳</a:t>
            </a:r>
            <a:r>
              <a:rPr lang="zh-CN" altLang="en-US" sz="2800" dirty="0"/>
              <a:t>） ；聚有机硅氧烷</a:t>
            </a:r>
            <a:endParaRPr lang="zh-CN" altLang="en-US" sz="2800" dirty="0"/>
          </a:p>
        </p:txBody>
      </p:sp>
      <p:sp>
        <p:nvSpPr>
          <p:cNvPr id="129029" name="日期占位符 1"/>
          <p:cNvSpPr>
            <a:spLocks noGrp="1"/>
          </p:cNvSpPr>
          <p:nvPr>
            <p:ph type="dt" sz="half" idx="10"/>
          </p:nvPr>
        </p:nvSpPr>
        <p:spPr>
          <a:xfrm>
            <a:off x="23813" y="6507163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605588"/>
            <a:ext cx="488950" cy="265112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30050" name="Rectangle 2"/>
          <p:cNvSpPr>
            <a:spLocks noGrp="1"/>
          </p:cNvSpPr>
          <p:nvPr>
            <p:ph type="title"/>
          </p:nvPr>
        </p:nvSpPr>
        <p:spPr>
          <a:xfrm>
            <a:off x="914400" y="109855"/>
            <a:ext cx="7772400" cy="1356995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zh-CN" altLang="en-US" b="1" i="1" dirty="0">
                <a:solidFill>
                  <a:srgbClr val="FF0000"/>
                </a:solidFill>
                <a:ea typeface="华文中宋" panose="02010600040101010101" pitchFamily="2" charset="-122"/>
              </a:rPr>
              <a:t>高分子聚合物的分类</a:t>
            </a:r>
            <a:br>
              <a:rPr lang="zh-CN" altLang="en-US" b="1" i="1" dirty="0">
                <a:solidFill>
                  <a:srgbClr val="FF0000"/>
                </a:solidFill>
                <a:ea typeface="华文中宋" panose="02010600040101010101" pitchFamily="2" charset="-122"/>
              </a:rPr>
            </a:br>
            <a:r>
              <a:rPr lang="en-US" altLang="zh-CN" b="1" i="1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——</a:t>
            </a:r>
            <a:r>
              <a:rPr lang="zh-CN" altLang="en-US" b="1" i="1" dirty="0">
                <a:solidFill>
                  <a:schemeClr val="tx1"/>
                </a:solidFill>
                <a:ea typeface="华文中宋" panose="02010600040101010101" pitchFamily="2" charset="-122"/>
              </a:rPr>
              <a:t>按聚合物的</a:t>
            </a:r>
            <a:r>
              <a:rPr lang="zh-CN" altLang="en-US" b="1" i="1" dirty="0">
                <a:solidFill>
                  <a:srgbClr val="FF0000"/>
                </a:solidFill>
                <a:ea typeface="华文中宋" panose="02010600040101010101" pitchFamily="2" charset="-122"/>
              </a:rPr>
              <a:t>性能、用途</a:t>
            </a:r>
            <a:r>
              <a:rPr lang="zh-CN" altLang="en-US" b="1" i="1" dirty="0">
                <a:solidFill>
                  <a:schemeClr val="tx1"/>
                </a:solidFill>
                <a:ea typeface="华文中宋" panose="02010600040101010101" pitchFamily="2" charset="-122"/>
              </a:rPr>
              <a:t>分</a:t>
            </a:r>
            <a:endParaRPr lang="zh-CN" altLang="en-US" b="1" i="1" dirty="0">
              <a:solidFill>
                <a:schemeClr val="tx1"/>
              </a:solidFill>
              <a:ea typeface="华文中宋" panose="02010600040101010101" pitchFamily="2" charset="-122"/>
            </a:endParaRPr>
          </a:p>
        </p:txBody>
      </p:sp>
      <p:sp>
        <p:nvSpPr>
          <p:cNvPr id="130051" name="Rectangle 3"/>
          <p:cNvSpPr>
            <a:spLocks noGrp="1"/>
          </p:cNvSpPr>
          <p:nvPr>
            <p:ph idx="1"/>
          </p:nvPr>
        </p:nvSpPr>
        <p:spPr>
          <a:xfrm>
            <a:off x="457200" y="1981200"/>
            <a:ext cx="8153400" cy="426720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塑料：</a:t>
            </a:r>
            <a:r>
              <a:rPr lang="zh-CN" altLang="en-US" dirty="0"/>
              <a:t>以</a:t>
            </a:r>
            <a:r>
              <a:rPr lang="zh-CN" altLang="en-US" dirty="0">
                <a:solidFill>
                  <a:schemeClr val="folHlink"/>
                </a:solidFill>
              </a:rPr>
              <a:t>合成树脂</a:t>
            </a:r>
            <a:r>
              <a:rPr lang="zh-CN" altLang="en-US" dirty="0"/>
              <a:t>为基料，加入（或不加）各种</a:t>
            </a:r>
            <a:r>
              <a:rPr lang="zh-CN" altLang="en-US" dirty="0">
                <a:solidFill>
                  <a:schemeClr val="folHlink"/>
                </a:solidFill>
              </a:rPr>
              <a:t>助剂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chemeClr val="folHlink"/>
                </a:solidFill>
              </a:rPr>
              <a:t>填料</a:t>
            </a:r>
            <a:r>
              <a:rPr lang="zh-CN" altLang="en-US" dirty="0"/>
              <a:t>而塑制成型的材料</a:t>
            </a:r>
            <a:endParaRPr lang="zh-CN" altLang="en-US" dirty="0"/>
          </a:p>
          <a:p>
            <a:pPr eaLnBrk="1" hangingPunct="1">
              <a:lnSpc>
                <a:spcPct val="90000"/>
              </a:lnSpc>
            </a:pPr>
            <a:endParaRPr lang="zh-CN" altLang="en-US" dirty="0"/>
          </a:p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橡胶：</a:t>
            </a:r>
            <a:r>
              <a:rPr lang="zh-CN" altLang="en-US" dirty="0"/>
              <a:t>具有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可逆变形</a:t>
            </a:r>
            <a:r>
              <a:rPr lang="zh-CN" altLang="en-US" dirty="0"/>
              <a:t>的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高弹性</a:t>
            </a:r>
            <a:r>
              <a:rPr lang="zh-CN" altLang="en-US" dirty="0"/>
              <a:t>聚合物材料</a:t>
            </a:r>
            <a:endParaRPr lang="zh-CN" altLang="en-US" dirty="0"/>
          </a:p>
          <a:p>
            <a:pPr eaLnBrk="1" hangingPunct="1">
              <a:lnSpc>
                <a:spcPct val="90000"/>
              </a:lnSpc>
            </a:pPr>
            <a:endParaRPr lang="zh-CN" altLang="en-US" dirty="0"/>
          </a:p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纤维：</a:t>
            </a:r>
            <a:r>
              <a:rPr lang="zh-CN" altLang="en-US" dirty="0"/>
              <a:t>柔软而纤细的丝状物，如尼龙</a:t>
            </a:r>
            <a:endParaRPr lang="zh-CN" altLang="en-US" dirty="0"/>
          </a:p>
          <a:p>
            <a:pPr eaLnBrk="1" hangingPunct="1">
              <a:lnSpc>
                <a:spcPct val="90000"/>
              </a:lnSpc>
            </a:pPr>
            <a:endParaRPr lang="zh-CN" altLang="en-US" dirty="0"/>
          </a:p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黏结剂</a:t>
            </a:r>
            <a:endParaRPr lang="zh-CN" altLang="en-US" b="1" dirty="0">
              <a:solidFill>
                <a:schemeClr val="folHlink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130053" name="日期占位符 1"/>
          <p:cNvSpPr>
            <a:spLocks noGrp="1"/>
          </p:cNvSpPr>
          <p:nvPr>
            <p:ph type="dt" sz="half" idx="10"/>
          </p:nvPr>
        </p:nvSpPr>
        <p:spPr>
          <a:xfrm>
            <a:off x="111125" y="6527800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308975" y="6507480"/>
            <a:ext cx="638175" cy="272415"/>
          </a:xfrm>
        </p:spPr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37218" name="Rectangle 2"/>
          <p:cNvSpPr>
            <a:spLocks noGrp="1"/>
          </p:cNvSpPr>
          <p:nvPr>
            <p:ph type="title"/>
          </p:nvPr>
        </p:nvSpPr>
        <p:spPr>
          <a:xfrm>
            <a:off x="1095375" y="157162"/>
            <a:ext cx="7793037" cy="1462087"/>
          </a:xfrm>
        </p:spPr>
        <p:txBody>
          <a:bodyPr wrap="square" lIns="91440" tIns="45720" rIns="91440" bIns="45720" anchor="b"/>
          <a:lstStyle/>
          <a:p>
            <a:pPr eaLnBrk="1" hangingPunct="1"/>
            <a:r>
              <a:rPr lang="zh-CN" altLang="en-US" b="1" dirty="0">
                <a:solidFill>
                  <a:srgbClr val="FF0000"/>
                </a:solidFill>
              </a:rPr>
              <a:t>作业（</a:t>
            </a:r>
            <a:r>
              <a:rPr lang="en-US" altLang="zh-CN" b="1" dirty="0">
                <a:solidFill>
                  <a:srgbClr val="FF0000"/>
                </a:solidFill>
              </a:rPr>
              <a:t>p36</a:t>
            </a:r>
            <a:r>
              <a:rPr lang="zh-CN" altLang="en-US" b="1" dirty="0">
                <a:solidFill>
                  <a:srgbClr val="FF0000"/>
                </a:solidFill>
              </a:rPr>
              <a:t>）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37219" name="Rectangle 3"/>
          <p:cNvSpPr>
            <a:spLocks noGrp="1"/>
          </p:cNvSpPr>
          <p:nvPr>
            <p:ph idx="1"/>
          </p:nvPr>
        </p:nvSpPr>
        <p:spPr>
          <a:xfrm>
            <a:off x="933450" y="2018030"/>
            <a:ext cx="8021955" cy="4114800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en-US" altLang="zh-CN" dirty="0"/>
              <a:t>2-1</a:t>
            </a:r>
            <a:r>
              <a:rPr lang="zh-CN" altLang="en-US" dirty="0"/>
              <a:t> 试计算面心立方晶体的致密度。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en-US" altLang="zh-CN" dirty="0"/>
              <a:t>2-2 </a:t>
            </a:r>
            <a:r>
              <a:rPr lang="zh-CN" altLang="en-US" dirty="0"/>
              <a:t>已知</a:t>
            </a:r>
            <a:r>
              <a:rPr lang="zh-CN" altLang="en-US" dirty="0">
                <a:sym typeface="Symbol" panose="05050102010706020507" pitchFamily="18" charset="2"/>
              </a:rPr>
              <a:t> </a:t>
            </a:r>
            <a:r>
              <a:rPr lang="en-US" altLang="zh-CN" dirty="0">
                <a:sym typeface="Symbol" panose="05050102010706020507" pitchFamily="18" charset="2"/>
              </a:rPr>
              <a:t>-Fe</a:t>
            </a:r>
            <a:r>
              <a:rPr lang="zh-CN" altLang="en-US" dirty="0">
                <a:sym typeface="Symbol" panose="05050102010706020507" pitchFamily="18" charset="2"/>
              </a:rPr>
              <a:t>的晶格常数（</a:t>
            </a:r>
            <a:r>
              <a:rPr lang="en-US" altLang="zh-CN" dirty="0">
                <a:sym typeface="Symbol" panose="05050102010706020507" pitchFamily="18" charset="2"/>
              </a:rPr>
              <a:t>a=3.63Å)</a:t>
            </a:r>
            <a:r>
              <a:rPr lang="zh-CN" altLang="en-US" dirty="0">
                <a:sym typeface="Symbol" panose="05050102010706020507" pitchFamily="18" charset="2"/>
              </a:rPr>
              <a:t>大于</a:t>
            </a:r>
            <a:r>
              <a:rPr lang="en-US" altLang="zh-CN" dirty="0">
                <a:sym typeface="Symbol" panose="05050102010706020507" pitchFamily="18" charset="2"/>
              </a:rPr>
              <a:t> -Fe</a:t>
            </a:r>
            <a:r>
              <a:rPr lang="zh-CN" altLang="en-US" dirty="0">
                <a:sym typeface="Symbol" panose="05050102010706020507" pitchFamily="18" charset="2"/>
              </a:rPr>
              <a:t>的晶格常数（</a:t>
            </a:r>
            <a:r>
              <a:rPr lang="en-US" altLang="zh-CN" dirty="0">
                <a:sym typeface="Symbol" panose="05050102010706020507" pitchFamily="18" charset="2"/>
              </a:rPr>
              <a:t>a=2.89Å)</a:t>
            </a:r>
            <a:r>
              <a:rPr lang="zh-CN" altLang="en-US" dirty="0">
                <a:sym typeface="Symbol" panose="05050102010706020507" pitchFamily="18" charset="2"/>
              </a:rPr>
              <a:t>，试说明 </a:t>
            </a:r>
            <a:r>
              <a:rPr lang="en-US" altLang="zh-CN" dirty="0">
                <a:sym typeface="Symbol" panose="05050102010706020507" pitchFamily="18" charset="2"/>
              </a:rPr>
              <a:t>-Fe</a:t>
            </a:r>
            <a:r>
              <a:rPr lang="zh-CN" altLang="en-US" dirty="0">
                <a:sym typeface="Symbol" panose="05050102010706020507" pitchFamily="18" charset="2"/>
              </a:rPr>
              <a:t>冷却到</a:t>
            </a:r>
            <a:r>
              <a:rPr lang="en-US" altLang="zh-CN" dirty="0">
                <a:sym typeface="Symbol" panose="05050102010706020507" pitchFamily="18" charset="2"/>
              </a:rPr>
              <a:t>912℃</a:t>
            </a:r>
            <a:r>
              <a:rPr lang="zh-CN" altLang="en-US" dirty="0">
                <a:sym typeface="Symbol" panose="05050102010706020507" pitchFamily="18" charset="2"/>
              </a:rPr>
              <a:t>转变为</a:t>
            </a:r>
            <a:r>
              <a:rPr lang="en-US" altLang="zh-CN" dirty="0">
                <a:sym typeface="Symbol" panose="05050102010706020507" pitchFamily="18" charset="2"/>
              </a:rPr>
              <a:t> -Fe </a:t>
            </a:r>
            <a:r>
              <a:rPr lang="zh-CN" altLang="en-US" dirty="0">
                <a:sym typeface="Symbol" panose="05050102010706020507" pitchFamily="18" charset="2"/>
              </a:rPr>
              <a:t>时，其体积</a:t>
            </a:r>
            <a:r>
              <a:rPr lang="zh-CN" altLang="en-US">
                <a:sym typeface="Symbol" panose="05050102010706020507" pitchFamily="18" charset="2"/>
              </a:rPr>
              <a:t>如何变化</a:t>
            </a:r>
            <a:r>
              <a:rPr lang="zh-CN" altLang="en-US" dirty="0">
                <a:sym typeface="Symbol" panose="05050102010706020507" pitchFamily="18" charset="2"/>
              </a:rPr>
              <a:t>？</a:t>
            </a:r>
            <a:endParaRPr lang="en-US" altLang="zh-CN" dirty="0"/>
          </a:p>
        </p:txBody>
      </p:sp>
      <p:sp>
        <p:nvSpPr>
          <p:cNvPr id="137221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429375"/>
            <a:ext cx="1905000" cy="342900"/>
          </a:xfrm>
        </p:spPr>
        <p:txBody>
          <a:bodyPr wrap="square" lIns="91440" tIns="45720" rIns="91440" bIns="45720"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8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/>
          <a:lstStyle/>
          <a:p>
            <a:pPr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38243" name="Rectangle 3"/>
          <p:cNvSpPr>
            <a:spLocks noGrp="1"/>
          </p:cNvSpPr>
          <p:nvPr>
            <p:ph idx="1"/>
          </p:nvPr>
        </p:nvSpPr>
        <p:spPr>
          <a:xfrm>
            <a:off x="1150938" y="1268760"/>
            <a:ext cx="7772400" cy="4114800"/>
          </a:xfrm>
        </p:spPr>
        <p:txBody>
          <a:bodyPr wrap="square" lIns="91440" tIns="45720" rIns="91440" bIns="45720" anchor="t"/>
          <a:lstStyle/>
          <a:p>
            <a:pPr algn="ctr" eaLnBrk="1" hangingPunct="1">
              <a:buNone/>
            </a:pPr>
            <a:endParaRPr lang="en-US" altLang="zh-CN" sz="6000" dirty="0">
              <a:solidFill>
                <a:srgbClr val="FF0000"/>
              </a:solidFill>
            </a:endParaRPr>
          </a:p>
          <a:p>
            <a:pPr algn="ctr" eaLnBrk="1" hangingPunct="1">
              <a:buNone/>
            </a:pPr>
            <a:r>
              <a:rPr lang="zh-CN" altLang="en-US" sz="8000" b="1" dirty="0">
                <a:solidFill>
                  <a:srgbClr val="FF0000"/>
                </a:solidFill>
              </a:rPr>
              <a:t>谢谢</a:t>
            </a:r>
            <a:r>
              <a:rPr lang="zh-CN" altLang="en-US" sz="8000" dirty="0">
                <a:solidFill>
                  <a:srgbClr val="FF0000"/>
                </a:solidFill>
              </a:rPr>
              <a:t>！</a:t>
            </a:r>
            <a:endParaRPr lang="en-US" altLang="zh-CN" sz="8000" dirty="0">
              <a:solidFill>
                <a:srgbClr val="FF0000"/>
              </a:solidFill>
            </a:endParaRPr>
          </a:p>
          <a:p>
            <a:pPr algn="ctr" eaLnBrk="1" hangingPunct="1">
              <a:buNone/>
            </a:pPr>
            <a:r>
              <a:rPr lang="en-US" altLang="zh-CN" sz="8000" i="1" dirty="0">
                <a:solidFill>
                  <a:srgbClr val="FF0000"/>
                </a:solidFill>
              </a:rPr>
              <a:t>Thanks</a:t>
            </a:r>
            <a:endParaRPr lang="zh-CN" altLang="en-US" sz="8000" i="1" dirty="0">
              <a:solidFill>
                <a:srgbClr val="FF0000"/>
              </a:solidFill>
            </a:endParaRPr>
          </a:p>
        </p:txBody>
      </p:sp>
      <p:pic>
        <p:nvPicPr>
          <p:cNvPr id="6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2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3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4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5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6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7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8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9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10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11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12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13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14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15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16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17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18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19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20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21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22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23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24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25.xml><?xml version="1.0" encoding="utf-8"?>
<p:tagLst xmlns:p="http://schemas.openxmlformats.org/presentationml/2006/main">
  <p:tag name="TABLE_ENDDRAG_ORIGIN_RECT" val="670*365"/>
  <p:tag name="TABLE_ENDDRAG_RECT" val="36*152*670*365"/>
</p:tagLst>
</file>

<file path=ppt/tags/tag26.xml><?xml version="1.0" encoding="utf-8"?>
<p:tagLst xmlns:p="http://schemas.openxmlformats.org/presentationml/2006/main">
  <p:tag name="TABLE_ENDDRAG_ORIGIN_RECT" val="354*349"/>
  <p:tag name="TABLE_ENDDRAG_RECT" val="22*157*354*349"/>
</p:tagLst>
</file>

<file path=ppt/tags/tag27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28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29.xml><?xml version="1.0" encoding="utf-8"?>
<p:tagLst xmlns:p="http://schemas.openxmlformats.org/presentationml/2006/main">
  <p:tag name="COMMONDATA" val="eyJoZGlkIjoiYWIxMGZkODRmZWFlMmJiZTRiODUwYmQ0N2UxMzdiOTYifQ==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0</TotalTime>
  <Words>11496</Words>
  <Application>WPS 演示</Application>
  <PresentationFormat>全屏显示(4:3)</PresentationFormat>
  <Paragraphs>1699</Paragraphs>
  <Slides>125</Slides>
  <Notes>15</Notes>
  <HiddenSlides>0</HiddenSlides>
  <MMClips>8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125</vt:i4>
      </vt:variant>
    </vt:vector>
  </HeadingPairs>
  <TitlesOfParts>
    <vt:vector size="146" baseType="lpstr">
      <vt:lpstr>Arial</vt:lpstr>
      <vt:lpstr>宋体</vt:lpstr>
      <vt:lpstr>Wingdings</vt:lpstr>
      <vt:lpstr>Tahoma</vt:lpstr>
      <vt:lpstr>Times New Roman</vt:lpstr>
      <vt:lpstr>华文中宋</vt:lpstr>
      <vt:lpstr>仿宋_GB2312</vt:lpstr>
      <vt:lpstr>仿宋</vt:lpstr>
      <vt:lpstr>楷体_GB2312</vt:lpstr>
      <vt:lpstr>新宋体</vt:lpstr>
      <vt:lpstr>微软雅黑</vt:lpstr>
      <vt:lpstr>Arial Unicode MS</vt:lpstr>
      <vt:lpstr>Symbol</vt:lpstr>
      <vt:lpstr>Arial Unicode MS</vt:lpstr>
      <vt:lpstr>Arial</vt:lpstr>
      <vt:lpstr>华文细黑</vt:lpstr>
      <vt:lpstr>仿宋_GB2312</vt:lpstr>
      <vt:lpstr>Times New Roman</vt:lpstr>
      <vt:lpstr>Wingdings</vt:lpstr>
      <vt:lpstr>华文仿宋</vt:lpstr>
      <vt:lpstr>Blends</vt:lpstr>
      <vt:lpstr>U2041170  《工程材料与成型技术》 Engineering Materials and Forming Technology   44+4学时，3学分</vt:lpstr>
      <vt:lpstr>第二章 金属材料的结构及二元合金相图</vt:lpstr>
      <vt:lpstr>本章主要教学目标 Learning Objectives</vt:lpstr>
      <vt:lpstr>本章主要教学内容</vt:lpstr>
      <vt:lpstr>一、金属材料的结构 Structure of Metallic Materials</vt:lpstr>
      <vt:lpstr>金属材料的结构</vt:lpstr>
      <vt:lpstr>（一）原子的结合方式 Atomic bonding type</vt:lpstr>
      <vt:lpstr>(一)原子的结合方式</vt:lpstr>
      <vt:lpstr>结合键的种类</vt:lpstr>
      <vt:lpstr>金属键  （Metallic bonding）</vt:lpstr>
      <vt:lpstr>离子键    （Ionic bonding）</vt:lpstr>
      <vt:lpstr>共价键  （Covalent bonding）</vt:lpstr>
      <vt:lpstr>分子键  （Molecular bonding）</vt:lpstr>
      <vt:lpstr>(二)晶体结构的基本概念  Basic terminologies for the crystal structure</vt:lpstr>
      <vt:lpstr>（二）晶体结构的基本概念</vt:lpstr>
      <vt:lpstr> 晶体、  非晶体  crystal、noncrystal</vt:lpstr>
      <vt:lpstr>晶体 vs 非晶体（续）</vt:lpstr>
      <vt:lpstr>晶格、晶胞 Lattice、Unit cell</vt:lpstr>
      <vt:lpstr>晶格常数  lattice constant</vt:lpstr>
      <vt:lpstr>晶系  Crystal system</vt:lpstr>
      <vt:lpstr>晶格尺寸  (Size of lattice)</vt:lpstr>
      <vt:lpstr>晶胞原子数</vt:lpstr>
      <vt:lpstr>原子半径  Atomic radius</vt:lpstr>
      <vt:lpstr>配位数  Coordination number</vt:lpstr>
      <vt:lpstr>{晶面族}、&lt;晶向族&gt;</vt:lpstr>
      <vt:lpstr>立方晶系晶面指数(米勒指数)的确定方法</vt:lpstr>
      <vt:lpstr>立方晶系的几个典型晶面及晶面族</vt:lpstr>
      <vt:lpstr>{110}</vt:lpstr>
      <vt:lpstr>立方晶系的晶向指数的确定方法</vt:lpstr>
      <vt:lpstr>立方晶系的晶向指数的确定示例</vt:lpstr>
      <vt:lpstr>&lt;111&gt;</vt:lpstr>
      <vt:lpstr>PowerPoint 演示文稿</vt:lpstr>
      <vt:lpstr>(三）金属的结构</vt:lpstr>
      <vt:lpstr>（三）金属的结构  Structure of Metals</vt:lpstr>
      <vt:lpstr>1.理想纯金属的晶态结构</vt:lpstr>
      <vt:lpstr>(1)体心立方晶格 Body centered cubic (BCC)</vt:lpstr>
      <vt:lpstr>PowerPoint 演示文稿</vt:lpstr>
      <vt:lpstr>(2)面心立方晶格 Face centered cubic (FCC) </vt:lpstr>
      <vt:lpstr>PowerPoint 演示文稿</vt:lpstr>
      <vt:lpstr>原子力显微镜（AFM：Atomic Force Microscope）下观察到的金（Au）的（111）面上规则排列的原子</vt:lpstr>
      <vt:lpstr>⑶ 密排六方晶格(hcp)  Hexagonal close packed</vt:lpstr>
      <vt:lpstr>PowerPoint 演示文稿</vt:lpstr>
      <vt:lpstr>PowerPoint 演示文稿</vt:lpstr>
      <vt:lpstr>PowerPoint 演示文稿</vt:lpstr>
      <vt:lpstr>密排面 close packed plane</vt:lpstr>
      <vt:lpstr>密排方向  close packed direction</vt:lpstr>
      <vt:lpstr>2、实际金属的晶体结构</vt:lpstr>
      <vt:lpstr>2、实际金属的晶体结构</vt:lpstr>
      <vt:lpstr>晶体缺陷  Crystal defect</vt:lpstr>
      <vt:lpstr>①点缺陷  Point defect</vt:lpstr>
      <vt:lpstr>点缺陷  Point defect</vt:lpstr>
      <vt:lpstr>点缺陷——置换原子（ Substitutional atom）</vt:lpstr>
      <vt:lpstr>②线缺陷（Linear defect） ——位错（Dislocation）</vt:lpstr>
      <vt:lpstr>②线缺陷——刃型位错</vt:lpstr>
      <vt:lpstr>PowerPoint 演示文稿</vt:lpstr>
      <vt:lpstr>电子显微镜下的位错</vt:lpstr>
      <vt:lpstr>电子显微镜下的位错观察</vt:lpstr>
      <vt:lpstr>③面缺陷（Interfacial defect）         ——晶界与亚晶界</vt:lpstr>
      <vt:lpstr>单晶体、多晶体  monocrystal、polycrystal</vt:lpstr>
      <vt:lpstr>PowerPoint 演示文稿</vt:lpstr>
      <vt:lpstr>PowerPoint 演示文稿</vt:lpstr>
      <vt:lpstr>PowerPoint 演示文稿</vt:lpstr>
      <vt:lpstr>PowerPoint 演示文稿</vt:lpstr>
      <vt:lpstr>3、合金的晶体结构 Crystal Structure of Alloys</vt:lpstr>
      <vt:lpstr>3、合金的晶体结构</vt:lpstr>
      <vt:lpstr>3、合金的晶体结构</vt:lpstr>
      <vt:lpstr>PowerPoint 演示文稿</vt:lpstr>
      <vt:lpstr>①置换固溶体 substitutional solid solution</vt:lpstr>
      <vt:lpstr>②间隙固溶体  interstitial solid solution</vt:lpstr>
      <vt:lpstr>③固溶体的溶解度  Solubility of solid solution</vt:lpstr>
      <vt:lpstr>固溶体</vt:lpstr>
      <vt:lpstr>④ 固溶体的性能</vt:lpstr>
      <vt:lpstr>⑵ 金属化合物</vt:lpstr>
      <vt:lpstr>金属化合物的主要类型</vt:lpstr>
      <vt:lpstr>合金中常见的电子化合物</vt:lpstr>
      <vt:lpstr>间隙化合物分类</vt:lpstr>
      <vt:lpstr>间隙化合物分类——a.间隙相</vt:lpstr>
      <vt:lpstr>间隙相VC的结构</vt:lpstr>
      <vt:lpstr>间隙化合物分类 ——具有复杂结构的间隙化合物</vt:lpstr>
      <vt:lpstr>4.金属的非晶态 The amorphous state of metals</vt:lpstr>
      <vt:lpstr>小结</vt:lpstr>
      <vt:lpstr>陶瓷的结构 Structure of Ceramics</vt:lpstr>
      <vt:lpstr>陶瓷的结构</vt:lpstr>
      <vt:lpstr>陶瓷的晶相</vt:lpstr>
      <vt:lpstr>硅酸盐的晶体结构</vt:lpstr>
      <vt:lpstr>氧化物的晶体结构</vt:lpstr>
      <vt:lpstr>陶瓷的晶相</vt:lpstr>
      <vt:lpstr>玻璃相</vt:lpstr>
      <vt:lpstr>气相</vt:lpstr>
      <vt:lpstr>陶瓷材料的晶体缺陷</vt:lpstr>
      <vt:lpstr>高分子材料的结构 Structure of Polymers</vt:lpstr>
      <vt:lpstr>高分子材料的结构</vt:lpstr>
      <vt:lpstr>高分子材料的组成</vt:lpstr>
      <vt:lpstr>高分子的组成（例）</vt:lpstr>
      <vt:lpstr>几种高分子材料的单体和链节</vt:lpstr>
      <vt:lpstr>大分子链的结构</vt:lpstr>
      <vt:lpstr>大分子链的链节排列形式</vt:lpstr>
      <vt:lpstr>大分子链的柔顺性</vt:lpstr>
      <vt:lpstr>高分子材料的结构与性能</vt:lpstr>
      <vt:lpstr>大分子链的形状</vt:lpstr>
      <vt:lpstr>线型高分子材料</vt:lpstr>
      <vt:lpstr>支链型高分子材料</vt:lpstr>
      <vt:lpstr>体型高分子材料</vt:lpstr>
      <vt:lpstr>高分子间的作用力及聚集状态</vt:lpstr>
      <vt:lpstr>高分子的聚集状态</vt:lpstr>
      <vt:lpstr>高分子的基本特点</vt:lpstr>
      <vt:lpstr>高分子聚合物的人工合成</vt:lpstr>
      <vt:lpstr>高分子聚合物的人工合成 ——均聚</vt:lpstr>
      <vt:lpstr>高分子聚合物的人工合成 ——缩聚</vt:lpstr>
      <vt:lpstr>高分子聚合物的人工合成 ——均缩聚</vt:lpstr>
      <vt:lpstr>高分子聚合物的人工合成 ——混缩聚</vt:lpstr>
      <vt:lpstr>高分子聚合物的人工合成 ——共缩聚</vt:lpstr>
      <vt:lpstr>高分子聚合物的力学状态</vt:lpstr>
      <vt:lpstr>1.线型无定形聚合物的力学三态</vt:lpstr>
      <vt:lpstr>线型无定形聚合物的力学三态 ——玻璃态</vt:lpstr>
      <vt:lpstr>线型无定形聚合物的力学三态 ——高弹态</vt:lpstr>
      <vt:lpstr>线型无定形聚合物的力学三态 ——粘流态</vt:lpstr>
      <vt:lpstr>结晶聚合物的力学状态</vt:lpstr>
      <vt:lpstr>高分子聚合物的分类——方法</vt:lpstr>
      <vt:lpstr>高分子聚合物的分类（图）</vt:lpstr>
      <vt:lpstr>高分子聚合物的分类 ——按聚合物的热行为分</vt:lpstr>
      <vt:lpstr>高分子聚合物的分类 ——按主链结构分</vt:lpstr>
      <vt:lpstr>高分子聚合物的分类 ——按聚合物的性能、用途分</vt:lpstr>
      <vt:lpstr>作业（p36）</vt:lpstr>
      <vt:lpstr>PowerPoint 演示文稿</vt:lpstr>
    </vt:vector>
  </TitlesOfParts>
  <Company>dlut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 材料的性能</dc:title>
  <dc:creator>yys</dc:creator>
  <cp:lastModifiedBy>liulin</cp:lastModifiedBy>
  <cp:revision>535</cp:revision>
  <dcterms:created xsi:type="dcterms:W3CDTF">2002-05-11T12:00:00Z</dcterms:created>
  <dcterms:modified xsi:type="dcterms:W3CDTF">2025-11-16T09:34:12Z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0C2CA1FCC73A4FC7A3C7C64C053B8C35_12</vt:lpwstr>
  </property>
</Properties>
</file>