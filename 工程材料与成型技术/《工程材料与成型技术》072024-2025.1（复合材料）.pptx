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438" r:id="rId3"/>
    <p:sldId id="439" r:id="rId4"/>
    <p:sldId id="440" r:id="rId5"/>
    <p:sldId id="393" r:id="rId6"/>
    <p:sldId id="294" r:id="rId7"/>
    <p:sldId id="295" r:id="rId8"/>
    <p:sldId id="257" r:id="rId9"/>
    <p:sldId id="394" r:id="rId10"/>
    <p:sldId id="317" r:id="rId11"/>
    <p:sldId id="318" r:id="rId12"/>
    <p:sldId id="298" r:id="rId13"/>
    <p:sldId id="353" r:id="rId14"/>
    <p:sldId id="300" r:id="rId15"/>
    <p:sldId id="395" r:id="rId16"/>
    <p:sldId id="302" r:id="rId17"/>
    <p:sldId id="301" r:id="rId18"/>
    <p:sldId id="303" r:id="rId19"/>
    <p:sldId id="304" r:id="rId20"/>
    <p:sldId id="305" r:id="rId21"/>
    <p:sldId id="306" r:id="rId22"/>
    <p:sldId id="307" r:id="rId23"/>
    <p:sldId id="309" r:id="rId24"/>
    <p:sldId id="396" r:id="rId25"/>
    <p:sldId id="308" r:id="rId26"/>
    <p:sldId id="263" r:id="rId27"/>
    <p:sldId id="397" r:id="rId28"/>
    <p:sldId id="392" r:id="rId29"/>
    <p:sldId id="391" r:id="rId30"/>
    <p:sldId id="264" r:id="rId31"/>
    <p:sldId id="279" r:id="rId32"/>
    <p:sldId id="265" r:id="rId33"/>
    <p:sldId id="355" r:id="rId34"/>
    <p:sldId id="311" r:id="rId35"/>
    <p:sldId id="267" r:id="rId36"/>
    <p:sldId id="281" r:id="rId37"/>
    <p:sldId id="312" r:id="rId38"/>
    <p:sldId id="356" r:id="rId39"/>
    <p:sldId id="270" r:id="rId40"/>
    <p:sldId id="269" r:id="rId41"/>
    <p:sldId id="313" r:id="rId42"/>
    <p:sldId id="273" r:id="rId43"/>
    <p:sldId id="287" r:id="rId44"/>
    <p:sldId id="315" r:id="rId45"/>
    <p:sldId id="314" r:id="rId46"/>
    <p:sldId id="292" r:id="rId47"/>
    <p:sldId id="290" r:id="rId48"/>
    <p:sldId id="400" r:id="rId49"/>
  </p:sldIdLst>
  <p:sldSz cx="9144000" cy="6858000" type="screen4x3"/>
  <p:notesSz cx="6858000" cy="9144000"/>
  <p:custDataLst>
    <p:tags r:id="rId54"/>
  </p:custDataLst>
  <p:defaultTextStyle>
    <a:defPPr>
      <a:defRPr lang="zh-CN"/>
    </a:defPPr>
    <a:lvl1pPr marL="0" lvl="0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1pPr>
    <a:lvl2pPr marL="457200" lvl="1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2pPr>
    <a:lvl3pPr marL="914400" lvl="2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3pPr>
    <a:lvl4pPr marL="1371600" lvl="3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4pPr>
    <a:lvl5pPr marL="1828800" lvl="4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5pPr>
    <a:lvl6pPr marL="2286000" lvl="5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6pPr>
    <a:lvl7pPr marL="2743200" lvl="6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7pPr>
    <a:lvl8pPr marL="3200400" lvl="7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8pPr>
    <a:lvl9pPr marL="3657600" lvl="8" indent="0" algn="ctr" defTabSz="91440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400" b="1" i="0" u="none" kern="1200" baseline="0">
        <a:solidFill>
          <a:schemeClr val="folHlink"/>
        </a:solidFill>
        <a:latin typeface="Times New Roman" panose="02020603050405020304" pitchFamily="18" charset="0"/>
        <a:ea typeface="楷体_GB2312" pitchFamily="49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800000"/>
    <a:srgbClr val="000099"/>
    <a:srgbClr val="FF00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10"/>
  </p:normalViewPr>
  <p:slideViewPr>
    <p:cSldViewPr showGuides="1">
      <p:cViewPr varScale="1">
        <p:scale>
          <a:sx n="113" d="100"/>
          <a:sy n="113" d="100"/>
        </p:scale>
        <p:origin x="486" y="96"/>
      </p:cViewPr>
      <p:guideLst>
        <p:guide orient="horz" pos="2160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4" Type="http://schemas.openxmlformats.org/officeDocument/2006/relationships/tags" Target="tags/tag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6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fld id="{5B173A16-F08F-4F1C-A021-370607636B62}" type="datetime1">
              <a:rPr kumimoji="0" lang="zh-CN" altLang="en-US" i="0" kern="1200" cap="none" spc="0" normalizeH="0" baseline="0" noProof="0"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i="0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indent="0" algn="ctr" defTabSz="914400" rtl="0" eaLnBrk="1" fontAlgn="base" latinLnBrk="0" hangingPunct="1">
              <a:lnSpc>
                <a:spcPct val="100000"/>
              </a:lnSpc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3076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l">
              <a:spcBef>
                <a:spcPct val="0"/>
              </a:spcBef>
              <a:defRPr kumimoji="0" sz="1400" b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5684FB-8736-4D15-8077-C972414AA59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spcBef>
                <a:spcPct val="0"/>
              </a:spcBef>
              <a:defRPr kumimoji="0" sz="1400" b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5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7.jpe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20.png"/><Relationship Id="rId1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5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9.jpeg"/><Relationship Id="rId1" Type="http://schemas.openxmlformats.org/officeDocument/2006/relationships/image" Target="../media/image38.jpe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51.jpeg"/><Relationship Id="rId1" Type="http://schemas.openxmlformats.org/officeDocument/2006/relationships/image" Target="../media/image50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5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820150" y="6514783"/>
            <a:ext cx="3143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484784"/>
            <a:ext cx="7772400" cy="266429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第七章  复合材料</a:t>
            </a:r>
            <a:b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cs typeface="+mj-cs"/>
              </a:rPr>
              <a:t>（</a:t>
            </a:r>
            <a:r>
              <a:rPr kumimoji="1" lang="en-US" altLang="zh-CN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cs typeface="+mj-cs"/>
              </a:rPr>
              <a:t>Composites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cs typeface="+mj-cs"/>
              </a:rPr>
              <a:t>） </a:t>
            </a:r>
            <a:endParaRPr kumimoji="1" lang="zh-CN" altLang="en-US" sz="6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cs typeface="+mj-cs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1772816"/>
            <a:ext cx="8820150" cy="475252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solidFill>
                  <a:srgbClr val="FFFF66"/>
                </a:solidFill>
                <a:latin typeface="仿宋_GB2312"/>
                <a:ea typeface="仿宋_GB2312"/>
              </a:rPr>
              <a:t>复合材料</a:t>
            </a:r>
            <a:r>
              <a:rPr lang="zh-CN" altLang="en-US" b="1" dirty="0">
                <a:latin typeface="仿宋_GB2312"/>
                <a:ea typeface="仿宋_GB2312"/>
              </a:rPr>
              <a:t>的基本概念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  <a:sym typeface="+mn-ea"/>
              </a:rPr>
              <a:t>了解</a:t>
            </a:r>
            <a:r>
              <a:rPr lang="zh-CN" altLang="en-US" b="1" dirty="0">
                <a:solidFill>
                  <a:srgbClr val="FFFF66"/>
                </a:solidFill>
                <a:latin typeface="仿宋_GB2312"/>
                <a:ea typeface="仿宋_GB2312"/>
                <a:sym typeface="+mn-ea"/>
              </a:rPr>
              <a:t>常见</a:t>
            </a:r>
            <a:r>
              <a:rPr lang="zh-CN" altLang="en-US" dirty="0">
                <a:solidFill>
                  <a:srgbClr val="FFFF66"/>
                </a:solidFill>
                <a:latin typeface="仿宋_GB2312"/>
                <a:ea typeface="仿宋_GB2312"/>
                <a:sym typeface="+mn-ea"/>
              </a:rPr>
              <a:t>复合材料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</a:t>
            </a:r>
            <a:r>
              <a:rPr lang="zh-CN" altLang="en-US" b="1" dirty="0">
                <a:latin typeface="仿宋_GB2312"/>
                <a:ea typeface="仿宋_GB2312"/>
              </a:rPr>
              <a:t>主要类型及</a:t>
            </a:r>
            <a:r>
              <a:rPr lang="zh-CN" altLang="en-US" b="1" dirty="0">
                <a:latin typeface="仿宋_GB2312"/>
                <a:ea typeface="仿宋_GB2312"/>
              </a:rPr>
              <a:t>性能特点；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dirty="0">
                <a:solidFill>
                  <a:srgbClr val="FFFF66"/>
                </a:solidFill>
                <a:latin typeface="仿宋_GB2312"/>
                <a:ea typeface="仿宋_GB2312"/>
              </a:rPr>
              <a:t>复合</a:t>
            </a:r>
            <a:r>
              <a:rPr lang="zh-CN" altLang="en-US" dirty="0">
                <a:solidFill>
                  <a:srgbClr val="FFFF66"/>
                </a:solidFill>
                <a:latin typeface="仿宋_GB2312"/>
                <a:ea typeface="仿宋_GB2312"/>
                <a:sym typeface="+mn-ea"/>
              </a:rPr>
              <a:t>材料</a:t>
            </a:r>
            <a:r>
              <a:rPr lang="zh-CN" altLang="en-US" b="1" dirty="0">
                <a:latin typeface="仿宋_GB2312"/>
                <a:ea typeface="仿宋_GB2312"/>
              </a:rPr>
              <a:t>的一般成型</a:t>
            </a:r>
            <a:r>
              <a:rPr lang="zh-CN" altLang="en-US" b="1" dirty="0">
                <a:latin typeface="仿宋_GB2312"/>
                <a:ea typeface="仿宋_GB2312"/>
              </a:rPr>
              <a:t>工艺。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b="1" dirty="0"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187624" y="0"/>
            <a:ext cx="7519739" cy="1556792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本章主要教学目标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Learning Objectives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12020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53479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820150" y="6599793"/>
            <a:ext cx="314325" cy="26265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7772400" cy="162941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第七章  复合材料</a:t>
            </a:r>
            <a:b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（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Composites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idx="1"/>
          </p:nvPr>
        </p:nvSpPr>
        <p:spPr>
          <a:xfrm>
            <a:off x="333375" y="1772920"/>
            <a:ext cx="6542405" cy="436118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复合材料：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两种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两种以上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化学性质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组织结构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不同的材料组合而成的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多相</a:t>
            </a:r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固体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材料。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ym typeface="+mn-ea"/>
              </a:rPr>
              <a:t>http://www.cnterm.cn/</a:t>
            </a:r>
            <a:endParaRPr lang="en-US" altLang="zh-CN" dirty="0"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lang="zh-CN" altLang="zh-CN" dirty="0"/>
          </a:p>
          <a:p>
            <a:pPr eaLnBrk="1" hangingPunct="1">
              <a:lnSpc>
                <a:spcPct val="150000"/>
              </a:lnSpc>
            </a:pP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10"/>
          <p:cNvGrpSpPr>
            <a:grpSpLocks noChangeAspect="1"/>
          </p:cNvGrpSpPr>
          <p:nvPr/>
        </p:nvGrpSpPr>
        <p:grpSpPr>
          <a:xfrm>
            <a:off x="6732270" y="1916430"/>
            <a:ext cx="2375535" cy="2456180"/>
            <a:chOff x="2832" y="1872"/>
            <a:chExt cx="2136" cy="2208"/>
          </a:xfrm>
        </p:grpSpPr>
        <p:pic>
          <p:nvPicPr>
            <p:cNvPr id="4104" name="Picture 5" descr="image002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32" y="1872"/>
              <a:ext cx="2099" cy="217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105" name="Text Box 7"/>
            <p:cNvSpPr txBox="1">
              <a:spLocks noChangeAspect="1"/>
            </p:cNvSpPr>
            <p:nvPr/>
          </p:nvSpPr>
          <p:spPr>
            <a:xfrm>
              <a:off x="4555" y="2668"/>
              <a:ext cx="413" cy="1412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square">
              <a:spAutoFit/>
            </a:bodyPr>
            <a:lstStyle/>
            <a:p>
              <a:pPr lvl="0" eaLnBrk="1" hangingPunct="1"/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复合材料船体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68719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755015" y="2060575"/>
            <a:ext cx="1690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复合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材料</a:t>
            </a:r>
            <a:endParaRPr lang="en-US" altLang="zh-CN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6400" y="4940935"/>
            <a:ext cx="6029960" cy="156845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 algn="l"/>
            <a:r>
              <a:rPr lang="zh-CN" altLang="en-US">
                <a:solidFill>
                  <a:schemeClr val="bg1"/>
                </a:solidFill>
                <a:sym typeface="+mn-ea"/>
              </a:rPr>
              <a:t>【由异质、异性、异形的有机聚合物、无机非金属、金属等材料作为基体或增强体，通过复合工艺组合而成的材料。除具备原材料的性能外，同时能产生新的性能。】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  <p:bldP spid="2051" grpId="0" advAuto="100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0"/>
            <a:ext cx="777240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第七章  复合材料</a:t>
            </a:r>
            <a:endParaRPr kumimoji="1" lang="zh-CN" altLang="en-US" sz="5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539750" y="1268412"/>
            <a:ext cx="5688434" cy="511291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组成：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5125" name="Picture 4" descr="纤维增强高分子复合材料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024227" y="4825583"/>
            <a:ext cx="2544897" cy="1860674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3798" name="Text Box 6"/>
          <p:cNvSpPr txBox="1">
            <a:spLocks noChangeAspect="1" noChangeArrowheads="1"/>
          </p:cNvSpPr>
          <p:nvPr/>
        </p:nvSpPr>
        <p:spPr bwMode="auto">
          <a:xfrm>
            <a:off x="5487670" y="6049434"/>
            <a:ext cx="3116580" cy="398780"/>
          </a:xfrm>
          <a:prstGeom prst="rect">
            <a:avLst/>
          </a:prstGeom>
          <a:noFill/>
          <a:ln w="2857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纤维增强高分子复合材料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143875" y="6510338"/>
            <a:ext cx="3143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260648" y="1844824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20"/>
          <p:cNvGrpSpPr/>
          <p:nvPr/>
        </p:nvGrpSpPr>
        <p:grpSpPr>
          <a:xfrm>
            <a:off x="1595407" y="1312122"/>
            <a:ext cx="7078663" cy="3355527"/>
            <a:chOff x="3794" y="6457"/>
            <a:chExt cx="8764" cy="2303"/>
          </a:xfrm>
        </p:grpSpPr>
        <p:sp>
          <p:nvSpPr>
            <p:cNvPr id="3" name="左大括号 39"/>
            <p:cNvSpPr/>
            <p:nvPr/>
          </p:nvSpPr>
          <p:spPr>
            <a:xfrm>
              <a:off x="5072" y="7169"/>
              <a:ext cx="126" cy="1181"/>
            </a:xfrm>
            <a:prstGeom prst="leftBrace">
              <a:avLst>
                <a:gd name="adj1" fmla="val 47157"/>
                <a:gd name="adj2" fmla="val 50000"/>
              </a:avLst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" name="文本框 2"/>
            <p:cNvSpPr txBox="1">
              <a:spLocks noChangeArrowheads="1"/>
            </p:cNvSpPr>
            <p:nvPr/>
          </p:nvSpPr>
          <p:spPr bwMode="auto">
            <a:xfrm>
              <a:off x="3794" y="7051"/>
              <a:ext cx="1026" cy="152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buClrTx/>
                <a:buSzTx/>
                <a:buFontTx/>
              </a:pPr>
              <a:r>
                <a:rPr lang="zh-CN" altLang="en-US" sz="3200" kern="100" dirty="0">
                  <a:solidFill>
                    <a:srgbClr val="FF0000"/>
                  </a:solidFill>
                  <a:effectLst>
                    <a:outerShdw blurRad="38100" dist="25400" dir="5400000" algn="ctr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+mn-ea"/>
                </a:rPr>
                <a:t>复合材料</a:t>
              </a:r>
              <a:endParaRPr lang="zh-CN" altLang="en-US" sz="3200" kern="100" dirty="0">
                <a:solidFill>
                  <a:srgbClr val="FF0000"/>
                </a:solidFill>
                <a:effectLst>
                  <a:outerShdw blurRad="38100" dist="25400" dir="5400000" algn="ctr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+mn-ea"/>
              </a:endParaRPr>
            </a:p>
          </p:txBody>
        </p:sp>
        <p:sp>
          <p:nvSpPr>
            <p:cNvPr id="5" name="文本框 2"/>
            <p:cNvSpPr txBox="1">
              <a:spLocks noChangeArrowheads="1"/>
            </p:cNvSpPr>
            <p:nvPr/>
          </p:nvSpPr>
          <p:spPr bwMode="auto">
            <a:xfrm>
              <a:off x="5368" y="6457"/>
              <a:ext cx="7190" cy="107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32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基体相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Matrix </a:t>
              </a:r>
              <a:r>
                <a:rPr lang="zh-CN" altLang="en-US" sz="28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：</a:t>
              </a:r>
              <a:r>
                <a:rPr lang="zh-CN" altLang="en-US" sz="3200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连续相，它把改善性能的增强相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材料固结成一体，并起传递应力的作用。</a:t>
              </a:r>
              <a:endParaRPr lang="zh-CN" altLang="en-US" sz="28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" name="文本框 2"/>
            <p:cNvSpPr txBox="1">
              <a:spLocks noChangeArrowheads="1"/>
            </p:cNvSpPr>
            <p:nvPr/>
          </p:nvSpPr>
          <p:spPr bwMode="auto">
            <a:xfrm>
              <a:off x="5368" y="7683"/>
              <a:ext cx="7190" cy="10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sz="32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增强相：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起承受应力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(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结构复合材料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)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和显示功能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(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功能复合材料</a:t>
              </a:r>
              <a:r>
                <a:rPr lang="en-US" altLang="zh-CN" sz="3200" b="1" dirty="0">
                  <a:solidFill>
                    <a:schemeClr val="bg1"/>
                  </a:solidFill>
                </a:rPr>
                <a:t>)</a:t>
              </a:r>
              <a:r>
                <a:rPr lang="zh-CN" altLang="en-US" sz="3200" b="1" dirty="0">
                  <a:solidFill>
                    <a:schemeClr val="bg1"/>
                  </a:solidFill>
                </a:rPr>
                <a:t>的作用</a:t>
              </a:r>
              <a:endParaRPr lang="zh-CN" altLang="en-US" sz="3200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1" name="Line 4"/>
          <p:cNvSpPr>
            <a:spLocks noChangeShapeType="1"/>
          </p:cNvSpPr>
          <p:nvPr/>
        </p:nvSpPr>
        <p:spPr bwMode="auto">
          <a:xfrm flipV="1">
            <a:off x="35560" y="11245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1475740" y="116840"/>
            <a:ext cx="5681345" cy="99695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/>
              <a:t>内容提要</a:t>
            </a:r>
            <a:endParaRPr lang="zh-CN" altLang="en-US" b="1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971550" y="1484313"/>
            <a:ext cx="7772400" cy="475456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一、复合材料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概述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二、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粒子增强复合材料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三、层状增强复合材料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四、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纤维增强复合材料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</a:t>
            </a:r>
            <a:endParaRPr lang="zh-CN" altLang="en-US" dirty="0"/>
          </a:p>
        </p:txBody>
      </p:sp>
      <p:sp>
        <p:nvSpPr>
          <p:cNvPr id="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43950" y="6514783"/>
            <a:ext cx="3143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18618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84784"/>
            <a:ext cx="9144000" cy="3024336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一、复合材料概述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Overview on Composites</a:t>
            </a:r>
            <a:r>
              <a:rPr kumimoji="1" lang="zh-CN" altLang="en-US" sz="6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  <a:endParaRPr kumimoji="1" lang="zh-CN" altLang="en-US" sz="60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1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" name="灯片编号占位符 5"/>
          <p:cNvSpPr txBox="1"/>
          <p:nvPr/>
        </p:nvSpPr>
        <p:spPr bwMode="auto">
          <a:xfrm>
            <a:off x="8680450" y="6617335"/>
            <a:ext cx="497840" cy="240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31407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664" y="188640"/>
            <a:ext cx="6478588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一、复合材料概述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304800" y="1524000"/>
            <a:ext cx="6139408" cy="49530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（一）复合材料的分类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（二）复合材料的命名方法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（三）复合材料的特点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21"/>
          <p:cNvGrpSpPr>
            <a:grpSpLocks noChangeAspect="1"/>
          </p:cNvGrpSpPr>
          <p:nvPr/>
        </p:nvGrpSpPr>
        <p:grpSpPr>
          <a:xfrm>
            <a:off x="6523754" y="1677748"/>
            <a:ext cx="2620246" cy="4645504"/>
            <a:chOff x="3836" y="786"/>
            <a:chExt cx="1864" cy="3305"/>
          </a:xfrm>
        </p:grpSpPr>
        <p:grpSp>
          <p:nvGrpSpPr>
            <p:cNvPr id="7177" name="Group 19"/>
            <p:cNvGrpSpPr>
              <a:grpSpLocks noChangeAspect="1"/>
            </p:cNvGrpSpPr>
            <p:nvPr/>
          </p:nvGrpSpPr>
          <p:grpSpPr>
            <a:xfrm>
              <a:off x="3836" y="786"/>
              <a:ext cx="1474" cy="3305"/>
              <a:chOff x="3836" y="786"/>
              <a:chExt cx="1474" cy="3305"/>
            </a:xfrm>
          </p:grpSpPr>
          <p:grpSp>
            <p:nvGrpSpPr>
              <p:cNvPr id="7179" name="Group 14"/>
              <p:cNvGrpSpPr>
                <a:grpSpLocks noChangeAspect="1"/>
              </p:cNvGrpSpPr>
              <p:nvPr/>
            </p:nvGrpSpPr>
            <p:grpSpPr>
              <a:xfrm>
                <a:off x="3836" y="786"/>
                <a:ext cx="1474" cy="3305"/>
                <a:chOff x="3980" y="786"/>
                <a:chExt cx="1474" cy="3305"/>
              </a:xfrm>
            </p:grpSpPr>
            <p:pic>
              <p:nvPicPr>
                <p:cNvPr id="7183" name="Picture 11" descr="SiC颗粒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3980" y="786"/>
                  <a:ext cx="1474" cy="1028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7184" name="Picture 12" descr="Al2O3片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980" y="2003"/>
                  <a:ext cx="1474" cy="1062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7185" name="Picture 13" descr="Al2O3纤维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980" y="3091"/>
                  <a:ext cx="1474" cy="1000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</p:grpSp>
          <p:sp>
            <p:nvSpPr>
              <p:cNvPr id="7180" name="Rectangle 16"/>
              <p:cNvSpPr>
                <a:spLocks noChangeAspect="1"/>
              </p:cNvSpPr>
              <p:nvPr/>
            </p:nvSpPr>
            <p:spPr>
              <a:xfrm>
                <a:off x="3936" y="1752"/>
                <a:ext cx="528" cy="144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SiC</a:t>
                </a:r>
                <a:r>
                  <a:rPr lang="zh-CN" altLang="en-US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颗粒</a:t>
                </a:r>
                <a:endParaRPr lang="zh-CN" alt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7181" name="Rectangle 17"/>
              <p:cNvSpPr>
                <a:spLocks noChangeAspect="1"/>
              </p:cNvSpPr>
              <p:nvPr/>
            </p:nvSpPr>
            <p:spPr>
              <a:xfrm>
                <a:off x="3936" y="2842"/>
                <a:ext cx="528" cy="144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片</a:t>
                </a:r>
                <a:endParaRPr lang="zh-CN" alt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7182" name="Rectangle 18"/>
              <p:cNvSpPr>
                <a:spLocks noChangeAspect="1"/>
              </p:cNvSpPr>
              <p:nvPr/>
            </p:nvSpPr>
            <p:spPr>
              <a:xfrm>
                <a:off x="3936" y="3840"/>
                <a:ext cx="576" cy="144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纤维</a:t>
                </a:r>
                <a:endParaRPr lang="zh-CN" alt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178" name="Text Box 20"/>
            <p:cNvSpPr txBox="1">
              <a:spLocks noChangeAspect="1"/>
            </p:cNvSpPr>
            <p:nvPr/>
          </p:nvSpPr>
          <p:spPr>
            <a:xfrm>
              <a:off x="5310" y="1483"/>
              <a:ext cx="390" cy="2103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 wrap="square">
              <a:spAutoFit/>
            </a:bodyPr>
            <a:lstStyle/>
            <a:p>
              <a:pPr lvl="0" eaLnBrk="1" hangingPunct="1"/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增强相三种类型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8" name="灯片编号占位符 5"/>
          <p:cNvSpPr txBox="1"/>
          <p:nvPr/>
        </p:nvSpPr>
        <p:spPr bwMode="auto">
          <a:xfrm>
            <a:off x="8680450" y="6617335"/>
            <a:ext cx="497840" cy="240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9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118618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23" grpId="0" advAuto="100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7813" y="0"/>
            <a:ext cx="6478588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（一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复合材料的分类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21"/>
          <p:cNvGrpSpPr>
            <a:grpSpLocks noChangeAspect="1"/>
          </p:cNvGrpSpPr>
          <p:nvPr/>
        </p:nvGrpSpPr>
        <p:grpSpPr>
          <a:xfrm>
            <a:off x="6767195" y="1268730"/>
            <a:ext cx="2376805" cy="4139565"/>
            <a:chOff x="3936" y="912"/>
            <a:chExt cx="1764" cy="3072"/>
          </a:xfrm>
        </p:grpSpPr>
        <p:grpSp>
          <p:nvGrpSpPr>
            <p:cNvPr id="8201" name="Group 19"/>
            <p:cNvGrpSpPr>
              <a:grpSpLocks noChangeAspect="1"/>
            </p:cNvGrpSpPr>
            <p:nvPr/>
          </p:nvGrpSpPr>
          <p:grpSpPr>
            <a:xfrm>
              <a:off x="3936" y="912"/>
              <a:ext cx="1474" cy="3072"/>
              <a:chOff x="3936" y="912"/>
              <a:chExt cx="1474" cy="3072"/>
            </a:xfrm>
          </p:grpSpPr>
          <p:grpSp>
            <p:nvGrpSpPr>
              <p:cNvPr id="8203" name="Group 14"/>
              <p:cNvGrpSpPr>
                <a:grpSpLocks noChangeAspect="1"/>
              </p:cNvGrpSpPr>
              <p:nvPr/>
            </p:nvGrpSpPr>
            <p:grpSpPr>
              <a:xfrm>
                <a:off x="3936" y="912"/>
                <a:ext cx="1474" cy="3064"/>
                <a:chOff x="4080" y="912"/>
                <a:chExt cx="1474" cy="3064"/>
              </a:xfrm>
            </p:grpSpPr>
            <p:pic>
              <p:nvPicPr>
                <p:cNvPr id="8207" name="Picture 11" descr="SiC颗粒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4080" y="912"/>
                  <a:ext cx="1474" cy="1028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FF99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8208" name="Picture 12" descr="Al2O3片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4080" y="1920"/>
                  <a:ext cx="1474" cy="1062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FF99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8209" name="Picture 13" descr="Al2O3纤维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080" y="2976"/>
                  <a:ext cx="1474" cy="1000"/>
                </a:xfrm>
                <a:prstGeom prst="rect">
                  <a:avLst/>
                </a:prstGeom>
                <a:noFill/>
                <a:ln w="28575" cap="flat" cmpd="sng">
                  <a:solidFill>
                    <a:srgbClr val="FF99CC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</p:pic>
          </p:grpSp>
          <p:sp>
            <p:nvSpPr>
              <p:cNvPr id="8204" name="Rectangle 16"/>
              <p:cNvSpPr>
                <a:spLocks noChangeAspect="1"/>
              </p:cNvSpPr>
              <p:nvPr/>
            </p:nvSpPr>
            <p:spPr>
              <a:xfrm>
                <a:off x="3936" y="1752"/>
                <a:ext cx="528" cy="144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SiC</a:t>
                </a:r>
                <a:r>
                  <a:rPr lang="zh-CN" altLang="en-US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颗粒</a:t>
                </a:r>
                <a:endParaRPr lang="zh-CN" alt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205" name="Rectangle 17"/>
              <p:cNvSpPr>
                <a:spLocks noChangeAspect="1"/>
              </p:cNvSpPr>
              <p:nvPr/>
            </p:nvSpPr>
            <p:spPr>
              <a:xfrm>
                <a:off x="3936" y="2784"/>
                <a:ext cx="528" cy="144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片</a:t>
                </a:r>
                <a:endParaRPr lang="zh-CN" alt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206" name="Rectangle 18"/>
              <p:cNvSpPr>
                <a:spLocks noChangeAspect="1"/>
              </p:cNvSpPr>
              <p:nvPr/>
            </p:nvSpPr>
            <p:spPr>
              <a:xfrm>
                <a:off x="3936" y="3840"/>
                <a:ext cx="576" cy="144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>
                  <a:spcBef>
                    <a:spcPct val="0"/>
                  </a:spcBef>
                </a:pP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400" baseline="-250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400" dirty="0">
                    <a:solidFill>
                      <a:srgbClr val="01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纤维</a:t>
                </a:r>
                <a:endParaRPr lang="zh-CN" alt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202" name="Text Box 20"/>
            <p:cNvSpPr txBox="1">
              <a:spLocks noChangeAspect="1"/>
            </p:cNvSpPr>
            <p:nvPr/>
          </p:nvSpPr>
          <p:spPr>
            <a:xfrm>
              <a:off x="5382" y="1825"/>
              <a:ext cx="318" cy="1199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增强相三种类型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198" name="Picture 17" descr="fi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68538" y="5516880"/>
            <a:ext cx="5432425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829675" y="6509703"/>
            <a:ext cx="3143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0" name="内容占位符 1" descr="新校徽（3M）弓之乐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" name="组合 27"/>
          <p:cNvGrpSpPr/>
          <p:nvPr/>
        </p:nvGrpSpPr>
        <p:grpSpPr>
          <a:xfrm>
            <a:off x="642331" y="1052611"/>
            <a:ext cx="5367636" cy="4355049"/>
            <a:chOff x="642331" y="997586"/>
            <a:chExt cx="5367636" cy="4355049"/>
          </a:xfrm>
        </p:grpSpPr>
        <p:grpSp>
          <p:nvGrpSpPr>
            <p:cNvPr id="27" name="组合 26"/>
            <p:cNvGrpSpPr/>
            <p:nvPr/>
          </p:nvGrpSpPr>
          <p:grpSpPr>
            <a:xfrm>
              <a:off x="642331" y="997586"/>
              <a:ext cx="5367636" cy="4287552"/>
              <a:chOff x="672701" y="1037101"/>
              <a:chExt cx="5367636" cy="428755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672701" y="1037101"/>
                <a:ext cx="5367636" cy="4023546"/>
                <a:chOff x="646164" y="1233689"/>
                <a:chExt cx="5367636" cy="4023546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46164" y="1233689"/>
                  <a:ext cx="5296129" cy="4023546"/>
                  <a:chOff x="542506" y="4268388"/>
                  <a:chExt cx="5296129" cy="2067160"/>
                </a:xfrm>
              </p:grpSpPr>
              <p:grpSp>
                <p:nvGrpSpPr>
                  <p:cNvPr id="4" name="组合 20"/>
                  <p:cNvGrpSpPr/>
                  <p:nvPr/>
                </p:nvGrpSpPr>
                <p:grpSpPr>
                  <a:xfrm>
                    <a:off x="542506" y="4381653"/>
                    <a:ext cx="5278528" cy="1953895"/>
                    <a:chOff x="2951" y="5440"/>
                    <a:chExt cx="8413" cy="3077"/>
                  </a:xfrm>
                </p:grpSpPr>
                <p:sp>
                  <p:nvSpPr>
                    <p:cNvPr id="8" name="左大括号 39"/>
                    <p:cNvSpPr/>
                    <p:nvPr/>
                  </p:nvSpPr>
                  <p:spPr>
                    <a:xfrm>
                      <a:off x="3967" y="5966"/>
                      <a:ext cx="218" cy="2551"/>
                    </a:xfrm>
                    <a:prstGeom prst="leftBrace">
                      <a:avLst>
                        <a:gd name="adj1" fmla="val 47157"/>
                        <a:gd name="adj2" fmla="val 50000"/>
                      </a:avLst>
                    </a:prstGeom>
                    <a:ln w="2222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9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51" y="6114"/>
                      <a:ext cx="888" cy="2203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kumimoji="1" lang="zh-CN" altLang="en-US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+mj-cs"/>
                        </a:rPr>
                        <a:t>复合材料的分类</a:t>
                      </a:r>
                      <a:endParaRPr lang="zh-CN" altLang="en-US" kern="100" dirty="0">
                        <a:solidFill>
                          <a:srgbClr val="FF0000"/>
                        </a:solidFill>
                        <a:effectLst>
                          <a:outerShdw blurRad="38100" dist="25400" dir="5400000" algn="ctr">
                            <a:srgbClr val="6E747A">
                              <a:alpha val="43000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+mn-ea"/>
                      </a:endParaRPr>
                    </a:p>
                  </p:txBody>
                </p:sp>
                <p:sp>
                  <p:nvSpPr>
                    <p:cNvPr id="10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41" y="5440"/>
                      <a:ext cx="2192" cy="672"/>
                    </a:xfrm>
                    <a:prstGeom prst="rect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pPr algn="l"/>
                      <a:r>
                        <a:rPr lang="zh-CN" altLang="en-US" b="1" dirty="0">
                          <a:solidFill>
                            <a:srgbClr val="FF0000"/>
                          </a:solidFill>
                          <a:ea typeface="华文中宋" panose="02010600040101010101" pitchFamily="2" charset="-122"/>
                        </a:rPr>
                        <a:t>按基体材料</a:t>
                      </a:r>
                      <a:endParaRPr lang="zh-CN" altLang="en-US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p:txBody>
                </p:sp>
                <p:sp>
                  <p:nvSpPr>
                    <p:cNvPr id="11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080" y="6136"/>
                      <a:ext cx="4284" cy="374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r>
                        <a:rPr lang="zh-CN" altLang="en-US" b="1" dirty="0">
                          <a:solidFill>
                            <a:srgbClr val="FF0000"/>
                          </a:solidFill>
                          <a:ea typeface="华文中宋" panose="02010600040101010101" pitchFamily="2" charset="-122"/>
                        </a:rPr>
                        <a:t>金属基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ea typeface="华文中宋" panose="02010600040101010101" pitchFamily="2" charset="-122"/>
                        </a:rPr>
                        <a:t>复合材料</a:t>
                      </a:r>
                      <a:endParaRPr lang="zh-CN" altLang="en-US" kern="100" dirty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p:txBody>
                </p:sp>
              </p:grpSp>
              <p:sp>
                <p:nvSpPr>
                  <p:cNvPr id="5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33362" y="4540985"/>
                    <a:ext cx="2705273" cy="237188"/>
                  </a:xfrm>
                  <a:prstGeom prst="rect">
                    <a:avLst/>
                  </a:prstGeom>
                  <a:solidFill>
                    <a:srgbClr val="92D050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chemeClr val="bg1"/>
                        </a:solidFill>
                        <a:ea typeface="华文中宋" panose="02010600040101010101" pitchFamily="2" charset="-122"/>
                      </a:rPr>
                      <a:t>陶瓷基</a:t>
                    </a:r>
                    <a:r>
                      <a:rPr lang="zh-CN" altLang="en-US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复合材料</a:t>
                    </a:r>
                    <a:endParaRPr lang="zh-CN" altLang="en-US" kern="1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  <p:sp useBgFill="1">
                <p:nvSpPr>
                  <p:cNvPr id="6" name="左大括号 39"/>
                  <p:cNvSpPr/>
                  <p:nvPr/>
                </p:nvSpPr>
                <p:spPr>
                  <a:xfrm>
                    <a:off x="2905408" y="4379431"/>
                    <a:ext cx="175508" cy="552409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7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14937" y="4268388"/>
                    <a:ext cx="2705273" cy="237188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r>
                      <a:rPr lang="zh-CN" altLang="en-US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聚合物基</a:t>
                    </a:r>
                    <a:r>
                      <a:rPr lang="zh-CN" altLang="en-US" b="1" dirty="0">
                        <a:solidFill>
                          <a:schemeClr val="bg1"/>
                        </a:solidFill>
                        <a:ea typeface="华文中宋" panose="02010600040101010101" pitchFamily="2" charset="-122"/>
                      </a:rPr>
                      <a:t>复合材料</a:t>
                    </a:r>
                    <a:endParaRPr lang="zh-CN" altLang="en-US" kern="1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</p:grpSp>
            <p:sp useBgFill="1">
              <p:nvSpPr>
                <p:cNvPr id="14" name="左大括号 39"/>
                <p:cNvSpPr/>
                <p:nvPr/>
              </p:nvSpPr>
              <p:spPr>
                <a:xfrm>
                  <a:off x="2910723" y="3258255"/>
                  <a:ext cx="170284" cy="1118492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15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216710" y="2960975"/>
                  <a:ext cx="2797090" cy="461665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纤维增强</a:t>
                  </a:r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复合材料</a:t>
                  </a:r>
                  <a:endParaRPr lang="zh-CN" altLang="en-US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16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210946" y="3500289"/>
                  <a:ext cx="2797090" cy="461665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粒子增强</a:t>
                  </a:r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复合材料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17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216709" y="4022804"/>
                  <a:ext cx="2797091" cy="46166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层状</a:t>
                  </a:r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复合材料</a:t>
                  </a:r>
                  <a:endParaRPr lang="zh-CN" altLang="en-US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491377" y="3226526"/>
                <a:ext cx="3814855" cy="2098127"/>
                <a:chOff x="1460158" y="3429848"/>
                <a:chExt cx="3814855" cy="2098127"/>
              </a:xfrm>
            </p:grpSpPr>
            <p:sp>
              <p:nvSpPr>
                <p:cNvPr id="12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460158" y="3429848"/>
                  <a:ext cx="1401450" cy="830997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按</a:t>
                  </a:r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增强相</a:t>
                  </a:r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形状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21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463247" y="4696978"/>
                  <a:ext cx="1430679" cy="83099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按复合材料的性能</a:t>
                  </a:r>
                  <a:endParaRPr lang="zh-CN" altLang="en-US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 useBgFill="1">
              <p:nvSpPr>
                <p:cNvPr id="22" name="左大括号 39"/>
                <p:cNvSpPr/>
                <p:nvPr/>
              </p:nvSpPr>
              <p:spPr>
                <a:xfrm>
                  <a:off x="2966378" y="4779223"/>
                  <a:ext cx="177800" cy="654685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23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202994" y="4624509"/>
                  <a:ext cx="2072019" cy="461665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结构</a:t>
                  </a:r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复合材料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</p:grpSp>
        <p:sp>
          <p:nvSpPr>
            <p:cNvPr id="24" name="文本框 2"/>
            <p:cNvSpPr txBox="1">
              <a:spLocks noChangeArrowheads="1"/>
            </p:cNvSpPr>
            <p:nvPr/>
          </p:nvSpPr>
          <p:spPr bwMode="auto">
            <a:xfrm>
              <a:off x="3203790" y="4890970"/>
              <a:ext cx="2090973" cy="46166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功能</a:t>
              </a:r>
              <a:r>
                <a:rPr lang="zh-CN" altLang="en-US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复合材料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47812" y="0"/>
            <a:ext cx="6912619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（二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复合材料的命名方法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0" y="1000125"/>
            <a:ext cx="9144000" cy="5524500"/>
          </a:xfrm>
        </p:spPr>
        <p:txBody>
          <a:bodyPr vert="horz" wrap="square" lIns="91440" tIns="45720" rIns="91440" bIns="45720" anchor="t"/>
          <a:lstStyle/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强调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基体材料</a:t>
            </a:r>
            <a:r>
              <a:rPr lang="zh-CN" altLang="en-US" b="1" dirty="0">
                <a:ea typeface="华文中宋" panose="02010600040101010101" pitchFamily="2" charset="-122"/>
              </a:rPr>
              <a:t>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基体材料名称为主，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铝基复合材料、环氧树脂基复合材料；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强调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增强材料</a:t>
            </a:r>
            <a:r>
              <a:rPr lang="zh-CN" altLang="en-US" b="1" dirty="0">
                <a:ea typeface="华文中宋" panose="02010600040101010101" pitchFamily="2" charset="-122"/>
              </a:rPr>
              <a:t>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，以增强材料名称为主，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玻璃纤维增强复合材料、碳纤维增强复合材料；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）基体材料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增强材料名称并用时，</a:t>
            </a:r>
            <a:r>
              <a:rPr lang="zh-CN" altLang="en-US" b="1" dirty="0">
                <a:ea typeface="华文中宋" panose="02010600040101010101" pitchFamily="2" charset="-122"/>
              </a:rPr>
              <a:t>习惯上把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增强材料</a:t>
            </a:r>
            <a:r>
              <a:rPr lang="zh-CN" altLang="en-US" b="1" dirty="0">
                <a:ea typeface="华文中宋" panose="02010600040101010101" pitchFamily="2" charset="-122"/>
              </a:rPr>
              <a:t>名称放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前面，基体材料</a:t>
            </a:r>
            <a:r>
              <a:rPr lang="zh-CN" altLang="en-US" b="1" dirty="0">
                <a:ea typeface="华文中宋" panose="02010600040101010101" pitchFamily="2" charset="-122"/>
              </a:rPr>
              <a:t>名称放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后面，如玻璃纤维增强环氧树脂复合材料，</a:t>
            </a:r>
            <a:r>
              <a:rPr lang="zh-CN" altLang="en-US" b="1" dirty="0">
                <a:ea typeface="华文中宋" panose="02010600040101010101" pitchFamily="2" charset="-122"/>
              </a:rPr>
              <a:t>或简称为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玻璃纤维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/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环氧树脂</a:t>
            </a:r>
            <a:r>
              <a:rPr lang="zh-CN" altLang="en-US" b="1" dirty="0">
                <a:ea typeface="华文中宋" panose="02010600040101010101" pitchFamily="2" charset="-122"/>
              </a:rPr>
              <a:t>复合材料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1560" y="6597650"/>
            <a:ext cx="472440" cy="25971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advAuto="100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399404" y="-202247"/>
            <a:ext cx="6692900" cy="11430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ea typeface="华文中宋" panose="02010600040101010101" pitchFamily="2" charset="-122"/>
              </a:rPr>
              <a:t>（三）复合材料的特点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179705" y="1143000"/>
            <a:ext cx="6068695" cy="506222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1</a:t>
            </a:r>
            <a:r>
              <a:rPr lang="zh-CN" altLang="en-US" b="1" dirty="0">
                <a:solidFill>
                  <a:schemeClr val="folHlink"/>
                </a:solidFill>
              </a:rPr>
              <a:t>、比强度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</a:rPr>
              <a:t>比模量 高  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其中纤维增强复合材料的最高。</a:t>
            </a:r>
            <a:r>
              <a:rPr lang="zh-CN" altLang="en-US" b="1" dirty="0">
                <a:ea typeface="华文中宋" panose="02010600040101010101" pitchFamily="2" charset="-122"/>
              </a:rPr>
              <a:t> 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2</a:t>
            </a:r>
            <a:r>
              <a:rPr lang="zh-CN" altLang="en-US" b="1" dirty="0">
                <a:solidFill>
                  <a:schemeClr val="folHlink"/>
                </a:solidFill>
              </a:rPr>
              <a:t>、抗疲劳性能好  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  碳纤维增强材料</a:t>
            </a:r>
            <a:r>
              <a:rPr lang="zh-CN" altLang="en-US" b="1" dirty="0"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 dirty="0">
                <a:ea typeface="华文中宋" panose="02010600040101010101" pitchFamily="2" charset="-122"/>
                <a:sym typeface="Symbol" panose="05050102010706020507" pitchFamily="18" charset="2"/>
              </a:rPr>
              <a:t>-1</a:t>
            </a:r>
            <a:r>
              <a:rPr lang="zh-CN" altLang="en-US" b="1" dirty="0">
                <a:ea typeface="华文中宋" panose="02010600040101010101" pitchFamily="2" charset="-122"/>
              </a:rPr>
              <a:t>可达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70~80%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</a:t>
            </a:r>
            <a:r>
              <a:rPr lang="en-US" altLang="zh-CN" b="1" baseline="-25000" dirty="0">
                <a:solidFill>
                  <a:schemeClr val="folHlink"/>
                </a:solidFill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b="1" dirty="0">
                <a:ea typeface="华文中宋" panose="02010600040101010101" pitchFamily="2" charset="-122"/>
              </a:rPr>
              <a:t>。因纤维对疲劳裂纹扩展有阻碍作用。</a:t>
            </a:r>
            <a:endParaRPr lang="zh-CN" altLang="en-US" dirty="0"/>
          </a:p>
        </p:txBody>
      </p:sp>
      <p:grpSp>
        <p:nvGrpSpPr>
          <p:cNvPr id="2" name="Group 15"/>
          <p:cNvGrpSpPr>
            <a:grpSpLocks noChangeAspect="1"/>
          </p:cNvGrpSpPr>
          <p:nvPr/>
        </p:nvGrpSpPr>
        <p:grpSpPr>
          <a:xfrm>
            <a:off x="6248400" y="1142683"/>
            <a:ext cx="2795588" cy="5359400"/>
            <a:chOff x="3600" y="288"/>
            <a:chExt cx="1952" cy="3743"/>
          </a:xfrm>
        </p:grpSpPr>
        <p:grpSp>
          <p:nvGrpSpPr>
            <p:cNvPr id="10249" name="Group 7"/>
            <p:cNvGrpSpPr>
              <a:grpSpLocks noChangeAspect="1"/>
            </p:cNvGrpSpPr>
            <p:nvPr/>
          </p:nvGrpSpPr>
          <p:grpSpPr>
            <a:xfrm>
              <a:off x="3600" y="288"/>
              <a:ext cx="1952" cy="3743"/>
              <a:chOff x="3600" y="336"/>
              <a:chExt cx="1952" cy="3743"/>
            </a:xfrm>
          </p:grpSpPr>
          <p:pic>
            <p:nvPicPr>
              <p:cNvPr id="10256" name="Picture 5" descr="旋转 比强度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00" y="336"/>
                <a:ext cx="1952" cy="374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257" name="Rectangle 6"/>
              <p:cNvSpPr>
                <a:spLocks noChangeAspect="1"/>
              </p:cNvSpPr>
              <p:nvPr/>
            </p:nvSpPr>
            <p:spPr>
              <a:xfrm>
                <a:off x="5328" y="1104"/>
                <a:ext cx="192" cy="1680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lvl="0" eaLnBrk="1" hangingPunct="1"/>
                <a:r>
                  <a:rPr lang="zh-CN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比强度比较</a:t>
                </a:r>
                <a:endPara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50" name="Rectangle 8"/>
            <p:cNvSpPr>
              <a:spLocks noChangeAspect="1"/>
            </p:cNvSpPr>
            <p:nvPr/>
          </p:nvSpPr>
          <p:spPr>
            <a:xfrm>
              <a:off x="3984" y="2736"/>
              <a:ext cx="240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碳纤维</a:t>
              </a:r>
              <a:r>
                <a:rPr lang="en-US" altLang="zh-CN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树脂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1" name="Rectangle 9"/>
            <p:cNvSpPr>
              <a:spLocks noChangeAspect="1"/>
            </p:cNvSpPr>
            <p:nvPr/>
          </p:nvSpPr>
          <p:spPr>
            <a:xfrm>
              <a:off x="4176" y="2736"/>
              <a:ext cx="240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硼纤维</a:t>
              </a:r>
              <a:r>
                <a:rPr lang="en-US" altLang="zh-CN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树脂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2" name="Rectangle 10"/>
            <p:cNvSpPr>
              <a:spLocks noChangeAspect="1"/>
            </p:cNvSpPr>
            <p:nvPr/>
          </p:nvSpPr>
          <p:spPr>
            <a:xfrm>
              <a:off x="4416" y="2736"/>
              <a:ext cx="144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玻璃纤维</a:t>
              </a:r>
              <a:r>
                <a:rPr lang="en-US" altLang="zh-CN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树脂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3" name="Rectangle 11"/>
            <p:cNvSpPr>
              <a:spLocks noChangeAspect="1"/>
            </p:cNvSpPr>
            <p:nvPr/>
          </p:nvSpPr>
          <p:spPr>
            <a:xfrm>
              <a:off x="4560" y="2736"/>
              <a:ext cx="192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钛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4" name="Rectangle 12"/>
            <p:cNvSpPr>
              <a:spLocks noChangeAspect="1"/>
            </p:cNvSpPr>
            <p:nvPr/>
          </p:nvSpPr>
          <p:spPr>
            <a:xfrm>
              <a:off x="4752" y="2736"/>
              <a:ext cx="192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钢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5" name="Rectangle 13"/>
            <p:cNvSpPr>
              <a:spLocks noChangeAspect="1"/>
            </p:cNvSpPr>
            <p:nvPr/>
          </p:nvSpPr>
          <p:spPr>
            <a:xfrm>
              <a:off x="4944" y="2736"/>
              <a:ext cx="240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铝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569325" y="6606540"/>
            <a:ext cx="477520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979613" y="-171450"/>
            <a:ext cx="6288405" cy="11430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ea typeface="华文中宋" panose="02010600040101010101" pitchFamily="2" charset="-122"/>
              </a:rPr>
              <a:t>（三）复合材料的特点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104775" y="883285"/>
            <a:ext cx="6288405" cy="50685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</a:rPr>
              <a:t>3</a:t>
            </a:r>
            <a:r>
              <a:rPr lang="zh-CN" altLang="en-US" b="1" dirty="0">
                <a:solidFill>
                  <a:schemeClr val="folHlink"/>
                </a:solidFill>
              </a:rPr>
              <a:t>、减振性能良好 </a:t>
            </a:r>
            <a:endParaRPr lang="zh-CN" altLang="en-US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复合材料中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大量界面对振动有反射吸收作用，不易产生共振。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、高温性能好。 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>
              <a:lnSpc>
                <a:spcPct val="90000"/>
              </a:lnSpc>
            </a:pPr>
            <a:endParaRPr lang="zh-CN" altLang="en-US" dirty="0"/>
          </a:p>
        </p:txBody>
      </p:sp>
      <p:grpSp>
        <p:nvGrpSpPr>
          <p:cNvPr id="2" name="Group 15"/>
          <p:cNvGrpSpPr>
            <a:grpSpLocks noChangeAspect="1"/>
          </p:cNvGrpSpPr>
          <p:nvPr/>
        </p:nvGrpSpPr>
        <p:grpSpPr>
          <a:xfrm>
            <a:off x="6393815" y="1154748"/>
            <a:ext cx="2795588" cy="5359400"/>
            <a:chOff x="3600" y="288"/>
            <a:chExt cx="1952" cy="3743"/>
          </a:xfrm>
        </p:grpSpPr>
        <p:grpSp>
          <p:nvGrpSpPr>
            <p:cNvPr id="10249" name="Group 7"/>
            <p:cNvGrpSpPr>
              <a:grpSpLocks noChangeAspect="1"/>
            </p:cNvGrpSpPr>
            <p:nvPr/>
          </p:nvGrpSpPr>
          <p:grpSpPr>
            <a:xfrm>
              <a:off x="3600" y="288"/>
              <a:ext cx="1952" cy="3743"/>
              <a:chOff x="3600" y="336"/>
              <a:chExt cx="1952" cy="3743"/>
            </a:xfrm>
          </p:grpSpPr>
          <p:pic>
            <p:nvPicPr>
              <p:cNvPr id="10256" name="Picture 5" descr="旋转 比强度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600" y="336"/>
                <a:ext cx="1952" cy="374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0257" name="Rectangle 6"/>
              <p:cNvSpPr>
                <a:spLocks noChangeAspect="1"/>
              </p:cNvSpPr>
              <p:nvPr/>
            </p:nvSpPr>
            <p:spPr>
              <a:xfrm>
                <a:off x="5328" y="1120"/>
                <a:ext cx="192" cy="1680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vert="eaVert" wrap="none" anchor="ctr"/>
              <a:lstStyle/>
              <a:p>
                <a:pPr lvl="0" eaLnBrk="1" hangingPunct="1"/>
                <a:r>
                  <a:rPr lang="zh-CN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比强度比较</a:t>
                </a:r>
                <a:endPara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50" name="Rectangle 8"/>
            <p:cNvSpPr>
              <a:spLocks noChangeAspect="1"/>
            </p:cNvSpPr>
            <p:nvPr/>
          </p:nvSpPr>
          <p:spPr>
            <a:xfrm>
              <a:off x="3984" y="2736"/>
              <a:ext cx="240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碳纤维</a:t>
              </a:r>
              <a:r>
                <a:rPr lang="en-US" altLang="zh-CN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树脂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1" name="Rectangle 9"/>
            <p:cNvSpPr>
              <a:spLocks noChangeAspect="1"/>
            </p:cNvSpPr>
            <p:nvPr/>
          </p:nvSpPr>
          <p:spPr>
            <a:xfrm>
              <a:off x="4176" y="2736"/>
              <a:ext cx="240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硼纤维</a:t>
              </a:r>
              <a:r>
                <a:rPr lang="en-US" altLang="zh-CN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树脂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2" name="Rectangle 10"/>
            <p:cNvSpPr>
              <a:spLocks noChangeAspect="1"/>
            </p:cNvSpPr>
            <p:nvPr/>
          </p:nvSpPr>
          <p:spPr>
            <a:xfrm>
              <a:off x="4416" y="2736"/>
              <a:ext cx="144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玻璃纤维</a:t>
              </a:r>
              <a:r>
                <a:rPr lang="en-US" altLang="zh-CN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\</a:t>
              </a:r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树脂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3" name="Rectangle 11"/>
            <p:cNvSpPr>
              <a:spLocks noChangeAspect="1"/>
            </p:cNvSpPr>
            <p:nvPr/>
          </p:nvSpPr>
          <p:spPr>
            <a:xfrm>
              <a:off x="4560" y="2736"/>
              <a:ext cx="192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钛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4" name="Rectangle 12"/>
            <p:cNvSpPr>
              <a:spLocks noChangeAspect="1"/>
            </p:cNvSpPr>
            <p:nvPr/>
          </p:nvSpPr>
          <p:spPr>
            <a:xfrm>
              <a:off x="4752" y="2736"/>
              <a:ext cx="192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钢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0255" name="Rectangle 13"/>
            <p:cNvSpPr>
              <a:spLocks noChangeAspect="1"/>
            </p:cNvSpPr>
            <p:nvPr/>
          </p:nvSpPr>
          <p:spPr>
            <a:xfrm>
              <a:off x="4944" y="2736"/>
              <a:ext cx="240" cy="1248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lstStyle/>
            <a:p>
              <a:pPr lvl="0" algn="l" eaLnBrk="1" hangingPunct="1"/>
              <a:r>
                <a:rPr lang="zh-CN" altLang="en-US" sz="20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铝</a:t>
              </a:r>
              <a:endParaRPr lang="zh-CN" altLang="en-US" sz="2000" dirty="0">
                <a:solidFill>
                  <a:srgbClr val="8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pic>
        <p:nvPicPr>
          <p:cNvPr id="10246" name="Picture 15" descr="T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705" y="4108450"/>
            <a:ext cx="5996940" cy="24060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62366" y="6606540"/>
            <a:ext cx="384479" cy="25146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8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0" y="1700808"/>
            <a:ext cx="9036496" cy="3096344"/>
          </a:xfrm>
        </p:spPr>
        <p:txBody>
          <a:bodyPr wrap="square" lIns="92075" tIns="46038" rIns="92075" bIns="46038" anchor="ctr"/>
          <a:lstStyle/>
          <a:p>
            <a:pPr lvl="0" eaLnBrk="1" hangingPunct="1"/>
            <a:r>
              <a:rPr lang="zh-CN" altLang="en-US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二、粒子增强复合材料</a:t>
            </a:r>
            <a:br>
              <a:rPr lang="en-US" altLang="zh-CN" sz="5400" b="1" dirty="0"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000" b="1" i="1" dirty="0">
                <a:solidFill>
                  <a:srgbClr val="FF0000"/>
                </a:solidFill>
                <a:latin typeface="+mn-lt"/>
                <a:ea typeface="华文中宋" panose="02010600040101010101" pitchFamily="2" charset="-122"/>
              </a:rPr>
              <a:t>Particle Reinforced Composites</a:t>
            </a:r>
            <a:r>
              <a:rPr lang="zh-CN" altLang="en-US" sz="6000" b="1" i="1" dirty="0">
                <a:solidFill>
                  <a:srgbClr val="FF0000"/>
                </a:solidFill>
                <a:latin typeface="+mn-lt"/>
              </a:rPr>
              <a:t> </a:t>
            </a:r>
            <a:endParaRPr lang="zh-CN" altLang="en-US" sz="6000" b="1" i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6457" y="6509703"/>
            <a:ext cx="467544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0" y="285305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1259205" y="29210"/>
            <a:ext cx="7668260" cy="885190"/>
          </a:xfrm>
        </p:spPr>
        <p:txBody>
          <a:bodyPr wrap="square" lIns="92075" tIns="46038" rIns="92075" bIns="46038" anchor="ctr"/>
          <a:lstStyle/>
          <a:p>
            <a:pPr lvl="0" eaLnBrk="1" hangingPunct="1"/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二、粒子增强复合材料</a:t>
            </a:r>
            <a:r>
              <a:rPr lang="zh-CN" altLang="en-US" sz="4000" b="1" dirty="0"/>
              <a:t> </a:t>
            </a:r>
            <a:endParaRPr lang="zh-CN" altLang="en-US" sz="4000" b="1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323850" y="1068070"/>
            <a:ext cx="6456045" cy="5442585"/>
          </a:xfrm>
        </p:spPr>
        <p:txBody>
          <a:bodyPr vert="horz" wrap="square" lIns="91440" tIns="45720" rIns="91440" bIns="45720" anchor="t"/>
          <a:lstStyle/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粒子增强复合材料：粒子高度弥散</a:t>
            </a:r>
            <a:r>
              <a:rPr lang="zh-CN" altLang="en-US" b="1" dirty="0"/>
              <a:t>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分布在基体中，使其阻碍导致塑性变形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位错运动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金属基体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/>
              <a:t>或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分子链运动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聚合物基体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各向同性；粒子直径一般为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0.01~0.1</a:t>
            </a:r>
            <a:r>
              <a:rPr lang="en-US" altLang="zh-CN" b="1" dirty="0"/>
              <a:t>μm</a:t>
            </a:r>
            <a:r>
              <a:rPr lang="zh-CN" altLang="en-US" b="1" dirty="0"/>
              <a:t>，粒子间距一般大于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en-US" altLang="zh-CN" b="1" dirty="0"/>
              <a:t>μm</a:t>
            </a:r>
            <a:r>
              <a:rPr lang="zh-CN" altLang="en-US" b="1" dirty="0"/>
              <a:t>，体积分数不小于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20%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&lt;20%</a:t>
            </a:r>
            <a:r>
              <a:rPr lang="zh-CN" altLang="en-US" b="1" dirty="0"/>
              <a:t>称为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弥散强化材料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grpSp>
        <p:nvGrpSpPr>
          <p:cNvPr id="2" name="Group 8"/>
          <p:cNvGrpSpPr/>
          <p:nvPr/>
        </p:nvGrpSpPr>
        <p:grpSpPr>
          <a:xfrm>
            <a:off x="6779260" y="2338705"/>
            <a:ext cx="2278966" cy="2961289"/>
            <a:chOff x="3456" y="1392"/>
            <a:chExt cx="1972" cy="2422"/>
          </a:xfrm>
        </p:grpSpPr>
        <p:pic>
          <p:nvPicPr>
            <p:cNvPr id="11272" name="Picture 5" descr="卫星用颗粒增强铝基复合材料零件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56" y="1392"/>
              <a:ext cx="1972" cy="237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273" name="Text Box 6"/>
            <p:cNvSpPr txBox="1"/>
            <p:nvPr/>
          </p:nvSpPr>
          <p:spPr>
            <a:xfrm>
              <a:off x="3456" y="3285"/>
              <a:ext cx="1972" cy="529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卫星用颗粒增强铝基复合材料零件</a:t>
              </a:r>
              <a:endParaRPr lang="zh-CN" altLang="en-US" sz="18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6457" y="6509703"/>
            <a:ext cx="467544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nimBg="1"/>
      <p:bldP spid="8195" grpId="0" advAuto="100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695325" y="-27305"/>
            <a:ext cx="8448675" cy="93726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二、粒子增强复合材料</a:t>
            </a:r>
            <a:r>
              <a:rPr lang="en-US" altLang="zh-CN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——</a:t>
            </a:r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主要种类</a:t>
            </a:r>
            <a:endParaRPr lang="zh-CN" altLang="en-US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420052" y="1541463"/>
            <a:ext cx="6024155" cy="411480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聚合物基  粒子</a:t>
            </a:r>
            <a:r>
              <a:rPr lang="zh-CN" altLang="en-US" b="1" dirty="0"/>
              <a:t>复合材料</a:t>
            </a:r>
            <a:endParaRPr lang="zh-CN" altLang="en-US" b="1" dirty="0"/>
          </a:p>
          <a:p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陶瓷基  粒子</a:t>
            </a:r>
            <a:r>
              <a:rPr lang="zh-CN" altLang="en-US" b="1" dirty="0"/>
              <a:t>复合材料</a:t>
            </a:r>
            <a:endParaRPr lang="zh-CN" altLang="en-US" b="1" dirty="0"/>
          </a:p>
          <a:p>
            <a:endParaRPr lang="zh-CN" altLang="en-US" b="1" dirty="0"/>
          </a:p>
          <a:p>
            <a:r>
              <a:rPr lang="en-US" altLang="zh-CN" b="1" dirty="0"/>
              <a:t>3.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金属基  粒子</a:t>
            </a:r>
            <a:r>
              <a:rPr lang="zh-CN" altLang="en-US" b="1" dirty="0"/>
              <a:t>复合材料</a:t>
            </a:r>
            <a:endParaRPr lang="zh-CN" altLang="en-US" b="1" dirty="0"/>
          </a:p>
        </p:txBody>
      </p:sp>
      <p:grpSp>
        <p:nvGrpSpPr>
          <p:cNvPr id="2" name="Group 25"/>
          <p:cNvGrpSpPr/>
          <p:nvPr/>
        </p:nvGrpSpPr>
        <p:grpSpPr>
          <a:xfrm>
            <a:off x="2735706" y="2396173"/>
            <a:ext cx="6181917" cy="4350032"/>
            <a:chOff x="279" y="432"/>
            <a:chExt cx="5117" cy="3670"/>
          </a:xfrm>
        </p:grpSpPr>
        <p:grpSp>
          <p:nvGrpSpPr>
            <p:cNvPr id="12296" name="Group 14"/>
            <p:cNvGrpSpPr>
              <a:grpSpLocks noChangeAspect="1"/>
            </p:cNvGrpSpPr>
            <p:nvPr/>
          </p:nvGrpSpPr>
          <p:grpSpPr>
            <a:xfrm>
              <a:off x="3408" y="432"/>
              <a:ext cx="1988" cy="1803"/>
              <a:chOff x="3360" y="336"/>
              <a:chExt cx="2208" cy="2003"/>
            </a:xfrm>
          </p:grpSpPr>
          <p:pic>
            <p:nvPicPr>
              <p:cNvPr id="12303" name="Picture 5" descr="cf-SiC复合材料微观结构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360" y="336"/>
                <a:ext cx="2154" cy="145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304" name="Text Box 7"/>
              <p:cNvSpPr txBox="1">
                <a:spLocks noChangeAspect="1"/>
              </p:cNvSpPr>
              <p:nvPr/>
            </p:nvSpPr>
            <p:spPr>
              <a:xfrm>
                <a:off x="3360" y="1737"/>
                <a:ext cx="2208" cy="60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粒子增强</a:t>
                </a:r>
                <a:r>
                  <a:rPr lang="en-US" altLang="zh-CN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SiC</a:t>
                </a:r>
                <a:r>
                  <a:rPr lang="zh-CN" altLang="en-US" sz="18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陶瓷基复合材料</a:t>
                </a:r>
                <a:endPara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297" name="Group 24"/>
            <p:cNvGrpSpPr/>
            <p:nvPr/>
          </p:nvGrpSpPr>
          <p:grpSpPr>
            <a:xfrm>
              <a:off x="279" y="2277"/>
              <a:ext cx="5074" cy="1825"/>
              <a:chOff x="279" y="2202"/>
              <a:chExt cx="5074" cy="1825"/>
            </a:xfrm>
          </p:grpSpPr>
          <p:grpSp>
            <p:nvGrpSpPr>
              <p:cNvPr id="12298" name="Group 18"/>
              <p:cNvGrpSpPr>
                <a:grpSpLocks noChangeAspect="1"/>
              </p:cNvGrpSpPr>
              <p:nvPr/>
            </p:nvGrpSpPr>
            <p:grpSpPr>
              <a:xfrm>
                <a:off x="279" y="2202"/>
                <a:ext cx="2426" cy="1825"/>
                <a:chOff x="256" y="2593"/>
                <a:chExt cx="2122" cy="1596"/>
              </a:xfrm>
            </p:grpSpPr>
            <p:pic>
              <p:nvPicPr>
                <p:cNvPr id="12301" name="Picture 6" descr="颗粒增强铝基泡沫复合材料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56" y="2593"/>
                  <a:ext cx="2122" cy="1377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12302" name="Rectangle 17"/>
                <p:cNvSpPr>
                  <a:spLocks noChangeAspect="1"/>
                </p:cNvSpPr>
                <p:nvPr/>
              </p:nvSpPr>
              <p:spPr>
                <a:xfrm>
                  <a:off x="285" y="3999"/>
                  <a:ext cx="2064" cy="190"/>
                </a:xfrm>
                <a:prstGeom prst="rect">
                  <a:avLst/>
                </a:prstGeom>
                <a:solidFill>
                  <a:schemeClr val="tx1"/>
                </a:solidFill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/>
                <a:p>
                  <a:pPr lvl="0" algn="r" eaLnBrk="1" hangingPunct="1"/>
                  <a:r>
                    <a:rPr lang="zh-CN" altLang="en-US" sz="1800" dirty="0">
                      <a:solidFill>
                        <a:srgbClr val="8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颗粒增强铝基泡沫复合材料</a:t>
                  </a:r>
                  <a:endPara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</p:grpSp>
          <p:pic>
            <p:nvPicPr>
              <p:cNvPr id="12299" name="Picture 20" descr="颗粒增强聚合物基复合材料——碳黑增强橡胶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72" y="2202"/>
                <a:ext cx="2281" cy="1574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2300" name="Rectangle 21"/>
              <p:cNvSpPr/>
              <p:nvPr/>
            </p:nvSpPr>
            <p:spPr>
              <a:xfrm>
                <a:off x="3611" y="3809"/>
                <a:ext cx="1534" cy="217"/>
              </a:xfrm>
              <a:prstGeom prst="rect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碳黑增强橡胶</a:t>
                </a:r>
                <a:endPara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1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6645" y="6515100"/>
            <a:ext cx="497840" cy="34798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907223" y="-27305"/>
            <a:ext cx="6357937" cy="928688"/>
          </a:xfrm>
        </p:spPr>
        <p:txBody>
          <a:bodyPr vert="horz" wrap="square" lIns="92075" tIns="46038" rIns="92075" bIns="46038" anchor="ctr"/>
          <a:lstStyle/>
          <a:p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聚合物基粒子复合材料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如  电木：酚醛树脂  </a:t>
            </a:r>
            <a:r>
              <a:rPr lang="en-US" altLang="zh-CN" b="1" dirty="0">
                <a:ea typeface="华文中宋" panose="02010600040101010101" pitchFamily="2" charset="-122"/>
              </a:rPr>
              <a:t>+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木粉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碳酸钙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粒子改性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热塑性塑料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钙塑材料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合成木材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等。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728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1619250" y="-99695"/>
            <a:ext cx="6764338" cy="1143000"/>
          </a:xfrm>
        </p:spPr>
        <p:txBody>
          <a:bodyPr vert="horz" wrap="square" lIns="92075" tIns="46038" rIns="92075" bIns="46038" anchor="ctr"/>
          <a:lstStyle/>
          <a:p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陶瓷基粒子复合材料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b="1" dirty="0"/>
              <a:t>如氧化锆增韧陶瓷（</a:t>
            </a:r>
            <a:r>
              <a:rPr lang="en-US" altLang="zh-CN" b="1" dirty="0"/>
              <a:t>ZTA</a:t>
            </a:r>
            <a:r>
              <a:rPr lang="zh-CN" altLang="en-US" b="1" dirty="0"/>
              <a:t>）</a:t>
            </a:r>
            <a:r>
              <a:rPr lang="en-US" altLang="zh-CN" b="1" dirty="0"/>
              <a:t>……</a:t>
            </a:r>
            <a:endParaRPr lang="en-US" altLang="zh-CN" b="1" dirty="0"/>
          </a:p>
        </p:txBody>
      </p:sp>
      <p:sp>
        <p:nvSpPr>
          <p:cNvPr id="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60460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41910" y="90868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2153920" y="64135"/>
            <a:ext cx="5929313" cy="785813"/>
          </a:xfrm>
        </p:spPr>
        <p:txBody>
          <a:bodyPr vert="horz" wrap="square" lIns="92075" tIns="46038" rIns="92075" bIns="46038" anchor="ctr"/>
          <a:lstStyle/>
          <a:p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金属基粒子复合材料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142875" y="914400"/>
            <a:ext cx="5857875" cy="5555615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金属陶瓷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ea typeface="华文中宋" panose="02010600040101010101" pitchFamily="2" charset="-122"/>
              </a:rPr>
              <a:t>是由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钛、镍、钴、铬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碳化物、氮化物、氧化物、硼化物等组成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非均质材料。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碳化物金属陶瓷</a:t>
            </a:r>
            <a:r>
              <a:rPr lang="zh-CN" altLang="en-US" b="1" dirty="0">
                <a:ea typeface="华文中宋" panose="02010600040101010101" pitchFamily="2" charset="-122"/>
              </a:rPr>
              <a:t>作为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工具材料</a:t>
            </a:r>
            <a:r>
              <a:rPr lang="zh-CN" altLang="en-US" b="1" dirty="0">
                <a:ea typeface="华文中宋" panose="02010600040101010101" pitchFamily="2" charset="-122"/>
              </a:rPr>
              <a:t>已被广泛应用，称作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lang="zh-CN" altLang="en-US" b="1" dirty="0">
                <a:ea typeface="华文中宋" panose="02010600040101010101" pitchFamily="2" charset="-122"/>
              </a:rPr>
              <a:t>。硬质合金通常以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Ni</a:t>
            </a:r>
            <a:r>
              <a:rPr lang="zh-CN" altLang="en-US" b="1" dirty="0">
                <a:ea typeface="华文中宋" panose="02010600040101010101" pitchFamily="2" charset="-122"/>
              </a:rPr>
              <a:t>作为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粘结剂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WC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TiC</a:t>
            </a:r>
            <a:r>
              <a:rPr lang="zh-CN" altLang="en-US" b="1" dirty="0">
                <a:ea typeface="华文中宋" panose="02010600040101010101" pitchFamily="2" charset="-122"/>
              </a:rPr>
              <a:t>等作为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强化相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2"/>
          <p:cNvGrpSpPr>
            <a:grpSpLocks noChangeAspect="1"/>
          </p:cNvGrpSpPr>
          <p:nvPr/>
        </p:nvGrpSpPr>
        <p:grpSpPr>
          <a:xfrm>
            <a:off x="6116638" y="1284211"/>
            <a:ext cx="3027362" cy="5560926"/>
            <a:chOff x="3120" y="6"/>
            <a:chExt cx="2380" cy="4370"/>
          </a:xfrm>
        </p:grpSpPr>
        <p:pic>
          <p:nvPicPr>
            <p:cNvPr id="15368" name="Picture 8" descr="旋转 硬质合金组织（Co+WC）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20" y="6"/>
              <a:ext cx="2380" cy="181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5369" name="Picture 9" descr="硬质合金铣刀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0" y="2160"/>
              <a:ext cx="2380" cy="190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5370" name="Rectangle 10"/>
            <p:cNvSpPr>
              <a:spLocks noChangeAspect="1"/>
            </p:cNvSpPr>
            <p:nvPr/>
          </p:nvSpPr>
          <p:spPr>
            <a:xfrm>
              <a:off x="3280" y="1818"/>
              <a:ext cx="2060" cy="212"/>
            </a:xfrm>
            <a:prstGeom prst="rect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r" eaLnBrk="1" hangingPunct="1"/>
              <a:r>
                <a:rPr lang="en-US" altLang="zh-CN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硬质合金组织</a:t>
              </a:r>
              <a:r>
                <a:rPr lang="en-US" altLang="zh-CN" sz="1800" dirty="0">
                  <a:solidFill>
                    <a:srgbClr val="8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(</a:t>
              </a:r>
              <a:r>
                <a:rPr lang="en-US" altLang="zh-CN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Co+WC)</a:t>
              </a:r>
              <a:endParaRPr lang="en-US" altLang="zh-CN" sz="18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99" name="Text Box 11"/>
            <p:cNvSpPr txBox="1">
              <a:spLocks noChangeAspect="1" noChangeArrowheads="1"/>
            </p:cNvSpPr>
            <p:nvPr/>
          </p:nvSpPr>
          <p:spPr bwMode="auto">
            <a:xfrm>
              <a:off x="3549" y="4063"/>
              <a:ext cx="1523" cy="31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硬质合金铣刀</a:t>
              </a:r>
              <a:endPara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2012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3" name="圆角矩形 2" descr="7b0a202020202262756c6c6574223a20227b5c2263617465676f727949645c223a31303032352c5c2274656d706c61746549645c223a32303233313437347d220a7d0a"/>
          <p:cNvSpPr/>
          <p:nvPr>
            <p:custDataLst>
              <p:tags r:id="rId4"/>
            </p:custDataLst>
          </p:nvPr>
        </p:nvSpPr>
        <p:spPr>
          <a:xfrm>
            <a:off x="1403985" y="1052830"/>
            <a:ext cx="1690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金属</a:t>
            </a:r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陶瓷</a:t>
            </a:r>
            <a:endParaRPr lang="zh-CN" altLang="en-US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2571750" y="-71120"/>
            <a:ext cx="4357688" cy="1000125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214313" y="928688"/>
            <a:ext cx="5572125" cy="5595937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种类：</a:t>
            </a:r>
            <a:r>
              <a:rPr lang="zh-CN" altLang="en-US" b="1" dirty="0">
                <a:ea typeface="华文中宋" panose="02010600040101010101" pitchFamily="2" charset="-122"/>
              </a:rPr>
              <a:t>主要有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钨钴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(YG)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钨钴钛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(YT)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两类。牌号中，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YG</a:t>
            </a:r>
            <a:r>
              <a:rPr lang="zh-CN" altLang="en-US" b="1" dirty="0">
                <a:ea typeface="华文中宋" panose="02010600040101010101" pitchFamily="2" charset="-122"/>
              </a:rPr>
              <a:t>后的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数字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Co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YT</a:t>
            </a:r>
            <a:r>
              <a:rPr lang="zh-CN" altLang="en-US" b="1" dirty="0">
                <a:ea typeface="华文中宋" panose="02010600040101010101" pitchFamily="2" charset="-122"/>
              </a:rPr>
              <a:t>后的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数字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碳化钛含量。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特点：硬度极高，且热硬性、耐磨性好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一般做成刀片，镶在刀体上使用。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endParaRPr lang="zh-CN" altLang="en-US" sz="2800" dirty="0"/>
          </a:p>
        </p:txBody>
      </p:sp>
      <p:grpSp>
        <p:nvGrpSpPr>
          <p:cNvPr id="2" name="Group 17"/>
          <p:cNvGrpSpPr>
            <a:grpSpLocks noChangeAspect="1"/>
          </p:cNvGrpSpPr>
          <p:nvPr/>
        </p:nvGrpSpPr>
        <p:grpSpPr>
          <a:xfrm>
            <a:off x="6073775" y="1737995"/>
            <a:ext cx="3007360" cy="4347210"/>
            <a:chOff x="3055" y="379"/>
            <a:chExt cx="2432" cy="3514"/>
          </a:xfrm>
        </p:grpSpPr>
        <p:grpSp>
          <p:nvGrpSpPr>
            <p:cNvPr id="16392" name="Group 15"/>
            <p:cNvGrpSpPr>
              <a:grpSpLocks noChangeAspect="1"/>
            </p:cNvGrpSpPr>
            <p:nvPr/>
          </p:nvGrpSpPr>
          <p:grpSpPr>
            <a:xfrm>
              <a:off x="3055" y="379"/>
              <a:ext cx="2432" cy="1264"/>
              <a:chOff x="3055" y="379"/>
              <a:chExt cx="2432" cy="1264"/>
            </a:xfrm>
          </p:grpSpPr>
          <p:pic>
            <p:nvPicPr>
              <p:cNvPr id="16395" name="Picture 10" descr="硬质合金模具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055" y="379"/>
                <a:ext cx="2432" cy="1264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6396" name="Text Box 11"/>
              <p:cNvSpPr txBox="1">
                <a:spLocks noChangeAspect="1"/>
              </p:cNvSpPr>
              <p:nvPr/>
            </p:nvSpPr>
            <p:spPr>
              <a:xfrm>
                <a:off x="3109" y="397"/>
                <a:ext cx="1292" cy="29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硬质合金模具</a:t>
                </a:r>
                <a:endPara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6393" name="Picture 14" descr="硬质合金轴承刀具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5" y="1918"/>
              <a:ext cx="2432" cy="197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6394" name="Text Box 16"/>
            <p:cNvSpPr txBox="1">
              <a:spLocks noChangeAspect="1"/>
            </p:cNvSpPr>
            <p:nvPr/>
          </p:nvSpPr>
          <p:spPr>
            <a:xfrm>
              <a:off x="3533" y="1919"/>
              <a:ext cx="1951" cy="3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硬质合金轴承刀具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52510" y="6628765"/>
            <a:ext cx="428625" cy="229235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187450" y="0"/>
            <a:ext cx="7772400" cy="90805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切削工具用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17413" name="Picture 5" descr="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77875" y="1079500"/>
            <a:ext cx="8133080" cy="5519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9892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3028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187450" y="0"/>
            <a:ext cx="7772400" cy="90805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硬质合金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——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切削工具用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18437" name="Picture 6" descr="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29615" y="914400"/>
            <a:ext cx="8230235" cy="55352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377885" y="1556356"/>
            <a:ext cx="8751510" cy="1872208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sz="6600" b="1" dirty="0">
                <a:ea typeface="华文中宋" panose="02010600040101010101" pitchFamily="2" charset="-122"/>
              </a:rPr>
              <a:t>三、层状复合材料</a:t>
            </a:r>
            <a:br>
              <a:rPr lang="zh-CN" altLang="en-US" sz="6600" b="1" dirty="0">
                <a:ea typeface="华文中宋" panose="02010600040101010101" pitchFamily="2" charset="-122"/>
              </a:rPr>
            </a:br>
            <a:r>
              <a:rPr lang="en-US" altLang="zh-CN" sz="6600" b="1" i="1">
                <a:latin typeface="+mn-lt"/>
                <a:cs typeface="+mn-lt"/>
              </a:rPr>
              <a:t>laminar composite</a:t>
            </a:r>
            <a:endParaRPr lang="en-US" altLang="zh-CN" sz="6600" b="1" i="1">
              <a:latin typeface="+mn-lt"/>
              <a:cs typeface="+mn-lt"/>
            </a:endParaRPr>
          </a:p>
        </p:txBody>
      </p:sp>
      <p:grpSp>
        <p:nvGrpSpPr>
          <p:cNvPr id="19462" name="Group 22"/>
          <p:cNvGrpSpPr>
            <a:grpSpLocks noChangeAspect="1"/>
          </p:cNvGrpSpPr>
          <p:nvPr/>
        </p:nvGrpSpPr>
        <p:grpSpPr>
          <a:xfrm>
            <a:off x="3275856" y="3932674"/>
            <a:ext cx="3266440" cy="1630680"/>
            <a:chOff x="2208" y="2352"/>
            <a:chExt cx="3354" cy="1674"/>
          </a:xfrm>
        </p:grpSpPr>
        <p:pic>
          <p:nvPicPr>
            <p:cNvPr id="19465" name="Picture 16" descr="三明治复合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208" y="2352"/>
              <a:ext cx="3354" cy="167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466" name="Text Box 21"/>
            <p:cNvSpPr txBox="1">
              <a:spLocks noChangeAspect="1"/>
            </p:cNvSpPr>
            <p:nvPr/>
          </p:nvSpPr>
          <p:spPr>
            <a:xfrm>
              <a:off x="4242" y="2400"/>
              <a:ext cx="1230" cy="7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三明治复合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574405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22860" y="26365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500188" y="0"/>
            <a:ext cx="6357937" cy="928688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ea typeface="华文中宋" panose="02010600040101010101" pitchFamily="2" charset="-122"/>
              </a:rPr>
              <a:t>三、层状复合材料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xfrm>
            <a:off x="214313" y="1214438"/>
            <a:ext cx="5493588" cy="5382914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层状复合材料：在基体中含有</a:t>
            </a:r>
            <a:r>
              <a:rPr lang="zh-CN" altLang="en-US" b="1" dirty="0"/>
              <a:t>多重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层片状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高强、高模量增强物</a:t>
            </a:r>
            <a:r>
              <a:rPr lang="zh-CN" altLang="en-US" b="1" dirty="0"/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复合材料。</a:t>
            </a:r>
            <a:endParaRPr lang="en-US" altLang="zh-CN" b="1" dirty="0">
              <a:solidFill>
                <a:schemeClr val="folHlink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</a:rPr>
              <a:t>特点：各向异性</a:t>
            </a:r>
            <a:r>
              <a:rPr lang="zh-CN" altLang="en-US" b="1" dirty="0"/>
              <a:t>的</a:t>
            </a:r>
            <a:r>
              <a:rPr lang="en-US" altLang="zh-CN" b="1" dirty="0">
                <a:solidFill>
                  <a:srgbClr val="CCFFFF"/>
                </a:solidFill>
              </a:rPr>
              <a:t>(</a:t>
            </a:r>
            <a:r>
              <a:rPr lang="zh-CN" altLang="en-US" b="1" dirty="0">
                <a:solidFill>
                  <a:srgbClr val="CCFFFF"/>
                </a:solidFill>
              </a:rPr>
              <a:t>层内两维同性</a:t>
            </a:r>
            <a:r>
              <a:rPr lang="en-US" altLang="zh-CN" b="1" dirty="0">
                <a:solidFill>
                  <a:srgbClr val="CCFFFF"/>
                </a:solidFill>
              </a:rPr>
              <a:t>)</a:t>
            </a:r>
            <a:r>
              <a:rPr lang="zh-CN" altLang="en-US" b="1" dirty="0"/>
              <a:t>。如碳化硼片增强钛、胶合板等。</a:t>
            </a:r>
            <a:endParaRPr lang="zh-CN" altLang="en-US" b="1" dirty="0"/>
          </a:p>
          <a:p>
            <a:pPr eaLnBrk="1" hangingPunct="1">
              <a:lnSpc>
                <a:spcPct val="130000"/>
              </a:lnSpc>
            </a:pP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endParaRPr lang="zh-CN" altLang="en-US" dirty="0"/>
          </a:p>
        </p:txBody>
      </p:sp>
      <p:grpSp>
        <p:nvGrpSpPr>
          <p:cNvPr id="19461" name="Group 24"/>
          <p:cNvGrpSpPr/>
          <p:nvPr/>
        </p:nvGrpSpPr>
        <p:grpSpPr>
          <a:xfrm>
            <a:off x="6443663" y="1196975"/>
            <a:ext cx="2559050" cy="3460750"/>
            <a:chOff x="2948" y="391"/>
            <a:chExt cx="2473" cy="2180"/>
          </a:xfrm>
        </p:grpSpPr>
        <p:pic>
          <p:nvPicPr>
            <p:cNvPr id="19467" name="Picture 17" descr="层状陶瓷复合材料断口形貌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948" y="391"/>
              <a:ext cx="2473" cy="173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468" name="Text Box 18"/>
            <p:cNvSpPr txBox="1">
              <a:spLocks noChangeAspect="1"/>
            </p:cNvSpPr>
            <p:nvPr/>
          </p:nvSpPr>
          <p:spPr>
            <a:xfrm>
              <a:off x="3124" y="2129"/>
              <a:ext cx="2122" cy="44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层状陶瓷复合材料断口形貌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462" name="Group 22"/>
          <p:cNvGrpSpPr>
            <a:grpSpLocks noChangeAspect="1"/>
          </p:cNvGrpSpPr>
          <p:nvPr/>
        </p:nvGrpSpPr>
        <p:grpSpPr>
          <a:xfrm>
            <a:off x="5888990" y="4676775"/>
            <a:ext cx="3266440" cy="1630680"/>
            <a:chOff x="2208" y="2352"/>
            <a:chExt cx="3354" cy="1674"/>
          </a:xfrm>
        </p:grpSpPr>
        <p:pic>
          <p:nvPicPr>
            <p:cNvPr id="19465" name="Picture 16" descr="三明治复合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" y="2352"/>
              <a:ext cx="3354" cy="167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466" name="Text Box 21"/>
            <p:cNvSpPr txBox="1">
              <a:spLocks noChangeAspect="1"/>
            </p:cNvSpPr>
            <p:nvPr/>
          </p:nvSpPr>
          <p:spPr>
            <a:xfrm>
              <a:off x="4242" y="2400"/>
              <a:ext cx="1230" cy="7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三明治复合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574405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2339975" y="0"/>
            <a:ext cx="5089525" cy="928688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ea typeface="华文中宋" panose="02010600040101010101" pitchFamily="2" charset="-122"/>
              </a:rPr>
              <a:t>层状复合材料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/>
          </p:nvPr>
        </p:nvSpPr>
        <p:spPr>
          <a:xfrm>
            <a:off x="539750" y="1268413"/>
            <a:ext cx="7772400" cy="4114800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双金属、表面涂层</a:t>
            </a:r>
            <a:r>
              <a:rPr lang="zh-CN" altLang="en-US" b="1" dirty="0">
                <a:ea typeface="华文中宋" panose="02010600040101010101" pitchFamily="2" charset="-122"/>
              </a:rPr>
              <a:t>等也是层状复合材料。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根据材质不同，结构层状材料 分别用于飞机制造、运输及包装  等。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9"/>
          <p:cNvGrpSpPr>
            <a:grpSpLocks noChangeAspect="1"/>
          </p:cNvGrpSpPr>
          <p:nvPr/>
        </p:nvGrpSpPr>
        <p:grpSpPr>
          <a:xfrm>
            <a:off x="1617345" y="3418205"/>
            <a:ext cx="6948488" cy="3222625"/>
            <a:chOff x="432" y="1584"/>
            <a:chExt cx="5131" cy="2380"/>
          </a:xfrm>
        </p:grpSpPr>
        <p:pic>
          <p:nvPicPr>
            <p:cNvPr id="20488" name="Picture 6" descr="image023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2" y="2232"/>
              <a:ext cx="1430" cy="173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0489" name="Text Box 9"/>
            <p:cNvSpPr txBox="1">
              <a:spLocks noChangeAspect="1"/>
            </p:cNvSpPr>
            <p:nvPr/>
          </p:nvSpPr>
          <p:spPr>
            <a:xfrm>
              <a:off x="576" y="1776"/>
              <a:ext cx="1153" cy="474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</a:t>
              </a:r>
              <a:r>
                <a:rPr lang="en-US" altLang="zh-CN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TiN</a:t>
              </a:r>
              <a:r>
                <a:rPr lang="zh-CN" altLang="en-US" sz="1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涂层的高尔夫球头</a:t>
              </a:r>
              <a:endPara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0490" name="Group 16"/>
            <p:cNvGrpSpPr>
              <a:grpSpLocks noChangeAspect="1"/>
            </p:cNvGrpSpPr>
            <p:nvPr/>
          </p:nvGrpSpPr>
          <p:grpSpPr>
            <a:xfrm>
              <a:off x="1889" y="1584"/>
              <a:ext cx="1631" cy="2380"/>
              <a:chOff x="429" y="1632"/>
              <a:chExt cx="1631" cy="2380"/>
            </a:xfrm>
          </p:grpSpPr>
          <p:pic>
            <p:nvPicPr>
              <p:cNvPr id="20494" name="Picture 14" descr="层状复合2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80" y="1632"/>
                <a:ext cx="1580" cy="238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0495" name="Text Box 15"/>
              <p:cNvSpPr txBox="1">
                <a:spLocks noChangeAspect="1"/>
              </p:cNvSpPr>
              <p:nvPr/>
            </p:nvSpPr>
            <p:spPr>
              <a:xfrm>
                <a:off x="429" y="3007"/>
                <a:ext cx="339" cy="7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层状复合</a:t>
                </a:r>
                <a:endPara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491" name="Group 18"/>
            <p:cNvGrpSpPr>
              <a:grpSpLocks noChangeAspect="1"/>
            </p:cNvGrpSpPr>
            <p:nvPr/>
          </p:nvGrpSpPr>
          <p:grpSpPr>
            <a:xfrm>
              <a:off x="3547" y="1584"/>
              <a:ext cx="2016" cy="2380"/>
              <a:chOff x="3547" y="1584"/>
              <a:chExt cx="2016" cy="2380"/>
            </a:xfrm>
          </p:grpSpPr>
          <p:pic>
            <p:nvPicPr>
              <p:cNvPr id="20492" name="Picture 4" descr="image021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00" y="1584"/>
                <a:ext cx="1963" cy="238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0493" name="Text Box 17"/>
              <p:cNvSpPr txBox="1">
                <a:spLocks noChangeAspect="1"/>
              </p:cNvSpPr>
              <p:nvPr/>
            </p:nvSpPr>
            <p:spPr>
              <a:xfrm>
                <a:off x="3547" y="2496"/>
                <a:ext cx="341" cy="144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eaLnBrk="1" hangingPunct="1"/>
                <a:r>
                  <a: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铝合金蜂窝夹层板</a:t>
                </a:r>
                <a:endPara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</p:grp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35365" y="6602917"/>
            <a:ext cx="428625" cy="254449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-324544" y="1256556"/>
            <a:ext cx="9649072" cy="3181469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</a:t>
            </a:r>
            <a:r>
              <a:rPr lang="zh-CN" altLang="en-US" sz="6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kumimoji="1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纤维增强复合材料</a:t>
            </a:r>
            <a:br>
              <a:rPr kumimoji="1" lang="en-US" altLang="zh-CN" sz="60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</a:br>
            <a:r>
              <a:rPr kumimoji="1" lang="zh-CN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cs typeface="+mj-cs"/>
              </a:rPr>
              <a:t> </a:t>
            </a:r>
            <a:r>
              <a:rPr kumimoji="1" lang="en-US" altLang="zh-CN" sz="54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  <a:cs typeface="+mj-cs"/>
              </a:rPr>
              <a:t>Fiber Reinforced Composites</a:t>
            </a:r>
            <a:endParaRPr kumimoji="1" lang="zh-CN" altLang="en-US" sz="54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cs typeface="+mj-cs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728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0" y="29248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545" y="38100"/>
            <a:ext cx="6929438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四、纤维增强复合材料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81305" y="1584325"/>
            <a:ext cx="6313805" cy="4999990"/>
          </a:xfrm>
        </p:spPr>
        <p:txBody>
          <a:bodyPr vert="horz" wrap="square" lIns="91440" tIns="45720" rIns="91440" bIns="45720" anchor="t"/>
          <a:lstStyle/>
          <a:p>
            <a:pPr lvl="0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纤维增强复合材料：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以各种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金属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非金属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作为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基体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，以各种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纤维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作为增强材料的复合材料。</a:t>
            </a:r>
            <a:endParaRPr lang="zh-CN" altLang="en-US" b="1" dirty="0">
              <a:solidFill>
                <a:schemeClr val="accent1"/>
              </a:solidFill>
              <a:ea typeface="华文中宋" panose="02010600040101010101" pitchFamily="2" charset="-122"/>
              <a:sym typeface="+mn-ea"/>
            </a:endParaRPr>
          </a:p>
          <a:p>
            <a:pPr lvl="0" eaLnBrk="1" hangingPunct="1">
              <a:lnSpc>
                <a:spcPct val="140000"/>
              </a:lnSpc>
            </a:pP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6948805" y="2390775"/>
            <a:ext cx="2211070" cy="2605405"/>
            <a:chOff x="3696" y="1872"/>
            <a:chExt cx="1556" cy="1927"/>
          </a:xfrm>
        </p:grpSpPr>
        <p:pic>
          <p:nvPicPr>
            <p:cNvPr id="21513" name="Picture 6" descr="碳纤维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696" y="1872"/>
              <a:ext cx="1546" cy="192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4" name="Text Box 7"/>
            <p:cNvSpPr txBox="1">
              <a:spLocks noChangeAspect="1"/>
            </p:cNvSpPr>
            <p:nvPr/>
          </p:nvSpPr>
          <p:spPr>
            <a:xfrm>
              <a:off x="4909" y="2352"/>
              <a:ext cx="343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碳纤维</a:t>
              </a:r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728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ldLvl="0" animBg="1"/>
      <p:bldP spid="11267" grpId="0" advAuto="100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545" y="38100"/>
            <a:ext cx="6929438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四、纤维增强复合材料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281305" y="1412776"/>
            <a:ext cx="8390890" cy="5171539"/>
          </a:xfrm>
        </p:spPr>
        <p:txBody>
          <a:bodyPr vert="horz" wrap="square" lIns="91440" tIns="45720" rIns="91440" bIns="45720" anchor="t"/>
          <a:lstStyle/>
          <a:p>
            <a:pPr lvl="0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  <a:sym typeface="+mn-ea"/>
              </a:rPr>
              <a:t>（一）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纤维增强复合原则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（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  <a:sym typeface="+mn-ea"/>
              </a:rPr>
              <a:t>二）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纤维的种类和性能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（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  <a:sym typeface="+mn-ea"/>
              </a:rPr>
              <a:t>三）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纤维增强聚合物基复合材料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  <a:sym typeface="+mn-ea"/>
              </a:rPr>
              <a:t>（四）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纤维增强金属基复合材料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（</a:t>
            </a:r>
            <a:r>
              <a:rPr lang="zh-CN" altLang="en-US" b="1" dirty="0">
                <a:solidFill>
                  <a:schemeClr val="accent1"/>
                </a:solidFill>
                <a:ea typeface="华文中宋" panose="02010600040101010101" pitchFamily="2" charset="-122"/>
                <a:sym typeface="+mn-ea"/>
              </a:rPr>
              <a:t>五）</a:t>
            </a:r>
            <a:r>
              <a:rPr lang="zh-CN" altLang="en-US" b="1" dirty="0">
                <a:ea typeface="华文中宋" panose="02010600040101010101" pitchFamily="2" charset="-122"/>
                <a:sym typeface="+mn-ea"/>
              </a:rPr>
              <a:t>纤维增强陶瓷基复合材料</a:t>
            </a:r>
            <a:endParaRPr lang="zh-CN" altLang="en-US" b="1" dirty="0">
              <a:solidFill>
                <a:schemeClr val="tx2"/>
              </a:solidFill>
              <a:ea typeface="华文中宋" panose="02010600040101010101" pitchFamily="2" charset="-122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728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39545" y="38100"/>
            <a:ext cx="6929438" cy="8382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四、纤维增强复合材料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179512" y="1340768"/>
            <a:ext cx="6901815" cy="4896544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algn="l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solidFill>
                  <a:schemeClr val="tx2"/>
                </a:solidFill>
                <a:ea typeface="华文中宋" panose="02010600040101010101" pitchFamily="2" charset="-122"/>
              </a:rPr>
              <a:t>（一）纤维增强复合原则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在纤维增强复合材料中，纤维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是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材料主要承载组分，其增强效果主要取决于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纤维</a:t>
            </a:r>
            <a:r>
              <a:rPr lang="en-US" altLang="zh-CN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的特征、纤维与基体间</a:t>
            </a:r>
            <a:r>
              <a:rPr kumimoji="1" lang="zh-CN" altLang="en-US" sz="32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结合强度、纤维</a:t>
            </a:r>
            <a:r>
              <a:rPr kumimoji="1" lang="zh-CN" altLang="en-US" sz="320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  <a:sym typeface="+mn-ea"/>
              </a:rPr>
              <a:t>的</a:t>
            </a:r>
            <a:r>
              <a:rPr lang="zh-CN" altLang="en-US" sz="3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体积分数、尺寸和分布。</a:t>
            </a:r>
            <a:endParaRPr lang="en-US" altLang="zh-CN" sz="32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728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bldLvl="0" animBg="1"/>
      <p:bldP spid="1126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285750" y="857250"/>
            <a:ext cx="8305800" cy="25146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1. </a:t>
            </a:r>
            <a:r>
              <a:rPr lang="zh-CN" altLang="en-US" sz="2800" b="1" dirty="0">
                <a:solidFill>
                  <a:schemeClr val="tx2"/>
                </a:solidFill>
                <a:ea typeface="华文中宋" panose="02010600040101010101" pitchFamily="2" charset="-122"/>
              </a:rPr>
              <a:t>弹性模量及强度</a:t>
            </a:r>
            <a:endParaRPr lang="zh-CN" altLang="en-US" sz="2800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外力方向与纤维轴向相同时，</a:t>
            </a:r>
            <a:r>
              <a:rPr lang="zh-CN" altLang="en-US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c</a:t>
            </a:r>
            <a:r>
              <a:rPr lang="en-US" altLang="zh-CN" sz="2800" b="1" dirty="0">
                <a:ea typeface="华文中宋" panose="02010600040101010101" pitchFamily="2" charset="-122"/>
              </a:rPr>
              <a:t>= 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f </a:t>
            </a:r>
            <a:r>
              <a:rPr lang="en-US" altLang="zh-CN" sz="2800" b="1" dirty="0">
                <a:ea typeface="华文中宋" panose="02010600040101010101" pitchFamily="2" charset="-122"/>
              </a:rPr>
              <a:t>= </a:t>
            </a:r>
            <a:r>
              <a:rPr lang="en-US" altLang="zh-CN" sz="2800" b="1" dirty="0">
                <a:ea typeface="华文中宋" panose="0201060004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sz="2800" b="1" baseline="-30000" dirty="0">
                <a:ea typeface="华文中宋" panose="02010600040101010101" pitchFamily="2" charset="-122"/>
              </a:rPr>
              <a:t>m </a:t>
            </a:r>
            <a:r>
              <a:rPr lang="en-US" altLang="zh-CN" sz="2800" b="1" dirty="0">
                <a:ea typeface="华文中宋" panose="02010600040101010101" pitchFamily="2" charset="-122"/>
              </a:rPr>
              <a:t>(f—</a:t>
            </a:r>
            <a:r>
              <a:rPr lang="zh-CN" altLang="en-US" sz="2800" b="1" dirty="0">
                <a:ea typeface="华文中宋" panose="02010600040101010101" pitchFamily="2" charset="-122"/>
              </a:rPr>
              <a:t>纤维、 </a:t>
            </a:r>
            <a:r>
              <a:rPr lang="en-US" altLang="zh-CN" sz="2800" b="1" dirty="0">
                <a:ea typeface="华文中宋" panose="02010600040101010101" pitchFamily="2" charset="-122"/>
              </a:rPr>
              <a:t>m—</a:t>
            </a:r>
            <a:r>
              <a:rPr lang="zh-CN" altLang="en-US" sz="2800" b="1" dirty="0">
                <a:ea typeface="华文中宋" panose="02010600040101010101" pitchFamily="2" charset="-122"/>
              </a:rPr>
              <a:t>基体、</a:t>
            </a:r>
            <a:r>
              <a:rPr lang="en-US" altLang="zh-CN" sz="2800" b="1" dirty="0">
                <a:ea typeface="华文中宋" panose="02010600040101010101" pitchFamily="2" charset="-122"/>
              </a:rPr>
              <a:t>c—</a:t>
            </a:r>
            <a:r>
              <a:rPr lang="zh-CN" altLang="en-US" sz="2800" b="1" dirty="0">
                <a:ea typeface="华文中宋" panose="02010600040101010101" pitchFamily="2" charset="-122"/>
              </a:rPr>
              <a:t>复合材料</a:t>
            </a:r>
            <a:r>
              <a:rPr lang="en-US" altLang="zh-CN" sz="2800" b="1" dirty="0"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ea typeface="华文中宋" panose="02010600040101010101" pitchFamily="2" charset="-122"/>
              </a:rPr>
              <a:t>，则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pic>
        <p:nvPicPr>
          <p:cNvPr id="12298" name="Picture 10" descr="复合材料应力-应变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797675" y="2214563"/>
            <a:ext cx="2346325" cy="3789362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303" name="Object 15"/>
              <p:cNvSpPr txBox="1"/>
              <p:nvPr/>
            </p:nvSpPr>
            <p:spPr>
              <a:xfrm>
                <a:off x="642938" y="2714625"/>
                <a:ext cx="5380037" cy="528638"/>
              </a:xfrm>
              <a:prstGeom prst="rect">
                <a:avLst/>
              </a:prstGeom>
              <a:solidFill>
                <a:schemeClr val="accent5"/>
              </a:solidFill>
              <a:ln w="38100">
                <a:noFill/>
                <a:miter/>
              </a:ln>
            </p:spPr>
            <p:txBody>
              <a:bodyPr>
                <a:normAutofit fontScale="9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30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38" y="2714625"/>
                <a:ext cx="5380037" cy="528638"/>
              </a:xfrm>
              <a:prstGeom prst="rect">
                <a:avLst/>
              </a:prstGeom>
              <a:blipFill rotWithShape="1">
                <a:blip r:embed="rId2"/>
                <a:stretch>
                  <a:fillRect l="-6" b="6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04" name="Object 16"/>
              <p:cNvSpPr txBox="1"/>
              <p:nvPr/>
            </p:nvSpPr>
            <p:spPr>
              <a:xfrm>
                <a:off x="714375" y="4000500"/>
                <a:ext cx="4425950" cy="528638"/>
              </a:xfrm>
              <a:prstGeom prst="rect">
                <a:avLst/>
              </a:prstGeom>
              <a:solidFill>
                <a:schemeClr val="accent4"/>
              </a:solidFill>
              <a:ln w="38100">
                <a:noFill/>
                <a:miter/>
              </a:ln>
            </p:spPr>
            <p:txBody>
              <a:bodyPr>
                <a:normAutofit fontScale="9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30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5" y="4000500"/>
                <a:ext cx="4425950" cy="528638"/>
              </a:xfrm>
              <a:prstGeom prst="rect">
                <a:avLst/>
              </a:prstGeom>
              <a:blipFill rotWithShape="1">
                <a:blip r:embed="rId3"/>
                <a:stretch>
                  <a:fillRect b="60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6" name="Text Box 18"/>
          <p:cNvSpPr txBox="1"/>
          <p:nvPr/>
        </p:nvSpPr>
        <p:spPr>
          <a:xfrm>
            <a:off x="500063" y="3286125"/>
            <a:ext cx="5791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l" eaLnBrk="1" hangingPunct="1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当外力</a:t>
            </a:r>
            <a:r>
              <a:rPr kumimoji="1" lang="zh-CN" altLang="en-US" sz="2800" dirty="0">
                <a:solidFill>
                  <a:schemeClr val="tx2"/>
                </a:solidFill>
                <a:latin typeface="+mn-lt"/>
                <a:ea typeface="华文中宋" panose="02010600040101010101" pitchFamily="2" charset="-122"/>
                <a:cs typeface="+mn-cs"/>
              </a:rPr>
              <a:t>垂直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于纤维轴向时，则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25"/>
          <p:cNvGrpSpPr/>
          <p:nvPr/>
        </p:nvGrpSpPr>
        <p:grpSpPr>
          <a:xfrm>
            <a:off x="571120" y="4571264"/>
            <a:ext cx="5031125" cy="973137"/>
            <a:chOff x="288" y="2751"/>
            <a:chExt cx="2918" cy="61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9" name="Object 12"/>
                <p:cNvSpPr txBox="1"/>
                <p:nvPr/>
              </p:nvSpPr>
              <p:spPr>
                <a:xfrm>
                  <a:off x="2311" y="2751"/>
                  <a:ext cx="895" cy="613"/>
                </a:xfrm>
                <a:prstGeom prst="rect">
                  <a:avLst/>
                </a:prstGeom>
                <a:solidFill>
                  <a:schemeClr val="accent5">
                    <a:lumMod val="90000"/>
                  </a:schemeClr>
                </a:solidFill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𝑓𝑦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𝑚𝑦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29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1" y="2751"/>
                  <a:ext cx="895" cy="613"/>
                </a:xfrm>
                <a:prstGeom prst="rect">
                  <a:avLst/>
                </a:prstGeom>
                <a:blipFill rotWithShape="1">
                  <a:blip r:embed="rId4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0" name="Text Box 19"/>
            <p:cNvSpPr txBox="1"/>
            <p:nvPr/>
          </p:nvSpPr>
          <p:spPr>
            <a:xfrm>
              <a:off x="288" y="2828"/>
              <a:ext cx="26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2. </a:t>
              </a: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纤维的临界长径比</a:t>
              </a:r>
              <a:endPara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3" name="Group 24"/>
          <p:cNvGrpSpPr/>
          <p:nvPr/>
        </p:nvGrpSpPr>
        <p:grpSpPr>
          <a:xfrm>
            <a:off x="539552" y="5589240"/>
            <a:ext cx="5410200" cy="973138"/>
            <a:chOff x="288" y="3348"/>
            <a:chExt cx="3408" cy="61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8" name="Object 13"/>
                <p:cNvSpPr txBox="1"/>
                <p:nvPr/>
              </p:nvSpPr>
              <p:spPr>
                <a:xfrm>
                  <a:off x="2404" y="3348"/>
                  <a:ext cx="1292" cy="61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𝑓𝑐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𝑚𝑢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𝑓𝑢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  <m:sup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028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4" y="3348"/>
                  <a:ext cx="1292" cy="613"/>
                </a:xfrm>
                <a:prstGeom prst="rect">
                  <a:avLst/>
                </a:prstGeom>
                <a:blipFill rotWithShape="1">
                  <a:blip r:embed="rId5"/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39" name="Text Box 20"/>
            <p:cNvSpPr txBox="1"/>
            <p:nvPr/>
          </p:nvSpPr>
          <p:spPr>
            <a:xfrm>
              <a:off x="288" y="3477"/>
              <a:ext cx="26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l" eaLnBrk="1" hangingPunct="1"/>
              <a:r>
                <a:rPr lang="en-US" altLang="zh-CN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3. </a:t>
              </a:r>
              <a:r>
                <a:rPr lang="zh-CN" altLang="en-US" sz="2800" dirty="0">
                  <a:solidFill>
                    <a:schemeClr val="tx2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纤维最小体积分数</a:t>
              </a:r>
              <a:endPara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0"/>
            <a:ext cx="777240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四、纤维增强复合材料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20" name="内容占位符 1" descr="新校徽（3M）弓之乐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dvAuto="1000" build="p"/>
      <p:bldP spid="1230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285750" y="857250"/>
            <a:ext cx="8601075" cy="4724400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ea typeface="华文中宋" panose="02010600040101010101" pitchFamily="2" charset="-122"/>
              </a:rPr>
              <a:t>纤维增强复合材料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强度和刚性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纤维方向密切相关：</a:t>
            </a:r>
            <a:r>
              <a:rPr lang="zh-CN" altLang="en-US" b="1" dirty="0">
                <a:solidFill>
                  <a:schemeClr val="folHlink"/>
                </a:solidFill>
                <a:latin typeface="Calibri" panose="020F0502020204030204" charset="0"/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纤维无规排列</a:t>
            </a:r>
            <a:r>
              <a:rPr lang="zh-CN" altLang="en-US" b="1" dirty="0">
                <a:ea typeface="华文中宋" panose="02010600040101010101" pitchFamily="2" charset="-122"/>
              </a:rPr>
              <a:t>时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能获得基本各向同性的复合材料；</a:t>
            </a:r>
            <a:r>
              <a:rPr lang="zh-CN" altLang="en-US" b="1" dirty="0">
                <a:solidFill>
                  <a:schemeClr val="folHlink"/>
                </a:solidFill>
                <a:latin typeface="Calibri" panose="020F0502020204030204" charset="0"/>
                <a:ea typeface="华文中宋" panose="02010600040101010101" pitchFamily="2" charset="-122"/>
              </a:rPr>
              <a:t>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均一方向</a:t>
            </a:r>
            <a:r>
              <a:rPr lang="zh-CN" altLang="en-US" b="1" dirty="0">
                <a:ea typeface="华文中宋" panose="02010600040101010101" pitchFamily="2" charset="-122"/>
              </a:rPr>
              <a:t>的纤维使材料具有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明显的各向异性；</a:t>
            </a:r>
            <a:r>
              <a:rPr lang="zh-CN" altLang="en-US" b="1" dirty="0">
                <a:solidFill>
                  <a:schemeClr val="folHlink"/>
                </a:solidFill>
                <a:latin typeface="Calibri" panose="020F0502020204030204" charset="0"/>
                <a:ea typeface="华文中宋" panose="02010600040101010101" pitchFamily="2" charset="-122"/>
              </a:rPr>
              <a:t>③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纤维</a:t>
            </a:r>
            <a:r>
              <a:rPr lang="zh-CN" altLang="en-US" b="1" dirty="0">
                <a:ea typeface="华文中宋" panose="02010600040101010101" pitchFamily="2" charset="-122"/>
              </a:rPr>
              <a:t>采用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正交编织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，相互垂直的方向均具有好的性能；</a:t>
            </a:r>
            <a:r>
              <a:rPr lang="zh-CN" altLang="en-US" b="1" dirty="0">
                <a:solidFill>
                  <a:schemeClr val="folHlink"/>
                </a:solidFill>
                <a:latin typeface="等线" panose="02010600030101010101" charset="-122"/>
                <a:ea typeface="等线" panose="02010600030101010101" charset="-122"/>
              </a:rPr>
              <a:t>④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纤维</a:t>
            </a:r>
            <a:r>
              <a:rPr lang="zh-CN" altLang="en-US" b="1" dirty="0">
                <a:ea typeface="华文中宋" panose="02010600040101010101" pitchFamily="2" charset="-122"/>
              </a:rPr>
              <a:t>采用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三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维编织</a:t>
            </a:r>
            <a:r>
              <a:rPr lang="zh-CN" altLang="en-US" b="1" dirty="0">
                <a:ea typeface="华文中宋" panose="02010600040101010101" pitchFamily="2" charset="-122"/>
              </a:rPr>
              <a:t>，可获得各方向力学性能均优的材料。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endParaRPr lang="zh-CN" altLang="en-US" sz="2800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2181225" y="4956810"/>
            <a:ext cx="6450330" cy="1877233"/>
            <a:chOff x="384" y="2688"/>
            <a:chExt cx="5180" cy="1507"/>
          </a:xfrm>
        </p:grpSpPr>
        <p:pic>
          <p:nvPicPr>
            <p:cNvPr id="23560" name="Picture 4" descr="image00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" y="2688"/>
              <a:ext cx="5180" cy="113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3561" name="Text Box 5"/>
            <p:cNvSpPr txBox="1">
              <a:spLocks noChangeAspect="1"/>
            </p:cNvSpPr>
            <p:nvPr/>
          </p:nvSpPr>
          <p:spPr>
            <a:xfrm>
              <a:off x="1738" y="3875"/>
              <a:ext cx="2887" cy="3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en-US" altLang="zh-CN" sz="2000" dirty="0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sz="2000" dirty="0">
                  <a:latin typeface="宋体" panose="02010600030101010101" pitchFamily="2" charset="-122"/>
                  <a:ea typeface="宋体" panose="02010600030101010101" pitchFamily="2" charset="-122"/>
                </a:rPr>
                <a:t>纤维在基体中的不同分布方式</a:t>
              </a:r>
              <a:endPara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0"/>
            <a:ext cx="777240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四、纤维增强复合材料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1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3155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dvAuto="1000" build="p"/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0"/>
            <a:ext cx="777240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（二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纤维的种类和性能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9124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211668" y="1115857"/>
            <a:ext cx="6150415" cy="4123525"/>
            <a:chOff x="579842" y="1015908"/>
            <a:chExt cx="6150415" cy="4123525"/>
          </a:xfrm>
        </p:grpSpPr>
        <p:grpSp>
          <p:nvGrpSpPr>
            <p:cNvPr id="6" name="组合 5"/>
            <p:cNvGrpSpPr/>
            <p:nvPr/>
          </p:nvGrpSpPr>
          <p:grpSpPr>
            <a:xfrm>
              <a:off x="579842" y="1015908"/>
              <a:ext cx="6113220" cy="3896419"/>
              <a:chOff x="553305" y="1212496"/>
              <a:chExt cx="6113220" cy="3896419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553305" y="1212496"/>
                <a:ext cx="6052143" cy="3896419"/>
                <a:chOff x="449647" y="4257501"/>
                <a:chExt cx="6052143" cy="2001847"/>
              </a:xfrm>
            </p:grpSpPr>
            <p:grpSp>
              <p:nvGrpSpPr>
                <p:cNvPr id="21" name="组合 20"/>
                <p:cNvGrpSpPr/>
                <p:nvPr/>
              </p:nvGrpSpPr>
              <p:grpSpPr>
                <a:xfrm>
                  <a:off x="449647" y="4410863"/>
                  <a:ext cx="6052143" cy="1848485"/>
                  <a:chOff x="2803" y="5486"/>
                  <a:chExt cx="9646" cy="2911"/>
                </a:xfrm>
              </p:grpSpPr>
              <p:sp>
                <p:nvSpPr>
                  <p:cNvPr id="25" name="左大括号 39"/>
                  <p:cNvSpPr/>
                  <p:nvPr/>
                </p:nvSpPr>
                <p:spPr>
                  <a:xfrm>
                    <a:off x="3700" y="5486"/>
                    <a:ext cx="433" cy="2911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26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03" y="5773"/>
                    <a:ext cx="800" cy="2450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ctr">
                      <a:buClrTx/>
                      <a:buSzTx/>
                      <a:buFontTx/>
                    </a:pPr>
                    <a:r>
                      <a:rPr kumimoji="1" lang="zh-CN" altLang="en-US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uLnTx/>
                        <a:uFillTx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+mj-cs"/>
                      </a:rPr>
                      <a:t>纤维的种类和性能</a:t>
                    </a:r>
                    <a:endParaRPr lang="zh-CN" altLang="en-US" kern="100" dirty="0">
                      <a:solidFill>
                        <a:srgbClr val="FF0000"/>
                      </a:solidFill>
                      <a:effectLst>
                        <a:outerShdw blurRad="38100" dist="25400" dir="5400000" algn="ctr">
                          <a:srgbClr val="6E747A">
                            <a:alpha val="43000"/>
                          </a:srgbClr>
                        </a:outerShdw>
                      </a:effectLst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+mn-ea"/>
                    </a:endParaRPr>
                  </a:p>
                </p:txBody>
              </p:sp>
              <p:sp>
                <p:nvSpPr>
                  <p:cNvPr id="28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25" y="6078"/>
                    <a:ext cx="8224" cy="391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eaLnBrk="1" hangingPunct="1">
                      <a:lnSpc>
                        <a:spcPct val="115000"/>
                      </a:lnSpc>
                    </a:pPr>
                    <a:r>
                      <a:rPr lang="zh-CN" altLang="en-US" b="1" dirty="0">
                        <a:solidFill>
                          <a:schemeClr val="bg1"/>
                        </a:solidFill>
                        <a:ea typeface="华文中宋" panose="02010600040101010101" pitchFamily="2" charset="-122"/>
                      </a:rPr>
                      <a:t>硼纤维：</a:t>
                    </a:r>
                    <a:r>
                      <a:rPr lang="zh-CN" altLang="en-US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耐高温、强度、弹性模高。</a:t>
                    </a:r>
                    <a:endPara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endParaRPr>
                  </a:p>
                </p:txBody>
              </p:sp>
            </p:grpSp>
            <p:sp>
              <p:nvSpPr>
                <p:cNvPr id="22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346267" y="4537742"/>
                  <a:ext cx="3999865" cy="236525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碳纤维</a:t>
                  </a:r>
                  <a:r>
                    <a:rPr lang="zh-CN" altLang="en-US" b="1" dirty="0">
                      <a:ea typeface="华文中宋" panose="02010600040101010101" pitchFamily="2" charset="-122"/>
                    </a:rPr>
                    <a:t>：</a:t>
                  </a:r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化学性能与碳相似</a:t>
                  </a:r>
                  <a:endParaRPr lang="zh-CN" altLang="en-US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24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332345" y="4257501"/>
                  <a:ext cx="5125566" cy="248553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eaLnBrk="1" hangingPunct="1">
                    <a:lnSpc>
                      <a:spcPct val="115000"/>
                    </a:lnSpc>
                  </a:pPr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玻璃纤维：</a:t>
                  </a:r>
                  <a:r>
                    <a: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rPr>
                    <a:t>用量最大、价格最便宜。</a:t>
                  </a:r>
                  <a:endPara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endParaRPr>
                </a:p>
              </p:txBody>
            </p:sp>
          </p:grpSp>
          <p:sp>
            <p:nvSpPr>
              <p:cNvPr id="18" name="文本框 2"/>
              <p:cNvSpPr txBox="1">
                <a:spLocks noChangeArrowheads="1"/>
              </p:cNvSpPr>
              <p:nvPr/>
            </p:nvSpPr>
            <p:spPr bwMode="auto">
              <a:xfrm>
                <a:off x="1432329" y="2758434"/>
                <a:ext cx="5173187" cy="46166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金属纤维：</a:t>
                </a:r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成丝容易、弹性模量高。</a:t>
                </a:r>
                <a:endParaRPr lang="zh-CN" altLang="en-US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9" name="文本框 2"/>
              <p:cNvSpPr txBox="1">
                <a:spLocks noChangeArrowheads="1"/>
              </p:cNvSpPr>
              <p:nvPr/>
            </p:nvSpPr>
            <p:spPr bwMode="auto">
              <a:xfrm>
                <a:off x="1409941" y="3309602"/>
                <a:ext cx="5256584" cy="525337"/>
              </a:xfrm>
              <a:prstGeom prst="rect">
                <a:avLst/>
              </a:prstGeom>
              <a:solidFill>
                <a:srgbClr val="92D05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eaLnBrk="1" hangingPunct="1">
                  <a:lnSpc>
                    <a:spcPct val="13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ea typeface="华文中宋" panose="02010600040101010101" pitchFamily="2" charset="-122"/>
                    <a:sym typeface="+mn-ea"/>
                  </a:rPr>
                  <a:t>陶瓷纤维：</a:t>
                </a:r>
                <a:r>
                  <a:rPr lang="zh-CN" altLang="en-US" b="1" dirty="0">
                    <a:ea typeface="华文中宋" panose="02010600040101010101" pitchFamily="2" charset="-122"/>
                    <a:sym typeface="+mn-ea"/>
                  </a:rPr>
                  <a:t>用于高温、高强复合材料。</a:t>
                </a:r>
                <a:endParaRPr lang="en-US" altLang="zh-CN" b="1" dirty="0">
                  <a:solidFill>
                    <a:schemeClr val="folHlink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20" name="文本框 2"/>
              <p:cNvSpPr txBox="1">
                <a:spLocks noChangeArrowheads="1"/>
              </p:cNvSpPr>
              <p:nvPr/>
            </p:nvSpPr>
            <p:spPr bwMode="auto">
              <a:xfrm>
                <a:off x="1402054" y="3924088"/>
                <a:ext cx="5256584" cy="83099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芳香族聚酰胺纤维</a:t>
                </a:r>
                <a:r>
                  <a:rPr lang="en-US" altLang="zh-CN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: </a:t>
                </a:r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强度、弹性模量高，耐热</a:t>
                </a:r>
                <a:r>
                  <a:rPr lang="zh-CN" altLang="en-US" b="1" dirty="0">
                    <a:ea typeface="华文中宋" panose="02010600040101010101" pitchFamily="2" charset="-122"/>
                  </a:rPr>
                  <a:t>。</a:t>
                </a:r>
                <a:endParaRPr lang="zh-CN" altLang="en-US" kern="100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11" name="文本框 2"/>
            <p:cNvSpPr txBox="1">
              <a:spLocks noChangeArrowheads="1"/>
            </p:cNvSpPr>
            <p:nvPr/>
          </p:nvSpPr>
          <p:spPr bwMode="auto">
            <a:xfrm>
              <a:off x="1428591" y="4614096"/>
              <a:ext cx="5301666" cy="52533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聚乙烯纤维</a:t>
              </a:r>
              <a:r>
                <a:rPr lang="en-US" altLang="zh-CN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: </a:t>
              </a:r>
              <a:r>
                <a:rPr lang="zh-CN" altLang="en-US" b="1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韧性极好，密度非常小 。 </a:t>
              </a:r>
              <a:endPara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579468" y="973482"/>
            <a:ext cx="2472897" cy="5613325"/>
            <a:chOff x="6562535" y="1070209"/>
            <a:chExt cx="2472897" cy="5613325"/>
          </a:xfrm>
        </p:grpSpPr>
        <p:grpSp>
          <p:nvGrpSpPr>
            <p:cNvPr id="2" name="Group 13"/>
            <p:cNvGrpSpPr>
              <a:grpSpLocks noChangeAspect="1"/>
            </p:cNvGrpSpPr>
            <p:nvPr/>
          </p:nvGrpSpPr>
          <p:grpSpPr>
            <a:xfrm>
              <a:off x="6562535" y="1070209"/>
              <a:ext cx="2472897" cy="4195819"/>
              <a:chOff x="3253" y="220"/>
              <a:chExt cx="2312" cy="3716"/>
            </a:xfrm>
          </p:grpSpPr>
          <p:pic>
            <p:nvPicPr>
              <p:cNvPr id="24584" name="Picture 7" descr="碳纤维10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253" y="1421"/>
                <a:ext cx="2267" cy="130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24585" name="Picture 8" descr="玻璃纤维10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264" y="240"/>
                <a:ext cx="2267" cy="117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24586" name="Picture 9" descr="SiC纤维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264" y="2880"/>
                <a:ext cx="2267" cy="105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4587" name="Text Box 10"/>
              <p:cNvSpPr txBox="1">
                <a:spLocks noChangeAspect="1"/>
              </p:cNvSpPr>
              <p:nvPr/>
            </p:nvSpPr>
            <p:spPr>
              <a:xfrm>
                <a:off x="4277" y="220"/>
                <a:ext cx="1288" cy="35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r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玻璃纤维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88" name="Text Box 11"/>
              <p:cNvSpPr txBox="1">
                <a:spLocks noChangeAspect="1"/>
              </p:cNvSpPr>
              <p:nvPr/>
            </p:nvSpPr>
            <p:spPr>
              <a:xfrm>
                <a:off x="3285" y="1449"/>
                <a:ext cx="899" cy="30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l" eaLnBrk="1" hangingPunct="1"/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碳纤维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89" name="Text Box 12"/>
              <p:cNvSpPr txBox="1">
                <a:spLocks noChangeAspect="1"/>
              </p:cNvSpPr>
              <p:nvPr/>
            </p:nvSpPr>
            <p:spPr>
              <a:xfrm>
                <a:off x="4274" y="2880"/>
                <a:ext cx="1246" cy="35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r" eaLnBrk="1" hangingPunct="1"/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SiC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纤维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31" name="Picture 12" descr="芳纶纤维"/>
            <p:cNvPicPr>
              <a:picLocks noChangeAspect="1"/>
            </p:cNvPicPr>
            <p:nvPr/>
          </p:nvPicPr>
          <p:blipFill rotWithShape="1">
            <a:blip r:embed="rId5" cstate="print"/>
            <a:srcRect l="6547"/>
            <a:stretch>
              <a:fillRect/>
            </a:stretch>
          </p:blipFill>
          <p:spPr>
            <a:xfrm>
              <a:off x="6574300" y="5336109"/>
              <a:ext cx="2341099" cy="134742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6" name="Text Box 11"/>
            <p:cNvSpPr txBox="1">
              <a:spLocks noChangeAspect="1"/>
            </p:cNvSpPr>
            <p:nvPr/>
          </p:nvSpPr>
          <p:spPr>
            <a:xfrm>
              <a:off x="8631968" y="5345603"/>
              <a:ext cx="325910" cy="1200329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l" eaLnBrk="1" hangingPunct="1"/>
              <a:r>
                <a:rPr lang="zh-CN" alt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芳纶纤维</a:t>
              </a:r>
              <a:endPara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142875" y="1020445"/>
            <a:ext cx="6072505" cy="548068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晶须：</a:t>
            </a:r>
            <a:r>
              <a:rPr lang="zh-CN" altLang="en-US" b="1" dirty="0">
                <a:ea typeface="华文中宋" panose="02010600040101010101" pitchFamily="2" charset="-122"/>
              </a:rPr>
              <a:t>直径小于</a:t>
            </a:r>
            <a:r>
              <a:rPr lang="en-US" altLang="zh-CN" b="1" dirty="0">
                <a:ea typeface="华文中宋" panose="02010600040101010101" pitchFamily="2" charset="-122"/>
              </a:rPr>
              <a:t>30</a:t>
            </a:r>
            <a:r>
              <a:rPr lang="en-US" altLang="zh-CN" b="1" dirty="0">
                <a:ea typeface="华文中宋" panose="0201060004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b="1" dirty="0">
                <a:ea typeface="华文中宋" panose="02010600040101010101" pitchFamily="2" charset="-122"/>
              </a:rPr>
              <a:t>m</a:t>
            </a:r>
            <a:r>
              <a:rPr lang="zh-CN" altLang="en-US" b="1" dirty="0">
                <a:ea typeface="华文中宋" panose="02010600040101010101" pitchFamily="2" charset="-122"/>
              </a:rPr>
              <a:t>、长度只有几毫米的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针状单晶体</a:t>
            </a:r>
            <a:r>
              <a:rPr lang="zh-CN" altLang="en-US" b="1" dirty="0">
                <a:ea typeface="华文中宋" panose="02010600040101010101" pitchFamily="2" charset="-122"/>
              </a:rPr>
              <a:t>，断面呈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多角形</a:t>
            </a:r>
            <a:r>
              <a:rPr lang="en-US" altLang="zh-CN" b="1" dirty="0"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ea typeface="华文中宋" panose="02010600040101010101" pitchFamily="2" charset="-122"/>
              </a:rPr>
              <a:t>是一种高强度材料。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5609" name="Group 15"/>
          <p:cNvGrpSpPr/>
          <p:nvPr/>
        </p:nvGrpSpPr>
        <p:grpSpPr>
          <a:xfrm>
            <a:off x="6286817" y="2060848"/>
            <a:ext cx="2698750" cy="2959100"/>
            <a:chOff x="3840" y="1968"/>
            <a:chExt cx="1700" cy="1864"/>
          </a:xfrm>
        </p:grpSpPr>
        <p:pic>
          <p:nvPicPr>
            <p:cNvPr id="25610" name="Picture 11" descr="SiN陶瓷中的SiC晶须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40" y="1968"/>
              <a:ext cx="1700" cy="1864"/>
            </a:xfrm>
            <a:prstGeom prst="rect">
              <a:avLst/>
            </a:prstGeom>
            <a:noFill/>
            <a:ln w="2857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5611" name="Rectangle 13"/>
            <p:cNvSpPr/>
            <p:nvPr/>
          </p:nvSpPr>
          <p:spPr>
            <a:xfrm>
              <a:off x="3848" y="3632"/>
              <a:ext cx="624" cy="192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eaLnBrk="1" hangingPunct="1"/>
              <a:r>
                <a:rPr lang="en-US" altLang="zh-CN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SiC</a:t>
              </a:r>
              <a:r>
                <a: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晶须</a:t>
              </a:r>
              <a:endParaRPr lang="zh-CN" altLang="en-US" sz="18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0"/>
            <a:ext cx="6669360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（二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纤维的种类和性能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71255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724110" y="3579965"/>
            <a:ext cx="4629372" cy="1993583"/>
            <a:chOff x="176218" y="2848251"/>
            <a:chExt cx="4629372" cy="1993583"/>
          </a:xfrm>
        </p:grpSpPr>
        <p:grpSp>
          <p:nvGrpSpPr>
            <p:cNvPr id="6" name="组合 5"/>
            <p:cNvGrpSpPr/>
            <p:nvPr/>
          </p:nvGrpSpPr>
          <p:grpSpPr>
            <a:xfrm>
              <a:off x="176218" y="2848251"/>
              <a:ext cx="4629372" cy="1648856"/>
              <a:chOff x="72560" y="5097897"/>
              <a:chExt cx="4629372" cy="847126"/>
            </a:xfrm>
          </p:grpSpPr>
          <p:grpSp>
            <p:nvGrpSpPr>
              <p:cNvPr id="10" name="组合 9"/>
              <p:cNvGrpSpPr/>
              <p:nvPr/>
            </p:nvGrpSpPr>
            <p:grpSpPr>
              <a:xfrm>
                <a:off x="72560" y="5390033"/>
                <a:ext cx="1143793" cy="554990"/>
                <a:chOff x="2202" y="7028"/>
                <a:chExt cx="1823" cy="874"/>
              </a:xfrm>
            </p:grpSpPr>
            <p:sp>
              <p:nvSpPr>
                <p:cNvPr id="17" name="左大括号 39"/>
                <p:cNvSpPr/>
                <p:nvPr/>
              </p:nvSpPr>
              <p:spPr>
                <a:xfrm>
                  <a:off x="3700" y="7028"/>
                  <a:ext cx="325" cy="874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18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2202" y="7236"/>
                  <a:ext cx="1367" cy="46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buClrTx/>
                    <a:buSzTx/>
                    <a:buFontTx/>
                  </a:pPr>
                  <a:r>
                    <a:rPr kumimoji="1" lang="zh-CN" altLang="en-US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uLnTx/>
                      <a:uFillTx/>
                      <a:latin typeface="华文中宋" panose="02010600040101010101" pitchFamily="2" charset="-122"/>
                      <a:ea typeface="华文中宋" panose="02010600040101010101" pitchFamily="2" charset="-122"/>
                      <a:cs typeface="+mj-cs"/>
                    </a:rPr>
                    <a:t>晶须</a:t>
                  </a:r>
                  <a:endParaRPr lang="zh-CN" altLang="en-US" kern="100" dirty="0">
                    <a:solidFill>
                      <a:srgbClr val="FF0000"/>
                    </a:solidFill>
                    <a:effectLst>
                      <a:outerShdw blurRad="38100" dist="25400" dir="5400000" algn="ctr">
                        <a:srgbClr val="6E747A">
                          <a:alpha val="43000"/>
                        </a:srgbClr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+mn-ea"/>
                  </a:endParaRPr>
                </a:p>
              </p:txBody>
            </p:sp>
          </p:grpSp>
          <p:sp>
            <p:nvSpPr>
              <p:cNvPr id="16" name="文本框 2"/>
              <p:cNvSpPr txBox="1">
                <a:spLocks noChangeArrowheads="1"/>
              </p:cNvSpPr>
              <p:nvPr/>
            </p:nvSpPr>
            <p:spPr bwMode="auto">
              <a:xfrm>
                <a:off x="1287790" y="5097897"/>
                <a:ext cx="3414142" cy="51657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eaLnBrk="1" hangingPunct="1">
                  <a:lnSpc>
                    <a:spcPct val="130000"/>
                  </a:lnSpc>
                </a:pPr>
                <a:r>
                  <a:rPr lang="zh-CN" altLang="en-US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金属晶须：</a:t>
                </a:r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金属晶须中</a:t>
                </a:r>
                <a:r>
                  <a:rPr lang="en-US" altLang="zh-CN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, Fe</a:t>
                </a:r>
                <a:r>
                  <a:rPr lang="zh-CN" altLang="en-US" b="1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晶须已投入生产</a:t>
                </a:r>
                <a:endParaRPr lang="zh-CN" altLang="en-US" b="1" dirty="0">
                  <a:solidFill>
                    <a:srgbClr val="FF0000"/>
                  </a:solidFill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9" name="文本框 2"/>
            <p:cNvSpPr txBox="1">
              <a:spLocks noChangeArrowheads="1"/>
            </p:cNvSpPr>
            <p:nvPr/>
          </p:nvSpPr>
          <p:spPr bwMode="auto">
            <a:xfrm>
              <a:off x="1391448" y="4010837"/>
              <a:ext cx="3414142" cy="83099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r>
                <a:rPr lang="zh-CN" altLang="en-US" b="1" dirty="0">
                  <a:solidFill>
                    <a:srgbClr val="FF0000"/>
                  </a:solidFill>
                  <a:ea typeface="华文中宋" panose="02010600040101010101" pitchFamily="2" charset="-122"/>
                </a:rPr>
                <a:t>陶瓷晶须：</a:t>
              </a:r>
              <a:r>
                <a:rPr lang="zh-CN" altLang="en-US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工业生产的陶瓷晶须主要</a:t>
              </a:r>
              <a:r>
                <a:rPr lang="zh-CN" altLang="en-US" b="1" dirty="0">
                  <a:solidFill>
                    <a:schemeClr val="bg2"/>
                  </a:solidFill>
                  <a:ea typeface="华文中宋" panose="02010600040101010101" pitchFamily="2" charset="-122"/>
                </a:rPr>
                <a:t>是</a:t>
              </a:r>
              <a:r>
                <a:rPr lang="en-US" altLang="zh-CN" b="1" dirty="0" err="1">
                  <a:solidFill>
                    <a:schemeClr val="bg1"/>
                  </a:solidFill>
                  <a:ea typeface="华文中宋" panose="02010600040101010101" pitchFamily="2" charset="-122"/>
                </a:rPr>
                <a:t>SiC</a:t>
              </a:r>
              <a:r>
                <a:rPr lang="zh-CN" altLang="en-US" b="1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晶须</a:t>
              </a:r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dvAuto="1000" build="p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8" name="Picture 4" descr="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26565" y="1070610"/>
            <a:ext cx="7028815" cy="55860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143000" y="0"/>
            <a:ext cx="77724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（二</a:t>
            </a:r>
            <a:r>
              <a:rPr kumimoji="1" lang="zh-CN" altLang="en-US" sz="4400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华文中宋" panose="02010600040101010101" pitchFamily="2" charset="-122"/>
                <a:cs typeface="+mj-cs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纤维的种类和性能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0648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/>
          </p:cNvSpPr>
          <p:nvPr>
            <p:ph idx="1"/>
          </p:nvPr>
        </p:nvSpPr>
        <p:spPr>
          <a:xfrm>
            <a:off x="152400" y="928688"/>
            <a:ext cx="8915400" cy="5167312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通常用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碳纤维、玻璃纤维</a:t>
            </a:r>
            <a:r>
              <a:rPr lang="zh-CN" altLang="en-US" sz="2800" b="1" dirty="0">
                <a:ea typeface="华文中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芳纶纤维</a:t>
            </a:r>
            <a:r>
              <a:rPr lang="zh-CN" altLang="en-US" sz="2800" b="1" dirty="0">
                <a:ea typeface="华文中宋" panose="02010600040101010101" pitchFamily="2" charset="-122"/>
              </a:rPr>
              <a:t>增强高分子材料。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endParaRPr lang="en-US" altLang="zh-CN" sz="2800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ea typeface="华文中宋" panose="02010600040101010101" pitchFamily="2" charset="-122"/>
              </a:rPr>
              <a:t>这类复合材料的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性能</a:t>
            </a:r>
            <a:r>
              <a:rPr lang="zh-CN" altLang="en-US" sz="2800" b="1" dirty="0">
                <a:ea typeface="华文中宋" panose="02010600040101010101" pitchFamily="2" charset="-122"/>
              </a:rPr>
              <a:t>较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环氧树脂等</a:t>
            </a:r>
            <a:r>
              <a:rPr lang="zh-CN" altLang="en-US" sz="2800" b="1" dirty="0">
                <a:ea typeface="华文中宋" panose="02010600040101010101" pitchFamily="2" charset="-122"/>
              </a:rPr>
              <a:t>基体</a:t>
            </a:r>
            <a:r>
              <a:rPr lang="zh-CN" altLang="en-US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有大幅度的提高，比强度也高得多。</a:t>
            </a:r>
            <a:r>
              <a:rPr lang="zh-CN" altLang="en-US" sz="2800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endParaRPr lang="zh-CN" altLang="en-US" sz="2800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15470" name="Group 110"/>
          <p:cNvGraphicFramePr>
            <a:graphicFrameLocks noGrp="1"/>
          </p:cNvGraphicFramePr>
          <p:nvPr/>
        </p:nvGraphicFramePr>
        <p:xfrm>
          <a:off x="406400" y="3187700"/>
          <a:ext cx="8382000" cy="3200402"/>
        </p:xfrm>
        <a:graphic>
          <a:graphicData uri="http://schemas.openxmlformats.org/drawingml/2006/table">
            <a:tbl>
              <a:tblPr/>
              <a:tblGrid>
                <a:gridCol w="3741738"/>
                <a:gridCol w="2320925"/>
                <a:gridCol w="2319337"/>
              </a:tblGrid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材料种类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纵向抗拉强度 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MPa</a:t>
                      </a:r>
                      <a:endParaRPr kumimoji="1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纵向弹性模量 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GPa</a:t>
                      </a:r>
                      <a:endParaRPr kumimoji="1" lang="en-US" altLang="zh-CN" sz="2000" b="1" i="1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环氧树脂</a:t>
                      </a:r>
                      <a:r>
                        <a:rPr kumimoji="1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69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环氧树脂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 E</a:t>
                      </a: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级玻璃纤维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环氧树脂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 </a:t>
                      </a:r>
                      <a:r>
                        <a:rPr kumimoji="1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碳纤维（高弹性）</a:t>
                      </a:r>
                      <a:endParaRPr kumimoji="1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1240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环氧树脂 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 </a:t>
                      </a: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芳纶纤维（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49</a:t>
                      </a: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1380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环氧树脂 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 </a:t>
                      </a:r>
                      <a:r>
                        <a:rPr kumimoji="1" lang="zh-CN" alt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硼纤维</a:t>
                      </a: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70 % V</a:t>
                      </a:r>
                      <a:r>
                        <a:rPr kumimoji="1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zh-CN" alt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zh-CN" alt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1400-2100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210-280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0"/>
            <a:ext cx="8676457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（三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纤维增强聚合物基复合材料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9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82613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1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dvAuto="1000" build="p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1017588" y="115888"/>
            <a:ext cx="8126412" cy="812800"/>
          </a:xfrm>
        </p:spPr>
        <p:txBody>
          <a:bodyPr vert="horz" wrap="square" lIns="92075" tIns="46038" rIns="92075" bIns="46038" anchor="ctr"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纤维增强聚合物基复合材料零件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21"/>
          <p:cNvGrpSpPr>
            <a:grpSpLocks noChangeAspect="1"/>
          </p:cNvGrpSpPr>
          <p:nvPr/>
        </p:nvGrpSpPr>
        <p:grpSpPr>
          <a:xfrm>
            <a:off x="533400" y="1371600"/>
            <a:ext cx="8277225" cy="4851400"/>
            <a:chOff x="240" y="912"/>
            <a:chExt cx="5406" cy="3168"/>
          </a:xfrm>
        </p:grpSpPr>
        <p:pic>
          <p:nvPicPr>
            <p:cNvPr id="28679" name="Picture 4" descr="芳纶刹车片-复合材料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528" y="2428"/>
              <a:ext cx="3074" cy="165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680" name="Text Box 13"/>
            <p:cNvSpPr txBox="1">
              <a:spLocks noChangeAspect="1"/>
            </p:cNvSpPr>
            <p:nvPr/>
          </p:nvSpPr>
          <p:spPr>
            <a:xfrm>
              <a:off x="4542" y="3792"/>
              <a:ext cx="1104" cy="25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芳纶刹车片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pic>
          <p:nvPicPr>
            <p:cNvPr id="28681" name="Picture 16" descr="碳纤维增强聚酰亚胺复合材料-航空发动机高温构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" y="912"/>
              <a:ext cx="2209" cy="165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8682" name="Text Box 17"/>
            <p:cNvSpPr txBox="1">
              <a:spLocks noChangeAspect="1"/>
            </p:cNvSpPr>
            <p:nvPr/>
          </p:nvSpPr>
          <p:spPr>
            <a:xfrm>
              <a:off x="284" y="2150"/>
              <a:ext cx="2165" cy="46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碳纤维增强聚酰亚胺复合材料制航空发动机高温构件</a:t>
              </a:r>
              <a:endParaRPr lang="zh-CN" altLang="en-US" sz="2000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515100"/>
            <a:ext cx="428625" cy="347346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1345565" y="-84455"/>
            <a:ext cx="7207980" cy="1143000"/>
          </a:xfrm>
        </p:spPr>
        <p:txBody>
          <a:bodyPr vert="horz" wrap="square" lIns="92075" tIns="46038" rIns="92075" bIns="46038" anchor="ctr"/>
          <a:lstStyle/>
          <a:p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复合材料在航空中的应用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 </a:t>
            </a:r>
            <a:endParaRPr lang="zh-CN" altLang="en-US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934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5"/>
          <p:cNvGrpSpPr>
            <a:grpSpLocks noChangeAspect="1"/>
          </p:cNvGrpSpPr>
          <p:nvPr/>
        </p:nvGrpSpPr>
        <p:grpSpPr>
          <a:xfrm>
            <a:off x="590455" y="1027491"/>
            <a:ext cx="8394160" cy="5739661"/>
            <a:chOff x="180" y="294"/>
            <a:chExt cx="5442" cy="3721"/>
          </a:xfrm>
        </p:grpSpPr>
        <p:pic>
          <p:nvPicPr>
            <p:cNvPr id="29702" name="Picture 5" descr="image009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55" y="1897"/>
              <a:ext cx="3324" cy="2118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29703" name="Text Box 8"/>
            <p:cNvSpPr txBox="1">
              <a:spLocks noChangeAspect="1"/>
            </p:cNvSpPr>
            <p:nvPr/>
          </p:nvSpPr>
          <p:spPr>
            <a:xfrm>
              <a:off x="1666" y="3665"/>
              <a:ext cx="1675" cy="257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美国</a:t>
              </a:r>
              <a:r>
                <a:rPr lang="en-US" altLang="zh-CN" sz="2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F/A-18</a:t>
              </a:r>
              <a:r>
                <a:rPr lang="zh-CN" altLang="en-US" sz="20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歼击机</a:t>
              </a:r>
              <a:endParaRPr lang="zh-CN" altLang="en-US" sz="20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pic>
          <p:nvPicPr>
            <p:cNvPr id="29704" name="Picture 6" descr="image007d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" y="294"/>
              <a:ext cx="2815" cy="1022"/>
            </a:xfrm>
            <a:prstGeom prst="rect">
              <a:avLst/>
            </a:prstGeom>
            <a:noFill/>
            <a:ln w="28575">
              <a:noFill/>
            </a:ln>
          </p:spPr>
        </p:pic>
        <p:pic>
          <p:nvPicPr>
            <p:cNvPr id="29705" name="Picture 7" descr="image007e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5" y="314"/>
              <a:ext cx="2627" cy="1728"/>
            </a:xfrm>
            <a:prstGeom prst="rect">
              <a:avLst/>
            </a:prstGeom>
            <a:noFill/>
            <a:ln w="28575">
              <a:noFill/>
            </a:ln>
          </p:spPr>
        </p:pic>
        <p:sp>
          <p:nvSpPr>
            <p:cNvPr id="29706" name="Text Box 10"/>
            <p:cNvSpPr txBox="1">
              <a:spLocks noChangeAspect="1"/>
            </p:cNvSpPr>
            <p:nvPr/>
          </p:nvSpPr>
          <p:spPr>
            <a:xfrm>
              <a:off x="3073" y="294"/>
              <a:ext cx="2160" cy="61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/>
              <a:r>
                <a:rPr lang="zh-CN" altLang="en-US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美</a:t>
              </a:r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UH</a:t>
              </a:r>
              <a:r>
                <a:rPr lang="zh-CN" altLang="en-US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－</a:t>
              </a:r>
              <a:r>
                <a:rPr lang="en-US" altLang="zh-CN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60A</a:t>
              </a:r>
              <a:r>
                <a:rPr lang="zh-CN" altLang="en-US" sz="2800" dirty="0">
                  <a:solidFill>
                    <a:srgbClr val="0000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型直升飞机</a:t>
              </a:r>
              <a:endParaRPr lang="zh-CN" altLang="en-US" sz="2800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lstStyle/>
          <a:p>
            <a:endParaRPr lang="zh-CN" altLang="en-US" dirty="0"/>
          </a:p>
        </p:txBody>
      </p:sp>
      <p:sp>
        <p:nvSpPr>
          <p:cNvPr id="307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0724" name="Picture 4" descr="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39960" y="1340168"/>
            <a:ext cx="8064500" cy="4713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04250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81893" y="1015221"/>
            <a:ext cx="8858250" cy="5643563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金属的熔点高，故高强度纤维增强后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金属基复合材料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MMC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etallic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atrix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C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omposite)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可用</a:t>
            </a: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较高温的环境下工作。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8437" name="Rectangle 5"/>
          <p:cNvSpPr/>
          <p:nvPr/>
        </p:nvSpPr>
        <p:spPr>
          <a:xfrm>
            <a:off x="323850" y="2708275"/>
            <a:ext cx="5398135" cy="380746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800" dirty="0">
              <a:solidFill>
                <a:schemeClr val="tx1"/>
              </a:solidFill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800" dirty="0">
              <a:solidFill>
                <a:schemeClr val="tx1"/>
              </a:solidFill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en-US" altLang="zh-CN" sz="800" dirty="0">
              <a:solidFill>
                <a:schemeClr val="tx1"/>
              </a:solidFill>
              <a:ea typeface="华文中宋" panose="02010600040101010101" pitchFamily="2" charset="-122"/>
            </a:endParaRPr>
          </a:p>
          <a:p>
            <a:pPr marL="342900" lvl="0" indent="-342900" algn="l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800" dirty="0">
                <a:solidFill>
                  <a:schemeClr val="tx1"/>
                </a:solidFill>
                <a:ea typeface="华文中宋" panose="02010600040101010101" pitchFamily="2" charset="-122"/>
              </a:rPr>
              <a:t>          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>
          <a:xfrm>
            <a:off x="6361569" y="3257233"/>
            <a:ext cx="2813545" cy="2289058"/>
            <a:chOff x="2748" y="1920"/>
            <a:chExt cx="2496" cy="2031"/>
          </a:xfrm>
        </p:grpSpPr>
        <p:pic>
          <p:nvPicPr>
            <p:cNvPr id="31753" name="Picture 9" descr="MMC的SEM照片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84" y="1920"/>
              <a:ext cx="2460" cy="1930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8442" name="Text Box 10"/>
            <p:cNvSpPr txBox="1">
              <a:spLocks noChangeAspect="1" noChangeArrowheads="1"/>
            </p:cNvSpPr>
            <p:nvPr/>
          </p:nvSpPr>
          <p:spPr bwMode="auto">
            <a:xfrm>
              <a:off x="2748" y="3623"/>
              <a:ext cx="1926" cy="328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MMC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</a:t>
              </a: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SEM</a:t>
              </a: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照片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00125" y="0"/>
            <a:ext cx="8143875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（四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纤维增强金属基复合材料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1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30920" y="650081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" name="组合 28"/>
          <p:cNvGrpSpPr/>
          <p:nvPr/>
        </p:nvGrpSpPr>
        <p:grpSpPr>
          <a:xfrm>
            <a:off x="350730" y="2855145"/>
            <a:ext cx="6217609" cy="4038292"/>
            <a:chOff x="-920585" y="1145342"/>
            <a:chExt cx="6217609" cy="4038292"/>
          </a:xfrm>
        </p:grpSpPr>
        <p:grpSp>
          <p:nvGrpSpPr>
            <p:cNvPr id="30" name="组合 29"/>
            <p:cNvGrpSpPr/>
            <p:nvPr/>
          </p:nvGrpSpPr>
          <p:grpSpPr>
            <a:xfrm>
              <a:off x="-920585" y="1145342"/>
              <a:ext cx="5807661" cy="3894893"/>
              <a:chOff x="-890215" y="1184857"/>
              <a:chExt cx="5807661" cy="3894893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-890215" y="1184857"/>
                <a:ext cx="5758355" cy="3610056"/>
                <a:chOff x="-916752" y="1381445"/>
                <a:chExt cx="5758355" cy="3610056"/>
              </a:xfrm>
            </p:grpSpPr>
            <p:grpSp>
              <p:nvGrpSpPr>
                <p:cNvPr id="38" name="组合 37"/>
                <p:cNvGrpSpPr/>
                <p:nvPr/>
              </p:nvGrpSpPr>
              <p:grpSpPr>
                <a:xfrm>
                  <a:off x="-916752" y="1381445"/>
                  <a:ext cx="5696393" cy="3610056"/>
                  <a:chOff x="-1020410" y="4344300"/>
                  <a:chExt cx="5696393" cy="1854723"/>
                </a:xfrm>
              </p:grpSpPr>
              <p:grpSp>
                <p:nvGrpSpPr>
                  <p:cNvPr id="43" name="组合 20"/>
                  <p:cNvGrpSpPr/>
                  <p:nvPr/>
                </p:nvGrpSpPr>
                <p:grpSpPr>
                  <a:xfrm>
                    <a:off x="-1020410" y="4550563"/>
                    <a:ext cx="5696393" cy="1648460"/>
                    <a:chOff x="460" y="5706"/>
                    <a:chExt cx="9079" cy="2596"/>
                  </a:xfrm>
                </p:grpSpPr>
                <p:sp>
                  <p:nvSpPr>
                    <p:cNvPr id="47" name="左大括号 39"/>
                    <p:cNvSpPr/>
                    <p:nvPr/>
                  </p:nvSpPr>
                  <p:spPr>
                    <a:xfrm>
                      <a:off x="3967" y="5966"/>
                      <a:ext cx="299" cy="2336"/>
                    </a:xfrm>
                    <a:prstGeom prst="leftBrace">
                      <a:avLst>
                        <a:gd name="adj1" fmla="val 47157"/>
                        <a:gd name="adj2" fmla="val 50000"/>
                      </a:avLst>
                    </a:prstGeom>
                    <a:ln w="2222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48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60" y="6789"/>
                      <a:ext cx="3371" cy="712"/>
                    </a:xfrm>
                    <a:prstGeom prst="rect">
                      <a:avLst/>
                    </a:prstGeom>
                    <a:solidFill>
                      <a:schemeClr val="accent6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noAutofit/>
                    </a:bodyPr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kumimoji="1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+mj-lt"/>
                          <a:ea typeface="华文中宋" panose="02010600040101010101" pitchFamily="2" charset="-122"/>
                          <a:cs typeface="+mj-cs"/>
                        </a:rPr>
                        <a:t>纤维增强</a:t>
                      </a:r>
                      <a:r>
                        <a:rPr kumimoji="1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+mj-lt"/>
                          <a:ea typeface="华文中宋" panose="02010600040101010101" pitchFamily="2" charset="-122"/>
                          <a:cs typeface="+mj-cs"/>
                        </a:rPr>
                        <a:t>金属基</a:t>
                      </a:r>
                      <a:r>
                        <a:rPr kumimoji="1" lang="zh-CN" altLang="en-US" sz="24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uLnTx/>
                          <a:uFillTx/>
                          <a:latin typeface="+mj-lt"/>
                          <a:ea typeface="华文中宋" panose="02010600040101010101" pitchFamily="2" charset="-122"/>
                          <a:cs typeface="+mj-cs"/>
                        </a:rPr>
                        <a:t>复合材料</a:t>
                      </a:r>
                      <a:endParaRPr lang="zh-CN" altLang="en-US" kern="100" dirty="0">
                        <a:solidFill>
                          <a:srgbClr val="FF0000"/>
                        </a:solidFill>
                        <a:effectLst>
                          <a:outerShdw blurRad="38100" dist="25400" dir="5400000" algn="ctr">
                            <a:srgbClr val="6E747A">
                              <a:alpha val="43000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+mn-ea"/>
                      </a:endParaRPr>
                    </a:p>
                  </p:txBody>
                </p:sp>
                <p:sp>
                  <p:nvSpPr>
                    <p:cNvPr id="49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307" y="5706"/>
                      <a:ext cx="2835" cy="672"/>
                    </a:xfrm>
                    <a:prstGeom prst="rect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常用的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ea typeface="华文中宋" panose="02010600040101010101" pitchFamily="2" charset="-122"/>
                        </a:rPr>
                        <a:t>基体金属</a:t>
                      </a: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材料</a:t>
                      </a:r>
                      <a:endParaRPr lang="zh-CN" altLang="en-US" kern="100" dirty="0">
                        <a:solidFill>
                          <a:schemeClr val="bg1"/>
                        </a:solidFill>
                        <a:effectLst>
                          <a:outerShdw blurRad="38100" dist="25400" dir="5400000" algn="ctr">
                            <a:srgbClr val="6E747A">
                              <a:alpha val="43000"/>
                            </a:srgbClr>
                          </a:outerShdw>
                        </a:effectLst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+mn-ea"/>
                      </a:endParaRPr>
                    </a:p>
                  </p:txBody>
                </p:sp>
                <p:sp>
                  <p:nvSpPr>
                    <p:cNvPr id="50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7592" y="6195"/>
                      <a:ext cx="1947" cy="425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pPr eaLnBrk="1" hangingPunct="1">
                        <a:lnSpc>
                          <a:spcPct val="130000"/>
                        </a:lnSpc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rPr>
                        <a:t>镁合金</a:t>
                      </a:r>
                      <a:endParaRPr lang="en-US" altLang="zh-CN" b="1" dirty="0">
                        <a:solidFill>
                          <a:schemeClr val="folHlink"/>
                        </a:solidFill>
                        <a:ea typeface="华文中宋" panose="02010600040101010101" pitchFamily="2" charset="-122"/>
                      </a:endParaRPr>
                    </a:p>
                  </p:txBody>
                </p:sp>
              </p:grpSp>
              <p:sp>
                <p:nvSpPr>
                  <p:cNvPr id="44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48754" y="4607831"/>
                    <a:ext cx="1221382" cy="248553"/>
                  </a:xfrm>
                  <a:prstGeom prst="rect">
                    <a:avLst/>
                  </a:prstGeom>
                  <a:solidFill>
                    <a:srgbClr val="92D050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eaLnBrk="1" hangingPunct="1">
                      <a:lnSpc>
                        <a:spcPct val="115000"/>
                      </a:lnSpc>
                    </a:pPr>
                    <a:r>
                      <a:rPr lang="zh-CN" alt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rPr>
                      <a:t>钛合金</a:t>
                    </a:r>
                    <a:endPara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endParaRPr>
                  </a:p>
                </p:txBody>
              </p:sp>
              <p:sp useBgFill="1">
                <p:nvSpPr>
                  <p:cNvPr id="45" name="左大括号 39"/>
                  <p:cNvSpPr/>
                  <p:nvPr/>
                </p:nvSpPr>
                <p:spPr>
                  <a:xfrm>
                    <a:off x="3219438" y="4464039"/>
                    <a:ext cx="169919" cy="513244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46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47248" y="4344300"/>
                    <a:ext cx="1224393" cy="248553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eaLnBrk="1" hangingPunct="1">
                      <a:lnSpc>
                        <a:spcPct val="115000"/>
                      </a:lnSpc>
                    </a:pPr>
                    <a:r>
                      <a:rPr lang="zh-CN" altLang="en-US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华文中宋" panose="02010600040101010101" pitchFamily="2" charset="-122"/>
                      </a:rPr>
                      <a:t>铝合金</a:t>
                    </a:r>
                    <a:endParaRPr lang="zh-CN" altLang="en-US" b="1" dirty="0">
                      <a:solidFill>
                        <a:srgbClr val="FF0000"/>
                      </a:solidFill>
                      <a:ea typeface="华文中宋" panose="02010600040101010101" pitchFamily="2" charset="-122"/>
                    </a:endParaRPr>
                  </a:p>
                </p:txBody>
              </p:sp>
            </p:grpSp>
            <p:sp useBgFill="1">
              <p:nvSpPr>
                <p:cNvPr id="39" name="左大括号 39"/>
                <p:cNvSpPr/>
                <p:nvPr/>
              </p:nvSpPr>
              <p:spPr>
                <a:xfrm>
                  <a:off x="3301632" y="3164860"/>
                  <a:ext cx="179333" cy="998985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40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554336" y="2960975"/>
                  <a:ext cx="1248033" cy="461665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b="1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硼纤维</a:t>
                  </a:r>
                  <a:endParaRPr lang="zh-CN" altLang="en-US" kern="1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41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536893" y="3436737"/>
                  <a:ext cx="1295608" cy="461665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en-US" altLang="zh-CN" sz="2400" dirty="0" err="1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SiC</a:t>
                  </a:r>
                  <a:r>
                    <a:rPr lang="zh-CN" altLang="en-US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纤维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42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545995" y="3918847"/>
                  <a:ext cx="1295608" cy="46166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C</a:t>
                  </a:r>
                  <a:r>
                    <a:rPr lang="zh-CN" altLang="en-US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纤维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491377" y="3058538"/>
                <a:ext cx="3426069" cy="2021212"/>
                <a:chOff x="1460158" y="3261860"/>
                <a:chExt cx="3426069" cy="2021212"/>
              </a:xfrm>
            </p:grpSpPr>
            <p:sp>
              <p:nvSpPr>
                <p:cNvPr id="34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460158" y="3261860"/>
                  <a:ext cx="1778750" cy="830997"/>
                </a:xfrm>
                <a:prstGeom prst="rect">
                  <a:avLst/>
                </a:prstGeom>
                <a:solidFill>
                  <a:srgbClr val="92D050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作为增强体的</a:t>
                  </a:r>
                  <a:r>
                    <a:rPr lang="zh-CN" altLang="en-US" sz="2400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连续纤维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>
              <p:nvSpPr>
                <p:cNvPr id="35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1548981" y="4779009"/>
                  <a:ext cx="1363906" cy="461665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zh-CN" altLang="en-US" sz="2400" dirty="0">
                      <a:solidFill>
                        <a:schemeClr val="bg1"/>
                      </a:solidFill>
                      <a:ea typeface="华文中宋" panose="02010600040101010101" pitchFamily="2" charset="-122"/>
                    </a:rPr>
                    <a:t>短纤维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  <p:sp useBgFill="1">
              <p:nvSpPr>
                <p:cNvPr id="36" name="左大括号 39"/>
                <p:cNvSpPr/>
                <p:nvPr/>
              </p:nvSpPr>
              <p:spPr>
                <a:xfrm>
                  <a:off x="2966302" y="4779009"/>
                  <a:ext cx="136779" cy="504063"/>
                </a:xfrm>
                <a:prstGeom prst="leftBrace">
                  <a:avLst>
                    <a:gd name="adj1" fmla="val 47157"/>
                    <a:gd name="adj2" fmla="val 50000"/>
                  </a:avLst>
                </a:prstGeom>
                <a:ln w="22225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/>
                <a:lstStyle/>
                <a:p>
                  <a:endParaRPr lang="zh-CN" altLang="en-US" dirty="0"/>
                </a:p>
              </p:txBody>
            </p:sp>
            <p:sp>
              <p:nvSpPr>
                <p:cNvPr id="37" name="文本框 2"/>
                <p:cNvSpPr txBox="1">
                  <a:spLocks noChangeArrowheads="1"/>
                </p:cNvSpPr>
                <p:nvPr/>
              </p:nvSpPr>
              <p:spPr bwMode="auto">
                <a:xfrm>
                  <a:off x="3236337" y="4477377"/>
                  <a:ext cx="1649890" cy="461665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 algn="l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Al</a:t>
                  </a:r>
                  <a:r>
                    <a:rPr lang="en-US" altLang="zh-CN" sz="2400" baseline="-30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2</a:t>
                  </a: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O</a:t>
                  </a:r>
                  <a:r>
                    <a:rPr lang="en-US" altLang="zh-CN" sz="2400" baseline="-300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3</a:t>
                  </a:r>
                  <a:r>
                    <a:rPr lang="zh-CN" altLang="en-US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rPr>
                    <a:t>纤维</a:t>
                  </a:r>
                  <a:endParaRPr lang="zh-CN" altLang="en-US" kern="1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endParaRPr>
                </a:p>
              </p:txBody>
            </p:sp>
          </p:grpSp>
        </p:grpSp>
        <p:sp>
          <p:nvSpPr>
            <p:cNvPr id="31" name="文本框 2"/>
            <p:cNvSpPr txBox="1">
              <a:spLocks noChangeArrowheads="1"/>
            </p:cNvSpPr>
            <p:nvPr/>
          </p:nvSpPr>
          <p:spPr bwMode="auto">
            <a:xfrm>
              <a:off x="3206051" y="4721969"/>
              <a:ext cx="2090973" cy="46166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l"/>
              <a:endParaRPr lang="zh-CN" altLang="en-US" kern="1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dvAuto="1000" build="p"/>
      <p:bldP spid="18437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0" name="Rectangle 12"/>
          <p:cNvSpPr>
            <a:spLocks noGrp="1"/>
          </p:cNvSpPr>
          <p:nvPr>
            <p:ph idx="1"/>
          </p:nvPr>
        </p:nvSpPr>
        <p:spPr>
          <a:xfrm>
            <a:off x="643255" y="1000125"/>
            <a:ext cx="8382000" cy="562864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MMC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虽强度</a:t>
            </a: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弹性模量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刚度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增加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 </a:t>
            </a: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塑性</a:t>
            </a: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韧性</a:t>
            </a: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因使用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陶瓷纤维</a:t>
            </a: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有所降低。这在一定程度上限制了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MMC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的应用范围。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17"/>
          <p:cNvGrpSpPr>
            <a:grpSpLocks noChangeAspect="1"/>
          </p:cNvGrpSpPr>
          <p:nvPr/>
        </p:nvGrpSpPr>
        <p:grpSpPr>
          <a:xfrm>
            <a:off x="1357313" y="3084195"/>
            <a:ext cx="7218362" cy="3425825"/>
            <a:chOff x="336" y="1488"/>
            <a:chExt cx="5262" cy="2497"/>
          </a:xfrm>
        </p:grpSpPr>
        <p:pic>
          <p:nvPicPr>
            <p:cNvPr id="32776" name="Picture 5" descr="image010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032" y="1488"/>
              <a:ext cx="1566" cy="135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2777" name="Text Box 6"/>
            <p:cNvSpPr txBox="1">
              <a:spLocks noChangeAspect="1"/>
            </p:cNvSpPr>
            <p:nvPr/>
          </p:nvSpPr>
          <p:spPr>
            <a:xfrm>
              <a:off x="4128" y="2880"/>
              <a:ext cx="1296" cy="110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lnSpc>
                  <a:spcPct val="140000"/>
                </a:lnSpc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航天飞机内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MMC (Al / B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纤维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桁架</a:t>
              </a:r>
              <a:endParaRPr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32778" name="Picture 15" descr="航天飞机的构架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" y="1488"/>
              <a:ext cx="3614" cy="249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00125" y="0"/>
            <a:ext cx="8143875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（四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纤维增强金属基复合材料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2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0" grpId="0" advAuto="1000" build="p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lstStyle/>
          <a:p>
            <a:endParaRPr lang="zh-CN" altLang="en-US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3796" name="Picture 4" descr="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11188" y="1773238"/>
            <a:ext cx="7993062" cy="4537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95055" y="6596380"/>
            <a:ext cx="428625" cy="261620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149860" y="913765"/>
            <a:ext cx="5868035" cy="552196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C00000"/>
                </a:solidFill>
                <a:ea typeface="华文中宋" panose="02010600040101010101" pitchFamily="2" charset="-122"/>
              </a:rPr>
              <a:t>陶瓷材料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耐热、耐磨、耐蚀、抗氧化，</a:t>
            </a:r>
            <a:r>
              <a:rPr lang="zh-CN" altLang="en-US" b="1" dirty="0">
                <a:ea typeface="华文中宋" panose="02010600040101010101" pitchFamily="2" charset="-122"/>
              </a:rPr>
              <a:t>但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韧性低、难加工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在陶瓷材料</a:t>
            </a:r>
            <a:r>
              <a:rPr lang="zh-CN" altLang="en-US" b="1" dirty="0">
                <a:ea typeface="华文中宋" panose="02010600040101010101" pitchFamily="2" charset="-122"/>
              </a:rPr>
              <a:t>中加入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纤维增强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能大幅度提高强度，改善韧性，并提高使用温度。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陶瓷中增韧纤维受外力作用</a:t>
            </a:r>
            <a:r>
              <a:rPr lang="en-US" altLang="zh-CN" b="1" dirty="0">
                <a:ea typeface="华文中宋" panose="02010600040101010101" pitchFamily="2" charset="-122"/>
              </a:rPr>
              <a:t>,</a:t>
            </a:r>
            <a:r>
              <a:rPr lang="zh-CN" altLang="en-US" b="1" dirty="0">
                <a:ea typeface="华文中宋" panose="02010600040101010101" pitchFamily="2" charset="-122"/>
              </a:rPr>
              <a:t>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拔出</a:t>
            </a:r>
            <a:r>
              <a:rPr lang="zh-CN" altLang="en-US" b="1" dirty="0">
                <a:ea typeface="华文中宋" panose="02010600040101010101" pitchFamily="2" charset="-122"/>
              </a:rPr>
              <a:t>而消耗能量，耗能越多材料韧性越好。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6090226" y="1330325"/>
            <a:ext cx="2891849" cy="4693285"/>
            <a:chOff x="3282" y="528"/>
            <a:chExt cx="2195" cy="3266"/>
          </a:xfrm>
        </p:grpSpPr>
        <p:grpSp>
          <p:nvGrpSpPr>
            <p:cNvPr id="34825" name="Group 11"/>
            <p:cNvGrpSpPr>
              <a:grpSpLocks noChangeAspect="1"/>
            </p:cNvGrpSpPr>
            <p:nvPr/>
          </p:nvGrpSpPr>
          <p:grpSpPr>
            <a:xfrm>
              <a:off x="3282" y="528"/>
              <a:ext cx="2195" cy="1643"/>
              <a:chOff x="3280" y="288"/>
              <a:chExt cx="2347" cy="1757"/>
            </a:xfrm>
          </p:grpSpPr>
          <p:pic>
            <p:nvPicPr>
              <p:cNvPr id="34829" name="Picture 5" descr="碳-碳复合材料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360" y="288"/>
                <a:ext cx="2267" cy="175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4830" name="Text Box 7"/>
              <p:cNvSpPr txBox="1">
                <a:spLocks noChangeAspect="1"/>
              </p:cNvSpPr>
              <p:nvPr/>
            </p:nvSpPr>
            <p:spPr>
              <a:xfrm>
                <a:off x="3280" y="288"/>
                <a:ext cx="1240" cy="27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/>
                <a:r>
                  <a:rPr lang="en-US" altLang="zh-CN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C/C</a:t>
                </a:r>
                <a:r>
                  <a:rPr lang="zh-CN" altLang="en-US" sz="18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复合材料</a:t>
                </a:r>
                <a:endParaRPr lang="zh-CN" altLang="en-US" sz="18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4826" name="Group 14"/>
            <p:cNvGrpSpPr/>
            <p:nvPr/>
          </p:nvGrpSpPr>
          <p:grpSpPr>
            <a:xfrm>
              <a:off x="3334" y="2304"/>
              <a:ext cx="2143" cy="1490"/>
              <a:chOff x="3334" y="2388"/>
              <a:chExt cx="2143" cy="1490"/>
            </a:xfrm>
          </p:grpSpPr>
          <p:pic>
            <p:nvPicPr>
              <p:cNvPr id="34827" name="Picture 10" descr="SiC-SiC复合材料断口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57" y="2410"/>
                <a:ext cx="2120" cy="146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1516" name="Text Box 12"/>
              <p:cNvSpPr txBox="1">
                <a:spLocks noChangeAspect="1" noChangeArrowheads="1"/>
              </p:cNvSpPr>
              <p:nvPr/>
            </p:nvSpPr>
            <p:spPr bwMode="auto">
              <a:xfrm>
                <a:off x="3334" y="2388"/>
                <a:ext cx="1287" cy="255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Si/Si</a:t>
                </a:r>
                <a:r>
                  <a:rPr kumimoji="1" lang="zh-CN" altLang="en-US" sz="1800" b="1" i="0" u="none" strike="noStrike" kern="1200" cap="none" spc="0" normalizeH="0" baseline="0" noProof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复合材料</a:t>
                </a:r>
                <a:endPara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00125" y="0"/>
            <a:ext cx="8143875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（五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纤维增强陶瓷复合材料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灯片编号占位符 5"/>
          <p:cNvSpPr txBox="1"/>
          <p:nvPr/>
        </p:nvSpPr>
        <p:spPr bwMode="auto">
          <a:xfrm>
            <a:off x="8619490" y="6514783"/>
            <a:ext cx="428625" cy="347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11560" y="1088431"/>
            <a:ext cx="1584176" cy="4837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eaLnBrk="1" hangingPunct="1">
              <a:lnSpc>
                <a:spcPct val="115000"/>
              </a:lnSpc>
            </a:pPr>
            <a:r>
              <a:rPr lang="zh-CN" altLang="en-US" b="1" dirty="0">
                <a:solidFill>
                  <a:srgbClr val="C00000"/>
                </a:solidFill>
                <a:ea typeface="华文中宋" panose="02010600040101010101" pitchFamily="2" charset="-122"/>
              </a:rPr>
              <a:t>陶瓷材料</a:t>
            </a:r>
            <a:endParaRPr lang="zh-CN" altLang="en-US" b="1" dirty="0">
              <a:solidFill>
                <a:srgbClr val="FF0000"/>
              </a:solidFill>
              <a:ea typeface="华文中宋" panose="02010600040101010101" pitchFamily="2" charset="-122"/>
            </a:endParaRP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dvAuto="1000" build="p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214313" y="928688"/>
            <a:ext cx="8929687" cy="37338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用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晶须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作为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增强相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可以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显著提高复合材料的强度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弹性模量，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但因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价格昂贵，目前仅在少数宇航器件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上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采用。现在发现，晶须 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SiC 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和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Si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4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能起到陶瓷材料增韧的作用。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1417955" y="3592830"/>
            <a:ext cx="6851650" cy="2927350"/>
            <a:chOff x="576" y="1942"/>
            <a:chExt cx="4640" cy="2042"/>
          </a:xfrm>
        </p:grpSpPr>
        <p:grpSp>
          <p:nvGrpSpPr>
            <p:cNvPr id="35848" name="Group 13"/>
            <p:cNvGrpSpPr/>
            <p:nvPr/>
          </p:nvGrpSpPr>
          <p:grpSpPr>
            <a:xfrm>
              <a:off x="576" y="1942"/>
              <a:ext cx="1824" cy="2042"/>
              <a:chOff x="624" y="1920"/>
              <a:chExt cx="1824" cy="2042"/>
            </a:xfrm>
          </p:grpSpPr>
          <p:pic>
            <p:nvPicPr>
              <p:cNvPr id="35852" name="Picture 4" descr="ZnO晶须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624" y="1920"/>
                <a:ext cx="1786" cy="204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5853" name="Text Box 6"/>
              <p:cNvSpPr txBox="1"/>
              <p:nvPr/>
            </p:nvSpPr>
            <p:spPr>
              <a:xfrm>
                <a:off x="1584" y="3696"/>
                <a:ext cx="864" cy="25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/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ZnO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晶须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35849" name="Group 17"/>
            <p:cNvGrpSpPr/>
            <p:nvPr/>
          </p:nvGrpSpPr>
          <p:grpSpPr>
            <a:xfrm>
              <a:off x="2496" y="2050"/>
              <a:ext cx="2720" cy="1927"/>
              <a:chOff x="2496" y="2050"/>
              <a:chExt cx="2720" cy="1927"/>
            </a:xfrm>
          </p:grpSpPr>
          <p:pic>
            <p:nvPicPr>
              <p:cNvPr id="35850" name="Picture 12" descr="自增韧SiN陶瓷中的柱晶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96" y="2050"/>
                <a:ext cx="2720" cy="192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35851" name="Rectangle 14"/>
              <p:cNvSpPr/>
              <p:nvPr/>
            </p:nvSpPr>
            <p:spPr>
              <a:xfrm>
                <a:off x="2508" y="3768"/>
                <a:ext cx="1188" cy="192"/>
              </a:xfrm>
              <a:prstGeom prst="rect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lvl="0" eaLnBrk="1" hangingPunct="1"/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自增韧</a:t>
                </a:r>
                <a:r>
                  <a:rPr lang="en-US" altLang="zh-CN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Si</a:t>
                </a:r>
                <a:r>
                  <a:rPr lang="en-US" altLang="zh-CN" sz="2000" baseline="-30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3</a:t>
                </a:r>
                <a:r>
                  <a:rPr lang="en-US" altLang="zh-CN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N</a:t>
                </a:r>
                <a:r>
                  <a:rPr lang="en-US" altLang="zh-CN" sz="2000" baseline="-30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4</a:t>
                </a:r>
                <a:r>
                  <a:rPr lang="zh-CN" altLang="en-US" sz="2000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陶瓷</a:t>
                </a:r>
                <a:endParaRPr lang="zh-CN" altLang="en-US" sz="2000" dirty="0">
                  <a:solidFill>
                    <a:srgbClr val="8000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00125" y="0"/>
            <a:ext cx="8143875" cy="838200"/>
          </a:xfrm>
        </p:spPr>
        <p:txBody>
          <a:bodyPr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（五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纤维增强陶瓷复合材料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5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6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71537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dvAuto="1000" build="p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lstStyle/>
          <a:p>
            <a:endParaRPr lang="zh-CN" altLang="en-US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6868" name="Picture 4" descr="T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85763" y="981075"/>
            <a:ext cx="8705850" cy="5357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63305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lstStyle/>
          <a:p>
            <a:endParaRPr lang="zh-CN" altLang="en-US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7892" name="Picture 4" descr="fi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763713" y="1412875"/>
            <a:ext cx="5189537" cy="5051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84895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/>
          <a:lstStyle/>
          <a:p>
            <a:endParaRPr lang="zh-CN" altLang="en-US" dirty="0"/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pic>
        <p:nvPicPr>
          <p:cNvPr id="38916" name="Picture 4" descr="复合材料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555875" y="260350"/>
            <a:ext cx="4362450" cy="62976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7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4100" y="650970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85875" y="44450"/>
            <a:ext cx="7172325" cy="99568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en-US" altLang="zh-CN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162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99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7-11</a:t>
            </a:r>
            <a:r>
              <a:rPr lang="zh-CN" altLang="en-US" dirty="0"/>
              <a:t>、</a:t>
            </a:r>
            <a:r>
              <a:rPr lang="en-US" altLang="zh-CN" dirty="0"/>
              <a:t>7-12</a:t>
            </a:r>
            <a:endParaRPr lang="en-US" altLang="zh-CN" dirty="0"/>
          </a:p>
        </p:txBody>
      </p:sp>
      <p:sp>
        <p:nvSpPr>
          <p:cNvPr id="7" name="日期占位符 1"/>
          <p:cNvSpPr txBox="1">
            <a:spLocks noGrp="1"/>
          </p:cNvSpPr>
          <p:nvPr>
            <p:ph type="dt" sz="half" idx="10"/>
          </p:nvPr>
        </p:nvSpPr>
        <p:spPr bwMode="auto">
          <a:xfrm>
            <a:off x="0" y="6515100"/>
            <a:ext cx="1785938" cy="3429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A8B6F7-4BDB-4B86-9B4A-07D273356451}" type="datetime8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</a:fld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xfrm>
            <a:off x="8674735" y="6514783"/>
            <a:ext cx="428625" cy="347663"/>
          </a:xfrm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>
              <a:spcBef>
                <a:spcPct val="0"/>
              </a:spcBef>
            </a:pPr>
            <a:fld id="{9A0DB2DC-4C9A-4742-B13C-FB6460FD3503}" type="slidenum">
              <a:rPr lang="en-US" altLang="zh-CN" sz="1400" b="0" dirty="0">
                <a:solidFill>
                  <a:schemeClr val="tx1"/>
                </a:solidFill>
                <a:ea typeface="宋体" panose="02010600030101010101" pitchFamily="2" charset="-122"/>
              </a:rPr>
            </a:fld>
            <a:endParaRPr lang="en-US" altLang="zh-CN" sz="1400" b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-22650" y="0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Line 4"/>
          <p:cNvSpPr>
            <a:spLocks noChangeShapeType="1"/>
          </p:cNvSpPr>
          <p:nvPr/>
        </p:nvSpPr>
        <p:spPr bwMode="auto">
          <a:xfrm flipV="1">
            <a:off x="35560" y="90614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07465" y="2015490"/>
            <a:ext cx="6529705" cy="253936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谢谢！</a:t>
            </a:r>
            <a:br>
              <a:rPr kumimoji="1" lang="zh-CN" altLang="en-US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1" lang="en-US" altLang="zh-CN" sz="88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</a:t>
            </a:r>
            <a:endParaRPr kumimoji="1" lang="en-US" altLang="zh-CN" sz="8800" b="0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32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.xml><?xml version="1.0" encoding="utf-8"?>
<p:tagLst xmlns:p="http://schemas.openxmlformats.org/presentationml/2006/main">
  <p:tag name="KSO_WM_SLIDE_MODEL_TYPE" val="numdgm"/>
</p:tagLst>
</file>

<file path=ppt/tags/tag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4.xml><?xml version="1.0" encoding="utf-8"?>
<p:tagLst xmlns:p="http://schemas.openxmlformats.org/presentationml/2006/main">
  <p:tag name="KSO_WM_DOC_GUID" val="{73670850-2ac8-45f9-b1fd-77f79a835796}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folHlink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3792</Words>
  <Application>WPS 演示</Application>
  <PresentationFormat>全屏显示(4:3)</PresentationFormat>
  <Paragraphs>624</Paragraphs>
  <Slides>47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5" baseType="lpstr">
      <vt:lpstr>Arial</vt:lpstr>
      <vt:lpstr>宋体</vt:lpstr>
      <vt:lpstr>Wingdings</vt:lpstr>
      <vt:lpstr>Times New Roman</vt:lpstr>
      <vt:lpstr>楷体_GB2312</vt:lpstr>
      <vt:lpstr>新宋体</vt:lpstr>
      <vt:lpstr>华文中宋</vt:lpstr>
      <vt:lpstr>微软雅黑</vt:lpstr>
      <vt:lpstr>Times New Roman</vt:lpstr>
      <vt:lpstr>Symbol</vt:lpstr>
      <vt:lpstr>Arial Unicode MS</vt:lpstr>
      <vt:lpstr>Cambria Math</vt:lpstr>
      <vt:lpstr>Tahoma</vt:lpstr>
      <vt:lpstr>仿宋_GB2312</vt:lpstr>
      <vt:lpstr>仿宋</vt:lpstr>
      <vt:lpstr>Calibri</vt:lpstr>
      <vt:lpstr>等线</vt:lpstr>
      <vt:lpstr>Soaring</vt:lpstr>
      <vt:lpstr>U2041170  《工程材料与成型技术》 Engineering Materials and Forming Technology   44+4学时，3学分</vt:lpstr>
      <vt:lpstr>第七章  复合材料 （Composites） </vt:lpstr>
      <vt:lpstr>本章主要教学目标 Learning Objectives</vt:lpstr>
      <vt:lpstr>第七章  复合材料 （Composites） </vt:lpstr>
      <vt:lpstr>第七章  复合材料</vt:lpstr>
      <vt:lpstr>内容提要</vt:lpstr>
      <vt:lpstr>一、复合材料概述 Overview on Composites </vt:lpstr>
      <vt:lpstr>一、复合材料概述 </vt:lpstr>
      <vt:lpstr>（一）复合材料的分类</vt:lpstr>
      <vt:lpstr>（二）复合材料的命名方法</vt:lpstr>
      <vt:lpstr>（三）复合材料的特点</vt:lpstr>
      <vt:lpstr>（三）复合材料的特点</vt:lpstr>
      <vt:lpstr>二、粒子增强复合材料 Particle Reinforced Composites </vt:lpstr>
      <vt:lpstr>二、粒子增强复合材料 </vt:lpstr>
      <vt:lpstr>二、粒子增强复合材料 ——主要种类</vt:lpstr>
      <vt:lpstr>1.聚合物基粒子复合材料</vt:lpstr>
      <vt:lpstr>2.陶瓷基粒子复合材料</vt:lpstr>
      <vt:lpstr>3.金属基粒子复合材料</vt:lpstr>
      <vt:lpstr>硬质合金</vt:lpstr>
      <vt:lpstr>硬质合金——切削工具用</vt:lpstr>
      <vt:lpstr>硬质合金——切削工具用</vt:lpstr>
      <vt:lpstr>三、层状复合材料</vt:lpstr>
      <vt:lpstr>三、层状复合材料</vt:lpstr>
      <vt:lpstr>层状复合材料</vt:lpstr>
      <vt:lpstr>四、纤维增强复合材料  Fiber Reinforced Composites</vt:lpstr>
      <vt:lpstr>四、纤维增强复合材料 </vt:lpstr>
      <vt:lpstr>四、纤维增强复合材料 </vt:lpstr>
      <vt:lpstr>四、纤维增强复合材料 </vt:lpstr>
      <vt:lpstr>四、纤维增强复合材料 </vt:lpstr>
      <vt:lpstr>四、纤维增强复合材料 </vt:lpstr>
      <vt:lpstr>（二）纤维的种类和性能</vt:lpstr>
      <vt:lpstr>（二）纤维的种类和性能</vt:lpstr>
      <vt:lpstr>PowerPoint 演示文稿</vt:lpstr>
      <vt:lpstr>（三）纤维增强聚合物基复合材料</vt:lpstr>
      <vt:lpstr>纤维增强聚合物基复合材料零件</vt:lpstr>
      <vt:lpstr>复合材料在航空中的应用 </vt:lpstr>
      <vt:lpstr>PowerPoint 演示文稿</vt:lpstr>
      <vt:lpstr>（四）纤维增强金属基复合材料</vt:lpstr>
      <vt:lpstr>（四）纤维增强金属基复合材料</vt:lpstr>
      <vt:lpstr>PowerPoint 演示文稿</vt:lpstr>
      <vt:lpstr>（五）纤维增强陶瓷复合材料</vt:lpstr>
      <vt:lpstr>（五）纤维增强陶瓷复合材料</vt:lpstr>
      <vt:lpstr>PowerPoint 演示文稿</vt:lpstr>
      <vt:lpstr>PowerPoint 演示文稿</vt:lpstr>
      <vt:lpstr>PowerPoint 演示文稿</vt:lpstr>
      <vt:lpstr>作业（162）</vt:lpstr>
      <vt:lpstr>谢谢！</vt:lpstr>
    </vt:vector>
  </TitlesOfParts>
  <Company>dlut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第十二章  复合材料</dc:title>
  <dc:creator>yys</dc:creator>
  <cp:lastModifiedBy>LIGHCUMTB</cp:lastModifiedBy>
  <cp:revision>177</cp:revision>
  <dcterms:created xsi:type="dcterms:W3CDTF">2002-06-23T06:06:00Z</dcterms:created>
  <dcterms:modified xsi:type="dcterms:W3CDTF">2024-12-02T01:38:13Z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1FAC712CA5F5495C9D53B45F5CCB46F1_12</vt:lpwstr>
  </property>
</Properties>
</file>