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5"/>
  </p:notesMasterIdLst>
  <p:sldIdLst>
    <p:sldId id="1037" r:id="rId3"/>
    <p:sldId id="1263" r:id="rId4"/>
    <p:sldId id="1265" r:id="rId5"/>
    <p:sldId id="585" r:id="rId6"/>
    <p:sldId id="475" r:id="rId7"/>
    <p:sldId id="476" r:id="rId8"/>
    <p:sldId id="477" r:id="rId9"/>
    <p:sldId id="478" r:id="rId10"/>
    <p:sldId id="479" r:id="rId11"/>
    <p:sldId id="351" r:id="rId12"/>
    <p:sldId id="796" r:id="rId13"/>
    <p:sldId id="455" r:id="rId14"/>
    <p:sldId id="458" r:id="rId15"/>
    <p:sldId id="1033" r:id="rId16"/>
    <p:sldId id="352" r:id="rId17"/>
    <p:sldId id="459" r:id="rId18"/>
    <p:sldId id="456" r:id="rId19"/>
    <p:sldId id="460" r:id="rId20"/>
    <p:sldId id="461" r:id="rId21"/>
    <p:sldId id="462" r:id="rId22"/>
    <p:sldId id="1038" r:id="rId23"/>
    <p:sldId id="463" r:id="rId24"/>
    <p:sldId id="464" r:id="rId25"/>
    <p:sldId id="359" r:id="rId26"/>
    <p:sldId id="1014" r:id="rId27"/>
    <p:sldId id="480" r:id="rId28"/>
    <p:sldId id="435" r:id="rId29"/>
    <p:sldId id="436" r:id="rId30"/>
    <p:sldId id="362" r:id="rId31"/>
    <p:sldId id="437" r:id="rId32"/>
    <p:sldId id="440" r:id="rId33"/>
    <p:sldId id="438" r:id="rId34"/>
    <p:sldId id="449" r:id="rId35"/>
    <p:sldId id="447" r:id="rId36"/>
    <p:sldId id="448" r:id="rId37"/>
    <p:sldId id="367" r:id="rId38"/>
    <p:sldId id="1016" r:id="rId39"/>
    <p:sldId id="1013" r:id="rId40"/>
    <p:sldId id="1027" r:id="rId41"/>
    <p:sldId id="484" r:id="rId42"/>
    <p:sldId id="1026" r:id="rId43"/>
    <p:sldId id="369" r:id="rId44"/>
    <p:sldId id="370" r:id="rId45"/>
    <p:sldId id="371" r:id="rId46"/>
    <p:sldId id="372" r:id="rId47"/>
    <p:sldId id="373" r:id="rId48"/>
    <p:sldId id="374" r:id="rId49"/>
    <p:sldId id="420" r:id="rId50"/>
    <p:sldId id="375" r:id="rId51"/>
    <p:sldId id="1030" r:id="rId52"/>
    <p:sldId id="1028" r:id="rId53"/>
    <p:sldId id="376" r:id="rId54"/>
    <p:sldId id="377" r:id="rId55"/>
    <p:sldId id="378" r:id="rId56"/>
    <p:sldId id="618" r:id="rId57"/>
    <p:sldId id="380" r:id="rId58"/>
    <p:sldId id="381" r:id="rId59"/>
    <p:sldId id="489" r:id="rId60"/>
    <p:sldId id="1031" r:id="rId61"/>
    <p:sldId id="1032" r:id="rId62"/>
    <p:sldId id="490" r:id="rId63"/>
    <p:sldId id="488" r:id="rId64"/>
    <p:sldId id="521" r:id="rId65"/>
    <p:sldId id="492" r:id="rId66"/>
    <p:sldId id="519" r:id="rId67"/>
    <p:sldId id="495" r:id="rId68"/>
    <p:sldId id="497" r:id="rId69"/>
    <p:sldId id="496" r:id="rId70"/>
    <p:sldId id="422" r:id="rId71"/>
    <p:sldId id="498" r:id="rId72"/>
    <p:sldId id="520" r:id="rId73"/>
    <p:sldId id="499" r:id="rId74"/>
    <p:sldId id="501" r:id="rId75"/>
    <p:sldId id="500" r:id="rId76"/>
    <p:sldId id="506" r:id="rId77"/>
    <p:sldId id="505" r:id="rId78"/>
    <p:sldId id="507" r:id="rId79"/>
    <p:sldId id="396" r:id="rId80"/>
    <p:sldId id="397" r:id="rId81"/>
    <p:sldId id="398" r:id="rId82"/>
    <p:sldId id="522" r:id="rId83"/>
    <p:sldId id="400" r:id="rId84"/>
    <p:sldId id="513" r:id="rId85"/>
    <p:sldId id="523" r:id="rId86"/>
    <p:sldId id="524" r:id="rId87"/>
    <p:sldId id="514" r:id="rId88"/>
    <p:sldId id="517" r:id="rId89"/>
    <p:sldId id="515" r:id="rId90"/>
    <p:sldId id="466" r:id="rId91"/>
    <p:sldId id="474" r:id="rId92"/>
    <p:sldId id="528" r:id="rId93"/>
    <p:sldId id="533" r:id="rId94"/>
    <p:sldId id="529" r:id="rId95"/>
    <p:sldId id="530" r:id="rId96"/>
    <p:sldId id="430" r:id="rId97"/>
    <p:sldId id="539" r:id="rId98"/>
    <p:sldId id="534" r:id="rId99"/>
    <p:sldId id="257" r:id="rId100"/>
    <p:sldId id="1017" r:id="rId101"/>
    <p:sldId id="541" r:id="rId102"/>
    <p:sldId id="1034" r:id="rId103"/>
    <p:sldId id="542" r:id="rId104"/>
    <p:sldId id="543" r:id="rId105"/>
    <p:sldId id="544" r:id="rId106"/>
    <p:sldId id="545" r:id="rId107"/>
    <p:sldId id="546" r:id="rId108"/>
    <p:sldId id="547" r:id="rId109"/>
    <p:sldId id="548" r:id="rId110"/>
    <p:sldId id="1035" r:id="rId111"/>
    <p:sldId id="549" r:id="rId112"/>
    <p:sldId id="550" r:id="rId113"/>
    <p:sldId id="551" r:id="rId114"/>
    <p:sldId id="265" r:id="rId115"/>
    <p:sldId id="1036" r:id="rId116"/>
    <p:sldId id="554" r:id="rId117"/>
    <p:sldId id="552" r:id="rId118"/>
    <p:sldId id="555" r:id="rId119"/>
    <p:sldId id="553" r:id="rId120"/>
    <p:sldId id="557" r:id="rId121"/>
    <p:sldId id="556" r:id="rId122"/>
    <p:sldId id="558" r:id="rId123"/>
    <p:sldId id="559" r:id="rId124"/>
    <p:sldId id="560" r:id="rId125"/>
    <p:sldId id="561" r:id="rId126"/>
    <p:sldId id="274" r:id="rId127"/>
    <p:sldId id="563" r:id="rId128"/>
    <p:sldId id="562" r:id="rId129"/>
    <p:sldId id="564" r:id="rId130"/>
    <p:sldId id="565" r:id="rId131"/>
    <p:sldId id="567" r:id="rId132"/>
    <p:sldId id="278" r:id="rId133"/>
    <p:sldId id="1018" r:id="rId134"/>
    <p:sldId id="566" r:id="rId135"/>
    <p:sldId id="279" r:id="rId136"/>
    <p:sldId id="568" r:id="rId137"/>
    <p:sldId id="569" r:id="rId138"/>
    <p:sldId id="280" r:id="rId139"/>
    <p:sldId id="619" r:id="rId140"/>
    <p:sldId id="570" r:id="rId141"/>
    <p:sldId id="575" r:id="rId142"/>
    <p:sldId id="572" r:id="rId143"/>
    <p:sldId id="416" r:id="rId144"/>
    <p:sldId id="576" r:id="rId145"/>
    <p:sldId id="608" r:id="rId146"/>
    <p:sldId id="286" r:id="rId147"/>
    <p:sldId id="578" r:id="rId148"/>
    <p:sldId id="1019" r:id="rId149"/>
    <p:sldId id="579" r:id="rId150"/>
    <p:sldId id="580" r:id="rId151"/>
    <p:sldId id="582" r:id="rId152"/>
    <p:sldId id="583" r:id="rId153"/>
    <p:sldId id="588" r:id="rId154"/>
    <p:sldId id="586" r:id="rId155"/>
    <p:sldId id="587" r:id="rId156"/>
    <p:sldId id="589" r:id="rId157"/>
    <p:sldId id="590" r:id="rId158"/>
    <p:sldId id="609" r:id="rId159"/>
    <p:sldId id="610" r:id="rId160"/>
    <p:sldId id="296" r:id="rId161"/>
    <p:sldId id="591" r:id="rId162"/>
    <p:sldId id="592" r:id="rId163"/>
    <p:sldId id="601" r:id="rId164"/>
    <p:sldId id="1020" r:id="rId165"/>
    <p:sldId id="300" r:id="rId166"/>
    <p:sldId id="620" r:id="rId167"/>
    <p:sldId id="621" r:id="rId168"/>
    <p:sldId id="622" r:id="rId169"/>
    <p:sldId id="623" r:id="rId170"/>
    <p:sldId id="624" r:id="rId171"/>
    <p:sldId id="604" r:id="rId172"/>
    <p:sldId id="607" r:id="rId173"/>
    <p:sldId id="606" r:id="rId174"/>
    <p:sldId id="625" r:id="rId175"/>
    <p:sldId id="626" r:id="rId176"/>
    <p:sldId id="627" r:id="rId177"/>
    <p:sldId id="309" r:id="rId178"/>
    <p:sldId id="427" r:id="rId179"/>
    <p:sldId id="628" r:id="rId180"/>
    <p:sldId id="310" r:id="rId181"/>
    <p:sldId id="311" r:id="rId182"/>
    <p:sldId id="312" r:id="rId183"/>
    <p:sldId id="630" r:id="rId184"/>
    <p:sldId id="313" r:id="rId185"/>
    <p:sldId id="611" r:id="rId186"/>
    <p:sldId id="615" r:id="rId187"/>
    <p:sldId id="614" r:id="rId188"/>
    <p:sldId id="612" r:id="rId189"/>
    <p:sldId id="629" r:id="rId190"/>
    <p:sldId id="616" r:id="rId191"/>
    <p:sldId id="617" r:id="rId192"/>
    <p:sldId id="319" r:id="rId193"/>
    <p:sldId id="320" r:id="rId194"/>
    <p:sldId id="631" r:id="rId195"/>
    <p:sldId id="428" r:id="rId196"/>
    <p:sldId id="632" r:id="rId197"/>
    <p:sldId id="633" r:id="rId198"/>
    <p:sldId id="324" r:id="rId199"/>
    <p:sldId id="1022" r:id="rId200"/>
    <p:sldId id="1021" r:id="rId201"/>
    <p:sldId id="325" r:id="rId202"/>
    <p:sldId id="1024" r:id="rId203"/>
    <p:sldId id="635" r:id="rId204"/>
    <p:sldId id="327" r:id="rId205"/>
    <p:sldId id="328" r:id="rId206"/>
    <p:sldId id="329" r:id="rId207"/>
    <p:sldId id="330" r:id="rId208"/>
    <p:sldId id="1025" r:id="rId209"/>
    <p:sldId id="331" r:id="rId210"/>
    <p:sldId id="332" r:id="rId211"/>
    <p:sldId id="333" r:id="rId212"/>
    <p:sldId id="334" r:id="rId213"/>
    <p:sldId id="335" r:id="rId214"/>
    <p:sldId id="336" r:id="rId215"/>
    <p:sldId id="429" r:id="rId216"/>
    <p:sldId id="337" r:id="rId217"/>
    <p:sldId id="338" r:id="rId218"/>
    <p:sldId id="1023" r:id="rId219"/>
    <p:sldId id="339" r:id="rId220"/>
    <p:sldId id="340" r:id="rId221"/>
    <p:sldId id="341" r:id="rId222"/>
    <p:sldId id="342" r:id="rId223"/>
    <p:sldId id="343" r:id="rId224"/>
    <p:sldId id="344" r:id="rId226"/>
    <p:sldId id="345" r:id="rId227"/>
    <p:sldId id="346" r:id="rId228"/>
    <p:sldId id="347" r:id="rId229"/>
    <p:sldId id="472" r:id="rId230"/>
  </p:sldIdLst>
  <p:sldSz cx="9144000" cy="6858000" type="screen4x3"/>
  <p:notesSz cx="6858000" cy="9144000"/>
  <p:custDataLst>
    <p:tags r:id="rId234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b="1" i="0" u="none" kern="1200" baseline="0">
        <a:solidFill>
          <a:schemeClr val="folHlink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1800" b="1" i="0" u="none" kern="1200" baseline="0">
        <a:solidFill>
          <a:schemeClr val="folHlink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1800" b="1" i="0" u="none" kern="1200" baseline="0">
        <a:solidFill>
          <a:schemeClr val="folHlink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1800" b="1" i="0" u="none" kern="1200" baseline="0">
        <a:solidFill>
          <a:schemeClr val="folHlink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1800" b="1" i="0" u="none" kern="1200" baseline="0">
        <a:solidFill>
          <a:schemeClr val="folHlink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1800" b="1" i="0" u="none" kern="1200" baseline="0">
        <a:solidFill>
          <a:schemeClr val="folHlink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1800" b="1" i="0" u="none" kern="1200" baseline="0">
        <a:solidFill>
          <a:schemeClr val="folHlink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1800" b="1" i="0" u="none" kern="1200" baseline="0">
        <a:solidFill>
          <a:schemeClr val="folHlink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Clr>
        <a:schemeClr val="accent2"/>
      </a:buClr>
      <a:buSzPct val="80000"/>
      <a:buFont typeface="Wingdings" panose="05000000000000000000" pitchFamily="2" charset="2"/>
      <a:buNone/>
      <a:defRPr sz="1800" b="1" i="0" u="none" kern="1200" baseline="0">
        <a:solidFill>
          <a:schemeClr val="folHlink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66"/>
    <a:srgbClr val="00FF00"/>
    <a:srgbClr val="CCFF33"/>
    <a:srgbClr val="FFFF00"/>
    <a:srgbClr val="008000"/>
    <a:srgbClr val="CCFFFF"/>
    <a:srgbClr val="FFFFCD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11"/>
    <p:restoredTop sz="90929"/>
  </p:normalViewPr>
  <p:slideViewPr>
    <p:cSldViewPr showGuides="1">
      <p:cViewPr varScale="1">
        <p:scale>
          <a:sx n="74" d="100"/>
          <a:sy n="74" d="100"/>
        </p:scale>
        <p:origin x="816" y="48"/>
      </p:cViewPr>
      <p:guideLst>
        <p:guide orient="horz" pos="2115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0496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4" Type="http://schemas.openxmlformats.org/officeDocument/2006/relationships/tags" Target="tags/tag36.xml"/><Relationship Id="rId233" Type="http://schemas.openxmlformats.org/officeDocument/2006/relationships/tableStyles" Target="tableStyles.xml"/><Relationship Id="rId232" Type="http://schemas.openxmlformats.org/officeDocument/2006/relationships/viewProps" Target="viewProps.xml"/><Relationship Id="rId231" Type="http://schemas.openxmlformats.org/officeDocument/2006/relationships/presProps" Target="presProps.xml"/><Relationship Id="rId230" Type="http://schemas.openxmlformats.org/officeDocument/2006/relationships/slide" Target="slides/slide227.xml"/><Relationship Id="rId23" Type="http://schemas.openxmlformats.org/officeDocument/2006/relationships/slide" Target="slides/slide21.xml"/><Relationship Id="rId229" Type="http://schemas.openxmlformats.org/officeDocument/2006/relationships/slide" Target="slides/slide226.xml"/><Relationship Id="rId228" Type="http://schemas.openxmlformats.org/officeDocument/2006/relationships/slide" Target="slides/slide225.xml"/><Relationship Id="rId227" Type="http://schemas.openxmlformats.org/officeDocument/2006/relationships/slide" Target="slides/slide224.xml"/><Relationship Id="rId226" Type="http://schemas.openxmlformats.org/officeDocument/2006/relationships/slide" Target="slides/slide223.xml"/><Relationship Id="rId225" Type="http://schemas.openxmlformats.org/officeDocument/2006/relationships/notesMaster" Target="notesMasters/notesMaster1.xml"/><Relationship Id="rId224" Type="http://schemas.openxmlformats.org/officeDocument/2006/relationships/slide" Target="slides/slide222.xml"/><Relationship Id="rId223" Type="http://schemas.openxmlformats.org/officeDocument/2006/relationships/slide" Target="slides/slide221.xml"/><Relationship Id="rId222" Type="http://schemas.openxmlformats.org/officeDocument/2006/relationships/slide" Target="slides/slide220.xml"/><Relationship Id="rId221" Type="http://schemas.openxmlformats.org/officeDocument/2006/relationships/slide" Target="slides/slide219.xml"/><Relationship Id="rId220" Type="http://schemas.openxmlformats.org/officeDocument/2006/relationships/slide" Target="slides/slide218.xml"/><Relationship Id="rId22" Type="http://schemas.openxmlformats.org/officeDocument/2006/relationships/slide" Target="slides/slide20.xml"/><Relationship Id="rId219" Type="http://schemas.openxmlformats.org/officeDocument/2006/relationships/slide" Target="slides/slide217.xml"/><Relationship Id="rId218" Type="http://schemas.openxmlformats.org/officeDocument/2006/relationships/slide" Target="slides/slide216.xml"/><Relationship Id="rId217" Type="http://schemas.openxmlformats.org/officeDocument/2006/relationships/slide" Target="slides/slide215.xml"/><Relationship Id="rId216" Type="http://schemas.openxmlformats.org/officeDocument/2006/relationships/slide" Target="slides/slide214.xml"/><Relationship Id="rId215" Type="http://schemas.openxmlformats.org/officeDocument/2006/relationships/slide" Target="slides/slide213.xml"/><Relationship Id="rId214" Type="http://schemas.openxmlformats.org/officeDocument/2006/relationships/slide" Target="slides/slide212.xml"/><Relationship Id="rId213" Type="http://schemas.openxmlformats.org/officeDocument/2006/relationships/slide" Target="slides/slide211.xml"/><Relationship Id="rId212" Type="http://schemas.openxmlformats.org/officeDocument/2006/relationships/slide" Target="slides/slide210.xml"/><Relationship Id="rId211" Type="http://schemas.openxmlformats.org/officeDocument/2006/relationships/slide" Target="slides/slide209.xml"/><Relationship Id="rId210" Type="http://schemas.openxmlformats.org/officeDocument/2006/relationships/slide" Target="slides/slide208.xml"/><Relationship Id="rId21" Type="http://schemas.openxmlformats.org/officeDocument/2006/relationships/slide" Target="slides/slide19.xml"/><Relationship Id="rId209" Type="http://schemas.openxmlformats.org/officeDocument/2006/relationships/slide" Target="slides/slide207.xml"/><Relationship Id="rId208" Type="http://schemas.openxmlformats.org/officeDocument/2006/relationships/slide" Target="slides/slide206.xml"/><Relationship Id="rId207" Type="http://schemas.openxmlformats.org/officeDocument/2006/relationships/slide" Target="slides/slide205.xml"/><Relationship Id="rId206" Type="http://schemas.openxmlformats.org/officeDocument/2006/relationships/slide" Target="slides/slide204.xml"/><Relationship Id="rId205" Type="http://schemas.openxmlformats.org/officeDocument/2006/relationships/slide" Target="slides/slide203.xml"/><Relationship Id="rId204" Type="http://schemas.openxmlformats.org/officeDocument/2006/relationships/slide" Target="slides/slide202.xml"/><Relationship Id="rId203" Type="http://schemas.openxmlformats.org/officeDocument/2006/relationships/slide" Target="slides/slide201.xml"/><Relationship Id="rId202" Type="http://schemas.openxmlformats.org/officeDocument/2006/relationships/slide" Target="slides/slide200.xml"/><Relationship Id="rId201" Type="http://schemas.openxmlformats.org/officeDocument/2006/relationships/slide" Target="slides/slide199.xml"/><Relationship Id="rId200" Type="http://schemas.openxmlformats.org/officeDocument/2006/relationships/slide" Target="slides/slide198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9" Type="http://schemas.openxmlformats.org/officeDocument/2006/relationships/slide" Target="slides/slide197.xml"/><Relationship Id="rId198" Type="http://schemas.openxmlformats.org/officeDocument/2006/relationships/slide" Target="slides/slide196.xml"/><Relationship Id="rId197" Type="http://schemas.openxmlformats.org/officeDocument/2006/relationships/slide" Target="slides/slide195.xml"/><Relationship Id="rId196" Type="http://schemas.openxmlformats.org/officeDocument/2006/relationships/slide" Target="slides/slide194.xml"/><Relationship Id="rId195" Type="http://schemas.openxmlformats.org/officeDocument/2006/relationships/slide" Target="slides/slide193.xml"/><Relationship Id="rId194" Type="http://schemas.openxmlformats.org/officeDocument/2006/relationships/slide" Target="slides/slide192.xml"/><Relationship Id="rId193" Type="http://schemas.openxmlformats.org/officeDocument/2006/relationships/slide" Target="slides/slide191.xml"/><Relationship Id="rId192" Type="http://schemas.openxmlformats.org/officeDocument/2006/relationships/slide" Target="slides/slide190.xml"/><Relationship Id="rId191" Type="http://schemas.openxmlformats.org/officeDocument/2006/relationships/slide" Target="slides/slide189.xml"/><Relationship Id="rId190" Type="http://schemas.openxmlformats.org/officeDocument/2006/relationships/slide" Target="slides/slide188.xml"/><Relationship Id="rId19" Type="http://schemas.openxmlformats.org/officeDocument/2006/relationships/slide" Target="slides/slide17.xml"/><Relationship Id="rId189" Type="http://schemas.openxmlformats.org/officeDocument/2006/relationships/slide" Target="slides/slide187.xml"/><Relationship Id="rId188" Type="http://schemas.openxmlformats.org/officeDocument/2006/relationships/slide" Target="slides/slide186.xml"/><Relationship Id="rId187" Type="http://schemas.openxmlformats.org/officeDocument/2006/relationships/slide" Target="slides/slide185.xml"/><Relationship Id="rId186" Type="http://schemas.openxmlformats.org/officeDocument/2006/relationships/slide" Target="slides/slide184.xml"/><Relationship Id="rId185" Type="http://schemas.openxmlformats.org/officeDocument/2006/relationships/slide" Target="slides/slide183.xml"/><Relationship Id="rId184" Type="http://schemas.openxmlformats.org/officeDocument/2006/relationships/slide" Target="slides/slide182.xml"/><Relationship Id="rId183" Type="http://schemas.openxmlformats.org/officeDocument/2006/relationships/slide" Target="slides/slide181.xml"/><Relationship Id="rId182" Type="http://schemas.openxmlformats.org/officeDocument/2006/relationships/slide" Target="slides/slide180.xml"/><Relationship Id="rId181" Type="http://schemas.openxmlformats.org/officeDocument/2006/relationships/slide" Target="slides/slide179.xml"/><Relationship Id="rId180" Type="http://schemas.openxmlformats.org/officeDocument/2006/relationships/slide" Target="slides/slide178.xml"/><Relationship Id="rId18" Type="http://schemas.openxmlformats.org/officeDocument/2006/relationships/slide" Target="slides/slide16.xml"/><Relationship Id="rId179" Type="http://schemas.openxmlformats.org/officeDocument/2006/relationships/slide" Target="slides/slide177.xml"/><Relationship Id="rId178" Type="http://schemas.openxmlformats.org/officeDocument/2006/relationships/slide" Target="slides/slide176.xml"/><Relationship Id="rId177" Type="http://schemas.openxmlformats.org/officeDocument/2006/relationships/slide" Target="slides/slide175.xml"/><Relationship Id="rId176" Type="http://schemas.openxmlformats.org/officeDocument/2006/relationships/slide" Target="slides/slide174.xml"/><Relationship Id="rId175" Type="http://schemas.openxmlformats.org/officeDocument/2006/relationships/slide" Target="slides/slide173.xml"/><Relationship Id="rId174" Type="http://schemas.openxmlformats.org/officeDocument/2006/relationships/slide" Target="slides/slide172.xml"/><Relationship Id="rId173" Type="http://schemas.openxmlformats.org/officeDocument/2006/relationships/slide" Target="slides/slide171.xml"/><Relationship Id="rId172" Type="http://schemas.openxmlformats.org/officeDocument/2006/relationships/slide" Target="slides/slide170.xml"/><Relationship Id="rId171" Type="http://schemas.openxmlformats.org/officeDocument/2006/relationships/slide" Target="slides/slide169.xml"/><Relationship Id="rId170" Type="http://schemas.openxmlformats.org/officeDocument/2006/relationships/slide" Target="slides/slide168.xml"/><Relationship Id="rId17" Type="http://schemas.openxmlformats.org/officeDocument/2006/relationships/slide" Target="slides/slide15.xml"/><Relationship Id="rId169" Type="http://schemas.openxmlformats.org/officeDocument/2006/relationships/slide" Target="slides/slide167.xml"/><Relationship Id="rId168" Type="http://schemas.openxmlformats.org/officeDocument/2006/relationships/slide" Target="slides/slide166.xml"/><Relationship Id="rId167" Type="http://schemas.openxmlformats.org/officeDocument/2006/relationships/slide" Target="slides/slide165.xml"/><Relationship Id="rId166" Type="http://schemas.openxmlformats.org/officeDocument/2006/relationships/slide" Target="slides/slide164.xml"/><Relationship Id="rId165" Type="http://schemas.openxmlformats.org/officeDocument/2006/relationships/slide" Target="slides/slide163.xml"/><Relationship Id="rId164" Type="http://schemas.openxmlformats.org/officeDocument/2006/relationships/slide" Target="slides/slide162.xml"/><Relationship Id="rId163" Type="http://schemas.openxmlformats.org/officeDocument/2006/relationships/slide" Target="slides/slide161.xml"/><Relationship Id="rId162" Type="http://schemas.openxmlformats.org/officeDocument/2006/relationships/slide" Target="slides/slide160.xml"/><Relationship Id="rId161" Type="http://schemas.openxmlformats.org/officeDocument/2006/relationships/slide" Target="slides/slide159.xml"/><Relationship Id="rId160" Type="http://schemas.openxmlformats.org/officeDocument/2006/relationships/slide" Target="slides/slide158.xml"/><Relationship Id="rId16" Type="http://schemas.openxmlformats.org/officeDocument/2006/relationships/slide" Target="slides/slide14.xml"/><Relationship Id="rId159" Type="http://schemas.openxmlformats.org/officeDocument/2006/relationships/slide" Target="slides/slide157.xml"/><Relationship Id="rId158" Type="http://schemas.openxmlformats.org/officeDocument/2006/relationships/slide" Target="slides/slide156.xml"/><Relationship Id="rId157" Type="http://schemas.openxmlformats.org/officeDocument/2006/relationships/slide" Target="slides/slide155.xml"/><Relationship Id="rId156" Type="http://schemas.openxmlformats.org/officeDocument/2006/relationships/slide" Target="slides/slide154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1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1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1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2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200" b="0" strike="noStrike" noProof="1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728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fld id="{149D4C00-D8E5-4109-80F2-A9A68D25C832}" type="datetime1">
              <a:rPr kumimoji="0" lang="zh-CN" altLang="en-US" i="0" strike="noStrike" kern="1200" cap="none" spc="0" normalizeH="0" baseline="0" noProof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96259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260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626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9626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4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C6BF8-A6FA-4DB1-8899-C8AAF9B7C28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6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spcBef>
                <a:spcPct val="0"/>
              </a:spcBef>
              <a:buClrTx/>
              <a:buSzTx/>
              <a:buFontTx/>
              <a:buNone/>
              <a:defRPr kumimoji="0" sz="14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26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fontAlgn="base" hangingPunct="1">
              <a:spcBef>
                <a:spcPct val="0"/>
              </a:spcBef>
              <a:buClrTx/>
            </a:pPr>
            <a:fld id="{9A0DB2DC-4C9A-4742-B13C-FB6460FD3503}" type="slidenum">
              <a:rPr lang="en-US" altLang="zh-CN" sz="1400" b="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400" b="0" strike="noStrike" noProof="1">
              <a:solidFill>
                <a:schemeClr val="tx1"/>
              </a:solidFill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jpe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slide" Target="slide113.xml"/><Relationship Id="rId3" Type="http://schemas.openxmlformats.org/officeDocument/2006/relationships/slide" Target="slide98.xml"/><Relationship Id="rId2" Type="http://schemas.openxmlformats.org/officeDocument/2006/relationships/slide" Target="slide36.xml"/><Relationship Id="rId1" Type="http://schemas.openxmlformats.org/officeDocument/2006/relationships/slide" Target="slide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image" Target="../media/image1.jpeg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1.jpeg"/><Relationship Id="rId3" Type="http://schemas.openxmlformats.org/officeDocument/2006/relationships/slide" Target="slide12.xml"/><Relationship Id="rId2" Type="http://schemas.openxmlformats.org/officeDocument/2006/relationships/slide" Target="slide13.xml"/><Relationship Id="rId1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slide" Target="slide12.xml"/><Relationship Id="rId1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slide" Target="slide12.xml"/><Relationship Id="rId1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9.jpe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slide" Target="slide12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4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image" Target="../media/image1.jpe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35.png"/><Relationship Id="rId1" Type="http://schemas.openxmlformats.org/officeDocument/2006/relationships/image" Target="../media/image34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30.png"/><Relationship Id="rId1" Type="http://schemas.openxmlformats.org/officeDocument/2006/relationships/image" Target="../media/image36.jpe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38.png"/><Relationship Id="rId1" Type="http://schemas.openxmlformats.org/officeDocument/2006/relationships/image" Target="../media/image37.jpe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hemeOverride" Target="../theme/themeOverride1.xml"/><Relationship Id="rId4" Type="http://schemas.openxmlformats.org/officeDocument/2006/relationships/image" Target="../media/image1.jpeg"/><Relationship Id="rId3" Type="http://schemas.openxmlformats.org/officeDocument/2006/relationships/slide" Target="slide36.xml"/><Relationship Id="rId2" Type="http://schemas.openxmlformats.org/officeDocument/2006/relationships/image" Target="../media/image40.jpeg"/><Relationship Id="rId1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png"/><Relationship Id="rId2" Type="http://schemas.microsoft.com/office/2007/relationships/media" Target="file:///D:\video\6&#28909;&#22788;&#29702;\P02.MPG" TargetMode="External"/><Relationship Id="rId1" Type="http://schemas.openxmlformats.org/officeDocument/2006/relationships/video" Target="file:///D:\video\6&#28909;&#22788;&#29702;\P02.MPG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7.jpeg"/><Relationship Id="rId1" Type="http://schemas.openxmlformats.org/officeDocument/2006/relationships/image" Target="../media/image46.jpe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9.jpeg"/><Relationship Id="rId1" Type="http://schemas.openxmlformats.org/officeDocument/2006/relationships/image" Target="../media/image48.jpe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.jpeg"/><Relationship Id="rId7" Type="http://schemas.openxmlformats.org/officeDocument/2006/relationships/tags" Target="../tags/tag15.xml"/><Relationship Id="rId6" Type="http://schemas.openxmlformats.org/officeDocument/2006/relationships/image" Target="../media/image50.png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47.jpe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1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2.GI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3.jpe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slide" Target="slide36.xml"/><Relationship Id="rId1" Type="http://schemas.openxmlformats.org/officeDocument/2006/relationships/image" Target="../media/image54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image" Target="../media/image55.jpeg"/><Relationship Id="rId1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59.jpeg"/><Relationship Id="rId1" Type="http://schemas.openxmlformats.org/officeDocument/2006/relationships/image" Target="../media/image58.jpeg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image" Target="../media/image60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image" Target="../media/image65.jpeg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../media/image64.jpeg"/><Relationship Id="rId3" Type="http://schemas.openxmlformats.org/officeDocument/2006/relationships/tags" Target="../tags/tag18.xml"/><Relationship Id="rId2" Type="http://schemas.openxmlformats.org/officeDocument/2006/relationships/image" Target="../media/image63.jpe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.jpe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image" Target="../media/image66.png"/><Relationship Id="rId1" Type="http://schemas.openxmlformats.org/officeDocument/2006/relationships/tags" Target="../tags/tag17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image" Target="../media/image67.jpe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71.jpeg"/><Relationship Id="rId1" Type="http://schemas.openxmlformats.org/officeDocument/2006/relationships/image" Target="../media/image70.jpeg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75.jpeg"/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image" Target="../media/image72.jpe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6.png"/><Relationship Id="rId2" Type="http://schemas.microsoft.com/office/2007/relationships/media" Target="file:///D:\video\6&#28909;&#22788;&#29702;\M02.MPG" TargetMode="External"/><Relationship Id="rId1" Type="http://schemas.openxmlformats.org/officeDocument/2006/relationships/video" Target="file:///D:\video\6&#28909;&#22788;&#29702;\M02.MPG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77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79.png"/><Relationship Id="rId1" Type="http://schemas.openxmlformats.org/officeDocument/2006/relationships/image" Target="../media/image78.jpeg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image" Target="../media/image1.jpeg"/><Relationship Id="rId1" Type="http://schemas.openxmlformats.org/officeDocument/2006/relationships/image" Target="../media/image80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Relationship Id="rId3" Type="http://schemas.openxmlformats.org/officeDocument/2006/relationships/image" Target="../media/image83.jpeg"/><Relationship Id="rId2" Type="http://schemas.openxmlformats.org/officeDocument/2006/relationships/image" Target="../media/image1.jpeg"/><Relationship Id="rId1" Type="http://schemas.openxmlformats.org/officeDocument/2006/relationships/image" Target="../media/image82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4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5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5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7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8.jpe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89.jpeg"/><Relationship Id="rId1" Type="http://schemas.openxmlformats.org/officeDocument/2006/relationships/image" Target="../media/image88.jpeg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.jpeg"/><Relationship Id="rId1" Type="http://schemas.openxmlformats.org/officeDocument/2006/relationships/image" Target="../media/image90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99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0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3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1.jpe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2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3.jpeg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slide" Target="slide12.xml"/><Relationship Id="rId1" Type="http://schemas.openxmlformats.org/officeDocument/2006/relationships/image" Target="../media/image10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1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2" Type="http://schemas.openxmlformats.org/officeDocument/2006/relationships/image" Target="../media/image1.jpeg"/><Relationship Id="rId1" Type="http://schemas.openxmlformats.org/officeDocument/2006/relationships/image" Target="../media/image105.jpe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6.jpe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6.jpeg"/></Relationships>
</file>

<file path=ppt/slides/_rels/slide10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08.png"/><Relationship Id="rId1" Type="http://schemas.openxmlformats.org/officeDocument/2006/relationships/image" Target="../media/image107.jpe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09.jpeg"/></Relationships>
</file>

<file path=ppt/slides/_rels/slide10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11.jpeg"/><Relationship Id="rId1" Type="http://schemas.openxmlformats.org/officeDocument/2006/relationships/image" Target="../media/image110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9.xml"/><Relationship Id="rId2" Type="http://schemas.openxmlformats.org/officeDocument/2006/relationships/image" Target="../media/image1.jpeg"/><Relationship Id="rId1" Type="http://schemas.openxmlformats.org/officeDocument/2006/relationships/image" Target="../media/image112.jpeg"/></Relationships>
</file>

<file path=ppt/slides/_rels/slide1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slide" Target="slide12.xml"/><Relationship Id="rId1" Type="http://schemas.openxmlformats.org/officeDocument/2006/relationships/image" Target="../media/image115.jpe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slide" Target="slide12.xml"/></Relationships>
</file>

<file path=ppt/slides/_rels/slide1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slide" Target="slide12.xml"/><Relationship Id="rId1" Type="http://schemas.openxmlformats.org/officeDocument/2006/relationships/image" Target="../media/image116.jpe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image" Target="../media/image117.jpe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21.png"/><Relationship Id="rId3" Type="http://schemas.openxmlformats.org/officeDocument/2006/relationships/image" Target="../media/image120.jpeg"/><Relationship Id="rId2" Type="http://schemas.openxmlformats.org/officeDocument/2006/relationships/image" Target="../media/image119.jpeg"/><Relationship Id="rId1" Type="http://schemas.openxmlformats.org/officeDocument/2006/relationships/image" Target="../media/image118.jpeg"/></Relationships>
</file>

<file path=ppt/slides/_rels/slide1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08.png"/><Relationship Id="rId1" Type="http://schemas.openxmlformats.org/officeDocument/2006/relationships/image" Target="../media/image122.jpe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23.jpeg"/></Relationships>
</file>

<file path=ppt/slides/_rels/slide1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25.jpeg"/><Relationship Id="rId1" Type="http://schemas.openxmlformats.org/officeDocument/2006/relationships/image" Target="../media/image124.jpe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.jpe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2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27.jpe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28.jpe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28.jpe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28.jpeg"/></Relationships>
</file>

<file path=ppt/slides/_rels/slide1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8.jpeg"/><Relationship Id="rId2" Type="http://schemas.openxmlformats.org/officeDocument/2006/relationships/image" Target="../media/image1.jpeg"/><Relationship Id="rId1" Type="http://schemas.openxmlformats.org/officeDocument/2006/relationships/image" Target="../media/image129.jpeg"/></Relationships>
</file>

<file path=ppt/slides/_rels/slide1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8.jpeg"/><Relationship Id="rId2" Type="http://schemas.openxmlformats.org/officeDocument/2006/relationships/image" Target="../media/image1.jpeg"/><Relationship Id="rId1" Type="http://schemas.openxmlformats.org/officeDocument/2006/relationships/image" Target="../media/image130.jpe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1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image" Target="../media/image1.jpeg"/><Relationship Id="rId1" Type="http://schemas.openxmlformats.org/officeDocument/2006/relationships/image" Target="../media/image132.jpe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3.png"/><Relationship Id="rId1" Type="http://schemas.openxmlformats.org/officeDocument/2006/relationships/image" Target="../media/image1.jpe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4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5.png"/></Relationships>
</file>

<file path=ppt/slides/_rels/slide1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2.xml"/><Relationship Id="rId2" Type="http://schemas.openxmlformats.org/officeDocument/2006/relationships/image" Target="../media/image1.jpeg"/><Relationship Id="rId1" Type="http://schemas.openxmlformats.org/officeDocument/2006/relationships/image" Target="../media/image13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7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8.jpe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39.jpeg"/></Relationships>
</file>

<file path=ppt/slides/_rels/slide1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42.jpeg"/><Relationship Id="rId2" Type="http://schemas.openxmlformats.org/officeDocument/2006/relationships/image" Target="../media/image141.jpeg"/><Relationship Id="rId1" Type="http://schemas.openxmlformats.org/officeDocument/2006/relationships/image" Target="../media/image140.jpeg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image" Target="../media/image1.jpe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43.png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44.jpe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45.jpe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46.jpe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47.png"/></Relationships>
</file>

<file path=ppt/slides/_rels/slide1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49.jpeg"/><Relationship Id="rId1" Type="http://schemas.openxmlformats.org/officeDocument/2006/relationships/image" Target="../media/image148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49.jpeg"/></Relationships>
</file>

<file path=ppt/slides/_rels/slide1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" Type="http://schemas.openxmlformats.org/officeDocument/2006/relationships/image" Target="../media/image1.jpeg"/><Relationship Id="rId1" Type="http://schemas.openxmlformats.org/officeDocument/2006/relationships/image" Target="../media/image150.jpe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51.jpeg"/></Relationships>
</file>

<file path=ppt/slides/_rels/slide1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.xml"/><Relationship Id="rId2" Type="http://schemas.openxmlformats.org/officeDocument/2006/relationships/image" Target="../media/image1.jpeg"/><Relationship Id="rId1" Type="http://schemas.openxmlformats.org/officeDocument/2006/relationships/image" Target="../media/image151.jpeg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53.jpeg"/><Relationship Id="rId1" Type="http://schemas.openxmlformats.org/officeDocument/2006/relationships/image" Target="../media/image152.jpeg"/></Relationships>
</file>

<file path=ppt/slides/_rels/slide1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55.jpeg"/><Relationship Id="rId1" Type="http://schemas.openxmlformats.org/officeDocument/2006/relationships/image" Target="../media/image154.jpeg"/></Relationships>
</file>

<file path=ppt/slides/_rels/slide1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57.png"/><Relationship Id="rId1" Type="http://schemas.openxmlformats.org/officeDocument/2006/relationships/image" Target="../media/image156.jpeg"/></Relationships>
</file>

<file path=ppt/slides/_rels/slide1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59.png"/><Relationship Id="rId1" Type="http://schemas.openxmlformats.org/officeDocument/2006/relationships/image" Target="../media/image158.png"/></Relationships>
</file>

<file path=ppt/slides/_rels/slide1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61.jpeg"/><Relationship Id="rId1" Type="http://schemas.openxmlformats.org/officeDocument/2006/relationships/image" Target="../media/image160.jpe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63.jpeg"/><Relationship Id="rId1" Type="http://schemas.openxmlformats.org/officeDocument/2006/relationships/image" Target="../media/image162.jpeg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66.GIF"/><Relationship Id="rId2" Type="http://schemas.openxmlformats.org/officeDocument/2006/relationships/image" Target="../media/image165.png"/><Relationship Id="rId1" Type="http://schemas.openxmlformats.org/officeDocument/2006/relationships/image" Target="../media/image164.jpeg"/></Relationships>
</file>

<file path=ppt/slides/_rels/slide17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69.jpeg"/><Relationship Id="rId2" Type="http://schemas.openxmlformats.org/officeDocument/2006/relationships/image" Target="../media/image168.png"/><Relationship Id="rId1" Type="http://schemas.openxmlformats.org/officeDocument/2006/relationships/image" Target="../media/image167.jpeg"/></Relationships>
</file>

<file path=ppt/slides/_rels/slide1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71.jpeg"/><Relationship Id="rId1" Type="http://schemas.openxmlformats.org/officeDocument/2006/relationships/image" Target="../media/image170.jpeg"/></Relationships>
</file>

<file path=ppt/slides/_rels/slide17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image" Target="../media/image175.png"/><Relationship Id="rId3" Type="http://schemas.openxmlformats.org/officeDocument/2006/relationships/image" Target="../media/image174.jpeg"/><Relationship Id="rId2" Type="http://schemas.openxmlformats.org/officeDocument/2006/relationships/image" Target="../media/image173.GIF"/><Relationship Id="rId1" Type="http://schemas.openxmlformats.org/officeDocument/2006/relationships/image" Target="../media/image172.jpeg"/></Relationships>
</file>

<file path=ppt/slides/_rels/slide17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7.jpeg"/><Relationship Id="rId3" Type="http://schemas.openxmlformats.org/officeDocument/2006/relationships/image" Target="../media/image176.jpeg"/><Relationship Id="rId2" Type="http://schemas.microsoft.com/office/2007/relationships/media" Target="file:///D:\video\6&#28909;&#22788;&#29702;\JIGUANG.MPG" TargetMode="External"/><Relationship Id="rId1" Type="http://schemas.openxmlformats.org/officeDocument/2006/relationships/video" Target="file:///D:\video\6&#28909;&#22788;&#29702;\JIGUANG.MPG" TargetMode="Externa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78.jpe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79.jpeg"/></Relationships>
</file>

<file path=ppt/slides/_rels/slide18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81.jpeg"/><Relationship Id="rId1" Type="http://schemas.openxmlformats.org/officeDocument/2006/relationships/image" Target="../media/image180.jpe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2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3.jpe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3.jpe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4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5.jpeg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6.jpe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7.jpeg"/></Relationships>
</file>

<file path=ppt/slides/_rels/slide18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89.jpeg"/><Relationship Id="rId1" Type="http://schemas.openxmlformats.org/officeDocument/2006/relationships/image" Target="../media/image188.jpe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9.jpeg"/></Relationships>
</file>

<file path=ppt/slides/_rels/slide19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91.jpeg"/><Relationship Id="rId1" Type="http://schemas.openxmlformats.org/officeDocument/2006/relationships/image" Target="../media/image190.jpeg"/></Relationships>
</file>

<file path=ppt/slides/_rels/slide1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93.jpeg"/><Relationship Id="rId1" Type="http://schemas.openxmlformats.org/officeDocument/2006/relationships/image" Target="../media/image192.jpeg"/></Relationships>
</file>

<file path=ppt/slides/_rels/slide19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95.jpeg"/><Relationship Id="rId1" Type="http://schemas.openxmlformats.org/officeDocument/2006/relationships/image" Target="../media/image194.jpeg"/></Relationships>
</file>

<file path=ppt/slides/_rels/slide19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6.png"/><Relationship Id="rId2" Type="http://schemas.microsoft.com/office/2007/relationships/media" Target="file:///D:\video\6&#28909;&#22788;&#29702;\HUAXUER2.MPG" TargetMode="External"/><Relationship Id="rId1" Type="http://schemas.openxmlformats.org/officeDocument/2006/relationships/video" Target="file:///D:\video\6&#28909;&#22788;&#29702;\HUAXUER2.MPG" TargetMode="External"/></Relationships>
</file>

<file path=ppt/slides/_rels/slide19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98.png"/><Relationship Id="rId1" Type="http://schemas.openxmlformats.org/officeDocument/2006/relationships/image" Target="../media/image197.jpeg"/></Relationships>
</file>

<file path=ppt/slides/_rels/slide19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00.jpeg"/><Relationship Id="rId1" Type="http://schemas.openxmlformats.org/officeDocument/2006/relationships/image" Target="../media/image199.jpeg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1.jpeg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2.jpe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2.jpe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3.png"/></Relationships>
</file>

<file path=ppt/slides/_rels/slide20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06.jpeg"/><Relationship Id="rId2" Type="http://schemas.openxmlformats.org/officeDocument/2006/relationships/image" Target="../media/image205.png"/><Relationship Id="rId1" Type="http://schemas.openxmlformats.org/officeDocument/2006/relationships/image" Target="../media/image204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7.jpe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8.jpe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9.jpe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9.jpe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10.jpeg"/></Relationships>
</file>

<file path=ppt/slides/_rels/slide20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13.jpeg"/><Relationship Id="rId2" Type="http://schemas.openxmlformats.org/officeDocument/2006/relationships/image" Target="../media/image212.jpeg"/><Relationship Id="rId1" Type="http://schemas.openxmlformats.org/officeDocument/2006/relationships/image" Target="../media/image211.png"/></Relationships>
</file>

<file path=ppt/slides/_rels/slide2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16.jpeg"/><Relationship Id="rId2" Type="http://schemas.openxmlformats.org/officeDocument/2006/relationships/image" Target="../media/image215.png"/><Relationship Id="rId1" Type="http://schemas.openxmlformats.org/officeDocument/2006/relationships/image" Target="../media/image214.jpeg"/></Relationships>
</file>

<file path=ppt/slides/_rels/slide2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18.jpeg"/><Relationship Id="rId1" Type="http://schemas.openxmlformats.org/officeDocument/2006/relationships/image" Target="../media/image217.jpe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19.jpe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20.jpeg"/></Relationships>
</file>

<file path=ppt/slides/_rels/slide2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21.png"/><Relationship Id="rId2" Type="http://schemas.microsoft.com/office/2007/relationships/media" Target="file:///D:\video\6&#28909;&#22788;&#29702;\HUAXUER5.MPG" TargetMode="External"/><Relationship Id="rId1" Type="http://schemas.openxmlformats.org/officeDocument/2006/relationships/video" Target="file:///D:\video\6&#28909;&#22788;&#29702;\HUAXUER5.MPG" TargetMode="External"/></Relationships>
</file>

<file path=ppt/slides/_rels/slide2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23.jpeg"/><Relationship Id="rId1" Type="http://schemas.openxmlformats.org/officeDocument/2006/relationships/image" Target="../media/image222.jpeg"/></Relationships>
</file>

<file path=ppt/slides/_rels/slide2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26.jpeg"/><Relationship Id="rId2" Type="http://schemas.openxmlformats.org/officeDocument/2006/relationships/image" Target="../media/image225.jpeg"/><Relationship Id="rId1" Type="http://schemas.openxmlformats.org/officeDocument/2006/relationships/image" Target="../media/image224.jpeg"/></Relationships>
</file>

<file path=ppt/slides/_rels/slide2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26.jpeg"/><Relationship Id="rId2" Type="http://schemas.openxmlformats.org/officeDocument/2006/relationships/image" Target="../media/image225.jpeg"/><Relationship Id="rId1" Type="http://schemas.openxmlformats.org/officeDocument/2006/relationships/image" Target="../media/image224.jpe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27.jpe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28.png"/></Relationships>
</file>

<file path=ppt/slides/_rels/slide2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30.jpeg"/><Relationship Id="rId1" Type="http://schemas.openxmlformats.org/officeDocument/2006/relationships/image" Target="../media/image229.jpe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31.jpeg"/></Relationships>
</file>

<file path=ppt/slides/_rels/slide2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32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33.png"/></Relationships>
</file>

<file path=ppt/slides/_rels/slide2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35.png"/><Relationship Id="rId1" Type="http://schemas.openxmlformats.org/officeDocument/2006/relationships/image" Target="../media/image234.jpe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36.jpe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37.jpeg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日期占位符 1"/>
          <p:cNvSpPr>
            <a:spLocks noGrp="1"/>
          </p:cNvSpPr>
          <p:nvPr>
            <p:ph type="dt" sz="half" idx="4294967295"/>
          </p:nvPr>
        </p:nvSpPr>
        <p:spPr bwMode="auto">
          <a:xfrm>
            <a:off x="107504" y="6373971"/>
            <a:ext cx="1905000" cy="3914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indent="0" rtl="0">
              <a:defRPr/>
            </a:pPr>
            <a:fld id="{9D72BA9C-FB15-451B-B629-448D83FE2D7B}" type="datetime8">
              <a:rPr lang="en-US" smtClean="0"/>
            </a:fld>
            <a:endParaRPr lang="en-US" altLang="zh-CN" sz="1400" dirty="0"/>
          </a:p>
        </p:txBody>
      </p:sp>
      <p:sp>
        <p:nvSpPr>
          <p:cNvPr id="409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9A0DB2DC-4C9A-4742-B13C-FB6460FD3503}" type="slidenum">
              <a:rPr lang="en-US" altLang="zh-CN" sz="1400" noProof="1" smtClean="0">
                <a:cs typeface="+mn-ea"/>
              </a:rPr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 idx="4294967295"/>
          </p:nvPr>
        </p:nvSpPr>
        <p:spPr>
          <a:xfrm>
            <a:off x="397510" y="288290"/>
            <a:ext cx="8699500" cy="602107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6600" b="1" u="sng" dirty="0">
                <a:solidFill>
                  <a:srgbClr val="FF0000"/>
                </a:solidFill>
              </a:rPr>
              <a:t>U2041170</a:t>
            </a:r>
            <a:br>
              <a:rPr lang="en-US" altLang="zh-CN" b="1" u="sng" dirty="0">
                <a:solidFill>
                  <a:srgbClr val="FF0000"/>
                </a:solidFill>
              </a:rPr>
            </a:br>
            <a:br>
              <a:rPr lang="en-US" altLang="zh-CN" b="1" u="sng" dirty="0">
                <a:solidFill>
                  <a:srgbClr val="FF0000"/>
                </a:solidFill>
              </a:rPr>
            </a:br>
            <a:r>
              <a:rPr lang="en-US" altLang="zh-CN" sz="6600" b="1" u="sng" dirty="0">
                <a:solidFill>
                  <a:srgbClr val="FF0000"/>
                </a:solidFill>
              </a:rPr>
              <a:t>《</a:t>
            </a:r>
            <a:r>
              <a:rPr lang="zh-CN" altLang="en-US" sz="6600" b="1" u="sng" dirty="0">
                <a:solidFill>
                  <a:srgbClr val="FF0000"/>
                </a:solidFill>
              </a:rPr>
              <a:t>工程材料与成型技术</a:t>
            </a:r>
            <a:r>
              <a:rPr lang="en-US" altLang="zh-CN" sz="6600" b="1" u="sng" dirty="0">
                <a:solidFill>
                  <a:srgbClr val="FF0000"/>
                </a:solidFill>
              </a:rPr>
              <a:t>》</a:t>
            </a:r>
            <a:br>
              <a:rPr lang="en-US" altLang="zh-CN" u="sng" dirty="0">
                <a:solidFill>
                  <a:srgbClr val="FF0000"/>
                </a:solidFill>
              </a:rPr>
            </a:b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Engineering </a:t>
            </a:r>
            <a:r>
              <a:rPr lang="en-US" altLang="zh-CN" u="sng" dirty="0">
                <a:solidFill>
                  <a:srgbClr val="FF0000"/>
                </a:solidFill>
              </a:rPr>
              <a:t>Materials and </a:t>
            </a: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Forming</a:t>
            </a:r>
            <a:r>
              <a:rPr lang="en-US" altLang="zh-CN" u="sng" dirty="0">
                <a:solidFill>
                  <a:srgbClr val="FF0000"/>
                </a:solidFill>
              </a:rPr>
              <a:t> Technology </a:t>
            </a:r>
            <a:br>
              <a:rPr lang="en-US" altLang="zh-CN" u="sng" dirty="0">
                <a:solidFill>
                  <a:schemeClr val="hlink"/>
                </a:solidFill>
              </a:rPr>
            </a:br>
            <a:br>
              <a:rPr lang="en-US" altLang="zh-CN" u="sng" dirty="0">
                <a:solidFill>
                  <a:schemeClr val="hlink"/>
                </a:solidFill>
              </a:rPr>
            </a:br>
            <a:r>
              <a:rPr lang="en-US" altLang="zh-CN" b="1" dirty="0">
                <a:solidFill>
                  <a:schemeClr val="hlink"/>
                </a:solidFill>
              </a:rPr>
              <a:t>44+4</a:t>
            </a:r>
            <a:r>
              <a:rPr lang="zh-CN" altLang="en-US" b="1" dirty="0">
                <a:solidFill>
                  <a:schemeClr val="hlink"/>
                </a:solidFill>
              </a:rPr>
              <a:t>学时，</a:t>
            </a:r>
            <a:r>
              <a:rPr lang="en-US" altLang="zh-CN" b="1" dirty="0">
                <a:solidFill>
                  <a:schemeClr val="hlink"/>
                </a:solidFill>
              </a:rPr>
              <a:t>3</a:t>
            </a:r>
            <a:r>
              <a:rPr lang="zh-CN" altLang="en-US" b="1" dirty="0">
                <a:solidFill>
                  <a:schemeClr val="hlink"/>
                </a:solidFill>
              </a:rPr>
              <a:t>学分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pic>
        <p:nvPicPr>
          <p:cNvPr id="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2325" y="6538913"/>
            <a:ext cx="558800" cy="319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2BCAE15-A39C-4F71-A305-11A2890C32E2}" type="slidenum">
              <a: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241935" y="1461135"/>
            <a:ext cx="8759190" cy="505396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仿宋_GB2312"/>
                <a:ea typeface="仿宋_GB2312"/>
                <a:sym typeface="+mn-ea"/>
              </a:rPr>
              <a:t>（钢铁）</a:t>
            </a:r>
            <a:r>
              <a:rPr lang="zh-CN" altLang="en-US" b="1" dirty="0">
                <a:latin typeface="仿宋_GB2312"/>
                <a:ea typeface="仿宋_GB2312"/>
              </a:rPr>
              <a:t>材料的性能是否需要调控？（举例？）</a:t>
            </a:r>
            <a:endParaRPr lang="zh-CN" altLang="en-US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仿宋_GB2312"/>
                <a:ea typeface="仿宋_GB2312"/>
              </a:rPr>
              <a:t>（钢铁）材料的性能能否调控？（途径、方法）</a:t>
            </a:r>
            <a:endParaRPr lang="zh-CN" altLang="en-US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仿宋_GB2312"/>
                <a:ea typeface="仿宋_GB2312"/>
              </a:rPr>
              <a:t>看上去相同的材料，其性能是否一定相同？</a:t>
            </a:r>
            <a:endParaRPr lang="zh-CN" altLang="en-US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latin typeface="仿宋_GB2312"/>
                <a:ea typeface="仿宋_GB2312"/>
              </a:rPr>
              <a:t>同一牌号的钢材，其性能是否固定不变？</a:t>
            </a:r>
            <a:endParaRPr lang="zh-CN" altLang="en-US" b="1" dirty="0">
              <a:latin typeface="仿宋_GB2312"/>
              <a:ea typeface="仿宋_GB2312"/>
            </a:endParaRPr>
          </a:p>
        </p:txBody>
      </p:sp>
      <p:sp>
        <p:nvSpPr>
          <p:cNvPr id="17412" name="Rectangle 6"/>
          <p:cNvSpPr>
            <a:spLocks noGrp="1"/>
          </p:cNvSpPr>
          <p:nvPr>
            <p:ph type="title"/>
          </p:nvPr>
        </p:nvSpPr>
        <p:spPr>
          <a:xfrm>
            <a:off x="1115695" y="188595"/>
            <a:ext cx="7519670" cy="921385"/>
          </a:xfrm>
        </p:spPr>
        <p:txBody>
          <a:bodyPr vert="horz"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思考题</a:t>
            </a: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?</a:t>
            </a:r>
            <a:endParaRPr lang="en-US" altLang="zh-CN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4294967295"/>
          </p:nvPr>
        </p:nvSpPr>
        <p:spPr>
          <a:xfrm>
            <a:off x="139700" y="6515100"/>
            <a:ext cx="1912020" cy="342900"/>
          </a:xfrm>
          <a:prstGeom prst="rect">
            <a:avLst/>
          </a:prstGeom>
        </p:spPr>
        <p:txBody>
          <a:bodyPr anchor="b"/>
          <a:lstStyle/>
          <a:p>
            <a:pPr marL="0" indent="0" eaLnBrk="1" hangingPunct="1">
              <a:spcBef>
                <a:spcPct val="0"/>
              </a:spcBef>
              <a:buClrTx/>
              <a:buSzPct val="100000"/>
              <a:buFont typeface="Arial" panose="020B0604020202020204" pitchFamily="34" charset="0"/>
              <a:buNone/>
            </a:pPr>
            <a:fld id="{BB962C8B-B14F-4D97-AF65-F5344CB8AC3E}" type="datetime8">
              <a:rPr lang="en-US" altLang="zh-CN" sz="1400" dirty="0">
                <a:latin typeface="+mn-lt"/>
                <a:ea typeface="+mn-ea"/>
                <a:cs typeface="+mn-cs"/>
              </a:rPr>
            </a:fld>
            <a:endParaRPr lang="en-US" altLang="zh-CN" sz="14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640" y="476755"/>
            <a:ext cx="8640719" cy="216018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第四章  钢的热处理</a:t>
            </a:r>
            <a:b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Heat</a:t>
            </a:r>
            <a:r>
              <a:rPr kumimoji="1" lang="zh-CN" altLang="zh-CN" sz="6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6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Treatment of Steels</a:t>
            </a:r>
            <a:endParaRPr kumimoji="1" lang="en-US" altLang="zh-CN" sz="60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2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79870"/>
            <a:ext cx="1786255" cy="27813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2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8713" y="6648450"/>
            <a:ext cx="423862" cy="2095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13017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4" descr="DSCN009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0200" y="2564765"/>
            <a:ext cx="4293870" cy="32207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2325" y="6538913"/>
            <a:ext cx="558800" cy="319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2BCAE15-A39C-4F71-A305-11A2890C32E2}" type="slidenum">
              <a: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323850" y="1772816"/>
            <a:ext cx="8820150" cy="475252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latin typeface="仿宋_GB2312"/>
                <a:ea typeface="仿宋_GB2312"/>
              </a:rPr>
              <a:t>热处理工艺的基本概念及主要类型；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latin typeface="仿宋_GB2312"/>
                <a:ea typeface="仿宋_GB2312"/>
              </a:rPr>
              <a:t>热处理工艺的一般工艺过程；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latin typeface="仿宋_GB2312"/>
                <a:ea typeface="仿宋_GB2312"/>
              </a:rPr>
              <a:t>材料在加热阶段和冷却阶段的转变；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latin typeface="仿宋_GB2312"/>
                <a:ea typeface="仿宋_GB2312"/>
              </a:rPr>
              <a:t>影响热处理效果的主要因素及一般规律；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初步掌握</a:t>
            </a:r>
            <a:r>
              <a:rPr lang="zh-CN" altLang="en-US" b="1">
                <a:latin typeface="仿宋_GB2312"/>
                <a:ea typeface="仿宋_GB2312"/>
              </a:rPr>
              <a:t>钢铁材料的常见热处理</a:t>
            </a:r>
            <a:r>
              <a:rPr lang="zh-CN" altLang="en-US" b="1" dirty="0">
                <a:latin typeface="仿宋_GB2312"/>
                <a:ea typeface="仿宋_GB2312"/>
              </a:rPr>
              <a:t>工艺及其典型应用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b="1" dirty="0">
                <a:latin typeface="仿宋_GB2312"/>
                <a:ea typeface="仿宋_GB2312"/>
              </a:rPr>
              <a:t>初步掌握钢铁材料的热处理工艺及</a:t>
            </a:r>
            <a:r>
              <a:rPr lang="zh-CN" altLang="en-US" b="1" dirty="0">
                <a:latin typeface="仿宋_GB2312"/>
                <a:ea typeface="仿宋_GB2312"/>
              </a:rPr>
              <a:t>其</a:t>
            </a:r>
            <a:r>
              <a:rPr lang="zh-CN" altLang="zh-CN" b="1" dirty="0">
                <a:latin typeface="仿宋_GB2312"/>
                <a:ea typeface="仿宋_GB2312"/>
              </a:rPr>
              <a:t>典型应用</a:t>
            </a:r>
            <a:endParaRPr lang="zh-CN" altLang="en-US" b="1" dirty="0">
              <a:latin typeface="仿宋_GB2312"/>
              <a:ea typeface="仿宋_GB2312"/>
            </a:endParaRPr>
          </a:p>
        </p:txBody>
      </p:sp>
      <p:sp>
        <p:nvSpPr>
          <p:cNvPr id="17412" name="Rectangle 6"/>
          <p:cNvSpPr>
            <a:spLocks noGrp="1"/>
          </p:cNvSpPr>
          <p:nvPr>
            <p:ph type="title"/>
          </p:nvPr>
        </p:nvSpPr>
        <p:spPr>
          <a:xfrm>
            <a:off x="1187450" y="22860"/>
            <a:ext cx="7519670" cy="1534160"/>
          </a:xfrm>
        </p:spPr>
        <p:txBody>
          <a:bodyPr vert="horz"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本章主要教学目标</a:t>
            </a:r>
            <a:b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Learning Objectives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4294967295"/>
          </p:nvPr>
        </p:nvSpPr>
        <p:spPr>
          <a:xfrm>
            <a:off x="139700" y="6515100"/>
            <a:ext cx="1912020" cy="342900"/>
          </a:xfrm>
          <a:prstGeom prst="rect">
            <a:avLst/>
          </a:prstGeom>
        </p:spPr>
        <p:txBody>
          <a:bodyPr anchor="b"/>
          <a:lstStyle/>
          <a:p>
            <a:pPr marL="0" indent="0" eaLnBrk="1" hangingPunct="1">
              <a:spcBef>
                <a:spcPct val="0"/>
              </a:spcBef>
              <a:buClrTx/>
              <a:buSzPct val="100000"/>
              <a:buFont typeface="Arial" panose="020B0604020202020204" pitchFamily="34" charset="0"/>
              <a:buNone/>
            </a:pPr>
            <a:fld id="{BB962C8B-B14F-4D97-AF65-F5344CB8AC3E}" type="datetime8">
              <a:rPr lang="en-US" altLang="zh-CN" sz="1400" dirty="0">
                <a:latin typeface="+mn-lt"/>
                <a:ea typeface="+mn-ea"/>
                <a:cs typeface="+mn-cs"/>
              </a:rPr>
            </a:fld>
            <a:endParaRPr lang="en-US" altLang="zh-CN" sz="14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5570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dvAuto="100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9"/>
          <p:cNvSpPr>
            <a:spLocks noGrp="1"/>
          </p:cNvSpPr>
          <p:nvPr>
            <p:ph type="sldNum" sz="quarter" idx="4"/>
          </p:nvPr>
        </p:nvSpPr>
        <p:spPr>
          <a:xfrm>
            <a:off x="8642350" y="6535738"/>
            <a:ext cx="423863" cy="3603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42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 vert="horz" wrap="square" lIns="92075" tIns="46038" rIns="92075" bIns="46038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sz="quarter" idx="1"/>
          </p:nvPr>
        </p:nvSpPr>
        <p:spPr/>
        <p:txBody>
          <a:bodyPr wrap="square" lIns="92075" tIns="46038" rIns="92075" bIns="46038" anchor="ctr"/>
          <a:lstStyle/>
          <a:p>
            <a:pPr eaLnBrk="1" hangingPunct="1">
              <a:buSzPct val="80000"/>
              <a:buFont typeface="Wingdings" panose="05000000000000000000" pitchFamily="2" charset="2"/>
            </a:pPr>
            <a:endParaRPr kumimoji="1" lang="zh-CN" altLang="zh-CN" dirty="0">
              <a:latin typeface="+mn-lt"/>
              <a:ea typeface="+mn-ea"/>
              <a:cs typeface="+mn-cs"/>
            </a:endParaRPr>
          </a:p>
        </p:txBody>
      </p:sp>
      <p:pic>
        <p:nvPicPr>
          <p:cNvPr id="4100" name="Picture 4" descr="DSCN009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87718" y="942135"/>
            <a:ext cx="7200600" cy="5400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1" name="日期占位符 1"/>
          <p:cNvSpPr>
            <a:spLocks noGrp="1"/>
          </p:cNvSpPr>
          <p:nvPr>
            <p:ph type="dt" sz="quarter" idx="2"/>
          </p:nvPr>
        </p:nvSpPr>
        <p:spPr>
          <a:xfrm>
            <a:off x="66675" y="653573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017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8200" y="6591300"/>
            <a:ext cx="746125" cy="29527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5124" name="Picture 4" descr="DSCN009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09663" y="831850"/>
            <a:ext cx="6924675" cy="5194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日期占位符 1"/>
          <p:cNvSpPr>
            <a:spLocks noGrp="1"/>
          </p:cNvSpPr>
          <p:nvPr>
            <p:ph type="dt" sz="half" idx="10"/>
          </p:nvPr>
        </p:nvSpPr>
        <p:spPr>
          <a:xfrm>
            <a:off x="34290" y="6591300"/>
            <a:ext cx="1786255" cy="29527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017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05850" y="6602413"/>
            <a:ext cx="423863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6148" name="Picture 4" descr="DSCN0097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09663" y="831850"/>
            <a:ext cx="6924675" cy="5194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9" name="日期占位符 1"/>
          <p:cNvSpPr>
            <a:spLocks noGrp="1"/>
          </p:cNvSpPr>
          <p:nvPr>
            <p:ph type="dt" sz="half" idx="10"/>
          </p:nvPr>
        </p:nvSpPr>
        <p:spPr>
          <a:xfrm>
            <a:off x="12700" y="653605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017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05850" y="6615113"/>
            <a:ext cx="44450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7172" name="Picture 5" descr="DSCN0120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74850" y="-33337"/>
            <a:ext cx="5194300" cy="6924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3" name="日期占位符 1"/>
          <p:cNvSpPr>
            <a:spLocks noGrp="1"/>
          </p:cNvSpPr>
          <p:nvPr>
            <p:ph type="dt" sz="half" idx="10"/>
          </p:nvPr>
        </p:nvSpPr>
        <p:spPr>
          <a:xfrm>
            <a:off x="34925" y="654843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017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8713" y="6648450"/>
            <a:ext cx="423862" cy="2095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8196" name="Picture 4" descr="DSCN011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09663" y="831850"/>
            <a:ext cx="6924675" cy="5194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24625"/>
            <a:ext cx="1785938" cy="24765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640" y="476755"/>
            <a:ext cx="8640719" cy="216018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第四章  钢的热处理</a:t>
            </a:r>
            <a:b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Heat</a:t>
            </a:r>
            <a:r>
              <a:rPr kumimoji="1" lang="zh-CN" altLang="zh-CN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 </a:t>
            </a:r>
            <a:r>
              <a:rPr kumimoji="1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Treatment of Steels</a:t>
            </a:r>
            <a:endParaRPr kumimoji="1" lang="en-US" altLang="zh-CN" sz="5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22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79870"/>
            <a:ext cx="1786255" cy="27813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2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8713" y="6648450"/>
            <a:ext cx="423862" cy="2095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13017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4" descr="DSCN009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67808" y="2564928"/>
            <a:ext cx="4896408" cy="367230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840" y="116840"/>
            <a:ext cx="7101205" cy="82931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第四章  钢的热处理</a:t>
            </a:r>
            <a:endParaRPr kumimoji="1" lang="zh-CN" altLang="en-US" sz="5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4451" name="Rectangle 3"/>
          <p:cNvSpPr>
            <a:spLocks noGrp="1"/>
          </p:cNvSpPr>
          <p:nvPr>
            <p:ph type="body" sz="half"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改善钢的性能，主要有两条途径：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(1)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合金化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(2)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22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79870"/>
            <a:ext cx="1786255" cy="27813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2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8713" y="6648450"/>
            <a:ext cx="423862" cy="2095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Picture 4" descr="DSCN009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29906" y="2132892"/>
            <a:ext cx="3528294" cy="3672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bldLvl="0" animBg="1"/>
      <p:bldP spid="104451" grpId="0" advAuto="100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28075" y="6613525"/>
            <a:ext cx="41275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9810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内容提要</a:t>
            </a:r>
            <a:endParaRPr kumimoji="1" lang="zh-CN" altLang="en-US" sz="5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684213" y="1341438"/>
            <a:ext cx="7772400" cy="496887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C6F7F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第一节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概述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6F7F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第二节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1" action="ppaction://hlinksldjump"/>
              </a:rPr>
              <a:t>钢在加热时的转变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6F7F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第三节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2" action="ppaction://hlinksldjump"/>
              </a:rPr>
              <a:t>钢在冷却时的转变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6F7F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第四节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3" action="ppaction://hlinksldjump"/>
              </a:rPr>
              <a:t>钢的退火与正火</a:t>
            </a:r>
            <a:r>
              <a:rPr lang="zh-CN" altLang="en-US" dirty="0">
                <a:solidFill>
                  <a:schemeClr val="folHlink"/>
                </a:solidFill>
                <a:hlinkClick r:id="rId3" action="ppaction://hlinksldjump"/>
              </a:rPr>
              <a:t> 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6F7F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第五节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hlinkClick r:id="rId4" action="ppaction://hlinksldjump"/>
              </a:rPr>
              <a:t>钢的淬火与回火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6F7F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第六节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钢的表面热处理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6F7F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第七节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金属材料表面处理新技术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24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68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72513" y="6602413"/>
            <a:ext cx="46672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670" y="1772862"/>
            <a:ext cx="7772400" cy="309625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第一节  </a:t>
            </a: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热处理</a:t>
            </a: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概述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Overview on Heat Treatment</a:t>
            </a:r>
            <a:endParaRPr kumimoji="1" lang="zh-CN" altLang="en-US" sz="66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6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573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29248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72513" y="6602413"/>
            <a:ext cx="46672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第一节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热处理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概述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定义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意义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热处理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适用范围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分类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临界温度</a:t>
            </a:r>
            <a:r>
              <a:rPr lang="zh-CN" altLang="en-US" b="1" dirty="0">
                <a:solidFill>
                  <a:schemeClr val="tx2"/>
                </a:solidFill>
              </a:rPr>
              <a:t>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实际转变温度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126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573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67750" y="6591300"/>
            <a:ext cx="47625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0"/>
            <a:ext cx="6980238" cy="9461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、热处理的定义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96975"/>
            <a:ext cx="8496300" cy="2493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热处理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 :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是指将钢在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固态下加热、保温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冷却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以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改变钢的组织结构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,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获得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所需要性能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一种工艺。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105476" name="Picture 4" descr="6-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292725" y="3213100"/>
            <a:ext cx="3851275" cy="2473325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395288" y="3505200"/>
            <a:ext cx="4752975" cy="287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为简明表示热处理的基本工艺过程，通常用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温度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—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时间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坐标绘出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热处理工艺曲线。  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229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91300"/>
            <a:ext cx="1785938" cy="27622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746760" y="1379220"/>
            <a:ext cx="137287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热处理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" grpId="0"/>
      <p:bldP spid="105475" grpId="0" advAuto="1000" build="p"/>
      <p:bldP spid="1054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86788" y="6602413"/>
            <a:ext cx="520700" cy="2841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92275" y="0"/>
            <a:ext cx="65484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、热处理的意义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214313" y="1025525"/>
            <a:ext cx="7048500" cy="540385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一种重要的加工工艺，</a:t>
            </a:r>
            <a:r>
              <a:rPr lang="zh-CN" altLang="en-US" b="1" dirty="0">
                <a:ea typeface="华文中宋" panose="02010600040101010101" pitchFamily="2" charset="-122"/>
              </a:rPr>
              <a:t>在制造业被广泛应用。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在机床制造中</a:t>
            </a:r>
            <a:r>
              <a:rPr lang="zh-CN" altLang="en-US" b="1" dirty="0">
                <a:ea typeface="华文中宋" panose="02010600040101010101" pitchFamily="2" charset="-122"/>
              </a:rPr>
              <a:t>约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60~70%</a:t>
            </a:r>
            <a:r>
              <a:rPr lang="zh-CN" altLang="en-US" b="1" dirty="0">
                <a:ea typeface="华文中宋" panose="02010600040101010101" pitchFamily="2" charset="-122"/>
              </a:rPr>
              <a:t>的零件要经过热处理。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在汽车、拖拉机制造业中</a:t>
            </a:r>
            <a:r>
              <a:rPr lang="zh-CN" altLang="en-US" b="1" dirty="0">
                <a:ea typeface="华文中宋" panose="02010600040101010101" pitchFamily="2" charset="-122"/>
              </a:rPr>
              <a:t>需热处理的零件达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70~80 %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模具、滚动轴承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100%</a:t>
            </a:r>
            <a:r>
              <a:rPr lang="zh-CN" altLang="en-US" b="1" dirty="0">
                <a:ea typeface="华文中宋" panose="02010600040101010101" pitchFamily="2" charset="-122"/>
              </a:rPr>
              <a:t>需经过热处理。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重要零件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都需适当热处理后才能使用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r>
              <a:rPr lang="zh-CN" altLang="en-US" sz="2400" b="1" dirty="0">
                <a:solidFill>
                  <a:srgbClr val="99FFCC"/>
                </a:solidFill>
                <a:ea typeface="华文中宋" panose="02010600040101010101" pitchFamily="2" charset="-122"/>
              </a:rPr>
              <a:t> </a:t>
            </a:r>
            <a:endParaRPr lang="zh-CN" altLang="en-US" sz="2400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7263130" y="1435735"/>
            <a:ext cx="1938020" cy="4535170"/>
            <a:chOff x="3600" y="288"/>
            <a:chExt cx="1862" cy="3808"/>
          </a:xfrm>
        </p:grpSpPr>
        <p:pic>
          <p:nvPicPr>
            <p:cNvPr id="13317" name="Picture 5" descr="齿轮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48" y="288"/>
              <a:ext cx="1814" cy="1987"/>
            </a:xfrm>
            <a:prstGeom prst="rect">
              <a:avLst/>
            </a:prstGeom>
            <a:noFill/>
            <a:ln w="28575" cap="flat" cmpd="sng">
              <a:solidFill>
                <a:srgbClr val="00FF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13318" name="Group 6"/>
            <p:cNvGrpSpPr/>
            <p:nvPr/>
          </p:nvGrpSpPr>
          <p:grpSpPr>
            <a:xfrm>
              <a:off x="3600" y="2352"/>
              <a:ext cx="1862" cy="1744"/>
              <a:chOff x="3552" y="2352"/>
              <a:chExt cx="1862" cy="1744"/>
            </a:xfrm>
          </p:grpSpPr>
          <p:pic>
            <p:nvPicPr>
              <p:cNvPr id="13319" name="Picture 7" descr="b05轴承1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600" y="2352"/>
                <a:ext cx="1814" cy="1744"/>
              </a:xfrm>
              <a:prstGeom prst="rect">
                <a:avLst/>
              </a:prstGeom>
              <a:noFill/>
              <a:ln w="28575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3320" name="Text Box 8"/>
              <p:cNvSpPr txBox="1"/>
              <p:nvPr/>
            </p:nvSpPr>
            <p:spPr>
              <a:xfrm>
                <a:off x="3552" y="2352"/>
                <a:ext cx="720" cy="4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滚动轴承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332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36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2188" y="6602413"/>
            <a:ext cx="531812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2275" y="0"/>
            <a:ext cx="640556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、热处理的特点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179705" y="1043305"/>
            <a:ext cx="6847840" cy="39497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</a:t>
            </a:r>
            <a:r>
              <a:rPr lang="zh-CN" altLang="en-US" b="1" dirty="0">
                <a:ea typeface="华文中宋" panose="02010600040101010101" pitchFamily="2" charset="-122"/>
              </a:rPr>
              <a:t>只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通过改变工件的组织</a:t>
            </a:r>
            <a:r>
              <a:rPr lang="zh-CN" altLang="en-US" b="1" dirty="0">
                <a:ea typeface="华文中宋" panose="02010600040101010101" pitchFamily="2" charset="-122"/>
              </a:rPr>
              <a:t>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改变性能，</a:t>
            </a:r>
            <a:r>
              <a:rPr lang="zh-CN" altLang="en-US" b="1" dirty="0">
                <a:ea typeface="华文中宋" panose="02010600040101010101" pitchFamily="2" charset="-122"/>
              </a:rPr>
              <a:t>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不改变其形状（一般也不改变成分）。（</a:t>
            </a:r>
            <a:r>
              <a:rPr lang="zh-CN" altLang="en-US" b="1" dirty="0">
                <a:ea typeface="华文中宋" panose="02010600040101010101" pitchFamily="2" charset="-122"/>
              </a:rPr>
              <a:t>区别于其他加工工艺如铸造、压力加工等的特点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800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endParaRPr lang="zh-CN" altLang="en-US" sz="2800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14340" name="Group 12"/>
          <p:cNvGrpSpPr/>
          <p:nvPr/>
        </p:nvGrpSpPr>
        <p:grpSpPr>
          <a:xfrm>
            <a:off x="7421245" y="1158875"/>
            <a:ext cx="1508760" cy="1197946"/>
            <a:chOff x="3742" y="890"/>
            <a:chExt cx="1734" cy="1318"/>
          </a:xfrm>
        </p:grpSpPr>
        <p:pic>
          <p:nvPicPr>
            <p:cNvPr id="14341" name="Picture 6" descr="铸造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742" y="890"/>
              <a:ext cx="1734" cy="1310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342" name="Text Box 7"/>
            <p:cNvSpPr txBox="1">
              <a:spLocks noChangeAspect="1"/>
            </p:cNvSpPr>
            <p:nvPr/>
          </p:nvSpPr>
          <p:spPr>
            <a:xfrm>
              <a:off x="5103" y="1430"/>
              <a:ext cx="317" cy="77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铸造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343" name="Group 8"/>
          <p:cNvGrpSpPr>
            <a:grpSpLocks noChangeAspect="1"/>
          </p:cNvGrpSpPr>
          <p:nvPr/>
        </p:nvGrpSpPr>
        <p:grpSpPr>
          <a:xfrm>
            <a:off x="7372350" y="2420620"/>
            <a:ext cx="1564005" cy="1031875"/>
            <a:chOff x="336" y="2400"/>
            <a:chExt cx="2546" cy="1586"/>
          </a:xfrm>
        </p:grpSpPr>
        <p:pic>
          <p:nvPicPr>
            <p:cNvPr id="14344" name="Picture 9" descr="image03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" y="2400"/>
              <a:ext cx="2546" cy="1586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4345" name="Text Box 10"/>
            <p:cNvSpPr txBox="1">
              <a:spLocks noChangeAspect="1"/>
            </p:cNvSpPr>
            <p:nvPr/>
          </p:nvSpPr>
          <p:spPr>
            <a:xfrm>
              <a:off x="336" y="3469"/>
              <a:ext cx="1443" cy="4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anchor="t">
              <a:noAutofit/>
            </a:bodyPr>
            <a:lstStyle/>
            <a:p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轧制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4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573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661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6" name="Picture 6" descr="20SiMnTi⑴940淬+220回（板条M回+A'少）⑵⑶⑷940淬+820、780、750淬（板条M+条状F+A'少）⑸940淬780淬+220回（板条M回+条状F+A'少）⑹780淬+220回（板条M回+块状F）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5650" y="3760470"/>
            <a:ext cx="7580630" cy="2188845"/>
          </a:xfrm>
          <a:prstGeom prst="rect">
            <a:avLst/>
          </a:prstGeom>
          <a:noFill/>
          <a:ln w="28575">
            <a:noFill/>
          </a:ln>
        </p:spPr>
      </p:pic>
      <p:sp>
        <p:nvSpPr>
          <p:cNvPr id="15371" name="Text Box 7"/>
          <p:cNvSpPr txBox="1">
            <a:spLocks noChangeAspect="1" noChangeArrowheads="1"/>
          </p:cNvSpPr>
          <p:nvPr/>
        </p:nvSpPr>
        <p:spPr bwMode="auto">
          <a:xfrm>
            <a:off x="683260" y="5506720"/>
            <a:ext cx="7684770" cy="101663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R="0" defTabSz="914400" rtl="0">
              <a:lnSpc>
                <a:spcPct val="12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(a)940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淬火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+220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回火 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板条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1400" kern="1200" cap="none" spc="0" normalizeH="0" baseline="-2500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回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+A‘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少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 (b)(c)(d)940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淬火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+820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780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750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淬火 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板条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M+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条状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F+A’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少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(e)940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淬火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+780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淬火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+220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回火（板条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1400" kern="1200" cap="none" spc="0" normalizeH="0" baseline="-2500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回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条状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F+A‘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少）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(f)780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淬火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+220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回火（板条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zh-CN" altLang="en-US" sz="1400" kern="1200" cap="none" spc="0" normalizeH="0" baseline="-2500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回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块状</a:t>
            </a:r>
            <a:r>
              <a:rPr kumimoji="1" lang="en-US" altLang="zh-CN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zh-CN" altLang="en-US" sz="1400" kern="1200" cap="none" spc="0" normalizeH="0" baseline="0" noProof="0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ctr" defTabSz="914400" rtl="0">
              <a:lnSpc>
                <a:spcPct val="60000"/>
              </a:lnSpc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1400" kern="1200" cap="none" spc="0" normalizeH="0" baseline="0" noProof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000" kern="1200" cap="none" spc="0" normalizeH="0" baseline="0" noProof="0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cs"/>
              </a:rPr>
              <a:t>20CrMnTi</a:t>
            </a:r>
            <a:r>
              <a:rPr kumimoji="1" lang="zh-CN" altLang="en-US" sz="2000" kern="1200" cap="none" spc="0" normalizeH="0" baseline="0" noProof="0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cs"/>
              </a:rPr>
              <a:t>钢不同热处理工艺的显微组织</a:t>
            </a:r>
            <a:endParaRPr kumimoji="1" lang="zh-CN" altLang="en-US" sz="2000" kern="1200" cap="none" spc="0" normalizeH="0" baseline="0" noProof="0" dirty="0">
              <a:solidFill>
                <a:srgbClr val="FF0000"/>
              </a:solidFill>
              <a:latin typeface="+mn-lt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62988" y="6613525"/>
            <a:ext cx="49847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1571625" y="0"/>
            <a:ext cx="6500813" cy="952500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en-US" altLang="zh-CN" b="1" strike="noStrike" noProof="1">
                <a:solidFill>
                  <a:srgbClr val="FF0000"/>
                </a:solidFill>
              </a:rPr>
              <a:t>4</a:t>
            </a:r>
            <a:r>
              <a:rPr lang="zh-CN" altLang="en-US" b="1" strike="noStrike" noProof="1">
                <a:solidFill>
                  <a:srgbClr val="FF0000"/>
                </a:solidFill>
              </a:rPr>
              <a:t>、热处理的适用范围</a:t>
            </a:r>
            <a:endParaRPr lang="zh-CN" altLang="en-US" b="1" strike="noStrike" noProof="1">
              <a:solidFill>
                <a:srgbClr val="FF0000"/>
              </a:solidFill>
            </a:endParaRPr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只适用于固态下</a:t>
            </a:r>
            <a:r>
              <a:rPr lang="zh-CN" altLang="en-US" b="1" dirty="0"/>
              <a:t>发生</a:t>
            </a:r>
            <a:r>
              <a:rPr lang="zh-CN" altLang="en-US" b="1" dirty="0">
                <a:solidFill>
                  <a:schemeClr val="folHlink"/>
                </a:solidFill>
              </a:rPr>
              <a:t>相变</a:t>
            </a:r>
            <a:r>
              <a:rPr lang="zh-CN" altLang="en-US" b="1" dirty="0"/>
              <a:t>的材料，不发生</a:t>
            </a:r>
            <a:r>
              <a:rPr lang="zh-CN" altLang="en-US" b="1" dirty="0">
                <a:solidFill>
                  <a:schemeClr val="folHlink"/>
                </a:solidFill>
              </a:rPr>
              <a:t>固态相变</a:t>
            </a:r>
            <a:r>
              <a:rPr lang="zh-CN" altLang="en-US" b="1" dirty="0"/>
              <a:t>的材料不能用热处理强化。</a:t>
            </a:r>
            <a:endParaRPr lang="zh-CN" altLang="en-US" b="1" dirty="0"/>
          </a:p>
        </p:txBody>
      </p:sp>
      <p:sp>
        <p:nvSpPr>
          <p:cNvPr id="1638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68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28050" y="6591300"/>
            <a:ext cx="617538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75" y="0"/>
            <a:ext cx="6386931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5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、热处理分类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热处理原理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描述热处理时钢中组织转变的规律。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热处理工艺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根据热处理原理制定的温度、时间、介质等参数。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7413" name="日期占位符 1"/>
          <p:cNvSpPr>
            <a:spLocks noGrp="1"/>
          </p:cNvSpPr>
          <p:nvPr>
            <p:ph type="dt" sz="half" idx="10"/>
          </p:nvPr>
        </p:nvSpPr>
        <p:spPr>
          <a:xfrm>
            <a:off x="71438" y="6524625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1115695" y="2060575"/>
            <a:ext cx="202692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热处理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原理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1115695" y="3838575"/>
            <a:ext cx="202692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热处理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工艺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2500" y="6581775"/>
            <a:ext cx="57150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6336131" cy="9747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6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、热处理工艺分类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23850" y="1353185"/>
            <a:ext cx="8801100" cy="5286375"/>
            <a:chOff x="216" y="823"/>
            <a:chExt cx="5544" cy="3330"/>
          </a:xfrm>
        </p:grpSpPr>
        <p:sp>
          <p:nvSpPr>
            <p:cNvPr id="18437" name="Text Box 5"/>
            <p:cNvSpPr txBox="1"/>
            <p:nvPr/>
          </p:nvSpPr>
          <p:spPr>
            <a:xfrm>
              <a:off x="2256" y="1968"/>
              <a:ext cx="35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表面淬火</a:t>
              </a:r>
              <a:r>
                <a:rPr lang="en-US" altLang="zh-CN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—</a:t>
              </a: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感应加热、火焰加热、</a:t>
              </a:r>
              <a:endPara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18438" name="Group 6"/>
            <p:cNvGrpSpPr/>
            <p:nvPr/>
          </p:nvGrpSpPr>
          <p:grpSpPr>
            <a:xfrm>
              <a:off x="216" y="823"/>
              <a:ext cx="5400" cy="3330"/>
              <a:chOff x="216" y="823"/>
              <a:chExt cx="5400" cy="3330"/>
            </a:xfrm>
          </p:grpSpPr>
          <p:sp>
            <p:nvSpPr>
              <p:cNvPr id="18439" name="Text Box 7"/>
              <p:cNvSpPr txBox="1"/>
              <p:nvPr/>
            </p:nvSpPr>
            <p:spPr>
              <a:xfrm>
                <a:off x="996" y="3432"/>
                <a:ext cx="126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其他热处理</a:t>
                </a:r>
                <a:endPara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8440" name="Text Box 8"/>
              <p:cNvSpPr txBox="1"/>
              <p:nvPr/>
            </p:nvSpPr>
            <p:spPr>
              <a:xfrm>
                <a:off x="1008" y="1212"/>
                <a:ext cx="145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普通热处理</a:t>
                </a:r>
                <a:endPara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8441" name="Text Box 9"/>
              <p:cNvSpPr txBox="1"/>
              <p:nvPr/>
            </p:nvSpPr>
            <p:spPr>
              <a:xfrm>
                <a:off x="996" y="2232"/>
                <a:ext cx="129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表面热处理</a:t>
                </a:r>
                <a:endPara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8442" name="Text Box 10"/>
              <p:cNvSpPr txBox="1"/>
              <p:nvPr/>
            </p:nvSpPr>
            <p:spPr>
              <a:xfrm>
                <a:off x="216" y="2340"/>
                <a:ext cx="864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热处理</a:t>
                </a:r>
                <a:endPara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8443" name="AutoShape 11"/>
              <p:cNvSpPr/>
              <p:nvPr/>
            </p:nvSpPr>
            <p:spPr>
              <a:xfrm>
                <a:off x="960" y="1260"/>
                <a:ext cx="96" cy="2480"/>
              </a:xfrm>
              <a:prstGeom prst="leftBrace">
                <a:avLst>
                  <a:gd name="adj1" fmla="val 215158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44" name="Text Box 12"/>
              <p:cNvSpPr txBox="1"/>
              <p:nvPr/>
            </p:nvSpPr>
            <p:spPr>
              <a:xfrm>
                <a:off x="2250" y="823"/>
                <a:ext cx="684" cy="11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退火正火淬火回火</a:t>
                </a:r>
                <a:endPara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8445" name="AutoShape 13"/>
              <p:cNvSpPr/>
              <p:nvPr/>
            </p:nvSpPr>
            <p:spPr>
              <a:xfrm>
                <a:off x="2208" y="888"/>
                <a:ext cx="96" cy="984"/>
              </a:xfrm>
              <a:prstGeom prst="leftBrace">
                <a:avLst>
                  <a:gd name="adj1" fmla="val 85369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46" name="Text Box 14"/>
              <p:cNvSpPr txBox="1"/>
              <p:nvPr/>
            </p:nvSpPr>
            <p:spPr>
              <a:xfrm>
                <a:off x="2280" y="3288"/>
                <a:ext cx="1272" cy="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真空热处理形变热处理激光热处理</a:t>
                </a:r>
                <a:endPara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8447" name="Text Box 15"/>
              <p:cNvSpPr txBox="1"/>
              <p:nvPr/>
            </p:nvSpPr>
            <p:spPr>
              <a:xfrm>
                <a:off x="2280" y="3024"/>
                <a:ext cx="187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控制气氛热处理</a:t>
                </a:r>
                <a:endPara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8448" name="AutoShape 16"/>
              <p:cNvSpPr/>
              <p:nvPr/>
            </p:nvSpPr>
            <p:spPr>
              <a:xfrm>
                <a:off x="2208" y="3120"/>
                <a:ext cx="96" cy="984"/>
              </a:xfrm>
              <a:prstGeom prst="leftBrace">
                <a:avLst>
                  <a:gd name="adj1" fmla="val 85369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49" name="AutoShape 17"/>
              <p:cNvSpPr/>
              <p:nvPr/>
            </p:nvSpPr>
            <p:spPr>
              <a:xfrm>
                <a:off x="2208" y="2028"/>
                <a:ext cx="96" cy="735"/>
              </a:xfrm>
              <a:prstGeom prst="leftBrace">
                <a:avLst>
                  <a:gd name="adj1" fmla="val 63766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50" name="Text Box 18"/>
              <p:cNvSpPr txBox="1"/>
              <p:nvPr/>
            </p:nvSpPr>
            <p:spPr>
              <a:xfrm>
                <a:off x="3384" y="2208"/>
                <a:ext cx="158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24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电接触加热等</a:t>
                </a:r>
                <a:endPara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18451" name="Text Box 19"/>
              <p:cNvSpPr txBox="1"/>
              <p:nvPr/>
            </p:nvSpPr>
            <p:spPr>
              <a:xfrm>
                <a:off x="2256" y="2472"/>
                <a:ext cx="336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化学热处理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—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渗碳、氮化、碳氮</a:t>
                </a:r>
                <a:endPara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18452" name="Text Box 20"/>
            <p:cNvSpPr txBox="1"/>
            <p:nvPr/>
          </p:nvSpPr>
          <p:spPr>
            <a:xfrm>
              <a:off x="3396" y="2700"/>
              <a:ext cx="2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共渗、渗其他元素等</a:t>
              </a:r>
              <a:endPara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8454" name="日期占位符 1"/>
          <p:cNvSpPr>
            <a:spLocks noGrp="1"/>
          </p:cNvSpPr>
          <p:nvPr>
            <p:ph type="dt" sz="half" idx="10"/>
          </p:nvPr>
        </p:nvSpPr>
        <p:spPr>
          <a:xfrm>
            <a:off x="-71437" y="65151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4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2500" y="6581775"/>
            <a:ext cx="57150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6336131" cy="9747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6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、热处理工艺分类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454" name="日期占位符 1"/>
          <p:cNvSpPr>
            <a:spLocks noGrp="1"/>
          </p:cNvSpPr>
          <p:nvPr>
            <p:ph type="dt" sz="half" idx="10"/>
          </p:nvPr>
        </p:nvSpPr>
        <p:spPr>
          <a:xfrm>
            <a:off x="-71437" y="65151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4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611670" y="1988880"/>
            <a:ext cx="8332488" cy="3663593"/>
            <a:chOff x="6272" y="4054"/>
            <a:chExt cx="13459" cy="6022"/>
          </a:xfrm>
        </p:grpSpPr>
        <p:sp>
          <p:nvSpPr>
            <p:cNvPr id="4" name="文本框 2"/>
            <p:cNvSpPr txBox="1">
              <a:spLocks noChangeArrowheads="1"/>
            </p:cNvSpPr>
            <p:nvPr/>
          </p:nvSpPr>
          <p:spPr bwMode="auto">
            <a:xfrm>
              <a:off x="7666" y="5134"/>
              <a:ext cx="2164" cy="64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>
                <a:buClrTx/>
                <a:buSzTx/>
                <a:buFontTx/>
              </a:pPr>
              <a:r>
                <a:rPr lang="zh-CN" altLang="en-US" sz="1800" kern="100" dirty="0">
                  <a:solidFill>
                    <a:schemeClr val="bg1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整体热处理</a:t>
              </a:r>
              <a:endParaRPr lang="zh-CN" altLang="en-US" sz="1800" kern="100" dirty="0">
                <a:solidFill>
                  <a:schemeClr val="bg1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" name="左大括号 2708"/>
            <p:cNvSpPr/>
            <p:nvPr/>
          </p:nvSpPr>
          <p:spPr>
            <a:xfrm>
              <a:off x="7101" y="5417"/>
              <a:ext cx="352" cy="3851"/>
            </a:xfrm>
            <a:prstGeom prst="leftBrace">
              <a:avLst>
                <a:gd name="adj1" fmla="val 70401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  <p:sp>
          <p:nvSpPr>
            <p:cNvPr id="6" name="文本框 2"/>
            <p:cNvSpPr txBox="1">
              <a:spLocks noChangeArrowheads="1"/>
            </p:cNvSpPr>
            <p:nvPr/>
          </p:nvSpPr>
          <p:spPr bwMode="auto">
            <a:xfrm>
              <a:off x="6272" y="6240"/>
              <a:ext cx="559" cy="2428"/>
            </a:xfrm>
            <a:prstGeom prst="rect">
              <a:avLst/>
            </a:prstGeom>
            <a:solidFill>
              <a:srgbClr val="E8E8E8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800" kern="100" dirty="0">
                  <a:solidFill>
                    <a:schemeClr val="bg1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钢的热处理</a:t>
              </a:r>
              <a:endParaRPr lang="zh-CN" altLang="en-US" sz="1800" kern="100" dirty="0">
                <a:solidFill>
                  <a:schemeClr val="bg1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" name="文本框 2"/>
            <p:cNvSpPr txBox="1">
              <a:spLocks noChangeArrowheads="1"/>
            </p:cNvSpPr>
            <p:nvPr/>
          </p:nvSpPr>
          <p:spPr bwMode="auto">
            <a:xfrm>
              <a:off x="7666" y="7172"/>
              <a:ext cx="2150" cy="60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buClrTx/>
                <a:buSzTx/>
                <a:buFontTx/>
              </a:pPr>
              <a:r>
                <a:rPr lang="zh-CN" altLang="en-US" sz="1800" kern="100" dirty="0">
                  <a:solidFill>
                    <a:schemeClr val="bg1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表面热处理</a:t>
              </a:r>
              <a:endParaRPr lang="zh-CN" altLang="en-US" sz="1800" kern="100" dirty="0">
                <a:solidFill>
                  <a:schemeClr val="bg1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" name="文本框 2"/>
            <p:cNvSpPr txBox="1">
              <a:spLocks noChangeArrowheads="1"/>
            </p:cNvSpPr>
            <p:nvPr/>
          </p:nvSpPr>
          <p:spPr bwMode="auto">
            <a:xfrm>
              <a:off x="7666" y="8834"/>
              <a:ext cx="2173" cy="607"/>
            </a:xfrm>
            <a:prstGeom prst="rect">
              <a:avLst/>
            </a:prstGeom>
            <a:solidFill>
              <a:srgbClr val="C9A1CE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buClrTx/>
                <a:buSzTx/>
                <a:buFontTx/>
              </a:pPr>
              <a:r>
                <a:rPr lang="zh-CN" altLang="en-US" kern="100" dirty="0">
                  <a:solidFill>
                    <a:schemeClr val="bg1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其它</a:t>
              </a:r>
              <a:r>
                <a:rPr lang="zh-CN" altLang="en-US" sz="1800" kern="100" dirty="0">
                  <a:solidFill>
                    <a:schemeClr val="bg1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热处理</a:t>
              </a:r>
              <a:endParaRPr lang="zh-CN" altLang="en-US" sz="1800" kern="100" dirty="0">
                <a:solidFill>
                  <a:schemeClr val="bg1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" name="左大括号 40"/>
            <p:cNvSpPr/>
            <p:nvPr/>
          </p:nvSpPr>
          <p:spPr>
            <a:xfrm>
              <a:off x="10027" y="4290"/>
              <a:ext cx="508" cy="2174"/>
            </a:xfrm>
            <a:prstGeom prst="leftBrace">
              <a:avLst>
                <a:gd name="adj1" fmla="val 59444"/>
                <a:gd name="adj2" fmla="val 50000"/>
              </a:avLst>
            </a:prstGeom>
            <a:noFill/>
            <a:ln w="127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</p:sp>
        <p:sp>
          <p:nvSpPr>
            <p:cNvPr id="10" name="文本框 2"/>
            <p:cNvSpPr txBox="1">
              <a:spLocks noChangeArrowheads="1"/>
            </p:cNvSpPr>
            <p:nvPr/>
          </p:nvSpPr>
          <p:spPr bwMode="auto">
            <a:xfrm>
              <a:off x="10702" y="5414"/>
              <a:ext cx="1828" cy="60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/>
              <a:r>
                <a:rPr kern="1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淬火</a:t>
              </a:r>
              <a:endParaRPr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" name="文本框 2"/>
            <p:cNvSpPr txBox="1">
              <a:spLocks noChangeArrowheads="1"/>
            </p:cNvSpPr>
            <p:nvPr/>
          </p:nvSpPr>
          <p:spPr bwMode="auto">
            <a:xfrm>
              <a:off x="10702" y="4734"/>
              <a:ext cx="1828" cy="60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/>
              <a:r>
                <a:rPr kern="100" dirty="0" err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正火</a:t>
              </a:r>
              <a:endParaRPr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" name="文本框 2"/>
            <p:cNvSpPr txBox="1">
              <a:spLocks noChangeArrowheads="1"/>
            </p:cNvSpPr>
            <p:nvPr/>
          </p:nvSpPr>
          <p:spPr bwMode="auto">
            <a:xfrm>
              <a:off x="10702" y="4054"/>
              <a:ext cx="1796" cy="60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/>
              <a:r>
                <a:rPr kern="1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退火</a:t>
              </a:r>
              <a:endParaRPr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" name="文本框 2"/>
            <p:cNvSpPr txBox="1">
              <a:spLocks noChangeArrowheads="1"/>
            </p:cNvSpPr>
            <p:nvPr/>
          </p:nvSpPr>
          <p:spPr bwMode="auto">
            <a:xfrm>
              <a:off x="10702" y="6094"/>
              <a:ext cx="1828" cy="60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/>
              <a:r>
                <a:rPr kern="100" dirty="0" err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回火</a:t>
              </a:r>
              <a:endParaRPr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4" name="文本框 2"/>
            <p:cNvSpPr txBox="1">
              <a:spLocks noChangeArrowheads="1"/>
            </p:cNvSpPr>
            <p:nvPr/>
          </p:nvSpPr>
          <p:spPr bwMode="auto">
            <a:xfrm>
              <a:off x="10702" y="6774"/>
              <a:ext cx="8087" cy="60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800" kern="100" dirty="0">
                  <a:solidFill>
                    <a:schemeClr val="bg1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表面淬火：感应加热、火焰加热、激光加热，等</a:t>
              </a:r>
              <a:endParaRPr lang="zh-CN" altLang="en-US" sz="1800" kern="100" dirty="0">
                <a:solidFill>
                  <a:schemeClr val="bg1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" name="文本框 2"/>
            <p:cNvSpPr txBox="1">
              <a:spLocks noChangeArrowheads="1"/>
            </p:cNvSpPr>
            <p:nvPr/>
          </p:nvSpPr>
          <p:spPr bwMode="auto">
            <a:xfrm>
              <a:off x="10702" y="8134"/>
              <a:ext cx="2407" cy="607"/>
            </a:xfrm>
            <a:prstGeom prst="rect">
              <a:avLst/>
            </a:prstGeom>
            <a:solidFill>
              <a:srgbClr val="C9A1CE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真空热处理</a:t>
              </a:r>
              <a:endParaRPr lang="zh-CN" altLang="en-US" sz="1800" kern="100" dirty="0">
                <a:solidFill>
                  <a:schemeClr val="bg1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6" name="文本框 2"/>
            <p:cNvSpPr txBox="1">
              <a:spLocks noChangeArrowheads="1"/>
            </p:cNvSpPr>
            <p:nvPr/>
          </p:nvSpPr>
          <p:spPr bwMode="auto">
            <a:xfrm>
              <a:off x="10702" y="8814"/>
              <a:ext cx="2407" cy="607"/>
            </a:xfrm>
            <a:prstGeom prst="rect">
              <a:avLst/>
            </a:prstGeom>
            <a:solidFill>
              <a:srgbClr val="C9A1CE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形变热处理</a:t>
              </a:r>
              <a:endParaRPr lang="zh-CN" altLang="en-US" sz="1800" kern="100" dirty="0">
                <a:solidFill>
                  <a:srgbClr val="FF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" name="文本框 2"/>
            <p:cNvSpPr txBox="1">
              <a:spLocks noChangeArrowheads="1"/>
            </p:cNvSpPr>
            <p:nvPr/>
          </p:nvSpPr>
          <p:spPr bwMode="auto">
            <a:xfrm>
              <a:off x="10702" y="9494"/>
              <a:ext cx="2992" cy="582"/>
            </a:xfrm>
            <a:prstGeom prst="rect">
              <a:avLst/>
            </a:prstGeom>
            <a:solidFill>
              <a:srgbClr val="C9A1CE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r>
                <a:rPr lang="zh-CN" altLang="en-US" sz="1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控制气氛热处理</a:t>
              </a:r>
              <a:endPara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8" name="文本框 2"/>
            <p:cNvSpPr txBox="1">
              <a:spLocks noChangeArrowheads="1"/>
            </p:cNvSpPr>
            <p:nvPr/>
          </p:nvSpPr>
          <p:spPr bwMode="auto">
            <a:xfrm>
              <a:off x="10715" y="7454"/>
              <a:ext cx="9016" cy="60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/>
              <a:r>
                <a:rPr lang="zh-CN" altLang="en-US" sz="1800" kern="100" dirty="0">
                  <a:solidFill>
                    <a:srgbClr val="FF0000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化学热处理：渗碳、渗氮、碳氮共渗、</a:t>
              </a:r>
              <a:r>
                <a:rPr lang="zh-CN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渗其他元素等</a:t>
              </a:r>
              <a:endParaRPr lang="zh-CN" altLang="en-US" sz="1800" kern="100" dirty="0">
                <a:solidFill>
                  <a:srgbClr val="FF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" name="左大括号 40"/>
            <p:cNvSpPr/>
            <p:nvPr/>
          </p:nvSpPr>
          <p:spPr>
            <a:xfrm>
              <a:off x="10131" y="6894"/>
              <a:ext cx="301" cy="1161"/>
            </a:xfrm>
            <a:prstGeom prst="leftBrace">
              <a:avLst>
                <a:gd name="adj1" fmla="val 59444"/>
                <a:gd name="adj2" fmla="val 50000"/>
              </a:avLst>
            </a:prstGeom>
            <a:noFill/>
            <a:ln w="19050" cap="flat" cmpd="sng" algn="ctr">
              <a:solidFill>
                <a:srgbClr val="E7D1AC"/>
              </a:solidFill>
              <a:prstDash val="solid"/>
              <a:miter lim="800000"/>
            </a:ln>
            <a:effectLst/>
          </p:spPr>
        </p:sp>
        <p:sp>
          <p:nvSpPr>
            <p:cNvPr id="20" name="左大括号 40"/>
            <p:cNvSpPr/>
            <p:nvPr/>
          </p:nvSpPr>
          <p:spPr>
            <a:xfrm>
              <a:off x="10120" y="8267"/>
              <a:ext cx="322" cy="1667"/>
            </a:xfrm>
            <a:prstGeom prst="leftBrace">
              <a:avLst>
                <a:gd name="adj1" fmla="val 59444"/>
                <a:gd name="adj2" fmla="val 50000"/>
              </a:avLst>
            </a:prstGeom>
            <a:noFill/>
            <a:ln w="19050" cap="flat" cmpd="sng" algn="ctr">
              <a:solidFill>
                <a:srgbClr val="C9A1CE"/>
              </a:solidFill>
              <a:prstDash val="solid"/>
              <a:miter lim="800000"/>
            </a:ln>
            <a:effectLst/>
          </p:spPr>
        </p:sp>
      </p:grp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40763" y="6661150"/>
            <a:ext cx="487362" cy="217488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77152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7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、预备热处理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与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最终热处理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323850" y="1125538"/>
            <a:ext cx="8569325" cy="461803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预备热处理：为随后的加工（冷拔、冲压、切削）或进一步热处理作准备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热处理。</a:t>
            </a:r>
            <a:endParaRPr lang="zh-CN" altLang="en-US" b="1" dirty="0">
              <a:solidFill>
                <a:srgbClr val="00FF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最终热处理：赋予工件所要求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使用性能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785938" y="3929063"/>
            <a:ext cx="7207250" cy="2559050"/>
            <a:chOff x="480" y="2016"/>
            <a:chExt cx="4974" cy="2160"/>
          </a:xfrm>
        </p:grpSpPr>
        <p:grpSp>
          <p:nvGrpSpPr>
            <p:cNvPr id="19461" name="Group 5"/>
            <p:cNvGrpSpPr/>
            <p:nvPr/>
          </p:nvGrpSpPr>
          <p:grpSpPr>
            <a:xfrm>
              <a:off x="480" y="2016"/>
              <a:ext cx="4848" cy="2160"/>
              <a:chOff x="480" y="2112"/>
              <a:chExt cx="4848" cy="2064"/>
            </a:xfrm>
          </p:grpSpPr>
          <p:grpSp>
            <p:nvGrpSpPr>
              <p:cNvPr id="19462" name="Group 6"/>
              <p:cNvGrpSpPr/>
              <p:nvPr/>
            </p:nvGrpSpPr>
            <p:grpSpPr>
              <a:xfrm>
                <a:off x="480" y="2112"/>
                <a:ext cx="4848" cy="2064"/>
                <a:chOff x="384" y="2112"/>
                <a:chExt cx="4848" cy="2064"/>
              </a:xfrm>
            </p:grpSpPr>
            <p:pic>
              <p:nvPicPr>
                <p:cNvPr id="19463" name="Picture 7" descr="W18Cr4V钢热处理工艺曲线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384" y="2112"/>
                  <a:ext cx="4848" cy="2064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</p:pic>
            <p:sp>
              <p:nvSpPr>
                <p:cNvPr id="19464" name="Text Box 8"/>
                <p:cNvSpPr txBox="1"/>
                <p:nvPr/>
              </p:nvSpPr>
              <p:spPr>
                <a:xfrm>
                  <a:off x="1152" y="3864"/>
                  <a:ext cx="1056" cy="24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lstStyle/>
                <a:p>
                  <a:pPr algn="ctr"/>
                  <a:r>
                    <a:rPr lang="zh-CN" altLang="en-US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预备热处理</a:t>
                  </a:r>
                  <a:endParaRPr lang="zh-CN" altLang="en-US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65" name="Text Box 9"/>
                <p:cNvSpPr txBox="1"/>
                <p:nvPr/>
              </p:nvSpPr>
              <p:spPr>
                <a:xfrm>
                  <a:off x="3216" y="3864"/>
                  <a:ext cx="1056" cy="24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>
                  <a:spAutoFit/>
                </a:bodyPr>
                <a:lstStyle/>
                <a:p>
                  <a:pPr algn="ctr"/>
                  <a:r>
                    <a:rPr lang="zh-CN" altLang="en-US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最终热处理</a:t>
                  </a:r>
                  <a:endParaRPr lang="zh-CN" altLang="en-US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466" name="Line 10"/>
                <p:cNvSpPr/>
                <p:nvPr/>
              </p:nvSpPr>
              <p:spPr>
                <a:xfrm>
                  <a:off x="888" y="3840"/>
                  <a:ext cx="0" cy="24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67" name="Line 11"/>
                <p:cNvSpPr/>
                <p:nvPr/>
              </p:nvSpPr>
              <p:spPr>
                <a:xfrm>
                  <a:off x="2352" y="3840"/>
                  <a:ext cx="0" cy="24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68" name="Line 12"/>
                <p:cNvSpPr/>
                <p:nvPr/>
              </p:nvSpPr>
              <p:spPr>
                <a:xfrm>
                  <a:off x="4752" y="3840"/>
                  <a:ext cx="0" cy="24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9469" name="Line 13"/>
                <p:cNvSpPr/>
                <p:nvPr/>
              </p:nvSpPr>
              <p:spPr>
                <a:xfrm flipH="1">
                  <a:off x="912" y="3984"/>
                  <a:ext cx="336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19470" name="Line 14"/>
                <p:cNvSpPr/>
                <p:nvPr/>
              </p:nvSpPr>
              <p:spPr>
                <a:xfrm>
                  <a:off x="2064" y="3984"/>
                  <a:ext cx="288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19471" name="Line 15"/>
                <p:cNvSpPr/>
                <p:nvPr/>
              </p:nvSpPr>
              <p:spPr>
                <a:xfrm flipH="1">
                  <a:off x="2364" y="3984"/>
                  <a:ext cx="96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19472" name="Line 16"/>
                <p:cNvSpPr/>
                <p:nvPr/>
              </p:nvSpPr>
              <p:spPr>
                <a:xfrm>
                  <a:off x="4128" y="3984"/>
                  <a:ext cx="624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9473" name="Text Box 17"/>
              <p:cNvSpPr txBox="1"/>
              <p:nvPr/>
            </p:nvSpPr>
            <p:spPr>
              <a:xfrm>
                <a:off x="3204" y="2148"/>
                <a:ext cx="2112" cy="2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W18Cr4V</a:t>
                </a:r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钢热处理工艺曲线</a:t>
                </a:r>
                <a:endPara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474" name="Text Box 18"/>
            <p:cNvSpPr txBox="1"/>
            <p:nvPr/>
          </p:nvSpPr>
          <p:spPr>
            <a:xfrm>
              <a:off x="4944" y="3804"/>
              <a:ext cx="510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时间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75" name="Rectangle 19"/>
            <p:cNvSpPr/>
            <p:nvPr/>
          </p:nvSpPr>
          <p:spPr>
            <a:xfrm rot="-5393220">
              <a:off x="312" y="2784"/>
              <a:ext cx="672" cy="19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温度</a:t>
              </a:r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/℃</a:t>
              </a:r>
              <a:endParaRPr lang="en-US" altLang="zh-CN" sz="1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7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573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3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746760" y="1353185"/>
            <a:ext cx="205359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预备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热处理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746760" y="2780665"/>
            <a:ext cx="205359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最终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热处理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01000" y="6597650"/>
            <a:ext cx="457200" cy="2603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31361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8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、临界温度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与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实际转变温度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1" y="1071563"/>
            <a:ext cx="5357058" cy="552608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临界温度：</a:t>
            </a:r>
            <a:r>
              <a:rPr lang="zh-CN" altLang="en-US" sz="2400" b="1" dirty="0"/>
              <a:t>铁碳相图中</a:t>
            </a:r>
            <a:r>
              <a:rPr lang="en-US" altLang="zh-CN" sz="2400" b="1" dirty="0">
                <a:solidFill>
                  <a:schemeClr val="folHlink"/>
                </a:solidFill>
              </a:rPr>
              <a:t>PSK</a:t>
            </a:r>
            <a:r>
              <a:rPr lang="zh-CN" altLang="en-US" sz="2400" b="1" dirty="0">
                <a:solidFill>
                  <a:schemeClr val="folHlink"/>
                </a:solidFill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</a:rPr>
              <a:t>GS</a:t>
            </a:r>
            <a:r>
              <a:rPr lang="zh-CN" altLang="en-US" sz="2400" b="1" dirty="0">
                <a:solidFill>
                  <a:schemeClr val="folHlink"/>
                </a:solidFill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</a:rPr>
              <a:t>ES</a:t>
            </a:r>
            <a:r>
              <a:rPr lang="zh-CN" altLang="en-US" sz="2400" b="1" dirty="0">
                <a:solidFill>
                  <a:schemeClr val="folHlink"/>
                </a:solidFill>
              </a:rPr>
              <a:t>线，分别用</a:t>
            </a:r>
            <a:r>
              <a:rPr lang="en-US" altLang="zh-CN" sz="2400" b="1" dirty="0">
                <a:solidFill>
                  <a:schemeClr val="folHlink"/>
                </a:solidFill>
              </a:rPr>
              <a:t>A1</a:t>
            </a:r>
            <a:r>
              <a:rPr lang="zh-CN" altLang="en-US" sz="2400" b="1" dirty="0">
                <a:solidFill>
                  <a:schemeClr val="folHlink"/>
                </a:solidFill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</a:rPr>
              <a:t>A3</a:t>
            </a:r>
            <a:r>
              <a:rPr lang="zh-CN" altLang="en-US" sz="2400" b="1" dirty="0">
                <a:solidFill>
                  <a:schemeClr val="folHlink"/>
                </a:solidFill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</a:rPr>
              <a:t>Acm</a:t>
            </a:r>
            <a:r>
              <a:rPr lang="zh-CN" altLang="en-US" sz="2400" b="1" dirty="0">
                <a:solidFill>
                  <a:schemeClr val="folHlink"/>
                </a:solidFill>
              </a:rPr>
              <a:t>表示</a:t>
            </a:r>
            <a:r>
              <a:rPr lang="en-US" altLang="zh-CN" sz="2400" b="1" dirty="0">
                <a:solidFill>
                  <a:schemeClr val="folHlink"/>
                </a:solidFill>
              </a:rPr>
              <a:t>.</a:t>
            </a:r>
            <a:endParaRPr lang="en-US" altLang="zh-CN" sz="2400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400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400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chemeClr val="folHlink"/>
                </a:solidFill>
              </a:rPr>
              <a:t>实际转变温度</a:t>
            </a:r>
            <a:r>
              <a:rPr lang="zh-CN" altLang="en-US" sz="2400" b="1" dirty="0"/>
              <a:t>：实际加热或冷却时存在着</a:t>
            </a:r>
            <a:r>
              <a:rPr lang="en-US" altLang="zh-CN" sz="2400" b="1" dirty="0">
                <a:solidFill>
                  <a:schemeClr val="folHlink"/>
                </a:solidFill>
              </a:rPr>
              <a:t>过冷</a:t>
            </a:r>
            <a:r>
              <a:rPr lang="zh-CN" altLang="en-US" sz="2400" b="1" dirty="0"/>
              <a:t>或</a:t>
            </a:r>
            <a:r>
              <a:rPr lang="en-US" altLang="zh-CN" sz="2400" b="1" dirty="0">
                <a:solidFill>
                  <a:schemeClr val="folHlink"/>
                </a:solidFill>
              </a:rPr>
              <a:t>过热</a:t>
            </a:r>
            <a:r>
              <a:rPr lang="zh-CN" altLang="en-US" sz="2400" b="1" dirty="0"/>
              <a:t>现象，因此将</a:t>
            </a:r>
            <a:r>
              <a:rPr lang="zh-CN" altLang="en-US" sz="2400" b="1" dirty="0">
                <a:solidFill>
                  <a:srgbClr val="CCFF66"/>
                </a:solidFill>
              </a:rPr>
              <a:t>钢加热时的实际转变温度分别用</a:t>
            </a:r>
            <a:r>
              <a:rPr lang="en-US" altLang="zh-CN" sz="2400" b="1" dirty="0">
                <a:solidFill>
                  <a:schemeClr val="folHlink"/>
                </a:solidFill>
              </a:rPr>
              <a:t>Ac1</a:t>
            </a:r>
            <a:r>
              <a:rPr lang="zh-CN" altLang="en-US" sz="2400" b="1" dirty="0">
                <a:solidFill>
                  <a:schemeClr val="folHlink"/>
                </a:solidFill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</a:rPr>
              <a:t>Ac3</a:t>
            </a:r>
            <a:r>
              <a:rPr lang="zh-CN" altLang="en-US" sz="2400" b="1" dirty="0">
                <a:solidFill>
                  <a:schemeClr val="folHlink"/>
                </a:solidFill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</a:rPr>
              <a:t>Accm</a:t>
            </a:r>
            <a:r>
              <a:rPr lang="zh-CN" altLang="en-US" sz="2400" b="1" dirty="0">
                <a:solidFill>
                  <a:srgbClr val="CCFF66"/>
                </a:solidFill>
              </a:rPr>
              <a:t>表示；</a:t>
            </a:r>
            <a:r>
              <a:rPr lang="zh-CN" altLang="en-US" sz="2400" b="1" dirty="0">
                <a:solidFill>
                  <a:srgbClr val="CCFF66"/>
                </a:solidFill>
                <a:ea typeface="华文中宋" panose="02010600040101010101" pitchFamily="2" charset="-122"/>
              </a:rPr>
              <a:t>冷却时的实际转变温度分别用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Ar</a:t>
            </a:r>
            <a:r>
              <a:rPr lang="en-US" altLang="zh-CN" sz="24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Ar</a:t>
            </a:r>
            <a:r>
              <a:rPr lang="en-US" altLang="zh-CN" sz="24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Ar</a:t>
            </a:r>
            <a:r>
              <a:rPr lang="en-US" altLang="zh-CN" sz="24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cm</a:t>
            </a:r>
            <a:r>
              <a:rPr lang="zh-CN" altLang="en-US" sz="2400" b="1" dirty="0">
                <a:solidFill>
                  <a:srgbClr val="CCFF66"/>
                </a:solidFill>
                <a:ea typeface="华文中宋" panose="02010600040101010101" pitchFamily="2" charset="-122"/>
              </a:rPr>
              <a:t>表示</a:t>
            </a:r>
            <a:r>
              <a:rPr lang="en-US" altLang="zh-CN" sz="2400" b="1" dirty="0">
                <a:solidFill>
                  <a:srgbClr val="CCFF66"/>
                </a:solidFill>
                <a:ea typeface="华文中宋" panose="02010600040101010101" pitchFamily="2" charset="-122"/>
              </a:rPr>
              <a:t>.</a:t>
            </a:r>
            <a:endParaRPr lang="en-US" altLang="zh-CN" sz="24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 dirty="0">
                <a:ea typeface="华文中宋" panose="02010600040101010101" pitchFamily="2" charset="-122"/>
              </a:rPr>
              <a:t>因加热冷却速度直接影响转变温度，因此一般手册中的数据是以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30-50℃/h</a:t>
            </a:r>
            <a:r>
              <a:rPr lang="zh-CN" altLang="en-US" sz="2400" b="1" dirty="0">
                <a:ea typeface="华文中宋" panose="02010600040101010101" pitchFamily="2" charset="-122"/>
              </a:rPr>
              <a:t>的速度加热或冷却时测得的。</a:t>
            </a:r>
            <a:endParaRPr lang="zh-CN" altLang="en-US" sz="2400" b="1" dirty="0">
              <a:ea typeface="华文中宋" panose="02010600040101010101" pitchFamily="2" charset="-122"/>
            </a:endParaRPr>
          </a:p>
        </p:txBody>
      </p:sp>
      <p:pic>
        <p:nvPicPr>
          <p:cNvPr id="253956" name="Picture 4" descr="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223916" y="2208720"/>
            <a:ext cx="3870568" cy="3308453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0485" name="AutoShape 5">
            <a:hlinkClick r:id="rId2" action="ppaction://hlinksldjump"/>
          </p:cNvPr>
          <p:cNvSpPr/>
          <p:nvPr/>
        </p:nvSpPr>
        <p:spPr>
          <a:xfrm>
            <a:off x="8643938" y="6597650"/>
            <a:ext cx="215900" cy="260350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6" name="AutoShape 6">
            <a:hlinkClick r:id="rId3" action="ppaction://hlinksldjump"/>
          </p:cNvPr>
          <p:cNvSpPr/>
          <p:nvPr/>
        </p:nvSpPr>
        <p:spPr>
          <a:xfrm>
            <a:off x="8999538" y="6597650"/>
            <a:ext cx="144462" cy="260350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976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5"/>
            </p:custDataLst>
          </p:nvPr>
        </p:nvSpPr>
        <p:spPr>
          <a:xfrm>
            <a:off x="396240" y="1066165"/>
            <a:ext cx="166878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临界温度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6"/>
            </p:custDataLst>
          </p:nvPr>
        </p:nvSpPr>
        <p:spPr>
          <a:xfrm>
            <a:off x="373380" y="2348910"/>
            <a:ext cx="243840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实际转变温度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05800" y="6564313"/>
            <a:ext cx="509588" cy="2936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-81478" y="1388458"/>
            <a:ext cx="9144000" cy="2904614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第二节  钢在加热时的转变</a:t>
            </a:r>
            <a:br>
              <a:rPr kumimoji="1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lang="en-US" altLang="zh-CN" sz="66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Transformation during Heating</a:t>
            </a:r>
            <a:endParaRPr lang="en-US" altLang="zh-CN" sz="6600" b="1" i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Group 11"/>
          <p:cNvGrpSpPr>
            <a:grpSpLocks noChangeAspect="1"/>
          </p:cNvGrpSpPr>
          <p:nvPr/>
        </p:nvGrpSpPr>
        <p:grpSpPr>
          <a:xfrm>
            <a:off x="2945990" y="4565812"/>
            <a:ext cx="4176348" cy="2165982"/>
            <a:chOff x="3072" y="2016"/>
            <a:chExt cx="2503" cy="1499"/>
          </a:xfrm>
        </p:grpSpPr>
        <p:pic>
          <p:nvPicPr>
            <p:cNvPr id="21509" name="Picture 5" descr="industrial_furnace_0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72" y="2016"/>
              <a:ext cx="2503" cy="1476"/>
            </a:xfrm>
            <a:prstGeom prst="rect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510" name="Text Box 6"/>
            <p:cNvSpPr txBox="1">
              <a:spLocks noChangeAspect="1"/>
            </p:cNvSpPr>
            <p:nvPr/>
          </p:nvSpPr>
          <p:spPr>
            <a:xfrm>
              <a:off x="3072" y="3225"/>
              <a:ext cx="768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钢坯加热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11" name="AutoShape 12">
            <a:hlinkClick r:id="rId2" action="ppaction://hlinksldjump"/>
          </p:cNvPr>
          <p:cNvSpPr/>
          <p:nvPr/>
        </p:nvSpPr>
        <p:spPr>
          <a:xfrm>
            <a:off x="8934450" y="6634163"/>
            <a:ext cx="212725" cy="19526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63995"/>
            <a:ext cx="1786255" cy="28194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23488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05800" y="6564313"/>
            <a:ext cx="509588" cy="2936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438" y="0"/>
            <a:ext cx="7358063" cy="8477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第二节  钢在加热时的转变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2643" name="Rectangle 3"/>
          <p:cNvSpPr>
            <a:spLocks noGrp="1"/>
          </p:cNvSpPr>
          <p:nvPr>
            <p:ph idx="1"/>
          </p:nvPr>
        </p:nvSpPr>
        <p:spPr>
          <a:xfrm>
            <a:off x="323850" y="1196975"/>
            <a:ext cx="8610600" cy="46101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加热是热处理的第一道工序。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加热分两种：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）在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以下加热，不发生相变；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（2）在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临界点以上加热</a:t>
            </a: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以获得均匀的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奥氏体组织</a:t>
            </a:r>
            <a:r>
              <a:rPr lang="zh-CN" altLang="en-US" b="1" dirty="0">
                <a:ea typeface="华文中宋" panose="02010600040101010101" pitchFamily="2" charset="-122"/>
              </a:rPr>
              <a:t>，称为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奥氏体化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1"/>
          <p:cNvGrpSpPr>
            <a:grpSpLocks noChangeAspect="1"/>
          </p:cNvGrpSpPr>
          <p:nvPr/>
        </p:nvGrpSpPr>
        <p:grpSpPr>
          <a:xfrm>
            <a:off x="5652135" y="4293235"/>
            <a:ext cx="3232785" cy="1720015"/>
            <a:chOff x="3072" y="2016"/>
            <a:chExt cx="2503" cy="1538"/>
          </a:xfrm>
        </p:grpSpPr>
        <p:pic>
          <p:nvPicPr>
            <p:cNvPr id="21509" name="Picture 5" descr="industrial_furnace_0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72" y="2016"/>
              <a:ext cx="2503" cy="1476"/>
            </a:xfrm>
            <a:prstGeom prst="rect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510" name="Text Box 6"/>
            <p:cNvSpPr txBox="1">
              <a:spLocks noChangeAspect="1"/>
            </p:cNvSpPr>
            <p:nvPr/>
          </p:nvSpPr>
          <p:spPr>
            <a:xfrm>
              <a:off x="3072" y="3225"/>
              <a:ext cx="91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钢坯加热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11" name="AutoShape 12">
            <a:hlinkClick r:id="rId2" action="ppaction://hlinksldjump"/>
          </p:cNvPr>
          <p:cNvSpPr/>
          <p:nvPr/>
        </p:nvSpPr>
        <p:spPr>
          <a:xfrm>
            <a:off x="8934450" y="6634163"/>
            <a:ext cx="212725" cy="19526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63995"/>
            <a:ext cx="1786255" cy="28194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2" grpId="0"/>
      <p:bldP spid="112643" grpId="0" advAuto="100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72513" y="6569075"/>
            <a:ext cx="455612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第二节  钢在加热时的转变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685800" y="2420938"/>
            <a:ext cx="7772400" cy="3675062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/>
              <a:t>一、奥氏体的形成过程</a:t>
            </a:r>
            <a:endParaRPr lang="zh-CN" altLang="en-US" b="1" dirty="0"/>
          </a:p>
          <a:p>
            <a:pPr eaLnBrk="1" hangingPunct="1">
              <a:buNone/>
            </a:pPr>
            <a:endParaRPr lang="zh-CN" altLang="en-US" b="1" dirty="0"/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二、奥氏体晶粒长大及其影响因素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2253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69075"/>
            <a:ext cx="1786255" cy="27622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15375" y="6529388"/>
            <a:ext cx="403225" cy="32861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188" y="152400"/>
            <a:ext cx="6643688" cy="8477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一、奥氏体的形成过程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23235" name="Rectangle 3"/>
          <p:cNvSpPr>
            <a:spLocks noGrp="1"/>
          </p:cNvSpPr>
          <p:nvPr>
            <p:ph idx="1"/>
          </p:nvPr>
        </p:nvSpPr>
        <p:spPr>
          <a:xfrm>
            <a:off x="373380" y="1032980"/>
            <a:ext cx="8610600" cy="41624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奥氏体化</a:t>
            </a:r>
            <a:r>
              <a:rPr lang="zh-CN" altLang="en-US" b="1" dirty="0">
                <a:solidFill>
                  <a:schemeClr val="folHlink"/>
                </a:solidFill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形核</a:t>
            </a:r>
            <a:r>
              <a:rPr lang="zh-CN" altLang="en-US" b="1" dirty="0">
                <a:solidFill>
                  <a:schemeClr val="folHlink"/>
                </a:solidFill>
              </a:rPr>
              <a:t> </a:t>
            </a:r>
            <a:r>
              <a:rPr lang="en-US" altLang="zh-CN" b="1" dirty="0">
                <a:solidFill>
                  <a:schemeClr val="folHlink"/>
                </a:solidFill>
              </a:rPr>
              <a:t>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长大</a:t>
            </a:r>
            <a:r>
              <a:rPr lang="zh-CN" altLang="en-US" b="1" dirty="0">
                <a:solidFill>
                  <a:schemeClr val="folHlink"/>
                </a:solidFill>
              </a:rPr>
              <a:t>，</a:t>
            </a:r>
            <a:r>
              <a:rPr lang="zh-CN" altLang="en-US" b="1" dirty="0"/>
              <a:t>分为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四步</a:t>
            </a:r>
            <a:r>
              <a:rPr lang="zh-CN" altLang="en-US" b="1" dirty="0"/>
              <a:t>。现以</a:t>
            </a:r>
            <a:r>
              <a:rPr lang="zh-CN" altLang="en-US" b="1" dirty="0">
                <a:solidFill>
                  <a:srgbClr val="FF0000"/>
                </a:solidFill>
              </a:rPr>
              <a:t>共析钢</a:t>
            </a:r>
            <a:r>
              <a:rPr lang="zh-CN" altLang="en-US" b="1" dirty="0"/>
              <a:t>为例说明：</a:t>
            </a:r>
            <a:endParaRPr lang="zh-CN" altLang="en-US" b="1" dirty="0"/>
          </a:p>
          <a:p>
            <a:pPr eaLnBrk="1" hangingPunct="1">
              <a:lnSpc>
                <a:spcPct val="8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第一步：奥氏体晶核形成。  </a:t>
            </a:r>
            <a:r>
              <a:rPr lang="zh-CN" altLang="en-US" b="1" dirty="0">
                <a:ea typeface="华文中宋" panose="02010600040101010101" pitchFamily="2" charset="-122"/>
              </a:rPr>
              <a:t>首先在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ea typeface="华文中宋" panose="02010600040101010101" pitchFamily="2" charset="-122"/>
              </a:rPr>
              <a:t>相界形核。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第二步：奥氏体晶核长大。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 </a:t>
            </a:r>
            <a:r>
              <a:rPr lang="zh-CN" altLang="en-US" b="1" dirty="0">
                <a:ea typeface="华文中宋" panose="02010600040101010101" pitchFamily="2" charset="-122"/>
              </a:rPr>
              <a:t>晶核通过碳原子的扩散向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ea typeface="华文中宋" panose="02010600040101010101" pitchFamily="2" charset="-122"/>
              </a:rPr>
              <a:t>方向长大。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pic>
        <p:nvPicPr>
          <p:cNvPr id="223243" name="Picture 11" descr="A形成过程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483827" y="4956176"/>
            <a:ext cx="5328444" cy="163762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355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/>
      <p:bldP spid="223235" grpId="0" advAuto="100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8188" y="6557963"/>
            <a:ext cx="457200" cy="30003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0" y="152400"/>
            <a:ext cx="6815556" cy="8477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一、奥氏体的形成过程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24259" name="Rectangle 3"/>
          <p:cNvSpPr>
            <a:spLocks noGrp="1"/>
          </p:cNvSpPr>
          <p:nvPr>
            <p:ph idx="1"/>
          </p:nvPr>
        </p:nvSpPr>
        <p:spPr>
          <a:xfrm>
            <a:off x="323850" y="1125538"/>
            <a:ext cx="8610600" cy="41624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第三步：残余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溶解。</a:t>
            </a:r>
            <a:r>
              <a:rPr lang="zh-CN" altLang="en-US" b="1" dirty="0">
                <a:ea typeface="华文中宋" panose="02010600040101010101" pitchFamily="2" charset="-122"/>
              </a:rPr>
              <a:t>铁素体的成分、结构更接近于奥氏体，因而先消失。残余的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ea typeface="华文中宋" panose="02010600040101010101" pitchFamily="2" charset="-122"/>
              </a:rPr>
              <a:t>随保温时间延长继续溶解直至消失。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第四步：奥氏体成分均匀化。 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ea typeface="华文中宋" panose="02010600040101010101" pitchFamily="2" charset="-122"/>
              </a:rPr>
              <a:t>溶解后，其所在部位碳含量仍很高。通过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长时间保温</a:t>
            </a:r>
            <a:r>
              <a:rPr lang="zh-CN" altLang="en-US" b="1" dirty="0">
                <a:ea typeface="华文中宋" panose="02010600040101010101" pitchFamily="2" charset="-122"/>
              </a:rPr>
              <a:t>使奥氏体成分趋于均匀。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pic>
        <p:nvPicPr>
          <p:cNvPr id="224260" name="Picture 4" descr="A形成过程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928938" y="5357813"/>
            <a:ext cx="4243387" cy="1303337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458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57963"/>
            <a:ext cx="1785938" cy="300037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/>
      <p:bldP spid="224259" grpId="0" advAuto="100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7575" y="6623050"/>
            <a:ext cx="606425" cy="249238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5714" name="Rectangle 2"/>
          <p:cNvSpPr>
            <a:spLocks noGrp="1"/>
          </p:cNvSpPr>
          <p:nvPr>
            <p:ph idx="1"/>
          </p:nvPr>
        </p:nvSpPr>
        <p:spPr>
          <a:xfrm>
            <a:off x="323850" y="1124585"/>
            <a:ext cx="6387465" cy="377698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亚共析钢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过共析钢的奥氏体化过程</a:t>
            </a:r>
            <a:r>
              <a:rPr lang="zh-CN" altLang="en-US" sz="2800" b="1" dirty="0">
                <a:ea typeface="华文中宋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共析钢基本相同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由于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先共析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华文中宋" panose="02010600040101010101" pitchFamily="2" charset="-122"/>
              </a:rPr>
              <a:t>或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二次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ea typeface="华文中宋" panose="02010600040101010101" pitchFamily="2" charset="-122"/>
              </a:rPr>
              <a:t>的存在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要获得全部奥氏体组织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必须相应加热到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ea typeface="华文中宋" panose="02010600040101010101" pitchFamily="2" charset="-122"/>
              </a:rPr>
              <a:t>或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cm</a:t>
            </a:r>
            <a:r>
              <a:rPr lang="zh-CN" altLang="en-US" sz="2800" b="1" dirty="0">
                <a:ea typeface="华文中宋" panose="02010600040101010101" pitchFamily="2" charset="-122"/>
              </a:rPr>
              <a:t>以上</a:t>
            </a:r>
            <a:r>
              <a:rPr lang="en-US" altLang="zh-CN" sz="2800" dirty="0">
                <a:ea typeface="华文中宋" panose="02010600040101010101" pitchFamily="2" charset="-122"/>
              </a:rPr>
              <a:t>.</a:t>
            </a:r>
            <a:endParaRPr lang="en-US" altLang="zh-CN" sz="2800" dirty="0">
              <a:ea typeface="华文中宋" panose="02010600040101010101" pitchFamily="2" charset="-122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6786578" y="1643050"/>
            <a:ext cx="1822406" cy="4700645"/>
            <a:chOff x="4157" y="336"/>
            <a:chExt cx="1229" cy="3172"/>
          </a:xfrm>
        </p:grpSpPr>
        <p:pic>
          <p:nvPicPr>
            <p:cNvPr id="25604" name="Picture 5" descr="旋转 pearlite过共析钢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192" y="336"/>
              <a:ext cx="1194" cy="1034"/>
            </a:xfrm>
            <a:prstGeom prst="rect">
              <a:avLst/>
            </a:prstGeom>
            <a:noFill/>
            <a:ln w="38100" cap="flat" cmpd="sng">
              <a:solidFill>
                <a:srgbClr val="99CC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5605" name="Picture 6" descr="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7" y="2649"/>
              <a:ext cx="1229" cy="859"/>
            </a:xfrm>
            <a:prstGeom prst="rect">
              <a:avLst/>
            </a:prstGeom>
            <a:noFill/>
            <a:ln w="38100" cap="flat" cmpd="sng">
              <a:solidFill>
                <a:srgbClr val="99CCFF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pic>
        <p:nvPicPr>
          <p:cNvPr id="25607" name="Picture 10" descr="E:\ligh\teaching\Undergraduate\课件\EngieeringMaterials\工程材料20140225-20140411\图5-2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14744" y="3786190"/>
            <a:ext cx="2867066" cy="267748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8" name="日期占位符 1"/>
          <p:cNvSpPr>
            <a:spLocks noGrp="1"/>
          </p:cNvSpPr>
          <p:nvPr>
            <p:ph type="dt" sz="half" idx="10"/>
          </p:nvPr>
        </p:nvSpPr>
        <p:spPr>
          <a:xfrm>
            <a:off x="111125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5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dvAuto="100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1250" y="6591300"/>
            <a:ext cx="41275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-1"/>
            <a:ext cx="8388350" cy="1214437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二、奥氏体晶粒长大及其影响因素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>
          <a:xfrm>
            <a:off x="755650" y="2420938"/>
            <a:ext cx="7772400" cy="32226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、奥氏体的晶粒度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、影响奥氏体晶粒大小的因素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2662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462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05850" y="6634163"/>
            <a:ext cx="44450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050" y="0"/>
            <a:ext cx="64071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、奥氏体的晶粒度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起始晶粒度</a:t>
            </a:r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实际晶粒度</a:t>
            </a:r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本质晶粒度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27653" name="日期占位符 1"/>
          <p:cNvSpPr>
            <a:spLocks noGrp="1"/>
          </p:cNvSpPr>
          <p:nvPr>
            <p:ph type="dt" sz="half" idx="10"/>
          </p:nvPr>
        </p:nvSpPr>
        <p:spPr>
          <a:xfrm>
            <a:off x="88900" y="656748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5675" y="6580188"/>
            <a:ext cx="46672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142875"/>
            <a:ext cx="6643688" cy="8826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、奥氏体的晶粒度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395605" y="1080135"/>
            <a:ext cx="8598535" cy="522859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起始晶粒度：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奥氏体化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刚结束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时的晶粒度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ea typeface="华文中宋" panose="02010600040101010101" pitchFamily="2" charset="-122"/>
              </a:rPr>
              <a:t>此时晶粒细小均匀。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   </a:t>
            </a:r>
            <a:r>
              <a:rPr lang="zh-CN" altLang="en-US" sz="2400" b="1" dirty="0">
                <a:solidFill>
                  <a:srgbClr val="CCFF33"/>
                </a:solidFill>
                <a:ea typeface="华文中宋" panose="02010600040101010101" pitchFamily="2" charset="-122"/>
              </a:rPr>
              <a:t>随加热温度升高</a:t>
            </a:r>
            <a:r>
              <a:rPr lang="zh-CN" altLang="en-US" sz="2400" b="1" dirty="0"/>
              <a:t>或</a:t>
            </a:r>
            <a:r>
              <a:rPr lang="zh-CN" altLang="en-US" sz="2400" b="1" dirty="0">
                <a:solidFill>
                  <a:srgbClr val="CCFF33"/>
                </a:solidFill>
                <a:ea typeface="华文中宋" panose="02010600040101010101" pitchFamily="2" charset="-122"/>
              </a:rPr>
              <a:t>保温时间延长，奥氏体晶粒</a:t>
            </a:r>
            <a:r>
              <a:rPr lang="zh-CN" altLang="en-US" sz="2400" b="1" dirty="0"/>
              <a:t>将</a:t>
            </a:r>
            <a:r>
              <a:rPr lang="zh-CN" altLang="en-US" sz="2400" b="1" dirty="0">
                <a:solidFill>
                  <a:srgbClr val="CCFF33"/>
                </a:solidFill>
                <a:ea typeface="华文中宋" panose="02010600040101010101" pitchFamily="2" charset="-122"/>
              </a:rPr>
              <a:t>进一步长大</a:t>
            </a:r>
            <a:r>
              <a:rPr lang="zh-CN" altLang="en-US" sz="2400" b="1" dirty="0"/>
              <a:t>，这也是一个自发的过程。</a:t>
            </a:r>
            <a:endParaRPr lang="zh-CN" altLang="en-US" b="1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sym typeface="+mn-ea"/>
              </a:rPr>
              <a:t>实际晶粒度：</a:t>
            </a:r>
            <a:r>
              <a:rPr lang="zh-CN" altLang="en-US" sz="2800" b="1" dirty="0">
                <a:solidFill>
                  <a:schemeClr val="folHlink"/>
                </a:solidFill>
                <a:sym typeface="+mn-ea"/>
              </a:rPr>
              <a:t>在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给定温度</a:t>
            </a:r>
            <a:r>
              <a:rPr lang="zh-CN" altLang="en-US" sz="2800" b="1" dirty="0">
                <a:solidFill>
                  <a:schemeClr val="folHlink"/>
                </a:solidFill>
                <a:sym typeface="+mn-ea"/>
              </a:rPr>
              <a:t>下奥氏体的晶粒度。</a:t>
            </a:r>
            <a:endParaRPr lang="zh-CN" altLang="en-US" b="1" dirty="0">
              <a:solidFill>
                <a:schemeClr val="folHlink"/>
              </a:solidFill>
              <a:sym typeface="+mn-ea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本质晶粒度</a:t>
            </a:r>
            <a:r>
              <a:rPr lang="zh-CN" altLang="en-US" b="1" dirty="0">
                <a:solidFill>
                  <a:schemeClr val="folHlink"/>
                </a:solidFill>
                <a:sym typeface="+mn-ea"/>
              </a:rPr>
              <a:t>：</a:t>
            </a:r>
            <a:r>
              <a:rPr lang="zh-CN" altLang="en-US" sz="2800" b="1" dirty="0">
                <a:solidFill>
                  <a:schemeClr val="folHlink"/>
                </a:solidFill>
                <a:sym typeface="+mn-ea"/>
              </a:rPr>
              <a:t>加热时奥氏体晶粒的长大倾向。</a:t>
            </a:r>
            <a:endParaRPr lang="zh-CN" altLang="en-US" sz="2800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sym typeface="+mn-ea"/>
              </a:rPr>
              <a:t>通常将钢加热到</a:t>
            </a:r>
            <a:r>
              <a:rPr lang="en-US" altLang="zh-CN" sz="2400" b="1" dirty="0">
                <a:solidFill>
                  <a:schemeClr val="folHlink"/>
                </a:solidFill>
                <a:sym typeface="+mn-ea"/>
              </a:rPr>
              <a:t>940</a:t>
            </a:r>
            <a:r>
              <a:rPr lang="en-US" altLang="zh-CN" sz="2400" b="1" dirty="0">
                <a:solidFill>
                  <a:schemeClr val="folHlink"/>
                </a:solidFill>
                <a:sym typeface="Symbol" panose="05050102010706020507" pitchFamily="18" charset="2"/>
              </a:rPr>
              <a:t> </a:t>
            </a:r>
            <a:r>
              <a:rPr lang="en-US" altLang="zh-CN" sz="2400" b="1" dirty="0">
                <a:solidFill>
                  <a:schemeClr val="folHlink"/>
                </a:solidFill>
                <a:sym typeface="+mn-ea"/>
              </a:rPr>
              <a:t>10℃</a:t>
            </a:r>
            <a:r>
              <a:rPr lang="zh-CN" altLang="en-US" sz="2400" b="1" dirty="0">
                <a:sym typeface="+mn-ea"/>
              </a:rPr>
              <a:t>奥氏体化后，设法把奥氏体晶粒保留到室</a:t>
            </a:r>
            <a:r>
              <a:rPr lang="zh-CN" altLang="en-US" sz="2400" b="1" dirty="0">
                <a:ea typeface="华文中宋" panose="02010600040101010101" pitchFamily="2" charset="-122"/>
                <a:sym typeface="+mn-ea"/>
              </a:rPr>
              <a:t>温来判断。</a:t>
            </a:r>
            <a:r>
              <a:rPr lang="zh-CN" altLang="en-US" sz="2400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</a:t>
            </a:r>
            <a:r>
              <a:rPr lang="zh-CN" altLang="en-US" sz="2400" b="1" dirty="0"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ea typeface="华文中宋" panose="02010600040101010101" pitchFamily="2" charset="-122"/>
                <a:sym typeface="+mn-ea"/>
              </a:rPr>
              <a:t>晶粒度为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1-4 </a:t>
            </a:r>
            <a:r>
              <a:rPr lang="zh-CN" altLang="en-US" sz="2400" b="1" dirty="0">
                <a:ea typeface="华文中宋" panose="02010600040101010101" pitchFamily="2" charset="-122"/>
                <a:sym typeface="+mn-ea"/>
              </a:rPr>
              <a:t>级的是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本质粗晶粒钢</a:t>
            </a:r>
            <a:r>
              <a:rPr lang="zh-CN" altLang="en-US" sz="2400" b="1" dirty="0">
                <a:ea typeface="华文中宋" panose="02010600040101010101" pitchFamily="2" charset="-122"/>
                <a:sym typeface="+mn-ea"/>
              </a:rPr>
              <a:t>，</a:t>
            </a:r>
            <a:r>
              <a:rPr lang="en-US" altLang="zh-CN" sz="24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5-8 </a:t>
            </a:r>
            <a:r>
              <a:rPr lang="zh-CN" altLang="en-US" sz="2400" b="1" dirty="0">
                <a:ea typeface="华文中宋" panose="02010600040101010101" pitchFamily="2" charset="-122"/>
                <a:sym typeface="+mn-ea"/>
              </a:rPr>
              <a:t>级的是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本质细晶粒钢</a:t>
            </a:r>
            <a:r>
              <a:rPr lang="zh-CN" altLang="en-US" sz="2400" b="1" dirty="0">
                <a:ea typeface="华文中宋" panose="02010600040101010101" pitchFamily="2" charset="-122"/>
                <a:sym typeface="+mn-ea"/>
              </a:rPr>
              <a:t>。前者晶粒长大倾向大，后者晶粒长大倾向小。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folHlink"/>
              </a:solidFill>
              <a:sym typeface="+mn-ea"/>
            </a:endParaRPr>
          </a:p>
          <a:p>
            <a:pPr eaLnBrk="1" hangingPunct="1"/>
            <a:endParaRPr lang="zh-CN" altLang="en-US" b="1" dirty="0"/>
          </a:p>
          <a:p>
            <a:pPr eaLnBrk="1" hangingPunct="1"/>
            <a:endParaRPr lang="zh-CN" altLang="en-US" sz="800" b="1" dirty="0"/>
          </a:p>
        </p:txBody>
      </p:sp>
      <p:sp>
        <p:nvSpPr>
          <p:cNvPr id="2867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68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796290" y="1124585"/>
            <a:ext cx="204470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起始晶粒度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746760" y="3140710"/>
            <a:ext cx="209423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实际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晶粒度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746760" y="3644900"/>
            <a:ext cx="209423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本质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晶粒度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grpSp>
        <p:nvGrpSpPr>
          <p:cNvPr id="6" name="Group 4"/>
          <p:cNvGrpSpPr/>
          <p:nvPr/>
        </p:nvGrpSpPr>
        <p:grpSpPr>
          <a:xfrm>
            <a:off x="2843530" y="5178425"/>
            <a:ext cx="2136775" cy="1679575"/>
            <a:chOff x="3024" y="336"/>
            <a:chExt cx="2460" cy="2382"/>
          </a:xfrm>
        </p:grpSpPr>
        <p:grpSp>
          <p:nvGrpSpPr>
            <p:cNvPr id="30725" name="Group 5"/>
            <p:cNvGrpSpPr/>
            <p:nvPr/>
          </p:nvGrpSpPr>
          <p:grpSpPr>
            <a:xfrm>
              <a:off x="3024" y="336"/>
              <a:ext cx="2460" cy="2382"/>
              <a:chOff x="3024" y="336"/>
              <a:chExt cx="2460" cy="2382"/>
            </a:xfrm>
          </p:grpSpPr>
          <p:pic>
            <p:nvPicPr>
              <p:cNvPr id="30726" name="Picture 6" descr="本质晶粒度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024" y="336"/>
                <a:ext cx="2460" cy="2382"/>
              </a:xfrm>
              <a:prstGeom prst="rect">
                <a:avLst/>
              </a:prstGeom>
              <a:noFill/>
              <a:ln w="28575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0727" name="Rectangle 7"/>
              <p:cNvSpPr/>
              <p:nvPr/>
            </p:nvSpPr>
            <p:spPr>
              <a:xfrm>
                <a:off x="3792" y="1036"/>
                <a:ext cx="720" cy="192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10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本质粗晶粒钢</a:t>
                </a:r>
                <a:endParaRPr lang="zh-CN" altLang="en-US" sz="1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28" name="Rectangle 8"/>
              <p:cNvSpPr/>
              <p:nvPr/>
            </p:nvSpPr>
            <p:spPr>
              <a:xfrm>
                <a:off x="4694" y="1776"/>
                <a:ext cx="743" cy="222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10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本质细晶粒钢</a:t>
                </a:r>
                <a:endParaRPr lang="zh-CN" altLang="en-US" sz="1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29" name="Rectangle 9"/>
              <p:cNvSpPr/>
              <p:nvPr/>
            </p:nvSpPr>
            <p:spPr>
              <a:xfrm>
                <a:off x="4616" y="1998"/>
                <a:ext cx="616" cy="114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930~950℃</a:t>
                </a:r>
                <a:endParaRPr lang="en-US" altLang="zh-CN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0730" name="Rectangle 10"/>
            <p:cNvSpPr/>
            <p:nvPr/>
          </p:nvSpPr>
          <p:spPr>
            <a:xfrm>
              <a:off x="4166" y="2178"/>
              <a:ext cx="528" cy="17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温度，℃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1" name="Rectangle 11"/>
            <p:cNvSpPr/>
            <p:nvPr/>
          </p:nvSpPr>
          <p:spPr>
            <a:xfrm rot="-5467830">
              <a:off x="2794" y="1152"/>
              <a:ext cx="720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晶粒大小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2" name="Rectangle 12"/>
            <p:cNvSpPr/>
            <p:nvPr/>
          </p:nvSpPr>
          <p:spPr>
            <a:xfrm>
              <a:off x="3582" y="2178"/>
              <a:ext cx="240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Ac</a:t>
              </a:r>
              <a:r>
                <a:rPr lang="en-US" altLang="zh-CN" baseline="-25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3" name="Rectangle 13"/>
            <p:cNvSpPr/>
            <p:nvPr/>
          </p:nvSpPr>
          <p:spPr>
            <a:xfrm>
              <a:off x="3269" y="2442"/>
              <a:ext cx="2167" cy="256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2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钢的本质粗晶粒度示意图</a:t>
              </a:r>
              <a:endParaRPr lang="zh-CN" altLang="en-US" sz="12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4250" y="6591300"/>
            <a:ext cx="57467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0"/>
            <a:ext cx="79565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、影响奥氏体晶粒长大的因素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250825" y="1341438"/>
            <a:ext cx="8353425" cy="5040312"/>
          </a:xfrm>
        </p:spPr>
        <p:txBody>
          <a:bodyPr wrap="square" lIns="91440" tIns="45720" rIns="91440" bIns="45720" anchor="t"/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加热温度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保温时间：</a:t>
            </a:r>
            <a:r>
              <a:rPr lang="zh-CN" altLang="en-US" b="1" dirty="0">
                <a:ea typeface="华文中宋" panose="02010600040101010101" pitchFamily="2" charset="-122"/>
              </a:rPr>
              <a:t>加热温度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</a:t>
            </a:r>
            <a:r>
              <a:rPr lang="zh-CN" altLang="en-US" sz="2000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ea typeface="华文中宋" panose="02010600040101010101" pitchFamily="2" charset="-122"/>
              </a:rPr>
              <a:t>保温时间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长</a:t>
            </a:r>
            <a:r>
              <a:rPr lang="en-US" altLang="zh-CN" b="1" dirty="0">
                <a:ea typeface="华文中宋" panose="02010600040101010101" pitchFamily="2" charset="-122"/>
              </a:rPr>
              <a:t>,  </a:t>
            </a:r>
            <a:r>
              <a:rPr lang="en-US" altLang="zh-CN" b="1" i="1" dirty="0">
                <a:ea typeface="华文中宋" panose="02010600040101010101" pitchFamily="2" charset="-122"/>
                <a:sym typeface="Symbol" panose="05050102010706020507" pitchFamily="18" charset="2"/>
              </a:rPr>
              <a:t> </a:t>
            </a:r>
            <a:r>
              <a:rPr lang="zh-CN" altLang="en-US" b="1" dirty="0">
                <a:ea typeface="华文中宋" panose="02010600040101010101" pitchFamily="2" charset="-122"/>
              </a:rPr>
              <a:t>晶粒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粗</a:t>
            </a:r>
            <a:r>
              <a:rPr lang="zh-CN" altLang="en-US" b="1" dirty="0">
                <a:ea typeface="华文中宋" panose="02010600040101010101" pitchFamily="2" charset="-122"/>
              </a:rPr>
              <a:t>大。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⑵加热速度：</a:t>
            </a:r>
            <a:r>
              <a:rPr lang="zh-CN" altLang="en-US" b="1" dirty="0">
                <a:ea typeface="华文中宋" panose="02010600040101010101" pitchFamily="2" charset="-122"/>
              </a:rPr>
              <a:t>速度越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快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过热度越大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形核率越高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晶粒越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细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⑶合金元素：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⑷ 原始组织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</a:t>
            </a:r>
            <a:endParaRPr lang="en-US" altLang="zh-CN" b="1" dirty="0"/>
          </a:p>
        </p:txBody>
      </p:sp>
      <p:sp>
        <p:nvSpPr>
          <p:cNvPr id="3174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462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77275" y="6557963"/>
            <a:ext cx="466725" cy="3175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5816" y="0"/>
            <a:ext cx="8058184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、影响奥氏体晶粒长大的因素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2771" name="Rectangle 3"/>
          <p:cNvSpPr>
            <a:spLocks noGrp="1"/>
          </p:cNvSpPr>
          <p:nvPr>
            <p:ph idx="1"/>
          </p:nvPr>
        </p:nvSpPr>
        <p:spPr>
          <a:xfrm>
            <a:off x="468313" y="1196975"/>
            <a:ext cx="4960937" cy="50895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⑶合金元素：</a:t>
            </a: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r>
              <a:rPr lang="en-US" altLang="zh-CN" b="1" dirty="0">
                <a:solidFill>
                  <a:schemeClr val="folHlink"/>
                </a:solidFill>
              </a:rPr>
              <a:t>  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阻碍</a:t>
            </a:r>
            <a:r>
              <a:rPr lang="zh-CN" altLang="en-US" b="1" dirty="0">
                <a:solidFill>
                  <a:srgbClr val="CCFFCC"/>
                </a:solidFill>
              </a:rPr>
              <a:t>奥氏体晶粒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长大</a:t>
            </a:r>
            <a:r>
              <a:rPr lang="zh-CN" altLang="en-US" b="1" dirty="0">
                <a:solidFill>
                  <a:srgbClr val="CCFFCC"/>
                </a:solidFill>
              </a:rPr>
              <a:t>的元素：</a:t>
            </a:r>
            <a:r>
              <a:rPr lang="en-US" altLang="zh-CN" b="1" dirty="0">
                <a:solidFill>
                  <a:schemeClr val="folHlink"/>
                </a:solidFill>
              </a:rPr>
              <a:t>Ti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V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Nb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Ta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Zr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W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Mo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</a:rPr>
              <a:t>Al</a:t>
            </a:r>
            <a:r>
              <a:rPr lang="zh-CN" altLang="en-US" b="1" dirty="0">
                <a:solidFill>
                  <a:schemeClr val="folHlink"/>
                </a:solidFill>
              </a:rPr>
              <a:t>等碳化物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chemeClr val="folHlink"/>
                </a:solidFill>
              </a:rPr>
              <a:t>氮化物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chemeClr val="folHlink"/>
                </a:solidFill>
              </a:rPr>
              <a:t>氧化物</a:t>
            </a:r>
            <a:r>
              <a:rPr lang="zh-CN" altLang="en-US" b="1" dirty="0"/>
              <a:t>形成元素。</a:t>
            </a:r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促进</a:t>
            </a:r>
            <a:r>
              <a:rPr lang="zh-CN" altLang="en-US" b="1" dirty="0">
                <a:solidFill>
                  <a:srgbClr val="CCFFCC"/>
                </a:solidFill>
                <a:ea typeface="华文中宋" panose="02010600040101010101" pitchFamily="2" charset="-122"/>
              </a:rPr>
              <a:t>奥氏体晶粒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长大</a:t>
            </a:r>
            <a:r>
              <a:rPr lang="zh-CN" altLang="en-US" b="1" dirty="0">
                <a:solidFill>
                  <a:srgbClr val="CCFFCC"/>
                </a:solidFill>
                <a:ea typeface="华文中宋" panose="02010600040101010101" pitchFamily="2" charset="-122"/>
              </a:rPr>
              <a:t>的元素：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184056" y="1245235"/>
            <a:ext cx="2519254" cy="4788130"/>
            <a:chOff x="3518" y="268"/>
            <a:chExt cx="2048" cy="3523"/>
          </a:xfrm>
        </p:grpSpPr>
        <p:grpSp>
          <p:nvGrpSpPr>
            <p:cNvPr id="32773" name="Group 5"/>
            <p:cNvGrpSpPr>
              <a:grpSpLocks noChangeAspect="1"/>
            </p:cNvGrpSpPr>
            <p:nvPr/>
          </p:nvGrpSpPr>
          <p:grpSpPr>
            <a:xfrm>
              <a:off x="3554" y="2276"/>
              <a:ext cx="2012" cy="1515"/>
              <a:chOff x="3525" y="2400"/>
              <a:chExt cx="1875" cy="1313"/>
            </a:xfrm>
          </p:grpSpPr>
          <p:pic>
            <p:nvPicPr>
              <p:cNvPr id="32774" name="Picture 6" descr="析出颗粒对黄铜晶界的钉扎"/>
              <p:cNvPicPr preferRelativeResize="0"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540" y="2400"/>
                <a:ext cx="1860" cy="1313"/>
              </a:xfrm>
              <a:prstGeom prst="rect">
                <a:avLst/>
              </a:prstGeom>
              <a:noFill/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2775" name="Text Box 7"/>
              <p:cNvSpPr txBox="1">
                <a:spLocks noChangeAspect="1"/>
              </p:cNvSpPr>
              <p:nvPr/>
            </p:nvSpPr>
            <p:spPr>
              <a:xfrm>
                <a:off x="3525" y="3027"/>
                <a:ext cx="672" cy="6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析出颗粒对黄铜晶界的钉扎</a:t>
                </a:r>
                <a:endPara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32776" name="Group 8"/>
            <p:cNvGrpSpPr/>
            <p:nvPr/>
          </p:nvGrpSpPr>
          <p:grpSpPr>
            <a:xfrm>
              <a:off x="3518" y="268"/>
              <a:ext cx="2046" cy="1952"/>
              <a:chOff x="3518" y="268"/>
              <a:chExt cx="2046" cy="1952"/>
            </a:xfrm>
          </p:grpSpPr>
          <p:pic>
            <p:nvPicPr>
              <p:cNvPr id="32777" name="Picture 9" descr="Nb, Ti微合金化对抑制GCHAZ奥氏体晶粒长大的作用"/>
              <p:cNvPicPr preferRelativeResize="0"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585" y="268"/>
                <a:ext cx="1979" cy="1927"/>
              </a:xfrm>
              <a:prstGeom prst="rect">
                <a:avLst/>
              </a:prstGeom>
              <a:noFill/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2778" name="Text Box 10"/>
              <p:cNvSpPr txBox="1">
                <a:spLocks noChangeAspect="1"/>
              </p:cNvSpPr>
              <p:nvPr/>
            </p:nvSpPr>
            <p:spPr>
              <a:xfrm>
                <a:off x="3702" y="1856"/>
                <a:ext cx="571" cy="22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Nb/%</a:t>
                </a:r>
                <a:endParaRPr lang="en-US" altLang="zh-CN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79" name="Text Box 11"/>
              <p:cNvSpPr txBox="1">
                <a:spLocks noChangeAspect="1"/>
              </p:cNvSpPr>
              <p:nvPr/>
            </p:nvSpPr>
            <p:spPr>
              <a:xfrm rot="-5400000">
                <a:off x="3008" y="959"/>
                <a:ext cx="1337" cy="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奥氏体晶粒尺寸</a:t>
                </a:r>
                <a:r>
                  <a:rPr lang="en-US" altLang="zh-CN" sz="14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/μm</a:t>
                </a:r>
                <a:endParaRPr lang="en-US" altLang="zh-CN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80" name="Text Box 12"/>
              <p:cNvSpPr txBox="1">
                <a:spLocks noChangeAspect="1"/>
              </p:cNvSpPr>
              <p:nvPr/>
            </p:nvSpPr>
            <p:spPr>
              <a:xfrm>
                <a:off x="3518" y="1997"/>
                <a:ext cx="1983" cy="2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Nb</a:t>
                </a:r>
                <a:r>
                  <a:rPr lang="zh-CN" altLang="en-US" sz="1400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lang="en-US" altLang="zh-CN" sz="1400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Ti</a:t>
                </a:r>
                <a:r>
                  <a:rPr lang="zh-CN" altLang="en-US" sz="1400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对</a:t>
                </a:r>
                <a:r>
                  <a:rPr lang="zh-CN" altLang="ru-RU" sz="1400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奥氏体晶粒的影响</a:t>
                </a:r>
                <a:endPara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278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4833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86750" y="6597650"/>
            <a:ext cx="457200" cy="2603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2" y="0"/>
            <a:ext cx="824233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、影响奥氏体晶粒长大的因素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0" y="1104265"/>
            <a:ext cx="9076055" cy="502412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⑷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原始组织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平衡状态的组织有利于</a:t>
            </a:r>
            <a:r>
              <a:rPr lang="zh-CN" altLang="en-US" b="1" dirty="0">
                <a:ea typeface="华文中宋" panose="02010600040101010101" pitchFamily="2" charset="-122"/>
              </a:rPr>
              <a:t>获得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细晶粒。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奥氏体晶粒粗大，冷却后的组织也粗大，降低钢的常温力学性能，尤其是塑性。因此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加热得到细而均匀的奥氏体晶粒是热处理的关键问题</a:t>
            </a:r>
            <a:r>
              <a:rPr lang="zh-CN" altLang="en-US" b="1" dirty="0">
                <a:ea typeface="华文中宋" panose="02010600040101010101" pitchFamily="2" charset="-122"/>
              </a:rPr>
              <a:t>之一。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dirty="0"/>
          </a:p>
        </p:txBody>
      </p:sp>
      <p:grpSp>
        <p:nvGrpSpPr>
          <p:cNvPr id="2" name="Group 4"/>
          <p:cNvGrpSpPr/>
          <p:nvPr/>
        </p:nvGrpSpPr>
        <p:grpSpPr>
          <a:xfrm>
            <a:off x="1835785" y="4004945"/>
            <a:ext cx="6546850" cy="1822450"/>
            <a:chOff x="480" y="2448"/>
            <a:chExt cx="4897" cy="1586"/>
          </a:xfrm>
        </p:grpSpPr>
        <p:grpSp>
          <p:nvGrpSpPr>
            <p:cNvPr id="33797" name="Group 5"/>
            <p:cNvGrpSpPr/>
            <p:nvPr/>
          </p:nvGrpSpPr>
          <p:grpSpPr>
            <a:xfrm>
              <a:off x="480" y="2448"/>
              <a:ext cx="2453" cy="1586"/>
              <a:chOff x="480" y="2448"/>
              <a:chExt cx="2453" cy="1586"/>
            </a:xfrm>
          </p:grpSpPr>
          <p:pic>
            <p:nvPicPr>
              <p:cNvPr id="33798" name="Picture 6" descr="珠光体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480" y="2448"/>
                <a:ext cx="2453" cy="1586"/>
              </a:xfrm>
              <a:prstGeom prst="rect">
                <a:avLst/>
              </a:prstGeom>
              <a:noFill/>
              <a:ln w="28575" cap="flat" cmpd="sng">
                <a:solidFill>
                  <a:srgbClr val="00FF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3799" name="Rectangle 7"/>
              <p:cNvSpPr/>
              <p:nvPr/>
            </p:nvSpPr>
            <p:spPr>
              <a:xfrm>
                <a:off x="2448" y="3888"/>
                <a:ext cx="480" cy="144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珠光体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3800" name="Group 8"/>
            <p:cNvGrpSpPr/>
            <p:nvPr/>
          </p:nvGrpSpPr>
          <p:grpSpPr>
            <a:xfrm>
              <a:off x="3024" y="2448"/>
              <a:ext cx="2353" cy="1586"/>
              <a:chOff x="3024" y="2448"/>
              <a:chExt cx="2353" cy="1586"/>
            </a:xfrm>
          </p:grpSpPr>
          <p:pic>
            <p:nvPicPr>
              <p:cNvPr id="33801" name="Picture 9" descr="austenite1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24" y="2448"/>
                <a:ext cx="2353" cy="1586"/>
              </a:xfrm>
              <a:prstGeom prst="rect">
                <a:avLst/>
              </a:prstGeom>
              <a:noFill/>
              <a:ln w="28575" cap="flat" cmpd="sng">
                <a:solidFill>
                  <a:srgbClr val="00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3802" name="Rectangle 10"/>
              <p:cNvSpPr/>
              <p:nvPr/>
            </p:nvSpPr>
            <p:spPr>
              <a:xfrm>
                <a:off x="3024" y="3888"/>
                <a:ext cx="432" cy="144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奥氏体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3803" name="AutoShape 11">
            <a:hlinkClick r:id="rId3" action="ppaction://hlinksldjump"/>
          </p:cNvPr>
          <p:cNvSpPr/>
          <p:nvPr/>
        </p:nvSpPr>
        <p:spPr>
          <a:xfrm>
            <a:off x="8856663" y="6669088"/>
            <a:ext cx="287337" cy="18891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05" name="日期占位符 1"/>
          <p:cNvSpPr>
            <a:spLocks noGrp="1"/>
          </p:cNvSpPr>
          <p:nvPr>
            <p:ph type="dt" sz="half" idx="10"/>
          </p:nvPr>
        </p:nvSpPr>
        <p:spPr>
          <a:xfrm>
            <a:off x="100013" y="6502400"/>
            <a:ext cx="1785937" cy="3556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62988" y="6657975"/>
            <a:ext cx="476250" cy="2095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60045" y="1340485"/>
            <a:ext cx="8779510" cy="300482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</a:t>
            </a: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三节  钢在冷却时的转变</a:t>
            </a:r>
            <a:br>
              <a:rPr kumimoji="1" lang="en-US" altLang="zh-CN" sz="5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lang="en-US" altLang="zh-CN" sz="5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Transformation During Cooling</a:t>
            </a:r>
            <a:endParaRPr kumimoji="1" lang="zh-CN" altLang="en-US" sz="5400" b="1" i="1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82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462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830" y="25647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4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62988" y="6657975"/>
            <a:ext cx="476250" cy="2095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3" y="0"/>
            <a:ext cx="7772400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第三节  钢在冷却时的转变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0835" name="Rectangle 3"/>
          <p:cNvSpPr>
            <a:spLocks noGrp="1"/>
          </p:cNvSpPr>
          <p:nvPr>
            <p:ph idx="1"/>
          </p:nvPr>
        </p:nvSpPr>
        <p:spPr>
          <a:xfrm>
            <a:off x="468313" y="1989138"/>
            <a:ext cx="8305800" cy="3671887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一、过冷奥氏体的转变产物及转变过程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二、过冷奥氏体转变图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3482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462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4" grpId="0"/>
      <p:bldP spid="120835" grpId="0" advAuto="100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62988" y="6657975"/>
            <a:ext cx="476250" cy="2095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840105" y="0"/>
            <a:ext cx="8116570" cy="99250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ea typeface="华文中宋" panose="02010600040101010101" pitchFamily="2" charset="-122"/>
                <a:sym typeface="+mn-ea"/>
              </a:rPr>
              <a:t>一、过冷奥氏体的转变产物及转变过程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  <a:sym typeface="+mn-ea"/>
            </a:endParaRPr>
          </a:p>
        </p:txBody>
      </p:sp>
      <p:sp>
        <p:nvSpPr>
          <p:cNvPr id="120835" name="Rectangle 3"/>
          <p:cNvSpPr>
            <a:spLocks noGrp="1"/>
          </p:cNvSpPr>
          <p:nvPr>
            <p:ph idx="1"/>
          </p:nvPr>
        </p:nvSpPr>
        <p:spPr>
          <a:xfrm>
            <a:off x="468313" y="1989138"/>
            <a:ext cx="8305800" cy="3671887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珠光体转变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  <a:hlinkClick r:id="rId1" action="ppaction://hlinksldjump"/>
              </a:rPr>
              <a:t>贝氏体转变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马氏体转变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3482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462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4" grpId="0" bldLvl="0" animBg="1"/>
      <p:bldP spid="120835" grpId="0" advAuto="100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62988" y="6657975"/>
            <a:ext cx="476250" cy="2095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28" y="980796"/>
            <a:ext cx="9036372" cy="360030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lang="zh-CN" altLang="en-US" sz="6600" b="1" dirty="0">
                <a:ea typeface="华文中宋" panose="02010600040101010101" pitchFamily="2" charset="-122"/>
              </a:rPr>
              <a:t>（一）珠光体转变</a:t>
            </a:r>
            <a:br>
              <a:rPr lang="en-US" altLang="zh-CN" sz="6600" b="1" dirty="0">
                <a:ea typeface="华文中宋" panose="02010600040101010101" pitchFamily="2" charset="-122"/>
              </a:rPr>
            </a:br>
            <a:r>
              <a:rPr lang="en-GB" altLang="zh-CN" sz="6000" b="1" i="1" dirty="0">
                <a:effectLst/>
                <a:latin typeface="+mn-lt"/>
                <a:ea typeface="华文中宋" panose="02010600040101010101" pitchFamily="2" charset="-122"/>
              </a:rPr>
              <a:t>Pe</a:t>
            </a:r>
            <a:r>
              <a:rPr lang="en-US" altLang="zh-CN" sz="6000" b="1" i="1" dirty="0">
                <a:effectLst/>
                <a:latin typeface="+mn-lt"/>
                <a:ea typeface="华文中宋" panose="02010600040101010101" pitchFamily="2" charset="-122"/>
              </a:rPr>
              <a:t>a</a:t>
            </a:r>
            <a:r>
              <a:rPr lang="en-GB" altLang="zh-CN" sz="6000" b="1" i="1" dirty="0" err="1">
                <a:effectLst/>
                <a:latin typeface="+mn-lt"/>
                <a:ea typeface="华文中宋" panose="02010600040101010101" pitchFamily="2" charset="-122"/>
              </a:rPr>
              <a:t>rlitic</a:t>
            </a:r>
            <a:r>
              <a:rPr lang="en-GB" altLang="zh-CN" sz="6000" b="1" i="1" dirty="0">
                <a:effectLst/>
                <a:latin typeface="+mn-lt"/>
                <a:ea typeface="华文中宋" panose="02010600040101010101" pitchFamily="2" charset="-122"/>
              </a:rPr>
              <a:t> Transformation</a:t>
            </a:r>
            <a:endParaRPr kumimoji="1" lang="zh-CN" altLang="en-US" sz="6000" b="1" i="1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82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462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28530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4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8850" y="6524625"/>
            <a:ext cx="517525" cy="3238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0"/>
            <a:ext cx="667067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（一）珠光体转变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401935" y="1552073"/>
            <a:ext cx="8570913" cy="4253126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FFCC99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FFCC99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珠光体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组织形态</a:t>
            </a:r>
            <a:r>
              <a:rPr lang="zh-CN" altLang="en-US" b="1" dirty="0"/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ea typeface="华文中宋" panose="02010600040101010101" pitchFamily="2" charset="-122"/>
              </a:rPr>
              <a:t>、珠光体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转变过程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3585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8850" y="6524625"/>
            <a:ext cx="517525" cy="3238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9" y="0"/>
            <a:ext cx="5810314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（一）珠光体转变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393700" y="1064895"/>
            <a:ext cx="8571230" cy="517398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FFCC99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FFCC99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珠光体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组织形态</a:t>
            </a:r>
            <a:r>
              <a:rPr lang="zh-CN" altLang="en-US" b="1" dirty="0"/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</a:t>
            </a:r>
            <a:endParaRPr lang="zh-CN" altLang="en-US" b="1" dirty="0">
              <a:solidFill>
                <a:srgbClr val="FFCC99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过冷奥氏体</a:t>
            </a:r>
            <a:r>
              <a:rPr lang="zh-CN" altLang="en-US" b="1" dirty="0"/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到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550℃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间</a:t>
            </a:r>
            <a:r>
              <a:rPr lang="zh-CN" altLang="en-US" b="1" dirty="0"/>
              <a:t>将转变为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珠光体类型组织</a:t>
            </a:r>
            <a:r>
              <a:rPr lang="zh-CN" altLang="en-US" b="1" dirty="0">
                <a:ea typeface="华文中宋" panose="02010600040101010101" pitchFamily="2" charset="-122"/>
              </a:rPr>
              <a:t>，它是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铁素体</a:t>
            </a:r>
            <a:r>
              <a:rPr lang="zh-CN" altLang="en-US" b="1" dirty="0"/>
              <a:t>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渗碳体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片层相间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机</a:t>
            </a:r>
            <a:r>
              <a:rPr lang="zh-CN" altLang="en-US" b="1" dirty="0">
                <a:solidFill>
                  <a:schemeClr val="folHlink"/>
                </a:solidFill>
              </a:rPr>
              <a:t>械混合物。</a:t>
            </a:r>
            <a:r>
              <a:rPr lang="zh-CN" altLang="en-US" b="1" dirty="0"/>
              <a:t>根据片层厚薄不同，又细分为</a:t>
            </a:r>
            <a:r>
              <a:rPr lang="zh-CN" altLang="en-US" b="1" dirty="0">
                <a:solidFill>
                  <a:schemeClr val="folHlink"/>
                </a:solidFill>
              </a:rPr>
              <a:t>珠光体、索氏体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folHlink"/>
                </a:solidFill>
              </a:rPr>
              <a:t>屈氏体</a:t>
            </a:r>
            <a:r>
              <a:rPr lang="zh-CN" altLang="en-US" b="1" dirty="0">
                <a:solidFill>
                  <a:schemeClr val="accent1"/>
                </a:solidFill>
              </a:rPr>
              <a:t>。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grpSp>
        <p:nvGrpSpPr>
          <p:cNvPr id="35844" name="Group 12"/>
          <p:cNvGrpSpPr/>
          <p:nvPr/>
        </p:nvGrpSpPr>
        <p:grpSpPr>
          <a:xfrm>
            <a:off x="1660525" y="4548505"/>
            <a:ext cx="6601460" cy="1726230"/>
            <a:chOff x="830" y="2931"/>
            <a:chExt cx="4689" cy="1419"/>
          </a:xfrm>
        </p:grpSpPr>
        <p:pic>
          <p:nvPicPr>
            <p:cNvPr id="35845" name="Picture 4" descr="0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30" y="2931"/>
              <a:ext cx="1368" cy="1389"/>
            </a:xfrm>
            <a:prstGeom prst="rect">
              <a:avLst/>
            </a:prstGeom>
            <a:noFill/>
            <a:ln w="381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5846" name="Rectangle 5"/>
            <p:cNvSpPr>
              <a:spLocks noChangeAspect="1"/>
            </p:cNvSpPr>
            <p:nvPr/>
          </p:nvSpPr>
          <p:spPr>
            <a:xfrm>
              <a:off x="1651" y="4170"/>
              <a:ext cx="466" cy="155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珠光体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35847" name="Picture 6" descr="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" y="2942"/>
              <a:ext cx="1407" cy="1378"/>
            </a:xfrm>
            <a:prstGeom prst="rect">
              <a:avLst/>
            </a:prstGeom>
            <a:noFill/>
            <a:ln w="381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5848" name="Rectangle 9"/>
            <p:cNvSpPr>
              <a:spLocks noChangeAspect="1"/>
            </p:cNvSpPr>
            <p:nvPr/>
          </p:nvSpPr>
          <p:spPr>
            <a:xfrm>
              <a:off x="3108" y="4170"/>
              <a:ext cx="538" cy="18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索氏体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35849" name="Picture 10" descr="0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5" y="2951"/>
              <a:ext cx="1414" cy="1369"/>
            </a:xfrm>
            <a:prstGeom prst="rect">
              <a:avLst/>
            </a:prstGeom>
            <a:noFill/>
            <a:ln w="381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5850" name="Rectangle 11"/>
            <p:cNvSpPr>
              <a:spLocks noChangeAspect="1"/>
            </p:cNvSpPr>
            <p:nvPr/>
          </p:nvSpPr>
          <p:spPr>
            <a:xfrm>
              <a:off x="4967" y="4171"/>
              <a:ext cx="488" cy="16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托氏体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585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2813" y="6613525"/>
            <a:ext cx="62865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2887" name="Rectangle 7"/>
          <p:cNvSpPr>
            <a:spLocks noGrp="1"/>
          </p:cNvSpPr>
          <p:nvPr>
            <p:ph idx="1"/>
          </p:nvPr>
        </p:nvSpPr>
        <p:spPr>
          <a:xfrm>
            <a:off x="461320" y="1363341"/>
            <a:ext cx="4762240" cy="354647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FDF7F1"/>
                </a:solidFill>
                <a:ea typeface="华文中宋" panose="02010600040101010101" pitchFamily="2" charset="-122"/>
              </a:rPr>
              <a:t>形成温度为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-650℃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FDF7F1"/>
                </a:solidFill>
                <a:ea typeface="华文中宋" panose="02010600040101010101" pitchFamily="2" charset="-122"/>
              </a:rPr>
              <a:t>片层较厚，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500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倍</a:t>
            </a:r>
            <a:r>
              <a:rPr lang="zh-CN" altLang="en-US" b="1" dirty="0">
                <a:solidFill>
                  <a:srgbClr val="FDF7F1"/>
                </a:solidFill>
                <a:ea typeface="华文中宋" panose="02010600040101010101" pitchFamily="2" charset="-122"/>
              </a:rPr>
              <a:t>光镜下可辨，用符号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</a:t>
            </a:r>
            <a:r>
              <a:rPr lang="zh-CN" altLang="en-US" b="1" dirty="0">
                <a:solidFill>
                  <a:srgbClr val="FDF7F1"/>
                </a:solidFill>
                <a:ea typeface="华文中宋" panose="02010600040101010101" pitchFamily="2" charset="-122"/>
              </a:rPr>
              <a:t>表示。</a:t>
            </a:r>
            <a:endParaRPr lang="en-US" altLang="zh-CN" dirty="0">
              <a:solidFill>
                <a:srgbClr val="FDF7F1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4356968" y="3014193"/>
            <a:ext cx="4391682" cy="2429775"/>
            <a:chOff x="2216" y="1722"/>
            <a:chExt cx="2943" cy="1617"/>
          </a:xfrm>
        </p:grpSpPr>
        <p:pic>
          <p:nvPicPr>
            <p:cNvPr id="36869" name="Picture 3" descr="珠光体（电镜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759" y="1998"/>
              <a:ext cx="1334" cy="1055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36870" name="Picture 4" descr="珠光体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6" y="1998"/>
              <a:ext cx="1420" cy="1070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6871" name="Rectangle 5"/>
            <p:cNvSpPr>
              <a:spLocks noChangeAspect="1"/>
            </p:cNvSpPr>
            <p:nvPr/>
          </p:nvSpPr>
          <p:spPr>
            <a:xfrm>
              <a:off x="2602" y="3148"/>
              <a:ext cx="799" cy="191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光镜下形貌</a:t>
              </a:r>
              <a:endParaRPr lang="zh-CN" altLang="en-US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2" name="Text Box 6"/>
            <p:cNvSpPr txBox="1">
              <a:spLocks noChangeAspect="1"/>
            </p:cNvSpPr>
            <p:nvPr/>
          </p:nvSpPr>
          <p:spPr>
            <a:xfrm>
              <a:off x="4006" y="3100"/>
              <a:ext cx="958" cy="227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square" anchor="t">
              <a:noAutofit/>
            </a:bodyPr>
            <a:lstStyle/>
            <a:p>
              <a:pPr algn="ctr"/>
              <a:r>
                <a:rPr lang="zh-CN" altLang="en-US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电镜下形貌</a:t>
              </a:r>
              <a:endParaRPr lang="zh-CN" altLang="en-US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4" name="Rectangle 9"/>
            <p:cNvSpPr>
              <a:spLocks noChangeAspect="1"/>
            </p:cNvSpPr>
            <p:nvPr/>
          </p:nvSpPr>
          <p:spPr>
            <a:xfrm>
              <a:off x="2773" y="1722"/>
              <a:ext cx="2386" cy="18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三维珠光体如同放在水中的包心菜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687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68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0"/>
            <a:ext cx="667067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）珠光体</a:t>
            </a:r>
            <a:r>
              <a:rPr lang="en-US" altLang="zh-CN" b="1" dirty="0">
                <a:ea typeface="华文中宋" panose="02010600040101010101" pitchFamily="2" charset="-122"/>
              </a:rPr>
              <a:t>Pearlite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 cstate="print"/>
          <a:srcRect l="63196" t="33284" r="28142" b="52877"/>
          <a:stretch>
            <a:fillRect/>
          </a:stretch>
        </p:blipFill>
        <p:spPr>
          <a:xfrm>
            <a:off x="6195695" y="1203960"/>
            <a:ext cx="1975485" cy="1775460"/>
          </a:xfrm>
          <a:prstGeom prst="rect">
            <a:avLst/>
          </a:prstGeom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7" grpId="0" advAuto="100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380" y="6630670"/>
            <a:ext cx="476250" cy="22733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3913" name="Rectangle 9"/>
          <p:cNvSpPr>
            <a:spLocks noGrp="1"/>
          </p:cNvSpPr>
          <p:nvPr>
            <p:ph idx="1"/>
          </p:nvPr>
        </p:nvSpPr>
        <p:spPr>
          <a:xfrm>
            <a:off x="467360" y="1243330"/>
            <a:ext cx="4824095" cy="300355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形成温度为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650~ 600℃</a:t>
            </a:r>
            <a:r>
              <a:rPr lang="zh-CN" altLang="en-US" b="1" dirty="0">
                <a:ea typeface="华文中宋" panose="02010600040101010101" pitchFamily="2" charset="-122"/>
              </a:rPr>
              <a:t>，片层较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薄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800-1000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倍光镜下可辨，用符号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表示。</a:t>
            </a:r>
            <a:endParaRPr lang="zh-CN" altLang="en-US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21"/>
          <p:cNvGrpSpPr/>
          <p:nvPr/>
        </p:nvGrpSpPr>
        <p:grpSpPr>
          <a:xfrm>
            <a:off x="6543764" y="1268730"/>
            <a:ext cx="2349622" cy="4512468"/>
            <a:chOff x="3377" y="359"/>
            <a:chExt cx="1914" cy="3038"/>
          </a:xfrm>
        </p:grpSpPr>
        <p:pic>
          <p:nvPicPr>
            <p:cNvPr id="37893" name="Picture 7" descr="屈氏体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77" y="359"/>
              <a:ext cx="1904" cy="1500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7894" name="Rectangle 8"/>
            <p:cNvSpPr>
              <a:spLocks noChangeAspect="1"/>
            </p:cNvSpPr>
            <p:nvPr/>
          </p:nvSpPr>
          <p:spPr>
            <a:xfrm>
              <a:off x="3377" y="1619"/>
              <a:ext cx="1041" cy="236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电镜形貌</a:t>
              </a:r>
              <a:endPara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37895" name="Picture 14" descr="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0" y="1984"/>
              <a:ext cx="1901" cy="1413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7896" name="Rectangle 15"/>
            <p:cNvSpPr>
              <a:spLocks noChangeAspect="1"/>
            </p:cNvSpPr>
            <p:nvPr/>
          </p:nvSpPr>
          <p:spPr>
            <a:xfrm>
              <a:off x="4235" y="3173"/>
              <a:ext cx="1035" cy="219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光镜形貌</a:t>
              </a:r>
              <a:endPara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89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087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59891" y="4140"/>
            <a:ext cx="5646406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indent="0" eaLnBrk="1" hangingPunct="1">
              <a:buNone/>
            </a:pPr>
            <a:r>
              <a:rPr lang="en-US" altLang="zh-CN" b="1" dirty="0"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ea typeface="华文中宋" panose="02010600040101010101" pitchFamily="2" charset="-122"/>
              </a:rPr>
              <a:t>索氏体 </a:t>
            </a:r>
            <a:r>
              <a:rPr lang="en-US" altLang="zh-CN" b="1" dirty="0" err="1">
                <a:effectLst/>
                <a:ea typeface="华文中宋" panose="02010600040101010101" pitchFamily="2" charset="-122"/>
              </a:rPr>
              <a:t>Sorbite</a:t>
            </a:r>
            <a:endParaRPr lang="zh-CN" altLang="en-US" b="1" dirty="0">
              <a:effectLst/>
              <a:ea typeface="华文中宋" panose="02010600040101010101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3" grpId="0" advAuto="100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8070" y="6608445"/>
            <a:ext cx="455930" cy="24955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4930" name="Rectangle 2"/>
          <p:cNvSpPr>
            <a:spLocks noGrp="1"/>
          </p:cNvSpPr>
          <p:nvPr>
            <p:ph idx="1"/>
          </p:nvPr>
        </p:nvSpPr>
        <p:spPr>
          <a:xfrm>
            <a:off x="785813" y="972626"/>
            <a:ext cx="8305800" cy="28194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形成温度为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600-550℃</a:t>
            </a:r>
            <a:r>
              <a:rPr lang="zh-CN" altLang="en-US" b="1" dirty="0">
                <a:ea typeface="华文中宋" panose="02010600040101010101" pitchFamily="2" charset="-122"/>
              </a:rPr>
              <a:t>，片层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极薄</a:t>
            </a:r>
            <a:r>
              <a:rPr lang="zh-CN" altLang="en-US" b="1" dirty="0">
                <a:ea typeface="华文中宋" panose="02010600040101010101" pitchFamily="2" charset="-122"/>
              </a:rPr>
              <a:t>，电镜下可辨，用符号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 </a:t>
            </a:r>
            <a:r>
              <a:rPr lang="zh-CN" altLang="en-US" b="1" dirty="0">
                <a:ea typeface="华文中宋" panose="02010600040101010101" pitchFamily="2" charset="-122"/>
              </a:rPr>
              <a:t>表示。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1546860" y="2995930"/>
            <a:ext cx="7068820" cy="2590165"/>
            <a:chOff x="432" y="1920"/>
            <a:chExt cx="4932" cy="2049"/>
          </a:xfrm>
        </p:grpSpPr>
        <p:pic>
          <p:nvPicPr>
            <p:cNvPr id="38916" name="Picture 4" descr="屈氏体（电镜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2" y="1920"/>
              <a:ext cx="2485" cy="2048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8917" name="Rectangle 5"/>
            <p:cNvSpPr/>
            <p:nvPr/>
          </p:nvSpPr>
          <p:spPr>
            <a:xfrm>
              <a:off x="432" y="3744"/>
              <a:ext cx="912" cy="216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sz="2400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电镜形貌</a:t>
              </a:r>
              <a:endParaRPr lang="zh-CN" altLang="en-US" sz="2400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38918" name="Picture 6" descr="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0" y="1927"/>
              <a:ext cx="2104" cy="2038"/>
            </a:xfrm>
            <a:prstGeom prst="rect">
              <a:avLst/>
            </a:prstGeom>
            <a:noFill/>
            <a:ln w="28575" cap="flat" cmpd="sng">
              <a:solidFill>
                <a:srgbClr val="FF99CC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8919" name="Rectangle 7"/>
            <p:cNvSpPr/>
            <p:nvPr/>
          </p:nvSpPr>
          <p:spPr>
            <a:xfrm>
              <a:off x="4443" y="3753"/>
              <a:ext cx="912" cy="216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sz="2400" dirty="0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光镜形貌</a:t>
              </a:r>
              <a:endParaRPr lang="zh-CN" altLang="en-US" sz="2400" dirty="0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92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748" y="-159"/>
            <a:ext cx="5646406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⑶ </a:t>
            </a:r>
            <a:r>
              <a:rPr lang="zh-CN" altLang="en-US" b="1" dirty="0">
                <a:ea typeface="华文中宋" panose="02010600040101010101" pitchFamily="2" charset="-122"/>
              </a:rPr>
              <a:t>屈氏体 </a:t>
            </a:r>
            <a:r>
              <a:rPr lang="en-GB" altLang="zh-CN" b="1" dirty="0">
                <a:ea typeface="华文中宋" panose="02010600040101010101" pitchFamily="2" charset="-122"/>
              </a:rPr>
              <a:t>troostite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dvAuto="100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77225" y="6586538"/>
            <a:ext cx="628650" cy="2714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5954" name="Rectangle 2"/>
          <p:cNvSpPr>
            <a:spLocks noGrp="1" noChangeArrowheads="1"/>
          </p:cNvSpPr>
          <p:nvPr>
            <p:ph idx="1"/>
          </p:nvPr>
        </p:nvSpPr>
        <p:spPr>
          <a:xfrm>
            <a:off x="358775" y="1059180"/>
            <a:ext cx="8752205" cy="395160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珠光体、索氏体、屈氏体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三种组织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无本质区别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，只是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形态上的粗细之分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，因其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界限也是相对的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noProof="1"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片间距越小，钢的强度、硬度越高，而塑性</a:t>
            </a:r>
            <a:r>
              <a:rPr lang="zh-CN" altLang="en-US" dirty="0">
                <a:ea typeface="华文中宋" panose="02010600040101010101" pitchFamily="2" charset="-122"/>
              </a:rPr>
              <a:t>和</a:t>
            </a:r>
            <a:r>
              <a:rPr lang="zh-CN" altLang="en-US" noProof="1"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韧性略有改善。</a:t>
            </a:r>
            <a:r>
              <a:rPr lang="en-US" altLang="zh-CN" noProof="1"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 </a:t>
            </a:r>
            <a:endParaRPr lang="en-US" altLang="zh-CN" noProof="1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125955" name="Picture 3" descr="珠光体片间距与性能关系"/>
          <p:cNvPicPr preferRelativeResize="0"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347795" y="3356296"/>
            <a:ext cx="3398762" cy="2421143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39941" name="Picture 11" descr="未命名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75780" y="2910840"/>
            <a:ext cx="2035810" cy="2867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5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dvAuto="100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837488" y="6662738"/>
            <a:ext cx="639762" cy="1952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6981" name="Rectangle 5"/>
          <p:cNvSpPr>
            <a:spLocks noGrp="1"/>
          </p:cNvSpPr>
          <p:nvPr>
            <p:ph idx="1"/>
          </p:nvPr>
        </p:nvSpPr>
        <p:spPr>
          <a:xfrm>
            <a:off x="95250" y="1174750"/>
            <a:ext cx="5636895" cy="475234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珠光体转变</a:t>
            </a:r>
            <a:r>
              <a:rPr lang="zh-CN" altLang="en-US" b="1" dirty="0">
                <a:ea typeface="华文中宋" panose="02010600040101010101" pitchFamily="2" charset="-122"/>
              </a:rPr>
              <a:t>也是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形核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长大</a:t>
            </a:r>
            <a:r>
              <a:rPr lang="zh-CN" altLang="en-US" b="1" dirty="0">
                <a:ea typeface="华文中宋" panose="02010600040101010101" pitchFamily="2" charset="-122"/>
              </a:rPr>
              <a:t>的过程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rgbClr val="FFFF00"/>
                </a:solidFill>
              </a:rPr>
              <a:t>渗碳体晶核</a:t>
            </a:r>
            <a:r>
              <a:rPr lang="zh-CN" altLang="en-US" b="1" dirty="0">
                <a:ea typeface="华文中宋" panose="02010600040101010101" pitchFamily="2" charset="-122"/>
              </a:rPr>
              <a:t>首先在奥氏体</a:t>
            </a:r>
            <a:r>
              <a:rPr lang="zh-CN" altLang="en-US" b="1" dirty="0">
                <a:solidFill>
                  <a:srgbClr val="FFFF00"/>
                </a:solidFill>
              </a:rPr>
              <a:t>晶界</a:t>
            </a:r>
            <a:r>
              <a:rPr lang="zh-CN" altLang="en-US" b="1" dirty="0">
                <a:ea typeface="华文中宋" panose="02010600040101010101" pitchFamily="2" charset="-122"/>
              </a:rPr>
              <a:t>上形成，在长大</a:t>
            </a:r>
            <a:r>
              <a:rPr lang="zh-CN" altLang="en-US" b="1" dirty="0"/>
              <a:t>过程中，其两侧奥氏体的含碳量下降，促进了</a:t>
            </a:r>
            <a:r>
              <a:rPr lang="zh-CN" altLang="en-US" b="1" dirty="0">
                <a:solidFill>
                  <a:srgbClr val="FFFF00"/>
                </a:solidFill>
              </a:rPr>
              <a:t>铁素体</a:t>
            </a:r>
            <a:r>
              <a:rPr lang="zh-CN" altLang="en-US" b="1" dirty="0"/>
              <a:t>形核。两者</a:t>
            </a:r>
            <a:r>
              <a:rPr lang="zh-CN" altLang="en-US" b="1" dirty="0">
                <a:solidFill>
                  <a:srgbClr val="FFFF00"/>
                </a:solidFill>
              </a:rPr>
              <a:t>相间形核</a:t>
            </a:r>
            <a:r>
              <a:rPr lang="zh-CN" altLang="en-US" b="1" dirty="0"/>
              <a:t>并长大，形成一个珠光体团。</a:t>
            </a:r>
            <a:endParaRPr lang="en-US" altLang="zh-CN" b="1" dirty="0"/>
          </a:p>
          <a:p>
            <a:pPr eaLnBrk="1" hangingPunct="1">
              <a:lnSpc>
                <a:spcPct val="90000"/>
              </a:lnSpc>
            </a:pPr>
            <a:endParaRPr lang="en-US" altLang="zh-CN" b="1" dirty="0">
              <a:solidFill>
                <a:srgbClr val="FFFF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FFFF00"/>
                </a:solidFill>
              </a:rPr>
              <a:t>珠光体转变</a:t>
            </a:r>
            <a:r>
              <a:rPr lang="zh-CN" altLang="en-US" b="1" dirty="0"/>
              <a:t>是</a:t>
            </a:r>
            <a:r>
              <a:rPr lang="zh-CN" altLang="en-US" b="1" kern="1200" dirty="0">
                <a:solidFill>
                  <a:schemeClr val="folHlink"/>
                </a:solidFill>
                <a:ea typeface="华文中宋" panose="02010600040101010101" pitchFamily="2" charset="-122"/>
              </a:rPr>
              <a:t>扩散型转变</a:t>
            </a:r>
            <a:r>
              <a:rPr lang="zh-CN" altLang="en-US" b="1" dirty="0">
                <a:solidFill>
                  <a:srgbClr val="FFFF00"/>
                </a:solidFill>
              </a:rPr>
              <a:t>（铁</a:t>
            </a:r>
            <a:r>
              <a:rPr lang="zh-CN" altLang="en-US" b="1" dirty="0">
                <a:solidFill>
                  <a:schemeClr val="tx1"/>
                </a:solidFill>
              </a:rPr>
              <a:t>和</a:t>
            </a:r>
            <a:r>
              <a:rPr lang="zh-CN" altLang="en-US" b="1" dirty="0">
                <a:solidFill>
                  <a:srgbClr val="FFFF00"/>
                </a:solidFill>
              </a:rPr>
              <a:t>碳原子都扩散）。</a:t>
            </a:r>
            <a:endParaRPr lang="en-US" altLang="zh-CN" b="1" dirty="0">
              <a:solidFill>
                <a:srgbClr val="FFFF00"/>
              </a:solidFill>
            </a:endParaRPr>
          </a:p>
        </p:txBody>
      </p:sp>
      <p:pic>
        <p:nvPicPr>
          <p:cNvPr id="40963" name="Picture 3" descr="珠光体转变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157595" y="1223645"/>
            <a:ext cx="2720975" cy="1526540"/>
          </a:xfrm>
          <a:prstGeom prst="rect">
            <a:avLst/>
          </a:prstGeom>
          <a:noFill/>
          <a:ln w="38100" cap="flat" cmpd="sng">
            <a:solidFill>
              <a:srgbClr val="99CCFF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40964" name="Picture 17" descr="珠光体长大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49340" y="2925445"/>
            <a:ext cx="2729865" cy="23876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0965" name="AutoShape 20">
            <a:hlinkClick r:id="rId3" action="ppaction://hlinksldjump"/>
          </p:cNvPr>
          <p:cNvSpPr/>
          <p:nvPr/>
        </p:nvSpPr>
        <p:spPr>
          <a:xfrm>
            <a:off x="8878888" y="6662738"/>
            <a:ext cx="265112" cy="195262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7" name="日期占位符 1"/>
          <p:cNvSpPr>
            <a:spLocks noGrp="1"/>
          </p:cNvSpPr>
          <p:nvPr>
            <p:ph type="dt" sz="half" idx="10"/>
          </p:nvPr>
        </p:nvSpPr>
        <p:spPr>
          <a:xfrm>
            <a:off x="9525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748" y="-64294"/>
            <a:ext cx="5646406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ea typeface="华文中宋" panose="02010600040101010101" pitchFamily="2" charset="-122"/>
              </a:rPr>
              <a:t>、珠光体转变过程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6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6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6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6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6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1" grpId="0" advAuto="100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02040" y="6597650"/>
            <a:ext cx="441960" cy="2603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142875"/>
            <a:ext cx="6457950" cy="762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珠光体转变过程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827405" y="1268730"/>
            <a:ext cx="7614285" cy="4600575"/>
            <a:chOff x="432" y="912"/>
            <a:chExt cx="4987" cy="3141"/>
          </a:xfrm>
        </p:grpSpPr>
        <p:grpSp>
          <p:nvGrpSpPr>
            <p:cNvPr id="41988" name="Group 3"/>
            <p:cNvGrpSpPr>
              <a:grpSpLocks noChangeAspect="1"/>
            </p:cNvGrpSpPr>
            <p:nvPr/>
          </p:nvGrpSpPr>
          <p:grpSpPr>
            <a:xfrm>
              <a:off x="432" y="912"/>
              <a:ext cx="4987" cy="3141"/>
              <a:chOff x="24" y="672"/>
              <a:chExt cx="5736" cy="3612"/>
            </a:xfrm>
          </p:grpSpPr>
          <p:grpSp>
            <p:nvGrpSpPr>
              <p:cNvPr id="41989" name="Group 4"/>
              <p:cNvGrpSpPr>
                <a:grpSpLocks noChangeAspect="1"/>
              </p:cNvGrpSpPr>
              <p:nvPr/>
            </p:nvGrpSpPr>
            <p:grpSpPr>
              <a:xfrm>
                <a:off x="34" y="672"/>
                <a:ext cx="5726" cy="3589"/>
                <a:chOff x="34" y="731"/>
                <a:chExt cx="5726" cy="3589"/>
              </a:xfrm>
            </p:grpSpPr>
            <p:pic>
              <p:nvPicPr>
                <p:cNvPr id="41990" name="Picture 5" descr="共析钢珠光体转变过程（奥氏体、5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34" y="731"/>
                  <a:ext cx="3906" cy="17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1991" name="Picture 6" descr="共析钢珠光体转变过程（19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936" y="731"/>
                  <a:ext cx="1824" cy="17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1992" name="Picture 7" descr="共析钢珠光体转变过程（24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045" y="2507"/>
                  <a:ext cx="3713" cy="181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41993" name="Rectangle 8"/>
                <p:cNvSpPr>
                  <a:spLocks noChangeAspect="1"/>
                </p:cNvSpPr>
                <p:nvPr/>
              </p:nvSpPr>
              <p:spPr>
                <a:xfrm>
                  <a:off x="34" y="2507"/>
                  <a:ext cx="2004" cy="1800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pic>
              <p:nvPicPr>
                <p:cNvPr id="41994" name="Picture 9" descr="共析钢珠光体转变过程（22分）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144" y="2448"/>
                  <a:ext cx="1782" cy="18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41995" name="Rectangle 10"/>
              <p:cNvSpPr>
                <a:spLocks noChangeAspect="1"/>
              </p:cNvSpPr>
              <p:nvPr/>
            </p:nvSpPr>
            <p:spPr>
              <a:xfrm>
                <a:off x="24" y="672"/>
                <a:ext cx="5736" cy="3612"/>
              </a:xfrm>
              <a:prstGeom prst="rect">
                <a:avLst/>
              </a:prstGeom>
              <a:noFill/>
              <a:ln w="762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1996" name="Rectangle 11"/>
            <p:cNvSpPr/>
            <p:nvPr/>
          </p:nvSpPr>
          <p:spPr>
            <a:xfrm>
              <a:off x="498" y="2256"/>
              <a:ext cx="336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奥氏体</a:t>
              </a:r>
              <a:endPara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997" name="Rectangle 12"/>
            <p:cNvSpPr/>
            <p:nvPr/>
          </p:nvSpPr>
          <p:spPr>
            <a:xfrm>
              <a:off x="2178" y="2276"/>
              <a:ext cx="336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5.8</a:t>
              </a:r>
              <a:r>
                <a: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秒</a:t>
              </a:r>
              <a:endPara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998" name="Rectangle 13"/>
            <p:cNvSpPr/>
            <p:nvPr/>
          </p:nvSpPr>
          <p:spPr>
            <a:xfrm>
              <a:off x="3840" y="2276"/>
              <a:ext cx="336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19.2</a:t>
              </a:r>
              <a:r>
                <a: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秒</a:t>
              </a:r>
              <a:endPara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999" name="Rectangle 14"/>
            <p:cNvSpPr/>
            <p:nvPr/>
          </p:nvSpPr>
          <p:spPr>
            <a:xfrm>
              <a:off x="576" y="3792"/>
              <a:ext cx="336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22.0</a:t>
              </a:r>
              <a:r>
                <a: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秒</a:t>
              </a:r>
              <a:endPara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0" name="Rectangle 16"/>
            <p:cNvSpPr/>
            <p:nvPr/>
          </p:nvSpPr>
          <p:spPr>
            <a:xfrm>
              <a:off x="2208" y="3840"/>
              <a:ext cx="336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24.2</a:t>
              </a:r>
              <a:r>
                <a: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秒</a:t>
              </a:r>
              <a:endPara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1" name="Rectangle 17"/>
            <p:cNvSpPr/>
            <p:nvPr/>
          </p:nvSpPr>
          <p:spPr>
            <a:xfrm>
              <a:off x="3840" y="3848"/>
              <a:ext cx="336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66.7</a:t>
              </a:r>
              <a:r>
                <a: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秒</a:t>
              </a:r>
              <a:endPara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00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97015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1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8458200" y="609600"/>
            <a:ext cx="685800" cy="55626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珠光体转变过程观察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pic>
        <p:nvPicPr>
          <p:cNvPr id="201732" name="P02.MPG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493125" cy="6950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017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0173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017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017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732"/>
                  </p:tgtEl>
                </p:cond>
              </p:nextCondLst>
            </p:seq>
          </p:childTnLst>
        </p:cTn>
      </p:par>
    </p:tnLst>
    <p:bldLst>
      <p:bldP spid="20173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69325" y="6586538"/>
            <a:ext cx="574675" cy="2714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404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87490"/>
            <a:ext cx="1786255" cy="27051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28" y="1196814"/>
            <a:ext cx="9036372" cy="3384282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lang="zh-CN" altLang="en-US" sz="6600" b="1" dirty="0">
                <a:ea typeface="华文中宋" panose="02010600040101010101" pitchFamily="2" charset="-122"/>
              </a:rPr>
              <a:t>（二）贝氏体转变</a:t>
            </a:r>
            <a:br>
              <a:rPr lang="en-US" altLang="zh-CN" sz="6600" b="1" dirty="0">
                <a:ea typeface="华文中宋" panose="02010600040101010101" pitchFamily="2" charset="-122"/>
              </a:rPr>
            </a:br>
            <a:r>
              <a:rPr lang="en-US" altLang="zh-CN" sz="6600" b="1" i="1" dirty="0">
                <a:effectLst/>
                <a:latin typeface="+mn-lt"/>
                <a:ea typeface="华文中宋" panose="02010600040101010101" pitchFamily="2" charset="-122"/>
              </a:rPr>
              <a:t>B</a:t>
            </a:r>
            <a:r>
              <a:rPr lang="en-GB" altLang="zh-CN" sz="6600" b="1" i="1" dirty="0" err="1">
                <a:effectLst/>
                <a:latin typeface="+mn-lt"/>
                <a:ea typeface="华文中宋" panose="02010600040101010101" pitchFamily="2" charset="-122"/>
              </a:rPr>
              <a:t>ainite</a:t>
            </a:r>
            <a:r>
              <a:rPr lang="en-GB" altLang="zh-CN" sz="6600" b="1" i="1" dirty="0">
                <a:effectLst/>
                <a:latin typeface="+mn-lt"/>
                <a:ea typeface="华文中宋" panose="02010600040101010101" pitchFamily="2" charset="-122"/>
              </a:rPr>
              <a:t> Transformation</a:t>
            </a:r>
            <a:endParaRPr kumimoji="1" lang="zh-CN" altLang="en-US" sz="4400" b="1" i="1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29248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8850" y="6524625"/>
            <a:ext cx="517525" cy="3238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0"/>
            <a:ext cx="667067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（二）</a:t>
            </a:r>
            <a:r>
              <a:rPr lang="zh-CN" altLang="en-US" b="1" dirty="0">
                <a:ea typeface="华文中宋" panose="02010600040101010101" pitchFamily="2" charset="-122"/>
              </a:rPr>
              <a:t>贝氏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体转变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401935" y="1552073"/>
            <a:ext cx="8570913" cy="4253126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FFCC99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FFCC99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贝氏体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组织形态</a:t>
            </a:r>
            <a:r>
              <a:rPr lang="zh-CN" altLang="en-US" b="1" dirty="0"/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ea typeface="华文中宋" panose="02010600040101010101" pitchFamily="2" charset="-122"/>
              </a:rPr>
              <a:t>、贝氏体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转变过程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3585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69325" y="6586538"/>
            <a:ext cx="574675" cy="2714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29026" name="Rectangle 2"/>
          <p:cNvSpPr>
            <a:spLocks noGrp="1"/>
          </p:cNvSpPr>
          <p:nvPr>
            <p:ph idx="1"/>
          </p:nvPr>
        </p:nvSpPr>
        <p:spPr>
          <a:xfrm>
            <a:off x="290512" y="1103816"/>
            <a:ext cx="5622925" cy="5308546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过冷奥氏体在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550℃- 230℃ (Ms)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间将转变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贝氏体类型组织，贝氏体</a:t>
            </a:r>
            <a:r>
              <a:rPr lang="zh-CN" altLang="en-US" b="1" dirty="0">
                <a:ea typeface="华文中宋" panose="02010600040101010101" pitchFamily="2" charset="-122"/>
              </a:rPr>
              <a:t>用符号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b="1" dirty="0">
                <a:ea typeface="华文中宋" panose="02010600040101010101" pitchFamily="2" charset="-122"/>
              </a:rPr>
              <a:t>表示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Bainite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根据其组织形态不同，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贝氏体</a:t>
            </a:r>
            <a:r>
              <a:rPr lang="zh-CN" altLang="en-US" b="1" dirty="0">
                <a:ea typeface="华文中宋" panose="02010600040101010101" pitchFamily="2" charset="-122"/>
              </a:rPr>
              <a:t>又分为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上贝氏体(B</a:t>
            </a:r>
            <a:r>
              <a:rPr lang="zh-CN" altLang="en-US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下贝氏体</a:t>
            </a:r>
            <a:r>
              <a:rPr lang="en-US" altLang="zh-CN" b="1" dirty="0">
                <a:ea typeface="华文中宋" panose="02010600040101010101" pitchFamily="2" charset="-122"/>
              </a:rPr>
              <a:t>(</a:t>
            </a:r>
            <a:r>
              <a:rPr lang="en-US" altLang="zh-CN" b="1" dirty="0">
                <a:solidFill>
                  <a:srgbClr val="FFFF00"/>
                </a:solidFill>
                <a:ea typeface="华文中宋" panose="02010600040101010101" pitchFamily="2" charset="-122"/>
              </a:rPr>
              <a:t>B</a:t>
            </a:r>
            <a:r>
              <a:rPr lang="zh-CN" altLang="en-US" b="1" baseline="-30000" dirty="0">
                <a:solidFill>
                  <a:srgbClr val="FFFF00"/>
                </a:solidFill>
                <a:ea typeface="华文中宋" panose="02010600040101010101" pitchFamily="2" charset="-122"/>
              </a:rPr>
              <a:t>下</a:t>
            </a:r>
            <a:r>
              <a:rPr lang="en-US" altLang="zh-CN" b="1" dirty="0"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5913402" y="1159207"/>
            <a:ext cx="2922306" cy="4548964"/>
            <a:chOff x="2928" y="582"/>
            <a:chExt cx="2456" cy="3116"/>
          </a:xfrm>
        </p:grpSpPr>
        <p:grpSp>
          <p:nvGrpSpPr>
            <p:cNvPr id="44036" name="Group 8"/>
            <p:cNvGrpSpPr/>
            <p:nvPr/>
          </p:nvGrpSpPr>
          <p:grpSpPr>
            <a:xfrm>
              <a:off x="2928" y="582"/>
              <a:ext cx="2456" cy="1382"/>
              <a:chOff x="2976" y="774"/>
              <a:chExt cx="2456" cy="1382"/>
            </a:xfrm>
          </p:grpSpPr>
          <p:pic>
            <p:nvPicPr>
              <p:cNvPr id="44037" name="Picture 4" descr="sbst[1]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976" y="774"/>
                <a:ext cx="2456" cy="1189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4038" name="Rectangle 6"/>
              <p:cNvSpPr/>
              <p:nvPr/>
            </p:nvSpPr>
            <p:spPr>
              <a:xfrm>
                <a:off x="3664" y="1963"/>
                <a:ext cx="915" cy="193"/>
              </a:xfrm>
              <a:prstGeom prst="rect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上贝氏体</a:t>
                </a:r>
                <a:endPara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44039" name="Group 9"/>
            <p:cNvGrpSpPr/>
            <p:nvPr/>
          </p:nvGrpSpPr>
          <p:grpSpPr>
            <a:xfrm>
              <a:off x="2928" y="2137"/>
              <a:ext cx="2456" cy="1561"/>
              <a:chOff x="2976" y="2108"/>
              <a:chExt cx="2456" cy="1561"/>
            </a:xfrm>
          </p:grpSpPr>
          <p:pic>
            <p:nvPicPr>
              <p:cNvPr id="44040" name="Picture 5" descr="dengwzh2[1]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976" y="2108"/>
                <a:ext cx="2456" cy="1343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4041" name="Rectangle 7"/>
              <p:cNvSpPr/>
              <p:nvPr/>
            </p:nvSpPr>
            <p:spPr>
              <a:xfrm>
                <a:off x="3724" y="3477"/>
                <a:ext cx="898" cy="192"/>
              </a:xfrm>
              <a:prstGeom prst="rect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下贝氏体</a:t>
                </a:r>
                <a:endPara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</p:grpSp>
      <p:sp>
        <p:nvSpPr>
          <p:cNvPr id="4404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87490"/>
            <a:ext cx="1786255" cy="27051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718" y="0"/>
            <a:ext cx="756063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、贝氏体的组织形态及性能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9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advAuto="100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69325" y="6586538"/>
            <a:ext cx="574675" cy="2714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0050" name="Rectangle 2"/>
          <p:cNvSpPr>
            <a:spLocks noGrp="1"/>
          </p:cNvSpPr>
          <p:nvPr>
            <p:ph idx="1"/>
          </p:nvPr>
        </p:nvSpPr>
        <p:spPr>
          <a:xfrm>
            <a:off x="490220" y="1055370"/>
            <a:ext cx="4859655" cy="472249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形成温度为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550-350℃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在光镜下</a:t>
            </a:r>
            <a:r>
              <a:rPr lang="zh-CN" altLang="en-US" b="1" dirty="0">
                <a:ea typeface="华文中宋" panose="02010600040101010101" pitchFamily="2" charset="-122"/>
              </a:rPr>
              <a:t>呈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羽毛状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在电镜下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不连续棒状的渗碳体</a:t>
            </a:r>
            <a:r>
              <a:rPr lang="zh-CN" altLang="en-US" b="1" dirty="0">
                <a:ea typeface="华文中宋" panose="02010600040101010101" pitchFamily="2" charset="-122"/>
              </a:rPr>
              <a:t>分布于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自奥氏体晶界</a:t>
            </a:r>
            <a:r>
              <a:rPr lang="zh-CN" altLang="en-US" b="1" dirty="0">
                <a:ea typeface="华文中宋" panose="02010600040101010101" pitchFamily="2" charset="-122"/>
              </a:rPr>
              <a:t>向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晶内平行生长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铁素体条</a:t>
            </a:r>
            <a:r>
              <a:rPr lang="zh-CN" altLang="en-US" b="1" dirty="0">
                <a:ea typeface="华文中宋" panose="02010600040101010101" pitchFamily="2" charset="-122"/>
              </a:rPr>
              <a:t>之间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5795919" y="1167765"/>
            <a:ext cx="2692793" cy="4668540"/>
            <a:chOff x="3101" y="317"/>
            <a:chExt cx="2045" cy="3241"/>
          </a:xfrm>
        </p:grpSpPr>
        <p:grpSp>
          <p:nvGrpSpPr>
            <p:cNvPr id="45060" name="Group 3"/>
            <p:cNvGrpSpPr>
              <a:grpSpLocks noChangeAspect="1"/>
            </p:cNvGrpSpPr>
            <p:nvPr/>
          </p:nvGrpSpPr>
          <p:grpSpPr>
            <a:xfrm>
              <a:off x="3101" y="317"/>
              <a:ext cx="2045" cy="3241"/>
              <a:chOff x="3219" y="268"/>
              <a:chExt cx="2176" cy="3447"/>
            </a:xfrm>
          </p:grpSpPr>
          <p:pic>
            <p:nvPicPr>
              <p:cNvPr id="45061" name="Picture 4" descr="6-10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250" y="268"/>
                <a:ext cx="2145" cy="1481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45062" name="Picture 5" descr="6-10-1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219" y="2057"/>
                <a:ext cx="2176" cy="1431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5063" name="Rectangle 6"/>
              <p:cNvSpPr>
                <a:spLocks noChangeAspect="1"/>
              </p:cNvSpPr>
              <p:nvPr/>
            </p:nvSpPr>
            <p:spPr>
              <a:xfrm>
                <a:off x="4019" y="1800"/>
                <a:ext cx="618" cy="206"/>
              </a:xfrm>
              <a:prstGeom prst="rect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光镜下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45064" name="Rectangle 7"/>
              <p:cNvSpPr>
                <a:spLocks noChangeAspect="1"/>
              </p:cNvSpPr>
              <p:nvPr/>
            </p:nvSpPr>
            <p:spPr>
              <a:xfrm>
                <a:off x="4019" y="3512"/>
                <a:ext cx="609" cy="203"/>
              </a:xfrm>
              <a:prstGeom prst="rect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电镜下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45065" name="Text Box 8"/>
            <p:cNvSpPr txBox="1"/>
            <p:nvPr/>
          </p:nvSpPr>
          <p:spPr>
            <a:xfrm>
              <a:off x="3488" y="2440"/>
              <a:ext cx="240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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66" name="Text Box 9"/>
            <p:cNvSpPr txBox="1"/>
            <p:nvPr/>
          </p:nvSpPr>
          <p:spPr>
            <a:xfrm>
              <a:off x="3264" y="3015"/>
              <a:ext cx="651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Fe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67" name="Line 10"/>
            <p:cNvSpPr/>
            <p:nvPr/>
          </p:nvSpPr>
          <p:spPr>
            <a:xfrm>
              <a:off x="3246" y="2928"/>
              <a:ext cx="192" cy="144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506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5002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718" y="0"/>
            <a:ext cx="756063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ea typeface="华文中宋" panose="02010600040101010101" pitchFamily="2" charset="-122"/>
              </a:rPr>
              <a:t>上贝氏体</a:t>
            </a:r>
            <a:r>
              <a:rPr lang="en-US" altLang="zh-CN" b="1" dirty="0">
                <a:ea typeface="华文中宋" panose="02010600040101010101" pitchFamily="2" charset="-122"/>
              </a:rPr>
              <a:t>Up-Bainite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0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dvAuto="100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91550" y="6537325"/>
            <a:ext cx="552450" cy="32067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1074" name="Rectangle 2"/>
          <p:cNvSpPr>
            <a:spLocks noGrp="1" noChangeArrowheads="1"/>
          </p:cNvSpPr>
          <p:nvPr>
            <p:ph idx="1"/>
          </p:nvPr>
        </p:nvSpPr>
        <p:spPr>
          <a:xfrm>
            <a:off x="192405" y="1243330"/>
            <a:ext cx="5512435" cy="391096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形成温度为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350-230℃(Ms)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b="1" kern="1200" dirty="0">
                <a:ea typeface="华文中宋" panose="02010600040101010101" pitchFamily="2" charset="-122"/>
              </a:rPr>
              <a:t>在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光镜下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呈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竹叶状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eaLnBrk="1" hangingPunct="1">
              <a:lnSpc>
                <a:spcPct val="140000"/>
              </a:lnSpc>
              <a:defRPr/>
            </a:pP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电镜下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细片状碳化物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分布于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铁素体针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内，并与铁素体针长轴方向呈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55-60º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角。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20"/>
          <p:cNvGrpSpPr/>
          <p:nvPr>
            <p:custDataLst>
              <p:tags r:id="rId1"/>
            </p:custDataLst>
          </p:nvPr>
        </p:nvGrpSpPr>
        <p:grpSpPr>
          <a:xfrm>
            <a:off x="6336359" y="1243013"/>
            <a:ext cx="2565647" cy="4125014"/>
            <a:chOff x="3095" y="416"/>
            <a:chExt cx="1726" cy="2705"/>
          </a:xfrm>
        </p:grpSpPr>
        <p:grpSp>
          <p:nvGrpSpPr>
            <p:cNvPr id="46084" name="Group 15"/>
            <p:cNvGrpSpPr>
              <a:grpSpLocks noChangeAspect="1"/>
            </p:cNvGrpSpPr>
            <p:nvPr/>
          </p:nvGrpSpPr>
          <p:grpSpPr>
            <a:xfrm>
              <a:off x="3095" y="416"/>
              <a:ext cx="1703" cy="1398"/>
              <a:chOff x="2997" y="219"/>
              <a:chExt cx="1893" cy="1554"/>
            </a:xfrm>
          </p:grpSpPr>
          <p:pic>
            <p:nvPicPr>
              <p:cNvPr id="46085" name="Picture 4" descr="dengwzh2[1]下贝氏体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997" y="219"/>
                <a:ext cx="1893" cy="1338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6086" name="Rectangle 6"/>
              <p:cNvSpPr>
                <a:spLocks noChangeAspec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679" y="1581"/>
                <a:ext cx="528" cy="192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光镜下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46087" name="Group 19"/>
            <p:cNvGrpSpPr>
              <a:grpSpLocks noChangeAspect="1"/>
            </p:cNvGrpSpPr>
            <p:nvPr/>
          </p:nvGrpSpPr>
          <p:grpSpPr>
            <a:xfrm>
              <a:off x="3119" y="1850"/>
              <a:ext cx="1702" cy="1272"/>
              <a:chOff x="3354" y="1794"/>
              <a:chExt cx="1922" cy="1436"/>
            </a:xfrm>
          </p:grpSpPr>
          <p:pic>
            <p:nvPicPr>
              <p:cNvPr id="46088" name="Picture 8" descr="下贝氏体（电镜）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354" y="1794"/>
                <a:ext cx="1922" cy="1436"/>
              </a:xfrm>
              <a:prstGeom prst="rect">
                <a:avLst/>
              </a:prstGeom>
              <a:noFill/>
              <a:ln w="381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46089" name="Rectangle 9"/>
              <p:cNvSpPr>
                <a:spLocks noChangeAspec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4667" y="3021"/>
                <a:ext cx="528" cy="192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电镜下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</p:grpSp>
      <p:sp>
        <p:nvSpPr>
          <p:cNvPr id="4609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611670" y="0"/>
            <a:ext cx="8568714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en-US" altLang="zh-CN" b="1" dirty="0">
                <a:effectLst/>
                <a:ea typeface="华文中宋" panose="02010600040101010101" pitchFamily="2" charset="-122"/>
              </a:rPr>
              <a:t>⑵</a:t>
            </a:r>
            <a:r>
              <a:rPr lang="zh-CN" altLang="en-US" b="1" dirty="0">
                <a:effectLst/>
                <a:ea typeface="华文中宋" panose="02010600040101010101" pitchFamily="2" charset="-122"/>
              </a:rPr>
              <a:t>下贝氏体  </a:t>
            </a:r>
            <a:r>
              <a:rPr lang="en-US" altLang="zh-CN" b="1" dirty="0">
                <a:effectLst/>
                <a:ea typeface="华文中宋" panose="02010600040101010101" pitchFamily="2" charset="-122"/>
              </a:rPr>
              <a:t>Lower</a:t>
            </a:r>
            <a:r>
              <a:rPr lang="en-US" altLang="zh-CN" b="1" dirty="0">
                <a:ea typeface="华文中宋" panose="02010600040101010101" pitchFamily="2" charset="-122"/>
              </a:rPr>
              <a:t>-Bainite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4" grpId="0" advAuto="100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58238" y="6562725"/>
            <a:ext cx="385762" cy="29527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2105" name="Rectangle 9"/>
          <p:cNvSpPr>
            <a:spLocks noGrp="1"/>
          </p:cNvSpPr>
          <p:nvPr>
            <p:ph idx="1"/>
          </p:nvPr>
        </p:nvSpPr>
        <p:spPr>
          <a:xfrm>
            <a:off x="179705" y="1020445"/>
            <a:ext cx="8763000" cy="342074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上贝氏体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塑性</a:t>
            </a:r>
            <a:r>
              <a:rPr lang="zh-CN" altLang="en-US" b="1" dirty="0">
                <a:ea typeface="华文中宋" panose="02010600040101010101" pitchFamily="2" charset="-122"/>
              </a:rPr>
              <a:t>都较低，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无实用价值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下贝氏体</a:t>
            </a:r>
            <a:r>
              <a:rPr lang="zh-CN" altLang="en-US" b="1" dirty="0">
                <a:ea typeface="华文中宋" panose="02010600040101010101" pitchFamily="2" charset="-122"/>
              </a:rPr>
              <a:t>除了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强度、硬度较高</a:t>
            </a:r>
            <a:r>
              <a:rPr lang="zh-CN" altLang="en-US" b="1" dirty="0">
                <a:ea typeface="华文中宋" panose="02010600040101010101" pitchFamily="2" charset="-122"/>
              </a:rPr>
              <a:t>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，塑性、韧性</a:t>
            </a:r>
            <a:r>
              <a:rPr lang="zh-CN" altLang="en-US" b="1" dirty="0">
                <a:ea typeface="华文中宋" panose="02010600040101010101" pitchFamily="2" charset="-122"/>
              </a:rPr>
              <a:t>也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较好，</a:t>
            </a:r>
            <a:r>
              <a:rPr lang="zh-CN" altLang="en-US" b="1" dirty="0">
                <a:ea typeface="华文中宋" panose="02010600040101010101" pitchFamily="2" charset="-122"/>
              </a:rPr>
              <a:t>即具有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良好的综合力学性能，</a:t>
            </a:r>
            <a:r>
              <a:rPr lang="zh-CN" altLang="en-US" b="1" dirty="0">
                <a:ea typeface="华文中宋" panose="02010600040101010101" pitchFamily="2" charset="-122"/>
              </a:rPr>
              <a:t>是生产上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常用强化组织</a:t>
            </a:r>
            <a:r>
              <a:rPr lang="zh-CN" altLang="en-US" b="1" dirty="0">
                <a:ea typeface="华文中宋" panose="02010600040101010101" pitchFamily="2" charset="-122"/>
              </a:rPr>
              <a:t>之一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grpSp>
        <p:nvGrpSpPr>
          <p:cNvPr id="47107" name="Group 50"/>
          <p:cNvGrpSpPr/>
          <p:nvPr/>
        </p:nvGrpSpPr>
        <p:grpSpPr>
          <a:xfrm>
            <a:off x="5513705" y="3500755"/>
            <a:ext cx="2976880" cy="2613025"/>
            <a:chOff x="182" y="1797"/>
            <a:chExt cx="2469" cy="2199"/>
          </a:xfrm>
        </p:grpSpPr>
        <p:pic>
          <p:nvPicPr>
            <p:cNvPr id="47108" name="Picture 26" descr="相变温度与强度关系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82" y="1797"/>
              <a:ext cx="2469" cy="2199"/>
            </a:xfrm>
            <a:prstGeom prst="rect">
              <a:avLst/>
            </a:prstGeom>
            <a:noFill/>
            <a:ln w="2857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7109" name="Text Box 32"/>
            <p:cNvSpPr txBox="1">
              <a:spLocks noChangeAspect="1"/>
            </p:cNvSpPr>
            <p:nvPr/>
          </p:nvSpPr>
          <p:spPr>
            <a:xfrm>
              <a:off x="440" y="3433"/>
              <a:ext cx="2211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共析钢的强度硬度与等温相变温度的关系</a:t>
              </a:r>
              <a:endPara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47110" name="Line 37"/>
          <p:cNvSpPr/>
          <p:nvPr/>
        </p:nvSpPr>
        <p:spPr>
          <a:xfrm flipV="1">
            <a:off x="6099493" y="4999355"/>
            <a:ext cx="0" cy="300038"/>
          </a:xfrm>
          <a:prstGeom prst="line">
            <a:avLst/>
          </a:prstGeom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11" name="Line 38"/>
          <p:cNvSpPr/>
          <p:nvPr/>
        </p:nvSpPr>
        <p:spPr>
          <a:xfrm flipV="1">
            <a:off x="6761480" y="5155565"/>
            <a:ext cx="196850" cy="63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stealth" w="sm" len="med"/>
          </a:ln>
        </p:spPr>
      </p:sp>
      <p:sp>
        <p:nvSpPr>
          <p:cNvPr id="47112" name="Line 39"/>
          <p:cNvSpPr/>
          <p:nvPr/>
        </p:nvSpPr>
        <p:spPr>
          <a:xfrm>
            <a:off x="6958648" y="4851400"/>
            <a:ext cx="0" cy="45720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13" name="Line 40"/>
          <p:cNvSpPr/>
          <p:nvPr/>
        </p:nvSpPr>
        <p:spPr>
          <a:xfrm flipH="1">
            <a:off x="6123940" y="5143500"/>
            <a:ext cx="287020" cy="63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stealth" w="sm" len="med"/>
          </a:ln>
        </p:spPr>
      </p:sp>
      <p:sp>
        <p:nvSpPr>
          <p:cNvPr id="47114" name="Line 41"/>
          <p:cNvSpPr/>
          <p:nvPr/>
        </p:nvSpPr>
        <p:spPr>
          <a:xfrm>
            <a:off x="5500688" y="5000625"/>
            <a:ext cx="0" cy="30480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16" name="Line 46"/>
          <p:cNvSpPr/>
          <p:nvPr/>
        </p:nvSpPr>
        <p:spPr>
          <a:xfrm>
            <a:off x="5539105" y="5143500"/>
            <a:ext cx="209550" cy="1206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stealth" w="sm" len="med"/>
          </a:ln>
        </p:spPr>
      </p:sp>
      <p:sp>
        <p:nvSpPr>
          <p:cNvPr id="47117" name="Text Box 47"/>
          <p:cNvSpPr txBox="1"/>
          <p:nvPr/>
        </p:nvSpPr>
        <p:spPr>
          <a:xfrm>
            <a:off x="6297930" y="5001895"/>
            <a:ext cx="46355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400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</a:t>
            </a:r>
            <a:endParaRPr lang="zh-CN" altLang="en-US" sz="1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20" name="Text Box 66"/>
          <p:cNvSpPr txBox="1"/>
          <p:nvPr/>
        </p:nvSpPr>
        <p:spPr>
          <a:xfrm>
            <a:off x="5655310" y="5003800"/>
            <a:ext cx="44450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1400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</a:t>
            </a:r>
            <a:endParaRPr lang="zh-CN" altLang="en-US" sz="1400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22" name="日期占位符 1"/>
          <p:cNvSpPr>
            <a:spLocks noGrp="1"/>
          </p:cNvSpPr>
          <p:nvPr>
            <p:ph type="dt" sz="half" idx="10"/>
          </p:nvPr>
        </p:nvSpPr>
        <p:spPr>
          <a:xfrm>
            <a:off x="66675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" name="Line 40"/>
          <p:cNvSpPr/>
          <p:nvPr/>
        </p:nvSpPr>
        <p:spPr>
          <a:xfrm flipH="1">
            <a:off x="5956300" y="5142865"/>
            <a:ext cx="287020" cy="635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stealth" w="sm" len="med"/>
          </a:ln>
        </p:spPr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2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5" grpId="0" advAuto="100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78825" y="6575425"/>
            <a:ext cx="598488" cy="28257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0"/>
            <a:ext cx="7191375" cy="10525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、贝氏体转变过程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250825" y="1052830"/>
            <a:ext cx="5375275" cy="50546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贝氏体转变</a:t>
            </a:r>
            <a:r>
              <a:rPr lang="zh-CN" altLang="en-US" b="1" dirty="0">
                <a:ea typeface="华文中宋" panose="02010600040101010101" pitchFamily="2" charset="-122"/>
              </a:rPr>
              <a:t>也是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形核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长大</a:t>
            </a:r>
            <a:r>
              <a:rPr lang="zh-CN" altLang="en-US" b="1" dirty="0">
                <a:ea typeface="华文中宋" panose="02010600040101010101" pitchFamily="2" charset="-122"/>
              </a:rPr>
              <a:t>的过程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发生贝氏体转变时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首先在奥氏体中的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贫碳区</a:t>
            </a:r>
            <a:r>
              <a:rPr lang="zh-CN" altLang="en-US" b="1" dirty="0">
                <a:ea typeface="华文中宋" panose="02010600040101010101" pitchFamily="2" charset="-122"/>
              </a:rPr>
              <a:t>形成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铁素体晶核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其含碳量介于奥氏体与平衡铁素体之间，为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过饱和铁素体。</a:t>
            </a:r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</p:txBody>
      </p:sp>
      <p:pic>
        <p:nvPicPr>
          <p:cNvPr id="48134" name="Picture 6" descr="Bainite_anim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316345" y="1557020"/>
            <a:ext cx="2760345" cy="2749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6" name="日期占位符 1"/>
          <p:cNvSpPr>
            <a:spLocks noGrp="1"/>
          </p:cNvSpPr>
          <p:nvPr>
            <p:ph type="dt" sz="half" idx="10"/>
          </p:nvPr>
        </p:nvSpPr>
        <p:spPr>
          <a:xfrm>
            <a:off x="77788" y="650875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8388" y="6591300"/>
            <a:ext cx="455612" cy="2667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4148" name="Rectangle 4"/>
          <p:cNvSpPr>
            <a:spLocks noGrp="1"/>
          </p:cNvSpPr>
          <p:nvPr>
            <p:ph idx="1"/>
          </p:nvPr>
        </p:nvSpPr>
        <p:spPr>
          <a:xfrm>
            <a:off x="295275" y="1124585"/>
            <a:ext cx="8706485" cy="39624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当转变温度较高</a:t>
            </a:r>
            <a:r>
              <a:rPr lang="zh-CN" altLang="en-US" b="1" dirty="0"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ea typeface="华文中宋" panose="02010600040101010101" pitchFamily="2" charset="-122"/>
              </a:rPr>
              <a:t>550-350℃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条片状铁素体</a:t>
            </a:r>
            <a:r>
              <a:rPr lang="en-US" altLang="zh-CN" b="1" dirty="0">
                <a:ea typeface="华文中宋" panose="02010600040101010101" pitchFamily="2" charset="-122"/>
              </a:rPr>
              <a:t>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奥氏体晶界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向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晶内平行生长，随铁素体条伸长和变宽，其碳原子向条间奥氏体富集，最后在铁素体条间析出</a:t>
            </a:r>
            <a:r>
              <a:rPr lang="en-US" altLang="zh-CN" b="1" dirty="0">
                <a:ea typeface="华文中宋" panose="02010600040101010101" pitchFamily="2" charset="-122"/>
              </a:rPr>
              <a:t>Fe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短棒，奥氏体消失，形成 </a:t>
            </a:r>
            <a:r>
              <a:rPr lang="en-US" altLang="zh-CN" b="1" dirty="0">
                <a:ea typeface="华文中宋" panose="02010600040101010101" pitchFamily="2" charset="-122"/>
              </a:rPr>
              <a:t>B</a:t>
            </a:r>
            <a:r>
              <a:rPr lang="zh-CN" altLang="en-US" b="1" baseline="-30000" dirty="0">
                <a:ea typeface="华文中宋" panose="02010600040101010101" pitchFamily="2" charset="-122"/>
              </a:rPr>
              <a:t>上</a:t>
            </a:r>
            <a:r>
              <a:rPr lang="zh-CN" altLang="en-US" b="1" baseline="-30000" dirty="0">
                <a:solidFill>
                  <a:srgbClr val="00FF00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>
          <a:xfrm>
            <a:off x="4251960" y="4004945"/>
            <a:ext cx="4749800" cy="1505046"/>
            <a:chOff x="336" y="1920"/>
            <a:chExt cx="5112" cy="2193"/>
          </a:xfrm>
        </p:grpSpPr>
        <p:pic>
          <p:nvPicPr>
            <p:cNvPr id="49156" name="Picture 2" descr="贝氏体转变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6" y="1920"/>
              <a:ext cx="5112" cy="2154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9157" name="Rectangle 6"/>
            <p:cNvSpPr>
              <a:spLocks noChangeAspect="1"/>
            </p:cNvSpPr>
            <p:nvPr/>
          </p:nvSpPr>
          <p:spPr>
            <a:xfrm>
              <a:off x="1919" y="3674"/>
              <a:ext cx="2879" cy="439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上贝氏体转变过程</a:t>
              </a:r>
              <a:endPara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4915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91300"/>
            <a:ext cx="1786255" cy="2667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 advAuto="100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05800" y="6581775"/>
            <a:ext cx="46672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5170" name="Rectangle 2"/>
          <p:cNvSpPr>
            <a:spLocks noGrp="1"/>
          </p:cNvSpPr>
          <p:nvPr>
            <p:ph idx="1"/>
          </p:nvPr>
        </p:nvSpPr>
        <p:spPr>
          <a:xfrm>
            <a:off x="0" y="4204018"/>
            <a:ext cx="8972550" cy="194151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贝氏体转变属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半扩散型转变：只有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碳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原子扩散</a:t>
            </a:r>
            <a:r>
              <a:rPr lang="zh-CN" altLang="en-US" b="1" dirty="0">
                <a:ea typeface="华文中宋" panose="02010600040101010101" pitchFamily="2" charset="-122"/>
              </a:rPr>
              <a:t>而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铁</a:t>
            </a:r>
            <a:r>
              <a:rPr lang="zh-CN" altLang="en-US" b="1" dirty="0">
                <a:ea typeface="华文中宋" panose="02010600040101010101" pitchFamily="2" charset="-122"/>
              </a:rPr>
              <a:t>原子不扩散，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晶格类型改变</a:t>
            </a:r>
            <a:r>
              <a:rPr lang="zh-CN" altLang="en-US" b="1" dirty="0">
                <a:ea typeface="华文中宋" panose="02010600040101010101" pitchFamily="2" charset="-122"/>
              </a:rPr>
              <a:t>是通过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切变</a:t>
            </a:r>
            <a:r>
              <a:rPr lang="zh-CN" altLang="en-US" b="1" dirty="0">
                <a:ea typeface="华文中宋" panose="02010600040101010101" pitchFamily="2" charset="-122"/>
              </a:rPr>
              <a:t>实现的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dirty="0">
                <a:solidFill>
                  <a:srgbClr val="FFCCFF"/>
                </a:solidFill>
                <a:ea typeface="华文中宋" panose="02010600040101010101" pitchFamily="2" charset="-122"/>
              </a:rPr>
              <a:t> </a:t>
            </a:r>
            <a:endParaRPr lang="zh-CN" altLang="en-US" dirty="0">
              <a:solidFill>
                <a:srgbClr val="FFCCFF"/>
              </a:solidFill>
              <a:ea typeface="华文中宋" panose="02010600040101010101" pitchFamily="2" charset="-122"/>
            </a:endParaRPr>
          </a:p>
        </p:txBody>
      </p:sp>
      <p:sp>
        <p:nvSpPr>
          <p:cNvPr id="135173" name="Rectangle 5"/>
          <p:cNvSpPr/>
          <p:nvPr/>
        </p:nvSpPr>
        <p:spPr>
          <a:xfrm>
            <a:off x="414020" y="476568"/>
            <a:ext cx="8686800" cy="28765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当转变温度较低（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350- 230℃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）时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铁素体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晶界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或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晶内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某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些晶面上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长成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针状，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由于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碳原子扩散能力低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其迁移不能逾越铁素体片的范围，碳在铁素体的一定晶面上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以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断续碳化物小片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形式析出。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3204210" y="2924810"/>
            <a:ext cx="5651500" cy="1327150"/>
            <a:chOff x="672" y="1668"/>
            <a:chExt cx="4459" cy="1699"/>
          </a:xfrm>
        </p:grpSpPr>
        <p:pic>
          <p:nvPicPr>
            <p:cNvPr id="50181" name="Picture 3" descr="下贝氏体转变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72" y="1668"/>
              <a:ext cx="4459" cy="1699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0182" name="Text Box 6"/>
            <p:cNvSpPr txBox="1"/>
            <p:nvPr/>
          </p:nvSpPr>
          <p:spPr>
            <a:xfrm>
              <a:off x="2016" y="1727"/>
              <a:ext cx="1488" cy="106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24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下贝氏体转变</a:t>
              </a:r>
              <a:endPara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50183" name="AutoShape 8">
            <a:hlinkClick r:id="rId2" action="ppaction://hlinksldjump"/>
          </p:cNvPr>
          <p:cNvSpPr/>
          <p:nvPr/>
        </p:nvSpPr>
        <p:spPr>
          <a:xfrm>
            <a:off x="8972550" y="6646545"/>
            <a:ext cx="171450" cy="21145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843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5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5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5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 advAuto="1000" build="p"/>
      <p:bldP spid="13517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063" y="6589713"/>
            <a:ext cx="457200" cy="2682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124808"/>
            <a:ext cx="9036372" cy="345628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㈢ </a:t>
            </a: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马氏体转变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GB" altLang="zh-CN" sz="6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j-cs"/>
              </a:rPr>
              <a:t>M</a:t>
            </a:r>
            <a:r>
              <a:rPr lang="en-GB" altLang="zh-CN" sz="6000" b="1" i="1" dirty="0" err="1">
                <a:effectLst/>
                <a:latin typeface="+mn-lt"/>
              </a:rPr>
              <a:t>artensitic</a:t>
            </a:r>
            <a:r>
              <a:rPr lang="en-GB" altLang="zh-CN" sz="6000" b="1" i="1" dirty="0">
                <a:effectLst/>
                <a:latin typeface="+mn-lt"/>
              </a:rPr>
              <a:t> Transformation</a:t>
            </a:r>
            <a:endParaRPr kumimoji="1" lang="zh-CN" altLang="en-US" sz="60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12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29248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063" y="6589713"/>
            <a:ext cx="457200" cy="2682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63325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㈢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马氏体转变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250879" y="1111250"/>
            <a:ext cx="6984946" cy="540385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当奥氏体过冷到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230℃ 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(Ms)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以下将转变为马氏体类型组织。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马氏体转变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强化钢的重要途径之一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马氏体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(M)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碳在 </a:t>
            </a:r>
            <a:r>
              <a:rPr lang="zh-CN" altLang="en-US" b="1" i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-Fe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过饱和固溶体。</a:t>
            </a:r>
            <a:endParaRPr lang="en-US" altLang="zh-CN" b="1" dirty="0"/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/>
              <a:t>马氏体转变时，奥氏体中的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碳全部保留</a:t>
            </a:r>
            <a:r>
              <a:rPr lang="zh-CN" altLang="en-US" b="1" dirty="0"/>
              <a:t>到马氏体中。</a:t>
            </a:r>
            <a:endParaRPr lang="en-US" altLang="zh-CN" b="1" dirty="0"/>
          </a:p>
        </p:txBody>
      </p:sp>
      <p:sp>
        <p:nvSpPr>
          <p:cNvPr id="512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234" y="1340826"/>
            <a:ext cx="1280160" cy="171907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235825" y="3396062"/>
            <a:ext cx="1866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cs typeface="Times New Roman" panose="02020603050405020304" pitchFamily="18" charset="0"/>
              </a:rPr>
              <a:t>Adolf Martens</a:t>
            </a:r>
            <a:endParaRPr lang="en-US" altLang="zh-CN" sz="2000" dirty="0">
              <a:effectLst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cs typeface="Times New Roman" panose="02020603050405020304" pitchFamily="18" charset="0"/>
              </a:rPr>
              <a:t>1850.03.06-1914.07.24</a:t>
            </a:r>
            <a:endParaRPr lang="zh-CN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683260" y="3429000"/>
            <a:ext cx="187769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马氏体(M)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063" y="6589713"/>
            <a:ext cx="457200" cy="2682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63325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㈢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马氏体转变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395288" y="1530350"/>
            <a:ext cx="8569325" cy="46355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、马氏体的晶体结构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、马氏体的组织形态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、马氏体的性能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、马氏体转变的特点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512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92275" y="0"/>
            <a:ext cx="6764338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、马氏体的晶体结构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xfrm>
            <a:off x="357505" y="1055370"/>
            <a:ext cx="8462645" cy="504063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马氏体具有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体心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正方晶格（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a=b≠c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轴比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/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称为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马氏体的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正方度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C% </a:t>
            </a:r>
            <a:r>
              <a:rPr lang="zh-CN" altLang="en-US" b="1" dirty="0">
                <a:ea typeface="华文中宋" panose="02010600040101010101" pitchFamily="2" charset="-122"/>
              </a:rPr>
              <a:t>越高，正方度越大，正方畸变越严重。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当＜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0.25%C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时，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/</a:t>
            </a:r>
            <a:r>
              <a:rPr lang="en-US" altLang="zh-CN" b="1" i="1" dirty="0">
                <a:solidFill>
                  <a:schemeClr val="folHlink"/>
                </a:solidFill>
                <a:ea typeface="华文中宋" panose="02010600040101010101" pitchFamily="2" charset="-122"/>
              </a:rPr>
              <a:t>a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=1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此时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马氏体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体心立方晶格。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52228" name="Picture 4" descr="Carbon in BCC Fe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139565" y="4004945"/>
            <a:ext cx="1760220" cy="1972310"/>
          </a:xfrm>
          <a:prstGeom prst="rect">
            <a:avLst/>
          </a:prstGeom>
          <a:noFill/>
          <a:ln w="28575">
            <a:noFill/>
          </a:ln>
        </p:spPr>
      </p:pic>
      <p:pic>
        <p:nvPicPr>
          <p:cNvPr id="52229" name="Picture 5" descr="《工程材料》fi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59170" y="4004945"/>
            <a:ext cx="2537460" cy="1997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3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77275" y="6586538"/>
            <a:ext cx="466725" cy="2714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0"/>
            <a:ext cx="683736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、马氏体的组织形态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323215" y="1340485"/>
            <a:ext cx="4392613" cy="42513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马氏体的形态分两类：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）板条状（低碳）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针状（高碳）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5554345" y="1285875"/>
            <a:ext cx="3310255" cy="4090670"/>
            <a:chOff x="3216" y="384"/>
            <a:chExt cx="2380" cy="2940"/>
          </a:xfrm>
        </p:grpSpPr>
        <p:pic>
          <p:nvPicPr>
            <p:cNvPr id="53253" name="Picture 5" descr="zzmst[1]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16" y="1896"/>
              <a:ext cx="2380" cy="1428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53254" name="Picture 6" descr="bmst[1]20钢淬火组织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6" y="384"/>
              <a:ext cx="2380" cy="1427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3255" name="Text Box 7"/>
            <p:cNvSpPr txBox="1">
              <a:spLocks noChangeAspect="1"/>
            </p:cNvSpPr>
            <p:nvPr/>
          </p:nvSpPr>
          <p:spPr>
            <a:xfrm>
              <a:off x="3984" y="1680"/>
              <a:ext cx="960" cy="50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马氏体组织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53257" name="日期占位符 1"/>
          <p:cNvSpPr>
            <a:spLocks noGrp="1"/>
          </p:cNvSpPr>
          <p:nvPr>
            <p:ph type="dt" sz="half" idx="10"/>
          </p:nvPr>
        </p:nvSpPr>
        <p:spPr>
          <a:xfrm>
            <a:off x="88900" y="651033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64563" y="6580188"/>
            <a:ext cx="563562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1397219" y="5160"/>
            <a:ext cx="6478588" cy="1143000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b="1" strike="noStrike" noProof="1">
                <a:solidFill>
                  <a:schemeClr val="folHlink"/>
                </a:solidFill>
              </a:rPr>
              <a:t>马氏体的透射电镜形貌</a:t>
            </a:r>
            <a:endParaRPr lang="zh-CN" altLang="en-US" b="1" strike="noStrike" noProof="1">
              <a:solidFill>
                <a:schemeClr val="folHlink"/>
              </a:solidFill>
            </a:endParaRPr>
          </a:p>
        </p:txBody>
      </p:sp>
      <p:grpSp>
        <p:nvGrpSpPr>
          <p:cNvPr id="3" name="Group 4"/>
          <p:cNvGrpSpPr/>
          <p:nvPr/>
        </p:nvGrpSpPr>
        <p:grpSpPr>
          <a:xfrm>
            <a:off x="828357" y="1628702"/>
            <a:ext cx="7737475" cy="3786188"/>
            <a:chOff x="432" y="2112"/>
            <a:chExt cx="4874" cy="2385"/>
          </a:xfrm>
        </p:grpSpPr>
        <p:grpSp>
          <p:nvGrpSpPr>
            <p:cNvPr id="54277" name="Group 5"/>
            <p:cNvGrpSpPr>
              <a:grpSpLocks noChangeAspect="1"/>
            </p:cNvGrpSpPr>
            <p:nvPr/>
          </p:nvGrpSpPr>
          <p:grpSpPr>
            <a:xfrm>
              <a:off x="432" y="2112"/>
              <a:ext cx="4874" cy="2073"/>
              <a:chOff x="384" y="1968"/>
              <a:chExt cx="5139" cy="2185"/>
            </a:xfrm>
          </p:grpSpPr>
          <p:pic>
            <p:nvPicPr>
              <p:cNvPr id="54278" name="Picture 6" descr="mar6板条M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84" y="1968"/>
                <a:ext cx="2625" cy="1928"/>
              </a:xfrm>
              <a:prstGeom prst="rect">
                <a:avLst/>
              </a:prstGeom>
              <a:noFill/>
              <a:ln w="38100" cap="flat" cmpd="sng">
                <a:solidFill>
                  <a:srgbClr val="99CC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54279" name="Picture 7" descr="针状M亚结构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72" y="1968"/>
                <a:ext cx="2451" cy="1925"/>
              </a:xfrm>
              <a:prstGeom prst="rect">
                <a:avLst/>
              </a:prstGeom>
              <a:noFill/>
              <a:ln w="38100" cap="flat" cmpd="sng">
                <a:solidFill>
                  <a:srgbClr val="99CC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4280" name="Rectangle 8"/>
              <p:cNvSpPr>
                <a:spLocks noChangeAspect="1"/>
              </p:cNvSpPr>
              <p:nvPr/>
            </p:nvSpPr>
            <p:spPr>
              <a:xfrm>
                <a:off x="4052" y="3957"/>
                <a:ext cx="802" cy="184"/>
              </a:xfrm>
              <a:prstGeom prst="rect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2000" dirty="0">
                    <a:solidFill>
                      <a:srgbClr val="9933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针状马氏体</a:t>
                </a:r>
                <a:endParaRPr lang="zh-CN" altLang="en-US" sz="2000" dirty="0">
                  <a:solidFill>
                    <a:srgbClr val="9933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pic>
            <p:nvPicPr>
              <p:cNvPr id="54281" name="Picture 9" descr="mar7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234" y="3600"/>
                <a:ext cx="439" cy="295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54282" name="Rectangle 10"/>
              <p:cNvSpPr>
                <a:spLocks noChangeAspect="1"/>
              </p:cNvSpPr>
              <p:nvPr/>
            </p:nvSpPr>
            <p:spPr>
              <a:xfrm>
                <a:off x="1388" y="3966"/>
                <a:ext cx="815" cy="187"/>
              </a:xfrm>
              <a:prstGeom prst="rect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sz="2000" dirty="0">
                    <a:solidFill>
                      <a:srgbClr val="9933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板条马氏体</a:t>
                </a:r>
                <a:endParaRPr lang="zh-CN" altLang="en-US" sz="2000" dirty="0">
                  <a:solidFill>
                    <a:srgbClr val="9933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54283" name="Text Box 11"/>
            <p:cNvSpPr txBox="1">
              <a:spLocks noChangeAspect="1"/>
            </p:cNvSpPr>
            <p:nvPr/>
          </p:nvSpPr>
          <p:spPr>
            <a:xfrm>
              <a:off x="2032" y="4235"/>
              <a:ext cx="1780" cy="262"/>
            </a:xfrm>
            <a:prstGeom prst="rect">
              <a:avLst/>
            </a:prstGeom>
            <a:solidFill>
              <a:schemeClr val="tx1"/>
            </a:solidFill>
            <a:ln w="1905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马氏体的透射电镜形貌</a:t>
              </a:r>
              <a:endParaRPr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54285" name="日期占位符 1"/>
          <p:cNvSpPr>
            <a:spLocks noGrp="1"/>
          </p:cNvSpPr>
          <p:nvPr>
            <p:ph type="dt" sz="half" idx="10"/>
          </p:nvPr>
        </p:nvSpPr>
        <p:spPr>
          <a:xfrm>
            <a:off x="49213" y="6513513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51613"/>
            <a:ext cx="528638" cy="3063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778" y="3075"/>
            <a:ext cx="59007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板条马氏体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250825" y="1125855"/>
            <a:ext cx="8714105" cy="4464050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立体形态</a:t>
            </a:r>
            <a:r>
              <a:rPr lang="zh-CN" altLang="en-US" b="1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细长</a:t>
            </a:r>
            <a:r>
              <a:rPr lang="zh-CN" altLang="en-US" b="1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扁棒状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在光镜下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板条马氏体为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一束束的细条组织。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每束内条与条之间尺寸大致相同并呈平行排列，一个奥氏体晶粒内可形成几个取向不同的马氏体束。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在电镜下，板条内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亚结构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主要是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高密度的位错，</a:t>
            </a:r>
            <a:r>
              <a:rPr lang="zh-CN" altLang="en-US" b="1" i="1" dirty="0">
                <a:solidFill>
                  <a:srgbClr val="00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Symbol" panose="05050102010706020507" pitchFamily="18" charset="2"/>
              </a:rPr>
              <a:t> </a:t>
            </a:r>
            <a:r>
              <a:rPr lang="en-US" altLang="zh-CN" b="1" dirty="0">
                <a:solidFill>
                  <a:srgbClr val="00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=10</a:t>
            </a:r>
            <a:r>
              <a:rPr lang="en-US" altLang="zh-CN" b="1" baseline="30000" dirty="0">
                <a:solidFill>
                  <a:srgbClr val="00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12</a:t>
            </a:r>
            <a:r>
              <a:rPr lang="en-US" altLang="zh-CN" b="1" dirty="0">
                <a:solidFill>
                  <a:srgbClr val="00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/cm</a:t>
            </a:r>
            <a:r>
              <a:rPr lang="en-US" altLang="zh-CN" b="1" baseline="30000" dirty="0">
                <a:solidFill>
                  <a:srgbClr val="00FF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2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又称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</a:rPr>
              <a:t>位错马氏体。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</a:endParaRPr>
          </a:p>
        </p:txBody>
      </p:sp>
      <p:sp>
        <p:nvSpPr>
          <p:cNvPr id="5530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8200" y="6584950"/>
            <a:ext cx="639763" cy="284163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513" y="0"/>
            <a:ext cx="5040709" cy="935037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板条马氏体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4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25855" y="1210945"/>
            <a:ext cx="2692400" cy="4498989"/>
            <a:chOff x="2784" y="192"/>
            <a:chExt cx="2724" cy="3912"/>
          </a:xfrm>
        </p:grpSpPr>
        <p:pic>
          <p:nvPicPr>
            <p:cNvPr id="56325" name="Picture 5" descr="板条M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4" y="192"/>
              <a:ext cx="2720" cy="1895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6326" name="Rectangle 6"/>
            <p:cNvSpPr>
              <a:spLocks noChangeAspect="1"/>
            </p:cNvSpPr>
            <p:nvPr>
              <p:custDataLst>
                <p:tags r:id="rId3"/>
              </p:custDataLst>
            </p:nvPr>
          </p:nvSpPr>
          <p:spPr>
            <a:xfrm>
              <a:off x="4709" y="1844"/>
              <a:ext cx="792" cy="212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光镜下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56327" name="Picture 7" descr="板条M2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8" y="2249"/>
              <a:ext cx="2720" cy="1720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6328" name="Rectangle 8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4709" y="3904"/>
              <a:ext cx="799" cy="200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电镜下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0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3877945" y="1216660"/>
            <a:ext cx="3827145" cy="4495165"/>
            <a:chOff x="2296" y="32"/>
            <a:chExt cx="3329" cy="3910"/>
          </a:xfrm>
        </p:grpSpPr>
        <p:pic>
          <p:nvPicPr>
            <p:cNvPr id="56331" name="Picture 11" descr="板条马氏体SEM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print"/>
            <a:stretch>
              <a:fillRect/>
            </a:stretch>
          </p:blipFill>
          <p:spPr>
            <a:xfrm>
              <a:off x="2831" y="32"/>
              <a:ext cx="2794" cy="1876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56332" name="Picture 12" descr="板条马氏体TEM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print"/>
            <a:stretch>
              <a:fillRect/>
            </a:stretch>
          </p:blipFill>
          <p:spPr>
            <a:xfrm>
              <a:off x="2776" y="2085"/>
              <a:ext cx="2834" cy="1857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6333" name="Rectangle 13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2296" y="970"/>
              <a:ext cx="480" cy="330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SEM</a:t>
              </a:r>
              <a:endParaRPr lang="en-US" altLang="zh-CN" sz="2000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6334" name="Rectangle 14"/>
            <p:cNvSpPr>
              <a:spLocks noChangeAspect="1"/>
            </p:cNvSpPr>
            <p:nvPr>
              <p:custDataLst>
                <p:tags r:id="rId12"/>
              </p:custDataLst>
            </p:nvPr>
          </p:nvSpPr>
          <p:spPr>
            <a:xfrm>
              <a:off x="2296" y="3096"/>
              <a:ext cx="536" cy="192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TEM</a:t>
              </a:r>
              <a:endParaRPr lang="en-US" altLang="zh-CN" sz="2000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5633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26213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29388"/>
            <a:ext cx="600075" cy="32861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0"/>
            <a:ext cx="38862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针状马氏体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323850" y="1055370"/>
            <a:ext cx="5040630" cy="425640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立体形态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双凸透镜形的片状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显微组织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针状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在电镜下，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亚结构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主要是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孪晶</a:t>
            </a:r>
            <a:r>
              <a:rPr lang="zh-CN" altLang="en-US" b="1" dirty="0">
                <a:ea typeface="华文中宋" panose="02010600040101010101" pitchFamily="2" charset="-122"/>
              </a:rPr>
              <a:t>，又称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孪晶马氏体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57348" name="Group 19"/>
          <p:cNvGrpSpPr/>
          <p:nvPr/>
        </p:nvGrpSpPr>
        <p:grpSpPr>
          <a:xfrm>
            <a:off x="6084023" y="1143232"/>
            <a:ext cx="2735764" cy="2641550"/>
            <a:chOff x="3631" y="646"/>
            <a:chExt cx="1853" cy="1805"/>
          </a:xfrm>
        </p:grpSpPr>
        <p:pic>
          <p:nvPicPr>
            <p:cNvPr id="57349" name="Picture 6" descr="针状M孪晶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31" y="646"/>
              <a:ext cx="1853" cy="1499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57350" name="Text Box 7"/>
            <p:cNvSpPr txBox="1">
              <a:spLocks noChangeAspect="1"/>
            </p:cNvSpPr>
            <p:nvPr/>
          </p:nvSpPr>
          <p:spPr>
            <a:xfrm>
              <a:off x="4219" y="2199"/>
              <a:ext cx="677" cy="252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黑体" panose="02010609060101010101" charset="-122"/>
                  <a:ea typeface="黑体" panose="02010609060101010101" charset="-122"/>
                </a:rPr>
                <a:t>电镜下</a:t>
              </a:r>
              <a:endParaRPr lang="zh-CN" altLang="en-US" dirty="0">
                <a:solidFill>
                  <a:srgbClr val="800000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57351" name="Group 18"/>
          <p:cNvGrpSpPr/>
          <p:nvPr/>
        </p:nvGrpSpPr>
        <p:grpSpPr>
          <a:xfrm>
            <a:off x="2407456" y="3933507"/>
            <a:ext cx="6412431" cy="1879644"/>
            <a:chOff x="1369" y="2580"/>
            <a:chExt cx="4302" cy="1586"/>
          </a:xfrm>
        </p:grpSpPr>
        <p:grpSp>
          <p:nvGrpSpPr>
            <p:cNvPr id="57352" name="Group 17"/>
            <p:cNvGrpSpPr/>
            <p:nvPr/>
          </p:nvGrpSpPr>
          <p:grpSpPr>
            <a:xfrm>
              <a:off x="3639" y="2580"/>
              <a:ext cx="2032" cy="1586"/>
              <a:chOff x="3639" y="2580"/>
              <a:chExt cx="2032" cy="1586"/>
            </a:xfrm>
          </p:grpSpPr>
          <p:pic>
            <p:nvPicPr>
              <p:cNvPr id="57353" name="Picture 10" descr="7_29-1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651" y="2580"/>
                <a:ext cx="2020" cy="1554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7354" name="Text Box 11"/>
              <p:cNvSpPr txBox="1">
                <a:spLocks noChangeAspect="1"/>
              </p:cNvSpPr>
              <p:nvPr/>
            </p:nvSpPr>
            <p:spPr>
              <a:xfrm>
                <a:off x="3639" y="3855"/>
                <a:ext cx="620" cy="311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电镜下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7355" name="Group 16"/>
            <p:cNvGrpSpPr/>
            <p:nvPr/>
          </p:nvGrpSpPr>
          <p:grpSpPr>
            <a:xfrm>
              <a:off x="1369" y="2597"/>
              <a:ext cx="1954" cy="1515"/>
              <a:chOff x="1460" y="2557"/>
              <a:chExt cx="1954" cy="1515"/>
            </a:xfrm>
          </p:grpSpPr>
          <p:pic>
            <p:nvPicPr>
              <p:cNvPr id="57356" name="Picture 13" descr="7_29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60" y="2557"/>
                <a:ext cx="1950" cy="1515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7357" name="Text Box 14"/>
              <p:cNvSpPr txBox="1">
                <a:spLocks noChangeAspect="1"/>
              </p:cNvSpPr>
              <p:nvPr/>
            </p:nvSpPr>
            <p:spPr>
              <a:xfrm>
                <a:off x="2764" y="3763"/>
                <a:ext cx="650" cy="309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 anchor="t">
                <a:noAutofit/>
              </a:bodyPr>
              <a:lstStyle/>
              <a:p>
                <a:pPr algn="ctr"/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光镜下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7359" name="日期占位符 1"/>
          <p:cNvSpPr>
            <a:spLocks noGrp="1"/>
          </p:cNvSpPr>
          <p:nvPr>
            <p:ph type="dt" sz="half" idx="10"/>
          </p:nvPr>
        </p:nvSpPr>
        <p:spPr>
          <a:xfrm>
            <a:off x="77788" y="65151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53450" y="6580188"/>
            <a:ext cx="54292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23796" y="29917"/>
            <a:ext cx="4370388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针状马氏体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179705" y="966470"/>
            <a:ext cx="6705600" cy="52165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先形成的马氏体片横贯整个奥氏体晶粒，但不能穿过晶界和孪晶界。</a:t>
            </a:r>
            <a:r>
              <a:rPr lang="zh-CN" altLang="en-US" sz="2800" b="1" dirty="0">
                <a:ea typeface="华文中宋" panose="02010600040101010101" pitchFamily="2" charset="-122"/>
              </a:rPr>
              <a:t>后形成的马氏体片不能穿过先形成的马氏体片，所以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越是后形成的马氏体片越细小。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原始奥氏体晶粒细，转变后的马氏体片也细。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当最大马氏体片细到光镜下无法分辨时，</a:t>
            </a:r>
            <a:r>
              <a:rPr lang="zh-CN" altLang="en-US" sz="2800" b="1" dirty="0">
                <a:ea typeface="华文中宋" panose="02010600040101010101" pitchFamily="2" charset="-122"/>
              </a:rPr>
              <a:t>该马氏体称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隐晶马氏体。</a:t>
            </a:r>
            <a:endParaRPr lang="zh-CN" altLang="en-US" sz="2800" dirty="0"/>
          </a:p>
        </p:txBody>
      </p:sp>
      <p:grpSp>
        <p:nvGrpSpPr>
          <p:cNvPr id="58372" name="Group 8"/>
          <p:cNvGrpSpPr/>
          <p:nvPr/>
        </p:nvGrpSpPr>
        <p:grpSpPr>
          <a:xfrm>
            <a:off x="7003203" y="1087120"/>
            <a:ext cx="2027945" cy="4401820"/>
            <a:chOff x="4007" y="350"/>
            <a:chExt cx="1811" cy="3327"/>
          </a:xfrm>
        </p:grpSpPr>
        <p:grpSp>
          <p:nvGrpSpPr>
            <p:cNvPr id="58373" name="Group 9"/>
            <p:cNvGrpSpPr/>
            <p:nvPr/>
          </p:nvGrpSpPr>
          <p:grpSpPr>
            <a:xfrm>
              <a:off x="4007" y="1990"/>
              <a:ext cx="1811" cy="1687"/>
              <a:chOff x="4007" y="1990"/>
              <a:chExt cx="1811" cy="1687"/>
            </a:xfrm>
          </p:grpSpPr>
          <p:pic>
            <p:nvPicPr>
              <p:cNvPr id="58374" name="Picture 10" descr="13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4048" y="1990"/>
                <a:ext cx="1712" cy="1439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8375" name="Rectangle 11"/>
              <p:cNvSpPr/>
              <p:nvPr/>
            </p:nvSpPr>
            <p:spPr>
              <a:xfrm>
                <a:off x="4007" y="3463"/>
                <a:ext cx="1811" cy="214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45</a:t>
                </a:r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钢正常淬火组织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58376" name="Group 12"/>
            <p:cNvGrpSpPr/>
            <p:nvPr/>
          </p:nvGrpSpPr>
          <p:grpSpPr>
            <a:xfrm>
              <a:off x="4013" y="350"/>
              <a:ext cx="1737" cy="1557"/>
              <a:chOff x="3524" y="352"/>
              <a:chExt cx="1996" cy="1557"/>
            </a:xfrm>
          </p:grpSpPr>
          <p:pic>
            <p:nvPicPr>
              <p:cNvPr id="58377" name="Picture 13" descr="austmart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524" y="352"/>
                <a:ext cx="1996" cy="1382"/>
              </a:xfrm>
              <a:prstGeom prst="rect">
                <a:avLst/>
              </a:prstGeom>
              <a:noFill/>
              <a:ln w="28575" cap="flat" cmpd="sng">
                <a:solidFill>
                  <a:srgbClr val="FF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58378" name="Rectangle 14"/>
              <p:cNvSpPr/>
              <p:nvPr/>
            </p:nvSpPr>
            <p:spPr>
              <a:xfrm>
                <a:off x="3564" y="1755"/>
                <a:ext cx="1769" cy="154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奥氏体</a:t>
                </a:r>
                <a:r>
                  <a:rPr lang="en-US" altLang="zh-CN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+</a:t>
                </a:r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马氏体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</p:grpSp>
      <p:sp>
        <p:nvSpPr>
          <p:cNvPr id="5838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383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7425" y="6591300"/>
            <a:ext cx="52070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5087"/>
            <a:ext cx="5327650" cy="14112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⑶ 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马氏体的形态主要取决于其含碳量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179705" y="1700530"/>
            <a:ext cx="5582285" cy="46831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C%&lt;0.2%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时：</a:t>
            </a:r>
            <a:r>
              <a:rPr lang="zh-CN" altLang="en-US" b="1" dirty="0">
                <a:ea typeface="华文中宋" panose="02010600040101010101" pitchFamily="2" charset="-122"/>
              </a:rPr>
              <a:t>组织几乎全部是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板条马氏体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C%&gt;1.0%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时：</a:t>
            </a:r>
            <a:r>
              <a:rPr lang="zh-CN" altLang="en-US" b="1" dirty="0">
                <a:ea typeface="华文中宋" panose="02010600040101010101" pitchFamily="2" charset="-122"/>
              </a:rPr>
              <a:t>几乎全部是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针状马氏体</a:t>
            </a:r>
            <a:r>
              <a:rPr lang="en-US" altLang="zh-CN" b="1" dirty="0">
                <a:ea typeface="华文中宋" panose="02010600040101010101" pitchFamily="2" charset="-122"/>
              </a:rPr>
              <a:t>.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C%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在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0.2~1.0%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之间：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板条状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针状的混合组织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59397" name="Rectangle 18"/>
          <p:cNvSpPr/>
          <p:nvPr/>
        </p:nvSpPr>
        <p:spPr>
          <a:xfrm>
            <a:off x="6013450" y="1124268"/>
            <a:ext cx="795338" cy="2286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板条马氏体量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9398" name="Group 32"/>
          <p:cNvGrpSpPr/>
          <p:nvPr/>
        </p:nvGrpSpPr>
        <p:grpSpPr>
          <a:xfrm>
            <a:off x="5956935" y="836935"/>
            <a:ext cx="2878455" cy="5181021"/>
            <a:chOff x="2381" y="512"/>
            <a:chExt cx="2003" cy="3515"/>
          </a:xfrm>
        </p:grpSpPr>
        <p:grpSp>
          <p:nvGrpSpPr>
            <p:cNvPr id="59399" name="Group 31"/>
            <p:cNvGrpSpPr/>
            <p:nvPr/>
          </p:nvGrpSpPr>
          <p:grpSpPr>
            <a:xfrm>
              <a:off x="2381" y="512"/>
              <a:ext cx="2003" cy="3515"/>
              <a:chOff x="2426" y="466"/>
              <a:chExt cx="2003" cy="3515"/>
            </a:xfrm>
          </p:grpSpPr>
          <p:grpSp>
            <p:nvGrpSpPr>
              <p:cNvPr id="59400" name="Group 30"/>
              <p:cNvGrpSpPr/>
              <p:nvPr/>
            </p:nvGrpSpPr>
            <p:grpSpPr>
              <a:xfrm>
                <a:off x="2426" y="466"/>
                <a:ext cx="2003" cy="3515"/>
                <a:chOff x="3515" y="421"/>
                <a:chExt cx="2003" cy="3515"/>
              </a:xfrm>
            </p:grpSpPr>
            <p:grpSp>
              <p:nvGrpSpPr>
                <p:cNvPr id="59401" name="Group 29"/>
                <p:cNvGrpSpPr/>
                <p:nvPr/>
              </p:nvGrpSpPr>
              <p:grpSpPr>
                <a:xfrm>
                  <a:off x="3515" y="421"/>
                  <a:ext cx="2003" cy="3515"/>
                  <a:chOff x="3515" y="421"/>
                  <a:chExt cx="2003" cy="3515"/>
                </a:xfrm>
              </p:grpSpPr>
              <p:grpSp>
                <p:nvGrpSpPr>
                  <p:cNvPr id="59402" name="Group 25"/>
                  <p:cNvGrpSpPr/>
                  <p:nvPr/>
                </p:nvGrpSpPr>
                <p:grpSpPr>
                  <a:xfrm>
                    <a:off x="3515" y="421"/>
                    <a:ext cx="2003" cy="3515"/>
                    <a:chOff x="3515" y="421"/>
                    <a:chExt cx="2003" cy="3515"/>
                  </a:xfrm>
                </p:grpSpPr>
                <p:grpSp>
                  <p:nvGrpSpPr>
                    <p:cNvPr id="59403" name="Group 24"/>
                    <p:cNvGrpSpPr/>
                    <p:nvPr/>
                  </p:nvGrpSpPr>
                  <p:grpSpPr>
                    <a:xfrm>
                      <a:off x="3515" y="421"/>
                      <a:ext cx="2003" cy="3515"/>
                      <a:chOff x="3560" y="421"/>
                      <a:chExt cx="2003" cy="3515"/>
                    </a:xfrm>
                  </p:grpSpPr>
                  <p:sp>
                    <p:nvSpPr>
                      <p:cNvPr id="59404" name="Text Box 9"/>
                      <p:cNvSpPr txBox="1">
                        <a:spLocks noChangeAspect="1"/>
                      </p:cNvSpPr>
                      <p:nvPr/>
                    </p:nvSpPr>
                    <p:spPr>
                      <a:xfrm>
                        <a:off x="4278" y="3726"/>
                        <a:ext cx="562" cy="20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28575">
                        <a:noFill/>
                      </a:ln>
                    </p:spPr>
                    <p:txBody>
                      <a:bodyPr wrap="square" anchor="t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1400" dirty="0">
                            <a:solidFill>
                              <a:schemeClr val="hlink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rPr>
                          <a:t>0.45%C</a:t>
                        </a:r>
                        <a:endParaRPr lang="en-US" altLang="zh-CN" sz="1400" dirty="0">
                          <a:solidFill>
                            <a:schemeClr val="hlink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  <p:grpSp>
                    <p:nvGrpSpPr>
                      <p:cNvPr id="59405" name="Group 23"/>
                      <p:cNvGrpSpPr/>
                      <p:nvPr/>
                    </p:nvGrpSpPr>
                    <p:grpSpPr>
                      <a:xfrm>
                        <a:off x="3560" y="421"/>
                        <a:ext cx="2003" cy="3515"/>
                        <a:chOff x="3560" y="421"/>
                        <a:chExt cx="2003" cy="3515"/>
                      </a:xfrm>
                    </p:grpSpPr>
                    <p:sp>
                      <p:nvSpPr>
                        <p:cNvPr id="59406" name="Text Box 12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3572" y="3728"/>
                          <a:ext cx="571" cy="208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 w="28575">
                          <a:noFill/>
                        </a:ln>
                      </p:spPr>
                      <p:txBody>
                        <a:bodyPr wrap="square" anchor="t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zh-CN" sz="1400" dirty="0">
                              <a:solidFill>
                                <a:schemeClr val="hlink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0.2%C</a:t>
                          </a:r>
                          <a:endParaRPr lang="en-US" altLang="zh-CN" sz="1400" dirty="0">
                            <a:solidFill>
                              <a:schemeClr val="hlink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p:txBody>
                    </p:sp>
                    <p:grpSp>
                      <p:nvGrpSpPr>
                        <p:cNvPr id="59407" name="Group 21"/>
                        <p:cNvGrpSpPr/>
                        <p:nvPr/>
                      </p:nvGrpSpPr>
                      <p:grpSpPr>
                        <a:xfrm>
                          <a:off x="3560" y="421"/>
                          <a:ext cx="2003" cy="3341"/>
                          <a:chOff x="3560" y="602"/>
                          <a:chExt cx="2003" cy="3341"/>
                        </a:xfrm>
                      </p:grpSpPr>
                      <p:pic>
                        <p:nvPicPr>
                          <p:cNvPr id="59408" name="Picture 5" descr="M形态与C%关系"/>
                          <p:cNvPicPr preferRelativeResize="0">
                            <a:picLocks noChangeAspect="1"/>
                          </p:cNvPicPr>
                          <p:nvPr/>
                        </p:nvPicPr>
                        <p:blipFill>
                          <a:blip r:embed="rId1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3560" y="602"/>
                            <a:ext cx="2003" cy="1502"/>
                          </a:xfrm>
                          <a:prstGeom prst="rect">
                            <a:avLst/>
                          </a:prstGeom>
                          <a:noFill/>
                          <a:ln w="28575" cap="flat" cmpd="sng">
                            <a:solidFill>
                              <a:srgbClr val="FF9900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  <p:sp>
                        <p:nvSpPr>
                          <p:cNvPr id="59409" name="Text Box 6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3560" y="1875"/>
                            <a:ext cx="1877" cy="229"/>
                          </a:xfrm>
                          <a:prstGeom prst="rect">
                            <a:avLst/>
                          </a:prstGeom>
                          <a:solidFill>
                            <a:schemeClr val="tx1"/>
                          </a:solidFill>
                          <a:ln w="28575">
                            <a:noFill/>
                          </a:ln>
                        </p:spPr>
                        <p:txBody>
                          <a:bodyPr wrap="square" anchor="t">
                            <a:spAutoFit/>
                          </a:bodyPr>
                          <a:lstStyle/>
                          <a:p>
                            <a:r>
                              <a:rPr lang="zh-CN" altLang="en-US" sz="1600" dirty="0">
                                <a:solidFill>
                                  <a:srgbClr val="800000"/>
                                </a:solidFill>
                                <a:latin typeface="Times New Roman" panose="02020603050405020304" pitchFamily="18" charset="0"/>
                                <a:ea typeface="华文中宋" panose="02010600040101010101" pitchFamily="2" charset="-122"/>
                              </a:rPr>
                              <a:t>马氏体形态与含碳量的关系</a:t>
                            </a:r>
                            <a:endParaRPr lang="zh-CN" altLang="en-US" sz="1600" dirty="0">
                              <a:solidFill>
                                <a:srgbClr val="800000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endParaRPr>
                          </a:p>
                        </p:txBody>
                      </p:sp>
                      <p:pic>
                        <p:nvPicPr>
                          <p:cNvPr id="59410" name="Picture 8" descr="13"/>
                          <p:cNvPicPr preferRelativeResize="0">
                            <a:picLocks noChangeAspect="1"/>
                          </p:cNvPicPr>
                          <p:nvPr/>
                        </p:nvPicPr>
                        <p:blipFill>
                          <a:blip r:embed="rId2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313" y="2195"/>
                            <a:ext cx="561" cy="1733"/>
                          </a:xfrm>
                          <a:prstGeom prst="rect">
                            <a:avLst/>
                          </a:prstGeom>
                          <a:noFill/>
                          <a:ln w="28575" cap="flat" cmpd="sng">
                            <a:solidFill>
                              <a:srgbClr val="FF9900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  <p:pic>
                        <p:nvPicPr>
                          <p:cNvPr id="59411" name="Picture 11" descr="7_28"/>
                          <p:cNvPicPr preferRelativeResize="0">
                            <a:picLocks noChangeAspect="1"/>
                          </p:cNvPicPr>
                          <p:nvPr/>
                        </p:nvPicPr>
                        <p:blipFill>
                          <a:blip r:embed="rId3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3567" y="2193"/>
                            <a:ext cx="691" cy="1735"/>
                          </a:xfrm>
                          <a:prstGeom prst="rect">
                            <a:avLst/>
                          </a:prstGeom>
                          <a:noFill/>
                          <a:ln w="28575" cap="flat" cmpd="sng">
                            <a:solidFill>
                              <a:srgbClr val="FF9900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  <p:pic>
                        <p:nvPicPr>
                          <p:cNvPr id="59412" name="Picture 13" descr="7_29-2"/>
                          <p:cNvPicPr preferRelativeResize="0">
                            <a:picLocks noChangeAspect="1"/>
                          </p:cNvPicPr>
                          <p:nvPr/>
                        </p:nvPicPr>
                        <p:blipFill>
                          <a:blip r:embed="rId4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4927" y="2208"/>
                            <a:ext cx="636" cy="1735"/>
                          </a:xfrm>
                          <a:prstGeom prst="rect">
                            <a:avLst/>
                          </a:prstGeom>
                          <a:noFill/>
                          <a:ln w="28575" cap="flat" cmpd="sng">
                            <a:solidFill>
                              <a:srgbClr val="FF9900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</p:grpSp>
                    <p:sp>
                      <p:nvSpPr>
                        <p:cNvPr id="59413" name="Text Box 14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4924" y="3727"/>
                          <a:ext cx="613" cy="208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 w="28575">
                          <a:noFill/>
                        </a:ln>
                      </p:spPr>
                      <p:txBody>
                        <a:bodyPr wrap="square" anchor="t">
                          <a:spAutoFit/>
                        </a:bodyPr>
                        <a:lstStyle/>
                        <a:p>
                          <a:pPr algn="ctr"/>
                          <a:r>
                            <a:rPr lang="en-US" altLang="zh-CN" sz="1400" dirty="0">
                              <a:solidFill>
                                <a:schemeClr val="hlink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rPr>
                            <a:t>1..2%C</a:t>
                          </a:r>
                          <a:endParaRPr lang="en-US" altLang="zh-CN" sz="1400" dirty="0">
                            <a:solidFill>
                              <a:schemeClr val="hlink"/>
                            </a:solidFill>
                            <a:latin typeface="Times New Roman" panose="02020603050405020304" pitchFamily="18" charset="0"/>
                            <a:ea typeface="楷体_GB2312" pitchFamily="49" charset="-122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59414" name="Line 17"/>
                    <p:cNvSpPr>
                      <a:spLocks noChangeAspect="1"/>
                    </p:cNvSpPr>
                    <p:nvPr/>
                  </p:nvSpPr>
                  <p:spPr>
                    <a:xfrm flipH="1">
                      <a:off x="5277" y="1738"/>
                      <a:ext cx="159" cy="64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</p:spPr>
                </p:sp>
              </p:grpSp>
              <p:sp>
                <p:nvSpPr>
                  <p:cNvPr id="59415" name="Rectangle 20"/>
                  <p:cNvSpPr/>
                  <p:nvPr/>
                </p:nvSpPr>
                <p:spPr>
                  <a:xfrm rot="-5358182">
                    <a:off x="3310" y="987"/>
                    <a:ext cx="589" cy="175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6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体积，</a:t>
                    </a:r>
                    <a:r>
                      <a:rPr lang="en-US" altLang="zh-CN" sz="16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%</a:t>
                    </a:r>
                    <a:endParaRPr lang="en-US" altLang="zh-CN" sz="16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59416" name="Line 15"/>
                <p:cNvSpPr>
                  <a:spLocks noChangeAspect="1"/>
                </p:cNvSpPr>
                <p:nvPr/>
              </p:nvSpPr>
              <p:spPr>
                <a:xfrm flipH="1">
                  <a:off x="3833" y="1706"/>
                  <a:ext cx="287" cy="594"/>
                </a:xfrm>
                <a:prstGeom prst="line">
                  <a:avLst/>
                </a:prstGeom>
                <a:ln w="28575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59417" name="Line 16"/>
              <p:cNvSpPr>
                <a:spLocks noChangeAspect="1"/>
              </p:cNvSpPr>
              <p:nvPr/>
            </p:nvSpPr>
            <p:spPr>
              <a:xfrm>
                <a:off x="3379" y="1706"/>
                <a:ext cx="111" cy="64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sp>
          <p:nvSpPr>
            <p:cNvPr id="59418" name="Rectangle 19"/>
            <p:cNvSpPr/>
            <p:nvPr/>
          </p:nvSpPr>
          <p:spPr>
            <a:xfrm>
              <a:off x="3383" y="1407"/>
              <a:ext cx="335" cy="19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%</a:t>
              </a:r>
              <a:endParaRPr lang="en-US" altLang="zh-CN" sz="1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941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5764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9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5555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/>
          </p:cNvSpPr>
          <p:nvPr>
            <p:ph type="title"/>
          </p:nvPr>
        </p:nvSpPr>
        <p:spPr>
          <a:xfrm>
            <a:off x="0" y="533400"/>
            <a:ext cx="685800" cy="5410200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sz="3600" b="1" strike="noStrike" noProof="1">
                <a:solidFill>
                  <a:schemeClr val="tx1"/>
                </a:solidFill>
                <a:ea typeface="华文中宋" panose="02010600040101010101" pitchFamily="2" charset="-122"/>
              </a:rPr>
              <a:t>马氏体转变观察</a:t>
            </a:r>
            <a:endParaRPr lang="zh-CN" altLang="en-US" sz="3600" b="1" strike="noStrike" noProof="1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pic>
        <p:nvPicPr>
          <p:cNvPr id="203780" name="M02.MPG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1043706" y="292245"/>
            <a:ext cx="7668258" cy="627350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037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03780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03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037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3780"/>
                  </p:tgtEl>
                </p:cond>
              </p:nextCondLst>
            </p:seq>
          </p:childTnLst>
        </p:cTn>
      </p:par>
    </p:tnLst>
    <p:bldLst>
      <p:bldP spid="20377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57963"/>
            <a:ext cx="457200" cy="30003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-42862"/>
            <a:ext cx="63325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、马氏体的性能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>
          <a:xfrm>
            <a:off x="-19677" y="1199356"/>
            <a:ext cx="6337300" cy="494665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主要特点：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高硬度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马氏体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硬度</a:t>
            </a:r>
            <a:r>
              <a:rPr lang="zh-CN" altLang="en-US" b="1" dirty="0">
                <a:ea typeface="华文中宋" panose="02010600040101010101" pitchFamily="2" charset="-122"/>
              </a:rPr>
              <a:t>主要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取决于</a:t>
            </a:r>
            <a:r>
              <a:rPr lang="zh-CN" altLang="en-US" b="1" dirty="0">
                <a:ea typeface="华文中宋" panose="02010600040101010101" pitchFamily="2" charset="-122"/>
              </a:rPr>
              <a:t>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含碳量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ea typeface="华文中宋" panose="02010600040101010101" pitchFamily="2" charset="-122"/>
              </a:rPr>
              <a:t>含碳量增加，其硬度增加</a:t>
            </a:r>
            <a:r>
              <a:rPr lang="en-US" altLang="zh-CN" b="1" dirty="0"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当含碳量大于</a:t>
            </a:r>
            <a:r>
              <a:rPr lang="en-US" altLang="zh-CN" b="1" dirty="0">
                <a:ea typeface="华文中宋" panose="02010600040101010101" pitchFamily="2" charset="-122"/>
              </a:rPr>
              <a:t>0.6%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其硬度趋于平缓。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合金元素对马氏体硬度的影响不大。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123075" y="1285875"/>
            <a:ext cx="2987277" cy="4616320"/>
            <a:chOff x="2476" y="-24"/>
            <a:chExt cx="3307" cy="3642"/>
          </a:xfrm>
        </p:grpSpPr>
        <p:pic>
          <p:nvPicPr>
            <p:cNvPr id="61445" name="Picture 5" descr="M硬度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36" y="-24"/>
              <a:ext cx="2847" cy="3264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61446" name="Text Box 6"/>
            <p:cNvSpPr txBox="1">
              <a:spLocks noChangeAspect="1"/>
            </p:cNvSpPr>
            <p:nvPr/>
          </p:nvSpPr>
          <p:spPr>
            <a:xfrm>
              <a:off x="2476" y="3327"/>
              <a:ext cx="3307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1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马氏体硬度与含碳量的关系</a:t>
              </a:r>
              <a:endPara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6144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5675" y="6613525"/>
            <a:ext cx="54292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64770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马氏体强化的主要原因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611505" y="1143000"/>
            <a:ext cx="8281670" cy="43529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过饱和碳</a:t>
            </a:r>
            <a:r>
              <a:rPr lang="zh-CN" altLang="en-US" b="1" dirty="0">
                <a:ea typeface="华文中宋" panose="02010600040101010101" pitchFamily="2" charset="-122"/>
              </a:rPr>
              <a:t>引起的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固溶强化。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马氏体转变产生的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组织细化</a:t>
            </a:r>
            <a:r>
              <a:rPr lang="zh-CN" altLang="en-US" b="1" dirty="0">
                <a:ea typeface="华文中宋" panose="02010600040101010101" pitchFamily="2" charset="-122"/>
              </a:rPr>
              <a:t>也有强化作用。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马氏体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塑性和韧性</a:t>
            </a:r>
            <a:r>
              <a:rPr lang="zh-CN" altLang="en-US" b="1" dirty="0">
                <a:ea typeface="华文中宋" panose="02010600040101010101" pitchFamily="2" charset="-122"/>
              </a:rPr>
              <a:t>主要取决于其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亚结构形式：针状马氏体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脆性大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板条马氏体的塑性和韧性较好。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6246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68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96380"/>
            <a:ext cx="528320" cy="2616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0"/>
            <a:ext cx="683736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、马氏体转变的特点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3491" name="Rectangle 3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4953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马氏体转变</a:t>
            </a:r>
            <a:r>
              <a:rPr lang="zh-CN" altLang="en-US" b="1" dirty="0">
                <a:ea typeface="华文中宋" panose="02010600040101010101" pitchFamily="2" charset="-122"/>
              </a:rPr>
              <a:t>也是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形核和长大</a:t>
            </a:r>
            <a:r>
              <a:rPr lang="zh-CN" altLang="en-US" b="1" dirty="0">
                <a:ea typeface="华文中宋" panose="02010600040101010101" pitchFamily="2" charset="-122"/>
              </a:rPr>
              <a:t>的过程。其主要特点是：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⑴无扩散性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共格切变性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 降温形成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⑷高速长大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⑸ 转变不完全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6349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62988" y="6580188"/>
            <a:ext cx="487362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84439" y="0"/>
            <a:ext cx="4535766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无扩散性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4515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铁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folHlink"/>
                </a:solidFill>
              </a:rPr>
              <a:t>碳</a:t>
            </a:r>
            <a:r>
              <a:rPr lang="zh-CN" altLang="en-US" b="1" dirty="0">
                <a:solidFill>
                  <a:srgbClr val="FF0000"/>
                </a:solidFill>
              </a:rPr>
              <a:t>原子</a:t>
            </a:r>
            <a:r>
              <a:rPr lang="zh-CN" altLang="en-US" b="1" dirty="0">
                <a:solidFill>
                  <a:schemeClr val="folHlink"/>
                </a:solidFill>
              </a:rPr>
              <a:t>都不扩散</a:t>
            </a:r>
            <a:r>
              <a:rPr lang="zh-CN" altLang="en-US" b="1" dirty="0"/>
              <a:t>，因而马氏体的含碳量与奥氏体的含碳量相同。</a:t>
            </a:r>
            <a:endParaRPr lang="zh-CN" altLang="en-US" b="1" dirty="0"/>
          </a:p>
        </p:txBody>
      </p:sp>
      <p:sp>
        <p:nvSpPr>
          <p:cNvPr id="64517" name="日期占位符 1"/>
          <p:cNvSpPr>
            <a:spLocks noGrp="1"/>
          </p:cNvSpPr>
          <p:nvPr>
            <p:ph type="dt" sz="half" idx="10"/>
          </p:nvPr>
        </p:nvSpPr>
        <p:spPr>
          <a:xfrm>
            <a:off x="66675" y="6513513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063" y="6562725"/>
            <a:ext cx="642937" cy="29527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39975" y="0"/>
            <a:ext cx="5184271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共格切变性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5539" name="Rectangle 3"/>
          <p:cNvSpPr>
            <a:spLocks noGrp="1"/>
          </p:cNvSpPr>
          <p:nvPr>
            <p:ph idx="1"/>
          </p:nvPr>
        </p:nvSpPr>
        <p:spPr>
          <a:xfrm>
            <a:off x="468313" y="1268413"/>
            <a:ext cx="8496300" cy="5113337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由于无扩散，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晶格转变</a:t>
            </a:r>
            <a:r>
              <a:rPr lang="zh-CN" altLang="en-US" b="1" dirty="0">
                <a:ea typeface="华文中宋" panose="02010600040101010101" pitchFamily="2" charset="-122"/>
              </a:rPr>
              <a:t>是以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切变机制</a:t>
            </a:r>
            <a:r>
              <a:rPr lang="zh-CN" altLang="en-US" b="1" dirty="0">
                <a:ea typeface="华文中宋" panose="02010600040101010101" pitchFamily="2" charset="-122"/>
              </a:rPr>
              <a:t>进行的。使切变部分的形状和体积发生变化，引起相邻奥氏体随之变形，在预先抛光的表面上产生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浮凸现象。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1331668" y="3564945"/>
            <a:ext cx="7095227" cy="2352216"/>
            <a:chOff x="770" y="2299"/>
            <a:chExt cx="4730" cy="1568"/>
          </a:xfrm>
        </p:grpSpPr>
        <p:pic>
          <p:nvPicPr>
            <p:cNvPr id="65541" name="Picture 5" descr="1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67" y="2299"/>
              <a:ext cx="2080" cy="1269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65542" name="Text Box 6"/>
            <p:cNvSpPr txBox="1">
              <a:spLocks noChangeAspect="1"/>
            </p:cNvSpPr>
            <p:nvPr/>
          </p:nvSpPr>
          <p:spPr>
            <a:xfrm>
              <a:off x="770" y="3600"/>
              <a:ext cx="2066" cy="26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>
              <a:spAutoFit/>
            </a:bodyPr>
            <a:lstStyle/>
            <a:p>
              <a:pPr algn="r"/>
              <a:r>
                <a:rPr lang="zh-CN" altLang="en-US" sz="2000" dirty="0">
                  <a:solidFill>
                    <a:srgbClr val="FFFF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马氏体转变切变示意图</a:t>
              </a:r>
              <a:endParaRPr lang="zh-CN" altLang="en-US" sz="2000" dirty="0">
                <a:solidFill>
                  <a:srgbClr val="FFFF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65543" name="Group 7"/>
            <p:cNvGrpSpPr>
              <a:grpSpLocks noChangeAspect="1"/>
            </p:cNvGrpSpPr>
            <p:nvPr/>
          </p:nvGrpSpPr>
          <p:grpSpPr>
            <a:xfrm>
              <a:off x="3262" y="2299"/>
              <a:ext cx="2238" cy="1534"/>
              <a:chOff x="3262" y="2299"/>
              <a:chExt cx="2238" cy="1534"/>
            </a:xfrm>
          </p:grpSpPr>
          <p:pic>
            <p:nvPicPr>
              <p:cNvPr id="65544" name="Picture 8" descr="马氏体表面浮凸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262" y="2299"/>
                <a:ext cx="2189" cy="1266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65545" name="Text Box 9"/>
              <p:cNvSpPr txBox="1">
                <a:spLocks noChangeAspect="1"/>
              </p:cNvSpPr>
              <p:nvPr/>
            </p:nvSpPr>
            <p:spPr>
              <a:xfrm>
                <a:off x="3262" y="3568"/>
                <a:ext cx="2238" cy="2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r"/>
                <a:r>
                  <a:rPr lang="zh-CN" altLang="en-US" sz="2000" dirty="0">
                    <a:solidFill>
                      <a:srgbClr val="FFFF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马氏体转变产生的表面浮凸</a:t>
                </a:r>
                <a:endParaRPr lang="zh-CN" altLang="en-US" sz="2000" dirty="0">
                  <a:solidFill>
                    <a:srgbClr val="FFFF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</p:grpSp>
      <p:sp>
        <p:nvSpPr>
          <p:cNvPr id="65547" name="日期占位符 1"/>
          <p:cNvSpPr>
            <a:spLocks noGrp="1"/>
          </p:cNvSpPr>
          <p:nvPr>
            <p:ph type="dt" sz="half" idx="10"/>
          </p:nvPr>
        </p:nvSpPr>
        <p:spPr>
          <a:xfrm>
            <a:off x="77788" y="65151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24875" y="6542088"/>
            <a:ext cx="433388" cy="31591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050" y="0"/>
            <a:ext cx="52578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⑶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降温形成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idx="1"/>
          </p:nvPr>
        </p:nvSpPr>
        <p:spPr>
          <a:xfrm>
            <a:off x="0" y="1196975"/>
            <a:ext cx="6929120" cy="462407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马氏体转变开始的温度</a:t>
            </a:r>
            <a:r>
              <a:rPr lang="zh-CN" altLang="en-US" sz="2800" b="1" dirty="0">
                <a:ea typeface="华文中宋" panose="02010600040101010101" pitchFamily="2" charset="-122"/>
              </a:rPr>
              <a:t>称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上马氏</a:t>
            </a:r>
            <a:r>
              <a:rPr lang="zh-CN" altLang="en-US" sz="2800" b="1" dirty="0">
                <a:ea typeface="华文中宋" panose="02010600040101010101" pitchFamily="2" charset="-122"/>
              </a:rPr>
              <a:t>，</a:t>
            </a:r>
            <a:r>
              <a:rPr lang="en-US" altLang="zh-CN" sz="2800" b="1" dirty="0"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ea typeface="华文中宋" panose="02010600040101010101" pitchFamily="2" charset="-122"/>
              </a:rPr>
              <a:t>，</a:t>
            </a:r>
            <a:r>
              <a:rPr lang="en-US" altLang="zh-CN" sz="2800" b="1" dirty="0"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ea typeface="华文中宋" panose="02010600040101010101" pitchFamily="2" charset="-122"/>
              </a:rPr>
              <a:t>用 </a:t>
            </a:r>
            <a:r>
              <a:rPr lang="en-US" altLang="zh-CN" sz="2800" b="1" i="1" dirty="0">
                <a:solidFill>
                  <a:srgbClr val="FFFF00"/>
                </a:solidFill>
                <a:ea typeface="华文中宋" panose="02010600040101010101" pitchFamily="2" charset="-122"/>
              </a:rPr>
              <a:t>Ms </a:t>
            </a:r>
            <a:r>
              <a:rPr lang="zh-CN" altLang="en-US" sz="2800" b="1" dirty="0">
                <a:ea typeface="华文中宋" panose="02010600040101010101" pitchFamily="2" charset="-122"/>
              </a:rPr>
              <a:t>表示</a:t>
            </a:r>
            <a:r>
              <a:rPr lang="en-US" altLang="zh-CN" sz="2800" b="1" dirty="0">
                <a:ea typeface="华文中宋" panose="02010600040101010101" pitchFamily="2" charset="-122"/>
              </a:rPr>
              <a:t>.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马氏体转变终了的温度</a:t>
            </a:r>
            <a:r>
              <a:rPr lang="zh-CN" altLang="en-US" sz="2800" b="1" dirty="0">
                <a:ea typeface="华文中宋" panose="02010600040101010101" pitchFamily="2" charset="-122"/>
              </a:rPr>
              <a:t>称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下马氏体点</a:t>
            </a:r>
            <a:r>
              <a:rPr lang="zh-CN" altLang="en-US" sz="2800" b="1" dirty="0">
                <a:ea typeface="华文中宋" panose="02010600040101010101" pitchFamily="2" charset="-122"/>
              </a:rPr>
              <a:t>，用 </a:t>
            </a:r>
            <a:r>
              <a:rPr lang="en-US" altLang="zh-CN" sz="2800" b="1" i="1" dirty="0">
                <a:solidFill>
                  <a:srgbClr val="FFFF00"/>
                </a:solidFill>
                <a:ea typeface="华文中宋" panose="02010600040101010101" pitchFamily="2" charset="-122"/>
              </a:rPr>
              <a:t>M</a:t>
            </a:r>
            <a:r>
              <a:rPr lang="en-US" altLang="zh-CN" sz="2800" b="1" i="1" baseline="-30000" dirty="0">
                <a:solidFill>
                  <a:srgbClr val="FFFF00"/>
                </a:solidFill>
                <a:ea typeface="华文中宋" panose="02010600040101010101" pitchFamily="2" charset="-122"/>
              </a:rPr>
              <a:t>f </a:t>
            </a:r>
            <a:r>
              <a:rPr lang="en-US" altLang="zh-CN" sz="2800" b="1" i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ea typeface="华文中宋" panose="02010600040101010101" pitchFamily="2" charset="-122"/>
              </a:rPr>
              <a:t>表示</a:t>
            </a:r>
            <a:r>
              <a:rPr lang="en-US" altLang="zh-CN" sz="2800" b="1" dirty="0">
                <a:ea typeface="华文中宋" panose="02010600040101010101" pitchFamily="2" charset="-122"/>
              </a:rPr>
              <a:t>.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只要温度达到 </a:t>
            </a:r>
            <a:r>
              <a:rPr lang="en-US" altLang="zh-CN" sz="2800" b="1" i="1" dirty="0">
                <a:solidFill>
                  <a:srgbClr val="FFFF00"/>
                </a:solidFill>
                <a:ea typeface="华文中宋" panose="02010600040101010101" pitchFamily="2" charset="-122"/>
              </a:rPr>
              <a:t>Ms 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以下即发生马氏体转变。</a:t>
            </a:r>
            <a:endParaRPr lang="zh-CN" altLang="en-US" sz="2800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ea typeface="华文中宋" panose="02010600040101010101" pitchFamily="2" charset="-122"/>
              </a:rPr>
              <a:t>在 </a:t>
            </a:r>
            <a:r>
              <a:rPr lang="en-US" altLang="zh-CN" sz="2800" b="1" i="1" dirty="0">
                <a:solidFill>
                  <a:srgbClr val="FFFF00"/>
                </a:solidFill>
                <a:ea typeface="华文中宋" panose="02010600040101010101" pitchFamily="2" charset="-122"/>
              </a:rPr>
              <a:t>Ms </a:t>
            </a:r>
            <a:r>
              <a:rPr lang="zh-CN" altLang="en-US" sz="2800" b="1" dirty="0">
                <a:ea typeface="华文中宋" panose="02010600040101010101" pitchFamily="2" charset="-122"/>
              </a:rPr>
              <a:t>以下，随温度下降</a:t>
            </a:r>
            <a:r>
              <a:rPr lang="en-US" altLang="zh-CN" sz="2800" b="1" dirty="0">
                <a:ea typeface="华文中宋" panose="02010600040101010101" pitchFamily="2" charset="-122"/>
              </a:rPr>
              <a:t>,</a:t>
            </a:r>
            <a:r>
              <a:rPr lang="zh-CN" altLang="en-US" sz="2800" b="1" dirty="0">
                <a:ea typeface="华文中宋" panose="02010600040101010101" pitchFamily="2" charset="-122"/>
              </a:rPr>
              <a:t>转变量增加，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冷却中断，转变停止。</a:t>
            </a:r>
            <a:endParaRPr lang="zh-CN" altLang="en-US" sz="2800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i="1" dirty="0">
                <a:solidFill>
                  <a:srgbClr val="FFFF00"/>
                </a:solidFill>
                <a:ea typeface="华文中宋" panose="02010600040101010101" pitchFamily="2" charset="-122"/>
                <a:sym typeface="+mn-ea"/>
              </a:rPr>
              <a:t>Ms </a:t>
            </a:r>
            <a:r>
              <a:rPr lang="zh-CN" altLang="en-US" sz="2800" b="1" i="1" dirty="0">
                <a:solidFill>
                  <a:srgbClr val="FFFF00"/>
                </a:solidFill>
                <a:ea typeface="华文中宋" panose="02010600040101010101" pitchFamily="2" charset="-122"/>
                <a:sym typeface="+mn-ea"/>
              </a:rPr>
              <a:t>、</a:t>
            </a:r>
            <a:r>
              <a:rPr lang="en-US" altLang="zh-CN" sz="2800" b="1" i="1" dirty="0">
                <a:solidFill>
                  <a:srgbClr val="FFFF00"/>
                </a:solidFill>
                <a:ea typeface="华文中宋" panose="02010600040101010101" pitchFamily="2" charset="-122"/>
                <a:sym typeface="+mn-ea"/>
              </a:rPr>
              <a:t>M</a:t>
            </a:r>
            <a:r>
              <a:rPr lang="en-US" altLang="zh-CN" sz="2800" b="1" i="1" baseline="-30000" dirty="0">
                <a:solidFill>
                  <a:srgbClr val="FFFF00"/>
                </a:solidFill>
                <a:ea typeface="华文中宋" panose="02010600040101010101" pitchFamily="2" charset="-122"/>
                <a:sym typeface="+mn-ea"/>
              </a:rPr>
              <a:t>f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  <a:sym typeface="+mn-ea"/>
              </a:rPr>
              <a:t>与冷却速度无关，</a:t>
            </a:r>
            <a:r>
              <a:rPr lang="zh-CN" altLang="en-US" sz="2800" b="1" dirty="0">
                <a:ea typeface="华文中宋" panose="02010600040101010101" pitchFamily="2" charset="-122"/>
                <a:sym typeface="+mn-ea"/>
              </a:rPr>
              <a:t>主要取决于奥氏体中的含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  <a:sym typeface="+mn-ea"/>
              </a:rPr>
              <a:t>碳量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  <a:sym typeface="+mn-ea"/>
              </a:rPr>
              <a:t>及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  <a:sym typeface="+mn-ea"/>
              </a:rPr>
              <a:t>合金元素含量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zh-CN" altLang="en-US" sz="2800" b="1" dirty="0">
              <a:solidFill>
                <a:srgbClr val="FFFF00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918325" y="1229995"/>
            <a:ext cx="2187544" cy="2382063"/>
            <a:chOff x="3264" y="336"/>
            <a:chExt cx="2140" cy="2017"/>
          </a:xfrm>
        </p:grpSpPr>
        <p:sp>
          <p:nvSpPr>
            <p:cNvPr id="66565" name="Oval 5"/>
            <p:cNvSpPr>
              <a:spLocks noChangeAspect="1"/>
            </p:cNvSpPr>
            <p:nvPr/>
          </p:nvSpPr>
          <p:spPr>
            <a:xfrm>
              <a:off x="4154" y="1580"/>
              <a:ext cx="364" cy="41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6566" name="Group 6"/>
            <p:cNvGrpSpPr>
              <a:grpSpLocks noChangeAspect="1"/>
            </p:cNvGrpSpPr>
            <p:nvPr/>
          </p:nvGrpSpPr>
          <p:grpSpPr>
            <a:xfrm>
              <a:off x="3264" y="336"/>
              <a:ext cx="2140" cy="2017"/>
              <a:chOff x="3077" y="456"/>
              <a:chExt cx="2539" cy="3405"/>
            </a:xfrm>
          </p:grpSpPr>
          <p:pic>
            <p:nvPicPr>
              <p:cNvPr id="66567" name="Picture 7" descr="C曲线1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77" y="456"/>
                <a:ext cx="2539" cy="340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6568" name="Oval 8"/>
              <p:cNvSpPr>
                <a:spLocks noChangeAspect="1"/>
              </p:cNvSpPr>
              <p:nvPr/>
            </p:nvSpPr>
            <p:spPr>
              <a:xfrm>
                <a:off x="3540" y="2280"/>
                <a:ext cx="204" cy="180"/>
              </a:xfrm>
              <a:prstGeom prst="ellipse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569" name="Oval 9"/>
              <p:cNvSpPr>
                <a:spLocks noChangeAspect="1"/>
              </p:cNvSpPr>
              <p:nvPr/>
            </p:nvSpPr>
            <p:spPr>
              <a:xfrm>
                <a:off x="3504" y="3024"/>
                <a:ext cx="192" cy="19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6570" name="Text Box 10"/>
            <p:cNvSpPr txBox="1">
              <a:spLocks noChangeAspect="1"/>
            </p:cNvSpPr>
            <p:nvPr/>
          </p:nvSpPr>
          <p:spPr>
            <a:xfrm>
              <a:off x="3503" y="1759"/>
              <a:ext cx="558" cy="2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altLang="zh-CN" sz="16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sz="1600" i="1" baseline="-250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endParaRPr lang="en-US" altLang="zh-CN" sz="1600" i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6571" name="Text Box 11"/>
            <p:cNvSpPr txBox="1">
              <a:spLocks noChangeAspect="1"/>
            </p:cNvSpPr>
            <p:nvPr/>
          </p:nvSpPr>
          <p:spPr>
            <a:xfrm>
              <a:off x="3504" y="1303"/>
              <a:ext cx="622" cy="2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altLang="zh-CN" sz="16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Ms</a:t>
              </a:r>
              <a:endParaRPr lang="en-US" altLang="zh-CN" sz="1600" i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6572" name="Line 12"/>
            <p:cNvSpPr>
              <a:spLocks noChangeAspect="1"/>
            </p:cNvSpPr>
            <p:nvPr/>
          </p:nvSpPr>
          <p:spPr>
            <a:xfrm>
              <a:off x="3587" y="1530"/>
              <a:ext cx="1295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73" name="Line 13"/>
            <p:cNvSpPr>
              <a:spLocks noChangeAspect="1"/>
            </p:cNvSpPr>
            <p:nvPr/>
          </p:nvSpPr>
          <p:spPr>
            <a:xfrm flipV="1">
              <a:off x="3587" y="1978"/>
              <a:ext cx="1538" cy="0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6574" name="Line 14"/>
            <p:cNvSpPr>
              <a:spLocks noChangeAspect="1"/>
            </p:cNvSpPr>
            <p:nvPr/>
          </p:nvSpPr>
          <p:spPr>
            <a:xfrm>
              <a:off x="3590" y="1626"/>
              <a:ext cx="1506" cy="0"/>
            </a:xfrm>
            <a:prstGeom prst="line">
              <a:avLst/>
            </a:prstGeom>
            <a:ln w="3175" cap="flat" cmpd="sng">
              <a:solidFill>
                <a:schemeClr val="hlink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6575" name="Line 15"/>
            <p:cNvSpPr>
              <a:spLocks noChangeAspect="1"/>
            </p:cNvSpPr>
            <p:nvPr/>
          </p:nvSpPr>
          <p:spPr>
            <a:xfrm>
              <a:off x="3599" y="1679"/>
              <a:ext cx="1497" cy="3"/>
            </a:xfrm>
            <a:prstGeom prst="line">
              <a:avLst/>
            </a:prstGeom>
            <a:ln w="3175" cap="flat" cmpd="sng">
              <a:solidFill>
                <a:schemeClr val="hlink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66576" name="Oval 16"/>
            <p:cNvSpPr>
              <a:spLocks noChangeAspect="1"/>
            </p:cNvSpPr>
            <p:nvPr/>
          </p:nvSpPr>
          <p:spPr>
            <a:xfrm>
              <a:off x="4154" y="1644"/>
              <a:ext cx="364" cy="35"/>
            </a:xfrm>
            <a:prstGeom prst="ellipse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577" name="Text Box 17"/>
            <p:cNvSpPr txBox="1">
              <a:spLocks noChangeAspect="1"/>
            </p:cNvSpPr>
            <p:nvPr/>
          </p:nvSpPr>
          <p:spPr>
            <a:xfrm>
              <a:off x="4547" y="1588"/>
              <a:ext cx="445" cy="3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M(90%)</a:t>
              </a:r>
              <a:endParaRPr lang="en-US" altLang="zh-CN" sz="12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6579" name="Text Box 19"/>
            <p:cNvSpPr txBox="1">
              <a:spLocks noChangeAspect="1"/>
            </p:cNvSpPr>
            <p:nvPr/>
          </p:nvSpPr>
          <p:spPr>
            <a:xfrm>
              <a:off x="4149" y="1532"/>
              <a:ext cx="444" cy="3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M(50%)</a:t>
              </a:r>
              <a:endParaRPr lang="en-US" altLang="zh-CN" sz="12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66581" name="日期占位符 1"/>
          <p:cNvSpPr>
            <a:spLocks noGrp="1"/>
          </p:cNvSpPr>
          <p:nvPr>
            <p:ph type="dt" sz="half" idx="10"/>
          </p:nvPr>
        </p:nvSpPr>
        <p:spPr>
          <a:xfrm>
            <a:off x="66675" y="65278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3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4356100" y="1196975"/>
            <a:ext cx="2073288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4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上马氏体点</a:t>
            </a:r>
            <a:endParaRPr lang="en-US" altLang="zh-CN" sz="24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4356100" y="2060575"/>
            <a:ext cx="200185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4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下</a:t>
            </a:r>
            <a:r>
              <a:rPr lang="en-US" altLang="zh-CN" sz="24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马氏体点</a:t>
            </a:r>
            <a:endParaRPr lang="en-US" altLang="zh-CN" sz="24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pic>
        <p:nvPicPr>
          <p:cNvPr id="67588" name="Picture 4" descr="《工程材料》fi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929755" y="3706495"/>
            <a:ext cx="2181225" cy="2206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2500" y="6508750"/>
            <a:ext cx="385763" cy="3492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0"/>
            <a:ext cx="59721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⑷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高速长大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xfrm>
            <a:off x="468313" y="1844675"/>
            <a:ext cx="8424862" cy="42513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马氏体形成速度极快，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瞬间形核，瞬间长大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当一片马氏体形成时，可能因撞击作用使已形成的马氏体产生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裂纹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6861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58238" y="6573838"/>
            <a:ext cx="385762" cy="2841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830" y="88900"/>
            <a:ext cx="5305425" cy="92519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⑸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转变不完全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xfrm>
            <a:off x="600710" y="1074420"/>
            <a:ext cx="8207375" cy="451421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/>
              <a:t>即使冷却到 </a:t>
            </a:r>
            <a:r>
              <a:rPr lang="en-US" altLang="zh-CN" b="1" i="1" dirty="0">
                <a:solidFill>
                  <a:schemeClr val="folHlink"/>
                </a:solidFill>
              </a:rPr>
              <a:t>M</a:t>
            </a:r>
            <a:r>
              <a:rPr lang="en-US" altLang="zh-CN" b="1" i="1" baseline="-25000" dirty="0">
                <a:solidFill>
                  <a:schemeClr val="folHlink"/>
                </a:solidFill>
              </a:rPr>
              <a:t>f</a:t>
            </a:r>
            <a:r>
              <a:rPr lang="en-US" altLang="zh-CN" b="1" i="1" dirty="0">
                <a:solidFill>
                  <a:schemeClr val="folHlink"/>
                </a:solidFill>
              </a:rPr>
              <a:t>  </a:t>
            </a:r>
            <a:r>
              <a:rPr lang="zh-CN" altLang="en-US" b="1" dirty="0"/>
              <a:t>点，也不可能获得</a:t>
            </a:r>
            <a:r>
              <a:rPr lang="en-US" altLang="zh-CN" b="1" dirty="0">
                <a:solidFill>
                  <a:schemeClr val="folHlink"/>
                </a:solidFill>
              </a:rPr>
              <a:t>100%</a:t>
            </a:r>
            <a:r>
              <a:rPr lang="zh-CN" altLang="en-US" b="1" dirty="0"/>
              <a:t>的马氏体，总有部分奥氏体未能转变而残留下来，称</a:t>
            </a:r>
            <a:r>
              <a:rPr lang="zh-CN" altLang="en-US" b="1" dirty="0">
                <a:solidFill>
                  <a:schemeClr val="folHlink"/>
                </a:solidFill>
              </a:rPr>
              <a:t>残余奥氏体</a:t>
            </a:r>
            <a:r>
              <a:rPr lang="en-US" altLang="zh-CN" b="1" dirty="0">
                <a:solidFill>
                  <a:schemeClr val="folHlink"/>
                </a:solidFill>
              </a:rPr>
              <a:t> </a:t>
            </a:r>
            <a:r>
              <a:rPr lang="zh-CN" altLang="en-US" b="1" dirty="0"/>
              <a:t>，用 </a:t>
            </a:r>
            <a:r>
              <a:rPr lang="en-US" altLang="zh-CN" b="1" dirty="0">
                <a:solidFill>
                  <a:schemeClr val="folHlink"/>
                </a:solidFill>
              </a:rPr>
              <a:t>A’</a:t>
            </a:r>
            <a:r>
              <a:rPr lang="en-US" altLang="zh-CN" b="1" dirty="0"/>
              <a:t> </a:t>
            </a:r>
            <a:r>
              <a:rPr lang="zh-CN" altLang="en-US" b="1" dirty="0"/>
              <a:t>或 </a:t>
            </a:r>
            <a:r>
              <a:rPr lang="zh-CN" altLang="en-US" b="1" dirty="0">
                <a:solidFill>
                  <a:schemeClr val="folHlink"/>
                </a:solidFill>
                <a:sym typeface="Symbol" panose="05050102010706020507" pitchFamily="18" charset="2"/>
              </a:rPr>
              <a:t></a:t>
            </a:r>
            <a:r>
              <a:rPr lang="zh-CN" altLang="en-US" b="1" i="1" dirty="0">
                <a:solidFill>
                  <a:schemeClr val="folHlink"/>
                </a:solidFill>
              </a:rPr>
              <a:t>’</a:t>
            </a:r>
            <a:r>
              <a:rPr lang="zh-CN" altLang="en-US" b="1" dirty="0"/>
              <a:t>表示。</a:t>
            </a:r>
            <a:endParaRPr lang="en-US" altLang="zh-CN" b="1" dirty="0"/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马氏体转变后，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A’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量随含碳量的增加而增加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当含碳量达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0.5%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后，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A’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量才显著。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dirty="0"/>
          </a:p>
          <a:p>
            <a:pPr eaLnBrk="1" hangingPunct="1">
              <a:lnSpc>
                <a:spcPct val="140000"/>
              </a:lnSpc>
            </a:pPr>
            <a:endParaRPr lang="en-US" altLang="zh-CN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539240" y="2799080"/>
            <a:ext cx="3139440" cy="1912620"/>
            <a:chOff x="2661" y="1584"/>
            <a:chExt cx="2673" cy="1813"/>
          </a:xfrm>
        </p:grpSpPr>
        <p:pic>
          <p:nvPicPr>
            <p:cNvPr id="69637" name="Picture 5" descr="针状M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61" y="1584"/>
              <a:ext cx="2673" cy="1813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69638" name="Text Box 6"/>
            <p:cNvSpPr txBox="1">
              <a:spLocks noChangeAspect="1"/>
            </p:cNvSpPr>
            <p:nvPr/>
          </p:nvSpPr>
          <p:spPr>
            <a:xfrm>
              <a:off x="3977" y="2900"/>
              <a:ext cx="439" cy="49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</a:t>
              </a:r>
              <a:r>
                <a:rPr lang="en-US" altLang="zh-CN" sz="2800" dirty="0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’</a:t>
              </a:r>
              <a:endPara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6964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36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" name="Group 9"/>
          <p:cNvGrpSpPr>
            <a:grpSpLocks noChangeAspect="1"/>
          </p:cNvGrpSpPr>
          <p:nvPr/>
        </p:nvGrpSpPr>
        <p:grpSpPr>
          <a:xfrm>
            <a:off x="5374126" y="2708940"/>
            <a:ext cx="2899955" cy="2233216"/>
            <a:chOff x="3319" y="1819"/>
            <a:chExt cx="2058" cy="1786"/>
          </a:xfrm>
        </p:grpSpPr>
        <p:pic>
          <p:nvPicPr>
            <p:cNvPr id="12" name="Picture 10" descr="13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4" y="1819"/>
              <a:ext cx="1777" cy="1509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" name="Text Box 11"/>
            <p:cNvSpPr txBox="1">
              <a:spLocks noChangeAspect="1"/>
            </p:cNvSpPr>
            <p:nvPr/>
          </p:nvSpPr>
          <p:spPr>
            <a:xfrm>
              <a:off x="3319" y="3374"/>
              <a:ext cx="2058" cy="231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1600" dirty="0">
                  <a:solidFill>
                    <a:srgbClr val="8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含碳量对残余奥氏体量的影响</a:t>
              </a:r>
              <a:endParaRPr lang="zh-CN" altLang="en-US" sz="1600" dirty="0">
                <a:solidFill>
                  <a:srgbClr val="8000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033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2699385" y="2132965"/>
            <a:ext cx="207137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残余奥氏体</a:t>
            </a:r>
            <a:endParaRPr lang="en-US" altLang="zh-CN" sz="2800" b="1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1">
              <a:rPr lang="zh-CN" altLang="en-US" sz="1400" b="0" dirty="0">
                <a:solidFill>
                  <a:schemeClr val="tx1"/>
                </a:solidFill>
              </a:rPr>
            </a:fld>
            <a:endParaRPr lang="zh-CN" altLang="en-US" sz="1400" b="0" dirty="0">
              <a:solidFill>
                <a:schemeClr val="tx1"/>
              </a:solidFill>
            </a:endParaRPr>
          </a:p>
        </p:txBody>
      </p:sp>
      <p:sp>
        <p:nvSpPr>
          <p:cNvPr id="716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718" y="18292"/>
            <a:ext cx="7772400" cy="754063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ffectLst/>
                <a:ea typeface="华文中宋" panose="02010600040101010101" pitchFamily="2" charset="-122"/>
              </a:rPr>
              <a:t>过冷奥氏体转变产物（共析钢）</a:t>
            </a:r>
            <a:r>
              <a:rPr lang="zh-CN" altLang="en-US" sz="3200" b="1" dirty="0"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 </a:t>
            </a:r>
            <a:endParaRPr lang="zh-CN" altLang="en-US" sz="3200" b="1" dirty="0">
              <a:effectLst>
                <a:outerShdw blurRad="38100" dist="38100" dir="2700000">
                  <a:srgbClr val="C0C0C0"/>
                </a:outerShdw>
              </a:effectLst>
              <a:ea typeface="楷体_GB2312" pitchFamily="49" charset="-122"/>
            </a:endParaRPr>
          </a:p>
        </p:txBody>
      </p:sp>
      <p:graphicFrame>
        <p:nvGraphicFramePr>
          <p:cNvPr id="150817" name="Group 289"/>
          <p:cNvGraphicFramePr>
            <a:graphicFrameLocks noGrp="1"/>
          </p:cNvGraphicFramePr>
          <p:nvPr/>
        </p:nvGraphicFramePr>
        <p:xfrm>
          <a:off x="467658" y="704409"/>
          <a:ext cx="8371541" cy="5943602"/>
        </p:xfrm>
        <a:graphic>
          <a:graphicData uri="http://schemas.openxmlformats.org/drawingml/2006/table">
            <a:tbl>
              <a:tblPr/>
              <a:tblGrid>
                <a:gridCol w="471490"/>
                <a:gridCol w="938620"/>
                <a:gridCol w="1173275"/>
                <a:gridCol w="782183"/>
                <a:gridCol w="3363388"/>
                <a:gridCol w="860402"/>
                <a:gridCol w="782183"/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转变类型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转变产物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形成温度， ℃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转变机制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显微组织特征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HRC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获得工艺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</a:tr>
              <a:tr h="6111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珠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光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体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P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~650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扩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散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型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粗片状，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Fe</a:t>
                      </a:r>
                      <a:r>
                        <a:rPr kumimoji="1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C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相间分布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5-20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退火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</a:tr>
              <a:tr h="6096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650~600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细片状，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、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Fe</a:t>
                      </a:r>
                      <a:r>
                        <a:rPr kumimoji="1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C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相间分布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20-30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正火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</a:tr>
              <a:tr h="46672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T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600~550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极细片状，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Fe</a:t>
                      </a:r>
                      <a:r>
                        <a:rPr kumimoji="1" lang="en-US" altLang="zh-CN" sz="1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C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相间分布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30-40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等温处理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</a:tr>
              <a:tr h="7604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贝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氏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体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B</a:t>
                      </a:r>
                      <a:r>
                        <a:rPr kumimoji="1" lang="zh-CN" altLang="en-US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上</a:t>
                      </a:r>
                      <a:endParaRPr kumimoji="1" lang="zh-CN" altLang="en-US" sz="2000" b="1" i="0" u="none" strike="noStrike" cap="none" normalizeH="0" baseline="-3000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550~350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半扩散型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羽毛状，短棒状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Fe</a:t>
                      </a:r>
                      <a:r>
                        <a:rPr kumimoji="1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C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分布于过饱和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条之间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40-50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等温处理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</a:tr>
              <a:tr h="76041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B</a:t>
                      </a:r>
                      <a:r>
                        <a:rPr kumimoji="1" lang="zh-CN" altLang="en-US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下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350~M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竹叶状，细片状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Fe</a:t>
                      </a:r>
                      <a:r>
                        <a:rPr kumimoji="1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C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分布于过饱和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针上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50-60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等温淬火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</a:tr>
              <a:tr h="6111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马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氏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体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M</a:t>
                      </a:r>
                      <a:r>
                        <a:rPr kumimoji="1" lang="zh-CN" altLang="en-US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针</a:t>
                      </a:r>
                      <a:endParaRPr kumimoji="1" lang="zh-CN" altLang="en-US" sz="2000" b="1" i="0" u="none" strike="noStrike" cap="none" normalizeH="0" baseline="-3000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~M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无扩散型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针状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60-65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淬火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</a:tr>
              <a:tr h="57912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*</a:t>
                      </a:r>
                      <a:r>
                        <a:rPr kumimoji="1" lang="zh-CN" altLang="en-US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板条</a:t>
                      </a:r>
                      <a:endParaRPr kumimoji="1" lang="zh-CN" altLang="en-US" sz="2000" b="1" i="0" u="none" strike="noStrike" cap="none" normalizeH="0" baseline="-3000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S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~M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f</a:t>
                      </a:r>
                      <a:endParaRPr kumimoji="1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板条状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淬火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/>
                    </a:solidFill>
                  </a:tcPr>
                </a:tc>
              </a:tr>
            </a:tbl>
          </a:graphicData>
        </a:graphic>
      </p:graphicFrame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50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58238" y="6540500"/>
            <a:ext cx="385762" cy="3175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-317"/>
            <a:ext cx="6165850" cy="9144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过冷奥氏体转变图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1555" name="Rectangle 3"/>
          <p:cNvSpPr>
            <a:spLocks noGrp="1"/>
          </p:cNvSpPr>
          <p:nvPr>
            <p:ph idx="1"/>
          </p:nvPr>
        </p:nvSpPr>
        <p:spPr>
          <a:xfrm>
            <a:off x="539750" y="1195705"/>
            <a:ext cx="8305800" cy="202723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过冷奥氏体的转变方式有两种：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等温转变、连续冷却转变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72708" name="Group 12"/>
          <p:cNvGrpSpPr/>
          <p:nvPr/>
        </p:nvGrpSpPr>
        <p:grpSpPr>
          <a:xfrm>
            <a:off x="828040" y="2348865"/>
            <a:ext cx="7574915" cy="2998794"/>
            <a:chOff x="-119" y="1555"/>
            <a:chExt cx="4762" cy="2167"/>
          </a:xfrm>
        </p:grpSpPr>
        <p:sp>
          <p:nvSpPr>
            <p:cNvPr id="72709" name="Text Box 6"/>
            <p:cNvSpPr txBox="1"/>
            <p:nvPr/>
          </p:nvSpPr>
          <p:spPr>
            <a:xfrm>
              <a:off x="-119" y="1735"/>
              <a:ext cx="1796" cy="19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32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两种冷却方式示意图</a:t>
              </a:r>
              <a:endPara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  <a:p>
              <a:r>
                <a:rPr lang="en-US" altLang="zh-CN" sz="32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1——</a:t>
              </a:r>
              <a:r>
                <a:rPr lang="zh-CN" altLang="en-US" sz="32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等温处理</a:t>
              </a:r>
              <a:endPara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  <a:p>
              <a:r>
                <a:rPr lang="en-US" altLang="zh-CN" sz="32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2——</a:t>
              </a:r>
              <a:r>
                <a:rPr lang="zh-CN" altLang="en-US" sz="32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连续冷却</a:t>
              </a:r>
              <a:endPara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72710" name="Group 11"/>
            <p:cNvGrpSpPr>
              <a:grpSpLocks noChangeAspect="1"/>
            </p:cNvGrpSpPr>
            <p:nvPr/>
          </p:nvGrpSpPr>
          <p:grpSpPr>
            <a:xfrm>
              <a:off x="1812" y="1555"/>
              <a:ext cx="2831" cy="2153"/>
              <a:chOff x="1819" y="1454"/>
              <a:chExt cx="3128" cy="2379"/>
            </a:xfrm>
          </p:grpSpPr>
          <p:pic>
            <p:nvPicPr>
              <p:cNvPr id="72711" name="Picture 5" descr="1名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819" y="1454"/>
                <a:ext cx="3128" cy="2379"/>
              </a:xfrm>
              <a:prstGeom prst="rect">
                <a:avLst/>
              </a:prstGeom>
              <a:noFill/>
              <a:ln w="28575" cap="flat" cmpd="sng">
                <a:solidFill>
                  <a:srgbClr val="CC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72712" name="Text Box 9"/>
              <p:cNvSpPr txBox="1">
                <a:spLocks noChangeAspect="1"/>
              </p:cNvSpPr>
              <p:nvPr/>
            </p:nvSpPr>
            <p:spPr>
              <a:xfrm>
                <a:off x="3072" y="2064"/>
                <a:ext cx="336" cy="29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en-US" altLang="zh-CN" baseline="-250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2714" name="日期占位符 1"/>
          <p:cNvSpPr>
            <a:spLocks noGrp="1"/>
          </p:cNvSpPr>
          <p:nvPr>
            <p:ph type="dt" sz="half" idx="10"/>
          </p:nvPr>
        </p:nvSpPr>
        <p:spPr>
          <a:xfrm>
            <a:off x="49213" y="65405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4" grpId="0"/>
      <p:bldP spid="151555" grpId="0" advAuto="100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46850"/>
            <a:ext cx="457200" cy="3111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52579" name="Rectangle 3"/>
          <p:cNvSpPr>
            <a:spLocks noGrp="1"/>
          </p:cNvSpPr>
          <p:nvPr>
            <p:ph idx="1"/>
          </p:nvPr>
        </p:nvSpPr>
        <p:spPr>
          <a:xfrm>
            <a:off x="0" y="1052513"/>
            <a:ext cx="5219700" cy="4968875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过冷奥氏体的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等温转变图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表示奥氏体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急速冷却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到临界点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以下在各不同温度下的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保温过程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中转变量与转变时间的关系曲线，</a:t>
            </a: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又称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C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曲线</a:t>
            </a: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S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曲线</a:t>
            </a: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TTT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曲线。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152580" name="Text Box 4"/>
          <p:cNvSpPr txBox="1"/>
          <p:nvPr/>
        </p:nvSpPr>
        <p:spPr>
          <a:xfrm>
            <a:off x="1530350" y="-317"/>
            <a:ext cx="7156450" cy="7620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4400" dirty="0">
                <a:solidFill>
                  <a:srgbClr val="FFFF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㈠ </a:t>
            </a:r>
            <a:r>
              <a:rPr lang="zh-CN" altLang="en-US" sz="4400" dirty="0">
                <a:solidFill>
                  <a:srgbClr val="FFFF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过冷奥氏体的</a:t>
            </a:r>
            <a:r>
              <a:rPr lang="zh-CN" altLang="en-US" sz="44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等温</a:t>
            </a:r>
            <a:r>
              <a:rPr lang="zh-CN" altLang="en-US" sz="4400" dirty="0">
                <a:solidFill>
                  <a:srgbClr val="FFFF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转变图</a:t>
            </a:r>
            <a:endParaRPr lang="zh-CN" altLang="en-US" sz="4400" dirty="0">
              <a:solidFill>
                <a:srgbClr val="FFFF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467995" y="5373370"/>
            <a:ext cx="8229600" cy="5349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rtl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3200" kern="1200" cap="none" spc="0" normalizeH="0" baseline="0" noProof="0" dirty="0">
                <a:solidFill>
                  <a:srgbClr val="C6F7FE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en-US" altLang="zh-CN" sz="3200" kern="1200" cap="none" spc="0" normalizeH="0" baseline="0" noProof="0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cs"/>
              </a:rPr>
              <a:t>T</a:t>
            </a:r>
            <a:r>
              <a:rPr kumimoji="1" lang="en-US" altLang="zh-CN" sz="32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ime</a:t>
            </a:r>
            <a:r>
              <a:rPr kumimoji="1" lang="en-US" altLang="zh-CN" sz="3200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-</a:t>
            </a:r>
            <a:r>
              <a:rPr kumimoji="1" lang="en-US" altLang="zh-CN" sz="3200" kern="1200" cap="none" spc="0" normalizeH="0" baseline="0" noProof="0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cs"/>
              </a:rPr>
              <a:t>T</a:t>
            </a:r>
            <a:r>
              <a:rPr kumimoji="1" lang="en-US" altLang="zh-CN" sz="32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emperature</a:t>
            </a:r>
            <a:r>
              <a:rPr kumimoji="1" lang="en-US" altLang="zh-CN" sz="3200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-</a:t>
            </a:r>
            <a:r>
              <a:rPr kumimoji="1" lang="en-US" altLang="zh-CN" sz="3200" kern="1200" cap="none" spc="0" normalizeH="0" baseline="0" noProof="0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  <a:cs typeface="+mn-cs"/>
              </a:rPr>
              <a:t>T</a:t>
            </a:r>
            <a:r>
              <a:rPr kumimoji="1" lang="en-US" altLang="zh-CN" sz="32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ransformation</a:t>
            </a:r>
            <a:r>
              <a:rPr kumimoji="1" lang="en-US" altLang="zh-CN" sz="3200" kern="1200" cap="none" spc="0" normalizeH="0" baseline="0" noProof="0" dirty="0"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en-US" altLang="zh-CN" sz="3200" dirty="0">
                <a:solidFill>
                  <a:schemeClr val="tx1"/>
                </a:solidFill>
                <a:ea typeface="华文中宋" panose="02010600040101010101" pitchFamily="2" charset="-122"/>
              </a:rPr>
              <a:t>D</a:t>
            </a:r>
            <a:r>
              <a:rPr kumimoji="1" lang="en-US" altLang="zh-CN" sz="3200" kern="1200" cap="none" spc="0" normalizeH="0" baseline="0" noProof="0" dirty="0" err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iagram</a:t>
            </a:r>
            <a:r>
              <a:rPr kumimoji="1" lang="en-US" altLang="zh-CN" sz="3200" kern="1200" cap="none" spc="0" normalizeH="0" baseline="0" noProof="0" dirty="0">
                <a:solidFill>
                  <a:srgbClr val="C6F7FE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)</a:t>
            </a:r>
            <a:endParaRPr kumimoji="1" lang="en-US" altLang="zh-CN" sz="3200" kern="1200" cap="none" spc="0" normalizeH="0" baseline="0" noProof="0" dirty="0">
              <a:solidFill>
                <a:srgbClr val="C6F7FE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>
          <a:xfrm>
            <a:off x="5427980" y="1268730"/>
            <a:ext cx="3425190" cy="3743325"/>
            <a:chOff x="2832" y="768"/>
            <a:chExt cx="2592" cy="2832"/>
          </a:xfrm>
        </p:grpSpPr>
        <p:pic>
          <p:nvPicPr>
            <p:cNvPr id="73734" name="Picture 2" descr="image002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32" y="768"/>
              <a:ext cx="2592" cy="2832"/>
            </a:xfrm>
            <a:prstGeom prst="rect">
              <a:avLst/>
            </a:prstGeom>
            <a:noFill/>
            <a:ln w="57150" cap="flat" cmpd="sng">
              <a:solidFill>
                <a:srgbClr val="99CC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35" name="Text Box 6"/>
            <p:cNvSpPr txBox="1">
              <a:spLocks noChangeAspect="1"/>
            </p:cNvSpPr>
            <p:nvPr/>
          </p:nvSpPr>
          <p:spPr>
            <a:xfrm>
              <a:off x="5040" y="912"/>
              <a:ext cx="28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1400" baseline="-25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400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73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309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advAuto="1000" build="p"/>
      <p:bldP spid="152580" grpId="0"/>
      <p:bldP spid="15258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88363" y="6583363"/>
            <a:ext cx="469900" cy="27463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700" y="0"/>
            <a:ext cx="8027838" cy="1047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</a:t>
            </a:r>
            <a:r>
              <a:rPr kumimoji="1" lang="zh-CN" altLang="en-US" sz="4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曲线的建立（以共析钢为例）</a:t>
            </a:r>
            <a:endParaRPr kumimoji="1" lang="zh-CN" altLang="en-US" sz="40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>
          <a:xfrm>
            <a:off x="179388" y="1484313"/>
            <a:ext cx="5256212" cy="489743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取一批小试样并进行奥氏体化。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将试样分组淬入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低于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1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点的不同温度的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盐浴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隔一定时间取一试样淬入水中。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pic>
        <p:nvPicPr>
          <p:cNvPr id="320516" name="Picture 4" descr="image00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503863" y="1773238"/>
            <a:ext cx="3470275" cy="4084637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475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61388" y="6591300"/>
            <a:ext cx="385762" cy="2667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54626" name="Picture 2" descr="C曲线测定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843905" y="1148715"/>
            <a:ext cx="3042285" cy="4371975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54627" name="Rectangle 3"/>
          <p:cNvSpPr>
            <a:spLocks noGrp="1"/>
          </p:cNvSpPr>
          <p:nvPr>
            <p:ph idx="1"/>
          </p:nvPr>
        </p:nvSpPr>
        <p:spPr>
          <a:xfrm>
            <a:off x="180022" y="1043623"/>
            <a:ext cx="5172710" cy="5753100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⑶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测定每个试样</a:t>
            </a:r>
            <a:r>
              <a:rPr lang="zh-CN" altLang="en-US" sz="2800" b="1" dirty="0">
                <a:solidFill>
                  <a:schemeClr val="tx1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转变量，</a:t>
            </a:r>
            <a:r>
              <a:rPr lang="zh-CN" altLang="en-US" sz="2800" b="1" dirty="0">
                <a:solidFill>
                  <a:schemeClr val="tx1"/>
                </a:solidFill>
                <a:ea typeface="华文中宋" panose="02010600040101010101" pitchFamily="2" charset="-122"/>
              </a:rPr>
              <a:t>确定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各温度下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转变量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转变时间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的关系。</a:t>
            </a:r>
            <a:endParaRPr lang="zh-CN" altLang="en-US" sz="2800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⑷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将各温度下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转变开始时间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及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终了时间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标在温度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—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时间</a:t>
            </a:r>
            <a:r>
              <a:rPr lang="zh-CN" altLang="en-US" sz="2800" b="1" dirty="0">
                <a:ea typeface="华文中宋" panose="02010600040101010101" pitchFamily="2" charset="-122"/>
              </a:rPr>
              <a:t>坐标中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，并分别连线。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ea typeface="华文中宋" panose="02010600040101010101" pitchFamily="2" charset="-122"/>
              </a:rPr>
              <a:t>转变开始点的连线称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转变开始线</a:t>
            </a:r>
            <a:r>
              <a:rPr lang="zh-CN" altLang="en-US" sz="2800" b="1" dirty="0">
                <a:ea typeface="华文中宋" panose="02010600040101010101" pitchFamily="2" charset="-122"/>
              </a:rPr>
              <a:t>，转变终了点的连线称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转变终了线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sp>
        <p:nvSpPr>
          <p:cNvPr id="7578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700" y="0"/>
            <a:ext cx="8027838" cy="10477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en-US" altLang="zh-CN" sz="4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</a:t>
            </a:r>
            <a:r>
              <a:rPr kumimoji="1" lang="zh-CN" altLang="en-US" sz="40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曲线的建立（以共析钢为例）</a:t>
            </a:r>
            <a:endParaRPr kumimoji="1" lang="zh-CN" altLang="en-US" sz="40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7" grpId="0" advAuto="100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7575" y="6613525"/>
            <a:ext cx="59055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513" y="0"/>
            <a:ext cx="5180187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曲线的分析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179388" y="1268413"/>
            <a:ext cx="5040312" cy="48990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过冷奥氏体区：</a:t>
            </a:r>
            <a:r>
              <a:rPr lang="en-US" altLang="zh-CN" b="1" dirty="0">
                <a:ea typeface="华文中宋" panose="02010600040101010101" pitchFamily="2" charset="-122"/>
              </a:rPr>
              <a:t>A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ea typeface="华文中宋" panose="02010600040101010101" pitchFamily="2" charset="-122"/>
              </a:rPr>
              <a:t>-</a:t>
            </a:r>
            <a:r>
              <a:rPr lang="en-US" altLang="zh-CN" b="1" i="1" dirty="0">
                <a:ea typeface="华文中宋" panose="02010600040101010101" pitchFamily="2" charset="-122"/>
              </a:rPr>
              <a:t>Ms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间及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转变开始线以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左</a:t>
            </a:r>
            <a:r>
              <a:rPr lang="zh-CN" altLang="en-US" b="1" dirty="0">
                <a:ea typeface="华文中宋" panose="02010600040101010101" pitchFamily="2" charset="-122"/>
              </a:rPr>
              <a:t>的区域。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转变产物区：</a:t>
            </a:r>
            <a:r>
              <a:rPr lang="zh-CN" altLang="en-US" b="1" dirty="0">
                <a:ea typeface="华文中宋" panose="02010600040101010101" pitchFamily="2" charset="-122"/>
              </a:rPr>
              <a:t>转变终了线以右及</a:t>
            </a:r>
            <a:r>
              <a:rPr lang="en-US" altLang="zh-CN" b="1" i="1" dirty="0">
                <a:ea typeface="华文中宋" panose="02010600040101010101" pitchFamily="2" charset="-122"/>
              </a:rPr>
              <a:t>M</a:t>
            </a:r>
            <a:r>
              <a:rPr lang="en-US" altLang="zh-CN" b="1" i="1" baseline="-30000" dirty="0">
                <a:ea typeface="华文中宋" panose="02010600040101010101" pitchFamily="2" charset="-122"/>
              </a:rPr>
              <a:t>f</a:t>
            </a:r>
            <a:r>
              <a:rPr lang="zh-CN" altLang="en-US" b="1" dirty="0">
                <a:ea typeface="华文中宋" panose="02010600040101010101" pitchFamily="2" charset="-122"/>
              </a:rPr>
              <a:t>以下。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转变区：</a:t>
            </a:r>
            <a:r>
              <a:rPr lang="zh-CN" altLang="en-US" b="1" dirty="0">
                <a:ea typeface="华文中宋" panose="02010600040101010101" pitchFamily="2" charset="-122"/>
              </a:rPr>
              <a:t>两线之间及</a:t>
            </a:r>
            <a:r>
              <a:rPr lang="en-US" altLang="zh-CN" b="1" i="1" dirty="0">
                <a:ea typeface="华文中宋" panose="02010600040101010101" pitchFamily="2" charset="-122"/>
              </a:rPr>
              <a:t>M</a:t>
            </a:r>
            <a:r>
              <a:rPr lang="en-US" altLang="zh-CN" b="1" i="1" baseline="-30000" dirty="0">
                <a:ea typeface="华文中宋" panose="02010600040101010101" pitchFamily="2" charset="-122"/>
              </a:rPr>
              <a:t>s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en-US" altLang="zh-CN" b="1" i="1" dirty="0">
                <a:ea typeface="华文中宋" panose="02010600040101010101" pitchFamily="2" charset="-122"/>
              </a:rPr>
              <a:t>M</a:t>
            </a:r>
            <a:r>
              <a:rPr lang="en-US" altLang="zh-CN" b="1" i="1" baseline="-30000" dirty="0">
                <a:ea typeface="华文中宋" panose="02010600040101010101" pitchFamily="2" charset="-122"/>
              </a:rPr>
              <a:t>f</a:t>
            </a:r>
            <a:r>
              <a:rPr lang="zh-CN" altLang="en-US" b="1" dirty="0">
                <a:ea typeface="华文中宋" panose="02010600040101010101" pitchFamily="2" charset="-122"/>
              </a:rPr>
              <a:t>之间。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5376863" y="1557020"/>
            <a:ext cx="3624262" cy="3930650"/>
            <a:chOff x="2061" y="336"/>
            <a:chExt cx="3363" cy="3649"/>
          </a:xfrm>
        </p:grpSpPr>
        <p:pic>
          <p:nvPicPr>
            <p:cNvPr id="76805" name="Picture 5" descr="C曲线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76" y="336"/>
              <a:ext cx="3247" cy="359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6806" name="Text Box 6"/>
            <p:cNvSpPr txBox="1">
              <a:spLocks noChangeAspect="1"/>
            </p:cNvSpPr>
            <p:nvPr/>
          </p:nvSpPr>
          <p:spPr>
            <a:xfrm>
              <a:off x="4094" y="3616"/>
              <a:ext cx="1200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时间</a:t>
              </a:r>
              <a:endParaRPr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07" name="Text Box 7"/>
            <p:cNvSpPr txBox="1">
              <a:spLocks noChangeAspect="1"/>
            </p:cNvSpPr>
            <p:nvPr/>
          </p:nvSpPr>
          <p:spPr>
            <a:xfrm>
              <a:off x="2062" y="348"/>
              <a:ext cx="457" cy="86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温度</a:t>
              </a:r>
              <a:endParaRPr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08" name="Text Box 8"/>
            <p:cNvSpPr txBox="1">
              <a:spLocks noChangeAspect="1"/>
            </p:cNvSpPr>
            <p:nvPr/>
          </p:nvSpPr>
          <p:spPr>
            <a:xfrm>
              <a:off x="2390" y="691"/>
              <a:ext cx="401" cy="34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baseline="-250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09" name="Text Box 9"/>
            <p:cNvSpPr txBox="1">
              <a:spLocks noChangeAspect="1"/>
            </p:cNvSpPr>
            <p:nvPr/>
          </p:nvSpPr>
          <p:spPr>
            <a:xfrm>
              <a:off x="2418" y="2314"/>
              <a:ext cx="401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baseline="-250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  <a:endPara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10" name="Text Box 10"/>
            <p:cNvSpPr txBox="1">
              <a:spLocks noChangeAspect="1"/>
            </p:cNvSpPr>
            <p:nvPr/>
          </p:nvSpPr>
          <p:spPr>
            <a:xfrm>
              <a:off x="2390" y="3214"/>
              <a:ext cx="401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baseline="-250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endPara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11" name="Text Box 11"/>
            <p:cNvSpPr txBox="1">
              <a:spLocks noChangeAspect="1"/>
            </p:cNvSpPr>
            <p:nvPr/>
          </p:nvSpPr>
          <p:spPr>
            <a:xfrm>
              <a:off x="3663" y="526"/>
              <a:ext cx="40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12" name="Text Box 12"/>
            <p:cNvSpPr txBox="1">
              <a:spLocks noChangeAspect="1"/>
            </p:cNvSpPr>
            <p:nvPr/>
          </p:nvSpPr>
          <p:spPr>
            <a:xfrm>
              <a:off x="2061" y="811"/>
              <a:ext cx="885" cy="165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过冷奥氏体</a:t>
              </a:r>
              <a:endPara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  <a:p>
              <a:pPr algn="ctr"/>
              <a:endPara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6813" name="Line 13"/>
            <p:cNvSpPr>
              <a:spLocks noChangeAspect="1"/>
            </p:cNvSpPr>
            <p:nvPr/>
          </p:nvSpPr>
          <p:spPr>
            <a:xfrm>
              <a:off x="2462" y="1425"/>
              <a:ext cx="2805" cy="0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76814" name="Text Box 14"/>
            <p:cNvSpPr txBox="1">
              <a:spLocks noChangeAspect="1"/>
            </p:cNvSpPr>
            <p:nvPr/>
          </p:nvSpPr>
          <p:spPr>
            <a:xfrm>
              <a:off x="4522" y="1141"/>
              <a:ext cx="3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15" name="Text Box 15"/>
            <p:cNvSpPr txBox="1">
              <a:spLocks noChangeAspect="1"/>
            </p:cNvSpPr>
            <p:nvPr/>
          </p:nvSpPr>
          <p:spPr>
            <a:xfrm>
              <a:off x="4407" y="1662"/>
              <a:ext cx="345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16" name="Text Box 16"/>
            <p:cNvSpPr txBox="1">
              <a:spLocks noChangeAspect="1"/>
            </p:cNvSpPr>
            <p:nvPr/>
          </p:nvSpPr>
          <p:spPr>
            <a:xfrm>
              <a:off x="3719" y="3391"/>
              <a:ext cx="34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endPara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17" name="Text Box 17"/>
            <p:cNvSpPr txBox="1">
              <a:spLocks noChangeAspect="1"/>
            </p:cNvSpPr>
            <p:nvPr/>
          </p:nvSpPr>
          <p:spPr>
            <a:xfrm>
              <a:off x="3435" y="2798"/>
              <a:ext cx="916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2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dirty="0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endPara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18" name="Text Box 18"/>
            <p:cNvSpPr txBox="1">
              <a:spLocks noChangeAspect="1"/>
            </p:cNvSpPr>
            <p:nvPr/>
          </p:nvSpPr>
          <p:spPr>
            <a:xfrm>
              <a:off x="3036" y="1911"/>
              <a:ext cx="915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2000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000" dirty="0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19" name="Text Box 19"/>
            <p:cNvSpPr txBox="1">
              <a:spLocks noChangeAspect="1"/>
            </p:cNvSpPr>
            <p:nvPr/>
          </p:nvSpPr>
          <p:spPr>
            <a:xfrm>
              <a:off x="2919" y="1141"/>
              <a:ext cx="573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dirty="0">
                  <a:solidFill>
                    <a:srgbClr val="008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dirty="0">
                  <a:solidFill>
                    <a:srgbClr val="008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20" name="Text Box 20"/>
            <p:cNvSpPr txBox="1">
              <a:spLocks noChangeAspect="1"/>
            </p:cNvSpPr>
            <p:nvPr/>
          </p:nvSpPr>
          <p:spPr>
            <a:xfrm>
              <a:off x="2418" y="2100"/>
              <a:ext cx="917" cy="53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转变开始线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21" name="Line 21"/>
            <p:cNvSpPr>
              <a:spLocks noChangeAspect="1"/>
            </p:cNvSpPr>
            <p:nvPr/>
          </p:nvSpPr>
          <p:spPr>
            <a:xfrm flipH="1">
              <a:off x="2849" y="1899"/>
              <a:ext cx="171" cy="237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2" name="Text Box 22"/>
            <p:cNvSpPr txBox="1">
              <a:spLocks noChangeAspect="1"/>
            </p:cNvSpPr>
            <p:nvPr/>
          </p:nvSpPr>
          <p:spPr>
            <a:xfrm>
              <a:off x="3535" y="1556"/>
              <a:ext cx="917" cy="53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转变终了线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6823" name="Line 23"/>
            <p:cNvSpPr>
              <a:spLocks noChangeAspect="1"/>
            </p:cNvSpPr>
            <p:nvPr/>
          </p:nvSpPr>
          <p:spPr>
            <a:xfrm flipH="1">
              <a:off x="3721" y="1733"/>
              <a:ext cx="172" cy="237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6824" name="Rectangle 24"/>
            <p:cNvSpPr>
              <a:spLocks noChangeAspect="1"/>
            </p:cNvSpPr>
            <p:nvPr/>
          </p:nvSpPr>
          <p:spPr>
            <a:xfrm>
              <a:off x="2162" y="336"/>
              <a:ext cx="3262" cy="3600"/>
            </a:xfrm>
            <a:prstGeom prst="rect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825" name="Text Box 25"/>
            <p:cNvSpPr txBox="1">
              <a:spLocks noChangeAspect="1"/>
            </p:cNvSpPr>
            <p:nvPr/>
          </p:nvSpPr>
          <p:spPr>
            <a:xfrm>
              <a:off x="2332" y="1009"/>
              <a:ext cx="428" cy="1791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endPara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7682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468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2188" y="6569075"/>
            <a:ext cx="531812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613" y="0"/>
            <a:ext cx="482441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曲线的分析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252095" y="1196658"/>
            <a:ext cx="4968875" cy="4802187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孕育期：转变开始线与纵坐标之间的距离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孕育期越小，过冷奥氏体稳定性越小。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孕育期最小处</a:t>
            </a:r>
            <a:r>
              <a:rPr lang="zh-CN" altLang="en-US" b="1" dirty="0">
                <a:ea typeface="华文中宋" panose="02010600040101010101" pitchFamily="2" charset="-122"/>
              </a:rPr>
              <a:t>称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曲线的</a:t>
            </a: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“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鼻尖</a:t>
            </a: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”</a:t>
            </a:r>
            <a:r>
              <a:rPr lang="zh-CN" altLang="en-US" b="1" dirty="0">
                <a:ea typeface="华文中宋" panose="02010600040101010101" pitchFamily="2" charset="-122"/>
              </a:rPr>
              <a:t>。碳钢鼻尖处的温度为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550℃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pic>
        <p:nvPicPr>
          <p:cNvPr id="321540" name="Picture 4" descr="C曲线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526405" y="1268730"/>
            <a:ext cx="3465830" cy="4384675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783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024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64575" y="6643688"/>
            <a:ext cx="47942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339975" y="0"/>
            <a:ext cx="5472113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曲线的分析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8851" name="Rectangle 3"/>
          <p:cNvSpPr>
            <a:spLocks noGrp="1"/>
          </p:cNvSpPr>
          <p:nvPr>
            <p:ph idx="1"/>
          </p:nvPr>
        </p:nvSpPr>
        <p:spPr>
          <a:xfrm>
            <a:off x="214630" y="1188720"/>
            <a:ext cx="5909945" cy="4439285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鼻尖以上：温度较高，相变驱动力小。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鼻尖以下：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温度较低，扩散困难，</a:t>
            </a:r>
            <a:r>
              <a:rPr lang="zh-CN" altLang="en-US" b="1" dirty="0">
                <a:ea typeface="华文中宋" panose="02010600040101010101" pitchFamily="2" charset="-122"/>
              </a:rPr>
              <a:t>从而使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奥氏体稳定性增加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曲线明确表示了过冷奥氏体在不同温度下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等温转变</a:t>
            </a:r>
            <a:r>
              <a:rPr lang="zh-CN" altLang="en-US" b="1" dirty="0">
                <a:ea typeface="华文中宋" panose="02010600040101010101" pitchFamily="2" charset="-122"/>
              </a:rPr>
              <a:t>产物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6215380" y="1357630"/>
            <a:ext cx="2893060" cy="3396615"/>
            <a:chOff x="2564" y="432"/>
            <a:chExt cx="2821" cy="3409"/>
          </a:xfrm>
        </p:grpSpPr>
        <p:grpSp>
          <p:nvGrpSpPr>
            <p:cNvPr id="78853" name="Group 5"/>
            <p:cNvGrpSpPr>
              <a:grpSpLocks noChangeAspect="1"/>
            </p:cNvGrpSpPr>
            <p:nvPr/>
          </p:nvGrpSpPr>
          <p:grpSpPr>
            <a:xfrm>
              <a:off x="2564" y="432"/>
              <a:ext cx="2821" cy="3409"/>
              <a:chOff x="84" y="132"/>
              <a:chExt cx="3367" cy="4068"/>
            </a:xfrm>
          </p:grpSpPr>
          <p:pic>
            <p:nvPicPr>
              <p:cNvPr id="78854" name="Picture 6" descr="C曲线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84" y="132"/>
                <a:ext cx="2559" cy="4068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pic>
            <p:nvPicPr>
              <p:cNvPr id="78855" name="Picture 7" descr="PSTBM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712" y="132"/>
                <a:ext cx="739" cy="4067"/>
              </a:xfrm>
              <a:prstGeom prst="rect">
                <a:avLst/>
              </a:prstGeom>
              <a:noFill/>
              <a:ln w="38100">
                <a:noFill/>
              </a:ln>
            </p:spPr>
          </p:pic>
        </p:grpSp>
        <p:sp>
          <p:nvSpPr>
            <p:cNvPr id="78856" name="Line 8"/>
            <p:cNvSpPr>
              <a:spLocks noChangeAspect="1"/>
            </p:cNvSpPr>
            <p:nvPr/>
          </p:nvSpPr>
          <p:spPr>
            <a:xfrm flipV="1">
              <a:off x="4464" y="724"/>
              <a:ext cx="362" cy="120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57" name="Line 9"/>
            <p:cNvSpPr>
              <a:spLocks noChangeAspect="1"/>
            </p:cNvSpPr>
            <p:nvPr/>
          </p:nvSpPr>
          <p:spPr>
            <a:xfrm>
              <a:off x="4505" y="1045"/>
              <a:ext cx="321" cy="81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58" name="Line 10"/>
            <p:cNvSpPr>
              <a:spLocks noChangeAspect="1"/>
            </p:cNvSpPr>
            <p:nvPr/>
          </p:nvSpPr>
          <p:spPr>
            <a:xfrm>
              <a:off x="4505" y="1206"/>
              <a:ext cx="362" cy="483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59" name="Line 11"/>
            <p:cNvSpPr>
              <a:spLocks noChangeAspect="1"/>
            </p:cNvSpPr>
            <p:nvPr/>
          </p:nvSpPr>
          <p:spPr>
            <a:xfrm>
              <a:off x="4424" y="1810"/>
              <a:ext cx="402" cy="362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0" name="Line 12"/>
            <p:cNvSpPr>
              <a:spLocks noChangeAspect="1"/>
            </p:cNvSpPr>
            <p:nvPr/>
          </p:nvSpPr>
          <p:spPr>
            <a:xfrm>
              <a:off x="4424" y="2252"/>
              <a:ext cx="402" cy="362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1" name="Line 13"/>
            <p:cNvSpPr>
              <a:spLocks noChangeAspect="1"/>
            </p:cNvSpPr>
            <p:nvPr/>
          </p:nvSpPr>
          <p:spPr>
            <a:xfrm>
              <a:off x="4424" y="3097"/>
              <a:ext cx="402" cy="0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8862" name="Line 14"/>
            <p:cNvSpPr>
              <a:spLocks noChangeAspect="1"/>
            </p:cNvSpPr>
            <p:nvPr/>
          </p:nvSpPr>
          <p:spPr>
            <a:xfrm>
              <a:off x="4505" y="3459"/>
              <a:ext cx="321" cy="80"/>
            </a:xfrm>
            <a:prstGeom prst="line">
              <a:avLst/>
            </a:prstGeom>
            <a:ln w="12700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886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7733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2500" y="6594475"/>
            <a:ext cx="571500" cy="2635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1230533" y="1247002"/>
            <a:ext cx="7153910" cy="4787403"/>
            <a:chOff x="62" y="-70"/>
            <a:chExt cx="5664" cy="4342"/>
          </a:xfrm>
        </p:grpSpPr>
        <p:grpSp>
          <p:nvGrpSpPr>
            <p:cNvPr id="79875" name="Group 3"/>
            <p:cNvGrpSpPr/>
            <p:nvPr/>
          </p:nvGrpSpPr>
          <p:grpSpPr>
            <a:xfrm>
              <a:off x="62" y="-70"/>
              <a:ext cx="5664" cy="4342"/>
              <a:chOff x="62" y="-70"/>
              <a:chExt cx="5664" cy="4342"/>
            </a:xfrm>
          </p:grpSpPr>
          <p:grpSp>
            <p:nvGrpSpPr>
              <p:cNvPr id="79876" name="Group 4"/>
              <p:cNvGrpSpPr/>
              <p:nvPr/>
            </p:nvGrpSpPr>
            <p:grpSpPr>
              <a:xfrm>
                <a:off x="62" y="-70"/>
                <a:ext cx="5664" cy="4342"/>
                <a:chOff x="62" y="-70"/>
                <a:chExt cx="5664" cy="4342"/>
              </a:xfrm>
            </p:grpSpPr>
            <p:grpSp>
              <p:nvGrpSpPr>
                <p:cNvPr id="79877" name="Group 5"/>
                <p:cNvGrpSpPr/>
                <p:nvPr/>
              </p:nvGrpSpPr>
              <p:grpSpPr>
                <a:xfrm>
                  <a:off x="144" y="-70"/>
                  <a:ext cx="5445" cy="4342"/>
                  <a:chOff x="144" y="-70"/>
                  <a:chExt cx="5445" cy="4342"/>
                </a:xfrm>
              </p:grpSpPr>
              <p:grpSp>
                <p:nvGrpSpPr>
                  <p:cNvPr id="79878" name="Group 6"/>
                  <p:cNvGrpSpPr/>
                  <p:nvPr/>
                </p:nvGrpSpPr>
                <p:grpSpPr>
                  <a:xfrm>
                    <a:off x="144" y="-70"/>
                    <a:ext cx="5445" cy="4342"/>
                    <a:chOff x="144" y="-70"/>
                    <a:chExt cx="5445" cy="4342"/>
                  </a:xfrm>
                </p:grpSpPr>
                <p:pic>
                  <p:nvPicPr>
                    <p:cNvPr id="79879" name="Picture 7" descr="0"/>
                    <p:cNvPicPr>
                      <a:picLocks noChangeAspect="1"/>
                    </p:cNvPicPr>
                    <p:nvPr/>
                  </p:nvPicPr>
                  <p:blipFill>
                    <a:blip r:embed="rId1" cstate="print"/>
                    <a:stretch>
                      <a:fillRect/>
                    </a:stretch>
                  </p:blipFill>
                  <p:spPr>
                    <a:xfrm>
                      <a:off x="144" y="1114"/>
                      <a:ext cx="1342" cy="1020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rgbClr val="00CCFF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pic>
                <p:pic>
                  <p:nvPicPr>
                    <p:cNvPr id="79880" name="Picture 8" descr="0"/>
                    <p:cNvPicPr>
                      <a:picLocks noChangeAspect="1"/>
                    </p:cNvPicPr>
                    <p:nvPr/>
                  </p:nvPicPr>
                  <p:blipFill>
                    <a:blip r:embed="rId2" cstate="print"/>
                    <a:stretch>
                      <a:fillRect/>
                    </a:stretch>
                  </p:blipFill>
                  <p:spPr>
                    <a:xfrm>
                      <a:off x="1097" y="-70"/>
                      <a:ext cx="1342" cy="1020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rgbClr val="00CCFF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pic>
                <p:pic>
                  <p:nvPicPr>
                    <p:cNvPr id="79881" name="Picture 9" descr="0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640" y="-69"/>
                      <a:ext cx="1342" cy="1020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rgbClr val="00CCFF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pic>
                <p:pic>
                  <p:nvPicPr>
                    <p:cNvPr id="79882" name="Picture 10" descr="0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4210" y="-50"/>
                      <a:ext cx="1342" cy="1020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rgbClr val="00CCFF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pic>
                <p:pic>
                  <p:nvPicPr>
                    <p:cNvPr id="79883" name="Picture 11" descr="0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4226" y="1112"/>
                      <a:ext cx="1342" cy="1020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rgbClr val="00CCFF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pic>
                <p:pic>
                  <p:nvPicPr>
                    <p:cNvPr id="79884" name="Picture 12" descr="0"/>
                    <p:cNvPicPr>
                      <a:picLocks noChangeAspect="1"/>
                    </p:cNvPicPr>
                    <p:nvPr/>
                  </p:nvPicPr>
                  <p:blipFill>
                    <a:blip r:embed="rId6" cstate="print"/>
                    <a:stretch>
                      <a:fillRect/>
                    </a:stretch>
                  </p:blipFill>
                  <p:spPr>
                    <a:xfrm>
                      <a:off x="157" y="2827"/>
                      <a:ext cx="1342" cy="1020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rgbClr val="00CCFF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pic>
                <p:pic>
                  <p:nvPicPr>
                    <p:cNvPr id="79885" name="Picture 13" descr="0"/>
                    <p:cNvPicPr>
                      <a:picLocks noChangeAspect="1"/>
                    </p:cNvPicPr>
                    <p:nvPr/>
                  </p:nvPicPr>
                  <p:blipFill>
                    <a:blip r:embed="rId7" cstate="print"/>
                    <a:stretch>
                      <a:fillRect/>
                    </a:stretch>
                  </p:blipFill>
                  <p:spPr>
                    <a:xfrm>
                      <a:off x="2304" y="3252"/>
                      <a:ext cx="1342" cy="1020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rgbClr val="00CCFF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pic>
                <p:pic>
                  <p:nvPicPr>
                    <p:cNvPr id="79886" name="Picture 14" descr="0"/>
                    <p:cNvPicPr>
                      <a:picLocks noChangeAspect="1"/>
                    </p:cNvPicPr>
                    <p:nvPr/>
                  </p:nvPicPr>
                  <p:blipFill>
                    <a:blip r:embed="rId8" cstate="print"/>
                    <a:stretch>
                      <a:fillRect/>
                    </a:stretch>
                  </p:blipFill>
                  <p:spPr>
                    <a:xfrm>
                      <a:off x="4247" y="2823"/>
                      <a:ext cx="1342" cy="1020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rgbClr val="00CCFF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</p:pic>
                <p:grpSp>
                  <p:nvGrpSpPr>
                    <p:cNvPr id="79887" name="Group 15"/>
                    <p:cNvGrpSpPr/>
                    <p:nvPr/>
                  </p:nvGrpSpPr>
                  <p:grpSpPr>
                    <a:xfrm>
                      <a:off x="1618" y="1116"/>
                      <a:ext cx="2510" cy="2042"/>
                      <a:chOff x="1618" y="1116"/>
                      <a:chExt cx="2510" cy="2042"/>
                    </a:xfrm>
                  </p:grpSpPr>
                  <p:pic>
                    <p:nvPicPr>
                      <p:cNvPr id="79888" name="Picture 16" descr="0"/>
                      <p:cNvPicPr>
                        <a:picLocks noChangeAspect="1"/>
                      </p:cNvPicPr>
                      <p:nvPr/>
                    </p:nvPicPr>
                    <p:blipFill>
                      <a:blip r:embed="rId9" cstate="print"/>
                      <a:stretch>
                        <a:fillRect/>
                      </a:stretch>
                    </p:blipFill>
                    <p:spPr>
                      <a:xfrm>
                        <a:off x="1618" y="1116"/>
                        <a:ext cx="2510" cy="2042"/>
                      </a:xfrm>
                      <a:prstGeom prst="rect">
                        <a:avLst/>
                      </a:prstGeom>
                      <a:noFill/>
                      <a:ln w="57150" cap="flat" cmpd="sng">
                        <a:solidFill>
                          <a:srgbClr val="CC99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  <p:sp>
                    <p:nvSpPr>
                      <p:cNvPr id="79889" name="Line 17"/>
                      <p:cNvSpPr/>
                      <p:nvPr/>
                    </p:nvSpPr>
                    <p:spPr>
                      <a:xfrm>
                        <a:off x="1776" y="1572"/>
                        <a:ext cx="225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bg1"/>
                        </a:solidFill>
                        <a:prstDash val="lgDash"/>
                        <a:round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79890" name="Line 18"/>
                      <p:cNvSpPr/>
                      <p:nvPr/>
                    </p:nvSpPr>
                    <p:spPr>
                      <a:xfrm>
                        <a:off x="1776" y="1812"/>
                        <a:ext cx="225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bg1"/>
                        </a:solidFill>
                        <a:prstDash val="lgDash"/>
                        <a:round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79891" name="Line 19"/>
                  <p:cNvSpPr/>
                  <p:nvPr/>
                </p:nvSpPr>
                <p:spPr>
                  <a:xfrm flipV="1">
                    <a:off x="1488" y="1572"/>
                    <a:ext cx="864" cy="240"/>
                  </a:xfrm>
                  <a:prstGeom prst="line">
                    <a:avLst/>
                  </a:prstGeom>
                  <a:ln w="28575" cap="flat" cmpd="sng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9892" name="Line 20"/>
                  <p:cNvSpPr/>
                  <p:nvPr/>
                </p:nvSpPr>
                <p:spPr>
                  <a:xfrm>
                    <a:off x="1819" y="952"/>
                    <a:ext cx="677" cy="620"/>
                  </a:xfrm>
                  <a:prstGeom prst="line">
                    <a:avLst/>
                  </a:prstGeom>
                  <a:ln w="28575" cap="flat" cmpd="sng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9893" name="Line 21"/>
                  <p:cNvSpPr/>
                  <p:nvPr/>
                </p:nvSpPr>
                <p:spPr>
                  <a:xfrm flipH="1">
                    <a:off x="2628" y="969"/>
                    <a:ext cx="649" cy="603"/>
                  </a:xfrm>
                  <a:prstGeom prst="line">
                    <a:avLst/>
                  </a:prstGeom>
                  <a:ln w="28575" cap="flat" cmpd="sng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9894" name="Line 22"/>
                  <p:cNvSpPr/>
                  <p:nvPr/>
                </p:nvSpPr>
                <p:spPr>
                  <a:xfrm flipV="1">
                    <a:off x="2820" y="894"/>
                    <a:ext cx="1404" cy="678"/>
                  </a:xfrm>
                  <a:prstGeom prst="line">
                    <a:avLst/>
                  </a:prstGeom>
                  <a:ln w="28575" cap="flat" cmpd="sng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9895" name="Line 23"/>
                  <p:cNvSpPr/>
                  <p:nvPr/>
                </p:nvSpPr>
                <p:spPr>
                  <a:xfrm>
                    <a:off x="2904" y="1584"/>
                    <a:ext cx="1311" cy="66"/>
                  </a:xfrm>
                  <a:prstGeom prst="line">
                    <a:avLst/>
                  </a:prstGeom>
                  <a:ln w="28575" cap="flat" cmpd="sng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9896" name="Line 24"/>
                  <p:cNvSpPr/>
                  <p:nvPr/>
                </p:nvSpPr>
                <p:spPr>
                  <a:xfrm flipH="1">
                    <a:off x="1536" y="1812"/>
                    <a:ext cx="792" cy="1740"/>
                  </a:xfrm>
                  <a:prstGeom prst="line">
                    <a:avLst/>
                  </a:prstGeom>
                  <a:ln w="28575" cap="flat" cmpd="sng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9897" name="Line 25"/>
                  <p:cNvSpPr/>
                  <p:nvPr/>
                </p:nvSpPr>
                <p:spPr>
                  <a:xfrm>
                    <a:off x="2460" y="1800"/>
                    <a:ext cx="324" cy="1464"/>
                  </a:xfrm>
                  <a:prstGeom prst="line">
                    <a:avLst/>
                  </a:prstGeom>
                  <a:ln w="28575" cap="flat" cmpd="sng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79898" name="Line 26"/>
                  <p:cNvSpPr/>
                  <p:nvPr/>
                </p:nvSpPr>
                <p:spPr>
                  <a:xfrm>
                    <a:off x="2640" y="1824"/>
                    <a:ext cx="1556" cy="1502"/>
                  </a:xfrm>
                  <a:prstGeom prst="line">
                    <a:avLst/>
                  </a:prstGeom>
                  <a:ln w="28575" cap="flat" cmpd="sng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79899" name="Line 27"/>
                <p:cNvSpPr/>
                <p:nvPr/>
              </p:nvSpPr>
              <p:spPr>
                <a:xfrm>
                  <a:off x="62" y="2366"/>
                  <a:ext cx="153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9900" name="Line 28"/>
                <p:cNvSpPr/>
                <p:nvPr/>
              </p:nvSpPr>
              <p:spPr>
                <a:xfrm>
                  <a:off x="4190" y="2301"/>
                  <a:ext cx="153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9901" name="Text Box 29"/>
              <p:cNvSpPr txBox="1"/>
              <p:nvPr/>
            </p:nvSpPr>
            <p:spPr>
              <a:xfrm>
                <a:off x="1560" y="1740"/>
                <a:ext cx="288" cy="4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550</a:t>
                </a:r>
                <a:endParaRPr lang="en-US" altLang="zh-CN" sz="1200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79902" name="Text Box 30"/>
              <p:cNvSpPr txBox="1"/>
              <p:nvPr/>
            </p:nvSpPr>
            <p:spPr>
              <a:xfrm>
                <a:off x="1560" y="1488"/>
                <a:ext cx="288" cy="4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650</a:t>
                </a:r>
                <a:endParaRPr lang="en-US" altLang="zh-CN" sz="1200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79903" name="Rectangle 31"/>
            <p:cNvSpPr/>
            <p:nvPr/>
          </p:nvSpPr>
          <p:spPr>
            <a:xfrm>
              <a:off x="1355" y="3737"/>
              <a:ext cx="144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2s</a:t>
              </a:r>
              <a:endPara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04" name="Rectangle 32"/>
            <p:cNvSpPr/>
            <p:nvPr/>
          </p:nvSpPr>
          <p:spPr>
            <a:xfrm>
              <a:off x="5376" y="3936"/>
              <a:ext cx="180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10s</a:t>
              </a:r>
              <a:endPara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05" name="Rectangle 33"/>
            <p:cNvSpPr/>
            <p:nvPr/>
          </p:nvSpPr>
          <p:spPr>
            <a:xfrm>
              <a:off x="3492" y="4116"/>
              <a:ext cx="144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5s</a:t>
              </a:r>
              <a:endPara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06" name="Rectangle 34"/>
            <p:cNvSpPr/>
            <p:nvPr/>
          </p:nvSpPr>
          <p:spPr>
            <a:xfrm>
              <a:off x="1339" y="2014"/>
              <a:ext cx="144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2s</a:t>
              </a:r>
              <a:endPara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07" name="Rectangle 35"/>
            <p:cNvSpPr/>
            <p:nvPr/>
          </p:nvSpPr>
          <p:spPr>
            <a:xfrm>
              <a:off x="2286" y="807"/>
              <a:ext cx="144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5s</a:t>
              </a:r>
              <a:endPara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08" name="Rectangle 36"/>
            <p:cNvSpPr/>
            <p:nvPr/>
          </p:nvSpPr>
          <p:spPr>
            <a:xfrm>
              <a:off x="3559" y="777"/>
              <a:ext cx="241" cy="17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10s</a:t>
              </a:r>
              <a:endPara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09" name="Rectangle 37"/>
            <p:cNvSpPr/>
            <p:nvPr/>
          </p:nvSpPr>
          <p:spPr>
            <a:xfrm>
              <a:off x="5285" y="826"/>
              <a:ext cx="225" cy="143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30s</a:t>
              </a:r>
              <a:endPara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910" name="Rectangle 38"/>
            <p:cNvSpPr/>
            <p:nvPr/>
          </p:nvSpPr>
          <p:spPr>
            <a:xfrm>
              <a:off x="5381" y="1973"/>
              <a:ext cx="180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hlink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40s</a:t>
              </a:r>
              <a:endParaRPr lang="en-US" altLang="zh-CN" sz="1600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7991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54788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9" name="内容占位符 1" descr="新校徽（3M）弓之乐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28075" y="6602413"/>
            <a:ext cx="411163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0"/>
            <a:ext cx="655002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、影响 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曲线的因素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⑴ </a:t>
            </a:r>
            <a:r>
              <a:rPr lang="zh-CN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化学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成分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⑵奥氏体化条件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80901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8188" y="6572250"/>
            <a:ext cx="785812" cy="2857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成分的影响</a:t>
            </a:r>
            <a:b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①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含碳量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对 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 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曲线的影响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192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571625"/>
            <a:ext cx="8640763" cy="4714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共析钢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的过冷奥氏体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最稳定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曲线最靠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右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3200" b="1" i="1" u="none" strike="noStrike" kern="0" cap="none" spc="0" normalizeH="0" baseline="-30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s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与</a:t>
            </a:r>
            <a:r>
              <a: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en-US" altLang="zh-CN" sz="3200" b="1" i="1" u="none" strike="noStrike" kern="0" cap="none" spc="0" normalizeH="0" baseline="-30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f</a:t>
            </a:r>
            <a:r>
              <a:rPr kumimoji="1" lang="en-US" altLang="zh-CN" sz="3200" b="1" i="1" u="none" strike="noStrike" kern="0" cap="none" spc="0" normalizeH="0" baseline="-3000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点随含碳量增加而下降。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与共析钢相比，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亚共析钢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过共析钢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曲线的上部各多一条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先共析相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析出线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 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pic>
        <p:nvPicPr>
          <p:cNvPr id="313348" name="Picture 4" descr="1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928688" y="4071938"/>
            <a:ext cx="7737475" cy="224790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81926" name="日期占位符 1"/>
          <p:cNvSpPr>
            <a:spLocks noGrp="1"/>
          </p:cNvSpPr>
          <p:nvPr>
            <p:ph type="dt" sz="half" idx="10"/>
          </p:nvPr>
        </p:nvSpPr>
        <p:spPr>
          <a:xfrm>
            <a:off x="77788" y="65151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13792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34413" y="6602413"/>
            <a:ext cx="509587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成分的影响</a:t>
            </a:r>
            <a:b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②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合金元素对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 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的影响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2947" name="Rectangle 3"/>
          <p:cNvSpPr>
            <a:spLocks noGrp="1"/>
          </p:cNvSpPr>
          <p:nvPr>
            <p:ph idx="1"/>
          </p:nvPr>
        </p:nvSpPr>
        <p:spPr>
          <a:xfrm>
            <a:off x="0" y="1553423"/>
            <a:ext cx="9144000" cy="4395787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合金元素使</a:t>
            </a:r>
            <a:r>
              <a:rPr lang="en-US" altLang="zh-CN" b="1" dirty="0"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ea typeface="华文中宋" panose="02010600040101010101" pitchFamily="2" charset="-122"/>
              </a:rPr>
              <a:t>曲线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右移（</a:t>
            </a:r>
            <a:r>
              <a:rPr lang="zh-CN" altLang="en-US" b="1" dirty="0">
                <a:ea typeface="华文中宋" panose="02010600040101010101" pitchFamily="2" charset="-122"/>
              </a:rPr>
              <a:t>除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Co</a:t>
            </a:r>
            <a:r>
              <a:rPr lang="zh-CN" altLang="en-US" b="1" dirty="0">
                <a:ea typeface="华文中宋" panose="02010600040101010101" pitchFamily="2" charset="-122"/>
              </a:rPr>
              <a:t>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合金元素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使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Ms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f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点下降（</a:t>
            </a:r>
            <a:r>
              <a:rPr lang="zh-CN" altLang="en-US" b="1" dirty="0">
                <a:ea typeface="华文中宋" panose="02010600040101010101" pitchFamily="2" charset="-122"/>
              </a:rPr>
              <a:t>除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Co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</a:t>
            </a:r>
            <a:r>
              <a:rPr lang="zh-CN" altLang="en-US" b="1" dirty="0">
                <a:ea typeface="华文中宋" panose="02010600040101010101" pitchFamily="2" charset="-122"/>
              </a:rPr>
              <a:t>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碳化物形成元素</a:t>
            </a:r>
            <a:r>
              <a:rPr lang="zh-CN" altLang="en-US" b="1" dirty="0">
                <a:ea typeface="华文中宋" panose="02010600040101010101" pitchFamily="2" charset="-122"/>
              </a:rPr>
              <a:t>含量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较多</a:t>
            </a:r>
            <a:r>
              <a:rPr lang="zh-CN" altLang="en-US" b="1" dirty="0">
                <a:ea typeface="华文中宋" panose="02010600040101010101" pitchFamily="2" charset="-122"/>
              </a:rPr>
              <a:t>时，还会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使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曲线的形状发生变化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dirty="0"/>
          </a:p>
        </p:txBody>
      </p:sp>
      <p:grpSp>
        <p:nvGrpSpPr>
          <p:cNvPr id="2" name="Group 4"/>
          <p:cNvGrpSpPr/>
          <p:nvPr/>
        </p:nvGrpSpPr>
        <p:grpSpPr>
          <a:xfrm>
            <a:off x="2747963" y="3908425"/>
            <a:ext cx="6216403" cy="2312988"/>
            <a:chOff x="1056" y="2544"/>
            <a:chExt cx="4090" cy="1588"/>
          </a:xfrm>
        </p:grpSpPr>
        <p:pic>
          <p:nvPicPr>
            <p:cNvPr id="82949" name="Picture 5" descr="17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56" y="2544"/>
              <a:ext cx="4090" cy="1588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82950" name="Text Box 6"/>
            <p:cNvSpPr txBox="1"/>
            <p:nvPr/>
          </p:nvSpPr>
          <p:spPr>
            <a:xfrm>
              <a:off x="1056" y="3888"/>
              <a:ext cx="1248" cy="231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A5002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Cr</a:t>
              </a:r>
              <a:r>
                <a:rPr lang="zh-CN" altLang="en-US" dirty="0">
                  <a:solidFill>
                    <a:srgbClr val="A5002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对</a:t>
              </a:r>
              <a:r>
                <a:rPr lang="en-US" altLang="zh-CN" dirty="0">
                  <a:solidFill>
                    <a:srgbClr val="A5002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</a:t>
              </a:r>
              <a:r>
                <a:rPr lang="zh-CN" altLang="en-US" dirty="0">
                  <a:solidFill>
                    <a:srgbClr val="A5002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曲线的影响</a:t>
              </a:r>
              <a:endParaRPr lang="zh-CN" altLang="en-US" dirty="0">
                <a:solidFill>
                  <a:srgbClr val="A5002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8295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12687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86538"/>
            <a:ext cx="457200" cy="2714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0"/>
            <a:ext cx="65484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奥氏体化条件的影响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3971" name="Rectangle 3"/>
          <p:cNvSpPr>
            <a:spLocks noGrp="1"/>
          </p:cNvSpPr>
          <p:nvPr>
            <p:ph idx="1"/>
          </p:nvPr>
        </p:nvSpPr>
        <p:spPr>
          <a:xfrm>
            <a:off x="323850" y="1379220"/>
            <a:ext cx="5541010" cy="436308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奥氏体化温度提高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保温时间延长，</a:t>
            </a:r>
            <a:r>
              <a:rPr lang="zh-CN" altLang="en-US" b="1" dirty="0">
                <a:ea typeface="华文中宋" panose="02010600040101010101" pitchFamily="2" charset="-122"/>
              </a:rPr>
              <a:t>使奥氏体成分均匀、晶粒粗大、未溶碳化物减少，增加了过冷奥氏体的稳定性，</a:t>
            </a:r>
            <a:r>
              <a:rPr lang="zh-CN" altLang="en-US" b="1" dirty="0">
                <a:solidFill>
                  <a:schemeClr val="folHlink"/>
                </a:solidFill>
              </a:rPr>
              <a:t>使</a:t>
            </a:r>
            <a:r>
              <a:rPr lang="en-US" altLang="zh-CN" b="1" dirty="0">
                <a:solidFill>
                  <a:schemeClr val="folHlink"/>
                </a:solidFill>
              </a:rPr>
              <a:t>C </a:t>
            </a:r>
            <a:r>
              <a:rPr lang="zh-CN" altLang="en-US" b="1" dirty="0">
                <a:solidFill>
                  <a:schemeClr val="folHlink"/>
                </a:solidFill>
              </a:rPr>
              <a:t>曲线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右移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/>
            <a:endParaRPr lang="zh-CN" altLang="en-US" b="1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使用</a:t>
            </a:r>
            <a:r>
              <a:rPr lang="en-US" altLang="zh-CN" b="1" dirty="0">
                <a:solidFill>
                  <a:schemeClr val="folHlink"/>
                </a:solidFill>
              </a:rPr>
              <a:t>C </a:t>
            </a:r>
            <a:r>
              <a:rPr lang="zh-CN" altLang="en-US" b="1" dirty="0">
                <a:solidFill>
                  <a:schemeClr val="folHlink"/>
                </a:solidFill>
              </a:rPr>
              <a:t>曲线时应</a:t>
            </a:r>
            <a:r>
              <a:rPr lang="zh-CN" altLang="en-US" b="1" dirty="0">
                <a:ea typeface="华文中宋" panose="02010600040101010101" pitchFamily="2" charset="-122"/>
              </a:rPr>
              <a:t>注意</a:t>
            </a:r>
            <a:r>
              <a:rPr lang="zh-CN" altLang="en-US" b="1" dirty="0">
                <a:solidFill>
                  <a:schemeClr val="folHlink"/>
                </a:solidFill>
              </a:rPr>
              <a:t>奥氏体化条件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</a:rPr>
              <a:t>晶粒度的影响。</a:t>
            </a:r>
            <a:endParaRPr lang="zh-CN" altLang="en-US" b="1" dirty="0">
              <a:solidFill>
                <a:schemeClr val="folHlink"/>
              </a:solidFill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5991260" y="1896745"/>
            <a:ext cx="3038440" cy="3130550"/>
            <a:chOff x="3074" y="152"/>
            <a:chExt cx="2461" cy="2536"/>
          </a:xfrm>
        </p:grpSpPr>
        <p:grpSp>
          <p:nvGrpSpPr>
            <p:cNvPr id="83973" name="Group 5"/>
            <p:cNvGrpSpPr>
              <a:grpSpLocks noChangeAspect="1"/>
            </p:cNvGrpSpPr>
            <p:nvPr/>
          </p:nvGrpSpPr>
          <p:grpSpPr>
            <a:xfrm>
              <a:off x="3075" y="152"/>
              <a:ext cx="2460" cy="2382"/>
              <a:chOff x="3075" y="152"/>
              <a:chExt cx="2460" cy="2382"/>
            </a:xfrm>
          </p:grpSpPr>
          <p:pic>
            <p:nvPicPr>
              <p:cNvPr id="83974" name="Picture 6" descr="本质晶粒度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75" y="152"/>
                <a:ext cx="2460" cy="2382"/>
              </a:xfrm>
              <a:prstGeom prst="rect">
                <a:avLst/>
              </a:prstGeom>
              <a:noFill/>
              <a:ln w="28575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83975" name="Rectangle 7"/>
              <p:cNvSpPr>
                <a:spLocks noChangeAspect="1"/>
              </p:cNvSpPr>
              <p:nvPr/>
            </p:nvSpPr>
            <p:spPr>
              <a:xfrm>
                <a:off x="3792" y="1036"/>
                <a:ext cx="720" cy="192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14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本质粗晶粒钢</a:t>
                </a:r>
                <a:endParaRPr lang="zh-CN" altLang="en-US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976" name="Rectangle 8"/>
              <p:cNvSpPr>
                <a:spLocks noChangeAspect="1"/>
              </p:cNvSpPr>
              <p:nvPr/>
            </p:nvSpPr>
            <p:spPr>
              <a:xfrm>
                <a:off x="4752" y="1776"/>
                <a:ext cx="684" cy="192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14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本质细晶粒钢</a:t>
                </a:r>
                <a:endParaRPr lang="zh-CN" altLang="en-US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977" name="Rectangle 9"/>
              <p:cNvSpPr>
                <a:spLocks noChangeAspect="1"/>
              </p:cNvSpPr>
              <p:nvPr/>
            </p:nvSpPr>
            <p:spPr>
              <a:xfrm>
                <a:off x="4616" y="1998"/>
                <a:ext cx="616" cy="114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14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930~950℃</a:t>
                </a:r>
                <a:endParaRPr lang="en-US" altLang="zh-CN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3978" name="Rectangle 10"/>
            <p:cNvSpPr>
              <a:spLocks noChangeAspect="1"/>
            </p:cNvSpPr>
            <p:nvPr/>
          </p:nvSpPr>
          <p:spPr>
            <a:xfrm>
              <a:off x="4166" y="2178"/>
              <a:ext cx="528" cy="17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温度，℃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979" name="Rectangle 11"/>
            <p:cNvSpPr>
              <a:spLocks noChangeAspect="1"/>
            </p:cNvSpPr>
            <p:nvPr/>
          </p:nvSpPr>
          <p:spPr>
            <a:xfrm rot="-5467830">
              <a:off x="2794" y="1152"/>
              <a:ext cx="720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晶粒大小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980" name="Rectangle 12"/>
            <p:cNvSpPr>
              <a:spLocks noChangeAspect="1"/>
            </p:cNvSpPr>
            <p:nvPr/>
          </p:nvSpPr>
          <p:spPr>
            <a:xfrm>
              <a:off x="3582" y="2178"/>
              <a:ext cx="240" cy="144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Ac</a:t>
              </a:r>
              <a:r>
                <a:rPr lang="en-US" altLang="zh-CN" baseline="-25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981" name="Rectangle 13"/>
            <p:cNvSpPr>
              <a:spLocks noChangeAspect="1"/>
            </p:cNvSpPr>
            <p:nvPr/>
          </p:nvSpPr>
          <p:spPr>
            <a:xfrm>
              <a:off x="3074" y="2496"/>
              <a:ext cx="2446" cy="19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奥氏体化温度对晶粒度的影响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3983" name="日期占位符 1"/>
          <p:cNvSpPr>
            <a:spLocks noGrp="1"/>
          </p:cNvSpPr>
          <p:nvPr>
            <p:ph type="dt" sz="half" idx="10"/>
          </p:nvPr>
        </p:nvSpPr>
        <p:spPr>
          <a:xfrm>
            <a:off x="49213" y="65151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0"/>
            <a:ext cx="7772400" cy="11525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㈡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过冷奥氏体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连续冷却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转变图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xfrm>
            <a:off x="395605" y="1711325"/>
            <a:ext cx="8353425" cy="388556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又称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CCT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</a:t>
            </a:r>
            <a:r>
              <a:rPr lang="en-US" altLang="zh-CN" b="1" dirty="0">
                <a:solidFill>
                  <a:srgbClr val="CCFF33"/>
                </a:solidFill>
                <a:ea typeface="楷体_GB2312" pitchFamily="49" charset="-122"/>
              </a:rPr>
              <a:t>C</a:t>
            </a:r>
            <a:r>
              <a:rPr lang="en-US" altLang="zh-CN" b="1" dirty="0">
                <a:ea typeface="楷体_GB2312" pitchFamily="49" charset="-122"/>
              </a:rPr>
              <a:t>ontinuous</a:t>
            </a:r>
            <a:r>
              <a:rPr lang="en-US" altLang="zh-CN" b="1" dirty="0">
                <a:solidFill>
                  <a:srgbClr val="CCFF33"/>
                </a:solidFill>
                <a:ea typeface="楷体_GB2312" pitchFamily="49" charset="-122"/>
              </a:rPr>
              <a:t>-C</a:t>
            </a:r>
            <a:r>
              <a:rPr lang="en-US" altLang="zh-CN" b="1" dirty="0">
                <a:ea typeface="楷体_GB2312" pitchFamily="49" charset="-122"/>
              </a:rPr>
              <a:t>ooling</a:t>
            </a:r>
            <a:r>
              <a:rPr lang="en-US" altLang="zh-CN" b="1" dirty="0">
                <a:solidFill>
                  <a:srgbClr val="CCFF33"/>
                </a:solidFill>
                <a:ea typeface="楷体_GB2312" pitchFamily="49" charset="-122"/>
              </a:rPr>
              <a:t>-T</a:t>
            </a:r>
            <a:r>
              <a:rPr lang="en-US" altLang="zh-CN" b="1" dirty="0">
                <a:ea typeface="楷体_GB2312" pitchFamily="49" charset="-122"/>
              </a:rPr>
              <a:t>ransformation</a:t>
            </a:r>
            <a:r>
              <a:rPr lang="en-US" altLang="zh-CN" b="1" dirty="0">
                <a:solidFill>
                  <a:srgbClr val="CCFF33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ea typeface="华文中宋" panose="02010600040101010101" pitchFamily="2" charset="-122"/>
              </a:rPr>
              <a:t>diagram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</a:t>
            </a:r>
            <a:r>
              <a:rPr lang="zh-CN" altLang="en-US" b="1" dirty="0">
                <a:ea typeface="华文中宋" panose="02010600040101010101" pitchFamily="2" charset="-122"/>
              </a:rPr>
              <a:t>，是通过测定不同冷速下过冷奥氏体的转变量获得的。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对于确定热处理工艺及选材，过冷奥氏体的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连续冷却转变</a:t>
            </a:r>
            <a:r>
              <a:rPr lang="zh-CN" altLang="en-US" b="1" dirty="0">
                <a:ea typeface="华文中宋" panose="02010600040101010101" pitchFamily="2" charset="-122"/>
              </a:rPr>
              <a:t>比等温转变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更具实际意义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8499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0"/>
            <a:ext cx="67643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共析钢的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CCT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6019" name="Rectangle 3"/>
          <p:cNvSpPr>
            <a:spLocks noGrp="1"/>
          </p:cNvSpPr>
          <p:nvPr>
            <p:ph idx="1"/>
          </p:nvPr>
        </p:nvSpPr>
        <p:spPr>
          <a:xfrm>
            <a:off x="252095" y="1196658"/>
            <a:ext cx="5905500" cy="5040312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ea typeface="华文中宋" panose="02010600040101010101" pitchFamily="2" charset="-122"/>
              </a:rPr>
              <a:t>共析钢的</a:t>
            </a:r>
            <a:r>
              <a:rPr lang="en-US" altLang="zh-CN" b="1" dirty="0">
                <a:ea typeface="华文中宋" panose="02010600040101010101" pitchFamily="2" charset="-122"/>
              </a:rPr>
              <a:t>CCT</a:t>
            </a:r>
            <a:r>
              <a:rPr lang="zh-CN" altLang="en-US" b="1" dirty="0">
                <a:ea typeface="华文中宋" panose="02010600040101010101" pitchFamily="2" charset="-122"/>
              </a:rPr>
              <a:t>曲线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没有贝氏体转变区，在珠光体转变区之下多了</a:t>
            </a:r>
            <a:r>
              <a:rPr lang="zh-CN" altLang="en-US" b="1" dirty="0">
                <a:ea typeface="华文中宋" panose="02010600040101010101" pitchFamily="2" charset="-122"/>
              </a:rPr>
              <a:t>一条转变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中止线。</a:t>
            </a:r>
            <a:endParaRPr lang="zh-CN" altLang="en-US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当连续冷却曲线碰到转变中止线时，珠光体转变中止，</a:t>
            </a:r>
            <a:r>
              <a:rPr lang="zh-CN" altLang="en-US" b="1" dirty="0">
                <a:ea typeface="华文中宋" panose="02010600040101010101" pitchFamily="2" charset="-122"/>
              </a:rPr>
              <a:t>余下的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奥氏体一直保持到</a:t>
            </a:r>
            <a:r>
              <a:rPr lang="en-US" altLang="zh-CN" b="1" i="1" dirty="0">
                <a:ea typeface="华文中宋" panose="02010600040101010101" pitchFamily="2" charset="-122"/>
              </a:rPr>
              <a:t>Ms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以下</a:t>
            </a:r>
            <a:r>
              <a:rPr lang="zh-CN" altLang="en-US" b="1" dirty="0">
                <a:ea typeface="华文中宋" panose="02010600040101010101" pitchFamily="2" charset="-122"/>
              </a:rPr>
              <a:t>转变为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马氏体。</a:t>
            </a:r>
            <a:endParaRPr lang="zh-CN" altLang="en-US" b="1" dirty="0">
              <a:solidFill>
                <a:srgbClr val="CCFF66"/>
              </a:solidFill>
              <a:ea typeface="华文中宋" panose="02010600040101010101" pitchFamily="2" charset="-122"/>
            </a:endParaRPr>
          </a:p>
        </p:txBody>
      </p:sp>
      <p:pic>
        <p:nvPicPr>
          <p:cNvPr id="86020" name="Picture 4" descr="共析钢CCT曲线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224905" y="2277110"/>
            <a:ext cx="2797810" cy="2735580"/>
          </a:xfrm>
          <a:prstGeom prst="rect">
            <a:avLst/>
          </a:prstGeom>
          <a:solidFill>
            <a:schemeClr val="tx1"/>
          </a:solidFill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86022" name="日期占位符 1"/>
          <p:cNvSpPr>
            <a:spLocks noGrp="1"/>
          </p:cNvSpPr>
          <p:nvPr>
            <p:ph type="dt" sz="half" idx="10"/>
          </p:nvPr>
        </p:nvSpPr>
        <p:spPr>
          <a:xfrm>
            <a:off x="120650" y="6581775"/>
            <a:ext cx="1787525" cy="27622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69075"/>
            <a:ext cx="528638" cy="2889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871569" y="-26185"/>
            <a:ext cx="61880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共析钢的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CCT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7043" name="Rectangle 3"/>
          <p:cNvSpPr>
            <a:spLocks noGrp="1"/>
          </p:cNvSpPr>
          <p:nvPr>
            <p:ph idx="1"/>
          </p:nvPr>
        </p:nvSpPr>
        <p:spPr>
          <a:xfrm>
            <a:off x="0" y="1412875"/>
            <a:ext cx="4356100" cy="473075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图中的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k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CCT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临界冷却速度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即获得全部马氏体组织时的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最小冷却速度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k</a:t>
            </a:r>
            <a:r>
              <a:rPr lang="en-US" altLang="zh-CN" b="1" dirty="0">
                <a:solidFill>
                  <a:schemeClr val="folHlink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TTT</a:t>
            </a:r>
            <a:r>
              <a:rPr lang="zh-CN" altLang="en-US" b="1" dirty="0">
                <a:ea typeface="华文中宋" panose="02010600040101010101" pitchFamily="2" charset="-122"/>
              </a:rPr>
              <a:t>曲线的临界冷却速度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k</a:t>
            </a:r>
            <a:r>
              <a:rPr lang="en-US" altLang="zh-CN" b="1" dirty="0">
                <a:solidFill>
                  <a:schemeClr val="folHlink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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1.5V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k</a:t>
            </a:r>
            <a:r>
              <a:rPr lang="en-US" altLang="zh-CN" b="1" dirty="0">
                <a:ea typeface="华文中宋" panose="02010600040101010101" pitchFamily="2" charset="-122"/>
              </a:rPr>
              <a:t>.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4431966" y="1273969"/>
            <a:ext cx="4356408" cy="4697593"/>
            <a:chOff x="2295" y="414"/>
            <a:chExt cx="3285" cy="3542"/>
          </a:xfrm>
        </p:grpSpPr>
        <p:grpSp>
          <p:nvGrpSpPr>
            <p:cNvPr id="87045" name="Group 5"/>
            <p:cNvGrpSpPr>
              <a:grpSpLocks noChangeAspect="1"/>
            </p:cNvGrpSpPr>
            <p:nvPr/>
          </p:nvGrpSpPr>
          <p:grpSpPr>
            <a:xfrm>
              <a:off x="2295" y="414"/>
              <a:ext cx="3285" cy="3542"/>
              <a:chOff x="2295" y="414"/>
              <a:chExt cx="3285" cy="3542"/>
            </a:xfrm>
          </p:grpSpPr>
          <p:grpSp>
            <p:nvGrpSpPr>
              <p:cNvPr id="87046" name="Group 6"/>
              <p:cNvGrpSpPr>
                <a:grpSpLocks noChangeAspect="1"/>
              </p:cNvGrpSpPr>
              <p:nvPr/>
            </p:nvGrpSpPr>
            <p:grpSpPr>
              <a:xfrm>
                <a:off x="2295" y="414"/>
                <a:ext cx="3285" cy="3542"/>
                <a:chOff x="2295" y="414"/>
                <a:chExt cx="3285" cy="3542"/>
              </a:xfrm>
            </p:grpSpPr>
            <p:grpSp>
              <p:nvGrpSpPr>
                <p:cNvPr id="87047" name="Group 7"/>
                <p:cNvGrpSpPr>
                  <a:grpSpLocks noChangeAspect="1"/>
                </p:cNvGrpSpPr>
                <p:nvPr/>
              </p:nvGrpSpPr>
              <p:grpSpPr>
                <a:xfrm>
                  <a:off x="2295" y="414"/>
                  <a:ext cx="3285" cy="3542"/>
                  <a:chOff x="2295" y="414"/>
                  <a:chExt cx="3285" cy="3542"/>
                </a:xfrm>
              </p:grpSpPr>
              <p:grpSp>
                <p:nvGrpSpPr>
                  <p:cNvPr id="87048" name="Group 8"/>
                  <p:cNvGrpSpPr>
                    <a:grpSpLocks noChangeAspect="1"/>
                  </p:cNvGrpSpPr>
                  <p:nvPr/>
                </p:nvGrpSpPr>
                <p:grpSpPr>
                  <a:xfrm>
                    <a:off x="2295" y="414"/>
                    <a:ext cx="3285" cy="3542"/>
                    <a:chOff x="2295" y="414"/>
                    <a:chExt cx="3285" cy="3542"/>
                  </a:xfrm>
                </p:grpSpPr>
                <p:grpSp>
                  <p:nvGrpSpPr>
                    <p:cNvPr id="87049" name="Group 9"/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2295" y="414"/>
                      <a:ext cx="3285" cy="3542"/>
                      <a:chOff x="2295" y="414"/>
                      <a:chExt cx="3285" cy="3542"/>
                    </a:xfrm>
                  </p:grpSpPr>
                  <p:grpSp>
                    <p:nvGrpSpPr>
                      <p:cNvPr id="87050" name="Group 10"/>
                      <p:cNvGrpSpPr>
                        <a:grpSpLocks noChangeAspect="1"/>
                      </p:cNvGrpSpPr>
                      <p:nvPr/>
                    </p:nvGrpSpPr>
                    <p:grpSpPr>
                      <a:xfrm>
                        <a:off x="2295" y="414"/>
                        <a:ext cx="3285" cy="3542"/>
                        <a:chOff x="2295" y="414"/>
                        <a:chExt cx="3285" cy="3542"/>
                      </a:xfrm>
                    </p:grpSpPr>
                    <p:grpSp>
                      <p:nvGrpSpPr>
                        <p:cNvPr id="87051" name="Group 11"/>
                        <p:cNvGrpSpPr>
                          <a:grpSpLocks noChangeAspect="1"/>
                        </p:cNvGrpSpPr>
                        <p:nvPr/>
                      </p:nvGrpSpPr>
                      <p:grpSpPr>
                        <a:xfrm>
                          <a:off x="2295" y="414"/>
                          <a:ext cx="3285" cy="3542"/>
                          <a:chOff x="2295" y="414"/>
                          <a:chExt cx="3285" cy="3542"/>
                        </a:xfrm>
                      </p:grpSpPr>
                      <p:pic>
                        <p:nvPicPr>
                          <p:cNvPr id="87052" name="Picture 12" descr="C曲线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" cstate="print"/>
                          <a:stretch>
                            <a:fillRect/>
                          </a:stretch>
                        </p:blipFill>
                        <p:spPr>
                          <a:xfrm>
                            <a:off x="2295" y="414"/>
                            <a:ext cx="3285" cy="3531"/>
                          </a:xfrm>
                          <a:prstGeom prst="rect">
                            <a:avLst/>
                          </a:prstGeom>
                          <a:noFill/>
                          <a:ln w="38100" cap="flat" cmpd="sng">
                            <a:solidFill>
                              <a:srgbClr val="FF00FF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  <p:sp>
                        <p:nvSpPr>
                          <p:cNvPr id="87053" name="Freeform 13"/>
                          <p:cNvSpPr>
                            <a:spLocks noChangeAspect="1"/>
                          </p:cNvSpPr>
                          <p:nvPr/>
                        </p:nvSpPr>
                        <p:spPr>
                          <a:xfrm>
                            <a:off x="2832" y="510"/>
                            <a:ext cx="864" cy="2802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0" y="0"/>
                              </a:cxn>
                              <a:cxn ang="0">
                                <a:pos x="254" y="161"/>
                              </a:cxn>
                              <a:cxn ang="0">
                                <a:pos x="636" y="531"/>
                              </a:cxn>
                              <a:cxn ang="0">
                                <a:pos x="885" y="911"/>
                              </a:cxn>
                              <a:cxn ang="0">
                                <a:pos x="1015" y="1177"/>
                              </a:cxn>
                              <a:cxn ang="0">
                                <a:pos x="1139" y="1446"/>
                              </a:cxn>
                              <a:cxn ang="0">
                                <a:pos x="1271" y="1927"/>
                              </a:cxn>
                              <a:cxn ang="0">
                                <a:pos x="1525" y="2409"/>
                              </a:cxn>
                              <a:cxn ang="0">
                                <a:pos x="1778" y="2785"/>
                              </a:cxn>
                              <a:cxn ang="0">
                                <a:pos x="2157" y="3106"/>
                              </a:cxn>
                            </a:cxnLst>
                            <a:rect l="0" t="0" r="0" b="0"/>
                            <a:pathLst>
                              <a:path w="816" h="2784">
                                <a:moveTo>
                                  <a:pt x="0" y="0"/>
                                </a:moveTo>
                                <a:cubicBezTo>
                                  <a:pt x="28" y="32"/>
                                  <a:pt x="56" y="64"/>
                                  <a:pt x="96" y="144"/>
                                </a:cubicBezTo>
                                <a:cubicBezTo>
                                  <a:pt x="136" y="224"/>
                                  <a:pt x="200" y="368"/>
                                  <a:pt x="240" y="480"/>
                                </a:cubicBezTo>
                                <a:cubicBezTo>
                                  <a:pt x="280" y="592"/>
                                  <a:pt x="312" y="720"/>
                                  <a:pt x="336" y="816"/>
                                </a:cubicBezTo>
                                <a:cubicBezTo>
                                  <a:pt x="360" y="912"/>
                                  <a:pt x="368" y="976"/>
                                  <a:pt x="384" y="1056"/>
                                </a:cubicBezTo>
                                <a:cubicBezTo>
                                  <a:pt x="400" y="1136"/>
                                  <a:pt x="416" y="1184"/>
                                  <a:pt x="432" y="1296"/>
                                </a:cubicBezTo>
                                <a:cubicBezTo>
                                  <a:pt x="448" y="1408"/>
                                  <a:pt x="456" y="1584"/>
                                  <a:pt x="480" y="1728"/>
                                </a:cubicBezTo>
                                <a:cubicBezTo>
                                  <a:pt x="504" y="1872"/>
                                  <a:pt x="544" y="2032"/>
                                  <a:pt x="576" y="2160"/>
                                </a:cubicBezTo>
                                <a:cubicBezTo>
                                  <a:pt x="608" y="2288"/>
                                  <a:pt x="632" y="2392"/>
                                  <a:pt x="672" y="2496"/>
                                </a:cubicBezTo>
                                <a:cubicBezTo>
                                  <a:pt x="712" y="2600"/>
                                  <a:pt x="764" y="2692"/>
                                  <a:pt x="816" y="2784"/>
                                </a:cubicBezTo>
                              </a:path>
                            </a:pathLst>
                          </a:custGeom>
                          <a:noFill/>
                          <a:ln w="9525" cap="flat" cmpd="sng">
                            <a:solidFill>
                              <a:schemeClr val="bg2"/>
                            </a:solidFill>
                            <a:prstDash val="lgDashDot"/>
                            <a:round/>
                            <a:headEnd type="none" w="med" len="med"/>
                            <a:tailEnd type="none" w="med" len="med"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87054" name="Rectangle 14"/>
                          <p:cNvSpPr>
                            <a:spLocks noChangeAspect="1"/>
                          </p:cNvSpPr>
                          <p:nvPr/>
                        </p:nvSpPr>
                        <p:spPr>
                          <a:xfrm>
                            <a:off x="3480" y="3006"/>
                            <a:ext cx="144" cy="192"/>
                          </a:xfrm>
                          <a:prstGeom prst="rect">
                            <a:avLst/>
                          </a:prstGeom>
                          <a:solidFill>
                            <a:schemeClr val="tx1"/>
                          </a:solidFill>
                          <a:ln w="9525">
                            <a:noFill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ctr"/>
                            <a:r>
                              <a:rPr lang="en-US" altLang="zh-CN" i="1" dirty="0">
                                <a:solidFill>
                                  <a:schemeClr val="bg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rPr>
                              <a:t>V</a:t>
                            </a:r>
                            <a:r>
                              <a:rPr lang="en-US" altLang="zh-CN" baseline="-25000" dirty="0">
                                <a:solidFill>
                                  <a:schemeClr val="bg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rPr>
                              <a:t>k</a:t>
                            </a:r>
                            <a:r>
                              <a:rPr lang="en-US" altLang="zh-CN" baseline="30000" dirty="0">
                                <a:solidFill>
                                  <a:schemeClr val="bg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rPr>
                              <a:t>’</a:t>
                            </a:r>
                            <a:endParaRPr lang="en-US" altLang="zh-CN" baseline="30000" dirty="0">
                              <a:solidFill>
                                <a:schemeClr val="bg2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endParaRPr>
                          </a:p>
                        </p:txBody>
                      </p:sp>
                      <p:sp>
                        <p:nvSpPr>
                          <p:cNvPr id="87055" name="Rectangle 15"/>
                          <p:cNvSpPr>
                            <a:spLocks noChangeAspect="1"/>
                          </p:cNvSpPr>
                          <p:nvPr/>
                        </p:nvSpPr>
                        <p:spPr>
                          <a:xfrm>
                            <a:off x="3648" y="3006"/>
                            <a:ext cx="144" cy="192"/>
                          </a:xfrm>
                          <a:prstGeom prst="rect">
                            <a:avLst/>
                          </a:prstGeom>
                          <a:solidFill>
                            <a:schemeClr val="tx1"/>
                          </a:solidFill>
                          <a:ln w="9525">
                            <a:noFill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ctr"/>
                            <a:r>
                              <a:rPr lang="en-US" altLang="zh-CN" i="1" dirty="0">
                                <a:solidFill>
                                  <a:schemeClr val="bg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rPr>
                              <a:t>V</a:t>
                            </a:r>
                            <a:r>
                              <a:rPr lang="en-US" altLang="zh-CN" baseline="-25000" dirty="0">
                                <a:solidFill>
                                  <a:schemeClr val="bg2"/>
                                </a:solidFill>
                                <a:latin typeface="Times New Roman" panose="02020603050405020304" pitchFamily="18" charset="0"/>
                                <a:ea typeface="楷体_GB2312" pitchFamily="49" charset="-122"/>
                              </a:rPr>
                              <a:t>k</a:t>
                            </a:r>
                            <a:endParaRPr lang="en-US" altLang="zh-CN" baseline="30000" dirty="0">
                              <a:solidFill>
                                <a:schemeClr val="bg2"/>
                              </a:solidFill>
                              <a:latin typeface="Times New Roman" panose="02020603050405020304" pitchFamily="18" charset="0"/>
                              <a:ea typeface="楷体_GB2312" pitchFamily="49" charset="-122"/>
                            </a:endParaRPr>
                          </a:p>
                        </p:txBody>
                      </p:sp>
                      <p:sp>
                        <p:nvSpPr>
                          <p:cNvPr id="87056" name="Rectangle 16"/>
                          <p:cNvSpPr>
                            <a:spLocks noChangeAspect="1"/>
                          </p:cNvSpPr>
                          <p:nvPr/>
                        </p:nvSpPr>
                        <p:spPr>
                          <a:xfrm>
                            <a:off x="3792" y="3726"/>
                            <a:ext cx="864" cy="192"/>
                          </a:xfrm>
                          <a:prstGeom prst="rect">
                            <a:avLst/>
                          </a:prstGeom>
                          <a:solidFill>
                            <a:schemeClr val="tx1"/>
                          </a:solidFill>
                          <a:ln w="9525">
                            <a:noFill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ctr"/>
                            <a:r>
                              <a:rPr lang="zh-CN" altLang="en-US" dirty="0">
                                <a:solidFill>
                                  <a:schemeClr val="bg2"/>
                                </a:solidFill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时间</a:t>
                            </a:r>
                            <a:r>
                              <a:rPr lang="en-US" altLang="zh-CN" dirty="0">
                                <a:solidFill>
                                  <a:schemeClr val="bg2"/>
                                </a:solidFill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/s</a:t>
                            </a:r>
                            <a:endParaRPr lang="en-US" altLang="zh-CN" dirty="0">
                              <a:solidFill>
                                <a:schemeClr val="bg2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87057" name="Rectangle 17"/>
                          <p:cNvSpPr>
                            <a:spLocks noChangeAspect="1"/>
                          </p:cNvSpPr>
                          <p:nvPr/>
                        </p:nvSpPr>
                        <p:spPr>
                          <a:xfrm rot="-5328390">
                            <a:off x="1872" y="1758"/>
                            <a:ext cx="1248" cy="192"/>
                          </a:xfrm>
                          <a:prstGeom prst="rect">
                            <a:avLst/>
                          </a:prstGeom>
                          <a:solidFill>
                            <a:schemeClr val="tx1"/>
                          </a:solidFill>
                          <a:ln w="9525">
                            <a:noFill/>
                          </a:ln>
                        </p:spPr>
                        <p:txBody>
                          <a:bodyPr wrap="none" anchor="ctr"/>
                          <a:lstStyle/>
                          <a:p>
                            <a:pPr algn="ctr"/>
                            <a:r>
                              <a:rPr lang="zh-CN" altLang="en-US" dirty="0">
                                <a:solidFill>
                                  <a:schemeClr val="bg2"/>
                                </a:solidFill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温度</a:t>
                            </a:r>
                            <a:r>
                              <a:rPr lang="en-US" altLang="zh-CN" dirty="0">
                                <a:solidFill>
                                  <a:schemeClr val="bg2"/>
                                </a:solidFill>
                                <a:latin typeface="Times New Roman" panose="02020603050405020304" pitchFamily="18" charset="0"/>
                                <a:ea typeface="宋体" panose="02010600030101010101" pitchFamily="2" charset="-122"/>
                              </a:rPr>
                              <a:t>/℃</a:t>
                            </a:r>
                            <a:endParaRPr lang="en-US" altLang="zh-CN" dirty="0">
                              <a:solidFill>
                                <a:schemeClr val="bg2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endParaRPr>
                          </a:p>
                        </p:txBody>
                      </p:sp>
                      <p:sp>
                        <p:nvSpPr>
                          <p:cNvPr id="87058" name="Text Box 18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2387" y="3678"/>
                            <a:ext cx="1500" cy="27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</a:ln>
                        </p:spPr>
                        <p:txBody>
                          <a:bodyPr wrap="square" anchor="t">
                            <a:spAutoFit/>
                          </a:bodyPr>
                          <a:lstStyle/>
                          <a:p>
                            <a:r>
                              <a:rPr lang="zh-CN" altLang="en-US" dirty="0">
                                <a:solidFill>
                                  <a:srgbClr val="800000"/>
                                </a:solidFill>
                                <a:latin typeface="Times New Roman" panose="02020603050405020304" pitchFamily="18" charset="0"/>
                                <a:ea typeface="华文中宋" panose="02010600040101010101" pitchFamily="2" charset="-122"/>
                              </a:rPr>
                              <a:t>共析钢的</a:t>
                            </a:r>
                            <a:r>
                              <a:rPr lang="en-US" altLang="zh-CN" dirty="0">
                                <a:solidFill>
                                  <a:srgbClr val="800000"/>
                                </a:solidFill>
                                <a:latin typeface="Times New Roman" panose="02020603050405020304" pitchFamily="18" charset="0"/>
                                <a:ea typeface="华文中宋" panose="02010600040101010101" pitchFamily="2" charset="-122"/>
                              </a:rPr>
                              <a:t>CCT</a:t>
                            </a:r>
                            <a:r>
                              <a:rPr lang="zh-CN" altLang="en-US" dirty="0">
                                <a:solidFill>
                                  <a:srgbClr val="800000"/>
                                </a:solidFill>
                                <a:latin typeface="Times New Roman" panose="02020603050405020304" pitchFamily="18" charset="0"/>
                                <a:ea typeface="华文中宋" panose="02010600040101010101" pitchFamily="2" charset="-122"/>
                              </a:rPr>
                              <a:t>图</a:t>
                            </a:r>
                            <a:endParaRPr lang="zh-CN" altLang="en-US" dirty="0">
                              <a:solidFill>
                                <a:srgbClr val="800000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endParaRPr>
                          </a:p>
                        </p:txBody>
                      </p:sp>
                    </p:grpSp>
                    <p:sp>
                      <p:nvSpPr>
                        <p:cNvPr id="87059" name="Rectangle 19"/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3936" y="432"/>
                          <a:ext cx="1056" cy="144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 w="9525">
                          <a:noFill/>
                        </a:ln>
                      </p:spPr>
                      <p:txBody>
                        <a:bodyPr wrap="none" anchor="ctr"/>
                        <a:lstStyle/>
                        <a:p>
                          <a:r>
                            <a:rPr lang="zh-CN" altLang="en-US" sz="1600" dirty="0">
                              <a:solidFill>
                                <a:schemeClr val="bg2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共析温度</a:t>
                          </a:r>
                          <a:endParaRPr lang="zh-CN" altLang="en-US" sz="16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sp>
                    <p:nvSpPr>
                      <p:cNvPr id="87060" name="Rectangle 20"/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608" y="1044"/>
                        <a:ext cx="936" cy="2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>
                        <a:noFill/>
                      </a:ln>
                    </p:spPr>
                    <p:txBody>
                      <a:bodyPr wrap="none" anchor="ctr"/>
                      <a:lstStyle/>
                      <a:p>
                        <a:pPr>
                          <a:lnSpc>
                            <a:spcPct val="50000"/>
                          </a:lnSpc>
                        </a:pPr>
                        <a:r>
                          <a:rPr lang="zh-CN" altLang="en-US" sz="16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连续冷却转</a:t>
                        </a:r>
                        <a:endParaRPr lang="zh-CN" altLang="en-US" sz="16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  <a:p>
                        <a:pPr>
                          <a:lnSpc>
                            <a:spcPct val="50000"/>
                          </a:lnSpc>
                        </a:pPr>
                        <a:r>
                          <a:rPr lang="zh-CN" altLang="en-US" sz="16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变曲线</a:t>
                        </a:r>
                        <a:endParaRPr lang="zh-CN" altLang="en-US" sz="16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87061" name="Rectangle 21"/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692" y="1380"/>
                        <a:ext cx="816" cy="14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9525">
                        <a:noFill/>
                      </a:ln>
                    </p:spPr>
                    <p:txBody>
                      <a:bodyPr wrap="none" anchor="ctr"/>
                      <a:lstStyle/>
                      <a:p>
                        <a:r>
                          <a:rPr lang="zh-CN" altLang="en-US" sz="1600" dirty="0">
                            <a:solidFill>
                              <a:schemeClr val="bg2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完全退火</a:t>
                        </a:r>
                        <a:endParaRPr lang="zh-CN" altLang="en-US" sz="16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87062" name="Rectangle 22"/>
                    <p:cNvSpPr>
                      <a:spLocks noChangeAspect="1"/>
                    </p:cNvSpPr>
                    <p:nvPr/>
                  </p:nvSpPr>
                  <p:spPr>
                    <a:xfrm>
                      <a:off x="4128" y="1536"/>
                      <a:ext cx="564" cy="9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9525">
                      <a:noFill/>
                    </a:ln>
                  </p:spPr>
                  <p:txBody>
                    <a:bodyPr wrap="none" anchor="ctr"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正火</a:t>
                      </a:r>
                      <a:endParaRPr lang="zh-CN" altLang="en-US" sz="16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7063" name="Rectangle 23"/>
                    <p:cNvSpPr>
                      <a:spLocks noChangeAspect="1"/>
                    </p:cNvSpPr>
                    <p:nvPr/>
                  </p:nvSpPr>
                  <p:spPr>
                    <a:xfrm>
                      <a:off x="4608" y="1872"/>
                      <a:ext cx="720" cy="384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 w="9525">
                      <a:noFill/>
                    </a:ln>
                  </p:spPr>
                  <p:txBody>
                    <a:bodyPr wrap="none" anchor="ctr"/>
                    <a:lstStyle/>
                    <a:p>
                      <a:pPr>
                        <a:lnSpc>
                          <a:spcPct val="50000"/>
                        </a:lnSpc>
                      </a:pPr>
                      <a:r>
                        <a:rPr lang="zh-CN" altLang="en-US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等温转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>
                        <a:lnSpc>
                          <a:spcPct val="50000"/>
                        </a:lnSpc>
                      </a:pPr>
                      <a:r>
                        <a:rPr lang="zh-CN" altLang="en-US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变曲线</a:t>
                      </a:r>
                      <a:endParaRPr lang="zh-CN" altLang="en-US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87064" name="Rectangle 24"/>
                  <p:cNvSpPr>
                    <a:spLocks noChangeAspect="1"/>
                  </p:cNvSpPr>
                  <p:nvPr/>
                </p:nvSpPr>
                <p:spPr>
                  <a:xfrm>
                    <a:off x="3648" y="1728"/>
                    <a:ext cx="528" cy="144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6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油淬</a:t>
                    </a:r>
                    <a:endParaRPr lang="zh-CN" altLang="en-US" sz="16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7065" name="Rectangle 25"/>
                  <p:cNvSpPr>
                    <a:spLocks noChangeAspect="1"/>
                  </p:cNvSpPr>
                  <p:nvPr/>
                </p:nvSpPr>
                <p:spPr>
                  <a:xfrm>
                    <a:off x="3132" y="2256"/>
                    <a:ext cx="324" cy="28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noFill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zh-CN" altLang="en-US" sz="16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a:t>水淬</a:t>
                    </a:r>
                    <a:endParaRPr lang="zh-CN" altLang="en-US" sz="16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87066" name="Rectangle 26"/>
                <p:cNvSpPr>
                  <a:spLocks noChangeAspect="1"/>
                </p:cNvSpPr>
                <p:nvPr/>
              </p:nvSpPr>
              <p:spPr>
                <a:xfrm>
                  <a:off x="3168" y="3312"/>
                  <a:ext cx="624" cy="144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M+A’</a:t>
                  </a:r>
                  <a:endParaRPr lang="en-US" altLang="zh-CN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7067" name="Rectangle 27"/>
                <p:cNvSpPr>
                  <a:spLocks noChangeAspect="1"/>
                </p:cNvSpPr>
                <p:nvPr/>
              </p:nvSpPr>
              <p:spPr>
                <a:xfrm>
                  <a:off x="3888" y="3264"/>
                  <a:ext cx="576" cy="24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M+T+A’</a:t>
                  </a:r>
                  <a:endParaRPr lang="en-US" altLang="zh-CN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7068" name="Rectangle 28"/>
                <p:cNvSpPr>
                  <a:spLocks noChangeAspect="1"/>
                </p:cNvSpPr>
                <p:nvPr/>
              </p:nvSpPr>
              <p:spPr>
                <a:xfrm>
                  <a:off x="4512" y="3288"/>
                  <a:ext cx="528" cy="24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S</a:t>
                  </a:r>
                  <a:endParaRPr lang="en-US" altLang="zh-CN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7069" name="Rectangle 29"/>
                <p:cNvSpPr>
                  <a:spLocks noChangeAspect="1"/>
                </p:cNvSpPr>
                <p:nvPr/>
              </p:nvSpPr>
              <p:spPr>
                <a:xfrm>
                  <a:off x="4992" y="3264"/>
                  <a:ext cx="528" cy="24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endParaRPr lang="en-US" altLang="zh-CN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7070" name="Rectangle 30"/>
              <p:cNvSpPr>
                <a:spLocks noChangeAspect="1"/>
              </p:cNvSpPr>
              <p:nvPr/>
            </p:nvSpPr>
            <p:spPr>
              <a:xfrm>
                <a:off x="5460" y="1164"/>
                <a:ext cx="96" cy="144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7071" name="Rectangle 31"/>
            <p:cNvSpPr>
              <a:spLocks noChangeAspect="1"/>
            </p:cNvSpPr>
            <p:nvPr/>
          </p:nvSpPr>
          <p:spPr>
            <a:xfrm>
              <a:off x="2604" y="2664"/>
              <a:ext cx="192" cy="19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200</a:t>
              </a:r>
              <a:endPara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072" name="Rectangle 32"/>
            <p:cNvSpPr>
              <a:spLocks noChangeAspect="1"/>
            </p:cNvSpPr>
            <p:nvPr/>
          </p:nvSpPr>
          <p:spPr>
            <a:xfrm>
              <a:off x="2604" y="3072"/>
              <a:ext cx="192" cy="19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  <a:endParaRPr lang="en-US" altLang="zh-CN" sz="1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7074" name="日期占位符 1"/>
          <p:cNvSpPr>
            <a:spLocks noGrp="1"/>
          </p:cNvSpPr>
          <p:nvPr>
            <p:ph type="dt" sz="half" idx="10"/>
          </p:nvPr>
        </p:nvSpPr>
        <p:spPr>
          <a:xfrm>
            <a:off x="-84137" y="65151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36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063" y="6510338"/>
            <a:ext cx="457200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4076" y="-71040"/>
            <a:ext cx="701992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CCT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  </a:t>
            </a:r>
            <a:r>
              <a:rPr kumimoji="1" lang="en-US" altLang="zh-CN" sz="44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vs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 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TTT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xfrm>
            <a:off x="395288" y="1412875"/>
            <a:ext cx="8569325" cy="489585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CCT</a:t>
            </a:r>
            <a:r>
              <a:rPr lang="zh-CN" altLang="en-US" b="1" dirty="0">
                <a:ea typeface="华文中宋" panose="02010600040101010101" pitchFamily="2" charset="-122"/>
              </a:rPr>
              <a:t>曲线位于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TTT</a:t>
            </a:r>
            <a:r>
              <a:rPr lang="zh-CN" altLang="en-US" b="1" dirty="0">
                <a:ea typeface="华文中宋" panose="02010600040101010101" pitchFamily="2" charset="-122"/>
              </a:rPr>
              <a:t>曲线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右下方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CCT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曲线获得困难</a:t>
            </a:r>
            <a:r>
              <a:rPr lang="en-US" altLang="zh-CN" b="1" dirty="0">
                <a:solidFill>
                  <a:srgbClr val="CCFF66"/>
                </a:solidFill>
                <a:ea typeface="华文中宋" panose="02010600040101010101" pitchFamily="2" charset="-122"/>
              </a:rPr>
              <a:t>,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TTT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曲线容易测得。</a:t>
            </a:r>
            <a:endParaRPr lang="zh-CN" altLang="en-US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可用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TTT</a:t>
            </a:r>
            <a:r>
              <a:rPr lang="zh-CN" altLang="en-US" b="1" dirty="0">
                <a:ea typeface="华文中宋" panose="02010600040101010101" pitchFamily="2" charset="-122"/>
              </a:rPr>
              <a:t>曲线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定性</a:t>
            </a:r>
            <a:r>
              <a:rPr lang="zh-CN" altLang="en-US" b="1" dirty="0">
                <a:ea typeface="华文中宋" panose="02010600040101010101" pitchFamily="2" charset="-122"/>
              </a:rPr>
              <a:t>说明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连续冷却时的组织转变情况。</a:t>
            </a:r>
            <a:r>
              <a:rPr lang="zh-CN" altLang="en-US" b="1" dirty="0">
                <a:ea typeface="华文中宋" panose="02010600040101010101" pitchFamily="2" charset="-122"/>
              </a:rPr>
              <a:t>方法是将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连续冷却曲线</a:t>
            </a:r>
            <a:r>
              <a:rPr lang="zh-CN" altLang="en-US" b="1" dirty="0">
                <a:ea typeface="华文中宋" panose="02010600040101010101" pitchFamily="2" charset="-122"/>
              </a:rPr>
              <a:t>绘在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</a:t>
            </a:r>
            <a:r>
              <a:rPr lang="zh-CN" altLang="en-US" b="1" dirty="0">
                <a:ea typeface="华文中宋" panose="02010600040101010101" pitchFamily="2" charset="-122"/>
              </a:rPr>
              <a:t>上，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依其与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曲线交点的位置来说明最终转变产物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88069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4921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2500" y="6608445"/>
            <a:ext cx="571500" cy="24955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12028" name="Line 60"/>
          <p:cNvSpPr/>
          <p:nvPr/>
        </p:nvSpPr>
        <p:spPr>
          <a:xfrm flipH="1">
            <a:off x="457200" y="768350"/>
            <a:ext cx="762000" cy="55911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2029" name="Line 61"/>
          <p:cNvSpPr/>
          <p:nvPr/>
        </p:nvSpPr>
        <p:spPr>
          <a:xfrm>
            <a:off x="1219200" y="768350"/>
            <a:ext cx="990600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2030" name="Text Box 62"/>
          <p:cNvSpPr txBox="1"/>
          <p:nvPr/>
        </p:nvSpPr>
        <p:spPr>
          <a:xfrm>
            <a:off x="533400" y="5859463"/>
            <a:ext cx="457200" cy="4556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31" name="Text Box 63"/>
          <p:cNvSpPr txBox="1"/>
          <p:nvPr/>
        </p:nvSpPr>
        <p:spPr>
          <a:xfrm>
            <a:off x="1433513" y="304800"/>
            <a:ext cx="9144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均匀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32" name="Text Box 64"/>
          <p:cNvSpPr txBox="1"/>
          <p:nvPr/>
        </p:nvSpPr>
        <p:spPr>
          <a:xfrm>
            <a:off x="533400" y="469900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细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60" name="Freeform 92"/>
          <p:cNvSpPr/>
          <p:nvPr/>
        </p:nvSpPr>
        <p:spPr>
          <a:xfrm>
            <a:off x="2209800" y="768350"/>
            <a:ext cx="6248400" cy="4192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3936" h="2016">
                <a:moveTo>
                  <a:pt x="0" y="0"/>
                </a:moveTo>
                <a:cubicBezTo>
                  <a:pt x="760" y="80"/>
                  <a:pt x="1520" y="160"/>
                  <a:pt x="2016" y="288"/>
                </a:cubicBezTo>
                <a:cubicBezTo>
                  <a:pt x="2512" y="416"/>
                  <a:pt x="2656" y="480"/>
                  <a:pt x="2976" y="768"/>
                </a:cubicBezTo>
                <a:cubicBezTo>
                  <a:pt x="3296" y="1056"/>
                  <a:pt x="3616" y="1536"/>
                  <a:pt x="3936" y="20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063" name="Text Box 95"/>
          <p:cNvSpPr txBox="1"/>
          <p:nvPr/>
        </p:nvSpPr>
        <p:spPr>
          <a:xfrm>
            <a:off x="8388350" y="4714875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64" name="Text Box 96"/>
          <p:cNvSpPr txBox="1"/>
          <p:nvPr/>
        </p:nvSpPr>
        <p:spPr>
          <a:xfrm>
            <a:off x="6553200" y="1566863"/>
            <a:ext cx="106680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退火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65" name="Text Box 97"/>
          <p:cNvSpPr txBox="1"/>
          <p:nvPr/>
        </p:nvSpPr>
        <p:spPr>
          <a:xfrm>
            <a:off x="6824663" y="1995488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炉冷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66" name="Freeform 98"/>
          <p:cNvSpPr/>
          <p:nvPr/>
        </p:nvSpPr>
        <p:spPr>
          <a:xfrm>
            <a:off x="2209800" y="768350"/>
            <a:ext cx="5105400" cy="4692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3216" h="2256">
                <a:moveTo>
                  <a:pt x="0" y="0"/>
                </a:moveTo>
                <a:cubicBezTo>
                  <a:pt x="492" y="156"/>
                  <a:pt x="984" y="312"/>
                  <a:pt x="1344" y="480"/>
                </a:cubicBezTo>
                <a:cubicBezTo>
                  <a:pt x="1704" y="648"/>
                  <a:pt x="1848" y="712"/>
                  <a:pt x="2160" y="1008"/>
                </a:cubicBezTo>
                <a:cubicBezTo>
                  <a:pt x="2472" y="1304"/>
                  <a:pt x="2844" y="1780"/>
                  <a:pt x="3216" y="22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067" name="Text Box 99"/>
          <p:cNvSpPr txBox="1"/>
          <p:nvPr/>
        </p:nvSpPr>
        <p:spPr>
          <a:xfrm>
            <a:off x="5257800" y="2265363"/>
            <a:ext cx="106680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正火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68" name="Text Box 100"/>
          <p:cNvSpPr txBox="1"/>
          <p:nvPr/>
        </p:nvSpPr>
        <p:spPr>
          <a:xfrm>
            <a:off x="5715000" y="2665413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空冷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69" name="Text Box 101"/>
          <p:cNvSpPr txBox="1"/>
          <p:nvPr/>
        </p:nvSpPr>
        <p:spPr>
          <a:xfrm>
            <a:off x="7239000" y="5260975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70" name="Freeform 102"/>
          <p:cNvSpPr/>
          <p:nvPr/>
        </p:nvSpPr>
        <p:spPr>
          <a:xfrm>
            <a:off x="2209800" y="742950"/>
            <a:ext cx="1905000" cy="4870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584" h="2352">
                <a:moveTo>
                  <a:pt x="0" y="0"/>
                </a:moveTo>
                <a:cubicBezTo>
                  <a:pt x="324" y="236"/>
                  <a:pt x="648" y="472"/>
                  <a:pt x="912" y="864"/>
                </a:cubicBezTo>
                <a:cubicBezTo>
                  <a:pt x="1176" y="1256"/>
                  <a:pt x="1380" y="1804"/>
                  <a:pt x="1584" y="23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071" name="Text Box 103"/>
          <p:cNvSpPr txBox="1"/>
          <p:nvPr/>
        </p:nvSpPr>
        <p:spPr>
          <a:xfrm>
            <a:off x="3859213" y="3121025"/>
            <a:ext cx="1066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淬火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72" name="Text Box 104"/>
          <p:cNvSpPr txBox="1"/>
          <p:nvPr/>
        </p:nvSpPr>
        <p:spPr>
          <a:xfrm>
            <a:off x="4162425" y="3509963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油冷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73" name="Text Box 105"/>
          <p:cNvSpPr txBox="1"/>
          <p:nvPr/>
        </p:nvSpPr>
        <p:spPr>
          <a:xfrm>
            <a:off x="3657600" y="5622925"/>
            <a:ext cx="1447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T+M+A’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83" name="Text Box 115"/>
          <p:cNvSpPr txBox="1"/>
          <p:nvPr/>
        </p:nvSpPr>
        <p:spPr>
          <a:xfrm>
            <a:off x="2705100" y="5572125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M+A’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85" name="Text Box 117"/>
          <p:cNvSpPr txBox="1"/>
          <p:nvPr/>
        </p:nvSpPr>
        <p:spPr>
          <a:xfrm>
            <a:off x="2209800" y="4718050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水冷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2082" name="Freeform 114"/>
          <p:cNvSpPr/>
          <p:nvPr/>
        </p:nvSpPr>
        <p:spPr>
          <a:xfrm>
            <a:off x="2209800" y="762000"/>
            <a:ext cx="914400" cy="4870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384" h="2352">
                <a:moveTo>
                  <a:pt x="0" y="0"/>
                </a:moveTo>
                <a:cubicBezTo>
                  <a:pt x="40" y="92"/>
                  <a:pt x="80" y="184"/>
                  <a:pt x="144" y="576"/>
                </a:cubicBezTo>
                <a:cubicBezTo>
                  <a:pt x="208" y="968"/>
                  <a:pt x="296" y="1660"/>
                  <a:pt x="384" y="23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084" name="Text Box 116"/>
          <p:cNvSpPr txBox="1"/>
          <p:nvPr/>
        </p:nvSpPr>
        <p:spPr>
          <a:xfrm>
            <a:off x="2133600" y="4397375"/>
            <a:ext cx="1066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淬火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51"/>
          <p:cNvGrpSpPr/>
          <p:nvPr/>
        </p:nvGrpSpPr>
        <p:grpSpPr>
          <a:xfrm>
            <a:off x="457200" y="484188"/>
            <a:ext cx="8366125" cy="6372225"/>
            <a:chOff x="288" y="305"/>
            <a:chExt cx="5270" cy="4014"/>
          </a:xfrm>
        </p:grpSpPr>
        <p:grpSp>
          <p:nvGrpSpPr>
            <p:cNvPr id="89112" name="Group 147"/>
            <p:cNvGrpSpPr/>
            <p:nvPr/>
          </p:nvGrpSpPr>
          <p:grpSpPr>
            <a:xfrm>
              <a:off x="288" y="305"/>
              <a:ext cx="5270" cy="4014"/>
              <a:chOff x="288" y="305"/>
              <a:chExt cx="5270" cy="4014"/>
            </a:xfrm>
          </p:grpSpPr>
          <p:grpSp>
            <p:nvGrpSpPr>
              <p:cNvPr id="89113" name="Group 143"/>
              <p:cNvGrpSpPr/>
              <p:nvPr/>
            </p:nvGrpSpPr>
            <p:grpSpPr>
              <a:xfrm>
                <a:off x="288" y="305"/>
                <a:ext cx="5270" cy="4014"/>
                <a:chOff x="288" y="305"/>
                <a:chExt cx="5270" cy="4014"/>
              </a:xfrm>
            </p:grpSpPr>
            <p:grpSp>
              <p:nvGrpSpPr>
                <p:cNvPr id="89114" name="Group 66"/>
                <p:cNvGrpSpPr/>
                <p:nvPr/>
              </p:nvGrpSpPr>
              <p:grpSpPr>
                <a:xfrm>
                  <a:off x="288" y="305"/>
                  <a:ext cx="5270" cy="4014"/>
                  <a:chOff x="288" y="1255"/>
                  <a:chExt cx="5270" cy="3064"/>
                </a:xfrm>
              </p:grpSpPr>
              <p:grpSp>
                <p:nvGrpSpPr>
                  <p:cNvPr id="89115" name="Group 67"/>
                  <p:cNvGrpSpPr/>
                  <p:nvPr/>
                </p:nvGrpSpPr>
                <p:grpSpPr>
                  <a:xfrm>
                    <a:off x="1016" y="1255"/>
                    <a:ext cx="4542" cy="3064"/>
                    <a:chOff x="1028" y="1104"/>
                    <a:chExt cx="4542" cy="3064"/>
                  </a:xfrm>
                </p:grpSpPr>
                <p:grpSp>
                  <p:nvGrpSpPr>
                    <p:cNvPr id="89116" name="Group 68"/>
                    <p:cNvGrpSpPr/>
                    <p:nvPr/>
                  </p:nvGrpSpPr>
                  <p:grpSpPr>
                    <a:xfrm>
                      <a:off x="1028" y="1104"/>
                      <a:ext cx="4542" cy="3064"/>
                      <a:chOff x="450" y="1248"/>
                      <a:chExt cx="4542" cy="3064"/>
                    </a:xfrm>
                  </p:grpSpPr>
                  <p:grpSp>
                    <p:nvGrpSpPr>
                      <p:cNvPr id="89117" name="Group 69"/>
                      <p:cNvGrpSpPr/>
                      <p:nvPr/>
                    </p:nvGrpSpPr>
                    <p:grpSpPr>
                      <a:xfrm>
                        <a:off x="450" y="1248"/>
                        <a:ext cx="4542" cy="2832"/>
                        <a:chOff x="450" y="1248"/>
                        <a:chExt cx="4542" cy="2832"/>
                      </a:xfrm>
                    </p:grpSpPr>
                    <p:grpSp>
                      <p:nvGrpSpPr>
                        <p:cNvPr id="89118" name="Group 70"/>
                        <p:cNvGrpSpPr/>
                        <p:nvPr/>
                      </p:nvGrpSpPr>
                      <p:grpSpPr>
                        <a:xfrm>
                          <a:off x="816" y="1248"/>
                          <a:ext cx="4176" cy="2832"/>
                          <a:chOff x="816" y="1248"/>
                          <a:chExt cx="4176" cy="2832"/>
                        </a:xfrm>
                      </p:grpSpPr>
                      <p:grpSp>
                        <p:nvGrpSpPr>
                          <p:cNvPr id="89119" name="Group 71"/>
                          <p:cNvGrpSpPr/>
                          <p:nvPr/>
                        </p:nvGrpSpPr>
                        <p:grpSpPr>
                          <a:xfrm>
                            <a:off x="816" y="1248"/>
                            <a:ext cx="4176" cy="2832"/>
                            <a:chOff x="816" y="1248"/>
                            <a:chExt cx="4176" cy="2832"/>
                          </a:xfrm>
                        </p:grpSpPr>
                        <p:sp>
                          <p:nvSpPr>
                            <p:cNvPr id="89120" name="Line 72"/>
                            <p:cNvSpPr/>
                            <p:nvPr/>
                          </p:nvSpPr>
                          <p:spPr>
                            <a:xfrm>
                              <a:off x="816" y="1248"/>
                              <a:ext cx="0" cy="2832"/>
                            </a:xfrm>
                            <a:prstGeom prst="line">
                              <a:avLst/>
                            </a:prstGeom>
                            <a:ln w="31750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</p:spPr>
                        </p:sp>
                        <p:sp>
                          <p:nvSpPr>
                            <p:cNvPr id="89121" name="Line 73"/>
                            <p:cNvSpPr/>
                            <p:nvPr/>
                          </p:nvSpPr>
                          <p:spPr>
                            <a:xfrm>
                              <a:off x="816" y="4080"/>
                              <a:ext cx="4176" cy="0"/>
                            </a:xfrm>
                            <a:prstGeom prst="line">
                              <a:avLst/>
                            </a:prstGeom>
                            <a:ln w="31750" cap="flat" cmpd="sng">
                              <a:solidFill>
                                <a:schemeClr val="tx1"/>
                              </a:solidFill>
                              <a:prstDash val="solid"/>
                              <a:round/>
                              <a:headEnd type="none" w="med" len="med"/>
                              <a:tailEnd type="none" w="med" len="med"/>
                            </a:ln>
                          </p:spPr>
                        </p:sp>
                      </p:grpSp>
                      <p:sp>
                        <p:nvSpPr>
                          <p:cNvPr id="89122" name="Line 74"/>
                          <p:cNvSpPr/>
                          <p:nvPr/>
                        </p:nvSpPr>
                        <p:spPr>
                          <a:xfrm>
                            <a:off x="816" y="1584"/>
                            <a:ext cx="3936" cy="0"/>
                          </a:xfrm>
                          <a:prstGeom prst="line">
                            <a:avLst/>
                          </a:prstGeom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sp>
                      <p:sp>
                        <p:nvSpPr>
                          <p:cNvPr id="89123" name="Line 75"/>
                          <p:cNvSpPr/>
                          <p:nvPr/>
                        </p:nvSpPr>
                        <p:spPr>
                          <a:xfrm>
                            <a:off x="816" y="3888"/>
                            <a:ext cx="4128" cy="0"/>
                          </a:xfrm>
                          <a:prstGeom prst="line">
                            <a:avLst/>
                          </a:prstGeom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sp>
                      <p:sp>
                        <p:nvSpPr>
                          <p:cNvPr id="89124" name="Line 76"/>
                          <p:cNvSpPr/>
                          <p:nvPr/>
                        </p:nvSpPr>
                        <p:spPr>
                          <a:xfrm flipV="1">
                            <a:off x="816" y="3504"/>
                            <a:ext cx="4032" cy="0"/>
                          </a:xfrm>
                          <a:prstGeom prst="line">
                            <a:avLst/>
                          </a:prstGeom>
                          <a:ln w="9525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sp>
                    </p:grpSp>
                    <p:sp>
                      <p:nvSpPr>
                        <p:cNvPr id="89125" name="Text Box 77"/>
                        <p:cNvSpPr txBox="1"/>
                        <p:nvPr/>
                      </p:nvSpPr>
                      <p:spPr>
                        <a:xfrm>
                          <a:off x="509" y="1423"/>
                          <a:ext cx="384" cy="2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>
                          <a:spAutoFit/>
                        </a:bodyPr>
                        <a:lstStyle/>
                        <a:p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A</a:t>
                          </a:r>
                          <a:r>
                            <a:rPr lang="en-US" altLang="zh-CN" sz="2400" baseline="-25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1</a:t>
                          </a:r>
                          <a:endParaRPr lang="en-US" altLang="zh-CN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89126" name="Text Box 78"/>
                        <p:cNvSpPr txBox="1"/>
                        <p:nvPr/>
                      </p:nvSpPr>
                      <p:spPr>
                        <a:xfrm>
                          <a:off x="458" y="3360"/>
                          <a:ext cx="384" cy="2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>
                          <a:spAutoFit/>
                        </a:bodyPr>
                        <a:lstStyle/>
                        <a:p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M</a:t>
                          </a:r>
                          <a:r>
                            <a:rPr lang="en-US" altLang="zh-CN" sz="2400" baseline="-25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S</a:t>
                          </a:r>
                          <a:endParaRPr lang="en-US" altLang="zh-CN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89127" name="Text Box 79"/>
                        <p:cNvSpPr txBox="1"/>
                        <p:nvPr/>
                      </p:nvSpPr>
                      <p:spPr>
                        <a:xfrm>
                          <a:off x="450" y="3744"/>
                          <a:ext cx="384" cy="2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anchor="t">
                          <a:spAutoFit/>
                        </a:bodyPr>
                        <a:lstStyle/>
                        <a:p>
                          <a:r>
                            <a:rPr lang="en-US" altLang="zh-CN" sz="2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M</a:t>
                          </a:r>
                          <a:r>
                            <a:rPr lang="en-US" altLang="zh-CN" sz="2400" baseline="-25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f</a:t>
                          </a:r>
                          <a:endParaRPr lang="en-US" altLang="zh-CN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</p:grpSp>
                  <p:sp>
                    <p:nvSpPr>
                      <p:cNvPr id="89128" name="Text Box 80"/>
                      <p:cNvSpPr txBox="1"/>
                      <p:nvPr/>
                    </p:nvSpPr>
                    <p:spPr>
                      <a:xfrm>
                        <a:off x="3709" y="4120"/>
                        <a:ext cx="1008" cy="19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时间</a:t>
                        </a:r>
                        <a:endPara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89129" name="Freeform 81"/>
                    <p:cNvSpPr/>
                    <p:nvPr/>
                  </p:nvSpPr>
                  <p:spPr>
                    <a:xfrm>
                      <a:off x="1657" y="1441"/>
                      <a:ext cx="2336" cy="1920"/>
                    </a:xfrm>
                    <a:custGeom>
                      <a:avLst/>
                      <a:gdLst/>
                      <a:ahLst/>
                      <a:cxnLst>
                        <a:cxn ang="0">
                          <a:pos x="2336" y="0"/>
                        </a:cxn>
                        <a:cxn ang="0">
                          <a:pos x="368" y="336"/>
                        </a:cxn>
                        <a:cxn ang="0">
                          <a:pos x="272" y="864"/>
                        </a:cxn>
                        <a:cxn ang="0">
                          <a:pos x="2000" y="1920"/>
                        </a:cxn>
                      </a:cxnLst>
                      <a:rect l="0" t="0" r="0" b="0"/>
                      <a:pathLst>
                        <a:path w="2336" h="1920">
                          <a:moveTo>
                            <a:pt x="2336" y="0"/>
                          </a:moveTo>
                          <a:cubicBezTo>
                            <a:pt x="1524" y="96"/>
                            <a:pt x="712" y="192"/>
                            <a:pt x="368" y="336"/>
                          </a:cubicBezTo>
                          <a:cubicBezTo>
                            <a:pt x="24" y="480"/>
                            <a:pt x="0" y="600"/>
                            <a:pt x="272" y="864"/>
                          </a:cubicBezTo>
                          <a:cubicBezTo>
                            <a:pt x="544" y="1128"/>
                            <a:pt x="1272" y="1524"/>
                            <a:pt x="2000" y="1920"/>
                          </a:cubicBezTo>
                        </a:path>
                      </a:pathLst>
                    </a:custGeom>
                    <a:noFill/>
                    <a:ln w="31750" cap="flat" cmpd="sng">
                      <a:solidFill>
                        <a:srgbClr val="66F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130" name="Freeform 82"/>
                    <p:cNvSpPr/>
                    <p:nvPr/>
                  </p:nvSpPr>
                  <p:spPr>
                    <a:xfrm>
                      <a:off x="2273" y="1441"/>
                      <a:ext cx="2776" cy="1920"/>
                    </a:xfrm>
                    <a:custGeom>
                      <a:avLst/>
                      <a:gdLst/>
                      <a:ahLst/>
                      <a:cxnLst>
                        <a:cxn ang="0">
                          <a:pos x="2248" y="0"/>
                        </a:cxn>
                        <a:cxn ang="0">
                          <a:pos x="280" y="432"/>
                        </a:cxn>
                        <a:cxn ang="0">
                          <a:pos x="568" y="912"/>
                        </a:cxn>
                        <a:cxn ang="0">
                          <a:pos x="2776" y="1920"/>
                        </a:cxn>
                      </a:cxnLst>
                      <a:rect l="0" t="0" r="0" b="0"/>
                      <a:pathLst>
                        <a:path w="2776" h="1920">
                          <a:moveTo>
                            <a:pt x="2248" y="0"/>
                          </a:moveTo>
                          <a:cubicBezTo>
                            <a:pt x="1404" y="140"/>
                            <a:pt x="560" y="280"/>
                            <a:pt x="280" y="432"/>
                          </a:cubicBezTo>
                          <a:cubicBezTo>
                            <a:pt x="0" y="584"/>
                            <a:pt x="152" y="664"/>
                            <a:pt x="568" y="912"/>
                          </a:cubicBezTo>
                          <a:cubicBezTo>
                            <a:pt x="984" y="1160"/>
                            <a:pt x="1880" y="1540"/>
                            <a:pt x="2776" y="1920"/>
                          </a:cubicBezTo>
                        </a:path>
                      </a:pathLst>
                    </a:custGeom>
                    <a:noFill/>
                    <a:ln w="317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9131" name="Line 83"/>
                  <p:cNvSpPr/>
                  <p:nvPr/>
                </p:nvSpPr>
                <p:spPr>
                  <a:xfrm>
                    <a:off x="288" y="1255"/>
                    <a:ext cx="0" cy="2832"/>
                  </a:xfrm>
                  <a:prstGeom prst="line">
                    <a:avLst/>
                  </a:prstGeom>
                  <a:ln w="317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9132" name="Line 84"/>
                  <p:cNvSpPr/>
                  <p:nvPr/>
                </p:nvSpPr>
                <p:spPr>
                  <a:xfrm flipH="1">
                    <a:off x="288" y="4087"/>
                    <a:ext cx="1104" cy="0"/>
                  </a:xfrm>
                  <a:prstGeom prst="line">
                    <a:avLst/>
                  </a:prstGeom>
                  <a:ln w="317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89133" name="Group 142"/>
                <p:cNvGrpSpPr/>
                <p:nvPr/>
              </p:nvGrpSpPr>
              <p:grpSpPr>
                <a:xfrm>
                  <a:off x="1752" y="768"/>
                  <a:ext cx="2808" cy="1094"/>
                  <a:chOff x="1752" y="768"/>
                  <a:chExt cx="2808" cy="1094"/>
                </a:xfrm>
              </p:grpSpPr>
              <p:sp>
                <p:nvSpPr>
                  <p:cNvPr id="89134" name="Freeform 86"/>
                  <p:cNvSpPr/>
                  <p:nvPr/>
                </p:nvSpPr>
                <p:spPr>
                  <a:xfrm>
                    <a:off x="1752" y="768"/>
                    <a:ext cx="2280" cy="1070"/>
                  </a:xfrm>
                  <a:custGeom>
                    <a:avLst/>
                    <a:gdLst/>
                    <a:ahLst/>
                    <a:cxnLst>
                      <a:cxn ang="0">
                        <a:pos x="1384" y="0"/>
                      </a:cxn>
                      <a:cxn ang="0">
                        <a:pos x="198" y="3033"/>
                      </a:cxn>
                      <a:cxn ang="0">
                        <a:pos x="198" y="6071"/>
                      </a:cxn>
                    </a:cxnLst>
                    <a:rect l="0" t="0" r="0" b="0"/>
                    <a:pathLst>
                      <a:path w="2352" h="960">
                        <a:moveTo>
                          <a:pt x="2352" y="0"/>
                        </a:moveTo>
                        <a:cubicBezTo>
                          <a:pt x="1512" y="160"/>
                          <a:pt x="672" y="320"/>
                          <a:pt x="336" y="480"/>
                        </a:cubicBezTo>
                        <a:cubicBezTo>
                          <a:pt x="0" y="640"/>
                          <a:pt x="168" y="800"/>
                          <a:pt x="336" y="96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folHlink"/>
                    </a:solidFill>
                    <a:prstDash val="lgDash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9135" name="Freeform 87"/>
                  <p:cNvSpPr/>
                  <p:nvPr/>
                </p:nvSpPr>
                <p:spPr>
                  <a:xfrm>
                    <a:off x="2480" y="768"/>
                    <a:ext cx="2080" cy="768"/>
                  </a:xfrm>
                  <a:custGeom>
                    <a:avLst/>
                    <a:gdLst/>
                    <a:ahLst/>
                    <a:cxnLst>
                      <a:cxn ang="0">
                        <a:pos x="2080" y="0"/>
                      </a:cxn>
                      <a:cxn ang="0">
                        <a:pos x="304" y="1436"/>
                      </a:cxn>
                      <a:cxn ang="0">
                        <a:pos x="256" y="2155"/>
                      </a:cxn>
                    </a:cxnLst>
                    <a:rect l="0" t="0" r="0" b="0"/>
                    <a:pathLst>
                      <a:path w="2080" h="720">
                        <a:moveTo>
                          <a:pt x="2080" y="0"/>
                        </a:moveTo>
                        <a:cubicBezTo>
                          <a:pt x="1344" y="180"/>
                          <a:pt x="608" y="360"/>
                          <a:pt x="304" y="480"/>
                        </a:cubicBezTo>
                        <a:cubicBezTo>
                          <a:pt x="0" y="600"/>
                          <a:pt x="264" y="680"/>
                          <a:pt x="256" y="72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folHlink"/>
                    </a:solidFill>
                    <a:prstDash val="lgDash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9136" name="Line 88"/>
                  <p:cNvSpPr/>
                  <p:nvPr/>
                </p:nvSpPr>
                <p:spPr>
                  <a:xfrm flipV="1">
                    <a:off x="2112" y="1536"/>
                    <a:ext cx="576" cy="326"/>
                  </a:xfrm>
                  <a:prstGeom prst="line">
                    <a:avLst/>
                  </a:prstGeom>
                  <a:ln w="9525" cap="flat" cmpd="sng">
                    <a:solidFill>
                      <a:schemeClr val="folHlink"/>
                    </a:solidFill>
                    <a:prstDash val="lgDash"/>
                    <a:round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89137" name="Line 144"/>
              <p:cNvSpPr/>
              <p:nvPr/>
            </p:nvSpPr>
            <p:spPr>
              <a:xfrm>
                <a:off x="1392" y="996"/>
                <a:ext cx="2688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8" name="Line 145"/>
              <p:cNvSpPr/>
              <p:nvPr/>
            </p:nvSpPr>
            <p:spPr>
              <a:xfrm>
                <a:off x="1392" y="1248"/>
                <a:ext cx="2592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9139" name="Line 146"/>
              <p:cNvSpPr/>
              <p:nvPr/>
            </p:nvSpPr>
            <p:spPr>
              <a:xfrm>
                <a:off x="1380" y="1488"/>
                <a:ext cx="2160" cy="0"/>
              </a:xfrm>
              <a:prstGeom prst="line">
                <a:avLst/>
              </a:prstGeom>
              <a:ln w="952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89140" name="Text Box 148"/>
            <p:cNvSpPr txBox="1"/>
            <p:nvPr/>
          </p:nvSpPr>
          <p:spPr>
            <a:xfrm>
              <a:off x="960" y="912"/>
              <a:ext cx="48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600" dirty="0">
                  <a:solidFill>
                    <a:srgbClr val="CCFF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650℃</a:t>
              </a:r>
              <a:endParaRPr lang="en-US" altLang="zh-CN" sz="1600" dirty="0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141" name="Text Box 149"/>
            <p:cNvSpPr txBox="1"/>
            <p:nvPr/>
          </p:nvSpPr>
          <p:spPr>
            <a:xfrm>
              <a:off x="960" y="1152"/>
              <a:ext cx="48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600" dirty="0">
                  <a:solidFill>
                    <a:srgbClr val="CCFF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600℃</a:t>
              </a:r>
              <a:endParaRPr lang="en-US" altLang="zh-CN" sz="1600" dirty="0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142" name="Text Box 150"/>
            <p:cNvSpPr txBox="1"/>
            <p:nvPr/>
          </p:nvSpPr>
          <p:spPr>
            <a:xfrm>
              <a:off x="960" y="1392"/>
              <a:ext cx="48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600" dirty="0">
                  <a:solidFill>
                    <a:srgbClr val="CCFF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550℃</a:t>
              </a:r>
              <a:endParaRPr lang="en-US" altLang="zh-CN" sz="1600" dirty="0">
                <a:solidFill>
                  <a:srgbClr val="CCFF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9144" name="日期占位符 1"/>
          <p:cNvSpPr>
            <a:spLocks noGrp="1"/>
          </p:cNvSpPr>
          <p:nvPr>
            <p:ph type="dt" sz="half" idx="10"/>
          </p:nvPr>
        </p:nvSpPr>
        <p:spPr>
          <a:xfrm>
            <a:off x="-15875" y="650875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5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397240" y="-903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1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1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1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1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1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1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030" grpId="0"/>
      <p:bldP spid="212031" grpId="0"/>
      <p:bldP spid="212032" grpId="0"/>
      <p:bldP spid="212063" grpId="0"/>
      <p:bldP spid="212064" grpId="0"/>
      <p:bldP spid="212065" grpId="0"/>
      <p:bldP spid="212067" grpId="0"/>
      <p:bldP spid="212068" grpId="0"/>
      <p:bldP spid="212069" grpId="0"/>
      <p:bldP spid="212071" grpId="0"/>
      <p:bldP spid="212072" grpId="0"/>
      <p:bldP spid="212073" grpId="0"/>
      <p:bldP spid="212083" grpId="0"/>
      <p:bldP spid="212085" grpId="0"/>
      <p:bldP spid="212084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4738" y="6581775"/>
            <a:ext cx="455612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grpSp>
        <p:nvGrpSpPr>
          <p:cNvPr id="2" name="Group 5"/>
          <p:cNvGrpSpPr>
            <a:grpSpLocks noChangeAspect="1"/>
          </p:cNvGrpSpPr>
          <p:nvPr/>
        </p:nvGrpSpPr>
        <p:grpSpPr>
          <a:xfrm>
            <a:off x="2786380" y="1022350"/>
            <a:ext cx="4946650" cy="5403850"/>
            <a:chOff x="2880" y="854"/>
            <a:chExt cx="2736" cy="3228"/>
          </a:xfrm>
        </p:grpSpPr>
        <p:grpSp>
          <p:nvGrpSpPr>
            <p:cNvPr id="90118" name="Group 7"/>
            <p:cNvGrpSpPr>
              <a:grpSpLocks noChangeAspect="1"/>
            </p:cNvGrpSpPr>
            <p:nvPr/>
          </p:nvGrpSpPr>
          <p:grpSpPr>
            <a:xfrm>
              <a:off x="2880" y="854"/>
              <a:ext cx="2736" cy="3228"/>
              <a:chOff x="3156" y="973"/>
              <a:chExt cx="2508" cy="2815"/>
            </a:xfrm>
          </p:grpSpPr>
          <p:pic>
            <p:nvPicPr>
              <p:cNvPr id="90119" name="Picture 8" descr="共析钢CCT曲线1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157" y="973"/>
                <a:ext cx="2507" cy="2396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90120" name="Rectangle 9"/>
              <p:cNvSpPr>
                <a:spLocks noChangeAspect="1"/>
              </p:cNvSpPr>
              <p:nvPr/>
            </p:nvSpPr>
            <p:spPr>
              <a:xfrm>
                <a:off x="3156" y="3394"/>
                <a:ext cx="2484" cy="394"/>
              </a:xfrm>
              <a:prstGeom prst="rect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用</a:t>
                </a: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TTT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曲线定性说明共析钢连续冷却时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>
                  <a:spcBef>
                    <a:spcPct val="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的组织转变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121" name="Text Box 10"/>
              <p:cNvSpPr txBox="1">
                <a:spLocks noChangeAspect="1"/>
              </p:cNvSpPr>
              <p:nvPr/>
            </p:nvSpPr>
            <p:spPr>
              <a:xfrm>
                <a:off x="4793" y="973"/>
                <a:ext cx="380" cy="1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炉冷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122" name="Text Box 11"/>
              <p:cNvSpPr txBox="1">
                <a:spLocks noChangeAspect="1"/>
              </p:cNvSpPr>
              <p:nvPr/>
            </p:nvSpPr>
            <p:spPr>
              <a:xfrm>
                <a:off x="4482" y="1141"/>
                <a:ext cx="376" cy="17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空冷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123" name="Text Box 12"/>
              <p:cNvSpPr txBox="1">
                <a:spLocks noChangeAspect="1"/>
              </p:cNvSpPr>
              <p:nvPr/>
            </p:nvSpPr>
            <p:spPr>
              <a:xfrm>
                <a:off x="3984" y="1799"/>
                <a:ext cx="192" cy="2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lnSpc>
                    <a:spcPct val="60000"/>
                  </a:lnSpc>
                </a:pPr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油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60000"/>
                  </a:lnSpc>
                </a:pPr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冷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124" name="Text Box 13"/>
              <p:cNvSpPr txBox="1">
                <a:spLocks noChangeAspect="1"/>
              </p:cNvSpPr>
              <p:nvPr/>
            </p:nvSpPr>
            <p:spPr>
              <a:xfrm>
                <a:off x="3750" y="1801"/>
                <a:ext cx="234" cy="265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>
                  <a:lnSpc>
                    <a:spcPct val="60000"/>
                  </a:lnSpc>
                </a:pPr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水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60000"/>
                  </a:lnSpc>
                </a:pPr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冷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0126" name="Rectangle 15"/>
            <p:cNvSpPr>
              <a:spLocks noChangeAspect="1"/>
            </p:cNvSpPr>
            <p:nvPr/>
          </p:nvSpPr>
          <p:spPr>
            <a:xfrm>
              <a:off x="5184" y="1632"/>
              <a:ext cx="288" cy="7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127" name="Rectangle 16"/>
            <p:cNvSpPr>
              <a:spLocks noChangeAspect="1"/>
            </p:cNvSpPr>
            <p:nvPr/>
          </p:nvSpPr>
          <p:spPr>
            <a:xfrm>
              <a:off x="4656" y="1896"/>
              <a:ext cx="288" cy="7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128" name="Rectangle 17"/>
            <p:cNvSpPr>
              <a:spLocks noChangeAspect="1"/>
            </p:cNvSpPr>
            <p:nvPr/>
          </p:nvSpPr>
          <p:spPr>
            <a:xfrm>
              <a:off x="4176" y="2976"/>
              <a:ext cx="1008" cy="96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T+M+A’</a:t>
              </a:r>
              <a:endPara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129" name="Rectangle 18"/>
            <p:cNvSpPr>
              <a:spLocks noChangeAspect="1"/>
            </p:cNvSpPr>
            <p:nvPr/>
          </p:nvSpPr>
          <p:spPr>
            <a:xfrm>
              <a:off x="3240" y="3000"/>
              <a:ext cx="672" cy="96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M+A’</a:t>
              </a:r>
              <a:endPara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0131" name="日期占位符 1"/>
          <p:cNvSpPr>
            <a:spLocks noGrp="1"/>
          </p:cNvSpPr>
          <p:nvPr>
            <p:ph type="dt" sz="half" idx="10"/>
          </p:nvPr>
        </p:nvSpPr>
        <p:spPr>
          <a:xfrm>
            <a:off x="77788" y="65151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86750" y="6581775"/>
            <a:ext cx="457200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25" y="0"/>
            <a:ext cx="820737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过共析钢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和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亚共析钢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的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CCT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曲线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1139" name="Rectangle 3"/>
          <p:cNvSpPr>
            <a:spLocks noGrp="1"/>
          </p:cNvSpPr>
          <p:nvPr>
            <p:ph idx="1"/>
          </p:nvPr>
        </p:nvSpPr>
        <p:spPr>
          <a:xfrm>
            <a:off x="142875" y="1000125"/>
            <a:ext cx="9001125" cy="509587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过共析钢：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CCT</a:t>
            </a:r>
            <a:r>
              <a:rPr lang="zh-CN" altLang="en-US" sz="2800" b="1" dirty="0">
                <a:ea typeface="华文中宋" panose="02010600040101010101" pitchFamily="2" charset="-122"/>
              </a:rPr>
              <a:t>曲线也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无贝氏体转变区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但比共析钢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CCT</a:t>
            </a:r>
            <a:r>
              <a:rPr lang="zh-CN" altLang="en-US" sz="2800" b="1" dirty="0">
                <a:ea typeface="华文中宋" panose="02010600040101010101" pitchFamily="2" charset="-122"/>
              </a:rPr>
              <a:t>曲线多一条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A→Fe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ea typeface="华文中宋" panose="02010600040101010101" pitchFamily="2" charset="-122"/>
              </a:rPr>
              <a:t>转变开始线。由于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ea typeface="华文中宋" panose="02010600040101010101" pitchFamily="2" charset="-122"/>
              </a:rPr>
              <a:t>的析出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奥氏体中含碳量下降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因而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Ms</a:t>
            </a:r>
            <a:r>
              <a:rPr lang="en-US" altLang="zh-CN" sz="2800" b="1" dirty="0"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ea typeface="华文中宋" panose="02010600040101010101" pitchFamily="2" charset="-122"/>
              </a:rPr>
              <a:t>线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右端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升高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亚共析钢：</a:t>
            </a:r>
            <a:r>
              <a:rPr lang="en-US" altLang="zh-CN" sz="2800" b="1" dirty="0">
                <a:solidFill>
                  <a:srgbClr val="00FF00"/>
                </a:solidFill>
                <a:ea typeface="华文中宋" panose="02010600040101010101" pitchFamily="2" charset="-122"/>
              </a:rPr>
              <a:t>CCT </a:t>
            </a:r>
            <a:r>
              <a:rPr lang="zh-CN" altLang="en-US" sz="2800" b="1" dirty="0">
                <a:ea typeface="华文中宋" panose="02010600040101010101" pitchFamily="2" charset="-122"/>
              </a:rPr>
              <a:t>曲线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有贝氏体转变区，还多A→F开始线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en-US" altLang="zh-CN" sz="2800" b="1" dirty="0">
                <a:solidFill>
                  <a:srgbClr val="00FF00"/>
                </a:solidFill>
                <a:ea typeface="华文中宋" panose="02010600040101010101" pitchFamily="2" charset="-122"/>
              </a:rPr>
              <a:t>F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析出使</a:t>
            </a:r>
            <a:r>
              <a:rPr lang="en-US" altLang="zh-CN" sz="2800" b="1" dirty="0">
                <a:solidFill>
                  <a:srgbClr val="00FF00"/>
                </a:solidFill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含碳量升高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因而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Ms</a:t>
            </a:r>
            <a:r>
              <a:rPr lang="en-US" altLang="zh-CN" sz="2800" b="1" dirty="0">
                <a:solidFill>
                  <a:srgbClr val="00FF00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ea typeface="华文中宋" panose="02010600040101010101" pitchFamily="2" charset="-122"/>
              </a:rPr>
              <a:t>线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右端</a:t>
            </a:r>
            <a:r>
              <a:rPr lang="zh-CN" altLang="en-US" sz="2800" b="1" dirty="0">
                <a:solidFill>
                  <a:srgbClr val="FF0000"/>
                </a:solidFill>
                <a:ea typeface="华文中宋" panose="02010600040101010101" pitchFamily="2" charset="-122"/>
              </a:rPr>
              <a:t>下降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sz="2800" b="1" dirty="0">
              <a:ea typeface="华文中宋" panose="02010600040101010101" pitchFamily="2" charset="-122"/>
            </a:endParaRPr>
          </a:p>
        </p:txBody>
      </p:sp>
      <p:pic>
        <p:nvPicPr>
          <p:cNvPr id="91140" name="Picture 4" descr="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00125" y="3643313"/>
            <a:ext cx="7556500" cy="237490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1141" name="Text Box 5"/>
          <p:cNvSpPr txBox="1">
            <a:spLocks noChangeAspect="1"/>
          </p:cNvSpPr>
          <p:nvPr/>
        </p:nvSpPr>
        <p:spPr>
          <a:xfrm>
            <a:off x="1746785" y="6072188"/>
            <a:ext cx="2811462" cy="369332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lstStyle/>
          <a:p>
            <a:pPr algn="ctr"/>
            <a:r>
              <a:rPr kumimoji="1" lang="zh-CN" altLang="en-US" dirty="0">
                <a:latin typeface="+mn-lt"/>
                <a:ea typeface="华文中宋" panose="02010600040101010101" pitchFamily="2" charset="-122"/>
              </a:rPr>
              <a:t>过共析钢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CCT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曲线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2" name="Text Box 6"/>
          <p:cNvSpPr txBox="1">
            <a:spLocks noChangeAspect="1"/>
          </p:cNvSpPr>
          <p:nvPr/>
        </p:nvSpPr>
        <p:spPr>
          <a:xfrm>
            <a:off x="5643563" y="6072188"/>
            <a:ext cx="2655887" cy="368300"/>
          </a:xfrm>
          <a:prstGeom prst="rect">
            <a:avLst/>
          </a:prstGeom>
          <a:noFill/>
          <a:ln w="38100">
            <a:noFill/>
          </a:ln>
        </p:spPr>
        <p:txBody>
          <a:bodyPr anchor="t">
            <a:spAutoFit/>
          </a:bodyPr>
          <a:lstStyle/>
          <a:p>
            <a:pPr algn="ctr"/>
            <a:r>
              <a:rPr kumimoji="1" lang="zh-CN" altLang="en-US" dirty="0">
                <a:latin typeface="+mn-lt"/>
                <a:ea typeface="华文中宋" panose="02010600040101010101" pitchFamily="2" charset="-122"/>
              </a:rPr>
              <a:t>亚共析钢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CCT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曲线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3" name="AutoShape 7">
            <a:hlinkClick r:id="rId2" action="ppaction://hlinksldjump"/>
          </p:cNvPr>
          <p:cNvSpPr/>
          <p:nvPr/>
        </p:nvSpPr>
        <p:spPr>
          <a:xfrm>
            <a:off x="8900795" y="6659880"/>
            <a:ext cx="243205" cy="198120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17145" y="90868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44307" y="6649085"/>
            <a:ext cx="499644" cy="20891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628850"/>
            <a:ext cx="8875712" cy="3024252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第四节  钢的退火与正火</a:t>
            </a:r>
            <a:br>
              <a:rPr kumimoji="1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lang="en-US" altLang="zh-CN" sz="60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Annealing and Normalizing of Steels</a:t>
            </a:r>
            <a:r>
              <a:rPr lang="zh-CN" altLang="en-US" sz="60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 </a:t>
            </a:r>
            <a:endParaRPr lang="zh-CN" altLang="en-US" sz="6000" b="1" dirty="0">
              <a:solidFill>
                <a:schemeClr val="folHlink"/>
              </a:solidFill>
              <a:latin typeface="+mn-lt"/>
              <a:ea typeface="华文中宋" panose="02010600040101010101" pitchFamily="2" charset="-122"/>
            </a:endParaRPr>
          </a:p>
        </p:txBody>
      </p:sp>
      <p:sp>
        <p:nvSpPr>
          <p:cNvPr id="3077" name="Rectangle 5"/>
          <p:cNvSpPr/>
          <p:nvPr/>
        </p:nvSpPr>
        <p:spPr>
          <a:xfrm>
            <a:off x="2214563" y="4429125"/>
            <a:ext cx="3810000" cy="4191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endParaRPr lang="en-US" altLang="zh-CN" sz="2800" dirty="0">
              <a:solidFill>
                <a:schemeClr val="accent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92165" name="AutoShape 6">
            <a:hlinkClick r:id="rId1" action="ppaction://hlinksldjump"/>
          </p:cNvPr>
          <p:cNvSpPr/>
          <p:nvPr/>
        </p:nvSpPr>
        <p:spPr>
          <a:xfrm>
            <a:off x="8893175" y="6648450"/>
            <a:ext cx="250825" cy="209550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0" y="27806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7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44307" y="6649085"/>
            <a:ext cx="499644" cy="20891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0"/>
            <a:ext cx="6910388" cy="1066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第四节  钢的退火与正火</a:t>
            </a:r>
            <a:r>
              <a: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idx="1"/>
          </p:nvPr>
        </p:nvSpPr>
        <p:spPr>
          <a:xfrm>
            <a:off x="179388" y="1412875"/>
            <a:ext cx="8713787" cy="465931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机械零件的一般加工工艺为：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毛坯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铸、锻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 →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预</a:t>
            </a:r>
            <a:r>
              <a:rPr lang="zh-CN" altLang="en-US" b="1" dirty="0">
                <a:solidFill>
                  <a:schemeClr val="folHlink"/>
                </a:solidFill>
              </a:rPr>
              <a:t>备热处理→机加工→最终热处理。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endParaRPr lang="zh-CN" altLang="en-US" b="1" dirty="0">
              <a:solidFill>
                <a:srgbClr val="CCFF66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退火</a:t>
            </a:r>
            <a:r>
              <a:rPr lang="zh-CN" altLang="en-US" b="1" dirty="0"/>
              <a:t>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正火</a:t>
            </a:r>
            <a:r>
              <a:rPr lang="zh-CN" altLang="en-US" b="1" dirty="0"/>
              <a:t>主要用于</a:t>
            </a:r>
            <a:r>
              <a:rPr lang="zh-CN" altLang="en-US" b="1" dirty="0">
                <a:solidFill>
                  <a:srgbClr val="FF0000"/>
                </a:solidFill>
              </a:rPr>
              <a:t>预备</a:t>
            </a:r>
            <a:r>
              <a:rPr lang="zh-CN" altLang="en-US" b="1" dirty="0">
                <a:solidFill>
                  <a:srgbClr val="CCFF66"/>
                </a:solidFill>
              </a:rPr>
              <a:t>热处理</a:t>
            </a:r>
            <a:r>
              <a:rPr lang="zh-CN" altLang="en-US" b="1" dirty="0"/>
              <a:t>，只有当工件性能要求不高时才作为最终热处理。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3077" name="Rectangle 5"/>
          <p:cNvSpPr/>
          <p:nvPr/>
        </p:nvSpPr>
        <p:spPr>
          <a:xfrm>
            <a:off x="2214563" y="4429125"/>
            <a:ext cx="3810000" cy="4191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endParaRPr lang="en-US" altLang="zh-CN" sz="2800" dirty="0">
              <a:solidFill>
                <a:schemeClr val="accent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92165" name="AutoShape 6">
            <a:hlinkClick r:id="rId1" action="ppaction://hlinksldjump"/>
          </p:cNvPr>
          <p:cNvSpPr/>
          <p:nvPr/>
        </p:nvSpPr>
        <p:spPr>
          <a:xfrm>
            <a:off x="8893175" y="6648450"/>
            <a:ext cx="250825" cy="209550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 advAuto="1000" build="p"/>
      <p:bldP spid="3077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57895" y="6581775"/>
            <a:ext cx="58610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3187" name="Rectangle 2"/>
          <p:cNvSpPr>
            <a:spLocks noGrp="1"/>
          </p:cNvSpPr>
          <p:nvPr>
            <p:ph type="title"/>
          </p:nvPr>
        </p:nvSpPr>
        <p:spPr>
          <a:xfrm>
            <a:off x="1763766" y="1628850"/>
            <a:ext cx="5688474" cy="2808234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一、退火</a:t>
            </a:r>
            <a:br>
              <a:rPr lang="en-US" altLang="zh-CN" sz="6600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en-US" altLang="zh-CN" sz="6600" b="1" i="1" noProof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altLang="zh-CN" sz="6600" b="1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nnealing</a:t>
            </a:r>
            <a:br>
              <a:rPr lang="en-GB" altLang="zh-CN" b="1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b="1" i="1" strike="noStrike" noProof="1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19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619875"/>
            <a:ext cx="1786255" cy="23685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27806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57895" y="6581775"/>
            <a:ext cx="586105" cy="27622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3187" name="Rectangle 2"/>
          <p:cNvSpPr>
            <a:spLocks noGrp="1"/>
          </p:cNvSpPr>
          <p:nvPr>
            <p:ph type="title"/>
          </p:nvPr>
        </p:nvSpPr>
        <p:spPr>
          <a:xfrm>
            <a:off x="2268538" y="0"/>
            <a:ext cx="4244975" cy="928688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一、退火</a:t>
            </a:r>
            <a:endParaRPr lang="zh-CN" altLang="en-US" b="1" strike="noStrike" noProof="1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>
          <a:xfrm>
            <a:off x="0" y="929005"/>
            <a:ext cx="6906260" cy="4953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定义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：将钢加热至适当温度、保温，</a:t>
            </a:r>
            <a:r>
              <a:rPr lang="zh-CN" altLang="en-US" b="1" dirty="0">
                <a:ea typeface="华文中宋" panose="02010600040101010101" pitchFamily="2" charset="-122"/>
              </a:rPr>
              <a:t>然后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缓慢冷却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（炉冷）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的热处理工艺</a:t>
            </a:r>
            <a:r>
              <a:rPr lang="zh-CN" altLang="en-US" b="1" dirty="0">
                <a:ea typeface="华文中宋" panose="02010600040101010101" pitchFamily="2" charset="-122"/>
              </a:rPr>
              <a:t>叫做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退火。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退火目的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accent1"/>
                </a:solidFill>
              </a:rPr>
              <a:t>   ⑴</a:t>
            </a:r>
            <a:r>
              <a:rPr lang="zh-CN" altLang="en-US" b="1" dirty="0">
                <a:solidFill>
                  <a:schemeClr val="folHlink"/>
                </a:solidFill>
              </a:rPr>
              <a:t>调整硬度，便于切削加工。</a:t>
            </a:r>
            <a:r>
              <a:rPr lang="zh-CN" altLang="en-US" b="1" dirty="0">
                <a:solidFill>
                  <a:srgbClr val="CCFF66"/>
                </a:solidFill>
              </a:rPr>
              <a:t>适合加工的 硬度为</a:t>
            </a:r>
            <a:r>
              <a:rPr lang="en-US" altLang="zh-CN" b="1" dirty="0">
                <a:solidFill>
                  <a:srgbClr val="CCFF66"/>
                </a:solidFill>
              </a:rPr>
              <a:t>170-250HB</a:t>
            </a:r>
            <a:r>
              <a:rPr lang="zh-CN" altLang="en-US" b="1" dirty="0">
                <a:solidFill>
                  <a:srgbClr val="CCFF66"/>
                </a:solidFill>
              </a:rPr>
              <a:t>。</a:t>
            </a:r>
            <a:endParaRPr lang="zh-CN" altLang="en-US" b="1" dirty="0">
              <a:solidFill>
                <a:schemeClr val="accent1"/>
              </a:solidFill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accent1"/>
                </a:solidFill>
              </a:rPr>
              <a:t>   ⑵ </a:t>
            </a:r>
            <a:r>
              <a:rPr lang="zh-CN" altLang="en-US" b="1" dirty="0">
                <a:solidFill>
                  <a:schemeClr val="folHlink"/>
                </a:solidFill>
              </a:rPr>
              <a:t>消除内应力，</a:t>
            </a:r>
            <a:r>
              <a:rPr lang="zh-CN" altLang="en-US" b="1" dirty="0">
                <a:solidFill>
                  <a:srgbClr val="CCFF66"/>
                </a:solidFill>
              </a:rPr>
              <a:t>防止</a:t>
            </a:r>
            <a:r>
              <a:rPr lang="zh-CN" altLang="en-US" b="1" dirty="0">
                <a:ea typeface="华文中宋" panose="02010600040101010101" pitchFamily="2" charset="-122"/>
              </a:rPr>
              <a:t>加工中</a:t>
            </a:r>
            <a:r>
              <a:rPr lang="zh-CN" altLang="en-US" b="1" dirty="0">
                <a:solidFill>
                  <a:srgbClr val="CCFF66"/>
                </a:solidFill>
              </a:rPr>
              <a:t>变形。</a:t>
            </a:r>
            <a:endParaRPr lang="zh-CN" altLang="en-US" b="1" dirty="0">
              <a:solidFill>
                <a:srgbClr val="CCFF66"/>
              </a:solidFill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chemeClr val="accent1"/>
                </a:solidFill>
              </a:rPr>
              <a:t>   ⑶</a:t>
            </a:r>
            <a:r>
              <a:rPr lang="zh-CN" altLang="en-US" b="1" dirty="0">
                <a:solidFill>
                  <a:schemeClr val="folHlink"/>
                </a:solidFill>
              </a:rPr>
              <a:t> 细化晶粒，为最终热处理作组织准备。</a:t>
            </a:r>
            <a:r>
              <a:rPr lang="zh-CN" altLang="en-US" dirty="0"/>
              <a:t>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3" name="Group 4"/>
          <p:cNvGrpSpPr/>
          <p:nvPr/>
        </p:nvGrpSpPr>
        <p:grpSpPr>
          <a:xfrm>
            <a:off x="6906260" y="2348865"/>
            <a:ext cx="2167255" cy="1249680"/>
            <a:chOff x="3243" y="668"/>
            <a:chExt cx="2251" cy="1587"/>
          </a:xfrm>
        </p:grpSpPr>
        <p:pic>
          <p:nvPicPr>
            <p:cNvPr id="93189" name="Picture 5" descr="真空退火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43" y="668"/>
              <a:ext cx="2251" cy="1537"/>
            </a:xfrm>
            <a:prstGeom prst="rect">
              <a:avLst/>
            </a:prstGeom>
            <a:noFill/>
            <a:ln w="381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93190" name="Rectangle 6"/>
            <p:cNvSpPr>
              <a:spLocks noChangeAspect="1"/>
            </p:cNvSpPr>
            <p:nvPr/>
          </p:nvSpPr>
          <p:spPr>
            <a:xfrm>
              <a:off x="4230" y="1941"/>
              <a:ext cx="1260" cy="31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真空退火炉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3192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619875"/>
            <a:ext cx="1786255" cy="23685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323850" y="1181100"/>
            <a:ext cx="105410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退火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605270"/>
            <a:ext cx="600075" cy="25273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0"/>
            <a:ext cx="545147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、退火工艺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4211" name="Rectangle 3"/>
          <p:cNvSpPr>
            <a:spLocks noGrp="1"/>
          </p:cNvSpPr>
          <p:nvPr>
            <p:ph idx="1"/>
          </p:nvPr>
        </p:nvSpPr>
        <p:spPr>
          <a:xfrm>
            <a:off x="468313" y="1125538"/>
            <a:ext cx="8134350" cy="497046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退火工艺的种类很多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常用工艺：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完全退火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等温退火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球化退火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扩散退火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去应力退火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再结晶退火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346116" name="Picture 4" descr="6-1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71750" y="3357563"/>
            <a:ext cx="4216400" cy="3248025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94214" name="日期占位符 1"/>
          <p:cNvSpPr>
            <a:spLocks noGrp="1"/>
          </p:cNvSpPr>
          <p:nvPr>
            <p:ph type="dt" sz="half" idx="10"/>
          </p:nvPr>
        </p:nvSpPr>
        <p:spPr>
          <a:xfrm>
            <a:off x="121285" y="6605270"/>
            <a:ext cx="1786255" cy="25273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97650"/>
            <a:ext cx="600075" cy="2603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700339" y="0"/>
            <a:ext cx="410384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完全退火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5235" name="Rectangle 3"/>
          <p:cNvSpPr>
            <a:spLocks noGrp="1"/>
          </p:cNvSpPr>
          <p:nvPr>
            <p:ph idx="1"/>
          </p:nvPr>
        </p:nvSpPr>
        <p:spPr>
          <a:xfrm>
            <a:off x="468313" y="1125538"/>
            <a:ext cx="7989887" cy="489743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工艺：</a:t>
            </a:r>
            <a:r>
              <a:rPr lang="zh-CN" altLang="en-US" b="1" dirty="0"/>
              <a:t>将工件加热到</a:t>
            </a:r>
            <a:r>
              <a:rPr lang="en-US" altLang="zh-CN" b="1" dirty="0">
                <a:solidFill>
                  <a:schemeClr val="folHlink"/>
                </a:solidFill>
              </a:rPr>
              <a:t>Ac</a:t>
            </a:r>
            <a:r>
              <a:rPr lang="en-US" altLang="zh-CN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</a:rPr>
              <a:t>+30~50℃</a:t>
            </a:r>
            <a:r>
              <a:rPr lang="en-US" altLang="zh-CN" b="1" dirty="0"/>
              <a:t> </a:t>
            </a:r>
            <a:r>
              <a:rPr lang="zh-CN" altLang="en-US" b="1" dirty="0"/>
              <a:t>保温后</a:t>
            </a:r>
            <a:r>
              <a:rPr lang="zh-CN" altLang="en-US" b="1" dirty="0">
                <a:solidFill>
                  <a:schemeClr val="folHlink"/>
                </a:solidFill>
              </a:rPr>
              <a:t>缓冷</a:t>
            </a:r>
            <a:r>
              <a:rPr lang="zh-CN" altLang="en-US" b="1" dirty="0"/>
              <a:t>的退火工艺。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应用：</a:t>
            </a:r>
            <a:r>
              <a:rPr lang="zh-CN" altLang="en-US" b="1" dirty="0"/>
              <a:t>主要用于  </a:t>
            </a:r>
            <a:r>
              <a:rPr lang="zh-CN" altLang="en-US" b="1" dirty="0">
                <a:solidFill>
                  <a:schemeClr val="folHlink"/>
                </a:solidFill>
              </a:rPr>
              <a:t>亚共析钢</a:t>
            </a:r>
            <a:r>
              <a:rPr lang="zh-CN" altLang="en-US" b="1" dirty="0"/>
              <a:t> 。</a:t>
            </a:r>
            <a:endParaRPr lang="zh-CN" altLang="en-US" b="1" dirty="0"/>
          </a:p>
          <a:p>
            <a:pPr eaLnBrk="1" hangingPunct="1">
              <a:lnSpc>
                <a:spcPct val="140000"/>
              </a:lnSpc>
            </a:pPr>
            <a:endParaRPr lang="en-US" altLang="zh-CN" sz="2800" b="1" dirty="0">
              <a:ea typeface="华文中宋" panose="02010600040101010101" pitchFamily="2" charset="-122"/>
            </a:endParaRPr>
          </a:p>
        </p:txBody>
      </p:sp>
      <p:pic>
        <p:nvPicPr>
          <p:cNvPr id="347140" name="Picture 4" descr="6-1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275892" y="3497264"/>
            <a:ext cx="3942471" cy="3038300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347141" name="AutoShape 5"/>
          <p:cNvSpPr/>
          <p:nvPr/>
        </p:nvSpPr>
        <p:spPr>
          <a:xfrm rot="-4109232">
            <a:off x="4773754" y="3884634"/>
            <a:ext cx="137886" cy="1719854"/>
          </a:xfrm>
          <a:prstGeom prst="flowChartOnlineStorage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39" name="日期占位符 1"/>
          <p:cNvSpPr>
            <a:spLocks noGrp="1"/>
          </p:cNvSpPr>
          <p:nvPr>
            <p:ph type="dt" sz="half" idx="10"/>
          </p:nvPr>
        </p:nvSpPr>
        <p:spPr>
          <a:xfrm>
            <a:off x="121285" y="6597650"/>
            <a:ext cx="1786255" cy="24638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41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99170" y="6604635"/>
            <a:ext cx="455930" cy="28448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739105" y="-112593"/>
            <a:ext cx="582771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等温退火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6259" name="Rectangle 3"/>
          <p:cNvSpPr>
            <a:spLocks noGrp="1"/>
          </p:cNvSpPr>
          <p:nvPr>
            <p:ph idx="1"/>
          </p:nvPr>
        </p:nvSpPr>
        <p:spPr>
          <a:xfrm>
            <a:off x="142875" y="981075"/>
            <a:ext cx="9109515" cy="497078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工艺：亚共析钢加热到</a:t>
            </a:r>
            <a:r>
              <a:rPr lang="en-US" altLang="zh-CN" b="1" dirty="0">
                <a:ea typeface="华文中宋" panose="02010600040101010101" pitchFamily="2" charset="-122"/>
              </a:rPr>
              <a:t>Ac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ea typeface="华文中宋" panose="02010600040101010101" pitchFamily="2" charset="-122"/>
              </a:rPr>
              <a:t>+30~50℃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共析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过共析钢加热到</a:t>
            </a:r>
            <a:r>
              <a:rPr lang="en-US" altLang="zh-CN" b="1" dirty="0">
                <a:ea typeface="华文中宋" panose="02010600040101010101" pitchFamily="2" charset="-122"/>
              </a:rPr>
              <a:t>Ac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ea typeface="华文中宋" panose="02010600040101010101" pitchFamily="2" charset="-122"/>
              </a:rPr>
              <a:t>+30~50℃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，保温后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快冷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到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Ar</a:t>
            </a:r>
            <a:r>
              <a:rPr lang="en-US" altLang="zh-CN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以下的某一温度下停留，</a:t>
            </a:r>
            <a:r>
              <a:rPr lang="zh-CN" altLang="en-US" b="1" dirty="0">
                <a:ea typeface="华文中宋" panose="02010600040101010101" pitchFamily="2" charset="-122"/>
              </a:rPr>
              <a:t>待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相变完成后</a:t>
            </a:r>
            <a:r>
              <a:rPr lang="zh-CN" altLang="en-US" b="1" dirty="0">
                <a:ea typeface="华文中宋" panose="02010600040101010101" pitchFamily="2" charset="-122"/>
              </a:rPr>
              <a:t>出炉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空冷。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ea typeface="华文中宋" panose="02010600040101010101" pitchFamily="2" charset="-122"/>
              </a:rPr>
              <a:t>等温退火可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缩短工件在炉内停留时间</a:t>
            </a:r>
            <a:r>
              <a:rPr lang="zh-CN" altLang="en-US" b="1" dirty="0">
                <a:ea typeface="华文中宋" panose="02010600040101010101" pitchFamily="2" charset="-122"/>
              </a:rPr>
              <a:t>，更适合于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孕育期长的合金钢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115712" y="4149060"/>
            <a:ext cx="7304087" cy="2276475"/>
            <a:chOff x="480" y="2176"/>
            <a:chExt cx="4874" cy="1808"/>
          </a:xfrm>
        </p:grpSpPr>
        <p:pic>
          <p:nvPicPr>
            <p:cNvPr id="96261" name="Picture 5" descr="高速钢等温退火与普通退火比较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465" y="2216"/>
              <a:ext cx="2889" cy="1747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96262" name="Text Box 6"/>
            <p:cNvSpPr txBox="1">
              <a:spLocks noChangeAspect="1"/>
            </p:cNvSpPr>
            <p:nvPr/>
          </p:nvSpPr>
          <p:spPr>
            <a:xfrm>
              <a:off x="2420" y="2176"/>
              <a:ext cx="1996" cy="24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14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高速钢等温退火与普通退火的比较</a:t>
              </a:r>
              <a:endParaRPr lang="zh-CN" altLang="en-US" sz="1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96263" name="Picture 7" descr="等温退火温度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" y="2180"/>
              <a:ext cx="1894" cy="1804"/>
            </a:xfrm>
            <a:prstGeom prst="rect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96265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604635"/>
            <a:ext cx="1786255" cy="24638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55875" y="0"/>
            <a:ext cx="485902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⑶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球化退火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7283" name="Rectangle 3"/>
          <p:cNvSpPr>
            <a:spLocks noGrp="1"/>
          </p:cNvSpPr>
          <p:nvPr>
            <p:ph idx="1"/>
          </p:nvPr>
        </p:nvSpPr>
        <p:spPr>
          <a:xfrm>
            <a:off x="214313" y="1125538"/>
            <a:ext cx="5929312" cy="494665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球化退火：</a:t>
            </a:r>
            <a:r>
              <a:rPr lang="zh-CN" altLang="en-US" b="1" dirty="0">
                <a:solidFill>
                  <a:schemeClr val="folHlink"/>
                </a:solidFill>
              </a:rPr>
              <a:t>将钢中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渗碳体</a:t>
            </a:r>
            <a:r>
              <a:rPr lang="zh-CN" altLang="en-US" b="1" dirty="0">
                <a:solidFill>
                  <a:schemeClr val="folHlink"/>
                </a:solidFill>
              </a:rPr>
              <a:t>球状化的退火工艺</a:t>
            </a:r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00FF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工艺：将工件加热到 </a:t>
            </a:r>
            <a:r>
              <a:rPr lang="en-US" altLang="zh-CN" b="1" dirty="0"/>
              <a:t>Ac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1</a:t>
            </a:r>
            <a:r>
              <a:rPr lang="en-US" altLang="zh-CN" b="1" dirty="0"/>
              <a:t>+30~ 50℃ </a:t>
            </a:r>
            <a:r>
              <a:rPr lang="zh-CN" altLang="en-US" b="1" dirty="0">
                <a:solidFill>
                  <a:schemeClr val="folHlink"/>
                </a:solidFill>
              </a:rPr>
              <a:t>保温</a:t>
            </a:r>
            <a:r>
              <a:rPr lang="zh-CN" altLang="en-US" b="1" dirty="0"/>
              <a:t>后</a:t>
            </a:r>
            <a:r>
              <a:rPr lang="zh-CN" altLang="en-US" b="1" dirty="0">
                <a:solidFill>
                  <a:schemeClr val="folHlink"/>
                </a:solidFill>
              </a:rPr>
              <a:t>缓冷</a:t>
            </a:r>
            <a:r>
              <a:rPr lang="en-US" altLang="zh-CN" b="1" dirty="0">
                <a:solidFill>
                  <a:schemeClr val="folHlink"/>
                </a:solidFill>
              </a:rPr>
              <a:t>,  </a:t>
            </a:r>
            <a:r>
              <a:rPr lang="zh-CN" altLang="en-US" b="1" dirty="0"/>
              <a:t>或者</a:t>
            </a:r>
            <a:r>
              <a:rPr lang="zh-CN" altLang="en-US" b="1" dirty="0">
                <a:solidFill>
                  <a:schemeClr val="folHlink"/>
                </a:solidFill>
              </a:rPr>
              <a:t>加热后冷却到</a:t>
            </a:r>
            <a:r>
              <a:rPr lang="zh-CN" altLang="en-US" b="1" dirty="0">
                <a:solidFill>
                  <a:srgbClr val="FF0000"/>
                </a:solidFill>
              </a:rPr>
              <a:t>略低于</a:t>
            </a:r>
            <a:r>
              <a:rPr lang="zh-CN" altLang="en-US" b="1" dirty="0">
                <a:solidFill>
                  <a:schemeClr val="folHlink"/>
                </a:solidFill>
              </a:rPr>
              <a:t> </a:t>
            </a:r>
            <a:r>
              <a:rPr lang="en-US" altLang="zh-CN" b="1" dirty="0">
                <a:solidFill>
                  <a:srgbClr val="CCFFFF"/>
                </a:solidFill>
              </a:rPr>
              <a:t>Ar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solidFill>
                  <a:srgbClr val="CCFFFF"/>
                </a:solidFill>
              </a:rPr>
              <a:t> </a:t>
            </a:r>
            <a:r>
              <a:rPr lang="zh-CN" altLang="en-US" b="1" dirty="0">
                <a:solidFill>
                  <a:schemeClr val="folHlink"/>
                </a:solidFill>
              </a:rPr>
              <a:t>的温度下保温，</a:t>
            </a:r>
            <a:r>
              <a:rPr lang="zh-CN" altLang="en-US" b="1" dirty="0"/>
              <a:t>使</a:t>
            </a:r>
            <a:r>
              <a:rPr lang="zh-CN" altLang="en-US" b="1" dirty="0">
                <a:solidFill>
                  <a:schemeClr val="folHlink"/>
                </a:solidFill>
              </a:rPr>
              <a:t>珠光体</a:t>
            </a:r>
            <a:r>
              <a:rPr lang="zh-CN" altLang="en-US" b="1" dirty="0"/>
              <a:t>中的</a:t>
            </a:r>
            <a:r>
              <a:rPr lang="zh-CN" altLang="en-US" b="1" dirty="0">
                <a:solidFill>
                  <a:schemeClr val="folHlink"/>
                </a:solidFill>
              </a:rPr>
              <a:t>渗碳体球化</a:t>
            </a:r>
            <a:r>
              <a:rPr lang="zh-CN" altLang="en-US" b="1" dirty="0"/>
              <a:t>后出炉</a:t>
            </a:r>
            <a:r>
              <a:rPr lang="zh-CN" altLang="en-US" b="1" dirty="0">
                <a:solidFill>
                  <a:schemeClr val="folHlink"/>
                </a:solidFill>
              </a:rPr>
              <a:t>空冷。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应用：</a:t>
            </a:r>
            <a:r>
              <a:rPr lang="zh-CN" altLang="en-US" b="1" dirty="0"/>
              <a:t>主要用于</a:t>
            </a:r>
            <a:r>
              <a:rPr lang="zh-CN" altLang="en-US" b="1" dirty="0">
                <a:solidFill>
                  <a:schemeClr val="folHlink"/>
                </a:solidFill>
              </a:rPr>
              <a:t>共析、过共析钢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pic>
        <p:nvPicPr>
          <p:cNvPr id="349188" name="Picture 4" descr="退火温度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143625" y="2780946"/>
            <a:ext cx="2892747" cy="26812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97286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429375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44255" y="6612255"/>
            <a:ext cx="499745" cy="24574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513" y="0"/>
            <a:ext cx="61880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⑶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球化退火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组织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8307" name="Rectangle 3"/>
          <p:cNvSpPr>
            <a:spLocks noGrp="1"/>
          </p:cNvSpPr>
          <p:nvPr>
            <p:ph idx="1"/>
          </p:nvPr>
        </p:nvSpPr>
        <p:spPr>
          <a:xfrm>
            <a:off x="468313" y="1268413"/>
            <a:ext cx="7989887" cy="482758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铁素体基体</a:t>
            </a:r>
            <a:r>
              <a:rPr lang="zh-CN" altLang="en-US" b="1" dirty="0">
                <a:ea typeface="华文中宋" panose="02010600040101010101" pitchFamily="2" charset="-122"/>
              </a:rPr>
              <a:t>上分布着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颗粒状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渗碳体，</a:t>
            </a:r>
            <a:r>
              <a:rPr lang="zh-CN" altLang="en-US" b="1" dirty="0">
                <a:ea typeface="华文中宋" panose="02010600040101010101" pitchFamily="2" charset="-122"/>
              </a:rPr>
              <a:t>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球状珠光体，</a:t>
            </a:r>
            <a:r>
              <a:rPr lang="zh-CN" altLang="en-US" b="1" dirty="0">
                <a:ea typeface="华文中宋" panose="02010600040101010101" pitchFamily="2" charset="-122"/>
              </a:rPr>
              <a:t>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</a:t>
            </a:r>
            <a:r>
              <a:rPr lang="zh-CN" altLang="en-US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球</a:t>
            </a:r>
            <a:r>
              <a:rPr lang="zh-CN" altLang="en-US" b="1" dirty="0">
                <a:ea typeface="华文中宋" panose="02010600040101010101" pitchFamily="2" charset="-122"/>
              </a:rPr>
              <a:t>表示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98308" name="Group 42"/>
          <p:cNvGrpSpPr/>
          <p:nvPr/>
        </p:nvGrpSpPr>
        <p:grpSpPr>
          <a:xfrm>
            <a:off x="1244879" y="2769210"/>
            <a:ext cx="7400058" cy="3626619"/>
            <a:chOff x="47" y="1785"/>
            <a:chExt cx="4964" cy="2503"/>
          </a:xfrm>
        </p:grpSpPr>
        <p:grpSp>
          <p:nvGrpSpPr>
            <p:cNvPr id="98309" name="Group 41"/>
            <p:cNvGrpSpPr/>
            <p:nvPr/>
          </p:nvGrpSpPr>
          <p:grpSpPr>
            <a:xfrm>
              <a:off x="47" y="1785"/>
              <a:ext cx="4964" cy="2503"/>
              <a:chOff x="47" y="1785"/>
              <a:chExt cx="4964" cy="2503"/>
            </a:xfrm>
          </p:grpSpPr>
          <p:grpSp>
            <p:nvGrpSpPr>
              <p:cNvPr id="98310" name="Group 26"/>
              <p:cNvGrpSpPr>
                <a:grpSpLocks noChangeAspect="1"/>
              </p:cNvGrpSpPr>
              <p:nvPr/>
            </p:nvGrpSpPr>
            <p:grpSpPr>
              <a:xfrm>
                <a:off x="3070" y="1790"/>
                <a:ext cx="1941" cy="2498"/>
                <a:chOff x="3672" y="282"/>
                <a:chExt cx="2154" cy="2771"/>
              </a:xfrm>
            </p:grpSpPr>
            <p:pic>
              <p:nvPicPr>
                <p:cNvPr id="98311" name="Picture 27" descr="球状珠光体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3672" y="282"/>
                  <a:ext cx="2154" cy="2510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CC99F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98312" name="Rectangle 28"/>
                <p:cNvSpPr>
                  <a:spLocks noChangeAspect="1"/>
                </p:cNvSpPr>
                <p:nvPr/>
              </p:nvSpPr>
              <p:spPr>
                <a:xfrm>
                  <a:off x="4116" y="1188"/>
                  <a:ext cx="144" cy="14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313" name="Rectangle 29"/>
                <p:cNvSpPr>
                  <a:spLocks noChangeAspect="1"/>
                </p:cNvSpPr>
                <p:nvPr/>
              </p:nvSpPr>
              <p:spPr>
                <a:xfrm>
                  <a:off x="4032" y="2009"/>
                  <a:ext cx="336" cy="19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Fe</a:t>
                  </a:r>
                  <a:r>
                    <a:rPr lang="en-US" altLang="zh-CN" baseline="-25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314" name="Line 30"/>
                <p:cNvSpPr>
                  <a:spLocks noChangeAspect="1"/>
                </p:cNvSpPr>
                <p:nvPr/>
              </p:nvSpPr>
              <p:spPr>
                <a:xfrm flipV="1">
                  <a:off x="4368" y="1920"/>
                  <a:ext cx="144" cy="96"/>
                </a:xfrm>
                <a:prstGeom prst="line">
                  <a:avLst/>
                </a:prstGeom>
                <a:ln w="19050" cap="flat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stealth" w="med" len="med"/>
                </a:ln>
              </p:spPr>
            </p:sp>
            <p:sp>
              <p:nvSpPr>
                <p:cNvPr id="98315" name="Rectangle 31"/>
                <p:cNvSpPr>
                  <a:spLocks noChangeAspect="1"/>
                </p:cNvSpPr>
                <p:nvPr/>
              </p:nvSpPr>
              <p:spPr>
                <a:xfrm>
                  <a:off x="4116" y="2842"/>
                  <a:ext cx="1212" cy="211"/>
                </a:xfrm>
                <a:prstGeom prst="rect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2400" dirty="0">
                      <a:solidFill>
                        <a:srgbClr val="A5002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球状珠光体</a:t>
                  </a:r>
                  <a:endParaRPr lang="zh-CN" altLang="en-US" sz="2400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pic>
            <p:nvPicPr>
              <p:cNvPr id="98316" name="Picture 32" descr="pearlite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7" y="1785"/>
                <a:ext cx="2241" cy="2268"/>
              </a:xfrm>
              <a:prstGeom prst="rect">
                <a:avLst/>
              </a:prstGeom>
              <a:noFill/>
              <a:ln w="28575" cap="flat" cmpd="sng">
                <a:solidFill>
                  <a:srgbClr val="CC99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98317" name="AutoShape 33"/>
            <p:cNvSpPr/>
            <p:nvPr/>
          </p:nvSpPr>
          <p:spPr>
            <a:xfrm>
              <a:off x="2436" y="2704"/>
              <a:ext cx="415" cy="51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8319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611620"/>
            <a:ext cx="1786255" cy="24638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76343" y="6596380"/>
            <a:ext cx="467658" cy="2616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513" y="0"/>
            <a:ext cx="56149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⑶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球化退火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应用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9331" name="Rectangle 3"/>
          <p:cNvSpPr>
            <a:spLocks noGrp="1"/>
          </p:cNvSpPr>
          <p:nvPr>
            <p:ph idx="1"/>
          </p:nvPr>
        </p:nvSpPr>
        <p:spPr>
          <a:xfrm>
            <a:off x="685800" y="1773238"/>
            <a:ext cx="7772400" cy="432276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/>
              <a:t>对于有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网状二次渗碳体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过共析钢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C6F7FE"/>
                </a:solidFill>
              </a:rPr>
              <a:t>球化退火前应先进行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正火</a:t>
            </a:r>
            <a:r>
              <a:rPr lang="zh-CN" altLang="en-US" b="1" dirty="0">
                <a:solidFill>
                  <a:srgbClr val="C6F7FE"/>
                </a:solidFill>
              </a:rPr>
              <a:t>，以消除网状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sp>
        <p:nvSpPr>
          <p:cNvPr id="99333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97015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95110"/>
            <a:ext cx="457200" cy="26289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730" y="1556844"/>
            <a:ext cx="6984582" cy="3168264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二、正火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lang="en-US" altLang="zh-CN" sz="6600" b="1" i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</a:rPr>
              <a:t>Normalizing</a:t>
            </a:r>
            <a:endParaRPr kumimoji="1" lang="en-US" altLang="zh-CN" sz="6600" b="1" i="1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0360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95745"/>
            <a:ext cx="1786255" cy="26225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32131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95110"/>
            <a:ext cx="457200" cy="26289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92275" y="0"/>
            <a:ext cx="51117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二、正火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0355" name="Rectangle 3"/>
          <p:cNvSpPr>
            <a:spLocks noGrp="1"/>
          </p:cNvSpPr>
          <p:nvPr>
            <p:ph idx="1"/>
          </p:nvPr>
        </p:nvSpPr>
        <p:spPr>
          <a:xfrm>
            <a:off x="395288" y="1484313"/>
            <a:ext cx="5040312" cy="461168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：将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亚共析钢</a:t>
            </a:r>
            <a:r>
              <a:rPr lang="zh-CN" altLang="en-US" b="1" dirty="0">
                <a:ea typeface="华文中宋" panose="02010600040101010101" pitchFamily="2" charset="-122"/>
              </a:rPr>
              <a:t>加热到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+30~ 50℃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，共析钢</a:t>
            </a:r>
            <a:r>
              <a:rPr lang="zh-CN" altLang="en-US" b="1" dirty="0">
                <a:ea typeface="华文中宋" panose="02010600040101010101" pitchFamily="2" charset="-122"/>
              </a:rPr>
              <a:t>加热到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+30~50℃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，过共析钢</a:t>
            </a:r>
            <a:r>
              <a:rPr lang="zh-CN" altLang="en-US" b="1" dirty="0">
                <a:ea typeface="华文中宋" panose="02010600040101010101" pitchFamily="2" charset="-122"/>
              </a:rPr>
              <a:t>加热到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Accm+30~ 50℃</a:t>
            </a:r>
            <a:r>
              <a:rPr lang="zh-CN" altLang="en-US" b="1" dirty="0">
                <a:ea typeface="华文中宋" panose="02010600040101010101" pitchFamily="2" charset="-122"/>
              </a:rPr>
              <a:t>保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温</a:t>
            </a:r>
            <a:r>
              <a:rPr lang="zh-CN" altLang="en-US" b="1" dirty="0">
                <a:ea typeface="华文中宋" panose="02010600040101010101" pitchFamily="2" charset="-122"/>
              </a:rPr>
              <a:t>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空冷</a:t>
            </a:r>
            <a:r>
              <a:rPr lang="zh-CN" altLang="en-US" b="1" dirty="0">
                <a:ea typeface="华文中宋" panose="02010600040101010101" pitchFamily="2" charset="-122"/>
              </a:rPr>
              <a:t>的工艺。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正火</a:t>
            </a:r>
            <a:r>
              <a:rPr lang="zh-CN" altLang="en-US" b="1" dirty="0">
                <a:solidFill>
                  <a:srgbClr val="C6F7FE"/>
                </a:solidFill>
                <a:ea typeface="华文中宋" panose="02010600040101010101" pitchFamily="2" charset="-122"/>
              </a:rPr>
              <a:t>比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退火</a:t>
            </a:r>
            <a:r>
              <a:rPr lang="zh-CN" altLang="en-US" b="1" dirty="0">
                <a:solidFill>
                  <a:srgbClr val="C6F7FE"/>
                </a:solidFill>
                <a:ea typeface="华文中宋" panose="02010600040101010101" pitchFamily="2" charset="-122"/>
              </a:rPr>
              <a:t>冷却速度大。</a:t>
            </a:r>
            <a:endParaRPr lang="zh-CN" altLang="en-US" b="1" dirty="0">
              <a:solidFill>
                <a:srgbClr val="C6F7FE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100356" name="Group 12"/>
          <p:cNvGrpSpPr/>
          <p:nvPr/>
        </p:nvGrpSpPr>
        <p:grpSpPr>
          <a:xfrm>
            <a:off x="5572125" y="2428875"/>
            <a:ext cx="3328988" cy="2373313"/>
            <a:chOff x="3515" y="255"/>
            <a:chExt cx="2097" cy="1495"/>
          </a:xfrm>
        </p:grpSpPr>
        <p:pic>
          <p:nvPicPr>
            <p:cNvPr id="100357" name="Picture 6" descr="正火温度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15" y="255"/>
              <a:ext cx="2097" cy="1495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0358" name="Text Box 11"/>
            <p:cNvSpPr txBox="1">
              <a:spLocks noChangeAspect="1"/>
            </p:cNvSpPr>
            <p:nvPr/>
          </p:nvSpPr>
          <p:spPr>
            <a:xfrm>
              <a:off x="3560" y="1525"/>
              <a:ext cx="641" cy="192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正火温度</a:t>
              </a:r>
              <a:endParaRPr lang="zh-CN" altLang="en-US" sz="1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0360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95745"/>
            <a:ext cx="1786255" cy="26225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828040" y="1700530"/>
            <a:ext cx="94488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正火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96380"/>
            <a:ext cx="457200" cy="2616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597376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正火后的组织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1379" name="Rectangle 3"/>
          <p:cNvSpPr>
            <a:spLocks noGrp="1"/>
          </p:cNvSpPr>
          <p:nvPr>
            <p:ph idx="1"/>
          </p:nvPr>
        </p:nvSpPr>
        <p:spPr>
          <a:xfrm>
            <a:off x="611188" y="1628775"/>
            <a:ext cx="7772400" cy="41148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&lt;0.6%C</a:t>
            </a:r>
            <a:r>
              <a:rPr lang="zh-CN" altLang="en-US" b="1" dirty="0">
                <a:ea typeface="华文中宋" panose="02010600040101010101" pitchFamily="2" charset="-122"/>
              </a:rPr>
              <a:t>时，组织为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F+S;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0.6%C</a:t>
            </a:r>
            <a:r>
              <a:rPr lang="zh-CN" altLang="en-US" b="1" dirty="0">
                <a:ea typeface="华文中宋" panose="02010600040101010101" pitchFamily="2" charset="-122"/>
              </a:rPr>
              <a:t>时，组织为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101380" name="Group 9"/>
          <p:cNvGrpSpPr/>
          <p:nvPr/>
        </p:nvGrpSpPr>
        <p:grpSpPr>
          <a:xfrm>
            <a:off x="1042988" y="3789363"/>
            <a:ext cx="3744912" cy="2251075"/>
            <a:chOff x="521" y="2478"/>
            <a:chExt cx="2097" cy="1191"/>
          </a:xfrm>
        </p:grpSpPr>
        <p:pic>
          <p:nvPicPr>
            <p:cNvPr id="101381" name="Picture 4" descr="0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1" y="2478"/>
              <a:ext cx="2097" cy="1046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1382" name="Rectangle 6"/>
            <p:cNvSpPr>
              <a:spLocks noChangeAspect="1"/>
            </p:cNvSpPr>
            <p:nvPr/>
          </p:nvSpPr>
          <p:spPr>
            <a:xfrm>
              <a:off x="1202" y="3521"/>
              <a:ext cx="741" cy="148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钢正火组织</a:t>
              </a:r>
              <a:endPara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1383" name="Group 8"/>
          <p:cNvGrpSpPr/>
          <p:nvPr/>
        </p:nvGrpSpPr>
        <p:grpSpPr>
          <a:xfrm>
            <a:off x="5364163" y="3716338"/>
            <a:ext cx="3529012" cy="2251075"/>
            <a:chOff x="3243" y="2432"/>
            <a:chExt cx="2097" cy="1191"/>
          </a:xfrm>
        </p:grpSpPr>
        <p:pic>
          <p:nvPicPr>
            <p:cNvPr id="101384" name="Picture 5" descr="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3" y="2432"/>
              <a:ext cx="2097" cy="1042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1385" name="Rectangle 7"/>
            <p:cNvSpPr>
              <a:spLocks noChangeAspect="1"/>
            </p:cNvSpPr>
            <p:nvPr/>
          </p:nvSpPr>
          <p:spPr>
            <a:xfrm>
              <a:off x="4150" y="3475"/>
              <a:ext cx="741" cy="148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钢正火组织</a:t>
              </a:r>
              <a:endPara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138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95745"/>
            <a:ext cx="1786255" cy="26225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57010"/>
            <a:ext cx="528320" cy="30099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513" y="0"/>
            <a:ext cx="56848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正火的目的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低、中碳钢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(≤0.6C%)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：目的与退火的相同（调整硬度；细化晶粒，为淬火作组织准备；消除残余内应力）。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过共析钢：</a:t>
            </a:r>
            <a:r>
              <a:rPr lang="zh-CN" altLang="en-US" b="1" dirty="0">
                <a:ea typeface="华文中宋" panose="02010600040101010101" pitchFamily="2" charset="-122"/>
              </a:rPr>
              <a:t>用于</a:t>
            </a:r>
            <a:r>
              <a:rPr lang="zh-CN" altLang="en-US" b="1" dirty="0">
                <a:solidFill>
                  <a:srgbClr val="CCFF66"/>
                </a:solidFill>
              </a:rPr>
              <a:t>消除网状二次渗碳体，为球化退火作组织准备。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accent1"/>
                </a:solidFill>
              </a:rPr>
              <a:t>⑶</a:t>
            </a:r>
            <a:r>
              <a:rPr lang="zh-CN" altLang="en-US" b="1" dirty="0">
                <a:solidFill>
                  <a:schemeClr val="folHlink"/>
                </a:solidFill>
              </a:rPr>
              <a:t> 普通件最终热处理。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sp>
        <p:nvSpPr>
          <p:cNvPr id="102405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622415"/>
            <a:ext cx="1786255" cy="23558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39125" y="6612255"/>
            <a:ext cx="504826" cy="24574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050" y="0"/>
            <a:ext cx="61880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改善切削性能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途径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342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12875"/>
            <a:ext cx="7772400" cy="4683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低碳钢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正火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中碳钢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退火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正火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高碳钢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球化退火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CC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928938" y="2636203"/>
            <a:ext cx="4041775" cy="3597275"/>
            <a:chOff x="2772" y="1142"/>
            <a:chExt cx="2546" cy="2266"/>
          </a:xfrm>
        </p:grpSpPr>
        <p:grpSp>
          <p:nvGrpSpPr>
            <p:cNvPr id="3" name="Group 5"/>
            <p:cNvGrpSpPr/>
            <p:nvPr/>
          </p:nvGrpSpPr>
          <p:grpSpPr>
            <a:xfrm>
              <a:off x="2772" y="1142"/>
              <a:ext cx="2546" cy="2266"/>
              <a:chOff x="2772" y="1142"/>
              <a:chExt cx="2546" cy="2266"/>
            </a:xfrm>
          </p:grpSpPr>
          <p:sp>
            <p:nvSpPr>
              <p:cNvPr id="103430" name="Text Box 6"/>
              <p:cNvSpPr txBox="1">
                <a:spLocks noChangeAspect="1"/>
              </p:cNvSpPr>
              <p:nvPr/>
            </p:nvSpPr>
            <p:spPr>
              <a:xfrm>
                <a:off x="2786" y="3151"/>
                <a:ext cx="2532" cy="252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热处理与硬度关系</a:t>
                </a:r>
                <a:endPara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103431" name="Picture 7" descr="热处理与硬度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786" y="1147"/>
                <a:ext cx="2525" cy="200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03432" name="Line 8"/>
              <p:cNvSpPr>
                <a:spLocks noChangeAspect="1"/>
              </p:cNvSpPr>
              <p:nvPr/>
            </p:nvSpPr>
            <p:spPr>
              <a:xfrm flipH="1">
                <a:off x="3337" y="2539"/>
                <a:ext cx="100" cy="464"/>
              </a:xfrm>
              <a:prstGeom prst="line">
                <a:avLst/>
              </a:prstGeom>
              <a:ln w="19050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3433" name="Rectangle 9"/>
              <p:cNvSpPr>
                <a:spLocks noChangeAspect="1"/>
              </p:cNvSpPr>
              <p:nvPr/>
            </p:nvSpPr>
            <p:spPr>
              <a:xfrm>
                <a:off x="2795" y="1142"/>
                <a:ext cx="2517" cy="2266"/>
              </a:xfrm>
              <a:prstGeom prst="rect">
                <a:avLst/>
              </a:prstGeom>
              <a:noFill/>
              <a:ln w="5715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34" name="Rectangle 10"/>
              <p:cNvSpPr/>
              <p:nvPr/>
            </p:nvSpPr>
            <p:spPr>
              <a:xfrm>
                <a:off x="3888" y="2976"/>
                <a:ext cx="384" cy="192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35" name="Text Box 11"/>
              <p:cNvSpPr txBox="1">
                <a:spLocks noChangeAspect="1"/>
              </p:cNvSpPr>
              <p:nvPr/>
            </p:nvSpPr>
            <p:spPr>
              <a:xfrm>
                <a:off x="2772" y="2960"/>
                <a:ext cx="1440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合适切削加工硬度范围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36" name="Text Box 12"/>
              <p:cNvSpPr txBox="1"/>
              <p:nvPr/>
            </p:nvSpPr>
            <p:spPr>
              <a:xfrm>
                <a:off x="4644" y="2940"/>
                <a:ext cx="43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C,%</a:t>
                </a:r>
                <a:endPara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3437" name="Rectangle 13"/>
            <p:cNvSpPr/>
            <p:nvPr/>
          </p:nvSpPr>
          <p:spPr>
            <a:xfrm rot="-5400000">
              <a:off x="2632" y="1952"/>
              <a:ext cx="528" cy="144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硬度</a:t>
              </a:r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HV</a:t>
              </a:r>
              <a:endParaRPr lang="en-US" altLang="zh-CN" sz="1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38" name="Rectangle 14"/>
            <p:cNvSpPr/>
            <p:nvPr/>
          </p:nvSpPr>
          <p:spPr>
            <a:xfrm rot="-5400000">
              <a:off x="4944" y="1960"/>
              <a:ext cx="528" cy="144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HRC</a:t>
              </a:r>
              <a:endParaRPr lang="en-US" altLang="zh-CN" sz="16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39" name="Rectangle 15"/>
            <p:cNvSpPr/>
            <p:nvPr/>
          </p:nvSpPr>
          <p:spPr>
            <a:xfrm>
              <a:off x="3792" y="1776"/>
              <a:ext cx="336" cy="14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淬火</a:t>
              </a:r>
              <a:endPara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40" name="Rectangle 16"/>
            <p:cNvSpPr/>
            <p:nvPr/>
          </p:nvSpPr>
          <p:spPr>
            <a:xfrm>
              <a:off x="3888" y="2064"/>
              <a:ext cx="336" cy="14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4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正火</a:t>
              </a:r>
              <a:endParaRPr lang="zh-CN" altLang="en-US" sz="14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41" name="Rectangle 17"/>
            <p:cNvSpPr/>
            <p:nvPr/>
          </p:nvSpPr>
          <p:spPr>
            <a:xfrm rot="-702647">
              <a:off x="4272" y="2304"/>
              <a:ext cx="430" cy="9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r>
                <a:rPr lang="zh-CN" altLang="en-US" sz="1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完全退火</a:t>
              </a:r>
              <a:endParaRPr lang="zh-CN" altLang="en-US" sz="1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42" name="Line 18"/>
            <p:cNvSpPr/>
            <p:nvPr/>
          </p:nvSpPr>
          <p:spPr>
            <a:xfrm rot="-1882380" flipH="1" flipV="1">
              <a:off x="4687" y="2287"/>
              <a:ext cx="79" cy="148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3443" name="Oval 19"/>
            <p:cNvSpPr/>
            <p:nvPr/>
          </p:nvSpPr>
          <p:spPr>
            <a:xfrm>
              <a:off x="4168" y="2392"/>
              <a:ext cx="96" cy="48"/>
            </a:xfrm>
            <a:prstGeom prst="ellipse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444" name="Rectangle 20"/>
            <p:cNvSpPr/>
            <p:nvPr/>
          </p:nvSpPr>
          <p:spPr>
            <a:xfrm>
              <a:off x="4176" y="2664"/>
              <a:ext cx="528" cy="12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2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球化退火</a:t>
              </a:r>
              <a:endParaRPr lang="zh-CN" altLang="en-US" sz="12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3445" name="AutoShape 21">
            <a:hlinkClick r:id="rId2" action="ppaction://hlinksldjump"/>
          </p:cNvPr>
          <p:cNvSpPr/>
          <p:nvPr/>
        </p:nvSpPr>
        <p:spPr>
          <a:xfrm>
            <a:off x="8921750" y="6612890"/>
            <a:ext cx="222250" cy="245110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4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612890"/>
            <a:ext cx="1786255" cy="24511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25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15630" y="6597650"/>
            <a:ext cx="528320" cy="2603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" y="1701165"/>
            <a:ext cx="9012555" cy="1868805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第五节  钢的淬火与回火</a:t>
            </a:r>
            <a:r>
              <a:rPr lang="en-GB" altLang="zh-CN" b="1" i="1" dirty="0">
                <a:effectLst/>
                <a:latin typeface="+mn-lt"/>
              </a:rPr>
              <a:t>Quenching &amp; Tempering of Steels</a:t>
            </a:r>
            <a:endParaRPr kumimoji="1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4455" name="AutoShape 8">
            <a:hlinkClick r:id="rId1" action="ppaction://hlinksldjump"/>
          </p:cNvPr>
          <p:cNvSpPr/>
          <p:nvPr/>
        </p:nvSpPr>
        <p:spPr>
          <a:xfrm>
            <a:off x="8878570" y="6605905"/>
            <a:ext cx="265430" cy="25209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97015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27089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ldLvl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15630" y="6597650"/>
            <a:ext cx="528320" cy="2603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260350"/>
            <a:ext cx="7051675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第五节  钢的淬火与回火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268" name="Rectangle 4"/>
          <p:cNvSpPr/>
          <p:nvPr/>
        </p:nvSpPr>
        <p:spPr>
          <a:xfrm>
            <a:off x="142875" y="1341438"/>
            <a:ext cx="6157913" cy="48244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淬火工艺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：将钢加热到临界点以上，保温后以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大于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3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速度冷却，使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奥氏体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转变为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马氏体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的热处理工艺。</a:t>
            </a:r>
            <a:endParaRPr lang="zh-CN" altLang="en-US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淬火目的</a:t>
            </a:r>
            <a:r>
              <a:rPr lang="zh-CN" altLang="en-US" sz="2800" dirty="0">
                <a:solidFill>
                  <a:srgbClr val="00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获得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马氏体</a:t>
            </a:r>
            <a:r>
              <a:rPr lang="zh-CN" altLang="en-US" sz="2800" dirty="0">
                <a:solidFill>
                  <a:schemeClr val="accent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组织，提高钢的性能。</a:t>
            </a:r>
            <a:endParaRPr lang="zh-CN" altLang="en-US" sz="2800" dirty="0">
              <a:solidFill>
                <a:schemeClr val="accent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应用最广的热处理工艺之一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104452" name="Group 10"/>
          <p:cNvGrpSpPr/>
          <p:nvPr/>
        </p:nvGrpSpPr>
        <p:grpSpPr>
          <a:xfrm>
            <a:off x="6354764" y="1844868"/>
            <a:ext cx="2646362" cy="2736228"/>
            <a:chOff x="3923" y="1162"/>
            <a:chExt cx="1757" cy="1768"/>
          </a:xfrm>
        </p:grpSpPr>
        <p:pic>
          <p:nvPicPr>
            <p:cNvPr id="104453" name="Picture 6" descr="真空淬火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923" y="1162"/>
              <a:ext cx="1757" cy="1768"/>
            </a:xfrm>
            <a:prstGeom prst="rect">
              <a:avLst/>
            </a:prstGeom>
            <a:noFill/>
            <a:ln w="57150" cap="flat" cmpd="sng">
              <a:solidFill>
                <a:srgbClr val="99CC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4454" name="Text Box 7"/>
            <p:cNvSpPr txBox="1"/>
            <p:nvPr/>
          </p:nvSpPr>
          <p:spPr>
            <a:xfrm>
              <a:off x="3923" y="2659"/>
              <a:ext cx="108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真空淬火炉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4455" name="AutoShape 8">
            <a:hlinkClick r:id="rId2" action="ppaction://hlinksldjump"/>
          </p:cNvPr>
          <p:cNvSpPr/>
          <p:nvPr/>
        </p:nvSpPr>
        <p:spPr>
          <a:xfrm>
            <a:off x="8878570" y="6605905"/>
            <a:ext cx="265430" cy="252095"/>
          </a:xfrm>
          <a:prstGeom prst="actionButtonBackPrevious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97015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8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0"/>
            <a:ext cx="633095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钢的淬火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内容提要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5475" name="Rectangle 3"/>
          <p:cNvSpPr>
            <a:spLocks noGrp="1"/>
          </p:cNvSpPr>
          <p:nvPr>
            <p:ph idx="1"/>
          </p:nvPr>
        </p:nvSpPr>
        <p:spPr>
          <a:xfrm>
            <a:off x="685800" y="1357313"/>
            <a:ext cx="7772400" cy="4738687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淬火温度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淬火介质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淬火方法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钢的淬透性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5477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90030"/>
            <a:ext cx="1786255" cy="26797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244306" y="6605652"/>
            <a:ext cx="645930" cy="252348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06499" name="Rectangle 2"/>
          <p:cNvSpPr>
            <a:spLocks noGrp="1"/>
          </p:cNvSpPr>
          <p:nvPr>
            <p:ph type="title"/>
          </p:nvPr>
        </p:nvSpPr>
        <p:spPr>
          <a:xfrm>
            <a:off x="1282700" y="185420"/>
            <a:ext cx="7175500" cy="728980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b="1" strike="noStrike" noProof="1">
                <a:ea typeface="华文中宋" panose="02010600040101010101" pitchFamily="2" charset="-122"/>
              </a:rPr>
              <a:t>一、</a:t>
            </a:r>
            <a:r>
              <a:rPr lang="zh-CN" altLang="en-US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淬火温度</a:t>
            </a:r>
            <a:endParaRPr lang="zh-CN" altLang="en-US" b="1" strike="noStrike" noProof="1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650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22255" y="1460389"/>
            <a:ext cx="5100660" cy="4361592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淬火温度即钢的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奥氏体化温度。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淬火的主要工艺参数之一。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亚共析钢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</a:t>
            </a:r>
            <a:r>
              <a:rPr lang="en-US" altLang="zh-CN" sz="3200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3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+ 30~50℃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共析钢、过共析钢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Ac</a:t>
            </a:r>
            <a:r>
              <a:rPr kumimoji="1" lang="en-US" altLang="zh-CN" sz="3200" b="1" i="0" u="none" strike="noStrike" kern="0" cap="none" spc="0" normalizeH="0" baseline="-3000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 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+ 30~50℃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CCFFFF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6502" name="日期占位符 1"/>
          <p:cNvSpPr>
            <a:spLocks noGrp="1"/>
          </p:cNvSpPr>
          <p:nvPr>
            <p:ph type="dt" sz="half" idx="10"/>
          </p:nvPr>
        </p:nvSpPr>
        <p:spPr>
          <a:xfrm>
            <a:off x="-16866" y="6546406"/>
            <a:ext cx="1905000" cy="252348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3" name="内容占位符 2" descr="《于泳泗》图5-30 001"/>
          <p:cNvPicPr>
            <a:picLocks noGrp="1" noChangeAspect="1"/>
          </p:cNvPicPr>
          <p:nvPr>
            <p:ph sz="half" idx="2"/>
          </p:nvPr>
        </p:nvPicPr>
        <p:blipFill>
          <a:blip r:embed="rId1" cstate="print"/>
          <a:stretch>
            <a:fillRect/>
          </a:stretch>
        </p:blipFill>
        <p:spPr>
          <a:xfrm>
            <a:off x="5612868" y="1792176"/>
            <a:ext cx="3261995" cy="3520440"/>
          </a:xfrm>
          <a:prstGeom prst="rect">
            <a:avLst/>
          </a:prstGeom>
        </p:spPr>
      </p:pic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66" y="0"/>
            <a:ext cx="53990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淬火组织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7523" name="Rectangle 3"/>
          <p:cNvSpPr>
            <a:spLocks noGrp="1"/>
          </p:cNvSpPr>
          <p:nvPr>
            <p:ph idx="1"/>
          </p:nvPr>
        </p:nvSpPr>
        <p:spPr>
          <a:xfrm>
            <a:off x="684213" y="1700213"/>
            <a:ext cx="7772400" cy="44037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亚共析钢：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0.5%C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；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0.5%C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</a:t>
            </a:r>
            <a:r>
              <a:rPr lang="zh-CN" altLang="en-US" b="1" dirty="0"/>
              <a:t>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 + A’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rgbClr val="00FF00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共析钢： </a:t>
            </a:r>
            <a:r>
              <a:rPr lang="en-US" altLang="zh-CN" b="1" dirty="0">
                <a:ea typeface="华文中宋" panose="02010600040101010101" pitchFamily="2" charset="-122"/>
              </a:rPr>
              <a:t>M + A’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rgbClr val="00FF00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FF00"/>
                </a:solidFill>
                <a:ea typeface="华文中宋" panose="02010600040101010101" pitchFamily="2" charset="-122"/>
              </a:rPr>
              <a:t>过共析钢：</a:t>
            </a:r>
            <a:r>
              <a:rPr lang="en-US" altLang="zh-CN" b="1" dirty="0"/>
              <a:t>M + Fe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C</a:t>
            </a:r>
            <a:r>
              <a:rPr lang="zh-CN" altLang="en-US" b="1" kern="1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颗粒</a:t>
            </a:r>
            <a:r>
              <a:rPr lang="zh-CN" altLang="en-US" b="1" dirty="0"/>
              <a:t> </a:t>
            </a:r>
            <a:r>
              <a:rPr lang="en-US" altLang="zh-CN" b="1" dirty="0"/>
              <a:t>+ A’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r>
              <a:rPr lang="en-US" altLang="zh-CN" b="1" dirty="0">
                <a:solidFill>
                  <a:schemeClr val="folHlink"/>
                </a:solidFill>
              </a:rPr>
              <a:t>(</a:t>
            </a:r>
            <a:r>
              <a:rPr lang="zh-CN" altLang="en-US" b="1" dirty="0">
                <a:solidFill>
                  <a:schemeClr val="folHlink"/>
                </a:solidFill>
              </a:rPr>
              <a:t>预备组织为</a:t>
            </a:r>
            <a:r>
              <a:rPr lang="en-US" altLang="zh-CN" b="1" dirty="0">
                <a:solidFill>
                  <a:srgbClr val="CCFFCC"/>
                </a:solidFill>
              </a:rPr>
              <a:t>P</a:t>
            </a:r>
            <a:r>
              <a:rPr lang="zh-CN" altLang="en-US" b="1" baseline="-25000" dirty="0">
                <a:solidFill>
                  <a:srgbClr val="CCFFCC"/>
                </a:solidFill>
              </a:rPr>
              <a:t>球</a:t>
            </a:r>
            <a:r>
              <a:rPr lang="en-US" altLang="zh-CN" b="1" dirty="0">
                <a:solidFill>
                  <a:schemeClr val="folHlink"/>
                </a:solidFill>
              </a:rPr>
              <a:t>)</a:t>
            </a: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/>
            <a:endParaRPr lang="en-US" altLang="zh-CN" dirty="0"/>
          </a:p>
        </p:txBody>
      </p:sp>
      <p:sp>
        <p:nvSpPr>
          <p:cNvPr id="107525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95745"/>
            <a:ext cx="1786255" cy="26225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75425"/>
            <a:ext cx="457200" cy="28257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0"/>
            <a:ext cx="49672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亚共析钢淬火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8547" name="Rectangle 3"/>
          <p:cNvSpPr>
            <a:spLocks noGrp="1"/>
          </p:cNvSpPr>
          <p:nvPr>
            <p:ph idx="1"/>
          </p:nvPr>
        </p:nvSpPr>
        <p:spPr>
          <a:xfrm>
            <a:off x="323850" y="1214438"/>
            <a:ext cx="5400675" cy="27908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淬火温度：</a:t>
            </a:r>
            <a:r>
              <a:rPr lang="en-US" altLang="zh-CN" b="1" dirty="0">
                <a:solidFill>
                  <a:srgbClr val="CCFFFF"/>
                </a:solidFill>
              </a:rPr>
              <a:t>Ac</a:t>
            </a:r>
            <a:r>
              <a:rPr lang="en-US" altLang="zh-CN" b="1" baseline="-25000" dirty="0">
                <a:solidFill>
                  <a:srgbClr val="CCFFFF"/>
                </a:solidFill>
              </a:rPr>
              <a:t>3</a:t>
            </a:r>
            <a:r>
              <a:rPr lang="en-US" altLang="zh-CN" b="1" dirty="0">
                <a:solidFill>
                  <a:srgbClr val="CCFFFF"/>
                </a:solidFill>
              </a:rPr>
              <a:t>+30~50℃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预备热处理组织为</a:t>
            </a:r>
            <a:r>
              <a:rPr lang="zh-CN" altLang="en-US" b="1" dirty="0">
                <a:solidFill>
                  <a:schemeClr val="folHlink"/>
                </a:solidFill>
              </a:rPr>
              <a:t>退火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chemeClr val="folHlink"/>
                </a:solidFill>
              </a:rPr>
              <a:t>正火组织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淬火组织：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0.5%C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；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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0.5%C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时为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M+A’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108548" name="Picture 5" descr="A'与C%关系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694488" y="3786188"/>
            <a:ext cx="2449512" cy="2008187"/>
          </a:xfrm>
          <a:prstGeom prst="rect">
            <a:avLst/>
          </a:prstGeom>
          <a:noFill/>
          <a:ln w="38100" cap="flat" cmpd="sng">
            <a:solidFill>
              <a:srgbClr val="99CCFF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08549" name="Picture 7" descr="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3235" y="3786505"/>
            <a:ext cx="2900045" cy="2150745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8550" name="Rectangle 8"/>
          <p:cNvSpPr>
            <a:spLocks noChangeAspect="1"/>
          </p:cNvSpPr>
          <p:nvPr/>
        </p:nvSpPr>
        <p:spPr>
          <a:xfrm>
            <a:off x="251778" y="6021070"/>
            <a:ext cx="3214687" cy="263525"/>
          </a:xfrm>
          <a:prstGeom prst="rect">
            <a:avLst/>
          </a:prstGeom>
          <a:solidFill>
            <a:schemeClr val="bg2">
              <a:alpha val="50194"/>
            </a:schemeClr>
          </a:solidFill>
          <a:ln w="38100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45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钢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含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0.45%C)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正常淬火组织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8551" name="Picture 9" descr="C60_hard84015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56025" y="3786505"/>
            <a:ext cx="2786380" cy="2165985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8552" name="Rectangle 10"/>
          <p:cNvSpPr>
            <a:spLocks noChangeAspect="1"/>
          </p:cNvSpPr>
          <p:nvPr/>
        </p:nvSpPr>
        <p:spPr>
          <a:xfrm>
            <a:off x="3780155" y="5998528"/>
            <a:ext cx="2773363" cy="285750"/>
          </a:xfrm>
          <a:prstGeom prst="rect">
            <a:avLst/>
          </a:prstGeom>
          <a:solidFill>
            <a:schemeClr val="bg2">
              <a:alpha val="50194"/>
            </a:schemeClr>
          </a:solidFill>
          <a:ln w="38100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65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钢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(0.60%C)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淬火组织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8553" name="Picture 11" descr="image03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12180" y="1196340"/>
            <a:ext cx="2943225" cy="233426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8555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75425"/>
            <a:ext cx="1786255" cy="27178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33408" y="6586855"/>
            <a:ext cx="488950" cy="27114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6547" y="-107113"/>
            <a:ext cx="56848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亚温淬火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9571" name="Rectangle 3"/>
          <p:cNvSpPr>
            <a:spLocks noGrp="1"/>
          </p:cNvSpPr>
          <p:nvPr>
            <p:ph idx="1"/>
          </p:nvPr>
        </p:nvSpPr>
        <p:spPr>
          <a:xfrm>
            <a:off x="179389" y="1700856"/>
            <a:ext cx="4606454" cy="3898257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亚温淬火：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在</a:t>
            </a:r>
            <a:r>
              <a:rPr lang="en-US" altLang="zh-CN" b="1" dirty="0">
                <a:ea typeface="华文中宋" panose="02010600040101010101" pitchFamily="2" charset="-122"/>
              </a:rPr>
              <a:t>Ac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ea typeface="华文中宋" panose="02010600040101010101" pitchFamily="2" charset="-122"/>
              </a:rPr>
              <a:t>~ Ac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之间的加热淬火</a:t>
            </a:r>
            <a:r>
              <a:rPr lang="zh-CN" altLang="en-US" b="1" dirty="0">
                <a:solidFill>
                  <a:srgbClr val="CCFFCC"/>
                </a:solidFill>
                <a:ea typeface="华文中宋" panose="02010600040101010101" pitchFamily="2" charset="-122"/>
              </a:rPr>
              <a:t>。</a:t>
            </a:r>
            <a:endParaRPr lang="en-US" altLang="zh-CN" b="1" dirty="0">
              <a:solidFill>
                <a:srgbClr val="CCFFCC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dirty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亚温淬火组织：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F+M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，强度、硬度低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但塑性、韧性好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 b="1" dirty="0">
              <a:solidFill>
                <a:srgbClr val="CCFFCC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712096" y="1197065"/>
            <a:ext cx="2122694" cy="4322679"/>
            <a:chOff x="3630" y="326"/>
            <a:chExt cx="1562" cy="3098"/>
          </a:xfrm>
        </p:grpSpPr>
        <p:grpSp>
          <p:nvGrpSpPr>
            <p:cNvPr id="109573" name="Group 5"/>
            <p:cNvGrpSpPr/>
            <p:nvPr/>
          </p:nvGrpSpPr>
          <p:grpSpPr>
            <a:xfrm>
              <a:off x="3671" y="326"/>
              <a:ext cx="1521" cy="2751"/>
              <a:chOff x="3671" y="326"/>
              <a:chExt cx="1521" cy="2751"/>
            </a:xfrm>
          </p:grpSpPr>
          <p:pic>
            <p:nvPicPr>
              <p:cNvPr id="109574" name="Picture 6" descr="14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684" y="1895"/>
                <a:ext cx="1505" cy="1182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grpSp>
            <p:nvGrpSpPr>
              <p:cNvPr id="109575" name="Group 7"/>
              <p:cNvGrpSpPr/>
              <p:nvPr/>
            </p:nvGrpSpPr>
            <p:grpSpPr>
              <a:xfrm>
                <a:off x="3671" y="326"/>
                <a:ext cx="1521" cy="1475"/>
                <a:chOff x="3671" y="326"/>
                <a:chExt cx="1521" cy="1475"/>
              </a:xfrm>
            </p:grpSpPr>
            <p:pic>
              <p:nvPicPr>
                <p:cNvPr id="109576" name="Picture 8" descr="等温退火温度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671" y="326"/>
                  <a:ext cx="1521" cy="1454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</p:pic>
            <p:sp>
              <p:nvSpPr>
                <p:cNvPr id="109577" name="Line 9"/>
                <p:cNvSpPr>
                  <a:spLocks noChangeAspect="1"/>
                </p:cNvSpPr>
                <p:nvPr/>
              </p:nvSpPr>
              <p:spPr>
                <a:xfrm>
                  <a:off x="4130" y="974"/>
                  <a:ext cx="1" cy="827"/>
                </a:xfrm>
                <a:prstGeom prst="line">
                  <a:avLst/>
                </a:prstGeom>
                <a:ln w="3810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578" name="Text Box 10"/>
                <p:cNvSpPr txBox="1">
                  <a:spLocks noChangeAspect="1"/>
                </p:cNvSpPr>
                <p:nvPr/>
              </p:nvSpPr>
              <p:spPr>
                <a:xfrm>
                  <a:off x="4014" y="813"/>
                  <a:ext cx="234" cy="291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square" anchor="t">
                  <a:spAutoFit/>
                </a:bodyPr>
                <a:lstStyle/>
                <a:p>
                  <a:r>
                    <a:rPr lang="en-US" altLang="zh-CN" sz="2400" b="0" dirty="0">
                      <a:solidFill>
                        <a:schemeClr val="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</a:t>
                  </a:r>
                  <a:endParaRPr lang="en-US" altLang="zh-CN" sz="2400" b="0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09579" name="Rectangle 11"/>
            <p:cNvSpPr>
              <a:spLocks noChangeAspect="1"/>
            </p:cNvSpPr>
            <p:nvPr/>
          </p:nvSpPr>
          <p:spPr>
            <a:xfrm>
              <a:off x="3630" y="3171"/>
              <a:ext cx="1562" cy="253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12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35</a:t>
              </a:r>
              <a:r>
                <a:rPr lang="zh-CN" altLang="en-US" sz="12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</a:t>
              </a:r>
              <a:r>
                <a:rPr lang="en-US" altLang="zh-CN" sz="12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2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含</a:t>
              </a:r>
              <a:r>
                <a:rPr lang="en-US" altLang="zh-CN" sz="12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0.35%C)</a:t>
              </a:r>
              <a:r>
                <a:rPr lang="zh-CN" altLang="en-US" sz="12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亚温淬火组织</a:t>
              </a:r>
              <a:endParaRPr lang="zh-CN" altLang="en-US" sz="12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9582" name="日期占位符 1"/>
          <p:cNvSpPr>
            <a:spLocks noGrp="1"/>
          </p:cNvSpPr>
          <p:nvPr>
            <p:ph type="dt" sz="half" idx="10"/>
          </p:nvPr>
        </p:nvSpPr>
        <p:spPr>
          <a:xfrm>
            <a:off x="179705" y="6586220"/>
            <a:ext cx="1786255" cy="27178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97650"/>
            <a:ext cx="457200" cy="2603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5086985" cy="98869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共析钢淬火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0595" name="Rectangle 3"/>
          <p:cNvSpPr>
            <a:spLocks noGrp="1"/>
          </p:cNvSpPr>
          <p:nvPr>
            <p:ph idx="1"/>
          </p:nvPr>
        </p:nvSpPr>
        <p:spPr>
          <a:xfrm>
            <a:off x="685800" y="1341438"/>
            <a:ext cx="7772400" cy="4754562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淬火温度：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+30~50℃</a:t>
            </a:r>
            <a:r>
              <a:rPr lang="zh-CN" altLang="en-US" b="1" dirty="0">
                <a:ea typeface="华文中宋" panose="02010600040101010101" pitchFamily="2" charset="-122"/>
              </a:rPr>
              <a:t>；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marL="0" indent="0" eaLnBrk="1" hangingPunct="1">
              <a:buNone/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淬火组织：</a:t>
            </a:r>
            <a:r>
              <a:rPr lang="en-US" altLang="zh-CN" b="1" dirty="0">
                <a:ea typeface="华文中宋" panose="02010600040101010101" pitchFamily="2" charset="-122"/>
              </a:rPr>
              <a:t>M+A’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362500" name="Picture 4" descr="image016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002004" y="2132893"/>
            <a:ext cx="4730175" cy="3168264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10598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97015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622415"/>
            <a:ext cx="457200" cy="23558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430" y="0"/>
            <a:ext cx="6921500" cy="98869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过共析钢淬火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1619" name="Rectangle 3"/>
          <p:cNvSpPr>
            <a:spLocks noGrp="1"/>
          </p:cNvSpPr>
          <p:nvPr>
            <p:ph idx="1"/>
          </p:nvPr>
        </p:nvSpPr>
        <p:spPr>
          <a:xfrm>
            <a:off x="250825" y="1190625"/>
            <a:ext cx="4968875" cy="516763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淬火温度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en-US" altLang="zh-CN" sz="2800" b="1" dirty="0">
                <a:ea typeface="华文中宋" panose="02010600040101010101" pitchFamily="2" charset="-122"/>
              </a:rPr>
              <a:t>Ac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ea typeface="华文中宋" panose="02010600040101010101" pitchFamily="2" charset="-122"/>
              </a:rPr>
              <a:t>+30~50℃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.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温度高于</a:t>
            </a:r>
            <a:r>
              <a:rPr lang="en-US" altLang="zh-CN" sz="2800" b="1" dirty="0" err="1">
                <a:solidFill>
                  <a:srgbClr val="CCFFFF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sz="2800" b="1" baseline="-30000" dirty="0" err="1">
                <a:solidFill>
                  <a:srgbClr val="CCFFFF"/>
                </a:solidFill>
                <a:ea typeface="华文中宋" panose="02010600040101010101" pitchFamily="2" charset="-122"/>
              </a:rPr>
              <a:t>cm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，则奥氏体晶粒粗大、含碳量高，淬火后马氏体晶粒粗大、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A’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量增多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.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使钢硬度、耐磨性下降，脆性、变形开裂倾向增加。</a:t>
            </a:r>
            <a:endParaRPr lang="zh-CN" altLang="en-US" sz="2800" b="1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淬火组织</a:t>
            </a:r>
            <a:r>
              <a:rPr lang="en-US" altLang="zh-CN" b="1" dirty="0">
                <a:solidFill>
                  <a:schemeClr val="folHlink"/>
                </a:solidFill>
              </a:rPr>
              <a:t>:  </a:t>
            </a:r>
            <a:r>
              <a:rPr lang="en-US" altLang="zh-CN" b="1" dirty="0"/>
              <a:t>M+Fe</a:t>
            </a:r>
            <a:r>
              <a:rPr lang="en-US" altLang="zh-CN" b="1" baseline="-25000" dirty="0"/>
              <a:t>3</a:t>
            </a:r>
            <a:r>
              <a:rPr lang="en-US" altLang="zh-CN" b="1" dirty="0"/>
              <a:t>C</a:t>
            </a:r>
            <a:r>
              <a:rPr lang="zh-CN" altLang="en-US" b="1" baseline="-25000" dirty="0">
                <a:solidFill>
                  <a:srgbClr val="CCFFCC"/>
                </a:solidFill>
              </a:rPr>
              <a:t>颗粒</a:t>
            </a:r>
            <a:r>
              <a:rPr lang="en-US" altLang="zh-CN" b="1" dirty="0"/>
              <a:t>+A’</a:t>
            </a:r>
            <a:r>
              <a:rPr lang="zh-CN" altLang="en-US" b="1" dirty="0">
                <a:solidFill>
                  <a:schemeClr val="folHlink"/>
                </a:solidFill>
              </a:rPr>
              <a:t>。</a:t>
            </a:r>
            <a:r>
              <a:rPr lang="en-US" altLang="zh-CN" b="1" dirty="0">
                <a:solidFill>
                  <a:schemeClr val="folHlink"/>
                </a:solidFill>
              </a:rPr>
              <a:t>(</a:t>
            </a:r>
            <a:r>
              <a:rPr lang="zh-CN" altLang="en-US" b="1" dirty="0">
                <a:solidFill>
                  <a:schemeClr val="folHlink"/>
                </a:solidFill>
              </a:rPr>
              <a:t>预备组织为</a:t>
            </a:r>
            <a:r>
              <a:rPr lang="en-US" altLang="zh-CN" b="1" dirty="0">
                <a:solidFill>
                  <a:srgbClr val="CCFFCC"/>
                </a:solidFill>
              </a:rPr>
              <a:t>P</a:t>
            </a:r>
            <a:r>
              <a:rPr lang="zh-CN" altLang="en-US" b="1" baseline="-25000" dirty="0">
                <a:solidFill>
                  <a:srgbClr val="CCFFCC"/>
                </a:solidFill>
              </a:rPr>
              <a:t>球</a:t>
            </a:r>
            <a:r>
              <a:rPr lang="en-US" altLang="zh-CN" b="1" dirty="0">
                <a:solidFill>
                  <a:schemeClr val="folHlink"/>
                </a:solidFill>
              </a:rPr>
              <a:t>)</a:t>
            </a:r>
            <a:endParaRPr lang="en-US" altLang="zh-CN" sz="2800" b="1" dirty="0">
              <a:solidFill>
                <a:srgbClr val="CCFFFF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5689873" y="1316990"/>
            <a:ext cx="2955017" cy="2718435"/>
            <a:chOff x="3051" y="576"/>
            <a:chExt cx="2484" cy="3252"/>
          </a:xfrm>
        </p:grpSpPr>
        <p:pic>
          <p:nvPicPr>
            <p:cNvPr id="111621" name="Picture 5" descr="旋转 T12钢正常淬火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079" y="576"/>
              <a:ext cx="2456" cy="3055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11622" name="Rectangle 6"/>
            <p:cNvSpPr>
              <a:spLocks noChangeAspect="1"/>
            </p:cNvSpPr>
            <p:nvPr/>
          </p:nvSpPr>
          <p:spPr>
            <a:xfrm>
              <a:off x="3051" y="3588"/>
              <a:ext cx="2400" cy="240"/>
            </a:xfrm>
            <a:prstGeom prst="rect">
              <a:avLst/>
            </a:prstGeom>
            <a:solidFill>
              <a:schemeClr val="bg2">
                <a:alpha val="50194"/>
              </a:schemeClr>
            </a:solidFill>
            <a:ln w="9525">
              <a:noFill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T12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钢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含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1.2%C)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正常淬火组织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65575" name="Picture 7" descr="球状珠光体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35320" y="4149090"/>
            <a:ext cx="2809875" cy="183007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11625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165" y="6572250"/>
            <a:ext cx="457835" cy="2857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68538" y="0"/>
            <a:ext cx="5089525" cy="8572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、合金钢淬火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2643" name="Rectangle 3"/>
          <p:cNvSpPr>
            <a:spLocks noGrp="1"/>
          </p:cNvSpPr>
          <p:nvPr>
            <p:ph idx="1"/>
          </p:nvPr>
        </p:nvSpPr>
        <p:spPr>
          <a:xfrm>
            <a:off x="0" y="1196975"/>
            <a:ext cx="9144000" cy="5043488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由于多数合金元素</a:t>
            </a:r>
            <a:r>
              <a:rPr lang="en-US" altLang="zh-CN" b="1" dirty="0">
                <a:ea typeface="华文中宋" panose="02010600040101010101" pitchFamily="2" charset="-122"/>
              </a:rPr>
              <a:t>(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P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除外</a:t>
            </a:r>
            <a:r>
              <a:rPr lang="en-US" altLang="zh-CN" b="1" dirty="0"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对奥氏体晶粒长大有阻碍作用，因而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合金钢淬火温度比碳钢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高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亚共析钢：</a:t>
            </a:r>
            <a:r>
              <a:rPr lang="zh-CN" altLang="en-US" b="1" dirty="0">
                <a:ea typeface="华文中宋" panose="02010600040101010101" pitchFamily="2" charset="-122"/>
              </a:rPr>
              <a:t>淬火温度为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+ 50~100℃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⑵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共析钢、过共析钢：</a:t>
            </a:r>
            <a:r>
              <a:rPr lang="zh-CN" altLang="en-US" b="1" dirty="0">
                <a:ea typeface="华文中宋" panose="02010600040101010101" pitchFamily="2" charset="-122"/>
              </a:rPr>
              <a:t>淬火温度为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+50~100℃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929130" y="3916680"/>
            <a:ext cx="5391785" cy="1595599"/>
            <a:chOff x="576" y="2160"/>
            <a:chExt cx="4560" cy="2246"/>
          </a:xfrm>
        </p:grpSpPr>
        <p:pic>
          <p:nvPicPr>
            <p:cNvPr id="112645" name="Picture 5" descr="industrial_furnace_0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76" y="2160"/>
              <a:ext cx="4560" cy="2040"/>
            </a:xfrm>
            <a:prstGeom prst="rect">
              <a:avLst/>
            </a:prstGeom>
            <a:noFill/>
            <a:ln w="38100" cap="flat" cmpd="sng">
              <a:solidFill>
                <a:srgbClr val="990099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2646" name="Text Box 6"/>
            <p:cNvSpPr txBox="1"/>
            <p:nvPr/>
          </p:nvSpPr>
          <p:spPr>
            <a:xfrm>
              <a:off x="576" y="3888"/>
              <a:ext cx="1679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钢坯加热</a:t>
              </a:r>
              <a:endParaRPr lang="zh-CN" altLang="en-US" sz="18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648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64630"/>
            <a:ext cx="1786255" cy="20764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3667" name="Rectangle 2"/>
          <p:cNvSpPr>
            <a:spLocks noGrp="1"/>
          </p:cNvSpPr>
          <p:nvPr>
            <p:ph type="title"/>
          </p:nvPr>
        </p:nvSpPr>
        <p:spPr>
          <a:xfrm>
            <a:off x="2124410" y="82233"/>
            <a:ext cx="4730750" cy="857250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b="1" strike="noStrike" noProof="1">
                <a:ea typeface="华文中宋" panose="02010600040101010101" pitchFamily="2" charset="-122"/>
              </a:rPr>
              <a:t>二、淬火介质</a:t>
            </a:r>
            <a:endParaRPr lang="zh-CN" altLang="en-US" b="1" strike="noStrike" noProof="1">
              <a:ea typeface="华文中宋" panose="0201060004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>
          <a:xfrm>
            <a:off x="0" y="1143000"/>
            <a:ext cx="6443663" cy="5310188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理想的冷却曲线</a:t>
            </a:r>
            <a:r>
              <a:rPr lang="zh-CN" altLang="en-US" b="1" dirty="0">
                <a:ea typeface="华文中宋" panose="02010600040101010101" pitchFamily="2" charset="-122"/>
              </a:rPr>
              <a:t>应只在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曲线鼻尖处快冷</a:t>
            </a:r>
            <a:r>
              <a:rPr lang="zh-CN" altLang="en-US" b="1" dirty="0">
                <a:ea typeface="华文中宋" panose="02010600040101010101" pitchFamily="2" charset="-122"/>
              </a:rPr>
              <a:t>，而在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Ms</a:t>
            </a:r>
            <a:r>
              <a:rPr lang="zh-CN" altLang="en-US" b="1" dirty="0">
                <a:ea typeface="华文中宋" panose="02010600040101010101" pitchFamily="2" charset="-122"/>
              </a:rPr>
              <a:t>附近尽量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缓冷</a:t>
            </a:r>
            <a:r>
              <a:rPr lang="zh-CN" altLang="en-US" b="1" dirty="0">
                <a:ea typeface="华文中宋" panose="02010600040101010101" pitchFamily="2" charset="-122"/>
              </a:rPr>
              <a:t>，以达到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既获得马氏体组织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又减小内应力</a:t>
            </a:r>
            <a:r>
              <a:rPr lang="zh-CN" altLang="en-US" b="1" dirty="0"/>
              <a:t>的目的。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目前还没有找到理想的淬火介质。</a:t>
            </a:r>
            <a:endParaRPr lang="zh-CN" altLang="en-US" b="1" dirty="0"/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常用淬火介质：水、油</a:t>
            </a:r>
            <a:r>
              <a:rPr lang="en-US" altLang="zh-CN" b="1" dirty="0">
                <a:solidFill>
                  <a:schemeClr val="folHlink"/>
                </a:solidFill>
              </a:rPr>
              <a:t>.</a:t>
            </a: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99FF99"/>
                </a:solidFill>
              </a:rPr>
              <a:t>水的冷却能力强，但低温冷却能力太大，</a:t>
            </a:r>
            <a:r>
              <a:rPr lang="zh-CN" altLang="en-US" b="1" dirty="0">
                <a:ea typeface="华文中宋" panose="02010600040101010101" pitchFamily="2" charset="-122"/>
              </a:rPr>
              <a:t>只使用于</a:t>
            </a:r>
            <a:r>
              <a:rPr lang="zh-CN" altLang="en-US" b="1" dirty="0">
                <a:solidFill>
                  <a:schemeClr val="folHlink"/>
                </a:solidFill>
              </a:rPr>
              <a:t>形状简单</a:t>
            </a:r>
            <a:r>
              <a:rPr lang="zh-CN" altLang="en-US" b="1" dirty="0">
                <a:solidFill>
                  <a:srgbClr val="99FF99"/>
                </a:solidFill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</a:rPr>
              <a:t>碳钢</a:t>
            </a:r>
            <a:r>
              <a:rPr lang="zh-CN" altLang="en-US" b="1" dirty="0">
                <a:solidFill>
                  <a:srgbClr val="99FF99"/>
                </a:solidFill>
              </a:rPr>
              <a:t>件。</a:t>
            </a:r>
            <a:endParaRPr lang="zh-CN" altLang="en-US" dirty="0"/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>
          <a:xfrm>
            <a:off x="6370638" y="2276475"/>
            <a:ext cx="2659062" cy="2652713"/>
            <a:chOff x="2928" y="1488"/>
            <a:chExt cx="2410" cy="2406"/>
          </a:xfrm>
        </p:grpSpPr>
        <p:pic>
          <p:nvPicPr>
            <p:cNvPr id="113669" name="Picture 5" descr="理想介质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28" y="1488"/>
              <a:ext cx="2410" cy="2406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3670" name="Text Box 6"/>
            <p:cNvSpPr txBox="1">
              <a:spLocks noChangeAspect="1"/>
            </p:cNvSpPr>
            <p:nvPr/>
          </p:nvSpPr>
          <p:spPr>
            <a:xfrm>
              <a:off x="2976" y="3600"/>
              <a:ext cx="2362" cy="278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理想淬火曲线示意图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671" name="Oval 7"/>
            <p:cNvSpPr>
              <a:spLocks noChangeAspect="1"/>
            </p:cNvSpPr>
            <p:nvPr/>
          </p:nvSpPr>
          <p:spPr>
            <a:xfrm>
              <a:off x="3152" y="2781"/>
              <a:ext cx="208" cy="674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672" name="Text Box 8"/>
            <p:cNvSpPr txBox="1">
              <a:spLocks noChangeAspect="1"/>
            </p:cNvSpPr>
            <p:nvPr/>
          </p:nvSpPr>
          <p:spPr>
            <a:xfrm>
              <a:off x="2980" y="2809"/>
              <a:ext cx="483" cy="256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1600" i="1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Ms</a:t>
              </a:r>
              <a:endParaRPr lang="en-US" altLang="zh-CN" sz="1600" i="1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3673" name="Text Box 9"/>
            <p:cNvSpPr txBox="1">
              <a:spLocks noChangeAspect="1"/>
            </p:cNvSpPr>
            <p:nvPr/>
          </p:nvSpPr>
          <p:spPr>
            <a:xfrm>
              <a:off x="2980" y="3120"/>
              <a:ext cx="483" cy="256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1600" i="1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sz="1600" i="1" baseline="-250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  <a:endParaRPr lang="en-US" altLang="zh-CN" sz="1600" i="1" baseline="-250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13675" name="日期占位符 1"/>
          <p:cNvSpPr>
            <a:spLocks noGrp="1"/>
          </p:cNvSpPr>
          <p:nvPr>
            <p:ph type="dt" sz="half" idx="10"/>
          </p:nvPr>
        </p:nvSpPr>
        <p:spPr>
          <a:xfrm>
            <a:off x="153670" y="6597015"/>
            <a:ext cx="1786255" cy="26098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85175" y="6543675"/>
            <a:ext cx="733425" cy="338138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14692" name="Rectangle 2"/>
          <p:cNvSpPr>
            <a:spLocks noGrp="1"/>
          </p:cNvSpPr>
          <p:nvPr>
            <p:ph type="title"/>
          </p:nvPr>
        </p:nvSpPr>
        <p:spPr>
          <a:xfrm>
            <a:off x="1979613" y="0"/>
            <a:ext cx="5400621" cy="981075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b="1">
                <a:ea typeface="华文中宋" panose="02010600040101010101" pitchFamily="2" charset="-122"/>
                <a:sym typeface="+mn-ea"/>
              </a:rPr>
              <a:t>二、</a:t>
            </a:r>
            <a:r>
              <a:rPr lang="zh-CN" altLang="en-US" b="1" strike="noStrike" noProof="1">
                <a:ea typeface="华文中宋" panose="02010600040101010101" pitchFamily="2" charset="-122"/>
              </a:rPr>
              <a:t>淬火介质</a:t>
            </a:r>
            <a:endParaRPr lang="zh-CN" altLang="en-US" b="1" strike="noStrike" noProof="1">
              <a:ea typeface="华文中宋" panose="02010600040101010101" pitchFamily="2" charset="-122"/>
            </a:endParaRPr>
          </a:p>
        </p:txBody>
      </p:sp>
      <p:sp>
        <p:nvSpPr>
          <p:cNvPr id="114691" name="Rectangle 3"/>
          <p:cNvSpPr>
            <a:spLocks noGrp="1"/>
          </p:cNvSpPr>
          <p:nvPr>
            <p:ph idx="1"/>
          </p:nvPr>
        </p:nvSpPr>
        <p:spPr>
          <a:xfrm>
            <a:off x="215106" y="1052989"/>
            <a:ext cx="8713788" cy="370300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油：</a:t>
            </a:r>
            <a:r>
              <a:rPr lang="zh-CN" altLang="en-US" b="1" dirty="0">
                <a:ea typeface="华文中宋" panose="02010600040101010101" pitchFamily="2" charset="-122"/>
              </a:rPr>
              <a:t>在低温区冷却能力较理想，但高温区冷却能力太小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适用于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合金钢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小尺寸的碳钢件。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熔盐（碱）：</a:t>
            </a:r>
            <a:r>
              <a:rPr lang="zh-CN" altLang="en-US" b="1" dirty="0">
                <a:ea typeface="华文中宋" panose="02010600040101010101" pitchFamily="2" charset="-122"/>
              </a:rPr>
              <a:t>作为淬火介质称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盐（碱）浴</a:t>
            </a:r>
            <a:r>
              <a:rPr lang="zh-CN" altLang="en-US" b="1" dirty="0">
                <a:ea typeface="华文中宋" panose="02010600040101010101" pitchFamily="2" charset="-122"/>
              </a:rPr>
              <a:t>，冷却能力在水和油之间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用于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形状复杂件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分级淬火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等温淬火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聚乙烯醇、硝盐水溶液</a:t>
            </a:r>
            <a:r>
              <a:rPr lang="zh-CN" altLang="en-US" b="1" dirty="0">
                <a:ea typeface="华文中宋" panose="02010600040101010101" pitchFamily="2" charset="-122"/>
              </a:rPr>
              <a:t>等：也是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工业常用的淬火介质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b="1" dirty="0">
              <a:solidFill>
                <a:schemeClr val="folHlink"/>
              </a:solidFill>
              <a:ea typeface="仿宋_GB2312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339814" y="4825365"/>
            <a:ext cx="6088062" cy="1758950"/>
            <a:chOff x="2736" y="2160"/>
            <a:chExt cx="2496" cy="1824"/>
          </a:xfrm>
        </p:grpSpPr>
        <p:grpSp>
          <p:nvGrpSpPr>
            <p:cNvPr id="114693" name="Group 5"/>
            <p:cNvGrpSpPr>
              <a:grpSpLocks noChangeAspect="1"/>
            </p:cNvGrpSpPr>
            <p:nvPr/>
          </p:nvGrpSpPr>
          <p:grpSpPr>
            <a:xfrm>
              <a:off x="2736" y="2160"/>
              <a:ext cx="2494" cy="1818"/>
              <a:chOff x="2256" y="2064"/>
              <a:chExt cx="2804" cy="2044"/>
            </a:xfrm>
          </p:grpSpPr>
          <p:pic>
            <p:nvPicPr>
              <p:cNvPr id="114694" name="Picture 6" descr="常用淬火介质冷却能力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256" y="2064"/>
                <a:ext cx="2804" cy="2044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sp>
            <p:nvSpPr>
              <p:cNvPr id="114695" name="Oval 7"/>
              <p:cNvSpPr>
                <a:spLocks noChangeAspect="1"/>
              </p:cNvSpPr>
              <p:nvPr/>
            </p:nvSpPr>
            <p:spPr>
              <a:xfrm>
                <a:off x="2544" y="2064"/>
                <a:ext cx="432" cy="192"/>
              </a:xfrm>
              <a:prstGeom prst="ellipse">
                <a:avLst/>
              </a:prstGeom>
              <a:solidFill>
                <a:schemeClr val="tx1"/>
              </a:solidFill>
              <a:ln w="28575">
                <a:noFill/>
              </a:ln>
            </p:spPr>
            <p:txBody>
              <a:bodyPr wrap="none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4696" name="Rectangle 8"/>
            <p:cNvSpPr/>
            <p:nvPr/>
          </p:nvSpPr>
          <p:spPr>
            <a:xfrm>
              <a:off x="2736" y="2160"/>
              <a:ext cx="2496" cy="1824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4698" name="日期占位符 1"/>
          <p:cNvSpPr>
            <a:spLocks noGrp="1"/>
          </p:cNvSpPr>
          <p:nvPr>
            <p:ph type="dt" sz="half" idx="10"/>
          </p:nvPr>
        </p:nvSpPr>
        <p:spPr>
          <a:xfrm>
            <a:off x="92075" y="6538913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0950"/>
            <a:ext cx="4724400" cy="8096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三、淬火方法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285750" y="1285875"/>
            <a:ext cx="4608513" cy="494665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采用不同的淬火方法可弥补介质的不足。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、单液淬火法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、双液淬火法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folHlink"/>
                </a:solidFill>
              </a:rPr>
              <a:t>3—</a:t>
            </a:r>
            <a:r>
              <a:rPr lang="zh-CN" altLang="en-US" b="1" dirty="0">
                <a:solidFill>
                  <a:schemeClr val="folHlink"/>
                </a:solidFill>
              </a:rPr>
              <a:t>分级淬火法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chemeClr val="folHlink"/>
                </a:solidFill>
              </a:rPr>
              <a:t>4—</a:t>
            </a:r>
            <a:r>
              <a:rPr lang="zh-CN" altLang="en-US" b="1" dirty="0">
                <a:solidFill>
                  <a:schemeClr val="folHlink"/>
                </a:solidFill>
              </a:rPr>
              <a:t>等温淬火法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chemeClr val="folHlink"/>
                </a:solidFill>
              </a:rPr>
              <a:t>5—</a:t>
            </a:r>
            <a:r>
              <a:rPr lang="zh-CN" altLang="en-US" dirty="0">
                <a:solidFill>
                  <a:schemeClr val="folHlink"/>
                </a:solidFill>
              </a:rPr>
              <a:t>局部淬火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grpSp>
        <p:nvGrpSpPr>
          <p:cNvPr id="115717" name="Group 5"/>
          <p:cNvGrpSpPr>
            <a:grpSpLocks noChangeAspect="1"/>
          </p:cNvGrpSpPr>
          <p:nvPr/>
        </p:nvGrpSpPr>
        <p:grpSpPr>
          <a:xfrm>
            <a:off x="5507990" y="1374140"/>
            <a:ext cx="3155633" cy="4116390"/>
            <a:chOff x="912" y="720"/>
            <a:chExt cx="2498" cy="3006"/>
          </a:xfrm>
        </p:grpSpPr>
        <p:grpSp>
          <p:nvGrpSpPr>
            <p:cNvPr id="115718" name="Group 6"/>
            <p:cNvGrpSpPr>
              <a:grpSpLocks noChangeAspect="1"/>
            </p:cNvGrpSpPr>
            <p:nvPr/>
          </p:nvGrpSpPr>
          <p:grpSpPr>
            <a:xfrm>
              <a:off x="912" y="720"/>
              <a:ext cx="2451" cy="3006"/>
              <a:chOff x="912" y="720"/>
              <a:chExt cx="2451" cy="3006"/>
            </a:xfrm>
          </p:grpSpPr>
          <p:pic>
            <p:nvPicPr>
              <p:cNvPr id="115719" name="Picture 7" descr="淬火方法示意图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912" y="720"/>
                <a:ext cx="2451" cy="2771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115720" name="Text Box 8"/>
              <p:cNvSpPr txBox="1">
                <a:spLocks noChangeAspect="1"/>
              </p:cNvSpPr>
              <p:nvPr/>
            </p:nvSpPr>
            <p:spPr>
              <a:xfrm>
                <a:off x="912" y="3457"/>
                <a:ext cx="2448" cy="269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各种淬火方法示意图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5721" name="Text Box 9"/>
            <p:cNvSpPr txBox="1">
              <a:spLocks noChangeAspect="1"/>
            </p:cNvSpPr>
            <p:nvPr/>
          </p:nvSpPr>
          <p:spPr>
            <a:xfrm>
              <a:off x="2166" y="1221"/>
              <a:ext cx="1244" cy="105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1—</a:t>
              </a:r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单液淬火法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2—</a:t>
              </a:r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双液淬火法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3—</a:t>
              </a:r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分级淬火法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4—</a:t>
              </a:r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等温淬火法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15724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53200"/>
            <a:ext cx="1786255" cy="262255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advAuto="100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380" y="6569710"/>
            <a:ext cx="642620" cy="28829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49688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、单液淬火法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6740" name="Rectangle 3"/>
          <p:cNvSpPr>
            <a:spLocks noGrp="1" noChangeArrowheads="1"/>
          </p:cNvSpPr>
          <p:nvPr>
            <p:ph idx="1"/>
          </p:nvPr>
        </p:nvSpPr>
        <p:spPr>
          <a:xfrm>
            <a:off x="179705" y="1196975"/>
            <a:ext cx="4968875" cy="473202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工艺：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加热工件在一种介质中连续冷却到室温的淬火方法。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特点：操作简单，易实现自动化。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116742" name="Group 6"/>
          <p:cNvGrpSpPr>
            <a:grpSpLocks noChangeAspect="1"/>
          </p:cNvGrpSpPr>
          <p:nvPr/>
        </p:nvGrpSpPr>
        <p:grpSpPr>
          <a:xfrm>
            <a:off x="5678805" y="1268730"/>
            <a:ext cx="3169285" cy="4204335"/>
            <a:chOff x="912" y="720"/>
            <a:chExt cx="2451" cy="3000"/>
          </a:xfrm>
        </p:grpSpPr>
        <p:grpSp>
          <p:nvGrpSpPr>
            <p:cNvPr id="116743" name="Group 7"/>
            <p:cNvGrpSpPr>
              <a:grpSpLocks noChangeAspect="1"/>
            </p:cNvGrpSpPr>
            <p:nvPr/>
          </p:nvGrpSpPr>
          <p:grpSpPr>
            <a:xfrm>
              <a:off x="912" y="720"/>
              <a:ext cx="2451" cy="3000"/>
              <a:chOff x="912" y="720"/>
              <a:chExt cx="2451" cy="3000"/>
            </a:xfrm>
          </p:grpSpPr>
          <p:pic>
            <p:nvPicPr>
              <p:cNvPr id="116744" name="Picture 8" descr="淬火方法示意图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912" y="720"/>
                <a:ext cx="2451" cy="2771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116745" name="Text Box 9"/>
              <p:cNvSpPr txBox="1">
                <a:spLocks noChangeAspect="1"/>
              </p:cNvSpPr>
              <p:nvPr/>
            </p:nvSpPr>
            <p:spPr>
              <a:xfrm>
                <a:off x="1180" y="3457"/>
                <a:ext cx="2007" cy="263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2"/>
                    </a:solidFill>
                    <a:ea typeface="楷体_GB2312" pitchFamily="49" charset="-122"/>
                  </a:rPr>
                  <a:t>1.</a:t>
                </a:r>
                <a:r>
                  <a:rPr lang="zh-CN" altLang="en-US" dirty="0">
                    <a:solidFill>
                      <a:schemeClr val="bg2"/>
                    </a:solidFill>
                    <a:ea typeface="楷体_GB2312" pitchFamily="49" charset="-122"/>
                  </a:rPr>
                  <a:t>单液</a:t>
                </a:r>
                <a:r>
                  <a:rPr lang="zh-CN" altLang="en-US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淬火方法示意图</a:t>
                </a:r>
                <a:endParaRPr lang="zh-CN" altLang="en-US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6746" name="Text Box 10"/>
            <p:cNvSpPr txBox="1">
              <a:spLocks noChangeAspect="1"/>
            </p:cNvSpPr>
            <p:nvPr/>
          </p:nvSpPr>
          <p:spPr>
            <a:xfrm>
              <a:off x="2072" y="1683"/>
              <a:ext cx="1081" cy="68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1—</a:t>
              </a:r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单液淬火法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16748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70345"/>
            <a:ext cx="1786255" cy="20193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528638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9930" y="0"/>
            <a:ext cx="5547360" cy="97091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、双液淬火法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7763" name="Rectangle 3"/>
          <p:cNvSpPr>
            <a:spLocks noGrp="1"/>
          </p:cNvSpPr>
          <p:nvPr>
            <p:ph idx="1"/>
          </p:nvPr>
        </p:nvSpPr>
        <p:spPr>
          <a:xfrm>
            <a:off x="126581" y="1139033"/>
            <a:ext cx="5184775" cy="5371306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工艺：</a:t>
            </a:r>
            <a:r>
              <a:rPr lang="zh-CN" altLang="en-US" b="1" dirty="0">
                <a:ea typeface="华文中宋" panose="02010600040101010101" pitchFamily="2" charset="-122"/>
              </a:rPr>
              <a:t>工件先在一种冷却能力强的介质中冷却，躲过鼻尖后，再在另一种冷却能力较弱的介质中发生马氏体转变的方法。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水淬油冷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油淬空冷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优点：冷却理想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缺点：不易掌握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solidFill>
                  <a:schemeClr val="folHlink"/>
                </a:solidFill>
              </a:rPr>
              <a:t>形状复杂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</a:rPr>
              <a:t>碳钢件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</a:rPr>
              <a:t>大型合金钢件。</a:t>
            </a:r>
            <a:endParaRPr lang="zh-CN" altLang="en-US" b="1" dirty="0">
              <a:solidFill>
                <a:schemeClr val="folHlink"/>
              </a:solidFill>
            </a:endParaRPr>
          </a:p>
        </p:txBody>
      </p:sp>
      <p:grpSp>
        <p:nvGrpSpPr>
          <p:cNvPr id="117765" name="Group 5"/>
          <p:cNvGrpSpPr>
            <a:grpSpLocks noChangeAspect="1"/>
          </p:cNvGrpSpPr>
          <p:nvPr/>
        </p:nvGrpSpPr>
        <p:grpSpPr>
          <a:xfrm>
            <a:off x="5725160" y="1139825"/>
            <a:ext cx="3215640" cy="4259580"/>
            <a:chOff x="912" y="720"/>
            <a:chExt cx="2451" cy="2995"/>
          </a:xfrm>
        </p:grpSpPr>
        <p:grpSp>
          <p:nvGrpSpPr>
            <p:cNvPr id="117766" name="Group 6"/>
            <p:cNvGrpSpPr>
              <a:grpSpLocks noChangeAspect="1"/>
            </p:cNvGrpSpPr>
            <p:nvPr/>
          </p:nvGrpSpPr>
          <p:grpSpPr>
            <a:xfrm>
              <a:off x="912" y="720"/>
              <a:ext cx="2451" cy="2995"/>
              <a:chOff x="912" y="720"/>
              <a:chExt cx="2451" cy="2995"/>
            </a:xfrm>
          </p:grpSpPr>
          <p:pic>
            <p:nvPicPr>
              <p:cNvPr id="117767" name="Picture 7" descr="淬火方法示意图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912" y="720"/>
                <a:ext cx="2451" cy="2771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117768" name="Text Box 8"/>
              <p:cNvSpPr txBox="1">
                <a:spLocks noChangeAspect="1"/>
              </p:cNvSpPr>
              <p:nvPr/>
            </p:nvSpPr>
            <p:spPr>
              <a:xfrm>
                <a:off x="1100" y="3456"/>
                <a:ext cx="2260" cy="259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2"/>
                    </a:solidFill>
                    <a:ea typeface="楷体_GB2312" pitchFamily="49" charset="-122"/>
                  </a:rPr>
                  <a:t>2.</a:t>
                </a:r>
                <a:r>
                  <a:rPr lang="zh-CN" altLang="en-US" dirty="0">
                    <a:solidFill>
                      <a:schemeClr val="bg2"/>
                    </a:solidFill>
                    <a:ea typeface="楷体_GB2312" pitchFamily="49" charset="-122"/>
                  </a:rPr>
                  <a:t>双液</a:t>
                </a:r>
                <a:r>
                  <a:rPr lang="zh-CN" altLang="en-US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淬火方法示意图</a:t>
                </a:r>
                <a:endParaRPr lang="zh-CN" altLang="en-US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7769" name="Text Box 9"/>
            <p:cNvSpPr txBox="1">
              <a:spLocks noChangeAspect="1"/>
            </p:cNvSpPr>
            <p:nvPr/>
          </p:nvSpPr>
          <p:spPr>
            <a:xfrm>
              <a:off x="2049" y="1624"/>
              <a:ext cx="1160" cy="237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2—</a:t>
              </a:r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双液淬火法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17772" name="日期占位符 1"/>
          <p:cNvSpPr>
            <a:spLocks noGrp="1"/>
          </p:cNvSpPr>
          <p:nvPr>
            <p:ph type="dt" sz="half" idx="10"/>
          </p:nvPr>
        </p:nvSpPr>
        <p:spPr>
          <a:xfrm>
            <a:off x="179388" y="6515100"/>
            <a:ext cx="1785937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10338"/>
            <a:ext cx="600075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050" y="0"/>
            <a:ext cx="537845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、分级淬火法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8787" name="Rectangle 3"/>
          <p:cNvSpPr>
            <a:spLocks noGrp="1"/>
          </p:cNvSpPr>
          <p:nvPr>
            <p:ph idx="1"/>
          </p:nvPr>
        </p:nvSpPr>
        <p:spPr>
          <a:xfrm>
            <a:off x="323850" y="1052513"/>
            <a:ext cx="5364163" cy="43307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在</a:t>
            </a:r>
            <a:r>
              <a:rPr lang="en-US" altLang="zh-CN" b="1" dirty="0">
                <a:solidFill>
                  <a:schemeClr val="folHlink"/>
                </a:solidFill>
              </a:rPr>
              <a:t>Ms</a:t>
            </a:r>
            <a:r>
              <a:rPr lang="zh-CN" altLang="en-US" b="1" dirty="0">
                <a:solidFill>
                  <a:schemeClr val="folHlink"/>
                </a:solidFill>
              </a:rPr>
              <a:t>附近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</a:rPr>
              <a:t>盐浴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</a:rPr>
              <a:t>碱浴</a:t>
            </a:r>
            <a:r>
              <a:rPr lang="zh-CN" altLang="en-US" b="1" dirty="0">
                <a:ea typeface="华文中宋" panose="02010600040101010101" pitchFamily="2" charset="-122"/>
              </a:rPr>
              <a:t>中淬火，待内外温度均匀后再取出缓冷。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可减少内应力，</a:t>
            </a:r>
            <a:r>
              <a:rPr lang="zh-CN" altLang="en-US" b="1" dirty="0"/>
              <a:t>用于</a:t>
            </a:r>
            <a:r>
              <a:rPr lang="zh-CN" altLang="en-US" b="1" dirty="0">
                <a:solidFill>
                  <a:schemeClr val="folHlink"/>
                </a:solidFill>
              </a:rPr>
              <a:t>小尺寸工件。</a:t>
            </a:r>
            <a:endParaRPr lang="zh-CN" altLang="en-US" b="1" dirty="0">
              <a:solidFill>
                <a:schemeClr val="folHlink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702435" y="3944620"/>
            <a:ext cx="3385820" cy="1981835"/>
            <a:chOff x="528" y="2304"/>
            <a:chExt cx="2784" cy="1781"/>
          </a:xfrm>
        </p:grpSpPr>
        <p:pic>
          <p:nvPicPr>
            <p:cNvPr id="118790" name="Picture 6" descr="盐浴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23" y="2377"/>
              <a:ext cx="2689" cy="1708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8791" name="Text Box 7"/>
            <p:cNvSpPr txBox="1"/>
            <p:nvPr/>
          </p:nvSpPr>
          <p:spPr>
            <a:xfrm>
              <a:off x="528" y="2304"/>
              <a:ext cx="1012" cy="3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盐浴炉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8793" name="日期占位符 1"/>
          <p:cNvSpPr>
            <a:spLocks noGrp="1"/>
          </p:cNvSpPr>
          <p:nvPr>
            <p:ph type="dt" sz="half" idx="10"/>
          </p:nvPr>
        </p:nvSpPr>
        <p:spPr>
          <a:xfrm>
            <a:off x="142875" y="6555105"/>
            <a:ext cx="1786255" cy="25908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" name="Group 5"/>
          <p:cNvGrpSpPr>
            <a:grpSpLocks noChangeAspect="1"/>
          </p:cNvGrpSpPr>
          <p:nvPr/>
        </p:nvGrpSpPr>
        <p:grpSpPr>
          <a:xfrm>
            <a:off x="5688330" y="1412875"/>
            <a:ext cx="3220720" cy="4266608"/>
            <a:chOff x="912" y="720"/>
            <a:chExt cx="2451" cy="2996"/>
          </a:xfrm>
        </p:grpSpPr>
        <p:grpSp>
          <p:nvGrpSpPr>
            <p:cNvPr id="15" name="Group 6"/>
            <p:cNvGrpSpPr>
              <a:grpSpLocks noChangeAspect="1"/>
            </p:cNvGrpSpPr>
            <p:nvPr/>
          </p:nvGrpSpPr>
          <p:grpSpPr>
            <a:xfrm>
              <a:off x="912" y="720"/>
              <a:ext cx="2451" cy="2996"/>
              <a:chOff x="912" y="720"/>
              <a:chExt cx="2451" cy="2996"/>
            </a:xfrm>
          </p:grpSpPr>
          <p:pic>
            <p:nvPicPr>
              <p:cNvPr id="17" name="Picture 7" descr="淬火方法示意图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912" y="720"/>
                <a:ext cx="2451" cy="2771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18" name="Text Box 8"/>
              <p:cNvSpPr txBox="1">
                <a:spLocks noChangeAspect="1"/>
              </p:cNvSpPr>
              <p:nvPr/>
            </p:nvSpPr>
            <p:spPr>
              <a:xfrm>
                <a:off x="912" y="3457"/>
                <a:ext cx="2448" cy="259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en-US" altLang="zh-CN" dirty="0">
                    <a:solidFill>
                      <a:schemeClr val="bg2"/>
                    </a:solidFill>
                    <a:ea typeface="楷体_GB2312" pitchFamily="49" charset="-122"/>
                  </a:rPr>
                  <a:t>3.</a:t>
                </a:r>
                <a:r>
                  <a:rPr lang="zh-CN" altLang="en-US" dirty="0">
                    <a:solidFill>
                      <a:schemeClr val="bg2"/>
                    </a:solidFill>
                    <a:ea typeface="楷体_GB2312" pitchFamily="49" charset="-122"/>
                  </a:rPr>
                  <a:t>分级淬火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方法示意图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" name="Text Box 9"/>
            <p:cNvSpPr txBox="1">
              <a:spLocks noChangeAspect="1"/>
            </p:cNvSpPr>
            <p:nvPr/>
          </p:nvSpPr>
          <p:spPr>
            <a:xfrm>
              <a:off x="1964" y="1676"/>
              <a:ext cx="1185" cy="23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3—</a:t>
              </a:r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分级淬火法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8991" y="6625385"/>
            <a:ext cx="573924" cy="252934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11413" y="0"/>
            <a:ext cx="5256213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、等温淬火法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9811" name="Rectangle 3"/>
          <p:cNvSpPr>
            <a:spLocks noGrp="1"/>
          </p:cNvSpPr>
          <p:nvPr>
            <p:ph idx="1"/>
          </p:nvPr>
        </p:nvSpPr>
        <p:spPr>
          <a:xfrm>
            <a:off x="323850" y="1097280"/>
            <a:ext cx="5256530" cy="541782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工艺：</a:t>
            </a:r>
            <a:r>
              <a:rPr lang="zh-CN" altLang="en-US" b="1" dirty="0">
                <a:ea typeface="华文中宋" panose="02010600040101010101" pitchFamily="2" charset="-122"/>
              </a:rPr>
              <a:t>将工件在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稍高</a:t>
            </a:r>
            <a:r>
              <a:rPr lang="zh-CN" altLang="en-US" b="1" dirty="0">
                <a:ea typeface="华文中宋" panose="02010600040101010101" pitchFamily="2" charset="-122"/>
              </a:rPr>
              <a:t>于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Ms 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盐浴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碱浴</a:t>
            </a:r>
            <a:r>
              <a:rPr lang="zh-CN" altLang="en-US" b="1" dirty="0">
                <a:ea typeface="华文中宋" panose="02010600040101010101" pitchFamily="2" charset="-122"/>
              </a:rPr>
              <a:t>中保温足够长时间，从而获得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下贝氏体</a:t>
            </a:r>
            <a:r>
              <a:rPr lang="zh-CN" altLang="en-US" b="1" dirty="0">
                <a:ea typeface="华文中宋" panose="02010600040101010101" pitchFamily="2" charset="-122"/>
              </a:rPr>
              <a:t>组织的淬火方法。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b="1" dirty="0">
                <a:ea typeface="华文中宋" panose="02010600040101010101" pitchFamily="2" charset="-122"/>
              </a:rPr>
              <a:t>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等温淬火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零件具有良好</a:t>
            </a:r>
            <a:r>
              <a:rPr lang="zh-CN" altLang="en-US" b="1" dirty="0">
                <a:solidFill>
                  <a:srgbClr val="CCFFCC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综合力学性能，淬火应力小。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应用：形状复杂</a:t>
            </a:r>
            <a:r>
              <a:rPr lang="zh-CN" altLang="en-US" b="1" dirty="0">
                <a:solidFill>
                  <a:srgbClr val="CCFFCC"/>
                </a:solidFill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要求较高</a:t>
            </a:r>
            <a:r>
              <a:rPr lang="zh-CN" altLang="en-US" b="1" dirty="0">
                <a:solidFill>
                  <a:srgbClr val="CCFFCC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小型件</a:t>
            </a:r>
            <a:r>
              <a:rPr lang="zh-CN" altLang="en-US" b="1" dirty="0">
                <a:solidFill>
                  <a:srgbClr val="CCFFCC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CCFFCC"/>
              </a:solidFill>
              <a:ea typeface="华文中宋" panose="02010600040101010101" pitchFamily="2" charset="-122"/>
            </a:endParaRPr>
          </a:p>
        </p:txBody>
      </p:sp>
      <p:pic>
        <p:nvPicPr>
          <p:cNvPr id="119813" name="Picture 5" descr="image009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007599" y="4413830"/>
            <a:ext cx="3045316" cy="182393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1981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" name="Group 5"/>
          <p:cNvGrpSpPr>
            <a:grpSpLocks noChangeAspect="1"/>
          </p:cNvGrpSpPr>
          <p:nvPr/>
        </p:nvGrpSpPr>
        <p:grpSpPr>
          <a:xfrm>
            <a:off x="6083935" y="1181100"/>
            <a:ext cx="2901315" cy="3033574"/>
            <a:chOff x="1031" y="296"/>
            <a:chExt cx="2451" cy="2363"/>
          </a:xfrm>
        </p:grpSpPr>
        <p:grpSp>
          <p:nvGrpSpPr>
            <p:cNvPr id="14" name="Group 6"/>
            <p:cNvGrpSpPr>
              <a:grpSpLocks noChangeAspect="1"/>
            </p:cNvGrpSpPr>
            <p:nvPr/>
          </p:nvGrpSpPr>
          <p:grpSpPr>
            <a:xfrm>
              <a:off x="1031" y="296"/>
              <a:ext cx="2451" cy="2363"/>
              <a:chOff x="1031" y="296"/>
              <a:chExt cx="2451" cy="2363"/>
            </a:xfrm>
          </p:grpSpPr>
          <p:pic>
            <p:nvPicPr>
              <p:cNvPr id="16" name="Picture 7" descr="淬火方法示意图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031" y="296"/>
                <a:ext cx="2451" cy="2128"/>
              </a:xfrm>
              <a:prstGeom prst="rect">
                <a:avLst/>
              </a:prstGeom>
              <a:noFill/>
              <a:ln w="38100">
                <a:noFill/>
              </a:ln>
            </p:spPr>
          </p:pic>
          <p:sp>
            <p:nvSpPr>
              <p:cNvPr id="17" name="Text Box 8"/>
              <p:cNvSpPr txBox="1">
                <a:spLocks noChangeAspect="1"/>
              </p:cNvSpPr>
              <p:nvPr/>
            </p:nvSpPr>
            <p:spPr>
              <a:xfrm>
                <a:off x="1035" y="2372"/>
                <a:ext cx="2443" cy="287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zh-CN" altLang="en-US" sz="1800" dirty="0">
                    <a:solidFill>
                      <a:srgbClr val="FF0000"/>
                    </a:solidFill>
                  </a:rPr>
                  <a:t>等温</a:t>
                </a:r>
                <a:r>
                  <a:rPr lang="zh-CN" alt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淬火方法示意图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" name="Text Box 9"/>
            <p:cNvSpPr txBox="1">
              <a:spLocks noChangeAspect="1"/>
            </p:cNvSpPr>
            <p:nvPr/>
          </p:nvSpPr>
          <p:spPr>
            <a:xfrm>
              <a:off x="2109" y="868"/>
              <a:ext cx="1244" cy="26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4—</a:t>
              </a:r>
              <a:r>
                <a:rPr lang="zh-CN" altLang="en-US" sz="1600" dirty="0">
                  <a:solidFill>
                    <a:schemeClr val="bg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等温淬火法</a:t>
              </a:r>
              <a:endParaRPr lang="zh-CN" altLang="en-US" sz="1600" dirty="0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15735"/>
            <a:ext cx="457200" cy="34226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411730" y="260350"/>
            <a:ext cx="3816985" cy="73850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5.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局部淬火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0835" name="Rectangle 3"/>
          <p:cNvSpPr>
            <a:spLocks noGrp="1"/>
          </p:cNvSpPr>
          <p:nvPr>
            <p:ph idx="1"/>
          </p:nvPr>
        </p:nvSpPr>
        <p:spPr>
          <a:xfrm>
            <a:off x="286544" y="1844868"/>
            <a:ext cx="4249738" cy="4104342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局部要求高硬度</a:t>
            </a:r>
            <a:r>
              <a:rPr lang="zh-CN" altLang="en-US" dirty="0"/>
              <a:t>的工件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进行局部加热淬火，以避免零件其它部分产生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变形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裂纹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375812" name="Picture 4" descr="lwf3-32-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788018" y="1988880"/>
            <a:ext cx="3488679" cy="2761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083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363" y="6500813"/>
            <a:ext cx="528637" cy="3571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75945" y="1772920"/>
            <a:ext cx="8384540" cy="2160270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四、钢的淬透性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lang="en-US" altLang="zh-CN" sz="6600" b="1" i="1" noProof="0" dirty="0">
                <a:effectLst/>
                <a:latin typeface="+mn-lt"/>
              </a:rPr>
              <a:t>H</a:t>
            </a:r>
            <a:r>
              <a:rPr lang="en-GB" altLang="zh-CN" sz="6600" b="1" i="1" dirty="0" err="1">
                <a:effectLst/>
                <a:latin typeface="+mn-lt"/>
              </a:rPr>
              <a:t>ardenability</a:t>
            </a:r>
            <a:r>
              <a:rPr lang="en-GB" altLang="zh-CN" sz="6600" b="1" i="1" dirty="0">
                <a:effectLst/>
                <a:latin typeface="+mn-lt"/>
              </a:rPr>
              <a:t> of Steels</a:t>
            </a:r>
            <a:endParaRPr kumimoji="1" lang="zh-CN" altLang="en-US" sz="66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</a:endParaRPr>
          </a:p>
        </p:txBody>
      </p:sp>
      <p:sp>
        <p:nvSpPr>
          <p:cNvPr id="12186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6195" y="29248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ldLvl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363" y="6500813"/>
            <a:ext cx="528637" cy="3571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692275" y="116523"/>
            <a:ext cx="6619875" cy="8810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四、钢的淬透性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4582" name="Rectangle 6"/>
          <p:cNvSpPr>
            <a:spLocks noGrp="1"/>
          </p:cNvSpPr>
          <p:nvPr>
            <p:ph idx="1"/>
          </p:nvPr>
        </p:nvSpPr>
        <p:spPr>
          <a:xfrm>
            <a:off x="539750" y="2133600"/>
            <a:ext cx="7924800" cy="259150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淬透性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钢的主要 热处理性能。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是选材和制订热处理工艺的重要依据之一。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2186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6866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ldLvl="0" animBg="1"/>
      <p:bldP spid="24582" grpId="0" advAuto="1000" build="p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86855"/>
            <a:ext cx="528320" cy="27114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736" y="44291"/>
            <a:ext cx="6780530" cy="95408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钢的淬透性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内容提要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883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3600" b="1" dirty="0">
                <a:ea typeface="华文中宋" panose="02010600040101010101" pitchFamily="2" charset="-122"/>
              </a:rPr>
              <a:t>钢的淬透性及其测定方法</a:t>
            </a:r>
            <a:endParaRPr lang="zh-CN" altLang="en-US" sz="3600" b="1" dirty="0"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影响淬透性的因素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淬透性的应用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2288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86220"/>
            <a:ext cx="528320" cy="27178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772" y="236769"/>
            <a:ext cx="6019800" cy="685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1.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淬透性及其测定方法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5607" name="Rectangle 7"/>
          <p:cNvSpPr>
            <a:spLocks noGrp="1"/>
          </p:cNvSpPr>
          <p:nvPr>
            <p:ph idx="1"/>
          </p:nvPr>
        </p:nvSpPr>
        <p:spPr>
          <a:xfrm>
            <a:off x="395605" y="1075107"/>
            <a:ext cx="8155517" cy="1582716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淬透性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ea typeface="华文中宋" panose="02010600040101010101" pitchFamily="2" charset="-122"/>
              </a:rPr>
              <a:t>是指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钢在淬火时</a:t>
            </a:r>
            <a:r>
              <a:rPr lang="zh-CN" altLang="en-US" sz="2800" b="1" dirty="0">
                <a:ea typeface="华文中宋" panose="02010600040101010101" pitchFamily="2" charset="-122"/>
              </a:rPr>
              <a:t>获得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淬硬层深度</a:t>
            </a:r>
            <a:r>
              <a:rPr lang="zh-CN" altLang="en-US" sz="2800" b="1" dirty="0">
                <a:ea typeface="华文中宋" panose="02010600040101010101" pitchFamily="2" charset="-122"/>
              </a:rPr>
              <a:t>的能力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zh-CN" altLang="en-US" sz="2800" b="1" dirty="0">
                <a:ea typeface="华文中宋" panose="02010600040101010101" pitchFamily="2" charset="-122"/>
              </a:rPr>
              <a:t>其大小是用规定条件下的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淬硬层深度</a:t>
            </a:r>
            <a:r>
              <a:rPr lang="zh-CN" altLang="en-US" sz="2800" b="1" dirty="0">
                <a:ea typeface="华文中宋" panose="02010600040101010101" pitchFamily="2" charset="-122"/>
              </a:rPr>
              <a:t>来表示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【</a:t>
            </a:r>
            <a:r>
              <a:rPr lang="zh-CN" altLang="zh-CN" sz="2800" dirty="0"/>
              <a:t>在给定的冷却条件下，在一定硬化层深度内，过冷奥氏体转变成一定百分比马氏体的能力。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】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25608" name="Rectangle 8"/>
          <p:cNvSpPr/>
          <p:nvPr/>
        </p:nvSpPr>
        <p:spPr>
          <a:xfrm>
            <a:off x="557862" y="3212982"/>
            <a:ext cx="5180424" cy="428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淬硬层深度：</a:t>
            </a:r>
            <a:r>
              <a:rPr kumimoji="1"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是</a:t>
            </a:r>
            <a:r>
              <a:rPr lang="zh-CN" altLang="en-US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指由工件表面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到</a:t>
            </a:r>
            <a:r>
              <a:rPr lang="zh-CN" altLang="en-US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半马氏体区</a:t>
            </a:r>
            <a:r>
              <a:rPr lang="en-US" altLang="zh-CN" sz="2400" dirty="0">
                <a:solidFill>
                  <a:srgbClr val="CCFF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50%M + 50%P</a:t>
            </a:r>
            <a:r>
              <a:rPr lang="en-US" altLang="zh-CN" sz="2400" dirty="0">
                <a:solidFill>
                  <a:srgbClr val="CCFF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的深度</a:t>
            </a:r>
            <a:r>
              <a:rPr lang="zh-CN" altLang="en-US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2800" dirty="0">
              <a:solidFill>
                <a:srgbClr val="CCFF33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淬硬性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2800" dirty="0">
                <a:solidFill>
                  <a:srgbClr val="C6F7FE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</a:t>
            </a:r>
            <a:r>
              <a:rPr lang="zh-CN" altLang="en-US" sz="2800" dirty="0">
                <a:solidFill>
                  <a:srgbClr val="CCFF33"/>
                </a:solidFill>
                <a:ea typeface="华文中宋" panose="02010600040101010101" pitchFamily="2" charset="-122"/>
              </a:rPr>
              <a:t>指钢淬火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后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所能达到的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最高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硬度，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即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硬化能力。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6024880" y="3490595"/>
            <a:ext cx="2901315" cy="2692400"/>
            <a:chOff x="2742" y="1767"/>
            <a:chExt cx="2496" cy="2089"/>
          </a:xfrm>
        </p:grpSpPr>
        <p:grpSp>
          <p:nvGrpSpPr>
            <p:cNvPr id="123910" name="Group 9"/>
            <p:cNvGrpSpPr>
              <a:grpSpLocks noChangeAspect="1"/>
            </p:cNvGrpSpPr>
            <p:nvPr/>
          </p:nvGrpSpPr>
          <p:grpSpPr>
            <a:xfrm>
              <a:off x="2742" y="1767"/>
              <a:ext cx="2496" cy="2089"/>
              <a:chOff x="2650" y="1714"/>
              <a:chExt cx="2524" cy="2037"/>
            </a:xfrm>
          </p:grpSpPr>
          <p:pic>
            <p:nvPicPr>
              <p:cNvPr id="123911" name="Picture 4" descr="6-13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650" y="1714"/>
                <a:ext cx="2524" cy="2037"/>
              </a:xfrm>
              <a:prstGeom prst="rect">
                <a:avLst/>
              </a:prstGeom>
              <a:noFill/>
              <a:ln w="38100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23912" name="Text Box 5"/>
              <p:cNvSpPr txBox="1">
                <a:spLocks noChangeAspect="1"/>
              </p:cNvSpPr>
              <p:nvPr/>
            </p:nvSpPr>
            <p:spPr>
              <a:xfrm>
                <a:off x="2759" y="3536"/>
                <a:ext cx="2043" cy="1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altLang="zh-CN" sz="1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r>
                  <a:rPr lang="zh-CN" altLang="en-US" sz="12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量和硬度随深度的变化</a:t>
                </a:r>
                <a:endParaRPr lang="zh-CN" altLang="en-US" sz="12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3913" name="Line 15"/>
            <p:cNvSpPr/>
            <p:nvPr/>
          </p:nvSpPr>
          <p:spPr>
            <a:xfrm>
              <a:off x="3094" y="2599"/>
              <a:ext cx="853" cy="4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123914" name="Line 16"/>
            <p:cNvSpPr/>
            <p:nvPr/>
          </p:nvSpPr>
          <p:spPr>
            <a:xfrm>
              <a:off x="3947" y="2400"/>
              <a:ext cx="0" cy="1104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915" name="Text Box 18"/>
            <p:cNvSpPr txBox="1"/>
            <p:nvPr/>
          </p:nvSpPr>
          <p:spPr>
            <a:xfrm>
              <a:off x="2988" y="2702"/>
              <a:ext cx="901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淬硬层深度</a:t>
              </a:r>
              <a:endParaRPr lang="zh-CN" altLang="en-US" sz="1400" dirty="0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391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746760" y="1205230"/>
            <a:ext cx="131889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淬透性</a:t>
            </a:r>
            <a:endParaRPr lang="en-US" altLang="zh-CN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圆角矩形 4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899795" y="4869180"/>
            <a:ext cx="1318895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淬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硬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性</a:t>
            </a:r>
            <a:endParaRPr lang="en-US" altLang="zh-CN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ldLvl="0" animBg="1"/>
      <p:bldP spid="25607" grpId="0" advAuto="1000" build="p"/>
      <p:bldP spid="25608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86800" y="6515100"/>
            <a:ext cx="45720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0"/>
            <a:ext cx="662146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淬透性的测定方法</a:t>
            </a:r>
            <a:endParaRPr kumimoji="1" lang="zh-CN" altLang="en-US" sz="4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4931" name="Rectangle 3"/>
          <p:cNvSpPr>
            <a:spLocks noGrp="1"/>
          </p:cNvSpPr>
          <p:nvPr>
            <p:ph type="body" sz="half" idx="1"/>
          </p:nvPr>
        </p:nvSpPr>
        <p:spPr>
          <a:xfrm>
            <a:off x="165100" y="1166495"/>
            <a:ext cx="8964930" cy="51435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dirty="0"/>
              <a:t>淬透性的测定方法很多，目前普遍采用的是“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末端淬火法</a:t>
            </a:r>
            <a:r>
              <a:rPr lang="en-US" altLang="zh-CN" sz="2800" dirty="0"/>
              <a:t>”(</a:t>
            </a:r>
            <a:r>
              <a:rPr lang="zh-CN" altLang="en-US" sz="2800" dirty="0"/>
              <a:t>详见</a:t>
            </a:r>
            <a:r>
              <a:rPr lang="en-US" altLang="zh-CN" sz="2800" b="1" dirty="0">
                <a:solidFill>
                  <a:srgbClr val="FF0000"/>
                </a:solidFill>
              </a:rPr>
              <a:t>GB/T225</a:t>
            </a:r>
            <a:r>
              <a:rPr lang="zh-CN" altLang="en-US" sz="2800" b="1" dirty="0">
                <a:solidFill>
                  <a:srgbClr val="FF0000"/>
                </a:solidFill>
              </a:rPr>
              <a:t>～</a:t>
            </a:r>
            <a:r>
              <a:rPr lang="en-US" altLang="zh-CN" sz="2800" b="1" dirty="0">
                <a:solidFill>
                  <a:srgbClr val="FF0000"/>
                </a:solidFill>
              </a:rPr>
              <a:t>2006</a:t>
            </a:r>
            <a:r>
              <a:rPr lang="en-US" altLang="zh-CN" sz="2800" dirty="0"/>
              <a:t>)(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Jominy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法</a:t>
            </a:r>
            <a:r>
              <a:rPr lang="en-US" altLang="zh-CN" sz="2800" dirty="0"/>
              <a:t>)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/>
            <a:r>
              <a:rPr lang="zh-CN" altLang="en-US" sz="2800" b="1" dirty="0"/>
              <a:t>末端淬火法</a:t>
            </a:r>
            <a:r>
              <a:rPr lang="zh-CN" altLang="en-US" sz="2800" dirty="0"/>
              <a:t>要点：将</a:t>
            </a:r>
            <a:r>
              <a:rPr lang="zh-CN" altLang="en-US" sz="2800"/>
              <a:t>标准试样加热</a:t>
            </a:r>
            <a:r>
              <a:rPr lang="zh-CN" altLang="en-US" sz="2800" dirty="0"/>
              <a:t>奥氏体化后，迅速放入末端淬火试验机的冷却孔中，由下端喷水冷却，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水柱自由高度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65mm</a:t>
            </a:r>
            <a:r>
              <a:rPr lang="zh-CN" altLang="en-US" sz="2800" dirty="0"/>
              <a:t>，水温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30℃</a:t>
            </a:r>
            <a:r>
              <a:rPr lang="en-US" altLang="zh-CN" sz="2800" dirty="0"/>
              <a:t> </a:t>
            </a:r>
            <a:r>
              <a:rPr lang="zh-CN" altLang="en-US" sz="2800" dirty="0"/>
              <a:t>。然后，在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试样侧面</a:t>
            </a:r>
            <a:r>
              <a:rPr lang="zh-CN" altLang="en-US" sz="2800" dirty="0"/>
              <a:t>沿长度方向磨一深度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0.2～0.5mm</a:t>
            </a:r>
            <a:r>
              <a:rPr lang="zh-CN" altLang="en-US" sz="2800" dirty="0"/>
              <a:t>的窄条平面，从末端开始，每隔一定距离测量硬度值，即可测得试样沿长度方向上的硬度变化，所得曲线称为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淬透性曲线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/>
            <a:endParaRPr lang="en-US" altLang="zh-CN" sz="20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sz="20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GB/T 225-2006</a:t>
            </a:r>
            <a:r>
              <a:rPr lang="zh-CN" altLang="en-US" sz="20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钢淬透性的末端淬火试验方法（</a:t>
            </a:r>
            <a:r>
              <a:rPr lang="en-US" altLang="zh-CN" sz="2000" b="1" dirty="0" err="1">
                <a:solidFill>
                  <a:schemeClr val="folHlink"/>
                </a:solidFill>
                <a:ea typeface="华文中宋" panose="02010600040101010101" pitchFamily="2" charset="-122"/>
              </a:rPr>
              <a:t>Jominy</a:t>
            </a:r>
            <a:r>
              <a:rPr lang="en-US" altLang="zh-CN" sz="20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0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试验</a:t>
            </a:r>
            <a:r>
              <a:rPr lang="en-US" altLang="zh-CN" sz="20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Helvetica Neue"/>
              </a:rPr>
              <a:t>）</a:t>
            </a:r>
            <a:endParaRPr lang="en-US" altLang="zh-CN" sz="2000" b="1" i="0" dirty="0">
              <a:solidFill>
                <a:srgbClr val="C4251F"/>
              </a:solidFill>
              <a:effectLst/>
              <a:latin typeface="Helvetica Neue"/>
            </a:endParaRPr>
          </a:p>
          <a:p>
            <a:pPr marL="0" indent="0" eaLnBrk="1" hangingPunct="1">
              <a:buNone/>
            </a:pPr>
            <a:endParaRPr lang="zh-CN" altLang="en-US" sz="2000" dirty="0"/>
          </a:p>
        </p:txBody>
      </p:sp>
      <p:sp>
        <p:nvSpPr>
          <p:cNvPr id="12493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/>
          <a:srcRect l="16139" t="16401" r="34249" b="9723"/>
          <a:stretch>
            <a:fillRect/>
          </a:stretch>
        </p:blipFill>
        <p:spPr>
          <a:xfrm>
            <a:off x="7146925" y="4796790"/>
            <a:ext cx="1983105" cy="1661160"/>
          </a:xfrm>
          <a:prstGeom prst="rect">
            <a:avLst/>
          </a:prstGeom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363" y="6510338"/>
            <a:ext cx="528637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484755" y="189230"/>
            <a:ext cx="4319905" cy="90233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末端淬火法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125955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125956" name="Picture 4" descr="《工程材料》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85750" y="1357313"/>
            <a:ext cx="8713788" cy="4981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595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01050" y="6586220"/>
            <a:ext cx="742950" cy="27178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1571625" y="0"/>
            <a:ext cx="6913563" cy="936625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zh-CN" altLang="en-US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淬透性与淬硬层深度的关系</a:t>
            </a:r>
            <a:r>
              <a:rPr lang="zh-CN" altLang="en-US" sz="2800" b="1" strike="noStrike" noProof="1"/>
              <a:t> </a:t>
            </a:r>
            <a:endParaRPr lang="zh-CN" altLang="en-US" sz="2800" b="1" strike="noStrike" noProof="1"/>
          </a:p>
        </p:txBody>
      </p:sp>
      <p:sp>
        <p:nvSpPr>
          <p:cNvPr id="26631" name="Rectangle 7"/>
          <p:cNvSpPr>
            <a:spLocks noGrp="1"/>
          </p:cNvSpPr>
          <p:nvPr>
            <p:ph idx="1"/>
          </p:nvPr>
        </p:nvSpPr>
        <p:spPr>
          <a:xfrm>
            <a:off x="250825" y="1773238"/>
            <a:ext cx="8534400" cy="446405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淬透性与工件尺寸、冷却介质无关。</a:t>
            </a:r>
            <a:r>
              <a:rPr lang="zh-CN" altLang="en-US" b="1" dirty="0">
                <a:ea typeface="华文中宋" panose="02010600040101010101" pitchFamily="2" charset="-122"/>
              </a:rPr>
              <a:t>它只用于不同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材料之间的比较，是通过尺寸、冷却介质相同时的淬硬层深度来确定的。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698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31" grpId="0" advAuto="1000" build="p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86855"/>
            <a:ext cx="600075" cy="27114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115888"/>
            <a:ext cx="6475413" cy="8128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淬透性的表示方法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8003" name="Rectangle 3"/>
          <p:cNvSpPr>
            <a:spLocks noGrp="1"/>
          </p:cNvSpPr>
          <p:nvPr>
            <p:ph idx="1"/>
          </p:nvPr>
        </p:nvSpPr>
        <p:spPr>
          <a:xfrm>
            <a:off x="684213" y="1628775"/>
            <a:ext cx="7772400" cy="4827588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(1)</a:t>
            </a:r>
            <a:r>
              <a:rPr lang="zh-CN" altLang="en-US" b="1" dirty="0">
                <a:ea typeface="华文中宋" panose="02010600040101010101" pitchFamily="2" charset="-122"/>
              </a:rPr>
              <a:t>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淬透性曲线</a:t>
            </a:r>
            <a:r>
              <a:rPr lang="zh-CN" altLang="en-US" b="1" dirty="0">
                <a:ea typeface="华文中宋" panose="02010600040101010101" pitchFamily="2" charset="-122"/>
              </a:rPr>
              <a:t>表示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⑵ 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临界淬透直径</a:t>
            </a:r>
            <a:r>
              <a:rPr lang="zh-CN" altLang="en-US" b="1" dirty="0">
                <a:ea typeface="华文中宋" panose="02010600040101010101" pitchFamily="2" charset="-122"/>
              </a:rPr>
              <a:t>表示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280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2488" y="6500813"/>
            <a:ext cx="671512" cy="3571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15888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淬透性的表示方法</a:t>
            </a:r>
            <a:b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(1)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用淬透性曲线表示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9027" name="Rectangle 3"/>
          <p:cNvSpPr>
            <a:spLocks noGrp="1"/>
          </p:cNvSpPr>
          <p:nvPr>
            <p:ph idx="1"/>
          </p:nvPr>
        </p:nvSpPr>
        <p:spPr>
          <a:xfrm>
            <a:off x="684213" y="1628775"/>
            <a:ext cx="7772400" cy="4827588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/>
              <a:t>即用</a:t>
            </a:r>
            <a:r>
              <a:rPr lang="en-US" altLang="zh-CN" b="1" dirty="0">
                <a:solidFill>
                  <a:schemeClr val="folHlink"/>
                </a:solidFill>
              </a:rPr>
              <a:t>JXX-d</a:t>
            </a:r>
            <a:r>
              <a:rPr lang="en-US" altLang="zh-CN" b="1" dirty="0"/>
              <a:t> </a:t>
            </a:r>
            <a:r>
              <a:rPr lang="zh-CN" altLang="en-US" b="1" dirty="0"/>
              <a:t>表示，</a:t>
            </a:r>
            <a:r>
              <a:rPr lang="en-US" altLang="zh-CN" b="1" i="1" dirty="0">
                <a:solidFill>
                  <a:srgbClr val="CCFF33"/>
                </a:solidFill>
              </a:rPr>
              <a:t>J </a:t>
            </a:r>
            <a:r>
              <a:rPr lang="en-US" altLang="zh-CN" b="1" i="1" dirty="0"/>
              <a:t> </a:t>
            </a:r>
            <a:r>
              <a:rPr lang="zh-CN" altLang="en-US" b="1" dirty="0"/>
              <a:t>表示</a:t>
            </a:r>
            <a:r>
              <a:rPr lang="zh-CN" altLang="en-US" b="1" dirty="0">
                <a:solidFill>
                  <a:schemeClr val="folHlink"/>
                </a:solidFill>
              </a:rPr>
              <a:t>末端淬透性</a:t>
            </a:r>
            <a:r>
              <a:rPr lang="zh-CN" altLang="en-US" b="1" dirty="0"/>
              <a:t>，</a:t>
            </a:r>
            <a:r>
              <a:rPr lang="en-US" altLang="zh-CN" b="1" i="1" dirty="0">
                <a:solidFill>
                  <a:srgbClr val="CCFF33"/>
                </a:solidFill>
              </a:rPr>
              <a:t>d  </a:t>
            </a:r>
            <a:r>
              <a:rPr lang="zh-CN" altLang="en-US" b="1" dirty="0"/>
              <a:t>表示</a:t>
            </a:r>
            <a:r>
              <a:rPr lang="en-US" altLang="zh-CN" b="1" dirty="0">
                <a:solidFill>
                  <a:schemeClr val="folHlink"/>
                </a:solidFill>
              </a:rPr>
              <a:t>半马氏体区</a:t>
            </a:r>
            <a:r>
              <a:rPr lang="zh-CN" altLang="en-US" b="1" dirty="0"/>
              <a:t>到水冷端的距离，</a:t>
            </a:r>
            <a:r>
              <a:rPr lang="en-US" altLang="zh-CN" b="1" dirty="0"/>
              <a:t>XX(</a:t>
            </a:r>
            <a:r>
              <a:rPr lang="en-US" altLang="zh-CN" b="1" i="1" dirty="0">
                <a:solidFill>
                  <a:srgbClr val="CCFF33"/>
                </a:solidFill>
              </a:rPr>
              <a:t>HRC)</a:t>
            </a:r>
            <a:r>
              <a:rPr lang="en-US" altLang="zh-CN" b="1" dirty="0">
                <a:solidFill>
                  <a:srgbClr val="CCFF33"/>
                </a:solidFill>
              </a:rPr>
              <a:t> </a:t>
            </a:r>
            <a:r>
              <a:rPr lang="zh-CN" altLang="en-US" b="1" dirty="0"/>
              <a:t>为</a:t>
            </a:r>
            <a:r>
              <a:rPr lang="zh-CN" altLang="en-US" b="1" dirty="0">
                <a:solidFill>
                  <a:schemeClr val="folHlink"/>
                </a:solidFill>
              </a:rPr>
              <a:t>半马氏体区的硬度</a:t>
            </a:r>
            <a:r>
              <a:rPr lang="zh-CN" altLang="en-US" b="1" dirty="0"/>
              <a:t>。例：</a:t>
            </a:r>
            <a:r>
              <a:rPr lang="en-US" altLang="zh-CN" b="1" dirty="0"/>
              <a:t>J35-15</a:t>
            </a:r>
            <a:endParaRPr lang="en-US" altLang="zh-CN" dirty="0"/>
          </a:p>
        </p:txBody>
      </p:sp>
      <p:pic>
        <p:nvPicPr>
          <p:cNvPr id="380932" name="Picture 4" descr="端淬硬度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059113" y="3213100"/>
            <a:ext cx="3683000" cy="29860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2903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13919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5100"/>
            <a:ext cx="71437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0"/>
            <a:ext cx="7929563" cy="13112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淬透性的表示方法</a:t>
            </a:r>
            <a:b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用临界淬透直径表示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0051" name="Rectangle 3"/>
          <p:cNvSpPr>
            <a:spLocks noGrp="1"/>
          </p:cNvSpPr>
          <p:nvPr>
            <p:ph idx="1"/>
          </p:nvPr>
        </p:nvSpPr>
        <p:spPr>
          <a:xfrm>
            <a:off x="395288" y="1428750"/>
            <a:ext cx="8458200" cy="452437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临界淬透直径：</a:t>
            </a:r>
            <a:r>
              <a:rPr lang="zh-CN" altLang="en-US" sz="2800" b="1" dirty="0">
                <a:ea typeface="华文中宋" panose="02010600040101010101" pitchFamily="2" charset="-122"/>
              </a:rPr>
              <a:t>是指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圆形钢棒在介质中冷却，中心被</a:t>
            </a:r>
            <a:r>
              <a:rPr lang="zh-CN" altLang="en-US" sz="2800" b="1" dirty="0">
                <a:ea typeface="华文中宋" panose="02010600040101010101" pitchFamily="2" charset="-122"/>
              </a:rPr>
              <a:t>淬成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半马氏体</a:t>
            </a:r>
            <a:r>
              <a:rPr lang="zh-CN" altLang="en-US" sz="2800" b="1" dirty="0"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最大直径，用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表示。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ea typeface="华文中宋" panose="02010600040101010101" pitchFamily="2" charset="-122"/>
              </a:rPr>
              <a:t>与介质有关，如</a:t>
            </a:r>
            <a:r>
              <a:rPr lang="en-US" altLang="zh-CN" sz="2800" b="1" dirty="0">
                <a:ea typeface="华文中宋" panose="02010600040101010101" pitchFamily="2" charset="-122"/>
              </a:rPr>
              <a:t>45</a:t>
            </a:r>
            <a:r>
              <a:rPr lang="zh-CN" altLang="en-US" sz="2800" b="1" dirty="0">
                <a:ea typeface="华文中宋" panose="02010600040101010101" pitchFamily="2" charset="-122"/>
              </a:rPr>
              <a:t>钢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水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=16mm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，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油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=8mm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只有冷却条件相同时，才能进行不同材料淬透性比较，如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45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钢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油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=8mm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，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40Cr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油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=20mm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dirty="0"/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2095500" y="4500880"/>
            <a:ext cx="5481320" cy="1687830"/>
            <a:chOff x="912" y="2640"/>
            <a:chExt cx="3863" cy="1474"/>
          </a:xfrm>
        </p:grpSpPr>
        <p:pic>
          <p:nvPicPr>
            <p:cNvPr id="130053" name="Picture 5" descr="临界直径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2" y="2640"/>
              <a:ext cx="3863" cy="1474"/>
            </a:xfrm>
            <a:prstGeom prst="rect">
              <a:avLst/>
            </a:prstGeom>
            <a:noFill/>
            <a:ln w="381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0054" name="Rectangle 6"/>
            <p:cNvSpPr>
              <a:spLocks noChangeAspect="1"/>
            </p:cNvSpPr>
            <p:nvPr/>
          </p:nvSpPr>
          <p:spPr>
            <a:xfrm>
              <a:off x="4272" y="2650"/>
              <a:ext cx="480" cy="144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zh-CN" altLang="en-US" sz="1400" b="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马氏体</a:t>
              </a:r>
              <a:endParaRPr lang="zh-CN" altLang="en-US" sz="1400" b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55" name="Rectangle 7"/>
            <p:cNvSpPr>
              <a:spLocks noChangeAspect="1"/>
            </p:cNvSpPr>
            <p:nvPr/>
          </p:nvSpPr>
          <p:spPr>
            <a:xfrm>
              <a:off x="4248" y="2998"/>
              <a:ext cx="480" cy="144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zh-CN" altLang="en-US" sz="1400" b="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马氏体</a:t>
              </a:r>
              <a:endParaRPr lang="zh-CN" altLang="en-US" sz="1400" b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056" name="Rectangle 8"/>
            <p:cNvSpPr>
              <a:spLocks noChangeAspect="1"/>
            </p:cNvSpPr>
            <p:nvPr/>
          </p:nvSpPr>
          <p:spPr>
            <a:xfrm>
              <a:off x="4260" y="3154"/>
              <a:ext cx="480" cy="144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zh-CN" altLang="en-US" sz="1400" b="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索氏体</a:t>
              </a:r>
              <a:endParaRPr lang="zh-CN" altLang="en-US" sz="1400" b="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005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3175" y="13919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828040" y="1450340"/>
            <a:ext cx="211328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24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临界淬透直径</a:t>
            </a:r>
            <a:endParaRPr lang="en-US" altLang="zh-CN" sz="24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2978" name="Rectangle 2"/>
          <p:cNvSpPr>
            <a:spLocks noGrp="1"/>
          </p:cNvSpPr>
          <p:nvPr>
            <p:ph type="title"/>
          </p:nvPr>
        </p:nvSpPr>
        <p:spPr>
          <a:xfrm>
            <a:off x="1187450" y="0"/>
            <a:ext cx="7772400" cy="728663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en-US" altLang="zh-CN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2.</a:t>
            </a:r>
            <a:r>
              <a:rPr lang="zh-CN" altLang="en-US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影响淬透性的因素</a:t>
            </a:r>
            <a:endParaRPr lang="zh-CN" altLang="en-US" b="1" strike="noStrike" noProof="1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82979" name="Rectangle 3"/>
          <p:cNvSpPr>
            <a:spLocks noGrp="1"/>
          </p:cNvSpPr>
          <p:nvPr>
            <p:ph idx="1"/>
          </p:nvPr>
        </p:nvSpPr>
        <p:spPr>
          <a:xfrm>
            <a:off x="251460" y="1196340"/>
            <a:ext cx="6000115" cy="2490470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钢的淬透性</a:t>
            </a:r>
            <a:r>
              <a:rPr lang="zh-CN" altLang="en-US" sz="2800" b="1" dirty="0">
                <a:ea typeface="华文中宋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临界冷却速度 </a:t>
            </a:r>
            <a:r>
              <a:rPr lang="en-US" altLang="zh-CN" sz="2800" b="1" dirty="0" err="1">
                <a:solidFill>
                  <a:srgbClr val="99FF99"/>
                </a:solidFill>
                <a:ea typeface="华文中宋" panose="02010600040101010101" pitchFamily="2" charset="-122"/>
              </a:rPr>
              <a:t>V</a:t>
            </a:r>
            <a:r>
              <a:rPr lang="en-US" altLang="zh-CN" sz="2800" b="1" baseline="-30000" dirty="0" err="1">
                <a:solidFill>
                  <a:srgbClr val="99FF99"/>
                </a:solidFill>
                <a:ea typeface="华文中宋" panose="02010600040101010101" pitchFamily="2" charset="-122"/>
              </a:rPr>
              <a:t>k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有关：</a:t>
            </a:r>
            <a:r>
              <a:rPr lang="zh-CN" altLang="en-US" sz="2800" b="1" dirty="0">
                <a:solidFill>
                  <a:srgbClr val="99FF99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rgbClr val="99FF99"/>
                </a:solidFill>
                <a:ea typeface="华文中宋" panose="02010600040101010101" pitchFamily="2" charset="-122"/>
              </a:rPr>
              <a:t>V</a:t>
            </a:r>
            <a:r>
              <a:rPr lang="en-US" altLang="zh-CN" sz="2800" b="1" baseline="-30000" dirty="0">
                <a:solidFill>
                  <a:srgbClr val="99FF99"/>
                </a:solidFill>
                <a:ea typeface="华文中宋" panose="02010600040101010101" pitchFamily="2" charset="-122"/>
              </a:rPr>
              <a:t>k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越小，淬透性越高。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k</a:t>
            </a:r>
            <a:r>
              <a:rPr lang="zh-CN" altLang="en-US" sz="2800" b="1" dirty="0">
                <a:ea typeface="华文中宋" panose="02010600040101010101" pitchFamily="2" charset="-122"/>
              </a:rPr>
              <a:t>取决于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ea typeface="华文中宋" panose="02010600040101010101" pitchFamily="2" charset="-122"/>
              </a:rPr>
              <a:t>曲线的位置，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ea typeface="华文中宋" panose="02010600040101010101" pitchFamily="2" charset="-122"/>
              </a:rPr>
              <a:t>曲线越靠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右</a:t>
            </a:r>
            <a:r>
              <a:rPr lang="zh-CN" altLang="en-US" sz="2800" b="1" dirty="0">
                <a:ea typeface="华文中宋" panose="02010600040101010101" pitchFamily="2" charset="-122"/>
              </a:rPr>
              <a:t>，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V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k</a:t>
            </a:r>
            <a:r>
              <a:rPr lang="zh-CN" altLang="en-US" sz="2800" b="1" dirty="0">
                <a:ea typeface="华文中宋" panose="02010600040101010101" pitchFamily="2" charset="-122"/>
              </a:rPr>
              <a:t>越小。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pic>
        <p:nvPicPr>
          <p:cNvPr id="382980" name="Picture 4" descr="Vk与C曲线关系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590030" y="1196340"/>
            <a:ext cx="2324735" cy="2331720"/>
          </a:xfrm>
          <a:prstGeom prst="rect">
            <a:avLst/>
          </a:prstGeom>
          <a:noFill/>
          <a:ln w="38100" cap="flat" cmpd="sng">
            <a:solidFill>
              <a:srgbClr val="99CC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82981" name="Rectangle 5"/>
          <p:cNvSpPr/>
          <p:nvPr/>
        </p:nvSpPr>
        <p:spPr>
          <a:xfrm>
            <a:off x="323215" y="3500438"/>
            <a:ext cx="8501063" cy="2547937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凡是影响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曲线的因素都是影响淬透性的因素。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除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Co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外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，凡溶入奥氏体的合金元素都使钢的淬透性提高；奥氏体化温度高、保温时间长</a:t>
            </a:r>
            <a:r>
              <a:rPr kumimoji="1" lang="zh-CN" altLang="en-US" sz="2800" kern="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也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使钢的淬透性提高。 </a:t>
            </a:r>
            <a:endParaRPr lang="zh-CN" altLang="en-US" sz="2800" b="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3107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78" grpId="0"/>
      <p:bldP spid="382979" grpId="0" advAuto="1000" build="p"/>
      <p:bldP spid="38298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15350" y="6515100"/>
            <a:ext cx="62865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79202" name="Rectangle 2"/>
          <p:cNvSpPr>
            <a:spLocks noGrp="1"/>
          </p:cNvSpPr>
          <p:nvPr>
            <p:ph type="title"/>
          </p:nvPr>
        </p:nvSpPr>
        <p:spPr>
          <a:xfrm>
            <a:off x="2643188" y="142875"/>
            <a:ext cx="5670550" cy="609600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en-US" altLang="zh-CN" b="1" strike="noStrike" noProof="1">
                <a:solidFill>
                  <a:schemeClr val="folHlink"/>
                </a:solidFill>
                <a:ea typeface="华文中宋" panose="02010600040101010101" pitchFamily="2" charset="-122"/>
              </a:rPr>
              <a:t>3.</a:t>
            </a:r>
            <a:r>
              <a:rPr lang="zh-CN" altLang="en-US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淬透性的应用</a:t>
            </a:r>
            <a:endParaRPr lang="zh-CN" altLang="en-US" b="1" strike="noStrike" noProof="1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79203" name="Rectangle 3"/>
          <p:cNvSpPr>
            <a:spLocks noGrp="1"/>
          </p:cNvSpPr>
          <p:nvPr>
            <p:ph idx="1"/>
          </p:nvPr>
        </p:nvSpPr>
        <p:spPr>
          <a:xfrm>
            <a:off x="395288" y="908050"/>
            <a:ext cx="8305800" cy="1905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(1)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利用淬透性曲线及圆棒冷速与端淬距离的关系曲线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可以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预测零件淬火后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硬度分布。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下图为预测</a:t>
            </a:r>
            <a:r>
              <a:rPr lang="en-US" altLang="zh-CN" sz="2800" b="1" dirty="0">
                <a:ea typeface="华文中宋" panose="02010600040101010101" pitchFamily="2" charset="-122"/>
              </a:rPr>
              <a:t>50mm</a:t>
            </a:r>
            <a:r>
              <a:rPr lang="zh-CN" altLang="en-US" sz="2800" b="1" dirty="0">
                <a:ea typeface="华文中宋" panose="02010600040101010101" pitchFamily="2" charset="-122"/>
              </a:rPr>
              <a:t>直径</a:t>
            </a:r>
            <a:r>
              <a:rPr lang="en-US" altLang="zh-CN" sz="2800" b="1" dirty="0">
                <a:ea typeface="华文中宋" panose="02010600040101010101" pitchFamily="2" charset="-122"/>
              </a:rPr>
              <a:t>40MnB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钢轴淬火后断面的硬度分布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79204" name="Picture 4" descr="image00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6300" y="2895600"/>
            <a:ext cx="7435850" cy="3581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3210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9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2" grpId="0"/>
      <p:bldP spid="179203" grpId="0" advAuto="1000" build="p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95110"/>
            <a:ext cx="528320" cy="26289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405" y="116840"/>
            <a:ext cx="7772400" cy="14192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3.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淬透性的应用</a:t>
            </a:r>
            <a:b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（</a:t>
            </a: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）利用淬透性曲线进行选材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3123" name="Rectangle 3"/>
          <p:cNvSpPr>
            <a:spLocks noGrp="1"/>
          </p:cNvSpPr>
          <p:nvPr>
            <p:ph idx="1"/>
          </p:nvPr>
        </p:nvSpPr>
        <p:spPr>
          <a:xfrm>
            <a:off x="323215" y="1628775"/>
            <a:ext cx="8351520" cy="42513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如要求厚</a:t>
            </a:r>
            <a:r>
              <a:rPr lang="en-US" altLang="zh-CN" sz="2800" b="1" dirty="0">
                <a:ea typeface="华文中宋" panose="02010600040101010101" pitchFamily="2" charset="-122"/>
              </a:rPr>
              <a:t>60mm</a:t>
            </a:r>
            <a:r>
              <a:rPr lang="zh-CN" altLang="en-US" sz="2800" b="1" dirty="0">
                <a:ea typeface="华文中宋" panose="02010600040101010101" pitchFamily="2" charset="-122"/>
              </a:rPr>
              <a:t>汽车转向节淬火后表面硬度超过</a:t>
            </a:r>
            <a:r>
              <a:rPr lang="en-US" altLang="zh-CN" sz="2800" b="1" dirty="0">
                <a:ea typeface="华文中宋" panose="02010600040101010101" pitchFamily="2" charset="-122"/>
              </a:rPr>
              <a:t>HRC50</a:t>
            </a:r>
            <a:r>
              <a:rPr lang="zh-CN" altLang="en-US" sz="2800" b="1" dirty="0">
                <a:ea typeface="华文中宋" panose="02010600040101010101" pitchFamily="2" charset="-122"/>
              </a:rPr>
              <a:t>，</a:t>
            </a:r>
            <a:r>
              <a:rPr lang="en-US" altLang="zh-CN" sz="2800" b="1" dirty="0">
                <a:ea typeface="华文中宋" panose="02010600040101010101" pitchFamily="2" charset="-122"/>
              </a:rPr>
              <a:t>3/4</a:t>
            </a:r>
            <a:r>
              <a:rPr lang="zh-CN" altLang="en-US" sz="2800" b="1" dirty="0">
                <a:ea typeface="华文中宋" panose="02010600040101010101" pitchFamily="2" charset="-122"/>
              </a:rPr>
              <a:t>半径处为</a:t>
            </a:r>
            <a:r>
              <a:rPr lang="en-US" altLang="zh-CN" sz="2800" b="1" dirty="0">
                <a:ea typeface="华文中宋" panose="02010600040101010101" pitchFamily="2" charset="-122"/>
              </a:rPr>
              <a:t>HRC45</a:t>
            </a:r>
            <a:r>
              <a:rPr lang="zh-CN" altLang="en-US" sz="2800" b="1" dirty="0">
                <a:ea typeface="华文中宋" panose="02010600040101010101" pitchFamily="2" charset="-122"/>
              </a:rPr>
              <a:t>。可按下图箭头所示程序进行选材分析</a:t>
            </a:r>
            <a:r>
              <a:rPr lang="zh-CN" altLang="en-US" sz="2800" b="1" dirty="0">
                <a:ea typeface="华文中宋" panose="02010600040101010101" pitchFamily="2" charset="-122"/>
                <a:sym typeface="+mn-ea"/>
              </a:rPr>
              <a:t>。</a:t>
            </a:r>
            <a:endParaRPr lang="en-US" altLang="zh-CN" sz="2800" b="1" dirty="0">
              <a:ea typeface="华文中宋" panose="02010600040101010101" pitchFamily="2" charset="-122"/>
            </a:endParaRPr>
          </a:p>
        </p:txBody>
      </p:sp>
      <p:pic>
        <p:nvPicPr>
          <p:cNvPr id="387076" name="Picture 4" descr="image00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851910" y="2853055"/>
            <a:ext cx="5203190" cy="2747010"/>
          </a:xfrm>
          <a:prstGeom prst="rect">
            <a:avLst/>
          </a:prstGeom>
          <a:noFill/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3312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55638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72250"/>
            <a:ext cx="600075" cy="2857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84582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）利用淬透性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可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控制淬硬层深度。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4147" name="Rectangle 3"/>
          <p:cNvSpPr>
            <a:spLocks noGrp="1"/>
          </p:cNvSpPr>
          <p:nvPr>
            <p:ph idx="1"/>
          </p:nvPr>
        </p:nvSpPr>
        <p:spPr>
          <a:xfrm>
            <a:off x="204470" y="1124268"/>
            <a:ext cx="6107113" cy="5643562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对于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截面承载均匀</a:t>
            </a:r>
            <a:r>
              <a:rPr lang="zh-CN" altLang="en-US" b="1" dirty="0">
                <a:ea typeface="华文中宋" panose="02010600040101010101" pitchFamily="2" charset="-122"/>
              </a:rPr>
              <a:t>的重要件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要全部淬透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。如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螺栓、连杆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模具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等。</a:t>
            </a:r>
            <a:endParaRPr lang="zh-CN" altLang="en-US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ea typeface="华文中宋" panose="02010600040101010101" pitchFamily="2" charset="-122"/>
              </a:rPr>
              <a:t>对于承受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弯曲、扭转</a:t>
            </a:r>
            <a:r>
              <a:rPr lang="zh-CN" altLang="en-US" b="1" dirty="0">
                <a:ea typeface="华文中宋" panose="02010600040101010101" pitchFamily="2" charset="-122"/>
              </a:rPr>
              <a:t>的零件可不必淬透</a:t>
            </a:r>
            <a:r>
              <a:rPr lang="en-US" altLang="zh-CN" b="1" dirty="0"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ea typeface="华文中宋" panose="02010600040101010101" pitchFamily="2" charset="-122"/>
              </a:rPr>
              <a:t>淬硬层深度一般为半径的</a:t>
            </a:r>
            <a:r>
              <a:rPr lang="en-US" altLang="zh-CN" b="1" dirty="0">
                <a:ea typeface="华文中宋" panose="02010600040101010101" pitchFamily="2" charset="-122"/>
              </a:rPr>
              <a:t>1/2~1/3)</a:t>
            </a:r>
            <a:r>
              <a:rPr lang="zh-CN" altLang="en-US" b="1" dirty="0">
                <a:ea typeface="华文中宋" panose="02010600040101010101" pitchFamily="2" charset="-122"/>
              </a:rPr>
              <a:t>，如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轴类、齿轮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淬硬层深度与工件尺寸有关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设计</a:t>
            </a:r>
            <a:r>
              <a:rPr lang="zh-CN" altLang="en-US" b="1" dirty="0">
                <a:ea typeface="华文中宋" panose="02010600040101010101" pitchFamily="2" charset="-122"/>
              </a:rPr>
              <a:t>时应注意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尺寸效应。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6476789" y="1261745"/>
            <a:ext cx="2602441" cy="4928048"/>
            <a:chOff x="3504" y="258"/>
            <a:chExt cx="2078" cy="3933"/>
          </a:xfrm>
        </p:grpSpPr>
        <p:pic>
          <p:nvPicPr>
            <p:cNvPr id="134149" name="Picture 5" descr="bolt1高强螺栓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04" y="258"/>
              <a:ext cx="2040" cy="1254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4150" name="Text Box 6"/>
            <p:cNvSpPr txBox="1">
              <a:spLocks noChangeAspect="1"/>
            </p:cNvSpPr>
            <p:nvPr/>
          </p:nvSpPr>
          <p:spPr>
            <a:xfrm>
              <a:off x="3504" y="1239"/>
              <a:ext cx="912" cy="29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高强螺栓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34151" name="Picture 7" descr="connector柴油机连杆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4" y="1536"/>
              <a:ext cx="2040" cy="1271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4152" name="Text Box 8"/>
            <p:cNvSpPr txBox="1">
              <a:spLocks noChangeAspect="1"/>
            </p:cNvSpPr>
            <p:nvPr/>
          </p:nvSpPr>
          <p:spPr>
            <a:xfrm>
              <a:off x="4315" y="1511"/>
              <a:ext cx="1267" cy="29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zh-CN" altLang="en-US" dirty="0">
                  <a:solidFill>
                    <a:srgbClr val="00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柴油机连杆</a:t>
              </a:r>
              <a:endParaRPr lang="zh-CN" altLang="en-US" dirty="0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34153" name="Picture 9" descr="c1齿轮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4" y="2832"/>
              <a:ext cx="2040" cy="1307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4154" name="Text Box 10"/>
            <p:cNvSpPr txBox="1">
              <a:spLocks noChangeAspect="1"/>
            </p:cNvSpPr>
            <p:nvPr/>
          </p:nvSpPr>
          <p:spPr>
            <a:xfrm>
              <a:off x="5040" y="3897"/>
              <a:ext cx="529" cy="29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齿轮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415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idx="1"/>
          </p:nvPr>
        </p:nvSpPr>
        <p:spPr>
          <a:xfrm>
            <a:off x="1619250" y="0"/>
            <a:ext cx="7239000" cy="103981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4400" b="1" dirty="0">
                <a:solidFill>
                  <a:schemeClr val="tx2"/>
                </a:solidFill>
                <a:ea typeface="华文中宋" panose="02010600040101010101" pitchFamily="2" charset="-122"/>
              </a:rPr>
              <a:t>不同冷却条件下的转变产物</a:t>
            </a:r>
            <a:endParaRPr lang="zh-CN" altLang="en-US" sz="4400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32771" name="Freeform 3"/>
          <p:cNvSpPr/>
          <p:nvPr/>
        </p:nvSpPr>
        <p:spPr>
          <a:xfrm>
            <a:off x="2209800" y="1265238"/>
            <a:ext cx="6248400" cy="3852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3936" h="2016">
                <a:moveTo>
                  <a:pt x="0" y="0"/>
                </a:moveTo>
                <a:cubicBezTo>
                  <a:pt x="760" y="80"/>
                  <a:pt x="1520" y="160"/>
                  <a:pt x="2016" y="288"/>
                </a:cubicBezTo>
                <a:cubicBezTo>
                  <a:pt x="2512" y="416"/>
                  <a:pt x="2656" y="480"/>
                  <a:pt x="2976" y="768"/>
                </a:cubicBezTo>
                <a:cubicBezTo>
                  <a:pt x="3296" y="1056"/>
                  <a:pt x="3616" y="1536"/>
                  <a:pt x="3936" y="20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72" name="Text Box 4"/>
          <p:cNvSpPr txBox="1"/>
          <p:nvPr/>
        </p:nvSpPr>
        <p:spPr>
          <a:xfrm>
            <a:off x="7186613" y="1635125"/>
            <a:ext cx="1524000" cy="3952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等温退火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3" name="Text Box 5"/>
          <p:cNvSpPr txBox="1"/>
          <p:nvPr/>
        </p:nvSpPr>
        <p:spPr>
          <a:xfrm>
            <a:off x="8680450" y="49403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4" name="Text Box 6"/>
          <p:cNvSpPr txBox="1"/>
          <p:nvPr/>
        </p:nvSpPr>
        <p:spPr>
          <a:xfrm>
            <a:off x="6553200" y="1998663"/>
            <a:ext cx="106680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退火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5" name="Text Box 7"/>
          <p:cNvSpPr txBox="1"/>
          <p:nvPr/>
        </p:nvSpPr>
        <p:spPr>
          <a:xfrm>
            <a:off x="6824663" y="2392363"/>
            <a:ext cx="99060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炉冷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6" name="Freeform 8"/>
          <p:cNvSpPr/>
          <p:nvPr/>
        </p:nvSpPr>
        <p:spPr>
          <a:xfrm>
            <a:off x="2209800" y="1265238"/>
            <a:ext cx="5105400" cy="43116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3216" h="2256">
                <a:moveTo>
                  <a:pt x="0" y="0"/>
                </a:moveTo>
                <a:cubicBezTo>
                  <a:pt x="492" y="156"/>
                  <a:pt x="984" y="312"/>
                  <a:pt x="1344" y="480"/>
                </a:cubicBezTo>
                <a:cubicBezTo>
                  <a:pt x="1704" y="648"/>
                  <a:pt x="1848" y="712"/>
                  <a:pt x="2160" y="1008"/>
                </a:cubicBezTo>
                <a:cubicBezTo>
                  <a:pt x="2472" y="1304"/>
                  <a:pt x="2844" y="1780"/>
                  <a:pt x="3216" y="22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77" name="Text Box 9"/>
          <p:cNvSpPr txBox="1"/>
          <p:nvPr/>
        </p:nvSpPr>
        <p:spPr>
          <a:xfrm>
            <a:off x="5257800" y="2641600"/>
            <a:ext cx="1066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正火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8" name="Text Box 10"/>
          <p:cNvSpPr txBox="1"/>
          <p:nvPr/>
        </p:nvSpPr>
        <p:spPr>
          <a:xfrm>
            <a:off x="5715000" y="3008313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空冷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9" name="Text Box 11"/>
          <p:cNvSpPr txBox="1"/>
          <p:nvPr/>
        </p:nvSpPr>
        <p:spPr>
          <a:xfrm>
            <a:off x="7239000" y="5394325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0" name="Freeform 12"/>
          <p:cNvSpPr/>
          <p:nvPr/>
        </p:nvSpPr>
        <p:spPr>
          <a:xfrm>
            <a:off x="2209800" y="1265238"/>
            <a:ext cx="2514600" cy="4495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584" h="2352">
                <a:moveTo>
                  <a:pt x="0" y="0"/>
                </a:moveTo>
                <a:cubicBezTo>
                  <a:pt x="324" y="236"/>
                  <a:pt x="648" y="472"/>
                  <a:pt x="912" y="864"/>
                </a:cubicBezTo>
                <a:cubicBezTo>
                  <a:pt x="1176" y="1256"/>
                  <a:pt x="1380" y="1804"/>
                  <a:pt x="1584" y="23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81" name="Text Box 13"/>
          <p:cNvSpPr txBox="1"/>
          <p:nvPr/>
        </p:nvSpPr>
        <p:spPr>
          <a:xfrm>
            <a:off x="4162425" y="3784600"/>
            <a:ext cx="9906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油冷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2" name="Text Box 14"/>
          <p:cNvSpPr txBox="1"/>
          <p:nvPr/>
        </p:nvSpPr>
        <p:spPr>
          <a:xfrm>
            <a:off x="4578350" y="5684838"/>
            <a:ext cx="14478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T+M+A’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3" name="Freeform 15"/>
          <p:cNvSpPr/>
          <p:nvPr/>
        </p:nvSpPr>
        <p:spPr>
          <a:xfrm>
            <a:off x="2209800" y="1265238"/>
            <a:ext cx="990600" cy="3670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624" h="1920">
                <a:moveTo>
                  <a:pt x="0" y="0"/>
                </a:moveTo>
                <a:cubicBezTo>
                  <a:pt x="68" y="152"/>
                  <a:pt x="136" y="304"/>
                  <a:pt x="240" y="624"/>
                </a:cubicBezTo>
                <a:cubicBezTo>
                  <a:pt x="344" y="944"/>
                  <a:pt x="484" y="1432"/>
                  <a:pt x="624" y="192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84" name="Line 16"/>
          <p:cNvSpPr/>
          <p:nvPr/>
        </p:nvSpPr>
        <p:spPr>
          <a:xfrm>
            <a:off x="3200400" y="4935538"/>
            <a:ext cx="464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785" name="Line 17"/>
          <p:cNvSpPr/>
          <p:nvPr/>
        </p:nvSpPr>
        <p:spPr>
          <a:xfrm>
            <a:off x="7848600" y="4935538"/>
            <a:ext cx="381000" cy="733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</p:sp>
      <p:sp>
        <p:nvSpPr>
          <p:cNvPr id="32786" name="Text Box 18"/>
          <p:cNvSpPr txBox="1"/>
          <p:nvPr/>
        </p:nvSpPr>
        <p:spPr>
          <a:xfrm>
            <a:off x="5181600" y="4476750"/>
            <a:ext cx="15240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等温淬火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7" name="Text Box 19"/>
          <p:cNvSpPr txBox="1"/>
          <p:nvPr/>
        </p:nvSpPr>
        <p:spPr>
          <a:xfrm>
            <a:off x="8075613" y="5535613"/>
            <a:ext cx="75565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8" name="Line 20"/>
          <p:cNvSpPr/>
          <p:nvPr/>
        </p:nvSpPr>
        <p:spPr>
          <a:xfrm>
            <a:off x="4191000" y="4935538"/>
            <a:ext cx="152400" cy="733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</p:sp>
      <p:sp>
        <p:nvSpPr>
          <p:cNvPr id="32789" name="Text Box 21"/>
          <p:cNvSpPr txBox="1"/>
          <p:nvPr/>
        </p:nvSpPr>
        <p:spPr>
          <a:xfrm>
            <a:off x="3702050" y="5553075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M+A’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90" name="Text Box 22"/>
          <p:cNvSpPr txBox="1"/>
          <p:nvPr/>
        </p:nvSpPr>
        <p:spPr>
          <a:xfrm>
            <a:off x="3024188" y="4497388"/>
            <a:ext cx="152400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分级淬火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91" name="Freeform 23"/>
          <p:cNvSpPr/>
          <p:nvPr/>
        </p:nvSpPr>
        <p:spPr>
          <a:xfrm>
            <a:off x="2209800" y="1265238"/>
            <a:ext cx="609600" cy="4495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384" h="2352">
                <a:moveTo>
                  <a:pt x="0" y="0"/>
                </a:moveTo>
                <a:cubicBezTo>
                  <a:pt x="40" y="92"/>
                  <a:pt x="80" y="184"/>
                  <a:pt x="144" y="576"/>
                </a:cubicBezTo>
                <a:cubicBezTo>
                  <a:pt x="208" y="968"/>
                  <a:pt x="296" y="1660"/>
                  <a:pt x="384" y="23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92" name="Text Box 24"/>
          <p:cNvSpPr txBox="1"/>
          <p:nvPr/>
        </p:nvSpPr>
        <p:spPr>
          <a:xfrm>
            <a:off x="2438400" y="5610225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M+A’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93" name="Text Box 25"/>
          <p:cNvSpPr txBox="1"/>
          <p:nvPr/>
        </p:nvSpPr>
        <p:spPr>
          <a:xfrm>
            <a:off x="1954213" y="4600575"/>
            <a:ext cx="10668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淬火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94" name="Text Box 26"/>
          <p:cNvSpPr txBox="1"/>
          <p:nvPr/>
        </p:nvSpPr>
        <p:spPr>
          <a:xfrm>
            <a:off x="2139950" y="4918075"/>
            <a:ext cx="990600" cy="3032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水冷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7"/>
          <p:cNvGrpSpPr/>
          <p:nvPr/>
        </p:nvGrpSpPr>
        <p:grpSpPr>
          <a:xfrm>
            <a:off x="44450" y="989013"/>
            <a:ext cx="8778875" cy="5921210"/>
            <a:chOff x="28" y="960"/>
            <a:chExt cx="5530" cy="3097"/>
          </a:xfrm>
        </p:grpSpPr>
        <p:grpSp>
          <p:nvGrpSpPr>
            <p:cNvPr id="135196" name="Group 28"/>
            <p:cNvGrpSpPr/>
            <p:nvPr/>
          </p:nvGrpSpPr>
          <p:grpSpPr>
            <a:xfrm>
              <a:off x="288" y="967"/>
              <a:ext cx="5270" cy="3090"/>
              <a:chOff x="288" y="1255"/>
              <a:chExt cx="5270" cy="3090"/>
            </a:xfrm>
          </p:grpSpPr>
          <p:grpSp>
            <p:nvGrpSpPr>
              <p:cNvPr id="135197" name="Group 29"/>
              <p:cNvGrpSpPr/>
              <p:nvPr/>
            </p:nvGrpSpPr>
            <p:grpSpPr>
              <a:xfrm>
                <a:off x="288" y="1255"/>
                <a:ext cx="5270" cy="3090"/>
                <a:chOff x="288" y="1255"/>
                <a:chExt cx="5270" cy="3090"/>
              </a:xfrm>
            </p:grpSpPr>
            <p:grpSp>
              <p:nvGrpSpPr>
                <p:cNvPr id="135198" name="Group 30"/>
                <p:cNvGrpSpPr/>
                <p:nvPr/>
              </p:nvGrpSpPr>
              <p:grpSpPr>
                <a:xfrm>
                  <a:off x="1016" y="1255"/>
                  <a:ext cx="4542" cy="3090"/>
                  <a:chOff x="1028" y="1104"/>
                  <a:chExt cx="4542" cy="3090"/>
                </a:xfrm>
              </p:grpSpPr>
              <p:grpSp>
                <p:nvGrpSpPr>
                  <p:cNvPr id="135199" name="Group 31"/>
                  <p:cNvGrpSpPr/>
                  <p:nvPr/>
                </p:nvGrpSpPr>
                <p:grpSpPr>
                  <a:xfrm>
                    <a:off x="1028" y="1104"/>
                    <a:ext cx="4542" cy="3090"/>
                    <a:chOff x="450" y="1248"/>
                    <a:chExt cx="4542" cy="3090"/>
                  </a:xfrm>
                </p:grpSpPr>
                <p:grpSp>
                  <p:nvGrpSpPr>
                    <p:cNvPr id="135200" name="Group 32"/>
                    <p:cNvGrpSpPr/>
                    <p:nvPr/>
                  </p:nvGrpSpPr>
                  <p:grpSpPr>
                    <a:xfrm>
                      <a:off x="450" y="1248"/>
                      <a:ext cx="4542" cy="2832"/>
                      <a:chOff x="450" y="1248"/>
                      <a:chExt cx="4542" cy="2832"/>
                    </a:xfrm>
                  </p:grpSpPr>
                  <p:grpSp>
                    <p:nvGrpSpPr>
                      <p:cNvPr id="135201" name="Group 33"/>
                      <p:cNvGrpSpPr/>
                      <p:nvPr/>
                    </p:nvGrpSpPr>
                    <p:grpSpPr>
                      <a:xfrm>
                        <a:off x="816" y="1248"/>
                        <a:ext cx="4176" cy="2832"/>
                        <a:chOff x="816" y="1248"/>
                        <a:chExt cx="4176" cy="2832"/>
                      </a:xfrm>
                    </p:grpSpPr>
                    <p:grpSp>
                      <p:nvGrpSpPr>
                        <p:cNvPr id="135202" name="Group 34"/>
                        <p:cNvGrpSpPr/>
                        <p:nvPr/>
                      </p:nvGrpSpPr>
                      <p:grpSpPr>
                        <a:xfrm>
                          <a:off x="816" y="1248"/>
                          <a:ext cx="4176" cy="2832"/>
                          <a:chOff x="816" y="1248"/>
                          <a:chExt cx="4176" cy="2832"/>
                        </a:xfrm>
                      </p:grpSpPr>
                      <p:sp>
                        <p:nvSpPr>
                          <p:cNvPr id="135203" name="Line 35"/>
                          <p:cNvSpPr/>
                          <p:nvPr/>
                        </p:nvSpPr>
                        <p:spPr>
                          <a:xfrm>
                            <a:off x="816" y="1248"/>
                            <a:ext cx="0" cy="2832"/>
                          </a:xfrm>
                          <a:prstGeom prst="line">
                            <a:avLst/>
                          </a:prstGeom>
                          <a:ln w="31750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sp>
                      <p:sp>
                        <p:nvSpPr>
                          <p:cNvPr id="135204" name="Line 36"/>
                          <p:cNvSpPr/>
                          <p:nvPr/>
                        </p:nvSpPr>
                        <p:spPr>
                          <a:xfrm>
                            <a:off x="816" y="4080"/>
                            <a:ext cx="4176" cy="0"/>
                          </a:xfrm>
                          <a:prstGeom prst="line">
                            <a:avLst/>
                          </a:prstGeom>
                          <a:ln w="31750" cap="flat" cmpd="sng">
                            <a:solidFill>
                              <a:schemeClr val="tx1"/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</p:spPr>
                      </p:sp>
                    </p:grpSp>
                    <p:sp>
                      <p:nvSpPr>
                        <p:cNvPr id="135205" name="Line 37"/>
                        <p:cNvSpPr/>
                        <p:nvPr/>
                      </p:nvSpPr>
                      <p:spPr>
                        <a:xfrm>
                          <a:off x="816" y="1584"/>
                          <a:ext cx="3936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135206" name="Line 38"/>
                        <p:cNvSpPr/>
                        <p:nvPr/>
                      </p:nvSpPr>
                      <p:spPr>
                        <a:xfrm>
                          <a:off x="816" y="3888"/>
                          <a:ext cx="4128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135207" name="Line 39"/>
                        <p:cNvSpPr/>
                        <p:nvPr/>
                      </p:nvSpPr>
                      <p:spPr>
                        <a:xfrm flipV="1">
                          <a:off x="816" y="3504"/>
                          <a:ext cx="4032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</p:sp>
                  </p:grpSp>
                  <p:sp>
                    <p:nvSpPr>
                      <p:cNvPr id="135208" name="Text Box 40"/>
                      <p:cNvSpPr txBox="1"/>
                      <p:nvPr/>
                    </p:nvSpPr>
                    <p:spPr>
                      <a:xfrm>
                        <a:off x="509" y="1423"/>
                        <a:ext cx="384" cy="23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lstStyle/>
                      <a:p>
                        <a:r>
                          <a:rPr lang="en-US" altLang="zh-CN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A</a:t>
                        </a:r>
                        <a:r>
                          <a:rPr lang="en-US" altLang="zh-CN" sz="2400" baseline="-25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1</a:t>
                        </a:r>
                        <a:endPara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35209" name="Text Box 41"/>
                      <p:cNvSpPr txBox="1"/>
                      <p:nvPr/>
                    </p:nvSpPr>
                    <p:spPr>
                      <a:xfrm>
                        <a:off x="458" y="3360"/>
                        <a:ext cx="384" cy="23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lstStyle/>
                      <a:p>
                        <a:r>
                          <a:rPr lang="en-US" altLang="zh-CN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M</a:t>
                        </a:r>
                        <a:r>
                          <a:rPr lang="en-US" altLang="zh-CN" sz="2400" baseline="-25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S</a:t>
                        </a:r>
                        <a:endPara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135210" name="Text Box 42"/>
                      <p:cNvSpPr txBox="1"/>
                      <p:nvPr/>
                    </p:nvSpPr>
                    <p:spPr>
                      <a:xfrm>
                        <a:off x="450" y="3744"/>
                        <a:ext cx="384" cy="23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anchor="t">
                        <a:spAutoFit/>
                      </a:bodyPr>
                      <a:lstStyle/>
                      <a:p>
                        <a:r>
                          <a:rPr lang="en-US" altLang="zh-CN" sz="2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M</a:t>
                        </a:r>
                        <a:r>
                          <a:rPr lang="en-US" altLang="zh-CN" sz="2400" baseline="-25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f</a:t>
                        </a:r>
                        <a:endPara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135211" name="Text Box 43"/>
                    <p:cNvSpPr txBox="1"/>
                    <p:nvPr/>
                  </p:nvSpPr>
                  <p:spPr>
                    <a:xfrm>
                      <a:off x="3610" y="4131"/>
                      <a:ext cx="1008" cy="20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anchor="t">
                      <a:spAutoFit/>
                    </a:bodyPr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时间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135212" name="Freeform 44"/>
                  <p:cNvSpPr/>
                  <p:nvPr/>
                </p:nvSpPr>
                <p:spPr>
                  <a:xfrm>
                    <a:off x="1657" y="1441"/>
                    <a:ext cx="2336" cy="1920"/>
                  </a:xfrm>
                  <a:custGeom>
                    <a:avLst/>
                    <a:gdLst/>
                    <a:ahLst/>
                    <a:cxnLst>
                      <a:cxn ang="0">
                        <a:pos x="2336" y="0"/>
                      </a:cxn>
                      <a:cxn ang="0">
                        <a:pos x="368" y="336"/>
                      </a:cxn>
                      <a:cxn ang="0">
                        <a:pos x="272" y="864"/>
                      </a:cxn>
                      <a:cxn ang="0">
                        <a:pos x="2000" y="1920"/>
                      </a:cxn>
                    </a:cxnLst>
                    <a:rect l="0" t="0" r="0" b="0"/>
                    <a:pathLst>
                      <a:path w="2336" h="1920">
                        <a:moveTo>
                          <a:pt x="2336" y="0"/>
                        </a:moveTo>
                        <a:cubicBezTo>
                          <a:pt x="1524" y="96"/>
                          <a:pt x="712" y="192"/>
                          <a:pt x="368" y="336"/>
                        </a:cubicBezTo>
                        <a:cubicBezTo>
                          <a:pt x="24" y="480"/>
                          <a:pt x="0" y="600"/>
                          <a:pt x="272" y="864"/>
                        </a:cubicBezTo>
                        <a:cubicBezTo>
                          <a:pt x="544" y="1128"/>
                          <a:pt x="1272" y="1524"/>
                          <a:pt x="2000" y="1920"/>
                        </a:cubicBezTo>
                      </a:path>
                    </a:pathLst>
                  </a:custGeom>
                  <a:noFill/>
                  <a:ln w="31750" cap="flat" cmpd="sng">
                    <a:solidFill>
                      <a:srgbClr val="66FF6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5213" name="Freeform 45"/>
                  <p:cNvSpPr/>
                  <p:nvPr/>
                </p:nvSpPr>
                <p:spPr>
                  <a:xfrm>
                    <a:off x="2273" y="1441"/>
                    <a:ext cx="2776" cy="1920"/>
                  </a:xfrm>
                  <a:custGeom>
                    <a:avLst/>
                    <a:gdLst/>
                    <a:ahLst/>
                    <a:cxnLst>
                      <a:cxn ang="0">
                        <a:pos x="2248" y="0"/>
                      </a:cxn>
                      <a:cxn ang="0">
                        <a:pos x="280" y="432"/>
                      </a:cxn>
                      <a:cxn ang="0">
                        <a:pos x="568" y="912"/>
                      </a:cxn>
                      <a:cxn ang="0">
                        <a:pos x="2776" y="1920"/>
                      </a:cxn>
                    </a:cxnLst>
                    <a:rect l="0" t="0" r="0" b="0"/>
                    <a:pathLst>
                      <a:path w="2776" h="1920">
                        <a:moveTo>
                          <a:pt x="2248" y="0"/>
                        </a:moveTo>
                        <a:cubicBezTo>
                          <a:pt x="1404" y="140"/>
                          <a:pt x="560" y="280"/>
                          <a:pt x="280" y="432"/>
                        </a:cubicBezTo>
                        <a:cubicBezTo>
                          <a:pt x="0" y="584"/>
                          <a:pt x="152" y="664"/>
                          <a:pt x="568" y="912"/>
                        </a:cubicBezTo>
                        <a:cubicBezTo>
                          <a:pt x="984" y="1160"/>
                          <a:pt x="1880" y="1540"/>
                          <a:pt x="2776" y="1920"/>
                        </a:cubicBezTo>
                      </a:path>
                    </a:pathLst>
                  </a:custGeom>
                  <a:noFill/>
                  <a:ln w="31750" cap="flat" cmpd="sng">
                    <a:solidFill>
                      <a:schemeClr val="accent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5214" name="Line 46"/>
                <p:cNvSpPr/>
                <p:nvPr/>
              </p:nvSpPr>
              <p:spPr>
                <a:xfrm>
                  <a:off x="288" y="1255"/>
                  <a:ext cx="0" cy="2832"/>
                </a:xfrm>
                <a:prstGeom prst="line">
                  <a:avLst/>
                </a:prstGeom>
                <a:ln w="317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5215" name="Line 47"/>
                <p:cNvSpPr/>
                <p:nvPr/>
              </p:nvSpPr>
              <p:spPr>
                <a:xfrm flipH="1">
                  <a:off x="288" y="4087"/>
                  <a:ext cx="1104" cy="0"/>
                </a:xfrm>
                <a:prstGeom prst="line">
                  <a:avLst/>
                </a:prstGeom>
                <a:ln w="317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35216" name="Group 48"/>
              <p:cNvGrpSpPr/>
              <p:nvPr/>
            </p:nvGrpSpPr>
            <p:grpSpPr>
              <a:xfrm>
                <a:off x="1872" y="1584"/>
                <a:ext cx="2832" cy="960"/>
                <a:chOff x="1872" y="1584"/>
                <a:chExt cx="2832" cy="960"/>
              </a:xfrm>
            </p:grpSpPr>
            <p:sp>
              <p:nvSpPr>
                <p:cNvPr id="135217" name="Freeform 49"/>
                <p:cNvSpPr/>
                <p:nvPr/>
              </p:nvSpPr>
              <p:spPr>
                <a:xfrm>
                  <a:off x="1872" y="1584"/>
                  <a:ext cx="2352" cy="960"/>
                </a:xfrm>
                <a:custGeom>
                  <a:avLst/>
                  <a:gdLst/>
                  <a:ahLst/>
                  <a:cxnLst>
                    <a:cxn ang="0">
                      <a:pos x="2352" y="0"/>
                    </a:cxn>
                    <a:cxn ang="0">
                      <a:pos x="336" y="480"/>
                    </a:cxn>
                    <a:cxn ang="0">
                      <a:pos x="336" y="960"/>
                    </a:cxn>
                  </a:cxnLst>
                  <a:rect l="0" t="0" r="0" b="0"/>
                  <a:pathLst>
                    <a:path w="2352" h="960">
                      <a:moveTo>
                        <a:pt x="2352" y="0"/>
                      </a:moveTo>
                      <a:cubicBezTo>
                        <a:pt x="1512" y="160"/>
                        <a:pt x="672" y="320"/>
                        <a:pt x="336" y="480"/>
                      </a:cubicBezTo>
                      <a:cubicBezTo>
                        <a:pt x="0" y="640"/>
                        <a:pt x="168" y="800"/>
                        <a:pt x="336" y="96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folHlink"/>
                  </a:solidFill>
                  <a:prstDash val="lgDash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218" name="Freeform 50"/>
                <p:cNvSpPr/>
                <p:nvPr/>
              </p:nvSpPr>
              <p:spPr>
                <a:xfrm>
                  <a:off x="2624" y="1584"/>
                  <a:ext cx="2080" cy="720"/>
                </a:xfrm>
                <a:custGeom>
                  <a:avLst/>
                  <a:gdLst/>
                  <a:ahLst/>
                  <a:cxnLst>
                    <a:cxn ang="0">
                      <a:pos x="2080" y="0"/>
                    </a:cxn>
                    <a:cxn ang="0">
                      <a:pos x="304" y="480"/>
                    </a:cxn>
                    <a:cxn ang="0">
                      <a:pos x="256" y="720"/>
                    </a:cxn>
                  </a:cxnLst>
                  <a:rect l="0" t="0" r="0" b="0"/>
                  <a:pathLst>
                    <a:path w="2080" h="720">
                      <a:moveTo>
                        <a:pt x="2080" y="0"/>
                      </a:moveTo>
                      <a:cubicBezTo>
                        <a:pt x="1344" y="180"/>
                        <a:pt x="608" y="360"/>
                        <a:pt x="304" y="480"/>
                      </a:cubicBezTo>
                      <a:cubicBezTo>
                        <a:pt x="0" y="600"/>
                        <a:pt x="264" y="680"/>
                        <a:pt x="256" y="72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folHlink"/>
                  </a:solidFill>
                  <a:prstDash val="lgDash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5219" name="Line 51"/>
                <p:cNvSpPr/>
                <p:nvPr/>
              </p:nvSpPr>
              <p:spPr>
                <a:xfrm flipV="1">
                  <a:off x="2208" y="2304"/>
                  <a:ext cx="672" cy="240"/>
                </a:xfrm>
                <a:prstGeom prst="line">
                  <a:avLst/>
                </a:prstGeom>
                <a:ln w="9525" cap="flat" cmpd="sng">
                  <a:solidFill>
                    <a:schemeClr val="folHlink"/>
                  </a:solidFill>
                  <a:prstDash val="lgDash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35220" name="Text Box 52"/>
            <p:cNvSpPr txBox="1"/>
            <p:nvPr/>
          </p:nvSpPr>
          <p:spPr>
            <a:xfrm>
              <a:off x="28" y="960"/>
              <a:ext cx="308" cy="110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温度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821" name="Line 53"/>
          <p:cNvSpPr/>
          <p:nvPr/>
        </p:nvSpPr>
        <p:spPr>
          <a:xfrm>
            <a:off x="2171700" y="1265238"/>
            <a:ext cx="1600200" cy="5492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822" name="Line 54"/>
          <p:cNvSpPr/>
          <p:nvPr/>
        </p:nvSpPr>
        <p:spPr>
          <a:xfrm>
            <a:off x="3771900" y="1814513"/>
            <a:ext cx="3429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823" name="Freeform 55"/>
          <p:cNvSpPr/>
          <p:nvPr/>
        </p:nvSpPr>
        <p:spPr>
          <a:xfrm>
            <a:off x="7200900" y="1814513"/>
            <a:ext cx="1524000" cy="3303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960" h="1728">
                <a:moveTo>
                  <a:pt x="0" y="0"/>
                </a:moveTo>
                <a:cubicBezTo>
                  <a:pt x="208" y="192"/>
                  <a:pt x="416" y="384"/>
                  <a:pt x="576" y="672"/>
                </a:cubicBezTo>
                <a:cubicBezTo>
                  <a:pt x="736" y="960"/>
                  <a:pt x="848" y="1344"/>
                  <a:pt x="960" y="1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824" name="Text Box 56"/>
          <p:cNvSpPr txBox="1"/>
          <p:nvPr/>
        </p:nvSpPr>
        <p:spPr>
          <a:xfrm>
            <a:off x="3821113" y="3427413"/>
            <a:ext cx="1066800" cy="3952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淬火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25" name="Text Box 57"/>
          <p:cNvSpPr txBox="1"/>
          <p:nvPr/>
        </p:nvSpPr>
        <p:spPr>
          <a:xfrm>
            <a:off x="8369300" y="4891088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26" name="Line 58"/>
          <p:cNvSpPr/>
          <p:nvPr/>
        </p:nvSpPr>
        <p:spPr>
          <a:xfrm flipH="1">
            <a:off x="457200" y="1265238"/>
            <a:ext cx="762000" cy="51387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827" name="Line 59"/>
          <p:cNvSpPr/>
          <p:nvPr/>
        </p:nvSpPr>
        <p:spPr>
          <a:xfrm>
            <a:off x="1219200" y="1265238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828" name="Text Box 60"/>
          <p:cNvSpPr txBox="1"/>
          <p:nvPr/>
        </p:nvSpPr>
        <p:spPr>
          <a:xfrm>
            <a:off x="533400" y="5945188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29" name="Text Box 61"/>
          <p:cNvSpPr txBox="1"/>
          <p:nvPr/>
        </p:nvSpPr>
        <p:spPr>
          <a:xfrm>
            <a:off x="1433513" y="838200"/>
            <a:ext cx="914400" cy="3667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均匀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0" name="Text Box 62"/>
          <p:cNvSpPr txBox="1"/>
          <p:nvPr/>
        </p:nvSpPr>
        <p:spPr>
          <a:xfrm>
            <a:off x="533400" y="989013"/>
            <a:ext cx="68580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细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831" name="Line 63"/>
          <p:cNvSpPr/>
          <p:nvPr/>
        </p:nvSpPr>
        <p:spPr>
          <a:xfrm flipV="1">
            <a:off x="2819400" y="3008313"/>
            <a:ext cx="228600" cy="2660650"/>
          </a:xfrm>
          <a:prstGeom prst="line">
            <a:avLst/>
          </a:prstGeom>
          <a:ln w="9525" cap="flat" cmpd="sng">
            <a:solidFill>
              <a:srgbClr val="CCFF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832" name="Line 64"/>
          <p:cNvSpPr/>
          <p:nvPr/>
        </p:nvSpPr>
        <p:spPr>
          <a:xfrm>
            <a:off x="2895600" y="5027613"/>
            <a:ext cx="381000" cy="0"/>
          </a:xfrm>
          <a:prstGeom prst="line">
            <a:avLst/>
          </a:prstGeom>
          <a:ln w="9525" cap="flat" cmpd="sng">
            <a:solidFill>
              <a:srgbClr val="CCFF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833" name="Line 65"/>
          <p:cNvSpPr/>
          <p:nvPr/>
        </p:nvSpPr>
        <p:spPr>
          <a:xfrm>
            <a:off x="3276600" y="5027613"/>
            <a:ext cx="152400" cy="458787"/>
          </a:xfrm>
          <a:prstGeom prst="line">
            <a:avLst/>
          </a:prstGeom>
          <a:ln w="9525" cap="flat" cmpd="sng">
            <a:solidFill>
              <a:srgbClr val="CCFF33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834" name="Line 66"/>
          <p:cNvSpPr/>
          <p:nvPr/>
        </p:nvSpPr>
        <p:spPr>
          <a:xfrm>
            <a:off x="2971800" y="4200525"/>
            <a:ext cx="381000" cy="0"/>
          </a:xfrm>
          <a:prstGeom prst="line">
            <a:avLst/>
          </a:prstGeom>
          <a:ln w="9525" cap="flat" cmpd="sng">
            <a:solidFill>
              <a:srgbClr val="CCFF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835" name="Line 67"/>
          <p:cNvSpPr/>
          <p:nvPr/>
        </p:nvSpPr>
        <p:spPr>
          <a:xfrm>
            <a:off x="3352800" y="4200525"/>
            <a:ext cx="76200" cy="276225"/>
          </a:xfrm>
          <a:prstGeom prst="line">
            <a:avLst/>
          </a:prstGeom>
          <a:ln w="9525" cap="flat" cmpd="sng">
            <a:solidFill>
              <a:srgbClr val="CCFF33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836" name="Line 68"/>
          <p:cNvSpPr/>
          <p:nvPr/>
        </p:nvSpPr>
        <p:spPr>
          <a:xfrm>
            <a:off x="3048000" y="3008313"/>
            <a:ext cx="381000" cy="0"/>
          </a:xfrm>
          <a:prstGeom prst="line">
            <a:avLst/>
          </a:prstGeom>
          <a:ln w="9525" cap="flat" cmpd="sng">
            <a:solidFill>
              <a:srgbClr val="CCFF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837" name="Line 69"/>
          <p:cNvSpPr/>
          <p:nvPr/>
        </p:nvSpPr>
        <p:spPr>
          <a:xfrm>
            <a:off x="3429000" y="3008313"/>
            <a:ext cx="152400" cy="550862"/>
          </a:xfrm>
          <a:prstGeom prst="line">
            <a:avLst/>
          </a:prstGeom>
          <a:ln w="9525" cap="flat" cmpd="sng">
            <a:solidFill>
              <a:srgbClr val="CCFF33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2838" name="Text Box 70"/>
          <p:cNvSpPr txBox="1"/>
          <p:nvPr/>
        </p:nvSpPr>
        <p:spPr>
          <a:xfrm>
            <a:off x="3352800" y="5394325"/>
            <a:ext cx="457200" cy="3952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？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839" name="Text Box 71"/>
          <p:cNvSpPr txBox="1"/>
          <p:nvPr/>
        </p:nvSpPr>
        <p:spPr>
          <a:xfrm>
            <a:off x="3390900" y="4246563"/>
            <a:ext cx="457200" cy="3984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？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840" name="Text Box 72"/>
          <p:cNvSpPr txBox="1"/>
          <p:nvPr/>
        </p:nvSpPr>
        <p:spPr>
          <a:xfrm>
            <a:off x="3524250" y="3375025"/>
            <a:ext cx="457200" cy="3984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？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524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5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8382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3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3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3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000"/>
                            </p:stCondLst>
                            <p:childTnLst>
                              <p:par>
                                <p:cTn id="1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3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2500"/>
                            </p:stCondLst>
                            <p:childTnLst>
                              <p:par>
                                <p:cTn id="1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3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50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4000"/>
                            </p:stCondLst>
                            <p:childTnLst>
                              <p:par>
                                <p:cTn id="1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3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dvAuto="1000" build="p"/>
      <p:bldP spid="32772" grpId="0"/>
      <p:bldP spid="32773" grpId="0"/>
      <p:bldP spid="32774" grpId="0"/>
      <p:bldP spid="32775" grpId="0"/>
      <p:bldP spid="32777" grpId="0"/>
      <p:bldP spid="32778" grpId="0"/>
      <p:bldP spid="32779" grpId="0"/>
      <p:bldP spid="32781" grpId="0"/>
      <p:bldP spid="32782" grpId="0"/>
      <p:bldP spid="32786" grpId="0"/>
      <p:bldP spid="32787" grpId="0"/>
      <p:bldP spid="32789" grpId="0"/>
      <p:bldP spid="32790" grpId="0"/>
      <p:bldP spid="32792" grpId="0"/>
      <p:bldP spid="32793" grpId="0"/>
      <p:bldP spid="32794" grpId="0"/>
      <p:bldP spid="32824" grpId="0"/>
      <p:bldP spid="32825" grpId="0"/>
      <p:bldP spid="32828" grpId="0"/>
      <p:bldP spid="32829" grpId="0"/>
      <p:bldP spid="32830" grpId="0"/>
      <p:bldP spid="32838" grpId="0"/>
      <p:bldP spid="32839" grpId="0"/>
      <p:bldP spid="32840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063" y="6510338"/>
            <a:ext cx="457200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92969" y="1340826"/>
            <a:ext cx="7272606" cy="331227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5 </a:t>
            </a: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钢的回火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6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Tempering </a:t>
            </a:r>
            <a:r>
              <a:rPr lang="en-US" altLang="zh-CN" sz="6600" b="1" i="1" dirty="0"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en-US" sz="6600" b="1" i="1" dirty="0"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600" b="1" i="1" dirty="0">
                <a:latin typeface="+mn-lt"/>
                <a:ea typeface="华文中宋" panose="02010600040101010101" pitchFamily="2" charset="-122"/>
                <a:cs typeface="Times New Roman" panose="02020603050405020304" pitchFamily="18" charset="0"/>
              </a:rPr>
              <a:t>Steels</a:t>
            </a:r>
            <a:endParaRPr kumimoji="1" lang="zh-CN" altLang="en-US" sz="66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19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30689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063" y="6510338"/>
            <a:ext cx="457200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323" y="44133"/>
            <a:ext cx="66929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5.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钢的回火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6195" name="Rectangle 3"/>
          <p:cNvSpPr>
            <a:spLocks noGrp="1"/>
          </p:cNvSpPr>
          <p:nvPr>
            <p:ph idx="1"/>
          </p:nvPr>
        </p:nvSpPr>
        <p:spPr>
          <a:xfrm>
            <a:off x="685800" y="1557338"/>
            <a:ext cx="7772400" cy="453866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回火：</a:t>
            </a:r>
            <a:r>
              <a:rPr lang="zh-CN" altLang="en-US" b="1" dirty="0">
                <a:ea typeface="华文中宋" panose="02010600040101010101" pitchFamily="2" charset="-122"/>
              </a:rPr>
              <a:t>是指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将淬火钢加热到</a:t>
            </a: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b="1" baseline="-20000" dirty="0">
                <a:solidFill>
                  <a:schemeClr val="accent1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以下的某温度，保温后冷却的工艺。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</p:txBody>
      </p:sp>
      <p:sp>
        <p:nvSpPr>
          <p:cNvPr id="13619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1043305" y="1772920"/>
            <a:ext cx="94488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回火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83680"/>
            <a:ext cx="714375" cy="2743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43213" y="0"/>
            <a:ext cx="4157663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回火的目的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7219" name="Rectangle 3"/>
          <p:cNvSpPr>
            <a:spLocks noGrp="1"/>
          </p:cNvSpPr>
          <p:nvPr>
            <p:ph idx="1"/>
          </p:nvPr>
        </p:nvSpPr>
        <p:spPr>
          <a:xfrm>
            <a:off x="233045" y="1124585"/>
            <a:ext cx="8528685" cy="3675380"/>
          </a:xfrm>
        </p:spPr>
        <p:txBody>
          <a:bodyPr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、减少</a:t>
            </a:r>
            <a:r>
              <a:rPr lang="zh-CN" altLang="en-US" sz="2800" b="1" dirty="0">
                <a:ea typeface="华文中宋" panose="02010600040101010101" pitchFamily="2" charset="-122"/>
              </a:rPr>
              <a:t>或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消除淬火内应力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防止变形或开裂</a:t>
            </a:r>
            <a:r>
              <a:rPr lang="zh-CN" altLang="en-US" sz="2800" b="1" dirty="0">
                <a:sym typeface="+mn-ea"/>
              </a:rPr>
              <a:t>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folHlink"/>
                </a:solidFill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</a:rPr>
              <a:t>、获得所需要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chemeClr val="folHlink"/>
                </a:solidFill>
              </a:rPr>
              <a:t>力学性能。</a:t>
            </a:r>
            <a:r>
              <a:rPr lang="zh-CN" altLang="en-US" sz="2800" b="1" dirty="0"/>
              <a:t>淬火钢一般硬度高，脆性大，回火可调整硬度、韧性。</a:t>
            </a:r>
            <a:endParaRPr lang="zh-CN" altLang="en-US" sz="2800" b="1" dirty="0"/>
          </a:p>
          <a:p>
            <a:pPr eaLnBrk="1" hangingPunct="1"/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3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、稳定尺寸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  <a:sym typeface="+mn-ea"/>
              </a:rPr>
              <a:t>：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淬火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M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和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A’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都是非平衡组织</a:t>
            </a:r>
            <a:r>
              <a:rPr lang="zh-CN" altLang="en-US" sz="2800" b="1" dirty="0">
                <a:ea typeface="华文中宋" panose="02010600040101010101" pitchFamily="2" charset="-122"/>
                <a:sym typeface="+mn-ea"/>
              </a:rPr>
              <a:t>，有自发向平衡组织转变的倾向。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ea typeface="华文中宋" panose="02010600040101010101" pitchFamily="2" charset="-122"/>
                <a:sym typeface="+mn-ea"/>
              </a:rPr>
              <a:t>回火可使 </a:t>
            </a:r>
            <a:r>
              <a:rPr lang="en-US" altLang="zh-CN" sz="2800" b="1" dirty="0">
                <a:ea typeface="华文中宋" panose="02010600040101010101" pitchFamily="2" charset="-122"/>
                <a:sym typeface="+mn-ea"/>
              </a:rPr>
              <a:t>M</a:t>
            </a:r>
            <a:r>
              <a:rPr lang="zh-CN" altLang="en-US" sz="2800" b="1" dirty="0">
                <a:ea typeface="华文中宋" panose="02010600040101010101" pitchFamily="2" charset="-122"/>
                <a:sym typeface="+mn-ea"/>
              </a:rPr>
              <a:t>与 </a:t>
            </a:r>
            <a:r>
              <a:rPr lang="en-US" altLang="zh-CN" sz="2800" b="1" dirty="0">
                <a:ea typeface="华文中宋" panose="02010600040101010101" pitchFamily="2" charset="-122"/>
                <a:sym typeface="+mn-ea"/>
              </a:rPr>
              <a:t>A’ </a:t>
            </a:r>
            <a:r>
              <a:rPr lang="zh-CN" altLang="en-US" sz="2800" b="1" dirty="0">
                <a:ea typeface="华文中宋" panose="02010600040101010101" pitchFamily="2" charset="-122"/>
                <a:sym typeface="+mn-ea"/>
              </a:rPr>
              <a:t>转变为平衡或接近平衡的组织，防止使用时变形。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6659880" y="4307840"/>
            <a:ext cx="2280920" cy="1731010"/>
            <a:chOff x="2832" y="1086"/>
            <a:chExt cx="2628" cy="1993"/>
          </a:xfrm>
        </p:grpSpPr>
        <p:pic>
          <p:nvPicPr>
            <p:cNvPr id="137221" name="Picture 5" descr="art11-p15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32" y="1152"/>
              <a:ext cx="2575" cy="1927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37222" name="Text Box 6"/>
            <p:cNvSpPr txBox="1">
              <a:spLocks noChangeAspect="1"/>
            </p:cNvSpPr>
            <p:nvPr/>
          </p:nvSpPr>
          <p:spPr>
            <a:xfrm>
              <a:off x="4165" y="1086"/>
              <a:ext cx="1295" cy="6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螺杆表面的淬火裂纹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722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83680"/>
            <a:ext cx="457200" cy="2743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790" y="-140811"/>
            <a:ext cx="59721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回火的目的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(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续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)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39267" name="Rectangle 3"/>
          <p:cNvSpPr>
            <a:spLocks noGrp="1"/>
          </p:cNvSpPr>
          <p:nvPr>
            <p:ph idx="1"/>
          </p:nvPr>
        </p:nvSpPr>
        <p:spPr>
          <a:xfrm>
            <a:off x="179634" y="1203762"/>
            <a:ext cx="8711086" cy="4824412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、对于某些高淬透性的钢</a:t>
            </a:r>
            <a:r>
              <a:rPr lang="zh-CN" altLang="en-US" b="1" dirty="0">
                <a:ea typeface="华文中宋" panose="02010600040101010101" pitchFamily="2" charset="-122"/>
              </a:rPr>
              <a:t>，空冷即可淬火，如采用</a:t>
            </a:r>
            <a:r>
              <a:rPr lang="zh-CN" altLang="en-US" b="1" dirty="0"/>
              <a:t>回火软化既能</a:t>
            </a:r>
            <a:r>
              <a:rPr lang="zh-CN" altLang="en-US" b="1" dirty="0">
                <a:solidFill>
                  <a:schemeClr val="folHlink"/>
                </a:solidFill>
              </a:rPr>
              <a:t>降低硬度</a:t>
            </a:r>
            <a:r>
              <a:rPr lang="zh-CN" altLang="en-US" b="1" dirty="0"/>
              <a:t>，又能</a:t>
            </a:r>
            <a:r>
              <a:rPr lang="zh-CN" altLang="en-US" b="1" dirty="0">
                <a:solidFill>
                  <a:schemeClr val="folHlink"/>
                </a:solidFill>
              </a:rPr>
              <a:t>缩短软化周期</a:t>
            </a:r>
            <a:r>
              <a:rPr lang="zh-CN" altLang="en-US" b="1" dirty="0">
                <a:solidFill>
                  <a:srgbClr val="CCFF66"/>
                </a:solidFill>
              </a:rPr>
              <a:t>。</a:t>
            </a:r>
            <a:endParaRPr lang="zh-CN" altLang="en-US" b="1" dirty="0">
              <a:solidFill>
                <a:srgbClr val="CCFF66"/>
              </a:solidFill>
            </a:endParaRPr>
          </a:p>
          <a:p>
            <a:pPr eaLnBrk="1" hangingPunct="1"/>
            <a:endParaRPr lang="zh-CN" altLang="en-US" b="1" dirty="0">
              <a:solidFill>
                <a:srgbClr val="CCFF66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CCFF66"/>
                </a:solidFill>
              </a:rPr>
              <a:t>未经淬火的钢  回火 无意义</a:t>
            </a:r>
            <a:endParaRPr lang="en-US" altLang="zh-CN" b="1" dirty="0">
              <a:solidFill>
                <a:srgbClr val="CCFF66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CCFF66"/>
                </a:solidFill>
              </a:rPr>
              <a:t>淬火钢不回火在放置使用过程中易变形或开裂。</a:t>
            </a:r>
            <a:endParaRPr lang="zh-CN" altLang="en-US" b="1" dirty="0">
              <a:solidFill>
                <a:srgbClr val="CCFF66"/>
              </a:solidFill>
            </a:endParaRPr>
          </a:p>
          <a:p>
            <a:pPr eaLnBrk="1" hangingPunct="1"/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钢经淬火后</a:t>
            </a:r>
            <a:r>
              <a:rPr lang="zh-CN" altLang="en-US" b="1" dirty="0"/>
              <a:t>应</a:t>
            </a:r>
            <a:r>
              <a:rPr lang="zh-CN" altLang="en-US" b="1" dirty="0">
                <a:solidFill>
                  <a:schemeClr val="folHlink"/>
                </a:solidFill>
              </a:rPr>
              <a:t>立即</a:t>
            </a:r>
            <a:r>
              <a:rPr lang="zh-CN" altLang="en-US" b="1" dirty="0"/>
              <a:t>进行</a:t>
            </a:r>
            <a:r>
              <a:rPr lang="zh-CN" altLang="en-US" b="1" dirty="0">
                <a:solidFill>
                  <a:schemeClr val="folHlink"/>
                </a:solidFill>
              </a:rPr>
              <a:t>回火</a:t>
            </a:r>
            <a:r>
              <a:rPr lang="zh-CN" altLang="en-US" b="1" dirty="0">
                <a:solidFill>
                  <a:srgbClr val="00FF00"/>
                </a:solidFill>
              </a:rPr>
              <a:t>。</a:t>
            </a:r>
            <a:endParaRPr lang="zh-CN" altLang="en-US" b="1" dirty="0">
              <a:solidFill>
                <a:srgbClr val="00FF00"/>
              </a:solidFill>
            </a:endParaRPr>
          </a:p>
        </p:txBody>
      </p:sp>
      <p:sp>
        <p:nvSpPr>
          <p:cNvPr id="13926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640195"/>
            <a:ext cx="528320" cy="21780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39267" name="Rectangle 2"/>
          <p:cNvSpPr>
            <a:spLocks noGrp="1"/>
          </p:cNvSpPr>
          <p:nvPr>
            <p:ph type="title"/>
          </p:nvPr>
        </p:nvSpPr>
        <p:spPr>
          <a:xfrm>
            <a:off x="899693" y="0"/>
            <a:ext cx="7556919" cy="938213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b="1" strike="noStrike" noProof="1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回火工艺方法</a:t>
            </a:r>
            <a:endParaRPr lang="zh-CN" altLang="en-US" b="1" strike="noStrike" noProof="1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idx="1"/>
          </p:nvPr>
        </p:nvSpPr>
        <p:spPr>
          <a:xfrm>
            <a:off x="682943" y="1196340"/>
            <a:ext cx="8064500" cy="41148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/>
              <a:t>根据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加热温度范围，</a:t>
            </a:r>
            <a:r>
              <a:rPr lang="zh-CN" altLang="en-US" b="1" dirty="0"/>
              <a:t>可将回火分为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三类。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428625" y="1844675"/>
            <a:ext cx="8496300" cy="4292600"/>
            <a:chOff x="216" y="944"/>
            <a:chExt cx="5352" cy="2704"/>
          </a:xfrm>
        </p:grpSpPr>
        <p:sp>
          <p:nvSpPr>
            <p:cNvPr id="140293" name="Rectangle 5"/>
            <p:cNvSpPr/>
            <p:nvPr/>
          </p:nvSpPr>
          <p:spPr>
            <a:xfrm>
              <a:off x="3648" y="2689"/>
              <a:ext cx="1920" cy="959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>
                <a:lnSpc>
                  <a:spcPct val="125000"/>
                </a:lnSpc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00FF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结构件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如</a:t>
              </a:r>
              <a:r>
                <a:rPr lang="zh-CN" altLang="en-US" sz="2400" dirty="0">
                  <a:solidFill>
                    <a:srgbClr val="00FF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轴</a:t>
              </a:r>
              <a:r>
                <a:rPr lang="zh-CN" altLang="en-US" sz="2400" dirty="0">
                  <a:solidFill>
                    <a:srgbClr val="CCFF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、</a:t>
              </a:r>
              <a:r>
                <a:rPr lang="zh-CN" altLang="en-US" sz="2400" dirty="0">
                  <a:solidFill>
                    <a:srgbClr val="00FF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齿轮、螺栓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等热处理；</a:t>
              </a: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精密件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、</a:t>
              </a: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量具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预备热处理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294" name="Rectangle 6"/>
            <p:cNvSpPr/>
            <p:nvPr/>
          </p:nvSpPr>
          <p:spPr>
            <a:xfrm>
              <a:off x="2448" y="2688"/>
              <a:ext cx="1200" cy="960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lnSpc>
                  <a:spcPct val="140000"/>
                </a:lnSpc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适用于</a:t>
              </a:r>
              <a:r>
                <a:rPr lang="zh-CN" altLang="en-US" sz="2800" dirty="0">
                  <a:solidFill>
                    <a:srgbClr val="00FF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弹簧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热处理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295" name="Rectangle 7"/>
            <p:cNvSpPr/>
            <p:nvPr/>
          </p:nvSpPr>
          <p:spPr>
            <a:xfrm>
              <a:off x="1184" y="2665"/>
              <a:ext cx="1344" cy="983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各种</a:t>
              </a:r>
              <a:r>
                <a:rPr lang="zh-CN" altLang="en-US" sz="2800" dirty="0">
                  <a:solidFill>
                    <a:srgbClr val="00FF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高碳钢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、</a:t>
              </a:r>
              <a:r>
                <a:rPr lang="zh-CN" altLang="en-US" sz="2800" dirty="0">
                  <a:solidFill>
                    <a:srgbClr val="00FF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渗碳件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及</a:t>
              </a:r>
              <a:r>
                <a:rPr lang="zh-CN" altLang="en-US" sz="2800" dirty="0">
                  <a:solidFill>
                    <a:srgbClr val="00FF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表面淬火件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。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296" name="Rectangle 8"/>
            <p:cNvSpPr/>
            <p:nvPr/>
          </p:nvSpPr>
          <p:spPr>
            <a:xfrm>
              <a:off x="240" y="2688"/>
              <a:ext cx="960" cy="960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endPara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  <a:p>
              <a:pPr algn="ctr">
                <a:spcBef>
                  <a:spcPct val="2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应用</a:t>
              </a:r>
              <a:endPara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297" name="Rectangle 9"/>
            <p:cNvSpPr/>
            <p:nvPr/>
          </p:nvSpPr>
          <p:spPr>
            <a:xfrm>
              <a:off x="216" y="1872"/>
              <a:ext cx="1056" cy="816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>
                <a:spcBef>
                  <a:spcPct val="20000"/>
                </a:spcBef>
              </a:pPr>
              <a:endParaRPr lang="en-US" altLang="zh-CN" sz="10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回火目的</a:t>
              </a:r>
              <a:endPara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298" name="Rectangle 10"/>
            <p:cNvSpPr/>
            <p:nvPr/>
          </p:nvSpPr>
          <p:spPr>
            <a:xfrm>
              <a:off x="3648" y="1536"/>
              <a:ext cx="1920" cy="393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</a:t>
              </a:r>
              <a:r>
                <a:rPr lang="zh-CN" altLang="en-US" sz="28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回</a:t>
              </a: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299" name="Rectangle 11"/>
            <p:cNvSpPr/>
            <p:nvPr/>
          </p:nvSpPr>
          <p:spPr>
            <a:xfrm>
              <a:off x="2448" y="1536"/>
              <a:ext cx="1200" cy="393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T</a:t>
              </a:r>
              <a:r>
                <a:rPr lang="zh-CN" altLang="en-US" sz="28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回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0" name="Rectangle 12"/>
            <p:cNvSpPr/>
            <p:nvPr/>
          </p:nvSpPr>
          <p:spPr>
            <a:xfrm>
              <a:off x="1168" y="1536"/>
              <a:ext cx="1392" cy="393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>
                <a:spcBef>
                  <a:spcPct val="2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M</a:t>
              </a:r>
              <a:r>
                <a:rPr lang="zh-CN" altLang="en-US" sz="28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回</a:t>
              </a:r>
              <a:r>
                <a:rPr lang="en-US" altLang="zh-CN" sz="2800" b="0" dirty="0">
                  <a:solidFill>
                    <a:srgbClr val="CCFF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             </a:t>
              </a:r>
              <a:r>
                <a:rPr lang="en-US" altLang="zh-CN" sz="2800" b="0" dirty="0">
                  <a:solidFill>
                    <a:srgbClr val="CCFF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endParaRPr lang="en-US" altLang="zh-CN" sz="2800" b="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1" name="Rectangle 13"/>
            <p:cNvSpPr/>
            <p:nvPr/>
          </p:nvSpPr>
          <p:spPr>
            <a:xfrm>
              <a:off x="216" y="1560"/>
              <a:ext cx="1016" cy="326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>
                <a:spcBef>
                  <a:spcPct val="2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回火组织</a:t>
              </a:r>
              <a:endPara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2" name="Rectangle 14"/>
            <p:cNvSpPr/>
            <p:nvPr/>
          </p:nvSpPr>
          <p:spPr>
            <a:xfrm>
              <a:off x="3648" y="1256"/>
              <a:ext cx="1920" cy="351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500-650℃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3" name="Rectangle 15"/>
            <p:cNvSpPr/>
            <p:nvPr/>
          </p:nvSpPr>
          <p:spPr>
            <a:xfrm>
              <a:off x="2448" y="1256"/>
              <a:ext cx="1200" cy="351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350-500℃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4" name="Rectangle 16"/>
            <p:cNvSpPr/>
            <p:nvPr/>
          </p:nvSpPr>
          <p:spPr>
            <a:xfrm>
              <a:off x="1200" y="1256"/>
              <a:ext cx="1248" cy="351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150-250℃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5" name="Rectangle 17"/>
            <p:cNvSpPr/>
            <p:nvPr/>
          </p:nvSpPr>
          <p:spPr>
            <a:xfrm>
              <a:off x="216" y="1256"/>
              <a:ext cx="1104" cy="351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>
                <a:spcBef>
                  <a:spcPct val="2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回火温度</a:t>
              </a: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6" name="Rectangle 18"/>
            <p:cNvSpPr/>
            <p:nvPr/>
          </p:nvSpPr>
          <p:spPr>
            <a:xfrm>
              <a:off x="3648" y="944"/>
              <a:ext cx="1920" cy="336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r>
                <a:rPr lang="zh-CN" altLang="en-US" sz="32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高温回火</a:t>
              </a: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7" name="Rectangle 19"/>
            <p:cNvSpPr/>
            <p:nvPr/>
          </p:nvSpPr>
          <p:spPr>
            <a:xfrm>
              <a:off x="2448" y="944"/>
              <a:ext cx="1200" cy="336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r>
                <a:rPr lang="zh-CN" altLang="en-US" sz="32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中温回火</a:t>
              </a: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8" name="Rectangle 20"/>
            <p:cNvSpPr/>
            <p:nvPr/>
          </p:nvSpPr>
          <p:spPr>
            <a:xfrm>
              <a:off x="1200" y="944"/>
              <a:ext cx="1248" cy="336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r>
                <a:rPr lang="zh-CN" altLang="en-US" sz="32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低温回火</a:t>
              </a:r>
              <a:r>
                <a:rPr lang="zh-CN" altLang="en-US" sz="2800" dirty="0">
                  <a:solidFill>
                    <a:srgbClr val="FF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zh-CN" altLang="en-US" sz="2800" dirty="0">
                <a:solidFill>
                  <a:srgbClr val="FF00FF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09" name="Rectangle 21"/>
            <p:cNvSpPr/>
            <p:nvPr/>
          </p:nvSpPr>
          <p:spPr>
            <a:xfrm>
              <a:off x="240" y="960"/>
              <a:ext cx="960" cy="384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 algn="ctr">
                <a:spcBef>
                  <a:spcPct val="20000"/>
                </a:spcBef>
              </a:pPr>
              <a:endPara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10" name="Line 22"/>
            <p:cNvSpPr/>
            <p:nvPr/>
          </p:nvSpPr>
          <p:spPr>
            <a:xfrm>
              <a:off x="240" y="1273"/>
              <a:ext cx="5328" cy="0"/>
            </a:xfrm>
            <a:prstGeom prst="line">
              <a:avLst/>
            </a:prstGeom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0311" name="Line 23"/>
            <p:cNvSpPr/>
            <p:nvPr/>
          </p:nvSpPr>
          <p:spPr>
            <a:xfrm>
              <a:off x="240" y="1574"/>
              <a:ext cx="5328" cy="0"/>
            </a:xfrm>
            <a:prstGeom prst="line">
              <a:avLst/>
            </a:prstGeom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0312" name="Group 24"/>
            <p:cNvGrpSpPr/>
            <p:nvPr/>
          </p:nvGrpSpPr>
          <p:grpSpPr>
            <a:xfrm>
              <a:off x="240" y="960"/>
              <a:ext cx="5328" cy="2688"/>
              <a:chOff x="240" y="960"/>
              <a:chExt cx="5328" cy="2688"/>
            </a:xfrm>
          </p:grpSpPr>
          <p:sp>
            <p:nvSpPr>
              <p:cNvPr id="140313" name="Line 25"/>
              <p:cNvSpPr/>
              <p:nvPr/>
            </p:nvSpPr>
            <p:spPr>
              <a:xfrm>
                <a:off x="240" y="960"/>
                <a:ext cx="5328" cy="0"/>
              </a:xfrm>
              <a:prstGeom prst="line">
                <a:avLst/>
              </a:prstGeom>
              <a:ln w="38100" cap="sq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0314" name="Line 26"/>
              <p:cNvSpPr/>
              <p:nvPr/>
            </p:nvSpPr>
            <p:spPr>
              <a:xfrm>
                <a:off x="240" y="960"/>
                <a:ext cx="0" cy="2688"/>
              </a:xfrm>
              <a:prstGeom prst="line">
                <a:avLst/>
              </a:prstGeom>
              <a:ln w="38100" cap="sq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0315" name="Line 27"/>
              <p:cNvSpPr/>
              <p:nvPr/>
            </p:nvSpPr>
            <p:spPr>
              <a:xfrm>
                <a:off x="5568" y="960"/>
                <a:ext cx="0" cy="2688"/>
              </a:xfrm>
              <a:prstGeom prst="line">
                <a:avLst/>
              </a:prstGeom>
              <a:ln w="38100" cap="sq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0316" name="Line 28"/>
              <p:cNvSpPr/>
              <p:nvPr/>
            </p:nvSpPr>
            <p:spPr>
              <a:xfrm>
                <a:off x="240" y="3648"/>
                <a:ext cx="5328" cy="0"/>
              </a:xfrm>
              <a:prstGeom prst="line">
                <a:avLst/>
              </a:prstGeom>
              <a:ln w="38100" cap="sq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40317" name="Rectangle 29"/>
            <p:cNvSpPr/>
            <p:nvPr/>
          </p:nvSpPr>
          <p:spPr>
            <a:xfrm>
              <a:off x="1192" y="1920"/>
              <a:ext cx="1344" cy="825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在保留高硬度</a:t>
              </a:r>
              <a:r>
                <a:rPr lang="zh-CN" altLang="en-US" sz="12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、</a:t>
              </a: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高耐磨性的同时</a:t>
              </a:r>
              <a:r>
                <a:rPr lang="en-US" altLang="zh-CN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,</a:t>
              </a: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降低内应力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18" name="Line 30"/>
            <p:cNvSpPr/>
            <p:nvPr/>
          </p:nvSpPr>
          <p:spPr>
            <a:xfrm>
              <a:off x="1200" y="960"/>
              <a:ext cx="0" cy="2688"/>
            </a:xfrm>
            <a:prstGeom prst="line">
              <a:avLst/>
            </a:prstGeom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0319" name="Rectangle 31"/>
            <p:cNvSpPr/>
            <p:nvPr/>
          </p:nvSpPr>
          <p:spPr>
            <a:xfrm>
              <a:off x="2432" y="1920"/>
              <a:ext cx="1344" cy="793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>
                <a:spcBef>
                  <a:spcPct val="20000"/>
                </a:spcBef>
              </a:pP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提高</a:t>
              </a: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</a:t>
              </a:r>
              <a:r>
                <a:rPr lang="en-US" altLang="zh-CN" sz="2400" baseline="-300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e </a:t>
              </a: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及 </a:t>
              </a: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</a:t>
              </a:r>
              <a:r>
                <a:rPr lang="en-US" altLang="zh-CN" sz="2400" baseline="-300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 </a:t>
              </a:r>
              <a:r>
                <a:rPr lang="en-US" altLang="zh-CN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,</a:t>
              </a:r>
              <a:r>
                <a:rPr lang="zh-CN" altLang="en-US" sz="2400" dirty="0">
                  <a:solidFill>
                    <a:srgbClr val="CCFF33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同时使工件具有一定韧性</a:t>
              </a:r>
              <a:endParaRPr lang="zh-CN" altLang="en-US" sz="24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20" name="Rectangle 32"/>
            <p:cNvSpPr/>
            <p:nvPr/>
          </p:nvSpPr>
          <p:spPr>
            <a:xfrm>
              <a:off x="3640" y="1888"/>
              <a:ext cx="1920" cy="825"/>
            </a:xfrm>
            <a:prstGeom prst="rect">
              <a:avLst/>
            </a:prstGeom>
            <a:solidFill>
              <a:srgbClr val="000099"/>
            </a:solidFill>
            <a:ln w="9525">
              <a:noFill/>
            </a:ln>
          </p:spPr>
          <p:txBody>
            <a:bodyPr anchor="t"/>
            <a:lstStyle/>
            <a:p>
              <a:pPr>
                <a:lnSpc>
                  <a:spcPct val="125000"/>
                </a:lnSpc>
                <a:spcBef>
                  <a:spcPct val="2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获得良好的综合力学性能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140321" name="Line 33"/>
            <p:cNvSpPr/>
            <p:nvPr/>
          </p:nvSpPr>
          <p:spPr>
            <a:xfrm>
              <a:off x="240" y="2688"/>
              <a:ext cx="5328" cy="0"/>
            </a:xfrm>
            <a:prstGeom prst="line">
              <a:avLst/>
            </a:prstGeom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322" name="Line 34"/>
            <p:cNvSpPr/>
            <p:nvPr/>
          </p:nvSpPr>
          <p:spPr>
            <a:xfrm>
              <a:off x="2448" y="960"/>
              <a:ext cx="0" cy="2688"/>
            </a:xfrm>
            <a:prstGeom prst="line">
              <a:avLst/>
            </a:prstGeom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0323" name="Line 35"/>
            <p:cNvSpPr/>
            <p:nvPr/>
          </p:nvSpPr>
          <p:spPr>
            <a:xfrm>
              <a:off x="3648" y="960"/>
              <a:ext cx="0" cy="2688"/>
            </a:xfrm>
            <a:prstGeom prst="line">
              <a:avLst/>
            </a:prstGeom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0324" name="Line 36"/>
            <p:cNvSpPr/>
            <p:nvPr/>
          </p:nvSpPr>
          <p:spPr>
            <a:xfrm>
              <a:off x="240" y="1894"/>
              <a:ext cx="5328" cy="0"/>
            </a:xfrm>
            <a:prstGeom prst="line">
              <a:avLst/>
            </a:prstGeom>
            <a:ln w="190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0325" name="Text Box 37"/>
            <p:cNvSpPr txBox="1"/>
            <p:nvPr/>
          </p:nvSpPr>
          <p:spPr>
            <a:xfrm>
              <a:off x="1584" y="1568"/>
              <a:ext cx="960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过共析钢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20000"/>
                </a:lnSpc>
              </a:pPr>
              <a:r>
                <a:rPr lang="en-US" altLang="zh-CN" sz="16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M</a:t>
              </a:r>
              <a:r>
                <a:rPr lang="zh-CN" altLang="en-US" sz="1600" baseline="-30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回</a:t>
              </a:r>
              <a:r>
                <a:rPr lang="en-US" altLang="zh-CN" sz="16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+Cm</a:t>
              </a:r>
              <a:r>
                <a:rPr lang="zh-CN" altLang="en-US" sz="1600" baseline="-25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粒</a:t>
              </a:r>
              <a:r>
                <a:rPr lang="en-US" altLang="zh-CN" sz="16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+A’</a:t>
              </a:r>
              <a:endParaRPr lang="en-US" altLang="zh-CN" sz="16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4032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41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617970"/>
            <a:ext cx="528320" cy="24003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72005" y="142875"/>
            <a:ext cx="5002530" cy="68199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低温回火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1315" name="Rectangle 3"/>
          <p:cNvSpPr>
            <a:spLocks noGrp="1"/>
          </p:cNvSpPr>
          <p:nvPr>
            <p:ph idx="1"/>
          </p:nvPr>
        </p:nvSpPr>
        <p:spPr>
          <a:xfrm>
            <a:off x="373380" y="1124675"/>
            <a:ext cx="8134350" cy="504042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回火温度： </a:t>
            </a:r>
            <a:r>
              <a:rPr lang="en-US" altLang="zh-CN" b="1" dirty="0">
                <a:ea typeface="华文中宋" panose="02010600040101010101" pitchFamily="2" charset="-122"/>
              </a:rPr>
              <a:t>150-250℃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回火组织： </a:t>
            </a:r>
            <a:r>
              <a:rPr lang="en-US" altLang="zh-CN" b="1" dirty="0">
                <a:ea typeface="华文中宋" panose="02010600040101010101" pitchFamily="2" charset="-122"/>
              </a:rPr>
              <a:t>M</a:t>
            </a:r>
            <a:r>
              <a:rPr lang="zh-CN" altLang="en-US" b="1" baseline="-30000" dirty="0">
                <a:ea typeface="华文中宋" panose="02010600040101010101" pitchFamily="2" charset="-122"/>
              </a:rPr>
              <a:t>回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  </a:t>
            </a:r>
            <a:r>
              <a:rPr lang="en-US" altLang="zh-CN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folHlink"/>
                </a:solidFill>
              </a:rPr>
              <a:t>过共析钢</a:t>
            </a:r>
            <a:r>
              <a:rPr lang="en-US" altLang="zh-CN" b="1" dirty="0">
                <a:solidFill>
                  <a:schemeClr val="folHlink"/>
                </a:solidFill>
              </a:rPr>
              <a:t>M</a:t>
            </a:r>
            <a:r>
              <a:rPr lang="zh-CN" altLang="en-US" b="1" baseline="-25000" dirty="0">
                <a:solidFill>
                  <a:schemeClr val="folHlink"/>
                </a:solidFill>
              </a:rPr>
              <a:t>回</a:t>
            </a:r>
            <a:r>
              <a:rPr lang="en-US" altLang="zh-CN" b="1" dirty="0">
                <a:solidFill>
                  <a:schemeClr val="folHlink"/>
                </a:solidFill>
              </a:rPr>
              <a:t>+Cm</a:t>
            </a:r>
            <a:r>
              <a:rPr lang="zh-CN" altLang="en-US" b="1" baseline="-25000" dirty="0">
                <a:solidFill>
                  <a:schemeClr val="folHlink"/>
                </a:solidFill>
              </a:rPr>
              <a:t>粒</a:t>
            </a:r>
            <a:r>
              <a:rPr lang="en-US" altLang="zh-CN" b="1" dirty="0">
                <a:solidFill>
                  <a:schemeClr val="folHlink"/>
                </a:solidFill>
              </a:rPr>
              <a:t>+A’</a:t>
            </a:r>
            <a:r>
              <a:rPr lang="en-US" altLang="zh-CN" b="1" dirty="0">
                <a:ea typeface="华文中宋" panose="02010600040101010101" pitchFamily="2" charset="-122"/>
              </a:rPr>
              <a:t> </a:t>
            </a:r>
            <a:r>
              <a:rPr lang="en-US" altLang="zh-CN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endParaRPr lang="en-US" altLang="zh-CN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回火后性能</a:t>
            </a:r>
            <a:r>
              <a:rPr lang="zh-CN" altLang="en-US" sz="2800" b="1" dirty="0">
                <a:ea typeface="华文中宋" panose="02010600040101010101" pitchFamily="2" charset="-122"/>
              </a:rPr>
              <a:t>：</a:t>
            </a:r>
            <a:r>
              <a:rPr lang="en-US" altLang="zh-CN" sz="2800" b="1" dirty="0">
                <a:ea typeface="华文中宋" panose="02010600040101010101" pitchFamily="2" charset="-122"/>
              </a:rPr>
              <a:t>58~64HRC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目的：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在保留高硬度（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58~64HRC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）、高耐磨性的同时，降低内应力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+mn-ea"/>
              </a:rPr>
              <a:t>。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sz="28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应用</a:t>
            </a:r>
            <a:r>
              <a:rPr lang="zh-CN" altLang="en-US" b="1" dirty="0">
                <a:ea typeface="华文中宋" panose="02010600040101010101" pitchFamily="2" charset="-122"/>
              </a:rPr>
              <a:t>：各种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高碳钢、渗碳件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表面淬火件。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en-US" altLang="zh-CN" b="1" dirty="0">
                <a:ea typeface="华文中宋" panose="02010600040101010101" pitchFamily="2" charset="-122"/>
              </a:rPr>
              <a:t>             </a:t>
            </a:r>
            <a:r>
              <a:rPr lang="zh-CN" altLang="en-US" b="1" dirty="0">
                <a:solidFill>
                  <a:schemeClr val="folHlink"/>
                </a:solidFill>
              </a:rPr>
              <a:t>工具、模具、轴承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</p:txBody>
      </p:sp>
      <p:sp>
        <p:nvSpPr>
          <p:cNvPr id="14131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90030"/>
            <a:ext cx="600075" cy="26797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813" y="0"/>
            <a:ext cx="6692900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低温回火组织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M</a:t>
            </a:r>
            <a:r>
              <a:rPr kumimoji="1" lang="zh-CN" altLang="en-US" sz="4400" b="1" i="0" u="none" strike="noStrike" kern="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回</a:t>
            </a:r>
            <a:endParaRPr kumimoji="1" lang="zh-CN" altLang="en-US" sz="4400" b="1" i="0" u="none" strike="noStrike" kern="0" cap="none" spc="0" normalizeH="0" baseline="-3000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1317" name="Rectangle 3"/>
          <p:cNvSpPr>
            <a:spLocks noGrp="1" noChangeArrowheads="1"/>
          </p:cNvSpPr>
          <p:nvPr>
            <p:ph idx="1"/>
          </p:nvPr>
        </p:nvSpPr>
        <p:spPr>
          <a:xfrm>
            <a:off x="683676" y="1484838"/>
            <a:ext cx="8062913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M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回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：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马氏体分解，析出</a:t>
            </a:r>
            <a:r>
              <a:rPr lang="en-US" altLang="zh-CN" b="1" kern="12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ε-</a:t>
            </a:r>
            <a:r>
              <a:rPr lang="zh-CN" altLang="en-US" b="1" kern="12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碳化物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Fe</a:t>
            </a:r>
            <a:r>
              <a:rPr kumimoji="1" lang="en-US" altLang="zh-CN" sz="3200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），以</a:t>
            </a:r>
            <a:r>
              <a:rPr lang="zh-CN" altLang="en-US" b="1" kern="12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细片状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分布在马氏体基体上。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2340" name="Picture 4" descr="《工程材料》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350426" y="2666451"/>
            <a:ext cx="6729412" cy="2935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234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72250"/>
            <a:ext cx="457200" cy="2857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548259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中温回火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3363" name="Rectangle 3"/>
          <p:cNvSpPr>
            <a:spLocks noGrp="1"/>
          </p:cNvSpPr>
          <p:nvPr>
            <p:ph idx="1"/>
          </p:nvPr>
        </p:nvSpPr>
        <p:spPr>
          <a:xfrm>
            <a:off x="285750" y="1143000"/>
            <a:ext cx="5501005" cy="518668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回火温度： </a:t>
            </a:r>
            <a:r>
              <a:rPr lang="en-US" altLang="zh-CN" b="1" dirty="0">
                <a:ea typeface="华文中宋" panose="02010600040101010101" pitchFamily="2" charset="-122"/>
              </a:rPr>
              <a:t>350-500℃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回火组织： </a:t>
            </a:r>
            <a:r>
              <a:rPr lang="en-US" altLang="zh-CN" b="1" dirty="0">
                <a:ea typeface="华文中宋" panose="02010600040101010101" pitchFamily="2" charset="-122"/>
              </a:rPr>
              <a:t>T</a:t>
            </a:r>
            <a:r>
              <a:rPr lang="zh-CN" altLang="en-US" b="1" baseline="-30000" dirty="0">
                <a:ea typeface="华文中宋" panose="02010600040101010101" pitchFamily="2" charset="-122"/>
              </a:rPr>
              <a:t>回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回火后性能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ea typeface="华文中宋" panose="02010600040101010101" pitchFamily="2" charset="-122"/>
              </a:rPr>
              <a:t>35~45HRC</a:t>
            </a:r>
            <a:r>
              <a:rPr lang="zh-CN" altLang="en-US" b="1" dirty="0">
                <a:ea typeface="华文中宋" panose="02010600040101010101" pitchFamily="2" charset="-122"/>
              </a:rPr>
              <a:t>，弹性较好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目的：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提高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e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及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s 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同时使工件具有一定韧性。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弹簧</a:t>
            </a:r>
            <a:r>
              <a:rPr lang="zh-CN" altLang="en-US" b="1" dirty="0">
                <a:ea typeface="华文中宋" panose="02010600040101010101" pitchFamily="2" charset="-122"/>
              </a:rPr>
              <a:t>热处理。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ea typeface="华文中宋" panose="02010600040101010101" pitchFamily="2" charset="-122"/>
            </a:endParaRPr>
          </a:p>
        </p:txBody>
      </p:sp>
      <p:pic>
        <p:nvPicPr>
          <p:cNvPr id="143364" name="Picture 4" descr="《工程材料》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795328" y="1556702"/>
            <a:ext cx="3059112" cy="2778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6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10338"/>
            <a:ext cx="600075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629568" y="0"/>
            <a:ext cx="5884863" cy="8112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高温回火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4387" name="Rectangle 3"/>
          <p:cNvSpPr>
            <a:spLocks noGrp="1"/>
          </p:cNvSpPr>
          <p:nvPr>
            <p:ph idx="1"/>
          </p:nvPr>
        </p:nvSpPr>
        <p:spPr>
          <a:xfrm>
            <a:off x="142875" y="1124268"/>
            <a:ext cx="9001125" cy="51435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回火温度： </a:t>
            </a:r>
            <a:r>
              <a:rPr lang="en-US" altLang="zh-CN" b="1" dirty="0">
                <a:ea typeface="华文中宋" panose="02010600040101010101" pitchFamily="2" charset="-122"/>
              </a:rPr>
              <a:t>500-650℃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回火组织： </a:t>
            </a:r>
            <a:r>
              <a:rPr lang="en-US" altLang="zh-CN" b="1" dirty="0">
                <a:ea typeface="华文中宋" panose="02010600040101010101" pitchFamily="2" charset="-122"/>
              </a:rPr>
              <a:t>S</a:t>
            </a:r>
            <a:r>
              <a:rPr lang="zh-CN" altLang="en-US" b="1" baseline="-30000" dirty="0">
                <a:ea typeface="华文中宋" panose="02010600040101010101" pitchFamily="2" charset="-122"/>
              </a:rPr>
              <a:t>回</a:t>
            </a:r>
            <a:r>
              <a:rPr lang="zh-CN" altLang="en-US" b="1" dirty="0">
                <a:ea typeface="华文中宋" panose="02010600040101010101" pitchFamily="2" charset="-122"/>
              </a:rPr>
              <a:t> （在多边形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铁素体</a:t>
            </a:r>
            <a:r>
              <a:rPr lang="zh-CN" altLang="en-US" b="1" dirty="0">
                <a:ea typeface="华文中宋" panose="02010600040101010101" pitchFamily="2" charset="-122"/>
              </a:rPr>
              <a:t>基体上分布着颗粒状</a:t>
            </a:r>
            <a:r>
              <a:rPr lang="en-US" altLang="zh-CN" b="1" dirty="0">
                <a:solidFill>
                  <a:srgbClr val="FFFF00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b="1" baseline="-25000" dirty="0">
                <a:solidFill>
                  <a:srgbClr val="FFFF00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FFFF00"/>
                </a:solidFill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endParaRPr lang="zh-CN" altLang="en-US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回火后性能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ea typeface="华文中宋" panose="02010600040101010101" pitchFamily="2" charset="-122"/>
              </a:rPr>
              <a:t>25~35HRC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良好的综合力学性能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目的：</a:t>
            </a:r>
            <a:r>
              <a:rPr lang="zh-CN" altLang="en-US" b="1" dirty="0">
                <a:ea typeface="华文中宋" panose="02010600040101010101" pitchFamily="2" charset="-122"/>
              </a:rPr>
              <a:t>获得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良好的综合力学性能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应用</a:t>
            </a:r>
            <a:r>
              <a:rPr lang="zh-CN" altLang="en-US" b="1" dirty="0">
                <a:ea typeface="华文中宋" panose="02010600040101010101" pitchFamily="2" charset="-122"/>
              </a:rPr>
              <a:t>：结构件如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轴、齿轮、螺栓</a:t>
            </a:r>
            <a:r>
              <a:rPr lang="zh-CN" altLang="en-US" b="1" dirty="0">
                <a:ea typeface="华文中宋" panose="02010600040101010101" pitchFamily="2" charset="-122"/>
              </a:rPr>
              <a:t>等热处理；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精密件、量具</a:t>
            </a:r>
            <a:r>
              <a:rPr lang="zh-CN" altLang="en-US" b="1" dirty="0">
                <a:ea typeface="华文中宋" panose="02010600040101010101" pitchFamily="2" charset="-122"/>
              </a:rPr>
              <a:t>预备热处理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调质处理：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淬火</a:t>
            </a:r>
            <a:r>
              <a:rPr lang="en-US" altLang="zh-CN" b="1" dirty="0">
                <a:ea typeface="华文中宋" panose="02010600040101010101" pitchFamily="2" charset="-122"/>
              </a:rPr>
              <a:t> +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高温回火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4438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00813"/>
            <a:ext cx="600075" cy="3571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0"/>
            <a:ext cx="66944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高温回火组织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</a:t>
            </a:r>
            <a:r>
              <a:rPr kumimoji="1" lang="zh-CN" altLang="en-US" sz="4400" b="1" i="0" u="none" strike="noStrike" kern="0" cap="none" spc="0" normalizeH="0" baseline="-30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回</a:t>
            </a:r>
            <a:endParaRPr kumimoji="1" lang="zh-CN" altLang="en-US" sz="4400" b="1" i="0" u="none" strike="noStrike" kern="0" cap="none" spc="0" normalizeH="0" baseline="-3000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5411" name="Rectangle 3"/>
          <p:cNvSpPr>
            <a:spLocks noGrp="1"/>
          </p:cNvSpPr>
          <p:nvPr>
            <p:ph idx="1"/>
          </p:nvPr>
        </p:nvSpPr>
        <p:spPr>
          <a:xfrm>
            <a:off x="685800" y="1268421"/>
            <a:ext cx="8134350" cy="4395144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多边形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铁素体</a:t>
            </a:r>
            <a:r>
              <a:rPr lang="zh-CN" altLang="en-US" b="1" dirty="0">
                <a:ea typeface="华文中宋" panose="02010600040101010101" pitchFamily="2" charset="-122"/>
              </a:rPr>
              <a:t>基体上分布着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颗粒状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Fe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145412" name="Picture 4" descr="《工程材料》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85800" y="2060487"/>
            <a:ext cx="8101012" cy="34718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541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622415"/>
            <a:ext cx="600075" cy="23558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62" y="16987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调质 </a:t>
            </a:r>
            <a:r>
              <a:rPr kumimoji="1" lang="en-US" altLang="zh-CN" sz="4400" b="1" i="1" u="none" strike="noStrike" kern="0" cap="none" spc="0" normalizeH="0" baseline="0" noProof="0" dirty="0" err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vs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正火（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45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钢）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6435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endParaRPr lang="zh-CN" altLang="zh-CN" dirty="0"/>
          </a:p>
        </p:txBody>
      </p:sp>
      <p:pic>
        <p:nvPicPr>
          <p:cNvPr id="146436" name="Picture 5" descr="《工程材料》T00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22898" y="1268414"/>
            <a:ext cx="8664574" cy="406607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643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605270"/>
            <a:ext cx="600075" cy="25273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712" y="0"/>
            <a:ext cx="7412338" cy="90879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回火时力学性能变化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7459" name="Rectangle 3"/>
          <p:cNvSpPr>
            <a:spLocks noGrp="1"/>
          </p:cNvSpPr>
          <p:nvPr>
            <p:ph idx="1"/>
          </p:nvPr>
        </p:nvSpPr>
        <p:spPr>
          <a:xfrm>
            <a:off x="685800" y="1071563"/>
            <a:ext cx="7772400" cy="502443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回火时力学性能变化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总趋势：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随回火温度提高，</a:t>
            </a:r>
            <a:r>
              <a:rPr lang="zh-CN" altLang="en-US" b="1" dirty="0">
                <a:ea typeface="华文中宋" panose="02010600040101010101" pitchFamily="2" charset="-122"/>
              </a:rPr>
              <a:t>钢的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强度、硬度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下降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塑性、韧性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提高</a:t>
            </a:r>
            <a:r>
              <a:rPr lang="zh-CN" altLang="en-US" b="1" dirty="0">
                <a:solidFill>
                  <a:srgbClr val="99FF99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99FF99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786255" y="3332480"/>
            <a:ext cx="6652895" cy="2688433"/>
            <a:chOff x="528" y="1725"/>
            <a:chExt cx="4825" cy="2590"/>
          </a:xfrm>
        </p:grpSpPr>
        <p:sp>
          <p:nvSpPr>
            <p:cNvPr id="147461" name="Rectangle 5"/>
            <p:cNvSpPr/>
            <p:nvPr/>
          </p:nvSpPr>
          <p:spPr>
            <a:xfrm>
              <a:off x="3317" y="3948"/>
              <a:ext cx="2036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淬火钢硬度随回火温度的变化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47462" name="Picture 6" descr="40钢性能与回火温度关系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8" y="1776"/>
              <a:ext cx="2671" cy="2155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47463" name="Text Box 7"/>
            <p:cNvSpPr txBox="1"/>
            <p:nvPr/>
          </p:nvSpPr>
          <p:spPr>
            <a:xfrm>
              <a:off x="528" y="3960"/>
              <a:ext cx="2688" cy="35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40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钢力学性能与回火温度的关系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47464" name="Picture 8" descr="淬火钢硬度与回火温度关系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9" y="1725"/>
              <a:ext cx="1934" cy="2154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4746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0338"/>
            <a:ext cx="714375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0"/>
            <a:ext cx="6884988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回火时力学性能变化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CCFF33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8483" name="Rectangle 3"/>
          <p:cNvSpPr>
            <a:spLocks noGrp="1"/>
          </p:cNvSpPr>
          <p:nvPr>
            <p:ph idx="1"/>
          </p:nvPr>
        </p:nvSpPr>
        <p:spPr>
          <a:xfrm>
            <a:off x="285750" y="1071563"/>
            <a:ext cx="5616575" cy="532923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200℃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以下，</a:t>
            </a:r>
            <a:r>
              <a:rPr lang="zh-CN" altLang="en-US" b="1" dirty="0"/>
              <a:t>由于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马氏体中碳化物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弥散析出，钢的硬度并不下降，高碳钢硬度甚至略有提高。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folHlink"/>
                </a:solidFill>
              </a:rPr>
              <a:t>200-300℃</a:t>
            </a:r>
            <a:r>
              <a:rPr lang="zh-CN" altLang="en-US" b="1" dirty="0">
                <a:solidFill>
                  <a:schemeClr val="folHlink"/>
                </a:solidFill>
              </a:rPr>
              <a:t>，由于高碳钢中</a:t>
            </a:r>
            <a:r>
              <a:rPr lang="en-US" altLang="zh-CN" b="1" dirty="0">
                <a:solidFill>
                  <a:schemeClr val="folHlink"/>
                </a:solidFill>
              </a:rPr>
              <a:t>A’</a:t>
            </a:r>
            <a:r>
              <a:rPr lang="zh-CN" altLang="en-US" b="1" dirty="0">
                <a:solidFill>
                  <a:schemeClr val="folHlink"/>
                </a:solidFill>
              </a:rPr>
              <a:t>转变为</a:t>
            </a:r>
            <a:r>
              <a:rPr lang="en-US" altLang="zh-CN" b="1" dirty="0">
                <a:solidFill>
                  <a:schemeClr val="folHlink"/>
                </a:solidFill>
              </a:rPr>
              <a:t>M</a:t>
            </a:r>
            <a:r>
              <a:rPr lang="zh-CN" altLang="en-US" b="1" baseline="-25000" dirty="0">
                <a:solidFill>
                  <a:schemeClr val="folHlink"/>
                </a:solidFill>
              </a:rPr>
              <a:t>回</a:t>
            </a:r>
            <a:r>
              <a:rPr lang="en-US" altLang="zh-CN" b="1" dirty="0">
                <a:solidFill>
                  <a:schemeClr val="folHlink"/>
                </a:solidFill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</a:rPr>
              <a:t>硬度再次升高。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大于</a:t>
            </a:r>
            <a:r>
              <a:rPr lang="en-US" altLang="zh-CN" b="1" dirty="0"/>
              <a:t>300℃,  </a:t>
            </a:r>
            <a:r>
              <a:rPr lang="zh-CN" altLang="en-US" b="1" dirty="0"/>
              <a:t>由于</a:t>
            </a:r>
            <a:r>
              <a:rPr lang="en-US" altLang="zh-CN" b="1" dirty="0">
                <a:solidFill>
                  <a:srgbClr val="FFFF66"/>
                </a:solidFill>
              </a:rPr>
              <a:t>Fe</a:t>
            </a:r>
            <a:r>
              <a:rPr lang="en-US" altLang="zh-CN" b="1" baseline="-25000" dirty="0">
                <a:solidFill>
                  <a:srgbClr val="FFFF66"/>
                </a:solidFill>
              </a:rPr>
              <a:t>3</a:t>
            </a:r>
            <a:r>
              <a:rPr lang="en-US" altLang="zh-CN" b="1" dirty="0">
                <a:solidFill>
                  <a:srgbClr val="FFFF66"/>
                </a:solidFill>
              </a:rPr>
              <a:t>C</a:t>
            </a:r>
            <a:r>
              <a:rPr lang="zh-CN" altLang="en-US" b="1" dirty="0">
                <a:solidFill>
                  <a:srgbClr val="FFFF66"/>
                </a:solidFill>
              </a:rPr>
              <a:t>粗化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马氏体</a:t>
            </a:r>
            <a:r>
              <a:rPr lang="zh-CN" altLang="en-US" b="1" dirty="0"/>
              <a:t>转变为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铁素体，</a:t>
            </a:r>
            <a:r>
              <a:rPr lang="zh-CN" altLang="en-US" b="1" dirty="0"/>
              <a:t>硬度直线下降。</a:t>
            </a:r>
            <a:endParaRPr lang="zh-CN" altLang="en-US" b="1" dirty="0">
              <a:solidFill>
                <a:srgbClr val="99FF99"/>
              </a:solidFill>
              <a:ea typeface="华文中宋" panose="02010600040101010101" pitchFamily="2" charset="-122"/>
            </a:endParaRPr>
          </a:p>
        </p:txBody>
      </p:sp>
      <p:pic>
        <p:nvPicPr>
          <p:cNvPr id="424969" name="Picture 9" descr="淬火钢硬度与回火温度关系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867400" y="2492375"/>
            <a:ext cx="3087688" cy="2936875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4848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5"/>
          <p:cNvSpPr/>
          <p:nvPr/>
        </p:nvSpPr>
        <p:spPr>
          <a:xfrm>
            <a:off x="6147788" y="5402941"/>
            <a:ext cx="2561836" cy="389408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淬火钢硬度随回火温度的变化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01050" y="6510338"/>
            <a:ext cx="742950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46785" y="0"/>
            <a:ext cx="7771765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回火脆性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r>
              <a:rPr kumimoji="1" lang="en-US" altLang="zh-CN" sz="4400" b="1" i="1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Temper brittleness</a:t>
            </a:r>
            <a:endParaRPr kumimoji="1" lang="en-US" altLang="zh-CN" sz="4400" b="1" i="1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012" name="Rectangle 4"/>
          <p:cNvSpPr>
            <a:spLocks noGrp="1"/>
          </p:cNvSpPr>
          <p:nvPr>
            <p:ph idx="1"/>
          </p:nvPr>
        </p:nvSpPr>
        <p:spPr>
          <a:xfrm>
            <a:off x="323850" y="1196975"/>
            <a:ext cx="4033838" cy="50895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淬火钢的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韧性</a:t>
            </a:r>
            <a:r>
              <a:rPr lang="zh-CN" altLang="en-US" b="1" dirty="0">
                <a:ea typeface="华文中宋" panose="02010600040101010101" pitchFamily="2" charset="-122"/>
              </a:rPr>
              <a:t>并不总是随温度升高而提高。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回火脆性：淬火钢</a:t>
            </a:r>
            <a:r>
              <a:rPr lang="zh-CN" altLang="en-US" b="1" dirty="0"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某些温度范围内回火时，</a:t>
            </a:r>
            <a:r>
              <a:rPr lang="zh-CN" altLang="en-US" b="1" dirty="0">
                <a:ea typeface="华文中宋" panose="02010600040101010101" pitchFamily="2" charset="-122"/>
              </a:rPr>
              <a:t>会出现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冲击韧性下降</a:t>
            </a:r>
            <a:r>
              <a:rPr lang="zh-CN" altLang="en-US" b="1" dirty="0">
                <a:ea typeface="华文中宋" panose="02010600040101010101" pitchFamily="2" charset="-122"/>
              </a:rPr>
              <a:t>的现象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43013" name="Picture 5" descr="35CrMo回火性能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966970" y="1203960"/>
            <a:ext cx="4050030" cy="4765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951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755650" y="3572510"/>
            <a:ext cx="167386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回火脆性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bldLvl="0" animBg="1"/>
      <p:bldP spid="43012" grpId="0" advAuto="1000" build="p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29613" y="6510338"/>
            <a:ext cx="814387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0"/>
            <a:ext cx="6477000" cy="98079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第一类回火脆性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0531" name="Rectangle 3"/>
          <p:cNvSpPr>
            <a:spLocks noGrp="1"/>
          </p:cNvSpPr>
          <p:nvPr>
            <p:ph idx="1"/>
          </p:nvPr>
        </p:nvSpPr>
        <p:spPr>
          <a:xfrm>
            <a:off x="179388" y="1124808"/>
            <a:ext cx="5535612" cy="533155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定义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/>
              <a:t>是指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淬火钢在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250-350℃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回火时出现的脆性。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</a:t>
            </a:r>
            <a:r>
              <a:rPr lang="zh-CN" altLang="en-US" b="1" dirty="0"/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不可逆</a:t>
            </a:r>
            <a:r>
              <a:rPr lang="zh-CN" altLang="en-US" b="1" dirty="0"/>
              <a:t>，只要在此温度范围内回火就会出现脆性，目前尚无有效消除办法。又称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不可逆回火脆性。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措施：回火时避开这一温度范围。</a:t>
            </a:r>
            <a:endParaRPr lang="zh-CN" altLang="en-US" b="1" dirty="0">
              <a:solidFill>
                <a:schemeClr val="folHlink"/>
              </a:solidFill>
            </a:endParaRPr>
          </a:p>
        </p:txBody>
      </p:sp>
      <p:pic>
        <p:nvPicPr>
          <p:cNvPr id="403460" name="Picture 4" descr="回火脆性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868108" y="2348910"/>
            <a:ext cx="2982548" cy="3234831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5053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605270"/>
            <a:ext cx="528320" cy="25273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0"/>
            <a:ext cx="6475413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第二类回火脆性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1555" name="Rectangle 3"/>
          <p:cNvSpPr>
            <a:spLocks noGrp="1"/>
          </p:cNvSpPr>
          <p:nvPr>
            <p:ph idx="1"/>
          </p:nvPr>
        </p:nvSpPr>
        <p:spPr>
          <a:xfrm>
            <a:off x="122097" y="1330668"/>
            <a:ext cx="6964363" cy="518443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第二类回火脆性：</a:t>
            </a:r>
            <a:r>
              <a:rPr lang="zh-CN" altLang="en-US" b="1" dirty="0">
                <a:ea typeface="华文中宋" panose="02010600040101010101" pitchFamily="2" charset="-122"/>
              </a:rPr>
              <a:t>是指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Cr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Mn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的淬火钢在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500-650℃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范围内回火后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缓冷时</a:t>
            </a:r>
            <a:r>
              <a:rPr lang="zh-CN" altLang="en-US" b="1" dirty="0">
                <a:ea typeface="华文中宋" panose="02010600040101010101" pitchFamily="2" charset="-122"/>
              </a:rPr>
              <a:t>出现的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脆性。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回火后快冷不出现，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可逆</a:t>
            </a:r>
            <a:r>
              <a:rPr lang="zh-CN" altLang="en-US" b="1" dirty="0">
                <a:ea typeface="华文中宋" panose="02010600040101010101" pitchFamily="2" charset="-122"/>
              </a:rPr>
              <a:t>。又称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可逆回火脆性</a:t>
            </a:r>
            <a:r>
              <a:rPr lang="en-US" altLang="zh-CN" b="1" dirty="0">
                <a:solidFill>
                  <a:srgbClr val="00FF00"/>
                </a:solidFill>
                <a:ea typeface="华文中宋" panose="02010600040101010101" pitchFamily="2" charset="-122"/>
              </a:rPr>
              <a:t>.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防止办法：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⑴ 回火后快冷。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solidFill>
                  <a:srgbClr val="CCFF33"/>
                </a:solidFill>
              </a:rPr>
              <a:t>     ⑵ 加入合金元素</a:t>
            </a:r>
            <a:r>
              <a:rPr lang="en-US" altLang="zh-CN" b="1" dirty="0">
                <a:solidFill>
                  <a:srgbClr val="CCFF33"/>
                </a:solidFill>
              </a:rPr>
              <a:t>W (</a:t>
            </a:r>
            <a:r>
              <a:rPr lang="zh-CN" altLang="en-US" b="1" dirty="0">
                <a:solidFill>
                  <a:srgbClr val="CCFF33"/>
                </a:solidFill>
              </a:rPr>
              <a:t>约</a:t>
            </a:r>
            <a:r>
              <a:rPr lang="en-US" altLang="zh-CN" b="1" dirty="0">
                <a:solidFill>
                  <a:srgbClr val="CCFF33"/>
                </a:solidFill>
              </a:rPr>
              <a:t>1%)</a:t>
            </a:r>
            <a:r>
              <a:rPr lang="zh-CN" altLang="en-US" b="1" dirty="0">
                <a:solidFill>
                  <a:srgbClr val="CCFF33"/>
                </a:solidFill>
              </a:rPr>
              <a:t>、 </a:t>
            </a:r>
            <a:r>
              <a:rPr lang="en-US" altLang="zh-CN" b="1" dirty="0">
                <a:solidFill>
                  <a:srgbClr val="CCFF33"/>
                </a:solidFill>
              </a:rPr>
              <a:t>Mo(</a:t>
            </a:r>
            <a:r>
              <a:rPr lang="zh-CN" altLang="en-US" b="1" dirty="0">
                <a:solidFill>
                  <a:srgbClr val="CCFF33"/>
                </a:solidFill>
              </a:rPr>
              <a:t>约</a:t>
            </a:r>
            <a:r>
              <a:rPr lang="en-US" altLang="zh-CN" b="1" dirty="0">
                <a:solidFill>
                  <a:srgbClr val="CCFF33"/>
                </a:solidFill>
              </a:rPr>
              <a:t>0.5%)</a:t>
            </a:r>
            <a:r>
              <a:rPr lang="zh-CN" altLang="en-US" b="1" dirty="0">
                <a:solidFill>
                  <a:srgbClr val="CCFF33"/>
                </a:solidFill>
              </a:rPr>
              <a:t>。</a:t>
            </a:r>
            <a:r>
              <a:rPr lang="zh-CN" altLang="en-US" b="1" dirty="0"/>
              <a:t>该法更适用于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大截面</a:t>
            </a:r>
            <a:r>
              <a:rPr lang="zh-CN" altLang="en-US" b="1" dirty="0"/>
              <a:t>的零部件。</a:t>
            </a:r>
            <a:endParaRPr lang="zh-CN" altLang="en-US" b="1" dirty="0"/>
          </a:p>
        </p:txBody>
      </p:sp>
      <p:pic>
        <p:nvPicPr>
          <p:cNvPr id="404484" name="Picture 4" descr="回火脆性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948198" y="2734141"/>
            <a:ext cx="2073705" cy="2442519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5155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3556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611505" y="1340485"/>
            <a:ext cx="278765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第二类回火脆性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616065"/>
            <a:ext cx="600075" cy="24193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" y="1556844"/>
            <a:ext cx="8496708" cy="324027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第六节  钢的表面热处理</a:t>
            </a:r>
            <a:br>
              <a:rPr kumimoji="1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j-cs"/>
              </a:rPr>
              <a:t>Surface Heat Treatment of Steels</a:t>
            </a:r>
            <a:endParaRPr kumimoji="1" lang="zh-CN" altLang="en-US" sz="6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258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616065"/>
            <a:ext cx="600075" cy="24193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188" y="0"/>
            <a:ext cx="698182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第六节  钢的表面热处理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2579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表面淬火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化学热处理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15258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2015" y="6652260"/>
            <a:ext cx="641985" cy="20574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250" y="0"/>
            <a:ext cx="6688138" cy="9906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一、钢的表面淬火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0" y="1268413"/>
            <a:ext cx="8713788" cy="26543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表面淬火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在不改变钢的化学成分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心部组织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情况下，</a:t>
            </a:r>
            <a:r>
              <a:rPr lang="zh-CN" altLang="en-US" b="1" dirty="0">
                <a:ea typeface="华文中宋" panose="02010600040101010101" pitchFamily="2" charset="-122"/>
              </a:rPr>
              <a:t>利用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快速加热</a:t>
            </a:r>
            <a:r>
              <a:rPr lang="zh-CN" altLang="en-US" b="1" dirty="0">
                <a:ea typeface="华文中宋" panose="02010600040101010101" pitchFamily="2" charset="-122"/>
              </a:rPr>
              <a:t>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表层奥氏体化后</a:t>
            </a:r>
            <a:r>
              <a:rPr lang="zh-CN" altLang="en-US" b="1" dirty="0">
                <a:ea typeface="华文中宋" panose="02010600040101010101" pitchFamily="2" charset="-122"/>
              </a:rPr>
              <a:t>进行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淬火，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强化零件表面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热处理方法。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53604" name="Text Box 7"/>
          <p:cNvSpPr txBox="1"/>
          <p:nvPr/>
        </p:nvSpPr>
        <p:spPr>
          <a:xfrm>
            <a:off x="323850" y="4149725"/>
            <a:ext cx="539750" cy="18002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火焰加热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53605" name="Picture 15" descr="表面淬火机床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878388" y="4005263"/>
            <a:ext cx="3479800" cy="2374900"/>
          </a:xfrm>
          <a:prstGeom prst="rect">
            <a:avLst/>
          </a:prstGeom>
          <a:noFill/>
          <a:ln w="38100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53606" name="Text Box 16"/>
          <p:cNvSpPr txBox="1"/>
          <p:nvPr/>
        </p:nvSpPr>
        <p:spPr>
          <a:xfrm>
            <a:off x="4878388" y="4005263"/>
            <a:ext cx="488950" cy="1219200"/>
          </a:xfrm>
          <a:prstGeom prst="rect">
            <a:avLst/>
          </a:prstGeom>
          <a:noFill/>
          <a:ln w="9525">
            <a:noFill/>
          </a:ln>
        </p:spPr>
        <p:txBody>
          <a:bodyPr vert="eaVert" anchor="t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感应加热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53607" name="Picture 21" descr="DSCN011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550" y="3897313"/>
            <a:ext cx="3671888" cy="2754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0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 advAuto="1000" build="p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44255" y="6571615"/>
            <a:ext cx="499745" cy="28638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513" y="-171450"/>
            <a:ext cx="618966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表面淬火目的、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应用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4627" name="Rectangle 3"/>
          <p:cNvSpPr>
            <a:spLocks noGrp="1"/>
          </p:cNvSpPr>
          <p:nvPr>
            <p:ph idx="1"/>
          </p:nvPr>
        </p:nvSpPr>
        <p:spPr>
          <a:xfrm>
            <a:off x="323850" y="1052513"/>
            <a:ext cx="8497888" cy="4754562"/>
          </a:xfrm>
        </p:spPr>
        <p:txBody>
          <a:bodyPr wrap="square" lIns="91440" tIns="45720" rIns="91440" bIns="45720" anchor="t"/>
          <a:lstStyle/>
          <a:p>
            <a:pPr eaLnBrk="1" hangingPunct="1">
              <a:spcBef>
                <a:spcPts val="0"/>
              </a:spcBef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表面淬火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目的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①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使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表面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具有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高的硬度、耐磨性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疲劳极限</a:t>
            </a:r>
            <a:r>
              <a:rPr lang="en-US" altLang="zh-CN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;</a:t>
            </a:r>
            <a:endParaRPr lang="en-US" altLang="zh-CN" sz="2800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②</a:t>
            </a:r>
            <a:r>
              <a:rPr lang="en-US" altLang="zh-CN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心部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在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保持一定的强度、硬度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条件下，具有足够的塑性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韧性。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即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表硬里韧</a:t>
            </a:r>
            <a:r>
              <a:rPr lang="zh-CN" altLang="en-US" sz="2800" b="1" dirty="0">
                <a:solidFill>
                  <a:srgbClr val="CCFFCC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rgbClr val="CCFFCC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承受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弯曲、扭转、摩擦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冲击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零件。</a:t>
            </a:r>
            <a:endParaRPr lang="zh-CN" altLang="en-US" sz="2800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1500188" y="4286250"/>
            <a:ext cx="7535950" cy="2400300"/>
            <a:chOff x="576" y="2352"/>
            <a:chExt cx="5120" cy="1816"/>
          </a:xfrm>
        </p:grpSpPr>
        <p:grpSp>
          <p:nvGrpSpPr>
            <p:cNvPr id="154629" name="Group 5"/>
            <p:cNvGrpSpPr>
              <a:grpSpLocks noChangeAspect="1"/>
            </p:cNvGrpSpPr>
            <p:nvPr/>
          </p:nvGrpSpPr>
          <p:grpSpPr>
            <a:xfrm>
              <a:off x="576" y="2352"/>
              <a:ext cx="4805" cy="1816"/>
              <a:chOff x="576" y="2352"/>
              <a:chExt cx="4805" cy="1816"/>
            </a:xfrm>
          </p:grpSpPr>
          <p:pic>
            <p:nvPicPr>
              <p:cNvPr id="154630" name="Picture 6" descr="感应淬火机床1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576" y="2352"/>
                <a:ext cx="3543" cy="1812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154631" name="Picture 7" descr="感应加热淬火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272" y="2352"/>
                <a:ext cx="1109" cy="1816"/>
              </a:xfrm>
              <a:prstGeom prst="rect">
                <a:avLst/>
              </a:prstGeom>
              <a:noFill/>
              <a:ln w="38100" cap="flat" cmpd="sng">
                <a:solidFill>
                  <a:srgbClr val="99CC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445448" name="Text Box 8"/>
            <p:cNvSpPr txBox="1">
              <a:spLocks noChangeAspect="1" noChangeArrowheads="1"/>
            </p:cNvSpPr>
            <p:nvPr/>
          </p:nvSpPr>
          <p:spPr bwMode="auto">
            <a:xfrm>
              <a:off x="5403" y="2438"/>
              <a:ext cx="293" cy="161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wrap="square">
              <a:spAutoFit/>
            </a:bodyPr>
            <a:lstStyle/>
            <a:p>
              <a:pPr marR="0" algn="ctr" defTabSz="914400" rtl="0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16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轴的感应加热表面淬火</a:t>
              </a:r>
              <a:endParaRPr kumimoji="1" lang="zh-CN" altLang="en-US" sz="16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5463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44255" y="6515100"/>
            <a:ext cx="49974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150" y="0"/>
            <a:ext cx="5880100" cy="7858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表面淬火用材料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5651" name="Rectangle 3"/>
          <p:cNvSpPr>
            <a:spLocks noGrp="1"/>
          </p:cNvSpPr>
          <p:nvPr>
            <p:ph idx="1"/>
          </p:nvPr>
        </p:nvSpPr>
        <p:spPr>
          <a:xfrm>
            <a:off x="250825" y="1071563"/>
            <a:ext cx="8642350" cy="49530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⑴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0.4-0.5%C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中碳钢。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含碳量过低，则表面硬度、耐磨性下降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含碳量过高</a:t>
            </a:r>
            <a:r>
              <a:rPr lang="en-US" altLang="zh-CN" b="1" dirty="0">
                <a:solidFill>
                  <a:srgbClr val="FF0000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心部韧性下降</a:t>
            </a:r>
            <a:r>
              <a:rPr lang="en-US" altLang="zh-CN" b="1" dirty="0">
                <a:ea typeface="华文中宋" panose="02010600040101010101" pitchFamily="2" charset="-122"/>
              </a:rPr>
              <a:t>;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⑵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铸铁：</a:t>
            </a:r>
            <a:r>
              <a:rPr lang="zh-CN" altLang="en-US" b="1" dirty="0">
                <a:ea typeface="华文中宋" panose="02010600040101010101" pitchFamily="2" charset="-122"/>
              </a:rPr>
              <a:t>提高其表面耐磨性</a:t>
            </a:r>
            <a:r>
              <a:rPr lang="en-US" altLang="zh-CN" b="1" dirty="0">
                <a:ea typeface="华文中宋" panose="02010600040101010101" pitchFamily="2" charset="-122"/>
              </a:rPr>
              <a:t>.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453515" y="2871787"/>
            <a:ext cx="7523163" cy="3643313"/>
            <a:chOff x="528" y="1632"/>
            <a:chExt cx="4874" cy="2330"/>
          </a:xfrm>
        </p:grpSpPr>
        <p:pic>
          <p:nvPicPr>
            <p:cNvPr id="155653" name="Picture 5" descr="机床导轨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51" y="2421"/>
              <a:ext cx="2567" cy="1541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5654" name="Text Box 6"/>
            <p:cNvSpPr txBox="1">
              <a:spLocks noChangeAspect="1"/>
            </p:cNvSpPr>
            <p:nvPr/>
          </p:nvSpPr>
          <p:spPr>
            <a:xfrm>
              <a:off x="528" y="3710"/>
              <a:ext cx="912" cy="250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机床导轨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55655" name="Group 7"/>
            <p:cNvGrpSpPr>
              <a:grpSpLocks noChangeAspect="1"/>
            </p:cNvGrpSpPr>
            <p:nvPr/>
          </p:nvGrpSpPr>
          <p:grpSpPr>
            <a:xfrm>
              <a:off x="3398" y="1632"/>
              <a:ext cx="2004" cy="2327"/>
              <a:chOff x="3408" y="1683"/>
              <a:chExt cx="2064" cy="2397"/>
            </a:xfrm>
          </p:grpSpPr>
          <p:pic>
            <p:nvPicPr>
              <p:cNvPr id="155656" name="Picture 8" descr="bitchgr2[1]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408" y="1683"/>
                <a:ext cx="2040" cy="2397"/>
              </a:xfrm>
              <a:prstGeom prst="rect">
                <a:avLst/>
              </a:prstGeom>
              <a:noFill/>
              <a:ln w="38100" cap="flat" cmpd="sng">
                <a:solidFill>
                  <a:srgbClr val="00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5657" name="Text Box 9"/>
              <p:cNvSpPr txBox="1">
                <a:spLocks noChangeAspect="1"/>
              </p:cNvSpPr>
              <p:nvPr/>
            </p:nvSpPr>
            <p:spPr>
              <a:xfrm>
                <a:off x="4417" y="3828"/>
                <a:ext cx="1055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r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表面淬火齿轮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5565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627495"/>
            <a:ext cx="528320" cy="23050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0"/>
            <a:ext cx="6800700" cy="98079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、预备热处理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6675" name="Rectangle 3"/>
          <p:cNvSpPr>
            <a:spLocks noGrp="1"/>
          </p:cNvSpPr>
          <p:nvPr>
            <p:ph idx="1"/>
          </p:nvPr>
        </p:nvSpPr>
        <p:spPr>
          <a:xfrm>
            <a:off x="250825" y="1125538"/>
            <a:ext cx="6265863" cy="50895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对于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结构钢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调质</a:t>
            </a:r>
            <a:r>
              <a:rPr lang="zh-CN" altLang="en-US" b="1" dirty="0"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正火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调质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性能高，用于要求高的重要件，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正火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用于要求不高的普通件。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目的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b="1" dirty="0">
                <a:solidFill>
                  <a:schemeClr val="accent1"/>
                </a:solidFill>
                <a:ea typeface="华文中宋" panose="02010600040101010101" pitchFamily="2" charset="-122"/>
              </a:rPr>
              <a:t>    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为表面淬火作组织准备；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</a:rPr>
              <a:t>    ②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获得最终心部组织。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6661150" y="1500188"/>
            <a:ext cx="2482850" cy="4857750"/>
            <a:chOff x="3216" y="389"/>
            <a:chExt cx="2199" cy="3462"/>
          </a:xfrm>
        </p:grpSpPr>
        <p:pic>
          <p:nvPicPr>
            <p:cNvPr id="156678" name="Picture 6" descr="image007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16" y="389"/>
              <a:ext cx="2198" cy="1905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6679" name="Rectangle 7"/>
            <p:cNvSpPr>
              <a:spLocks noChangeAspect="1"/>
            </p:cNvSpPr>
            <p:nvPr/>
          </p:nvSpPr>
          <p:spPr>
            <a:xfrm>
              <a:off x="4704" y="1925"/>
              <a:ext cx="711" cy="18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回火索氏体</a:t>
              </a:r>
              <a:endParaRPr lang="zh-CN" altLang="en-US" sz="16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56680" name="Picture 8" descr="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6" y="2133"/>
              <a:ext cx="2199" cy="1655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6681" name="Rectangle 9"/>
            <p:cNvSpPr>
              <a:spLocks noChangeAspect="1"/>
            </p:cNvSpPr>
            <p:nvPr/>
          </p:nvSpPr>
          <p:spPr>
            <a:xfrm>
              <a:off x="3897" y="3589"/>
              <a:ext cx="1513" cy="262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  <a:r>
                <a: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钢正火组织</a:t>
              </a:r>
              <a:r>
                <a:rPr lang="en-US" altLang="zh-CN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(F+S)</a:t>
              </a:r>
              <a:endParaRPr lang="en-US" altLang="zh-CN" sz="16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668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72830" y="6515100"/>
            <a:ext cx="47117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230630" y="0"/>
            <a:ext cx="7340600" cy="94107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、表面淬火后的回火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7699" name="Rectangle 3"/>
          <p:cNvSpPr>
            <a:spLocks noGrp="1"/>
          </p:cNvSpPr>
          <p:nvPr>
            <p:ph idx="1"/>
          </p:nvPr>
        </p:nvSpPr>
        <p:spPr>
          <a:xfrm>
            <a:off x="214313" y="1412875"/>
            <a:ext cx="3709987" cy="494506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采用低温回火</a:t>
            </a:r>
            <a:r>
              <a:rPr lang="zh-CN" altLang="en-US" b="1" dirty="0">
                <a:ea typeface="华文中宋" panose="02010600040101010101" pitchFamily="2" charset="-122"/>
              </a:rPr>
              <a:t>，温度不高于</a:t>
            </a:r>
            <a:r>
              <a:rPr lang="en-US" altLang="zh-CN" b="1" dirty="0">
                <a:ea typeface="华文中宋" panose="02010600040101010101" pitchFamily="2" charset="-122"/>
              </a:rPr>
              <a:t>200℃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回火目的</a:t>
            </a:r>
            <a:r>
              <a:rPr lang="zh-CN" altLang="en-US" b="1" dirty="0">
                <a:solidFill>
                  <a:srgbClr val="FFFF00"/>
                </a:solidFill>
              </a:rPr>
              <a:t>：</a:t>
            </a:r>
            <a:r>
              <a:rPr lang="zh-CN" altLang="en-US" b="1" dirty="0">
                <a:solidFill>
                  <a:srgbClr val="CCFFFF"/>
                </a:solidFill>
              </a:rPr>
              <a:t>降低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内应力</a:t>
            </a:r>
            <a:r>
              <a:rPr lang="zh-CN" altLang="en-US" b="1" dirty="0">
                <a:solidFill>
                  <a:srgbClr val="CCFFFF"/>
                </a:solidFill>
              </a:rPr>
              <a:t>，保留淬火</a:t>
            </a:r>
            <a:r>
              <a:rPr lang="zh-CN" altLang="en-US" b="1" dirty="0">
                <a:solidFill>
                  <a:srgbClr val="FFFF00"/>
                </a:solidFill>
              </a:rPr>
              <a:t>高硬度、耐磨性</a:t>
            </a:r>
            <a:r>
              <a:rPr lang="en-US" altLang="zh-CN" b="1" dirty="0">
                <a:solidFill>
                  <a:srgbClr val="FFFF00"/>
                </a:solidFill>
              </a:rPr>
              <a:t>.  </a:t>
            </a:r>
            <a:endParaRPr lang="en-US" altLang="zh-CN" b="1" dirty="0">
              <a:solidFill>
                <a:srgbClr val="FFFF00"/>
              </a:solidFill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3851940" y="1412537"/>
            <a:ext cx="4937125" cy="4924425"/>
            <a:chOff x="2352" y="375"/>
            <a:chExt cx="3110" cy="3102"/>
          </a:xfrm>
        </p:grpSpPr>
        <p:grpSp>
          <p:nvGrpSpPr>
            <p:cNvPr id="157702" name="Group 6"/>
            <p:cNvGrpSpPr/>
            <p:nvPr/>
          </p:nvGrpSpPr>
          <p:grpSpPr>
            <a:xfrm>
              <a:off x="3133" y="375"/>
              <a:ext cx="2256" cy="1133"/>
              <a:chOff x="3181" y="639"/>
              <a:chExt cx="2256" cy="1133"/>
            </a:xfrm>
          </p:grpSpPr>
          <p:pic>
            <p:nvPicPr>
              <p:cNvPr id="157703" name="Picture 7" descr="表面淬火（感应）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181" y="639"/>
                <a:ext cx="2222" cy="1133"/>
              </a:xfrm>
              <a:prstGeom prst="rect">
                <a:avLst/>
              </a:prstGeom>
              <a:noFill/>
              <a:ln w="28575" cap="flat" cmpd="sng">
                <a:solidFill>
                  <a:srgbClr val="66FF33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7704" name="Text Box 8"/>
              <p:cNvSpPr txBox="1">
                <a:spLocks noChangeAspect="1"/>
              </p:cNvSpPr>
              <p:nvPr/>
            </p:nvSpPr>
            <p:spPr>
              <a:xfrm>
                <a:off x="3992" y="644"/>
                <a:ext cx="1445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r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感应加热表面淬火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57705" name="Picture 9" descr="inductionhardening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2" y="1776"/>
              <a:ext cx="3110" cy="1701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5770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15100"/>
            <a:ext cx="60007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214313"/>
            <a:ext cx="8143875" cy="8112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rgbClr val="FFFF00"/>
                </a:solidFill>
                <a:latin typeface="+mn-lt"/>
                <a:ea typeface="华文中宋" panose="02010600040101010101" pitchFamily="2" charset="-122"/>
                <a:cs typeface="+mn-cs"/>
              </a:rPr>
              <a:t>4</a:t>
            </a:r>
            <a:r>
              <a:rPr lang="zh-CN" altLang="en-US" b="1" dirty="0">
                <a:solidFill>
                  <a:srgbClr val="FFFF00"/>
                </a:solidFill>
                <a:latin typeface="+mn-lt"/>
                <a:ea typeface="华文中宋" panose="02010600040101010101" pitchFamily="2" charset="-122"/>
                <a:cs typeface="+mn-cs"/>
              </a:rPr>
              <a:t>、表面淬火</a:t>
            </a:r>
            <a:r>
              <a:rPr lang="en-US" altLang="zh-CN" b="1" dirty="0">
                <a:solidFill>
                  <a:srgbClr val="FFFF00"/>
                </a:solidFill>
                <a:latin typeface="+mn-lt"/>
                <a:ea typeface="华文中宋" panose="02010600040101010101" pitchFamily="2" charset="-122"/>
                <a:cs typeface="+mn-cs"/>
              </a:rPr>
              <a:t>+</a:t>
            </a:r>
            <a:r>
              <a:rPr lang="zh-CN" altLang="en-US" b="1" dirty="0">
                <a:solidFill>
                  <a:srgbClr val="FFFF00"/>
                </a:solidFill>
                <a:latin typeface="+mn-lt"/>
                <a:ea typeface="华文中宋" panose="02010600040101010101" pitchFamily="2" charset="-122"/>
                <a:cs typeface="+mn-cs"/>
              </a:rPr>
              <a:t>低温回火后的组织</a:t>
            </a:r>
            <a:endParaRPr lang="zh-CN" altLang="en-US" b="1" dirty="0">
              <a:solidFill>
                <a:srgbClr val="FFFF00"/>
              </a:solidFill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58723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表层</a:t>
            </a:r>
            <a:r>
              <a:rPr lang="zh-CN" altLang="en-US" b="1" dirty="0"/>
              <a:t>组织</a:t>
            </a:r>
            <a:r>
              <a:rPr lang="zh-CN" altLang="en-US" b="1" dirty="0">
                <a:solidFill>
                  <a:schemeClr val="folHlink"/>
                </a:solidFill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</a:rPr>
              <a:t>M</a:t>
            </a:r>
            <a:r>
              <a:rPr lang="zh-CN" altLang="en-US" b="1" baseline="-25000" dirty="0">
                <a:solidFill>
                  <a:schemeClr val="folHlink"/>
                </a:solidFill>
              </a:rPr>
              <a:t>回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  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</a:rPr>
              <a:t>心部组织</a:t>
            </a:r>
            <a:r>
              <a:rPr lang="en-US" altLang="zh-CN" b="1" dirty="0">
                <a:solidFill>
                  <a:schemeClr val="folHlink"/>
                </a:solidFill>
              </a:rPr>
              <a:t>: S</a:t>
            </a:r>
            <a:r>
              <a:rPr lang="zh-CN" altLang="en-US" b="1" baseline="-25000" dirty="0">
                <a:solidFill>
                  <a:schemeClr val="folHlink"/>
                </a:solidFill>
              </a:rPr>
              <a:t>回</a:t>
            </a:r>
            <a:r>
              <a:rPr lang="en-US" altLang="zh-CN" b="1" dirty="0">
                <a:solidFill>
                  <a:srgbClr val="CCFFFF"/>
                </a:solidFill>
              </a:rPr>
              <a:t>(</a:t>
            </a:r>
            <a:r>
              <a:rPr lang="zh-CN" altLang="en-US" b="1" dirty="0">
                <a:solidFill>
                  <a:srgbClr val="CCFFFF"/>
                </a:solidFill>
              </a:rPr>
              <a:t>调质</a:t>
            </a:r>
            <a:r>
              <a:rPr lang="en-US" altLang="zh-CN" b="1" dirty="0">
                <a:solidFill>
                  <a:srgbClr val="CCFFFF"/>
                </a:solidFill>
              </a:rPr>
              <a:t>)  </a:t>
            </a:r>
            <a:r>
              <a:rPr lang="zh-CN" altLang="en-US" b="1" dirty="0">
                <a:solidFill>
                  <a:schemeClr val="folHlink"/>
                </a:solidFill>
              </a:rPr>
              <a:t>或  </a:t>
            </a:r>
            <a:r>
              <a:rPr lang="en-US" altLang="zh-CN" b="1" dirty="0">
                <a:solidFill>
                  <a:srgbClr val="00FF00"/>
                </a:solidFill>
              </a:rPr>
              <a:t>F+S</a:t>
            </a:r>
            <a:r>
              <a:rPr lang="en-US" altLang="zh-CN" b="1" dirty="0">
                <a:solidFill>
                  <a:srgbClr val="CCFFFF"/>
                </a:solidFill>
              </a:rPr>
              <a:t>(</a:t>
            </a:r>
            <a:r>
              <a:rPr lang="zh-CN" altLang="en-US" b="1" dirty="0">
                <a:solidFill>
                  <a:srgbClr val="CCFFFF"/>
                </a:solidFill>
              </a:rPr>
              <a:t>正火</a:t>
            </a:r>
            <a:r>
              <a:rPr lang="en-US" altLang="zh-CN" b="1" dirty="0">
                <a:solidFill>
                  <a:srgbClr val="CCFFFF"/>
                </a:solidFill>
              </a:rPr>
              <a:t>)</a:t>
            </a:r>
            <a:endParaRPr lang="en-US" altLang="zh-CN" b="1" dirty="0">
              <a:solidFill>
                <a:schemeClr val="tx2"/>
              </a:solidFill>
            </a:endParaRPr>
          </a:p>
          <a:p>
            <a:pPr eaLnBrk="1" hangingPunct="1"/>
            <a:endParaRPr lang="en-US" altLang="zh-CN" dirty="0"/>
          </a:p>
        </p:txBody>
      </p:sp>
      <p:sp>
        <p:nvSpPr>
          <p:cNvPr id="15872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15100"/>
            <a:ext cx="52832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25" y="0"/>
            <a:ext cx="717232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5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、表面淬火常用加热方法</a:t>
            </a:r>
            <a:endParaRPr kumimoji="1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8724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感应加热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火焰加热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激光热处理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00FF00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5974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15100"/>
            <a:ext cx="52832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0"/>
            <a:ext cx="6835775" cy="91376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  </a:t>
            </a: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感应加热表面淬火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0771" name="Rectangle 3"/>
          <p:cNvSpPr>
            <a:spLocks noGrp="1"/>
          </p:cNvSpPr>
          <p:nvPr>
            <p:ph idx="1"/>
          </p:nvPr>
        </p:nvSpPr>
        <p:spPr>
          <a:xfrm>
            <a:off x="468313" y="1484313"/>
            <a:ext cx="4824412" cy="37560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感应加热</a:t>
            </a:r>
            <a:r>
              <a:rPr lang="en-US" altLang="zh-CN" b="1" dirty="0">
                <a:solidFill>
                  <a:srgbClr val="FFFF00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b="1" dirty="0">
                <a:ea typeface="华文中宋" panose="02010600040101010101" pitchFamily="2" charset="-122"/>
              </a:rPr>
              <a:t>利用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交变电流在工件表面感应产生</a:t>
            </a:r>
            <a:r>
              <a:rPr lang="zh-CN" altLang="en-US" b="1" dirty="0">
                <a:ea typeface="华文中宋" panose="02010600040101010101" pitchFamily="2" charset="-122"/>
              </a:rPr>
              <a:t>巨大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涡流，使工件表面迅速加热的方法。</a:t>
            </a:r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071563" y="1428750"/>
            <a:ext cx="7667625" cy="4940300"/>
            <a:chOff x="432" y="551"/>
            <a:chExt cx="5102" cy="3384"/>
          </a:xfrm>
        </p:grpSpPr>
        <p:grpSp>
          <p:nvGrpSpPr>
            <p:cNvPr id="160773" name="Group 5"/>
            <p:cNvGrpSpPr>
              <a:grpSpLocks noChangeAspect="1"/>
            </p:cNvGrpSpPr>
            <p:nvPr/>
          </p:nvGrpSpPr>
          <p:grpSpPr>
            <a:xfrm>
              <a:off x="3360" y="551"/>
              <a:ext cx="2174" cy="3377"/>
              <a:chOff x="3408" y="444"/>
              <a:chExt cx="2196" cy="3412"/>
            </a:xfrm>
          </p:grpSpPr>
          <p:pic>
            <p:nvPicPr>
              <p:cNvPr id="160774" name="Picture 6" descr="36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408" y="444"/>
                <a:ext cx="2185" cy="3412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60775" name="Text Box 7"/>
              <p:cNvSpPr txBox="1">
                <a:spLocks noChangeAspect="1"/>
              </p:cNvSpPr>
              <p:nvPr/>
            </p:nvSpPr>
            <p:spPr>
              <a:xfrm>
                <a:off x="4704" y="3132"/>
                <a:ext cx="900" cy="6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感应加热表面淬火</a:t>
                </a:r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示意图</a:t>
                </a:r>
                <a:endPara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60776" name="Picture 8" descr="inductionhardening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" y="2120"/>
              <a:ext cx="2668" cy="1815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6077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605270"/>
            <a:ext cx="528320" cy="25273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0"/>
            <a:ext cx="6907530" cy="10414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 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感应加热表面淬火分类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1795" name="Rectangle 3"/>
          <p:cNvSpPr>
            <a:spLocks noGrp="1"/>
          </p:cNvSpPr>
          <p:nvPr>
            <p:ph idx="1"/>
          </p:nvPr>
        </p:nvSpPr>
        <p:spPr>
          <a:xfrm>
            <a:off x="161925" y="1570573"/>
            <a:ext cx="8820150" cy="466566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高频</a:t>
            </a:r>
            <a:r>
              <a:rPr lang="zh-CN" altLang="en-US" b="1" dirty="0">
                <a:ea typeface="华文中宋" panose="02010600040101010101" pitchFamily="2" charset="-122"/>
              </a:rPr>
              <a:t>感应：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250-300KHz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淬硬层深度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0.5-2mm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中频</a:t>
            </a:r>
            <a:r>
              <a:rPr lang="zh-CN" altLang="en-US" b="1" dirty="0">
                <a:ea typeface="华文中宋" panose="02010600040101010101" pitchFamily="2" charset="-122"/>
              </a:rPr>
              <a:t>感应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频率为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2500-8000 Hz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，淬硬层深度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2-10mm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工频</a:t>
            </a:r>
            <a:r>
              <a:rPr lang="zh-CN" altLang="en-US" b="1" dirty="0">
                <a:ea typeface="华文中宋" panose="02010600040101010101" pitchFamily="2" charset="-122"/>
              </a:rPr>
              <a:t>感应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频率为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50Hz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淬硬层深度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10~15mm</a:t>
            </a:r>
            <a:endParaRPr lang="en-US" altLang="zh-CN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sp>
        <p:nvSpPr>
          <p:cNvPr id="16179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15100"/>
            <a:ext cx="52832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54150" y="-114300"/>
            <a:ext cx="690721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①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高频感应加热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2819" name="Rectangle 3"/>
          <p:cNvSpPr>
            <a:spLocks noGrp="1"/>
          </p:cNvSpPr>
          <p:nvPr>
            <p:ph idx="1"/>
          </p:nvPr>
        </p:nvSpPr>
        <p:spPr>
          <a:xfrm>
            <a:off x="323850" y="1285875"/>
            <a:ext cx="3962400" cy="495141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频率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250-300KHz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淬硬层深度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0.5-2mm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162821" name="Picture 12" descr="感应加热表面淬火齿轮的截面图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28625" y="3857625"/>
            <a:ext cx="3732213" cy="2517775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62822" name="Picture 19" descr="感应加热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57688" y="1285875"/>
            <a:ext cx="4318000" cy="1912938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62823" name="Picture 10" descr="感应淬火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325" y="3451225"/>
            <a:ext cx="4286250" cy="2924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282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22335" y="6515100"/>
            <a:ext cx="60706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0"/>
            <a:ext cx="6238875" cy="76009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②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中频感应加热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3843" name="Rectangle 3"/>
          <p:cNvSpPr>
            <a:spLocks noGrp="1"/>
          </p:cNvSpPr>
          <p:nvPr>
            <p:ph idx="1"/>
          </p:nvPr>
        </p:nvSpPr>
        <p:spPr>
          <a:xfrm>
            <a:off x="323850" y="1285875"/>
            <a:ext cx="3962400" cy="4951413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频率为</a:t>
            </a:r>
            <a:r>
              <a:rPr lang="en-US" altLang="zh-CN" b="1" dirty="0">
                <a:ea typeface="华文中宋" panose="02010600040101010101" pitchFamily="2" charset="-122"/>
              </a:rPr>
              <a:t>2500-8000 Hz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淬硬层深度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2-10mm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163845" name="Picture 19" descr="凸轮轴中频淬火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572000" y="928688"/>
            <a:ext cx="4314825" cy="20828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63846" name="Picture 10" descr="感应加热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188" y="3500438"/>
            <a:ext cx="4678362" cy="2690812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63847" name="Picture 23" descr="Induction Hardeni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98428" y="3081338"/>
            <a:ext cx="3062287" cy="3776662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6384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2488" y="6510338"/>
            <a:ext cx="671512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0"/>
            <a:ext cx="6238875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③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工频感应加热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4867" name="Rectangle 3"/>
          <p:cNvSpPr>
            <a:spLocks noGrp="1"/>
          </p:cNvSpPr>
          <p:nvPr>
            <p:ph idx="1"/>
          </p:nvPr>
        </p:nvSpPr>
        <p:spPr>
          <a:xfrm>
            <a:off x="323850" y="1285875"/>
            <a:ext cx="3962400" cy="4951413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5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频率为</a:t>
            </a:r>
            <a:r>
              <a:rPr lang="en-US" altLang="zh-CN" b="1" dirty="0">
                <a:ea typeface="华文中宋" panose="02010600040101010101" pitchFamily="2" charset="-122"/>
              </a:rPr>
              <a:t>50Hz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5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 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淬硬层深度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10~15mm</a:t>
            </a:r>
            <a:endParaRPr lang="en-US" altLang="zh-CN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  <p:pic>
        <p:nvPicPr>
          <p:cNvPr id="164869" name="Picture 4" descr="感应穿透加热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000501" y="1219722"/>
            <a:ext cx="4559300" cy="2937941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64870" name="Picture 12" descr="感应器与夹头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7421" y="4223816"/>
            <a:ext cx="7916862" cy="2220912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6487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00813"/>
            <a:ext cx="600075" cy="357187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6322" name="Rectangle 2"/>
          <p:cNvSpPr>
            <a:spLocks noGrp="1"/>
          </p:cNvSpPr>
          <p:nvPr>
            <p:ph idx="1"/>
          </p:nvPr>
        </p:nvSpPr>
        <p:spPr>
          <a:xfrm>
            <a:off x="642938" y="214313"/>
            <a:ext cx="5181600" cy="3810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火焰加热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sz="2800" b="1" dirty="0">
                <a:ea typeface="华文中宋" panose="02010600040101010101" pitchFamily="2" charset="-122"/>
              </a:rPr>
              <a:t>利用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乙炔火焰直接加热工件表面</a:t>
            </a:r>
            <a:r>
              <a:rPr lang="zh-CN" altLang="en-US" sz="2800" b="1" dirty="0">
                <a:ea typeface="华文中宋" panose="02010600040101010101" pitchFamily="2" charset="-122"/>
              </a:rPr>
              <a:t>的方法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成本低，但质量不易控制。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⑶ 激光热处理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sz="2800" b="1" dirty="0">
                <a:ea typeface="华文中宋" panose="02010600040101010101" pitchFamily="2" charset="-122"/>
              </a:rPr>
              <a:t>利用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高能量密度的激光对工件表面进行加热</a:t>
            </a:r>
            <a:r>
              <a:rPr lang="zh-CN" altLang="en-US" sz="2800" b="1" dirty="0">
                <a:ea typeface="华文中宋" panose="02010600040101010101" pitchFamily="2" charset="-122"/>
              </a:rPr>
              <a:t>的方法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。效率高，质量好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571500" y="428625"/>
            <a:ext cx="8572500" cy="5910263"/>
            <a:chOff x="384" y="288"/>
            <a:chExt cx="4999" cy="3723"/>
          </a:xfrm>
        </p:grpSpPr>
        <p:grpSp>
          <p:nvGrpSpPr>
            <p:cNvPr id="165892" name="Group 20"/>
            <p:cNvGrpSpPr/>
            <p:nvPr/>
          </p:nvGrpSpPr>
          <p:grpSpPr>
            <a:xfrm>
              <a:off x="384" y="288"/>
              <a:ext cx="4999" cy="3723"/>
              <a:chOff x="384" y="288"/>
              <a:chExt cx="4999" cy="3723"/>
            </a:xfrm>
          </p:grpSpPr>
          <p:grpSp>
            <p:nvGrpSpPr>
              <p:cNvPr id="165893" name="Group 18"/>
              <p:cNvGrpSpPr>
                <a:grpSpLocks noChangeAspect="1"/>
              </p:cNvGrpSpPr>
              <p:nvPr/>
            </p:nvGrpSpPr>
            <p:grpSpPr>
              <a:xfrm>
                <a:off x="384" y="2592"/>
                <a:ext cx="4987" cy="1419"/>
                <a:chOff x="576" y="2553"/>
                <a:chExt cx="4673" cy="1330"/>
              </a:xfrm>
            </p:grpSpPr>
            <p:pic>
              <p:nvPicPr>
                <p:cNvPr id="165894" name="Picture 5" descr="37"/>
                <p:cNvPicPr>
                  <a:picLocks noChangeAspect="1"/>
                </p:cNvPicPr>
                <p:nvPr/>
              </p:nvPicPr>
              <p:blipFill>
                <a:blip r:embed="rId1" cstate="print">
                  <a:clrChange>
                    <a:clrFrom>
                      <a:srgbClr val="3C3E3E"/>
                    </a:clrFrom>
                    <a:clrTo>
                      <a:srgbClr val="3C3E3E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2814" y="2554"/>
                  <a:ext cx="2435" cy="1321"/>
                </a:xfrm>
                <a:prstGeom prst="rect">
                  <a:avLst/>
                </a:prstGeom>
                <a:noFill/>
                <a:ln w="38100" cap="flat" cmpd="sng">
                  <a:solidFill>
                    <a:srgbClr val="FF99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grpSp>
              <p:nvGrpSpPr>
                <p:cNvPr id="165895" name="Group 8"/>
                <p:cNvGrpSpPr>
                  <a:grpSpLocks noChangeAspect="1"/>
                </p:cNvGrpSpPr>
                <p:nvPr/>
              </p:nvGrpSpPr>
              <p:grpSpPr>
                <a:xfrm>
                  <a:off x="576" y="2553"/>
                  <a:ext cx="2141" cy="1330"/>
                  <a:chOff x="912" y="1224"/>
                  <a:chExt cx="2624" cy="1632"/>
                </a:xfrm>
              </p:grpSpPr>
              <p:pic>
                <p:nvPicPr>
                  <p:cNvPr id="165896" name="Picture 9" descr="激光表面处理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912" y="1248"/>
                    <a:ext cx="2612" cy="16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165897" name="Rectangle 10"/>
                  <p:cNvSpPr>
                    <a:spLocks noChangeAspect="1"/>
                  </p:cNvSpPr>
                  <p:nvPr/>
                </p:nvSpPr>
                <p:spPr>
                  <a:xfrm>
                    <a:off x="912" y="1224"/>
                    <a:ext cx="2624" cy="16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00FF0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65898" name="Text Box 11"/>
                <p:cNvSpPr txBox="1">
                  <a:spLocks noChangeAspect="1"/>
                </p:cNvSpPr>
                <p:nvPr/>
              </p:nvSpPr>
              <p:spPr>
                <a:xfrm>
                  <a:off x="768" y="3604"/>
                  <a:ext cx="1602" cy="27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anchor="t">
                  <a:spAutoFit/>
                </a:bodyPr>
                <a:lstStyle/>
                <a:p>
                  <a:pPr algn="ctr"/>
                  <a:r>
                    <a:rPr lang="zh-CN" altLang="en-US" sz="24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激光表面热处理</a:t>
                  </a:r>
                  <a:endPara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5899" name="Group 19"/>
              <p:cNvGrpSpPr>
                <a:grpSpLocks noChangeAspect="1"/>
              </p:cNvGrpSpPr>
              <p:nvPr/>
            </p:nvGrpSpPr>
            <p:grpSpPr>
              <a:xfrm>
                <a:off x="3456" y="288"/>
                <a:ext cx="1927" cy="2184"/>
                <a:chOff x="3454" y="384"/>
                <a:chExt cx="1843" cy="2089"/>
              </a:xfrm>
            </p:grpSpPr>
            <p:pic>
              <p:nvPicPr>
                <p:cNvPr id="165900" name="Picture 12" descr="火焰加热表淬1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454" y="384"/>
                  <a:ext cx="1843" cy="10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65901" name="Picture 13" descr="火焰加热表淬2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3454" y="1468"/>
                  <a:ext cx="1843" cy="100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65902" name="Rectangle 15"/>
                <p:cNvSpPr>
                  <a:spLocks noChangeAspect="1"/>
                </p:cNvSpPr>
                <p:nvPr/>
              </p:nvSpPr>
              <p:spPr>
                <a:xfrm>
                  <a:off x="3909" y="1403"/>
                  <a:ext cx="998" cy="130"/>
                </a:xfrm>
                <a:prstGeom prst="rect">
                  <a:avLst/>
                </a:prstGeom>
                <a:solidFill>
                  <a:srgbClr val="FFFFFF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algn="ctr"/>
                  <a:r>
                    <a:rPr lang="zh-CN" altLang="en-US" sz="1600" dirty="0">
                      <a:solidFill>
                        <a:srgbClr val="8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火焰加热表面淬火</a:t>
                  </a:r>
                  <a:endPara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65903" name="Rectangle 21"/>
            <p:cNvSpPr>
              <a:spLocks noChangeAspect="1"/>
            </p:cNvSpPr>
            <p:nvPr/>
          </p:nvSpPr>
          <p:spPr>
            <a:xfrm>
              <a:off x="3728" y="3791"/>
              <a:ext cx="1648" cy="21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火焰加热表面淬火示意图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59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9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advAuto="1000" build="p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609600" cy="3786188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sz="3200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激光表面热处理</a:t>
            </a:r>
            <a:endParaRPr lang="zh-CN" altLang="en-US" sz="3200" b="1" strike="noStrike" noProof="1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208900" name="JIGUANG.MPG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636588" y="0"/>
            <a:ext cx="8507412" cy="695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6916" name="Picture 4" descr="设备000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4392613"/>
            <a:ext cx="3214688" cy="2465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8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0890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8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8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8900"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/>
          </p:cNvSpPr>
          <p:nvPr>
            <p:ph type="title"/>
          </p:nvPr>
        </p:nvSpPr>
        <p:spPr>
          <a:xfrm>
            <a:off x="1643064" y="157798"/>
            <a:ext cx="6097426" cy="857250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激光表面热处理</a:t>
            </a:r>
            <a:endParaRPr lang="zh-CN" altLang="en-US" b="1" strike="noStrike" noProof="1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167938" name="Picture 2" descr="设备000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339814" y="1268820"/>
            <a:ext cx="5400675" cy="4643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794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648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2488" y="6510338"/>
            <a:ext cx="671512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15100"/>
            <a:ext cx="60007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760" y="116724"/>
            <a:ext cx="6334125" cy="81121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二、  钢的化学热处理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285750" y="1285875"/>
            <a:ext cx="4681538" cy="5167313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化学热处理：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将工件置于特定介质中加热、保温，使</a:t>
            </a:r>
            <a:r>
              <a:rPr lang="zh-CN" altLang="en-US" b="1" dirty="0">
                <a:solidFill>
                  <a:schemeClr val="folHlink"/>
                </a:solidFill>
              </a:rPr>
              <a:t>介质</a:t>
            </a:r>
            <a:r>
              <a:rPr lang="zh-CN" altLang="en-US" b="1" dirty="0"/>
              <a:t>中的</a:t>
            </a:r>
            <a:r>
              <a:rPr lang="zh-CN" altLang="en-US" b="1" dirty="0">
                <a:solidFill>
                  <a:schemeClr val="folHlink"/>
                </a:solidFill>
              </a:rPr>
              <a:t>活性原子</a:t>
            </a:r>
            <a:r>
              <a:rPr lang="zh-CN" altLang="en-US" b="1" dirty="0"/>
              <a:t>渗入</a:t>
            </a:r>
            <a:r>
              <a:rPr lang="zh-CN" altLang="en-US" b="1" dirty="0">
                <a:solidFill>
                  <a:schemeClr val="folHlink"/>
                </a:solidFill>
              </a:rPr>
              <a:t>工件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表层</a:t>
            </a:r>
            <a:r>
              <a:rPr lang="zh-CN" altLang="en-US" b="1" dirty="0">
                <a:solidFill>
                  <a:schemeClr val="folHlink"/>
                </a:solidFill>
              </a:rPr>
              <a:t>，</a:t>
            </a:r>
            <a:r>
              <a:rPr lang="zh-CN" altLang="en-US" b="1" dirty="0"/>
              <a:t>从而</a:t>
            </a:r>
            <a:r>
              <a:rPr lang="zh-CN" altLang="en-US" b="1" dirty="0">
                <a:solidFill>
                  <a:schemeClr val="folHlink"/>
                </a:solidFill>
              </a:rPr>
              <a:t>改变工件表层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化学成分</a:t>
            </a:r>
            <a:r>
              <a:rPr lang="zh-CN" altLang="en-US" b="1" dirty="0">
                <a:solidFill>
                  <a:schemeClr val="folHlink"/>
                </a:solidFill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组织</a:t>
            </a:r>
            <a:r>
              <a:rPr lang="zh-CN" altLang="en-US" b="1" dirty="0">
                <a:solidFill>
                  <a:schemeClr val="folHlink"/>
                </a:solidFill>
              </a:rPr>
              <a:t>，进而改变其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</a:rPr>
              <a:t>热处理工艺。</a:t>
            </a:r>
            <a:endParaRPr lang="zh-CN" altLang="en-US" b="1" dirty="0">
              <a:solidFill>
                <a:schemeClr val="folHlink"/>
              </a:solidFill>
            </a:endParaRPr>
          </a:p>
        </p:txBody>
      </p:sp>
      <p:pic>
        <p:nvPicPr>
          <p:cNvPr id="57348" name="Picture 4" descr="井式炉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003800" y="1989138"/>
            <a:ext cx="3983038" cy="3011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896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57347" grpId="0" advAuto="1000" build="p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400800"/>
            <a:ext cx="457200" cy="4572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8370" name="Rectangle 2"/>
          <p:cNvSpPr>
            <a:spLocks noGrp="1"/>
          </p:cNvSpPr>
          <p:nvPr>
            <p:ph idx="1"/>
          </p:nvPr>
        </p:nvSpPr>
        <p:spPr>
          <a:xfrm>
            <a:off x="214313" y="785813"/>
            <a:ext cx="8929687" cy="3700462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与表面淬火相比，化学热处理不仅改变钢的表层组织，还改变</a:t>
            </a:r>
            <a:r>
              <a:rPr lang="zh-CN" altLang="en-US" b="1" dirty="0">
                <a:ea typeface="华文中宋" panose="02010600040101010101" pitchFamily="2" charset="-122"/>
              </a:rPr>
              <a:t>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化学成分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化学热处理也是获得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表硬里韧</a:t>
            </a:r>
            <a:r>
              <a:rPr lang="zh-CN" altLang="en-US" b="1" dirty="0">
                <a:ea typeface="华文中宋" panose="02010600040101010101" pitchFamily="2" charset="-122"/>
              </a:rPr>
              <a:t>性能的方法之一。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根据渗入的元素不同，</a:t>
            </a:r>
            <a:r>
              <a:rPr lang="zh-CN" altLang="en-US" b="1" dirty="0">
                <a:ea typeface="华文中宋" panose="02010600040101010101" pitchFamily="2" charset="-122"/>
              </a:rPr>
              <a:t>化学热处理可分为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渗碳、氮化、多元共渗、渗其他元素等。 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1357313" y="4519613"/>
            <a:ext cx="7510462" cy="2338387"/>
            <a:chOff x="567" y="2208"/>
            <a:chExt cx="4731" cy="1814"/>
          </a:xfrm>
        </p:grpSpPr>
        <p:pic>
          <p:nvPicPr>
            <p:cNvPr id="169988" name="Picture 4" descr="可控气氛渗碳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67" y="2265"/>
              <a:ext cx="3140" cy="1757"/>
            </a:xfrm>
            <a:prstGeom prst="rect">
              <a:avLst/>
            </a:prstGeom>
            <a:noFill/>
            <a:ln w="38100" cap="flat" cmpd="sng">
              <a:solidFill>
                <a:srgbClr val="CCFF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69989" name="Text Box 5"/>
            <p:cNvSpPr txBox="1">
              <a:spLocks noChangeAspect="1"/>
            </p:cNvSpPr>
            <p:nvPr/>
          </p:nvSpPr>
          <p:spPr>
            <a:xfrm>
              <a:off x="2448" y="3754"/>
              <a:ext cx="1285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可控气氛渗碳炉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69990" name="Picture 8" descr="渗碳回火炉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7" y="2216"/>
              <a:ext cx="1491" cy="180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9991" name="Text Box 11"/>
            <p:cNvSpPr txBox="1">
              <a:spLocks noChangeAspect="1"/>
            </p:cNvSpPr>
            <p:nvPr/>
          </p:nvSpPr>
          <p:spPr>
            <a:xfrm>
              <a:off x="3811" y="2208"/>
              <a:ext cx="271" cy="105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渗碳回火炉</a:t>
              </a:r>
              <a:endParaRPr lang="zh-CN" altLang="en-US" sz="16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999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3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83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dvAuto="1000" build="p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15100"/>
            <a:ext cx="52832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1000125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en-US" altLang="zh-CN" b="1" strike="noStrike" noProof="1">
                <a:ea typeface="华文中宋" panose="02010600040101010101" pitchFamily="2" charset="-122"/>
              </a:rPr>
              <a:t>1.</a:t>
            </a:r>
            <a:r>
              <a:rPr lang="zh-CN" altLang="en-US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化学热处理的基本过程</a:t>
            </a:r>
            <a:r>
              <a:rPr lang="zh-CN" altLang="en-US" sz="2800" b="1" strike="noStrike" noProof="1"/>
              <a:t> </a:t>
            </a:r>
            <a:endParaRPr lang="zh-CN" altLang="en-US" sz="2800" b="1" strike="noStrike" noProof="1"/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4981575" cy="51816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介质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渗剂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的分解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sz="2800" b="1" dirty="0">
                <a:ea typeface="华文中宋" panose="02010600040101010101" pitchFamily="2" charset="-122"/>
              </a:rPr>
              <a:t>分解时释放出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活性原子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99FF99"/>
                </a:solidFill>
                <a:ea typeface="华文中宋" panose="02010600040101010101" pitchFamily="2" charset="-122"/>
              </a:rPr>
              <a:t>如：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渗碳  </a:t>
            </a:r>
            <a:r>
              <a:rPr lang="en-US" altLang="zh-CN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CH</a:t>
            </a:r>
            <a:r>
              <a:rPr lang="en-US" altLang="zh-CN" sz="2800" b="1" baseline="-30000" dirty="0">
                <a:solidFill>
                  <a:srgbClr val="CCFF66"/>
                </a:solidFill>
                <a:ea typeface="华文中宋" panose="02010600040101010101" pitchFamily="2" charset="-122"/>
              </a:rPr>
              <a:t>4</a:t>
            </a:r>
            <a:r>
              <a:rPr lang="en-US" altLang="zh-CN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→2H</a:t>
            </a:r>
            <a:r>
              <a:rPr lang="en-US" altLang="zh-CN" sz="2800" b="1" baseline="-30000" dirty="0">
                <a:solidFill>
                  <a:srgbClr val="CCFF66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+[C]</a:t>
            </a:r>
            <a:endParaRPr lang="en-US" altLang="zh-CN" sz="2800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            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氮化  </a:t>
            </a:r>
            <a:r>
              <a:rPr lang="en-US" altLang="zh-CN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2NH</a:t>
            </a:r>
            <a:r>
              <a:rPr lang="en-US" altLang="zh-CN" sz="2800" b="1" baseline="-30000" dirty="0">
                <a:solidFill>
                  <a:srgbClr val="CCFF66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→3H</a:t>
            </a:r>
            <a:r>
              <a:rPr lang="en-US" altLang="zh-CN" sz="2800" b="1" baseline="-30000" dirty="0">
                <a:solidFill>
                  <a:srgbClr val="CCFF66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+2[N]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4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工件表面的吸收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sz="2800" b="1" dirty="0">
                <a:ea typeface="华文中宋" panose="02010600040101010101" pitchFamily="2" charset="-122"/>
              </a:rPr>
              <a:t>活性原子向固溶体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溶解</a:t>
            </a:r>
            <a:r>
              <a:rPr lang="zh-CN" altLang="en-US" sz="2800" b="1" dirty="0">
                <a:ea typeface="华文中宋" panose="02010600040101010101" pitchFamily="2" charset="-122"/>
              </a:rPr>
              <a:t>或与钢中某些元素形成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化合物</a:t>
            </a:r>
            <a:r>
              <a:rPr lang="zh-CN" altLang="en-US" sz="2800" b="1" dirty="0"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）原子向内部扩散。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  <a:endParaRPr lang="zh-CN" altLang="en-US" sz="2800" b="1" dirty="0">
              <a:solidFill>
                <a:srgbClr val="99FF99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5486400" y="1143000"/>
            <a:ext cx="3246438" cy="5038725"/>
            <a:chOff x="3456" y="720"/>
            <a:chExt cx="2045" cy="3174"/>
          </a:xfrm>
        </p:grpSpPr>
        <p:pic>
          <p:nvPicPr>
            <p:cNvPr id="171013" name="Picture 6" descr="氮化扩散层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56" y="720"/>
              <a:ext cx="2045" cy="3174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1014" name="Rectangle 7"/>
            <p:cNvSpPr/>
            <p:nvPr/>
          </p:nvSpPr>
          <p:spPr>
            <a:xfrm>
              <a:off x="3467" y="3685"/>
              <a:ext cx="816" cy="192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氮化扩散层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101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  <p:bldP spid="59395" grpId="0" advAuto="1000" build="p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82410"/>
            <a:ext cx="528955" cy="27559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0418" name="Rectangle 2"/>
          <p:cNvSpPr>
            <a:spLocks noGrp="1"/>
          </p:cNvSpPr>
          <p:nvPr>
            <p:ph type="title"/>
          </p:nvPr>
        </p:nvSpPr>
        <p:spPr>
          <a:xfrm>
            <a:off x="2571750" y="0"/>
            <a:ext cx="3190875" cy="714375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>
              <a:lnSpc>
                <a:spcPct val="150000"/>
              </a:lnSpc>
            </a:pPr>
            <a:r>
              <a:rPr lang="zh-CN" altLang="en-US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钢的渗碳</a:t>
            </a:r>
            <a:endParaRPr lang="zh-CN" altLang="en-US" b="1" strike="noStrike" noProof="1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xfrm>
            <a:off x="357188" y="928688"/>
            <a:ext cx="5256212" cy="5500687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</a:t>
            </a:r>
            <a:r>
              <a:rPr lang="zh-CN" altLang="en-US" b="1" dirty="0">
                <a:ea typeface="华文中宋" panose="02010600040101010101" pitchFamily="2" charset="-122"/>
              </a:rPr>
              <a:t>：向钢表面渗入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碳原子</a:t>
            </a:r>
            <a:r>
              <a:rPr lang="zh-CN" altLang="en-US" b="1" dirty="0">
                <a:ea typeface="华文中宋" panose="02010600040101010101" pitchFamily="2" charset="-122"/>
              </a:rPr>
              <a:t>的过程。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1.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渗碳目的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2.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渗碳用钢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3.</a:t>
            </a:r>
            <a:r>
              <a:rPr lang="zh-CN" altLang="en-US" b="1" dirty="0">
                <a:ea typeface="华文中宋" panose="02010600040101010101" pitchFamily="2" charset="-122"/>
              </a:rPr>
              <a:t>渗碳方法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4.</a:t>
            </a:r>
            <a:r>
              <a:rPr lang="zh-CN" altLang="en-US" b="1" dirty="0">
                <a:ea typeface="华文中宋" panose="02010600040101010101" pitchFamily="2" charset="-122"/>
              </a:rPr>
              <a:t>渗碳温度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5.</a:t>
            </a:r>
            <a:r>
              <a:rPr lang="zh-CN" altLang="en-US" b="1" dirty="0">
                <a:ea typeface="华文中宋" panose="02010600040101010101" pitchFamily="2" charset="-122"/>
              </a:rPr>
              <a:t>渗碳后组织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6.</a:t>
            </a:r>
            <a:r>
              <a:rPr lang="zh-CN" altLang="en-US" b="1" dirty="0">
                <a:ea typeface="华文中宋" panose="02010600040101010101" pitchFamily="2" charset="-122"/>
              </a:rPr>
              <a:t>渗碳后的热处理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5500688" y="1143000"/>
            <a:ext cx="3287712" cy="4856163"/>
            <a:chOff x="3264" y="336"/>
            <a:chExt cx="2071" cy="3059"/>
          </a:xfrm>
        </p:grpSpPr>
        <p:pic>
          <p:nvPicPr>
            <p:cNvPr id="172037" name="Picture 13" descr="井式渗碳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64" y="336"/>
              <a:ext cx="2070" cy="3059"/>
            </a:xfrm>
            <a:prstGeom prst="rect">
              <a:avLst/>
            </a:prstGeom>
            <a:noFill/>
            <a:ln w="28575" cap="flat" cmpd="sng">
              <a:solidFill>
                <a:srgbClr val="CCFF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2038" name="Text Box 14"/>
            <p:cNvSpPr txBox="1"/>
            <p:nvPr/>
          </p:nvSpPr>
          <p:spPr>
            <a:xfrm>
              <a:off x="5027" y="1632"/>
              <a:ext cx="308" cy="134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井式渗碳炉</a:t>
              </a:r>
              <a:endPara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7204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  <p:bldP spid="60419" grpId="0" advAuto="1000" build="p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15100"/>
            <a:ext cx="52832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0418" name="Rectangle 2"/>
          <p:cNvSpPr>
            <a:spLocks noGrp="1"/>
          </p:cNvSpPr>
          <p:nvPr>
            <p:ph type="title"/>
          </p:nvPr>
        </p:nvSpPr>
        <p:spPr>
          <a:xfrm>
            <a:off x="2571750" y="0"/>
            <a:ext cx="3190875" cy="714375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>
              <a:lnSpc>
                <a:spcPct val="150000"/>
              </a:lnSpc>
            </a:pPr>
            <a:r>
              <a:rPr lang="zh-CN" altLang="en-US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钢的渗碳</a:t>
            </a:r>
            <a:endParaRPr lang="zh-CN" altLang="en-US" b="1" strike="noStrike" noProof="1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071563"/>
            <a:ext cx="5256213" cy="51435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、渗碳目的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  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j-cs"/>
              </a:rPr>
              <a:t>提高工件表面硬度、耐磨性及疲劳强度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CC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，同时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j-cs"/>
              </a:rPr>
              <a:t>保持心部良好的韧性。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j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、渗碳用钢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为含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0.1-0.25%C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cs typeface="+mj-cs"/>
              </a:rPr>
              <a:t>低碳钢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碳高则心部韧性降低。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5856288" y="571500"/>
            <a:ext cx="3287712" cy="4856163"/>
            <a:chOff x="3264" y="336"/>
            <a:chExt cx="2071" cy="3059"/>
          </a:xfrm>
        </p:grpSpPr>
        <p:pic>
          <p:nvPicPr>
            <p:cNvPr id="173061" name="Picture 13" descr="井式渗碳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64" y="336"/>
              <a:ext cx="2070" cy="3059"/>
            </a:xfrm>
            <a:prstGeom prst="rect">
              <a:avLst/>
            </a:prstGeom>
            <a:noFill/>
            <a:ln w="28575" cap="flat" cmpd="sng">
              <a:solidFill>
                <a:srgbClr val="CCFF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3062" name="Text Box 14"/>
            <p:cNvSpPr txBox="1"/>
            <p:nvPr/>
          </p:nvSpPr>
          <p:spPr>
            <a:xfrm>
              <a:off x="5027" y="1632"/>
              <a:ext cx="308" cy="134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井式渗碳炉</a:t>
              </a:r>
              <a:endPara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7306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/>
      <p:bldP spid="60419" grpId="0" advAuto="1000" build="p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83680"/>
            <a:ext cx="528320" cy="2743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0"/>
            <a:ext cx="683577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钢的渗碳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——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、渗碳方法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4083" name="Rectangle 3"/>
          <p:cNvSpPr>
            <a:spLocks noGrp="1"/>
          </p:cNvSpPr>
          <p:nvPr>
            <p:ph idx="1"/>
          </p:nvPr>
        </p:nvSpPr>
        <p:spPr>
          <a:xfrm>
            <a:off x="1116013" y="1844675"/>
            <a:ext cx="4462462" cy="41148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⑴ 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气体渗碳法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⑵ 固体渗碳法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</a:rPr>
              <a:t>⑶ 真空渗碳法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174084" name="Group 12"/>
          <p:cNvGrpSpPr/>
          <p:nvPr/>
        </p:nvGrpSpPr>
        <p:grpSpPr>
          <a:xfrm>
            <a:off x="5148263" y="1844675"/>
            <a:ext cx="3783012" cy="4003675"/>
            <a:chOff x="3243" y="935"/>
            <a:chExt cx="2383" cy="2522"/>
          </a:xfrm>
        </p:grpSpPr>
        <p:pic>
          <p:nvPicPr>
            <p:cNvPr id="174085" name="Picture 8" descr="渗碳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43" y="935"/>
              <a:ext cx="2383" cy="2522"/>
            </a:xfrm>
            <a:prstGeom prst="rect">
              <a:avLst/>
            </a:prstGeom>
            <a:solidFill>
              <a:srgbClr val="CCFFFF"/>
            </a:solidFill>
            <a:ln w="38100">
              <a:noFill/>
            </a:ln>
          </p:spPr>
        </p:pic>
        <p:sp>
          <p:nvSpPr>
            <p:cNvPr id="174086" name="Text Box 9"/>
            <p:cNvSpPr txBox="1">
              <a:spLocks noChangeAspect="1"/>
            </p:cNvSpPr>
            <p:nvPr/>
          </p:nvSpPr>
          <p:spPr>
            <a:xfrm>
              <a:off x="5284" y="935"/>
              <a:ext cx="308" cy="78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rPr>
                <a:t>渗碳炉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华文宋体" panose="02010600040101010101" pitchFamily="2" charset="-122"/>
              </a:endParaRPr>
            </a:p>
          </p:txBody>
        </p:sp>
      </p:grpSp>
      <p:sp>
        <p:nvSpPr>
          <p:cNvPr id="17408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95110"/>
            <a:ext cx="528320" cy="26289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0"/>
            <a:ext cx="6457950" cy="10080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⑴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气体渗碳法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5107" name="Rectangle 3"/>
          <p:cNvSpPr>
            <a:spLocks noGrp="1"/>
          </p:cNvSpPr>
          <p:nvPr>
            <p:ph idx="1"/>
          </p:nvPr>
        </p:nvSpPr>
        <p:spPr>
          <a:xfrm>
            <a:off x="0" y="857250"/>
            <a:ext cx="5830888" cy="550068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工艺：</a:t>
            </a:r>
            <a:r>
              <a:rPr lang="zh-CN" altLang="en-US" b="1" dirty="0">
                <a:ea typeface="华文中宋" panose="02010600040101010101" pitchFamily="2" charset="-122"/>
              </a:rPr>
              <a:t>将工件放入密封炉内，在高温（</a:t>
            </a:r>
            <a:r>
              <a:rPr lang="en-US" altLang="zh-CN" b="1" dirty="0">
                <a:solidFill>
                  <a:srgbClr val="CCFF66"/>
                </a:solidFill>
                <a:ea typeface="华文中宋" panose="02010600040101010101" pitchFamily="2" charset="-122"/>
              </a:rPr>
              <a:t>900~950</a:t>
            </a:r>
            <a:r>
              <a:rPr lang="zh-CN" altLang="zh-CN" b="1" dirty="0">
                <a:solidFill>
                  <a:srgbClr val="CCFF66"/>
                </a:solidFill>
                <a:ea typeface="华文中宋" panose="02010600040101010101" pitchFamily="2" charset="-122"/>
              </a:rPr>
              <a:t>℃</a:t>
            </a:r>
            <a:r>
              <a:rPr lang="zh-CN" altLang="en-US" b="1" dirty="0">
                <a:ea typeface="华文中宋" panose="02010600040101010101" pitchFamily="2" charset="-122"/>
              </a:rPr>
              <a:t>）渗碳气氛中渗碳。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渗剂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气体 </a:t>
            </a:r>
            <a:r>
              <a:rPr lang="en-US" altLang="zh-CN" b="1" dirty="0">
                <a:solidFill>
                  <a:srgbClr val="CCFF66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煤气、液化气等</a:t>
            </a:r>
            <a:r>
              <a:rPr lang="en-US" altLang="zh-CN" b="1" dirty="0">
                <a:solidFill>
                  <a:srgbClr val="CCFF66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或有机液体</a:t>
            </a:r>
            <a:r>
              <a:rPr lang="en-US" altLang="zh-CN" b="1" dirty="0">
                <a:solidFill>
                  <a:srgbClr val="CCFF66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煤油、甲醇等</a:t>
            </a:r>
            <a:r>
              <a:rPr lang="en-US" altLang="zh-CN" b="1" dirty="0">
                <a:solidFill>
                  <a:srgbClr val="CCFF66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优点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质量好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效率高；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缺点</a:t>
            </a:r>
            <a:r>
              <a:rPr lang="en-US" altLang="zh-CN" b="1" dirty="0">
                <a:solidFill>
                  <a:schemeClr val="folHlink"/>
                </a:solidFill>
              </a:rPr>
              <a:t>: </a:t>
            </a:r>
            <a:r>
              <a:rPr lang="zh-CN" altLang="en-US" b="1" dirty="0">
                <a:solidFill>
                  <a:schemeClr val="folHlink"/>
                </a:solidFill>
              </a:rPr>
              <a:t>渗层成分与深度不易控制。</a:t>
            </a:r>
            <a:endParaRPr lang="zh-CN" altLang="en-US" b="1" dirty="0">
              <a:solidFill>
                <a:schemeClr val="folHlink"/>
              </a:solidFill>
            </a:endParaRP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>
          <a:xfrm>
            <a:off x="5848350" y="2000250"/>
            <a:ext cx="3295650" cy="4103688"/>
            <a:chOff x="2832" y="575"/>
            <a:chExt cx="2568" cy="2902"/>
          </a:xfrm>
        </p:grpSpPr>
        <p:pic>
          <p:nvPicPr>
            <p:cNvPr id="175109" name="Picture 5" descr="38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32" y="575"/>
              <a:ext cx="2541" cy="2833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5110" name="Text Box 6"/>
            <p:cNvSpPr txBox="1">
              <a:spLocks noChangeAspect="1"/>
            </p:cNvSpPr>
            <p:nvPr/>
          </p:nvSpPr>
          <p:spPr>
            <a:xfrm>
              <a:off x="4287" y="2976"/>
              <a:ext cx="1113" cy="50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气体渗碳法示意图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511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15100"/>
            <a:ext cx="60007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0"/>
            <a:ext cx="65992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⑵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固体渗碳法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6131" name="Rectangle 3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53721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工艺：</a:t>
            </a:r>
            <a:r>
              <a:rPr lang="zh-CN" altLang="en-US" b="1" dirty="0">
                <a:ea typeface="华文中宋" panose="02010600040101010101" pitchFamily="2" charset="-122"/>
              </a:rPr>
              <a:t>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工件埋入渗剂中，装箱密封后</a:t>
            </a:r>
            <a:r>
              <a:rPr lang="zh-CN" altLang="en-US" b="1" dirty="0"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高温</a:t>
            </a:r>
            <a:r>
              <a:rPr lang="zh-CN" altLang="en-US" b="1" dirty="0">
                <a:ea typeface="华文中宋" panose="02010600040101010101" pitchFamily="2" charset="-122"/>
              </a:rPr>
              <a:t>下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加热渗碳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.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渗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剂：木炭</a:t>
            </a:r>
            <a:endParaRPr lang="zh-CN" altLang="en-US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solidFill>
                <a:srgbClr val="CCFF66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优点</a:t>
            </a:r>
            <a:r>
              <a:rPr lang="zh-CN" altLang="en-US" b="1" dirty="0">
                <a:ea typeface="华文中宋" panose="02010600040101010101" pitchFamily="2" charset="-122"/>
              </a:rPr>
              <a:t>：操作简单；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缺点</a:t>
            </a:r>
            <a:r>
              <a:rPr lang="zh-CN" altLang="en-US" b="1" dirty="0">
                <a:ea typeface="华文中宋" panose="02010600040101010101" pitchFamily="2" charset="-122"/>
              </a:rPr>
              <a:t>：渗速慢，劳动条件差。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7613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15100"/>
            <a:ext cx="52832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28035" name="Rectangle 3"/>
          <p:cNvSpPr/>
          <p:nvPr/>
        </p:nvSpPr>
        <p:spPr>
          <a:xfrm>
            <a:off x="228600" y="1428750"/>
            <a:ext cx="5410200" cy="4953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5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ea typeface="华文中宋" panose="02010600040101010101" pitchFamily="2" charset="-122"/>
              </a:rPr>
              <a:t>工艺：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将工件放入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真空渗碳炉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中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，抽真空后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通入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渗碳气体加热渗碳</a:t>
            </a:r>
            <a:r>
              <a:rPr lang="zh-CN" altLang="en-US" sz="3200" dirty="0">
                <a:ea typeface="华文中宋" panose="02010600040101010101" pitchFamily="2" charset="-122"/>
              </a:rPr>
              <a:t>。</a:t>
            </a: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优点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: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表面质量好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渗碳速度快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。</a:t>
            </a:r>
            <a:endParaRPr lang="en-US" altLang="zh-CN" sz="32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缺点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成本较高</a:t>
            </a:r>
            <a:endParaRPr lang="zh-CN" altLang="en-US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795963" y="2205038"/>
            <a:ext cx="2990850" cy="3624262"/>
            <a:chOff x="3600" y="1632"/>
            <a:chExt cx="1884" cy="2283"/>
          </a:xfrm>
        </p:grpSpPr>
        <p:pic>
          <p:nvPicPr>
            <p:cNvPr id="177156" name="Picture 5" descr="真空渗碳炉10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00" y="1632"/>
              <a:ext cx="1848" cy="2269"/>
            </a:xfrm>
            <a:prstGeom prst="rect">
              <a:avLst/>
            </a:prstGeom>
            <a:noFill/>
            <a:ln w="38100" cap="flat" cmpd="sng">
              <a:solidFill>
                <a:srgbClr val="CC99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7157" name="Text Box 6"/>
            <p:cNvSpPr txBox="1"/>
            <p:nvPr/>
          </p:nvSpPr>
          <p:spPr>
            <a:xfrm>
              <a:off x="4572" y="3684"/>
              <a:ext cx="912" cy="231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zh-CN" altLang="en-US" dirty="0">
                  <a:solidFill>
                    <a:srgbClr val="99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真空渗碳炉</a:t>
              </a:r>
              <a:endParaRPr lang="zh-CN" altLang="en-US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4086" name="Rectangle 7"/>
          <p:cNvSpPr>
            <a:spLocks noGrp="1" noChangeArrowheads="1"/>
          </p:cNvSpPr>
          <p:nvPr>
            <p:ph type="title"/>
          </p:nvPr>
        </p:nvSpPr>
        <p:spPr>
          <a:xfrm>
            <a:off x="2500313" y="0"/>
            <a:ext cx="500062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⑶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真空渗碳法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716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5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44255" y="6519545"/>
            <a:ext cx="499745" cy="33845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28035" name="Rectangle 3"/>
          <p:cNvSpPr/>
          <p:nvPr/>
        </p:nvSpPr>
        <p:spPr>
          <a:xfrm>
            <a:off x="228600" y="1000125"/>
            <a:ext cx="8343900" cy="53816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5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渗碳温度：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900-950℃</a:t>
            </a: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5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渗碳层厚度</a:t>
            </a:r>
            <a:r>
              <a:rPr lang="zh-CN" altLang="en-US" sz="32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（由表面到</a:t>
            </a:r>
            <a:r>
              <a:rPr lang="zh-CN" altLang="en-US" sz="3200" dirty="0">
                <a:ea typeface="华文中宋" panose="02010600040101010101" pitchFamily="2" charset="-122"/>
              </a:rPr>
              <a:t>过</a:t>
            </a:r>
            <a:r>
              <a:rPr lang="zh-CN" altLang="en-US" sz="3200" dirty="0">
                <a:ea typeface="华文中宋" panose="02010600040101010101" pitchFamily="2" charset="-122"/>
              </a:rPr>
              <a:t>渡层</a:t>
            </a:r>
            <a:r>
              <a:rPr lang="zh-CN" altLang="en-US" sz="32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一半处的厚度）：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一般为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0.5-2mm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渗碳层表面含碳量：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以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0.85-1. 05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为最好。</a:t>
            </a: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渗碳缓冷后组织：</a:t>
            </a: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表层为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P+</a:t>
            </a: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网状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Fe</a:t>
            </a:r>
            <a:r>
              <a:rPr lang="en-US" altLang="zh-CN" sz="3200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3200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Ⅱ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; </a:t>
            </a: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心部为</a:t>
            </a:r>
            <a:r>
              <a:rPr lang="en-US" altLang="zh-CN" sz="32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F+P; </a:t>
            </a: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中间为过渡区。</a:t>
            </a:r>
            <a:endParaRPr lang="zh-CN" altLang="en-US" sz="3200" dirty="0">
              <a:solidFill>
                <a:srgbClr val="FFFF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endParaRPr lang="zh-CN" altLang="en-US" sz="32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74086" name="Rectangle 7"/>
          <p:cNvSpPr>
            <a:spLocks noGrp="1" noChangeArrowheads="1"/>
          </p:cNvSpPr>
          <p:nvPr>
            <p:ph type="title"/>
          </p:nvPr>
        </p:nvSpPr>
        <p:spPr>
          <a:xfrm>
            <a:off x="1808012" y="0"/>
            <a:ext cx="5527975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、渗碳温度、组织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5643563" y="4645025"/>
            <a:ext cx="2928937" cy="2212975"/>
            <a:chOff x="2706" y="1538"/>
            <a:chExt cx="2711" cy="2160"/>
          </a:xfrm>
        </p:grpSpPr>
        <p:pic>
          <p:nvPicPr>
            <p:cNvPr id="178182" name="Picture 4" descr="201"/>
            <p:cNvPicPr preferRelativeResize="0"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06" y="1538"/>
              <a:ext cx="2711" cy="2160"/>
            </a:xfrm>
            <a:prstGeom prst="rect">
              <a:avLst/>
            </a:prstGeom>
            <a:solidFill>
              <a:schemeClr val="tx1"/>
            </a:solidFill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8183" name="Rectangle 5"/>
            <p:cNvSpPr>
              <a:spLocks noChangeAspect="1"/>
            </p:cNvSpPr>
            <p:nvPr/>
          </p:nvSpPr>
          <p:spPr>
            <a:xfrm>
              <a:off x="2706" y="3368"/>
              <a:ext cx="2642" cy="33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低碳钢渗碳缓冷后的组织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818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5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71625" y="0"/>
            <a:ext cx="6024627" cy="9286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5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、渗碳后的热处理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9203" name="Rectangle 3"/>
          <p:cNvSpPr>
            <a:spLocks noGrp="1"/>
          </p:cNvSpPr>
          <p:nvPr>
            <p:ph idx="1"/>
          </p:nvPr>
        </p:nvSpPr>
        <p:spPr>
          <a:xfrm>
            <a:off x="323850" y="1000125"/>
            <a:ext cx="8640763" cy="487997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15000"/>
              </a:lnSpc>
            </a:pP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淬火</a:t>
            </a:r>
            <a:r>
              <a:rPr lang="en-US" altLang="zh-CN" b="1" dirty="0">
                <a:solidFill>
                  <a:srgbClr val="CCFF66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b="1" dirty="0">
                <a:solidFill>
                  <a:srgbClr val="CCFF66"/>
                </a:solidFill>
                <a:ea typeface="华文中宋" panose="02010600040101010101" pitchFamily="2" charset="-122"/>
              </a:rPr>
              <a:t>低温回火</a:t>
            </a:r>
            <a:r>
              <a:rPr lang="en-US" altLang="zh-CN" b="1" dirty="0">
                <a:solidFill>
                  <a:srgbClr val="CCFF66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回火温度为</a:t>
            </a:r>
            <a:r>
              <a:rPr lang="en-US" altLang="zh-CN" b="1" dirty="0">
                <a:ea typeface="华文中宋" panose="02010600040101010101" pitchFamily="2" charset="-122"/>
              </a:rPr>
              <a:t>160-180℃. 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淬火方法：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预冷淬火法、一次淬火法、二次淬火法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）预冷淬火法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/>
              <a:t>渗碳后预冷到略高于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Ar1</a:t>
            </a:r>
            <a:r>
              <a:rPr lang="zh-CN" altLang="en-US" b="1" dirty="0"/>
              <a:t>温度直接淬火。</a:t>
            </a:r>
            <a:endParaRPr lang="zh-CN" altLang="en-US" b="1" dirty="0"/>
          </a:p>
        </p:txBody>
      </p:sp>
      <p:grpSp>
        <p:nvGrpSpPr>
          <p:cNvPr id="179204" name="Group 7"/>
          <p:cNvGrpSpPr/>
          <p:nvPr/>
        </p:nvGrpSpPr>
        <p:grpSpPr>
          <a:xfrm>
            <a:off x="5829300" y="4348163"/>
            <a:ext cx="3314700" cy="2509837"/>
            <a:chOff x="3672" y="2387"/>
            <a:chExt cx="2088" cy="1581"/>
          </a:xfrm>
        </p:grpSpPr>
        <p:pic>
          <p:nvPicPr>
            <p:cNvPr id="179205" name="Picture 4" descr="从动齿轮渗碳淬火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72" y="2387"/>
              <a:ext cx="2088" cy="1543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79206" name="Text Box 5"/>
            <p:cNvSpPr txBox="1">
              <a:spLocks noChangeAspect="1"/>
            </p:cNvSpPr>
            <p:nvPr/>
          </p:nvSpPr>
          <p:spPr>
            <a:xfrm>
              <a:off x="5471" y="2432"/>
              <a:ext cx="289" cy="153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经渗碳的机车从动齿轮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79207" name="Picture 6" descr="3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1563" y="4330700"/>
            <a:ext cx="4651375" cy="252730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79209" name="Rectangle 5"/>
          <p:cNvSpPr/>
          <p:nvPr/>
        </p:nvSpPr>
        <p:spPr>
          <a:xfrm>
            <a:off x="2928938" y="4357688"/>
            <a:ext cx="2590800" cy="2794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渗碳后的热处理示意图</a:t>
            </a:r>
            <a:endParaRPr lang="zh-CN" altLang="en-US" dirty="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921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01063" y="6400800"/>
            <a:ext cx="457200" cy="4572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57438" y="115888"/>
            <a:ext cx="6170613" cy="88423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渗碳后的热处理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0227" name="Rectangle 3"/>
          <p:cNvSpPr>
            <a:spLocks noGrp="1"/>
          </p:cNvSpPr>
          <p:nvPr>
            <p:ph idx="1"/>
          </p:nvPr>
        </p:nvSpPr>
        <p:spPr>
          <a:xfrm>
            <a:off x="250825" y="1071563"/>
            <a:ext cx="8569325" cy="5024437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）一次淬火法</a:t>
            </a:r>
            <a:r>
              <a:rPr lang="zh-CN" altLang="en-US" sz="2800" b="1" dirty="0">
                <a:ea typeface="华文中宋" panose="02010600040101010101" pitchFamily="2" charset="-122"/>
              </a:rPr>
              <a:t>：即渗碳缓冷后重新加热淬火。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）二次淬火法：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b="1" dirty="0">
                <a:ea typeface="华文中宋" panose="02010600040101010101" pitchFamily="2" charset="-122"/>
              </a:rPr>
              <a:t>    即渗碳缓冷后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第一次加热为心部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+30-50℃</a:t>
            </a:r>
            <a:r>
              <a:rPr lang="zh-CN" altLang="en-US" sz="2800" b="1" dirty="0"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细化心部</a:t>
            </a:r>
            <a:r>
              <a:rPr lang="zh-CN" altLang="en-US" sz="2800" b="1" dirty="0">
                <a:ea typeface="华文中宋" panose="02010600040101010101" pitchFamily="2" charset="-122"/>
              </a:rPr>
              <a:t>；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第二次加热为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+30-50℃</a:t>
            </a:r>
            <a:r>
              <a:rPr lang="zh-CN" altLang="en-US" sz="2800" b="1" dirty="0"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rgbClr val="CCFF66"/>
                </a:solidFill>
                <a:ea typeface="华文中宋" panose="02010600040101010101" pitchFamily="2" charset="-122"/>
              </a:rPr>
              <a:t>细化表层。</a:t>
            </a:r>
            <a:r>
              <a:rPr lang="zh-CN" altLang="en-US" sz="2800" b="1" dirty="0">
                <a:ea typeface="华文中宋" panose="02010600040101010101" pitchFamily="2" charset="-122"/>
              </a:rPr>
              <a:t>   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357313" y="3571875"/>
            <a:ext cx="7543800" cy="2971800"/>
            <a:chOff x="576" y="2112"/>
            <a:chExt cx="4752" cy="2041"/>
          </a:xfrm>
        </p:grpSpPr>
        <p:pic>
          <p:nvPicPr>
            <p:cNvPr id="180229" name="Picture 5" descr="39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76" y="2112"/>
              <a:ext cx="4711" cy="2041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80230" name="Rectangle 6"/>
            <p:cNvSpPr/>
            <p:nvPr/>
          </p:nvSpPr>
          <p:spPr>
            <a:xfrm>
              <a:off x="3696" y="2112"/>
              <a:ext cx="1632" cy="192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渗碳后的热处理示意图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023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400800"/>
            <a:ext cx="528638" cy="4572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/>
          </p:cNvSpPr>
          <p:nvPr>
            <p:ph idx="1"/>
          </p:nvPr>
        </p:nvSpPr>
        <p:spPr>
          <a:xfrm>
            <a:off x="762000" y="285750"/>
            <a:ext cx="8382000" cy="60198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常用方法是渗碳缓冷后，重新加热到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Ac</a:t>
            </a:r>
            <a:r>
              <a:rPr lang="en-US" altLang="zh-CN" sz="2800" b="1" baseline="-30000" dirty="0">
                <a:solidFill>
                  <a:srgbClr val="CCFF33"/>
                </a:solidFill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+30-50℃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淬火</a:t>
            </a:r>
            <a:r>
              <a:rPr lang="en-US" altLang="zh-CN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sz="2800" b="1" dirty="0">
                <a:solidFill>
                  <a:srgbClr val="CCFF33"/>
                </a:solidFill>
                <a:ea typeface="华文中宋" panose="02010600040101010101" pitchFamily="2" charset="-122"/>
              </a:rPr>
              <a:t>低温回火。</a:t>
            </a:r>
            <a:r>
              <a:rPr lang="zh-CN" altLang="en-US" sz="2800" b="1" dirty="0">
                <a:ea typeface="华文中宋" panose="02010600040101010101" pitchFamily="2" charset="-122"/>
              </a:rPr>
              <a:t>此时组织为：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表层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颗粒状碳化物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+A’(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少量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心部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：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zh-CN" altLang="en-US" sz="2800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回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+F</a:t>
            </a: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（淬透时）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或 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F+S</a:t>
            </a:r>
            <a:r>
              <a:rPr lang="zh-CN" altLang="en-US" sz="2800" b="1" dirty="0">
                <a:solidFill>
                  <a:schemeClr val="accent1"/>
                </a:solidFill>
                <a:ea typeface="华文中宋" panose="02010600040101010101" pitchFamily="2" charset="-122"/>
              </a:rPr>
              <a:t>（未淬透时）</a:t>
            </a:r>
            <a:endParaRPr lang="zh-CN" altLang="en-US" sz="2800" b="1" dirty="0">
              <a:solidFill>
                <a:schemeClr val="accent1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685800" y="3276600"/>
            <a:ext cx="7916863" cy="3017838"/>
            <a:chOff x="432" y="2064"/>
            <a:chExt cx="4987" cy="1901"/>
          </a:xfrm>
        </p:grpSpPr>
        <p:pic>
          <p:nvPicPr>
            <p:cNvPr id="181252" name="Picture 4" descr="info-3渗碳淬火后表层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2" y="2064"/>
              <a:ext cx="2538" cy="1901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81253" name="Text Box 5"/>
            <p:cNvSpPr txBox="1">
              <a:spLocks noChangeAspect="1"/>
            </p:cNvSpPr>
            <p:nvPr/>
          </p:nvSpPr>
          <p:spPr>
            <a:xfrm>
              <a:off x="611" y="3716"/>
              <a:ext cx="1645" cy="231"/>
            </a:xfrm>
            <a:prstGeom prst="rect">
              <a:avLst/>
            </a:prstGeom>
            <a:solidFill>
              <a:schemeClr val="bg2">
                <a:alpha val="50194"/>
              </a:schemeClr>
            </a:solidFill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渗碳淬火后的表层组织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81254" name="Picture 7" descr="M+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3" y="2064"/>
              <a:ext cx="2396" cy="1901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81255" name="Text Box 8"/>
            <p:cNvSpPr txBox="1">
              <a:spLocks noChangeAspect="1"/>
            </p:cNvSpPr>
            <p:nvPr/>
          </p:nvSpPr>
          <p:spPr>
            <a:xfrm>
              <a:off x="4586" y="2064"/>
              <a:ext cx="550" cy="250"/>
            </a:xfrm>
            <a:prstGeom prst="rect">
              <a:avLst/>
            </a:prstGeom>
            <a:solidFill>
              <a:schemeClr val="bg2">
                <a:alpha val="50194"/>
              </a:schemeClr>
            </a:solidFill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M+F</a:t>
              </a:r>
              <a:endParaRPr lang="en-US" altLang="zh-CN" sz="2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8125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dvAuto="1000" build="p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93760" y="6558280"/>
            <a:ext cx="650240" cy="2997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xfrm>
            <a:off x="2857500" y="0"/>
            <a:ext cx="2786063" cy="642938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zh-CN" altLang="en-US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钢的氮化</a:t>
            </a:r>
            <a:r>
              <a:rPr lang="zh-CN" altLang="en-US" sz="3200" b="1" strike="noStrike" noProof="1"/>
              <a:t> </a:t>
            </a:r>
            <a:endParaRPr lang="zh-CN" altLang="en-US" sz="3200" b="1" strike="noStrike" noProof="1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57250"/>
            <a:ext cx="4557713" cy="2571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工艺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：向钢的表面渗入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氮原子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的过程。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6334125" y="2928938"/>
            <a:ext cx="2727982" cy="3770554"/>
            <a:chOff x="3235" y="1242"/>
            <a:chExt cx="2032" cy="2681"/>
          </a:xfrm>
        </p:grpSpPr>
        <p:pic>
          <p:nvPicPr>
            <p:cNvPr id="182277" name="Picture 5" descr="井式气体氮化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35" y="1242"/>
              <a:ext cx="2032" cy="2358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82278" name="Text Box 6"/>
            <p:cNvSpPr txBox="1">
              <a:spLocks noChangeAspect="1"/>
            </p:cNvSpPr>
            <p:nvPr/>
          </p:nvSpPr>
          <p:spPr>
            <a:xfrm>
              <a:off x="3585" y="3660"/>
              <a:ext cx="1421" cy="263"/>
            </a:xfrm>
            <a:prstGeom prst="rect">
              <a:avLst/>
            </a:prstGeom>
            <a:solidFill>
              <a:schemeClr val="bg2">
                <a:alpha val="50194"/>
              </a:schemeClr>
            </a:solidFill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pPr algn="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井式气体氮化炉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7596" name="Rectangle 12"/>
          <p:cNvSpPr>
            <a:spLocks noChangeArrowheads="1"/>
          </p:cNvSpPr>
          <p:nvPr/>
        </p:nvSpPr>
        <p:spPr bwMode="auto">
          <a:xfrm>
            <a:off x="285750" y="2214563"/>
            <a:ext cx="5915025" cy="419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dirty="0">
                <a:latin typeface="+mn-lt"/>
                <a:ea typeface="华文中宋" panose="02010600040101010101" pitchFamily="2" charset="-122"/>
              </a:rPr>
              <a:t>1</a:t>
            </a:r>
            <a:r>
              <a:rPr kumimoji="1" lang="zh-CN" altLang="en-US" sz="3200" dirty="0">
                <a:latin typeface="+mn-lt"/>
                <a:ea typeface="华文中宋" panose="02010600040101010101" pitchFamily="2" charset="-122"/>
              </a:rPr>
              <a:t>、氮化用钢</a:t>
            </a:r>
            <a:endParaRPr kumimoji="1" lang="zh-CN" altLang="en-US" sz="3200" dirty="0">
              <a:latin typeface="+mn-lt"/>
              <a:ea typeface="华文中宋" panose="0201060004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为含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Cr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Mo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Al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Ti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V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中碳钢。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常用钢号：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38CrMoAl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。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、氮化温度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：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500-570℃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CFFCC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氮化层厚度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不超过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CFF66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0.6-0.7mm.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5572125" y="857250"/>
            <a:ext cx="3429000" cy="1828800"/>
            <a:chOff x="2960" y="336"/>
            <a:chExt cx="2585" cy="1152"/>
          </a:xfrm>
        </p:grpSpPr>
        <p:pic>
          <p:nvPicPr>
            <p:cNvPr id="182281" name="Picture 11" descr="38CrMoAl Rod_Guid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0" y="336"/>
              <a:ext cx="2585" cy="1123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82282" name="Text Box 13"/>
            <p:cNvSpPr txBox="1"/>
            <p:nvPr/>
          </p:nvSpPr>
          <p:spPr>
            <a:xfrm>
              <a:off x="3552" y="1200"/>
              <a:ext cx="14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38CrMoAl</a:t>
              </a:r>
              <a:r>
                <a:rPr lang="zh-CN" altLang="en-US" sz="24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棒</a:t>
              </a:r>
              <a:endPara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2284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7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7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/>
      <p:bldP spid="67587" grpId="0" advAuto="1000" build="p"/>
      <p:bldP spid="67596" grpId="0" advAuto="1000" build="p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54085" y="6621145"/>
            <a:ext cx="564515" cy="236855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428875" y="214313"/>
            <a:ext cx="4786313" cy="7143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、常用氮化方法</a:t>
            </a:r>
            <a:b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7596" name="Rectangle 12"/>
          <p:cNvSpPr>
            <a:spLocks noChangeArrowheads="1"/>
          </p:cNvSpPr>
          <p:nvPr/>
        </p:nvSpPr>
        <p:spPr bwMode="auto">
          <a:xfrm>
            <a:off x="228600" y="1000125"/>
            <a:ext cx="4772025" cy="5468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气体氮化法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离子氮化法。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(1)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气体氮化法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与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气体渗碳法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类似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，渗剂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氨。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(2)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离子氮化法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是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在电场作用下，使电离的氮离子高速冲击作为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阴极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的工件。与气体氮化相比，氮化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时间短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，氮化层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脆性小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。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5318125" y="978446"/>
            <a:ext cx="3794125" cy="5426075"/>
            <a:chOff x="3168" y="384"/>
            <a:chExt cx="2390" cy="3418"/>
          </a:xfrm>
        </p:grpSpPr>
        <p:grpSp>
          <p:nvGrpSpPr>
            <p:cNvPr id="183302" name="Group 18"/>
            <p:cNvGrpSpPr/>
            <p:nvPr/>
          </p:nvGrpSpPr>
          <p:grpSpPr>
            <a:xfrm>
              <a:off x="3168" y="384"/>
              <a:ext cx="2380" cy="1762"/>
              <a:chOff x="3168" y="384"/>
              <a:chExt cx="2380" cy="1762"/>
            </a:xfrm>
          </p:grpSpPr>
          <p:pic>
            <p:nvPicPr>
              <p:cNvPr id="183303" name="Picture 11" descr="离子氮化炉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168" y="384"/>
                <a:ext cx="2380" cy="1751"/>
              </a:xfrm>
              <a:prstGeom prst="rect">
                <a:avLst/>
              </a:prstGeom>
              <a:noFill/>
              <a:ln w="28575" cap="flat" cmpd="sng">
                <a:solidFill>
                  <a:srgbClr val="FF99CC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83304" name="Text Box 13"/>
              <p:cNvSpPr txBox="1"/>
              <p:nvPr/>
            </p:nvSpPr>
            <p:spPr>
              <a:xfrm>
                <a:off x="4608" y="1896"/>
                <a:ext cx="93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离子氮化炉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83305" name="Group 19"/>
            <p:cNvGrpSpPr/>
            <p:nvPr/>
          </p:nvGrpSpPr>
          <p:grpSpPr>
            <a:xfrm>
              <a:off x="3168" y="2256"/>
              <a:ext cx="2390" cy="1546"/>
              <a:chOff x="3168" y="2256"/>
              <a:chExt cx="2390" cy="1546"/>
            </a:xfrm>
          </p:grpSpPr>
          <p:pic>
            <p:nvPicPr>
              <p:cNvPr id="183306" name="Picture 15" descr="ion nitriding0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68" y="2256"/>
                <a:ext cx="2380" cy="1533"/>
              </a:xfrm>
              <a:prstGeom prst="rect">
                <a:avLst/>
              </a:prstGeom>
              <a:noFill/>
              <a:ln w="28575" cap="flat" cmpd="sng">
                <a:solidFill>
                  <a:srgbClr val="33CCCC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83307" name="Text Box 17"/>
              <p:cNvSpPr txBox="1"/>
              <p:nvPr/>
            </p:nvSpPr>
            <p:spPr>
              <a:xfrm>
                <a:off x="4608" y="3552"/>
                <a:ext cx="95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r"/>
                <a:r>
                  <a:rPr lang="zh-CN" altLang="en-US" sz="2000" dirty="0"/>
                  <a:t>离子氮化</a:t>
                </a:r>
                <a:endParaRPr lang="zh-CN" altLang="en-US" sz="2000" dirty="0"/>
              </a:p>
            </p:txBody>
          </p:sp>
        </p:grpSp>
      </p:grpSp>
      <p:sp>
        <p:nvSpPr>
          <p:cNvPr id="18330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7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/>
      <p:bldP spid="67596" grpId="0" advAuto="1000" build="p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/>
          </p:cNvSpPr>
          <p:nvPr>
            <p:ph type="title"/>
          </p:nvPr>
        </p:nvSpPr>
        <p:spPr>
          <a:xfrm>
            <a:off x="76200" y="609600"/>
            <a:ext cx="609600" cy="2590800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sz="3200" b="1" strike="noStrike" noProof="1">
                <a:solidFill>
                  <a:schemeClr val="folHlink"/>
                </a:solidFill>
                <a:ea typeface="华文中宋" panose="02010600040101010101" pitchFamily="2" charset="-122"/>
              </a:rPr>
              <a:t>离子氮化法</a:t>
            </a:r>
            <a:endParaRPr lang="zh-CN" altLang="en-US" sz="3200" b="1" strike="noStrike" noProof="1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209924" name="HUAXUER2.MPG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1071563" y="0"/>
            <a:ext cx="7858125" cy="6427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99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0992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9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99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9924"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2488" y="6510338"/>
            <a:ext cx="671512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214313"/>
            <a:ext cx="7000875" cy="7143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、氮化的特点及应用</a:t>
            </a:r>
            <a:b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7596" name="Rectangle 12"/>
          <p:cNvSpPr>
            <a:spLocks noChangeArrowheads="1"/>
          </p:cNvSpPr>
          <p:nvPr/>
        </p:nvSpPr>
        <p:spPr bwMode="auto">
          <a:xfrm>
            <a:off x="228600" y="1000125"/>
            <a:ext cx="8915400" cy="5468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⑴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氮化件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表面硬度高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6F7FE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(HV1000-2000)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，耐磨性高。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⑵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疲劳强度高：由于表面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存在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压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应力。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1147763" y="3143250"/>
            <a:ext cx="7616825" cy="3343275"/>
            <a:chOff x="576" y="1740"/>
            <a:chExt cx="4798" cy="2106"/>
          </a:xfrm>
        </p:grpSpPr>
        <p:grpSp>
          <p:nvGrpSpPr>
            <p:cNvPr id="185350" name="Group 11"/>
            <p:cNvGrpSpPr/>
            <p:nvPr/>
          </p:nvGrpSpPr>
          <p:grpSpPr>
            <a:xfrm>
              <a:off x="3256" y="1740"/>
              <a:ext cx="2118" cy="2076"/>
              <a:chOff x="3256" y="1740"/>
              <a:chExt cx="2118" cy="2076"/>
            </a:xfrm>
          </p:grpSpPr>
          <p:pic>
            <p:nvPicPr>
              <p:cNvPr id="185351" name="Picture 5" descr="氮化层组织（S45C钢）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256" y="1776"/>
                <a:ext cx="2074" cy="2040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85352" name="Text Box 6"/>
              <p:cNvSpPr txBox="1">
                <a:spLocks noChangeAspect="1"/>
              </p:cNvSpPr>
              <p:nvPr/>
            </p:nvSpPr>
            <p:spPr>
              <a:xfrm>
                <a:off x="5085" y="1740"/>
                <a:ext cx="289" cy="86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anchor="t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氮化层组织</a:t>
                </a:r>
                <a:endPara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85353" name="Group 12"/>
            <p:cNvGrpSpPr/>
            <p:nvPr/>
          </p:nvGrpSpPr>
          <p:grpSpPr>
            <a:xfrm>
              <a:off x="576" y="1776"/>
              <a:ext cx="2607" cy="2070"/>
              <a:chOff x="576" y="1776"/>
              <a:chExt cx="2607" cy="2070"/>
            </a:xfrm>
          </p:grpSpPr>
          <p:pic>
            <p:nvPicPr>
              <p:cNvPr id="185354" name="Picture 8" descr="38CrMoAl氮化层硬度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76" y="1776"/>
                <a:ext cx="2607" cy="2041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85355" name="Text Box 9"/>
              <p:cNvSpPr txBox="1">
                <a:spLocks noChangeAspect="1"/>
              </p:cNvSpPr>
              <p:nvPr/>
            </p:nvSpPr>
            <p:spPr>
              <a:xfrm>
                <a:off x="601" y="3634"/>
                <a:ext cx="1392" cy="21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38CrMoAl</a:t>
                </a:r>
                <a:r>
                  <a:rPr lang="zh-CN" altLang="en-US" sz="16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氮化层硬度</a:t>
                </a:r>
                <a:endParaRPr lang="zh-CN" altLang="en-US" sz="1600" dirty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8535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/>
      <p:bldP spid="67596" grpId="0" advAuto="1000" build="p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15100"/>
            <a:ext cx="60007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214313"/>
            <a:ext cx="7000875" cy="71437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、氮化的特点及应用</a:t>
            </a:r>
            <a:b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</a:b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7596" name="Rectangle 12"/>
          <p:cNvSpPr/>
          <p:nvPr/>
        </p:nvSpPr>
        <p:spPr>
          <a:xfrm>
            <a:off x="228600" y="714375"/>
            <a:ext cx="8915400" cy="591375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⑶ 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工件变形小：因氮化温度低，氮化后不需热处理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. 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en-US" altLang="zh-CN" sz="2800" dirty="0">
                <a:solidFill>
                  <a:schemeClr val="accent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⑷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耐蚀性好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.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因表层形成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氮化物化学稳定性高。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solidFill>
                  <a:srgbClr val="FFCC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氮化的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缺点</a:t>
            </a:r>
            <a:r>
              <a:rPr lang="zh-CN" altLang="en-US" sz="2800" dirty="0">
                <a:solidFill>
                  <a:srgbClr val="FFCC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工艺复杂，成本高，氮化层薄。</a:t>
            </a:r>
            <a:endParaRPr lang="en-US" altLang="zh-CN" sz="2800" dirty="0">
              <a:solidFill>
                <a:srgbClr val="CCFF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ea typeface="华文中宋" panose="02010600040101010101" pitchFamily="2" charset="-122"/>
              </a:rPr>
              <a:t>应用</a:t>
            </a:r>
            <a:r>
              <a:rPr lang="zh-CN" altLang="en-US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2800" dirty="0">
                <a:solidFill>
                  <a:srgbClr val="CCFF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耐磨性、精度要求高的零件及耐热、耐磨及耐蚀件。如仪表的小轴、轻载齿轮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及</a:t>
            </a:r>
            <a:r>
              <a:rPr lang="zh-CN" altLang="en-US" sz="2800" dirty="0">
                <a:solidFill>
                  <a:srgbClr val="CCFF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重要的曲轴等。</a:t>
            </a:r>
            <a:r>
              <a:rPr lang="zh-CN" altLang="en-US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>
          <a:xfrm>
            <a:off x="714375" y="4143375"/>
            <a:ext cx="8140119" cy="2380931"/>
            <a:chOff x="432" y="2736"/>
            <a:chExt cx="5141" cy="1504"/>
          </a:xfrm>
        </p:grpSpPr>
        <p:pic>
          <p:nvPicPr>
            <p:cNvPr id="186374" name="Picture 3" descr="表面氮化机车曲轴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44" y="2736"/>
              <a:ext cx="3029" cy="1498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86375" name="Picture 4" descr="缝纫机用氮化件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" y="2736"/>
              <a:ext cx="2003" cy="1504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86376" name="Text Box 5"/>
            <p:cNvSpPr txBox="1">
              <a:spLocks noChangeAspect="1"/>
            </p:cNvSpPr>
            <p:nvPr/>
          </p:nvSpPr>
          <p:spPr>
            <a:xfrm>
              <a:off x="432" y="3912"/>
              <a:ext cx="16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缝纫机用氮化件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377" name="Text Box 6"/>
            <p:cNvSpPr txBox="1">
              <a:spLocks noChangeAspect="1"/>
            </p:cNvSpPr>
            <p:nvPr/>
          </p:nvSpPr>
          <p:spPr>
            <a:xfrm>
              <a:off x="3312" y="3900"/>
              <a:ext cx="17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经氮化的机车曲轴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637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7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/>
      <p:bldP spid="67596" grpId="0" advAuto="1000" build="p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83680"/>
            <a:ext cx="600075" cy="2743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646" y="836784"/>
            <a:ext cx="8496708" cy="4968414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第七节 表面处理新技术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lang="en-US" altLang="zh-CN" sz="6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New Techniques of Surface Treatment</a:t>
            </a:r>
            <a:endParaRPr kumimoji="1" lang="zh-CN" altLang="en-US" sz="6600" b="1" i="1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740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83680"/>
            <a:ext cx="600075" cy="2743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0"/>
            <a:ext cx="667226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第七节  表面处理新技术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3048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近年来，金属材料表面处理新技术得到了迅速发展，开发出许多新的工艺方法，这里只介绍主要的几种。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endParaRPr lang="zh-CN" altLang="en-US" b="1" dirty="0">
              <a:solidFill>
                <a:schemeClr val="folHlink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1752600" y="3575050"/>
            <a:ext cx="5791200" cy="2901950"/>
            <a:chOff x="1104" y="2220"/>
            <a:chExt cx="3648" cy="1828"/>
          </a:xfrm>
        </p:grpSpPr>
        <p:pic>
          <p:nvPicPr>
            <p:cNvPr id="187397" name="Picture 5" descr="全方位离子注入与沉积设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04" y="2220"/>
              <a:ext cx="3648" cy="1828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87398" name="Text Box 6"/>
            <p:cNvSpPr txBox="1"/>
            <p:nvPr/>
          </p:nvSpPr>
          <p:spPr>
            <a:xfrm>
              <a:off x="2208" y="3762"/>
              <a:ext cx="168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全方位离子注入与沉积设备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740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/>
      <p:bldP spid="71683" grpId="0" advAuto="1000" build="p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67090" y="6541770"/>
            <a:ext cx="661670" cy="31623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4500" y="0"/>
            <a:ext cx="6672263" cy="1000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第七节  表面处理新技术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214630" y="1214755"/>
            <a:ext cx="8686800" cy="468122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一、热喷涂技术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二、气相沉积技术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三、三束表面改性技术</a:t>
            </a:r>
            <a:r>
              <a:rPr lang="zh-CN" altLang="en-US" sz="3600" b="1" dirty="0"/>
              <a:t> 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b="1" dirty="0">
              <a:solidFill>
                <a:schemeClr val="folHlink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18842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/>
      <p:bldP spid="71683" grpId="0" advAuto="1000" build="p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8505" y="6515100"/>
            <a:ext cx="60007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xfrm>
            <a:off x="467658" y="1340826"/>
            <a:ext cx="8136678" cy="2016168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sz="6600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一、热喷涂技术</a:t>
            </a:r>
            <a:br>
              <a:rPr lang="en-US" altLang="zh-CN" sz="6600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en-US" altLang="zh-CN" sz="6000" b="1" i="1" dirty="0">
                <a:effectLst/>
                <a:latin typeface="+mn-lt"/>
              </a:rPr>
              <a:t>Hot spraying technology</a:t>
            </a:r>
            <a:r>
              <a:rPr lang="zh-CN" altLang="en-US" sz="6000" b="1" i="1" strike="noStrike" noProof="1">
                <a:latin typeface="+mn-lt"/>
              </a:rPr>
              <a:t> </a:t>
            </a:r>
            <a:endParaRPr lang="zh-CN" altLang="en-US" sz="6000" b="1" i="1" strike="noStrike" noProof="1">
              <a:latin typeface="+mn-lt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2990056" y="3645018"/>
            <a:ext cx="3163887" cy="2643187"/>
            <a:chOff x="2976" y="1920"/>
            <a:chExt cx="2353" cy="1814"/>
          </a:xfrm>
        </p:grpSpPr>
        <p:pic>
          <p:nvPicPr>
            <p:cNvPr id="189446" name="Picture 4" descr="等离子喷涂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76" y="1920"/>
              <a:ext cx="2353" cy="18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9447" name="Text Box 6"/>
            <p:cNvSpPr txBox="1">
              <a:spLocks noChangeAspect="1"/>
            </p:cNvSpPr>
            <p:nvPr/>
          </p:nvSpPr>
          <p:spPr>
            <a:xfrm>
              <a:off x="3021" y="1965"/>
              <a:ext cx="1496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等离子热喷涂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944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8505" y="6515100"/>
            <a:ext cx="60007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xfrm>
            <a:off x="2286000" y="635"/>
            <a:ext cx="4572000" cy="857250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zh-CN" altLang="en-US" b="1" strike="noStrike" noProof="1">
                <a:latin typeface="Times New Roman" panose="02020603050405020304" pitchFamily="18" charset="0"/>
                <a:ea typeface="华文中宋" panose="02010600040101010101" pitchFamily="2" charset="-122"/>
              </a:rPr>
              <a:t>一、热喷涂技术</a:t>
            </a:r>
            <a:r>
              <a:rPr lang="zh-CN" altLang="en-US" b="1" strike="noStrike" noProof="1"/>
              <a:t> </a:t>
            </a:r>
            <a:endParaRPr lang="zh-CN" altLang="en-US" b="1" strike="noStrike" noProof="1"/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228600" y="857885"/>
            <a:ext cx="8382000" cy="550989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热喷涂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kern="1200" dirty="0">
                <a:latin typeface="楷体_GB2312" pitchFamily="49" charset="-122"/>
                <a:ea typeface="华文中宋" panose="02010600040101010101" pitchFamily="2" charset="-122"/>
              </a:rPr>
              <a:t>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热喷涂材料加热</a:t>
            </a:r>
            <a:r>
              <a:rPr lang="zh-CN" altLang="en-US" b="1" kern="1200" dirty="0">
                <a:latin typeface="楷体_GB2312" pitchFamily="49" charset="-122"/>
                <a:ea typeface="华文中宋" panose="02010600040101010101" pitchFamily="2" charset="-122"/>
              </a:rPr>
              <a:t>至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熔化</a:t>
            </a:r>
            <a:r>
              <a:rPr lang="zh-CN" altLang="en-US" b="1" kern="1200" dirty="0">
                <a:latin typeface="楷体_GB2312" pitchFamily="49" charset="-122"/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半熔化状态，</a:t>
            </a:r>
            <a:r>
              <a:rPr lang="zh-CN" altLang="en-US" b="1" kern="1200" dirty="0">
                <a:latin typeface="楷体_GB2312" pitchFamily="49" charset="-122"/>
                <a:ea typeface="华文中宋" panose="02010600040101010101" pitchFamily="2" charset="-122"/>
              </a:rPr>
              <a:t>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高压气流</a:t>
            </a:r>
            <a:r>
              <a:rPr lang="zh-CN" altLang="en-US" b="1" kern="1200" dirty="0">
                <a:latin typeface="楷体_GB2312" pitchFamily="49" charset="-122"/>
                <a:ea typeface="华文中宋" panose="02010600040101010101" pitchFamily="2" charset="-122"/>
              </a:rPr>
              <a:t>使其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雾化</a:t>
            </a:r>
            <a:r>
              <a:rPr lang="zh-CN" altLang="en-US" b="1" kern="1200" dirty="0">
                <a:latin typeface="楷体_GB2312" pitchFamily="49" charset="-122"/>
                <a:ea typeface="华文中宋" panose="02010600040101010101" pitchFamily="2" charset="-122"/>
              </a:rPr>
              <a:t>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喷射</a:t>
            </a:r>
            <a:r>
              <a:rPr lang="zh-CN" altLang="en-US" b="1" kern="1200" dirty="0">
                <a:latin typeface="楷体_GB2312" pitchFamily="49" charset="-122"/>
                <a:ea typeface="华文中宋" panose="02010600040101010101" pitchFamily="2" charset="-122"/>
              </a:rPr>
              <a:t>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工件表面</a:t>
            </a:r>
            <a:r>
              <a:rPr lang="zh-CN" altLang="en-US" b="1" kern="1200" dirty="0">
                <a:latin typeface="楷体_GB2312" pitchFamily="49" charset="-122"/>
                <a:ea typeface="华文中宋" panose="02010600040101010101" pitchFamily="2" charset="-122"/>
              </a:rPr>
              <a:t>形成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涂层的工艺。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72709" name="Rectangle 5"/>
          <p:cNvSpPr/>
          <p:nvPr/>
        </p:nvSpPr>
        <p:spPr>
          <a:xfrm>
            <a:off x="228600" y="2748280"/>
            <a:ext cx="5716270" cy="376618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solidFill>
                  <a:srgbClr val="CCFF66"/>
                </a:solidFill>
                <a:latin typeface="楷体_GB2312" pitchFamily="49" charset="-122"/>
                <a:ea typeface="华文中宋" panose="02010600040101010101" pitchFamily="2" charset="-122"/>
              </a:rPr>
              <a:t>利用热喷涂技术可改善材料的耐磨性、耐蚀性、耐热性及绝缘性等。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solidFill>
                  <a:srgbClr val="CCFF66"/>
                </a:solidFill>
                <a:latin typeface="楷体_GB2312" pitchFamily="49" charset="-122"/>
                <a:ea typeface="华文中宋" panose="02010600040101010101" pitchFamily="2" charset="-122"/>
              </a:rPr>
              <a:t>应用：</a:t>
            </a:r>
            <a:r>
              <a:rPr lang="zh-CN" altLang="en-US" sz="3200" dirty="0">
                <a:solidFill>
                  <a:schemeClr val="tx1"/>
                </a:solidFill>
                <a:latin typeface="楷体_GB2312" pitchFamily="49" charset="-122"/>
                <a:ea typeface="华文中宋" panose="02010600040101010101" pitchFamily="2" charset="-122"/>
              </a:rPr>
              <a:t>广泛用于包括航空航天、原子能、电子等尖端技术在内的几乎所有领域。</a:t>
            </a:r>
            <a:endParaRPr lang="zh-CN" altLang="en-US" sz="3200" dirty="0">
              <a:solidFill>
                <a:schemeClr val="tx1"/>
              </a:solidFill>
              <a:latin typeface="楷体_GB2312" pitchFamily="49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5944553" y="2466023"/>
            <a:ext cx="3163887" cy="2643187"/>
            <a:chOff x="2976" y="1920"/>
            <a:chExt cx="2353" cy="1814"/>
          </a:xfrm>
        </p:grpSpPr>
        <p:pic>
          <p:nvPicPr>
            <p:cNvPr id="189446" name="Picture 4" descr="等离子喷涂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76" y="1920"/>
              <a:ext cx="2353" cy="18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9447" name="Text Box 6"/>
            <p:cNvSpPr txBox="1">
              <a:spLocks noChangeAspect="1"/>
            </p:cNvSpPr>
            <p:nvPr/>
          </p:nvSpPr>
          <p:spPr>
            <a:xfrm>
              <a:off x="3021" y="1965"/>
              <a:ext cx="1496" cy="2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等离子热喷涂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944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72707" grpId="0" advAuto="1000" build="p"/>
      <p:bldP spid="72709" grpId="0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72250"/>
            <a:ext cx="528320" cy="2857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9263" y="0"/>
            <a:ext cx="5276850" cy="1033463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1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、涂层的结构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0" y="847090"/>
            <a:ext cx="6000750" cy="572516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dirty="0">
                <a:ea typeface="华文中宋" panose="02010600040101010101" pitchFamily="2" charset="-122"/>
              </a:rPr>
              <a:t>热喷涂层是由无数变形粒子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相互交错呈波浪式堆叠</a:t>
            </a:r>
            <a:r>
              <a:rPr lang="zh-CN" altLang="en-US" dirty="0">
                <a:ea typeface="华文中宋" panose="02010600040101010101" pitchFamily="2" charset="-122"/>
              </a:rPr>
              <a:t>在一起的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层状结构</a:t>
            </a:r>
            <a:r>
              <a:rPr lang="zh-CN" altLang="en-US" dirty="0">
                <a:ea typeface="华文中宋" panose="02010600040101010101" pitchFamily="2" charset="-122"/>
              </a:rPr>
              <a:t>，粒子之间存在着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孔隙</a:t>
            </a:r>
            <a:r>
              <a:rPr lang="zh-CN" altLang="en-US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氧化物夹杂</a:t>
            </a:r>
            <a:r>
              <a:rPr lang="zh-CN" altLang="en-US" dirty="0">
                <a:ea typeface="华文中宋" panose="02010600040101010101" pitchFamily="2" charset="-122"/>
              </a:rPr>
              <a:t>缺陷。</a:t>
            </a:r>
            <a:endParaRPr lang="zh-CN" altLang="en-US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ea typeface="华文中宋" panose="02010600040101010101" pitchFamily="2" charset="-122"/>
              </a:rPr>
              <a:t>喷涂层与基体之间以及喷涂层中颗粒之间主要是通过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镶嵌、咬合、填塞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机械形式</a:t>
            </a:r>
            <a:r>
              <a:rPr lang="zh-CN" altLang="en-US" dirty="0">
                <a:ea typeface="华文中宋" panose="02010600040101010101" pitchFamily="2" charset="-122"/>
              </a:rPr>
              <a:t>连接的，其次是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微区冶金结合</a:t>
            </a:r>
            <a:r>
              <a:rPr lang="zh-CN" altLang="en-US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化学键</a:t>
            </a:r>
            <a:r>
              <a:rPr lang="zh-CN" altLang="en-US" dirty="0">
                <a:ea typeface="华文中宋" panose="02010600040101010101" pitchFamily="2" charset="-122"/>
              </a:rPr>
              <a:t>结合。</a:t>
            </a:r>
            <a:endParaRPr lang="zh-CN" altLang="en-US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800" dirty="0">
              <a:ea typeface="华文中宋" panose="02010600040101010101" pitchFamily="2" charset="-122"/>
            </a:endParaRPr>
          </a:p>
        </p:txBody>
      </p:sp>
      <p:sp>
        <p:nvSpPr>
          <p:cNvPr id="72709" name="Rectangle 5"/>
          <p:cNvSpPr/>
          <p:nvPr/>
        </p:nvSpPr>
        <p:spPr>
          <a:xfrm>
            <a:off x="714375" y="2786063"/>
            <a:ext cx="4267200" cy="3581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algn="ctr">
              <a:lnSpc>
                <a:spcPct val="130000"/>
              </a:lnSpc>
            </a:pP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>
          <a:xfrm>
            <a:off x="6215063" y="1928813"/>
            <a:ext cx="2928937" cy="2892425"/>
            <a:chOff x="2930" y="696"/>
            <a:chExt cx="2434" cy="2403"/>
          </a:xfrm>
        </p:grpSpPr>
        <p:pic>
          <p:nvPicPr>
            <p:cNvPr id="190471" name="Picture 4" descr="Image11热喷涂组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30" y="720"/>
              <a:ext cx="2398" cy="2379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0472" name="Text Box 5"/>
            <p:cNvSpPr txBox="1">
              <a:spLocks noChangeAspect="1"/>
            </p:cNvSpPr>
            <p:nvPr/>
          </p:nvSpPr>
          <p:spPr>
            <a:xfrm>
              <a:off x="3891" y="696"/>
              <a:ext cx="1473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热喷涂层组织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047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72707" grpId="0" advAuto="1000" build="p"/>
      <p:bldP spid="72709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5100"/>
            <a:ext cx="52895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4754" name="Rectangle 2"/>
          <p:cNvSpPr>
            <a:spLocks noGrp="1"/>
          </p:cNvSpPr>
          <p:nvPr>
            <p:ph idx="1"/>
          </p:nvPr>
        </p:nvSpPr>
        <p:spPr>
          <a:xfrm>
            <a:off x="373380" y="1268820"/>
            <a:ext cx="4186237" cy="607218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常用的热喷涂方法有：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 火焰喷涂</a:t>
            </a:r>
            <a:r>
              <a:rPr lang="en-US" altLang="zh-CN" sz="2800" b="1" dirty="0">
                <a:ea typeface="华文中宋" panose="02010600040101010101" pitchFamily="2" charset="-122"/>
              </a:rPr>
              <a:t>:  </a:t>
            </a:r>
            <a:r>
              <a:rPr lang="zh-CN" altLang="en-US" sz="2800" b="1" dirty="0">
                <a:ea typeface="华文中宋" panose="02010600040101010101" pitchFamily="2" charset="-122"/>
              </a:rPr>
              <a:t>多用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氧 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-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乙炔火焰</a:t>
            </a:r>
            <a:r>
              <a:rPr lang="zh-CN" altLang="en-US" sz="2800" b="1" dirty="0">
                <a:ea typeface="华文中宋" panose="02010600040101010101" pitchFamily="2" charset="-122"/>
              </a:rPr>
              <a:t>作为热源。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② 电弧喷涂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  </a:t>
            </a:r>
            <a:r>
              <a:rPr lang="zh-CN" altLang="en-US" sz="2800" b="1" dirty="0">
                <a:ea typeface="华文中宋" panose="02010600040101010101" pitchFamily="2" charset="-122"/>
              </a:rPr>
              <a:t>丝状喷涂材料作为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自耗电极</a:t>
            </a:r>
            <a:r>
              <a:rPr lang="zh-CN" altLang="en-US" sz="2800" b="1" dirty="0">
                <a:ea typeface="华文中宋" panose="02010600040101010101" pitchFamily="2" charset="-122"/>
              </a:rPr>
              <a:t>、电弧作为热源的喷涂方法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③ 等离子喷涂</a:t>
            </a:r>
            <a:r>
              <a:rPr lang="en-US" altLang="zh-CN" sz="2800" b="1" dirty="0">
                <a:ea typeface="华文中宋" panose="02010600040101010101" pitchFamily="2" charset="-122"/>
              </a:rPr>
              <a:t>:  </a:t>
            </a:r>
            <a:r>
              <a:rPr lang="zh-CN" altLang="en-US" sz="2800" b="1" dirty="0">
                <a:ea typeface="华文中宋" panose="02010600040101010101" pitchFamily="2" charset="-122"/>
              </a:rPr>
              <a:t>利用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等离子弧</a:t>
            </a:r>
            <a:r>
              <a:rPr lang="zh-CN" altLang="en-US" sz="2800" b="1" dirty="0">
                <a:ea typeface="华文中宋" panose="02010600040101010101" pitchFamily="2" charset="-122"/>
              </a:rPr>
              <a:t>作为热源进行喷涂的方法。 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21"/>
          <p:cNvGrpSpPr/>
          <p:nvPr/>
        </p:nvGrpSpPr>
        <p:grpSpPr>
          <a:xfrm>
            <a:off x="5008982" y="1060996"/>
            <a:ext cx="3761174" cy="5612164"/>
            <a:chOff x="2986" y="190"/>
            <a:chExt cx="2475" cy="3707"/>
          </a:xfrm>
        </p:grpSpPr>
        <p:grpSp>
          <p:nvGrpSpPr>
            <p:cNvPr id="191492" name="Group 19"/>
            <p:cNvGrpSpPr/>
            <p:nvPr/>
          </p:nvGrpSpPr>
          <p:grpSpPr>
            <a:xfrm>
              <a:off x="2986" y="190"/>
              <a:ext cx="2443" cy="1009"/>
              <a:chOff x="2986" y="190"/>
              <a:chExt cx="2443" cy="1009"/>
            </a:xfrm>
          </p:grpSpPr>
          <p:pic>
            <p:nvPicPr>
              <p:cNvPr id="191493" name="Picture 5" descr="fig8-2火焰热喷涂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998" y="211"/>
                <a:ext cx="2431" cy="988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1494" name="Text Box 6"/>
              <p:cNvSpPr txBox="1">
                <a:spLocks noChangeAspect="1"/>
              </p:cNvSpPr>
              <p:nvPr/>
            </p:nvSpPr>
            <p:spPr>
              <a:xfrm>
                <a:off x="2986" y="190"/>
                <a:ext cx="807" cy="21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火焰热喷涂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1495" name="Group 15"/>
            <p:cNvGrpSpPr>
              <a:grpSpLocks noChangeAspect="1"/>
            </p:cNvGrpSpPr>
            <p:nvPr/>
          </p:nvGrpSpPr>
          <p:grpSpPr>
            <a:xfrm>
              <a:off x="2998" y="1230"/>
              <a:ext cx="2436" cy="1278"/>
              <a:chOff x="2897" y="1102"/>
              <a:chExt cx="2725" cy="1430"/>
            </a:xfrm>
          </p:grpSpPr>
          <p:pic>
            <p:nvPicPr>
              <p:cNvPr id="191496" name="Picture 8" descr="fig8-1电弧热喷涂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902" y="1102"/>
                <a:ext cx="2720" cy="1408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1497" name="Text Box 9"/>
              <p:cNvSpPr txBox="1">
                <a:spLocks noChangeAspect="1"/>
              </p:cNvSpPr>
              <p:nvPr/>
            </p:nvSpPr>
            <p:spPr>
              <a:xfrm>
                <a:off x="2897" y="2282"/>
                <a:ext cx="889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电弧热喷涂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1498" name="Group 20"/>
            <p:cNvGrpSpPr/>
            <p:nvPr/>
          </p:nvGrpSpPr>
          <p:grpSpPr>
            <a:xfrm>
              <a:off x="3003" y="2515"/>
              <a:ext cx="2458" cy="1382"/>
              <a:chOff x="3003" y="2515"/>
              <a:chExt cx="2458" cy="1382"/>
            </a:xfrm>
          </p:grpSpPr>
          <p:pic>
            <p:nvPicPr>
              <p:cNvPr id="191499" name="Picture 11" descr="等离子喷涂示意图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03" y="2515"/>
                <a:ext cx="2431" cy="1382"/>
              </a:xfrm>
              <a:prstGeom prst="rect">
                <a:avLst/>
              </a:prstGeom>
              <a:noFill/>
              <a:ln w="38100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1500" name="Text Box 16"/>
              <p:cNvSpPr txBox="1">
                <a:spLocks noChangeAspect="1"/>
              </p:cNvSpPr>
              <p:nvPr/>
            </p:nvSpPr>
            <p:spPr>
              <a:xfrm>
                <a:off x="4636" y="3673"/>
                <a:ext cx="825" cy="2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r>
                  <a:rPr lang="zh-CN" altLang="en-US" sz="16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等离子喷涂</a:t>
                </a:r>
                <a:endParaRPr lang="zh-CN" altLang="en-US" sz="16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9150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779" y="181350"/>
            <a:ext cx="5472456" cy="811213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ea typeface="华文中宋" panose="02010600040101010101" pitchFamily="2" charset="-122"/>
              </a:rPr>
              <a:t>、热喷涂方法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4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advAuto="1000" build="p"/>
      <p:bldP spid="3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/>
          </p:cNvSpPr>
          <p:nvPr>
            <p:ph idx="1"/>
          </p:nvPr>
        </p:nvSpPr>
        <p:spPr>
          <a:xfrm>
            <a:off x="365670" y="1144124"/>
            <a:ext cx="6000750" cy="4953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⑴工艺灵活：</a:t>
            </a:r>
            <a:r>
              <a:rPr lang="zh-CN" altLang="en-US" sz="2800" b="1" dirty="0">
                <a:ea typeface="华文中宋" panose="02010600040101010101" pitchFamily="2" charset="-122"/>
              </a:rPr>
              <a:t>热喷涂的对象小到</a:t>
            </a:r>
            <a:r>
              <a:rPr lang="en-US" altLang="zh-CN" sz="2800" b="1" dirty="0">
                <a:ea typeface="华文中宋" panose="02010600040101010101" pitchFamily="2" charset="-122"/>
              </a:rPr>
              <a:t>Φ10mm</a:t>
            </a:r>
            <a:r>
              <a:rPr lang="zh-CN" altLang="en-US" sz="2800" b="1" dirty="0">
                <a:ea typeface="华文中宋" panose="02010600040101010101" pitchFamily="2" charset="-122"/>
              </a:rPr>
              <a:t>的内孔</a:t>
            </a:r>
            <a:r>
              <a:rPr lang="en-US" altLang="zh-CN" sz="2800" b="1" dirty="0"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ea typeface="华文中宋" panose="02010600040101010101" pitchFamily="2" charset="-122"/>
              </a:rPr>
              <a:t>大到铁塔、桥梁，可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整体</a:t>
            </a:r>
            <a:r>
              <a:rPr lang="zh-CN" altLang="en-US" sz="2800" b="1" dirty="0">
                <a:ea typeface="华文中宋" panose="02010600040101010101" pitchFamily="2" charset="-122"/>
              </a:rPr>
              <a:t>喷涂，也可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局部</a:t>
            </a:r>
            <a:r>
              <a:rPr lang="zh-CN" altLang="en-US" sz="2800" b="1" dirty="0">
                <a:ea typeface="华文中宋" panose="02010600040101010101" pitchFamily="2" charset="-122"/>
              </a:rPr>
              <a:t>喷涂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⑵基体及喷涂材料广泛：</a:t>
            </a:r>
            <a:r>
              <a:rPr lang="zh-CN" altLang="en-US" sz="2800" b="1" dirty="0">
                <a:ea typeface="华文中宋" panose="02010600040101010101" pitchFamily="2" charset="-122"/>
              </a:rPr>
              <a:t>基体可以是金属和非金属，涂层材料可以是金属、合金及塑料、陶瓷等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sp>
        <p:nvSpPr>
          <p:cNvPr id="75780" name="Rectangle 4"/>
          <p:cNvSpPr/>
          <p:nvPr/>
        </p:nvSpPr>
        <p:spPr>
          <a:xfrm>
            <a:off x="357188" y="4786313"/>
            <a:ext cx="8610600" cy="1905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spcBef>
                <a:spcPct val="20000"/>
              </a:spcBef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⑶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涂层可控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: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从几十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到几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mm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⑷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生产效率高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⑸工件变形小：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基体材料温度不超过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250℃</a:t>
            </a:r>
            <a:r>
              <a:rPr lang="en-US" altLang="zh-CN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zh-CN" altLang="en-US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冷工艺</a:t>
            </a:r>
            <a:r>
              <a:rPr lang="en-US" altLang="zh-CN" sz="2800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9"/>
          <p:cNvGrpSpPr>
            <a:grpSpLocks noChangeAspect="1"/>
          </p:cNvGrpSpPr>
          <p:nvPr/>
        </p:nvGrpSpPr>
        <p:grpSpPr>
          <a:xfrm>
            <a:off x="6696710" y="1298575"/>
            <a:ext cx="2317750" cy="4172585"/>
            <a:chOff x="3648" y="384"/>
            <a:chExt cx="1748" cy="3146"/>
          </a:xfrm>
        </p:grpSpPr>
        <p:pic>
          <p:nvPicPr>
            <p:cNvPr id="192516" name="Picture 3" descr="涡轮叶片的热障涂层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48" y="384"/>
              <a:ext cx="1564" cy="314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2517" name="Text Box 5"/>
            <p:cNvSpPr txBox="1">
              <a:spLocks noChangeAspect="1"/>
            </p:cNvSpPr>
            <p:nvPr/>
          </p:nvSpPr>
          <p:spPr>
            <a:xfrm>
              <a:off x="5026" y="432"/>
              <a:ext cx="370" cy="292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涡轮叶片的热障涂层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热喷涂层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251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778" y="181350"/>
            <a:ext cx="6334125" cy="811213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ea typeface="华文中宋" panose="02010600040101010101" pitchFamily="2" charset="-122"/>
              </a:rPr>
              <a:t>、热喷涂的特点及应用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advAuto="1000" build="p"/>
      <p:bldP spid="75780" grpId="0"/>
      <p:bldP spid="3" grpId="0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66712" y="1147032"/>
            <a:ext cx="8320088" cy="214312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由于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涂层材料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种类很多，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所获得的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涂层性能差异很大，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可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应用于各种材料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表面保护、强化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及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修复，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并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满足特殊功能</a:t>
            </a:r>
            <a:r>
              <a:rPr lang="zh-CN" altLang="en-US" sz="3200" b="1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的需要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2910552" y="3429000"/>
            <a:ext cx="4697788" cy="3181468"/>
            <a:chOff x="912" y="1588"/>
            <a:chExt cx="3788" cy="2492"/>
          </a:xfrm>
        </p:grpSpPr>
        <p:pic>
          <p:nvPicPr>
            <p:cNvPr id="193540" name="Picture 4" descr="1热喷涂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2" y="1588"/>
              <a:ext cx="3788" cy="2492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3541" name="Text Box 5"/>
            <p:cNvSpPr txBox="1"/>
            <p:nvPr/>
          </p:nvSpPr>
          <p:spPr>
            <a:xfrm>
              <a:off x="912" y="1632"/>
              <a:ext cx="1161" cy="36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热喷涂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354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907778" y="181350"/>
            <a:ext cx="6334125" cy="811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ClrTx/>
              <a:buSzTx/>
              <a:buFontTx/>
            </a:pPr>
            <a:r>
              <a:rPr lang="en-US" altLang="zh-CN" b="1" kern="0">
                <a:ea typeface="华文中宋" panose="02010600040101010101" pitchFamily="2" charset="-122"/>
              </a:rPr>
              <a:t>3</a:t>
            </a:r>
            <a:r>
              <a:rPr lang="zh-CN" altLang="en-US" b="1" kern="0">
                <a:ea typeface="华文中宋" panose="02010600040101010101" pitchFamily="2" charset="-122"/>
              </a:rPr>
              <a:t>、热喷涂的特点及应用</a:t>
            </a:r>
            <a:endParaRPr lang="zh-CN" altLang="en-US" b="1" kern="0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  <p:bldP spid="3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15100"/>
            <a:ext cx="52832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7826" name="Rectangle 2"/>
          <p:cNvSpPr>
            <a:spLocks noGrp="1"/>
          </p:cNvSpPr>
          <p:nvPr>
            <p:ph type="title"/>
          </p:nvPr>
        </p:nvSpPr>
        <p:spPr>
          <a:xfrm>
            <a:off x="467658" y="1124808"/>
            <a:ext cx="8424702" cy="1872156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sz="6000" b="1" strike="noStrike" noProof="1">
                <a:ea typeface="华文中宋" panose="02010600040101010101" pitchFamily="2" charset="-122"/>
              </a:rPr>
              <a:t>二、气相沉积技术</a:t>
            </a:r>
            <a:br>
              <a:rPr lang="en-US" altLang="zh-CN" sz="6600" b="1" strike="noStrike" noProof="1">
                <a:ea typeface="华文中宋" panose="02010600040101010101" pitchFamily="2" charset="-122"/>
              </a:rPr>
            </a:br>
            <a:r>
              <a:rPr lang="en-US" altLang="zh-CN" sz="6000" b="1" noProof="1">
                <a:latin typeface="+mn-lt"/>
                <a:ea typeface="华文中宋" panose="02010600040101010101" pitchFamily="2" charset="-122"/>
              </a:rPr>
              <a:t>Vapor Phase Deposition</a:t>
            </a:r>
            <a:r>
              <a:rPr lang="zh-CN" altLang="en-US" sz="6000" b="1" strike="noStrike" noProof="1">
                <a:latin typeface="+mn-lt"/>
              </a:rPr>
              <a:t> </a:t>
            </a:r>
            <a:endParaRPr lang="zh-CN" altLang="en-US" sz="6000" b="1" strike="noStrike" noProof="1">
              <a:latin typeface="+mn-lt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2483826" y="3429000"/>
            <a:ext cx="3963987" cy="2924175"/>
            <a:chOff x="2688" y="1776"/>
            <a:chExt cx="2677" cy="1932"/>
          </a:xfrm>
        </p:grpSpPr>
        <p:pic>
          <p:nvPicPr>
            <p:cNvPr id="194566" name="Picture 4" descr="物理气相沉积TiAl靶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88" y="1776"/>
              <a:ext cx="2677" cy="1932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7830" name="Text Box 6"/>
            <p:cNvSpPr txBox="1">
              <a:spLocks noChangeArrowheads="1"/>
            </p:cNvSpPr>
            <p:nvPr/>
          </p:nvSpPr>
          <p:spPr bwMode="auto">
            <a:xfrm>
              <a:off x="3264" y="1776"/>
              <a:ext cx="1836" cy="26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rtl="0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20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物理气相沉积</a:t>
              </a:r>
              <a:r>
                <a:rPr kumimoji="1" lang="en-US" altLang="zh-CN" sz="2000" kern="1200" cap="none" spc="0" normalizeH="0" baseline="0" noProof="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TiAl</a:t>
              </a:r>
              <a:r>
                <a:rPr kumimoji="1" lang="zh-CN" altLang="en-US" sz="20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靶</a:t>
              </a:r>
              <a:endParaRPr kumimoji="1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456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15100"/>
            <a:ext cx="52832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7826" name="Rectangle 2"/>
          <p:cNvSpPr>
            <a:spLocks noGrp="1"/>
          </p:cNvSpPr>
          <p:nvPr>
            <p:ph type="title"/>
          </p:nvPr>
        </p:nvSpPr>
        <p:spPr>
          <a:xfrm>
            <a:off x="2571750" y="142875"/>
            <a:ext cx="5886450" cy="838200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zh-CN" altLang="en-US" b="1" strike="noStrike" noProof="1">
                <a:ea typeface="华文中宋" panose="02010600040101010101" pitchFamily="2" charset="-122"/>
              </a:rPr>
              <a:t>二、气相沉积技术</a:t>
            </a:r>
            <a:r>
              <a:rPr lang="zh-CN" altLang="en-US" b="1" strike="noStrike" noProof="1"/>
              <a:t> </a:t>
            </a:r>
            <a:endParaRPr lang="zh-CN" altLang="en-US" b="1" strike="noStrike" noProof="1"/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00125"/>
            <a:ext cx="8553450" cy="5500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气相沉积技术：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是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指将含有沉积元素的气相物质，</a:t>
            </a:r>
            <a:r>
              <a:rPr lang="zh-CN" altLang="en-US" b="1" kern="1200" dirty="0">
                <a:ea typeface="华文中宋" panose="02010600040101010101" pitchFamily="2" charset="-122"/>
              </a:rPr>
              <a:t>通过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物理</a:t>
            </a:r>
            <a:r>
              <a:rPr lang="zh-CN" altLang="en-US" b="1" kern="1200" dirty="0">
                <a:ea typeface="华文中宋" panose="02010600040101010101" pitchFamily="2" charset="-122"/>
              </a:rPr>
              <a:t>或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化学</a:t>
            </a:r>
            <a:r>
              <a:rPr lang="zh-CN" altLang="en-US" b="1" kern="1200" dirty="0">
                <a:ea typeface="华文中宋" panose="02010600040101010101" pitchFamily="2" charset="-122"/>
              </a:rPr>
              <a:t>的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方法沉积在材料表面形成薄膜的一种新型镀膜技术。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199152" y="3048000"/>
            <a:ext cx="5976148" cy="33332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lvl="0" indent="-342900" rtl="0">
              <a:lnSpc>
                <a:spcPct val="145000"/>
              </a:lnSpc>
              <a:spcBef>
                <a:spcPct val="20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根据沉积过程的原理不同，气相沉积技术可分为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物理气相沉积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en-US" altLang="zh-CN" sz="3200" kern="0" dirty="0">
                <a:latin typeface="+mn-lt"/>
                <a:ea typeface="华文中宋" panose="02010600040101010101" pitchFamily="2" charset="-122"/>
              </a:rPr>
              <a:t>PVD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：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Physical Vapor Deposition)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和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化学气相沉积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en-US" altLang="zh-CN" sz="3200" kern="0" dirty="0">
                <a:latin typeface="+mn-lt"/>
                <a:ea typeface="华文中宋" panose="02010600040101010101" pitchFamily="2" charset="-122"/>
              </a:rPr>
              <a:t>CVD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: Chemical</a:t>
            </a:r>
            <a:r>
              <a:rPr kumimoji="1" lang="en-US" altLang="zh-CN" sz="2800" dirty="0">
                <a:solidFill>
                  <a:srgbClr val="CCFFFF"/>
                </a:solidFill>
                <a:ea typeface="华文中宋" panose="02010600040101010101" pitchFamily="2" charset="-122"/>
              </a:rPr>
              <a:t> Vapor Deposition)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两大类。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6372150" y="3268303"/>
            <a:ext cx="2682950" cy="2176866"/>
            <a:chOff x="2688" y="1776"/>
            <a:chExt cx="2677" cy="1932"/>
          </a:xfrm>
        </p:grpSpPr>
        <p:pic>
          <p:nvPicPr>
            <p:cNvPr id="194566" name="Picture 4" descr="物理气相沉积TiAl靶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88" y="1776"/>
              <a:ext cx="2677" cy="1932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7830" name="Text Box 6"/>
            <p:cNvSpPr txBox="1">
              <a:spLocks noChangeArrowheads="1"/>
            </p:cNvSpPr>
            <p:nvPr/>
          </p:nvSpPr>
          <p:spPr bwMode="auto">
            <a:xfrm>
              <a:off x="2688" y="1776"/>
              <a:ext cx="2586" cy="35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R="0" algn="ctr" defTabSz="914400" rtl="0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20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物理气相沉积</a:t>
              </a:r>
              <a:r>
                <a:rPr kumimoji="1" lang="en-US" altLang="zh-CN" sz="2000" kern="1200" cap="none" spc="0" normalizeH="0" baseline="0" noProof="0" dirty="0" err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TiAl</a:t>
              </a:r>
              <a:r>
                <a:rPr kumimoji="1" lang="zh-CN" altLang="en-US" sz="20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靶</a:t>
              </a:r>
              <a:endParaRPr kumimoji="1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456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  <p:bldP spid="77827" grpId="0" advAuto="1000" build="p"/>
      <p:bldP spid="77829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8505" y="6610350"/>
            <a:ext cx="600075" cy="24765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8851" name="Rectangle 3"/>
          <p:cNvSpPr/>
          <p:nvPr/>
        </p:nvSpPr>
        <p:spPr>
          <a:xfrm>
            <a:off x="217015" y="1234551"/>
            <a:ext cx="5995344" cy="548554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dirty="0">
                <a:ea typeface="华文中宋" panose="02010600040101010101" pitchFamily="2" charset="-122"/>
              </a:rPr>
              <a:t>    </a:t>
            </a:r>
            <a:r>
              <a:rPr lang="zh-CN" altLang="en-US" sz="3200" dirty="0">
                <a:ea typeface="华文中宋" panose="02010600040101010101" pitchFamily="2" charset="-122"/>
              </a:rPr>
              <a:t>物理气相沉积</a:t>
            </a:r>
            <a:r>
              <a:rPr lang="en-US" altLang="zh-CN" sz="3200" dirty="0">
                <a:ea typeface="华文中宋" panose="02010600040101010101" pitchFamily="2" charset="-122"/>
              </a:rPr>
              <a:t>: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是指</a:t>
            </a:r>
            <a:r>
              <a:rPr lang="zh-CN" altLang="en-US" sz="3200" dirty="0">
                <a:ea typeface="华文中宋" panose="02010600040101010101" pitchFamily="2" charset="-122"/>
              </a:rPr>
              <a:t>在真空条件下，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用</a:t>
            </a:r>
            <a:r>
              <a:rPr lang="zh-CN" altLang="en-US" sz="3200" dirty="0">
                <a:ea typeface="华文中宋" panose="02010600040101010101" pitchFamily="2" charset="-122"/>
              </a:rPr>
              <a:t>物理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sz="3200" dirty="0">
                <a:ea typeface="华文中宋" panose="02010600040101010101" pitchFamily="2" charset="-122"/>
              </a:rPr>
              <a:t>方法，使材料汽化成原子、分子或电离成离子，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并通过</a:t>
            </a:r>
            <a:r>
              <a:rPr lang="zh-CN" altLang="en-US" sz="3200" dirty="0">
                <a:ea typeface="华文中宋" panose="02010600040101010101" pitchFamily="2" charset="-122"/>
              </a:rPr>
              <a:t>气相过程，在材料表面沉积一层薄膜的技术。</a:t>
            </a:r>
            <a:endParaRPr lang="zh-CN" altLang="en-US" sz="3200" dirty="0"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物理沉积技术主要包括</a:t>
            </a:r>
            <a:r>
              <a:rPr lang="zh-CN" altLang="en-US" sz="3200" dirty="0">
                <a:ea typeface="华文中宋" panose="02010600040101010101" pitchFamily="2" charset="-122"/>
              </a:rPr>
              <a:t>真空蒸镀、溅射镀、离子镀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三种基本方法</a:t>
            </a:r>
            <a:r>
              <a:rPr lang="en-US" altLang="zh-CN" sz="3200" dirty="0">
                <a:solidFill>
                  <a:schemeClr val="tx1"/>
                </a:solidFill>
                <a:ea typeface="华文中宋" panose="02010600040101010101" pitchFamily="2" charset="-122"/>
              </a:rPr>
              <a:t>.</a:t>
            </a:r>
            <a:endParaRPr lang="en-US" altLang="zh-CN" sz="3200" dirty="0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>
          <a:xfrm>
            <a:off x="6378030" y="2006813"/>
            <a:ext cx="2765970" cy="2862307"/>
            <a:chOff x="2784" y="1214"/>
            <a:chExt cx="2442" cy="2527"/>
          </a:xfrm>
        </p:grpSpPr>
        <p:pic>
          <p:nvPicPr>
            <p:cNvPr id="195589" name="Picture 5" descr="磁控溅射镀膜设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84" y="1248"/>
              <a:ext cx="2442" cy="2493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5590" name="Text Box 6"/>
            <p:cNvSpPr txBox="1">
              <a:spLocks noChangeAspect="1"/>
            </p:cNvSpPr>
            <p:nvPr/>
          </p:nvSpPr>
          <p:spPr>
            <a:xfrm>
              <a:off x="2916" y="1214"/>
              <a:ext cx="1840" cy="29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磁控溅射镀膜设备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559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939676" y="137907"/>
            <a:ext cx="6402748" cy="838200"/>
          </a:xfrm>
        </p:spPr>
        <p:txBody>
          <a:bodyPr vert="horz" wrap="square" lIns="92075" tIns="46038" rIns="92075" bIns="46038" anchor="ctr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、物理气相沉积（</a:t>
            </a:r>
            <a:r>
              <a:rPr lang="en-US" altLang="zh-CN" b="1" dirty="0">
                <a:ea typeface="华文中宋" panose="02010600040101010101" pitchFamily="2" charset="-122"/>
              </a:rPr>
              <a:t>PVD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/>
      <p:bldP spid="3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72500" y="6515100"/>
            <a:ext cx="57150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79874" name="Rectangle 2"/>
          <p:cNvSpPr>
            <a:spLocks noGrp="1"/>
          </p:cNvSpPr>
          <p:nvPr>
            <p:ph idx="1"/>
          </p:nvPr>
        </p:nvSpPr>
        <p:spPr>
          <a:xfrm>
            <a:off x="388557" y="1127606"/>
            <a:ext cx="5548425" cy="256580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45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真空蒸镀：蒸发成膜材料，使其汽化</a:t>
            </a:r>
            <a:r>
              <a:rPr lang="zh-CN" altLang="en-US" b="1" dirty="0">
                <a:latin typeface="仿宋_GB2312" pitchFamily="49" charset="-122"/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升华，沉积到工件表面形成薄膜的方法。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1476107" y="1119668"/>
            <a:ext cx="7073900" cy="5597525"/>
            <a:chOff x="816" y="407"/>
            <a:chExt cx="4456" cy="3526"/>
          </a:xfrm>
        </p:grpSpPr>
        <p:pic>
          <p:nvPicPr>
            <p:cNvPr id="196612" name="Picture 4" descr="真空蒸镀原理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6" y="1961"/>
              <a:ext cx="2591" cy="1972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196613" name="Group 13"/>
            <p:cNvGrpSpPr/>
            <p:nvPr/>
          </p:nvGrpSpPr>
          <p:grpSpPr>
            <a:xfrm>
              <a:off x="3753" y="407"/>
              <a:ext cx="1519" cy="1849"/>
              <a:chOff x="3744" y="407"/>
              <a:chExt cx="1519" cy="1849"/>
            </a:xfrm>
          </p:grpSpPr>
          <p:pic>
            <p:nvPicPr>
              <p:cNvPr id="196614" name="Picture 7" descr="真空蒸镀TiN活塞环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44" y="407"/>
                <a:ext cx="1519" cy="1849"/>
              </a:xfrm>
              <a:prstGeom prst="rect">
                <a:avLst/>
              </a:prstGeom>
              <a:noFill/>
              <a:ln w="28575" cap="flat" cmpd="sng">
                <a:solidFill>
                  <a:srgbClr val="00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6615" name="Text Box 8"/>
              <p:cNvSpPr txBox="1"/>
              <p:nvPr/>
            </p:nvSpPr>
            <p:spPr>
              <a:xfrm>
                <a:off x="3888" y="412"/>
                <a:ext cx="1248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真空蒸镀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TiN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活塞环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6616" name="Group 14"/>
            <p:cNvGrpSpPr/>
            <p:nvPr/>
          </p:nvGrpSpPr>
          <p:grpSpPr>
            <a:xfrm>
              <a:off x="3753" y="2337"/>
              <a:ext cx="1519" cy="1584"/>
              <a:chOff x="3744" y="2337"/>
              <a:chExt cx="1519" cy="1584"/>
            </a:xfrm>
          </p:grpSpPr>
          <p:pic>
            <p:nvPicPr>
              <p:cNvPr id="196617" name="Picture 10" descr="塑料真空蒸镀铝膜1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744" y="2400"/>
                <a:ext cx="1519" cy="1509"/>
              </a:xfrm>
              <a:prstGeom prst="rect">
                <a:avLst/>
              </a:prstGeom>
              <a:noFill/>
              <a:ln w="28575" cap="flat" cmpd="sng">
                <a:solidFill>
                  <a:srgbClr val="00FF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6618" name="Text Box 11"/>
              <p:cNvSpPr txBox="1"/>
              <p:nvPr/>
            </p:nvSpPr>
            <p:spPr>
              <a:xfrm>
                <a:off x="4993" y="2337"/>
                <a:ext cx="270" cy="158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anchor="t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真空蒸镀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膜的塑料制品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9662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760693" y="52868"/>
            <a:ext cx="6402748" cy="838200"/>
          </a:xfrm>
        </p:spPr>
        <p:txBody>
          <a:bodyPr vert="horz" wrap="square" lIns="92075" tIns="46038" rIns="92075" bIns="46038" anchor="ctr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、物理气相沉积（</a:t>
            </a:r>
            <a:r>
              <a:rPr lang="en-US" altLang="zh-CN" b="1" dirty="0">
                <a:ea typeface="华文中宋" panose="02010600040101010101" pitchFamily="2" charset="-122"/>
              </a:rPr>
              <a:t>PVD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dvAuto="1000" build="p"/>
      <p:bldP spid="3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15100"/>
            <a:ext cx="60007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509271" y="943790"/>
            <a:ext cx="4695190" cy="39846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溅射镀：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真空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下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通过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辉光放电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来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电离氩气，氩离子在电场作用下加速轰击阴极，溅射下来的粒子沉积到工件表面成膜的方法。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1724444" y="1183932"/>
            <a:ext cx="7092950" cy="5621338"/>
            <a:chOff x="789" y="591"/>
            <a:chExt cx="4468" cy="3541"/>
          </a:xfrm>
        </p:grpSpPr>
        <p:grpSp>
          <p:nvGrpSpPr>
            <p:cNvPr id="197636" name="Group 17"/>
            <p:cNvGrpSpPr/>
            <p:nvPr/>
          </p:nvGrpSpPr>
          <p:grpSpPr>
            <a:xfrm>
              <a:off x="3044" y="591"/>
              <a:ext cx="2110" cy="1470"/>
              <a:chOff x="3044" y="591"/>
              <a:chExt cx="2110" cy="1470"/>
            </a:xfrm>
          </p:grpSpPr>
          <p:pic>
            <p:nvPicPr>
              <p:cNvPr id="197637" name="Picture 5" descr="fig7-2溅射镀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44" y="617"/>
                <a:ext cx="2110" cy="1444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7638" name="Text Box 6"/>
              <p:cNvSpPr txBox="1"/>
              <p:nvPr/>
            </p:nvSpPr>
            <p:spPr>
              <a:xfrm>
                <a:off x="4182" y="591"/>
                <a:ext cx="915" cy="21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8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溅射镀示意图</a:t>
                </a:r>
                <a:endParaRPr lang="zh-CN" altLang="en-US" sz="16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7639" name="Group 16"/>
            <p:cNvGrpSpPr/>
            <p:nvPr/>
          </p:nvGrpSpPr>
          <p:grpSpPr>
            <a:xfrm>
              <a:off x="3031" y="2333"/>
              <a:ext cx="2226" cy="1629"/>
              <a:chOff x="3031" y="2333"/>
              <a:chExt cx="2226" cy="1629"/>
            </a:xfrm>
          </p:grpSpPr>
          <p:pic>
            <p:nvPicPr>
              <p:cNvPr id="197640" name="Picture 8" descr="磁控溅射镀膜机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31" y="2333"/>
                <a:ext cx="2171" cy="1629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7641" name="Text Box 9"/>
              <p:cNvSpPr txBox="1"/>
              <p:nvPr/>
            </p:nvSpPr>
            <p:spPr>
              <a:xfrm>
                <a:off x="4968" y="2462"/>
                <a:ext cx="289" cy="120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anchor="t">
                <a:spAutoFit/>
              </a:bodyPr>
              <a:lstStyle/>
              <a:p>
                <a:pPr algn="ctr"/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磁控溅射镀膜机</a:t>
                </a:r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7642" name="Group 18"/>
            <p:cNvGrpSpPr/>
            <p:nvPr/>
          </p:nvGrpSpPr>
          <p:grpSpPr>
            <a:xfrm>
              <a:off x="789" y="2861"/>
              <a:ext cx="1756" cy="1271"/>
              <a:chOff x="789" y="2861"/>
              <a:chExt cx="1756" cy="1271"/>
            </a:xfrm>
          </p:grpSpPr>
          <p:pic>
            <p:nvPicPr>
              <p:cNvPr id="197643" name="Picture 11" descr="磁控溅射镀Al塑料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89" y="2861"/>
                <a:ext cx="1756" cy="1271"/>
              </a:xfrm>
              <a:prstGeom prst="rect">
                <a:avLst/>
              </a:prstGeom>
              <a:noFill/>
              <a:ln w="381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97644" name="Text Box 12"/>
              <p:cNvSpPr txBox="1"/>
              <p:nvPr/>
            </p:nvSpPr>
            <p:spPr>
              <a:xfrm>
                <a:off x="840" y="3893"/>
                <a:ext cx="1619" cy="213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磁控溅射镀</a:t>
                </a:r>
                <a:r>
                  <a:rPr lang="en-US" altLang="zh-CN" sz="1600" dirty="0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Al</a:t>
                </a:r>
                <a:r>
                  <a:rPr lang="zh-CN" altLang="en-US" sz="1600" dirty="0">
                    <a:solidFill>
                      <a:schemeClr val="bg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的塑料制品</a:t>
                </a:r>
                <a:endParaRPr lang="zh-CN" altLang="en-US" sz="1600" dirty="0">
                  <a:solidFill>
                    <a:schemeClr val="bg2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9764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724444" y="23527"/>
            <a:ext cx="6402748" cy="838200"/>
          </a:xfrm>
        </p:spPr>
        <p:txBody>
          <a:bodyPr vert="horz" wrap="square" lIns="92075" tIns="46038" rIns="92075" bIns="46038" anchor="ctr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、物理气相沉积（</a:t>
            </a:r>
            <a:r>
              <a:rPr lang="en-US" altLang="zh-CN" b="1" dirty="0">
                <a:ea typeface="华文中宋" panose="02010600040101010101" pitchFamily="2" charset="-122"/>
              </a:rPr>
              <a:t>PVD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dvAuto="1000" build="p"/>
      <p:bldP spid="3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83680"/>
            <a:ext cx="528320" cy="2743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1922" name="Rectangle 2"/>
          <p:cNvSpPr>
            <a:spLocks noGrp="1"/>
          </p:cNvSpPr>
          <p:nvPr>
            <p:ph idx="1"/>
          </p:nvPr>
        </p:nvSpPr>
        <p:spPr>
          <a:xfrm>
            <a:off x="355882" y="961195"/>
            <a:ext cx="8624888" cy="5436235"/>
          </a:xfrm>
        </p:spPr>
        <p:txBody>
          <a:bodyPr wrap="square" lIns="91440" tIns="45720" rIns="91440" bIns="45720" anchor="t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离子镀：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在真空下</a:t>
            </a:r>
            <a:r>
              <a:rPr lang="zh-CN" altLang="en-US" dirty="0">
                <a:ea typeface="华文中宋" panose="02010600040101010101" pitchFamily="2" charset="-122"/>
              </a:rPr>
              <a:t>利用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气体放电</a:t>
            </a:r>
            <a:r>
              <a:rPr lang="zh-CN" altLang="en-US" dirty="0">
                <a:ea typeface="华文中宋" panose="02010600040101010101" pitchFamily="2" charset="-122"/>
              </a:rPr>
              <a:t>技术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dirty="0">
                <a:ea typeface="华文中宋" panose="02010600040101010101" pitchFamily="2" charset="-122"/>
              </a:rPr>
              <a:t>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蒸发的原子部分电离成离子，与同时产生的大量高能中性粒子</a:t>
            </a:r>
            <a:r>
              <a:rPr lang="zh-CN" altLang="en-US" dirty="0">
                <a:ea typeface="华文中宋" panose="02010600040101010101" pitchFamily="2" charset="-122"/>
              </a:rPr>
              <a:t>一起沉积到工件表面成膜的方法。</a:t>
            </a:r>
            <a:endParaRPr lang="zh-CN" altLang="en-US" dirty="0"/>
          </a:p>
        </p:txBody>
      </p:sp>
      <p:grpSp>
        <p:nvGrpSpPr>
          <p:cNvPr id="2" name="Group 17"/>
          <p:cNvGrpSpPr/>
          <p:nvPr/>
        </p:nvGrpSpPr>
        <p:grpSpPr>
          <a:xfrm>
            <a:off x="883181" y="3031920"/>
            <a:ext cx="7838766" cy="3600953"/>
            <a:chOff x="528" y="1560"/>
            <a:chExt cx="5506" cy="2747"/>
          </a:xfrm>
        </p:grpSpPr>
        <p:pic>
          <p:nvPicPr>
            <p:cNvPr id="198660" name="Picture 4" descr="未命名1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47" y="1560"/>
              <a:ext cx="2787" cy="2747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98661" name="Picture 9" descr="多弧离子镀膜机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" y="2064"/>
              <a:ext cx="2602" cy="2041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8662" name="Text Box 10"/>
            <p:cNvSpPr txBox="1"/>
            <p:nvPr/>
          </p:nvSpPr>
          <p:spPr>
            <a:xfrm>
              <a:off x="1582" y="3840"/>
              <a:ext cx="1634" cy="305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多弧离子镀膜机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934" name="Text Box 14"/>
          <p:cNvSpPr txBox="1"/>
          <p:nvPr/>
        </p:nvSpPr>
        <p:spPr>
          <a:xfrm>
            <a:off x="857250" y="2428875"/>
            <a:ext cx="4572000" cy="41592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866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724444" y="23527"/>
            <a:ext cx="6402748" cy="838200"/>
          </a:xfrm>
        </p:spPr>
        <p:txBody>
          <a:bodyPr vert="horz" wrap="square" lIns="92075" tIns="46038" rIns="92075" bIns="46038" anchor="ctr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、物理气相沉积（</a:t>
            </a:r>
            <a:r>
              <a:rPr lang="en-US" altLang="zh-CN" b="1" dirty="0">
                <a:ea typeface="华文中宋" panose="02010600040101010101" pitchFamily="2" charset="-122"/>
              </a:rPr>
              <a:t>PVD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dvAuto="1000" build="p"/>
      <p:bldP spid="81934" grpId="0"/>
      <p:bldP spid="3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36280" y="6515100"/>
            <a:ext cx="62230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2946" name="Rectangle 2"/>
          <p:cNvSpPr>
            <a:spLocks noGrp="1"/>
          </p:cNvSpPr>
          <p:nvPr>
            <p:ph idx="1"/>
          </p:nvPr>
        </p:nvSpPr>
        <p:spPr>
          <a:xfrm>
            <a:off x="395652" y="785303"/>
            <a:ext cx="8482376" cy="55626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物理气相沉积</a:t>
            </a:r>
            <a:r>
              <a:rPr lang="zh-CN" altLang="en-US" sz="2800" b="1" dirty="0">
                <a:ea typeface="华文中宋" panose="02010600040101010101" pitchFamily="2" charset="-122"/>
              </a:rPr>
              <a:t>优点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等线" panose="02010600030101010101" pitchFamily="2" charset="-122"/>
                <a:ea typeface="华文中宋" panose="02010600040101010101" pitchFamily="2" charset="-122"/>
              </a:rPr>
              <a:t>①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适用的基体材料和膜层材料广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;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工艺简单、省材料、无污染；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获得的膜层膜基附着力强、膜层厚度均匀、致密、针孔少</a:t>
            </a:r>
            <a:r>
              <a:rPr lang="zh-CN" altLang="en-US" sz="2800" b="1" dirty="0">
                <a:solidFill>
                  <a:schemeClr val="tx1"/>
                </a:solidFill>
                <a:ea typeface="华文中宋" panose="02010600040101010101" pitchFamily="2" charset="-122"/>
              </a:rPr>
              <a:t>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优点。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9"/>
          <p:cNvGrpSpPr>
            <a:grpSpLocks noChangeAspect="1"/>
          </p:cNvGrpSpPr>
          <p:nvPr/>
        </p:nvGrpSpPr>
        <p:grpSpPr>
          <a:xfrm>
            <a:off x="6164980" y="3567054"/>
            <a:ext cx="2793969" cy="2787714"/>
            <a:chOff x="2891" y="1415"/>
            <a:chExt cx="2555" cy="2550"/>
          </a:xfrm>
        </p:grpSpPr>
        <p:pic>
          <p:nvPicPr>
            <p:cNvPr id="199684" name="Picture 5" descr="离子镀产品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91" y="1415"/>
              <a:ext cx="2555" cy="1623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9685" name="Text Box 6"/>
            <p:cNvSpPr txBox="1">
              <a:spLocks noChangeAspect="1"/>
            </p:cNvSpPr>
            <p:nvPr/>
          </p:nvSpPr>
          <p:spPr>
            <a:xfrm>
              <a:off x="3171" y="3543"/>
              <a:ext cx="2082" cy="42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离子镀产品</a:t>
              </a:r>
              <a:endPara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951" name="Text Box 7"/>
          <p:cNvSpPr txBox="1"/>
          <p:nvPr/>
        </p:nvSpPr>
        <p:spPr>
          <a:xfrm>
            <a:off x="569061" y="4069972"/>
            <a:ext cx="5542517" cy="22779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ea typeface="华文中宋" panose="02010600040101010101" pitchFamily="2" charset="-122"/>
              </a:rPr>
              <a:t>应用：广泛用于机械、航空航天、电子、光学和</a:t>
            </a:r>
            <a:r>
              <a:rPr lang="zh-CN" altLang="en-US" sz="2800" dirty="0">
                <a:solidFill>
                  <a:schemeClr val="tx1"/>
                </a:solidFill>
                <a:ea typeface="华文中宋" panose="02010600040101010101" pitchFamily="2" charset="-122"/>
              </a:rPr>
              <a:t>轻工业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等领域制备</a:t>
            </a:r>
            <a:r>
              <a:rPr kumimoji="1" lang="zh-CN" altLang="en-US" sz="2800" dirty="0">
                <a:latin typeface="+mn-lt"/>
                <a:ea typeface="华文中宋" panose="02010600040101010101" pitchFamily="2" charset="-122"/>
              </a:rPr>
              <a:t>耐磨、耐蚀、耐热、导电、绝缘、光学、磁性、压电、滑润、超导薄膜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9968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785938" y="84132"/>
            <a:ext cx="6402748" cy="838200"/>
          </a:xfrm>
        </p:spPr>
        <p:txBody>
          <a:bodyPr vert="horz" wrap="square" lIns="92075" tIns="46038" rIns="92075" bIns="46038" anchor="ctr"/>
          <a:lstStyle/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、物理气相沉积（</a:t>
            </a:r>
            <a:r>
              <a:rPr lang="en-US" altLang="zh-CN" b="1" dirty="0">
                <a:ea typeface="华文中宋" panose="02010600040101010101" pitchFamily="2" charset="-122"/>
              </a:rPr>
              <a:t>PVD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 advAuto="1000" build="p"/>
      <p:bldP spid="82951" grpId="0"/>
      <p:bldP spid="3" grpId="0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37960"/>
            <a:ext cx="528955" cy="32004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>
          <a:xfrm>
            <a:off x="5876832" y="2435585"/>
            <a:ext cx="2931700" cy="2996293"/>
            <a:chOff x="3259" y="766"/>
            <a:chExt cx="2463" cy="2516"/>
          </a:xfrm>
        </p:grpSpPr>
        <p:pic>
          <p:nvPicPr>
            <p:cNvPr id="200708" name="Picture 4" descr="P5等离子体化学气相沉积(PVCD)设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59" y="766"/>
              <a:ext cx="2463" cy="2516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0709" name="Text Box 5"/>
            <p:cNvSpPr txBox="1">
              <a:spLocks noChangeAspect="1"/>
            </p:cNvSpPr>
            <p:nvPr/>
          </p:nvSpPr>
          <p:spPr>
            <a:xfrm>
              <a:off x="3836" y="2930"/>
              <a:ext cx="1308" cy="27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CVD</a:t>
              </a:r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设备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3974" name="Text Box 6"/>
          <p:cNvSpPr txBox="1"/>
          <p:nvPr/>
        </p:nvSpPr>
        <p:spPr>
          <a:xfrm>
            <a:off x="467658" y="1047405"/>
            <a:ext cx="5112426" cy="539711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dirty="0">
                <a:ea typeface="华文中宋" panose="02010600040101010101" pitchFamily="2" charset="-122"/>
              </a:rPr>
              <a:t>化学气相沉积：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指</a:t>
            </a:r>
            <a:r>
              <a:rPr lang="zh-CN" altLang="en-US" sz="3200" dirty="0">
                <a:ea typeface="华文中宋" panose="02010600040101010101" pitchFamily="2" charset="-122"/>
              </a:rPr>
              <a:t>在一定温度下，混合气体与基体表面相互作用而在基体表面形成金属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或</a:t>
            </a:r>
            <a:r>
              <a:rPr lang="zh-CN" altLang="en-US" sz="3200" dirty="0">
                <a:ea typeface="华文中宋" panose="02010600040101010101" pitchFamily="2" charset="-122"/>
              </a:rPr>
              <a:t>化合物薄膜的方法。</a:t>
            </a:r>
            <a:endParaRPr lang="zh-CN" altLang="en-US" sz="3200" dirty="0">
              <a:solidFill>
                <a:schemeClr val="tx1"/>
              </a:solidFill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例如</a:t>
            </a:r>
            <a:r>
              <a:rPr lang="en-US" altLang="zh-CN" sz="3200" dirty="0">
                <a:solidFill>
                  <a:schemeClr val="tx1"/>
                </a:solidFill>
                <a:ea typeface="华文中宋" panose="02010600040101010101" pitchFamily="2" charset="-122"/>
              </a:rPr>
              <a:t>,  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气态的</a:t>
            </a:r>
            <a:r>
              <a:rPr lang="en-US" altLang="zh-CN" sz="3200" dirty="0">
                <a:solidFill>
                  <a:schemeClr val="tx1"/>
                </a:solidFill>
                <a:ea typeface="华文中宋" panose="02010600040101010101" pitchFamily="2" charset="-122"/>
              </a:rPr>
              <a:t>TiCl</a:t>
            </a:r>
            <a:r>
              <a:rPr lang="en-US" altLang="zh-CN" sz="3200" baseline="-30000" dirty="0">
                <a:solidFill>
                  <a:schemeClr val="tx1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与 </a:t>
            </a:r>
            <a:r>
              <a:rPr lang="en-US" altLang="zh-CN" sz="3200" dirty="0">
                <a:solidFill>
                  <a:schemeClr val="tx1"/>
                </a:solidFill>
                <a:ea typeface="华文中宋" panose="02010600040101010101" pitchFamily="2" charset="-122"/>
              </a:rPr>
              <a:t>N</a:t>
            </a:r>
            <a:r>
              <a:rPr lang="en-US" altLang="zh-CN" sz="3200" baseline="-30000" dirty="0">
                <a:solidFill>
                  <a:schemeClr val="tx1"/>
                </a:solidFill>
                <a:ea typeface="华文中宋" panose="02010600040101010101" pitchFamily="2" charset="-122"/>
              </a:rPr>
              <a:t>2  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和 </a:t>
            </a:r>
            <a:r>
              <a:rPr lang="en-US" altLang="zh-CN" sz="3200" dirty="0">
                <a:solidFill>
                  <a:schemeClr val="tx1"/>
                </a:solidFill>
                <a:ea typeface="华文中宋" panose="02010600040101010101" pitchFamily="2" charset="-122"/>
              </a:rPr>
              <a:t>H</a:t>
            </a:r>
            <a:r>
              <a:rPr lang="en-US" altLang="zh-CN" sz="3200" baseline="-30000" dirty="0">
                <a:solidFill>
                  <a:schemeClr val="tx1"/>
                </a:solidFill>
                <a:ea typeface="华文中宋" panose="02010600040101010101" pitchFamily="2" charset="-122"/>
              </a:rPr>
              <a:t>2 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在受热钢的表面反应生成 </a:t>
            </a:r>
            <a:r>
              <a:rPr lang="en-US" altLang="zh-CN" sz="3200" dirty="0">
                <a:solidFill>
                  <a:schemeClr val="tx1"/>
                </a:solidFill>
                <a:ea typeface="华文中宋" panose="02010600040101010101" pitchFamily="2" charset="-122"/>
              </a:rPr>
              <a:t>TiN</a:t>
            </a:r>
            <a:r>
              <a:rPr lang="zh-CN" altLang="en-US" sz="3200" dirty="0">
                <a:solidFill>
                  <a:schemeClr val="tx1"/>
                </a:solidFill>
                <a:ea typeface="华文中宋" panose="02010600040101010101" pitchFamily="2" charset="-122"/>
              </a:rPr>
              <a:t>，并沉积在钢的表面形成耐磨抗蚀的沉积层</a:t>
            </a:r>
            <a:r>
              <a:rPr lang="zh-CN" altLang="en-US" sz="3200" dirty="0">
                <a:ea typeface="华文中宋" panose="02010600040101010101" pitchFamily="2" charset="-122"/>
              </a:rPr>
              <a:t>。</a:t>
            </a:r>
            <a:endParaRPr lang="en-US" altLang="zh-CN" sz="3200" dirty="0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sp>
        <p:nvSpPr>
          <p:cNvPr id="20071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785938" y="84132"/>
            <a:ext cx="6402748" cy="8382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ea typeface="华文中宋" panose="02010600040101010101" pitchFamily="2" charset="-122"/>
              </a:rPr>
              <a:t>、化学气相沉积</a:t>
            </a:r>
            <a:r>
              <a:rPr lang="en-US" altLang="zh-CN" b="1" dirty="0">
                <a:ea typeface="华文中宋" panose="02010600040101010101" pitchFamily="2" charset="-122"/>
              </a:rPr>
              <a:t>(CVD)</a:t>
            </a:r>
            <a:endParaRPr lang="en-US" altLang="zh-CN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/>
      <p:bldP spid="3" grpId="0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/>
          </p:cNvSpPr>
          <p:nvPr>
            <p:ph type="title"/>
          </p:nvPr>
        </p:nvSpPr>
        <p:spPr>
          <a:xfrm>
            <a:off x="114300" y="609600"/>
            <a:ext cx="609600" cy="3886200"/>
          </a:xfrm>
        </p:spPr>
        <p:txBody>
          <a:bodyPr vert="horz" wrap="square" lIns="92075" tIns="46038" rIns="92075" bIns="46038" anchor="ctr"/>
          <a:lstStyle/>
          <a:p>
            <a:pPr eaLnBrk="1" fontAlgn="base" hangingPunct="1"/>
            <a:r>
              <a:rPr lang="zh-CN" altLang="en-US" sz="3200" b="1" strike="noStrike" noProof="1">
                <a:solidFill>
                  <a:schemeClr val="folHlink"/>
                </a:solidFill>
                <a:ea typeface="华文中宋" panose="02010600040101010101" pitchFamily="2" charset="-122"/>
              </a:rPr>
              <a:t>化学气相沉积</a:t>
            </a:r>
            <a:endParaRPr lang="zh-CN" altLang="en-US" sz="3200" b="1" strike="noStrike" noProof="1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210948" name="HUAXUER5.MPG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 cstate="print"/>
          <a:stretch>
            <a:fillRect/>
          </a:stretch>
        </p:blipFill>
        <p:spPr>
          <a:xfrm>
            <a:off x="636588" y="0"/>
            <a:ext cx="8507412" cy="695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09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remove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1094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0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09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0948"/>
                  </p:tgtEl>
                </p:cond>
              </p:nextCondLst>
            </p:seq>
          </p:childTnLst>
        </p:cTn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8505" y="6595110"/>
            <a:ext cx="600075" cy="26289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4994" name="Rectangle 2"/>
          <p:cNvSpPr>
            <a:spLocks noGrp="1"/>
          </p:cNvSpPr>
          <p:nvPr>
            <p:ph type="title"/>
          </p:nvPr>
        </p:nvSpPr>
        <p:spPr>
          <a:xfrm>
            <a:off x="575062" y="970502"/>
            <a:ext cx="3780031" cy="5650458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>
              <a:lnSpc>
                <a:spcPct val="135000"/>
              </a:lnSpc>
            </a:pPr>
            <a:r>
              <a:rPr lang="zh-CN" altLang="en-US" sz="2800" b="1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特点</a:t>
            </a:r>
            <a:r>
              <a:rPr lang="zh-CN" altLang="en-US" sz="28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：化学气相</a:t>
            </a:r>
            <a:r>
              <a:rPr lang="zh-CN" altLang="en-US" sz="2800" b="1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沉积膜</a:t>
            </a:r>
            <a:r>
              <a:rPr lang="zh-CN" altLang="en-US" sz="28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层具有</a:t>
            </a:r>
            <a:r>
              <a:rPr lang="zh-CN" altLang="en-US" sz="2800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良好的耐磨性、耐蚀性、耐热性及电学、光学等特殊性能</a:t>
            </a:r>
            <a:br>
              <a:rPr lang="en-US" altLang="zh-CN" sz="2800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br>
              <a:rPr lang="en-US" altLang="zh-CN" sz="2800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</a:br>
            <a:r>
              <a:rPr lang="zh-CN" altLang="en-US" sz="2800" b="1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应用：</a:t>
            </a:r>
            <a:r>
              <a:rPr lang="zh-CN" altLang="en-US" sz="28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已被广泛用于</a:t>
            </a:r>
            <a:r>
              <a:rPr lang="zh-CN" altLang="en-US" sz="2800" b="1" strike="noStrike" noProof="1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机械制造、航空航天、交通运输、煤化工等工业领域。</a:t>
            </a:r>
            <a:endParaRPr lang="zh-CN" altLang="en-US" sz="2800" b="1" strike="noStrike" noProof="1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10"/>
          <p:cNvGrpSpPr>
            <a:grpSpLocks noChangeAspect="1"/>
          </p:cNvGrpSpPr>
          <p:nvPr/>
        </p:nvGrpSpPr>
        <p:grpSpPr>
          <a:xfrm>
            <a:off x="4572000" y="1484838"/>
            <a:ext cx="4171645" cy="4895658"/>
            <a:chOff x="2763" y="384"/>
            <a:chExt cx="2763" cy="3243"/>
          </a:xfrm>
        </p:grpSpPr>
        <p:pic>
          <p:nvPicPr>
            <p:cNvPr id="202756" name="Picture 5" descr="P8经PCVD处理的模具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9" y="1968"/>
              <a:ext cx="2667" cy="1659"/>
            </a:xfrm>
            <a:prstGeom prst="rect">
              <a:avLst/>
            </a:prstGeom>
            <a:noFill/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2757" name="Text Box 6"/>
            <p:cNvSpPr txBox="1">
              <a:spLocks noChangeAspect="1"/>
            </p:cNvSpPr>
            <p:nvPr/>
          </p:nvSpPr>
          <p:spPr>
            <a:xfrm>
              <a:off x="3050" y="3364"/>
              <a:ext cx="1632" cy="2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经</a:t>
              </a:r>
              <a:r>
                <a:rPr lang="en-US" altLang="zh-CN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CVD</a:t>
              </a:r>
              <a:r>
                <a:rPr lang="zh-CN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处理的模具</a:t>
              </a:r>
              <a:endParaRPr lang="zh-CN" alt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202758" name="Picture 8" descr="化学气相沉积活塞环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1" y="384"/>
              <a:ext cx="2715" cy="1250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2759" name="Text Box 9"/>
            <p:cNvSpPr txBox="1">
              <a:spLocks noChangeAspect="1"/>
            </p:cNvSpPr>
            <p:nvPr/>
          </p:nvSpPr>
          <p:spPr>
            <a:xfrm>
              <a:off x="2763" y="1213"/>
              <a:ext cx="1002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经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CVD</a:t>
              </a: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处理的活塞环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2761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 txBox="1"/>
          <p:nvPr/>
        </p:nvSpPr>
        <p:spPr bwMode="auto">
          <a:xfrm>
            <a:off x="1515569" y="99520"/>
            <a:ext cx="6402748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</a:pPr>
            <a:r>
              <a:rPr lang="en-US" altLang="zh-CN" b="1" kern="0" dirty="0">
                <a:ea typeface="华文中宋" panose="02010600040101010101" pitchFamily="2" charset="-122"/>
              </a:rPr>
              <a:t>2</a:t>
            </a:r>
            <a:r>
              <a:rPr lang="zh-CN" altLang="en-US" b="1" kern="0" dirty="0">
                <a:ea typeface="华文中宋" panose="02010600040101010101" pitchFamily="2" charset="-122"/>
              </a:rPr>
              <a:t>、化学气相沉积</a:t>
            </a:r>
            <a:r>
              <a:rPr lang="en-US" altLang="zh-CN" b="1" kern="0" dirty="0">
                <a:ea typeface="华文中宋" panose="02010600040101010101" pitchFamily="2" charset="-122"/>
              </a:rPr>
              <a:t>(CVD)</a:t>
            </a:r>
            <a:endParaRPr lang="en-US" altLang="zh-CN" b="1" kern="0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/>
      <p:bldP spid="3" grpId="0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2805" y="6515100"/>
            <a:ext cx="67119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6018" name="Rectangle 2"/>
          <p:cNvSpPr>
            <a:spLocks noGrp="1"/>
          </p:cNvSpPr>
          <p:nvPr>
            <p:ph type="title"/>
          </p:nvPr>
        </p:nvSpPr>
        <p:spPr>
          <a:xfrm>
            <a:off x="892969" y="1040606"/>
            <a:ext cx="6986588" cy="1862137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zh-CN" altLang="en-US" sz="6600" b="1" strike="noStrike" noProof="1">
                <a:ea typeface="华文中宋" panose="02010600040101010101" pitchFamily="2" charset="-122"/>
              </a:rPr>
              <a:t>三束表面改性技术</a:t>
            </a:r>
            <a:r>
              <a:rPr lang="zh-CN" altLang="en-US" sz="6600" b="1" strike="noStrike" noProof="1"/>
              <a:t> </a:t>
            </a:r>
            <a:endParaRPr lang="zh-CN" altLang="en-US" sz="6600" b="1" strike="noStrike" noProof="1"/>
          </a:p>
        </p:txBody>
      </p:sp>
      <p:grpSp>
        <p:nvGrpSpPr>
          <p:cNvPr id="2" name="Group 13"/>
          <p:cNvGrpSpPr/>
          <p:nvPr/>
        </p:nvGrpSpPr>
        <p:grpSpPr>
          <a:xfrm>
            <a:off x="585300" y="2708940"/>
            <a:ext cx="7916863" cy="2713037"/>
            <a:chOff x="432" y="2304"/>
            <a:chExt cx="4987" cy="1709"/>
          </a:xfrm>
        </p:grpSpPr>
        <p:grpSp>
          <p:nvGrpSpPr>
            <p:cNvPr id="203781" name="Group 11"/>
            <p:cNvGrpSpPr>
              <a:grpSpLocks noChangeAspect="1"/>
            </p:cNvGrpSpPr>
            <p:nvPr/>
          </p:nvGrpSpPr>
          <p:grpSpPr>
            <a:xfrm>
              <a:off x="432" y="2304"/>
              <a:ext cx="4954" cy="1652"/>
              <a:chOff x="252" y="2208"/>
              <a:chExt cx="5448" cy="1816"/>
            </a:xfrm>
          </p:grpSpPr>
          <p:pic>
            <p:nvPicPr>
              <p:cNvPr id="203782" name="Picture 5" descr="jp017激光加工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52" y="2208"/>
                <a:ext cx="1410" cy="1813"/>
              </a:xfrm>
              <a:prstGeom prst="rect">
                <a:avLst/>
              </a:prstGeom>
              <a:noFill/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203783" name="Picture 6" descr="jp015电子束加工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680" y="2208"/>
                <a:ext cx="1646" cy="1815"/>
              </a:xfrm>
              <a:prstGeom prst="rect">
                <a:avLst/>
              </a:prstGeom>
              <a:noFill/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203784" name="Picture 7" descr="jp016等离子加工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356" y="2208"/>
                <a:ext cx="2344" cy="1816"/>
              </a:xfrm>
              <a:prstGeom prst="rect">
                <a:avLst/>
              </a:prstGeom>
              <a:noFill/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86024" name="Text Box 8"/>
            <p:cNvSpPr txBox="1">
              <a:spLocks noChangeAspect="1" noChangeArrowheads="1"/>
            </p:cNvSpPr>
            <p:nvPr/>
          </p:nvSpPr>
          <p:spPr bwMode="auto">
            <a:xfrm>
              <a:off x="1474" y="3177"/>
              <a:ext cx="289" cy="78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vert="eaVert">
              <a:spAutoFit/>
            </a:bodyPr>
            <a:lstStyle/>
            <a:p>
              <a:pPr marR="0" algn="ctr" defTabSz="914400" rtl="0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激光束加工</a:t>
              </a:r>
              <a:endParaRPr kumimoji="1" lang="zh-CN" altLang="en-US" sz="1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3786" name="Text Box 9"/>
            <p:cNvSpPr txBox="1">
              <a:spLocks noChangeAspect="1"/>
            </p:cNvSpPr>
            <p:nvPr/>
          </p:nvSpPr>
          <p:spPr>
            <a:xfrm>
              <a:off x="2980" y="3156"/>
              <a:ext cx="289" cy="821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电子束加工</a:t>
              </a:r>
              <a:endPara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3787" name="Text Box 10"/>
            <p:cNvSpPr txBox="1">
              <a:spLocks noChangeAspect="1"/>
            </p:cNvSpPr>
            <p:nvPr/>
          </p:nvSpPr>
          <p:spPr>
            <a:xfrm>
              <a:off x="5130" y="3000"/>
              <a:ext cx="289" cy="1013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等离子束加工</a:t>
              </a:r>
              <a:endPara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378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72805" y="6515100"/>
            <a:ext cx="67119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6018" name="Rectangle 2"/>
          <p:cNvSpPr>
            <a:spLocks noGrp="1"/>
          </p:cNvSpPr>
          <p:nvPr>
            <p:ph type="title"/>
          </p:nvPr>
        </p:nvSpPr>
        <p:spPr>
          <a:xfrm>
            <a:off x="1357313" y="142875"/>
            <a:ext cx="6986588" cy="752475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zh-CN" altLang="en-US" b="1" strike="noStrike" noProof="1">
                <a:ea typeface="华文中宋" panose="02010600040101010101" pitchFamily="2" charset="-122"/>
              </a:rPr>
              <a:t>三、三束表面改性技术</a:t>
            </a:r>
            <a:r>
              <a:rPr lang="zh-CN" altLang="en-US" b="1" strike="noStrike" noProof="1"/>
              <a:t> </a:t>
            </a:r>
            <a:endParaRPr lang="zh-CN" altLang="en-US" b="1" strike="noStrike" noProof="1"/>
          </a:p>
        </p:txBody>
      </p:sp>
      <p:sp>
        <p:nvSpPr>
          <p:cNvPr id="86019" name="Rectangle 3"/>
          <p:cNvSpPr>
            <a:spLocks noGrp="1"/>
          </p:cNvSpPr>
          <p:nvPr>
            <p:ph idx="1"/>
          </p:nvPr>
        </p:nvSpPr>
        <p:spPr>
          <a:xfrm>
            <a:off x="373380" y="4012631"/>
            <a:ext cx="8458200" cy="51054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三束表面改性技术：</a:t>
            </a:r>
            <a:r>
              <a:rPr lang="zh-CN" altLang="en-US" sz="2800" b="1" dirty="0">
                <a:ea typeface="华文中宋" panose="02010600040101010101" pitchFamily="2" charset="-122"/>
              </a:rPr>
              <a:t>是指将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激光束、电子束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离子束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合称“三束”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ea typeface="华文中宋" panose="02010600040101010101" pitchFamily="2" charset="-122"/>
              </a:rPr>
              <a:t>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具有高能量密度的能源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一般大于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10</a:t>
            </a:r>
            <a:r>
              <a:rPr lang="en-US" altLang="zh-CN" sz="2800" b="1" baseline="30000" dirty="0">
                <a:solidFill>
                  <a:srgbClr val="CCFFFF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W/cm</a:t>
            </a:r>
            <a:r>
              <a:rPr lang="en-US" altLang="zh-CN" sz="2800" b="1" baseline="30000" dirty="0">
                <a:solidFill>
                  <a:srgbClr val="CCFFFF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施加到材料表面，使之发生物理、化学变化，以获得特殊表面性能的技术。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673916" y="1268820"/>
            <a:ext cx="7916863" cy="2713037"/>
            <a:chOff x="432" y="2304"/>
            <a:chExt cx="4987" cy="1709"/>
          </a:xfrm>
        </p:grpSpPr>
        <p:grpSp>
          <p:nvGrpSpPr>
            <p:cNvPr id="203781" name="Group 11"/>
            <p:cNvGrpSpPr>
              <a:grpSpLocks noChangeAspect="1"/>
            </p:cNvGrpSpPr>
            <p:nvPr/>
          </p:nvGrpSpPr>
          <p:grpSpPr>
            <a:xfrm>
              <a:off x="432" y="2304"/>
              <a:ext cx="4954" cy="1652"/>
              <a:chOff x="252" y="2208"/>
              <a:chExt cx="5448" cy="1816"/>
            </a:xfrm>
          </p:grpSpPr>
          <p:pic>
            <p:nvPicPr>
              <p:cNvPr id="203782" name="Picture 5" descr="jp017激光加工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252" y="2208"/>
                <a:ext cx="1410" cy="1813"/>
              </a:xfrm>
              <a:prstGeom prst="rect">
                <a:avLst/>
              </a:prstGeom>
              <a:noFill/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203783" name="Picture 6" descr="jp015电子束加工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680" y="2208"/>
                <a:ext cx="1646" cy="1815"/>
              </a:xfrm>
              <a:prstGeom prst="rect">
                <a:avLst/>
              </a:prstGeom>
              <a:noFill/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203784" name="Picture 7" descr="jp016等离子加工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356" y="2208"/>
                <a:ext cx="2344" cy="1816"/>
              </a:xfrm>
              <a:prstGeom prst="rect">
                <a:avLst/>
              </a:prstGeom>
              <a:noFill/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86024" name="Text Box 8"/>
            <p:cNvSpPr txBox="1">
              <a:spLocks noChangeAspect="1" noChangeArrowheads="1"/>
            </p:cNvSpPr>
            <p:nvPr/>
          </p:nvSpPr>
          <p:spPr bwMode="auto">
            <a:xfrm>
              <a:off x="1474" y="3177"/>
              <a:ext cx="289" cy="786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vert="eaVert">
              <a:spAutoFit/>
            </a:bodyPr>
            <a:lstStyle/>
            <a:p>
              <a:pPr marR="0" algn="ctr" defTabSz="914400" rtl="0">
                <a:buClrTx/>
                <a:buSzTx/>
                <a:buFontTx/>
                <a:buNone/>
                <a:defRPr/>
              </a:pPr>
              <a:r>
                <a:rPr kumimoji="1" lang="zh-CN" altLang="en-US" kern="1200" cap="none" spc="0" normalizeH="0" baseline="0" noProof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激光束加工</a:t>
              </a:r>
              <a:endParaRPr kumimoji="1" lang="zh-CN" altLang="en-US" sz="1400" kern="1200" cap="none" spc="0" normalizeH="0" baseline="0" noProof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3786" name="Text Box 9"/>
            <p:cNvSpPr txBox="1">
              <a:spLocks noChangeAspect="1"/>
            </p:cNvSpPr>
            <p:nvPr/>
          </p:nvSpPr>
          <p:spPr>
            <a:xfrm>
              <a:off x="2980" y="3156"/>
              <a:ext cx="289" cy="821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电子束加工</a:t>
              </a:r>
              <a:endPara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3787" name="Text Box 10"/>
            <p:cNvSpPr txBox="1">
              <a:spLocks noChangeAspect="1"/>
            </p:cNvSpPr>
            <p:nvPr/>
          </p:nvSpPr>
          <p:spPr>
            <a:xfrm>
              <a:off x="5130" y="3000"/>
              <a:ext cx="289" cy="1013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等离子束加工</a:t>
              </a:r>
              <a:endPara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3789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  <p:bldP spid="86019" grpId="0" advAuto="1000" build="p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53450" y="6544310"/>
            <a:ext cx="575310" cy="28448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7042" name="Rectangle 2"/>
          <p:cNvSpPr>
            <a:spLocks noGrp="1"/>
          </p:cNvSpPr>
          <p:nvPr>
            <p:ph idx="1"/>
          </p:nvPr>
        </p:nvSpPr>
        <p:spPr>
          <a:xfrm>
            <a:off x="256598" y="1076325"/>
            <a:ext cx="5539504" cy="52578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由于这些束流具有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极高的能量密度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，可对材料表面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进行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快速加热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快速冷却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使表层的结构和成分发生大幅度改变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如形成微晶、纳米晶、非晶、亚稳成分固溶体和化合物等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 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从而获得所需要的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特殊性能。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束流技术还具有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能量利用率高、工件变形小、生产效率高</a:t>
            </a:r>
            <a:r>
              <a:rPr lang="zh-CN" altLang="en-US" sz="2800" b="1" dirty="0">
                <a:ea typeface="华文中宋" panose="02010600040101010101" pitchFamily="2" charset="-122"/>
              </a:rPr>
              <a:t>等特点。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>
          <a:xfrm>
            <a:off x="6004835" y="1916874"/>
            <a:ext cx="2814616" cy="3782646"/>
            <a:chOff x="3448" y="933"/>
            <a:chExt cx="2269" cy="3049"/>
          </a:xfrm>
        </p:grpSpPr>
        <p:pic>
          <p:nvPicPr>
            <p:cNvPr id="204805" name="Picture 3" descr="离子束溅射系统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48" y="933"/>
              <a:ext cx="2269" cy="3022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7045" name="Text Box 5"/>
            <p:cNvSpPr txBox="1">
              <a:spLocks noChangeAspect="1" noChangeArrowheads="1"/>
            </p:cNvSpPr>
            <p:nvPr/>
          </p:nvSpPr>
          <p:spPr bwMode="auto">
            <a:xfrm>
              <a:off x="3738" y="3659"/>
              <a:ext cx="1754" cy="323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R="0" algn="ctr" defTabSz="914400" rtl="0"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2000" kern="1200" cap="none" spc="0" normalizeH="0" baseline="0" noProof="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离子束溅射系统</a:t>
              </a:r>
              <a:endParaRPr kumimoji="1" lang="zh-CN" altLang="en-US" sz="2000" kern="1200" cap="none" spc="0" normalizeH="0" baseline="0" noProof="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480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357313" y="142875"/>
            <a:ext cx="6986588" cy="752475"/>
          </a:xfrm>
        </p:spPr>
        <p:txBody>
          <a:bodyPr vert="horz" wrap="square" lIns="92075" tIns="46038" rIns="92075" bIns="46038" anchor="ctr"/>
          <a:lstStyle/>
          <a:p>
            <a:pPr algn="l" eaLnBrk="1" fontAlgn="base" hangingPunct="1"/>
            <a:r>
              <a:rPr lang="zh-CN" altLang="en-US" b="1" strike="noStrike" noProof="1">
                <a:ea typeface="华文中宋" panose="02010600040101010101" pitchFamily="2" charset="-122"/>
              </a:rPr>
              <a:t>三、三束表面改性技术</a:t>
            </a:r>
            <a:r>
              <a:rPr lang="zh-CN" altLang="en-US" b="1" strike="noStrike" noProof="1"/>
              <a:t> </a:t>
            </a:r>
            <a:endParaRPr lang="zh-CN" altLang="en-US" b="1" strike="noStrike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dvAuto="1000" build="p"/>
      <p:bldP spid="3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8505" y="6515100"/>
            <a:ext cx="60007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8066" name="Rectangle 2"/>
          <p:cNvSpPr>
            <a:spLocks noGrp="1"/>
          </p:cNvSpPr>
          <p:nvPr>
            <p:ph idx="1"/>
          </p:nvPr>
        </p:nvSpPr>
        <p:spPr>
          <a:xfrm>
            <a:off x="583408" y="1009650"/>
            <a:ext cx="8572500" cy="40386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激光束能量密度高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(10</a:t>
            </a:r>
            <a:r>
              <a:rPr lang="en-US" altLang="zh-CN" sz="2800" b="1" baseline="30000" dirty="0">
                <a:solidFill>
                  <a:srgbClr val="CCFFFF"/>
                </a:solidFill>
                <a:ea typeface="华文中宋" panose="02010600040101010101" pitchFamily="2" charset="-122"/>
              </a:rPr>
              <a:t>6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W/cm</a:t>
            </a:r>
            <a:r>
              <a:rPr lang="en-US" altLang="zh-CN" sz="2800" b="1" baseline="30000" dirty="0">
                <a:solidFill>
                  <a:srgbClr val="CCFFFF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，可在短时间内将工件表面快速加热或融化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而心部温度基本不变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; 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当激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88067" name="Rectangle 3"/>
          <p:cNvSpPr/>
          <p:nvPr/>
        </p:nvSpPr>
        <p:spPr>
          <a:xfrm>
            <a:off x="676274" y="2210677"/>
            <a:ext cx="3391683" cy="42862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光辐射停止后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由于散热速度快，又会产生“自激冷”。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2800" dirty="0">
                <a:ea typeface="华文中宋" panose="02010600040101010101" pitchFamily="2" charset="-122"/>
              </a:rPr>
              <a:t>应用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: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r>
              <a:rPr lang="zh-CN" altLang="en-US" sz="2800" dirty="0">
                <a:solidFill>
                  <a:schemeClr val="tx2"/>
                </a:solidFill>
                <a:ea typeface="华文中宋" panose="02010600040101010101" pitchFamily="2" charset="-122"/>
              </a:rPr>
              <a:t>激光表面淬火</a:t>
            </a:r>
            <a:r>
              <a:rPr lang="zh-CN" altLang="en-US" sz="2800" dirty="0">
                <a:solidFill>
                  <a:srgbClr val="CCFF33"/>
                </a:solidFill>
                <a:ea typeface="华文中宋" panose="02010600040101010101" pitchFamily="2" charset="-122"/>
              </a:rPr>
              <a:t>（激光相变硬化）；</a:t>
            </a:r>
            <a:endParaRPr lang="en-US" altLang="zh-CN" sz="2800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r>
              <a:rPr lang="zh-CN" altLang="en-US" sz="2800" dirty="0">
                <a:solidFill>
                  <a:schemeClr val="tx2"/>
                </a:solidFill>
                <a:ea typeface="华文中宋" panose="02010600040101010101" pitchFamily="2" charset="-122"/>
              </a:rPr>
              <a:t>激光表面合金化；</a:t>
            </a:r>
            <a:endParaRPr lang="zh-CN" altLang="en-US" sz="2800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endParaRPr lang="zh-CN" altLang="en-US" sz="2800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4283976" y="2996964"/>
            <a:ext cx="4183749" cy="3063673"/>
            <a:chOff x="2160" y="1632"/>
            <a:chExt cx="3174" cy="2190"/>
          </a:xfrm>
        </p:grpSpPr>
        <p:pic>
          <p:nvPicPr>
            <p:cNvPr id="205829" name="Picture 5" descr="CO2连续激光器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160" y="1632"/>
              <a:ext cx="3139" cy="2141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5830" name="Text Box 6"/>
            <p:cNvSpPr txBox="1">
              <a:spLocks noChangeAspect="1"/>
            </p:cNvSpPr>
            <p:nvPr/>
          </p:nvSpPr>
          <p:spPr>
            <a:xfrm>
              <a:off x="4072" y="3536"/>
              <a:ext cx="1262" cy="2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</a:t>
              </a:r>
              <a:r>
                <a:rPr lang="en-US" altLang="zh-CN" sz="20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激光器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832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357313" y="142875"/>
            <a:ext cx="6986588" cy="75247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ea typeface="华文中宋" panose="02010600040101010101" pitchFamily="2" charset="-122"/>
              </a:rPr>
              <a:t>、激光束表面改性技术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 advAuto="1000" build="p"/>
      <p:bldP spid="88067" grpId="0"/>
      <p:bldP spid="3" grpId="0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95110"/>
            <a:ext cx="528320" cy="26289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89090" name="Rectangle 2"/>
          <p:cNvSpPr>
            <a:spLocks noGrp="1"/>
          </p:cNvSpPr>
          <p:nvPr>
            <p:ph idx="1"/>
          </p:nvPr>
        </p:nvSpPr>
        <p:spPr>
          <a:xfrm>
            <a:off x="373380" y="895350"/>
            <a:ext cx="8610600" cy="40386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sz="2800" b="1" dirty="0">
                <a:ea typeface="华文中宋" panose="02010600040101010101" pitchFamily="2" charset="-122"/>
              </a:rPr>
              <a:t>激光表面淬火件硬度高（比普通淬火高</a:t>
            </a:r>
            <a:r>
              <a:rPr lang="en-US" altLang="zh-CN" sz="2800" b="1" dirty="0">
                <a:ea typeface="华文中宋" panose="02010600040101010101" pitchFamily="2" charset="-122"/>
              </a:rPr>
              <a:t>15~20%)</a:t>
            </a:r>
            <a:r>
              <a:rPr lang="zh-CN" altLang="en-US" sz="2800" b="1" dirty="0">
                <a:ea typeface="华文中宋" panose="02010600040101010101" pitchFamily="2" charset="-122"/>
              </a:rPr>
              <a:t>、耐磨、耐疲劳，变形极小，表面光亮。</a:t>
            </a:r>
            <a:endParaRPr lang="zh-CN" altLang="en-US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应用：发动机缸套、滚动轴承圈、机床导轨、冷作模具 等。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9"/>
          <p:cNvGrpSpPr>
            <a:grpSpLocks noChangeAspect="1"/>
          </p:cNvGrpSpPr>
          <p:nvPr/>
        </p:nvGrpSpPr>
        <p:grpSpPr>
          <a:xfrm>
            <a:off x="857250" y="3460513"/>
            <a:ext cx="7558088" cy="2906949"/>
            <a:chOff x="480" y="2196"/>
            <a:chExt cx="4836" cy="1860"/>
          </a:xfrm>
        </p:grpSpPr>
        <p:pic>
          <p:nvPicPr>
            <p:cNvPr id="206852" name="Picture 4" descr="激光淬火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61" y="2196"/>
              <a:ext cx="2755" cy="1836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06853" name="Picture 5" descr="激光淬火件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" y="2216"/>
              <a:ext cx="1671" cy="1816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6854" name="Text Box 6"/>
            <p:cNvSpPr txBox="1">
              <a:spLocks noChangeAspect="1"/>
            </p:cNvSpPr>
            <p:nvPr/>
          </p:nvSpPr>
          <p:spPr>
            <a:xfrm>
              <a:off x="1907" y="2808"/>
              <a:ext cx="313" cy="1248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激光表面淬火件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6855" name="Text Box 8"/>
            <p:cNvSpPr txBox="1">
              <a:spLocks noChangeAspect="1"/>
            </p:cNvSpPr>
            <p:nvPr/>
          </p:nvSpPr>
          <p:spPr>
            <a:xfrm>
              <a:off x="4439" y="2332"/>
              <a:ext cx="720" cy="44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激光表面淬火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6857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043706" y="142875"/>
            <a:ext cx="7848653" cy="75247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sz="4000" b="1" dirty="0">
                <a:ea typeface="华文中宋" panose="02010600040101010101" pitchFamily="2" charset="-122"/>
              </a:rPr>
              <a:t>⑴ </a:t>
            </a:r>
            <a:r>
              <a:rPr lang="zh-CN" altLang="en-US" sz="4000" b="1" dirty="0">
                <a:ea typeface="华文中宋" panose="02010600040101010101" pitchFamily="2" charset="-122"/>
              </a:rPr>
              <a:t>激光表面淬火</a:t>
            </a:r>
            <a:r>
              <a:rPr lang="zh-CN" altLang="en-US" sz="4000" b="1" dirty="0">
                <a:solidFill>
                  <a:srgbClr val="CCFF33"/>
                </a:solidFill>
                <a:ea typeface="华文中宋" panose="02010600040101010101" pitchFamily="2" charset="-122"/>
              </a:rPr>
              <a:t>（激光相变硬化）</a:t>
            </a:r>
            <a:endParaRPr lang="zh-CN" altLang="en-US" sz="4000" b="1" dirty="0">
              <a:solidFill>
                <a:srgbClr val="CCFF33"/>
              </a:solidFill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9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dvAuto="1000" build="p"/>
      <p:bldP spid="3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629400"/>
            <a:ext cx="528955" cy="2286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0114" name="Rectangle 2"/>
          <p:cNvSpPr>
            <a:spLocks noGrp="1"/>
          </p:cNvSpPr>
          <p:nvPr>
            <p:ph idx="1"/>
          </p:nvPr>
        </p:nvSpPr>
        <p:spPr>
          <a:xfrm>
            <a:off x="297039" y="1052802"/>
            <a:ext cx="8610600" cy="590073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kern="1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工艺：</a:t>
            </a:r>
            <a:r>
              <a:rPr lang="zh-CN" altLang="en-US" sz="2800" b="1" dirty="0">
                <a:ea typeface="华文中宋" panose="02010600040101010101" pitchFamily="2" charset="-122"/>
              </a:rPr>
              <a:t>预先用镀膜或喷涂等技术把所要求的合金元素涂敷到工件表面，再用激光束照射涂敷表面，使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sp>
        <p:nvSpPr>
          <p:cNvPr id="90115" name="Rectangle 3"/>
          <p:cNvSpPr/>
          <p:nvPr/>
        </p:nvSpPr>
        <p:spPr>
          <a:xfrm>
            <a:off x="365676" y="2396101"/>
            <a:ext cx="5286414" cy="4343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chemeClr val="tx1"/>
                </a:solidFill>
                <a:ea typeface="华文中宋" panose="02010600040101010101" pitchFamily="2" charset="-122"/>
              </a:rPr>
              <a:t>  表面膜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与基体材料表层融合在一起并迅速凝固，从而形成成分与结构均不同于基体的、具有特殊性能的合金化表层。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应用：</a:t>
            </a:r>
            <a:r>
              <a:rPr lang="zh-CN" altLang="en-US" sz="2800" dirty="0">
                <a:solidFill>
                  <a:schemeClr val="tx1"/>
                </a:solidFill>
                <a:ea typeface="华文中宋" panose="02010600040101010101" pitchFamily="2" charset="-122"/>
              </a:rPr>
              <a:t>已成功用于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发动机阀座和活塞环、涡轮叶片等零件的性能和寿命的改善。 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6055266" y="2760191"/>
            <a:ext cx="2863850" cy="3352800"/>
            <a:chOff x="3595" y="1707"/>
            <a:chExt cx="1804" cy="2112"/>
          </a:xfrm>
        </p:grpSpPr>
        <p:pic>
          <p:nvPicPr>
            <p:cNvPr id="207877" name="Picture 7" descr="激光表面合金化热剪断刀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595" y="1765"/>
              <a:ext cx="1744" cy="1995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7878" name="Text Box 8"/>
            <p:cNvSpPr txBox="1">
              <a:spLocks noChangeAspect="1"/>
            </p:cNvSpPr>
            <p:nvPr/>
          </p:nvSpPr>
          <p:spPr>
            <a:xfrm>
              <a:off x="5091" y="1707"/>
              <a:ext cx="308" cy="2112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激光合金化热剪断刀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20788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/>
          <p:cNvSpPr>
            <a:spLocks noGrp="1"/>
          </p:cNvSpPr>
          <p:nvPr>
            <p:ph type="title"/>
          </p:nvPr>
        </p:nvSpPr>
        <p:spPr>
          <a:xfrm>
            <a:off x="1043706" y="142875"/>
            <a:ext cx="7848653" cy="752475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en-US" altLang="zh-CN" b="1" dirty="0">
                <a:ea typeface="华文中宋" panose="02010600040101010101" pitchFamily="2" charset="-122"/>
              </a:rPr>
              <a:t>⑵ </a:t>
            </a:r>
            <a:r>
              <a:rPr lang="zh-CN" altLang="en-US" b="1" dirty="0">
                <a:ea typeface="华文中宋" panose="02010600040101010101" pitchFamily="2" charset="-122"/>
              </a:rPr>
              <a:t>激光表面合金化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advAuto="1000" build="p"/>
      <p:bldP spid="90115" grpId="0"/>
      <p:bldP spid="3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680" y="6583680"/>
            <a:ext cx="528320" cy="27432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1138" name="Rectangle 2"/>
          <p:cNvSpPr>
            <a:spLocks noGrp="1"/>
          </p:cNvSpPr>
          <p:nvPr>
            <p:ph idx="1"/>
          </p:nvPr>
        </p:nvSpPr>
        <p:spPr>
          <a:xfrm>
            <a:off x="228600" y="990600"/>
            <a:ext cx="3886200" cy="51054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电子束表面改性技术：是以在电场中高速移动</a:t>
            </a:r>
            <a:r>
              <a:rPr lang="zh-CN" altLang="en-US" sz="2800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电子作为载能体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电子束的能量密度最高可达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10</a:t>
            </a:r>
            <a:r>
              <a:rPr lang="en-US" altLang="zh-CN" sz="2800" b="1" baseline="30000" dirty="0">
                <a:solidFill>
                  <a:schemeClr val="folHlink"/>
                </a:solidFill>
                <a:ea typeface="华文中宋" panose="02010600040101010101" pitchFamily="2" charset="-122"/>
              </a:rPr>
              <a:t>9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W/cm</a:t>
            </a:r>
            <a:r>
              <a:rPr lang="en-US" altLang="zh-CN" sz="2800" b="1" baseline="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除所使用的热源不同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sp>
        <p:nvSpPr>
          <p:cNvPr id="91139" name="Rectangle 3"/>
          <p:cNvSpPr/>
          <p:nvPr/>
        </p:nvSpPr>
        <p:spPr>
          <a:xfrm>
            <a:off x="228600" y="4419600"/>
            <a:ext cx="8610600" cy="1981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外，电子束表面改性技术与</a:t>
            </a:r>
            <a:r>
              <a:rPr kumimoji="1" lang="zh-CN" altLang="en-US" sz="2800" dirty="0">
                <a:latin typeface="+mn-lt"/>
                <a:ea typeface="华文中宋" panose="02010600040101010101" pitchFamily="2" charset="-122"/>
              </a:rPr>
              <a:t>激光束表面改性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技术的原理和工艺基本类似。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solidFill>
                  <a:schemeClr val="tx1"/>
                </a:solidFill>
                <a:ea typeface="华文中宋" panose="02010600040101010101" pitchFamily="2" charset="-122"/>
              </a:rPr>
              <a:t>凡</a:t>
            </a:r>
            <a:r>
              <a:rPr lang="zh-CN" altLang="en-US" sz="2800" dirty="0">
                <a:solidFill>
                  <a:srgbClr val="00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激光束</a:t>
            </a:r>
            <a:r>
              <a:rPr lang="zh-CN" altLang="en-US" sz="2800" dirty="0">
                <a:solidFill>
                  <a:schemeClr val="tx1"/>
                </a:solidFill>
                <a:ea typeface="华文中宋" panose="02010600040101010101" pitchFamily="2" charset="-122"/>
              </a:rPr>
              <a:t>可</a:t>
            </a:r>
            <a:r>
              <a:rPr lang="zh-CN" altLang="en-US" sz="2800" dirty="0">
                <a:solidFill>
                  <a:srgbClr val="00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进行的处理，电子束</a:t>
            </a:r>
            <a:r>
              <a:rPr lang="zh-CN" altLang="en-US" sz="2800" dirty="0">
                <a:solidFill>
                  <a:schemeClr val="tx1"/>
                </a:solidFill>
                <a:ea typeface="华文中宋" panose="02010600040101010101" pitchFamily="2" charset="-122"/>
              </a:rPr>
              <a:t>也</a:t>
            </a:r>
            <a:r>
              <a:rPr lang="zh-CN" altLang="en-US" sz="2800" dirty="0">
                <a:solidFill>
                  <a:srgbClr val="00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都可</a:t>
            </a:r>
            <a:r>
              <a:rPr lang="zh-CN" altLang="en-US" sz="2800" dirty="0">
                <a:solidFill>
                  <a:schemeClr val="tx1"/>
                </a:solidFill>
                <a:ea typeface="华文中宋" panose="02010600040101010101" pitchFamily="2" charset="-122"/>
              </a:rPr>
              <a:t>进行</a:t>
            </a:r>
            <a:r>
              <a:rPr lang="zh-CN" altLang="en-US" sz="2800" dirty="0">
                <a:solidFill>
                  <a:srgbClr val="00FF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2800" dirty="0">
              <a:solidFill>
                <a:srgbClr val="00FF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>
          <a:xfrm>
            <a:off x="4267200" y="1371600"/>
            <a:ext cx="4138613" cy="2754313"/>
            <a:chOff x="2640" y="780"/>
            <a:chExt cx="2725" cy="1813"/>
          </a:xfrm>
        </p:grpSpPr>
        <p:pic>
          <p:nvPicPr>
            <p:cNvPr id="208901" name="Picture 5" descr="电子束改性设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676" y="780"/>
              <a:ext cx="2689" cy="1813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8902" name="Text Box 6"/>
            <p:cNvSpPr txBox="1">
              <a:spLocks noChangeAspect="1"/>
            </p:cNvSpPr>
            <p:nvPr/>
          </p:nvSpPr>
          <p:spPr>
            <a:xfrm>
              <a:off x="2640" y="2352"/>
              <a:ext cx="1535" cy="241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电子束表面改性装置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91143" name="Text Box 7"/>
          <p:cNvSpPr txBox="1"/>
          <p:nvPr/>
        </p:nvSpPr>
        <p:spPr>
          <a:xfrm>
            <a:off x="2182439" y="159510"/>
            <a:ext cx="6500813" cy="7699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、电子束表面改性技术</a:t>
            </a:r>
            <a:endParaRPr lang="zh-CN" altLang="en-US" sz="4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8905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 advAuto="1000" build="p"/>
      <p:bldP spid="91139" grpId="0"/>
      <p:bldP spid="91143" grpId="0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29625" y="6515100"/>
            <a:ext cx="528955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2162" name="Rectangle 2"/>
          <p:cNvSpPr>
            <a:spLocks noGrp="1"/>
          </p:cNvSpPr>
          <p:nvPr>
            <p:ph idx="1"/>
          </p:nvPr>
        </p:nvSpPr>
        <p:spPr>
          <a:xfrm>
            <a:off x="336105" y="1053429"/>
            <a:ext cx="4112204" cy="49530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与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激光束表面改性</a:t>
            </a:r>
            <a:r>
              <a:rPr lang="zh-CN" altLang="en-US" sz="2800" b="1" dirty="0">
                <a:ea typeface="华文中宋" panose="02010600040101010101" pitchFamily="2" charset="-122"/>
              </a:rPr>
              <a:t>技术相比，电子束表面改性技术还具有以下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: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①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由于电子束具有更高的能量密度，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所以加热的尺寸范围和深度更大。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92164" name="Rectangle 4"/>
          <p:cNvSpPr/>
          <p:nvPr/>
        </p:nvSpPr>
        <p:spPr>
          <a:xfrm>
            <a:off x="373380" y="4509171"/>
            <a:ext cx="8686800" cy="2590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②设备投资较低，操作较方便</a:t>
            </a:r>
            <a:r>
              <a:rPr lang="zh-CN" altLang="en-US" sz="2800" dirty="0">
                <a:solidFill>
                  <a:srgbClr val="CCFF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（无需象激光束处理那样在处理之前进行“黑化”）。</a:t>
            </a:r>
            <a:endParaRPr lang="zh-CN" altLang="en-US" sz="2800" dirty="0">
              <a:solidFill>
                <a:srgbClr val="CCFF66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③</a:t>
            </a:r>
            <a:r>
              <a:rPr kumimoji="1" lang="zh-CN" altLang="en-US" sz="28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</a:rPr>
              <a:t>因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需要真空条件，故零件的尺寸受到限制。</a:t>
            </a: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6"/>
          <p:cNvGrpSpPr>
            <a:grpSpLocks noChangeAspect="1"/>
          </p:cNvGrpSpPr>
          <p:nvPr/>
        </p:nvGrpSpPr>
        <p:grpSpPr>
          <a:xfrm>
            <a:off x="4485977" y="1196392"/>
            <a:ext cx="4574239" cy="3313338"/>
            <a:chOff x="2258" y="134"/>
            <a:chExt cx="3454" cy="2502"/>
          </a:xfrm>
        </p:grpSpPr>
        <p:pic>
          <p:nvPicPr>
            <p:cNvPr id="209925" name="Picture 3" descr="电子束物理气相沉积真空室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58" y="134"/>
              <a:ext cx="3454" cy="2502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9926" name="Text Box 5"/>
            <p:cNvSpPr txBox="1">
              <a:spLocks noChangeAspect="1"/>
            </p:cNvSpPr>
            <p:nvPr/>
          </p:nvSpPr>
          <p:spPr>
            <a:xfrm>
              <a:off x="2315" y="134"/>
              <a:ext cx="1104" cy="4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电子束物理气相沉积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992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7"/>
          <p:cNvSpPr txBox="1"/>
          <p:nvPr/>
        </p:nvSpPr>
        <p:spPr>
          <a:xfrm>
            <a:off x="2182439" y="159510"/>
            <a:ext cx="6500813" cy="7699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44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、电子束表面改性技术</a:t>
            </a:r>
            <a:endParaRPr lang="zh-CN" altLang="en-US" sz="4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dvAuto="1000" build="p"/>
      <p:bldP spid="92164" grpId="0"/>
      <p:bldP spid="3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86800" y="6515100"/>
            <a:ext cx="457200" cy="3429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3186" name="Rectangle 2"/>
          <p:cNvSpPr>
            <a:spLocks noGrp="1"/>
          </p:cNvSpPr>
          <p:nvPr>
            <p:ph idx="1"/>
          </p:nvPr>
        </p:nvSpPr>
        <p:spPr>
          <a:xfrm>
            <a:off x="323646" y="1412832"/>
            <a:ext cx="8712726" cy="5169018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离子注入：</a:t>
            </a:r>
            <a:r>
              <a:rPr lang="zh-CN" altLang="en-US" sz="2800" b="1" dirty="0">
                <a:ea typeface="华文中宋" panose="02010600040101010101" pitchFamily="2" charset="-122"/>
              </a:rPr>
              <a:t>指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在真空下，将注入元素离子</a:t>
            </a:r>
            <a:r>
              <a:rPr lang="zh-CN" altLang="en-US" sz="2800" b="1" dirty="0">
                <a:ea typeface="华文中宋" panose="02010600040101010101" pitchFamily="2" charset="-122"/>
              </a:rPr>
              <a:t>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几万至几十万电子伏特电场作用下高速注入材料表面，使材料表面层的物理、化学和机械性能发生变化的方法</a:t>
            </a: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.</a:t>
            </a: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1043706" y="3573012"/>
            <a:ext cx="7379569" cy="2845898"/>
            <a:chOff x="432" y="1968"/>
            <a:chExt cx="4874" cy="2075"/>
          </a:xfrm>
        </p:grpSpPr>
        <p:pic>
          <p:nvPicPr>
            <p:cNvPr id="210948" name="Picture 4" descr="P-1离子注入处理的航空液压泵配流盘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59" y="1968"/>
              <a:ext cx="2047" cy="2047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0949" name="Text Box 5"/>
            <p:cNvSpPr txBox="1">
              <a:spLocks noChangeAspect="1"/>
            </p:cNvSpPr>
            <p:nvPr/>
          </p:nvSpPr>
          <p:spPr>
            <a:xfrm>
              <a:off x="3257" y="3766"/>
              <a:ext cx="1877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离子注入航空液压泵配流盘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210950" name="Picture 7" descr="离子注入机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" y="1968"/>
              <a:ext cx="2727" cy="2047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0951" name="Text Box 8"/>
            <p:cNvSpPr txBox="1">
              <a:spLocks noChangeAspect="1"/>
            </p:cNvSpPr>
            <p:nvPr/>
          </p:nvSpPr>
          <p:spPr>
            <a:xfrm>
              <a:off x="2049" y="3774"/>
              <a:ext cx="1108" cy="269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离子注入设备</a:t>
              </a:r>
              <a:endParaRPr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0953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7"/>
          <p:cNvSpPr txBox="1"/>
          <p:nvPr/>
        </p:nvSpPr>
        <p:spPr>
          <a:xfrm>
            <a:off x="1547748" y="161206"/>
            <a:ext cx="7063498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4400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4400" dirty="0">
                <a:solidFill>
                  <a:schemeClr val="tx2"/>
                </a:solidFill>
                <a:ea typeface="华文中宋" panose="02010600040101010101" pitchFamily="2" charset="-122"/>
              </a:rPr>
              <a:t>、离子注入表面改性技术</a:t>
            </a:r>
            <a:endParaRPr lang="zh-CN" altLang="en-US" sz="4400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dvAuto="1000" build="p"/>
      <p:bldP spid="3" grpId="0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6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3925" y="6553200"/>
            <a:ext cx="600075" cy="30480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4210" name="Rectangle 2"/>
          <p:cNvSpPr>
            <a:spLocks noGrp="1"/>
          </p:cNvSpPr>
          <p:nvPr>
            <p:ph idx="1"/>
          </p:nvPr>
        </p:nvSpPr>
        <p:spPr>
          <a:xfrm>
            <a:off x="356306" y="1127404"/>
            <a:ext cx="8305800" cy="5305425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离子注入的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特点：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r>
              <a:rPr lang="zh-CN" altLang="en-US" sz="2800" b="1" dirty="0">
                <a:solidFill>
                  <a:srgbClr val="FFFF00"/>
                </a:solidFill>
                <a:ea typeface="华文中宋" panose="02010600040101010101" pitchFamily="2" charset="-122"/>
              </a:rPr>
              <a:t>可注入任何元素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不受固溶度和热平衡的限制；</a:t>
            </a:r>
            <a:endParaRPr lang="zh-CN" altLang="en-US" sz="2800" b="1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注入温度可控，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不氧化、不变形；</a:t>
            </a:r>
            <a:endParaRPr lang="zh-CN" altLang="en-US" sz="2800" b="1" dirty="0">
              <a:solidFill>
                <a:srgbClr val="CCFFFF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注入层厚度可控，</a:t>
            </a:r>
            <a:r>
              <a:rPr lang="zh-CN" altLang="en-US" sz="2800" b="1" dirty="0">
                <a:solidFill>
                  <a:srgbClr val="CCFFFF"/>
                </a:solidFill>
                <a:ea typeface="华文中宋" panose="02010600040101010101" pitchFamily="2" charset="-122"/>
              </a:rPr>
              <a:t>注入元素分布均匀；</a:t>
            </a:r>
            <a:endParaRPr lang="zh-CN" altLang="en-US" sz="2800" b="1" dirty="0">
              <a:solidFill>
                <a:srgbClr val="CCFFFF"/>
              </a:solidFill>
              <a:ea typeface="华文中宋" panose="02010600040101010101" pitchFamily="2" charset="-122"/>
            </a:endParaRPr>
          </a:p>
        </p:txBody>
      </p:sp>
      <p:sp>
        <p:nvSpPr>
          <p:cNvPr id="94213" name="Rectangle 5"/>
          <p:cNvSpPr/>
          <p:nvPr/>
        </p:nvSpPr>
        <p:spPr>
          <a:xfrm>
            <a:off x="389165" y="3553392"/>
            <a:ext cx="4538330" cy="3733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④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注入层与基体结合牢固，</a:t>
            </a:r>
            <a:r>
              <a:rPr lang="zh-CN" altLang="en-US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无明显界面</a:t>
            </a:r>
            <a:r>
              <a:rPr lang="en-US" altLang="zh-CN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;</a:t>
            </a:r>
            <a:endParaRPr lang="en-US" altLang="zh-CN" sz="2800" dirty="0">
              <a:solidFill>
                <a:srgbClr val="CCFFFF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har char="l"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⑤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可同时注入多种元素，</a:t>
            </a:r>
            <a:r>
              <a:rPr lang="zh-CN" altLang="en-US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也可获得两层或两层以上性能不同的</a:t>
            </a:r>
            <a:r>
              <a:rPr lang="zh-CN" altLang="en-US" sz="2800" dirty="0">
                <a:ea typeface="华文中宋" panose="02010600040101010101" pitchFamily="2" charset="-122"/>
              </a:rPr>
              <a:t>复合层</a:t>
            </a:r>
            <a:r>
              <a:rPr lang="zh-CN" altLang="en-US" sz="2800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。</a:t>
            </a:r>
            <a:endParaRPr lang="zh-CN" altLang="en-US" sz="3200" b="0" dirty="0">
              <a:solidFill>
                <a:srgbClr val="CC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5292060" y="3501005"/>
            <a:ext cx="3551902" cy="2811453"/>
            <a:chOff x="2592" y="1884"/>
            <a:chExt cx="2525" cy="1932"/>
          </a:xfrm>
        </p:grpSpPr>
        <p:pic>
          <p:nvPicPr>
            <p:cNvPr id="211973" name="Picture 3" descr="离子注入机2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92" y="1920"/>
              <a:ext cx="2485" cy="1896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1974" name="Text Box 6"/>
            <p:cNvSpPr txBox="1">
              <a:spLocks noChangeAspect="1"/>
            </p:cNvSpPr>
            <p:nvPr/>
          </p:nvSpPr>
          <p:spPr>
            <a:xfrm>
              <a:off x="3974" y="1884"/>
              <a:ext cx="1143" cy="27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离子注入机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211976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7"/>
          <p:cNvSpPr txBox="1"/>
          <p:nvPr/>
        </p:nvSpPr>
        <p:spPr>
          <a:xfrm>
            <a:off x="1547748" y="161206"/>
            <a:ext cx="7063498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4400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4400" dirty="0">
                <a:solidFill>
                  <a:schemeClr val="tx2"/>
                </a:solidFill>
                <a:ea typeface="华文中宋" panose="02010600040101010101" pitchFamily="2" charset="-122"/>
              </a:rPr>
              <a:t>、离子注入表面改性技术</a:t>
            </a:r>
            <a:endParaRPr lang="zh-CN" altLang="en-US" sz="4400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2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42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42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dvAuto="1000" build="p"/>
      <p:bldP spid="94213" grpId="0"/>
      <p:bldP spid="3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42655" y="6573520"/>
            <a:ext cx="564515" cy="28448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95234" name="Rectangle 2"/>
          <p:cNvSpPr>
            <a:spLocks noGrp="1"/>
          </p:cNvSpPr>
          <p:nvPr>
            <p:ph idx="1"/>
          </p:nvPr>
        </p:nvSpPr>
        <p:spPr>
          <a:xfrm>
            <a:off x="179634" y="1303734"/>
            <a:ext cx="8712726" cy="373380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作用效果：</a:t>
            </a:r>
            <a:r>
              <a:rPr lang="zh-CN" altLang="en-US" b="1" dirty="0">
                <a:ea typeface="华文中宋" panose="02010600040101010101" pitchFamily="2" charset="-122"/>
              </a:rPr>
              <a:t>通过离子注入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可提高材料的耐磨性、耐蚀性、抗疲劳性、抗氧化性及电、光等特性。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ea typeface="华文中宋" panose="02010600040101010101" pitchFamily="2" charset="-122"/>
              </a:rPr>
              <a:t>离子注入在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微电子技术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生物工程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宇航</a:t>
            </a:r>
            <a:r>
              <a:rPr lang="zh-CN" altLang="en-US" b="1" dirty="0">
                <a:ea typeface="华文中宋" panose="02010600040101010101" pitchFamily="2" charset="-122"/>
              </a:rPr>
              <a:t>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医疗</a:t>
            </a:r>
            <a:r>
              <a:rPr lang="zh-CN" altLang="en-US" dirty="0">
                <a:ea typeface="华文中宋" panose="02010600040101010101" pitchFamily="2" charset="-122"/>
              </a:rPr>
              <a:t>等高技术领域获得了比较广泛的应用，尤其在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工具</a:t>
            </a:r>
            <a:r>
              <a:rPr lang="zh-CN" altLang="en-US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模具</a:t>
            </a:r>
            <a:r>
              <a:rPr lang="zh-CN" altLang="en-US" dirty="0">
                <a:ea typeface="华文中宋" panose="02010600040101010101" pitchFamily="2" charset="-122"/>
              </a:rPr>
              <a:t>制造工业的应用效果突出。</a:t>
            </a:r>
            <a:endParaRPr lang="zh-CN" altLang="zh-CN" b="1" dirty="0"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95235" name="Rectangle 3"/>
          <p:cNvSpPr/>
          <p:nvPr/>
        </p:nvSpPr>
        <p:spPr>
          <a:xfrm>
            <a:off x="381000" y="2438400"/>
            <a:ext cx="3046413" cy="3810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12996" name="Group 9"/>
          <p:cNvGrpSpPr/>
          <p:nvPr/>
        </p:nvGrpSpPr>
        <p:grpSpPr>
          <a:xfrm>
            <a:off x="4313652" y="4762767"/>
            <a:ext cx="2805874" cy="2095233"/>
            <a:chOff x="2448" y="1776"/>
            <a:chExt cx="2720" cy="1877"/>
          </a:xfrm>
        </p:grpSpPr>
        <p:pic>
          <p:nvPicPr>
            <p:cNvPr id="212997" name="Picture 5" descr="离子注入处理的铣刀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448" y="1776"/>
              <a:ext cx="2720" cy="1855"/>
            </a:xfrm>
            <a:prstGeom prst="rect">
              <a:avLst/>
            </a:prstGeom>
            <a:noFill/>
            <a:ln w="28575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2998" name="Text Box 6"/>
            <p:cNvSpPr txBox="1">
              <a:spLocks noChangeAspect="1"/>
            </p:cNvSpPr>
            <p:nvPr/>
          </p:nvSpPr>
          <p:spPr>
            <a:xfrm>
              <a:off x="2448" y="3295"/>
              <a:ext cx="2720" cy="35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离子注入处理的铣刀片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213000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7"/>
          <p:cNvSpPr txBox="1"/>
          <p:nvPr/>
        </p:nvSpPr>
        <p:spPr>
          <a:xfrm>
            <a:off x="1547748" y="161206"/>
            <a:ext cx="7063498" cy="76944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4400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sz="4400" dirty="0">
                <a:solidFill>
                  <a:schemeClr val="tx2"/>
                </a:solidFill>
                <a:ea typeface="华文中宋" panose="02010600040101010101" pitchFamily="2" charset="-122"/>
              </a:rPr>
              <a:t>、离子注入表面改性技术</a:t>
            </a:r>
            <a:endParaRPr lang="zh-CN" altLang="en-US" sz="4400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advAuto="1000" build="p"/>
      <p:bldP spid="95235" grpId="0"/>
      <p:bldP spid="2" grpId="0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2495" y="6551930"/>
            <a:ext cx="628650" cy="306070"/>
          </a:xfrm>
        </p:spPr>
        <p:txBody>
          <a:bodyPr wrap="square" lIns="92075" tIns="46038" rIns="92075" bIns="46038" anchor="ctr"/>
          <a:lstStyle/>
          <a:p>
            <a:pPr algn="r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262146" name="Rectangle 2"/>
          <p:cNvSpPr>
            <a:spLocks noGrp="1"/>
          </p:cNvSpPr>
          <p:nvPr>
            <p:ph idx="1"/>
          </p:nvPr>
        </p:nvSpPr>
        <p:spPr>
          <a:xfrm>
            <a:off x="323850" y="2636838"/>
            <a:ext cx="8534400" cy="28956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en-US" altLang="zh-CN" dirty="0"/>
              <a:t>3-1</a:t>
            </a:r>
            <a:r>
              <a:rPr lang="zh-CN" altLang="en-US"/>
              <a:t>、</a:t>
            </a:r>
            <a:r>
              <a:rPr lang="en-US" altLang="zh-CN"/>
              <a:t>3-3</a:t>
            </a:r>
            <a:r>
              <a:rPr lang="zh-CN" altLang="en-US" dirty="0"/>
              <a:t>、</a:t>
            </a:r>
            <a:r>
              <a:rPr lang="en-US" altLang="zh-CN" dirty="0"/>
              <a:t>3-4</a:t>
            </a:r>
            <a:r>
              <a:rPr lang="zh-CN" altLang="en-US" dirty="0"/>
              <a:t>、</a:t>
            </a:r>
            <a:r>
              <a:rPr lang="en-US" altLang="zh-CN" dirty="0"/>
              <a:t>3-7</a:t>
            </a:r>
            <a:r>
              <a:rPr lang="zh-CN" altLang="en-US" dirty="0"/>
              <a:t>、</a:t>
            </a:r>
            <a:r>
              <a:rPr lang="en-US" altLang="zh-CN" dirty="0"/>
              <a:t>3-9</a:t>
            </a:r>
            <a:r>
              <a:rPr lang="zh-CN" altLang="en-US" dirty="0"/>
              <a:t>、</a:t>
            </a:r>
            <a:r>
              <a:rPr lang="en-US" altLang="zh-CN" dirty="0"/>
              <a:t>3-10</a:t>
            </a:r>
            <a:endParaRPr lang="en-US" altLang="zh-CN" dirty="0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title"/>
          </p:nvPr>
        </p:nvSpPr>
        <p:spPr>
          <a:xfrm>
            <a:off x="1204595" y="166370"/>
            <a:ext cx="7242810" cy="9271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作业（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P65-66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6068" name="日期占位符 1"/>
          <p:cNvSpPr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wrap="square" lIns="92075" tIns="46038" rIns="92075" bIns="46038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 sz="1800" b="1" i="0" u="none" kern="1200" baseline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l">
              <a:spcBef>
                <a:spcPct val="0"/>
              </a:spcBef>
            </a:pPr>
            <a:fld id="{BB962C8B-B14F-4D97-AF65-F5344CB8AC3E}" type="datetime8">
              <a:rPr lang="en-US" altLang="zh-CN" sz="1400" b="0" dirty="0">
                <a:solidFill>
                  <a:schemeClr val="tx1"/>
                </a:solidFill>
              </a:rPr>
            </a:fld>
            <a:endParaRPr lang="en-US" altLang="zh-CN" sz="1400" b="0" dirty="0">
              <a:solidFill>
                <a:schemeClr val="tx1"/>
              </a:solidFill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6" grpId="0" advAuto="1000" build="p"/>
    </p:bldLst>
  </p:timing>
</p:sld>
</file>

<file path=ppt/tags/tag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4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5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6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7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8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9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0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1.xml><?xml version="1.0" encoding="utf-8"?>
<p:tagLst xmlns:p="http://schemas.openxmlformats.org/presentationml/2006/main">
  <p:tag name="KSO_WM_DIAGRAM_VIRTUALLY_FRAME" val="{&quot;height&quot;:403.1585826771653,&quot;left&quot;:470.60141732283466,&quot;top&quot;:97.87503937007874,&quot;width&quot;:233.14283353412776}"/>
</p:tagLst>
</file>

<file path=ppt/tags/tag12.xml><?xml version="1.0" encoding="utf-8"?>
<p:tagLst xmlns:p="http://schemas.openxmlformats.org/presentationml/2006/main">
  <p:tag name="KSO_WM_DIAGRAM_VIRTUALLY_FRAME" val="{&quot;height&quot;:403.1585826771653,&quot;left&quot;:470.60141732283466,&quot;top&quot;:97.87503937007874,&quot;width&quot;:233.14283353412776}"/>
</p:tagLst>
</file>

<file path=ppt/tags/tag13.xml><?xml version="1.0" encoding="utf-8"?>
<p:tagLst xmlns:p="http://schemas.openxmlformats.org/presentationml/2006/main">
  <p:tag name="KSO_WM_DIAGRAM_VIRTUALLY_FRAME" val="{&quot;height&quot;:403.1585826771653,&quot;left&quot;:470.60141732283466,&quot;top&quot;:97.87503937007874,&quot;width&quot;:233.14283353412776}"/>
</p:tagLst>
</file>

<file path=ppt/tags/tag14.xml><?xml version="1.0" encoding="utf-8"?>
<p:tagLst xmlns:p="http://schemas.openxmlformats.org/presentationml/2006/main">
  <p:tag name="KSO_WM_DIAGRAM_VIRTUALLY_FRAME" val="{&quot;height&quot;:403.1585826771653,&quot;left&quot;:470.60141732283466,&quot;top&quot;:97.87503937007874,&quot;width&quot;:233.14283353412776}"/>
</p:tagLst>
</file>

<file path=ppt/tags/tag15.xml><?xml version="1.0" encoding="utf-8"?>
<p:tagLst xmlns:p="http://schemas.openxmlformats.org/presentationml/2006/main">
  <p:tag name="KSO_WM_DIAGRAM_VIRTUALLY_FRAME" val="{&quot;height&quot;:403.1585826771653,&quot;left&quot;:470.60141732283466,&quot;top&quot;:97.87503937007874,&quot;width&quot;:233.14283353412776}"/>
</p:tagLst>
</file>

<file path=ppt/tags/tag16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17.xml><?xml version="1.0" encoding="utf-8"?>
<p:tagLst xmlns:p="http://schemas.openxmlformats.org/presentationml/2006/main">
  <p:tag name="KSO_WM_DIAGRAM_VIRTUALLY_FRAME" val="{&quot;height&quot;:376.63968503937014,&quot;left&quot;:88.65,&quot;top&quot;:95.35,&quot;width&quot;:535.2654330708662}"/>
</p:tagLst>
</file>

<file path=ppt/tags/tag18.xml><?xml version="1.0" encoding="utf-8"?>
<p:tagLst xmlns:p="http://schemas.openxmlformats.org/presentationml/2006/main">
  <p:tag name="KSO_WM_DIAGRAM_VIRTUALLY_FRAME" val="{&quot;height&quot;:376.63968503937014,&quot;left&quot;:88.65,&quot;top&quot;:95.35,&quot;width&quot;:535.2654330708662}"/>
</p:tagLst>
</file>

<file path=ppt/tags/tag19.xml><?xml version="1.0" encoding="utf-8"?>
<p:tagLst xmlns:p="http://schemas.openxmlformats.org/presentationml/2006/main">
  <p:tag name="KSO_WM_DIAGRAM_VIRTUALLY_FRAME" val="{&quot;height&quot;:376.63968503937014,&quot;left&quot;:88.65,&quot;top&quot;:95.35,&quot;width&quot;:535.2654330708662}"/>
</p:tagLst>
</file>

<file path=ppt/tags/tag20.xml><?xml version="1.0" encoding="utf-8"?>
<p:tagLst xmlns:p="http://schemas.openxmlformats.org/presentationml/2006/main">
  <p:tag name="KSO_WM_DIAGRAM_VIRTUALLY_FRAME" val="{&quot;height&quot;:376.63968503937014,&quot;left&quot;:88.65,&quot;top&quot;:95.35,&quot;width&quot;:535.2654330708662}"/>
</p:tagLst>
</file>

<file path=ppt/tags/tag21.xml><?xml version="1.0" encoding="utf-8"?>
<p:tagLst xmlns:p="http://schemas.openxmlformats.org/presentationml/2006/main">
  <p:tag name="KSO_WM_DIAGRAM_VIRTUALLY_FRAME" val="{&quot;height&quot;:376.63968503937014,&quot;left&quot;:88.65,&quot;top&quot;:95.35,&quot;width&quot;:535.2654330708662}"/>
</p:tagLst>
</file>

<file path=ppt/tags/tag22.xml><?xml version="1.0" encoding="utf-8"?>
<p:tagLst xmlns:p="http://schemas.openxmlformats.org/presentationml/2006/main">
  <p:tag name="KSO_WM_DIAGRAM_VIRTUALLY_FRAME" val="{&quot;height&quot;:376.63968503937014,&quot;left&quot;:88.65,&quot;top&quot;:95.35,&quot;width&quot;:535.2654330708662}"/>
</p:tagLst>
</file>

<file path=ppt/tags/tag23.xml><?xml version="1.0" encoding="utf-8"?>
<p:tagLst xmlns:p="http://schemas.openxmlformats.org/presentationml/2006/main">
  <p:tag name="KSO_WM_DIAGRAM_VIRTUALLY_FRAME" val="{&quot;height&quot;:376.63968503937014,&quot;left&quot;:88.65,&quot;top&quot;:95.35,&quot;width&quot;:535.2654330708662}"/>
</p:tagLst>
</file>

<file path=ppt/tags/tag24.xml><?xml version="1.0" encoding="utf-8"?>
<p:tagLst xmlns:p="http://schemas.openxmlformats.org/presentationml/2006/main">
  <p:tag name="KSO_WM_DIAGRAM_VIRTUALLY_FRAME" val="{&quot;height&quot;:376.63968503937014,&quot;left&quot;:88.65,&quot;top&quot;:95.35,&quot;width&quot;:535.2654330708662}"/>
</p:tagLst>
</file>

<file path=ppt/tags/tag25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6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7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8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9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0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2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3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4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5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6.xml><?xml version="1.0" encoding="utf-8"?>
<p:tagLst xmlns:p="http://schemas.openxmlformats.org/presentationml/2006/main">
  <p:tag name="KSO_WM_DOC_GUID" val="{3f906b81-1e8c-48cb-84c8-0dd97a9cbb00}"/>
  <p:tag name="COMMONDATA" val="eyJoZGlkIjoiYWIxMGZkODRmZWFlMmJiZTRiODUwYmQ0N2UxMzdiOTYifQ==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None/>
          <a:defRPr kumimoji="1" lang="zh-CN" altLang="en-US" sz="18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Pct val="80000"/>
          <a:buFont typeface="Wingdings" panose="05000000000000000000" pitchFamily="2" charset="2"/>
          <a:buNone/>
          <a:defRPr kumimoji="1" lang="zh-CN" altLang="en-US" sz="18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FF"/>
    </a:dk2>
    <a:lt2>
      <a:srgbClr val="FFCC66"/>
    </a:lt2>
    <a:accent1>
      <a:srgbClr val="00FFFF"/>
    </a:accent1>
    <a:accent2>
      <a:srgbClr val="3366FF"/>
    </a:accent2>
    <a:accent3>
      <a:srgbClr val="AAAAFF"/>
    </a:accent3>
    <a:accent4>
      <a:srgbClr val="DADADA"/>
    </a:accent4>
    <a:accent5>
      <a:srgbClr val="AAFFFF"/>
    </a:accent5>
    <a:accent6>
      <a:srgbClr val="2D5CE7"/>
    </a:accent6>
    <a:hlink>
      <a:srgbClr val="FF0033"/>
    </a:hlink>
    <a:folHlink>
      <a:srgbClr val="FF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19528</Words>
  <Application>WPS 演示</Application>
  <PresentationFormat>全屏显示(4:3)</PresentationFormat>
  <Paragraphs>3039</Paragraphs>
  <Slides>227</Slides>
  <Notes>1</Notes>
  <HiddenSlides>0</HiddenSlides>
  <MMClips>5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227</vt:i4>
      </vt:variant>
    </vt:vector>
  </HeadingPairs>
  <TitlesOfParts>
    <vt:vector size="247" baseType="lpstr">
      <vt:lpstr>Arial</vt:lpstr>
      <vt:lpstr>宋体</vt:lpstr>
      <vt:lpstr>Wingdings</vt:lpstr>
      <vt:lpstr>Times New Roman</vt:lpstr>
      <vt:lpstr>Tahoma</vt:lpstr>
      <vt:lpstr>仿宋_GB2312</vt:lpstr>
      <vt:lpstr>仿宋</vt:lpstr>
      <vt:lpstr>华文中宋</vt:lpstr>
      <vt:lpstr>微软雅黑</vt:lpstr>
      <vt:lpstr>Arial Unicode MS</vt:lpstr>
      <vt:lpstr>Times New Roman</vt:lpstr>
      <vt:lpstr>Symbol</vt:lpstr>
      <vt:lpstr>仿宋_GB2312</vt:lpstr>
      <vt:lpstr>楷体_GB2312</vt:lpstr>
      <vt:lpstr>新宋体</vt:lpstr>
      <vt:lpstr>黑体</vt:lpstr>
      <vt:lpstr>Helvetica Neue</vt:lpstr>
      <vt:lpstr>华文宋体</vt:lpstr>
      <vt:lpstr>等线</vt:lpstr>
      <vt:lpstr>Soaring</vt:lpstr>
      <vt:lpstr>U2041170  《工程材料与成型技术》 Engineering Materials and Forming Technology   44+4学时，3学分</vt:lpstr>
      <vt:lpstr>思考题?</vt:lpstr>
      <vt:lpstr>第四章  钢的热处理 Heat Treatment of Steels</vt:lpstr>
      <vt:lpstr>本章主要教学目标 Learning Objectives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第四章  钢的热处理 Heat Treatment of Steels</vt:lpstr>
      <vt:lpstr>第四章  钢的热处理</vt:lpstr>
      <vt:lpstr>内容提要</vt:lpstr>
      <vt:lpstr>第一节  热处理概述 Overview on Heat Treatment</vt:lpstr>
      <vt:lpstr>第一节  热处理概述</vt:lpstr>
      <vt:lpstr>1、热处理的定义</vt:lpstr>
      <vt:lpstr>2、热处理的意义</vt:lpstr>
      <vt:lpstr>3、热处理的特点</vt:lpstr>
      <vt:lpstr>4、热处理的适用范围</vt:lpstr>
      <vt:lpstr>5、热处理分类</vt:lpstr>
      <vt:lpstr>6、热处理工艺分类</vt:lpstr>
      <vt:lpstr>6、热处理工艺分类</vt:lpstr>
      <vt:lpstr>7、预备热处理与最终热处理</vt:lpstr>
      <vt:lpstr>8、临界温度与实际转变温度</vt:lpstr>
      <vt:lpstr>第二节  钢在加热时的转变 Transformation during Heating</vt:lpstr>
      <vt:lpstr>第二节  钢在加热时的转变</vt:lpstr>
      <vt:lpstr>第二节  钢在加热时的转变</vt:lpstr>
      <vt:lpstr>一、奥氏体的形成过程</vt:lpstr>
      <vt:lpstr>一、奥氏体的形成过程</vt:lpstr>
      <vt:lpstr>PowerPoint 演示文稿</vt:lpstr>
      <vt:lpstr>二、奥氏体晶粒长大及其影响因素</vt:lpstr>
      <vt:lpstr>1、奥氏体的晶粒度</vt:lpstr>
      <vt:lpstr>1、奥氏体的晶粒度</vt:lpstr>
      <vt:lpstr>2、影响奥氏体晶粒长大的因素</vt:lpstr>
      <vt:lpstr>2、影响奥氏体晶粒长大的因素</vt:lpstr>
      <vt:lpstr>2、影响奥氏体晶粒长大的因素</vt:lpstr>
      <vt:lpstr>第三节  钢在冷却时的转变 Transformation During Cooling</vt:lpstr>
      <vt:lpstr>第三节  钢在冷却时的转变</vt:lpstr>
      <vt:lpstr>一、过冷奥氏体的转变产物及转变过程</vt:lpstr>
      <vt:lpstr>（一）珠光体转变 Pearlitic Transformation</vt:lpstr>
      <vt:lpstr>（一）珠光体转变</vt:lpstr>
      <vt:lpstr>（一）珠光体转变</vt:lpstr>
      <vt:lpstr>（1）珠光体Pearlite</vt:lpstr>
      <vt:lpstr>⑵ 索氏体 Sorbite</vt:lpstr>
      <vt:lpstr>⑶ 屈氏体 troostite</vt:lpstr>
      <vt:lpstr>PowerPoint 演示文稿</vt:lpstr>
      <vt:lpstr>2、珠光体转变过程</vt:lpstr>
      <vt:lpstr>2.珠光体转变过程</vt:lpstr>
      <vt:lpstr>珠光体转变过程观察</vt:lpstr>
      <vt:lpstr>（二）贝氏体转变 Bainite Transformation</vt:lpstr>
      <vt:lpstr>（二）贝氏体转变</vt:lpstr>
      <vt:lpstr>1、贝氏体的组织形态及性能</vt:lpstr>
      <vt:lpstr>⑴ 上贝氏体Up-Bainite</vt:lpstr>
      <vt:lpstr>⑵下贝氏体  Lower-Bainite</vt:lpstr>
      <vt:lpstr>PowerPoint 演示文稿</vt:lpstr>
      <vt:lpstr>2、贝氏体转变过程</vt:lpstr>
      <vt:lpstr>PowerPoint 演示文稿</vt:lpstr>
      <vt:lpstr>PowerPoint 演示文稿</vt:lpstr>
      <vt:lpstr>㈢ 马氏体转变 Martensitic Transformation</vt:lpstr>
      <vt:lpstr>㈢ 马氏体转变</vt:lpstr>
      <vt:lpstr>㈢ 马氏体转变</vt:lpstr>
      <vt:lpstr>1、马氏体的晶体结构</vt:lpstr>
      <vt:lpstr>2、马氏体的组织形态</vt:lpstr>
      <vt:lpstr>马氏体的透射电镜形貌</vt:lpstr>
      <vt:lpstr>⑴ 板条马氏体</vt:lpstr>
      <vt:lpstr>⑴ 板条马氏体</vt:lpstr>
      <vt:lpstr>⑵ 针状马氏体</vt:lpstr>
      <vt:lpstr>针状马氏体</vt:lpstr>
      <vt:lpstr>⑶ 马氏体的形态主要取决于其含碳量</vt:lpstr>
      <vt:lpstr>马氏体转变观察</vt:lpstr>
      <vt:lpstr>3、马氏体的性能</vt:lpstr>
      <vt:lpstr>马氏体强化的主要原因</vt:lpstr>
      <vt:lpstr>4、马氏体转变的特点</vt:lpstr>
      <vt:lpstr>⑴无扩散性</vt:lpstr>
      <vt:lpstr>⑵ 共格切变性</vt:lpstr>
      <vt:lpstr>⑶ 降温形成</vt:lpstr>
      <vt:lpstr>⑷高速长大</vt:lpstr>
      <vt:lpstr>⑸ 转变不完全</vt:lpstr>
      <vt:lpstr>过冷奥氏体转变产物（共析钢） </vt:lpstr>
      <vt:lpstr>二、过冷奥氏体转变图</vt:lpstr>
      <vt:lpstr>PowerPoint 演示文稿</vt:lpstr>
      <vt:lpstr>1、C曲线的建立（以共析钢为例）</vt:lpstr>
      <vt:lpstr>1、C曲线的建立（以共析钢为例）</vt:lpstr>
      <vt:lpstr>2、C 曲线的分析</vt:lpstr>
      <vt:lpstr>2、C 曲线的分析</vt:lpstr>
      <vt:lpstr>2、C 曲线的分析</vt:lpstr>
      <vt:lpstr>PowerPoint 演示文稿</vt:lpstr>
      <vt:lpstr>3、影响 C 曲线的因素</vt:lpstr>
      <vt:lpstr>⑴成分的影响 ——①含碳量对 C 曲线的影响</vt:lpstr>
      <vt:lpstr>成分的影响 ——② 合金元素对 C 曲线的影响</vt:lpstr>
      <vt:lpstr>⑵奥氏体化条件的影响</vt:lpstr>
      <vt:lpstr>㈡  过冷奥氏体连续冷却转变图</vt:lpstr>
      <vt:lpstr>1、共析钢的CCT曲线</vt:lpstr>
      <vt:lpstr>1、共析钢的CCT曲线</vt:lpstr>
      <vt:lpstr>CCT曲线  vs  TTT曲线</vt:lpstr>
      <vt:lpstr>PowerPoint 演示文稿</vt:lpstr>
      <vt:lpstr>PowerPoint 演示文稿</vt:lpstr>
      <vt:lpstr>2、过共析钢和亚共析钢的CCT曲线</vt:lpstr>
      <vt:lpstr>第四节  钢的退火与正火 Annealing and Normalizing of Steels </vt:lpstr>
      <vt:lpstr>第四节  钢的退火与正火 </vt:lpstr>
      <vt:lpstr>一、退火 Annealing </vt:lpstr>
      <vt:lpstr>一、退火</vt:lpstr>
      <vt:lpstr>2、退火工艺</vt:lpstr>
      <vt:lpstr>⑴ 完全退火</vt:lpstr>
      <vt:lpstr>⑵ 等温退火</vt:lpstr>
      <vt:lpstr>⑶ 球化退火</vt:lpstr>
      <vt:lpstr>⑶ 球化退火——组织</vt:lpstr>
      <vt:lpstr>⑶ 球化退火——应用</vt:lpstr>
      <vt:lpstr>二、正火 Normalizing</vt:lpstr>
      <vt:lpstr>二、正火</vt:lpstr>
      <vt:lpstr>正火后的组织</vt:lpstr>
      <vt:lpstr>正火的目的</vt:lpstr>
      <vt:lpstr>改善切削性能——途径</vt:lpstr>
      <vt:lpstr>第五节  钢的淬火与回火Quenching &amp; Tempering of Steels</vt:lpstr>
      <vt:lpstr>第五节  钢的淬火与回火</vt:lpstr>
      <vt:lpstr>钢的淬火——内容提要</vt:lpstr>
      <vt:lpstr>一、淬火温度</vt:lpstr>
      <vt:lpstr>淬火组织</vt:lpstr>
      <vt:lpstr>⑴ 亚共析钢淬火</vt:lpstr>
      <vt:lpstr>亚温淬火</vt:lpstr>
      <vt:lpstr>共析钢淬火</vt:lpstr>
      <vt:lpstr>过共析钢淬火</vt:lpstr>
      <vt:lpstr>2、合金钢淬火</vt:lpstr>
      <vt:lpstr>二、淬火介质</vt:lpstr>
      <vt:lpstr>二、淬火介质</vt:lpstr>
      <vt:lpstr>三、淬火方法</vt:lpstr>
      <vt:lpstr>1、单液淬火法</vt:lpstr>
      <vt:lpstr>2、双液淬火法</vt:lpstr>
      <vt:lpstr>3、分级淬火法</vt:lpstr>
      <vt:lpstr>4、等温淬火法</vt:lpstr>
      <vt:lpstr>5.局部淬火</vt:lpstr>
      <vt:lpstr>四、钢的淬透性 Hardenability of Steels</vt:lpstr>
      <vt:lpstr>四、钢的淬透性</vt:lpstr>
      <vt:lpstr>钢的淬透性——内容提要</vt:lpstr>
      <vt:lpstr>1.淬透性及其测定方法</vt:lpstr>
      <vt:lpstr>淬透性的测定方法</vt:lpstr>
      <vt:lpstr>末端淬火法</vt:lpstr>
      <vt:lpstr>淬透性与淬硬层深度的关系 </vt:lpstr>
      <vt:lpstr>淬透性的表示方法</vt:lpstr>
      <vt:lpstr>淬透性的表示方法 ——(1)用淬透性曲线表示</vt:lpstr>
      <vt:lpstr>淬透性的表示方法 ——⑵ 用临界淬透直径表示</vt:lpstr>
      <vt:lpstr>2.影响淬透性的因素</vt:lpstr>
      <vt:lpstr>3.淬透性的应用</vt:lpstr>
      <vt:lpstr>3.淬透性的应用 ——（2）利用淬透性曲线进行选材</vt:lpstr>
      <vt:lpstr>（3）利用淬透性可控制淬硬层深度。</vt:lpstr>
      <vt:lpstr>PowerPoint 演示文稿</vt:lpstr>
      <vt:lpstr>5 钢的回火 Tempering of Steels</vt:lpstr>
      <vt:lpstr>5. 钢的回火</vt:lpstr>
      <vt:lpstr>回火的目的</vt:lpstr>
      <vt:lpstr>回火的目的(续)</vt:lpstr>
      <vt:lpstr>回火工艺方法</vt:lpstr>
      <vt:lpstr>低温回火</vt:lpstr>
      <vt:lpstr>低温回火组织——M回</vt:lpstr>
      <vt:lpstr>中温回火</vt:lpstr>
      <vt:lpstr>高温回火</vt:lpstr>
      <vt:lpstr>高温回火组织——S回</vt:lpstr>
      <vt:lpstr>调质 vs 正火（ 45钢）</vt:lpstr>
      <vt:lpstr>回火时力学性能变化</vt:lpstr>
      <vt:lpstr>回火时力学性能变化</vt:lpstr>
      <vt:lpstr>回火脆性 Temper brittleness</vt:lpstr>
      <vt:lpstr>第一类回火脆性</vt:lpstr>
      <vt:lpstr>第二类回火脆性</vt:lpstr>
      <vt:lpstr>第六节  钢的表面热处理 Surface Heat Treatment of Steels</vt:lpstr>
      <vt:lpstr>第六节  钢的表面热处理</vt:lpstr>
      <vt:lpstr>一、钢的表面淬火</vt:lpstr>
      <vt:lpstr>表面淬火目的、应用</vt:lpstr>
      <vt:lpstr>1.表面淬火用材料</vt:lpstr>
      <vt:lpstr>2、预备热处理</vt:lpstr>
      <vt:lpstr>3、表面淬火后的回火</vt:lpstr>
      <vt:lpstr>4、表面淬火+低温回火后的组织</vt:lpstr>
      <vt:lpstr>5、表面淬火常用加热方法</vt:lpstr>
      <vt:lpstr>⑴  感应加热表面淬火</vt:lpstr>
      <vt:lpstr>⑴  感应加热表面淬火分类</vt:lpstr>
      <vt:lpstr>① 高频感应加热</vt:lpstr>
      <vt:lpstr>② 中频感应加热</vt:lpstr>
      <vt:lpstr>③ 工频感应加热</vt:lpstr>
      <vt:lpstr>PowerPoint 演示文稿</vt:lpstr>
      <vt:lpstr>激光表面热处理</vt:lpstr>
      <vt:lpstr>激光表面热处理</vt:lpstr>
      <vt:lpstr>二、  钢的化学热处理</vt:lpstr>
      <vt:lpstr>PowerPoint 演示文稿</vt:lpstr>
      <vt:lpstr>1.化学热处理的基本过程 </vt:lpstr>
      <vt:lpstr>钢的渗碳</vt:lpstr>
      <vt:lpstr>钢的渗碳</vt:lpstr>
      <vt:lpstr>钢的渗碳——3、渗碳方法</vt:lpstr>
      <vt:lpstr>⑴ 气体渗碳法</vt:lpstr>
      <vt:lpstr>⑵ 固体渗碳法</vt:lpstr>
      <vt:lpstr>⑶ 真空渗碳法</vt:lpstr>
      <vt:lpstr> 4、渗碳温度、组织</vt:lpstr>
      <vt:lpstr>5、渗碳后的热处理</vt:lpstr>
      <vt:lpstr>渗碳后的热处理</vt:lpstr>
      <vt:lpstr>PowerPoint 演示文稿</vt:lpstr>
      <vt:lpstr>钢的氮化 </vt:lpstr>
      <vt:lpstr>3、常用氮化方法  </vt:lpstr>
      <vt:lpstr>离子氮化法</vt:lpstr>
      <vt:lpstr>4、氮化的特点及应用  </vt:lpstr>
      <vt:lpstr>4、氮化的特点及应用  </vt:lpstr>
      <vt:lpstr>第七节 表面处理新技术 New Techniques of Surface Treatment</vt:lpstr>
      <vt:lpstr>第七节  表面处理新技术</vt:lpstr>
      <vt:lpstr>第七节  表面处理新技术</vt:lpstr>
      <vt:lpstr>一、热喷涂技术 Hot spraying technology </vt:lpstr>
      <vt:lpstr>一、热喷涂技术 </vt:lpstr>
      <vt:lpstr>1、涂层的结构</vt:lpstr>
      <vt:lpstr>2、热喷涂方法</vt:lpstr>
      <vt:lpstr>3、热喷涂的特点及应用</vt:lpstr>
      <vt:lpstr>由于涂层材料的种类很多，所获得的涂层性能差异很大，可应用于各种材料的表面保护、强化及修复，并满足特殊功能的需要。</vt:lpstr>
      <vt:lpstr>二、气相沉积技术 Vapor Phase Deposition </vt:lpstr>
      <vt:lpstr>二、气相沉积技术 </vt:lpstr>
      <vt:lpstr>1、物理气相沉积（PVD）</vt:lpstr>
      <vt:lpstr>1、物理气相沉积（PVD）</vt:lpstr>
      <vt:lpstr>1、物理气相沉积（PVD）</vt:lpstr>
      <vt:lpstr>1、物理气相沉积（PVD）</vt:lpstr>
      <vt:lpstr>1、物理气相沉积（PVD）</vt:lpstr>
      <vt:lpstr>2、化学气相沉积(CVD)</vt:lpstr>
      <vt:lpstr>化学气相沉积</vt:lpstr>
      <vt:lpstr>特点：化学气相沉积膜层具有良好的耐磨性、耐蚀性、耐热性及电学、光学等特殊性能  应用：已被广泛用于机械制造、航空航天、交通运输、煤化工等工业领域。</vt:lpstr>
      <vt:lpstr>三束表面改性技术 </vt:lpstr>
      <vt:lpstr>三、三束表面改性技术 </vt:lpstr>
      <vt:lpstr>三、三束表面改性技术 </vt:lpstr>
      <vt:lpstr>1、激光束表面改性技术</vt:lpstr>
      <vt:lpstr>⑴ 激光表面淬火（激光相变硬化）</vt:lpstr>
      <vt:lpstr>⑵ 激光表面合金化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作业（P65-66）</vt:lpstr>
    </vt:vector>
  </TitlesOfParts>
  <Company>dlut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第四节  钢的退火与正火</dc:title>
  <dc:creator>yys</dc:creator>
  <cp:lastModifiedBy>liulin</cp:lastModifiedBy>
  <cp:revision>1036</cp:revision>
  <dcterms:created xsi:type="dcterms:W3CDTF">2003-06-04T07:51:00Z</dcterms:created>
  <dcterms:modified xsi:type="dcterms:W3CDTF">2025-11-27T10:47:57Z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5D9F93376EB740F08A58443B1D9C5CBA_13</vt:lpwstr>
  </property>
</Properties>
</file>