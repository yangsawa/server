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sldIdLst>
    <p:sldId id="433" r:id="rId3"/>
    <p:sldId id="434" r:id="rId4"/>
    <p:sldId id="435" r:id="rId5"/>
    <p:sldId id="288" r:id="rId6"/>
    <p:sldId id="284" r:id="rId7"/>
    <p:sldId id="257" r:id="rId8"/>
    <p:sldId id="289" r:id="rId9"/>
    <p:sldId id="401" r:id="rId10"/>
    <p:sldId id="402" r:id="rId11"/>
    <p:sldId id="274" r:id="rId12"/>
    <p:sldId id="258" r:id="rId13"/>
    <p:sldId id="276" r:id="rId14"/>
    <p:sldId id="259" r:id="rId15"/>
    <p:sldId id="403" r:id="rId16"/>
    <p:sldId id="404" r:id="rId17"/>
    <p:sldId id="261" r:id="rId18"/>
    <p:sldId id="290" r:id="rId19"/>
    <p:sldId id="406" r:id="rId20"/>
    <p:sldId id="279" r:id="rId21"/>
    <p:sldId id="272" r:id="rId22"/>
    <p:sldId id="407" r:id="rId23"/>
    <p:sldId id="409" r:id="rId24"/>
    <p:sldId id="280" r:id="rId25"/>
    <p:sldId id="273" r:id="rId26"/>
    <p:sldId id="262" r:id="rId27"/>
    <p:sldId id="410" r:id="rId28"/>
    <p:sldId id="263" r:id="rId29"/>
    <p:sldId id="411" r:id="rId30"/>
    <p:sldId id="266" r:id="rId31"/>
    <p:sldId id="412" r:id="rId32"/>
    <p:sldId id="281" r:id="rId33"/>
    <p:sldId id="265" r:id="rId34"/>
    <p:sldId id="264" r:id="rId35"/>
    <p:sldId id="283" r:id="rId36"/>
    <p:sldId id="271" r:id="rId37"/>
    <p:sldId id="282" r:id="rId38"/>
    <p:sldId id="270" r:id="rId39"/>
    <p:sldId id="287" r:id="rId40"/>
    <p:sldId id="400" r:id="rId41"/>
  </p:sldIdLst>
  <p:sldSz cx="9144000" cy="6858000" type="screen4x3"/>
  <p:notesSz cx="6858000" cy="9144000"/>
  <p:custDataLst>
    <p:tags r:id="rId46"/>
  </p:custDataLst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2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66"/>
    <a:srgbClr val="800000"/>
    <a:srgbClr val="CCFFFF"/>
    <a:srgbClr val="FF9933"/>
    <a:srgbClr val="66FFFF"/>
    <a:srgbClr val="00FF00"/>
    <a:srgbClr val="FF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03"/>
    <p:restoredTop sz="91130"/>
  </p:normalViewPr>
  <p:slideViewPr>
    <p:cSldViewPr showGuides="1">
      <p:cViewPr varScale="1">
        <p:scale>
          <a:sx n="114" d="100"/>
          <a:sy n="114" d="100"/>
        </p:scale>
        <p:origin x="264" y="90"/>
      </p:cViewPr>
      <p:guideLst>
        <p:guide orient="horz" pos="2127"/>
        <p:guide pos="287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6" Type="http://schemas.openxmlformats.org/officeDocument/2006/relationships/tags" Target="tags/tag4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24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60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11" name="Freeform 3"/>
            <p:cNvSpPr/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Arc 4"/>
            <p:cNvSpPr/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0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3" name="Rectangle 7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BD50B2-3683-4E46-A4B9-1D893325EADD}" type="datetime1">
              <a:rPr kumimoji="0" lang="zh-CN" altLang="en-US" b="0" i="0" kern="1200" cap="none" spc="0" normalizeH="0" baseline="0" noProof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>
            <a:lvl1pPr>
              <a:defRPr smtClean="0"/>
            </a:lvl1pPr>
          </a:lstStyle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b="0" i="0" kern="1200" cap="none" spc="0" normalizeH="0" baseline="0" noProof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2075" tIns="46038" rIns="92075" bIns="46038" numCol="1" anchor="ctr" anchorCtr="0" compatLnSpc="1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/>
          <p:nvPr/>
        </p:nvGrpSpPr>
        <p:grpSpPr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075" name="Freeform 3"/>
            <p:cNvSpPr/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76" name="Arc 4"/>
            <p:cNvSpPr/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7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>
              <a:defRPr kumimoji="0" sz="1400" smtClean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2FB38F0-C4A1-4E9D-9784-3A86E2B2157E}" type="datetime1"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>
            <a:lvl1pPr algn="ctr">
              <a:defRPr kumimoji="0" sz="1400" smtClean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2075" tIns="46038" rIns="92075" bIns="46038" numCol="1" anchor="ctr" anchorCtr="0" compatLnSpc="1"/>
          <a:lstStyle/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31" name="Rectangle 9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anose="05000000000000000000" pitchFamily="2" charset="2"/>
        <a:buChar char="l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openxmlformats.org/officeDocument/2006/relationships/image" Target="../media/image1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4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8.jpe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3.png"/><Relationship Id="rId3" Type="http://schemas.openxmlformats.org/officeDocument/2006/relationships/image" Target="../media/image1.jpeg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.xml"/><Relationship Id="rId4" Type="http://schemas.openxmlformats.org/officeDocument/2006/relationships/image" Target="../media/image1.jpeg"/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.jpeg"/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image" Target="../media/image30.jpe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31.jpeg"/><Relationship Id="rId4" Type="http://schemas.openxmlformats.org/officeDocument/2006/relationships/image" Target="../media/image1.jpeg"/><Relationship Id="rId3" Type="http://schemas.openxmlformats.org/officeDocument/2006/relationships/image" Target="../media/image35.jpe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37.jpeg"/><Relationship Id="rId1" Type="http://schemas.openxmlformats.org/officeDocument/2006/relationships/image" Target="../media/image36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1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jpeg"/><Relationship Id="rId1" Type="http://schemas.openxmlformats.org/officeDocument/2006/relationships/image" Target="../media/image39.jpe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jpe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1.jpeg"/><Relationship Id="rId6" Type="http://schemas.openxmlformats.org/officeDocument/2006/relationships/image" Target="../media/image47.jpeg"/><Relationship Id="rId5" Type="http://schemas.openxmlformats.org/officeDocument/2006/relationships/image" Target="../media/image46.jpeg"/><Relationship Id="rId4" Type="http://schemas.openxmlformats.org/officeDocument/2006/relationships/image" Target="../media/image45.png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日期占位符 1"/>
          <p:cNvSpPr>
            <a:spLocks noGrp="1"/>
          </p:cNvSpPr>
          <p:nvPr>
            <p:ph type="dt" sz="half" idx="4294967295"/>
          </p:nvPr>
        </p:nvSpPr>
        <p:spPr bwMode="auto">
          <a:xfrm>
            <a:off x="107504" y="6373971"/>
            <a:ext cx="1905000" cy="39147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lvl="0" indent="0" rtl="0">
              <a:defRPr/>
            </a:pPr>
            <a:fld id="{9D72BA9C-FB15-451B-B629-448D83FE2D7B}" type="datetime8">
              <a:rPr lang="en-US" smtClean="0"/>
            </a:fld>
            <a:endParaRPr lang="en-US" altLang="zh-CN" sz="1400" dirty="0"/>
          </a:p>
        </p:txBody>
      </p:sp>
      <p:sp>
        <p:nvSpPr>
          <p:cNvPr id="4098" name="灯片编号占位符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r"/>
            <a:fld id="{9A0DB2DC-4C9A-4742-B13C-FB6460FD3503}" type="slidenum">
              <a:rPr lang="en-US" altLang="zh-CN" sz="1400" noProof="1" smtClean="0">
                <a:cs typeface="+mn-ea"/>
              </a:rPr>
            </a:fld>
            <a:endParaRPr lang="en-US" altLang="zh-CN" sz="1400" dirty="0"/>
          </a:p>
        </p:txBody>
      </p:sp>
      <p:sp>
        <p:nvSpPr>
          <p:cNvPr id="4099" name="Rectangle 2"/>
          <p:cNvSpPr>
            <a:spLocks noGrp="1"/>
          </p:cNvSpPr>
          <p:nvPr>
            <p:ph type="title" idx="4294967295"/>
          </p:nvPr>
        </p:nvSpPr>
        <p:spPr>
          <a:xfrm>
            <a:off x="397510" y="288290"/>
            <a:ext cx="8699500" cy="6021070"/>
          </a:xfrm>
        </p:spPr>
        <p:txBody>
          <a:bodyPr wrap="square" lIns="91440" tIns="45720" rIns="91440" bIns="45720" anchor="b"/>
          <a:lstStyle/>
          <a:p>
            <a:pPr algn="ctr" eaLnBrk="1" hangingPunct="1"/>
            <a:r>
              <a:rPr lang="en-US" altLang="zh-CN" sz="6600" b="1" u="sng" dirty="0">
                <a:solidFill>
                  <a:srgbClr val="FF0000"/>
                </a:solidFill>
              </a:rPr>
              <a:t>U2041170</a:t>
            </a:r>
            <a:br>
              <a:rPr lang="en-US" altLang="zh-CN" b="1" u="sng" dirty="0">
                <a:solidFill>
                  <a:srgbClr val="FF0000"/>
                </a:solidFill>
              </a:rPr>
            </a:br>
            <a:br>
              <a:rPr lang="en-US" altLang="zh-CN" b="1" u="sng" dirty="0">
                <a:solidFill>
                  <a:srgbClr val="FF0000"/>
                </a:solidFill>
              </a:rPr>
            </a:br>
            <a:r>
              <a:rPr lang="en-US" altLang="zh-CN" sz="6600" b="1" u="sng" dirty="0">
                <a:solidFill>
                  <a:srgbClr val="FF0000"/>
                </a:solidFill>
              </a:rPr>
              <a:t>《</a:t>
            </a:r>
            <a:r>
              <a:rPr lang="zh-CN" altLang="en-US" sz="6600" b="1" u="sng" dirty="0">
                <a:solidFill>
                  <a:srgbClr val="FF0000"/>
                </a:solidFill>
              </a:rPr>
              <a:t>工程材料与成型技术</a:t>
            </a:r>
            <a:r>
              <a:rPr lang="en-US" altLang="zh-CN" sz="6600" b="1" u="sng" dirty="0">
                <a:solidFill>
                  <a:srgbClr val="FF0000"/>
                </a:solidFill>
              </a:rPr>
              <a:t>》</a:t>
            </a:r>
            <a:br>
              <a:rPr lang="en-US" altLang="zh-CN" u="sng" dirty="0">
                <a:solidFill>
                  <a:srgbClr val="FF0000"/>
                </a:solidFill>
              </a:rPr>
            </a:b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Engineering </a:t>
            </a:r>
            <a:r>
              <a:rPr lang="en-US" altLang="zh-CN" u="sng" dirty="0">
                <a:solidFill>
                  <a:srgbClr val="FF0000"/>
                </a:solidFill>
              </a:rPr>
              <a:t>Materials and </a:t>
            </a:r>
            <a:r>
              <a:rPr lang="en-US" altLang="zh-CN" u="sng" dirty="0">
                <a:solidFill>
                  <a:srgbClr val="FF0000"/>
                </a:solidFill>
                <a:sym typeface="+mn-ea"/>
              </a:rPr>
              <a:t>Forming</a:t>
            </a:r>
            <a:r>
              <a:rPr lang="en-US" altLang="zh-CN" u="sng" dirty="0">
                <a:solidFill>
                  <a:srgbClr val="FF0000"/>
                </a:solidFill>
              </a:rPr>
              <a:t> Technology </a:t>
            </a:r>
            <a:br>
              <a:rPr lang="en-US" altLang="zh-CN" u="sng" dirty="0">
                <a:solidFill>
                  <a:schemeClr val="hlink"/>
                </a:solidFill>
              </a:rPr>
            </a:br>
            <a:br>
              <a:rPr lang="en-US" altLang="zh-CN" u="sng" dirty="0">
                <a:solidFill>
                  <a:schemeClr val="hlink"/>
                </a:solidFill>
              </a:rPr>
            </a:br>
            <a:r>
              <a:rPr lang="en-US" altLang="zh-CN" b="1" dirty="0">
                <a:solidFill>
                  <a:schemeClr val="hlink"/>
                </a:solidFill>
              </a:rPr>
              <a:t>44+4</a:t>
            </a:r>
            <a:r>
              <a:rPr lang="zh-CN" altLang="en-US" b="1" dirty="0">
                <a:solidFill>
                  <a:schemeClr val="hlink"/>
                </a:solidFill>
              </a:rPr>
              <a:t>学时，</a:t>
            </a:r>
            <a:r>
              <a:rPr lang="en-US" altLang="zh-CN" b="1" dirty="0">
                <a:solidFill>
                  <a:schemeClr val="hlink"/>
                </a:solidFill>
              </a:rPr>
              <a:t>3</a:t>
            </a:r>
            <a:r>
              <a:rPr lang="zh-CN" altLang="en-US" b="1" dirty="0">
                <a:solidFill>
                  <a:schemeClr val="hlink"/>
                </a:solidFill>
              </a:rPr>
              <a:t>学分</a:t>
            </a:r>
            <a:endParaRPr lang="zh-CN" altLang="en-US" b="1" dirty="0">
              <a:solidFill>
                <a:schemeClr val="hlink"/>
              </a:solidFill>
            </a:endParaRPr>
          </a:p>
        </p:txBody>
      </p:sp>
      <p:pic>
        <p:nvPicPr>
          <p:cNvPr id="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8063" y="6514783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67431" y="895588"/>
            <a:ext cx="8572672" cy="2158929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第七章  陶瓷材料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600" b="1" dirty="0">
                <a:latin typeface="+mn-lt"/>
                <a:ea typeface="华文中宋" panose="02010600040101010101" pitchFamily="2" charset="-122"/>
              </a:rPr>
              <a:t>Ceramic Materials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  <a:endParaRPr kumimoji="1" lang="en-US" altLang="zh-CN" sz="6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pic>
        <p:nvPicPr>
          <p:cNvPr id="2052" name="Picture 4" descr="image00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465580" y="3211195"/>
            <a:ext cx="6537325" cy="265557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307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灯片编号占位符 5"/>
          <p:cNvSpPr txBox="1">
            <a:spLocks noGrp="1" noChangeArrowheads="1"/>
          </p:cNvSpPr>
          <p:nvPr>
            <p:ph type="sldNum" sz="quarter" idx="4294967295"/>
          </p:nvPr>
        </p:nvSpPr>
        <p:spPr bwMode="auto">
          <a:xfrm>
            <a:off x="8442325" y="6538913"/>
            <a:ext cx="558800" cy="31908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="b" anchorCtr="0" compatLnSpc="1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fld id="{D2BCAE15-A39C-4F71-A305-11A2890C32E2}" type="slidenum">
              <a: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ea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ea"/>
            </a:endParaRPr>
          </a:p>
        </p:txBody>
      </p:sp>
      <p:sp>
        <p:nvSpPr>
          <p:cNvPr id="80898" name="Rectangle 2"/>
          <p:cNvSpPr>
            <a:spLocks noGrp="1"/>
          </p:cNvSpPr>
          <p:nvPr>
            <p:ph idx="1"/>
          </p:nvPr>
        </p:nvSpPr>
        <p:spPr>
          <a:xfrm>
            <a:off x="323850" y="1772816"/>
            <a:ext cx="8820150" cy="4752528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FF66"/>
                </a:solidFill>
                <a:latin typeface="仿宋_GB2312"/>
                <a:ea typeface="仿宋_GB2312"/>
              </a:rPr>
              <a:t>陶瓷材料</a:t>
            </a:r>
            <a:r>
              <a:rPr lang="zh-CN" altLang="en-US" b="1" dirty="0">
                <a:latin typeface="仿宋_GB2312"/>
                <a:ea typeface="仿宋_GB2312"/>
              </a:rPr>
              <a:t>的基本概念</a:t>
            </a:r>
            <a:endParaRPr lang="zh-CN" altLang="en-US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  <a:sym typeface="+mn-ea"/>
              </a:rPr>
              <a:t>了解</a:t>
            </a:r>
            <a:r>
              <a:rPr lang="zh-CN" altLang="en-US" b="1" dirty="0">
                <a:solidFill>
                  <a:srgbClr val="FFFF66"/>
                </a:solidFill>
                <a:latin typeface="仿宋_GB2312"/>
                <a:ea typeface="仿宋_GB2312"/>
                <a:sym typeface="+mn-ea"/>
              </a:rPr>
              <a:t>常见工程陶瓷材料</a:t>
            </a:r>
            <a:r>
              <a:rPr lang="zh-CN" altLang="en-US" b="1" dirty="0">
                <a:latin typeface="仿宋_GB2312"/>
                <a:ea typeface="仿宋_GB2312"/>
                <a:sym typeface="+mn-ea"/>
              </a:rPr>
              <a:t>的</a:t>
            </a:r>
            <a:r>
              <a:rPr lang="zh-CN" altLang="en-US" b="1" dirty="0">
                <a:latin typeface="仿宋_GB2312"/>
                <a:ea typeface="仿宋_GB2312"/>
              </a:rPr>
              <a:t>主要类型及</a:t>
            </a:r>
            <a:r>
              <a:rPr lang="zh-CN" altLang="en-US" b="1" dirty="0">
                <a:latin typeface="仿宋_GB2312"/>
                <a:ea typeface="仿宋_GB2312"/>
              </a:rPr>
              <a:t>性能特点；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b="1" dirty="0">
                <a:solidFill>
                  <a:srgbClr val="FF0000"/>
                </a:solidFill>
                <a:latin typeface="仿宋_GB2312"/>
                <a:ea typeface="仿宋_GB2312"/>
              </a:rPr>
              <a:t>了解</a:t>
            </a:r>
            <a:r>
              <a:rPr lang="zh-CN" altLang="en-US" b="1" dirty="0">
                <a:solidFill>
                  <a:srgbClr val="FFFF66"/>
                </a:solidFill>
                <a:latin typeface="仿宋_GB2312"/>
                <a:ea typeface="仿宋_GB2312"/>
                <a:sym typeface="+mn-ea"/>
              </a:rPr>
              <a:t>陶瓷材料</a:t>
            </a:r>
            <a:r>
              <a:rPr lang="zh-CN" altLang="en-US" b="1" dirty="0">
                <a:latin typeface="仿宋_GB2312"/>
                <a:ea typeface="仿宋_GB2312"/>
              </a:rPr>
              <a:t>的一般</a:t>
            </a:r>
            <a:r>
              <a:rPr lang="zh-CN" altLang="en-US" b="1" dirty="0">
                <a:latin typeface="仿宋_GB2312"/>
                <a:ea typeface="仿宋_GB2312"/>
              </a:rPr>
              <a:t>成型工艺；</a:t>
            </a:r>
            <a:endParaRPr lang="en-US" altLang="zh-CN" b="1" dirty="0">
              <a:latin typeface="仿宋_GB2312"/>
              <a:ea typeface="仿宋_GB2312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b="1" dirty="0">
              <a:latin typeface="仿宋_GB2312"/>
              <a:ea typeface="仿宋_GB2312"/>
            </a:endParaRPr>
          </a:p>
        </p:txBody>
      </p:sp>
      <p:sp>
        <p:nvSpPr>
          <p:cNvPr id="17412" name="Rectangle 6"/>
          <p:cNvSpPr>
            <a:spLocks noGrp="1"/>
          </p:cNvSpPr>
          <p:nvPr>
            <p:ph type="title"/>
          </p:nvPr>
        </p:nvSpPr>
        <p:spPr>
          <a:xfrm>
            <a:off x="1187624" y="0"/>
            <a:ext cx="7519739" cy="1556792"/>
          </a:xfrm>
        </p:spPr>
        <p:txBody>
          <a:bodyPr vert="horz" wrap="square" lIns="91440" tIns="45720" rIns="91440" bIns="45720" anchor="b"/>
          <a:lstStyle/>
          <a:p>
            <a:pPr algn="ctr" eaLnBrk="1" hangingPunct="1"/>
            <a:r>
              <a:rPr lang="zh-CN" altLang="en-US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本章主要教学目标</a:t>
            </a:r>
            <a:b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Learning Objectives</a:t>
            </a:r>
            <a:endParaRPr lang="zh-CN" altLang="en-US" b="1" dirty="0">
              <a:solidFill>
                <a:srgbClr val="FF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14" name="日期占位符 1"/>
          <p:cNvSpPr txBox="1">
            <a:spLocks noGrp="1"/>
          </p:cNvSpPr>
          <p:nvPr>
            <p:ph type="dt" sz="half" idx="4294967295"/>
          </p:nvPr>
        </p:nvSpPr>
        <p:spPr>
          <a:xfrm>
            <a:off x="139700" y="6515100"/>
            <a:ext cx="1912020" cy="342900"/>
          </a:xfrm>
          <a:prstGeom prst="rect">
            <a:avLst/>
          </a:prstGeom>
        </p:spPr>
        <p:txBody>
          <a:bodyPr anchor="b"/>
          <a:lstStyle/>
          <a:p>
            <a:pPr marL="0" indent="0" eaLnBrk="1" hangingPunct="1">
              <a:spcBef>
                <a:spcPct val="0"/>
              </a:spcBef>
              <a:buClrTx/>
              <a:buSzPct val="100000"/>
              <a:buFont typeface="Arial" panose="020B0604020202020204" pitchFamily="34" charset="0"/>
              <a:buNone/>
            </a:pPr>
            <a:fld id="{BB962C8B-B14F-4D97-AF65-F5344CB8AC3E}" type="datetime8">
              <a:rPr lang="en-US" altLang="zh-CN" sz="1400" dirty="0">
                <a:latin typeface="+mn-lt"/>
                <a:ea typeface="+mn-ea"/>
                <a:cs typeface="+mn-cs"/>
              </a:rPr>
            </a:fld>
            <a:endParaRPr lang="en-US" altLang="zh-CN" sz="14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53479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0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08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8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898" grpId="0" advAuto="100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1547178" y="0"/>
            <a:ext cx="68913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第七章  陶瓷材料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51" name="Rectangle 3"/>
          <p:cNvSpPr>
            <a:spLocks noGrp="1"/>
          </p:cNvSpPr>
          <p:nvPr>
            <p:ph idx="1"/>
          </p:nvPr>
        </p:nvSpPr>
        <p:spPr>
          <a:xfrm>
            <a:off x="533400" y="3605530"/>
            <a:ext cx="8077200" cy="276796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传统陶瓷</a:t>
            </a:r>
            <a:r>
              <a:rPr lang="zh-CN" altLang="en-US" b="1" dirty="0">
                <a:ea typeface="华文中宋" panose="02010600040101010101" pitchFamily="2" charset="-122"/>
              </a:rPr>
              <a:t>产品：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陶瓷器、玻璃、水泥 </a:t>
            </a:r>
            <a:r>
              <a:rPr lang="zh-CN" altLang="en-US" b="1" dirty="0">
                <a:ea typeface="华文中宋" panose="02010600040101010101" pitchFamily="2" charset="-122"/>
              </a:rPr>
              <a:t>等。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随着现代科技的发展，出现了许多性能优良的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新型陶瓷（现代陶瓷）</a:t>
            </a:r>
            <a:r>
              <a:rPr lang="zh-CN" altLang="en-US" b="1" dirty="0">
                <a:ea typeface="华文中宋" panose="02010600040101010101" pitchFamily="2" charset="-122"/>
              </a:rPr>
              <a:t>。 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2052" name="Picture 4" descr="image00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126990" y="1640840"/>
            <a:ext cx="3870960" cy="1572895"/>
          </a:xfrm>
          <a:prstGeom prst="rect">
            <a:avLst/>
          </a:prstGeom>
          <a:noFill/>
          <a:ln w="2857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56" name="Rectangle 8"/>
          <p:cNvSpPr/>
          <p:nvPr/>
        </p:nvSpPr>
        <p:spPr>
          <a:xfrm>
            <a:off x="533400" y="1435735"/>
            <a:ext cx="4451985" cy="216916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陶瓷材料：</a:t>
            </a:r>
            <a:r>
              <a:rPr kumimoji="1"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除</a:t>
            </a:r>
            <a:r>
              <a:rPr lang="zh-CN" altLang="en-US" sz="32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金属</a:t>
            </a:r>
            <a:r>
              <a:rPr kumimoji="1"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和</a:t>
            </a:r>
            <a:r>
              <a:rPr lang="zh-CN" altLang="en-US" sz="32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高聚物以外</a:t>
            </a:r>
            <a:r>
              <a:rPr kumimoji="1" lang="zh-CN" altLang="en-US" sz="3200" b="1" kern="0" dirty="0"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lang="zh-CN" altLang="en-US" sz="32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无机非金属材料</a:t>
            </a:r>
            <a:r>
              <a:rPr kumimoji="1" lang="zh-CN" altLang="en-US" sz="3200" b="1" kern="0" dirty="0"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lang="zh-CN" altLang="en-US" sz="32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通称。</a:t>
            </a:r>
            <a:endParaRPr lang="en-US" altLang="zh-CN" sz="3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410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200025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410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0283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3"/>
            </p:custDataLst>
          </p:nvPr>
        </p:nvSpPr>
        <p:spPr>
          <a:xfrm>
            <a:off x="899160" y="1628775"/>
            <a:ext cx="1690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陶瓷材料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 bldLvl="0" animBg="1"/>
      <p:bldP spid="2051" grpId="0" advAuto="1000" build="p"/>
      <p:bldP spid="205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/>
          </p:cNvSpPr>
          <p:nvPr>
            <p:ph idx="1"/>
          </p:nvPr>
        </p:nvSpPr>
        <p:spPr>
          <a:xfrm>
            <a:off x="1643380" y="1285875"/>
            <a:ext cx="6781800" cy="53213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第一节  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一、</a:t>
            </a:r>
            <a:r>
              <a:rPr lang="zh-CN" altLang="en-US" b="1" dirty="0">
                <a:ea typeface="华文中宋" panose="02010600040101010101" pitchFamily="2" charset="-122"/>
              </a:rPr>
              <a:t>陶瓷材料的特点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二、</a:t>
            </a:r>
            <a:r>
              <a:rPr lang="zh-CN" altLang="en-US" b="1" dirty="0">
                <a:ea typeface="华文中宋" panose="02010600040101010101" pitchFamily="2" charset="-122"/>
              </a:rPr>
              <a:t>陶瓷材料的分类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tx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第二节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常用工业陶瓷</a:t>
            </a:r>
            <a:endParaRPr lang="zh-CN" altLang="en-US" b="1" dirty="0">
              <a:solidFill>
                <a:schemeClr val="folHlink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一、</a:t>
            </a:r>
            <a:r>
              <a:rPr lang="zh-CN" altLang="en-US" b="1" dirty="0">
                <a:ea typeface="华文中宋" panose="02010600040101010101" pitchFamily="2" charset="-122"/>
              </a:rPr>
              <a:t>普通陶瓷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6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  </a:t>
            </a:r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二、</a:t>
            </a:r>
            <a:r>
              <a:rPr lang="zh-CN" altLang="en-US" b="1" dirty="0">
                <a:ea typeface="华文中宋" panose="02010600040101010101" pitchFamily="2" charset="-122"/>
              </a:rPr>
              <a:t>新型结构陶瓷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1643063" y="0"/>
            <a:ext cx="689133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内容提要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12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15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512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837930" y="6607175"/>
            <a:ext cx="28067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8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advAuto="100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1700808"/>
            <a:ext cx="8496944" cy="2232248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第一节  </a:t>
            </a:r>
            <a:r>
              <a:rPr lang="zh-CN" altLang="en-US" sz="6600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</a:t>
            </a:r>
            <a:r>
              <a:rPr kumimoji="1" lang="zh-CN" altLang="en-US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  <a:t>概述</a:t>
            </a:r>
            <a:br>
              <a:rPr kumimoji="1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rPr>
            </a:b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Overview on Ceramics</a:t>
            </a:r>
            <a:endParaRPr kumimoji="1" lang="zh-CN" altLang="en-US" sz="66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30" name="Rectangle 6"/>
          <p:cNvSpPr/>
          <p:nvPr/>
        </p:nvSpPr>
        <p:spPr>
          <a:xfrm>
            <a:off x="381000" y="2514600"/>
            <a:ext cx="3976688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8882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615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07175"/>
            <a:ext cx="45720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689" y="142875"/>
            <a:ext cx="6264696" cy="88011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第一节  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概述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idx="1"/>
          </p:nvPr>
        </p:nvSpPr>
        <p:spPr>
          <a:xfrm>
            <a:off x="176530" y="1504950"/>
            <a:ext cx="5429250" cy="467296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一、陶瓷材料的特点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rgbClr val="66FFFF"/>
                </a:solidFill>
                <a:ea typeface="华文中宋" panose="02010600040101010101" pitchFamily="2" charset="-122"/>
              </a:rPr>
              <a:t>二、</a:t>
            </a:r>
            <a:r>
              <a:rPr lang="zh-CN" altLang="en-US" b="1" dirty="0">
                <a:ea typeface="华文中宋" panose="02010600040101010101" pitchFamily="2" charset="-122"/>
              </a:rPr>
              <a:t>陶瓷材料的分类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pic>
        <p:nvPicPr>
          <p:cNvPr id="1028" name="Picture 4" descr="12_0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220072" y="1916832"/>
            <a:ext cx="3629025" cy="244094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30" name="Rectangle 6"/>
          <p:cNvSpPr/>
          <p:nvPr/>
        </p:nvSpPr>
        <p:spPr>
          <a:xfrm>
            <a:off x="381000" y="2514600"/>
            <a:ext cx="3976688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8882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615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07175"/>
            <a:ext cx="45720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advAuto="1000" build="p"/>
      <p:bldP spid="103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63689" y="142875"/>
            <a:ext cx="6264696" cy="880110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</a:t>
            </a:r>
            <a:r>
              <a:rPr lang="zh-CN" altLang="en-US" b="1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</a:t>
            </a:r>
            <a:r>
              <a:rPr lang="zh-CN" altLang="en-US" b="1" dirty="0">
                <a:ea typeface="华文中宋" panose="02010600040101010101" pitchFamily="2" charset="-122"/>
              </a:rPr>
              <a:t>的特点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idx="1"/>
          </p:nvPr>
        </p:nvSpPr>
        <p:spPr>
          <a:xfrm>
            <a:off x="179512" y="1124744"/>
            <a:ext cx="5403582" cy="5020394"/>
          </a:xfrm>
        </p:spPr>
        <p:txBody>
          <a:bodyPr vert="horz" wrap="square" lIns="91440" tIns="45720" rIns="91440" bIns="45720" anchor="t"/>
          <a:lstStyle/>
          <a:p>
            <a:pPr marL="342900" lvl="0" indent="-342900" eaLnBrk="1" hangingPunct="1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en-US" altLang="zh-CN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、陶瓷材料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</a:t>
            </a:r>
            <a:r>
              <a:rPr lang="zh-CN" altLang="en-US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相组成特点</a:t>
            </a:r>
            <a:endParaRPr lang="en-US" altLang="zh-CN" b="1" dirty="0">
              <a:solidFill>
                <a:srgbClr val="CCFF33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、陶瓷材料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结合键特点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、陶瓷材料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性能特点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lvl="0" eaLnBrk="1" hangingPunct="1">
              <a:lnSpc>
                <a:spcPct val="15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、陶瓷材料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工艺特点</a:t>
            </a:r>
            <a:endParaRPr lang="zh-CN" altLang="en-US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</p:txBody>
      </p:sp>
      <p:pic>
        <p:nvPicPr>
          <p:cNvPr id="1028" name="Picture 4" descr="12_0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606415" y="1899285"/>
            <a:ext cx="3629025" cy="2440940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30" name="Rectangle 6"/>
          <p:cNvSpPr/>
          <p:nvPr/>
        </p:nvSpPr>
        <p:spPr>
          <a:xfrm>
            <a:off x="381000" y="2514600"/>
            <a:ext cx="3976688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8882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615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07175"/>
            <a:ext cx="45720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advAuto="1000" build="p"/>
      <p:bldP spid="10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142874"/>
            <a:ext cx="7920879" cy="1413918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j-cs"/>
              </a:rPr>
              <a:t>一</a:t>
            </a:r>
            <a:r>
              <a:rPr lang="zh-CN" altLang="en-US" b="1" noProof="0" dirty="0">
                <a:latin typeface="华文中宋" panose="02010600040101010101" pitchFamily="2" charset="-122"/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华文中宋" panose="02010600040101010101" pitchFamily="2" charset="-122"/>
              </a:rPr>
              <a:t>陶瓷材料</a:t>
            </a:r>
            <a:r>
              <a:rPr lang="zh-CN" altLang="en-US" b="1" dirty="0">
                <a:ea typeface="华文中宋" panose="02010600040101010101" pitchFamily="2" charset="-122"/>
              </a:rPr>
              <a:t>的特点</a:t>
            </a:r>
            <a:br>
              <a:rPr lang="en-US" altLang="zh-CN" b="1" dirty="0">
                <a:ea typeface="华文中宋" panose="02010600040101010101" pitchFamily="2" charset="-122"/>
              </a:rPr>
            </a:br>
            <a:r>
              <a:rPr lang="en-US" altLang="zh-CN" b="1" dirty="0">
                <a:ea typeface="华文中宋" panose="02010600040101010101" pitchFamily="2" charset="-122"/>
              </a:rPr>
              <a:t>——</a:t>
            </a:r>
            <a:r>
              <a:rPr lang="en-US" altLang="zh-CN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1</a:t>
            </a:r>
            <a:r>
              <a:rPr lang="zh-CN" altLang="en-US" b="1" dirty="0">
                <a:solidFill>
                  <a:srgbClr val="CCFF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、陶瓷材料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相组成特点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idx="1"/>
          </p:nvPr>
        </p:nvSpPr>
        <p:spPr>
          <a:xfrm>
            <a:off x="179512" y="1412776"/>
            <a:ext cx="5403582" cy="4732362"/>
          </a:xfrm>
        </p:spPr>
        <p:txBody>
          <a:bodyPr vert="horz" wrap="square" lIns="91440" tIns="45720" rIns="91440" bIns="45720" anchor="t"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陶瓷材料通常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由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三种不同</a:t>
            </a:r>
            <a:r>
              <a:rPr lang="zh-CN" altLang="en-US" b="1" dirty="0">
                <a:solidFill>
                  <a:srgbClr val="CCFF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相组成：</a:t>
            </a:r>
            <a:endParaRPr lang="en-US" altLang="zh-CN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①晶相 </a:t>
            </a:r>
            <a:endParaRPr lang="en-US" altLang="zh-CN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②玻璃相 </a:t>
            </a:r>
            <a:endParaRPr lang="en-US" altLang="zh-CN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  <a:sym typeface="+mn-ea"/>
            </a:endParaRPr>
          </a:p>
          <a:p>
            <a:pPr lvl="0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③气相 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[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气孔</a:t>
            </a:r>
            <a:r>
              <a:rPr lang="en-US" altLang="zh-CN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]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pic>
        <p:nvPicPr>
          <p:cNvPr id="1028" name="Picture 4" descr="12_04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606415" y="2184400"/>
            <a:ext cx="3205480" cy="2155825"/>
          </a:xfrm>
          <a:prstGeom prst="rect">
            <a:avLst/>
          </a:prstGeom>
          <a:noFill/>
          <a:ln w="28575" cap="flat" cmpd="sng">
            <a:solidFill>
              <a:srgbClr val="FF9900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030" name="Rectangle 6"/>
          <p:cNvSpPr/>
          <p:nvPr/>
        </p:nvSpPr>
        <p:spPr>
          <a:xfrm>
            <a:off x="381000" y="2514600"/>
            <a:ext cx="3976688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 eaLnBrk="1" hangingPunct="1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15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8882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615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94420" y="6607175"/>
            <a:ext cx="45720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9685" y="16287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" grpId="0"/>
      <p:bldP spid="1027" grpId="0" advAuto="1000" build="p"/>
      <p:bldP spid="10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/>
          </p:cNvSpPr>
          <p:nvPr>
            <p:ph idx="1"/>
          </p:nvPr>
        </p:nvSpPr>
        <p:spPr>
          <a:xfrm>
            <a:off x="428625" y="3765550"/>
            <a:ext cx="4649470" cy="28206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长大。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③</a:t>
            </a:r>
            <a:r>
              <a:rPr kumimoji="0" lang="zh-CN" altLang="en-US" b="1" kern="1200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气相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：</a:t>
            </a:r>
            <a:r>
              <a:rPr lang="zh-CN" altLang="en-US" b="1" dirty="0">
                <a:ea typeface="华文中宋" panose="02010600040101010101" pitchFamily="2" charset="-122"/>
              </a:rPr>
              <a:t>是在工艺过程中形成并保留下来的。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29702" name="Rectangle 6"/>
          <p:cNvSpPr/>
          <p:nvPr/>
        </p:nvSpPr>
        <p:spPr>
          <a:xfrm>
            <a:off x="428625" y="1039495"/>
            <a:ext cx="8583930" cy="280543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lvl="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①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晶相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陶瓷材料中的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主要组成相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，决定陶瓷材料物理化学性质的主要是晶相。</a:t>
            </a:r>
            <a:endParaRPr lang="zh-CN" altLang="en-US" sz="3200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342900" lvl="0" indent="-34290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②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玻璃相</a:t>
            </a:r>
            <a:r>
              <a:rPr lang="zh-CN" altLang="en-US" sz="3200" b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：</a:t>
            </a:r>
            <a:r>
              <a:rPr lang="zh-CN" altLang="en-US" sz="3200" b="1" dirty="0">
                <a:latin typeface="Times New Roman" panose="02020603050405020304" pitchFamily="18" charset="0"/>
                <a:ea typeface="华文中宋" panose="02010600040101010101" pitchFamily="2" charset="-122"/>
                <a:cs typeface="+mn-ea"/>
              </a:rPr>
              <a:t>作用是</a:t>
            </a:r>
            <a:r>
              <a:rPr lang="zh-CN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充填晶粒间隙、粘结晶粒、提高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材料致密度、降低烧结温度和抑制晶粒</a:t>
            </a:r>
            <a:endParaRPr lang="zh-CN" altLang="en-US" sz="3200" b="1" dirty="0">
              <a:solidFill>
                <a:schemeClr val="folHlink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pic>
        <p:nvPicPr>
          <p:cNvPr id="29703" name="Picture 7" descr="陶瓷组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5148064" y="4005064"/>
            <a:ext cx="3855085" cy="255778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1895524" y="-103505"/>
            <a:ext cx="60340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陶瓷材料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的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相组成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717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3103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717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3940" y="6586220"/>
            <a:ext cx="457200" cy="27178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9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advAuto="1000" build="p"/>
      <p:bldP spid="29702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428625" y="1273810"/>
            <a:ext cx="8229600" cy="50844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陶瓷材料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主要成分：氧化物、碳化物、氮化物、硅化物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结合键</a:t>
            </a:r>
            <a:r>
              <a:rPr lang="zh-CN" altLang="en-US" b="1" dirty="0">
                <a:ea typeface="华文中宋" panose="02010600040101010101" pitchFamily="2" charset="-122"/>
              </a:rPr>
              <a:t>以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离子键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、共价键</a:t>
            </a:r>
            <a:r>
              <a:rPr lang="en-US" altLang="zh-CN" b="1" dirty="0"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ea typeface="华文中宋" panose="02010600040101010101" pitchFamily="2" charset="-122"/>
              </a:rPr>
              <a:t>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en-US" altLang="zh-CN" b="1" dirty="0"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及两者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混合键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为主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6"/>
          <p:cNvGrpSpPr>
            <a:grpSpLocks noChangeAspect="1"/>
          </p:cNvGrpSpPr>
          <p:nvPr/>
        </p:nvGrpSpPr>
        <p:grpSpPr>
          <a:xfrm>
            <a:off x="2118995" y="4013200"/>
            <a:ext cx="5480050" cy="2344836"/>
            <a:chOff x="480" y="2016"/>
            <a:chExt cx="4804" cy="2055"/>
          </a:xfrm>
        </p:grpSpPr>
        <p:pic>
          <p:nvPicPr>
            <p:cNvPr id="8200" name="Picture 11" descr="image017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736" y="2016"/>
              <a:ext cx="2548" cy="2039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201" name="Text Box 12"/>
            <p:cNvSpPr txBox="1">
              <a:spLocks noChangeAspect="1"/>
            </p:cNvSpPr>
            <p:nvPr/>
          </p:nvSpPr>
          <p:spPr>
            <a:xfrm>
              <a:off x="4145" y="3706"/>
              <a:ext cx="849" cy="3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共价键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pic>
          <p:nvPicPr>
            <p:cNvPr id="8202" name="Picture 10" descr="image01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0" y="2016"/>
              <a:ext cx="2088" cy="204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8203" name="Text Box 13"/>
            <p:cNvSpPr txBox="1">
              <a:spLocks noChangeAspect="1"/>
            </p:cNvSpPr>
            <p:nvPr/>
          </p:nvSpPr>
          <p:spPr>
            <a:xfrm>
              <a:off x="1152" y="3722"/>
              <a:ext cx="849" cy="3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离子键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0"/>
            <a:ext cx="67151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、陶瓷材料的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结合键特点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819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2024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8199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617970"/>
            <a:ext cx="381635" cy="24003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advAuto="1000" build="p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1030"/>
          <p:cNvSpPr>
            <a:spLocks noGrp="1"/>
          </p:cNvSpPr>
          <p:nvPr>
            <p:ph idx="1"/>
          </p:nvPr>
        </p:nvSpPr>
        <p:spPr>
          <a:xfrm>
            <a:off x="467995" y="1196340"/>
            <a:ext cx="5842000" cy="52038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高熔点、高硬度、高化学稳定性，耐高温、耐氧化、耐腐蚀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marL="0" indent="0" eaLnBrk="1" hangingPunct="1">
              <a:lnSpc>
                <a:spcPct val="130000"/>
              </a:lnSpc>
              <a:buNone/>
            </a:pPr>
            <a:endParaRPr lang="en-US" altLang="zh-CN" sz="1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密度小、弹性模量大、耐磨损、强度高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sz="16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功能陶瓷  电、光、磁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特殊性能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036"/>
          <p:cNvGrpSpPr>
            <a:grpSpLocks noChangeAspect="1"/>
          </p:cNvGrpSpPr>
          <p:nvPr/>
        </p:nvGrpSpPr>
        <p:grpSpPr>
          <a:xfrm>
            <a:off x="6443980" y="1389380"/>
            <a:ext cx="2635250" cy="4456430"/>
            <a:chOff x="3264" y="192"/>
            <a:chExt cx="2299" cy="3888"/>
          </a:xfrm>
        </p:grpSpPr>
        <p:pic>
          <p:nvPicPr>
            <p:cNvPr id="9224" name="Picture 1032" descr="陶瓷压痕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64" y="2189"/>
              <a:ext cx="2267" cy="1891"/>
            </a:xfrm>
            <a:prstGeom prst="rect">
              <a:avLst/>
            </a:prstGeom>
            <a:noFill/>
            <a:ln w="28575" cap="flat" cmpd="sng">
              <a:solidFill>
                <a:srgbClr val="993366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9225" name="Picture 1033" descr="vicker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64" y="192"/>
              <a:ext cx="2267" cy="1885"/>
            </a:xfrm>
            <a:prstGeom prst="rect">
              <a:avLst/>
            </a:prstGeom>
            <a:noFill/>
            <a:ln w="28575" cap="flat" cmpd="sng">
              <a:solidFill>
                <a:srgbClr val="993366"/>
              </a:solidFill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1754" name="Text Box 1034"/>
            <p:cNvSpPr txBox="1">
              <a:spLocks noChangeAspect="1" noChangeArrowheads="1"/>
            </p:cNvSpPr>
            <p:nvPr/>
          </p:nvSpPr>
          <p:spPr bwMode="auto">
            <a:xfrm>
              <a:off x="5140" y="210"/>
              <a:ext cx="401" cy="1727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vert="eaVert"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韧性陶瓷硬度压痕</a:t>
              </a: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755" name="Text Box 1035"/>
            <p:cNvSpPr txBox="1">
              <a:spLocks noChangeAspect="1" noChangeArrowheads="1"/>
            </p:cNvSpPr>
            <p:nvPr/>
          </p:nvSpPr>
          <p:spPr bwMode="auto">
            <a:xfrm>
              <a:off x="3307" y="2169"/>
              <a:ext cx="2256" cy="563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脆性陶瓷硬度压痕周围的裂纹</a:t>
              </a:r>
              <a:endParaRPr kumimoji="1" lang="zh-CN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691680" y="-89930"/>
            <a:ext cx="67151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、陶瓷材料的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性能特点 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922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200025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922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3345" y="6607175"/>
            <a:ext cx="44446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1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17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50" grpId="0" advAuto="1000" build="p"/>
      <p:bldP spid="12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285750" y="1000125"/>
            <a:ext cx="8686800" cy="54292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陶瓷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脆性材料，大部分陶瓷</a:t>
            </a:r>
            <a:r>
              <a:rPr lang="zh-CN" altLang="en-US" b="1" dirty="0">
                <a:ea typeface="华文中宋" panose="02010600040101010101" pitchFamily="2" charset="-122"/>
              </a:rPr>
              <a:t>是通过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粉体成型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高温烧结</a:t>
            </a:r>
            <a:r>
              <a:rPr lang="zh-CN" altLang="en-US" b="1" dirty="0">
                <a:ea typeface="华文中宋" panose="02010600040101010101" pitchFamily="2" charset="-122"/>
              </a:rPr>
              <a:t>来成型的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，陶瓷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烧结体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烧结体</a:t>
            </a:r>
            <a:r>
              <a:rPr lang="zh-CN" altLang="en-US" b="1" dirty="0">
                <a:ea typeface="华文中宋" panose="02010600040101010101" pitchFamily="2" charset="-122"/>
              </a:rPr>
              <a:t>也是晶粒的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聚集体</a:t>
            </a:r>
            <a:r>
              <a:rPr lang="zh-CN" altLang="en-US" b="1" dirty="0">
                <a:ea typeface="华文中宋" panose="02010600040101010101" pitchFamily="2" charset="-122"/>
              </a:rPr>
              <a:t>，有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晶粒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晶界</a:t>
            </a:r>
            <a:r>
              <a:rPr lang="zh-CN" altLang="en-US" b="1" dirty="0">
                <a:ea typeface="华文中宋" panose="02010600040101010101" pitchFamily="2" charset="-122"/>
              </a:rPr>
              <a:t>，存在一定的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气孔率</a:t>
            </a:r>
            <a:r>
              <a:rPr lang="zh-CN" altLang="en-US" b="1" dirty="0">
                <a:ea typeface="华文中宋" panose="02010600040101010101" pitchFamily="2" charset="-122"/>
              </a:rPr>
              <a:t>。 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3"/>
          <p:cNvGrpSpPr/>
          <p:nvPr/>
        </p:nvGrpSpPr>
        <p:grpSpPr>
          <a:xfrm>
            <a:off x="1115695" y="3861435"/>
            <a:ext cx="7681913" cy="2520950"/>
            <a:chOff x="528" y="2448"/>
            <a:chExt cx="4839" cy="1588"/>
          </a:xfrm>
        </p:grpSpPr>
        <p:pic>
          <p:nvPicPr>
            <p:cNvPr id="10248" name="Picture 9" descr="旋转 氧化锆陶瓷缺陷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12" y="2448"/>
              <a:ext cx="2038" cy="158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10249" name="Picture 10" descr="Al2O3粉末的烧结组织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8" y="2448"/>
              <a:ext cx="2464" cy="158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0250" name="Rectangle 11"/>
            <p:cNvSpPr/>
            <p:nvPr/>
          </p:nvSpPr>
          <p:spPr>
            <a:xfrm>
              <a:off x="528" y="2448"/>
              <a:ext cx="1920" cy="240"/>
            </a:xfrm>
            <a:prstGeom prst="rect">
              <a:avLst/>
            </a:prstGeom>
            <a:solidFill>
              <a:schemeClr val="tx1"/>
            </a:solidFill>
            <a:ln w="28575">
              <a:noFill/>
            </a:ln>
          </p:spPr>
          <p:txBody>
            <a:bodyPr wrap="none" anchor="ctr"/>
            <a:lstStyle/>
            <a:p>
              <a:pPr lvl="0" algn="ctr" eaLnBrk="1" hangingPunct="1"/>
              <a:r>
                <a:rPr lang="en-US" altLang="zh-CN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Al</a:t>
              </a:r>
              <a:r>
                <a:rPr lang="en-US" altLang="zh-CN" sz="2000" b="1" baseline="-25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</a:t>
              </a:r>
              <a:r>
                <a:rPr lang="en-US" altLang="zh-CN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O</a:t>
              </a:r>
              <a:r>
                <a:rPr lang="en-US" altLang="zh-CN" sz="2000" b="1" baseline="-25000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3</a:t>
              </a:r>
              <a:r>
                <a:rPr lang="zh-CN" altLang="en-US" sz="20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粉末的烧结组织</a:t>
              </a:r>
              <a:endPara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0251" name="Text Box 12"/>
            <p:cNvSpPr txBox="1"/>
            <p:nvPr/>
          </p:nvSpPr>
          <p:spPr>
            <a:xfrm>
              <a:off x="3879" y="2457"/>
              <a:ext cx="1488" cy="250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ZrO2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陶瓷中的气孔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000250" y="-142875"/>
            <a:ext cx="6715125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、陶瓷材料的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工艺特点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024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61455"/>
            <a:ext cx="1815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024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15375" y="6607175"/>
            <a:ext cx="457200" cy="25082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dvAuto="1000" build="p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1628800"/>
            <a:ext cx="7848872" cy="3888432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eaLnBrk="1" hangingPunct="1">
              <a:lnSpc>
                <a:spcPct val="130000"/>
              </a:lnSpc>
              <a:defRPr/>
            </a:pPr>
            <a:r>
              <a:rPr kumimoji="1" lang="zh-CN" altLang="en-US" sz="6600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二、陶瓷材料的分类</a:t>
            </a:r>
            <a:br>
              <a:rPr kumimoji="1" lang="en-US" altLang="zh-CN" sz="6600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000" dirty="0"/>
              <a:t> </a:t>
            </a:r>
            <a:r>
              <a:rPr lang="en-US" altLang="zh-CN" sz="6000" b="1" i="1" dirty="0">
                <a:solidFill>
                  <a:srgbClr val="FF0000"/>
                </a:solidFill>
                <a:latin typeface="+mn-lt"/>
              </a:rPr>
              <a:t>Classification of ceramic materials</a:t>
            </a:r>
            <a:endParaRPr kumimoji="1" lang="zh-CN" altLang="en-US" sz="60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27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200025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127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48464" y="6596380"/>
            <a:ext cx="402521" cy="26162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321246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9"/>
          <p:cNvGrpSpPr>
            <a:grpSpLocks noChangeAspect="1"/>
          </p:cNvGrpSpPr>
          <p:nvPr/>
        </p:nvGrpSpPr>
        <p:grpSpPr>
          <a:xfrm>
            <a:off x="6882492" y="1136643"/>
            <a:ext cx="2111153" cy="2890684"/>
            <a:chOff x="3160" y="1104"/>
            <a:chExt cx="2412" cy="3303"/>
          </a:xfrm>
        </p:grpSpPr>
        <p:pic>
          <p:nvPicPr>
            <p:cNvPr id="11272" name="Picture 4" descr="image006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54" y="2755"/>
              <a:ext cx="2074" cy="157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3" name="Group 7"/>
            <p:cNvGrpSpPr>
              <a:grpSpLocks noChangeAspect="1"/>
            </p:cNvGrpSpPr>
            <p:nvPr/>
          </p:nvGrpSpPr>
          <p:grpSpPr>
            <a:xfrm>
              <a:off x="3160" y="1104"/>
              <a:ext cx="2412" cy="1657"/>
              <a:chOff x="3160" y="1104"/>
              <a:chExt cx="2412" cy="1657"/>
            </a:xfrm>
          </p:grpSpPr>
          <p:pic>
            <p:nvPicPr>
              <p:cNvPr id="11275" name="Picture 5" descr="image010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160" y="1104"/>
                <a:ext cx="2412" cy="148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1276" name="Text Box 6"/>
              <p:cNvSpPr txBox="1">
                <a:spLocks noChangeAspect="1"/>
              </p:cNvSpPr>
              <p:nvPr/>
            </p:nvSpPr>
            <p:spPr>
              <a:xfrm>
                <a:off x="3599" y="2374"/>
                <a:ext cx="1333" cy="387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16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导电玻璃</a:t>
                </a:r>
                <a:endPara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11274" name="Text Box 8"/>
            <p:cNvSpPr txBox="1">
              <a:spLocks noChangeAspect="1"/>
            </p:cNvSpPr>
            <p:nvPr/>
          </p:nvSpPr>
          <p:spPr>
            <a:xfrm>
              <a:off x="3442" y="4020"/>
              <a:ext cx="1556" cy="387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zh-CN" altLang="en-US" sz="16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玻璃幕墙</a:t>
              </a:r>
              <a:endParaRPr lang="zh-CN" altLang="en-US" sz="16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>
          <a:xfrm>
            <a:off x="1032604" y="-91770"/>
            <a:ext cx="7272808" cy="1200329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>
              <a:lnSpc>
                <a:spcPct val="130000"/>
              </a:lnSpc>
              <a:defRPr/>
            </a:pPr>
            <a:r>
              <a:rPr kumimoji="1" lang="zh-CN" altLang="en-US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二、陶瓷材料的分类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127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200025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127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6456" y="6596380"/>
            <a:ext cx="474529" cy="26162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4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9" name="组合 28"/>
          <p:cNvGrpSpPr/>
          <p:nvPr/>
        </p:nvGrpSpPr>
        <p:grpSpPr>
          <a:xfrm>
            <a:off x="310977" y="1369674"/>
            <a:ext cx="6348095" cy="4919345"/>
            <a:chOff x="2299087" y="2782199"/>
            <a:chExt cx="6348095" cy="4919345"/>
          </a:xfrm>
        </p:grpSpPr>
        <p:grpSp>
          <p:nvGrpSpPr>
            <p:cNvPr id="4" name="组合 3"/>
            <p:cNvGrpSpPr/>
            <p:nvPr/>
          </p:nvGrpSpPr>
          <p:grpSpPr>
            <a:xfrm>
              <a:off x="2299087" y="2782199"/>
              <a:ext cx="6348095" cy="4919345"/>
              <a:chOff x="642331" y="659128"/>
              <a:chExt cx="6348095" cy="4919345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642331" y="659128"/>
                <a:ext cx="6348095" cy="4852988"/>
                <a:chOff x="672701" y="698643"/>
                <a:chExt cx="6348095" cy="4852988"/>
              </a:xfrm>
            </p:grpSpPr>
            <p:grpSp>
              <p:nvGrpSpPr>
                <p:cNvPr id="7" name="组合 6"/>
                <p:cNvGrpSpPr/>
                <p:nvPr/>
              </p:nvGrpSpPr>
              <p:grpSpPr>
                <a:xfrm>
                  <a:off x="672701" y="698643"/>
                  <a:ext cx="6348095" cy="4362004"/>
                  <a:chOff x="646164" y="895231"/>
                  <a:chExt cx="6348095" cy="4362004"/>
                </a:xfrm>
              </p:grpSpPr>
              <p:grpSp>
                <p:nvGrpSpPr>
                  <p:cNvPr id="15" name="组合 14"/>
                  <p:cNvGrpSpPr/>
                  <p:nvPr/>
                </p:nvGrpSpPr>
                <p:grpSpPr>
                  <a:xfrm>
                    <a:off x="646164" y="895231"/>
                    <a:ext cx="4451350" cy="4362004"/>
                    <a:chOff x="542506" y="4094500"/>
                    <a:chExt cx="4451350" cy="2241048"/>
                  </a:xfrm>
                </p:grpSpPr>
                <p:grpSp>
                  <p:nvGrpSpPr>
                    <p:cNvPr id="20" name="组合 20"/>
                    <p:cNvGrpSpPr/>
                    <p:nvPr/>
                  </p:nvGrpSpPr>
                  <p:grpSpPr>
                    <a:xfrm>
                      <a:off x="542506" y="4381653"/>
                      <a:ext cx="4448444" cy="1953895"/>
                      <a:chOff x="2951" y="5440"/>
                      <a:chExt cx="7090" cy="3077"/>
                    </a:xfrm>
                  </p:grpSpPr>
                  <p:sp>
                    <p:nvSpPr>
                      <p:cNvPr id="24" name="左大括号 39"/>
                      <p:cNvSpPr/>
                      <p:nvPr/>
                    </p:nvSpPr>
                    <p:spPr>
                      <a:xfrm>
                        <a:off x="3967" y="5966"/>
                        <a:ext cx="218" cy="2551"/>
                      </a:xfrm>
                      <a:prstGeom prst="leftBrace">
                        <a:avLst>
                          <a:gd name="adj1" fmla="val 47157"/>
                          <a:gd name="adj2" fmla="val 50000"/>
                        </a:avLst>
                      </a:prstGeom>
                      <a:ln w="22225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/>
                      <a:lstStyle/>
                      <a:p>
                        <a:endParaRPr lang="zh-CN" altLang="en-US" dirty="0"/>
                      </a:p>
                    </p:txBody>
                  </p:sp>
                  <p:sp>
                    <p:nvSpPr>
                      <p:cNvPr id="25" name="文本框 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2951" y="6114"/>
                        <a:ext cx="888" cy="2203"/>
                      </a:xfrm>
                      <a:prstGeom prst="rect">
                        <a:avLst/>
                      </a:prstGeom>
                      <a:solidFill>
                        <a:schemeClr val="accent6">
                          <a:lumMod val="20000"/>
                          <a:lumOff val="80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 rot="0" vert="horz" wrap="square" lIns="91440" tIns="45720" rIns="91440" bIns="45720" anchor="t" anchorCtr="0">
                        <a:noAutofit/>
                      </a:bodyPr>
                      <a:lstStyle/>
                      <a:p>
                        <a:pPr algn="ctr">
                          <a:buClrTx/>
                          <a:buSzTx/>
                          <a:buFontTx/>
                        </a:pPr>
                        <a:r>
                          <a:rPr kumimoji="1" lang="zh-CN" altLang="en-US" b="1" i="0" u="none" strike="noStrike" kern="0" cap="none" spc="0" normalizeH="0" baseline="0" noProof="0" dirty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>
                              <a:outerShdw blurRad="38100" dist="38100" dir="2700000" algn="tl">
                                <a:srgbClr val="000000"/>
                              </a:outerShdw>
                            </a:effectLst>
                            <a:uLnTx/>
                            <a:uFillTx/>
                            <a:latin typeface="华文中宋" panose="02010600040101010101" pitchFamily="2" charset="-122"/>
                            <a:ea typeface="华文中宋" panose="02010600040101010101" pitchFamily="2" charset="-122"/>
                            <a:cs typeface="+mj-cs"/>
                          </a:rPr>
                          <a:t>陶瓷材料的分类</a:t>
                        </a:r>
                        <a:endParaRPr lang="zh-CN" altLang="en-US" kern="100" dirty="0">
                          <a:solidFill>
                            <a:srgbClr val="FF0000"/>
                          </a:solidFill>
                          <a:effectLst>
                            <a:outerShdw blurRad="38100" dist="25400" dir="5400000" algn="ctr">
                              <a:srgbClr val="6E747A">
                                <a:alpha val="43000"/>
                              </a:srgbClr>
                            </a:outerShdw>
                          </a:effectLst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  <a:sym typeface="+mn-ea"/>
                        </a:endParaRPr>
                      </a:p>
                    </p:txBody>
                  </p:sp>
                  <p:sp>
                    <p:nvSpPr>
                      <p:cNvPr id="26" name="文本框 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441" y="5440"/>
                        <a:ext cx="2192" cy="672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 rot="0" vert="horz" wrap="square" lIns="91440" tIns="45720" rIns="91440" bIns="45720" anchor="t" anchorCtr="0">
                        <a:spAutoFit/>
                      </a:bodyPr>
                      <a:lstStyle/>
                      <a:p>
                        <a:pPr algn="l"/>
                        <a:r>
                          <a:rPr lang="zh-CN" altLang="en-US" b="1" dirty="0">
                            <a:solidFill>
                              <a:srgbClr val="FF0000"/>
                            </a:solidFill>
                            <a:ea typeface="华文中宋" panose="02010600040101010101" pitchFamily="2" charset="-122"/>
                          </a:rPr>
                          <a:t>按化学成分</a:t>
                        </a:r>
                        <a:endParaRPr lang="zh-CN" altLang="en-US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endParaRPr>
                      </a:p>
                    </p:txBody>
                  </p:sp>
                  <p:sp>
                    <p:nvSpPr>
                      <p:cNvPr id="27" name="文本框 2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7122" y="5798"/>
                        <a:ext cx="2919" cy="372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60000"/>
                          <a:lumOff val="40000"/>
                        </a:schemeClr>
                      </a:solidFill>
                      <a:ln w="9525">
                        <a:solidFill>
                          <a:srgbClr val="000000"/>
                        </a:solidFill>
                        <a:miter lim="800000"/>
                      </a:ln>
                    </p:spPr>
                    <p:txBody>
                      <a:bodyPr rot="0" vert="horz" wrap="square" lIns="91440" tIns="45720" rIns="91440" bIns="45720" anchor="t" anchorCtr="0">
                        <a:spAutoFit/>
                      </a:bodyPr>
                      <a:lstStyle/>
                      <a:p>
                        <a:r>
                          <a:rPr lang="zh-CN" altLang="en-US" b="1" dirty="0">
                            <a:solidFill>
                              <a:srgbClr val="FF0000"/>
                            </a:solidFill>
                            <a:ea typeface="华文中宋" panose="02010600040101010101" pitchFamily="2" charset="-122"/>
                          </a:rPr>
                          <a:t>氮化物陶瓷</a:t>
                        </a:r>
                        <a:endParaRPr lang="zh-CN" altLang="en-US" kern="1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Times New Roman" panose="02020603050405020304"/>
                          <a:sym typeface="Times New Roman" panose="02020603050405020304"/>
                        </a:endParaRPr>
                      </a:p>
                    </p:txBody>
                  </p:sp>
                </p:grpSp>
                <p:sp>
                  <p:nvSpPr>
                    <p:cNvPr id="21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51086" y="4352231"/>
                      <a:ext cx="1838960" cy="236525"/>
                    </a:xfrm>
                    <a:prstGeom prst="rect">
                      <a:avLst/>
                    </a:prstGeom>
                    <a:solidFill>
                      <a:srgbClr val="92D050"/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r>
                        <a:rPr lang="zh-CN" altLang="en-US" b="1" dirty="0">
                          <a:solidFill>
                            <a:schemeClr val="folHlink"/>
                          </a:solidFill>
                          <a:ea typeface="华文中宋" panose="02010600040101010101" pitchFamily="2" charset="-122"/>
                        </a:rPr>
                        <a:t>碳化物陶瓷</a:t>
                      </a:r>
                      <a:endParaRPr lang="zh-CN" altLang="en-US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  <p:sp useBgFill="1">
                  <p:nvSpPr>
                    <p:cNvPr id="22" name="左大括号 39"/>
                    <p:cNvSpPr/>
                    <p:nvPr/>
                  </p:nvSpPr>
                  <p:spPr>
                    <a:xfrm>
                      <a:off x="2905407" y="4278823"/>
                      <a:ext cx="207643" cy="686037"/>
                    </a:xfrm>
                    <a:prstGeom prst="leftBrace">
                      <a:avLst>
                        <a:gd name="adj1" fmla="val 47157"/>
                        <a:gd name="adj2" fmla="val 50000"/>
                      </a:avLst>
                    </a:prstGeom>
                    <a:ln w="22225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  <p:txBody>
                    <a:bodyPr/>
                    <a:lstStyle/>
                    <a:p>
                      <a:endParaRPr lang="zh-CN" altLang="en-US" dirty="0"/>
                    </a:p>
                  </p:txBody>
                </p:sp>
                <p:sp>
                  <p:nvSpPr>
                    <p:cNvPr id="23" name="文本框 2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3130766" y="4094500"/>
                      <a:ext cx="1863090" cy="236525"/>
                    </a:xfrm>
                    <a:prstGeom prst="rect">
                      <a:avLst/>
                    </a:prstGeom>
                    <a:solidFill>
                      <a:schemeClr val="tx2">
                        <a:lumMod val="20000"/>
                        <a:lumOff val="80000"/>
                      </a:schemeClr>
                    </a:solidFill>
                    <a:ln w="9525">
                      <a:solidFill>
                        <a:srgbClr val="000000"/>
                      </a:solidFill>
                      <a:miter lim="800000"/>
                    </a:ln>
                  </p:spPr>
                  <p:txBody>
                    <a:bodyPr rot="0" vert="horz" wrap="square" lIns="91440" tIns="45720" rIns="91440" bIns="45720" anchor="t" anchorCtr="0">
                      <a:spAutoFit/>
                    </a:bodyPr>
                    <a:lstStyle/>
                    <a:p>
                      <a:r>
                        <a:rPr lang="zh-CN" altLang="en-US" b="1" dirty="0">
                          <a:solidFill>
                            <a:srgbClr val="FF0000"/>
                          </a:solidFill>
                          <a:ea typeface="华文中宋" panose="02010600040101010101" pitchFamily="2" charset="-122"/>
                        </a:rPr>
                        <a:t>氧化物陶瓷</a:t>
                      </a:r>
                      <a:endParaRPr lang="zh-CN" altLang="en-US" kern="100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Times New Roman" panose="02020603050405020304"/>
                        <a:sym typeface="Times New Roman" panose="02020603050405020304"/>
                      </a:endParaRPr>
                    </a:p>
                  </p:txBody>
                </p:sp>
              </p:grpSp>
              <p:sp useBgFill="1">
                <p:nvSpPr>
                  <p:cNvPr id="16" name="左大括号 39"/>
                  <p:cNvSpPr/>
                  <p:nvPr/>
                </p:nvSpPr>
                <p:spPr>
                  <a:xfrm>
                    <a:off x="2910723" y="3258255"/>
                    <a:ext cx="170284" cy="1118492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7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6644" y="2960886"/>
                    <a:ext cx="3777615" cy="1050290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marR="0" lvl="0" algn="l" defTabSz="914400" rtl="0" eaLnBrk="1" fontAlgn="base" latinLnBrk="0" hangingPunct="1">
                      <a:lnSpc>
                        <a:spcPct val="13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0000"/>
                      <a:defRPr/>
                    </a:pPr>
                    <a:r>
                      <a:rPr kumimoji="1" lang="zh-CN" altLang="en-US" sz="2400" b="1" i="0" u="none" strike="noStrike" kern="0" cap="none" spc="0" normalizeH="0" baseline="0" dirty="0">
                        <a:solidFill>
                          <a:srgbClr val="FF0000"/>
                        </a:solidFill>
                        <a:latin typeface="+mn-lt"/>
                        <a:ea typeface="华文中宋" panose="02010600040101010101" pitchFamily="2" charset="-122"/>
                        <a:cs typeface="+mn-cs"/>
                      </a:rPr>
                      <a:t>普通陶瓷</a:t>
                    </a: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+mn-cs"/>
                      </a:rPr>
                      <a:t>：以天然的岩石、矿石、黏土等材料作原料。</a:t>
                    </a:r>
                    <a:endParaRPr kumimoji="1" lang="en-US" altLang="zh-CN" sz="24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中宋" panose="02010600040101010101" pitchFamily="2" charset="-122"/>
                      <a:cs typeface="+mn-cs"/>
                    </a:endParaRPr>
                  </a:p>
                </p:txBody>
              </p:sp>
              <p:sp>
                <p:nvSpPr>
                  <p:cNvPr id="19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16644" y="4022606"/>
                    <a:ext cx="3771265" cy="829945"/>
                  </a:xfrm>
                  <a:prstGeom prst="rect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l"/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+mn-cs"/>
                      </a:rPr>
                      <a:t>特种陶瓷：</a:t>
                    </a:r>
                    <a:r>
                      <a:rPr kumimoji="1" lang="zh-CN" altLang="en-US" sz="2400" b="1" i="0" u="none" strike="noStrike" kern="0" cap="none" spc="0" normalizeH="0" baseline="0" dirty="0">
                        <a:solidFill>
                          <a:srgbClr val="FF0000"/>
                        </a:solidFill>
                        <a:latin typeface="+mn-lt"/>
                        <a:ea typeface="华文中宋" panose="02010600040101010101" pitchFamily="2" charset="-122"/>
                        <a:cs typeface="+mn-cs"/>
                      </a:rPr>
                      <a:t>采用</a:t>
                    </a:r>
                    <a:r>
                      <a:rPr kumimoji="1" lang="zh-CN" altLang="en-US" sz="2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华文中宋" panose="02010600040101010101" pitchFamily="2" charset="-122"/>
                        <a:cs typeface="+mn-cs"/>
                      </a:rPr>
                      <a:t>人工合成的材料作原料</a:t>
                    </a:r>
                    <a:endParaRPr lang="zh-CN" altLang="en-US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</p:grpSp>
            <p:grpSp>
              <p:nvGrpSpPr>
                <p:cNvPr id="8" name="组合 7"/>
                <p:cNvGrpSpPr/>
                <p:nvPr/>
              </p:nvGrpSpPr>
              <p:grpSpPr>
                <a:xfrm>
                  <a:off x="1484361" y="3143203"/>
                  <a:ext cx="3195320" cy="2408428"/>
                  <a:chOff x="1453142" y="3346525"/>
                  <a:chExt cx="3195320" cy="2408428"/>
                </a:xfrm>
              </p:grpSpPr>
              <p:sp>
                <p:nvSpPr>
                  <p:cNvPr id="9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3142" y="3346525"/>
                    <a:ext cx="1454785" cy="829945"/>
                  </a:xfrm>
                  <a:prstGeom prst="rect">
                    <a:avLst/>
                  </a:prstGeom>
                  <a:solidFill>
                    <a:srgbClr val="92D050"/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l"/>
                    <a:r>
                      <a:rPr lang="zh-CN" altLang="en-US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按</a:t>
                    </a:r>
                    <a:r>
                      <a:rPr lang="zh-CN" altLang="en-US" sz="2400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使用的原材料</a:t>
                    </a:r>
                    <a:endParaRPr lang="zh-CN" altLang="en-US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  <p:sp>
                <p:nvSpPr>
                  <p:cNvPr id="10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53142" y="4844907"/>
                    <a:ext cx="1430679" cy="830997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l"/>
                    <a:r>
                      <a:rPr lang="zh-CN" altLang="en-US" b="1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按性能何用途</a:t>
                    </a:r>
                    <a:endParaRPr lang="zh-CN" altLang="en-US" kern="100" dirty="0">
                      <a:solidFill>
                        <a:srgbClr val="FF0000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  <p:sp useBgFill="1">
                <p:nvSpPr>
                  <p:cNvPr id="11" name="左大括号 39"/>
                  <p:cNvSpPr/>
                  <p:nvPr/>
                </p:nvSpPr>
                <p:spPr>
                  <a:xfrm>
                    <a:off x="2991183" y="4958794"/>
                    <a:ext cx="156696" cy="796159"/>
                  </a:xfrm>
                  <a:prstGeom prst="leftBrace">
                    <a:avLst>
                      <a:gd name="adj1" fmla="val 47157"/>
                      <a:gd name="adj2" fmla="val 50000"/>
                    </a:avLst>
                  </a:prstGeom>
                  <a:ln w="22225">
                    <a:solidFill>
                      <a:srgbClr val="FF0000"/>
                    </a:solidFill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  <p:txBody>
                  <a:bodyPr/>
                  <a:lstStyle/>
                  <a:p>
                    <a:endParaRPr lang="zh-CN" altLang="en-US" dirty="0"/>
                  </a:p>
                </p:txBody>
              </p:sp>
              <p:sp>
                <p:nvSpPr>
                  <p:cNvPr id="12" name="文本框 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08282" y="4880685"/>
                    <a:ext cx="1440180" cy="460375"/>
                  </a:xfrm>
                  <a:prstGeom prst="rect">
                    <a:avLst/>
                  </a:prstGeom>
                  <a:solidFill>
                    <a:schemeClr val="tx2">
                      <a:lumMod val="20000"/>
                      <a:lumOff val="80000"/>
                    </a:schemeClr>
                  </a:solidFill>
                  <a:ln w="9525">
                    <a:solidFill>
                      <a:srgbClr val="000000"/>
                    </a:solidFill>
                    <a:miter lim="800000"/>
                  </a:ln>
                </p:spPr>
                <p:txBody>
                  <a:bodyPr rot="0" vert="horz" wrap="square" lIns="91440" tIns="45720" rIns="91440" bIns="45720" anchor="t" anchorCtr="0">
                    <a:spAutoFit/>
                  </a:bodyPr>
                  <a:lstStyle/>
                  <a:p>
                    <a:pPr algn="l"/>
                    <a:r>
                      <a:rPr lang="zh-CN" altLang="en-US" dirty="0">
                        <a:solidFill>
                          <a:srgbClr val="FF0000"/>
                        </a:solidFill>
                        <a:ea typeface="华文中宋" panose="02010600040101010101" pitchFamily="2" charset="-122"/>
                      </a:rPr>
                      <a:t>结构</a:t>
                    </a:r>
                    <a:r>
                      <a:rPr lang="zh-CN" altLang="en-US" b="1" dirty="0">
                        <a:solidFill>
                          <a:schemeClr val="bg1"/>
                        </a:solidFill>
                        <a:ea typeface="华文中宋" panose="02010600040101010101" pitchFamily="2" charset="-122"/>
                      </a:rPr>
                      <a:t>陶瓷</a:t>
                    </a:r>
                    <a:endParaRPr lang="zh-CN" altLang="en-US" kern="100" dirty="0">
                      <a:solidFill>
                        <a:schemeClr val="bg1"/>
                      </a:solidFill>
                      <a:latin typeface="微软雅黑" panose="020B0503020204020204" charset="-122"/>
                      <a:ea typeface="微软雅黑" panose="020B0503020204020204" charset="-122"/>
                      <a:cs typeface="Times New Roman" panose="02020603050405020304"/>
                      <a:sym typeface="Times New Roman" panose="02020603050405020304"/>
                    </a:endParaRPr>
                  </a:p>
                </p:txBody>
              </p:sp>
            </p:grpSp>
          </p:grpSp>
          <p:sp>
            <p:nvSpPr>
              <p:cNvPr id="6" name="文本框 2"/>
              <p:cNvSpPr txBox="1">
                <a:spLocks noChangeArrowheads="1"/>
              </p:cNvSpPr>
              <p:nvPr/>
            </p:nvSpPr>
            <p:spPr bwMode="auto">
              <a:xfrm>
                <a:off x="3191856" y="5118098"/>
                <a:ext cx="1465580" cy="46037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91440" tIns="45720" rIns="91440" bIns="45720" anchor="t" anchorCtr="0">
                <a:spAutoFit/>
              </a:bodyPr>
              <a:lstStyle/>
              <a:p>
                <a:pPr algn="l"/>
                <a:r>
                  <a:rPr lang="zh-CN" altLang="en-US" dirty="0">
                    <a:solidFill>
                      <a:srgbClr val="FF0000"/>
                    </a:solidFill>
                    <a:ea typeface="华文中宋" panose="02010600040101010101" pitchFamily="2" charset="-122"/>
                  </a:rPr>
                  <a:t>功能</a:t>
                </a:r>
                <a:r>
                  <a:rPr lang="zh-CN" altLang="en-US" b="1" dirty="0">
                    <a:solidFill>
                      <a:schemeClr val="bg1"/>
                    </a:solidFill>
                    <a:ea typeface="华文中宋" panose="02010600040101010101" pitchFamily="2" charset="-122"/>
                  </a:rPr>
                  <a:t>陶瓷</a:t>
                </a:r>
                <a:endParaRPr lang="zh-CN" altLang="en-US" kern="1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28" name="文本框 2"/>
            <p:cNvSpPr txBox="1">
              <a:spLocks noChangeArrowheads="1"/>
            </p:cNvSpPr>
            <p:nvPr/>
          </p:nvSpPr>
          <p:spPr bwMode="auto">
            <a:xfrm>
              <a:off x="4904727" y="4281589"/>
              <a:ext cx="2687889" cy="462254"/>
            </a:xfrm>
            <a:prstGeom prst="rect">
              <a:avLst/>
            </a:prstGeom>
            <a:solidFill>
              <a:schemeClr val="accent4">
                <a:lumMod val="9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r>
                <a:rPr lang="zh-CN" altLang="en-US" b="1" dirty="0">
                  <a:solidFill>
                    <a:schemeClr val="folHlink"/>
                  </a:solidFill>
                  <a:ea typeface="华文中宋" panose="02010600040101010101" pitchFamily="2" charset="-122"/>
                </a:rPr>
                <a:t>其它化合物陶瓷</a:t>
              </a:r>
              <a:endParaRPr lang="zh-CN" altLang="en-US" kern="1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grpSp>
        <p:nvGrpSpPr>
          <p:cNvPr id="32" name="Group 1032"/>
          <p:cNvGrpSpPr>
            <a:grpSpLocks noChangeAspect="1"/>
          </p:cNvGrpSpPr>
          <p:nvPr/>
        </p:nvGrpSpPr>
        <p:grpSpPr>
          <a:xfrm>
            <a:off x="7071980" y="4142985"/>
            <a:ext cx="2072019" cy="2424894"/>
            <a:chOff x="3417" y="1258"/>
            <a:chExt cx="2176" cy="2546"/>
          </a:xfrm>
        </p:grpSpPr>
        <p:pic>
          <p:nvPicPr>
            <p:cNvPr id="33" name="Picture 1028" descr="陶瓷件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17" y="1309"/>
              <a:ext cx="2083" cy="2495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34" name="Text Box 1030"/>
            <p:cNvSpPr txBox="1">
              <a:spLocks noChangeAspect="1"/>
            </p:cNvSpPr>
            <p:nvPr/>
          </p:nvSpPr>
          <p:spPr>
            <a:xfrm>
              <a:off x="4148" y="1258"/>
              <a:ext cx="1445" cy="4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陶瓷零件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8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1" y="1053118"/>
            <a:ext cx="8784976" cy="2592288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66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第二节  常用工业陶瓷</a:t>
            </a:r>
            <a:br>
              <a:rPr kumimoji="1" lang="en-US" altLang="zh-CN" sz="66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600" b="1" i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Industrial Ceramics</a:t>
            </a:r>
            <a:r>
              <a:rPr kumimoji="1" lang="zh-CN" altLang="en-US" sz="66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n-lt"/>
              </a:rPr>
              <a:t> </a:t>
            </a:r>
            <a:endParaRPr kumimoji="1" lang="zh-CN" altLang="en-US" sz="66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</a:endParaRPr>
          </a:p>
        </p:txBody>
      </p:sp>
      <p:sp>
        <p:nvSpPr>
          <p:cNvPr id="1331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3680"/>
            <a:ext cx="1851025" cy="27432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33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18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242062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28813" y="0"/>
            <a:ext cx="6462713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第二节  常用工业陶瓷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 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361315" y="1329055"/>
            <a:ext cx="8477885" cy="4995545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一、普通陶瓷</a:t>
            </a:r>
            <a:endParaRPr lang="en-US" altLang="zh-CN" b="1" dirty="0">
              <a:solidFill>
                <a:schemeClr val="tx2"/>
              </a:solidFill>
              <a:ea typeface="华文中宋" panose="02010600040101010101" pitchFamily="2" charset="-122"/>
            </a:endParaRPr>
          </a:p>
          <a:p>
            <a:pPr eaLnBrk="1" hangingPunct="1"/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/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二、新型结构陶瓷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1331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3680"/>
            <a:ext cx="1851025" cy="27432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33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18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/>
      <p:bldP spid="8195" grpId="0" advAuto="100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929130" y="0"/>
            <a:ext cx="5533390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eaLnBrk="1" hangingPunct="1"/>
            <a:r>
              <a:rPr lang="zh-CN" altLang="en-US" b="1" dirty="0">
                <a:ea typeface="华文中宋" panose="02010600040101010101" pitchFamily="2" charset="-122"/>
              </a:rPr>
              <a:t>一、普通陶瓷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endParaRPr lang="zh-CN" altLang="en-US" dirty="0">
              <a:ea typeface="华文中宋" panose="02010600040101010101" pitchFamily="2" charset="-122"/>
            </a:endParaRPr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>
          <a:xfrm>
            <a:off x="361315" y="1196340"/>
            <a:ext cx="8477885" cy="499554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普通陶瓷：</a:t>
            </a:r>
            <a:r>
              <a:rPr lang="zh-CN" altLang="en-US" b="1" dirty="0">
                <a:ea typeface="华文中宋" panose="02010600040101010101" pitchFamily="2" charset="-122"/>
              </a:rPr>
              <a:t>是用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粘土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(Al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·2SiO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·2H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O)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长石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(K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O·Al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·6SiO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Na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O·Al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·6SiO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石英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为原料，</a:t>
            </a:r>
            <a:r>
              <a:rPr lang="zh-CN" altLang="en-US" b="1" dirty="0">
                <a:ea typeface="华文中宋" panose="02010600040101010101" pitchFamily="2" charset="-122"/>
              </a:rPr>
              <a:t>经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成型、烧结而成的陶瓷。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其组织中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主晶相</a:t>
            </a:r>
            <a:r>
              <a:rPr lang="zh-CN" altLang="en-US" b="1" dirty="0">
                <a:ea typeface="华文中宋" panose="02010600040101010101" pitchFamily="2" charset="-122"/>
              </a:rPr>
              <a:t>为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莫来石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(3Al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·2SiO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，占</a:t>
            </a:r>
            <a:r>
              <a:rPr lang="en-US" altLang="zh-CN" b="1" dirty="0">
                <a:ea typeface="华文中宋" panose="02010600040101010101" pitchFamily="2" charset="-122"/>
              </a:rPr>
              <a:t>25~30%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玻璃相</a:t>
            </a:r>
            <a:r>
              <a:rPr lang="zh-CN" altLang="en-US" b="1" dirty="0">
                <a:ea typeface="华文中宋" panose="02010600040101010101" pitchFamily="2" charset="-122"/>
              </a:rPr>
              <a:t>占</a:t>
            </a:r>
            <a:r>
              <a:rPr lang="en-US" altLang="zh-CN" b="1" dirty="0">
                <a:ea typeface="华文中宋" panose="02010600040101010101" pitchFamily="2" charset="-122"/>
              </a:rPr>
              <a:t>35~60%</a:t>
            </a:r>
            <a:r>
              <a:rPr lang="zh-CN" altLang="en-US" b="1" dirty="0">
                <a:ea typeface="华文中宋" panose="02010600040101010101" pitchFamily="2" charset="-122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气相</a:t>
            </a:r>
            <a:r>
              <a:rPr lang="zh-CN" altLang="en-US" b="1" dirty="0">
                <a:ea typeface="华文中宋" panose="02010600040101010101" pitchFamily="2" charset="-122"/>
              </a:rPr>
              <a:t>占</a:t>
            </a:r>
            <a:r>
              <a:rPr lang="en-US" altLang="zh-CN" b="1" dirty="0">
                <a:ea typeface="华文中宋" panose="02010600040101010101" pitchFamily="2" charset="-122"/>
              </a:rPr>
              <a:t>1~3%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sp>
        <p:nvSpPr>
          <p:cNvPr id="1331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3680"/>
            <a:ext cx="1851025" cy="27432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331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18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圆角矩形 1" descr="7b0a202020202262756c6c6574223a20227b5c2263617465676f727949645c223a31303032352c5c2274656d706c61746549645c223a32303233313437347d220a7d0a"/>
          <p:cNvSpPr/>
          <p:nvPr>
            <p:custDataLst>
              <p:tags r:id="rId2"/>
            </p:custDataLst>
          </p:nvPr>
        </p:nvSpPr>
        <p:spPr>
          <a:xfrm>
            <a:off x="755015" y="1370965"/>
            <a:ext cx="1690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普通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陶瓷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ldLvl="0" animBg="1"/>
      <p:bldP spid="8195" grpId="0" advAuto="100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1027"/>
          <p:cNvSpPr>
            <a:spLocks noGrp="1"/>
          </p:cNvSpPr>
          <p:nvPr>
            <p:ph idx="1"/>
          </p:nvPr>
        </p:nvSpPr>
        <p:spPr>
          <a:xfrm>
            <a:off x="285750" y="1000125"/>
            <a:ext cx="5072063" cy="3581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特点：</a:t>
            </a:r>
            <a:r>
              <a:rPr lang="zh-CN" altLang="en-US" b="1" dirty="0">
                <a:ea typeface="华文中宋" panose="02010600040101010101" pitchFamily="2" charset="-122"/>
              </a:rPr>
              <a:t>普通陶瓷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加工成型性好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  <a:sym typeface="+mn-ea"/>
              </a:rPr>
              <a:t>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成本低，产量大。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</a:t>
            </a:r>
            <a:r>
              <a:rPr lang="zh-CN" altLang="en-US" b="1" dirty="0">
                <a:ea typeface="华文中宋" panose="02010600040101010101" pitchFamily="2" charset="-122"/>
              </a:rPr>
              <a:t>：除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日用</a:t>
            </a:r>
            <a:r>
              <a:rPr lang="zh-CN" altLang="en-US" b="1" dirty="0">
                <a:ea typeface="华文中宋" panose="02010600040101010101" pitchFamily="2" charset="-122"/>
              </a:rPr>
              <a:t>陶瓷、瓷器外，大量用于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电器、化工、建筑、纺织</a:t>
            </a:r>
            <a:r>
              <a:rPr lang="zh-CN" altLang="en-US" b="1" dirty="0">
                <a:ea typeface="华文中宋" panose="02010600040101010101" pitchFamily="2" charset="-122"/>
              </a:rPr>
              <a:t>等工业部门。</a:t>
            </a:r>
            <a:endParaRPr lang="en-US" altLang="zh-CN" dirty="0">
              <a:ea typeface="华文中宋" panose="02010600040101010101" pitchFamily="2" charset="-122"/>
            </a:endParaRPr>
          </a:p>
        </p:txBody>
      </p:sp>
      <p:grpSp>
        <p:nvGrpSpPr>
          <p:cNvPr id="2" name="Group 1037"/>
          <p:cNvGrpSpPr/>
          <p:nvPr/>
        </p:nvGrpSpPr>
        <p:grpSpPr>
          <a:xfrm>
            <a:off x="2699873" y="2098472"/>
            <a:ext cx="6191336" cy="4372943"/>
            <a:chOff x="1958" y="1432"/>
            <a:chExt cx="3623" cy="2755"/>
          </a:xfrm>
        </p:grpSpPr>
        <p:grpSp>
          <p:nvGrpSpPr>
            <p:cNvPr id="14344" name="Group 1032"/>
            <p:cNvGrpSpPr>
              <a:grpSpLocks noChangeAspect="1"/>
            </p:cNvGrpSpPr>
            <p:nvPr/>
          </p:nvGrpSpPr>
          <p:grpSpPr>
            <a:xfrm>
              <a:off x="3798" y="1432"/>
              <a:ext cx="1783" cy="2694"/>
              <a:chOff x="3923" y="1452"/>
              <a:chExt cx="1730" cy="2613"/>
            </a:xfrm>
          </p:grpSpPr>
          <p:pic>
            <p:nvPicPr>
              <p:cNvPr id="14348" name="Picture 1029" descr="景德镇陶瓷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923" y="1452"/>
                <a:ext cx="1730" cy="261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4349" name="Text Box 1030"/>
              <p:cNvSpPr txBox="1">
                <a:spLocks noChangeAspect="1"/>
              </p:cNvSpPr>
              <p:nvPr/>
            </p:nvSpPr>
            <p:spPr>
              <a:xfrm>
                <a:off x="5244" y="1452"/>
                <a:ext cx="346" cy="1204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隶书" panose="02010509060101010101" pitchFamily="49" charset="-122"/>
                  </a:rPr>
                  <a:t>景德镇瓷器</a:t>
                </a:r>
                <a:endParaRPr lang="zh-CN" altLang="en-US" sz="2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4345" name="Group 1035"/>
            <p:cNvGrpSpPr/>
            <p:nvPr/>
          </p:nvGrpSpPr>
          <p:grpSpPr>
            <a:xfrm>
              <a:off x="1958" y="2815"/>
              <a:ext cx="1769" cy="1372"/>
              <a:chOff x="1958" y="2919"/>
              <a:chExt cx="1769" cy="1372"/>
            </a:xfrm>
          </p:grpSpPr>
          <p:pic>
            <p:nvPicPr>
              <p:cNvPr id="14346" name="Picture 1033" descr="绝缘子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1958" y="2919"/>
                <a:ext cx="1769" cy="1372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14347" name="Text Box 1034"/>
              <p:cNvSpPr txBox="1"/>
              <p:nvPr/>
            </p:nvSpPr>
            <p:spPr>
              <a:xfrm>
                <a:off x="2955" y="2947"/>
                <a:ext cx="321" cy="6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vert="eaVert"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绝缘子</a:t>
                </a:r>
                <a:endParaRPr lang="zh-CN" altLang="en-US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>
          <a:xfrm>
            <a:off x="1940561" y="-114300"/>
            <a:ext cx="4863688" cy="114300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一、普通陶瓷</a:t>
            </a:r>
            <a:r>
              <a:rPr kumimoji="1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0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434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3992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434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1726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5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advAuto="1000" build="p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171450" y="2420620"/>
            <a:ext cx="8972550" cy="2088515"/>
          </a:xfrm>
        </p:spPr>
        <p:txBody>
          <a:bodyPr vert="horz" wrap="square" lIns="92075" tIns="46038" rIns="92075" bIns="46038" anchor="ctr"/>
          <a:lstStyle/>
          <a:p>
            <a:pPr algn="ctr" eaLnBrk="1" hangingPunct="1"/>
            <a:r>
              <a:rPr lang="zh-CN" altLang="en-US" sz="6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二、新型结构陶瓷</a:t>
            </a:r>
            <a:br>
              <a:rPr lang="en-US" altLang="zh-CN" sz="66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sz="6600" dirty="0"/>
              <a:t> </a:t>
            </a: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zh-CN" sz="6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structural ceramics</a:t>
            </a:r>
            <a:endParaRPr lang="zh-CN" altLang="en-US" sz="6600" b="1" i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6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9260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536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3885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Line 4"/>
          <p:cNvSpPr>
            <a:spLocks noChangeShapeType="1"/>
          </p:cNvSpPr>
          <p:nvPr/>
        </p:nvSpPr>
        <p:spPr bwMode="auto">
          <a:xfrm flipV="1">
            <a:off x="11430" y="341757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1513503" y="-24424"/>
            <a:ext cx="5214938" cy="987242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二、新型结构陶瓷</a:t>
            </a:r>
            <a:endParaRPr lang="zh-CN" altLang="en-US" b="1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57200" y="1295400"/>
            <a:ext cx="5181600" cy="3581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氧化铝  陶瓷</a:t>
            </a:r>
            <a:r>
              <a:rPr lang="zh-CN" altLang="en-US" dirty="0">
                <a:ea typeface="华文中宋" panose="02010600040101010101" pitchFamily="2" charset="-122"/>
              </a:rPr>
              <a:t> </a:t>
            </a:r>
            <a:endParaRPr lang="en-US" altLang="zh-CN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2.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氮化硅（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Si</a:t>
            </a:r>
            <a:r>
              <a:rPr lang="en-US" altLang="zh-CN" b="1" baseline="-30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）陶瓷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ea typeface="华文中宋" panose="02010600040101010101" pitchFamily="2" charset="-122"/>
              </a:rPr>
              <a:t>3.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碳化硅（</a:t>
            </a:r>
            <a:r>
              <a:rPr lang="en-US" altLang="zh-CN" b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SiC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）陶瓷</a:t>
            </a:r>
            <a:endParaRPr lang="en-US" altLang="zh-CN" b="1" dirty="0"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4.</a:t>
            </a:r>
            <a:r>
              <a:rPr lang="zh-CN" altLang="en-US" b="1" dirty="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中宋" panose="02010600040101010101" pitchFamily="2" charset="-122"/>
              </a:rPr>
              <a:t>氧化锆陶瓷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564640" y="1347802"/>
            <a:ext cx="7251065" cy="5289853"/>
            <a:chOff x="432" y="589"/>
            <a:chExt cx="4874" cy="3332"/>
          </a:xfrm>
        </p:grpSpPr>
        <p:grpSp>
          <p:nvGrpSpPr>
            <p:cNvPr id="3" name="Group 15"/>
            <p:cNvGrpSpPr>
              <a:grpSpLocks noChangeAspect="1"/>
            </p:cNvGrpSpPr>
            <p:nvPr/>
          </p:nvGrpSpPr>
          <p:grpSpPr>
            <a:xfrm>
              <a:off x="432" y="2592"/>
              <a:ext cx="4874" cy="1329"/>
              <a:chOff x="284" y="2566"/>
              <a:chExt cx="5091" cy="1388"/>
            </a:xfrm>
          </p:grpSpPr>
          <p:pic>
            <p:nvPicPr>
              <p:cNvPr id="15372" name="Picture 5" descr="氧化铝化工、耐磨陶瓷配件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312" y="2592"/>
                <a:ext cx="2063" cy="136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5373" name="Picture 6" descr="氧化铝密封、气动陶瓷配件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6" y="2592"/>
                <a:ext cx="2852" cy="136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374" name="Text Box 8"/>
              <p:cNvSpPr txBox="1">
                <a:spLocks noChangeAspect="1"/>
              </p:cNvSpPr>
              <p:nvPr/>
            </p:nvSpPr>
            <p:spPr>
              <a:xfrm>
                <a:off x="3278" y="2571"/>
                <a:ext cx="2061" cy="2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化工、耐磨陶瓷配件</a:t>
                </a:r>
                <a:endPara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5" name="Text Box 9"/>
              <p:cNvSpPr txBox="1">
                <a:spLocks noChangeAspect="1"/>
              </p:cNvSpPr>
              <p:nvPr/>
            </p:nvSpPr>
            <p:spPr>
              <a:xfrm>
                <a:off x="284" y="2566"/>
                <a:ext cx="2351" cy="2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密封、气动陶瓷配件</a:t>
                </a:r>
                <a:endPara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14"/>
            <p:cNvGrpSpPr/>
            <p:nvPr/>
          </p:nvGrpSpPr>
          <p:grpSpPr>
            <a:xfrm>
              <a:off x="3681" y="589"/>
              <a:ext cx="1625" cy="1901"/>
              <a:chOff x="3761" y="493"/>
              <a:chExt cx="1625" cy="1901"/>
            </a:xfrm>
          </p:grpSpPr>
          <p:pic>
            <p:nvPicPr>
              <p:cNvPr id="15370" name="Picture 11" descr="氧化铝单相陶瓷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29" y="493"/>
                <a:ext cx="1550" cy="1901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7660" name="Text Box 12"/>
              <p:cNvSpPr txBox="1">
                <a:spLocks noChangeArrowheads="1"/>
              </p:cNvSpPr>
              <p:nvPr/>
            </p:nvSpPr>
            <p:spPr bwMode="auto">
              <a:xfrm>
                <a:off x="3761" y="624"/>
                <a:ext cx="162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单相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Al</a:t>
                </a:r>
                <a:r>
                  <a:rPr kumimoji="1" lang="en-US" altLang="zh-CN" sz="20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2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O</a:t>
                </a:r>
                <a:r>
                  <a:rPr kumimoji="1" lang="en-US" altLang="zh-CN" sz="20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3</a:t>
                </a: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陶瓷组织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536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9260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536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3885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advAuto="100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>
          <a:xfrm>
            <a:off x="1547664" y="116632"/>
            <a:ext cx="6768752" cy="1368152"/>
          </a:xfrm>
        </p:spPr>
        <p:txBody>
          <a:bodyPr vert="horz" wrap="square" lIns="92075" tIns="46038" rIns="92075" bIns="46038" anchor="ctr"/>
          <a:lstStyle/>
          <a:p>
            <a:pPr algn="l" eaLnBrk="1" hangingPunct="1"/>
            <a:r>
              <a:rPr lang="zh-CN" altLang="en-US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二、新型结构陶瓷</a:t>
            </a:r>
            <a:br>
              <a:rPr lang="en-US" altLang="zh-CN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</a:br>
            <a:r>
              <a:rPr lang="en-US" altLang="zh-CN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  ——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1.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氧化铝陶瓷</a:t>
            </a:r>
            <a:r>
              <a:rPr lang="zh-CN" altLang="en-US" dirty="0">
                <a:solidFill>
                  <a:srgbClr val="FF0000"/>
                </a:solidFill>
                <a:ea typeface="华文中宋" panose="02010600040101010101" pitchFamily="2" charset="-122"/>
              </a:rPr>
              <a:t> </a:t>
            </a:r>
            <a:endParaRPr lang="zh-CN" altLang="en-US" b="1" dirty="0">
              <a:solidFill>
                <a:srgbClr val="FF0000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27651" name="Rectangle 3"/>
          <p:cNvSpPr>
            <a:spLocks noGrp="1"/>
          </p:cNvSpPr>
          <p:nvPr>
            <p:ph idx="1"/>
          </p:nvPr>
        </p:nvSpPr>
        <p:spPr>
          <a:xfrm>
            <a:off x="457200" y="1700530"/>
            <a:ext cx="4859020" cy="317627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以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Al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为主要成分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含有少量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的陶瓷，</a:t>
            </a:r>
            <a:r>
              <a:rPr lang="zh-CN" altLang="en-US" b="1" dirty="0">
                <a:ea typeface="华文中宋" panose="02010600040101010101" pitchFamily="2" charset="-122"/>
              </a:rPr>
              <a:t>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高铝陶瓷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16"/>
          <p:cNvGrpSpPr/>
          <p:nvPr/>
        </p:nvGrpSpPr>
        <p:grpSpPr>
          <a:xfrm>
            <a:off x="1523365" y="2031431"/>
            <a:ext cx="7338840" cy="4392864"/>
            <a:chOff x="432" y="1154"/>
            <a:chExt cx="4933" cy="2767"/>
          </a:xfrm>
        </p:grpSpPr>
        <p:grpSp>
          <p:nvGrpSpPr>
            <p:cNvPr id="3" name="Group 15"/>
            <p:cNvGrpSpPr>
              <a:grpSpLocks noChangeAspect="1"/>
            </p:cNvGrpSpPr>
            <p:nvPr/>
          </p:nvGrpSpPr>
          <p:grpSpPr>
            <a:xfrm>
              <a:off x="432" y="2592"/>
              <a:ext cx="4874" cy="1329"/>
              <a:chOff x="284" y="2566"/>
              <a:chExt cx="5091" cy="1388"/>
            </a:xfrm>
          </p:grpSpPr>
          <p:pic>
            <p:nvPicPr>
              <p:cNvPr id="15372" name="Picture 5" descr="氧化铝化工、耐磨陶瓷配件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312" y="2592"/>
                <a:ext cx="2063" cy="136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5373" name="Picture 6" descr="氧化铝密封、气动陶瓷配件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36" y="2592"/>
                <a:ext cx="2852" cy="136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5374" name="Text Box 8"/>
              <p:cNvSpPr txBox="1">
                <a:spLocks noChangeAspect="1"/>
              </p:cNvSpPr>
              <p:nvPr/>
            </p:nvSpPr>
            <p:spPr>
              <a:xfrm>
                <a:off x="3278" y="2571"/>
                <a:ext cx="2065" cy="2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化工、耐磨陶瓷配件</a:t>
                </a:r>
                <a:endPara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5375" name="Text Box 9"/>
              <p:cNvSpPr txBox="1">
                <a:spLocks noChangeAspect="1"/>
              </p:cNvSpPr>
              <p:nvPr/>
            </p:nvSpPr>
            <p:spPr>
              <a:xfrm>
                <a:off x="284" y="2566"/>
                <a:ext cx="2024" cy="24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Al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en-US" altLang="zh-CN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O</a:t>
                </a:r>
                <a:r>
                  <a:rPr lang="en-US" altLang="zh-CN" sz="1800" b="1" baseline="-300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18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密封、气动陶瓷配件</a:t>
                </a:r>
                <a:endParaRPr lang="zh-CN" altLang="en-US" sz="18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4" name="Group 14"/>
            <p:cNvGrpSpPr/>
            <p:nvPr/>
          </p:nvGrpSpPr>
          <p:grpSpPr>
            <a:xfrm>
              <a:off x="3740" y="1154"/>
              <a:ext cx="1625" cy="1337"/>
              <a:chOff x="3820" y="1058"/>
              <a:chExt cx="1625" cy="1337"/>
            </a:xfrm>
          </p:grpSpPr>
          <p:pic>
            <p:nvPicPr>
              <p:cNvPr id="15370" name="Picture 11" descr="氧化铝单相陶瓷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870" y="1058"/>
                <a:ext cx="1509" cy="133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7660" name="Text Box 12"/>
              <p:cNvSpPr txBox="1">
                <a:spLocks noChangeArrowheads="1"/>
              </p:cNvSpPr>
              <p:nvPr/>
            </p:nvSpPr>
            <p:spPr bwMode="auto">
              <a:xfrm>
                <a:off x="3820" y="1122"/>
                <a:ext cx="1625" cy="252"/>
              </a:xfrm>
              <a:prstGeom prst="rect">
                <a:avLst/>
              </a:prstGeom>
              <a:noFill/>
              <a:ln w="28575">
                <a:noFill/>
                <a:miter lim="800000"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单相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Al</a:t>
                </a:r>
                <a:r>
                  <a:rPr kumimoji="1" lang="en-US" altLang="zh-CN" sz="20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2</a:t>
                </a:r>
                <a:r>
                  <a:rPr kumimoji="1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O</a:t>
                </a:r>
                <a:r>
                  <a:rPr kumimoji="1" lang="en-US" altLang="zh-CN" sz="2000" b="1" i="0" u="none" strike="noStrike" kern="1200" cap="none" spc="0" normalizeH="0" baseline="-3000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</a:rPr>
                  <a:t>3</a:t>
                </a: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000000"/>
                      </a:outerShdw>
                    </a:effectLst>
                    <a:uLnTx/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rPr>
                  <a:t>陶瓷组织</a:t>
                </a:r>
                <a:endParaRPr kumimoji="1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15366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9260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536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3885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0" y="146240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6" name="圆角矩形 5" descr="7b0a202020202262756c6c6574223a20227b5c2263617465676f727949645c223a31303032352c5c2274656d706c61746549645c223a32303233313437347d220a7d0a"/>
          <p:cNvSpPr/>
          <p:nvPr>
            <p:custDataLst>
              <p:tags r:id="rId5"/>
            </p:custDataLst>
          </p:nvPr>
        </p:nvSpPr>
        <p:spPr>
          <a:xfrm>
            <a:off x="1331595" y="3140710"/>
            <a:ext cx="1690370" cy="48006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28575" cmpd="dbl">
            <a:solidFill>
              <a:schemeClr val="accent1">
                <a:shade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高铝</a:t>
            </a:r>
            <a:r>
              <a:rPr lang="en-US" altLang="zh-CN" sz="2800" dirty="0">
                <a:solidFill>
                  <a:srgbClr val="0000FF"/>
                </a:solidFill>
                <a:ea typeface="华文中宋" panose="02010600040101010101" pitchFamily="2" charset="-122"/>
                <a:sym typeface="+mn-ea"/>
              </a:rPr>
              <a:t>陶瓷</a:t>
            </a:r>
            <a:endParaRPr lang="en-US" altLang="zh-CN" sz="2800" dirty="0">
              <a:solidFill>
                <a:srgbClr val="0000FF"/>
              </a:solidFill>
              <a:ea typeface="华文中宋" panose="020106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advAuto="100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3"/>
          <p:cNvSpPr>
            <a:spLocks noGrp="1"/>
          </p:cNvSpPr>
          <p:nvPr>
            <p:ph idx="1"/>
          </p:nvPr>
        </p:nvSpPr>
        <p:spPr>
          <a:xfrm>
            <a:off x="333375" y="1044575"/>
            <a:ext cx="8628380" cy="5813425"/>
          </a:xfrm>
        </p:spPr>
        <p:txBody>
          <a:bodyPr vert="horz" wrap="square" lIns="91440" tIns="45720" rIns="91440" bIns="45720" anchor="t"/>
          <a:lstStyle/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）类型</a:t>
            </a:r>
            <a:r>
              <a:rPr lang="zh-CN" altLang="en-US" b="1" dirty="0">
                <a:ea typeface="华文中宋" panose="02010600040101010101" pitchFamily="2" charset="-122"/>
              </a:rPr>
              <a:t>：据</a:t>
            </a:r>
            <a:r>
              <a:rPr lang="en-US" altLang="zh-CN" b="1" dirty="0">
                <a:ea typeface="华文中宋" panose="02010600040101010101" pitchFamily="2" charset="-122"/>
              </a:rPr>
              <a:t>Al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ea typeface="华文中宋" panose="02010600040101010101" pitchFamily="2" charset="-122"/>
              </a:rPr>
              <a:t>含量不同分：①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75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瓷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含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75%Al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O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rgbClr val="CCFFFF"/>
                </a:solidFill>
                <a:ea typeface="华文中宋" panose="02010600040101010101" pitchFamily="2" charset="-122"/>
              </a:rPr>
              <a:t>，又称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刚玉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-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莫来石瓷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、②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95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瓷</a:t>
            </a:r>
            <a:r>
              <a:rPr lang="zh-CN" altLang="en-US" b="1" dirty="0">
                <a:ea typeface="华文中宋" panose="02010600040101010101" pitchFamily="2" charset="-122"/>
              </a:rPr>
              <a:t>、③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99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瓷</a:t>
            </a:r>
            <a:r>
              <a:rPr lang="zh-CN" altLang="en-US" b="1" dirty="0">
                <a:ea typeface="华文中宋" panose="02010600040101010101" pitchFamily="2" charset="-122"/>
              </a:rPr>
              <a:t>，后两者又称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刚玉瓷。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algn="just"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）性能特点：耐高温性能好，可使用到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1950℃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。具有良好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电绝缘性能及耐磨性。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微晶刚玉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的硬度极高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仅次于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金刚石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。</a:t>
            </a:r>
            <a:r>
              <a:rPr lang="en-US" altLang="zh-CN" b="1" dirty="0">
                <a:ea typeface="华文中宋" panose="02010600040101010101" pitchFamily="2" charset="-122"/>
              </a:rPr>
              <a:t>  </a:t>
            </a:r>
            <a:r>
              <a:rPr lang="en-US" altLang="zh-CN" sz="2800" b="1" dirty="0">
                <a:ea typeface="华文中宋" panose="02010600040101010101" pitchFamily="2" charset="-122"/>
              </a:rPr>
              <a:t> </a:t>
            </a:r>
            <a:endParaRPr lang="en-US" altLang="zh-CN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11"/>
          <p:cNvGrpSpPr>
            <a:grpSpLocks noChangeAspect="1"/>
          </p:cNvGrpSpPr>
          <p:nvPr/>
        </p:nvGrpSpPr>
        <p:grpSpPr>
          <a:xfrm>
            <a:off x="1403648" y="4642246"/>
            <a:ext cx="7342063" cy="2077244"/>
            <a:chOff x="486" y="2784"/>
            <a:chExt cx="4986" cy="1411"/>
          </a:xfrm>
        </p:grpSpPr>
        <p:grpSp>
          <p:nvGrpSpPr>
            <p:cNvPr id="16392" name="Group 10"/>
            <p:cNvGrpSpPr>
              <a:grpSpLocks noChangeAspect="1"/>
            </p:cNvGrpSpPr>
            <p:nvPr/>
          </p:nvGrpSpPr>
          <p:grpSpPr>
            <a:xfrm>
              <a:off x="486" y="2784"/>
              <a:ext cx="4986" cy="1148"/>
              <a:chOff x="432" y="2784"/>
              <a:chExt cx="4986" cy="1148"/>
            </a:xfrm>
          </p:grpSpPr>
          <p:pic>
            <p:nvPicPr>
              <p:cNvPr id="16396" name="Picture 4" descr="氧化铝（99）陶瓷件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680" y="2784"/>
                <a:ext cx="1301" cy="1148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6397" name="Picture 5" descr="氧化铝（95）陶瓷件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432" y="2784"/>
                <a:ext cx="1161" cy="1145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pic>
            <p:nvPicPr>
              <p:cNvPr id="16398" name="Picture 6" descr="氧化铝耐高温喷嘴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72" y="2784"/>
                <a:ext cx="2346" cy="114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</p:grpSp>
        <p:sp>
          <p:nvSpPr>
            <p:cNvPr id="16393" name="Text Box 7"/>
            <p:cNvSpPr txBox="1">
              <a:spLocks noChangeAspect="1"/>
            </p:cNvSpPr>
            <p:nvPr/>
          </p:nvSpPr>
          <p:spPr>
            <a:xfrm>
              <a:off x="576" y="3949"/>
              <a:ext cx="1056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95</a:t>
              </a: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瓷纺织件</a:t>
              </a:r>
              <a:endParaRPr lang="zh-CN" altLang="en-US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4" name="Text Box 8"/>
            <p:cNvSpPr txBox="1">
              <a:spLocks noChangeAspect="1"/>
            </p:cNvSpPr>
            <p:nvPr/>
          </p:nvSpPr>
          <p:spPr>
            <a:xfrm>
              <a:off x="1872" y="3953"/>
              <a:ext cx="1056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ctr"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99</a:t>
              </a: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瓷纺织件</a:t>
              </a:r>
              <a:endParaRPr lang="zh-CN" altLang="en-US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6395" name="Text Box 9"/>
            <p:cNvSpPr txBox="1">
              <a:spLocks noChangeAspect="1"/>
            </p:cNvSpPr>
            <p:nvPr/>
          </p:nvSpPr>
          <p:spPr>
            <a:xfrm>
              <a:off x="3648" y="3936"/>
              <a:ext cx="1440" cy="242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氧化铝耐高温喷嘴</a:t>
              </a:r>
              <a:endParaRPr lang="zh-CN" altLang="en-US" sz="1800" b="1" dirty="0">
                <a:solidFill>
                  <a:schemeClr val="folHlink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997267" y="-77508"/>
            <a:ext cx="8143875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二、新型结构陶瓷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j-cs"/>
              </a:rPr>
              <a:t>—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氧化铝陶瓷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6390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0403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6391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00825"/>
            <a:ext cx="457200" cy="26162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Line 4"/>
          <p:cNvSpPr>
            <a:spLocks noChangeShapeType="1"/>
          </p:cNvSpPr>
          <p:nvPr/>
        </p:nvSpPr>
        <p:spPr bwMode="auto">
          <a:xfrm flipV="1">
            <a:off x="-6350" y="104394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advAuto="1000" build="p"/>
      <p:bldP spid="15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/>
          <p:cNvGrpSpPr/>
          <p:nvPr/>
        </p:nvGrpSpPr>
        <p:grpSpPr>
          <a:xfrm>
            <a:off x="2830196" y="2514918"/>
            <a:ext cx="6091238" cy="4252913"/>
            <a:chOff x="1546" y="1323"/>
            <a:chExt cx="3837" cy="2679"/>
          </a:xfrm>
        </p:grpSpPr>
        <p:grpSp>
          <p:nvGrpSpPr>
            <p:cNvPr id="17417" name="Group 19"/>
            <p:cNvGrpSpPr/>
            <p:nvPr/>
          </p:nvGrpSpPr>
          <p:grpSpPr>
            <a:xfrm>
              <a:off x="3612" y="2721"/>
              <a:ext cx="1771" cy="1245"/>
              <a:chOff x="3879" y="2433"/>
              <a:chExt cx="1771" cy="1245"/>
            </a:xfrm>
          </p:grpSpPr>
          <p:pic>
            <p:nvPicPr>
              <p:cNvPr id="17424" name="Picture 6" descr="AlO陶瓷转心球阀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879" y="2433"/>
                <a:ext cx="1678" cy="1225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7425" name="Text Box 8"/>
              <p:cNvSpPr txBox="1"/>
              <p:nvPr/>
            </p:nvSpPr>
            <p:spPr>
              <a:xfrm>
                <a:off x="4140" y="3447"/>
                <a:ext cx="1510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氧化铝陶瓷转心球阀</a:t>
                </a:r>
                <a:endPara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418" name="Group 17"/>
            <p:cNvGrpSpPr/>
            <p:nvPr/>
          </p:nvGrpSpPr>
          <p:grpSpPr>
            <a:xfrm>
              <a:off x="3582" y="1323"/>
              <a:ext cx="1738" cy="1296"/>
              <a:chOff x="3860" y="843"/>
              <a:chExt cx="1738" cy="1296"/>
            </a:xfrm>
          </p:grpSpPr>
          <p:pic>
            <p:nvPicPr>
              <p:cNvPr id="17422" name="Picture 4" descr="AlO陶瓷密封环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3860" y="843"/>
                <a:ext cx="1738" cy="1246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7423" name="Text Box 13"/>
              <p:cNvSpPr txBox="1"/>
              <p:nvPr/>
            </p:nvSpPr>
            <p:spPr>
              <a:xfrm>
                <a:off x="3860" y="843"/>
                <a:ext cx="289" cy="1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氧化铝陶瓷密封环</a:t>
                </a:r>
                <a:endPara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7419" name="Group 23"/>
            <p:cNvGrpSpPr/>
            <p:nvPr/>
          </p:nvGrpSpPr>
          <p:grpSpPr>
            <a:xfrm>
              <a:off x="1546" y="2721"/>
              <a:ext cx="1841" cy="1281"/>
              <a:chOff x="1421" y="2743"/>
              <a:chExt cx="1841" cy="1281"/>
            </a:xfrm>
          </p:grpSpPr>
          <p:pic>
            <p:nvPicPr>
              <p:cNvPr id="17420" name="Picture 5" descr="AlO陶瓷坩埚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1421" y="2743"/>
                <a:ext cx="1841" cy="1281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7421" name="Text Box 16"/>
              <p:cNvSpPr txBox="1"/>
              <p:nvPr/>
            </p:nvSpPr>
            <p:spPr>
              <a:xfrm>
                <a:off x="1918" y="3793"/>
                <a:ext cx="1200" cy="23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1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氧化铝陶瓷坩埚</a:t>
                </a:r>
                <a:endParaRPr lang="zh-CN" altLang="en-US" sz="18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8692" name="Rectangle 20"/>
          <p:cNvSpPr>
            <a:spLocks noGrp="1"/>
          </p:cNvSpPr>
          <p:nvPr>
            <p:ph idx="1"/>
          </p:nvPr>
        </p:nvSpPr>
        <p:spPr>
          <a:xfrm>
            <a:off x="544195" y="1149350"/>
            <a:ext cx="5352415" cy="3344545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被广泛用作 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耐火材料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，如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耐火砖、坩</a:t>
            </a:r>
            <a:r>
              <a:rPr lang="zh-CN" altLang="en-US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+mn-ea"/>
              </a:rPr>
              <a:t>埚、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热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电偶套管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,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淬火钢的切削刀具、金属拔丝模，内燃机的火花塞，火箭、导弹的导流罩及轴承等。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  <a:sym typeface="+mn-ea"/>
              </a:rPr>
              <a:t> 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>
          <a:xfrm>
            <a:off x="1000125" y="0"/>
            <a:ext cx="8143875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二、新型结构陶瓷—</a:t>
            </a:r>
            <a:r>
              <a:rPr kumimoji="1" lang="zh-CN" altLang="en-US" sz="4400" b="1" i="0" u="none" strike="noStrike" kern="0" cap="none" spc="0" normalizeH="0" baseline="0" dirty="0"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华文中宋" panose="02010600040101010101" pitchFamily="2" charset="-122"/>
                <a:cs typeface="+mn-cs"/>
              </a:rPr>
              <a:t>氧化铝陶瓷</a:t>
            </a: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7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8531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7416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628765"/>
            <a:ext cx="457200" cy="229235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0" y="105283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92" grpId="0" advAuto="1000" build="p"/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484784"/>
            <a:ext cx="8458200" cy="5040560"/>
          </a:xfrm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氮化硅</a:t>
            </a:r>
            <a:r>
              <a:rPr lang="zh-CN" altLang="en-US" b="1" dirty="0">
                <a:ea typeface="华文中宋" panose="02010600040101010101" pitchFamily="2" charset="-122"/>
              </a:rPr>
              <a:t>是由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Si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rgbClr val="FFFF66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ea typeface="华文中宋" panose="02010600040101010101" pitchFamily="2" charset="-122"/>
              </a:rPr>
              <a:t>四面体组成的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共价键</a:t>
            </a:r>
            <a:r>
              <a:rPr lang="zh-CN" altLang="en-US" b="1" dirty="0">
                <a:ea typeface="华文中宋" panose="02010600040101010101" pitchFamily="2" charset="-122"/>
              </a:rPr>
              <a:t>固体。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）</a:t>
            </a:r>
            <a:r>
              <a:rPr lang="zh-CN" altLang="en-US" b="1" dirty="0">
                <a:ea typeface="华文中宋" panose="02010600040101010101" pitchFamily="2" charset="-122"/>
              </a:rPr>
              <a:t>氮化硅的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制备工艺</a:t>
            </a:r>
            <a:endParaRPr lang="zh-CN" altLang="en-US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①工业硅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直接氮化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3Si + 2N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→ Si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②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二氧化硅还原氮化</a:t>
            </a:r>
            <a:r>
              <a:rPr lang="zh-CN" altLang="en-US" b="1" dirty="0">
                <a:ea typeface="华文中宋" panose="02010600040101010101" pitchFamily="2" charset="-122"/>
              </a:rPr>
              <a:t>：</a:t>
            </a:r>
            <a:endParaRPr lang="en-US" altLang="zh-CN" b="1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25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   3SiO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+ 6C + 2N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→Si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3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N</a:t>
            </a:r>
            <a:r>
              <a:rPr lang="en-US" altLang="zh-CN" b="1" baseline="-30000" dirty="0">
                <a:solidFill>
                  <a:schemeClr val="folHlink"/>
                </a:solidFill>
                <a:ea typeface="华文中宋" panose="02010600040101010101" pitchFamily="2" charset="-122"/>
              </a:rPr>
              <a:t>4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+6CO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pic>
        <p:nvPicPr>
          <p:cNvPr id="9220" name="Picture 4" descr="SiN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076761" y="4432975"/>
            <a:ext cx="1689422" cy="1880481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96" y="96996"/>
            <a:ext cx="6000750" cy="1338134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algn="l" eaLnBrk="1" hangingPunct="1"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二、新型结构陶瓷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——2.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氮化硅（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N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5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18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42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19685" y="14128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7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dvAuto="1000" build="p"/>
      <p:bldP spid="2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556792"/>
            <a:ext cx="8458200" cy="2830200"/>
          </a:xfrm>
        </p:spPr>
        <p:txBody>
          <a:bodyPr vert="horz" wrap="square" lIns="91440" tIns="45720" rIns="91440" bIns="45720" numCol="1" anchor="t" anchorCtr="0" compatLnSpc="1"/>
          <a:lstStyle/>
          <a:p>
            <a:pPr lvl="0" eaLnBrk="1" hangingPunct="1">
              <a:lnSpc>
                <a:spcPct val="125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2</a:t>
            </a:r>
            <a:r>
              <a:rPr lang="zh-CN" altLang="en-US" b="1" dirty="0">
                <a:solidFill>
                  <a:schemeClr val="folHlink"/>
                </a:solidFill>
                <a:latin typeface="仿宋_GB2312" pitchFamily="49" charset="-122"/>
                <a:ea typeface="仿宋_GB2312" pitchFamily="49" charset="-122"/>
              </a:rPr>
              <a:t>）烧结工艺</a:t>
            </a:r>
            <a:endParaRPr lang="zh-CN" altLang="en-US" b="1" dirty="0">
              <a:solidFill>
                <a:schemeClr val="folHlink"/>
              </a:solidFill>
              <a:latin typeface="仿宋_GB2312" pitchFamily="49" charset="-122"/>
              <a:ea typeface="仿宋_GB2312" pitchFamily="49" charset="-122"/>
            </a:endParaRPr>
          </a:p>
          <a:p>
            <a:pPr eaLnBrk="1" hangingPunct="1">
              <a:lnSpc>
                <a:spcPct val="125000"/>
              </a:lnSpc>
            </a:pPr>
            <a:endParaRPr lang="en-US" altLang="zh-CN" sz="2800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aphicFrame>
        <p:nvGraphicFramePr>
          <p:cNvPr id="18437" name="表格 18436"/>
          <p:cNvGraphicFramePr/>
          <p:nvPr/>
        </p:nvGraphicFramePr>
        <p:xfrm>
          <a:off x="467544" y="2420888"/>
          <a:ext cx="8365816" cy="3688080"/>
        </p:xfrm>
        <a:graphic>
          <a:graphicData uri="http://schemas.openxmlformats.org/drawingml/2006/table">
            <a:tbl>
              <a:tblPr/>
              <a:tblGrid>
                <a:gridCol w="2004310"/>
                <a:gridCol w="3149630"/>
                <a:gridCol w="3211876"/>
              </a:tblGrid>
              <a:tr h="519775"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烧结工艺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优  点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缺  点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793002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反应烧结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烧结时几乎没有收缩，能得到复杂的形状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密度低，强度低，耐蚀性差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  <a:tr h="1145447"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热压烧结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用较少的助剂就能致密化，强度、耐蚀性最好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  <a:tc>
                  <a:txBody>
                    <a:bodyPr/>
                    <a:lstStyle/>
                    <a:p>
                      <a:pPr lvl="0" eaLnBrk="1" hangingPunct="1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buNone/>
                      </a:pPr>
                      <a:r>
                        <a:rPr lang="zh-CN" altLang="en-US" sz="3200" b="1" dirty="0">
                          <a:solidFill>
                            <a:schemeClr val="folHlink"/>
                          </a:solidFill>
                          <a:latin typeface="仿宋_GB2312" pitchFamily="49" charset="-122"/>
                          <a:ea typeface="仿宋_GB2312" pitchFamily="49" charset="-122"/>
                        </a:rPr>
                        <a:t>只能制造简单形状，烧结助剂使高温强度降低 </a:t>
                      </a:r>
                      <a:endParaRPr lang="zh-CN" altLang="en-US" sz="3200" b="1" dirty="0">
                        <a:solidFill>
                          <a:schemeClr val="folHlink"/>
                        </a:solidFill>
                        <a:latin typeface="仿宋_GB2312" pitchFamily="49" charset="-122"/>
                        <a:ea typeface="仿宋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L>
                    <a:lnR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381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0099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1835696" y="-69374"/>
            <a:ext cx="6000750" cy="1626166"/>
          </a:xfrm>
        </p:spPr>
        <p:txBody>
          <a:bodyPr vert="horz" wrap="square" lIns="92075" tIns="46038" rIns="92075" bIns="46038" numCol="1" anchor="ctr" anchorCtr="0" compatLnSpc="1"/>
          <a:lstStyle/>
          <a:p>
            <a:pPr lvl="0" algn="l" eaLnBrk="1" hangingPunct="1">
              <a:defRPr/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二、新型结构陶瓷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——2.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氮化硅（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N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8457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35818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5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42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9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19685" y="1412875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advAuto="1000" build="p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67544" y="1196752"/>
            <a:ext cx="7848872" cy="5112568"/>
          </a:xfrm>
        </p:spPr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tx2"/>
                </a:solidFill>
                <a:ea typeface="华文中宋" panose="02010600040101010101" pitchFamily="2" charset="-122"/>
              </a:rPr>
              <a:t>3</a:t>
            </a:r>
            <a:r>
              <a:rPr lang="zh-CN" altLang="en-US" b="1" dirty="0">
                <a:solidFill>
                  <a:schemeClr val="tx2"/>
                </a:solidFill>
                <a:ea typeface="华文中宋" panose="02010600040101010101" pitchFamily="2" charset="-122"/>
              </a:rPr>
              <a:t>）性能特点</a:t>
            </a:r>
            <a:endParaRPr lang="en-US" altLang="zh-CN" b="1" kern="12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①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强度、比强度、比模量高；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硬度    仅次于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金刚石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、碳化硼等；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③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摩擦系数  仅为  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0.1~0.2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④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热膨胀系数小；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kern="12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⑤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抗热震性    </a:t>
            </a:r>
            <a:r>
              <a:rPr lang="zh-CN" altLang="en-US" b="1" kern="120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rPr>
              <a:t>大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大高于其他陶瓷材料；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⑥化学稳定性 高。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44133"/>
            <a:ext cx="6000750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氮化硅（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N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4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42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946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29663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0" y="96901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dvAuto="1000" build="p"/>
      <p:bldP spid="11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6" name="Rectangle 16"/>
          <p:cNvSpPr>
            <a:spLocks noChangeArrowheads="1"/>
          </p:cNvSpPr>
          <p:nvPr/>
        </p:nvSpPr>
        <p:spPr bwMode="auto">
          <a:xfrm>
            <a:off x="179512" y="1268760"/>
            <a:ext cx="8568952" cy="43924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4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）应用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zh-CN" sz="3200" b="1" dirty="0">
                <a:solidFill>
                  <a:schemeClr val="folHlink"/>
                </a:solidFill>
                <a:latin typeface="+mn-lt"/>
                <a:ea typeface="华文中宋" panose="02010600040101010101" pitchFamily="2" charset="-122"/>
                <a:cs typeface="+mn-cs"/>
              </a:rPr>
              <a:t>①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热压烧结氮化硅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：用于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形状简单、精度要求不高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的零件，如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切削刀具、高温轴承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等。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indent="-342900" rtl="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②反应烧结氮化硅：</a:t>
            </a:r>
            <a:r>
              <a:rPr lang="zh-CN" altLang="en-US" sz="3200" b="1" dirty="0">
                <a:ea typeface="华文中宋" panose="02010600040101010101" pitchFamily="2" charset="-122"/>
              </a:rPr>
              <a:t>用于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形状复杂、尺寸精度要求高</a:t>
            </a:r>
            <a:r>
              <a:rPr lang="zh-CN" altLang="en-US" sz="3200" b="1" dirty="0">
                <a:ea typeface="华文中宋" panose="02010600040101010101" pitchFamily="2" charset="-122"/>
              </a:rPr>
              <a:t>的零件，如</a:t>
            </a:r>
            <a:r>
              <a:rPr lang="zh-CN" altLang="en-US" sz="3200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机械密封环</a:t>
            </a:r>
            <a:r>
              <a:rPr lang="zh-CN" altLang="en-US" sz="3200" b="1" dirty="0">
                <a:ea typeface="华文中宋" panose="02010600040101010101" pitchFamily="2" charset="-122"/>
              </a:rPr>
              <a:t>等。</a:t>
            </a:r>
            <a:endParaRPr lang="zh-CN" altLang="en-US" sz="3200" b="1" dirty="0">
              <a:ea typeface="华文中宋" panose="02010600040101010101" pitchFamily="2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20"/>
          <p:cNvGrpSpPr>
            <a:grpSpLocks noChangeAspect="1"/>
          </p:cNvGrpSpPr>
          <p:nvPr/>
        </p:nvGrpSpPr>
        <p:grpSpPr>
          <a:xfrm>
            <a:off x="755576" y="4797152"/>
            <a:ext cx="2448745" cy="1631677"/>
            <a:chOff x="2851" y="2220"/>
            <a:chExt cx="2332" cy="1554"/>
          </a:xfrm>
        </p:grpSpPr>
        <p:pic>
          <p:nvPicPr>
            <p:cNvPr id="19465" name="Picture 17" descr="Si3N4材料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2851" y="2220"/>
              <a:ext cx="2332" cy="1553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9466" name="Text Box 19"/>
            <p:cNvSpPr txBox="1">
              <a:spLocks noChangeAspect="1"/>
            </p:cNvSpPr>
            <p:nvPr/>
          </p:nvSpPr>
          <p:spPr>
            <a:xfrm>
              <a:off x="3605" y="3454"/>
              <a:ext cx="1197" cy="320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Si</a:t>
              </a:r>
              <a:r>
                <a:rPr lang="en-US" altLang="zh-CN" sz="2000" b="1" baseline="-30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3</a:t>
              </a:r>
              <a:r>
                <a:rPr lang="en-US" altLang="zh-CN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N</a:t>
              </a:r>
              <a:r>
                <a:rPr lang="en-US" altLang="zh-CN" sz="2000" b="1" baseline="-30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4</a:t>
              </a:r>
              <a:r>
                <a: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轴承</a:t>
              </a:r>
              <a:endParaRPr lang="zh-CN" altLang="en-US" sz="2000" b="1" dirty="0">
                <a:solidFill>
                  <a:schemeClr val="folHlink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785938" y="-317"/>
            <a:ext cx="6000750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2.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氮化硅（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3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N</a:t>
            </a:r>
            <a:r>
              <a:rPr kumimoji="1" lang="en-US" altLang="zh-CN" sz="4400" b="1" i="0" u="none" strike="noStrike" kern="0" cap="none" spc="0" normalizeH="0" baseline="-3000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19463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4246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19464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729663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" name="Group 12"/>
          <p:cNvGrpSpPr>
            <a:grpSpLocks noChangeAspect="1"/>
          </p:cNvGrpSpPr>
          <p:nvPr/>
        </p:nvGrpSpPr>
        <p:grpSpPr>
          <a:xfrm>
            <a:off x="3707904" y="4773197"/>
            <a:ext cx="4961563" cy="1863816"/>
            <a:chOff x="288" y="1715"/>
            <a:chExt cx="5276" cy="1982"/>
          </a:xfrm>
        </p:grpSpPr>
        <p:grpSp>
          <p:nvGrpSpPr>
            <p:cNvPr id="15" name="Group 10"/>
            <p:cNvGrpSpPr>
              <a:grpSpLocks noChangeAspect="1"/>
            </p:cNvGrpSpPr>
            <p:nvPr/>
          </p:nvGrpSpPr>
          <p:grpSpPr>
            <a:xfrm>
              <a:off x="288" y="1728"/>
              <a:ext cx="2603" cy="1969"/>
              <a:chOff x="288" y="1728"/>
              <a:chExt cx="2603" cy="1969"/>
            </a:xfrm>
          </p:grpSpPr>
          <p:pic>
            <p:nvPicPr>
              <p:cNvPr id="19" name="Picture 4" descr="SiN汽轮机转子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88" y="1728"/>
                <a:ext cx="2603" cy="1842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0" name="Text Box 6"/>
              <p:cNvSpPr txBox="1">
                <a:spLocks noChangeAspect="1"/>
              </p:cNvSpPr>
              <p:nvPr/>
            </p:nvSpPr>
            <p:spPr>
              <a:xfrm>
                <a:off x="365" y="3272"/>
                <a:ext cx="1833" cy="425"/>
              </a:xfrm>
              <a:prstGeom prst="rect">
                <a:avLst/>
              </a:prstGeom>
              <a:solidFill>
                <a:schemeClr val="tx1"/>
              </a:solidFill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汽轮机转子</a:t>
                </a:r>
                <a:endParaRPr lang="zh-CN" altLang="en-US" sz="2000" b="1" dirty="0">
                  <a:solidFill>
                    <a:schemeClr val="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16" name="Group 11"/>
            <p:cNvGrpSpPr>
              <a:grpSpLocks noChangeAspect="1"/>
            </p:cNvGrpSpPr>
            <p:nvPr/>
          </p:nvGrpSpPr>
          <p:grpSpPr>
            <a:xfrm>
              <a:off x="3360" y="1715"/>
              <a:ext cx="2204" cy="1787"/>
              <a:chOff x="3360" y="1728"/>
              <a:chExt cx="2204" cy="1787"/>
            </a:xfrm>
          </p:grpSpPr>
          <p:pic>
            <p:nvPicPr>
              <p:cNvPr id="17" name="Picture 5" descr="SiC排气阀和叶片等部件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3360" y="1728"/>
                <a:ext cx="2158" cy="1787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18" name="Text Box 7"/>
              <p:cNvSpPr txBox="1">
                <a:spLocks noChangeAspect="1"/>
              </p:cNvSpPr>
              <p:nvPr/>
            </p:nvSpPr>
            <p:spPr>
              <a:xfrm>
                <a:off x="3427" y="1738"/>
                <a:ext cx="2137" cy="4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叶片气阀等零件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56" grpId="0" bldLvl="0" animBg="1"/>
      <p:bldP spid="11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/>
          </p:cNvSpPr>
          <p:nvPr>
            <p:ph idx="1"/>
          </p:nvPr>
        </p:nvSpPr>
        <p:spPr>
          <a:xfrm>
            <a:off x="452755" y="1052830"/>
            <a:ext cx="8367395" cy="555307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1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）结合键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   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碳化硅</a:t>
            </a:r>
            <a:r>
              <a:rPr lang="zh-CN" altLang="en-US" b="1" dirty="0">
                <a:ea typeface="华文中宋" panose="02010600040101010101" pitchFamily="2" charset="-122"/>
              </a:rPr>
              <a:t>是通过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键能很高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共价键</a:t>
            </a:r>
            <a:r>
              <a:rPr lang="zh-CN" altLang="en-US" b="1" dirty="0">
                <a:ea typeface="华文中宋" panose="02010600040101010101" pitchFamily="2" charset="-122"/>
              </a:rPr>
              <a:t>结合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的晶体。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rgbClr val="CCFF33"/>
                </a:solidFill>
                <a:ea typeface="华文中宋" panose="02010600040101010101" pitchFamily="2" charset="-122"/>
              </a:rPr>
              <a:t>2</a:t>
            </a:r>
            <a:r>
              <a:rPr lang="zh-CN" altLang="en-US" b="1" dirty="0">
                <a:solidFill>
                  <a:srgbClr val="CCFF33"/>
                </a:solidFill>
                <a:ea typeface="华文中宋" panose="02010600040101010101" pitchFamily="2" charset="-122"/>
              </a:rPr>
              <a:t>）制备工艺</a:t>
            </a:r>
            <a:endParaRPr lang="en-US" altLang="zh-CN" b="1" dirty="0">
              <a:solidFill>
                <a:srgbClr val="CCFF33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b="1" dirty="0">
                <a:ea typeface="华文中宋" panose="02010600040101010101" pitchFamily="2" charset="-122"/>
              </a:rPr>
              <a:t>   碳化硅是用</a:t>
            </a:r>
            <a:r>
              <a:rPr lang="zh-CN" altLang="en-US" b="1" dirty="0">
                <a:solidFill>
                  <a:srgbClr val="FFFF66"/>
                </a:solidFill>
                <a:ea typeface="华文中宋" panose="02010600040101010101" pitchFamily="2" charset="-122"/>
              </a:rPr>
              <a:t>石英沙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(SiO</a:t>
            </a:r>
            <a:r>
              <a:rPr lang="en-US" altLang="zh-CN" b="1" baseline="-30000" dirty="0">
                <a:solidFill>
                  <a:srgbClr val="CCFFFF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CCFFFF"/>
                </a:solidFill>
                <a:ea typeface="华文中宋" panose="02010600040101010101" pitchFamily="2" charset="-122"/>
              </a:rPr>
              <a:t>)</a:t>
            </a:r>
            <a:r>
              <a:rPr lang="zh-CN" altLang="en-US" b="1" dirty="0">
                <a:ea typeface="华文中宋" panose="02010600040101010101" pitchFamily="2" charset="-122"/>
              </a:rPr>
              <a:t>加</a:t>
            </a:r>
            <a:r>
              <a:rPr lang="zh-CN" altLang="en-US" b="1" dirty="0">
                <a:solidFill>
                  <a:srgbClr val="FFFF66"/>
                </a:solidFill>
                <a:ea typeface="华文中宋" panose="02010600040101010101" pitchFamily="2" charset="-122"/>
              </a:rPr>
              <a:t>焦碳</a:t>
            </a:r>
            <a:r>
              <a:rPr lang="zh-CN" altLang="en-US" b="1" dirty="0">
                <a:ea typeface="华文中宋" panose="02010600040101010101" pitchFamily="2" charset="-122"/>
              </a:rPr>
              <a:t>直接加热至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高温还原</a:t>
            </a:r>
            <a:r>
              <a:rPr lang="zh-CN" altLang="en-US" b="1" dirty="0">
                <a:ea typeface="华文中宋" panose="02010600040101010101" pitchFamily="2" charset="-122"/>
              </a:rPr>
              <a:t>而成： 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SiO</a:t>
            </a:r>
            <a:r>
              <a:rPr lang="en-US" altLang="zh-CN" b="1" baseline="-25000" dirty="0">
                <a:solidFill>
                  <a:srgbClr val="FFFF66"/>
                </a:solidFill>
                <a:ea typeface="华文中宋" panose="02010600040101010101" pitchFamily="2" charset="-122"/>
              </a:rPr>
              <a:t>2</a:t>
            </a:r>
            <a:r>
              <a:rPr lang="en-US" altLang="zh-CN" b="1" dirty="0">
                <a:solidFill>
                  <a:srgbClr val="FFFF66"/>
                </a:solidFill>
                <a:ea typeface="华文中宋" panose="02010600040101010101" pitchFamily="2" charset="-122"/>
              </a:rPr>
              <a:t>+3C→SiC+2CO</a:t>
            </a:r>
            <a:r>
              <a:rPr lang="zh-CN" altLang="en-US" b="1" dirty="0">
                <a:solidFill>
                  <a:srgbClr val="FFFF66"/>
                </a:solidFill>
                <a:ea typeface="华文中宋" panose="02010600040101010101" pitchFamily="2" charset="-122"/>
              </a:rPr>
              <a:t>。</a:t>
            </a:r>
            <a:endParaRPr lang="zh-CN" altLang="en-US" b="1" dirty="0">
              <a:solidFill>
                <a:srgbClr val="FFFF66"/>
              </a:solidFill>
              <a:ea typeface="华文中宋" panose="02010600040101010101" pitchFamily="2" charset="-122"/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499553" y="-99060"/>
            <a:ext cx="7643813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ea typeface="华文中宋" panose="02010600040101010101" pitchFamily="2" charset="-122"/>
              </a:rPr>
              <a:t>3.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碳化硅（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5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54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151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6475" y="6553200"/>
            <a:ext cx="457200" cy="3048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advAuto="1000" build="p"/>
      <p:bldP spid="11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225143" y="1375492"/>
            <a:ext cx="8772525" cy="2647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（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）碳化硅</a:t>
            </a:r>
            <a:r>
              <a:rPr kumimoji="1"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烧结工艺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lvl="0" indent="-342900" rtl="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有</a:t>
            </a:r>
            <a:r>
              <a:rPr kumimoji="1"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两种：①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热压</a:t>
            </a:r>
            <a:r>
              <a:rPr kumimoji="1"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烧结</a:t>
            </a:r>
            <a:r>
              <a:rPr kumimoji="1"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zh-CN" altLang="en-US" sz="3200" b="1" dirty="0">
                <a:solidFill>
                  <a:srgbClr val="CCFF33"/>
                </a:solidFill>
                <a:ea typeface="华文中宋" panose="02010600040101010101" pitchFamily="2" charset="-122"/>
              </a:rPr>
              <a:t>②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反应烧结 。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lvl="0" indent="-342900" rtl="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由于碳化硅表面有一层薄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氧化膜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因此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很难烧结，</a:t>
            </a:r>
            <a:r>
              <a:rPr kumimoji="1" lang="zh-CN" altLang="en-US" sz="3200" b="1" i="0" u="none" strike="noStrike" kern="0" cap="none" spc="0" normalizeH="0" baseline="0" dirty="0">
                <a:latin typeface="+mn-lt"/>
                <a:ea typeface="华文中宋" panose="02010600040101010101" pitchFamily="2" charset="-122"/>
                <a:cs typeface="+mn-cs"/>
              </a:rPr>
              <a:t>需添加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烧结助剂促进烧结。</a:t>
            </a:r>
            <a:endParaRPr kumimoji="1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CCFF33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  <a:p>
            <a:pPr marL="342900" lvl="0" indent="-342900" rtl="0">
              <a:lnSpc>
                <a:spcPct val="13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常加的助剂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有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硼、碳、铝等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CCFF33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.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8"/>
          <p:cNvGrpSpPr>
            <a:grpSpLocks noChangeAspect="1"/>
          </p:cNvGrpSpPr>
          <p:nvPr/>
        </p:nvGrpSpPr>
        <p:grpSpPr>
          <a:xfrm>
            <a:off x="6114423" y="4122706"/>
            <a:ext cx="2883318" cy="2387282"/>
            <a:chOff x="3383" y="432"/>
            <a:chExt cx="2079" cy="1721"/>
          </a:xfrm>
        </p:grpSpPr>
        <p:pic>
          <p:nvPicPr>
            <p:cNvPr id="21513" name="Picture 5" descr="常压烧结碳化硅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383" y="432"/>
              <a:ext cx="2079" cy="1721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1514" name="Text Box 7"/>
            <p:cNvSpPr txBox="1">
              <a:spLocks noChangeAspect="1"/>
            </p:cNvSpPr>
            <p:nvPr/>
          </p:nvSpPr>
          <p:spPr>
            <a:xfrm>
              <a:off x="3436" y="432"/>
              <a:ext cx="1296" cy="25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常压烧结碳化硅</a:t>
              </a:r>
              <a:endPara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505" y="-142875"/>
            <a:ext cx="6695440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noProof="0" dirty="0">
                <a:ea typeface="华文中宋" panose="02010600040101010101" pitchFamily="2" charset="-122"/>
              </a:rPr>
              <a:t>3.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碳化硅（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151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90754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151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26475" y="6553200"/>
            <a:ext cx="457200" cy="3048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2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8" grpId="0" bldLvl="0" animBg="1"/>
      <p:bldP spid="11" grpId="0" bldLvl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xfrm>
            <a:off x="346710" y="828675"/>
            <a:ext cx="8654415" cy="5791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ea typeface="华文中宋" panose="02010600040101010101" pitchFamily="2" charset="-122"/>
              </a:rPr>
              <a:t>4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）性能特点</a:t>
            </a:r>
            <a:r>
              <a:rPr lang="zh-CN" altLang="en-US" b="1" dirty="0">
                <a:ea typeface="华文中宋" panose="02010600040101010101" pitchFamily="2" charset="-122"/>
              </a:rPr>
              <a:t>：碳化硅的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最大特点</a:t>
            </a:r>
            <a:r>
              <a:rPr lang="zh-CN" altLang="en-US" b="1" dirty="0">
                <a:ea typeface="华文中宋" panose="02010600040101010101" pitchFamily="2" charset="-122"/>
              </a:rPr>
              <a:t>是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高温强度高</a:t>
            </a:r>
            <a:r>
              <a:rPr lang="zh-CN" altLang="en-US" b="1" dirty="0">
                <a:ea typeface="华文中宋" panose="02010600040101010101" pitchFamily="2" charset="-122"/>
              </a:rPr>
              <a:t>，有很好的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耐磨损</a:t>
            </a:r>
            <a:r>
              <a:rPr lang="zh-CN" altLang="en-US" b="1" dirty="0">
                <a:ea typeface="华文中宋" panose="02010600040101010101" pitchFamily="2" charset="-122"/>
              </a:rPr>
              <a:t>、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耐腐蚀、抗蠕变</a:t>
            </a:r>
            <a:r>
              <a:rPr lang="zh-CN" altLang="en-US" b="1" dirty="0">
                <a:ea typeface="华文中宋" panose="02010600040101010101" pitchFamily="2" charset="-122"/>
              </a:rPr>
              <a:t>性能，其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热传导能力很强</a:t>
            </a:r>
            <a:r>
              <a:rPr lang="zh-CN" altLang="en-US" b="1" dirty="0">
                <a:ea typeface="华文中宋" panose="02010600040101010101" pitchFamily="2" charset="-122"/>
              </a:rPr>
              <a:t>，仅次于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氧化铍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陶瓷</a:t>
            </a:r>
            <a:r>
              <a:rPr lang="zh-CN" altLang="en-US" b="1" dirty="0">
                <a:ea typeface="华文中宋" panose="02010600040101010101" pitchFamily="2" charset="-122"/>
              </a:rPr>
              <a:t>。   </a:t>
            </a:r>
            <a:r>
              <a:rPr lang="zh-CN" altLang="en-US" sz="2800" b="1" dirty="0">
                <a:ea typeface="华文中宋" panose="02010600040101010101" pitchFamily="2" charset="-122"/>
              </a:rPr>
              <a:t> </a:t>
            </a:r>
            <a:endParaRPr lang="zh-CN" altLang="en-US" sz="2800" dirty="0">
              <a:ea typeface="华文中宋" panose="02010600040101010101" pitchFamily="2" charset="-122"/>
            </a:endParaRPr>
          </a:p>
        </p:txBody>
      </p:sp>
      <p:grpSp>
        <p:nvGrpSpPr>
          <p:cNvPr id="2" name="Group 18"/>
          <p:cNvGrpSpPr/>
          <p:nvPr/>
        </p:nvGrpSpPr>
        <p:grpSpPr>
          <a:xfrm>
            <a:off x="2049669" y="2853241"/>
            <a:ext cx="6503987" cy="3761453"/>
            <a:chOff x="1087" y="1468"/>
            <a:chExt cx="4097" cy="2369"/>
          </a:xfrm>
        </p:grpSpPr>
        <p:grpSp>
          <p:nvGrpSpPr>
            <p:cNvPr id="22536" name="Group 10"/>
            <p:cNvGrpSpPr>
              <a:grpSpLocks noChangeAspect="1"/>
            </p:cNvGrpSpPr>
            <p:nvPr/>
          </p:nvGrpSpPr>
          <p:grpSpPr>
            <a:xfrm>
              <a:off x="3448" y="1469"/>
              <a:ext cx="1736" cy="2369"/>
              <a:chOff x="3643" y="1726"/>
              <a:chExt cx="1685" cy="2299"/>
            </a:xfrm>
          </p:grpSpPr>
          <p:grpSp>
            <p:nvGrpSpPr>
              <p:cNvPr id="22540" name="Group 8"/>
              <p:cNvGrpSpPr>
                <a:grpSpLocks noChangeAspect="1"/>
              </p:cNvGrpSpPr>
              <p:nvPr/>
            </p:nvGrpSpPr>
            <p:grpSpPr>
              <a:xfrm>
                <a:off x="3643" y="1726"/>
                <a:ext cx="1685" cy="2299"/>
                <a:chOff x="3641" y="1513"/>
                <a:chExt cx="1685" cy="2299"/>
              </a:xfrm>
            </p:grpSpPr>
            <p:pic>
              <p:nvPicPr>
                <p:cNvPr id="22542" name="Picture 4" descr="碳化硅陶瓷密封圈"/>
                <p:cNvPicPr>
                  <a:picLocks noChangeAspect="1"/>
                </p:cNvPicPr>
                <p:nvPr/>
              </p:nvPicPr>
              <p:blipFill>
                <a:blip r:embed="rId1" cstate="print"/>
                <a:stretch>
                  <a:fillRect/>
                </a:stretch>
              </p:blipFill>
              <p:spPr>
                <a:xfrm>
                  <a:off x="3647" y="2679"/>
                  <a:ext cx="1679" cy="1133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pic>
              <p:nvPicPr>
                <p:cNvPr id="22543" name="Picture 5" descr="碳化硅密封环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3641" y="1513"/>
                  <a:ext cx="1685" cy="1106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</p:grpSp>
          <p:sp>
            <p:nvSpPr>
              <p:cNvPr id="22541" name="Text Box 9"/>
              <p:cNvSpPr txBox="1">
                <a:spLocks noChangeAspect="1"/>
              </p:cNvSpPr>
              <p:nvPr/>
            </p:nvSpPr>
            <p:spPr>
              <a:xfrm>
                <a:off x="3643" y="2614"/>
                <a:ext cx="864" cy="22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sz="18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SiC</a:t>
                </a:r>
                <a:r>
                  <a:rPr lang="zh-CN" altLang="en-US" sz="18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密封件</a:t>
                </a:r>
                <a:endPara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2538" name="Picture 14" descr="wpe2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7" y="1468"/>
              <a:ext cx="2300" cy="234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</p:grp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8" y="-142875"/>
            <a:ext cx="7643813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</a:rPr>
              <a:t>3.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碳化硅（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253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2529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2535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7118" y="650525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6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5" grpId="0" advAuto="1000" build="p"/>
      <p:bldP spid="1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4" name="Rectangle 16"/>
          <p:cNvSpPr>
            <a:spLocks noGrp="1"/>
          </p:cNvSpPr>
          <p:nvPr>
            <p:ph idx="1"/>
          </p:nvPr>
        </p:nvSpPr>
        <p:spPr>
          <a:xfrm>
            <a:off x="571500" y="857250"/>
            <a:ext cx="5656684" cy="38862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（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）应用：</a:t>
            </a:r>
            <a:endParaRPr lang="en-US" altLang="zh-CN" b="1" kern="1200" dirty="0"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b="1" kern="1200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</a:t>
            </a:r>
            <a:r>
              <a:rPr lang="zh-CN" altLang="en-US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火箭喷嘴、浇注金属的喉管、热电偶套管、炉管、燃气轮机叶片及轴承，泵的密封圈、拉丝成型模具</a:t>
            </a:r>
            <a:r>
              <a:rPr lang="en-US" altLang="zh-CN" b="1" dirty="0">
                <a:solidFill>
                  <a:schemeClr val="folHlink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…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zh-CN" altLang="en-US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2" name="Group 37"/>
          <p:cNvGrpSpPr/>
          <p:nvPr/>
        </p:nvGrpSpPr>
        <p:grpSpPr>
          <a:xfrm>
            <a:off x="3707780" y="981299"/>
            <a:ext cx="5156200" cy="5400677"/>
            <a:chOff x="2141" y="518"/>
            <a:chExt cx="3248" cy="3402"/>
          </a:xfrm>
        </p:grpSpPr>
        <p:grpSp>
          <p:nvGrpSpPr>
            <p:cNvPr id="23560" name="Group 35"/>
            <p:cNvGrpSpPr/>
            <p:nvPr/>
          </p:nvGrpSpPr>
          <p:grpSpPr>
            <a:xfrm>
              <a:off x="2141" y="563"/>
              <a:ext cx="3209" cy="3357"/>
              <a:chOff x="2141" y="563"/>
              <a:chExt cx="3209" cy="3357"/>
            </a:xfrm>
          </p:grpSpPr>
          <p:pic>
            <p:nvPicPr>
              <p:cNvPr id="23562" name="Picture 19" descr="sic产品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4000" y="563"/>
                <a:ext cx="1350" cy="1134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grpSp>
            <p:nvGrpSpPr>
              <p:cNvPr id="23563" name="Group 33"/>
              <p:cNvGrpSpPr/>
              <p:nvPr/>
            </p:nvGrpSpPr>
            <p:grpSpPr>
              <a:xfrm>
                <a:off x="2141" y="2740"/>
                <a:ext cx="1559" cy="1180"/>
                <a:chOff x="2141" y="2740"/>
                <a:chExt cx="1559" cy="1180"/>
              </a:xfrm>
            </p:grpSpPr>
            <p:pic>
              <p:nvPicPr>
                <p:cNvPr id="23567" name="Picture 20" descr="sic陶瓷件1"/>
                <p:cNvPicPr>
                  <a:picLocks noChangeAspect="1"/>
                </p:cNvPicPr>
                <p:nvPr/>
              </p:nvPicPr>
              <p:blipFill>
                <a:blip r:embed="rId2" cstate="print"/>
                <a:stretch>
                  <a:fillRect/>
                </a:stretch>
              </p:blipFill>
              <p:spPr>
                <a:xfrm>
                  <a:off x="2141" y="2786"/>
                  <a:ext cx="1559" cy="1134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23568" name="Text Box 26"/>
                <p:cNvSpPr txBox="1">
                  <a:spLocks noChangeAspect="1"/>
                </p:cNvSpPr>
                <p:nvPr/>
              </p:nvSpPr>
              <p:spPr>
                <a:xfrm>
                  <a:off x="2368" y="2740"/>
                  <a:ext cx="843" cy="233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lvl="0" algn="r" eaLnBrk="1" hangingPunct="1">
                    <a:spcBef>
                      <a:spcPct val="50000"/>
                    </a:spcBef>
                  </a:pPr>
                  <a:r>
                    <a:rPr lang="en-US" altLang="zh-CN" sz="1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SiC</a:t>
                  </a:r>
                  <a:r>
                    <a:rPr lang="zh-CN" altLang="en-US" sz="1800" b="1" dirty="0">
                      <a:solidFill>
                        <a:schemeClr val="folHlin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陶瓷件</a:t>
                  </a:r>
                  <a:endParaRPr lang="zh-CN" altLang="en-US" sz="18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23564" name="Group 34"/>
              <p:cNvGrpSpPr/>
              <p:nvPr/>
            </p:nvGrpSpPr>
            <p:grpSpPr>
              <a:xfrm>
                <a:off x="3910" y="2378"/>
                <a:ext cx="1406" cy="1532"/>
                <a:chOff x="3910" y="2378"/>
                <a:chExt cx="1406" cy="1532"/>
              </a:xfrm>
            </p:grpSpPr>
            <p:pic>
              <p:nvPicPr>
                <p:cNvPr id="23565" name="Picture 21" descr="SiC轴承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3910" y="2759"/>
                  <a:ext cx="1406" cy="1151"/>
                </a:xfrm>
                <a:prstGeom prst="rect">
                  <a:avLst/>
                </a:prstGeom>
                <a:noFill/>
                <a:ln w="28575" cap="flat" cmpd="sng">
                  <a:noFill/>
                  <a:prstDash val="solid"/>
                  <a:miter/>
                  <a:headEnd type="none" w="med" len="med"/>
                  <a:tailEnd type="none" w="med" len="med"/>
                </a:ln>
              </p:spPr>
            </p:pic>
            <p:sp>
              <p:nvSpPr>
                <p:cNvPr id="23566" name="Text Box 27"/>
                <p:cNvSpPr txBox="1">
                  <a:spLocks noChangeAspect="1"/>
                </p:cNvSpPr>
                <p:nvPr/>
              </p:nvSpPr>
              <p:spPr>
                <a:xfrm>
                  <a:off x="4136" y="2378"/>
                  <a:ext cx="790" cy="231"/>
                </a:xfrm>
                <a:prstGeom prst="rect">
                  <a:avLst/>
                </a:prstGeom>
                <a:noFill/>
                <a:ln w="28575">
                  <a:noFill/>
                </a:ln>
              </p:spPr>
              <p:txBody>
                <a:bodyPr>
                  <a:spAutoFit/>
                </a:bodyPr>
                <a:lstStyle/>
                <a:p>
                  <a:pPr lvl="0" eaLnBrk="1" hangingPunct="1">
                    <a:spcBef>
                      <a:spcPct val="50000"/>
                    </a:spcBef>
                  </a:pPr>
                  <a:r>
                    <a:rPr lang="en-US" altLang="zh-CN" sz="1800" b="1" dirty="0">
                      <a:solidFill>
                        <a:srgbClr val="8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SiC</a:t>
                  </a:r>
                  <a:r>
                    <a:rPr lang="zh-CN" altLang="en-US" sz="1800" b="1" dirty="0">
                      <a:solidFill>
                        <a:srgbClr val="8000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rPr>
                    <a:t>轴承</a:t>
                  </a:r>
                  <a:endParaRPr lang="zh-CN" altLang="en-US" sz="1800" b="1" dirty="0">
                    <a:solidFill>
                      <a:srgbClr val="8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endParaRPr>
                </a:p>
              </p:txBody>
            </p:sp>
          </p:grpSp>
        </p:grpSp>
        <p:sp>
          <p:nvSpPr>
            <p:cNvPr id="23561" name="Text Box 36"/>
            <p:cNvSpPr txBox="1">
              <a:spLocks noChangeAspect="1"/>
            </p:cNvSpPr>
            <p:nvPr/>
          </p:nvSpPr>
          <p:spPr>
            <a:xfrm>
              <a:off x="4545" y="518"/>
              <a:ext cx="844" cy="231"/>
            </a:xfrm>
            <a:prstGeom prst="rect">
              <a:avLst/>
            </a:prstGeom>
            <a:noFill/>
            <a:ln w="28575">
              <a:noFill/>
            </a:ln>
          </p:spPr>
          <p:txBody>
            <a:bodyPr>
              <a:spAutoFit/>
            </a:bodyPr>
            <a:lstStyle/>
            <a:p>
              <a:pPr lvl="0" algn="r" eaLnBrk="1" hangingPunct="1">
                <a:spcBef>
                  <a:spcPct val="50000"/>
                </a:spcBef>
              </a:pPr>
              <a:r>
                <a:rPr lang="en-US" altLang="zh-CN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SiC</a:t>
              </a:r>
              <a:r>
                <a:rPr lang="zh-CN" altLang="en-US" sz="1800" b="1" dirty="0">
                  <a:solidFill>
                    <a:srgbClr val="8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陶瓷件</a:t>
              </a:r>
              <a:endPara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189" y="-142875"/>
            <a:ext cx="6816228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</a:rPr>
              <a:t>3.</a:t>
            </a: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碳化硅（</a:t>
            </a:r>
            <a:r>
              <a:rPr kumimoji="1" lang="en-US" altLang="zh-CN" sz="4400" b="1" i="0" u="none" strike="noStrike" kern="0" cap="none" spc="0" normalizeH="0" baseline="0" noProof="0" dirty="0" err="1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SiC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）陶瓷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3558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8531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3559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711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7" name="内容占位符 1" descr="新校徽（3M）弓之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8" name="Picture 5" descr="碳化硅密封环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824091" y="4581128"/>
            <a:ext cx="2743961" cy="180020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19" name="Text Box 9"/>
          <p:cNvSpPr txBox="1">
            <a:spLocks noChangeAspect="1"/>
          </p:cNvSpPr>
          <p:nvPr/>
        </p:nvSpPr>
        <p:spPr>
          <a:xfrm>
            <a:off x="827584" y="6021288"/>
            <a:ext cx="1413408" cy="368024"/>
          </a:xfrm>
          <a:prstGeom prst="rect">
            <a:avLst/>
          </a:prstGeom>
          <a:noFill/>
          <a:ln w="28575">
            <a:noFill/>
          </a:ln>
        </p:spPr>
        <p:txBody>
          <a:bodyPr>
            <a:spAutoFit/>
          </a:bodyPr>
          <a:lstStyle/>
          <a:p>
            <a:pPr lvl="0" eaLnBrk="1" hangingPunct="1">
              <a:spcBef>
                <a:spcPct val="50000"/>
              </a:spcBef>
            </a:pPr>
            <a:r>
              <a:rPr lang="en-US" altLang="zh-CN" sz="18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SiC</a:t>
            </a:r>
            <a:r>
              <a:rPr lang="zh-CN" altLang="en-US" sz="18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密封件</a:t>
            </a:r>
            <a:endParaRPr lang="zh-CN" altLang="en-US" sz="1800" b="1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0" name="Picture 4" descr="碳化硅陶瓷密封圈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660232" y="2924944"/>
            <a:ext cx="2134288" cy="1440160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4" grpId="0" advAuto="1000" build="p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0" y="1071880"/>
            <a:ext cx="8983345" cy="320040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氧化锆</a:t>
            </a:r>
            <a:r>
              <a:rPr lang="zh-CN" altLang="en-US" b="1" dirty="0">
                <a:solidFill>
                  <a:schemeClr val="tx1"/>
                </a:solidFill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晶型转变：立方相 </a:t>
            </a:r>
            <a:r>
              <a:rPr lang="zh-CN" altLang="en-US" b="1" dirty="0">
                <a:solidFill>
                  <a:schemeClr val="folHlink"/>
                </a:solidFill>
                <a:ea typeface="Arial Unicode MS" panose="020B0604020202020204" charset="-122"/>
              </a:rPr>
              <a:t>⇌ 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四方相 </a:t>
            </a:r>
            <a:r>
              <a:rPr lang="zh-CN" altLang="en-US" b="1" dirty="0">
                <a:solidFill>
                  <a:schemeClr val="folHlink"/>
                </a:solidFill>
                <a:ea typeface="Arial Unicode MS" panose="020B0604020202020204" charset="-122"/>
              </a:rPr>
              <a:t>⇌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单斜相。</a:t>
            </a: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endParaRPr lang="en-US" altLang="zh-CN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四方相转变为单斜相非常迅速， </a:t>
            </a:r>
            <a:r>
              <a:rPr lang="zh-CN" altLang="en-US" b="1" dirty="0">
                <a:ea typeface="华文中宋" panose="02010600040101010101" pitchFamily="2" charset="-122"/>
              </a:rPr>
              <a:t>引起</a:t>
            </a:r>
            <a:r>
              <a:rPr lang="zh-CN" altLang="en-US" b="1" dirty="0">
                <a:solidFill>
                  <a:schemeClr val="folHlink"/>
                </a:solidFill>
                <a:ea typeface="华文中宋" panose="02010600040101010101" pitchFamily="2" charset="-122"/>
              </a:rPr>
              <a:t>很大的体积变化，易使制品开裂。</a:t>
            </a:r>
            <a:endParaRPr lang="zh-CN" altLang="en-US" b="1" dirty="0">
              <a:solidFill>
                <a:schemeClr val="folHlink"/>
              </a:solidFill>
              <a:ea typeface="华文中宋" panose="02010600040101010101" pitchFamily="2" charset="-122"/>
            </a:endParaRPr>
          </a:p>
        </p:txBody>
      </p:sp>
      <p:grpSp>
        <p:nvGrpSpPr>
          <p:cNvPr id="2" name="Group 28"/>
          <p:cNvGrpSpPr>
            <a:grpSpLocks noChangeAspect="1"/>
          </p:cNvGrpSpPr>
          <p:nvPr/>
        </p:nvGrpSpPr>
        <p:grpSpPr>
          <a:xfrm>
            <a:off x="2123728" y="3853306"/>
            <a:ext cx="6369323" cy="2631887"/>
            <a:chOff x="288" y="1968"/>
            <a:chExt cx="5220" cy="2157"/>
          </a:xfrm>
        </p:grpSpPr>
        <p:grpSp>
          <p:nvGrpSpPr>
            <p:cNvPr id="24584" name="Group 20"/>
            <p:cNvGrpSpPr>
              <a:grpSpLocks noChangeAspect="1"/>
            </p:cNvGrpSpPr>
            <p:nvPr/>
          </p:nvGrpSpPr>
          <p:grpSpPr>
            <a:xfrm>
              <a:off x="288" y="1968"/>
              <a:ext cx="3471" cy="2154"/>
              <a:chOff x="384" y="1968"/>
              <a:chExt cx="3471" cy="2154"/>
            </a:xfrm>
          </p:grpSpPr>
          <p:pic>
            <p:nvPicPr>
              <p:cNvPr id="24587" name="Picture 17" descr="ZrO"/>
              <p:cNvPicPr>
                <a:picLocks noChangeAspect="1"/>
              </p:cNvPicPr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384" y="1968"/>
                <a:ext cx="3471" cy="2154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4588" name="Text Box 19"/>
              <p:cNvSpPr txBox="1">
                <a:spLocks noChangeAspect="1"/>
              </p:cNvSpPr>
              <p:nvPr/>
            </p:nvSpPr>
            <p:spPr>
              <a:xfrm>
                <a:off x="432" y="2016"/>
                <a:ext cx="882" cy="35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en-US" altLang="zh-CN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ZrO</a:t>
                </a:r>
                <a:r>
                  <a:rPr lang="en-US" altLang="zh-CN" b="1" baseline="-25000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b="1" baseline="-25000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24585" name="Picture 26" descr="氧化锆单相陶瓷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88" y="1968"/>
              <a:ext cx="1557" cy="215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11291" name="Text Box 27"/>
            <p:cNvSpPr txBox="1">
              <a:spLocks noChangeAspect="1" noChangeArrowheads="1"/>
            </p:cNvSpPr>
            <p:nvPr/>
          </p:nvSpPr>
          <p:spPr bwMode="auto">
            <a:xfrm>
              <a:off x="5130" y="2016"/>
              <a:ext cx="378" cy="1552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vert="eaVert" wrap="squar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folHlink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氧化锆单相陶瓷</a:t>
              </a:r>
              <a:endPara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fol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-142875"/>
            <a:ext cx="5786438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</a:rPr>
              <a:t>4.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氧化锆陶瓷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4582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207010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4583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575358" y="6514783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3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dvAuto="1000" build="p"/>
      <p:bldP spid="1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79765" y="828968"/>
            <a:ext cx="8629650" cy="295232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在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氧化锆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中加入某些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氧化物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如</a:t>
            </a:r>
            <a:r>
              <a:rPr kumimoji="1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CaO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b="1" i="0" u="none" strike="noStrike" kern="120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MgO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、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Y</a:t>
            </a:r>
            <a:r>
              <a:rPr kumimoji="1" lang="en-US" altLang="zh-CN" b="1" i="0" u="none" strike="noStrike" kern="120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O</a:t>
            </a:r>
            <a:r>
              <a:rPr kumimoji="1" lang="en-US" altLang="zh-CN" b="1" i="0" u="none" strike="noStrike" kern="1200" cap="none" spc="0" normalizeH="0" baseline="-2500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3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等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srgbClr val="CCFFFF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)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能形成稳定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立方固溶体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，不再发生相变，具有这种结构的氧化锆称为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完全稳定氧化锆</a:t>
            </a:r>
            <a:r>
              <a:rPr kumimoji="1" lang="en-US" altLang="zh-CN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(FSZ)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，其</a:t>
            </a:r>
            <a:r>
              <a:rPr kumimoji="1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力学性能低，抗热冲击性差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。</a:t>
            </a:r>
            <a:endParaRPr kumimoji="1" lang="en-US" altLang="zh-CN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华文中宋" panose="02010600040101010101" pitchFamily="2" charset="-122"/>
              <a:cs typeface="+mn-cs"/>
            </a:endParaRPr>
          </a:p>
        </p:txBody>
      </p:sp>
      <p:grpSp>
        <p:nvGrpSpPr>
          <p:cNvPr id="2" name="Group 13"/>
          <p:cNvGrpSpPr>
            <a:grpSpLocks noChangeAspect="1"/>
          </p:cNvGrpSpPr>
          <p:nvPr/>
        </p:nvGrpSpPr>
        <p:grpSpPr>
          <a:xfrm>
            <a:off x="6948320" y="3781107"/>
            <a:ext cx="2091070" cy="2675425"/>
            <a:chOff x="3280" y="1545"/>
            <a:chExt cx="1859" cy="2377"/>
          </a:xfrm>
        </p:grpSpPr>
        <p:pic>
          <p:nvPicPr>
            <p:cNvPr id="25609" name="Picture 11" descr="ZrO2陶瓷耐火件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280" y="1545"/>
              <a:ext cx="1859" cy="2377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41996" name="Text Box 12"/>
            <p:cNvSpPr txBox="1">
              <a:spLocks noChangeAspect="1" noChangeArrowheads="1"/>
            </p:cNvSpPr>
            <p:nvPr/>
          </p:nvSpPr>
          <p:spPr bwMode="auto">
            <a:xfrm>
              <a:off x="3600" y="1616"/>
              <a:ext cx="1506" cy="300"/>
            </a:xfrm>
            <a:prstGeom prst="rect">
              <a:avLst/>
            </a:prstGeom>
            <a:noFill/>
            <a:ln w="2857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ZrO</a:t>
              </a:r>
              <a:r>
                <a:rPr kumimoji="1" lang="en-US" altLang="zh-CN" sz="1600" b="1" i="0" u="none" strike="noStrike" kern="1200" cap="none" spc="0" normalizeH="0" baseline="-2500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2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rPr>
                <a:t>陶瓷耐火件</a:t>
              </a:r>
              <a:endParaRPr kumimoji="1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1999" name="Rectangle 15"/>
          <p:cNvSpPr>
            <a:spLocks noChangeArrowheads="1"/>
          </p:cNvSpPr>
          <p:nvPr/>
        </p:nvSpPr>
        <p:spPr bwMode="auto">
          <a:xfrm>
            <a:off x="179512" y="3593465"/>
            <a:ext cx="6624736" cy="30243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减少加入的氧化物数量，</a:t>
            </a:r>
            <a:r>
              <a:rPr kumimoji="1" lang="zh-CN" altLang="en-US" sz="3200" b="1" dirty="0">
                <a:latin typeface="+mn-lt"/>
                <a:ea typeface="华文中宋" panose="02010600040101010101" pitchFamily="2" charset="-122"/>
                <a:cs typeface="+mn-cs"/>
              </a:rPr>
              <a:t>使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部分氧化物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以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四方相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的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形式存在。由于这种材料只使一部分氧化锆稳定，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华文中宋" panose="02010600040101010101" pitchFamily="2" charset="-122"/>
                <a:cs typeface="+mn-cs"/>
              </a:rPr>
              <a:t>所以称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部分稳定氧化锆</a:t>
            </a:r>
            <a:r>
              <a:rPr kumimoji="1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(PSZ)</a:t>
            </a:r>
            <a:r>
              <a:rPr kumimoji="1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。</a:t>
            </a:r>
            <a:r>
              <a:rPr kumimoji="1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  <a:cs typeface="+mn-cs"/>
              </a:rPr>
              <a:t>    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-142875"/>
            <a:ext cx="5786438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4. 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氧化锆陶瓷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560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827530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560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2195" y="6617970"/>
            <a:ext cx="457200" cy="24003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99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19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dvAuto="1000" build="p"/>
      <p:bldP spid="41999" grpId="0" advAuto="1000" build="p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357505" y="828675"/>
            <a:ext cx="8610600" cy="3448050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氧化锆</a:t>
            </a:r>
            <a:r>
              <a:rPr lang="zh-CN" altLang="en-US" b="1" dirty="0">
                <a:ea typeface="华文中宋" panose="02010600040101010101" pitchFamily="2" charset="-122"/>
              </a:rPr>
              <a:t>中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四方相</a:t>
            </a:r>
            <a:r>
              <a:rPr lang="zh-CN" altLang="en-US" b="1" dirty="0">
                <a:ea typeface="华文中宋" panose="02010600040101010101" pitchFamily="2" charset="-122"/>
              </a:rPr>
              <a:t>向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单斜相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转变可</a:t>
            </a:r>
            <a:r>
              <a:rPr lang="zh-CN" altLang="en-US" b="1" dirty="0">
                <a:ea typeface="华文中宋" panose="02010600040101010101" pitchFamily="2" charset="-122"/>
              </a:rPr>
              <a:t>通过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应力诱发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产生。【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应力诱导相变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】</a:t>
            </a: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b="1" dirty="0">
                <a:ea typeface="华文中宋" panose="02010600040101010101" pitchFamily="2" charset="-122"/>
              </a:rPr>
              <a:t>当受到外力作用时，这种相变将吸收能量而使裂纹尖端的应力场松弛，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增加</a:t>
            </a:r>
            <a:r>
              <a:rPr lang="zh-CN" altLang="en-US" b="1" dirty="0">
                <a:ea typeface="华文中宋" panose="02010600040101010101" pitchFamily="2" charset="-122"/>
              </a:rPr>
              <a:t>裂纹扩展阻力，从而大幅度提高陶瓷材料的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韧性</a:t>
            </a:r>
            <a:r>
              <a:rPr lang="zh-CN" altLang="en-US" b="1" dirty="0">
                <a:ea typeface="华文中宋" panose="02010600040101010101" pitchFamily="2" charset="-122"/>
              </a:rPr>
              <a:t>。【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相变增韧</a:t>
            </a:r>
            <a:r>
              <a:rPr lang="zh-CN" altLang="en-US" b="1" dirty="0">
                <a:ea typeface="华文中宋" panose="02010600040101010101" pitchFamily="2" charset="-122"/>
              </a:rPr>
              <a:t>】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pic>
        <p:nvPicPr>
          <p:cNvPr id="26627" name="Picture 5" descr="部分稳定氧化锆组织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057015" y="4276725"/>
            <a:ext cx="2862580" cy="2676525"/>
          </a:xfrm>
          <a:prstGeom prst="rect">
            <a:avLst/>
          </a:prstGeom>
          <a:noFill/>
          <a:ln w="28575" cap="flat" cmpd="sng">
            <a:noFill/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6628" name="Rectangle 7"/>
          <p:cNvSpPr/>
          <p:nvPr/>
        </p:nvSpPr>
        <p:spPr>
          <a:xfrm>
            <a:off x="4122103" y="6553200"/>
            <a:ext cx="2438400" cy="304800"/>
          </a:xfrm>
          <a:prstGeom prst="rect">
            <a:avLst/>
          </a:prstGeom>
          <a:solidFill>
            <a:schemeClr val="tx1"/>
          </a:solidFill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lvl="0" algn="ctr" eaLnBrk="1" hangingPunct="1"/>
            <a:r>
              <a:rPr lang="zh-CN" altLang="en-US" sz="2000" b="1" dirty="0">
                <a:solidFill>
                  <a:srgbClr val="8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部分稳定氧化锆组织</a:t>
            </a:r>
            <a:endParaRPr lang="zh-CN" altLang="en-US" sz="2000" b="1" dirty="0">
              <a:solidFill>
                <a:srgbClr val="8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-142875"/>
            <a:ext cx="5786438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4.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氧化锆陶瓷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663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792605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663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50605" y="6553200"/>
            <a:ext cx="457200" cy="30480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0" name="内容占位符 1" descr="新校徽（3M）弓之乐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advAuto="1000" build="p"/>
      <p:bldP spid="9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/>
          </p:cNvSpPr>
          <p:nvPr>
            <p:ph idx="1"/>
          </p:nvPr>
        </p:nvSpPr>
        <p:spPr>
          <a:xfrm>
            <a:off x="179070" y="972820"/>
            <a:ext cx="6073775" cy="5214620"/>
          </a:xfrm>
        </p:spPr>
        <p:txBody>
          <a:bodyPr vert="horz" wrap="square" lIns="91440" tIns="45720" rIns="91440" bIns="45720" anchor="t"/>
          <a:lstStyle/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部分稳定氧化锆</a:t>
            </a:r>
            <a:r>
              <a:rPr lang="zh-CN" altLang="en-US" b="1" dirty="0">
                <a:ea typeface="华文中宋" panose="02010600040101010101" pitchFamily="2" charset="-122"/>
              </a:rPr>
              <a:t>的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导热率低，绝热性好</a:t>
            </a:r>
            <a:r>
              <a:rPr lang="zh-CN" altLang="en-US" b="1" dirty="0">
                <a:ea typeface="华文中宋" panose="02010600040101010101" pitchFamily="2" charset="-122"/>
              </a:rPr>
              <a:t>；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热膨胀系数大（</a:t>
            </a:r>
            <a:r>
              <a:rPr lang="zh-CN" altLang="en-US" b="1" dirty="0">
                <a:ea typeface="华文中宋" panose="02010600040101010101" pitchFamily="2" charset="-122"/>
              </a:rPr>
              <a:t>接近于发动机中使用的金属），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抗弯强度</a:t>
            </a:r>
            <a:r>
              <a:rPr lang="zh-CN" altLang="en-US" b="1" dirty="0">
                <a:ea typeface="华文中宋" panose="02010600040101010101" pitchFamily="2" charset="-122"/>
              </a:rPr>
              <a:t>与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断裂韧性高。</a:t>
            </a:r>
            <a:endParaRPr lang="en-US" altLang="zh-CN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endParaRPr lang="zh-CN" altLang="en-US" b="1" dirty="0">
              <a:solidFill>
                <a:srgbClr val="FFFF00"/>
              </a:solidFill>
              <a:ea typeface="华文中宋" panose="02010600040101010101" pitchFamily="2" charset="-122"/>
            </a:endParaRPr>
          </a:p>
          <a:p>
            <a:pPr eaLnBrk="1" latinLnBrk="0" hangingPunct="1">
              <a:lnSpc>
                <a:spcPct val="120000"/>
              </a:lnSpc>
              <a:spcBef>
                <a:spcPts val="0"/>
              </a:spcBef>
            </a:pP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应用：</a:t>
            </a:r>
            <a:r>
              <a:rPr lang="zh-CN" altLang="en-US" b="1" dirty="0">
                <a:ea typeface="华文中宋" panose="02010600040101010101" pitchFamily="2" charset="-122"/>
              </a:rPr>
              <a:t>除在常温下使用外，已成为</a:t>
            </a:r>
            <a:r>
              <a:rPr lang="zh-CN" altLang="en-US" b="1" dirty="0">
                <a:solidFill>
                  <a:srgbClr val="FF0000"/>
                </a:solidFill>
                <a:ea typeface="华文中宋" panose="02010600040101010101" pitchFamily="2" charset="-122"/>
              </a:rPr>
              <a:t>绝热柴油机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的主要侯选材料</a:t>
            </a:r>
            <a:r>
              <a:rPr lang="zh-CN" altLang="en-US" b="1" dirty="0">
                <a:ea typeface="华文中宋" panose="02010600040101010101" pitchFamily="2" charset="-122"/>
              </a:rPr>
              <a:t>，如</a:t>
            </a:r>
            <a:r>
              <a:rPr lang="zh-CN" altLang="en-US" b="1" dirty="0">
                <a:solidFill>
                  <a:srgbClr val="FFFF00"/>
                </a:solidFill>
                <a:ea typeface="华文中宋" panose="02010600040101010101" pitchFamily="2" charset="-122"/>
              </a:rPr>
              <a:t>发动机汽缸内衬、推杆、活塞帽、阀座、凸轮、轴承</a:t>
            </a:r>
            <a:r>
              <a:rPr lang="zh-CN" altLang="en-US" b="1" dirty="0">
                <a:ea typeface="华文中宋" panose="02010600040101010101" pitchFamily="2" charset="-122"/>
              </a:rPr>
              <a:t>等</a:t>
            </a:r>
            <a:r>
              <a:rPr lang="en-US" altLang="zh-CN" b="1" dirty="0">
                <a:ea typeface="华文中宋" panose="02010600040101010101" pitchFamily="2" charset="-122"/>
              </a:rPr>
              <a:t>.</a:t>
            </a:r>
            <a:r>
              <a:rPr lang="zh-CN" altLang="en-US" b="1" dirty="0">
                <a:ea typeface="华文中宋" panose="02010600040101010101" pitchFamily="2" charset="-122"/>
              </a:rPr>
              <a:t>。</a:t>
            </a:r>
            <a:endParaRPr lang="zh-CN" altLang="en-US" b="1" dirty="0">
              <a:ea typeface="华文中宋" panose="02010600040101010101" pitchFamily="2" charset="-122"/>
            </a:endParaRPr>
          </a:p>
        </p:txBody>
      </p:sp>
      <p:grpSp>
        <p:nvGrpSpPr>
          <p:cNvPr id="2" name="Group 17"/>
          <p:cNvGrpSpPr/>
          <p:nvPr/>
        </p:nvGrpSpPr>
        <p:grpSpPr>
          <a:xfrm>
            <a:off x="6680200" y="1428750"/>
            <a:ext cx="2572385" cy="4418965"/>
            <a:chOff x="3150" y="528"/>
            <a:chExt cx="2220" cy="3261"/>
          </a:xfrm>
        </p:grpSpPr>
        <p:pic>
          <p:nvPicPr>
            <p:cNvPr id="27656" name="Picture 11" descr="Mg-PSZ制品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150" y="577"/>
              <a:ext cx="2047" cy="2298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pic>
          <p:nvPicPr>
            <p:cNvPr id="27657" name="Picture 12" descr="部分稳定氧化锆件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50" y="2935"/>
              <a:ext cx="2047" cy="854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sp>
          <p:nvSpPr>
            <p:cNvPr id="27658" name="Text Box 15"/>
            <p:cNvSpPr txBox="1">
              <a:spLocks noChangeAspect="1"/>
            </p:cNvSpPr>
            <p:nvPr/>
          </p:nvSpPr>
          <p:spPr>
            <a:xfrm>
              <a:off x="3150" y="528"/>
              <a:ext cx="2220" cy="294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>
              <a:spAutoFit/>
            </a:bodyPr>
            <a:lstStyle/>
            <a:p>
              <a:pPr lvl="0" eaLnBrk="1" hangingPunct="1">
                <a:spcBef>
                  <a:spcPct val="50000"/>
                </a:spcBef>
              </a:pPr>
              <a:r>
                <a:rPr lang="zh-CN" altLang="en-US" sz="2000" b="1" dirty="0">
                  <a:solidFill>
                    <a:srgbClr val="FFFF00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rPr>
                <a:t>部分稳定氧化锆制品</a:t>
              </a:r>
              <a:endParaRPr lang="zh-CN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3125" y="-142875"/>
            <a:ext cx="5786438" cy="97155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b="1" dirty="0">
                <a:ea typeface="华文中宋" panose="02010600040101010101" pitchFamily="2" charset="-122"/>
              </a:rPr>
              <a:t>4.</a:t>
            </a: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氧化锆陶瓷</a:t>
            </a:r>
            <a:endParaRPr kumimoji="1" lang="zh-CN" altLang="en-US" sz="4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sp>
        <p:nvSpPr>
          <p:cNvPr id="276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97015"/>
            <a:ext cx="1896110" cy="260985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7655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96380"/>
            <a:ext cx="457200" cy="26162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11" name="内容占位符 1" descr="新校徽（3M）弓之乐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3" grpId="0" advAuto="1000" build="p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00505" y="109855"/>
            <a:ext cx="6457950" cy="70929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华文中宋" panose="02010600040101010101" pitchFamily="2" charset="-122"/>
                <a:cs typeface="+mj-cs"/>
              </a:rPr>
              <a:t>氧化锆制品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华文中宋" panose="02010600040101010101" pitchFamily="2" charset="-122"/>
              <a:cs typeface="+mj-cs"/>
            </a:endParaRPr>
          </a:p>
        </p:txBody>
      </p:sp>
      <p:grpSp>
        <p:nvGrpSpPr>
          <p:cNvPr id="2" name="Group 29"/>
          <p:cNvGrpSpPr>
            <a:grpSpLocks noChangeAspect="1"/>
          </p:cNvGrpSpPr>
          <p:nvPr/>
        </p:nvGrpSpPr>
        <p:grpSpPr>
          <a:xfrm>
            <a:off x="457200" y="1066800"/>
            <a:ext cx="8277225" cy="5360988"/>
            <a:chOff x="144" y="672"/>
            <a:chExt cx="5472" cy="3544"/>
          </a:xfrm>
        </p:grpSpPr>
        <p:pic>
          <p:nvPicPr>
            <p:cNvPr id="28679" name="Picture 9" descr="ZrO柱塞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788" y="2688"/>
              <a:ext cx="2160" cy="1202"/>
            </a:xfrm>
            <a:prstGeom prst="rect">
              <a:avLst/>
            </a:prstGeom>
            <a:noFill/>
            <a:ln w="28575" cap="flat" cmpd="sng">
              <a:noFill/>
              <a:prstDash val="solid"/>
              <a:miter/>
              <a:headEnd type="none" w="med" len="med"/>
              <a:tailEnd type="none" w="med" len="med"/>
            </a:ln>
          </p:spPr>
        </p:pic>
        <p:grpSp>
          <p:nvGrpSpPr>
            <p:cNvPr id="28680" name="Group 28"/>
            <p:cNvGrpSpPr>
              <a:grpSpLocks noChangeAspect="1"/>
            </p:cNvGrpSpPr>
            <p:nvPr/>
          </p:nvGrpSpPr>
          <p:grpSpPr>
            <a:xfrm>
              <a:off x="144" y="672"/>
              <a:ext cx="5472" cy="3544"/>
              <a:chOff x="192" y="672"/>
              <a:chExt cx="5472" cy="3544"/>
            </a:xfrm>
          </p:grpSpPr>
          <p:pic>
            <p:nvPicPr>
              <p:cNvPr id="28681" name="Picture 5" descr="ZrO抽油泵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288" y="2688"/>
                <a:ext cx="1367" cy="121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82" name="Text Box 11"/>
              <p:cNvSpPr txBox="1">
                <a:spLocks noChangeAspect="1"/>
              </p:cNvSpPr>
              <p:nvPr/>
            </p:nvSpPr>
            <p:spPr>
              <a:xfrm>
                <a:off x="192" y="3918"/>
                <a:ext cx="1536" cy="2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氧化锆油泵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8683" name="Text Box 12"/>
              <p:cNvSpPr txBox="1">
                <a:spLocks noChangeAspect="1"/>
              </p:cNvSpPr>
              <p:nvPr/>
            </p:nvSpPr>
            <p:spPr>
              <a:xfrm>
                <a:off x="2181" y="3914"/>
                <a:ext cx="1488" cy="2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氧化柱塞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4" name="Picture 7" descr="ZrO拉线轮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496" y="716"/>
                <a:ext cx="1551" cy="1599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85" name="Text Box 13"/>
              <p:cNvSpPr txBox="1">
                <a:spLocks noChangeAspect="1"/>
              </p:cNvSpPr>
              <p:nvPr/>
            </p:nvSpPr>
            <p:spPr>
              <a:xfrm>
                <a:off x="2544" y="2304"/>
                <a:ext cx="1488" cy="2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氧化锆拉线轮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6" name="Picture 8" descr="ZrO球阀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176" y="1929"/>
                <a:ext cx="1440" cy="2030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87" name="Text Box 14"/>
              <p:cNvSpPr txBox="1">
                <a:spLocks noChangeAspect="1"/>
              </p:cNvSpPr>
              <p:nvPr/>
            </p:nvSpPr>
            <p:spPr>
              <a:xfrm>
                <a:off x="4128" y="3954"/>
                <a:ext cx="1488" cy="2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氧化锆球阀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88" name="Picture 17" descr="部分稳定氧化锆喷涂层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240" y="716"/>
                <a:ext cx="2153" cy="1634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89" name="Text Box 23"/>
              <p:cNvSpPr txBox="1">
                <a:spLocks noChangeAspect="1"/>
              </p:cNvSpPr>
              <p:nvPr/>
            </p:nvSpPr>
            <p:spPr>
              <a:xfrm>
                <a:off x="279" y="2348"/>
                <a:ext cx="2112" cy="262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>
                <a:spAutoFit/>
              </a:bodyPr>
              <a:lstStyle/>
              <a:p>
                <a:pPr lvl="0" algn="ctr" eaLnBrk="1" hangingPunct="1">
                  <a:spcBef>
                    <a:spcPct val="50000"/>
                  </a:spcBef>
                </a:pPr>
                <a:r>
                  <a:rPr lang="zh-CN" altLang="en-US" sz="2000" b="1" dirty="0">
                    <a:solidFill>
                      <a:schemeClr val="folHlin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部分稳定氧化锆喷涂层</a:t>
                </a:r>
                <a:endParaRPr lang="zh-CN" altLang="en-US" sz="2000" b="1" dirty="0">
                  <a:solidFill>
                    <a:schemeClr val="folHlink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pic>
            <p:nvPicPr>
              <p:cNvPr id="28690" name="Picture 26" descr="氧化锆陶瓷（增韧）导轮芯轴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128" y="720"/>
                <a:ext cx="1489" cy="1133"/>
              </a:xfrm>
              <a:prstGeom prst="rect">
                <a:avLst/>
              </a:prstGeom>
              <a:noFill/>
              <a:ln w="28575" cap="flat" cmpd="sng">
                <a:noFill/>
                <a:prstDash val="solid"/>
                <a:miter/>
                <a:headEnd type="none" w="med" len="med"/>
                <a:tailEnd type="none" w="med" len="med"/>
              </a:ln>
            </p:spPr>
          </p:pic>
          <p:sp>
            <p:nvSpPr>
              <p:cNvPr id="28691" name="Text Box 27"/>
              <p:cNvSpPr txBox="1">
                <a:spLocks noChangeAspect="1"/>
              </p:cNvSpPr>
              <p:nvPr/>
            </p:nvSpPr>
            <p:spPr>
              <a:xfrm>
                <a:off x="5381" y="672"/>
                <a:ext cx="283" cy="129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vert="eaVert">
                <a:spAutoFit/>
              </a:bodyPr>
              <a:lstStyle/>
              <a:p>
                <a:pPr lvl="0" eaLnBrk="1" hangingPunct="1">
                  <a:spcBef>
                    <a:spcPct val="50000"/>
                  </a:spcBef>
                </a:pPr>
                <a:r>
                  <a:rPr lang="zh-CN" altLang="en-US" sz="1600" b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增韧氧化锆导轮芯轴</a:t>
                </a:r>
                <a:endParaRPr lang="zh-CN" altLang="en-US" sz="1600" b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</p:grpSp>
      <p:sp>
        <p:nvSpPr>
          <p:cNvPr id="28677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86220"/>
            <a:ext cx="2046605" cy="27178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8678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61400" y="6586220"/>
            <a:ext cx="457200" cy="271780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20" name="内容占位符 1" descr="新校徽（3M）弓之乐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071880" y="116205"/>
            <a:ext cx="7315200" cy="907415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作业（</a:t>
            </a:r>
            <a:r>
              <a:rPr kumimoji="1" lang="zh-CN" altLang="en-US" sz="3200" b="1" i="0" u="none" strike="noStrike" kern="0" cap="none" spc="0" normalizeH="0" baseline="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P16</a:t>
            </a:r>
            <a:r>
              <a:rPr kumimoji="1" lang="en-US" altLang="zh-CN" sz="3200" b="1" i="0" u="none" strike="noStrike" kern="0" cap="none" spc="0" normalizeH="0" baseline="0" dirty="0">
                <a:solidFill>
                  <a:schemeClr val="tx1"/>
                </a:solidFill>
                <a:latin typeface="+mn-lt"/>
                <a:ea typeface="华文中宋" panose="02010600040101010101" pitchFamily="2" charset="-122"/>
                <a:cs typeface="+mn-cs"/>
              </a:rPr>
              <a:t>2</a:t>
            </a:r>
            <a:r>
              <a:rPr kumimoji="1" lang="zh-CN" altLang="en-US" sz="44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）</a:t>
            </a:r>
            <a:endParaRPr kumimoji="1" lang="zh-CN" altLang="en-US" sz="44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969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en-US" altLang="zh-CN" dirty="0"/>
              <a:t>7-6</a:t>
            </a:r>
            <a:r>
              <a:rPr lang="zh-CN" altLang="en-US" dirty="0"/>
              <a:t>、</a:t>
            </a:r>
            <a:r>
              <a:rPr lang="en-US" altLang="zh-CN" dirty="0"/>
              <a:t>7-7</a:t>
            </a:r>
            <a:r>
              <a:rPr lang="zh-CN" altLang="en-US" dirty="0"/>
              <a:t>、</a:t>
            </a:r>
            <a:r>
              <a:rPr lang="en-US" altLang="zh-CN"/>
              <a:t>7-10</a:t>
            </a:r>
            <a:endParaRPr lang="en-US" altLang="zh-CN" dirty="0"/>
          </a:p>
        </p:txBody>
      </p:sp>
      <p:sp>
        <p:nvSpPr>
          <p:cNvPr id="29701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0" y="6515100"/>
            <a:ext cx="1643063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sp>
        <p:nvSpPr>
          <p:cNvPr id="29702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71878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Line 4"/>
          <p:cNvSpPr>
            <a:spLocks noChangeShapeType="1"/>
          </p:cNvSpPr>
          <p:nvPr/>
        </p:nvSpPr>
        <p:spPr bwMode="auto">
          <a:xfrm flipV="1">
            <a:off x="-3175" y="914400"/>
            <a:ext cx="9147175" cy="22225"/>
          </a:xfrm>
          <a:prstGeom prst="line">
            <a:avLst/>
          </a:prstGeom>
          <a:noFill/>
          <a:ln w="57150" cmpd="thinThick">
            <a:solidFill>
              <a:srgbClr val="CC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8686800" y="6510338"/>
            <a:ext cx="457200" cy="347662"/>
          </a:xfrm>
        </p:spPr>
        <p:txBody>
          <a:bodyPr lIns="92075" tIns="46038" rIns="92075" bIns="46038" anchor="ctr"/>
          <a:lstStyle/>
          <a:p>
            <a:pPr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3568" y="2132856"/>
            <a:ext cx="6529388" cy="1440160"/>
          </a:xfrm>
        </p:spPr>
        <p:txBody>
          <a:bodyPr vert="horz" wrap="square" lIns="92075" tIns="46038" rIns="92075" bIns="46038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8800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Thanks</a:t>
            </a:r>
            <a:endParaRPr kumimoji="1" lang="zh-CN" altLang="en-US" sz="8800" b="0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3254" name="日期占位符 1"/>
          <p:cNvSpPr txBox="1">
            <a:spLocks noGrp="1"/>
          </p:cNvSpPr>
          <p:nvPr>
            <p:ph type="dt" sz="half" idx="10"/>
          </p:nvPr>
        </p:nvSpPr>
        <p:spPr>
          <a:xfrm>
            <a:off x="142875" y="6515100"/>
            <a:ext cx="1785938" cy="342900"/>
          </a:xfrm>
        </p:spPr>
        <p:txBody>
          <a:bodyPr lIns="92075" tIns="46038" rIns="92075" bIns="46038" anchor="ctr"/>
          <a:lstStyle/>
          <a:p>
            <a:pPr eaLnBrk="1" hangingPunct="1"/>
            <a:fld id="{BB962C8B-B14F-4D97-AF65-F5344CB8AC3E}" type="datetime8">
              <a:rPr lang="en-US" altLang="zh-CN" dirty="0"/>
            </a:fld>
            <a:endParaRPr lang="en-US" altLang="zh-CN" dirty="0"/>
          </a:p>
        </p:txBody>
      </p:sp>
      <p:pic>
        <p:nvPicPr>
          <p:cNvPr id="7" name="内容占位符 1" descr="新校徽（3M）弓之乐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19685" y="3175"/>
            <a:ext cx="746760" cy="7359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2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3.xml><?xml version="1.0" encoding="utf-8"?>
<p:tagLst xmlns:p="http://schemas.openxmlformats.org/presentationml/2006/main">
  <p:tag name="KSO_WM_DIAGRAM_VIRTUALLY_FRAME" val="{&quot;height&quot;:318.7,&quot;left&quot;:85.95,&quot;top&quot;:160.3,&quot;width&quot;:794.7}"/>
</p:tagLst>
</file>

<file path=ppt/tags/tag4.xml><?xml version="1.0" encoding="utf-8"?>
<p:tagLst xmlns:p="http://schemas.openxmlformats.org/presentationml/2006/main">
  <p:tag name="KSO_WM_DOC_GUID" val="{1ac4fe1b-b19f-49b5-97f4-39d93bbf7277}"/>
</p:tagLst>
</file>

<file path=ppt/theme/theme1.xml><?xml version="1.0" encoding="utf-8"?>
<a:theme xmlns:a="http://schemas.openxmlformats.org/drawingml/2006/main" name="Soaring">
  <a:themeElements>
    <a:clrScheme name="Soari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Soaring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oari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oari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oari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FF"/>
    </a:dk2>
    <a:lt2>
      <a:srgbClr val="FFCC66"/>
    </a:lt2>
    <a:accent1>
      <a:srgbClr val="00FFFF"/>
    </a:accent1>
    <a:accent2>
      <a:srgbClr val="3366FF"/>
    </a:accent2>
    <a:accent3>
      <a:srgbClr val="AAAAFF"/>
    </a:accent3>
    <a:accent4>
      <a:srgbClr val="DADADA"/>
    </a:accent4>
    <a:accent5>
      <a:srgbClr val="AAFFFF"/>
    </a:accent5>
    <a:accent6>
      <a:srgbClr val="2D5CE7"/>
    </a:accent6>
    <a:hlink>
      <a:srgbClr val="FF0033"/>
    </a:hlink>
    <a:folHlink>
      <a:srgbClr val="FFFF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Designs\Soaring.pot</Template>
  <TotalTime>0</TotalTime>
  <Words>3291</Words>
  <Application>WPS 演示</Application>
  <PresentationFormat>全屏显示(4:3)</PresentationFormat>
  <Paragraphs>496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4" baseType="lpstr">
      <vt:lpstr>Arial</vt:lpstr>
      <vt:lpstr>宋体</vt:lpstr>
      <vt:lpstr>Wingdings</vt:lpstr>
      <vt:lpstr>Times New Roman</vt:lpstr>
      <vt:lpstr>华文中宋</vt:lpstr>
      <vt:lpstr>仿宋_GB2312</vt:lpstr>
      <vt:lpstr>仿宋</vt:lpstr>
      <vt:lpstr>微软雅黑</vt:lpstr>
      <vt:lpstr>Arial Unicode MS</vt:lpstr>
      <vt:lpstr>Times New Roman</vt:lpstr>
      <vt:lpstr>隶书</vt:lpstr>
      <vt:lpstr>Arial Unicode MS</vt:lpstr>
      <vt:lpstr>Tahoma</vt:lpstr>
      <vt:lpstr>仿宋_GB2312</vt:lpstr>
      <vt:lpstr>Soaring</vt:lpstr>
      <vt:lpstr>U2041170  《工程材料与成型技术》 Engineering Materials and Forming Technology   44+4学时，3学分</vt:lpstr>
      <vt:lpstr>第七章  陶瓷材料 Ceramic Materials </vt:lpstr>
      <vt:lpstr>本章主要教学目标 Learning Objectives</vt:lpstr>
      <vt:lpstr>第七章  陶瓷材料 </vt:lpstr>
      <vt:lpstr>内容提要 </vt:lpstr>
      <vt:lpstr>第一节  陶瓷材料概述 Overview on Ceramics</vt:lpstr>
      <vt:lpstr>第一节  陶瓷材料概述</vt:lpstr>
      <vt:lpstr>一、陶瓷材料的特点 </vt:lpstr>
      <vt:lpstr>一、陶瓷材料的特点 ——1、陶瓷材料的相组成特点 </vt:lpstr>
      <vt:lpstr>陶瓷材料的相组成</vt:lpstr>
      <vt:lpstr>2、陶瓷材料的结合键特点</vt:lpstr>
      <vt:lpstr>3、陶瓷材料的性能特点 </vt:lpstr>
      <vt:lpstr>4、陶瓷材料的工艺特点</vt:lpstr>
      <vt:lpstr>二、陶瓷材料的分类  Classification of ceramic materials</vt:lpstr>
      <vt:lpstr>二、陶瓷材料的分类</vt:lpstr>
      <vt:lpstr>第二节  常用工业陶瓷 Industrial Ceramics </vt:lpstr>
      <vt:lpstr>第二节  常用工业陶瓷 </vt:lpstr>
      <vt:lpstr>一、普通陶瓷 </vt:lpstr>
      <vt:lpstr>一、普通陶瓷 </vt:lpstr>
      <vt:lpstr>二、新型结构陶瓷  New structural ceramics</vt:lpstr>
      <vt:lpstr>二、新型结构陶瓷</vt:lpstr>
      <vt:lpstr>二、新型结构陶瓷   ——1.氧化铝陶瓷 </vt:lpstr>
      <vt:lpstr>二、新型结构陶瓷—氧化铝陶瓷 </vt:lpstr>
      <vt:lpstr>二、新型结构陶瓷—氧化铝陶瓷 </vt:lpstr>
      <vt:lpstr>二、新型结构陶瓷——2.氮化硅（Si3N4）陶瓷</vt:lpstr>
      <vt:lpstr>二、新型结构陶瓷——2.氮化硅（Si3N4）陶瓷</vt:lpstr>
      <vt:lpstr>2.氮化硅（Si3N4）陶瓷</vt:lpstr>
      <vt:lpstr>2.氮化硅（Si3N4）陶瓷</vt:lpstr>
      <vt:lpstr>3.碳化硅（SiC）陶瓷</vt:lpstr>
      <vt:lpstr>3.碳化硅（SiC）陶瓷</vt:lpstr>
      <vt:lpstr>3.碳化硅（SiC）陶瓷</vt:lpstr>
      <vt:lpstr>3. 碳化硅（SiC）陶瓷</vt:lpstr>
      <vt:lpstr>4.氧化锆陶瓷</vt:lpstr>
      <vt:lpstr>4. 氧化锆陶瓷</vt:lpstr>
      <vt:lpstr>4.氧化锆陶瓷</vt:lpstr>
      <vt:lpstr>4.氧化锆陶瓷</vt:lpstr>
      <vt:lpstr>氧化锆制品</vt:lpstr>
      <vt:lpstr>作业（P162）</vt:lpstr>
      <vt:lpstr>Thanks</vt:lpstr>
    </vt:vector>
  </TitlesOfParts>
  <Company>dlut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第十一章  陶瓷材料</dc:title>
  <dc:creator>yys</dc:creator>
  <cp:lastModifiedBy>LIGHCUMTB</cp:lastModifiedBy>
  <cp:revision>181</cp:revision>
  <dcterms:created xsi:type="dcterms:W3CDTF">2002-06-22T15:31:00Z</dcterms:created>
  <dcterms:modified xsi:type="dcterms:W3CDTF">2024-12-02T01:10:01Z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2052-12.1.0.18912</vt:lpwstr>
  </property>
  <property fmtid="{D5CDD505-2E9C-101B-9397-08002B2CF9AE}" pid="3" name="ICV">
    <vt:lpwstr>5F490BC1A6554E0FB4614B32BA23998B_12</vt:lpwstr>
  </property>
</Properties>
</file>