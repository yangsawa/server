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sldIdLst>
    <p:sldId id="442" r:id="rId2"/>
    <p:sldId id="443" r:id="rId3"/>
    <p:sldId id="288" r:id="rId4"/>
    <p:sldId id="281" r:id="rId5"/>
    <p:sldId id="290" r:id="rId6"/>
    <p:sldId id="289" r:id="rId7"/>
    <p:sldId id="403" r:id="rId8"/>
    <p:sldId id="257" r:id="rId9"/>
    <p:sldId id="258" r:id="rId10"/>
    <p:sldId id="411" r:id="rId11"/>
    <p:sldId id="259" r:id="rId12"/>
    <p:sldId id="402" r:id="rId13"/>
    <p:sldId id="260" r:id="rId14"/>
    <p:sldId id="410" r:id="rId15"/>
    <p:sldId id="262" r:id="rId16"/>
    <p:sldId id="401" r:id="rId17"/>
    <p:sldId id="263" r:id="rId18"/>
    <p:sldId id="264" r:id="rId19"/>
    <p:sldId id="265" r:id="rId20"/>
    <p:sldId id="293" r:id="rId21"/>
    <p:sldId id="266" r:id="rId22"/>
    <p:sldId id="404" r:id="rId23"/>
    <p:sldId id="405" r:id="rId24"/>
    <p:sldId id="406" r:id="rId25"/>
    <p:sldId id="267" r:id="rId26"/>
    <p:sldId id="268" r:id="rId27"/>
    <p:sldId id="269" r:id="rId28"/>
    <p:sldId id="270" r:id="rId29"/>
    <p:sldId id="407" r:id="rId30"/>
    <p:sldId id="272" r:id="rId31"/>
    <p:sldId id="271" r:id="rId32"/>
    <p:sldId id="273" r:id="rId33"/>
    <p:sldId id="274" r:id="rId34"/>
    <p:sldId id="275" r:id="rId35"/>
    <p:sldId id="276" r:id="rId36"/>
    <p:sldId id="408" r:id="rId37"/>
    <p:sldId id="409" r:id="rId38"/>
    <p:sldId id="285" r:id="rId39"/>
    <p:sldId id="286" r:id="rId40"/>
    <p:sldId id="400" r:id="rId41"/>
  </p:sldIdLst>
  <p:sldSz cx="9144000" cy="6858000" type="screen4x3"/>
  <p:notesSz cx="6858000" cy="9144000"/>
  <p:custDataLst>
    <p:tags r:id="rId43"/>
  </p:custDataLst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  <a:srgbClr val="FFFF00"/>
    <a:srgbClr val="000066"/>
    <a:srgbClr val="800000"/>
    <a:srgbClr val="CAF7FA"/>
    <a:srgbClr val="66FFFF"/>
    <a:srgbClr val="CC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904"/>
    <p:restoredTop sz="94486"/>
  </p:normalViewPr>
  <p:slideViewPr>
    <p:cSldViewPr showGuides="1">
      <p:cViewPr varScale="1">
        <p:scale>
          <a:sx n="70" d="100"/>
          <a:sy n="70" d="100"/>
        </p:scale>
        <p:origin x="549" y="4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gs" Target="tags/tag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12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/>
            <a:fld id="{9A0DB2DC-4C9A-4742-B13C-FB6460FD3503}" type="slidenum">
              <a:rPr lang="en-US" altLang="zh-CN" sz="12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zh-CN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-1035050" y="1552575"/>
            <a:ext cx="10179050" cy="5305425"/>
            <a:chOff x="-652" y="978"/>
            <a:chExt cx="6412" cy="3342"/>
          </a:xfrm>
        </p:grpSpPr>
        <p:sp>
          <p:nvSpPr>
            <p:cNvPr id="11" name="Freeform 3"/>
            <p:cNvSpPr/>
            <p:nvPr/>
          </p:nvSpPr>
          <p:spPr bwMode="auto">
            <a:xfrm>
              <a:off x="2061" y="1707"/>
              <a:ext cx="3699" cy="2613"/>
            </a:xfrm>
            <a:custGeom>
              <a:avLst/>
              <a:gdLst/>
              <a:ahLst/>
              <a:cxnLst>
                <a:cxn ang="0">
                  <a:pos x="1523" y="2611"/>
                </a:cxn>
                <a:cxn ang="0">
                  <a:pos x="3698" y="2612"/>
                </a:cxn>
                <a:cxn ang="0">
                  <a:pos x="3698" y="2228"/>
                </a:cxn>
                <a:cxn ang="0">
                  <a:pos x="0" y="0"/>
                </a:cxn>
                <a:cxn ang="0">
                  <a:pos x="160" y="118"/>
                </a:cxn>
                <a:cxn ang="0">
                  <a:pos x="292" y="219"/>
                </a:cxn>
                <a:cxn ang="0">
                  <a:pos x="441" y="347"/>
                </a:cxn>
                <a:cxn ang="0">
                  <a:pos x="585" y="482"/>
                </a:cxn>
                <a:cxn ang="0">
                  <a:pos x="796" y="711"/>
                </a:cxn>
                <a:cxn ang="0">
                  <a:pos x="983" y="955"/>
                </a:cxn>
                <a:cxn ang="0">
                  <a:pos x="1119" y="1168"/>
                </a:cxn>
                <a:cxn ang="0">
                  <a:pos x="1238" y="1388"/>
                </a:cxn>
                <a:cxn ang="0">
                  <a:pos x="1331" y="1608"/>
                </a:cxn>
                <a:cxn ang="0">
                  <a:pos x="1400" y="1809"/>
                </a:cxn>
                <a:cxn ang="0">
                  <a:pos x="1447" y="1979"/>
                </a:cxn>
                <a:cxn ang="0">
                  <a:pos x="1490" y="2190"/>
                </a:cxn>
                <a:cxn ang="0">
                  <a:pos x="1511" y="2374"/>
                </a:cxn>
                <a:cxn ang="0">
                  <a:pos x="1523" y="2611"/>
                </a:cxn>
              </a:cxnLst>
              <a:rect l="0" t="0" r="r" b="b"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9525" cap="rnd">
              <a:noFill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Arc 4"/>
            <p:cNvSpPr/>
            <p:nvPr/>
          </p:nvSpPr>
          <p:spPr bwMode="auto">
            <a:xfrm>
              <a:off x="-652" y="978"/>
              <a:ext cx="4237" cy="3342"/>
            </a:xfrm>
            <a:custGeom>
              <a:avLst/>
              <a:gdLst>
                <a:gd name="G0" fmla="+- 0 0 0"/>
                <a:gd name="G1" fmla="+- 21231 0 0"/>
                <a:gd name="G2" fmla="+- 21600 0 0"/>
                <a:gd name="T0" fmla="*/ 3977 w 21600"/>
                <a:gd name="T1" fmla="*/ 0 h 21231"/>
                <a:gd name="T2" fmla="*/ 21600 w 21600"/>
                <a:gd name="T3" fmla="*/ 21231 h 21231"/>
                <a:gd name="T4" fmla="*/ 0 w 21600"/>
                <a:gd name="T5" fmla="*/ 21231 h 21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231" fill="none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</a:path>
                <a:path w="21600" h="21231" stroke="0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  <a:lnTo>
                    <a:pt x="0" y="21231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5845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</p:spPr>
        <p:txBody>
          <a:bodyPr anchor="b"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</p:spPr>
        <p:txBody>
          <a:bodyPr lIns="92075" tIns="46038" rIns="92075" bIns="46038"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FBA4085-4E28-454B-B721-A485703586A0}" type="datetime1">
              <a:rPr kumimoji="0" lang="zh-CN" altLang="en-US" b="0" i="0" strike="noStrike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2025/12/11</a:t>
            </a:fld>
            <a:endParaRPr kumimoji="0" lang="en-US" altLang="zh-CN" b="0" i="0" strike="noStrike" kern="1200" cap="none" spc="0" normalizeH="0" baseline="0" noProof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strike="noStrike" kern="1200" cap="none" spc="0" normalizeH="0" baseline="0" noProof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algn="r" eaLnBrk="1" fontAlgn="base" hangingPunct="1"/>
            <a:fld id="{9A0DB2DC-4C9A-4742-B13C-FB6460FD3503}" type="slidenum">
              <a:rPr lang="en-US" altLang="zh-CN" sz="14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D256C7D-A114-4D7C-8F24-028DDDA58086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2025/12/11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en-US" altLang="zh-CN" sz="14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D256C7D-A114-4D7C-8F24-028DDDA58086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2025/12/11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en-US" altLang="zh-CN" sz="14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D256C7D-A114-4D7C-8F24-028DDDA58086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2025/12/11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en-US" altLang="zh-CN" sz="14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D256C7D-A114-4D7C-8F24-028DDDA58086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2025/12/11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en-US" altLang="zh-CN" sz="14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D256C7D-A114-4D7C-8F24-028DDDA58086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2025/12/11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en-US" altLang="zh-CN" sz="14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D256C7D-A114-4D7C-8F24-028DDDA58086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2025/12/11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en-US" altLang="zh-CN" sz="14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D256C7D-A114-4D7C-8F24-028DDDA58086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2025/12/11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en-US" altLang="zh-CN" sz="14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D256C7D-A114-4D7C-8F24-028DDDA58086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2025/12/11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en-US" altLang="zh-CN" sz="14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D256C7D-A114-4D7C-8F24-028DDDA58086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2025/12/11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en-US" altLang="zh-CN" sz="14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D256C7D-A114-4D7C-8F24-028DDDA58086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2025/12/11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en-US" altLang="zh-CN" sz="14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>
          <a:xfrm>
            <a:off x="0" y="1588"/>
            <a:ext cx="9132888" cy="6845300"/>
            <a:chOff x="0" y="1"/>
            <a:chExt cx="5753" cy="4312"/>
          </a:xfrm>
        </p:grpSpPr>
        <p:sp>
          <p:nvSpPr>
            <p:cNvPr id="34819" name="Freeform 3"/>
            <p:cNvSpPr/>
            <p:nvPr/>
          </p:nvSpPr>
          <p:spPr bwMode="auto">
            <a:xfrm>
              <a:off x="3394" y="999"/>
              <a:ext cx="2359" cy="3314"/>
            </a:xfrm>
            <a:custGeom>
              <a:avLst/>
              <a:gdLst/>
              <a:ahLst/>
              <a:cxnLst>
                <a:cxn ang="0">
                  <a:pos x="1905" y="3312"/>
                </a:cxn>
                <a:cxn ang="0">
                  <a:pos x="2358" y="3313"/>
                </a:cxn>
                <a:cxn ang="0">
                  <a:pos x="2358" y="1437"/>
                </a:cxn>
                <a:cxn ang="0">
                  <a:pos x="0" y="0"/>
                </a:cxn>
                <a:cxn ang="0">
                  <a:pos x="201" y="150"/>
                </a:cxn>
                <a:cxn ang="0">
                  <a:pos x="366" y="279"/>
                </a:cxn>
                <a:cxn ang="0">
                  <a:pos x="552" y="441"/>
                </a:cxn>
                <a:cxn ang="0">
                  <a:pos x="732" y="612"/>
                </a:cxn>
                <a:cxn ang="0">
                  <a:pos x="996" y="903"/>
                </a:cxn>
                <a:cxn ang="0">
                  <a:pos x="1230" y="1212"/>
                </a:cxn>
                <a:cxn ang="0">
                  <a:pos x="1400" y="1482"/>
                </a:cxn>
                <a:cxn ang="0">
                  <a:pos x="1548" y="1761"/>
                </a:cxn>
                <a:cxn ang="0">
                  <a:pos x="1665" y="2040"/>
                </a:cxn>
                <a:cxn ang="0">
                  <a:pos x="1751" y="2295"/>
                </a:cxn>
                <a:cxn ang="0">
                  <a:pos x="1809" y="2511"/>
                </a:cxn>
                <a:cxn ang="0">
                  <a:pos x="1863" y="2778"/>
                </a:cxn>
                <a:cxn ang="0">
                  <a:pos x="1890" y="3012"/>
                </a:cxn>
                <a:cxn ang="0">
                  <a:pos x="1905" y="3312"/>
                </a:cxn>
              </a:cxnLst>
              <a:rect l="0" t="0" r="r" b="b"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9525" cap="rnd">
              <a:noFill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20" name="Arc 4"/>
            <p:cNvSpPr/>
            <p:nvPr/>
          </p:nvSpPr>
          <p:spPr bwMode="auto">
            <a:xfrm>
              <a:off x="0" y="1"/>
              <a:ext cx="5298" cy="431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4821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>
              <a:defRPr kumimoji="0"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D256C7D-A114-4D7C-8F24-028DDDA58086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2025/12/11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2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ctr">
              <a:defRPr kumimoji="0"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2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 algn="r" eaLnBrk="1" fontAlgn="base" hangingPunct="1"/>
            <a:fld id="{9A0DB2DC-4C9A-4742-B13C-FB6460FD3503}" type="slidenum">
              <a:rPr lang="en-US" altLang="zh-CN" sz="14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zh-CN" sz="1400" strike="noStrike" noProof="1"/>
          </a:p>
        </p:txBody>
      </p:sp>
      <p:sp>
        <p:nvSpPr>
          <p:cNvPr id="1033" name="Rectangle 9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zh-CN" altLang="en-US" dirty="0"/>
              <a:t>单击此处编辑母版文本样式</a:t>
            </a:r>
          </a:p>
          <a:p>
            <a:pPr lvl="1" indent="-285750"/>
            <a:r>
              <a:rPr lang="zh-CN" altLang="en-US" dirty="0"/>
              <a:t>第二级</a:t>
            </a:r>
          </a:p>
          <a:p>
            <a:pPr lvl="2" indent="-228600"/>
            <a:r>
              <a:rPr lang="zh-CN" altLang="en-US" dirty="0"/>
              <a:t>第三级</a:t>
            </a:r>
          </a:p>
          <a:p>
            <a:pPr lvl="3" indent="-228600"/>
            <a:r>
              <a:rPr lang="zh-CN" altLang="en-US" dirty="0"/>
              <a:t>第四级</a:t>
            </a:r>
          </a:p>
          <a:p>
            <a:pPr lvl="4" indent="-228600"/>
            <a:r>
              <a:rPr lang="zh-CN" altLang="en-US" dirty="0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22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28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日期占位符 1"/>
          <p:cNvSpPr>
            <a:spLocks noGrp="1"/>
          </p:cNvSpPr>
          <p:nvPr>
            <p:ph type="dt" sz="half" idx="4294967295"/>
          </p:nvPr>
        </p:nvSpPr>
        <p:spPr bwMode="auto">
          <a:xfrm>
            <a:off x="107504" y="6373971"/>
            <a:ext cx="1905000" cy="39147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indent="0" rtl="0">
              <a:defRPr/>
            </a:pPr>
            <a:fld id="{9D72BA9C-FB15-451B-B629-448D83FE2D7B}" type="datetime8">
              <a:rPr lang="en-US" smtClean="0"/>
              <a:t>12/11/2025 10:57 AM</a:t>
            </a:fld>
            <a:endParaRPr lang="en-US" altLang="zh-CN" sz="1400" dirty="0"/>
          </a:p>
        </p:txBody>
      </p:sp>
      <p:sp>
        <p:nvSpPr>
          <p:cNvPr id="4098" name="灯片编号占位符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r"/>
            <a:fld id="{9A0DB2DC-4C9A-4742-B13C-FB6460FD3503}" type="slidenum">
              <a:rPr lang="en-US" altLang="zh-CN" sz="1400" noProof="1" smtClean="0">
                <a:cs typeface="+mn-ea"/>
              </a:rPr>
              <a:t>1</a:t>
            </a:fld>
            <a:endParaRPr lang="en-US" altLang="zh-CN" sz="1400" dirty="0"/>
          </a:p>
        </p:txBody>
      </p:sp>
      <p:sp>
        <p:nvSpPr>
          <p:cNvPr id="4099" name="Rectangle 2"/>
          <p:cNvSpPr>
            <a:spLocks noGrp="1"/>
          </p:cNvSpPr>
          <p:nvPr>
            <p:ph type="title" idx="4294967295"/>
          </p:nvPr>
        </p:nvSpPr>
        <p:spPr>
          <a:xfrm>
            <a:off x="397510" y="288290"/>
            <a:ext cx="8699500" cy="6021070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en-US" altLang="zh-CN" sz="6600" b="1" u="sng" dirty="0">
                <a:solidFill>
                  <a:srgbClr val="FF0000"/>
                </a:solidFill>
              </a:rPr>
              <a:t>U2041170</a:t>
            </a:r>
            <a:br>
              <a:rPr lang="en-US" altLang="zh-CN" b="1" u="sng" dirty="0">
                <a:solidFill>
                  <a:srgbClr val="FF0000"/>
                </a:solidFill>
              </a:rPr>
            </a:br>
            <a:br>
              <a:rPr lang="en-US" altLang="zh-CN" b="1" u="sng" dirty="0">
                <a:solidFill>
                  <a:srgbClr val="FF0000"/>
                </a:solidFill>
              </a:rPr>
            </a:br>
            <a:r>
              <a:rPr lang="en-US" altLang="zh-CN" sz="6600" b="1" u="sng" dirty="0">
                <a:solidFill>
                  <a:srgbClr val="FF0000"/>
                </a:solidFill>
              </a:rPr>
              <a:t>《</a:t>
            </a:r>
            <a:r>
              <a:rPr lang="zh-CN" altLang="en-US" sz="6600" b="1" u="sng" dirty="0">
                <a:solidFill>
                  <a:srgbClr val="FF0000"/>
                </a:solidFill>
              </a:rPr>
              <a:t>工程材料与成型技术</a:t>
            </a:r>
            <a:r>
              <a:rPr lang="en-US" altLang="zh-CN" sz="6600" b="1" u="sng" dirty="0">
                <a:solidFill>
                  <a:srgbClr val="FF0000"/>
                </a:solidFill>
              </a:rPr>
              <a:t>》</a:t>
            </a:r>
            <a:br>
              <a:rPr lang="en-US" altLang="zh-CN" u="sng" dirty="0">
                <a:solidFill>
                  <a:srgbClr val="FF0000"/>
                </a:solidFill>
              </a:rPr>
            </a:br>
            <a:r>
              <a:rPr lang="en-US" altLang="zh-CN" u="sng" dirty="0">
                <a:solidFill>
                  <a:srgbClr val="FF0000"/>
                </a:solidFill>
                <a:sym typeface="+mn-ea"/>
              </a:rPr>
              <a:t>Engineering </a:t>
            </a:r>
            <a:r>
              <a:rPr lang="en-US" altLang="zh-CN" u="sng" dirty="0">
                <a:solidFill>
                  <a:srgbClr val="FF0000"/>
                </a:solidFill>
              </a:rPr>
              <a:t>Materials and </a:t>
            </a:r>
            <a:r>
              <a:rPr lang="en-US" altLang="zh-CN" u="sng" dirty="0">
                <a:solidFill>
                  <a:srgbClr val="FF0000"/>
                </a:solidFill>
                <a:sym typeface="+mn-ea"/>
              </a:rPr>
              <a:t>Forming</a:t>
            </a:r>
            <a:r>
              <a:rPr lang="en-US" altLang="zh-CN" u="sng" dirty="0">
                <a:solidFill>
                  <a:srgbClr val="FF0000"/>
                </a:solidFill>
              </a:rPr>
              <a:t> Technology </a:t>
            </a:r>
            <a:br>
              <a:rPr lang="en-US" altLang="zh-CN" u="sng" dirty="0">
                <a:solidFill>
                  <a:schemeClr val="hlink"/>
                </a:solidFill>
              </a:rPr>
            </a:br>
            <a:br>
              <a:rPr lang="en-US" altLang="zh-CN" u="sng" dirty="0">
                <a:solidFill>
                  <a:schemeClr val="hlink"/>
                </a:solidFill>
              </a:rPr>
            </a:br>
            <a:r>
              <a:rPr lang="en-US" altLang="zh-CN" b="1" dirty="0">
                <a:solidFill>
                  <a:schemeClr val="hlink"/>
                </a:solidFill>
              </a:rPr>
              <a:t>44+4</a:t>
            </a:r>
            <a:r>
              <a:rPr lang="zh-CN" altLang="en-US" b="1" dirty="0">
                <a:solidFill>
                  <a:schemeClr val="hlink"/>
                </a:solidFill>
              </a:rPr>
              <a:t>学时，</a:t>
            </a:r>
            <a:r>
              <a:rPr lang="en-US" altLang="zh-CN" b="1" dirty="0">
                <a:solidFill>
                  <a:schemeClr val="hlink"/>
                </a:solidFill>
              </a:rPr>
              <a:t>3</a:t>
            </a:r>
            <a:r>
              <a:rPr lang="zh-CN" altLang="en-US" b="1" dirty="0">
                <a:solidFill>
                  <a:schemeClr val="hlink"/>
                </a:solidFill>
              </a:rPr>
              <a:t>学分</a:t>
            </a:r>
          </a:p>
        </p:txBody>
      </p:sp>
      <p:pic>
        <p:nvPicPr>
          <p:cNvPr id="2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10338"/>
            <a:ext cx="314325" cy="347662"/>
          </a:xfrm>
        </p:spPr>
        <p:txBody>
          <a:bodyPr wrap="square" lIns="92075" tIns="46038" rIns="92075" bIns="46038" anchor="ctr"/>
          <a:lstStyle/>
          <a:p>
            <a:pPr algn="r"/>
            <a:fld id="{9A0DB2DC-4C9A-4742-B13C-FB6460FD3503}" type="slidenum">
              <a:rPr lang="en-US" altLang="zh-CN" sz="1400" dirty="0"/>
              <a:t>2</a:t>
            </a:fld>
            <a:endParaRPr lang="en-US" altLang="zh-CN" sz="1400" dirty="0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864140" y="739140"/>
            <a:ext cx="7697217" cy="2153552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第七章  高分子材料</a:t>
            </a:r>
            <a:br>
              <a:rPr kumimoji="1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</a:br>
            <a:r>
              <a:rPr lang="en-US" altLang="zh-CN" sz="6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Polymers </a:t>
            </a:r>
            <a:r>
              <a:rPr kumimoji="1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materials</a:t>
            </a:r>
          </a:p>
        </p:txBody>
      </p:sp>
      <p:pic>
        <p:nvPicPr>
          <p:cNvPr id="2060" name="Picture 12" descr="h-pictur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64012" y="3284711"/>
            <a:ext cx="3359162" cy="258840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1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  <a:t>12/11/2025 10:57 AM</a:t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88" y="-171450"/>
            <a:ext cx="7269163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0" cap="none" spc="0" normalizeH="0" baseline="0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内容提要</a:t>
            </a:r>
            <a:endParaRPr kumimoji="1" lang="zh-CN" altLang="en-US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5122" name="Rectangle 3"/>
          <p:cNvSpPr>
            <a:spLocks noGrp="1"/>
          </p:cNvSpPr>
          <p:nvPr>
            <p:ph idx="1"/>
          </p:nvPr>
        </p:nvSpPr>
        <p:spPr>
          <a:xfrm>
            <a:off x="684213" y="981075"/>
            <a:ext cx="7772400" cy="532765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第一节  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高分子材料概述</a:t>
            </a:r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            </a:t>
            </a:r>
            <a:r>
              <a:rPr lang="zh-CN" altLang="en-US" b="1" dirty="0">
                <a:solidFill>
                  <a:srgbClr val="66FFFF"/>
                </a:solidFill>
                <a:ea typeface="华文中宋" panose="02010600040101010101" pitchFamily="2" charset="-122"/>
              </a:rPr>
              <a:t>一、</a:t>
            </a:r>
            <a:r>
              <a:rPr lang="zh-CN" altLang="en-US" b="1" dirty="0">
                <a:ea typeface="华文中宋" panose="02010600040101010101" pitchFamily="2" charset="-122"/>
              </a:rPr>
              <a:t>高分子材料的基本概念</a:t>
            </a:r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b="1" dirty="0">
                <a:solidFill>
                  <a:srgbClr val="66FFFF"/>
                </a:solidFill>
                <a:ea typeface="华文中宋" panose="02010600040101010101" pitchFamily="2" charset="-122"/>
              </a:rPr>
              <a:t>            二、</a:t>
            </a:r>
            <a:r>
              <a:rPr lang="zh-CN" altLang="en-US" b="1" dirty="0">
                <a:ea typeface="华文中宋" panose="02010600040101010101" pitchFamily="2" charset="-122"/>
              </a:rPr>
              <a:t>高分子材料的结构</a:t>
            </a:r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b="1" dirty="0">
                <a:solidFill>
                  <a:srgbClr val="66FFFF"/>
                </a:solidFill>
                <a:ea typeface="华文中宋" panose="02010600040101010101" pitchFamily="2" charset="-122"/>
              </a:rPr>
              <a:t>             三、</a:t>
            </a:r>
            <a:r>
              <a:rPr lang="zh-CN" altLang="en-US" b="1" dirty="0">
                <a:ea typeface="华文中宋" panose="02010600040101010101" pitchFamily="2" charset="-122"/>
              </a:rPr>
              <a:t>高分子材料的力学状态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第二节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高分子工程材料</a:t>
            </a:r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b="1" dirty="0">
                <a:ea typeface="华文中宋" panose="02010600040101010101" pitchFamily="2" charset="-122"/>
              </a:rPr>
              <a:t>            </a:t>
            </a:r>
            <a:r>
              <a:rPr lang="zh-CN" altLang="en-US" b="1" dirty="0">
                <a:solidFill>
                  <a:srgbClr val="66FFFF"/>
                </a:solidFill>
                <a:ea typeface="华文中宋" panose="02010600040101010101" pitchFamily="2" charset="-122"/>
              </a:rPr>
              <a:t>一、</a:t>
            </a:r>
            <a:r>
              <a:rPr lang="zh-CN" altLang="en-US" b="1" dirty="0">
                <a:ea typeface="华文中宋" panose="02010600040101010101" pitchFamily="2" charset="-122"/>
              </a:rPr>
              <a:t>工程塑料</a:t>
            </a:r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b="1" dirty="0">
                <a:ea typeface="华文中宋" panose="02010600040101010101" pitchFamily="2" charset="-122"/>
              </a:rPr>
              <a:t>            </a:t>
            </a:r>
            <a:r>
              <a:rPr lang="zh-CN" altLang="en-US" b="1" dirty="0">
                <a:solidFill>
                  <a:srgbClr val="66FFFF"/>
                </a:solidFill>
                <a:ea typeface="华文中宋" panose="02010600040101010101" pitchFamily="2" charset="-122"/>
              </a:rPr>
              <a:t>二、</a:t>
            </a:r>
            <a:r>
              <a:rPr lang="zh-CN" altLang="en-US" b="1" dirty="0">
                <a:ea typeface="华文中宋" panose="02010600040101010101" pitchFamily="2" charset="-122"/>
              </a:rPr>
              <a:t>合成橡胶</a:t>
            </a:r>
          </a:p>
        </p:txBody>
      </p:sp>
      <p:sp>
        <p:nvSpPr>
          <p:cNvPr id="5124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510020"/>
            <a:ext cx="1786255" cy="262255"/>
          </a:xfrm>
        </p:spPr>
        <p:txBody>
          <a:bodyPr wrap="square" lIns="92075" tIns="46038" rIns="92075" bIns="46038"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  <a:t>12/11/2025 10:57 AM</a:t>
            </a:fld>
            <a:endParaRPr lang="en-US" altLang="zh-CN" sz="1400" dirty="0"/>
          </a:p>
        </p:txBody>
      </p:sp>
      <p:sp>
        <p:nvSpPr>
          <p:cNvPr id="512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10338"/>
            <a:ext cx="314325" cy="347662"/>
          </a:xfrm>
        </p:spPr>
        <p:txBody>
          <a:bodyPr wrap="square" lIns="92075" tIns="46038" rIns="92075" bIns="46038" anchor="ctr"/>
          <a:lstStyle/>
          <a:p>
            <a:pPr algn="r"/>
            <a:fld id="{9A0DB2DC-4C9A-4742-B13C-FB6460FD3503}" type="slidenum">
              <a:rPr lang="en-US" altLang="zh-CN" sz="1400" dirty="0"/>
              <a:t>3</a:t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/>
          </p:cNvSpPr>
          <p:nvPr>
            <p:ph type="title"/>
          </p:nvPr>
        </p:nvSpPr>
        <p:spPr>
          <a:xfrm>
            <a:off x="107315" y="1484630"/>
            <a:ext cx="8856980" cy="2578100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sz="6600" b="1" strike="noStrike" noProof="1">
                <a:latin typeface="华文中宋" panose="02010600040101010101" pitchFamily="2" charset="-122"/>
                <a:ea typeface="华文中宋" panose="02010600040101010101" pitchFamily="2" charset="-122"/>
              </a:rPr>
              <a:t>第一节 </a:t>
            </a:r>
            <a:r>
              <a:rPr lang="zh-CN" altLang="en-US" sz="6600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高分子材料</a:t>
            </a:r>
            <a:r>
              <a:rPr lang="zh-CN" altLang="en-US" sz="6600" b="1" strike="noStrike" noProof="1">
                <a:latin typeface="华文中宋" panose="02010600040101010101" pitchFamily="2" charset="-122"/>
                <a:ea typeface="华文中宋" panose="02010600040101010101" pitchFamily="2" charset="-122"/>
              </a:rPr>
              <a:t>概述</a:t>
            </a:r>
            <a:br>
              <a:rPr lang="en-US" altLang="zh-CN" sz="6600" b="1" strike="noStrike" noProof="1"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r>
              <a:rPr lang="en-US" altLang="zh-CN" sz="4800" b="1" i="1" strike="noStrike" noProof="1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Overview </a:t>
            </a:r>
            <a:r>
              <a:rPr lang="en-US" altLang="zh-CN" sz="4800" b="1" i="1" noProof="1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on </a:t>
            </a:r>
            <a:r>
              <a:rPr lang="en-US" altLang="zh-CN" sz="4800" b="1" i="1" strike="noStrike" noProof="1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polymer materials</a:t>
            </a:r>
          </a:p>
        </p:txBody>
      </p:sp>
      <p:sp>
        <p:nvSpPr>
          <p:cNvPr id="6148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  <a:t>12/11/2025 10:57 AM</a:t>
            </a:fld>
            <a:endParaRPr lang="en-US" altLang="zh-CN" sz="1400" dirty="0"/>
          </a:p>
        </p:txBody>
      </p:sp>
      <p:sp>
        <p:nvSpPr>
          <p:cNvPr id="614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10338"/>
            <a:ext cx="314325" cy="347662"/>
          </a:xfrm>
        </p:spPr>
        <p:txBody>
          <a:bodyPr wrap="square" lIns="92075" tIns="46038" rIns="92075" bIns="46038" anchor="ctr"/>
          <a:lstStyle/>
          <a:p>
            <a:pPr algn="r"/>
            <a:fld id="{9A0DB2DC-4C9A-4742-B13C-FB6460FD3503}" type="slidenum">
              <a:rPr lang="en-US" altLang="zh-CN" sz="1400" dirty="0"/>
              <a:t>4</a:t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0" y="292481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/>
          </p:cNvSpPr>
          <p:nvPr>
            <p:ph type="title"/>
          </p:nvPr>
        </p:nvSpPr>
        <p:spPr>
          <a:xfrm>
            <a:off x="1115616" y="0"/>
            <a:ext cx="7344816" cy="982663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b="1" strike="noStrike" noProof="1">
                <a:latin typeface="华文中宋" panose="02010600040101010101" pitchFamily="2" charset="-122"/>
                <a:ea typeface="华文中宋" panose="02010600040101010101" pitchFamily="2" charset="-122"/>
              </a:rPr>
              <a:t>第一节  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高分子材料</a:t>
            </a:r>
            <a:r>
              <a:rPr lang="zh-CN" altLang="en-US" b="1" strike="noStrike" noProof="1">
                <a:latin typeface="华文中宋" panose="02010600040101010101" pitchFamily="2" charset="-122"/>
                <a:ea typeface="华文中宋" panose="02010600040101010101" pitchFamily="2" charset="-122"/>
              </a:rPr>
              <a:t>概述</a:t>
            </a:r>
          </a:p>
        </p:txBody>
      </p:sp>
      <p:sp>
        <p:nvSpPr>
          <p:cNvPr id="40963" name="Rectangle 3"/>
          <p:cNvSpPr>
            <a:spLocks noGrp="1"/>
          </p:cNvSpPr>
          <p:nvPr>
            <p:ph idx="1"/>
          </p:nvPr>
        </p:nvSpPr>
        <p:spPr>
          <a:xfrm>
            <a:off x="533400" y="1412875"/>
            <a:ext cx="8153400" cy="5140325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一、高分子材料的基本概念</a:t>
            </a:r>
          </a:p>
          <a:p>
            <a:pPr eaLnBrk="1" hangingPunct="1"/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二、高分子材料的结构</a:t>
            </a:r>
          </a:p>
          <a:p>
            <a:pPr eaLnBrk="1" hangingPunct="1"/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三、高分子材料的力学状态</a:t>
            </a: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endParaRPr lang="en-US" altLang="zh-CN" sz="2800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6148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  <a:t>12/11/2025 10:57 AM</a:t>
            </a:fld>
            <a:endParaRPr lang="en-US" altLang="zh-CN" sz="1400" dirty="0"/>
          </a:p>
        </p:txBody>
      </p:sp>
      <p:sp>
        <p:nvSpPr>
          <p:cNvPr id="614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10338"/>
            <a:ext cx="314325" cy="347662"/>
          </a:xfrm>
        </p:spPr>
        <p:txBody>
          <a:bodyPr wrap="square" lIns="92075" tIns="46038" rIns="92075" bIns="46038" anchor="ctr"/>
          <a:lstStyle/>
          <a:p>
            <a:pPr algn="r"/>
            <a:fld id="{9A0DB2DC-4C9A-4742-B13C-FB6460FD3503}" type="slidenum">
              <a:rPr lang="en-US" altLang="zh-CN" sz="1400" dirty="0"/>
              <a:t>5</a:t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/>
      <p:bldP spid="40963" grpId="0" build="p" advAuto="100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1900947"/>
            <a:ext cx="8712968" cy="2592288"/>
          </a:xfrm>
        </p:spPr>
        <p:txBody>
          <a:bodyPr vert="horz" wrap="square" lIns="92075" tIns="46038" rIns="92075" bIns="46038" numCol="1" anchor="ctr" anchorCtr="0" compatLnSpc="1"/>
          <a:lstStyle/>
          <a:p>
            <a:pPr lvl="0" eaLnBrk="1" hangingPunct="1">
              <a:defRPr/>
            </a:pPr>
            <a:r>
              <a:rPr kumimoji="1" lang="zh-CN" altLang="en-US" sz="5400" b="1" i="0" u="none" strike="noStrike" kern="0" cap="none" spc="0" normalizeH="0" baseline="0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  <a:cs typeface="+mn-cs"/>
              </a:rPr>
              <a:t>一、高分子材料的基本概念</a:t>
            </a:r>
            <a:br>
              <a:rPr kumimoji="1" lang="en-US" altLang="zh-CN" sz="5400" b="1" i="0" u="none" strike="noStrike" kern="0" cap="none" spc="0" normalizeH="0" baseline="0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  <a:cs typeface="+mn-cs"/>
              </a:rPr>
            </a:br>
            <a:r>
              <a:rPr lang="en-US" altLang="zh-CN" sz="6000" b="1" i="1" dirty="0">
                <a:solidFill>
                  <a:srgbClr val="FF0000"/>
                </a:solidFill>
                <a:effectLst/>
                <a:latin typeface="+mn-lt"/>
              </a:rPr>
              <a:t>Basic concepts of the polymer materials</a:t>
            </a:r>
            <a:endParaRPr kumimoji="1" lang="zh-CN" altLang="en-US" sz="6000" b="1" i="1" u="none" strike="noStrike" kern="0" cap="none" spc="0" normalizeH="0" baseline="0" dirty="0">
              <a:solidFill>
                <a:srgbClr val="FF0000"/>
              </a:solidFill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7172" name="日期占位符 1"/>
          <p:cNvSpPr>
            <a:spLocks noGrp="1"/>
          </p:cNvSpPr>
          <p:nvPr>
            <p:ph type="dt" sz="half" idx="10"/>
          </p:nvPr>
        </p:nvSpPr>
        <p:spPr>
          <a:xfrm>
            <a:off x="121285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  <a:t>12/11/2025 10:57 AM</a:t>
            </a:fld>
            <a:endParaRPr lang="en-US" altLang="zh-CN" sz="1400" dirty="0"/>
          </a:p>
        </p:txBody>
      </p:sp>
      <p:sp>
        <p:nvSpPr>
          <p:cNvPr id="717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10338"/>
            <a:ext cx="314325" cy="347662"/>
          </a:xfrm>
        </p:spPr>
        <p:txBody>
          <a:bodyPr wrap="square" lIns="92075" tIns="46038" rIns="92075" bIns="46038" anchor="ctr"/>
          <a:lstStyle/>
          <a:p>
            <a:pPr algn="r"/>
            <a:fld id="{9A0DB2DC-4C9A-4742-B13C-FB6460FD3503}" type="slidenum">
              <a:rPr lang="en-US" altLang="zh-CN" sz="1400" dirty="0"/>
              <a:t>6</a:t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35560" y="278066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640" y="-9086"/>
            <a:ext cx="7561580" cy="9144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0" cap="none" spc="0" normalizeH="0" baseline="0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  <a:cs typeface="+mn-cs"/>
              </a:rPr>
              <a:t>一、高分子材料的基本概念</a:t>
            </a:r>
          </a:p>
        </p:txBody>
      </p:sp>
      <p:sp>
        <p:nvSpPr>
          <p:cNvPr id="60419" name="Rectangle 3"/>
          <p:cNvSpPr>
            <a:spLocks noGrp="1"/>
          </p:cNvSpPr>
          <p:nvPr>
            <p:ph idx="1"/>
          </p:nvPr>
        </p:nvSpPr>
        <p:spPr>
          <a:xfrm>
            <a:off x="121920" y="1451610"/>
            <a:ext cx="8909050" cy="5064125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高分子材料 ：</a:t>
            </a:r>
            <a:r>
              <a:rPr lang="zh-CN" altLang="en-US" b="1" dirty="0">
                <a:ea typeface="华文中宋" panose="02010600040101010101" pitchFamily="2" charset="-122"/>
              </a:rPr>
              <a:t>以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高分子化合物</a:t>
            </a:r>
            <a:r>
              <a:rPr lang="zh-CN" altLang="en-US" b="1" dirty="0">
                <a:ea typeface="华文中宋" panose="02010600040101010101" pitchFamily="2" charset="-122"/>
              </a:rPr>
              <a:t>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主要组分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材料。</a:t>
            </a:r>
            <a:r>
              <a:rPr lang="zh-CN" altLang="en-US" b="1" dirty="0">
                <a:ea typeface="华文中宋" panose="02010600040101010101" pitchFamily="2" charset="-122"/>
              </a:rPr>
              <a:t>常称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聚合物</a:t>
            </a:r>
            <a:r>
              <a:rPr lang="zh-CN" altLang="en-US" b="1" dirty="0">
                <a:ea typeface="华文中宋" panose="02010600040101010101" pitchFamily="2" charset="-122"/>
              </a:rPr>
              <a:t>或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高聚物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r>
              <a:rPr lang="en-US" altLang="zh-CN" b="1" dirty="0">
                <a:ea typeface="华文中宋" panose="02010600040101010101" pitchFamily="2" charset="-122"/>
              </a:rPr>
              <a:t>[</a:t>
            </a:r>
            <a:r>
              <a:rPr lang="zh-CN" altLang="en-US" b="1" dirty="0">
                <a:ea typeface="华文中宋" panose="02010600040101010101" pitchFamily="2" charset="-122"/>
              </a:rPr>
              <a:t>基本成分为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聚合物</a:t>
            </a:r>
            <a:r>
              <a:rPr lang="zh-CN" altLang="en-US" b="1" dirty="0">
                <a:ea typeface="华文中宋" panose="02010600040101010101" pitchFamily="2" charset="-122"/>
              </a:rPr>
              <a:t>，或以其含有的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聚合物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性质</a:t>
            </a:r>
            <a:r>
              <a:rPr lang="zh-CN" altLang="en-US" b="1" dirty="0">
                <a:ea typeface="华文中宋" panose="02010600040101010101" pitchFamily="2" charset="-122"/>
              </a:rPr>
              <a:t>为其主要性能特征的材料</a:t>
            </a:r>
            <a:r>
              <a:rPr lang="en-US" altLang="zh-CN" b="1" dirty="0">
                <a:ea typeface="华文中宋" panose="02010600040101010101" pitchFamily="2" charset="-122"/>
              </a:rPr>
              <a:t>.</a:t>
            </a:r>
            <a:r>
              <a:rPr lang="en-US" altLang="zh-CN" sz="800" b="1" dirty="0">
                <a:ea typeface="华文中宋" panose="02010600040101010101" pitchFamily="2" charset="-122"/>
              </a:rPr>
              <a:t>https://www.termonline.cn/search?searchText=%E9%AB%98%E5%88%86%E5%AD%90%E6%9D%90%E6%96%99</a:t>
            </a:r>
            <a:r>
              <a:rPr lang="en-US" altLang="zh-CN" sz="3200" b="1" dirty="0">
                <a:ea typeface="华文中宋" panose="02010600040101010101" pitchFamily="2" charset="-122"/>
              </a:rPr>
              <a:t>]</a:t>
            </a:r>
            <a:endParaRPr lang="zh-CN" altLang="en-US" sz="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endParaRPr lang="en-US" altLang="zh-CN" sz="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高分子化合物的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分子量</a:t>
            </a:r>
            <a:r>
              <a:rPr lang="zh-CN" altLang="en-US" b="1" dirty="0">
                <a:ea typeface="华文中宋" panose="02010600040101010101" pitchFamily="2" charset="-122"/>
              </a:rPr>
              <a:t>一般 </a:t>
            </a:r>
            <a:r>
              <a:rPr lang="en-US" altLang="zh-CN" b="1" dirty="0">
                <a:solidFill>
                  <a:srgbClr val="FFFF00"/>
                </a:solidFill>
                <a:ea typeface="华文中宋" panose="02010600040101010101" pitchFamily="2" charset="-122"/>
              </a:rPr>
              <a:t>&gt;10</a:t>
            </a:r>
            <a:r>
              <a:rPr lang="en-US" altLang="zh-CN" b="1" baseline="30000" dirty="0">
                <a:solidFill>
                  <a:srgbClr val="FFFF00"/>
                </a:solidFill>
                <a:ea typeface="华文中宋" panose="02010600040101010101" pitchFamily="2" charset="-122"/>
              </a:rPr>
              <a:t>4</a:t>
            </a:r>
            <a:r>
              <a:rPr lang="en-US" altLang="zh-CN" b="1" dirty="0"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</a:p>
          <a:p>
            <a:pPr eaLnBrk="1" hangingPunct="1">
              <a:lnSpc>
                <a:spcPct val="140000"/>
              </a:lnSpc>
            </a:pPr>
            <a:endParaRPr lang="en-US" altLang="zh-CN" sz="20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高分子化合物种类：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endParaRPr lang="en-US" altLang="zh-CN" sz="20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工业用高分子材料主要</a:t>
            </a:r>
            <a:r>
              <a:rPr lang="zh-CN" altLang="en-US" b="1" dirty="0">
                <a:ea typeface="华文中宋" panose="02010600040101010101" pitchFamily="2" charset="-122"/>
              </a:rPr>
              <a:t>是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人工合成的</a:t>
            </a:r>
            <a:endParaRPr lang="zh-CN" altLang="en-US" dirty="0">
              <a:ea typeface="华文中宋" panose="02010600040101010101" pitchFamily="2" charset="-122"/>
            </a:endParaRPr>
          </a:p>
        </p:txBody>
      </p:sp>
      <p:sp>
        <p:nvSpPr>
          <p:cNvPr id="7172" name="日期占位符 1"/>
          <p:cNvSpPr>
            <a:spLocks noGrp="1"/>
          </p:cNvSpPr>
          <p:nvPr>
            <p:ph type="dt" sz="half" idx="10"/>
          </p:nvPr>
        </p:nvSpPr>
        <p:spPr>
          <a:xfrm>
            <a:off x="121285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  <a:t>12/11/2025 10:57 AM</a:t>
            </a:fld>
            <a:endParaRPr lang="en-US" altLang="zh-CN" sz="1400" dirty="0"/>
          </a:p>
        </p:txBody>
      </p:sp>
      <p:sp>
        <p:nvSpPr>
          <p:cNvPr id="717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10338"/>
            <a:ext cx="314325" cy="347662"/>
          </a:xfrm>
        </p:spPr>
        <p:txBody>
          <a:bodyPr wrap="square" lIns="92075" tIns="46038" rIns="92075" bIns="46038" anchor="ctr"/>
          <a:lstStyle/>
          <a:p>
            <a:pPr algn="r"/>
            <a:fld id="{9A0DB2DC-4C9A-4742-B13C-FB6460FD3503}" type="slidenum">
              <a:rPr lang="en-US" altLang="zh-CN" sz="1400" dirty="0"/>
              <a:t>7</a:t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" name="组合 1"/>
          <p:cNvGrpSpPr/>
          <p:nvPr/>
        </p:nvGrpSpPr>
        <p:grpSpPr>
          <a:xfrm>
            <a:off x="4063301" y="4077072"/>
            <a:ext cx="4829919" cy="1213810"/>
            <a:chOff x="-896808" y="4935329"/>
            <a:chExt cx="4829919" cy="623614"/>
          </a:xfrm>
        </p:grpSpPr>
        <p:grpSp>
          <p:nvGrpSpPr>
            <p:cNvPr id="3" name="组合 20"/>
            <p:cNvGrpSpPr/>
            <p:nvPr/>
          </p:nvGrpSpPr>
          <p:grpSpPr>
            <a:xfrm>
              <a:off x="-896808" y="5070628"/>
              <a:ext cx="4829919" cy="488315"/>
              <a:chOff x="657" y="6525"/>
              <a:chExt cx="7698" cy="769"/>
            </a:xfrm>
          </p:grpSpPr>
          <p:sp>
            <p:nvSpPr>
              <p:cNvPr id="8" name="左大括号 39"/>
              <p:cNvSpPr/>
              <p:nvPr/>
            </p:nvSpPr>
            <p:spPr>
              <a:xfrm>
                <a:off x="5315" y="6525"/>
                <a:ext cx="207" cy="583"/>
              </a:xfrm>
              <a:prstGeom prst="leftBrace">
                <a:avLst>
                  <a:gd name="adj1" fmla="val 47157"/>
                  <a:gd name="adj2" fmla="val 50000"/>
                </a:avLst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9" name="文本框 2"/>
              <p:cNvSpPr txBox="1">
                <a:spLocks noChangeArrowheads="1"/>
              </p:cNvSpPr>
              <p:nvPr/>
            </p:nvSpPr>
            <p:spPr bwMode="auto">
              <a:xfrm>
                <a:off x="657" y="6587"/>
                <a:ext cx="4559" cy="45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ctr">
                  <a:buClrTx/>
                  <a:buSzTx/>
                  <a:buFontTx/>
                </a:pPr>
                <a:r>
                  <a:rPr lang="zh-CN" altLang="en-US" sz="3200" kern="100" dirty="0">
                    <a:solidFill>
                      <a:srgbClr val="FF0000"/>
                    </a:solidFill>
                    <a:effectLst>
                      <a:outerShdw blurRad="38100" dist="25400" dir="5400000" algn="ctr">
                        <a:srgbClr val="6E747A">
                          <a:alpha val="43000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/>
                    <a:sym typeface="+mn-ea"/>
                  </a:rPr>
                  <a:t>高分子化合物</a:t>
                </a:r>
              </a:p>
            </p:txBody>
          </p:sp>
          <p:sp>
            <p:nvSpPr>
              <p:cNvPr id="11" name="文本框 2"/>
              <p:cNvSpPr txBox="1">
                <a:spLocks noChangeArrowheads="1"/>
              </p:cNvSpPr>
              <p:nvPr/>
            </p:nvSpPr>
            <p:spPr bwMode="auto">
              <a:xfrm>
                <a:off x="5621" y="6871"/>
                <a:ext cx="2734" cy="423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algn="l"/>
                <a:r>
                  <a:rPr lang="zh-CN" altLang="en-US" sz="2800" dirty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人工合成</a:t>
                </a:r>
                <a:endParaRPr lang="zh-CN" altLang="en-US" sz="2800" kern="1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</p:grpSp>
        <p:sp>
          <p:nvSpPr>
            <p:cNvPr id="6" name="文本框 2"/>
            <p:cNvSpPr txBox="1">
              <a:spLocks noChangeArrowheads="1"/>
            </p:cNvSpPr>
            <p:nvPr/>
          </p:nvSpPr>
          <p:spPr bwMode="auto">
            <a:xfrm>
              <a:off x="2230906" y="4935329"/>
              <a:ext cx="1689004" cy="26881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l"/>
              <a:r>
                <a:rPr lang="zh-CN" altLang="en-US" sz="28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天然</a:t>
              </a:r>
              <a:endParaRPr lang="zh-CN" altLang="en-US" sz="2800" kern="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sp>
        <p:nvSpPr>
          <p:cNvPr id="4" name="文本框 2"/>
          <p:cNvSpPr txBox="1">
            <a:spLocks noChangeArrowheads="1"/>
          </p:cNvSpPr>
          <p:nvPr/>
        </p:nvSpPr>
        <p:spPr bwMode="auto">
          <a:xfrm>
            <a:off x="539552" y="1444945"/>
            <a:ext cx="2304256" cy="5673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buClrTx/>
              <a:buSzTx/>
              <a:buFontTx/>
            </a:pPr>
            <a:r>
              <a:rPr lang="zh-CN" altLang="en-US" sz="3200" kern="100" dirty="0">
                <a:solidFill>
                  <a:srgbClr val="FF0000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+mn-ea"/>
              </a:rPr>
              <a:t>高分子材料</a:t>
            </a:r>
          </a:p>
        </p:txBody>
      </p:sp>
      <p:sp>
        <p:nvSpPr>
          <p:cNvPr id="5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8" grpId="0"/>
      <p:bldP spid="60419" grpId="0" build="p" advAuto="100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/>
          </p:cNvSpPr>
          <p:nvPr>
            <p:ph idx="1"/>
          </p:nvPr>
        </p:nvSpPr>
        <p:spPr>
          <a:xfrm>
            <a:off x="285750" y="357188"/>
            <a:ext cx="8858250" cy="2895600"/>
          </a:xfrm>
        </p:spPr>
        <p:txBody>
          <a:bodyPr wrap="square" lIns="91440" tIns="45720" rIns="91440" bIns="45720" anchor="t"/>
          <a:lstStyle/>
          <a:p>
            <a:pPr algn="just" eaLnBrk="1" hangingPunct="1"/>
            <a:r>
              <a:rPr lang="en-US" altLang="zh-CN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    </a:t>
            </a:r>
            <a:endParaRPr lang="zh-CN" altLang="en-US" sz="2800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algn="just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由简单</a:t>
            </a:r>
            <a:r>
              <a:rPr lang="zh-CN" altLang="en-US" sz="2800" b="1" dirty="0">
                <a:ea typeface="华文中宋" panose="02010600040101010101" pitchFamily="2" charset="-122"/>
              </a:rPr>
              <a:t>的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结构单元</a:t>
            </a:r>
            <a:r>
              <a:rPr lang="zh-CN" altLang="en-US" sz="2800" b="1" dirty="0">
                <a:ea typeface="华文中宋" panose="02010600040101010101" pitchFamily="2" charset="-122"/>
              </a:rPr>
              <a:t>重复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连接而成。</a:t>
            </a:r>
            <a:r>
              <a:rPr lang="zh-CN" altLang="en-US" sz="2800" b="1" dirty="0">
                <a:ea typeface="华文中宋" panose="02010600040101010101" pitchFamily="2" charset="-122"/>
              </a:rPr>
              <a:t>如由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乙烯</a:t>
            </a:r>
            <a:r>
              <a:rPr lang="zh-CN" altLang="en-US" sz="2800" b="1" dirty="0">
                <a:ea typeface="华文中宋" panose="02010600040101010101" pitchFamily="2" charset="-122"/>
              </a:rPr>
              <a:t>合成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聚乙烯</a:t>
            </a:r>
            <a:r>
              <a:rPr lang="en-US" altLang="zh-CN" sz="2800" b="1" dirty="0">
                <a:ea typeface="华文中宋" panose="02010600040101010101" pitchFamily="2" charset="-122"/>
              </a:rPr>
              <a:t>: CH</a:t>
            </a:r>
            <a:r>
              <a:rPr lang="en-US" altLang="zh-CN" sz="2800" b="1" baseline="-30000" dirty="0">
                <a:ea typeface="华文中宋" panose="02010600040101010101" pitchFamily="2" charset="-122"/>
              </a:rPr>
              <a:t>2</a:t>
            </a:r>
            <a:r>
              <a:rPr lang="en-US" altLang="zh-CN" sz="2800" b="1" dirty="0">
                <a:ea typeface="华文中宋" panose="02010600040101010101" pitchFamily="2" charset="-122"/>
              </a:rPr>
              <a:t>=CH</a:t>
            </a:r>
            <a:r>
              <a:rPr lang="en-US" altLang="zh-CN" sz="2800" b="1" baseline="-30000" dirty="0">
                <a:ea typeface="华文中宋" panose="02010600040101010101" pitchFamily="2" charset="-122"/>
              </a:rPr>
              <a:t>2</a:t>
            </a:r>
            <a:r>
              <a:rPr lang="en-US" altLang="zh-CN" sz="2800" b="1" dirty="0">
                <a:ea typeface="华文中宋" panose="02010600040101010101" pitchFamily="2" charset="-122"/>
              </a:rPr>
              <a:t>+CH</a:t>
            </a:r>
            <a:r>
              <a:rPr lang="en-US" altLang="zh-CN" sz="2800" b="1" baseline="-30000" dirty="0">
                <a:ea typeface="华文中宋" panose="02010600040101010101" pitchFamily="2" charset="-122"/>
              </a:rPr>
              <a:t>2</a:t>
            </a:r>
            <a:r>
              <a:rPr lang="en-US" altLang="zh-CN" sz="2800" b="1" dirty="0">
                <a:ea typeface="华文中宋" panose="02010600040101010101" pitchFamily="2" charset="-122"/>
              </a:rPr>
              <a:t>=CH</a:t>
            </a:r>
            <a:r>
              <a:rPr lang="en-US" altLang="zh-CN" sz="2800" b="1" baseline="-30000" dirty="0">
                <a:ea typeface="华文中宋" panose="02010600040101010101" pitchFamily="2" charset="-122"/>
              </a:rPr>
              <a:t>2</a:t>
            </a:r>
            <a:r>
              <a:rPr lang="en-US" altLang="zh-CN" sz="2800" b="1" dirty="0">
                <a:ea typeface="华文中宋" panose="02010600040101010101" pitchFamily="2" charset="-122"/>
              </a:rPr>
              <a:t>+</a:t>
            </a:r>
            <a:r>
              <a:rPr lang="en-US" altLang="zh-CN" sz="2800" b="1" dirty="0">
                <a:ea typeface="华文中宋" panose="02010600040101010101" pitchFamily="2" charset="-122"/>
                <a:sym typeface="Symbol" panose="05050102010706020507" pitchFamily="18" charset="2"/>
              </a:rPr>
              <a:t> </a:t>
            </a:r>
            <a:r>
              <a:rPr lang="en-US" altLang="zh-CN" sz="2800" b="1" dirty="0">
                <a:ea typeface="华文中宋" panose="02010600040101010101" pitchFamily="2" charset="-122"/>
              </a:rPr>
              <a:t>→ -CH</a:t>
            </a:r>
            <a:r>
              <a:rPr lang="en-US" altLang="zh-CN" sz="2800" b="1" baseline="-30000" dirty="0">
                <a:ea typeface="华文中宋" panose="02010600040101010101" pitchFamily="2" charset="-122"/>
              </a:rPr>
              <a:t>2</a:t>
            </a:r>
            <a:r>
              <a:rPr lang="en-US" altLang="zh-CN" sz="2800" b="1" dirty="0">
                <a:ea typeface="华文中宋" panose="02010600040101010101" pitchFamily="2" charset="-122"/>
              </a:rPr>
              <a:t>-CH</a:t>
            </a:r>
            <a:r>
              <a:rPr lang="en-US" altLang="zh-CN" sz="2800" b="1" baseline="-30000" dirty="0">
                <a:ea typeface="华文中宋" panose="02010600040101010101" pitchFamily="2" charset="-122"/>
              </a:rPr>
              <a:t>2</a:t>
            </a:r>
            <a:r>
              <a:rPr lang="en-US" altLang="zh-CN" sz="2800" b="1" dirty="0">
                <a:ea typeface="华文中宋" panose="02010600040101010101" pitchFamily="2" charset="-122"/>
              </a:rPr>
              <a:t>-CH</a:t>
            </a:r>
            <a:r>
              <a:rPr lang="en-US" altLang="zh-CN" sz="2800" b="1" baseline="-30000" dirty="0">
                <a:ea typeface="华文中宋" panose="02010600040101010101" pitchFamily="2" charset="-122"/>
              </a:rPr>
              <a:t>2</a:t>
            </a:r>
            <a:r>
              <a:rPr lang="en-US" altLang="zh-CN" sz="2800" b="1" dirty="0">
                <a:ea typeface="华文中宋" panose="02010600040101010101" pitchFamily="2" charset="-122"/>
              </a:rPr>
              <a:t>-CH</a:t>
            </a:r>
            <a:r>
              <a:rPr lang="en-US" altLang="zh-CN" sz="2800" b="1" baseline="-30000" dirty="0">
                <a:ea typeface="华文中宋" panose="02010600040101010101" pitchFamily="2" charset="-122"/>
              </a:rPr>
              <a:t>2</a:t>
            </a:r>
            <a:r>
              <a:rPr lang="en-US" altLang="zh-CN" sz="2800" b="1" dirty="0">
                <a:ea typeface="华文中宋" panose="02010600040101010101" pitchFamily="2" charset="-122"/>
              </a:rPr>
              <a:t>- </a:t>
            </a:r>
            <a:r>
              <a:rPr lang="en-US" altLang="zh-CN" sz="2800" b="1" dirty="0">
                <a:ea typeface="华文中宋" panose="02010600040101010101" pitchFamily="2" charset="-122"/>
                <a:sym typeface="Symbol" panose="05050102010706020507" pitchFamily="18" charset="2"/>
              </a:rPr>
              <a:t></a:t>
            </a:r>
            <a:r>
              <a:rPr lang="en-US" altLang="zh-CN" sz="2800" b="1" dirty="0">
                <a:ea typeface="华文中宋" panose="02010600040101010101" pitchFamily="2" charset="-122"/>
              </a:rPr>
              <a:t>,</a:t>
            </a:r>
          </a:p>
        </p:txBody>
      </p:sp>
      <p:grpSp>
        <p:nvGrpSpPr>
          <p:cNvPr id="2" name="Group 18"/>
          <p:cNvGrpSpPr/>
          <p:nvPr/>
        </p:nvGrpSpPr>
        <p:grpSpPr>
          <a:xfrm>
            <a:off x="1058863" y="1966913"/>
            <a:ext cx="7696200" cy="762000"/>
            <a:chOff x="334" y="1611"/>
            <a:chExt cx="4848" cy="480"/>
          </a:xfrm>
        </p:grpSpPr>
        <p:grpSp>
          <p:nvGrpSpPr>
            <p:cNvPr id="8195" name="Group 10"/>
            <p:cNvGrpSpPr/>
            <p:nvPr/>
          </p:nvGrpSpPr>
          <p:grpSpPr>
            <a:xfrm>
              <a:off x="2758" y="1680"/>
              <a:ext cx="1968" cy="327"/>
              <a:chOff x="432" y="4320"/>
              <a:chExt cx="1968" cy="327"/>
            </a:xfrm>
          </p:grpSpPr>
          <p:sp>
            <p:nvSpPr>
              <p:cNvPr id="8196" name="Text Box 7"/>
              <p:cNvSpPr txBox="1"/>
              <p:nvPr/>
            </p:nvSpPr>
            <p:spPr>
              <a:xfrm>
                <a:off x="432" y="4320"/>
                <a:ext cx="196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800" b="1" dirty="0">
                    <a:latin typeface="Times New Roman" panose="02020603050405020304" pitchFamily="18" charset="0"/>
                    <a:ea typeface="楷体_GB2312" pitchFamily="49" charset="-122"/>
                  </a:rPr>
                  <a:t>[ CH</a:t>
                </a:r>
                <a:r>
                  <a:rPr lang="en-US" altLang="zh-CN" sz="2800" b="1" baseline="-30000" dirty="0">
                    <a:latin typeface="Times New Roman" panose="02020603050405020304" pitchFamily="18" charset="0"/>
                    <a:ea typeface="楷体_GB2312" pitchFamily="49" charset="-122"/>
                  </a:rPr>
                  <a:t>2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楷体_GB2312" pitchFamily="49" charset="-122"/>
                  </a:rPr>
                  <a:t>–CH</a:t>
                </a:r>
                <a:r>
                  <a:rPr lang="en-US" altLang="zh-CN" sz="2800" b="1" baseline="-30000" dirty="0">
                    <a:latin typeface="Times New Roman" panose="02020603050405020304" pitchFamily="18" charset="0"/>
                    <a:ea typeface="楷体_GB2312" pitchFamily="49" charset="-122"/>
                  </a:rPr>
                  <a:t>2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楷体_GB2312" pitchFamily="49" charset="-122"/>
                  </a:rPr>
                  <a:t> ]</a:t>
                </a:r>
                <a:r>
                  <a:rPr lang="en-US" altLang="zh-CN" sz="2800" b="1" baseline="-30000" dirty="0">
                    <a:latin typeface="Times New Roman" panose="02020603050405020304" pitchFamily="18" charset="0"/>
                    <a:ea typeface="楷体_GB2312" pitchFamily="49" charset="-122"/>
                  </a:rPr>
                  <a:t>n</a:t>
                </a:r>
              </a:p>
            </p:txBody>
          </p:sp>
          <p:sp>
            <p:nvSpPr>
              <p:cNvPr id="8197" name="Line 8"/>
              <p:cNvSpPr/>
              <p:nvPr/>
            </p:nvSpPr>
            <p:spPr>
              <a:xfrm>
                <a:off x="707" y="4512"/>
                <a:ext cx="15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198" name="Line 9"/>
              <p:cNvSpPr/>
              <p:nvPr/>
            </p:nvSpPr>
            <p:spPr>
              <a:xfrm>
                <a:off x="1833" y="4499"/>
                <a:ext cx="15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8199" name="Rectangle 17"/>
            <p:cNvSpPr/>
            <p:nvPr/>
          </p:nvSpPr>
          <p:spPr>
            <a:xfrm>
              <a:off x="334" y="1611"/>
              <a:ext cx="4848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 anchor="ctr"/>
            <a:lstStyle/>
            <a:p>
              <a:pPr marL="342900" indent="-3429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</a:pPr>
              <a:r>
                <a:rPr lang="zh-CN" altLang="en-US" sz="2800" b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可简写成  </a:t>
              </a:r>
              <a:r>
                <a:rPr lang="en-US" altLang="zh-CN" sz="2800" b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n CH</a:t>
              </a:r>
              <a:r>
                <a:rPr lang="en-US" altLang="zh-CN" sz="2800" b="1" baseline="-300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2</a:t>
              </a:r>
              <a:r>
                <a:rPr lang="en-US" altLang="zh-CN" sz="2800" b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=CH</a:t>
              </a:r>
              <a:r>
                <a:rPr lang="en-US" altLang="zh-CN" sz="2800" b="1" baseline="-300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2</a:t>
              </a:r>
              <a:r>
                <a:rPr lang="en-US" altLang="zh-CN" sz="2800" b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→  </a:t>
              </a:r>
              <a:r>
                <a:rPr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                       </a:t>
              </a:r>
              <a:r>
                <a:rPr lang="zh-CN" altLang="en-US" sz="2800" b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。</a:t>
              </a:r>
              <a:r>
                <a:rPr lang="zh-CN" altLang="en-US" sz="28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 </a:t>
              </a:r>
            </a:p>
          </p:txBody>
        </p:sp>
      </p:grpSp>
      <p:sp>
        <p:nvSpPr>
          <p:cNvPr id="5139" name="Rectangle 19"/>
          <p:cNvSpPr/>
          <p:nvPr/>
        </p:nvSpPr>
        <p:spPr>
          <a:xfrm>
            <a:off x="187325" y="2743200"/>
            <a:ext cx="8382000" cy="1447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kumimoji="1" lang="zh-CN" altLang="en-US" sz="2800" b="1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</a:rPr>
              <a:t>单体  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：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组成聚合物</a:t>
            </a:r>
            <a:r>
              <a:rPr kumimoji="1" lang="zh-CN" altLang="en-US" sz="2800" b="1" dirty="0">
                <a:latin typeface="+mn-lt"/>
                <a:ea typeface="华文中宋" panose="02010600040101010101" pitchFamily="2" charset="-122"/>
              </a:rPr>
              <a:t>的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低分子化合物。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CCFF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聚合物的分子为很长的链条，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称为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大分子链</a:t>
            </a:r>
            <a:r>
              <a:rPr lang="zh-CN" altLang="en-US" sz="2800" b="1" dirty="0">
                <a:solidFill>
                  <a:srgbClr val="CCFF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  <a:endParaRPr lang="zh-CN" altLang="en-US" sz="2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4" name="Group 23"/>
          <p:cNvGrpSpPr/>
          <p:nvPr/>
        </p:nvGrpSpPr>
        <p:grpSpPr>
          <a:xfrm>
            <a:off x="303213" y="3886200"/>
            <a:ext cx="8823325" cy="1295400"/>
            <a:chOff x="87" y="2448"/>
            <a:chExt cx="5558" cy="816"/>
          </a:xfrm>
        </p:grpSpPr>
        <p:grpSp>
          <p:nvGrpSpPr>
            <p:cNvPr id="8202" name="Group 21"/>
            <p:cNvGrpSpPr/>
            <p:nvPr/>
          </p:nvGrpSpPr>
          <p:grpSpPr>
            <a:xfrm>
              <a:off x="548" y="2733"/>
              <a:ext cx="4746" cy="514"/>
              <a:chOff x="-41" y="3532"/>
              <a:chExt cx="4746" cy="514"/>
            </a:xfrm>
          </p:grpSpPr>
          <p:sp>
            <p:nvSpPr>
              <p:cNvPr id="8203" name="Text Box 12"/>
              <p:cNvSpPr txBox="1"/>
              <p:nvPr/>
            </p:nvSpPr>
            <p:spPr>
              <a:xfrm>
                <a:off x="-41" y="3719"/>
                <a:ext cx="148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800" b="1" dirty="0">
                    <a:latin typeface="Times New Roman" panose="02020603050405020304" pitchFamily="18" charset="0"/>
                    <a:ea typeface="楷体_GB2312" pitchFamily="49" charset="-122"/>
                  </a:rPr>
                  <a:t>[ CH</a:t>
                </a:r>
                <a:r>
                  <a:rPr lang="en-US" altLang="zh-CN" sz="2800" b="1" baseline="-30000" dirty="0">
                    <a:latin typeface="Times New Roman" panose="02020603050405020304" pitchFamily="18" charset="0"/>
                    <a:ea typeface="楷体_GB2312" pitchFamily="49" charset="-122"/>
                  </a:rPr>
                  <a:t>2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楷体_GB2312" pitchFamily="49" charset="-122"/>
                  </a:rPr>
                  <a:t>–CH</a:t>
                </a:r>
                <a:r>
                  <a:rPr lang="en-US" altLang="zh-CN" sz="2800" b="1" baseline="-30000" dirty="0">
                    <a:latin typeface="Times New Roman" panose="02020603050405020304" pitchFamily="18" charset="0"/>
                    <a:ea typeface="楷体_GB2312" pitchFamily="49" charset="-122"/>
                  </a:rPr>
                  <a:t>2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楷体_GB2312" pitchFamily="49" charset="-122"/>
                  </a:rPr>
                  <a:t> ]</a:t>
                </a:r>
                <a:r>
                  <a:rPr lang="en-US" altLang="zh-CN" sz="2800" b="1" baseline="-30000" dirty="0">
                    <a:latin typeface="Times New Roman" panose="02020603050405020304" pitchFamily="18" charset="0"/>
                    <a:ea typeface="楷体_GB2312" pitchFamily="49" charset="-122"/>
                  </a:rPr>
                  <a:t>n</a:t>
                </a:r>
              </a:p>
            </p:txBody>
          </p:sp>
          <p:sp>
            <p:nvSpPr>
              <p:cNvPr id="8204" name="Line 13"/>
              <p:cNvSpPr/>
              <p:nvPr/>
            </p:nvSpPr>
            <p:spPr>
              <a:xfrm>
                <a:off x="3448" y="3532"/>
                <a:ext cx="15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205" name="Line 14"/>
              <p:cNvSpPr/>
              <p:nvPr/>
            </p:nvSpPr>
            <p:spPr>
              <a:xfrm>
                <a:off x="4552" y="3535"/>
                <a:ext cx="15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8206" name="Rectangle 20"/>
            <p:cNvSpPr/>
            <p:nvPr/>
          </p:nvSpPr>
          <p:spPr>
            <a:xfrm>
              <a:off x="87" y="2448"/>
              <a:ext cx="5558" cy="81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 anchor="ctr"/>
            <a:lstStyle/>
            <a:p>
              <a:pPr marL="342900" indent="-342900">
                <a:lnSpc>
                  <a:spcPct val="14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</a:pPr>
              <a:r>
                <a:rPr lang="zh-CN" altLang="en-US" sz="2800" b="1" dirty="0">
                  <a:solidFill>
                    <a:schemeClr val="folHlink"/>
                  </a:solidFill>
                  <a:ea typeface="华文中宋" panose="02010600040101010101" pitchFamily="2" charset="-122"/>
                </a:rPr>
                <a:t>链节 ：</a:t>
              </a:r>
              <a:r>
                <a:rPr lang="zh-CN" altLang="en-US" sz="2800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大分子链中重复结构单元</a:t>
              </a:r>
              <a:r>
                <a:rPr lang="en-US" altLang="zh-CN" sz="2800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(</a:t>
              </a:r>
              <a:r>
                <a:rPr lang="zh-CN" altLang="en-US" sz="2800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如聚乙烯中        </a:t>
              </a:r>
              <a:r>
                <a:rPr lang="zh-CN" altLang="en-US" sz="2800" b="1" dirty="0">
                  <a:latin typeface="仿宋_GB2312" pitchFamily="49" charset="-122"/>
                  <a:ea typeface="仿宋_GB2312" pitchFamily="49" charset="-122"/>
                </a:rPr>
                <a:t>             </a:t>
              </a:r>
              <a:r>
                <a:rPr lang="en-US" altLang="zh-CN" sz="2800" b="1" dirty="0">
                  <a:latin typeface="仿宋_GB2312" pitchFamily="49" charset="-122"/>
                  <a:ea typeface="仿宋_GB2312" pitchFamily="49" charset="-122"/>
                </a:rPr>
                <a:t>)</a:t>
              </a:r>
              <a:r>
                <a:rPr lang="zh-CN" altLang="en-US" sz="2800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。</a:t>
              </a:r>
              <a:r>
                <a:rPr lang="zh-CN" altLang="en-US" sz="2800" dirty="0">
                  <a:latin typeface="仿宋_GB2312" pitchFamily="49" charset="-122"/>
                  <a:ea typeface="仿宋_GB2312" pitchFamily="49" charset="-122"/>
                </a:rPr>
                <a:t> </a:t>
              </a:r>
            </a:p>
          </p:txBody>
        </p:sp>
      </p:grpSp>
      <p:grpSp>
        <p:nvGrpSpPr>
          <p:cNvPr id="6" name="Group 26"/>
          <p:cNvGrpSpPr/>
          <p:nvPr/>
        </p:nvGrpSpPr>
        <p:grpSpPr>
          <a:xfrm>
            <a:off x="2080227" y="5354638"/>
            <a:ext cx="6002338" cy="1397000"/>
            <a:chOff x="1680" y="3312"/>
            <a:chExt cx="3781" cy="880"/>
          </a:xfrm>
        </p:grpSpPr>
        <p:pic>
          <p:nvPicPr>
            <p:cNvPr id="8208" name="Picture 24" descr="聚乙烯分子链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0" y="3312"/>
              <a:ext cx="3781" cy="679"/>
            </a:xfrm>
            <a:prstGeom prst="rect">
              <a:avLst/>
            </a:prstGeom>
            <a:noFill/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8209" name="Text Box 25"/>
            <p:cNvSpPr txBox="1"/>
            <p:nvPr/>
          </p:nvSpPr>
          <p:spPr>
            <a:xfrm>
              <a:off x="3000" y="3936"/>
              <a:ext cx="1152" cy="256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聚乙烯分子链</a:t>
              </a:r>
            </a:p>
          </p:txBody>
        </p:sp>
      </p:grp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>
          <a:xfrm>
            <a:off x="1861185" y="-58299"/>
            <a:ext cx="6188075" cy="982663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华文中宋" panose="02010600040101010101" pitchFamily="2" charset="-122"/>
                <a:cs typeface="+mn-cs"/>
              </a:rPr>
              <a:t>1、高分子化合物的组成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8212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  <a:t>12/11/2025 10:57 AM</a:t>
            </a:fld>
            <a:endParaRPr lang="en-US" altLang="zh-CN" sz="1400" dirty="0"/>
          </a:p>
        </p:txBody>
      </p:sp>
      <p:sp>
        <p:nvSpPr>
          <p:cNvPr id="821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10338"/>
            <a:ext cx="314325" cy="347662"/>
          </a:xfrm>
        </p:spPr>
        <p:txBody>
          <a:bodyPr wrap="square" lIns="92075" tIns="46038" rIns="92075" bIns="46038" anchor="ctr"/>
          <a:lstStyle/>
          <a:p>
            <a:pPr algn="r"/>
            <a:fld id="{9A0DB2DC-4C9A-4742-B13C-FB6460FD3503}" type="slidenum">
              <a:rPr lang="en-US" altLang="zh-CN" sz="1400" dirty="0"/>
              <a:t>8</a:t>
            </a:fld>
            <a:endParaRPr lang="en-US" altLang="zh-CN" sz="1400" dirty="0"/>
          </a:p>
        </p:txBody>
      </p:sp>
      <p:pic>
        <p:nvPicPr>
          <p:cNvPr id="24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箭头: 右 2"/>
          <p:cNvSpPr/>
          <p:nvPr/>
        </p:nvSpPr>
        <p:spPr bwMode="auto">
          <a:xfrm>
            <a:off x="5220072" y="1667314"/>
            <a:ext cx="432048" cy="256735"/>
          </a:xfrm>
          <a:prstGeom prst="rightArrow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文本框 2"/>
          <p:cNvSpPr txBox="1">
            <a:spLocks noChangeArrowheads="1"/>
          </p:cNvSpPr>
          <p:nvPr/>
        </p:nvSpPr>
        <p:spPr bwMode="auto">
          <a:xfrm>
            <a:off x="574675" y="2921265"/>
            <a:ext cx="981385" cy="5232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l"/>
            <a:r>
              <a:rPr lang="zh-CN" altLang="en-US" sz="2800" kern="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单体</a:t>
            </a:r>
          </a:p>
        </p:txBody>
      </p:sp>
      <p:sp>
        <p:nvSpPr>
          <p:cNvPr id="7" name="文本框 2"/>
          <p:cNvSpPr txBox="1">
            <a:spLocks noChangeArrowheads="1"/>
          </p:cNvSpPr>
          <p:nvPr/>
        </p:nvSpPr>
        <p:spPr bwMode="auto">
          <a:xfrm>
            <a:off x="625183" y="4027530"/>
            <a:ext cx="930877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l"/>
            <a:r>
              <a:rPr lang="zh-CN" altLang="en-US" sz="2800" kern="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链节</a:t>
            </a:r>
          </a:p>
        </p:txBody>
      </p:sp>
      <p:sp>
        <p:nvSpPr>
          <p:cNvPr id="8" name="Line 4"/>
          <p:cNvSpPr>
            <a:spLocks noChangeShapeType="1"/>
          </p:cNvSpPr>
          <p:nvPr/>
        </p:nvSpPr>
        <p:spPr bwMode="auto">
          <a:xfrm flipV="1">
            <a:off x="-6350" y="97282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 advAuto="1000"/>
      <p:bldP spid="5139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高分子材料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587808" y="1125220"/>
            <a:ext cx="2462212" cy="53959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547664" y="-132270"/>
            <a:ext cx="6188075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华文中宋" panose="02010600040101010101" pitchFamily="2" charset="-122"/>
                <a:cs typeface="+mn-cs"/>
              </a:rPr>
              <a:t>2 、高分子材料的分类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9221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  <a:t>12/11/2025 10:57 AM</a:t>
            </a:fld>
            <a:endParaRPr lang="en-US" altLang="zh-CN" sz="1400" dirty="0"/>
          </a:p>
        </p:txBody>
      </p:sp>
      <p:sp>
        <p:nvSpPr>
          <p:cNvPr id="922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10338"/>
            <a:ext cx="314325" cy="347662"/>
          </a:xfrm>
        </p:spPr>
        <p:txBody>
          <a:bodyPr wrap="square" lIns="92075" tIns="46038" rIns="92075" bIns="46038" anchor="ctr"/>
          <a:lstStyle/>
          <a:p>
            <a:pPr algn="r"/>
            <a:fld id="{9A0DB2DC-4C9A-4742-B13C-FB6460FD3503}" type="slidenum">
              <a:rPr lang="en-US" altLang="zh-CN" sz="1400" dirty="0"/>
              <a:t>9</a:t>
            </a:fld>
            <a:endParaRPr lang="en-US" altLang="zh-CN" sz="1400" dirty="0"/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7" name="组合 6"/>
          <p:cNvGrpSpPr/>
          <p:nvPr/>
        </p:nvGrpSpPr>
        <p:grpSpPr>
          <a:xfrm>
            <a:off x="625126" y="1071554"/>
            <a:ext cx="4443648" cy="4837086"/>
            <a:chOff x="535041" y="855178"/>
            <a:chExt cx="4443648" cy="4837086"/>
          </a:xfrm>
        </p:grpSpPr>
        <p:grpSp>
          <p:nvGrpSpPr>
            <p:cNvPr id="10" name="组合 9"/>
            <p:cNvGrpSpPr/>
            <p:nvPr/>
          </p:nvGrpSpPr>
          <p:grpSpPr>
            <a:xfrm>
              <a:off x="535041" y="855178"/>
              <a:ext cx="4443647" cy="4837086"/>
              <a:chOff x="565411" y="894693"/>
              <a:chExt cx="4443647" cy="4837086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565411" y="894693"/>
                <a:ext cx="3638333" cy="4837086"/>
                <a:chOff x="538874" y="1091281"/>
                <a:chExt cx="3638333" cy="4837086"/>
              </a:xfrm>
            </p:grpSpPr>
            <p:grpSp>
              <p:nvGrpSpPr>
                <p:cNvPr id="18" name="组合 17"/>
                <p:cNvGrpSpPr/>
                <p:nvPr/>
              </p:nvGrpSpPr>
              <p:grpSpPr>
                <a:xfrm>
                  <a:off x="538874" y="1091281"/>
                  <a:ext cx="3127520" cy="4837086"/>
                  <a:chOff x="435216" y="4195224"/>
                  <a:chExt cx="3127520" cy="2485129"/>
                </a:xfrm>
              </p:grpSpPr>
              <p:grpSp>
                <p:nvGrpSpPr>
                  <p:cNvPr id="23" name="组合 20"/>
                  <p:cNvGrpSpPr/>
                  <p:nvPr/>
                </p:nvGrpSpPr>
                <p:grpSpPr>
                  <a:xfrm>
                    <a:off x="435216" y="4643908"/>
                    <a:ext cx="3110774" cy="2036445"/>
                    <a:chOff x="2780" y="5853"/>
                    <a:chExt cx="4958" cy="3207"/>
                  </a:xfrm>
                </p:grpSpPr>
                <p:sp>
                  <p:nvSpPr>
                    <p:cNvPr id="27" name="左大括号 39"/>
                    <p:cNvSpPr/>
                    <p:nvPr/>
                  </p:nvSpPr>
                  <p:spPr>
                    <a:xfrm>
                      <a:off x="3852" y="5956"/>
                      <a:ext cx="281" cy="3104"/>
                    </a:xfrm>
                    <a:prstGeom prst="leftBrace">
                      <a:avLst>
                        <a:gd name="adj1" fmla="val 47157"/>
                        <a:gd name="adj2" fmla="val 50000"/>
                      </a:avLst>
                    </a:prstGeom>
                    <a:ln w="22225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/>
                    <a:lstStyle/>
                    <a:p>
                      <a:endParaRPr lang="zh-CN" altLang="en-US" dirty="0"/>
                    </a:p>
                  </p:txBody>
                </p:sp>
                <p:sp>
                  <p:nvSpPr>
                    <p:cNvPr id="28" name="文本框 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780" y="6071"/>
                      <a:ext cx="888" cy="2482"/>
                    </a:xfrm>
                    <a:prstGeom prst="rect">
                      <a:avLst/>
                    </a:prstGeom>
                    <a:solidFill>
                      <a:schemeClr val="accent6">
                        <a:lumMod val="20000"/>
                        <a:lumOff val="80000"/>
                      </a:schemeClr>
                    </a:solidFill>
                    <a:ln w="952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 rot="0" vert="horz" wrap="square" lIns="91440" tIns="45720" rIns="91440" bIns="45720" anchor="t" anchorCtr="0">
                      <a:noAutofit/>
                    </a:bodyPr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kumimoji="1" lang="zh-CN" altLang="en-US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uLnTx/>
                          <a:uFillTx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j-cs"/>
                        </a:rPr>
                        <a:t>高分子材料的分类</a:t>
                      </a:r>
                      <a:endParaRPr lang="zh-CN" altLang="en-US" kern="100" dirty="0">
                        <a:solidFill>
                          <a:srgbClr val="FF0000"/>
                        </a:solidFill>
                        <a:effectLst>
                          <a:outerShdw blurRad="38100" dist="25400" dir="5400000" algn="ctr">
                            <a:srgbClr val="6E747A">
                              <a:alpha val="43000"/>
                            </a:srgbClr>
                          </a:outerShdw>
                        </a:effectLst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  <a:sym typeface="+mn-ea"/>
                      </a:endParaRPr>
                    </a:p>
                  </p:txBody>
                </p:sp>
                <p:sp>
                  <p:nvSpPr>
                    <p:cNvPr id="29" name="文本框 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384" y="5862"/>
                      <a:ext cx="1654" cy="324"/>
                    </a:xfrm>
                    <a:prstGeom prst="rect">
                      <a:avLst/>
                    </a:prstGeom>
                    <a:solidFill>
                      <a:schemeClr val="tx2">
                        <a:lumMod val="20000"/>
                        <a:lumOff val="80000"/>
                      </a:schemeClr>
                    </a:solidFill>
                    <a:ln w="952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 rot="0" vert="horz" wrap="square" lIns="91440" tIns="45720" rIns="91440" bIns="45720" anchor="t" anchorCtr="0">
                      <a:spAutoFit/>
                    </a:bodyPr>
                    <a:lstStyle/>
                    <a:p>
                      <a:pPr algn="l"/>
                      <a:r>
                        <a:rPr lang="zh-CN" altLang="en-US" sz="2000" b="1" dirty="0">
                          <a:solidFill>
                            <a:srgbClr val="FF0000"/>
                          </a:solidFill>
                          <a:ea typeface="华文中宋" panose="02010600040101010101" pitchFamily="2" charset="-122"/>
                        </a:rPr>
                        <a:t>按用途</a:t>
                      </a:r>
                      <a:endParaRPr lang="zh-CN" altLang="en-US" sz="2000" kern="100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  <a:sym typeface="Times New Roman" panose="02020603050405020304"/>
                      </a:endParaRPr>
                    </a:p>
                  </p:txBody>
                </p:sp>
                <p:sp>
                  <p:nvSpPr>
                    <p:cNvPr id="30" name="文本框 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6624" y="5853"/>
                      <a:ext cx="1114" cy="324"/>
                    </a:xfrm>
                    <a:prstGeom prst="rect">
                      <a:avLst/>
                    </a:pr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952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 rot="0" vert="horz" wrap="square" lIns="91440" tIns="45720" rIns="91440" bIns="45720" anchor="t" anchorCtr="0">
                      <a:spAutoFit/>
                    </a:bodyPr>
                    <a:lstStyle/>
                    <a:p>
                      <a:r>
                        <a:rPr lang="zh-CN" altLang="en-US" sz="2000" b="1" dirty="0">
                          <a:solidFill>
                            <a:srgbClr val="FF0000"/>
                          </a:solidFill>
                          <a:ea typeface="华文中宋" panose="02010600040101010101" pitchFamily="2" charset="-122"/>
                        </a:rPr>
                        <a:t>纤维</a:t>
                      </a:r>
                      <a:endParaRPr lang="zh-CN" altLang="en-US" sz="2000" kern="100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  <a:sym typeface="Times New Roman" panose="02020603050405020304"/>
                      </a:endParaRPr>
                    </a:p>
                  </p:txBody>
                </p:sp>
              </p:grpSp>
              <p:sp>
                <p:nvSpPr>
                  <p:cNvPr id="24" name="文本框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41501" y="4426552"/>
                    <a:ext cx="721235" cy="205563"/>
                  </a:xfrm>
                  <a:prstGeom prst="rect">
                    <a:avLst/>
                  </a:prstGeom>
                  <a:solidFill>
                    <a:srgbClr val="92D050"/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 rot="0" vert="horz" wrap="square" lIns="91440" tIns="45720" rIns="91440" bIns="45720" anchor="t" anchorCtr="0">
                    <a:spAutoFit/>
                  </a:bodyPr>
                  <a:lstStyle/>
                  <a:p>
                    <a:r>
                      <a:rPr lang="zh-CN" altLang="en-US" sz="2000" b="1" dirty="0">
                        <a:solidFill>
                          <a:schemeClr val="bg1"/>
                        </a:solidFill>
                        <a:ea typeface="华文中宋" panose="02010600040101010101" pitchFamily="2" charset="-122"/>
                      </a:rPr>
                      <a:t>橡胶</a:t>
                    </a:r>
                    <a:endParaRPr lang="zh-CN" altLang="en-US" sz="2000" kern="100" dirty="0">
                      <a:solidFill>
                        <a:srgbClr val="FF0000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Times New Roman" panose="02020603050405020304"/>
                      <a:sym typeface="Times New Roman" panose="02020603050405020304"/>
                    </a:endParaRPr>
                  </a:p>
                </p:txBody>
              </p:sp>
              <p:sp useBgFill="1">
                <p:nvSpPr>
                  <p:cNvPr id="25" name="左大括号 39"/>
                  <p:cNvSpPr/>
                  <p:nvPr/>
                </p:nvSpPr>
                <p:spPr>
                  <a:xfrm>
                    <a:off x="2578949" y="4364720"/>
                    <a:ext cx="156696" cy="787750"/>
                  </a:xfrm>
                  <a:prstGeom prst="leftBrace">
                    <a:avLst>
                      <a:gd name="adj1" fmla="val 47157"/>
                      <a:gd name="adj2" fmla="val 50000"/>
                    </a:avLst>
                  </a:prstGeom>
                  <a:ln w="22225">
                    <a:solidFill>
                      <a:srgbClr val="FF0000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 dirty="0"/>
                  </a:p>
                </p:txBody>
              </p:sp>
              <p:sp>
                <p:nvSpPr>
                  <p:cNvPr id="26" name="文本框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41501" y="4195224"/>
                    <a:ext cx="704376" cy="205563"/>
                  </a:xfrm>
                  <a:prstGeom prst="rect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 rot="0" vert="horz" wrap="square" lIns="91440" tIns="45720" rIns="91440" bIns="45720" anchor="t" anchorCtr="0">
                    <a:spAutoFit/>
                  </a:bodyPr>
                  <a:lstStyle/>
                  <a:p>
                    <a:r>
                      <a:rPr lang="zh-CN" altLang="en-US" sz="2000" b="1" dirty="0">
                        <a:solidFill>
                          <a:srgbClr val="FF0000"/>
                        </a:solidFill>
                        <a:ea typeface="华文中宋" panose="02010600040101010101" pitchFamily="2" charset="-122"/>
                      </a:rPr>
                      <a:t>塑料</a:t>
                    </a:r>
                    <a:endParaRPr lang="zh-CN" altLang="en-US" sz="2000" kern="100" dirty="0">
                      <a:solidFill>
                        <a:schemeClr val="bg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Times New Roman" panose="02020603050405020304"/>
                      <a:sym typeface="Times New Roman" panose="02020603050405020304"/>
                    </a:endParaRPr>
                  </a:p>
                </p:txBody>
              </p:sp>
            </p:grpSp>
            <p:sp useBgFill="1">
              <p:nvSpPr>
                <p:cNvPr id="19" name="左大括号 39"/>
                <p:cNvSpPr/>
                <p:nvPr/>
              </p:nvSpPr>
              <p:spPr>
                <a:xfrm>
                  <a:off x="2947810" y="3518203"/>
                  <a:ext cx="136779" cy="548398"/>
                </a:xfrm>
                <a:prstGeom prst="leftBrace">
                  <a:avLst>
                    <a:gd name="adj1" fmla="val 47157"/>
                    <a:gd name="adj2" fmla="val 50000"/>
                  </a:avLst>
                </a:prstGeom>
                <a:ln w="22225">
                  <a:solidFill>
                    <a:srgbClr val="FF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 dirty="0"/>
                </a:p>
              </p:txBody>
            </p:sp>
            <p:sp>
              <p:nvSpPr>
                <p:cNvPr id="20" name="文本框 2"/>
                <p:cNvSpPr txBox="1">
                  <a:spLocks noChangeArrowheads="1"/>
                </p:cNvSpPr>
                <p:nvPr/>
              </p:nvSpPr>
              <p:spPr bwMode="auto">
                <a:xfrm>
                  <a:off x="3163220" y="3417820"/>
                  <a:ext cx="1013987" cy="400110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 rot="0" vert="horz" wrap="square" lIns="91440" tIns="45720" rIns="91440" bIns="45720" anchor="t" anchorCtr="0">
                  <a:spAutoFit/>
                </a:bodyPr>
                <a:lstStyle/>
                <a:p>
                  <a:pPr algn="l"/>
                  <a:r>
                    <a:rPr lang="zh-CN" altLang="en-US" sz="2000" b="1" dirty="0">
                      <a:solidFill>
                        <a:schemeClr val="bg1"/>
                      </a:solidFill>
                      <a:ea typeface="华文中宋" panose="02010600040101010101" pitchFamily="2" charset="-122"/>
                    </a:rPr>
                    <a:t>加聚物</a:t>
                  </a:r>
                  <a:endParaRPr lang="zh-CN" altLang="en-US" sz="2000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/>
                    <a:sym typeface="Times New Roman" panose="02020603050405020304"/>
                  </a:endParaRPr>
                </a:p>
              </p:txBody>
            </p:sp>
            <p:sp>
              <p:nvSpPr>
                <p:cNvPr id="21" name="文本框 2"/>
                <p:cNvSpPr txBox="1">
                  <a:spLocks noChangeArrowheads="1"/>
                </p:cNvSpPr>
                <p:nvPr/>
              </p:nvSpPr>
              <p:spPr bwMode="auto">
                <a:xfrm>
                  <a:off x="3153839" y="3833428"/>
                  <a:ext cx="992404" cy="400110"/>
                </a:xfrm>
                <a:prstGeom prst="rect">
                  <a:avLst/>
                </a:prstGeom>
                <a:solidFill>
                  <a:srgbClr val="92D050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 rot="0" vert="horz" wrap="square" lIns="91440" tIns="45720" rIns="91440" bIns="45720" anchor="t" anchorCtr="0">
                  <a:spAutoFit/>
                </a:bodyPr>
                <a:lstStyle/>
                <a:p>
                  <a:r>
                    <a:rPr lang="zh-CN" altLang="en-US" sz="2000" b="1" dirty="0">
                      <a:solidFill>
                        <a:srgbClr val="FF0000"/>
                      </a:solidFill>
                      <a:ea typeface="华文中宋" panose="02010600040101010101" pitchFamily="2" charset="-122"/>
                    </a:rPr>
                    <a:t>缩聚物</a:t>
                  </a:r>
                  <a:endParaRPr lang="zh-CN" altLang="en-US" sz="2000" kern="100" dirty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/>
                    <a:sym typeface="Times New Roman" panose="02020603050405020304"/>
                  </a:endParaRP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1444040" y="3217358"/>
                <a:ext cx="3565018" cy="1731862"/>
                <a:chOff x="1412821" y="3420680"/>
                <a:chExt cx="3565018" cy="1731862"/>
              </a:xfrm>
            </p:grpSpPr>
            <p:sp>
              <p:nvSpPr>
                <p:cNvPr id="14" name="文本框 2"/>
                <p:cNvSpPr txBox="1">
                  <a:spLocks noChangeArrowheads="1"/>
                </p:cNvSpPr>
                <p:nvPr/>
              </p:nvSpPr>
              <p:spPr bwMode="auto">
                <a:xfrm>
                  <a:off x="1412821" y="3420680"/>
                  <a:ext cx="1483048" cy="707886"/>
                </a:xfrm>
                <a:prstGeom prst="rect">
                  <a:avLst/>
                </a:prstGeom>
                <a:solidFill>
                  <a:srgbClr val="92D050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 rot="0" vert="horz" wrap="square" lIns="91440" tIns="45720" rIns="91440" bIns="45720" anchor="t" anchorCtr="0">
                  <a:spAutoFit/>
                </a:bodyPr>
                <a:lstStyle/>
                <a:p>
                  <a:pPr algn="l"/>
                  <a:r>
                    <a:rPr lang="zh-CN" altLang="en-US" sz="2000" b="1" dirty="0">
                      <a:solidFill>
                        <a:schemeClr val="bg1"/>
                      </a:solidFill>
                      <a:ea typeface="华文中宋" panose="02010600040101010101" pitchFamily="2" charset="-122"/>
                    </a:rPr>
                    <a:t>按</a:t>
                  </a:r>
                  <a:r>
                    <a:rPr lang="zh-CN" altLang="en-US" sz="2000" b="1" dirty="0">
                      <a:solidFill>
                        <a:srgbClr val="FF0000"/>
                      </a:solidFill>
                      <a:ea typeface="华文中宋" panose="02010600040101010101" pitchFamily="2" charset="-122"/>
                    </a:rPr>
                    <a:t>聚合物反应类型</a:t>
                  </a:r>
                  <a:r>
                    <a:rPr lang="zh-CN" altLang="en-US" sz="2000" b="1" dirty="0">
                      <a:solidFill>
                        <a:schemeClr val="bg1"/>
                      </a:solidFill>
                      <a:ea typeface="华文中宋" panose="02010600040101010101" pitchFamily="2" charset="-122"/>
                    </a:rPr>
                    <a:t>分</a:t>
                  </a:r>
                  <a:endParaRPr lang="zh-CN" altLang="en-US" sz="2000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/>
                    <a:sym typeface="Times New Roman" panose="02020603050405020304"/>
                  </a:endParaRPr>
                </a:p>
              </p:txBody>
            </p:sp>
            <p:sp>
              <p:nvSpPr>
                <p:cNvPr id="15" name="文本框 2"/>
                <p:cNvSpPr txBox="1">
                  <a:spLocks noChangeArrowheads="1"/>
                </p:cNvSpPr>
                <p:nvPr/>
              </p:nvSpPr>
              <p:spPr bwMode="auto">
                <a:xfrm>
                  <a:off x="1485370" y="4444656"/>
                  <a:ext cx="1430679" cy="707886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 rot="0" vert="horz" wrap="square" lIns="91440" tIns="45720" rIns="91440" bIns="45720" anchor="t" anchorCtr="0">
                  <a:spAutoFit/>
                </a:bodyPr>
                <a:lstStyle/>
                <a:p>
                  <a:pPr algn="l"/>
                  <a:r>
                    <a:rPr lang="zh-CN" altLang="en-US" sz="2000" b="1" dirty="0">
                      <a:solidFill>
                        <a:srgbClr val="FF0000"/>
                      </a:solidFill>
                      <a:ea typeface="华文中宋" panose="02010600040101010101" pitchFamily="2" charset="-122"/>
                    </a:rPr>
                    <a:t>按聚合物的热行为</a:t>
                  </a:r>
                  <a:endParaRPr lang="zh-CN" altLang="en-US" sz="2000" kern="100" dirty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/>
                    <a:sym typeface="Times New Roman" panose="02020603050405020304"/>
                  </a:endParaRPr>
                </a:p>
              </p:txBody>
            </p:sp>
            <p:sp useBgFill="1">
              <p:nvSpPr>
                <p:cNvPr id="16" name="左大括号 39"/>
                <p:cNvSpPr/>
                <p:nvPr/>
              </p:nvSpPr>
              <p:spPr>
                <a:xfrm>
                  <a:off x="2974429" y="4580757"/>
                  <a:ext cx="174727" cy="509833"/>
                </a:xfrm>
                <a:prstGeom prst="leftBrace">
                  <a:avLst>
                    <a:gd name="adj1" fmla="val 47157"/>
                    <a:gd name="adj2" fmla="val 50000"/>
                  </a:avLst>
                </a:prstGeom>
                <a:ln w="22225">
                  <a:solidFill>
                    <a:srgbClr val="FF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 dirty="0"/>
                </a:p>
              </p:txBody>
            </p:sp>
            <p:sp>
              <p:nvSpPr>
                <p:cNvPr id="17" name="文本框 2"/>
                <p:cNvSpPr txBox="1">
                  <a:spLocks noChangeArrowheads="1"/>
                </p:cNvSpPr>
                <p:nvPr/>
              </p:nvSpPr>
              <p:spPr bwMode="auto">
                <a:xfrm>
                  <a:off x="3207536" y="4378785"/>
                  <a:ext cx="1770303" cy="400110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 rot="0" vert="horz" wrap="square" lIns="91440" tIns="45720" rIns="91440" bIns="45720" anchor="t" anchorCtr="0">
                  <a:spAutoFit/>
                </a:bodyPr>
                <a:lstStyle/>
                <a:p>
                  <a:pPr algn="l"/>
                  <a:r>
                    <a:rPr lang="zh-CN" altLang="en-US" sz="2000" b="1" dirty="0">
                      <a:solidFill>
                        <a:srgbClr val="FF0000"/>
                      </a:solidFill>
                      <a:ea typeface="华文中宋" panose="02010600040101010101" pitchFamily="2" charset="-122"/>
                    </a:rPr>
                    <a:t>热塑性</a:t>
                  </a:r>
                  <a:r>
                    <a:rPr lang="zh-CN" altLang="en-US" sz="2000" b="1" dirty="0">
                      <a:solidFill>
                        <a:schemeClr val="bg1"/>
                      </a:solidFill>
                      <a:ea typeface="华文中宋" panose="02010600040101010101" pitchFamily="2" charset="-122"/>
                    </a:rPr>
                    <a:t>聚合物</a:t>
                  </a:r>
                  <a:endParaRPr lang="zh-CN" altLang="en-US" sz="2000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/>
                    <a:sym typeface="Times New Roman" panose="02020603050405020304"/>
                  </a:endParaRPr>
                </a:p>
              </p:txBody>
            </p:sp>
          </p:grpSp>
        </p:grpSp>
        <p:sp>
          <p:nvSpPr>
            <p:cNvPr id="11" name="文本框 2"/>
            <p:cNvSpPr txBox="1">
              <a:spLocks noChangeArrowheads="1"/>
            </p:cNvSpPr>
            <p:nvPr/>
          </p:nvSpPr>
          <p:spPr bwMode="auto">
            <a:xfrm>
              <a:off x="3199977" y="4576158"/>
              <a:ext cx="1778712" cy="40011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l"/>
              <a:r>
                <a:rPr lang="zh-CN" altLang="en-US" sz="2000" b="1" dirty="0">
                  <a:solidFill>
                    <a:srgbClr val="FF0000"/>
                  </a:solidFill>
                  <a:ea typeface="华文中宋" panose="02010600040101010101" pitchFamily="2" charset="-122"/>
                </a:rPr>
                <a:t>热固性</a:t>
              </a:r>
              <a:r>
                <a:rPr lang="zh-CN" altLang="en-US" sz="2000" b="1" dirty="0">
                  <a:solidFill>
                    <a:schemeClr val="bg1"/>
                  </a:solidFill>
                  <a:ea typeface="华文中宋" panose="02010600040101010101" pitchFamily="2" charset="-122"/>
                </a:rPr>
                <a:t>聚合物</a:t>
              </a:r>
              <a:endParaRPr lang="zh-CN" altLang="en-US" sz="2000" kern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sp>
        <p:nvSpPr>
          <p:cNvPr id="31" name="文本框 2"/>
          <p:cNvSpPr txBox="1">
            <a:spLocks noChangeArrowheads="1"/>
          </p:cNvSpPr>
          <p:nvPr/>
        </p:nvSpPr>
        <p:spPr bwMode="auto">
          <a:xfrm>
            <a:off x="3006983" y="2352759"/>
            <a:ext cx="1013987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r>
              <a:rPr lang="zh-CN" altLang="en-US" sz="2000" kern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胶粘剂</a:t>
            </a:r>
          </a:p>
        </p:txBody>
      </p:sp>
      <p:sp>
        <p:nvSpPr>
          <p:cNvPr id="32" name="文本框 2"/>
          <p:cNvSpPr txBox="1">
            <a:spLocks noChangeArrowheads="1"/>
          </p:cNvSpPr>
          <p:nvPr/>
        </p:nvSpPr>
        <p:spPr bwMode="auto">
          <a:xfrm>
            <a:off x="3031411" y="2779023"/>
            <a:ext cx="841632" cy="400110"/>
          </a:xfrm>
          <a:prstGeom prst="rect">
            <a:avLst/>
          </a:prstGeom>
          <a:solidFill>
            <a:srgbClr val="92D050"/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ea typeface="华文中宋" panose="02010600040101010101" pitchFamily="2" charset="-122"/>
              </a:rPr>
              <a:t>涂料</a:t>
            </a:r>
            <a:endParaRPr lang="zh-CN" altLang="en-US" sz="2000" kern="1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3" name="文本框 2"/>
          <p:cNvSpPr txBox="1">
            <a:spLocks noChangeArrowheads="1"/>
          </p:cNvSpPr>
          <p:nvPr/>
        </p:nvSpPr>
        <p:spPr bwMode="auto">
          <a:xfrm>
            <a:off x="1637021" y="5554697"/>
            <a:ext cx="1480722" cy="70788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l"/>
            <a:r>
              <a:rPr lang="zh-CN" altLang="en-US" sz="2000" b="1" dirty="0">
                <a:solidFill>
                  <a:schemeClr val="bg1"/>
                </a:solidFill>
                <a:ea typeface="华文中宋" panose="02010600040101010101" pitchFamily="2" charset="-122"/>
              </a:rPr>
              <a:t>按主链上的化学组成</a:t>
            </a:r>
            <a:endParaRPr lang="zh-CN" altLang="en-US" sz="2000" kern="1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 useBgFill="1">
        <p:nvSpPr>
          <p:cNvPr id="34" name="左大括号 39"/>
          <p:cNvSpPr/>
          <p:nvPr/>
        </p:nvSpPr>
        <p:spPr>
          <a:xfrm>
            <a:off x="3205452" y="5554697"/>
            <a:ext cx="156696" cy="796159"/>
          </a:xfrm>
          <a:prstGeom prst="leftBrace">
            <a:avLst>
              <a:gd name="adj1" fmla="val 47157"/>
              <a:gd name="adj2" fmla="val 50000"/>
            </a:avLst>
          </a:prstGeom>
          <a:ln w="2222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CN" altLang="en-US" dirty="0"/>
          </a:p>
        </p:txBody>
      </p:sp>
      <p:sp>
        <p:nvSpPr>
          <p:cNvPr id="35" name="文本框 2"/>
          <p:cNvSpPr txBox="1">
            <a:spLocks noChangeArrowheads="1"/>
          </p:cNvSpPr>
          <p:nvPr/>
        </p:nvSpPr>
        <p:spPr bwMode="auto">
          <a:xfrm>
            <a:off x="3459045" y="5307757"/>
            <a:ext cx="1977050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l"/>
            <a:r>
              <a:rPr lang="zh-CN" altLang="en-US" sz="2000" b="1" dirty="0">
                <a:solidFill>
                  <a:srgbClr val="FF0000"/>
                </a:solidFill>
                <a:ea typeface="华文中宋" panose="02010600040101010101" pitchFamily="2" charset="-122"/>
              </a:rPr>
              <a:t>碳链</a:t>
            </a:r>
            <a:r>
              <a:rPr lang="zh-CN" altLang="en-US" sz="2000" b="1" dirty="0">
                <a:solidFill>
                  <a:schemeClr val="bg1"/>
                </a:solidFill>
                <a:ea typeface="华文中宋" panose="02010600040101010101" pitchFamily="2" charset="-122"/>
              </a:rPr>
              <a:t>聚合物</a:t>
            </a:r>
            <a:endParaRPr lang="zh-CN" altLang="en-US" sz="2000" kern="1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6" name="文本框 2"/>
          <p:cNvSpPr txBox="1">
            <a:spLocks noChangeArrowheads="1"/>
          </p:cNvSpPr>
          <p:nvPr/>
        </p:nvSpPr>
        <p:spPr bwMode="auto">
          <a:xfrm>
            <a:off x="3452278" y="5739384"/>
            <a:ext cx="1983817" cy="4001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l"/>
            <a:r>
              <a:rPr lang="zh-CN" altLang="en-US" sz="2000" b="1" dirty="0">
                <a:solidFill>
                  <a:srgbClr val="FF0000"/>
                </a:solidFill>
                <a:ea typeface="华文中宋" panose="02010600040101010101" pitchFamily="2" charset="-122"/>
              </a:rPr>
              <a:t>杂链</a:t>
            </a:r>
            <a:r>
              <a:rPr lang="zh-CN" altLang="en-US" sz="2000" b="1" dirty="0">
                <a:solidFill>
                  <a:schemeClr val="bg1"/>
                </a:solidFill>
                <a:ea typeface="华文中宋" panose="02010600040101010101" pitchFamily="2" charset="-122"/>
              </a:rPr>
              <a:t>聚合物</a:t>
            </a:r>
            <a:endParaRPr lang="zh-CN" altLang="en-US" sz="2000" kern="1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7" name="文本框 2"/>
          <p:cNvSpPr txBox="1">
            <a:spLocks noChangeArrowheads="1"/>
          </p:cNvSpPr>
          <p:nvPr/>
        </p:nvSpPr>
        <p:spPr bwMode="auto">
          <a:xfrm>
            <a:off x="3449857" y="6171011"/>
            <a:ext cx="1986239" cy="400110"/>
          </a:xfrm>
          <a:prstGeom prst="rect">
            <a:avLst/>
          </a:prstGeom>
          <a:solidFill>
            <a:srgbClr val="92D050"/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l"/>
            <a:r>
              <a:rPr lang="zh-CN" altLang="en-US" sz="2000" b="1" dirty="0">
                <a:solidFill>
                  <a:srgbClr val="FF0000"/>
                </a:solidFill>
                <a:ea typeface="华文中宋" panose="02010600040101010101" pitchFamily="2" charset="-122"/>
              </a:rPr>
              <a:t>元素有机</a:t>
            </a:r>
            <a:r>
              <a:rPr lang="zh-CN" altLang="en-US" sz="2000" b="1" dirty="0">
                <a:solidFill>
                  <a:schemeClr val="bg1"/>
                </a:solidFill>
                <a:ea typeface="华文中宋" panose="02010600040101010101" pitchFamily="2" charset="-122"/>
              </a:rPr>
              <a:t>聚合物</a:t>
            </a:r>
            <a:endParaRPr lang="zh-CN" altLang="en-US" sz="2000" kern="1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214313" y="1143000"/>
            <a:ext cx="6429375" cy="5214938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35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⑴ </a:t>
            </a:r>
            <a:r>
              <a:rPr lang="zh-CN" altLang="en-US" sz="2800" b="1" dirty="0">
                <a:solidFill>
                  <a:srgbClr val="CAF7FA"/>
                </a:solidFill>
                <a:ea typeface="华文中宋" panose="02010600040101010101" pitchFamily="2" charset="-122"/>
              </a:rPr>
              <a:t>按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用途</a:t>
            </a:r>
            <a:r>
              <a:rPr lang="zh-CN" altLang="en-US" sz="2800" b="1" dirty="0">
                <a:solidFill>
                  <a:srgbClr val="CAF7FA"/>
                </a:solidFill>
                <a:ea typeface="华文中宋" panose="02010600040101010101" pitchFamily="2" charset="-122"/>
              </a:rPr>
              <a:t>分：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塑料、橡胶、纤维、胶粘剂、涂料</a:t>
            </a:r>
            <a:r>
              <a:rPr lang="zh-CN" altLang="en-US" sz="2800" b="1" dirty="0">
                <a:solidFill>
                  <a:srgbClr val="CAF7FA"/>
                </a:solidFill>
                <a:ea typeface="华文中宋" panose="02010600040101010101" pitchFamily="2" charset="-122"/>
              </a:rPr>
              <a:t>等。 </a:t>
            </a:r>
          </a:p>
          <a:p>
            <a:pPr eaLnBrk="1" hangingPunct="1">
              <a:lnSpc>
                <a:spcPct val="135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⑵ </a:t>
            </a:r>
            <a:r>
              <a:rPr lang="zh-CN" altLang="en-US" sz="2800" b="1" dirty="0">
                <a:solidFill>
                  <a:srgbClr val="CAF7FA"/>
                </a:solidFill>
                <a:ea typeface="华文中宋" panose="02010600040101010101" pitchFamily="2" charset="-122"/>
              </a:rPr>
              <a:t>按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聚合物反应类型</a:t>
            </a:r>
            <a:r>
              <a:rPr lang="zh-CN" altLang="en-US" sz="2800" b="1" dirty="0">
                <a:solidFill>
                  <a:srgbClr val="CAF7FA"/>
                </a:solidFill>
                <a:ea typeface="华文中宋" panose="02010600040101010101" pitchFamily="2" charset="-122"/>
              </a:rPr>
              <a:t>分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：加聚物、缩聚物</a:t>
            </a:r>
            <a:r>
              <a:rPr lang="zh-CN" altLang="en-US" sz="2800" b="1" dirty="0">
                <a:ea typeface="华文中宋" panose="02010600040101010101" pitchFamily="2" charset="-122"/>
              </a:rPr>
              <a:t>。 </a:t>
            </a:r>
          </a:p>
          <a:p>
            <a:pPr eaLnBrk="1" hangingPunct="1">
              <a:lnSpc>
                <a:spcPct val="135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⑶ </a:t>
            </a:r>
            <a:r>
              <a:rPr lang="zh-CN" altLang="en-US" sz="2800" b="1" dirty="0">
                <a:solidFill>
                  <a:srgbClr val="CAF7FA"/>
                </a:solidFill>
                <a:ea typeface="华文中宋" panose="02010600040101010101" pitchFamily="2" charset="-122"/>
              </a:rPr>
              <a:t>按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聚合物的热行为</a:t>
            </a:r>
            <a:r>
              <a:rPr lang="zh-CN" altLang="en-US" sz="2800" b="1" dirty="0">
                <a:solidFill>
                  <a:srgbClr val="CAF7FA"/>
                </a:solidFill>
                <a:ea typeface="华文中宋" panose="02010600040101010101" pitchFamily="2" charset="-122"/>
              </a:rPr>
              <a:t>分：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热塑性</a:t>
            </a:r>
            <a:r>
              <a:rPr lang="zh-CN" altLang="en-US" sz="2800" b="1" dirty="0">
                <a:solidFill>
                  <a:srgbClr val="CAF7FA"/>
                </a:solidFill>
                <a:ea typeface="华文中宋" panose="02010600040101010101" pitchFamily="2" charset="-122"/>
              </a:rPr>
              <a:t>聚合物、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热固性</a:t>
            </a:r>
            <a:r>
              <a:rPr lang="zh-CN" altLang="en-US" sz="2800" b="1" dirty="0">
                <a:solidFill>
                  <a:srgbClr val="CAF7FA"/>
                </a:solidFill>
                <a:ea typeface="华文中宋" panose="02010600040101010101" pitchFamily="2" charset="-122"/>
              </a:rPr>
              <a:t>聚合物 </a:t>
            </a:r>
          </a:p>
          <a:p>
            <a:pPr eaLnBrk="1" hangingPunct="1">
              <a:lnSpc>
                <a:spcPct val="135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⑷ 按主链上的化学组成</a:t>
            </a:r>
            <a:r>
              <a:rPr lang="zh-CN" altLang="en-US" sz="2800" b="1" dirty="0">
                <a:ea typeface="华文中宋" panose="02010600040101010101" pitchFamily="2" charset="-122"/>
              </a:rPr>
              <a:t>分：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碳链</a:t>
            </a:r>
            <a:r>
              <a:rPr lang="zh-CN" altLang="en-US" sz="2800" b="1" dirty="0">
                <a:ea typeface="华文中宋" panose="02010600040101010101" pitchFamily="2" charset="-122"/>
              </a:rPr>
              <a:t>聚合物</a:t>
            </a:r>
            <a:r>
              <a:rPr lang="zh-CN" altLang="en-US" sz="1400" b="1" dirty="0">
                <a:ea typeface="华文中宋" panose="02010600040101010101" pitchFamily="2" charset="-122"/>
              </a:rPr>
              <a:t>、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杂链</a:t>
            </a:r>
            <a:r>
              <a:rPr lang="zh-CN" altLang="en-US" sz="2800" b="1" dirty="0">
                <a:ea typeface="华文中宋" panose="02010600040101010101" pitchFamily="2" charset="-122"/>
              </a:rPr>
              <a:t>聚合物和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元素有机</a:t>
            </a:r>
            <a:r>
              <a:rPr lang="zh-CN" altLang="en-US" sz="2800" b="1" dirty="0">
                <a:ea typeface="华文中宋" panose="02010600040101010101" pitchFamily="2" charset="-122"/>
              </a:rPr>
              <a:t>聚合物 </a:t>
            </a:r>
          </a:p>
        </p:txBody>
      </p:sp>
      <p:pic>
        <p:nvPicPr>
          <p:cNvPr id="6148" name="Picture 4" descr="高分子材料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81788" y="1125220"/>
            <a:ext cx="2462212" cy="53959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547664" y="-132270"/>
            <a:ext cx="6188075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华文中宋" panose="02010600040101010101" pitchFamily="2" charset="-122"/>
                <a:cs typeface="+mn-cs"/>
              </a:rPr>
              <a:t>2 、高分子材料的分类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9221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  <a:t>12/11/2025 10:57 AM</a:t>
            </a:fld>
            <a:endParaRPr lang="en-US" altLang="zh-CN" sz="1400" dirty="0"/>
          </a:p>
        </p:txBody>
      </p:sp>
      <p:sp>
        <p:nvSpPr>
          <p:cNvPr id="922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10338"/>
            <a:ext cx="314325" cy="347662"/>
          </a:xfrm>
        </p:spPr>
        <p:txBody>
          <a:bodyPr wrap="square" lIns="92075" tIns="46038" rIns="92075" bIns="46038" anchor="ctr"/>
          <a:lstStyle/>
          <a:p>
            <a:pPr algn="r"/>
            <a:fld id="{9A0DB2DC-4C9A-4742-B13C-FB6460FD3503}" type="slidenum">
              <a:rPr lang="en-US" altLang="zh-CN" sz="1400" dirty="0"/>
              <a:t>10</a:t>
            </a:fld>
            <a:endParaRPr lang="en-US" altLang="zh-CN" sz="1400" dirty="0"/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 advAuto="100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1497162"/>
            <a:ext cx="8370589" cy="2736304"/>
          </a:xfrm>
        </p:spPr>
        <p:txBody>
          <a:bodyPr vert="horz" wrap="square" lIns="92075" tIns="46038" rIns="92075" bIns="46038" numCol="1" anchor="ctr" anchorCtr="0" compatLnSpc="1"/>
          <a:lstStyle/>
          <a:p>
            <a:pPr lvl="0" eaLnBrk="1" hangingPunct="1">
              <a:defRPr/>
            </a:pPr>
            <a:r>
              <a:rPr kumimoji="1" lang="zh-CN" altLang="en-US" sz="6000" b="1" i="0" u="none" strike="noStrike" kern="0" cap="none" spc="0" normalizeH="0" baseline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华文中宋" panose="02010600040101010101" pitchFamily="2" charset="-122"/>
                <a:cs typeface="+mn-cs"/>
              </a:rPr>
              <a:t>二、高分子材料的结构</a:t>
            </a:r>
            <a:br>
              <a:rPr kumimoji="1" lang="en-US" altLang="zh-CN" sz="6000" b="1" i="0" u="none" strike="noStrike" kern="0" cap="none" spc="0" normalizeH="0" baseline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华文中宋" panose="02010600040101010101" pitchFamily="2" charset="-122"/>
                <a:cs typeface="+mn-cs"/>
              </a:rPr>
            </a:br>
            <a:r>
              <a:rPr lang="en-US" altLang="zh-CN" sz="6000" b="1" i="1" dirty="0">
                <a:solidFill>
                  <a:srgbClr val="FF0000"/>
                </a:solidFill>
                <a:effectLst/>
                <a:latin typeface="+mn-lt"/>
              </a:rPr>
              <a:t>Structure</a:t>
            </a:r>
            <a:r>
              <a:rPr kumimoji="1" lang="en-US" altLang="zh-CN" sz="6000" b="1" i="0" u="none" strike="noStrike" kern="0" cap="none" spc="0" normalizeH="0" baseline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华文中宋" panose="02010600040101010101" pitchFamily="2" charset="-122"/>
                <a:cs typeface="+mn-cs"/>
              </a:rPr>
              <a:t> </a:t>
            </a:r>
            <a:r>
              <a:rPr lang="en-US" altLang="zh-CN" sz="6000" b="1" i="1" dirty="0">
                <a:solidFill>
                  <a:srgbClr val="FF0000"/>
                </a:solidFill>
                <a:effectLst/>
                <a:latin typeface="+mn-lt"/>
              </a:rPr>
              <a:t>of the polymer materials</a:t>
            </a:r>
            <a:endParaRPr kumimoji="1" lang="zh-CN" altLang="en-US" sz="6000" b="1" i="0" u="none" strike="noStrike" kern="0" cap="none" spc="0" normalizeH="0" baseline="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0246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  <a:t>12/11/2025 10:57 AM</a:t>
            </a:fld>
            <a:endParaRPr lang="en-US" altLang="zh-CN" sz="1400" dirty="0"/>
          </a:p>
        </p:txBody>
      </p:sp>
      <p:sp>
        <p:nvSpPr>
          <p:cNvPr id="1024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10338"/>
            <a:ext cx="314325" cy="347662"/>
          </a:xfrm>
        </p:spPr>
        <p:txBody>
          <a:bodyPr wrap="square" lIns="92075" tIns="46038" rIns="92075" bIns="46038" anchor="ctr"/>
          <a:lstStyle/>
          <a:p>
            <a:pPr algn="r"/>
            <a:fld id="{9A0DB2DC-4C9A-4742-B13C-FB6460FD3503}" type="slidenum">
              <a:rPr lang="en-US" altLang="zh-CN" sz="1400" dirty="0"/>
              <a:t>11</a:t>
            </a:fld>
            <a:endParaRPr lang="en-US" altLang="zh-CN" sz="1400" dirty="0"/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0" y="249301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25" y="0"/>
            <a:ext cx="6329363" cy="8572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华文中宋" panose="02010600040101010101" pitchFamily="2" charset="-122"/>
                <a:cs typeface="+mn-cs"/>
              </a:rPr>
              <a:t>二、高分子材料的结构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307023" y="966227"/>
            <a:ext cx="5984240" cy="5486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1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、大分子链的结构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⑴ 大分子链的柔顺性 </a:t>
            </a: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大分子链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主链共价键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有一定的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键长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和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键角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，保持键长和键角不变时单键可任意旋转，称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单键的内旋转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。</a:t>
            </a:r>
          </a:p>
        </p:txBody>
      </p:sp>
      <p:sp>
        <p:nvSpPr>
          <p:cNvPr id="7181" name="Rectangle 13"/>
          <p:cNvSpPr/>
          <p:nvPr/>
        </p:nvSpPr>
        <p:spPr>
          <a:xfrm>
            <a:off x="304800" y="4495800"/>
            <a:ext cx="8610600" cy="1981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内旋转</a:t>
            </a:r>
            <a:r>
              <a:rPr kumimoji="1" lang="zh-CN" altLang="en-US" sz="2800" b="1" kern="0" dirty="0">
                <a:latin typeface="+mn-lt"/>
                <a:ea typeface="华文中宋" panose="02010600040101010101" pitchFamily="2" charset="-122"/>
              </a:rPr>
              <a:t>使</a:t>
            </a: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大分子链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卷曲成</a:t>
            </a: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各种不同形状，对外力有很大的适应性，这种特性称为大分子链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</a:t>
            </a:r>
            <a:r>
              <a:rPr lang="zh-CN" altLang="en-US" sz="2800" b="1" dirty="0">
                <a:solidFill>
                  <a:srgbClr val="FFFF00"/>
                </a:solidFill>
                <a:ea typeface="华文中宋" panose="02010600040101010101" pitchFamily="2" charset="-122"/>
              </a:rPr>
              <a:t>柔顺性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柔顺性与单键内旋转的难易程度有关。  </a:t>
            </a:r>
          </a:p>
        </p:txBody>
      </p:sp>
      <p:pic>
        <p:nvPicPr>
          <p:cNvPr id="10244" name="Picture 15" descr="fi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372225" y="1268413"/>
            <a:ext cx="2401888" cy="25955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6" name="日期占位符 1"/>
          <p:cNvSpPr>
            <a:spLocks noGrp="1"/>
          </p:cNvSpPr>
          <p:nvPr>
            <p:ph type="dt" sz="half" idx="10"/>
          </p:nvPr>
        </p:nvSpPr>
        <p:spPr>
          <a:xfrm>
            <a:off x="19685" y="6644154"/>
            <a:ext cx="1785938" cy="210671"/>
          </a:xfrm>
        </p:spPr>
        <p:txBody>
          <a:bodyPr wrap="square" lIns="92075" tIns="46038" rIns="92075" bIns="46038"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  <a:t>12/11/2025 10:57 AM</a:t>
            </a:fld>
            <a:endParaRPr lang="en-US" altLang="zh-CN" sz="1400" dirty="0"/>
          </a:p>
        </p:txBody>
      </p:sp>
      <p:sp>
        <p:nvSpPr>
          <p:cNvPr id="1024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244408" y="6510338"/>
            <a:ext cx="499543" cy="347662"/>
          </a:xfrm>
        </p:spPr>
        <p:txBody>
          <a:bodyPr wrap="square" lIns="92075" tIns="46038" rIns="92075" bIns="46038" anchor="ctr"/>
          <a:lstStyle/>
          <a:p>
            <a:pPr algn="r"/>
            <a:fld id="{9A0DB2DC-4C9A-4742-B13C-FB6460FD3503}" type="slidenum">
              <a:rPr lang="en-US" altLang="zh-CN" sz="1400" dirty="0"/>
              <a:t>12</a:t>
            </a:fld>
            <a:endParaRPr lang="en-US" altLang="zh-CN" sz="1400" dirty="0"/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/>
      <p:bldP spid="7171" grpId="0" build="p" advAuto="1000"/>
      <p:bldP spid="7181" grpId="0" build="p" advAuto="100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/>
          </p:cNvSpPr>
          <p:nvPr>
            <p:ph idx="1"/>
          </p:nvPr>
        </p:nvSpPr>
        <p:spPr>
          <a:xfrm>
            <a:off x="228600" y="928688"/>
            <a:ext cx="8686800" cy="3719512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按照大分子链的几何形状，</a:t>
            </a:r>
            <a:r>
              <a:rPr lang="zh-CN" altLang="en-US" sz="2800" b="1" dirty="0">
                <a:ea typeface="华文中宋" panose="02010600040101010101" pitchFamily="2" charset="-122"/>
              </a:rPr>
              <a:t>可将高分子化合物分为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线型结构、支链型结构</a:t>
            </a:r>
            <a:r>
              <a:rPr lang="zh-CN" altLang="en-US" sz="2800" b="1" dirty="0">
                <a:ea typeface="华文中宋" panose="02010600040101010101" pitchFamily="2" charset="-122"/>
              </a:rPr>
              <a:t>和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体型结构。</a:t>
            </a:r>
          </a:p>
          <a:p>
            <a:pPr eaLnBrk="1" hangingPunct="1">
              <a:lnSpc>
                <a:spcPct val="140000"/>
              </a:lnSpc>
            </a:pP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pic>
        <p:nvPicPr>
          <p:cNvPr id="8202" name="Picture 10" descr="高分子结构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66445" y="2247142"/>
            <a:ext cx="7696200" cy="792163"/>
          </a:xfrm>
          <a:prstGeom prst="rect">
            <a:avLst/>
          </a:prstGeom>
          <a:noFill/>
          <a:ln w="28575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25" y="116205"/>
            <a:ext cx="5525219" cy="8572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华文中宋" panose="02010600040101010101" pitchFamily="2" charset="-122"/>
                <a:cs typeface="+mn-cs"/>
              </a:rPr>
              <a:t>⑵ 大分子链的形状</a:t>
            </a:r>
          </a:p>
        </p:txBody>
      </p:sp>
      <p:sp>
        <p:nvSpPr>
          <p:cNvPr id="1127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316417" y="6510338"/>
            <a:ext cx="427534" cy="347662"/>
          </a:xfrm>
        </p:spPr>
        <p:txBody>
          <a:bodyPr wrap="square" lIns="92075" tIns="46038" rIns="92075" bIns="46038" anchor="ctr"/>
          <a:lstStyle/>
          <a:p>
            <a:pPr algn="r"/>
            <a:fld id="{9A0DB2DC-4C9A-4742-B13C-FB6460FD3503}" type="slidenum">
              <a:rPr lang="en-US" altLang="zh-CN" sz="1400" dirty="0"/>
              <a:t>13</a:t>
            </a:fld>
            <a:endParaRPr lang="en-US" altLang="zh-CN" sz="1400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9685" y="6644154"/>
            <a:ext cx="1785938" cy="210671"/>
          </a:xfrm>
        </p:spPr>
        <p:txBody>
          <a:bodyPr wrap="square" lIns="92075" tIns="46038" rIns="92075" bIns="46038"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  <a:t>12/11/2025 10:57 AM</a:t>
            </a:fld>
            <a:endParaRPr lang="en-US" altLang="zh-CN" sz="1400" dirty="0"/>
          </a:p>
        </p:txBody>
      </p:sp>
      <p:grpSp>
        <p:nvGrpSpPr>
          <p:cNvPr id="14" name="组合 13"/>
          <p:cNvGrpSpPr/>
          <p:nvPr/>
        </p:nvGrpSpPr>
        <p:grpSpPr>
          <a:xfrm>
            <a:off x="611560" y="3397688"/>
            <a:ext cx="7564236" cy="2469874"/>
            <a:chOff x="1546386" y="4186501"/>
            <a:chExt cx="7564236" cy="1268937"/>
          </a:xfrm>
        </p:grpSpPr>
        <p:grpSp>
          <p:nvGrpSpPr>
            <p:cNvPr id="19" name="组合 20"/>
            <p:cNvGrpSpPr/>
            <p:nvPr/>
          </p:nvGrpSpPr>
          <p:grpSpPr>
            <a:xfrm>
              <a:off x="1546386" y="4523893"/>
              <a:ext cx="7564236" cy="931545"/>
              <a:chOff x="4551" y="5664"/>
              <a:chExt cx="12056" cy="1467"/>
            </a:xfrm>
          </p:grpSpPr>
          <p:sp>
            <p:nvSpPr>
              <p:cNvPr id="25" name="文本框 2"/>
              <p:cNvSpPr txBox="1">
                <a:spLocks noChangeArrowheads="1"/>
              </p:cNvSpPr>
              <p:nvPr/>
            </p:nvSpPr>
            <p:spPr bwMode="auto">
              <a:xfrm>
                <a:off x="4551" y="5664"/>
                <a:ext cx="1951" cy="971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algn="l"/>
                <a:r>
                  <a:rPr lang="zh-CN" altLang="en-US" b="1" dirty="0">
                    <a:solidFill>
                      <a:srgbClr val="FF0000"/>
                    </a:solidFill>
                    <a:ea typeface="华文中宋" panose="02010600040101010101" pitchFamily="2" charset="-122"/>
                  </a:rPr>
                  <a:t>高分子化合物的结构</a:t>
                </a:r>
                <a:endParaRPr lang="zh-CN" altLang="en-US" kern="1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6" name="文本框 2"/>
              <p:cNvSpPr txBox="1">
                <a:spLocks noChangeArrowheads="1"/>
              </p:cNvSpPr>
              <p:nvPr/>
            </p:nvSpPr>
            <p:spPr bwMode="auto">
              <a:xfrm>
                <a:off x="7035" y="6459"/>
                <a:ext cx="9572" cy="672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r>
                  <a:rPr lang="zh-CN" altLang="en-US" b="1" dirty="0">
                    <a:solidFill>
                      <a:srgbClr val="FF0000"/>
                    </a:solidFill>
                    <a:ea typeface="华文中宋" panose="02010600040101010101" pitchFamily="2" charset="-122"/>
                  </a:rPr>
                  <a:t>体型结构：</a:t>
                </a:r>
                <a:r>
                  <a:rPr lang="zh-CN" altLang="en-US" sz="2400" b="1" dirty="0">
                    <a:solidFill>
                      <a:schemeClr val="bg1"/>
                    </a:solidFill>
                    <a:ea typeface="华文中宋" panose="02010600040101010101" pitchFamily="2" charset="-122"/>
                  </a:rPr>
                  <a:t>硬度高，脆性大，无弹性和塑性，是热固性材料。</a:t>
                </a:r>
                <a:endParaRPr lang="zh-CN" altLang="en-US" kern="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</p:grpSp>
        <p:sp>
          <p:nvSpPr>
            <p:cNvPr id="20" name="文本框 2"/>
            <p:cNvSpPr txBox="1">
              <a:spLocks noChangeArrowheads="1"/>
            </p:cNvSpPr>
            <p:nvPr/>
          </p:nvSpPr>
          <p:spPr bwMode="auto">
            <a:xfrm>
              <a:off x="3150218" y="4704706"/>
              <a:ext cx="4947060" cy="237188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ea typeface="华文中宋" panose="02010600040101010101" pitchFamily="2" charset="-122"/>
                </a:rPr>
                <a:t>支链型结构：</a:t>
              </a:r>
              <a:r>
                <a:rPr lang="zh-CN" altLang="en-US" sz="2400" b="1" dirty="0">
                  <a:ea typeface="华文中宋" panose="02010600040101010101" pitchFamily="2" charset="-122"/>
                </a:rPr>
                <a:t>近于线型结构 </a:t>
              </a:r>
              <a:endParaRPr lang="zh-CN" altLang="en-US" kern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 useBgFill="1">
          <p:nvSpPr>
            <p:cNvPr id="21" name="左大括号 39"/>
            <p:cNvSpPr/>
            <p:nvPr/>
          </p:nvSpPr>
          <p:spPr>
            <a:xfrm>
              <a:off x="2905407" y="4379430"/>
              <a:ext cx="175777" cy="887740"/>
            </a:xfrm>
            <a:prstGeom prst="leftBrace">
              <a:avLst>
                <a:gd name="adj1" fmla="val 47157"/>
                <a:gd name="adj2" fmla="val 50000"/>
              </a:avLst>
            </a:prstGeom>
            <a:ln w="2222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2" name="文本框 2"/>
            <p:cNvSpPr txBox="1">
              <a:spLocks noChangeArrowheads="1"/>
            </p:cNvSpPr>
            <p:nvPr/>
          </p:nvSpPr>
          <p:spPr bwMode="auto">
            <a:xfrm>
              <a:off x="3150497" y="4186501"/>
              <a:ext cx="5167875" cy="42693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ea typeface="华文中宋" panose="02010600040101010101" pitchFamily="2" charset="-122"/>
                </a:rPr>
                <a:t>线型结构：</a:t>
              </a:r>
              <a:r>
                <a:rPr lang="zh-CN" altLang="en-US" sz="2400" b="1" dirty="0">
                  <a:solidFill>
                    <a:schemeClr val="bg1"/>
                  </a:solidFill>
                  <a:ea typeface="华文中宋" panose="02010600040101010101" pitchFamily="2" charset="-122"/>
                </a:rPr>
                <a:t>弹性、塑性好，硬度低，是热塑性材料</a:t>
              </a:r>
              <a:endParaRPr lang="zh-CN" altLang="en-US" kern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 advAuto="1000"/>
      <p:bldP spid="7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/>
          </p:cNvSpPr>
          <p:nvPr>
            <p:ph idx="1"/>
          </p:nvPr>
        </p:nvSpPr>
        <p:spPr>
          <a:xfrm>
            <a:off x="228600" y="1196752"/>
            <a:ext cx="8686800" cy="5112568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固态高聚物  </a:t>
            </a:r>
            <a:r>
              <a:rPr lang="zh-CN" altLang="en-US" sz="2800" b="1" dirty="0">
                <a:ea typeface="华文中宋" panose="02010600040101010101" pitchFamily="2" charset="-122"/>
              </a:rPr>
              <a:t>分为：</a:t>
            </a:r>
            <a:endParaRPr lang="en-US" altLang="zh-CN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 （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）晶态：</a:t>
            </a:r>
            <a:r>
              <a:rPr lang="zh-CN" altLang="en-US" sz="2800" b="1" dirty="0">
                <a:ea typeface="华文中宋" panose="02010600040101010101" pitchFamily="2" charset="-122"/>
              </a:rPr>
              <a:t>分子链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排列规则</a:t>
            </a:r>
            <a:r>
              <a:rPr lang="zh-CN" altLang="en-US" sz="2800" b="1" dirty="0">
                <a:ea typeface="华文中宋" panose="02010600040101010101" pitchFamily="2" charset="-122"/>
              </a:rPr>
              <a:t>的部分</a:t>
            </a:r>
            <a:endParaRPr lang="en-US" altLang="zh-CN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（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）非晶态：</a:t>
            </a:r>
            <a:r>
              <a:rPr lang="zh-CN" altLang="en-US" sz="2800" b="1" dirty="0">
                <a:ea typeface="华文中宋" panose="02010600040101010101" pitchFamily="2" charset="-122"/>
              </a:rPr>
              <a:t>分子链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排列不规则</a:t>
            </a:r>
            <a:r>
              <a:rPr lang="zh-CN" altLang="en-US" sz="2800" b="1" dirty="0">
                <a:ea typeface="华文中宋" panose="02010600040101010101" pitchFamily="2" charset="-122"/>
              </a:rPr>
              <a:t>的部分</a:t>
            </a:r>
            <a:endParaRPr lang="en-US" altLang="zh-CN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一个 大分子链 可以穿过几个晶区</a:t>
            </a:r>
            <a:r>
              <a:rPr lang="zh-CN" altLang="en-US" sz="2800" b="1" dirty="0">
                <a:ea typeface="华文中宋" panose="02010600040101010101" pitchFamily="2" charset="-122"/>
              </a:rPr>
              <a:t>和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非晶区。</a:t>
            </a:r>
            <a:endParaRPr lang="en-US" altLang="zh-CN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晶区：</a:t>
            </a:r>
            <a:r>
              <a:rPr lang="zh-CN" altLang="en-US" sz="2800" b="1" dirty="0">
                <a:ea typeface="华文中宋" panose="02010600040101010101" pitchFamily="2" charset="-122"/>
              </a:rPr>
              <a:t>熔点、密度、强度、硬度、刚性、耐热性、化学稳定性高，而 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弹性、塑性、冲击强度</a:t>
            </a:r>
            <a:r>
              <a:rPr lang="zh-CN" altLang="en-US" sz="2800" b="1" dirty="0">
                <a:ea typeface="华文中宋" panose="02010600040101010101" pitchFamily="2" charset="-122"/>
              </a:rPr>
              <a:t>下降。 </a:t>
            </a:r>
            <a:endParaRPr lang="zh-CN" altLang="en-US" sz="2800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907704" y="188640"/>
            <a:ext cx="6101283" cy="857250"/>
          </a:xfrm>
        </p:spPr>
        <p:txBody>
          <a:bodyPr vert="horz" wrap="square" lIns="92075" tIns="46038" rIns="92075" bIns="46038" numCol="1" anchor="ctr" anchorCtr="0" compatLnSpc="1"/>
          <a:lstStyle/>
          <a:p>
            <a:pPr lvl="0" eaLnBrk="1" hangingPunct="1">
              <a:lnSpc>
                <a:spcPct val="90000"/>
              </a:lnSpc>
              <a:defRPr/>
            </a:pPr>
            <a:r>
              <a:rPr lang="en-US" altLang="zh-CN" b="1" dirty="0"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ea typeface="华文中宋" panose="02010600040101010101" pitchFamily="2" charset="-122"/>
              </a:rPr>
              <a:t>、高分子的聚集态结构</a:t>
            </a:r>
            <a:endParaRPr kumimoji="1" lang="zh-CN" altLang="en-US" sz="4400" b="1" i="0" u="none" strike="noStrike" kern="0" cap="none" spc="0" normalizeH="0" baseline="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127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316416" y="6510338"/>
            <a:ext cx="427535" cy="347662"/>
          </a:xfrm>
        </p:spPr>
        <p:txBody>
          <a:bodyPr wrap="square" lIns="92075" tIns="46038" rIns="92075" bIns="46038" anchor="ctr"/>
          <a:lstStyle/>
          <a:p>
            <a:pPr algn="r"/>
            <a:fld id="{9A0DB2DC-4C9A-4742-B13C-FB6460FD3503}" type="slidenum">
              <a:rPr lang="en-US" altLang="zh-CN" sz="1400" dirty="0"/>
              <a:t>14</a:t>
            </a:fld>
            <a:endParaRPr lang="en-US" altLang="zh-CN" sz="1400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9685" y="6644154"/>
            <a:ext cx="1785938" cy="210671"/>
          </a:xfrm>
        </p:spPr>
        <p:txBody>
          <a:bodyPr wrap="square" lIns="92075" tIns="46038" rIns="92075" bIns="46038"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  <a:t>12/11/2025 10:57 AM</a:t>
            </a:fld>
            <a:endParaRPr lang="en-US" altLang="zh-CN" sz="1400" dirty="0"/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 advAuto="100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1844824"/>
            <a:ext cx="8892480" cy="2952328"/>
          </a:xfrm>
        </p:spPr>
        <p:txBody>
          <a:bodyPr vert="horz" wrap="square" lIns="92075" tIns="46038" rIns="92075" bIns="46038" numCol="1" anchor="ctr" anchorCtr="0" compatLnSpc="1"/>
          <a:lstStyle/>
          <a:p>
            <a:pPr lvl="0" eaLnBrk="1" hangingPunct="1">
              <a:defRPr/>
            </a:pPr>
            <a:r>
              <a:rPr kumimoji="1" lang="zh-CN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三、高分子材料的力学状态</a:t>
            </a:r>
            <a:br>
              <a:rPr kumimoji="1" lang="en-US" altLang="zh-CN" sz="5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</a:br>
            <a:r>
              <a:rPr lang="en-US" altLang="zh-CN" sz="6000" b="1" i="1" dirty="0">
                <a:solidFill>
                  <a:srgbClr val="FF0000"/>
                </a:solidFill>
                <a:effectLst/>
                <a:latin typeface="+mn-lt"/>
              </a:rPr>
              <a:t>Mechanical states of the polymers </a:t>
            </a:r>
            <a:r>
              <a:rPr kumimoji="1" lang="zh-CN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 </a:t>
            </a:r>
          </a:p>
        </p:txBody>
      </p:sp>
      <p:sp>
        <p:nvSpPr>
          <p:cNvPr id="13320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  <a:t>12/11/2025 10:57 AM</a:t>
            </a:fld>
            <a:endParaRPr lang="en-US" altLang="zh-CN" sz="1400" dirty="0"/>
          </a:p>
        </p:txBody>
      </p:sp>
      <p:sp>
        <p:nvSpPr>
          <p:cNvPr id="1332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10338"/>
            <a:ext cx="428625" cy="347662"/>
          </a:xfrm>
        </p:spPr>
        <p:txBody>
          <a:bodyPr wrap="square" lIns="92075" tIns="46038" rIns="92075" bIns="46038" anchor="ctr"/>
          <a:lstStyle/>
          <a:p>
            <a:pPr algn="r"/>
            <a:fld id="{9A0DB2DC-4C9A-4742-B13C-FB6460FD3503}" type="slidenum">
              <a:rPr lang="en-US" altLang="zh-CN" sz="1400" dirty="0"/>
              <a:t>15</a:t>
            </a:fld>
            <a:endParaRPr lang="en-US" altLang="zh-CN" sz="1400" dirty="0"/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0" y="292481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500188" y="85725"/>
            <a:ext cx="7286625" cy="82867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三、高分子材料的力学状态 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143000"/>
            <a:ext cx="8686800" cy="23352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1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、线型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非晶态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高分子材料的力学状态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⑴ 玻璃态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：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低温下，</a:t>
            </a:r>
            <a:r>
              <a:rPr lang="zh-CN" altLang="en-US" sz="2800" b="1" kern="1200" dirty="0">
                <a:solidFill>
                  <a:schemeClr val="folHlink"/>
                </a:solidFill>
                <a:ea typeface="华文中宋" panose="02010600040101010101" pitchFamily="2" charset="-122"/>
              </a:rPr>
              <a:t>链段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不能运动。在外力作用下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,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只发生</a:t>
            </a:r>
            <a:r>
              <a:rPr lang="zh-CN" altLang="en-US" sz="2800" b="1" kern="1200" dirty="0">
                <a:solidFill>
                  <a:schemeClr val="folHlink"/>
                </a:solidFill>
                <a:ea typeface="华文中宋" panose="02010600040101010101" pitchFamily="2" charset="-122"/>
              </a:rPr>
              <a:t>大分子原子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的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微量位移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，产生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少量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弹性变形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。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0253" name="Rectangle 13"/>
          <p:cNvSpPr/>
          <p:nvPr/>
        </p:nvSpPr>
        <p:spPr>
          <a:xfrm>
            <a:off x="228600" y="3021013"/>
            <a:ext cx="3629025" cy="34290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高聚物</a:t>
            </a:r>
            <a:r>
              <a:rPr lang="zh-CN" altLang="en-US" sz="2800" b="1" dirty="0">
                <a:ea typeface="华文中宋" panose="02010600040101010101" pitchFamily="2" charset="-122"/>
              </a:rPr>
              <a:t>呈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玻璃态的最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高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温度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称</a:t>
            </a:r>
            <a:r>
              <a:rPr lang="zh-CN" altLang="en-US" sz="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玻璃化温度，用</a:t>
            </a:r>
            <a:r>
              <a:rPr lang="en-US" altLang="zh-CN" sz="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800" b="1" baseline="-300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g</a:t>
            </a:r>
            <a:r>
              <a:rPr lang="zh-CN" altLang="en-US" sz="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表示。</a:t>
            </a:r>
            <a:endParaRPr lang="en-US" altLang="zh-CN" sz="800" b="1" dirty="0">
              <a:solidFill>
                <a:schemeClr val="folHlink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indent="-3429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例（玻璃态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材料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）：塑料、纤维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。 </a:t>
            </a:r>
            <a:endParaRPr lang="zh-CN" altLang="en-US" sz="2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2" name="Group 15"/>
          <p:cNvGrpSpPr>
            <a:grpSpLocks noChangeAspect="1"/>
          </p:cNvGrpSpPr>
          <p:nvPr/>
        </p:nvGrpSpPr>
        <p:grpSpPr>
          <a:xfrm>
            <a:off x="4416425" y="3356992"/>
            <a:ext cx="4498975" cy="2471738"/>
            <a:chOff x="2448" y="2064"/>
            <a:chExt cx="2971" cy="1632"/>
          </a:xfrm>
        </p:grpSpPr>
        <p:pic>
          <p:nvPicPr>
            <p:cNvPr id="13317" name="Picture 9" descr="11_08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48" y="2064"/>
              <a:ext cx="2971" cy="1632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3318" name="Text Box 14"/>
            <p:cNvSpPr txBox="1">
              <a:spLocks noChangeAspect="1"/>
            </p:cNvSpPr>
            <p:nvPr/>
          </p:nvSpPr>
          <p:spPr>
            <a:xfrm>
              <a:off x="2736" y="2112"/>
              <a:ext cx="2640" cy="262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800000"/>
                  </a:solidFill>
                  <a:latin typeface="楷体_GB2312" pitchFamily="49" charset="-122"/>
                  <a:ea typeface="楷体_GB2312" pitchFamily="49" charset="-122"/>
                </a:rPr>
                <a:t>线型非晶态高聚物的温度</a:t>
              </a:r>
              <a:r>
                <a:rPr lang="en-US" altLang="zh-CN" sz="1800" b="1" dirty="0">
                  <a:solidFill>
                    <a:srgbClr val="800000"/>
                  </a:solidFill>
                  <a:latin typeface="楷体_GB2312" pitchFamily="49" charset="-122"/>
                  <a:ea typeface="楷体_GB2312" pitchFamily="49" charset="-122"/>
                </a:rPr>
                <a:t>-</a:t>
              </a:r>
              <a:r>
                <a:rPr lang="zh-CN" altLang="en-US" sz="1800" b="1" dirty="0">
                  <a:solidFill>
                    <a:srgbClr val="800000"/>
                  </a:solidFill>
                  <a:latin typeface="楷体_GB2312" pitchFamily="49" charset="-122"/>
                  <a:ea typeface="楷体_GB2312" pitchFamily="49" charset="-122"/>
                </a:rPr>
                <a:t>变形曲线</a:t>
              </a:r>
              <a:r>
                <a:rPr lang="zh-CN" altLang="en-US" sz="20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</a:p>
          </p:txBody>
        </p:sp>
      </p:grpSp>
      <p:sp>
        <p:nvSpPr>
          <p:cNvPr id="13320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  <a:t>12/11/2025 10:57 AM</a:t>
            </a:fld>
            <a:endParaRPr lang="en-US" altLang="zh-CN" sz="1400" dirty="0"/>
          </a:p>
        </p:txBody>
      </p:sp>
      <p:sp>
        <p:nvSpPr>
          <p:cNvPr id="1332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10338"/>
            <a:ext cx="428625" cy="347662"/>
          </a:xfrm>
        </p:spPr>
        <p:txBody>
          <a:bodyPr wrap="square" lIns="92075" tIns="46038" rIns="92075" bIns="46038" anchor="ctr"/>
          <a:lstStyle/>
          <a:p>
            <a:pPr algn="r"/>
            <a:fld id="{9A0DB2DC-4C9A-4742-B13C-FB6460FD3503}" type="slidenum">
              <a:rPr lang="en-US" altLang="zh-CN" sz="1400" dirty="0"/>
              <a:t>16</a:t>
            </a:fld>
            <a:endParaRPr lang="en-US" altLang="zh-CN" sz="1400" dirty="0"/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2"/>
          <p:cNvSpPr txBox="1">
            <a:spLocks noChangeArrowheads="1"/>
          </p:cNvSpPr>
          <p:nvPr/>
        </p:nvSpPr>
        <p:spPr bwMode="auto">
          <a:xfrm>
            <a:off x="2411759" y="3826501"/>
            <a:ext cx="1786607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玻璃化温度 </a:t>
            </a:r>
            <a:r>
              <a:rPr lang="en-US" altLang="zh-CN" sz="2000" b="1" dirty="0" err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000" b="1" baseline="-30000" dirty="0" err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g</a:t>
            </a:r>
            <a:endParaRPr lang="zh-CN" altLang="en-US" sz="2000" kern="1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/>
      <p:bldP spid="10243" grpId="0" build="p" advAuto="1000"/>
      <p:bldP spid="1025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285750" y="857250"/>
            <a:ext cx="8715375" cy="537210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⑵ 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高弹态：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温度高于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T</a:t>
            </a:r>
            <a:r>
              <a:rPr lang="en-US" altLang="zh-CN" sz="2800" b="1" baseline="-30000" dirty="0">
                <a:solidFill>
                  <a:srgbClr val="CCFF33"/>
                </a:solidFill>
                <a:ea typeface="华文中宋" panose="02010600040101010101" pitchFamily="2" charset="-122"/>
              </a:rPr>
              <a:t>g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，分子活动能力增加，受力时产生很大弹性变形。</a:t>
            </a:r>
            <a:r>
              <a:rPr lang="zh-CN" altLang="en-US" sz="2800" b="1" dirty="0">
                <a:ea typeface="华文中宋" panose="02010600040101010101" pitchFamily="2" charset="-122"/>
              </a:rPr>
              <a:t>（例：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橡胶）。</a:t>
            </a:r>
            <a:endParaRPr lang="en-US" altLang="zh-CN" sz="2800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⑶ 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粘流态：</a:t>
            </a:r>
            <a:r>
              <a:rPr lang="zh-CN" altLang="en-US" sz="2800" b="1" dirty="0">
                <a:ea typeface="华文中宋" panose="02010600040101010101" pitchFamily="2" charset="-122"/>
              </a:rPr>
              <a:t>由于温度高，分子活动能力很大，在外力作用下，大分子链可以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相对滑动</a:t>
            </a:r>
            <a:r>
              <a:rPr lang="zh-CN" altLang="en-US" sz="2800" b="1" dirty="0">
                <a:ea typeface="华文中宋" panose="02010600040101010101" pitchFamily="2" charset="-122"/>
              </a:rPr>
              <a:t>。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粘流态是高分</a:t>
            </a:r>
          </a:p>
        </p:txBody>
      </p:sp>
      <p:sp>
        <p:nvSpPr>
          <p:cNvPr id="11276" name="Text Box 12"/>
          <p:cNvSpPr txBox="1">
            <a:spLocks noChangeArrowheads="1"/>
          </p:cNvSpPr>
          <p:nvPr/>
        </p:nvSpPr>
        <p:spPr bwMode="auto">
          <a:xfrm>
            <a:off x="500063" y="3357563"/>
            <a:ext cx="2705100" cy="265886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rtl="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  <a:cs typeface="+mn-cs"/>
              </a:rPr>
              <a:t>子材料的加工态</a:t>
            </a:r>
            <a:r>
              <a:rPr kumimoji="1" lang="en-US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,</a:t>
            </a:r>
            <a:r>
              <a:rPr kumimoji="1" lang="zh-CN" altLang="en-US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大分子链开始发生粘性流动的温度称</a:t>
            </a:r>
            <a:r>
              <a:rPr kumimoji="1" lang="zh-CN" altLang="en-US" sz="2800" b="1" kern="1200" cap="none" spc="0" normalizeH="0" baseline="0" noProof="0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  <a:cs typeface="+mn-cs"/>
              </a:rPr>
              <a:t>粘流温度</a:t>
            </a:r>
            <a:r>
              <a:rPr kumimoji="1" lang="zh-CN" altLang="en-US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，</a:t>
            </a:r>
            <a:r>
              <a:rPr kumimoji="1" lang="zh-CN" altLang="en-US" sz="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用</a:t>
            </a:r>
            <a:r>
              <a:rPr kumimoji="1" lang="en-US" altLang="zh-CN" sz="800" b="1" kern="1200" cap="none" spc="0" normalizeH="0" baseline="0" noProof="0" dirty="0" err="1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T</a:t>
            </a:r>
            <a:r>
              <a:rPr kumimoji="1" lang="en-US" altLang="zh-CN" sz="800" b="1" kern="1200" cap="none" spc="0" normalizeH="0" baseline="-30000" noProof="0" dirty="0" err="1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f</a:t>
            </a:r>
            <a:r>
              <a:rPr kumimoji="1" lang="zh-CN" altLang="en-US" sz="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表示。 </a:t>
            </a:r>
            <a:endParaRPr kumimoji="1" lang="zh-CN" altLang="en-US" sz="800" kern="1200" cap="none" spc="0" normalizeH="0" baseline="0" noProof="0" dirty="0">
              <a:latin typeface="Times New Roman" panose="02020603050405020304" pitchFamily="18" charset="0"/>
              <a:cs typeface="+mn-cs"/>
            </a:endParaRPr>
          </a:p>
        </p:txBody>
      </p:sp>
      <p:grpSp>
        <p:nvGrpSpPr>
          <p:cNvPr id="2" name="Group 14"/>
          <p:cNvGrpSpPr>
            <a:grpSpLocks noChangeAspect="1"/>
          </p:cNvGrpSpPr>
          <p:nvPr/>
        </p:nvGrpSpPr>
        <p:grpSpPr>
          <a:xfrm>
            <a:off x="3750497" y="3598034"/>
            <a:ext cx="4678363" cy="2632075"/>
            <a:chOff x="2317" y="2081"/>
            <a:chExt cx="3072" cy="1728"/>
          </a:xfrm>
        </p:grpSpPr>
        <p:pic>
          <p:nvPicPr>
            <p:cNvPr id="14340" name="Picture 9" descr="11_08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17" y="2081"/>
              <a:ext cx="3072" cy="1728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4341" name="Text Box 13"/>
            <p:cNvSpPr txBox="1">
              <a:spLocks noChangeAspect="1"/>
            </p:cNvSpPr>
            <p:nvPr/>
          </p:nvSpPr>
          <p:spPr>
            <a:xfrm>
              <a:off x="2612" y="2208"/>
              <a:ext cx="2640" cy="241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800000"/>
                  </a:solidFill>
                  <a:latin typeface="楷体_GB2312" pitchFamily="49" charset="-122"/>
                  <a:ea typeface="楷体_GB2312" pitchFamily="49" charset="-122"/>
                </a:rPr>
                <a:t>线型非晶态高聚物的温度</a:t>
              </a:r>
              <a:r>
                <a:rPr lang="en-US" altLang="zh-CN" sz="1800" b="1" dirty="0">
                  <a:solidFill>
                    <a:srgbClr val="800000"/>
                  </a:solidFill>
                  <a:latin typeface="楷体_GB2312" pitchFamily="49" charset="-122"/>
                  <a:ea typeface="楷体_GB2312" pitchFamily="49" charset="-122"/>
                </a:rPr>
                <a:t>-</a:t>
              </a:r>
              <a:r>
                <a:rPr lang="zh-CN" altLang="en-US" sz="1800" b="1" dirty="0">
                  <a:solidFill>
                    <a:srgbClr val="800000"/>
                  </a:solidFill>
                  <a:latin typeface="楷体_GB2312" pitchFamily="49" charset="-122"/>
                  <a:ea typeface="楷体_GB2312" pitchFamily="49" charset="-122"/>
                </a:rPr>
                <a:t>变形曲线</a:t>
              </a:r>
              <a:r>
                <a:rPr lang="zh-CN" altLang="en-US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</a:p>
          </p:txBody>
        </p:sp>
      </p:grp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1500188" y="43180"/>
            <a:ext cx="7286625" cy="82867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华文中宋" panose="02010600040101010101" pitchFamily="2" charset="-122"/>
                <a:cs typeface="+mn-cs"/>
              </a:rPr>
              <a:t>三、高分子材料的力学状态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 </a:t>
            </a:r>
          </a:p>
        </p:txBody>
      </p:sp>
      <p:sp>
        <p:nvSpPr>
          <p:cNvPr id="14344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  <a:t>12/11/2025 10:57 AM</a:t>
            </a:fld>
            <a:endParaRPr lang="en-US" altLang="zh-CN" sz="1400" dirty="0"/>
          </a:p>
        </p:txBody>
      </p:sp>
      <p:sp>
        <p:nvSpPr>
          <p:cNvPr id="1434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10338"/>
            <a:ext cx="428625" cy="347662"/>
          </a:xfrm>
        </p:spPr>
        <p:txBody>
          <a:bodyPr wrap="square" lIns="92075" tIns="46038" rIns="92075" bIns="46038" anchor="ctr"/>
          <a:lstStyle/>
          <a:p>
            <a:pPr algn="r"/>
            <a:fld id="{9A0DB2DC-4C9A-4742-B13C-FB6460FD3503}" type="slidenum">
              <a:rPr lang="en-US" altLang="zh-CN" sz="1400" dirty="0"/>
              <a:t>17</a:t>
            </a:fld>
            <a:endParaRPr lang="en-US" altLang="zh-CN" sz="1400" dirty="0"/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1331640" y="5301208"/>
            <a:ext cx="1787995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粘流温度 </a:t>
            </a:r>
            <a:r>
              <a:rPr lang="en-US" altLang="zh-CN" sz="2000" b="1" dirty="0" err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000" b="1" baseline="-30000" dirty="0" err="1">
                <a:solidFill>
                  <a:schemeClr val="bg1"/>
                </a:solidFill>
                <a:ea typeface="华文中宋" panose="02010600040101010101" pitchFamily="2" charset="-122"/>
              </a:rPr>
              <a:t>f</a:t>
            </a:r>
            <a:endParaRPr lang="zh-CN" altLang="en-US" sz="2000" kern="1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 advAuto="1000"/>
      <p:bldP spid="11276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/>
          </p:cNvSpPr>
          <p:nvPr>
            <p:ph idx="1"/>
          </p:nvPr>
        </p:nvSpPr>
        <p:spPr>
          <a:xfrm>
            <a:off x="419100" y="1048068"/>
            <a:ext cx="8305800" cy="5462587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分为 一般分子量 </a:t>
            </a:r>
            <a:r>
              <a:rPr lang="zh-CN" altLang="en-US" sz="2800" b="1" dirty="0">
                <a:ea typeface="华文中宋" panose="02010600040101010101" pitchFamily="2" charset="-122"/>
              </a:rPr>
              <a:t>和 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很大分子量 </a:t>
            </a:r>
            <a:r>
              <a:rPr lang="zh-CN" altLang="en-US" sz="2800" b="1" dirty="0">
                <a:ea typeface="华文中宋" panose="02010600040101010101" pitchFamily="2" charset="-122"/>
              </a:rPr>
              <a:t>两种情况：</a:t>
            </a:r>
            <a:endParaRPr lang="en-US" altLang="zh-CN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  </a:t>
            </a:r>
            <a:r>
              <a:rPr lang="zh-CN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①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一般分子量</a:t>
            </a:r>
            <a:r>
              <a:rPr lang="zh-CN" altLang="en-US" sz="2800" b="1" dirty="0">
                <a:ea typeface="华文中宋" panose="02010600040101010101" pitchFamily="2" charset="-122"/>
              </a:rPr>
              <a:t>的高聚物在低温时，链段不能活动，变形小，在 </a:t>
            </a:r>
            <a:r>
              <a:rPr lang="en-US" altLang="zh-CN" sz="2800" b="1" dirty="0">
                <a:solidFill>
                  <a:srgbClr val="FFFF00"/>
                </a:solidFill>
                <a:ea typeface="华文中宋" panose="02010600040101010101" pitchFamily="2" charset="-122"/>
              </a:rPr>
              <a:t>T</a:t>
            </a:r>
            <a:r>
              <a:rPr lang="en-US" altLang="zh-CN" sz="2800" b="1" baseline="-30000" dirty="0">
                <a:solidFill>
                  <a:srgbClr val="FFFF00"/>
                </a:solidFill>
                <a:ea typeface="华文中宋" panose="02010600040101010101" pitchFamily="2" charset="-122"/>
              </a:rPr>
              <a:t>m</a:t>
            </a:r>
            <a:r>
              <a:rPr lang="en-US" altLang="zh-CN" sz="2800" b="1" baseline="-30000" dirty="0"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ea typeface="华文中宋" panose="02010600040101010101" pitchFamily="2" charset="-122"/>
              </a:rPr>
              <a:t>以下与非晶态的玻璃相似，高于</a:t>
            </a:r>
            <a:r>
              <a:rPr lang="en-US" altLang="zh-CN" sz="2800" b="1" dirty="0">
                <a:ea typeface="华文中宋" panose="02010600040101010101" pitchFamily="2" charset="-122"/>
              </a:rPr>
              <a:t>T</a:t>
            </a:r>
            <a:r>
              <a:rPr lang="en-US" altLang="zh-CN" sz="2800" b="1" baseline="-30000" dirty="0">
                <a:ea typeface="华文中宋" panose="02010600040101010101" pitchFamily="2" charset="-122"/>
              </a:rPr>
              <a:t>m  </a:t>
            </a:r>
            <a:r>
              <a:rPr lang="zh-CN" altLang="en-US" sz="2800" b="1" dirty="0">
                <a:ea typeface="华文中宋" panose="02010600040101010101" pitchFamily="2" charset="-122"/>
              </a:rPr>
              <a:t>则进入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粘流态</a:t>
            </a:r>
            <a:r>
              <a:rPr lang="zh-CN" altLang="en-US" sz="2800" b="1" dirty="0">
                <a:ea typeface="华文中宋" panose="02010600040101010101" pitchFamily="2" charset="-122"/>
              </a:rPr>
              <a:t>。</a:t>
            </a:r>
            <a:endParaRPr lang="en-US" altLang="zh-CN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 ②分子量很大的晶态高聚物</a:t>
            </a:r>
            <a:r>
              <a:rPr lang="zh-CN" altLang="en-US" sz="2800" b="1" dirty="0">
                <a:ea typeface="华文中宋" panose="02010600040101010101" pitchFamily="2" charset="-122"/>
                <a:sym typeface="+mn-ea"/>
              </a:rPr>
              <a:t>存</a:t>
            </a:r>
            <a:r>
              <a:rPr lang="zh-CN" altLang="en-US" sz="2800" b="1" dirty="0">
                <a:ea typeface="华文中宋" panose="02010600040101010101" pitchFamily="2" charset="-122"/>
              </a:rPr>
              <a:t>在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高弹态。</a:t>
            </a:r>
          </a:p>
        </p:txBody>
      </p:sp>
      <p:sp>
        <p:nvSpPr>
          <p:cNvPr id="12300" name="Rectangle 12"/>
          <p:cNvSpPr>
            <a:spLocks noChangeArrowheads="1"/>
          </p:cNvSpPr>
          <p:nvPr/>
        </p:nvSpPr>
        <p:spPr bwMode="auto">
          <a:xfrm>
            <a:off x="467544" y="4221088"/>
            <a:ext cx="4608512" cy="2895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部分结晶高聚物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在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非晶区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T</a:t>
            </a:r>
            <a:r>
              <a:rPr kumimoji="1" lang="en-US" altLang="zh-CN" sz="2800" b="1" i="0" u="none" strike="noStrike" kern="1200" cap="none" spc="0" normalizeH="0" baseline="-30000" noProof="0" dirty="0" err="1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g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与晶区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T</a:t>
            </a:r>
            <a:r>
              <a:rPr kumimoji="1" lang="en-US" altLang="zh-CN" sz="2800" b="1" i="0" u="none" strike="noStrike" kern="1200" cap="none" spc="0" normalizeH="0" baseline="-3000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m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间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,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非晶区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柔性好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,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晶区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刚性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好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,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处于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韧性状态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,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即</a:t>
            </a:r>
            <a:r>
              <a:rPr kumimoji="1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皮革态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。</a:t>
            </a:r>
            <a:endParaRPr kumimoji="1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14"/>
          <p:cNvGrpSpPr>
            <a:grpSpLocks noChangeAspect="1"/>
          </p:cNvGrpSpPr>
          <p:nvPr/>
        </p:nvGrpSpPr>
        <p:grpSpPr>
          <a:xfrm>
            <a:off x="5076056" y="4077072"/>
            <a:ext cx="3921909" cy="2520280"/>
            <a:chOff x="2688" y="2208"/>
            <a:chExt cx="2688" cy="1728"/>
          </a:xfrm>
        </p:grpSpPr>
        <p:pic>
          <p:nvPicPr>
            <p:cNvPr id="15364" name="Picture 8" descr="力学状态1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88" y="2208"/>
              <a:ext cx="2688" cy="1728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5365" name="Text Box 13"/>
            <p:cNvSpPr txBox="1">
              <a:spLocks noChangeAspect="1"/>
            </p:cNvSpPr>
            <p:nvPr/>
          </p:nvSpPr>
          <p:spPr>
            <a:xfrm>
              <a:off x="3024" y="2256"/>
              <a:ext cx="1200" cy="41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8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sz="16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线型晶态高聚物的温度</a:t>
              </a:r>
              <a:r>
                <a:rPr lang="en-US" altLang="zh-CN" sz="16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-</a:t>
              </a:r>
              <a:r>
                <a:rPr lang="zh-CN" altLang="en-US" sz="16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变形曲线</a:t>
              </a:r>
              <a:r>
                <a:rPr lang="zh-CN" altLang="en-US" sz="16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</a:p>
          </p:txBody>
        </p:sp>
      </p:grp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914083" y="42545"/>
            <a:ext cx="8215313" cy="82867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华文中宋" panose="02010600040101010101" pitchFamily="2" charset="-122"/>
                <a:cs typeface="+mn-cs"/>
              </a:rPr>
              <a:t>2、线型</a:t>
            </a:r>
            <a:r>
              <a:rPr kumimoji="1" lang="zh-CN" altLang="en-US" sz="4000" b="1" i="0" u="none" strike="noStrike" kern="0" cap="none" spc="0" normalizeH="0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华文中宋" panose="02010600040101010101" pitchFamily="2" charset="-122"/>
                <a:cs typeface="+mn-cs"/>
              </a:rPr>
              <a:t>晶态</a:t>
            </a:r>
            <a:r>
              <a:rPr kumimoji="1" lang="zh-CN" altLang="en-US" sz="4000" b="1" i="0" u="none" strike="noStrike" kern="0" cap="none" spc="0" normalizeH="0" baseline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华文中宋" panose="02010600040101010101" pitchFamily="2" charset="-122"/>
                <a:cs typeface="+mn-cs"/>
              </a:rPr>
              <a:t>高分子材料的力学状态</a:t>
            </a:r>
            <a:endParaRPr kumimoji="1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5368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  <a:t>12/11/2025 10:57 AM</a:t>
            </a:fld>
            <a:endParaRPr lang="en-US" altLang="zh-CN" sz="1400" dirty="0"/>
          </a:p>
        </p:txBody>
      </p:sp>
      <p:sp>
        <p:nvSpPr>
          <p:cNvPr id="1536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10338"/>
            <a:ext cx="428625" cy="347662"/>
          </a:xfrm>
        </p:spPr>
        <p:txBody>
          <a:bodyPr wrap="square" lIns="92075" tIns="46038" rIns="92075" bIns="46038" anchor="ctr"/>
          <a:lstStyle/>
          <a:p>
            <a:pPr algn="r"/>
            <a:fld id="{9A0DB2DC-4C9A-4742-B13C-FB6460FD3503}" type="slidenum">
              <a:rPr lang="en-US" altLang="zh-CN" sz="1400" dirty="0"/>
              <a:t>18</a:t>
            </a:fld>
            <a:endParaRPr lang="en-US" altLang="zh-CN" sz="1400" dirty="0"/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2468899" y="6041300"/>
            <a:ext cx="1022982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皮革态</a:t>
            </a:r>
            <a:endParaRPr lang="zh-CN" altLang="en-US" sz="2000" kern="1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 advAuto="1000"/>
      <p:bldP spid="12300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844824"/>
            <a:ext cx="8858249" cy="252028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第二节  高分子工程材料</a:t>
            </a:r>
            <a:br>
              <a:rPr kumimoji="1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r>
              <a:rPr lang="en-US" altLang="zh-CN" sz="6000" b="1" i="1" dirty="0">
                <a:solidFill>
                  <a:srgbClr val="FF0000"/>
                </a:solidFill>
                <a:latin typeface="+mn-lt"/>
                <a:ea typeface="华文中宋" panose="02010600040101010101" pitchFamily="2" charset="-122"/>
              </a:rPr>
              <a:t>Polymer Engineering Materials</a:t>
            </a:r>
            <a:r>
              <a:rPr kumimoji="1" lang="zh-CN" altLang="en-US" sz="60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</a:rPr>
              <a:t> </a:t>
            </a:r>
          </a:p>
        </p:txBody>
      </p:sp>
      <p:sp>
        <p:nvSpPr>
          <p:cNvPr id="16389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51065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  <a:t>12/11/2025 10:57 AM</a:t>
            </a:fld>
            <a:endParaRPr lang="en-US" altLang="zh-CN" sz="1400" dirty="0"/>
          </a:p>
        </p:txBody>
      </p:sp>
      <p:sp>
        <p:nvSpPr>
          <p:cNvPr id="1639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10338"/>
            <a:ext cx="428625" cy="347662"/>
          </a:xfrm>
        </p:spPr>
        <p:txBody>
          <a:bodyPr wrap="square" lIns="92075" tIns="46038" rIns="92075" bIns="46038" anchor="ctr"/>
          <a:lstStyle/>
          <a:p>
            <a:pPr algn="r"/>
            <a:fld id="{9A0DB2DC-4C9A-4742-B13C-FB6460FD3503}" type="slidenum">
              <a:rPr lang="en-US" altLang="zh-CN" sz="1400" dirty="0"/>
              <a:t>19</a:t>
            </a:fld>
            <a:endParaRPr lang="en-US" altLang="zh-CN" sz="1400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19685" y="270891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400175" y="68263"/>
            <a:ext cx="7029450" cy="1096963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第二节  高分子工程材料</a:t>
            </a: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>
          <a:xfrm>
            <a:off x="142875" y="1516380"/>
            <a:ext cx="4710430" cy="4487545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高分子工程材料 包括：塑料、合成纤维、橡胶、胶粘剂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….</a:t>
            </a:r>
          </a:p>
          <a:p>
            <a:pPr eaLnBrk="1" hangingPunct="1">
              <a:lnSpc>
                <a:spcPct val="130000"/>
              </a:lnSpc>
            </a:pP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本节主要介绍工程上常用的高分子工程材料。</a:t>
            </a:r>
            <a:r>
              <a:rPr lang="zh-CN" altLang="en-US" dirty="0">
                <a:ea typeface="华文中宋" panose="02010600040101010101" pitchFamily="2" charset="-122"/>
              </a:rPr>
              <a:t> </a:t>
            </a:r>
          </a:p>
        </p:txBody>
      </p:sp>
      <p:pic>
        <p:nvPicPr>
          <p:cNvPr id="13317" name="Picture 5" descr="prd-TPR高分子材料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853305" y="2357755"/>
            <a:ext cx="4102735" cy="3183255"/>
          </a:xfrm>
          <a:prstGeom prst="rect">
            <a:avLst/>
          </a:prstGeom>
          <a:noFill/>
          <a:ln w="28575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6389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51065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  <a:t>12/11/2025 10:57 AM</a:t>
            </a:fld>
            <a:endParaRPr lang="en-US" altLang="zh-CN" sz="1400" dirty="0"/>
          </a:p>
        </p:txBody>
      </p:sp>
      <p:sp>
        <p:nvSpPr>
          <p:cNvPr id="1639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10338"/>
            <a:ext cx="428625" cy="347662"/>
          </a:xfrm>
        </p:spPr>
        <p:txBody>
          <a:bodyPr wrap="square" lIns="92075" tIns="46038" rIns="92075" bIns="46038" anchor="ctr"/>
          <a:lstStyle/>
          <a:p>
            <a:pPr algn="r"/>
            <a:fld id="{9A0DB2DC-4C9A-4742-B13C-FB6460FD3503}" type="slidenum">
              <a:rPr lang="en-US" altLang="zh-CN" sz="1400" dirty="0"/>
              <a:t>20</a:t>
            </a:fld>
            <a:endParaRPr lang="en-US" altLang="zh-CN" sz="1400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15" grpId="0" build="p" advAuto="100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403648" y="1196752"/>
            <a:ext cx="6672263" cy="1944216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一、塑料</a:t>
            </a:r>
            <a:br>
              <a:rPr kumimoji="1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</a:br>
            <a:r>
              <a:rPr lang="en-US" altLang="zh-CN" sz="6600" b="1" i="1" dirty="0">
                <a:solidFill>
                  <a:srgbClr val="FF0000"/>
                </a:solidFill>
                <a:latin typeface="+mn-lt"/>
                <a:ea typeface="华文中宋" panose="02010600040101010101" pitchFamily="2" charset="-122"/>
              </a:rPr>
              <a:t>Plastics</a:t>
            </a:r>
            <a: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华文中宋" panose="02010600040101010101" pitchFamily="2" charset="-122"/>
                <a:cs typeface="+mj-cs"/>
              </a:rPr>
              <a:t> </a:t>
            </a:r>
          </a:p>
        </p:txBody>
      </p:sp>
      <p:grpSp>
        <p:nvGrpSpPr>
          <p:cNvPr id="2" name="Group 7"/>
          <p:cNvGrpSpPr>
            <a:grpSpLocks noChangeAspect="1"/>
          </p:cNvGrpSpPr>
          <p:nvPr/>
        </p:nvGrpSpPr>
        <p:grpSpPr>
          <a:xfrm>
            <a:off x="3347709" y="3140963"/>
            <a:ext cx="2722973" cy="2767838"/>
            <a:chOff x="3168" y="1536"/>
            <a:chExt cx="1884" cy="1915"/>
          </a:xfrm>
        </p:grpSpPr>
        <p:pic>
          <p:nvPicPr>
            <p:cNvPr id="17413" name="Picture 5" descr="塑料制品1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8" y="1536"/>
              <a:ext cx="1884" cy="1915"/>
            </a:xfrm>
            <a:prstGeom prst="rect">
              <a:avLst/>
            </a:prstGeom>
            <a:noFill/>
            <a:ln w="28575" cap="flat" cmpd="sng">
              <a:solidFill>
                <a:srgbClr val="CCFF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7414" name="Text Box 6"/>
            <p:cNvSpPr txBox="1">
              <a:spLocks noChangeAspect="1"/>
            </p:cNvSpPr>
            <p:nvPr/>
          </p:nvSpPr>
          <p:spPr>
            <a:xfrm>
              <a:off x="3168" y="2532"/>
              <a:ext cx="338" cy="912"/>
            </a:xfrm>
            <a:prstGeom prst="rect">
              <a:avLst/>
            </a:prstGeom>
            <a:noFill/>
            <a:ln w="28575">
              <a:noFill/>
            </a:ln>
          </p:spPr>
          <p:txBody>
            <a:bodyPr vert="eaVert" anchor="t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塑料制品</a:t>
              </a:r>
            </a:p>
          </p:txBody>
        </p:sp>
      </p:grpSp>
      <p:sp>
        <p:nvSpPr>
          <p:cNvPr id="17416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  <a:t>12/11/2025 10:57 AM</a:t>
            </a:fld>
            <a:endParaRPr lang="en-US" altLang="zh-CN" sz="1400" dirty="0"/>
          </a:p>
        </p:txBody>
      </p:sp>
      <p:sp>
        <p:nvSpPr>
          <p:cNvPr id="1741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10338"/>
            <a:ext cx="428625" cy="347662"/>
          </a:xfrm>
        </p:spPr>
        <p:txBody>
          <a:bodyPr wrap="square" lIns="92075" tIns="46038" rIns="92075" bIns="46038" anchor="ctr"/>
          <a:lstStyle/>
          <a:p>
            <a:pPr algn="r"/>
            <a:fld id="{9A0DB2DC-4C9A-4742-B13C-FB6460FD3503}" type="slidenum">
              <a:rPr lang="en-US" altLang="zh-CN" sz="1400" dirty="0"/>
              <a:t>21</a:t>
            </a:fld>
            <a:endParaRPr lang="en-US" altLang="zh-CN" sz="1400" dirty="0"/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220472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786255" y="142875"/>
            <a:ext cx="6056630" cy="78613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一、塑料 </a:t>
            </a:r>
          </a:p>
        </p:txBody>
      </p:sp>
      <p:sp>
        <p:nvSpPr>
          <p:cNvPr id="14339" name="Rectangle 3"/>
          <p:cNvSpPr>
            <a:spLocks noGrp="1"/>
          </p:cNvSpPr>
          <p:nvPr>
            <p:ph idx="1"/>
          </p:nvPr>
        </p:nvSpPr>
        <p:spPr>
          <a:xfrm>
            <a:off x="304800" y="990600"/>
            <a:ext cx="8458200" cy="350520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塑料：</a:t>
            </a:r>
            <a:r>
              <a:rPr lang="zh-CN" altLang="en-US" sz="2800" b="1" dirty="0">
                <a:ea typeface="华文中宋" panose="02010600040101010101" pitchFamily="2" charset="-122"/>
              </a:rPr>
              <a:t>在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玻璃态下使用</a:t>
            </a:r>
            <a:r>
              <a:rPr lang="zh-CN" altLang="en-US" sz="2800" b="1" dirty="0">
                <a:ea typeface="华文中宋" panose="02010600040101010101" pitchFamily="2" charset="-122"/>
              </a:rPr>
              <a:t>的高分子材料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r>
              <a:rPr lang="zh-CN" altLang="en-US" sz="2800" b="1" dirty="0">
                <a:ea typeface="华文中宋" panose="02010600040101010101" pitchFamily="2" charset="-122"/>
              </a:rPr>
              <a:t>在一定温度</a:t>
            </a:r>
            <a:r>
              <a:rPr lang="zh-CN" altLang="en-US" sz="1400" b="1" dirty="0">
                <a:ea typeface="华文中宋" panose="02010600040101010101" pitchFamily="2" charset="-122"/>
              </a:rPr>
              <a:t>、</a:t>
            </a:r>
            <a:r>
              <a:rPr lang="zh-CN" altLang="en-US" sz="2800" b="1" dirty="0">
                <a:ea typeface="华文中宋" panose="02010600040101010101" pitchFamily="2" charset="-122"/>
              </a:rPr>
              <a:t>压力下可塑制成型，在常温下能保持其形状不变。</a:t>
            </a:r>
            <a:endParaRPr lang="en-US" altLang="zh-CN" sz="2800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endParaRPr lang="en-US" altLang="zh-CN" sz="2800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、塑料概述</a:t>
            </a:r>
            <a:r>
              <a:rPr lang="zh-CN" altLang="en-US" sz="2800" dirty="0">
                <a:ea typeface="华文中宋" panose="02010600040101010101" pitchFamily="2" charset="-122"/>
              </a:rPr>
              <a:t>  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2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、常用工程塑料</a:t>
            </a:r>
            <a:endParaRPr lang="zh-CN" altLang="en-US" sz="2800" dirty="0">
              <a:ea typeface="华文中宋" panose="02010600040101010101" pitchFamily="2" charset="-122"/>
            </a:endParaRPr>
          </a:p>
        </p:txBody>
      </p:sp>
      <p:grpSp>
        <p:nvGrpSpPr>
          <p:cNvPr id="2" name="Group 7"/>
          <p:cNvGrpSpPr>
            <a:grpSpLocks noChangeAspect="1"/>
          </p:cNvGrpSpPr>
          <p:nvPr/>
        </p:nvGrpSpPr>
        <p:grpSpPr>
          <a:xfrm>
            <a:off x="6228184" y="3429000"/>
            <a:ext cx="2589050" cy="2628528"/>
            <a:chOff x="3166" y="1536"/>
            <a:chExt cx="2233" cy="2267"/>
          </a:xfrm>
        </p:grpSpPr>
        <p:pic>
          <p:nvPicPr>
            <p:cNvPr id="17413" name="Picture 5" descr="塑料制品1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8" y="1536"/>
              <a:ext cx="2231" cy="2267"/>
            </a:xfrm>
            <a:prstGeom prst="rect">
              <a:avLst/>
            </a:prstGeom>
            <a:noFill/>
            <a:ln w="28575" cap="flat" cmpd="sng">
              <a:solidFill>
                <a:srgbClr val="CCFF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7414" name="Text Box 6"/>
            <p:cNvSpPr txBox="1">
              <a:spLocks noChangeAspect="1"/>
            </p:cNvSpPr>
            <p:nvPr/>
          </p:nvSpPr>
          <p:spPr>
            <a:xfrm>
              <a:off x="3166" y="2784"/>
              <a:ext cx="338" cy="912"/>
            </a:xfrm>
            <a:prstGeom prst="rect">
              <a:avLst/>
            </a:prstGeom>
            <a:noFill/>
            <a:ln w="28575">
              <a:noFill/>
            </a:ln>
          </p:spPr>
          <p:txBody>
            <a:bodyPr vert="eaVert" anchor="t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塑料制品</a:t>
              </a:r>
            </a:p>
          </p:txBody>
        </p:sp>
      </p:grpSp>
      <p:sp>
        <p:nvSpPr>
          <p:cNvPr id="17416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  <a:t>12/11/2025 10:57 AM</a:t>
            </a:fld>
            <a:endParaRPr lang="en-US" altLang="zh-CN" sz="1400" dirty="0"/>
          </a:p>
        </p:txBody>
      </p:sp>
      <p:sp>
        <p:nvSpPr>
          <p:cNvPr id="1741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10338"/>
            <a:ext cx="428625" cy="347662"/>
          </a:xfrm>
        </p:spPr>
        <p:txBody>
          <a:bodyPr wrap="square" lIns="92075" tIns="46038" rIns="92075" bIns="46038" anchor="ctr"/>
          <a:lstStyle/>
          <a:p>
            <a:pPr algn="r"/>
            <a:fld id="{9A0DB2DC-4C9A-4742-B13C-FB6460FD3503}" type="slidenum">
              <a:rPr lang="en-US" altLang="zh-CN" sz="1400" dirty="0"/>
              <a:t>22</a:t>
            </a:fld>
            <a:endParaRPr lang="en-US" altLang="zh-CN" sz="1400" dirty="0"/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 bldLvl="0" animBg="1"/>
      <p:bldP spid="14339" grpId="0" build="p" advAuto="100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786255" y="142875"/>
            <a:ext cx="5607050" cy="786130"/>
          </a:xfrm>
        </p:spPr>
        <p:txBody>
          <a:bodyPr vert="horz" wrap="square" lIns="92075" tIns="46038" rIns="92075" bIns="46038" numCol="1" anchor="ctr" anchorCtr="0" compatLnSpc="1"/>
          <a:lstStyle/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ea typeface="华文中宋" panose="02010600040101010101" pitchFamily="2" charset="-122"/>
              </a:rPr>
              <a:t>、塑料概述</a:t>
            </a:r>
            <a:r>
              <a:rPr lang="zh-CN" altLang="en-US" dirty="0">
                <a:ea typeface="华文中宋" panose="02010600040101010101" pitchFamily="2" charset="-122"/>
              </a:rPr>
              <a:t>  </a:t>
            </a:r>
          </a:p>
        </p:txBody>
      </p:sp>
      <p:sp>
        <p:nvSpPr>
          <p:cNvPr id="14339" name="Rectangle 3"/>
          <p:cNvSpPr>
            <a:spLocks noGrp="1"/>
          </p:cNvSpPr>
          <p:nvPr>
            <p:ph idx="1"/>
          </p:nvPr>
        </p:nvSpPr>
        <p:spPr>
          <a:xfrm>
            <a:off x="1346200" y="1419860"/>
            <a:ext cx="4248785" cy="4792345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⑴</a:t>
            </a:r>
            <a:r>
              <a:rPr lang="zh-CN" altLang="en-US" dirty="0">
                <a:solidFill>
                  <a:srgbClr val="CCFF33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塑料的组成</a:t>
            </a:r>
            <a:endParaRPr lang="en-US" altLang="zh-CN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endParaRPr lang="zh-CN" altLang="en-US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⑵ </a:t>
            </a:r>
            <a:r>
              <a:rPr lang="zh-CN" alt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塑料的分类</a:t>
            </a:r>
            <a:endParaRPr lang="en-US" altLang="zh-CN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endParaRPr lang="en-US" altLang="zh-CN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⑶ </a:t>
            </a:r>
            <a:r>
              <a:rPr lang="zh-CN" alt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塑料的性能特点</a:t>
            </a:r>
            <a:endParaRPr lang="zh-CN" altLang="en-US" dirty="0">
              <a:ea typeface="华文中宋" panose="02010600040101010101" pitchFamily="2" charset="-122"/>
            </a:endParaRPr>
          </a:p>
        </p:txBody>
      </p:sp>
      <p:grpSp>
        <p:nvGrpSpPr>
          <p:cNvPr id="2" name="Group 7"/>
          <p:cNvGrpSpPr>
            <a:grpSpLocks noChangeAspect="1"/>
          </p:cNvGrpSpPr>
          <p:nvPr/>
        </p:nvGrpSpPr>
        <p:grpSpPr>
          <a:xfrm>
            <a:off x="6129631" y="3429000"/>
            <a:ext cx="2687603" cy="2628528"/>
            <a:chOff x="3081" y="1536"/>
            <a:chExt cx="2318" cy="2267"/>
          </a:xfrm>
        </p:grpSpPr>
        <p:pic>
          <p:nvPicPr>
            <p:cNvPr id="17413" name="Picture 5" descr="塑料制品1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8" y="1536"/>
              <a:ext cx="2231" cy="2267"/>
            </a:xfrm>
            <a:prstGeom prst="rect">
              <a:avLst/>
            </a:prstGeom>
            <a:noFill/>
            <a:ln w="28575" cap="flat" cmpd="sng">
              <a:solidFill>
                <a:srgbClr val="CCFF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7414" name="Text Box 6"/>
            <p:cNvSpPr txBox="1">
              <a:spLocks noChangeAspect="1"/>
            </p:cNvSpPr>
            <p:nvPr/>
          </p:nvSpPr>
          <p:spPr>
            <a:xfrm>
              <a:off x="3081" y="2648"/>
              <a:ext cx="423" cy="1048"/>
            </a:xfrm>
            <a:prstGeom prst="rect">
              <a:avLst/>
            </a:prstGeom>
            <a:noFill/>
            <a:ln w="28575">
              <a:noFill/>
            </a:ln>
          </p:spPr>
          <p:txBody>
            <a:bodyPr vert="eaVert" wrap="square" anchor="t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塑料制品</a:t>
              </a:r>
            </a:p>
          </p:txBody>
        </p:sp>
      </p:grpSp>
      <p:sp>
        <p:nvSpPr>
          <p:cNvPr id="17416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  <a:t>12/11/2025 10:57 AM</a:t>
            </a:fld>
            <a:endParaRPr lang="en-US" altLang="zh-CN" sz="1400" dirty="0"/>
          </a:p>
        </p:txBody>
      </p:sp>
      <p:sp>
        <p:nvSpPr>
          <p:cNvPr id="1741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10338"/>
            <a:ext cx="428625" cy="347662"/>
          </a:xfrm>
        </p:spPr>
        <p:txBody>
          <a:bodyPr wrap="square" lIns="92075" tIns="46038" rIns="92075" bIns="46038" anchor="ctr"/>
          <a:lstStyle/>
          <a:p>
            <a:pPr algn="r"/>
            <a:fld id="{9A0DB2DC-4C9A-4742-B13C-FB6460FD3503}" type="slidenum">
              <a:rPr lang="en-US" altLang="zh-CN" sz="1400" dirty="0"/>
              <a:t>23</a:t>
            </a:fld>
            <a:endParaRPr lang="en-US" altLang="zh-CN" sz="1400" dirty="0"/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 bldLvl="0" animBg="1"/>
      <p:bldP spid="14339" grpId="0" build="p" advAuto="100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260" y="11430"/>
            <a:ext cx="8281035" cy="918845"/>
          </a:xfrm>
        </p:spPr>
        <p:txBody>
          <a:bodyPr vert="horz" wrap="square" lIns="92075" tIns="46038" rIns="92075" bIns="46038" numCol="1" anchor="ctr" anchorCtr="0" compatLnSpc="1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⑴</a:t>
            </a:r>
            <a:r>
              <a:rPr lang="zh-CN" altLang="en-US" dirty="0">
                <a:solidFill>
                  <a:srgbClr val="CCFF33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塑料的组成</a:t>
            </a:r>
            <a:endParaRPr lang="zh-CN" altLang="en-US" dirty="0">
              <a:ea typeface="华文中宋" panose="02010600040101010101" pitchFamily="2" charset="-122"/>
            </a:endParaRPr>
          </a:p>
        </p:txBody>
      </p:sp>
      <p:sp>
        <p:nvSpPr>
          <p:cNvPr id="14339" name="Rectangle 3"/>
          <p:cNvSpPr>
            <a:spLocks noGrp="1"/>
          </p:cNvSpPr>
          <p:nvPr>
            <p:ph idx="1"/>
          </p:nvPr>
        </p:nvSpPr>
        <p:spPr>
          <a:xfrm>
            <a:off x="323528" y="2793503"/>
            <a:ext cx="8458200" cy="2628528"/>
          </a:xfrm>
        </p:spPr>
        <p:txBody>
          <a:bodyPr wrap="square" lIns="91440" tIns="45720" rIns="91440" bIns="45720" anchor="t"/>
          <a:lstStyle/>
          <a:p>
            <a:pPr>
              <a:lnSpc>
                <a:spcPct val="140000"/>
              </a:lnSpc>
            </a:pPr>
            <a:r>
              <a:rPr lang="zh-CN" altLang="en-US" sz="800" b="1" dirty="0">
                <a:solidFill>
                  <a:srgbClr val="CCFF33"/>
                </a:solidFill>
                <a:ea typeface="华文中宋" panose="02010600040101010101" pitchFamily="2" charset="-122"/>
              </a:rPr>
              <a:t>⑴</a:t>
            </a:r>
            <a:r>
              <a:rPr lang="zh-CN" altLang="en-US" sz="800" dirty="0">
                <a:solidFill>
                  <a:srgbClr val="CCFF33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sz="800" b="1" dirty="0">
                <a:solidFill>
                  <a:srgbClr val="CCFF33"/>
                </a:solidFill>
                <a:ea typeface="华文中宋" panose="02010600040101010101" pitchFamily="2" charset="-122"/>
              </a:rPr>
              <a:t>塑料的组成：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树脂（</a:t>
            </a:r>
            <a:r>
              <a:rPr lang="zh-CN" altLang="en-US" sz="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主要成分）</a:t>
            </a:r>
            <a:r>
              <a:rPr lang="en-US" altLang="zh-CN" sz="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+</a:t>
            </a:r>
            <a:r>
              <a:rPr lang="zh-CN" altLang="en-US" sz="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各种</a:t>
            </a:r>
            <a:r>
              <a:rPr lang="zh-CN" altLang="en-US" sz="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添加剂。</a:t>
            </a:r>
            <a:endParaRPr lang="en-US" altLang="zh-CN" sz="8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树脂对塑料性能起决定性作用。</a:t>
            </a:r>
            <a:endParaRPr lang="zh-CN" altLang="en-US" sz="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800" dirty="0">
                <a:ea typeface="华文中宋" panose="02010600040101010101" pitchFamily="2" charset="-122"/>
              </a:rPr>
              <a:t> </a:t>
            </a:r>
          </a:p>
        </p:txBody>
      </p:sp>
      <p:sp>
        <p:nvSpPr>
          <p:cNvPr id="14340" name="Rectangle 4"/>
          <p:cNvSpPr/>
          <p:nvPr/>
        </p:nvSpPr>
        <p:spPr>
          <a:xfrm>
            <a:off x="467544" y="4437112"/>
            <a:ext cx="5491336" cy="151216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zh-CN" altLang="en-US" sz="3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7"/>
          <p:cNvGrpSpPr>
            <a:grpSpLocks noChangeAspect="1"/>
          </p:cNvGrpSpPr>
          <p:nvPr/>
        </p:nvGrpSpPr>
        <p:grpSpPr>
          <a:xfrm>
            <a:off x="6228184" y="3429000"/>
            <a:ext cx="2589050" cy="2628528"/>
            <a:chOff x="3166" y="1536"/>
            <a:chExt cx="2233" cy="2267"/>
          </a:xfrm>
        </p:grpSpPr>
        <p:pic>
          <p:nvPicPr>
            <p:cNvPr id="17413" name="Picture 5" descr="塑料制品1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8" y="1536"/>
              <a:ext cx="2231" cy="2267"/>
            </a:xfrm>
            <a:prstGeom prst="rect">
              <a:avLst/>
            </a:prstGeom>
            <a:noFill/>
            <a:ln w="28575" cap="flat" cmpd="sng">
              <a:solidFill>
                <a:srgbClr val="CCFF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7414" name="Text Box 6"/>
            <p:cNvSpPr txBox="1">
              <a:spLocks noChangeAspect="1"/>
            </p:cNvSpPr>
            <p:nvPr/>
          </p:nvSpPr>
          <p:spPr>
            <a:xfrm>
              <a:off x="3166" y="2784"/>
              <a:ext cx="338" cy="912"/>
            </a:xfrm>
            <a:prstGeom prst="rect">
              <a:avLst/>
            </a:prstGeom>
            <a:noFill/>
            <a:ln w="28575">
              <a:noFill/>
            </a:ln>
          </p:spPr>
          <p:txBody>
            <a:bodyPr vert="eaVert" anchor="t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塑料制品</a:t>
              </a:r>
            </a:p>
          </p:txBody>
        </p:sp>
      </p:grpSp>
      <p:sp>
        <p:nvSpPr>
          <p:cNvPr id="17416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  <a:t>12/11/2025 10:57 AM</a:t>
            </a:fld>
            <a:endParaRPr lang="en-US" altLang="zh-CN" sz="1400" dirty="0"/>
          </a:p>
        </p:txBody>
      </p:sp>
      <p:sp>
        <p:nvSpPr>
          <p:cNvPr id="1741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10338"/>
            <a:ext cx="428625" cy="347662"/>
          </a:xfrm>
        </p:spPr>
        <p:txBody>
          <a:bodyPr wrap="square" lIns="92075" tIns="46038" rIns="92075" bIns="46038" anchor="ctr"/>
          <a:lstStyle/>
          <a:p>
            <a:pPr algn="r"/>
            <a:fld id="{9A0DB2DC-4C9A-4742-B13C-FB6460FD3503}" type="slidenum">
              <a:rPr lang="en-US" altLang="zh-CN" sz="1400" dirty="0"/>
              <a:t>24</a:t>
            </a:fld>
            <a:endParaRPr lang="en-US" altLang="zh-CN" sz="1400" dirty="0"/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" name="组合 2"/>
          <p:cNvGrpSpPr/>
          <p:nvPr/>
        </p:nvGrpSpPr>
        <p:grpSpPr>
          <a:xfrm>
            <a:off x="683568" y="1954567"/>
            <a:ext cx="7088267" cy="2449213"/>
            <a:chOff x="444000" y="4260366"/>
            <a:chExt cx="7088267" cy="1182372"/>
          </a:xfrm>
        </p:grpSpPr>
        <p:grpSp>
          <p:nvGrpSpPr>
            <p:cNvPr id="4" name="组合 20"/>
            <p:cNvGrpSpPr/>
            <p:nvPr/>
          </p:nvGrpSpPr>
          <p:grpSpPr>
            <a:xfrm>
              <a:off x="444000" y="4656608"/>
              <a:ext cx="3055559" cy="786130"/>
              <a:chOff x="2794" y="5873"/>
              <a:chExt cx="4870" cy="1238"/>
            </a:xfrm>
          </p:grpSpPr>
          <p:sp>
            <p:nvSpPr>
              <p:cNvPr id="8" name="文本框 2"/>
              <p:cNvSpPr txBox="1">
                <a:spLocks noChangeArrowheads="1"/>
              </p:cNvSpPr>
              <p:nvPr/>
            </p:nvSpPr>
            <p:spPr bwMode="auto">
              <a:xfrm>
                <a:off x="2794" y="5873"/>
                <a:ext cx="2393" cy="819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algn="l"/>
                <a:r>
                  <a:rPr lang="zh-CN" altLang="en-US" sz="3200" b="1" dirty="0">
                    <a:solidFill>
                      <a:srgbClr val="FF0000"/>
                    </a:solidFill>
                    <a:ea typeface="华文中宋" panose="02010600040101010101" pitchFamily="2" charset="-122"/>
                  </a:rPr>
                  <a:t>塑料的组成</a:t>
                </a:r>
                <a:endParaRPr lang="zh-CN" altLang="en-US" sz="3200" kern="1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9" name="文本框 2"/>
              <p:cNvSpPr txBox="1">
                <a:spLocks noChangeArrowheads="1"/>
              </p:cNvSpPr>
              <p:nvPr/>
            </p:nvSpPr>
            <p:spPr bwMode="auto">
              <a:xfrm>
                <a:off x="5883" y="6761"/>
                <a:ext cx="1781" cy="35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添加剂</a:t>
                </a:r>
                <a:endParaRPr lang="zh-CN" altLang="en-US" kern="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</p:grpSp>
        <p:sp useBgFill="1">
          <p:nvSpPr>
            <p:cNvPr id="6" name="左大括号 39"/>
            <p:cNvSpPr/>
            <p:nvPr/>
          </p:nvSpPr>
          <p:spPr>
            <a:xfrm>
              <a:off x="2007294" y="4440632"/>
              <a:ext cx="175777" cy="887740"/>
            </a:xfrm>
            <a:prstGeom prst="leftBrace">
              <a:avLst>
                <a:gd name="adj1" fmla="val 47157"/>
                <a:gd name="adj2" fmla="val 50000"/>
              </a:avLst>
            </a:prstGeom>
            <a:ln w="2222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7" name="文本框 2"/>
            <p:cNvSpPr txBox="1">
              <a:spLocks noChangeArrowheads="1"/>
            </p:cNvSpPr>
            <p:nvPr/>
          </p:nvSpPr>
          <p:spPr bwMode="auto">
            <a:xfrm>
              <a:off x="2364392" y="4260366"/>
              <a:ext cx="5167875" cy="51659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树脂：主要成分，</a:t>
              </a:r>
              <a:r>
                <a:rPr lang="zh-CN" altLang="en-US" sz="2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对塑料性能起决定性作用</a:t>
              </a:r>
            </a:p>
          </p:txBody>
        </p:sp>
      </p:grpSp>
      <p:sp>
        <p:nvSpPr>
          <p:cNvPr id="5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500"/>
                            </p:stCondLst>
                            <p:childTnLst>
                              <p:par>
                                <p:cTn id="2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 bldLvl="0" animBg="1"/>
      <p:bldP spid="14339" grpId="0" build="p" advAuto="1000"/>
      <p:bldP spid="1434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/>
          </p:cNvSpPr>
          <p:nvPr>
            <p:ph idx="1"/>
          </p:nvPr>
        </p:nvSpPr>
        <p:spPr>
          <a:xfrm>
            <a:off x="251143" y="1124585"/>
            <a:ext cx="8824912" cy="5543550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添加剂：</a:t>
            </a:r>
            <a:r>
              <a:rPr lang="zh-CN" altLang="en-US" sz="2800" b="1" dirty="0">
                <a:ea typeface="华文中宋" panose="02010600040101010101" pitchFamily="2" charset="-122"/>
              </a:rPr>
              <a:t>为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改善塑料某些性能</a:t>
            </a:r>
            <a:r>
              <a:rPr lang="zh-CN" altLang="en-US" sz="2800" b="1" dirty="0">
                <a:ea typeface="华文中宋" panose="02010600040101010101" pitchFamily="2" charset="-122"/>
              </a:rPr>
              <a:t>而加入的物质</a:t>
            </a:r>
            <a:r>
              <a:rPr lang="zh-CN" altLang="en-US" sz="2800" b="1" dirty="0">
                <a:solidFill>
                  <a:srgbClr val="66FFFF"/>
                </a:solidFill>
                <a:ea typeface="华文中宋" panose="02010600040101010101" pitchFamily="2" charset="-122"/>
              </a:rPr>
              <a:t>。</a:t>
            </a: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填料：</a:t>
            </a:r>
            <a:r>
              <a:rPr lang="zh-CN" altLang="en-US" sz="2800" b="1" dirty="0">
                <a:ea typeface="华文中宋" panose="02010600040101010101" pitchFamily="2" charset="-122"/>
              </a:rPr>
              <a:t>主要起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增强</a:t>
            </a:r>
            <a:r>
              <a:rPr lang="zh-CN" altLang="en-US" sz="2800" b="1" dirty="0">
                <a:ea typeface="华文中宋" panose="02010600040101010101" pitchFamily="2" charset="-122"/>
              </a:rPr>
              <a:t>作用；</a:t>
            </a: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增塑剂：</a:t>
            </a:r>
            <a:r>
              <a:rPr lang="zh-CN" altLang="en-US" sz="2800" b="1" dirty="0">
                <a:ea typeface="华文中宋" panose="02010600040101010101" pitchFamily="2" charset="-122"/>
              </a:rPr>
              <a:t>用于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提高树脂</a:t>
            </a:r>
            <a:r>
              <a:rPr lang="zh-CN" altLang="en-US" sz="2800" b="1" dirty="0">
                <a:ea typeface="华文中宋" panose="02010600040101010101" pitchFamily="2" charset="-122"/>
              </a:rPr>
              <a:t>的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可塑性</a:t>
            </a:r>
            <a:r>
              <a:rPr lang="zh-CN" altLang="en-US" sz="2800" b="1" dirty="0">
                <a:ea typeface="华文中宋" panose="02010600040101010101" pitchFamily="2" charset="-122"/>
              </a:rPr>
              <a:t>和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柔软性；</a:t>
            </a: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固化剂：</a:t>
            </a:r>
            <a:r>
              <a:rPr lang="zh-CN" altLang="en-US" sz="2800" b="1" dirty="0">
                <a:ea typeface="华文中宋" panose="02010600040101010101" pitchFamily="2" charset="-122"/>
              </a:rPr>
              <a:t>用于使热固性树脂由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线型结构</a:t>
            </a:r>
            <a:r>
              <a:rPr lang="zh-CN" altLang="en-US" sz="2800" b="1" dirty="0">
                <a:ea typeface="华文中宋" panose="02010600040101010101" pitchFamily="2" charset="-122"/>
              </a:rPr>
              <a:t>变为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体型结构</a:t>
            </a:r>
            <a:r>
              <a:rPr lang="en-US" altLang="zh-CN" sz="2800" b="1" dirty="0">
                <a:ea typeface="华文中宋" panose="02010600040101010101" pitchFamily="2" charset="-122"/>
              </a:rPr>
              <a:t>;</a:t>
            </a: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润滑剂：</a:t>
            </a:r>
            <a:r>
              <a:rPr lang="zh-CN" altLang="en-US" sz="2800" b="1" dirty="0">
                <a:ea typeface="华文中宋" panose="02010600040101010101" pitchFamily="2" charset="-122"/>
              </a:rPr>
              <a:t>用</a:t>
            </a:r>
            <a:r>
              <a:rPr lang="zh-CN" altLang="en-US" sz="2800" b="1" dirty="0">
                <a:solidFill>
                  <a:srgbClr val="FFFF00"/>
                </a:solidFill>
                <a:ea typeface="华文中宋" panose="02010600040101010101" pitchFamily="2" charset="-122"/>
              </a:rPr>
              <a:t>于防止塑料粘在模具上</a:t>
            </a:r>
            <a:r>
              <a:rPr lang="en-US" altLang="zh-CN" sz="2800" b="1" dirty="0">
                <a:solidFill>
                  <a:srgbClr val="FFFF00"/>
                </a:solidFill>
                <a:ea typeface="华文中宋" panose="02010600040101010101" pitchFamily="2" charset="-122"/>
              </a:rPr>
              <a:t>, </a:t>
            </a:r>
            <a:r>
              <a:rPr lang="zh-CN" altLang="en-US" sz="2800" b="1" dirty="0">
                <a:ea typeface="华文中宋" panose="02010600040101010101" pitchFamily="2" charset="-122"/>
              </a:rPr>
              <a:t>使</a:t>
            </a:r>
            <a:r>
              <a:rPr lang="zh-CN" altLang="en-US" sz="2800" b="1" dirty="0">
                <a:solidFill>
                  <a:srgbClr val="FFFF00"/>
                </a:solidFill>
                <a:ea typeface="华文中宋" panose="02010600040101010101" pitchFamily="2" charset="-122"/>
              </a:rPr>
              <a:t>制品光亮；</a:t>
            </a: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稳定剂：</a:t>
            </a:r>
            <a:r>
              <a:rPr lang="zh-CN" altLang="en-US" sz="2800" b="1" dirty="0">
                <a:ea typeface="华文中宋" panose="02010600040101010101" pitchFamily="2" charset="-122"/>
              </a:rPr>
              <a:t>用于</a:t>
            </a:r>
            <a:r>
              <a:rPr lang="zh-CN" altLang="en-US" sz="2800" b="1" dirty="0">
                <a:solidFill>
                  <a:srgbClr val="FFFF00"/>
                </a:solidFill>
                <a:ea typeface="华文中宋" panose="02010600040101010101" pitchFamily="2" charset="-122"/>
              </a:rPr>
              <a:t>防</a:t>
            </a:r>
            <a:r>
              <a:rPr lang="zh-CN" altLang="en-US" sz="2800" b="1" dirty="0">
                <a:ea typeface="华文中宋" panose="02010600040101010101" pitchFamily="2" charset="-122"/>
              </a:rPr>
              <a:t>止塑料</a:t>
            </a:r>
            <a:r>
              <a:rPr lang="zh-CN" altLang="en-US" sz="2800" b="1" dirty="0">
                <a:solidFill>
                  <a:srgbClr val="FFFF00"/>
                </a:solidFill>
                <a:ea typeface="华文中宋" panose="02010600040101010101" pitchFamily="2" charset="-122"/>
              </a:rPr>
              <a:t>老化</a:t>
            </a:r>
            <a:r>
              <a:rPr lang="zh-CN" altLang="en-US" sz="2800" b="1" dirty="0">
                <a:ea typeface="华文中宋" panose="02010600040101010101" pitchFamily="2" charset="-122"/>
              </a:rPr>
              <a:t>；</a:t>
            </a: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着色剂：</a:t>
            </a:r>
            <a:r>
              <a:rPr lang="zh-CN" altLang="en-US" sz="2800" b="1" dirty="0">
                <a:ea typeface="华文中宋" panose="02010600040101010101" pitchFamily="2" charset="-122"/>
              </a:rPr>
              <a:t>用于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塑料制品着色。</a:t>
            </a: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1" dirty="0">
                <a:ea typeface="华文中宋" panose="02010600040101010101" pitchFamily="2" charset="-122"/>
              </a:rPr>
              <a:t>其他：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发泡剂</a:t>
            </a:r>
            <a:r>
              <a:rPr lang="zh-CN" altLang="en-US" sz="2800" b="1" dirty="0">
                <a:ea typeface="华文中宋" panose="02010600040101010101" pitchFamily="2" charset="-122"/>
              </a:rPr>
              <a:t>、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催化剂</a:t>
            </a:r>
            <a:r>
              <a:rPr lang="zh-CN" altLang="en-US" sz="2800" b="1" dirty="0">
                <a:ea typeface="华文中宋" panose="02010600040101010101" pitchFamily="2" charset="-122"/>
              </a:rPr>
              <a:t>、</a:t>
            </a:r>
            <a:endParaRPr lang="en-US" altLang="zh-CN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                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阻燃剂</a:t>
            </a:r>
            <a:r>
              <a:rPr lang="zh-CN" altLang="en-US" sz="2800" b="1" dirty="0">
                <a:ea typeface="华文中宋" panose="02010600040101010101" pitchFamily="2" charset="-122"/>
              </a:rPr>
              <a:t>、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抗静电剂</a:t>
            </a:r>
            <a:r>
              <a:rPr lang="zh-CN" altLang="en-US" sz="2800" b="1" dirty="0">
                <a:ea typeface="华文中宋" panose="02010600040101010101" pitchFamily="2" charset="-122"/>
              </a:rPr>
              <a:t>等。 </a:t>
            </a:r>
          </a:p>
        </p:txBody>
      </p:sp>
      <p:grpSp>
        <p:nvGrpSpPr>
          <p:cNvPr id="2" name="Group 8"/>
          <p:cNvGrpSpPr/>
          <p:nvPr/>
        </p:nvGrpSpPr>
        <p:grpSpPr>
          <a:xfrm>
            <a:off x="5940152" y="4149080"/>
            <a:ext cx="2819400" cy="2159000"/>
            <a:chOff x="3552" y="2448"/>
            <a:chExt cx="1776" cy="1360"/>
          </a:xfrm>
        </p:grpSpPr>
        <p:pic>
          <p:nvPicPr>
            <p:cNvPr id="18435" name="Picture 4" descr="添加剂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52" y="2448"/>
              <a:ext cx="1764" cy="1360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8436" name="Text Box 7"/>
            <p:cNvSpPr txBox="1"/>
            <p:nvPr/>
          </p:nvSpPr>
          <p:spPr>
            <a:xfrm>
              <a:off x="4752" y="2448"/>
              <a:ext cx="5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8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添加剂</a:t>
              </a:r>
              <a:endParaRPr lang="zh-CN" altLang="en-US" sz="18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1907858" y="17780"/>
            <a:ext cx="6672263" cy="764704"/>
          </a:xfrm>
        </p:spPr>
        <p:txBody>
          <a:bodyPr vert="horz" wrap="square" lIns="92075" tIns="46038" rIns="92075" bIns="46038" numCol="1" anchor="ctr" anchorCtr="0" compatLnSpc="1"/>
          <a:lstStyle/>
          <a:p>
            <a:pPr lvl="0" algn="l" eaLnBrk="1" hangingPunct="1">
              <a:defRPr/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⑴</a:t>
            </a:r>
            <a:r>
              <a:rPr lang="zh-CN" altLang="en-US" dirty="0">
                <a:solidFill>
                  <a:srgbClr val="CCFF33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塑料的组成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8439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  <a:t>12/11/2025 10:57 AM</a:t>
            </a:fld>
            <a:endParaRPr lang="en-US" altLang="zh-CN" sz="1400" dirty="0"/>
          </a:p>
        </p:txBody>
      </p:sp>
      <p:sp>
        <p:nvSpPr>
          <p:cNvPr id="1844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10338"/>
            <a:ext cx="428625" cy="347662"/>
          </a:xfrm>
        </p:spPr>
        <p:txBody>
          <a:bodyPr wrap="square" lIns="92075" tIns="46038" rIns="92075" bIns="46038" anchor="ctr"/>
          <a:lstStyle/>
          <a:p>
            <a:pPr algn="r"/>
            <a:fld id="{9A0DB2DC-4C9A-4742-B13C-FB6460FD3503}" type="slidenum">
              <a:rPr lang="en-US" altLang="zh-CN" sz="1400" dirty="0"/>
              <a:t>25</a:t>
            </a:fld>
            <a:endParaRPr lang="en-US" altLang="zh-CN" sz="1400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3" presetClass="entr" presetSubtype="3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 advAuto="1000"/>
      <p:bldP spid="9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/>
          </p:cNvSpPr>
          <p:nvPr>
            <p:ph idx="1"/>
          </p:nvPr>
        </p:nvSpPr>
        <p:spPr>
          <a:xfrm>
            <a:off x="2956098" y="3972500"/>
            <a:ext cx="2792981" cy="2487479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35000"/>
              </a:lnSpc>
            </a:pPr>
            <a:r>
              <a:rPr lang="zh-CN" altLang="en-US" sz="800" b="1" dirty="0">
                <a:ea typeface="华文中宋" panose="02010600040101010101" pitchFamily="2" charset="-122"/>
              </a:rPr>
              <a:t>按</a:t>
            </a:r>
            <a:r>
              <a:rPr lang="zh-CN" altLang="en-US" sz="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树脂受热时行为</a:t>
            </a:r>
            <a:r>
              <a:rPr lang="zh-CN" altLang="en-US" sz="800" b="1" dirty="0">
                <a:ea typeface="华文中宋" panose="02010600040101010101" pitchFamily="2" charset="-122"/>
              </a:rPr>
              <a:t>可分为</a:t>
            </a:r>
            <a:r>
              <a:rPr lang="zh-CN" altLang="en-US" sz="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：热塑性塑料、热固性塑料</a:t>
            </a:r>
            <a:r>
              <a:rPr lang="en-US" altLang="zh-CN" sz="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.</a:t>
            </a:r>
            <a:r>
              <a:rPr lang="en-US" altLang="zh-CN" sz="800" dirty="0">
                <a:ea typeface="华文中宋" panose="02010600040101010101" pitchFamily="2" charset="-122"/>
              </a:rPr>
              <a:t> </a:t>
            </a:r>
          </a:p>
          <a:p>
            <a:pPr eaLnBrk="1" hangingPunct="1">
              <a:lnSpc>
                <a:spcPct val="135000"/>
              </a:lnSpc>
            </a:pPr>
            <a:r>
              <a:rPr lang="zh-CN" altLang="en-US" sz="800" b="1" dirty="0">
                <a:solidFill>
                  <a:schemeClr val="accent1"/>
                </a:solidFill>
                <a:ea typeface="华文中宋" panose="02010600040101010101" pitchFamily="2" charset="-122"/>
              </a:rPr>
              <a:t>按</a:t>
            </a:r>
            <a:r>
              <a:rPr lang="zh-CN" altLang="en-US" sz="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使用范围</a:t>
            </a:r>
            <a:r>
              <a:rPr lang="zh-CN" altLang="en-US" sz="800" b="1" dirty="0">
                <a:ea typeface="华文中宋" panose="02010600040101010101" pitchFamily="2" charset="-122"/>
              </a:rPr>
              <a:t>可分为：</a:t>
            </a:r>
            <a:r>
              <a:rPr lang="zh-CN" altLang="en-US" sz="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通用塑料、工程塑料、特种塑料</a:t>
            </a:r>
            <a:r>
              <a:rPr lang="en-US" altLang="zh-CN" sz="800" b="1" dirty="0">
                <a:ea typeface="华文中宋" panose="02010600040101010101" pitchFamily="2" charset="-122"/>
              </a:rPr>
              <a:t>.</a:t>
            </a:r>
          </a:p>
          <a:p>
            <a:pPr eaLnBrk="1" hangingPunct="1">
              <a:lnSpc>
                <a:spcPct val="135000"/>
              </a:lnSpc>
              <a:buNone/>
            </a:pPr>
            <a:r>
              <a:rPr lang="zh-CN" altLang="en-US" sz="800" b="1" dirty="0">
                <a:solidFill>
                  <a:schemeClr val="tx2"/>
                </a:solidFill>
                <a:ea typeface="华文中宋" panose="02010600040101010101" pitchFamily="2" charset="-122"/>
              </a:rPr>
              <a:t>        ①通用塑料：</a:t>
            </a:r>
            <a:r>
              <a:rPr lang="zh-CN" altLang="en-US" sz="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产量大、价格低、用途广。</a:t>
            </a:r>
            <a:r>
              <a:rPr lang="zh-CN" altLang="en-US" sz="800" b="1" dirty="0">
                <a:ea typeface="华文中宋" panose="02010600040101010101" pitchFamily="2" charset="-122"/>
              </a:rPr>
              <a:t> </a:t>
            </a:r>
          </a:p>
          <a:p>
            <a:pPr eaLnBrk="1" hangingPunct="1">
              <a:lnSpc>
                <a:spcPct val="135000"/>
              </a:lnSpc>
              <a:buNone/>
            </a:pPr>
            <a:r>
              <a:rPr lang="zh-CN" altLang="en-US" sz="800" b="1" dirty="0">
                <a:solidFill>
                  <a:schemeClr val="tx2"/>
                </a:solidFill>
                <a:ea typeface="华文中宋" panose="02010600040101010101" pitchFamily="2" charset="-122"/>
              </a:rPr>
              <a:t>        ②工程塑料：</a:t>
            </a:r>
            <a:r>
              <a:rPr lang="zh-CN" altLang="en-US" sz="800" b="1" dirty="0">
                <a:ea typeface="华文中宋" panose="02010600040101010101" pitchFamily="2" charset="-122"/>
              </a:rPr>
              <a:t>力学性能高，耐热、耐蚀性能好。</a:t>
            </a:r>
          </a:p>
        </p:txBody>
      </p:sp>
      <p:sp>
        <p:nvSpPr>
          <p:cNvPr id="16388" name="Rectangle 4"/>
          <p:cNvSpPr/>
          <p:nvPr/>
        </p:nvSpPr>
        <p:spPr>
          <a:xfrm>
            <a:off x="3009888" y="4239883"/>
            <a:ext cx="2631202" cy="29146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35000"/>
              </a:lnSpc>
              <a:spcBef>
                <a:spcPct val="20000"/>
              </a:spcBef>
              <a:buClr>
                <a:schemeClr val="accent2"/>
              </a:buClr>
              <a:buSzPct val="80000"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    </a:t>
            </a:r>
            <a:r>
              <a:rPr lang="zh-CN" altLang="en-US" sz="800" b="1" dirty="0">
                <a:solidFill>
                  <a:schemeClr val="tx2"/>
                </a:solidFill>
                <a:ea typeface="华文中宋" panose="02010600040101010101" pitchFamily="2" charset="-122"/>
              </a:rPr>
              <a:t>③特种塑料：</a:t>
            </a:r>
            <a:r>
              <a:rPr lang="zh-CN" altLang="en-US" sz="800" b="1" dirty="0">
                <a:ea typeface="华文中宋" panose="02010600040101010101" pitchFamily="2" charset="-122"/>
              </a:rPr>
              <a:t>是指</a:t>
            </a:r>
            <a:r>
              <a:rPr lang="zh-CN" altLang="en-US" sz="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具有某些特殊性</a:t>
            </a:r>
            <a:r>
              <a:rPr lang="zh-CN" altLang="en-US" sz="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能如耐高温、耐腐蚀的塑料；产量少，价格贵，只用于特殊需要的场合。</a:t>
            </a:r>
            <a:r>
              <a:rPr lang="zh-CN" altLang="en-US" sz="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</a:p>
        </p:txBody>
      </p:sp>
      <p:grpSp>
        <p:nvGrpSpPr>
          <p:cNvPr id="2" name="Group 7"/>
          <p:cNvGrpSpPr/>
          <p:nvPr/>
        </p:nvGrpSpPr>
        <p:grpSpPr>
          <a:xfrm>
            <a:off x="6695673" y="2132965"/>
            <a:ext cx="2377842" cy="1609476"/>
            <a:chOff x="3805" y="2376"/>
            <a:chExt cx="1679" cy="1014"/>
          </a:xfrm>
        </p:grpSpPr>
        <p:pic>
          <p:nvPicPr>
            <p:cNvPr id="19460" name="Picture 5" descr="热固性塑料制品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94" y="2400"/>
              <a:ext cx="1552" cy="990"/>
            </a:xfrm>
            <a:prstGeom prst="rect">
              <a:avLst/>
            </a:prstGeom>
            <a:noFill/>
            <a:ln w="9525" cap="flat" cmpd="sng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9461" name="Text Box 6"/>
            <p:cNvSpPr txBox="1"/>
            <p:nvPr/>
          </p:nvSpPr>
          <p:spPr>
            <a:xfrm>
              <a:off x="3805" y="2376"/>
              <a:ext cx="167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热固性塑料制品</a:t>
              </a:r>
            </a:p>
          </p:txBody>
        </p:sp>
      </p:grp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1929130" y="0"/>
            <a:ext cx="5851525" cy="6858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⑵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塑料的分类</a:t>
            </a:r>
          </a:p>
        </p:txBody>
      </p:sp>
      <p:sp>
        <p:nvSpPr>
          <p:cNvPr id="19464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  <a:t>12/11/2025 10:57 AM</a:t>
            </a:fld>
            <a:endParaRPr lang="en-US" altLang="zh-CN" sz="1400" dirty="0"/>
          </a:p>
        </p:txBody>
      </p:sp>
      <p:sp>
        <p:nvSpPr>
          <p:cNvPr id="1946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10338"/>
            <a:ext cx="428625" cy="347662"/>
          </a:xfrm>
        </p:spPr>
        <p:txBody>
          <a:bodyPr wrap="square" lIns="92075" tIns="46038" rIns="92075" bIns="46038" anchor="ctr"/>
          <a:lstStyle/>
          <a:p>
            <a:pPr algn="r"/>
            <a:fld id="{9A0DB2DC-4C9A-4742-B13C-FB6460FD3503}" type="slidenum">
              <a:rPr lang="en-US" altLang="zh-CN" sz="1400" dirty="0"/>
              <a:t>26</a:t>
            </a:fld>
            <a:endParaRPr lang="en-US" altLang="zh-CN" sz="1400" dirty="0"/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4" name="组合 3"/>
          <p:cNvGrpSpPr/>
          <p:nvPr/>
        </p:nvGrpSpPr>
        <p:grpSpPr>
          <a:xfrm>
            <a:off x="487596" y="1484631"/>
            <a:ext cx="5949399" cy="4377054"/>
            <a:chOff x="693406" y="1033523"/>
            <a:chExt cx="6087297" cy="4609358"/>
          </a:xfrm>
        </p:grpSpPr>
        <p:grpSp>
          <p:nvGrpSpPr>
            <p:cNvPr id="6" name="组合 5"/>
            <p:cNvGrpSpPr/>
            <p:nvPr/>
          </p:nvGrpSpPr>
          <p:grpSpPr>
            <a:xfrm>
              <a:off x="693406" y="1033523"/>
              <a:ext cx="6087297" cy="4609358"/>
              <a:chOff x="666869" y="1230111"/>
              <a:chExt cx="6087297" cy="4609358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6869" y="1230111"/>
                <a:ext cx="4393231" cy="2875198"/>
                <a:chOff x="563211" y="4266550"/>
                <a:chExt cx="4393231" cy="1477178"/>
              </a:xfrm>
            </p:grpSpPr>
            <p:grpSp>
              <p:nvGrpSpPr>
                <p:cNvPr id="19" name="组合 20"/>
                <p:cNvGrpSpPr/>
                <p:nvPr/>
              </p:nvGrpSpPr>
              <p:grpSpPr>
                <a:xfrm>
                  <a:off x="563211" y="4360698"/>
                  <a:ext cx="4393231" cy="1383030"/>
                  <a:chOff x="2984" y="5407"/>
                  <a:chExt cx="7002" cy="2178"/>
                </a:xfrm>
              </p:grpSpPr>
              <p:sp>
                <p:nvSpPr>
                  <p:cNvPr id="23" name="左大括号 39"/>
                  <p:cNvSpPr/>
                  <p:nvPr/>
                </p:nvSpPr>
                <p:spPr>
                  <a:xfrm>
                    <a:off x="3967" y="5774"/>
                    <a:ext cx="250" cy="1811"/>
                  </a:xfrm>
                  <a:prstGeom prst="leftBrace">
                    <a:avLst>
                      <a:gd name="adj1" fmla="val 47157"/>
                      <a:gd name="adj2" fmla="val 50000"/>
                    </a:avLst>
                  </a:prstGeom>
                  <a:ln w="22225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 dirty="0"/>
                  </a:p>
                </p:txBody>
              </p:sp>
              <p:sp>
                <p:nvSpPr>
                  <p:cNvPr id="24" name="文本框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84" y="5844"/>
                    <a:ext cx="888" cy="1691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 rot="0" vert="horz" wrap="square" lIns="91440" tIns="45720" rIns="91440" bIns="45720" anchor="t" anchorCtr="0">
                    <a:noAutofit/>
                  </a:bodyPr>
                  <a:lstStyle/>
                  <a:p>
                    <a:pPr algn="ctr">
                      <a:buClrTx/>
                      <a:buSzTx/>
                      <a:buFontTx/>
                    </a:pPr>
                    <a:r>
                      <a:rPr kumimoji="1" lang="zh-CN" altLang="en-US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uLnTx/>
                        <a:uFillTx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+mj-cs"/>
                      </a:rPr>
                      <a:t>塑料的分类</a:t>
                    </a:r>
                    <a:endParaRPr lang="zh-CN" altLang="en-US" kern="100" dirty="0">
                      <a:solidFill>
                        <a:srgbClr val="FF0000"/>
                      </a:solidFill>
                      <a:effectLst>
                        <a:outerShdw blurRad="38100" dist="25400" dir="5400000" algn="ctr">
                          <a:srgbClr val="6E747A">
                            <a:alpha val="43000"/>
                          </a:srgbClr>
                        </a:outerShdw>
                      </a:effectLst>
                      <a:latin typeface="微软雅黑" panose="020B0503020204020204" charset="-122"/>
                      <a:ea typeface="微软雅黑" panose="020B0503020204020204" charset="-122"/>
                      <a:cs typeface="Times New Roman" panose="02020603050405020304"/>
                      <a:sym typeface="+mn-ea"/>
                    </a:endParaRPr>
                  </a:p>
                </p:txBody>
              </p:sp>
              <p:sp>
                <p:nvSpPr>
                  <p:cNvPr id="25" name="文本框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12" y="5407"/>
                    <a:ext cx="2402" cy="707"/>
                  </a:xfrm>
                  <a:prstGeom prst="rect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 rot="0" vert="horz" wrap="square" lIns="91440" tIns="45720" rIns="91440" bIns="45720" anchor="t" anchorCtr="0">
                    <a:spAutoFit/>
                  </a:bodyPr>
                  <a:lstStyle/>
                  <a:p>
                    <a:pPr algn="l"/>
                    <a:r>
                      <a:rPr lang="zh-CN" altLang="en-US" b="1" dirty="0">
                        <a:solidFill>
                          <a:srgbClr val="FF0000"/>
                        </a:solidFill>
                        <a:ea typeface="华文中宋" panose="02010600040101010101" pitchFamily="2" charset="-122"/>
                      </a:rPr>
                      <a:t>按树脂受热时行为</a:t>
                    </a:r>
                    <a:endParaRPr lang="zh-CN" altLang="en-US" b="1" dirty="0">
                      <a:solidFill>
                        <a:srgbClr val="FF0000"/>
                      </a:solidFill>
                      <a:ea typeface="华文中宋" panose="02010600040101010101" pitchFamily="2" charset="-122"/>
                      <a:sym typeface="Times New Roman" panose="02020603050405020304"/>
                    </a:endParaRPr>
                  </a:p>
                </p:txBody>
              </p:sp>
              <p:sp>
                <p:nvSpPr>
                  <p:cNvPr id="26" name="文本框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026" y="5707"/>
                    <a:ext cx="2960" cy="392"/>
                  </a:xfrm>
                  <a:prstGeom prst="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 rot="0" vert="horz" wrap="square" lIns="91440" tIns="45720" rIns="91440" bIns="45720" anchor="t" anchorCtr="0">
                    <a:spAutoFit/>
                  </a:bodyPr>
                  <a:lstStyle/>
                  <a:p>
                    <a:r>
                      <a:rPr lang="zh-CN" altLang="en-US" sz="2400" b="1" dirty="0">
                        <a:solidFill>
                          <a:srgbClr val="FF0000"/>
                        </a:solidFill>
                        <a:ea typeface="华文中宋" panose="02010600040101010101" pitchFamily="2" charset="-122"/>
                      </a:rPr>
                      <a:t>热固性塑料</a:t>
                    </a:r>
                    <a:endParaRPr lang="zh-CN" altLang="en-US" kern="100" dirty="0">
                      <a:solidFill>
                        <a:srgbClr val="FF0000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Times New Roman" panose="02020603050405020304"/>
                      <a:sym typeface="Times New Roman" panose="02020603050405020304"/>
                    </a:endParaRPr>
                  </a:p>
                </p:txBody>
              </p:sp>
            </p:grpSp>
            <p:sp useBgFill="1">
              <p:nvSpPr>
                <p:cNvPr id="21" name="左大括号 39"/>
                <p:cNvSpPr/>
                <p:nvPr/>
              </p:nvSpPr>
              <p:spPr>
                <a:xfrm>
                  <a:off x="2903582" y="4383359"/>
                  <a:ext cx="191667" cy="303016"/>
                </a:xfrm>
                <a:prstGeom prst="leftBrace">
                  <a:avLst>
                    <a:gd name="adj1" fmla="val 47157"/>
                    <a:gd name="adj2" fmla="val 50000"/>
                  </a:avLst>
                </a:prstGeom>
                <a:ln w="22225">
                  <a:solidFill>
                    <a:srgbClr val="FF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 dirty="0"/>
                </a:p>
              </p:txBody>
            </p:sp>
            <p:sp>
              <p:nvSpPr>
                <p:cNvPr id="22" name="文本框 2"/>
                <p:cNvSpPr txBox="1">
                  <a:spLocks noChangeArrowheads="1"/>
                </p:cNvSpPr>
                <p:nvPr/>
              </p:nvSpPr>
              <p:spPr bwMode="auto">
                <a:xfrm>
                  <a:off x="3099147" y="4266550"/>
                  <a:ext cx="1852347" cy="249078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 rot="0" vert="horz" wrap="square" lIns="91440" tIns="45720" rIns="91440" bIns="45720" anchor="t" anchorCtr="0">
                  <a:spAutoFit/>
                </a:bodyPr>
                <a:lstStyle/>
                <a:p>
                  <a:r>
                    <a:rPr lang="zh-CN" altLang="en-US" sz="2400" b="1" dirty="0">
                      <a:solidFill>
                        <a:schemeClr val="bg1"/>
                      </a:solidFill>
                      <a:ea typeface="华文中宋" panose="02010600040101010101" pitchFamily="2" charset="-122"/>
                    </a:rPr>
                    <a:t>热塑性塑料</a:t>
                  </a:r>
                  <a:endParaRPr lang="zh-CN" altLang="en-US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/>
                    <a:sym typeface="Times New Roman" panose="02020603050405020304"/>
                  </a:endParaRPr>
                </a:p>
              </p:txBody>
            </p:sp>
          </p:grpSp>
          <p:sp useBgFill="1">
            <p:nvSpPr>
              <p:cNvPr id="15" name="左大括号 39"/>
              <p:cNvSpPr/>
              <p:nvPr/>
            </p:nvSpPr>
            <p:spPr>
              <a:xfrm>
                <a:off x="2804537" y="2879586"/>
                <a:ext cx="217057" cy="2429979"/>
              </a:xfrm>
              <a:prstGeom prst="leftBrace">
                <a:avLst>
                  <a:gd name="adj1" fmla="val 47157"/>
                  <a:gd name="adj2" fmla="val 50000"/>
                </a:avLst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16" name="文本框 2"/>
              <p:cNvSpPr txBox="1">
                <a:spLocks noChangeArrowheads="1"/>
              </p:cNvSpPr>
              <p:nvPr/>
            </p:nvSpPr>
            <p:spPr bwMode="auto">
              <a:xfrm>
                <a:off x="3046115" y="2411613"/>
                <a:ext cx="2852924" cy="873993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algn="l"/>
                <a:r>
                  <a:rPr lang="zh-CN" altLang="en-US" sz="2400" b="1" dirty="0">
                    <a:solidFill>
                      <a:srgbClr val="FF0000"/>
                    </a:solidFill>
                    <a:ea typeface="华文中宋" panose="02010600040101010101" pitchFamily="2" charset="-122"/>
                  </a:rPr>
                  <a:t>通用塑料：</a:t>
                </a:r>
                <a:r>
                  <a:rPr lang="zh-CN" altLang="en-US" sz="2400" b="1" dirty="0">
                    <a:solidFill>
                      <a:schemeClr val="bg1"/>
                    </a:solidFill>
                    <a:ea typeface="华文中宋" panose="02010600040101010101" pitchFamily="2" charset="-122"/>
                  </a:rPr>
                  <a:t>产量大、价格低、用途广</a:t>
                </a:r>
                <a:endParaRPr lang="zh-CN" altLang="en-US" kern="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7" name="文本框 2"/>
              <p:cNvSpPr txBox="1">
                <a:spLocks noChangeArrowheads="1"/>
              </p:cNvSpPr>
              <p:nvPr/>
            </p:nvSpPr>
            <p:spPr bwMode="auto">
              <a:xfrm>
                <a:off x="3054670" y="3296398"/>
                <a:ext cx="3398027" cy="873993"/>
              </a:xfrm>
              <a:prstGeom prst="rect">
                <a:avLst/>
              </a:prstGeom>
              <a:solidFill>
                <a:srgbClr val="92D05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algn="l"/>
                <a:r>
                  <a:rPr lang="zh-CN" altLang="en-US" sz="2400" b="1" dirty="0">
                    <a:solidFill>
                      <a:srgbClr val="FF0000"/>
                    </a:solidFill>
                    <a:ea typeface="华文中宋" panose="02010600040101010101" pitchFamily="2" charset="-122"/>
                  </a:rPr>
                  <a:t>工程塑料：</a:t>
                </a:r>
                <a:r>
                  <a:rPr lang="zh-CN" altLang="en-US" sz="2400" b="1" dirty="0">
                    <a:solidFill>
                      <a:schemeClr val="bg1"/>
                    </a:solidFill>
                    <a:ea typeface="华文中宋" panose="02010600040101010101" pitchFamily="2" charset="-122"/>
                  </a:rPr>
                  <a:t>力学性能高，耐热、耐蚀性能好。</a:t>
                </a:r>
                <a:endParaRPr lang="zh-CN" altLang="en-US" kern="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8" name="文本框 2"/>
              <p:cNvSpPr txBox="1">
                <a:spLocks noChangeArrowheads="1"/>
              </p:cNvSpPr>
              <p:nvPr/>
            </p:nvSpPr>
            <p:spPr bwMode="auto">
              <a:xfrm>
                <a:off x="3045574" y="4187777"/>
                <a:ext cx="3708592" cy="1651692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algn="l"/>
                <a:r>
                  <a: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特种塑料：</a:t>
                </a:r>
                <a:r>
                  <a:rPr lang="zh-CN" altLang="en-US" sz="24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具有某些特殊性能如耐高温、耐腐蚀的塑料；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产量少，价格贵，只用于特殊需要的场合。 </a:t>
                </a:r>
                <a:endParaRPr lang="zh-CN" altLang="en-US" kern="1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</p:grpSp>
        <p:sp>
          <p:nvSpPr>
            <p:cNvPr id="8" name="文本框 2"/>
            <p:cNvSpPr txBox="1">
              <a:spLocks noChangeArrowheads="1"/>
            </p:cNvSpPr>
            <p:nvPr/>
          </p:nvSpPr>
          <p:spPr bwMode="auto">
            <a:xfrm>
              <a:off x="1537816" y="3459948"/>
              <a:ext cx="1221872" cy="873993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l"/>
              <a:r>
                <a:rPr lang="zh-CN" altLang="en-US" b="1" dirty="0">
                  <a:solidFill>
                    <a:srgbClr val="FF0000"/>
                  </a:solidFill>
                  <a:ea typeface="华文中宋" panose="02010600040101010101" pitchFamily="2" charset="-122"/>
                </a:rPr>
                <a:t>按使用范围</a:t>
              </a:r>
              <a:endParaRPr lang="zh-CN" altLang="en-US" b="1" dirty="0">
                <a:solidFill>
                  <a:srgbClr val="FF0000"/>
                </a:solidFill>
                <a:ea typeface="华文中宋" panose="02010600040101010101" pitchFamily="2" charset="-122"/>
                <a:sym typeface="Times New Roman" panose="02020603050405020304"/>
              </a:endParaRPr>
            </a:p>
          </p:txBody>
        </p:sp>
      </p:grpSp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 advAuto="1000"/>
      <p:bldP spid="16388" grpId="0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/>
          </p:cNvSpPr>
          <p:nvPr>
            <p:ph idx="1"/>
          </p:nvPr>
        </p:nvSpPr>
        <p:spPr>
          <a:xfrm>
            <a:off x="179070" y="1124585"/>
            <a:ext cx="4998720" cy="2574925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优点：</a:t>
            </a: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  相对密度小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(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一般为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0.9 ~ 2.3)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；耐蚀性、电绝缘性、减摩、 耐磨性好</a:t>
            </a:r>
            <a:r>
              <a:rPr lang="zh-CN" altLang="en-US" sz="2800" b="1" dirty="0">
                <a:solidFill>
                  <a:srgbClr val="CAF7FA"/>
                </a:solidFill>
                <a:ea typeface="华文中宋" panose="02010600040101010101" pitchFamily="2" charset="-122"/>
              </a:rPr>
              <a:t>；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有消音吸振性能。</a:t>
            </a:r>
            <a:endParaRPr lang="en-US" altLang="zh-CN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222945" y="3847455"/>
            <a:ext cx="8610600" cy="2514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缺点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：</a:t>
            </a: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刚性差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(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为钢铁材料的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1/100~1/10)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，</a:t>
            </a:r>
            <a:r>
              <a:rPr kumimoji="1" lang="zh-CN" altLang="en-US" sz="2800" b="1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</a:rPr>
              <a:t>强度低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；</a:t>
            </a:r>
            <a:r>
              <a:rPr kumimoji="1" lang="zh-CN" altLang="en-US" sz="2800" b="1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</a:rPr>
              <a:t>耐热性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AF7FA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差、</a:t>
            </a:r>
            <a:r>
              <a:rPr kumimoji="1" lang="zh-CN" altLang="en-US" sz="2800" b="1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</a:rPr>
              <a:t>热膨胀系数大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AF7FA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（是钢铁的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AF7FA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10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AF7FA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倍）、</a:t>
            </a:r>
            <a:r>
              <a:rPr kumimoji="1" lang="zh-CN" altLang="en-US" sz="2800" b="1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</a:rPr>
              <a:t>导热系数小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AF7FA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(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AF7FA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只有金属的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AF7FA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1/200~1/600)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AF7FA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；</a:t>
            </a:r>
            <a:r>
              <a:rPr kumimoji="1" lang="zh-CN" altLang="en-US" sz="2800" b="1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</a:rPr>
              <a:t>蠕变温度低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、</a:t>
            </a:r>
            <a:r>
              <a:rPr kumimoji="1" lang="zh-CN" altLang="en-US" sz="2800" b="1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</a:rPr>
              <a:t>易老化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。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8437" name="Picture 5" descr="塑料制品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507990" y="1341120"/>
            <a:ext cx="3325495" cy="2862580"/>
          </a:xfrm>
          <a:prstGeom prst="rect">
            <a:avLst/>
          </a:prstGeom>
          <a:noFill/>
          <a:ln w="28575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928813" y="0"/>
            <a:ext cx="6672263" cy="6858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⑶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塑料的性能特点</a:t>
            </a:r>
          </a:p>
        </p:txBody>
      </p:sp>
      <p:sp>
        <p:nvSpPr>
          <p:cNvPr id="20486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  <a:t>12/11/2025 10:57 AM</a:t>
            </a:fld>
            <a:endParaRPr lang="en-US" altLang="zh-CN" sz="1400" dirty="0"/>
          </a:p>
        </p:txBody>
      </p:sp>
      <p:sp>
        <p:nvSpPr>
          <p:cNvPr id="2048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10338"/>
            <a:ext cx="428625" cy="347662"/>
          </a:xfrm>
        </p:spPr>
        <p:txBody>
          <a:bodyPr wrap="square" lIns="92075" tIns="46038" rIns="92075" bIns="46038" anchor="ctr"/>
          <a:lstStyle/>
          <a:p>
            <a:pPr algn="r"/>
            <a:fld id="{9A0DB2DC-4C9A-4742-B13C-FB6460FD3503}" type="slidenum">
              <a:rPr lang="en-US" altLang="zh-CN" sz="1400" dirty="0"/>
              <a:t>27</a:t>
            </a:fld>
            <a:endParaRPr lang="en-US" altLang="zh-CN" sz="1400" dirty="0"/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 advAuto="1000"/>
      <p:bldP spid="18436" grpId="0"/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/>
          </p:cNvSpPr>
          <p:nvPr>
            <p:ph idx="1"/>
          </p:nvPr>
        </p:nvSpPr>
        <p:spPr>
          <a:xfrm>
            <a:off x="1117898" y="1412776"/>
            <a:ext cx="7740352" cy="3948112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35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⑴  一般结构用塑料</a:t>
            </a:r>
            <a:endParaRPr lang="en-US" altLang="zh-CN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5000"/>
              </a:lnSpc>
            </a:pP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⑵  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摩擦传动零件用塑料</a:t>
            </a:r>
            <a:endParaRPr lang="en-US" altLang="zh-CN" b="1" dirty="0">
              <a:solidFill>
                <a:schemeClr val="tx2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35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⑶  耐蚀用塑料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5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⑷  耐高温件用塑料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5000"/>
              </a:lnSpc>
            </a:pP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⑸  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热固性塑料</a:t>
            </a:r>
          </a:p>
          <a:p>
            <a:pPr eaLnBrk="1" hangingPunct="1">
              <a:lnSpc>
                <a:spcPct val="135000"/>
              </a:lnSpc>
            </a:pPr>
            <a:endParaRPr lang="zh-CN" altLang="en-US" sz="2800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5000"/>
              </a:lnSpc>
            </a:pP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5000"/>
              </a:lnSpc>
            </a:pPr>
            <a:endParaRPr lang="zh-CN" altLang="en-US" sz="2800" b="1" dirty="0">
              <a:solidFill>
                <a:schemeClr val="tx2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35000"/>
              </a:lnSpc>
            </a:pPr>
            <a:endParaRPr lang="zh-CN" altLang="en-US" sz="2800" b="1" dirty="0">
              <a:solidFill>
                <a:srgbClr val="CCFF33"/>
              </a:solidFill>
              <a:ea typeface="华文中宋" panose="02010600040101010101" pitchFamily="2" charset="-122"/>
            </a:endParaRP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>
          <a:xfrm>
            <a:off x="1928813" y="0"/>
            <a:ext cx="6672263" cy="6858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、常用工程塑料</a:t>
            </a:r>
          </a:p>
        </p:txBody>
      </p:sp>
      <p:sp>
        <p:nvSpPr>
          <p:cNvPr id="21517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  <a:t>12/11/2025 10:57 AM</a:t>
            </a:fld>
            <a:endParaRPr lang="en-US" altLang="zh-CN" sz="1400" dirty="0"/>
          </a:p>
        </p:txBody>
      </p:sp>
      <p:sp>
        <p:nvSpPr>
          <p:cNvPr id="2151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10338"/>
            <a:ext cx="428625" cy="347662"/>
          </a:xfrm>
        </p:spPr>
        <p:txBody>
          <a:bodyPr wrap="square" lIns="92075" tIns="46038" rIns="92075" bIns="46038" anchor="ctr"/>
          <a:lstStyle/>
          <a:p>
            <a:pPr algn="r"/>
            <a:fld id="{9A0DB2DC-4C9A-4742-B13C-FB6460FD3503}" type="slidenum">
              <a:rPr lang="en-US" altLang="zh-CN" sz="1400" dirty="0"/>
              <a:t>28</a:t>
            </a:fld>
            <a:endParaRPr lang="en-US" altLang="zh-CN" sz="1400" dirty="0"/>
          </a:p>
        </p:txBody>
      </p:sp>
      <p:pic>
        <p:nvPicPr>
          <p:cNvPr id="16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 advAuto="1000"/>
      <p:bldP spid="1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/>
          </p:cNvSpPr>
          <p:nvPr>
            <p:ph idx="1"/>
          </p:nvPr>
        </p:nvSpPr>
        <p:spPr>
          <a:xfrm>
            <a:off x="-1" y="1700808"/>
            <a:ext cx="9144001" cy="3948112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35000"/>
              </a:lnSpc>
            </a:pPr>
            <a:r>
              <a:rPr lang="zh-CN" altLang="en-US" sz="2800" b="1" dirty="0">
                <a:ea typeface="华文中宋" panose="02010600040101010101" pitchFamily="2" charset="-122"/>
              </a:rPr>
              <a:t>包括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聚乙烯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(PE)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、聚氯乙烯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(PVC)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、聚苯乙烯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(PS)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、聚丙烯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(PP) 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ABS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塑料  等。</a:t>
            </a:r>
          </a:p>
          <a:p>
            <a:pPr eaLnBrk="1" hangingPunct="1">
              <a:lnSpc>
                <a:spcPct val="135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①聚丙烯</a:t>
            </a: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sz="2800" b="1" dirty="0">
                <a:ea typeface="华文中宋" panose="02010600040101010101" pitchFamily="2" charset="-122"/>
              </a:rPr>
              <a:t>具有优良的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综合性能</a:t>
            </a:r>
            <a:r>
              <a:rPr lang="zh-CN" altLang="en-US" sz="2800" b="1" dirty="0">
                <a:ea typeface="华文中宋" panose="02010600040101010101" pitchFamily="2" charset="-122"/>
              </a:rPr>
              <a:t>，可制造各种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机械零件。</a:t>
            </a:r>
            <a:endParaRPr lang="en-US" altLang="zh-CN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5000"/>
              </a:lnSpc>
            </a:pPr>
            <a:r>
              <a:rPr lang="en-US" altLang="zh-CN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②ABS</a:t>
            </a: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塑料：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“坚韧、质硬、刚性” ，应用广泛。   </a:t>
            </a:r>
          </a:p>
        </p:txBody>
      </p:sp>
      <p:grpSp>
        <p:nvGrpSpPr>
          <p:cNvPr id="2" name="Group 15"/>
          <p:cNvGrpSpPr>
            <a:grpSpLocks noChangeAspect="1"/>
          </p:cNvGrpSpPr>
          <p:nvPr/>
        </p:nvGrpSpPr>
        <p:grpSpPr>
          <a:xfrm>
            <a:off x="685800" y="4572000"/>
            <a:ext cx="7916863" cy="1751013"/>
            <a:chOff x="240" y="2832"/>
            <a:chExt cx="5313" cy="1175"/>
          </a:xfrm>
        </p:grpSpPr>
        <p:pic>
          <p:nvPicPr>
            <p:cNvPr id="21507" name="Picture 5" descr="ABS阀门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88" y="2832"/>
              <a:ext cx="1217" cy="1139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21508" name="Picture 6" descr="PE波纹管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0" y="2832"/>
              <a:ext cx="932" cy="1136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21509" name="Picture 7" descr="PS管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32" y="2832"/>
              <a:ext cx="1521" cy="1145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21510" name="Picture 8" descr="方向盘（PP）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48" y="2832"/>
              <a:ext cx="1351" cy="1147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1511" name="Text Box 9"/>
            <p:cNvSpPr txBox="1">
              <a:spLocks noChangeAspect="1"/>
            </p:cNvSpPr>
            <p:nvPr/>
          </p:nvSpPr>
          <p:spPr>
            <a:xfrm>
              <a:off x="288" y="3072"/>
              <a:ext cx="825" cy="246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8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PE</a:t>
              </a:r>
              <a:r>
                <a:rPr lang="zh-CN" altLang="en-US" sz="18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波纹管</a:t>
              </a:r>
            </a:p>
          </p:txBody>
        </p:sp>
        <p:sp>
          <p:nvSpPr>
            <p:cNvPr id="21512" name="Text Box 10"/>
            <p:cNvSpPr txBox="1">
              <a:spLocks noChangeAspect="1"/>
            </p:cNvSpPr>
            <p:nvPr/>
          </p:nvSpPr>
          <p:spPr>
            <a:xfrm>
              <a:off x="1535" y="3552"/>
              <a:ext cx="817" cy="246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8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PP</a:t>
              </a:r>
              <a:r>
                <a:rPr lang="zh-CN" altLang="en-US" sz="18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方向盘</a:t>
              </a:r>
            </a:p>
          </p:txBody>
        </p:sp>
        <p:sp>
          <p:nvSpPr>
            <p:cNvPr id="21513" name="Text Box 11"/>
            <p:cNvSpPr txBox="1">
              <a:spLocks noChangeAspect="1"/>
            </p:cNvSpPr>
            <p:nvPr/>
          </p:nvSpPr>
          <p:spPr>
            <a:xfrm>
              <a:off x="3202" y="3761"/>
              <a:ext cx="816" cy="246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8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ABS</a:t>
              </a:r>
              <a:r>
                <a:rPr lang="zh-CN" altLang="en-US" sz="18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阀门</a:t>
              </a:r>
            </a:p>
          </p:txBody>
        </p:sp>
        <p:sp>
          <p:nvSpPr>
            <p:cNvPr id="21514" name="Text Box 12"/>
            <p:cNvSpPr txBox="1">
              <a:spLocks noChangeAspect="1"/>
            </p:cNvSpPr>
            <p:nvPr/>
          </p:nvSpPr>
          <p:spPr>
            <a:xfrm>
              <a:off x="4080" y="2880"/>
              <a:ext cx="672" cy="266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管</a:t>
              </a:r>
            </a:p>
          </p:txBody>
        </p:sp>
      </p:grp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>
          <a:xfrm>
            <a:off x="1928813" y="0"/>
            <a:ext cx="6672263" cy="1556792"/>
          </a:xfrm>
        </p:spPr>
        <p:txBody>
          <a:bodyPr vert="horz" wrap="square" lIns="92075" tIns="46038" rIns="92075" bIns="46038" numCol="1" anchor="ctr" anchorCtr="0" compatLnSpc="1"/>
          <a:lstStyle/>
          <a:p>
            <a:pPr eaLnBrk="1" hangingPunct="1">
              <a:lnSpc>
                <a:spcPct val="125000"/>
              </a:lnSpc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、常用工程塑料</a:t>
            </a:r>
            <a:b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</a:b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⑴ 一般结构用塑料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1517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  <a:t>12/11/2025 10:57 AM</a:t>
            </a:fld>
            <a:endParaRPr lang="en-US" altLang="zh-CN" sz="1400" dirty="0"/>
          </a:p>
        </p:txBody>
      </p:sp>
      <p:sp>
        <p:nvSpPr>
          <p:cNvPr id="2151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10338"/>
            <a:ext cx="428625" cy="347662"/>
          </a:xfrm>
        </p:spPr>
        <p:txBody>
          <a:bodyPr wrap="square" lIns="92075" tIns="46038" rIns="92075" bIns="46038" anchor="ctr"/>
          <a:lstStyle/>
          <a:p>
            <a:pPr algn="r"/>
            <a:fld id="{9A0DB2DC-4C9A-4742-B13C-FB6460FD3503}" type="slidenum">
              <a:rPr lang="en-US" altLang="zh-CN" sz="1400" dirty="0"/>
              <a:t>29</a:t>
            </a:fld>
            <a:endParaRPr lang="en-US" altLang="zh-CN" sz="1400" dirty="0"/>
          </a:p>
        </p:txBody>
      </p:sp>
      <p:pic>
        <p:nvPicPr>
          <p:cNvPr id="16" name="内容占位符 1" descr="新校徽（3M）弓之乐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61798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 advAuto="1000"/>
      <p:bldP spid="1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Grp="1"/>
          </p:cNvSpPr>
          <p:nvPr>
            <p:ph idx="1"/>
          </p:nvPr>
        </p:nvSpPr>
        <p:spPr>
          <a:xfrm>
            <a:off x="207452" y="3213100"/>
            <a:ext cx="8458200" cy="3505200"/>
          </a:xfrm>
        </p:spPr>
        <p:txBody>
          <a:bodyPr wrap="square" lIns="91440" tIns="45720" rIns="91440" bIns="45720" anchor="t"/>
          <a:lstStyle/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①聚酰胺：</a:t>
            </a:r>
            <a:r>
              <a:rPr lang="zh-CN" altLang="en-US" sz="2800" b="1" dirty="0">
                <a:ea typeface="华文中宋" panose="02010600040101010101" pitchFamily="2" charset="-122"/>
              </a:rPr>
              <a:t>又称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尼龙</a:t>
            </a:r>
            <a:r>
              <a:rPr lang="zh-CN" altLang="en-US" sz="2800" b="1" dirty="0">
                <a:ea typeface="华文中宋" panose="02010600040101010101" pitchFamily="2" charset="-122"/>
              </a:rPr>
              <a:t>或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绵纶</a:t>
            </a:r>
            <a:r>
              <a:rPr lang="zh-CN" altLang="en-US" sz="2800" b="1" dirty="0">
                <a:ea typeface="华文中宋" panose="02010600040101010101" pitchFamily="2" charset="-122"/>
              </a:rPr>
              <a:t>，强度较高，耐磨、自润滑性好，广泛用作</a:t>
            </a:r>
            <a:r>
              <a:rPr lang="zh-CN" altLang="en-US" sz="2800" b="1" kern="12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机械</a:t>
            </a:r>
            <a:r>
              <a:rPr lang="zh-CN" altLang="en-US" sz="2800" b="1" dirty="0">
                <a:ea typeface="华文中宋" panose="02010600040101010101" pitchFamily="2" charset="-122"/>
              </a:rPr>
              <a:t>、化工及电气零件。</a:t>
            </a: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②聚甲醛：</a:t>
            </a:r>
            <a:r>
              <a:rPr lang="zh-CN" altLang="en-US" sz="2800" b="1" dirty="0">
                <a:ea typeface="华文中宋" panose="02010600040101010101" pitchFamily="2" charset="-122"/>
              </a:rPr>
              <a:t>具有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优良的综合性能，广泛用于 汽车机床、化工</a:t>
            </a:r>
            <a:r>
              <a:rPr lang="zh-CN" altLang="en-US" sz="1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电气仪表</a:t>
            </a:r>
            <a:r>
              <a:rPr lang="zh-CN" altLang="en-US" sz="1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农机等工业。</a:t>
            </a:r>
          </a:p>
        </p:txBody>
      </p:sp>
      <p:grpSp>
        <p:nvGrpSpPr>
          <p:cNvPr id="2" name="Group 22"/>
          <p:cNvGrpSpPr/>
          <p:nvPr/>
        </p:nvGrpSpPr>
        <p:grpSpPr>
          <a:xfrm>
            <a:off x="5722987" y="1628800"/>
            <a:ext cx="3006725" cy="5043488"/>
            <a:chOff x="3354" y="432"/>
            <a:chExt cx="1894" cy="3177"/>
          </a:xfrm>
        </p:grpSpPr>
        <p:grpSp>
          <p:nvGrpSpPr>
            <p:cNvPr id="22531" name="Group 20"/>
            <p:cNvGrpSpPr>
              <a:grpSpLocks noChangeAspect="1"/>
            </p:cNvGrpSpPr>
            <p:nvPr/>
          </p:nvGrpSpPr>
          <p:grpSpPr>
            <a:xfrm>
              <a:off x="4035" y="2700"/>
              <a:ext cx="1204" cy="909"/>
              <a:chOff x="3748" y="-139"/>
              <a:chExt cx="1655" cy="1248"/>
            </a:xfrm>
          </p:grpSpPr>
          <p:pic>
            <p:nvPicPr>
              <p:cNvPr id="22532" name="Picture 5" descr="尼龙管件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748" y="-139"/>
                <a:ext cx="1655" cy="1248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22533" name="Text Box 9"/>
              <p:cNvSpPr txBox="1">
                <a:spLocks noChangeAspect="1"/>
              </p:cNvSpPr>
              <p:nvPr/>
            </p:nvSpPr>
            <p:spPr>
              <a:xfrm>
                <a:off x="4496" y="-77"/>
                <a:ext cx="864" cy="264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t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sz="1400" b="1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尼龙管件</a:t>
                </a:r>
              </a:p>
            </p:txBody>
          </p:sp>
        </p:grpSp>
        <p:grpSp>
          <p:nvGrpSpPr>
            <p:cNvPr id="22534" name="Group 16"/>
            <p:cNvGrpSpPr/>
            <p:nvPr/>
          </p:nvGrpSpPr>
          <p:grpSpPr>
            <a:xfrm>
              <a:off x="3354" y="432"/>
              <a:ext cx="1894" cy="1042"/>
              <a:chOff x="3690" y="2832"/>
              <a:chExt cx="1894" cy="1042"/>
            </a:xfrm>
          </p:grpSpPr>
          <p:pic>
            <p:nvPicPr>
              <p:cNvPr id="22535" name="Picture 8" descr="PC挡风板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779" y="2832"/>
                <a:ext cx="1805" cy="1042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22536" name="Text Box 13"/>
              <p:cNvSpPr txBox="1"/>
              <p:nvPr/>
            </p:nvSpPr>
            <p:spPr>
              <a:xfrm>
                <a:off x="3690" y="2880"/>
                <a:ext cx="308" cy="816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vert="eaVert"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PC</a:t>
                </a:r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挡风板</a:t>
                </a:r>
              </a:p>
            </p:txBody>
          </p:sp>
        </p:grpSp>
      </p:grpSp>
      <p:sp>
        <p:nvSpPr>
          <p:cNvPr id="21522" name="Rectangle 18"/>
          <p:cNvSpPr/>
          <p:nvPr/>
        </p:nvSpPr>
        <p:spPr>
          <a:xfrm>
            <a:off x="251267" y="5358130"/>
            <a:ext cx="5943600" cy="13144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chemeClr val="tx2"/>
                </a:solidFill>
                <a:latin typeface="仿宋_GB2312" pitchFamily="49" charset="-122"/>
                <a:ea typeface="华文中宋" panose="02010600040101010101" pitchFamily="2" charset="-122"/>
              </a:rPr>
              <a:t>③聚碳酸酯：</a:t>
            </a:r>
            <a:r>
              <a:rPr kumimoji="1" lang="zh-CN" altLang="en-US" sz="2800" b="1" dirty="0">
                <a:latin typeface="+mn-lt"/>
                <a:ea typeface="华文中宋" panose="02010600040101010101" pitchFamily="2" charset="-122"/>
              </a:rPr>
              <a:t>具有</a:t>
            </a:r>
            <a:r>
              <a:rPr kumimoji="1" lang="zh-CN" altLang="en-US" sz="2800" b="1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</a:rPr>
              <a:t>优良的机械性能</a:t>
            </a:r>
            <a:r>
              <a:rPr lang="zh-CN" altLang="en-US" sz="2800" b="1" dirty="0">
                <a:latin typeface="仿宋_GB2312" pitchFamily="49" charset="-122"/>
                <a:ea typeface="华文中宋" panose="02010600040101010101" pitchFamily="2" charset="-122"/>
              </a:rPr>
              <a:t>，</a:t>
            </a:r>
            <a:r>
              <a:rPr kumimoji="1" lang="zh-CN" altLang="en-US" sz="2800" b="1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</a:rPr>
              <a:t>透明无毒，</a:t>
            </a:r>
            <a:r>
              <a:rPr lang="zh-CN" altLang="en-US" sz="2800" b="1" dirty="0">
                <a:latin typeface="仿宋_GB2312" pitchFamily="49" charset="-122"/>
                <a:ea typeface="华文中宋" panose="02010600040101010101" pitchFamily="2" charset="-122"/>
              </a:rPr>
              <a:t>应用广泛。</a:t>
            </a:r>
          </a:p>
        </p:txBody>
      </p:sp>
      <p:sp>
        <p:nvSpPr>
          <p:cNvPr id="21523" name="Rectangle 19"/>
          <p:cNvSpPr/>
          <p:nvPr/>
        </p:nvSpPr>
        <p:spPr>
          <a:xfrm>
            <a:off x="179512" y="1484784"/>
            <a:ext cx="4724400" cy="1800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包括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聚酰胺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(PA)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、聚甲醛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(POM)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、聚碳酸酯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(PC)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、聚四氟乙烯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(PTFE)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等。</a:t>
            </a:r>
            <a:endParaRPr lang="zh-CN" altLang="en-US" sz="3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>
          <a:xfrm>
            <a:off x="899593" y="0"/>
            <a:ext cx="7560840" cy="1412776"/>
          </a:xfrm>
        </p:spPr>
        <p:txBody>
          <a:bodyPr vert="horz" wrap="square" lIns="92075" tIns="46038" rIns="92075" bIns="46038" numCol="1" anchor="ctr" anchorCtr="0" compatLnSpc="1"/>
          <a:lstStyle/>
          <a:p>
            <a:pPr eaLnBrk="1" hangingPunct="1">
              <a:lnSpc>
                <a:spcPct val="125000"/>
              </a:lnSpc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、常用工程塑料</a:t>
            </a:r>
            <a:b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</a:b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——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⑵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摩擦传动零件用塑料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2541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505575"/>
            <a:ext cx="1786255" cy="266700"/>
          </a:xfrm>
        </p:spPr>
        <p:txBody>
          <a:bodyPr wrap="square" lIns="92075" tIns="46038" rIns="92075" bIns="46038"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  <a:t>12/11/2025 10:57 AM</a:t>
            </a:fld>
            <a:endParaRPr lang="en-US" altLang="zh-CN" sz="1400" dirty="0"/>
          </a:p>
        </p:txBody>
      </p:sp>
      <p:sp>
        <p:nvSpPr>
          <p:cNvPr id="2254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10338"/>
            <a:ext cx="428625" cy="347662"/>
          </a:xfrm>
        </p:spPr>
        <p:txBody>
          <a:bodyPr wrap="square" lIns="92075" tIns="46038" rIns="92075" bIns="46038" anchor="ctr"/>
          <a:lstStyle/>
          <a:p>
            <a:pPr algn="r"/>
            <a:fld id="{9A0DB2DC-4C9A-4742-B13C-FB6460FD3503}" type="slidenum">
              <a:rPr lang="en-US" altLang="zh-CN" sz="1400" dirty="0"/>
              <a:t>30</a:t>
            </a:fld>
            <a:endParaRPr lang="en-US" altLang="zh-CN" sz="1400" dirty="0"/>
          </a:p>
        </p:txBody>
      </p:sp>
      <p:pic>
        <p:nvPicPr>
          <p:cNvPr id="16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35560" y="15100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dvAuto="1000"/>
      <p:bldP spid="21522" grpId="0"/>
      <p:bldP spid="21523" grpId="0"/>
      <p:bldP spid="1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"/>
          <p:cNvGrpSpPr>
            <a:grpSpLocks noChangeAspect="1"/>
          </p:cNvGrpSpPr>
          <p:nvPr/>
        </p:nvGrpSpPr>
        <p:grpSpPr>
          <a:xfrm>
            <a:off x="613728" y="4364673"/>
            <a:ext cx="7916862" cy="1976437"/>
            <a:chOff x="144" y="2400"/>
            <a:chExt cx="5508" cy="1375"/>
          </a:xfrm>
        </p:grpSpPr>
        <p:pic>
          <p:nvPicPr>
            <p:cNvPr id="23554" name="Picture 4" descr="PTFE密封件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" y="2400"/>
              <a:ext cx="1657" cy="1375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23555" name="Picture 5" descr="聚四氟乙烯管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20" y="2400"/>
              <a:ext cx="1820" cy="1370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23556" name="Picture 6" descr="聚四氟乙烯零件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92" y="2400"/>
              <a:ext cx="1820" cy="1370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2539" name="Text Box 7"/>
            <p:cNvSpPr txBox="1">
              <a:spLocks noChangeAspect="1" noChangeArrowheads="1"/>
            </p:cNvSpPr>
            <p:nvPr/>
          </p:nvSpPr>
          <p:spPr bwMode="auto">
            <a:xfrm>
              <a:off x="144" y="2604"/>
              <a:ext cx="663" cy="257"/>
            </a:xfrm>
            <a:prstGeom prst="rect">
              <a:avLst/>
            </a:prstGeom>
            <a:noFill/>
            <a:ln w="28575">
              <a:noFill/>
              <a:miter lim="800000"/>
            </a:ln>
          </p:spPr>
          <p:txBody>
            <a:bodyPr>
              <a:spAutoFit/>
            </a:bodyPr>
            <a:lstStyle/>
            <a:p>
              <a:pPr marR="0" algn="ctr" defTabSz="914400" rtl="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zh-CN" altLang="en-US" sz="1800" b="1" kern="1200" cap="none" spc="0" normalizeH="0" baseline="0" noProof="0" dirty="0">
                  <a:solidFill>
                    <a:schemeClr val="folHlink"/>
                  </a:solidFill>
                  <a:latin typeface="+mn-lt"/>
                  <a:ea typeface="华文中宋" panose="02010600040101010101" pitchFamily="2" charset="-122"/>
                  <a:cs typeface="+mn-cs"/>
                </a:rPr>
                <a:t>密封件</a:t>
              </a:r>
            </a:p>
          </p:txBody>
        </p:sp>
        <p:sp>
          <p:nvSpPr>
            <p:cNvPr id="23558" name="Text Box 8"/>
            <p:cNvSpPr txBox="1">
              <a:spLocks noChangeAspect="1"/>
            </p:cNvSpPr>
            <p:nvPr/>
          </p:nvSpPr>
          <p:spPr>
            <a:xfrm>
              <a:off x="2628" y="2400"/>
              <a:ext cx="1201" cy="25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8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聚四氟乙烯管</a:t>
              </a:r>
            </a:p>
          </p:txBody>
        </p:sp>
        <p:sp>
          <p:nvSpPr>
            <p:cNvPr id="23559" name="Text Box 9"/>
            <p:cNvSpPr txBox="1">
              <a:spLocks noChangeAspect="1"/>
            </p:cNvSpPr>
            <p:nvPr/>
          </p:nvSpPr>
          <p:spPr>
            <a:xfrm>
              <a:off x="4404" y="2400"/>
              <a:ext cx="1248" cy="234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6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聚四氟乙烯零件</a:t>
              </a:r>
            </a:p>
          </p:txBody>
        </p:sp>
      </p:grpSp>
      <p:sp>
        <p:nvSpPr>
          <p:cNvPr id="20493" name="Rectangle 13"/>
          <p:cNvSpPr>
            <a:spLocks noGrp="1"/>
          </p:cNvSpPr>
          <p:nvPr>
            <p:ph idx="1"/>
          </p:nvPr>
        </p:nvSpPr>
        <p:spPr>
          <a:xfrm>
            <a:off x="142875" y="1080770"/>
            <a:ext cx="9002395" cy="3387090"/>
          </a:xfrm>
        </p:spPr>
        <p:txBody>
          <a:bodyPr wrap="square" lIns="91440" tIns="45720" rIns="91440" bIns="45720" anchor="t"/>
          <a:lstStyle/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④聚四氟乙烯：</a:t>
            </a:r>
            <a:r>
              <a:rPr lang="zh-CN" altLang="en-US" sz="2800" b="1" dirty="0">
                <a:ea typeface="华文中宋" panose="02010600040101010101" pitchFamily="2" charset="-122"/>
              </a:rPr>
              <a:t>俗称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“塑料王”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</a:t>
            </a:r>
            <a:r>
              <a:rPr lang="zh-CN" altLang="en-US" sz="2800" b="1" dirty="0">
                <a:ea typeface="华文中宋" panose="02010600040101010101" pitchFamily="2" charset="-122"/>
              </a:rPr>
              <a:t>具有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极优越的化学稳定性</a:t>
            </a:r>
            <a:r>
              <a:rPr lang="zh-CN" altLang="en-US" sz="2800" b="1" dirty="0">
                <a:ea typeface="华文中宋" panose="02010600040101010101" pitchFamily="2" charset="-122"/>
              </a:rPr>
              <a:t>和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热稳定性</a:t>
            </a:r>
            <a:r>
              <a:rPr lang="zh-CN" altLang="en-US" sz="2800" b="1" dirty="0">
                <a:ea typeface="华文中宋" panose="02010600040101010101" pitchFamily="2" charset="-122"/>
              </a:rPr>
              <a:t>以及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优越的电性能，几乎不受任何化学药品的腐蚀，摩擦系数极低，只有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0.04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缺点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：强度低、加工性差。</a:t>
            </a: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应用：</a:t>
            </a:r>
            <a:r>
              <a:rPr lang="zh-CN" altLang="en-US" sz="2800" b="1" dirty="0">
                <a:ea typeface="华文中宋" panose="02010600040101010101" pitchFamily="2" charset="-122"/>
              </a:rPr>
              <a:t>主要用于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减摩密封件、化工耐蚀件与热交换器以及高频或潮湿条件下</a:t>
            </a:r>
            <a:r>
              <a:rPr lang="zh-CN" altLang="en-US" sz="2800" b="1" dirty="0">
                <a:ea typeface="华文中宋" panose="02010600040101010101" pitchFamily="2" charset="-122"/>
              </a:rPr>
              <a:t>的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绝缘材料</a:t>
            </a:r>
            <a:r>
              <a:rPr lang="zh-CN" altLang="en-US" sz="2800" dirty="0">
                <a:ea typeface="华文中宋" panose="02010600040101010101" pitchFamily="2" charset="-122"/>
              </a:rPr>
              <a:t>。</a:t>
            </a:r>
            <a:endParaRPr lang="en-US" altLang="zh-CN" sz="2800" dirty="0">
              <a:ea typeface="华文中宋" panose="02010600040101010101" pitchFamily="2" charset="-122"/>
            </a:endParaRP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1928813" y="0"/>
            <a:ext cx="6027563" cy="6858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、常用工程塑料</a:t>
            </a:r>
          </a:p>
        </p:txBody>
      </p:sp>
      <p:sp>
        <p:nvSpPr>
          <p:cNvPr id="23563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51065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  <a:t>12/11/2025 10:57 AM</a:t>
            </a:fld>
            <a:endParaRPr lang="en-US" altLang="zh-CN" sz="1400" dirty="0"/>
          </a:p>
        </p:txBody>
      </p:sp>
      <p:sp>
        <p:nvSpPr>
          <p:cNvPr id="2356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10338"/>
            <a:ext cx="428625" cy="347662"/>
          </a:xfrm>
        </p:spPr>
        <p:txBody>
          <a:bodyPr wrap="square" lIns="92075" tIns="46038" rIns="92075" bIns="46038" anchor="ctr"/>
          <a:lstStyle/>
          <a:p>
            <a:pPr algn="r"/>
            <a:fld id="{9A0DB2DC-4C9A-4742-B13C-FB6460FD3503}" type="slidenum">
              <a:rPr lang="en-US" altLang="zh-CN" sz="1400" dirty="0"/>
              <a:t>31</a:t>
            </a:fld>
            <a:endParaRPr lang="en-US" altLang="zh-CN" sz="1400" dirty="0"/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4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4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3" grpId="0" build="p" advAuto="1000"/>
      <p:bldP spid="1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/>
          </p:cNvSpPr>
          <p:nvPr>
            <p:ph idx="1"/>
          </p:nvPr>
        </p:nvSpPr>
        <p:spPr>
          <a:xfrm>
            <a:off x="323528" y="1284501"/>
            <a:ext cx="5688632" cy="468052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ea typeface="华文中宋" panose="02010600040101010101" pitchFamily="2" charset="-122"/>
              </a:rPr>
              <a:t>主要有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聚四氟乙烯、氯化聚醚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(PENTON)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、聚丙烯等。</a:t>
            </a:r>
          </a:p>
          <a:p>
            <a:pPr eaLnBrk="1" hangingPunct="1">
              <a:lnSpc>
                <a:spcPct val="130000"/>
              </a:lnSpc>
            </a:pPr>
            <a:endParaRPr lang="en-US" altLang="zh-CN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①氯化聚醚：</a:t>
            </a:r>
            <a:r>
              <a:rPr lang="zh-CN" altLang="en-US" sz="2800" b="1" dirty="0">
                <a:ea typeface="华文中宋" panose="02010600040101010101" pitchFamily="2" charset="-122"/>
              </a:rPr>
              <a:t>化学稳定性仅次于聚四氟乙烯，但工艺性比聚四氟乙烯好，成本低。在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化学工业</a:t>
            </a:r>
            <a:r>
              <a:rPr lang="zh-CN" altLang="en-US" sz="2800" b="1" dirty="0">
                <a:ea typeface="华文中宋" panose="02010600040101010101" pitchFamily="2" charset="-122"/>
              </a:rPr>
              <a:t>和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机电工业</a:t>
            </a:r>
            <a:r>
              <a:rPr lang="zh-CN" altLang="en-US" sz="2800" b="1" dirty="0">
                <a:ea typeface="华文中宋" panose="02010600040101010101" pitchFamily="2" charset="-122"/>
              </a:rPr>
              <a:t>获得广泛应用，如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化工设备零件、管道、衬里</a:t>
            </a:r>
            <a:r>
              <a:rPr lang="zh-CN" altLang="en-US" sz="2800" b="1" dirty="0">
                <a:ea typeface="华文中宋" panose="02010600040101010101" pitchFamily="2" charset="-122"/>
              </a:rPr>
              <a:t>等。  </a:t>
            </a:r>
          </a:p>
        </p:txBody>
      </p:sp>
      <p:grpSp>
        <p:nvGrpSpPr>
          <p:cNvPr id="2" name="Group 8"/>
          <p:cNvGrpSpPr/>
          <p:nvPr/>
        </p:nvGrpSpPr>
        <p:grpSpPr>
          <a:xfrm>
            <a:off x="6208395" y="1670685"/>
            <a:ext cx="2651032" cy="4730434"/>
            <a:chOff x="3917" y="494"/>
            <a:chExt cx="1791" cy="3350"/>
          </a:xfrm>
        </p:grpSpPr>
        <p:pic>
          <p:nvPicPr>
            <p:cNvPr id="24579" name="Picture 4" descr="PENTON防腐蝶阀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65" y="494"/>
              <a:ext cx="1621" cy="2947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4580" name="Text Box 6"/>
            <p:cNvSpPr txBox="1"/>
            <p:nvPr/>
          </p:nvSpPr>
          <p:spPr>
            <a:xfrm>
              <a:off x="3917" y="3518"/>
              <a:ext cx="1791" cy="326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氯化聚醚防腐蝶阀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</a:p>
          </p:txBody>
        </p:sp>
      </p:grp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44220" y="0"/>
            <a:ext cx="8210550" cy="1066800"/>
          </a:xfrm>
        </p:spPr>
        <p:txBody>
          <a:bodyPr vert="horz" wrap="square" lIns="92075" tIns="46038" rIns="92075" bIns="46038" numCol="1" anchor="ctr" anchorCtr="0" compatLnSpc="1"/>
          <a:lstStyle/>
          <a:p>
            <a:pPr eaLnBrk="1" hangingPunct="1">
              <a:lnSpc>
                <a:spcPct val="125000"/>
              </a:lnSpc>
              <a:defRPr/>
            </a:pP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、常用工程塑料</a:t>
            </a:r>
            <a:r>
              <a:rPr lang="en-US" altLang="zh-CN" sz="4000" b="1" dirty="0">
                <a:solidFill>
                  <a:srgbClr val="FF0000"/>
                </a:solidFill>
                <a:ea typeface="华文中宋" panose="02010600040101010101" pitchFamily="2" charset="-122"/>
              </a:rPr>
              <a:t>—</a:t>
            </a:r>
            <a:r>
              <a:rPr lang="zh-CN" altLang="en-US" sz="4000" b="1" dirty="0">
                <a:solidFill>
                  <a:srgbClr val="FF0000"/>
                </a:solidFill>
                <a:ea typeface="华文中宋" panose="02010600040101010101" pitchFamily="2" charset="-122"/>
              </a:rPr>
              <a:t>⑶  耐蚀用塑料</a:t>
            </a:r>
            <a:endParaRPr kumimoji="1" lang="zh-CN" altLang="en-US" sz="4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4583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51065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  <a:t>12/11/2025 10:57 AM</a:t>
            </a:fld>
            <a:endParaRPr lang="en-US" altLang="zh-CN" sz="1400" dirty="0"/>
          </a:p>
        </p:txBody>
      </p:sp>
      <p:sp>
        <p:nvSpPr>
          <p:cNvPr id="2458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10338"/>
            <a:ext cx="428625" cy="347662"/>
          </a:xfrm>
        </p:spPr>
        <p:txBody>
          <a:bodyPr wrap="square" lIns="92075" tIns="46038" rIns="92075" bIns="46038" anchor="ctr"/>
          <a:lstStyle/>
          <a:p>
            <a:pPr algn="r"/>
            <a:fld id="{9A0DB2DC-4C9A-4742-B13C-FB6460FD3503}" type="slidenum">
              <a:rPr lang="en-US" altLang="zh-CN" sz="1400" dirty="0"/>
              <a:t>32</a:t>
            </a:fld>
            <a:endParaRPr lang="en-US" altLang="zh-CN" sz="1400" dirty="0"/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 advAuto="1000"/>
      <p:bldP spid="10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/>
          </p:cNvSpPr>
          <p:nvPr>
            <p:ph idx="1"/>
          </p:nvPr>
        </p:nvSpPr>
        <p:spPr>
          <a:xfrm>
            <a:off x="323275" y="1371114"/>
            <a:ext cx="5688632" cy="1368152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ea typeface="华文中宋" panose="02010600040101010101" pitchFamily="2" charset="-122"/>
              </a:rPr>
              <a:t>主要有 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聚砜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(PSF)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、聚苯醚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(PPO)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、聚酰亚胺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(PI)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及氟塑料等。</a:t>
            </a:r>
          </a:p>
        </p:txBody>
      </p:sp>
      <p:grpSp>
        <p:nvGrpSpPr>
          <p:cNvPr id="2" name="Group 11"/>
          <p:cNvGrpSpPr>
            <a:grpSpLocks noChangeAspect="1"/>
          </p:cNvGrpSpPr>
          <p:nvPr/>
        </p:nvGrpSpPr>
        <p:grpSpPr>
          <a:xfrm>
            <a:off x="6156305" y="1124357"/>
            <a:ext cx="2946797" cy="1901704"/>
            <a:chOff x="2832" y="336"/>
            <a:chExt cx="2641" cy="1704"/>
          </a:xfrm>
        </p:grpSpPr>
        <p:pic>
          <p:nvPicPr>
            <p:cNvPr id="25603" name="Picture 4" descr="聚亚酰胺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32" y="336"/>
              <a:ext cx="2641" cy="1704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5604" name="Text Box 6"/>
            <p:cNvSpPr txBox="1">
              <a:spLocks noChangeAspect="1"/>
            </p:cNvSpPr>
            <p:nvPr/>
          </p:nvSpPr>
          <p:spPr>
            <a:xfrm>
              <a:off x="2832" y="1728"/>
              <a:ext cx="1295" cy="24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聚酰亚胺层压板</a:t>
              </a:r>
            </a:p>
          </p:txBody>
        </p:sp>
      </p:grpSp>
      <p:sp>
        <p:nvSpPr>
          <p:cNvPr id="23562" name="Rectangle 10"/>
          <p:cNvSpPr/>
          <p:nvPr/>
        </p:nvSpPr>
        <p:spPr>
          <a:xfrm>
            <a:off x="323146" y="2924810"/>
            <a:ext cx="8382000" cy="32004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</a:pP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</a:t>
            </a: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①聚砜：</a:t>
            </a:r>
            <a:r>
              <a:rPr lang="zh-CN" altLang="en-US" sz="2800" b="1" dirty="0">
                <a:ea typeface="华文中宋" panose="02010600040101010101" pitchFamily="2" charset="-122"/>
              </a:rPr>
              <a:t>热稳定性高是其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最突出的特点。使用温度达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150~174℃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。用于</a:t>
            </a:r>
            <a:r>
              <a:rPr kumimoji="1" lang="zh-CN" altLang="en-US" sz="2800" b="1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</a:rPr>
              <a:t>机械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设备等工业。</a:t>
            </a:r>
            <a:endParaRPr lang="zh-CN" altLang="en-US" sz="2800" b="1" dirty="0">
              <a:solidFill>
                <a:schemeClr val="tx2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②聚苯醚：</a:t>
            </a:r>
            <a:r>
              <a:rPr lang="zh-CN" altLang="en-US" sz="2800" b="1" dirty="0">
                <a:ea typeface="华文中宋" panose="02010600040101010101" pitchFamily="2" charset="-122"/>
              </a:rPr>
              <a:t>具有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良好的综合性能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,</a:t>
            </a:r>
            <a:r>
              <a:rPr lang="zh-CN" altLang="en-US" sz="2800" b="1" dirty="0">
                <a:ea typeface="华文中宋" panose="02010600040101010101" pitchFamily="2" charset="-122"/>
              </a:rPr>
              <a:t>用于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机电等方面。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③聚酰亚胺：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在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260℃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下可长期使用。主要用于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特殊条件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下使用的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精密零件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712470" y="116205"/>
            <a:ext cx="8428355" cy="692150"/>
          </a:xfrm>
        </p:spPr>
        <p:txBody>
          <a:bodyPr vert="horz" wrap="square" lIns="92075" tIns="46038" rIns="92075" bIns="46038" numCol="1" anchor="ctr" anchorCtr="0" compatLnSpc="1"/>
          <a:lstStyle/>
          <a:p>
            <a:pPr eaLnBrk="1" hangingPunct="1">
              <a:lnSpc>
                <a:spcPct val="125000"/>
              </a:lnSpc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、常用工程塑料</a:t>
            </a: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—</a:t>
            </a:r>
            <a:r>
              <a:rPr lang="zh-CN" altLang="en-US" sz="3600" b="1" dirty="0">
                <a:solidFill>
                  <a:srgbClr val="FF0000"/>
                </a:solidFill>
                <a:ea typeface="华文中宋" panose="02010600040101010101" pitchFamily="2" charset="-122"/>
              </a:rPr>
              <a:t>⑷  耐高温件用塑料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5608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511290"/>
            <a:ext cx="1786255" cy="260985"/>
          </a:xfrm>
        </p:spPr>
        <p:txBody>
          <a:bodyPr wrap="square" lIns="92075" tIns="46038" rIns="92075" bIns="46038"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  <a:t>12/11/2025 10:57 AM</a:t>
            </a:fld>
            <a:endParaRPr lang="en-US" altLang="zh-CN" sz="1400" dirty="0"/>
          </a:p>
        </p:txBody>
      </p:sp>
      <p:sp>
        <p:nvSpPr>
          <p:cNvPr id="2560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10338"/>
            <a:ext cx="428625" cy="347662"/>
          </a:xfrm>
        </p:spPr>
        <p:txBody>
          <a:bodyPr wrap="square" lIns="92075" tIns="46038" rIns="92075" bIns="46038" anchor="ctr"/>
          <a:lstStyle/>
          <a:p>
            <a:pPr algn="r"/>
            <a:fld id="{9A0DB2DC-4C9A-4742-B13C-FB6460FD3503}" type="slidenum">
              <a:rPr lang="en-US" altLang="zh-CN" sz="1400" dirty="0"/>
              <a:t>33</a:t>
            </a:fld>
            <a:endParaRPr lang="en-US" altLang="zh-CN" sz="1400" dirty="0"/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 advAuto="1000"/>
      <p:bldP spid="23562" grpId="0"/>
      <p:bldP spid="11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/>
          </p:cNvSpPr>
          <p:nvPr>
            <p:ph idx="1"/>
          </p:nvPr>
        </p:nvSpPr>
        <p:spPr>
          <a:xfrm>
            <a:off x="323528" y="1412647"/>
            <a:ext cx="8458200" cy="5091112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热固性塑料：在树脂中</a:t>
            </a:r>
            <a:r>
              <a:rPr lang="zh-CN" altLang="en-US" sz="2800" b="1" dirty="0">
                <a:ea typeface="华文中宋" panose="02010600040101010101" pitchFamily="2" charset="-122"/>
              </a:rPr>
              <a:t>加入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固化剂 压制成型而形成</a:t>
            </a:r>
            <a:r>
              <a:rPr lang="zh-CN" altLang="en-US" sz="2800" b="1" dirty="0">
                <a:ea typeface="华文中宋" panose="02010600040101010101" pitchFamily="2" charset="-122"/>
              </a:rPr>
              <a:t>的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体型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聚合物。</a:t>
            </a:r>
            <a:r>
              <a:rPr lang="zh-CN" altLang="en-US" sz="2800" b="1" dirty="0">
                <a:ea typeface="华文中宋" panose="02010600040101010101" pitchFamily="2" charset="-122"/>
              </a:rPr>
              <a:t> 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①酚醛塑料</a:t>
            </a:r>
            <a:r>
              <a:rPr lang="zh-CN" altLang="en-US" sz="2800" b="1" dirty="0">
                <a:ea typeface="华文中宋" panose="02010600040101010101" pitchFamily="2" charset="-122"/>
              </a:rPr>
              <a:t>：以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酚醛树脂</a:t>
            </a:r>
            <a:r>
              <a:rPr lang="zh-CN" altLang="en-US" sz="2800" b="1" dirty="0">
                <a:ea typeface="华文中宋" panose="02010600040101010101" pitchFamily="2" charset="-122"/>
              </a:rPr>
              <a:t>为基，加入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填料</a:t>
            </a:r>
            <a:r>
              <a:rPr lang="zh-CN" altLang="en-US" sz="2800" b="1" dirty="0">
                <a:ea typeface="华文中宋" panose="02010600040101010101" pitchFamily="2" charset="-122"/>
              </a:rPr>
              <a:t>及其他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添加剂</a:t>
            </a:r>
            <a:r>
              <a:rPr lang="zh-CN" altLang="en-US" sz="2800" b="1" dirty="0">
                <a:ea typeface="华文中宋" panose="02010600040101010101" pitchFamily="2" charset="-122"/>
              </a:rPr>
              <a:t>而制成。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应用</a:t>
            </a:r>
            <a:r>
              <a:rPr lang="zh-CN" altLang="en-US" sz="2800" b="1" dirty="0">
                <a:ea typeface="华文中宋" panose="02010600040101010101" pitchFamily="2" charset="-122"/>
              </a:rPr>
              <a:t>：制作各种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电讯器材</a:t>
            </a:r>
            <a:r>
              <a:rPr lang="zh-CN" altLang="en-US" sz="2800" b="1" dirty="0">
                <a:ea typeface="华文中宋" panose="02010600040101010101" pitchFamily="2" charset="-122"/>
              </a:rPr>
              <a:t>和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电木制品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(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如插座、开关等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)</a:t>
            </a:r>
            <a:r>
              <a:rPr lang="zh-CN" altLang="en-US" sz="2800" b="1" dirty="0">
                <a:ea typeface="华文中宋" panose="02010600040101010101" pitchFamily="2" charset="-122"/>
              </a:rPr>
              <a:t>，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耐热绝缘部件</a:t>
            </a:r>
            <a:r>
              <a:rPr lang="zh-CN" altLang="en-US" sz="2800" b="1" dirty="0">
                <a:ea typeface="华文中宋" panose="02010600040101010101" pitchFamily="2" charset="-122"/>
              </a:rPr>
              <a:t>及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各种结构件</a:t>
            </a:r>
            <a:r>
              <a:rPr lang="zh-CN" altLang="en-US" sz="2800" b="1" dirty="0">
                <a:ea typeface="华文中宋" panose="02010600040101010101" pitchFamily="2" charset="-122"/>
              </a:rPr>
              <a:t>。 </a:t>
            </a:r>
          </a:p>
        </p:txBody>
      </p:sp>
      <p:grpSp>
        <p:nvGrpSpPr>
          <p:cNvPr id="2" name="Group 11"/>
          <p:cNvGrpSpPr/>
          <p:nvPr/>
        </p:nvGrpSpPr>
        <p:grpSpPr>
          <a:xfrm>
            <a:off x="2483768" y="4436601"/>
            <a:ext cx="5124897" cy="2018159"/>
            <a:chOff x="2441" y="528"/>
            <a:chExt cx="3319" cy="1362"/>
          </a:xfrm>
        </p:grpSpPr>
        <p:pic>
          <p:nvPicPr>
            <p:cNvPr id="26627" name="Picture 5" descr="电器配件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41" y="528"/>
              <a:ext cx="3319" cy="1362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6628" name="Text Box 9"/>
            <p:cNvSpPr txBox="1"/>
            <p:nvPr/>
          </p:nvSpPr>
          <p:spPr>
            <a:xfrm>
              <a:off x="4800" y="1632"/>
              <a:ext cx="960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电器配件</a:t>
              </a:r>
            </a:p>
          </p:txBody>
        </p:sp>
      </p:grp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855345" y="0"/>
            <a:ext cx="8053705" cy="1035050"/>
          </a:xfrm>
        </p:spPr>
        <p:txBody>
          <a:bodyPr vert="horz" wrap="square" lIns="92075" tIns="46038" rIns="92075" bIns="46038" numCol="1" anchor="ctr" anchorCtr="0" compatLnSpc="1"/>
          <a:lstStyle/>
          <a:p>
            <a:pPr eaLnBrk="1" hangingPunct="1">
              <a:lnSpc>
                <a:spcPct val="125000"/>
              </a:lnSpc>
              <a:defRPr/>
            </a:pP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、常用工程塑料</a:t>
            </a: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—</a:t>
            </a:r>
            <a:r>
              <a:rPr lang="en-US" altLang="zh-CN" sz="4000" b="1" dirty="0">
                <a:solidFill>
                  <a:srgbClr val="FF0000"/>
                </a:solidFill>
                <a:ea typeface="华文中宋" panose="02010600040101010101" pitchFamily="2" charset="-122"/>
              </a:rPr>
              <a:t>⑸ </a:t>
            </a:r>
            <a:r>
              <a:rPr lang="zh-CN" altLang="en-US" sz="4000" b="1" dirty="0">
                <a:solidFill>
                  <a:srgbClr val="FF0000"/>
                </a:solidFill>
                <a:ea typeface="华文中宋" panose="02010600040101010101" pitchFamily="2" charset="-122"/>
              </a:rPr>
              <a:t>热固性塑料</a:t>
            </a:r>
            <a:endParaRPr kumimoji="1" lang="zh-CN" altLang="en-US" sz="4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6631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  <a:t>12/11/2025 10:57 AM</a:t>
            </a:fld>
            <a:endParaRPr lang="en-US" altLang="zh-CN" sz="1400" dirty="0"/>
          </a:p>
        </p:txBody>
      </p:sp>
      <p:sp>
        <p:nvSpPr>
          <p:cNvPr id="2663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10338"/>
            <a:ext cx="428625" cy="347662"/>
          </a:xfrm>
        </p:spPr>
        <p:txBody>
          <a:bodyPr wrap="square" lIns="92075" tIns="46038" rIns="92075" bIns="46038" anchor="ctr"/>
          <a:lstStyle/>
          <a:p>
            <a:pPr algn="r"/>
            <a:fld id="{9A0DB2DC-4C9A-4742-B13C-FB6460FD3503}" type="slidenum">
              <a:rPr lang="en-US" altLang="zh-CN" sz="1400" dirty="0"/>
              <a:t>34</a:t>
            </a:fld>
            <a:endParaRPr lang="en-US" altLang="zh-CN" sz="1400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 advAuto="1000"/>
      <p:bldP spid="9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/>
          </p:cNvSpPr>
          <p:nvPr>
            <p:ph type="title"/>
          </p:nvPr>
        </p:nvSpPr>
        <p:spPr>
          <a:xfrm>
            <a:off x="1187624" y="1700808"/>
            <a:ext cx="6984776" cy="2520280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sz="6600" b="1" strike="noStrike" noProof="1">
                <a:latin typeface="Times New Roman" panose="02020603050405020304" pitchFamily="18" charset="0"/>
                <a:ea typeface="华文中宋" panose="02010600040101010101" pitchFamily="2" charset="-122"/>
              </a:rPr>
              <a:t>二、合成橡胶</a:t>
            </a:r>
            <a:r>
              <a:rPr lang="zh-CN" altLang="en-US" sz="6600" b="1" strike="noStrike" noProof="1"/>
              <a:t> </a:t>
            </a:r>
            <a:br>
              <a:rPr lang="en-US" altLang="zh-CN" sz="3600" b="1" strike="noStrike" noProof="1"/>
            </a:br>
            <a:r>
              <a:rPr lang="en-US" altLang="zh-CN" sz="3600" b="1" dirty="0"/>
              <a:t> </a:t>
            </a:r>
            <a:r>
              <a:rPr lang="en-US" altLang="zh-CN" sz="6600" b="1" i="1" dirty="0">
                <a:solidFill>
                  <a:srgbClr val="FF0000"/>
                </a:solidFill>
                <a:latin typeface="+mn-lt"/>
              </a:rPr>
              <a:t>Synthetic Rubber</a:t>
            </a:r>
            <a:endParaRPr lang="zh-CN" altLang="en-US" sz="6600" b="1" i="1" strike="noStrike" noProof="1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7652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511290"/>
            <a:ext cx="1786255" cy="260985"/>
          </a:xfrm>
        </p:spPr>
        <p:txBody>
          <a:bodyPr wrap="square" lIns="92075" tIns="46038" rIns="92075" bIns="46038"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  <a:t>12/11/2025 10:57 AM</a:t>
            </a:fld>
            <a:endParaRPr lang="en-US" altLang="zh-CN" sz="1400" dirty="0"/>
          </a:p>
        </p:txBody>
      </p:sp>
      <p:sp>
        <p:nvSpPr>
          <p:cNvPr id="2765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10338"/>
            <a:ext cx="428625" cy="347662"/>
          </a:xfrm>
        </p:spPr>
        <p:txBody>
          <a:bodyPr wrap="square" lIns="92075" tIns="46038" rIns="92075" bIns="46038" anchor="ctr"/>
          <a:lstStyle/>
          <a:p>
            <a:pPr algn="r"/>
            <a:fld id="{9A0DB2DC-4C9A-4742-B13C-FB6460FD3503}" type="slidenum">
              <a:rPr lang="en-US" altLang="zh-CN" sz="1400" dirty="0"/>
              <a:t>35</a:t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19685" y="299656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/>
          </p:cNvSpPr>
          <p:nvPr>
            <p:ph type="title"/>
          </p:nvPr>
        </p:nvSpPr>
        <p:spPr>
          <a:xfrm>
            <a:off x="2428875" y="214313"/>
            <a:ext cx="5957888" cy="685800"/>
          </a:xfrm>
        </p:spPr>
        <p:txBody>
          <a:bodyPr vert="horz" wrap="square" lIns="92075" tIns="46038" rIns="92075" bIns="46038" anchor="ctr"/>
          <a:lstStyle/>
          <a:p>
            <a:pPr algn="l" eaLnBrk="1" fontAlgn="base" hangingPunct="1"/>
            <a:r>
              <a:rPr lang="zh-CN" altLang="en-US" b="1" strike="noStrike" noProof="1">
                <a:latin typeface="Times New Roman" panose="02020603050405020304" pitchFamily="18" charset="0"/>
                <a:ea typeface="华文中宋" panose="02010600040101010101" pitchFamily="2" charset="-122"/>
              </a:rPr>
              <a:t>二、合成橡胶</a:t>
            </a:r>
            <a:r>
              <a:rPr lang="zh-CN" altLang="en-US" sz="3600" b="1" strike="noStrike" noProof="1"/>
              <a:t> </a:t>
            </a:r>
          </a:p>
        </p:txBody>
      </p:sp>
      <p:sp>
        <p:nvSpPr>
          <p:cNvPr id="25603" name="Rectangle 3"/>
          <p:cNvSpPr>
            <a:spLocks noGrp="1"/>
          </p:cNvSpPr>
          <p:nvPr>
            <p:ph idx="1"/>
          </p:nvPr>
        </p:nvSpPr>
        <p:spPr>
          <a:xfrm>
            <a:off x="251460" y="1370990"/>
            <a:ext cx="8696325" cy="4729138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35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橡胶：</a:t>
            </a:r>
            <a:r>
              <a:rPr lang="zh-CN" altLang="en-US" b="1" dirty="0">
                <a:ea typeface="华文中宋" panose="02010600040101010101" pitchFamily="2" charset="-122"/>
              </a:rPr>
              <a:t>以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高分子化合物</a:t>
            </a:r>
            <a:r>
              <a:rPr lang="zh-CN" altLang="en-US" b="1" dirty="0">
                <a:ea typeface="华文中宋" panose="02010600040101010101" pitchFamily="2" charset="-122"/>
              </a:rPr>
              <a:t>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基础的</a:t>
            </a:r>
            <a:r>
              <a:rPr lang="zh-CN" altLang="en-US" b="1" dirty="0">
                <a:ea typeface="华文中宋" panose="02010600040101010101" pitchFamily="2" charset="-122"/>
              </a:rPr>
              <a:t>具有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高弹性</a:t>
            </a:r>
            <a:r>
              <a:rPr lang="zh-CN" altLang="en-US" b="1" dirty="0">
                <a:ea typeface="华文中宋" panose="02010600040101010101" pitchFamily="2" charset="-122"/>
              </a:rPr>
              <a:t>的材料。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endParaRPr lang="en-US" altLang="zh-CN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、橡胶的组成和性能特点</a:t>
            </a:r>
            <a:endParaRPr lang="en-US" altLang="zh-CN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endParaRPr lang="en-US" altLang="zh-CN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、常用合成橡胶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sp>
        <p:nvSpPr>
          <p:cNvPr id="27652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511290"/>
            <a:ext cx="1786255" cy="260985"/>
          </a:xfrm>
        </p:spPr>
        <p:txBody>
          <a:bodyPr wrap="square" lIns="92075" tIns="46038" rIns="92075" bIns="46038"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  <a:t>12/11/2025 10:57 AM</a:t>
            </a:fld>
            <a:endParaRPr lang="en-US" altLang="zh-CN" sz="1400" dirty="0"/>
          </a:p>
        </p:txBody>
      </p:sp>
      <p:sp>
        <p:nvSpPr>
          <p:cNvPr id="2765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10338"/>
            <a:ext cx="428625" cy="347662"/>
          </a:xfrm>
        </p:spPr>
        <p:txBody>
          <a:bodyPr wrap="square" lIns="92075" tIns="46038" rIns="92075" bIns="46038" anchor="ctr"/>
          <a:lstStyle/>
          <a:p>
            <a:pPr algn="r"/>
            <a:fld id="{9A0DB2DC-4C9A-4742-B13C-FB6460FD3503}" type="slidenum">
              <a:rPr lang="en-US" altLang="zh-CN" sz="1400" dirty="0"/>
              <a:t>36</a:t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/>
      <p:bldP spid="25603" grpId="0" build="p" advAuto="100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/>
          </p:cNvSpPr>
          <p:nvPr>
            <p:ph type="title"/>
          </p:nvPr>
        </p:nvSpPr>
        <p:spPr>
          <a:xfrm>
            <a:off x="1475740" y="116205"/>
            <a:ext cx="7272655" cy="808355"/>
          </a:xfrm>
        </p:spPr>
        <p:txBody>
          <a:bodyPr vert="horz" wrap="square" lIns="92075" tIns="46038" rIns="92075" bIns="46038" anchor="ctr"/>
          <a:lstStyle/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ea typeface="华文中宋" panose="02010600040101010101" pitchFamily="2" charset="-122"/>
              </a:rPr>
              <a:t>、橡胶的组成和性能特点 </a:t>
            </a:r>
          </a:p>
        </p:txBody>
      </p:sp>
      <p:sp>
        <p:nvSpPr>
          <p:cNvPr id="25603" name="Rectangle 3"/>
          <p:cNvSpPr>
            <a:spLocks noGrp="1"/>
          </p:cNvSpPr>
          <p:nvPr>
            <p:ph idx="1"/>
          </p:nvPr>
        </p:nvSpPr>
        <p:spPr>
          <a:xfrm>
            <a:off x="447675" y="1124744"/>
            <a:ext cx="8696325" cy="5286375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ea typeface="华文中宋" panose="02010600040101010101" pitchFamily="2" charset="-122"/>
              </a:rPr>
              <a:t>（</a:t>
            </a:r>
            <a:r>
              <a:rPr lang="en-US" altLang="zh-CN" sz="2800" b="1" dirty="0">
                <a:ea typeface="华文中宋" panose="02010600040101010101" pitchFamily="2" charset="-122"/>
              </a:rPr>
              <a:t>1</a:t>
            </a:r>
            <a:r>
              <a:rPr lang="zh-CN" altLang="en-US" sz="2800" b="1" dirty="0">
                <a:ea typeface="华文中宋" panose="02010600040101010101" pitchFamily="2" charset="-122"/>
              </a:rPr>
              <a:t>）组成：工业用橡胶由 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生胶 </a:t>
            </a:r>
            <a:r>
              <a:rPr lang="en-US" altLang="zh-CN" sz="2800" b="1" dirty="0">
                <a:ea typeface="华文中宋" panose="02010600040101010101" pitchFamily="2" charset="-122"/>
              </a:rPr>
              <a:t>+ 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橡胶配合剂 </a:t>
            </a:r>
            <a:r>
              <a:rPr lang="zh-CN" altLang="en-US" sz="2800" b="1" dirty="0">
                <a:ea typeface="华文中宋" panose="02010600040101010101" pitchFamily="2" charset="-122"/>
              </a:rPr>
              <a:t>组成。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①生胶：无配合剂 </a:t>
            </a:r>
            <a:r>
              <a:rPr lang="zh-CN" altLang="en-US" sz="2800" b="1" dirty="0">
                <a:ea typeface="华文中宋" panose="02010600040101010101" pitchFamily="2" charset="-122"/>
              </a:rPr>
              <a:t>、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未经硫化</a:t>
            </a:r>
            <a:r>
              <a:rPr lang="zh-CN" altLang="en-US" sz="2800" b="1" dirty="0">
                <a:ea typeface="华文中宋" panose="02010600040101010101" pitchFamily="2" charset="-122"/>
              </a:rPr>
              <a:t>。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②橡胶配合剂：</a:t>
            </a:r>
            <a:r>
              <a:rPr lang="zh-CN" altLang="en-US" sz="2800" b="1" dirty="0">
                <a:ea typeface="华文中宋" panose="02010600040101010101" pitchFamily="2" charset="-122"/>
              </a:rPr>
              <a:t>有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硫化剂</a:t>
            </a:r>
            <a:r>
              <a:rPr lang="zh-CN" altLang="en-US" sz="2800" b="1" dirty="0">
                <a:ea typeface="华文中宋" panose="02010600040101010101" pitchFamily="2" charset="-122"/>
              </a:rPr>
              <a:t>、硫化促进剂</a:t>
            </a:r>
            <a:r>
              <a:rPr lang="zh-CN" altLang="en-US" sz="1400" b="1" dirty="0">
                <a:ea typeface="华文中宋" panose="02010600040101010101" pitchFamily="2" charset="-122"/>
              </a:rPr>
              <a:t>、</a:t>
            </a:r>
            <a:r>
              <a:rPr lang="zh-CN" altLang="en-US" sz="2800" b="1" dirty="0">
                <a:ea typeface="华文中宋" panose="02010600040101010101" pitchFamily="2" charset="-122"/>
              </a:rPr>
              <a:t>防老剂、软化剂、填充剂、发泡剂、着色剂 等。</a:t>
            </a:r>
          </a:p>
          <a:p>
            <a:pPr eaLnBrk="1" hangingPunct="1">
              <a:lnSpc>
                <a:spcPct val="140000"/>
              </a:lnSpc>
            </a:pPr>
            <a:endParaRPr lang="en-US" altLang="zh-CN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）特点：橡胶</a:t>
            </a:r>
            <a:r>
              <a:rPr lang="zh-CN" altLang="en-US" sz="2800" b="1" dirty="0">
                <a:ea typeface="华文中宋" panose="02010600040101010101" pitchFamily="2" charset="-122"/>
              </a:rPr>
              <a:t>最大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的特点</a:t>
            </a:r>
            <a:r>
              <a:rPr lang="zh-CN" altLang="en-US" sz="2800" b="1" dirty="0">
                <a:solidFill>
                  <a:schemeClr val="tx1"/>
                </a:solidFill>
                <a:ea typeface="华文中宋" panose="02010600040101010101" pitchFamily="2" charset="-122"/>
              </a:rPr>
              <a:t>是 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高弹性。橡胶有储能、耐磨、隔音、绝缘 等 性能。   </a:t>
            </a:r>
          </a:p>
        </p:txBody>
      </p:sp>
      <p:sp>
        <p:nvSpPr>
          <p:cNvPr id="27652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511290"/>
            <a:ext cx="1786255" cy="260985"/>
          </a:xfrm>
        </p:spPr>
        <p:txBody>
          <a:bodyPr wrap="square" lIns="92075" tIns="46038" rIns="92075" bIns="46038"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  <a:t>12/11/2025 10:57 AM</a:t>
            </a:fld>
            <a:endParaRPr lang="en-US" altLang="zh-CN" sz="1400" dirty="0"/>
          </a:p>
        </p:txBody>
      </p:sp>
      <p:sp>
        <p:nvSpPr>
          <p:cNvPr id="2765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10338"/>
            <a:ext cx="428625" cy="347662"/>
          </a:xfrm>
        </p:spPr>
        <p:txBody>
          <a:bodyPr wrap="square" lIns="92075" tIns="46038" rIns="92075" bIns="46038" anchor="ctr"/>
          <a:lstStyle/>
          <a:p>
            <a:pPr algn="r"/>
            <a:fld id="{9A0DB2DC-4C9A-4742-B13C-FB6460FD3503}" type="slidenum">
              <a:rPr lang="en-US" altLang="zh-CN" sz="1400" dirty="0"/>
              <a:t>37</a:t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bldLvl="0" animBg="1"/>
      <p:bldP spid="25603" grpId="0" build="p" advAuto="100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000250" y="0"/>
            <a:ext cx="5295265" cy="9144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、常用合成橡胶</a:t>
            </a:r>
          </a:p>
        </p:txBody>
      </p:sp>
      <p:sp>
        <p:nvSpPr>
          <p:cNvPr id="28674" name="Rectangle 3"/>
          <p:cNvSpPr>
            <a:spLocks noGrp="1"/>
          </p:cNvSpPr>
          <p:nvPr>
            <p:ph idx="1"/>
          </p:nvPr>
        </p:nvSpPr>
        <p:spPr>
          <a:xfrm>
            <a:off x="685800" y="1000125"/>
            <a:ext cx="7772400" cy="5095875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合成橡胶  按 用途 和 用量 </a:t>
            </a:r>
            <a:r>
              <a:rPr lang="zh-CN" altLang="en-US" sz="2800" b="1" dirty="0">
                <a:ea typeface="华文中宋" panose="02010600040101010101" pitchFamily="2" charset="-122"/>
              </a:rPr>
              <a:t>分为：</a:t>
            </a:r>
            <a:endParaRPr lang="en-US" altLang="zh-CN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）通用橡胶：</a:t>
            </a:r>
            <a:r>
              <a:rPr lang="zh-CN" altLang="en-US" sz="2800" b="1" dirty="0">
                <a:ea typeface="华文中宋" panose="02010600040101010101" pitchFamily="2" charset="-122"/>
              </a:rPr>
              <a:t>主要用于制作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轮胎</a:t>
            </a:r>
            <a:r>
              <a:rPr lang="zh-CN" altLang="en-US" sz="2800" b="1" dirty="0">
                <a:ea typeface="华文中宋" panose="02010600040101010101" pitchFamily="2" charset="-122"/>
              </a:rPr>
              <a:t>、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运输带</a:t>
            </a:r>
            <a:r>
              <a:rPr lang="zh-CN" altLang="en-US" sz="2800" b="1" dirty="0">
                <a:ea typeface="华文中宋" panose="02010600040101010101" pitchFamily="2" charset="-122"/>
              </a:rPr>
              <a:t>、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胶管、胶板、垫片、密封装置  </a:t>
            </a:r>
            <a:r>
              <a:rPr lang="zh-CN" altLang="en-US" sz="2800" b="1" dirty="0">
                <a:ea typeface="华文中宋" panose="02010600040101010101" pitchFamily="2" charset="-122"/>
              </a:rPr>
              <a:t>等</a:t>
            </a:r>
            <a:endParaRPr lang="en-US" altLang="zh-CN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）特种橡胶：</a:t>
            </a:r>
            <a:r>
              <a:rPr lang="zh-CN" altLang="en-US" sz="2800" b="1" dirty="0">
                <a:ea typeface="华文中宋" panose="02010600040101010101" pitchFamily="2" charset="-122"/>
              </a:rPr>
              <a:t>主要用于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高低温、强腐蚀、强辐射等特殊环境下</a:t>
            </a:r>
            <a:r>
              <a:rPr lang="zh-CN" altLang="en-US" sz="2800" b="1" dirty="0">
                <a:ea typeface="华文中宋" panose="02010600040101010101" pitchFamily="2" charset="-122"/>
              </a:rPr>
              <a:t>工作的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橡胶制品。 </a:t>
            </a:r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>
          <a:xfrm>
            <a:off x="857250" y="4357688"/>
            <a:ext cx="7916863" cy="1949450"/>
            <a:chOff x="65" y="2292"/>
            <a:chExt cx="5622" cy="1385"/>
          </a:xfrm>
        </p:grpSpPr>
        <p:pic>
          <p:nvPicPr>
            <p:cNvPr id="28676" name="Picture 5" descr="密封圈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33" y="2328"/>
              <a:ext cx="1839" cy="1344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28677" name="Picture 6" descr="胶管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96" y="2328"/>
              <a:ext cx="1791" cy="1349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8678" name="Text Box 7"/>
            <p:cNvSpPr txBox="1">
              <a:spLocks noChangeAspect="1"/>
            </p:cNvSpPr>
            <p:nvPr/>
          </p:nvSpPr>
          <p:spPr>
            <a:xfrm>
              <a:off x="3192" y="3408"/>
              <a:ext cx="751" cy="260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8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密封圈</a:t>
              </a:r>
            </a:p>
          </p:txBody>
        </p:sp>
        <p:sp>
          <p:nvSpPr>
            <p:cNvPr id="28679" name="Text Box 8"/>
            <p:cNvSpPr txBox="1">
              <a:spLocks noChangeAspect="1"/>
            </p:cNvSpPr>
            <p:nvPr/>
          </p:nvSpPr>
          <p:spPr>
            <a:xfrm>
              <a:off x="3936" y="2375"/>
              <a:ext cx="559" cy="261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胶管</a:t>
              </a:r>
            </a:p>
          </p:txBody>
        </p:sp>
        <p:pic>
          <p:nvPicPr>
            <p:cNvPr id="28680" name="Picture 9" descr="轮胎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" y="2328"/>
              <a:ext cx="1959" cy="1341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8681" name="Text Box 10"/>
            <p:cNvSpPr txBox="1">
              <a:spLocks noChangeAspect="1"/>
            </p:cNvSpPr>
            <p:nvPr/>
          </p:nvSpPr>
          <p:spPr>
            <a:xfrm>
              <a:off x="1524" y="2292"/>
              <a:ext cx="607" cy="261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轮胎</a:t>
              </a:r>
            </a:p>
          </p:txBody>
        </p:sp>
      </p:grpSp>
      <p:sp>
        <p:nvSpPr>
          <p:cNvPr id="28683" name="日期占位符 1"/>
          <p:cNvSpPr>
            <a:spLocks noGrp="1"/>
          </p:cNvSpPr>
          <p:nvPr>
            <p:ph type="dt" sz="half" idx="10"/>
          </p:nvPr>
        </p:nvSpPr>
        <p:spPr>
          <a:xfrm>
            <a:off x="121285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  <a:t>12/11/2025 10:57 AM</a:t>
            </a:fld>
            <a:endParaRPr lang="en-US" altLang="zh-CN" sz="1400" dirty="0"/>
          </a:p>
        </p:txBody>
      </p:sp>
      <p:sp>
        <p:nvSpPr>
          <p:cNvPr id="2868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10338"/>
            <a:ext cx="428625" cy="347662"/>
          </a:xfrm>
        </p:spPr>
        <p:txBody>
          <a:bodyPr wrap="square" lIns="92075" tIns="46038" rIns="92075" bIns="46038" anchor="ctr"/>
          <a:lstStyle/>
          <a:p>
            <a:pPr algn="r"/>
            <a:fld id="{9A0DB2DC-4C9A-4742-B13C-FB6460FD3503}" type="slidenum">
              <a:rPr lang="en-US" altLang="zh-CN" sz="1400" dirty="0"/>
              <a:t>38</a:t>
            </a:fld>
            <a:endParaRPr lang="en-US" altLang="zh-CN" sz="1400" dirty="0"/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1857375" y="214630"/>
            <a:ext cx="6315075" cy="90741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作业（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P162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</a:t>
            </a:r>
          </a:p>
        </p:txBody>
      </p:sp>
      <p:sp>
        <p:nvSpPr>
          <p:cNvPr id="29698" name="Rectangle 3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/>
          <a:lstStyle/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7-1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7-4</a:t>
            </a:r>
          </a:p>
        </p:txBody>
      </p:sp>
      <p:sp>
        <p:nvSpPr>
          <p:cNvPr id="29700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  <a:t>12/11/2025 10:57 AM</a:t>
            </a:fld>
            <a:endParaRPr lang="en-US" altLang="zh-CN" sz="1400" dirty="0"/>
          </a:p>
        </p:txBody>
      </p:sp>
      <p:sp>
        <p:nvSpPr>
          <p:cNvPr id="2970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10338"/>
            <a:ext cx="428625" cy="347662"/>
          </a:xfrm>
        </p:spPr>
        <p:txBody>
          <a:bodyPr wrap="square" lIns="92075" tIns="46038" rIns="92075" bIns="46038" anchor="ctr"/>
          <a:lstStyle/>
          <a:p>
            <a:pPr algn="r"/>
            <a:fld id="{9A0DB2DC-4C9A-4742-B13C-FB6460FD3503}" type="slidenum">
              <a:rPr lang="en-US" altLang="zh-CN" sz="1400" dirty="0"/>
              <a:t>39</a:t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510338"/>
            <a:ext cx="457200" cy="347662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  <a:t>40</a:t>
            </a:fld>
            <a:endParaRPr lang="en-US" altLang="zh-CN" sz="1400" dirty="0"/>
          </a:p>
        </p:txBody>
      </p:sp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2132856"/>
            <a:ext cx="6529388" cy="144016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8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Thanks</a:t>
            </a:r>
            <a:endParaRPr kumimoji="1" lang="zh-CN" altLang="en-US" sz="8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3254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  <a:t>12/11/2025 10:57 AM</a:t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OC_GUID" val="{0de7f647-2333-49c7-827b-cbeaf1c2fff3}"/>
</p:tagLst>
</file>

<file path=ppt/theme/theme1.xml><?xml version="1.0" encoding="utf-8"?>
<a:theme xmlns:a="http://schemas.openxmlformats.org/drawingml/2006/main" name="Soaring">
  <a:themeElements>
    <a:clrScheme name="Soaring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Soaring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FF"/>
    </a:dk2>
    <a:lt2>
      <a:srgbClr val="FFCC66"/>
    </a:lt2>
    <a:accent1>
      <a:srgbClr val="00FFFF"/>
    </a:accent1>
    <a:accent2>
      <a:srgbClr val="3366FF"/>
    </a:accent2>
    <a:accent3>
      <a:srgbClr val="AAAAFF"/>
    </a:accent3>
    <a:accent4>
      <a:srgbClr val="DADADA"/>
    </a:accent4>
    <a:accent5>
      <a:srgbClr val="AAFFFF"/>
    </a:accent5>
    <a:accent6>
      <a:srgbClr val="2D5CE7"/>
    </a:accent6>
    <a:hlink>
      <a:srgbClr val="FF0033"/>
    </a:hlink>
    <a:folHlink>
      <a:srgbClr val="FF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Designs\Soaring.pot</Template>
  <TotalTime>8</TotalTime>
  <Words>2169</Words>
  <Application>Microsoft Office PowerPoint</Application>
  <PresentationFormat>全屏显示(4:3)</PresentationFormat>
  <Paragraphs>314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8" baseType="lpstr">
      <vt:lpstr>仿宋_GB2312</vt:lpstr>
      <vt:lpstr>华文中宋</vt:lpstr>
      <vt:lpstr>微软雅黑</vt:lpstr>
      <vt:lpstr>楷体_GB2312</vt:lpstr>
      <vt:lpstr>Arial</vt:lpstr>
      <vt:lpstr>Times New Roman</vt:lpstr>
      <vt:lpstr>Wingdings</vt:lpstr>
      <vt:lpstr>Soaring</vt:lpstr>
      <vt:lpstr>U2041170  《工程材料与成型技术》 Engineering Materials and Forming Technology   44+4学时，3学分</vt:lpstr>
      <vt:lpstr>第七章  高分子材料 Polymers  materials</vt:lpstr>
      <vt:lpstr>内容提要</vt:lpstr>
      <vt:lpstr>第一节 高分子材料概述 Overview on polymer materials</vt:lpstr>
      <vt:lpstr>第一节  高分子材料概述</vt:lpstr>
      <vt:lpstr>一、高分子材料的基本概念 Basic concepts of the polymer materials</vt:lpstr>
      <vt:lpstr>一、高分子材料的基本概念</vt:lpstr>
      <vt:lpstr>1、高分子化合物的组成</vt:lpstr>
      <vt:lpstr>2 、高分子材料的分类</vt:lpstr>
      <vt:lpstr>2 、高分子材料的分类</vt:lpstr>
      <vt:lpstr>二、高分子材料的结构 Structure of the polymer materials</vt:lpstr>
      <vt:lpstr>二、高分子材料的结构</vt:lpstr>
      <vt:lpstr>⑵ 大分子链的形状</vt:lpstr>
      <vt:lpstr>2、高分子的聚集态结构</vt:lpstr>
      <vt:lpstr>三、高分子材料的力学状态 Mechanical states of the polymers  </vt:lpstr>
      <vt:lpstr>三、高分子材料的力学状态 </vt:lpstr>
      <vt:lpstr>三、高分子材料的力学状态 </vt:lpstr>
      <vt:lpstr>2、线型晶态高分子材料的力学状态</vt:lpstr>
      <vt:lpstr>第二节  高分子工程材料 Polymer Engineering Materials </vt:lpstr>
      <vt:lpstr>第二节  高分子工程材料 </vt:lpstr>
      <vt:lpstr>一、塑料 Plastics </vt:lpstr>
      <vt:lpstr>一、塑料 </vt:lpstr>
      <vt:lpstr>1、塑料概述  </vt:lpstr>
      <vt:lpstr>⑴ 塑料的组成</vt:lpstr>
      <vt:lpstr>⑴ 塑料的组成</vt:lpstr>
      <vt:lpstr>⑵ 塑料的分类</vt:lpstr>
      <vt:lpstr>⑶ 塑料的性能特点</vt:lpstr>
      <vt:lpstr>2、常用工程塑料</vt:lpstr>
      <vt:lpstr>2、常用工程塑料 ——⑴ 一般结构用塑料</vt:lpstr>
      <vt:lpstr>2、常用工程塑料 ——⑵ 摩擦传动零件用塑料</vt:lpstr>
      <vt:lpstr>2、常用工程塑料</vt:lpstr>
      <vt:lpstr>2、常用工程塑料—⑶  耐蚀用塑料</vt:lpstr>
      <vt:lpstr>2、常用工程塑料—⑷  耐高温件用塑料</vt:lpstr>
      <vt:lpstr>2、常用工程塑料—⑸ 热固性塑料</vt:lpstr>
      <vt:lpstr>二、合成橡胶   Synthetic Rubber</vt:lpstr>
      <vt:lpstr>二、合成橡胶 </vt:lpstr>
      <vt:lpstr>1、橡胶的组成和性能特点 </vt:lpstr>
      <vt:lpstr>2、常用合成橡胶</vt:lpstr>
      <vt:lpstr>作业（P162）</vt:lpstr>
      <vt:lpstr>Thanks</vt:lpstr>
    </vt:vector>
  </TitlesOfParts>
  <Company>dlut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第九章  高分子材料 </dc:title>
  <dc:creator>yys</dc:creator>
  <cp:lastModifiedBy>lin liu</cp:lastModifiedBy>
  <cp:revision>182</cp:revision>
  <dcterms:created xsi:type="dcterms:W3CDTF">2002-06-21T10:47:00Z</dcterms:created>
  <dcterms:modified xsi:type="dcterms:W3CDTF">2025-12-11T03:06:05Z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4C0E4FEF59C14DBD9DF145640B90BAAD_12</vt:lpwstr>
  </property>
</Properties>
</file>