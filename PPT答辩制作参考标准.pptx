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61" r:id="rId2"/>
    <p:sldId id="296" r:id="rId3"/>
    <p:sldId id="262" r:id="rId4"/>
    <p:sldId id="259" r:id="rId5"/>
    <p:sldId id="302" r:id="rId6"/>
    <p:sldId id="304" r:id="rId7"/>
    <p:sldId id="271" r:id="rId8"/>
    <p:sldId id="272" r:id="rId9"/>
    <p:sldId id="361" r:id="rId10"/>
    <p:sldId id="267" r:id="rId11"/>
    <p:sldId id="263" r:id="rId12"/>
    <p:sldId id="306" r:id="rId13"/>
    <p:sldId id="307" r:id="rId14"/>
    <p:sldId id="305" r:id="rId15"/>
    <p:sldId id="308" r:id="rId16"/>
    <p:sldId id="309" r:id="rId17"/>
    <p:sldId id="310" r:id="rId18"/>
    <p:sldId id="290" r:id="rId19"/>
    <p:sldId id="311" r:id="rId20"/>
    <p:sldId id="268" r:id="rId21"/>
    <p:sldId id="276" r:id="rId22"/>
    <p:sldId id="312" r:id="rId23"/>
    <p:sldId id="315" r:id="rId24"/>
    <p:sldId id="314" r:id="rId25"/>
    <p:sldId id="316" r:id="rId26"/>
    <p:sldId id="277" r:id="rId27"/>
    <p:sldId id="318" r:id="rId28"/>
    <p:sldId id="319" r:id="rId29"/>
    <p:sldId id="320" r:id="rId30"/>
    <p:sldId id="321" r:id="rId31"/>
    <p:sldId id="317" r:id="rId32"/>
    <p:sldId id="322" r:id="rId33"/>
    <p:sldId id="278" r:id="rId34"/>
    <p:sldId id="323" r:id="rId35"/>
    <p:sldId id="325" r:id="rId36"/>
    <p:sldId id="291" r:id="rId37"/>
    <p:sldId id="362" r:id="rId38"/>
    <p:sldId id="273" r:id="rId39"/>
    <p:sldId id="327" r:id="rId40"/>
    <p:sldId id="328" r:id="rId41"/>
    <p:sldId id="332" r:id="rId42"/>
    <p:sldId id="333" r:id="rId43"/>
    <p:sldId id="326" r:id="rId44"/>
    <p:sldId id="344" r:id="rId45"/>
    <p:sldId id="334" r:id="rId46"/>
    <p:sldId id="335" r:id="rId47"/>
    <p:sldId id="336" r:id="rId48"/>
    <p:sldId id="337" r:id="rId49"/>
    <p:sldId id="338" r:id="rId50"/>
    <p:sldId id="339" r:id="rId51"/>
    <p:sldId id="340" r:id="rId52"/>
    <p:sldId id="341" r:id="rId53"/>
    <p:sldId id="342" r:id="rId54"/>
    <p:sldId id="345" r:id="rId55"/>
    <p:sldId id="343" r:id="rId56"/>
    <p:sldId id="347" r:id="rId57"/>
    <p:sldId id="275" r:id="rId58"/>
    <p:sldId id="348" r:id="rId59"/>
    <p:sldId id="349" r:id="rId60"/>
    <p:sldId id="350" r:id="rId61"/>
    <p:sldId id="351" r:id="rId62"/>
    <p:sldId id="352" r:id="rId63"/>
    <p:sldId id="353" r:id="rId64"/>
    <p:sldId id="274" r:id="rId65"/>
    <p:sldId id="355" r:id="rId66"/>
    <p:sldId id="356" r:id="rId67"/>
    <p:sldId id="357" r:id="rId68"/>
    <p:sldId id="358" r:id="rId69"/>
    <p:sldId id="359" r:id="rId70"/>
    <p:sldId id="292" r:id="rId71"/>
    <p:sldId id="360" r:id="rId72"/>
    <p:sldId id="258" r:id="rId7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9AA1528-31DE-4B4D-BFA1-681DAFFC801B}">
          <p14:sldIdLst>
            <p14:sldId id="261"/>
            <p14:sldId id="296"/>
            <p14:sldId id="262"/>
            <p14:sldId id="259"/>
            <p14:sldId id="302"/>
            <p14:sldId id="304"/>
            <p14:sldId id="271"/>
            <p14:sldId id="272"/>
            <p14:sldId id="361"/>
            <p14:sldId id="267"/>
            <p14:sldId id="263"/>
            <p14:sldId id="306"/>
            <p14:sldId id="307"/>
            <p14:sldId id="305"/>
            <p14:sldId id="308"/>
            <p14:sldId id="309"/>
            <p14:sldId id="310"/>
            <p14:sldId id="290"/>
            <p14:sldId id="311"/>
            <p14:sldId id="268"/>
            <p14:sldId id="276"/>
            <p14:sldId id="312"/>
            <p14:sldId id="315"/>
            <p14:sldId id="314"/>
            <p14:sldId id="316"/>
            <p14:sldId id="277"/>
            <p14:sldId id="318"/>
            <p14:sldId id="319"/>
            <p14:sldId id="320"/>
            <p14:sldId id="321"/>
            <p14:sldId id="317"/>
            <p14:sldId id="322"/>
            <p14:sldId id="278"/>
            <p14:sldId id="323"/>
            <p14:sldId id="325"/>
          </p14:sldIdLst>
        </p14:section>
        <p14:section name="无标题节" id="{3CB881B9-D0CB-483C-8A2C-6E0B0E12115F}">
          <p14:sldIdLst>
            <p14:sldId id="291"/>
            <p14:sldId id="362"/>
            <p14:sldId id="273"/>
            <p14:sldId id="327"/>
            <p14:sldId id="328"/>
            <p14:sldId id="332"/>
            <p14:sldId id="333"/>
            <p14:sldId id="326"/>
            <p14:sldId id="344"/>
            <p14:sldId id="334"/>
            <p14:sldId id="335"/>
            <p14:sldId id="336"/>
            <p14:sldId id="337"/>
            <p14:sldId id="338"/>
            <p14:sldId id="339"/>
            <p14:sldId id="340"/>
            <p14:sldId id="341"/>
            <p14:sldId id="342"/>
            <p14:sldId id="345"/>
            <p14:sldId id="343"/>
            <p14:sldId id="347"/>
            <p14:sldId id="275"/>
            <p14:sldId id="348"/>
            <p14:sldId id="349"/>
            <p14:sldId id="350"/>
            <p14:sldId id="351"/>
            <p14:sldId id="352"/>
            <p14:sldId id="353"/>
            <p14:sldId id="274"/>
            <p14:sldId id="355"/>
            <p14:sldId id="356"/>
            <p14:sldId id="357"/>
            <p14:sldId id="358"/>
            <p14:sldId id="359"/>
            <p14:sldId id="292"/>
            <p14:sldId id="360"/>
            <p14:sldId id="258"/>
          </p14:sldIdLst>
        </p14:section>
      </p14:sectionLst>
    </p:ext>
    <p:ext uri="{EFAFB233-063F-42B5-8137-9DF3F51BA10A}">
      <p15:sldGuideLst xmlns:p15="http://schemas.microsoft.com/office/powerpoint/2012/main">
        <p15:guide id="1" orient="horz" pos="754">
          <p15:clr>
            <a:srgbClr val="A4A3A4"/>
          </p15:clr>
        </p15:guide>
        <p15:guide id="2" orient="horz" pos="1979">
          <p15:clr>
            <a:srgbClr val="A4A3A4"/>
          </p15:clr>
        </p15:guide>
        <p15:guide id="3" pos="869">
          <p15:clr>
            <a:srgbClr val="A4A3A4"/>
          </p15:clr>
        </p15:guide>
        <p15:guide id="4" pos="622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2" clrIdx="0">
    <p:extLst>
      <p:ext uri="{19B8F6BF-5375-455C-9EA6-DF929625EA0E}">
        <p15:presenceInfo xmlns:p15="http://schemas.microsoft.com/office/powerpoint/2012/main" userId="DEL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3341"/>
    <a:srgbClr val="AC3643"/>
    <a:srgbClr val="AB3442"/>
    <a:srgbClr val="A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80" autoAdjust="0"/>
    <p:restoredTop sz="94320" autoAdjust="0"/>
  </p:normalViewPr>
  <p:slideViewPr>
    <p:cSldViewPr snapToGrid="0" showGuides="1">
      <p:cViewPr varScale="1">
        <p:scale>
          <a:sx n="107" d="100"/>
          <a:sy n="107" d="100"/>
        </p:scale>
        <p:origin x="52" y="132"/>
      </p:cViewPr>
      <p:guideLst>
        <p:guide orient="horz" pos="754"/>
        <p:guide orient="horz" pos="1979"/>
        <p:guide pos="869"/>
        <p:guide pos="6221"/>
      </p:guideLst>
    </p:cSldViewPr>
  </p:slideViewPr>
  <p:outlineViewPr>
    <p:cViewPr>
      <p:scale>
        <a:sx n="33" d="100"/>
        <a:sy n="33" d="100"/>
      </p:scale>
      <p:origin x="0" y="-210"/>
    </p:cViewPr>
  </p:outlin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AC5235-D026-46CF-A71B-93F0B23D54FB}" type="datetimeFigureOut">
              <a:rPr lang="zh-CN" altLang="en-US" smtClean="0"/>
              <a:t>2024/12/3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8DEEC-5D81-46A3-9935-FF96FF36E350}" type="slidenum">
              <a:rPr lang="zh-CN" altLang="en-US" smtClean="0"/>
              <a:t>‹#›</a:t>
            </a:fld>
            <a:endParaRPr lang="zh-CN" altLang="en-US"/>
          </a:p>
        </p:txBody>
      </p:sp>
    </p:spTree>
    <p:extLst>
      <p:ext uri="{BB962C8B-B14F-4D97-AF65-F5344CB8AC3E}">
        <p14:creationId xmlns:p14="http://schemas.microsoft.com/office/powerpoint/2010/main" val="2764087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C8DEEC-5D81-46A3-9935-FF96FF36E350}" type="slidenum">
              <a:rPr lang="zh-CN" altLang="en-US" smtClean="0"/>
              <a:t>1</a:t>
            </a:fld>
            <a:endParaRPr lang="zh-CN" altLang="en-US"/>
          </a:p>
        </p:txBody>
      </p:sp>
    </p:spTree>
    <p:extLst>
      <p:ext uri="{BB962C8B-B14F-4D97-AF65-F5344CB8AC3E}">
        <p14:creationId xmlns:p14="http://schemas.microsoft.com/office/powerpoint/2010/main" val="3431194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C8DEEC-5D81-46A3-9935-FF96FF36E350}" type="slidenum">
              <a:rPr lang="zh-CN" altLang="en-US" smtClean="0"/>
              <a:t>2</a:t>
            </a:fld>
            <a:endParaRPr lang="zh-CN" altLang="en-US"/>
          </a:p>
        </p:txBody>
      </p:sp>
    </p:spTree>
    <p:extLst>
      <p:ext uri="{BB962C8B-B14F-4D97-AF65-F5344CB8AC3E}">
        <p14:creationId xmlns:p14="http://schemas.microsoft.com/office/powerpoint/2010/main" val="984289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C8DEEC-5D81-46A3-9935-FF96FF36E350}" type="slidenum">
              <a:rPr lang="zh-CN" altLang="en-US" smtClean="0"/>
              <a:t>6</a:t>
            </a:fld>
            <a:endParaRPr lang="zh-CN" altLang="en-US"/>
          </a:p>
        </p:txBody>
      </p:sp>
    </p:spTree>
    <p:extLst>
      <p:ext uri="{BB962C8B-B14F-4D97-AF65-F5344CB8AC3E}">
        <p14:creationId xmlns:p14="http://schemas.microsoft.com/office/powerpoint/2010/main" val="2453265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过渡页">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2544006"/>
            <a:ext cx="9144000" cy="813556"/>
          </a:xfrm>
        </p:spPr>
        <p:txBody>
          <a:bodyPr anchor="b">
            <a:normAutofit/>
          </a:bodyPr>
          <a:lstStyle>
            <a:lvl1pPr algn="ctr">
              <a:defRPr sz="4000" b="1">
                <a:solidFill>
                  <a:schemeClr val="bg1"/>
                </a:solidFill>
                <a:latin typeface="微软雅黑" pitchFamily="34" charset="-122"/>
                <a:ea typeface="微软雅黑"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9A0741C5-8F5C-4213-BB69-8C2D02590C1C}" type="datetimeFigureOut">
              <a:rPr lang="zh-CN" altLang="en-US" smtClean="0"/>
              <a:t>2024/12/3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8893EA9-123D-489F-8313-43A8A4AC4565}" type="slidenum">
              <a:rPr lang="zh-CN" altLang="en-US" smtClean="0"/>
              <a:t>‹#›</a:t>
            </a:fld>
            <a:endParaRPr lang="zh-CN" altLang="en-US"/>
          </a:p>
        </p:txBody>
      </p:sp>
      <p:sp>
        <p:nvSpPr>
          <p:cNvPr id="7" name="Freeform 5"/>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2"/>
          </a:solidFill>
          <a:ln>
            <a:noFill/>
          </a:ln>
        </p:spPr>
        <p:txBody>
          <a:bodyPr vert="horz" wrap="square" lIns="91440" tIns="45720" rIns="91440" bIns="45720" numCol="1" anchor="t" anchorCtr="0" compatLnSpc="1"/>
          <a:lstStyle/>
          <a:p>
            <a:endParaRPr lang="zh-CN" altLang="en-US"/>
          </a:p>
        </p:txBody>
      </p:sp>
    </p:spTree>
  </p:cSld>
  <p:clrMapOvr>
    <a:masterClrMapping/>
  </p:clrMapOvr>
  <p:transition spd="slow" advClick="0" advTm="3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研究概述_需换右下角LOGO">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itchFamily="34" charset="-122"/>
                <a:ea typeface="微软雅黑"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9A0741C5-8F5C-4213-BB69-8C2D02590C1C}" type="datetimeFigureOut">
              <a:rPr lang="zh-CN" altLang="en-US" smtClean="0"/>
              <a:t>2024/12/3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chemeClr val="tx1">
                    <a:lumMod val="60000"/>
                    <a:lumOff val="40000"/>
                  </a:schemeClr>
                </a:solidFill>
                <a:latin typeface="+mn-lt"/>
              </a:defRPr>
            </a:lvl1pPr>
          </a:lstStyle>
          <a:p>
            <a:r>
              <a:rPr lang="en-US" altLang="zh-CN" dirty="0"/>
              <a:t>P</a:t>
            </a:r>
            <a:fld id="{38893EA9-123D-489F-8313-43A8A4AC4565}" type="slidenum">
              <a:rPr lang="zh-CN" altLang="en-US" dirty="0" smtClean="0"/>
              <a:t>‹#›</a:t>
            </a:fld>
            <a:endParaRPr lang="zh-CN" altLang="en-US" dirty="0"/>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矩形 7"/>
          <p:cNvSpPr/>
          <p:nvPr userDrawn="1"/>
        </p:nvSpPr>
        <p:spPr>
          <a:xfrm>
            <a:off x="10616765" y="0"/>
            <a:ext cx="15752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rot="16200000">
            <a:off x="10400553" y="785600"/>
            <a:ext cx="295275" cy="13715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框 10"/>
          <p:cNvSpPr txBox="1"/>
          <p:nvPr userDrawn="1"/>
        </p:nvSpPr>
        <p:spPr>
          <a:xfrm>
            <a:off x="10711051" y="658954"/>
            <a:ext cx="1386662" cy="400110"/>
          </a:xfrm>
          <a:prstGeom prst="rect">
            <a:avLst/>
          </a:prstGeom>
          <a:noFill/>
        </p:spPr>
        <p:txBody>
          <a:bodyPr wrap="square" rtlCol="0">
            <a:spAutoFit/>
          </a:bodyPr>
          <a:lstStyle/>
          <a:p>
            <a:pPr algn="ctr"/>
            <a:r>
              <a:rPr lang="zh-CN" altLang="en-US" sz="2000" dirty="0">
                <a:solidFill>
                  <a:schemeClr val="bg1"/>
                </a:solidFill>
                <a:latin typeface="微软雅黑" pitchFamily="34" charset="-122"/>
                <a:ea typeface="微软雅黑" pitchFamily="34" charset="-122"/>
              </a:rPr>
              <a:t>绪论</a:t>
            </a:r>
          </a:p>
        </p:txBody>
      </p:sp>
      <p:sp>
        <p:nvSpPr>
          <p:cNvPr id="12" name="文本框 11"/>
          <p:cNvSpPr txBox="1"/>
          <p:nvPr userDrawn="1"/>
        </p:nvSpPr>
        <p:spPr>
          <a:xfrm>
            <a:off x="10709069" y="1406228"/>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总体设计</a:t>
            </a:r>
          </a:p>
        </p:txBody>
      </p:sp>
      <p:sp>
        <p:nvSpPr>
          <p:cNvPr id="13" name="文本框 12"/>
          <p:cNvSpPr txBox="1"/>
          <p:nvPr userDrawn="1"/>
        </p:nvSpPr>
        <p:spPr>
          <a:xfrm>
            <a:off x="10709069" y="2149964"/>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运动原理</a:t>
            </a:r>
          </a:p>
        </p:txBody>
      </p:sp>
      <p:sp>
        <p:nvSpPr>
          <p:cNvPr id="14" name="文本框 13"/>
          <p:cNvSpPr txBox="1"/>
          <p:nvPr userDrawn="1"/>
        </p:nvSpPr>
        <p:spPr>
          <a:xfrm>
            <a:off x="10709069" y="289370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硬件设计</a:t>
            </a:r>
          </a:p>
        </p:txBody>
      </p:sp>
      <p:sp>
        <p:nvSpPr>
          <p:cNvPr id="15" name="文本框 14"/>
          <p:cNvSpPr txBox="1"/>
          <p:nvPr userDrawn="1"/>
        </p:nvSpPr>
        <p:spPr>
          <a:xfrm>
            <a:off x="10709069" y="363848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软件开发</a:t>
            </a:r>
          </a:p>
        </p:txBody>
      </p:sp>
      <p:pic>
        <p:nvPicPr>
          <p:cNvPr id="17" name="图片 16">
            <a:extLst>
              <a:ext uri="{FF2B5EF4-FFF2-40B4-BE49-F238E27FC236}">
                <a16:creationId xmlns:a16="http://schemas.microsoft.com/office/drawing/2014/main" id="{E61529A7-9D0E-1458-DD2A-DB622385AAE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3800" y="5539150"/>
            <a:ext cx="817200" cy="817200"/>
          </a:xfrm>
          <a:prstGeom prst="rect">
            <a:avLst/>
          </a:prstGeom>
        </p:spPr>
      </p:pic>
      <p:sp>
        <p:nvSpPr>
          <p:cNvPr id="18" name="文本框 17">
            <a:extLst>
              <a:ext uri="{FF2B5EF4-FFF2-40B4-BE49-F238E27FC236}">
                <a16:creationId xmlns:a16="http://schemas.microsoft.com/office/drawing/2014/main" id="{7031C3EC-30BC-2A4E-CEFB-C48E299201F8}"/>
              </a:ext>
            </a:extLst>
          </p:cNvPr>
          <p:cNvSpPr txBox="1"/>
          <p:nvPr userDrawn="1"/>
        </p:nvSpPr>
        <p:spPr>
          <a:xfrm>
            <a:off x="10709069" y="433839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调试验证</a:t>
            </a:r>
          </a:p>
        </p:txBody>
      </p:sp>
      <p:sp>
        <p:nvSpPr>
          <p:cNvPr id="19" name="文本框 18">
            <a:extLst>
              <a:ext uri="{FF2B5EF4-FFF2-40B4-BE49-F238E27FC236}">
                <a16:creationId xmlns:a16="http://schemas.microsoft.com/office/drawing/2014/main" id="{E8C4E557-74DB-22AD-858B-DAE7AA125474}"/>
              </a:ext>
            </a:extLst>
          </p:cNvPr>
          <p:cNvSpPr txBox="1"/>
          <p:nvPr userDrawn="1"/>
        </p:nvSpPr>
        <p:spPr>
          <a:xfrm>
            <a:off x="10709069" y="503750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结论展望</a:t>
            </a:r>
          </a:p>
        </p:txBody>
      </p:sp>
    </p:spTree>
  </p:cSld>
  <p:clrMapOvr>
    <a:masterClrMapping/>
  </p:clrMapOvr>
  <p:transition spd="slow" advClick="0" advTm="3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研究方法_需换右下角LOGO">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itchFamily="34" charset="-122"/>
                <a:ea typeface="微软雅黑"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9A0741C5-8F5C-4213-BB69-8C2D02590C1C}" type="datetimeFigureOut">
              <a:rPr lang="zh-CN" altLang="en-US" smtClean="0"/>
              <a:t>2024/12/3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chemeClr val="tx1">
                    <a:lumMod val="60000"/>
                    <a:lumOff val="40000"/>
                  </a:schemeClr>
                </a:solidFill>
                <a:latin typeface="+mn-lt"/>
              </a:defRPr>
            </a:lvl1pPr>
          </a:lstStyle>
          <a:p>
            <a:r>
              <a:rPr lang="en-US" altLang="zh-CN" dirty="0"/>
              <a:t>P</a:t>
            </a:r>
            <a:fld id="{38893EA9-123D-489F-8313-43A8A4AC4565}" type="slidenum">
              <a:rPr lang="zh-CN" altLang="en-US" dirty="0" smtClean="0"/>
              <a:t>‹#›</a:t>
            </a:fld>
            <a:endParaRPr lang="zh-CN" altLang="en-US" dirty="0"/>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矩形 7"/>
          <p:cNvSpPr/>
          <p:nvPr userDrawn="1"/>
        </p:nvSpPr>
        <p:spPr>
          <a:xfrm>
            <a:off x="10616765" y="0"/>
            <a:ext cx="15752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rot="16200000">
            <a:off x="10400553" y="1532340"/>
            <a:ext cx="295275" cy="13715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17" name="图片 16">
            <a:extLst>
              <a:ext uri="{FF2B5EF4-FFF2-40B4-BE49-F238E27FC236}">
                <a16:creationId xmlns:a16="http://schemas.microsoft.com/office/drawing/2014/main" id="{E5876A86-41C0-1F7B-E642-7049BB3BC3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3800" y="5539150"/>
            <a:ext cx="817200" cy="817200"/>
          </a:xfrm>
          <a:prstGeom prst="rect">
            <a:avLst/>
          </a:prstGeom>
        </p:spPr>
      </p:pic>
      <p:sp>
        <p:nvSpPr>
          <p:cNvPr id="18" name="文本框 17">
            <a:extLst>
              <a:ext uri="{FF2B5EF4-FFF2-40B4-BE49-F238E27FC236}">
                <a16:creationId xmlns:a16="http://schemas.microsoft.com/office/drawing/2014/main" id="{16FD1E99-AF88-0BC0-D365-945ED4051D79}"/>
              </a:ext>
            </a:extLst>
          </p:cNvPr>
          <p:cNvSpPr txBox="1"/>
          <p:nvPr userDrawn="1"/>
        </p:nvSpPr>
        <p:spPr>
          <a:xfrm>
            <a:off x="10711051" y="658954"/>
            <a:ext cx="1386662" cy="400110"/>
          </a:xfrm>
          <a:prstGeom prst="rect">
            <a:avLst/>
          </a:prstGeom>
          <a:noFill/>
        </p:spPr>
        <p:txBody>
          <a:bodyPr wrap="square" rtlCol="0">
            <a:spAutoFit/>
          </a:bodyPr>
          <a:lstStyle/>
          <a:p>
            <a:pPr algn="ctr"/>
            <a:r>
              <a:rPr lang="zh-CN" altLang="en-US" sz="2000" dirty="0">
                <a:solidFill>
                  <a:schemeClr val="tx1"/>
                </a:solidFill>
                <a:latin typeface="微软雅黑" pitchFamily="34" charset="-122"/>
                <a:ea typeface="微软雅黑" pitchFamily="34" charset="-122"/>
              </a:rPr>
              <a:t>绪论</a:t>
            </a:r>
          </a:p>
        </p:txBody>
      </p:sp>
      <p:sp>
        <p:nvSpPr>
          <p:cNvPr id="19" name="文本框 18">
            <a:extLst>
              <a:ext uri="{FF2B5EF4-FFF2-40B4-BE49-F238E27FC236}">
                <a16:creationId xmlns:a16="http://schemas.microsoft.com/office/drawing/2014/main" id="{B929BC98-995C-6BFF-DF2E-97695ABE0076}"/>
              </a:ext>
            </a:extLst>
          </p:cNvPr>
          <p:cNvSpPr txBox="1"/>
          <p:nvPr userDrawn="1"/>
        </p:nvSpPr>
        <p:spPr>
          <a:xfrm>
            <a:off x="10709069" y="1406228"/>
            <a:ext cx="1386662" cy="400110"/>
          </a:xfrm>
          <a:prstGeom prst="rect">
            <a:avLst/>
          </a:prstGeom>
          <a:noFill/>
        </p:spPr>
        <p:txBody>
          <a:bodyPr wrap="square" rtlCol="0">
            <a:spAutoFit/>
          </a:bodyPr>
          <a:lstStyle/>
          <a:p>
            <a:pPr algn="ctr"/>
            <a:r>
              <a:rPr lang="zh-CN" altLang="en-US" sz="2000" dirty="0">
                <a:solidFill>
                  <a:schemeClr val="bg1"/>
                </a:solidFill>
                <a:latin typeface="微软雅黑" pitchFamily="34" charset="-122"/>
                <a:ea typeface="微软雅黑" pitchFamily="34" charset="-122"/>
              </a:rPr>
              <a:t>总体设计</a:t>
            </a:r>
          </a:p>
        </p:txBody>
      </p:sp>
      <p:sp>
        <p:nvSpPr>
          <p:cNvPr id="20" name="文本框 19">
            <a:extLst>
              <a:ext uri="{FF2B5EF4-FFF2-40B4-BE49-F238E27FC236}">
                <a16:creationId xmlns:a16="http://schemas.microsoft.com/office/drawing/2014/main" id="{F9BB07D7-6D0F-BBFC-E9AE-6DD41D5F8346}"/>
              </a:ext>
            </a:extLst>
          </p:cNvPr>
          <p:cNvSpPr txBox="1"/>
          <p:nvPr userDrawn="1"/>
        </p:nvSpPr>
        <p:spPr>
          <a:xfrm>
            <a:off x="10709069" y="2149964"/>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运动原理</a:t>
            </a:r>
          </a:p>
        </p:txBody>
      </p:sp>
      <p:sp>
        <p:nvSpPr>
          <p:cNvPr id="21" name="文本框 20">
            <a:extLst>
              <a:ext uri="{FF2B5EF4-FFF2-40B4-BE49-F238E27FC236}">
                <a16:creationId xmlns:a16="http://schemas.microsoft.com/office/drawing/2014/main" id="{302825E4-6F14-2D82-D2C6-83BA44712C62}"/>
              </a:ext>
            </a:extLst>
          </p:cNvPr>
          <p:cNvSpPr txBox="1"/>
          <p:nvPr userDrawn="1"/>
        </p:nvSpPr>
        <p:spPr>
          <a:xfrm>
            <a:off x="10709069" y="289370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硬件设计</a:t>
            </a:r>
          </a:p>
        </p:txBody>
      </p:sp>
      <p:sp>
        <p:nvSpPr>
          <p:cNvPr id="22" name="文本框 21">
            <a:extLst>
              <a:ext uri="{FF2B5EF4-FFF2-40B4-BE49-F238E27FC236}">
                <a16:creationId xmlns:a16="http://schemas.microsoft.com/office/drawing/2014/main" id="{8CF7C76C-03AE-C06D-D030-D7E603244129}"/>
              </a:ext>
            </a:extLst>
          </p:cNvPr>
          <p:cNvSpPr txBox="1"/>
          <p:nvPr userDrawn="1"/>
        </p:nvSpPr>
        <p:spPr>
          <a:xfrm>
            <a:off x="10709069" y="363848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软件开发</a:t>
            </a:r>
          </a:p>
        </p:txBody>
      </p:sp>
      <p:sp>
        <p:nvSpPr>
          <p:cNvPr id="23" name="文本框 22">
            <a:extLst>
              <a:ext uri="{FF2B5EF4-FFF2-40B4-BE49-F238E27FC236}">
                <a16:creationId xmlns:a16="http://schemas.microsoft.com/office/drawing/2014/main" id="{ECE45A02-41B8-A17F-A60B-5C66E3F053E6}"/>
              </a:ext>
            </a:extLst>
          </p:cNvPr>
          <p:cNvSpPr txBox="1"/>
          <p:nvPr userDrawn="1"/>
        </p:nvSpPr>
        <p:spPr>
          <a:xfrm>
            <a:off x="10709069" y="433839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调试验证</a:t>
            </a:r>
          </a:p>
        </p:txBody>
      </p:sp>
      <p:sp>
        <p:nvSpPr>
          <p:cNvPr id="24" name="文本框 23">
            <a:extLst>
              <a:ext uri="{FF2B5EF4-FFF2-40B4-BE49-F238E27FC236}">
                <a16:creationId xmlns:a16="http://schemas.microsoft.com/office/drawing/2014/main" id="{1C703E42-E0FE-4557-4AC0-95CD6E16C2CB}"/>
              </a:ext>
            </a:extLst>
          </p:cNvPr>
          <p:cNvSpPr txBox="1"/>
          <p:nvPr userDrawn="1"/>
        </p:nvSpPr>
        <p:spPr>
          <a:xfrm>
            <a:off x="10709069" y="503750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结论展望</a:t>
            </a:r>
          </a:p>
        </p:txBody>
      </p:sp>
    </p:spTree>
  </p:cSld>
  <p:clrMapOvr>
    <a:masterClrMapping/>
  </p:clrMapOvr>
  <p:transition spd="slow" advClick="0" advTm="3000">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研究过程_需换右下角LOGO">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itchFamily="34" charset="-122"/>
                <a:ea typeface="微软雅黑"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9A0741C5-8F5C-4213-BB69-8C2D02590C1C}" type="datetimeFigureOut">
              <a:rPr lang="zh-CN" altLang="en-US" smtClean="0"/>
              <a:t>2024/12/3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chemeClr val="tx1">
                    <a:lumMod val="60000"/>
                    <a:lumOff val="40000"/>
                  </a:schemeClr>
                </a:solidFill>
                <a:latin typeface="+mn-lt"/>
              </a:defRPr>
            </a:lvl1pPr>
          </a:lstStyle>
          <a:p>
            <a:r>
              <a:rPr lang="en-US" altLang="zh-CN" dirty="0"/>
              <a:t>P</a:t>
            </a:r>
            <a:fld id="{38893EA9-123D-489F-8313-43A8A4AC4565}" type="slidenum">
              <a:rPr lang="zh-CN" altLang="en-US" dirty="0" smtClean="0"/>
              <a:t>‹#›</a:t>
            </a:fld>
            <a:endParaRPr lang="zh-CN" altLang="en-US" dirty="0"/>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矩形 7"/>
          <p:cNvSpPr/>
          <p:nvPr userDrawn="1"/>
        </p:nvSpPr>
        <p:spPr>
          <a:xfrm>
            <a:off x="10616765" y="0"/>
            <a:ext cx="15752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rot="16200000">
            <a:off x="10400553" y="2304122"/>
            <a:ext cx="295275" cy="13715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16" name="图片 15">
            <a:extLst>
              <a:ext uri="{FF2B5EF4-FFF2-40B4-BE49-F238E27FC236}">
                <a16:creationId xmlns:a16="http://schemas.microsoft.com/office/drawing/2014/main" id="{F00B00DB-B618-BE97-C238-C7864D78C2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3800" y="5539150"/>
            <a:ext cx="817200" cy="817200"/>
          </a:xfrm>
          <a:prstGeom prst="rect">
            <a:avLst/>
          </a:prstGeom>
        </p:spPr>
      </p:pic>
      <p:sp>
        <p:nvSpPr>
          <p:cNvPr id="17" name="文本框 16">
            <a:extLst>
              <a:ext uri="{FF2B5EF4-FFF2-40B4-BE49-F238E27FC236}">
                <a16:creationId xmlns:a16="http://schemas.microsoft.com/office/drawing/2014/main" id="{0C14DB16-55C5-E1D6-BC8B-6AB12F9594BA}"/>
              </a:ext>
            </a:extLst>
          </p:cNvPr>
          <p:cNvSpPr txBox="1"/>
          <p:nvPr userDrawn="1"/>
        </p:nvSpPr>
        <p:spPr>
          <a:xfrm>
            <a:off x="10711051" y="658954"/>
            <a:ext cx="1386662" cy="400110"/>
          </a:xfrm>
          <a:prstGeom prst="rect">
            <a:avLst/>
          </a:prstGeom>
          <a:noFill/>
        </p:spPr>
        <p:txBody>
          <a:bodyPr wrap="square" rtlCol="0">
            <a:spAutoFit/>
          </a:bodyPr>
          <a:lstStyle/>
          <a:p>
            <a:pPr algn="ctr"/>
            <a:r>
              <a:rPr lang="zh-CN" altLang="en-US" sz="2000" dirty="0">
                <a:solidFill>
                  <a:schemeClr val="tx1"/>
                </a:solidFill>
                <a:latin typeface="微软雅黑" pitchFamily="34" charset="-122"/>
                <a:ea typeface="微软雅黑" pitchFamily="34" charset="-122"/>
              </a:rPr>
              <a:t>绪论</a:t>
            </a:r>
          </a:p>
        </p:txBody>
      </p:sp>
      <p:sp>
        <p:nvSpPr>
          <p:cNvPr id="18" name="文本框 17">
            <a:extLst>
              <a:ext uri="{FF2B5EF4-FFF2-40B4-BE49-F238E27FC236}">
                <a16:creationId xmlns:a16="http://schemas.microsoft.com/office/drawing/2014/main" id="{046B7011-8737-A216-28C2-D50050F5842A}"/>
              </a:ext>
            </a:extLst>
          </p:cNvPr>
          <p:cNvSpPr txBox="1"/>
          <p:nvPr userDrawn="1"/>
        </p:nvSpPr>
        <p:spPr>
          <a:xfrm>
            <a:off x="10709069" y="1406228"/>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总体设计</a:t>
            </a:r>
          </a:p>
        </p:txBody>
      </p:sp>
      <p:sp>
        <p:nvSpPr>
          <p:cNvPr id="19" name="文本框 18">
            <a:extLst>
              <a:ext uri="{FF2B5EF4-FFF2-40B4-BE49-F238E27FC236}">
                <a16:creationId xmlns:a16="http://schemas.microsoft.com/office/drawing/2014/main" id="{25166767-A8CB-E0A6-85E4-85A613208482}"/>
              </a:ext>
            </a:extLst>
          </p:cNvPr>
          <p:cNvSpPr txBox="1"/>
          <p:nvPr userDrawn="1"/>
        </p:nvSpPr>
        <p:spPr>
          <a:xfrm>
            <a:off x="10709069" y="2149964"/>
            <a:ext cx="1386662" cy="400110"/>
          </a:xfrm>
          <a:prstGeom prst="rect">
            <a:avLst/>
          </a:prstGeom>
          <a:noFill/>
        </p:spPr>
        <p:txBody>
          <a:bodyPr wrap="square" rtlCol="0">
            <a:spAutoFit/>
          </a:bodyPr>
          <a:lstStyle/>
          <a:p>
            <a:pPr algn="ctr"/>
            <a:r>
              <a:rPr lang="zh-CN" altLang="en-US" sz="2000" dirty="0">
                <a:solidFill>
                  <a:schemeClr val="bg1"/>
                </a:solidFill>
                <a:latin typeface="微软雅黑" pitchFamily="34" charset="-122"/>
                <a:ea typeface="微软雅黑" pitchFamily="34" charset="-122"/>
              </a:rPr>
              <a:t>运动原理</a:t>
            </a:r>
          </a:p>
        </p:txBody>
      </p:sp>
      <p:sp>
        <p:nvSpPr>
          <p:cNvPr id="20" name="文本框 19">
            <a:extLst>
              <a:ext uri="{FF2B5EF4-FFF2-40B4-BE49-F238E27FC236}">
                <a16:creationId xmlns:a16="http://schemas.microsoft.com/office/drawing/2014/main" id="{D34F65C6-5B33-B940-56E1-B3B09AB4958E}"/>
              </a:ext>
            </a:extLst>
          </p:cNvPr>
          <p:cNvSpPr txBox="1"/>
          <p:nvPr userDrawn="1"/>
        </p:nvSpPr>
        <p:spPr>
          <a:xfrm>
            <a:off x="10709069" y="289370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硬件设计</a:t>
            </a:r>
          </a:p>
        </p:txBody>
      </p:sp>
      <p:sp>
        <p:nvSpPr>
          <p:cNvPr id="21" name="文本框 20">
            <a:extLst>
              <a:ext uri="{FF2B5EF4-FFF2-40B4-BE49-F238E27FC236}">
                <a16:creationId xmlns:a16="http://schemas.microsoft.com/office/drawing/2014/main" id="{D6FA5627-9A3D-5221-8035-67828336D6F7}"/>
              </a:ext>
            </a:extLst>
          </p:cNvPr>
          <p:cNvSpPr txBox="1"/>
          <p:nvPr userDrawn="1"/>
        </p:nvSpPr>
        <p:spPr>
          <a:xfrm>
            <a:off x="10709069" y="363848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软件开发</a:t>
            </a:r>
          </a:p>
        </p:txBody>
      </p:sp>
      <p:sp>
        <p:nvSpPr>
          <p:cNvPr id="22" name="文本框 21">
            <a:extLst>
              <a:ext uri="{FF2B5EF4-FFF2-40B4-BE49-F238E27FC236}">
                <a16:creationId xmlns:a16="http://schemas.microsoft.com/office/drawing/2014/main" id="{0BCE9A65-5B95-D49B-EA40-186AD847BCB3}"/>
              </a:ext>
            </a:extLst>
          </p:cNvPr>
          <p:cNvSpPr txBox="1"/>
          <p:nvPr userDrawn="1"/>
        </p:nvSpPr>
        <p:spPr>
          <a:xfrm>
            <a:off x="10709069" y="433839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调试验证</a:t>
            </a:r>
          </a:p>
        </p:txBody>
      </p:sp>
      <p:sp>
        <p:nvSpPr>
          <p:cNvPr id="23" name="文本框 22">
            <a:extLst>
              <a:ext uri="{FF2B5EF4-FFF2-40B4-BE49-F238E27FC236}">
                <a16:creationId xmlns:a16="http://schemas.microsoft.com/office/drawing/2014/main" id="{70BD46D3-4929-C908-0830-28AE84712139}"/>
              </a:ext>
            </a:extLst>
          </p:cNvPr>
          <p:cNvSpPr txBox="1"/>
          <p:nvPr userDrawn="1"/>
        </p:nvSpPr>
        <p:spPr>
          <a:xfrm>
            <a:off x="10709069" y="503750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结论展望</a:t>
            </a:r>
          </a:p>
        </p:txBody>
      </p:sp>
    </p:spTree>
  </p:cSld>
  <p:clrMapOvr>
    <a:masterClrMapping/>
  </p:clrMapOvr>
  <p:transition spd="slow" advClick="0" advTm="3000">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研究成果_需换右下角LOGO">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itchFamily="34" charset="-122"/>
                <a:ea typeface="微软雅黑"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9A0741C5-8F5C-4213-BB69-8C2D02590C1C}" type="datetimeFigureOut">
              <a:rPr lang="zh-CN" altLang="en-US" smtClean="0"/>
              <a:t>2024/12/3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chemeClr val="tx1">
                    <a:lumMod val="60000"/>
                    <a:lumOff val="40000"/>
                  </a:schemeClr>
                </a:solidFill>
                <a:latin typeface="+mn-lt"/>
              </a:defRPr>
            </a:lvl1pPr>
          </a:lstStyle>
          <a:p>
            <a:r>
              <a:rPr lang="en-US" altLang="zh-CN" dirty="0"/>
              <a:t>P</a:t>
            </a:r>
            <a:fld id="{38893EA9-123D-489F-8313-43A8A4AC4565}" type="slidenum">
              <a:rPr lang="zh-CN" altLang="en-US" dirty="0" smtClean="0"/>
              <a:t>‹#›</a:t>
            </a:fld>
            <a:endParaRPr lang="zh-CN" altLang="en-US" dirty="0"/>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矩形 7"/>
          <p:cNvSpPr/>
          <p:nvPr userDrawn="1"/>
        </p:nvSpPr>
        <p:spPr>
          <a:xfrm>
            <a:off x="10616765" y="0"/>
            <a:ext cx="15752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rot="16200000">
            <a:off x="10400553" y="3037149"/>
            <a:ext cx="295275" cy="13715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16" name="图片 15">
            <a:extLst>
              <a:ext uri="{FF2B5EF4-FFF2-40B4-BE49-F238E27FC236}">
                <a16:creationId xmlns:a16="http://schemas.microsoft.com/office/drawing/2014/main" id="{C464A63C-2F0D-B9D4-0B18-0633ED9487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3800" y="5539150"/>
            <a:ext cx="817200" cy="817200"/>
          </a:xfrm>
          <a:prstGeom prst="rect">
            <a:avLst/>
          </a:prstGeom>
        </p:spPr>
      </p:pic>
      <p:sp>
        <p:nvSpPr>
          <p:cNvPr id="17" name="文本框 16">
            <a:extLst>
              <a:ext uri="{FF2B5EF4-FFF2-40B4-BE49-F238E27FC236}">
                <a16:creationId xmlns:a16="http://schemas.microsoft.com/office/drawing/2014/main" id="{C7A247DE-238D-09CA-E06C-BCF782CBADA1}"/>
              </a:ext>
            </a:extLst>
          </p:cNvPr>
          <p:cNvSpPr txBox="1"/>
          <p:nvPr userDrawn="1"/>
        </p:nvSpPr>
        <p:spPr>
          <a:xfrm>
            <a:off x="10711051" y="658954"/>
            <a:ext cx="1386662" cy="400110"/>
          </a:xfrm>
          <a:prstGeom prst="rect">
            <a:avLst/>
          </a:prstGeom>
          <a:noFill/>
        </p:spPr>
        <p:txBody>
          <a:bodyPr wrap="square" rtlCol="0">
            <a:spAutoFit/>
          </a:bodyPr>
          <a:lstStyle/>
          <a:p>
            <a:pPr algn="ctr"/>
            <a:r>
              <a:rPr lang="zh-CN" altLang="en-US" sz="2000" dirty="0">
                <a:solidFill>
                  <a:schemeClr val="tx1"/>
                </a:solidFill>
                <a:latin typeface="微软雅黑" pitchFamily="34" charset="-122"/>
                <a:ea typeface="微软雅黑" pitchFamily="34" charset="-122"/>
              </a:rPr>
              <a:t>绪论</a:t>
            </a:r>
          </a:p>
        </p:txBody>
      </p:sp>
      <p:sp>
        <p:nvSpPr>
          <p:cNvPr id="18" name="文本框 17">
            <a:extLst>
              <a:ext uri="{FF2B5EF4-FFF2-40B4-BE49-F238E27FC236}">
                <a16:creationId xmlns:a16="http://schemas.microsoft.com/office/drawing/2014/main" id="{C2CB8D8F-A4B4-5C89-3105-EC8A131961AC}"/>
              </a:ext>
            </a:extLst>
          </p:cNvPr>
          <p:cNvSpPr txBox="1"/>
          <p:nvPr userDrawn="1"/>
        </p:nvSpPr>
        <p:spPr>
          <a:xfrm>
            <a:off x="10709069" y="1406228"/>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总体设计</a:t>
            </a:r>
          </a:p>
        </p:txBody>
      </p:sp>
      <p:sp>
        <p:nvSpPr>
          <p:cNvPr id="19" name="文本框 18">
            <a:extLst>
              <a:ext uri="{FF2B5EF4-FFF2-40B4-BE49-F238E27FC236}">
                <a16:creationId xmlns:a16="http://schemas.microsoft.com/office/drawing/2014/main" id="{3E5BAF78-ED43-D503-142E-22E7AAC2EF2E}"/>
              </a:ext>
            </a:extLst>
          </p:cNvPr>
          <p:cNvSpPr txBox="1"/>
          <p:nvPr userDrawn="1"/>
        </p:nvSpPr>
        <p:spPr>
          <a:xfrm>
            <a:off x="10709069" y="2149964"/>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运动原理</a:t>
            </a:r>
          </a:p>
        </p:txBody>
      </p:sp>
      <p:sp>
        <p:nvSpPr>
          <p:cNvPr id="20" name="文本框 19">
            <a:extLst>
              <a:ext uri="{FF2B5EF4-FFF2-40B4-BE49-F238E27FC236}">
                <a16:creationId xmlns:a16="http://schemas.microsoft.com/office/drawing/2014/main" id="{E1B8A69C-BC2F-A25A-C52C-AA02F41D6BD5}"/>
              </a:ext>
            </a:extLst>
          </p:cNvPr>
          <p:cNvSpPr txBox="1"/>
          <p:nvPr userDrawn="1"/>
        </p:nvSpPr>
        <p:spPr>
          <a:xfrm>
            <a:off x="10709069" y="2893700"/>
            <a:ext cx="1386662" cy="400110"/>
          </a:xfrm>
          <a:prstGeom prst="rect">
            <a:avLst/>
          </a:prstGeom>
          <a:noFill/>
        </p:spPr>
        <p:txBody>
          <a:bodyPr wrap="square" rtlCol="0">
            <a:spAutoFit/>
          </a:bodyPr>
          <a:lstStyle/>
          <a:p>
            <a:pPr algn="ctr"/>
            <a:r>
              <a:rPr lang="zh-CN" altLang="en-US" sz="2000" dirty="0">
                <a:solidFill>
                  <a:schemeClr val="bg1"/>
                </a:solidFill>
                <a:latin typeface="微软雅黑" pitchFamily="34" charset="-122"/>
                <a:ea typeface="微软雅黑" pitchFamily="34" charset="-122"/>
              </a:rPr>
              <a:t>硬件设计</a:t>
            </a:r>
          </a:p>
        </p:txBody>
      </p:sp>
      <p:sp>
        <p:nvSpPr>
          <p:cNvPr id="21" name="文本框 20">
            <a:extLst>
              <a:ext uri="{FF2B5EF4-FFF2-40B4-BE49-F238E27FC236}">
                <a16:creationId xmlns:a16="http://schemas.microsoft.com/office/drawing/2014/main" id="{6941CC5C-CBF5-D065-EEE0-E83E807D5369}"/>
              </a:ext>
            </a:extLst>
          </p:cNvPr>
          <p:cNvSpPr txBox="1"/>
          <p:nvPr userDrawn="1"/>
        </p:nvSpPr>
        <p:spPr>
          <a:xfrm>
            <a:off x="10709069" y="363848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软件开发</a:t>
            </a:r>
          </a:p>
        </p:txBody>
      </p:sp>
      <p:sp>
        <p:nvSpPr>
          <p:cNvPr id="22" name="文本框 21">
            <a:extLst>
              <a:ext uri="{FF2B5EF4-FFF2-40B4-BE49-F238E27FC236}">
                <a16:creationId xmlns:a16="http://schemas.microsoft.com/office/drawing/2014/main" id="{377F6865-9C2E-BC92-378C-F59727365701}"/>
              </a:ext>
            </a:extLst>
          </p:cNvPr>
          <p:cNvSpPr txBox="1"/>
          <p:nvPr userDrawn="1"/>
        </p:nvSpPr>
        <p:spPr>
          <a:xfrm>
            <a:off x="10709069" y="433839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调试验证</a:t>
            </a:r>
          </a:p>
        </p:txBody>
      </p:sp>
      <p:sp>
        <p:nvSpPr>
          <p:cNvPr id="23" name="文本框 22">
            <a:extLst>
              <a:ext uri="{FF2B5EF4-FFF2-40B4-BE49-F238E27FC236}">
                <a16:creationId xmlns:a16="http://schemas.microsoft.com/office/drawing/2014/main" id="{D8297EB4-5FD9-F968-99DC-ACCD1CAA5B92}"/>
              </a:ext>
            </a:extLst>
          </p:cNvPr>
          <p:cNvSpPr txBox="1"/>
          <p:nvPr userDrawn="1"/>
        </p:nvSpPr>
        <p:spPr>
          <a:xfrm>
            <a:off x="10709069" y="503750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结论展望</a:t>
            </a:r>
          </a:p>
        </p:txBody>
      </p:sp>
    </p:spTree>
  </p:cSld>
  <p:clrMapOvr>
    <a:masterClrMapping/>
  </p:clrMapOvr>
  <p:transition spd="slow" advClick="0" advTm="3000">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结论建议_需换右下角LOGO">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itchFamily="34" charset="-122"/>
                <a:ea typeface="微软雅黑"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9A0741C5-8F5C-4213-BB69-8C2D02590C1C}" type="datetimeFigureOut">
              <a:rPr lang="zh-CN" altLang="en-US" smtClean="0"/>
              <a:t>2024/12/3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chemeClr val="tx1">
                    <a:lumMod val="60000"/>
                    <a:lumOff val="40000"/>
                  </a:schemeClr>
                </a:solidFill>
                <a:latin typeface="+mn-lt"/>
              </a:defRPr>
            </a:lvl1pPr>
          </a:lstStyle>
          <a:p>
            <a:r>
              <a:rPr lang="en-US" altLang="zh-CN" dirty="0"/>
              <a:t>P</a:t>
            </a:r>
            <a:fld id="{38893EA9-123D-489F-8313-43A8A4AC4565}" type="slidenum">
              <a:rPr lang="zh-CN" altLang="en-US" dirty="0" smtClean="0"/>
              <a:t>‹#›</a:t>
            </a:fld>
            <a:endParaRPr lang="zh-CN" altLang="en-US" dirty="0"/>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矩形 7"/>
          <p:cNvSpPr/>
          <p:nvPr userDrawn="1"/>
        </p:nvSpPr>
        <p:spPr>
          <a:xfrm>
            <a:off x="10616765" y="0"/>
            <a:ext cx="15752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rot="16200000">
            <a:off x="10400553" y="3791703"/>
            <a:ext cx="295275" cy="13715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17" name="图片 16">
            <a:extLst>
              <a:ext uri="{FF2B5EF4-FFF2-40B4-BE49-F238E27FC236}">
                <a16:creationId xmlns:a16="http://schemas.microsoft.com/office/drawing/2014/main" id="{46798DFA-3D30-428C-CD4F-FD8D98947F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3800" y="5539150"/>
            <a:ext cx="817200" cy="817200"/>
          </a:xfrm>
          <a:prstGeom prst="rect">
            <a:avLst/>
          </a:prstGeom>
        </p:spPr>
      </p:pic>
      <p:sp>
        <p:nvSpPr>
          <p:cNvPr id="18" name="文本框 17">
            <a:extLst>
              <a:ext uri="{FF2B5EF4-FFF2-40B4-BE49-F238E27FC236}">
                <a16:creationId xmlns:a16="http://schemas.microsoft.com/office/drawing/2014/main" id="{141C1228-DE65-5AF5-FB57-8F719241E920}"/>
              </a:ext>
            </a:extLst>
          </p:cNvPr>
          <p:cNvSpPr txBox="1"/>
          <p:nvPr userDrawn="1"/>
        </p:nvSpPr>
        <p:spPr>
          <a:xfrm>
            <a:off x="10711051" y="658954"/>
            <a:ext cx="1386662" cy="400110"/>
          </a:xfrm>
          <a:prstGeom prst="rect">
            <a:avLst/>
          </a:prstGeom>
          <a:noFill/>
        </p:spPr>
        <p:txBody>
          <a:bodyPr wrap="square" rtlCol="0">
            <a:spAutoFit/>
          </a:bodyPr>
          <a:lstStyle/>
          <a:p>
            <a:pPr algn="ctr"/>
            <a:r>
              <a:rPr lang="zh-CN" altLang="en-US" sz="2000" dirty="0">
                <a:solidFill>
                  <a:schemeClr val="tx1"/>
                </a:solidFill>
                <a:latin typeface="微软雅黑" pitchFamily="34" charset="-122"/>
                <a:ea typeface="微软雅黑" pitchFamily="34" charset="-122"/>
              </a:rPr>
              <a:t>绪论</a:t>
            </a:r>
          </a:p>
        </p:txBody>
      </p:sp>
      <p:sp>
        <p:nvSpPr>
          <p:cNvPr id="19" name="文本框 18">
            <a:extLst>
              <a:ext uri="{FF2B5EF4-FFF2-40B4-BE49-F238E27FC236}">
                <a16:creationId xmlns:a16="http://schemas.microsoft.com/office/drawing/2014/main" id="{C1B235F1-50D9-7AD3-EED5-36E96CBC4F40}"/>
              </a:ext>
            </a:extLst>
          </p:cNvPr>
          <p:cNvSpPr txBox="1"/>
          <p:nvPr userDrawn="1"/>
        </p:nvSpPr>
        <p:spPr>
          <a:xfrm>
            <a:off x="10709069" y="1406228"/>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总体设计</a:t>
            </a:r>
          </a:p>
        </p:txBody>
      </p:sp>
      <p:sp>
        <p:nvSpPr>
          <p:cNvPr id="20" name="文本框 19">
            <a:extLst>
              <a:ext uri="{FF2B5EF4-FFF2-40B4-BE49-F238E27FC236}">
                <a16:creationId xmlns:a16="http://schemas.microsoft.com/office/drawing/2014/main" id="{EEE64F52-F808-4EB7-D0E2-CD5056596EAE}"/>
              </a:ext>
            </a:extLst>
          </p:cNvPr>
          <p:cNvSpPr txBox="1"/>
          <p:nvPr userDrawn="1"/>
        </p:nvSpPr>
        <p:spPr>
          <a:xfrm>
            <a:off x="10709069" y="2149964"/>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运动原理</a:t>
            </a:r>
          </a:p>
        </p:txBody>
      </p:sp>
      <p:sp>
        <p:nvSpPr>
          <p:cNvPr id="21" name="文本框 20">
            <a:extLst>
              <a:ext uri="{FF2B5EF4-FFF2-40B4-BE49-F238E27FC236}">
                <a16:creationId xmlns:a16="http://schemas.microsoft.com/office/drawing/2014/main" id="{D63E9CD4-5094-1139-B3F0-02A67BA6BA67}"/>
              </a:ext>
            </a:extLst>
          </p:cNvPr>
          <p:cNvSpPr txBox="1"/>
          <p:nvPr userDrawn="1"/>
        </p:nvSpPr>
        <p:spPr>
          <a:xfrm>
            <a:off x="10709069" y="289370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硬件设计</a:t>
            </a:r>
          </a:p>
        </p:txBody>
      </p:sp>
      <p:sp>
        <p:nvSpPr>
          <p:cNvPr id="22" name="文本框 21">
            <a:extLst>
              <a:ext uri="{FF2B5EF4-FFF2-40B4-BE49-F238E27FC236}">
                <a16:creationId xmlns:a16="http://schemas.microsoft.com/office/drawing/2014/main" id="{DB9B116C-4D1F-2F4A-9B3A-0726F5CDFABA}"/>
              </a:ext>
            </a:extLst>
          </p:cNvPr>
          <p:cNvSpPr txBox="1"/>
          <p:nvPr userDrawn="1"/>
        </p:nvSpPr>
        <p:spPr>
          <a:xfrm>
            <a:off x="10709069" y="3638480"/>
            <a:ext cx="1386662" cy="400110"/>
          </a:xfrm>
          <a:prstGeom prst="rect">
            <a:avLst/>
          </a:prstGeom>
          <a:noFill/>
        </p:spPr>
        <p:txBody>
          <a:bodyPr wrap="square" rtlCol="0">
            <a:spAutoFit/>
          </a:bodyPr>
          <a:lstStyle/>
          <a:p>
            <a:pPr algn="ctr"/>
            <a:r>
              <a:rPr lang="zh-CN" altLang="en-US" sz="2000" dirty="0">
                <a:solidFill>
                  <a:schemeClr val="bg1"/>
                </a:solidFill>
                <a:latin typeface="微软雅黑" pitchFamily="34" charset="-122"/>
                <a:ea typeface="微软雅黑" pitchFamily="34" charset="-122"/>
              </a:rPr>
              <a:t>软件开发</a:t>
            </a:r>
          </a:p>
        </p:txBody>
      </p:sp>
      <p:sp>
        <p:nvSpPr>
          <p:cNvPr id="23" name="文本框 22">
            <a:extLst>
              <a:ext uri="{FF2B5EF4-FFF2-40B4-BE49-F238E27FC236}">
                <a16:creationId xmlns:a16="http://schemas.microsoft.com/office/drawing/2014/main" id="{E5FEBD75-D8A7-F80A-5A7E-39FC01906F7F}"/>
              </a:ext>
            </a:extLst>
          </p:cNvPr>
          <p:cNvSpPr txBox="1"/>
          <p:nvPr userDrawn="1"/>
        </p:nvSpPr>
        <p:spPr>
          <a:xfrm>
            <a:off x="10709069" y="433839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调试验证</a:t>
            </a:r>
          </a:p>
        </p:txBody>
      </p:sp>
      <p:sp>
        <p:nvSpPr>
          <p:cNvPr id="24" name="文本框 23">
            <a:extLst>
              <a:ext uri="{FF2B5EF4-FFF2-40B4-BE49-F238E27FC236}">
                <a16:creationId xmlns:a16="http://schemas.microsoft.com/office/drawing/2014/main" id="{924F717D-83B8-AD0D-674B-3C9328034660}"/>
              </a:ext>
            </a:extLst>
          </p:cNvPr>
          <p:cNvSpPr txBox="1"/>
          <p:nvPr userDrawn="1"/>
        </p:nvSpPr>
        <p:spPr>
          <a:xfrm>
            <a:off x="10709069" y="503750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结论展望</a:t>
            </a:r>
          </a:p>
        </p:txBody>
      </p:sp>
    </p:spTree>
  </p:cSld>
  <p:clrMapOvr>
    <a:masterClrMapping/>
  </p:clrMapOvr>
  <p:transition spd="slow" advClick="0" advTm="300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内容版式_右下角通用LOGO">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itchFamily="34" charset="-122"/>
                <a:ea typeface="微软雅黑"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9A0741C5-8F5C-4213-BB69-8C2D02590C1C}" type="datetimeFigureOut">
              <a:rPr lang="zh-CN" altLang="en-US" smtClean="0"/>
              <a:t>2024/12/3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chemeClr val="tx1">
                    <a:lumMod val="60000"/>
                    <a:lumOff val="40000"/>
                  </a:schemeClr>
                </a:solidFill>
                <a:latin typeface="+mn-lt"/>
              </a:defRPr>
            </a:lvl1pPr>
          </a:lstStyle>
          <a:p>
            <a:r>
              <a:rPr lang="en-US" altLang="zh-CN" dirty="0"/>
              <a:t>P</a:t>
            </a:r>
            <a:fld id="{38893EA9-123D-489F-8313-43A8A4AC4565}" type="slidenum">
              <a:rPr lang="zh-CN" altLang="en-US" dirty="0" smtClean="0"/>
              <a:t>‹#›</a:t>
            </a:fld>
            <a:endParaRPr lang="zh-CN" altLang="en-US" dirty="0"/>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矩形 7"/>
          <p:cNvSpPr/>
          <p:nvPr userDrawn="1"/>
        </p:nvSpPr>
        <p:spPr>
          <a:xfrm>
            <a:off x="10616765" y="0"/>
            <a:ext cx="15752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932C88B1-0F8B-138E-306C-31C5404B839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3800" y="5539150"/>
            <a:ext cx="817200" cy="817200"/>
          </a:xfrm>
          <a:prstGeom prst="rect">
            <a:avLst/>
          </a:prstGeom>
        </p:spPr>
      </p:pic>
      <p:sp>
        <p:nvSpPr>
          <p:cNvPr id="15" name="文本框 14">
            <a:extLst>
              <a:ext uri="{FF2B5EF4-FFF2-40B4-BE49-F238E27FC236}">
                <a16:creationId xmlns:a16="http://schemas.microsoft.com/office/drawing/2014/main" id="{A3F1A40C-0628-0FD9-6CEB-C527A285DCA1}"/>
              </a:ext>
            </a:extLst>
          </p:cNvPr>
          <p:cNvSpPr txBox="1"/>
          <p:nvPr userDrawn="1"/>
        </p:nvSpPr>
        <p:spPr>
          <a:xfrm>
            <a:off x="10711051" y="658954"/>
            <a:ext cx="1386662" cy="400110"/>
          </a:xfrm>
          <a:prstGeom prst="rect">
            <a:avLst/>
          </a:prstGeom>
          <a:noFill/>
        </p:spPr>
        <p:txBody>
          <a:bodyPr wrap="square" rtlCol="0">
            <a:spAutoFit/>
          </a:bodyPr>
          <a:lstStyle/>
          <a:p>
            <a:pPr algn="ctr"/>
            <a:r>
              <a:rPr lang="zh-CN" altLang="en-US" sz="2000" dirty="0">
                <a:solidFill>
                  <a:schemeClr val="tx1"/>
                </a:solidFill>
                <a:latin typeface="微软雅黑" pitchFamily="34" charset="-122"/>
                <a:ea typeface="微软雅黑" pitchFamily="34" charset="-122"/>
              </a:rPr>
              <a:t>绪论</a:t>
            </a:r>
          </a:p>
        </p:txBody>
      </p:sp>
      <p:sp>
        <p:nvSpPr>
          <p:cNvPr id="16" name="文本框 15">
            <a:extLst>
              <a:ext uri="{FF2B5EF4-FFF2-40B4-BE49-F238E27FC236}">
                <a16:creationId xmlns:a16="http://schemas.microsoft.com/office/drawing/2014/main" id="{E0F3FB71-044C-B62B-D934-4BA3492D532D}"/>
              </a:ext>
            </a:extLst>
          </p:cNvPr>
          <p:cNvSpPr txBox="1"/>
          <p:nvPr userDrawn="1"/>
        </p:nvSpPr>
        <p:spPr>
          <a:xfrm>
            <a:off x="10709069" y="1406228"/>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总体设计</a:t>
            </a:r>
          </a:p>
        </p:txBody>
      </p:sp>
      <p:sp>
        <p:nvSpPr>
          <p:cNvPr id="17" name="文本框 16">
            <a:extLst>
              <a:ext uri="{FF2B5EF4-FFF2-40B4-BE49-F238E27FC236}">
                <a16:creationId xmlns:a16="http://schemas.microsoft.com/office/drawing/2014/main" id="{E9ADD928-7569-A609-6D5D-013409E0C364}"/>
              </a:ext>
            </a:extLst>
          </p:cNvPr>
          <p:cNvSpPr txBox="1"/>
          <p:nvPr userDrawn="1"/>
        </p:nvSpPr>
        <p:spPr>
          <a:xfrm>
            <a:off x="10709069" y="2149964"/>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运动原理</a:t>
            </a:r>
          </a:p>
        </p:txBody>
      </p:sp>
      <p:sp>
        <p:nvSpPr>
          <p:cNvPr id="18" name="文本框 17">
            <a:extLst>
              <a:ext uri="{FF2B5EF4-FFF2-40B4-BE49-F238E27FC236}">
                <a16:creationId xmlns:a16="http://schemas.microsoft.com/office/drawing/2014/main" id="{01AD8A7F-1580-D556-779F-4D9796005CDB}"/>
              </a:ext>
            </a:extLst>
          </p:cNvPr>
          <p:cNvSpPr txBox="1"/>
          <p:nvPr userDrawn="1"/>
        </p:nvSpPr>
        <p:spPr>
          <a:xfrm>
            <a:off x="10709069" y="289370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硬件设计</a:t>
            </a:r>
          </a:p>
        </p:txBody>
      </p:sp>
      <p:sp>
        <p:nvSpPr>
          <p:cNvPr id="19" name="文本框 18">
            <a:extLst>
              <a:ext uri="{FF2B5EF4-FFF2-40B4-BE49-F238E27FC236}">
                <a16:creationId xmlns:a16="http://schemas.microsoft.com/office/drawing/2014/main" id="{689A772D-7BF4-7EB5-1CCA-3E6167777465}"/>
              </a:ext>
            </a:extLst>
          </p:cNvPr>
          <p:cNvSpPr txBox="1"/>
          <p:nvPr userDrawn="1"/>
        </p:nvSpPr>
        <p:spPr>
          <a:xfrm>
            <a:off x="10709069" y="363848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软件开发</a:t>
            </a:r>
          </a:p>
        </p:txBody>
      </p:sp>
      <p:sp>
        <p:nvSpPr>
          <p:cNvPr id="20" name="文本框 19">
            <a:extLst>
              <a:ext uri="{FF2B5EF4-FFF2-40B4-BE49-F238E27FC236}">
                <a16:creationId xmlns:a16="http://schemas.microsoft.com/office/drawing/2014/main" id="{6CB95C3D-0EB0-6BDC-D675-CB9655B31EE5}"/>
              </a:ext>
            </a:extLst>
          </p:cNvPr>
          <p:cNvSpPr txBox="1"/>
          <p:nvPr userDrawn="1"/>
        </p:nvSpPr>
        <p:spPr>
          <a:xfrm>
            <a:off x="10709069" y="4338390"/>
            <a:ext cx="1386662" cy="400110"/>
          </a:xfrm>
          <a:prstGeom prst="rect">
            <a:avLst/>
          </a:prstGeom>
          <a:noFill/>
        </p:spPr>
        <p:txBody>
          <a:bodyPr wrap="square" rtlCol="0">
            <a:spAutoFit/>
          </a:bodyPr>
          <a:lstStyle/>
          <a:p>
            <a:pPr algn="ctr"/>
            <a:r>
              <a:rPr lang="zh-CN" altLang="en-US" sz="2000" dirty="0">
                <a:solidFill>
                  <a:schemeClr val="bg1"/>
                </a:solidFill>
                <a:latin typeface="微软雅黑" pitchFamily="34" charset="-122"/>
                <a:ea typeface="微软雅黑" pitchFamily="34" charset="-122"/>
              </a:rPr>
              <a:t>调试验证</a:t>
            </a:r>
          </a:p>
        </p:txBody>
      </p:sp>
      <p:sp>
        <p:nvSpPr>
          <p:cNvPr id="21" name="文本框 20">
            <a:extLst>
              <a:ext uri="{FF2B5EF4-FFF2-40B4-BE49-F238E27FC236}">
                <a16:creationId xmlns:a16="http://schemas.microsoft.com/office/drawing/2014/main" id="{BDDCA93E-4FE1-570E-23EB-241C9D8B21A2}"/>
              </a:ext>
            </a:extLst>
          </p:cNvPr>
          <p:cNvSpPr txBox="1"/>
          <p:nvPr userDrawn="1"/>
        </p:nvSpPr>
        <p:spPr>
          <a:xfrm>
            <a:off x="10709069" y="503750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结论展望</a:t>
            </a:r>
          </a:p>
        </p:txBody>
      </p:sp>
      <p:sp>
        <p:nvSpPr>
          <p:cNvPr id="22" name="等腰三角形 21">
            <a:extLst>
              <a:ext uri="{FF2B5EF4-FFF2-40B4-BE49-F238E27FC236}">
                <a16:creationId xmlns:a16="http://schemas.microsoft.com/office/drawing/2014/main" id="{571063AA-5DDD-E257-A806-BE4ECD2082A0}"/>
              </a:ext>
            </a:extLst>
          </p:cNvPr>
          <p:cNvSpPr/>
          <p:nvPr userDrawn="1"/>
        </p:nvSpPr>
        <p:spPr>
          <a:xfrm rot="16200000">
            <a:off x="10400553" y="4477503"/>
            <a:ext cx="295275" cy="13715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transition spd="slow" advClick="0" advTm="300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内容版式_右下角通用LOGO">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itchFamily="34" charset="-122"/>
                <a:ea typeface="微软雅黑"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9A0741C5-8F5C-4213-BB69-8C2D02590C1C}" type="datetimeFigureOut">
              <a:rPr lang="zh-CN" altLang="en-US" smtClean="0"/>
              <a:t>2024/12/3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chemeClr val="tx1">
                    <a:lumMod val="60000"/>
                    <a:lumOff val="40000"/>
                  </a:schemeClr>
                </a:solidFill>
                <a:latin typeface="+mn-lt"/>
              </a:defRPr>
            </a:lvl1pPr>
          </a:lstStyle>
          <a:p>
            <a:r>
              <a:rPr lang="en-US" altLang="zh-CN" dirty="0"/>
              <a:t>P</a:t>
            </a:r>
            <a:fld id="{38893EA9-123D-489F-8313-43A8A4AC4565}" type="slidenum">
              <a:rPr lang="zh-CN" altLang="en-US" dirty="0" smtClean="0"/>
              <a:t>‹#›</a:t>
            </a:fld>
            <a:endParaRPr lang="zh-CN" altLang="en-US" dirty="0"/>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矩形 7"/>
          <p:cNvSpPr/>
          <p:nvPr userDrawn="1"/>
        </p:nvSpPr>
        <p:spPr>
          <a:xfrm>
            <a:off x="10616765" y="0"/>
            <a:ext cx="15752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932C88B1-0F8B-138E-306C-31C5404B839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3800" y="5539150"/>
            <a:ext cx="817200" cy="817200"/>
          </a:xfrm>
          <a:prstGeom prst="rect">
            <a:avLst/>
          </a:prstGeom>
        </p:spPr>
      </p:pic>
      <p:sp>
        <p:nvSpPr>
          <p:cNvPr id="15" name="文本框 14">
            <a:extLst>
              <a:ext uri="{FF2B5EF4-FFF2-40B4-BE49-F238E27FC236}">
                <a16:creationId xmlns:a16="http://schemas.microsoft.com/office/drawing/2014/main" id="{A3F1A40C-0628-0FD9-6CEB-C527A285DCA1}"/>
              </a:ext>
            </a:extLst>
          </p:cNvPr>
          <p:cNvSpPr txBox="1"/>
          <p:nvPr userDrawn="1"/>
        </p:nvSpPr>
        <p:spPr>
          <a:xfrm>
            <a:off x="10711051" y="658954"/>
            <a:ext cx="1386662" cy="400110"/>
          </a:xfrm>
          <a:prstGeom prst="rect">
            <a:avLst/>
          </a:prstGeom>
          <a:noFill/>
        </p:spPr>
        <p:txBody>
          <a:bodyPr wrap="square" rtlCol="0">
            <a:spAutoFit/>
          </a:bodyPr>
          <a:lstStyle/>
          <a:p>
            <a:pPr algn="ctr"/>
            <a:r>
              <a:rPr lang="zh-CN" altLang="en-US" sz="2000" dirty="0">
                <a:solidFill>
                  <a:schemeClr val="tx1"/>
                </a:solidFill>
                <a:latin typeface="微软雅黑" pitchFamily="34" charset="-122"/>
                <a:ea typeface="微软雅黑" pitchFamily="34" charset="-122"/>
              </a:rPr>
              <a:t>绪论</a:t>
            </a:r>
          </a:p>
        </p:txBody>
      </p:sp>
      <p:sp>
        <p:nvSpPr>
          <p:cNvPr id="16" name="文本框 15">
            <a:extLst>
              <a:ext uri="{FF2B5EF4-FFF2-40B4-BE49-F238E27FC236}">
                <a16:creationId xmlns:a16="http://schemas.microsoft.com/office/drawing/2014/main" id="{E0F3FB71-044C-B62B-D934-4BA3492D532D}"/>
              </a:ext>
            </a:extLst>
          </p:cNvPr>
          <p:cNvSpPr txBox="1"/>
          <p:nvPr userDrawn="1"/>
        </p:nvSpPr>
        <p:spPr>
          <a:xfrm>
            <a:off x="10709069" y="1406228"/>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总体设计</a:t>
            </a:r>
          </a:p>
        </p:txBody>
      </p:sp>
      <p:sp>
        <p:nvSpPr>
          <p:cNvPr id="17" name="文本框 16">
            <a:extLst>
              <a:ext uri="{FF2B5EF4-FFF2-40B4-BE49-F238E27FC236}">
                <a16:creationId xmlns:a16="http://schemas.microsoft.com/office/drawing/2014/main" id="{E9ADD928-7569-A609-6D5D-013409E0C364}"/>
              </a:ext>
            </a:extLst>
          </p:cNvPr>
          <p:cNvSpPr txBox="1"/>
          <p:nvPr userDrawn="1"/>
        </p:nvSpPr>
        <p:spPr>
          <a:xfrm>
            <a:off x="10709069" y="2149964"/>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运动原理</a:t>
            </a:r>
          </a:p>
        </p:txBody>
      </p:sp>
      <p:sp>
        <p:nvSpPr>
          <p:cNvPr id="18" name="文本框 17">
            <a:extLst>
              <a:ext uri="{FF2B5EF4-FFF2-40B4-BE49-F238E27FC236}">
                <a16:creationId xmlns:a16="http://schemas.microsoft.com/office/drawing/2014/main" id="{01AD8A7F-1580-D556-779F-4D9796005CDB}"/>
              </a:ext>
            </a:extLst>
          </p:cNvPr>
          <p:cNvSpPr txBox="1"/>
          <p:nvPr userDrawn="1"/>
        </p:nvSpPr>
        <p:spPr>
          <a:xfrm>
            <a:off x="10709069" y="289370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硬件设计</a:t>
            </a:r>
          </a:p>
        </p:txBody>
      </p:sp>
      <p:sp>
        <p:nvSpPr>
          <p:cNvPr id="19" name="文本框 18">
            <a:extLst>
              <a:ext uri="{FF2B5EF4-FFF2-40B4-BE49-F238E27FC236}">
                <a16:creationId xmlns:a16="http://schemas.microsoft.com/office/drawing/2014/main" id="{689A772D-7BF4-7EB5-1CCA-3E6167777465}"/>
              </a:ext>
            </a:extLst>
          </p:cNvPr>
          <p:cNvSpPr txBox="1"/>
          <p:nvPr userDrawn="1"/>
        </p:nvSpPr>
        <p:spPr>
          <a:xfrm>
            <a:off x="10709069" y="3638480"/>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itchFamily="34" charset="-122"/>
                <a:ea typeface="微软雅黑" pitchFamily="34" charset="-122"/>
              </a:rPr>
              <a:t>软件开发</a:t>
            </a:r>
          </a:p>
        </p:txBody>
      </p:sp>
      <p:sp>
        <p:nvSpPr>
          <p:cNvPr id="20" name="文本框 19">
            <a:extLst>
              <a:ext uri="{FF2B5EF4-FFF2-40B4-BE49-F238E27FC236}">
                <a16:creationId xmlns:a16="http://schemas.microsoft.com/office/drawing/2014/main" id="{6CB95C3D-0EB0-6BDC-D675-CB9655B31EE5}"/>
              </a:ext>
            </a:extLst>
          </p:cNvPr>
          <p:cNvSpPr txBox="1"/>
          <p:nvPr userDrawn="1"/>
        </p:nvSpPr>
        <p:spPr>
          <a:xfrm>
            <a:off x="10709069" y="4338390"/>
            <a:ext cx="1386662" cy="400110"/>
          </a:xfrm>
          <a:prstGeom prst="rect">
            <a:avLst/>
          </a:prstGeom>
          <a:noFill/>
        </p:spPr>
        <p:txBody>
          <a:bodyPr wrap="square" rtlCol="0">
            <a:spAutoFit/>
          </a:bodyPr>
          <a:lstStyle/>
          <a:p>
            <a:pPr algn="ctr"/>
            <a:r>
              <a:rPr lang="zh-CN" altLang="en-US" sz="2000" dirty="0">
                <a:solidFill>
                  <a:schemeClr val="tx1"/>
                </a:solidFill>
                <a:latin typeface="微软雅黑" pitchFamily="34" charset="-122"/>
                <a:ea typeface="微软雅黑" pitchFamily="34" charset="-122"/>
              </a:rPr>
              <a:t>调试验证</a:t>
            </a:r>
          </a:p>
        </p:txBody>
      </p:sp>
      <p:sp>
        <p:nvSpPr>
          <p:cNvPr id="21" name="文本框 20">
            <a:extLst>
              <a:ext uri="{FF2B5EF4-FFF2-40B4-BE49-F238E27FC236}">
                <a16:creationId xmlns:a16="http://schemas.microsoft.com/office/drawing/2014/main" id="{BDDCA93E-4FE1-570E-23EB-241C9D8B21A2}"/>
              </a:ext>
            </a:extLst>
          </p:cNvPr>
          <p:cNvSpPr txBox="1"/>
          <p:nvPr userDrawn="1"/>
        </p:nvSpPr>
        <p:spPr>
          <a:xfrm>
            <a:off x="10709069" y="5037500"/>
            <a:ext cx="1386662" cy="400110"/>
          </a:xfrm>
          <a:prstGeom prst="rect">
            <a:avLst/>
          </a:prstGeom>
          <a:noFill/>
        </p:spPr>
        <p:txBody>
          <a:bodyPr wrap="square" rtlCol="0">
            <a:spAutoFit/>
          </a:bodyPr>
          <a:lstStyle/>
          <a:p>
            <a:pPr algn="ctr"/>
            <a:r>
              <a:rPr lang="zh-CN" altLang="en-US" sz="2000" dirty="0">
                <a:solidFill>
                  <a:schemeClr val="bg1"/>
                </a:solidFill>
                <a:latin typeface="微软雅黑" pitchFamily="34" charset="-122"/>
                <a:ea typeface="微软雅黑" pitchFamily="34" charset="-122"/>
              </a:rPr>
              <a:t>结论展望</a:t>
            </a:r>
          </a:p>
        </p:txBody>
      </p:sp>
      <p:sp>
        <p:nvSpPr>
          <p:cNvPr id="22" name="等腰三角形 21">
            <a:extLst>
              <a:ext uri="{FF2B5EF4-FFF2-40B4-BE49-F238E27FC236}">
                <a16:creationId xmlns:a16="http://schemas.microsoft.com/office/drawing/2014/main" id="{571063AA-5DDD-E257-A806-BE4ECD2082A0}"/>
              </a:ext>
            </a:extLst>
          </p:cNvPr>
          <p:cNvSpPr/>
          <p:nvPr userDrawn="1"/>
        </p:nvSpPr>
        <p:spPr>
          <a:xfrm rot="16200000">
            <a:off x="10400553" y="5172828"/>
            <a:ext cx="295275" cy="13715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extLst>
      <p:ext uri="{BB962C8B-B14F-4D97-AF65-F5344CB8AC3E}">
        <p14:creationId xmlns:p14="http://schemas.microsoft.com/office/powerpoint/2010/main" val="1832931692"/>
      </p:ext>
    </p:extLst>
  </p:cSld>
  <p:clrMapOvr>
    <a:masterClrMapping/>
  </p:clrMapOvr>
  <p:transition spd="slow" advClick="0" advTm="3000">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0741C5-8F5C-4213-BB69-8C2D02590C1C}" type="datetimeFigureOut">
              <a:rPr lang="zh-CN" altLang="en-US" smtClean="0"/>
              <a:t>2024/12/3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8893EA9-123D-489F-8313-43A8A4AC4565}" type="slidenum">
              <a:rPr lang="zh-CN" altLang="en-US" smtClean="0"/>
              <a:t>‹#›</a:t>
            </a:fld>
            <a:endParaRPr lang="zh-CN" altLang="en-US"/>
          </a:p>
        </p:txBody>
      </p:sp>
    </p:spTree>
  </p:cSld>
  <p:clrMapOvr>
    <a:masterClrMapping/>
  </p:clrMapOvr>
  <p:transition spd="slow" advClick="0" advTm="3000">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使用说明">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itchFamily="34" charset="-122"/>
                <a:ea typeface="微软雅黑"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9A0741C5-8F5C-4213-BB69-8C2D02590C1C}" type="datetimeFigureOut">
              <a:rPr lang="zh-CN" altLang="en-US" smtClean="0"/>
              <a:t>2024/12/3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chemeClr val="tx1">
                    <a:lumMod val="60000"/>
                    <a:lumOff val="40000"/>
                  </a:schemeClr>
                </a:solidFill>
                <a:latin typeface="+mn-lt"/>
              </a:defRPr>
            </a:lvl1pPr>
          </a:lstStyle>
          <a:p>
            <a:r>
              <a:rPr lang="en-US" altLang="zh-CN" dirty="0"/>
              <a:t>P</a:t>
            </a:r>
            <a:fld id="{38893EA9-123D-489F-8313-43A8A4AC4565}" type="slidenum">
              <a:rPr lang="zh-CN" altLang="en-US" dirty="0" smtClean="0"/>
              <a:t>‹#›</a:t>
            </a:fld>
            <a:endParaRPr lang="zh-CN" altLang="en-US" dirty="0"/>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Tree>
  </p:cSld>
  <p:clrMapOvr>
    <a:masterClrMapping/>
  </p:clrMapOvr>
  <p:transition spd="slow" advClick="0" advTm="300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0741C5-8F5C-4213-BB69-8C2D02590C1C}" type="datetimeFigureOut">
              <a:rPr lang="zh-CN" altLang="en-US" smtClean="0"/>
              <a:t>2024/12/3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893EA9-123D-489F-8313-43A8A4AC456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8" r:id="rId8"/>
    <p:sldLayoutId id="2147483656" r:id="rId9"/>
    <p:sldLayoutId id="2147483657" r:id="rId10"/>
  </p:sldLayoutIdLst>
  <p:transition spd="slow" advClick="0" advTm="3000">
    <p:fad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5" Type="http://schemas.openxmlformats.org/officeDocument/2006/relationships/image" Target="../media/image20.jpeg"/><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29.wmf"/><Relationship Id="rId3" Type="http://schemas.openxmlformats.org/officeDocument/2006/relationships/image" Target="../media/image24.wmf"/><Relationship Id="rId7" Type="http://schemas.openxmlformats.org/officeDocument/2006/relationships/image" Target="../media/image26.wmf"/><Relationship Id="rId12" Type="http://schemas.openxmlformats.org/officeDocument/2006/relationships/oleObject" Target="../embeddings/oleObject6.bin"/><Relationship Id="rId2" Type="http://schemas.openxmlformats.org/officeDocument/2006/relationships/oleObject" Target="../embeddings/oleObject1.bin"/><Relationship Id="rId16" Type="http://schemas.openxmlformats.org/officeDocument/2006/relationships/image" Target="../media/image31.wmf"/><Relationship Id="rId1" Type="http://schemas.openxmlformats.org/officeDocument/2006/relationships/slideLayout" Target="../slideLayouts/slideLayout4.xml"/><Relationship Id="rId6" Type="http://schemas.openxmlformats.org/officeDocument/2006/relationships/oleObject" Target="../embeddings/oleObject3.bin"/><Relationship Id="rId11" Type="http://schemas.openxmlformats.org/officeDocument/2006/relationships/image" Target="../media/image28.wmf"/><Relationship Id="rId5" Type="http://schemas.openxmlformats.org/officeDocument/2006/relationships/image" Target="../media/image25.wmf"/><Relationship Id="rId15" Type="http://schemas.openxmlformats.org/officeDocument/2006/relationships/oleObject" Target="../embeddings/oleObject7.bin"/><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27.wmf"/><Relationship Id="rId1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8.bin"/><Relationship Id="rId1" Type="http://schemas.openxmlformats.org/officeDocument/2006/relationships/slideLayout" Target="../slideLayouts/slideLayout5.xml"/><Relationship Id="rId4" Type="http://schemas.openxmlformats.org/officeDocument/2006/relationships/image" Target="../media/image350.png"/></Relationships>
</file>

<file path=ppt/slides/_rels/slide2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9.bin"/><Relationship Id="rId1" Type="http://schemas.openxmlformats.org/officeDocument/2006/relationships/slideLayout" Target="../slideLayouts/slideLayout5.xml"/><Relationship Id="rId5" Type="http://schemas.openxmlformats.org/officeDocument/2006/relationships/image" Target="../media/image45.jpeg"/><Relationship Id="rId4" Type="http://schemas.openxmlformats.org/officeDocument/2006/relationships/image" Target="../media/image44.jpe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xml"/><Relationship Id="rId4" Type="http://schemas.openxmlformats.org/officeDocument/2006/relationships/image" Target="../media/image48.jpeg"/></Relationships>
</file>

<file path=ppt/slides/_rels/slide3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 Id="rId5" Type="http://schemas.openxmlformats.org/officeDocument/2006/relationships/image" Target="../media/image53.png"/><Relationship Id="rId4" Type="http://schemas.openxmlformats.org/officeDocument/2006/relationships/image" Target="../media/image52.png"/></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6.xml"/><Relationship Id="rId5" Type="http://schemas.openxmlformats.org/officeDocument/2006/relationships/image" Target="../media/image57.png"/><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6.xml"/><Relationship Id="rId4" Type="http://schemas.openxmlformats.org/officeDocument/2006/relationships/image" Target="../media/image61.png"/></Relationships>
</file>

<file path=ppt/slides/_rels/slide3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2.png"/><Relationship Id="rId1" Type="http://schemas.openxmlformats.org/officeDocument/2006/relationships/slideLayout" Target="../slideLayouts/slideLayout6.xml"/><Relationship Id="rId4" Type="http://schemas.openxmlformats.org/officeDocument/2006/relationships/image" Target="../media/image65.png"/></Relationships>
</file>

<file path=ppt/slides/_rels/slide4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6.xml"/><Relationship Id="rId4" Type="http://schemas.openxmlformats.org/officeDocument/2006/relationships/image" Target="../media/image68.png"/></Relationships>
</file>

<file path=ppt/slides/_rels/slide4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6.xml"/><Relationship Id="rId4" Type="http://schemas.openxmlformats.org/officeDocument/2006/relationships/image" Target="../media/image72.png"/></Relationships>
</file>

<file path=ppt/slides/_rels/slide4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6.xml"/><Relationship Id="rId4" Type="http://schemas.openxmlformats.org/officeDocument/2006/relationships/image" Target="../media/image76.png"/></Relationships>
</file>

<file path=ppt/slides/_rels/slide5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image" Target="../media/image85.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88.png"/></Relationships>
</file>

<file path=ppt/slides/_rels/slide61.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image" Target="../media/image89.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91.png"/></Relationships>
</file>

<file path=ppt/slides/_rels/slide6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矩形 44"/>
          <p:cNvSpPr/>
          <p:nvPr/>
        </p:nvSpPr>
        <p:spPr>
          <a:xfrm>
            <a:off x="0" y="1625600"/>
            <a:ext cx="12192000" cy="320765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5"/>
          <p:cNvSpPr>
            <a:spLocks noEditPoints="1"/>
          </p:cNvSpPr>
          <p:nvPr/>
        </p:nvSpPr>
        <p:spPr bwMode="auto">
          <a:xfrm>
            <a:off x="8599210" y="5440828"/>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35" name="文本框 34"/>
          <p:cNvSpPr txBox="1"/>
          <p:nvPr/>
        </p:nvSpPr>
        <p:spPr>
          <a:xfrm>
            <a:off x="1567413" y="2123113"/>
            <a:ext cx="9057174" cy="1323439"/>
          </a:xfrm>
          <a:prstGeom prst="rect">
            <a:avLst/>
          </a:prstGeom>
          <a:noFill/>
        </p:spPr>
        <p:txBody>
          <a:bodyPr wrap="square" rtlCol="0">
            <a:spAutoFit/>
          </a:bodyPr>
          <a:lstStyle/>
          <a:p>
            <a:pPr algn="ctr"/>
            <a:r>
              <a:rPr lang="zh-CN" altLang="en-US" sz="4000" b="1" dirty="0">
                <a:solidFill>
                  <a:schemeClr val="bg1"/>
                </a:solidFill>
                <a:latin typeface="微软雅黑" pitchFamily="34" charset="-122"/>
                <a:ea typeface="微软雅黑" pitchFamily="34" charset="-122"/>
              </a:rPr>
              <a:t>煤矿综采工作面轨道式巡检机器人控制系统设计与研究</a:t>
            </a:r>
          </a:p>
        </p:txBody>
      </p:sp>
      <p:cxnSp>
        <p:nvCxnSpPr>
          <p:cNvPr id="5" name="直接连接符 4"/>
          <p:cNvCxnSpPr>
            <a:cxnSpLocks/>
          </p:cNvCxnSpPr>
          <p:nvPr/>
        </p:nvCxnSpPr>
        <p:spPr>
          <a:xfrm>
            <a:off x="1928813" y="3421853"/>
            <a:ext cx="5800498"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2394858" y="3918525"/>
            <a:ext cx="7402285" cy="430054"/>
          </a:xfrm>
          <a:prstGeom prst="rect">
            <a:avLst/>
          </a:prstGeom>
          <a:noFill/>
        </p:spPr>
        <p:txBody>
          <a:bodyPr wrap="square" rtlCol="0">
            <a:spAutoFit/>
          </a:bodyPr>
          <a:lstStyle/>
          <a:p>
            <a:pPr algn="ctr">
              <a:lnSpc>
                <a:spcPct val="120000"/>
              </a:lnSpc>
            </a:pPr>
            <a:r>
              <a:rPr lang="zh-CN" altLang="en-US" sz="2000" dirty="0">
                <a:solidFill>
                  <a:schemeClr val="bg1"/>
                </a:solidFill>
                <a:latin typeface="微软雅黑" pitchFamily="34" charset="-122"/>
                <a:ea typeface="微软雅黑" pitchFamily="34" charset="-122"/>
              </a:rPr>
              <a:t>学生：</a:t>
            </a:r>
            <a:r>
              <a:rPr lang="zh-CN" altLang="en-US" sz="2000" dirty="0">
                <a:solidFill>
                  <a:schemeClr val="bg1"/>
                </a:solidFill>
                <a:latin typeface="华文细黑" panose="02010600040101010101" pitchFamily="2" charset="-122"/>
                <a:ea typeface="华文细黑" panose="02010600040101010101" pitchFamily="2" charset="-122"/>
              </a:rPr>
              <a:t>柴建峰</a:t>
            </a:r>
            <a:r>
              <a:rPr lang="en-US" altLang="zh-CN" sz="2000" dirty="0">
                <a:solidFill>
                  <a:schemeClr val="bg1"/>
                </a:solidFill>
                <a:latin typeface="微软雅黑" pitchFamily="34" charset="-122"/>
                <a:ea typeface="微软雅黑" pitchFamily="34" charset="-122"/>
              </a:rPr>
              <a:t>          </a:t>
            </a:r>
            <a:r>
              <a:rPr lang="zh-CN" altLang="en-US" sz="2000" dirty="0">
                <a:solidFill>
                  <a:schemeClr val="bg1"/>
                </a:solidFill>
                <a:latin typeface="微软雅黑" pitchFamily="34" charset="-122"/>
                <a:ea typeface="微软雅黑" pitchFamily="34" charset="-122"/>
              </a:rPr>
              <a:t>导师：</a:t>
            </a:r>
            <a:r>
              <a:rPr lang="en-US" altLang="zh-CN" sz="2000" dirty="0">
                <a:solidFill>
                  <a:schemeClr val="bg1"/>
                </a:solidFill>
                <a:latin typeface="华文细黑" panose="02010600040101010101" pitchFamily="2" charset="-122"/>
                <a:ea typeface="华文细黑" panose="02010600040101010101" pitchFamily="2" charset="-122"/>
              </a:rPr>
              <a:t>xxx</a:t>
            </a:r>
            <a:r>
              <a:rPr lang="en-US" altLang="zh-CN" sz="2000" dirty="0">
                <a:solidFill>
                  <a:schemeClr val="bg1"/>
                </a:solidFill>
                <a:latin typeface="微软雅黑" pitchFamily="34" charset="-122"/>
                <a:ea typeface="微软雅黑" pitchFamily="34" charset="-122"/>
              </a:rPr>
              <a:t>          </a:t>
            </a:r>
            <a:r>
              <a:rPr lang="zh-CN" altLang="en-US" sz="2000" dirty="0">
                <a:solidFill>
                  <a:schemeClr val="bg1"/>
                </a:solidFill>
                <a:latin typeface="微软雅黑" pitchFamily="34" charset="-122"/>
                <a:ea typeface="微软雅黑" pitchFamily="34" charset="-122"/>
              </a:rPr>
              <a:t>时间：</a:t>
            </a:r>
            <a:r>
              <a:rPr lang="en-US" altLang="zh-CN" sz="2000" dirty="0">
                <a:solidFill>
                  <a:schemeClr val="bg1"/>
                </a:solidFill>
                <a:latin typeface="微软雅黑" pitchFamily="34" charset="-122"/>
                <a:ea typeface="微软雅黑" pitchFamily="34" charset="-122"/>
              </a:rPr>
              <a:t>2023</a:t>
            </a:r>
            <a:r>
              <a:rPr lang="zh-CN" altLang="en-US" sz="2000" dirty="0">
                <a:solidFill>
                  <a:schemeClr val="bg1"/>
                </a:solidFill>
                <a:latin typeface="微软雅黑" pitchFamily="34" charset="-122"/>
                <a:ea typeface="微软雅黑" pitchFamily="34" charset="-122"/>
              </a:rPr>
              <a:t>年</a:t>
            </a:r>
            <a:r>
              <a:rPr lang="en-US" altLang="zh-CN" sz="2000" dirty="0">
                <a:solidFill>
                  <a:schemeClr val="bg1"/>
                </a:solidFill>
                <a:latin typeface="微软雅黑" pitchFamily="34" charset="-122"/>
                <a:ea typeface="微软雅黑" pitchFamily="34" charset="-122"/>
              </a:rPr>
              <a:t>3</a:t>
            </a:r>
            <a:r>
              <a:rPr lang="zh-CN" altLang="en-US" sz="2000" dirty="0">
                <a:solidFill>
                  <a:schemeClr val="bg1"/>
                </a:solidFill>
                <a:latin typeface="微软雅黑" pitchFamily="34" charset="-122"/>
                <a:ea typeface="微软雅黑" pitchFamily="34" charset="-122"/>
              </a:rPr>
              <a:t>月</a:t>
            </a:r>
            <a:r>
              <a:rPr lang="en-US" altLang="zh-CN" sz="2000" dirty="0">
                <a:solidFill>
                  <a:schemeClr val="bg1"/>
                </a:solidFill>
                <a:latin typeface="微软雅黑" pitchFamily="34" charset="-122"/>
                <a:ea typeface="微软雅黑" pitchFamily="34" charset="-122"/>
              </a:rPr>
              <a:t>21</a:t>
            </a:r>
            <a:r>
              <a:rPr lang="zh-CN" altLang="en-US" sz="2000" dirty="0">
                <a:solidFill>
                  <a:schemeClr val="bg1"/>
                </a:solidFill>
                <a:latin typeface="微软雅黑" pitchFamily="34" charset="-122"/>
                <a:ea typeface="微软雅黑" pitchFamily="34" charset="-122"/>
              </a:rPr>
              <a:t>日</a:t>
            </a:r>
            <a:endParaRPr lang="zh-CN" altLang="en-US" sz="2000" dirty="0">
              <a:solidFill>
                <a:schemeClr val="bg1"/>
              </a:solidFill>
              <a:latin typeface="华文细黑" panose="02010600040101010101" pitchFamily="2" charset="-122"/>
              <a:ea typeface="华文细黑" panose="02010600040101010101" pitchFamily="2" charset="-122"/>
            </a:endParaRPr>
          </a:p>
        </p:txBody>
      </p:sp>
      <p:sp>
        <p:nvSpPr>
          <p:cNvPr id="12" name="等腰三角形 11"/>
          <p:cNvSpPr/>
          <p:nvPr/>
        </p:nvSpPr>
        <p:spPr>
          <a:xfrm flipV="1">
            <a:off x="8977053" y="482155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cxnSp>
        <p:nvCxnSpPr>
          <p:cNvPr id="53" name="直接连接符 52"/>
          <p:cNvCxnSpPr/>
          <p:nvPr/>
        </p:nvCxnSpPr>
        <p:spPr>
          <a:xfrm>
            <a:off x="7729311" y="3421853"/>
            <a:ext cx="2543402"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01B69D2C-D6E0-7339-B7AE-D18707D349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288" y="454535"/>
            <a:ext cx="4021386" cy="674394"/>
          </a:xfrm>
          <a:prstGeom prst="rect">
            <a:avLst/>
          </a:prstGeom>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134952" y="1232694"/>
            <a:ext cx="2232837" cy="752473"/>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7134952" y="1476549"/>
            <a:ext cx="2232836" cy="523220"/>
          </a:xfrm>
          <a:prstGeom prst="rect">
            <a:avLst/>
          </a:prstGeom>
          <a:noFill/>
        </p:spPr>
        <p:txBody>
          <a:bodyPr wrap="square" rtlCol="0">
            <a:spAutoFit/>
          </a:bodyPr>
          <a:lstStyle/>
          <a:p>
            <a:pPr algn="ctr"/>
            <a:r>
              <a:rPr lang="en-US" altLang="zh-CN" sz="2800" dirty="0">
                <a:solidFill>
                  <a:schemeClr val="tx1">
                    <a:lumMod val="60000"/>
                    <a:lumOff val="40000"/>
                  </a:schemeClr>
                </a:solidFill>
                <a:latin typeface="华文细黑" panose="02010600040101010101" pitchFamily="2" charset="-122"/>
                <a:ea typeface="华文细黑" panose="02010600040101010101" pitchFamily="2" charset="-122"/>
                <a:cs typeface="Arial" pitchFamily="34" charset="0"/>
              </a:rPr>
              <a:t>CONTENTS</a:t>
            </a:r>
            <a:endParaRPr lang="zh-CN" altLang="en-US" sz="2800" dirty="0">
              <a:solidFill>
                <a:schemeClr val="tx1">
                  <a:lumMod val="60000"/>
                  <a:lumOff val="40000"/>
                </a:schemeClr>
              </a:solidFill>
              <a:latin typeface="华文细黑" panose="02010600040101010101" pitchFamily="2" charset="-122"/>
              <a:ea typeface="华文细黑" panose="02010600040101010101" pitchFamily="2" charset="-122"/>
              <a:cs typeface="Arial" pitchFamily="34" charset="0"/>
            </a:endParaRPr>
          </a:p>
        </p:txBody>
      </p:sp>
      <p:sp>
        <p:nvSpPr>
          <p:cNvPr id="7" name="矩形 6"/>
          <p:cNvSpPr/>
          <p:nvPr/>
        </p:nvSpPr>
        <p:spPr>
          <a:xfrm>
            <a:off x="7868216" y="1181111"/>
            <a:ext cx="766308" cy="2039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Freeform 5"/>
          <p:cNvSpPr>
            <a:spLocks noEditPoints="1"/>
          </p:cNvSpPr>
          <p:nvPr/>
        </p:nvSpPr>
        <p:spPr bwMode="auto">
          <a:xfrm>
            <a:off x="7868216" y="853175"/>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32" name="矩形 31"/>
          <p:cNvSpPr/>
          <p:nvPr/>
        </p:nvSpPr>
        <p:spPr>
          <a:xfrm>
            <a:off x="0" y="0"/>
            <a:ext cx="4191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等腰三角形 32"/>
          <p:cNvSpPr/>
          <p:nvPr/>
        </p:nvSpPr>
        <p:spPr>
          <a:xfrm rot="5400000" flipH="1">
            <a:off x="4101353" y="1469709"/>
            <a:ext cx="295275" cy="13715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文本框 34"/>
          <p:cNvSpPr txBox="1"/>
          <p:nvPr/>
        </p:nvSpPr>
        <p:spPr>
          <a:xfrm>
            <a:off x="5054599" y="2999729"/>
            <a:ext cx="2387600" cy="461665"/>
          </a:xfrm>
          <a:prstGeom prst="rect">
            <a:avLst/>
          </a:prstGeom>
          <a:noFill/>
        </p:spPr>
        <p:txBody>
          <a:bodyPr wrap="square" rtlCol="0">
            <a:spAutoFit/>
          </a:bodyPr>
          <a:lstStyle/>
          <a:p>
            <a:r>
              <a:rPr lang="zh-CN" altLang="en-US" sz="2400" dirty="0">
                <a:latin typeface="微软雅黑" pitchFamily="34" charset="-122"/>
                <a:ea typeface="微软雅黑" pitchFamily="34" charset="-122"/>
              </a:rPr>
              <a:t>绪论</a:t>
            </a:r>
          </a:p>
        </p:txBody>
      </p:sp>
      <p:sp>
        <p:nvSpPr>
          <p:cNvPr id="22" name="文本框 21"/>
          <p:cNvSpPr txBox="1"/>
          <p:nvPr/>
        </p:nvSpPr>
        <p:spPr>
          <a:xfrm>
            <a:off x="8678331" y="2999729"/>
            <a:ext cx="2946402" cy="461665"/>
          </a:xfrm>
          <a:prstGeom prst="rect">
            <a:avLst/>
          </a:prstGeom>
          <a:noFill/>
        </p:spPr>
        <p:txBody>
          <a:bodyPr wrap="square" rtlCol="0">
            <a:spAutoFit/>
          </a:bodyPr>
          <a:lstStyle/>
          <a:p>
            <a:r>
              <a:rPr lang="zh-CN" altLang="en-US" sz="2400" dirty="0">
                <a:latin typeface="微软雅黑" pitchFamily="34" charset="-122"/>
                <a:ea typeface="微软雅黑" pitchFamily="34" charset="-122"/>
              </a:rPr>
              <a:t>巡检机器人总体设计</a:t>
            </a:r>
          </a:p>
        </p:txBody>
      </p:sp>
      <p:sp>
        <p:nvSpPr>
          <p:cNvPr id="27" name="文本框 26"/>
          <p:cNvSpPr txBox="1"/>
          <p:nvPr/>
        </p:nvSpPr>
        <p:spPr>
          <a:xfrm>
            <a:off x="5037661" y="3806179"/>
            <a:ext cx="2633133" cy="461665"/>
          </a:xfrm>
          <a:prstGeom prst="rect">
            <a:avLst/>
          </a:prstGeom>
          <a:noFill/>
        </p:spPr>
        <p:txBody>
          <a:bodyPr wrap="square" rtlCol="0">
            <a:spAutoFit/>
          </a:bodyPr>
          <a:lstStyle/>
          <a:p>
            <a:r>
              <a:rPr lang="zh-CN" altLang="en-US" sz="2400" dirty="0">
                <a:latin typeface="微软雅黑" pitchFamily="34" charset="-122"/>
                <a:ea typeface="微软雅黑" pitchFamily="34" charset="-122"/>
              </a:rPr>
              <a:t>运动控制原理分析</a:t>
            </a:r>
          </a:p>
        </p:txBody>
      </p:sp>
      <p:sp>
        <p:nvSpPr>
          <p:cNvPr id="36" name="文本框 35"/>
          <p:cNvSpPr txBox="1"/>
          <p:nvPr/>
        </p:nvSpPr>
        <p:spPr>
          <a:xfrm>
            <a:off x="8661400" y="3806179"/>
            <a:ext cx="2633133" cy="461665"/>
          </a:xfrm>
          <a:prstGeom prst="rect">
            <a:avLst/>
          </a:prstGeom>
          <a:noFill/>
        </p:spPr>
        <p:txBody>
          <a:bodyPr wrap="square" rtlCol="0">
            <a:spAutoFit/>
          </a:bodyPr>
          <a:lstStyle/>
          <a:p>
            <a:r>
              <a:rPr lang="zh-CN" altLang="en-US" sz="2400" dirty="0">
                <a:latin typeface="微软雅黑" pitchFamily="34" charset="-122"/>
                <a:ea typeface="微软雅黑" pitchFamily="34" charset="-122"/>
              </a:rPr>
              <a:t>控制系统硬件设计</a:t>
            </a:r>
          </a:p>
        </p:txBody>
      </p:sp>
      <p:sp>
        <p:nvSpPr>
          <p:cNvPr id="41" name="文本框 40"/>
          <p:cNvSpPr txBox="1"/>
          <p:nvPr/>
        </p:nvSpPr>
        <p:spPr>
          <a:xfrm>
            <a:off x="5029197" y="4612629"/>
            <a:ext cx="2633133" cy="461665"/>
          </a:xfrm>
          <a:prstGeom prst="rect">
            <a:avLst/>
          </a:prstGeom>
          <a:noFill/>
        </p:spPr>
        <p:txBody>
          <a:bodyPr wrap="square" rtlCol="0">
            <a:spAutoFit/>
          </a:bodyPr>
          <a:lstStyle/>
          <a:p>
            <a:r>
              <a:rPr lang="zh-CN" altLang="en-US" sz="2400" dirty="0">
                <a:latin typeface="微软雅黑" pitchFamily="34" charset="-122"/>
                <a:ea typeface="微软雅黑" pitchFamily="34" charset="-122"/>
              </a:rPr>
              <a:t>控制系统软件开发</a:t>
            </a:r>
          </a:p>
        </p:txBody>
      </p:sp>
      <p:sp>
        <p:nvSpPr>
          <p:cNvPr id="152" name="Freeform 9"/>
          <p:cNvSpPr/>
          <p:nvPr/>
        </p:nvSpPr>
        <p:spPr bwMode="auto">
          <a:xfrm>
            <a:off x="4764613" y="3081949"/>
            <a:ext cx="270832" cy="259124"/>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53" name="Freeform 9"/>
          <p:cNvSpPr/>
          <p:nvPr/>
        </p:nvSpPr>
        <p:spPr bwMode="auto">
          <a:xfrm>
            <a:off x="4747676" y="3889527"/>
            <a:ext cx="270832" cy="259124"/>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54" name="Freeform 9"/>
          <p:cNvSpPr/>
          <p:nvPr/>
        </p:nvSpPr>
        <p:spPr bwMode="auto">
          <a:xfrm>
            <a:off x="4739212" y="4690688"/>
            <a:ext cx="270832" cy="259124"/>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55" name="Freeform 9"/>
          <p:cNvSpPr/>
          <p:nvPr/>
        </p:nvSpPr>
        <p:spPr bwMode="auto">
          <a:xfrm>
            <a:off x="8411731" y="3081949"/>
            <a:ext cx="270832" cy="259124"/>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56" name="Freeform 9"/>
          <p:cNvSpPr/>
          <p:nvPr/>
        </p:nvSpPr>
        <p:spPr bwMode="auto">
          <a:xfrm>
            <a:off x="8394801" y="3889527"/>
            <a:ext cx="270832" cy="259124"/>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pic>
        <p:nvPicPr>
          <p:cNvPr id="8" name="图片 7">
            <a:extLst>
              <a:ext uri="{FF2B5EF4-FFF2-40B4-BE49-F238E27FC236}">
                <a16:creationId xmlns:a16="http://schemas.microsoft.com/office/drawing/2014/main" id="{C7CBA758-3E82-53FF-581E-4AE463F9B0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143" y="2052785"/>
            <a:ext cx="4126628" cy="2752429"/>
          </a:xfrm>
          <a:prstGeom prst="rect">
            <a:avLst/>
          </a:prstGeom>
        </p:spPr>
      </p:pic>
      <p:sp>
        <p:nvSpPr>
          <p:cNvPr id="9" name="文本框 8">
            <a:extLst>
              <a:ext uri="{FF2B5EF4-FFF2-40B4-BE49-F238E27FC236}">
                <a16:creationId xmlns:a16="http://schemas.microsoft.com/office/drawing/2014/main" id="{0E885373-7EEA-00A8-1617-9604AAAAD597}"/>
              </a:ext>
            </a:extLst>
          </p:cNvPr>
          <p:cNvSpPr txBox="1"/>
          <p:nvPr/>
        </p:nvSpPr>
        <p:spPr>
          <a:xfrm>
            <a:off x="8684787" y="4612629"/>
            <a:ext cx="2939945" cy="461665"/>
          </a:xfrm>
          <a:prstGeom prst="rect">
            <a:avLst/>
          </a:prstGeom>
          <a:noFill/>
        </p:spPr>
        <p:txBody>
          <a:bodyPr wrap="square" rtlCol="0">
            <a:spAutoFit/>
          </a:bodyPr>
          <a:lstStyle/>
          <a:p>
            <a:r>
              <a:rPr lang="zh-CN" altLang="en-US" sz="2400" dirty="0">
                <a:latin typeface="微软雅黑" pitchFamily="34" charset="-122"/>
                <a:ea typeface="微软雅黑" pitchFamily="34" charset="-122"/>
              </a:rPr>
              <a:t>系统调试与样机实验</a:t>
            </a:r>
          </a:p>
        </p:txBody>
      </p:sp>
      <p:sp>
        <p:nvSpPr>
          <p:cNvPr id="10" name="Freeform 9">
            <a:extLst>
              <a:ext uri="{FF2B5EF4-FFF2-40B4-BE49-F238E27FC236}">
                <a16:creationId xmlns:a16="http://schemas.microsoft.com/office/drawing/2014/main" id="{4759870B-0EC8-A058-A9EF-F2143285991A}"/>
              </a:ext>
            </a:extLst>
          </p:cNvPr>
          <p:cNvSpPr/>
          <p:nvPr/>
        </p:nvSpPr>
        <p:spPr bwMode="auto">
          <a:xfrm>
            <a:off x="8394802" y="4694849"/>
            <a:ext cx="270832" cy="259124"/>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1" name="文本框 10">
            <a:extLst>
              <a:ext uri="{FF2B5EF4-FFF2-40B4-BE49-F238E27FC236}">
                <a16:creationId xmlns:a16="http://schemas.microsoft.com/office/drawing/2014/main" id="{7D793DDF-1311-1561-C836-47E731EF1A68}"/>
              </a:ext>
            </a:extLst>
          </p:cNvPr>
          <p:cNvSpPr txBox="1"/>
          <p:nvPr/>
        </p:nvSpPr>
        <p:spPr>
          <a:xfrm>
            <a:off x="5029198" y="5525940"/>
            <a:ext cx="2387600" cy="461665"/>
          </a:xfrm>
          <a:prstGeom prst="rect">
            <a:avLst/>
          </a:prstGeom>
          <a:noFill/>
        </p:spPr>
        <p:txBody>
          <a:bodyPr wrap="square" rtlCol="0">
            <a:spAutoFit/>
          </a:bodyPr>
          <a:lstStyle/>
          <a:p>
            <a:r>
              <a:rPr lang="zh-CN" altLang="en-US" sz="2400" dirty="0">
                <a:latin typeface="微软雅黑" pitchFamily="34" charset="-122"/>
                <a:ea typeface="微软雅黑" pitchFamily="34" charset="-122"/>
              </a:rPr>
              <a:t>结论与展望</a:t>
            </a:r>
          </a:p>
        </p:txBody>
      </p:sp>
      <p:sp>
        <p:nvSpPr>
          <p:cNvPr id="12" name="Freeform 9">
            <a:extLst>
              <a:ext uri="{FF2B5EF4-FFF2-40B4-BE49-F238E27FC236}">
                <a16:creationId xmlns:a16="http://schemas.microsoft.com/office/drawing/2014/main" id="{5A1A2224-DC51-0900-E455-3584F6EE75F7}"/>
              </a:ext>
            </a:extLst>
          </p:cNvPr>
          <p:cNvSpPr/>
          <p:nvPr/>
        </p:nvSpPr>
        <p:spPr bwMode="auto">
          <a:xfrm>
            <a:off x="4739212" y="5608160"/>
            <a:ext cx="270832" cy="259124"/>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绪论</a:t>
            </a:r>
          </a:p>
        </p:txBody>
      </p:sp>
      <p:sp>
        <p:nvSpPr>
          <p:cNvPr id="5" name="星形: 五角 4">
            <a:extLst>
              <a:ext uri="{FF2B5EF4-FFF2-40B4-BE49-F238E27FC236}">
                <a16:creationId xmlns:a16="http://schemas.microsoft.com/office/drawing/2014/main" id="{52F6244F-2244-EB47-18C3-4F7FD201F1CC}"/>
              </a:ext>
            </a:extLst>
          </p:cNvPr>
          <p:cNvSpPr/>
          <p:nvPr/>
        </p:nvSpPr>
        <p:spPr>
          <a:xfrm>
            <a:off x="4724399" y="3996270"/>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DD921D27-8200-EE09-A1A2-2AE25293AEA1}"/>
              </a:ext>
            </a:extLst>
          </p:cNvPr>
          <p:cNvSpPr txBox="1"/>
          <p:nvPr/>
        </p:nvSpPr>
        <p:spPr>
          <a:xfrm>
            <a:off x="4936066" y="3867037"/>
            <a:ext cx="2336801"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研究背景及意义</a:t>
            </a:r>
          </a:p>
        </p:txBody>
      </p:sp>
      <p:sp>
        <p:nvSpPr>
          <p:cNvPr id="9" name="星形: 五角 8">
            <a:extLst>
              <a:ext uri="{FF2B5EF4-FFF2-40B4-BE49-F238E27FC236}">
                <a16:creationId xmlns:a16="http://schemas.microsoft.com/office/drawing/2014/main" id="{F5BC9664-C46C-E42F-1441-D2C6B4C68052}"/>
              </a:ext>
            </a:extLst>
          </p:cNvPr>
          <p:cNvSpPr/>
          <p:nvPr/>
        </p:nvSpPr>
        <p:spPr>
          <a:xfrm>
            <a:off x="4724399" y="4671073"/>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10" name="文本框 9">
            <a:extLst>
              <a:ext uri="{FF2B5EF4-FFF2-40B4-BE49-F238E27FC236}">
                <a16:creationId xmlns:a16="http://schemas.microsoft.com/office/drawing/2014/main" id="{5FABFD0F-87D3-4FCB-B342-F0E581F330BD}"/>
              </a:ext>
            </a:extLst>
          </p:cNvPr>
          <p:cNvSpPr txBox="1"/>
          <p:nvPr/>
        </p:nvSpPr>
        <p:spPr>
          <a:xfrm>
            <a:off x="4936066" y="4541840"/>
            <a:ext cx="2336801"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研究现状</a:t>
            </a:r>
          </a:p>
        </p:txBody>
      </p:sp>
      <p:sp>
        <p:nvSpPr>
          <p:cNvPr id="11" name="星形: 五角 10">
            <a:extLst>
              <a:ext uri="{FF2B5EF4-FFF2-40B4-BE49-F238E27FC236}">
                <a16:creationId xmlns:a16="http://schemas.microsoft.com/office/drawing/2014/main" id="{43C5A5F0-7939-2946-3C00-12736176376C}"/>
              </a:ext>
            </a:extLst>
          </p:cNvPr>
          <p:cNvSpPr/>
          <p:nvPr/>
        </p:nvSpPr>
        <p:spPr>
          <a:xfrm>
            <a:off x="4724399" y="5345876"/>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3D717074-ADB4-49E8-7E43-73165F35DC8D}"/>
              </a:ext>
            </a:extLst>
          </p:cNvPr>
          <p:cNvSpPr txBox="1"/>
          <p:nvPr/>
        </p:nvSpPr>
        <p:spPr>
          <a:xfrm>
            <a:off x="4936066" y="5216643"/>
            <a:ext cx="29379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主要内容及章节安排</a:t>
            </a:r>
          </a:p>
        </p:txBody>
      </p:sp>
      <p:pic>
        <p:nvPicPr>
          <p:cNvPr id="14" name="图片 13">
            <a:extLst>
              <a:ext uri="{FF2B5EF4-FFF2-40B4-BE49-F238E27FC236}">
                <a16:creationId xmlns:a16="http://schemas.microsoft.com/office/drawing/2014/main" id="{49A79530-7A3D-786D-1943-E1E94E914943}"/>
              </a:ext>
            </a:extLst>
          </p:cNvPr>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381000" y="461617"/>
            <a:ext cx="3067050" cy="514350"/>
          </a:xfrm>
          <a:prstGeom prst="rect">
            <a:avLst/>
          </a:prstGeom>
        </p:spPr>
      </p:pic>
      <p:pic>
        <p:nvPicPr>
          <p:cNvPr id="16" name="图片 15">
            <a:extLst>
              <a:ext uri="{FF2B5EF4-FFF2-40B4-BE49-F238E27FC236}">
                <a16:creationId xmlns:a16="http://schemas.microsoft.com/office/drawing/2014/main" id="{4D6C5636-9A1E-292F-7952-9A3A50B25D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 y="447858"/>
            <a:ext cx="541867" cy="541867"/>
          </a:xfrm>
          <a:prstGeom prst="rect">
            <a:avLst/>
          </a:prstGeom>
        </p:spPr>
      </p:pic>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研究背景</a:t>
            </a:r>
          </a:p>
        </p:txBody>
      </p:sp>
      <p:sp>
        <p:nvSpPr>
          <p:cNvPr id="15" name="文本框 14"/>
          <p:cNvSpPr txBox="1"/>
          <p:nvPr/>
        </p:nvSpPr>
        <p:spPr>
          <a:xfrm>
            <a:off x="1302656" y="1182314"/>
            <a:ext cx="8730343" cy="1764650"/>
          </a:xfrm>
          <a:prstGeom prst="rect">
            <a:avLst/>
          </a:prstGeom>
          <a:noFill/>
        </p:spPr>
        <p:txBody>
          <a:bodyPr wrap="square" rtlCol="0">
            <a:spAutoFit/>
          </a:bodyPr>
          <a:lstStyle/>
          <a:p>
            <a:pPr indent="457200" algn="just" fontAlgn="b">
              <a:lnSpc>
                <a:spcPct val="125000"/>
              </a:lnSpc>
            </a:pPr>
            <a:r>
              <a:rPr lang="zh-CN" altLang="zh-CN" dirty="0">
                <a:latin typeface="微软雅黑" panose="020B0503020204020204" pitchFamily="34" charset="-122"/>
                <a:ea typeface="微软雅黑" panose="020B0503020204020204" pitchFamily="34" charset="-122"/>
              </a:rPr>
              <a:t>我国是煤炭资源储备与开采的大国，煤炭是我国能源安全的“压舱石”。</a:t>
            </a:r>
            <a:r>
              <a:rPr lang="zh-CN" altLang="en-US" dirty="0">
                <a:latin typeface="微软雅黑" panose="020B0503020204020204" pitchFamily="34" charset="-122"/>
                <a:ea typeface="微软雅黑" panose="020B0503020204020204" pitchFamily="34" charset="-122"/>
              </a:rPr>
              <a:t>根据</a:t>
            </a:r>
            <a:r>
              <a:rPr lang="en-US" altLang="zh-CN" dirty="0">
                <a:latin typeface="微软雅黑" panose="020B0503020204020204" pitchFamily="34" charset="-122"/>
                <a:ea typeface="微软雅黑" panose="020B0503020204020204" pitchFamily="34" charset="-122"/>
              </a:rPr>
              <a:t>2021</a:t>
            </a:r>
            <a:r>
              <a:rPr lang="zh-CN" altLang="en-US" dirty="0">
                <a:latin typeface="微软雅黑" panose="020B0503020204020204" pitchFamily="34" charset="-122"/>
                <a:ea typeface="微软雅黑" panose="020B0503020204020204" pitchFamily="34" charset="-122"/>
              </a:rPr>
              <a:t>年国家统计局的数据显示，</a:t>
            </a:r>
            <a:r>
              <a:rPr lang="zh-CN" altLang="zh-CN" dirty="0">
                <a:latin typeface="微软雅黑" panose="020B0503020204020204" pitchFamily="34" charset="-122"/>
                <a:ea typeface="微软雅黑" panose="020B0503020204020204" pitchFamily="34" charset="-122"/>
              </a:rPr>
              <a:t>长期以来，煤炭在我国一次能源生产和消费结构中的比重一直保持在</a:t>
            </a:r>
            <a:r>
              <a:rPr lang="en-US" altLang="zh-CN" dirty="0">
                <a:latin typeface="微软雅黑" panose="020B0503020204020204" pitchFamily="34" charset="-122"/>
                <a:ea typeface="微软雅黑" panose="020B0503020204020204" pitchFamily="34" charset="-122"/>
              </a:rPr>
              <a:t>75%</a:t>
            </a:r>
            <a:r>
              <a:rPr lang="zh-CN" altLang="zh-CN"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70%</a:t>
            </a:r>
            <a:r>
              <a:rPr lang="zh-CN" altLang="zh-CN" dirty="0">
                <a:latin typeface="微软雅黑" panose="020B0503020204020204" pitchFamily="34" charset="-122"/>
                <a:ea typeface="微软雅黑" panose="020B0503020204020204" pitchFamily="34" charset="-122"/>
              </a:rPr>
              <a:t>左右；近年来，煤炭消费比重逐步降低。</a:t>
            </a:r>
            <a:r>
              <a:rPr lang="en-US" altLang="zh-CN" dirty="0">
                <a:latin typeface="微软雅黑" panose="020B0503020204020204" pitchFamily="34" charset="-122"/>
                <a:ea typeface="微软雅黑" panose="020B0503020204020204" pitchFamily="34" charset="-122"/>
              </a:rPr>
              <a:t>2022</a:t>
            </a:r>
            <a:r>
              <a:rPr lang="zh-CN" altLang="zh-CN" dirty="0">
                <a:latin typeface="微软雅黑" panose="020B0503020204020204" pitchFamily="34" charset="-122"/>
                <a:ea typeface="微软雅黑" panose="020B0503020204020204" pitchFamily="34" charset="-122"/>
              </a:rPr>
              <a:t>年，煤炭消费仍占一次能源消费的</a:t>
            </a:r>
            <a:r>
              <a:rPr lang="en-US" altLang="zh-CN" dirty="0">
                <a:latin typeface="微软雅黑" panose="020B0503020204020204" pitchFamily="34" charset="-122"/>
                <a:ea typeface="微软雅黑" panose="020B0503020204020204" pitchFamily="34" charset="-122"/>
              </a:rPr>
              <a:t>56.2%</a:t>
            </a:r>
            <a:r>
              <a:rPr lang="zh-CN" altLang="zh-CN" dirty="0">
                <a:latin typeface="微软雅黑" panose="020B0503020204020204" pitchFamily="34" charset="-122"/>
                <a:ea typeface="微软雅黑" panose="020B0503020204020204" pitchFamily="34" charset="-122"/>
              </a:rPr>
              <a:t>。因此</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我国以煤炭资源为基础能源消耗同时兼顾新能源发展的方针目前是不会改变的。</a:t>
            </a:r>
          </a:p>
        </p:txBody>
      </p:sp>
      <p:sp>
        <p:nvSpPr>
          <p:cNvPr id="8" name="等腰三角形 7"/>
          <p:cNvSpPr/>
          <p:nvPr/>
        </p:nvSpPr>
        <p:spPr>
          <a:xfrm>
            <a:off x="9541042" y="5461197"/>
            <a:ext cx="357021" cy="307777"/>
          </a:xfrm>
          <a:prstGeom prst="triangle">
            <a:avLst>
              <a:gd name="adj" fmla="val 100000"/>
            </a:avLst>
          </a:pr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21D650E1-4631-57B4-9237-98B8C49079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9429" y="3109641"/>
            <a:ext cx="4297995" cy="2986038"/>
          </a:xfrm>
          <a:prstGeom prst="rect">
            <a:avLst/>
          </a:prstGeom>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研究背景</a:t>
            </a:r>
          </a:p>
        </p:txBody>
      </p:sp>
      <p:sp>
        <p:nvSpPr>
          <p:cNvPr id="15" name="文本框 14"/>
          <p:cNvSpPr txBox="1"/>
          <p:nvPr/>
        </p:nvSpPr>
        <p:spPr>
          <a:xfrm>
            <a:off x="1302656" y="1182314"/>
            <a:ext cx="8730343" cy="2110899"/>
          </a:xfrm>
          <a:prstGeom prst="rect">
            <a:avLst/>
          </a:prstGeom>
          <a:noFill/>
        </p:spPr>
        <p:txBody>
          <a:bodyPr wrap="square" rtlCol="0">
            <a:spAutoFit/>
          </a:bodyPr>
          <a:lstStyle/>
          <a:p>
            <a:pPr indent="457200" algn="just" fontAlgn="b">
              <a:lnSpc>
                <a:spcPct val="125000"/>
              </a:lnSpc>
            </a:pPr>
            <a:r>
              <a:rPr lang="en-US" altLang="zh-CN" dirty="0">
                <a:latin typeface="微软雅黑" panose="020B0503020204020204" pitchFamily="34" charset="-122"/>
                <a:ea typeface="微软雅黑" panose="020B0503020204020204" pitchFamily="34" charset="-122"/>
              </a:rPr>
              <a:t>2020</a:t>
            </a:r>
            <a:r>
              <a:rPr lang="zh-CN" altLang="zh-CN" dirty="0">
                <a:latin typeface="微软雅黑" panose="020B0503020204020204" pitchFamily="34" charset="-122"/>
                <a:ea typeface="微软雅黑" panose="020B0503020204020204" pitchFamily="34" charset="-122"/>
              </a:rPr>
              <a:t>年，由国家发展改革委等</a:t>
            </a:r>
            <a:r>
              <a:rPr lang="en-US" altLang="zh-CN" dirty="0">
                <a:latin typeface="微软雅黑" panose="020B0503020204020204" pitchFamily="34" charset="-122"/>
                <a:ea typeface="微软雅黑" panose="020B0503020204020204" pitchFamily="34" charset="-122"/>
              </a:rPr>
              <a:t>8</a:t>
            </a:r>
            <a:r>
              <a:rPr lang="zh-CN" altLang="zh-CN" dirty="0">
                <a:latin typeface="微软雅黑" panose="020B0503020204020204" pitchFamily="34" charset="-122"/>
                <a:ea typeface="微软雅黑" panose="020B0503020204020204" pitchFamily="34" charset="-122"/>
              </a:rPr>
              <a:t>部委联合印发的《关于加快煤矿智能化发展的指导意见》中，提出尽快实现综采工作面内少人或无人操作的目标。在综合机械化采煤中，工作面循环截割过程中</a:t>
            </a:r>
            <a:r>
              <a:rPr lang="zh-CN" altLang="en-US" dirty="0">
                <a:latin typeface="微软雅黑" panose="020B0503020204020204" pitchFamily="34" charset="-122"/>
                <a:ea typeface="微软雅黑" panose="020B0503020204020204" pitchFamily="34" charset="-122"/>
              </a:rPr>
              <a:t>会</a:t>
            </a:r>
            <a:r>
              <a:rPr lang="zh-CN" altLang="zh-CN" dirty="0">
                <a:latin typeface="微软雅黑" panose="020B0503020204020204" pitchFamily="34" charset="-122"/>
                <a:ea typeface="微软雅黑" panose="020B0503020204020204" pitchFamily="34" charset="-122"/>
              </a:rPr>
              <a:t>存在直线度误差不断累积，并在多次循环后需要人工干预，来满足综采工作面对于直线度的要求。因此，实现综采工作面少人或无人化的前提之一就是实现工作面的自动找直。</a:t>
            </a:r>
            <a:r>
              <a:rPr lang="zh-CN" altLang="en-US" dirty="0">
                <a:latin typeface="微软雅黑" panose="020B0503020204020204" pitchFamily="34" charset="-122"/>
                <a:ea typeface="微软雅黑" panose="020B0503020204020204" pitchFamily="34" charset="-122"/>
              </a:rPr>
              <a:t>目前国内外实现综采工作面调直的方法多为基于陀螺仪的惯导技术与传统拉线管理技术。</a:t>
            </a:r>
            <a:endParaRPr lang="zh-CN" altLang="zh-CN" dirty="0">
              <a:latin typeface="微软雅黑" panose="020B0503020204020204" pitchFamily="34" charset="-122"/>
              <a:ea typeface="微软雅黑" panose="020B0503020204020204" pitchFamily="34" charset="-122"/>
            </a:endParaRPr>
          </a:p>
        </p:txBody>
      </p:sp>
      <p:sp>
        <p:nvSpPr>
          <p:cNvPr id="8" name="等腰三角形 7"/>
          <p:cNvSpPr/>
          <p:nvPr/>
        </p:nvSpPr>
        <p:spPr>
          <a:xfrm>
            <a:off x="9541042" y="5461197"/>
            <a:ext cx="357021" cy="307777"/>
          </a:xfrm>
          <a:prstGeom prst="triangle">
            <a:avLst>
              <a:gd name="adj" fmla="val 100000"/>
            </a:avLst>
          </a:pr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14">
            <a:extLst>
              <a:ext uri="{FF2B5EF4-FFF2-40B4-BE49-F238E27FC236}">
                <a16:creationId xmlns:a16="http://schemas.microsoft.com/office/drawing/2014/main" id="{0901978E-94EF-13E7-8DD5-3C64D2D7C6E6}"/>
              </a:ext>
            </a:extLst>
          </p:cNvPr>
          <p:cNvSpPr/>
          <p:nvPr/>
        </p:nvSpPr>
        <p:spPr>
          <a:xfrm rot="5400000">
            <a:off x="3779838" y="4523719"/>
            <a:ext cx="2104338" cy="556188"/>
          </a:xfrm>
          <a:custGeom>
            <a:avLst/>
            <a:gdLst>
              <a:gd name="connsiteX0" fmla="*/ 0 w 3027178"/>
              <a:gd name="connsiteY0" fmla="*/ 800100 h 800100"/>
              <a:gd name="connsiteX1" fmla="*/ 0 w 3027178"/>
              <a:gd name="connsiteY1" fmla="*/ 0 h 800100"/>
              <a:gd name="connsiteX2" fmla="*/ 2690632 w 3027178"/>
              <a:gd name="connsiteY2" fmla="*/ 0 h 800100"/>
              <a:gd name="connsiteX3" fmla="*/ 3027178 w 3027178"/>
              <a:gd name="connsiteY3" fmla="*/ 336546 h 800100"/>
              <a:gd name="connsiteX4" fmla="*/ 3027178 w 3027178"/>
              <a:gd name="connsiteY4" fmla="*/ 463554 h 800100"/>
              <a:gd name="connsiteX5" fmla="*/ 2690632 w 3027178"/>
              <a:gd name="connsiteY5" fmla="*/ 800100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7178" h="800100">
                <a:moveTo>
                  <a:pt x="0" y="800100"/>
                </a:moveTo>
                <a:lnTo>
                  <a:pt x="0" y="0"/>
                </a:lnTo>
                <a:lnTo>
                  <a:pt x="2690632" y="0"/>
                </a:lnTo>
                <a:cubicBezTo>
                  <a:pt x="2876501" y="0"/>
                  <a:pt x="3027178" y="150677"/>
                  <a:pt x="3027178" y="336546"/>
                </a:cubicBezTo>
                <a:lnTo>
                  <a:pt x="3027178" y="463554"/>
                </a:lnTo>
                <a:cubicBezTo>
                  <a:pt x="3027178" y="649423"/>
                  <a:pt x="2876501" y="800100"/>
                  <a:pt x="2690632" y="800100"/>
                </a:cubicBezTo>
                <a:close/>
              </a:path>
            </a:pathLst>
          </a:custGeom>
          <a:gradFill>
            <a:gsLst>
              <a:gs pos="50000">
                <a:schemeClr val="bg1">
                  <a:lumMod val="95000"/>
                </a:schemeClr>
              </a:gs>
              <a:gs pos="0">
                <a:schemeClr val="bg1">
                  <a:lumMod val="75000"/>
                </a:schemeClr>
              </a:gs>
              <a:gs pos="100000">
                <a:schemeClr val="bg1">
                  <a:lumMod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41">
            <a:extLst>
              <a:ext uri="{FF2B5EF4-FFF2-40B4-BE49-F238E27FC236}">
                <a16:creationId xmlns:a16="http://schemas.microsoft.com/office/drawing/2014/main" id="{D1E74CA9-9A82-5476-A420-7FD321BDB652}"/>
              </a:ext>
            </a:extLst>
          </p:cNvPr>
          <p:cNvSpPr/>
          <p:nvPr/>
        </p:nvSpPr>
        <p:spPr>
          <a:xfrm rot="5400000">
            <a:off x="5089959" y="4523719"/>
            <a:ext cx="2104338" cy="556188"/>
          </a:xfrm>
          <a:custGeom>
            <a:avLst/>
            <a:gdLst>
              <a:gd name="connsiteX0" fmla="*/ 0 w 3027178"/>
              <a:gd name="connsiteY0" fmla="*/ 800100 h 800100"/>
              <a:gd name="connsiteX1" fmla="*/ 0 w 3027178"/>
              <a:gd name="connsiteY1" fmla="*/ 0 h 800100"/>
              <a:gd name="connsiteX2" fmla="*/ 2690632 w 3027178"/>
              <a:gd name="connsiteY2" fmla="*/ 0 h 800100"/>
              <a:gd name="connsiteX3" fmla="*/ 3027178 w 3027178"/>
              <a:gd name="connsiteY3" fmla="*/ 336546 h 800100"/>
              <a:gd name="connsiteX4" fmla="*/ 3027178 w 3027178"/>
              <a:gd name="connsiteY4" fmla="*/ 463554 h 800100"/>
              <a:gd name="connsiteX5" fmla="*/ 2690632 w 3027178"/>
              <a:gd name="connsiteY5" fmla="*/ 800100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7178" h="800100">
                <a:moveTo>
                  <a:pt x="0" y="800100"/>
                </a:moveTo>
                <a:lnTo>
                  <a:pt x="0" y="0"/>
                </a:lnTo>
                <a:lnTo>
                  <a:pt x="2690632" y="0"/>
                </a:lnTo>
                <a:cubicBezTo>
                  <a:pt x="2876501" y="0"/>
                  <a:pt x="3027178" y="150677"/>
                  <a:pt x="3027178" y="336546"/>
                </a:cubicBezTo>
                <a:lnTo>
                  <a:pt x="3027178" y="463554"/>
                </a:lnTo>
                <a:cubicBezTo>
                  <a:pt x="3027178" y="649423"/>
                  <a:pt x="2876501" y="800100"/>
                  <a:pt x="2690632" y="800100"/>
                </a:cubicBezTo>
                <a:close/>
              </a:path>
            </a:pathLst>
          </a:custGeom>
          <a:gradFill>
            <a:gsLst>
              <a:gs pos="50000">
                <a:schemeClr val="bg1">
                  <a:lumMod val="95000"/>
                </a:schemeClr>
              </a:gs>
              <a:gs pos="0">
                <a:schemeClr val="bg1">
                  <a:lumMod val="75000"/>
                </a:schemeClr>
              </a:gs>
              <a:gs pos="100000">
                <a:schemeClr val="bg1">
                  <a:lumMod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a:extLst>
              <a:ext uri="{FF2B5EF4-FFF2-40B4-BE49-F238E27FC236}">
                <a16:creationId xmlns:a16="http://schemas.microsoft.com/office/drawing/2014/main" id="{2D5A7789-BF19-0AC7-B433-6F60BE904599}"/>
              </a:ext>
            </a:extLst>
          </p:cNvPr>
          <p:cNvSpPr txBox="1"/>
          <p:nvPr/>
        </p:nvSpPr>
        <p:spPr>
          <a:xfrm>
            <a:off x="4609135" y="3906373"/>
            <a:ext cx="286843" cy="1200329"/>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惯</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导</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技</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术</a:t>
            </a:r>
            <a:endParaRPr lang="zh-CN" altLang="en-US" dirty="0"/>
          </a:p>
        </p:txBody>
      </p:sp>
      <p:sp>
        <p:nvSpPr>
          <p:cNvPr id="63" name="文本框 62">
            <a:extLst>
              <a:ext uri="{FF2B5EF4-FFF2-40B4-BE49-F238E27FC236}">
                <a16:creationId xmlns:a16="http://schemas.microsoft.com/office/drawing/2014/main" id="{F28913CC-A0E4-330E-CC97-0C75A49BE93D}"/>
              </a:ext>
            </a:extLst>
          </p:cNvPr>
          <p:cNvSpPr txBox="1"/>
          <p:nvPr/>
        </p:nvSpPr>
        <p:spPr>
          <a:xfrm>
            <a:off x="5965915" y="4201648"/>
            <a:ext cx="352425" cy="1200329"/>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拉</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线</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管</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理</a:t>
            </a:r>
            <a:endParaRPr lang="zh-CN" altLang="en-US" dirty="0"/>
          </a:p>
        </p:txBody>
      </p:sp>
      <p:sp>
        <p:nvSpPr>
          <p:cNvPr id="64" name="文本框 63">
            <a:extLst>
              <a:ext uri="{FF2B5EF4-FFF2-40B4-BE49-F238E27FC236}">
                <a16:creationId xmlns:a16="http://schemas.microsoft.com/office/drawing/2014/main" id="{3E148E0A-5635-B201-FAEF-1A9C0E874C97}"/>
              </a:ext>
            </a:extLst>
          </p:cNvPr>
          <p:cNvSpPr txBox="1"/>
          <p:nvPr/>
        </p:nvSpPr>
        <p:spPr>
          <a:xfrm>
            <a:off x="2666505" y="3887323"/>
            <a:ext cx="1133475" cy="36933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zh-CN" altLang="en-US" dirty="0"/>
              <a:t>价格昂贵</a:t>
            </a:r>
          </a:p>
        </p:txBody>
      </p:sp>
      <p:sp>
        <p:nvSpPr>
          <p:cNvPr id="65" name="文本框 64">
            <a:extLst>
              <a:ext uri="{FF2B5EF4-FFF2-40B4-BE49-F238E27FC236}">
                <a16:creationId xmlns:a16="http://schemas.microsoft.com/office/drawing/2014/main" id="{283570D6-C675-634A-6C0F-274277674544}"/>
              </a:ext>
            </a:extLst>
          </p:cNvPr>
          <p:cNvSpPr txBox="1"/>
          <p:nvPr/>
        </p:nvSpPr>
        <p:spPr>
          <a:xfrm>
            <a:off x="1971675" y="4506537"/>
            <a:ext cx="1846547" cy="36933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zh-CN" altLang="en-US" dirty="0"/>
              <a:t>损耗维修成本高</a:t>
            </a:r>
          </a:p>
        </p:txBody>
      </p:sp>
      <p:sp>
        <p:nvSpPr>
          <p:cNvPr id="66" name="文本框 65">
            <a:extLst>
              <a:ext uri="{FF2B5EF4-FFF2-40B4-BE49-F238E27FC236}">
                <a16:creationId xmlns:a16="http://schemas.microsoft.com/office/drawing/2014/main" id="{B9EF4F31-0ECF-CFF3-0A14-1891E10A4F1F}"/>
              </a:ext>
            </a:extLst>
          </p:cNvPr>
          <p:cNvSpPr txBox="1"/>
          <p:nvPr/>
        </p:nvSpPr>
        <p:spPr>
          <a:xfrm>
            <a:off x="6930196" y="5091097"/>
            <a:ext cx="1133475" cy="369332"/>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r>
              <a:rPr lang="zh-CN" altLang="en-US" dirty="0"/>
              <a:t>精度较低</a:t>
            </a:r>
          </a:p>
        </p:txBody>
      </p:sp>
      <p:sp>
        <p:nvSpPr>
          <p:cNvPr id="67" name="文本框 66">
            <a:extLst>
              <a:ext uri="{FF2B5EF4-FFF2-40B4-BE49-F238E27FC236}">
                <a16:creationId xmlns:a16="http://schemas.microsoft.com/office/drawing/2014/main" id="{A7BE8D19-E8FF-024C-EC7D-77ADE6B8E028}"/>
              </a:ext>
            </a:extLst>
          </p:cNvPr>
          <p:cNvSpPr txBox="1"/>
          <p:nvPr/>
        </p:nvSpPr>
        <p:spPr>
          <a:xfrm>
            <a:off x="6896611" y="4506537"/>
            <a:ext cx="2334120" cy="369332"/>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r>
              <a:rPr lang="zh-CN" altLang="en-US" dirty="0"/>
              <a:t>违背无人化初衷</a:t>
            </a:r>
          </a:p>
        </p:txBody>
      </p:sp>
      <p:sp>
        <p:nvSpPr>
          <p:cNvPr id="68" name="任意多边形 15">
            <a:extLst>
              <a:ext uri="{FF2B5EF4-FFF2-40B4-BE49-F238E27FC236}">
                <a16:creationId xmlns:a16="http://schemas.microsoft.com/office/drawing/2014/main" id="{C95C92E9-C3BA-85C8-2CB4-A50C1975A623}"/>
              </a:ext>
            </a:extLst>
          </p:cNvPr>
          <p:cNvSpPr/>
          <p:nvPr/>
        </p:nvSpPr>
        <p:spPr>
          <a:xfrm rot="5400000">
            <a:off x="4324749" y="5335866"/>
            <a:ext cx="1014515" cy="556188"/>
          </a:xfrm>
          <a:custGeom>
            <a:avLst/>
            <a:gdLst>
              <a:gd name="connsiteX0" fmla="*/ 0 w 770606"/>
              <a:gd name="connsiteY0" fmla="*/ 556188 h 556188"/>
              <a:gd name="connsiteX1" fmla="*/ 0 w 770606"/>
              <a:gd name="connsiteY1" fmla="*/ 0 h 556188"/>
              <a:gd name="connsiteX2" fmla="*/ 536657 w 770606"/>
              <a:gd name="connsiteY2" fmla="*/ 0 h 556188"/>
              <a:gd name="connsiteX3" fmla="*/ 770606 w 770606"/>
              <a:gd name="connsiteY3" fmla="*/ 233949 h 556188"/>
              <a:gd name="connsiteX4" fmla="*/ 770606 w 770606"/>
              <a:gd name="connsiteY4" fmla="*/ 322239 h 556188"/>
              <a:gd name="connsiteX5" fmla="*/ 536657 w 770606"/>
              <a:gd name="connsiteY5" fmla="*/ 556188 h 55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606" h="556188">
                <a:moveTo>
                  <a:pt x="0" y="556188"/>
                </a:moveTo>
                <a:lnTo>
                  <a:pt x="0" y="0"/>
                </a:lnTo>
                <a:lnTo>
                  <a:pt x="536657" y="0"/>
                </a:lnTo>
                <a:cubicBezTo>
                  <a:pt x="665863" y="0"/>
                  <a:pt x="770606" y="104743"/>
                  <a:pt x="770606" y="233949"/>
                </a:cubicBezTo>
                <a:lnTo>
                  <a:pt x="770606" y="322239"/>
                </a:lnTo>
                <a:cubicBezTo>
                  <a:pt x="770606" y="451445"/>
                  <a:pt x="665863" y="556188"/>
                  <a:pt x="536657" y="55618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任意多边形 15">
            <a:extLst>
              <a:ext uri="{FF2B5EF4-FFF2-40B4-BE49-F238E27FC236}">
                <a16:creationId xmlns:a16="http://schemas.microsoft.com/office/drawing/2014/main" id="{D19A387A-47E6-42EF-79E0-AFB4F4D36F59}"/>
              </a:ext>
            </a:extLst>
          </p:cNvPr>
          <p:cNvSpPr/>
          <p:nvPr/>
        </p:nvSpPr>
        <p:spPr>
          <a:xfrm rot="5400000">
            <a:off x="5756422" y="5457820"/>
            <a:ext cx="770606" cy="556188"/>
          </a:xfrm>
          <a:custGeom>
            <a:avLst/>
            <a:gdLst>
              <a:gd name="connsiteX0" fmla="*/ 0 w 770606"/>
              <a:gd name="connsiteY0" fmla="*/ 556188 h 556188"/>
              <a:gd name="connsiteX1" fmla="*/ 0 w 770606"/>
              <a:gd name="connsiteY1" fmla="*/ 0 h 556188"/>
              <a:gd name="connsiteX2" fmla="*/ 536657 w 770606"/>
              <a:gd name="connsiteY2" fmla="*/ 0 h 556188"/>
              <a:gd name="connsiteX3" fmla="*/ 770606 w 770606"/>
              <a:gd name="connsiteY3" fmla="*/ 233949 h 556188"/>
              <a:gd name="connsiteX4" fmla="*/ 770606 w 770606"/>
              <a:gd name="connsiteY4" fmla="*/ 322239 h 556188"/>
              <a:gd name="connsiteX5" fmla="*/ 536657 w 770606"/>
              <a:gd name="connsiteY5" fmla="*/ 556188 h 55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606" h="556188">
                <a:moveTo>
                  <a:pt x="0" y="556188"/>
                </a:moveTo>
                <a:lnTo>
                  <a:pt x="0" y="0"/>
                </a:lnTo>
                <a:lnTo>
                  <a:pt x="536657" y="0"/>
                </a:lnTo>
                <a:cubicBezTo>
                  <a:pt x="665863" y="0"/>
                  <a:pt x="770606" y="104743"/>
                  <a:pt x="770606" y="233949"/>
                </a:cubicBezTo>
                <a:lnTo>
                  <a:pt x="770606" y="322239"/>
                </a:lnTo>
                <a:cubicBezTo>
                  <a:pt x="770606" y="451445"/>
                  <a:pt x="665863" y="556188"/>
                  <a:pt x="536657" y="55618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5" name="组合 114">
            <a:extLst>
              <a:ext uri="{FF2B5EF4-FFF2-40B4-BE49-F238E27FC236}">
                <a16:creationId xmlns:a16="http://schemas.microsoft.com/office/drawing/2014/main" id="{80FFDADB-ABCA-273E-CBEC-999D521F5712}"/>
              </a:ext>
            </a:extLst>
          </p:cNvPr>
          <p:cNvGrpSpPr/>
          <p:nvPr/>
        </p:nvGrpSpPr>
        <p:grpSpPr>
          <a:xfrm>
            <a:off x="4964575" y="3161570"/>
            <a:ext cx="1062290" cy="1080000"/>
            <a:chOff x="1804920" y="2564122"/>
            <a:chExt cx="1319036" cy="1319036"/>
          </a:xfrm>
        </p:grpSpPr>
        <p:sp>
          <p:nvSpPr>
            <p:cNvPr id="116" name="十角星 13">
              <a:extLst>
                <a:ext uri="{FF2B5EF4-FFF2-40B4-BE49-F238E27FC236}">
                  <a16:creationId xmlns:a16="http://schemas.microsoft.com/office/drawing/2014/main" id="{7FE135FC-610F-EAC3-444F-582B26348B8B}"/>
                </a:ext>
              </a:extLst>
            </p:cNvPr>
            <p:cNvSpPr/>
            <p:nvPr/>
          </p:nvSpPr>
          <p:spPr>
            <a:xfrm>
              <a:off x="1804920" y="2564122"/>
              <a:ext cx="1319036" cy="1319036"/>
            </a:xfrm>
            <a:prstGeom prst="star10">
              <a:avLst>
                <a:gd name="adj" fmla="val 45147"/>
                <a:gd name="hf" fmla="val 10514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1900">
                <a:solidFill>
                  <a:prstClr val="white"/>
                </a:solidFill>
              </a:endParaRPr>
            </a:p>
          </p:txBody>
        </p:sp>
        <p:sp>
          <p:nvSpPr>
            <p:cNvPr id="117" name="文本框 116">
              <a:extLst>
                <a:ext uri="{FF2B5EF4-FFF2-40B4-BE49-F238E27FC236}">
                  <a16:creationId xmlns:a16="http://schemas.microsoft.com/office/drawing/2014/main" id="{EBD31CA7-3B17-BC1A-0BFE-513DB3845EE2}"/>
                </a:ext>
              </a:extLst>
            </p:cNvPr>
            <p:cNvSpPr txBox="1"/>
            <p:nvPr/>
          </p:nvSpPr>
          <p:spPr>
            <a:xfrm>
              <a:off x="1804920" y="2961780"/>
              <a:ext cx="1304079" cy="451076"/>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1</a:t>
              </a:r>
            </a:p>
          </p:txBody>
        </p:sp>
      </p:grpSp>
    </p:spTree>
    <p:extLst>
      <p:ext uri="{BB962C8B-B14F-4D97-AF65-F5344CB8AC3E}">
        <p14:creationId xmlns:p14="http://schemas.microsoft.com/office/powerpoint/2010/main" val="2530721741"/>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研究背景</a:t>
            </a:r>
          </a:p>
        </p:txBody>
      </p:sp>
      <p:sp>
        <p:nvSpPr>
          <p:cNvPr id="8" name="等腰三角形 7"/>
          <p:cNvSpPr/>
          <p:nvPr/>
        </p:nvSpPr>
        <p:spPr>
          <a:xfrm>
            <a:off x="9541042" y="5461197"/>
            <a:ext cx="357021" cy="307777"/>
          </a:xfrm>
          <a:prstGeom prst="triangle">
            <a:avLst>
              <a:gd name="adj" fmla="val 100000"/>
            </a:avLst>
          </a:pr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9827C77F-239C-EB86-8649-32766FE62983}"/>
              </a:ext>
            </a:extLst>
          </p:cNvPr>
          <p:cNvSpPr txBox="1"/>
          <p:nvPr/>
        </p:nvSpPr>
        <p:spPr>
          <a:xfrm>
            <a:off x="2293937" y="2938263"/>
            <a:ext cx="1613820" cy="2830711"/>
          </a:xfrm>
          <a:prstGeom prst="rect">
            <a:avLst/>
          </a:prstGeom>
          <a:noFill/>
        </p:spPr>
        <p:txBody>
          <a:bodyPr wrap="square" rtlCol="0">
            <a:spAutoFit/>
          </a:bodyPr>
          <a:lstStyle/>
          <a:p>
            <a:pPr algn="just">
              <a:lnSpc>
                <a:spcPct val="125000"/>
              </a:lnSpc>
            </a:pPr>
            <a:r>
              <a:rPr lang="zh-CN" altLang="zh-CN" sz="1800" kern="100" dirty="0">
                <a:solidFill>
                  <a:srgbClr val="AC0000"/>
                </a:solidFill>
                <a:effectLst/>
                <a:latin typeface="微软雅黑" panose="020B0503020204020204" pitchFamily="34" charset="-122"/>
                <a:ea typeface="微软雅黑" panose="020B0503020204020204" pitchFamily="34" charset="-122"/>
                <a:cs typeface="Arial" panose="020B0604020202020204" pitchFamily="34" charset="0"/>
              </a:rPr>
              <a:t>综采工作面设备数量多、工况复杂，需要</a:t>
            </a:r>
            <a:r>
              <a:rPr lang="zh-CN" altLang="zh-CN" sz="1800" kern="100" dirty="0">
                <a:solidFill>
                  <a:srgbClr val="AC0000"/>
                </a:solidFill>
                <a:effectLst/>
                <a:latin typeface="微软雅黑" panose="020B0503020204020204" pitchFamily="34" charset="-122"/>
                <a:ea typeface="微软雅黑" panose="020B0503020204020204" pitchFamily="34" charset="-122"/>
              </a:rPr>
              <a:t>实时动态</a:t>
            </a:r>
            <a:r>
              <a:rPr lang="zh-CN" altLang="zh-CN" sz="1800" kern="100" dirty="0">
                <a:solidFill>
                  <a:srgbClr val="AC0000"/>
                </a:solidFill>
                <a:effectLst/>
                <a:latin typeface="微软雅黑" panose="020B0503020204020204" pitchFamily="34" charset="-122"/>
                <a:ea typeface="微软雅黑" panose="020B0503020204020204" pitchFamily="34" charset="-122"/>
                <a:cs typeface="Arial" panose="020B0604020202020204" pitchFamily="34" charset="0"/>
              </a:rPr>
              <a:t>监测各个设备的工作状态，</a:t>
            </a:r>
            <a:r>
              <a:rPr lang="zh-CN" altLang="zh-CN" sz="1800" kern="100" dirty="0">
                <a:solidFill>
                  <a:srgbClr val="AC0000"/>
                </a:solidFill>
                <a:effectLst/>
                <a:latin typeface="微软雅黑" panose="020B0503020204020204" pitchFamily="34" charset="-122"/>
                <a:ea typeface="微软雅黑" panose="020B0503020204020204" pitchFamily="34" charset="-122"/>
                <a:cs typeface="宋体" panose="02010600030101010101" pitchFamily="2" charset="-122"/>
              </a:rPr>
              <a:t>以</a:t>
            </a:r>
            <a:r>
              <a:rPr lang="zh-CN" altLang="zh-CN" sz="1800" kern="100" dirty="0">
                <a:solidFill>
                  <a:srgbClr val="AC0000"/>
                </a:solidFill>
                <a:effectLst/>
                <a:latin typeface="微软雅黑" panose="020B0503020204020204" pitchFamily="34" charset="-122"/>
                <a:ea typeface="微软雅黑" panose="020B0503020204020204" pitchFamily="34" charset="-122"/>
                <a:cs typeface="Arial" panose="020B0604020202020204" pitchFamily="34" charset="0"/>
              </a:rPr>
              <a:t>确保综采工作的正常运行。</a:t>
            </a:r>
            <a:endParaRPr lang="en-US" altLang="zh-CN" sz="1800" kern="100" dirty="0">
              <a:solidFill>
                <a:srgbClr val="AC0000"/>
              </a:solidFill>
              <a:effectLst/>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6" name="组合 5">
            <a:extLst>
              <a:ext uri="{FF2B5EF4-FFF2-40B4-BE49-F238E27FC236}">
                <a16:creationId xmlns:a16="http://schemas.microsoft.com/office/drawing/2014/main" id="{2FC85952-F928-826E-8052-A65197ED465E}"/>
              </a:ext>
            </a:extLst>
          </p:cNvPr>
          <p:cNvGrpSpPr/>
          <p:nvPr/>
        </p:nvGrpSpPr>
        <p:grpSpPr>
          <a:xfrm>
            <a:off x="2465629" y="1260862"/>
            <a:ext cx="1341026" cy="1319036"/>
            <a:chOff x="1782930" y="2564122"/>
            <a:chExt cx="1341026" cy="1319036"/>
          </a:xfrm>
        </p:grpSpPr>
        <p:sp>
          <p:nvSpPr>
            <p:cNvPr id="7" name="十角星 13">
              <a:extLst>
                <a:ext uri="{FF2B5EF4-FFF2-40B4-BE49-F238E27FC236}">
                  <a16:creationId xmlns:a16="http://schemas.microsoft.com/office/drawing/2014/main" id="{8AEA382C-5E97-837E-7C87-173D8FFFCCBE}"/>
                </a:ext>
              </a:extLst>
            </p:cNvPr>
            <p:cNvSpPr/>
            <p:nvPr/>
          </p:nvSpPr>
          <p:spPr>
            <a:xfrm>
              <a:off x="1804920" y="2564122"/>
              <a:ext cx="1319036" cy="1319036"/>
            </a:xfrm>
            <a:prstGeom prst="star10">
              <a:avLst>
                <a:gd name="adj" fmla="val 45147"/>
                <a:gd name="hf" fmla="val 10514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1900">
                <a:solidFill>
                  <a:prstClr val="white"/>
                </a:solidFill>
              </a:endParaRPr>
            </a:p>
          </p:txBody>
        </p:sp>
        <p:sp>
          <p:nvSpPr>
            <p:cNvPr id="10" name="文本框 9">
              <a:extLst>
                <a:ext uri="{FF2B5EF4-FFF2-40B4-BE49-F238E27FC236}">
                  <a16:creationId xmlns:a16="http://schemas.microsoft.com/office/drawing/2014/main" id="{472A3991-BA09-A73D-7725-649C75CFA43E}"/>
                </a:ext>
              </a:extLst>
            </p:cNvPr>
            <p:cNvSpPr txBox="1"/>
            <p:nvPr/>
          </p:nvSpPr>
          <p:spPr>
            <a:xfrm>
              <a:off x="1782930" y="3046596"/>
              <a:ext cx="1304078"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2</a:t>
              </a:r>
            </a:p>
          </p:txBody>
        </p:sp>
      </p:grpSp>
      <p:cxnSp>
        <p:nvCxnSpPr>
          <p:cNvPr id="11" name="直接连接符 10">
            <a:extLst>
              <a:ext uri="{FF2B5EF4-FFF2-40B4-BE49-F238E27FC236}">
                <a16:creationId xmlns:a16="http://schemas.microsoft.com/office/drawing/2014/main" id="{057682BF-DCEB-262D-C3D6-BBA9712689FC}"/>
              </a:ext>
            </a:extLst>
          </p:cNvPr>
          <p:cNvCxnSpPr/>
          <p:nvPr/>
        </p:nvCxnSpPr>
        <p:spPr>
          <a:xfrm>
            <a:off x="2487619" y="2759080"/>
            <a:ext cx="1226457" cy="0"/>
          </a:xfrm>
          <a:prstGeom prst="line">
            <a:avLst/>
          </a:prstGeom>
          <a:ln>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12" name="等腰三角形 11">
            <a:extLst>
              <a:ext uri="{FF2B5EF4-FFF2-40B4-BE49-F238E27FC236}">
                <a16:creationId xmlns:a16="http://schemas.microsoft.com/office/drawing/2014/main" id="{78E38DDE-F6EC-698A-1124-FF3D8035C118}"/>
              </a:ext>
            </a:extLst>
          </p:cNvPr>
          <p:cNvSpPr/>
          <p:nvPr/>
        </p:nvSpPr>
        <p:spPr>
          <a:xfrm flipV="1">
            <a:off x="3018319" y="2757959"/>
            <a:ext cx="165056" cy="10271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2E6D2ECC-6947-9C52-E502-1CD774352502}"/>
              </a:ext>
            </a:extLst>
          </p:cNvPr>
          <p:cNvSpPr txBox="1"/>
          <p:nvPr/>
        </p:nvSpPr>
        <p:spPr>
          <a:xfrm>
            <a:off x="6475412" y="2938263"/>
            <a:ext cx="1613820" cy="2484463"/>
          </a:xfrm>
          <a:prstGeom prst="rect">
            <a:avLst/>
          </a:prstGeom>
          <a:noFill/>
        </p:spPr>
        <p:txBody>
          <a:bodyPr wrap="square" rtlCol="0">
            <a:spAutoFit/>
          </a:bodyPr>
          <a:lstStyle/>
          <a:p>
            <a:pPr algn="just">
              <a:lnSpc>
                <a:spcPct val="125000"/>
              </a:lnSpc>
            </a:pPr>
            <a:r>
              <a:rPr lang="zh-CN" altLang="zh-CN" sz="1800" kern="100" dirty="0">
                <a:solidFill>
                  <a:srgbClr val="AC0000"/>
                </a:solidFill>
                <a:effectLst/>
                <a:latin typeface="微软雅黑" panose="020B0503020204020204" pitchFamily="34" charset="-122"/>
                <a:ea typeface="微软雅黑" panose="020B0503020204020204" pitchFamily="34" charset="-122"/>
                <a:cs typeface="Arial" panose="020B0604020202020204" pitchFamily="34" charset="0"/>
              </a:rPr>
              <a:t>综采工作面设备在长期运行过程中，时常会发生各种各样的安全事故，亟需有效的安全预警手段。</a:t>
            </a:r>
            <a:endParaRPr lang="en-US" altLang="zh-CN" sz="1800" kern="100" dirty="0">
              <a:solidFill>
                <a:srgbClr val="AC0000"/>
              </a:solidFill>
              <a:effectLst/>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21" name="组合 20">
            <a:extLst>
              <a:ext uri="{FF2B5EF4-FFF2-40B4-BE49-F238E27FC236}">
                <a16:creationId xmlns:a16="http://schemas.microsoft.com/office/drawing/2014/main" id="{C2657900-7403-FD49-20AE-079C3FD8259B}"/>
              </a:ext>
            </a:extLst>
          </p:cNvPr>
          <p:cNvGrpSpPr/>
          <p:nvPr/>
        </p:nvGrpSpPr>
        <p:grpSpPr>
          <a:xfrm>
            <a:off x="6647104" y="1260862"/>
            <a:ext cx="1341026" cy="1319036"/>
            <a:chOff x="1782930" y="2564122"/>
            <a:chExt cx="1341026" cy="1319036"/>
          </a:xfrm>
        </p:grpSpPr>
        <p:sp>
          <p:nvSpPr>
            <p:cNvPr id="22" name="十角星 13">
              <a:extLst>
                <a:ext uri="{FF2B5EF4-FFF2-40B4-BE49-F238E27FC236}">
                  <a16:creationId xmlns:a16="http://schemas.microsoft.com/office/drawing/2014/main" id="{F4DA9EB2-B0F2-279A-E270-95C5DDFF6234}"/>
                </a:ext>
              </a:extLst>
            </p:cNvPr>
            <p:cNvSpPr/>
            <p:nvPr/>
          </p:nvSpPr>
          <p:spPr>
            <a:xfrm>
              <a:off x="1804920" y="2564122"/>
              <a:ext cx="1319036" cy="1319036"/>
            </a:xfrm>
            <a:prstGeom prst="star10">
              <a:avLst>
                <a:gd name="adj" fmla="val 45147"/>
                <a:gd name="hf" fmla="val 10514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1900">
                <a:solidFill>
                  <a:prstClr val="white"/>
                </a:solidFill>
              </a:endParaRPr>
            </a:p>
          </p:txBody>
        </p:sp>
        <p:sp>
          <p:nvSpPr>
            <p:cNvPr id="23" name="文本框 22">
              <a:extLst>
                <a:ext uri="{FF2B5EF4-FFF2-40B4-BE49-F238E27FC236}">
                  <a16:creationId xmlns:a16="http://schemas.microsoft.com/office/drawing/2014/main" id="{F184C9F1-E36E-7F40-F444-05DEE9653F70}"/>
                </a:ext>
              </a:extLst>
            </p:cNvPr>
            <p:cNvSpPr txBox="1"/>
            <p:nvPr/>
          </p:nvSpPr>
          <p:spPr>
            <a:xfrm>
              <a:off x="1782930" y="3046596"/>
              <a:ext cx="1304078"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3</a:t>
              </a:r>
            </a:p>
          </p:txBody>
        </p:sp>
      </p:grpSp>
      <p:cxnSp>
        <p:nvCxnSpPr>
          <p:cNvPr id="24" name="直接连接符 23">
            <a:extLst>
              <a:ext uri="{FF2B5EF4-FFF2-40B4-BE49-F238E27FC236}">
                <a16:creationId xmlns:a16="http://schemas.microsoft.com/office/drawing/2014/main" id="{AB4A0970-D8C3-5D36-652C-C9181180257F}"/>
              </a:ext>
            </a:extLst>
          </p:cNvPr>
          <p:cNvCxnSpPr/>
          <p:nvPr/>
        </p:nvCxnSpPr>
        <p:spPr>
          <a:xfrm>
            <a:off x="6669094" y="2759080"/>
            <a:ext cx="1226457" cy="0"/>
          </a:xfrm>
          <a:prstGeom prst="line">
            <a:avLst/>
          </a:prstGeom>
          <a:ln>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25" name="等腰三角形 24">
            <a:extLst>
              <a:ext uri="{FF2B5EF4-FFF2-40B4-BE49-F238E27FC236}">
                <a16:creationId xmlns:a16="http://schemas.microsoft.com/office/drawing/2014/main" id="{16CA0502-0FCC-C418-D8A5-F4740F49C02F}"/>
              </a:ext>
            </a:extLst>
          </p:cNvPr>
          <p:cNvSpPr/>
          <p:nvPr/>
        </p:nvSpPr>
        <p:spPr>
          <a:xfrm flipV="1">
            <a:off x="7199794" y="2757959"/>
            <a:ext cx="165056" cy="10271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68419321"/>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2657" y="312248"/>
            <a:ext cx="5258480" cy="682623"/>
          </a:xfrm>
        </p:spPr>
        <p:txBody>
          <a:bodyPr/>
          <a:lstStyle/>
          <a:p>
            <a:r>
              <a:rPr lang="zh-CN" altLang="en-US" dirty="0"/>
              <a:t>研究意义</a:t>
            </a:r>
          </a:p>
        </p:txBody>
      </p:sp>
      <p:sp>
        <p:nvSpPr>
          <p:cNvPr id="163" name="文本框 162"/>
          <p:cNvSpPr txBox="1"/>
          <p:nvPr/>
        </p:nvSpPr>
        <p:spPr>
          <a:xfrm>
            <a:off x="1302656" y="3368875"/>
            <a:ext cx="2335893" cy="2688044"/>
          </a:xfrm>
          <a:prstGeom prst="rect">
            <a:avLst/>
          </a:prstGeom>
          <a:noFill/>
        </p:spPr>
        <p:txBody>
          <a:bodyPr wrap="square" rtlCol="0">
            <a:spAutoFit/>
          </a:bodyPr>
          <a:lstStyle/>
          <a:p>
            <a:r>
              <a:rPr lang="zh-CN" altLang="en-US" dirty="0">
                <a:solidFill>
                  <a:srgbClr val="AB3442"/>
                </a:solidFill>
                <a:latin typeface="微软雅黑" panose="020B0503020204020204" pitchFamily="34" charset="-122"/>
                <a:ea typeface="微软雅黑" panose="020B0503020204020204" pitchFamily="34" charset="-122"/>
                <a:cs typeface="Arial" panose="020B0604020202020204" pitchFamily="34" charset="0"/>
              </a:rPr>
              <a:t>工作面找直</a:t>
            </a:r>
            <a:endParaRPr lang="en-US" altLang="zh-CN" dirty="0">
              <a:solidFill>
                <a:srgbClr val="AB3442"/>
              </a:solidFill>
              <a:latin typeface="微软雅黑" panose="020B0503020204020204" pitchFamily="34" charset="-122"/>
              <a:ea typeface="微软雅黑" panose="020B0503020204020204" pitchFamily="34" charset="-122"/>
              <a:cs typeface="Arial" panose="020B0604020202020204" pitchFamily="34" charset="0"/>
            </a:endParaRPr>
          </a:p>
          <a:p>
            <a:endParaRPr lang="en-US" altLang="zh-CN" sz="1800" dirty="0">
              <a:solidFill>
                <a:srgbClr val="AB3442"/>
              </a:solidFill>
              <a:effectLst/>
              <a:latin typeface="微软雅黑" panose="020B0503020204020204" pitchFamily="34" charset="-122"/>
              <a:ea typeface="微软雅黑" panose="020B0503020204020204" pitchFamily="34" charset="-122"/>
              <a:cs typeface="Arial" panose="020B0604020202020204" pitchFamily="34" charset="0"/>
            </a:endParaRPr>
          </a:p>
          <a:p>
            <a:pPr>
              <a:lnSpc>
                <a:spcPct val="125000"/>
              </a:lnSpc>
            </a:pP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取代昂贵的惯导系统，以液压支架为基准对综采工作面直线度进行自动控制，在不失精确度的基础上大大节约了成本</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endParaRPr lang="en-US" altLang="zh-CN" dirty="0">
              <a:solidFill>
                <a:schemeClr val="accent1"/>
              </a:solidFill>
              <a:latin typeface="微软雅黑" panose="020B0503020204020204" pitchFamily="34" charset="-122"/>
              <a:ea typeface="微软雅黑" panose="020B0503020204020204" pitchFamily="34" charset="-122"/>
              <a:cs typeface="Arial" pitchFamily="34" charset="0"/>
            </a:endParaRPr>
          </a:p>
        </p:txBody>
      </p:sp>
      <p:sp>
        <p:nvSpPr>
          <p:cNvPr id="172" name="文本框 171"/>
          <p:cNvSpPr txBox="1"/>
          <p:nvPr/>
        </p:nvSpPr>
        <p:spPr>
          <a:xfrm>
            <a:off x="4136089" y="2378756"/>
            <a:ext cx="2335892" cy="2862322"/>
          </a:xfrm>
          <a:prstGeom prst="rect">
            <a:avLst/>
          </a:prstGeom>
          <a:noFill/>
        </p:spPr>
        <p:txBody>
          <a:bodyPr wrap="square" rtlCol="0">
            <a:spAutoFit/>
          </a:bodyPr>
          <a:lstStyle/>
          <a:p>
            <a:r>
              <a:rPr lang="zh-CN" altLang="en-US" sz="1800" dirty="0">
                <a:solidFill>
                  <a:srgbClr val="AB3442"/>
                </a:solidFill>
                <a:effectLst/>
                <a:latin typeface="微软雅黑" panose="020B0503020204020204" pitchFamily="34" charset="-122"/>
                <a:ea typeface="微软雅黑" panose="020B0503020204020204" pitchFamily="34" charset="-122"/>
                <a:cs typeface="Arial" panose="020B0604020202020204" pitchFamily="34" charset="0"/>
              </a:rPr>
              <a:t>巡检监测</a:t>
            </a:r>
            <a:endParaRPr lang="en-US" altLang="zh-CN" sz="1800" dirty="0">
              <a:solidFill>
                <a:srgbClr val="AB3442"/>
              </a:solidFill>
              <a:effectLst/>
              <a:latin typeface="微软雅黑" panose="020B0503020204020204" pitchFamily="34" charset="-122"/>
              <a:ea typeface="微软雅黑" panose="020B0503020204020204" pitchFamily="34" charset="-122"/>
              <a:cs typeface="Arial" panose="020B0604020202020204" pitchFamily="34" charset="0"/>
            </a:endParaRPr>
          </a:p>
          <a:p>
            <a:endParaRPr lang="en-US" altLang="zh-CN" dirty="0">
              <a:ea typeface="宋体" panose="02010600030101010101" pitchFamily="2" charset="-122"/>
              <a:cs typeface="Arial" panose="020B0604020202020204" pitchFamily="34" charset="0"/>
            </a:endParaRPr>
          </a:p>
          <a:p>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对井下巷道环境进行全方位实时动态监测，有效的避免传统巡检方式所存在的弊端；同时也提供了安全有效的预警手段，保障了井下煤矿工人的人身安全。</a:t>
            </a:r>
            <a:endParaRPr lang="en-US" altLang="zh-CN" dirty="0">
              <a:solidFill>
                <a:schemeClr val="accent1"/>
              </a:solidFill>
              <a:latin typeface="微软雅黑" panose="020B0503020204020204" pitchFamily="34" charset="-122"/>
              <a:ea typeface="微软雅黑" panose="020B0503020204020204" pitchFamily="34" charset="-122"/>
              <a:cs typeface="Arial" pitchFamily="34" charset="0"/>
            </a:endParaRPr>
          </a:p>
        </p:txBody>
      </p:sp>
      <p:sp>
        <p:nvSpPr>
          <p:cNvPr id="8" name="文本框 7">
            <a:extLst>
              <a:ext uri="{FF2B5EF4-FFF2-40B4-BE49-F238E27FC236}">
                <a16:creationId xmlns:a16="http://schemas.microsoft.com/office/drawing/2014/main" id="{7D6C6993-6111-873F-1333-961E60C350F2}"/>
              </a:ext>
            </a:extLst>
          </p:cNvPr>
          <p:cNvSpPr txBox="1"/>
          <p:nvPr/>
        </p:nvSpPr>
        <p:spPr>
          <a:xfrm>
            <a:off x="7136178" y="1338868"/>
            <a:ext cx="2480963" cy="3173305"/>
          </a:xfrm>
          <a:prstGeom prst="rect">
            <a:avLst/>
          </a:prstGeom>
          <a:noFill/>
        </p:spPr>
        <p:txBody>
          <a:bodyPr wrap="square">
            <a:spAutoFit/>
          </a:bodyPr>
          <a:lstStyle/>
          <a:p>
            <a:pPr algn="just">
              <a:lnSpc>
                <a:spcPct val="125000"/>
              </a:lnSpc>
            </a:pPr>
            <a:r>
              <a:rPr lang="zh-CN" altLang="en-US" sz="1800" kern="100" dirty="0">
                <a:solidFill>
                  <a:srgbClr val="AB3442"/>
                </a:solidFill>
                <a:effectLst/>
                <a:latin typeface="微软雅黑" panose="020B0503020204020204" pitchFamily="34" charset="-122"/>
                <a:ea typeface="微软雅黑" panose="020B0503020204020204" pitchFamily="34" charset="-122"/>
                <a:cs typeface="Arial" panose="020B0604020202020204" pitchFamily="34" charset="0"/>
              </a:rPr>
              <a:t>智慧矿山</a:t>
            </a:r>
            <a:endParaRPr lang="en-US" altLang="zh-CN" sz="1800" kern="100" dirty="0">
              <a:solidFill>
                <a:srgbClr val="AB3442"/>
              </a:solidFill>
              <a:effectLst/>
              <a:latin typeface="微软雅黑" panose="020B0503020204020204" pitchFamily="34" charset="-122"/>
              <a:ea typeface="微软雅黑" panose="020B0503020204020204" pitchFamily="34" charset="-122"/>
              <a:cs typeface="Arial" panose="020B0604020202020204" pitchFamily="34" charset="0"/>
            </a:endParaRPr>
          </a:p>
          <a:p>
            <a:pPr indent="304800" algn="just">
              <a:lnSpc>
                <a:spcPct val="125000"/>
              </a:lnSpc>
            </a:pPr>
            <a:endParaRPr lang="en-US" altLang="zh-CN" kern="100" dirty="0">
              <a:latin typeface="Times New Roman" panose="02020603050405020304" pitchFamily="18" charset="0"/>
              <a:ea typeface="宋体" panose="02010600030101010101" pitchFamily="2" charset="-122"/>
              <a:cs typeface="Arial" panose="020B0604020202020204" pitchFamily="34" charset="0"/>
            </a:endParaRPr>
          </a:p>
          <a:p>
            <a:pPr algn="just">
              <a:lnSpc>
                <a:spcPct val="125000"/>
              </a:lnSpc>
            </a:pPr>
            <a:r>
              <a:rPr lang="zh-CN" altLang="zh-CN" sz="1800" kern="100" dirty="0">
                <a:effectLst/>
                <a:latin typeface="微软雅黑" panose="020B0503020204020204" pitchFamily="34" charset="-122"/>
                <a:ea typeface="微软雅黑" panose="020B0503020204020204" pitchFamily="34" charset="-122"/>
                <a:cs typeface="Arial" panose="020B0604020202020204" pitchFamily="34" charset="0"/>
              </a:rPr>
              <a:t>为煤矿井下“信息化、智能化”建设提供必要的装备支撑，对实现综采工作面的少人及无人化生产具有重要意义，响应了煤炭行业“智慧矿山”的发展趋势。</a:t>
            </a:r>
            <a:endParaRPr lang="zh-CN" altLang="zh-CN" sz="1400" kern="100" dirty="0">
              <a:effectLst/>
              <a:latin typeface="微软雅黑" panose="020B0503020204020204" pitchFamily="34" charset="-122"/>
              <a:ea typeface="微软雅黑" panose="020B0503020204020204" pitchFamily="34" charset="-122"/>
            </a:endParaRPr>
          </a:p>
        </p:txBody>
      </p:sp>
      <p:cxnSp>
        <p:nvCxnSpPr>
          <p:cNvPr id="11" name="直接连接符 10">
            <a:extLst>
              <a:ext uri="{FF2B5EF4-FFF2-40B4-BE49-F238E27FC236}">
                <a16:creationId xmlns:a16="http://schemas.microsoft.com/office/drawing/2014/main" id="{C7EBC27B-25A7-B985-3C81-7C61833EBB71}"/>
              </a:ext>
            </a:extLst>
          </p:cNvPr>
          <p:cNvCxnSpPr/>
          <p:nvPr/>
        </p:nvCxnSpPr>
        <p:spPr>
          <a:xfrm>
            <a:off x="1302656" y="6162675"/>
            <a:ext cx="2212069"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直接连接符 11">
            <a:extLst>
              <a:ext uri="{FF2B5EF4-FFF2-40B4-BE49-F238E27FC236}">
                <a16:creationId xmlns:a16="http://schemas.microsoft.com/office/drawing/2014/main" id="{FA9520F0-BE74-9023-D2CC-387A0EA15C6F}"/>
              </a:ext>
            </a:extLst>
          </p:cNvPr>
          <p:cNvCxnSpPr/>
          <p:nvPr/>
        </p:nvCxnSpPr>
        <p:spPr>
          <a:xfrm>
            <a:off x="4136089" y="5345853"/>
            <a:ext cx="2212069"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3" name="直接连接符 12">
            <a:extLst>
              <a:ext uri="{FF2B5EF4-FFF2-40B4-BE49-F238E27FC236}">
                <a16:creationId xmlns:a16="http://schemas.microsoft.com/office/drawing/2014/main" id="{EFD456F4-CC45-61D5-3EA5-6AACC0EA3AAB}"/>
              </a:ext>
            </a:extLst>
          </p:cNvPr>
          <p:cNvCxnSpPr>
            <a:cxnSpLocks/>
          </p:cNvCxnSpPr>
          <p:nvPr/>
        </p:nvCxnSpPr>
        <p:spPr>
          <a:xfrm>
            <a:off x="7210425" y="4626473"/>
            <a:ext cx="2406716" cy="0"/>
          </a:xfrm>
          <a:prstGeom prst="line">
            <a:avLst/>
          </a:prstGeom>
        </p:spPr>
        <p:style>
          <a:lnRef idx="3">
            <a:schemeClr val="accent1"/>
          </a:lnRef>
          <a:fillRef idx="0">
            <a:schemeClr val="accent1"/>
          </a:fillRef>
          <a:effectRef idx="2">
            <a:schemeClr val="accent1"/>
          </a:effectRef>
          <a:fontRef idx="minor">
            <a:schemeClr val="tx1"/>
          </a:fontRef>
        </p:style>
      </p:cxn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2657" y="312248"/>
            <a:ext cx="5258480" cy="682623"/>
          </a:xfrm>
        </p:spPr>
        <p:txBody>
          <a:bodyPr/>
          <a:lstStyle/>
          <a:p>
            <a:r>
              <a:rPr lang="zh-CN" altLang="en-US" dirty="0"/>
              <a:t>巡检机器人研究现状</a:t>
            </a:r>
          </a:p>
        </p:txBody>
      </p:sp>
      <p:pic>
        <p:nvPicPr>
          <p:cNvPr id="6" name="图片 5">
            <a:extLst>
              <a:ext uri="{FF2B5EF4-FFF2-40B4-BE49-F238E27FC236}">
                <a16:creationId xmlns:a16="http://schemas.microsoft.com/office/drawing/2014/main" id="{70E206C9-A0A8-2512-68F6-71AC01DA62CB}"/>
              </a:ext>
            </a:extLst>
          </p:cNvPr>
          <p:cNvPicPr>
            <a:picLocks noChangeAspect="1"/>
          </p:cNvPicPr>
          <p:nvPr/>
        </p:nvPicPr>
        <p:blipFill>
          <a:blip r:embed="rId2"/>
          <a:stretch>
            <a:fillRect/>
          </a:stretch>
        </p:blipFill>
        <p:spPr>
          <a:xfrm>
            <a:off x="510811" y="1916642"/>
            <a:ext cx="2402840" cy="1695450"/>
          </a:xfrm>
          <a:prstGeom prst="rect">
            <a:avLst/>
          </a:prstGeom>
        </p:spPr>
      </p:pic>
      <p:pic>
        <p:nvPicPr>
          <p:cNvPr id="9" name="图片 8">
            <a:extLst>
              <a:ext uri="{FF2B5EF4-FFF2-40B4-BE49-F238E27FC236}">
                <a16:creationId xmlns:a16="http://schemas.microsoft.com/office/drawing/2014/main" id="{BDCA5141-4C7B-D66B-5A3C-3DE11388AE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7361" y="1472670"/>
            <a:ext cx="1924050" cy="2828925"/>
          </a:xfrm>
          <a:prstGeom prst="rect">
            <a:avLst/>
          </a:prstGeom>
        </p:spPr>
      </p:pic>
      <p:pic>
        <p:nvPicPr>
          <p:cNvPr id="10" name="图片 9">
            <a:extLst>
              <a:ext uri="{FF2B5EF4-FFF2-40B4-BE49-F238E27FC236}">
                <a16:creationId xmlns:a16="http://schemas.microsoft.com/office/drawing/2014/main" id="{E21C5279-5338-4E43-4386-A97858E8C183}"/>
              </a:ext>
            </a:extLst>
          </p:cNvPr>
          <p:cNvPicPr>
            <a:picLocks noChangeAspect="1"/>
          </p:cNvPicPr>
          <p:nvPr/>
        </p:nvPicPr>
        <p:blipFill>
          <a:blip r:embed="rId4"/>
          <a:stretch>
            <a:fillRect/>
          </a:stretch>
        </p:blipFill>
        <p:spPr>
          <a:xfrm>
            <a:off x="5225122" y="2135717"/>
            <a:ext cx="2190750" cy="1257300"/>
          </a:xfrm>
          <a:prstGeom prst="rect">
            <a:avLst/>
          </a:prstGeom>
        </p:spPr>
      </p:pic>
      <p:pic>
        <p:nvPicPr>
          <p:cNvPr id="12" name="图片 11">
            <a:extLst>
              <a:ext uri="{FF2B5EF4-FFF2-40B4-BE49-F238E27FC236}">
                <a16:creationId xmlns:a16="http://schemas.microsoft.com/office/drawing/2014/main" id="{114B6C99-C841-C784-0106-5FE70C97E2AB}"/>
              </a:ext>
            </a:extLst>
          </p:cNvPr>
          <p:cNvPicPr>
            <a:picLocks noChangeAspect="1"/>
          </p:cNvPicPr>
          <p:nvPr/>
        </p:nvPicPr>
        <p:blipFill>
          <a:blip r:embed="rId5"/>
          <a:stretch>
            <a:fillRect/>
          </a:stretch>
        </p:blipFill>
        <p:spPr>
          <a:xfrm>
            <a:off x="7491410" y="1668992"/>
            <a:ext cx="2847975" cy="2190750"/>
          </a:xfrm>
          <a:prstGeom prst="rect">
            <a:avLst/>
          </a:prstGeom>
        </p:spPr>
      </p:pic>
      <p:sp>
        <p:nvSpPr>
          <p:cNvPr id="23" name="文本框 22">
            <a:extLst>
              <a:ext uri="{FF2B5EF4-FFF2-40B4-BE49-F238E27FC236}">
                <a16:creationId xmlns:a16="http://schemas.microsoft.com/office/drawing/2014/main" id="{AEF9FACC-E4E5-1B60-336B-F730628AA63C}"/>
              </a:ext>
            </a:extLst>
          </p:cNvPr>
          <p:cNvSpPr txBox="1"/>
          <p:nvPr/>
        </p:nvSpPr>
        <p:spPr>
          <a:xfrm>
            <a:off x="2294467" y="4805324"/>
            <a:ext cx="6096000" cy="1445717"/>
          </a:xfrm>
          <a:prstGeom prst="rect">
            <a:avLst/>
          </a:prstGeom>
          <a:noFill/>
        </p:spPr>
        <p:txBody>
          <a:bodyPr wrap="square">
            <a:spAutoFit/>
          </a:bodyPr>
          <a:lstStyle/>
          <a:p>
            <a:pPr indent="457200" algn="just">
              <a:lnSpc>
                <a:spcPct val="125000"/>
              </a:lnSpc>
            </a:pP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从上述国内外取得的研究成果可以看出，目前用于煤矿领域的巡检机器人，其主要采用轮式、履带式、悬线式和轨道式等设计。在设计过程中，需要结合煤矿的具体生产环境而定。</a:t>
            </a:r>
            <a:endParaRPr lang="zh-CN" altLang="en-US" dirty="0">
              <a:solidFill>
                <a:srgbClr val="AB334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2657" y="312248"/>
            <a:ext cx="5258480" cy="682623"/>
          </a:xfrm>
        </p:spPr>
        <p:txBody>
          <a:bodyPr>
            <a:normAutofit fontScale="90000"/>
          </a:bodyPr>
          <a:lstStyle/>
          <a:p>
            <a:r>
              <a:rPr lang="zh-CN" altLang="en-US" dirty="0"/>
              <a:t>巡检机器人控制系统研究现状</a:t>
            </a:r>
          </a:p>
        </p:txBody>
      </p:sp>
      <p:pic>
        <p:nvPicPr>
          <p:cNvPr id="3" name="图片 2">
            <a:extLst>
              <a:ext uri="{FF2B5EF4-FFF2-40B4-BE49-F238E27FC236}">
                <a16:creationId xmlns:a16="http://schemas.microsoft.com/office/drawing/2014/main" id="{B990A0D2-5B53-A651-6BAD-9C2B3570F7AE}"/>
              </a:ext>
            </a:extLst>
          </p:cNvPr>
          <p:cNvPicPr>
            <a:picLocks noChangeAspect="1"/>
          </p:cNvPicPr>
          <p:nvPr/>
        </p:nvPicPr>
        <p:blipFill>
          <a:blip r:embed="rId2"/>
          <a:stretch>
            <a:fillRect/>
          </a:stretch>
        </p:blipFill>
        <p:spPr>
          <a:xfrm>
            <a:off x="511291" y="1519217"/>
            <a:ext cx="2880000" cy="1909783"/>
          </a:xfrm>
          <a:prstGeom prst="rect">
            <a:avLst/>
          </a:prstGeom>
        </p:spPr>
      </p:pic>
      <p:pic>
        <p:nvPicPr>
          <p:cNvPr id="4" name="图片 3">
            <a:extLst>
              <a:ext uri="{FF2B5EF4-FFF2-40B4-BE49-F238E27FC236}">
                <a16:creationId xmlns:a16="http://schemas.microsoft.com/office/drawing/2014/main" id="{D37F8C07-64D6-0668-4523-02009E4A25FB}"/>
              </a:ext>
            </a:extLst>
          </p:cNvPr>
          <p:cNvPicPr>
            <a:picLocks noChangeAspect="1"/>
          </p:cNvPicPr>
          <p:nvPr/>
        </p:nvPicPr>
        <p:blipFill>
          <a:blip r:embed="rId3"/>
          <a:stretch>
            <a:fillRect/>
          </a:stretch>
        </p:blipFill>
        <p:spPr>
          <a:xfrm>
            <a:off x="7360709" y="1424133"/>
            <a:ext cx="2880000" cy="1969887"/>
          </a:xfrm>
          <a:prstGeom prst="rect">
            <a:avLst/>
          </a:prstGeom>
        </p:spPr>
      </p:pic>
      <p:pic>
        <p:nvPicPr>
          <p:cNvPr id="5" name="图片 4">
            <a:extLst>
              <a:ext uri="{FF2B5EF4-FFF2-40B4-BE49-F238E27FC236}">
                <a16:creationId xmlns:a16="http://schemas.microsoft.com/office/drawing/2014/main" id="{10F15C96-EBAB-2C5B-2C6F-9C31BDB16CA5}"/>
              </a:ext>
            </a:extLst>
          </p:cNvPr>
          <p:cNvPicPr>
            <a:picLocks noChangeAspect="1"/>
          </p:cNvPicPr>
          <p:nvPr/>
        </p:nvPicPr>
        <p:blipFill>
          <a:blip r:embed="rId4"/>
          <a:stretch>
            <a:fillRect/>
          </a:stretch>
        </p:blipFill>
        <p:spPr>
          <a:xfrm>
            <a:off x="3830108" y="1927690"/>
            <a:ext cx="2880000" cy="1406226"/>
          </a:xfrm>
          <a:prstGeom prst="rect">
            <a:avLst/>
          </a:prstGeom>
        </p:spPr>
      </p:pic>
      <p:sp>
        <p:nvSpPr>
          <p:cNvPr id="8" name="文本框 7">
            <a:extLst>
              <a:ext uri="{FF2B5EF4-FFF2-40B4-BE49-F238E27FC236}">
                <a16:creationId xmlns:a16="http://schemas.microsoft.com/office/drawing/2014/main" id="{EB02B3B5-3515-D2F5-08A7-ADA09B15B35C}"/>
              </a:ext>
            </a:extLst>
          </p:cNvPr>
          <p:cNvSpPr txBox="1"/>
          <p:nvPr/>
        </p:nvSpPr>
        <p:spPr>
          <a:xfrm>
            <a:off x="2222108" y="4361819"/>
            <a:ext cx="6096000" cy="1061381"/>
          </a:xfrm>
          <a:prstGeom prst="rect">
            <a:avLst/>
          </a:prstGeom>
          <a:noFill/>
        </p:spPr>
        <p:txBody>
          <a:bodyPr wrap="square">
            <a:spAutoFit/>
          </a:bodyPr>
          <a:lstStyle/>
          <a:p>
            <a:pPr indent="457200" algn="just">
              <a:lnSpc>
                <a:spcPct val="120000"/>
              </a:lnSpc>
            </a:pP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目前煤矿巡检机器人控制系统主要以</a:t>
            </a:r>
            <a:r>
              <a:rPr lang="en-US" altLang="zh-CN" sz="1800" dirty="0">
                <a:solidFill>
                  <a:srgbClr val="AB3341"/>
                </a:solidFill>
                <a:effectLst/>
                <a:latin typeface="微软雅黑" panose="020B0503020204020204" pitchFamily="34" charset="-122"/>
                <a:ea typeface="微软雅黑" panose="020B0503020204020204" pitchFamily="34" charset="-122"/>
              </a:rPr>
              <a:t>PLC</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、单片机和工控机为主，控制策略也趋于完善，倾向于“上位机集控为主，下位机多种控制方式相结合”的控制方案。</a:t>
            </a:r>
            <a:endParaRPr lang="zh-CN" altLang="en-US" dirty="0">
              <a:solidFill>
                <a:srgbClr val="AB334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74009484"/>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巡检机器人总体设计</a:t>
            </a:r>
          </a:p>
        </p:txBody>
      </p:sp>
      <p:sp>
        <p:nvSpPr>
          <p:cNvPr id="3" name="星形: 五角 2">
            <a:extLst>
              <a:ext uri="{FF2B5EF4-FFF2-40B4-BE49-F238E27FC236}">
                <a16:creationId xmlns:a16="http://schemas.microsoft.com/office/drawing/2014/main" id="{0E34EAED-DB67-9267-E537-8BB0F886A658}"/>
              </a:ext>
            </a:extLst>
          </p:cNvPr>
          <p:cNvSpPr/>
          <p:nvPr/>
        </p:nvSpPr>
        <p:spPr>
          <a:xfrm>
            <a:off x="4724399" y="3996270"/>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03840E45-A66A-008B-C5C9-5FBFD625667D}"/>
              </a:ext>
            </a:extLst>
          </p:cNvPr>
          <p:cNvSpPr txBox="1"/>
          <p:nvPr/>
        </p:nvSpPr>
        <p:spPr>
          <a:xfrm>
            <a:off x="4936066" y="3867037"/>
            <a:ext cx="2336801"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设计需求分析</a:t>
            </a:r>
          </a:p>
        </p:txBody>
      </p:sp>
      <p:sp>
        <p:nvSpPr>
          <p:cNvPr id="5" name="星形: 五角 4">
            <a:extLst>
              <a:ext uri="{FF2B5EF4-FFF2-40B4-BE49-F238E27FC236}">
                <a16:creationId xmlns:a16="http://schemas.microsoft.com/office/drawing/2014/main" id="{A0957E7E-94A3-0849-C16C-C38CD430DBA4}"/>
              </a:ext>
            </a:extLst>
          </p:cNvPr>
          <p:cNvSpPr/>
          <p:nvPr/>
        </p:nvSpPr>
        <p:spPr>
          <a:xfrm>
            <a:off x="4724399" y="4671073"/>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5D2EBB11-C3F2-F373-86D0-C0D3CFCEFE3B}"/>
              </a:ext>
            </a:extLst>
          </p:cNvPr>
          <p:cNvSpPr txBox="1"/>
          <p:nvPr/>
        </p:nvSpPr>
        <p:spPr>
          <a:xfrm>
            <a:off x="4936066" y="4541840"/>
            <a:ext cx="2336801"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总体设计方案</a:t>
            </a:r>
          </a:p>
        </p:txBody>
      </p:sp>
      <p:sp>
        <p:nvSpPr>
          <p:cNvPr id="7" name="星形: 五角 6">
            <a:extLst>
              <a:ext uri="{FF2B5EF4-FFF2-40B4-BE49-F238E27FC236}">
                <a16:creationId xmlns:a16="http://schemas.microsoft.com/office/drawing/2014/main" id="{DECA2C43-A4BB-F106-3CA3-AB2DECA096FD}"/>
              </a:ext>
            </a:extLst>
          </p:cNvPr>
          <p:cNvSpPr/>
          <p:nvPr/>
        </p:nvSpPr>
        <p:spPr>
          <a:xfrm>
            <a:off x="4724399" y="5345876"/>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84BC6D63-B691-F2BB-DA18-0C6305274F77}"/>
              </a:ext>
            </a:extLst>
          </p:cNvPr>
          <p:cNvSpPr txBox="1"/>
          <p:nvPr/>
        </p:nvSpPr>
        <p:spPr>
          <a:xfrm>
            <a:off x="4936066" y="5216643"/>
            <a:ext cx="29379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机械系统设计</a:t>
            </a:r>
          </a:p>
        </p:txBody>
      </p:sp>
      <p:pic>
        <p:nvPicPr>
          <p:cNvPr id="9" name="图片 8">
            <a:extLst>
              <a:ext uri="{FF2B5EF4-FFF2-40B4-BE49-F238E27FC236}">
                <a16:creationId xmlns:a16="http://schemas.microsoft.com/office/drawing/2014/main" id="{BADB0CEC-EF90-8C1D-D014-63E4DC18FBE6}"/>
              </a:ext>
            </a:extLst>
          </p:cNvPr>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381000" y="461617"/>
            <a:ext cx="3067050" cy="514350"/>
          </a:xfrm>
          <a:prstGeom prst="rect">
            <a:avLst/>
          </a:prstGeom>
        </p:spPr>
      </p:pic>
      <p:pic>
        <p:nvPicPr>
          <p:cNvPr id="10" name="图片 9">
            <a:extLst>
              <a:ext uri="{FF2B5EF4-FFF2-40B4-BE49-F238E27FC236}">
                <a16:creationId xmlns:a16="http://schemas.microsoft.com/office/drawing/2014/main" id="{4893AAE6-A744-513D-59E8-1186664A7D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 y="447858"/>
            <a:ext cx="541867" cy="541867"/>
          </a:xfrm>
          <a:prstGeom prst="rect">
            <a:avLst/>
          </a:prstGeom>
        </p:spPr>
      </p:pic>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设计需求分析</a:t>
            </a:r>
          </a:p>
        </p:txBody>
      </p:sp>
      <p:sp>
        <p:nvSpPr>
          <p:cNvPr id="66" name="文本框 65"/>
          <p:cNvSpPr txBox="1"/>
          <p:nvPr/>
        </p:nvSpPr>
        <p:spPr>
          <a:xfrm>
            <a:off x="983477" y="1127558"/>
            <a:ext cx="2511426" cy="369332"/>
          </a:xfrm>
          <a:prstGeom prst="rect">
            <a:avLst/>
          </a:prstGeom>
          <a:noFill/>
        </p:spPr>
        <p:txBody>
          <a:bodyPr wrap="square" rtlCol="0">
            <a:spAutoFit/>
          </a:bodyPr>
          <a:lstStyle/>
          <a:p>
            <a:r>
              <a:rPr lang="zh-CN" altLang="en-US" dirty="0">
                <a:solidFill>
                  <a:srgbClr val="AB3442"/>
                </a:solidFill>
                <a:latin typeface="微软雅黑" panose="020B0503020204020204" pitchFamily="34" charset="-122"/>
                <a:ea typeface="微软雅黑" panose="020B0503020204020204" pitchFamily="34" charset="-122"/>
                <a:cs typeface="Arial" pitchFamily="34" charset="0"/>
              </a:rPr>
              <a:t>沿</a:t>
            </a:r>
            <a:r>
              <a:rPr lang="zh-CN" altLang="zh-CN" sz="1800" dirty="0">
                <a:solidFill>
                  <a:srgbClr val="AB3442"/>
                </a:solidFill>
                <a:effectLst/>
                <a:latin typeface="微软雅黑" panose="020B0503020204020204" pitchFamily="34" charset="-122"/>
                <a:ea typeface="微软雅黑" panose="020B0503020204020204" pitchFamily="34" charset="-122"/>
                <a:cs typeface="Times New Roman" panose="02020603050405020304" pitchFamily="18" charset="0"/>
              </a:rPr>
              <a:t>特定路线平稳行进</a:t>
            </a:r>
            <a:endParaRPr lang="en-US" altLang="zh-CN" dirty="0">
              <a:solidFill>
                <a:srgbClr val="AB3442"/>
              </a:solidFill>
              <a:latin typeface="微软雅黑" panose="020B0503020204020204" pitchFamily="34" charset="-122"/>
              <a:ea typeface="微软雅黑" panose="020B0503020204020204" pitchFamily="34" charset="-122"/>
              <a:cs typeface="Arial" pitchFamily="34" charset="0"/>
            </a:endParaRPr>
          </a:p>
        </p:txBody>
      </p:sp>
      <p:sp>
        <p:nvSpPr>
          <p:cNvPr id="71" name="文本框 70"/>
          <p:cNvSpPr txBox="1"/>
          <p:nvPr/>
        </p:nvSpPr>
        <p:spPr>
          <a:xfrm>
            <a:off x="983477" y="2972262"/>
            <a:ext cx="2511426" cy="369332"/>
          </a:xfrm>
          <a:prstGeom prst="rect">
            <a:avLst/>
          </a:prstGeom>
          <a:noFill/>
        </p:spPr>
        <p:txBody>
          <a:bodyPr wrap="square" rtlCol="0">
            <a:spAutoFit/>
          </a:bodyPr>
          <a:lstStyle/>
          <a:p>
            <a:r>
              <a:rPr lang="zh-CN" altLang="zh-CN" sz="1800" dirty="0">
                <a:solidFill>
                  <a:srgbClr val="AB3442"/>
                </a:solidFill>
                <a:effectLst/>
                <a:latin typeface="微软雅黑" panose="020B0503020204020204" pitchFamily="34" charset="-122"/>
                <a:ea typeface="微软雅黑" panose="020B0503020204020204" pitchFamily="34" charset="-122"/>
                <a:cs typeface="Arial" panose="020B0604020202020204" pitchFamily="34" charset="0"/>
              </a:rPr>
              <a:t>搭载</a:t>
            </a:r>
            <a:r>
              <a:rPr lang="zh-CN" altLang="zh-CN" sz="1800" dirty="0">
                <a:solidFill>
                  <a:srgbClr val="AB3442"/>
                </a:solidFill>
                <a:effectLst/>
                <a:latin typeface="微软雅黑" panose="020B0503020204020204" pitchFamily="34" charset="-122"/>
                <a:ea typeface="微软雅黑" panose="020B0503020204020204" pitchFamily="34" charset="-122"/>
                <a:cs typeface="Times New Roman" panose="02020603050405020304" pitchFamily="18" charset="0"/>
              </a:rPr>
              <a:t>传感器监测状态</a:t>
            </a:r>
            <a:endParaRPr lang="en-US" altLang="zh-CN" dirty="0">
              <a:solidFill>
                <a:srgbClr val="AB3442"/>
              </a:solidFill>
              <a:latin typeface="微软雅黑" panose="020B0503020204020204" pitchFamily="34" charset="-122"/>
              <a:ea typeface="微软雅黑" panose="020B0503020204020204" pitchFamily="34" charset="-122"/>
              <a:cs typeface="Arial" pitchFamily="34" charset="0"/>
            </a:endParaRPr>
          </a:p>
        </p:txBody>
      </p:sp>
      <p:sp>
        <p:nvSpPr>
          <p:cNvPr id="73" name="文本框 72"/>
          <p:cNvSpPr txBox="1"/>
          <p:nvPr/>
        </p:nvSpPr>
        <p:spPr>
          <a:xfrm>
            <a:off x="983477" y="4786244"/>
            <a:ext cx="2511426" cy="369332"/>
          </a:xfrm>
          <a:prstGeom prst="rect">
            <a:avLst/>
          </a:prstGeom>
          <a:noFill/>
        </p:spPr>
        <p:txBody>
          <a:bodyPr wrap="square" rtlCol="0">
            <a:spAutoFit/>
          </a:bodyPr>
          <a:lstStyle/>
          <a:p>
            <a:r>
              <a:rPr lang="zh-CN" altLang="zh-CN" sz="1800" dirty="0">
                <a:solidFill>
                  <a:srgbClr val="AB3442"/>
                </a:solidFill>
                <a:effectLst/>
                <a:latin typeface="微软雅黑" panose="020B0503020204020204" pitchFamily="34" charset="-122"/>
                <a:ea typeface="微软雅黑" panose="020B0503020204020204" pitchFamily="34" charset="-122"/>
                <a:cs typeface="Times New Roman" panose="02020603050405020304" pitchFamily="18" charset="0"/>
              </a:rPr>
              <a:t>功耗较低</a:t>
            </a:r>
            <a:r>
              <a:rPr lang="zh-CN" altLang="en-US" sz="1800" dirty="0">
                <a:solidFill>
                  <a:srgbClr val="AB3442"/>
                </a:solidFill>
                <a:effectLst/>
                <a:latin typeface="微软雅黑" panose="020B0503020204020204" pitchFamily="34" charset="-122"/>
                <a:ea typeface="微软雅黑" panose="020B0503020204020204" pitchFamily="34" charset="-122"/>
                <a:cs typeface="Times New Roman" panose="02020603050405020304" pitchFamily="18" charset="0"/>
              </a:rPr>
              <a:t>、较强续航</a:t>
            </a:r>
            <a:endParaRPr lang="en-US" altLang="zh-CN" dirty="0">
              <a:solidFill>
                <a:srgbClr val="AB3442"/>
              </a:solidFill>
              <a:latin typeface="微软雅黑" panose="020B0503020204020204" pitchFamily="34" charset="-122"/>
              <a:ea typeface="微软雅黑" panose="020B0503020204020204" pitchFamily="34" charset="-122"/>
              <a:cs typeface="Arial" pitchFamily="34" charset="0"/>
            </a:endParaRPr>
          </a:p>
        </p:txBody>
      </p:sp>
      <p:sp>
        <p:nvSpPr>
          <p:cNvPr id="76" name="文本框 75"/>
          <p:cNvSpPr txBox="1"/>
          <p:nvPr/>
        </p:nvSpPr>
        <p:spPr>
          <a:xfrm>
            <a:off x="7893139" y="1863354"/>
            <a:ext cx="2389491" cy="369332"/>
          </a:xfrm>
          <a:prstGeom prst="rect">
            <a:avLst/>
          </a:prstGeom>
          <a:noFill/>
        </p:spPr>
        <p:txBody>
          <a:bodyPr wrap="square" rtlCol="0">
            <a:spAutoFit/>
          </a:bodyPr>
          <a:lstStyle/>
          <a:p>
            <a:r>
              <a:rPr lang="zh-CN" altLang="zh-CN" sz="1800" dirty="0">
                <a:solidFill>
                  <a:srgbClr val="AB3442"/>
                </a:solidFill>
                <a:effectLst/>
                <a:latin typeface="微软雅黑" panose="020B0503020204020204" pitchFamily="34" charset="-122"/>
                <a:ea typeface="微软雅黑" panose="020B0503020204020204" pitchFamily="34" charset="-122"/>
                <a:cs typeface="Times New Roman" panose="02020603050405020304" pitchFamily="18" charset="0"/>
              </a:rPr>
              <a:t>防水、防尘、抗震</a:t>
            </a:r>
            <a:endParaRPr lang="en-US" altLang="zh-CN" dirty="0">
              <a:solidFill>
                <a:srgbClr val="AB3442"/>
              </a:solidFill>
              <a:latin typeface="微软雅黑" panose="020B0503020204020204" pitchFamily="34" charset="-122"/>
              <a:ea typeface="微软雅黑" panose="020B0503020204020204" pitchFamily="34" charset="-122"/>
              <a:cs typeface="Arial" pitchFamily="34" charset="0"/>
            </a:endParaRPr>
          </a:p>
        </p:txBody>
      </p:sp>
      <p:sp>
        <p:nvSpPr>
          <p:cNvPr id="79" name="文本框 78"/>
          <p:cNvSpPr txBox="1"/>
          <p:nvPr/>
        </p:nvSpPr>
        <p:spPr>
          <a:xfrm>
            <a:off x="7893140" y="3740519"/>
            <a:ext cx="2389491" cy="369332"/>
          </a:xfrm>
          <a:prstGeom prst="rect">
            <a:avLst/>
          </a:prstGeom>
          <a:noFill/>
        </p:spPr>
        <p:txBody>
          <a:bodyPr wrap="square" rtlCol="0">
            <a:spAutoFit/>
          </a:bodyPr>
          <a:lstStyle/>
          <a:p>
            <a:r>
              <a:rPr lang="zh-CN" altLang="zh-CN" sz="1800" dirty="0">
                <a:solidFill>
                  <a:srgbClr val="AB3442"/>
                </a:solidFill>
                <a:effectLst/>
                <a:latin typeface="微软雅黑" panose="020B0503020204020204" pitchFamily="34" charset="-122"/>
                <a:ea typeface="微软雅黑" panose="020B0503020204020204" pitchFamily="34" charset="-122"/>
                <a:cs typeface="Times New Roman" panose="02020603050405020304" pitchFamily="18" charset="0"/>
              </a:rPr>
              <a:t>无线化通讯方式</a:t>
            </a:r>
            <a:endParaRPr lang="en-US" altLang="zh-CN" dirty="0">
              <a:solidFill>
                <a:srgbClr val="AB3442"/>
              </a:solidFill>
              <a:latin typeface="微软雅黑" panose="020B0503020204020204" pitchFamily="34" charset="-122"/>
              <a:ea typeface="微软雅黑" panose="020B0503020204020204" pitchFamily="34" charset="-122"/>
              <a:cs typeface="Arial" pitchFamily="34" charset="0"/>
            </a:endParaRPr>
          </a:p>
        </p:txBody>
      </p:sp>
      <p:sp>
        <p:nvSpPr>
          <p:cNvPr id="28" name="文本框 27">
            <a:extLst>
              <a:ext uri="{FF2B5EF4-FFF2-40B4-BE49-F238E27FC236}">
                <a16:creationId xmlns:a16="http://schemas.microsoft.com/office/drawing/2014/main" id="{22F573A3-1A8D-67C7-50B8-5C506909F48C}"/>
              </a:ext>
            </a:extLst>
          </p:cNvPr>
          <p:cNvSpPr txBox="1"/>
          <p:nvPr/>
        </p:nvSpPr>
        <p:spPr>
          <a:xfrm>
            <a:off x="4267071" y="1814510"/>
            <a:ext cx="640852"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01</a:t>
            </a:r>
          </a:p>
        </p:txBody>
      </p:sp>
      <p:sp>
        <p:nvSpPr>
          <p:cNvPr id="29" name="文本框 28">
            <a:extLst>
              <a:ext uri="{FF2B5EF4-FFF2-40B4-BE49-F238E27FC236}">
                <a16:creationId xmlns:a16="http://schemas.microsoft.com/office/drawing/2014/main" id="{5BFE4C88-8A04-C57E-D008-2DA0994D0FF8}"/>
              </a:ext>
            </a:extLst>
          </p:cNvPr>
          <p:cNvSpPr txBox="1"/>
          <p:nvPr/>
        </p:nvSpPr>
        <p:spPr>
          <a:xfrm>
            <a:off x="5733130" y="1814510"/>
            <a:ext cx="640852"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02</a:t>
            </a:r>
          </a:p>
        </p:txBody>
      </p:sp>
      <p:sp>
        <p:nvSpPr>
          <p:cNvPr id="30" name="文本框 29">
            <a:extLst>
              <a:ext uri="{FF2B5EF4-FFF2-40B4-BE49-F238E27FC236}">
                <a16:creationId xmlns:a16="http://schemas.microsoft.com/office/drawing/2014/main" id="{FA8916C7-F82D-9B69-7ADC-5DBE3A5F8061}"/>
              </a:ext>
            </a:extLst>
          </p:cNvPr>
          <p:cNvSpPr txBox="1"/>
          <p:nvPr/>
        </p:nvSpPr>
        <p:spPr>
          <a:xfrm>
            <a:off x="6052816" y="3019032"/>
            <a:ext cx="640852"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03</a:t>
            </a:r>
          </a:p>
        </p:txBody>
      </p:sp>
      <p:sp>
        <p:nvSpPr>
          <p:cNvPr id="31" name="文本框 30">
            <a:extLst>
              <a:ext uri="{FF2B5EF4-FFF2-40B4-BE49-F238E27FC236}">
                <a16:creationId xmlns:a16="http://schemas.microsoft.com/office/drawing/2014/main" id="{170528A9-E80D-1809-AAD6-50C8E94330F5}"/>
              </a:ext>
            </a:extLst>
          </p:cNvPr>
          <p:cNvSpPr txBox="1"/>
          <p:nvPr/>
        </p:nvSpPr>
        <p:spPr>
          <a:xfrm>
            <a:off x="3875620" y="3019032"/>
            <a:ext cx="640852"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05</a:t>
            </a:r>
          </a:p>
        </p:txBody>
      </p:sp>
      <p:sp>
        <p:nvSpPr>
          <p:cNvPr id="32" name="文本框 31">
            <a:extLst>
              <a:ext uri="{FF2B5EF4-FFF2-40B4-BE49-F238E27FC236}">
                <a16:creationId xmlns:a16="http://schemas.microsoft.com/office/drawing/2014/main" id="{5EDE2330-9FC6-CCD5-F67E-45CFC11CF3A3}"/>
              </a:ext>
            </a:extLst>
          </p:cNvPr>
          <p:cNvSpPr txBox="1"/>
          <p:nvPr/>
        </p:nvSpPr>
        <p:spPr>
          <a:xfrm>
            <a:off x="4995820" y="3896610"/>
            <a:ext cx="640852"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04</a:t>
            </a:r>
          </a:p>
        </p:txBody>
      </p:sp>
      <p:pic>
        <p:nvPicPr>
          <p:cNvPr id="70" name="图片 69">
            <a:extLst>
              <a:ext uri="{FF2B5EF4-FFF2-40B4-BE49-F238E27FC236}">
                <a16:creationId xmlns:a16="http://schemas.microsoft.com/office/drawing/2014/main" id="{7556E098-BE24-3CB8-0C78-518B0F7AB24B}"/>
              </a:ext>
            </a:extLst>
          </p:cNvPr>
          <p:cNvPicPr>
            <a:picLocks noChangeAspect="1"/>
          </p:cNvPicPr>
          <p:nvPr/>
        </p:nvPicPr>
        <p:blipFill rotWithShape="1">
          <a:blip r:embed="rId2">
            <a:extLst>
              <a:ext uri="{28A0092B-C50C-407E-A947-70E740481C1C}">
                <a14:useLocalDpi xmlns:a14="http://schemas.microsoft.com/office/drawing/2010/main" val="0"/>
              </a:ext>
            </a:extLst>
          </a:blip>
          <a:srcRect b="10802"/>
          <a:stretch/>
        </p:blipFill>
        <p:spPr bwMode="auto">
          <a:xfrm>
            <a:off x="3417932" y="1922730"/>
            <a:ext cx="4219575" cy="2505075"/>
          </a:xfrm>
          <a:prstGeom prst="rect">
            <a:avLst/>
          </a:prstGeom>
          <a:ln>
            <a:noFill/>
          </a:ln>
          <a:extLst>
            <a:ext uri="{53640926-AAD7-44D8-BBD7-CCE9431645EC}">
              <a14:shadowObscured xmlns:a14="http://schemas.microsoft.com/office/drawing/2010/main"/>
            </a:ext>
          </a:extLst>
        </p:spPr>
      </p:pic>
      <p:graphicFrame>
        <p:nvGraphicFramePr>
          <p:cNvPr id="85" name="表格 84">
            <a:extLst>
              <a:ext uri="{FF2B5EF4-FFF2-40B4-BE49-F238E27FC236}">
                <a16:creationId xmlns:a16="http://schemas.microsoft.com/office/drawing/2014/main" id="{97BEFA5D-4626-6BF6-7443-9C4645F3C55E}"/>
              </a:ext>
            </a:extLst>
          </p:cNvPr>
          <p:cNvGraphicFramePr>
            <a:graphicFrameLocks noGrp="1"/>
          </p:cNvGraphicFramePr>
          <p:nvPr>
            <p:extLst>
              <p:ext uri="{D42A27DB-BD31-4B8C-83A1-F6EECF244321}">
                <p14:modId xmlns:p14="http://schemas.microsoft.com/office/powerpoint/2010/main" val="2595719275"/>
              </p:ext>
            </p:extLst>
          </p:nvPr>
        </p:nvGraphicFramePr>
        <p:xfrm>
          <a:off x="2868072" y="5202706"/>
          <a:ext cx="5537200" cy="1286066"/>
        </p:xfrm>
        <a:graphic>
          <a:graphicData uri="http://schemas.openxmlformats.org/drawingml/2006/table">
            <a:tbl>
              <a:tblPr firstRow="1" firstCol="1" bandRow="1">
                <a:tableStyleId>{69012ECD-51FC-41F1-AA8D-1B2483CD663E}</a:tableStyleId>
              </a:tblPr>
              <a:tblGrid>
                <a:gridCol w="2768600">
                  <a:extLst>
                    <a:ext uri="{9D8B030D-6E8A-4147-A177-3AD203B41FA5}">
                      <a16:colId xmlns:a16="http://schemas.microsoft.com/office/drawing/2014/main" val="1365396307"/>
                    </a:ext>
                  </a:extLst>
                </a:gridCol>
                <a:gridCol w="2768600">
                  <a:extLst>
                    <a:ext uri="{9D8B030D-6E8A-4147-A177-3AD203B41FA5}">
                      <a16:colId xmlns:a16="http://schemas.microsoft.com/office/drawing/2014/main" val="2617145755"/>
                    </a:ext>
                  </a:extLst>
                </a:gridCol>
              </a:tblGrid>
              <a:tr h="0">
                <a:tc>
                  <a:txBody>
                    <a:bodyPr/>
                    <a:lstStyle/>
                    <a:p>
                      <a:pPr indent="127000" algn="ctr">
                        <a:lnSpc>
                          <a:spcPct val="125000"/>
                        </a:lnSpc>
                      </a:pPr>
                      <a:r>
                        <a:rPr lang="zh-CN" sz="1050" kern="0" dirty="0">
                          <a:effectLst/>
                        </a:rPr>
                        <a:t>参数</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127000" algn="ctr">
                        <a:lnSpc>
                          <a:spcPct val="125000"/>
                        </a:lnSpc>
                      </a:pPr>
                      <a:r>
                        <a:rPr lang="zh-CN" sz="1050" kern="0">
                          <a:effectLst/>
                        </a:rPr>
                        <a:t>数据</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258750701"/>
                  </a:ext>
                </a:extLst>
              </a:tr>
              <a:tr h="0">
                <a:tc>
                  <a:txBody>
                    <a:bodyPr/>
                    <a:lstStyle/>
                    <a:p>
                      <a:pPr indent="127000" algn="ctr">
                        <a:lnSpc>
                          <a:spcPct val="125000"/>
                        </a:lnSpc>
                      </a:pPr>
                      <a:r>
                        <a:rPr lang="zh-CN" sz="1050" kern="0" dirty="0">
                          <a:effectLst/>
                        </a:rPr>
                        <a:t>整机重量</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127000" algn="ctr">
                        <a:lnSpc>
                          <a:spcPct val="125000"/>
                        </a:lnSpc>
                      </a:pPr>
                      <a:r>
                        <a:rPr lang="en-US" sz="1050" kern="0" dirty="0">
                          <a:effectLst/>
                        </a:rPr>
                        <a:t>30kg</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305545698"/>
                  </a:ext>
                </a:extLst>
              </a:tr>
              <a:tr h="0">
                <a:tc>
                  <a:txBody>
                    <a:bodyPr/>
                    <a:lstStyle/>
                    <a:p>
                      <a:pPr indent="127000" algn="ctr">
                        <a:lnSpc>
                          <a:spcPct val="125000"/>
                        </a:lnSpc>
                      </a:pPr>
                      <a:r>
                        <a:rPr lang="zh-CN" sz="1050" kern="0" dirty="0">
                          <a:effectLst/>
                        </a:rPr>
                        <a:t>整机尺寸</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127000" algn="ctr">
                        <a:lnSpc>
                          <a:spcPct val="125000"/>
                        </a:lnSpc>
                      </a:pPr>
                      <a:r>
                        <a:rPr lang="en-US" sz="1050" kern="0">
                          <a:effectLst/>
                        </a:rPr>
                        <a:t>30*30*70cm</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274295055"/>
                  </a:ext>
                </a:extLst>
              </a:tr>
              <a:tr h="0">
                <a:tc>
                  <a:txBody>
                    <a:bodyPr/>
                    <a:lstStyle/>
                    <a:p>
                      <a:pPr indent="127000" algn="ctr">
                        <a:lnSpc>
                          <a:spcPct val="125000"/>
                        </a:lnSpc>
                      </a:pPr>
                      <a:r>
                        <a:rPr lang="zh-CN" sz="1050" kern="0">
                          <a:effectLst/>
                        </a:rPr>
                        <a:t>巡检速度</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127000" algn="ctr">
                        <a:lnSpc>
                          <a:spcPct val="125000"/>
                        </a:lnSpc>
                      </a:pPr>
                      <a:r>
                        <a:rPr lang="en-US" sz="1050" kern="0">
                          <a:effectLst/>
                        </a:rPr>
                        <a:t>≤1m/s</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628043948"/>
                  </a:ext>
                </a:extLst>
              </a:tr>
              <a:tr h="0">
                <a:tc>
                  <a:txBody>
                    <a:bodyPr/>
                    <a:lstStyle/>
                    <a:p>
                      <a:pPr indent="127000" algn="ctr">
                        <a:lnSpc>
                          <a:spcPct val="125000"/>
                        </a:lnSpc>
                      </a:pPr>
                      <a:r>
                        <a:rPr lang="zh-CN" sz="1050" kern="0">
                          <a:effectLst/>
                        </a:rPr>
                        <a:t>防护等级</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127000" algn="ctr">
                        <a:lnSpc>
                          <a:spcPct val="125000"/>
                        </a:lnSpc>
                      </a:pPr>
                      <a:r>
                        <a:rPr lang="en-US" sz="1050" kern="0">
                          <a:effectLst/>
                        </a:rPr>
                        <a:t>IP57</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040377894"/>
                  </a:ext>
                </a:extLst>
              </a:tr>
              <a:tr h="0">
                <a:tc>
                  <a:txBody>
                    <a:bodyPr/>
                    <a:lstStyle/>
                    <a:p>
                      <a:pPr indent="127000" algn="ctr">
                        <a:lnSpc>
                          <a:spcPct val="125000"/>
                        </a:lnSpc>
                      </a:pPr>
                      <a:r>
                        <a:rPr lang="zh-CN" sz="1050" kern="0" dirty="0">
                          <a:effectLst/>
                        </a:rPr>
                        <a:t>续航时间</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127000" algn="ctr">
                        <a:lnSpc>
                          <a:spcPct val="125000"/>
                        </a:lnSpc>
                      </a:pPr>
                      <a:r>
                        <a:rPr lang="en-US" sz="1050" kern="0">
                          <a:effectLst/>
                        </a:rPr>
                        <a:t>2h</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251308117"/>
                  </a:ext>
                </a:extLst>
              </a:tr>
              <a:tr h="50800">
                <a:tc>
                  <a:txBody>
                    <a:bodyPr/>
                    <a:lstStyle/>
                    <a:p>
                      <a:pPr indent="127000" algn="ctr">
                        <a:lnSpc>
                          <a:spcPct val="125000"/>
                        </a:lnSpc>
                      </a:pPr>
                      <a:r>
                        <a:rPr lang="zh-CN" sz="1050" kern="0" dirty="0">
                          <a:effectLst/>
                        </a:rPr>
                        <a:t>工作</a:t>
                      </a:r>
                      <a:r>
                        <a:rPr lang="zh-CN" altLang="en-US" sz="1050" kern="0" dirty="0">
                          <a:effectLst/>
                        </a:rPr>
                        <a:t>温度</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127000" algn="ctr">
                        <a:lnSpc>
                          <a:spcPct val="125000"/>
                        </a:lnSpc>
                      </a:pPr>
                      <a:r>
                        <a:rPr lang="en-US" sz="1050" kern="0" dirty="0">
                          <a:effectLst/>
                        </a:rPr>
                        <a:t>-10~+40℃</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90031725"/>
                  </a:ext>
                </a:extLst>
              </a:tr>
            </a:tbl>
          </a:graphicData>
        </a:graphic>
      </p:graphicFrame>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500" fill="hold"/>
                                        <p:tgtEl>
                                          <p:spTgt spid="85"/>
                                        </p:tgtEl>
                                        <p:attrNameLst>
                                          <p:attrName>ppt_x</p:attrName>
                                        </p:attrNameLst>
                                      </p:cBhvr>
                                      <p:tavLst>
                                        <p:tav tm="0">
                                          <p:val>
                                            <p:strVal val="#ppt_x"/>
                                          </p:val>
                                        </p:tav>
                                        <p:tav tm="100000">
                                          <p:val>
                                            <p:strVal val="#ppt_x"/>
                                          </p:val>
                                        </p:tav>
                                      </p:tavLst>
                                    </p:anim>
                                    <p:anim calcmode="lin" valueType="num">
                                      <p:cBhvr additive="base">
                                        <p:cTn id="8"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总体设计方案</a:t>
            </a:r>
          </a:p>
        </p:txBody>
      </p:sp>
      <p:sp>
        <p:nvSpPr>
          <p:cNvPr id="89" name="文本框 88"/>
          <p:cNvSpPr txBox="1"/>
          <p:nvPr/>
        </p:nvSpPr>
        <p:spPr>
          <a:xfrm>
            <a:off x="1248183" y="2527749"/>
            <a:ext cx="1613820" cy="369332"/>
          </a:xfrm>
          <a:prstGeom prst="rect">
            <a:avLst/>
          </a:prstGeom>
          <a:noFill/>
        </p:spPr>
        <p:txBody>
          <a:bodyPr wrap="square" rtlCol="0">
            <a:spAutoFit/>
          </a:bodyPr>
          <a:lstStyle/>
          <a:p>
            <a:r>
              <a:rPr lang="zh-CN" altLang="zh-CN" dirty="0">
                <a:solidFill>
                  <a:srgbClr val="AB3442"/>
                </a:solidFill>
                <a:latin typeface="微软雅黑" panose="020B0503020204020204" pitchFamily="34" charset="-122"/>
                <a:ea typeface="微软雅黑" panose="020B0503020204020204" pitchFamily="34" charset="-122"/>
              </a:rPr>
              <a:t>机械系统</a:t>
            </a:r>
            <a:endParaRPr lang="en-US" altLang="zh-CN" dirty="0">
              <a:solidFill>
                <a:srgbClr val="AB3442"/>
              </a:solidFill>
              <a:latin typeface="微软雅黑" panose="020B0503020204020204" pitchFamily="34" charset="-122"/>
              <a:ea typeface="微软雅黑" panose="020B0503020204020204" pitchFamily="34" charset="-122"/>
              <a:cs typeface="Arial" pitchFamily="34" charset="0"/>
            </a:endParaRPr>
          </a:p>
        </p:txBody>
      </p:sp>
      <p:grpSp>
        <p:nvGrpSpPr>
          <p:cNvPr id="90" name="组合 89"/>
          <p:cNvGrpSpPr/>
          <p:nvPr/>
        </p:nvGrpSpPr>
        <p:grpSpPr>
          <a:xfrm>
            <a:off x="1006539" y="2618431"/>
            <a:ext cx="196101" cy="196101"/>
            <a:chOff x="1389761" y="2111236"/>
            <a:chExt cx="196101" cy="196101"/>
          </a:xfrm>
        </p:grpSpPr>
        <p:sp>
          <p:nvSpPr>
            <p:cNvPr id="92" name="矩形 91"/>
            <p:cNvSpPr/>
            <p:nvPr/>
          </p:nvSpPr>
          <p:spPr>
            <a:xfrm>
              <a:off x="1389761" y="2111236"/>
              <a:ext cx="196101" cy="196101"/>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sp>
        <p:nvSpPr>
          <p:cNvPr id="95" name="文本框 94"/>
          <p:cNvSpPr txBox="1"/>
          <p:nvPr/>
        </p:nvSpPr>
        <p:spPr>
          <a:xfrm>
            <a:off x="5151021" y="1750218"/>
            <a:ext cx="1613820" cy="369332"/>
          </a:xfrm>
          <a:prstGeom prst="rect">
            <a:avLst/>
          </a:prstGeom>
          <a:noFill/>
        </p:spPr>
        <p:txBody>
          <a:bodyPr wrap="square" rtlCol="0">
            <a:spAutoFit/>
          </a:bodyPr>
          <a:lstStyle/>
          <a:p>
            <a:r>
              <a:rPr lang="zh-CN" altLang="en-US" dirty="0">
                <a:solidFill>
                  <a:schemeClr val="accent1"/>
                </a:solidFill>
                <a:latin typeface="微软雅黑" panose="020B0503020204020204" pitchFamily="34" charset="-122"/>
                <a:ea typeface="微软雅黑" panose="020B0503020204020204" pitchFamily="34" charset="-122"/>
                <a:cs typeface="Arial" pitchFamily="34" charset="0"/>
              </a:rPr>
              <a:t>控制系统</a:t>
            </a:r>
            <a:endParaRPr lang="en-US" altLang="zh-CN" dirty="0">
              <a:solidFill>
                <a:schemeClr val="accent1"/>
              </a:solidFill>
              <a:latin typeface="微软雅黑" panose="020B0503020204020204" pitchFamily="34" charset="-122"/>
              <a:ea typeface="微软雅黑" panose="020B0503020204020204" pitchFamily="34" charset="-122"/>
              <a:cs typeface="Arial" pitchFamily="34" charset="0"/>
            </a:endParaRPr>
          </a:p>
        </p:txBody>
      </p:sp>
      <p:grpSp>
        <p:nvGrpSpPr>
          <p:cNvPr id="96" name="组合 95"/>
          <p:cNvGrpSpPr/>
          <p:nvPr/>
        </p:nvGrpSpPr>
        <p:grpSpPr>
          <a:xfrm>
            <a:off x="4909377" y="1840900"/>
            <a:ext cx="196101" cy="196101"/>
            <a:chOff x="1389761" y="2111236"/>
            <a:chExt cx="196101" cy="196101"/>
          </a:xfrm>
        </p:grpSpPr>
        <p:sp>
          <p:nvSpPr>
            <p:cNvPr id="98" name="矩形 97"/>
            <p:cNvSpPr/>
            <p:nvPr/>
          </p:nvSpPr>
          <p:spPr>
            <a:xfrm>
              <a:off x="1389761" y="2111236"/>
              <a:ext cx="196101" cy="196101"/>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sp>
        <p:nvSpPr>
          <p:cNvPr id="101" name="文本框 100"/>
          <p:cNvSpPr txBox="1"/>
          <p:nvPr/>
        </p:nvSpPr>
        <p:spPr>
          <a:xfrm>
            <a:off x="8588040" y="2527749"/>
            <a:ext cx="1613820" cy="369332"/>
          </a:xfrm>
          <a:prstGeom prst="rect">
            <a:avLst/>
          </a:prstGeom>
          <a:noFill/>
        </p:spPr>
        <p:txBody>
          <a:bodyPr wrap="square" rtlCol="0">
            <a:spAutoFit/>
          </a:bodyPr>
          <a:lstStyle/>
          <a:p>
            <a:r>
              <a:rPr lang="zh-CN" altLang="en-US" dirty="0">
                <a:solidFill>
                  <a:schemeClr val="accent1"/>
                </a:solidFill>
                <a:latin typeface="微软雅黑" panose="020B0503020204020204" pitchFamily="34" charset="-122"/>
                <a:ea typeface="微软雅黑" panose="020B0503020204020204" pitchFamily="34" charset="-122"/>
                <a:cs typeface="Arial" pitchFamily="34" charset="0"/>
              </a:rPr>
              <a:t>用户界面</a:t>
            </a:r>
            <a:endParaRPr lang="en-US" altLang="zh-CN" dirty="0">
              <a:solidFill>
                <a:schemeClr val="accent1"/>
              </a:solidFill>
              <a:latin typeface="微软雅黑" panose="020B0503020204020204" pitchFamily="34" charset="-122"/>
              <a:ea typeface="微软雅黑" panose="020B0503020204020204" pitchFamily="34" charset="-122"/>
              <a:cs typeface="Arial" pitchFamily="34" charset="0"/>
            </a:endParaRPr>
          </a:p>
        </p:txBody>
      </p:sp>
      <p:grpSp>
        <p:nvGrpSpPr>
          <p:cNvPr id="102" name="组合 101"/>
          <p:cNvGrpSpPr/>
          <p:nvPr/>
        </p:nvGrpSpPr>
        <p:grpSpPr>
          <a:xfrm>
            <a:off x="8346396" y="2618431"/>
            <a:ext cx="196101" cy="196101"/>
            <a:chOff x="1389761" y="2111236"/>
            <a:chExt cx="196101" cy="196101"/>
          </a:xfrm>
        </p:grpSpPr>
        <p:sp>
          <p:nvSpPr>
            <p:cNvPr id="104" name="矩形 103"/>
            <p:cNvSpPr/>
            <p:nvPr/>
          </p:nvSpPr>
          <p:spPr>
            <a:xfrm>
              <a:off x="1389761" y="2111236"/>
              <a:ext cx="196101" cy="196101"/>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sp>
        <p:nvSpPr>
          <p:cNvPr id="47" name="Freeform 9"/>
          <p:cNvSpPr/>
          <p:nvPr/>
        </p:nvSpPr>
        <p:spPr bwMode="auto">
          <a:xfrm>
            <a:off x="3238500" y="3528438"/>
            <a:ext cx="1852150" cy="5347298"/>
          </a:xfrm>
          <a:custGeom>
            <a:avLst/>
            <a:gdLst>
              <a:gd name="T0" fmla="*/ 312 w 315"/>
              <a:gd name="T1" fmla="*/ 691 h 909"/>
              <a:gd name="T2" fmla="*/ 302 w 315"/>
              <a:gd name="T3" fmla="*/ 582 h 909"/>
              <a:gd name="T4" fmla="*/ 294 w 315"/>
              <a:gd name="T5" fmla="*/ 528 h 909"/>
              <a:gd name="T6" fmla="*/ 284 w 315"/>
              <a:gd name="T7" fmla="*/ 474 h 909"/>
              <a:gd name="T8" fmla="*/ 271 w 315"/>
              <a:gd name="T9" fmla="*/ 421 h 909"/>
              <a:gd name="T10" fmla="*/ 253 w 315"/>
              <a:gd name="T11" fmla="*/ 368 h 909"/>
              <a:gd name="T12" fmla="*/ 232 w 315"/>
              <a:gd name="T13" fmla="*/ 317 h 909"/>
              <a:gd name="T14" fmla="*/ 210 w 315"/>
              <a:gd name="T15" fmla="*/ 267 h 909"/>
              <a:gd name="T16" fmla="*/ 162 w 315"/>
              <a:gd name="T17" fmla="*/ 168 h 909"/>
              <a:gd name="T18" fmla="*/ 122 w 315"/>
              <a:gd name="T19" fmla="*/ 106 h 909"/>
              <a:gd name="T20" fmla="*/ 117 w 315"/>
              <a:gd name="T21" fmla="*/ 28 h 909"/>
              <a:gd name="T22" fmla="*/ 28 w 315"/>
              <a:gd name="T23" fmla="*/ 23 h 909"/>
              <a:gd name="T24" fmla="*/ 23 w 315"/>
              <a:gd name="T25" fmla="*/ 112 h 909"/>
              <a:gd name="T26" fmla="*/ 91 w 315"/>
              <a:gd name="T27" fmla="*/ 130 h 909"/>
              <a:gd name="T28" fmla="*/ 183 w 315"/>
              <a:gd name="T29" fmla="*/ 280 h 909"/>
              <a:gd name="T30" fmla="*/ 207 w 315"/>
              <a:gd name="T31" fmla="*/ 329 h 909"/>
              <a:gd name="T32" fmla="*/ 229 w 315"/>
              <a:gd name="T33" fmla="*/ 378 h 909"/>
              <a:gd name="T34" fmla="*/ 249 w 315"/>
              <a:gd name="T35" fmla="*/ 428 h 909"/>
              <a:gd name="T36" fmla="*/ 265 w 315"/>
              <a:gd name="T37" fmla="*/ 479 h 909"/>
              <a:gd name="T38" fmla="*/ 277 w 315"/>
              <a:gd name="T39" fmla="*/ 532 h 909"/>
              <a:gd name="T40" fmla="*/ 288 w 315"/>
              <a:gd name="T41" fmla="*/ 585 h 909"/>
              <a:gd name="T42" fmla="*/ 302 w 315"/>
              <a:gd name="T43" fmla="*/ 692 h 909"/>
              <a:gd name="T44" fmla="*/ 302 w 315"/>
              <a:gd name="T45" fmla="*/ 909 h 909"/>
              <a:gd name="T46" fmla="*/ 312 w 315"/>
              <a:gd name="T47" fmla="*/ 691 h 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15" h="909">
                <a:moveTo>
                  <a:pt x="312" y="691"/>
                </a:moveTo>
                <a:cubicBezTo>
                  <a:pt x="310" y="655"/>
                  <a:pt x="307" y="619"/>
                  <a:pt x="302" y="582"/>
                </a:cubicBezTo>
                <a:cubicBezTo>
                  <a:pt x="300" y="564"/>
                  <a:pt x="297" y="546"/>
                  <a:pt x="294" y="528"/>
                </a:cubicBezTo>
                <a:cubicBezTo>
                  <a:pt x="291" y="510"/>
                  <a:pt x="288" y="492"/>
                  <a:pt x="284" y="474"/>
                </a:cubicBezTo>
                <a:cubicBezTo>
                  <a:pt x="280" y="456"/>
                  <a:pt x="276" y="438"/>
                  <a:pt x="271" y="421"/>
                </a:cubicBezTo>
                <a:cubicBezTo>
                  <a:pt x="265" y="403"/>
                  <a:pt x="259" y="385"/>
                  <a:pt x="253" y="368"/>
                </a:cubicBezTo>
                <a:cubicBezTo>
                  <a:pt x="246" y="351"/>
                  <a:pt x="239" y="334"/>
                  <a:pt x="232" y="317"/>
                </a:cubicBezTo>
                <a:cubicBezTo>
                  <a:pt x="225" y="301"/>
                  <a:pt x="218" y="284"/>
                  <a:pt x="210" y="267"/>
                </a:cubicBezTo>
                <a:cubicBezTo>
                  <a:pt x="196" y="234"/>
                  <a:pt x="180" y="200"/>
                  <a:pt x="162" y="168"/>
                </a:cubicBezTo>
                <a:cubicBezTo>
                  <a:pt x="150" y="147"/>
                  <a:pt x="136" y="126"/>
                  <a:pt x="122" y="106"/>
                </a:cubicBezTo>
                <a:cubicBezTo>
                  <a:pt x="138" y="83"/>
                  <a:pt x="137" y="51"/>
                  <a:pt x="117" y="28"/>
                </a:cubicBezTo>
                <a:cubicBezTo>
                  <a:pt x="94" y="2"/>
                  <a:pt x="54" y="0"/>
                  <a:pt x="28" y="23"/>
                </a:cubicBezTo>
                <a:cubicBezTo>
                  <a:pt x="2" y="46"/>
                  <a:pt x="0" y="86"/>
                  <a:pt x="23" y="112"/>
                </a:cubicBezTo>
                <a:cubicBezTo>
                  <a:pt x="41" y="132"/>
                  <a:pt x="68" y="138"/>
                  <a:pt x="91" y="130"/>
                </a:cubicBezTo>
                <a:cubicBezTo>
                  <a:pt x="128" y="175"/>
                  <a:pt x="157" y="227"/>
                  <a:pt x="183" y="280"/>
                </a:cubicBezTo>
                <a:cubicBezTo>
                  <a:pt x="191" y="296"/>
                  <a:pt x="199" y="312"/>
                  <a:pt x="207" y="329"/>
                </a:cubicBezTo>
                <a:cubicBezTo>
                  <a:pt x="215" y="345"/>
                  <a:pt x="222" y="361"/>
                  <a:pt x="229" y="378"/>
                </a:cubicBezTo>
                <a:cubicBezTo>
                  <a:pt x="237" y="394"/>
                  <a:pt x="244" y="411"/>
                  <a:pt x="249" y="428"/>
                </a:cubicBezTo>
                <a:cubicBezTo>
                  <a:pt x="255" y="444"/>
                  <a:pt x="260" y="462"/>
                  <a:pt x="265" y="479"/>
                </a:cubicBezTo>
                <a:cubicBezTo>
                  <a:pt x="269" y="496"/>
                  <a:pt x="273" y="514"/>
                  <a:pt x="277" y="532"/>
                </a:cubicBezTo>
                <a:cubicBezTo>
                  <a:pt x="281" y="549"/>
                  <a:pt x="284" y="567"/>
                  <a:pt x="288" y="585"/>
                </a:cubicBezTo>
                <a:cubicBezTo>
                  <a:pt x="294" y="620"/>
                  <a:pt x="298" y="656"/>
                  <a:pt x="302" y="692"/>
                </a:cubicBezTo>
                <a:cubicBezTo>
                  <a:pt x="308" y="764"/>
                  <a:pt x="308" y="837"/>
                  <a:pt x="302" y="909"/>
                </a:cubicBezTo>
                <a:cubicBezTo>
                  <a:pt x="311" y="837"/>
                  <a:pt x="315" y="764"/>
                  <a:pt x="312" y="691"/>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Oval 10"/>
          <p:cNvSpPr>
            <a:spLocks noChangeArrowheads="1"/>
          </p:cNvSpPr>
          <p:nvPr/>
        </p:nvSpPr>
        <p:spPr bwMode="auto">
          <a:xfrm>
            <a:off x="3415306" y="3716025"/>
            <a:ext cx="470045" cy="47220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13"/>
          <p:cNvSpPr/>
          <p:nvPr/>
        </p:nvSpPr>
        <p:spPr bwMode="auto">
          <a:xfrm>
            <a:off x="5151021" y="2728500"/>
            <a:ext cx="752504" cy="6147236"/>
          </a:xfrm>
          <a:custGeom>
            <a:avLst/>
            <a:gdLst>
              <a:gd name="T0" fmla="*/ 127 w 128"/>
              <a:gd name="T1" fmla="*/ 62 h 1045"/>
              <a:gd name="T2" fmla="*/ 62 w 128"/>
              <a:gd name="T3" fmla="*/ 1 h 1045"/>
              <a:gd name="T4" fmla="*/ 1 w 128"/>
              <a:gd name="T5" fmla="*/ 66 h 1045"/>
              <a:gd name="T6" fmla="*/ 50 w 128"/>
              <a:gd name="T7" fmla="*/ 126 h 1045"/>
              <a:gd name="T8" fmla="*/ 58 w 128"/>
              <a:gd name="T9" fmla="*/ 1045 h 1045"/>
              <a:gd name="T10" fmla="*/ 75 w 128"/>
              <a:gd name="T11" fmla="*/ 561 h 1045"/>
              <a:gd name="T12" fmla="*/ 88 w 128"/>
              <a:gd name="T13" fmla="*/ 123 h 1045"/>
              <a:gd name="T14" fmla="*/ 127 w 128"/>
              <a:gd name="T15" fmla="*/ 62 h 10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 h="1045">
                <a:moveTo>
                  <a:pt x="127" y="62"/>
                </a:moveTo>
                <a:cubicBezTo>
                  <a:pt x="126" y="28"/>
                  <a:pt x="97" y="0"/>
                  <a:pt x="62" y="1"/>
                </a:cubicBezTo>
                <a:cubicBezTo>
                  <a:pt x="27" y="2"/>
                  <a:pt x="0" y="31"/>
                  <a:pt x="1" y="66"/>
                </a:cubicBezTo>
                <a:cubicBezTo>
                  <a:pt x="2" y="96"/>
                  <a:pt x="22" y="120"/>
                  <a:pt x="50" y="126"/>
                </a:cubicBezTo>
                <a:cubicBezTo>
                  <a:pt x="57" y="432"/>
                  <a:pt x="53" y="739"/>
                  <a:pt x="58" y="1045"/>
                </a:cubicBezTo>
                <a:cubicBezTo>
                  <a:pt x="62" y="884"/>
                  <a:pt x="68" y="722"/>
                  <a:pt x="75" y="561"/>
                </a:cubicBezTo>
                <a:cubicBezTo>
                  <a:pt x="80" y="415"/>
                  <a:pt x="85" y="269"/>
                  <a:pt x="88" y="123"/>
                </a:cubicBezTo>
                <a:cubicBezTo>
                  <a:pt x="111" y="113"/>
                  <a:pt x="128" y="89"/>
                  <a:pt x="127" y="6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Oval 14"/>
          <p:cNvSpPr>
            <a:spLocks noChangeArrowheads="1"/>
          </p:cNvSpPr>
          <p:nvPr/>
        </p:nvSpPr>
        <p:spPr bwMode="auto">
          <a:xfrm>
            <a:off x="5291173" y="2868650"/>
            <a:ext cx="470045" cy="47220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17"/>
          <p:cNvSpPr/>
          <p:nvPr/>
        </p:nvSpPr>
        <p:spPr bwMode="auto">
          <a:xfrm>
            <a:off x="5938023" y="3558624"/>
            <a:ext cx="1929772" cy="5317112"/>
          </a:xfrm>
          <a:custGeom>
            <a:avLst/>
            <a:gdLst>
              <a:gd name="T0" fmla="*/ 296 w 328"/>
              <a:gd name="T1" fmla="*/ 22 h 904"/>
              <a:gd name="T2" fmla="*/ 208 w 328"/>
              <a:gd name="T3" fmla="*/ 32 h 904"/>
              <a:gd name="T4" fmla="*/ 204 w 328"/>
              <a:gd name="T5" fmla="*/ 104 h 904"/>
              <a:gd name="T6" fmla="*/ 110 w 328"/>
              <a:gd name="T7" fmla="*/ 262 h 904"/>
              <a:gd name="T8" fmla="*/ 40 w 328"/>
              <a:gd name="T9" fmla="*/ 471 h 904"/>
              <a:gd name="T10" fmla="*/ 7 w 328"/>
              <a:gd name="T11" fmla="*/ 687 h 904"/>
              <a:gd name="T12" fmla="*/ 2 w 328"/>
              <a:gd name="T13" fmla="*/ 904 h 904"/>
              <a:gd name="T14" fmla="*/ 17 w 328"/>
              <a:gd name="T15" fmla="*/ 688 h 904"/>
              <a:gd name="T16" fmla="*/ 59 w 328"/>
              <a:gd name="T17" fmla="*/ 476 h 904"/>
              <a:gd name="T18" fmla="*/ 137 w 328"/>
              <a:gd name="T19" fmla="*/ 276 h 904"/>
              <a:gd name="T20" fmla="*/ 233 w 328"/>
              <a:gd name="T21" fmla="*/ 129 h 904"/>
              <a:gd name="T22" fmla="*/ 307 w 328"/>
              <a:gd name="T23" fmla="*/ 110 h 904"/>
              <a:gd name="T24" fmla="*/ 296 w 328"/>
              <a:gd name="T25" fmla="*/ 22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904">
                <a:moveTo>
                  <a:pt x="296" y="22"/>
                </a:moveTo>
                <a:cubicBezTo>
                  <a:pt x="269" y="0"/>
                  <a:pt x="229" y="5"/>
                  <a:pt x="208" y="32"/>
                </a:cubicBezTo>
                <a:cubicBezTo>
                  <a:pt x="191" y="53"/>
                  <a:pt x="190" y="82"/>
                  <a:pt x="204" y="104"/>
                </a:cubicBezTo>
                <a:cubicBezTo>
                  <a:pt x="167" y="153"/>
                  <a:pt x="135" y="207"/>
                  <a:pt x="110" y="262"/>
                </a:cubicBezTo>
                <a:cubicBezTo>
                  <a:pt x="79" y="329"/>
                  <a:pt x="56" y="399"/>
                  <a:pt x="40" y="471"/>
                </a:cubicBezTo>
                <a:cubicBezTo>
                  <a:pt x="23" y="542"/>
                  <a:pt x="13" y="614"/>
                  <a:pt x="7" y="687"/>
                </a:cubicBezTo>
                <a:cubicBezTo>
                  <a:pt x="1" y="759"/>
                  <a:pt x="0" y="832"/>
                  <a:pt x="2" y="904"/>
                </a:cubicBezTo>
                <a:cubicBezTo>
                  <a:pt x="3" y="832"/>
                  <a:pt x="8" y="759"/>
                  <a:pt x="17" y="688"/>
                </a:cubicBezTo>
                <a:cubicBezTo>
                  <a:pt x="26" y="616"/>
                  <a:pt x="39" y="545"/>
                  <a:pt x="59" y="476"/>
                </a:cubicBezTo>
                <a:cubicBezTo>
                  <a:pt x="78" y="406"/>
                  <a:pt x="104" y="339"/>
                  <a:pt x="137" y="276"/>
                </a:cubicBezTo>
                <a:cubicBezTo>
                  <a:pt x="164" y="223"/>
                  <a:pt x="196" y="174"/>
                  <a:pt x="233" y="129"/>
                </a:cubicBezTo>
                <a:cubicBezTo>
                  <a:pt x="258" y="140"/>
                  <a:pt x="289" y="133"/>
                  <a:pt x="307" y="110"/>
                </a:cubicBezTo>
                <a:cubicBezTo>
                  <a:pt x="328" y="83"/>
                  <a:pt x="324" y="43"/>
                  <a:pt x="296" y="2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Oval 18"/>
          <p:cNvSpPr>
            <a:spLocks noChangeArrowheads="1"/>
          </p:cNvSpPr>
          <p:nvPr/>
        </p:nvSpPr>
        <p:spPr bwMode="auto">
          <a:xfrm>
            <a:off x="7220943" y="3746212"/>
            <a:ext cx="470045" cy="47004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文本框 106"/>
          <p:cNvSpPr txBox="1"/>
          <p:nvPr/>
        </p:nvSpPr>
        <p:spPr>
          <a:xfrm>
            <a:off x="3352803" y="3780159"/>
            <a:ext cx="595050" cy="369332"/>
          </a:xfrm>
          <a:prstGeom prst="rect">
            <a:avLst/>
          </a:prstGeom>
          <a:noFill/>
        </p:spPr>
        <p:txBody>
          <a:bodyPr wrap="square" rtlCol="0">
            <a:spAutoFit/>
          </a:bodyPr>
          <a:lstStyle/>
          <a:p>
            <a:pPr algn="ctr"/>
            <a:r>
              <a:rPr lang="en-US" altLang="zh-CN" dirty="0">
                <a:solidFill>
                  <a:schemeClr val="accent1"/>
                </a:solidFill>
                <a:latin typeface="华文细黑" panose="02010600040101010101" pitchFamily="2" charset="-122"/>
                <a:ea typeface="华文细黑" panose="02010600040101010101" pitchFamily="2" charset="-122"/>
                <a:cs typeface="Arial" pitchFamily="34" charset="0"/>
              </a:rPr>
              <a:t>01</a:t>
            </a:r>
          </a:p>
        </p:txBody>
      </p:sp>
      <p:sp>
        <p:nvSpPr>
          <p:cNvPr id="112" name="文本框 111"/>
          <p:cNvSpPr txBox="1"/>
          <p:nvPr/>
        </p:nvSpPr>
        <p:spPr>
          <a:xfrm>
            <a:off x="7151886" y="3805559"/>
            <a:ext cx="595050" cy="369332"/>
          </a:xfrm>
          <a:prstGeom prst="rect">
            <a:avLst/>
          </a:prstGeom>
          <a:noFill/>
        </p:spPr>
        <p:txBody>
          <a:bodyPr wrap="square" rtlCol="0">
            <a:spAutoFit/>
          </a:bodyPr>
          <a:lstStyle/>
          <a:p>
            <a:pPr algn="ctr"/>
            <a:r>
              <a:rPr lang="en-US" altLang="zh-CN" dirty="0">
                <a:solidFill>
                  <a:schemeClr val="accent1"/>
                </a:solidFill>
                <a:latin typeface="华文细黑" panose="02010600040101010101" pitchFamily="2" charset="-122"/>
                <a:ea typeface="华文细黑" panose="02010600040101010101" pitchFamily="2" charset="-122"/>
                <a:cs typeface="Arial" pitchFamily="34" charset="0"/>
              </a:rPr>
              <a:t>03</a:t>
            </a:r>
          </a:p>
        </p:txBody>
      </p:sp>
      <p:sp>
        <p:nvSpPr>
          <p:cNvPr id="113" name="文本框 112"/>
          <p:cNvSpPr txBox="1"/>
          <p:nvPr/>
        </p:nvSpPr>
        <p:spPr>
          <a:xfrm>
            <a:off x="5244896" y="2920084"/>
            <a:ext cx="595050" cy="369332"/>
          </a:xfrm>
          <a:prstGeom prst="rect">
            <a:avLst/>
          </a:prstGeom>
          <a:noFill/>
        </p:spPr>
        <p:txBody>
          <a:bodyPr wrap="square" rtlCol="0">
            <a:spAutoFit/>
          </a:bodyPr>
          <a:lstStyle/>
          <a:p>
            <a:pPr algn="ctr"/>
            <a:r>
              <a:rPr lang="en-US" altLang="zh-CN" dirty="0">
                <a:solidFill>
                  <a:schemeClr val="accent1"/>
                </a:solidFill>
                <a:latin typeface="华文细黑" panose="02010600040101010101" pitchFamily="2" charset="-122"/>
                <a:ea typeface="华文细黑" panose="02010600040101010101" pitchFamily="2" charset="-122"/>
                <a:cs typeface="Arial" pitchFamily="34" charset="0"/>
              </a:rPr>
              <a:t>02</a:t>
            </a:r>
          </a:p>
        </p:txBody>
      </p:sp>
      <p:pic>
        <p:nvPicPr>
          <p:cNvPr id="3" name="图片 2">
            <a:extLst>
              <a:ext uri="{FF2B5EF4-FFF2-40B4-BE49-F238E27FC236}">
                <a16:creationId xmlns:a16="http://schemas.microsoft.com/office/drawing/2014/main" id="{CF653AA7-3367-9691-6ADF-F68C63D1566D}"/>
              </a:ext>
            </a:extLst>
          </p:cNvPr>
          <p:cNvPicPr>
            <a:picLocks noChangeAspect="1"/>
          </p:cNvPicPr>
          <p:nvPr/>
        </p:nvPicPr>
        <p:blipFill>
          <a:blip r:embed="rId2"/>
          <a:stretch>
            <a:fillRect/>
          </a:stretch>
        </p:blipFill>
        <p:spPr>
          <a:xfrm>
            <a:off x="2842401" y="2251933"/>
            <a:ext cx="5400040" cy="4599305"/>
          </a:xfrm>
          <a:prstGeom prst="rect">
            <a:avLst/>
          </a:prstGeom>
        </p:spPr>
      </p:pic>
    </p:spTree>
    <p:extLst>
      <p:ext uri="{BB962C8B-B14F-4D97-AF65-F5344CB8AC3E}">
        <p14:creationId xmlns:p14="http://schemas.microsoft.com/office/powerpoint/2010/main" val="189526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圆角矩形 50"/>
          <p:cNvSpPr/>
          <p:nvPr/>
        </p:nvSpPr>
        <p:spPr>
          <a:xfrm>
            <a:off x="4853198" y="1516810"/>
            <a:ext cx="1585492" cy="36359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驱动方案设计</a:t>
            </a:r>
          </a:p>
        </p:txBody>
      </p:sp>
      <p:sp>
        <p:nvSpPr>
          <p:cNvPr id="15" name="Freeform 4"/>
          <p:cNvSpPr/>
          <p:nvPr/>
        </p:nvSpPr>
        <p:spPr bwMode="auto">
          <a:xfrm>
            <a:off x="2863121" y="3336028"/>
            <a:ext cx="3552025" cy="1854669"/>
          </a:xfrm>
          <a:custGeom>
            <a:avLst/>
            <a:gdLst>
              <a:gd name="T0" fmla="*/ 1558 w 1558"/>
              <a:gd name="T1" fmla="*/ 337 h 814"/>
              <a:gd name="T2" fmla="*/ 1221 w 1558"/>
              <a:gd name="T3" fmla="*/ 0 h 814"/>
              <a:gd name="T4" fmla="*/ 407 w 1558"/>
              <a:gd name="T5" fmla="*/ 814 h 814"/>
              <a:gd name="T6" fmla="*/ 0 w 1558"/>
              <a:gd name="T7" fmla="*/ 407 h 814"/>
              <a:gd name="T8" fmla="*/ 402 w 1558"/>
              <a:gd name="T9" fmla="*/ 5 h 814"/>
              <a:gd name="T10" fmla="*/ 734 w 1558"/>
              <a:gd name="T11" fmla="*/ 337 h 814"/>
            </a:gdLst>
            <a:ahLst/>
            <a:cxnLst>
              <a:cxn ang="0">
                <a:pos x="T0" y="T1"/>
              </a:cxn>
              <a:cxn ang="0">
                <a:pos x="T2" y="T3"/>
              </a:cxn>
              <a:cxn ang="0">
                <a:pos x="T4" y="T5"/>
              </a:cxn>
              <a:cxn ang="0">
                <a:pos x="T6" y="T7"/>
              </a:cxn>
              <a:cxn ang="0">
                <a:pos x="T8" y="T9"/>
              </a:cxn>
              <a:cxn ang="0">
                <a:pos x="T10" y="T11"/>
              </a:cxn>
            </a:cxnLst>
            <a:rect l="0" t="0" r="r" b="b"/>
            <a:pathLst>
              <a:path w="1558" h="814">
                <a:moveTo>
                  <a:pt x="1558" y="337"/>
                </a:moveTo>
                <a:lnTo>
                  <a:pt x="1221" y="0"/>
                </a:lnTo>
                <a:lnTo>
                  <a:pt x="407" y="814"/>
                </a:lnTo>
                <a:lnTo>
                  <a:pt x="0" y="407"/>
                </a:lnTo>
                <a:lnTo>
                  <a:pt x="402" y="5"/>
                </a:lnTo>
                <a:lnTo>
                  <a:pt x="734" y="337"/>
                </a:lnTo>
              </a:path>
            </a:pathLst>
          </a:custGeom>
          <a:noFill/>
          <a:ln w="25400" cap="flat" cmpd="sng">
            <a:solidFill>
              <a:schemeClr val="tx1">
                <a:lumMod val="40000"/>
                <a:lumOff val="60000"/>
              </a:schemeClr>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endParaRPr lang="zh-CN" altLang="en-US"/>
          </a:p>
        </p:txBody>
      </p:sp>
      <p:sp>
        <p:nvSpPr>
          <p:cNvPr id="16" name="Freeform 5"/>
          <p:cNvSpPr/>
          <p:nvPr/>
        </p:nvSpPr>
        <p:spPr bwMode="auto">
          <a:xfrm flipH="1" flipV="1">
            <a:off x="4867119" y="3336028"/>
            <a:ext cx="3552025" cy="1854669"/>
          </a:xfrm>
          <a:custGeom>
            <a:avLst/>
            <a:gdLst>
              <a:gd name="T0" fmla="*/ 1558 w 1558"/>
              <a:gd name="T1" fmla="*/ 337 h 814"/>
              <a:gd name="T2" fmla="*/ 1221 w 1558"/>
              <a:gd name="T3" fmla="*/ 0 h 814"/>
              <a:gd name="T4" fmla="*/ 407 w 1558"/>
              <a:gd name="T5" fmla="*/ 814 h 814"/>
              <a:gd name="T6" fmla="*/ 0 w 1558"/>
              <a:gd name="T7" fmla="*/ 407 h 814"/>
              <a:gd name="T8" fmla="*/ 402 w 1558"/>
              <a:gd name="T9" fmla="*/ 5 h 814"/>
              <a:gd name="T10" fmla="*/ 734 w 1558"/>
              <a:gd name="T11" fmla="*/ 337 h 814"/>
            </a:gdLst>
            <a:ahLst/>
            <a:cxnLst>
              <a:cxn ang="0">
                <a:pos x="T0" y="T1"/>
              </a:cxn>
              <a:cxn ang="0">
                <a:pos x="T2" y="T3"/>
              </a:cxn>
              <a:cxn ang="0">
                <a:pos x="T4" y="T5"/>
              </a:cxn>
              <a:cxn ang="0">
                <a:pos x="T6" y="T7"/>
              </a:cxn>
              <a:cxn ang="0">
                <a:pos x="T8" y="T9"/>
              </a:cxn>
              <a:cxn ang="0">
                <a:pos x="T10" y="T11"/>
              </a:cxn>
            </a:cxnLst>
            <a:rect l="0" t="0" r="r" b="b"/>
            <a:pathLst>
              <a:path w="1558" h="814">
                <a:moveTo>
                  <a:pt x="1558" y="337"/>
                </a:moveTo>
                <a:lnTo>
                  <a:pt x="1221" y="0"/>
                </a:lnTo>
                <a:lnTo>
                  <a:pt x="407" y="814"/>
                </a:lnTo>
                <a:lnTo>
                  <a:pt x="0" y="407"/>
                </a:lnTo>
                <a:lnTo>
                  <a:pt x="402" y="5"/>
                </a:lnTo>
                <a:lnTo>
                  <a:pt x="734" y="337"/>
                </a:lnTo>
              </a:path>
            </a:pathLst>
          </a:custGeom>
          <a:noFill/>
          <a:ln w="25400" cap="flat" cmpd="sng">
            <a:solidFill>
              <a:schemeClr val="tx1">
                <a:lumMod val="40000"/>
                <a:lumOff val="60000"/>
              </a:schemeClr>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endParaRPr lang="zh-CN" altLang="en-US"/>
          </a:p>
        </p:txBody>
      </p:sp>
      <p:sp>
        <p:nvSpPr>
          <p:cNvPr id="17" name="Rectangle 6"/>
          <p:cNvSpPr>
            <a:spLocks noChangeArrowheads="1"/>
          </p:cNvSpPr>
          <p:nvPr/>
        </p:nvSpPr>
        <p:spPr bwMode="auto">
          <a:xfrm rot="18900000">
            <a:off x="3311487" y="3820317"/>
            <a:ext cx="890082" cy="890081"/>
          </a:xfrm>
          <a:prstGeom prst="rect">
            <a:avLst/>
          </a:prstGeom>
          <a:solidFill>
            <a:schemeClr val="accent1"/>
          </a:solidFill>
          <a:ln>
            <a:noFill/>
          </a:ln>
          <a:effectLst/>
        </p:spPr>
        <p:txBody>
          <a:bodyPr wrap="none" lIns="0" tIns="0" rIns="0" bIns="0" anchor="ctr"/>
          <a:lstStyle/>
          <a:p>
            <a:endParaRPr lang="zh-CN" altLang="en-US"/>
          </a:p>
        </p:txBody>
      </p:sp>
      <p:sp>
        <p:nvSpPr>
          <p:cNvPr id="18" name="Rectangle 7"/>
          <p:cNvSpPr>
            <a:spLocks noChangeArrowheads="1"/>
          </p:cNvSpPr>
          <p:nvPr/>
        </p:nvSpPr>
        <p:spPr bwMode="auto">
          <a:xfrm rot="18900000">
            <a:off x="5191435" y="3820317"/>
            <a:ext cx="890081" cy="890081"/>
          </a:xfrm>
          <a:prstGeom prst="rect">
            <a:avLst/>
          </a:prstGeom>
          <a:solidFill>
            <a:schemeClr val="accent1"/>
          </a:solidFill>
          <a:ln>
            <a:noFill/>
          </a:ln>
          <a:effectLst/>
        </p:spPr>
        <p:txBody>
          <a:bodyPr wrap="none" lIns="0" tIns="0" rIns="0" bIns="0" anchor="ctr"/>
          <a:lstStyle/>
          <a:p>
            <a:endParaRPr lang="zh-CN" altLang="en-US"/>
          </a:p>
        </p:txBody>
      </p:sp>
      <p:sp>
        <p:nvSpPr>
          <p:cNvPr id="19" name="Rectangle 8"/>
          <p:cNvSpPr>
            <a:spLocks noChangeArrowheads="1"/>
          </p:cNvSpPr>
          <p:nvPr/>
        </p:nvSpPr>
        <p:spPr bwMode="auto">
          <a:xfrm rot="18900000">
            <a:off x="7054087" y="3820317"/>
            <a:ext cx="890081" cy="890081"/>
          </a:xfrm>
          <a:prstGeom prst="rect">
            <a:avLst/>
          </a:prstGeom>
          <a:solidFill>
            <a:schemeClr val="accent1"/>
          </a:solidFill>
          <a:ln>
            <a:noFill/>
          </a:ln>
          <a:effectLst/>
        </p:spPr>
        <p:txBody>
          <a:bodyPr wrap="none" lIns="0" tIns="0" rIns="0" bIns="0" anchor="ctr"/>
          <a:lstStyle/>
          <a:p>
            <a:endParaRPr lang="zh-CN" altLang="en-US"/>
          </a:p>
        </p:txBody>
      </p:sp>
      <p:sp>
        <p:nvSpPr>
          <p:cNvPr id="48" name="文本框 47"/>
          <p:cNvSpPr txBox="1"/>
          <p:nvPr/>
        </p:nvSpPr>
        <p:spPr>
          <a:xfrm>
            <a:off x="3147251" y="3955724"/>
            <a:ext cx="1238659"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A</a:t>
            </a:r>
          </a:p>
        </p:txBody>
      </p:sp>
      <p:sp>
        <p:nvSpPr>
          <p:cNvPr id="49" name="文本框 48"/>
          <p:cNvSpPr txBox="1"/>
          <p:nvPr/>
        </p:nvSpPr>
        <p:spPr>
          <a:xfrm>
            <a:off x="5027199" y="3955724"/>
            <a:ext cx="1238659" cy="646331"/>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B</a:t>
            </a:r>
          </a:p>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sp>
        <p:nvSpPr>
          <p:cNvPr id="50" name="文本框 49"/>
          <p:cNvSpPr txBox="1"/>
          <p:nvPr/>
        </p:nvSpPr>
        <p:spPr>
          <a:xfrm>
            <a:off x="6886074" y="3955724"/>
            <a:ext cx="1238659" cy="646331"/>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C</a:t>
            </a:r>
          </a:p>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sp>
        <p:nvSpPr>
          <p:cNvPr id="54" name="文本框 53"/>
          <p:cNvSpPr txBox="1"/>
          <p:nvPr/>
        </p:nvSpPr>
        <p:spPr>
          <a:xfrm>
            <a:off x="2605607" y="5588704"/>
            <a:ext cx="2123134" cy="646331"/>
          </a:xfrm>
          <a:prstGeom prst="rect">
            <a:avLst/>
          </a:prstGeom>
          <a:noFill/>
        </p:spPr>
        <p:txBody>
          <a:bodyPr wrap="square" rtlCol="0">
            <a:spAutoFit/>
          </a:bodyPr>
          <a:lstStyle/>
          <a:p>
            <a:r>
              <a:rPr lang="zh-CN" altLang="zh-CN" dirty="0">
                <a:solidFill>
                  <a:srgbClr val="AB3341"/>
                </a:solidFill>
                <a:latin typeface="微软雅黑" panose="020B0503020204020204" pitchFamily="34" charset="-122"/>
                <a:ea typeface="微软雅黑" panose="020B0503020204020204" pitchFamily="34" charset="-122"/>
              </a:rPr>
              <a:t>刮板输送机电缆槽与液压支架之间</a:t>
            </a:r>
            <a:endParaRPr lang="en-US" altLang="zh-CN" dirty="0">
              <a:solidFill>
                <a:srgbClr val="AB3341"/>
              </a:solidFill>
              <a:latin typeface="微软雅黑" panose="020B0503020204020204" pitchFamily="34" charset="-122"/>
              <a:ea typeface="微软雅黑" panose="020B0503020204020204" pitchFamily="34" charset="-122"/>
              <a:cs typeface="Arial" pitchFamily="34" charset="0"/>
            </a:endParaRPr>
          </a:p>
        </p:txBody>
      </p:sp>
      <p:sp>
        <p:nvSpPr>
          <p:cNvPr id="78" name="文本框 77"/>
          <p:cNvSpPr txBox="1"/>
          <p:nvPr/>
        </p:nvSpPr>
        <p:spPr>
          <a:xfrm>
            <a:off x="4946176" y="5588705"/>
            <a:ext cx="1613820" cy="646331"/>
          </a:xfrm>
          <a:prstGeom prst="rect">
            <a:avLst/>
          </a:prstGeom>
          <a:noFill/>
        </p:spPr>
        <p:txBody>
          <a:bodyPr wrap="square" rtlCol="0">
            <a:spAutoFit/>
          </a:bodyPr>
          <a:lstStyle/>
          <a:p>
            <a:r>
              <a:rPr lang="zh-CN" altLang="zh-CN" dirty="0">
                <a:solidFill>
                  <a:srgbClr val="AB3341"/>
                </a:solidFill>
                <a:latin typeface="微软雅黑" panose="020B0503020204020204" pitchFamily="34" charset="-122"/>
                <a:ea typeface="微软雅黑" panose="020B0503020204020204" pitchFamily="34" charset="-122"/>
              </a:rPr>
              <a:t>液压支架第一级立柱前方</a:t>
            </a:r>
            <a:endParaRPr lang="en-US" altLang="zh-CN" dirty="0">
              <a:solidFill>
                <a:srgbClr val="AB3341"/>
              </a:solidFill>
              <a:latin typeface="微软雅黑" panose="020B0503020204020204" pitchFamily="34" charset="-122"/>
              <a:ea typeface="微软雅黑" panose="020B0503020204020204" pitchFamily="34" charset="-122"/>
              <a:cs typeface="Arial" pitchFamily="34" charset="0"/>
            </a:endParaRPr>
          </a:p>
        </p:txBody>
      </p:sp>
      <p:sp>
        <p:nvSpPr>
          <p:cNvPr id="84" name="文本框 83"/>
          <p:cNvSpPr txBox="1"/>
          <p:nvPr/>
        </p:nvSpPr>
        <p:spPr>
          <a:xfrm>
            <a:off x="6999558" y="5653032"/>
            <a:ext cx="1613820" cy="646331"/>
          </a:xfrm>
          <a:prstGeom prst="rect">
            <a:avLst/>
          </a:prstGeom>
          <a:noFill/>
        </p:spPr>
        <p:txBody>
          <a:bodyPr wrap="square" rtlCol="0">
            <a:spAutoFit/>
          </a:bodyPr>
          <a:lstStyle/>
          <a:p>
            <a:r>
              <a:rPr lang="zh-CN" altLang="zh-CN" dirty="0">
                <a:solidFill>
                  <a:srgbClr val="AB3341"/>
                </a:solidFill>
                <a:latin typeface="微软雅黑" panose="020B0503020204020204" pitchFamily="34" charset="-122"/>
                <a:ea typeface="微软雅黑" panose="020B0503020204020204" pitchFamily="34" charset="-122"/>
              </a:rPr>
              <a:t>液压支架顶梁支架下方</a:t>
            </a:r>
          </a:p>
        </p:txBody>
      </p:sp>
      <p:sp>
        <p:nvSpPr>
          <p:cNvPr id="91" name="文本框 90"/>
          <p:cNvSpPr txBox="1"/>
          <p:nvPr/>
        </p:nvSpPr>
        <p:spPr>
          <a:xfrm>
            <a:off x="4839034" y="1517992"/>
            <a:ext cx="1613820"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SAMPLE TITLE</a:t>
            </a:r>
          </a:p>
        </p:txBody>
      </p:sp>
      <p:sp>
        <p:nvSpPr>
          <p:cNvPr id="93" name="等腰三角形 92"/>
          <p:cNvSpPr/>
          <p:nvPr/>
        </p:nvSpPr>
        <p:spPr>
          <a:xfrm flipV="1">
            <a:off x="5563416" y="2717978"/>
            <a:ext cx="165056" cy="10271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391AD917-2920-95BE-BC8F-D6C6CADD01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70624" y="881802"/>
            <a:ext cx="3750639" cy="2426618"/>
          </a:xfrm>
          <a:prstGeom prst="rect">
            <a:avLst/>
          </a:prstGeom>
        </p:spPr>
      </p:pic>
    </p:spTree>
    <p:extLst>
      <p:ext uri="{BB962C8B-B14F-4D97-AF65-F5344CB8AC3E}">
        <p14:creationId xmlns:p14="http://schemas.microsoft.com/office/powerpoint/2010/main" val="389199090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4000"/>
                                  </p:stCondLst>
                                  <p:childTnLst>
                                    <p:set>
                                      <p:cBhvr>
                                        <p:cTn id="6" dur="1" fill="hold">
                                          <p:stCondLst>
                                            <p:cond delay="0"/>
                                          </p:stCondLst>
                                        </p:cTn>
                                        <p:tgtEl>
                                          <p:spTgt spid="93"/>
                                        </p:tgtEl>
                                        <p:attrNameLst>
                                          <p:attrName>style.visibility</p:attrName>
                                        </p:attrNameLst>
                                      </p:cBhvr>
                                      <p:to>
                                        <p:strVal val="visible"/>
                                      </p:to>
                                    </p:set>
                                    <p:animEffect transition="in" filter="wipe(up)">
                                      <p:cBhvr>
                                        <p:cTn id="7" dur="500"/>
                                        <p:tgtEl>
                                          <p:spTgt spid="93"/>
                                        </p:tgtEl>
                                      </p:cBhvr>
                                    </p:animEffect>
                                  </p:childTnLst>
                                </p:cTn>
                              </p:par>
                              <p:par>
                                <p:cTn id="8" presetID="53" presetClass="entr" presetSubtype="16" fill="hold" grpId="0" nodeType="withEffect">
                                  <p:stCondLst>
                                    <p:cond delay="3000"/>
                                  </p:stCondLst>
                                  <p:childTnLst>
                                    <p:set>
                                      <p:cBhvr>
                                        <p:cTn id="9" dur="1" fill="hold">
                                          <p:stCondLst>
                                            <p:cond delay="0"/>
                                          </p:stCondLst>
                                        </p:cTn>
                                        <p:tgtEl>
                                          <p:spTgt spid="51"/>
                                        </p:tgtEl>
                                        <p:attrNameLst>
                                          <p:attrName>style.visibility</p:attrName>
                                        </p:attrNameLst>
                                      </p:cBhvr>
                                      <p:to>
                                        <p:strVal val="visible"/>
                                      </p:to>
                                    </p:set>
                                    <p:anim calcmode="lin" valueType="num">
                                      <p:cBhvr>
                                        <p:cTn id="10" dur="500" fill="hold"/>
                                        <p:tgtEl>
                                          <p:spTgt spid="51"/>
                                        </p:tgtEl>
                                        <p:attrNameLst>
                                          <p:attrName>ppt_w</p:attrName>
                                        </p:attrNameLst>
                                      </p:cBhvr>
                                      <p:tavLst>
                                        <p:tav tm="0">
                                          <p:val>
                                            <p:fltVal val="0"/>
                                          </p:val>
                                        </p:tav>
                                        <p:tav tm="100000">
                                          <p:val>
                                            <p:strVal val="#ppt_w"/>
                                          </p:val>
                                        </p:tav>
                                      </p:tavLst>
                                    </p:anim>
                                    <p:anim calcmode="lin" valueType="num">
                                      <p:cBhvr>
                                        <p:cTn id="11" dur="500" fill="hold"/>
                                        <p:tgtEl>
                                          <p:spTgt spid="51"/>
                                        </p:tgtEl>
                                        <p:attrNameLst>
                                          <p:attrName>ppt_h</p:attrName>
                                        </p:attrNameLst>
                                      </p:cBhvr>
                                      <p:tavLst>
                                        <p:tav tm="0">
                                          <p:val>
                                            <p:fltVal val="0"/>
                                          </p:val>
                                        </p:tav>
                                        <p:tav tm="100000">
                                          <p:val>
                                            <p:strVal val="#ppt_h"/>
                                          </p:val>
                                        </p:tav>
                                      </p:tavLst>
                                    </p:anim>
                                    <p:animEffect transition="in" filter="fade">
                                      <p:cBhvr>
                                        <p:cTn id="12" dur="500"/>
                                        <p:tgtEl>
                                          <p:spTgt spid="51"/>
                                        </p:tgtEl>
                                      </p:cBhvr>
                                    </p:animEffect>
                                  </p:childTnLst>
                                </p:cTn>
                              </p:par>
                              <p:par>
                                <p:cTn id="13" presetID="53" presetClass="entr" presetSubtype="16" fill="hold" grpId="0" nodeType="withEffect">
                                  <p:stCondLst>
                                    <p:cond delay="3000"/>
                                  </p:stCondLst>
                                  <p:childTnLst>
                                    <p:set>
                                      <p:cBhvr>
                                        <p:cTn id="14" dur="1" fill="hold">
                                          <p:stCondLst>
                                            <p:cond delay="0"/>
                                          </p:stCondLst>
                                        </p:cTn>
                                        <p:tgtEl>
                                          <p:spTgt spid="91"/>
                                        </p:tgtEl>
                                        <p:attrNameLst>
                                          <p:attrName>style.visibility</p:attrName>
                                        </p:attrNameLst>
                                      </p:cBhvr>
                                      <p:to>
                                        <p:strVal val="visible"/>
                                      </p:to>
                                    </p:set>
                                    <p:anim calcmode="lin" valueType="num">
                                      <p:cBhvr>
                                        <p:cTn id="15" dur="500" fill="hold"/>
                                        <p:tgtEl>
                                          <p:spTgt spid="91"/>
                                        </p:tgtEl>
                                        <p:attrNameLst>
                                          <p:attrName>ppt_w</p:attrName>
                                        </p:attrNameLst>
                                      </p:cBhvr>
                                      <p:tavLst>
                                        <p:tav tm="0">
                                          <p:val>
                                            <p:fltVal val="0"/>
                                          </p:val>
                                        </p:tav>
                                        <p:tav tm="100000">
                                          <p:val>
                                            <p:strVal val="#ppt_w"/>
                                          </p:val>
                                        </p:tav>
                                      </p:tavLst>
                                    </p:anim>
                                    <p:anim calcmode="lin" valueType="num">
                                      <p:cBhvr>
                                        <p:cTn id="16" dur="500" fill="hold"/>
                                        <p:tgtEl>
                                          <p:spTgt spid="91"/>
                                        </p:tgtEl>
                                        <p:attrNameLst>
                                          <p:attrName>ppt_h</p:attrName>
                                        </p:attrNameLst>
                                      </p:cBhvr>
                                      <p:tavLst>
                                        <p:tav tm="0">
                                          <p:val>
                                            <p:fltVal val="0"/>
                                          </p:val>
                                        </p:tav>
                                        <p:tav tm="100000">
                                          <p:val>
                                            <p:strVal val="#ppt_h"/>
                                          </p:val>
                                        </p:tav>
                                      </p:tavLst>
                                    </p:anim>
                                    <p:animEffect transition="in" filter="fade">
                                      <p:cBhvr>
                                        <p:cTn id="17"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91" grpId="0"/>
      <p:bldP spid="9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驱动方案设计</a:t>
            </a:r>
          </a:p>
        </p:txBody>
      </p:sp>
      <p:sp>
        <p:nvSpPr>
          <p:cNvPr id="40" name="文本框 39"/>
          <p:cNvSpPr txBox="1"/>
          <p:nvPr/>
        </p:nvSpPr>
        <p:spPr>
          <a:xfrm>
            <a:off x="4544197" y="4062501"/>
            <a:ext cx="493000"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02</a:t>
            </a:r>
          </a:p>
        </p:txBody>
      </p:sp>
      <p:pic>
        <p:nvPicPr>
          <p:cNvPr id="3" name="图片 2">
            <a:extLst>
              <a:ext uri="{FF2B5EF4-FFF2-40B4-BE49-F238E27FC236}">
                <a16:creationId xmlns:a16="http://schemas.microsoft.com/office/drawing/2014/main" id="{A606AC6E-1F4A-17B4-A524-63508A5028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00251" y="1411799"/>
            <a:ext cx="2519680" cy="1790065"/>
          </a:xfrm>
          <a:prstGeom prst="rect">
            <a:avLst/>
          </a:prstGeom>
        </p:spPr>
      </p:pic>
      <p:pic>
        <p:nvPicPr>
          <p:cNvPr id="4" name="图片 3">
            <a:extLst>
              <a:ext uri="{FF2B5EF4-FFF2-40B4-BE49-F238E27FC236}">
                <a16:creationId xmlns:a16="http://schemas.microsoft.com/office/drawing/2014/main" id="{FBFD0E7C-8299-649B-BDBA-A4D496491886}"/>
              </a:ext>
            </a:extLst>
          </p:cNvPr>
          <p:cNvPicPr>
            <a:picLocks noChangeAspect="1"/>
          </p:cNvPicPr>
          <p:nvPr/>
        </p:nvPicPr>
        <p:blipFill>
          <a:blip r:embed="rId3"/>
          <a:stretch>
            <a:fillRect/>
          </a:stretch>
        </p:blipFill>
        <p:spPr>
          <a:xfrm>
            <a:off x="6287725" y="1413069"/>
            <a:ext cx="2274570" cy="1788795"/>
          </a:xfrm>
          <a:prstGeom prst="rect">
            <a:avLst/>
          </a:prstGeom>
        </p:spPr>
      </p:pic>
      <p:pic>
        <p:nvPicPr>
          <p:cNvPr id="5" name="图片 4">
            <a:extLst>
              <a:ext uri="{FF2B5EF4-FFF2-40B4-BE49-F238E27FC236}">
                <a16:creationId xmlns:a16="http://schemas.microsoft.com/office/drawing/2014/main" id="{AE574CE9-AADB-6948-BFC4-1A0F939C696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2554432" y="3892159"/>
            <a:ext cx="2385060" cy="1788795"/>
          </a:xfrm>
          <a:prstGeom prst="rect">
            <a:avLst/>
          </a:prstGeom>
        </p:spPr>
      </p:pic>
      <p:pic>
        <p:nvPicPr>
          <p:cNvPr id="6" name="图片 5">
            <a:extLst>
              <a:ext uri="{FF2B5EF4-FFF2-40B4-BE49-F238E27FC236}">
                <a16:creationId xmlns:a16="http://schemas.microsoft.com/office/drawing/2014/main" id="{7562E760-25C7-5544-643A-4024D9E9516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5400000">
            <a:off x="6263005" y="3893429"/>
            <a:ext cx="2385060" cy="1788795"/>
          </a:xfrm>
          <a:prstGeom prst="rect">
            <a:avLst/>
          </a:prstGeom>
        </p:spPr>
      </p:pic>
    </p:spTree>
    <p:extLst>
      <p:ext uri="{BB962C8B-B14F-4D97-AF65-F5344CB8AC3E}">
        <p14:creationId xmlns:p14="http://schemas.microsoft.com/office/powerpoint/2010/main" val="547566645"/>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机械结构设计</a:t>
            </a:r>
          </a:p>
        </p:txBody>
      </p:sp>
      <p:sp>
        <p:nvSpPr>
          <p:cNvPr id="40" name="文本框 39"/>
          <p:cNvSpPr txBox="1"/>
          <p:nvPr/>
        </p:nvSpPr>
        <p:spPr>
          <a:xfrm>
            <a:off x="4544197" y="4062501"/>
            <a:ext cx="493000"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02</a:t>
            </a:r>
          </a:p>
        </p:txBody>
      </p:sp>
      <p:pic>
        <p:nvPicPr>
          <p:cNvPr id="7" name="图片 6">
            <a:extLst>
              <a:ext uri="{FF2B5EF4-FFF2-40B4-BE49-F238E27FC236}">
                <a16:creationId xmlns:a16="http://schemas.microsoft.com/office/drawing/2014/main" id="{6288F4EA-E80E-3B91-F232-E60B03B6E101}"/>
              </a:ext>
            </a:extLst>
          </p:cNvPr>
          <p:cNvPicPr>
            <a:picLocks noChangeAspect="1"/>
          </p:cNvPicPr>
          <p:nvPr/>
        </p:nvPicPr>
        <p:blipFill>
          <a:blip r:embed="rId2"/>
          <a:stretch>
            <a:fillRect/>
          </a:stretch>
        </p:blipFill>
        <p:spPr>
          <a:xfrm>
            <a:off x="3477684" y="1482795"/>
            <a:ext cx="3695700" cy="2711450"/>
          </a:xfrm>
          <a:prstGeom prst="rect">
            <a:avLst/>
          </a:prstGeom>
        </p:spPr>
      </p:pic>
      <p:sp>
        <p:nvSpPr>
          <p:cNvPr id="9" name="文本框 8">
            <a:extLst>
              <a:ext uri="{FF2B5EF4-FFF2-40B4-BE49-F238E27FC236}">
                <a16:creationId xmlns:a16="http://schemas.microsoft.com/office/drawing/2014/main" id="{08A395D9-886A-D9B6-8AC8-BC90C9BBB94E}"/>
              </a:ext>
            </a:extLst>
          </p:cNvPr>
          <p:cNvSpPr txBox="1"/>
          <p:nvPr/>
        </p:nvSpPr>
        <p:spPr>
          <a:xfrm>
            <a:off x="1742696" y="4325988"/>
            <a:ext cx="7731503" cy="1788310"/>
          </a:xfrm>
          <a:prstGeom prst="rect">
            <a:avLst/>
          </a:prstGeom>
          <a:noFill/>
        </p:spPr>
        <p:txBody>
          <a:bodyPr wrap="square">
            <a:spAutoFit/>
          </a:bodyPr>
          <a:lstStyle/>
          <a:p>
            <a:pPr indent="304800" algn="just">
              <a:lnSpc>
                <a:spcPct val="125000"/>
              </a:lnSpc>
              <a:spcAft>
                <a:spcPts val="600"/>
              </a:spcAft>
            </a:pPr>
            <a:r>
              <a:rPr lang="zh-CN" altLang="zh-CN" sz="1800" kern="100" dirty="0">
                <a:effectLst/>
                <a:latin typeface="微软雅黑" panose="020B0503020204020204" pitchFamily="34" charset="-122"/>
                <a:ea typeface="微软雅黑" panose="020B0503020204020204" pitchFamily="34" charset="-122"/>
              </a:rPr>
              <a:t>轨道轮式巡检机器人在保留了轨道式与轮式巡检机器人各自优点的同时，又对缺点进行了优势互补。巡检机器人上方四个轮做驱动轮，负责为机器人提供动力；下方四个轮一方面防止巡检机器人速度过快时脱离轨道，另一方面在巡检机器人动力不足或者上坡时提供额外动力。这也是本文设计的一大创新点。</a:t>
            </a:r>
            <a:endParaRPr lang="zh-CN" altLang="zh-CN" sz="1400" kern="100" dirty="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62128193"/>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巡检机器人运动控制原理分析</a:t>
            </a:r>
          </a:p>
        </p:txBody>
      </p:sp>
      <p:sp>
        <p:nvSpPr>
          <p:cNvPr id="3" name="星形: 五角 2">
            <a:extLst>
              <a:ext uri="{FF2B5EF4-FFF2-40B4-BE49-F238E27FC236}">
                <a16:creationId xmlns:a16="http://schemas.microsoft.com/office/drawing/2014/main" id="{0E34EAED-DB67-9267-E537-8BB0F886A658}"/>
              </a:ext>
            </a:extLst>
          </p:cNvPr>
          <p:cNvSpPr/>
          <p:nvPr/>
        </p:nvSpPr>
        <p:spPr>
          <a:xfrm>
            <a:off x="4724399" y="3996270"/>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03840E45-A66A-008B-C5C9-5FBFD625667D}"/>
              </a:ext>
            </a:extLst>
          </p:cNvPr>
          <p:cNvSpPr txBox="1"/>
          <p:nvPr/>
        </p:nvSpPr>
        <p:spPr>
          <a:xfrm>
            <a:off x="4936066" y="3867037"/>
            <a:ext cx="29379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电机参数计算及选型</a:t>
            </a:r>
          </a:p>
        </p:txBody>
      </p:sp>
      <p:sp>
        <p:nvSpPr>
          <p:cNvPr id="5" name="星形: 五角 4">
            <a:extLst>
              <a:ext uri="{FF2B5EF4-FFF2-40B4-BE49-F238E27FC236}">
                <a16:creationId xmlns:a16="http://schemas.microsoft.com/office/drawing/2014/main" id="{A0957E7E-94A3-0849-C16C-C38CD430DBA4}"/>
              </a:ext>
            </a:extLst>
          </p:cNvPr>
          <p:cNvSpPr/>
          <p:nvPr/>
        </p:nvSpPr>
        <p:spPr>
          <a:xfrm>
            <a:off x="4724399" y="4671073"/>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5D2EBB11-C3F2-F373-86D0-C0D3CFCEFE3B}"/>
              </a:ext>
            </a:extLst>
          </p:cNvPr>
          <p:cNvSpPr txBox="1"/>
          <p:nvPr/>
        </p:nvSpPr>
        <p:spPr>
          <a:xfrm>
            <a:off x="4936066" y="4541840"/>
            <a:ext cx="32427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直流无刷电机数学模型</a:t>
            </a:r>
          </a:p>
        </p:txBody>
      </p:sp>
      <p:sp>
        <p:nvSpPr>
          <p:cNvPr id="7" name="星形: 五角 6">
            <a:extLst>
              <a:ext uri="{FF2B5EF4-FFF2-40B4-BE49-F238E27FC236}">
                <a16:creationId xmlns:a16="http://schemas.microsoft.com/office/drawing/2014/main" id="{DECA2C43-A4BB-F106-3CA3-AB2DECA096FD}"/>
              </a:ext>
            </a:extLst>
          </p:cNvPr>
          <p:cNvSpPr/>
          <p:nvPr/>
        </p:nvSpPr>
        <p:spPr>
          <a:xfrm>
            <a:off x="4724399" y="5345876"/>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84BC6D63-B691-F2BB-DA18-0C6305274F77}"/>
              </a:ext>
            </a:extLst>
          </p:cNvPr>
          <p:cNvSpPr txBox="1"/>
          <p:nvPr/>
        </p:nvSpPr>
        <p:spPr>
          <a:xfrm>
            <a:off x="4936066" y="5216643"/>
            <a:ext cx="2937934" cy="461665"/>
          </a:xfrm>
          <a:prstGeom prst="rect">
            <a:avLst/>
          </a:prstGeom>
          <a:noFill/>
        </p:spPr>
        <p:txBody>
          <a:bodyPr wrap="square" rtlCol="0">
            <a:spAutoFit/>
          </a:bodyPr>
          <a:lstStyle/>
          <a:p>
            <a:r>
              <a:rPr lang="en-US" altLang="zh-CN" sz="2400" dirty="0" err="1">
                <a:solidFill>
                  <a:schemeClr val="bg1"/>
                </a:solidFill>
                <a:latin typeface="微软雅黑" pitchFamily="34" charset="-122"/>
                <a:ea typeface="微软雅黑" pitchFamily="34" charset="-122"/>
              </a:rPr>
              <a:t>Siumlink</a:t>
            </a:r>
            <a:r>
              <a:rPr lang="zh-CN" altLang="en-US" sz="2400" dirty="0">
                <a:solidFill>
                  <a:schemeClr val="bg1"/>
                </a:solidFill>
                <a:latin typeface="微软雅黑" pitchFamily="34" charset="-122"/>
                <a:ea typeface="微软雅黑" pitchFamily="34" charset="-122"/>
              </a:rPr>
              <a:t>系统验证</a:t>
            </a:r>
          </a:p>
        </p:txBody>
      </p:sp>
      <p:pic>
        <p:nvPicPr>
          <p:cNvPr id="9" name="图片 8">
            <a:extLst>
              <a:ext uri="{FF2B5EF4-FFF2-40B4-BE49-F238E27FC236}">
                <a16:creationId xmlns:a16="http://schemas.microsoft.com/office/drawing/2014/main" id="{BADB0CEC-EF90-8C1D-D014-63E4DC18FBE6}"/>
              </a:ext>
            </a:extLst>
          </p:cNvPr>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381000" y="461617"/>
            <a:ext cx="3067050" cy="514350"/>
          </a:xfrm>
          <a:prstGeom prst="rect">
            <a:avLst/>
          </a:prstGeom>
        </p:spPr>
      </p:pic>
      <p:pic>
        <p:nvPicPr>
          <p:cNvPr id="10" name="图片 9">
            <a:extLst>
              <a:ext uri="{FF2B5EF4-FFF2-40B4-BE49-F238E27FC236}">
                <a16:creationId xmlns:a16="http://schemas.microsoft.com/office/drawing/2014/main" id="{4893AAE6-A744-513D-59E8-1186664A7D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 y="447858"/>
            <a:ext cx="541867" cy="541867"/>
          </a:xfrm>
          <a:prstGeom prst="rect">
            <a:avLst/>
          </a:prstGeom>
        </p:spPr>
      </p:pic>
    </p:spTree>
    <p:extLst>
      <p:ext uri="{BB962C8B-B14F-4D97-AF65-F5344CB8AC3E}">
        <p14:creationId xmlns:p14="http://schemas.microsoft.com/office/powerpoint/2010/main" val="2845665266"/>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电机参数及选型</a:t>
            </a:r>
          </a:p>
        </p:txBody>
      </p:sp>
      <p:graphicFrame>
        <p:nvGraphicFramePr>
          <p:cNvPr id="5" name="表格 4">
            <a:extLst>
              <a:ext uri="{FF2B5EF4-FFF2-40B4-BE49-F238E27FC236}">
                <a16:creationId xmlns:a16="http://schemas.microsoft.com/office/drawing/2014/main" id="{696178CD-A46D-34BD-E9D7-CAA606924ACE}"/>
              </a:ext>
            </a:extLst>
          </p:cNvPr>
          <p:cNvGraphicFramePr>
            <a:graphicFrameLocks noGrp="1"/>
          </p:cNvGraphicFramePr>
          <p:nvPr>
            <p:extLst>
              <p:ext uri="{D42A27DB-BD31-4B8C-83A1-F6EECF244321}">
                <p14:modId xmlns:p14="http://schemas.microsoft.com/office/powerpoint/2010/main" val="1873911449"/>
              </p:ext>
            </p:extLst>
          </p:nvPr>
        </p:nvGraphicFramePr>
        <p:xfrm>
          <a:off x="340996" y="1665480"/>
          <a:ext cx="2762250" cy="1286066"/>
        </p:xfrm>
        <a:graphic>
          <a:graphicData uri="http://schemas.openxmlformats.org/drawingml/2006/table">
            <a:tbl>
              <a:tblPr firstRow="1" firstCol="1" bandRow="1">
                <a:tableStyleId>{69012ECD-51FC-41F1-AA8D-1B2483CD663E}</a:tableStyleId>
              </a:tblPr>
              <a:tblGrid>
                <a:gridCol w="1381125">
                  <a:extLst>
                    <a:ext uri="{9D8B030D-6E8A-4147-A177-3AD203B41FA5}">
                      <a16:colId xmlns:a16="http://schemas.microsoft.com/office/drawing/2014/main" val="1365396307"/>
                    </a:ext>
                  </a:extLst>
                </a:gridCol>
                <a:gridCol w="1381125">
                  <a:extLst>
                    <a:ext uri="{9D8B030D-6E8A-4147-A177-3AD203B41FA5}">
                      <a16:colId xmlns:a16="http://schemas.microsoft.com/office/drawing/2014/main" val="2617145755"/>
                    </a:ext>
                  </a:extLst>
                </a:gridCol>
              </a:tblGrid>
              <a:tr h="0">
                <a:tc>
                  <a:txBody>
                    <a:bodyPr/>
                    <a:lstStyle/>
                    <a:p>
                      <a:pPr indent="127000" algn="ctr">
                        <a:lnSpc>
                          <a:spcPct val="125000"/>
                        </a:lnSpc>
                      </a:pPr>
                      <a:r>
                        <a:rPr lang="zh-CN" sz="1050" kern="0" dirty="0">
                          <a:effectLst/>
                        </a:rPr>
                        <a:t>参数</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127000" algn="ctr">
                        <a:lnSpc>
                          <a:spcPct val="125000"/>
                        </a:lnSpc>
                      </a:pPr>
                      <a:r>
                        <a:rPr lang="zh-CN" sz="1050" kern="0" dirty="0">
                          <a:effectLst/>
                        </a:rPr>
                        <a:t>数据</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258750701"/>
                  </a:ext>
                </a:extLst>
              </a:tr>
              <a:tr h="0">
                <a:tc>
                  <a:txBody>
                    <a:bodyPr/>
                    <a:lstStyle/>
                    <a:p>
                      <a:pPr indent="127000" algn="ctr">
                        <a:lnSpc>
                          <a:spcPct val="125000"/>
                        </a:lnSpc>
                      </a:pPr>
                      <a:r>
                        <a:rPr lang="zh-CN" sz="1050" kern="0" dirty="0">
                          <a:effectLst/>
                        </a:rPr>
                        <a:t>整机重量</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127000" algn="ctr">
                        <a:lnSpc>
                          <a:spcPct val="125000"/>
                        </a:lnSpc>
                      </a:pPr>
                      <a:r>
                        <a:rPr lang="en-US" sz="1050" kern="0" dirty="0">
                          <a:effectLst/>
                        </a:rPr>
                        <a:t>30kg</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305545698"/>
                  </a:ext>
                </a:extLst>
              </a:tr>
              <a:tr h="0">
                <a:tc>
                  <a:txBody>
                    <a:bodyPr/>
                    <a:lstStyle/>
                    <a:p>
                      <a:pPr indent="127000" algn="ctr">
                        <a:lnSpc>
                          <a:spcPct val="125000"/>
                        </a:lnSpc>
                      </a:pPr>
                      <a:r>
                        <a:rPr lang="zh-CN" sz="1050" kern="0" dirty="0">
                          <a:effectLst/>
                        </a:rPr>
                        <a:t>整机尺寸</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127000" algn="ctr">
                        <a:lnSpc>
                          <a:spcPct val="125000"/>
                        </a:lnSpc>
                      </a:pPr>
                      <a:r>
                        <a:rPr lang="en-US" sz="1050" kern="0">
                          <a:effectLst/>
                        </a:rPr>
                        <a:t>30*30*70cm</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274295055"/>
                  </a:ext>
                </a:extLst>
              </a:tr>
              <a:tr h="0">
                <a:tc>
                  <a:txBody>
                    <a:bodyPr/>
                    <a:lstStyle/>
                    <a:p>
                      <a:pPr indent="127000" algn="ctr">
                        <a:lnSpc>
                          <a:spcPct val="125000"/>
                        </a:lnSpc>
                      </a:pPr>
                      <a:r>
                        <a:rPr lang="zh-CN" sz="1050" kern="0">
                          <a:effectLst/>
                        </a:rPr>
                        <a:t>巡检速度</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127000" algn="ctr">
                        <a:lnSpc>
                          <a:spcPct val="125000"/>
                        </a:lnSpc>
                      </a:pPr>
                      <a:r>
                        <a:rPr lang="en-US" sz="1050" kern="0" dirty="0">
                          <a:effectLst/>
                        </a:rPr>
                        <a:t>≤1m/s</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628043948"/>
                  </a:ext>
                </a:extLst>
              </a:tr>
              <a:tr h="0">
                <a:tc>
                  <a:txBody>
                    <a:bodyPr/>
                    <a:lstStyle/>
                    <a:p>
                      <a:pPr indent="127000" algn="ctr">
                        <a:lnSpc>
                          <a:spcPct val="125000"/>
                        </a:lnSpc>
                      </a:pPr>
                      <a:r>
                        <a:rPr lang="zh-CN" sz="1050" kern="0" dirty="0">
                          <a:effectLst/>
                        </a:rPr>
                        <a:t>防护等级</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127000" algn="ctr">
                        <a:lnSpc>
                          <a:spcPct val="125000"/>
                        </a:lnSpc>
                      </a:pPr>
                      <a:r>
                        <a:rPr lang="en-US" sz="1050" kern="0" dirty="0">
                          <a:effectLst/>
                        </a:rPr>
                        <a:t>IP57</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040377894"/>
                  </a:ext>
                </a:extLst>
              </a:tr>
              <a:tr h="0">
                <a:tc>
                  <a:txBody>
                    <a:bodyPr/>
                    <a:lstStyle/>
                    <a:p>
                      <a:pPr indent="127000" algn="ctr">
                        <a:lnSpc>
                          <a:spcPct val="125000"/>
                        </a:lnSpc>
                      </a:pPr>
                      <a:r>
                        <a:rPr lang="zh-CN" sz="1050" kern="0">
                          <a:effectLst/>
                        </a:rPr>
                        <a:t>续航时间</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127000" algn="ctr">
                        <a:lnSpc>
                          <a:spcPct val="125000"/>
                        </a:lnSpc>
                      </a:pPr>
                      <a:r>
                        <a:rPr lang="en-US" sz="1050" kern="0">
                          <a:effectLst/>
                        </a:rPr>
                        <a:t>2h</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251308117"/>
                  </a:ext>
                </a:extLst>
              </a:tr>
              <a:tr h="50800">
                <a:tc>
                  <a:txBody>
                    <a:bodyPr/>
                    <a:lstStyle/>
                    <a:p>
                      <a:pPr indent="127000" algn="ctr">
                        <a:lnSpc>
                          <a:spcPct val="125000"/>
                        </a:lnSpc>
                      </a:pPr>
                      <a:r>
                        <a:rPr lang="zh-CN" sz="1050" kern="0" dirty="0">
                          <a:effectLst/>
                        </a:rPr>
                        <a:t>工作稳定</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127000" algn="ctr">
                        <a:lnSpc>
                          <a:spcPct val="125000"/>
                        </a:lnSpc>
                      </a:pPr>
                      <a:r>
                        <a:rPr lang="en-US" sz="1050" kern="0" dirty="0">
                          <a:effectLst/>
                        </a:rPr>
                        <a:t>-10~+40℃</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90031725"/>
                  </a:ext>
                </a:extLst>
              </a:tr>
            </a:tbl>
          </a:graphicData>
        </a:graphic>
      </p:graphicFrame>
      <p:sp>
        <p:nvSpPr>
          <p:cNvPr id="6" name="箭头: 下 5">
            <a:extLst>
              <a:ext uri="{FF2B5EF4-FFF2-40B4-BE49-F238E27FC236}">
                <a16:creationId xmlns:a16="http://schemas.microsoft.com/office/drawing/2014/main" id="{04559FD2-8578-87F8-4FC9-69FE498C10EC}"/>
              </a:ext>
            </a:extLst>
          </p:cNvPr>
          <p:cNvSpPr/>
          <p:nvPr/>
        </p:nvSpPr>
        <p:spPr>
          <a:xfrm>
            <a:off x="2957510" y="3197166"/>
            <a:ext cx="1055686" cy="1464734"/>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455D2923-D5FA-A440-4392-8B6BDBE2F40D}"/>
                  </a:ext>
                </a:extLst>
              </p:cNvPr>
              <p:cNvGraphicFramePr>
                <a:graphicFrameLocks noGrp="1"/>
              </p:cNvGraphicFramePr>
              <p:nvPr>
                <p:extLst>
                  <p:ext uri="{D42A27DB-BD31-4B8C-83A1-F6EECF244321}">
                    <p14:modId xmlns:p14="http://schemas.microsoft.com/office/powerpoint/2010/main" val="1861161342"/>
                  </p:ext>
                </p:extLst>
              </p:nvPr>
            </p:nvGraphicFramePr>
            <p:xfrm>
              <a:off x="1270473" y="4895907"/>
              <a:ext cx="4429760" cy="367030"/>
            </p:xfrm>
            <a:graphic>
              <a:graphicData uri="http://schemas.openxmlformats.org/drawingml/2006/table">
                <a:tbl>
                  <a:tblPr firstRow="1" firstCol="1" bandRow="1">
                    <a:tableStyleId>{5C22544A-7EE6-4342-B048-85BDC9FD1C3A}</a:tableStyleId>
                  </a:tblPr>
                  <a:tblGrid>
                    <a:gridCol w="1107440">
                      <a:extLst>
                        <a:ext uri="{9D8B030D-6E8A-4147-A177-3AD203B41FA5}">
                          <a16:colId xmlns:a16="http://schemas.microsoft.com/office/drawing/2014/main" val="1965647372"/>
                        </a:ext>
                      </a:extLst>
                    </a:gridCol>
                    <a:gridCol w="1107440">
                      <a:extLst>
                        <a:ext uri="{9D8B030D-6E8A-4147-A177-3AD203B41FA5}">
                          <a16:colId xmlns:a16="http://schemas.microsoft.com/office/drawing/2014/main" val="1148397892"/>
                        </a:ext>
                      </a:extLst>
                    </a:gridCol>
                    <a:gridCol w="1107440">
                      <a:extLst>
                        <a:ext uri="{9D8B030D-6E8A-4147-A177-3AD203B41FA5}">
                          <a16:colId xmlns:a16="http://schemas.microsoft.com/office/drawing/2014/main" val="1982992792"/>
                        </a:ext>
                      </a:extLst>
                    </a:gridCol>
                    <a:gridCol w="1107440">
                      <a:extLst>
                        <a:ext uri="{9D8B030D-6E8A-4147-A177-3AD203B41FA5}">
                          <a16:colId xmlns:a16="http://schemas.microsoft.com/office/drawing/2014/main" val="183611604"/>
                        </a:ext>
                      </a:extLst>
                    </a:gridCol>
                  </a:tblGrid>
                  <a:tr h="0">
                    <a:tc>
                      <a:txBody>
                        <a:bodyPr/>
                        <a:lstStyle/>
                        <a:p>
                          <a:pPr algn="ctr">
                            <a:lnSpc>
                              <a:spcPct val="125000"/>
                            </a:lnSpc>
                          </a:pPr>
                          <a:r>
                            <a:rPr lang="zh-CN" sz="1050" kern="0">
                              <a:effectLst/>
                            </a:rPr>
                            <a:t>额定电压（</a:t>
                          </a:r>
                          <a:r>
                            <a:rPr lang="en-US" sz="1050" kern="0">
                              <a:effectLst/>
                            </a:rPr>
                            <a:t>V</a:t>
                          </a:r>
                          <a:r>
                            <a:rPr lang="zh-CN" sz="105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dirty="0">
                              <a:effectLst/>
                            </a:rPr>
                            <a:t>额定功率（</a:t>
                          </a:r>
                          <a:r>
                            <a:rPr lang="en-US" sz="1050" kern="0" dirty="0">
                              <a:effectLst/>
                            </a:rPr>
                            <a:t>w</a:t>
                          </a:r>
                          <a:r>
                            <a:rPr lang="zh-CN" sz="1050" kern="0" dirty="0">
                              <a:effectLst/>
                            </a:rPr>
                            <a:t>）</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dirty="0">
                              <a:effectLst/>
                            </a:rPr>
                            <a:t>额定转矩（</a:t>
                          </a:r>
                          <a:r>
                            <a:rPr lang="en-US" sz="1050" kern="0" dirty="0">
                              <a:effectLst/>
                            </a:rPr>
                            <a:t>N</a:t>
                          </a:r>
                          <a14:m>
                            <m:oMath xmlns:m="http://schemas.openxmlformats.org/officeDocument/2006/math">
                              <m:r>
                                <a:rPr lang="en-US" sz="1050" kern="0">
                                  <a:effectLst/>
                                  <a:latin typeface="Cambria Math" panose="02040503050406030204" pitchFamily="18" charset="0"/>
                                </a:rPr>
                                <m:t>∙</m:t>
                              </m:r>
                            </m:oMath>
                          </a14:m>
                          <a:r>
                            <a:rPr lang="en-US" sz="1050" kern="0" dirty="0">
                              <a:effectLst/>
                            </a:rPr>
                            <a:t>m</a:t>
                          </a:r>
                          <a:r>
                            <a:rPr lang="zh-CN" sz="1050" kern="0" dirty="0">
                              <a:effectLst/>
                            </a:rPr>
                            <a:t>）</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dirty="0">
                              <a:effectLst/>
                            </a:rPr>
                            <a:t>额定转速（</a:t>
                          </a:r>
                          <a:r>
                            <a:rPr lang="en-US" sz="1050" kern="0" dirty="0">
                              <a:effectLst/>
                            </a:rPr>
                            <a:t>rpm</a:t>
                          </a:r>
                          <a:r>
                            <a:rPr lang="zh-CN" sz="1050" kern="0" dirty="0">
                              <a:effectLst/>
                            </a:rPr>
                            <a:t>）</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309709513"/>
                      </a:ext>
                    </a:extLst>
                  </a:tr>
                  <a:tr h="0">
                    <a:tc>
                      <a:txBody>
                        <a:bodyPr/>
                        <a:lstStyle/>
                        <a:p>
                          <a:pPr algn="ctr">
                            <a:lnSpc>
                              <a:spcPct val="125000"/>
                            </a:lnSpc>
                          </a:pPr>
                          <a:r>
                            <a:rPr lang="en-US" sz="1050" kern="0">
                              <a:effectLst/>
                            </a:rPr>
                            <a:t>12</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50</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4</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258</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151496800"/>
                      </a:ext>
                    </a:extLst>
                  </a:tr>
                </a:tbl>
              </a:graphicData>
            </a:graphic>
          </p:graphicFrame>
        </mc:Choice>
        <mc:Fallback xmlns="">
          <p:graphicFrame>
            <p:nvGraphicFramePr>
              <p:cNvPr id="9" name="表格 8">
                <a:extLst>
                  <a:ext uri="{FF2B5EF4-FFF2-40B4-BE49-F238E27FC236}">
                    <a16:creationId xmlns:a16="http://schemas.microsoft.com/office/drawing/2014/main" id="{455D2923-D5FA-A440-4392-8B6BDBE2F40D}"/>
                  </a:ext>
                </a:extLst>
              </p:cNvPr>
              <p:cNvGraphicFramePr>
                <a:graphicFrameLocks noGrp="1"/>
              </p:cNvGraphicFramePr>
              <p:nvPr>
                <p:extLst>
                  <p:ext uri="{D42A27DB-BD31-4B8C-83A1-F6EECF244321}">
                    <p14:modId xmlns:p14="http://schemas.microsoft.com/office/powerpoint/2010/main" val="1861161342"/>
                  </p:ext>
                </p:extLst>
              </p:nvPr>
            </p:nvGraphicFramePr>
            <p:xfrm>
              <a:off x="1270473" y="4895907"/>
              <a:ext cx="4429760" cy="367030"/>
            </p:xfrm>
            <a:graphic>
              <a:graphicData uri="http://schemas.openxmlformats.org/drawingml/2006/table">
                <a:tbl>
                  <a:tblPr firstRow="1" firstCol="1" bandRow="1">
                    <a:tableStyleId>{5C22544A-7EE6-4342-B048-85BDC9FD1C3A}</a:tableStyleId>
                  </a:tblPr>
                  <a:tblGrid>
                    <a:gridCol w="1107440">
                      <a:extLst>
                        <a:ext uri="{9D8B030D-6E8A-4147-A177-3AD203B41FA5}">
                          <a16:colId xmlns:a16="http://schemas.microsoft.com/office/drawing/2014/main" val="1965647372"/>
                        </a:ext>
                      </a:extLst>
                    </a:gridCol>
                    <a:gridCol w="1107440">
                      <a:extLst>
                        <a:ext uri="{9D8B030D-6E8A-4147-A177-3AD203B41FA5}">
                          <a16:colId xmlns:a16="http://schemas.microsoft.com/office/drawing/2014/main" val="1148397892"/>
                        </a:ext>
                      </a:extLst>
                    </a:gridCol>
                    <a:gridCol w="1107440">
                      <a:extLst>
                        <a:ext uri="{9D8B030D-6E8A-4147-A177-3AD203B41FA5}">
                          <a16:colId xmlns:a16="http://schemas.microsoft.com/office/drawing/2014/main" val="1982992792"/>
                        </a:ext>
                      </a:extLst>
                    </a:gridCol>
                    <a:gridCol w="1107440">
                      <a:extLst>
                        <a:ext uri="{9D8B030D-6E8A-4147-A177-3AD203B41FA5}">
                          <a16:colId xmlns:a16="http://schemas.microsoft.com/office/drawing/2014/main" val="183611604"/>
                        </a:ext>
                      </a:extLst>
                    </a:gridCol>
                  </a:tblGrid>
                  <a:tr h="182626">
                    <a:tc>
                      <a:txBody>
                        <a:bodyPr/>
                        <a:lstStyle/>
                        <a:p>
                          <a:pPr algn="ctr">
                            <a:lnSpc>
                              <a:spcPct val="125000"/>
                            </a:lnSpc>
                          </a:pPr>
                          <a:r>
                            <a:rPr lang="zh-CN" sz="1050" kern="0">
                              <a:effectLst/>
                            </a:rPr>
                            <a:t>额定电压（</a:t>
                          </a:r>
                          <a:r>
                            <a:rPr lang="en-US" sz="1050" kern="0">
                              <a:effectLst/>
                            </a:rPr>
                            <a:t>V</a:t>
                          </a:r>
                          <a:r>
                            <a:rPr lang="zh-CN" sz="105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dirty="0">
                              <a:effectLst/>
                            </a:rPr>
                            <a:t>额定功率（</a:t>
                          </a:r>
                          <a:r>
                            <a:rPr lang="en-US" sz="1050" kern="0" dirty="0">
                              <a:effectLst/>
                            </a:rPr>
                            <a:t>w</a:t>
                          </a:r>
                          <a:r>
                            <a:rPr lang="zh-CN" sz="1050" kern="0" dirty="0">
                              <a:effectLst/>
                            </a:rPr>
                            <a:t>）</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2"/>
                          <a:stretch>
                            <a:fillRect l="-200549" t="-13333" r="-102198" b="-150000"/>
                          </a:stretch>
                        </a:blipFill>
                      </a:tcPr>
                    </a:tc>
                    <a:tc>
                      <a:txBody>
                        <a:bodyPr/>
                        <a:lstStyle/>
                        <a:p>
                          <a:pPr algn="ctr">
                            <a:lnSpc>
                              <a:spcPct val="125000"/>
                            </a:lnSpc>
                          </a:pPr>
                          <a:r>
                            <a:rPr lang="zh-CN" sz="1050" kern="0" dirty="0">
                              <a:effectLst/>
                            </a:rPr>
                            <a:t>额定转速（</a:t>
                          </a:r>
                          <a:r>
                            <a:rPr lang="en-US" sz="1050" kern="0" dirty="0">
                              <a:effectLst/>
                            </a:rPr>
                            <a:t>rpm</a:t>
                          </a:r>
                          <a:r>
                            <a:rPr lang="zh-CN" sz="1050" kern="0" dirty="0">
                              <a:effectLst/>
                            </a:rPr>
                            <a:t>）</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309709513"/>
                      </a:ext>
                    </a:extLst>
                  </a:tr>
                  <a:tr h="184404">
                    <a:tc>
                      <a:txBody>
                        <a:bodyPr/>
                        <a:lstStyle/>
                        <a:p>
                          <a:pPr algn="ctr">
                            <a:lnSpc>
                              <a:spcPct val="125000"/>
                            </a:lnSpc>
                          </a:pPr>
                          <a:r>
                            <a:rPr lang="en-US" sz="1050" kern="0">
                              <a:effectLst/>
                            </a:rPr>
                            <a:t>12</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50</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4</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258</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151496800"/>
                      </a:ext>
                    </a:extLst>
                  </a:tr>
                </a:tbl>
              </a:graphicData>
            </a:graphic>
          </p:graphicFrame>
        </mc:Fallback>
      </mc:AlternateContent>
      <p:pic>
        <p:nvPicPr>
          <p:cNvPr id="12" name="图片 11">
            <a:extLst>
              <a:ext uri="{FF2B5EF4-FFF2-40B4-BE49-F238E27FC236}">
                <a16:creationId xmlns:a16="http://schemas.microsoft.com/office/drawing/2014/main" id="{600E4F89-8448-9D0B-5BFD-E5BA3890DA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13196" y="1621961"/>
            <a:ext cx="2082804" cy="1486212"/>
          </a:xfrm>
          <a:prstGeom prst="rect">
            <a:avLst/>
          </a:prstGeom>
        </p:spPr>
      </p:pic>
      <p:sp>
        <p:nvSpPr>
          <p:cNvPr id="19" name="箭头: 下 18">
            <a:extLst>
              <a:ext uri="{FF2B5EF4-FFF2-40B4-BE49-F238E27FC236}">
                <a16:creationId xmlns:a16="http://schemas.microsoft.com/office/drawing/2014/main" id="{8399FB07-01E8-5A49-5158-40236C9229C0}"/>
              </a:ext>
            </a:extLst>
          </p:cNvPr>
          <p:cNvSpPr/>
          <p:nvPr/>
        </p:nvSpPr>
        <p:spPr>
          <a:xfrm rot="16200000">
            <a:off x="6098643" y="4280899"/>
            <a:ext cx="1055686" cy="1464734"/>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EE12D40F-3087-18A0-1319-9035752356C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19234" y="3886592"/>
            <a:ext cx="3004643" cy="2253345"/>
          </a:xfrm>
          <a:prstGeom prst="rect">
            <a:avLst/>
          </a:prstGeom>
        </p:spPr>
      </p:pic>
    </p:spTree>
    <p:extLst>
      <p:ext uri="{BB962C8B-B14F-4D97-AF65-F5344CB8AC3E}">
        <p14:creationId xmlns:p14="http://schemas.microsoft.com/office/powerpoint/2010/main" val="76505823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1000"/>
                                        <p:tgtEl>
                                          <p:spTgt spid="19"/>
                                        </p:tgtEl>
                                      </p:cBhvr>
                                    </p:animEffec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0" fill="hold"/>
                                        <p:tgtEl>
                                          <p:spTgt spid="19"/>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1000"/>
                                        <p:tgtEl>
                                          <p:spTgt spid="21"/>
                                        </p:tgtEl>
                                      </p:cBhvr>
                                    </p:animEffect>
                                    <p:anim calcmode="lin" valueType="num">
                                      <p:cBhvr>
                                        <p:cTn id="23" dur="1000" fill="hold"/>
                                        <p:tgtEl>
                                          <p:spTgt spid="21"/>
                                        </p:tgtEl>
                                        <p:attrNameLst>
                                          <p:attrName>ppt_x</p:attrName>
                                        </p:attrNameLst>
                                      </p:cBhvr>
                                      <p:tavLst>
                                        <p:tav tm="0">
                                          <p:val>
                                            <p:strVal val="#ppt_x"/>
                                          </p:val>
                                        </p:tav>
                                        <p:tav tm="100000">
                                          <p:val>
                                            <p:strVal val="#ppt_x"/>
                                          </p:val>
                                        </p:tav>
                                      </p:tavLst>
                                    </p:anim>
                                    <p:anim calcmode="lin" valueType="num">
                                      <p:cBhvr>
                                        <p:cTn id="2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直流无刷电机数学模型</a:t>
            </a:r>
          </a:p>
        </p:txBody>
      </p:sp>
      <p:grpSp>
        <p:nvGrpSpPr>
          <p:cNvPr id="9" name="组合 8"/>
          <p:cNvGrpSpPr/>
          <p:nvPr/>
        </p:nvGrpSpPr>
        <p:grpSpPr>
          <a:xfrm>
            <a:off x="1481167" y="1239944"/>
            <a:ext cx="1659612" cy="436473"/>
            <a:chOff x="1420923" y="2013745"/>
            <a:chExt cx="1659612" cy="436473"/>
          </a:xfrm>
        </p:grpSpPr>
        <p:sp>
          <p:nvSpPr>
            <p:cNvPr id="8" name="圆角矩形 7"/>
            <p:cNvSpPr/>
            <p:nvPr/>
          </p:nvSpPr>
          <p:spPr>
            <a:xfrm>
              <a:off x="1420923" y="2013745"/>
              <a:ext cx="1659612" cy="436473"/>
            </a:xfrm>
            <a:prstGeom prst="roundRect">
              <a:avLst>
                <a:gd name="adj" fmla="val 50000"/>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chemeClr val="bg1"/>
                </a:solidFill>
              </a:endParaRPr>
            </a:p>
          </p:txBody>
        </p:sp>
        <p:sp>
          <p:nvSpPr>
            <p:cNvPr id="31" name="文本框 30"/>
            <p:cNvSpPr txBox="1"/>
            <p:nvPr/>
          </p:nvSpPr>
          <p:spPr>
            <a:xfrm>
              <a:off x="1430795" y="2047315"/>
              <a:ext cx="1639869"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grpSp>
        <p:nvGrpSpPr>
          <p:cNvPr id="40" name="组合 39"/>
          <p:cNvGrpSpPr/>
          <p:nvPr/>
        </p:nvGrpSpPr>
        <p:grpSpPr>
          <a:xfrm>
            <a:off x="1459515" y="4185554"/>
            <a:ext cx="1659612" cy="436473"/>
            <a:chOff x="1420923" y="2013745"/>
            <a:chExt cx="1659612" cy="436473"/>
          </a:xfrm>
        </p:grpSpPr>
        <p:sp>
          <p:nvSpPr>
            <p:cNvPr id="41" name="圆角矩形 40"/>
            <p:cNvSpPr/>
            <p:nvPr/>
          </p:nvSpPr>
          <p:spPr>
            <a:xfrm>
              <a:off x="1420923" y="2013745"/>
              <a:ext cx="1659612" cy="436473"/>
            </a:xfrm>
            <a:prstGeom prst="roundRect">
              <a:avLst>
                <a:gd name="adj" fmla="val 50000"/>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2" name="文本框 41"/>
            <p:cNvSpPr txBox="1"/>
            <p:nvPr/>
          </p:nvSpPr>
          <p:spPr>
            <a:xfrm>
              <a:off x="1430795" y="2047315"/>
              <a:ext cx="1639869"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SAMPLE TEXT</a:t>
              </a:r>
            </a:p>
          </p:txBody>
        </p:sp>
      </p:grpSp>
      <p:grpSp>
        <p:nvGrpSpPr>
          <p:cNvPr id="43" name="组合 42"/>
          <p:cNvGrpSpPr/>
          <p:nvPr/>
        </p:nvGrpSpPr>
        <p:grpSpPr>
          <a:xfrm>
            <a:off x="1449644" y="5595133"/>
            <a:ext cx="1659612" cy="436473"/>
            <a:chOff x="1420923" y="2013745"/>
            <a:chExt cx="1659612" cy="436473"/>
          </a:xfrm>
        </p:grpSpPr>
        <p:sp>
          <p:nvSpPr>
            <p:cNvPr id="44" name="圆角矩形 43"/>
            <p:cNvSpPr/>
            <p:nvPr/>
          </p:nvSpPr>
          <p:spPr>
            <a:xfrm>
              <a:off x="1420923" y="2013745"/>
              <a:ext cx="1659612" cy="436473"/>
            </a:xfrm>
            <a:prstGeom prst="roundRect">
              <a:avLst>
                <a:gd name="adj" fmla="val 50000"/>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5" name="文本框 44"/>
            <p:cNvSpPr txBox="1"/>
            <p:nvPr/>
          </p:nvSpPr>
          <p:spPr>
            <a:xfrm>
              <a:off x="1430795" y="2047315"/>
              <a:ext cx="1639869"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SAMPLE TEXT</a:t>
              </a:r>
            </a:p>
          </p:txBody>
        </p:sp>
      </p:grpSp>
      <p:sp>
        <p:nvSpPr>
          <p:cNvPr id="10" name="Rectangle 6">
            <a:extLst>
              <a:ext uri="{FF2B5EF4-FFF2-40B4-BE49-F238E27FC236}">
                <a16:creationId xmlns:a16="http://schemas.microsoft.com/office/drawing/2014/main" id="{80CE0DF1-4FF0-C55A-2466-FB1E2352DE9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10">
            <a:extLst>
              <a:ext uri="{FF2B5EF4-FFF2-40B4-BE49-F238E27FC236}">
                <a16:creationId xmlns:a16="http://schemas.microsoft.com/office/drawing/2014/main" id="{8A8DB43A-8DE5-491A-DD9E-AFA909AE87F4}"/>
              </a:ext>
            </a:extLst>
          </p:cNvPr>
          <p:cNvSpPr>
            <a:spLocks noChangeArrowheads="1"/>
          </p:cNvSpPr>
          <p:nvPr/>
        </p:nvSpPr>
        <p:spPr bwMode="auto">
          <a:xfrm>
            <a:off x="2059890" y="175311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a:extLst>
              <a:ext uri="{FF2B5EF4-FFF2-40B4-BE49-F238E27FC236}">
                <a16:creationId xmlns:a16="http://schemas.microsoft.com/office/drawing/2014/main" id="{7B871F1D-EBB9-E300-164B-B57DB7AFC520}"/>
              </a:ext>
            </a:extLst>
          </p:cNvPr>
          <p:cNvGraphicFramePr>
            <a:graphicFrameLocks noChangeAspect="1"/>
          </p:cNvGraphicFramePr>
          <p:nvPr>
            <p:extLst>
              <p:ext uri="{D42A27DB-BD31-4B8C-83A1-F6EECF244321}">
                <p14:modId xmlns:p14="http://schemas.microsoft.com/office/powerpoint/2010/main" val="3172421167"/>
              </p:ext>
            </p:extLst>
          </p:nvPr>
        </p:nvGraphicFramePr>
        <p:xfrm>
          <a:off x="1870220" y="1273151"/>
          <a:ext cx="838200" cy="390525"/>
        </p:xfrm>
        <a:graphic>
          <a:graphicData uri="http://schemas.openxmlformats.org/presentationml/2006/ole">
            <mc:AlternateContent xmlns:mc="http://schemas.openxmlformats.org/markup-compatibility/2006">
              <mc:Choice xmlns:v="urn:schemas-microsoft-com:vml" Requires="v">
                <p:oleObj r:id="rId2" imgW="837836" imgH="393529" progId="Equation.DSMT4">
                  <p:embed/>
                </p:oleObj>
              </mc:Choice>
              <mc:Fallback>
                <p:oleObj r:id="rId2" imgW="837836" imgH="393529" progId="Equation.DSMT4">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0220" y="1273151"/>
                        <a:ext cx="8382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2">
            <a:extLst>
              <a:ext uri="{FF2B5EF4-FFF2-40B4-BE49-F238E27FC236}">
                <a16:creationId xmlns:a16="http://schemas.microsoft.com/office/drawing/2014/main" id="{158F602E-250F-4D0D-DF1F-71E32C43EEE3}"/>
              </a:ext>
            </a:extLst>
          </p:cNvPr>
          <p:cNvSpPr>
            <a:spLocks noChangeArrowheads="1"/>
          </p:cNvSpPr>
          <p:nvPr/>
        </p:nvSpPr>
        <p:spPr bwMode="auto">
          <a:xfrm>
            <a:off x="4706608" y="149022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a:extLst>
              <a:ext uri="{FF2B5EF4-FFF2-40B4-BE49-F238E27FC236}">
                <a16:creationId xmlns:a16="http://schemas.microsoft.com/office/drawing/2014/main" id="{D3AF4633-E8EE-C1E9-5E2A-B055AF4CD8CD}"/>
              </a:ext>
            </a:extLst>
          </p:cNvPr>
          <p:cNvGraphicFramePr>
            <a:graphicFrameLocks noChangeAspect="1"/>
          </p:cNvGraphicFramePr>
          <p:nvPr>
            <p:extLst>
              <p:ext uri="{D42A27DB-BD31-4B8C-83A1-F6EECF244321}">
                <p14:modId xmlns:p14="http://schemas.microsoft.com/office/powerpoint/2010/main" val="3324809316"/>
              </p:ext>
            </p:extLst>
          </p:nvPr>
        </p:nvGraphicFramePr>
        <p:xfrm>
          <a:off x="1760346" y="4186121"/>
          <a:ext cx="1028700" cy="390525"/>
        </p:xfrm>
        <a:graphic>
          <a:graphicData uri="http://schemas.openxmlformats.org/presentationml/2006/ole">
            <mc:AlternateContent xmlns:mc="http://schemas.openxmlformats.org/markup-compatibility/2006">
              <mc:Choice xmlns:v="urn:schemas-microsoft-com:vml" Requires="v">
                <p:oleObj r:id="rId4" imgW="1028254" imgH="393529" progId="Equation.DSMT4">
                  <p:embed/>
                </p:oleObj>
              </mc:Choice>
              <mc:Fallback>
                <p:oleObj r:id="rId4" imgW="1028254" imgH="393529" progId="Equation.DSMT4">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0346" y="4186121"/>
                        <a:ext cx="10287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14">
            <a:extLst>
              <a:ext uri="{FF2B5EF4-FFF2-40B4-BE49-F238E27FC236}">
                <a16:creationId xmlns:a16="http://schemas.microsoft.com/office/drawing/2014/main" id="{A46A2EC4-B8FE-C604-C0CA-3B1F80397C5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0" name="对象 19">
            <a:extLst>
              <a:ext uri="{FF2B5EF4-FFF2-40B4-BE49-F238E27FC236}">
                <a16:creationId xmlns:a16="http://schemas.microsoft.com/office/drawing/2014/main" id="{F8D88B1F-9630-D1FA-72BB-67D316A92B15}"/>
              </a:ext>
            </a:extLst>
          </p:cNvPr>
          <p:cNvGraphicFramePr>
            <a:graphicFrameLocks noChangeAspect="1"/>
          </p:cNvGraphicFramePr>
          <p:nvPr>
            <p:extLst>
              <p:ext uri="{D42A27DB-BD31-4B8C-83A1-F6EECF244321}">
                <p14:modId xmlns:p14="http://schemas.microsoft.com/office/powerpoint/2010/main" val="1517636728"/>
              </p:ext>
            </p:extLst>
          </p:nvPr>
        </p:nvGraphicFramePr>
        <p:xfrm>
          <a:off x="1760538" y="5607050"/>
          <a:ext cx="1028700" cy="390525"/>
        </p:xfrm>
        <a:graphic>
          <a:graphicData uri="http://schemas.openxmlformats.org/presentationml/2006/ole">
            <mc:AlternateContent xmlns:mc="http://schemas.openxmlformats.org/markup-compatibility/2006">
              <mc:Choice xmlns:v="urn:schemas-microsoft-com:vml" Requires="v">
                <p:oleObj r:id="rId6" imgW="1028254" imgH="393529" progId="Equation.DSMT4">
                  <p:embed/>
                </p:oleObj>
              </mc:Choice>
              <mc:Fallback>
                <p:oleObj r:id="rId6" imgW="1028254" imgH="393529" progId="Equation.DSMT4">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0538" y="5607050"/>
                        <a:ext cx="10287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16">
            <a:extLst>
              <a:ext uri="{FF2B5EF4-FFF2-40B4-BE49-F238E27FC236}">
                <a16:creationId xmlns:a16="http://schemas.microsoft.com/office/drawing/2014/main" id="{089C0FA6-A9D0-4EF5-E491-2006EB668640}"/>
              </a:ext>
            </a:extLst>
          </p:cNvPr>
          <p:cNvSpPr>
            <a:spLocks noChangeArrowheads="1"/>
          </p:cNvSpPr>
          <p:nvPr/>
        </p:nvSpPr>
        <p:spPr bwMode="auto">
          <a:xfrm>
            <a:off x="4071322" y="349361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3" name="组合 32">
            <a:extLst>
              <a:ext uri="{FF2B5EF4-FFF2-40B4-BE49-F238E27FC236}">
                <a16:creationId xmlns:a16="http://schemas.microsoft.com/office/drawing/2014/main" id="{7F16824B-4824-ABD5-F994-DA4E3C56B08E}"/>
              </a:ext>
            </a:extLst>
          </p:cNvPr>
          <p:cNvGrpSpPr/>
          <p:nvPr/>
        </p:nvGrpSpPr>
        <p:grpSpPr>
          <a:xfrm>
            <a:off x="1481167" y="2514010"/>
            <a:ext cx="1659612" cy="436473"/>
            <a:chOff x="1420923" y="2013745"/>
            <a:chExt cx="1659612" cy="436473"/>
          </a:xfrm>
        </p:grpSpPr>
        <p:sp>
          <p:nvSpPr>
            <p:cNvPr id="34" name="圆角矩形 40">
              <a:extLst>
                <a:ext uri="{FF2B5EF4-FFF2-40B4-BE49-F238E27FC236}">
                  <a16:creationId xmlns:a16="http://schemas.microsoft.com/office/drawing/2014/main" id="{5278CD12-B4CE-285E-62B8-7825967CB73D}"/>
                </a:ext>
              </a:extLst>
            </p:cNvPr>
            <p:cNvSpPr/>
            <p:nvPr/>
          </p:nvSpPr>
          <p:spPr>
            <a:xfrm>
              <a:off x="1420923" y="2013745"/>
              <a:ext cx="1659612" cy="436473"/>
            </a:xfrm>
            <a:prstGeom prst="roundRect">
              <a:avLst>
                <a:gd name="adj" fmla="val 50000"/>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F296F53E-A228-A706-5A8B-FDDA62908C83}"/>
                </a:ext>
              </a:extLst>
            </p:cNvPr>
            <p:cNvSpPr txBox="1"/>
            <p:nvPr/>
          </p:nvSpPr>
          <p:spPr>
            <a:xfrm>
              <a:off x="1430795" y="2047315"/>
              <a:ext cx="1639869"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SAMPLE TEXT</a:t>
              </a:r>
            </a:p>
          </p:txBody>
        </p:sp>
      </p:grpSp>
      <p:sp>
        <p:nvSpPr>
          <p:cNvPr id="37" name="Rectangle 18">
            <a:extLst>
              <a:ext uri="{FF2B5EF4-FFF2-40B4-BE49-F238E27FC236}">
                <a16:creationId xmlns:a16="http://schemas.microsoft.com/office/drawing/2014/main" id="{6E31567D-BCFE-BC72-D9E1-0055F1CB1D18}"/>
              </a:ext>
            </a:extLst>
          </p:cNvPr>
          <p:cNvSpPr>
            <a:spLocks noChangeArrowheads="1"/>
          </p:cNvSpPr>
          <p:nvPr/>
        </p:nvSpPr>
        <p:spPr bwMode="auto">
          <a:xfrm>
            <a:off x="1544210" y="216912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8" name="对象 37">
            <a:extLst>
              <a:ext uri="{FF2B5EF4-FFF2-40B4-BE49-F238E27FC236}">
                <a16:creationId xmlns:a16="http://schemas.microsoft.com/office/drawing/2014/main" id="{B33BF0FD-B9CE-785C-CA0E-EA24075C4DEF}"/>
              </a:ext>
            </a:extLst>
          </p:cNvPr>
          <p:cNvGraphicFramePr>
            <a:graphicFrameLocks noChangeAspect="1"/>
          </p:cNvGraphicFramePr>
          <p:nvPr>
            <p:extLst>
              <p:ext uri="{D42A27DB-BD31-4B8C-83A1-F6EECF244321}">
                <p14:modId xmlns:p14="http://schemas.microsoft.com/office/powerpoint/2010/main" val="1897185790"/>
              </p:ext>
            </p:extLst>
          </p:nvPr>
        </p:nvGraphicFramePr>
        <p:xfrm>
          <a:off x="1548167" y="2523248"/>
          <a:ext cx="1533525" cy="342900"/>
        </p:xfrm>
        <a:graphic>
          <a:graphicData uri="http://schemas.openxmlformats.org/presentationml/2006/ole">
            <mc:AlternateContent xmlns:mc="http://schemas.openxmlformats.org/markup-compatibility/2006">
              <mc:Choice xmlns:v="urn:schemas-microsoft-com:vml" Requires="v">
                <p:oleObj r:id="rId8" imgW="1536700" imgH="342900" progId="Equation.DSMT4">
                  <p:embed/>
                </p:oleObj>
              </mc:Choice>
              <mc:Fallback>
                <p:oleObj r:id="rId8" imgW="1536700" imgH="342900" progId="Equation.DSMT4">
                  <p:embed/>
                  <p:pic>
                    <p:nvPicPr>
                      <p:cNvPr id="0"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8167" y="2523248"/>
                        <a:ext cx="153352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 name="文本框 58">
            <a:extLst>
              <a:ext uri="{FF2B5EF4-FFF2-40B4-BE49-F238E27FC236}">
                <a16:creationId xmlns:a16="http://schemas.microsoft.com/office/drawing/2014/main" id="{0C240D39-FF56-A034-F18F-2E1AEA762B69}"/>
              </a:ext>
            </a:extLst>
          </p:cNvPr>
          <p:cNvSpPr txBox="1"/>
          <p:nvPr/>
        </p:nvSpPr>
        <p:spPr>
          <a:xfrm>
            <a:off x="3418807" y="1282531"/>
            <a:ext cx="6094562" cy="369332"/>
          </a:xfrm>
          <a:prstGeom prst="rect">
            <a:avLst/>
          </a:prstGeom>
          <a:noFill/>
        </p:spPr>
        <p:txBody>
          <a:bodyPr wrap="square">
            <a:spAutoFit/>
          </a:bodyPr>
          <a:lstStyle/>
          <a:p>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电机的传递函数被简化为一阶线性微分方程</a:t>
            </a:r>
            <a:endParaRPr lang="zh-CN" altLang="en-US" dirty="0">
              <a:latin typeface="微软雅黑" panose="020B0503020204020204" pitchFamily="34" charset="-122"/>
              <a:ea typeface="微软雅黑" panose="020B0503020204020204" pitchFamily="34" charset="-122"/>
            </a:endParaRPr>
          </a:p>
        </p:txBody>
      </p:sp>
      <p:sp>
        <p:nvSpPr>
          <p:cNvPr id="60" name="Rectangle 20">
            <a:extLst>
              <a:ext uri="{FF2B5EF4-FFF2-40B4-BE49-F238E27FC236}">
                <a16:creationId xmlns:a16="http://schemas.microsoft.com/office/drawing/2014/main" id="{63021B8D-BFC9-BECD-8B49-0313FFE4A899}"/>
              </a:ext>
            </a:extLst>
          </p:cNvPr>
          <p:cNvSpPr>
            <a:spLocks noChangeArrowheads="1"/>
          </p:cNvSpPr>
          <p:nvPr/>
        </p:nvSpPr>
        <p:spPr bwMode="auto">
          <a:xfrm>
            <a:off x="3405539" y="272121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1" name="对象 60">
            <a:extLst>
              <a:ext uri="{FF2B5EF4-FFF2-40B4-BE49-F238E27FC236}">
                <a16:creationId xmlns:a16="http://schemas.microsoft.com/office/drawing/2014/main" id="{A41EBBEB-E253-6570-1570-CE83FEB1C646}"/>
              </a:ext>
            </a:extLst>
          </p:cNvPr>
          <p:cNvGraphicFramePr>
            <a:graphicFrameLocks noChangeAspect="1"/>
          </p:cNvGraphicFramePr>
          <p:nvPr>
            <p:extLst>
              <p:ext uri="{D42A27DB-BD31-4B8C-83A1-F6EECF244321}">
                <p14:modId xmlns:p14="http://schemas.microsoft.com/office/powerpoint/2010/main" val="1173799639"/>
              </p:ext>
            </p:extLst>
          </p:nvPr>
        </p:nvGraphicFramePr>
        <p:xfrm>
          <a:off x="3395668" y="2536550"/>
          <a:ext cx="619125" cy="390525"/>
        </p:xfrm>
        <a:graphic>
          <a:graphicData uri="http://schemas.openxmlformats.org/presentationml/2006/ole">
            <mc:AlternateContent xmlns:mc="http://schemas.openxmlformats.org/markup-compatibility/2006">
              <mc:Choice xmlns:v="urn:schemas-microsoft-com:vml" Requires="v">
                <p:oleObj r:id="rId10" imgW="622030" imgH="393529" progId="Equation.DSMT4">
                  <p:embed/>
                </p:oleObj>
              </mc:Choice>
              <mc:Fallback>
                <p:oleObj r:id="rId10" imgW="622030" imgH="393529" progId="Equation.DSMT4">
                  <p:embed/>
                  <p:pic>
                    <p:nvPicPr>
                      <p:cNvPr id="0"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95668" y="2536550"/>
                        <a:ext cx="619125"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 name="Rectangle 22">
            <a:extLst>
              <a:ext uri="{FF2B5EF4-FFF2-40B4-BE49-F238E27FC236}">
                <a16:creationId xmlns:a16="http://schemas.microsoft.com/office/drawing/2014/main" id="{2E8BE710-A223-1611-CABE-0A5174BEB76B}"/>
              </a:ext>
            </a:extLst>
          </p:cNvPr>
          <p:cNvSpPr>
            <a:spLocks noChangeArrowheads="1"/>
          </p:cNvSpPr>
          <p:nvPr/>
        </p:nvSpPr>
        <p:spPr bwMode="auto">
          <a:xfrm>
            <a:off x="4293381" y="273224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3" name="对象 62">
            <a:extLst>
              <a:ext uri="{FF2B5EF4-FFF2-40B4-BE49-F238E27FC236}">
                <a16:creationId xmlns:a16="http://schemas.microsoft.com/office/drawing/2014/main" id="{1EB54EAA-15E0-0C20-DDA4-C888548C29ED}"/>
              </a:ext>
            </a:extLst>
          </p:cNvPr>
          <p:cNvGraphicFramePr>
            <a:graphicFrameLocks noChangeAspect="1"/>
          </p:cNvGraphicFramePr>
          <p:nvPr>
            <p:extLst>
              <p:ext uri="{D42A27DB-BD31-4B8C-83A1-F6EECF244321}">
                <p14:modId xmlns:p14="http://schemas.microsoft.com/office/powerpoint/2010/main" val="763161142"/>
              </p:ext>
            </p:extLst>
          </p:nvPr>
        </p:nvGraphicFramePr>
        <p:xfrm>
          <a:off x="4283510" y="2547580"/>
          <a:ext cx="2743200" cy="581025"/>
        </p:xfrm>
        <a:graphic>
          <a:graphicData uri="http://schemas.openxmlformats.org/presentationml/2006/ole">
            <mc:AlternateContent xmlns:mc="http://schemas.openxmlformats.org/markup-compatibility/2006">
              <mc:Choice xmlns:v="urn:schemas-microsoft-com:vml" Requires="v">
                <p:oleObj r:id="rId12" imgW="2743200" imgH="584200" progId="Equation.DSMT4">
                  <p:embed/>
                </p:oleObj>
              </mc:Choice>
              <mc:Fallback>
                <p:oleObj r:id="rId12" imgW="2743200" imgH="584200" progId="Equation.DSMT4">
                  <p:embed/>
                  <p:pic>
                    <p:nvPicPr>
                      <p:cNvPr id="0" name="Object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83510" y="2547580"/>
                        <a:ext cx="2743200"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4" name="图片 63">
            <a:extLst>
              <a:ext uri="{FF2B5EF4-FFF2-40B4-BE49-F238E27FC236}">
                <a16:creationId xmlns:a16="http://schemas.microsoft.com/office/drawing/2014/main" id="{7779A07E-53CD-7B9E-7CAF-C3DDABA63D8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490460" y="1871106"/>
            <a:ext cx="2085339" cy="1832051"/>
          </a:xfrm>
          <a:prstGeom prst="rect">
            <a:avLst/>
          </a:prstGeom>
        </p:spPr>
      </p:pic>
      <p:sp>
        <p:nvSpPr>
          <p:cNvPr id="70" name="箭头: 下 69">
            <a:extLst>
              <a:ext uri="{FF2B5EF4-FFF2-40B4-BE49-F238E27FC236}">
                <a16:creationId xmlns:a16="http://schemas.microsoft.com/office/drawing/2014/main" id="{9A72A266-99F0-6677-86FD-61420720F125}"/>
              </a:ext>
            </a:extLst>
          </p:cNvPr>
          <p:cNvSpPr/>
          <p:nvPr/>
        </p:nvSpPr>
        <p:spPr>
          <a:xfrm>
            <a:off x="2151929" y="1676061"/>
            <a:ext cx="245534" cy="859353"/>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下 70">
            <a:extLst>
              <a:ext uri="{FF2B5EF4-FFF2-40B4-BE49-F238E27FC236}">
                <a16:creationId xmlns:a16="http://schemas.microsoft.com/office/drawing/2014/main" id="{7D05AC6C-CE59-5140-B487-93417F81EFC7}"/>
              </a:ext>
            </a:extLst>
          </p:cNvPr>
          <p:cNvSpPr/>
          <p:nvPr/>
        </p:nvSpPr>
        <p:spPr>
          <a:xfrm>
            <a:off x="2151929" y="2943330"/>
            <a:ext cx="245534" cy="1242223"/>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下 71">
            <a:extLst>
              <a:ext uri="{FF2B5EF4-FFF2-40B4-BE49-F238E27FC236}">
                <a16:creationId xmlns:a16="http://schemas.microsoft.com/office/drawing/2014/main" id="{6390DCB3-84EA-7A13-CA62-09788367F4CA}"/>
              </a:ext>
            </a:extLst>
          </p:cNvPr>
          <p:cNvSpPr/>
          <p:nvPr/>
        </p:nvSpPr>
        <p:spPr>
          <a:xfrm>
            <a:off x="2136392" y="4614874"/>
            <a:ext cx="245534" cy="959065"/>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A7546EF3-4F61-2CAC-79C0-40B3B3024054}"/>
              </a:ext>
            </a:extLst>
          </p:cNvPr>
          <p:cNvSpPr txBox="1"/>
          <p:nvPr/>
        </p:nvSpPr>
        <p:spPr>
          <a:xfrm>
            <a:off x="3405539" y="4136783"/>
            <a:ext cx="6096000" cy="646331"/>
          </a:xfrm>
          <a:prstGeom prst="rect">
            <a:avLst/>
          </a:prstGeom>
          <a:noFill/>
        </p:spPr>
        <p:txBody>
          <a:bodyPr wrap="square">
            <a:spAutoFit/>
          </a:bodyPr>
          <a:lstStyle/>
          <a:p>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测量得到电机响应到最大速度的</a:t>
            </a:r>
            <a:r>
              <a:rPr lang="en-US" altLang="zh-CN" sz="1800" dirty="0">
                <a:effectLst/>
                <a:latin typeface="微软雅黑" panose="020B0503020204020204" pitchFamily="34" charset="-122"/>
                <a:ea typeface="微软雅黑" panose="020B0503020204020204" pitchFamily="34" charset="-122"/>
              </a:rPr>
              <a:t>0.638</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倍时所用的时间为</a:t>
            </a:r>
            <a:r>
              <a:rPr lang="en-US" altLang="zh-CN" sz="1800" dirty="0">
                <a:effectLst/>
                <a:latin typeface="微软雅黑" panose="020B0503020204020204" pitchFamily="34" charset="-122"/>
                <a:ea typeface="微软雅黑" panose="020B0503020204020204" pitchFamily="34" charset="-122"/>
              </a:rPr>
              <a:t>0.12</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秒左右，由此可得到电机时间常数</a:t>
            </a:r>
            <a:r>
              <a:rPr lang="en-US" altLang="zh-CN" sz="1800" dirty="0">
                <a:effectLst/>
                <a:latin typeface="微软雅黑" panose="020B0503020204020204" pitchFamily="34" charset="-122"/>
                <a:ea typeface="微软雅黑" panose="020B0503020204020204" pitchFamily="34" charset="-122"/>
              </a:rPr>
              <a:t>T=0.12</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latin typeface="微软雅黑" panose="020B0503020204020204" pitchFamily="34" charset="-122"/>
              <a:ea typeface="微软雅黑" panose="020B0503020204020204" pitchFamily="34" charset="-122"/>
            </a:endParaRPr>
          </a:p>
        </p:txBody>
      </p:sp>
      <p:graphicFrame>
        <p:nvGraphicFramePr>
          <p:cNvPr id="107" name="对象 106">
            <a:extLst>
              <a:ext uri="{FF2B5EF4-FFF2-40B4-BE49-F238E27FC236}">
                <a16:creationId xmlns:a16="http://schemas.microsoft.com/office/drawing/2014/main" id="{86FC1A95-D818-80A0-2015-B61DF4ED1F48}"/>
              </a:ext>
            </a:extLst>
          </p:cNvPr>
          <p:cNvGraphicFramePr>
            <a:graphicFrameLocks noChangeAspect="1"/>
          </p:cNvGraphicFramePr>
          <p:nvPr>
            <p:extLst>
              <p:ext uri="{D42A27DB-BD31-4B8C-83A1-F6EECF244321}">
                <p14:modId xmlns:p14="http://schemas.microsoft.com/office/powerpoint/2010/main" val="1118338139"/>
              </p:ext>
            </p:extLst>
          </p:nvPr>
        </p:nvGraphicFramePr>
        <p:xfrm>
          <a:off x="6254421" y="5797559"/>
          <a:ext cx="914400" cy="390525"/>
        </p:xfrm>
        <a:graphic>
          <a:graphicData uri="http://schemas.openxmlformats.org/presentationml/2006/ole">
            <mc:AlternateContent xmlns:mc="http://schemas.openxmlformats.org/markup-compatibility/2006">
              <mc:Choice xmlns:v="urn:schemas-microsoft-com:vml" Requires="v">
                <p:oleObj r:id="rId15" imgW="914400" imgH="393700" progId="Equation.DSMT4">
                  <p:embed/>
                </p:oleObj>
              </mc:Choice>
              <mc:Fallback>
                <p:oleObj r:id="rId15" imgW="914400" imgH="393700" progId="Equation.DSMT4">
                  <p:embed/>
                  <p:pic>
                    <p:nvPicPr>
                      <p:cNvPr id="0" name="Object 5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54421" y="5797559"/>
                        <a:ext cx="9144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8" name="Rectangle 53">
            <a:extLst>
              <a:ext uri="{FF2B5EF4-FFF2-40B4-BE49-F238E27FC236}">
                <a16:creationId xmlns:a16="http://schemas.microsoft.com/office/drawing/2014/main" id="{9E3F0462-0ACB-F095-DF4F-25BC5B60EBBB}"/>
              </a:ext>
            </a:extLst>
          </p:cNvPr>
          <p:cNvSpPr>
            <a:spLocks noChangeArrowheads="1"/>
          </p:cNvSpPr>
          <p:nvPr/>
        </p:nvSpPr>
        <p:spPr bwMode="auto">
          <a:xfrm>
            <a:off x="0" y="3905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10" name="文本框 109">
            <a:extLst>
              <a:ext uri="{FF2B5EF4-FFF2-40B4-BE49-F238E27FC236}">
                <a16:creationId xmlns:a16="http://schemas.microsoft.com/office/drawing/2014/main" id="{87BE3A6E-EA33-EC75-5D8A-DA25199BE3AE}"/>
              </a:ext>
            </a:extLst>
          </p:cNvPr>
          <p:cNvSpPr txBox="1"/>
          <p:nvPr/>
        </p:nvSpPr>
        <p:spPr>
          <a:xfrm>
            <a:off x="3395668" y="5535087"/>
            <a:ext cx="6094562" cy="646331"/>
          </a:xfrm>
          <a:prstGeom prst="rect">
            <a:avLst/>
          </a:prstGeom>
          <a:noFill/>
        </p:spPr>
        <p:txBody>
          <a:bodyPr wrap="square">
            <a:spAutoFit/>
          </a:bodyPr>
          <a:lstStyle/>
          <a:p>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查阅电机规格参数得电机额定转速为</a:t>
            </a:r>
            <a:r>
              <a:rPr lang="en-US" altLang="zh-CN" sz="1800" dirty="0">
                <a:effectLst/>
                <a:latin typeface="微软雅黑" panose="020B0503020204020204" pitchFamily="34" charset="-122"/>
                <a:ea typeface="微软雅黑" panose="020B0503020204020204" pitchFamily="34" charset="-122"/>
              </a:rPr>
              <a:t>258rpm</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，即</a:t>
            </a:r>
            <a:r>
              <a:rPr lang="en-US" altLang="zh-CN" sz="1800" dirty="0">
                <a:effectLst/>
                <a:latin typeface="微软雅黑" panose="020B0503020204020204" pitchFamily="34" charset="-122"/>
                <a:ea typeface="微软雅黑" panose="020B0503020204020204" pitchFamily="34" charset="-122"/>
              </a:rPr>
              <a:t>27rad/s</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。根据角速度与电压的比值得</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Siumlink</a:t>
            </a:r>
            <a:r>
              <a:rPr lang="zh-CN" altLang="en-US" dirty="0"/>
              <a:t>系统验证</a:t>
            </a:r>
          </a:p>
        </p:txBody>
      </p:sp>
      <p:pic>
        <p:nvPicPr>
          <p:cNvPr id="3" name="图片 2">
            <a:extLst>
              <a:ext uri="{FF2B5EF4-FFF2-40B4-BE49-F238E27FC236}">
                <a16:creationId xmlns:a16="http://schemas.microsoft.com/office/drawing/2014/main" id="{C3F4B604-00F2-9C1A-56A6-DDB7E8D53F53}"/>
              </a:ext>
            </a:extLst>
          </p:cNvPr>
          <p:cNvPicPr>
            <a:picLocks noChangeAspect="1"/>
          </p:cNvPicPr>
          <p:nvPr/>
        </p:nvPicPr>
        <p:blipFill>
          <a:blip r:embed="rId2"/>
          <a:stretch>
            <a:fillRect/>
          </a:stretch>
        </p:blipFill>
        <p:spPr>
          <a:xfrm>
            <a:off x="2800562" y="892914"/>
            <a:ext cx="4728210" cy="2159635"/>
          </a:xfrm>
          <a:prstGeom prst="rect">
            <a:avLst/>
          </a:prstGeom>
        </p:spPr>
      </p:pic>
      <p:pic>
        <p:nvPicPr>
          <p:cNvPr id="4" name="图片 3">
            <a:extLst>
              <a:ext uri="{FF2B5EF4-FFF2-40B4-BE49-F238E27FC236}">
                <a16:creationId xmlns:a16="http://schemas.microsoft.com/office/drawing/2014/main" id="{178843EA-CA4B-7704-93D9-39EA9DCCC22A}"/>
              </a:ext>
            </a:extLst>
          </p:cNvPr>
          <p:cNvPicPr>
            <a:picLocks noChangeAspect="1"/>
          </p:cNvPicPr>
          <p:nvPr/>
        </p:nvPicPr>
        <p:blipFill>
          <a:blip r:embed="rId3"/>
          <a:stretch>
            <a:fillRect/>
          </a:stretch>
        </p:blipFill>
        <p:spPr>
          <a:xfrm>
            <a:off x="251885" y="3348250"/>
            <a:ext cx="2967321" cy="2520000"/>
          </a:xfrm>
          <a:prstGeom prst="rect">
            <a:avLst/>
          </a:prstGeom>
        </p:spPr>
      </p:pic>
      <p:pic>
        <p:nvPicPr>
          <p:cNvPr id="7" name="图片 6">
            <a:extLst>
              <a:ext uri="{FF2B5EF4-FFF2-40B4-BE49-F238E27FC236}">
                <a16:creationId xmlns:a16="http://schemas.microsoft.com/office/drawing/2014/main" id="{8674C0DB-5493-E795-7831-CC74C9CC6185}"/>
              </a:ext>
            </a:extLst>
          </p:cNvPr>
          <p:cNvPicPr>
            <a:picLocks noChangeAspect="1"/>
          </p:cNvPicPr>
          <p:nvPr/>
        </p:nvPicPr>
        <p:blipFill>
          <a:blip r:embed="rId4"/>
          <a:stretch>
            <a:fillRect/>
          </a:stretch>
        </p:blipFill>
        <p:spPr>
          <a:xfrm>
            <a:off x="3931017" y="3348250"/>
            <a:ext cx="2770055" cy="2520000"/>
          </a:xfrm>
          <a:prstGeom prst="rect">
            <a:avLst/>
          </a:prstGeom>
        </p:spPr>
      </p:pic>
      <p:pic>
        <p:nvPicPr>
          <p:cNvPr id="8" name="图片 7">
            <a:extLst>
              <a:ext uri="{FF2B5EF4-FFF2-40B4-BE49-F238E27FC236}">
                <a16:creationId xmlns:a16="http://schemas.microsoft.com/office/drawing/2014/main" id="{295EDB0F-FD3C-328B-94DF-FA4E4A149C1C}"/>
              </a:ext>
            </a:extLst>
          </p:cNvPr>
          <p:cNvPicPr>
            <a:picLocks noChangeAspect="1"/>
          </p:cNvPicPr>
          <p:nvPr/>
        </p:nvPicPr>
        <p:blipFill>
          <a:blip r:embed="rId5"/>
          <a:stretch>
            <a:fillRect/>
          </a:stretch>
        </p:blipFill>
        <p:spPr>
          <a:xfrm>
            <a:off x="7412884" y="3348250"/>
            <a:ext cx="3089014" cy="2520000"/>
          </a:xfrm>
          <a:prstGeom prst="rect">
            <a:avLst/>
          </a:prstGeom>
        </p:spPr>
      </p:pic>
      <p:sp>
        <p:nvSpPr>
          <p:cNvPr id="11" name="文本框 10">
            <a:extLst>
              <a:ext uri="{FF2B5EF4-FFF2-40B4-BE49-F238E27FC236}">
                <a16:creationId xmlns:a16="http://schemas.microsoft.com/office/drawing/2014/main" id="{7E847E7F-8980-C7EE-E688-FCF82029E2DA}"/>
              </a:ext>
            </a:extLst>
          </p:cNvPr>
          <p:cNvSpPr txBox="1"/>
          <p:nvPr/>
        </p:nvSpPr>
        <p:spPr>
          <a:xfrm>
            <a:off x="1828799" y="5961172"/>
            <a:ext cx="7459133" cy="749564"/>
          </a:xfrm>
          <a:prstGeom prst="rect">
            <a:avLst/>
          </a:prstGeom>
          <a:noFill/>
        </p:spPr>
        <p:txBody>
          <a:bodyPr wrap="square">
            <a:spAutoFit/>
          </a:bodyPr>
          <a:lstStyle/>
          <a:p>
            <a:pPr indent="304800" algn="just">
              <a:lnSpc>
                <a:spcPct val="125000"/>
              </a:lnSpc>
            </a:pPr>
            <a:r>
              <a:rPr lang="zh-CN" altLang="zh-CN" sz="1800" kern="100" dirty="0">
                <a:effectLst/>
                <a:latin typeface="微软雅黑" panose="020B0503020204020204" pitchFamily="34" charset="-122"/>
                <a:ea typeface="微软雅黑" panose="020B0503020204020204" pitchFamily="34" charset="-122"/>
              </a:rPr>
              <a:t>综上所述，</a:t>
            </a:r>
            <a:r>
              <a:rPr lang="en-US" altLang="zh-CN" sz="1800" kern="100" dirty="0">
                <a:effectLst/>
                <a:latin typeface="微软雅黑" panose="020B0503020204020204" pitchFamily="34" charset="-122"/>
                <a:ea typeface="微软雅黑" panose="020B0503020204020204" pitchFamily="34" charset="-122"/>
              </a:rPr>
              <a:t>PID</a:t>
            </a:r>
            <a:r>
              <a:rPr lang="zh-CN" altLang="zh-CN" sz="1800" kern="100" dirty="0">
                <a:effectLst/>
                <a:latin typeface="微软雅黑" panose="020B0503020204020204" pitchFamily="34" charset="-122"/>
                <a:ea typeface="微软雅黑" panose="020B0503020204020204" pitchFamily="34" charset="-122"/>
              </a:rPr>
              <a:t>控制策略对于电机的平稳运行意义重大，本节</a:t>
            </a:r>
            <a:r>
              <a:rPr lang="en-US" altLang="zh-CN" sz="1800" kern="100" dirty="0" err="1">
                <a:effectLst/>
                <a:latin typeface="微软雅黑" panose="020B0503020204020204" pitchFamily="34" charset="-122"/>
                <a:ea typeface="微软雅黑" panose="020B0503020204020204" pitchFamily="34" charset="-122"/>
              </a:rPr>
              <a:t>Siumlink</a:t>
            </a:r>
            <a:r>
              <a:rPr lang="zh-CN" altLang="zh-CN" sz="1800" kern="100" dirty="0">
                <a:effectLst/>
                <a:latin typeface="微软雅黑" panose="020B0503020204020204" pitchFamily="34" charset="-122"/>
                <a:ea typeface="微软雅黑" panose="020B0503020204020204" pitchFamily="34" charset="-122"/>
              </a:rPr>
              <a:t>仿真模型的建立为后续电机的驱动控制奠定了良好基础。</a:t>
            </a:r>
            <a:endParaRPr lang="zh-CN" altLang="zh-CN" sz="1400" kern="100" dirty="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6845817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z="4000" dirty="0">
                <a:latin typeface="微软雅黑" pitchFamily="34" charset="-122"/>
                <a:ea typeface="微软雅黑" pitchFamily="34" charset="-122"/>
              </a:rPr>
              <a:t>巡检机器人控制系统硬件设计</a:t>
            </a:r>
          </a:p>
        </p:txBody>
      </p:sp>
      <p:pic>
        <p:nvPicPr>
          <p:cNvPr id="3" name="图片 2">
            <a:extLst>
              <a:ext uri="{FF2B5EF4-FFF2-40B4-BE49-F238E27FC236}">
                <a16:creationId xmlns:a16="http://schemas.microsoft.com/office/drawing/2014/main" id="{438EA33F-A26C-8A44-84C2-025E5868A156}"/>
              </a:ext>
            </a:extLst>
          </p:cNvPr>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381000" y="461617"/>
            <a:ext cx="3067050" cy="514350"/>
          </a:xfrm>
          <a:prstGeom prst="rect">
            <a:avLst/>
          </a:prstGeom>
        </p:spPr>
      </p:pic>
      <p:pic>
        <p:nvPicPr>
          <p:cNvPr id="4" name="图片 3">
            <a:extLst>
              <a:ext uri="{FF2B5EF4-FFF2-40B4-BE49-F238E27FC236}">
                <a16:creationId xmlns:a16="http://schemas.microsoft.com/office/drawing/2014/main" id="{B9205F85-CF16-3292-6C80-A6AFC2F079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 y="447858"/>
            <a:ext cx="541867" cy="541867"/>
          </a:xfrm>
          <a:prstGeom prst="rect">
            <a:avLst/>
          </a:prstGeom>
        </p:spPr>
      </p:pic>
      <p:sp>
        <p:nvSpPr>
          <p:cNvPr id="5" name="星形: 五角 4">
            <a:extLst>
              <a:ext uri="{FF2B5EF4-FFF2-40B4-BE49-F238E27FC236}">
                <a16:creationId xmlns:a16="http://schemas.microsoft.com/office/drawing/2014/main" id="{81A3FDFF-A024-458C-1E40-9635470E4701}"/>
              </a:ext>
            </a:extLst>
          </p:cNvPr>
          <p:cNvSpPr/>
          <p:nvPr/>
        </p:nvSpPr>
        <p:spPr>
          <a:xfrm>
            <a:off x="3149597" y="3996270"/>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A744EDD6-DE4C-2D45-A7E2-F9C64958E680}"/>
              </a:ext>
            </a:extLst>
          </p:cNvPr>
          <p:cNvSpPr txBox="1"/>
          <p:nvPr/>
        </p:nvSpPr>
        <p:spPr>
          <a:xfrm>
            <a:off x="3361264" y="3867037"/>
            <a:ext cx="29379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硬件总体方案设计</a:t>
            </a:r>
          </a:p>
        </p:txBody>
      </p:sp>
      <p:sp>
        <p:nvSpPr>
          <p:cNvPr id="7" name="星形: 五角 6">
            <a:extLst>
              <a:ext uri="{FF2B5EF4-FFF2-40B4-BE49-F238E27FC236}">
                <a16:creationId xmlns:a16="http://schemas.microsoft.com/office/drawing/2014/main" id="{1687DDF7-7CA2-0239-3413-55235467702F}"/>
              </a:ext>
            </a:extLst>
          </p:cNvPr>
          <p:cNvSpPr/>
          <p:nvPr/>
        </p:nvSpPr>
        <p:spPr>
          <a:xfrm>
            <a:off x="3149597" y="4671073"/>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9E2404EF-D149-57ED-0F46-7E791BB0F077}"/>
              </a:ext>
            </a:extLst>
          </p:cNvPr>
          <p:cNvSpPr txBox="1"/>
          <p:nvPr/>
        </p:nvSpPr>
        <p:spPr>
          <a:xfrm>
            <a:off x="3361264" y="4541840"/>
            <a:ext cx="32427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信息采集系统</a:t>
            </a:r>
          </a:p>
        </p:txBody>
      </p:sp>
      <p:sp>
        <p:nvSpPr>
          <p:cNvPr id="9" name="星形: 五角 8">
            <a:extLst>
              <a:ext uri="{FF2B5EF4-FFF2-40B4-BE49-F238E27FC236}">
                <a16:creationId xmlns:a16="http://schemas.microsoft.com/office/drawing/2014/main" id="{54272549-0376-57AB-90E6-F5446863C2E0}"/>
              </a:ext>
            </a:extLst>
          </p:cNvPr>
          <p:cNvSpPr/>
          <p:nvPr/>
        </p:nvSpPr>
        <p:spPr>
          <a:xfrm>
            <a:off x="3149597" y="5345876"/>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10" name="文本框 9">
            <a:extLst>
              <a:ext uri="{FF2B5EF4-FFF2-40B4-BE49-F238E27FC236}">
                <a16:creationId xmlns:a16="http://schemas.microsoft.com/office/drawing/2014/main" id="{74F40DB0-E2DC-39CD-2A61-FC803413E0A4}"/>
              </a:ext>
            </a:extLst>
          </p:cNvPr>
          <p:cNvSpPr txBox="1"/>
          <p:nvPr/>
        </p:nvSpPr>
        <p:spPr>
          <a:xfrm>
            <a:off x="3361264" y="5216643"/>
            <a:ext cx="29379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电机驱动系统</a:t>
            </a:r>
          </a:p>
        </p:txBody>
      </p:sp>
      <p:sp>
        <p:nvSpPr>
          <p:cNvPr id="15" name="星形: 五角 14">
            <a:extLst>
              <a:ext uri="{FF2B5EF4-FFF2-40B4-BE49-F238E27FC236}">
                <a16:creationId xmlns:a16="http://schemas.microsoft.com/office/drawing/2014/main" id="{4A961710-27B7-C4DD-43A6-94B247C0018B}"/>
              </a:ext>
            </a:extLst>
          </p:cNvPr>
          <p:cNvSpPr/>
          <p:nvPr/>
        </p:nvSpPr>
        <p:spPr>
          <a:xfrm>
            <a:off x="6815665" y="3996270"/>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55C8ED1D-3F40-CE99-42B5-1A7B6C04AAF7}"/>
              </a:ext>
            </a:extLst>
          </p:cNvPr>
          <p:cNvSpPr txBox="1"/>
          <p:nvPr/>
        </p:nvSpPr>
        <p:spPr>
          <a:xfrm>
            <a:off x="7027332" y="3867037"/>
            <a:ext cx="32427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电源管理系统</a:t>
            </a:r>
          </a:p>
        </p:txBody>
      </p:sp>
      <p:sp>
        <p:nvSpPr>
          <p:cNvPr id="17" name="星形: 五角 16">
            <a:extLst>
              <a:ext uri="{FF2B5EF4-FFF2-40B4-BE49-F238E27FC236}">
                <a16:creationId xmlns:a16="http://schemas.microsoft.com/office/drawing/2014/main" id="{B3C5DC74-8D05-BF04-CC83-5E2EFC11D155}"/>
              </a:ext>
            </a:extLst>
          </p:cNvPr>
          <p:cNvSpPr/>
          <p:nvPr/>
        </p:nvSpPr>
        <p:spPr>
          <a:xfrm>
            <a:off x="6815665" y="4594657"/>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65C19EA8-531F-AA41-5AFD-E6EC0FB69471}"/>
              </a:ext>
            </a:extLst>
          </p:cNvPr>
          <p:cNvSpPr txBox="1"/>
          <p:nvPr/>
        </p:nvSpPr>
        <p:spPr>
          <a:xfrm>
            <a:off x="7027332" y="4465424"/>
            <a:ext cx="29379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通讯系统</a:t>
            </a:r>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硬件总体设计方案</a:t>
            </a:r>
          </a:p>
        </p:txBody>
      </p:sp>
      <p:pic>
        <p:nvPicPr>
          <p:cNvPr id="3" name="图片 2">
            <a:extLst>
              <a:ext uri="{FF2B5EF4-FFF2-40B4-BE49-F238E27FC236}">
                <a16:creationId xmlns:a16="http://schemas.microsoft.com/office/drawing/2014/main" id="{BC51C05E-7E06-B1A6-D8D9-E8583E523391}"/>
              </a:ext>
            </a:extLst>
          </p:cNvPr>
          <p:cNvPicPr>
            <a:picLocks noChangeAspect="1"/>
          </p:cNvPicPr>
          <p:nvPr/>
        </p:nvPicPr>
        <p:blipFill>
          <a:blip r:embed="rId2"/>
          <a:stretch>
            <a:fillRect/>
          </a:stretch>
        </p:blipFill>
        <p:spPr>
          <a:xfrm>
            <a:off x="2473114" y="1019637"/>
            <a:ext cx="5400040" cy="4208145"/>
          </a:xfrm>
          <a:prstGeom prst="rect">
            <a:avLst/>
          </a:prstGeom>
        </p:spPr>
      </p:pic>
      <p:sp>
        <p:nvSpPr>
          <p:cNvPr id="6" name="文本框 5">
            <a:extLst>
              <a:ext uri="{FF2B5EF4-FFF2-40B4-BE49-F238E27FC236}">
                <a16:creationId xmlns:a16="http://schemas.microsoft.com/office/drawing/2014/main" id="{0513CDAF-C002-4543-74BB-6F76898140DF}"/>
              </a:ext>
            </a:extLst>
          </p:cNvPr>
          <p:cNvSpPr txBox="1"/>
          <p:nvPr/>
        </p:nvSpPr>
        <p:spPr>
          <a:xfrm>
            <a:off x="2065867" y="5376698"/>
            <a:ext cx="6096000" cy="1099468"/>
          </a:xfrm>
          <a:prstGeom prst="rect">
            <a:avLst/>
          </a:prstGeom>
          <a:noFill/>
        </p:spPr>
        <p:txBody>
          <a:bodyPr wrap="square">
            <a:spAutoFit/>
          </a:bodyPr>
          <a:lstStyle/>
          <a:p>
            <a:pPr indent="457200" algn="just">
              <a:lnSpc>
                <a:spcPct val="125000"/>
              </a:lnSpc>
            </a:pP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综合功耗大小、性能高低、存储大小等多方面的考虑，本文</a:t>
            </a: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主控制器</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选择采用意法半导体公司生产的</a:t>
            </a:r>
            <a:r>
              <a:rPr lang="en-US" altLang="zh-CN" sz="1800" dirty="0">
                <a:effectLst/>
                <a:latin typeface="微软雅黑" panose="020B0503020204020204" pitchFamily="34" charset="-122"/>
                <a:ea typeface="微软雅黑" panose="020B0503020204020204" pitchFamily="34" charset="-122"/>
              </a:rPr>
              <a:t>STM32F4</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系列的</a:t>
            </a:r>
            <a:r>
              <a:rPr lang="en-US" altLang="zh-CN" sz="1800" dirty="0">
                <a:effectLst/>
                <a:latin typeface="微软雅黑" panose="020B0503020204020204" pitchFamily="34" charset="-122"/>
                <a:ea typeface="微软雅黑" panose="020B0503020204020204" pitchFamily="34" charset="-122"/>
              </a:rPr>
              <a:t>STM32F407</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芯片</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70649363"/>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信息采集系统</a:t>
            </a:r>
          </a:p>
        </p:txBody>
      </p:sp>
      <p:pic>
        <p:nvPicPr>
          <p:cNvPr id="3" name="图片 2">
            <a:extLst>
              <a:ext uri="{FF2B5EF4-FFF2-40B4-BE49-F238E27FC236}">
                <a16:creationId xmlns:a16="http://schemas.microsoft.com/office/drawing/2014/main" id="{C6B88CE0-C1EF-F792-2B59-D701B8565F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3996372" y="1774913"/>
            <a:ext cx="2399665" cy="1799590"/>
          </a:xfrm>
          <a:prstGeom prst="rect">
            <a:avLst/>
          </a:prstGeom>
        </p:spPr>
      </p:pic>
      <p:sp>
        <p:nvSpPr>
          <p:cNvPr id="7" name="文本框 6">
            <a:extLst>
              <a:ext uri="{FF2B5EF4-FFF2-40B4-BE49-F238E27FC236}">
                <a16:creationId xmlns:a16="http://schemas.microsoft.com/office/drawing/2014/main" id="{853A753B-5804-D39D-1571-374A2EDFBEB7}"/>
              </a:ext>
            </a:extLst>
          </p:cNvPr>
          <p:cNvSpPr txBox="1"/>
          <p:nvPr/>
        </p:nvSpPr>
        <p:spPr>
          <a:xfrm>
            <a:off x="2411201" y="4329779"/>
            <a:ext cx="6096000" cy="1442061"/>
          </a:xfrm>
          <a:prstGeom prst="rect">
            <a:avLst/>
          </a:prstGeom>
          <a:noFill/>
        </p:spPr>
        <p:txBody>
          <a:bodyPr wrap="square">
            <a:spAutoFit/>
          </a:bodyPr>
          <a:lstStyle/>
          <a:p>
            <a:pPr indent="304800" algn="just">
              <a:lnSpc>
                <a:spcPct val="125000"/>
              </a:lnSpc>
              <a:spcAft>
                <a:spcPts val="600"/>
              </a:spcAft>
            </a:pPr>
            <a:r>
              <a:rPr lang="en-US" altLang="zh-CN" sz="1800" kern="100" dirty="0">
                <a:effectLst/>
                <a:latin typeface="微软雅黑" panose="020B0503020204020204" pitchFamily="34" charset="-122"/>
                <a:ea typeface="微软雅黑" panose="020B0503020204020204" pitchFamily="34" charset="-122"/>
              </a:rPr>
              <a:t>SHT30</a:t>
            </a:r>
            <a:r>
              <a:rPr lang="zh-CN" altLang="zh-CN" sz="1800" kern="100" dirty="0">
                <a:effectLst/>
                <a:latin typeface="微软雅黑" panose="020B0503020204020204" pitchFamily="34" charset="-122"/>
                <a:ea typeface="微软雅黑" panose="020B0503020204020204" pitchFamily="34" charset="-122"/>
              </a:rPr>
              <a:t>温湿度传感器与主控制器通讯时采用标准</a:t>
            </a:r>
            <a:r>
              <a:rPr lang="en-US" altLang="zh-CN" sz="1800" kern="100" dirty="0">
                <a:effectLst/>
                <a:latin typeface="微软雅黑" panose="020B0503020204020204" pitchFamily="34" charset="-122"/>
                <a:ea typeface="微软雅黑" panose="020B0503020204020204" pitchFamily="34" charset="-122"/>
              </a:rPr>
              <a:t>I2C</a:t>
            </a:r>
            <a:r>
              <a:rPr lang="zh-CN" altLang="zh-CN" sz="1800" kern="100" dirty="0">
                <a:effectLst/>
                <a:latin typeface="微软雅黑" panose="020B0503020204020204" pitchFamily="34" charset="-122"/>
                <a:ea typeface="微软雅黑" panose="020B0503020204020204" pitchFamily="34" charset="-122"/>
              </a:rPr>
              <a:t>通信方式。</a:t>
            </a:r>
            <a:r>
              <a:rPr lang="en-US" altLang="zh-CN" sz="1800" kern="100" dirty="0">
                <a:effectLst/>
                <a:latin typeface="微软雅黑" panose="020B0503020204020204" pitchFamily="34" charset="-122"/>
                <a:ea typeface="微软雅黑" panose="020B0503020204020204" pitchFamily="34" charset="-122"/>
              </a:rPr>
              <a:t>I2C</a:t>
            </a:r>
            <a:r>
              <a:rPr lang="zh-CN" altLang="zh-CN" sz="1800" kern="100" dirty="0">
                <a:effectLst/>
                <a:latin typeface="微软雅黑" panose="020B0503020204020204" pitchFamily="34" charset="-122"/>
                <a:ea typeface="微软雅黑" panose="020B0503020204020204" pitchFamily="34" charset="-122"/>
              </a:rPr>
              <a:t>总线是一种双向二线制同步串行总线，总线上的器件传送信息只需双向串行数据线</a:t>
            </a:r>
            <a:r>
              <a:rPr lang="en-US" altLang="zh-CN" sz="1800" kern="100" dirty="0">
                <a:effectLst/>
                <a:latin typeface="微软雅黑" panose="020B0503020204020204" pitchFamily="34" charset="-122"/>
                <a:ea typeface="微软雅黑" panose="020B0503020204020204" pitchFamily="34" charset="-122"/>
              </a:rPr>
              <a:t>(SDA)</a:t>
            </a:r>
            <a:r>
              <a:rPr lang="zh-CN" altLang="zh-CN" sz="1800" kern="100" dirty="0">
                <a:effectLst/>
                <a:latin typeface="微软雅黑" panose="020B0503020204020204" pitchFamily="34" charset="-122"/>
                <a:ea typeface="微软雅黑" panose="020B0503020204020204" pitchFamily="34" charset="-122"/>
              </a:rPr>
              <a:t>与串行时钟线</a:t>
            </a:r>
            <a:r>
              <a:rPr lang="en-US" altLang="zh-CN" sz="1800" kern="100" dirty="0">
                <a:effectLst/>
                <a:latin typeface="微软雅黑" panose="020B0503020204020204" pitchFamily="34" charset="-122"/>
                <a:ea typeface="微软雅黑" panose="020B0503020204020204" pitchFamily="34" charset="-122"/>
              </a:rPr>
              <a:t>(SCL)</a:t>
            </a:r>
            <a:r>
              <a:rPr lang="zh-CN" altLang="zh-CN" sz="1800" kern="100" dirty="0">
                <a:effectLst/>
                <a:latin typeface="微软雅黑" panose="020B0503020204020204" pitchFamily="34" charset="-122"/>
                <a:ea typeface="微软雅黑" panose="020B0503020204020204" pitchFamily="34" charset="-122"/>
              </a:rPr>
              <a:t>两根线，前者用来传输数据，后者进行数据同步。</a:t>
            </a:r>
            <a:endParaRPr lang="zh-CN" altLang="zh-CN" sz="1400" kern="100" dirty="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95338544"/>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信息采集系统</a:t>
            </a:r>
          </a:p>
        </p:txBody>
      </p:sp>
      <p:sp>
        <p:nvSpPr>
          <p:cNvPr id="7" name="文本框 6">
            <a:extLst>
              <a:ext uri="{FF2B5EF4-FFF2-40B4-BE49-F238E27FC236}">
                <a16:creationId xmlns:a16="http://schemas.microsoft.com/office/drawing/2014/main" id="{853A753B-5804-D39D-1571-374A2EDFBEB7}"/>
              </a:ext>
            </a:extLst>
          </p:cNvPr>
          <p:cNvSpPr txBox="1"/>
          <p:nvPr/>
        </p:nvSpPr>
        <p:spPr>
          <a:xfrm>
            <a:off x="1728764" y="4338594"/>
            <a:ext cx="7093502" cy="1791965"/>
          </a:xfrm>
          <a:prstGeom prst="rect">
            <a:avLst/>
          </a:prstGeom>
          <a:noFill/>
        </p:spPr>
        <p:txBody>
          <a:bodyPr wrap="square">
            <a:spAutoFit/>
          </a:bodyPr>
          <a:lstStyle/>
          <a:p>
            <a:pPr indent="457200" algn="just">
              <a:lnSpc>
                <a:spcPct val="125000"/>
              </a:lnSpc>
            </a:pPr>
            <a:r>
              <a:rPr lang="en-US" altLang="zh-CN" sz="1800" dirty="0">
                <a:effectLst/>
                <a:latin typeface="微软雅黑" panose="020B0503020204020204" pitchFamily="34" charset="-122"/>
                <a:ea typeface="微软雅黑" panose="020B0503020204020204" pitchFamily="34" charset="-122"/>
              </a:rPr>
              <a:t>HC-SR04</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超声波测距传感器的核心是两个超声波传感器。一个用作发射器，将电信号转换为</a:t>
            </a:r>
            <a:r>
              <a:rPr lang="en-US" altLang="zh-CN" sz="1800" dirty="0">
                <a:effectLst/>
                <a:latin typeface="微软雅黑" panose="020B0503020204020204" pitchFamily="34" charset="-122"/>
                <a:ea typeface="微软雅黑" panose="020B0503020204020204" pitchFamily="34" charset="-122"/>
              </a:rPr>
              <a:t>40KHz</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超声波脉冲。接收器监听发射的脉冲。如果接收到它们，它将产生一个输出脉冲，其宽度可用于确定脉冲传播的距离</a:t>
            </a: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脉冲触发引脚</a:t>
            </a:r>
            <a:r>
              <a:rPr lang="en-US" altLang="zh-CN" sz="1800" dirty="0">
                <a:effectLst/>
                <a:latin typeface="微软雅黑" panose="020B0503020204020204" pitchFamily="34" charset="-122"/>
                <a:ea typeface="微软雅黑" panose="020B0503020204020204" pitchFamily="34" charset="-122"/>
              </a:rPr>
              <a:t>Trig</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与回波引脚</a:t>
            </a:r>
            <a:r>
              <a:rPr lang="en-US" altLang="zh-CN" sz="1800" dirty="0">
                <a:effectLst/>
                <a:latin typeface="微软雅黑" panose="020B0503020204020204" pitchFamily="34" charset="-122"/>
                <a:ea typeface="微软雅黑" panose="020B0503020204020204" pitchFamily="34" charset="-122"/>
              </a:rPr>
              <a:t>Echo</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采用</a:t>
            </a:r>
            <a:r>
              <a:rPr lang="en-US" altLang="zh-CN" sz="1800" dirty="0">
                <a:effectLst/>
                <a:latin typeface="微软雅黑" panose="020B0503020204020204" pitchFamily="34" charset="-122"/>
                <a:ea typeface="微软雅黑" panose="020B0503020204020204" pitchFamily="34" charset="-122"/>
              </a:rPr>
              <a:t>IO</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口通过定时器计数实现</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kern="100" dirty="0">
              <a:effectLst/>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14E29665-6F48-2C38-765F-9FECD67128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4165176" y="1774913"/>
            <a:ext cx="2399665" cy="1799590"/>
          </a:xfrm>
          <a:prstGeom prst="rect">
            <a:avLst/>
          </a:prstGeom>
        </p:spPr>
      </p:pic>
      <p:sp>
        <p:nvSpPr>
          <p:cNvPr id="11" name="Rectangle 2">
            <a:extLst>
              <a:ext uri="{FF2B5EF4-FFF2-40B4-BE49-F238E27FC236}">
                <a16:creationId xmlns:a16="http://schemas.microsoft.com/office/drawing/2014/main" id="{BA29B0B6-F5F8-3215-FC88-D14D58DCD46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87491611"/>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信息采集系统</a:t>
            </a:r>
          </a:p>
        </p:txBody>
      </p:sp>
      <p:graphicFrame>
        <p:nvGraphicFramePr>
          <p:cNvPr id="8" name="表格 7">
            <a:extLst>
              <a:ext uri="{FF2B5EF4-FFF2-40B4-BE49-F238E27FC236}">
                <a16:creationId xmlns:a16="http://schemas.microsoft.com/office/drawing/2014/main" id="{4DDE57FD-5958-A82B-592A-D5F1C4A8C84E}"/>
              </a:ext>
            </a:extLst>
          </p:cNvPr>
          <p:cNvGraphicFramePr>
            <a:graphicFrameLocks noGrp="1"/>
          </p:cNvGraphicFramePr>
          <p:nvPr>
            <p:extLst>
              <p:ext uri="{D42A27DB-BD31-4B8C-83A1-F6EECF244321}">
                <p14:modId xmlns:p14="http://schemas.microsoft.com/office/powerpoint/2010/main" val="3311574353"/>
              </p:ext>
            </p:extLst>
          </p:nvPr>
        </p:nvGraphicFramePr>
        <p:xfrm>
          <a:off x="2486340" y="3470026"/>
          <a:ext cx="5537200" cy="568833"/>
        </p:xfrm>
        <a:graphic>
          <a:graphicData uri="http://schemas.openxmlformats.org/drawingml/2006/table">
            <a:tbl>
              <a:tblPr firstRow="1" firstCol="1" bandRow="1">
                <a:tableStyleId>{B301B821-A1FF-4177-AEE7-76D212191A09}</a:tableStyleId>
              </a:tblPr>
              <a:tblGrid>
                <a:gridCol w="614680">
                  <a:extLst>
                    <a:ext uri="{9D8B030D-6E8A-4147-A177-3AD203B41FA5}">
                      <a16:colId xmlns:a16="http://schemas.microsoft.com/office/drawing/2014/main" val="1468643154"/>
                    </a:ext>
                  </a:extLst>
                </a:gridCol>
                <a:gridCol w="615315">
                  <a:extLst>
                    <a:ext uri="{9D8B030D-6E8A-4147-A177-3AD203B41FA5}">
                      <a16:colId xmlns:a16="http://schemas.microsoft.com/office/drawing/2014/main" val="3808909228"/>
                    </a:ext>
                  </a:extLst>
                </a:gridCol>
                <a:gridCol w="615315">
                  <a:extLst>
                    <a:ext uri="{9D8B030D-6E8A-4147-A177-3AD203B41FA5}">
                      <a16:colId xmlns:a16="http://schemas.microsoft.com/office/drawing/2014/main" val="4065053013"/>
                    </a:ext>
                  </a:extLst>
                </a:gridCol>
                <a:gridCol w="615315">
                  <a:extLst>
                    <a:ext uri="{9D8B030D-6E8A-4147-A177-3AD203B41FA5}">
                      <a16:colId xmlns:a16="http://schemas.microsoft.com/office/drawing/2014/main" val="543198862"/>
                    </a:ext>
                  </a:extLst>
                </a:gridCol>
                <a:gridCol w="615315">
                  <a:extLst>
                    <a:ext uri="{9D8B030D-6E8A-4147-A177-3AD203B41FA5}">
                      <a16:colId xmlns:a16="http://schemas.microsoft.com/office/drawing/2014/main" val="2696636320"/>
                    </a:ext>
                  </a:extLst>
                </a:gridCol>
                <a:gridCol w="615315">
                  <a:extLst>
                    <a:ext uri="{9D8B030D-6E8A-4147-A177-3AD203B41FA5}">
                      <a16:colId xmlns:a16="http://schemas.microsoft.com/office/drawing/2014/main" val="877600594"/>
                    </a:ext>
                  </a:extLst>
                </a:gridCol>
                <a:gridCol w="615315">
                  <a:extLst>
                    <a:ext uri="{9D8B030D-6E8A-4147-A177-3AD203B41FA5}">
                      <a16:colId xmlns:a16="http://schemas.microsoft.com/office/drawing/2014/main" val="3316225823"/>
                    </a:ext>
                  </a:extLst>
                </a:gridCol>
                <a:gridCol w="615315">
                  <a:extLst>
                    <a:ext uri="{9D8B030D-6E8A-4147-A177-3AD203B41FA5}">
                      <a16:colId xmlns:a16="http://schemas.microsoft.com/office/drawing/2014/main" val="1409940665"/>
                    </a:ext>
                  </a:extLst>
                </a:gridCol>
                <a:gridCol w="615315">
                  <a:extLst>
                    <a:ext uri="{9D8B030D-6E8A-4147-A177-3AD203B41FA5}">
                      <a16:colId xmlns:a16="http://schemas.microsoft.com/office/drawing/2014/main" val="500929081"/>
                    </a:ext>
                  </a:extLst>
                </a:gridCol>
              </a:tblGrid>
              <a:tr h="0">
                <a:tc>
                  <a:txBody>
                    <a:bodyPr/>
                    <a:lstStyle/>
                    <a:p>
                      <a:pPr algn="ctr">
                        <a:lnSpc>
                          <a:spcPct val="125000"/>
                        </a:lnSpc>
                      </a:pPr>
                      <a:r>
                        <a:rPr lang="zh-CN" sz="1050" kern="0">
                          <a:effectLst/>
                        </a:rPr>
                        <a:t>温度</a:t>
                      </a:r>
                      <a:r>
                        <a:rPr lang="en-US" sz="105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-30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-20</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-10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10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20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30</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100</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236132631"/>
                  </a:ext>
                </a:extLst>
              </a:tr>
              <a:tr h="0">
                <a:tc>
                  <a:txBody>
                    <a:bodyPr/>
                    <a:lstStyle/>
                    <a:p>
                      <a:pPr algn="ctr">
                        <a:lnSpc>
                          <a:spcPct val="125000"/>
                        </a:lnSpc>
                      </a:pPr>
                      <a:r>
                        <a:rPr lang="zh-CN" sz="1050" kern="0">
                          <a:effectLst/>
                        </a:rPr>
                        <a:t>声速</a:t>
                      </a:r>
                      <a:r>
                        <a:rPr lang="en-US" sz="1050" kern="0">
                          <a:effectLst/>
                        </a:rPr>
                        <a:t>m/s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50000"/>
                        </a:lnSpc>
                      </a:pPr>
                      <a:r>
                        <a:rPr lang="en-US" sz="1050" kern="0">
                          <a:effectLst/>
                        </a:rPr>
                        <a:t>313</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50000"/>
                        </a:lnSpc>
                      </a:pPr>
                      <a:r>
                        <a:rPr lang="en-US" sz="1050" kern="0">
                          <a:effectLst/>
                        </a:rPr>
                        <a:t>319</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50000"/>
                        </a:lnSpc>
                      </a:pPr>
                      <a:r>
                        <a:rPr lang="en-US" sz="1050" kern="0">
                          <a:effectLst/>
                        </a:rPr>
                        <a:t>325</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50000"/>
                        </a:lnSpc>
                      </a:pPr>
                      <a:r>
                        <a:rPr lang="en-US" sz="1050" kern="0">
                          <a:effectLst/>
                        </a:rPr>
                        <a:t>332</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50000"/>
                        </a:lnSpc>
                      </a:pPr>
                      <a:r>
                        <a:rPr lang="en-US" sz="1050" kern="0">
                          <a:effectLst/>
                        </a:rPr>
                        <a:t>338</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50000"/>
                        </a:lnSpc>
                      </a:pPr>
                      <a:r>
                        <a:rPr lang="en-US" sz="1050" kern="0">
                          <a:effectLst/>
                        </a:rPr>
                        <a:t>344</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50000"/>
                        </a:lnSpc>
                      </a:pPr>
                      <a:r>
                        <a:rPr lang="en-US" sz="1050" kern="0">
                          <a:effectLst/>
                        </a:rPr>
                        <a:t>349</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50000"/>
                        </a:lnSpc>
                      </a:pPr>
                      <a:r>
                        <a:rPr lang="en-US" sz="1050" kern="0" dirty="0">
                          <a:effectLst/>
                        </a:rPr>
                        <a:t>386</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742393294"/>
                  </a:ext>
                </a:extLst>
              </a:tr>
            </a:tbl>
          </a:graphicData>
        </a:graphic>
      </p:graphicFrame>
      <p:sp>
        <p:nvSpPr>
          <p:cNvPr id="10" name="文本框 9">
            <a:extLst>
              <a:ext uri="{FF2B5EF4-FFF2-40B4-BE49-F238E27FC236}">
                <a16:creationId xmlns:a16="http://schemas.microsoft.com/office/drawing/2014/main" id="{BFCE4E35-C24B-8141-81E6-41D7414FB538}"/>
              </a:ext>
            </a:extLst>
          </p:cNvPr>
          <p:cNvSpPr txBox="1"/>
          <p:nvPr/>
        </p:nvSpPr>
        <p:spPr>
          <a:xfrm>
            <a:off x="1918767" y="1356650"/>
            <a:ext cx="6672347" cy="2031325"/>
          </a:xfrm>
          <a:prstGeom prst="rect">
            <a:avLst/>
          </a:prstGeom>
          <a:noFill/>
        </p:spPr>
        <p:txBody>
          <a:bodyPr wrap="square">
            <a:spAutoFit/>
          </a:bodyPr>
          <a:lstStyle/>
          <a:p>
            <a:pPr indent="457200" algn="just">
              <a:lnSpc>
                <a:spcPct val="125000"/>
              </a:lnSpc>
            </a:pP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但是本巡检机器人所用的场所为煤矿综采工作面下，温度变化较为极端。在这种情况下，可能要考虑到空气中的声速随温度、气压和湿度而变化的事实。</a:t>
            </a:r>
            <a:r>
              <a:rPr lang="zh-CN" altLang="zh-CN" sz="1800" kern="100" dirty="0">
                <a:effectLst/>
                <a:latin typeface="微软雅黑" panose="020B0503020204020204" pitchFamily="34" charset="-122"/>
                <a:ea typeface="微软雅黑" panose="020B0503020204020204" pitchFamily="34" charset="-122"/>
              </a:rPr>
              <a:t>空气中声速与温度的关系具体可表示为：</a:t>
            </a:r>
            <a:endParaRPr lang="en-US" altLang="zh-CN" sz="1800" kern="100" dirty="0">
              <a:effectLst/>
              <a:latin typeface="微软雅黑" panose="020B0503020204020204" pitchFamily="34" charset="-122"/>
              <a:ea typeface="微软雅黑" panose="020B0503020204020204" pitchFamily="34" charset="-122"/>
            </a:endParaRPr>
          </a:p>
          <a:p>
            <a:endParaRPr lang="zh-CN"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11" name="Rectangle 2">
            <a:extLst>
              <a:ext uri="{FF2B5EF4-FFF2-40B4-BE49-F238E27FC236}">
                <a16:creationId xmlns:a16="http://schemas.microsoft.com/office/drawing/2014/main" id="{BA29B0B6-F5F8-3215-FC88-D14D58DCD46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a:extLst>
              <a:ext uri="{FF2B5EF4-FFF2-40B4-BE49-F238E27FC236}">
                <a16:creationId xmlns:a16="http://schemas.microsoft.com/office/drawing/2014/main" id="{14BD2057-918D-6257-C896-BB3E1FCE0BDC}"/>
              </a:ext>
            </a:extLst>
          </p:cNvPr>
          <p:cNvGraphicFramePr>
            <a:graphicFrameLocks noChangeAspect="1"/>
          </p:cNvGraphicFramePr>
          <p:nvPr>
            <p:extLst>
              <p:ext uri="{D42A27DB-BD31-4B8C-83A1-F6EECF244321}">
                <p14:modId xmlns:p14="http://schemas.microsoft.com/office/powerpoint/2010/main" val="4281298525"/>
              </p:ext>
            </p:extLst>
          </p:nvPr>
        </p:nvGraphicFramePr>
        <p:xfrm>
          <a:off x="3902390" y="2650344"/>
          <a:ext cx="2705100" cy="228600"/>
        </p:xfrm>
        <a:graphic>
          <a:graphicData uri="http://schemas.openxmlformats.org/presentationml/2006/ole">
            <mc:AlternateContent xmlns:mc="http://schemas.openxmlformats.org/markup-compatibility/2006">
              <mc:Choice xmlns:v="urn:schemas-microsoft-com:vml" Requires="v">
                <p:oleObj r:id="rId2" imgW="2705100" imgH="228600" progId="Equation.DSMT4">
                  <p:embed/>
                </p:oleObj>
              </mc:Choice>
              <mc:Fallback>
                <p:oleObj r:id="rId2" imgW="2705100" imgH="2286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2390" y="2650344"/>
                        <a:ext cx="27051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748F0ECB-572B-570D-BFE8-3F22FBA0D383}"/>
                  </a:ext>
                </a:extLst>
              </p:cNvPr>
              <p:cNvSpPr txBox="1"/>
              <p:nvPr/>
            </p:nvSpPr>
            <p:spPr>
              <a:xfrm>
                <a:off x="1918767" y="4621436"/>
                <a:ext cx="6672346" cy="1099468"/>
              </a:xfrm>
              <a:prstGeom prst="rect">
                <a:avLst/>
              </a:prstGeom>
              <a:noFill/>
            </p:spPr>
            <p:txBody>
              <a:bodyPr wrap="square">
                <a:spAutoFit/>
              </a:bodyPr>
              <a:lstStyle/>
              <a:p>
                <a:pPr indent="304800" algn="just">
                  <a:lnSpc>
                    <a:spcPct val="125000"/>
                  </a:lnSpc>
                  <a:spcBef>
                    <a:spcPts val="600"/>
                  </a:spcBef>
                </a:pPr>
                <a:r>
                  <a:rPr lang="zh-CN" altLang="zh-CN" sz="1800" kern="100" dirty="0">
                    <a:effectLst/>
                    <a:latin typeface="微软雅黑" panose="020B0503020204020204" pitchFamily="34" charset="-122"/>
                    <a:ea typeface="微软雅黑" panose="020B0503020204020204" pitchFamily="34" charset="-122"/>
                  </a:rPr>
                  <a:t>为了提高系统测量精度，本文设计了温度补偿电路。系统采用温度感测器</a:t>
                </a:r>
                <a:r>
                  <a:rPr lang="en-US" altLang="zh-CN" sz="1800" kern="100" dirty="0">
                    <a:effectLst/>
                    <a:latin typeface="微软雅黑" panose="020B0503020204020204" pitchFamily="34" charset="-122"/>
                    <a:ea typeface="微软雅黑" panose="020B0503020204020204" pitchFamily="34" charset="-122"/>
                  </a:rPr>
                  <a:t>LM35,</a:t>
                </a:r>
                <a:r>
                  <a:rPr lang="zh-CN" altLang="zh-CN" sz="1800" kern="100" dirty="0">
                    <a:effectLst/>
                    <a:latin typeface="微软雅黑" panose="020B0503020204020204" pitchFamily="34" charset="-122"/>
                    <a:ea typeface="微软雅黑" panose="020B0503020204020204" pitchFamily="34" charset="-122"/>
                  </a:rPr>
                  <a:t>其输出电压与摄氏温标呈线性关系，</a:t>
                </a:r>
                <a:r>
                  <a:rPr lang="en-US" altLang="zh-CN" sz="1800" kern="100" dirty="0">
                    <a:effectLst/>
                    <a:latin typeface="微软雅黑" panose="020B0503020204020204" pitchFamily="34" charset="-122"/>
                    <a:ea typeface="微软雅黑" panose="020B0503020204020204" pitchFamily="34" charset="-122"/>
                  </a:rPr>
                  <a:t>0</a:t>
                </a:r>
                <a14:m>
                  <m:oMath xmlns:m="http://schemas.openxmlformats.org/officeDocument/2006/math">
                    <m:r>
                      <a:rPr lang="en-US" altLang="zh-CN" sz="1800" kern="100">
                        <a:effectLst/>
                        <a:latin typeface="Cambria Math" panose="02040503050406030204" pitchFamily="18" charset="0"/>
                        <a:ea typeface="宋体" panose="02010600030101010101" pitchFamily="2" charset="-122"/>
                      </a:rPr>
                      <m:t>℃</m:t>
                    </m:r>
                  </m:oMath>
                </a14:m>
                <a:r>
                  <a:rPr lang="zh-CN" altLang="zh-CN" sz="1800" kern="100" dirty="0">
                    <a:effectLst/>
                    <a:latin typeface="微软雅黑" panose="020B0503020204020204" pitchFamily="34" charset="-122"/>
                    <a:ea typeface="微软雅黑" panose="020B0503020204020204" pitchFamily="34" charset="-122"/>
                  </a:rPr>
                  <a:t>时输出为</a:t>
                </a:r>
                <a:r>
                  <a:rPr lang="en-US" altLang="zh-CN" sz="1800" kern="100" dirty="0">
                    <a:effectLst/>
                    <a:latin typeface="微软雅黑" panose="020B0503020204020204" pitchFamily="34" charset="-122"/>
                    <a:ea typeface="微软雅黑" panose="020B0503020204020204" pitchFamily="34" charset="-122"/>
                  </a:rPr>
                  <a:t>0V,</a:t>
                </a:r>
                <a:r>
                  <a:rPr lang="zh-CN" altLang="zh-CN" sz="1800" kern="100" dirty="0">
                    <a:effectLst/>
                    <a:latin typeface="微软雅黑" panose="020B0503020204020204" pitchFamily="34" charset="-122"/>
                    <a:ea typeface="微软雅黑" panose="020B0503020204020204" pitchFamily="34" charset="-122"/>
                  </a:rPr>
                  <a:t>每升高</a:t>
                </a:r>
                <a:r>
                  <a:rPr lang="en-US" altLang="zh-CN" sz="1800" kern="100" dirty="0">
                    <a:effectLst/>
                    <a:latin typeface="微软雅黑" panose="020B0503020204020204" pitchFamily="34" charset="-122"/>
                    <a:ea typeface="微软雅黑" panose="020B0503020204020204" pitchFamily="34" charset="-122"/>
                  </a:rPr>
                  <a:t>1℃</a:t>
                </a:r>
                <a:r>
                  <a:rPr lang="zh-CN" altLang="zh-CN" sz="1800" kern="100" dirty="0">
                    <a:effectLst/>
                    <a:latin typeface="微软雅黑" panose="020B0503020204020204" pitchFamily="34" charset="-122"/>
                    <a:ea typeface="微软雅黑" panose="020B0503020204020204" pitchFamily="34" charset="-122"/>
                  </a:rPr>
                  <a:t>，输出电压增加</a:t>
                </a:r>
                <a:r>
                  <a:rPr lang="en-US" altLang="zh-CN" sz="1800" kern="100" dirty="0">
                    <a:effectLst/>
                    <a:latin typeface="微软雅黑" panose="020B0503020204020204" pitchFamily="34" charset="-122"/>
                    <a:ea typeface="微软雅黑" panose="020B0503020204020204" pitchFamily="34" charset="-122"/>
                  </a:rPr>
                  <a:t>10mV</a:t>
                </a:r>
                <a:r>
                  <a:rPr lang="zh-CN" altLang="zh-CN" sz="1800" kern="100" dirty="0">
                    <a:effectLst/>
                    <a:latin typeface="微软雅黑" panose="020B0503020204020204" pitchFamily="34" charset="-122"/>
                    <a:ea typeface="微软雅黑" panose="020B0503020204020204" pitchFamily="34" charset="-122"/>
                  </a:rPr>
                  <a:t>。</a:t>
                </a:r>
                <a:endParaRPr lang="zh-CN" altLang="zh-CN" sz="1400" kern="100" dirty="0">
                  <a:effectLst/>
                  <a:latin typeface="微软雅黑" panose="020B0503020204020204" pitchFamily="34" charset="-122"/>
                  <a:ea typeface="微软雅黑" panose="020B0503020204020204" pitchFamily="34" charset="-122"/>
                </a:endParaRPr>
              </a:p>
            </p:txBody>
          </p:sp>
        </mc:Choice>
        <mc:Fallback xmlns="">
          <p:sp>
            <p:nvSpPr>
              <p:cNvPr id="14" name="文本框 13">
                <a:extLst>
                  <a:ext uri="{FF2B5EF4-FFF2-40B4-BE49-F238E27FC236}">
                    <a16:creationId xmlns:a16="http://schemas.microsoft.com/office/drawing/2014/main" id="{748F0ECB-572B-570D-BFE8-3F22FBA0D383}"/>
                  </a:ext>
                </a:extLst>
              </p:cNvPr>
              <p:cNvSpPr txBox="1">
                <a:spLocks noRot="1" noChangeAspect="1" noMove="1" noResize="1" noEditPoints="1" noAdjustHandles="1" noChangeArrowheads="1" noChangeShapeType="1" noTextEdit="1"/>
              </p:cNvSpPr>
              <p:nvPr/>
            </p:nvSpPr>
            <p:spPr>
              <a:xfrm>
                <a:off x="1918767" y="4621436"/>
                <a:ext cx="6672346" cy="1099468"/>
              </a:xfrm>
              <a:prstGeom prst="rect">
                <a:avLst/>
              </a:prstGeom>
              <a:blipFill>
                <a:blip r:embed="rId4"/>
                <a:stretch>
                  <a:fillRect l="-823" r="-731" b="-8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35993564"/>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信息采集系统</a:t>
            </a:r>
          </a:p>
        </p:txBody>
      </p:sp>
      <p:sp>
        <p:nvSpPr>
          <p:cNvPr id="7" name="文本框 6">
            <a:extLst>
              <a:ext uri="{FF2B5EF4-FFF2-40B4-BE49-F238E27FC236}">
                <a16:creationId xmlns:a16="http://schemas.microsoft.com/office/drawing/2014/main" id="{853A753B-5804-D39D-1571-374A2EDFBEB7}"/>
              </a:ext>
            </a:extLst>
          </p:cNvPr>
          <p:cNvSpPr txBox="1"/>
          <p:nvPr/>
        </p:nvSpPr>
        <p:spPr>
          <a:xfrm>
            <a:off x="1644985" y="5176794"/>
            <a:ext cx="7093502" cy="1096454"/>
          </a:xfrm>
          <a:prstGeom prst="rect">
            <a:avLst/>
          </a:prstGeom>
          <a:noFill/>
        </p:spPr>
        <p:txBody>
          <a:bodyPr wrap="square">
            <a:spAutoFit/>
          </a:bodyPr>
          <a:lstStyle/>
          <a:p>
            <a:pPr indent="457200" algn="just">
              <a:lnSpc>
                <a:spcPct val="125000"/>
              </a:lnSpc>
            </a:pP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图像采集模块主要用于获取煤矿综采工作面液压支架直线度图像，并发送给上位机用户界面，当工作面直线度误差较大时发出警报，进行二次调直或人工调直。</a:t>
            </a:r>
            <a:endParaRPr lang="zh-CN" altLang="zh-CN" sz="1400" kern="100" dirty="0">
              <a:effectLst/>
              <a:latin typeface="微软雅黑" panose="020B0503020204020204" pitchFamily="34" charset="-122"/>
              <a:ea typeface="微软雅黑" panose="020B0503020204020204" pitchFamily="34" charset="-122"/>
            </a:endParaRPr>
          </a:p>
        </p:txBody>
      </p:sp>
      <p:sp>
        <p:nvSpPr>
          <p:cNvPr id="11" name="Rectangle 2">
            <a:extLst>
              <a:ext uri="{FF2B5EF4-FFF2-40B4-BE49-F238E27FC236}">
                <a16:creationId xmlns:a16="http://schemas.microsoft.com/office/drawing/2014/main" id="{BA29B0B6-F5F8-3215-FC88-D14D58DCD46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4" name="图片 3">
            <a:extLst>
              <a:ext uri="{FF2B5EF4-FFF2-40B4-BE49-F238E27FC236}">
                <a16:creationId xmlns:a16="http://schemas.microsoft.com/office/drawing/2014/main" id="{C2A96A25-2FCF-89BA-641E-C811D6C103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3511844" y="1669796"/>
            <a:ext cx="3359785" cy="2519680"/>
          </a:xfrm>
          <a:prstGeom prst="rect">
            <a:avLst/>
          </a:prstGeom>
        </p:spPr>
      </p:pic>
      <p:sp>
        <p:nvSpPr>
          <p:cNvPr id="6" name="文本框 5">
            <a:extLst>
              <a:ext uri="{FF2B5EF4-FFF2-40B4-BE49-F238E27FC236}">
                <a16:creationId xmlns:a16="http://schemas.microsoft.com/office/drawing/2014/main" id="{B30B0A15-54A1-B98C-3AF9-4C55269E8F32}"/>
              </a:ext>
            </a:extLst>
          </p:cNvPr>
          <p:cNvSpPr txBox="1"/>
          <p:nvPr/>
        </p:nvSpPr>
        <p:spPr>
          <a:xfrm>
            <a:off x="364067" y="1356650"/>
            <a:ext cx="3064934" cy="646331"/>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水平方向</a:t>
            </a:r>
            <a:r>
              <a:rPr lang="en-US" altLang="zh-CN" sz="1800" dirty="0">
                <a:effectLst/>
                <a:latin typeface="Times New Roman" panose="02020603050405020304" pitchFamily="18" charset="0"/>
                <a:ea typeface="宋体" panose="02010600030101010101" pitchFamily="2" charset="-122"/>
              </a:rPr>
              <a:t>350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°连续旋转，垂直方向</a:t>
            </a:r>
            <a:r>
              <a:rPr lang="en-US" altLang="zh-CN" sz="1800" dirty="0">
                <a:effectLst/>
                <a:latin typeface="Times New Roman" panose="02020603050405020304" pitchFamily="18" charset="0"/>
                <a:ea typeface="宋体" panose="02010600030101010101" pitchFamily="2" charset="-122"/>
              </a:rPr>
              <a:t>0~90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°自动翻转</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9" name="文本框 8">
            <a:extLst>
              <a:ext uri="{FF2B5EF4-FFF2-40B4-BE49-F238E27FC236}">
                <a16:creationId xmlns:a16="http://schemas.microsoft.com/office/drawing/2014/main" id="{404E912B-F64C-33C5-5930-FB1973185AF5}"/>
              </a:ext>
            </a:extLst>
          </p:cNvPr>
          <p:cNvSpPr txBox="1"/>
          <p:nvPr/>
        </p:nvSpPr>
        <p:spPr>
          <a:xfrm>
            <a:off x="364067" y="3916451"/>
            <a:ext cx="3064934" cy="646331"/>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支持</a:t>
            </a:r>
            <a:r>
              <a:rPr lang="en-US" altLang="zh-CN" sz="1800" dirty="0">
                <a:effectLst/>
                <a:latin typeface="Times New Roman" panose="02020603050405020304" pitchFamily="18" charset="0"/>
                <a:ea typeface="宋体" panose="02010600030101010101" pitchFamily="2" charset="-122"/>
              </a:rPr>
              <a:t>TCP/IP</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UDP</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等多种通讯协议</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12" name="文本框 11">
            <a:extLst>
              <a:ext uri="{FF2B5EF4-FFF2-40B4-BE49-F238E27FC236}">
                <a16:creationId xmlns:a16="http://schemas.microsoft.com/office/drawing/2014/main" id="{51A297D4-A65A-1DCA-BBB3-56A37343101B}"/>
              </a:ext>
            </a:extLst>
          </p:cNvPr>
          <p:cNvSpPr txBox="1"/>
          <p:nvPr/>
        </p:nvSpPr>
        <p:spPr>
          <a:xfrm>
            <a:off x="6815137" y="1588894"/>
            <a:ext cx="2810933" cy="36933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altLang="zh-CN" sz="1800" dirty="0">
                <a:effectLst/>
                <a:latin typeface="Times New Roman" panose="02020603050405020304" pitchFamily="18" charset="0"/>
                <a:ea typeface="宋体" panose="02010600030101010101" pitchFamily="2" charset="-122"/>
              </a:rPr>
              <a:t>DC12V</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供电</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14" name="文本框 13">
            <a:extLst>
              <a:ext uri="{FF2B5EF4-FFF2-40B4-BE49-F238E27FC236}">
                <a16:creationId xmlns:a16="http://schemas.microsoft.com/office/drawing/2014/main" id="{74819ED7-5DEA-E75E-4E83-9F6D709C0F78}"/>
              </a:ext>
            </a:extLst>
          </p:cNvPr>
          <p:cNvSpPr txBox="1"/>
          <p:nvPr/>
        </p:nvSpPr>
        <p:spPr>
          <a:xfrm>
            <a:off x="6815137" y="3963198"/>
            <a:ext cx="3116263" cy="646331"/>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工作温度范围</a:t>
            </a:r>
            <a:r>
              <a:rPr lang="en-US" altLang="zh-CN" sz="1800" dirty="0">
                <a:effectLst/>
                <a:latin typeface="Times New Roman" panose="02020603050405020304" pitchFamily="18" charset="0"/>
                <a:ea typeface="宋体" panose="02010600030101010101" pitchFamily="2" charset="-122"/>
              </a:rPr>
              <a:t>-30~65℃</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，防护等级</a:t>
            </a:r>
            <a:r>
              <a:rPr lang="en-US" altLang="zh-CN" sz="1800" dirty="0">
                <a:effectLst/>
                <a:latin typeface="Times New Roman" panose="02020603050405020304" pitchFamily="18" charset="0"/>
                <a:ea typeface="宋体" panose="02010600030101010101" pitchFamily="2" charset="-122"/>
              </a:rPr>
              <a:t>IP67</a:t>
            </a:r>
            <a:r>
              <a:rPr lang="zh-CN" altLang="en-US" sz="1800" dirty="0">
                <a:effectLst/>
                <a:latin typeface="Times New Roman" panose="02020603050405020304" pitchFamily="18" charset="0"/>
                <a:ea typeface="宋体" panose="02010600030101010101" pitchFamily="2" charset="-122"/>
              </a:rPr>
              <a:t>。</a:t>
            </a:r>
            <a:endParaRPr lang="zh-CN" altLang="en-US" dirty="0"/>
          </a:p>
        </p:txBody>
      </p:sp>
    </p:spTree>
    <p:extLst>
      <p:ext uri="{BB962C8B-B14F-4D97-AF65-F5344CB8AC3E}">
        <p14:creationId xmlns:p14="http://schemas.microsoft.com/office/powerpoint/2010/main" val="3844998550"/>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电机驱动系统</a:t>
            </a:r>
          </a:p>
        </p:txBody>
      </p:sp>
      <p:sp>
        <p:nvSpPr>
          <p:cNvPr id="5" name="文本框 4">
            <a:extLst>
              <a:ext uri="{FF2B5EF4-FFF2-40B4-BE49-F238E27FC236}">
                <a16:creationId xmlns:a16="http://schemas.microsoft.com/office/drawing/2014/main" id="{5C04646D-6C21-8101-628A-0D9A1A511EF0}"/>
              </a:ext>
            </a:extLst>
          </p:cNvPr>
          <p:cNvSpPr txBox="1"/>
          <p:nvPr/>
        </p:nvSpPr>
        <p:spPr>
          <a:xfrm>
            <a:off x="1405465" y="1713903"/>
            <a:ext cx="7179733" cy="1445717"/>
          </a:xfrm>
          <a:prstGeom prst="rect">
            <a:avLst/>
          </a:prstGeom>
          <a:noFill/>
        </p:spPr>
        <p:txBody>
          <a:bodyPr wrap="square">
            <a:spAutoFit/>
          </a:bodyPr>
          <a:lstStyle/>
          <a:p>
            <a:pPr indent="304800" algn="just">
              <a:lnSpc>
                <a:spcPct val="125000"/>
              </a:lnSpc>
              <a:spcAft>
                <a:spcPts val="600"/>
              </a:spcAft>
            </a:pPr>
            <a:r>
              <a:rPr lang="en-US" altLang="zh-CN" sz="1800" kern="100" dirty="0">
                <a:solidFill>
                  <a:srgbClr val="000000"/>
                </a:solidFill>
                <a:effectLst/>
                <a:latin typeface="微软雅黑" panose="020B0503020204020204" pitchFamily="34" charset="-122"/>
                <a:ea typeface="微软雅黑" panose="020B0503020204020204" pitchFamily="34" charset="-122"/>
              </a:rPr>
              <a:t>L298N</a:t>
            </a:r>
            <a:r>
              <a:rPr lang="zh-CN" altLang="zh-CN" sz="1800" kern="100" dirty="0">
                <a:solidFill>
                  <a:srgbClr val="000000"/>
                </a:solidFill>
                <a:effectLst/>
                <a:latin typeface="微软雅黑" panose="020B0503020204020204" pitchFamily="34" charset="-122"/>
                <a:ea typeface="微软雅黑" panose="020B0503020204020204" pitchFamily="34" charset="-122"/>
              </a:rPr>
              <a:t>芯片具有两个使能控制端</a:t>
            </a:r>
            <a:r>
              <a:rPr lang="en-US" altLang="zh-CN" sz="1800" kern="100" dirty="0">
                <a:solidFill>
                  <a:srgbClr val="000000"/>
                </a:solidFill>
                <a:effectLst/>
                <a:latin typeface="微软雅黑" panose="020B0503020204020204" pitchFamily="34" charset="-122"/>
                <a:ea typeface="微软雅黑" panose="020B0503020204020204" pitchFamily="34" charset="-122"/>
              </a:rPr>
              <a:t>ENA</a:t>
            </a:r>
            <a:r>
              <a:rPr lang="zh-CN" altLang="zh-CN" sz="1800" kern="100" dirty="0">
                <a:solidFill>
                  <a:srgbClr val="000000"/>
                </a:solidFill>
                <a:effectLst/>
                <a:latin typeface="微软雅黑" panose="020B0503020204020204" pitchFamily="34" charset="-122"/>
                <a:ea typeface="微软雅黑" panose="020B0503020204020204" pitchFamily="34" charset="-122"/>
              </a:rPr>
              <a:t>、</a:t>
            </a:r>
            <a:r>
              <a:rPr lang="en-US" altLang="zh-CN" sz="1800" kern="100" dirty="0">
                <a:solidFill>
                  <a:srgbClr val="000000"/>
                </a:solidFill>
                <a:effectLst/>
                <a:latin typeface="微软雅黑" panose="020B0503020204020204" pitchFamily="34" charset="-122"/>
                <a:ea typeface="微软雅黑" panose="020B0503020204020204" pitchFamily="34" charset="-122"/>
              </a:rPr>
              <a:t>ENB</a:t>
            </a:r>
            <a:r>
              <a:rPr lang="zh-CN" altLang="zh-CN" sz="1800" kern="100" dirty="0">
                <a:solidFill>
                  <a:srgbClr val="000000"/>
                </a:solidFill>
                <a:effectLst/>
                <a:latin typeface="微软雅黑" panose="020B0503020204020204" pitchFamily="34" charset="-122"/>
                <a:ea typeface="微软雅黑" panose="020B0503020204020204" pitchFamily="34" charset="-122"/>
              </a:rPr>
              <a:t>，同时具有四个输出端</a:t>
            </a:r>
            <a:r>
              <a:rPr lang="en-US" altLang="zh-CN" sz="1800" kern="100" dirty="0">
                <a:solidFill>
                  <a:srgbClr val="000000"/>
                </a:solidFill>
                <a:effectLst/>
                <a:latin typeface="微软雅黑" panose="020B0503020204020204" pitchFamily="34" charset="-122"/>
                <a:ea typeface="微软雅黑" panose="020B0503020204020204" pitchFamily="34" charset="-122"/>
              </a:rPr>
              <a:t>OUT1</a:t>
            </a:r>
            <a:r>
              <a:rPr lang="zh-CN" altLang="zh-CN" sz="1800" kern="100" dirty="0">
                <a:solidFill>
                  <a:srgbClr val="000000"/>
                </a:solidFill>
                <a:effectLst/>
                <a:latin typeface="微软雅黑" panose="020B0503020204020204" pitchFamily="34" charset="-122"/>
                <a:ea typeface="微软雅黑" panose="020B0503020204020204" pitchFamily="34" charset="-122"/>
              </a:rPr>
              <a:t>、</a:t>
            </a:r>
            <a:r>
              <a:rPr lang="en-US" altLang="zh-CN" sz="1800" kern="100" dirty="0">
                <a:solidFill>
                  <a:srgbClr val="000000"/>
                </a:solidFill>
                <a:effectLst/>
                <a:latin typeface="微软雅黑" panose="020B0503020204020204" pitchFamily="34" charset="-122"/>
                <a:ea typeface="微软雅黑" panose="020B0503020204020204" pitchFamily="34" charset="-122"/>
              </a:rPr>
              <a:t>OUT2</a:t>
            </a:r>
            <a:r>
              <a:rPr lang="zh-CN" altLang="zh-CN" sz="1800" kern="100" dirty="0">
                <a:solidFill>
                  <a:srgbClr val="000000"/>
                </a:solidFill>
                <a:effectLst/>
                <a:latin typeface="微软雅黑" panose="020B0503020204020204" pitchFamily="34" charset="-122"/>
                <a:ea typeface="微软雅黑" panose="020B0503020204020204" pitchFamily="34" charset="-122"/>
              </a:rPr>
              <a:t>、</a:t>
            </a:r>
            <a:r>
              <a:rPr lang="en-US" altLang="zh-CN" sz="1800" kern="100" dirty="0">
                <a:solidFill>
                  <a:srgbClr val="000000"/>
                </a:solidFill>
                <a:effectLst/>
                <a:latin typeface="微软雅黑" panose="020B0503020204020204" pitchFamily="34" charset="-122"/>
                <a:ea typeface="微软雅黑" panose="020B0503020204020204" pitchFamily="34" charset="-122"/>
              </a:rPr>
              <a:t>OUT3</a:t>
            </a:r>
            <a:r>
              <a:rPr lang="zh-CN" altLang="zh-CN" sz="1800" kern="100" dirty="0">
                <a:solidFill>
                  <a:srgbClr val="000000"/>
                </a:solidFill>
                <a:effectLst/>
                <a:latin typeface="微软雅黑" panose="020B0503020204020204" pitchFamily="34" charset="-122"/>
                <a:ea typeface="微软雅黑" panose="020B0503020204020204" pitchFamily="34" charset="-122"/>
              </a:rPr>
              <a:t>和</a:t>
            </a:r>
            <a:r>
              <a:rPr lang="en-US" altLang="zh-CN" sz="1800" kern="100" dirty="0">
                <a:solidFill>
                  <a:srgbClr val="000000"/>
                </a:solidFill>
                <a:effectLst/>
                <a:latin typeface="微软雅黑" panose="020B0503020204020204" pitchFamily="34" charset="-122"/>
                <a:ea typeface="微软雅黑" panose="020B0503020204020204" pitchFamily="34" charset="-122"/>
              </a:rPr>
              <a:t>OUT4</a:t>
            </a:r>
            <a:r>
              <a:rPr lang="zh-CN" altLang="zh-CN" sz="1800" kern="100" dirty="0">
                <a:solidFill>
                  <a:srgbClr val="000000"/>
                </a:solidFill>
                <a:effectLst/>
                <a:latin typeface="微软雅黑" panose="020B0503020204020204" pitchFamily="34" charset="-122"/>
                <a:ea typeface="微软雅黑" panose="020B0503020204020204" pitchFamily="34" charset="-122"/>
              </a:rPr>
              <a:t>，分别接两个直流电机</a:t>
            </a:r>
            <a:r>
              <a:rPr lang="en-US" altLang="zh-CN" sz="1800" kern="100" dirty="0">
                <a:solidFill>
                  <a:srgbClr val="000000"/>
                </a:solidFill>
                <a:effectLst/>
                <a:latin typeface="微软雅黑" panose="020B0503020204020204" pitchFamily="34" charset="-122"/>
                <a:ea typeface="微软雅黑" panose="020B0503020204020204" pitchFamily="34" charset="-122"/>
              </a:rPr>
              <a:t>Motor1</a:t>
            </a:r>
            <a:r>
              <a:rPr lang="zh-CN" altLang="zh-CN" sz="1800" kern="100" dirty="0">
                <a:solidFill>
                  <a:srgbClr val="000000"/>
                </a:solidFill>
                <a:effectLst/>
                <a:latin typeface="微软雅黑" panose="020B0503020204020204" pitchFamily="34" charset="-122"/>
                <a:ea typeface="微软雅黑" panose="020B0503020204020204" pitchFamily="34" charset="-122"/>
              </a:rPr>
              <a:t>、</a:t>
            </a:r>
            <a:r>
              <a:rPr lang="en-US" altLang="zh-CN" sz="1800" kern="100" dirty="0">
                <a:solidFill>
                  <a:srgbClr val="000000"/>
                </a:solidFill>
                <a:effectLst/>
                <a:latin typeface="微软雅黑" panose="020B0503020204020204" pitchFamily="34" charset="-122"/>
                <a:ea typeface="微软雅黑" panose="020B0503020204020204" pitchFamily="34" charset="-122"/>
              </a:rPr>
              <a:t>Motor2</a:t>
            </a:r>
            <a:r>
              <a:rPr lang="zh-CN" altLang="en-US" sz="1800" kern="100" dirty="0">
                <a:solidFill>
                  <a:srgbClr val="000000"/>
                </a:solidFill>
                <a:effectLst/>
                <a:latin typeface="微软雅黑" panose="020B0503020204020204" pitchFamily="34" charset="-122"/>
                <a:ea typeface="微软雅黑" panose="020B0503020204020204" pitchFamily="34" charset="-122"/>
              </a:rPr>
              <a:t>。</a:t>
            </a:r>
            <a:r>
              <a:rPr lang="en-US" altLang="zh-CN" sz="1800" kern="100" dirty="0">
                <a:solidFill>
                  <a:srgbClr val="000000"/>
                </a:solidFill>
                <a:effectLst/>
                <a:latin typeface="微软雅黑" panose="020B0503020204020204" pitchFamily="34" charset="-122"/>
                <a:ea typeface="微软雅黑" panose="020B0503020204020204" pitchFamily="34" charset="-122"/>
              </a:rPr>
              <a:t>IN1</a:t>
            </a:r>
            <a:r>
              <a:rPr lang="zh-CN" altLang="zh-CN" sz="1800" kern="100" dirty="0">
                <a:solidFill>
                  <a:srgbClr val="000000"/>
                </a:solidFill>
                <a:effectLst/>
                <a:latin typeface="微软雅黑" panose="020B0503020204020204" pitchFamily="34" charset="-122"/>
                <a:ea typeface="微软雅黑" panose="020B0503020204020204" pitchFamily="34" charset="-122"/>
              </a:rPr>
              <a:t>、</a:t>
            </a:r>
            <a:r>
              <a:rPr lang="en-US" altLang="zh-CN" sz="1800" kern="100" dirty="0">
                <a:solidFill>
                  <a:srgbClr val="000000"/>
                </a:solidFill>
                <a:effectLst/>
                <a:latin typeface="微软雅黑" panose="020B0503020204020204" pitchFamily="34" charset="-122"/>
                <a:ea typeface="微软雅黑" panose="020B0503020204020204" pitchFamily="34" charset="-122"/>
              </a:rPr>
              <a:t>IN2</a:t>
            </a:r>
            <a:r>
              <a:rPr lang="zh-CN" altLang="zh-CN" sz="1800" kern="100" dirty="0">
                <a:solidFill>
                  <a:srgbClr val="000000"/>
                </a:solidFill>
                <a:effectLst/>
                <a:latin typeface="微软雅黑" panose="020B0503020204020204" pitchFamily="34" charset="-122"/>
                <a:ea typeface="微软雅黑" panose="020B0503020204020204" pitchFamily="34" charset="-122"/>
              </a:rPr>
              <a:t>、</a:t>
            </a:r>
            <a:r>
              <a:rPr lang="en-US" altLang="zh-CN" sz="1800" kern="100" dirty="0">
                <a:solidFill>
                  <a:srgbClr val="000000"/>
                </a:solidFill>
                <a:effectLst/>
                <a:latin typeface="微软雅黑" panose="020B0503020204020204" pitchFamily="34" charset="-122"/>
                <a:ea typeface="微软雅黑" panose="020B0503020204020204" pitchFamily="34" charset="-122"/>
              </a:rPr>
              <a:t>IN3</a:t>
            </a:r>
            <a:r>
              <a:rPr lang="zh-CN" altLang="zh-CN" sz="1800" kern="100" dirty="0">
                <a:solidFill>
                  <a:srgbClr val="000000"/>
                </a:solidFill>
                <a:effectLst/>
                <a:latin typeface="微软雅黑" panose="020B0503020204020204" pitchFamily="34" charset="-122"/>
                <a:ea typeface="微软雅黑" panose="020B0503020204020204" pitchFamily="34" charset="-122"/>
              </a:rPr>
              <a:t>、</a:t>
            </a:r>
            <a:r>
              <a:rPr lang="en-US" altLang="zh-CN" sz="1800" kern="100" dirty="0">
                <a:solidFill>
                  <a:srgbClr val="000000"/>
                </a:solidFill>
                <a:effectLst/>
                <a:latin typeface="微软雅黑" panose="020B0503020204020204" pitchFamily="34" charset="-122"/>
                <a:ea typeface="微软雅黑" panose="020B0503020204020204" pitchFamily="34" charset="-122"/>
              </a:rPr>
              <a:t>IN4</a:t>
            </a:r>
            <a:r>
              <a:rPr lang="zh-CN" altLang="zh-CN" sz="1800" kern="100" dirty="0">
                <a:solidFill>
                  <a:srgbClr val="000000"/>
                </a:solidFill>
                <a:effectLst/>
                <a:latin typeface="微软雅黑" panose="020B0503020204020204" pitchFamily="34" charset="-122"/>
                <a:ea typeface="微软雅黑" panose="020B0503020204020204" pitchFamily="34" charset="-122"/>
              </a:rPr>
              <a:t>引脚从</a:t>
            </a:r>
            <a:r>
              <a:rPr lang="zh-CN" altLang="en-US" kern="100" dirty="0">
                <a:solidFill>
                  <a:srgbClr val="000000"/>
                </a:solidFill>
                <a:latin typeface="微软雅黑" panose="020B0503020204020204" pitchFamily="34" charset="-122"/>
                <a:ea typeface="微软雅黑" panose="020B0503020204020204" pitchFamily="34" charset="-122"/>
              </a:rPr>
              <a:t>主控制器</a:t>
            </a:r>
            <a:r>
              <a:rPr lang="zh-CN" altLang="zh-CN" sz="1800" kern="100" dirty="0">
                <a:solidFill>
                  <a:srgbClr val="000000"/>
                </a:solidFill>
                <a:effectLst/>
                <a:latin typeface="微软雅黑" panose="020B0503020204020204" pitchFamily="34" charset="-122"/>
                <a:ea typeface="微软雅黑" panose="020B0503020204020204" pitchFamily="34" charset="-122"/>
              </a:rPr>
              <a:t>接入控制电平，控制电机的正反转与电机调速</a:t>
            </a:r>
            <a:r>
              <a:rPr lang="zh-CN" altLang="en-US" sz="1800" kern="100" dirty="0">
                <a:solidFill>
                  <a:srgbClr val="000000"/>
                </a:solidFill>
                <a:effectLst/>
                <a:latin typeface="微软雅黑" panose="020B0503020204020204" pitchFamily="34" charset="-122"/>
                <a:ea typeface="微软雅黑" panose="020B0503020204020204" pitchFamily="34" charset="-122"/>
              </a:rPr>
              <a:t>。</a:t>
            </a:r>
            <a:endParaRPr lang="zh-CN" altLang="zh-CN" sz="1400" kern="100" dirty="0">
              <a:effectLst/>
              <a:latin typeface="微软雅黑" panose="020B0503020204020204" pitchFamily="34" charset="-122"/>
              <a:ea typeface="微软雅黑" panose="020B0503020204020204" pitchFamily="34" charset="-122"/>
            </a:endParaRPr>
          </a:p>
        </p:txBody>
      </p:sp>
      <p:graphicFrame>
        <p:nvGraphicFramePr>
          <p:cNvPr id="6" name="表格 5">
            <a:extLst>
              <a:ext uri="{FF2B5EF4-FFF2-40B4-BE49-F238E27FC236}">
                <a16:creationId xmlns:a16="http://schemas.microsoft.com/office/drawing/2014/main" id="{B4E002AD-F7E0-0189-10DD-8A1BA76657ED}"/>
              </a:ext>
            </a:extLst>
          </p:cNvPr>
          <p:cNvGraphicFramePr>
            <a:graphicFrameLocks noGrp="1"/>
          </p:cNvGraphicFramePr>
          <p:nvPr>
            <p:extLst>
              <p:ext uri="{D42A27DB-BD31-4B8C-83A1-F6EECF244321}">
                <p14:modId xmlns:p14="http://schemas.microsoft.com/office/powerpoint/2010/main" val="159369462"/>
              </p:ext>
            </p:extLst>
          </p:nvPr>
        </p:nvGraphicFramePr>
        <p:xfrm>
          <a:off x="2226731" y="4131447"/>
          <a:ext cx="5537200" cy="1475299"/>
        </p:xfrm>
        <a:graphic>
          <a:graphicData uri="http://schemas.openxmlformats.org/drawingml/2006/table">
            <a:tbl>
              <a:tblPr firstRow="1" firstCol="1" bandRow="1">
                <a:tableStyleId>{69012ECD-51FC-41F1-AA8D-1B2483CD663E}</a:tableStyleId>
              </a:tblPr>
              <a:tblGrid>
                <a:gridCol w="922655">
                  <a:extLst>
                    <a:ext uri="{9D8B030D-6E8A-4147-A177-3AD203B41FA5}">
                      <a16:colId xmlns:a16="http://schemas.microsoft.com/office/drawing/2014/main" val="3561537934"/>
                    </a:ext>
                  </a:extLst>
                </a:gridCol>
                <a:gridCol w="922655">
                  <a:extLst>
                    <a:ext uri="{9D8B030D-6E8A-4147-A177-3AD203B41FA5}">
                      <a16:colId xmlns:a16="http://schemas.microsoft.com/office/drawing/2014/main" val="3546287232"/>
                    </a:ext>
                  </a:extLst>
                </a:gridCol>
                <a:gridCol w="922655">
                  <a:extLst>
                    <a:ext uri="{9D8B030D-6E8A-4147-A177-3AD203B41FA5}">
                      <a16:colId xmlns:a16="http://schemas.microsoft.com/office/drawing/2014/main" val="109686951"/>
                    </a:ext>
                  </a:extLst>
                </a:gridCol>
                <a:gridCol w="922655">
                  <a:extLst>
                    <a:ext uri="{9D8B030D-6E8A-4147-A177-3AD203B41FA5}">
                      <a16:colId xmlns:a16="http://schemas.microsoft.com/office/drawing/2014/main" val="3792768311"/>
                    </a:ext>
                  </a:extLst>
                </a:gridCol>
                <a:gridCol w="923290">
                  <a:extLst>
                    <a:ext uri="{9D8B030D-6E8A-4147-A177-3AD203B41FA5}">
                      <a16:colId xmlns:a16="http://schemas.microsoft.com/office/drawing/2014/main" val="1225476521"/>
                    </a:ext>
                  </a:extLst>
                </a:gridCol>
                <a:gridCol w="923290">
                  <a:extLst>
                    <a:ext uri="{9D8B030D-6E8A-4147-A177-3AD203B41FA5}">
                      <a16:colId xmlns:a16="http://schemas.microsoft.com/office/drawing/2014/main" val="567764376"/>
                    </a:ext>
                  </a:extLst>
                </a:gridCol>
              </a:tblGrid>
              <a:tr h="0">
                <a:tc>
                  <a:txBody>
                    <a:bodyPr/>
                    <a:lstStyle/>
                    <a:p>
                      <a:pPr algn="ctr">
                        <a:lnSpc>
                          <a:spcPct val="125000"/>
                        </a:lnSpc>
                      </a:pPr>
                      <a:r>
                        <a:rPr lang="zh-CN" sz="1200" kern="0">
                          <a:effectLst/>
                        </a:rPr>
                        <a:t>直流电机</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200" kern="0">
                          <a:effectLst/>
                        </a:rPr>
                        <a:t>旋转方式</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IN1</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IN2</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IN3</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IN4</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790601255"/>
                  </a:ext>
                </a:extLst>
              </a:tr>
              <a:tr h="0">
                <a:tc>
                  <a:txBody>
                    <a:bodyPr/>
                    <a:lstStyle/>
                    <a:p>
                      <a:pPr algn="ctr">
                        <a:lnSpc>
                          <a:spcPct val="125000"/>
                        </a:lnSpc>
                      </a:pPr>
                      <a:r>
                        <a:rPr lang="en-US" sz="1200" kern="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200" kern="0" dirty="0">
                          <a:effectLst/>
                        </a:rPr>
                        <a:t>正转</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1</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152502147"/>
                  </a:ext>
                </a:extLst>
              </a:tr>
              <a:tr h="0">
                <a:tc>
                  <a:txBody>
                    <a:bodyPr/>
                    <a:lstStyle/>
                    <a:p>
                      <a:pPr algn="ctr">
                        <a:lnSpc>
                          <a:spcPct val="125000"/>
                        </a:lnSpc>
                      </a:pPr>
                      <a:r>
                        <a:rPr lang="en-US" sz="1200" kern="0">
                          <a:effectLst/>
                        </a:rPr>
                        <a:t>M1</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200" kern="0">
                          <a:effectLst/>
                        </a:rPr>
                        <a:t>反转</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1</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7768200"/>
                  </a:ext>
                </a:extLst>
              </a:tr>
              <a:tr h="0">
                <a:tc>
                  <a:txBody>
                    <a:bodyPr/>
                    <a:lstStyle/>
                    <a:p>
                      <a:pPr algn="ctr">
                        <a:lnSpc>
                          <a:spcPct val="125000"/>
                        </a:lnSpc>
                      </a:pPr>
                      <a:r>
                        <a:rPr lang="en-US" sz="1200" kern="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200" kern="0">
                          <a:effectLst/>
                        </a:rPr>
                        <a:t>停止</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0168216"/>
                  </a:ext>
                </a:extLst>
              </a:tr>
              <a:tr h="0">
                <a:tc>
                  <a:txBody>
                    <a:bodyPr/>
                    <a:lstStyle/>
                    <a:p>
                      <a:pPr algn="ctr">
                        <a:lnSpc>
                          <a:spcPct val="125000"/>
                        </a:lnSpc>
                      </a:pPr>
                      <a:r>
                        <a:rPr lang="en-US" sz="1200" kern="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200" kern="0">
                          <a:effectLst/>
                        </a:rPr>
                        <a:t>正转</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dirty="0">
                          <a:effectLst/>
                        </a:rPr>
                        <a:t>/</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1</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0</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569431421"/>
                  </a:ext>
                </a:extLst>
              </a:tr>
              <a:tr h="0">
                <a:tc>
                  <a:txBody>
                    <a:bodyPr/>
                    <a:lstStyle/>
                    <a:p>
                      <a:pPr algn="ctr">
                        <a:lnSpc>
                          <a:spcPct val="125000"/>
                        </a:lnSpc>
                      </a:pPr>
                      <a:r>
                        <a:rPr lang="en-US" sz="1200" kern="0">
                          <a:effectLst/>
                        </a:rPr>
                        <a:t>M2</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200" kern="0">
                          <a:effectLst/>
                        </a:rPr>
                        <a:t>反转</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1</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364913342"/>
                  </a:ext>
                </a:extLst>
              </a:tr>
              <a:tr h="0">
                <a:tc>
                  <a:txBody>
                    <a:bodyPr/>
                    <a:lstStyle/>
                    <a:p>
                      <a:pPr algn="ctr">
                        <a:lnSpc>
                          <a:spcPct val="125000"/>
                        </a:lnSpc>
                      </a:pPr>
                      <a:r>
                        <a:rPr lang="en-US" sz="1200" kern="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200" kern="0" dirty="0">
                          <a:effectLst/>
                        </a:rPr>
                        <a:t>停止</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a:effectLst/>
                        </a:rPr>
                        <a:t>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200" kern="0" dirty="0">
                          <a:effectLst/>
                        </a:rPr>
                        <a:t>0</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720314503"/>
                  </a:ext>
                </a:extLst>
              </a:tr>
            </a:tbl>
          </a:graphicData>
        </a:graphic>
      </p:graphicFrame>
    </p:spTree>
    <p:extLst>
      <p:ext uri="{BB962C8B-B14F-4D97-AF65-F5344CB8AC3E}">
        <p14:creationId xmlns:p14="http://schemas.microsoft.com/office/powerpoint/2010/main" val="3422897210"/>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电机驱动系统</a:t>
            </a:r>
          </a:p>
        </p:txBody>
      </p:sp>
      <p:sp>
        <p:nvSpPr>
          <p:cNvPr id="4" name="文本框 3">
            <a:extLst>
              <a:ext uri="{FF2B5EF4-FFF2-40B4-BE49-F238E27FC236}">
                <a16:creationId xmlns:a16="http://schemas.microsoft.com/office/drawing/2014/main" id="{167CC824-90F7-BC20-6EC8-69967523AF2C}"/>
              </a:ext>
            </a:extLst>
          </p:cNvPr>
          <p:cNvSpPr txBox="1"/>
          <p:nvPr/>
        </p:nvSpPr>
        <p:spPr>
          <a:xfrm>
            <a:off x="2167467" y="1531104"/>
            <a:ext cx="6096000" cy="1442061"/>
          </a:xfrm>
          <a:prstGeom prst="rect">
            <a:avLst/>
          </a:prstGeom>
          <a:noFill/>
        </p:spPr>
        <p:txBody>
          <a:bodyPr wrap="square">
            <a:spAutoFit/>
          </a:bodyPr>
          <a:lstStyle/>
          <a:p>
            <a:pPr indent="304800" algn="just">
              <a:lnSpc>
                <a:spcPct val="125000"/>
              </a:lnSpc>
              <a:spcBef>
                <a:spcPts val="600"/>
              </a:spcBef>
              <a:spcAft>
                <a:spcPts val="600"/>
              </a:spcAft>
            </a:pPr>
            <a:r>
              <a:rPr lang="zh-CN" altLang="zh-CN" sz="1800" kern="100" dirty="0">
                <a:solidFill>
                  <a:srgbClr val="000000"/>
                </a:solidFill>
                <a:effectLst/>
                <a:latin typeface="微软雅黑" panose="020B0503020204020204" pitchFamily="34" charset="-122"/>
                <a:ea typeface="微软雅黑" panose="020B0503020204020204" pitchFamily="34" charset="-122"/>
              </a:rPr>
              <a:t>增量式编码器</a:t>
            </a:r>
            <a:r>
              <a:rPr lang="en-US" altLang="zh-CN" sz="1800" kern="100" dirty="0">
                <a:solidFill>
                  <a:srgbClr val="000000"/>
                </a:solidFill>
                <a:effectLst/>
                <a:latin typeface="微软雅黑" panose="020B0503020204020204" pitchFamily="34" charset="-122"/>
                <a:ea typeface="微软雅黑" panose="020B0503020204020204" pitchFamily="34" charset="-122"/>
              </a:rPr>
              <a:t>A</a:t>
            </a:r>
            <a:r>
              <a:rPr lang="zh-CN" altLang="zh-CN" sz="1800" kern="100" dirty="0">
                <a:solidFill>
                  <a:srgbClr val="000000"/>
                </a:solidFill>
                <a:effectLst/>
                <a:latin typeface="微软雅黑" panose="020B0503020204020204" pitchFamily="34" charset="-122"/>
                <a:ea typeface="微软雅黑" panose="020B0503020204020204" pitchFamily="34" charset="-122"/>
              </a:rPr>
              <a:t>、</a:t>
            </a:r>
            <a:r>
              <a:rPr lang="en-US" altLang="zh-CN" sz="1800" kern="100" dirty="0">
                <a:solidFill>
                  <a:srgbClr val="000000"/>
                </a:solidFill>
                <a:effectLst/>
                <a:latin typeface="微软雅黑" panose="020B0503020204020204" pitchFamily="34" charset="-122"/>
                <a:ea typeface="微软雅黑" panose="020B0503020204020204" pitchFamily="34" charset="-122"/>
              </a:rPr>
              <a:t>B</a:t>
            </a:r>
            <a:r>
              <a:rPr lang="zh-CN" altLang="zh-CN" sz="1800" kern="100" dirty="0">
                <a:solidFill>
                  <a:srgbClr val="000000"/>
                </a:solidFill>
                <a:effectLst/>
                <a:latin typeface="微软雅黑" panose="020B0503020204020204" pitchFamily="34" charset="-122"/>
                <a:ea typeface="微软雅黑" panose="020B0503020204020204" pitchFamily="34" charset="-122"/>
              </a:rPr>
              <a:t>两相光栅相位相差</a:t>
            </a:r>
            <a:r>
              <a:rPr lang="en-US" altLang="zh-CN" sz="1800" kern="100" dirty="0">
                <a:solidFill>
                  <a:srgbClr val="000000"/>
                </a:solidFill>
                <a:effectLst/>
                <a:latin typeface="微软雅黑" panose="020B0503020204020204" pitchFamily="34" charset="-122"/>
                <a:ea typeface="微软雅黑" panose="020B0503020204020204" pitchFamily="34" charset="-122"/>
              </a:rPr>
              <a:t>90</a:t>
            </a:r>
            <a:r>
              <a:rPr lang="zh-CN" altLang="zh-CN" sz="1800" kern="100" dirty="0">
                <a:solidFill>
                  <a:srgbClr val="000000"/>
                </a:solidFill>
                <a:effectLst/>
                <a:latin typeface="微软雅黑" panose="020B0503020204020204" pitchFamily="34" charset="-122"/>
                <a:ea typeface="微软雅黑" panose="020B0503020204020204" pitchFamily="34" charset="-122"/>
              </a:rPr>
              <a:t>，因而在码盘旋转时，将会产生</a:t>
            </a:r>
            <a:r>
              <a:rPr lang="en-US" altLang="zh-CN" sz="1800" kern="100" dirty="0">
                <a:solidFill>
                  <a:srgbClr val="000000"/>
                </a:solidFill>
                <a:effectLst/>
                <a:latin typeface="微软雅黑" panose="020B0503020204020204" pitchFamily="34" charset="-122"/>
                <a:ea typeface="微软雅黑" panose="020B0503020204020204" pitchFamily="34" charset="-122"/>
              </a:rPr>
              <a:t>2</a:t>
            </a:r>
            <a:r>
              <a:rPr lang="zh-CN" altLang="zh-CN" sz="1800" kern="100" dirty="0">
                <a:solidFill>
                  <a:srgbClr val="000000"/>
                </a:solidFill>
                <a:effectLst/>
                <a:latin typeface="微软雅黑" panose="020B0503020204020204" pitchFamily="34" charset="-122"/>
                <a:ea typeface="微软雅黑" panose="020B0503020204020204" pitchFamily="34" charset="-122"/>
              </a:rPr>
              <a:t>列固定</a:t>
            </a:r>
            <a:r>
              <a:rPr lang="en-US" altLang="zh-CN" sz="1800" kern="100" dirty="0">
                <a:solidFill>
                  <a:srgbClr val="000000"/>
                </a:solidFill>
                <a:effectLst/>
                <a:latin typeface="微软雅黑" panose="020B0503020204020204" pitchFamily="34" charset="-122"/>
                <a:ea typeface="微软雅黑" panose="020B0503020204020204" pitchFamily="34" charset="-122"/>
              </a:rPr>
              <a:t>1/4</a:t>
            </a:r>
            <a:r>
              <a:rPr lang="zh-CN" altLang="zh-CN" sz="1800" kern="100" dirty="0">
                <a:solidFill>
                  <a:srgbClr val="000000"/>
                </a:solidFill>
                <a:effectLst/>
                <a:latin typeface="微软雅黑" panose="020B0503020204020204" pitchFamily="34" charset="-122"/>
                <a:ea typeface="微软雅黑" panose="020B0503020204020204" pitchFamily="34" charset="-122"/>
              </a:rPr>
              <a:t>周期相位差的正交编码脉冲序列</a:t>
            </a:r>
            <a:r>
              <a:rPr lang="en-US" altLang="zh-CN" sz="1800" kern="100" dirty="0">
                <a:solidFill>
                  <a:srgbClr val="000000"/>
                </a:solidFill>
                <a:effectLst/>
                <a:latin typeface="微软雅黑" panose="020B0503020204020204" pitchFamily="34" charset="-122"/>
                <a:ea typeface="微软雅黑" panose="020B0503020204020204" pitchFamily="34" charset="-122"/>
              </a:rPr>
              <a:t>A</a:t>
            </a:r>
            <a:r>
              <a:rPr lang="zh-CN" altLang="zh-CN" sz="1800" kern="100" dirty="0">
                <a:solidFill>
                  <a:srgbClr val="000000"/>
                </a:solidFill>
                <a:effectLst/>
                <a:latin typeface="微软雅黑" panose="020B0503020204020204" pitchFamily="34" charset="-122"/>
                <a:ea typeface="微软雅黑" panose="020B0503020204020204" pitchFamily="34" charset="-122"/>
              </a:rPr>
              <a:t>与</a:t>
            </a:r>
            <a:r>
              <a:rPr lang="en-US" altLang="zh-CN" sz="1800" kern="100" dirty="0">
                <a:solidFill>
                  <a:srgbClr val="000000"/>
                </a:solidFill>
                <a:effectLst/>
                <a:latin typeface="微软雅黑" panose="020B0503020204020204" pitchFamily="34" charset="-122"/>
                <a:ea typeface="微软雅黑" panose="020B0503020204020204" pitchFamily="34" charset="-122"/>
              </a:rPr>
              <a:t>B</a:t>
            </a:r>
            <a:r>
              <a:rPr lang="zh-CN" altLang="zh-CN" sz="1800" kern="100" dirty="0">
                <a:solidFill>
                  <a:srgbClr val="000000"/>
                </a:solidFill>
                <a:effectLst/>
                <a:latin typeface="微软雅黑" panose="020B0503020204020204" pitchFamily="34" charset="-122"/>
                <a:ea typeface="微软雅黑" panose="020B0503020204020204" pitchFamily="34" charset="-122"/>
              </a:rPr>
              <a:t>。当码盘正转时，</a:t>
            </a:r>
            <a:r>
              <a:rPr lang="en-US" altLang="zh-CN" sz="1800" kern="100" dirty="0">
                <a:solidFill>
                  <a:srgbClr val="000000"/>
                </a:solidFill>
                <a:effectLst/>
                <a:latin typeface="微软雅黑" panose="020B0503020204020204" pitchFamily="34" charset="-122"/>
                <a:ea typeface="微软雅黑" panose="020B0503020204020204" pitchFamily="34" charset="-122"/>
              </a:rPr>
              <a:t>A</a:t>
            </a:r>
            <a:r>
              <a:rPr lang="zh-CN" altLang="zh-CN" sz="1800" kern="100" dirty="0">
                <a:solidFill>
                  <a:srgbClr val="000000"/>
                </a:solidFill>
                <a:effectLst/>
                <a:latin typeface="微软雅黑" panose="020B0503020204020204" pitchFamily="34" charset="-122"/>
                <a:ea typeface="微软雅黑" panose="020B0503020204020204" pitchFamily="34" charset="-122"/>
              </a:rPr>
              <a:t>相超前</a:t>
            </a:r>
            <a:r>
              <a:rPr lang="en-US" altLang="zh-CN" sz="1800" kern="100" dirty="0">
                <a:solidFill>
                  <a:srgbClr val="000000"/>
                </a:solidFill>
                <a:effectLst/>
                <a:latin typeface="微软雅黑" panose="020B0503020204020204" pitchFamily="34" charset="-122"/>
                <a:ea typeface="微软雅黑" panose="020B0503020204020204" pitchFamily="34" charset="-122"/>
              </a:rPr>
              <a:t>B</a:t>
            </a:r>
            <a:r>
              <a:rPr lang="zh-CN" altLang="zh-CN" sz="1800" kern="100" dirty="0">
                <a:solidFill>
                  <a:srgbClr val="000000"/>
                </a:solidFill>
                <a:effectLst/>
                <a:latin typeface="微软雅黑" panose="020B0503020204020204" pitchFamily="34" charset="-122"/>
                <a:ea typeface="微软雅黑" panose="020B0503020204020204" pitchFamily="34" charset="-122"/>
              </a:rPr>
              <a:t>相</a:t>
            </a:r>
            <a:r>
              <a:rPr lang="en-US" altLang="zh-CN" sz="1800" kern="100" dirty="0">
                <a:solidFill>
                  <a:srgbClr val="000000"/>
                </a:solidFill>
                <a:effectLst/>
                <a:latin typeface="微软雅黑" panose="020B0503020204020204" pitchFamily="34" charset="-122"/>
                <a:ea typeface="微软雅黑" panose="020B0503020204020204" pitchFamily="34" charset="-122"/>
              </a:rPr>
              <a:t>90</a:t>
            </a:r>
            <a:r>
              <a:rPr lang="zh-CN" altLang="zh-CN" sz="1800" kern="100" dirty="0">
                <a:solidFill>
                  <a:srgbClr val="000000"/>
                </a:solidFill>
                <a:effectLst/>
                <a:latin typeface="微软雅黑" panose="020B0503020204020204" pitchFamily="34" charset="-122"/>
                <a:ea typeface="微软雅黑" panose="020B0503020204020204" pitchFamily="34" charset="-122"/>
              </a:rPr>
              <a:t>；当码盘反转时，</a:t>
            </a:r>
            <a:r>
              <a:rPr lang="en-US" altLang="zh-CN" sz="1800" kern="100" dirty="0">
                <a:solidFill>
                  <a:srgbClr val="000000"/>
                </a:solidFill>
                <a:effectLst/>
                <a:latin typeface="微软雅黑" panose="020B0503020204020204" pitchFamily="34" charset="-122"/>
                <a:ea typeface="微软雅黑" panose="020B0503020204020204" pitchFamily="34" charset="-122"/>
              </a:rPr>
              <a:t>B</a:t>
            </a:r>
            <a:r>
              <a:rPr lang="zh-CN" altLang="zh-CN" sz="1800" kern="100" dirty="0">
                <a:solidFill>
                  <a:srgbClr val="000000"/>
                </a:solidFill>
                <a:effectLst/>
                <a:latin typeface="微软雅黑" panose="020B0503020204020204" pitchFamily="34" charset="-122"/>
                <a:ea typeface="微软雅黑" panose="020B0503020204020204" pitchFamily="34" charset="-122"/>
              </a:rPr>
              <a:t>相超前</a:t>
            </a:r>
            <a:r>
              <a:rPr lang="en-US" altLang="zh-CN" sz="1800" kern="100" dirty="0">
                <a:solidFill>
                  <a:srgbClr val="000000"/>
                </a:solidFill>
                <a:effectLst/>
                <a:latin typeface="微软雅黑" panose="020B0503020204020204" pitchFamily="34" charset="-122"/>
                <a:ea typeface="微软雅黑" panose="020B0503020204020204" pitchFamily="34" charset="-122"/>
              </a:rPr>
              <a:t>A</a:t>
            </a:r>
            <a:r>
              <a:rPr lang="zh-CN" altLang="zh-CN" sz="1800" kern="100" dirty="0">
                <a:solidFill>
                  <a:srgbClr val="000000"/>
                </a:solidFill>
                <a:effectLst/>
                <a:latin typeface="微软雅黑" panose="020B0503020204020204" pitchFamily="34" charset="-122"/>
                <a:ea typeface="微软雅黑" panose="020B0503020204020204" pitchFamily="34" charset="-122"/>
              </a:rPr>
              <a:t>相</a:t>
            </a:r>
            <a:r>
              <a:rPr lang="en-US" altLang="zh-CN" sz="1800" kern="100" dirty="0">
                <a:solidFill>
                  <a:srgbClr val="000000"/>
                </a:solidFill>
                <a:effectLst/>
                <a:latin typeface="微软雅黑" panose="020B0503020204020204" pitchFamily="34" charset="-122"/>
                <a:ea typeface="微软雅黑" panose="020B0503020204020204" pitchFamily="34" charset="-122"/>
              </a:rPr>
              <a:t>90</a:t>
            </a:r>
            <a:r>
              <a:rPr lang="zh-CN" altLang="zh-CN" sz="1800" kern="100" dirty="0">
                <a:solidFill>
                  <a:srgbClr val="000000"/>
                </a:solidFill>
                <a:effectLst/>
                <a:latin typeface="微软雅黑" panose="020B0503020204020204" pitchFamily="34" charset="-122"/>
                <a:ea typeface="微软雅黑" panose="020B0503020204020204" pitchFamily="34" charset="-122"/>
              </a:rPr>
              <a:t>。</a:t>
            </a:r>
            <a:endParaRPr lang="zh-CN" altLang="zh-CN" sz="1400" kern="100" dirty="0">
              <a:effectLst/>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001946A6-8BE8-95BA-E9B1-4D7B1C6601A7}"/>
              </a:ext>
            </a:extLst>
          </p:cNvPr>
          <p:cNvPicPr>
            <a:picLocks noChangeAspect="1"/>
          </p:cNvPicPr>
          <p:nvPr/>
        </p:nvPicPr>
        <p:blipFill>
          <a:blip r:embed="rId2"/>
          <a:stretch>
            <a:fillRect/>
          </a:stretch>
        </p:blipFill>
        <p:spPr>
          <a:xfrm>
            <a:off x="651340" y="3884836"/>
            <a:ext cx="4638675" cy="1424305"/>
          </a:xfrm>
          <a:prstGeom prst="rect">
            <a:avLst/>
          </a:prstGeom>
        </p:spPr>
      </p:pic>
      <p:pic>
        <p:nvPicPr>
          <p:cNvPr id="3" name="图片 2">
            <a:extLst>
              <a:ext uri="{FF2B5EF4-FFF2-40B4-BE49-F238E27FC236}">
                <a16:creationId xmlns:a16="http://schemas.microsoft.com/office/drawing/2014/main" id="{A3A84D63-9952-C85C-62E7-411F407560A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2022" y="3429000"/>
            <a:ext cx="3702685" cy="2714625"/>
          </a:xfrm>
          <a:prstGeom prst="rect">
            <a:avLst/>
          </a:prstGeom>
        </p:spPr>
      </p:pic>
    </p:spTree>
    <p:extLst>
      <p:ext uri="{BB962C8B-B14F-4D97-AF65-F5344CB8AC3E}">
        <p14:creationId xmlns:p14="http://schemas.microsoft.com/office/powerpoint/2010/main" val="1252235284"/>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reeform 4"/>
          <p:cNvSpPr>
            <a:spLocks noChangeAspect="1"/>
          </p:cNvSpPr>
          <p:nvPr/>
        </p:nvSpPr>
        <p:spPr bwMode="auto">
          <a:xfrm>
            <a:off x="5585867" y="2468253"/>
            <a:ext cx="966345" cy="1775589"/>
          </a:xfrm>
          <a:custGeom>
            <a:avLst/>
            <a:gdLst>
              <a:gd name="T0" fmla="*/ 165 w 1384"/>
              <a:gd name="T1" fmla="*/ 636 h 2543"/>
              <a:gd name="T2" fmla="*/ 230 w 1384"/>
              <a:gd name="T3" fmla="*/ 645 h 2543"/>
              <a:gd name="T4" fmla="*/ 291 w 1384"/>
              <a:gd name="T5" fmla="*/ 659 h 2543"/>
              <a:gd name="T6" fmla="*/ 351 w 1384"/>
              <a:gd name="T7" fmla="*/ 679 h 2543"/>
              <a:gd name="T8" fmla="*/ 421 w 1384"/>
              <a:gd name="T9" fmla="*/ 711 h 2543"/>
              <a:gd name="T10" fmla="*/ 486 w 1384"/>
              <a:gd name="T11" fmla="*/ 753 h 2543"/>
              <a:gd name="T12" fmla="*/ 547 w 1384"/>
              <a:gd name="T13" fmla="*/ 801 h 2543"/>
              <a:gd name="T14" fmla="*/ 590 w 1384"/>
              <a:gd name="T15" fmla="*/ 844 h 2543"/>
              <a:gd name="T16" fmla="*/ 646 w 1384"/>
              <a:gd name="T17" fmla="*/ 917 h 2543"/>
              <a:gd name="T18" fmla="*/ 679 w 1384"/>
              <a:gd name="T19" fmla="*/ 969 h 2543"/>
              <a:gd name="T20" fmla="*/ 706 w 1384"/>
              <a:gd name="T21" fmla="*/ 1024 h 2543"/>
              <a:gd name="T22" fmla="*/ 727 w 1384"/>
              <a:gd name="T23" fmla="*/ 1084 h 2543"/>
              <a:gd name="T24" fmla="*/ 743 w 1384"/>
              <a:gd name="T25" fmla="*/ 1145 h 2543"/>
              <a:gd name="T26" fmla="*/ 752 w 1384"/>
              <a:gd name="T27" fmla="*/ 1209 h 2543"/>
              <a:gd name="T28" fmla="*/ 756 w 1384"/>
              <a:gd name="T29" fmla="*/ 1274 h 2543"/>
              <a:gd name="T30" fmla="*/ 753 w 1384"/>
              <a:gd name="T31" fmla="*/ 1331 h 2543"/>
              <a:gd name="T32" fmla="*/ 740 w 1384"/>
              <a:gd name="T33" fmla="*/ 1415 h 2543"/>
              <a:gd name="T34" fmla="*/ 716 w 1384"/>
              <a:gd name="T35" fmla="*/ 1494 h 2543"/>
              <a:gd name="T36" fmla="*/ 683 w 1384"/>
              <a:gd name="T37" fmla="*/ 1570 h 2543"/>
              <a:gd name="T38" fmla="*/ 624 w 1384"/>
              <a:gd name="T39" fmla="*/ 1661 h 2543"/>
              <a:gd name="T40" fmla="*/ 590 w 1384"/>
              <a:gd name="T41" fmla="*/ 1703 h 2543"/>
              <a:gd name="T42" fmla="*/ 532 w 1384"/>
              <a:gd name="T43" fmla="*/ 1759 h 2543"/>
              <a:gd name="T44" fmla="*/ 456 w 1384"/>
              <a:gd name="T45" fmla="*/ 1815 h 2543"/>
              <a:gd name="T46" fmla="*/ 372 w 1384"/>
              <a:gd name="T47" fmla="*/ 1860 h 2543"/>
              <a:gd name="T48" fmla="*/ 280 w 1384"/>
              <a:gd name="T49" fmla="*/ 1892 h 2543"/>
              <a:gd name="T50" fmla="*/ 0 w 1384"/>
              <a:gd name="T51" fmla="*/ 2230 h 2543"/>
              <a:gd name="T52" fmla="*/ 333 w 1384"/>
              <a:gd name="T53" fmla="*/ 2531 h 2543"/>
              <a:gd name="T54" fmla="*/ 449 w 1384"/>
              <a:gd name="T55" fmla="*/ 2505 h 2543"/>
              <a:gd name="T56" fmla="*/ 560 w 1384"/>
              <a:gd name="T57" fmla="*/ 2468 h 2543"/>
              <a:gd name="T58" fmla="*/ 666 w 1384"/>
              <a:gd name="T59" fmla="*/ 2422 h 2543"/>
              <a:gd name="T60" fmla="*/ 768 w 1384"/>
              <a:gd name="T61" fmla="*/ 2367 h 2543"/>
              <a:gd name="T62" fmla="*/ 864 w 1384"/>
              <a:gd name="T63" fmla="*/ 2302 h 2543"/>
              <a:gd name="T64" fmla="*/ 952 w 1384"/>
              <a:gd name="T65" fmla="*/ 2231 h 2543"/>
              <a:gd name="T66" fmla="*/ 1035 w 1384"/>
              <a:gd name="T67" fmla="*/ 2151 h 2543"/>
              <a:gd name="T68" fmla="*/ 1110 w 1384"/>
              <a:gd name="T69" fmla="*/ 2065 h 2543"/>
              <a:gd name="T70" fmla="*/ 1177 w 1384"/>
              <a:gd name="T71" fmla="*/ 1971 h 2543"/>
              <a:gd name="T72" fmla="*/ 1235 w 1384"/>
              <a:gd name="T73" fmla="*/ 1872 h 2543"/>
              <a:gd name="T74" fmla="*/ 1285 w 1384"/>
              <a:gd name="T75" fmla="*/ 1767 h 2543"/>
              <a:gd name="T76" fmla="*/ 1326 w 1384"/>
              <a:gd name="T77" fmla="*/ 1657 h 2543"/>
              <a:gd name="T78" fmla="*/ 1356 w 1384"/>
              <a:gd name="T79" fmla="*/ 1544 h 2543"/>
              <a:gd name="T80" fmla="*/ 1375 w 1384"/>
              <a:gd name="T81" fmla="*/ 1426 h 2543"/>
              <a:gd name="T82" fmla="*/ 1384 w 1384"/>
              <a:gd name="T83" fmla="*/ 1304 h 2543"/>
              <a:gd name="T84" fmla="*/ 1380 w 1384"/>
              <a:gd name="T85" fmla="*/ 1175 h 2543"/>
              <a:gd name="T86" fmla="*/ 1364 w 1384"/>
              <a:gd name="T87" fmla="*/ 1048 h 2543"/>
              <a:gd name="T88" fmla="*/ 1336 w 1384"/>
              <a:gd name="T89" fmla="*/ 925 h 2543"/>
              <a:gd name="T90" fmla="*/ 1295 w 1384"/>
              <a:gd name="T91" fmla="*/ 806 h 2543"/>
              <a:gd name="T92" fmla="*/ 1244 w 1384"/>
              <a:gd name="T93" fmla="*/ 693 h 2543"/>
              <a:gd name="T94" fmla="*/ 1182 w 1384"/>
              <a:gd name="T95" fmla="*/ 587 h 2543"/>
              <a:gd name="T96" fmla="*/ 1110 w 1384"/>
              <a:gd name="T97" fmla="*/ 487 h 2543"/>
              <a:gd name="T98" fmla="*/ 1030 w 1384"/>
              <a:gd name="T99" fmla="*/ 394 h 2543"/>
              <a:gd name="T100" fmla="*/ 941 w 1384"/>
              <a:gd name="T101" fmla="*/ 310 h 2543"/>
              <a:gd name="T102" fmla="*/ 845 w 1384"/>
              <a:gd name="T103" fmla="*/ 234 h 2543"/>
              <a:gd name="T104" fmla="*/ 741 w 1384"/>
              <a:gd name="T105" fmla="*/ 168 h 2543"/>
              <a:gd name="T106" fmla="*/ 630 w 1384"/>
              <a:gd name="T107" fmla="*/ 112 h 2543"/>
              <a:gd name="T108" fmla="*/ 515 w 1384"/>
              <a:gd name="T109" fmla="*/ 66 h 2543"/>
              <a:gd name="T110" fmla="*/ 394 w 1384"/>
              <a:gd name="T111" fmla="*/ 32 h 2543"/>
              <a:gd name="T112" fmla="*/ 268 w 1384"/>
              <a:gd name="T113" fmla="*/ 10 h 2543"/>
              <a:gd name="T114" fmla="*/ 138 w 1384"/>
              <a:gd name="T115" fmla="*/ 0 h 2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84" h="2543">
                <a:moveTo>
                  <a:pt x="114" y="635"/>
                </a:moveTo>
                <a:lnTo>
                  <a:pt x="117" y="635"/>
                </a:lnTo>
                <a:lnTo>
                  <a:pt x="149" y="635"/>
                </a:lnTo>
                <a:lnTo>
                  <a:pt x="165" y="636"/>
                </a:lnTo>
                <a:lnTo>
                  <a:pt x="181" y="638"/>
                </a:lnTo>
                <a:lnTo>
                  <a:pt x="198" y="640"/>
                </a:lnTo>
                <a:lnTo>
                  <a:pt x="214" y="642"/>
                </a:lnTo>
                <a:lnTo>
                  <a:pt x="230" y="645"/>
                </a:lnTo>
                <a:lnTo>
                  <a:pt x="246" y="648"/>
                </a:lnTo>
                <a:lnTo>
                  <a:pt x="261" y="651"/>
                </a:lnTo>
                <a:lnTo>
                  <a:pt x="276" y="655"/>
                </a:lnTo>
                <a:lnTo>
                  <a:pt x="291" y="659"/>
                </a:lnTo>
                <a:lnTo>
                  <a:pt x="306" y="663"/>
                </a:lnTo>
                <a:lnTo>
                  <a:pt x="321" y="668"/>
                </a:lnTo>
                <a:lnTo>
                  <a:pt x="336" y="673"/>
                </a:lnTo>
                <a:lnTo>
                  <a:pt x="351" y="679"/>
                </a:lnTo>
                <a:lnTo>
                  <a:pt x="366" y="685"/>
                </a:lnTo>
                <a:lnTo>
                  <a:pt x="380" y="691"/>
                </a:lnTo>
                <a:lnTo>
                  <a:pt x="394" y="697"/>
                </a:lnTo>
                <a:lnTo>
                  <a:pt x="421" y="711"/>
                </a:lnTo>
                <a:lnTo>
                  <a:pt x="448" y="728"/>
                </a:lnTo>
                <a:lnTo>
                  <a:pt x="461" y="736"/>
                </a:lnTo>
                <a:lnTo>
                  <a:pt x="474" y="744"/>
                </a:lnTo>
                <a:lnTo>
                  <a:pt x="486" y="753"/>
                </a:lnTo>
                <a:lnTo>
                  <a:pt x="498" y="762"/>
                </a:lnTo>
                <a:lnTo>
                  <a:pt x="512" y="771"/>
                </a:lnTo>
                <a:lnTo>
                  <a:pt x="523" y="781"/>
                </a:lnTo>
                <a:lnTo>
                  <a:pt x="547" y="801"/>
                </a:lnTo>
                <a:lnTo>
                  <a:pt x="558" y="811"/>
                </a:lnTo>
                <a:lnTo>
                  <a:pt x="569" y="822"/>
                </a:lnTo>
                <a:lnTo>
                  <a:pt x="579" y="833"/>
                </a:lnTo>
                <a:lnTo>
                  <a:pt x="590" y="844"/>
                </a:lnTo>
                <a:lnTo>
                  <a:pt x="610" y="867"/>
                </a:lnTo>
                <a:lnTo>
                  <a:pt x="619" y="880"/>
                </a:lnTo>
                <a:lnTo>
                  <a:pt x="628" y="892"/>
                </a:lnTo>
                <a:lnTo>
                  <a:pt x="646" y="917"/>
                </a:lnTo>
                <a:lnTo>
                  <a:pt x="655" y="929"/>
                </a:lnTo>
                <a:lnTo>
                  <a:pt x="663" y="942"/>
                </a:lnTo>
                <a:lnTo>
                  <a:pt x="671" y="956"/>
                </a:lnTo>
                <a:lnTo>
                  <a:pt x="679" y="969"/>
                </a:lnTo>
                <a:lnTo>
                  <a:pt x="686" y="983"/>
                </a:lnTo>
                <a:lnTo>
                  <a:pt x="693" y="996"/>
                </a:lnTo>
                <a:lnTo>
                  <a:pt x="699" y="1010"/>
                </a:lnTo>
                <a:lnTo>
                  <a:pt x="706" y="1024"/>
                </a:lnTo>
                <a:lnTo>
                  <a:pt x="712" y="1040"/>
                </a:lnTo>
                <a:lnTo>
                  <a:pt x="717" y="1054"/>
                </a:lnTo>
                <a:lnTo>
                  <a:pt x="722" y="1069"/>
                </a:lnTo>
                <a:lnTo>
                  <a:pt x="727" y="1084"/>
                </a:lnTo>
                <a:lnTo>
                  <a:pt x="731" y="1099"/>
                </a:lnTo>
                <a:lnTo>
                  <a:pt x="736" y="1114"/>
                </a:lnTo>
                <a:lnTo>
                  <a:pt x="739" y="1129"/>
                </a:lnTo>
                <a:lnTo>
                  <a:pt x="743" y="1145"/>
                </a:lnTo>
                <a:lnTo>
                  <a:pt x="746" y="1160"/>
                </a:lnTo>
                <a:lnTo>
                  <a:pt x="748" y="1176"/>
                </a:lnTo>
                <a:lnTo>
                  <a:pt x="750" y="1192"/>
                </a:lnTo>
                <a:lnTo>
                  <a:pt x="752" y="1209"/>
                </a:lnTo>
                <a:lnTo>
                  <a:pt x="754" y="1225"/>
                </a:lnTo>
                <a:lnTo>
                  <a:pt x="755" y="1241"/>
                </a:lnTo>
                <a:lnTo>
                  <a:pt x="755" y="1257"/>
                </a:lnTo>
                <a:lnTo>
                  <a:pt x="756" y="1274"/>
                </a:lnTo>
                <a:lnTo>
                  <a:pt x="755" y="1288"/>
                </a:lnTo>
                <a:lnTo>
                  <a:pt x="755" y="1302"/>
                </a:lnTo>
                <a:lnTo>
                  <a:pt x="754" y="1317"/>
                </a:lnTo>
                <a:lnTo>
                  <a:pt x="753" y="1331"/>
                </a:lnTo>
                <a:lnTo>
                  <a:pt x="752" y="1345"/>
                </a:lnTo>
                <a:lnTo>
                  <a:pt x="750" y="1360"/>
                </a:lnTo>
                <a:lnTo>
                  <a:pt x="746" y="1388"/>
                </a:lnTo>
                <a:lnTo>
                  <a:pt x="740" y="1415"/>
                </a:lnTo>
                <a:lnTo>
                  <a:pt x="733" y="1442"/>
                </a:lnTo>
                <a:lnTo>
                  <a:pt x="725" y="1469"/>
                </a:lnTo>
                <a:lnTo>
                  <a:pt x="721" y="1482"/>
                </a:lnTo>
                <a:lnTo>
                  <a:pt x="716" y="1494"/>
                </a:lnTo>
                <a:lnTo>
                  <a:pt x="706" y="1521"/>
                </a:lnTo>
                <a:lnTo>
                  <a:pt x="695" y="1546"/>
                </a:lnTo>
                <a:lnTo>
                  <a:pt x="690" y="1558"/>
                </a:lnTo>
                <a:lnTo>
                  <a:pt x="683" y="1570"/>
                </a:lnTo>
                <a:lnTo>
                  <a:pt x="670" y="1594"/>
                </a:lnTo>
                <a:lnTo>
                  <a:pt x="655" y="1617"/>
                </a:lnTo>
                <a:lnTo>
                  <a:pt x="640" y="1639"/>
                </a:lnTo>
                <a:lnTo>
                  <a:pt x="624" y="1661"/>
                </a:lnTo>
                <a:lnTo>
                  <a:pt x="616" y="1672"/>
                </a:lnTo>
                <a:lnTo>
                  <a:pt x="608" y="1683"/>
                </a:lnTo>
                <a:lnTo>
                  <a:pt x="599" y="1693"/>
                </a:lnTo>
                <a:lnTo>
                  <a:pt x="590" y="1703"/>
                </a:lnTo>
                <a:lnTo>
                  <a:pt x="581" y="1713"/>
                </a:lnTo>
                <a:lnTo>
                  <a:pt x="572" y="1723"/>
                </a:lnTo>
                <a:lnTo>
                  <a:pt x="552" y="1741"/>
                </a:lnTo>
                <a:lnTo>
                  <a:pt x="532" y="1759"/>
                </a:lnTo>
                <a:lnTo>
                  <a:pt x="512" y="1776"/>
                </a:lnTo>
                <a:lnTo>
                  <a:pt x="489" y="1793"/>
                </a:lnTo>
                <a:lnTo>
                  <a:pt x="467" y="1808"/>
                </a:lnTo>
                <a:lnTo>
                  <a:pt x="456" y="1815"/>
                </a:lnTo>
                <a:lnTo>
                  <a:pt x="444" y="1822"/>
                </a:lnTo>
                <a:lnTo>
                  <a:pt x="421" y="1837"/>
                </a:lnTo>
                <a:lnTo>
                  <a:pt x="396" y="1849"/>
                </a:lnTo>
                <a:lnTo>
                  <a:pt x="372" y="1860"/>
                </a:lnTo>
                <a:lnTo>
                  <a:pt x="346" y="1871"/>
                </a:lnTo>
                <a:lnTo>
                  <a:pt x="320" y="1880"/>
                </a:lnTo>
                <a:lnTo>
                  <a:pt x="294" y="1888"/>
                </a:lnTo>
                <a:lnTo>
                  <a:pt x="280" y="1892"/>
                </a:lnTo>
                <a:lnTo>
                  <a:pt x="267" y="1895"/>
                </a:lnTo>
                <a:lnTo>
                  <a:pt x="253" y="1898"/>
                </a:lnTo>
                <a:lnTo>
                  <a:pt x="240" y="1901"/>
                </a:lnTo>
                <a:lnTo>
                  <a:pt x="0" y="2230"/>
                </a:lnTo>
                <a:lnTo>
                  <a:pt x="244" y="2543"/>
                </a:lnTo>
                <a:lnTo>
                  <a:pt x="274" y="2540"/>
                </a:lnTo>
                <a:lnTo>
                  <a:pt x="304" y="2535"/>
                </a:lnTo>
                <a:lnTo>
                  <a:pt x="333" y="2531"/>
                </a:lnTo>
                <a:lnTo>
                  <a:pt x="363" y="2525"/>
                </a:lnTo>
                <a:lnTo>
                  <a:pt x="392" y="2519"/>
                </a:lnTo>
                <a:lnTo>
                  <a:pt x="420" y="2512"/>
                </a:lnTo>
                <a:lnTo>
                  <a:pt x="449" y="2505"/>
                </a:lnTo>
                <a:lnTo>
                  <a:pt x="477" y="2497"/>
                </a:lnTo>
                <a:lnTo>
                  <a:pt x="505" y="2488"/>
                </a:lnTo>
                <a:lnTo>
                  <a:pt x="533" y="2479"/>
                </a:lnTo>
                <a:lnTo>
                  <a:pt x="560" y="2468"/>
                </a:lnTo>
                <a:lnTo>
                  <a:pt x="587" y="2457"/>
                </a:lnTo>
                <a:lnTo>
                  <a:pt x="614" y="2446"/>
                </a:lnTo>
                <a:lnTo>
                  <a:pt x="640" y="2434"/>
                </a:lnTo>
                <a:lnTo>
                  <a:pt x="666" y="2422"/>
                </a:lnTo>
                <a:lnTo>
                  <a:pt x="693" y="2409"/>
                </a:lnTo>
                <a:lnTo>
                  <a:pt x="718" y="2395"/>
                </a:lnTo>
                <a:lnTo>
                  <a:pt x="743" y="2381"/>
                </a:lnTo>
                <a:lnTo>
                  <a:pt x="768" y="2367"/>
                </a:lnTo>
                <a:lnTo>
                  <a:pt x="792" y="2352"/>
                </a:lnTo>
                <a:lnTo>
                  <a:pt x="816" y="2336"/>
                </a:lnTo>
                <a:lnTo>
                  <a:pt x="841" y="2320"/>
                </a:lnTo>
                <a:lnTo>
                  <a:pt x="864" y="2302"/>
                </a:lnTo>
                <a:lnTo>
                  <a:pt x="887" y="2285"/>
                </a:lnTo>
                <a:lnTo>
                  <a:pt x="909" y="2268"/>
                </a:lnTo>
                <a:lnTo>
                  <a:pt x="931" y="2250"/>
                </a:lnTo>
                <a:lnTo>
                  <a:pt x="952" y="2231"/>
                </a:lnTo>
                <a:lnTo>
                  <a:pt x="973" y="2212"/>
                </a:lnTo>
                <a:lnTo>
                  <a:pt x="995" y="2192"/>
                </a:lnTo>
                <a:lnTo>
                  <a:pt x="1015" y="2172"/>
                </a:lnTo>
                <a:lnTo>
                  <a:pt x="1035" y="2151"/>
                </a:lnTo>
                <a:lnTo>
                  <a:pt x="1054" y="2130"/>
                </a:lnTo>
                <a:lnTo>
                  <a:pt x="1073" y="2109"/>
                </a:lnTo>
                <a:lnTo>
                  <a:pt x="1092" y="2087"/>
                </a:lnTo>
                <a:lnTo>
                  <a:pt x="1110" y="2065"/>
                </a:lnTo>
                <a:lnTo>
                  <a:pt x="1127" y="2042"/>
                </a:lnTo>
                <a:lnTo>
                  <a:pt x="1144" y="2019"/>
                </a:lnTo>
                <a:lnTo>
                  <a:pt x="1161" y="1996"/>
                </a:lnTo>
                <a:lnTo>
                  <a:pt x="1177" y="1971"/>
                </a:lnTo>
                <a:lnTo>
                  <a:pt x="1192" y="1947"/>
                </a:lnTo>
                <a:lnTo>
                  <a:pt x="1207" y="1922"/>
                </a:lnTo>
                <a:lnTo>
                  <a:pt x="1222" y="1898"/>
                </a:lnTo>
                <a:lnTo>
                  <a:pt x="1235" y="1872"/>
                </a:lnTo>
                <a:lnTo>
                  <a:pt x="1249" y="1847"/>
                </a:lnTo>
                <a:lnTo>
                  <a:pt x="1261" y="1820"/>
                </a:lnTo>
                <a:lnTo>
                  <a:pt x="1273" y="1794"/>
                </a:lnTo>
                <a:lnTo>
                  <a:pt x="1285" y="1767"/>
                </a:lnTo>
                <a:lnTo>
                  <a:pt x="1296" y="1741"/>
                </a:lnTo>
                <a:lnTo>
                  <a:pt x="1307" y="1714"/>
                </a:lnTo>
                <a:lnTo>
                  <a:pt x="1316" y="1686"/>
                </a:lnTo>
                <a:lnTo>
                  <a:pt x="1326" y="1657"/>
                </a:lnTo>
                <a:lnTo>
                  <a:pt x="1334" y="1630"/>
                </a:lnTo>
                <a:lnTo>
                  <a:pt x="1342" y="1601"/>
                </a:lnTo>
                <a:lnTo>
                  <a:pt x="1349" y="1573"/>
                </a:lnTo>
                <a:lnTo>
                  <a:pt x="1356" y="1544"/>
                </a:lnTo>
                <a:lnTo>
                  <a:pt x="1361" y="1515"/>
                </a:lnTo>
                <a:lnTo>
                  <a:pt x="1367" y="1485"/>
                </a:lnTo>
                <a:lnTo>
                  <a:pt x="1371" y="1456"/>
                </a:lnTo>
                <a:lnTo>
                  <a:pt x="1375" y="1426"/>
                </a:lnTo>
                <a:lnTo>
                  <a:pt x="1378" y="1396"/>
                </a:lnTo>
                <a:lnTo>
                  <a:pt x="1381" y="1366"/>
                </a:lnTo>
                <a:lnTo>
                  <a:pt x="1383" y="1335"/>
                </a:lnTo>
                <a:lnTo>
                  <a:pt x="1384" y="1304"/>
                </a:lnTo>
                <a:lnTo>
                  <a:pt x="1384" y="1274"/>
                </a:lnTo>
                <a:lnTo>
                  <a:pt x="1384" y="1241"/>
                </a:lnTo>
                <a:lnTo>
                  <a:pt x="1382" y="1208"/>
                </a:lnTo>
                <a:lnTo>
                  <a:pt x="1380" y="1175"/>
                </a:lnTo>
                <a:lnTo>
                  <a:pt x="1377" y="1143"/>
                </a:lnTo>
                <a:lnTo>
                  <a:pt x="1374" y="1111"/>
                </a:lnTo>
                <a:lnTo>
                  <a:pt x="1369" y="1080"/>
                </a:lnTo>
                <a:lnTo>
                  <a:pt x="1364" y="1048"/>
                </a:lnTo>
                <a:lnTo>
                  <a:pt x="1358" y="1016"/>
                </a:lnTo>
                <a:lnTo>
                  <a:pt x="1351" y="986"/>
                </a:lnTo>
                <a:lnTo>
                  <a:pt x="1344" y="955"/>
                </a:lnTo>
                <a:lnTo>
                  <a:pt x="1336" y="925"/>
                </a:lnTo>
                <a:lnTo>
                  <a:pt x="1327" y="895"/>
                </a:lnTo>
                <a:lnTo>
                  <a:pt x="1317" y="864"/>
                </a:lnTo>
                <a:lnTo>
                  <a:pt x="1307" y="835"/>
                </a:lnTo>
                <a:lnTo>
                  <a:pt x="1295" y="806"/>
                </a:lnTo>
                <a:lnTo>
                  <a:pt x="1283" y="778"/>
                </a:lnTo>
                <a:lnTo>
                  <a:pt x="1270" y="749"/>
                </a:lnTo>
                <a:lnTo>
                  <a:pt x="1257" y="721"/>
                </a:lnTo>
                <a:lnTo>
                  <a:pt x="1244" y="693"/>
                </a:lnTo>
                <a:lnTo>
                  <a:pt x="1229" y="666"/>
                </a:lnTo>
                <a:lnTo>
                  <a:pt x="1214" y="639"/>
                </a:lnTo>
                <a:lnTo>
                  <a:pt x="1199" y="613"/>
                </a:lnTo>
                <a:lnTo>
                  <a:pt x="1182" y="587"/>
                </a:lnTo>
                <a:lnTo>
                  <a:pt x="1165" y="561"/>
                </a:lnTo>
                <a:lnTo>
                  <a:pt x="1148" y="535"/>
                </a:lnTo>
                <a:lnTo>
                  <a:pt x="1129" y="511"/>
                </a:lnTo>
                <a:lnTo>
                  <a:pt x="1110" y="487"/>
                </a:lnTo>
                <a:lnTo>
                  <a:pt x="1091" y="463"/>
                </a:lnTo>
                <a:lnTo>
                  <a:pt x="1071" y="440"/>
                </a:lnTo>
                <a:lnTo>
                  <a:pt x="1051" y="417"/>
                </a:lnTo>
                <a:lnTo>
                  <a:pt x="1030" y="394"/>
                </a:lnTo>
                <a:lnTo>
                  <a:pt x="1009" y="372"/>
                </a:lnTo>
                <a:lnTo>
                  <a:pt x="987" y="351"/>
                </a:lnTo>
                <a:lnTo>
                  <a:pt x="964" y="330"/>
                </a:lnTo>
                <a:lnTo>
                  <a:pt x="941" y="310"/>
                </a:lnTo>
                <a:lnTo>
                  <a:pt x="918" y="290"/>
                </a:lnTo>
                <a:lnTo>
                  <a:pt x="894" y="271"/>
                </a:lnTo>
                <a:lnTo>
                  <a:pt x="870" y="253"/>
                </a:lnTo>
                <a:lnTo>
                  <a:pt x="845" y="234"/>
                </a:lnTo>
                <a:lnTo>
                  <a:pt x="819" y="217"/>
                </a:lnTo>
                <a:lnTo>
                  <a:pt x="793" y="200"/>
                </a:lnTo>
                <a:lnTo>
                  <a:pt x="767" y="184"/>
                </a:lnTo>
                <a:lnTo>
                  <a:pt x="741" y="168"/>
                </a:lnTo>
                <a:lnTo>
                  <a:pt x="714" y="153"/>
                </a:lnTo>
                <a:lnTo>
                  <a:pt x="687" y="139"/>
                </a:lnTo>
                <a:lnTo>
                  <a:pt x="658" y="125"/>
                </a:lnTo>
                <a:lnTo>
                  <a:pt x="630" y="112"/>
                </a:lnTo>
                <a:lnTo>
                  <a:pt x="602" y="100"/>
                </a:lnTo>
                <a:lnTo>
                  <a:pt x="573" y="88"/>
                </a:lnTo>
                <a:lnTo>
                  <a:pt x="544" y="76"/>
                </a:lnTo>
                <a:lnTo>
                  <a:pt x="515" y="66"/>
                </a:lnTo>
                <a:lnTo>
                  <a:pt x="484" y="56"/>
                </a:lnTo>
                <a:lnTo>
                  <a:pt x="454" y="48"/>
                </a:lnTo>
                <a:lnTo>
                  <a:pt x="424" y="39"/>
                </a:lnTo>
                <a:lnTo>
                  <a:pt x="394" y="32"/>
                </a:lnTo>
                <a:lnTo>
                  <a:pt x="363" y="25"/>
                </a:lnTo>
                <a:lnTo>
                  <a:pt x="331" y="19"/>
                </a:lnTo>
                <a:lnTo>
                  <a:pt x="299" y="14"/>
                </a:lnTo>
                <a:lnTo>
                  <a:pt x="268" y="10"/>
                </a:lnTo>
                <a:lnTo>
                  <a:pt x="236" y="6"/>
                </a:lnTo>
                <a:lnTo>
                  <a:pt x="204" y="3"/>
                </a:lnTo>
                <a:lnTo>
                  <a:pt x="170" y="1"/>
                </a:lnTo>
                <a:lnTo>
                  <a:pt x="138" y="0"/>
                </a:lnTo>
                <a:lnTo>
                  <a:pt x="105" y="0"/>
                </a:lnTo>
                <a:lnTo>
                  <a:pt x="340" y="337"/>
                </a:lnTo>
                <a:lnTo>
                  <a:pt x="114" y="635"/>
                </a:lnTo>
                <a:close/>
              </a:path>
            </a:pathLst>
          </a:cu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 name="Freeform 5"/>
          <p:cNvSpPr>
            <a:spLocks noChangeAspect="1"/>
          </p:cNvSpPr>
          <p:nvPr/>
        </p:nvSpPr>
        <p:spPr bwMode="auto">
          <a:xfrm>
            <a:off x="4771037" y="2473839"/>
            <a:ext cx="962854" cy="1775589"/>
          </a:xfrm>
          <a:custGeom>
            <a:avLst/>
            <a:gdLst>
              <a:gd name="T0" fmla="*/ 1218 w 1379"/>
              <a:gd name="T1" fmla="*/ 1901 h 2543"/>
              <a:gd name="T2" fmla="*/ 1155 w 1379"/>
              <a:gd name="T3" fmla="*/ 1892 h 2543"/>
              <a:gd name="T4" fmla="*/ 1095 w 1379"/>
              <a:gd name="T5" fmla="*/ 1877 h 2543"/>
              <a:gd name="T6" fmla="*/ 1038 w 1379"/>
              <a:gd name="T7" fmla="*/ 1856 h 2543"/>
              <a:gd name="T8" fmla="*/ 969 w 1379"/>
              <a:gd name="T9" fmla="*/ 1821 h 2543"/>
              <a:gd name="T10" fmla="*/ 918 w 1379"/>
              <a:gd name="T11" fmla="*/ 1789 h 2543"/>
              <a:gd name="T12" fmla="*/ 858 w 1379"/>
              <a:gd name="T13" fmla="*/ 1743 h 2543"/>
              <a:gd name="T14" fmla="*/ 805 w 1379"/>
              <a:gd name="T15" fmla="*/ 1690 h 2543"/>
              <a:gd name="T16" fmla="*/ 759 w 1379"/>
              <a:gd name="T17" fmla="*/ 1630 h 2543"/>
              <a:gd name="T18" fmla="*/ 720 w 1379"/>
              <a:gd name="T19" fmla="*/ 1566 h 2543"/>
              <a:gd name="T20" fmla="*/ 687 w 1379"/>
              <a:gd name="T21" fmla="*/ 1496 h 2543"/>
              <a:gd name="T22" fmla="*/ 668 w 1379"/>
              <a:gd name="T23" fmla="*/ 1438 h 2543"/>
              <a:gd name="T24" fmla="*/ 652 w 1379"/>
              <a:gd name="T25" fmla="*/ 1362 h 2543"/>
              <a:gd name="T26" fmla="*/ 645 w 1379"/>
              <a:gd name="T27" fmla="*/ 1282 h 2543"/>
              <a:gd name="T28" fmla="*/ 648 w 1379"/>
              <a:gd name="T29" fmla="*/ 1197 h 2543"/>
              <a:gd name="T30" fmla="*/ 659 w 1379"/>
              <a:gd name="T31" fmla="*/ 1129 h 2543"/>
              <a:gd name="T32" fmla="*/ 686 w 1379"/>
              <a:gd name="T33" fmla="*/ 1039 h 2543"/>
              <a:gd name="T34" fmla="*/ 725 w 1379"/>
              <a:gd name="T35" fmla="*/ 955 h 2543"/>
              <a:gd name="T36" fmla="*/ 768 w 1379"/>
              <a:gd name="T37" fmla="*/ 889 h 2543"/>
              <a:gd name="T38" fmla="*/ 836 w 1379"/>
              <a:gd name="T39" fmla="*/ 810 h 2543"/>
              <a:gd name="T40" fmla="*/ 906 w 1379"/>
              <a:gd name="T41" fmla="*/ 751 h 2543"/>
              <a:gd name="T42" fmla="*/ 971 w 1379"/>
              <a:gd name="T43" fmla="*/ 707 h 2543"/>
              <a:gd name="T44" fmla="*/ 1056 w 1379"/>
              <a:gd name="T45" fmla="*/ 668 h 2543"/>
              <a:gd name="T46" fmla="*/ 1132 w 1379"/>
              <a:gd name="T47" fmla="*/ 645 h 2543"/>
              <a:gd name="T48" fmla="*/ 1076 w 1379"/>
              <a:gd name="T49" fmla="*/ 7 h 2543"/>
              <a:gd name="T50" fmla="*/ 959 w 1379"/>
              <a:gd name="T51" fmla="*/ 31 h 2543"/>
              <a:gd name="T52" fmla="*/ 847 w 1379"/>
              <a:gd name="T53" fmla="*/ 65 h 2543"/>
              <a:gd name="T54" fmla="*/ 740 w 1379"/>
              <a:gd name="T55" fmla="*/ 109 h 2543"/>
              <a:gd name="T56" fmla="*/ 638 w 1379"/>
              <a:gd name="T57" fmla="*/ 162 h 2543"/>
              <a:gd name="T58" fmla="*/ 541 w 1379"/>
              <a:gd name="T59" fmla="*/ 223 h 2543"/>
              <a:gd name="T60" fmla="*/ 451 w 1379"/>
              <a:gd name="T61" fmla="*/ 294 h 2543"/>
              <a:gd name="T62" fmla="*/ 367 w 1379"/>
              <a:gd name="T63" fmla="*/ 371 h 2543"/>
              <a:gd name="T64" fmla="*/ 291 w 1379"/>
              <a:gd name="T65" fmla="*/ 456 h 2543"/>
              <a:gd name="T66" fmla="*/ 222 w 1379"/>
              <a:gd name="T67" fmla="*/ 546 h 2543"/>
              <a:gd name="T68" fmla="*/ 162 w 1379"/>
              <a:gd name="T69" fmla="*/ 644 h 2543"/>
              <a:gd name="T70" fmla="*/ 110 w 1379"/>
              <a:gd name="T71" fmla="*/ 747 h 2543"/>
              <a:gd name="T72" fmla="*/ 67 w 1379"/>
              <a:gd name="T73" fmla="*/ 855 h 2543"/>
              <a:gd name="T74" fmla="*/ 35 w 1379"/>
              <a:gd name="T75" fmla="*/ 968 h 2543"/>
              <a:gd name="T76" fmla="*/ 13 w 1379"/>
              <a:gd name="T77" fmla="*/ 1084 h 2543"/>
              <a:gd name="T78" fmla="*/ 2 w 1379"/>
              <a:gd name="T79" fmla="*/ 1205 h 2543"/>
              <a:gd name="T80" fmla="*/ 2 w 1379"/>
              <a:gd name="T81" fmla="*/ 1331 h 2543"/>
              <a:gd name="T82" fmla="*/ 15 w 1379"/>
              <a:gd name="T83" fmla="*/ 1459 h 2543"/>
              <a:gd name="T84" fmla="*/ 40 w 1379"/>
              <a:gd name="T85" fmla="*/ 1584 h 2543"/>
              <a:gd name="T86" fmla="*/ 77 w 1379"/>
              <a:gd name="T87" fmla="*/ 1704 h 2543"/>
              <a:gd name="T88" fmla="*/ 126 w 1379"/>
              <a:gd name="T89" fmla="*/ 1817 h 2543"/>
              <a:gd name="T90" fmla="*/ 185 w 1379"/>
              <a:gd name="T91" fmla="*/ 1926 h 2543"/>
              <a:gd name="T92" fmla="*/ 254 w 1379"/>
              <a:gd name="T93" fmla="*/ 2028 h 2543"/>
              <a:gd name="T94" fmla="*/ 332 w 1379"/>
              <a:gd name="T95" fmla="*/ 2122 h 2543"/>
              <a:gd name="T96" fmla="*/ 419 w 1379"/>
              <a:gd name="T97" fmla="*/ 2209 h 2543"/>
              <a:gd name="T98" fmla="*/ 512 w 1379"/>
              <a:gd name="T99" fmla="*/ 2287 h 2543"/>
              <a:gd name="T100" fmla="*/ 614 w 1379"/>
              <a:gd name="T101" fmla="*/ 2356 h 2543"/>
              <a:gd name="T102" fmla="*/ 723 w 1379"/>
              <a:gd name="T103" fmla="*/ 2415 h 2543"/>
              <a:gd name="T104" fmla="*/ 836 w 1379"/>
              <a:gd name="T105" fmla="*/ 2465 h 2543"/>
              <a:gd name="T106" fmla="*/ 956 w 1379"/>
              <a:gd name="T107" fmla="*/ 2502 h 2543"/>
              <a:gd name="T108" fmla="*/ 1081 w 1379"/>
              <a:gd name="T109" fmla="*/ 2528 h 2543"/>
              <a:gd name="T110" fmla="*/ 1209 w 1379"/>
              <a:gd name="T111" fmla="*/ 2541 h 2543"/>
              <a:gd name="T112" fmla="*/ 1266 w 1379"/>
              <a:gd name="T113" fmla="*/ 1904 h 2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79" h="2543">
                <a:moveTo>
                  <a:pt x="1266" y="1904"/>
                </a:moveTo>
                <a:lnTo>
                  <a:pt x="1250" y="1904"/>
                </a:lnTo>
                <a:lnTo>
                  <a:pt x="1234" y="1903"/>
                </a:lnTo>
                <a:lnTo>
                  <a:pt x="1218" y="1901"/>
                </a:lnTo>
                <a:lnTo>
                  <a:pt x="1202" y="1900"/>
                </a:lnTo>
                <a:lnTo>
                  <a:pt x="1186" y="1897"/>
                </a:lnTo>
                <a:lnTo>
                  <a:pt x="1170" y="1895"/>
                </a:lnTo>
                <a:lnTo>
                  <a:pt x="1155" y="1892"/>
                </a:lnTo>
                <a:lnTo>
                  <a:pt x="1140" y="1889"/>
                </a:lnTo>
                <a:lnTo>
                  <a:pt x="1125" y="1885"/>
                </a:lnTo>
                <a:lnTo>
                  <a:pt x="1110" y="1881"/>
                </a:lnTo>
                <a:lnTo>
                  <a:pt x="1095" y="1877"/>
                </a:lnTo>
                <a:lnTo>
                  <a:pt x="1081" y="1872"/>
                </a:lnTo>
                <a:lnTo>
                  <a:pt x="1066" y="1867"/>
                </a:lnTo>
                <a:lnTo>
                  <a:pt x="1052" y="1861"/>
                </a:lnTo>
                <a:lnTo>
                  <a:pt x="1038" y="1856"/>
                </a:lnTo>
                <a:lnTo>
                  <a:pt x="1023" y="1850"/>
                </a:lnTo>
                <a:lnTo>
                  <a:pt x="995" y="1837"/>
                </a:lnTo>
                <a:lnTo>
                  <a:pt x="982" y="1830"/>
                </a:lnTo>
                <a:lnTo>
                  <a:pt x="969" y="1821"/>
                </a:lnTo>
                <a:lnTo>
                  <a:pt x="956" y="1814"/>
                </a:lnTo>
                <a:lnTo>
                  <a:pt x="943" y="1806"/>
                </a:lnTo>
                <a:lnTo>
                  <a:pt x="930" y="1798"/>
                </a:lnTo>
                <a:lnTo>
                  <a:pt x="918" y="1789"/>
                </a:lnTo>
                <a:lnTo>
                  <a:pt x="894" y="1772"/>
                </a:lnTo>
                <a:lnTo>
                  <a:pt x="882" y="1762"/>
                </a:lnTo>
                <a:lnTo>
                  <a:pt x="869" y="1753"/>
                </a:lnTo>
                <a:lnTo>
                  <a:pt x="858" y="1743"/>
                </a:lnTo>
                <a:lnTo>
                  <a:pt x="847" y="1733"/>
                </a:lnTo>
                <a:lnTo>
                  <a:pt x="836" y="1722"/>
                </a:lnTo>
                <a:lnTo>
                  <a:pt x="826" y="1712"/>
                </a:lnTo>
                <a:lnTo>
                  <a:pt x="805" y="1690"/>
                </a:lnTo>
                <a:lnTo>
                  <a:pt x="795" y="1679"/>
                </a:lnTo>
                <a:lnTo>
                  <a:pt x="786" y="1667"/>
                </a:lnTo>
                <a:lnTo>
                  <a:pt x="768" y="1642"/>
                </a:lnTo>
                <a:lnTo>
                  <a:pt x="759" y="1630"/>
                </a:lnTo>
                <a:lnTo>
                  <a:pt x="750" y="1618"/>
                </a:lnTo>
                <a:lnTo>
                  <a:pt x="734" y="1592"/>
                </a:lnTo>
                <a:lnTo>
                  <a:pt x="727" y="1579"/>
                </a:lnTo>
                <a:lnTo>
                  <a:pt x="720" y="1566"/>
                </a:lnTo>
                <a:lnTo>
                  <a:pt x="705" y="1539"/>
                </a:lnTo>
                <a:lnTo>
                  <a:pt x="699" y="1525"/>
                </a:lnTo>
                <a:lnTo>
                  <a:pt x="693" y="1511"/>
                </a:lnTo>
                <a:lnTo>
                  <a:pt x="687" y="1496"/>
                </a:lnTo>
                <a:lnTo>
                  <a:pt x="682" y="1482"/>
                </a:lnTo>
                <a:lnTo>
                  <a:pt x="677" y="1467"/>
                </a:lnTo>
                <a:lnTo>
                  <a:pt x="672" y="1452"/>
                </a:lnTo>
                <a:lnTo>
                  <a:pt x="668" y="1438"/>
                </a:lnTo>
                <a:lnTo>
                  <a:pt x="664" y="1423"/>
                </a:lnTo>
                <a:lnTo>
                  <a:pt x="660" y="1408"/>
                </a:lnTo>
                <a:lnTo>
                  <a:pt x="657" y="1393"/>
                </a:lnTo>
                <a:lnTo>
                  <a:pt x="652" y="1362"/>
                </a:lnTo>
                <a:lnTo>
                  <a:pt x="648" y="1329"/>
                </a:lnTo>
                <a:lnTo>
                  <a:pt x="646" y="1314"/>
                </a:lnTo>
                <a:lnTo>
                  <a:pt x="645" y="1298"/>
                </a:lnTo>
                <a:lnTo>
                  <a:pt x="645" y="1282"/>
                </a:lnTo>
                <a:lnTo>
                  <a:pt x="645" y="1266"/>
                </a:lnTo>
                <a:lnTo>
                  <a:pt x="645" y="1238"/>
                </a:lnTo>
                <a:lnTo>
                  <a:pt x="647" y="1210"/>
                </a:lnTo>
                <a:lnTo>
                  <a:pt x="648" y="1197"/>
                </a:lnTo>
                <a:lnTo>
                  <a:pt x="650" y="1182"/>
                </a:lnTo>
                <a:lnTo>
                  <a:pt x="654" y="1155"/>
                </a:lnTo>
                <a:lnTo>
                  <a:pt x="656" y="1142"/>
                </a:lnTo>
                <a:lnTo>
                  <a:pt x="659" y="1129"/>
                </a:lnTo>
                <a:lnTo>
                  <a:pt x="665" y="1103"/>
                </a:lnTo>
                <a:lnTo>
                  <a:pt x="673" y="1077"/>
                </a:lnTo>
                <a:lnTo>
                  <a:pt x="681" y="1052"/>
                </a:lnTo>
                <a:lnTo>
                  <a:pt x="686" y="1039"/>
                </a:lnTo>
                <a:lnTo>
                  <a:pt x="690" y="1026"/>
                </a:lnTo>
                <a:lnTo>
                  <a:pt x="701" y="1002"/>
                </a:lnTo>
                <a:lnTo>
                  <a:pt x="712" y="978"/>
                </a:lnTo>
                <a:lnTo>
                  <a:pt x="725" y="955"/>
                </a:lnTo>
                <a:lnTo>
                  <a:pt x="739" y="932"/>
                </a:lnTo>
                <a:lnTo>
                  <a:pt x="753" y="910"/>
                </a:lnTo>
                <a:lnTo>
                  <a:pt x="760" y="900"/>
                </a:lnTo>
                <a:lnTo>
                  <a:pt x="768" y="889"/>
                </a:lnTo>
                <a:lnTo>
                  <a:pt x="783" y="867"/>
                </a:lnTo>
                <a:lnTo>
                  <a:pt x="800" y="847"/>
                </a:lnTo>
                <a:lnTo>
                  <a:pt x="817" y="828"/>
                </a:lnTo>
                <a:lnTo>
                  <a:pt x="836" y="810"/>
                </a:lnTo>
                <a:lnTo>
                  <a:pt x="854" y="792"/>
                </a:lnTo>
                <a:lnTo>
                  <a:pt x="874" y="775"/>
                </a:lnTo>
                <a:lnTo>
                  <a:pt x="895" y="759"/>
                </a:lnTo>
                <a:lnTo>
                  <a:pt x="906" y="751"/>
                </a:lnTo>
                <a:lnTo>
                  <a:pt x="916" y="743"/>
                </a:lnTo>
                <a:lnTo>
                  <a:pt x="938" y="729"/>
                </a:lnTo>
                <a:lnTo>
                  <a:pt x="960" y="715"/>
                </a:lnTo>
                <a:lnTo>
                  <a:pt x="971" y="707"/>
                </a:lnTo>
                <a:lnTo>
                  <a:pt x="983" y="701"/>
                </a:lnTo>
                <a:lnTo>
                  <a:pt x="1006" y="689"/>
                </a:lnTo>
                <a:lnTo>
                  <a:pt x="1030" y="678"/>
                </a:lnTo>
                <a:lnTo>
                  <a:pt x="1056" y="668"/>
                </a:lnTo>
                <a:lnTo>
                  <a:pt x="1068" y="664"/>
                </a:lnTo>
                <a:lnTo>
                  <a:pt x="1081" y="659"/>
                </a:lnTo>
                <a:lnTo>
                  <a:pt x="1106" y="651"/>
                </a:lnTo>
                <a:lnTo>
                  <a:pt x="1132" y="645"/>
                </a:lnTo>
                <a:lnTo>
                  <a:pt x="1379" y="313"/>
                </a:lnTo>
                <a:lnTo>
                  <a:pt x="1135" y="0"/>
                </a:lnTo>
                <a:lnTo>
                  <a:pt x="1105" y="3"/>
                </a:lnTo>
                <a:lnTo>
                  <a:pt x="1076" y="7"/>
                </a:lnTo>
                <a:lnTo>
                  <a:pt x="1046" y="12"/>
                </a:lnTo>
                <a:lnTo>
                  <a:pt x="1016" y="18"/>
                </a:lnTo>
                <a:lnTo>
                  <a:pt x="988" y="24"/>
                </a:lnTo>
                <a:lnTo>
                  <a:pt x="959" y="31"/>
                </a:lnTo>
                <a:lnTo>
                  <a:pt x="931" y="39"/>
                </a:lnTo>
                <a:lnTo>
                  <a:pt x="903" y="47"/>
                </a:lnTo>
                <a:lnTo>
                  <a:pt x="874" y="56"/>
                </a:lnTo>
                <a:lnTo>
                  <a:pt x="847" y="65"/>
                </a:lnTo>
                <a:lnTo>
                  <a:pt x="820" y="76"/>
                </a:lnTo>
                <a:lnTo>
                  <a:pt x="793" y="87"/>
                </a:lnTo>
                <a:lnTo>
                  <a:pt x="766" y="98"/>
                </a:lnTo>
                <a:lnTo>
                  <a:pt x="740" y="109"/>
                </a:lnTo>
                <a:lnTo>
                  <a:pt x="713" y="122"/>
                </a:lnTo>
                <a:lnTo>
                  <a:pt x="688" y="135"/>
                </a:lnTo>
                <a:lnTo>
                  <a:pt x="663" y="148"/>
                </a:lnTo>
                <a:lnTo>
                  <a:pt x="638" y="162"/>
                </a:lnTo>
                <a:lnTo>
                  <a:pt x="613" y="177"/>
                </a:lnTo>
                <a:lnTo>
                  <a:pt x="589" y="192"/>
                </a:lnTo>
                <a:lnTo>
                  <a:pt x="565" y="207"/>
                </a:lnTo>
                <a:lnTo>
                  <a:pt x="541" y="223"/>
                </a:lnTo>
                <a:lnTo>
                  <a:pt x="518" y="241"/>
                </a:lnTo>
                <a:lnTo>
                  <a:pt x="495" y="258"/>
                </a:lnTo>
                <a:lnTo>
                  <a:pt x="473" y="276"/>
                </a:lnTo>
                <a:lnTo>
                  <a:pt x="451" y="294"/>
                </a:lnTo>
                <a:lnTo>
                  <a:pt x="430" y="312"/>
                </a:lnTo>
                <a:lnTo>
                  <a:pt x="409" y="331"/>
                </a:lnTo>
                <a:lnTo>
                  <a:pt x="387" y="351"/>
                </a:lnTo>
                <a:lnTo>
                  <a:pt x="367" y="371"/>
                </a:lnTo>
                <a:lnTo>
                  <a:pt x="347" y="392"/>
                </a:lnTo>
                <a:lnTo>
                  <a:pt x="328" y="413"/>
                </a:lnTo>
                <a:lnTo>
                  <a:pt x="309" y="434"/>
                </a:lnTo>
                <a:lnTo>
                  <a:pt x="291" y="456"/>
                </a:lnTo>
                <a:lnTo>
                  <a:pt x="273" y="478"/>
                </a:lnTo>
                <a:lnTo>
                  <a:pt x="256" y="500"/>
                </a:lnTo>
                <a:lnTo>
                  <a:pt x="238" y="523"/>
                </a:lnTo>
                <a:lnTo>
                  <a:pt x="222" y="546"/>
                </a:lnTo>
                <a:lnTo>
                  <a:pt x="206" y="571"/>
                </a:lnTo>
                <a:lnTo>
                  <a:pt x="191" y="595"/>
                </a:lnTo>
                <a:lnTo>
                  <a:pt x="176" y="619"/>
                </a:lnTo>
                <a:lnTo>
                  <a:pt x="162" y="644"/>
                </a:lnTo>
                <a:lnTo>
                  <a:pt x="148" y="669"/>
                </a:lnTo>
                <a:lnTo>
                  <a:pt x="135" y="695"/>
                </a:lnTo>
                <a:lnTo>
                  <a:pt x="122" y="721"/>
                </a:lnTo>
                <a:lnTo>
                  <a:pt x="110" y="747"/>
                </a:lnTo>
                <a:lnTo>
                  <a:pt x="99" y="774"/>
                </a:lnTo>
                <a:lnTo>
                  <a:pt x="88" y="800"/>
                </a:lnTo>
                <a:lnTo>
                  <a:pt x="77" y="827"/>
                </a:lnTo>
                <a:lnTo>
                  <a:pt x="67" y="855"/>
                </a:lnTo>
                <a:lnTo>
                  <a:pt x="58" y="883"/>
                </a:lnTo>
                <a:lnTo>
                  <a:pt x="50" y="911"/>
                </a:lnTo>
                <a:lnTo>
                  <a:pt x="42" y="939"/>
                </a:lnTo>
                <a:lnTo>
                  <a:pt x="35" y="968"/>
                </a:lnTo>
                <a:lnTo>
                  <a:pt x="28" y="996"/>
                </a:lnTo>
                <a:lnTo>
                  <a:pt x="23" y="1025"/>
                </a:lnTo>
                <a:lnTo>
                  <a:pt x="17" y="1055"/>
                </a:lnTo>
                <a:lnTo>
                  <a:pt x="13" y="1084"/>
                </a:lnTo>
                <a:lnTo>
                  <a:pt x="9" y="1114"/>
                </a:lnTo>
                <a:lnTo>
                  <a:pt x="6" y="1144"/>
                </a:lnTo>
                <a:lnTo>
                  <a:pt x="3" y="1174"/>
                </a:lnTo>
                <a:lnTo>
                  <a:pt x="2" y="1205"/>
                </a:lnTo>
                <a:lnTo>
                  <a:pt x="0" y="1235"/>
                </a:lnTo>
                <a:lnTo>
                  <a:pt x="0" y="1266"/>
                </a:lnTo>
                <a:lnTo>
                  <a:pt x="1" y="1298"/>
                </a:lnTo>
                <a:lnTo>
                  <a:pt x="2" y="1331"/>
                </a:lnTo>
                <a:lnTo>
                  <a:pt x="4" y="1364"/>
                </a:lnTo>
                <a:lnTo>
                  <a:pt x="7" y="1396"/>
                </a:lnTo>
                <a:lnTo>
                  <a:pt x="10" y="1428"/>
                </a:lnTo>
                <a:lnTo>
                  <a:pt x="15" y="1459"/>
                </a:lnTo>
                <a:lnTo>
                  <a:pt x="20" y="1491"/>
                </a:lnTo>
                <a:lnTo>
                  <a:pt x="26" y="1523"/>
                </a:lnTo>
                <a:lnTo>
                  <a:pt x="33" y="1553"/>
                </a:lnTo>
                <a:lnTo>
                  <a:pt x="40" y="1584"/>
                </a:lnTo>
                <a:lnTo>
                  <a:pt x="48" y="1614"/>
                </a:lnTo>
                <a:lnTo>
                  <a:pt x="57" y="1644"/>
                </a:lnTo>
                <a:lnTo>
                  <a:pt x="67" y="1674"/>
                </a:lnTo>
                <a:lnTo>
                  <a:pt x="77" y="1704"/>
                </a:lnTo>
                <a:lnTo>
                  <a:pt x="89" y="1733"/>
                </a:lnTo>
                <a:lnTo>
                  <a:pt x="101" y="1761"/>
                </a:lnTo>
                <a:lnTo>
                  <a:pt x="113" y="1789"/>
                </a:lnTo>
                <a:lnTo>
                  <a:pt x="126" y="1817"/>
                </a:lnTo>
                <a:lnTo>
                  <a:pt x="140" y="1846"/>
                </a:lnTo>
                <a:lnTo>
                  <a:pt x="154" y="1873"/>
                </a:lnTo>
                <a:lnTo>
                  <a:pt x="169" y="1900"/>
                </a:lnTo>
                <a:lnTo>
                  <a:pt x="185" y="1926"/>
                </a:lnTo>
                <a:lnTo>
                  <a:pt x="201" y="1952"/>
                </a:lnTo>
                <a:lnTo>
                  <a:pt x="218" y="1977"/>
                </a:lnTo>
                <a:lnTo>
                  <a:pt x="235" y="2003"/>
                </a:lnTo>
                <a:lnTo>
                  <a:pt x="254" y="2028"/>
                </a:lnTo>
                <a:lnTo>
                  <a:pt x="273" y="2052"/>
                </a:lnTo>
                <a:lnTo>
                  <a:pt x="292" y="2076"/>
                </a:lnTo>
                <a:lnTo>
                  <a:pt x="311" y="2099"/>
                </a:lnTo>
                <a:lnTo>
                  <a:pt x="332" y="2122"/>
                </a:lnTo>
                <a:lnTo>
                  <a:pt x="352" y="2145"/>
                </a:lnTo>
                <a:lnTo>
                  <a:pt x="374" y="2167"/>
                </a:lnTo>
                <a:lnTo>
                  <a:pt x="395" y="2188"/>
                </a:lnTo>
                <a:lnTo>
                  <a:pt x="419" y="2209"/>
                </a:lnTo>
                <a:lnTo>
                  <a:pt x="441" y="2229"/>
                </a:lnTo>
                <a:lnTo>
                  <a:pt x="464" y="2249"/>
                </a:lnTo>
                <a:lnTo>
                  <a:pt x="488" y="2268"/>
                </a:lnTo>
                <a:lnTo>
                  <a:pt x="512" y="2287"/>
                </a:lnTo>
                <a:lnTo>
                  <a:pt x="537" y="2306"/>
                </a:lnTo>
                <a:lnTo>
                  <a:pt x="563" y="2323"/>
                </a:lnTo>
                <a:lnTo>
                  <a:pt x="588" y="2340"/>
                </a:lnTo>
                <a:lnTo>
                  <a:pt x="614" y="2356"/>
                </a:lnTo>
                <a:lnTo>
                  <a:pt x="641" y="2372"/>
                </a:lnTo>
                <a:lnTo>
                  <a:pt x="667" y="2387"/>
                </a:lnTo>
                <a:lnTo>
                  <a:pt x="694" y="2401"/>
                </a:lnTo>
                <a:lnTo>
                  <a:pt x="723" y="2415"/>
                </a:lnTo>
                <a:lnTo>
                  <a:pt x="751" y="2428"/>
                </a:lnTo>
                <a:lnTo>
                  <a:pt x="779" y="2441"/>
                </a:lnTo>
                <a:lnTo>
                  <a:pt x="808" y="2452"/>
                </a:lnTo>
                <a:lnTo>
                  <a:pt x="836" y="2465"/>
                </a:lnTo>
                <a:lnTo>
                  <a:pt x="866" y="2475"/>
                </a:lnTo>
                <a:lnTo>
                  <a:pt x="896" y="2485"/>
                </a:lnTo>
                <a:lnTo>
                  <a:pt x="926" y="2494"/>
                </a:lnTo>
                <a:lnTo>
                  <a:pt x="956" y="2502"/>
                </a:lnTo>
                <a:lnTo>
                  <a:pt x="987" y="2510"/>
                </a:lnTo>
                <a:lnTo>
                  <a:pt x="1017" y="2516"/>
                </a:lnTo>
                <a:lnTo>
                  <a:pt x="1049" y="2522"/>
                </a:lnTo>
                <a:lnTo>
                  <a:pt x="1081" y="2528"/>
                </a:lnTo>
                <a:lnTo>
                  <a:pt x="1112" y="2532"/>
                </a:lnTo>
                <a:lnTo>
                  <a:pt x="1144" y="2536"/>
                </a:lnTo>
                <a:lnTo>
                  <a:pt x="1176" y="2539"/>
                </a:lnTo>
                <a:lnTo>
                  <a:pt x="1209" y="2541"/>
                </a:lnTo>
                <a:lnTo>
                  <a:pt x="1241" y="2543"/>
                </a:lnTo>
                <a:lnTo>
                  <a:pt x="1274" y="2543"/>
                </a:lnTo>
                <a:lnTo>
                  <a:pt x="1039" y="2206"/>
                </a:lnTo>
                <a:lnTo>
                  <a:pt x="1266" y="1904"/>
                </a:lnTo>
                <a:close/>
              </a:path>
            </a:pathLst>
          </a:cu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 name="标题 1"/>
          <p:cNvSpPr>
            <a:spLocks noGrp="1"/>
          </p:cNvSpPr>
          <p:nvPr>
            <p:ph type="title"/>
          </p:nvPr>
        </p:nvSpPr>
        <p:spPr/>
        <p:txBody>
          <a:bodyPr/>
          <a:lstStyle/>
          <a:p>
            <a:r>
              <a:rPr lang="zh-CN" altLang="en-US" dirty="0"/>
              <a:t>电源管理系统</a:t>
            </a:r>
          </a:p>
        </p:txBody>
      </p:sp>
      <p:sp>
        <p:nvSpPr>
          <p:cNvPr id="14" name="AutoShape 4"/>
          <p:cNvSpPr>
            <a:spLocks noChangeArrowheads="1"/>
          </p:cNvSpPr>
          <p:nvPr/>
        </p:nvSpPr>
        <p:spPr bwMode="auto">
          <a:xfrm>
            <a:off x="1398635" y="1774027"/>
            <a:ext cx="3595687" cy="3111500"/>
          </a:xfrm>
          <a:prstGeom prst="homePlate">
            <a:avLst>
              <a:gd name="adj" fmla="val 9347"/>
            </a:avLst>
          </a:prstGeom>
          <a:solidFill>
            <a:schemeClr val="bg1"/>
          </a:solidFill>
          <a:ln w="6350">
            <a:solidFill>
              <a:schemeClr val="tx1">
                <a:lumMod val="60000"/>
                <a:lumOff val="40000"/>
              </a:schemeClr>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endParaRPr lang="zh-CN" altLang="en-US" dirty="0"/>
          </a:p>
        </p:txBody>
      </p:sp>
      <p:sp>
        <p:nvSpPr>
          <p:cNvPr id="16" name="Rectangle 6"/>
          <p:cNvSpPr>
            <a:spLocks noChangeArrowheads="1"/>
          </p:cNvSpPr>
          <p:nvPr/>
        </p:nvSpPr>
        <p:spPr bwMode="auto">
          <a:xfrm>
            <a:off x="1397047" y="1271278"/>
            <a:ext cx="3303588" cy="438150"/>
          </a:xfrm>
          <a:prstGeom prst="rect">
            <a:avLst/>
          </a:prstGeom>
          <a:solidFill>
            <a:schemeClr val="accent1"/>
          </a:solidFill>
          <a:ln>
            <a:solidFill>
              <a:schemeClr val="accent1"/>
            </a:solidFill>
          </a:ln>
          <a:effectLst/>
        </p:spPr>
        <p:txBody>
          <a:bodyPr lIns="0" tIns="0" rIns="0" bIns="0" anchor="ctr">
            <a:spAutoFit/>
          </a:bodyPr>
          <a:lstStyle/>
          <a:p>
            <a:endParaRPr lang="zh-CN" altLang="en-US"/>
          </a:p>
        </p:txBody>
      </p:sp>
      <p:sp>
        <p:nvSpPr>
          <p:cNvPr id="18" name="AutoShape 8"/>
          <p:cNvSpPr>
            <a:spLocks noChangeArrowheads="1"/>
          </p:cNvSpPr>
          <p:nvPr/>
        </p:nvSpPr>
        <p:spPr bwMode="auto">
          <a:xfrm flipH="1">
            <a:off x="6338935" y="1803091"/>
            <a:ext cx="3595687" cy="3111500"/>
          </a:xfrm>
          <a:prstGeom prst="homePlate">
            <a:avLst>
              <a:gd name="adj" fmla="val 9347"/>
            </a:avLst>
          </a:prstGeom>
          <a:solidFill>
            <a:schemeClr val="bg1"/>
          </a:solidFill>
          <a:ln w="6350">
            <a:solidFill>
              <a:schemeClr val="tx1">
                <a:lumMod val="60000"/>
                <a:lumOff val="40000"/>
              </a:schemeClr>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endParaRPr lang="zh-CN" altLang="en-US" dirty="0"/>
          </a:p>
        </p:txBody>
      </p:sp>
      <p:sp>
        <p:nvSpPr>
          <p:cNvPr id="20" name="Rectangle 10"/>
          <p:cNvSpPr>
            <a:spLocks noChangeArrowheads="1"/>
          </p:cNvSpPr>
          <p:nvPr/>
        </p:nvSpPr>
        <p:spPr bwMode="auto">
          <a:xfrm flipH="1">
            <a:off x="6621510" y="1271278"/>
            <a:ext cx="3303587" cy="438150"/>
          </a:xfrm>
          <a:prstGeom prst="rect">
            <a:avLst/>
          </a:prstGeom>
          <a:solidFill>
            <a:schemeClr val="accent1"/>
          </a:solidFill>
          <a:ln>
            <a:solidFill>
              <a:schemeClr val="accent1"/>
            </a:solidFill>
          </a:ln>
          <a:effectLst/>
        </p:spPr>
        <p:txBody>
          <a:bodyPr lIns="0" tIns="0" rIns="0" bIns="0" anchor="ctr">
            <a:spAutoFit/>
          </a:bodyPr>
          <a:lstStyle/>
          <a:p>
            <a:endParaRPr lang="zh-CN" altLang="en-US"/>
          </a:p>
        </p:txBody>
      </p:sp>
      <p:sp>
        <p:nvSpPr>
          <p:cNvPr id="27" name="文本框 26"/>
          <p:cNvSpPr txBox="1"/>
          <p:nvPr/>
        </p:nvSpPr>
        <p:spPr>
          <a:xfrm>
            <a:off x="1525647" y="1863049"/>
            <a:ext cx="3197435" cy="680507"/>
          </a:xfrm>
          <a:prstGeom prst="rect">
            <a:avLst/>
          </a:prstGeom>
          <a:noFill/>
        </p:spPr>
        <p:txBody>
          <a:bodyPr wrap="square" rtlCol="0">
            <a:spAutoFit/>
          </a:bodyPr>
          <a:lstStyle/>
          <a:p>
            <a:pPr algn="just">
              <a:lnSpc>
                <a:spcPct val="110000"/>
              </a:lnSpc>
            </a:pPr>
            <a:r>
              <a:rPr lang="zh-CN" altLang="zh-CN" dirty="0">
                <a:latin typeface="微软雅黑" panose="020B0503020204020204" pitchFamily="34" charset="-122"/>
                <a:ea typeface="微软雅黑" panose="020B0503020204020204" pitchFamily="34" charset="-122"/>
              </a:rPr>
              <a:t>电池供电</a:t>
            </a:r>
            <a:r>
              <a:rPr lang="zh-CN" altLang="en-US" dirty="0">
                <a:latin typeface="微软雅黑" panose="020B0503020204020204" pitchFamily="34" charset="-122"/>
                <a:ea typeface="微软雅黑" panose="020B0503020204020204" pitchFamily="34" charset="-122"/>
              </a:rPr>
              <a:t>与</a:t>
            </a:r>
            <a:r>
              <a:rPr lang="zh-CN" altLang="zh-CN" dirty="0">
                <a:latin typeface="微软雅黑" panose="020B0503020204020204" pitchFamily="34" charset="-122"/>
                <a:ea typeface="微软雅黑" panose="020B0503020204020204" pitchFamily="34" charset="-122"/>
              </a:rPr>
              <a:t>自动充电结合</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控制系统实时监控</a:t>
            </a:r>
            <a:r>
              <a:rPr lang="zh-CN" altLang="en-US" dirty="0">
                <a:latin typeface="微软雅黑" panose="020B0503020204020204" pitchFamily="34" charset="-122"/>
                <a:ea typeface="微软雅黑" panose="020B0503020204020204" pitchFamily="34" charset="-122"/>
              </a:rPr>
              <a:t>其</a:t>
            </a:r>
            <a:r>
              <a:rPr lang="zh-CN" altLang="zh-CN" dirty="0">
                <a:latin typeface="微软雅黑" panose="020B0503020204020204" pitchFamily="34" charset="-122"/>
                <a:ea typeface="微软雅黑" panose="020B0503020204020204" pitchFamily="34" charset="-122"/>
              </a:rPr>
              <a:t>电量状态</a:t>
            </a:r>
            <a:r>
              <a:rPr lang="zh-CN" altLang="en-US" dirty="0">
                <a:latin typeface="微软雅黑" panose="020B0503020204020204" pitchFamily="34" charset="-122"/>
                <a:ea typeface="微软雅黑" panose="020B0503020204020204" pitchFamily="34" charset="-122"/>
              </a:rPr>
              <a:t>。</a:t>
            </a:r>
            <a:endParaRPr lang="zh-CN" altLang="en-US" sz="1400" dirty="0">
              <a:solidFill>
                <a:schemeClr val="tx1">
                  <a:lumMod val="60000"/>
                  <a:lumOff val="40000"/>
                </a:schemeClr>
              </a:solidFill>
              <a:latin typeface="微软雅黑" panose="020B0503020204020204" pitchFamily="34" charset="-122"/>
              <a:ea typeface="微软雅黑" panose="020B0503020204020204" pitchFamily="34" charset="-122"/>
              <a:cs typeface="Arial" pitchFamily="34" charset="0"/>
            </a:endParaRPr>
          </a:p>
        </p:txBody>
      </p:sp>
      <p:sp>
        <p:nvSpPr>
          <p:cNvPr id="36" name="文本框 35"/>
          <p:cNvSpPr txBox="1"/>
          <p:nvPr/>
        </p:nvSpPr>
        <p:spPr>
          <a:xfrm>
            <a:off x="2165593" y="3378157"/>
            <a:ext cx="2160000" cy="3600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just">
              <a:lnSpc>
                <a:spcPct val="110000"/>
              </a:lnSpc>
            </a:pPr>
            <a:r>
              <a:rPr lang="zh-CN" altLang="zh-CN" dirty="0"/>
              <a:t>安装工作量较小</a:t>
            </a:r>
            <a:r>
              <a:rPr lang="en-US" altLang="zh-CN" dirty="0"/>
              <a:t> </a:t>
            </a:r>
            <a:endParaRPr lang="zh-CN" altLang="en-US" sz="1400" dirty="0">
              <a:solidFill>
                <a:schemeClr val="tx1">
                  <a:lumMod val="60000"/>
                  <a:lumOff val="40000"/>
                </a:schemeClr>
              </a:solidFill>
              <a:latin typeface="华文细黑" panose="02010600040101010101" pitchFamily="2" charset="-122"/>
              <a:ea typeface="华文细黑" panose="02010600040101010101" pitchFamily="2" charset="-122"/>
              <a:cs typeface="Arial" pitchFamily="34" charset="0"/>
            </a:endParaRPr>
          </a:p>
        </p:txBody>
      </p:sp>
      <p:sp>
        <p:nvSpPr>
          <p:cNvPr id="40" name="文本框 39"/>
          <p:cNvSpPr txBox="1"/>
          <p:nvPr/>
        </p:nvSpPr>
        <p:spPr>
          <a:xfrm>
            <a:off x="6702283" y="1910342"/>
            <a:ext cx="2932784" cy="646331"/>
          </a:xfrm>
          <a:prstGeom prst="rect">
            <a:avLst/>
          </a:prstGeom>
          <a:noFill/>
        </p:spPr>
        <p:txBody>
          <a:bodyPr wrap="square" rtlCol="0">
            <a:spAutoFit/>
          </a:bodyPr>
          <a:lstStyle/>
          <a:p>
            <a:r>
              <a:rPr lang="zh-CN" altLang="zh-CN" dirty="0">
                <a:latin typeface="微软雅黑" panose="020B0503020204020204" pitchFamily="34" charset="-122"/>
                <a:ea typeface="微软雅黑" panose="020B0503020204020204" pitchFamily="34" charset="-122"/>
              </a:rPr>
              <a:t>沿轨道铺设滑触线，机器人携带碳刷与滑触线接触取电。</a:t>
            </a:r>
            <a:endParaRPr lang="en-US" altLang="zh-CN" dirty="0">
              <a:solidFill>
                <a:schemeClr val="accent1"/>
              </a:solidFill>
              <a:latin typeface="微软雅黑" panose="020B0503020204020204" pitchFamily="34" charset="-122"/>
              <a:ea typeface="微软雅黑" panose="020B0503020204020204" pitchFamily="34" charset="-122"/>
              <a:cs typeface="Arial" pitchFamily="34" charset="0"/>
            </a:endParaRPr>
          </a:p>
        </p:txBody>
      </p:sp>
      <p:sp>
        <p:nvSpPr>
          <p:cNvPr id="51" name="文本框 50"/>
          <p:cNvSpPr txBox="1"/>
          <p:nvPr/>
        </p:nvSpPr>
        <p:spPr>
          <a:xfrm>
            <a:off x="2256445" y="1314718"/>
            <a:ext cx="1613820" cy="369332"/>
          </a:xfrm>
          <a:prstGeom prst="rect">
            <a:avLst/>
          </a:prstGeom>
          <a:noFill/>
        </p:spPr>
        <p:txBody>
          <a:bodyPr wrap="square" rtlCol="0">
            <a:spAutoFit/>
          </a:bodyPr>
          <a:lstStyle/>
          <a:p>
            <a:r>
              <a:rPr lang="zh-CN" altLang="en-US" dirty="0">
                <a:solidFill>
                  <a:schemeClr val="bg1"/>
                </a:solidFill>
                <a:latin typeface="华文细黑" panose="02010600040101010101" pitchFamily="2" charset="-122"/>
                <a:ea typeface="华文细黑" panose="02010600040101010101" pitchFamily="2" charset="-122"/>
                <a:cs typeface="Arial" pitchFamily="34" charset="0"/>
              </a:rPr>
              <a:t>电池供电</a:t>
            </a: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sp>
        <p:nvSpPr>
          <p:cNvPr id="52" name="文本框 51"/>
          <p:cNvSpPr txBox="1"/>
          <p:nvPr/>
        </p:nvSpPr>
        <p:spPr>
          <a:xfrm>
            <a:off x="7521083" y="1314718"/>
            <a:ext cx="1613820" cy="369332"/>
          </a:xfrm>
          <a:prstGeom prst="rect">
            <a:avLst/>
          </a:prstGeom>
          <a:noFill/>
        </p:spPr>
        <p:txBody>
          <a:bodyPr wrap="square" rtlCol="0">
            <a:spAutoFit/>
          </a:bodyPr>
          <a:lstStyle/>
          <a:p>
            <a:r>
              <a:rPr lang="zh-CN" altLang="zh-CN" dirty="0">
                <a:solidFill>
                  <a:schemeClr val="bg1"/>
                </a:solidFill>
                <a:latin typeface="微软雅黑" panose="020B0503020204020204" pitchFamily="34" charset="-122"/>
                <a:ea typeface="微软雅黑" panose="020B0503020204020204" pitchFamily="34" charset="-122"/>
              </a:rPr>
              <a:t>滑触线供电</a:t>
            </a:r>
            <a:endParaRPr lang="en-US" altLang="zh-CN" dirty="0">
              <a:solidFill>
                <a:schemeClr val="bg1"/>
              </a:solidFill>
              <a:latin typeface="微软雅黑" panose="020B0503020204020204" pitchFamily="34" charset="-122"/>
              <a:ea typeface="微软雅黑" panose="020B0503020204020204" pitchFamily="34" charset="-122"/>
              <a:cs typeface="Arial" pitchFamily="34" charset="0"/>
            </a:endParaRPr>
          </a:p>
        </p:txBody>
      </p:sp>
      <p:sp>
        <p:nvSpPr>
          <p:cNvPr id="3" name="文本框 2">
            <a:extLst>
              <a:ext uri="{FF2B5EF4-FFF2-40B4-BE49-F238E27FC236}">
                <a16:creationId xmlns:a16="http://schemas.microsoft.com/office/drawing/2014/main" id="{20F7A69F-10F8-C3EE-794B-615F8BFF3092}"/>
              </a:ext>
            </a:extLst>
          </p:cNvPr>
          <p:cNvSpPr txBox="1"/>
          <p:nvPr/>
        </p:nvSpPr>
        <p:spPr>
          <a:xfrm>
            <a:off x="5435796" y="2870199"/>
            <a:ext cx="461665" cy="1092200"/>
          </a:xfrm>
          <a:prstGeom prst="rect">
            <a:avLst/>
          </a:prstGeom>
          <a:noFill/>
        </p:spPr>
        <p:txBody>
          <a:bodyPr vert="eaVert" wrap="square" rtlCol="0">
            <a:spAutoFit/>
          </a:bodyPr>
          <a:lstStyle/>
          <a:p>
            <a:r>
              <a:rPr lang="zh-CN" altLang="en-US" dirty="0">
                <a:solidFill>
                  <a:srgbClr val="AB3341"/>
                </a:solidFill>
              </a:rPr>
              <a:t>电源方案</a:t>
            </a:r>
          </a:p>
        </p:txBody>
      </p:sp>
      <p:sp>
        <p:nvSpPr>
          <p:cNvPr id="5" name="文本框 4">
            <a:extLst>
              <a:ext uri="{FF2B5EF4-FFF2-40B4-BE49-F238E27FC236}">
                <a16:creationId xmlns:a16="http://schemas.microsoft.com/office/drawing/2014/main" id="{26ABC7DE-77AD-0C61-BC6B-8CBFE37BA454}"/>
              </a:ext>
            </a:extLst>
          </p:cNvPr>
          <p:cNvSpPr txBox="1"/>
          <p:nvPr/>
        </p:nvSpPr>
        <p:spPr>
          <a:xfrm>
            <a:off x="2178298" y="3840406"/>
            <a:ext cx="2160000" cy="3600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不占用作业空间</a:t>
            </a:r>
            <a:endParaRPr lang="zh-CN" altLang="en-US" dirty="0"/>
          </a:p>
        </p:txBody>
      </p:sp>
      <p:sp>
        <p:nvSpPr>
          <p:cNvPr id="7" name="文本框 6">
            <a:extLst>
              <a:ext uri="{FF2B5EF4-FFF2-40B4-BE49-F238E27FC236}">
                <a16:creationId xmlns:a16="http://schemas.microsoft.com/office/drawing/2014/main" id="{9E6C5285-F2C0-1F2C-33DF-09C663C8A46F}"/>
              </a:ext>
            </a:extLst>
          </p:cNvPr>
          <p:cNvSpPr txBox="1"/>
          <p:nvPr/>
        </p:nvSpPr>
        <p:spPr>
          <a:xfrm>
            <a:off x="2178298" y="4325432"/>
            <a:ext cx="2160000" cy="360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电池老化</a:t>
            </a:r>
            <a:endParaRPr lang="zh-CN" altLang="en-US" dirty="0"/>
          </a:p>
        </p:txBody>
      </p:sp>
      <p:sp>
        <p:nvSpPr>
          <p:cNvPr id="9" name="文本框 8">
            <a:extLst>
              <a:ext uri="{FF2B5EF4-FFF2-40B4-BE49-F238E27FC236}">
                <a16:creationId xmlns:a16="http://schemas.microsoft.com/office/drawing/2014/main" id="{7F00D860-336F-D3AA-BDD3-074A57D40AF1}"/>
              </a:ext>
            </a:extLst>
          </p:cNvPr>
          <p:cNvSpPr txBox="1"/>
          <p:nvPr/>
        </p:nvSpPr>
        <p:spPr>
          <a:xfrm>
            <a:off x="7343868" y="4325432"/>
            <a:ext cx="21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建设</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成本</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高</a:t>
            </a:r>
            <a:endParaRPr lang="zh-CN" altLang="en-US" dirty="0"/>
          </a:p>
        </p:txBody>
      </p:sp>
      <p:sp>
        <p:nvSpPr>
          <p:cNvPr id="13" name="文本框 12">
            <a:extLst>
              <a:ext uri="{FF2B5EF4-FFF2-40B4-BE49-F238E27FC236}">
                <a16:creationId xmlns:a16="http://schemas.microsoft.com/office/drawing/2014/main" id="{043FF844-8029-647F-9798-CAD5294DA2F6}"/>
              </a:ext>
            </a:extLst>
          </p:cNvPr>
          <p:cNvSpPr txBox="1"/>
          <p:nvPr/>
        </p:nvSpPr>
        <p:spPr>
          <a:xfrm>
            <a:off x="7343868" y="3871769"/>
            <a:ext cx="21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占用作业空间</a:t>
            </a:r>
            <a:endParaRPr lang="zh-CN" altLang="en-US" dirty="0"/>
          </a:p>
        </p:txBody>
      </p:sp>
      <p:sp>
        <p:nvSpPr>
          <p:cNvPr id="15" name="文本框 14">
            <a:extLst>
              <a:ext uri="{FF2B5EF4-FFF2-40B4-BE49-F238E27FC236}">
                <a16:creationId xmlns:a16="http://schemas.microsoft.com/office/drawing/2014/main" id="{730709A8-FE5F-9129-D916-23D27D9C5974}"/>
              </a:ext>
            </a:extLst>
          </p:cNvPr>
          <p:cNvSpPr txBox="1"/>
          <p:nvPr/>
        </p:nvSpPr>
        <p:spPr>
          <a:xfrm>
            <a:off x="7343868" y="3405460"/>
            <a:ext cx="2160000" cy="3600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一次建设长期受益</a:t>
            </a:r>
            <a:endParaRPr lang="zh-CN" altLang="en-US" dirty="0"/>
          </a:p>
        </p:txBody>
      </p:sp>
      <p:sp>
        <p:nvSpPr>
          <p:cNvPr id="19" name="箭头: 下 18">
            <a:extLst>
              <a:ext uri="{FF2B5EF4-FFF2-40B4-BE49-F238E27FC236}">
                <a16:creationId xmlns:a16="http://schemas.microsoft.com/office/drawing/2014/main" id="{9138A53E-4F38-0A1B-9063-F8D35218CE8F}"/>
              </a:ext>
            </a:extLst>
          </p:cNvPr>
          <p:cNvSpPr/>
          <p:nvPr/>
        </p:nvSpPr>
        <p:spPr>
          <a:xfrm>
            <a:off x="5377554" y="4885527"/>
            <a:ext cx="522335" cy="1066800"/>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A9AB4E8E-B70C-1B41-28FF-14D4C9EEB3F9}"/>
              </a:ext>
            </a:extLst>
          </p:cNvPr>
          <p:cNvSpPr txBox="1"/>
          <p:nvPr/>
        </p:nvSpPr>
        <p:spPr>
          <a:xfrm>
            <a:off x="5083672" y="6083920"/>
            <a:ext cx="1165912" cy="369332"/>
          </a:xfrm>
          <a:prstGeom prst="rect">
            <a:avLst/>
          </a:prstGeom>
          <a:noFill/>
        </p:spPr>
        <p:txBody>
          <a:bodyPr wrap="square">
            <a:spAutoFit/>
          </a:bodyPr>
          <a:lstStyle/>
          <a:p>
            <a:r>
              <a:rPr lang="zh-CN" altLang="en-US" dirty="0">
                <a:solidFill>
                  <a:srgbClr val="AB3341"/>
                </a:solidFill>
                <a:latin typeface="华文细黑" panose="02010600040101010101" pitchFamily="2" charset="-122"/>
                <a:ea typeface="华文细黑" panose="02010600040101010101" pitchFamily="2" charset="-122"/>
                <a:cs typeface="Arial" pitchFamily="34" charset="0"/>
              </a:rPr>
              <a:t>电池供电</a:t>
            </a:r>
            <a:endParaRPr lang="en-US" altLang="zh-CN" dirty="0">
              <a:solidFill>
                <a:srgbClr val="AB3341"/>
              </a:solidFill>
              <a:latin typeface="华文细黑" panose="02010600040101010101" pitchFamily="2" charset="-122"/>
              <a:ea typeface="华文细黑" panose="02010600040101010101" pitchFamily="2" charset="-122"/>
              <a:cs typeface="Arial" pitchFamily="34" charset="0"/>
            </a:endParaRPr>
          </a:p>
        </p:txBody>
      </p:sp>
    </p:spTree>
    <p:extLst>
      <p:ext uri="{BB962C8B-B14F-4D97-AF65-F5344CB8AC3E}">
        <p14:creationId xmlns:p14="http://schemas.microsoft.com/office/powerpoint/2010/main" val="1546113073"/>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电源管理系统</a:t>
            </a:r>
          </a:p>
        </p:txBody>
      </p:sp>
      <p:graphicFrame>
        <p:nvGraphicFramePr>
          <p:cNvPr id="4" name="表格 3">
            <a:extLst>
              <a:ext uri="{FF2B5EF4-FFF2-40B4-BE49-F238E27FC236}">
                <a16:creationId xmlns:a16="http://schemas.microsoft.com/office/drawing/2014/main" id="{ABF9F4DD-964A-740D-2CAB-B981A7258704}"/>
              </a:ext>
            </a:extLst>
          </p:cNvPr>
          <p:cNvGraphicFramePr>
            <a:graphicFrameLocks noGrp="1"/>
          </p:cNvGraphicFramePr>
          <p:nvPr>
            <p:extLst>
              <p:ext uri="{D42A27DB-BD31-4B8C-83A1-F6EECF244321}">
                <p14:modId xmlns:p14="http://schemas.microsoft.com/office/powerpoint/2010/main" val="3235050981"/>
              </p:ext>
            </p:extLst>
          </p:nvPr>
        </p:nvGraphicFramePr>
        <p:xfrm>
          <a:off x="2421466" y="1121293"/>
          <a:ext cx="5537200" cy="1120267"/>
        </p:xfrm>
        <a:graphic>
          <a:graphicData uri="http://schemas.openxmlformats.org/drawingml/2006/table">
            <a:tbl>
              <a:tblPr firstRow="1" firstCol="1" bandRow="1">
                <a:tableStyleId>{69012ECD-51FC-41F1-AA8D-1B2483CD663E}</a:tableStyleId>
              </a:tblPr>
              <a:tblGrid>
                <a:gridCol w="1107440">
                  <a:extLst>
                    <a:ext uri="{9D8B030D-6E8A-4147-A177-3AD203B41FA5}">
                      <a16:colId xmlns:a16="http://schemas.microsoft.com/office/drawing/2014/main" val="1092518217"/>
                    </a:ext>
                  </a:extLst>
                </a:gridCol>
                <a:gridCol w="1107440">
                  <a:extLst>
                    <a:ext uri="{9D8B030D-6E8A-4147-A177-3AD203B41FA5}">
                      <a16:colId xmlns:a16="http://schemas.microsoft.com/office/drawing/2014/main" val="489350748"/>
                    </a:ext>
                  </a:extLst>
                </a:gridCol>
                <a:gridCol w="1107440">
                  <a:extLst>
                    <a:ext uri="{9D8B030D-6E8A-4147-A177-3AD203B41FA5}">
                      <a16:colId xmlns:a16="http://schemas.microsoft.com/office/drawing/2014/main" val="79155254"/>
                    </a:ext>
                  </a:extLst>
                </a:gridCol>
                <a:gridCol w="1107440">
                  <a:extLst>
                    <a:ext uri="{9D8B030D-6E8A-4147-A177-3AD203B41FA5}">
                      <a16:colId xmlns:a16="http://schemas.microsoft.com/office/drawing/2014/main" val="481628714"/>
                    </a:ext>
                  </a:extLst>
                </a:gridCol>
                <a:gridCol w="1107440">
                  <a:extLst>
                    <a:ext uri="{9D8B030D-6E8A-4147-A177-3AD203B41FA5}">
                      <a16:colId xmlns:a16="http://schemas.microsoft.com/office/drawing/2014/main" val="3273298413"/>
                    </a:ext>
                  </a:extLst>
                </a:gridCol>
              </a:tblGrid>
              <a:tr h="0">
                <a:tc>
                  <a:txBody>
                    <a:bodyPr/>
                    <a:lstStyle/>
                    <a:p>
                      <a:pPr algn="ctr">
                        <a:lnSpc>
                          <a:spcPct val="250000"/>
                        </a:lnSpc>
                      </a:pPr>
                      <a:r>
                        <a:rPr lang="zh-CN" sz="1050" kern="0">
                          <a:effectLst/>
                        </a:rPr>
                        <a:t>电池类别</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能量密度（</a:t>
                      </a:r>
                      <a:r>
                        <a:rPr lang="en-US" sz="1050" kern="0">
                          <a:effectLst/>
                        </a:rPr>
                        <a:t>wh/kg</a:t>
                      </a:r>
                      <a:r>
                        <a:rPr lang="zh-CN" sz="105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价格成本（元</a:t>
                      </a:r>
                      <a:r>
                        <a:rPr lang="en-US" sz="1050" kern="0">
                          <a:effectLst/>
                        </a:rPr>
                        <a:t>/wh</a:t>
                      </a:r>
                      <a:r>
                        <a:rPr lang="zh-CN" sz="1050" kern="0">
                          <a:effectLst/>
                        </a:rPr>
                        <a: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50000"/>
                        </a:lnSpc>
                      </a:pPr>
                      <a:r>
                        <a:rPr lang="zh-CN" sz="1050" kern="0">
                          <a:effectLst/>
                        </a:rPr>
                        <a:t>安全性</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50000"/>
                        </a:lnSpc>
                      </a:pPr>
                      <a:r>
                        <a:rPr lang="zh-CN" sz="1050" kern="0">
                          <a:effectLst/>
                        </a:rPr>
                        <a:t>循环寿命</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601290069"/>
                  </a:ext>
                </a:extLst>
              </a:tr>
              <a:tr h="44450">
                <a:tc>
                  <a:txBody>
                    <a:bodyPr/>
                    <a:lstStyle/>
                    <a:p>
                      <a:pPr algn="ctr">
                        <a:lnSpc>
                          <a:spcPct val="125000"/>
                        </a:lnSpc>
                      </a:pPr>
                      <a:r>
                        <a:rPr lang="zh-CN" sz="1050" kern="0">
                          <a:effectLst/>
                        </a:rPr>
                        <a:t>铅酸电池</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25-30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3.5-4.0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铅污染</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400-600</a:t>
                      </a:r>
                      <a:r>
                        <a:rPr lang="zh-CN" sz="1050" kern="0">
                          <a:effectLst/>
                        </a:rPr>
                        <a:t>次</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463130071"/>
                  </a:ext>
                </a:extLst>
              </a:tr>
              <a:tr h="0">
                <a:tc>
                  <a:txBody>
                    <a:bodyPr/>
                    <a:lstStyle/>
                    <a:p>
                      <a:pPr algn="ctr">
                        <a:lnSpc>
                          <a:spcPct val="125000"/>
                        </a:lnSpc>
                      </a:pPr>
                      <a:r>
                        <a:rPr lang="zh-CN" sz="1050" kern="0">
                          <a:effectLst/>
                        </a:rPr>
                        <a:t>镍镉电池</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40-45</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3.5-4.0</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镉污染</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300-500</a:t>
                      </a:r>
                      <a:r>
                        <a:rPr lang="zh-CN" sz="1050" kern="0">
                          <a:effectLst/>
                        </a:rPr>
                        <a:t>次</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139661931"/>
                  </a:ext>
                </a:extLst>
              </a:tr>
              <a:tr h="0">
                <a:tc>
                  <a:txBody>
                    <a:bodyPr/>
                    <a:lstStyle/>
                    <a:p>
                      <a:pPr algn="ctr">
                        <a:lnSpc>
                          <a:spcPct val="125000"/>
                        </a:lnSpc>
                      </a:pPr>
                      <a:r>
                        <a:rPr lang="zh-CN" sz="1050" kern="0">
                          <a:effectLst/>
                        </a:rPr>
                        <a:t>镍氢电池</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60-65</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3.5-4.0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环保</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800-1000</a:t>
                      </a:r>
                      <a:r>
                        <a:rPr lang="zh-CN" sz="1050" kern="0">
                          <a:effectLst/>
                        </a:rPr>
                        <a:t>次</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580052504"/>
                  </a:ext>
                </a:extLst>
              </a:tr>
              <a:tr h="0">
                <a:tc>
                  <a:txBody>
                    <a:bodyPr/>
                    <a:lstStyle/>
                    <a:p>
                      <a:pPr algn="ctr">
                        <a:lnSpc>
                          <a:spcPct val="125000"/>
                        </a:lnSpc>
                      </a:pPr>
                      <a:r>
                        <a:rPr lang="zh-CN" sz="1050" kern="0">
                          <a:effectLst/>
                        </a:rPr>
                        <a:t>锂电池</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15000"/>
                        </a:lnSpc>
                      </a:pPr>
                      <a:r>
                        <a:rPr lang="en-US" sz="1050" kern="0" dirty="0">
                          <a:effectLst/>
                        </a:rPr>
                        <a:t>180-200</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2.2-2.8</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环保</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500-600</a:t>
                      </a:r>
                      <a:r>
                        <a:rPr lang="zh-CN" sz="1050" kern="0" dirty="0">
                          <a:effectLst/>
                        </a:rPr>
                        <a:t>次</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82852983"/>
                  </a:ext>
                </a:extLst>
              </a:tr>
            </a:tbl>
          </a:graphicData>
        </a:graphic>
      </p:graphicFrame>
      <p:sp>
        <p:nvSpPr>
          <p:cNvPr id="6" name="箭头: 下 5">
            <a:extLst>
              <a:ext uri="{FF2B5EF4-FFF2-40B4-BE49-F238E27FC236}">
                <a16:creationId xmlns:a16="http://schemas.microsoft.com/office/drawing/2014/main" id="{AA75BB13-C0B6-8F90-EB62-F88568BDBCC4}"/>
              </a:ext>
            </a:extLst>
          </p:cNvPr>
          <p:cNvSpPr/>
          <p:nvPr/>
        </p:nvSpPr>
        <p:spPr>
          <a:xfrm>
            <a:off x="4923366" y="2305061"/>
            <a:ext cx="533400" cy="550333"/>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0F6DE01C-08B9-D869-601D-6A4089CBCD2C}"/>
              </a:ext>
            </a:extLst>
          </p:cNvPr>
          <p:cNvSpPr txBox="1"/>
          <p:nvPr/>
        </p:nvSpPr>
        <p:spPr>
          <a:xfrm>
            <a:off x="4546599" y="2933710"/>
            <a:ext cx="1286934" cy="369332"/>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pPr algn="ctr"/>
            <a:r>
              <a:rPr lang="en-US" altLang="zh-CN" dirty="0"/>
              <a:t>12V</a:t>
            </a:r>
            <a:r>
              <a:rPr lang="zh-CN" altLang="en-US" dirty="0"/>
              <a:t>锂电池</a:t>
            </a:r>
          </a:p>
        </p:txBody>
      </p:sp>
      <p:sp>
        <p:nvSpPr>
          <p:cNvPr id="10" name="箭头: 下 9">
            <a:extLst>
              <a:ext uri="{FF2B5EF4-FFF2-40B4-BE49-F238E27FC236}">
                <a16:creationId xmlns:a16="http://schemas.microsoft.com/office/drawing/2014/main" id="{B8AD7E23-F52C-9962-DF1E-387491AA7266}"/>
              </a:ext>
            </a:extLst>
          </p:cNvPr>
          <p:cNvSpPr/>
          <p:nvPr/>
        </p:nvSpPr>
        <p:spPr>
          <a:xfrm>
            <a:off x="4923366" y="3381359"/>
            <a:ext cx="533400" cy="550333"/>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2">
            <a:extLst>
              <a:ext uri="{FF2B5EF4-FFF2-40B4-BE49-F238E27FC236}">
                <a16:creationId xmlns:a16="http://schemas.microsoft.com/office/drawing/2014/main" id="{D186011D-F7E5-501B-34FB-82C4EA7DBE13}"/>
              </a:ext>
            </a:extLst>
          </p:cNvPr>
          <p:cNvSpPr>
            <a:spLocks noChangeArrowheads="1"/>
          </p:cNvSpPr>
          <p:nvPr/>
        </p:nvSpPr>
        <p:spPr bwMode="auto">
          <a:xfrm>
            <a:off x="4487333" y="380721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a:extLst>
              <a:ext uri="{FF2B5EF4-FFF2-40B4-BE49-F238E27FC236}">
                <a16:creationId xmlns:a16="http://schemas.microsoft.com/office/drawing/2014/main" id="{CB92AD18-2682-574E-5813-7B7E4D99AC2A}"/>
              </a:ext>
            </a:extLst>
          </p:cNvPr>
          <p:cNvGraphicFramePr>
            <a:graphicFrameLocks noChangeAspect="1"/>
          </p:cNvGraphicFramePr>
          <p:nvPr>
            <p:extLst>
              <p:ext uri="{D42A27DB-BD31-4B8C-83A1-F6EECF244321}">
                <p14:modId xmlns:p14="http://schemas.microsoft.com/office/powerpoint/2010/main" val="3253869370"/>
              </p:ext>
            </p:extLst>
          </p:nvPr>
        </p:nvGraphicFramePr>
        <p:xfrm>
          <a:off x="4487333" y="3968083"/>
          <a:ext cx="1504950" cy="390525"/>
        </p:xfrm>
        <a:graphic>
          <a:graphicData uri="http://schemas.openxmlformats.org/presentationml/2006/ole">
            <mc:AlternateContent xmlns:mc="http://schemas.openxmlformats.org/markup-compatibility/2006">
              <mc:Choice xmlns:v="urn:schemas-microsoft-com:vml" Requires="v">
                <p:oleObj r:id="rId2" imgW="1511300" imgH="393700" progId="Equation.DSMT4">
                  <p:embed/>
                </p:oleObj>
              </mc:Choice>
              <mc:Fallback>
                <p:oleObj r:id="rId2" imgW="1511300" imgH="3937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7333" y="3968083"/>
                        <a:ext cx="150495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7" name="图片 16">
            <a:extLst>
              <a:ext uri="{FF2B5EF4-FFF2-40B4-BE49-F238E27FC236}">
                <a16:creationId xmlns:a16="http://schemas.microsoft.com/office/drawing/2014/main" id="{F036201B-0F31-4F40-6E0B-D5E5F1BFFE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12065" y="4437481"/>
            <a:ext cx="1683174" cy="2244373"/>
          </a:xfrm>
          <a:prstGeom prst="rect">
            <a:avLst/>
          </a:prstGeom>
        </p:spPr>
      </p:pic>
      <p:pic>
        <p:nvPicPr>
          <p:cNvPr id="21" name="图片 20">
            <a:extLst>
              <a:ext uri="{FF2B5EF4-FFF2-40B4-BE49-F238E27FC236}">
                <a16:creationId xmlns:a16="http://schemas.microsoft.com/office/drawing/2014/main" id="{26824836-7AE9-D7B6-BA30-2BDB2378154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55003" y="4439054"/>
            <a:ext cx="1681994" cy="2242800"/>
          </a:xfrm>
          <a:prstGeom prst="rect">
            <a:avLst/>
          </a:prstGeom>
        </p:spPr>
      </p:pic>
    </p:spTree>
    <p:extLst>
      <p:ext uri="{BB962C8B-B14F-4D97-AF65-F5344CB8AC3E}">
        <p14:creationId xmlns:p14="http://schemas.microsoft.com/office/powerpoint/2010/main" val="495821454"/>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11123" y="302029"/>
            <a:ext cx="5258480" cy="682623"/>
          </a:xfrm>
        </p:spPr>
        <p:txBody>
          <a:bodyPr/>
          <a:lstStyle/>
          <a:p>
            <a:r>
              <a:rPr lang="zh-CN" altLang="en-US" dirty="0"/>
              <a:t>电源管理系统</a:t>
            </a:r>
          </a:p>
        </p:txBody>
      </p:sp>
      <p:sp>
        <p:nvSpPr>
          <p:cNvPr id="11" name="Rectangle 2">
            <a:extLst>
              <a:ext uri="{FF2B5EF4-FFF2-40B4-BE49-F238E27FC236}">
                <a16:creationId xmlns:a16="http://schemas.microsoft.com/office/drawing/2014/main" id="{D186011D-F7E5-501B-34FB-82C4EA7DBE13}"/>
              </a:ext>
            </a:extLst>
          </p:cNvPr>
          <p:cNvSpPr>
            <a:spLocks noChangeArrowheads="1"/>
          </p:cNvSpPr>
          <p:nvPr/>
        </p:nvSpPr>
        <p:spPr bwMode="auto">
          <a:xfrm>
            <a:off x="4487333" y="380721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表格 2">
            <a:extLst>
              <a:ext uri="{FF2B5EF4-FFF2-40B4-BE49-F238E27FC236}">
                <a16:creationId xmlns:a16="http://schemas.microsoft.com/office/drawing/2014/main" id="{08A3B5F1-1D65-2AB3-897E-BE33BF18B78A}"/>
              </a:ext>
            </a:extLst>
          </p:cNvPr>
          <p:cNvGraphicFramePr>
            <a:graphicFrameLocks noGrp="1"/>
          </p:cNvGraphicFramePr>
          <p:nvPr>
            <p:extLst>
              <p:ext uri="{D42A27DB-BD31-4B8C-83A1-F6EECF244321}">
                <p14:modId xmlns:p14="http://schemas.microsoft.com/office/powerpoint/2010/main" val="2590657395"/>
              </p:ext>
            </p:extLst>
          </p:nvPr>
        </p:nvGraphicFramePr>
        <p:xfrm>
          <a:off x="1100666" y="984652"/>
          <a:ext cx="5537200" cy="1101662"/>
        </p:xfrm>
        <a:graphic>
          <a:graphicData uri="http://schemas.openxmlformats.org/drawingml/2006/table">
            <a:tbl>
              <a:tblPr firstRow="1" firstCol="1" bandRow="1">
                <a:tableStyleId>{69012ECD-51FC-41F1-AA8D-1B2483CD663E}</a:tableStyleId>
              </a:tblPr>
              <a:tblGrid>
                <a:gridCol w="2768600">
                  <a:extLst>
                    <a:ext uri="{9D8B030D-6E8A-4147-A177-3AD203B41FA5}">
                      <a16:colId xmlns:a16="http://schemas.microsoft.com/office/drawing/2014/main" val="8938192"/>
                    </a:ext>
                  </a:extLst>
                </a:gridCol>
                <a:gridCol w="2768600">
                  <a:extLst>
                    <a:ext uri="{9D8B030D-6E8A-4147-A177-3AD203B41FA5}">
                      <a16:colId xmlns:a16="http://schemas.microsoft.com/office/drawing/2014/main" val="3185334556"/>
                    </a:ext>
                  </a:extLst>
                </a:gridCol>
              </a:tblGrid>
              <a:tr h="0">
                <a:tc>
                  <a:txBody>
                    <a:bodyPr/>
                    <a:lstStyle/>
                    <a:p>
                      <a:pPr algn="ctr">
                        <a:lnSpc>
                          <a:spcPct val="125000"/>
                        </a:lnSpc>
                      </a:pPr>
                      <a:r>
                        <a:rPr lang="zh-CN" sz="1050" kern="0" dirty="0">
                          <a:effectLst/>
                        </a:rPr>
                        <a:t>设备名称</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dirty="0">
                          <a:effectLst/>
                        </a:rPr>
                        <a:t>额定电压</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812907924"/>
                  </a:ext>
                </a:extLst>
              </a:tr>
              <a:tr h="0">
                <a:tc>
                  <a:txBody>
                    <a:bodyPr/>
                    <a:lstStyle/>
                    <a:p>
                      <a:pPr algn="ctr">
                        <a:lnSpc>
                          <a:spcPct val="125000"/>
                        </a:lnSpc>
                      </a:pPr>
                      <a:r>
                        <a:rPr lang="zh-CN" sz="1050" kern="0" dirty="0">
                          <a:effectLst/>
                        </a:rPr>
                        <a:t>电机</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12V</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80668807"/>
                  </a:ext>
                </a:extLst>
              </a:tr>
              <a:tr h="0">
                <a:tc>
                  <a:txBody>
                    <a:bodyPr/>
                    <a:lstStyle/>
                    <a:p>
                      <a:pPr algn="ctr">
                        <a:lnSpc>
                          <a:spcPct val="125000"/>
                        </a:lnSpc>
                      </a:pPr>
                      <a:r>
                        <a:rPr lang="zh-CN" sz="1050" kern="0">
                          <a:effectLst/>
                        </a:rPr>
                        <a:t>摄像机</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12V</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414708578"/>
                  </a:ext>
                </a:extLst>
              </a:tr>
              <a:tr h="0">
                <a:tc>
                  <a:txBody>
                    <a:bodyPr/>
                    <a:lstStyle/>
                    <a:p>
                      <a:pPr algn="ctr">
                        <a:lnSpc>
                          <a:spcPct val="125000"/>
                        </a:lnSpc>
                      </a:pPr>
                      <a:r>
                        <a:rPr lang="zh-CN" sz="1050" kern="0" dirty="0">
                          <a:effectLst/>
                        </a:rPr>
                        <a:t>编码器</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3.5V/5V</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542534978"/>
                  </a:ext>
                </a:extLst>
              </a:tr>
              <a:tr h="0">
                <a:tc>
                  <a:txBody>
                    <a:bodyPr/>
                    <a:lstStyle/>
                    <a:p>
                      <a:pPr algn="ctr">
                        <a:lnSpc>
                          <a:spcPct val="125000"/>
                        </a:lnSpc>
                      </a:pPr>
                      <a:r>
                        <a:rPr lang="en-US" sz="1050" kern="0">
                          <a:effectLst/>
                        </a:rPr>
                        <a:t>SHT30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3.3V</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537050496"/>
                  </a:ext>
                </a:extLst>
              </a:tr>
              <a:tr h="0">
                <a:tc>
                  <a:txBody>
                    <a:bodyPr/>
                    <a:lstStyle/>
                    <a:p>
                      <a:pPr algn="ctr">
                        <a:lnSpc>
                          <a:spcPct val="125000"/>
                        </a:lnSpc>
                      </a:pPr>
                      <a:r>
                        <a:rPr lang="en-US" sz="1050" kern="0">
                          <a:effectLst/>
                        </a:rPr>
                        <a:t>ESP8266</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3.5V/5V</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675353027"/>
                  </a:ext>
                </a:extLst>
              </a:tr>
            </a:tbl>
          </a:graphicData>
        </a:graphic>
      </p:graphicFrame>
      <p:pic>
        <p:nvPicPr>
          <p:cNvPr id="5" name="图片 4">
            <a:extLst>
              <a:ext uri="{FF2B5EF4-FFF2-40B4-BE49-F238E27FC236}">
                <a16:creationId xmlns:a16="http://schemas.microsoft.com/office/drawing/2014/main" id="{C2F7BDB8-498D-55AA-5246-F4BEB53CD0B0}"/>
              </a:ext>
            </a:extLst>
          </p:cNvPr>
          <p:cNvPicPr>
            <a:picLocks noChangeAspect="1"/>
          </p:cNvPicPr>
          <p:nvPr/>
        </p:nvPicPr>
        <p:blipFill>
          <a:blip r:embed="rId2"/>
          <a:stretch>
            <a:fillRect/>
          </a:stretch>
        </p:blipFill>
        <p:spPr>
          <a:xfrm>
            <a:off x="1847745" y="3110320"/>
            <a:ext cx="4454524" cy="1032933"/>
          </a:xfrm>
          <a:prstGeom prst="rect">
            <a:avLst/>
          </a:prstGeom>
        </p:spPr>
      </p:pic>
      <p:pic>
        <p:nvPicPr>
          <p:cNvPr id="7" name="图片 6">
            <a:extLst>
              <a:ext uri="{FF2B5EF4-FFF2-40B4-BE49-F238E27FC236}">
                <a16:creationId xmlns:a16="http://schemas.microsoft.com/office/drawing/2014/main" id="{B2644E3E-FB6A-5EC4-F27E-779BFCD37472}"/>
              </a:ext>
            </a:extLst>
          </p:cNvPr>
          <p:cNvPicPr>
            <a:picLocks noChangeAspect="1"/>
          </p:cNvPicPr>
          <p:nvPr/>
        </p:nvPicPr>
        <p:blipFill>
          <a:blip r:embed="rId3"/>
          <a:stretch>
            <a:fillRect/>
          </a:stretch>
        </p:blipFill>
        <p:spPr>
          <a:xfrm>
            <a:off x="2317937" y="5247098"/>
            <a:ext cx="3514140" cy="1033200"/>
          </a:xfrm>
          <a:prstGeom prst="rect">
            <a:avLst/>
          </a:prstGeom>
        </p:spPr>
      </p:pic>
      <p:sp>
        <p:nvSpPr>
          <p:cNvPr id="9" name="箭头: 下 8">
            <a:extLst>
              <a:ext uri="{FF2B5EF4-FFF2-40B4-BE49-F238E27FC236}">
                <a16:creationId xmlns:a16="http://schemas.microsoft.com/office/drawing/2014/main" id="{D8E7F152-5409-2AAB-8B02-88F5EB69ACB7}"/>
              </a:ext>
            </a:extLst>
          </p:cNvPr>
          <p:cNvSpPr/>
          <p:nvPr/>
        </p:nvSpPr>
        <p:spPr>
          <a:xfrm>
            <a:off x="3522133" y="2166152"/>
            <a:ext cx="1117600" cy="94416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zh-CN" sz="1400" dirty="0"/>
              <a:t>12V</a:t>
            </a:r>
          </a:p>
          <a:p>
            <a:pPr algn="ctr"/>
            <a:r>
              <a:rPr lang="en-US" altLang="zh-CN" sz="1400" dirty="0"/>
              <a:t>I</a:t>
            </a:r>
          </a:p>
          <a:p>
            <a:pPr algn="ctr"/>
            <a:r>
              <a:rPr lang="en-US" altLang="zh-CN" sz="1400" dirty="0"/>
              <a:t>5V</a:t>
            </a:r>
            <a:endParaRPr lang="zh-CN" altLang="en-US" sz="1400" dirty="0"/>
          </a:p>
        </p:txBody>
      </p:sp>
      <p:sp>
        <p:nvSpPr>
          <p:cNvPr id="13" name="箭头: 下 12">
            <a:extLst>
              <a:ext uri="{FF2B5EF4-FFF2-40B4-BE49-F238E27FC236}">
                <a16:creationId xmlns:a16="http://schemas.microsoft.com/office/drawing/2014/main" id="{4D2AEBBD-286E-3AD5-7362-A712B952FC24}"/>
              </a:ext>
            </a:extLst>
          </p:cNvPr>
          <p:cNvSpPr/>
          <p:nvPr/>
        </p:nvSpPr>
        <p:spPr>
          <a:xfrm>
            <a:off x="3516207" y="4223092"/>
            <a:ext cx="1117600" cy="94416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zh-CN" sz="1400" dirty="0"/>
              <a:t>5V</a:t>
            </a:r>
          </a:p>
          <a:p>
            <a:pPr algn="ctr"/>
            <a:r>
              <a:rPr lang="en-US" altLang="zh-CN" sz="1400" dirty="0"/>
              <a:t>I</a:t>
            </a:r>
          </a:p>
          <a:p>
            <a:pPr algn="ctr"/>
            <a:r>
              <a:rPr lang="en-US" altLang="zh-CN" sz="1400" dirty="0"/>
              <a:t>3.3V</a:t>
            </a:r>
            <a:endParaRPr lang="zh-CN" altLang="en-US" sz="1400" dirty="0"/>
          </a:p>
        </p:txBody>
      </p:sp>
      <p:sp>
        <p:nvSpPr>
          <p:cNvPr id="14" name="箭头: 下 13">
            <a:extLst>
              <a:ext uri="{FF2B5EF4-FFF2-40B4-BE49-F238E27FC236}">
                <a16:creationId xmlns:a16="http://schemas.microsoft.com/office/drawing/2014/main" id="{99759D67-D50F-C010-8BFC-DC399A0A7CB2}"/>
              </a:ext>
            </a:extLst>
          </p:cNvPr>
          <p:cNvSpPr/>
          <p:nvPr/>
        </p:nvSpPr>
        <p:spPr>
          <a:xfrm rot="16200000">
            <a:off x="6290142" y="5225136"/>
            <a:ext cx="1117600" cy="94416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lang="en-US" altLang="zh-CN" sz="1400" dirty="0"/>
          </a:p>
          <a:p>
            <a:pPr algn="ctr"/>
            <a:endParaRPr lang="zh-CN" altLang="en-US" sz="1400" dirty="0"/>
          </a:p>
        </p:txBody>
      </p:sp>
      <p:pic>
        <p:nvPicPr>
          <p:cNvPr id="15" name="图片 14">
            <a:extLst>
              <a:ext uri="{FF2B5EF4-FFF2-40B4-BE49-F238E27FC236}">
                <a16:creationId xmlns:a16="http://schemas.microsoft.com/office/drawing/2014/main" id="{1B8A1209-5B1E-E41B-1E79-089CA15FF5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45330" y="2961942"/>
            <a:ext cx="2599690" cy="3466465"/>
          </a:xfrm>
          <a:prstGeom prst="rect">
            <a:avLst/>
          </a:prstGeom>
        </p:spPr>
      </p:pic>
      <p:sp>
        <p:nvSpPr>
          <p:cNvPr id="16" name="箭头: 下 15">
            <a:extLst>
              <a:ext uri="{FF2B5EF4-FFF2-40B4-BE49-F238E27FC236}">
                <a16:creationId xmlns:a16="http://schemas.microsoft.com/office/drawing/2014/main" id="{9326C42D-67BA-9594-AF52-BD84332665F7}"/>
              </a:ext>
            </a:extLst>
          </p:cNvPr>
          <p:cNvSpPr/>
          <p:nvPr/>
        </p:nvSpPr>
        <p:spPr>
          <a:xfrm rot="16200000">
            <a:off x="6290046" y="3208790"/>
            <a:ext cx="1117600" cy="94416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lang="en-US" altLang="zh-CN" sz="1400" dirty="0"/>
          </a:p>
          <a:p>
            <a:pPr algn="ctr"/>
            <a:endParaRPr lang="zh-CN" altLang="en-US" sz="1400" dirty="0"/>
          </a:p>
        </p:txBody>
      </p:sp>
    </p:spTree>
    <p:extLst>
      <p:ext uri="{BB962C8B-B14F-4D97-AF65-F5344CB8AC3E}">
        <p14:creationId xmlns:p14="http://schemas.microsoft.com/office/powerpoint/2010/main" val="2955350077"/>
      </p:ext>
    </p:extLst>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通讯系统</a:t>
            </a:r>
          </a:p>
        </p:txBody>
      </p:sp>
      <p:cxnSp>
        <p:nvCxnSpPr>
          <p:cNvPr id="92" name="直接连接符 91"/>
          <p:cNvCxnSpPr/>
          <p:nvPr/>
        </p:nvCxnSpPr>
        <p:spPr>
          <a:xfrm>
            <a:off x="1379538" y="2719099"/>
            <a:ext cx="8532812"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3" name="等腰三角形 92"/>
          <p:cNvSpPr/>
          <p:nvPr/>
        </p:nvSpPr>
        <p:spPr>
          <a:xfrm flipV="1">
            <a:off x="5563416" y="2717978"/>
            <a:ext cx="165056" cy="10271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表格 3">
            <a:extLst>
              <a:ext uri="{FF2B5EF4-FFF2-40B4-BE49-F238E27FC236}">
                <a16:creationId xmlns:a16="http://schemas.microsoft.com/office/drawing/2014/main" id="{85A0F81E-B4B4-D3A9-5113-BD23A0E3B403}"/>
              </a:ext>
            </a:extLst>
          </p:cNvPr>
          <p:cNvGraphicFramePr>
            <a:graphicFrameLocks noGrp="1"/>
          </p:cNvGraphicFramePr>
          <p:nvPr>
            <p:extLst>
              <p:ext uri="{D42A27DB-BD31-4B8C-83A1-F6EECF244321}">
                <p14:modId xmlns:p14="http://schemas.microsoft.com/office/powerpoint/2010/main" val="3056540552"/>
              </p:ext>
            </p:extLst>
          </p:nvPr>
        </p:nvGraphicFramePr>
        <p:xfrm>
          <a:off x="2877344" y="1160335"/>
          <a:ext cx="5537200" cy="1312546"/>
        </p:xfrm>
        <a:graphic>
          <a:graphicData uri="http://schemas.openxmlformats.org/drawingml/2006/table">
            <a:tbl>
              <a:tblPr firstRow="1" firstCol="1" bandRow="1">
                <a:tableStyleId>{69012ECD-51FC-41F1-AA8D-1B2483CD663E}</a:tableStyleId>
              </a:tblPr>
              <a:tblGrid>
                <a:gridCol w="1107440">
                  <a:extLst>
                    <a:ext uri="{9D8B030D-6E8A-4147-A177-3AD203B41FA5}">
                      <a16:colId xmlns:a16="http://schemas.microsoft.com/office/drawing/2014/main" val="1079936178"/>
                    </a:ext>
                  </a:extLst>
                </a:gridCol>
                <a:gridCol w="1107440">
                  <a:extLst>
                    <a:ext uri="{9D8B030D-6E8A-4147-A177-3AD203B41FA5}">
                      <a16:colId xmlns:a16="http://schemas.microsoft.com/office/drawing/2014/main" val="3504203123"/>
                    </a:ext>
                  </a:extLst>
                </a:gridCol>
                <a:gridCol w="1107440">
                  <a:extLst>
                    <a:ext uri="{9D8B030D-6E8A-4147-A177-3AD203B41FA5}">
                      <a16:colId xmlns:a16="http://schemas.microsoft.com/office/drawing/2014/main" val="1843737789"/>
                    </a:ext>
                  </a:extLst>
                </a:gridCol>
                <a:gridCol w="1107440">
                  <a:extLst>
                    <a:ext uri="{9D8B030D-6E8A-4147-A177-3AD203B41FA5}">
                      <a16:colId xmlns:a16="http://schemas.microsoft.com/office/drawing/2014/main" val="3425030263"/>
                    </a:ext>
                  </a:extLst>
                </a:gridCol>
                <a:gridCol w="1107440">
                  <a:extLst>
                    <a:ext uri="{9D8B030D-6E8A-4147-A177-3AD203B41FA5}">
                      <a16:colId xmlns:a16="http://schemas.microsoft.com/office/drawing/2014/main" val="4030396964"/>
                    </a:ext>
                  </a:extLst>
                </a:gridCol>
              </a:tblGrid>
              <a:tr h="0">
                <a:tc>
                  <a:txBody>
                    <a:bodyPr/>
                    <a:lstStyle/>
                    <a:p>
                      <a:pPr algn="ctr">
                        <a:lnSpc>
                          <a:spcPct val="125000"/>
                        </a:lnSpc>
                      </a:pPr>
                      <a:r>
                        <a:rPr lang="zh-CN" sz="1050" kern="0">
                          <a:effectLst/>
                        </a:rPr>
                        <a:t>名称</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Bluetooth</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Wi-Fi</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UWB</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Zigbee</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842276215"/>
                  </a:ext>
                </a:extLst>
              </a:tr>
              <a:tr h="0">
                <a:tc>
                  <a:txBody>
                    <a:bodyPr/>
                    <a:lstStyle/>
                    <a:p>
                      <a:pPr algn="ctr">
                        <a:lnSpc>
                          <a:spcPct val="125000"/>
                        </a:lnSpc>
                      </a:pPr>
                      <a:r>
                        <a:rPr lang="zh-CN" sz="1050" kern="0">
                          <a:effectLst/>
                        </a:rPr>
                        <a:t>传输速率</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1Mbps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54Mbps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100Mbps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250kMbps</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195326865"/>
                  </a:ext>
                </a:extLst>
              </a:tr>
              <a:tr h="0">
                <a:tc>
                  <a:txBody>
                    <a:bodyPr/>
                    <a:lstStyle/>
                    <a:p>
                      <a:pPr algn="ctr">
                        <a:lnSpc>
                          <a:spcPct val="125000"/>
                        </a:lnSpc>
                      </a:pPr>
                      <a:r>
                        <a:rPr lang="zh-CN" sz="1050" kern="0">
                          <a:effectLst/>
                        </a:rPr>
                        <a:t>传输距离</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0-10m</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0-100m</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0-20m</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0-75m</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904011128"/>
                  </a:ext>
                </a:extLst>
              </a:tr>
              <a:tr h="0">
                <a:tc>
                  <a:txBody>
                    <a:bodyPr/>
                    <a:lstStyle/>
                    <a:p>
                      <a:pPr algn="ctr">
                        <a:lnSpc>
                          <a:spcPct val="125000"/>
                        </a:lnSpc>
                      </a:pPr>
                      <a:r>
                        <a:rPr lang="zh-CN" sz="1050" kern="0">
                          <a:effectLst/>
                        </a:rPr>
                        <a:t>成本</a:t>
                      </a:r>
                      <a:endParaRPr lang="zh-CN" sz="1050" kern="100">
                        <a:effectLst/>
                      </a:endParaRPr>
                    </a:p>
                    <a:p>
                      <a:pPr algn="ctr">
                        <a:lnSpc>
                          <a:spcPct val="125000"/>
                        </a:lnSpc>
                      </a:pPr>
                      <a:r>
                        <a:rPr lang="zh-CN" sz="1050" kern="0">
                          <a:effectLst/>
                        </a:rPr>
                        <a:t>功耗</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低</a:t>
                      </a:r>
                      <a:endParaRPr lang="zh-CN" sz="1050" kern="100">
                        <a:effectLst/>
                      </a:endParaRPr>
                    </a:p>
                    <a:p>
                      <a:pPr algn="ctr">
                        <a:lnSpc>
                          <a:spcPct val="125000"/>
                        </a:lnSpc>
                      </a:pPr>
                      <a:r>
                        <a:rPr lang="zh-CN" sz="1050" kern="0">
                          <a:effectLst/>
                        </a:rPr>
                        <a:t>一般</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dirty="0">
                          <a:effectLst/>
                        </a:rPr>
                        <a:t>一般</a:t>
                      </a:r>
                      <a:endParaRPr lang="zh-CN" sz="1050" kern="100" dirty="0">
                        <a:effectLst/>
                      </a:endParaRPr>
                    </a:p>
                    <a:p>
                      <a:pPr algn="ctr">
                        <a:lnSpc>
                          <a:spcPct val="125000"/>
                        </a:lnSpc>
                      </a:pPr>
                      <a:r>
                        <a:rPr lang="zh-CN" sz="1050" kern="0" dirty="0">
                          <a:effectLst/>
                        </a:rPr>
                        <a:t>低</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高</a:t>
                      </a:r>
                      <a:endParaRPr lang="zh-CN" sz="1050" kern="100">
                        <a:effectLst/>
                      </a:endParaRPr>
                    </a:p>
                    <a:p>
                      <a:pPr algn="ctr">
                        <a:lnSpc>
                          <a:spcPct val="125000"/>
                        </a:lnSpc>
                      </a:pPr>
                      <a:r>
                        <a:rPr lang="zh-CN" sz="1050" kern="0">
                          <a:effectLst/>
                        </a:rPr>
                        <a:t>一般</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较低</a:t>
                      </a:r>
                      <a:endParaRPr lang="zh-CN" sz="1050" kern="100">
                        <a:effectLst/>
                      </a:endParaRPr>
                    </a:p>
                    <a:p>
                      <a:pPr algn="ctr">
                        <a:lnSpc>
                          <a:spcPct val="125000"/>
                        </a:lnSpc>
                      </a:pPr>
                      <a:r>
                        <a:rPr lang="zh-CN" sz="1050" kern="0">
                          <a:effectLst/>
                        </a:rPr>
                        <a:t>低</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577118296"/>
                  </a:ext>
                </a:extLst>
              </a:tr>
              <a:tr h="0">
                <a:tc>
                  <a:txBody>
                    <a:bodyPr/>
                    <a:lstStyle/>
                    <a:p>
                      <a:pPr algn="ctr">
                        <a:lnSpc>
                          <a:spcPct val="125000"/>
                        </a:lnSpc>
                      </a:pPr>
                      <a:r>
                        <a:rPr lang="zh-CN" sz="1050" kern="0">
                          <a:effectLst/>
                        </a:rPr>
                        <a:t>组网性能</a:t>
                      </a:r>
                      <a:endParaRPr lang="zh-CN" sz="1050" kern="100">
                        <a:effectLst/>
                      </a:endParaRPr>
                    </a:p>
                    <a:p>
                      <a:pPr algn="ctr">
                        <a:lnSpc>
                          <a:spcPct val="125000"/>
                        </a:lnSpc>
                      </a:pPr>
                      <a:r>
                        <a:rPr lang="zh-CN" sz="1050" kern="0">
                          <a:effectLst/>
                        </a:rPr>
                        <a:t>视频传输</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弱</a:t>
                      </a:r>
                      <a:endParaRPr lang="zh-CN" sz="1050" kern="100">
                        <a:effectLst/>
                      </a:endParaRPr>
                    </a:p>
                    <a:p>
                      <a:pPr algn="ctr">
                        <a:lnSpc>
                          <a:spcPct val="125000"/>
                        </a:lnSpc>
                      </a:pPr>
                      <a:r>
                        <a:rPr lang="zh-CN" sz="1050" kern="0">
                          <a:effectLst/>
                        </a:rPr>
                        <a:t>满足</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强</a:t>
                      </a:r>
                      <a:endParaRPr lang="zh-CN" sz="1050" kern="100">
                        <a:effectLst/>
                      </a:endParaRPr>
                    </a:p>
                    <a:p>
                      <a:pPr algn="ctr">
                        <a:lnSpc>
                          <a:spcPct val="125000"/>
                        </a:lnSpc>
                      </a:pPr>
                      <a:r>
                        <a:rPr lang="zh-CN" sz="1050" kern="0">
                          <a:effectLst/>
                        </a:rPr>
                        <a:t>满足</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强</a:t>
                      </a:r>
                      <a:endParaRPr lang="zh-CN" sz="1050" kern="100">
                        <a:effectLst/>
                      </a:endParaRPr>
                    </a:p>
                    <a:p>
                      <a:pPr algn="ctr">
                        <a:lnSpc>
                          <a:spcPct val="125000"/>
                        </a:lnSpc>
                      </a:pPr>
                      <a:r>
                        <a:rPr lang="zh-CN" sz="1050" kern="0">
                          <a:effectLst/>
                        </a:rPr>
                        <a:t>满足</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dirty="0">
                          <a:effectLst/>
                        </a:rPr>
                        <a:t>强</a:t>
                      </a:r>
                      <a:endParaRPr lang="zh-CN" sz="1050" kern="100" dirty="0">
                        <a:effectLst/>
                      </a:endParaRPr>
                    </a:p>
                    <a:p>
                      <a:pPr algn="ctr">
                        <a:lnSpc>
                          <a:spcPct val="125000"/>
                        </a:lnSpc>
                      </a:pPr>
                      <a:r>
                        <a:rPr lang="zh-CN" sz="1050" kern="0" dirty="0">
                          <a:effectLst/>
                        </a:rPr>
                        <a:t>不满足</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859591170"/>
                  </a:ext>
                </a:extLst>
              </a:tr>
            </a:tbl>
          </a:graphicData>
        </a:graphic>
      </p:graphicFrame>
      <p:pic>
        <p:nvPicPr>
          <p:cNvPr id="5" name="图片 4">
            <a:extLst>
              <a:ext uri="{FF2B5EF4-FFF2-40B4-BE49-F238E27FC236}">
                <a16:creationId xmlns:a16="http://schemas.microsoft.com/office/drawing/2014/main" id="{EE1E5AAB-C794-A4D9-4D41-36996050AD20}"/>
              </a:ext>
            </a:extLst>
          </p:cNvPr>
          <p:cNvPicPr>
            <a:picLocks noChangeAspect="1"/>
          </p:cNvPicPr>
          <p:nvPr/>
        </p:nvPicPr>
        <p:blipFill>
          <a:blip r:embed="rId2"/>
          <a:stretch>
            <a:fillRect/>
          </a:stretch>
        </p:blipFill>
        <p:spPr>
          <a:xfrm>
            <a:off x="6096000" y="3208634"/>
            <a:ext cx="3829050" cy="2552700"/>
          </a:xfrm>
          <a:prstGeom prst="rect">
            <a:avLst/>
          </a:prstGeom>
        </p:spPr>
      </p:pic>
      <p:sp>
        <p:nvSpPr>
          <p:cNvPr id="7" name="文本框 6">
            <a:extLst>
              <a:ext uri="{FF2B5EF4-FFF2-40B4-BE49-F238E27FC236}">
                <a16:creationId xmlns:a16="http://schemas.microsoft.com/office/drawing/2014/main" id="{A606E124-38C9-4834-0788-69341E57F0A9}"/>
              </a:ext>
            </a:extLst>
          </p:cNvPr>
          <p:cNvSpPr txBox="1"/>
          <p:nvPr/>
        </p:nvSpPr>
        <p:spPr>
          <a:xfrm>
            <a:off x="1546592" y="3202152"/>
            <a:ext cx="3110727" cy="3176960"/>
          </a:xfrm>
          <a:prstGeom prst="rect">
            <a:avLst/>
          </a:prstGeom>
          <a:noFill/>
        </p:spPr>
        <p:txBody>
          <a:bodyPr wrap="square">
            <a:spAutoFit/>
          </a:bodyPr>
          <a:lstStyle/>
          <a:p>
            <a:pPr indent="457200" algn="just">
              <a:lnSpc>
                <a:spcPct val="125000"/>
              </a:lnSpc>
            </a:pPr>
            <a:r>
              <a:rPr lang="en-US" altLang="zh-CN" sz="1800" dirty="0">
                <a:solidFill>
                  <a:srgbClr val="AB3341"/>
                </a:solidFill>
                <a:effectLst/>
                <a:latin typeface="微软雅黑" panose="020B0503020204020204" pitchFamily="34" charset="-122"/>
                <a:ea typeface="微软雅黑" panose="020B0503020204020204" pitchFamily="34" charset="-122"/>
              </a:rPr>
              <a:t>Wi-Fi</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无线通信主要由无线</a:t>
            </a:r>
            <a:r>
              <a:rPr lang="en-US" altLang="zh-CN" sz="1800" dirty="0">
                <a:solidFill>
                  <a:srgbClr val="AB3341"/>
                </a:solidFill>
                <a:effectLst/>
                <a:latin typeface="微软雅黑" panose="020B0503020204020204" pitchFamily="34" charset="-122"/>
                <a:ea typeface="微软雅黑" panose="020B0503020204020204" pitchFamily="34" charset="-122"/>
              </a:rPr>
              <a:t>AP</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和无线串口设备组成。无线</a:t>
            </a:r>
            <a:r>
              <a:rPr lang="en-US" altLang="zh-CN" sz="1800" dirty="0">
                <a:solidFill>
                  <a:srgbClr val="AB3341"/>
                </a:solidFill>
                <a:effectLst/>
                <a:latin typeface="微软雅黑" panose="020B0503020204020204" pitchFamily="34" charset="-122"/>
                <a:ea typeface="微软雅黑" panose="020B0503020204020204" pitchFamily="34" charset="-122"/>
              </a:rPr>
              <a:t>AP</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作为一个无线的接收发射站，起到网桥的作用，增强无线传输信号强度，覆盖更大的巡检区域。无线串口设备通过串口协议与巡检机器人主控制器进行连接，负责上下位机之间的通讯。</a:t>
            </a:r>
            <a:endParaRPr lang="zh-CN" altLang="en-US" dirty="0">
              <a:solidFill>
                <a:srgbClr val="AB334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04826048"/>
      </p:ext>
    </p:ext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z="4000" dirty="0">
                <a:latin typeface="微软雅黑" pitchFamily="34" charset="-122"/>
                <a:ea typeface="微软雅黑" pitchFamily="34" charset="-122"/>
              </a:rPr>
              <a:t>巡检机器人控制系统</a:t>
            </a:r>
            <a:r>
              <a:rPr lang="zh-CN" altLang="en-US" dirty="0"/>
              <a:t>软件开发</a:t>
            </a:r>
            <a:endParaRPr lang="zh-CN" altLang="en-US" sz="4000" dirty="0">
              <a:latin typeface="微软雅黑" pitchFamily="34" charset="-122"/>
              <a:ea typeface="微软雅黑" pitchFamily="34" charset="-122"/>
            </a:endParaRPr>
          </a:p>
        </p:txBody>
      </p:sp>
      <p:pic>
        <p:nvPicPr>
          <p:cNvPr id="3" name="图片 2">
            <a:extLst>
              <a:ext uri="{FF2B5EF4-FFF2-40B4-BE49-F238E27FC236}">
                <a16:creationId xmlns:a16="http://schemas.microsoft.com/office/drawing/2014/main" id="{438EA33F-A26C-8A44-84C2-025E5868A156}"/>
              </a:ext>
            </a:extLst>
          </p:cNvPr>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381000" y="461617"/>
            <a:ext cx="3067050" cy="514350"/>
          </a:xfrm>
          <a:prstGeom prst="rect">
            <a:avLst/>
          </a:prstGeom>
        </p:spPr>
      </p:pic>
      <p:pic>
        <p:nvPicPr>
          <p:cNvPr id="4" name="图片 3">
            <a:extLst>
              <a:ext uri="{FF2B5EF4-FFF2-40B4-BE49-F238E27FC236}">
                <a16:creationId xmlns:a16="http://schemas.microsoft.com/office/drawing/2014/main" id="{B9205F85-CF16-3292-6C80-A6AFC2F079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 y="447858"/>
            <a:ext cx="541867" cy="541867"/>
          </a:xfrm>
          <a:prstGeom prst="rect">
            <a:avLst/>
          </a:prstGeom>
        </p:spPr>
      </p:pic>
      <p:sp>
        <p:nvSpPr>
          <p:cNvPr id="5" name="星形: 五角 4">
            <a:extLst>
              <a:ext uri="{FF2B5EF4-FFF2-40B4-BE49-F238E27FC236}">
                <a16:creationId xmlns:a16="http://schemas.microsoft.com/office/drawing/2014/main" id="{81A3FDFF-A024-458C-1E40-9635470E4701}"/>
              </a:ext>
            </a:extLst>
          </p:cNvPr>
          <p:cNvSpPr/>
          <p:nvPr/>
        </p:nvSpPr>
        <p:spPr>
          <a:xfrm>
            <a:off x="4809063" y="3918366"/>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A744EDD6-DE4C-2D45-A7E2-F9C64958E680}"/>
              </a:ext>
            </a:extLst>
          </p:cNvPr>
          <p:cNvSpPr txBox="1"/>
          <p:nvPr/>
        </p:nvSpPr>
        <p:spPr>
          <a:xfrm>
            <a:off x="5020730" y="3789133"/>
            <a:ext cx="29379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软件总体方案设计</a:t>
            </a:r>
          </a:p>
        </p:txBody>
      </p:sp>
      <p:sp>
        <p:nvSpPr>
          <p:cNvPr id="7" name="星形: 五角 6">
            <a:extLst>
              <a:ext uri="{FF2B5EF4-FFF2-40B4-BE49-F238E27FC236}">
                <a16:creationId xmlns:a16="http://schemas.microsoft.com/office/drawing/2014/main" id="{1687DDF7-7CA2-0239-3413-55235467702F}"/>
              </a:ext>
            </a:extLst>
          </p:cNvPr>
          <p:cNvSpPr/>
          <p:nvPr/>
        </p:nvSpPr>
        <p:spPr>
          <a:xfrm>
            <a:off x="4809063" y="4593169"/>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9E2404EF-D149-57ED-0F46-7E791BB0F077}"/>
              </a:ext>
            </a:extLst>
          </p:cNvPr>
          <p:cNvSpPr txBox="1"/>
          <p:nvPr/>
        </p:nvSpPr>
        <p:spPr>
          <a:xfrm>
            <a:off x="5020730" y="4463936"/>
            <a:ext cx="32427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下位机软件开发</a:t>
            </a:r>
          </a:p>
        </p:txBody>
      </p:sp>
      <p:sp>
        <p:nvSpPr>
          <p:cNvPr id="9" name="星形: 五角 8">
            <a:extLst>
              <a:ext uri="{FF2B5EF4-FFF2-40B4-BE49-F238E27FC236}">
                <a16:creationId xmlns:a16="http://schemas.microsoft.com/office/drawing/2014/main" id="{54272549-0376-57AB-90E6-F5446863C2E0}"/>
              </a:ext>
            </a:extLst>
          </p:cNvPr>
          <p:cNvSpPr/>
          <p:nvPr/>
        </p:nvSpPr>
        <p:spPr>
          <a:xfrm>
            <a:off x="4809063" y="5267972"/>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10" name="文本框 9">
            <a:extLst>
              <a:ext uri="{FF2B5EF4-FFF2-40B4-BE49-F238E27FC236}">
                <a16:creationId xmlns:a16="http://schemas.microsoft.com/office/drawing/2014/main" id="{74F40DB0-E2DC-39CD-2A61-FC803413E0A4}"/>
              </a:ext>
            </a:extLst>
          </p:cNvPr>
          <p:cNvSpPr txBox="1"/>
          <p:nvPr/>
        </p:nvSpPr>
        <p:spPr>
          <a:xfrm>
            <a:off x="5020730" y="5138739"/>
            <a:ext cx="29379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上位机用户界面设计</a:t>
            </a:r>
          </a:p>
        </p:txBody>
      </p:sp>
    </p:spTree>
    <p:extLst>
      <p:ext uri="{BB962C8B-B14F-4D97-AF65-F5344CB8AC3E}">
        <p14:creationId xmlns:p14="http://schemas.microsoft.com/office/powerpoint/2010/main" val="604248700"/>
      </p:ext>
    </p:extLst>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软件总体设计方案</a:t>
            </a:r>
          </a:p>
        </p:txBody>
      </p:sp>
      <p:pic>
        <p:nvPicPr>
          <p:cNvPr id="5" name="图片 4">
            <a:extLst>
              <a:ext uri="{FF2B5EF4-FFF2-40B4-BE49-F238E27FC236}">
                <a16:creationId xmlns:a16="http://schemas.microsoft.com/office/drawing/2014/main" id="{8DB8761C-40E0-23E9-FAC5-AB1EDF4887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9115" y="678325"/>
            <a:ext cx="4258856" cy="5330190"/>
          </a:xfrm>
          <a:prstGeom prst="rect">
            <a:avLst/>
          </a:prstGeom>
        </p:spPr>
      </p:pic>
      <p:pic>
        <p:nvPicPr>
          <p:cNvPr id="6" name="图片 5">
            <a:extLst>
              <a:ext uri="{FF2B5EF4-FFF2-40B4-BE49-F238E27FC236}">
                <a16:creationId xmlns:a16="http://schemas.microsoft.com/office/drawing/2014/main" id="{94F3DF50-E4A8-FA65-712C-8B970B7E570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59968" y="4293060"/>
            <a:ext cx="2409147" cy="1800000"/>
          </a:xfrm>
          <a:prstGeom prst="rect">
            <a:avLst/>
          </a:prstGeom>
          <a:noFill/>
          <a:ln>
            <a:noFill/>
          </a:ln>
        </p:spPr>
      </p:pic>
      <p:pic>
        <p:nvPicPr>
          <p:cNvPr id="8" name="图片 7">
            <a:extLst>
              <a:ext uri="{FF2B5EF4-FFF2-40B4-BE49-F238E27FC236}">
                <a16:creationId xmlns:a16="http://schemas.microsoft.com/office/drawing/2014/main" id="{153A4106-4C0E-ADDC-84CF-2F767438834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6769" y="1019637"/>
            <a:ext cx="4845050" cy="2590800"/>
          </a:xfrm>
          <a:prstGeom prst="rect">
            <a:avLst/>
          </a:prstGeom>
          <a:noFill/>
          <a:ln>
            <a:noFill/>
          </a:ln>
        </p:spPr>
      </p:pic>
      <p:pic>
        <p:nvPicPr>
          <p:cNvPr id="10" name="图片 9">
            <a:extLst>
              <a:ext uri="{FF2B5EF4-FFF2-40B4-BE49-F238E27FC236}">
                <a16:creationId xmlns:a16="http://schemas.microsoft.com/office/drawing/2014/main" id="{3B9E60B1-9A19-B04C-EB57-FE5F021C7CA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0501" y="4293060"/>
            <a:ext cx="3379340" cy="1800000"/>
          </a:xfrm>
          <a:prstGeom prst="rect">
            <a:avLst/>
          </a:prstGeom>
        </p:spPr>
      </p:pic>
    </p:spTree>
    <p:extLst>
      <p:ext uri="{BB962C8B-B14F-4D97-AF65-F5344CB8AC3E}">
        <p14:creationId xmlns:p14="http://schemas.microsoft.com/office/powerpoint/2010/main" val="3783927749"/>
      </p:ext>
    </p:ext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下位机软件开发</a:t>
            </a:r>
            <a:r>
              <a:rPr lang="en-US" altLang="zh-CN" dirty="0"/>
              <a:t>—SHT30</a:t>
            </a:r>
            <a:endParaRPr lang="zh-CN" altLang="en-US" dirty="0"/>
          </a:p>
        </p:txBody>
      </p:sp>
      <p:pic>
        <p:nvPicPr>
          <p:cNvPr id="3" name="图片 2">
            <a:extLst>
              <a:ext uri="{FF2B5EF4-FFF2-40B4-BE49-F238E27FC236}">
                <a16:creationId xmlns:a16="http://schemas.microsoft.com/office/drawing/2014/main" id="{D8242D7E-8AC6-15F5-70D7-3CFA5C492ECE}"/>
              </a:ext>
            </a:extLst>
          </p:cNvPr>
          <p:cNvPicPr>
            <a:picLocks noChangeAspect="1"/>
          </p:cNvPicPr>
          <p:nvPr/>
        </p:nvPicPr>
        <p:blipFill>
          <a:blip r:embed="rId2"/>
          <a:stretch>
            <a:fillRect/>
          </a:stretch>
        </p:blipFill>
        <p:spPr>
          <a:xfrm>
            <a:off x="710141" y="1019637"/>
            <a:ext cx="3371850" cy="5238750"/>
          </a:xfrm>
          <a:prstGeom prst="rect">
            <a:avLst/>
          </a:prstGeom>
        </p:spPr>
      </p:pic>
      <p:pic>
        <p:nvPicPr>
          <p:cNvPr id="4" name="图片 3">
            <a:extLst>
              <a:ext uri="{FF2B5EF4-FFF2-40B4-BE49-F238E27FC236}">
                <a16:creationId xmlns:a16="http://schemas.microsoft.com/office/drawing/2014/main" id="{94CFAA16-0690-D8D4-9B0C-05C896BE1022}"/>
              </a:ext>
            </a:extLst>
          </p:cNvPr>
          <p:cNvPicPr>
            <a:picLocks noChangeAspect="1"/>
          </p:cNvPicPr>
          <p:nvPr/>
        </p:nvPicPr>
        <p:blipFill>
          <a:blip r:embed="rId3"/>
          <a:stretch>
            <a:fillRect/>
          </a:stretch>
        </p:blipFill>
        <p:spPr>
          <a:xfrm>
            <a:off x="5384799" y="948540"/>
            <a:ext cx="4124113" cy="1778524"/>
          </a:xfrm>
          <a:prstGeom prst="rect">
            <a:avLst/>
          </a:prstGeom>
        </p:spPr>
      </p:pic>
      <p:pic>
        <p:nvPicPr>
          <p:cNvPr id="5" name="图片 4">
            <a:extLst>
              <a:ext uri="{FF2B5EF4-FFF2-40B4-BE49-F238E27FC236}">
                <a16:creationId xmlns:a16="http://schemas.microsoft.com/office/drawing/2014/main" id="{CC5D376A-33B4-E48D-9AEB-2C8C9466B560}"/>
              </a:ext>
            </a:extLst>
          </p:cNvPr>
          <p:cNvPicPr>
            <a:picLocks noChangeAspect="1"/>
          </p:cNvPicPr>
          <p:nvPr/>
        </p:nvPicPr>
        <p:blipFill>
          <a:blip r:embed="rId4"/>
          <a:stretch>
            <a:fillRect/>
          </a:stretch>
        </p:blipFill>
        <p:spPr>
          <a:xfrm>
            <a:off x="5384799" y="2870742"/>
            <a:ext cx="4895639" cy="1527160"/>
          </a:xfrm>
          <a:prstGeom prst="rect">
            <a:avLst/>
          </a:prstGeom>
        </p:spPr>
      </p:pic>
      <p:pic>
        <p:nvPicPr>
          <p:cNvPr id="6" name="图片 5">
            <a:extLst>
              <a:ext uri="{FF2B5EF4-FFF2-40B4-BE49-F238E27FC236}">
                <a16:creationId xmlns:a16="http://schemas.microsoft.com/office/drawing/2014/main" id="{C68584E0-BC23-60CE-993E-AAA5891FCFE1}"/>
              </a:ext>
            </a:extLst>
          </p:cNvPr>
          <p:cNvPicPr>
            <a:picLocks noChangeAspect="1"/>
          </p:cNvPicPr>
          <p:nvPr/>
        </p:nvPicPr>
        <p:blipFill>
          <a:blip r:embed="rId5"/>
          <a:stretch>
            <a:fillRect/>
          </a:stretch>
        </p:blipFill>
        <p:spPr>
          <a:xfrm>
            <a:off x="5384799" y="4496851"/>
            <a:ext cx="4952154" cy="2115613"/>
          </a:xfrm>
          <a:prstGeom prst="rect">
            <a:avLst/>
          </a:prstGeom>
        </p:spPr>
      </p:pic>
    </p:spTree>
    <p:extLst>
      <p:ext uri="{BB962C8B-B14F-4D97-AF65-F5344CB8AC3E}">
        <p14:creationId xmlns:p14="http://schemas.microsoft.com/office/powerpoint/2010/main" val="4177946541"/>
      </p:ext>
    </p:extLst>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下位机软件开发</a:t>
            </a:r>
            <a:r>
              <a:rPr lang="en-US" altLang="zh-CN" dirty="0"/>
              <a:t>—SHT30</a:t>
            </a:r>
            <a:endParaRPr lang="zh-CN" altLang="en-US" dirty="0"/>
          </a:p>
        </p:txBody>
      </p:sp>
      <p:pic>
        <p:nvPicPr>
          <p:cNvPr id="3" name="图片 2">
            <a:extLst>
              <a:ext uri="{FF2B5EF4-FFF2-40B4-BE49-F238E27FC236}">
                <a16:creationId xmlns:a16="http://schemas.microsoft.com/office/drawing/2014/main" id="{D8242D7E-8AC6-15F5-70D7-3CFA5C492ECE}"/>
              </a:ext>
            </a:extLst>
          </p:cNvPr>
          <p:cNvPicPr>
            <a:picLocks noChangeAspect="1"/>
          </p:cNvPicPr>
          <p:nvPr/>
        </p:nvPicPr>
        <p:blipFill>
          <a:blip r:embed="rId2"/>
          <a:stretch>
            <a:fillRect/>
          </a:stretch>
        </p:blipFill>
        <p:spPr>
          <a:xfrm>
            <a:off x="710141" y="1019637"/>
            <a:ext cx="3371850" cy="5238750"/>
          </a:xfrm>
          <a:prstGeom prst="rect">
            <a:avLst/>
          </a:prstGeom>
        </p:spPr>
      </p:pic>
      <p:pic>
        <p:nvPicPr>
          <p:cNvPr id="7" name="图片 6">
            <a:extLst>
              <a:ext uri="{FF2B5EF4-FFF2-40B4-BE49-F238E27FC236}">
                <a16:creationId xmlns:a16="http://schemas.microsoft.com/office/drawing/2014/main" id="{A3BB2C9D-C7B1-6536-DF7A-76D850736F1C}"/>
              </a:ext>
            </a:extLst>
          </p:cNvPr>
          <p:cNvPicPr>
            <a:picLocks noChangeAspect="1"/>
          </p:cNvPicPr>
          <p:nvPr/>
        </p:nvPicPr>
        <p:blipFill>
          <a:blip r:embed="rId3"/>
          <a:stretch>
            <a:fillRect/>
          </a:stretch>
        </p:blipFill>
        <p:spPr>
          <a:xfrm>
            <a:off x="4581313" y="1622887"/>
            <a:ext cx="5400040" cy="4032250"/>
          </a:xfrm>
          <a:prstGeom prst="rect">
            <a:avLst/>
          </a:prstGeom>
        </p:spPr>
      </p:pic>
    </p:spTree>
    <p:extLst>
      <p:ext uri="{BB962C8B-B14F-4D97-AF65-F5344CB8AC3E}">
        <p14:creationId xmlns:p14="http://schemas.microsoft.com/office/powerpoint/2010/main" val="1065913329"/>
      </p:ext>
    </p:extLst>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下位机软件开发</a:t>
            </a:r>
            <a:r>
              <a:rPr lang="en-US" altLang="zh-CN" dirty="0"/>
              <a:t>—HC-SR04</a:t>
            </a:r>
            <a:endParaRPr lang="zh-CN" altLang="en-US" dirty="0"/>
          </a:p>
        </p:txBody>
      </p:sp>
      <p:pic>
        <p:nvPicPr>
          <p:cNvPr id="3" name="图片 2">
            <a:extLst>
              <a:ext uri="{FF2B5EF4-FFF2-40B4-BE49-F238E27FC236}">
                <a16:creationId xmlns:a16="http://schemas.microsoft.com/office/drawing/2014/main" id="{64713172-46D2-4437-EB1B-8E9D3478FE50}"/>
              </a:ext>
            </a:extLst>
          </p:cNvPr>
          <p:cNvPicPr>
            <a:picLocks noChangeAspect="1"/>
          </p:cNvPicPr>
          <p:nvPr/>
        </p:nvPicPr>
        <p:blipFill>
          <a:blip r:embed="rId2"/>
          <a:stretch>
            <a:fillRect/>
          </a:stretch>
        </p:blipFill>
        <p:spPr>
          <a:xfrm>
            <a:off x="2421784" y="1279169"/>
            <a:ext cx="5400040" cy="2470150"/>
          </a:xfrm>
          <a:prstGeom prst="rect">
            <a:avLst/>
          </a:prstGeom>
        </p:spPr>
      </p:pic>
      <p:sp>
        <p:nvSpPr>
          <p:cNvPr id="5" name="文本框 4">
            <a:extLst>
              <a:ext uri="{FF2B5EF4-FFF2-40B4-BE49-F238E27FC236}">
                <a16:creationId xmlns:a16="http://schemas.microsoft.com/office/drawing/2014/main" id="{E7B8589B-1679-C753-ECEC-604DC5FC5199}"/>
              </a:ext>
            </a:extLst>
          </p:cNvPr>
          <p:cNvSpPr txBox="1"/>
          <p:nvPr/>
        </p:nvSpPr>
        <p:spPr>
          <a:xfrm>
            <a:off x="2095727" y="4245216"/>
            <a:ext cx="6383020" cy="1683538"/>
          </a:xfrm>
          <a:prstGeom prst="rect">
            <a:avLst/>
          </a:prstGeom>
          <a:noFill/>
        </p:spPr>
        <p:txBody>
          <a:bodyPr wrap="square">
            <a:spAutoFit/>
          </a:bodyPr>
          <a:lstStyle/>
          <a:p>
            <a:pPr indent="304800" algn="just">
              <a:lnSpc>
                <a:spcPct val="125000"/>
              </a:lnSpc>
              <a:tabLst>
                <a:tab pos="2070735" algn="l"/>
              </a:tabLst>
            </a:pPr>
            <a:r>
              <a:rPr lang="zh-CN" altLang="en-US" sz="1400" kern="100" dirty="0">
                <a:solidFill>
                  <a:srgbClr val="AB3341"/>
                </a:solidFill>
                <a:effectLst/>
                <a:latin typeface="微软雅黑" panose="020B0503020204020204" pitchFamily="34" charset="-122"/>
                <a:ea typeface="微软雅黑" panose="020B0503020204020204" pitchFamily="34" charset="-122"/>
              </a:rPr>
              <a:t>（</a:t>
            </a:r>
            <a:r>
              <a:rPr lang="en-US" altLang="zh-CN" sz="1400" kern="100" dirty="0">
                <a:solidFill>
                  <a:srgbClr val="AB3341"/>
                </a:solidFill>
                <a:effectLst/>
                <a:latin typeface="微软雅黑" panose="020B0503020204020204" pitchFamily="34" charset="-122"/>
                <a:ea typeface="微软雅黑" panose="020B0503020204020204" pitchFamily="34" charset="-122"/>
              </a:rPr>
              <a:t>1</a:t>
            </a:r>
            <a:r>
              <a:rPr lang="zh-CN" altLang="zh-CN" sz="1400" kern="100" dirty="0">
                <a:solidFill>
                  <a:srgbClr val="AB3341"/>
                </a:solidFill>
                <a:effectLst/>
                <a:latin typeface="微软雅黑" panose="020B0503020204020204" pitchFamily="34" charset="-122"/>
                <a:ea typeface="微软雅黑" panose="020B0503020204020204" pitchFamily="34" charset="-122"/>
              </a:rPr>
              <a:t>）给脉冲触发引脚</a:t>
            </a:r>
            <a:r>
              <a:rPr lang="en-US" altLang="zh-CN" sz="1400" kern="100" dirty="0">
                <a:solidFill>
                  <a:srgbClr val="AB3341"/>
                </a:solidFill>
                <a:effectLst/>
                <a:latin typeface="微软雅黑" panose="020B0503020204020204" pitchFamily="34" charset="-122"/>
                <a:ea typeface="微软雅黑" panose="020B0503020204020204" pitchFamily="34" charset="-122"/>
              </a:rPr>
              <a:t>Trig</a:t>
            </a:r>
            <a:r>
              <a:rPr lang="zh-CN" altLang="zh-CN" sz="1400" kern="100" dirty="0">
                <a:solidFill>
                  <a:srgbClr val="AB3341"/>
                </a:solidFill>
                <a:effectLst/>
                <a:latin typeface="微软雅黑" panose="020B0503020204020204" pitchFamily="34" charset="-122"/>
                <a:ea typeface="微软雅黑" panose="020B0503020204020204" pitchFamily="34" charset="-122"/>
              </a:rPr>
              <a:t>输入一个长为</a:t>
            </a:r>
            <a:r>
              <a:rPr lang="en-US" altLang="zh-CN" sz="1400" kern="100" dirty="0">
                <a:solidFill>
                  <a:srgbClr val="AB3341"/>
                </a:solidFill>
                <a:effectLst/>
                <a:latin typeface="微软雅黑" panose="020B0503020204020204" pitchFamily="34" charset="-122"/>
                <a:ea typeface="微软雅黑" panose="020B0503020204020204" pitchFamily="34" charset="-122"/>
              </a:rPr>
              <a:t>10us</a:t>
            </a:r>
            <a:r>
              <a:rPr lang="zh-CN" altLang="zh-CN" sz="1400" kern="100" dirty="0">
                <a:solidFill>
                  <a:srgbClr val="AB3341"/>
                </a:solidFill>
                <a:effectLst/>
                <a:latin typeface="微软雅黑" panose="020B0503020204020204" pitchFamily="34" charset="-122"/>
                <a:ea typeface="微软雅黑" panose="020B0503020204020204" pitchFamily="34" charset="-122"/>
              </a:rPr>
              <a:t>的高电平方波；</a:t>
            </a:r>
          </a:p>
          <a:p>
            <a:pPr indent="304800" algn="just">
              <a:lnSpc>
                <a:spcPct val="125000"/>
              </a:lnSpc>
              <a:tabLst>
                <a:tab pos="2070735" algn="l"/>
              </a:tabLst>
            </a:pPr>
            <a:r>
              <a:rPr lang="zh-CN" altLang="zh-CN" sz="1400" kern="100" dirty="0">
                <a:solidFill>
                  <a:srgbClr val="AB3341"/>
                </a:solidFill>
                <a:effectLst/>
                <a:latin typeface="微软雅黑" panose="020B0503020204020204" pitchFamily="34" charset="-122"/>
                <a:ea typeface="微软雅黑" panose="020B0503020204020204" pitchFamily="34" charset="-122"/>
              </a:rPr>
              <a:t>（</a:t>
            </a:r>
            <a:r>
              <a:rPr lang="en-US" altLang="zh-CN" sz="1400" kern="100" dirty="0">
                <a:solidFill>
                  <a:srgbClr val="AB3341"/>
                </a:solidFill>
                <a:effectLst/>
                <a:latin typeface="微软雅黑" panose="020B0503020204020204" pitchFamily="34" charset="-122"/>
                <a:ea typeface="微软雅黑" panose="020B0503020204020204" pitchFamily="34" charset="-122"/>
              </a:rPr>
              <a:t>2</a:t>
            </a:r>
            <a:r>
              <a:rPr lang="zh-CN" altLang="zh-CN" sz="1400" kern="100" dirty="0">
                <a:solidFill>
                  <a:srgbClr val="AB3341"/>
                </a:solidFill>
                <a:effectLst/>
                <a:latin typeface="微软雅黑" panose="020B0503020204020204" pitchFamily="34" charset="-122"/>
                <a:ea typeface="微软雅黑" panose="020B0503020204020204" pitchFamily="34" charset="-122"/>
              </a:rPr>
              <a:t>）输入方波后，模块会自动发射</a:t>
            </a:r>
            <a:r>
              <a:rPr lang="en-US" altLang="zh-CN" sz="1400" kern="100" dirty="0">
                <a:solidFill>
                  <a:srgbClr val="AB3341"/>
                </a:solidFill>
                <a:effectLst/>
                <a:latin typeface="微软雅黑" panose="020B0503020204020204" pitchFamily="34" charset="-122"/>
                <a:ea typeface="微软雅黑" panose="020B0503020204020204" pitchFamily="34" charset="-122"/>
              </a:rPr>
              <a:t>8</a:t>
            </a:r>
            <a:r>
              <a:rPr lang="zh-CN" altLang="zh-CN" sz="1400" kern="100" dirty="0">
                <a:solidFill>
                  <a:srgbClr val="AB3341"/>
                </a:solidFill>
                <a:effectLst/>
                <a:latin typeface="微软雅黑" panose="020B0503020204020204" pitchFamily="34" charset="-122"/>
                <a:ea typeface="微软雅黑" panose="020B0503020204020204" pitchFamily="34" charset="-122"/>
              </a:rPr>
              <a:t>个</a:t>
            </a:r>
            <a:r>
              <a:rPr lang="en-US" altLang="zh-CN" sz="1400" kern="100" dirty="0">
                <a:solidFill>
                  <a:srgbClr val="AB3341"/>
                </a:solidFill>
                <a:effectLst/>
                <a:latin typeface="微软雅黑" panose="020B0503020204020204" pitchFamily="34" charset="-122"/>
                <a:ea typeface="微软雅黑" panose="020B0503020204020204" pitchFamily="34" charset="-122"/>
              </a:rPr>
              <a:t>40KHz</a:t>
            </a:r>
            <a:r>
              <a:rPr lang="zh-CN" altLang="zh-CN" sz="1400" kern="100" dirty="0">
                <a:solidFill>
                  <a:srgbClr val="AB3341"/>
                </a:solidFill>
                <a:effectLst/>
                <a:latin typeface="微软雅黑" panose="020B0503020204020204" pitchFamily="34" charset="-122"/>
                <a:ea typeface="微软雅黑" panose="020B0503020204020204" pitchFamily="34" charset="-122"/>
              </a:rPr>
              <a:t>的声波，与此同时回波引脚</a:t>
            </a:r>
            <a:r>
              <a:rPr lang="en-US" altLang="zh-CN" sz="1400" kern="100" dirty="0">
                <a:solidFill>
                  <a:srgbClr val="AB3341"/>
                </a:solidFill>
                <a:effectLst/>
                <a:latin typeface="微软雅黑" panose="020B0503020204020204" pitchFamily="34" charset="-122"/>
                <a:ea typeface="微软雅黑" panose="020B0503020204020204" pitchFamily="34" charset="-122"/>
              </a:rPr>
              <a:t>Echo</a:t>
            </a:r>
            <a:r>
              <a:rPr lang="zh-CN" altLang="zh-CN" sz="1400" kern="100" dirty="0">
                <a:solidFill>
                  <a:srgbClr val="AB3341"/>
                </a:solidFill>
                <a:effectLst/>
                <a:latin typeface="微软雅黑" panose="020B0503020204020204" pitchFamily="34" charset="-122"/>
                <a:ea typeface="微软雅黑" panose="020B0503020204020204" pitchFamily="34" charset="-122"/>
              </a:rPr>
              <a:t>端的电平会由</a:t>
            </a:r>
            <a:r>
              <a:rPr lang="en-US" altLang="zh-CN" sz="1400" kern="100" dirty="0">
                <a:solidFill>
                  <a:srgbClr val="AB3341"/>
                </a:solidFill>
                <a:effectLst/>
                <a:latin typeface="微软雅黑" panose="020B0503020204020204" pitchFamily="34" charset="-122"/>
                <a:ea typeface="微软雅黑" panose="020B0503020204020204" pitchFamily="34" charset="-122"/>
              </a:rPr>
              <a:t>0</a:t>
            </a:r>
            <a:r>
              <a:rPr lang="zh-CN" altLang="zh-CN" sz="1400" kern="100" dirty="0">
                <a:solidFill>
                  <a:srgbClr val="AB3341"/>
                </a:solidFill>
                <a:effectLst/>
                <a:latin typeface="微软雅黑" panose="020B0503020204020204" pitchFamily="34" charset="-122"/>
                <a:ea typeface="微软雅黑" panose="020B0503020204020204" pitchFamily="34" charset="-122"/>
              </a:rPr>
              <a:t>变为</a:t>
            </a:r>
            <a:r>
              <a:rPr lang="en-US" altLang="zh-CN" sz="1400" kern="100" dirty="0">
                <a:solidFill>
                  <a:srgbClr val="AB3341"/>
                </a:solidFill>
                <a:effectLst/>
                <a:latin typeface="微软雅黑" panose="020B0503020204020204" pitchFamily="34" charset="-122"/>
                <a:ea typeface="微软雅黑" panose="020B0503020204020204" pitchFamily="34" charset="-122"/>
              </a:rPr>
              <a:t>1</a:t>
            </a:r>
            <a:r>
              <a:rPr lang="zh-CN" altLang="zh-CN" sz="1400" kern="100" dirty="0">
                <a:solidFill>
                  <a:srgbClr val="AB3341"/>
                </a:solidFill>
                <a:effectLst/>
                <a:latin typeface="微软雅黑" panose="020B0503020204020204" pitchFamily="34" charset="-122"/>
                <a:ea typeface="微软雅黑" panose="020B0503020204020204" pitchFamily="34" charset="-122"/>
              </a:rPr>
              <a:t>（此时启动定时器计时）；</a:t>
            </a:r>
          </a:p>
          <a:p>
            <a:pPr indent="304800" algn="just">
              <a:lnSpc>
                <a:spcPct val="125000"/>
              </a:lnSpc>
              <a:tabLst>
                <a:tab pos="2070735" algn="l"/>
              </a:tabLst>
            </a:pPr>
            <a:r>
              <a:rPr lang="zh-CN" altLang="zh-CN" sz="1400" kern="100" dirty="0">
                <a:solidFill>
                  <a:srgbClr val="AB3341"/>
                </a:solidFill>
                <a:effectLst/>
                <a:latin typeface="微软雅黑" panose="020B0503020204020204" pitchFamily="34" charset="-122"/>
                <a:ea typeface="微软雅黑" panose="020B0503020204020204" pitchFamily="34" charset="-122"/>
              </a:rPr>
              <a:t>（</a:t>
            </a:r>
            <a:r>
              <a:rPr lang="en-US" altLang="zh-CN" sz="1400" kern="100" dirty="0">
                <a:solidFill>
                  <a:srgbClr val="AB3341"/>
                </a:solidFill>
                <a:effectLst/>
                <a:latin typeface="微软雅黑" panose="020B0503020204020204" pitchFamily="34" charset="-122"/>
                <a:ea typeface="微软雅黑" panose="020B0503020204020204" pitchFamily="34" charset="-122"/>
              </a:rPr>
              <a:t>3</a:t>
            </a:r>
            <a:r>
              <a:rPr lang="zh-CN" altLang="zh-CN" sz="1400" kern="100" dirty="0">
                <a:solidFill>
                  <a:srgbClr val="AB3341"/>
                </a:solidFill>
                <a:effectLst/>
                <a:latin typeface="微软雅黑" panose="020B0503020204020204" pitchFamily="34" charset="-122"/>
                <a:ea typeface="微软雅黑" panose="020B0503020204020204" pitchFamily="34" charset="-122"/>
              </a:rPr>
              <a:t>）当超声波返回被模块接收到时，回波引脚端的电平会由</a:t>
            </a:r>
            <a:r>
              <a:rPr lang="en-US" altLang="zh-CN" sz="1400" kern="100" dirty="0">
                <a:solidFill>
                  <a:srgbClr val="AB3341"/>
                </a:solidFill>
                <a:effectLst/>
                <a:latin typeface="微软雅黑" panose="020B0503020204020204" pitchFamily="34" charset="-122"/>
                <a:ea typeface="微软雅黑" panose="020B0503020204020204" pitchFamily="34" charset="-122"/>
              </a:rPr>
              <a:t>1</a:t>
            </a:r>
            <a:r>
              <a:rPr lang="zh-CN" altLang="zh-CN" sz="1400" kern="100" dirty="0">
                <a:solidFill>
                  <a:srgbClr val="AB3341"/>
                </a:solidFill>
                <a:effectLst/>
                <a:latin typeface="微软雅黑" panose="020B0503020204020204" pitchFamily="34" charset="-122"/>
                <a:ea typeface="微软雅黑" panose="020B0503020204020204" pitchFamily="34" charset="-122"/>
              </a:rPr>
              <a:t>变为</a:t>
            </a:r>
            <a:r>
              <a:rPr lang="en-US" altLang="zh-CN" sz="1400" kern="100" dirty="0">
                <a:solidFill>
                  <a:srgbClr val="AB3341"/>
                </a:solidFill>
                <a:effectLst/>
                <a:latin typeface="微软雅黑" panose="020B0503020204020204" pitchFamily="34" charset="-122"/>
                <a:ea typeface="微软雅黑" panose="020B0503020204020204" pitchFamily="34" charset="-122"/>
              </a:rPr>
              <a:t>0</a:t>
            </a:r>
            <a:r>
              <a:rPr lang="zh-CN" altLang="zh-CN" sz="1400" kern="100" dirty="0">
                <a:solidFill>
                  <a:srgbClr val="AB3341"/>
                </a:solidFill>
                <a:effectLst/>
                <a:latin typeface="微软雅黑" panose="020B0503020204020204" pitchFamily="34" charset="-122"/>
                <a:ea typeface="微软雅黑" panose="020B0503020204020204" pitchFamily="34" charset="-122"/>
              </a:rPr>
              <a:t>（此时停止定时器计时），定时器记下的这个时间即为超声波由发射到返回的总时长；</a:t>
            </a:r>
          </a:p>
          <a:p>
            <a:pPr indent="304800" algn="just">
              <a:lnSpc>
                <a:spcPct val="125000"/>
              </a:lnSpc>
              <a:tabLst>
                <a:tab pos="2070735" algn="l"/>
              </a:tabLst>
            </a:pPr>
            <a:r>
              <a:rPr lang="zh-CN" altLang="zh-CN" sz="1400" kern="100" dirty="0">
                <a:solidFill>
                  <a:srgbClr val="AB3341"/>
                </a:solidFill>
                <a:effectLst/>
                <a:latin typeface="微软雅黑" panose="020B0503020204020204" pitchFamily="34" charset="-122"/>
                <a:ea typeface="微软雅黑" panose="020B0503020204020204" pitchFamily="34" charset="-122"/>
              </a:rPr>
              <a:t>（</a:t>
            </a:r>
            <a:r>
              <a:rPr lang="en-US" altLang="zh-CN" sz="1400" kern="100" dirty="0">
                <a:solidFill>
                  <a:srgbClr val="AB3341"/>
                </a:solidFill>
                <a:effectLst/>
                <a:latin typeface="微软雅黑" panose="020B0503020204020204" pitchFamily="34" charset="-122"/>
                <a:ea typeface="微软雅黑" panose="020B0503020204020204" pitchFamily="34" charset="-122"/>
              </a:rPr>
              <a:t>4</a:t>
            </a:r>
            <a:r>
              <a:rPr lang="zh-CN" altLang="zh-CN" sz="1400" kern="100" dirty="0">
                <a:solidFill>
                  <a:srgbClr val="AB3341"/>
                </a:solidFill>
                <a:effectLst/>
                <a:latin typeface="微软雅黑" panose="020B0503020204020204" pitchFamily="34" charset="-122"/>
                <a:ea typeface="微软雅黑" panose="020B0503020204020204" pitchFamily="34" charset="-122"/>
              </a:rPr>
              <a:t>）根据声音在空气中的速度，即可计算出所测的距离。</a:t>
            </a:r>
          </a:p>
        </p:txBody>
      </p:sp>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下位机软件开发</a:t>
            </a:r>
            <a:r>
              <a:rPr lang="en-US" altLang="zh-CN" dirty="0"/>
              <a:t>—HC-SR04</a:t>
            </a:r>
            <a:endParaRPr lang="zh-CN" altLang="en-US" dirty="0"/>
          </a:p>
        </p:txBody>
      </p:sp>
      <p:pic>
        <p:nvPicPr>
          <p:cNvPr id="3" name="图片 2">
            <a:extLst>
              <a:ext uri="{FF2B5EF4-FFF2-40B4-BE49-F238E27FC236}">
                <a16:creationId xmlns:a16="http://schemas.microsoft.com/office/drawing/2014/main" id="{64713172-46D2-4437-EB1B-8E9D3478FE50}"/>
              </a:ext>
            </a:extLst>
          </p:cNvPr>
          <p:cNvPicPr>
            <a:picLocks noChangeAspect="1"/>
          </p:cNvPicPr>
          <p:nvPr/>
        </p:nvPicPr>
        <p:blipFill>
          <a:blip r:embed="rId2"/>
          <a:stretch>
            <a:fillRect/>
          </a:stretch>
        </p:blipFill>
        <p:spPr>
          <a:xfrm>
            <a:off x="2421784" y="1279169"/>
            <a:ext cx="5400040" cy="2470150"/>
          </a:xfrm>
          <a:prstGeom prst="rect">
            <a:avLst/>
          </a:prstGeom>
        </p:spPr>
      </p:pic>
      <p:pic>
        <p:nvPicPr>
          <p:cNvPr id="4" name="图片 3">
            <a:extLst>
              <a:ext uri="{FF2B5EF4-FFF2-40B4-BE49-F238E27FC236}">
                <a16:creationId xmlns:a16="http://schemas.microsoft.com/office/drawing/2014/main" id="{58928FFA-5082-0205-588E-0E783D9A0E50}"/>
              </a:ext>
            </a:extLst>
          </p:cNvPr>
          <p:cNvPicPr>
            <a:picLocks noChangeAspect="1"/>
          </p:cNvPicPr>
          <p:nvPr/>
        </p:nvPicPr>
        <p:blipFill>
          <a:blip r:embed="rId3"/>
          <a:stretch>
            <a:fillRect/>
          </a:stretch>
        </p:blipFill>
        <p:spPr>
          <a:xfrm>
            <a:off x="2421784" y="4008851"/>
            <a:ext cx="5400040" cy="2373630"/>
          </a:xfrm>
          <a:prstGeom prst="rect">
            <a:avLst/>
          </a:prstGeom>
        </p:spPr>
      </p:pic>
      <p:pic>
        <p:nvPicPr>
          <p:cNvPr id="6" name="图片 5">
            <a:extLst>
              <a:ext uri="{FF2B5EF4-FFF2-40B4-BE49-F238E27FC236}">
                <a16:creationId xmlns:a16="http://schemas.microsoft.com/office/drawing/2014/main" id="{05D37795-4BBC-4634-9C6D-4CBACF8CFB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12387" y="1813264"/>
            <a:ext cx="4793565" cy="3544442"/>
          </a:xfrm>
          <a:prstGeom prst="rect">
            <a:avLst/>
          </a:prstGeom>
        </p:spPr>
      </p:pic>
    </p:spTree>
    <p:extLst>
      <p:ext uri="{BB962C8B-B14F-4D97-AF65-F5344CB8AC3E}">
        <p14:creationId xmlns:p14="http://schemas.microsoft.com/office/powerpoint/2010/main" val="249771991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下位机软件开发</a:t>
            </a:r>
            <a:r>
              <a:rPr lang="en-US" altLang="zh-CN" dirty="0"/>
              <a:t>—PWM</a:t>
            </a:r>
            <a:endParaRPr lang="zh-CN" altLang="en-US" dirty="0"/>
          </a:p>
        </p:txBody>
      </p:sp>
      <p:pic>
        <p:nvPicPr>
          <p:cNvPr id="3" name="图片 2">
            <a:extLst>
              <a:ext uri="{FF2B5EF4-FFF2-40B4-BE49-F238E27FC236}">
                <a16:creationId xmlns:a16="http://schemas.microsoft.com/office/drawing/2014/main" id="{520BD9B9-C5C6-D7E0-104C-A3FDFB5DC6A2}"/>
              </a:ext>
            </a:extLst>
          </p:cNvPr>
          <p:cNvPicPr>
            <a:picLocks noChangeAspect="1"/>
          </p:cNvPicPr>
          <p:nvPr/>
        </p:nvPicPr>
        <p:blipFill>
          <a:blip r:embed="rId2"/>
          <a:stretch>
            <a:fillRect/>
          </a:stretch>
        </p:blipFill>
        <p:spPr>
          <a:xfrm>
            <a:off x="3326765" y="1274762"/>
            <a:ext cx="3811270" cy="2276475"/>
          </a:xfrm>
          <a:prstGeom prst="rect">
            <a:avLst/>
          </a:prstGeom>
        </p:spPr>
      </p:pic>
      <p:sp>
        <p:nvSpPr>
          <p:cNvPr id="5" name="文本框 4">
            <a:extLst>
              <a:ext uri="{FF2B5EF4-FFF2-40B4-BE49-F238E27FC236}">
                <a16:creationId xmlns:a16="http://schemas.microsoft.com/office/drawing/2014/main" id="{B00E381A-BA4D-4DB4-25F8-0B772AA08D38}"/>
              </a:ext>
            </a:extLst>
          </p:cNvPr>
          <p:cNvSpPr txBox="1"/>
          <p:nvPr/>
        </p:nvSpPr>
        <p:spPr>
          <a:xfrm>
            <a:off x="2353734" y="3624138"/>
            <a:ext cx="6096000" cy="2827056"/>
          </a:xfrm>
          <a:prstGeom prst="rect">
            <a:avLst/>
          </a:prstGeom>
          <a:noFill/>
        </p:spPr>
        <p:txBody>
          <a:bodyPr wrap="square">
            <a:spAutoFit/>
          </a:bodyPr>
          <a:lstStyle/>
          <a:p>
            <a:pPr indent="304800" algn="just">
              <a:lnSpc>
                <a:spcPct val="125000"/>
              </a:lnSpc>
              <a:tabLst>
                <a:tab pos="2070735" algn="l"/>
              </a:tabLst>
            </a:pPr>
            <a:r>
              <a:rPr lang="zh-CN" altLang="zh-CN" kern="100" dirty="0">
                <a:solidFill>
                  <a:srgbClr val="AB3341"/>
                </a:solidFill>
                <a:effectLst/>
                <a:latin typeface="微软雅黑" panose="020B0503020204020204" pitchFamily="34" charset="-122"/>
                <a:ea typeface="微软雅黑" panose="020B0503020204020204" pitchFamily="34" charset="-122"/>
              </a:rPr>
              <a:t>假定定时器工作在向上计数</a:t>
            </a:r>
            <a:r>
              <a:rPr lang="en-US" altLang="zh-CN" kern="100" dirty="0">
                <a:solidFill>
                  <a:srgbClr val="AB3341"/>
                </a:solidFill>
                <a:effectLst/>
                <a:latin typeface="微软雅黑" panose="020B0503020204020204" pitchFamily="34" charset="-122"/>
                <a:ea typeface="微软雅黑" panose="020B0503020204020204" pitchFamily="34" charset="-122"/>
              </a:rPr>
              <a:t>PWM</a:t>
            </a:r>
            <a:r>
              <a:rPr lang="zh-CN" altLang="zh-CN" kern="100" dirty="0">
                <a:solidFill>
                  <a:srgbClr val="AB3341"/>
                </a:solidFill>
                <a:effectLst/>
                <a:latin typeface="微软雅黑" panose="020B0503020204020204" pitchFamily="34" charset="-122"/>
                <a:ea typeface="微软雅黑" panose="020B0503020204020204" pitchFamily="34" charset="-122"/>
              </a:rPr>
              <a:t>模式，当</a:t>
            </a:r>
            <a:r>
              <a:rPr lang="en-US" altLang="zh-CN" kern="100" dirty="0">
                <a:solidFill>
                  <a:srgbClr val="AB3341"/>
                </a:solidFill>
                <a:effectLst/>
                <a:latin typeface="微软雅黑" panose="020B0503020204020204" pitchFamily="34" charset="-122"/>
                <a:ea typeface="微软雅黑" panose="020B0503020204020204" pitchFamily="34" charset="-122"/>
              </a:rPr>
              <a:t>CNT&lt;CCR</a:t>
            </a:r>
            <a:r>
              <a:rPr lang="zh-CN" altLang="zh-CN" kern="100" dirty="0">
                <a:solidFill>
                  <a:srgbClr val="AB3341"/>
                </a:solidFill>
                <a:effectLst/>
                <a:latin typeface="微软雅黑" panose="020B0503020204020204" pitchFamily="34" charset="-122"/>
                <a:ea typeface="微软雅黑" panose="020B0503020204020204" pitchFamily="34" charset="-122"/>
              </a:rPr>
              <a:t>时，输出</a:t>
            </a:r>
            <a:r>
              <a:rPr lang="en-US" altLang="zh-CN" kern="100" dirty="0">
                <a:solidFill>
                  <a:srgbClr val="AB3341"/>
                </a:solidFill>
                <a:effectLst/>
                <a:latin typeface="微软雅黑" panose="020B0503020204020204" pitchFamily="34" charset="-122"/>
                <a:ea typeface="微软雅黑" panose="020B0503020204020204" pitchFamily="34" charset="-122"/>
              </a:rPr>
              <a:t>0</a:t>
            </a:r>
            <a:r>
              <a:rPr lang="zh-CN" altLang="zh-CN" kern="100" dirty="0">
                <a:solidFill>
                  <a:srgbClr val="AB3341"/>
                </a:solidFill>
                <a:effectLst/>
                <a:latin typeface="微软雅黑" panose="020B0503020204020204" pitchFamily="34" charset="-122"/>
                <a:ea typeface="微软雅黑" panose="020B0503020204020204" pitchFamily="34" charset="-122"/>
              </a:rPr>
              <a:t>，当</a:t>
            </a:r>
            <a:r>
              <a:rPr lang="en-US" altLang="zh-CN" kern="100" dirty="0">
                <a:solidFill>
                  <a:srgbClr val="AB3341"/>
                </a:solidFill>
                <a:effectLst/>
                <a:latin typeface="微软雅黑" panose="020B0503020204020204" pitchFamily="34" charset="-122"/>
                <a:ea typeface="微软雅黑" panose="020B0503020204020204" pitchFamily="34" charset="-122"/>
              </a:rPr>
              <a:t>CNT&gt;=CCRx</a:t>
            </a:r>
            <a:r>
              <a:rPr lang="zh-CN" altLang="zh-CN" kern="100" dirty="0">
                <a:solidFill>
                  <a:srgbClr val="AB3341"/>
                </a:solidFill>
                <a:effectLst/>
                <a:latin typeface="微软雅黑" panose="020B0503020204020204" pitchFamily="34" charset="-122"/>
                <a:ea typeface="微软雅黑" panose="020B0503020204020204" pitchFamily="34" charset="-122"/>
              </a:rPr>
              <a:t>时输出</a:t>
            </a:r>
            <a:r>
              <a:rPr lang="en-US" altLang="zh-CN" kern="100" dirty="0">
                <a:solidFill>
                  <a:srgbClr val="AB3341"/>
                </a:solidFill>
                <a:effectLst/>
                <a:latin typeface="微软雅黑" panose="020B0503020204020204" pitchFamily="34" charset="-122"/>
                <a:ea typeface="微软雅黑" panose="020B0503020204020204" pitchFamily="34" charset="-122"/>
              </a:rPr>
              <a:t>1</a:t>
            </a:r>
            <a:r>
              <a:rPr lang="zh-CN" altLang="zh-CN" kern="100" dirty="0">
                <a:solidFill>
                  <a:srgbClr val="AB3341"/>
                </a:solidFill>
                <a:effectLst/>
                <a:latin typeface="微软雅黑" panose="020B0503020204020204" pitchFamily="34" charset="-122"/>
                <a:ea typeface="微软雅黑" panose="020B0503020204020204" pitchFamily="34" charset="-122"/>
              </a:rPr>
              <a:t>。那么就可以得到如</a:t>
            </a:r>
            <a:r>
              <a:rPr lang="zh-CN" altLang="en-US" kern="100" dirty="0">
                <a:solidFill>
                  <a:srgbClr val="AB3341"/>
                </a:solidFill>
                <a:effectLst/>
                <a:latin typeface="微软雅黑" panose="020B0503020204020204" pitchFamily="34" charset="-122"/>
                <a:ea typeface="微软雅黑" panose="020B0503020204020204" pitchFamily="34" charset="-122"/>
              </a:rPr>
              <a:t>上</a:t>
            </a:r>
            <a:r>
              <a:rPr lang="zh-CN" altLang="zh-CN" kern="100" dirty="0">
                <a:solidFill>
                  <a:srgbClr val="AB3341"/>
                </a:solidFill>
                <a:effectLst/>
                <a:latin typeface="微软雅黑" panose="020B0503020204020204" pitchFamily="34" charset="-122"/>
                <a:ea typeface="微软雅黑" panose="020B0503020204020204" pitchFamily="34" charset="-122"/>
              </a:rPr>
              <a:t>的</a:t>
            </a:r>
            <a:r>
              <a:rPr lang="en-US" altLang="zh-CN" kern="100" dirty="0">
                <a:solidFill>
                  <a:srgbClr val="AB3341"/>
                </a:solidFill>
                <a:effectLst/>
                <a:latin typeface="微软雅黑" panose="020B0503020204020204" pitchFamily="34" charset="-122"/>
                <a:ea typeface="微软雅黑" panose="020B0503020204020204" pitchFamily="34" charset="-122"/>
              </a:rPr>
              <a:t>PWM</a:t>
            </a:r>
            <a:r>
              <a:rPr lang="zh-CN" altLang="zh-CN" kern="100" dirty="0">
                <a:solidFill>
                  <a:srgbClr val="AB3341"/>
                </a:solidFill>
                <a:effectLst/>
                <a:latin typeface="微软雅黑" panose="020B0503020204020204" pitchFamily="34" charset="-122"/>
                <a:ea typeface="微软雅黑" panose="020B0503020204020204" pitchFamily="34" charset="-122"/>
              </a:rPr>
              <a:t>示意图：当</a:t>
            </a:r>
            <a:r>
              <a:rPr lang="en-US" altLang="zh-CN" kern="100" dirty="0">
                <a:solidFill>
                  <a:srgbClr val="AB3341"/>
                </a:solidFill>
                <a:effectLst/>
                <a:latin typeface="微软雅黑" panose="020B0503020204020204" pitchFamily="34" charset="-122"/>
                <a:ea typeface="微软雅黑" panose="020B0503020204020204" pitchFamily="34" charset="-122"/>
              </a:rPr>
              <a:t>CNT</a:t>
            </a:r>
            <a:r>
              <a:rPr lang="zh-CN" altLang="zh-CN" kern="100" dirty="0">
                <a:solidFill>
                  <a:srgbClr val="AB3341"/>
                </a:solidFill>
                <a:effectLst/>
                <a:latin typeface="微软雅黑" panose="020B0503020204020204" pitchFamily="34" charset="-122"/>
                <a:ea typeface="微软雅黑" panose="020B0503020204020204" pitchFamily="34" charset="-122"/>
              </a:rPr>
              <a:t>值小于</a:t>
            </a:r>
            <a:r>
              <a:rPr lang="en-US" altLang="zh-CN" kern="100" dirty="0">
                <a:solidFill>
                  <a:srgbClr val="AB3341"/>
                </a:solidFill>
                <a:effectLst/>
                <a:latin typeface="微软雅黑" panose="020B0503020204020204" pitchFamily="34" charset="-122"/>
                <a:ea typeface="微软雅黑" panose="020B0503020204020204" pitchFamily="34" charset="-122"/>
              </a:rPr>
              <a:t>CCRx</a:t>
            </a:r>
            <a:r>
              <a:rPr lang="zh-CN" altLang="zh-CN" kern="100" dirty="0">
                <a:solidFill>
                  <a:srgbClr val="AB3341"/>
                </a:solidFill>
                <a:effectLst/>
                <a:latin typeface="微软雅黑" panose="020B0503020204020204" pitchFamily="34" charset="-122"/>
                <a:ea typeface="微软雅黑" panose="020B0503020204020204" pitchFamily="34" charset="-122"/>
              </a:rPr>
              <a:t>的时候，</a:t>
            </a:r>
            <a:r>
              <a:rPr lang="en-US" altLang="zh-CN" kern="100" dirty="0">
                <a:solidFill>
                  <a:srgbClr val="AB3341"/>
                </a:solidFill>
                <a:effectLst/>
                <a:latin typeface="微软雅黑" panose="020B0503020204020204" pitchFamily="34" charset="-122"/>
                <a:ea typeface="微软雅黑" panose="020B0503020204020204" pitchFamily="34" charset="-122"/>
              </a:rPr>
              <a:t>IO</a:t>
            </a:r>
            <a:r>
              <a:rPr lang="zh-CN" altLang="zh-CN" kern="100" dirty="0">
                <a:solidFill>
                  <a:srgbClr val="AB3341"/>
                </a:solidFill>
                <a:effectLst/>
                <a:latin typeface="微软雅黑" panose="020B0503020204020204" pitchFamily="34" charset="-122"/>
                <a:ea typeface="微软雅黑" panose="020B0503020204020204" pitchFamily="34" charset="-122"/>
              </a:rPr>
              <a:t>输出低电平</a:t>
            </a:r>
            <a:r>
              <a:rPr lang="en-US" altLang="zh-CN" kern="100" dirty="0">
                <a:solidFill>
                  <a:srgbClr val="AB3341"/>
                </a:solidFill>
                <a:effectLst/>
                <a:latin typeface="微软雅黑" panose="020B0503020204020204" pitchFamily="34" charset="-122"/>
                <a:ea typeface="微软雅黑" panose="020B0503020204020204" pitchFamily="34" charset="-122"/>
              </a:rPr>
              <a:t>(0)</a:t>
            </a:r>
            <a:r>
              <a:rPr lang="zh-CN" altLang="zh-CN" kern="100" dirty="0">
                <a:solidFill>
                  <a:srgbClr val="AB3341"/>
                </a:solidFill>
                <a:effectLst/>
                <a:latin typeface="微软雅黑" panose="020B0503020204020204" pitchFamily="34" charset="-122"/>
                <a:ea typeface="微软雅黑" panose="020B0503020204020204" pitchFamily="34" charset="-122"/>
              </a:rPr>
              <a:t>，当</a:t>
            </a:r>
            <a:r>
              <a:rPr lang="en-US" altLang="zh-CN" kern="100" dirty="0">
                <a:solidFill>
                  <a:srgbClr val="AB3341"/>
                </a:solidFill>
                <a:effectLst/>
                <a:latin typeface="微软雅黑" panose="020B0503020204020204" pitchFamily="34" charset="-122"/>
                <a:ea typeface="微软雅黑" panose="020B0503020204020204" pitchFamily="34" charset="-122"/>
              </a:rPr>
              <a:t>CNT</a:t>
            </a:r>
            <a:r>
              <a:rPr lang="zh-CN" altLang="zh-CN" kern="100" dirty="0">
                <a:solidFill>
                  <a:srgbClr val="AB3341"/>
                </a:solidFill>
                <a:effectLst/>
                <a:latin typeface="微软雅黑" panose="020B0503020204020204" pitchFamily="34" charset="-122"/>
                <a:ea typeface="微软雅黑" panose="020B0503020204020204" pitchFamily="34" charset="-122"/>
              </a:rPr>
              <a:t>值大于等于 </a:t>
            </a:r>
            <a:r>
              <a:rPr lang="en-US" altLang="zh-CN" kern="100" dirty="0">
                <a:solidFill>
                  <a:srgbClr val="AB3341"/>
                </a:solidFill>
                <a:effectLst/>
                <a:latin typeface="微软雅黑" panose="020B0503020204020204" pitchFamily="34" charset="-122"/>
                <a:ea typeface="微软雅黑" panose="020B0503020204020204" pitchFamily="34" charset="-122"/>
              </a:rPr>
              <a:t>CCRx</a:t>
            </a:r>
            <a:r>
              <a:rPr lang="zh-CN" altLang="zh-CN" kern="100" dirty="0">
                <a:solidFill>
                  <a:srgbClr val="AB3341"/>
                </a:solidFill>
                <a:effectLst/>
                <a:latin typeface="微软雅黑" panose="020B0503020204020204" pitchFamily="34" charset="-122"/>
                <a:ea typeface="微软雅黑" panose="020B0503020204020204" pitchFamily="34" charset="-122"/>
              </a:rPr>
              <a:t>的时候，</a:t>
            </a:r>
            <a:r>
              <a:rPr lang="en-US" altLang="zh-CN" kern="100" dirty="0">
                <a:solidFill>
                  <a:srgbClr val="AB3341"/>
                </a:solidFill>
                <a:effectLst/>
                <a:latin typeface="微软雅黑" panose="020B0503020204020204" pitchFamily="34" charset="-122"/>
                <a:ea typeface="微软雅黑" panose="020B0503020204020204" pitchFamily="34" charset="-122"/>
              </a:rPr>
              <a:t>IO</a:t>
            </a:r>
            <a:r>
              <a:rPr lang="zh-CN" altLang="zh-CN" kern="100" dirty="0">
                <a:solidFill>
                  <a:srgbClr val="AB3341"/>
                </a:solidFill>
                <a:effectLst/>
                <a:latin typeface="微软雅黑" panose="020B0503020204020204" pitchFamily="34" charset="-122"/>
                <a:ea typeface="微软雅黑" panose="020B0503020204020204" pitchFamily="34" charset="-122"/>
              </a:rPr>
              <a:t>输出高电平</a:t>
            </a:r>
            <a:r>
              <a:rPr lang="en-US" altLang="zh-CN" kern="100" dirty="0">
                <a:solidFill>
                  <a:srgbClr val="AB3341"/>
                </a:solidFill>
                <a:effectLst/>
                <a:latin typeface="微软雅黑" panose="020B0503020204020204" pitchFamily="34" charset="-122"/>
                <a:ea typeface="微软雅黑" panose="020B0503020204020204" pitchFamily="34" charset="-122"/>
              </a:rPr>
              <a:t>(1)</a:t>
            </a:r>
            <a:r>
              <a:rPr lang="zh-CN" altLang="zh-CN" kern="100" dirty="0">
                <a:solidFill>
                  <a:srgbClr val="AB3341"/>
                </a:solidFill>
                <a:effectLst/>
                <a:latin typeface="微软雅黑" panose="020B0503020204020204" pitchFamily="34" charset="-122"/>
                <a:ea typeface="微软雅黑" panose="020B0503020204020204" pitchFamily="34" charset="-122"/>
              </a:rPr>
              <a:t>，当</a:t>
            </a:r>
            <a:r>
              <a:rPr lang="en-US" altLang="zh-CN" kern="100" dirty="0">
                <a:solidFill>
                  <a:srgbClr val="AB3341"/>
                </a:solidFill>
                <a:effectLst/>
                <a:latin typeface="微软雅黑" panose="020B0503020204020204" pitchFamily="34" charset="-122"/>
                <a:ea typeface="微软雅黑" panose="020B0503020204020204" pitchFamily="34" charset="-122"/>
              </a:rPr>
              <a:t>CNT</a:t>
            </a:r>
            <a:r>
              <a:rPr lang="zh-CN" altLang="zh-CN" kern="100" dirty="0">
                <a:solidFill>
                  <a:srgbClr val="AB3341"/>
                </a:solidFill>
                <a:effectLst/>
                <a:latin typeface="微软雅黑" panose="020B0503020204020204" pitchFamily="34" charset="-122"/>
                <a:ea typeface="微软雅黑" panose="020B0503020204020204" pitchFamily="34" charset="-122"/>
              </a:rPr>
              <a:t>达到</a:t>
            </a:r>
            <a:r>
              <a:rPr lang="en-US" altLang="zh-CN" kern="100" dirty="0">
                <a:solidFill>
                  <a:srgbClr val="AB3341"/>
                </a:solidFill>
                <a:effectLst/>
                <a:latin typeface="微软雅黑" panose="020B0503020204020204" pitchFamily="34" charset="-122"/>
                <a:ea typeface="微软雅黑" panose="020B0503020204020204" pitchFamily="34" charset="-122"/>
              </a:rPr>
              <a:t>ARR</a:t>
            </a:r>
            <a:r>
              <a:rPr lang="zh-CN" altLang="zh-CN" kern="100" dirty="0">
                <a:solidFill>
                  <a:srgbClr val="AB3341"/>
                </a:solidFill>
                <a:effectLst/>
                <a:latin typeface="微软雅黑" panose="020B0503020204020204" pitchFamily="34" charset="-122"/>
                <a:ea typeface="微软雅黑" panose="020B0503020204020204" pitchFamily="34" charset="-122"/>
              </a:rPr>
              <a:t>值的时候，重新归零，然后重新向上计数，依次循环。改变</a:t>
            </a:r>
            <a:r>
              <a:rPr lang="en-US" altLang="zh-CN" kern="100" dirty="0">
                <a:solidFill>
                  <a:srgbClr val="AB3341"/>
                </a:solidFill>
                <a:effectLst/>
                <a:latin typeface="微软雅黑" panose="020B0503020204020204" pitchFamily="34" charset="-122"/>
                <a:ea typeface="微软雅黑" panose="020B0503020204020204" pitchFamily="34" charset="-122"/>
              </a:rPr>
              <a:t>CCRx</a:t>
            </a:r>
            <a:r>
              <a:rPr lang="zh-CN" altLang="zh-CN" kern="100" dirty="0">
                <a:solidFill>
                  <a:srgbClr val="AB3341"/>
                </a:solidFill>
                <a:effectLst/>
                <a:latin typeface="微软雅黑" panose="020B0503020204020204" pitchFamily="34" charset="-122"/>
                <a:ea typeface="微软雅黑" panose="020B0503020204020204" pitchFamily="34" charset="-122"/>
              </a:rPr>
              <a:t>的值，就可以改变</a:t>
            </a:r>
            <a:r>
              <a:rPr lang="en-US" altLang="zh-CN" kern="100" dirty="0">
                <a:solidFill>
                  <a:srgbClr val="AB3341"/>
                </a:solidFill>
                <a:effectLst/>
                <a:latin typeface="微软雅黑" panose="020B0503020204020204" pitchFamily="34" charset="-122"/>
                <a:ea typeface="微软雅黑" panose="020B0503020204020204" pitchFamily="34" charset="-122"/>
              </a:rPr>
              <a:t>PWM</a:t>
            </a:r>
            <a:r>
              <a:rPr lang="zh-CN" altLang="zh-CN" kern="100" dirty="0">
                <a:solidFill>
                  <a:srgbClr val="AB3341"/>
                </a:solidFill>
                <a:effectLst/>
                <a:latin typeface="微软雅黑" panose="020B0503020204020204" pitchFamily="34" charset="-122"/>
                <a:ea typeface="微软雅黑" panose="020B0503020204020204" pitchFamily="34" charset="-122"/>
              </a:rPr>
              <a:t>输出的占空比，改变</a:t>
            </a:r>
            <a:r>
              <a:rPr lang="en-US" altLang="zh-CN" kern="100" dirty="0">
                <a:solidFill>
                  <a:srgbClr val="AB3341"/>
                </a:solidFill>
                <a:effectLst/>
                <a:latin typeface="微软雅黑" panose="020B0503020204020204" pitchFamily="34" charset="-122"/>
                <a:ea typeface="微软雅黑" panose="020B0503020204020204" pitchFamily="34" charset="-122"/>
              </a:rPr>
              <a:t>ARR</a:t>
            </a:r>
            <a:r>
              <a:rPr lang="zh-CN" altLang="zh-CN" kern="100" dirty="0">
                <a:solidFill>
                  <a:srgbClr val="AB3341"/>
                </a:solidFill>
                <a:effectLst/>
                <a:latin typeface="微软雅黑" panose="020B0503020204020204" pitchFamily="34" charset="-122"/>
                <a:ea typeface="微软雅黑" panose="020B0503020204020204" pitchFamily="34" charset="-122"/>
              </a:rPr>
              <a:t>的值，就可以改变</a:t>
            </a:r>
            <a:r>
              <a:rPr lang="en-US" altLang="zh-CN" kern="100" dirty="0">
                <a:solidFill>
                  <a:srgbClr val="AB3341"/>
                </a:solidFill>
                <a:effectLst/>
                <a:latin typeface="微软雅黑" panose="020B0503020204020204" pitchFamily="34" charset="-122"/>
                <a:ea typeface="微软雅黑" panose="020B0503020204020204" pitchFamily="34" charset="-122"/>
              </a:rPr>
              <a:t>PWM</a:t>
            </a:r>
            <a:r>
              <a:rPr lang="zh-CN" altLang="zh-CN" kern="100" dirty="0">
                <a:solidFill>
                  <a:srgbClr val="AB3341"/>
                </a:solidFill>
                <a:effectLst/>
                <a:latin typeface="微软雅黑" panose="020B0503020204020204" pitchFamily="34" charset="-122"/>
                <a:ea typeface="微软雅黑" panose="020B0503020204020204" pitchFamily="34" charset="-122"/>
              </a:rPr>
              <a:t>输出的频率，这就是</a:t>
            </a:r>
            <a:r>
              <a:rPr lang="en-US" altLang="zh-CN" kern="100" dirty="0">
                <a:solidFill>
                  <a:srgbClr val="AB3341"/>
                </a:solidFill>
                <a:effectLst/>
                <a:latin typeface="微软雅黑" panose="020B0503020204020204" pitchFamily="34" charset="-122"/>
                <a:ea typeface="微软雅黑" panose="020B0503020204020204" pitchFamily="34" charset="-122"/>
              </a:rPr>
              <a:t>PWM</a:t>
            </a:r>
            <a:r>
              <a:rPr lang="zh-CN" altLang="zh-CN" kern="100" dirty="0">
                <a:solidFill>
                  <a:srgbClr val="AB3341"/>
                </a:solidFill>
                <a:effectLst/>
                <a:latin typeface="微软雅黑" panose="020B0503020204020204" pitchFamily="34" charset="-122"/>
                <a:ea typeface="微软雅黑" panose="020B0503020204020204" pitchFamily="34" charset="-122"/>
              </a:rPr>
              <a:t>输出的原理。</a:t>
            </a:r>
            <a:endParaRPr lang="zh-CN" altLang="zh-CN" sz="1400" kern="100" dirty="0">
              <a:solidFill>
                <a:srgbClr val="AB334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07860984"/>
      </p:ext>
    </p:extLst>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下位机软件开发</a:t>
            </a:r>
            <a:r>
              <a:rPr lang="en-US" altLang="zh-CN" dirty="0"/>
              <a:t>—PWM</a:t>
            </a:r>
            <a:endParaRPr lang="zh-CN" altLang="en-US" dirty="0"/>
          </a:p>
        </p:txBody>
      </p:sp>
      <p:pic>
        <p:nvPicPr>
          <p:cNvPr id="3" name="图片 2">
            <a:extLst>
              <a:ext uri="{FF2B5EF4-FFF2-40B4-BE49-F238E27FC236}">
                <a16:creationId xmlns:a16="http://schemas.microsoft.com/office/drawing/2014/main" id="{520BD9B9-C5C6-D7E0-104C-A3FDFB5DC6A2}"/>
              </a:ext>
            </a:extLst>
          </p:cNvPr>
          <p:cNvPicPr>
            <a:picLocks noChangeAspect="1"/>
          </p:cNvPicPr>
          <p:nvPr/>
        </p:nvPicPr>
        <p:blipFill>
          <a:blip r:embed="rId2"/>
          <a:stretch>
            <a:fillRect/>
          </a:stretch>
        </p:blipFill>
        <p:spPr>
          <a:xfrm>
            <a:off x="393065" y="1332414"/>
            <a:ext cx="3811270" cy="2276475"/>
          </a:xfrm>
          <a:prstGeom prst="rect">
            <a:avLst/>
          </a:prstGeom>
        </p:spPr>
      </p:pic>
      <p:sp>
        <p:nvSpPr>
          <p:cNvPr id="6" name="文本框 5">
            <a:extLst>
              <a:ext uri="{FF2B5EF4-FFF2-40B4-BE49-F238E27FC236}">
                <a16:creationId xmlns:a16="http://schemas.microsoft.com/office/drawing/2014/main" id="{8FDB68BA-82C3-897B-E7B4-F21F22925E0F}"/>
              </a:ext>
            </a:extLst>
          </p:cNvPr>
          <p:cNvSpPr txBox="1"/>
          <p:nvPr/>
        </p:nvSpPr>
        <p:spPr>
          <a:xfrm>
            <a:off x="2370667" y="3921667"/>
            <a:ext cx="6573308" cy="1408078"/>
          </a:xfrm>
          <a:prstGeom prst="rect">
            <a:avLst/>
          </a:prstGeom>
          <a:noFill/>
        </p:spPr>
        <p:txBody>
          <a:bodyPr wrap="square">
            <a:spAutoFit/>
          </a:bodyPr>
          <a:lstStyle/>
          <a:p>
            <a:pPr algn="just">
              <a:lnSpc>
                <a:spcPct val="125000"/>
              </a:lnSpc>
            </a:pPr>
            <a:r>
              <a:rPr lang="zh-CN" altLang="en-US"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具体涉及定时器</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800" dirty="0">
                <a:solidFill>
                  <a:srgbClr val="AB3341"/>
                </a:solidFill>
                <a:effectLst/>
                <a:latin typeface="微软雅黑" panose="020B0503020204020204" pitchFamily="34" charset="-122"/>
                <a:ea typeface="微软雅黑" panose="020B0503020204020204" pitchFamily="34" charset="-122"/>
              </a:rPr>
              <a:t>PSC</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（预分频器）</a:t>
            </a:r>
            <a:r>
              <a:rPr lang="zh-CN" altLang="en-US"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与</a:t>
            </a:r>
            <a:r>
              <a:rPr lang="en-US" altLang="zh-CN" sz="1800" dirty="0">
                <a:solidFill>
                  <a:srgbClr val="AB3341"/>
                </a:solidFill>
                <a:effectLst/>
                <a:latin typeface="微软雅黑" panose="020B0503020204020204" pitchFamily="34" charset="-122"/>
                <a:ea typeface="微软雅黑" panose="020B0503020204020204" pitchFamily="34" charset="-122"/>
              </a:rPr>
              <a:t>ARR</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（主计数器）</a:t>
            </a:r>
            <a:r>
              <a:rPr lang="zh-CN" altLang="en-US"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等参数。</a:t>
            </a:r>
            <a:endParaRPr lang="en-US"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25000"/>
              </a:lnSpc>
            </a:pPr>
            <a:r>
              <a:rPr lang="en-US" altLang="zh-CN" sz="1800" kern="100" dirty="0">
                <a:solidFill>
                  <a:srgbClr val="AB3341"/>
                </a:solidFill>
                <a:effectLst/>
                <a:latin typeface="微软雅黑" panose="020B0503020204020204" pitchFamily="34" charset="-122"/>
                <a:ea typeface="微软雅黑" panose="020B0503020204020204" pitchFamily="34" charset="-122"/>
              </a:rPr>
              <a:t>PWM</a:t>
            </a:r>
            <a:r>
              <a:rPr lang="zh-CN" altLang="en-US" sz="1800" kern="100" dirty="0">
                <a:solidFill>
                  <a:srgbClr val="AB3341"/>
                </a:solidFill>
                <a:effectLst/>
                <a:latin typeface="微软雅黑" panose="020B0503020204020204" pitchFamily="34" charset="-122"/>
                <a:ea typeface="微软雅黑" panose="020B0503020204020204" pitchFamily="34" charset="-122"/>
              </a:rPr>
              <a:t>输出频率</a:t>
            </a:r>
            <a:r>
              <a:rPr lang="en-US" altLang="zh-CN" sz="1800" kern="100" dirty="0">
                <a:solidFill>
                  <a:srgbClr val="AB3341"/>
                </a:solidFill>
                <a:effectLst/>
                <a:latin typeface="微软雅黑" panose="020B0503020204020204" pitchFamily="34" charset="-122"/>
                <a:ea typeface="微软雅黑" panose="020B0503020204020204" pitchFamily="34" charset="-122"/>
              </a:rPr>
              <a:t>=</a:t>
            </a:r>
            <a:r>
              <a:rPr lang="zh-CN" altLang="zh-CN" sz="1800" kern="100" dirty="0">
                <a:solidFill>
                  <a:srgbClr val="AB3341"/>
                </a:solidFill>
                <a:effectLst/>
                <a:latin typeface="微软雅黑" panose="020B0503020204020204" pitchFamily="34" charset="-122"/>
                <a:ea typeface="微软雅黑" panose="020B0503020204020204" pitchFamily="34" charset="-122"/>
              </a:rPr>
              <a:t>定时器时钟频率</a:t>
            </a:r>
            <a:r>
              <a:rPr lang="en-US" altLang="zh-CN" sz="1800" kern="100" dirty="0">
                <a:solidFill>
                  <a:srgbClr val="AB3341"/>
                </a:solidFill>
                <a:effectLst/>
                <a:latin typeface="微软雅黑" panose="020B0503020204020204" pitchFamily="34" charset="-122"/>
                <a:ea typeface="微软雅黑" panose="020B0503020204020204" pitchFamily="34" charset="-122"/>
              </a:rPr>
              <a:t> / [</a:t>
            </a:r>
            <a:r>
              <a:rPr lang="zh-CN" altLang="zh-CN" sz="1800" kern="100" dirty="0">
                <a:solidFill>
                  <a:srgbClr val="AB3341"/>
                </a:solidFill>
                <a:effectLst/>
                <a:latin typeface="微软雅黑" panose="020B0503020204020204" pitchFamily="34" charset="-122"/>
                <a:ea typeface="微软雅黑" panose="020B0503020204020204" pitchFamily="34" charset="-122"/>
              </a:rPr>
              <a:t>（</a:t>
            </a:r>
            <a:r>
              <a:rPr lang="en-US" altLang="zh-CN" sz="1800" kern="100" dirty="0">
                <a:solidFill>
                  <a:srgbClr val="AB3341"/>
                </a:solidFill>
                <a:effectLst/>
                <a:latin typeface="微软雅黑" panose="020B0503020204020204" pitchFamily="34" charset="-122"/>
                <a:ea typeface="微软雅黑" panose="020B0503020204020204" pitchFamily="34" charset="-122"/>
              </a:rPr>
              <a:t>PSC+1</a:t>
            </a:r>
            <a:r>
              <a:rPr lang="zh-CN" altLang="zh-CN" sz="1800" kern="100" dirty="0">
                <a:solidFill>
                  <a:srgbClr val="AB3341"/>
                </a:solidFill>
                <a:effectLst/>
                <a:latin typeface="微软雅黑" panose="020B0503020204020204" pitchFamily="34" charset="-122"/>
                <a:ea typeface="微软雅黑" panose="020B0503020204020204" pitchFamily="34" charset="-122"/>
              </a:rPr>
              <a:t>）</a:t>
            </a:r>
            <a:r>
              <a:rPr lang="en-US" altLang="zh-CN" sz="1800" kern="100" dirty="0">
                <a:solidFill>
                  <a:srgbClr val="AB3341"/>
                </a:solidFill>
                <a:effectLst/>
                <a:latin typeface="微软雅黑" panose="020B0503020204020204" pitchFamily="34" charset="-122"/>
                <a:ea typeface="微软雅黑" panose="020B0503020204020204" pitchFamily="34" charset="-122"/>
              </a:rPr>
              <a:t>×</a:t>
            </a:r>
            <a:r>
              <a:rPr lang="zh-CN" altLang="zh-CN" sz="1800" kern="100" dirty="0">
                <a:solidFill>
                  <a:srgbClr val="AB3341"/>
                </a:solidFill>
                <a:effectLst/>
                <a:latin typeface="微软雅黑" panose="020B0503020204020204" pitchFamily="34" charset="-122"/>
                <a:ea typeface="微软雅黑" panose="020B0503020204020204" pitchFamily="34" charset="-122"/>
              </a:rPr>
              <a:t>（</a:t>
            </a:r>
            <a:r>
              <a:rPr lang="en-US" altLang="zh-CN" sz="1800" kern="100" dirty="0">
                <a:solidFill>
                  <a:srgbClr val="AB3341"/>
                </a:solidFill>
                <a:effectLst/>
                <a:latin typeface="微软雅黑" panose="020B0503020204020204" pitchFamily="34" charset="-122"/>
                <a:ea typeface="微软雅黑" panose="020B0503020204020204" pitchFamily="34" charset="-122"/>
              </a:rPr>
              <a:t>ARR+1</a:t>
            </a:r>
            <a:r>
              <a:rPr lang="zh-CN" altLang="zh-CN" sz="1800" kern="100" dirty="0">
                <a:solidFill>
                  <a:srgbClr val="AB3341"/>
                </a:solidFill>
                <a:effectLst/>
                <a:latin typeface="微软雅黑" panose="020B0503020204020204" pitchFamily="34" charset="-122"/>
                <a:ea typeface="微软雅黑" panose="020B0503020204020204" pitchFamily="34" charset="-122"/>
              </a:rPr>
              <a:t>）</a:t>
            </a:r>
            <a:r>
              <a:rPr lang="en-US" altLang="zh-CN" kern="100" dirty="0">
                <a:solidFill>
                  <a:srgbClr val="AB3341"/>
                </a:solidFill>
                <a:latin typeface="微软雅黑" panose="020B0503020204020204" pitchFamily="34" charset="-122"/>
                <a:ea typeface="微软雅黑" panose="020B0503020204020204" pitchFamily="34" charset="-122"/>
              </a:rPr>
              <a:t>]</a:t>
            </a:r>
          </a:p>
          <a:p>
            <a:pPr algn="just">
              <a:lnSpc>
                <a:spcPct val="125000"/>
              </a:lnSpc>
            </a:pPr>
            <a:r>
              <a:rPr lang="en-US" altLang="zh-CN" sz="1800" kern="100" dirty="0">
                <a:solidFill>
                  <a:srgbClr val="AB3341"/>
                </a:solidFill>
                <a:effectLst/>
                <a:latin typeface="微软雅黑" panose="020B0503020204020204" pitchFamily="34" charset="-122"/>
                <a:ea typeface="微软雅黑" panose="020B0503020204020204" pitchFamily="34" charset="-122"/>
              </a:rPr>
              <a:t>PWM</a:t>
            </a:r>
            <a:r>
              <a:rPr lang="zh-CN" altLang="en-US" sz="1800" kern="100" dirty="0">
                <a:solidFill>
                  <a:srgbClr val="AB3341"/>
                </a:solidFill>
                <a:effectLst/>
                <a:latin typeface="微软雅黑" panose="020B0503020204020204" pitchFamily="34" charset="-122"/>
                <a:ea typeface="微软雅黑" panose="020B0503020204020204" pitchFamily="34" charset="-122"/>
              </a:rPr>
              <a:t>占空比</a:t>
            </a:r>
            <a:r>
              <a:rPr lang="en-US" altLang="zh-CN" sz="1800" kern="100" dirty="0">
                <a:solidFill>
                  <a:srgbClr val="AB3341"/>
                </a:solidFill>
                <a:effectLst/>
                <a:latin typeface="微软雅黑" panose="020B0503020204020204" pitchFamily="34" charset="-122"/>
                <a:ea typeface="微软雅黑" panose="020B0503020204020204" pitchFamily="34" charset="-122"/>
              </a:rPr>
              <a:t>=</a:t>
            </a:r>
            <a:r>
              <a:rPr lang="en-US" altLang="zh-CN" kern="100" dirty="0">
                <a:solidFill>
                  <a:srgbClr val="AB3341"/>
                </a:solidFill>
                <a:latin typeface="微软雅黑" panose="020B0503020204020204" pitchFamily="34" charset="-122"/>
                <a:ea typeface="微软雅黑" panose="020B0503020204020204" pitchFamily="34" charset="-122"/>
              </a:rPr>
              <a:t>(0~ARR)</a:t>
            </a:r>
            <a:endParaRPr lang="zh-CN" altLang="zh-CN" sz="1800" kern="100" dirty="0">
              <a:solidFill>
                <a:srgbClr val="AB3341"/>
              </a:solidFill>
              <a:effectLst/>
              <a:latin typeface="微软雅黑" panose="020B0503020204020204" pitchFamily="34" charset="-122"/>
              <a:ea typeface="微软雅黑" panose="020B0503020204020204" pitchFamily="34" charset="-122"/>
            </a:endParaRPr>
          </a:p>
          <a:p>
            <a:endParaRPr lang="zh-CN" altLang="en-US" dirty="0"/>
          </a:p>
        </p:txBody>
      </p:sp>
      <p:pic>
        <p:nvPicPr>
          <p:cNvPr id="7" name="图片 6">
            <a:extLst>
              <a:ext uri="{FF2B5EF4-FFF2-40B4-BE49-F238E27FC236}">
                <a16:creationId xmlns:a16="http://schemas.microsoft.com/office/drawing/2014/main" id="{8A993B3E-15D1-2495-B1EE-98A8CAFC6635}"/>
              </a:ext>
            </a:extLst>
          </p:cNvPr>
          <p:cNvPicPr>
            <a:picLocks noChangeAspect="1"/>
          </p:cNvPicPr>
          <p:nvPr/>
        </p:nvPicPr>
        <p:blipFill>
          <a:blip r:embed="rId3"/>
          <a:stretch>
            <a:fillRect/>
          </a:stretch>
        </p:blipFill>
        <p:spPr>
          <a:xfrm>
            <a:off x="4972050" y="2360070"/>
            <a:ext cx="4762500" cy="1152525"/>
          </a:xfrm>
          <a:prstGeom prst="rect">
            <a:avLst/>
          </a:prstGeom>
        </p:spPr>
      </p:pic>
      <p:sp>
        <p:nvSpPr>
          <p:cNvPr id="9" name="星形: 五角 8">
            <a:extLst>
              <a:ext uri="{FF2B5EF4-FFF2-40B4-BE49-F238E27FC236}">
                <a16:creationId xmlns:a16="http://schemas.microsoft.com/office/drawing/2014/main" id="{418ED683-DDC2-6AE4-E71F-3196AFB33D5A}"/>
              </a:ext>
            </a:extLst>
          </p:cNvPr>
          <p:cNvSpPr/>
          <p:nvPr/>
        </p:nvSpPr>
        <p:spPr>
          <a:xfrm>
            <a:off x="5324475" y="2562226"/>
            <a:ext cx="180975" cy="171450"/>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星形: 五角 9">
            <a:extLst>
              <a:ext uri="{FF2B5EF4-FFF2-40B4-BE49-F238E27FC236}">
                <a16:creationId xmlns:a16="http://schemas.microsoft.com/office/drawing/2014/main" id="{35C99B5B-CD2E-6DA9-C267-C838EE9D3ED7}"/>
              </a:ext>
            </a:extLst>
          </p:cNvPr>
          <p:cNvSpPr/>
          <p:nvPr/>
        </p:nvSpPr>
        <p:spPr>
          <a:xfrm>
            <a:off x="5324474" y="2922629"/>
            <a:ext cx="180975" cy="171450"/>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541BF128-0037-8A9A-7FC7-2A58360E013B}"/>
              </a:ext>
            </a:extLst>
          </p:cNvPr>
          <p:cNvSpPr txBox="1"/>
          <p:nvPr/>
        </p:nvSpPr>
        <p:spPr>
          <a:xfrm>
            <a:off x="2366961" y="5349778"/>
            <a:ext cx="6824664" cy="754694"/>
          </a:xfrm>
          <a:prstGeom prst="rect">
            <a:avLst/>
          </a:prstGeom>
          <a:noFill/>
        </p:spPr>
        <p:txBody>
          <a:bodyPr wrap="square">
            <a:spAutoFit/>
          </a:bodyPr>
          <a:lstStyle/>
          <a:p>
            <a:pPr algn="just">
              <a:lnSpc>
                <a:spcPct val="125000"/>
              </a:lnSpc>
            </a:pP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800" dirty="0" err="1">
                <a:solidFill>
                  <a:srgbClr val="AB3341"/>
                </a:solidFill>
                <a:effectLst/>
                <a:latin typeface="微软雅黑" panose="020B0503020204020204" pitchFamily="34" charset="-122"/>
                <a:ea typeface="微软雅黑" panose="020B0503020204020204" pitchFamily="34" charset="-122"/>
              </a:rPr>
              <a:t>HAL_TIM_PWM_Start</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函数，开启</a:t>
            </a:r>
            <a:r>
              <a:rPr lang="en-US" altLang="zh-CN" sz="1800" dirty="0">
                <a:solidFill>
                  <a:srgbClr val="AB3341"/>
                </a:solidFill>
                <a:effectLst/>
                <a:latin typeface="微软雅黑" panose="020B0503020204020204" pitchFamily="34" charset="-122"/>
                <a:ea typeface="微软雅黑" panose="020B0503020204020204" pitchFamily="34" charset="-122"/>
              </a:rPr>
              <a:t>PWM</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通道；</a:t>
            </a:r>
            <a:endParaRPr lang="en-US"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25000"/>
              </a:lnSpc>
            </a:pP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800" dirty="0">
                <a:solidFill>
                  <a:srgbClr val="AB3341"/>
                </a:solidFill>
                <a:effectLst/>
                <a:latin typeface="微软雅黑" panose="020B0503020204020204" pitchFamily="34" charset="-122"/>
                <a:ea typeface="微软雅黑" panose="020B0503020204020204" pitchFamily="34" charset="-122"/>
              </a:rPr>
              <a:t>__</a:t>
            </a:r>
            <a:r>
              <a:rPr lang="en-US" altLang="zh-CN" sz="1800" dirty="0" err="1">
                <a:solidFill>
                  <a:srgbClr val="AB3341"/>
                </a:solidFill>
                <a:effectLst/>
                <a:latin typeface="微软雅黑" panose="020B0503020204020204" pitchFamily="34" charset="-122"/>
                <a:ea typeface="微软雅黑" panose="020B0503020204020204" pitchFamily="34" charset="-122"/>
              </a:rPr>
              <a:t>HAL_TIM_SetCompare</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函数，设置占空比，调节电机速度</a:t>
            </a:r>
            <a:r>
              <a:rPr lang="zh-CN" altLang="zh-CN" sz="1800" dirty="0">
                <a:solidFill>
                  <a:srgbClr val="AB3341"/>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solidFill>
                <a:srgbClr val="AB3341"/>
              </a:solidFill>
            </a:endParaRPr>
          </a:p>
        </p:txBody>
      </p:sp>
    </p:spTree>
    <p:extLst>
      <p:ext uri="{BB962C8B-B14F-4D97-AF65-F5344CB8AC3E}">
        <p14:creationId xmlns:p14="http://schemas.microsoft.com/office/powerpoint/2010/main" val="382310110"/>
      </p:ext>
    </p:extLst>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下位机软件开发</a:t>
            </a:r>
            <a:r>
              <a:rPr lang="en-US" altLang="zh-CN" dirty="0"/>
              <a:t>—PWM</a:t>
            </a:r>
            <a:endParaRPr lang="zh-CN" altLang="en-US" dirty="0"/>
          </a:p>
        </p:txBody>
      </p:sp>
      <p:pic>
        <p:nvPicPr>
          <p:cNvPr id="3" name="图片 2">
            <a:extLst>
              <a:ext uri="{FF2B5EF4-FFF2-40B4-BE49-F238E27FC236}">
                <a16:creationId xmlns:a16="http://schemas.microsoft.com/office/drawing/2014/main" id="{520BD9B9-C5C6-D7E0-104C-A3FDFB5DC6A2}"/>
              </a:ext>
            </a:extLst>
          </p:cNvPr>
          <p:cNvPicPr>
            <a:picLocks noChangeAspect="1"/>
          </p:cNvPicPr>
          <p:nvPr/>
        </p:nvPicPr>
        <p:blipFill>
          <a:blip r:embed="rId2"/>
          <a:stretch>
            <a:fillRect/>
          </a:stretch>
        </p:blipFill>
        <p:spPr>
          <a:xfrm>
            <a:off x="393065" y="1332414"/>
            <a:ext cx="3811270" cy="2276475"/>
          </a:xfrm>
          <a:prstGeom prst="rect">
            <a:avLst/>
          </a:prstGeom>
        </p:spPr>
      </p:pic>
      <p:sp>
        <p:nvSpPr>
          <p:cNvPr id="11" name="文本框 10">
            <a:extLst>
              <a:ext uri="{FF2B5EF4-FFF2-40B4-BE49-F238E27FC236}">
                <a16:creationId xmlns:a16="http://schemas.microsoft.com/office/drawing/2014/main" id="{2B6DBFDE-A352-2C3F-3401-1FAB0EDD7A5B}"/>
              </a:ext>
            </a:extLst>
          </p:cNvPr>
          <p:cNvSpPr txBox="1"/>
          <p:nvPr/>
        </p:nvSpPr>
        <p:spPr>
          <a:xfrm>
            <a:off x="465137" y="4283985"/>
            <a:ext cx="6096000" cy="1442061"/>
          </a:xfrm>
          <a:prstGeom prst="rect">
            <a:avLst/>
          </a:prstGeom>
          <a:noFill/>
        </p:spPr>
        <p:txBody>
          <a:bodyPr wrap="square">
            <a:spAutoFit/>
          </a:bodyPr>
          <a:lstStyle/>
          <a:p>
            <a:pPr algn="just">
              <a:lnSpc>
                <a:spcPct val="125000"/>
              </a:lnSpc>
              <a:spcAft>
                <a:spcPts val="600"/>
              </a:spcAft>
              <a:tabLst>
                <a:tab pos="2070735" algn="l"/>
              </a:tabLst>
            </a:pPr>
            <a:r>
              <a:rPr lang="zh-CN" altLang="zh-CN" sz="1800" kern="100" dirty="0">
                <a:solidFill>
                  <a:srgbClr val="AB3341"/>
                </a:solidFill>
                <a:effectLst/>
                <a:latin typeface="微软雅黑" panose="020B0503020204020204" pitchFamily="34" charset="-122"/>
                <a:ea typeface="微软雅黑" panose="020B0503020204020204" pitchFamily="34" charset="-122"/>
              </a:rPr>
              <a:t>图（</a:t>
            </a:r>
            <a:r>
              <a:rPr lang="en-US" altLang="zh-CN" sz="1800" kern="100" dirty="0">
                <a:solidFill>
                  <a:srgbClr val="AB3341"/>
                </a:solidFill>
                <a:effectLst/>
                <a:latin typeface="微软雅黑" panose="020B0503020204020204" pitchFamily="34" charset="-122"/>
                <a:ea typeface="微软雅黑" panose="020B0503020204020204" pitchFamily="34" charset="-122"/>
              </a:rPr>
              <a:t>a</a:t>
            </a:r>
            <a:r>
              <a:rPr lang="zh-CN" altLang="zh-CN" sz="1800" kern="100" dirty="0">
                <a:solidFill>
                  <a:srgbClr val="AB3341"/>
                </a:solidFill>
                <a:effectLst/>
                <a:latin typeface="微软雅黑" panose="020B0503020204020204" pitchFamily="34" charset="-122"/>
                <a:ea typeface="微软雅黑" panose="020B0503020204020204" pitchFamily="34" charset="-122"/>
              </a:rPr>
              <a:t>）表示</a:t>
            </a:r>
            <a:r>
              <a:rPr lang="en-US" altLang="zh-CN" sz="1800" kern="100" dirty="0">
                <a:solidFill>
                  <a:srgbClr val="AB3341"/>
                </a:solidFill>
                <a:effectLst/>
                <a:latin typeface="微软雅黑" panose="020B0503020204020204" pitchFamily="34" charset="-122"/>
                <a:ea typeface="微软雅黑" panose="020B0503020204020204" pitchFamily="34" charset="-122"/>
              </a:rPr>
              <a:t>84M/168=0.5M</a:t>
            </a:r>
            <a:r>
              <a:rPr lang="zh-CN" altLang="zh-CN" sz="1800" kern="100" dirty="0">
                <a:solidFill>
                  <a:srgbClr val="AB3341"/>
                </a:solidFill>
                <a:effectLst/>
                <a:latin typeface="微软雅黑" panose="020B0503020204020204" pitchFamily="34" charset="-122"/>
                <a:ea typeface="微软雅黑" panose="020B0503020204020204" pitchFamily="34" charset="-122"/>
              </a:rPr>
              <a:t>的计数频率</a:t>
            </a:r>
            <a:r>
              <a:rPr lang="en-US" altLang="zh-CN" sz="1800" kern="100" dirty="0">
                <a:solidFill>
                  <a:srgbClr val="AB3341"/>
                </a:solidFill>
                <a:effectLst/>
                <a:latin typeface="微软雅黑" panose="020B0503020204020204" pitchFamily="34" charset="-122"/>
                <a:ea typeface="微软雅黑" panose="020B0503020204020204" pitchFamily="34" charset="-122"/>
              </a:rPr>
              <a:t>;</a:t>
            </a:r>
            <a:r>
              <a:rPr lang="zh-CN" altLang="zh-CN" sz="1800" kern="100" dirty="0">
                <a:solidFill>
                  <a:srgbClr val="AB3341"/>
                </a:solidFill>
                <a:effectLst/>
                <a:latin typeface="微软雅黑" panose="020B0503020204020204" pitchFamily="34" charset="-122"/>
                <a:ea typeface="微软雅黑" panose="020B0503020204020204" pitchFamily="34" charset="-122"/>
              </a:rPr>
              <a:t>自动装载值为</a:t>
            </a:r>
            <a:r>
              <a:rPr lang="en-US" altLang="zh-CN" kern="100" dirty="0">
                <a:solidFill>
                  <a:srgbClr val="AB3341"/>
                </a:solidFill>
                <a:latin typeface="微软雅黑" panose="020B0503020204020204" pitchFamily="34" charset="-122"/>
                <a:ea typeface="微软雅黑" panose="020B0503020204020204" pitchFamily="34" charset="-122"/>
              </a:rPr>
              <a:t>5</a:t>
            </a:r>
            <a:r>
              <a:rPr lang="en-US" altLang="zh-CN" sz="1800" kern="100" dirty="0">
                <a:solidFill>
                  <a:srgbClr val="AB3341"/>
                </a:solidFill>
                <a:effectLst/>
                <a:latin typeface="微软雅黑" panose="020B0503020204020204" pitchFamily="34" charset="-122"/>
                <a:ea typeface="微软雅黑" panose="020B0503020204020204" pitchFamily="34" charset="-122"/>
              </a:rPr>
              <a:t>00</a:t>
            </a:r>
            <a:r>
              <a:rPr lang="zh-CN" altLang="zh-CN" sz="1800" kern="100" dirty="0">
                <a:solidFill>
                  <a:srgbClr val="AB3341"/>
                </a:solidFill>
                <a:effectLst/>
                <a:latin typeface="微软雅黑" panose="020B0503020204020204" pitchFamily="34" charset="-122"/>
                <a:ea typeface="微软雅黑" panose="020B0503020204020204" pitchFamily="34" charset="-122"/>
              </a:rPr>
              <a:t>，那么</a:t>
            </a:r>
            <a:r>
              <a:rPr lang="en-US" altLang="zh-CN" sz="1800" kern="100" dirty="0">
                <a:solidFill>
                  <a:srgbClr val="AB3341"/>
                </a:solidFill>
                <a:effectLst/>
                <a:latin typeface="微软雅黑" panose="020B0503020204020204" pitchFamily="34" charset="-122"/>
                <a:ea typeface="微软雅黑" panose="020B0503020204020204" pitchFamily="34" charset="-122"/>
              </a:rPr>
              <a:t>PWM</a:t>
            </a:r>
            <a:r>
              <a:rPr lang="zh-CN" altLang="zh-CN" sz="1800" kern="100" dirty="0">
                <a:solidFill>
                  <a:srgbClr val="AB3341"/>
                </a:solidFill>
                <a:effectLst/>
                <a:latin typeface="微软雅黑" panose="020B0503020204020204" pitchFamily="34" charset="-122"/>
                <a:ea typeface="微软雅黑" panose="020B0503020204020204" pitchFamily="34" charset="-122"/>
              </a:rPr>
              <a:t>频率为</a:t>
            </a:r>
            <a:r>
              <a:rPr lang="en-US" altLang="zh-CN" sz="1800" kern="100" dirty="0">
                <a:solidFill>
                  <a:srgbClr val="AB3341"/>
                </a:solidFill>
                <a:effectLst/>
                <a:latin typeface="微软雅黑" panose="020B0503020204020204" pitchFamily="34" charset="-122"/>
                <a:ea typeface="微软雅黑" panose="020B0503020204020204" pitchFamily="34" charset="-122"/>
              </a:rPr>
              <a:t>0.5M/500=1kHZ</a:t>
            </a:r>
            <a:r>
              <a:rPr lang="zh-CN" altLang="zh-CN" sz="1800" kern="100" dirty="0">
                <a:solidFill>
                  <a:srgbClr val="AB3341"/>
                </a:solidFill>
                <a:effectLst/>
                <a:latin typeface="微软雅黑" panose="020B0503020204020204" pitchFamily="34" charset="-122"/>
                <a:ea typeface="微软雅黑" panose="020B0503020204020204" pitchFamily="34" charset="-122"/>
              </a:rPr>
              <a:t>。图（</a:t>
            </a:r>
            <a:r>
              <a:rPr lang="en-US" altLang="zh-CN" sz="1800" kern="100" dirty="0">
                <a:solidFill>
                  <a:srgbClr val="AB3341"/>
                </a:solidFill>
                <a:effectLst/>
                <a:latin typeface="微软雅黑" panose="020B0503020204020204" pitchFamily="34" charset="-122"/>
                <a:ea typeface="微软雅黑" panose="020B0503020204020204" pitchFamily="34" charset="-122"/>
              </a:rPr>
              <a:t>b</a:t>
            </a:r>
            <a:r>
              <a:rPr lang="zh-CN" altLang="zh-CN" sz="1800" kern="100" dirty="0">
                <a:solidFill>
                  <a:srgbClr val="AB3341"/>
                </a:solidFill>
                <a:effectLst/>
                <a:latin typeface="微软雅黑" panose="020B0503020204020204" pitchFamily="34" charset="-122"/>
                <a:ea typeface="微软雅黑" panose="020B0503020204020204" pitchFamily="34" charset="-122"/>
              </a:rPr>
              <a:t>）表示定时器</a:t>
            </a:r>
            <a:r>
              <a:rPr lang="en-US" altLang="zh-CN" sz="1800" kern="100" dirty="0">
                <a:solidFill>
                  <a:srgbClr val="AB3341"/>
                </a:solidFill>
                <a:effectLst/>
                <a:latin typeface="微软雅黑" panose="020B0503020204020204" pitchFamily="34" charset="-122"/>
                <a:ea typeface="微软雅黑" panose="020B0503020204020204" pitchFamily="34" charset="-122"/>
              </a:rPr>
              <a:t>2</a:t>
            </a:r>
            <a:r>
              <a:rPr lang="zh-CN" altLang="zh-CN" sz="1800" kern="100" dirty="0">
                <a:solidFill>
                  <a:srgbClr val="AB3341"/>
                </a:solidFill>
                <a:effectLst/>
                <a:latin typeface="微软雅黑" panose="020B0503020204020204" pitchFamily="34" charset="-122"/>
                <a:ea typeface="微软雅黑" panose="020B0503020204020204" pitchFamily="34" charset="-122"/>
              </a:rPr>
              <a:t>的通道</a:t>
            </a:r>
            <a:r>
              <a:rPr lang="en-US" altLang="zh-CN" sz="1800" kern="100" dirty="0">
                <a:solidFill>
                  <a:srgbClr val="AB3341"/>
                </a:solidFill>
                <a:effectLst/>
                <a:latin typeface="微软雅黑" panose="020B0503020204020204" pitchFamily="34" charset="-122"/>
                <a:ea typeface="微软雅黑" panose="020B0503020204020204" pitchFamily="34" charset="-122"/>
              </a:rPr>
              <a:t>1</a:t>
            </a:r>
            <a:r>
              <a:rPr lang="zh-CN" altLang="zh-CN" sz="1800" kern="100" dirty="0">
                <a:solidFill>
                  <a:srgbClr val="AB3341"/>
                </a:solidFill>
                <a:effectLst/>
                <a:latin typeface="微软雅黑" panose="020B0503020204020204" pitchFamily="34" charset="-122"/>
                <a:ea typeface="微软雅黑" panose="020B0503020204020204" pitchFamily="34" charset="-122"/>
              </a:rPr>
              <a:t>设置</a:t>
            </a:r>
            <a:r>
              <a:rPr lang="en-US" altLang="zh-CN" sz="1800" kern="100" dirty="0">
                <a:solidFill>
                  <a:srgbClr val="AB3341"/>
                </a:solidFill>
                <a:effectLst/>
                <a:latin typeface="微软雅黑" panose="020B0503020204020204" pitchFamily="34" charset="-122"/>
                <a:ea typeface="微软雅黑" panose="020B0503020204020204" pitchFamily="34" charset="-122"/>
              </a:rPr>
              <a:t>ARR/5</a:t>
            </a:r>
            <a:r>
              <a:rPr lang="zh-CN" altLang="zh-CN" sz="1800" kern="100" dirty="0">
                <a:solidFill>
                  <a:srgbClr val="AB3341"/>
                </a:solidFill>
                <a:effectLst/>
                <a:latin typeface="微软雅黑" panose="020B0503020204020204" pitchFamily="34" charset="-122"/>
                <a:ea typeface="微软雅黑" panose="020B0503020204020204" pitchFamily="34" charset="-122"/>
              </a:rPr>
              <a:t>，通道</a:t>
            </a:r>
            <a:r>
              <a:rPr lang="en-US" altLang="zh-CN" sz="1800" kern="100" dirty="0">
                <a:solidFill>
                  <a:srgbClr val="AB3341"/>
                </a:solidFill>
                <a:effectLst/>
                <a:latin typeface="微软雅黑" panose="020B0503020204020204" pitchFamily="34" charset="-122"/>
                <a:ea typeface="微软雅黑" panose="020B0503020204020204" pitchFamily="34" charset="-122"/>
              </a:rPr>
              <a:t>2</a:t>
            </a:r>
            <a:r>
              <a:rPr lang="zh-CN" altLang="zh-CN" sz="1800" kern="100" dirty="0">
                <a:solidFill>
                  <a:srgbClr val="AB3341"/>
                </a:solidFill>
                <a:effectLst/>
                <a:latin typeface="微软雅黑" panose="020B0503020204020204" pitchFamily="34" charset="-122"/>
                <a:ea typeface="微软雅黑" panose="020B0503020204020204" pitchFamily="34" charset="-122"/>
              </a:rPr>
              <a:t>设置为</a:t>
            </a:r>
            <a:r>
              <a:rPr lang="en-US" altLang="zh-CN" sz="1800" kern="100" dirty="0">
                <a:solidFill>
                  <a:srgbClr val="AB3341"/>
                </a:solidFill>
                <a:effectLst/>
                <a:latin typeface="微软雅黑" panose="020B0503020204020204" pitchFamily="34" charset="-122"/>
                <a:ea typeface="微软雅黑" panose="020B0503020204020204" pitchFamily="34" charset="-122"/>
              </a:rPr>
              <a:t>0</a:t>
            </a:r>
            <a:r>
              <a:rPr lang="zh-CN" altLang="zh-CN" sz="1800" kern="100" dirty="0">
                <a:solidFill>
                  <a:srgbClr val="AB3341"/>
                </a:solidFill>
                <a:effectLst/>
                <a:latin typeface="微软雅黑" panose="020B0503020204020204" pitchFamily="34" charset="-122"/>
                <a:ea typeface="微软雅黑" panose="020B0503020204020204" pitchFamily="34" charset="-122"/>
              </a:rPr>
              <a:t>，即电机以设定最大速度的</a:t>
            </a:r>
            <a:r>
              <a:rPr lang="zh-CN" altLang="en-US" kern="100" dirty="0">
                <a:solidFill>
                  <a:srgbClr val="AB3341"/>
                </a:solidFill>
                <a:latin typeface="微软雅黑" panose="020B0503020204020204" pitchFamily="34" charset="-122"/>
                <a:ea typeface="微软雅黑" panose="020B0503020204020204" pitchFamily="34" charset="-122"/>
              </a:rPr>
              <a:t>五分之一</a:t>
            </a:r>
            <a:r>
              <a:rPr lang="zh-CN" altLang="zh-CN" sz="1800" kern="100" dirty="0">
                <a:solidFill>
                  <a:srgbClr val="AB3341"/>
                </a:solidFill>
                <a:effectLst/>
                <a:latin typeface="微软雅黑" panose="020B0503020204020204" pitchFamily="34" charset="-122"/>
                <a:ea typeface="微软雅黑" panose="020B0503020204020204" pitchFamily="34" charset="-122"/>
              </a:rPr>
              <a:t>正转。</a:t>
            </a:r>
            <a:endParaRPr lang="zh-CN" altLang="zh-CN" sz="1400" kern="100" dirty="0">
              <a:solidFill>
                <a:srgbClr val="AB3341"/>
              </a:solidFill>
              <a:effectLst/>
              <a:latin typeface="微软雅黑" panose="020B0503020204020204" pitchFamily="34" charset="-122"/>
              <a:ea typeface="微软雅黑" panose="020B0503020204020204" pitchFamily="34" charset="-122"/>
            </a:endParaRPr>
          </a:p>
        </p:txBody>
      </p:sp>
      <p:pic>
        <p:nvPicPr>
          <p:cNvPr id="15" name="图片 14">
            <a:extLst>
              <a:ext uri="{FF2B5EF4-FFF2-40B4-BE49-F238E27FC236}">
                <a16:creationId xmlns:a16="http://schemas.microsoft.com/office/drawing/2014/main" id="{4C816427-5F15-E858-D541-6B17523D27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6087" y="3669292"/>
            <a:ext cx="3352800" cy="2671445"/>
          </a:xfrm>
          <a:prstGeom prst="rect">
            <a:avLst/>
          </a:prstGeom>
        </p:spPr>
      </p:pic>
      <p:pic>
        <p:nvPicPr>
          <p:cNvPr id="17" name="图片 16">
            <a:extLst>
              <a:ext uri="{FF2B5EF4-FFF2-40B4-BE49-F238E27FC236}">
                <a16:creationId xmlns:a16="http://schemas.microsoft.com/office/drawing/2014/main" id="{175A529C-DF0D-192C-EF99-2ECE2EDBEDEF}"/>
              </a:ext>
            </a:extLst>
          </p:cNvPr>
          <p:cNvPicPr>
            <a:picLocks noChangeAspect="1"/>
          </p:cNvPicPr>
          <p:nvPr/>
        </p:nvPicPr>
        <p:blipFill>
          <a:blip r:embed="rId4"/>
          <a:stretch>
            <a:fillRect/>
          </a:stretch>
        </p:blipFill>
        <p:spPr>
          <a:xfrm>
            <a:off x="4557712" y="1641976"/>
            <a:ext cx="5972175" cy="1657350"/>
          </a:xfrm>
          <a:prstGeom prst="rect">
            <a:avLst/>
          </a:prstGeom>
        </p:spPr>
      </p:pic>
    </p:spTree>
    <p:extLst>
      <p:ext uri="{BB962C8B-B14F-4D97-AF65-F5344CB8AC3E}">
        <p14:creationId xmlns:p14="http://schemas.microsoft.com/office/powerpoint/2010/main" val="3935442834"/>
      </p:ext>
    </p:extLst>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下位机软件开发</a:t>
            </a:r>
            <a:r>
              <a:rPr lang="en-US" altLang="zh-CN" dirty="0"/>
              <a:t>—PID</a:t>
            </a:r>
            <a:endParaRPr lang="zh-CN" altLang="en-US" dirty="0"/>
          </a:p>
        </p:txBody>
      </p:sp>
      <p:pic>
        <p:nvPicPr>
          <p:cNvPr id="4" name="图片 3">
            <a:extLst>
              <a:ext uri="{FF2B5EF4-FFF2-40B4-BE49-F238E27FC236}">
                <a16:creationId xmlns:a16="http://schemas.microsoft.com/office/drawing/2014/main" id="{6F2426A5-55B2-84AF-81E1-B8F7FD48E34D}"/>
              </a:ext>
            </a:extLst>
          </p:cNvPr>
          <p:cNvPicPr>
            <a:picLocks noChangeAspect="1"/>
          </p:cNvPicPr>
          <p:nvPr/>
        </p:nvPicPr>
        <p:blipFill>
          <a:blip r:embed="rId2"/>
          <a:stretch>
            <a:fillRect/>
          </a:stretch>
        </p:blipFill>
        <p:spPr>
          <a:xfrm>
            <a:off x="3233737" y="1019637"/>
            <a:ext cx="4124325" cy="1390650"/>
          </a:xfrm>
          <a:prstGeom prst="rect">
            <a:avLst/>
          </a:prstGeom>
        </p:spPr>
      </p:pic>
      <p:pic>
        <p:nvPicPr>
          <p:cNvPr id="6" name="图片 5">
            <a:extLst>
              <a:ext uri="{FF2B5EF4-FFF2-40B4-BE49-F238E27FC236}">
                <a16:creationId xmlns:a16="http://schemas.microsoft.com/office/drawing/2014/main" id="{2D7F851D-305E-DFF3-BD3F-8392AB8917B6}"/>
              </a:ext>
            </a:extLst>
          </p:cNvPr>
          <p:cNvPicPr>
            <a:picLocks noChangeAspect="1"/>
          </p:cNvPicPr>
          <p:nvPr/>
        </p:nvPicPr>
        <p:blipFill>
          <a:blip r:embed="rId3"/>
          <a:stretch>
            <a:fillRect/>
          </a:stretch>
        </p:blipFill>
        <p:spPr>
          <a:xfrm>
            <a:off x="3233737" y="3219450"/>
            <a:ext cx="5248275" cy="3209925"/>
          </a:xfrm>
          <a:prstGeom prst="rect">
            <a:avLst/>
          </a:prstGeom>
        </p:spPr>
      </p:pic>
      <p:sp>
        <p:nvSpPr>
          <p:cNvPr id="7" name="Rectangle 2">
            <a:extLst>
              <a:ext uri="{FF2B5EF4-FFF2-40B4-BE49-F238E27FC236}">
                <a16:creationId xmlns:a16="http://schemas.microsoft.com/office/drawing/2014/main" id="{EA715C17-6FDA-A3BB-A6BD-79D7BE54198D}"/>
              </a:ext>
            </a:extLst>
          </p:cNvPr>
          <p:cNvSpPr>
            <a:spLocks noChangeArrowheads="1"/>
          </p:cNvSpPr>
          <p:nvPr/>
        </p:nvSpPr>
        <p:spPr bwMode="auto">
          <a:xfrm>
            <a:off x="476250" y="26711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 name="图片 9">
            <a:extLst>
              <a:ext uri="{FF2B5EF4-FFF2-40B4-BE49-F238E27FC236}">
                <a16:creationId xmlns:a16="http://schemas.microsoft.com/office/drawing/2014/main" id="{E021B18E-0DE9-208A-6F17-472CB894BB7B}"/>
              </a:ext>
            </a:extLst>
          </p:cNvPr>
          <p:cNvPicPr>
            <a:picLocks noChangeAspect="1"/>
          </p:cNvPicPr>
          <p:nvPr/>
        </p:nvPicPr>
        <p:blipFill>
          <a:blip r:embed="rId4"/>
          <a:stretch>
            <a:fillRect/>
          </a:stretch>
        </p:blipFill>
        <p:spPr>
          <a:xfrm>
            <a:off x="476250" y="2721435"/>
            <a:ext cx="5238750" cy="371475"/>
          </a:xfrm>
          <a:prstGeom prst="rect">
            <a:avLst/>
          </a:prstGeom>
        </p:spPr>
      </p:pic>
    </p:spTree>
    <p:extLst>
      <p:ext uri="{BB962C8B-B14F-4D97-AF65-F5344CB8AC3E}">
        <p14:creationId xmlns:p14="http://schemas.microsoft.com/office/powerpoint/2010/main" val="4058965203"/>
      </p:ext>
    </p:extLst>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下位机软件开发</a:t>
            </a:r>
            <a:r>
              <a:rPr lang="en-US" altLang="zh-CN" dirty="0"/>
              <a:t>—PID</a:t>
            </a:r>
            <a:endParaRPr lang="zh-CN" altLang="en-US" dirty="0"/>
          </a:p>
        </p:txBody>
      </p:sp>
      <p:sp>
        <p:nvSpPr>
          <p:cNvPr id="7" name="Rectangle 2">
            <a:extLst>
              <a:ext uri="{FF2B5EF4-FFF2-40B4-BE49-F238E27FC236}">
                <a16:creationId xmlns:a16="http://schemas.microsoft.com/office/drawing/2014/main" id="{EA715C17-6FDA-A3BB-A6BD-79D7BE54198D}"/>
              </a:ext>
            </a:extLst>
          </p:cNvPr>
          <p:cNvSpPr>
            <a:spLocks noChangeArrowheads="1"/>
          </p:cNvSpPr>
          <p:nvPr/>
        </p:nvSpPr>
        <p:spPr bwMode="auto">
          <a:xfrm>
            <a:off x="476250" y="26711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3" name="图片 2">
            <a:extLst>
              <a:ext uri="{FF2B5EF4-FFF2-40B4-BE49-F238E27FC236}">
                <a16:creationId xmlns:a16="http://schemas.microsoft.com/office/drawing/2014/main" id="{D4D17CD8-C0AC-A0E9-6B9C-CF0A544E4AA2}"/>
              </a:ext>
            </a:extLst>
          </p:cNvPr>
          <p:cNvPicPr>
            <a:picLocks noChangeAspect="1"/>
          </p:cNvPicPr>
          <p:nvPr/>
        </p:nvPicPr>
        <p:blipFill>
          <a:blip r:embed="rId2"/>
          <a:stretch>
            <a:fillRect/>
          </a:stretch>
        </p:blipFill>
        <p:spPr>
          <a:xfrm>
            <a:off x="695960" y="1570037"/>
            <a:ext cx="5400040" cy="3870325"/>
          </a:xfrm>
          <a:prstGeom prst="rect">
            <a:avLst/>
          </a:prstGeom>
        </p:spPr>
      </p:pic>
      <p:sp>
        <p:nvSpPr>
          <p:cNvPr id="8" name="文本框 7">
            <a:extLst>
              <a:ext uri="{FF2B5EF4-FFF2-40B4-BE49-F238E27FC236}">
                <a16:creationId xmlns:a16="http://schemas.microsoft.com/office/drawing/2014/main" id="{48034E90-27CC-807F-C0D2-4B3E903CB3E2}"/>
              </a:ext>
            </a:extLst>
          </p:cNvPr>
          <p:cNvSpPr txBox="1"/>
          <p:nvPr/>
        </p:nvSpPr>
        <p:spPr>
          <a:xfrm>
            <a:off x="6486525" y="1570905"/>
            <a:ext cx="3467100" cy="3869457"/>
          </a:xfrm>
          <a:prstGeom prst="rect">
            <a:avLst/>
          </a:prstGeom>
          <a:noFill/>
        </p:spPr>
        <p:txBody>
          <a:bodyPr wrap="square">
            <a:spAutoFit/>
          </a:bodyPr>
          <a:lstStyle/>
          <a:p>
            <a:pPr indent="457200" algn="just">
              <a:lnSpc>
                <a:spcPct val="125000"/>
              </a:lnSpc>
            </a:pP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在图中</a:t>
            </a:r>
            <a:r>
              <a:rPr lang="en-US" altLang="zh-CN" sz="1800" dirty="0">
                <a:solidFill>
                  <a:srgbClr val="AB3341"/>
                </a:solidFill>
                <a:effectLst/>
                <a:latin typeface="微软雅黑" panose="020B0503020204020204" pitchFamily="34" charset="-122"/>
                <a:ea typeface="微软雅黑" panose="020B0503020204020204" pitchFamily="34" charset="-122"/>
              </a:rPr>
              <a:t>1</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点时，对电机增加负载（手握电机轴），可以看到速度下降，但是马上有回升，在</a:t>
            </a:r>
            <a:r>
              <a:rPr lang="en-US" altLang="zh-CN" sz="1800" dirty="0">
                <a:solidFill>
                  <a:srgbClr val="AB3341"/>
                </a:solidFill>
                <a:effectLst/>
                <a:latin typeface="微软雅黑" panose="020B0503020204020204" pitchFamily="34" charset="-122"/>
                <a:ea typeface="微软雅黑" panose="020B0503020204020204" pitchFamily="34" charset="-122"/>
              </a:rPr>
              <a:t>2</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点速度还是在目标值附近波动，在</a:t>
            </a:r>
            <a:r>
              <a:rPr lang="en-US" altLang="zh-CN" sz="1800" dirty="0">
                <a:solidFill>
                  <a:srgbClr val="AB3341"/>
                </a:solidFill>
                <a:effectLst/>
                <a:latin typeface="微软雅黑" panose="020B0503020204020204" pitchFamily="34" charset="-122"/>
                <a:ea typeface="微软雅黑" panose="020B0503020204020204" pitchFamily="34" charset="-122"/>
              </a:rPr>
              <a:t>3</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点去掉负载，速度上升后马上又下降到目标值；在</a:t>
            </a:r>
            <a:r>
              <a:rPr lang="en-US" altLang="zh-CN" sz="1800" dirty="0">
                <a:solidFill>
                  <a:srgbClr val="AB3341"/>
                </a:solidFill>
                <a:effectLst/>
                <a:latin typeface="微软雅黑" panose="020B0503020204020204" pitchFamily="34" charset="-122"/>
                <a:ea typeface="微软雅黑" panose="020B0503020204020204" pitchFamily="34" charset="-122"/>
              </a:rPr>
              <a:t>4</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点增加负载，紧接着改变目标值，在</a:t>
            </a:r>
            <a:r>
              <a:rPr lang="en-US" altLang="zh-CN" sz="1800" dirty="0">
                <a:solidFill>
                  <a:srgbClr val="AB3341"/>
                </a:solidFill>
                <a:effectLst/>
                <a:latin typeface="微软雅黑" panose="020B0503020204020204" pitchFamily="34" charset="-122"/>
                <a:ea typeface="微软雅黑" panose="020B0503020204020204" pitchFamily="34" charset="-122"/>
              </a:rPr>
              <a:t>4</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点到</a:t>
            </a:r>
            <a:r>
              <a:rPr lang="en-US" altLang="zh-CN" sz="1800" dirty="0">
                <a:solidFill>
                  <a:srgbClr val="AB3341"/>
                </a:solidFill>
                <a:effectLst/>
                <a:latin typeface="微软雅黑" panose="020B0503020204020204" pitchFamily="34" charset="-122"/>
                <a:ea typeface="微软雅黑" panose="020B0503020204020204" pitchFamily="34" charset="-122"/>
              </a:rPr>
              <a:t>5</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点间负载是一直存在的，可以到速度在有负载的情况下一样可以迅速达到目标值，证明</a:t>
            </a:r>
            <a:r>
              <a:rPr lang="en-US" altLang="zh-CN" sz="1800" dirty="0">
                <a:solidFill>
                  <a:srgbClr val="AB3341"/>
                </a:solidFill>
                <a:effectLst/>
                <a:latin typeface="微软雅黑" panose="020B0503020204020204" pitchFamily="34" charset="-122"/>
                <a:ea typeface="微软雅黑" panose="020B0503020204020204" pitchFamily="34" charset="-122"/>
              </a:rPr>
              <a:t>PID</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调试成功。</a:t>
            </a:r>
            <a:endParaRPr lang="zh-CN" altLang="en-US" dirty="0">
              <a:solidFill>
                <a:srgbClr val="AB334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73758805"/>
      </p:ext>
    </p:extLst>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下位机软件开发</a:t>
            </a:r>
            <a:r>
              <a:rPr lang="en-US" altLang="zh-CN" dirty="0"/>
              <a:t>—</a:t>
            </a:r>
            <a:r>
              <a:rPr lang="zh-CN" altLang="en-US" dirty="0"/>
              <a:t>电源管理系统</a:t>
            </a:r>
          </a:p>
        </p:txBody>
      </p:sp>
      <p:pic>
        <p:nvPicPr>
          <p:cNvPr id="3" name="图片 2">
            <a:extLst>
              <a:ext uri="{FF2B5EF4-FFF2-40B4-BE49-F238E27FC236}">
                <a16:creationId xmlns:a16="http://schemas.microsoft.com/office/drawing/2014/main" id="{8FC0864D-F711-D79A-47BF-B9302E11A8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543" y="994871"/>
            <a:ext cx="2989580" cy="5376545"/>
          </a:xfrm>
          <a:prstGeom prst="rect">
            <a:avLst/>
          </a:prstGeom>
        </p:spPr>
      </p:pic>
      <p:pic>
        <p:nvPicPr>
          <p:cNvPr id="4" name="图片 3">
            <a:extLst>
              <a:ext uri="{FF2B5EF4-FFF2-40B4-BE49-F238E27FC236}">
                <a16:creationId xmlns:a16="http://schemas.microsoft.com/office/drawing/2014/main" id="{8E88F88E-DA99-F1FF-82A4-AD7E322CFC61}"/>
              </a:ext>
            </a:extLst>
          </p:cNvPr>
          <p:cNvPicPr>
            <a:picLocks noChangeAspect="1"/>
          </p:cNvPicPr>
          <p:nvPr/>
        </p:nvPicPr>
        <p:blipFill>
          <a:blip r:embed="rId3"/>
          <a:stretch>
            <a:fillRect/>
          </a:stretch>
        </p:blipFill>
        <p:spPr>
          <a:xfrm>
            <a:off x="4733395" y="994871"/>
            <a:ext cx="4486275" cy="2581275"/>
          </a:xfrm>
          <a:prstGeom prst="rect">
            <a:avLst/>
          </a:prstGeom>
        </p:spPr>
      </p:pic>
      <p:pic>
        <p:nvPicPr>
          <p:cNvPr id="5" name="图片 4">
            <a:extLst>
              <a:ext uri="{FF2B5EF4-FFF2-40B4-BE49-F238E27FC236}">
                <a16:creationId xmlns:a16="http://schemas.microsoft.com/office/drawing/2014/main" id="{60238C83-B670-AFC1-F678-15C43A5AB751}"/>
              </a:ext>
            </a:extLst>
          </p:cNvPr>
          <p:cNvPicPr>
            <a:picLocks noChangeAspect="1"/>
          </p:cNvPicPr>
          <p:nvPr/>
        </p:nvPicPr>
        <p:blipFill>
          <a:blip r:embed="rId4"/>
          <a:stretch>
            <a:fillRect/>
          </a:stretch>
        </p:blipFill>
        <p:spPr>
          <a:xfrm>
            <a:off x="4733395" y="3911600"/>
            <a:ext cx="3705225" cy="1676400"/>
          </a:xfrm>
          <a:prstGeom prst="rect">
            <a:avLst/>
          </a:prstGeom>
        </p:spPr>
      </p:pic>
    </p:spTree>
    <p:extLst>
      <p:ext uri="{BB962C8B-B14F-4D97-AF65-F5344CB8AC3E}">
        <p14:creationId xmlns:p14="http://schemas.microsoft.com/office/powerpoint/2010/main" val="1625073013"/>
      </p:ext>
    </p:extLst>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400040" cy="682623"/>
          </a:xfrm>
        </p:spPr>
        <p:txBody>
          <a:bodyPr>
            <a:normAutofit fontScale="90000"/>
          </a:bodyPr>
          <a:lstStyle/>
          <a:p>
            <a:r>
              <a:rPr lang="zh-CN" altLang="en-US" dirty="0"/>
              <a:t>下位机软件开发</a:t>
            </a:r>
            <a:r>
              <a:rPr lang="en-US" altLang="zh-CN" dirty="0"/>
              <a:t>—</a:t>
            </a:r>
            <a:r>
              <a:rPr lang="zh-CN" altLang="en-US" dirty="0"/>
              <a:t>电源管理系统</a:t>
            </a:r>
          </a:p>
        </p:txBody>
      </p:sp>
      <p:pic>
        <p:nvPicPr>
          <p:cNvPr id="3" name="图片 2">
            <a:extLst>
              <a:ext uri="{FF2B5EF4-FFF2-40B4-BE49-F238E27FC236}">
                <a16:creationId xmlns:a16="http://schemas.microsoft.com/office/drawing/2014/main" id="{8FC0864D-F711-D79A-47BF-B9302E11A8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543" y="994871"/>
            <a:ext cx="2989580" cy="5376545"/>
          </a:xfrm>
          <a:prstGeom prst="rect">
            <a:avLst/>
          </a:prstGeom>
        </p:spPr>
      </p:pic>
      <p:pic>
        <p:nvPicPr>
          <p:cNvPr id="6" name="图片 5">
            <a:extLst>
              <a:ext uri="{FF2B5EF4-FFF2-40B4-BE49-F238E27FC236}">
                <a16:creationId xmlns:a16="http://schemas.microsoft.com/office/drawing/2014/main" id="{98CB3637-4809-2F58-74D5-8BCB1DAD799A}"/>
              </a:ext>
            </a:extLst>
          </p:cNvPr>
          <p:cNvPicPr>
            <a:picLocks noChangeAspect="1"/>
          </p:cNvPicPr>
          <p:nvPr/>
        </p:nvPicPr>
        <p:blipFill>
          <a:blip r:embed="rId3"/>
          <a:stretch>
            <a:fillRect/>
          </a:stretch>
        </p:blipFill>
        <p:spPr>
          <a:xfrm>
            <a:off x="4437380" y="1420812"/>
            <a:ext cx="5400040" cy="4016375"/>
          </a:xfrm>
          <a:prstGeom prst="rect">
            <a:avLst/>
          </a:prstGeom>
        </p:spPr>
      </p:pic>
    </p:spTree>
    <p:extLst>
      <p:ext uri="{BB962C8B-B14F-4D97-AF65-F5344CB8AC3E}">
        <p14:creationId xmlns:p14="http://schemas.microsoft.com/office/powerpoint/2010/main" val="4261662498"/>
      </p:ext>
    </p:extLst>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下位机软件开发</a:t>
            </a:r>
            <a:r>
              <a:rPr lang="en-US" altLang="zh-CN" dirty="0"/>
              <a:t>—</a:t>
            </a:r>
            <a:r>
              <a:rPr lang="zh-CN" altLang="en-US" dirty="0"/>
              <a:t>通讯系统</a:t>
            </a:r>
          </a:p>
        </p:txBody>
      </p:sp>
      <p:sp>
        <p:nvSpPr>
          <p:cNvPr id="6" name="等腰三角形 5">
            <a:extLst>
              <a:ext uri="{FF2B5EF4-FFF2-40B4-BE49-F238E27FC236}">
                <a16:creationId xmlns:a16="http://schemas.microsoft.com/office/drawing/2014/main" id="{AABB4A3F-ECCE-EE66-13B5-0A710BC36A5B}"/>
              </a:ext>
            </a:extLst>
          </p:cNvPr>
          <p:cNvSpPr/>
          <p:nvPr/>
        </p:nvSpPr>
        <p:spPr>
          <a:xfrm>
            <a:off x="4676992" y="2606521"/>
            <a:ext cx="1957886" cy="1687833"/>
          </a:xfrm>
          <a:prstGeom prst="triangle">
            <a:avLst/>
          </a:prstGeom>
          <a:no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9">
            <a:extLst>
              <a:ext uri="{FF2B5EF4-FFF2-40B4-BE49-F238E27FC236}">
                <a16:creationId xmlns:a16="http://schemas.microsoft.com/office/drawing/2014/main" id="{61D7E334-978D-1B25-6B1B-C210B3C5F8C4}"/>
              </a:ext>
            </a:extLst>
          </p:cNvPr>
          <p:cNvSpPr/>
          <p:nvPr/>
        </p:nvSpPr>
        <p:spPr bwMode="auto">
          <a:xfrm>
            <a:off x="5356227" y="2401273"/>
            <a:ext cx="599418" cy="599417"/>
          </a:xfrm>
          <a:custGeom>
            <a:avLst/>
            <a:gdLst>
              <a:gd name="T0" fmla="*/ 177 w 201"/>
              <a:gd name="T1" fmla="*/ 56 h 201"/>
              <a:gd name="T2" fmla="*/ 145 w 201"/>
              <a:gd name="T3" fmla="*/ 177 h 201"/>
              <a:gd name="T4" fmla="*/ 24 w 201"/>
              <a:gd name="T5" fmla="*/ 144 h 201"/>
              <a:gd name="T6" fmla="*/ 57 w 201"/>
              <a:gd name="T7" fmla="*/ 24 h 201"/>
              <a:gd name="T8" fmla="*/ 177 w 201"/>
              <a:gd name="T9" fmla="*/ 56 h 201"/>
            </a:gdLst>
            <a:ahLst/>
            <a:cxnLst>
              <a:cxn ang="0">
                <a:pos x="T0" y="T1"/>
              </a:cxn>
              <a:cxn ang="0">
                <a:pos x="T2" y="T3"/>
              </a:cxn>
              <a:cxn ang="0">
                <a:pos x="T4" y="T5"/>
              </a:cxn>
              <a:cxn ang="0">
                <a:pos x="T6" y="T7"/>
              </a:cxn>
              <a:cxn ang="0">
                <a:pos x="T8" y="T9"/>
              </a:cxn>
            </a:cxnLst>
            <a:rect l="0" t="0" r="r" b="b"/>
            <a:pathLst>
              <a:path w="201" h="201">
                <a:moveTo>
                  <a:pt x="177" y="56"/>
                </a:moveTo>
                <a:cubicBezTo>
                  <a:pt x="201" y="98"/>
                  <a:pt x="187" y="152"/>
                  <a:pt x="145" y="177"/>
                </a:cubicBezTo>
                <a:cubicBezTo>
                  <a:pt x="103" y="201"/>
                  <a:pt x="49" y="186"/>
                  <a:pt x="24" y="144"/>
                </a:cubicBezTo>
                <a:cubicBezTo>
                  <a:pt x="0" y="102"/>
                  <a:pt x="14" y="48"/>
                  <a:pt x="57" y="24"/>
                </a:cubicBezTo>
                <a:cubicBezTo>
                  <a:pt x="99" y="0"/>
                  <a:pt x="153" y="14"/>
                  <a:pt x="177" y="56"/>
                </a:cubicBezTo>
                <a:close/>
              </a:path>
            </a:pathLst>
          </a:custGeom>
          <a:solidFill>
            <a:schemeClr val="tx1"/>
          </a:solidFill>
          <a:ln>
            <a:noFill/>
          </a:ln>
        </p:spPr>
        <p:txBody>
          <a:bodyPr vert="horz" wrap="square" lIns="121920" tIns="60960" rIns="121920" bIns="60960" numCol="1" anchor="t" anchorCtr="0" compatLnSpc="1"/>
          <a:lstStyle/>
          <a:p>
            <a:endParaRPr lang="zh-CN" altLang="en-US" sz="2400">
              <a:solidFill>
                <a:prstClr val="black"/>
              </a:solidFill>
            </a:endParaRPr>
          </a:p>
        </p:txBody>
      </p:sp>
      <p:sp>
        <p:nvSpPr>
          <p:cNvPr id="8" name="Freeform 18">
            <a:extLst>
              <a:ext uri="{FF2B5EF4-FFF2-40B4-BE49-F238E27FC236}">
                <a16:creationId xmlns:a16="http://schemas.microsoft.com/office/drawing/2014/main" id="{C0B63E2C-4975-04DE-862D-2AB6D4175BDD}"/>
              </a:ext>
            </a:extLst>
          </p:cNvPr>
          <p:cNvSpPr/>
          <p:nvPr/>
        </p:nvSpPr>
        <p:spPr bwMode="auto">
          <a:xfrm>
            <a:off x="6253460" y="3957234"/>
            <a:ext cx="601941" cy="599417"/>
          </a:xfrm>
          <a:custGeom>
            <a:avLst/>
            <a:gdLst>
              <a:gd name="T0" fmla="*/ 177 w 202"/>
              <a:gd name="T1" fmla="*/ 144 h 201"/>
              <a:gd name="T2" fmla="*/ 57 w 202"/>
              <a:gd name="T3" fmla="*/ 177 h 201"/>
              <a:gd name="T4" fmla="*/ 25 w 202"/>
              <a:gd name="T5" fmla="*/ 56 h 201"/>
              <a:gd name="T6" fmla="*/ 145 w 202"/>
              <a:gd name="T7" fmla="*/ 24 h 201"/>
              <a:gd name="T8" fmla="*/ 177 w 202"/>
              <a:gd name="T9" fmla="*/ 144 h 201"/>
            </a:gdLst>
            <a:ahLst/>
            <a:cxnLst>
              <a:cxn ang="0">
                <a:pos x="T0" y="T1"/>
              </a:cxn>
              <a:cxn ang="0">
                <a:pos x="T2" y="T3"/>
              </a:cxn>
              <a:cxn ang="0">
                <a:pos x="T4" y="T5"/>
              </a:cxn>
              <a:cxn ang="0">
                <a:pos x="T6" y="T7"/>
              </a:cxn>
              <a:cxn ang="0">
                <a:pos x="T8" y="T9"/>
              </a:cxn>
            </a:cxnLst>
            <a:rect l="0" t="0" r="r" b="b"/>
            <a:pathLst>
              <a:path w="202" h="201">
                <a:moveTo>
                  <a:pt x="177" y="144"/>
                </a:moveTo>
                <a:cubicBezTo>
                  <a:pt x="153" y="186"/>
                  <a:pt x="99" y="201"/>
                  <a:pt x="57" y="177"/>
                </a:cubicBezTo>
                <a:cubicBezTo>
                  <a:pt x="15" y="152"/>
                  <a:pt x="0" y="98"/>
                  <a:pt x="25" y="56"/>
                </a:cubicBezTo>
                <a:cubicBezTo>
                  <a:pt x="49" y="14"/>
                  <a:pt x="103" y="0"/>
                  <a:pt x="145" y="24"/>
                </a:cubicBezTo>
                <a:cubicBezTo>
                  <a:pt x="187" y="48"/>
                  <a:pt x="202" y="102"/>
                  <a:pt x="177" y="144"/>
                </a:cubicBezTo>
                <a:close/>
              </a:path>
            </a:pathLst>
          </a:custGeom>
          <a:solidFill>
            <a:schemeClr val="tx1"/>
          </a:solidFill>
          <a:ln>
            <a:noFill/>
          </a:ln>
        </p:spPr>
        <p:txBody>
          <a:bodyPr vert="horz" wrap="square" lIns="121920" tIns="60960" rIns="121920" bIns="60960" numCol="1" anchor="t" anchorCtr="0" compatLnSpc="1"/>
          <a:lstStyle/>
          <a:p>
            <a:endParaRPr lang="zh-CN" altLang="en-US" sz="2400">
              <a:solidFill>
                <a:prstClr val="black"/>
              </a:solidFill>
            </a:endParaRPr>
          </a:p>
        </p:txBody>
      </p:sp>
      <p:sp>
        <p:nvSpPr>
          <p:cNvPr id="9" name="Freeform 17">
            <a:extLst>
              <a:ext uri="{FF2B5EF4-FFF2-40B4-BE49-F238E27FC236}">
                <a16:creationId xmlns:a16="http://schemas.microsoft.com/office/drawing/2014/main" id="{35B87AD6-D223-1429-8FB7-EB905C43F3F4}"/>
              </a:ext>
            </a:extLst>
          </p:cNvPr>
          <p:cNvSpPr/>
          <p:nvPr/>
        </p:nvSpPr>
        <p:spPr bwMode="auto">
          <a:xfrm>
            <a:off x="4458993" y="3957234"/>
            <a:ext cx="599418" cy="599417"/>
          </a:xfrm>
          <a:custGeom>
            <a:avLst/>
            <a:gdLst>
              <a:gd name="T0" fmla="*/ 177 w 201"/>
              <a:gd name="T1" fmla="*/ 144 h 201"/>
              <a:gd name="T2" fmla="*/ 56 w 201"/>
              <a:gd name="T3" fmla="*/ 177 h 201"/>
              <a:gd name="T4" fmla="*/ 24 w 201"/>
              <a:gd name="T5" fmla="*/ 56 h 201"/>
              <a:gd name="T6" fmla="*/ 144 w 201"/>
              <a:gd name="T7" fmla="*/ 24 h 201"/>
              <a:gd name="T8" fmla="*/ 177 w 201"/>
              <a:gd name="T9" fmla="*/ 144 h 201"/>
            </a:gdLst>
            <a:ahLst/>
            <a:cxnLst>
              <a:cxn ang="0">
                <a:pos x="T0" y="T1"/>
              </a:cxn>
              <a:cxn ang="0">
                <a:pos x="T2" y="T3"/>
              </a:cxn>
              <a:cxn ang="0">
                <a:pos x="T4" y="T5"/>
              </a:cxn>
              <a:cxn ang="0">
                <a:pos x="T6" y="T7"/>
              </a:cxn>
              <a:cxn ang="0">
                <a:pos x="T8" y="T9"/>
              </a:cxn>
            </a:cxnLst>
            <a:rect l="0" t="0" r="r" b="b"/>
            <a:pathLst>
              <a:path w="201" h="201">
                <a:moveTo>
                  <a:pt x="177" y="144"/>
                </a:moveTo>
                <a:cubicBezTo>
                  <a:pt x="152" y="186"/>
                  <a:pt x="98" y="201"/>
                  <a:pt x="56" y="177"/>
                </a:cubicBezTo>
                <a:cubicBezTo>
                  <a:pt x="14" y="152"/>
                  <a:pt x="0" y="98"/>
                  <a:pt x="24" y="56"/>
                </a:cubicBezTo>
                <a:cubicBezTo>
                  <a:pt x="48" y="14"/>
                  <a:pt x="102" y="0"/>
                  <a:pt x="144" y="24"/>
                </a:cubicBezTo>
                <a:cubicBezTo>
                  <a:pt x="186" y="48"/>
                  <a:pt x="201" y="102"/>
                  <a:pt x="177" y="144"/>
                </a:cubicBezTo>
                <a:close/>
              </a:path>
            </a:pathLst>
          </a:custGeom>
          <a:solidFill>
            <a:schemeClr val="tx1"/>
          </a:solidFill>
          <a:ln>
            <a:noFill/>
          </a:ln>
        </p:spPr>
        <p:txBody>
          <a:bodyPr vert="horz" wrap="square" lIns="121920" tIns="60960" rIns="121920" bIns="60960" numCol="1" anchor="t" anchorCtr="0" compatLnSpc="1"/>
          <a:lstStyle/>
          <a:p>
            <a:endParaRPr lang="zh-CN" altLang="en-US" sz="2400">
              <a:solidFill>
                <a:prstClr val="black"/>
              </a:solidFill>
            </a:endParaRPr>
          </a:p>
        </p:txBody>
      </p:sp>
      <p:sp>
        <p:nvSpPr>
          <p:cNvPr id="25" name="矩形 24">
            <a:extLst>
              <a:ext uri="{FF2B5EF4-FFF2-40B4-BE49-F238E27FC236}">
                <a16:creationId xmlns:a16="http://schemas.microsoft.com/office/drawing/2014/main" id="{DF3BEFD7-561B-13A4-5A7B-EFDB3DF39109}"/>
              </a:ext>
            </a:extLst>
          </p:cNvPr>
          <p:cNvSpPr/>
          <p:nvPr/>
        </p:nvSpPr>
        <p:spPr>
          <a:xfrm>
            <a:off x="1379539" y="5305203"/>
            <a:ext cx="267951" cy="982284"/>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51226909-EEB7-1ACC-E641-52A18C147065}"/>
              </a:ext>
            </a:extLst>
          </p:cNvPr>
          <p:cNvSpPr txBox="1"/>
          <p:nvPr/>
        </p:nvSpPr>
        <p:spPr>
          <a:xfrm>
            <a:off x="1771846" y="5479424"/>
            <a:ext cx="8140503" cy="646331"/>
          </a:xfrm>
          <a:prstGeom prst="rect">
            <a:avLst/>
          </a:prstGeom>
          <a:noFill/>
        </p:spPr>
        <p:txBody>
          <a:bodyPr wrap="square" rtlCol="0">
            <a:spAutoFit/>
          </a:bodyPr>
          <a:lstStyle/>
          <a:p>
            <a:r>
              <a:rPr lang="zh-CN" altLang="zh-CN" dirty="0">
                <a:latin typeface="微软雅黑" panose="020B0503020204020204" pitchFamily="34" charset="-122"/>
                <a:ea typeface="微软雅黑" panose="020B0503020204020204" pitchFamily="34" charset="-122"/>
              </a:rPr>
              <a:t>在本次设计中，需要将</a:t>
            </a:r>
            <a:r>
              <a:rPr lang="en-US" altLang="zh-CN" dirty="0">
                <a:latin typeface="微软雅黑" panose="020B0503020204020204" pitchFamily="34" charset="-122"/>
                <a:ea typeface="微软雅黑" panose="020B0503020204020204" pitchFamily="34" charset="-122"/>
              </a:rPr>
              <a:t>ESP8266</a:t>
            </a:r>
            <a:r>
              <a:rPr lang="zh-CN" altLang="zh-CN" dirty="0">
                <a:latin typeface="微软雅黑" panose="020B0503020204020204" pitchFamily="34" charset="-122"/>
                <a:ea typeface="微软雅黑" panose="020B0503020204020204" pitchFamily="34" charset="-122"/>
              </a:rPr>
              <a:t>模块设置为</a:t>
            </a:r>
            <a:r>
              <a:rPr lang="en-US" altLang="zh-CN" dirty="0">
                <a:latin typeface="微软雅黑" panose="020B0503020204020204" pitchFamily="34" charset="-122"/>
                <a:ea typeface="微软雅黑" panose="020B0503020204020204" pitchFamily="34" charset="-122"/>
              </a:rPr>
              <a:t>STA</a:t>
            </a:r>
            <a:r>
              <a:rPr lang="zh-CN" altLang="zh-CN" dirty="0">
                <a:latin typeface="微软雅黑" panose="020B0503020204020204" pitchFamily="34" charset="-122"/>
                <a:ea typeface="微软雅黑" panose="020B0503020204020204" pitchFamily="34" charset="-122"/>
              </a:rPr>
              <a:t>模式，搭载在</a:t>
            </a:r>
            <a:r>
              <a:rPr lang="en-US" altLang="zh-CN" dirty="0">
                <a:latin typeface="微软雅黑" panose="020B0503020204020204" pitchFamily="34" charset="-122"/>
                <a:ea typeface="微软雅黑" panose="020B0503020204020204" pitchFamily="34" charset="-122"/>
              </a:rPr>
              <a:t>STM32F407</a:t>
            </a:r>
            <a:r>
              <a:rPr lang="zh-CN" altLang="zh-CN" dirty="0">
                <a:latin typeface="微软雅黑" panose="020B0503020204020204" pitchFamily="34" charset="-122"/>
                <a:ea typeface="微软雅黑" panose="020B0503020204020204" pitchFamily="34" charset="-122"/>
              </a:rPr>
              <a:t>主控制器上，连接到无线</a:t>
            </a:r>
            <a:r>
              <a:rPr lang="en-US" altLang="zh-CN" dirty="0">
                <a:latin typeface="微软雅黑" panose="020B0503020204020204" pitchFamily="34" charset="-122"/>
                <a:ea typeface="微软雅黑" panose="020B0503020204020204" pitchFamily="34" charset="-122"/>
              </a:rPr>
              <a:t>AP</a:t>
            </a:r>
            <a:r>
              <a:rPr lang="zh-CN" altLang="zh-CN" dirty="0">
                <a:latin typeface="微软雅黑" panose="020B0503020204020204" pitchFamily="34" charset="-122"/>
                <a:ea typeface="微软雅黑" panose="020B0503020204020204" pitchFamily="34" charset="-122"/>
              </a:rPr>
              <a:t>中，实现与上位机的通讯。</a:t>
            </a:r>
          </a:p>
        </p:txBody>
      </p:sp>
      <p:sp>
        <p:nvSpPr>
          <p:cNvPr id="28" name="矩形 27">
            <a:extLst>
              <a:ext uri="{FF2B5EF4-FFF2-40B4-BE49-F238E27FC236}">
                <a16:creationId xmlns:a16="http://schemas.microsoft.com/office/drawing/2014/main" id="{252493CA-FF4C-9616-A25F-EA4F82E619BB}"/>
              </a:ext>
            </a:extLst>
          </p:cNvPr>
          <p:cNvSpPr/>
          <p:nvPr/>
        </p:nvSpPr>
        <p:spPr>
          <a:xfrm>
            <a:off x="1647490" y="5305203"/>
            <a:ext cx="8264859" cy="98228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等腰三角形 28">
            <a:extLst>
              <a:ext uri="{FF2B5EF4-FFF2-40B4-BE49-F238E27FC236}">
                <a16:creationId xmlns:a16="http://schemas.microsoft.com/office/drawing/2014/main" id="{7BBC1A91-7B16-81EC-8A2C-18ED6FFD5D08}"/>
              </a:ext>
            </a:extLst>
          </p:cNvPr>
          <p:cNvSpPr/>
          <p:nvPr/>
        </p:nvSpPr>
        <p:spPr>
          <a:xfrm>
            <a:off x="9683750" y="6090419"/>
            <a:ext cx="228599" cy="197068"/>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BDE5466E-1410-FBAA-5001-0881C033D687}"/>
              </a:ext>
            </a:extLst>
          </p:cNvPr>
          <p:cNvSpPr txBox="1"/>
          <p:nvPr/>
        </p:nvSpPr>
        <p:spPr>
          <a:xfrm>
            <a:off x="5409435" y="2521096"/>
            <a:ext cx="493000" cy="307777"/>
          </a:xfrm>
          <a:prstGeom prst="rect">
            <a:avLst/>
          </a:prstGeom>
          <a:noFill/>
        </p:spPr>
        <p:txBody>
          <a:bodyPr wrap="square" rtlCol="0">
            <a:spAutoFit/>
          </a:bodyPr>
          <a:lstStyle/>
          <a:p>
            <a:pPr algn="ctr"/>
            <a:r>
              <a:rPr lang="en-US" altLang="zh-CN" sz="1400" dirty="0">
                <a:solidFill>
                  <a:schemeClr val="bg1"/>
                </a:solidFill>
                <a:latin typeface="华文细黑" panose="02010600040101010101" pitchFamily="2" charset="-122"/>
                <a:ea typeface="华文细黑" panose="02010600040101010101" pitchFamily="2" charset="-122"/>
                <a:cs typeface="Arial" pitchFamily="34" charset="0"/>
              </a:rPr>
              <a:t>STA</a:t>
            </a:r>
          </a:p>
        </p:txBody>
      </p:sp>
      <p:sp>
        <p:nvSpPr>
          <p:cNvPr id="31" name="文本框 30">
            <a:extLst>
              <a:ext uri="{FF2B5EF4-FFF2-40B4-BE49-F238E27FC236}">
                <a16:creationId xmlns:a16="http://schemas.microsoft.com/office/drawing/2014/main" id="{ECEA75ED-94B4-68C3-1A91-D9D661AAA6D1}"/>
              </a:ext>
            </a:extLst>
          </p:cNvPr>
          <p:cNvSpPr txBox="1"/>
          <p:nvPr/>
        </p:nvSpPr>
        <p:spPr>
          <a:xfrm>
            <a:off x="6309506" y="4068465"/>
            <a:ext cx="493000" cy="400110"/>
          </a:xfrm>
          <a:prstGeom prst="rect">
            <a:avLst/>
          </a:prstGeom>
          <a:noFill/>
        </p:spPr>
        <p:txBody>
          <a:bodyPr wrap="square" rtlCol="0">
            <a:spAutoFit/>
          </a:bodyPr>
          <a:lstStyle/>
          <a:p>
            <a:pPr algn="ctr"/>
            <a:r>
              <a:rPr lang="en-US" altLang="zh-CN" sz="1000" dirty="0">
                <a:solidFill>
                  <a:schemeClr val="bg1"/>
                </a:solidFill>
                <a:latin typeface="华文细黑" panose="02010600040101010101" pitchFamily="2" charset="-122"/>
                <a:ea typeface="华文细黑" panose="02010600040101010101" pitchFamily="2" charset="-122"/>
                <a:cs typeface="Arial" pitchFamily="34" charset="0"/>
              </a:rPr>
              <a:t>STA+AP</a:t>
            </a:r>
          </a:p>
        </p:txBody>
      </p:sp>
      <p:sp>
        <p:nvSpPr>
          <p:cNvPr id="32" name="文本框 31">
            <a:extLst>
              <a:ext uri="{FF2B5EF4-FFF2-40B4-BE49-F238E27FC236}">
                <a16:creationId xmlns:a16="http://schemas.microsoft.com/office/drawing/2014/main" id="{5179244A-81C9-9A7B-0871-64033D279849}"/>
              </a:ext>
            </a:extLst>
          </p:cNvPr>
          <p:cNvSpPr txBox="1"/>
          <p:nvPr/>
        </p:nvSpPr>
        <p:spPr>
          <a:xfrm>
            <a:off x="4509364" y="4114631"/>
            <a:ext cx="493000" cy="307777"/>
          </a:xfrm>
          <a:prstGeom prst="rect">
            <a:avLst/>
          </a:prstGeom>
          <a:noFill/>
        </p:spPr>
        <p:txBody>
          <a:bodyPr wrap="square" rtlCol="0">
            <a:spAutoFit/>
          </a:bodyPr>
          <a:lstStyle/>
          <a:p>
            <a:pPr algn="ctr"/>
            <a:r>
              <a:rPr lang="en-US" altLang="zh-CN" sz="1400" dirty="0">
                <a:solidFill>
                  <a:schemeClr val="bg1"/>
                </a:solidFill>
                <a:latin typeface="华文细黑" panose="02010600040101010101" pitchFamily="2" charset="-122"/>
                <a:ea typeface="华文细黑" panose="02010600040101010101" pitchFamily="2" charset="-122"/>
                <a:cs typeface="Arial" pitchFamily="34" charset="0"/>
              </a:rPr>
              <a:t>AP</a:t>
            </a:r>
          </a:p>
        </p:txBody>
      </p:sp>
      <p:sp>
        <p:nvSpPr>
          <p:cNvPr id="39" name="文本框 38">
            <a:extLst>
              <a:ext uri="{FF2B5EF4-FFF2-40B4-BE49-F238E27FC236}">
                <a16:creationId xmlns:a16="http://schemas.microsoft.com/office/drawing/2014/main" id="{8A58ACA5-D984-5B48-CB07-8739A28EACBA}"/>
              </a:ext>
            </a:extLst>
          </p:cNvPr>
          <p:cNvSpPr txBox="1"/>
          <p:nvPr/>
        </p:nvSpPr>
        <p:spPr>
          <a:xfrm>
            <a:off x="4329571" y="1022678"/>
            <a:ext cx="2652728" cy="1590435"/>
          </a:xfrm>
          <a:prstGeom prst="rect">
            <a:avLst/>
          </a:prstGeom>
          <a:noFill/>
        </p:spPr>
        <p:txBody>
          <a:bodyPr wrap="square" rtlCol="0">
            <a:spAutoFit/>
          </a:bodyPr>
          <a:lstStyle/>
          <a:p>
            <a:pPr algn="just">
              <a:lnSpc>
                <a:spcPct val="110000"/>
              </a:lnSpc>
            </a:pPr>
            <a:r>
              <a:rPr lang="en-US" altLang="zh-CN" dirty="0">
                <a:solidFill>
                  <a:srgbClr val="AC3643"/>
                </a:solidFill>
                <a:latin typeface="微软雅黑" panose="020B0503020204020204" pitchFamily="34" charset="-122"/>
                <a:ea typeface="微软雅黑" panose="020B0503020204020204" pitchFamily="34" charset="-122"/>
              </a:rPr>
              <a:t>STA</a:t>
            </a:r>
            <a:r>
              <a:rPr lang="zh-CN" altLang="zh-CN" dirty="0">
                <a:solidFill>
                  <a:srgbClr val="AC3643"/>
                </a:solidFill>
                <a:latin typeface="微软雅黑" panose="020B0503020204020204" pitchFamily="34" charset="-122"/>
                <a:ea typeface="微软雅黑" panose="020B0503020204020204" pitchFamily="34" charset="-122"/>
              </a:rPr>
              <a:t>模式下，类似于无线终端，模块可连接其他设备提供的无线网络，</a:t>
            </a:r>
            <a:r>
              <a:rPr lang="en-US" altLang="zh-CN" dirty="0">
                <a:solidFill>
                  <a:srgbClr val="AC3643"/>
                </a:solidFill>
                <a:latin typeface="微软雅黑" panose="020B0503020204020204" pitchFamily="34" charset="-122"/>
                <a:ea typeface="微软雅黑" panose="020B0503020204020204" pitchFamily="34" charset="-122"/>
              </a:rPr>
              <a:t>STA</a:t>
            </a:r>
            <a:r>
              <a:rPr lang="zh-CN" altLang="zh-CN" dirty="0">
                <a:solidFill>
                  <a:srgbClr val="AC3643"/>
                </a:solidFill>
                <a:latin typeface="微软雅黑" panose="020B0503020204020204" pitchFamily="34" charset="-122"/>
                <a:ea typeface="微软雅黑" panose="020B0503020204020204" pitchFamily="34" charset="-122"/>
              </a:rPr>
              <a:t>本身并不接受无线的接入</a:t>
            </a:r>
            <a:r>
              <a:rPr lang="zh-CN" altLang="en-US" dirty="0">
                <a:solidFill>
                  <a:srgbClr val="AC3643"/>
                </a:solidFill>
                <a:latin typeface="微软雅黑" panose="020B0503020204020204" pitchFamily="34" charset="-122"/>
                <a:ea typeface="微软雅黑" panose="020B0503020204020204" pitchFamily="34" charset="-122"/>
              </a:rPr>
              <a:t>。</a:t>
            </a:r>
            <a:endParaRPr lang="zh-CN" altLang="en-US" sz="1400" dirty="0">
              <a:solidFill>
                <a:srgbClr val="AC3643"/>
              </a:solidFill>
              <a:latin typeface="微软雅黑" panose="020B0503020204020204" pitchFamily="34" charset="-122"/>
              <a:ea typeface="微软雅黑" panose="020B0503020204020204" pitchFamily="34" charset="-122"/>
              <a:cs typeface="Arial" pitchFamily="34" charset="0"/>
            </a:endParaRPr>
          </a:p>
        </p:txBody>
      </p:sp>
      <p:sp>
        <p:nvSpPr>
          <p:cNvPr id="46" name="文本框 45">
            <a:extLst>
              <a:ext uri="{FF2B5EF4-FFF2-40B4-BE49-F238E27FC236}">
                <a16:creationId xmlns:a16="http://schemas.microsoft.com/office/drawing/2014/main" id="{0DDCE7E1-520A-2F06-61B7-C16798A496F6}"/>
              </a:ext>
            </a:extLst>
          </p:cNvPr>
          <p:cNvSpPr txBox="1"/>
          <p:nvPr/>
        </p:nvSpPr>
        <p:spPr>
          <a:xfrm>
            <a:off x="989783" y="3429000"/>
            <a:ext cx="3172160" cy="1791965"/>
          </a:xfrm>
          <a:prstGeom prst="rect">
            <a:avLst/>
          </a:prstGeom>
          <a:noFill/>
        </p:spPr>
        <p:txBody>
          <a:bodyPr wrap="square">
            <a:spAutoFit/>
          </a:bodyPr>
          <a:lstStyle/>
          <a:p>
            <a:pPr algn="just">
              <a:lnSpc>
                <a:spcPct val="125000"/>
              </a:lnSpc>
            </a:pPr>
            <a:r>
              <a:rPr lang="en-US" altLang="zh-CN" sz="1800" dirty="0">
                <a:solidFill>
                  <a:srgbClr val="AB3341"/>
                </a:solidFill>
                <a:effectLst/>
                <a:latin typeface="微软雅黑" panose="020B0503020204020204" pitchFamily="34" charset="-122"/>
                <a:ea typeface="微软雅黑" panose="020B0503020204020204" pitchFamily="34" charset="-122"/>
              </a:rPr>
              <a:t>AP</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模式下，模块产生热点，提供无线接入服务，允许其它无线设备接入，提供数据访问，同时</a:t>
            </a:r>
            <a:r>
              <a:rPr lang="en-US" altLang="zh-CN" sz="1800" dirty="0">
                <a:solidFill>
                  <a:srgbClr val="AB3341"/>
                </a:solidFill>
                <a:effectLst/>
                <a:latin typeface="微软雅黑" panose="020B0503020204020204" pitchFamily="34" charset="-122"/>
                <a:ea typeface="微软雅黑" panose="020B0503020204020204" pitchFamily="34" charset="-122"/>
              </a:rPr>
              <a:t>AP</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800" dirty="0">
                <a:solidFill>
                  <a:srgbClr val="AB3341"/>
                </a:solidFill>
                <a:effectLst/>
                <a:latin typeface="微软雅黑" panose="020B0503020204020204" pitchFamily="34" charset="-122"/>
                <a:ea typeface="微软雅黑" panose="020B0503020204020204" pitchFamily="34" charset="-122"/>
              </a:rPr>
              <a:t>AP</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之间允许相互连接</a:t>
            </a:r>
            <a:r>
              <a:rPr lang="zh-CN" altLang="en-US"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solidFill>
                <a:srgbClr val="AB3341"/>
              </a:solidFill>
              <a:latin typeface="微软雅黑" panose="020B0503020204020204" pitchFamily="34" charset="-122"/>
              <a:ea typeface="微软雅黑" panose="020B0503020204020204" pitchFamily="34" charset="-122"/>
            </a:endParaRPr>
          </a:p>
        </p:txBody>
      </p:sp>
      <p:sp>
        <p:nvSpPr>
          <p:cNvPr id="48" name="文本框 47">
            <a:extLst>
              <a:ext uri="{FF2B5EF4-FFF2-40B4-BE49-F238E27FC236}">
                <a16:creationId xmlns:a16="http://schemas.microsoft.com/office/drawing/2014/main" id="{B260DBE4-8535-D0BC-6866-79F4C84A869C}"/>
              </a:ext>
            </a:extLst>
          </p:cNvPr>
          <p:cNvSpPr txBox="1"/>
          <p:nvPr/>
        </p:nvSpPr>
        <p:spPr>
          <a:xfrm>
            <a:off x="7050032" y="3783223"/>
            <a:ext cx="3499434" cy="1099468"/>
          </a:xfrm>
          <a:prstGeom prst="rect">
            <a:avLst/>
          </a:prstGeom>
          <a:noFill/>
        </p:spPr>
        <p:txBody>
          <a:bodyPr wrap="square">
            <a:spAutoFit/>
          </a:bodyPr>
          <a:lstStyle/>
          <a:p>
            <a:pPr algn="just">
              <a:lnSpc>
                <a:spcPct val="125000"/>
              </a:lnSpc>
            </a:pPr>
            <a:r>
              <a:rPr lang="en-US" altLang="zh-CN" sz="1800" dirty="0">
                <a:solidFill>
                  <a:srgbClr val="AB3341"/>
                </a:solidFill>
                <a:effectLst/>
                <a:latin typeface="微软雅黑" panose="020B0503020204020204" pitchFamily="34" charset="-122"/>
                <a:ea typeface="微软雅黑" panose="020B0503020204020204" pitchFamily="34" charset="-122"/>
              </a:rPr>
              <a:t>STA+AP</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模式下，模块既能连接至其他设备提供的无线网络，又能作为热点，供其他设备连接</a:t>
            </a:r>
            <a:r>
              <a:rPr lang="zh-CN" altLang="en-US"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solidFill>
                <a:srgbClr val="AB3341"/>
              </a:solidFill>
              <a:latin typeface="微软雅黑" panose="020B0503020204020204" pitchFamily="34" charset="-122"/>
              <a:ea typeface="微软雅黑" panose="020B0503020204020204" pitchFamily="34" charset="-122"/>
            </a:endParaRPr>
          </a:p>
        </p:txBody>
      </p:sp>
      <p:sp>
        <p:nvSpPr>
          <p:cNvPr id="49" name="文本框 48">
            <a:extLst>
              <a:ext uri="{FF2B5EF4-FFF2-40B4-BE49-F238E27FC236}">
                <a16:creationId xmlns:a16="http://schemas.microsoft.com/office/drawing/2014/main" id="{D0812B13-5127-75A0-5849-705ECCC5CA05}"/>
              </a:ext>
            </a:extLst>
          </p:cNvPr>
          <p:cNvSpPr txBox="1"/>
          <p:nvPr/>
        </p:nvSpPr>
        <p:spPr>
          <a:xfrm>
            <a:off x="5092667" y="3610836"/>
            <a:ext cx="1156425"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工作模式</a:t>
            </a:r>
          </a:p>
        </p:txBody>
      </p:sp>
    </p:spTree>
    <p:extLst>
      <p:ext uri="{BB962C8B-B14F-4D97-AF65-F5344CB8AC3E}">
        <p14:creationId xmlns:p14="http://schemas.microsoft.com/office/powerpoint/2010/main" val="3689167375"/>
      </p:ext>
    </p:extLst>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下位机软件开发</a:t>
            </a:r>
            <a:r>
              <a:rPr lang="en-US" altLang="zh-CN" dirty="0"/>
              <a:t>—</a:t>
            </a:r>
            <a:r>
              <a:rPr lang="zh-CN" altLang="en-US" dirty="0"/>
              <a:t>通讯系统</a:t>
            </a:r>
          </a:p>
        </p:txBody>
      </p:sp>
      <p:sp>
        <p:nvSpPr>
          <p:cNvPr id="20" name="文本框 19"/>
          <p:cNvSpPr txBox="1"/>
          <p:nvPr/>
        </p:nvSpPr>
        <p:spPr>
          <a:xfrm>
            <a:off x="2209135" y="3176920"/>
            <a:ext cx="3149238" cy="2138214"/>
          </a:xfrm>
          <a:prstGeom prst="rect">
            <a:avLst/>
          </a:prstGeom>
          <a:noFill/>
        </p:spPr>
        <p:txBody>
          <a:bodyPr wrap="square" rtlCol="0">
            <a:spAutoFit/>
          </a:bodyPr>
          <a:lstStyle/>
          <a:p>
            <a:pPr algn="ctr">
              <a:lnSpc>
                <a:spcPct val="125000"/>
              </a:lnSpc>
            </a:pPr>
            <a:r>
              <a:rPr lang="en-US" altLang="zh-CN" sz="1800" dirty="0">
                <a:effectLst/>
                <a:latin typeface="微软雅黑" panose="020B0503020204020204" pitchFamily="34" charset="-122"/>
                <a:ea typeface="微软雅黑" panose="020B0503020204020204" pitchFamily="34" charset="-122"/>
              </a:rPr>
              <a:t>AT</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指令开发是基于出厂提供的固件，通过发送</a:t>
            </a:r>
            <a:r>
              <a:rPr lang="en-US" altLang="zh-CN" sz="1800" dirty="0">
                <a:effectLst/>
                <a:latin typeface="微软雅黑" panose="020B0503020204020204" pitchFamily="34" charset="-122"/>
                <a:ea typeface="微软雅黑" panose="020B0503020204020204" pitchFamily="34" charset="-122"/>
              </a:rPr>
              <a:t>AT</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加指令的方式，应用于终端设备之间的连接与通信，</a:t>
            </a:r>
            <a:r>
              <a:rPr lang="en-US" altLang="zh-CN" sz="1800" dirty="0">
                <a:effectLst/>
                <a:latin typeface="微软雅黑" panose="020B0503020204020204" pitchFamily="34" charset="-122"/>
                <a:ea typeface="微软雅黑" panose="020B0503020204020204" pitchFamily="34" charset="-122"/>
              </a:rPr>
              <a:t>AT</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指令开发不需要实现协议栈，开发简单，开发难度大大降低</a:t>
            </a:r>
            <a:endParaRPr lang="en-US" altLang="zh-CN" dirty="0">
              <a:solidFill>
                <a:schemeClr val="accent1"/>
              </a:solidFill>
              <a:latin typeface="微软雅黑" panose="020B0503020204020204" pitchFamily="34" charset="-122"/>
              <a:ea typeface="微软雅黑" panose="020B0503020204020204" pitchFamily="34" charset="-122"/>
              <a:cs typeface="Arial" pitchFamily="34" charset="0"/>
            </a:endParaRPr>
          </a:p>
        </p:txBody>
      </p:sp>
      <p:grpSp>
        <p:nvGrpSpPr>
          <p:cNvPr id="5" name="组合 4"/>
          <p:cNvGrpSpPr/>
          <p:nvPr/>
        </p:nvGrpSpPr>
        <p:grpSpPr>
          <a:xfrm>
            <a:off x="3170526" y="1190405"/>
            <a:ext cx="1319036" cy="1319036"/>
            <a:chOff x="1804920" y="2564122"/>
            <a:chExt cx="1319036" cy="1319036"/>
          </a:xfrm>
        </p:grpSpPr>
        <p:sp>
          <p:nvSpPr>
            <p:cNvPr id="14" name="十角星 13"/>
            <p:cNvSpPr/>
            <p:nvPr/>
          </p:nvSpPr>
          <p:spPr>
            <a:xfrm>
              <a:off x="1804920" y="2564122"/>
              <a:ext cx="1319036" cy="1319036"/>
            </a:xfrm>
            <a:prstGeom prst="star10">
              <a:avLst>
                <a:gd name="adj" fmla="val 45147"/>
                <a:gd name="hf" fmla="val 10514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1900">
                <a:solidFill>
                  <a:prstClr val="white"/>
                </a:solidFill>
              </a:endParaRPr>
            </a:p>
          </p:txBody>
        </p:sp>
        <p:sp>
          <p:nvSpPr>
            <p:cNvPr id="25" name="文本框 24"/>
            <p:cNvSpPr txBox="1"/>
            <p:nvPr/>
          </p:nvSpPr>
          <p:spPr>
            <a:xfrm>
              <a:off x="1819878" y="2761975"/>
              <a:ext cx="1304078" cy="923330"/>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01</a:t>
              </a:r>
            </a:p>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AT</a:t>
              </a:r>
              <a:r>
                <a:rPr lang="zh-CN" altLang="en-US" dirty="0">
                  <a:solidFill>
                    <a:schemeClr val="bg1"/>
                  </a:solidFill>
                  <a:latin typeface="华文细黑" panose="02010600040101010101" pitchFamily="2" charset="-122"/>
                  <a:ea typeface="华文细黑" panose="02010600040101010101" pitchFamily="2" charset="-122"/>
                  <a:cs typeface="Arial" pitchFamily="34" charset="0"/>
                </a:rPr>
                <a:t>指令开发</a:t>
              </a: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grpSp>
        <p:nvGrpSpPr>
          <p:cNvPr id="26" name="组合 25"/>
          <p:cNvGrpSpPr/>
          <p:nvPr/>
        </p:nvGrpSpPr>
        <p:grpSpPr>
          <a:xfrm>
            <a:off x="6477026" y="1190405"/>
            <a:ext cx="1319036" cy="1319036"/>
            <a:chOff x="1804920" y="2564122"/>
            <a:chExt cx="1319036" cy="1319036"/>
          </a:xfrm>
        </p:grpSpPr>
        <p:sp>
          <p:nvSpPr>
            <p:cNvPr id="27" name="十角星 26"/>
            <p:cNvSpPr/>
            <p:nvPr/>
          </p:nvSpPr>
          <p:spPr>
            <a:xfrm>
              <a:off x="1804920" y="2564122"/>
              <a:ext cx="1319036" cy="1319036"/>
            </a:xfrm>
            <a:prstGeom prst="star10">
              <a:avLst>
                <a:gd name="adj" fmla="val 45147"/>
                <a:gd name="hf" fmla="val 10514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1900">
                <a:solidFill>
                  <a:prstClr val="white"/>
                </a:solidFill>
              </a:endParaRPr>
            </a:p>
          </p:txBody>
        </p:sp>
        <p:sp>
          <p:nvSpPr>
            <p:cNvPr id="28" name="文本框 27"/>
            <p:cNvSpPr txBox="1"/>
            <p:nvPr/>
          </p:nvSpPr>
          <p:spPr>
            <a:xfrm>
              <a:off x="1819878" y="2761975"/>
              <a:ext cx="1304078" cy="923330"/>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02</a:t>
              </a:r>
            </a:p>
            <a:p>
              <a:pPr algn="ctr"/>
              <a:r>
                <a:rPr lang="zh-CN" altLang="en-US" dirty="0">
                  <a:solidFill>
                    <a:schemeClr val="bg1"/>
                  </a:solidFill>
                  <a:latin typeface="华文细黑" panose="02010600040101010101" pitchFamily="2" charset="-122"/>
                  <a:ea typeface="华文细黑" panose="02010600040101010101" pitchFamily="2" charset="-122"/>
                  <a:cs typeface="Arial" pitchFamily="34" charset="0"/>
                </a:rPr>
                <a:t>官方</a:t>
              </a: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SDK</a:t>
              </a:r>
              <a:r>
                <a:rPr lang="zh-CN" altLang="en-US" dirty="0">
                  <a:solidFill>
                    <a:schemeClr val="bg1"/>
                  </a:solidFill>
                  <a:latin typeface="华文细黑" panose="02010600040101010101" pitchFamily="2" charset="-122"/>
                  <a:ea typeface="华文细黑" panose="02010600040101010101" pitchFamily="2" charset="-122"/>
                  <a:cs typeface="Arial" pitchFamily="34" charset="0"/>
                </a:rPr>
                <a:t>开发</a:t>
              </a: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sp>
        <p:nvSpPr>
          <p:cNvPr id="35" name="文本框 34"/>
          <p:cNvSpPr txBox="1"/>
          <p:nvPr/>
        </p:nvSpPr>
        <p:spPr>
          <a:xfrm>
            <a:off x="5719974" y="3178840"/>
            <a:ext cx="2972816" cy="1791965"/>
          </a:xfrm>
          <a:prstGeom prst="rect">
            <a:avLst/>
          </a:prstGeom>
          <a:noFill/>
        </p:spPr>
        <p:txBody>
          <a:bodyPr wrap="square" rtlCol="0">
            <a:spAutoFit/>
          </a:bodyPr>
          <a:lstStyle/>
          <a:p>
            <a:pPr algn="just">
              <a:lnSpc>
                <a:spcPct val="125000"/>
              </a:lnSpc>
            </a:pPr>
            <a:r>
              <a:rPr lang="en-US" altLang="zh-CN" sz="1800" dirty="0">
                <a:effectLst/>
                <a:latin typeface="微软雅黑" panose="020B0503020204020204" pitchFamily="34" charset="-122"/>
                <a:ea typeface="微软雅黑" panose="020B0503020204020204" pitchFamily="34" charset="-122"/>
              </a:rPr>
              <a:t>SDK</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开发方式就是重新编程，需要用户在专门的</a:t>
            </a:r>
            <a:r>
              <a:rPr lang="en-US" altLang="zh-CN" sz="1800" dirty="0">
                <a:effectLst/>
                <a:latin typeface="微软雅黑" panose="020B0503020204020204" pitchFamily="34" charset="-122"/>
                <a:ea typeface="微软雅黑" panose="020B0503020204020204" pitchFamily="34" charset="-122"/>
              </a:rPr>
              <a:t>IDE</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中编写对应的程序，自定义</a:t>
            </a:r>
            <a:r>
              <a:rPr lang="en-US" altLang="zh-CN" sz="1800" dirty="0">
                <a:effectLst/>
                <a:latin typeface="微软雅黑" panose="020B0503020204020204" pitchFamily="34" charset="-122"/>
                <a:ea typeface="微软雅黑" panose="020B0503020204020204" pitchFamily="34" charset="-122"/>
              </a:rPr>
              <a:t>Wi-Fi</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协议栈等，对用户掌握的相关知识要求更高。</a:t>
            </a:r>
            <a:endParaRPr lang="en-US" altLang="zh-CN" dirty="0">
              <a:solidFill>
                <a:schemeClr val="accent1"/>
              </a:solidFill>
              <a:latin typeface="微软雅黑" panose="020B0503020204020204" pitchFamily="34" charset="-122"/>
              <a:ea typeface="微软雅黑" panose="020B0503020204020204" pitchFamily="34" charset="-122"/>
              <a:cs typeface="Arial" pitchFamily="34" charset="0"/>
            </a:endParaRPr>
          </a:p>
        </p:txBody>
      </p:sp>
      <p:cxnSp>
        <p:nvCxnSpPr>
          <p:cNvPr id="40" name="直接连接符 39"/>
          <p:cNvCxnSpPr/>
          <p:nvPr/>
        </p:nvCxnSpPr>
        <p:spPr>
          <a:xfrm>
            <a:off x="3170526" y="2688623"/>
            <a:ext cx="1226457" cy="0"/>
          </a:xfrm>
          <a:prstGeom prst="line">
            <a:avLst/>
          </a:prstGeom>
          <a:ln>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41" name="等腰三角形 40"/>
          <p:cNvSpPr/>
          <p:nvPr/>
        </p:nvSpPr>
        <p:spPr>
          <a:xfrm flipV="1">
            <a:off x="3701226" y="2687502"/>
            <a:ext cx="165056" cy="10271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43"/>
          <p:cNvCxnSpPr/>
          <p:nvPr/>
        </p:nvCxnSpPr>
        <p:spPr>
          <a:xfrm>
            <a:off x="6510626" y="2688623"/>
            <a:ext cx="1226457" cy="0"/>
          </a:xfrm>
          <a:prstGeom prst="line">
            <a:avLst/>
          </a:prstGeom>
          <a:ln>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45" name="等腰三角形 44"/>
          <p:cNvSpPr/>
          <p:nvPr/>
        </p:nvSpPr>
        <p:spPr>
          <a:xfrm flipV="1">
            <a:off x="7041326" y="2687502"/>
            <a:ext cx="165056" cy="10271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68129497"/>
      </p:ext>
    </p:extLst>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下位机软件开发</a:t>
            </a:r>
            <a:r>
              <a:rPr lang="en-US" altLang="zh-CN" dirty="0"/>
              <a:t>—</a:t>
            </a:r>
            <a:r>
              <a:rPr lang="zh-CN" altLang="en-US" dirty="0"/>
              <a:t>通讯系统</a:t>
            </a:r>
          </a:p>
        </p:txBody>
      </p:sp>
      <p:sp>
        <p:nvSpPr>
          <p:cNvPr id="20" name="文本框 19"/>
          <p:cNvSpPr txBox="1"/>
          <p:nvPr/>
        </p:nvSpPr>
        <p:spPr>
          <a:xfrm>
            <a:off x="2209135" y="3176920"/>
            <a:ext cx="3149238" cy="1442703"/>
          </a:xfrm>
          <a:prstGeom prst="rect">
            <a:avLst/>
          </a:prstGeom>
          <a:noFill/>
        </p:spPr>
        <p:txBody>
          <a:bodyPr wrap="square" rtlCol="0">
            <a:spAutoFit/>
          </a:bodyPr>
          <a:lstStyle/>
          <a:p>
            <a:pPr algn="just">
              <a:lnSpc>
                <a:spcPct val="125000"/>
              </a:lnSpc>
            </a:pPr>
            <a:r>
              <a:rPr lang="en-US" altLang="zh-CN" sz="1800" dirty="0">
                <a:solidFill>
                  <a:srgbClr val="AB3341"/>
                </a:solidFill>
                <a:effectLst/>
                <a:latin typeface="微软雅黑" panose="020B0503020204020204" pitchFamily="34" charset="-122"/>
                <a:ea typeface="微软雅黑" panose="020B0503020204020204" pitchFamily="34" charset="-122"/>
              </a:rPr>
              <a:t>TCP</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是一种面向连接的，提供可靠交付服务和全双工通信的，基于字节流的端到端的传输层通信协议</a:t>
            </a:r>
            <a:r>
              <a:rPr lang="zh-CN" altLang="en-US" dirty="0">
                <a:solidFill>
                  <a:srgbClr val="AB3341"/>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solidFill>
                <a:srgbClr val="AB3341"/>
              </a:solidFill>
              <a:latin typeface="微软雅黑" panose="020B0503020204020204" pitchFamily="34" charset="-122"/>
              <a:ea typeface="微软雅黑" panose="020B0503020204020204" pitchFamily="34" charset="-122"/>
              <a:cs typeface="Arial" pitchFamily="34" charset="0"/>
            </a:endParaRPr>
          </a:p>
        </p:txBody>
      </p:sp>
      <p:grpSp>
        <p:nvGrpSpPr>
          <p:cNvPr id="5" name="组合 4"/>
          <p:cNvGrpSpPr/>
          <p:nvPr/>
        </p:nvGrpSpPr>
        <p:grpSpPr>
          <a:xfrm>
            <a:off x="3170526" y="1190405"/>
            <a:ext cx="1319036" cy="1319036"/>
            <a:chOff x="1804920" y="2564122"/>
            <a:chExt cx="1319036" cy="1319036"/>
          </a:xfrm>
        </p:grpSpPr>
        <p:sp>
          <p:nvSpPr>
            <p:cNvPr id="14" name="十角星 13"/>
            <p:cNvSpPr/>
            <p:nvPr/>
          </p:nvSpPr>
          <p:spPr>
            <a:xfrm>
              <a:off x="1804920" y="2564122"/>
              <a:ext cx="1319036" cy="1319036"/>
            </a:xfrm>
            <a:prstGeom prst="star10">
              <a:avLst>
                <a:gd name="adj" fmla="val 45147"/>
                <a:gd name="hf" fmla="val 10514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1900">
                <a:solidFill>
                  <a:prstClr val="white"/>
                </a:solidFill>
              </a:endParaRPr>
            </a:p>
          </p:txBody>
        </p:sp>
        <p:sp>
          <p:nvSpPr>
            <p:cNvPr id="25" name="文本框 24"/>
            <p:cNvSpPr txBox="1"/>
            <p:nvPr/>
          </p:nvSpPr>
          <p:spPr>
            <a:xfrm>
              <a:off x="1819878" y="2761975"/>
              <a:ext cx="1304078" cy="646331"/>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01</a:t>
              </a:r>
            </a:p>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TCP/IP</a:t>
              </a:r>
            </a:p>
          </p:txBody>
        </p:sp>
      </p:grpSp>
      <p:grpSp>
        <p:nvGrpSpPr>
          <p:cNvPr id="26" name="组合 25"/>
          <p:cNvGrpSpPr/>
          <p:nvPr/>
        </p:nvGrpSpPr>
        <p:grpSpPr>
          <a:xfrm>
            <a:off x="6477026" y="1190405"/>
            <a:ext cx="1319036" cy="1319036"/>
            <a:chOff x="1804920" y="2564122"/>
            <a:chExt cx="1319036" cy="1319036"/>
          </a:xfrm>
        </p:grpSpPr>
        <p:sp>
          <p:nvSpPr>
            <p:cNvPr id="27" name="十角星 26"/>
            <p:cNvSpPr/>
            <p:nvPr/>
          </p:nvSpPr>
          <p:spPr>
            <a:xfrm>
              <a:off x="1804920" y="2564122"/>
              <a:ext cx="1319036" cy="1319036"/>
            </a:xfrm>
            <a:prstGeom prst="star10">
              <a:avLst>
                <a:gd name="adj" fmla="val 45147"/>
                <a:gd name="hf" fmla="val 10514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1900">
                <a:solidFill>
                  <a:prstClr val="white"/>
                </a:solidFill>
              </a:endParaRPr>
            </a:p>
          </p:txBody>
        </p:sp>
        <p:sp>
          <p:nvSpPr>
            <p:cNvPr id="28" name="文本框 27"/>
            <p:cNvSpPr txBox="1"/>
            <p:nvPr/>
          </p:nvSpPr>
          <p:spPr>
            <a:xfrm>
              <a:off x="1819878" y="2761975"/>
              <a:ext cx="1304078" cy="646331"/>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02</a:t>
              </a:r>
            </a:p>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UDP</a:t>
              </a:r>
            </a:p>
          </p:txBody>
        </p:sp>
      </p:grpSp>
      <p:sp>
        <p:nvSpPr>
          <p:cNvPr id="35" name="文本框 34"/>
          <p:cNvSpPr txBox="1"/>
          <p:nvPr/>
        </p:nvSpPr>
        <p:spPr>
          <a:xfrm>
            <a:off x="5719974" y="3178840"/>
            <a:ext cx="2972816" cy="1096454"/>
          </a:xfrm>
          <a:prstGeom prst="rect">
            <a:avLst/>
          </a:prstGeom>
          <a:noFill/>
        </p:spPr>
        <p:txBody>
          <a:bodyPr wrap="square" rtlCol="0">
            <a:spAutoFit/>
          </a:bodyPr>
          <a:lstStyle/>
          <a:p>
            <a:pPr algn="just">
              <a:lnSpc>
                <a:spcPct val="125000"/>
              </a:lnSpc>
            </a:pPr>
            <a:r>
              <a:rPr lang="en-US" altLang="zh-CN" sz="1800" dirty="0">
                <a:solidFill>
                  <a:srgbClr val="AB3341"/>
                </a:solidFill>
                <a:effectLst/>
                <a:latin typeface="微软雅黑" panose="020B0503020204020204" pitchFamily="34" charset="-122"/>
                <a:ea typeface="微软雅黑" panose="020B0503020204020204" pitchFamily="34" charset="-122"/>
              </a:rPr>
              <a:t>UDP</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是一种无连接的，尽最大努力交付的，基于报文的端到端的传输层通信协议</a:t>
            </a:r>
            <a:r>
              <a:rPr lang="zh-CN" altLang="en-US"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solidFill>
                <a:srgbClr val="AB3341"/>
              </a:solidFill>
              <a:latin typeface="微软雅黑" panose="020B0503020204020204" pitchFamily="34" charset="-122"/>
              <a:ea typeface="微软雅黑" panose="020B0503020204020204" pitchFamily="34" charset="-122"/>
              <a:cs typeface="Arial" pitchFamily="34" charset="0"/>
            </a:endParaRPr>
          </a:p>
        </p:txBody>
      </p:sp>
      <p:cxnSp>
        <p:nvCxnSpPr>
          <p:cNvPr id="40" name="直接连接符 39"/>
          <p:cNvCxnSpPr/>
          <p:nvPr/>
        </p:nvCxnSpPr>
        <p:spPr>
          <a:xfrm>
            <a:off x="3170526" y="2688623"/>
            <a:ext cx="1226457" cy="0"/>
          </a:xfrm>
          <a:prstGeom prst="line">
            <a:avLst/>
          </a:prstGeom>
          <a:ln>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41" name="等腰三角形 40"/>
          <p:cNvSpPr/>
          <p:nvPr/>
        </p:nvSpPr>
        <p:spPr>
          <a:xfrm flipV="1">
            <a:off x="3701226" y="2687502"/>
            <a:ext cx="165056" cy="10271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43"/>
          <p:cNvCxnSpPr/>
          <p:nvPr/>
        </p:nvCxnSpPr>
        <p:spPr>
          <a:xfrm>
            <a:off x="6510626" y="2688623"/>
            <a:ext cx="1226457" cy="0"/>
          </a:xfrm>
          <a:prstGeom prst="line">
            <a:avLst/>
          </a:prstGeom>
          <a:ln>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45" name="等腰三角形 44"/>
          <p:cNvSpPr/>
          <p:nvPr/>
        </p:nvSpPr>
        <p:spPr>
          <a:xfrm flipV="1">
            <a:off x="7041326" y="2687502"/>
            <a:ext cx="165056" cy="10271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D7A69A9F-5A5B-4CAA-20AA-53CEB551F0DF}"/>
              </a:ext>
            </a:extLst>
          </p:cNvPr>
          <p:cNvSpPr txBox="1"/>
          <p:nvPr/>
        </p:nvSpPr>
        <p:spPr>
          <a:xfrm>
            <a:off x="2523067" y="5107919"/>
            <a:ext cx="6096000" cy="1099468"/>
          </a:xfrm>
          <a:prstGeom prst="rect">
            <a:avLst/>
          </a:prstGeom>
          <a:noFill/>
        </p:spPr>
        <p:txBody>
          <a:bodyPr wrap="square">
            <a:spAutoFit/>
          </a:bodyPr>
          <a:lstStyle/>
          <a:p>
            <a:pPr algn="just">
              <a:lnSpc>
                <a:spcPct val="125000"/>
              </a:lnSpc>
            </a:pP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考虑到煤矿井下通讯信号差，对于数据准确性要求高的特点，因此采用面向连接的</a:t>
            </a:r>
            <a:r>
              <a:rPr lang="en-US" altLang="zh-CN" sz="1800" dirty="0">
                <a:solidFill>
                  <a:srgbClr val="AB3341"/>
                </a:solidFill>
                <a:effectLst/>
                <a:latin typeface="微软雅黑" panose="020B0503020204020204" pitchFamily="34" charset="-122"/>
                <a:ea typeface="微软雅黑" panose="020B0503020204020204" pitchFamily="34" charset="-122"/>
              </a:rPr>
              <a:t>TCP</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通讯协议更符合巡检机器人现场工作要求。</a:t>
            </a:r>
            <a:endParaRPr lang="zh-CN" altLang="en-US" dirty="0">
              <a:solidFill>
                <a:srgbClr val="AB334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73155905"/>
      </p:ext>
    </p:extLst>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下位机软件开发</a:t>
            </a:r>
            <a:r>
              <a:rPr lang="en-US" altLang="zh-CN" dirty="0"/>
              <a:t>—</a:t>
            </a:r>
            <a:r>
              <a:rPr lang="zh-CN" altLang="en-US" dirty="0"/>
              <a:t>通讯系统</a:t>
            </a:r>
          </a:p>
        </p:txBody>
      </p:sp>
      <p:pic>
        <p:nvPicPr>
          <p:cNvPr id="3" name="图片 2">
            <a:extLst>
              <a:ext uri="{FF2B5EF4-FFF2-40B4-BE49-F238E27FC236}">
                <a16:creationId xmlns:a16="http://schemas.microsoft.com/office/drawing/2014/main" id="{F7D9CAD3-064F-4ADC-9515-0B8244423FCA}"/>
              </a:ext>
            </a:extLst>
          </p:cNvPr>
          <p:cNvPicPr>
            <a:picLocks noChangeAspect="1"/>
          </p:cNvPicPr>
          <p:nvPr/>
        </p:nvPicPr>
        <p:blipFill>
          <a:blip r:embed="rId2"/>
          <a:stretch>
            <a:fillRect/>
          </a:stretch>
        </p:blipFill>
        <p:spPr>
          <a:xfrm>
            <a:off x="752324" y="1143000"/>
            <a:ext cx="3257550" cy="4572000"/>
          </a:xfrm>
          <a:prstGeom prst="rect">
            <a:avLst/>
          </a:prstGeom>
        </p:spPr>
      </p:pic>
      <p:sp>
        <p:nvSpPr>
          <p:cNvPr id="7" name="文本框 6">
            <a:extLst>
              <a:ext uri="{FF2B5EF4-FFF2-40B4-BE49-F238E27FC236}">
                <a16:creationId xmlns:a16="http://schemas.microsoft.com/office/drawing/2014/main" id="{61081DC5-EBE4-D828-2428-ABAEE78FE288}"/>
              </a:ext>
            </a:extLst>
          </p:cNvPr>
          <p:cNvSpPr txBox="1"/>
          <p:nvPr/>
        </p:nvSpPr>
        <p:spPr>
          <a:xfrm>
            <a:off x="4097867" y="1321147"/>
            <a:ext cx="6262006" cy="4561954"/>
          </a:xfrm>
          <a:prstGeom prst="rect">
            <a:avLst/>
          </a:prstGeom>
          <a:noFill/>
        </p:spPr>
        <p:txBody>
          <a:bodyPr wrap="square">
            <a:spAutoFit/>
          </a:bodyPr>
          <a:lstStyle/>
          <a:p>
            <a:pPr indent="457200" algn="dist">
              <a:lnSpc>
                <a:spcPct val="125000"/>
              </a:lnSpc>
              <a:tabLst>
                <a:tab pos="2070735" algn="l"/>
              </a:tabLst>
            </a:pPr>
            <a:r>
              <a:rPr lang="en-US" altLang="zh-CN" kern="100" dirty="0">
                <a:solidFill>
                  <a:srgbClr val="AB3341"/>
                </a:solidFill>
                <a:effectLst/>
                <a:latin typeface="微软雅黑" panose="020B0503020204020204" pitchFamily="34" charset="-122"/>
                <a:ea typeface="微软雅黑" panose="020B0503020204020204" pitchFamily="34" charset="-122"/>
              </a:rPr>
              <a:t>1</a:t>
            </a:r>
            <a:r>
              <a:rPr lang="zh-CN" altLang="zh-CN" kern="100" dirty="0">
                <a:solidFill>
                  <a:srgbClr val="AB3341"/>
                </a:solidFill>
                <a:effectLst/>
                <a:latin typeface="微软雅黑" panose="020B0503020204020204" pitchFamily="34" charset="-122"/>
                <a:ea typeface="微软雅黑" panose="020B0503020204020204" pitchFamily="34" charset="-122"/>
              </a:rPr>
              <a:t>）设置工作模式：利用</a:t>
            </a:r>
            <a:r>
              <a:rPr lang="en-US" altLang="zh-CN" kern="100" dirty="0">
                <a:solidFill>
                  <a:srgbClr val="AB3341"/>
                </a:solidFill>
                <a:effectLst/>
                <a:latin typeface="微软雅黑" panose="020B0503020204020204" pitchFamily="34" charset="-122"/>
                <a:ea typeface="微软雅黑" panose="020B0503020204020204" pitchFamily="34" charset="-122"/>
              </a:rPr>
              <a:t>AT+CWMODE=</a:t>
            </a:r>
            <a:r>
              <a:rPr lang="zh-CN" altLang="zh-CN" kern="100" dirty="0">
                <a:solidFill>
                  <a:srgbClr val="AB3341"/>
                </a:solidFill>
                <a:effectLst/>
                <a:latin typeface="微软雅黑" panose="020B0503020204020204" pitchFamily="34" charset="-122"/>
                <a:ea typeface="微软雅黑" panose="020B0503020204020204" pitchFamily="34" charset="-122"/>
              </a:rPr>
              <a:t>指令设置工作模式，</a:t>
            </a:r>
            <a:r>
              <a:rPr lang="en-US" altLang="zh-CN" kern="100" dirty="0">
                <a:solidFill>
                  <a:srgbClr val="AB3341"/>
                </a:solidFill>
                <a:effectLst/>
                <a:latin typeface="微软雅黑" panose="020B0503020204020204" pitchFamily="34" charset="-122"/>
                <a:ea typeface="微软雅黑" panose="020B0503020204020204" pitchFamily="34" charset="-122"/>
              </a:rPr>
              <a:t>1</a:t>
            </a:r>
            <a:r>
              <a:rPr lang="zh-CN" altLang="zh-CN" kern="100" dirty="0">
                <a:solidFill>
                  <a:srgbClr val="AB3341"/>
                </a:solidFill>
                <a:effectLst/>
                <a:latin typeface="微软雅黑" panose="020B0503020204020204" pitchFamily="34" charset="-122"/>
                <a:ea typeface="微软雅黑" panose="020B0503020204020204" pitchFamily="34" charset="-122"/>
              </a:rPr>
              <a:t>为</a:t>
            </a:r>
            <a:r>
              <a:rPr lang="en-US" altLang="zh-CN" kern="100" dirty="0">
                <a:solidFill>
                  <a:srgbClr val="AB3341"/>
                </a:solidFill>
                <a:effectLst/>
                <a:latin typeface="微软雅黑" panose="020B0503020204020204" pitchFamily="34" charset="-122"/>
                <a:ea typeface="微软雅黑" panose="020B0503020204020204" pitchFamily="34" charset="-122"/>
              </a:rPr>
              <a:t>STA</a:t>
            </a:r>
            <a:r>
              <a:rPr lang="zh-CN" altLang="zh-CN" kern="100" dirty="0">
                <a:solidFill>
                  <a:srgbClr val="AB3341"/>
                </a:solidFill>
                <a:effectLst/>
                <a:latin typeface="微软雅黑" panose="020B0503020204020204" pitchFamily="34" charset="-122"/>
                <a:ea typeface="微软雅黑" panose="020B0503020204020204" pitchFamily="34" charset="-122"/>
              </a:rPr>
              <a:t>工作模式，</a:t>
            </a:r>
            <a:r>
              <a:rPr lang="en-US" altLang="zh-CN" kern="100" dirty="0">
                <a:solidFill>
                  <a:srgbClr val="AB3341"/>
                </a:solidFill>
                <a:effectLst/>
                <a:latin typeface="微软雅黑" panose="020B0503020204020204" pitchFamily="34" charset="-122"/>
                <a:ea typeface="微软雅黑" panose="020B0503020204020204" pitchFamily="34" charset="-122"/>
              </a:rPr>
              <a:t>2</a:t>
            </a:r>
            <a:r>
              <a:rPr lang="zh-CN" altLang="zh-CN" kern="100" dirty="0">
                <a:solidFill>
                  <a:srgbClr val="AB3341"/>
                </a:solidFill>
                <a:effectLst/>
                <a:latin typeface="微软雅黑" panose="020B0503020204020204" pitchFamily="34" charset="-122"/>
                <a:ea typeface="微软雅黑" panose="020B0503020204020204" pitchFamily="34" charset="-122"/>
              </a:rPr>
              <a:t>为</a:t>
            </a:r>
            <a:r>
              <a:rPr lang="en-US" altLang="zh-CN" kern="100" dirty="0">
                <a:solidFill>
                  <a:srgbClr val="AB3341"/>
                </a:solidFill>
                <a:effectLst/>
                <a:latin typeface="微软雅黑" panose="020B0503020204020204" pitchFamily="34" charset="-122"/>
                <a:ea typeface="微软雅黑" panose="020B0503020204020204" pitchFamily="34" charset="-122"/>
              </a:rPr>
              <a:t>AP</a:t>
            </a:r>
            <a:r>
              <a:rPr lang="zh-CN" altLang="zh-CN" kern="100" dirty="0">
                <a:solidFill>
                  <a:srgbClr val="AB3341"/>
                </a:solidFill>
                <a:effectLst/>
                <a:latin typeface="微软雅黑" panose="020B0503020204020204" pitchFamily="34" charset="-122"/>
                <a:ea typeface="微软雅黑" panose="020B0503020204020204" pitchFamily="34" charset="-122"/>
              </a:rPr>
              <a:t>工作模式，</a:t>
            </a:r>
            <a:r>
              <a:rPr lang="en-US" altLang="zh-CN" kern="100" dirty="0">
                <a:solidFill>
                  <a:srgbClr val="AB3341"/>
                </a:solidFill>
                <a:effectLst/>
                <a:latin typeface="微软雅黑" panose="020B0503020204020204" pitchFamily="34" charset="-122"/>
                <a:ea typeface="微软雅黑" panose="020B0503020204020204" pitchFamily="34" charset="-122"/>
              </a:rPr>
              <a:t>3</a:t>
            </a:r>
            <a:r>
              <a:rPr lang="zh-CN" altLang="zh-CN" kern="100" dirty="0">
                <a:solidFill>
                  <a:srgbClr val="AB3341"/>
                </a:solidFill>
                <a:effectLst/>
                <a:latin typeface="微软雅黑" panose="020B0503020204020204" pitchFamily="34" charset="-122"/>
                <a:ea typeface="微软雅黑" panose="020B0503020204020204" pitchFamily="34" charset="-122"/>
              </a:rPr>
              <a:t>为</a:t>
            </a:r>
            <a:r>
              <a:rPr lang="en-US" altLang="zh-CN" kern="100" dirty="0">
                <a:solidFill>
                  <a:srgbClr val="AB3341"/>
                </a:solidFill>
                <a:effectLst/>
                <a:latin typeface="微软雅黑" panose="020B0503020204020204" pitchFamily="34" charset="-122"/>
                <a:ea typeface="微软雅黑" panose="020B0503020204020204" pitchFamily="34" charset="-122"/>
              </a:rPr>
              <a:t>AP+STA</a:t>
            </a:r>
            <a:r>
              <a:rPr lang="zh-CN" altLang="zh-CN" kern="100" dirty="0">
                <a:solidFill>
                  <a:srgbClr val="AB3341"/>
                </a:solidFill>
                <a:effectLst/>
                <a:latin typeface="微软雅黑" panose="020B0503020204020204" pitchFamily="34" charset="-122"/>
                <a:ea typeface="微软雅黑" panose="020B0503020204020204" pitchFamily="34" charset="-122"/>
              </a:rPr>
              <a:t>兼容模式。根据上文工作模式的选择，输入</a:t>
            </a:r>
            <a:r>
              <a:rPr lang="en-US" altLang="zh-CN" kern="100" dirty="0">
                <a:solidFill>
                  <a:srgbClr val="AB3341"/>
                </a:solidFill>
                <a:effectLst/>
                <a:latin typeface="微软雅黑" panose="020B0503020204020204" pitchFamily="34" charset="-122"/>
                <a:ea typeface="微软雅黑" panose="020B0503020204020204" pitchFamily="34" charset="-122"/>
              </a:rPr>
              <a:t>AT+CWMODE=1</a:t>
            </a:r>
            <a:r>
              <a:rPr lang="zh-CN" altLang="zh-CN" kern="100" dirty="0">
                <a:solidFill>
                  <a:srgbClr val="AB3341"/>
                </a:solidFill>
                <a:effectLst/>
                <a:latin typeface="微软雅黑" panose="020B0503020204020204" pitchFamily="34" charset="-122"/>
                <a:ea typeface="微软雅黑" panose="020B0503020204020204" pitchFamily="34" charset="-122"/>
              </a:rPr>
              <a:t>指令选择</a:t>
            </a:r>
            <a:r>
              <a:rPr lang="en-US" altLang="zh-CN" kern="100" dirty="0">
                <a:solidFill>
                  <a:srgbClr val="AB3341"/>
                </a:solidFill>
                <a:effectLst/>
                <a:latin typeface="微软雅黑" panose="020B0503020204020204" pitchFamily="34" charset="-122"/>
                <a:ea typeface="微软雅黑" panose="020B0503020204020204" pitchFamily="34" charset="-122"/>
              </a:rPr>
              <a:t>STA</a:t>
            </a:r>
            <a:r>
              <a:rPr lang="zh-CN" altLang="zh-CN" kern="100" dirty="0">
                <a:solidFill>
                  <a:srgbClr val="AB3341"/>
                </a:solidFill>
                <a:effectLst/>
                <a:latin typeface="微软雅黑" panose="020B0503020204020204" pitchFamily="34" charset="-122"/>
                <a:ea typeface="微软雅黑" panose="020B0503020204020204" pitchFamily="34" charset="-122"/>
              </a:rPr>
              <a:t>工作模式。</a:t>
            </a:r>
            <a:endParaRPr lang="en-US" altLang="zh-CN" kern="100" dirty="0">
              <a:solidFill>
                <a:srgbClr val="AB3341"/>
              </a:solidFill>
              <a:effectLst/>
              <a:latin typeface="微软雅黑" panose="020B0503020204020204" pitchFamily="34" charset="-122"/>
              <a:ea typeface="微软雅黑" panose="020B0503020204020204" pitchFamily="34" charset="-122"/>
            </a:endParaRPr>
          </a:p>
          <a:p>
            <a:pPr indent="457200" algn="dist">
              <a:lnSpc>
                <a:spcPct val="125000"/>
              </a:lnSpc>
              <a:tabLst>
                <a:tab pos="2070735" algn="l"/>
              </a:tabLst>
            </a:pPr>
            <a:endParaRPr lang="zh-CN" altLang="zh-CN" kern="100" dirty="0">
              <a:solidFill>
                <a:srgbClr val="AB3341"/>
              </a:solidFill>
              <a:effectLst/>
              <a:latin typeface="微软雅黑" panose="020B0503020204020204" pitchFamily="34" charset="-122"/>
              <a:ea typeface="微软雅黑" panose="020B0503020204020204" pitchFamily="34" charset="-122"/>
            </a:endParaRPr>
          </a:p>
          <a:p>
            <a:pPr indent="457200" algn="dist">
              <a:lnSpc>
                <a:spcPct val="125000"/>
              </a:lnSpc>
              <a:tabLst>
                <a:tab pos="2070735" algn="l"/>
              </a:tabLst>
            </a:pPr>
            <a:r>
              <a:rPr lang="en-US" altLang="zh-CN" kern="100" dirty="0">
                <a:solidFill>
                  <a:srgbClr val="AB3341"/>
                </a:solidFill>
                <a:effectLst/>
                <a:latin typeface="微软雅黑" panose="020B0503020204020204" pitchFamily="34" charset="-122"/>
                <a:ea typeface="微软雅黑" panose="020B0503020204020204" pitchFamily="34" charset="-122"/>
              </a:rPr>
              <a:t>2</a:t>
            </a:r>
            <a:r>
              <a:rPr lang="zh-CN" altLang="zh-CN" kern="100" dirty="0">
                <a:solidFill>
                  <a:srgbClr val="AB3341"/>
                </a:solidFill>
                <a:effectLst/>
                <a:latin typeface="微软雅黑" panose="020B0503020204020204" pitchFamily="34" charset="-122"/>
                <a:ea typeface="微软雅黑" panose="020B0503020204020204" pitchFamily="34" charset="-122"/>
              </a:rPr>
              <a:t>）连接无线</a:t>
            </a:r>
            <a:r>
              <a:rPr lang="en-US" altLang="zh-CN" kern="100" dirty="0">
                <a:solidFill>
                  <a:srgbClr val="AB3341"/>
                </a:solidFill>
                <a:effectLst/>
                <a:latin typeface="微软雅黑" panose="020B0503020204020204" pitchFamily="34" charset="-122"/>
                <a:ea typeface="微软雅黑" panose="020B0503020204020204" pitchFamily="34" charset="-122"/>
              </a:rPr>
              <a:t>AP:</a:t>
            </a:r>
            <a:r>
              <a:rPr lang="zh-CN" altLang="zh-CN" kern="100" dirty="0">
                <a:solidFill>
                  <a:srgbClr val="AB3341"/>
                </a:solidFill>
                <a:effectLst/>
                <a:latin typeface="微软雅黑" panose="020B0503020204020204" pitchFamily="34" charset="-122"/>
                <a:ea typeface="微软雅黑" panose="020B0503020204020204" pitchFamily="34" charset="-122"/>
              </a:rPr>
              <a:t>利用</a:t>
            </a:r>
            <a:r>
              <a:rPr lang="en-US" altLang="zh-CN" kern="100" dirty="0">
                <a:solidFill>
                  <a:srgbClr val="AB3341"/>
                </a:solidFill>
                <a:effectLst/>
                <a:latin typeface="微软雅黑" panose="020B0503020204020204" pitchFamily="34" charset="-122"/>
                <a:ea typeface="微软雅黑" panose="020B0503020204020204" pitchFamily="34" charset="-122"/>
              </a:rPr>
              <a:t>AT+CWJAP="SSID","PASSWORD"</a:t>
            </a:r>
            <a:r>
              <a:rPr lang="zh-CN" altLang="zh-CN" kern="100" dirty="0">
                <a:solidFill>
                  <a:srgbClr val="AB3341"/>
                </a:solidFill>
                <a:effectLst/>
                <a:latin typeface="微软雅黑" panose="020B0503020204020204" pitchFamily="34" charset="-122"/>
                <a:ea typeface="微软雅黑" panose="020B0503020204020204" pitchFamily="34" charset="-122"/>
              </a:rPr>
              <a:t>指令连接无线</a:t>
            </a:r>
            <a:r>
              <a:rPr lang="en-US" altLang="zh-CN" kern="100" dirty="0">
                <a:solidFill>
                  <a:srgbClr val="AB3341"/>
                </a:solidFill>
                <a:effectLst/>
                <a:latin typeface="微软雅黑" panose="020B0503020204020204" pitchFamily="34" charset="-122"/>
                <a:ea typeface="微软雅黑" panose="020B0503020204020204" pitchFamily="34" charset="-122"/>
              </a:rPr>
              <a:t>AP</a:t>
            </a:r>
            <a:r>
              <a:rPr lang="zh-CN" altLang="zh-CN" kern="100" dirty="0">
                <a:solidFill>
                  <a:srgbClr val="AB3341"/>
                </a:solidFill>
                <a:effectLst/>
                <a:latin typeface="微软雅黑" panose="020B0503020204020204" pitchFamily="34" charset="-122"/>
                <a:ea typeface="微软雅黑" panose="020B0503020204020204" pitchFamily="34" charset="-122"/>
              </a:rPr>
              <a:t>，其中，</a:t>
            </a:r>
            <a:r>
              <a:rPr lang="en-US" altLang="zh-CN" kern="100" dirty="0">
                <a:solidFill>
                  <a:srgbClr val="AB3341"/>
                </a:solidFill>
                <a:effectLst/>
                <a:latin typeface="微软雅黑" panose="020B0503020204020204" pitchFamily="34" charset="-122"/>
                <a:ea typeface="微软雅黑" panose="020B0503020204020204" pitchFamily="34" charset="-122"/>
              </a:rPr>
              <a:t>SSID</a:t>
            </a:r>
            <a:r>
              <a:rPr lang="zh-CN" altLang="zh-CN" kern="100" dirty="0">
                <a:solidFill>
                  <a:srgbClr val="AB3341"/>
                </a:solidFill>
                <a:effectLst/>
                <a:latin typeface="微软雅黑" panose="020B0503020204020204" pitchFamily="34" charset="-122"/>
                <a:ea typeface="微软雅黑" panose="020B0503020204020204" pitchFamily="34" charset="-122"/>
              </a:rPr>
              <a:t>为网络名称，</a:t>
            </a:r>
            <a:r>
              <a:rPr lang="en-US" altLang="zh-CN" kern="100" dirty="0">
                <a:solidFill>
                  <a:srgbClr val="AB3341"/>
                </a:solidFill>
                <a:effectLst/>
                <a:latin typeface="微软雅黑" panose="020B0503020204020204" pitchFamily="34" charset="-122"/>
                <a:ea typeface="微软雅黑" panose="020B0503020204020204" pitchFamily="34" charset="-122"/>
              </a:rPr>
              <a:t>PASSWORD</a:t>
            </a:r>
            <a:r>
              <a:rPr lang="zh-CN" altLang="zh-CN" kern="100" dirty="0">
                <a:solidFill>
                  <a:srgbClr val="AB3341"/>
                </a:solidFill>
                <a:effectLst/>
                <a:latin typeface="微软雅黑" panose="020B0503020204020204" pitchFamily="34" charset="-122"/>
                <a:ea typeface="微软雅黑" panose="020B0503020204020204" pitchFamily="34" charset="-122"/>
              </a:rPr>
              <a:t>为网络密码，输入完成后，</a:t>
            </a:r>
            <a:r>
              <a:rPr lang="en-US" altLang="zh-CN" kern="100" dirty="0">
                <a:solidFill>
                  <a:srgbClr val="AB3341"/>
                </a:solidFill>
                <a:effectLst/>
                <a:latin typeface="微软雅黑" panose="020B0503020204020204" pitchFamily="34" charset="-122"/>
                <a:ea typeface="微软雅黑" panose="020B0503020204020204" pitchFamily="34" charset="-122"/>
              </a:rPr>
              <a:t>ESP8266 </a:t>
            </a:r>
            <a:r>
              <a:rPr lang="zh-CN" altLang="zh-CN" kern="100" dirty="0">
                <a:solidFill>
                  <a:srgbClr val="AB3341"/>
                </a:solidFill>
                <a:effectLst/>
                <a:latin typeface="微软雅黑" panose="020B0503020204020204" pitchFamily="34" charset="-122"/>
                <a:ea typeface="微软雅黑" panose="020B0503020204020204" pitchFamily="34" charset="-122"/>
              </a:rPr>
              <a:t>就成功接入网络了。</a:t>
            </a:r>
            <a:endParaRPr lang="en-US" altLang="zh-CN" kern="100" dirty="0">
              <a:solidFill>
                <a:srgbClr val="AB3341"/>
              </a:solidFill>
              <a:effectLst/>
              <a:latin typeface="微软雅黑" panose="020B0503020204020204" pitchFamily="34" charset="-122"/>
              <a:ea typeface="微软雅黑" panose="020B0503020204020204" pitchFamily="34" charset="-122"/>
            </a:endParaRPr>
          </a:p>
          <a:p>
            <a:pPr indent="457200" algn="dist">
              <a:lnSpc>
                <a:spcPct val="125000"/>
              </a:lnSpc>
              <a:tabLst>
                <a:tab pos="2070735" algn="l"/>
              </a:tabLst>
            </a:pPr>
            <a:endParaRPr lang="zh-CN" altLang="zh-CN" kern="100" dirty="0">
              <a:solidFill>
                <a:srgbClr val="AB3341"/>
              </a:solidFill>
              <a:effectLst/>
              <a:latin typeface="微软雅黑" panose="020B0503020204020204" pitchFamily="34" charset="-122"/>
              <a:ea typeface="微软雅黑" panose="020B0503020204020204" pitchFamily="34" charset="-122"/>
            </a:endParaRPr>
          </a:p>
          <a:p>
            <a:pPr indent="457200" algn="dist">
              <a:lnSpc>
                <a:spcPct val="125000"/>
              </a:lnSpc>
            </a:pPr>
            <a:r>
              <a:rPr lang="en-US" altLang="zh-CN" dirty="0">
                <a:solidFill>
                  <a:srgbClr val="AB3341"/>
                </a:solidFill>
                <a:effectLst/>
                <a:latin typeface="微软雅黑" panose="020B0503020204020204" pitchFamily="34" charset="-122"/>
                <a:ea typeface="微软雅黑" panose="020B0503020204020204" pitchFamily="34" charset="-122"/>
              </a:rPr>
              <a:t>3</a:t>
            </a:r>
            <a:r>
              <a:rPr lang="zh-CN" altLang="zh-CN"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）建立</a:t>
            </a:r>
            <a:r>
              <a:rPr lang="en-US" altLang="zh-CN" dirty="0">
                <a:solidFill>
                  <a:srgbClr val="AB3341"/>
                </a:solidFill>
                <a:effectLst/>
                <a:latin typeface="微软雅黑" panose="020B0503020204020204" pitchFamily="34" charset="-122"/>
                <a:ea typeface="微软雅黑" panose="020B0503020204020204" pitchFamily="34" charset="-122"/>
              </a:rPr>
              <a:t>TCP</a:t>
            </a:r>
            <a:r>
              <a:rPr lang="zh-CN" altLang="zh-CN"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连接：利用</a:t>
            </a:r>
            <a:r>
              <a:rPr lang="en-US" altLang="zh-CN" dirty="0">
                <a:solidFill>
                  <a:srgbClr val="AB3341"/>
                </a:solidFill>
                <a:effectLst/>
                <a:latin typeface="微软雅黑" panose="020B0503020204020204" pitchFamily="34" charset="-122"/>
                <a:ea typeface="微软雅黑" panose="020B0503020204020204" pitchFamily="34" charset="-122"/>
              </a:rPr>
              <a:t>AT+CIPSTART="TCP","xxx.xxx.xxx.xxx",</a:t>
            </a:r>
            <a:r>
              <a:rPr lang="en-US" altLang="zh-CN" dirty="0" err="1">
                <a:solidFill>
                  <a:srgbClr val="AB3341"/>
                </a:solidFill>
                <a:effectLst/>
                <a:latin typeface="微软雅黑" panose="020B0503020204020204" pitchFamily="34" charset="-122"/>
                <a:ea typeface="微软雅黑" panose="020B0503020204020204" pitchFamily="34" charset="-122"/>
              </a:rPr>
              <a:t>xxxx</a:t>
            </a:r>
            <a:r>
              <a:rPr lang="zh-CN" altLang="zh-CN"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指令建立</a:t>
            </a:r>
            <a:r>
              <a:rPr lang="en-US" altLang="zh-CN" dirty="0">
                <a:solidFill>
                  <a:srgbClr val="AB3341"/>
                </a:solidFill>
                <a:effectLst/>
                <a:latin typeface="微软雅黑" panose="020B0503020204020204" pitchFamily="34" charset="-122"/>
                <a:ea typeface="微软雅黑" panose="020B0503020204020204" pitchFamily="34" charset="-122"/>
              </a:rPr>
              <a:t>TCP</a:t>
            </a:r>
            <a:r>
              <a:rPr lang="zh-CN" altLang="zh-CN"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连接，其中，</a:t>
            </a:r>
            <a:r>
              <a:rPr lang="en-US" altLang="zh-CN" dirty="0">
                <a:solidFill>
                  <a:srgbClr val="AB3341"/>
                </a:solidFill>
                <a:effectLst/>
                <a:latin typeface="微软雅黑" panose="020B0503020204020204" pitchFamily="34" charset="-122"/>
                <a:ea typeface="微软雅黑" panose="020B0503020204020204" pitchFamily="34" charset="-122"/>
              </a:rPr>
              <a:t>xxx.xxx.xxx.xxx</a:t>
            </a:r>
            <a:r>
              <a:rPr lang="zh-CN" altLang="zh-CN"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表示</a:t>
            </a:r>
            <a:r>
              <a:rPr lang="en-US" altLang="zh-CN" dirty="0">
                <a:solidFill>
                  <a:srgbClr val="AB3341"/>
                </a:solidFill>
                <a:effectLst/>
                <a:latin typeface="微软雅黑" panose="020B0503020204020204" pitchFamily="34" charset="-122"/>
                <a:ea typeface="微软雅黑" panose="020B0503020204020204" pitchFamily="34" charset="-122"/>
              </a:rPr>
              <a:t>IP</a:t>
            </a:r>
            <a:r>
              <a:rPr lang="zh-CN" altLang="zh-CN"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地址，</a:t>
            </a:r>
            <a:r>
              <a:rPr lang="en-US" altLang="zh-CN" dirty="0" err="1">
                <a:solidFill>
                  <a:srgbClr val="AB3341"/>
                </a:solidFill>
                <a:effectLst/>
                <a:latin typeface="微软雅黑" panose="020B0503020204020204" pitchFamily="34" charset="-122"/>
                <a:ea typeface="微软雅黑" panose="020B0503020204020204" pitchFamily="34" charset="-122"/>
              </a:rPr>
              <a:t>xxxx</a:t>
            </a:r>
            <a:r>
              <a:rPr lang="zh-CN" altLang="zh-CN"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表示端口号。</a:t>
            </a:r>
            <a:endParaRPr lang="zh-CN" altLang="en-US" dirty="0">
              <a:solidFill>
                <a:srgbClr val="AB334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75095450"/>
      </p:ext>
    </p:extLst>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下位机软件开发</a:t>
            </a:r>
            <a:r>
              <a:rPr lang="en-US" altLang="zh-CN" dirty="0"/>
              <a:t>—</a:t>
            </a:r>
            <a:r>
              <a:rPr lang="zh-CN" altLang="en-US" dirty="0"/>
              <a:t>通讯系统</a:t>
            </a:r>
          </a:p>
        </p:txBody>
      </p:sp>
      <p:pic>
        <p:nvPicPr>
          <p:cNvPr id="3" name="图片 2">
            <a:extLst>
              <a:ext uri="{FF2B5EF4-FFF2-40B4-BE49-F238E27FC236}">
                <a16:creationId xmlns:a16="http://schemas.microsoft.com/office/drawing/2014/main" id="{F7D9CAD3-064F-4ADC-9515-0B8244423FCA}"/>
              </a:ext>
            </a:extLst>
          </p:cNvPr>
          <p:cNvPicPr>
            <a:picLocks noChangeAspect="1"/>
          </p:cNvPicPr>
          <p:nvPr/>
        </p:nvPicPr>
        <p:blipFill>
          <a:blip r:embed="rId2"/>
          <a:stretch>
            <a:fillRect/>
          </a:stretch>
        </p:blipFill>
        <p:spPr>
          <a:xfrm>
            <a:off x="752324" y="1143000"/>
            <a:ext cx="3257550" cy="4572000"/>
          </a:xfrm>
          <a:prstGeom prst="rect">
            <a:avLst/>
          </a:prstGeom>
        </p:spPr>
      </p:pic>
      <p:pic>
        <p:nvPicPr>
          <p:cNvPr id="4" name="图片 3">
            <a:extLst>
              <a:ext uri="{FF2B5EF4-FFF2-40B4-BE49-F238E27FC236}">
                <a16:creationId xmlns:a16="http://schemas.microsoft.com/office/drawing/2014/main" id="{B8126160-F836-B982-897D-2CBA048DBB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3513" y="1143000"/>
            <a:ext cx="5400040" cy="1312545"/>
          </a:xfrm>
          <a:prstGeom prst="rect">
            <a:avLst/>
          </a:prstGeom>
        </p:spPr>
      </p:pic>
      <p:pic>
        <p:nvPicPr>
          <p:cNvPr id="5" name="图片 4">
            <a:extLst>
              <a:ext uri="{FF2B5EF4-FFF2-40B4-BE49-F238E27FC236}">
                <a16:creationId xmlns:a16="http://schemas.microsoft.com/office/drawing/2014/main" id="{6095CAD7-DBCF-E657-6FC6-B0A2DDA03695}"/>
              </a:ext>
            </a:extLst>
          </p:cNvPr>
          <p:cNvPicPr>
            <a:picLocks noChangeAspect="1"/>
          </p:cNvPicPr>
          <p:nvPr/>
        </p:nvPicPr>
        <p:blipFill>
          <a:blip r:embed="rId4"/>
          <a:stretch>
            <a:fillRect/>
          </a:stretch>
        </p:blipFill>
        <p:spPr>
          <a:xfrm>
            <a:off x="4403513" y="3011806"/>
            <a:ext cx="5400040" cy="2781300"/>
          </a:xfrm>
          <a:prstGeom prst="rect">
            <a:avLst/>
          </a:prstGeom>
        </p:spPr>
      </p:pic>
    </p:spTree>
    <p:extLst>
      <p:ext uri="{BB962C8B-B14F-4D97-AF65-F5344CB8AC3E}">
        <p14:creationId xmlns:p14="http://schemas.microsoft.com/office/powerpoint/2010/main" val="1347016079"/>
      </p:ext>
    </p:extLst>
  </p:cSld>
  <p:clrMapOvr>
    <a:masterClrMapping/>
  </p:clrMapOvr>
  <p:transition spd="slow">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下位机软件开发</a:t>
            </a:r>
            <a:r>
              <a:rPr lang="en-US" altLang="zh-CN" dirty="0"/>
              <a:t>—</a:t>
            </a:r>
            <a:r>
              <a:rPr lang="zh-CN" altLang="en-US" dirty="0"/>
              <a:t>通讯系统</a:t>
            </a:r>
          </a:p>
        </p:txBody>
      </p:sp>
      <p:pic>
        <p:nvPicPr>
          <p:cNvPr id="3" name="图片 2">
            <a:extLst>
              <a:ext uri="{FF2B5EF4-FFF2-40B4-BE49-F238E27FC236}">
                <a16:creationId xmlns:a16="http://schemas.microsoft.com/office/drawing/2014/main" id="{F7D9CAD3-064F-4ADC-9515-0B8244423FCA}"/>
              </a:ext>
            </a:extLst>
          </p:cNvPr>
          <p:cNvPicPr>
            <a:picLocks noChangeAspect="1"/>
          </p:cNvPicPr>
          <p:nvPr/>
        </p:nvPicPr>
        <p:blipFill>
          <a:blip r:embed="rId2"/>
          <a:stretch>
            <a:fillRect/>
          </a:stretch>
        </p:blipFill>
        <p:spPr>
          <a:xfrm>
            <a:off x="752324" y="1143000"/>
            <a:ext cx="3257550" cy="4572000"/>
          </a:xfrm>
          <a:prstGeom prst="rect">
            <a:avLst/>
          </a:prstGeom>
        </p:spPr>
      </p:pic>
      <p:pic>
        <p:nvPicPr>
          <p:cNvPr id="6" name="图片 5">
            <a:extLst>
              <a:ext uri="{FF2B5EF4-FFF2-40B4-BE49-F238E27FC236}">
                <a16:creationId xmlns:a16="http://schemas.microsoft.com/office/drawing/2014/main" id="{C8173C84-D857-A059-9C44-C88F2BF28C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8183" y="1543050"/>
            <a:ext cx="4381500" cy="3771900"/>
          </a:xfrm>
          <a:prstGeom prst="rect">
            <a:avLst/>
          </a:prstGeom>
        </p:spPr>
      </p:pic>
    </p:spTree>
    <p:extLst>
      <p:ext uri="{BB962C8B-B14F-4D97-AF65-F5344CB8AC3E}">
        <p14:creationId xmlns:p14="http://schemas.microsoft.com/office/powerpoint/2010/main" val="3123738672"/>
      </p:ext>
    </p:extLst>
  </p:cSld>
  <p:clrMapOvr>
    <a:masterClrMapping/>
  </p:clrMapOvr>
  <p:transition spd="slow">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上位机用户界面设计</a:t>
            </a:r>
          </a:p>
        </p:txBody>
      </p:sp>
      <p:pic>
        <p:nvPicPr>
          <p:cNvPr id="4" name="图片 3">
            <a:extLst>
              <a:ext uri="{FF2B5EF4-FFF2-40B4-BE49-F238E27FC236}">
                <a16:creationId xmlns:a16="http://schemas.microsoft.com/office/drawing/2014/main" id="{BC3733BB-82E8-18F5-8561-1C4002E31227}"/>
              </a:ext>
            </a:extLst>
          </p:cNvPr>
          <p:cNvPicPr>
            <a:picLocks noChangeAspect="1"/>
          </p:cNvPicPr>
          <p:nvPr/>
        </p:nvPicPr>
        <p:blipFill>
          <a:blip r:embed="rId2"/>
          <a:stretch>
            <a:fillRect/>
          </a:stretch>
        </p:blipFill>
        <p:spPr>
          <a:xfrm>
            <a:off x="1228725" y="1367367"/>
            <a:ext cx="3790950" cy="3124200"/>
          </a:xfrm>
          <a:prstGeom prst="rect">
            <a:avLst/>
          </a:prstGeom>
        </p:spPr>
      </p:pic>
      <p:sp>
        <p:nvSpPr>
          <p:cNvPr id="8" name="文本框 7">
            <a:extLst>
              <a:ext uri="{FF2B5EF4-FFF2-40B4-BE49-F238E27FC236}">
                <a16:creationId xmlns:a16="http://schemas.microsoft.com/office/drawing/2014/main" id="{A7C82D87-DDCB-B3E6-1246-AF137A1485F9}"/>
              </a:ext>
            </a:extLst>
          </p:cNvPr>
          <p:cNvSpPr txBox="1"/>
          <p:nvPr/>
        </p:nvSpPr>
        <p:spPr>
          <a:xfrm>
            <a:off x="2319866" y="4634579"/>
            <a:ext cx="6096000" cy="1788310"/>
          </a:xfrm>
          <a:prstGeom prst="rect">
            <a:avLst/>
          </a:prstGeom>
          <a:noFill/>
        </p:spPr>
        <p:txBody>
          <a:bodyPr wrap="square">
            <a:spAutoFit/>
          </a:bodyPr>
          <a:lstStyle/>
          <a:p>
            <a:pPr indent="304800" algn="just">
              <a:lnSpc>
                <a:spcPct val="125000"/>
              </a:lnSpc>
              <a:spcAft>
                <a:spcPts val="600"/>
              </a:spcAft>
              <a:tabLst>
                <a:tab pos="2070735" algn="l"/>
              </a:tabLst>
            </a:pPr>
            <a:r>
              <a:rPr lang="zh-CN" altLang="zh-CN" sz="1800" kern="100" dirty="0">
                <a:solidFill>
                  <a:srgbClr val="AB3341"/>
                </a:solidFill>
                <a:effectLst/>
                <a:latin typeface="微软雅黑" panose="020B0503020204020204" pitchFamily="34" charset="-122"/>
                <a:ea typeface="微软雅黑" panose="020B0503020204020204" pitchFamily="34" charset="-122"/>
              </a:rPr>
              <a:t>上位机用户界面软件安装在地面控制室的计算机中，打开软件，进入到登录界面。输入正确的用户名与密码后，点击“登录”可以进入巡检机器人系统界面；如果用户名或密码错误，会有错误提示；点击“退出”则退出监控系统。</a:t>
            </a:r>
            <a:endParaRPr lang="zh-CN" altLang="zh-CN" sz="1400" kern="100" dirty="0">
              <a:solidFill>
                <a:srgbClr val="AB3341"/>
              </a:solidFill>
              <a:effectLst/>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3AB7B3C4-C2DF-E4B5-5152-962AAF1E6B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6363" y="1357622"/>
            <a:ext cx="3801005" cy="3143689"/>
          </a:xfrm>
          <a:prstGeom prst="rect">
            <a:avLst/>
          </a:prstGeom>
        </p:spPr>
      </p:pic>
    </p:spTree>
    <p:extLst>
      <p:ext uri="{BB962C8B-B14F-4D97-AF65-F5344CB8AC3E}">
        <p14:creationId xmlns:p14="http://schemas.microsoft.com/office/powerpoint/2010/main" val="2234302146"/>
      </p:ext>
    </p:extLst>
  </p:cSld>
  <p:clrMapOvr>
    <a:masterClrMapping/>
  </p:clrMapOvr>
  <p:transition spd="slow">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上位机用户界面设计</a:t>
            </a:r>
          </a:p>
        </p:txBody>
      </p:sp>
      <p:pic>
        <p:nvPicPr>
          <p:cNvPr id="3" name="图片 2">
            <a:extLst>
              <a:ext uri="{FF2B5EF4-FFF2-40B4-BE49-F238E27FC236}">
                <a16:creationId xmlns:a16="http://schemas.microsoft.com/office/drawing/2014/main" id="{36536CBE-5C07-DE18-233B-E5FB868F9AE1}"/>
              </a:ext>
            </a:extLst>
          </p:cNvPr>
          <p:cNvPicPr>
            <a:picLocks noChangeAspect="1"/>
          </p:cNvPicPr>
          <p:nvPr/>
        </p:nvPicPr>
        <p:blipFill>
          <a:blip r:embed="rId2"/>
          <a:stretch>
            <a:fillRect/>
          </a:stretch>
        </p:blipFill>
        <p:spPr>
          <a:xfrm>
            <a:off x="3773487" y="1164059"/>
            <a:ext cx="3629025" cy="3141345"/>
          </a:xfrm>
          <a:prstGeom prst="rect">
            <a:avLst/>
          </a:prstGeom>
        </p:spPr>
      </p:pic>
      <p:sp>
        <p:nvSpPr>
          <p:cNvPr id="6" name="文本框 5">
            <a:extLst>
              <a:ext uri="{FF2B5EF4-FFF2-40B4-BE49-F238E27FC236}">
                <a16:creationId xmlns:a16="http://schemas.microsoft.com/office/drawing/2014/main" id="{0AAEA1E5-7152-2AAB-2FEA-3EA8506E4857}"/>
              </a:ext>
            </a:extLst>
          </p:cNvPr>
          <p:cNvSpPr txBox="1"/>
          <p:nvPr/>
        </p:nvSpPr>
        <p:spPr>
          <a:xfrm>
            <a:off x="2311400" y="4449826"/>
            <a:ext cx="6096000" cy="2134559"/>
          </a:xfrm>
          <a:prstGeom prst="rect">
            <a:avLst/>
          </a:prstGeom>
          <a:noFill/>
        </p:spPr>
        <p:txBody>
          <a:bodyPr wrap="square">
            <a:spAutoFit/>
          </a:bodyPr>
          <a:lstStyle/>
          <a:p>
            <a:pPr indent="304800" algn="just">
              <a:lnSpc>
                <a:spcPct val="125000"/>
              </a:lnSpc>
              <a:spcAft>
                <a:spcPts val="600"/>
              </a:spcAft>
              <a:tabLst>
                <a:tab pos="2070735" algn="l"/>
              </a:tabLst>
            </a:pPr>
            <a:r>
              <a:rPr lang="zh-CN" altLang="zh-CN" sz="1800" kern="100" dirty="0">
                <a:solidFill>
                  <a:srgbClr val="AB3341"/>
                </a:solidFill>
                <a:effectLst/>
                <a:latin typeface="微软雅黑" panose="020B0503020204020204" pitchFamily="34" charset="-122"/>
                <a:ea typeface="微软雅黑" panose="020B0503020204020204" pitchFamily="34" charset="-122"/>
              </a:rPr>
              <a:t>模式选择界面</a:t>
            </a:r>
            <a:r>
              <a:rPr lang="zh-CN" altLang="en-US" kern="100" dirty="0">
                <a:solidFill>
                  <a:srgbClr val="AB3341"/>
                </a:solidFill>
                <a:latin typeface="微软雅黑" panose="020B0503020204020204" pitchFamily="34" charset="-122"/>
                <a:ea typeface="微软雅黑" panose="020B0503020204020204" pitchFamily="34" charset="-122"/>
              </a:rPr>
              <a:t>：</a:t>
            </a:r>
            <a:r>
              <a:rPr lang="zh-CN" altLang="zh-CN" sz="1800" kern="100" dirty="0">
                <a:solidFill>
                  <a:srgbClr val="AB3341"/>
                </a:solidFill>
                <a:effectLst/>
                <a:latin typeface="微软雅黑" panose="020B0503020204020204" pitchFamily="34" charset="-122"/>
                <a:ea typeface="微软雅黑" panose="020B0503020204020204" pitchFamily="34" charset="-122"/>
              </a:rPr>
              <a:t>包括巡检机器人的实时监控、数据查询以及直接退出。“实时监控”按钮用于查询巡检机器人获取到的各种数据、图像信息以及对巡检机器人进行运动控制等；“数据查询”按钮可以通过依次对数据类型、查询时间、历史数据进行选择来打开想要查询的历史数据信息。“直接退出”按钮用于退出软件。</a:t>
            </a:r>
            <a:endParaRPr lang="zh-CN" altLang="zh-CN" sz="1400" kern="100" dirty="0">
              <a:solidFill>
                <a:srgbClr val="AB334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33544142"/>
      </p:ext>
    </p:extLst>
  </p:cSld>
  <p:clrMapOvr>
    <a:masterClrMapping/>
  </p:clrMapOvr>
  <p:transition spd="slow">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上位机用户界面设计</a:t>
            </a:r>
          </a:p>
        </p:txBody>
      </p:sp>
      <p:pic>
        <p:nvPicPr>
          <p:cNvPr id="4" name="图片 3">
            <a:extLst>
              <a:ext uri="{FF2B5EF4-FFF2-40B4-BE49-F238E27FC236}">
                <a16:creationId xmlns:a16="http://schemas.microsoft.com/office/drawing/2014/main" id="{16439228-7B39-C087-5C28-C73C9F7FEB6D}"/>
              </a:ext>
            </a:extLst>
          </p:cNvPr>
          <p:cNvPicPr>
            <a:picLocks noChangeAspect="1"/>
          </p:cNvPicPr>
          <p:nvPr/>
        </p:nvPicPr>
        <p:blipFill>
          <a:blip r:embed="rId2"/>
          <a:stretch>
            <a:fillRect/>
          </a:stretch>
        </p:blipFill>
        <p:spPr>
          <a:xfrm>
            <a:off x="395393" y="1180504"/>
            <a:ext cx="5311140" cy="4926965"/>
          </a:xfrm>
          <a:prstGeom prst="rect">
            <a:avLst/>
          </a:prstGeom>
        </p:spPr>
      </p:pic>
      <p:sp>
        <p:nvSpPr>
          <p:cNvPr id="9" name="文本框 8">
            <a:extLst>
              <a:ext uri="{FF2B5EF4-FFF2-40B4-BE49-F238E27FC236}">
                <a16:creationId xmlns:a16="http://schemas.microsoft.com/office/drawing/2014/main" id="{D1E50B13-88EB-46BD-8EC0-5BD66F638B9D}"/>
              </a:ext>
            </a:extLst>
          </p:cNvPr>
          <p:cNvSpPr txBox="1"/>
          <p:nvPr/>
        </p:nvSpPr>
        <p:spPr>
          <a:xfrm>
            <a:off x="5884331" y="1709257"/>
            <a:ext cx="4580467" cy="3523209"/>
          </a:xfrm>
          <a:prstGeom prst="rect">
            <a:avLst/>
          </a:prstGeom>
          <a:noFill/>
        </p:spPr>
        <p:txBody>
          <a:bodyPr wrap="square">
            <a:spAutoFit/>
          </a:bodyPr>
          <a:lstStyle/>
          <a:p>
            <a:pPr indent="304800" algn="just">
              <a:lnSpc>
                <a:spcPct val="125000"/>
              </a:lnSpc>
              <a:tabLst>
                <a:tab pos="2070735" algn="l"/>
              </a:tabLst>
            </a:pPr>
            <a:r>
              <a:rPr lang="zh-CN" altLang="zh-CN" sz="1800" kern="100" dirty="0">
                <a:solidFill>
                  <a:srgbClr val="AB3341"/>
                </a:solidFill>
                <a:effectLst/>
                <a:latin typeface="微软雅黑" panose="020B0503020204020204" pitchFamily="34" charset="-122"/>
                <a:ea typeface="微软雅黑" panose="020B0503020204020204" pitchFamily="34" charset="-122"/>
              </a:rPr>
              <a:t>①网络设置窗口：用于设置上位机的网络协议、本机</a:t>
            </a:r>
            <a:r>
              <a:rPr lang="en-US" altLang="zh-CN" sz="1800" kern="100" dirty="0">
                <a:solidFill>
                  <a:srgbClr val="AB3341"/>
                </a:solidFill>
                <a:effectLst/>
                <a:latin typeface="微软雅黑" panose="020B0503020204020204" pitchFamily="34" charset="-122"/>
                <a:ea typeface="微软雅黑" panose="020B0503020204020204" pitchFamily="34" charset="-122"/>
              </a:rPr>
              <a:t>IP</a:t>
            </a:r>
            <a:r>
              <a:rPr lang="zh-CN" altLang="zh-CN" sz="1800" kern="100" dirty="0">
                <a:solidFill>
                  <a:srgbClr val="AB3341"/>
                </a:solidFill>
                <a:effectLst/>
                <a:latin typeface="微软雅黑" panose="020B0503020204020204" pitchFamily="34" charset="-122"/>
                <a:ea typeface="微软雅黑" panose="020B0503020204020204" pitchFamily="34" charset="-122"/>
              </a:rPr>
              <a:t>和端口号，与巡检机器人进行网络连接。</a:t>
            </a:r>
            <a:endParaRPr lang="zh-CN" altLang="zh-CN" sz="1400" kern="100" dirty="0">
              <a:solidFill>
                <a:srgbClr val="AB3341"/>
              </a:solidFill>
              <a:effectLst/>
              <a:latin typeface="微软雅黑" panose="020B0503020204020204" pitchFamily="34" charset="-122"/>
              <a:ea typeface="微软雅黑" panose="020B0503020204020204" pitchFamily="34" charset="-122"/>
            </a:endParaRPr>
          </a:p>
          <a:p>
            <a:pPr indent="304800" algn="just">
              <a:lnSpc>
                <a:spcPct val="125000"/>
              </a:lnSpc>
              <a:tabLst>
                <a:tab pos="2070735" algn="l"/>
              </a:tabLst>
            </a:pPr>
            <a:r>
              <a:rPr lang="zh-CN" altLang="zh-CN" sz="1800" kern="100" dirty="0">
                <a:solidFill>
                  <a:srgbClr val="AB3341"/>
                </a:solidFill>
                <a:effectLst/>
                <a:latin typeface="微软雅黑" panose="020B0503020204020204" pitchFamily="34" charset="-122"/>
                <a:ea typeface="微软雅黑" panose="020B0503020204020204" pitchFamily="34" charset="-122"/>
              </a:rPr>
              <a:t>②时间窗口：用于显示当前的北京时间，包括年、月、日、星期和具体时间等信息。</a:t>
            </a:r>
            <a:endParaRPr lang="zh-CN" altLang="zh-CN" sz="1400" kern="100" dirty="0">
              <a:solidFill>
                <a:srgbClr val="AB3341"/>
              </a:solidFill>
              <a:effectLst/>
              <a:latin typeface="微软雅黑" panose="020B0503020204020204" pitchFamily="34" charset="-122"/>
              <a:ea typeface="微软雅黑" panose="020B0503020204020204" pitchFamily="34" charset="-122"/>
            </a:endParaRPr>
          </a:p>
          <a:p>
            <a:pPr indent="304800" algn="just">
              <a:lnSpc>
                <a:spcPct val="125000"/>
              </a:lnSpc>
              <a:tabLst>
                <a:tab pos="2070735" algn="l"/>
              </a:tabLst>
            </a:pPr>
            <a:r>
              <a:rPr lang="zh-CN" altLang="zh-CN" sz="1800" kern="100" dirty="0">
                <a:solidFill>
                  <a:srgbClr val="AB3341"/>
                </a:solidFill>
                <a:effectLst/>
                <a:latin typeface="微软雅黑" panose="020B0503020204020204" pitchFamily="34" charset="-122"/>
                <a:ea typeface="微软雅黑" panose="020B0503020204020204" pitchFamily="34" charset="-122"/>
              </a:rPr>
              <a:t>③传感数据窗口：包括温度、湿度、电池电压、电池状态、俯仰角、翻滚角、偏航角和预警距离等信息，同时状态指示灯用于监测以上信息是否异常，正常情况下绿灯常亮，如有异常红灯报警。</a:t>
            </a:r>
            <a:endParaRPr lang="zh-CN" altLang="zh-CN" sz="1400" kern="100" dirty="0">
              <a:solidFill>
                <a:srgbClr val="AB334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68140979"/>
      </p:ext>
    </p:extLst>
  </p:cSld>
  <p:clrMapOvr>
    <a:masterClrMapping/>
  </p:clrMapOvr>
  <p:transition spd="slow">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上位机用户界面设计</a:t>
            </a:r>
          </a:p>
        </p:txBody>
      </p:sp>
      <p:pic>
        <p:nvPicPr>
          <p:cNvPr id="4" name="图片 3">
            <a:extLst>
              <a:ext uri="{FF2B5EF4-FFF2-40B4-BE49-F238E27FC236}">
                <a16:creationId xmlns:a16="http://schemas.microsoft.com/office/drawing/2014/main" id="{16439228-7B39-C087-5C28-C73C9F7FEB6D}"/>
              </a:ext>
            </a:extLst>
          </p:cNvPr>
          <p:cNvPicPr>
            <a:picLocks noChangeAspect="1"/>
          </p:cNvPicPr>
          <p:nvPr/>
        </p:nvPicPr>
        <p:blipFill>
          <a:blip r:embed="rId2"/>
          <a:stretch>
            <a:fillRect/>
          </a:stretch>
        </p:blipFill>
        <p:spPr>
          <a:xfrm>
            <a:off x="395393" y="1180504"/>
            <a:ext cx="5311140" cy="4926965"/>
          </a:xfrm>
          <a:prstGeom prst="rect">
            <a:avLst/>
          </a:prstGeom>
        </p:spPr>
      </p:pic>
      <p:sp>
        <p:nvSpPr>
          <p:cNvPr id="5" name="文本框 4">
            <a:extLst>
              <a:ext uri="{FF2B5EF4-FFF2-40B4-BE49-F238E27FC236}">
                <a16:creationId xmlns:a16="http://schemas.microsoft.com/office/drawing/2014/main" id="{341B56C2-BB2E-FAE0-61CC-E42E7B31F686}"/>
              </a:ext>
            </a:extLst>
          </p:cNvPr>
          <p:cNvSpPr txBox="1"/>
          <p:nvPr/>
        </p:nvSpPr>
        <p:spPr>
          <a:xfrm>
            <a:off x="5858933" y="1457306"/>
            <a:ext cx="4199466" cy="4561954"/>
          </a:xfrm>
          <a:prstGeom prst="rect">
            <a:avLst/>
          </a:prstGeom>
          <a:noFill/>
        </p:spPr>
        <p:txBody>
          <a:bodyPr wrap="square">
            <a:spAutoFit/>
          </a:bodyPr>
          <a:lstStyle/>
          <a:p>
            <a:pPr indent="304800" algn="just">
              <a:lnSpc>
                <a:spcPct val="125000"/>
              </a:lnSpc>
              <a:tabLst>
                <a:tab pos="2070735" algn="l"/>
              </a:tabLst>
            </a:pPr>
            <a:r>
              <a:rPr lang="zh-CN" altLang="zh-CN" kern="100" dirty="0">
                <a:solidFill>
                  <a:srgbClr val="AB3341"/>
                </a:solidFill>
                <a:effectLst/>
                <a:latin typeface="微软雅黑" panose="020B0503020204020204" pitchFamily="34" charset="-122"/>
                <a:ea typeface="微软雅黑" panose="020B0503020204020204" pitchFamily="34" charset="-122"/>
              </a:rPr>
              <a:t>④图像采集窗口：在程序中的实现方法是</a:t>
            </a:r>
            <a:r>
              <a:rPr lang="en-US" altLang="zh-CN" kern="100" dirty="0">
                <a:solidFill>
                  <a:srgbClr val="AB3341"/>
                </a:solidFill>
                <a:effectLst/>
                <a:latin typeface="微软雅黑" panose="020B0503020204020204" pitchFamily="34" charset="-122"/>
                <a:ea typeface="微软雅黑" panose="020B0503020204020204" pitchFamily="34" charset="-122"/>
              </a:rPr>
              <a:t>Qt</a:t>
            </a:r>
            <a:r>
              <a:rPr lang="zh-CN" altLang="zh-CN" kern="100" dirty="0">
                <a:solidFill>
                  <a:srgbClr val="AB3341"/>
                </a:solidFill>
                <a:effectLst/>
                <a:latin typeface="微软雅黑" panose="020B0503020204020204" pitchFamily="34" charset="-122"/>
                <a:ea typeface="微软雅黑" panose="020B0503020204020204" pitchFamily="34" charset="-122"/>
              </a:rPr>
              <a:t>调用摄像机厂家自带的外部</a:t>
            </a:r>
            <a:r>
              <a:rPr lang="en-US" altLang="zh-CN" kern="100" dirty="0">
                <a:solidFill>
                  <a:srgbClr val="AB3341"/>
                </a:solidFill>
                <a:effectLst/>
                <a:latin typeface="微软雅黑" panose="020B0503020204020204" pitchFamily="34" charset="-122"/>
                <a:ea typeface="微软雅黑" panose="020B0503020204020204" pitchFamily="34" charset="-122"/>
              </a:rPr>
              <a:t>SDK</a:t>
            </a:r>
            <a:r>
              <a:rPr lang="zh-CN" altLang="zh-CN" kern="100" dirty="0">
                <a:solidFill>
                  <a:srgbClr val="AB3341"/>
                </a:solidFill>
                <a:effectLst/>
                <a:latin typeface="微软雅黑" panose="020B0503020204020204" pitchFamily="34" charset="-122"/>
                <a:ea typeface="微软雅黑" panose="020B0503020204020204" pitchFamily="34" charset="-122"/>
              </a:rPr>
              <a:t>函数，并集成到用户界面上，借助</a:t>
            </a:r>
            <a:r>
              <a:rPr lang="en-US" altLang="zh-CN" kern="100" dirty="0">
                <a:solidFill>
                  <a:srgbClr val="AB3341"/>
                </a:solidFill>
                <a:effectLst/>
                <a:latin typeface="微软雅黑" panose="020B0503020204020204" pitchFamily="34" charset="-122"/>
                <a:ea typeface="微软雅黑" panose="020B0503020204020204" pitchFamily="34" charset="-122"/>
              </a:rPr>
              <a:t>SDK</a:t>
            </a:r>
            <a:r>
              <a:rPr lang="zh-CN" altLang="zh-CN" kern="100" dirty="0">
                <a:solidFill>
                  <a:srgbClr val="AB3341"/>
                </a:solidFill>
                <a:effectLst/>
                <a:latin typeface="微软雅黑" panose="020B0503020204020204" pitchFamily="34" charset="-122"/>
                <a:ea typeface="微软雅黑" panose="020B0503020204020204" pitchFamily="34" charset="-122"/>
              </a:rPr>
              <a:t>对图像、数据等物理信息进行处理和反馈。用于显示高清摄像机的实时画面，工作人员可以借助此画面观测到液压支架直线度情况，在图像中可以看到液压支架的支架号与偏移距离等信息。</a:t>
            </a:r>
          </a:p>
          <a:p>
            <a:pPr indent="304800" algn="just">
              <a:lnSpc>
                <a:spcPct val="125000"/>
              </a:lnSpc>
              <a:tabLst>
                <a:tab pos="2070735" algn="l"/>
              </a:tabLst>
            </a:pPr>
            <a:r>
              <a:rPr lang="zh-CN" altLang="zh-CN" kern="100" dirty="0">
                <a:solidFill>
                  <a:srgbClr val="AB3341"/>
                </a:solidFill>
                <a:effectLst/>
                <a:latin typeface="微软雅黑" panose="020B0503020204020204" pitchFamily="34" charset="-122"/>
                <a:ea typeface="微软雅黑" panose="020B0503020204020204" pitchFamily="34" charset="-122"/>
              </a:rPr>
              <a:t>⑤运动控制窗口：包括对巡检机器人进行前进、后退、加速、减速和暂停等操作，同时还显示了巡检机器人巡检方向、巡检速度、巡检时间和巡检位置等信息。</a:t>
            </a:r>
          </a:p>
        </p:txBody>
      </p:sp>
    </p:spTree>
    <p:extLst>
      <p:ext uri="{BB962C8B-B14F-4D97-AF65-F5344CB8AC3E}">
        <p14:creationId xmlns:p14="http://schemas.microsoft.com/office/powerpoint/2010/main" val="218854120"/>
      </p:ext>
    </p:extLst>
  </p:cSld>
  <p:clrMapOvr>
    <a:masterClrMapping/>
  </p:clrMapOvr>
  <p:transition spd="slow">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上位机用户界面设计</a:t>
            </a:r>
          </a:p>
        </p:txBody>
      </p:sp>
      <p:pic>
        <p:nvPicPr>
          <p:cNvPr id="3" name="图片 2">
            <a:extLst>
              <a:ext uri="{FF2B5EF4-FFF2-40B4-BE49-F238E27FC236}">
                <a16:creationId xmlns:a16="http://schemas.microsoft.com/office/drawing/2014/main" id="{A7AE93A4-C02B-3C46-4122-601AAA4AE657}"/>
              </a:ext>
            </a:extLst>
          </p:cNvPr>
          <p:cNvPicPr>
            <a:picLocks noChangeAspect="1"/>
          </p:cNvPicPr>
          <p:nvPr/>
        </p:nvPicPr>
        <p:blipFill>
          <a:blip r:embed="rId2"/>
          <a:stretch>
            <a:fillRect/>
          </a:stretch>
        </p:blipFill>
        <p:spPr>
          <a:xfrm>
            <a:off x="1550247" y="1448329"/>
            <a:ext cx="5400040" cy="4283075"/>
          </a:xfrm>
          <a:prstGeom prst="rect">
            <a:avLst/>
          </a:prstGeom>
        </p:spPr>
      </p:pic>
      <p:sp>
        <p:nvSpPr>
          <p:cNvPr id="6" name="文本框 5">
            <a:extLst>
              <a:ext uri="{FF2B5EF4-FFF2-40B4-BE49-F238E27FC236}">
                <a16:creationId xmlns:a16="http://schemas.microsoft.com/office/drawing/2014/main" id="{5C5BD547-A519-4DD3-97D8-F436BF21DFE0}"/>
              </a:ext>
            </a:extLst>
          </p:cNvPr>
          <p:cNvSpPr txBox="1"/>
          <p:nvPr/>
        </p:nvSpPr>
        <p:spPr>
          <a:xfrm>
            <a:off x="7856536" y="2516200"/>
            <a:ext cx="1803929" cy="369332"/>
          </a:xfrm>
          <a:prstGeom prst="rect">
            <a:avLst/>
          </a:prstGeom>
        </p:spPr>
        <p:style>
          <a:lnRef idx="3">
            <a:schemeClr val="lt1"/>
          </a:lnRef>
          <a:fillRef idx="1">
            <a:schemeClr val="accent4"/>
          </a:fillRef>
          <a:effectRef idx="1">
            <a:schemeClr val="accent4"/>
          </a:effectRef>
          <a:fontRef idx="minor">
            <a:schemeClr val="lt1"/>
          </a:fontRef>
        </p:style>
        <p:txBody>
          <a:bodyPr wrap="square">
            <a:spAutoFit/>
          </a:bodyPr>
          <a:lstStyle/>
          <a:p>
            <a:pPr algn="ctr"/>
            <a:r>
              <a:rPr lang="zh-CN" altLang="en-US" sz="1800" dirty="0">
                <a:effectLst/>
                <a:latin typeface="Times New Roman" panose="02020603050405020304" pitchFamily="18" charset="0"/>
                <a:ea typeface="宋体" panose="02010600030101010101" pitchFamily="2" charset="-122"/>
              </a:rPr>
              <a:t>数据清晰显示</a:t>
            </a:r>
            <a:endParaRPr lang="zh-CN" altLang="en-US" dirty="0"/>
          </a:p>
        </p:txBody>
      </p:sp>
      <p:sp>
        <p:nvSpPr>
          <p:cNvPr id="7" name="文本框 6">
            <a:extLst>
              <a:ext uri="{FF2B5EF4-FFF2-40B4-BE49-F238E27FC236}">
                <a16:creationId xmlns:a16="http://schemas.microsoft.com/office/drawing/2014/main" id="{B47A7B45-54CA-5024-1EA7-988A77596A7A}"/>
              </a:ext>
            </a:extLst>
          </p:cNvPr>
          <p:cNvSpPr txBox="1"/>
          <p:nvPr/>
        </p:nvSpPr>
        <p:spPr>
          <a:xfrm>
            <a:off x="7856537" y="3312067"/>
            <a:ext cx="1803930" cy="369332"/>
          </a:xfrm>
          <a:prstGeom prst="rect">
            <a:avLst/>
          </a:prstGeom>
        </p:spPr>
        <p:style>
          <a:lnRef idx="3">
            <a:schemeClr val="lt1"/>
          </a:lnRef>
          <a:fillRef idx="1">
            <a:schemeClr val="accent4"/>
          </a:fillRef>
          <a:effectRef idx="1">
            <a:schemeClr val="accent4"/>
          </a:effectRef>
          <a:fontRef idx="minor">
            <a:schemeClr val="lt1"/>
          </a:fontRef>
        </p:style>
        <p:txBody>
          <a:bodyPr wrap="square">
            <a:spAutoFit/>
          </a:bodyPr>
          <a:lstStyle/>
          <a:p>
            <a:pPr algn="ctr"/>
            <a:r>
              <a:rPr lang="zh-CN" altLang="en-US" dirty="0">
                <a:latin typeface="Times New Roman" panose="02020603050405020304" pitchFamily="18" charset="0"/>
                <a:ea typeface="宋体" panose="02010600030101010101" pitchFamily="2" charset="-122"/>
              </a:rPr>
              <a:t>自动保存与删除</a:t>
            </a:r>
            <a:endParaRPr lang="zh-CN" altLang="en-US" dirty="0"/>
          </a:p>
        </p:txBody>
      </p:sp>
      <p:sp>
        <p:nvSpPr>
          <p:cNvPr id="8" name="文本框 7">
            <a:extLst>
              <a:ext uri="{FF2B5EF4-FFF2-40B4-BE49-F238E27FC236}">
                <a16:creationId xmlns:a16="http://schemas.microsoft.com/office/drawing/2014/main" id="{4C1E29FE-6E56-17DB-2BDD-1C84034CC868}"/>
              </a:ext>
            </a:extLst>
          </p:cNvPr>
          <p:cNvSpPr txBox="1"/>
          <p:nvPr/>
        </p:nvSpPr>
        <p:spPr>
          <a:xfrm>
            <a:off x="7856537" y="4107934"/>
            <a:ext cx="1803930" cy="369332"/>
          </a:xfrm>
          <a:prstGeom prst="rect">
            <a:avLst/>
          </a:prstGeom>
        </p:spPr>
        <p:style>
          <a:lnRef idx="3">
            <a:schemeClr val="lt1"/>
          </a:lnRef>
          <a:fillRef idx="1">
            <a:schemeClr val="accent4"/>
          </a:fillRef>
          <a:effectRef idx="1">
            <a:schemeClr val="accent4"/>
          </a:effectRef>
          <a:fontRef idx="minor">
            <a:schemeClr val="lt1"/>
          </a:fontRef>
        </p:style>
        <p:txBody>
          <a:bodyPr wrap="square">
            <a:spAutoFit/>
          </a:bodyPr>
          <a:lstStyle/>
          <a:p>
            <a:pPr algn="ctr"/>
            <a:r>
              <a:rPr lang="zh-CN" altLang="en-US" dirty="0">
                <a:latin typeface="Times New Roman" panose="02020603050405020304" pitchFamily="18" charset="0"/>
                <a:ea typeface="宋体" panose="02010600030101010101" pitchFamily="2" charset="-122"/>
              </a:rPr>
              <a:t>故障信息标注</a:t>
            </a:r>
            <a:endParaRPr lang="zh-CN" altLang="en-US" dirty="0"/>
          </a:p>
        </p:txBody>
      </p:sp>
    </p:spTree>
    <p:extLst>
      <p:ext uri="{BB962C8B-B14F-4D97-AF65-F5344CB8AC3E}">
        <p14:creationId xmlns:p14="http://schemas.microsoft.com/office/powerpoint/2010/main" val="1644707323"/>
      </p:ext>
    </p:extLst>
  </p:cSld>
  <p:clrMapOvr>
    <a:masterClrMapping/>
  </p:clrMapOvr>
  <p:transition spd="slow">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样机实验</a:t>
            </a:r>
            <a:endParaRPr lang="zh-CN" altLang="en-US" sz="4000" dirty="0">
              <a:latin typeface="微软雅黑" pitchFamily="34" charset="-122"/>
              <a:ea typeface="微软雅黑" pitchFamily="34" charset="-122"/>
            </a:endParaRPr>
          </a:p>
        </p:txBody>
      </p:sp>
      <p:pic>
        <p:nvPicPr>
          <p:cNvPr id="3" name="图片 2">
            <a:extLst>
              <a:ext uri="{FF2B5EF4-FFF2-40B4-BE49-F238E27FC236}">
                <a16:creationId xmlns:a16="http://schemas.microsoft.com/office/drawing/2014/main" id="{438EA33F-A26C-8A44-84C2-025E5868A156}"/>
              </a:ext>
            </a:extLst>
          </p:cNvPr>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381000" y="461617"/>
            <a:ext cx="3067050" cy="514350"/>
          </a:xfrm>
          <a:prstGeom prst="rect">
            <a:avLst/>
          </a:prstGeom>
        </p:spPr>
      </p:pic>
      <p:pic>
        <p:nvPicPr>
          <p:cNvPr id="4" name="图片 3">
            <a:extLst>
              <a:ext uri="{FF2B5EF4-FFF2-40B4-BE49-F238E27FC236}">
                <a16:creationId xmlns:a16="http://schemas.microsoft.com/office/drawing/2014/main" id="{B9205F85-CF16-3292-6C80-A6AFC2F079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 y="447858"/>
            <a:ext cx="541867" cy="541867"/>
          </a:xfrm>
          <a:prstGeom prst="rect">
            <a:avLst/>
          </a:prstGeom>
        </p:spPr>
      </p:pic>
      <p:sp>
        <p:nvSpPr>
          <p:cNvPr id="5" name="星形: 五角 4">
            <a:extLst>
              <a:ext uri="{FF2B5EF4-FFF2-40B4-BE49-F238E27FC236}">
                <a16:creationId xmlns:a16="http://schemas.microsoft.com/office/drawing/2014/main" id="{81A3FDFF-A024-458C-1E40-9635470E4701}"/>
              </a:ext>
            </a:extLst>
          </p:cNvPr>
          <p:cNvSpPr/>
          <p:nvPr/>
        </p:nvSpPr>
        <p:spPr>
          <a:xfrm>
            <a:off x="5020729" y="4426366"/>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A744EDD6-DE4C-2D45-A7E2-F9C64958E680}"/>
              </a:ext>
            </a:extLst>
          </p:cNvPr>
          <p:cNvSpPr txBox="1"/>
          <p:nvPr/>
        </p:nvSpPr>
        <p:spPr>
          <a:xfrm>
            <a:off x="5232396" y="4297133"/>
            <a:ext cx="29379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实验平台搭建</a:t>
            </a:r>
          </a:p>
        </p:txBody>
      </p:sp>
      <p:sp>
        <p:nvSpPr>
          <p:cNvPr id="7" name="星形: 五角 6">
            <a:extLst>
              <a:ext uri="{FF2B5EF4-FFF2-40B4-BE49-F238E27FC236}">
                <a16:creationId xmlns:a16="http://schemas.microsoft.com/office/drawing/2014/main" id="{1687DDF7-7CA2-0239-3413-55235467702F}"/>
              </a:ext>
            </a:extLst>
          </p:cNvPr>
          <p:cNvSpPr/>
          <p:nvPr/>
        </p:nvSpPr>
        <p:spPr>
          <a:xfrm>
            <a:off x="5020729" y="5101169"/>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9E2404EF-D149-57ED-0F46-7E791BB0F077}"/>
              </a:ext>
            </a:extLst>
          </p:cNvPr>
          <p:cNvSpPr txBox="1"/>
          <p:nvPr/>
        </p:nvSpPr>
        <p:spPr>
          <a:xfrm>
            <a:off x="5232396" y="4971936"/>
            <a:ext cx="32427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样机性能测试</a:t>
            </a:r>
          </a:p>
        </p:txBody>
      </p:sp>
    </p:spTree>
    <p:extLst>
      <p:ext uri="{BB962C8B-B14F-4D97-AF65-F5344CB8AC3E}">
        <p14:creationId xmlns:p14="http://schemas.microsoft.com/office/powerpoint/2010/main" val="727010679"/>
      </p:ext>
    </p:extLst>
  </p:cSld>
  <p:clrMapOvr>
    <a:masterClrMapping/>
  </p:clrMapOvr>
  <p:transition spd="slow">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实验平台搭建</a:t>
            </a:r>
          </a:p>
        </p:txBody>
      </p:sp>
      <p:pic>
        <p:nvPicPr>
          <p:cNvPr id="3" name="图片 2">
            <a:extLst>
              <a:ext uri="{FF2B5EF4-FFF2-40B4-BE49-F238E27FC236}">
                <a16:creationId xmlns:a16="http://schemas.microsoft.com/office/drawing/2014/main" id="{9A32DCAD-7A9E-B521-C194-EDDF5FDA52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6367" y="1891136"/>
            <a:ext cx="4445000" cy="3333750"/>
          </a:xfrm>
          <a:prstGeom prst="rect">
            <a:avLst/>
          </a:prstGeom>
        </p:spPr>
      </p:pic>
      <p:pic>
        <p:nvPicPr>
          <p:cNvPr id="4" name="图片 3">
            <a:extLst>
              <a:ext uri="{FF2B5EF4-FFF2-40B4-BE49-F238E27FC236}">
                <a16:creationId xmlns:a16="http://schemas.microsoft.com/office/drawing/2014/main" id="{521018E4-54DE-71D4-38A4-FCD84CD9F4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6513935" y="2258484"/>
            <a:ext cx="3465195" cy="2599055"/>
          </a:xfrm>
          <a:prstGeom prst="rect">
            <a:avLst/>
          </a:prstGeom>
        </p:spPr>
      </p:pic>
      <p:sp>
        <p:nvSpPr>
          <p:cNvPr id="6" name="文本框 5">
            <a:extLst>
              <a:ext uri="{FF2B5EF4-FFF2-40B4-BE49-F238E27FC236}">
                <a16:creationId xmlns:a16="http://schemas.microsoft.com/office/drawing/2014/main" id="{39DB9788-945F-A12D-5FFA-889CB0C81150}"/>
              </a:ext>
            </a:extLst>
          </p:cNvPr>
          <p:cNvSpPr txBox="1"/>
          <p:nvPr/>
        </p:nvSpPr>
        <p:spPr>
          <a:xfrm>
            <a:off x="2844801" y="5546651"/>
            <a:ext cx="6096000" cy="1099468"/>
          </a:xfrm>
          <a:prstGeom prst="rect">
            <a:avLst/>
          </a:prstGeom>
          <a:noFill/>
        </p:spPr>
        <p:txBody>
          <a:bodyPr wrap="square">
            <a:spAutoFit/>
          </a:bodyPr>
          <a:lstStyle/>
          <a:p>
            <a:pPr indent="457200" algn="just">
              <a:lnSpc>
                <a:spcPct val="125000"/>
              </a:lnSpc>
            </a:pP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实验环境除了轨道的搭建外，还包括液压支架的模拟搭建。利用立柱模拟液压支架，下方增设滑轮与伸缩柱，模拟液压支架的移动</a:t>
            </a:r>
            <a:r>
              <a:rPr lang="zh-CN" altLang="en-US" dirty="0">
                <a:solidFill>
                  <a:srgbClr val="AB3341"/>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solidFill>
                <a:srgbClr val="AB334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57237085"/>
      </p:ext>
    </p:extLst>
  </p:cSld>
  <p:clrMapOvr>
    <a:masterClrMapping/>
  </p:clrMapOvr>
  <p:transition spd="slow">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实验平台搭建</a:t>
            </a:r>
          </a:p>
        </p:txBody>
      </p:sp>
      <p:pic>
        <p:nvPicPr>
          <p:cNvPr id="5" name="图片 4">
            <a:extLst>
              <a:ext uri="{FF2B5EF4-FFF2-40B4-BE49-F238E27FC236}">
                <a16:creationId xmlns:a16="http://schemas.microsoft.com/office/drawing/2014/main" id="{B463ACE8-A064-0F67-F724-322AD2C28E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98893" y="2043853"/>
            <a:ext cx="2519680" cy="1889760"/>
          </a:xfrm>
          <a:prstGeom prst="rect">
            <a:avLst/>
          </a:prstGeom>
        </p:spPr>
      </p:pic>
      <p:pic>
        <p:nvPicPr>
          <p:cNvPr id="7" name="图片 6">
            <a:extLst>
              <a:ext uri="{FF2B5EF4-FFF2-40B4-BE49-F238E27FC236}">
                <a16:creationId xmlns:a16="http://schemas.microsoft.com/office/drawing/2014/main" id="{C0DFD780-A0DF-7094-0FD4-90B1CBAFE3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29961" y="2043853"/>
            <a:ext cx="2519680" cy="1889760"/>
          </a:xfrm>
          <a:prstGeom prst="rect">
            <a:avLst/>
          </a:prstGeom>
        </p:spPr>
      </p:pic>
      <p:sp>
        <p:nvSpPr>
          <p:cNvPr id="9" name="文本框 8">
            <a:extLst>
              <a:ext uri="{FF2B5EF4-FFF2-40B4-BE49-F238E27FC236}">
                <a16:creationId xmlns:a16="http://schemas.microsoft.com/office/drawing/2014/main" id="{96FA2F5F-4F9C-D475-585C-76B7531F1A4B}"/>
              </a:ext>
            </a:extLst>
          </p:cNvPr>
          <p:cNvSpPr txBox="1"/>
          <p:nvPr/>
        </p:nvSpPr>
        <p:spPr>
          <a:xfrm>
            <a:off x="2734733" y="4545237"/>
            <a:ext cx="6096000" cy="1442061"/>
          </a:xfrm>
          <a:prstGeom prst="rect">
            <a:avLst/>
          </a:prstGeom>
          <a:noFill/>
        </p:spPr>
        <p:txBody>
          <a:bodyPr wrap="square">
            <a:spAutoFit/>
          </a:bodyPr>
          <a:lstStyle/>
          <a:p>
            <a:pPr indent="304800" algn="just">
              <a:lnSpc>
                <a:spcPct val="125000"/>
              </a:lnSpc>
              <a:spcAft>
                <a:spcPts val="600"/>
              </a:spcAft>
            </a:pPr>
            <a:r>
              <a:rPr lang="zh-CN" altLang="zh-CN" sz="1800" kern="100" dirty="0">
                <a:solidFill>
                  <a:srgbClr val="AB3341"/>
                </a:solidFill>
                <a:effectLst/>
                <a:latin typeface="微软雅黑" panose="020B0503020204020204" pitchFamily="34" charset="-122"/>
                <a:ea typeface="微软雅黑" panose="020B0503020204020204" pitchFamily="34" charset="-122"/>
              </a:rPr>
              <a:t>机器人在组装过程中基于模块化的思想，根据系统的不同组成部分划分区域，方便机器人出现故障时快速找出问题所在。整个过程组装迅速、安装方便，机器人总体外形美观，也易于维护。</a:t>
            </a:r>
            <a:endParaRPr lang="zh-CN" altLang="zh-CN" sz="1400" kern="100" dirty="0">
              <a:solidFill>
                <a:srgbClr val="AB334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27852264"/>
      </p:ext>
    </p:extLst>
  </p:cSld>
  <p:clrMapOvr>
    <a:masterClrMapping/>
  </p:clrMapOvr>
  <p:transition spd="slow">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样机性能测试</a:t>
            </a:r>
          </a:p>
        </p:txBody>
      </p:sp>
      <p:pic>
        <p:nvPicPr>
          <p:cNvPr id="3" name="图片 2">
            <a:extLst>
              <a:ext uri="{FF2B5EF4-FFF2-40B4-BE49-F238E27FC236}">
                <a16:creationId xmlns:a16="http://schemas.microsoft.com/office/drawing/2014/main" id="{BA00C8AA-D1F8-8107-38C9-293EA8CD22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12042" y="1691639"/>
            <a:ext cx="4055516" cy="3041227"/>
          </a:xfrm>
          <a:prstGeom prst="rect">
            <a:avLst/>
          </a:prstGeom>
        </p:spPr>
      </p:pic>
      <p:sp>
        <p:nvSpPr>
          <p:cNvPr id="6" name="文本框 5">
            <a:extLst>
              <a:ext uri="{FF2B5EF4-FFF2-40B4-BE49-F238E27FC236}">
                <a16:creationId xmlns:a16="http://schemas.microsoft.com/office/drawing/2014/main" id="{4061C54D-362D-C762-455A-807C8C9BE98C}"/>
              </a:ext>
            </a:extLst>
          </p:cNvPr>
          <p:cNvSpPr txBox="1"/>
          <p:nvPr/>
        </p:nvSpPr>
        <p:spPr>
          <a:xfrm>
            <a:off x="2252133" y="5053169"/>
            <a:ext cx="6096000" cy="753220"/>
          </a:xfrm>
          <a:prstGeom prst="rect">
            <a:avLst/>
          </a:prstGeom>
          <a:noFill/>
        </p:spPr>
        <p:txBody>
          <a:bodyPr wrap="square">
            <a:spAutoFit/>
          </a:bodyPr>
          <a:lstStyle/>
          <a:p>
            <a:pPr indent="457200" algn="just">
              <a:lnSpc>
                <a:spcPct val="125000"/>
              </a:lnSpc>
            </a:pP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为了模拟煤矿综采工作面的真实环境，分别搭建</a:t>
            </a:r>
            <a:r>
              <a:rPr lang="en-US" altLang="zh-CN" sz="1800" dirty="0">
                <a:solidFill>
                  <a:srgbClr val="AB3341"/>
                </a:solidFill>
                <a:effectLst/>
                <a:latin typeface="微软雅黑" panose="020B0503020204020204" pitchFamily="34" charset="-122"/>
                <a:ea typeface="微软雅黑" panose="020B0503020204020204" pitchFamily="34" charset="-122"/>
              </a:rPr>
              <a:t>5</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a:solidFill>
                  <a:srgbClr val="AB3341"/>
                </a:solidFill>
                <a:effectLst/>
                <a:latin typeface="微软雅黑" panose="020B0503020204020204" pitchFamily="34" charset="-122"/>
                <a:ea typeface="微软雅黑" panose="020B0503020204020204" pitchFamily="34" charset="-122"/>
              </a:rPr>
              <a:t>7</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°以及</a:t>
            </a:r>
            <a:r>
              <a:rPr lang="en-US" altLang="zh-CN" sz="1800" dirty="0">
                <a:solidFill>
                  <a:srgbClr val="AB3341"/>
                </a:solidFill>
                <a:effectLst/>
                <a:latin typeface="微软雅黑" panose="020B0503020204020204" pitchFamily="34" charset="-122"/>
                <a:ea typeface="微软雅黑" panose="020B0503020204020204" pitchFamily="34" charset="-122"/>
              </a:rPr>
              <a:t>20</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°的坡度对巡检机器人进行爬坡测试。</a:t>
            </a:r>
            <a:endParaRPr lang="zh-CN" altLang="en-US" dirty="0">
              <a:solidFill>
                <a:srgbClr val="AB334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524376"/>
      </p:ext>
    </p:extLst>
  </p:cSld>
  <p:clrMapOvr>
    <a:masterClrMapping/>
  </p:clrMapOvr>
  <p:transition spd="slow">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样机性能测试</a:t>
            </a:r>
          </a:p>
        </p:txBody>
      </p:sp>
      <p:sp>
        <p:nvSpPr>
          <p:cNvPr id="6" name="文本框 5">
            <a:extLst>
              <a:ext uri="{FF2B5EF4-FFF2-40B4-BE49-F238E27FC236}">
                <a16:creationId xmlns:a16="http://schemas.microsoft.com/office/drawing/2014/main" id="{4061C54D-362D-C762-455A-807C8C9BE98C}"/>
              </a:ext>
            </a:extLst>
          </p:cNvPr>
          <p:cNvSpPr txBox="1"/>
          <p:nvPr/>
        </p:nvSpPr>
        <p:spPr>
          <a:xfrm>
            <a:off x="2247900" y="4234226"/>
            <a:ext cx="6477000" cy="1791965"/>
          </a:xfrm>
          <a:prstGeom prst="rect">
            <a:avLst/>
          </a:prstGeom>
          <a:noFill/>
        </p:spPr>
        <p:txBody>
          <a:bodyPr wrap="square">
            <a:spAutoFit/>
          </a:bodyPr>
          <a:lstStyle/>
          <a:p>
            <a:pPr indent="457200" algn="just">
              <a:lnSpc>
                <a:spcPct val="125000"/>
              </a:lnSpc>
            </a:pP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多次测试表明，巡检机器人在</a:t>
            </a:r>
            <a:r>
              <a:rPr lang="en-US" altLang="zh-CN" sz="1800" dirty="0">
                <a:solidFill>
                  <a:srgbClr val="AB3341"/>
                </a:solidFill>
                <a:effectLst/>
                <a:latin typeface="微软雅黑" panose="020B0503020204020204" pitchFamily="34" charset="-122"/>
                <a:ea typeface="微软雅黑" panose="020B0503020204020204" pitchFamily="34" charset="-122"/>
              </a:rPr>
              <a:t>5</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800" dirty="0">
                <a:solidFill>
                  <a:srgbClr val="AB3341"/>
                </a:solidFill>
                <a:effectLst/>
                <a:latin typeface="微软雅黑" panose="020B0503020204020204" pitchFamily="34" charset="-122"/>
                <a:ea typeface="微软雅黑" panose="020B0503020204020204" pitchFamily="34" charset="-122"/>
              </a:rPr>
              <a:t>7</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°的爬坡测试中，机器人不需要达到最大速度即可顺利通过，而在</a:t>
            </a:r>
            <a:r>
              <a:rPr lang="en-US" altLang="zh-CN" sz="1800" dirty="0">
                <a:solidFill>
                  <a:srgbClr val="AB3341"/>
                </a:solidFill>
                <a:effectLst/>
                <a:latin typeface="微软雅黑" panose="020B0503020204020204" pitchFamily="34" charset="-122"/>
                <a:ea typeface="微软雅黑" panose="020B0503020204020204" pitchFamily="34" charset="-122"/>
              </a:rPr>
              <a:t>20</a:t>
            </a: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°的爬坡测试中，机器人以最大速度爬坡时也会有偶尔失败的情况，但总体来看，巡检机器人的爬坡测试结果基本满足实际使用要求，在后续研究过程中不断优化提高巡检机器人的爬坡能力。</a:t>
            </a:r>
            <a:endParaRPr lang="zh-CN" altLang="en-US" dirty="0">
              <a:solidFill>
                <a:srgbClr val="AB3341"/>
              </a:solidFill>
              <a:latin typeface="微软雅黑" panose="020B0503020204020204" pitchFamily="34" charset="-122"/>
              <a:ea typeface="微软雅黑" panose="020B0503020204020204" pitchFamily="34" charset="-122"/>
            </a:endParaRPr>
          </a:p>
        </p:txBody>
      </p:sp>
      <p:pic>
        <p:nvPicPr>
          <p:cNvPr id="4" name="c2bc0e7c98fe13f7a040c0e6519d7c8b">
            <a:hlinkClick r:id="" action="ppaction://media"/>
            <a:extLst>
              <a:ext uri="{FF2B5EF4-FFF2-40B4-BE49-F238E27FC236}">
                <a16:creationId xmlns:a16="http://schemas.microsoft.com/office/drawing/2014/main" id="{5DDB0EA1-F04F-7D6C-AD6A-13FFACA4D628}"/>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781300" y="1019637"/>
            <a:ext cx="5410200" cy="3048000"/>
          </a:xfrm>
          <a:prstGeom prst="rect">
            <a:avLst/>
          </a:prstGeom>
        </p:spPr>
      </p:pic>
      <p:graphicFrame>
        <p:nvGraphicFramePr>
          <p:cNvPr id="5" name="表格 4">
            <a:extLst>
              <a:ext uri="{FF2B5EF4-FFF2-40B4-BE49-F238E27FC236}">
                <a16:creationId xmlns:a16="http://schemas.microsoft.com/office/drawing/2014/main" id="{B4A0E3CB-73AF-4A04-E1E9-92D781F4EA77}"/>
              </a:ext>
            </a:extLst>
          </p:cNvPr>
          <p:cNvGraphicFramePr>
            <a:graphicFrameLocks noGrp="1"/>
          </p:cNvGraphicFramePr>
          <p:nvPr>
            <p:extLst>
              <p:ext uri="{D42A27DB-BD31-4B8C-83A1-F6EECF244321}">
                <p14:modId xmlns:p14="http://schemas.microsoft.com/office/powerpoint/2010/main" val="967655570"/>
              </p:ext>
            </p:extLst>
          </p:nvPr>
        </p:nvGraphicFramePr>
        <p:xfrm>
          <a:off x="2717800" y="6026191"/>
          <a:ext cx="5537200" cy="732854"/>
        </p:xfrm>
        <a:graphic>
          <a:graphicData uri="http://schemas.openxmlformats.org/drawingml/2006/table">
            <a:tbl>
              <a:tblPr firstRow="1" firstCol="1" bandRow="1">
                <a:tableStyleId>{69012ECD-51FC-41F1-AA8D-1B2483CD663E}</a:tableStyleId>
              </a:tblPr>
              <a:tblGrid>
                <a:gridCol w="1384300">
                  <a:extLst>
                    <a:ext uri="{9D8B030D-6E8A-4147-A177-3AD203B41FA5}">
                      <a16:colId xmlns:a16="http://schemas.microsoft.com/office/drawing/2014/main" val="2691937631"/>
                    </a:ext>
                  </a:extLst>
                </a:gridCol>
                <a:gridCol w="1384300">
                  <a:extLst>
                    <a:ext uri="{9D8B030D-6E8A-4147-A177-3AD203B41FA5}">
                      <a16:colId xmlns:a16="http://schemas.microsoft.com/office/drawing/2014/main" val="901266938"/>
                    </a:ext>
                  </a:extLst>
                </a:gridCol>
                <a:gridCol w="1384300">
                  <a:extLst>
                    <a:ext uri="{9D8B030D-6E8A-4147-A177-3AD203B41FA5}">
                      <a16:colId xmlns:a16="http://schemas.microsoft.com/office/drawing/2014/main" val="2145362721"/>
                    </a:ext>
                  </a:extLst>
                </a:gridCol>
                <a:gridCol w="1384300">
                  <a:extLst>
                    <a:ext uri="{9D8B030D-6E8A-4147-A177-3AD203B41FA5}">
                      <a16:colId xmlns:a16="http://schemas.microsoft.com/office/drawing/2014/main" val="1102290232"/>
                    </a:ext>
                  </a:extLst>
                </a:gridCol>
              </a:tblGrid>
              <a:tr h="0">
                <a:tc>
                  <a:txBody>
                    <a:bodyPr/>
                    <a:lstStyle/>
                    <a:p>
                      <a:pPr algn="ctr">
                        <a:lnSpc>
                          <a:spcPct val="125000"/>
                        </a:lnSpc>
                      </a:pPr>
                      <a:r>
                        <a:rPr lang="zh-CN" sz="1050" kern="0" dirty="0">
                          <a:effectLst/>
                        </a:rPr>
                        <a:t>爬坡角度（度）</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dirty="0">
                          <a:effectLst/>
                        </a:rPr>
                        <a:t>测试次数</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成功次数</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测试结果</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602646018"/>
                  </a:ext>
                </a:extLst>
              </a:tr>
              <a:tr h="0">
                <a:tc>
                  <a:txBody>
                    <a:bodyPr/>
                    <a:lstStyle/>
                    <a:p>
                      <a:pPr algn="ctr">
                        <a:lnSpc>
                          <a:spcPct val="125000"/>
                        </a:lnSpc>
                      </a:pPr>
                      <a:r>
                        <a:rPr lang="en-US" sz="1050" kern="0">
                          <a:effectLst/>
                        </a:rPr>
                        <a:t>5</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dirty="0">
                          <a:effectLst/>
                        </a:rPr>
                        <a:t>20</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20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达标</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799006425"/>
                  </a:ext>
                </a:extLst>
              </a:tr>
              <a:tr h="0">
                <a:tc>
                  <a:txBody>
                    <a:bodyPr/>
                    <a:lstStyle/>
                    <a:p>
                      <a:pPr algn="ctr">
                        <a:lnSpc>
                          <a:spcPct val="125000"/>
                        </a:lnSpc>
                      </a:pPr>
                      <a:r>
                        <a:rPr lang="en-US" sz="1050" kern="0">
                          <a:effectLst/>
                        </a:rPr>
                        <a:t>7</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20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20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达标</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310161373"/>
                  </a:ext>
                </a:extLst>
              </a:tr>
              <a:tr h="0">
                <a:tc>
                  <a:txBody>
                    <a:bodyPr/>
                    <a:lstStyle/>
                    <a:p>
                      <a:pPr algn="ctr">
                        <a:lnSpc>
                          <a:spcPct val="125000"/>
                        </a:lnSpc>
                      </a:pPr>
                      <a:r>
                        <a:rPr lang="en-US" sz="1050" kern="0" dirty="0">
                          <a:effectLst/>
                        </a:rPr>
                        <a:t>20</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20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17</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dirty="0">
                          <a:effectLst/>
                        </a:rPr>
                        <a:t>基本达标</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407010013"/>
                  </a:ext>
                </a:extLst>
              </a:tr>
            </a:tbl>
          </a:graphicData>
        </a:graphic>
      </p:graphicFrame>
    </p:spTree>
    <p:extLst>
      <p:ext uri="{BB962C8B-B14F-4D97-AF65-F5344CB8AC3E}">
        <p14:creationId xmlns:p14="http://schemas.microsoft.com/office/powerpoint/2010/main" val="2327433408"/>
      </p:ext>
    </p:extLst>
  </p:cSld>
  <p:clrMapOvr>
    <a:masterClrMapping/>
  </p:clrMapOvr>
  <p:transition spd="slow">
    <p:fade/>
  </p:transition>
  <p:timing>
    <p:tnLst>
      <p:par>
        <p:cTn id="1" dur="indefinite" restart="never" nodeType="tmRoot">
          <p:childTnLst>
            <p:video>
              <p:cMediaNode vol="80000">
                <p:cTn id="2" fill="hold" display="0">
                  <p:stCondLst>
                    <p:cond delay="indefinite"/>
                  </p:stCondLst>
                </p:cTn>
                <p:tgtEl>
                  <p:spTgt spid="4"/>
                </p:tgtEl>
              </p:cMediaNode>
            </p:video>
            <p:seq concurrent="1" nextAc="seek">
              <p:cTn id="3" restart="whenNotActive" fill="hold" evtFilter="cancelBubble" nodeType="interactiveSeq">
                <p:stCondLst>
                  <p:cond evt="onClick" delay="0">
                    <p:tgtEl>
                      <p:spTgt spid="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p:cTn id="7"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样机性能测试</a:t>
            </a:r>
          </a:p>
        </p:txBody>
      </p:sp>
      <p:pic>
        <p:nvPicPr>
          <p:cNvPr id="4" name="图片 3">
            <a:extLst>
              <a:ext uri="{FF2B5EF4-FFF2-40B4-BE49-F238E27FC236}">
                <a16:creationId xmlns:a16="http://schemas.microsoft.com/office/drawing/2014/main" id="{3B4AC67F-C686-CE8D-B060-07B54EB532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57493" y="1730587"/>
            <a:ext cx="2519680" cy="1889760"/>
          </a:xfrm>
          <a:prstGeom prst="rect">
            <a:avLst/>
          </a:prstGeom>
        </p:spPr>
      </p:pic>
      <p:pic>
        <p:nvPicPr>
          <p:cNvPr id="5" name="图片 4">
            <a:extLst>
              <a:ext uri="{FF2B5EF4-FFF2-40B4-BE49-F238E27FC236}">
                <a16:creationId xmlns:a16="http://schemas.microsoft.com/office/drawing/2014/main" id="{23254421-4CB4-1A23-9B35-9466D41844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0625" y="1789854"/>
            <a:ext cx="2519680" cy="1889760"/>
          </a:xfrm>
          <a:prstGeom prst="rect">
            <a:avLst/>
          </a:prstGeom>
        </p:spPr>
      </p:pic>
      <p:sp>
        <p:nvSpPr>
          <p:cNvPr id="8" name="文本框 7">
            <a:extLst>
              <a:ext uri="{FF2B5EF4-FFF2-40B4-BE49-F238E27FC236}">
                <a16:creationId xmlns:a16="http://schemas.microsoft.com/office/drawing/2014/main" id="{0069C49F-0BEF-945F-9BD7-495406BD158E}"/>
              </a:ext>
            </a:extLst>
          </p:cNvPr>
          <p:cNvSpPr txBox="1"/>
          <p:nvPr/>
        </p:nvSpPr>
        <p:spPr>
          <a:xfrm>
            <a:off x="1957493" y="4386665"/>
            <a:ext cx="6671733" cy="753220"/>
          </a:xfrm>
          <a:prstGeom prst="rect">
            <a:avLst/>
          </a:prstGeom>
          <a:noFill/>
        </p:spPr>
        <p:txBody>
          <a:bodyPr wrap="square">
            <a:spAutoFit/>
          </a:bodyPr>
          <a:lstStyle/>
          <a:p>
            <a:pPr indent="457200" algn="just">
              <a:lnSpc>
                <a:spcPct val="125000"/>
              </a:lnSpc>
            </a:pP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分别对巡检机器人左转和右转进行多次测试，验证过弯时的通过率与稳定性。</a:t>
            </a:r>
            <a:endParaRPr lang="zh-CN" altLang="en-US" dirty="0">
              <a:solidFill>
                <a:srgbClr val="AB334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02324696"/>
      </p:ext>
    </p:extLst>
  </p:cSld>
  <p:clrMapOvr>
    <a:masterClrMapping/>
  </p:clrMapOvr>
  <p:transition spd="slow">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样机性能测试</a:t>
            </a:r>
          </a:p>
        </p:txBody>
      </p:sp>
      <p:sp>
        <p:nvSpPr>
          <p:cNvPr id="8" name="文本框 7">
            <a:extLst>
              <a:ext uri="{FF2B5EF4-FFF2-40B4-BE49-F238E27FC236}">
                <a16:creationId xmlns:a16="http://schemas.microsoft.com/office/drawing/2014/main" id="{0069C49F-0BEF-945F-9BD7-495406BD158E}"/>
              </a:ext>
            </a:extLst>
          </p:cNvPr>
          <p:cNvSpPr txBox="1"/>
          <p:nvPr/>
        </p:nvSpPr>
        <p:spPr>
          <a:xfrm>
            <a:off x="5985933" y="1564648"/>
            <a:ext cx="3142344" cy="2830711"/>
          </a:xfrm>
          <a:prstGeom prst="rect">
            <a:avLst/>
          </a:prstGeom>
          <a:noFill/>
        </p:spPr>
        <p:txBody>
          <a:bodyPr wrap="square">
            <a:spAutoFit/>
          </a:bodyPr>
          <a:lstStyle/>
          <a:p>
            <a:pPr indent="457200" algn="just">
              <a:lnSpc>
                <a:spcPct val="125000"/>
              </a:lnSpc>
            </a:pPr>
            <a:r>
              <a:rPr lang="zh-CN" altLang="zh-CN" sz="1800" dirty="0">
                <a:solidFill>
                  <a:srgbClr val="AB3341"/>
                </a:solidFill>
                <a:effectLst/>
                <a:latin typeface="微软雅黑" panose="020B0503020204020204" pitchFamily="34" charset="-122"/>
                <a:ea typeface="微软雅黑" panose="020B0503020204020204" pitchFamily="34" charset="-122"/>
                <a:cs typeface="Times New Roman" panose="02020603050405020304" pitchFamily="18" charset="0"/>
              </a:rPr>
              <a:t>结果表明，巡检机器人在左转时，通过率与稳定性都良好，在右转时会有偶尔颠簸情况，初步分析是因为巡检机器人左右负载不均导致，但并不影响实验结果，巡检机器人的过弯测试结果基本满足实际使用要求。</a:t>
            </a:r>
            <a:endParaRPr lang="zh-CN" altLang="en-US" dirty="0">
              <a:solidFill>
                <a:srgbClr val="AB3341"/>
              </a:solidFill>
              <a:latin typeface="微软雅黑" panose="020B0503020204020204" pitchFamily="34" charset="-122"/>
              <a:ea typeface="微软雅黑" panose="020B0503020204020204" pitchFamily="34" charset="-122"/>
            </a:endParaRPr>
          </a:p>
        </p:txBody>
      </p:sp>
      <p:graphicFrame>
        <p:nvGraphicFramePr>
          <p:cNvPr id="9" name="表格 8">
            <a:extLst>
              <a:ext uri="{FF2B5EF4-FFF2-40B4-BE49-F238E27FC236}">
                <a16:creationId xmlns:a16="http://schemas.microsoft.com/office/drawing/2014/main" id="{3B439E79-196A-EA70-3B8E-ACAD5479856E}"/>
              </a:ext>
            </a:extLst>
          </p:cNvPr>
          <p:cNvGraphicFramePr>
            <a:graphicFrameLocks noGrp="1"/>
          </p:cNvGraphicFramePr>
          <p:nvPr>
            <p:extLst>
              <p:ext uri="{D42A27DB-BD31-4B8C-83A1-F6EECF244321}">
                <p14:modId xmlns:p14="http://schemas.microsoft.com/office/powerpoint/2010/main" val="962355573"/>
              </p:ext>
            </p:extLst>
          </p:nvPr>
        </p:nvGraphicFramePr>
        <p:xfrm>
          <a:off x="4995334" y="4744902"/>
          <a:ext cx="5537200" cy="548450"/>
        </p:xfrm>
        <a:graphic>
          <a:graphicData uri="http://schemas.openxmlformats.org/drawingml/2006/table">
            <a:tbl>
              <a:tblPr firstRow="1" firstCol="1" bandRow="1">
                <a:tableStyleId>{69012ECD-51FC-41F1-AA8D-1B2483CD663E}</a:tableStyleId>
              </a:tblPr>
              <a:tblGrid>
                <a:gridCol w="1107440">
                  <a:extLst>
                    <a:ext uri="{9D8B030D-6E8A-4147-A177-3AD203B41FA5}">
                      <a16:colId xmlns:a16="http://schemas.microsoft.com/office/drawing/2014/main" val="694089696"/>
                    </a:ext>
                  </a:extLst>
                </a:gridCol>
                <a:gridCol w="1107440">
                  <a:extLst>
                    <a:ext uri="{9D8B030D-6E8A-4147-A177-3AD203B41FA5}">
                      <a16:colId xmlns:a16="http://schemas.microsoft.com/office/drawing/2014/main" val="35987109"/>
                    </a:ext>
                  </a:extLst>
                </a:gridCol>
                <a:gridCol w="1107440">
                  <a:extLst>
                    <a:ext uri="{9D8B030D-6E8A-4147-A177-3AD203B41FA5}">
                      <a16:colId xmlns:a16="http://schemas.microsoft.com/office/drawing/2014/main" val="2462510867"/>
                    </a:ext>
                  </a:extLst>
                </a:gridCol>
                <a:gridCol w="1107440">
                  <a:extLst>
                    <a:ext uri="{9D8B030D-6E8A-4147-A177-3AD203B41FA5}">
                      <a16:colId xmlns:a16="http://schemas.microsoft.com/office/drawing/2014/main" val="723268727"/>
                    </a:ext>
                  </a:extLst>
                </a:gridCol>
                <a:gridCol w="1107440">
                  <a:extLst>
                    <a:ext uri="{9D8B030D-6E8A-4147-A177-3AD203B41FA5}">
                      <a16:colId xmlns:a16="http://schemas.microsoft.com/office/drawing/2014/main" val="3013948273"/>
                    </a:ext>
                  </a:extLst>
                </a:gridCol>
              </a:tblGrid>
              <a:tr h="0">
                <a:tc>
                  <a:txBody>
                    <a:bodyPr/>
                    <a:lstStyle/>
                    <a:p>
                      <a:pPr algn="ctr">
                        <a:lnSpc>
                          <a:spcPct val="125000"/>
                        </a:lnSpc>
                      </a:pPr>
                      <a:r>
                        <a:rPr lang="zh-CN" sz="1050" kern="0" dirty="0">
                          <a:effectLst/>
                        </a:rPr>
                        <a:t>参数</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dirty="0">
                          <a:effectLst/>
                        </a:rPr>
                        <a:t>测试次数</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dirty="0">
                          <a:effectLst/>
                        </a:rPr>
                        <a:t>通过次数</a:t>
                      </a:r>
                      <a:endParaRPr lang="zh-CN" sz="105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稳定性</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测试结果</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635985269"/>
                  </a:ext>
                </a:extLst>
              </a:tr>
              <a:tr h="0">
                <a:tc>
                  <a:txBody>
                    <a:bodyPr/>
                    <a:lstStyle/>
                    <a:p>
                      <a:pPr algn="ctr">
                        <a:lnSpc>
                          <a:spcPct val="125000"/>
                        </a:lnSpc>
                      </a:pPr>
                      <a:r>
                        <a:rPr lang="zh-CN" sz="1050" kern="0">
                          <a:effectLst/>
                        </a:rPr>
                        <a:t>左转</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20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20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20/20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a:effectLst/>
                        </a:rPr>
                        <a:t>达标</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804992450"/>
                  </a:ext>
                </a:extLst>
              </a:tr>
              <a:tr h="0">
                <a:tc>
                  <a:txBody>
                    <a:bodyPr/>
                    <a:lstStyle/>
                    <a:p>
                      <a:pPr algn="ctr">
                        <a:lnSpc>
                          <a:spcPct val="125000"/>
                        </a:lnSpc>
                      </a:pPr>
                      <a:r>
                        <a:rPr lang="zh-CN" sz="1050" kern="0">
                          <a:effectLst/>
                        </a:rPr>
                        <a:t>右转</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20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20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en-US" sz="1050" kern="0">
                          <a:effectLst/>
                        </a:rPr>
                        <a:t>18/20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25000"/>
                        </a:lnSpc>
                      </a:pPr>
                      <a:r>
                        <a:rPr lang="zh-CN" sz="1050" kern="0" dirty="0">
                          <a:effectLst/>
                        </a:rPr>
                        <a:t>基本达标</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542817050"/>
                  </a:ext>
                </a:extLst>
              </a:tr>
            </a:tbl>
          </a:graphicData>
        </a:graphic>
      </p:graphicFrame>
      <p:pic>
        <p:nvPicPr>
          <p:cNvPr id="3" name="b2265705b58e968b555989e3730c1693">
            <a:hlinkClick r:id="" action="ppaction://media"/>
            <a:extLst>
              <a:ext uri="{FF2B5EF4-FFF2-40B4-BE49-F238E27FC236}">
                <a16:creationId xmlns:a16="http://schemas.microsoft.com/office/drawing/2014/main" id="{65D112F6-1FA9-08D0-088E-4C09A4A627D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921934" y="1019637"/>
            <a:ext cx="2590800" cy="4572000"/>
          </a:xfrm>
          <a:prstGeom prst="rect">
            <a:avLst/>
          </a:prstGeom>
        </p:spPr>
      </p:pic>
    </p:spTree>
    <p:extLst>
      <p:ext uri="{BB962C8B-B14F-4D97-AF65-F5344CB8AC3E}">
        <p14:creationId xmlns:p14="http://schemas.microsoft.com/office/powerpoint/2010/main" val="2756596955"/>
      </p:ext>
    </p:extLst>
  </p:cSld>
  <p:clrMapOvr>
    <a:masterClrMapping/>
  </p:clrMapOvr>
  <p:transition spd="slow">
    <p:fade/>
  </p:transition>
  <p:timing>
    <p:tnLst>
      <p:par>
        <p:cTn id="1" dur="indefinite" restart="never" nodeType="tmRoot">
          <p:childTnLst>
            <p:video>
              <p:cMediaNode vol="80000">
                <p:cTn id="2" fill="hold" display="0">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结论与展望</a:t>
            </a:r>
            <a:endParaRPr lang="zh-CN" altLang="en-US" sz="4000" dirty="0">
              <a:latin typeface="微软雅黑" pitchFamily="34" charset="-122"/>
              <a:ea typeface="微软雅黑" pitchFamily="34" charset="-122"/>
            </a:endParaRPr>
          </a:p>
        </p:txBody>
      </p:sp>
      <p:pic>
        <p:nvPicPr>
          <p:cNvPr id="3" name="图片 2">
            <a:extLst>
              <a:ext uri="{FF2B5EF4-FFF2-40B4-BE49-F238E27FC236}">
                <a16:creationId xmlns:a16="http://schemas.microsoft.com/office/drawing/2014/main" id="{438EA33F-A26C-8A44-84C2-025E5868A156}"/>
              </a:ext>
            </a:extLst>
          </p:cNvPr>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381000" y="461617"/>
            <a:ext cx="3067050" cy="514350"/>
          </a:xfrm>
          <a:prstGeom prst="rect">
            <a:avLst/>
          </a:prstGeom>
        </p:spPr>
      </p:pic>
      <p:pic>
        <p:nvPicPr>
          <p:cNvPr id="4" name="图片 3">
            <a:extLst>
              <a:ext uri="{FF2B5EF4-FFF2-40B4-BE49-F238E27FC236}">
                <a16:creationId xmlns:a16="http://schemas.microsoft.com/office/drawing/2014/main" id="{B9205F85-CF16-3292-6C80-A6AFC2F079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 y="447858"/>
            <a:ext cx="541867" cy="541867"/>
          </a:xfrm>
          <a:prstGeom prst="rect">
            <a:avLst/>
          </a:prstGeom>
        </p:spPr>
      </p:pic>
      <p:sp>
        <p:nvSpPr>
          <p:cNvPr id="5" name="星形: 五角 4">
            <a:extLst>
              <a:ext uri="{FF2B5EF4-FFF2-40B4-BE49-F238E27FC236}">
                <a16:creationId xmlns:a16="http://schemas.microsoft.com/office/drawing/2014/main" id="{81A3FDFF-A024-458C-1E40-9635470E4701}"/>
              </a:ext>
            </a:extLst>
          </p:cNvPr>
          <p:cNvSpPr/>
          <p:nvPr/>
        </p:nvSpPr>
        <p:spPr>
          <a:xfrm>
            <a:off x="5587995" y="4477166"/>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A744EDD6-DE4C-2D45-A7E2-F9C64958E680}"/>
              </a:ext>
            </a:extLst>
          </p:cNvPr>
          <p:cNvSpPr txBox="1"/>
          <p:nvPr/>
        </p:nvSpPr>
        <p:spPr>
          <a:xfrm>
            <a:off x="5799662" y="4347933"/>
            <a:ext cx="29379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结论</a:t>
            </a:r>
          </a:p>
        </p:txBody>
      </p:sp>
      <p:sp>
        <p:nvSpPr>
          <p:cNvPr id="7" name="星形: 五角 6">
            <a:extLst>
              <a:ext uri="{FF2B5EF4-FFF2-40B4-BE49-F238E27FC236}">
                <a16:creationId xmlns:a16="http://schemas.microsoft.com/office/drawing/2014/main" id="{1687DDF7-7CA2-0239-3413-55235467702F}"/>
              </a:ext>
            </a:extLst>
          </p:cNvPr>
          <p:cNvSpPr/>
          <p:nvPr/>
        </p:nvSpPr>
        <p:spPr>
          <a:xfrm>
            <a:off x="5587995" y="5151969"/>
            <a:ext cx="211667" cy="203200"/>
          </a:xfrm>
          <a:prstGeom prst="star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9E2404EF-D149-57ED-0F46-7E791BB0F077}"/>
              </a:ext>
            </a:extLst>
          </p:cNvPr>
          <p:cNvSpPr txBox="1"/>
          <p:nvPr/>
        </p:nvSpPr>
        <p:spPr>
          <a:xfrm>
            <a:off x="5799662" y="5022736"/>
            <a:ext cx="3242734" cy="461665"/>
          </a:xfrm>
          <a:prstGeom prst="rect">
            <a:avLst/>
          </a:prstGeom>
          <a:noFill/>
        </p:spPr>
        <p:txBody>
          <a:bodyPr wrap="square" rtlCol="0">
            <a:spAutoFit/>
          </a:bodyPr>
          <a:lstStyle/>
          <a:p>
            <a:r>
              <a:rPr lang="zh-CN" altLang="en-US" sz="2400" dirty="0">
                <a:solidFill>
                  <a:schemeClr val="bg1"/>
                </a:solidFill>
                <a:latin typeface="微软雅黑" pitchFamily="34" charset="-122"/>
                <a:ea typeface="微软雅黑" pitchFamily="34" charset="-122"/>
              </a:rPr>
              <a:t>展望</a:t>
            </a:r>
          </a:p>
        </p:txBody>
      </p:sp>
    </p:spTree>
    <p:extLst>
      <p:ext uri="{BB962C8B-B14F-4D97-AF65-F5344CB8AC3E}">
        <p14:creationId xmlns:p14="http://schemas.microsoft.com/office/powerpoint/2010/main" val="361851631"/>
      </p:ext>
    </p:extLst>
  </p:cSld>
  <p:clrMapOvr>
    <a:masterClrMapping/>
  </p:clrMapOvr>
  <p:transition spd="slow">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结论</a:t>
            </a:r>
          </a:p>
        </p:txBody>
      </p:sp>
      <p:sp>
        <p:nvSpPr>
          <p:cNvPr id="25" name="文本框 24"/>
          <p:cNvSpPr txBox="1"/>
          <p:nvPr/>
        </p:nvSpPr>
        <p:spPr>
          <a:xfrm>
            <a:off x="1170397" y="2721768"/>
            <a:ext cx="4921421" cy="2830711"/>
          </a:xfrm>
          <a:prstGeom prst="rect">
            <a:avLst/>
          </a:prstGeom>
          <a:noFill/>
        </p:spPr>
        <p:txBody>
          <a:bodyPr wrap="square" rtlCol="0">
            <a:spAutoFit/>
          </a:bodyPr>
          <a:lstStyle/>
          <a:p>
            <a:pPr indent="457200" algn="just">
              <a:lnSpc>
                <a:spcPct val="125000"/>
              </a:lnSpc>
            </a:pPr>
            <a:r>
              <a:rPr lang="zh-CN" altLang="zh-CN" dirty="0">
                <a:latin typeface="微软雅黑" panose="020B0503020204020204" pitchFamily="34" charset="-122"/>
                <a:ea typeface="微软雅黑" panose="020B0503020204020204" pitchFamily="34" charset="-122"/>
              </a:rPr>
              <a:t>通过对煤矿综采工作面工作环境进行实地调研，发现工作面直线度控制方法成本较高以及人工巡检存在一些弊端，并以此确立研究目标。结合煤矿巡检机器人的研究现状和使用要求，对机器人的功能需求进行分析，提出巡检机器人的总体设计方案，在已完成总体机械结构设计的巡检机器人基础上开展控制系统设计和研究工作。</a:t>
            </a:r>
          </a:p>
        </p:txBody>
      </p:sp>
      <p:sp>
        <p:nvSpPr>
          <p:cNvPr id="51" name="文本框 50"/>
          <p:cNvSpPr txBox="1"/>
          <p:nvPr/>
        </p:nvSpPr>
        <p:spPr>
          <a:xfrm>
            <a:off x="1175536" y="1174888"/>
            <a:ext cx="8730343" cy="1099468"/>
          </a:xfrm>
          <a:prstGeom prst="rect">
            <a:avLst/>
          </a:prstGeom>
          <a:noFill/>
        </p:spPr>
        <p:txBody>
          <a:bodyPr wrap="square" rtlCol="0">
            <a:spAutoFit/>
          </a:bodyPr>
          <a:lstStyle/>
          <a:p>
            <a:pPr indent="457200" algn="just">
              <a:lnSpc>
                <a:spcPct val="125000"/>
              </a:lnSpc>
            </a:pPr>
            <a:r>
              <a:rPr lang="zh-CN" altLang="zh-CN" dirty="0">
                <a:solidFill>
                  <a:srgbClr val="AB3341"/>
                </a:solidFill>
                <a:latin typeface="微软雅黑" panose="020B0503020204020204" pitchFamily="34" charset="-122"/>
                <a:ea typeface="微软雅黑" panose="020B0503020204020204" pitchFamily="34" charset="-122"/>
              </a:rPr>
              <a:t>本文以煤矿综采工作面为研究场景，为解决工作面直线度控制与人工巡检方面存在的问题，对煤矿综采工作面轨道式巡检机器人控制系统进行设计并开展研究工作，拟实现工作面液压支架自动找直以及无人化巡检。论文主要工作和研究成果总结如下：</a:t>
            </a:r>
          </a:p>
        </p:txBody>
      </p:sp>
      <p:grpSp>
        <p:nvGrpSpPr>
          <p:cNvPr id="3" name="组合 2"/>
          <p:cNvGrpSpPr/>
          <p:nvPr/>
        </p:nvGrpSpPr>
        <p:grpSpPr>
          <a:xfrm>
            <a:off x="6935001" y="3981418"/>
            <a:ext cx="1144108" cy="831473"/>
            <a:chOff x="4504683" y="4472294"/>
            <a:chExt cx="1144108" cy="831473"/>
          </a:xfrm>
        </p:grpSpPr>
        <p:sp>
          <p:nvSpPr>
            <p:cNvPr id="17" name="菱形 16"/>
            <p:cNvSpPr/>
            <p:nvPr/>
          </p:nvSpPr>
          <p:spPr>
            <a:xfrm rot="17280000" flipH="1">
              <a:off x="4661000" y="4315977"/>
              <a:ext cx="831473" cy="1144108"/>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57" name="文本框 56"/>
            <p:cNvSpPr txBox="1"/>
            <p:nvPr/>
          </p:nvSpPr>
          <p:spPr>
            <a:xfrm>
              <a:off x="4839034" y="4713462"/>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grpSp>
        <p:nvGrpSpPr>
          <p:cNvPr id="11" name="组合 10"/>
          <p:cNvGrpSpPr/>
          <p:nvPr/>
        </p:nvGrpSpPr>
        <p:grpSpPr>
          <a:xfrm>
            <a:off x="8124620" y="3974681"/>
            <a:ext cx="1144108" cy="831473"/>
            <a:chOff x="5694302" y="4465557"/>
            <a:chExt cx="1144108" cy="831473"/>
          </a:xfrm>
        </p:grpSpPr>
        <p:sp>
          <p:nvSpPr>
            <p:cNvPr id="14" name="菱形 13"/>
            <p:cNvSpPr/>
            <p:nvPr/>
          </p:nvSpPr>
          <p:spPr>
            <a:xfrm rot="4320000">
              <a:off x="5850619" y="4309240"/>
              <a:ext cx="831473" cy="1144108"/>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58" name="文本框 57"/>
            <p:cNvSpPr txBox="1"/>
            <p:nvPr/>
          </p:nvSpPr>
          <p:spPr>
            <a:xfrm>
              <a:off x="6015690" y="4713462"/>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grpSp>
        <p:nvGrpSpPr>
          <p:cNvPr id="4" name="组合 3"/>
          <p:cNvGrpSpPr/>
          <p:nvPr/>
        </p:nvGrpSpPr>
        <p:grpSpPr>
          <a:xfrm>
            <a:off x="7686128" y="3369996"/>
            <a:ext cx="831473" cy="1144108"/>
            <a:chOff x="5255810" y="3860872"/>
            <a:chExt cx="831473" cy="1144108"/>
          </a:xfrm>
        </p:grpSpPr>
        <p:sp>
          <p:nvSpPr>
            <p:cNvPr id="13" name="菱形 12"/>
            <p:cNvSpPr/>
            <p:nvPr/>
          </p:nvSpPr>
          <p:spPr>
            <a:xfrm>
              <a:off x="5255810" y="3860872"/>
              <a:ext cx="831473" cy="1144108"/>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dirty="0">
                <a:solidFill>
                  <a:prstClr val="white"/>
                </a:solidFill>
              </a:endParaRPr>
            </a:p>
          </p:txBody>
        </p:sp>
        <p:sp>
          <p:nvSpPr>
            <p:cNvPr id="59" name="文本框 58"/>
            <p:cNvSpPr txBox="1"/>
            <p:nvPr/>
          </p:nvSpPr>
          <p:spPr>
            <a:xfrm>
              <a:off x="5410266" y="4277556"/>
              <a:ext cx="493000"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01</a:t>
              </a:r>
            </a:p>
          </p:txBody>
        </p:sp>
      </p:grpSp>
      <p:grpSp>
        <p:nvGrpSpPr>
          <p:cNvPr id="20" name="组合 19"/>
          <p:cNvGrpSpPr/>
          <p:nvPr/>
        </p:nvGrpSpPr>
        <p:grpSpPr>
          <a:xfrm>
            <a:off x="7314772" y="4539004"/>
            <a:ext cx="831473" cy="1144108"/>
            <a:chOff x="4884454" y="5029880"/>
            <a:chExt cx="831473" cy="1144108"/>
          </a:xfrm>
        </p:grpSpPr>
        <p:sp>
          <p:nvSpPr>
            <p:cNvPr id="16" name="菱形 15"/>
            <p:cNvSpPr/>
            <p:nvPr/>
          </p:nvSpPr>
          <p:spPr>
            <a:xfrm rot="12960000">
              <a:off x="4884454" y="5029880"/>
              <a:ext cx="831473" cy="1144108"/>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60" name="文本框 59"/>
            <p:cNvSpPr txBox="1"/>
            <p:nvPr/>
          </p:nvSpPr>
          <p:spPr>
            <a:xfrm>
              <a:off x="5047708" y="5417246"/>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grpSp>
        <p:nvGrpSpPr>
          <p:cNvPr id="19" name="组合 18"/>
          <p:cNvGrpSpPr/>
          <p:nvPr/>
        </p:nvGrpSpPr>
        <p:grpSpPr>
          <a:xfrm>
            <a:off x="8057482" y="4532266"/>
            <a:ext cx="831473" cy="1144108"/>
            <a:chOff x="5627164" y="5023142"/>
            <a:chExt cx="831473" cy="1144108"/>
          </a:xfrm>
        </p:grpSpPr>
        <p:sp>
          <p:nvSpPr>
            <p:cNvPr id="15" name="菱形 14"/>
            <p:cNvSpPr/>
            <p:nvPr/>
          </p:nvSpPr>
          <p:spPr>
            <a:xfrm rot="8640000">
              <a:off x="5627164" y="5023142"/>
              <a:ext cx="831473" cy="1144108"/>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66" name="文本框 65"/>
            <p:cNvSpPr txBox="1"/>
            <p:nvPr/>
          </p:nvSpPr>
          <p:spPr>
            <a:xfrm>
              <a:off x="5787985" y="5417246"/>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spTree>
    <p:extLst>
      <p:ext uri="{BB962C8B-B14F-4D97-AF65-F5344CB8AC3E}">
        <p14:creationId xmlns:p14="http://schemas.microsoft.com/office/powerpoint/2010/main" val="1798734437"/>
      </p:ext>
    </p:extLst>
  </p:cSld>
  <p:clrMapOvr>
    <a:masterClrMapping/>
  </p:clrMapOvr>
  <p:transition spd="slow">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结论</a:t>
            </a:r>
          </a:p>
        </p:txBody>
      </p:sp>
      <p:sp>
        <p:nvSpPr>
          <p:cNvPr id="25" name="文本框 24"/>
          <p:cNvSpPr txBox="1"/>
          <p:nvPr/>
        </p:nvSpPr>
        <p:spPr>
          <a:xfrm>
            <a:off x="1175536" y="2811239"/>
            <a:ext cx="4921200" cy="2484463"/>
          </a:xfrm>
          <a:prstGeom prst="rect">
            <a:avLst/>
          </a:prstGeom>
          <a:noFill/>
        </p:spPr>
        <p:txBody>
          <a:bodyPr wrap="square" rtlCol="0">
            <a:spAutoFit/>
          </a:bodyPr>
          <a:lstStyle/>
          <a:p>
            <a:pPr indent="457200" algn="just">
              <a:lnSpc>
                <a:spcPct val="125000"/>
              </a:lnSpc>
            </a:pPr>
            <a:r>
              <a:rPr lang="zh-CN" altLang="zh-CN" dirty="0">
                <a:latin typeface="微软雅黑" panose="020B0503020204020204" pitchFamily="34" charset="-122"/>
                <a:ea typeface="微软雅黑" panose="020B0503020204020204" pitchFamily="34" charset="-122"/>
              </a:rPr>
              <a:t>对巡检机器人进行运动控制原理分析。确定了电机选型与参数计算，以无刷直流电机作为动力源建立直流电机数学模型方程并推导出电机传递函数；采用</a:t>
            </a:r>
            <a:r>
              <a:rPr lang="en-US" altLang="zh-CN" dirty="0">
                <a:latin typeface="微软雅黑" panose="020B0503020204020204" pitchFamily="34" charset="-122"/>
                <a:ea typeface="微软雅黑" panose="020B0503020204020204" pitchFamily="34" charset="-122"/>
              </a:rPr>
              <a:t>PID</a:t>
            </a:r>
            <a:r>
              <a:rPr lang="zh-CN" altLang="zh-CN" dirty="0">
                <a:latin typeface="微软雅黑" panose="020B0503020204020204" pitchFamily="34" charset="-122"/>
                <a:ea typeface="微软雅黑" panose="020B0503020204020204" pitchFamily="34" charset="-122"/>
              </a:rPr>
              <a:t>控制理论对其进行</a:t>
            </a:r>
            <a:r>
              <a:rPr lang="en-US" altLang="zh-CN" dirty="0">
                <a:latin typeface="微软雅黑" panose="020B0503020204020204" pitchFamily="34" charset="-122"/>
                <a:ea typeface="微软雅黑" panose="020B0503020204020204" pitchFamily="34" charset="-122"/>
              </a:rPr>
              <a:t>MATLAB/Simulink</a:t>
            </a:r>
            <a:r>
              <a:rPr lang="zh-CN" altLang="zh-CN" dirty="0">
                <a:latin typeface="微软雅黑" panose="020B0503020204020204" pitchFamily="34" charset="-122"/>
                <a:ea typeface="微软雅黑" panose="020B0503020204020204" pitchFamily="34" charset="-122"/>
              </a:rPr>
              <a:t>的仿真，验证了</a:t>
            </a:r>
            <a:r>
              <a:rPr lang="en-US" altLang="zh-CN" dirty="0">
                <a:latin typeface="微软雅黑" panose="020B0503020204020204" pitchFamily="34" charset="-122"/>
                <a:ea typeface="微软雅黑" panose="020B0503020204020204" pitchFamily="34" charset="-122"/>
              </a:rPr>
              <a:t>PID</a:t>
            </a:r>
            <a:r>
              <a:rPr lang="zh-CN" altLang="zh-CN" dirty="0">
                <a:latin typeface="微软雅黑" panose="020B0503020204020204" pitchFamily="34" charset="-122"/>
                <a:ea typeface="微软雅黑" panose="020B0503020204020204" pitchFamily="34" charset="-122"/>
              </a:rPr>
              <a:t>控制理论对电机稳定控制的可行性。</a:t>
            </a:r>
          </a:p>
        </p:txBody>
      </p:sp>
      <p:sp>
        <p:nvSpPr>
          <p:cNvPr id="51" name="文本框 50"/>
          <p:cNvSpPr txBox="1"/>
          <p:nvPr/>
        </p:nvSpPr>
        <p:spPr>
          <a:xfrm>
            <a:off x="1175536" y="1174888"/>
            <a:ext cx="8730343" cy="1099468"/>
          </a:xfrm>
          <a:prstGeom prst="rect">
            <a:avLst/>
          </a:prstGeom>
          <a:noFill/>
        </p:spPr>
        <p:txBody>
          <a:bodyPr wrap="square" rtlCol="0">
            <a:spAutoFit/>
          </a:bodyPr>
          <a:lstStyle/>
          <a:p>
            <a:pPr indent="457200" algn="just">
              <a:lnSpc>
                <a:spcPct val="125000"/>
              </a:lnSpc>
            </a:pPr>
            <a:r>
              <a:rPr lang="zh-CN" altLang="zh-CN" dirty="0">
                <a:solidFill>
                  <a:srgbClr val="AB3341"/>
                </a:solidFill>
                <a:latin typeface="微软雅黑" panose="020B0503020204020204" pitchFamily="34" charset="-122"/>
                <a:ea typeface="微软雅黑" panose="020B0503020204020204" pitchFamily="34" charset="-122"/>
              </a:rPr>
              <a:t>本文以煤矿综采工作面为研究场景，为解决工作面直线度控制与人工巡检方面存在的问题，对煤矿综采工作面轨道式巡检机器人控制系统进行设计并开展研究工作，拟实现工作面液压支架自动找直以及无人化巡检。论文主要工作和研究成果总结如下：</a:t>
            </a:r>
          </a:p>
        </p:txBody>
      </p:sp>
      <p:grpSp>
        <p:nvGrpSpPr>
          <p:cNvPr id="3" name="组合 2"/>
          <p:cNvGrpSpPr/>
          <p:nvPr/>
        </p:nvGrpSpPr>
        <p:grpSpPr>
          <a:xfrm>
            <a:off x="6935001" y="3981418"/>
            <a:ext cx="1144108" cy="831473"/>
            <a:chOff x="4504683" y="4472294"/>
            <a:chExt cx="1144108" cy="831473"/>
          </a:xfrm>
        </p:grpSpPr>
        <p:sp>
          <p:nvSpPr>
            <p:cNvPr id="17" name="菱形 16"/>
            <p:cNvSpPr/>
            <p:nvPr/>
          </p:nvSpPr>
          <p:spPr>
            <a:xfrm rot="17280000" flipH="1">
              <a:off x="4661000" y="4315977"/>
              <a:ext cx="831473" cy="1144108"/>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57" name="文本框 56"/>
            <p:cNvSpPr txBox="1"/>
            <p:nvPr/>
          </p:nvSpPr>
          <p:spPr>
            <a:xfrm>
              <a:off x="4839034" y="4713462"/>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grpSp>
        <p:nvGrpSpPr>
          <p:cNvPr id="11" name="组合 10"/>
          <p:cNvGrpSpPr/>
          <p:nvPr/>
        </p:nvGrpSpPr>
        <p:grpSpPr>
          <a:xfrm>
            <a:off x="8124620" y="3974681"/>
            <a:ext cx="1144108" cy="831473"/>
            <a:chOff x="5694302" y="4465557"/>
            <a:chExt cx="1144108" cy="831473"/>
          </a:xfrm>
        </p:grpSpPr>
        <p:sp>
          <p:nvSpPr>
            <p:cNvPr id="14" name="菱形 13"/>
            <p:cNvSpPr/>
            <p:nvPr/>
          </p:nvSpPr>
          <p:spPr>
            <a:xfrm rot="4320000">
              <a:off x="5850619" y="4309240"/>
              <a:ext cx="831473" cy="1144108"/>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58" name="文本框 57"/>
            <p:cNvSpPr txBox="1"/>
            <p:nvPr/>
          </p:nvSpPr>
          <p:spPr>
            <a:xfrm>
              <a:off x="6015690" y="4713462"/>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grpSp>
        <p:nvGrpSpPr>
          <p:cNvPr id="4" name="组合 3"/>
          <p:cNvGrpSpPr/>
          <p:nvPr/>
        </p:nvGrpSpPr>
        <p:grpSpPr>
          <a:xfrm>
            <a:off x="7238127" y="3369996"/>
            <a:ext cx="1279474" cy="1206742"/>
            <a:chOff x="4807809" y="3860872"/>
            <a:chExt cx="1279474" cy="1206742"/>
          </a:xfrm>
        </p:grpSpPr>
        <p:sp>
          <p:nvSpPr>
            <p:cNvPr id="13" name="菱形 12"/>
            <p:cNvSpPr/>
            <p:nvPr/>
          </p:nvSpPr>
          <p:spPr>
            <a:xfrm>
              <a:off x="5255810" y="3860872"/>
              <a:ext cx="831473" cy="1144108"/>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dirty="0">
                <a:solidFill>
                  <a:prstClr val="white"/>
                </a:solidFill>
              </a:endParaRPr>
            </a:p>
          </p:txBody>
        </p:sp>
        <p:sp>
          <p:nvSpPr>
            <p:cNvPr id="59" name="文本框 58"/>
            <p:cNvSpPr txBox="1"/>
            <p:nvPr/>
          </p:nvSpPr>
          <p:spPr>
            <a:xfrm>
              <a:off x="4807809" y="4698282"/>
              <a:ext cx="493000"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02</a:t>
              </a:r>
            </a:p>
          </p:txBody>
        </p:sp>
      </p:grpSp>
      <p:grpSp>
        <p:nvGrpSpPr>
          <p:cNvPr id="20" name="组合 19"/>
          <p:cNvGrpSpPr/>
          <p:nvPr/>
        </p:nvGrpSpPr>
        <p:grpSpPr>
          <a:xfrm>
            <a:off x="7314772" y="4539004"/>
            <a:ext cx="831473" cy="1144108"/>
            <a:chOff x="4884454" y="5029880"/>
            <a:chExt cx="831473" cy="1144108"/>
          </a:xfrm>
        </p:grpSpPr>
        <p:sp>
          <p:nvSpPr>
            <p:cNvPr id="16" name="菱形 15"/>
            <p:cNvSpPr/>
            <p:nvPr/>
          </p:nvSpPr>
          <p:spPr>
            <a:xfrm rot="12960000">
              <a:off x="4884454" y="5029880"/>
              <a:ext cx="831473" cy="1144108"/>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60" name="文本框 59"/>
            <p:cNvSpPr txBox="1"/>
            <p:nvPr/>
          </p:nvSpPr>
          <p:spPr>
            <a:xfrm>
              <a:off x="5047708" y="5417246"/>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grpSp>
        <p:nvGrpSpPr>
          <p:cNvPr id="19" name="组合 18"/>
          <p:cNvGrpSpPr/>
          <p:nvPr/>
        </p:nvGrpSpPr>
        <p:grpSpPr>
          <a:xfrm>
            <a:off x="8057482" y="4532266"/>
            <a:ext cx="831473" cy="1144108"/>
            <a:chOff x="5627164" y="5023142"/>
            <a:chExt cx="831473" cy="1144108"/>
          </a:xfrm>
        </p:grpSpPr>
        <p:sp>
          <p:nvSpPr>
            <p:cNvPr id="15" name="菱形 14"/>
            <p:cNvSpPr/>
            <p:nvPr/>
          </p:nvSpPr>
          <p:spPr>
            <a:xfrm rot="8640000">
              <a:off x="5627164" y="5023142"/>
              <a:ext cx="831473" cy="1144108"/>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66" name="文本框 65"/>
            <p:cNvSpPr txBox="1"/>
            <p:nvPr/>
          </p:nvSpPr>
          <p:spPr>
            <a:xfrm>
              <a:off x="5787985" y="5417246"/>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spTree>
    <p:extLst>
      <p:ext uri="{BB962C8B-B14F-4D97-AF65-F5344CB8AC3E}">
        <p14:creationId xmlns:p14="http://schemas.microsoft.com/office/powerpoint/2010/main" val="2339861012"/>
      </p:ext>
    </p:extLst>
  </p:cSld>
  <p:clrMapOvr>
    <a:masterClrMapping/>
  </p:clrMapOvr>
  <p:transition spd="slow">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结论</a:t>
            </a:r>
          </a:p>
        </p:txBody>
      </p:sp>
      <p:sp>
        <p:nvSpPr>
          <p:cNvPr id="25" name="文本框 24"/>
          <p:cNvSpPr txBox="1"/>
          <p:nvPr/>
        </p:nvSpPr>
        <p:spPr>
          <a:xfrm>
            <a:off x="1175536" y="2862973"/>
            <a:ext cx="4921200" cy="4212692"/>
          </a:xfrm>
          <a:prstGeom prst="rect">
            <a:avLst/>
          </a:prstGeom>
          <a:noFill/>
        </p:spPr>
        <p:txBody>
          <a:bodyPr wrap="square" rtlCol="0">
            <a:spAutoFit/>
          </a:bodyPr>
          <a:lstStyle/>
          <a:p>
            <a:pPr indent="457200" algn="just">
              <a:lnSpc>
                <a:spcPct val="125000"/>
              </a:lnSpc>
            </a:pPr>
            <a:r>
              <a:rPr lang="zh-CN" altLang="zh-CN" dirty="0">
                <a:latin typeface="微软雅黑" panose="020B0503020204020204" pitchFamily="34" charset="-122"/>
                <a:ea typeface="微软雅黑" panose="020B0503020204020204" pitchFamily="34" charset="-122"/>
              </a:rPr>
              <a:t>提出巡检机器人控制系统硬件的总体设计方案。主要包含</a:t>
            </a:r>
            <a:r>
              <a:rPr lang="zh-CN" altLang="en-US" dirty="0">
                <a:latin typeface="微软雅黑" panose="020B0503020204020204" pitchFamily="34" charset="-122"/>
                <a:ea typeface="微软雅黑" panose="020B0503020204020204" pitchFamily="34" charset="-122"/>
              </a:rPr>
              <a:t>主</a:t>
            </a:r>
            <a:r>
              <a:rPr lang="zh-CN" altLang="zh-CN" dirty="0">
                <a:latin typeface="微软雅黑" panose="020B0503020204020204" pitchFamily="34" charset="-122"/>
                <a:ea typeface="微软雅黑" panose="020B0503020204020204" pitchFamily="34" charset="-122"/>
              </a:rPr>
              <a:t>控制</a:t>
            </a:r>
            <a:r>
              <a:rPr lang="zh-CN" altLang="en-US" dirty="0">
                <a:latin typeface="微软雅黑" panose="020B0503020204020204" pitchFamily="34" charset="-122"/>
                <a:ea typeface="微软雅黑" panose="020B0503020204020204" pitchFamily="34" charset="-122"/>
              </a:rPr>
              <a:t>器</a:t>
            </a:r>
            <a:r>
              <a:rPr lang="zh-CN" altLang="zh-CN" dirty="0">
                <a:latin typeface="微软雅黑" panose="020B0503020204020204" pitchFamily="34" charset="-122"/>
                <a:ea typeface="微软雅黑" panose="020B0503020204020204" pitchFamily="34" charset="-122"/>
              </a:rPr>
              <a:t>、信息采集系统、电机驱动系统、电源管理系统和通讯系统。系统以</a:t>
            </a:r>
            <a:r>
              <a:rPr lang="en-US" altLang="zh-CN" dirty="0">
                <a:latin typeface="微软雅黑" panose="020B0503020204020204" pitchFamily="34" charset="-122"/>
                <a:ea typeface="微软雅黑" panose="020B0503020204020204" pitchFamily="34" charset="-122"/>
              </a:rPr>
              <a:t>STM32</a:t>
            </a:r>
            <a:r>
              <a:rPr lang="zh-CN" altLang="zh-CN" dirty="0">
                <a:latin typeface="微软雅黑" panose="020B0503020204020204" pitchFamily="34" charset="-122"/>
                <a:ea typeface="微软雅黑" panose="020B0503020204020204" pitchFamily="34" charset="-122"/>
              </a:rPr>
              <a:t>作为下位机的主控制器，信息采集系统包括温度、湿度、图像和姿态等模块，同时具有电机实时控制、定位等功能；巡检机器人使用锂电池为各模块供电。采用</a:t>
            </a:r>
            <a:r>
              <a:rPr lang="en-US" altLang="zh-CN" dirty="0">
                <a:latin typeface="微软雅黑" panose="020B0503020204020204" pitchFamily="34" charset="-122"/>
                <a:ea typeface="微软雅黑" panose="020B0503020204020204" pitchFamily="34" charset="-122"/>
              </a:rPr>
              <a:t>ESP8266</a:t>
            </a:r>
            <a:r>
              <a:rPr lang="zh-CN" altLang="zh-CN" dirty="0">
                <a:latin typeface="微软雅黑" panose="020B0503020204020204" pitchFamily="34" charset="-122"/>
                <a:ea typeface="微软雅黑" panose="020B0503020204020204" pitchFamily="34" charset="-122"/>
              </a:rPr>
              <a:t>无线模块构建了上、下位机之间无线通讯网络。</a:t>
            </a:r>
            <a:endParaRPr lang="zh-CN" altLang="zh-CN" dirty="0">
              <a:solidFill>
                <a:srgbClr val="AB3341"/>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1175536" y="1174888"/>
            <a:ext cx="8730343" cy="1099468"/>
          </a:xfrm>
          <a:prstGeom prst="rect">
            <a:avLst/>
          </a:prstGeom>
          <a:noFill/>
        </p:spPr>
        <p:txBody>
          <a:bodyPr wrap="square" rtlCol="0">
            <a:spAutoFit/>
          </a:bodyPr>
          <a:lstStyle/>
          <a:p>
            <a:pPr indent="457200" algn="just">
              <a:lnSpc>
                <a:spcPct val="125000"/>
              </a:lnSpc>
            </a:pPr>
            <a:r>
              <a:rPr lang="zh-CN" altLang="zh-CN" dirty="0">
                <a:solidFill>
                  <a:srgbClr val="AB3341"/>
                </a:solidFill>
                <a:latin typeface="微软雅黑" panose="020B0503020204020204" pitchFamily="34" charset="-122"/>
                <a:ea typeface="微软雅黑" panose="020B0503020204020204" pitchFamily="34" charset="-122"/>
              </a:rPr>
              <a:t>本文以煤矿综采工作面为研究场景，为解决工作面直线度控制与人工巡检方面存在的问题，对煤矿综采工作面轨道式巡检机器人控制系统进行设计并开展研究工作，拟实现工作面液压支架自动找直以及无人化巡检。论文主要工作和研究成果总结如下：</a:t>
            </a:r>
          </a:p>
        </p:txBody>
      </p:sp>
      <p:grpSp>
        <p:nvGrpSpPr>
          <p:cNvPr id="3" name="组合 2"/>
          <p:cNvGrpSpPr/>
          <p:nvPr/>
        </p:nvGrpSpPr>
        <p:grpSpPr>
          <a:xfrm>
            <a:off x="6935001" y="3981418"/>
            <a:ext cx="1144108" cy="831473"/>
            <a:chOff x="4504683" y="4472294"/>
            <a:chExt cx="1144108" cy="831473"/>
          </a:xfrm>
        </p:grpSpPr>
        <p:sp>
          <p:nvSpPr>
            <p:cNvPr id="17" name="菱形 16"/>
            <p:cNvSpPr/>
            <p:nvPr/>
          </p:nvSpPr>
          <p:spPr>
            <a:xfrm rot="17280000" flipH="1">
              <a:off x="4661000" y="4315977"/>
              <a:ext cx="831473" cy="1144108"/>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57" name="文本框 56"/>
            <p:cNvSpPr txBox="1"/>
            <p:nvPr/>
          </p:nvSpPr>
          <p:spPr>
            <a:xfrm>
              <a:off x="4839034" y="4713462"/>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grpSp>
        <p:nvGrpSpPr>
          <p:cNvPr id="11" name="组合 10"/>
          <p:cNvGrpSpPr/>
          <p:nvPr/>
        </p:nvGrpSpPr>
        <p:grpSpPr>
          <a:xfrm>
            <a:off x="8124620" y="3974681"/>
            <a:ext cx="1144108" cy="831473"/>
            <a:chOff x="5694302" y="4465557"/>
            <a:chExt cx="1144108" cy="831473"/>
          </a:xfrm>
        </p:grpSpPr>
        <p:sp>
          <p:nvSpPr>
            <p:cNvPr id="14" name="菱形 13"/>
            <p:cNvSpPr/>
            <p:nvPr/>
          </p:nvSpPr>
          <p:spPr>
            <a:xfrm rot="4320000">
              <a:off x="5850619" y="4309240"/>
              <a:ext cx="831473" cy="1144108"/>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58" name="文本框 57"/>
            <p:cNvSpPr txBox="1"/>
            <p:nvPr/>
          </p:nvSpPr>
          <p:spPr>
            <a:xfrm>
              <a:off x="6015690" y="4713462"/>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sp>
        <p:nvSpPr>
          <p:cNvPr id="13" name="菱形 12"/>
          <p:cNvSpPr/>
          <p:nvPr/>
        </p:nvSpPr>
        <p:spPr>
          <a:xfrm>
            <a:off x="7686128" y="3369996"/>
            <a:ext cx="831473" cy="1144108"/>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dirty="0">
              <a:solidFill>
                <a:prstClr val="white"/>
              </a:solidFill>
            </a:endParaRPr>
          </a:p>
        </p:txBody>
      </p:sp>
      <p:grpSp>
        <p:nvGrpSpPr>
          <p:cNvPr id="20" name="组合 19"/>
          <p:cNvGrpSpPr/>
          <p:nvPr/>
        </p:nvGrpSpPr>
        <p:grpSpPr>
          <a:xfrm>
            <a:off x="7314772" y="4539004"/>
            <a:ext cx="831473" cy="1144108"/>
            <a:chOff x="4884454" y="5029880"/>
            <a:chExt cx="831473" cy="1144108"/>
          </a:xfrm>
        </p:grpSpPr>
        <p:sp>
          <p:nvSpPr>
            <p:cNvPr id="16" name="菱形 15"/>
            <p:cNvSpPr/>
            <p:nvPr/>
          </p:nvSpPr>
          <p:spPr>
            <a:xfrm rot="12960000">
              <a:off x="4884454" y="5029880"/>
              <a:ext cx="831473" cy="1144108"/>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60" name="文本框 59"/>
            <p:cNvSpPr txBox="1"/>
            <p:nvPr/>
          </p:nvSpPr>
          <p:spPr>
            <a:xfrm>
              <a:off x="5047708" y="5417246"/>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grpSp>
        <p:nvGrpSpPr>
          <p:cNvPr id="19" name="组合 18"/>
          <p:cNvGrpSpPr/>
          <p:nvPr/>
        </p:nvGrpSpPr>
        <p:grpSpPr>
          <a:xfrm>
            <a:off x="8057482" y="4532266"/>
            <a:ext cx="831473" cy="1144108"/>
            <a:chOff x="5627164" y="5023142"/>
            <a:chExt cx="831473" cy="1144108"/>
          </a:xfrm>
        </p:grpSpPr>
        <p:sp>
          <p:nvSpPr>
            <p:cNvPr id="15" name="菱形 14"/>
            <p:cNvSpPr/>
            <p:nvPr/>
          </p:nvSpPr>
          <p:spPr>
            <a:xfrm rot="8640000">
              <a:off x="5627164" y="5023142"/>
              <a:ext cx="831473" cy="1144108"/>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66" name="文本框 65"/>
            <p:cNvSpPr txBox="1"/>
            <p:nvPr/>
          </p:nvSpPr>
          <p:spPr>
            <a:xfrm>
              <a:off x="5787985" y="5417246"/>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sp>
        <p:nvSpPr>
          <p:cNvPr id="5" name="文本框 4">
            <a:extLst>
              <a:ext uri="{FF2B5EF4-FFF2-40B4-BE49-F238E27FC236}">
                <a16:creationId xmlns:a16="http://schemas.microsoft.com/office/drawing/2014/main" id="{F67C303D-36FC-D560-A623-858BFDE9D530}"/>
              </a:ext>
            </a:extLst>
          </p:cNvPr>
          <p:cNvSpPr txBox="1"/>
          <p:nvPr/>
        </p:nvSpPr>
        <p:spPr>
          <a:xfrm>
            <a:off x="7466641" y="4901601"/>
            <a:ext cx="493000"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03</a:t>
            </a:r>
          </a:p>
        </p:txBody>
      </p:sp>
    </p:spTree>
    <p:extLst>
      <p:ext uri="{BB962C8B-B14F-4D97-AF65-F5344CB8AC3E}">
        <p14:creationId xmlns:p14="http://schemas.microsoft.com/office/powerpoint/2010/main" val="3728141795"/>
      </p:ext>
    </p:extLst>
  </p:cSld>
  <p:clrMapOvr>
    <a:masterClrMapping/>
  </p:clrMapOvr>
  <p:transition spd="slow">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结论</a:t>
            </a:r>
          </a:p>
        </p:txBody>
      </p:sp>
      <p:sp>
        <p:nvSpPr>
          <p:cNvPr id="25" name="文本框 24"/>
          <p:cNvSpPr txBox="1"/>
          <p:nvPr/>
        </p:nvSpPr>
        <p:spPr>
          <a:xfrm>
            <a:off x="1173732" y="3000792"/>
            <a:ext cx="4921200" cy="3520194"/>
          </a:xfrm>
          <a:prstGeom prst="rect">
            <a:avLst/>
          </a:prstGeom>
          <a:noFill/>
        </p:spPr>
        <p:txBody>
          <a:bodyPr wrap="square" rtlCol="0">
            <a:spAutoFit/>
          </a:bodyPr>
          <a:lstStyle/>
          <a:p>
            <a:pPr indent="457200" algn="just">
              <a:lnSpc>
                <a:spcPct val="125000"/>
              </a:lnSpc>
            </a:pPr>
            <a:r>
              <a:rPr lang="zh-CN" altLang="zh-CN" dirty="0">
                <a:latin typeface="微软雅黑" panose="020B0503020204020204" pitchFamily="34" charset="-122"/>
                <a:ea typeface="微软雅黑" panose="020B0503020204020204" pitchFamily="34" charset="-122"/>
              </a:rPr>
              <a:t>完成巡检机器人软件的开发，主要包括下位机控制软件以及上位机用户界面的开发。下位机基于</a:t>
            </a:r>
            <a:r>
              <a:rPr lang="en-US" altLang="zh-CN" dirty="0">
                <a:latin typeface="微软雅黑" panose="020B0503020204020204" pitchFamily="34" charset="-122"/>
                <a:ea typeface="微软雅黑" panose="020B0503020204020204" pitchFamily="34" charset="-122"/>
              </a:rPr>
              <a:t>C++</a:t>
            </a:r>
            <a:r>
              <a:rPr lang="zh-CN" altLang="zh-CN" dirty="0">
                <a:latin typeface="微软雅黑" panose="020B0503020204020204" pitchFamily="34" charset="-122"/>
                <a:ea typeface="微软雅黑" panose="020B0503020204020204" pitchFamily="34" charset="-122"/>
              </a:rPr>
              <a:t>以</a:t>
            </a:r>
            <a:r>
              <a:rPr lang="en-US" altLang="zh-CN" dirty="0">
                <a:latin typeface="微软雅黑" panose="020B0503020204020204" pitchFamily="34" charset="-122"/>
                <a:ea typeface="微软雅黑" panose="020B0503020204020204" pitchFamily="34" charset="-122"/>
              </a:rPr>
              <a:t>Keil</a:t>
            </a:r>
            <a:r>
              <a:rPr lang="zh-CN" altLang="zh-CN" dirty="0">
                <a:latin typeface="微软雅黑" panose="020B0503020204020204" pitchFamily="34" charset="-122"/>
                <a:ea typeface="微软雅黑" panose="020B0503020204020204" pitchFamily="34" charset="-122"/>
              </a:rPr>
              <a:t>为开发环境开发，实现了信息采集、电机驱动和电源管理等功能；上位机基于</a:t>
            </a:r>
            <a:r>
              <a:rPr lang="en-US" altLang="zh-CN" dirty="0">
                <a:latin typeface="微软雅黑" panose="020B0503020204020204" pitchFamily="34" charset="-122"/>
                <a:ea typeface="微软雅黑" panose="020B0503020204020204" pitchFamily="34" charset="-122"/>
              </a:rPr>
              <a:t>Qt</a:t>
            </a:r>
            <a:r>
              <a:rPr lang="zh-CN" altLang="zh-CN" dirty="0">
                <a:latin typeface="微软雅黑" panose="020B0503020204020204" pitchFamily="34" charset="-122"/>
                <a:ea typeface="微软雅黑" panose="020B0503020204020204" pitchFamily="34" charset="-122"/>
              </a:rPr>
              <a:t>开发软件，实现实时数据图像采集、机器人运动控制和历史数据查询等功能，并对巡检机器人远程监控。</a:t>
            </a:r>
          </a:p>
        </p:txBody>
      </p:sp>
      <p:sp>
        <p:nvSpPr>
          <p:cNvPr id="51" name="文本框 50"/>
          <p:cNvSpPr txBox="1"/>
          <p:nvPr/>
        </p:nvSpPr>
        <p:spPr>
          <a:xfrm>
            <a:off x="1175536" y="1174888"/>
            <a:ext cx="8730343" cy="1099468"/>
          </a:xfrm>
          <a:prstGeom prst="rect">
            <a:avLst/>
          </a:prstGeom>
          <a:noFill/>
        </p:spPr>
        <p:txBody>
          <a:bodyPr wrap="square" rtlCol="0">
            <a:spAutoFit/>
          </a:bodyPr>
          <a:lstStyle/>
          <a:p>
            <a:pPr indent="457200" algn="just">
              <a:lnSpc>
                <a:spcPct val="125000"/>
              </a:lnSpc>
            </a:pPr>
            <a:r>
              <a:rPr lang="zh-CN" altLang="zh-CN" dirty="0">
                <a:solidFill>
                  <a:srgbClr val="AB3341"/>
                </a:solidFill>
                <a:latin typeface="微软雅黑" panose="020B0503020204020204" pitchFamily="34" charset="-122"/>
                <a:ea typeface="微软雅黑" panose="020B0503020204020204" pitchFamily="34" charset="-122"/>
              </a:rPr>
              <a:t>本文以煤矿综采工作面为研究场景，为解决工作面直线度控制与人工巡检方面存在的问题，对煤矿综采工作面轨道式巡检机器人控制系统进行设计并开展研究工作，拟实现工作面液压支架自动找直以及无人化巡检。论文主要工作和研究成果总结如下：</a:t>
            </a:r>
          </a:p>
        </p:txBody>
      </p:sp>
      <p:grpSp>
        <p:nvGrpSpPr>
          <p:cNvPr id="3" name="组合 2"/>
          <p:cNvGrpSpPr/>
          <p:nvPr/>
        </p:nvGrpSpPr>
        <p:grpSpPr>
          <a:xfrm>
            <a:off x="6935001" y="3981418"/>
            <a:ext cx="1144108" cy="831473"/>
            <a:chOff x="4504683" y="4472294"/>
            <a:chExt cx="1144108" cy="831473"/>
          </a:xfrm>
        </p:grpSpPr>
        <p:sp>
          <p:nvSpPr>
            <p:cNvPr id="17" name="菱形 16"/>
            <p:cNvSpPr/>
            <p:nvPr/>
          </p:nvSpPr>
          <p:spPr>
            <a:xfrm rot="17280000" flipH="1">
              <a:off x="4661000" y="4315977"/>
              <a:ext cx="831473" cy="1144108"/>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57" name="文本框 56"/>
            <p:cNvSpPr txBox="1"/>
            <p:nvPr/>
          </p:nvSpPr>
          <p:spPr>
            <a:xfrm>
              <a:off x="4839034" y="4713462"/>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grpSp>
        <p:nvGrpSpPr>
          <p:cNvPr id="11" name="组合 10"/>
          <p:cNvGrpSpPr/>
          <p:nvPr/>
        </p:nvGrpSpPr>
        <p:grpSpPr>
          <a:xfrm>
            <a:off x="8124620" y="3974681"/>
            <a:ext cx="1144108" cy="831473"/>
            <a:chOff x="5694302" y="4465557"/>
            <a:chExt cx="1144108" cy="831473"/>
          </a:xfrm>
        </p:grpSpPr>
        <p:sp>
          <p:nvSpPr>
            <p:cNvPr id="14" name="菱形 13"/>
            <p:cNvSpPr/>
            <p:nvPr/>
          </p:nvSpPr>
          <p:spPr>
            <a:xfrm rot="4320000">
              <a:off x="5850619" y="4309240"/>
              <a:ext cx="831473" cy="1144108"/>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58" name="文本框 57"/>
            <p:cNvSpPr txBox="1"/>
            <p:nvPr/>
          </p:nvSpPr>
          <p:spPr>
            <a:xfrm>
              <a:off x="6015690" y="4713462"/>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sp>
        <p:nvSpPr>
          <p:cNvPr id="13" name="菱形 12"/>
          <p:cNvSpPr/>
          <p:nvPr/>
        </p:nvSpPr>
        <p:spPr>
          <a:xfrm>
            <a:off x="7686128" y="3369996"/>
            <a:ext cx="831473" cy="1144108"/>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dirty="0">
              <a:solidFill>
                <a:prstClr val="white"/>
              </a:solidFill>
            </a:endParaRPr>
          </a:p>
        </p:txBody>
      </p:sp>
      <p:grpSp>
        <p:nvGrpSpPr>
          <p:cNvPr id="20" name="组合 19"/>
          <p:cNvGrpSpPr/>
          <p:nvPr/>
        </p:nvGrpSpPr>
        <p:grpSpPr>
          <a:xfrm>
            <a:off x="7314772" y="4539004"/>
            <a:ext cx="831473" cy="1144108"/>
            <a:chOff x="4884454" y="5029880"/>
            <a:chExt cx="831473" cy="1144108"/>
          </a:xfrm>
        </p:grpSpPr>
        <p:sp>
          <p:nvSpPr>
            <p:cNvPr id="16" name="菱形 15"/>
            <p:cNvSpPr/>
            <p:nvPr/>
          </p:nvSpPr>
          <p:spPr>
            <a:xfrm rot="12960000">
              <a:off x="4884454" y="5029880"/>
              <a:ext cx="831473" cy="1144108"/>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60" name="文本框 59"/>
            <p:cNvSpPr txBox="1"/>
            <p:nvPr/>
          </p:nvSpPr>
          <p:spPr>
            <a:xfrm>
              <a:off x="5047708" y="5417246"/>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grpSp>
        <p:nvGrpSpPr>
          <p:cNvPr id="19" name="组合 18"/>
          <p:cNvGrpSpPr/>
          <p:nvPr/>
        </p:nvGrpSpPr>
        <p:grpSpPr>
          <a:xfrm>
            <a:off x="8057482" y="4532266"/>
            <a:ext cx="831473" cy="1144108"/>
            <a:chOff x="5627164" y="5023142"/>
            <a:chExt cx="831473" cy="1144108"/>
          </a:xfrm>
        </p:grpSpPr>
        <p:sp>
          <p:nvSpPr>
            <p:cNvPr id="15" name="菱形 14"/>
            <p:cNvSpPr/>
            <p:nvPr/>
          </p:nvSpPr>
          <p:spPr>
            <a:xfrm rot="8640000">
              <a:off x="5627164" y="5023142"/>
              <a:ext cx="831473" cy="1144108"/>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66" name="文本框 65"/>
            <p:cNvSpPr txBox="1"/>
            <p:nvPr/>
          </p:nvSpPr>
          <p:spPr>
            <a:xfrm>
              <a:off x="5787985" y="5417246"/>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sp>
        <p:nvSpPr>
          <p:cNvPr id="4" name="文本框 3">
            <a:extLst>
              <a:ext uri="{FF2B5EF4-FFF2-40B4-BE49-F238E27FC236}">
                <a16:creationId xmlns:a16="http://schemas.microsoft.com/office/drawing/2014/main" id="{3588C2FB-FAD2-8884-1B5D-6270F92CCAAA}"/>
              </a:ext>
            </a:extLst>
          </p:cNvPr>
          <p:cNvSpPr txBox="1"/>
          <p:nvPr/>
        </p:nvSpPr>
        <p:spPr>
          <a:xfrm>
            <a:off x="8252930" y="4944476"/>
            <a:ext cx="493000"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04</a:t>
            </a:r>
          </a:p>
        </p:txBody>
      </p:sp>
    </p:spTree>
    <p:extLst>
      <p:ext uri="{BB962C8B-B14F-4D97-AF65-F5344CB8AC3E}">
        <p14:creationId xmlns:p14="http://schemas.microsoft.com/office/powerpoint/2010/main" val="1156166387"/>
      </p:ext>
    </p:extLst>
  </p:cSld>
  <p:clrMapOvr>
    <a:masterClrMapping/>
  </p:clrMapOvr>
  <p:transition spd="slow">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结论</a:t>
            </a:r>
          </a:p>
        </p:txBody>
      </p:sp>
      <p:sp>
        <p:nvSpPr>
          <p:cNvPr id="25" name="文本框 24"/>
          <p:cNvSpPr txBox="1"/>
          <p:nvPr/>
        </p:nvSpPr>
        <p:spPr>
          <a:xfrm>
            <a:off x="1175536" y="3168289"/>
            <a:ext cx="4921200" cy="2830711"/>
          </a:xfrm>
          <a:prstGeom prst="rect">
            <a:avLst/>
          </a:prstGeom>
          <a:noFill/>
        </p:spPr>
        <p:txBody>
          <a:bodyPr wrap="square" rtlCol="0">
            <a:spAutoFit/>
          </a:bodyPr>
          <a:lstStyle/>
          <a:p>
            <a:pPr indent="457200" algn="just">
              <a:lnSpc>
                <a:spcPct val="125000"/>
              </a:lnSpc>
            </a:pPr>
            <a:r>
              <a:rPr lang="zh-CN" altLang="zh-CN" dirty="0">
                <a:latin typeface="微软雅黑" panose="020B0503020204020204" pitchFamily="34" charset="-122"/>
                <a:ea typeface="微软雅黑" panose="020B0503020204020204" pitchFamily="34" charset="-122"/>
              </a:rPr>
              <a:t>对巡检机器人各控制模块进行了系统调试，调试结果基本符合实际；并通过搭建实验平台和样机实验验证设计的可行性。通过现场试验，巡检机器人控制系统基本满足性能指标要求，为下一步工程实际应用提供有力技术支撑。</a:t>
            </a:r>
          </a:p>
        </p:txBody>
      </p:sp>
      <p:sp>
        <p:nvSpPr>
          <p:cNvPr id="51" name="文本框 50"/>
          <p:cNvSpPr txBox="1"/>
          <p:nvPr/>
        </p:nvSpPr>
        <p:spPr>
          <a:xfrm>
            <a:off x="1175536" y="1174888"/>
            <a:ext cx="8730343" cy="1099468"/>
          </a:xfrm>
          <a:prstGeom prst="rect">
            <a:avLst/>
          </a:prstGeom>
          <a:noFill/>
        </p:spPr>
        <p:txBody>
          <a:bodyPr wrap="square" rtlCol="0">
            <a:spAutoFit/>
          </a:bodyPr>
          <a:lstStyle/>
          <a:p>
            <a:pPr indent="457200" algn="just">
              <a:lnSpc>
                <a:spcPct val="125000"/>
              </a:lnSpc>
            </a:pPr>
            <a:r>
              <a:rPr lang="zh-CN" altLang="zh-CN" dirty="0">
                <a:solidFill>
                  <a:srgbClr val="AB3341"/>
                </a:solidFill>
                <a:latin typeface="微软雅黑" panose="020B0503020204020204" pitchFamily="34" charset="-122"/>
                <a:ea typeface="微软雅黑" panose="020B0503020204020204" pitchFamily="34" charset="-122"/>
              </a:rPr>
              <a:t>本文以煤矿综采工作面为研究场景，为解决工作面直线度控制与人工巡检方面存在的问题，对煤矿综采工作面轨道式巡检机器人控制系统进行设计并开展研究工作，拟实现工作面液压支架自动找直以及无人化巡检。论文主要工作和研究成果总结如下：</a:t>
            </a:r>
          </a:p>
        </p:txBody>
      </p:sp>
      <p:grpSp>
        <p:nvGrpSpPr>
          <p:cNvPr id="3" name="组合 2"/>
          <p:cNvGrpSpPr/>
          <p:nvPr/>
        </p:nvGrpSpPr>
        <p:grpSpPr>
          <a:xfrm>
            <a:off x="6935001" y="3981418"/>
            <a:ext cx="1144108" cy="831473"/>
            <a:chOff x="4504683" y="4472294"/>
            <a:chExt cx="1144108" cy="831473"/>
          </a:xfrm>
        </p:grpSpPr>
        <p:sp>
          <p:nvSpPr>
            <p:cNvPr id="17" name="菱形 16"/>
            <p:cNvSpPr/>
            <p:nvPr/>
          </p:nvSpPr>
          <p:spPr>
            <a:xfrm rot="17280000" flipH="1">
              <a:off x="4661000" y="4315977"/>
              <a:ext cx="831473" cy="1144108"/>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57" name="文本框 56"/>
            <p:cNvSpPr txBox="1"/>
            <p:nvPr/>
          </p:nvSpPr>
          <p:spPr>
            <a:xfrm>
              <a:off x="4839034" y="4713462"/>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grpSp>
        <p:nvGrpSpPr>
          <p:cNvPr id="11" name="组合 10"/>
          <p:cNvGrpSpPr/>
          <p:nvPr/>
        </p:nvGrpSpPr>
        <p:grpSpPr>
          <a:xfrm>
            <a:off x="8124620" y="3974681"/>
            <a:ext cx="1144108" cy="831473"/>
            <a:chOff x="5694302" y="4465557"/>
            <a:chExt cx="1144108" cy="831473"/>
          </a:xfrm>
        </p:grpSpPr>
        <p:sp>
          <p:nvSpPr>
            <p:cNvPr id="14" name="菱形 13"/>
            <p:cNvSpPr/>
            <p:nvPr/>
          </p:nvSpPr>
          <p:spPr>
            <a:xfrm rot="4320000">
              <a:off x="5850619" y="4309240"/>
              <a:ext cx="831473" cy="1144108"/>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58" name="文本框 57"/>
            <p:cNvSpPr txBox="1"/>
            <p:nvPr/>
          </p:nvSpPr>
          <p:spPr>
            <a:xfrm>
              <a:off x="6015690" y="4713462"/>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sp>
        <p:nvSpPr>
          <p:cNvPr id="13" name="菱形 12"/>
          <p:cNvSpPr/>
          <p:nvPr/>
        </p:nvSpPr>
        <p:spPr>
          <a:xfrm>
            <a:off x="7686128" y="3369996"/>
            <a:ext cx="831473" cy="1144108"/>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dirty="0">
              <a:solidFill>
                <a:prstClr val="white"/>
              </a:solidFill>
            </a:endParaRPr>
          </a:p>
        </p:txBody>
      </p:sp>
      <p:grpSp>
        <p:nvGrpSpPr>
          <p:cNvPr id="20" name="组合 19"/>
          <p:cNvGrpSpPr/>
          <p:nvPr/>
        </p:nvGrpSpPr>
        <p:grpSpPr>
          <a:xfrm>
            <a:off x="7314772" y="4539004"/>
            <a:ext cx="831473" cy="1144108"/>
            <a:chOff x="4884454" y="5029880"/>
            <a:chExt cx="831473" cy="1144108"/>
          </a:xfrm>
        </p:grpSpPr>
        <p:sp>
          <p:nvSpPr>
            <p:cNvPr id="16" name="菱形 15"/>
            <p:cNvSpPr/>
            <p:nvPr/>
          </p:nvSpPr>
          <p:spPr>
            <a:xfrm rot="12960000">
              <a:off x="4884454" y="5029880"/>
              <a:ext cx="831473" cy="1144108"/>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60" name="文本框 59"/>
            <p:cNvSpPr txBox="1"/>
            <p:nvPr/>
          </p:nvSpPr>
          <p:spPr>
            <a:xfrm>
              <a:off x="5047708" y="5417246"/>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grpSp>
        <p:nvGrpSpPr>
          <p:cNvPr id="19" name="组合 18"/>
          <p:cNvGrpSpPr/>
          <p:nvPr/>
        </p:nvGrpSpPr>
        <p:grpSpPr>
          <a:xfrm>
            <a:off x="8057482" y="4532266"/>
            <a:ext cx="831473" cy="1144108"/>
            <a:chOff x="5627164" y="5023142"/>
            <a:chExt cx="831473" cy="1144108"/>
          </a:xfrm>
        </p:grpSpPr>
        <p:sp>
          <p:nvSpPr>
            <p:cNvPr id="15" name="菱形 14"/>
            <p:cNvSpPr/>
            <p:nvPr/>
          </p:nvSpPr>
          <p:spPr>
            <a:xfrm rot="8640000">
              <a:off x="5627164" y="5023142"/>
              <a:ext cx="831473" cy="1144108"/>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2400">
                <a:solidFill>
                  <a:prstClr val="white"/>
                </a:solidFill>
              </a:endParaRPr>
            </a:p>
          </p:txBody>
        </p:sp>
        <p:sp>
          <p:nvSpPr>
            <p:cNvPr id="66" name="文本框 65"/>
            <p:cNvSpPr txBox="1"/>
            <p:nvPr/>
          </p:nvSpPr>
          <p:spPr>
            <a:xfrm>
              <a:off x="5787985" y="5417246"/>
              <a:ext cx="493000" cy="369332"/>
            </a:xfrm>
            <a:prstGeom prst="rect">
              <a:avLst/>
            </a:prstGeom>
            <a:noFill/>
          </p:spPr>
          <p:txBody>
            <a:bodyPr wrap="square" rtlCol="0">
              <a:spAutoFit/>
            </a:bodyPr>
            <a:lstStyle/>
            <a:p>
              <a:pPr algn="ctr"/>
              <a:endParaRPr lang="en-US" altLang="zh-CN" dirty="0">
                <a:solidFill>
                  <a:schemeClr val="bg1"/>
                </a:solidFill>
                <a:latin typeface="华文细黑" panose="02010600040101010101" pitchFamily="2" charset="-122"/>
                <a:ea typeface="华文细黑" panose="02010600040101010101" pitchFamily="2" charset="-122"/>
                <a:cs typeface="Arial" pitchFamily="34" charset="0"/>
              </a:endParaRPr>
            </a:p>
          </p:txBody>
        </p:sp>
      </p:grpSp>
      <p:sp>
        <p:nvSpPr>
          <p:cNvPr id="4" name="文本框 3">
            <a:extLst>
              <a:ext uri="{FF2B5EF4-FFF2-40B4-BE49-F238E27FC236}">
                <a16:creationId xmlns:a16="http://schemas.microsoft.com/office/drawing/2014/main" id="{3588C2FB-FAD2-8884-1B5D-6270F92CCAAA}"/>
              </a:ext>
            </a:extLst>
          </p:cNvPr>
          <p:cNvSpPr txBox="1"/>
          <p:nvPr/>
        </p:nvSpPr>
        <p:spPr>
          <a:xfrm>
            <a:off x="8464803" y="4215848"/>
            <a:ext cx="493000" cy="369332"/>
          </a:xfrm>
          <a:prstGeom prst="rect">
            <a:avLst/>
          </a:prstGeom>
          <a:noFill/>
        </p:spPr>
        <p:txBody>
          <a:bodyPr wrap="square" rtlCol="0">
            <a:spAutoFit/>
          </a:bodyPr>
          <a:lstStyle/>
          <a:p>
            <a:pPr algn="ctr"/>
            <a:r>
              <a:rPr lang="en-US" altLang="zh-CN" dirty="0">
                <a:solidFill>
                  <a:schemeClr val="bg1"/>
                </a:solidFill>
                <a:latin typeface="华文细黑" panose="02010600040101010101" pitchFamily="2" charset="-122"/>
                <a:ea typeface="华文细黑" panose="02010600040101010101" pitchFamily="2" charset="-122"/>
                <a:cs typeface="Arial" pitchFamily="34" charset="0"/>
              </a:rPr>
              <a:t>05</a:t>
            </a:r>
          </a:p>
        </p:txBody>
      </p:sp>
    </p:spTree>
    <p:extLst>
      <p:ext uri="{BB962C8B-B14F-4D97-AF65-F5344CB8AC3E}">
        <p14:creationId xmlns:p14="http://schemas.microsoft.com/office/powerpoint/2010/main" val="128489231"/>
      </p:ext>
    </p:extLst>
  </p:cSld>
  <p:clrMapOvr>
    <a:masterClrMapping/>
  </p:clrMapOvr>
  <p:transition spd="slow">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创新点</a:t>
            </a:r>
          </a:p>
        </p:txBody>
      </p:sp>
      <p:sp>
        <p:nvSpPr>
          <p:cNvPr id="44" name="Freeform 29"/>
          <p:cNvSpPr>
            <a:spLocks noEditPoints="1"/>
          </p:cNvSpPr>
          <p:nvPr/>
        </p:nvSpPr>
        <p:spPr bwMode="auto">
          <a:xfrm flipH="1">
            <a:off x="6607415" y="1742748"/>
            <a:ext cx="3663372" cy="3991302"/>
          </a:xfrm>
          <a:custGeom>
            <a:avLst/>
            <a:gdLst>
              <a:gd name="T0" fmla="*/ 127 w 358"/>
              <a:gd name="T1" fmla="*/ 292 h 382"/>
              <a:gd name="T2" fmla="*/ 322 w 358"/>
              <a:gd name="T3" fmla="*/ 63 h 382"/>
              <a:gd name="T4" fmla="*/ 333 w 358"/>
              <a:gd name="T5" fmla="*/ 113 h 382"/>
              <a:gd name="T6" fmla="*/ 336 w 358"/>
              <a:gd name="T7" fmla="*/ 178 h 382"/>
              <a:gd name="T8" fmla="*/ 338 w 358"/>
              <a:gd name="T9" fmla="*/ 245 h 382"/>
              <a:gd name="T10" fmla="*/ 321 w 358"/>
              <a:gd name="T11" fmla="*/ 314 h 382"/>
              <a:gd name="T12" fmla="*/ 271 w 358"/>
              <a:gd name="T13" fmla="*/ 382 h 382"/>
              <a:gd name="T14" fmla="*/ 172 w 358"/>
              <a:gd name="T15" fmla="*/ 226 h 382"/>
              <a:gd name="T16" fmla="*/ 123 w 358"/>
              <a:gd name="T17" fmla="*/ 197 h 382"/>
              <a:gd name="T18" fmla="*/ 125 w 358"/>
              <a:gd name="T19" fmla="*/ 208 h 382"/>
              <a:gd name="T20" fmla="*/ 174 w 358"/>
              <a:gd name="T21" fmla="*/ 236 h 382"/>
              <a:gd name="T22" fmla="*/ 172 w 358"/>
              <a:gd name="T23" fmla="*/ 226 h 382"/>
              <a:gd name="T24" fmla="*/ 288 w 358"/>
              <a:gd name="T25" fmla="*/ 136 h 382"/>
              <a:gd name="T26" fmla="*/ 263 w 358"/>
              <a:gd name="T27" fmla="*/ 125 h 382"/>
              <a:gd name="T28" fmla="*/ 171 w 358"/>
              <a:gd name="T29" fmla="*/ 70 h 382"/>
              <a:gd name="T30" fmla="*/ 148 w 358"/>
              <a:gd name="T31" fmla="*/ 54 h 382"/>
              <a:gd name="T32" fmla="*/ 171 w 358"/>
              <a:gd name="T33" fmla="*/ 70 h 382"/>
              <a:gd name="T34" fmla="*/ 204 w 358"/>
              <a:gd name="T35" fmla="*/ 39 h 382"/>
              <a:gd name="T36" fmla="*/ 193 w 358"/>
              <a:gd name="T37" fmla="*/ 64 h 382"/>
              <a:gd name="T38" fmla="*/ 258 w 358"/>
              <a:gd name="T39" fmla="*/ 103 h 382"/>
              <a:gd name="T40" fmla="*/ 274 w 358"/>
              <a:gd name="T41" fmla="*/ 80 h 382"/>
              <a:gd name="T42" fmla="*/ 258 w 358"/>
              <a:gd name="T43" fmla="*/ 103 h 382"/>
              <a:gd name="T44" fmla="*/ 249 w 358"/>
              <a:gd name="T45" fmla="*/ 55 h 382"/>
              <a:gd name="T46" fmla="*/ 226 w 358"/>
              <a:gd name="T47" fmla="*/ 71 h 382"/>
              <a:gd name="T48" fmla="*/ 182 w 358"/>
              <a:gd name="T49" fmla="*/ 209 h 382"/>
              <a:gd name="T50" fmla="*/ 133 w 358"/>
              <a:gd name="T51" fmla="*/ 180 h 382"/>
              <a:gd name="T52" fmla="*/ 135 w 358"/>
              <a:gd name="T53" fmla="*/ 190 h 382"/>
              <a:gd name="T54" fmla="*/ 184 w 358"/>
              <a:gd name="T55" fmla="*/ 219 h 382"/>
              <a:gd name="T56" fmla="*/ 182 w 358"/>
              <a:gd name="T57" fmla="*/ 209 h 382"/>
              <a:gd name="T58" fmla="*/ 157 w 358"/>
              <a:gd name="T59" fmla="*/ 104 h 382"/>
              <a:gd name="T60" fmla="*/ 186 w 358"/>
              <a:gd name="T61" fmla="*/ 195 h 382"/>
              <a:gd name="T62" fmla="*/ 222 w 358"/>
              <a:gd name="T63" fmla="*/ 90 h 382"/>
              <a:gd name="T64" fmla="*/ 136 w 358"/>
              <a:gd name="T65" fmla="*/ 238 h 382"/>
              <a:gd name="T66" fmla="*/ 129 w 358"/>
              <a:gd name="T67" fmla="*/ 21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8" h="382">
                <a:moveTo>
                  <a:pt x="131" y="382"/>
                </a:moveTo>
                <a:cubicBezTo>
                  <a:pt x="135" y="352"/>
                  <a:pt x="135" y="320"/>
                  <a:pt x="127" y="292"/>
                </a:cubicBezTo>
                <a:cubicBezTo>
                  <a:pt x="0" y="220"/>
                  <a:pt x="34" y="56"/>
                  <a:pt x="140" y="23"/>
                </a:cubicBezTo>
                <a:cubicBezTo>
                  <a:pt x="196" y="0"/>
                  <a:pt x="272" y="14"/>
                  <a:pt x="322" y="63"/>
                </a:cubicBezTo>
                <a:cubicBezTo>
                  <a:pt x="358" y="99"/>
                  <a:pt x="340" y="109"/>
                  <a:pt x="340" y="109"/>
                </a:cubicBezTo>
                <a:cubicBezTo>
                  <a:pt x="333" y="113"/>
                  <a:pt x="333" y="113"/>
                  <a:pt x="333" y="113"/>
                </a:cubicBezTo>
                <a:cubicBezTo>
                  <a:pt x="337" y="130"/>
                  <a:pt x="345" y="162"/>
                  <a:pt x="344" y="166"/>
                </a:cubicBezTo>
                <a:cubicBezTo>
                  <a:pt x="342" y="172"/>
                  <a:pt x="336" y="178"/>
                  <a:pt x="336" y="178"/>
                </a:cubicBezTo>
                <a:cubicBezTo>
                  <a:pt x="354" y="239"/>
                  <a:pt x="354" y="239"/>
                  <a:pt x="354" y="239"/>
                </a:cubicBezTo>
                <a:cubicBezTo>
                  <a:pt x="338" y="245"/>
                  <a:pt x="338" y="245"/>
                  <a:pt x="338" y="245"/>
                </a:cubicBezTo>
                <a:cubicBezTo>
                  <a:pt x="341" y="265"/>
                  <a:pt x="343" y="281"/>
                  <a:pt x="341" y="300"/>
                </a:cubicBezTo>
                <a:cubicBezTo>
                  <a:pt x="341" y="304"/>
                  <a:pt x="330" y="313"/>
                  <a:pt x="321" y="314"/>
                </a:cubicBezTo>
                <a:cubicBezTo>
                  <a:pt x="267" y="317"/>
                  <a:pt x="267" y="317"/>
                  <a:pt x="267" y="317"/>
                </a:cubicBezTo>
                <a:cubicBezTo>
                  <a:pt x="271" y="382"/>
                  <a:pt x="271" y="382"/>
                  <a:pt x="271" y="382"/>
                </a:cubicBezTo>
                <a:cubicBezTo>
                  <a:pt x="131" y="382"/>
                  <a:pt x="131" y="382"/>
                  <a:pt x="131" y="382"/>
                </a:cubicBezTo>
                <a:close/>
                <a:moveTo>
                  <a:pt x="172" y="226"/>
                </a:moveTo>
                <a:cubicBezTo>
                  <a:pt x="132" y="196"/>
                  <a:pt x="132" y="196"/>
                  <a:pt x="132" y="196"/>
                </a:cubicBezTo>
                <a:cubicBezTo>
                  <a:pt x="129" y="193"/>
                  <a:pt x="125" y="194"/>
                  <a:pt x="123" y="197"/>
                </a:cubicBezTo>
                <a:cubicBezTo>
                  <a:pt x="123" y="197"/>
                  <a:pt x="123" y="197"/>
                  <a:pt x="123" y="197"/>
                </a:cubicBezTo>
                <a:cubicBezTo>
                  <a:pt x="121" y="201"/>
                  <a:pt x="122" y="205"/>
                  <a:pt x="125" y="208"/>
                </a:cubicBezTo>
                <a:cubicBezTo>
                  <a:pt x="165" y="238"/>
                  <a:pt x="165" y="238"/>
                  <a:pt x="165" y="238"/>
                </a:cubicBezTo>
                <a:cubicBezTo>
                  <a:pt x="168" y="240"/>
                  <a:pt x="172" y="239"/>
                  <a:pt x="174" y="236"/>
                </a:cubicBezTo>
                <a:cubicBezTo>
                  <a:pt x="174" y="236"/>
                  <a:pt x="174" y="236"/>
                  <a:pt x="174" y="236"/>
                </a:cubicBezTo>
                <a:cubicBezTo>
                  <a:pt x="176" y="233"/>
                  <a:pt x="175" y="228"/>
                  <a:pt x="172" y="226"/>
                </a:cubicBezTo>
                <a:close/>
                <a:moveTo>
                  <a:pt x="263" y="136"/>
                </a:moveTo>
                <a:cubicBezTo>
                  <a:pt x="288" y="136"/>
                  <a:pt x="288" y="136"/>
                  <a:pt x="288" y="136"/>
                </a:cubicBezTo>
                <a:cubicBezTo>
                  <a:pt x="288" y="125"/>
                  <a:pt x="288" y="125"/>
                  <a:pt x="288" y="125"/>
                </a:cubicBezTo>
                <a:cubicBezTo>
                  <a:pt x="263" y="125"/>
                  <a:pt x="263" y="125"/>
                  <a:pt x="263" y="125"/>
                </a:cubicBezTo>
                <a:cubicBezTo>
                  <a:pt x="263" y="136"/>
                  <a:pt x="263" y="136"/>
                  <a:pt x="263" y="136"/>
                </a:cubicBezTo>
                <a:close/>
                <a:moveTo>
                  <a:pt x="171" y="70"/>
                </a:moveTo>
                <a:cubicBezTo>
                  <a:pt x="158" y="48"/>
                  <a:pt x="158" y="48"/>
                  <a:pt x="158" y="48"/>
                </a:cubicBezTo>
                <a:cubicBezTo>
                  <a:pt x="148" y="54"/>
                  <a:pt x="148" y="54"/>
                  <a:pt x="148" y="54"/>
                </a:cubicBezTo>
                <a:cubicBezTo>
                  <a:pt x="161" y="76"/>
                  <a:pt x="161" y="76"/>
                  <a:pt x="161" y="76"/>
                </a:cubicBezTo>
                <a:cubicBezTo>
                  <a:pt x="171" y="70"/>
                  <a:pt x="171" y="70"/>
                  <a:pt x="171" y="70"/>
                </a:cubicBezTo>
                <a:close/>
                <a:moveTo>
                  <a:pt x="204" y="64"/>
                </a:moveTo>
                <a:cubicBezTo>
                  <a:pt x="204" y="39"/>
                  <a:pt x="204" y="39"/>
                  <a:pt x="204" y="39"/>
                </a:cubicBezTo>
                <a:cubicBezTo>
                  <a:pt x="193" y="39"/>
                  <a:pt x="193" y="39"/>
                  <a:pt x="193" y="39"/>
                </a:cubicBezTo>
                <a:cubicBezTo>
                  <a:pt x="193" y="64"/>
                  <a:pt x="193" y="64"/>
                  <a:pt x="193" y="64"/>
                </a:cubicBezTo>
                <a:cubicBezTo>
                  <a:pt x="204" y="64"/>
                  <a:pt x="204" y="64"/>
                  <a:pt x="204" y="64"/>
                </a:cubicBezTo>
                <a:close/>
                <a:moveTo>
                  <a:pt x="258" y="103"/>
                </a:moveTo>
                <a:cubicBezTo>
                  <a:pt x="279" y="90"/>
                  <a:pt x="279" y="90"/>
                  <a:pt x="279" y="90"/>
                </a:cubicBezTo>
                <a:cubicBezTo>
                  <a:pt x="274" y="80"/>
                  <a:pt x="274" y="80"/>
                  <a:pt x="274" y="80"/>
                </a:cubicBezTo>
                <a:cubicBezTo>
                  <a:pt x="252" y="93"/>
                  <a:pt x="252" y="93"/>
                  <a:pt x="252" y="93"/>
                </a:cubicBezTo>
                <a:cubicBezTo>
                  <a:pt x="258" y="103"/>
                  <a:pt x="258" y="103"/>
                  <a:pt x="258" y="103"/>
                </a:cubicBezTo>
                <a:close/>
                <a:moveTo>
                  <a:pt x="236" y="76"/>
                </a:moveTo>
                <a:cubicBezTo>
                  <a:pt x="249" y="55"/>
                  <a:pt x="249" y="55"/>
                  <a:pt x="249" y="55"/>
                </a:cubicBezTo>
                <a:cubicBezTo>
                  <a:pt x="239" y="49"/>
                  <a:pt x="239" y="49"/>
                  <a:pt x="239" y="49"/>
                </a:cubicBezTo>
                <a:cubicBezTo>
                  <a:pt x="226" y="71"/>
                  <a:pt x="226" y="71"/>
                  <a:pt x="226" y="71"/>
                </a:cubicBezTo>
                <a:cubicBezTo>
                  <a:pt x="236" y="76"/>
                  <a:pt x="236" y="76"/>
                  <a:pt x="236" y="76"/>
                </a:cubicBezTo>
                <a:close/>
                <a:moveTo>
                  <a:pt x="182" y="209"/>
                </a:moveTo>
                <a:cubicBezTo>
                  <a:pt x="142" y="178"/>
                  <a:pt x="142" y="178"/>
                  <a:pt x="142" y="178"/>
                </a:cubicBezTo>
                <a:cubicBezTo>
                  <a:pt x="139" y="176"/>
                  <a:pt x="135" y="177"/>
                  <a:pt x="133" y="180"/>
                </a:cubicBezTo>
                <a:cubicBezTo>
                  <a:pt x="133" y="180"/>
                  <a:pt x="133" y="180"/>
                  <a:pt x="133" y="180"/>
                </a:cubicBezTo>
                <a:cubicBezTo>
                  <a:pt x="131" y="183"/>
                  <a:pt x="132" y="188"/>
                  <a:pt x="135" y="190"/>
                </a:cubicBezTo>
                <a:cubicBezTo>
                  <a:pt x="175" y="221"/>
                  <a:pt x="175" y="221"/>
                  <a:pt x="175" y="221"/>
                </a:cubicBezTo>
                <a:cubicBezTo>
                  <a:pt x="178" y="223"/>
                  <a:pt x="182" y="222"/>
                  <a:pt x="184" y="219"/>
                </a:cubicBezTo>
                <a:cubicBezTo>
                  <a:pt x="184" y="219"/>
                  <a:pt x="184" y="219"/>
                  <a:pt x="184" y="219"/>
                </a:cubicBezTo>
                <a:cubicBezTo>
                  <a:pt x="186" y="216"/>
                  <a:pt x="185" y="211"/>
                  <a:pt x="182" y="209"/>
                </a:cubicBezTo>
                <a:close/>
                <a:moveTo>
                  <a:pt x="222" y="90"/>
                </a:moveTo>
                <a:cubicBezTo>
                  <a:pt x="198" y="76"/>
                  <a:pt x="169" y="83"/>
                  <a:pt x="157" y="104"/>
                </a:cubicBezTo>
                <a:cubicBezTo>
                  <a:pt x="144" y="126"/>
                  <a:pt x="160" y="151"/>
                  <a:pt x="149" y="174"/>
                </a:cubicBezTo>
                <a:cubicBezTo>
                  <a:pt x="186" y="195"/>
                  <a:pt x="186" y="195"/>
                  <a:pt x="186" y="195"/>
                </a:cubicBezTo>
                <a:cubicBezTo>
                  <a:pt x="200" y="174"/>
                  <a:pt x="229" y="176"/>
                  <a:pt x="242" y="154"/>
                </a:cubicBezTo>
                <a:cubicBezTo>
                  <a:pt x="255" y="132"/>
                  <a:pt x="245" y="104"/>
                  <a:pt x="222" y="90"/>
                </a:cubicBezTo>
                <a:close/>
                <a:moveTo>
                  <a:pt x="129" y="216"/>
                </a:moveTo>
                <a:cubicBezTo>
                  <a:pt x="125" y="224"/>
                  <a:pt x="128" y="233"/>
                  <a:pt x="136" y="238"/>
                </a:cubicBezTo>
                <a:cubicBezTo>
                  <a:pt x="142" y="241"/>
                  <a:pt x="150" y="240"/>
                  <a:pt x="155" y="236"/>
                </a:cubicBezTo>
                <a:lnTo>
                  <a:pt x="129" y="216"/>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45" name="文本框 44"/>
          <p:cNvSpPr txBox="1"/>
          <p:nvPr/>
        </p:nvSpPr>
        <p:spPr>
          <a:xfrm>
            <a:off x="1580605" y="1976057"/>
            <a:ext cx="3380862" cy="3524683"/>
          </a:xfrm>
          <a:prstGeom prst="rect">
            <a:avLst/>
          </a:prstGeom>
          <a:noFill/>
        </p:spPr>
        <p:txBody>
          <a:bodyPr wrap="square" rtlCol="0">
            <a:spAutoFit/>
          </a:bodyPr>
          <a:lstStyle/>
          <a:p>
            <a:pPr indent="457200" algn="just">
              <a:lnSpc>
                <a:spcPct val="125000"/>
              </a:lnSpc>
            </a:pPr>
            <a:r>
              <a:rPr lang="zh-CN" altLang="zh-CN" dirty="0">
                <a:solidFill>
                  <a:srgbClr val="AB3341"/>
                </a:solidFill>
                <a:latin typeface="微软雅黑" panose="020B0503020204020204" pitchFamily="34" charset="-122"/>
                <a:ea typeface="微软雅黑" panose="020B0503020204020204" pitchFamily="34" charset="-122"/>
              </a:rPr>
              <a:t>通过对硬件系统和软件系统搭建，可利用高清摄像机观测液压支架直线度，当某个液压支架直线度误差较大时，发送指令推移千斤顶进行二次调直，解决了目前基于陀螺仪的惯性导航调直价格昂贵且维修成本高和传统拉线管理精确度不高的问题，真正实现综采工作面少人化或无人化。</a:t>
            </a:r>
          </a:p>
        </p:txBody>
      </p:sp>
    </p:spTree>
    <p:extLst>
      <p:ext uri="{BB962C8B-B14F-4D97-AF65-F5344CB8AC3E}">
        <p14:creationId xmlns:p14="http://schemas.microsoft.com/office/powerpoint/2010/main" val="2171086146"/>
      </p:ext>
    </p:extLst>
  </p:cSld>
  <p:clrMapOvr>
    <a:masterClrMapping/>
  </p:clrMapOvr>
  <p:transition spd="slow">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展望</a:t>
            </a:r>
          </a:p>
        </p:txBody>
      </p:sp>
      <p:sp>
        <p:nvSpPr>
          <p:cNvPr id="17" name="Freeform 13"/>
          <p:cNvSpPr/>
          <p:nvPr/>
        </p:nvSpPr>
        <p:spPr bwMode="auto">
          <a:xfrm>
            <a:off x="1741503" y="4200334"/>
            <a:ext cx="1562042" cy="593904"/>
          </a:xfrm>
          <a:custGeom>
            <a:avLst/>
            <a:gdLst>
              <a:gd name="T0" fmla="*/ 16 w 142"/>
              <a:gd name="T1" fmla="*/ 53 h 54"/>
              <a:gd name="T2" fmla="*/ 6 w 142"/>
              <a:gd name="T3" fmla="*/ 48 h 54"/>
              <a:gd name="T4" fmla="*/ 6 w 142"/>
              <a:gd name="T5" fmla="*/ 27 h 54"/>
              <a:gd name="T6" fmla="*/ 71 w 142"/>
              <a:gd name="T7" fmla="*/ 0 h 54"/>
              <a:gd name="T8" fmla="*/ 71 w 142"/>
              <a:gd name="T9" fmla="*/ 0 h 54"/>
              <a:gd name="T10" fmla="*/ 136 w 142"/>
              <a:gd name="T11" fmla="*/ 26 h 54"/>
              <a:gd name="T12" fmla="*/ 136 w 142"/>
              <a:gd name="T13" fmla="*/ 48 h 54"/>
              <a:gd name="T14" fmla="*/ 114 w 142"/>
              <a:gd name="T15" fmla="*/ 48 h 54"/>
              <a:gd name="T16" fmla="*/ 71 w 142"/>
              <a:gd name="T17" fmla="*/ 30 h 54"/>
              <a:gd name="T18" fmla="*/ 71 w 142"/>
              <a:gd name="T19" fmla="*/ 30 h 54"/>
              <a:gd name="T20" fmla="*/ 27 w 142"/>
              <a:gd name="T21" fmla="*/ 48 h 54"/>
              <a:gd name="T22" fmla="*/ 16 w 142"/>
              <a:gd name="T23" fmla="*/ 5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54">
                <a:moveTo>
                  <a:pt x="16" y="53"/>
                </a:moveTo>
                <a:cubicBezTo>
                  <a:pt x="13" y="53"/>
                  <a:pt x="9" y="51"/>
                  <a:pt x="6" y="48"/>
                </a:cubicBezTo>
                <a:cubicBezTo>
                  <a:pt x="0" y="42"/>
                  <a:pt x="0" y="33"/>
                  <a:pt x="6" y="27"/>
                </a:cubicBezTo>
                <a:cubicBezTo>
                  <a:pt x="23" y="9"/>
                  <a:pt x="46" y="0"/>
                  <a:pt x="71" y="0"/>
                </a:cubicBezTo>
                <a:cubicBezTo>
                  <a:pt x="71" y="0"/>
                  <a:pt x="71" y="0"/>
                  <a:pt x="71" y="0"/>
                </a:cubicBezTo>
                <a:cubicBezTo>
                  <a:pt x="95" y="0"/>
                  <a:pt x="118" y="9"/>
                  <a:pt x="136" y="26"/>
                </a:cubicBezTo>
                <a:cubicBezTo>
                  <a:pt x="142" y="32"/>
                  <a:pt x="142" y="42"/>
                  <a:pt x="136" y="48"/>
                </a:cubicBezTo>
                <a:cubicBezTo>
                  <a:pt x="130" y="54"/>
                  <a:pt x="120" y="54"/>
                  <a:pt x="114" y="48"/>
                </a:cubicBezTo>
                <a:cubicBezTo>
                  <a:pt x="102" y="37"/>
                  <a:pt x="87" y="30"/>
                  <a:pt x="71" y="30"/>
                </a:cubicBezTo>
                <a:cubicBezTo>
                  <a:pt x="71" y="30"/>
                  <a:pt x="71" y="30"/>
                  <a:pt x="71" y="30"/>
                </a:cubicBezTo>
                <a:cubicBezTo>
                  <a:pt x="54" y="30"/>
                  <a:pt x="39" y="37"/>
                  <a:pt x="27" y="48"/>
                </a:cubicBezTo>
                <a:cubicBezTo>
                  <a:pt x="24" y="51"/>
                  <a:pt x="20" y="53"/>
                  <a:pt x="16" y="53"/>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4"/>
          <p:cNvSpPr/>
          <p:nvPr/>
        </p:nvSpPr>
        <p:spPr bwMode="auto">
          <a:xfrm>
            <a:off x="1383535" y="3695925"/>
            <a:ext cx="2269844" cy="748478"/>
          </a:xfrm>
          <a:custGeom>
            <a:avLst/>
            <a:gdLst>
              <a:gd name="T0" fmla="*/ 17 w 207"/>
              <a:gd name="T1" fmla="*/ 66 h 68"/>
              <a:gd name="T2" fmla="*/ 6 w 207"/>
              <a:gd name="T3" fmla="*/ 62 h 68"/>
              <a:gd name="T4" fmla="*/ 6 w 207"/>
              <a:gd name="T5" fmla="*/ 40 h 68"/>
              <a:gd name="T6" fmla="*/ 104 w 207"/>
              <a:gd name="T7" fmla="*/ 0 h 68"/>
              <a:gd name="T8" fmla="*/ 104 w 207"/>
              <a:gd name="T9" fmla="*/ 0 h 68"/>
              <a:gd name="T10" fmla="*/ 201 w 207"/>
              <a:gd name="T11" fmla="*/ 40 h 68"/>
              <a:gd name="T12" fmla="*/ 201 w 207"/>
              <a:gd name="T13" fmla="*/ 62 h 68"/>
              <a:gd name="T14" fmla="*/ 180 w 207"/>
              <a:gd name="T15" fmla="*/ 62 h 68"/>
              <a:gd name="T16" fmla="*/ 104 w 207"/>
              <a:gd name="T17" fmla="*/ 30 h 68"/>
              <a:gd name="T18" fmla="*/ 104 w 207"/>
              <a:gd name="T19" fmla="*/ 30 h 68"/>
              <a:gd name="T20" fmla="*/ 28 w 207"/>
              <a:gd name="T21" fmla="*/ 62 h 68"/>
              <a:gd name="T22" fmla="*/ 17 w 207"/>
              <a:gd name="T23"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68">
                <a:moveTo>
                  <a:pt x="17" y="66"/>
                </a:moveTo>
                <a:cubicBezTo>
                  <a:pt x="13" y="66"/>
                  <a:pt x="9" y="65"/>
                  <a:pt x="6" y="62"/>
                </a:cubicBezTo>
                <a:cubicBezTo>
                  <a:pt x="0" y="56"/>
                  <a:pt x="0" y="46"/>
                  <a:pt x="6" y="40"/>
                </a:cubicBezTo>
                <a:cubicBezTo>
                  <a:pt x="32" y="14"/>
                  <a:pt x="67" y="0"/>
                  <a:pt x="104" y="0"/>
                </a:cubicBezTo>
                <a:cubicBezTo>
                  <a:pt x="104" y="0"/>
                  <a:pt x="104" y="0"/>
                  <a:pt x="104" y="0"/>
                </a:cubicBezTo>
                <a:cubicBezTo>
                  <a:pt x="141" y="0"/>
                  <a:pt x="175" y="14"/>
                  <a:pt x="201" y="40"/>
                </a:cubicBezTo>
                <a:cubicBezTo>
                  <a:pt x="207" y="46"/>
                  <a:pt x="207" y="56"/>
                  <a:pt x="201" y="62"/>
                </a:cubicBezTo>
                <a:cubicBezTo>
                  <a:pt x="195" y="68"/>
                  <a:pt x="186" y="68"/>
                  <a:pt x="180" y="62"/>
                </a:cubicBezTo>
                <a:cubicBezTo>
                  <a:pt x="159" y="41"/>
                  <a:pt x="132" y="30"/>
                  <a:pt x="104" y="30"/>
                </a:cubicBezTo>
                <a:cubicBezTo>
                  <a:pt x="104" y="30"/>
                  <a:pt x="104" y="30"/>
                  <a:pt x="104" y="30"/>
                </a:cubicBezTo>
                <a:cubicBezTo>
                  <a:pt x="75" y="30"/>
                  <a:pt x="48" y="41"/>
                  <a:pt x="28" y="62"/>
                </a:cubicBezTo>
                <a:cubicBezTo>
                  <a:pt x="25" y="65"/>
                  <a:pt x="21" y="66"/>
                  <a:pt x="17" y="66"/>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15"/>
          <p:cNvSpPr/>
          <p:nvPr/>
        </p:nvSpPr>
        <p:spPr bwMode="auto">
          <a:xfrm>
            <a:off x="1033705" y="2996260"/>
            <a:ext cx="2985780" cy="1082042"/>
          </a:xfrm>
          <a:custGeom>
            <a:avLst/>
            <a:gdLst>
              <a:gd name="T0" fmla="*/ 16 w 272"/>
              <a:gd name="T1" fmla="*/ 98 h 99"/>
              <a:gd name="T2" fmla="*/ 6 w 272"/>
              <a:gd name="T3" fmla="*/ 93 h 99"/>
              <a:gd name="T4" fmla="*/ 6 w 272"/>
              <a:gd name="T5" fmla="*/ 72 h 99"/>
              <a:gd name="T6" fmla="*/ 266 w 272"/>
              <a:gd name="T7" fmla="*/ 71 h 99"/>
              <a:gd name="T8" fmla="*/ 266 w 272"/>
              <a:gd name="T9" fmla="*/ 93 h 99"/>
              <a:gd name="T10" fmla="*/ 244 w 272"/>
              <a:gd name="T11" fmla="*/ 93 h 99"/>
              <a:gd name="T12" fmla="*/ 27 w 272"/>
              <a:gd name="T13" fmla="*/ 93 h 99"/>
              <a:gd name="T14" fmla="*/ 16 w 272"/>
              <a:gd name="T15" fmla="*/ 98 h 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2" h="99">
                <a:moveTo>
                  <a:pt x="16" y="98"/>
                </a:moveTo>
                <a:cubicBezTo>
                  <a:pt x="12" y="98"/>
                  <a:pt x="9" y="96"/>
                  <a:pt x="6" y="93"/>
                </a:cubicBezTo>
                <a:cubicBezTo>
                  <a:pt x="0" y="87"/>
                  <a:pt x="0" y="78"/>
                  <a:pt x="6" y="72"/>
                </a:cubicBezTo>
                <a:cubicBezTo>
                  <a:pt x="77" y="0"/>
                  <a:pt x="194" y="0"/>
                  <a:pt x="266" y="71"/>
                </a:cubicBezTo>
                <a:cubicBezTo>
                  <a:pt x="272" y="77"/>
                  <a:pt x="272" y="87"/>
                  <a:pt x="266" y="93"/>
                </a:cubicBezTo>
                <a:cubicBezTo>
                  <a:pt x="260" y="99"/>
                  <a:pt x="250" y="99"/>
                  <a:pt x="244" y="93"/>
                </a:cubicBezTo>
                <a:cubicBezTo>
                  <a:pt x="184" y="33"/>
                  <a:pt x="87" y="33"/>
                  <a:pt x="27" y="93"/>
                </a:cubicBezTo>
                <a:cubicBezTo>
                  <a:pt x="24" y="96"/>
                  <a:pt x="20" y="98"/>
                  <a:pt x="16" y="98"/>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16"/>
          <p:cNvSpPr/>
          <p:nvPr/>
        </p:nvSpPr>
        <p:spPr bwMode="auto">
          <a:xfrm>
            <a:off x="2148284" y="4843047"/>
            <a:ext cx="740345" cy="732207"/>
          </a:xfrm>
          <a:custGeom>
            <a:avLst/>
            <a:gdLst>
              <a:gd name="T0" fmla="*/ 55 w 67"/>
              <a:gd name="T1" fmla="*/ 12 h 67"/>
              <a:gd name="T2" fmla="*/ 55 w 67"/>
              <a:gd name="T3" fmla="*/ 55 h 67"/>
              <a:gd name="T4" fmla="*/ 12 w 67"/>
              <a:gd name="T5" fmla="*/ 55 h 67"/>
              <a:gd name="T6" fmla="*/ 12 w 67"/>
              <a:gd name="T7" fmla="*/ 12 h 67"/>
              <a:gd name="T8" fmla="*/ 55 w 67"/>
              <a:gd name="T9" fmla="*/ 12 h 67"/>
            </a:gdLst>
            <a:ahLst/>
            <a:cxnLst>
              <a:cxn ang="0">
                <a:pos x="T0" y="T1"/>
              </a:cxn>
              <a:cxn ang="0">
                <a:pos x="T2" y="T3"/>
              </a:cxn>
              <a:cxn ang="0">
                <a:pos x="T4" y="T5"/>
              </a:cxn>
              <a:cxn ang="0">
                <a:pos x="T6" y="T7"/>
              </a:cxn>
              <a:cxn ang="0">
                <a:pos x="T8" y="T9"/>
              </a:cxn>
            </a:cxnLst>
            <a:rect l="0" t="0" r="r" b="b"/>
            <a:pathLst>
              <a:path w="67" h="67">
                <a:moveTo>
                  <a:pt x="55" y="12"/>
                </a:moveTo>
                <a:cubicBezTo>
                  <a:pt x="67" y="24"/>
                  <a:pt x="67" y="43"/>
                  <a:pt x="55" y="55"/>
                </a:cubicBezTo>
                <a:cubicBezTo>
                  <a:pt x="43" y="67"/>
                  <a:pt x="24" y="67"/>
                  <a:pt x="12" y="55"/>
                </a:cubicBezTo>
                <a:cubicBezTo>
                  <a:pt x="0" y="43"/>
                  <a:pt x="0" y="24"/>
                  <a:pt x="12" y="12"/>
                </a:cubicBezTo>
                <a:cubicBezTo>
                  <a:pt x="24" y="0"/>
                  <a:pt x="43" y="0"/>
                  <a:pt x="55" y="12"/>
                </a:cubicBezTo>
                <a:close/>
              </a:path>
            </a:pathLst>
          </a:custGeom>
          <a:solidFill>
            <a:schemeClr val="tx1">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nvGrpSpPr>
          <p:cNvPr id="8" name="组合 7"/>
          <p:cNvGrpSpPr/>
          <p:nvPr/>
        </p:nvGrpSpPr>
        <p:grpSpPr>
          <a:xfrm>
            <a:off x="5055579" y="3311332"/>
            <a:ext cx="4649114" cy="2199833"/>
            <a:chOff x="4913745" y="3179685"/>
            <a:chExt cx="4649114" cy="2199833"/>
          </a:xfrm>
        </p:grpSpPr>
        <p:sp>
          <p:nvSpPr>
            <p:cNvPr id="40" name="文本框 39"/>
            <p:cNvSpPr txBox="1"/>
            <p:nvPr/>
          </p:nvSpPr>
          <p:spPr>
            <a:xfrm>
              <a:off x="4913745" y="3179685"/>
              <a:ext cx="4649114" cy="2199833"/>
            </a:xfrm>
            <a:prstGeom prst="rect">
              <a:avLst/>
            </a:prstGeom>
            <a:noFill/>
          </p:spPr>
          <p:txBody>
            <a:bodyPr wrap="square" rtlCol="0">
              <a:spAutoFit/>
            </a:bodyPr>
            <a:lstStyle/>
            <a:p>
              <a:pPr indent="457200" algn="just">
                <a:lnSpc>
                  <a:spcPct val="110000"/>
                </a:lnSpc>
              </a:pP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增加现场控制巡检机器人的功能。由于上位机终端可能距离综采工作面较远，在例行检查、维修或现场定制路线时，远程控制巡检机器人太过麻烦而且不精准，若开发手机</a:t>
              </a:r>
              <a:r>
                <a:rPr lang="en-US" altLang="zh-CN" sz="1800" dirty="0">
                  <a:effectLst/>
                  <a:latin typeface="微软雅黑" panose="020B0503020204020204" pitchFamily="34" charset="-122"/>
                  <a:ea typeface="微软雅黑" panose="020B0503020204020204" pitchFamily="34" charset="-122"/>
                </a:rPr>
                <a:t>APP</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或者小程序进行控制，那么不仅可以实时查询巡检机器人相关数据，还可以现场控制巡检机器人完成指定功能。</a:t>
              </a:r>
              <a:endParaRPr lang="zh-CN" altLang="en-US" sz="1400" dirty="0">
                <a:solidFill>
                  <a:schemeClr val="tx1">
                    <a:lumMod val="60000"/>
                    <a:lumOff val="40000"/>
                  </a:schemeClr>
                </a:solidFill>
                <a:latin typeface="微软雅黑" panose="020B0503020204020204" pitchFamily="34" charset="-122"/>
                <a:ea typeface="微软雅黑" panose="020B0503020204020204" pitchFamily="34" charset="-122"/>
                <a:cs typeface="Arial" pitchFamily="34" charset="0"/>
              </a:endParaRPr>
            </a:p>
          </p:txBody>
        </p:sp>
        <p:grpSp>
          <p:nvGrpSpPr>
            <p:cNvPr id="42" name="组合 41"/>
            <p:cNvGrpSpPr/>
            <p:nvPr/>
          </p:nvGrpSpPr>
          <p:grpSpPr>
            <a:xfrm>
              <a:off x="5158407" y="3270111"/>
              <a:ext cx="250877" cy="216697"/>
              <a:chOff x="7408863" y="1169988"/>
              <a:chExt cx="582613" cy="503237"/>
            </a:xfrm>
            <a:solidFill>
              <a:schemeClr val="accent1"/>
            </a:solidFill>
          </p:grpSpPr>
          <p:sp>
            <p:nvSpPr>
              <p:cNvPr id="43" name="Freeform 13"/>
              <p:cNvSpPr/>
              <p:nvPr/>
            </p:nvSpPr>
            <p:spPr bwMode="auto">
              <a:xfrm>
                <a:off x="7546975" y="1404938"/>
                <a:ext cx="304800" cy="115888"/>
              </a:xfrm>
              <a:custGeom>
                <a:avLst/>
                <a:gdLst>
                  <a:gd name="T0" fmla="*/ 16 w 142"/>
                  <a:gd name="T1" fmla="*/ 53 h 54"/>
                  <a:gd name="T2" fmla="*/ 6 w 142"/>
                  <a:gd name="T3" fmla="*/ 48 h 54"/>
                  <a:gd name="T4" fmla="*/ 6 w 142"/>
                  <a:gd name="T5" fmla="*/ 27 h 54"/>
                  <a:gd name="T6" fmla="*/ 71 w 142"/>
                  <a:gd name="T7" fmla="*/ 0 h 54"/>
                  <a:gd name="T8" fmla="*/ 71 w 142"/>
                  <a:gd name="T9" fmla="*/ 0 h 54"/>
                  <a:gd name="T10" fmla="*/ 136 w 142"/>
                  <a:gd name="T11" fmla="*/ 26 h 54"/>
                  <a:gd name="T12" fmla="*/ 136 w 142"/>
                  <a:gd name="T13" fmla="*/ 48 h 54"/>
                  <a:gd name="T14" fmla="*/ 114 w 142"/>
                  <a:gd name="T15" fmla="*/ 48 h 54"/>
                  <a:gd name="T16" fmla="*/ 71 w 142"/>
                  <a:gd name="T17" fmla="*/ 30 h 54"/>
                  <a:gd name="T18" fmla="*/ 71 w 142"/>
                  <a:gd name="T19" fmla="*/ 30 h 54"/>
                  <a:gd name="T20" fmla="*/ 27 w 142"/>
                  <a:gd name="T21" fmla="*/ 48 h 54"/>
                  <a:gd name="T22" fmla="*/ 16 w 142"/>
                  <a:gd name="T23" fmla="*/ 5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54">
                    <a:moveTo>
                      <a:pt x="16" y="53"/>
                    </a:moveTo>
                    <a:cubicBezTo>
                      <a:pt x="13" y="53"/>
                      <a:pt x="9" y="51"/>
                      <a:pt x="6" y="48"/>
                    </a:cubicBezTo>
                    <a:cubicBezTo>
                      <a:pt x="0" y="42"/>
                      <a:pt x="0" y="33"/>
                      <a:pt x="6" y="27"/>
                    </a:cubicBezTo>
                    <a:cubicBezTo>
                      <a:pt x="23" y="9"/>
                      <a:pt x="46" y="0"/>
                      <a:pt x="71" y="0"/>
                    </a:cubicBezTo>
                    <a:cubicBezTo>
                      <a:pt x="71" y="0"/>
                      <a:pt x="71" y="0"/>
                      <a:pt x="71" y="0"/>
                    </a:cubicBezTo>
                    <a:cubicBezTo>
                      <a:pt x="95" y="0"/>
                      <a:pt x="118" y="9"/>
                      <a:pt x="136" y="26"/>
                    </a:cubicBezTo>
                    <a:cubicBezTo>
                      <a:pt x="142" y="32"/>
                      <a:pt x="142" y="42"/>
                      <a:pt x="136" y="48"/>
                    </a:cubicBezTo>
                    <a:cubicBezTo>
                      <a:pt x="130" y="54"/>
                      <a:pt x="120" y="54"/>
                      <a:pt x="114" y="48"/>
                    </a:cubicBezTo>
                    <a:cubicBezTo>
                      <a:pt x="102" y="37"/>
                      <a:pt x="87" y="30"/>
                      <a:pt x="71" y="30"/>
                    </a:cubicBezTo>
                    <a:cubicBezTo>
                      <a:pt x="71" y="30"/>
                      <a:pt x="71" y="30"/>
                      <a:pt x="71" y="30"/>
                    </a:cubicBezTo>
                    <a:cubicBezTo>
                      <a:pt x="54" y="30"/>
                      <a:pt x="39" y="37"/>
                      <a:pt x="27" y="48"/>
                    </a:cubicBezTo>
                    <a:cubicBezTo>
                      <a:pt x="24" y="51"/>
                      <a:pt x="20" y="53"/>
                      <a:pt x="16"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14"/>
              <p:cNvSpPr/>
              <p:nvPr/>
            </p:nvSpPr>
            <p:spPr bwMode="auto">
              <a:xfrm>
                <a:off x="7477125" y="1306513"/>
                <a:ext cx="442913" cy="146050"/>
              </a:xfrm>
              <a:custGeom>
                <a:avLst/>
                <a:gdLst>
                  <a:gd name="T0" fmla="*/ 17 w 207"/>
                  <a:gd name="T1" fmla="*/ 66 h 68"/>
                  <a:gd name="T2" fmla="*/ 6 w 207"/>
                  <a:gd name="T3" fmla="*/ 62 h 68"/>
                  <a:gd name="T4" fmla="*/ 6 w 207"/>
                  <a:gd name="T5" fmla="*/ 40 h 68"/>
                  <a:gd name="T6" fmla="*/ 104 w 207"/>
                  <a:gd name="T7" fmla="*/ 0 h 68"/>
                  <a:gd name="T8" fmla="*/ 104 w 207"/>
                  <a:gd name="T9" fmla="*/ 0 h 68"/>
                  <a:gd name="T10" fmla="*/ 201 w 207"/>
                  <a:gd name="T11" fmla="*/ 40 h 68"/>
                  <a:gd name="T12" fmla="*/ 201 w 207"/>
                  <a:gd name="T13" fmla="*/ 62 h 68"/>
                  <a:gd name="T14" fmla="*/ 180 w 207"/>
                  <a:gd name="T15" fmla="*/ 62 h 68"/>
                  <a:gd name="T16" fmla="*/ 104 w 207"/>
                  <a:gd name="T17" fmla="*/ 30 h 68"/>
                  <a:gd name="T18" fmla="*/ 104 w 207"/>
                  <a:gd name="T19" fmla="*/ 30 h 68"/>
                  <a:gd name="T20" fmla="*/ 28 w 207"/>
                  <a:gd name="T21" fmla="*/ 62 h 68"/>
                  <a:gd name="T22" fmla="*/ 17 w 207"/>
                  <a:gd name="T23"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68">
                    <a:moveTo>
                      <a:pt x="17" y="66"/>
                    </a:moveTo>
                    <a:cubicBezTo>
                      <a:pt x="13" y="66"/>
                      <a:pt x="9" y="65"/>
                      <a:pt x="6" y="62"/>
                    </a:cubicBezTo>
                    <a:cubicBezTo>
                      <a:pt x="0" y="56"/>
                      <a:pt x="0" y="46"/>
                      <a:pt x="6" y="40"/>
                    </a:cubicBezTo>
                    <a:cubicBezTo>
                      <a:pt x="32" y="14"/>
                      <a:pt x="67" y="0"/>
                      <a:pt x="104" y="0"/>
                    </a:cubicBezTo>
                    <a:cubicBezTo>
                      <a:pt x="104" y="0"/>
                      <a:pt x="104" y="0"/>
                      <a:pt x="104" y="0"/>
                    </a:cubicBezTo>
                    <a:cubicBezTo>
                      <a:pt x="141" y="0"/>
                      <a:pt x="175" y="14"/>
                      <a:pt x="201" y="40"/>
                    </a:cubicBezTo>
                    <a:cubicBezTo>
                      <a:pt x="207" y="46"/>
                      <a:pt x="207" y="56"/>
                      <a:pt x="201" y="62"/>
                    </a:cubicBezTo>
                    <a:cubicBezTo>
                      <a:pt x="195" y="68"/>
                      <a:pt x="186" y="68"/>
                      <a:pt x="180" y="62"/>
                    </a:cubicBezTo>
                    <a:cubicBezTo>
                      <a:pt x="159" y="41"/>
                      <a:pt x="132" y="30"/>
                      <a:pt x="104" y="30"/>
                    </a:cubicBezTo>
                    <a:cubicBezTo>
                      <a:pt x="104" y="30"/>
                      <a:pt x="104" y="30"/>
                      <a:pt x="104" y="30"/>
                    </a:cubicBezTo>
                    <a:cubicBezTo>
                      <a:pt x="75" y="30"/>
                      <a:pt x="48" y="41"/>
                      <a:pt x="28" y="62"/>
                    </a:cubicBezTo>
                    <a:cubicBezTo>
                      <a:pt x="25" y="65"/>
                      <a:pt x="21" y="66"/>
                      <a:pt x="17"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15"/>
              <p:cNvSpPr/>
              <p:nvPr/>
            </p:nvSpPr>
            <p:spPr bwMode="auto">
              <a:xfrm>
                <a:off x="7408863" y="1169988"/>
                <a:ext cx="582613" cy="211137"/>
              </a:xfrm>
              <a:custGeom>
                <a:avLst/>
                <a:gdLst>
                  <a:gd name="T0" fmla="*/ 16 w 272"/>
                  <a:gd name="T1" fmla="*/ 98 h 99"/>
                  <a:gd name="T2" fmla="*/ 6 w 272"/>
                  <a:gd name="T3" fmla="*/ 93 h 99"/>
                  <a:gd name="T4" fmla="*/ 6 w 272"/>
                  <a:gd name="T5" fmla="*/ 72 h 99"/>
                  <a:gd name="T6" fmla="*/ 266 w 272"/>
                  <a:gd name="T7" fmla="*/ 71 h 99"/>
                  <a:gd name="T8" fmla="*/ 266 w 272"/>
                  <a:gd name="T9" fmla="*/ 93 h 99"/>
                  <a:gd name="T10" fmla="*/ 244 w 272"/>
                  <a:gd name="T11" fmla="*/ 93 h 99"/>
                  <a:gd name="T12" fmla="*/ 27 w 272"/>
                  <a:gd name="T13" fmla="*/ 93 h 99"/>
                  <a:gd name="T14" fmla="*/ 16 w 272"/>
                  <a:gd name="T15" fmla="*/ 98 h 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2" h="99">
                    <a:moveTo>
                      <a:pt x="16" y="98"/>
                    </a:moveTo>
                    <a:cubicBezTo>
                      <a:pt x="12" y="98"/>
                      <a:pt x="9" y="96"/>
                      <a:pt x="6" y="93"/>
                    </a:cubicBezTo>
                    <a:cubicBezTo>
                      <a:pt x="0" y="87"/>
                      <a:pt x="0" y="78"/>
                      <a:pt x="6" y="72"/>
                    </a:cubicBezTo>
                    <a:cubicBezTo>
                      <a:pt x="77" y="0"/>
                      <a:pt x="194" y="0"/>
                      <a:pt x="266" y="71"/>
                    </a:cubicBezTo>
                    <a:cubicBezTo>
                      <a:pt x="272" y="77"/>
                      <a:pt x="272" y="87"/>
                      <a:pt x="266" y="93"/>
                    </a:cubicBezTo>
                    <a:cubicBezTo>
                      <a:pt x="260" y="99"/>
                      <a:pt x="250" y="99"/>
                      <a:pt x="244" y="93"/>
                    </a:cubicBezTo>
                    <a:cubicBezTo>
                      <a:pt x="184" y="33"/>
                      <a:pt x="87" y="33"/>
                      <a:pt x="27" y="93"/>
                    </a:cubicBezTo>
                    <a:cubicBezTo>
                      <a:pt x="24" y="96"/>
                      <a:pt x="20" y="98"/>
                      <a:pt x="16" y="9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16"/>
              <p:cNvSpPr/>
              <p:nvPr/>
            </p:nvSpPr>
            <p:spPr bwMode="auto">
              <a:xfrm>
                <a:off x="7626350" y="1530350"/>
                <a:ext cx="144463" cy="142875"/>
              </a:xfrm>
              <a:custGeom>
                <a:avLst/>
                <a:gdLst>
                  <a:gd name="T0" fmla="*/ 55 w 67"/>
                  <a:gd name="T1" fmla="*/ 12 h 67"/>
                  <a:gd name="T2" fmla="*/ 55 w 67"/>
                  <a:gd name="T3" fmla="*/ 55 h 67"/>
                  <a:gd name="T4" fmla="*/ 12 w 67"/>
                  <a:gd name="T5" fmla="*/ 55 h 67"/>
                  <a:gd name="T6" fmla="*/ 12 w 67"/>
                  <a:gd name="T7" fmla="*/ 12 h 67"/>
                  <a:gd name="T8" fmla="*/ 55 w 67"/>
                  <a:gd name="T9" fmla="*/ 12 h 67"/>
                </a:gdLst>
                <a:ahLst/>
                <a:cxnLst>
                  <a:cxn ang="0">
                    <a:pos x="T0" y="T1"/>
                  </a:cxn>
                  <a:cxn ang="0">
                    <a:pos x="T2" y="T3"/>
                  </a:cxn>
                  <a:cxn ang="0">
                    <a:pos x="T4" y="T5"/>
                  </a:cxn>
                  <a:cxn ang="0">
                    <a:pos x="T6" y="T7"/>
                  </a:cxn>
                  <a:cxn ang="0">
                    <a:pos x="T8" y="T9"/>
                  </a:cxn>
                </a:cxnLst>
                <a:rect l="0" t="0" r="r" b="b"/>
                <a:pathLst>
                  <a:path w="67" h="67">
                    <a:moveTo>
                      <a:pt x="55" y="12"/>
                    </a:moveTo>
                    <a:cubicBezTo>
                      <a:pt x="67" y="24"/>
                      <a:pt x="67" y="43"/>
                      <a:pt x="55" y="55"/>
                    </a:cubicBezTo>
                    <a:cubicBezTo>
                      <a:pt x="43" y="67"/>
                      <a:pt x="24" y="67"/>
                      <a:pt x="12" y="55"/>
                    </a:cubicBezTo>
                    <a:cubicBezTo>
                      <a:pt x="0" y="43"/>
                      <a:pt x="0" y="24"/>
                      <a:pt x="12" y="12"/>
                    </a:cubicBezTo>
                    <a:cubicBezTo>
                      <a:pt x="24" y="0"/>
                      <a:pt x="43" y="0"/>
                      <a:pt x="5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4" name="文本框 3">
            <a:extLst>
              <a:ext uri="{FF2B5EF4-FFF2-40B4-BE49-F238E27FC236}">
                <a16:creationId xmlns:a16="http://schemas.microsoft.com/office/drawing/2014/main" id="{7FEBAA18-99DC-C91D-4846-08234661FCFD}"/>
              </a:ext>
            </a:extLst>
          </p:cNvPr>
          <p:cNvSpPr txBox="1"/>
          <p:nvPr/>
        </p:nvSpPr>
        <p:spPr>
          <a:xfrm>
            <a:off x="979926" y="1115386"/>
            <a:ext cx="8151307" cy="1442061"/>
          </a:xfrm>
          <a:prstGeom prst="rect">
            <a:avLst/>
          </a:prstGeom>
          <a:noFill/>
        </p:spPr>
        <p:txBody>
          <a:bodyPr wrap="square">
            <a:spAutoFit/>
          </a:bodyPr>
          <a:lstStyle/>
          <a:p>
            <a:pPr indent="304800" algn="just">
              <a:lnSpc>
                <a:spcPct val="125000"/>
              </a:lnSpc>
            </a:pPr>
            <a:r>
              <a:rPr lang="zh-CN" altLang="zh-CN" sz="1800" kern="100" dirty="0">
                <a:solidFill>
                  <a:srgbClr val="AB3341"/>
                </a:solidFill>
                <a:effectLst/>
                <a:latin typeface="微软雅黑" panose="020B0503020204020204" pitchFamily="34" charset="-122"/>
                <a:ea typeface="微软雅黑" panose="020B0503020204020204" pitchFamily="34" charset="-122"/>
              </a:rPr>
              <a:t>本文对煤矿综采工作面轨道式巡检机器人机械系统进行了简要设计与阐述，着重对巡检机器人控制系统进行了设计与研究。截至目前已完成样机制造、搭建环境测试等工作，基本达到预期效果。但由于条件有限与时间限制，仍然存在许多问题和不足亟需解决和改进，主要包含以下几个方面：</a:t>
            </a:r>
            <a:endParaRPr lang="zh-CN" altLang="zh-CN" sz="1400" kern="100" dirty="0">
              <a:solidFill>
                <a:srgbClr val="AB3341"/>
              </a:solidFill>
              <a:effectLst/>
              <a:latin typeface="微软雅黑" panose="020B0503020204020204" pitchFamily="34" charset="-122"/>
              <a:ea typeface="微软雅黑" panose="020B0503020204020204" pitchFamily="34" charset="-122"/>
            </a:endParaRPr>
          </a:p>
        </p:txBody>
      </p:sp>
    </p:spTree>
  </p:cSld>
  <p:clrMapOvr>
    <a:masterClrMapping/>
  </p:clrMapOvr>
  <p:transition spd="slow">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展望</a:t>
            </a:r>
          </a:p>
        </p:txBody>
      </p:sp>
      <p:sp>
        <p:nvSpPr>
          <p:cNvPr id="17" name="Freeform 13"/>
          <p:cNvSpPr/>
          <p:nvPr/>
        </p:nvSpPr>
        <p:spPr bwMode="auto">
          <a:xfrm>
            <a:off x="1741503" y="4200334"/>
            <a:ext cx="1562042" cy="593904"/>
          </a:xfrm>
          <a:custGeom>
            <a:avLst/>
            <a:gdLst>
              <a:gd name="T0" fmla="*/ 16 w 142"/>
              <a:gd name="T1" fmla="*/ 53 h 54"/>
              <a:gd name="T2" fmla="*/ 6 w 142"/>
              <a:gd name="T3" fmla="*/ 48 h 54"/>
              <a:gd name="T4" fmla="*/ 6 w 142"/>
              <a:gd name="T5" fmla="*/ 27 h 54"/>
              <a:gd name="T6" fmla="*/ 71 w 142"/>
              <a:gd name="T7" fmla="*/ 0 h 54"/>
              <a:gd name="T8" fmla="*/ 71 w 142"/>
              <a:gd name="T9" fmla="*/ 0 h 54"/>
              <a:gd name="T10" fmla="*/ 136 w 142"/>
              <a:gd name="T11" fmla="*/ 26 h 54"/>
              <a:gd name="T12" fmla="*/ 136 w 142"/>
              <a:gd name="T13" fmla="*/ 48 h 54"/>
              <a:gd name="T14" fmla="*/ 114 w 142"/>
              <a:gd name="T15" fmla="*/ 48 h 54"/>
              <a:gd name="T16" fmla="*/ 71 w 142"/>
              <a:gd name="T17" fmla="*/ 30 h 54"/>
              <a:gd name="T18" fmla="*/ 71 w 142"/>
              <a:gd name="T19" fmla="*/ 30 h 54"/>
              <a:gd name="T20" fmla="*/ 27 w 142"/>
              <a:gd name="T21" fmla="*/ 48 h 54"/>
              <a:gd name="T22" fmla="*/ 16 w 142"/>
              <a:gd name="T23" fmla="*/ 5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54">
                <a:moveTo>
                  <a:pt x="16" y="53"/>
                </a:moveTo>
                <a:cubicBezTo>
                  <a:pt x="13" y="53"/>
                  <a:pt x="9" y="51"/>
                  <a:pt x="6" y="48"/>
                </a:cubicBezTo>
                <a:cubicBezTo>
                  <a:pt x="0" y="42"/>
                  <a:pt x="0" y="33"/>
                  <a:pt x="6" y="27"/>
                </a:cubicBezTo>
                <a:cubicBezTo>
                  <a:pt x="23" y="9"/>
                  <a:pt x="46" y="0"/>
                  <a:pt x="71" y="0"/>
                </a:cubicBezTo>
                <a:cubicBezTo>
                  <a:pt x="71" y="0"/>
                  <a:pt x="71" y="0"/>
                  <a:pt x="71" y="0"/>
                </a:cubicBezTo>
                <a:cubicBezTo>
                  <a:pt x="95" y="0"/>
                  <a:pt x="118" y="9"/>
                  <a:pt x="136" y="26"/>
                </a:cubicBezTo>
                <a:cubicBezTo>
                  <a:pt x="142" y="32"/>
                  <a:pt x="142" y="42"/>
                  <a:pt x="136" y="48"/>
                </a:cubicBezTo>
                <a:cubicBezTo>
                  <a:pt x="130" y="54"/>
                  <a:pt x="120" y="54"/>
                  <a:pt x="114" y="48"/>
                </a:cubicBezTo>
                <a:cubicBezTo>
                  <a:pt x="102" y="37"/>
                  <a:pt x="87" y="30"/>
                  <a:pt x="71" y="30"/>
                </a:cubicBezTo>
                <a:cubicBezTo>
                  <a:pt x="71" y="30"/>
                  <a:pt x="71" y="30"/>
                  <a:pt x="71" y="30"/>
                </a:cubicBezTo>
                <a:cubicBezTo>
                  <a:pt x="54" y="30"/>
                  <a:pt x="39" y="37"/>
                  <a:pt x="27" y="48"/>
                </a:cubicBezTo>
                <a:cubicBezTo>
                  <a:pt x="24" y="51"/>
                  <a:pt x="20" y="53"/>
                  <a:pt x="16" y="53"/>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4"/>
          <p:cNvSpPr/>
          <p:nvPr/>
        </p:nvSpPr>
        <p:spPr bwMode="auto">
          <a:xfrm>
            <a:off x="1383535" y="3695925"/>
            <a:ext cx="2269844" cy="748478"/>
          </a:xfrm>
          <a:custGeom>
            <a:avLst/>
            <a:gdLst>
              <a:gd name="T0" fmla="*/ 17 w 207"/>
              <a:gd name="T1" fmla="*/ 66 h 68"/>
              <a:gd name="T2" fmla="*/ 6 w 207"/>
              <a:gd name="T3" fmla="*/ 62 h 68"/>
              <a:gd name="T4" fmla="*/ 6 w 207"/>
              <a:gd name="T5" fmla="*/ 40 h 68"/>
              <a:gd name="T6" fmla="*/ 104 w 207"/>
              <a:gd name="T7" fmla="*/ 0 h 68"/>
              <a:gd name="T8" fmla="*/ 104 w 207"/>
              <a:gd name="T9" fmla="*/ 0 h 68"/>
              <a:gd name="T10" fmla="*/ 201 w 207"/>
              <a:gd name="T11" fmla="*/ 40 h 68"/>
              <a:gd name="T12" fmla="*/ 201 w 207"/>
              <a:gd name="T13" fmla="*/ 62 h 68"/>
              <a:gd name="T14" fmla="*/ 180 w 207"/>
              <a:gd name="T15" fmla="*/ 62 h 68"/>
              <a:gd name="T16" fmla="*/ 104 w 207"/>
              <a:gd name="T17" fmla="*/ 30 h 68"/>
              <a:gd name="T18" fmla="*/ 104 w 207"/>
              <a:gd name="T19" fmla="*/ 30 h 68"/>
              <a:gd name="T20" fmla="*/ 28 w 207"/>
              <a:gd name="T21" fmla="*/ 62 h 68"/>
              <a:gd name="T22" fmla="*/ 17 w 207"/>
              <a:gd name="T23"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68">
                <a:moveTo>
                  <a:pt x="17" y="66"/>
                </a:moveTo>
                <a:cubicBezTo>
                  <a:pt x="13" y="66"/>
                  <a:pt x="9" y="65"/>
                  <a:pt x="6" y="62"/>
                </a:cubicBezTo>
                <a:cubicBezTo>
                  <a:pt x="0" y="56"/>
                  <a:pt x="0" y="46"/>
                  <a:pt x="6" y="40"/>
                </a:cubicBezTo>
                <a:cubicBezTo>
                  <a:pt x="32" y="14"/>
                  <a:pt x="67" y="0"/>
                  <a:pt x="104" y="0"/>
                </a:cubicBezTo>
                <a:cubicBezTo>
                  <a:pt x="104" y="0"/>
                  <a:pt x="104" y="0"/>
                  <a:pt x="104" y="0"/>
                </a:cubicBezTo>
                <a:cubicBezTo>
                  <a:pt x="141" y="0"/>
                  <a:pt x="175" y="14"/>
                  <a:pt x="201" y="40"/>
                </a:cubicBezTo>
                <a:cubicBezTo>
                  <a:pt x="207" y="46"/>
                  <a:pt x="207" y="56"/>
                  <a:pt x="201" y="62"/>
                </a:cubicBezTo>
                <a:cubicBezTo>
                  <a:pt x="195" y="68"/>
                  <a:pt x="186" y="68"/>
                  <a:pt x="180" y="62"/>
                </a:cubicBezTo>
                <a:cubicBezTo>
                  <a:pt x="159" y="41"/>
                  <a:pt x="132" y="30"/>
                  <a:pt x="104" y="30"/>
                </a:cubicBezTo>
                <a:cubicBezTo>
                  <a:pt x="104" y="30"/>
                  <a:pt x="104" y="30"/>
                  <a:pt x="104" y="30"/>
                </a:cubicBezTo>
                <a:cubicBezTo>
                  <a:pt x="75" y="30"/>
                  <a:pt x="48" y="41"/>
                  <a:pt x="28" y="62"/>
                </a:cubicBezTo>
                <a:cubicBezTo>
                  <a:pt x="25" y="65"/>
                  <a:pt x="21" y="66"/>
                  <a:pt x="17" y="66"/>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15"/>
          <p:cNvSpPr/>
          <p:nvPr/>
        </p:nvSpPr>
        <p:spPr bwMode="auto">
          <a:xfrm>
            <a:off x="1033705" y="2996260"/>
            <a:ext cx="2985780" cy="1082042"/>
          </a:xfrm>
          <a:custGeom>
            <a:avLst/>
            <a:gdLst>
              <a:gd name="T0" fmla="*/ 16 w 272"/>
              <a:gd name="T1" fmla="*/ 98 h 99"/>
              <a:gd name="T2" fmla="*/ 6 w 272"/>
              <a:gd name="T3" fmla="*/ 93 h 99"/>
              <a:gd name="T4" fmla="*/ 6 w 272"/>
              <a:gd name="T5" fmla="*/ 72 h 99"/>
              <a:gd name="T6" fmla="*/ 266 w 272"/>
              <a:gd name="T7" fmla="*/ 71 h 99"/>
              <a:gd name="T8" fmla="*/ 266 w 272"/>
              <a:gd name="T9" fmla="*/ 93 h 99"/>
              <a:gd name="T10" fmla="*/ 244 w 272"/>
              <a:gd name="T11" fmla="*/ 93 h 99"/>
              <a:gd name="T12" fmla="*/ 27 w 272"/>
              <a:gd name="T13" fmla="*/ 93 h 99"/>
              <a:gd name="T14" fmla="*/ 16 w 272"/>
              <a:gd name="T15" fmla="*/ 98 h 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2" h="99">
                <a:moveTo>
                  <a:pt x="16" y="98"/>
                </a:moveTo>
                <a:cubicBezTo>
                  <a:pt x="12" y="98"/>
                  <a:pt x="9" y="96"/>
                  <a:pt x="6" y="93"/>
                </a:cubicBezTo>
                <a:cubicBezTo>
                  <a:pt x="0" y="87"/>
                  <a:pt x="0" y="78"/>
                  <a:pt x="6" y="72"/>
                </a:cubicBezTo>
                <a:cubicBezTo>
                  <a:pt x="77" y="0"/>
                  <a:pt x="194" y="0"/>
                  <a:pt x="266" y="71"/>
                </a:cubicBezTo>
                <a:cubicBezTo>
                  <a:pt x="272" y="77"/>
                  <a:pt x="272" y="87"/>
                  <a:pt x="266" y="93"/>
                </a:cubicBezTo>
                <a:cubicBezTo>
                  <a:pt x="260" y="99"/>
                  <a:pt x="250" y="99"/>
                  <a:pt x="244" y="93"/>
                </a:cubicBezTo>
                <a:cubicBezTo>
                  <a:pt x="184" y="33"/>
                  <a:pt x="87" y="33"/>
                  <a:pt x="27" y="93"/>
                </a:cubicBezTo>
                <a:cubicBezTo>
                  <a:pt x="24" y="96"/>
                  <a:pt x="20" y="98"/>
                  <a:pt x="16" y="98"/>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16"/>
          <p:cNvSpPr/>
          <p:nvPr/>
        </p:nvSpPr>
        <p:spPr bwMode="auto">
          <a:xfrm>
            <a:off x="2148284" y="4843047"/>
            <a:ext cx="740345" cy="732207"/>
          </a:xfrm>
          <a:custGeom>
            <a:avLst/>
            <a:gdLst>
              <a:gd name="T0" fmla="*/ 55 w 67"/>
              <a:gd name="T1" fmla="*/ 12 h 67"/>
              <a:gd name="T2" fmla="*/ 55 w 67"/>
              <a:gd name="T3" fmla="*/ 55 h 67"/>
              <a:gd name="T4" fmla="*/ 12 w 67"/>
              <a:gd name="T5" fmla="*/ 55 h 67"/>
              <a:gd name="T6" fmla="*/ 12 w 67"/>
              <a:gd name="T7" fmla="*/ 12 h 67"/>
              <a:gd name="T8" fmla="*/ 55 w 67"/>
              <a:gd name="T9" fmla="*/ 12 h 67"/>
            </a:gdLst>
            <a:ahLst/>
            <a:cxnLst>
              <a:cxn ang="0">
                <a:pos x="T0" y="T1"/>
              </a:cxn>
              <a:cxn ang="0">
                <a:pos x="T2" y="T3"/>
              </a:cxn>
              <a:cxn ang="0">
                <a:pos x="T4" y="T5"/>
              </a:cxn>
              <a:cxn ang="0">
                <a:pos x="T6" y="T7"/>
              </a:cxn>
              <a:cxn ang="0">
                <a:pos x="T8" y="T9"/>
              </a:cxn>
            </a:cxnLst>
            <a:rect l="0" t="0" r="r" b="b"/>
            <a:pathLst>
              <a:path w="67" h="67">
                <a:moveTo>
                  <a:pt x="55" y="12"/>
                </a:moveTo>
                <a:cubicBezTo>
                  <a:pt x="67" y="24"/>
                  <a:pt x="67" y="43"/>
                  <a:pt x="55" y="55"/>
                </a:cubicBezTo>
                <a:cubicBezTo>
                  <a:pt x="43" y="67"/>
                  <a:pt x="24" y="67"/>
                  <a:pt x="12" y="55"/>
                </a:cubicBezTo>
                <a:cubicBezTo>
                  <a:pt x="0" y="43"/>
                  <a:pt x="0" y="24"/>
                  <a:pt x="12" y="12"/>
                </a:cubicBezTo>
                <a:cubicBezTo>
                  <a:pt x="24" y="0"/>
                  <a:pt x="43" y="0"/>
                  <a:pt x="55" y="12"/>
                </a:cubicBezTo>
                <a:close/>
              </a:path>
            </a:pathLst>
          </a:custGeom>
          <a:solidFill>
            <a:schemeClr val="tx1">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nvGrpSpPr>
          <p:cNvPr id="8" name="组合 7"/>
          <p:cNvGrpSpPr/>
          <p:nvPr/>
        </p:nvGrpSpPr>
        <p:grpSpPr>
          <a:xfrm>
            <a:off x="5055579" y="3289980"/>
            <a:ext cx="4649114" cy="3008516"/>
            <a:chOff x="4913745" y="3158333"/>
            <a:chExt cx="4649114" cy="3008516"/>
          </a:xfrm>
        </p:grpSpPr>
        <p:sp>
          <p:nvSpPr>
            <p:cNvPr id="40" name="文本框 39"/>
            <p:cNvSpPr txBox="1"/>
            <p:nvPr/>
          </p:nvSpPr>
          <p:spPr>
            <a:xfrm>
              <a:off x="4913745" y="3158333"/>
              <a:ext cx="4649114" cy="3008516"/>
            </a:xfrm>
            <a:prstGeom prst="rect">
              <a:avLst/>
            </a:prstGeom>
            <a:noFill/>
          </p:spPr>
          <p:txBody>
            <a:bodyPr wrap="square" rtlCol="0">
              <a:spAutoFit/>
            </a:bodyPr>
            <a:lstStyle/>
            <a:p>
              <a:pPr indent="304800" algn="just">
                <a:lnSpc>
                  <a:spcPct val="125000"/>
                </a:lnSpc>
              </a:pPr>
              <a:r>
                <a:rPr lang="zh-CN" altLang="zh-CN" sz="1800" kern="100" dirty="0">
                  <a:effectLst/>
                  <a:latin typeface="微软雅黑" panose="020B0503020204020204" pitchFamily="34" charset="-122"/>
                  <a:ea typeface="微软雅黑" panose="020B0503020204020204" pitchFamily="34" charset="-122"/>
                </a:rPr>
                <a:t>（</a:t>
              </a:r>
              <a:r>
                <a:rPr lang="en-US" altLang="zh-CN" sz="1800" kern="100" dirty="0">
                  <a:effectLst/>
                  <a:latin typeface="微软雅黑" panose="020B0503020204020204" pitchFamily="34" charset="-122"/>
                  <a:ea typeface="微软雅黑" panose="020B0503020204020204" pitchFamily="34" charset="-122"/>
                </a:rPr>
                <a:t>2</a:t>
              </a:r>
              <a:r>
                <a:rPr lang="zh-CN" altLang="zh-CN" sz="1800" kern="100" dirty="0">
                  <a:effectLst/>
                  <a:latin typeface="微软雅黑" panose="020B0503020204020204" pitchFamily="34" charset="-122"/>
                  <a:ea typeface="微软雅黑" panose="020B0503020204020204" pitchFamily="34" charset="-122"/>
                </a:rPr>
                <a:t>）电池的充电方式目前为锂电池带线充电，在实际使用过程中由于更换电池仍需要一定的人力劳动。为提高巡检机器人的效率并落实少人或无人化巡检，后续可以研究一套无线充电装置，使机器人在电量低的情况下自动与充电接口对接，同时考虑防爆或本安设计，避免造成事故。</a:t>
              </a:r>
            </a:p>
            <a:p>
              <a:br>
                <a:rPr lang="en-US" altLang="zh-CN" sz="1800" dirty="0">
                  <a:effectLst/>
                  <a:latin typeface="Times New Roman" panose="02020603050405020304" pitchFamily="18" charset="0"/>
                  <a:ea typeface="宋体" panose="02010600030101010101" pitchFamily="2" charset="-122"/>
                </a:rPr>
              </a:br>
              <a:endParaRPr lang="zh-CN" altLang="en-US" sz="1400" dirty="0">
                <a:solidFill>
                  <a:schemeClr val="tx1">
                    <a:lumMod val="60000"/>
                    <a:lumOff val="40000"/>
                  </a:schemeClr>
                </a:solidFill>
                <a:latin typeface="微软雅黑" panose="020B0503020204020204" pitchFamily="34" charset="-122"/>
                <a:ea typeface="微软雅黑" panose="020B0503020204020204" pitchFamily="34" charset="-122"/>
                <a:cs typeface="Arial" pitchFamily="34" charset="0"/>
              </a:endParaRPr>
            </a:p>
          </p:txBody>
        </p:sp>
        <p:grpSp>
          <p:nvGrpSpPr>
            <p:cNvPr id="42" name="组合 41"/>
            <p:cNvGrpSpPr/>
            <p:nvPr/>
          </p:nvGrpSpPr>
          <p:grpSpPr>
            <a:xfrm>
              <a:off x="5158407" y="3270111"/>
              <a:ext cx="250877" cy="216697"/>
              <a:chOff x="7408863" y="1169988"/>
              <a:chExt cx="582613" cy="503237"/>
            </a:xfrm>
            <a:solidFill>
              <a:schemeClr val="accent1"/>
            </a:solidFill>
          </p:grpSpPr>
          <p:sp>
            <p:nvSpPr>
              <p:cNvPr id="43" name="Freeform 13"/>
              <p:cNvSpPr/>
              <p:nvPr/>
            </p:nvSpPr>
            <p:spPr bwMode="auto">
              <a:xfrm>
                <a:off x="7546975" y="1404938"/>
                <a:ext cx="304800" cy="115888"/>
              </a:xfrm>
              <a:custGeom>
                <a:avLst/>
                <a:gdLst>
                  <a:gd name="T0" fmla="*/ 16 w 142"/>
                  <a:gd name="T1" fmla="*/ 53 h 54"/>
                  <a:gd name="T2" fmla="*/ 6 w 142"/>
                  <a:gd name="T3" fmla="*/ 48 h 54"/>
                  <a:gd name="T4" fmla="*/ 6 w 142"/>
                  <a:gd name="T5" fmla="*/ 27 h 54"/>
                  <a:gd name="T6" fmla="*/ 71 w 142"/>
                  <a:gd name="T7" fmla="*/ 0 h 54"/>
                  <a:gd name="T8" fmla="*/ 71 w 142"/>
                  <a:gd name="T9" fmla="*/ 0 h 54"/>
                  <a:gd name="T10" fmla="*/ 136 w 142"/>
                  <a:gd name="T11" fmla="*/ 26 h 54"/>
                  <a:gd name="T12" fmla="*/ 136 w 142"/>
                  <a:gd name="T13" fmla="*/ 48 h 54"/>
                  <a:gd name="T14" fmla="*/ 114 w 142"/>
                  <a:gd name="T15" fmla="*/ 48 h 54"/>
                  <a:gd name="T16" fmla="*/ 71 w 142"/>
                  <a:gd name="T17" fmla="*/ 30 h 54"/>
                  <a:gd name="T18" fmla="*/ 71 w 142"/>
                  <a:gd name="T19" fmla="*/ 30 h 54"/>
                  <a:gd name="T20" fmla="*/ 27 w 142"/>
                  <a:gd name="T21" fmla="*/ 48 h 54"/>
                  <a:gd name="T22" fmla="*/ 16 w 142"/>
                  <a:gd name="T23" fmla="*/ 5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54">
                    <a:moveTo>
                      <a:pt x="16" y="53"/>
                    </a:moveTo>
                    <a:cubicBezTo>
                      <a:pt x="13" y="53"/>
                      <a:pt x="9" y="51"/>
                      <a:pt x="6" y="48"/>
                    </a:cubicBezTo>
                    <a:cubicBezTo>
                      <a:pt x="0" y="42"/>
                      <a:pt x="0" y="33"/>
                      <a:pt x="6" y="27"/>
                    </a:cubicBezTo>
                    <a:cubicBezTo>
                      <a:pt x="23" y="9"/>
                      <a:pt x="46" y="0"/>
                      <a:pt x="71" y="0"/>
                    </a:cubicBezTo>
                    <a:cubicBezTo>
                      <a:pt x="71" y="0"/>
                      <a:pt x="71" y="0"/>
                      <a:pt x="71" y="0"/>
                    </a:cubicBezTo>
                    <a:cubicBezTo>
                      <a:pt x="95" y="0"/>
                      <a:pt x="118" y="9"/>
                      <a:pt x="136" y="26"/>
                    </a:cubicBezTo>
                    <a:cubicBezTo>
                      <a:pt x="142" y="32"/>
                      <a:pt x="142" y="42"/>
                      <a:pt x="136" y="48"/>
                    </a:cubicBezTo>
                    <a:cubicBezTo>
                      <a:pt x="130" y="54"/>
                      <a:pt x="120" y="54"/>
                      <a:pt x="114" y="48"/>
                    </a:cubicBezTo>
                    <a:cubicBezTo>
                      <a:pt x="102" y="37"/>
                      <a:pt x="87" y="30"/>
                      <a:pt x="71" y="30"/>
                    </a:cubicBezTo>
                    <a:cubicBezTo>
                      <a:pt x="71" y="30"/>
                      <a:pt x="71" y="30"/>
                      <a:pt x="71" y="30"/>
                    </a:cubicBezTo>
                    <a:cubicBezTo>
                      <a:pt x="54" y="30"/>
                      <a:pt x="39" y="37"/>
                      <a:pt x="27" y="48"/>
                    </a:cubicBezTo>
                    <a:cubicBezTo>
                      <a:pt x="24" y="51"/>
                      <a:pt x="20" y="53"/>
                      <a:pt x="16"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14"/>
              <p:cNvSpPr/>
              <p:nvPr/>
            </p:nvSpPr>
            <p:spPr bwMode="auto">
              <a:xfrm>
                <a:off x="7477125" y="1306513"/>
                <a:ext cx="442913" cy="146050"/>
              </a:xfrm>
              <a:custGeom>
                <a:avLst/>
                <a:gdLst>
                  <a:gd name="T0" fmla="*/ 17 w 207"/>
                  <a:gd name="T1" fmla="*/ 66 h 68"/>
                  <a:gd name="T2" fmla="*/ 6 w 207"/>
                  <a:gd name="T3" fmla="*/ 62 h 68"/>
                  <a:gd name="T4" fmla="*/ 6 w 207"/>
                  <a:gd name="T5" fmla="*/ 40 h 68"/>
                  <a:gd name="T6" fmla="*/ 104 w 207"/>
                  <a:gd name="T7" fmla="*/ 0 h 68"/>
                  <a:gd name="T8" fmla="*/ 104 w 207"/>
                  <a:gd name="T9" fmla="*/ 0 h 68"/>
                  <a:gd name="T10" fmla="*/ 201 w 207"/>
                  <a:gd name="T11" fmla="*/ 40 h 68"/>
                  <a:gd name="T12" fmla="*/ 201 w 207"/>
                  <a:gd name="T13" fmla="*/ 62 h 68"/>
                  <a:gd name="T14" fmla="*/ 180 w 207"/>
                  <a:gd name="T15" fmla="*/ 62 h 68"/>
                  <a:gd name="T16" fmla="*/ 104 w 207"/>
                  <a:gd name="T17" fmla="*/ 30 h 68"/>
                  <a:gd name="T18" fmla="*/ 104 w 207"/>
                  <a:gd name="T19" fmla="*/ 30 h 68"/>
                  <a:gd name="T20" fmla="*/ 28 w 207"/>
                  <a:gd name="T21" fmla="*/ 62 h 68"/>
                  <a:gd name="T22" fmla="*/ 17 w 207"/>
                  <a:gd name="T23"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68">
                    <a:moveTo>
                      <a:pt x="17" y="66"/>
                    </a:moveTo>
                    <a:cubicBezTo>
                      <a:pt x="13" y="66"/>
                      <a:pt x="9" y="65"/>
                      <a:pt x="6" y="62"/>
                    </a:cubicBezTo>
                    <a:cubicBezTo>
                      <a:pt x="0" y="56"/>
                      <a:pt x="0" y="46"/>
                      <a:pt x="6" y="40"/>
                    </a:cubicBezTo>
                    <a:cubicBezTo>
                      <a:pt x="32" y="14"/>
                      <a:pt x="67" y="0"/>
                      <a:pt x="104" y="0"/>
                    </a:cubicBezTo>
                    <a:cubicBezTo>
                      <a:pt x="104" y="0"/>
                      <a:pt x="104" y="0"/>
                      <a:pt x="104" y="0"/>
                    </a:cubicBezTo>
                    <a:cubicBezTo>
                      <a:pt x="141" y="0"/>
                      <a:pt x="175" y="14"/>
                      <a:pt x="201" y="40"/>
                    </a:cubicBezTo>
                    <a:cubicBezTo>
                      <a:pt x="207" y="46"/>
                      <a:pt x="207" y="56"/>
                      <a:pt x="201" y="62"/>
                    </a:cubicBezTo>
                    <a:cubicBezTo>
                      <a:pt x="195" y="68"/>
                      <a:pt x="186" y="68"/>
                      <a:pt x="180" y="62"/>
                    </a:cubicBezTo>
                    <a:cubicBezTo>
                      <a:pt x="159" y="41"/>
                      <a:pt x="132" y="30"/>
                      <a:pt x="104" y="30"/>
                    </a:cubicBezTo>
                    <a:cubicBezTo>
                      <a:pt x="104" y="30"/>
                      <a:pt x="104" y="30"/>
                      <a:pt x="104" y="30"/>
                    </a:cubicBezTo>
                    <a:cubicBezTo>
                      <a:pt x="75" y="30"/>
                      <a:pt x="48" y="41"/>
                      <a:pt x="28" y="62"/>
                    </a:cubicBezTo>
                    <a:cubicBezTo>
                      <a:pt x="25" y="65"/>
                      <a:pt x="21" y="66"/>
                      <a:pt x="17"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15"/>
              <p:cNvSpPr/>
              <p:nvPr/>
            </p:nvSpPr>
            <p:spPr bwMode="auto">
              <a:xfrm>
                <a:off x="7408863" y="1169988"/>
                <a:ext cx="582613" cy="211137"/>
              </a:xfrm>
              <a:custGeom>
                <a:avLst/>
                <a:gdLst>
                  <a:gd name="T0" fmla="*/ 16 w 272"/>
                  <a:gd name="T1" fmla="*/ 98 h 99"/>
                  <a:gd name="T2" fmla="*/ 6 w 272"/>
                  <a:gd name="T3" fmla="*/ 93 h 99"/>
                  <a:gd name="T4" fmla="*/ 6 w 272"/>
                  <a:gd name="T5" fmla="*/ 72 h 99"/>
                  <a:gd name="T6" fmla="*/ 266 w 272"/>
                  <a:gd name="T7" fmla="*/ 71 h 99"/>
                  <a:gd name="T8" fmla="*/ 266 w 272"/>
                  <a:gd name="T9" fmla="*/ 93 h 99"/>
                  <a:gd name="T10" fmla="*/ 244 w 272"/>
                  <a:gd name="T11" fmla="*/ 93 h 99"/>
                  <a:gd name="T12" fmla="*/ 27 w 272"/>
                  <a:gd name="T13" fmla="*/ 93 h 99"/>
                  <a:gd name="T14" fmla="*/ 16 w 272"/>
                  <a:gd name="T15" fmla="*/ 98 h 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2" h="99">
                    <a:moveTo>
                      <a:pt x="16" y="98"/>
                    </a:moveTo>
                    <a:cubicBezTo>
                      <a:pt x="12" y="98"/>
                      <a:pt x="9" y="96"/>
                      <a:pt x="6" y="93"/>
                    </a:cubicBezTo>
                    <a:cubicBezTo>
                      <a:pt x="0" y="87"/>
                      <a:pt x="0" y="78"/>
                      <a:pt x="6" y="72"/>
                    </a:cubicBezTo>
                    <a:cubicBezTo>
                      <a:pt x="77" y="0"/>
                      <a:pt x="194" y="0"/>
                      <a:pt x="266" y="71"/>
                    </a:cubicBezTo>
                    <a:cubicBezTo>
                      <a:pt x="272" y="77"/>
                      <a:pt x="272" y="87"/>
                      <a:pt x="266" y="93"/>
                    </a:cubicBezTo>
                    <a:cubicBezTo>
                      <a:pt x="260" y="99"/>
                      <a:pt x="250" y="99"/>
                      <a:pt x="244" y="93"/>
                    </a:cubicBezTo>
                    <a:cubicBezTo>
                      <a:pt x="184" y="33"/>
                      <a:pt x="87" y="33"/>
                      <a:pt x="27" y="93"/>
                    </a:cubicBezTo>
                    <a:cubicBezTo>
                      <a:pt x="24" y="96"/>
                      <a:pt x="20" y="98"/>
                      <a:pt x="16" y="9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16"/>
              <p:cNvSpPr/>
              <p:nvPr/>
            </p:nvSpPr>
            <p:spPr bwMode="auto">
              <a:xfrm>
                <a:off x="7626350" y="1530350"/>
                <a:ext cx="144463" cy="142875"/>
              </a:xfrm>
              <a:custGeom>
                <a:avLst/>
                <a:gdLst>
                  <a:gd name="T0" fmla="*/ 55 w 67"/>
                  <a:gd name="T1" fmla="*/ 12 h 67"/>
                  <a:gd name="T2" fmla="*/ 55 w 67"/>
                  <a:gd name="T3" fmla="*/ 55 h 67"/>
                  <a:gd name="T4" fmla="*/ 12 w 67"/>
                  <a:gd name="T5" fmla="*/ 55 h 67"/>
                  <a:gd name="T6" fmla="*/ 12 w 67"/>
                  <a:gd name="T7" fmla="*/ 12 h 67"/>
                  <a:gd name="T8" fmla="*/ 55 w 67"/>
                  <a:gd name="T9" fmla="*/ 12 h 67"/>
                </a:gdLst>
                <a:ahLst/>
                <a:cxnLst>
                  <a:cxn ang="0">
                    <a:pos x="T0" y="T1"/>
                  </a:cxn>
                  <a:cxn ang="0">
                    <a:pos x="T2" y="T3"/>
                  </a:cxn>
                  <a:cxn ang="0">
                    <a:pos x="T4" y="T5"/>
                  </a:cxn>
                  <a:cxn ang="0">
                    <a:pos x="T6" y="T7"/>
                  </a:cxn>
                  <a:cxn ang="0">
                    <a:pos x="T8" y="T9"/>
                  </a:cxn>
                </a:cxnLst>
                <a:rect l="0" t="0" r="r" b="b"/>
                <a:pathLst>
                  <a:path w="67" h="67">
                    <a:moveTo>
                      <a:pt x="55" y="12"/>
                    </a:moveTo>
                    <a:cubicBezTo>
                      <a:pt x="67" y="24"/>
                      <a:pt x="67" y="43"/>
                      <a:pt x="55" y="55"/>
                    </a:cubicBezTo>
                    <a:cubicBezTo>
                      <a:pt x="43" y="67"/>
                      <a:pt x="24" y="67"/>
                      <a:pt x="12" y="55"/>
                    </a:cubicBezTo>
                    <a:cubicBezTo>
                      <a:pt x="0" y="43"/>
                      <a:pt x="0" y="24"/>
                      <a:pt x="12" y="12"/>
                    </a:cubicBezTo>
                    <a:cubicBezTo>
                      <a:pt x="24" y="0"/>
                      <a:pt x="43" y="0"/>
                      <a:pt x="5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4" name="文本框 3">
            <a:extLst>
              <a:ext uri="{FF2B5EF4-FFF2-40B4-BE49-F238E27FC236}">
                <a16:creationId xmlns:a16="http://schemas.microsoft.com/office/drawing/2014/main" id="{7FEBAA18-99DC-C91D-4846-08234661FCFD}"/>
              </a:ext>
            </a:extLst>
          </p:cNvPr>
          <p:cNvSpPr txBox="1"/>
          <p:nvPr/>
        </p:nvSpPr>
        <p:spPr>
          <a:xfrm>
            <a:off x="979926" y="1115386"/>
            <a:ext cx="8151307" cy="1442061"/>
          </a:xfrm>
          <a:prstGeom prst="rect">
            <a:avLst/>
          </a:prstGeom>
          <a:noFill/>
        </p:spPr>
        <p:txBody>
          <a:bodyPr wrap="square">
            <a:spAutoFit/>
          </a:bodyPr>
          <a:lstStyle/>
          <a:p>
            <a:pPr indent="304800" algn="just">
              <a:lnSpc>
                <a:spcPct val="125000"/>
              </a:lnSpc>
            </a:pPr>
            <a:r>
              <a:rPr lang="zh-CN" altLang="zh-CN" sz="1800" kern="100" dirty="0">
                <a:solidFill>
                  <a:srgbClr val="AB3341"/>
                </a:solidFill>
                <a:effectLst/>
                <a:latin typeface="微软雅黑" panose="020B0503020204020204" pitchFamily="34" charset="-122"/>
                <a:ea typeface="微软雅黑" panose="020B0503020204020204" pitchFamily="34" charset="-122"/>
              </a:rPr>
              <a:t>本文对煤矿综采工作面轨道式巡检机器人机械系统进行了简要设计与阐述，着重对巡检机器人控制系统进行了设计与研究。截至目前已完成样机制造、搭建环境测试等工作，基本达到预期效果。但由于条件有限与时间限制，仍然存在许多问题和不足亟需解决和改进，主要包含以下几个方面：</a:t>
            </a:r>
            <a:endParaRPr lang="zh-CN" altLang="zh-CN" sz="1400" kern="100" dirty="0">
              <a:solidFill>
                <a:srgbClr val="AB334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31200451"/>
      </p:ext>
    </p:extLst>
  </p:cSld>
  <p:clrMapOvr>
    <a:masterClrMapping/>
  </p:clrMapOvr>
  <p:transition spd="slow">
    <p:fade/>
  </p:transition>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3" name="矩形 12"/>
          <p:cNvSpPr/>
          <p:nvPr/>
        </p:nvSpPr>
        <p:spPr>
          <a:xfrm>
            <a:off x="0" y="1412875"/>
            <a:ext cx="12192000" cy="26098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4102759" y="1976438"/>
            <a:ext cx="3986483" cy="1482725"/>
            <a:chOff x="2682875" y="2071687"/>
            <a:chExt cx="3986483" cy="1482725"/>
          </a:xfrm>
        </p:grpSpPr>
        <p:sp>
          <p:nvSpPr>
            <p:cNvPr id="3" name="TextBox 1"/>
            <p:cNvSpPr txBox="1">
              <a:spLocks noChangeArrowheads="1"/>
            </p:cNvSpPr>
            <p:nvPr/>
          </p:nvSpPr>
          <p:spPr bwMode="auto">
            <a:xfrm>
              <a:off x="2682875" y="2311106"/>
              <a:ext cx="352532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6000" b="1" dirty="0">
                  <a:solidFill>
                    <a:schemeClr val="accent1"/>
                  </a:solidFill>
                  <a:latin typeface="微软雅黑" pitchFamily="34" charset="-122"/>
                  <a:ea typeface="微软雅黑" pitchFamily="34" charset="-122"/>
                </a:rPr>
                <a:t>THANKS</a:t>
              </a:r>
            </a:p>
          </p:txBody>
        </p:sp>
        <p:sp>
          <p:nvSpPr>
            <p:cNvPr id="4" name="空心弧 3"/>
            <p:cNvSpPr/>
            <p:nvPr/>
          </p:nvSpPr>
          <p:spPr bwMode="auto">
            <a:xfrm rot="7086271">
              <a:off x="5186633" y="2071687"/>
              <a:ext cx="1482725" cy="1482725"/>
            </a:xfrm>
            <a:prstGeom prst="blockArc">
              <a:avLst>
                <a:gd name="adj1" fmla="val 5502533"/>
                <a:gd name="adj2" fmla="val 1980318"/>
                <a:gd name="adj3" fmla="val 1053"/>
              </a:avLst>
            </a:prstGeom>
            <a:solidFill>
              <a:srgbClr val="C00000"/>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tx1"/>
                </a:solidFill>
              </a:endParaRPr>
            </a:p>
          </p:txBody>
        </p:sp>
        <p:sp>
          <p:nvSpPr>
            <p:cNvPr id="5" name="TextBox 8"/>
            <p:cNvSpPr txBox="1">
              <a:spLocks noChangeArrowheads="1"/>
            </p:cNvSpPr>
            <p:nvPr/>
          </p:nvSpPr>
          <p:spPr bwMode="auto">
            <a:xfrm>
              <a:off x="2830513" y="3155950"/>
              <a:ext cx="2478466"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algn="dist" eaLnBrk="1" hangingPunct="1">
                <a:defRPr/>
              </a:pPr>
              <a:r>
                <a:rPr lang="zh-CN" altLang="en-US" sz="1800" dirty="0">
                  <a:latin typeface="微软雅黑" pitchFamily="34" charset="-122"/>
                  <a:ea typeface="微软雅黑" pitchFamily="34" charset="-122"/>
                </a:rPr>
                <a:t>敬请各位老师指导</a:t>
              </a:r>
            </a:p>
          </p:txBody>
        </p:sp>
      </p:grpSp>
      <p:sp>
        <p:nvSpPr>
          <p:cNvPr id="14" name="等腰三角形 13"/>
          <p:cNvSpPr/>
          <p:nvPr/>
        </p:nvSpPr>
        <p:spPr>
          <a:xfrm flipV="1">
            <a:off x="5916353" y="4014699"/>
            <a:ext cx="359294" cy="20660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6" name="图片 5">
            <a:extLst>
              <a:ext uri="{FF2B5EF4-FFF2-40B4-BE49-F238E27FC236}">
                <a16:creationId xmlns:a16="http://schemas.microsoft.com/office/drawing/2014/main" id="{B879175B-EE56-CAAE-8843-E1EC1DAD363D}"/>
              </a:ext>
            </a:extLst>
          </p:cNvPr>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381000" y="461617"/>
            <a:ext cx="3067050" cy="514350"/>
          </a:xfrm>
          <a:prstGeom prst="rect">
            <a:avLst/>
          </a:prstGeom>
        </p:spPr>
      </p:pic>
      <p:pic>
        <p:nvPicPr>
          <p:cNvPr id="7" name="图片 6">
            <a:extLst>
              <a:ext uri="{FF2B5EF4-FFF2-40B4-BE49-F238E27FC236}">
                <a16:creationId xmlns:a16="http://schemas.microsoft.com/office/drawing/2014/main" id="{324B27AB-F819-AB9C-0F15-79E5290C29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 y="447858"/>
            <a:ext cx="541867" cy="541867"/>
          </a:xfrm>
          <a:prstGeom prst="rect">
            <a:avLst/>
          </a:prstGeom>
        </p:spPr>
      </p:pic>
    </p:spTree>
  </p:cSld>
  <p:clrMapOvr>
    <a:masterClrMapping/>
  </p:clrMapOvr>
  <p:transition spd="slow">
    <p:fade/>
  </p:transition>
</p:sld>
</file>

<file path=ppt/theme/theme1.xml><?xml version="1.0" encoding="utf-8"?>
<a:theme xmlns:a="http://schemas.openxmlformats.org/drawingml/2006/main" name="Office 主题">
  <a:themeElements>
    <a:clrScheme name="北京大学">
      <a:dk1>
        <a:srgbClr val="333333"/>
      </a:dk1>
      <a:lt1>
        <a:srgbClr val="FFFFFF"/>
      </a:lt1>
      <a:dk2>
        <a:srgbClr val="538135"/>
      </a:dk2>
      <a:lt2>
        <a:srgbClr val="538135"/>
      </a:lt2>
      <a:accent1>
        <a:srgbClr val="8F000B"/>
      </a:accent1>
      <a:accent2>
        <a:srgbClr val="700005"/>
      </a:accent2>
      <a:accent3>
        <a:srgbClr val="AC0000"/>
      </a:accent3>
      <a:accent4>
        <a:srgbClr val="538135"/>
      </a:accent4>
      <a:accent5>
        <a:srgbClr val="538135"/>
      </a:accent5>
      <a:accent6>
        <a:srgbClr val="538135"/>
      </a:accent6>
      <a:hlink>
        <a:srgbClr val="538135"/>
      </a:hlink>
      <a:folHlink>
        <a:srgbClr val="538135"/>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2250</TotalTime>
  <Words>4510</Words>
  <Application>Microsoft Office PowerPoint</Application>
  <PresentationFormat>宽屏</PresentationFormat>
  <Paragraphs>475</Paragraphs>
  <Slides>72</Slides>
  <Notes>3</Notes>
  <HiddenSlides>0</HiddenSlides>
  <MMClips>2</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72</vt:i4>
      </vt:variant>
    </vt:vector>
  </HeadingPairs>
  <TitlesOfParts>
    <vt:vector size="82" baseType="lpstr">
      <vt:lpstr>华文细黑</vt:lpstr>
      <vt:lpstr>宋体</vt:lpstr>
      <vt:lpstr>微软雅黑</vt:lpstr>
      <vt:lpstr>Arial</vt:lpstr>
      <vt:lpstr>Calibri</vt:lpstr>
      <vt:lpstr>Calibri Light</vt:lpstr>
      <vt:lpstr>Cambria Math</vt:lpstr>
      <vt:lpstr>Times New Roman</vt:lpstr>
      <vt:lpstr>Office 主题</vt:lpstr>
      <vt:lpstr>Equation.DSMT4</vt:lpstr>
      <vt:lpstr>PowerPoint 演示文稿</vt:lpstr>
      <vt:lpstr>PowerPoint 演示文稿</vt:lpstr>
      <vt:lpstr>绪论</vt:lpstr>
      <vt:lpstr>研究背景</vt:lpstr>
      <vt:lpstr>研究背景</vt:lpstr>
      <vt:lpstr>研究背景</vt:lpstr>
      <vt:lpstr>研究意义</vt:lpstr>
      <vt:lpstr>巡检机器人研究现状</vt:lpstr>
      <vt:lpstr>巡检机器人控制系统研究现状</vt:lpstr>
      <vt:lpstr>巡检机器人总体设计</vt:lpstr>
      <vt:lpstr>设计需求分析</vt:lpstr>
      <vt:lpstr>总体设计方案</vt:lpstr>
      <vt:lpstr>驱动方案设计</vt:lpstr>
      <vt:lpstr>驱动方案设计</vt:lpstr>
      <vt:lpstr>机械结构设计</vt:lpstr>
      <vt:lpstr>巡检机器人运动控制原理分析</vt:lpstr>
      <vt:lpstr>电机参数及选型</vt:lpstr>
      <vt:lpstr>直流无刷电机数学模型</vt:lpstr>
      <vt:lpstr>Siumlink系统验证</vt:lpstr>
      <vt:lpstr>巡检机器人控制系统硬件设计</vt:lpstr>
      <vt:lpstr>硬件总体设计方案</vt:lpstr>
      <vt:lpstr>信息采集系统</vt:lpstr>
      <vt:lpstr>信息采集系统</vt:lpstr>
      <vt:lpstr>信息采集系统</vt:lpstr>
      <vt:lpstr>信息采集系统</vt:lpstr>
      <vt:lpstr>电机驱动系统</vt:lpstr>
      <vt:lpstr>电机驱动系统</vt:lpstr>
      <vt:lpstr>电源管理系统</vt:lpstr>
      <vt:lpstr>电源管理系统</vt:lpstr>
      <vt:lpstr>电源管理系统</vt:lpstr>
      <vt:lpstr>通讯系统</vt:lpstr>
      <vt:lpstr>巡检机器人控制系统软件开发</vt:lpstr>
      <vt:lpstr>软件总体设计方案</vt:lpstr>
      <vt:lpstr>下位机软件开发—SHT30</vt:lpstr>
      <vt:lpstr>下位机软件开发—SHT30</vt:lpstr>
      <vt:lpstr>下位机软件开发—HC-SR04</vt:lpstr>
      <vt:lpstr>下位机软件开发—HC-SR04</vt:lpstr>
      <vt:lpstr>下位机软件开发—PWM</vt:lpstr>
      <vt:lpstr>下位机软件开发—PWM</vt:lpstr>
      <vt:lpstr>下位机软件开发—PWM</vt:lpstr>
      <vt:lpstr>下位机软件开发—PID</vt:lpstr>
      <vt:lpstr>下位机软件开发—PID</vt:lpstr>
      <vt:lpstr>下位机软件开发—电源管理系统</vt:lpstr>
      <vt:lpstr>下位机软件开发—电源管理系统</vt:lpstr>
      <vt:lpstr>下位机软件开发—通讯系统</vt:lpstr>
      <vt:lpstr>下位机软件开发—通讯系统</vt:lpstr>
      <vt:lpstr>下位机软件开发—通讯系统</vt:lpstr>
      <vt:lpstr>下位机软件开发—通讯系统</vt:lpstr>
      <vt:lpstr>下位机软件开发—通讯系统</vt:lpstr>
      <vt:lpstr>下位机软件开发—通讯系统</vt:lpstr>
      <vt:lpstr>上位机用户界面设计</vt:lpstr>
      <vt:lpstr>上位机用户界面设计</vt:lpstr>
      <vt:lpstr>上位机用户界面设计</vt:lpstr>
      <vt:lpstr>上位机用户界面设计</vt:lpstr>
      <vt:lpstr>上位机用户界面设计</vt:lpstr>
      <vt:lpstr>样机实验</vt:lpstr>
      <vt:lpstr>实验平台搭建</vt:lpstr>
      <vt:lpstr>实验平台搭建</vt:lpstr>
      <vt:lpstr>样机性能测试</vt:lpstr>
      <vt:lpstr>样机性能测试</vt:lpstr>
      <vt:lpstr>样机性能测试</vt:lpstr>
      <vt:lpstr>样机性能测试</vt:lpstr>
      <vt:lpstr>结论与展望</vt:lpstr>
      <vt:lpstr>结论</vt:lpstr>
      <vt:lpstr>结论</vt:lpstr>
      <vt:lpstr>结论</vt:lpstr>
      <vt:lpstr>结论</vt:lpstr>
      <vt:lpstr>结论</vt:lpstr>
      <vt:lpstr>创新点</vt:lpstr>
      <vt:lpstr>展望</vt:lpstr>
      <vt:lpstr>展望</vt:lpstr>
      <vt:lpstr>PowerPoint 演示文稿</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
  <cp:keywords>http://www.ypppt.com/</cp:keywords>
  <dc:description>http://www.ypppt.com/</dc:description>
  <cp:lastModifiedBy>3318165914@qq.com</cp:lastModifiedBy>
  <cp:revision>401</cp:revision>
  <dcterms:created xsi:type="dcterms:W3CDTF">2016-04-18T02:22:00Z</dcterms:created>
  <dcterms:modified xsi:type="dcterms:W3CDTF">2024-12-03T13:02:06Z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2052-10.1.0.5603</vt:lpwstr>
  </property>
</Properties>
</file>